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3" r:id="rId2"/>
    <p:sldMasterId id="2147483685" r:id="rId3"/>
  </p:sldMasterIdLst>
  <p:notesMasterIdLst>
    <p:notesMasterId r:id="rId40"/>
  </p:notesMasterIdLst>
  <p:handoutMasterIdLst>
    <p:handoutMasterId r:id="rId41"/>
  </p:handoutMasterIdLst>
  <p:sldIdLst>
    <p:sldId id="256" r:id="rId4"/>
    <p:sldId id="296" r:id="rId5"/>
    <p:sldId id="257" r:id="rId6"/>
    <p:sldId id="311" r:id="rId7"/>
    <p:sldId id="310" r:id="rId8"/>
    <p:sldId id="309" r:id="rId9"/>
    <p:sldId id="308" r:id="rId10"/>
    <p:sldId id="307" r:id="rId11"/>
    <p:sldId id="306" r:id="rId12"/>
    <p:sldId id="305" r:id="rId13"/>
    <p:sldId id="304" r:id="rId14"/>
    <p:sldId id="303" r:id="rId15"/>
    <p:sldId id="258" r:id="rId16"/>
    <p:sldId id="312" r:id="rId17"/>
    <p:sldId id="259" r:id="rId18"/>
    <p:sldId id="313" r:id="rId19"/>
    <p:sldId id="260" r:id="rId20"/>
    <p:sldId id="285" r:id="rId21"/>
    <p:sldId id="286" r:id="rId22"/>
    <p:sldId id="297" r:id="rId23"/>
    <p:sldId id="287" r:id="rId24"/>
    <p:sldId id="288" r:id="rId25"/>
    <p:sldId id="298" r:id="rId26"/>
    <p:sldId id="290" r:id="rId27"/>
    <p:sldId id="301" r:id="rId28"/>
    <p:sldId id="289" r:id="rId29"/>
    <p:sldId id="300" r:id="rId30"/>
    <p:sldId id="291" r:id="rId31"/>
    <p:sldId id="292" r:id="rId32"/>
    <p:sldId id="293" r:id="rId33"/>
    <p:sldId id="294" r:id="rId34"/>
    <p:sldId id="295" r:id="rId35"/>
    <p:sldId id="314" r:id="rId36"/>
    <p:sldId id="276" r:id="rId37"/>
    <p:sldId id="302" r:id="rId38"/>
    <p:sldId id="277"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59FE7D4-D0C5-342C-2455-1A7233A95154}" v="5" dt="2025-08-14T02:23:20.3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666"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microsoft.com/office/2016/11/relationships/changesInfo" Target="changesInfos/changesInfo1.xml"/><Relationship Id="rId20" Type="http://schemas.openxmlformats.org/officeDocument/2006/relationships/slide" Target="slides/slide17.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F59FE7D4-D0C5-342C-2455-1A7233A95154}"/>
    <pc:docChg chg="modSld">
      <pc:chgData name="" userId="" providerId="" clId="Web-{F59FE7D4-D0C5-342C-2455-1A7233A95154}" dt="2025-08-14T02:22:40.567" v="3" actId="20577"/>
      <pc:docMkLst>
        <pc:docMk/>
      </pc:docMkLst>
      <pc:sldChg chg="modSp">
        <pc:chgData name="" userId="" providerId="" clId="Web-{F59FE7D4-D0C5-342C-2455-1A7233A95154}" dt="2025-08-14T02:22:40.567" v="3" actId="20577"/>
        <pc:sldMkLst>
          <pc:docMk/>
          <pc:sldMk cId="2503091" sldId="256"/>
        </pc:sldMkLst>
        <pc:spChg chg="mod">
          <ac:chgData name="" userId="" providerId="" clId="Web-{F59FE7D4-D0C5-342C-2455-1A7233A95154}" dt="2025-08-14T02:22:40.567" v="3" actId="20577"/>
          <ac:spMkLst>
            <pc:docMk/>
            <pc:sldMk cId="2503091" sldId="256"/>
            <ac:spMk id="2" creationId="{BDA69B8D-BF65-4ADD-F76F-77EA72FFCB8F}"/>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13-08-2025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13-08-2025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2: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139" name="Google Shape;139;p2: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4444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7" name="Google Shape;307;p10: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endParaRPr sz="2000" b="0" strike="noStrike">
              <a:latin typeface="Arial"/>
              <a:ea typeface="Arial"/>
              <a:cs typeface="Arial"/>
              <a:sym typeface="Arial"/>
            </a:endParaRPr>
          </a:p>
        </p:txBody>
      </p:sp>
      <p:sp>
        <p:nvSpPr>
          <p:cNvPr id="308" name="Google Shape;308;p10: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latin typeface="Times New Roman"/>
                <a:ea typeface="Times New Roman"/>
                <a:cs typeface="Times New Roman"/>
                <a:sym typeface="Times New Roman"/>
              </a:rPr>
              <a:pPr marL="0" marR="0" lvl="0" indent="0" algn="r" rtl="0">
                <a:lnSpc>
                  <a:spcPct val="100000"/>
                </a:lnSpc>
                <a:spcBef>
                  <a:spcPts val="0"/>
                </a:spcBef>
                <a:spcAft>
                  <a:spcPts val="0"/>
                </a:spcAft>
                <a:buNone/>
              </a:pPr>
              <a:t>34</a:t>
            </a:fld>
            <a:endParaRPr sz="1200" b="0" i="0" u="none" strike="noStrike" cap="none">
              <a:latin typeface="Times New Roman"/>
              <a:ea typeface="Times New Roman"/>
              <a:cs typeface="Times New Roman"/>
              <a:sym typeface="Times New Roman"/>
            </a:endParaRPr>
          </a:p>
        </p:txBody>
      </p:sp>
    </p:spTree>
    <p:extLst>
      <p:ext uri="{BB962C8B-B14F-4D97-AF65-F5344CB8AC3E}">
        <p14:creationId xmlns:p14="http://schemas.microsoft.com/office/powerpoint/2010/main" val="2137346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5" name="Google Shape;295;p9:notes"/>
          <p:cNvSpPr txBox="1">
            <a:spLocks noGrp="1"/>
          </p:cNvSpPr>
          <p:nvPr>
            <p:ph type="body" idx="1"/>
          </p:nvPr>
        </p:nvSpPr>
        <p:spPr>
          <a:xfrm>
            <a:off x="685800" y="4400640"/>
            <a:ext cx="5486040" cy="3600000"/>
          </a:xfrm>
          <a:prstGeom prst="rect">
            <a:avLst/>
          </a:prstGeom>
          <a:noFill/>
          <a:ln>
            <a:noFill/>
          </a:ln>
        </p:spPr>
        <p:txBody>
          <a:bodyPr spcFirstLastPara="1" wrap="square" lIns="0" tIns="0" rIns="0" bIns="0" anchor="t" anchorCtr="0">
            <a:noAutofit/>
          </a:bodyPr>
          <a:lstStyle/>
          <a:p>
            <a:pPr marL="216000" lvl="0" indent="-216000" algn="l" rtl="0">
              <a:lnSpc>
                <a:spcPct val="100000"/>
              </a:lnSpc>
              <a:spcBef>
                <a:spcPts val="0"/>
              </a:spcBef>
              <a:spcAft>
                <a:spcPts val="0"/>
              </a:spcAft>
              <a:buNone/>
            </a:pPr>
            <a:r>
              <a:rPr lang="en-US" sz="2000" b="0" strike="noStrike">
                <a:latin typeface="Arial"/>
                <a:ea typeface="Arial"/>
                <a:cs typeface="Arial"/>
                <a:sym typeface="Arial"/>
              </a:rPr>
              <a:t>Answer 1 b and 2 c</a:t>
            </a:r>
            <a:endParaRPr sz="2000" b="0" strike="noStrike">
              <a:latin typeface="Arial"/>
              <a:ea typeface="Arial"/>
              <a:cs typeface="Arial"/>
              <a:sym typeface="Arial"/>
            </a:endParaRPr>
          </a:p>
        </p:txBody>
      </p:sp>
      <p:sp>
        <p:nvSpPr>
          <p:cNvPr id="296" name="Google Shape;296;p9:notes"/>
          <p:cNvSpPr txBox="1"/>
          <p:nvPr/>
        </p:nvSpPr>
        <p:spPr>
          <a:xfrm>
            <a:off x="3884760" y="8685360"/>
            <a:ext cx="2971440" cy="45828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latin typeface="Times New Roman"/>
                <a:ea typeface="Times New Roman"/>
                <a:cs typeface="Times New Roman"/>
                <a:sym typeface="Times New Roman"/>
              </a:rPr>
              <a:t>35</a:t>
            </a:fld>
            <a:endParaRPr sz="1200" b="0" i="0" u="none" strike="noStrike" cap="none">
              <a:latin typeface="Times New Roman"/>
              <a:ea typeface="Times New Roman"/>
              <a:cs typeface="Times New Roman"/>
              <a:sym typeface="Times New Roman"/>
            </a:endParaRPr>
          </a:p>
        </p:txBody>
      </p:sp>
    </p:spTree>
    <p:extLst>
      <p:ext uri="{BB962C8B-B14F-4D97-AF65-F5344CB8AC3E}">
        <p14:creationId xmlns:p14="http://schemas.microsoft.com/office/powerpoint/2010/main" val="676571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11:notes"/>
          <p:cNvSpPr txBox="1">
            <a:spLocks noGrp="1"/>
          </p:cNvSpPr>
          <p:nvPr>
            <p:ph type="body" idx="1"/>
          </p:nvPr>
        </p:nvSpPr>
        <p:spPr>
          <a:xfrm>
            <a:off x="756000" y="5078520"/>
            <a:ext cx="6047640" cy="4811040"/>
          </a:xfrm>
          <a:prstGeom prst="rect">
            <a:avLst/>
          </a:prstGeom>
        </p:spPr>
        <p:txBody>
          <a:bodyPr spcFirstLastPara="1" wrap="square" lIns="0" tIns="0" rIns="0" bIns="0" anchor="t" anchorCtr="0">
            <a:noAutofit/>
          </a:bodyPr>
          <a:lstStyle/>
          <a:p>
            <a:pPr marL="0" lvl="0" indent="0" algn="l" rtl="0">
              <a:spcBef>
                <a:spcPts val="0"/>
              </a:spcBef>
              <a:spcAft>
                <a:spcPts val="0"/>
              </a:spcAft>
              <a:buNone/>
            </a:pPr>
            <a:endParaRPr/>
          </a:p>
        </p:txBody>
      </p:sp>
      <p:sp>
        <p:nvSpPr>
          <p:cNvPr id="316" name="Google Shape;316;p11: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0805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46364" y="141703"/>
            <a:ext cx="9603275" cy="1049235"/>
          </a:xfrm>
        </p:spPr>
        <p:txBody>
          <a:bodyPr/>
          <a:lstStyle/>
          <a:p>
            <a:r>
              <a:rPr lang="en-US"/>
              <a:t>Click to edit Master title style</a:t>
            </a:r>
          </a:p>
        </p:txBody>
      </p:sp>
      <p:sp>
        <p:nvSpPr>
          <p:cNvPr id="3" name="Content Placeholder 2"/>
          <p:cNvSpPr>
            <a:spLocks noGrp="1"/>
          </p:cNvSpPr>
          <p:nvPr>
            <p:ph idx="1"/>
          </p:nvPr>
        </p:nvSpPr>
        <p:spPr>
          <a:xfrm>
            <a:off x="1294361" y="1234865"/>
            <a:ext cx="9603275" cy="3450613"/>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546364" y="688284"/>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&lt;COURSE TITLE&gt;, &lt;TOPIC NAME&gt;</a:t>
            </a:r>
            <a:endParaRPr lang="en-IN"/>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&lt;COURSE TITLE&gt;, &lt;TOPIC NAME&gt;</a:t>
            </a:r>
            <a:endParaRPr lang="en-IN"/>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&lt;COURSE TITLE&gt;, &lt;TOPIC NAME&gt;</a:t>
            </a:r>
            <a:endParaRPr lang="en-IN"/>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24" b="1" i="0">
                <a:solidFill>
                  <a:srgbClr val="BE1F25"/>
                </a:solidFill>
                <a:latin typeface="Tahoma"/>
                <a:cs typeface="Tahoma"/>
              </a:defRPr>
            </a:lvl1pPr>
          </a:lstStyle>
          <a:p>
            <a:r>
              <a:rPr lang="en-US"/>
              <a:t>Click to edit Master title style</a:t>
            </a:r>
            <a:endParaRPr/>
          </a:p>
        </p:txBody>
      </p:sp>
      <p:sp>
        <p:nvSpPr>
          <p:cNvPr id="3" name="Holder 3"/>
          <p:cNvSpPr>
            <a:spLocks noGrp="1"/>
          </p:cNvSpPr>
          <p:nvPr>
            <p:ph sz="half" idx="2"/>
          </p:nvPr>
        </p:nvSpPr>
        <p:spPr>
          <a:xfrm>
            <a:off x="609600" y="1577340"/>
            <a:ext cx="5303520" cy="338169"/>
          </a:xfrm>
          <a:prstGeom prst="rect">
            <a:avLst/>
          </a:prstGeom>
        </p:spPr>
        <p:txBody>
          <a:bodyPr wrap="square" lIns="0" tIns="0" rIns="0" bIns="0">
            <a:spAutoFit/>
          </a:bodyPr>
          <a:lstStyle>
            <a:lvl1pPr>
              <a:defRPr/>
            </a:lvl1pPr>
          </a:lstStyle>
          <a:p>
            <a:pPr lvl="0"/>
            <a:r>
              <a:rPr lang="en-US"/>
              <a:t>Click to edit Master text styles</a:t>
            </a:r>
          </a:p>
        </p:txBody>
      </p:sp>
      <p:sp>
        <p:nvSpPr>
          <p:cNvPr id="4" name="Holder 4"/>
          <p:cNvSpPr>
            <a:spLocks noGrp="1"/>
          </p:cNvSpPr>
          <p:nvPr>
            <p:ph sz="half" idx="3"/>
          </p:nvPr>
        </p:nvSpPr>
        <p:spPr>
          <a:xfrm>
            <a:off x="6278880" y="1577340"/>
            <a:ext cx="5303520" cy="338169"/>
          </a:xfrm>
          <a:prstGeom prst="rect">
            <a:avLst/>
          </a:prstGeom>
        </p:spPr>
        <p:txBody>
          <a:bodyPr wrap="square" lIns="0" tIns="0" rIns="0" bIns="0">
            <a:spAutoFit/>
          </a:bodyPr>
          <a:lstStyle>
            <a:lvl1pPr>
              <a:defRPr/>
            </a:lvl1pPr>
          </a:lstStyle>
          <a:p>
            <a:pPr lvl="0"/>
            <a:r>
              <a:rPr lang="en-US"/>
              <a:t>Click to edit Master text styles</a:t>
            </a: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8/13/2025</a:t>
            </a:fld>
            <a:endParaRPr lang="en-US"/>
          </a:p>
        </p:txBody>
      </p:sp>
      <p:sp>
        <p:nvSpPr>
          <p:cNvPr id="7" name="Holder 7"/>
          <p:cNvSpPr>
            <a:spLocks noGrp="1"/>
          </p:cNvSpPr>
          <p:nvPr>
            <p:ph type="sldNum" sz="quarter" idx="7"/>
          </p:nvPr>
        </p:nvSpPr>
        <p:spPr/>
        <p:txBody>
          <a:bodyPr lIns="0" tIns="0" rIns="0" bIns="0"/>
          <a:lstStyle>
            <a:lvl1pPr>
              <a:defRPr sz="1059" b="0" i="0">
                <a:solidFill>
                  <a:srgbClr val="9A9D9F"/>
                </a:solidFill>
                <a:latin typeface="Tahoma"/>
                <a:cs typeface="Tahoma"/>
              </a:defRPr>
            </a:lvl1pPr>
          </a:lstStyle>
          <a:p>
            <a:pPr marL="107022">
              <a:spcBef>
                <a:spcPts val="88"/>
              </a:spcBef>
            </a:pPr>
            <a:fld id="{81D60167-4931-47E6-BA6A-407CBD079E47}" type="slidenum">
              <a:rPr lang="en-IN" smtClean="0"/>
              <a:pPr marL="107022">
                <a:spcBef>
                  <a:spcPts val="88"/>
                </a:spcBef>
              </a:pPr>
              <a:t>‹#›</a:t>
            </a:fld>
            <a:endParaRPr lang="en-IN"/>
          </a:p>
        </p:txBody>
      </p:sp>
    </p:spTree>
    <p:extLst>
      <p:ext uri="{BB962C8B-B14F-4D97-AF65-F5344CB8AC3E}">
        <p14:creationId xmlns:p14="http://schemas.microsoft.com/office/powerpoint/2010/main" val="1120181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081303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466582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46957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&lt;COURSE TITLE&gt;, &lt;TOPIC NAME&gt;</a:t>
            </a:r>
            <a:endParaRPr lang="en-IN"/>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483794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&lt;COURSE TITLE&gt;, &lt;TOPIC NAME&gt;</a:t>
            </a:r>
            <a:endParaRPr lang="en-IN"/>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737355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&lt;COURSE TITLE&gt;, &lt;TOPIC NAME&gt;</a:t>
            </a:r>
            <a:endParaRPr lang="en-IN"/>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37982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8616069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616837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15951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005049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122074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&lt;COURSE TITLE&gt;, &lt;TOPIC NAME&gt;</a:t>
            </a:r>
            <a:endParaRPr lang="en-IN"/>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&lt;COURSE TITLE&gt;, &lt;TOPIC NAME&gt;</a:t>
            </a:r>
            <a:endParaRPr lang="en-IN"/>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&lt;COURSE TITLE&gt;, &lt;TOPIC NAME&gt;</a:t>
            </a:r>
            <a:endParaRPr lang="en-IN"/>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&lt;COURSE TITLE&gt;, &lt;TOPIC NAME&gt;</a:t>
            </a:r>
            <a:endParaRPr lang="en-IN"/>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3.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4.png"/><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image" Target="../media/image6.png"/><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39433117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3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0.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www.youtube.com/watch?v=BzKUhT20wDc" TargetMode="External"/><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hyperlink" Target="https://www.math.clemson.edu/~mjs/courses/mthsc.440/integer.pdf" TargetMode="External"/><Relationship Id="rId5" Type="http://schemas.openxmlformats.org/officeDocument/2006/relationships/hyperlink" Target="https://www.ie.bilkent.edu.tr/~mustafap/courses/bb.pdf" TargetMode="External"/><Relationship Id="rId4" Type="http://schemas.openxmlformats.org/officeDocument/2006/relationships/hyperlink" Target="https://www.youtube.com/watch?v=ZF8xhXE0P2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9B8D-BF65-4ADD-F76F-77EA72FFCB8F}"/>
              </a:ext>
            </a:extLst>
          </p:cNvPr>
          <p:cNvSpPr>
            <a:spLocks noGrp="1"/>
          </p:cNvSpPr>
          <p:nvPr>
            <p:ph type="ctrTitle"/>
          </p:nvPr>
        </p:nvSpPr>
        <p:spPr/>
        <p:txBody>
          <a:bodyPr/>
          <a:lstStyle/>
          <a:p>
            <a:r>
              <a:rPr lang="en-IN" dirty="0"/>
              <a:t>mathematical optimization</a:t>
            </a:r>
          </a:p>
        </p:txBody>
      </p:sp>
      <p:sp>
        <p:nvSpPr>
          <p:cNvPr id="3" name="Subtitle 2">
            <a:extLst>
              <a:ext uri="{FF2B5EF4-FFF2-40B4-BE49-F238E27FC236}">
                <a16:creationId xmlns:a16="http://schemas.microsoft.com/office/drawing/2014/main" id="{5F640656-3048-2A08-BF39-81705306F79A}"/>
              </a:ext>
            </a:extLst>
          </p:cNvPr>
          <p:cNvSpPr>
            <a:spLocks noGrp="1"/>
          </p:cNvSpPr>
          <p:nvPr>
            <p:ph type="subTitle" idx="1"/>
          </p:nvPr>
        </p:nvSpPr>
        <p:spPr/>
        <p:txBody>
          <a:bodyPr/>
          <a:lstStyle/>
          <a:p>
            <a:r>
              <a:rPr lang="en-IN"/>
              <a:t>CO2- Integer programming – Branch &amp; Bound</a:t>
            </a:r>
          </a:p>
          <a:p>
            <a:r>
              <a:rPr lang="en-IN"/>
              <a:t>                       Session 8</a:t>
            </a:r>
          </a:p>
        </p:txBody>
      </p:sp>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p:nvPr/>
        </p:nvSpPr>
        <p:spPr>
          <a:xfrm>
            <a:off x="4471200" y="84240"/>
            <a:ext cx="3011040" cy="390240"/>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wrap="square" lIns="90000" tIns="45000" rIns="90000" bIns="450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Calibri"/>
                <a:ea typeface="Calibri"/>
                <a:cs typeface="Calibri"/>
                <a:sym typeface="Calibri"/>
              </a:rPr>
              <a:t>AIM OF THE SESSION</a:t>
            </a: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142" name="Google Shape;142;p28"/>
          <p:cNvSpPr/>
          <p:nvPr/>
        </p:nvSpPr>
        <p:spPr>
          <a:xfrm>
            <a:off x="914400" y="684360"/>
            <a:ext cx="10705480" cy="605260"/>
          </a:xfrm>
          <a:prstGeom prst="rect">
            <a:avLst/>
          </a:prstGeom>
          <a:gradFill>
            <a:gsLst>
              <a:gs pos="0">
                <a:srgbClr val="F7FAFD"/>
              </a:gs>
              <a:gs pos="100000">
                <a:srgbClr val="CEE1F2"/>
              </a:gs>
            </a:gsLst>
            <a:path path="circle">
              <a:fillToRect l="50000" t="50000" r="50000" b="50000"/>
            </a:path>
            <a:tileRect/>
          </a:gradFill>
          <a:ln w="9525" cap="rnd" cmpd="sng">
            <a:solidFill>
              <a:srgbClr val="DDEAF6"/>
            </a:solidFill>
            <a:prstDash val="solid"/>
            <a:round/>
            <a:headEnd type="none" w="sm" len="sm"/>
            <a:tailEnd type="none" w="sm" len="sm"/>
          </a:ln>
          <a:effectLst>
            <a:outerShdw blurRad="50800" dist="38160" algn="l" rotWithShape="0">
              <a:srgbClr val="BBD6EE">
                <a:alpha val="0"/>
              </a:srgbClr>
            </a:outerShdw>
          </a:effectLst>
        </p:spPr>
        <p:txBody>
          <a:bodyPr spcFirstLastPara="1" wrap="square" lIns="91425" tIns="45700" rIns="91425" bIns="45700" anchor="t" anchorCtr="0">
            <a:noAutofit/>
          </a:bodyPr>
          <a:lstStyle/>
          <a:p>
            <a:pPr lvl="0">
              <a:lnSpc>
                <a:spcPct val="150000"/>
              </a:lnSpc>
            </a:pPr>
            <a:r>
              <a:rPr kumimoji="0" lang="en-US" sz="1600" b="0" i="0" u="none" strike="noStrike" kern="1200" cap="none" spc="0" normalizeH="0" baseline="0" noProof="0">
                <a:ln>
                  <a:noFill/>
                </a:ln>
                <a:solidFill>
                  <a:srgbClr val="000000"/>
                </a:solidFill>
                <a:effectLst/>
                <a:uLnTx/>
                <a:uFillTx/>
                <a:latin typeface="Poppins"/>
                <a:ea typeface="Poppins"/>
                <a:cs typeface="Poppins"/>
                <a:sym typeface="Poppins"/>
              </a:rPr>
              <a:t>To familiarize students with the basic </a:t>
            </a:r>
            <a:r>
              <a:rPr lang="en-US" sz="1600">
                <a:solidFill>
                  <a:srgbClr val="000000"/>
                </a:solidFill>
                <a:latin typeface="Poppins"/>
                <a:ea typeface="Poppins"/>
                <a:cs typeface="Poppins"/>
                <a:sym typeface="Poppins"/>
              </a:rPr>
              <a:t>concept of </a:t>
            </a:r>
            <a:r>
              <a:rPr lang="en-IN" sz="1600">
                <a:solidFill>
                  <a:srgbClr val="000000"/>
                </a:solidFill>
                <a:latin typeface="Poppins"/>
                <a:ea typeface="Poppins"/>
                <a:cs typeface="Poppins"/>
              </a:rPr>
              <a:t>Integer linear</a:t>
            </a:r>
            <a:r>
              <a:rPr lang="en-IN" sz="1600">
                <a:solidFill>
                  <a:srgbClr val="000000"/>
                </a:solidFill>
                <a:latin typeface="Poppins"/>
                <a:ea typeface="Poppins"/>
                <a:cs typeface="Poppins"/>
                <a:sym typeface="Poppins"/>
              </a:rPr>
              <a:t> Programming</a:t>
            </a:r>
            <a:r>
              <a:rPr kumimoji="0" lang="en-IN" sz="1600" b="0" i="0" u="none" strike="noStrike" kern="1200" cap="none" spc="0" normalizeH="0" baseline="0" noProof="0">
                <a:ln>
                  <a:noFill/>
                </a:ln>
                <a:solidFill>
                  <a:srgbClr val="000000"/>
                </a:solidFill>
                <a:effectLst/>
                <a:uLnTx/>
                <a:uFillTx/>
                <a:latin typeface="Poppins"/>
                <a:ea typeface="Poppins"/>
                <a:cs typeface="Poppins"/>
                <a:sym typeface="Poppins"/>
              </a:rPr>
              <a:t>.</a:t>
            </a:r>
            <a:endParaRPr kumimoji="0" sz="1600" b="0" i="0" u="none" strike="noStrike" kern="1200" cap="none" spc="0" normalizeH="0" baseline="0" noProof="0">
              <a:ln>
                <a:noFill/>
              </a:ln>
              <a:solidFill>
                <a:prstClr val="black"/>
              </a:solidFill>
              <a:effectLst/>
              <a:uLnTx/>
              <a:uFillTx/>
              <a:latin typeface="Arial"/>
              <a:ea typeface="Arial"/>
              <a:cs typeface="Arial"/>
              <a:sym typeface="Arial"/>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kumimoji="0" sz="16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143" name="Google Shape;143;p28"/>
          <p:cNvSpPr/>
          <p:nvPr/>
        </p:nvSpPr>
        <p:spPr>
          <a:xfrm>
            <a:off x="4112328" y="1542395"/>
            <a:ext cx="3870360" cy="390240"/>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wrap="square" lIns="90000" tIns="45000" rIns="90000" bIns="450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Calibri"/>
                <a:ea typeface="Calibri"/>
                <a:cs typeface="Calibri"/>
                <a:sym typeface="Calibri"/>
              </a:rPr>
              <a:t>INSTRUCTIONAL OBJECTIVES</a:t>
            </a: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sp>
        <p:nvSpPr>
          <p:cNvPr id="144" name="Google Shape;144;p28"/>
          <p:cNvSpPr/>
          <p:nvPr/>
        </p:nvSpPr>
        <p:spPr>
          <a:xfrm>
            <a:off x="1752120" y="2116781"/>
            <a:ext cx="9209434" cy="1738996"/>
          </a:xfrm>
          <a:prstGeom prst="rect">
            <a:avLst/>
          </a:prstGeom>
          <a:gradFill>
            <a:gsLst>
              <a:gs pos="0">
                <a:srgbClr val="F7FAFD"/>
              </a:gs>
              <a:gs pos="100000">
                <a:srgbClr val="CEE1F2"/>
              </a:gs>
            </a:gsLst>
            <a:path path="circle">
              <a:fillToRect l="50000" t="50000" r="50000" b="50000"/>
            </a:path>
            <a:tileRect/>
          </a:gradFill>
          <a:ln w="9525" cap="flat" cmpd="sng">
            <a:solidFill>
              <a:srgbClr val="DDEAF6"/>
            </a:solidFill>
            <a:prstDash val="solid"/>
            <a:round/>
            <a:headEnd type="none" w="sm" len="sm"/>
            <a:tailEnd type="none" w="sm" len="sm"/>
          </a:ln>
          <a:effectLst>
            <a:outerShdw blurRad="50800" dist="38160" algn="l" rotWithShape="0">
              <a:srgbClr val="BBD6EE">
                <a:alpha val="40000"/>
              </a:srgbClr>
            </a:outerShdw>
          </a:effectLst>
        </p:spPr>
        <p:txBody>
          <a:bodyPr spcFirstLastPara="1" wrap="square" lIns="91425" tIns="45700" rIns="91425" bIns="45700" anchor="t" anchorCtr="0">
            <a:noAutofit/>
          </a:bodyPr>
          <a:lstStyle/>
          <a:p>
            <a:pPr marL="0" marR="0" lvl="0" indent="0" algn="l" defTabSz="457200" rtl="0" eaLnBrk="1" fontAlgn="auto" latinLnBrk="0" hangingPunct="1">
              <a:lnSpc>
                <a:spcPct val="200000"/>
              </a:lnSpc>
              <a:spcBef>
                <a:spcPts val="0"/>
              </a:spcBef>
              <a:spcAft>
                <a:spcPts val="0"/>
              </a:spcAft>
              <a:buClrTx/>
              <a:buSzTx/>
              <a:buFontTx/>
              <a:buNone/>
              <a:tabLst/>
              <a:defRPr/>
            </a:pPr>
            <a:r>
              <a:rPr lang="en-US" sz="1600">
                <a:solidFill>
                  <a:srgbClr val="000000"/>
                </a:solidFill>
                <a:latin typeface="Arial"/>
                <a:ea typeface="Arial"/>
                <a:cs typeface="Arial"/>
                <a:sym typeface="Poppins"/>
              </a:rPr>
              <a:t>This Session is designed to:</a:t>
            </a:r>
            <a:endParaRPr sz="1600">
              <a:solidFill>
                <a:srgbClr val="000000"/>
              </a:solidFill>
              <a:latin typeface="Arial"/>
              <a:ea typeface="Arial"/>
              <a:cs typeface="Arial"/>
              <a:sym typeface="Arial"/>
            </a:endParaRPr>
          </a:p>
          <a:p>
            <a:pPr marL="342900" indent="-342265">
              <a:buClr>
                <a:srgbClr val="000000"/>
              </a:buClr>
              <a:buSzPts val="1600"/>
              <a:buFont typeface="Noto Sans Symbols"/>
              <a:buAutoNum type="arabicPeriod"/>
            </a:pPr>
            <a:r>
              <a:rPr lang="en-US" sz="1600">
                <a:solidFill>
                  <a:srgbClr val="000000"/>
                </a:solidFill>
                <a:latin typeface="Arial"/>
                <a:ea typeface="Arial"/>
                <a:cs typeface="Arial"/>
              </a:rPr>
              <a:t>Introduce the need for integer linear Programming in real life</a:t>
            </a:r>
          </a:p>
          <a:p>
            <a:pPr marL="342900" indent="-342265">
              <a:buClr>
                <a:srgbClr val="000000"/>
              </a:buClr>
              <a:buSzPts val="1600"/>
              <a:buAutoNum type="arabicPeriod"/>
            </a:pPr>
            <a:r>
              <a:rPr lang="en-US" sz="1600">
                <a:solidFill>
                  <a:srgbClr val="000000"/>
                </a:solidFill>
                <a:latin typeface="Arial"/>
                <a:ea typeface="Arial"/>
                <a:cs typeface="Arial"/>
              </a:rPr>
              <a:t>Introduce types of integer linear Programming</a:t>
            </a:r>
          </a:p>
          <a:p>
            <a:pPr marL="342900" lvl="0" indent="-342265">
              <a:buClr>
                <a:srgbClr val="000000"/>
              </a:buClr>
              <a:buSzPts val="1600"/>
              <a:buFont typeface="Noto Sans Symbols"/>
              <a:buAutoNum type="arabicPeriod"/>
            </a:pPr>
            <a:r>
              <a:rPr lang="en-US" sz="1600">
                <a:solidFill>
                  <a:srgbClr val="000000"/>
                </a:solidFill>
                <a:latin typeface="Arial"/>
                <a:ea typeface="Arial"/>
                <a:cs typeface="Arial"/>
              </a:rPr>
              <a:t>Teach the steps of solving an integer programming problem using the concepts such as branching, lower and upper bounds and fathoming, </a:t>
            </a:r>
            <a:r>
              <a:rPr lang="en-US" sz="1600">
                <a:solidFill>
                  <a:srgbClr val="000000"/>
                </a:solidFill>
                <a:latin typeface="Arial"/>
                <a:ea typeface="Arial"/>
                <a:cs typeface="Arial"/>
                <a:sym typeface="Arial"/>
              </a:rPr>
              <a:t>Introduce the concept of degree of difficulty</a:t>
            </a:r>
            <a:endParaRPr lang="en-US" sz="1600">
              <a:solidFill>
                <a:srgbClr val="000000"/>
              </a:solidFill>
              <a:latin typeface="Arial"/>
              <a:ea typeface="Arial"/>
              <a:cs typeface="Arial"/>
            </a:endParaRPr>
          </a:p>
          <a:p>
            <a:pPr marL="342900" lvl="0" indent="-342265">
              <a:buClr>
                <a:srgbClr val="000000"/>
              </a:buClr>
              <a:buSzPts val="1600"/>
              <a:buFont typeface="Noto Sans Symbols"/>
              <a:buAutoNum type="arabicPeriod"/>
            </a:pPr>
            <a:r>
              <a:rPr lang="en-US" sz="1600">
                <a:solidFill>
                  <a:srgbClr val="000000"/>
                </a:solidFill>
                <a:latin typeface="Arial"/>
                <a:ea typeface="Arial"/>
                <a:cs typeface="Arial"/>
              </a:rPr>
              <a:t>Illustrate the method using a solved example.</a:t>
            </a:r>
            <a:r>
              <a:rPr lang="en-US" sz="1600">
                <a:solidFill>
                  <a:srgbClr val="000000"/>
                </a:solidFill>
                <a:latin typeface="Arial"/>
                <a:ea typeface="Arial"/>
                <a:cs typeface="Arial"/>
                <a:sym typeface="Arial"/>
              </a:rPr>
              <a:t>.</a:t>
            </a:r>
            <a:endParaRPr sz="1600">
              <a:solidFill>
                <a:srgbClr val="000000"/>
              </a:solidFill>
              <a:latin typeface="Arial"/>
              <a:ea typeface="Arial"/>
              <a:cs typeface="Arial"/>
            </a:endParaRPr>
          </a:p>
        </p:txBody>
      </p:sp>
      <p:pic>
        <p:nvPicPr>
          <p:cNvPr id="145" name="Google Shape;145;p28" descr="Bullseye outline"/>
          <p:cNvPicPr preferRelativeResize="0"/>
          <p:nvPr/>
        </p:nvPicPr>
        <p:blipFill rotWithShape="1">
          <a:blip r:embed="rId3" cstate="print">
            <a:alphaModFix/>
          </a:blip>
          <a:srcRect/>
          <a:stretch/>
        </p:blipFill>
        <p:spPr>
          <a:xfrm>
            <a:off x="0" y="625320"/>
            <a:ext cx="914040" cy="914040"/>
          </a:xfrm>
          <a:prstGeom prst="rect">
            <a:avLst/>
          </a:prstGeom>
          <a:noFill/>
          <a:ln>
            <a:noFill/>
          </a:ln>
        </p:spPr>
      </p:pic>
      <p:pic>
        <p:nvPicPr>
          <p:cNvPr id="146" name="Google Shape;146;p28" descr="Presentation with checklist outline"/>
          <p:cNvPicPr preferRelativeResize="0"/>
          <p:nvPr/>
        </p:nvPicPr>
        <p:blipFill rotWithShape="1">
          <a:blip r:embed="rId4">
            <a:alphaModFix/>
          </a:blip>
          <a:srcRect/>
          <a:stretch/>
        </p:blipFill>
        <p:spPr>
          <a:xfrm>
            <a:off x="838080" y="2438640"/>
            <a:ext cx="914040" cy="914040"/>
          </a:xfrm>
          <a:prstGeom prst="rect">
            <a:avLst/>
          </a:prstGeom>
          <a:noFill/>
          <a:ln>
            <a:noFill/>
          </a:ln>
        </p:spPr>
      </p:pic>
      <p:sp>
        <p:nvSpPr>
          <p:cNvPr id="147" name="Google Shape;147;p28"/>
          <p:cNvSpPr/>
          <p:nvPr/>
        </p:nvSpPr>
        <p:spPr>
          <a:xfrm>
            <a:off x="4331960" y="4009507"/>
            <a:ext cx="3870360" cy="390240"/>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wrap="square" lIns="90000" tIns="45000" rIns="90000" bIns="45000"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Calibri"/>
                <a:ea typeface="Calibri"/>
                <a:cs typeface="Calibri"/>
                <a:sym typeface="Calibri"/>
              </a:rPr>
              <a:t>LEARNING OUTCOMES</a:t>
            </a:r>
            <a:endParaRPr kumimoji="0" sz="2400" b="0" i="0" u="none" strike="noStrike" kern="1200" cap="none" spc="0" normalizeH="0" baseline="0" noProof="0">
              <a:ln>
                <a:noFill/>
              </a:ln>
              <a:solidFill>
                <a:prstClr val="black"/>
              </a:solidFill>
              <a:effectLst/>
              <a:uLnTx/>
              <a:uFillTx/>
              <a:latin typeface="Arial"/>
              <a:ea typeface="Arial"/>
              <a:cs typeface="Arial"/>
              <a:sym typeface="Arial"/>
            </a:endParaRPr>
          </a:p>
        </p:txBody>
      </p:sp>
      <p:pic>
        <p:nvPicPr>
          <p:cNvPr id="148" name="Google Shape;148;p28" descr="Idea outline"/>
          <p:cNvPicPr preferRelativeResize="0"/>
          <p:nvPr/>
        </p:nvPicPr>
        <p:blipFill rotWithShape="1">
          <a:blip r:embed="rId5" cstate="print">
            <a:alphaModFix/>
          </a:blip>
          <a:srcRect/>
          <a:stretch/>
        </p:blipFill>
        <p:spPr>
          <a:xfrm>
            <a:off x="914400" y="4765680"/>
            <a:ext cx="914040" cy="914040"/>
          </a:xfrm>
          <a:prstGeom prst="rect">
            <a:avLst/>
          </a:prstGeom>
          <a:noFill/>
          <a:ln>
            <a:noFill/>
          </a:ln>
        </p:spPr>
      </p:pic>
      <p:sp>
        <p:nvSpPr>
          <p:cNvPr id="149" name="Google Shape;149;p28"/>
          <p:cNvSpPr/>
          <p:nvPr/>
        </p:nvSpPr>
        <p:spPr>
          <a:xfrm>
            <a:off x="1752475" y="4619424"/>
            <a:ext cx="8791200" cy="1465585"/>
          </a:xfrm>
          <a:prstGeom prst="rect">
            <a:avLst/>
          </a:prstGeom>
          <a:gradFill>
            <a:gsLst>
              <a:gs pos="0">
                <a:srgbClr val="F7FAFD"/>
              </a:gs>
              <a:gs pos="100000">
                <a:srgbClr val="CEE1F2"/>
              </a:gs>
            </a:gsLst>
            <a:path path="circle">
              <a:fillToRect l="50000" t="50000" r="50000" b="50000"/>
            </a:path>
            <a:tileRect/>
          </a:gradFill>
          <a:ln w="9525" cap="flat" cmpd="sng">
            <a:solidFill>
              <a:srgbClr val="DDEAF6"/>
            </a:solidFill>
            <a:prstDash val="solid"/>
            <a:round/>
            <a:headEnd type="none" w="sm" len="sm"/>
            <a:tailEnd type="none" w="sm" len="sm"/>
          </a:ln>
          <a:effectLst>
            <a:outerShdw blurRad="50800" dist="38160" algn="l" rotWithShape="0">
              <a:srgbClr val="BBD6EE">
                <a:alpha val="40000"/>
              </a:srgbClr>
            </a:outerShdw>
          </a:effectLst>
        </p:spPr>
        <p:txBody>
          <a:bodyPr spcFirstLastPara="1" wrap="square" lIns="91425" tIns="45700" rIns="91425" bIns="45700" anchor="t" anchorCtr="0">
            <a:noAutofit/>
          </a:bodyPr>
          <a:lstStyle/>
          <a:p>
            <a:pPr marL="0" marR="0" lvl="0" indent="0" algn="l" defTabSz="457200" rtl="0" eaLnBrk="1" fontAlgn="auto" latinLnBrk="0" hangingPunct="1">
              <a:lnSpc>
                <a:spcPct val="2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Arial"/>
                <a:cs typeface="Arial"/>
                <a:sym typeface="Arial"/>
              </a:rPr>
              <a:t>At the end of this session, the students should be able to:</a:t>
            </a:r>
            <a:endParaRPr kumimoji="0" sz="1600" b="0" i="0" u="none" strike="noStrike" kern="1200" cap="none" spc="0" normalizeH="0" baseline="0" noProof="0">
              <a:ln>
                <a:noFill/>
              </a:ln>
              <a:solidFill>
                <a:prstClr val="black"/>
              </a:solidFill>
              <a:effectLst/>
              <a:uLnTx/>
              <a:uFillTx/>
              <a:latin typeface="Arial"/>
              <a:ea typeface="Arial"/>
              <a:cs typeface="Arial"/>
              <a:sym typeface="Arial"/>
            </a:endParaRPr>
          </a:p>
          <a:p>
            <a:pPr marL="343080" lvl="0" indent="-342720">
              <a:buClr>
                <a:srgbClr val="000000"/>
              </a:buClr>
              <a:buSzPts val="1600"/>
              <a:buFont typeface="Noto Sans Symbols"/>
              <a:buAutoNum type="arabicPeriod"/>
            </a:pPr>
            <a:r>
              <a:rPr lang="en-US"/>
              <a:t>Understand the difference between linear programming and integer linear programming </a:t>
            </a:r>
            <a:endParaRPr kumimoji="0" lang="en-US" sz="1600" b="0" i="0" u="none" strike="noStrike" kern="1200" cap="none" spc="0" normalizeH="0" baseline="0" noProof="0">
              <a:ln>
                <a:noFill/>
              </a:ln>
              <a:solidFill>
                <a:prstClr val="black"/>
              </a:solidFill>
              <a:effectLst/>
              <a:uLnTx/>
              <a:uFillTx/>
              <a:latin typeface="Arial"/>
              <a:ea typeface="Arial"/>
              <a:cs typeface="Arial"/>
              <a:sym typeface="Arial"/>
            </a:endParaRPr>
          </a:p>
          <a:p>
            <a:pPr marL="343080" lvl="0" indent="-342720">
              <a:buClr>
                <a:srgbClr val="000000"/>
              </a:buClr>
              <a:buSzPts val="1600"/>
              <a:buFont typeface="Noto Sans Symbols"/>
              <a:buAutoNum type="arabicPeriod"/>
            </a:pPr>
            <a:r>
              <a:rPr lang="en-US"/>
              <a:t>Be able to solve an integer programming problem by using Linear Programming Relaxation as an initial step.</a:t>
            </a:r>
            <a:endParaRPr kumimoji="0" sz="1600" b="0" i="0" u="none" strike="noStrike" kern="1200" cap="none" spc="0" normalizeH="0" baseline="0" noProof="0">
              <a:ln>
                <a:noFill/>
              </a:ln>
              <a:solidFill>
                <a:prstClr val="black"/>
              </a:solidFill>
              <a:effectLst/>
              <a:uLnTx/>
              <a:uFillTx/>
              <a:latin typeface="Arial"/>
              <a:ea typeface="Arial"/>
              <a:cs typeface="Arial"/>
              <a:sym typeface="Arial"/>
            </a:endParaRPr>
          </a:p>
        </p:txBody>
      </p:sp>
      <p:pic>
        <p:nvPicPr>
          <p:cNvPr id="150" name="Google Shape;150;p28" descr="KL Deemed to be University Logo"/>
          <p:cNvPicPr preferRelativeResize="0"/>
          <p:nvPr/>
        </p:nvPicPr>
        <p:blipFill rotWithShape="1">
          <a:blip r:embed="rId6">
            <a:alphaModFix/>
          </a:blip>
          <a:srcRect/>
          <a:stretch/>
        </p:blipFill>
        <p:spPr>
          <a:xfrm>
            <a:off x="0" y="0"/>
            <a:ext cx="1990440" cy="599760"/>
          </a:xfrm>
          <a:prstGeom prst="rect">
            <a:avLst/>
          </a:prstGeom>
          <a:noFill/>
          <a:ln>
            <a:noFill/>
          </a:ln>
        </p:spPr>
      </p:pic>
      <p:pic>
        <p:nvPicPr>
          <p:cNvPr id="151" name="Google Shape;151;p28"/>
          <p:cNvPicPr preferRelativeResize="0"/>
          <p:nvPr/>
        </p:nvPicPr>
        <p:blipFill rotWithShape="1">
          <a:blip r:embed="rId7">
            <a:alphaModFix/>
          </a:blip>
          <a:srcRect l="11087" t="90948" r="8738" b="2224"/>
          <a:stretch/>
        </p:blipFill>
        <p:spPr>
          <a:xfrm>
            <a:off x="686425" y="6334750"/>
            <a:ext cx="10923300" cy="523250"/>
          </a:xfrm>
          <a:prstGeom prst="rect">
            <a:avLst/>
          </a:prstGeom>
          <a:noFill/>
          <a:ln>
            <a:noFill/>
          </a:ln>
        </p:spPr>
      </p:pic>
      <p:sp>
        <p:nvSpPr>
          <p:cNvPr id="2" name="Slide Number Placeholder 3">
            <a:extLst>
              <a:ext uri="{FF2B5EF4-FFF2-40B4-BE49-F238E27FC236}">
                <a16:creationId xmlns:a16="http://schemas.microsoft.com/office/drawing/2014/main" id="{B4AE62C8-CFDA-6A6A-8DEF-9426216F8C56}"/>
              </a:ext>
            </a:extLst>
          </p:cNvPr>
          <p:cNvSpPr>
            <a:spLocks noGrp="1"/>
          </p:cNvSpPr>
          <p:nvPr>
            <p:ph type="sldNum" sz="quarter" idx="12"/>
          </p:nvPr>
        </p:nvSpPr>
        <p:spPr>
          <a:xfrm>
            <a:off x="5690490" y="6291139"/>
            <a:ext cx="811019" cy="503578"/>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fld id="{CBABCCC1-BF11-4F37-963E-1BCD5B23FD72}" type="slidenum">
              <a:rPr kumimoji="0" lang="en-IN" sz="2200" b="0" i="0" u="none" strike="noStrike" kern="1200" cap="none" spc="0" normalizeH="0" baseline="0" noProof="0" smtClean="0">
                <a:ln>
                  <a:noFill/>
                </a:ln>
                <a:solidFill>
                  <a:srgbClr val="B71E42"/>
                </a:solidFill>
                <a:effectLst/>
                <a:uLnTx/>
                <a:uFillTx/>
                <a:latin typeface="Gill Sans MT" panose="020B0502020104020203"/>
                <a:ea typeface="+mn-ea"/>
                <a:cs typeface="+mn-cs"/>
              </a:rPr>
              <a:pPr marL="0" marR="0" lvl="0" indent="0" algn="ctr" defTabSz="457200" rtl="0" eaLnBrk="1" fontAlgn="auto" latinLnBrk="0" hangingPunct="1">
                <a:lnSpc>
                  <a:spcPct val="100000"/>
                </a:lnSpc>
                <a:spcBef>
                  <a:spcPts val="0"/>
                </a:spcBef>
                <a:spcAft>
                  <a:spcPts val="0"/>
                </a:spcAft>
                <a:buClrTx/>
                <a:buSzTx/>
                <a:buFontTx/>
                <a:buNone/>
                <a:tabLst/>
                <a:defRPr/>
              </a:pPr>
              <a:t>2</a:t>
            </a:fld>
            <a:endParaRPr kumimoji="0" lang="en-IN" sz="2200" b="0" i="0" u="none" strike="noStrike" kern="1200" cap="none" spc="0" normalizeH="0" baseline="0" noProof="0">
              <a:ln>
                <a:noFill/>
              </a:ln>
              <a:solidFill>
                <a:srgbClr val="B71E42"/>
              </a:solidFill>
              <a:effectLst/>
              <a:uLnTx/>
              <a:uFillTx/>
              <a:latin typeface="Gill Sans MT" panose="020B0502020104020203"/>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500"/>
                                        <p:tgtEl>
                                          <p:spTgt spid="1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5"/>
                                        </p:tgtEl>
                                        <p:attrNameLst>
                                          <p:attrName>style.visibility</p:attrName>
                                        </p:attrNameLst>
                                      </p:cBhvr>
                                      <p:to>
                                        <p:strVal val="visible"/>
                                      </p:to>
                                    </p:set>
                                    <p:animEffect transition="in" filter="fade">
                                      <p:cBhvr>
                                        <p:cTn id="12" dur="500"/>
                                        <p:tgtEl>
                                          <p:spTgt spid="145"/>
                                        </p:tgtEl>
                                      </p:cBhvr>
                                    </p:animEffect>
                                  </p:childTnLst>
                                </p:cTn>
                              </p:par>
                              <p:par>
                                <p:cTn id="13" presetID="10" presetClass="entr" presetSubtype="0" fill="hold" nodeType="withEffect">
                                  <p:stCondLst>
                                    <p:cond delay="0"/>
                                  </p:stCondLst>
                                  <p:childTnLst>
                                    <p:set>
                                      <p:cBhvr>
                                        <p:cTn id="14" dur="1" fill="hold">
                                          <p:stCondLst>
                                            <p:cond delay="0"/>
                                          </p:stCondLst>
                                        </p:cTn>
                                        <p:tgtEl>
                                          <p:spTgt spid="142"/>
                                        </p:tgtEl>
                                        <p:attrNameLst>
                                          <p:attrName>style.visibility</p:attrName>
                                        </p:attrNameLst>
                                      </p:cBhvr>
                                      <p:to>
                                        <p:strVal val="visible"/>
                                      </p:to>
                                    </p:set>
                                    <p:animEffect transition="in" filter="fade">
                                      <p:cBhvr>
                                        <p:cTn id="15" dur="500"/>
                                        <p:tgtEl>
                                          <p:spTgt spid="14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3"/>
                                        </p:tgtEl>
                                        <p:attrNameLst>
                                          <p:attrName>style.visibility</p:attrName>
                                        </p:attrNameLst>
                                      </p:cBhvr>
                                      <p:to>
                                        <p:strVal val="visible"/>
                                      </p:to>
                                    </p:set>
                                    <p:animEffect transition="in" filter="fade">
                                      <p:cBhvr>
                                        <p:cTn id="20" dur="500"/>
                                        <p:tgtEl>
                                          <p:spTgt spid="14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4"/>
                                        </p:tgtEl>
                                        <p:attrNameLst>
                                          <p:attrName>style.visibility</p:attrName>
                                        </p:attrNameLst>
                                      </p:cBhvr>
                                      <p:to>
                                        <p:strVal val="visible"/>
                                      </p:to>
                                    </p:set>
                                    <p:animEffect transition="in" filter="fade">
                                      <p:cBhvr>
                                        <p:cTn id="25" dur="500"/>
                                        <p:tgtEl>
                                          <p:spTgt spid="144"/>
                                        </p:tgtEl>
                                      </p:cBhvr>
                                    </p:animEffect>
                                  </p:childTnLst>
                                </p:cTn>
                              </p:par>
                              <p:par>
                                <p:cTn id="26" presetID="10" presetClass="entr" presetSubtype="0" fill="hold" nodeType="withEffect">
                                  <p:stCondLst>
                                    <p:cond delay="0"/>
                                  </p:stCondLst>
                                  <p:childTnLst>
                                    <p:set>
                                      <p:cBhvr>
                                        <p:cTn id="27" dur="1" fill="hold">
                                          <p:stCondLst>
                                            <p:cond delay="0"/>
                                          </p:stCondLst>
                                        </p:cTn>
                                        <p:tgtEl>
                                          <p:spTgt spid="146"/>
                                        </p:tgtEl>
                                        <p:attrNameLst>
                                          <p:attrName>style.visibility</p:attrName>
                                        </p:attrNameLst>
                                      </p:cBhvr>
                                      <p:to>
                                        <p:strVal val="visible"/>
                                      </p:to>
                                    </p:set>
                                    <p:animEffect transition="in" filter="fade">
                                      <p:cBhvr>
                                        <p:cTn id="28" dur="500"/>
                                        <p:tgtEl>
                                          <p:spTgt spid="14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47"/>
                                        </p:tgtEl>
                                        <p:attrNameLst>
                                          <p:attrName>style.visibility</p:attrName>
                                        </p:attrNameLst>
                                      </p:cBhvr>
                                      <p:to>
                                        <p:strVal val="visible"/>
                                      </p:to>
                                    </p:set>
                                    <p:animEffect transition="in" filter="fade">
                                      <p:cBhvr>
                                        <p:cTn id="33" dur="500"/>
                                        <p:tgtEl>
                                          <p:spTgt spid="14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49"/>
                                        </p:tgtEl>
                                        <p:attrNameLst>
                                          <p:attrName>style.visibility</p:attrName>
                                        </p:attrNameLst>
                                      </p:cBhvr>
                                      <p:to>
                                        <p:strVal val="visible"/>
                                      </p:to>
                                    </p:set>
                                    <p:animEffect transition="in" filter="fade">
                                      <p:cBhvr>
                                        <p:cTn id="38" dur="500"/>
                                        <p:tgtEl>
                                          <p:spTgt spid="149"/>
                                        </p:tgtEl>
                                      </p:cBhvr>
                                    </p:animEffect>
                                  </p:childTnLst>
                                </p:cTn>
                              </p:par>
                              <p:par>
                                <p:cTn id="39" presetID="10" presetClass="entr" presetSubtype="0" fill="hold" nodeType="withEffect">
                                  <p:stCondLst>
                                    <p:cond delay="0"/>
                                  </p:stCondLst>
                                  <p:childTnLst>
                                    <p:set>
                                      <p:cBhvr>
                                        <p:cTn id="40" dur="1" fill="hold">
                                          <p:stCondLst>
                                            <p:cond delay="0"/>
                                          </p:stCondLst>
                                        </p:cTn>
                                        <p:tgtEl>
                                          <p:spTgt spid="148"/>
                                        </p:tgtEl>
                                        <p:attrNameLst>
                                          <p:attrName>style.visibility</p:attrName>
                                        </p:attrNameLst>
                                      </p:cBhvr>
                                      <p:to>
                                        <p:strVal val="visible"/>
                                      </p:to>
                                    </p:set>
                                    <p:animEffect transition="in" filter="fade">
                                      <p:cBhvr>
                                        <p:cTn id="41" dur="500"/>
                                        <p:tgtEl>
                                          <p:spTgt spid="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F938E-369B-C16C-7F9D-AB782D33D20F}"/>
              </a:ext>
            </a:extLst>
          </p:cNvPr>
          <p:cNvSpPr>
            <a:spLocks noGrp="1"/>
          </p:cNvSpPr>
          <p:nvPr>
            <p:ph type="title"/>
          </p:nvPr>
        </p:nvSpPr>
        <p:spPr/>
        <p:txBody>
          <a:bodyPr/>
          <a:lstStyle/>
          <a:p>
            <a:r>
              <a:rPr lang="en-IN" sz="3200" spc="-4" dirty="0"/>
              <a:t>INTEGER </a:t>
            </a:r>
            <a:r>
              <a:rPr lang="en-IN" sz="3200" spc="-9" dirty="0"/>
              <a:t>PROGRAMMING:  </a:t>
            </a:r>
            <a:r>
              <a:rPr lang="en-IN" sz="3200" spc="-4" dirty="0"/>
              <a:t>AN</a:t>
            </a:r>
            <a:r>
              <a:rPr lang="en-IN" sz="3200" spc="-44" dirty="0"/>
              <a:t> </a:t>
            </a:r>
            <a:r>
              <a:rPr lang="en-IN" sz="3200" spc="-9" dirty="0"/>
              <a:t>INTRODUCTION</a:t>
            </a:r>
            <a:endParaRPr lang="en-IN" dirty="0"/>
          </a:p>
        </p:txBody>
      </p:sp>
      <p:sp>
        <p:nvSpPr>
          <p:cNvPr id="3" name="Content Placeholder 2">
            <a:extLst>
              <a:ext uri="{FF2B5EF4-FFF2-40B4-BE49-F238E27FC236}">
                <a16:creationId xmlns:a16="http://schemas.microsoft.com/office/drawing/2014/main" id="{0375C292-02A6-6C9F-D6D7-2141BB08618A}"/>
              </a:ext>
            </a:extLst>
          </p:cNvPr>
          <p:cNvSpPr>
            <a:spLocks noGrp="1"/>
          </p:cNvSpPr>
          <p:nvPr>
            <p:ph idx="1"/>
          </p:nvPr>
        </p:nvSpPr>
        <p:spPr>
          <a:xfrm>
            <a:off x="1294361" y="1453872"/>
            <a:ext cx="9603275" cy="3963232"/>
          </a:xfrm>
        </p:spPr>
        <p:txBody>
          <a:bodyPr>
            <a:normAutofit/>
          </a:bodyPr>
          <a:lstStyle/>
          <a:p>
            <a:pPr marL="313055" marR="6350" indent="-302260" algn="just">
              <a:spcBef>
                <a:spcPts val="84"/>
              </a:spcBef>
              <a:buFont typeface="Wingdings"/>
              <a:buChar char=""/>
              <a:tabLst>
                <a:tab pos="313781" algn="l"/>
              </a:tabLst>
            </a:pPr>
            <a:r>
              <a:rPr lang="en-US" sz="1900" dirty="0">
                <a:solidFill>
                  <a:srgbClr val="231F20"/>
                </a:solidFill>
                <a:latin typeface="Tahoma"/>
                <a:cs typeface="Tahoma"/>
              </a:rPr>
              <a:t>An I</a:t>
            </a:r>
            <a:r>
              <a:rPr lang="en-US" sz="1900" spc="-4" dirty="0">
                <a:solidFill>
                  <a:srgbClr val="231F20"/>
                </a:solidFill>
                <a:latin typeface="Tahoma"/>
                <a:cs typeface="Tahoma"/>
              </a:rPr>
              <a:t>nteger P</a:t>
            </a:r>
            <a:r>
              <a:rPr lang="en-US" sz="1900" spc="-9" dirty="0">
                <a:solidFill>
                  <a:srgbClr val="231F20"/>
                </a:solidFill>
                <a:latin typeface="Tahoma"/>
                <a:cs typeface="Tahoma"/>
              </a:rPr>
              <a:t>rogramming </a:t>
            </a:r>
            <a:r>
              <a:rPr lang="en-US" sz="1900" spc="-4" dirty="0">
                <a:solidFill>
                  <a:srgbClr val="231F20"/>
                </a:solidFill>
                <a:latin typeface="Tahoma"/>
                <a:cs typeface="Tahoma"/>
              </a:rPr>
              <a:t>(IP) model is one where one or </a:t>
            </a:r>
            <a:r>
              <a:rPr lang="en-US" sz="1900" spc="-9" dirty="0">
                <a:solidFill>
                  <a:srgbClr val="231F20"/>
                </a:solidFill>
                <a:latin typeface="Tahoma"/>
                <a:cs typeface="Tahoma"/>
              </a:rPr>
              <a:t>more </a:t>
            </a:r>
            <a:r>
              <a:rPr lang="en-US" sz="1900" spc="-4" dirty="0">
                <a:solidFill>
                  <a:srgbClr val="231F20"/>
                </a:solidFill>
                <a:latin typeface="Tahoma"/>
                <a:cs typeface="Tahoma"/>
              </a:rPr>
              <a:t>of the decision </a:t>
            </a:r>
            <a:r>
              <a:rPr lang="en-US" sz="1900" spc="-9" dirty="0">
                <a:solidFill>
                  <a:srgbClr val="231F20"/>
                </a:solidFill>
                <a:latin typeface="Tahoma"/>
                <a:cs typeface="Tahoma"/>
              </a:rPr>
              <a:t>variables </a:t>
            </a:r>
            <a:r>
              <a:rPr lang="en-US" sz="1900" spc="-4" dirty="0">
                <a:solidFill>
                  <a:srgbClr val="231F20"/>
                </a:solidFill>
                <a:latin typeface="Tahoma"/>
                <a:cs typeface="Tahoma"/>
              </a:rPr>
              <a:t>has </a:t>
            </a:r>
            <a:r>
              <a:rPr lang="en-US" sz="1900" dirty="0">
                <a:solidFill>
                  <a:srgbClr val="231F20"/>
                </a:solidFill>
                <a:latin typeface="Tahoma"/>
                <a:cs typeface="Tahoma"/>
              </a:rPr>
              <a:t>to </a:t>
            </a:r>
            <a:r>
              <a:rPr lang="en-US" sz="1900" spc="-9" dirty="0">
                <a:solidFill>
                  <a:srgbClr val="231F20"/>
                </a:solidFill>
                <a:latin typeface="Tahoma"/>
                <a:cs typeface="Tahoma"/>
              </a:rPr>
              <a:t>take </a:t>
            </a:r>
            <a:r>
              <a:rPr lang="en-US" sz="1900" spc="-4" dirty="0">
                <a:solidFill>
                  <a:srgbClr val="231F20"/>
                </a:solidFill>
                <a:latin typeface="Tahoma"/>
                <a:cs typeface="Tahoma"/>
              </a:rPr>
              <a:t>on an integer </a:t>
            </a:r>
            <a:r>
              <a:rPr lang="en-US" sz="1900" spc="-9" dirty="0">
                <a:solidFill>
                  <a:srgbClr val="231F20"/>
                </a:solidFill>
                <a:latin typeface="Tahoma"/>
                <a:cs typeface="Tahoma"/>
              </a:rPr>
              <a:t>value in the final solution</a:t>
            </a:r>
            <a:endParaRPr lang="en-US" dirty="0"/>
          </a:p>
          <a:p>
            <a:pPr marL="313055" marR="6350" indent="-302260" algn="just">
              <a:buFont typeface="Wingdings"/>
              <a:buChar char=""/>
              <a:tabLst>
                <a:tab pos="313781" algn="l"/>
              </a:tabLst>
            </a:pPr>
            <a:r>
              <a:rPr lang="en-US" sz="1900" spc="-9" dirty="0">
                <a:solidFill>
                  <a:srgbClr val="231F20"/>
                </a:solidFill>
                <a:latin typeface="Tahoma"/>
                <a:cs typeface="Tahoma"/>
              </a:rPr>
              <a:t>Solving an IP problem is much more difficult than solving a Linear Programming (LP) problem</a:t>
            </a:r>
            <a:endParaRPr lang="en-US" sz="1900" spc="-9" dirty="0">
              <a:solidFill>
                <a:srgbClr val="231F20"/>
              </a:solidFill>
              <a:latin typeface="Tahoma"/>
              <a:ea typeface="Tahoma"/>
              <a:cs typeface="Tahoma"/>
            </a:endParaRPr>
          </a:p>
          <a:p>
            <a:pPr marL="313055" marR="4445" indent="-302260" algn="just">
              <a:lnSpc>
                <a:spcPct val="97400"/>
              </a:lnSpc>
              <a:spcBef>
                <a:spcPts val="66"/>
              </a:spcBef>
              <a:buFont typeface="Wingdings"/>
              <a:buChar char=""/>
              <a:tabLst>
                <a:tab pos="313781" algn="l"/>
              </a:tabLst>
            </a:pPr>
            <a:r>
              <a:rPr lang="en-US" sz="1900" spc="-9" dirty="0">
                <a:solidFill>
                  <a:srgbClr val="231F20"/>
                </a:solidFill>
                <a:latin typeface="Tahoma"/>
                <a:cs typeface="Tahoma"/>
              </a:rPr>
              <a:t>If requiring integer values is the only way in which a problem deviates from a linear programming formulation, then it is an Integer Programming (IP) problem. The more complete name is Integer Linear Programming, but the adjective linear normally is dropped except when this problem is contrasted with the more esoteric integer nonlinear programming problem</a:t>
            </a:r>
            <a:endParaRPr lang="en-US" sz="1900" spc="-9" dirty="0">
              <a:solidFill>
                <a:srgbClr val="231F20"/>
              </a:solidFill>
              <a:latin typeface="Tahoma"/>
              <a:ea typeface="Tahoma"/>
              <a:cs typeface="Tahoma"/>
            </a:endParaRPr>
          </a:p>
          <a:p>
            <a:pPr marL="313055" marR="6350" indent="-302260" algn="just">
              <a:buFont typeface="Wingdings"/>
              <a:buChar char=""/>
              <a:tabLst>
                <a:tab pos="313781" algn="l"/>
              </a:tabLst>
            </a:pPr>
            <a:r>
              <a:rPr lang="en-US" sz="1900" spc="-9" dirty="0">
                <a:solidFill>
                  <a:srgbClr val="231F20"/>
                </a:solidFill>
                <a:latin typeface="Tahoma"/>
                <a:cs typeface="Tahoma"/>
              </a:rPr>
              <a:t>So, The mathematical model for integer programming is the linear programming model with the one additional restriction that the variables must have integer values</a:t>
            </a:r>
            <a:endParaRPr lang="en-US" sz="1900" spc="-9" dirty="0">
              <a:solidFill>
                <a:srgbClr val="231F20"/>
              </a:solidFill>
              <a:latin typeface="Tahoma"/>
              <a:ea typeface="Tahoma"/>
              <a:cs typeface="Tahoma"/>
            </a:endParaRPr>
          </a:p>
        </p:txBody>
      </p:sp>
      <p:sp>
        <p:nvSpPr>
          <p:cNvPr id="4" name="Slide Number Placeholder 3">
            <a:extLst>
              <a:ext uri="{FF2B5EF4-FFF2-40B4-BE49-F238E27FC236}">
                <a16:creationId xmlns:a16="http://schemas.microsoft.com/office/drawing/2014/main" id="{17E0FD6D-86AB-FA66-845A-CE396BC58451}"/>
              </a:ext>
            </a:extLst>
          </p:cNvPr>
          <p:cNvSpPr>
            <a:spLocks noGrp="1"/>
          </p:cNvSpPr>
          <p:nvPr>
            <p:ph type="sldNum" sz="quarter" idx="12"/>
          </p:nvPr>
        </p:nvSpPr>
        <p:spPr/>
        <p:txBody>
          <a:bodyPr/>
          <a:lstStyle/>
          <a:p>
            <a:fld id="{CBABCCC1-BF11-4F37-963E-1BCD5B23FD72}" type="slidenum">
              <a:rPr lang="en-IN" smtClean="0"/>
              <a:pPr/>
              <a:t>3</a:t>
            </a:fld>
            <a:endParaRPr lang="en-IN"/>
          </a:p>
        </p:txBody>
      </p:sp>
    </p:spTree>
    <p:extLst>
      <p:ext uri="{BB962C8B-B14F-4D97-AF65-F5344CB8AC3E}">
        <p14:creationId xmlns:p14="http://schemas.microsoft.com/office/powerpoint/2010/main" val="2416561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1568782" y="554141"/>
            <a:ext cx="9494488" cy="496064"/>
          </a:xfrm>
          <a:prstGeom prst="rect">
            <a:avLst/>
          </a:prstGeom>
        </p:spPr>
        <p:txBody>
          <a:bodyPr vert="horz" wrap="square" lIns="0" tIns="11206" rIns="0" bIns="0" rtlCol="0" anchor="t">
            <a:spAutoFit/>
          </a:bodyPr>
          <a:lstStyle/>
          <a:p>
            <a:pPr marR="6350" algn="ctr">
              <a:lnSpc>
                <a:spcPct val="100000"/>
              </a:lnSpc>
              <a:spcBef>
                <a:spcPts val="88"/>
              </a:spcBef>
            </a:pPr>
            <a:r>
              <a:rPr sz="3150" spc="-4">
                <a:solidFill>
                  <a:srgbClr val="FF0000"/>
                </a:solidFill>
              </a:rPr>
              <a:t>TYPES</a:t>
            </a:r>
            <a:r>
              <a:rPr sz="3150" spc="-44">
                <a:solidFill>
                  <a:srgbClr val="FF0000"/>
                </a:solidFill>
              </a:rPr>
              <a:t> </a:t>
            </a:r>
            <a:r>
              <a:rPr sz="3150" spc="-4">
                <a:solidFill>
                  <a:srgbClr val="FF0000"/>
                </a:solidFill>
              </a:rPr>
              <a:t>OF</a:t>
            </a:r>
            <a:r>
              <a:rPr sz="3150" spc="-31">
                <a:solidFill>
                  <a:srgbClr val="FF0000"/>
                </a:solidFill>
              </a:rPr>
              <a:t> </a:t>
            </a:r>
            <a:r>
              <a:rPr sz="3150" spc="-4">
                <a:solidFill>
                  <a:srgbClr val="FF0000"/>
                </a:solidFill>
              </a:rPr>
              <a:t>INTEGER</a:t>
            </a:r>
            <a:r>
              <a:rPr sz="3150" spc="-26">
                <a:solidFill>
                  <a:srgbClr val="FF0000"/>
                </a:solidFill>
              </a:rPr>
              <a:t> </a:t>
            </a:r>
            <a:r>
              <a:rPr lang="en-US" sz="3150" spc="-4">
                <a:solidFill>
                  <a:srgbClr val="FF0000"/>
                </a:solidFill>
              </a:rPr>
              <a:t>PROGRAMMING PROBLEMS</a:t>
            </a:r>
            <a:endParaRPr lang="en-US" sz="3150">
              <a:solidFill>
                <a:srgbClr val="FF0000"/>
              </a:solidFill>
            </a:endParaRPr>
          </a:p>
        </p:txBody>
      </p:sp>
      <p:sp>
        <p:nvSpPr>
          <p:cNvPr id="4" name="object 4"/>
          <p:cNvSpPr txBox="1"/>
          <p:nvPr/>
        </p:nvSpPr>
        <p:spPr>
          <a:xfrm>
            <a:off x="1275147" y="2083079"/>
            <a:ext cx="10268793" cy="3954031"/>
          </a:xfrm>
          <a:prstGeom prst="rect">
            <a:avLst/>
          </a:prstGeom>
        </p:spPr>
        <p:txBody>
          <a:bodyPr vert="horz" wrap="square" lIns="0" tIns="66675" rIns="0" bIns="0" rtlCol="0" anchor="t">
            <a:spAutoFit/>
          </a:bodyPr>
          <a:lstStyle/>
          <a:p>
            <a:pPr marL="313690" indent="-302260">
              <a:spcBef>
                <a:spcPts val="525"/>
              </a:spcBef>
              <a:buFont typeface="Wingdings"/>
              <a:buChar char=""/>
              <a:tabLst>
                <a:tab pos="313221" algn="l"/>
                <a:tab pos="313781" algn="l"/>
              </a:tabLst>
            </a:pPr>
            <a:r>
              <a:rPr sz="2471" b="1" spc="-9">
                <a:solidFill>
                  <a:srgbClr val="231F20"/>
                </a:solidFill>
                <a:latin typeface="Tahoma"/>
                <a:cs typeface="Tahoma"/>
              </a:rPr>
              <a:t>PURE-INTEGER</a:t>
            </a:r>
            <a:r>
              <a:rPr sz="2471" b="1" spc="26">
                <a:solidFill>
                  <a:srgbClr val="231F20"/>
                </a:solidFill>
                <a:latin typeface="Tahoma"/>
                <a:cs typeface="Tahoma"/>
              </a:rPr>
              <a:t> </a:t>
            </a:r>
            <a:r>
              <a:rPr sz="2471" b="1" spc="-9">
                <a:solidFill>
                  <a:srgbClr val="231F20"/>
                </a:solidFill>
                <a:latin typeface="Tahoma"/>
                <a:cs typeface="Tahoma"/>
              </a:rPr>
              <a:t>PROBLEMS</a:t>
            </a:r>
            <a:endParaRPr lang="en-US" sz="2471">
              <a:latin typeface="Tahoma"/>
              <a:ea typeface="Tahoma"/>
              <a:cs typeface="Tahoma"/>
            </a:endParaRPr>
          </a:p>
          <a:p>
            <a:pPr marL="666750" lvl="1" indent="-253365">
              <a:spcBef>
                <a:spcPts val="424"/>
              </a:spcBef>
              <a:buFont typeface="Arial MT"/>
              <a:buChar char="–"/>
              <a:tabLst>
                <a:tab pos="667906" algn="l"/>
              </a:tabLst>
            </a:pPr>
            <a:r>
              <a:rPr sz="2100" spc="-4">
                <a:solidFill>
                  <a:srgbClr val="231F20"/>
                </a:solidFill>
                <a:latin typeface="Tahoma"/>
                <a:cs typeface="Tahoma"/>
              </a:rPr>
              <a:t>require</a:t>
            </a:r>
            <a:r>
              <a:rPr sz="2100" spc="-31">
                <a:solidFill>
                  <a:srgbClr val="231F20"/>
                </a:solidFill>
                <a:latin typeface="Tahoma"/>
                <a:cs typeface="Tahoma"/>
              </a:rPr>
              <a:t> </a:t>
            </a:r>
            <a:r>
              <a:rPr sz="2100" spc="-4">
                <a:solidFill>
                  <a:srgbClr val="231F20"/>
                </a:solidFill>
                <a:latin typeface="Tahoma"/>
                <a:cs typeface="Tahoma"/>
              </a:rPr>
              <a:t>that</a:t>
            </a:r>
            <a:r>
              <a:rPr sz="2100" spc="4">
                <a:solidFill>
                  <a:srgbClr val="231F20"/>
                </a:solidFill>
                <a:latin typeface="Tahoma"/>
                <a:cs typeface="Tahoma"/>
              </a:rPr>
              <a:t> </a:t>
            </a:r>
            <a:r>
              <a:rPr sz="2200" b="1" spc="-26">
                <a:solidFill>
                  <a:srgbClr val="FF0000"/>
                </a:solidFill>
                <a:latin typeface="Tahoma"/>
                <a:cs typeface="Tahoma"/>
              </a:rPr>
              <a:t>all</a:t>
            </a:r>
            <a:r>
              <a:rPr sz="2200" spc="-26">
                <a:solidFill>
                  <a:srgbClr val="231F20"/>
                </a:solidFill>
                <a:latin typeface="Tahoma"/>
                <a:cs typeface="Tahoma"/>
              </a:rPr>
              <a:t> </a:t>
            </a:r>
            <a:r>
              <a:rPr sz="2100" spc="-4">
                <a:solidFill>
                  <a:srgbClr val="231F20"/>
                </a:solidFill>
                <a:latin typeface="Tahoma"/>
                <a:cs typeface="Tahoma"/>
              </a:rPr>
              <a:t>decision</a:t>
            </a:r>
            <a:r>
              <a:rPr sz="2100" spc="4">
                <a:solidFill>
                  <a:srgbClr val="231F20"/>
                </a:solidFill>
                <a:latin typeface="Tahoma"/>
                <a:cs typeface="Tahoma"/>
              </a:rPr>
              <a:t> </a:t>
            </a:r>
            <a:r>
              <a:rPr sz="2100" spc="-9">
                <a:solidFill>
                  <a:srgbClr val="231F20"/>
                </a:solidFill>
                <a:latin typeface="Tahoma"/>
                <a:cs typeface="Tahoma"/>
              </a:rPr>
              <a:t>variables</a:t>
            </a:r>
            <a:r>
              <a:rPr sz="2100" spc="9">
                <a:solidFill>
                  <a:srgbClr val="231F20"/>
                </a:solidFill>
                <a:latin typeface="Tahoma"/>
                <a:cs typeface="Tahoma"/>
              </a:rPr>
              <a:t> </a:t>
            </a:r>
            <a:r>
              <a:rPr sz="2100" spc="-9">
                <a:solidFill>
                  <a:srgbClr val="231F20"/>
                </a:solidFill>
                <a:latin typeface="Tahoma"/>
                <a:cs typeface="Tahoma"/>
              </a:rPr>
              <a:t>have </a:t>
            </a:r>
            <a:r>
              <a:rPr sz="2100" spc="-4">
                <a:solidFill>
                  <a:srgbClr val="231F20"/>
                </a:solidFill>
                <a:latin typeface="Tahoma"/>
                <a:cs typeface="Tahoma"/>
              </a:rPr>
              <a:t>integer</a:t>
            </a:r>
            <a:r>
              <a:rPr sz="2100" spc="-9">
                <a:solidFill>
                  <a:srgbClr val="231F20"/>
                </a:solidFill>
                <a:latin typeface="Tahoma"/>
                <a:cs typeface="Tahoma"/>
              </a:rPr>
              <a:t> </a:t>
            </a:r>
            <a:r>
              <a:rPr sz="2100">
                <a:solidFill>
                  <a:srgbClr val="231F20"/>
                </a:solidFill>
                <a:latin typeface="Tahoma"/>
                <a:cs typeface="Tahoma"/>
              </a:rPr>
              <a:t>solutions.</a:t>
            </a:r>
            <a:endParaRPr sz="2100">
              <a:latin typeface="Tahoma"/>
              <a:ea typeface="Tahoma"/>
              <a:cs typeface="Tahoma"/>
            </a:endParaRPr>
          </a:p>
          <a:p>
            <a:pPr lvl="1">
              <a:lnSpc>
                <a:spcPct val="100000"/>
              </a:lnSpc>
              <a:buClr>
                <a:srgbClr val="231F20"/>
              </a:buClr>
              <a:buFont typeface="Arial MT"/>
              <a:buChar char="–"/>
            </a:pPr>
            <a:endParaRPr sz="3000">
              <a:latin typeface="Tahoma"/>
              <a:cs typeface="Tahoma"/>
            </a:endParaRPr>
          </a:p>
          <a:p>
            <a:pPr marL="313690" indent="-302260">
              <a:buFont typeface="Wingdings"/>
              <a:buChar char=""/>
              <a:tabLst>
                <a:tab pos="313221" algn="l"/>
                <a:tab pos="313781" algn="l"/>
              </a:tabLst>
            </a:pPr>
            <a:r>
              <a:rPr sz="2471" b="1" spc="-9">
                <a:solidFill>
                  <a:srgbClr val="231F20"/>
                </a:solidFill>
                <a:latin typeface="Tahoma"/>
                <a:cs typeface="Tahoma"/>
              </a:rPr>
              <a:t>MIXED-INTEGER</a:t>
            </a:r>
            <a:r>
              <a:rPr sz="2471" b="1" spc="31">
                <a:solidFill>
                  <a:srgbClr val="231F20"/>
                </a:solidFill>
                <a:latin typeface="Tahoma"/>
                <a:cs typeface="Tahoma"/>
              </a:rPr>
              <a:t> </a:t>
            </a:r>
            <a:r>
              <a:rPr sz="2471" b="1" spc="-9">
                <a:solidFill>
                  <a:srgbClr val="231F20"/>
                </a:solidFill>
                <a:latin typeface="Tahoma"/>
                <a:cs typeface="Tahoma"/>
              </a:rPr>
              <a:t>PROBLEMS</a:t>
            </a:r>
            <a:endParaRPr sz="2471">
              <a:latin typeface="Tahoma"/>
              <a:ea typeface="Tahoma"/>
              <a:cs typeface="Tahoma"/>
            </a:endParaRPr>
          </a:p>
          <a:p>
            <a:pPr marL="666750" marR="4445" lvl="1" indent="-252730" algn="just">
              <a:spcBef>
                <a:spcPts val="512"/>
              </a:spcBef>
              <a:buFont typeface="Arial MT"/>
              <a:buChar char="–"/>
              <a:tabLst>
                <a:tab pos="667906" algn="l"/>
              </a:tabLst>
            </a:pPr>
            <a:r>
              <a:rPr sz="2100" spc="-9">
                <a:solidFill>
                  <a:srgbClr val="231F20"/>
                </a:solidFill>
                <a:latin typeface="Tahoma"/>
                <a:cs typeface="Tahoma"/>
              </a:rPr>
              <a:t>Require some, </a:t>
            </a:r>
            <a:r>
              <a:rPr sz="2100">
                <a:solidFill>
                  <a:srgbClr val="231F20"/>
                </a:solidFill>
                <a:latin typeface="Tahoma"/>
                <a:cs typeface="Tahoma"/>
              </a:rPr>
              <a:t>but </a:t>
            </a:r>
            <a:r>
              <a:rPr sz="2100" spc="-4">
                <a:solidFill>
                  <a:srgbClr val="231F20"/>
                </a:solidFill>
                <a:latin typeface="Tahoma"/>
                <a:cs typeface="Tahoma"/>
              </a:rPr>
              <a:t>not </a:t>
            </a:r>
            <a:r>
              <a:rPr sz="2100">
                <a:solidFill>
                  <a:srgbClr val="231F20"/>
                </a:solidFill>
                <a:latin typeface="Tahoma"/>
                <a:cs typeface="Tahoma"/>
              </a:rPr>
              <a:t>all, </a:t>
            </a:r>
            <a:r>
              <a:rPr sz="2100" spc="-4">
                <a:solidFill>
                  <a:srgbClr val="231F20"/>
                </a:solidFill>
                <a:latin typeface="Tahoma"/>
                <a:cs typeface="Tahoma"/>
              </a:rPr>
              <a:t>of the decision </a:t>
            </a:r>
            <a:r>
              <a:rPr sz="2100" spc="-9">
                <a:solidFill>
                  <a:srgbClr val="231F20"/>
                </a:solidFill>
                <a:latin typeface="Tahoma"/>
                <a:cs typeface="Tahoma"/>
              </a:rPr>
              <a:t>variables to</a:t>
            </a:r>
            <a:r>
              <a:rPr lang="en-US" sz="2100" spc="-9">
                <a:solidFill>
                  <a:srgbClr val="231F20"/>
                </a:solidFill>
                <a:latin typeface="Tahoma"/>
                <a:cs typeface="Tahoma"/>
              </a:rPr>
              <a:t> </a:t>
            </a:r>
            <a:r>
              <a:rPr sz="2100" spc="-9">
                <a:solidFill>
                  <a:srgbClr val="231F20"/>
                </a:solidFill>
                <a:latin typeface="Tahoma"/>
                <a:cs typeface="Tahoma"/>
              </a:rPr>
              <a:t>have </a:t>
            </a:r>
            <a:r>
              <a:rPr sz="2100" spc="-4">
                <a:solidFill>
                  <a:srgbClr val="231F20"/>
                </a:solidFill>
                <a:latin typeface="Tahoma"/>
                <a:cs typeface="Tahoma"/>
              </a:rPr>
              <a:t>integer </a:t>
            </a:r>
            <a:r>
              <a:rPr sz="2100" spc="-9">
                <a:solidFill>
                  <a:srgbClr val="231F20"/>
                </a:solidFill>
                <a:latin typeface="Tahoma"/>
                <a:cs typeface="Tahoma"/>
              </a:rPr>
              <a:t>values </a:t>
            </a:r>
            <a:r>
              <a:rPr sz="2100" spc="-4">
                <a:solidFill>
                  <a:srgbClr val="231F20"/>
                </a:solidFill>
                <a:latin typeface="Tahoma"/>
                <a:cs typeface="Tahoma"/>
              </a:rPr>
              <a:t>in the final solution, whereas others</a:t>
            </a:r>
            <a:r>
              <a:rPr lang="en-US" sz="2100" spc="-4">
                <a:solidFill>
                  <a:srgbClr val="231F20"/>
                </a:solidFill>
                <a:latin typeface="Tahoma"/>
                <a:cs typeface="Tahoma"/>
              </a:rPr>
              <a:t> </a:t>
            </a:r>
            <a:r>
              <a:rPr sz="2100" spc="-4">
                <a:solidFill>
                  <a:srgbClr val="231F20"/>
                </a:solidFill>
                <a:latin typeface="Tahoma"/>
                <a:cs typeface="Tahoma"/>
              </a:rPr>
              <a:t>need</a:t>
            </a:r>
            <a:r>
              <a:rPr sz="2100" spc="-22">
                <a:solidFill>
                  <a:srgbClr val="231F20"/>
                </a:solidFill>
                <a:latin typeface="Tahoma"/>
                <a:cs typeface="Tahoma"/>
              </a:rPr>
              <a:t> </a:t>
            </a:r>
            <a:r>
              <a:rPr sz="2100">
                <a:solidFill>
                  <a:srgbClr val="231F20"/>
                </a:solidFill>
                <a:latin typeface="Tahoma"/>
                <a:cs typeface="Tahoma"/>
              </a:rPr>
              <a:t>not</a:t>
            </a:r>
            <a:r>
              <a:rPr sz="2100" spc="-18">
                <a:solidFill>
                  <a:srgbClr val="231F20"/>
                </a:solidFill>
                <a:latin typeface="Tahoma"/>
                <a:cs typeface="Tahoma"/>
              </a:rPr>
              <a:t> </a:t>
            </a:r>
            <a:r>
              <a:rPr sz="2100" spc="-9">
                <a:solidFill>
                  <a:srgbClr val="231F20"/>
                </a:solidFill>
                <a:latin typeface="Tahoma"/>
                <a:cs typeface="Tahoma"/>
              </a:rPr>
              <a:t>have </a:t>
            </a:r>
            <a:r>
              <a:rPr sz="2100" spc="-4">
                <a:solidFill>
                  <a:srgbClr val="231F20"/>
                </a:solidFill>
                <a:latin typeface="Tahoma"/>
                <a:cs typeface="Tahoma"/>
              </a:rPr>
              <a:t>integer</a:t>
            </a:r>
            <a:r>
              <a:rPr sz="2100" spc="-18">
                <a:solidFill>
                  <a:srgbClr val="231F20"/>
                </a:solidFill>
                <a:latin typeface="Tahoma"/>
                <a:cs typeface="Tahoma"/>
              </a:rPr>
              <a:t> </a:t>
            </a:r>
            <a:r>
              <a:rPr sz="2100" spc="-9">
                <a:solidFill>
                  <a:srgbClr val="231F20"/>
                </a:solidFill>
                <a:latin typeface="Tahoma"/>
                <a:cs typeface="Tahoma"/>
              </a:rPr>
              <a:t>values.</a:t>
            </a:r>
            <a:endParaRPr sz="2100">
              <a:latin typeface="Tahoma"/>
              <a:ea typeface="Tahoma"/>
              <a:cs typeface="Tahoma"/>
            </a:endParaRPr>
          </a:p>
          <a:p>
            <a:pPr lvl="1">
              <a:spcBef>
                <a:spcPts val="18"/>
              </a:spcBef>
              <a:buClr>
                <a:srgbClr val="231F20"/>
              </a:buClr>
              <a:buFont typeface="Arial MT"/>
              <a:buChar char="–"/>
            </a:pPr>
            <a:endParaRPr sz="3000">
              <a:latin typeface="Tahoma"/>
              <a:cs typeface="Tahoma"/>
            </a:endParaRPr>
          </a:p>
          <a:p>
            <a:pPr marL="313690" indent="-302260">
              <a:spcBef>
                <a:spcPts val="4"/>
              </a:spcBef>
              <a:buFont typeface="Wingdings"/>
              <a:buChar char=""/>
              <a:tabLst>
                <a:tab pos="313221" algn="l"/>
                <a:tab pos="313781" algn="l"/>
              </a:tabLst>
            </a:pPr>
            <a:r>
              <a:rPr sz="2471" b="1" spc="-9">
                <a:solidFill>
                  <a:srgbClr val="231F20"/>
                </a:solidFill>
                <a:latin typeface="Tahoma"/>
                <a:cs typeface="Tahoma"/>
              </a:rPr>
              <a:t>0–1</a:t>
            </a:r>
            <a:r>
              <a:rPr sz="2471" b="1">
                <a:solidFill>
                  <a:srgbClr val="231F20"/>
                </a:solidFill>
                <a:latin typeface="Tahoma"/>
                <a:cs typeface="Tahoma"/>
              </a:rPr>
              <a:t> </a:t>
            </a:r>
            <a:r>
              <a:rPr sz="2471" b="1" spc="-4">
                <a:solidFill>
                  <a:srgbClr val="231F20"/>
                </a:solidFill>
                <a:latin typeface="Tahoma"/>
                <a:cs typeface="Tahoma"/>
              </a:rPr>
              <a:t>INTEGER</a:t>
            </a:r>
            <a:r>
              <a:rPr sz="2471" b="1" spc="4">
                <a:solidFill>
                  <a:srgbClr val="231F20"/>
                </a:solidFill>
                <a:latin typeface="Tahoma"/>
                <a:cs typeface="Tahoma"/>
              </a:rPr>
              <a:t> </a:t>
            </a:r>
            <a:r>
              <a:rPr sz="2471" b="1" spc="-9">
                <a:solidFill>
                  <a:srgbClr val="231F20"/>
                </a:solidFill>
                <a:latin typeface="Tahoma"/>
                <a:cs typeface="Tahoma"/>
              </a:rPr>
              <a:t>PROBLEMS</a:t>
            </a:r>
            <a:endParaRPr sz="2471">
              <a:latin typeface="Tahoma"/>
              <a:ea typeface="Tahoma"/>
              <a:cs typeface="Tahoma"/>
            </a:endParaRPr>
          </a:p>
          <a:p>
            <a:pPr marL="666750" marR="4445" lvl="1" indent="-252730" algn="just">
              <a:spcBef>
                <a:spcPts val="512"/>
              </a:spcBef>
              <a:buFont typeface="Arial MT"/>
              <a:buChar char="–"/>
              <a:tabLst>
                <a:tab pos="667906" algn="l"/>
              </a:tabLst>
            </a:pPr>
            <a:r>
              <a:rPr sz="2100" spc="-9">
                <a:solidFill>
                  <a:srgbClr val="231F20"/>
                </a:solidFill>
                <a:latin typeface="Tahoma"/>
                <a:cs typeface="Tahoma"/>
              </a:rPr>
              <a:t>Require </a:t>
            </a:r>
            <a:r>
              <a:rPr lang="en-US" sz="2100" spc="-9">
                <a:solidFill>
                  <a:srgbClr val="231F20"/>
                </a:solidFill>
                <a:latin typeface="Tahoma"/>
                <a:cs typeface="Tahoma"/>
              </a:rPr>
              <a:t>the variables</a:t>
            </a:r>
            <a:r>
              <a:rPr sz="2100" spc="-9">
                <a:solidFill>
                  <a:srgbClr val="231F20"/>
                </a:solidFill>
                <a:latin typeface="Tahoma"/>
                <a:cs typeface="Tahoma"/>
              </a:rPr>
              <a:t> </a:t>
            </a:r>
            <a:r>
              <a:rPr sz="2100" spc="-4">
                <a:solidFill>
                  <a:srgbClr val="231F20"/>
                </a:solidFill>
                <a:latin typeface="Tahoma"/>
                <a:cs typeface="Tahoma"/>
              </a:rPr>
              <a:t>to </a:t>
            </a:r>
            <a:r>
              <a:rPr lang="en-US" sz="2100" spc="-9">
                <a:solidFill>
                  <a:srgbClr val="231F20"/>
                </a:solidFill>
                <a:latin typeface="Tahoma"/>
                <a:cs typeface="Tahoma"/>
              </a:rPr>
              <a:t>have value </a:t>
            </a:r>
            <a:r>
              <a:rPr sz="2100" spc="-4">
                <a:solidFill>
                  <a:srgbClr val="231F20"/>
                </a:solidFill>
                <a:latin typeface="Tahoma"/>
                <a:cs typeface="Tahoma"/>
              </a:rPr>
              <a:t>of </a:t>
            </a:r>
            <a:r>
              <a:rPr sz="2100">
                <a:solidFill>
                  <a:srgbClr val="231F20"/>
                </a:solidFill>
                <a:latin typeface="Tahoma"/>
                <a:cs typeface="Tahoma"/>
              </a:rPr>
              <a:t>0 or </a:t>
            </a:r>
            <a:r>
              <a:rPr sz="2100" spc="-9">
                <a:solidFill>
                  <a:srgbClr val="231F20"/>
                </a:solidFill>
                <a:latin typeface="Tahoma"/>
                <a:cs typeface="Tahoma"/>
              </a:rPr>
              <a:t>1, </a:t>
            </a:r>
            <a:r>
              <a:rPr sz="2100" spc="-4">
                <a:solidFill>
                  <a:srgbClr val="231F20"/>
                </a:solidFill>
                <a:latin typeface="Tahoma"/>
                <a:cs typeface="Tahoma"/>
              </a:rPr>
              <a:t>such</a:t>
            </a:r>
            <a:r>
              <a:rPr lang="en-US" sz="2100" spc="-4">
                <a:solidFill>
                  <a:srgbClr val="231F20"/>
                </a:solidFill>
                <a:latin typeface="Tahoma"/>
                <a:cs typeface="Tahoma"/>
              </a:rPr>
              <a:t> </a:t>
            </a:r>
            <a:r>
              <a:rPr sz="2100">
                <a:solidFill>
                  <a:srgbClr val="231F20"/>
                </a:solidFill>
                <a:latin typeface="Tahoma"/>
                <a:cs typeface="Tahoma"/>
              </a:rPr>
              <a:t>as </a:t>
            </a:r>
            <a:r>
              <a:rPr sz="2100" spc="-4">
                <a:solidFill>
                  <a:srgbClr val="231F20"/>
                </a:solidFill>
                <a:latin typeface="Tahoma"/>
                <a:cs typeface="Tahoma"/>
              </a:rPr>
              <a:t>situations </a:t>
            </a:r>
            <a:r>
              <a:rPr sz="2100">
                <a:solidFill>
                  <a:srgbClr val="231F20"/>
                </a:solidFill>
                <a:latin typeface="Tahoma"/>
                <a:cs typeface="Tahoma"/>
              </a:rPr>
              <a:t>in </a:t>
            </a:r>
            <a:r>
              <a:rPr sz="2100" spc="-4">
                <a:solidFill>
                  <a:srgbClr val="231F20"/>
                </a:solidFill>
                <a:latin typeface="Tahoma"/>
                <a:cs typeface="Tahoma"/>
              </a:rPr>
              <a:t>which decision </a:t>
            </a:r>
            <a:r>
              <a:rPr sz="2100" spc="-9">
                <a:solidFill>
                  <a:srgbClr val="231F20"/>
                </a:solidFill>
                <a:latin typeface="Tahoma"/>
                <a:cs typeface="Tahoma"/>
              </a:rPr>
              <a:t>variables </a:t>
            </a:r>
            <a:r>
              <a:rPr sz="2100" spc="-4">
                <a:solidFill>
                  <a:srgbClr val="231F20"/>
                </a:solidFill>
                <a:latin typeface="Tahoma"/>
                <a:cs typeface="Tahoma"/>
              </a:rPr>
              <a:t>are of </a:t>
            </a:r>
            <a:r>
              <a:rPr sz="2100" spc="-9">
                <a:solidFill>
                  <a:srgbClr val="231F20"/>
                </a:solidFill>
                <a:latin typeface="Tahoma"/>
                <a:cs typeface="Tahoma"/>
              </a:rPr>
              <a:t>the </a:t>
            </a:r>
            <a:r>
              <a:rPr sz="2100" spc="-13">
                <a:solidFill>
                  <a:srgbClr val="231F20"/>
                </a:solidFill>
                <a:latin typeface="Tahoma"/>
                <a:cs typeface="Tahoma"/>
              </a:rPr>
              <a:t>yes-</a:t>
            </a:r>
            <a:r>
              <a:rPr lang="en-US" sz="2100" spc="-13">
                <a:solidFill>
                  <a:srgbClr val="231F20"/>
                </a:solidFill>
                <a:latin typeface="Tahoma"/>
                <a:cs typeface="Tahoma"/>
              </a:rPr>
              <a:t> </a:t>
            </a:r>
            <a:r>
              <a:rPr sz="2100">
                <a:solidFill>
                  <a:srgbClr val="231F20"/>
                </a:solidFill>
                <a:latin typeface="Tahoma"/>
                <a:cs typeface="Tahoma"/>
              </a:rPr>
              <a:t>no</a:t>
            </a:r>
            <a:r>
              <a:rPr sz="2100" spc="-26">
                <a:solidFill>
                  <a:srgbClr val="231F20"/>
                </a:solidFill>
                <a:latin typeface="Tahoma"/>
                <a:cs typeface="Tahoma"/>
              </a:rPr>
              <a:t> </a:t>
            </a:r>
            <a:r>
              <a:rPr sz="2100" spc="-9">
                <a:solidFill>
                  <a:srgbClr val="231F20"/>
                </a:solidFill>
                <a:latin typeface="Tahoma"/>
                <a:cs typeface="Tahoma"/>
              </a:rPr>
              <a:t>type.</a:t>
            </a:r>
            <a:endParaRPr sz="2100">
              <a:latin typeface="Tahoma"/>
              <a:ea typeface="Tahoma"/>
              <a:cs typeface="Tahoma"/>
            </a:endParaRPr>
          </a:p>
        </p:txBody>
      </p:sp>
    </p:spTree>
    <p:extLst>
      <p:ext uri="{BB962C8B-B14F-4D97-AF65-F5344CB8AC3E}">
        <p14:creationId xmlns:p14="http://schemas.microsoft.com/office/powerpoint/2010/main" val="1799109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39276" y="709870"/>
            <a:ext cx="8473478" cy="1097201"/>
          </a:xfrm>
          <a:prstGeom prst="rect">
            <a:avLst/>
          </a:prstGeom>
        </p:spPr>
        <p:txBody>
          <a:bodyPr vert="horz" wrap="square" lIns="0" tIns="10646" rIns="0" bIns="0" rtlCol="0" anchor="t">
            <a:spAutoFit/>
          </a:bodyPr>
          <a:lstStyle/>
          <a:p>
            <a:pPr marL="1805924" marR="4483" algn="r">
              <a:lnSpc>
                <a:spcPct val="100000"/>
              </a:lnSpc>
              <a:spcBef>
                <a:spcPts val="84"/>
              </a:spcBef>
            </a:pPr>
            <a:r>
              <a:rPr sz="3530" spc="-4"/>
              <a:t>INTEGER</a:t>
            </a:r>
            <a:r>
              <a:rPr sz="3530" spc="-79"/>
              <a:t> </a:t>
            </a:r>
            <a:r>
              <a:rPr sz="3530" spc="-4"/>
              <a:t>PROGRAMMING:</a:t>
            </a:r>
            <a:endParaRPr sz="3530"/>
          </a:p>
          <a:p>
            <a:pPr marL="1805924" marR="4483" algn="r">
              <a:lnSpc>
                <a:spcPct val="100000"/>
              </a:lnSpc>
            </a:pPr>
            <a:r>
              <a:rPr sz="3530" spc="-4"/>
              <a:t>FORMULATION</a:t>
            </a:r>
            <a:endParaRPr sz="3530"/>
          </a:p>
        </p:txBody>
      </p:sp>
      <p:sp>
        <p:nvSpPr>
          <p:cNvPr id="3" name="object 3"/>
          <p:cNvSpPr txBox="1"/>
          <p:nvPr/>
        </p:nvSpPr>
        <p:spPr>
          <a:xfrm>
            <a:off x="1205713" y="1760736"/>
            <a:ext cx="9637614" cy="1382204"/>
          </a:xfrm>
          <a:prstGeom prst="rect">
            <a:avLst/>
          </a:prstGeom>
        </p:spPr>
        <p:txBody>
          <a:bodyPr vert="horz" wrap="square" lIns="0" tIns="11206" rIns="0" bIns="0" rtlCol="0" anchor="t">
            <a:spAutoFit/>
          </a:bodyPr>
          <a:lstStyle/>
          <a:p>
            <a:pPr marL="313690" indent="-302260">
              <a:spcBef>
                <a:spcPts val="88"/>
              </a:spcBef>
              <a:buFont typeface="Wingdings"/>
              <a:buChar char=""/>
              <a:tabLst>
                <a:tab pos="313221" algn="l"/>
                <a:tab pos="313781" algn="l"/>
              </a:tabLst>
            </a:pPr>
            <a:endParaRPr lang="en-IN" sz="1765" b="1" spc="-4">
              <a:solidFill>
                <a:srgbClr val="231F20"/>
              </a:solidFill>
              <a:latin typeface="Tahoma"/>
              <a:ea typeface="Tahoma"/>
              <a:cs typeface="Tahoma"/>
            </a:endParaRPr>
          </a:p>
          <a:p>
            <a:pPr marL="313690" indent="-302260">
              <a:spcBef>
                <a:spcPts val="88"/>
              </a:spcBef>
              <a:buFont typeface="Wingdings"/>
              <a:buChar char=""/>
              <a:tabLst>
                <a:tab pos="313221" algn="l"/>
                <a:tab pos="313781" algn="l"/>
              </a:tabLst>
            </a:pPr>
            <a:r>
              <a:rPr lang="en-IN" sz="1750" b="1" spc="-4">
                <a:solidFill>
                  <a:srgbClr val="FF0000"/>
                </a:solidFill>
                <a:latin typeface="Tahoma"/>
                <a:cs typeface="Tahoma"/>
              </a:rPr>
              <a:t>Pure</a:t>
            </a:r>
            <a:r>
              <a:rPr lang="en-IN" sz="1750" b="1" spc="-44">
                <a:solidFill>
                  <a:srgbClr val="FF0000"/>
                </a:solidFill>
                <a:latin typeface="Tahoma"/>
                <a:cs typeface="Tahoma"/>
              </a:rPr>
              <a:t> </a:t>
            </a:r>
            <a:r>
              <a:rPr lang="en-IN" sz="1750" b="1">
                <a:solidFill>
                  <a:srgbClr val="FF0000"/>
                </a:solidFill>
                <a:latin typeface="Tahoma"/>
                <a:cs typeface="Tahoma"/>
              </a:rPr>
              <a:t>IL</a:t>
            </a:r>
            <a:r>
              <a:rPr lang="en-IN" sz="1750" b="1" spc="-18">
                <a:solidFill>
                  <a:srgbClr val="231F20"/>
                </a:solidFill>
                <a:latin typeface="Tahoma"/>
                <a:cs typeface="Tahoma"/>
              </a:rPr>
              <a:t> </a:t>
            </a:r>
            <a:r>
              <a:rPr lang="en-IN" sz="1750" b="1" spc="-4">
                <a:solidFill>
                  <a:srgbClr val="231F20"/>
                </a:solidFill>
                <a:latin typeface="Tahoma"/>
                <a:cs typeface="Tahoma"/>
              </a:rPr>
              <a:t>Problem:</a:t>
            </a:r>
            <a:endParaRPr lang="en-IN" sz="1750">
              <a:latin typeface="Tahoma"/>
              <a:ea typeface="Tahoma"/>
              <a:cs typeface="Tahoma"/>
            </a:endParaRPr>
          </a:p>
          <a:p>
            <a:pPr marL="10795" marR="4445"/>
            <a:r>
              <a:rPr lang="en-IN" sz="1750">
                <a:solidFill>
                  <a:srgbClr val="231F20"/>
                </a:solidFill>
                <a:latin typeface="Tahoma"/>
                <a:cs typeface="Tahoma"/>
              </a:rPr>
              <a:t>A </a:t>
            </a:r>
            <a:r>
              <a:rPr lang="en-IN" sz="1750" spc="-4">
                <a:solidFill>
                  <a:srgbClr val="231F20"/>
                </a:solidFill>
                <a:latin typeface="Tahoma"/>
                <a:cs typeface="Tahoma"/>
              </a:rPr>
              <a:t>jewelery shop in the </a:t>
            </a:r>
            <a:r>
              <a:rPr lang="en-IN" sz="1750" spc="-9">
                <a:solidFill>
                  <a:srgbClr val="231F20"/>
                </a:solidFill>
                <a:latin typeface="Tahoma"/>
                <a:cs typeface="Tahoma"/>
              </a:rPr>
              <a:t>city </a:t>
            </a:r>
            <a:r>
              <a:rPr lang="en-IN" sz="1750" spc="-4">
                <a:solidFill>
                  <a:srgbClr val="231F20"/>
                </a:solidFill>
                <a:latin typeface="Tahoma"/>
                <a:cs typeface="Tahoma"/>
              </a:rPr>
              <a:t>specializes in ornaments </a:t>
            </a:r>
            <a:r>
              <a:rPr lang="en-IN" sz="1750">
                <a:solidFill>
                  <a:srgbClr val="231F20"/>
                </a:solidFill>
                <a:latin typeface="Tahoma"/>
                <a:cs typeface="Tahoma"/>
              </a:rPr>
              <a:t>and the </a:t>
            </a:r>
            <a:r>
              <a:rPr lang="en-IN" sz="1750" spc="-4">
                <a:solidFill>
                  <a:srgbClr val="231F20"/>
                </a:solidFill>
                <a:latin typeface="Tahoma"/>
                <a:cs typeface="Tahoma"/>
              </a:rPr>
              <a:t>manger </a:t>
            </a:r>
            <a:r>
              <a:rPr lang="en-IN" sz="1750" spc="-9">
                <a:solidFill>
                  <a:srgbClr val="231F20"/>
                </a:solidFill>
                <a:latin typeface="Tahoma"/>
                <a:cs typeface="Tahoma"/>
              </a:rPr>
              <a:t>has </a:t>
            </a:r>
            <a:r>
              <a:rPr lang="en-IN" sz="1750" spc="-4">
                <a:solidFill>
                  <a:srgbClr val="231F20"/>
                </a:solidFill>
                <a:latin typeface="Tahoma"/>
                <a:cs typeface="Tahoma"/>
              </a:rPr>
              <a:t>planned </a:t>
            </a:r>
            <a:r>
              <a:rPr lang="en-IN" sz="1750">
                <a:solidFill>
                  <a:srgbClr val="231F20"/>
                </a:solidFill>
                <a:latin typeface="Tahoma"/>
                <a:cs typeface="Tahoma"/>
              </a:rPr>
              <a:t>to limit the </a:t>
            </a:r>
            <a:r>
              <a:rPr lang="en-IN" sz="1750" spc="-4">
                <a:solidFill>
                  <a:srgbClr val="231F20"/>
                </a:solidFill>
                <a:latin typeface="Tahoma"/>
                <a:cs typeface="Tahoma"/>
              </a:rPr>
              <a:t>use of diamonds </a:t>
            </a:r>
            <a:r>
              <a:rPr lang="en-IN" sz="1750" spc="-9">
                <a:solidFill>
                  <a:srgbClr val="231F20"/>
                </a:solidFill>
                <a:latin typeface="Tahoma"/>
                <a:cs typeface="Tahoma"/>
              </a:rPr>
              <a:t>to </a:t>
            </a:r>
            <a:r>
              <a:rPr lang="en-IN" sz="1750">
                <a:solidFill>
                  <a:srgbClr val="231F20"/>
                </a:solidFill>
                <a:latin typeface="Tahoma"/>
                <a:cs typeface="Tahoma"/>
              </a:rPr>
              <a:t>the </a:t>
            </a:r>
            <a:r>
              <a:rPr lang="en-IN" sz="1750" spc="-4">
                <a:solidFill>
                  <a:srgbClr val="231F20"/>
                </a:solidFill>
                <a:latin typeface="Tahoma"/>
                <a:cs typeface="Tahoma"/>
              </a:rPr>
              <a:t>artistic configuration </a:t>
            </a:r>
            <a:r>
              <a:rPr lang="en-IN" sz="1750">
                <a:solidFill>
                  <a:srgbClr val="231F20"/>
                </a:solidFill>
                <a:latin typeface="Tahoma"/>
                <a:cs typeface="Tahoma"/>
              </a:rPr>
              <a:t>of </a:t>
            </a:r>
            <a:r>
              <a:rPr lang="en-IN" sz="1750" spc="-4">
                <a:solidFill>
                  <a:srgbClr val="231F20"/>
                </a:solidFill>
                <a:latin typeface="Tahoma"/>
                <a:cs typeface="Tahoma"/>
              </a:rPr>
              <a:t>diamond rings, diamond earnings and diamond necklaces. </a:t>
            </a:r>
            <a:r>
              <a:rPr lang="en-IN" sz="1750">
                <a:solidFill>
                  <a:srgbClr val="231F20"/>
                </a:solidFill>
                <a:latin typeface="Tahoma"/>
                <a:cs typeface="Tahoma"/>
              </a:rPr>
              <a:t>The </a:t>
            </a:r>
            <a:r>
              <a:rPr lang="en-IN" sz="1750" spc="-4">
                <a:solidFill>
                  <a:srgbClr val="231F20"/>
                </a:solidFill>
                <a:latin typeface="Tahoma"/>
                <a:cs typeface="Tahoma"/>
              </a:rPr>
              <a:t>three items require </a:t>
            </a:r>
            <a:r>
              <a:rPr lang="en-IN" sz="1750">
                <a:solidFill>
                  <a:srgbClr val="231F20"/>
                </a:solidFill>
                <a:latin typeface="Tahoma"/>
                <a:cs typeface="Tahoma"/>
              </a:rPr>
              <a:t>the </a:t>
            </a:r>
            <a:r>
              <a:rPr lang="en-IN" sz="1750" spc="-4">
                <a:solidFill>
                  <a:srgbClr val="231F20"/>
                </a:solidFill>
                <a:latin typeface="Tahoma"/>
                <a:cs typeface="Tahoma"/>
              </a:rPr>
              <a:t>following</a:t>
            </a:r>
            <a:r>
              <a:rPr lang="en-IN" sz="1750" spc="-9">
                <a:solidFill>
                  <a:srgbClr val="231F20"/>
                </a:solidFill>
                <a:latin typeface="Tahoma"/>
                <a:cs typeface="Tahoma"/>
              </a:rPr>
              <a:t> </a:t>
            </a:r>
            <a:r>
              <a:rPr lang="en-IN" sz="1750">
                <a:solidFill>
                  <a:srgbClr val="231F20"/>
                </a:solidFill>
                <a:latin typeface="Tahoma"/>
                <a:cs typeface="Tahoma"/>
              </a:rPr>
              <a:t>specifications:</a:t>
            </a:r>
            <a:endParaRPr sz="1750">
              <a:latin typeface="Tahoma"/>
              <a:ea typeface="Tahoma"/>
              <a:cs typeface="Tahoma"/>
            </a:endParaRPr>
          </a:p>
        </p:txBody>
      </p:sp>
      <p:graphicFrame>
        <p:nvGraphicFramePr>
          <p:cNvPr id="4" name="object 4"/>
          <p:cNvGraphicFramePr>
            <a:graphicFrameLocks noGrp="1"/>
          </p:cNvGraphicFramePr>
          <p:nvPr>
            <p:extLst>
              <p:ext uri="{D42A27DB-BD31-4B8C-83A1-F6EECF244321}">
                <p14:modId xmlns:p14="http://schemas.microsoft.com/office/powerpoint/2010/main" val="3609950852"/>
              </p:ext>
            </p:extLst>
          </p:nvPr>
        </p:nvGraphicFramePr>
        <p:xfrm>
          <a:off x="1319002" y="3171781"/>
          <a:ext cx="8342888" cy="2097739"/>
        </p:xfrm>
        <a:graphic>
          <a:graphicData uri="http://schemas.openxmlformats.org/drawingml/2006/table">
            <a:tbl>
              <a:tblPr firstRow="1" bandRow="1">
                <a:tableStyleId>{2D5ABB26-0587-4C30-8999-92F81FD0307C}</a:tableStyleId>
              </a:tblPr>
              <a:tblGrid>
                <a:gridCol w="3135030">
                  <a:extLst>
                    <a:ext uri="{9D8B030D-6E8A-4147-A177-3AD203B41FA5}">
                      <a16:colId xmlns:a16="http://schemas.microsoft.com/office/drawing/2014/main" val="20000"/>
                    </a:ext>
                  </a:extLst>
                </a:gridCol>
                <a:gridCol w="2980285">
                  <a:extLst>
                    <a:ext uri="{9D8B030D-6E8A-4147-A177-3AD203B41FA5}">
                      <a16:colId xmlns:a16="http://schemas.microsoft.com/office/drawing/2014/main" val="20001"/>
                    </a:ext>
                  </a:extLst>
                </a:gridCol>
                <a:gridCol w="2227573">
                  <a:extLst>
                    <a:ext uri="{9D8B030D-6E8A-4147-A177-3AD203B41FA5}">
                      <a16:colId xmlns:a16="http://schemas.microsoft.com/office/drawing/2014/main" val="20002"/>
                    </a:ext>
                  </a:extLst>
                </a:gridCol>
              </a:tblGrid>
              <a:tr h="349926">
                <a:tc gridSpan="3">
                  <a:txBody>
                    <a:bodyPr/>
                    <a:lstStyle/>
                    <a:p>
                      <a:pPr marL="271780">
                        <a:lnSpc>
                          <a:spcPct val="100000"/>
                        </a:lnSpc>
                        <a:spcBef>
                          <a:spcPts val="355"/>
                        </a:spcBef>
                        <a:tabLst>
                          <a:tab pos="3413760" algn="l"/>
                        </a:tabLst>
                      </a:pPr>
                      <a:r>
                        <a:rPr sz="1800" b="1">
                          <a:solidFill>
                            <a:srgbClr val="231F20"/>
                          </a:solidFill>
                          <a:latin typeface="Tahoma"/>
                          <a:cs typeface="Tahoma"/>
                        </a:rPr>
                        <a:t>ORNAMENT</a:t>
                      </a:r>
                      <a:r>
                        <a:rPr sz="1800">
                          <a:solidFill>
                            <a:srgbClr val="231F20"/>
                          </a:solidFill>
                          <a:latin typeface="Times New Roman"/>
                          <a:cs typeface="Times New Roman"/>
                        </a:rPr>
                        <a:t>	</a:t>
                      </a:r>
                      <a:r>
                        <a:rPr sz="1800" b="1">
                          <a:solidFill>
                            <a:srgbClr val="231F20"/>
                          </a:solidFill>
                          <a:latin typeface="Tahoma"/>
                          <a:cs typeface="Tahoma"/>
                        </a:rPr>
                        <a:t>DIAMOND</a:t>
                      </a:r>
                      <a:endParaRPr sz="1800">
                        <a:latin typeface="Tahoma"/>
                        <a:cs typeface="Tahoma"/>
                      </a:endParaRPr>
                    </a:p>
                  </a:txBody>
                  <a:tcPr marL="0" marR="0" marT="39781" marB="0">
                    <a:solidFill>
                      <a:srgbClr val="94C951"/>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49320">
                <a:tc>
                  <a:txBody>
                    <a:bodyPr/>
                    <a:lstStyle/>
                    <a:p>
                      <a:pPr>
                        <a:lnSpc>
                          <a:spcPct val="100000"/>
                        </a:lnSpc>
                      </a:pPr>
                      <a:endParaRPr sz="1900">
                        <a:latin typeface="Times New Roman"/>
                        <a:cs typeface="Times New Roman"/>
                      </a:endParaRPr>
                    </a:p>
                  </a:txBody>
                  <a:tcPr marL="0" marR="0" marT="0" marB="0">
                    <a:solidFill>
                      <a:srgbClr val="94C951"/>
                    </a:solidFill>
                  </a:tcPr>
                </a:tc>
                <a:tc>
                  <a:txBody>
                    <a:bodyPr/>
                    <a:lstStyle/>
                    <a:p>
                      <a:pPr marR="43180" algn="ctr">
                        <a:lnSpc>
                          <a:spcPct val="100000"/>
                        </a:lnSpc>
                        <a:spcBef>
                          <a:spcPts val="355"/>
                        </a:spcBef>
                      </a:pPr>
                      <a:r>
                        <a:rPr sz="1800">
                          <a:solidFill>
                            <a:srgbClr val="231F20"/>
                          </a:solidFill>
                          <a:latin typeface="Tahoma"/>
                          <a:cs typeface="Tahoma"/>
                        </a:rPr>
                        <a:t>½</a:t>
                      </a:r>
                      <a:r>
                        <a:rPr sz="1800" spc="-50">
                          <a:solidFill>
                            <a:srgbClr val="231F20"/>
                          </a:solidFill>
                          <a:latin typeface="Tahoma"/>
                          <a:cs typeface="Tahoma"/>
                        </a:rPr>
                        <a:t> </a:t>
                      </a:r>
                      <a:r>
                        <a:rPr sz="1800" spc="-10">
                          <a:solidFill>
                            <a:srgbClr val="231F20"/>
                          </a:solidFill>
                          <a:latin typeface="Tahoma"/>
                          <a:cs typeface="Tahoma"/>
                        </a:rPr>
                        <a:t>Carat</a:t>
                      </a:r>
                      <a:endParaRPr sz="1800">
                        <a:latin typeface="Tahoma"/>
                        <a:cs typeface="Tahoma"/>
                      </a:endParaRPr>
                    </a:p>
                  </a:txBody>
                  <a:tcPr marL="0" marR="0" marT="39781" marB="0">
                    <a:solidFill>
                      <a:srgbClr val="94C951"/>
                    </a:solidFill>
                  </a:tcPr>
                </a:tc>
                <a:tc>
                  <a:txBody>
                    <a:bodyPr/>
                    <a:lstStyle/>
                    <a:p>
                      <a:pPr marL="549275" algn="ctr">
                        <a:lnSpc>
                          <a:spcPct val="100000"/>
                        </a:lnSpc>
                        <a:spcBef>
                          <a:spcPts val="355"/>
                        </a:spcBef>
                      </a:pPr>
                      <a:r>
                        <a:rPr sz="1800">
                          <a:solidFill>
                            <a:srgbClr val="231F20"/>
                          </a:solidFill>
                          <a:latin typeface="Tahoma"/>
                          <a:cs typeface="Tahoma"/>
                        </a:rPr>
                        <a:t>¼</a:t>
                      </a:r>
                      <a:r>
                        <a:rPr sz="1800" spc="-55">
                          <a:solidFill>
                            <a:srgbClr val="231F20"/>
                          </a:solidFill>
                          <a:latin typeface="Tahoma"/>
                          <a:cs typeface="Tahoma"/>
                        </a:rPr>
                        <a:t> </a:t>
                      </a:r>
                      <a:r>
                        <a:rPr sz="1800" spc="-10">
                          <a:solidFill>
                            <a:srgbClr val="231F20"/>
                          </a:solidFill>
                          <a:latin typeface="Tahoma"/>
                          <a:cs typeface="Tahoma"/>
                        </a:rPr>
                        <a:t>Carat</a:t>
                      </a:r>
                      <a:endParaRPr sz="1800">
                        <a:latin typeface="Tahoma"/>
                        <a:cs typeface="Tahoma"/>
                      </a:endParaRPr>
                    </a:p>
                  </a:txBody>
                  <a:tcPr marL="0" marR="0" marT="39781" marB="0">
                    <a:solidFill>
                      <a:srgbClr val="94C951"/>
                    </a:solidFill>
                  </a:tcPr>
                </a:tc>
                <a:extLst>
                  <a:ext uri="{0D108BD9-81ED-4DB2-BD59-A6C34878D82A}">
                    <a16:rowId xmlns:a16="http://schemas.microsoft.com/office/drawing/2014/main" val="10001"/>
                  </a:ext>
                </a:extLst>
              </a:tr>
              <a:tr h="349898">
                <a:tc>
                  <a:txBody>
                    <a:bodyPr/>
                    <a:lstStyle/>
                    <a:p>
                      <a:pPr marL="91440">
                        <a:lnSpc>
                          <a:spcPct val="100000"/>
                        </a:lnSpc>
                        <a:spcBef>
                          <a:spcPts val="355"/>
                        </a:spcBef>
                      </a:pPr>
                      <a:r>
                        <a:rPr sz="1800">
                          <a:solidFill>
                            <a:srgbClr val="231F20"/>
                          </a:solidFill>
                          <a:latin typeface="Tahoma"/>
                          <a:cs typeface="Tahoma"/>
                        </a:rPr>
                        <a:t>Ring</a:t>
                      </a:r>
                      <a:endParaRPr sz="1800">
                        <a:latin typeface="Tahoma"/>
                        <a:cs typeface="Tahoma"/>
                      </a:endParaRPr>
                    </a:p>
                  </a:txBody>
                  <a:tcPr marL="0" marR="0" marT="39781" marB="0"/>
                </a:tc>
                <a:tc>
                  <a:txBody>
                    <a:bodyPr/>
                    <a:lstStyle/>
                    <a:p>
                      <a:pPr marR="43180" algn="ctr">
                        <a:lnSpc>
                          <a:spcPct val="100000"/>
                        </a:lnSpc>
                        <a:spcBef>
                          <a:spcPts val="355"/>
                        </a:spcBef>
                      </a:pPr>
                      <a:r>
                        <a:rPr sz="1800">
                          <a:solidFill>
                            <a:srgbClr val="231F20"/>
                          </a:solidFill>
                          <a:latin typeface="Tahoma"/>
                          <a:cs typeface="Tahoma"/>
                        </a:rPr>
                        <a:t>4</a:t>
                      </a:r>
                      <a:endParaRPr sz="1800">
                        <a:latin typeface="Tahoma"/>
                        <a:cs typeface="Tahoma"/>
                      </a:endParaRPr>
                    </a:p>
                  </a:txBody>
                  <a:tcPr marL="0" marR="0" marT="39781" marB="0"/>
                </a:tc>
                <a:tc>
                  <a:txBody>
                    <a:bodyPr/>
                    <a:lstStyle/>
                    <a:p>
                      <a:pPr marL="551180" algn="ctr">
                        <a:lnSpc>
                          <a:spcPct val="100000"/>
                        </a:lnSpc>
                        <a:spcBef>
                          <a:spcPts val="355"/>
                        </a:spcBef>
                      </a:pPr>
                      <a:r>
                        <a:rPr sz="1800">
                          <a:solidFill>
                            <a:srgbClr val="231F20"/>
                          </a:solidFill>
                          <a:latin typeface="Tahoma"/>
                          <a:cs typeface="Tahoma"/>
                        </a:rPr>
                        <a:t>6</a:t>
                      </a:r>
                      <a:endParaRPr sz="1800">
                        <a:latin typeface="Tahoma"/>
                        <a:cs typeface="Tahoma"/>
                      </a:endParaRPr>
                    </a:p>
                  </a:txBody>
                  <a:tcPr marL="0" marR="0" marT="39781" marB="0"/>
                </a:tc>
                <a:extLst>
                  <a:ext uri="{0D108BD9-81ED-4DB2-BD59-A6C34878D82A}">
                    <a16:rowId xmlns:a16="http://schemas.microsoft.com/office/drawing/2014/main" val="10002"/>
                  </a:ext>
                </a:extLst>
              </a:tr>
              <a:tr h="349601">
                <a:tc>
                  <a:txBody>
                    <a:bodyPr/>
                    <a:lstStyle/>
                    <a:p>
                      <a:pPr marL="91440">
                        <a:lnSpc>
                          <a:spcPct val="100000"/>
                        </a:lnSpc>
                        <a:spcBef>
                          <a:spcPts val="355"/>
                        </a:spcBef>
                      </a:pPr>
                      <a:r>
                        <a:rPr sz="1800" spc="-5">
                          <a:solidFill>
                            <a:srgbClr val="231F20"/>
                          </a:solidFill>
                          <a:latin typeface="Tahoma"/>
                          <a:cs typeface="Tahoma"/>
                        </a:rPr>
                        <a:t>Earring</a:t>
                      </a:r>
                      <a:r>
                        <a:rPr sz="1800" spc="-50">
                          <a:solidFill>
                            <a:srgbClr val="231F20"/>
                          </a:solidFill>
                          <a:latin typeface="Tahoma"/>
                          <a:cs typeface="Tahoma"/>
                        </a:rPr>
                        <a:t> </a:t>
                      </a:r>
                      <a:r>
                        <a:rPr sz="1800" spc="-10">
                          <a:solidFill>
                            <a:srgbClr val="231F20"/>
                          </a:solidFill>
                          <a:latin typeface="Tahoma"/>
                          <a:cs typeface="Tahoma"/>
                        </a:rPr>
                        <a:t>(Pair)</a:t>
                      </a:r>
                      <a:endParaRPr sz="1800">
                        <a:latin typeface="Tahoma"/>
                        <a:cs typeface="Tahoma"/>
                      </a:endParaRPr>
                    </a:p>
                  </a:txBody>
                  <a:tcPr marL="0" marR="0" marT="39781" marB="0"/>
                </a:tc>
                <a:tc>
                  <a:txBody>
                    <a:bodyPr/>
                    <a:lstStyle/>
                    <a:p>
                      <a:pPr marR="43815" algn="ctr">
                        <a:lnSpc>
                          <a:spcPct val="100000"/>
                        </a:lnSpc>
                        <a:spcBef>
                          <a:spcPts val="355"/>
                        </a:spcBef>
                      </a:pPr>
                      <a:r>
                        <a:rPr sz="1800">
                          <a:solidFill>
                            <a:srgbClr val="231F20"/>
                          </a:solidFill>
                          <a:latin typeface="Tahoma"/>
                          <a:cs typeface="Tahoma"/>
                        </a:rPr>
                        <a:t>3</a:t>
                      </a:r>
                      <a:endParaRPr sz="1800">
                        <a:latin typeface="Tahoma"/>
                        <a:cs typeface="Tahoma"/>
                      </a:endParaRPr>
                    </a:p>
                  </a:txBody>
                  <a:tcPr marL="0" marR="0" marT="39781" marB="0"/>
                </a:tc>
                <a:tc>
                  <a:txBody>
                    <a:bodyPr/>
                    <a:lstStyle/>
                    <a:p>
                      <a:pPr marL="551180" algn="ctr">
                        <a:lnSpc>
                          <a:spcPct val="100000"/>
                        </a:lnSpc>
                        <a:spcBef>
                          <a:spcPts val="355"/>
                        </a:spcBef>
                      </a:pPr>
                      <a:r>
                        <a:rPr sz="1800">
                          <a:solidFill>
                            <a:srgbClr val="231F20"/>
                          </a:solidFill>
                          <a:latin typeface="Tahoma"/>
                          <a:cs typeface="Tahoma"/>
                        </a:rPr>
                        <a:t>5</a:t>
                      </a:r>
                      <a:endParaRPr sz="1800">
                        <a:latin typeface="Tahoma"/>
                        <a:cs typeface="Tahoma"/>
                      </a:endParaRPr>
                    </a:p>
                  </a:txBody>
                  <a:tcPr marL="0" marR="0" marT="39781" marB="0"/>
                </a:tc>
                <a:extLst>
                  <a:ext uri="{0D108BD9-81ED-4DB2-BD59-A6C34878D82A}">
                    <a16:rowId xmlns:a16="http://schemas.microsoft.com/office/drawing/2014/main" val="10003"/>
                  </a:ext>
                </a:extLst>
              </a:tr>
              <a:tr h="349371">
                <a:tc>
                  <a:txBody>
                    <a:bodyPr/>
                    <a:lstStyle/>
                    <a:p>
                      <a:pPr marL="91440">
                        <a:lnSpc>
                          <a:spcPct val="100000"/>
                        </a:lnSpc>
                        <a:spcBef>
                          <a:spcPts val="355"/>
                        </a:spcBef>
                      </a:pPr>
                      <a:r>
                        <a:rPr sz="1800" spc="-5">
                          <a:solidFill>
                            <a:srgbClr val="231F20"/>
                          </a:solidFill>
                          <a:latin typeface="Tahoma"/>
                          <a:cs typeface="Tahoma"/>
                        </a:rPr>
                        <a:t>Necklace</a:t>
                      </a:r>
                      <a:endParaRPr sz="1800">
                        <a:latin typeface="Tahoma"/>
                        <a:cs typeface="Tahoma"/>
                      </a:endParaRPr>
                    </a:p>
                  </a:txBody>
                  <a:tcPr marL="0" marR="0" marT="39781" marB="0"/>
                </a:tc>
                <a:tc>
                  <a:txBody>
                    <a:bodyPr/>
                    <a:lstStyle/>
                    <a:p>
                      <a:pPr marR="44450" algn="ctr">
                        <a:lnSpc>
                          <a:spcPct val="100000"/>
                        </a:lnSpc>
                        <a:spcBef>
                          <a:spcPts val="355"/>
                        </a:spcBef>
                      </a:pPr>
                      <a:r>
                        <a:rPr sz="1800">
                          <a:solidFill>
                            <a:srgbClr val="231F20"/>
                          </a:solidFill>
                          <a:latin typeface="Tahoma"/>
                          <a:cs typeface="Tahoma"/>
                        </a:rPr>
                        <a:t>10</a:t>
                      </a:r>
                      <a:endParaRPr sz="1800">
                        <a:latin typeface="Tahoma"/>
                        <a:cs typeface="Tahoma"/>
                      </a:endParaRPr>
                    </a:p>
                  </a:txBody>
                  <a:tcPr marL="0" marR="0" marT="39781" marB="0"/>
                </a:tc>
                <a:tc>
                  <a:txBody>
                    <a:bodyPr/>
                    <a:lstStyle/>
                    <a:p>
                      <a:pPr marL="551815" algn="ctr">
                        <a:lnSpc>
                          <a:spcPct val="100000"/>
                        </a:lnSpc>
                        <a:spcBef>
                          <a:spcPts val="355"/>
                        </a:spcBef>
                      </a:pPr>
                      <a:r>
                        <a:rPr sz="1800">
                          <a:solidFill>
                            <a:srgbClr val="231F20"/>
                          </a:solidFill>
                          <a:latin typeface="Tahoma"/>
                          <a:cs typeface="Tahoma"/>
                        </a:rPr>
                        <a:t>9</a:t>
                      </a:r>
                      <a:endParaRPr sz="1800">
                        <a:latin typeface="Tahoma"/>
                        <a:cs typeface="Tahoma"/>
                      </a:endParaRPr>
                    </a:p>
                  </a:txBody>
                  <a:tcPr marL="0" marR="0" marT="39781" marB="0"/>
                </a:tc>
                <a:extLst>
                  <a:ext uri="{0D108BD9-81ED-4DB2-BD59-A6C34878D82A}">
                    <a16:rowId xmlns:a16="http://schemas.microsoft.com/office/drawing/2014/main" val="10004"/>
                  </a:ext>
                </a:extLst>
              </a:tr>
              <a:tr h="349623">
                <a:tc>
                  <a:txBody>
                    <a:bodyPr/>
                    <a:lstStyle/>
                    <a:p>
                      <a:pPr marL="91440">
                        <a:lnSpc>
                          <a:spcPct val="100000"/>
                        </a:lnSpc>
                        <a:spcBef>
                          <a:spcPts val="359"/>
                        </a:spcBef>
                      </a:pPr>
                      <a:r>
                        <a:rPr sz="1800" b="1" spc="-5">
                          <a:solidFill>
                            <a:srgbClr val="231F20"/>
                          </a:solidFill>
                          <a:latin typeface="Tahoma"/>
                          <a:cs typeface="Tahoma"/>
                        </a:rPr>
                        <a:t>Availability</a:t>
                      </a:r>
                      <a:endParaRPr sz="1800">
                        <a:latin typeface="Tahoma"/>
                        <a:cs typeface="Tahoma"/>
                      </a:endParaRPr>
                    </a:p>
                  </a:txBody>
                  <a:tcPr marL="0" marR="0" marT="40340" marB="0">
                    <a:solidFill>
                      <a:srgbClr val="DCDDDE"/>
                    </a:solidFill>
                  </a:tcPr>
                </a:tc>
                <a:tc>
                  <a:txBody>
                    <a:bodyPr/>
                    <a:lstStyle/>
                    <a:p>
                      <a:pPr marR="44450" algn="ctr">
                        <a:lnSpc>
                          <a:spcPct val="100000"/>
                        </a:lnSpc>
                        <a:spcBef>
                          <a:spcPts val="359"/>
                        </a:spcBef>
                      </a:pPr>
                      <a:r>
                        <a:rPr sz="1800" b="1" spc="-5">
                          <a:solidFill>
                            <a:srgbClr val="231F20"/>
                          </a:solidFill>
                          <a:latin typeface="Tahoma"/>
                          <a:cs typeface="Tahoma"/>
                        </a:rPr>
                        <a:t>150</a:t>
                      </a:r>
                      <a:endParaRPr sz="1800">
                        <a:latin typeface="Tahoma"/>
                        <a:cs typeface="Tahoma"/>
                      </a:endParaRPr>
                    </a:p>
                  </a:txBody>
                  <a:tcPr marL="0" marR="0" marT="40340" marB="0">
                    <a:solidFill>
                      <a:srgbClr val="DCDDDE"/>
                    </a:solidFill>
                  </a:tcPr>
                </a:tc>
                <a:tc>
                  <a:txBody>
                    <a:bodyPr/>
                    <a:lstStyle/>
                    <a:p>
                      <a:pPr marL="549275" algn="ctr">
                        <a:lnSpc>
                          <a:spcPct val="100000"/>
                        </a:lnSpc>
                        <a:spcBef>
                          <a:spcPts val="359"/>
                        </a:spcBef>
                      </a:pPr>
                      <a:r>
                        <a:rPr sz="1800" b="1" spc="-5">
                          <a:solidFill>
                            <a:srgbClr val="231F20"/>
                          </a:solidFill>
                          <a:latin typeface="Tahoma"/>
                          <a:cs typeface="Tahoma"/>
                        </a:rPr>
                        <a:t>160</a:t>
                      </a:r>
                      <a:endParaRPr sz="1800">
                        <a:latin typeface="Tahoma"/>
                        <a:cs typeface="Tahoma"/>
                      </a:endParaRPr>
                    </a:p>
                  </a:txBody>
                  <a:tcPr marL="0" marR="0" marT="40340" marB="0">
                    <a:solidFill>
                      <a:srgbClr val="DCDDDE"/>
                    </a:solidFill>
                  </a:tcPr>
                </a:tc>
                <a:extLst>
                  <a:ext uri="{0D108BD9-81ED-4DB2-BD59-A6C34878D82A}">
                    <a16:rowId xmlns:a16="http://schemas.microsoft.com/office/drawing/2014/main" val="10005"/>
                  </a:ext>
                </a:extLst>
              </a:tr>
            </a:tbl>
          </a:graphicData>
        </a:graphic>
      </p:graphicFrame>
      <p:sp>
        <p:nvSpPr>
          <p:cNvPr id="6" name="object 6"/>
          <p:cNvSpPr/>
          <p:nvPr/>
        </p:nvSpPr>
        <p:spPr>
          <a:xfrm>
            <a:off x="6857990" y="4611668"/>
            <a:ext cx="1792941" cy="349624"/>
          </a:xfrm>
          <a:custGeom>
            <a:avLst/>
            <a:gdLst/>
            <a:ahLst/>
            <a:cxnLst/>
            <a:rect l="l" t="t" r="r" b="b"/>
            <a:pathLst>
              <a:path w="2032000" h="396239">
                <a:moveTo>
                  <a:pt x="2031994" y="396239"/>
                </a:moveTo>
                <a:lnTo>
                  <a:pt x="2031994" y="0"/>
                </a:lnTo>
                <a:lnTo>
                  <a:pt x="0" y="0"/>
                </a:lnTo>
                <a:lnTo>
                  <a:pt x="0" y="396239"/>
                </a:lnTo>
                <a:lnTo>
                  <a:pt x="2031994" y="396239"/>
                </a:lnTo>
                <a:close/>
              </a:path>
            </a:pathLst>
          </a:custGeom>
          <a:solidFill>
            <a:srgbClr val="DCDDDE"/>
          </a:solidFill>
        </p:spPr>
        <p:txBody>
          <a:bodyPr wrap="square" lIns="0" tIns="0" rIns="0" bIns="0" rtlCol="0"/>
          <a:lstStyle/>
          <a:p>
            <a:endParaRPr sz="1588"/>
          </a:p>
        </p:txBody>
      </p:sp>
      <p:sp>
        <p:nvSpPr>
          <p:cNvPr id="7" name="object 7"/>
          <p:cNvSpPr txBox="1"/>
          <p:nvPr/>
        </p:nvSpPr>
        <p:spPr>
          <a:xfrm>
            <a:off x="1205713" y="5310914"/>
            <a:ext cx="9637614" cy="826719"/>
          </a:xfrm>
          <a:prstGeom prst="rect">
            <a:avLst/>
          </a:prstGeom>
        </p:spPr>
        <p:txBody>
          <a:bodyPr vert="horz" wrap="square" lIns="0" tIns="11766" rIns="0" bIns="0" rtlCol="0" anchor="t">
            <a:spAutoFit/>
          </a:bodyPr>
          <a:lstStyle/>
          <a:p>
            <a:pPr marL="10795" marR="4445" algn="just">
              <a:spcBef>
                <a:spcPts val="93"/>
              </a:spcBef>
            </a:pPr>
            <a:r>
              <a:rPr lang="en-US" sz="1750" spc="-4">
                <a:solidFill>
                  <a:srgbClr val="231F20"/>
                </a:solidFill>
                <a:latin typeface="Tahoma"/>
                <a:cs typeface="Tahoma"/>
              </a:rPr>
              <a:t>The jeweler does </a:t>
            </a:r>
            <a:r>
              <a:rPr lang="en-US" sz="1750">
                <a:solidFill>
                  <a:srgbClr val="231F20"/>
                </a:solidFill>
                <a:latin typeface="Tahoma"/>
                <a:cs typeface="Tahoma"/>
              </a:rPr>
              <a:t>not </a:t>
            </a:r>
            <a:r>
              <a:rPr lang="en-US" sz="1750" spc="-4">
                <a:solidFill>
                  <a:srgbClr val="231F20"/>
                </a:solidFill>
                <a:latin typeface="Tahoma"/>
                <a:cs typeface="Tahoma"/>
              </a:rPr>
              <a:t>want </a:t>
            </a:r>
            <a:r>
              <a:rPr lang="en-US" sz="1750">
                <a:solidFill>
                  <a:srgbClr val="231F20"/>
                </a:solidFill>
                <a:latin typeface="Tahoma"/>
                <a:cs typeface="Tahoma"/>
              </a:rPr>
              <a:t>to </a:t>
            </a:r>
            <a:r>
              <a:rPr lang="en-US" sz="1750" spc="-4">
                <a:solidFill>
                  <a:srgbClr val="231F20"/>
                </a:solidFill>
                <a:latin typeface="Tahoma"/>
                <a:cs typeface="Tahoma"/>
              </a:rPr>
              <a:t>configure </a:t>
            </a:r>
            <a:r>
              <a:rPr lang="en-US" sz="1750" spc="4">
                <a:solidFill>
                  <a:srgbClr val="231F20"/>
                </a:solidFill>
                <a:latin typeface="Tahoma"/>
                <a:cs typeface="Tahoma"/>
              </a:rPr>
              <a:t>the </a:t>
            </a:r>
            <a:r>
              <a:rPr lang="en-US" sz="1750" spc="-4">
                <a:solidFill>
                  <a:srgbClr val="231F20"/>
                </a:solidFill>
                <a:latin typeface="Tahoma"/>
                <a:cs typeface="Tahoma"/>
              </a:rPr>
              <a:t>diamond into more than </a:t>
            </a:r>
            <a:r>
              <a:rPr lang="en-US" sz="1750">
                <a:solidFill>
                  <a:srgbClr val="231F20"/>
                </a:solidFill>
                <a:latin typeface="Tahoma"/>
                <a:cs typeface="Tahoma"/>
              </a:rPr>
              <a:t>50 </a:t>
            </a:r>
            <a:r>
              <a:rPr lang="en-US" sz="1750" spc="-4">
                <a:solidFill>
                  <a:srgbClr val="231F20"/>
                </a:solidFill>
                <a:latin typeface="Tahoma"/>
                <a:cs typeface="Tahoma"/>
              </a:rPr>
              <a:t>items. The per unit profit </a:t>
            </a:r>
            <a:r>
              <a:rPr lang="en-US" sz="1750" spc="-9">
                <a:solidFill>
                  <a:srgbClr val="231F20"/>
                </a:solidFill>
                <a:latin typeface="Tahoma"/>
                <a:cs typeface="Tahoma"/>
              </a:rPr>
              <a:t>for </a:t>
            </a:r>
            <a:r>
              <a:rPr lang="en-US" sz="1750">
                <a:solidFill>
                  <a:srgbClr val="231F20"/>
                </a:solidFill>
                <a:latin typeface="Tahoma"/>
                <a:cs typeface="Tahoma"/>
              </a:rPr>
              <a:t>the </a:t>
            </a:r>
            <a:r>
              <a:rPr lang="en-US" sz="1750" spc="-4">
                <a:solidFill>
                  <a:srgbClr val="231F20"/>
                </a:solidFill>
                <a:latin typeface="Tahoma"/>
                <a:cs typeface="Tahoma"/>
              </a:rPr>
              <a:t>rings is Rs. 1500, </a:t>
            </a:r>
            <a:r>
              <a:rPr lang="en-US" sz="1750" spc="-9">
                <a:solidFill>
                  <a:srgbClr val="231F20"/>
                </a:solidFill>
                <a:latin typeface="Tahoma"/>
                <a:cs typeface="Tahoma"/>
              </a:rPr>
              <a:t>for </a:t>
            </a:r>
            <a:r>
              <a:rPr lang="en-US" sz="1750" spc="-4">
                <a:solidFill>
                  <a:srgbClr val="231F20"/>
                </a:solidFill>
                <a:latin typeface="Tahoma"/>
                <a:cs typeface="Tahoma"/>
              </a:rPr>
              <a:t>earnings is Rs. 2400 and </a:t>
            </a:r>
            <a:r>
              <a:rPr lang="en-US" sz="1750" spc="-13">
                <a:solidFill>
                  <a:srgbClr val="231F20"/>
                </a:solidFill>
                <a:latin typeface="Tahoma"/>
                <a:cs typeface="Tahoma"/>
              </a:rPr>
              <a:t>for </a:t>
            </a:r>
            <a:r>
              <a:rPr lang="en-US" sz="1750" spc="-4">
                <a:solidFill>
                  <a:srgbClr val="231F20"/>
                </a:solidFill>
                <a:latin typeface="Tahoma"/>
                <a:cs typeface="Tahoma"/>
              </a:rPr>
              <a:t>necklace is Rs. 3600. </a:t>
            </a:r>
            <a:r>
              <a:rPr lang="en-US" sz="1750" spc="-9">
                <a:solidFill>
                  <a:srgbClr val="231F20"/>
                </a:solidFill>
                <a:latin typeface="Tahoma"/>
                <a:cs typeface="Tahoma"/>
              </a:rPr>
              <a:t>Formulate </a:t>
            </a:r>
            <a:r>
              <a:rPr lang="en-US" sz="1750">
                <a:solidFill>
                  <a:srgbClr val="231F20"/>
                </a:solidFill>
                <a:latin typeface="Tahoma"/>
                <a:cs typeface="Tahoma"/>
              </a:rPr>
              <a:t>the </a:t>
            </a:r>
            <a:r>
              <a:rPr lang="en-US" sz="1750" spc="-4">
                <a:solidFill>
                  <a:srgbClr val="231F20"/>
                </a:solidFill>
                <a:latin typeface="Tahoma"/>
                <a:cs typeface="Tahoma"/>
              </a:rPr>
              <a:t>problem as </a:t>
            </a:r>
            <a:r>
              <a:rPr lang="en-US" sz="1750">
                <a:solidFill>
                  <a:srgbClr val="231F20"/>
                </a:solidFill>
                <a:latin typeface="Tahoma"/>
                <a:cs typeface="Tahoma"/>
              </a:rPr>
              <a:t>an ILP model </a:t>
            </a:r>
            <a:r>
              <a:rPr lang="en-US" sz="1750" spc="-9">
                <a:solidFill>
                  <a:srgbClr val="231F20"/>
                </a:solidFill>
                <a:latin typeface="Tahoma"/>
                <a:cs typeface="Tahoma"/>
              </a:rPr>
              <a:t>for </a:t>
            </a:r>
            <a:r>
              <a:rPr lang="en-US" sz="1750">
                <a:solidFill>
                  <a:srgbClr val="231F20"/>
                </a:solidFill>
                <a:latin typeface="Tahoma"/>
                <a:cs typeface="Tahoma"/>
              </a:rPr>
              <a:t>maximizing the</a:t>
            </a:r>
            <a:r>
              <a:rPr lang="en-US" sz="1750" spc="-18">
                <a:solidFill>
                  <a:srgbClr val="231F20"/>
                </a:solidFill>
                <a:latin typeface="Tahoma"/>
                <a:cs typeface="Tahoma"/>
              </a:rPr>
              <a:t> </a:t>
            </a:r>
            <a:r>
              <a:rPr lang="en-US" sz="1750" spc="-4">
                <a:solidFill>
                  <a:srgbClr val="231F20"/>
                </a:solidFill>
                <a:latin typeface="Tahoma"/>
                <a:cs typeface="Tahoma"/>
              </a:rPr>
              <a:t>profit.</a:t>
            </a:r>
            <a:endParaRPr lang="en-US" sz="1750">
              <a:latin typeface="Tahoma"/>
              <a:ea typeface="Tahoma"/>
              <a:cs typeface="Tahoma"/>
            </a:endParaRPr>
          </a:p>
        </p:txBody>
      </p:sp>
      <p:sp>
        <p:nvSpPr>
          <p:cNvPr id="8" name="object 8"/>
          <p:cNvSpPr txBox="1">
            <a:spLocks noGrp="1"/>
          </p:cNvSpPr>
          <p:nvPr>
            <p:ph type="sldNum" sz="quarter" idx="7"/>
          </p:nvPr>
        </p:nvSpPr>
        <p:spPr>
          <a:xfrm>
            <a:off x="8846562" y="6891552"/>
            <a:ext cx="243840" cy="209550"/>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9A9D9F"/>
                </a:solidFill>
                <a:latin typeface="Tahoma"/>
                <a:ea typeface="+mn-ea"/>
                <a:cs typeface="Tahom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1285">
              <a:spcBef>
                <a:spcPts val="100"/>
              </a:spcBef>
            </a:pPr>
            <a:fld id="{81D60167-4931-47E6-BA6A-407CBD079E47}" type="slidenum">
              <a:rPr lang="en-IN" smtClean="0"/>
              <a:pPr marL="121285">
                <a:spcBef>
                  <a:spcPts val="100"/>
                </a:spcBef>
              </a:pPr>
              <a:t>5</a:t>
            </a:fld>
            <a:endParaRPr/>
          </a:p>
        </p:txBody>
      </p:sp>
    </p:spTree>
    <p:extLst>
      <p:ext uri="{BB962C8B-B14F-4D97-AF65-F5344CB8AC3E}">
        <p14:creationId xmlns:p14="http://schemas.microsoft.com/office/powerpoint/2010/main" val="13602306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846562" y="6891552"/>
            <a:ext cx="243840" cy="209550"/>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9A9D9F"/>
                </a:solidFill>
                <a:latin typeface="Tahoma"/>
                <a:ea typeface="+mn-ea"/>
                <a:cs typeface="Tahom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1285">
              <a:spcBef>
                <a:spcPts val="100"/>
              </a:spcBef>
            </a:pPr>
            <a:fld id="{81D60167-4931-47E6-BA6A-407CBD079E47}" type="slidenum">
              <a:rPr lang="en-IN" smtClean="0"/>
              <a:pPr marL="121285">
                <a:spcBef>
                  <a:spcPts val="100"/>
                </a:spcBef>
              </a:pPr>
              <a:t>6</a:t>
            </a:fld>
            <a:endParaRPr/>
          </a:p>
        </p:txBody>
      </p:sp>
      <p:sp>
        <p:nvSpPr>
          <p:cNvPr id="2" name="object 2"/>
          <p:cNvSpPr txBox="1">
            <a:spLocks noGrp="1"/>
          </p:cNvSpPr>
          <p:nvPr>
            <p:ph type="title"/>
          </p:nvPr>
        </p:nvSpPr>
        <p:spPr>
          <a:xfrm>
            <a:off x="2939276" y="709870"/>
            <a:ext cx="8473478" cy="1097201"/>
          </a:xfrm>
          <a:prstGeom prst="rect">
            <a:avLst/>
          </a:prstGeom>
        </p:spPr>
        <p:txBody>
          <a:bodyPr vert="horz" wrap="square" lIns="0" tIns="10646" rIns="0" bIns="0" rtlCol="0" anchor="t">
            <a:spAutoFit/>
          </a:bodyPr>
          <a:lstStyle/>
          <a:p>
            <a:pPr marL="1805924" marR="4483" algn="r">
              <a:lnSpc>
                <a:spcPct val="100000"/>
              </a:lnSpc>
              <a:spcBef>
                <a:spcPts val="84"/>
              </a:spcBef>
            </a:pPr>
            <a:r>
              <a:rPr sz="3530" spc="-4"/>
              <a:t>INTEGER</a:t>
            </a:r>
            <a:r>
              <a:rPr sz="3530" spc="-79"/>
              <a:t> </a:t>
            </a:r>
            <a:r>
              <a:rPr sz="3530" spc="-4"/>
              <a:t>PROGRAMMING:</a:t>
            </a:r>
            <a:endParaRPr sz="3530"/>
          </a:p>
          <a:p>
            <a:pPr marL="1805924" marR="4483" algn="r">
              <a:lnSpc>
                <a:spcPct val="100000"/>
              </a:lnSpc>
            </a:pPr>
            <a:r>
              <a:rPr sz="3530" spc="-4"/>
              <a:t>FORMULATION</a:t>
            </a:r>
            <a:endParaRPr sz="3530"/>
          </a:p>
        </p:txBody>
      </p:sp>
      <p:sp>
        <p:nvSpPr>
          <p:cNvPr id="3" name="object 3"/>
          <p:cNvSpPr txBox="1"/>
          <p:nvPr/>
        </p:nvSpPr>
        <p:spPr>
          <a:xfrm>
            <a:off x="698900" y="1961186"/>
            <a:ext cx="10713854" cy="3828655"/>
          </a:xfrm>
          <a:prstGeom prst="rect">
            <a:avLst/>
          </a:prstGeom>
        </p:spPr>
        <p:txBody>
          <a:bodyPr vert="horz" wrap="square" lIns="0" tIns="172571" rIns="0" bIns="0" rtlCol="0" anchor="t">
            <a:spAutoFit/>
          </a:bodyPr>
          <a:lstStyle/>
          <a:p>
            <a:pPr marL="369570" indent="-302260">
              <a:spcBef>
                <a:spcPts val="1359"/>
              </a:spcBef>
              <a:buFont typeface="Wingdings"/>
              <a:buChar char=""/>
              <a:tabLst>
                <a:tab pos="369254" algn="l"/>
                <a:tab pos="369814" algn="l"/>
              </a:tabLst>
            </a:pPr>
            <a:r>
              <a:rPr lang="en-US" sz="2100" b="1" spc="-4">
                <a:solidFill>
                  <a:srgbClr val="231F20"/>
                </a:solidFill>
                <a:latin typeface="Tahoma"/>
                <a:cs typeface="Tahoma"/>
              </a:rPr>
              <a:t>Decision</a:t>
            </a:r>
            <a:r>
              <a:rPr lang="en-US" sz="2100" b="1" spc="256">
                <a:solidFill>
                  <a:srgbClr val="231F20"/>
                </a:solidFill>
                <a:latin typeface="Tahoma"/>
                <a:cs typeface="Tahoma"/>
              </a:rPr>
              <a:t> </a:t>
            </a:r>
            <a:r>
              <a:rPr lang="en-US" sz="2100" b="1" spc="-4">
                <a:solidFill>
                  <a:srgbClr val="231F20"/>
                </a:solidFill>
                <a:latin typeface="Tahoma"/>
                <a:cs typeface="Tahoma"/>
              </a:rPr>
              <a:t>Variables:</a:t>
            </a:r>
            <a:r>
              <a:rPr lang="en-US" sz="2100" b="1" spc="247">
                <a:solidFill>
                  <a:srgbClr val="231F20"/>
                </a:solidFill>
                <a:latin typeface="Tahoma"/>
                <a:cs typeface="Tahoma"/>
              </a:rPr>
              <a:t> </a:t>
            </a:r>
            <a:r>
              <a:rPr lang="en-US" sz="2100" spc="-4">
                <a:solidFill>
                  <a:srgbClr val="231F20"/>
                </a:solidFill>
                <a:latin typeface="Tahoma"/>
                <a:cs typeface="Tahoma"/>
              </a:rPr>
              <a:t>Let</a:t>
            </a:r>
            <a:r>
              <a:rPr lang="en-US" sz="2100" spc="212">
                <a:solidFill>
                  <a:srgbClr val="231F20"/>
                </a:solidFill>
                <a:latin typeface="Tahoma"/>
                <a:cs typeface="Tahoma"/>
              </a:rPr>
              <a:t> </a:t>
            </a:r>
            <a:r>
              <a:rPr lang="en-US" sz="2100" spc="-4">
                <a:solidFill>
                  <a:srgbClr val="231F20"/>
                </a:solidFill>
                <a:latin typeface="Tahoma"/>
                <a:cs typeface="Tahoma"/>
              </a:rPr>
              <a:t>X</a:t>
            </a:r>
            <a:r>
              <a:rPr lang="en-US" sz="2100" spc="-6" baseline="-20833">
                <a:solidFill>
                  <a:srgbClr val="231F20"/>
                </a:solidFill>
                <a:latin typeface="Tahoma"/>
                <a:cs typeface="Tahoma"/>
              </a:rPr>
              <a:t>1</a:t>
            </a:r>
            <a:r>
              <a:rPr lang="en-US" sz="2100">
                <a:solidFill>
                  <a:srgbClr val="231F20"/>
                </a:solidFill>
                <a:latin typeface="Tahoma"/>
                <a:cs typeface="Tahoma"/>
              </a:rPr>
              <a:t>,X</a:t>
            </a:r>
            <a:r>
              <a:rPr lang="en-US" sz="1400" baseline="-25000">
                <a:solidFill>
                  <a:srgbClr val="231F20"/>
                </a:solidFill>
                <a:latin typeface="Tahoma"/>
                <a:cs typeface="Tahoma"/>
              </a:rPr>
              <a:t>2</a:t>
            </a:r>
            <a:r>
              <a:rPr lang="en-US" sz="2100">
                <a:solidFill>
                  <a:srgbClr val="231F20"/>
                </a:solidFill>
                <a:latin typeface="Tahoma"/>
                <a:cs typeface="Tahoma"/>
              </a:rPr>
              <a:t>, X</a:t>
            </a:r>
            <a:r>
              <a:rPr lang="en-US" baseline="-25000">
                <a:solidFill>
                  <a:srgbClr val="231F20"/>
                </a:solidFill>
                <a:latin typeface="Tahoma"/>
                <a:cs typeface="Tahoma"/>
              </a:rPr>
              <a:t>3</a:t>
            </a:r>
            <a:r>
              <a:rPr lang="en-US" sz="2100" spc="207">
                <a:solidFill>
                  <a:srgbClr val="231F20"/>
                </a:solidFill>
                <a:latin typeface="Tahoma"/>
                <a:cs typeface="Tahoma"/>
              </a:rPr>
              <a:t>, denote the n</a:t>
            </a:r>
            <a:r>
              <a:rPr lang="en-US" sz="2100" spc="-4">
                <a:solidFill>
                  <a:srgbClr val="231F20"/>
                </a:solidFill>
                <a:latin typeface="Tahoma"/>
                <a:cs typeface="Tahoma"/>
              </a:rPr>
              <a:t>umber</a:t>
            </a:r>
            <a:r>
              <a:rPr lang="en-US" sz="2100" spc="202">
                <a:solidFill>
                  <a:srgbClr val="231F20"/>
                </a:solidFill>
                <a:latin typeface="Tahoma"/>
                <a:cs typeface="Tahoma"/>
              </a:rPr>
              <a:t> </a:t>
            </a:r>
            <a:r>
              <a:rPr lang="en-US" sz="2100" spc="-4">
                <a:solidFill>
                  <a:srgbClr val="231F20"/>
                </a:solidFill>
                <a:latin typeface="Tahoma"/>
                <a:cs typeface="Tahoma"/>
              </a:rPr>
              <a:t>of</a:t>
            </a:r>
            <a:r>
              <a:rPr lang="en-US" sz="2100" spc="202">
                <a:solidFill>
                  <a:srgbClr val="231F20"/>
                </a:solidFill>
                <a:latin typeface="Tahoma"/>
                <a:cs typeface="Tahoma"/>
              </a:rPr>
              <a:t> </a:t>
            </a:r>
            <a:r>
              <a:rPr lang="en-US" sz="2100" spc="-4">
                <a:solidFill>
                  <a:srgbClr val="231F20"/>
                </a:solidFill>
                <a:latin typeface="Tahoma"/>
                <a:cs typeface="Tahoma"/>
              </a:rPr>
              <a:t>diamond</a:t>
            </a:r>
            <a:r>
              <a:rPr lang="en-US" sz="2100" spc="207">
                <a:solidFill>
                  <a:srgbClr val="231F20"/>
                </a:solidFill>
                <a:latin typeface="Tahoma"/>
                <a:cs typeface="Tahoma"/>
              </a:rPr>
              <a:t> </a:t>
            </a:r>
            <a:r>
              <a:rPr lang="en-US" sz="2100" spc="-4">
                <a:solidFill>
                  <a:srgbClr val="231F20"/>
                </a:solidFill>
                <a:latin typeface="Tahoma"/>
                <a:cs typeface="Tahoma"/>
              </a:rPr>
              <a:t>rings,</a:t>
            </a:r>
            <a:r>
              <a:rPr lang="en-US" sz="2100" spc="202">
                <a:solidFill>
                  <a:srgbClr val="231F20"/>
                </a:solidFill>
                <a:latin typeface="Tahoma"/>
                <a:cs typeface="Tahoma"/>
              </a:rPr>
              <a:t> number of </a:t>
            </a:r>
            <a:r>
              <a:rPr lang="en-US" sz="2100">
                <a:solidFill>
                  <a:srgbClr val="231F20"/>
                </a:solidFill>
                <a:latin typeface="Tahoma"/>
                <a:cs typeface="Tahoma"/>
              </a:rPr>
              <a:t>pair</a:t>
            </a:r>
            <a:r>
              <a:rPr lang="en-US" sz="2100" spc="-4">
                <a:solidFill>
                  <a:srgbClr val="231F20"/>
                </a:solidFill>
                <a:latin typeface="Tahoma"/>
                <a:cs typeface="Tahoma"/>
              </a:rPr>
              <a:t> </a:t>
            </a:r>
            <a:r>
              <a:rPr lang="en-US" sz="2100">
                <a:solidFill>
                  <a:srgbClr val="231F20"/>
                </a:solidFill>
                <a:latin typeface="Tahoma"/>
                <a:cs typeface="Tahoma"/>
              </a:rPr>
              <a:t>of</a:t>
            </a:r>
            <a:r>
              <a:rPr lang="en-US" sz="2100" spc="-13">
                <a:solidFill>
                  <a:srgbClr val="231F20"/>
                </a:solidFill>
                <a:latin typeface="Tahoma"/>
                <a:cs typeface="Tahoma"/>
              </a:rPr>
              <a:t> </a:t>
            </a:r>
            <a:r>
              <a:rPr lang="en-US" sz="2100" spc="-4">
                <a:solidFill>
                  <a:srgbClr val="231F20"/>
                </a:solidFill>
                <a:latin typeface="Tahoma"/>
                <a:cs typeface="Tahoma"/>
              </a:rPr>
              <a:t>earrings, and number </a:t>
            </a:r>
            <a:r>
              <a:rPr lang="en-US" sz="2100">
                <a:solidFill>
                  <a:srgbClr val="231F20"/>
                </a:solidFill>
                <a:latin typeface="Tahoma"/>
                <a:cs typeface="Tahoma"/>
              </a:rPr>
              <a:t>of</a:t>
            </a:r>
            <a:r>
              <a:rPr lang="en-US" sz="2100" spc="-13">
                <a:solidFill>
                  <a:srgbClr val="231F20"/>
                </a:solidFill>
                <a:latin typeface="Tahoma"/>
                <a:cs typeface="Tahoma"/>
              </a:rPr>
              <a:t> </a:t>
            </a:r>
            <a:r>
              <a:rPr lang="en-US" sz="2100" spc="-4">
                <a:solidFill>
                  <a:srgbClr val="231F20"/>
                </a:solidFill>
                <a:latin typeface="Tahoma"/>
                <a:cs typeface="Tahoma"/>
              </a:rPr>
              <a:t>necklaces respectively.</a:t>
            </a:r>
            <a:endParaRPr lang="en-US" sz="2100">
              <a:latin typeface="Tahoma"/>
              <a:ea typeface="Tahoma"/>
              <a:cs typeface="Tahoma"/>
            </a:endParaRPr>
          </a:p>
          <a:p>
            <a:pPr>
              <a:spcBef>
                <a:spcPts val="22"/>
              </a:spcBef>
            </a:pPr>
            <a:endParaRPr lang="en-US" sz="4191">
              <a:latin typeface="Tahoma"/>
              <a:cs typeface="Tahoma"/>
            </a:endParaRPr>
          </a:p>
          <a:p>
            <a:pPr marL="369570" indent="-302260">
              <a:spcBef>
                <a:spcPts val="4"/>
              </a:spcBef>
              <a:buFont typeface="Wingdings"/>
              <a:buChar char=""/>
              <a:tabLst>
                <a:tab pos="369254" algn="l"/>
                <a:tab pos="369814" algn="l"/>
              </a:tabLst>
            </a:pPr>
            <a:r>
              <a:rPr lang="en-US" sz="2118" b="1" spc="-4">
                <a:solidFill>
                  <a:srgbClr val="231F20"/>
                </a:solidFill>
                <a:latin typeface="Tahoma"/>
                <a:cs typeface="Tahoma"/>
              </a:rPr>
              <a:t>Objective</a:t>
            </a:r>
            <a:r>
              <a:rPr lang="en-US" sz="2118" b="1" spc="-9">
                <a:solidFill>
                  <a:srgbClr val="231F20"/>
                </a:solidFill>
                <a:latin typeface="Tahoma"/>
                <a:cs typeface="Tahoma"/>
              </a:rPr>
              <a:t> </a:t>
            </a:r>
            <a:r>
              <a:rPr lang="en-US" sz="2118" b="1" spc="-4">
                <a:solidFill>
                  <a:srgbClr val="231F20"/>
                </a:solidFill>
                <a:latin typeface="Tahoma"/>
                <a:cs typeface="Tahoma"/>
              </a:rPr>
              <a:t>Function:</a:t>
            </a:r>
            <a:r>
              <a:rPr lang="en-US" sz="2118" b="1" spc="62">
                <a:solidFill>
                  <a:srgbClr val="231F20"/>
                </a:solidFill>
                <a:latin typeface="Tahoma"/>
                <a:cs typeface="Tahoma"/>
              </a:rPr>
              <a:t> </a:t>
            </a:r>
            <a:r>
              <a:rPr lang="en-US" sz="2118" spc="-4">
                <a:solidFill>
                  <a:srgbClr val="231F20"/>
                </a:solidFill>
                <a:latin typeface="Tahoma"/>
                <a:cs typeface="Tahoma"/>
              </a:rPr>
              <a:t>Max. </a:t>
            </a:r>
            <a:r>
              <a:rPr lang="en-US" sz="2118">
                <a:solidFill>
                  <a:srgbClr val="231F20"/>
                </a:solidFill>
                <a:latin typeface="Tahoma"/>
                <a:cs typeface="Tahoma"/>
              </a:rPr>
              <a:t>Z</a:t>
            </a:r>
            <a:r>
              <a:rPr lang="en-US" sz="2118" spc="-9">
                <a:solidFill>
                  <a:srgbClr val="231F20"/>
                </a:solidFill>
                <a:latin typeface="Tahoma"/>
                <a:cs typeface="Tahoma"/>
              </a:rPr>
              <a:t> </a:t>
            </a:r>
            <a:r>
              <a:rPr lang="en-US" sz="2118">
                <a:solidFill>
                  <a:srgbClr val="231F20"/>
                </a:solidFill>
                <a:latin typeface="Tahoma"/>
                <a:cs typeface="Tahoma"/>
              </a:rPr>
              <a:t>=</a:t>
            </a:r>
            <a:r>
              <a:rPr lang="en-US" sz="2118" spc="-4">
                <a:solidFill>
                  <a:srgbClr val="231F20"/>
                </a:solidFill>
                <a:latin typeface="Tahoma"/>
                <a:cs typeface="Tahoma"/>
              </a:rPr>
              <a:t> 1500X</a:t>
            </a:r>
            <a:r>
              <a:rPr lang="en-US" sz="2118" spc="-6" baseline="-20833">
                <a:solidFill>
                  <a:srgbClr val="231F20"/>
                </a:solidFill>
                <a:latin typeface="Tahoma"/>
                <a:cs typeface="Tahoma"/>
              </a:rPr>
              <a:t>1</a:t>
            </a:r>
            <a:r>
              <a:rPr lang="en-US" sz="2118" spc="19" baseline="-20833">
                <a:solidFill>
                  <a:srgbClr val="231F20"/>
                </a:solidFill>
                <a:latin typeface="Tahoma"/>
                <a:cs typeface="Tahoma"/>
              </a:rPr>
              <a:t> </a:t>
            </a:r>
            <a:r>
              <a:rPr lang="en-US" sz="2118">
                <a:solidFill>
                  <a:srgbClr val="231F20"/>
                </a:solidFill>
                <a:latin typeface="Tahoma"/>
                <a:cs typeface="Tahoma"/>
              </a:rPr>
              <a:t>+</a:t>
            </a:r>
            <a:r>
              <a:rPr lang="en-US" sz="2118" spc="4">
                <a:solidFill>
                  <a:srgbClr val="231F20"/>
                </a:solidFill>
                <a:latin typeface="Tahoma"/>
                <a:cs typeface="Tahoma"/>
              </a:rPr>
              <a:t> </a:t>
            </a:r>
            <a:r>
              <a:rPr lang="en-US" sz="2118" spc="-4">
                <a:solidFill>
                  <a:srgbClr val="231F20"/>
                </a:solidFill>
                <a:latin typeface="Tahoma"/>
                <a:cs typeface="Tahoma"/>
              </a:rPr>
              <a:t>2400X</a:t>
            </a:r>
            <a:r>
              <a:rPr lang="en-US" sz="2118" spc="-6" baseline="-20833">
                <a:solidFill>
                  <a:srgbClr val="231F20"/>
                </a:solidFill>
                <a:latin typeface="Tahoma"/>
                <a:cs typeface="Tahoma"/>
              </a:rPr>
              <a:t>2</a:t>
            </a:r>
            <a:r>
              <a:rPr lang="en-US" sz="2118" spc="6" baseline="-20833">
                <a:solidFill>
                  <a:srgbClr val="231F20"/>
                </a:solidFill>
                <a:latin typeface="Tahoma"/>
                <a:cs typeface="Tahoma"/>
              </a:rPr>
              <a:t> </a:t>
            </a:r>
            <a:r>
              <a:rPr lang="en-US" sz="2118">
                <a:solidFill>
                  <a:srgbClr val="231F20"/>
                </a:solidFill>
                <a:latin typeface="Tahoma"/>
                <a:cs typeface="Tahoma"/>
              </a:rPr>
              <a:t>+</a:t>
            </a:r>
            <a:r>
              <a:rPr lang="en-US" sz="2118" spc="4">
                <a:solidFill>
                  <a:srgbClr val="231F20"/>
                </a:solidFill>
                <a:latin typeface="Tahoma"/>
                <a:cs typeface="Tahoma"/>
              </a:rPr>
              <a:t> </a:t>
            </a:r>
            <a:r>
              <a:rPr lang="en-US" sz="2118" spc="-4">
                <a:solidFill>
                  <a:srgbClr val="231F20"/>
                </a:solidFill>
                <a:latin typeface="Tahoma"/>
                <a:cs typeface="Tahoma"/>
              </a:rPr>
              <a:t>3600X</a:t>
            </a:r>
            <a:r>
              <a:rPr lang="en-US" sz="2118" spc="-6" baseline="-20833">
                <a:solidFill>
                  <a:srgbClr val="231F20"/>
                </a:solidFill>
                <a:latin typeface="Tahoma"/>
                <a:cs typeface="Tahoma"/>
              </a:rPr>
              <a:t>3</a:t>
            </a:r>
            <a:endParaRPr lang="en-US" sz="2118" baseline="-20833">
              <a:latin typeface="Tahoma"/>
              <a:ea typeface="Tahoma"/>
              <a:cs typeface="Tahoma"/>
            </a:endParaRPr>
          </a:p>
          <a:p>
            <a:pPr marL="335280">
              <a:spcBef>
                <a:spcPts val="1906"/>
              </a:spcBef>
            </a:pPr>
            <a:r>
              <a:rPr lang="en-US" sz="2100" b="1" spc="-4">
                <a:solidFill>
                  <a:srgbClr val="231F20"/>
                </a:solidFill>
                <a:latin typeface="Tahoma"/>
                <a:cs typeface="Tahoma"/>
              </a:rPr>
              <a:t>Subject</a:t>
            </a:r>
            <a:r>
              <a:rPr lang="en-US" sz="2100" b="1" spc="-44">
                <a:solidFill>
                  <a:srgbClr val="231F20"/>
                </a:solidFill>
                <a:latin typeface="Tahoma"/>
                <a:cs typeface="Tahoma"/>
              </a:rPr>
              <a:t> </a:t>
            </a:r>
            <a:r>
              <a:rPr lang="en-US" sz="2100" b="1" spc="-4">
                <a:solidFill>
                  <a:srgbClr val="231F20"/>
                </a:solidFill>
                <a:latin typeface="Tahoma"/>
                <a:cs typeface="Tahoma"/>
              </a:rPr>
              <a:t>to: </a:t>
            </a:r>
            <a:r>
              <a:rPr lang="en-US" sz="2100" spc="-4">
                <a:solidFill>
                  <a:srgbClr val="231F20"/>
                </a:solidFill>
                <a:latin typeface="Tahoma"/>
                <a:cs typeface="Tahoma"/>
              </a:rPr>
              <a:t>4X</a:t>
            </a:r>
            <a:r>
              <a:rPr lang="en-US" sz="2100" spc="-6" baseline="-20833">
                <a:solidFill>
                  <a:srgbClr val="231F20"/>
                </a:solidFill>
                <a:latin typeface="Tahoma"/>
                <a:cs typeface="Tahoma"/>
              </a:rPr>
              <a:t>1</a:t>
            </a:r>
            <a:r>
              <a:rPr lang="en-US" sz="2100" spc="297" baseline="-20833">
                <a:solidFill>
                  <a:srgbClr val="231F20"/>
                </a:solidFill>
                <a:latin typeface="Tahoma"/>
                <a:cs typeface="Tahoma"/>
              </a:rPr>
              <a:t> </a:t>
            </a:r>
            <a:r>
              <a:rPr lang="en-US" sz="2100">
                <a:solidFill>
                  <a:srgbClr val="231F20"/>
                </a:solidFill>
                <a:latin typeface="Tahoma"/>
                <a:cs typeface="Tahoma"/>
              </a:rPr>
              <a:t>+</a:t>
            </a:r>
            <a:r>
              <a:rPr lang="en-US" sz="2100" spc="9">
                <a:solidFill>
                  <a:srgbClr val="231F20"/>
                </a:solidFill>
                <a:latin typeface="Tahoma"/>
                <a:cs typeface="Tahoma"/>
              </a:rPr>
              <a:t> </a:t>
            </a:r>
            <a:r>
              <a:rPr lang="en-US" sz="2100" spc="-9">
                <a:solidFill>
                  <a:srgbClr val="231F20"/>
                </a:solidFill>
                <a:latin typeface="Tahoma"/>
                <a:cs typeface="Tahoma"/>
              </a:rPr>
              <a:t>3X</a:t>
            </a:r>
            <a:r>
              <a:rPr lang="en-US" sz="2100" spc="-13" baseline="-20833">
                <a:solidFill>
                  <a:srgbClr val="231F20"/>
                </a:solidFill>
                <a:latin typeface="Tahoma"/>
                <a:cs typeface="Tahoma"/>
              </a:rPr>
              <a:t>2 </a:t>
            </a:r>
            <a:r>
              <a:rPr lang="en-US" sz="2100">
                <a:solidFill>
                  <a:srgbClr val="231F20"/>
                </a:solidFill>
                <a:latin typeface="Tahoma"/>
                <a:cs typeface="Tahoma"/>
              </a:rPr>
              <a:t>+</a:t>
            </a:r>
            <a:r>
              <a:rPr lang="en-US" sz="2100" spc="4">
                <a:solidFill>
                  <a:srgbClr val="231F20"/>
                </a:solidFill>
                <a:latin typeface="Tahoma"/>
                <a:cs typeface="Tahoma"/>
              </a:rPr>
              <a:t> </a:t>
            </a:r>
            <a:r>
              <a:rPr lang="en-US" sz="2100" spc="-4">
                <a:solidFill>
                  <a:srgbClr val="231F20"/>
                </a:solidFill>
                <a:latin typeface="Tahoma"/>
                <a:cs typeface="Tahoma"/>
              </a:rPr>
              <a:t>10X</a:t>
            </a:r>
            <a:r>
              <a:rPr lang="en-US" sz="2100" spc="-6" baseline="-20833">
                <a:solidFill>
                  <a:srgbClr val="231F20"/>
                </a:solidFill>
                <a:latin typeface="Tahoma"/>
                <a:cs typeface="Tahoma"/>
              </a:rPr>
              <a:t>3</a:t>
            </a:r>
            <a:r>
              <a:rPr lang="en-US" sz="2100" baseline="-20833">
                <a:solidFill>
                  <a:srgbClr val="231F20"/>
                </a:solidFill>
                <a:latin typeface="Tahoma"/>
                <a:cs typeface="Tahoma"/>
              </a:rPr>
              <a:t> </a:t>
            </a:r>
            <a:r>
              <a:rPr lang="en-US" sz="2100">
                <a:solidFill>
                  <a:srgbClr val="231F20"/>
                </a:solidFill>
                <a:latin typeface="Tahoma"/>
                <a:cs typeface="Tahoma"/>
              </a:rPr>
              <a:t>≤</a:t>
            </a:r>
            <a:r>
              <a:rPr lang="en-US" sz="2100" spc="-9">
                <a:solidFill>
                  <a:srgbClr val="231F20"/>
                </a:solidFill>
                <a:latin typeface="Tahoma"/>
                <a:cs typeface="Tahoma"/>
              </a:rPr>
              <a:t> </a:t>
            </a:r>
            <a:r>
              <a:rPr lang="en-US" sz="2100" spc="-4">
                <a:solidFill>
                  <a:srgbClr val="231F20"/>
                </a:solidFill>
                <a:latin typeface="Tahoma"/>
                <a:cs typeface="Tahoma"/>
              </a:rPr>
              <a:t>150</a:t>
            </a:r>
            <a:r>
              <a:rPr lang="en-US" sz="2100" spc="9">
                <a:solidFill>
                  <a:srgbClr val="231F20"/>
                </a:solidFill>
                <a:latin typeface="Tahoma"/>
                <a:cs typeface="Tahoma"/>
              </a:rPr>
              <a:t> </a:t>
            </a:r>
            <a:r>
              <a:rPr lang="en-US" sz="2100" spc="-4">
                <a:solidFill>
                  <a:srgbClr val="231F20"/>
                </a:solidFill>
                <a:latin typeface="Tahoma"/>
                <a:cs typeface="Tahoma"/>
              </a:rPr>
              <a:t>(1/2</a:t>
            </a:r>
            <a:r>
              <a:rPr lang="en-US" sz="2100">
                <a:solidFill>
                  <a:srgbClr val="231F20"/>
                </a:solidFill>
                <a:latin typeface="Tahoma"/>
                <a:cs typeface="Tahoma"/>
              </a:rPr>
              <a:t> </a:t>
            </a:r>
            <a:r>
              <a:rPr lang="en-US" sz="2100" spc="-9">
                <a:solidFill>
                  <a:srgbClr val="231F20"/>
                </a:solidFill>
                <a:latin typeface="Tahoma"/>
                <a:cs typeface="Tahoma"/>
              </a:rPr>
              <a:t>Carat</a:t>
            </a:r>
            <a:r>
              <a:rPr lang="en-US" sz="2100" spc="-13">
                <a:solidFill>
                  <a:srgbClr val="231F20"/>
                </a:solidFill>
                <a:latin typeface="Tahoma"/>
                <a:cs typeface="Tahoma"/>
              </a:rPr>
              <a:t> </a:t>
            </a:r>
            <a:r>
              <a:rPr lang="en-US" sz="2100">
                <a:solidFill>
                  <a:srgbClr val="231F20"/>
                </a:solidFill>
                <a:latin typeface="Tahoma"/>
                <a:cs typeface="Tahoma"/>
              </a:rPr>
              <a:t>Diamond) </a:t>
            </a:r>
            <a:endParaRPr lang="en-US" sz="2100">
              <a:solidFill>
                <a:srgbClr val="000000"/>
              </a:solidFill>
              <a:latin typeface="Tahoma"/>
              <a:cs typeface="Tahoma"/>
            </a:endParaRPr>
          </a:p>
          <a:p>
            <a:pPr marL="335280">
              <a:spcBef>
                <a:spcPts val="1905"/>
              </a:spcBef>
            </a:pPr>
            <a:r>
              <a:rPr lang="en-US" sz="2100" spc="-4">
                <a:solidFill>
                  <a:srgbClr val="231F20"/>
                </a:solidFill>
                <a:latin typeface="Tahoma"/>
                <a:cs typeface="Tahoma"/>
              </a:rPr>
              <a:t>                  6X</a:t>
            </a:r>
            <a:r>
              <a:rPr lang="en-US" sz="2100" spc="-6" baseline="-20833">
                <a:solidFill>
                  <a:srgbClr val="231F20"/>
                </a:solidFill>
                <a:latin typeface="Tahoma"/>
                <a:cs typeface="Tahoma"/>
              </a:rPr>
              <a:t>1</a:t>
            </a:r>
            <a:r>
              <a:rPr lang="en-US" sz="2100" spc="311" baseline="-20833">
                <a:solidFill>
                  <a:srgbClr val="231F20"/>
                </a:solidFill>
                <a:latin typeface="Tahoma"/>
                <a:cs typeface="Tahoma"/>
              </a:rPr>
              <a:t> </a:t>
            </a:r>
            <a:r>
              <a:rPr lang="en-US" sz="2100">
                <a:solidFill>
                  <a:srgbClr val="231F20"/>
                </a:solidFill>
                <a:latin typeface="Tahoma"/>
                <a:cs typeface="Tahoma"/>
              </a:rPr>
              <a:t>+</a:t>
            </a:r>
            <a:r>
              <a:rPr lang="en-US" sz="2100" spc="18">
                <a:solidFill>
                  <a:srgbClr val="231F20"/>
                </a:solidFill>
                <a:latin typeface="Tahoma"/>
                <a:cs typeface="Tahoma"/>
              </a:rPr>
              <a:t> </a:t>
            </a:r>
            <a:r>
              <a:rPr lang="en-US" sz="2100" spc="-9">
                <a:solidFill>
                  <a:srgbClr val="231F20"/>
                </a:solidFill>
                <a:latin typeface="Tahoma"/>
                <a:cs typeface="Tahoma"/>
              </a:rPr>
              <a:t>5X</a:t>
            </a:r>
            <a:r>
              <a:rPr lang="en-US" sz="2100" spc="-13" baseline="-20833">
                <a:solidFill>
                  <a:srgbClr val="231F20"/>
                </a:solidFill>
                <a:latin typeface="Tahoma"/>
                <a:cs typeface="Tahoma"/>
              </a:rPr>
              <a:t>2</a:t>
            </a:r>
            <a:r>
              <a:rPr lang="en-US" sz="2100" spc="-6" baseline="-20833">
                <a:solidFill>
                  <a:srgbClr val="231F20"/>
                </a:solidFill>
                <a:latin typeface="Tahoma"/>
                <a:cs typeface="Tahoma"/>
              </a:rPr>
              <a:t> </a:t>
            </a:r>
            <a:r>
              <a:rPr lang="en-US" sz="2100">
                <a:solidFill>
                  <a:srgbClr val="231F20"/>
                </a:solidFill>
                <a:latin typeface="Tahoma"/>
                <a:cs typeface="Tahoma"/>
              </a:rPr>
              <a:t>+</a:t>
            </a:r>
            <a:r>
              <a:rPr lang="en-US" sz="2100">
                <a:solidFill>
                  <a:srgbClr val="231F20"/>
                </a:solidFill>
                <a:latin typeface="Times New Roman"/>
                <a:cs typeface="Times New Roman"/>
              </a:rPr>
              <a:t>  </a:t>
            </a:r>
            <a:r>
              <a:rPr lang="en-US" sz="2100" spc="-9">
                <a:solidFill>
                  <a:srgbClr val="231F20"/>
                </a:solidFill>
                <a:latin typeface="Tahoma"/>
                <a:cs typeface="Tahoma"/>
              </a:rPr>
              <a:t>9X</a:t>
            </a:r>
            <a:r>
              <a:rPr lang="en-US" sz="2100" spc="-13" baseline="-20833">
                <a:solidFill>
                  <a:srgbClr val="231F20"/>
                </a:solidFill>
                <a:latin typeface="Tahoma"/>
                <a:cs typeface="Tahoma"/>
              </a:rPr>
              <a:t>3</a:t>
            </a:r>
            <a:r>
              <a:rPr lang="en-US" sz="2100" baseline="-20833">
                <a:solidFill>
                  <a:srgbClr val="231F20"/>
                </a:solidFill>
                <a:latin typeface="Tahoma"/>
                <a:cs typeface="Tahoma"/>
              </a:rPr>
              <a:t> </a:t>
            </a:r>
            <a:r>
              <a:rPr lang="en-US" sz="2100">
                <a:solidFill>
                  <a:srgbClr val="231F20"/>
                </a:solidFill>
                <a:latin typeface="Tahoma"/>
                <a:cs typeface="Tahoma"/>
              </a:rPr>
              <a:t>≤</a:t>
            </a:r>
            <a:r>
              <a:rPr lang="en-US" sz="2100" spc="-9">
                <a:solidFill>
                  <a:srgbClr val="231F20"/>
                </a:solidFill>
                <a:latin typeface="Tahoma"/>
                <a:cs typeface="Tahoma"/>
              </a:rPr>
              <a:t> </a:t>
            </a:r>
            <a:r>
              <a:rPr lang="en-US" sz="2100" spc="-4">
                <a:solidFill>
                  <a:srgbClr val="231F20"/>
                </a:solidFill>
                <a:latin typeface="Tahoma"/>
                <a:cs typeface="Tahoma"/>
              </a:rPr>
              <a:t>160</a:t>
            </a:r>
            <a:r>
              <a:rPr lang="en-US" sz="2100">
                <a:solidFill>
                  <a:srgbClr val="231F20"/>
                </a:solidFill>
                <a:latin typeface="Tahoma"/>
                <a:cs typeface="Tahoma"/>
              </a:rPr>
              <a:t> </a:t>
            </a:r>
            <a:r>
              <a:rPr lang="en-US" sz="2100" spc="-4">
                <a:solidFill>
                  <a:srgbClr val="231F20"/>
                </a:solidFill>
                <a:latin typeface="Tahoma"/>
                <a:cs typeface="Tahoma"/>
              </a:rPr>
              <a:t>(1/4 </a:t>
            </a:r>
            <a:r>
              <a:rPr lang="en-US" sz="2100" spc="-9">
                <a:solidFill>
                  <a:srgbClr val="231F20"/>
                </a:solidFill>
                <a:latin typeface="Tahoma"/>
                <a:cs typeface="Tahoma"/>
              </a:rPr>
              <a:t>Carat</a:t>
            </a:r>
            <a:r>
              <a:rPr lang="en-US" sz="2100" spc="-13">
                <a:solidFill>
                  <a:srgbClr val="231F20"/>
                </a:solidFill>
                <a:latin typeface="Tahoma"/>
                <a:cs typeface="Tahoma"/>
              </a:rPr>
              <a:t> </a:t>
            </a:r>
            <a:r>
              <a:rPr lang="en-US" sz="2100">
                <a:solidFill>
                  <a:srgbClr val="231F20"/>
                </a:solidFill>
                <a:latin typeface="Tahoma"/>
                <a:cs typeface="Tahoma"/>
              </a:rPr>
              <a:t>Diamond)</a:t>
            </a:r>
            <a:endParaRPr lang="en-US" sz="2100">
              <a:latin typeface="Tahoma"/>
              <a:ea typeface="Tahoma"/>
              <a:cs typeface="Tahoma"/>
            </a:endParaRPr>
          </a:p>
          <a:p>
            <a:pPr marL="1949450" marR="243840" indent="81280">
              <a:lnSpc>
                <a:spcPct val="150000"/>
              </a:lnSpc>
              <a:spcBef>
                <a:spcPts val="4"/>
              </a:spcBef>
              <a:tabLst>
                <a:tab pos="2819550" algn="l"/>
                <a:tab pos="3661157" algn="l"/>
                <a:tab pos="4334666" algn="l"/>
                <a:tab pos="5562336" algn="l"/>
              </a:tabLst>
            </a:pPr>
            <a:r>
              <a:rPr lang="en-US" sz="2100" spc="-9">
                <a:solidFill>
                  <a:srgbClr val="231F20"/>
                </a:solidFill>
                <a:latin typeface="Tahoma"/>
                <a:cs typeface="Tahoma"/>
              </a:rPr>
              <a:t>X</a:t>
            </a:r>
            <a:r>
              <a:rPr lang="en-US" sz="2100" spc="-13" baseline="-20833">
                <a:solidFill>
                  <a:srgbClr val="231F20"/>
                </a:solidFill>
                <a:latin typeface="Tahoma"/>
                <a:cs typeface="Tahoma"/>
              </a:rPr>
              <a:t>1</a:t>
            </a:r>
            <a:r>
              <a:rPr lang="en-US" sz="2100" spc="344" baseline="-20833">
                <a:solidFill>
                  <a:srgbClr val="231F20"/>
                </a:solidFill>
                <a:latin typeface="Tahoma"/>
                <a:cs typeface="Tahoma"/>
              </a:rPr>
              <a:t> </a:t>
            </a:r>
            <a:r>
              <a:rPr lang="en-US" sz="2100">
                <a:solidFill>
                  <a:srgbClr val="231F20"/>
                </a:solidFill>
                <a:latin typeface="Tahoma"/>
                <a:cs typeface="Tahoma"/>
              </a:rPr>
              <a:t>+</a:t>
            </a:r>
            <a:r>
              <a:rPr lang="en-US" sz="2100">
                <a:solidFill>
                  <a:srgbClr val="231F20"/>
                </a:solidFill>
                <a:latin typeface="Times New Roman"/>
                <a:cs typeface="Times New Roman"/>
              </a:rPr>
              <a:t>	</a:t>
            </a:r>
            <a:r>
              <a:rPr lang="en-US" sz="2100" spc="-9">
                <a:solidFill>
                  <a:srgbClr val="231F20"/>
                </a:solidFill>
                <a:latin typeface="Tahoma"/>
                <a:cs typeface="Tahoma"/>
              </a:rPr>
              <a:t>X</a:t>
            </a:r>
            <a:r>
              <a:rPr lang="en-US" sz="2100" spc="-13" baseline="-20833">
                <a:solidFill>
                  <a:srgbClr val="231F20"/>
                </a:solidFill>
                <a:latin typeface="Tahoma"/>
                <a:cs typeface="Tahoma"/>
              </a:rPr>
              <a:t>2</a:t>
            </a:r>
            <a:r>
              <a:rPr lang="en-US" sz="2100" baseline="-20833">
                <a:solidFill>
                  <a:srgbClr val="231F20"/>
                </a:solidFill>
                <a:latin typeface="Tahoma"/>
                <a:cs typeface="Tahoma"/>
              </a:rPr>
              <a:t> </a:t>
            </a:r>
            <a:r>
              <a:rPr lang="en-US" sz="2100">
                <a:solidFill>
                  <a:srgbClr val="231F20"/>
                </a:solidFill>
                <a:latin typeface="Tahoma"/>
                <a:cs typeface="Tahoma"/>
              </a:rPr>
              <a:t>+</a:t>
            </a:r>
            <a:r>
              <a:rPr lang="en-US" sz="2100">
                <a:solidFill>
                  <a:srgbClr val="231F20"/>
                </a:solidFill>
                <a:latin typeface="Times New Roman"/>
                <a:cs typeface="Times New Roman"/>
              </a:rPr>
              <a:t>	</a:t>
            </a:r>
            <a:r>
              <a:rPr lang="en-US" sz="2100" spc="-9">
                <a:solidFill>
                  <a:srgbClr val="231F20"/>
                </a:solidFill>
                <a:latin typeface="Tahoma"/>
                <a:cs typeface="Tahoma"/>
              </a:rPr>
              <a:t>X</a:t>
            </a:r>
            <a:r>
              <a:rPr lang="en-US" sz="2100" spc="-13" baseline="-20833">
                <a:solidFill>
                  <a:srgbClr val="231F20"/>
                </a:solidFill>
                <a:latin typeface="Tahoma"/>
                <a:cs typeface="Tahoma"/>
              </a:rPr>
              <a:t>3</a:t>
            </a:r>
            <a:r>
              <a:rPr lang="en-US" sz="2100" spc="-6" baseline="-20833">
                <a:solidFill>
                  <a:srgbClr val="231F20"/>
                </a:solidFill>
                <a:latin typeface="Tahoma"/>
                <a:cs typeface="Tahoma"/>
              </a:rPr>
              <a:t> </a:t>
            </a:r>
            <a:r>
              <a:rPr lang="en-US" sz="2100">
                <a:solidFill>
                  <a:srgbClr val="231F20"/>
                </a:solidFill>
                <a:latin typeface="Tahoma"/>
                <a:cs typeface="Tahoma"/>
              </a:rPr>
              <a:t>≤</a:t>
            </a:r>
            <a:r>
              <a:rPr lang="en-US" sz="2100">
                <a:solidFill>
                  <a:srgbClr val="231F20"/>
                </a:solidFill>
                <a:latin typeface="Times New Roman"/>
                <a:cs typeface="Times New Roman"/>
              </a:rPr>
              <a:t>	</a:t>
            </a:r>
            <a:r>
              <a:rPr lang="en-US" sz="2100" spc="-4">
                <a:solidFill>
                  <a:srgbClr val="231F20"/>
                </a:solidFill>
                <a:latin typeface="Tahoma"/>
                <a:cs typeface="Tahoma"/>
              </a:rPr>
              <a:t>50</a:t>
            </a:r>
            <a:r>
              <a:rPr lang="en-US" sz="2100" spc="4">
                <a:solidFill>
                  <a:srgbClr val="231F20"/>
                </a:solidFill>
                <a:latin typeface="Tahoma"/>
                <a:cs typeface="Tahoma"/>
              </a:rPr>
              <a:t> </a:t>
            </a:r>
            <a:r>
              <a:rPr lang="en-US" sz="2100" spc="-35">
                <a:solidFill>
                  <a:srgbClr val="231F20"/>
                </a:solidFill>
                <a:latin typeface="Tahoma"/>
                <a:cs typeface="Tahoma"/>
              </a:rPr>
              <a:t>(Total</a:t>
            </a:r>
            <a:r>
              <a:rPr lang="en-US" sz="2100" spc="-13">
                <a:solidFill>
                  <a:srgbClr val="231F20"/>
                </a:solidFill>
                <a:latin typeface="Tahoma"/>
                <a:cs typeface="Tahoma"/>
              </a:rPr>
              <a:t> </a:t>
            </a:r>
            <a:r>
              <a:rPr lang="en-US" sz="2100" spc="-4">
                <a:solidFill>
                  <a:srgbClr val="231F20"/>
                </a:solidFill>
                <a:latin typeface="Tahoma"/>
                <a:cs typeface="Tahoma"/>
              </a:rPr>
              <a:t>Number</a:t>
            </a:r>
            <a:r>
              <a:rPr lang="en-US" sz="2100" spc="-13">
                <a:solidFill>
                  <a:srgbClr val="231F20"/>
                </a:solidFill>
                <a:latin typeface="Tahoma"/>
                <a:cs typeface="Tahoma"/>
              </a:rPr>
              <a:t> </a:t>
            </a:r>
            <a:r>
              <a:rPr lang="en-US" sz="2100">
                <a:solidFill>
                  <a:srgbClr val="231F20"/>
                </a:solidFill>
                <a:latin typeface="Tahoma"/>
                <a:cs typeface="Tahoma"/>
              </a:rPr>
              <a:t>of</a:t>
            </a:r>
            <a:r>
              <a:rPr lang="en-US" sz="2100" spc="-13">
                <a:solidFill>
                  <a:srgbClr val="231F20"/>
                </a:solidFill>
                <a:latin typeface="Tahoma"/>
                <a:cs typeface="Tahoma"/>
              </a:rPr>
              <a:t> </a:t>
            </a:r>
            <a:r>
              <a:rPr lang="en-US" sz="2100" spc="-4">
                <a:solidFill>
                  <a:srgbClr val="231F20"/>
                </a:solidFill>
                <a:latin typeface="Tahoma"/>
                <a:cs typeface="Tahoma"/>
              </a:rPr>
              <a:t>items) </a:t>
            </a:r>
            <a:endParaRPr lang="en-US" sz="2118">
              <a:solidFill>
                <a:srgbClr val="000000"/>
              </a:solidFill>
              <a:latin typeface="Tahoma"/>
              <a:cs typeface="Tahoma"/>
            </a:endParaRPr>
          </a:p>
          <a:p>
            <a:pPr marL="1949450" marR="243840" indent="81280">
              <a:lnSpc>
                <a:spcPct val="150000"/>
              </a:lnSpc>
              <a:spcBef>
                <a:spcPts val="4"/>
              </a:spcBef>
              <a:tabLst>
                <a:tab pos="2819550" algn="l"/>
                <a:tab pos="3661157" algn="l"/>
                <a:tab pos="4334666" algn="l"/>
                <a:tab pos="5562336" algn="l"/>
              </a:tabLst>
            </a:pPr>
            <a:r>
              <a:rPr lang="en-US" sz="2100" spc="-649">
                <a:solidFill>
                  <a:srgbClr val="231F20"/>
                </a:solidFill>
                <a:latin typeface="Tahoma"/>
                <a:cs typeface="Tahoma"/>
              </a:rPr>
              <a:t> </a:t>
            </a:r>
            <a:r>
              <a:rPr lang="en-US" sz="2100" spc="-4">
                <a:solidFill>
                  <a:srgbClr val="231F20"/>
                </a:solidFill>
                <a:latin typeface="Tahoma"/>
                <a:cs typeface="Tahoma"/>
              </a:rPr>
              <a:t>With</a:t>
            </a:r>
            <a:r>
              <a:rPr lang="en-US" sz="2100" spc="-9">
                <a:solidFill>
                  <a:srgbClr val="231F20"/>
                </a:solidFill>
                <a:latin typeface="Tahoma"/>
                <a:cs typeface="Tahoma"/>
              </a:rPr>
              <a:t> </a:t>
            </a:r>
            <a:r>
              <a:rPr lang="en-US" sz="2100" spc="-4">
                <a:solidFill>
                  <a:srgbClr val="231F20"/>
                </a:solidFill>
                <a:latin typeface="Tahoma"/>
                <a:cs typeface="Tahoma"/>
              </a:rPr>
              <a:t>X</a:t>
            </a:r>
            <a:r>
              <a:rPr lang="en-US" sz="2100" spc="-6" baseline="-20833">
                <a:solidFill>
                  <a:srgbClr val="231F20"/>
                </a:solidFill>
                <a:latin typeface="Tahoma"/>
                <a:cs typeface="Tahoma"/>
              </a:rPr>
              <a:t>1</a:t>
            </a:r>
            <a:r>
              <a:rPr lang="en-US" sz="2100" spc="-4">
                <a:solidFill>
                  <a:srgbClr val="231F20"/>
                </a:solidFill>
                <a:latin typeface="Tahoma"/>
                <a:cs typeface="Tahoma"/>
              </a:rPr>
              <a:t>,</a:t>
            </a:r>
            <a:r>
              <a:rPr lang="en-US" sz="2100" spc="-9">
                <a:solidFill>
                  <a:srgbClr val="231F20"/>
                </a:solidFill>
                <a:latin typeface="Tahoma"/>
                <a:cs typeface="Tahoma"/>
              </a:rPr>
              <a:t> </a:t>
            </a:r>
            <a:r>
              <a:rPr lang="en-US" sz="2100" spc="-4">
                <a:solidFill>
                  <a:srgbClr val="231F20"/>
                </a:solidFill>
                <a:latin typeface="Tahoma"/>
                <a:cs typeface="Tahoma"/>
              </a:rPr>
              <a:t>X</a:t>
            </a:r>
            <a:r>
              <a:rPr lang="en-US" sz="2100" spc="-6" baseline="-20833">
                <a:solidFill>
                  <a:srgbClr val="231F20"/>
                </a:solidFill>
                <a:latin typeface="Tahoma"/>
                <a:cs typeface="Tahoma"/>
              </a:rPr>
              <a:t>2</a:t>
            </a:r>
            <a:r>
              <a:rPr lang="en-US" sz="2100" spc="-4">
                <a:solidFill>
                  <a:srgbClr val="231F20"/>
                </a:solidFill>
                <a:latin typeface="Tahoma"/>
                <a:cs typeface="Tahoma"/>
              </a:rPr>
              <a:t>,</a:t>
            </a:r>
            <a:r>
              <a:rPr lang="en-US" sz="2100" spc="4">
                <a:solidFill>
                  <a:srgbClr val="231F20"/>
                </a:solidFill>
                <a:latin typeface="Tahoma"/>
                <a:cs typeface="Tahoma"/>
              </a:rPr>
              <a:t> </a:t>
            </a:r>
            <a:r>
              <a:rPr lang="en-US" sz="2100" spc="-4">
                <a:solidFill>
                  <a:srgbClr val="231F20"/>
                </a:solidFill>
                <a:latin typeface="Tahoma"/>
                <a:cs typeface="Tahoma"/>
              </a:rPr>
              <a:t>X</a:t>
            </a:r>
            <a:r>
              <a:rPr lang="en-US" sz="2100" spc="-6" baseline="-20833">
                <a:solidFill>
                  <a:srgbClr val="231F20"/>
                </a:solidFill>
                <a:latin typeface="Tahoma"/>
                <a:cs typeface="Tahoma"/>
              </a:rPr>
              <a:t>3</a:t>
            </a:r>
            <a:r>
              <a:rPr lang="en-US" sz="2100" baseline="-20833">
                <a:solidFill>
                  <a:srgbClr val="231F20"/>
                </a:solidFill>
                <a:latin typeface="Tahoma"/>
                <a:cs typeface="Tahoma"/>
              </a:rPr>
              <a:t> </a:t>
            </a:r>
            <a:r>
              <a:rPr lang="en-US" sz="2100">
                <a:solidFill>
                  <a:srgbClr val="231F20"/>
                </a:solidFill>
                <a:latin typeface="Tahoma"/>
                <a:cs typeface="Tahoma"/>
              </a:rPr>
              <a:t>≥</a:t>
            </a:r>
            <a:r>
              <a:rPr lang="en-US" sz="2100" spc="13">
                <a:solidFill>
                  <a:srgbClr val="231F20"/>
                </a:solidFill>
                <a:latin typeface="Tahoma"/>
                <a:cs typeface="Tahoma"/>
              </a:rPr>
              <a:t> </a:t>
            </a:r>
            <a:r>
              <a:rPr lang="en-US" sz="2100" spc="-4">
                <a:solidFill>
                  <a:srgbClr val="231F20"/>
                </a:solidFill>
                <a:latin typeface="Tahoma"/>
                <a:cs typeface="Tahoma"/>
              </a:rPr>
              <a:t>0;</a:t>
            </a:r>
            <a:r>
              <a:rPr lang="en-US" sz="2100">
                <a:solidFill>
                  <a:srgbClr val="231F20"/>
                </a:solidFill>
                <a:latin typeface="Tahoma"/>
                <a:cs typeface="Tahoma"/>
              </a:rPr>
              <a:t>  </a:t>
            </a:r>
            <a:r>
              <a:rPr lang="en-US" sz="2100" spc="-4">
                <a:solidFill>
                  <a:srgbClr val="0070C0"/>
                </a:solidFill>
                <a:latin typeface="Tahoma"/>
                <a:cs typeface="Tahoma"/>
              </a:rPr>
              <a:t>X</a:t>
            </a:r>
            <a:r>
              <a:rPr lang="en-US" sz="2100" spc="-6" baseline="-20833">
                <a:solidFill>
                  <a:srgbClr val="0070C0"/>
                </a:solidFill>
                <a:latin typeface="Tahoma"/>
                <a:cs typeface="Tahoma"/>
              </a:rPr>
              <a:t>1</a:t>
            </a:r>
            <a:r>
              <a:rPr lang="en-US" sz="2100" spc="-4">
                <a:solidFill>
                  <a:srgbClr val="0070C0"/>
                </a:solidFill>
                <a:latin typeface="Tahoma"/>
                <a:cs typeface="Tahoma"/>
              </a:rPr>
              <a:t>,</a:t>
            </a:r>
            <a:r>
              <a:rPr lang="en-US" sz="2100" spc="9">
                <a:solidFill>
                  <a:srgbClr val="0070C0"/>
                </a:solidFill>
                <a:latin typeface="Tahoma"/>
                <a:cs typeface="Tahoma"/>
              </a:rPr>
              <a:t> </a:t>
            </a:r>
            <a:r>
              <a:rPr lang="en-US" sz="2100" spc="-4">
                <a:solidFill>
                  <a:srgbClr val="0070C0"/>
                </a:solidFill>
                <a:latin typeface="Tahoma"/>
                <a:cs typeface="Tahoma"/>
              </a:rPr>
              <a:t>X</a:t>
            </a:r>
            <a:r>
              <a:rPr lang="en-US" sz="2100" spc="-6" baseline="-20833">
                <a:solidFill>
                  <a:srgbClr val="0070C0"/>
                </a:solidFill>
                <a:latin typeface="Tahoma"/>
                <a:cs typeface="Tahoma"/>
              </a:rPr>
              <a:t>2</a:t>
            </a:r>
            <a:r>
              <a:rPr lang="en-US" sz="2100" spc="-4">
                <a:solidFill>
                  <a:srgbClr val="0070C0"/>
                </a:solidFill>
                <a:latin typeface="Tahoma"/>
                <a:cs typeface="Tahoma"/>
              </a:rPr>
              <a:t>,</a:t>
            </a:r>
            <a:r>
              <a:rPr lang="en-US" sz="2100" spc="-9">
                <a:solidFill>
                  <a:srgbClr val="0070C0"/>
                </a:solidFill>
                <a:latin typeface="Tahoma"/>
                <a:cs typeface="Tahoma"/>
              </a:rPr>
              <a:t> </a:t>
            </a:r>
            <a:r>
              <a:rPr lang="en-US" sz="2100" spc="-4">
                <a:solidFill>
                  <a:srgbClr val="0070C0"/>
                </a:solidFill>
                <a:latin typeface="Tahoma"/>
                <a:cs typeface="Tahoma"/>
              </a:rPr>
              <a:t>X</a:t>
            </a:r>
            <a:r>
              <a:rPr lang="en-US" sz="2100" spc="-6" baseline="-20833">
                <a:solidFill>
                  <a:srgbClr val="0070C0"/>
                </a:solidFill>
                <a:latin typeface="Tahoma"/>
                <a:cs typeface="Tahoma"/>
              </a:rPr>
              <a:t>3</a:t>
            </a:r>
            <a:r>
              <a:rPr lang="en-US" sz="2100" spc="-6" baseline="-20833">
                <a:solidFill>
                  <a:srgbClr val="0070C0"/>
                </a:solidFill>
                <a:latin typeface="Times New Roman"/>
                <a:cs typeface="Times New Roman"/>
              </a:rPr>
              <a:t> </a:t>
            </a:r>
            <a:r>
              <a:rPr lang="en-US" sz="2100" spc="-4">
                <a:solidFill>
                  <a:srgbClr val="0070C0"/>
                </a:solidFill>
                <a:latin typeface="Tahoma"/>
                <a:cs typeface="Tahoma"/>
              </a:rPr>
              <a:t> are</a:t>
            </a:r>
            <a:r>
              <a:rPr lang="en-US" sz="2100" spc="-9">
                <a:solidFill>
                  <a:srgbClr val="0070C0"/>
                </a:solidFill>
                <a:latin typeface="Tahoma"/>
                <a:cs typeface="Tahoma"/>
              </a:rPr>
              <a:t> </a:t>
            </a:r>
            <a:r>
              <a:rPr lang="en-US" sz="2100" spc="-4">
                <a:solidFill>
                  <a:srgbClr val="0070C0"/>
                </a:solidFill>
                <a:latin typeface="Tahoma"/>
                <a:cs typeface="Tahoma"/>
              </a:rPr>
              <a:t>integers</a:t>
            </a:r>
            <a:endParaRPr sz="2100">
              <a:solidFill>
                <a:srgbClr val="0070C0"/>
              </a:solidFill>
              <a:latin typeface="Tahoma"/>
              <a:ea typeface="Tahoma"/>
              <a:cs typeface="Tahoma"/>
            </a:endParaRPr>
          </a:p>
        </p:txBody>
      </p:sp>
    </p:spTree>
    <p:extLst>
      <p:ext uri="{BB962C8B-B14F-4D97-AF65-F5344CB8AC3E}">
        <p14:creationId xmlns:p14="http://schemas.microsoft.com/office/powerpoint/2010/main" val="42870680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39276" y="709870"/>
            <a:ext cx="8473478" cy="1097201"/>
          </a:xfrm>
          <a:prstGeom prst="rect">
            <a:avLst/>
          </a:prstGeom>
        </p:spPr>
        <p:txBody>
          <a:bodyPr vert="horz" wrap="square" lIns="0" tIns="10646" rIns="0" bIns="0" rtlCol="0" anchor="t">
            <a:spAutoFit/>
          </a:bodyPr>
          <a:lstStyle/>
          <a:p>
            <a:pPr marL="1805924" marR="4483" algn="r">
              <a:lnSpc>
                <a:spcPct val="100000"/>
              </a:lnSpc>
              <a:spcBef>
                <a:spcPts val="84"/>
              </a:spcBef>
            </a:pPr>
            <a:r>
              <a:rPr sz="3530" spc="-4"/>
              <a:t>INTEGER</a:t>
            </a:r>
            <a:r>
              <a:rPr sz="3530" spc="-79"/>
              <a:t> </a:t>
            </a:r>
            <a:r>
              <a:rPr sz="3530" spc="-4"/>
              <a:t>PROGRAMMING:</a:t>
            </a:r>
            <a:endParaRPr sz="3530"/>
          </a:p>
          <a:p>
            <a:pPr marL="1805924" marR="4483" algn="r">
              <a:lnSpc>
                <a:spcPct val="100000"/>
              </a:lnSpc>
            </a:pPr>
            <a:r>
              <a:rPr sz="3530" spc="-4"/>
              <a:t>FORMULATION</a:t>
            </a:r>
            <a:endParaRPr sz="3530"/>
          </a:p>
        </p:txBody>
      </p:sp>
      <p:sp>
        <p:nvSpPr>
          <p:cNvPr id="3" name="object 3"/>
          <p:cNvSpPr txBox="1"/>
          <p:nvPr/>
        </p:nvSpPr>
        <p:spPr>
          <a:xfrm>
            <a:off x="898216" y="1957846"/>
            <a:ext cx="10514538" cy="3940404"/>
          </a:xfrm>
          <a:prstGeom prst="rect">
            <a:avLst/>
          </a:prstGeom>
        </p:spPr>
        <p:txBody>
          <a:bodyPr vert="horz" wrap="square" lIns="0" tIns="11206" rIns="0" bIns="0" rtlCol="0" anchor="t">
            <a:spAutoFit/>
          </a:bodyPr>
          <a:lstStyle/>
          <a:p>
            <a:pPr marL="313690" indent="-302895">
              <a:lnSpc>
                <a:spcPts val="2118"/>
              </a:lnSpc>
              <a:spcBef>
                <a:spcPts val="88"/>
              </a:spcBef>
              <a:buFont typeface="Wingdings"/>
              <a:buChar char=""/>
              <a:tabLst>
                <a:tab pos="313781" algn="l"/>
                <a:tab pos="314342" algn="l"/>
              </a:tabLst>
            </a:pPr>
            <a:r>
              <a:rPr lang="en-US" sz="1750" b="1" spc="-4">
                <a:solidFill>
                  <a:srgbClr val="231F20"/>
                </a:solidFill>
                <a:latin typeface="Tahoma"/>
                <a:cs typeface="Tahoma"/>
              </a:rPr>
              <a:t>Pure</a:t>
            </a:r>
            <a:r>
              <a:rPr lang="en-US" sz="1750" b="1" spc="-44">
                <a:solidFill>
                  <a:srgbClr val="231F20"/>
                </a:solidFill>
                <a:latin typeface="Tahoma"/>
                <a:cs typeface="Tahoma"/>
              </a:rPr>
              <a:t> </a:t>
            </a:r>
            <a:r>
              <a:rPr lang="en-US" sz="1750" b="1">
                <a:solidFill>
                  <a:srgbClr val="231F20"/>
                </a:solidFill>
                <a:latin typeface="Tahoma"/>
                <a:cs typeface="Tahoma"/>
              </a:rPr>
              <a:t>IL</a:t>
            </a:r>
            <a:r>
              <a:rPr lang="en-US" sz="1750" b="1" spc="-18">
                <a:solidFill>
                  <a:srgbClr val="231F20"/>
                </a:solidFill>
                <a:latin typeface="Tahoma"/>
                <a:cs typeface="Tahoma"/>
              </a:rPr>
              <a:t> </a:t>
            </a:r>
            <a:r>
              <a:rPr lang="en-US" sz="1750" b="1" spc="-4">
                <a:solidFill>
                  <a:srgbClr val="231F20"/>
                </a:solidFill>
                <a:latin typeface="Tahoma"/>
                <a:cs typeface="Tahoma"/>
              </a:rPr>
              <a:t>Problem:</a:t>
            </a:r>
            <a:endParaRPr lang="en-US" sz="1750">
              <a:latin typeface="Tahoma"/>
              <a:ea typeface="Tahoma"/>
              <a:cs typeface="Tahoma"/>
            </a:endParaRPr>
          </a:p>
          <a:p>
            <a:pPr marL="10795" marR="4445" algn="just">
              <a:lnSpc>
                <a:spcPts val="1906"/>
              </a:lnSpc>
              <a:spcBef>
                <a:spcPts val="62"/>
              </a:spcBef>
            </a:pPr>
            <a:r>
              <a:rPr lang="en-US" sz="1588" spc="-4">
                <a:solidFill>
                  <a:srgbClr val="231F20"/>
                </a:solidFill>
                <a:latin typeface="Tahoma"/>
                <a:cs typeface="Tahoma"/>
              </a:rPr>
              <a:t>Northeastern Airlines is considering the purchase of new long-, medium-, </a:t>
            </a:r>
            <a:r>
              <a:rPr lang="en-US" sz="1588">
                <a:solidFill>
                  <a:srgbClr val="231F20"/>
                </a:solidFill>
                <a:latin typeface="Tahoma"/>
                <a:cs typeface="Tahoma"/>
              </a:rPr>
              <a:t>and </a:t>
            </a:r>
            <a:r>
              <a:rPr lang="en-US" sz="1588" spc="-9">
                <a:solidFill>
                  <a:srgbClr val="231F20"/>
                </a:solidFill>
                <a:latin typeface="Tahoma"/>
                <a:cs typeface="Tahoma"/>
              </a:rPr>
              <a:t>short- range </a:t>
            </a:r>
            <a:r>
              <a:rPr lang="en-US" sz="1588">
                <a:solidFill>
                  <a:srgbClr val="231F20"/>
                </a:solidFill>
                <a:latin typeface="Tahoma"/>
                <a:cs typeface="Tahoma"/>
              </a:rPr>
              <a:t>jet </a:t>
            </a:r>
            <a:r>
              <a:rPr lang="en-US" sz="1588" spc="-4">
                <a:solidFill>
                  <a:srgbClr val="231F20"/>
                </a:solidFill>
                <a:latin typeface="Tahoma"/>
                <a:cs typeface="Tahoma"/>
              </a:rPr>
              <a:t>passenger </a:t>
            </a:r>
            <a:r>
              <a:rPr lang="en-US" sz="1588">
                <a:solidFill>
                  <a:srgbClr val="231F20"/>
                </a:solidFill>
                <a:latin typeface="Tahoma"/>
                <a:cs typeface="Tahoma"/>
              </a:rPr>
              <a:t>airplanes. The </a:t>
            </a:r>
            <a:r>
              <a:rPr lang="en-US" sz="1588" spc="-4">
                <a:solidFill>
                  <a:srgbClr val="231F20"/>
                </a:solidFill>
                <a:latin typeface="Tahoma"/>
                <a:cs typeface="Tahoma"/>
              </a:rPr>
              <a:t>purchase price would </a:t>
            </a:r>
            <a:r>
              <a:rPr lang="en-US" sz="1588">
                <a:solidFill>
                  <a:srgbClr val="231F20"/>
                </a:solidFill>
                <a:latin typeface="Tahoma"/>
                <a:cs typeface="Tahoma"/>
              </a:rPr>
              <a:t>be $67 million </a:t>
            </a:r>
            <a:r>
              <a:rPr lang="en-US" sz="1588" spc="-4">
                <a:solidFill>
                  <a:srgbClr val="231F20"/>
                </a:solidFill>
                <a:latin typeface="Tahoma"/>
                <a:cs typeface="Tahoma"/>
              </a:rPr>
              <a:t>for each long- </a:t>
            </a:r>
            <a:r>
              <a:rPr lang="en-US" sz="1588" spc="-9">
                <a:solidFill>
                  <a:srgbClr val="231F20"/>
                </a:solidFill>
                <a:latin typeface="Tahoma"/>
                <a:cs typeface="Tahoma"/>
              </a:rPr>
              <a:t>range</a:t>
            </a:r>
            <a:r>
              <a:rPr lang="en-US" sz="1588">
                <a:solidFill>
                  <a:srgbClr val="231F20"/>
                </a:solidFill>
                <a:latin typeface="Tahoma"/>
                <a:cs typeface="Tahoma"/>
              </a:rPr>
              <a:t> plane, $50</a:t>
            </a:r>
            <a:r>
              <a:rPr lang="en-US" sz="1588" spc="4">
                <a:solidFill>
                  <a:srgbClr val="231F20"/>
                </a:solidFill>
                <a:latin typeface="Tahoma"/>
                <a:cs typeface="Tahoma"/>
              </a:rPr>
              <a:t> </a:t>
            </a:r>
            <a:r>
              <a:rPr lang="en-US" sz="1588" spc="-4">
                <a:solidFill>
                  <a:srgbClr val="231F20"/>
                </a:solidFill>
                <a:latin typeface="Tahoma"/>
                <a:cs typeface="Tahoma"/>
              </a:rPr>
              <a:t>million</a:t>
            </a:r>
            <a:r>
              <a:rPr lang="en-US" sz="1588" spc="9">
                <a:solidFill>
                  <a:srgbClr val="231F20"/>
                </a:solidFill>
                <a:latin typeface="Tahoma"/>
                <a:cs typeface="Tahoma"/>
              </a:rPr>
              <a:t> </a:t>
            </a:r>
            <a:r>
              <a:rPr lang="en-US" sz="1588" spc="-4">
                <a:solidFill>
                  <a:srgbClr val="231F20"/>
                </a:solidFill>
                <a:latin typeface="Tahoma"/>
                <a:cs typeface="Tahoma"/>
              </a:rPr>
              <a:t>for</a:t>
            </a:r>
            <a:r>
              <a:rPr lang="en-US" sz="1588">
                <a:solidFill>
                  <a:srgbClr val="231F20"/>
                </a:solidFill>
                <a:latin typeface="Tahoma"/>
                <a:cs typeface="Tahoma"/>
              </a:rPr>
              <a:t> </a:t>
            </a:r>
            <a:r>
              <a:rPr lang="en-US" sz="1588" spc="-4">
                <a:solidFill>
                  <a:srgbClr val="231F20"/>
                </a:solidFill>
                <a:latin typeface="Tahoma"/>
                <a:cs typeface="Tahoma"/>
              </a:rPr>
              <a:t>each</a:t>
            </a:r>
            <a:r>
              <a:rPr lang="en-US" sz="1588" spc="9">
                <a:solidFill>
                  <a:srgbClr val="231F20"/>
                </a:solidFill>
                <a:latin typeface="Tahoma"/>
                <a:cs typeface="Tahoma"/>
              </a:rPr>
              <a:t> </a:t>
            </a:r>
            <a:r>
              <a:rPr lang="en-US" sz="1588" spc="-4">
                <a:solidFill>
                  <a:srgbClr val="231F20"/>
                </a:solidFill>
                <a:latin typeface="Tahoma"/>
                <a:cs typeface="Tahoma"/>
              </a:rPr>
              <a:t>medium-range</a:t>
            </a:r>
            <a:r>
              <a:rPr lang="en-US" sz="1588" spc="4">
                <a:solidFill>
                  <a:srgbClr val="231F20"/>
                </a:solidFill>
                <a:latin typeface="Tahoma"/>
                <a:cs typeface="Tahoma"/>
              </a:rPr>
              <a:t> </a:t>
            </a:r>
            <a:r>
              <a:rPr lang="en-US" sz="1588" spc="-4">
                <a:solidFill>
                  <a:srgbClr val="231F20"/>
                </a:solidFill>
                <a:latin typeface="Tahoma"/>
                <a:cs typeface="Tahoma"/>
              </a:rPr>
              <a:t>plane,</a:t>
            </a:r>
            <a:r>
              <a:rPr lang="en-US" sz="1588">
                <a:solidFill>
                  <a:srgbClr val="231F20"/>
                </a:solidFill>
                <a:latin typeface="Tahoma"/>
                <a:cs typeface="Tahoma"/>
              </a:rPr>
              <a:t> and</a:t>
            </a:r>
            <a:r>
              <a:rPr lang="en-US" sz="1588" spc="13">
                <a:solidFill>
                  <a:srgbClr val="231F20"/>
                </a:solidFill>
                <a:latin typeface="Tahoma"/>
                <a:cs typeface="Tahoma"/>
              </a:rPr>
              <a:t> </a:t>
            </a:r>
            <a:r>
              <a:rPr lang="en-US" sz="1588">
                <a:solidFill>
                  <a:srgbClr val="231F20"/>
                </a:solidFill>
                <a:latin typeface="Tahoma"/>
                <a:cs typeface="Tahoma"/>
              </a:rPr>
              <a:t>$35</a:t>
            </a:r>
            <a:r>
              <a:rPr lang="en-US" sz="1588" spc="4">
                <a:solidFill>
                  <a:srgbClr val="231F20"/>
                </a:solidFill>
                <a:latin typeface="Tahoma"/>
                <a:cs typeface="Tahoma"/>
              </a:rPr>
              <a:t> </a:t>
            </a:r>
            <a:r>
              <a:rPr lang="en-US" sz="1588">
                <a:solidFill>
                  <a:srgbClr val="231F20"/>
                </a:solidFill>
                <a:latin typeface="Tahoma"/>
                <a:cs typeface="Tahoma"/>
              </a:rPr>
              <a:t>million</a:t>
            </a:r>
            <a:r>
              <a:rPr lang="en-US" sz="1588" spc="9">
                <a:solidFill>
                  <a:srgbClr val="231F20"/>
                </a:solidFill>
                <a:latin typeface="Tahoma"/>
                <a:cs typeface="Tahoma"/>
              </a:rPr>
              <a:t> </a:t>
            </a:r>
            <a:r>
              <a:rPr lang="en-US" sz="1588" spc="-4">
                <a:solidFill>
                  <a:srgbClr val="231F20"/>
                </a:solidFill>
                <a:latin typeface="Tahoma"/>
                <a:cs typeface="Tahoma"/>
              </a:rPr>
              <a:t>for</a:t>
            </a:r>
            <a:r>
              <a:rPr lang="en-US" sz="1588" spc="9">
                <a:solidFill>
                  <a:srgbClr val="231F20"/>
                </a:solidFill>
                <a:latin typeface="Tahoma"/>
                <a:cs typeface="Tahoma"/>
              </a:rPr>
              <a:t> </a:t>
            </a:r>
            <a:r>
              <a:rPr lang="en-US" sz="1588" spc="-4">
                <a:solidFill>
                  <a:srgbClr val="231F20"/>
                </a:solidFill>
                <a:latin typeface="Tahoma"/>
                <a:cs typeface="Tahoma"/>
              </a:rPr>
              <a:t>each</a:t>
            </a:r>
            <a:r>
              <a:rPr lang="en-US" sz="1588" spc="9">
                <a:solidFill>
                  <a:srgbClr val="231F20"/>
                </a:solidFill>
                <a:latin typeface="Tahoma"/>
                <a:cs typeface="Tahoma"/>
              </a:rPr>
              <a:t> </a:t>
            </a:r>
            <a:r>
              <a:rPr lang="en-US" sz="1588" spc="-13">
                <a:solidFill>
                  <a:srgbClr val="231F20"/>
                </a:solidFill>
                <a:latin typeface="Tahoma"/>
                <a:cs typeface="Tahoma"/>
              </a:rPr>
              <a:t>short-</a:t>
            </a:r>
            <a:endParaRPr lang="en-US" sz="1588">
              <a:latin typeface="Tahoma"/>
              <a:ea typeface="Tahoma"/>
              <a:cs typeface="Tahoma"/>
            </a:endParaRPr>
          </a:p>
          <a:p>
            <a:pPr marL="10795" marR="4445" algn="just">
              <a:lnSpc>
                <a:spcPts val="1906"/>
              </a:lnSpc>
              <a:spcBef>
                <a:spcPts val="4"/>
              </a:spcBef>
            </a:pPr>
            <a:r>
              <a:rPr lang="en-US" sz="1588" spc="-9">
                <a:solidFill>
                  <a:srgbClr val="231F20"/>
                </a:solidFill>
                <a:latin typeface="Tahoma"/>
                <a:cs typeface="Tahoma"/>
              </a:rPr>
              <a:t>range </a:t>
            </a:r>
            <a:r>
              <a:rPr lang="en-US" sz="1588">
                <a:solidFill>
                  <a:srgbClr val="231F20"/>
                </a:solidFill>
                <a:latin typeface="Tahoma"/>
                <a:cs typeface="Tahoma"/>
              </a:rPr>
              <a:t>plane. The </a:t>
            </a:r>
            <a:r>
              <a:rPr lang="en-US" sz="1588" spc="-4">
                <a:solidFill>
                  <a:srgbClr val="231F20"/>
                </a:solidFill>
                <a:latin typeface="Tahoma"/>
                <a:cs typeface="Tahoma"/>
              </a:rPr>
              <a:t>board of directors </a:t>
            </a:r>
            <a:r>
              <a:rPr lang="en-US" sz="1588">
                <a:solidFill>
                  <a:srgbClr val="231F20"/>
                </a:solidFill>
                <a:latin typeface="Tahoma"/>
                <a:cs typeface="Tahoma"/>
              </a:rPr>
              <a:t>has </a:t>
            </a:r>
            <a:r>
              <a:rPr lang="en-US" sz="1588" spc="-4">
                <a:solidFill>
                  <a:srgbClr val="231F20"/>
                </a:solidFill>
                <a:latin typeface="Tahoma"/>
                <a:cs typeface="Tahoma"/>
              </a:rPr>
              <a:t>authorized </a:t>
            </a:r>
            <a:r>
              <a:rPr lang="en-US" sz="1588">
                <a:solidFill>
                  <a:srgbClr val="231F20"/>
                </a:solidFill>
                <a:latin typeface="Tahoma"/>
                <a:cs typeface="Tahoma"/>
              </a:rPr>
              <a:t>a maximum </a:t>
            </a:r>
            <a:r>
              <a:rPr lang="en-US" sz="1588" spc="-4">
                <a:solidFill>
                  <a:srgbClr val="231F20"/>
                </a:solidFill>
                <a:latin typeface="Tahoma"/>
                <a:cs typeface="Tahoma"/>
              </a:rPr>
              <a:t>commitment of $1.5 billion for these purchases. </a:t>
            </a:r>
            <a:r>
              <a:rPr lang="en-US" sz="1588" spc="-9">
                <a:solidFill>
                  <a:srgbClr val="231F20"/>
                </a:solidFill>
                <a:latin typeface="Tahoma"/>
                <a:cs typeface="Tahoma"/>
              </a:rPr>
              <a:t>Regardless </a:t>
            </a:r>
            <a:r>
              <a:rPr lang="en-US" sz="1588" spc="-4">
                <a:solidFill>
                  <a:srgbClr val="231F20"/>
                </a:solidFill>
                <a:latin typeface="Tahoma"/>
                <a:cs typeface="Tahoma"/>
              </a:rPr>
              <a:t>of </a:t>
            </a:r>
            <a:r>
              <a:rPr lang="en-US" sz="1588">
                <a:solidFill>
                  <a:srgbClr val="231F20"/>
                </a:solidFill>
                <a:latin typeface="Tahoma"/>
                <a:cs typeface="Tahoma"/>
              </a:rPr>
              <a:t>which </a:t>
            </a:r>
            <a:r>
              <a:rPr lang="en-US" sz="1588" spc="-4">
                <a:solidFill>
                  <a:srgbClr val="231F20"/>
                </a:solidFill>
                <a:latin typeface="Tahoma"/>
                <a:cs typeface="Tahoma"/>
              </a:rPr>
              <a:t>airplanes are purchased, </a:t>
            </a:r>
            <a:r>
              <a:rPr lang="en-US" sz="1588">
                <a:solidFill>
                  <a:srgbClr val="231F20"/>
                </a:solidFill>
                <a:latin typeface="Tahoma"/>
                <a:cs typeface="Tahoma"/>
              </a:rPr>
              <a:t>air </a:t>
            </a:r>
            <a:r>
              <a:rPr lang="en-US" sz="1588" spc="-9">
                <a:solidFill>
                  <a:srgbClr val="231F20"/>
                </a:solidFill>
                <a:latin typeface="Tahoma"/>
                <a:cs typeface="Tahoma"/>
              </a:rPr>
              <a:t>travel </a:t>
            </a:r>
            <a:r>
              <a:rPr lang="en-US" sz="1588" spc="-4">
                <a:solidFill>
                  <a:srgbClr val="231F20"/>
                </a:solidFill>
                <a:latin typeface="Tahoma"/>
                <a:cs typeface="Tahoma"/>
              </a:rPr>
              <a:t>of </a:t>
            </a:r>
            <a:r>
              <a:rPr lang="en-US" sz="1588">
                <a:solidFill>
                  <a:srgbClr val="231F20"/>
                </a:solidFill>
                <a:latin typeface="Tahoma"/>
                <a:cs typeface="Tahoma"/>
              </a:rPr>
              <a:t>all </a:t>
            </a:r>
            <a:r>
              <a:rPr lang="en-US" sz="1588" spc="-4">
                <a:solidFill>
                  <a:srgbClr val="231F20"/>
                </a:solidFill>
                <a:latin typeface="Tahoma"/>
                <a:cs typeface="Tahoma"/>
              </a:rPr>
              <a:t>distances is expected to </a:t>
            </a:r>
            <a:r>
              <a:rPr lang="en-US" sz="1588">
                <a:solidFill>
                  <a:srgbClr val="231F20"/>
                </a:solidFill>
                <a:latin typeface="Tahoma"/>
                <a:cs typeface="Tahoma"/>
              </a:rPr>
              <a:t>be </a:t>
            </a:r>
            <a:r>
              <a:rPr lang="en-US" sz="1588" spc="-4">
                <a:solidFill>
                  <a:srgbClr val="231F20"/>
                </a:solidFill>
                <a:latin typeface="Tahoma"/>
                <a:cs typeface="Tahoma"/>
              </a:rPr>
              <a:t>sufficiently large that these planes would </a:t>
            </a:r>
            <a:r>
              <a:rPr lang="en-US" sz="1588" spc="4">
                <a:solidFill>
                  <a:srgbClr val="231F20"/>
                </a:solidFill>
                <a:latin typeface="Tahoma"/>
                <a:cs typeface="Tahoma"/>
              </a:rPr>
              <a:t>be </a:t>
            </a:r>
            <a:r>
              <a:rPr lang="en-US" sz="1588" spc="-4">
                <a:solidFill>
                  <a:srgbClr val="231F20"/>
                </a:solidFill>
                <a:latin typeface="Tahoma"/>
                <a:cs typeface="Tahoma"/>
              </a:rPr>
              <a:t>utilized </a:t>
            </a:r>
            <a:r>
              <a:rPr lang="en-US" sz="1588">
                <a:solidFill>
                  <a:srgbClr val="231F20"/>
                </a:solidFill>
                <a:latin typeface="Tahoma"/>
                <a:cs typeface="Tahoma"/>
              </a:rPr>
              <a:t>at </a:t>
            </a:r>
            <a:r>
              <a:rPr lang="en-US" sz="1588" spc="-4">
                <a:solidFill>
                  <a:srgbClr val="231F20"/>
                </a:solidFill>
                <a:latin typeface="Tahoma"/>
                <a:cs typeface="Tahoma"/>
              </a:rPr>
              <a:t>essentially </a:t>
            </a:r>
            <a:r>
              <a:rPr lang="en-US" sz="1588">
                <a:solidFill>
                  <a:srgbClr val="231F20"/>
                </a:solidFill>
                <a:latin typeface="Tahoma"/>
                <a:cs typeface="Tahoma"/>
              </a:rPr>
              <a:t>maximum </a:t>
            </a:r>
            <a:r>
              <a:rPr lang="en-US" sz="1588" spc="-18">
                <a:solidFill>
                  <a:srgbClr val="231F20"/>
                </a:solidFill>
                <a:latin typeface="Tahoma"/>
                <a:cs typeface="Tahoma"/>
              </a:rPr>
              <a:t>capacity. </a:t>
            </a:r>
            <a:r>
              <a:rPr lang="en-US" sz="1588">
                <a:solidFill>
                  <a:srgbClr val="231F20"/>
                </a:solidFill>
                <a:latin typeface="Tahoma"/>
                <a:cs typeface="Tahoma"/>
              </a:rPr>
              <a:t>It </a:t>
            </a:r>
            <a:r>
              <a:rPr lang="en-US" sz="1588" spc="-4">
                <a:solidFill>
                  <a:srgbClr val="231F20"/>
                </a:solidFill>
                <a:latin typeface="Tahoma"/>
                <a:cs typeface="Tahoma"/>
              </a:rPr>
              <a:t>is estimated that the net </a:t>
            </a:r>
            <a:r>
              <a:rPr lang="en-US" sz="1588">
                <a:solidFill>
                  <a:srgbClr val="231F20"/>
                </a:solidFill>
                <a:latin typeface="Tahoma"/>
                <a:cs typeface="Tahoma"/>
              </a:rPr>
              <a:t>annual </a:t>
            </a:r>
            <a:r>
              <a:rPr lang="en-US" sz="1588" spc="-4">
                <a:solidFill>
                  <a:srgbClr val="231F20"/>
                </a:solidFill>
                <a:latin typeface="Tahoma"/>
                <a:cs typeface="Tahoma"/>
              </a:rPr>
              <a:t>profit (after capital </a:t>
            </a:r>
            <a:r>
              <a:rPr lang="en-US" sz="1588" spc="-9">
                <a:solidFill>
                  <a:srgbClr val="231F20"/>
                </a:solidFill>
                <a:latin typeface="Tahoma"/>
                <a:cs typeface="Tahoma"/>
              </a:rPr>
              <a:t>recovery</a:t>
            </a:r>
            <a:r>
              <a:rPr lang="en-US" sz="1588" spc="93">
                <a:solidFill>
                  <a:srgbClr val="231F20"/>
                </a:solidFill>
                <a:latin typeface="Tahoma"/>
                <a:cs typeface="Tahoma"/>
              </a:rPr>
              <a:t> </a:t>
            </a:r>
            <a:r>
              <a:rPr lang="en-US" sz="1588" spc="-4">
                <a:solidFill>
                  <a:srgbClr val="231F20"/>
                </a:solidFill>
                <a:latin typeface="Tahoma"/>
                <a:cs typeface="Tahoma"/>
              </a:rPr>
              <a:t>costs</a:t>
            </a:r>
            <a:r>
              <a:rPr lang="en-US" sz="1588" spc="97">
                <a:solidFill>
                  <a:srgbClr val="231F20"/>
                </a:solidFill>
                <a:latin typeface="Tahoma"/>
                <a:cs typeface="Tahoma"/>
              </a:rPr>
              <a:t> </a:t>
            </a:r>
            <a:r>
              <a:rPr lang="en-US" sz="1588" spc="-4">
                <a:solidFill>
                  <a:srgbClr val="231F20"/>
                </a:solidFill>
                <a:latin typeface="Tahoma"/>
                <a:cs typeface="Tahoma"/>
              </a:rPr>
              <a:t>are</a:t>
            </a:r>
            <a:r>
              <a:rPr lang="en-US" sz="1588" spc="93">
                <a:solidFill>
                  <a:srgbClr val="231F20"/>
                </a:solidFill>
                <a:latin typeface="Tahoma"/>
                <a:cs typeface="Tahoma"/>
              </a:rPr>
              <a:t> </a:t>
            </a:r>
            <a:r>
              <a:rPr lang="en-US" sz="1588" spc="-4">
                <a:solidFill>
                  <a:srgbClr val="231F20"/>
                </a:solidFill>
                <a:latin typeface="Tahoma"/>
                <a:cs typeface="Tahoma"/>
              </a:rPr>
              <a:t>subtracted)</a:t>
            </a:r>
            <a:r>
              <a:rPr lang="en-US" sz="1588" spc="97">
                <a:solidFill>
                  <a:srgbClr val="231F20"/>
                </a:solidFill>
                <a:latin typeface="Tahoma"/>
                <a:cs typeface="Tahoma"/>
              </a:rPr>
              <a:t> </a:t>
            </a:r>
            <a:r>
              <a:rPr lang="en-US" sz="1588" spc="-4">
                <a:solidFill>
                  <a:srgbClr val="231F20"/>
                </a:solidFill>
                <a:latin typeface="Tahoma"/>
                <a:cs typeface="Tahoma"/>
              </a:rPr>
              <a:t>would</a:t>
            </a:r>
            <a:r>
              <a:rPr lang="en-US" sz="1588" spc="93">
                <a:solidFill>
                  <a:srgbClr val="231F20"/>
                </a:solidFill>
                <a:latin typeface="Tahoma"/>
                <a:cs typeface="Tahoma"/>
              </a:rPr>
              <a:t> </a:t>
            </a:r>
            <a:r>
              <a:rPr lang="en-US" sz="1588" spc="4">
                <a:solidFill>
                  <a:srgbClr val="231F20"/>
                </a:solidFill>
                <a:latin typeface="Tahoma"/>
                <a:cs typeface="Tahoma"/>
              </a:rPr>
              <a:t>be</a:t>
            </a:r>
            <a:r>
              <a:rPr lang="en-US" sz="1588" spc="88">
                <a:solidFill>
                  <a:srgbClr val="231F20"/>
                </a:solidFill>
                <a:latin typeface="Tahoma"/>
                <a:cs typeface="Tahoma"/>
              </a:rPr>
              <a:t> </a:t>
            </a:r>
            <a:r>
              <a:rPr lang="en-US" sz="1588" spc="-4">
                <a:solidFill>
                  <a:srgbClr val="231F20"/>
                </a:solidFill>
                <a:latin typeface="Tahoma"/>
                <a:cs typeface="Tahoma"/>
              </a:rPr>
              <a:t>$4.2</a:t>
            </a:r>
            <a:r>
              <a:rPr lang="en-US" sz="1588" spc="101">
                <a:solidFill>
                  <a:srgbClr val="231F20"/>
                </a:solidFill>
                <a:latin typeface="Tahoma"/>
                <a:cs typeface="Tahoma"/>
              </a:rPr>
              <a:t> </a:t>
            </a:r>
            <a:r>
              <a:rPr lang="en-US" sz="1588" spc="-4">
                <a:solidFill>
                  <a:srgbClr val="231F20"/>
                </a:solidFill>
                <a:latin typeface="Tahoma"/>
                <a:cs typeface="Tahoma"/>
              </a:rPr>
              <a:t>million</a:t>
            </a:r>
            <a:r>
              <a:rPr lang="en-US" sz="1588" spc="93">
                <a:solidFill>
                  <a:srgbClr val="231F20"/>
                </a:solidFill>
                <a:latin typeface="Tahoma"/>
                <a:cs typeface="Tahoma"/>
              </a:rPr>
              <a:t> </a:t>
            </a:r>
            <a:r>
              <a:rPr lang="en-US" sz="1588" spc="-4">
                <a:solidFill>
                  <a:srgbClr val="231F20"/>
                </a:solidFill>
                <a:latin typeface="Tahoma"/>
                <a:cs typeface="Tahoma"/>
              </a:rPr>
              <a:t>per</a:t>
            </a:r>
            <a:r>
              <a:rPr lang="en-US" sz="1588" spc="97">
                <a:solidFill>
                  <a:srgbClr val="231F20"/>
                </a:solidFill>
                <a:latin typeface="Tahoma"/>
                <a:cs typeface="Tahoma"/>
              </a:rPr>
              <a:t> </a:t>
            </a:r>
            <a:r>
              <a:rPr lang="en-US" sz="1588" spc="-9">
                <a:solidFill>
                  <a:srgbClr val="231F20"/>
                </a:solidFill>
                <a:latin typeface="Tahoma"/>
                <a:cs typeface="Tahoma"/>
              </a:rPr>
              <a:t>long-range</a:t>
            </a:r>
            <a:r>
              <a:rPr lang="en-US" sz="1588" spc="106">
                <a:solidFill>
                  <a:srgbClr val="231F20"/>
                </a:solidFill>
                <a:latin typeface="Tahoma"/>
                <a:cs typeface="Tahoma"/>
              </a:rPr>
              <a:t> </a:t>
            </a:r>
            <a:r>
              <a:rPr lang="en-US" sz="1588">
                <a:solidFill>
                  <a:srgbClr val="231F20"/>
                </a:solidFill>
                <a:latin typeface="Tahoma"/>
                <a:cs typeface="Tahoma"/>
              </a:rPr>
              <a:t>plane,</a:t>
            </a:r>
            <a:r>
              <a:rPr lang="en-US" sz="1588" spc="97">
                <a:solidFill>
                  <a:srgbClr val="231F20"/>
                </a:solidFill>
                <a:latin typeface="Tahoma"/>
                <a:cs typeface="Tahoma"/>
              </a:rPr>
              <a:t> </a:t>
            </a:r>
            <a:r>
              <a:rPr lang="en-US" sz="1588">
                <a:solidFill>
                  <a:srgbClr val="231F20"/>
                </a:solidFill>
                <a:latin typeface="Tahoma"/>
                <a:cs typeface="Tahoma"/>
              </a:rPr>
              <a:t>$3</a:t>
            </a:r>
            <a:r>
              <a:rPr lang="en-US" sz="1588" spc="93">
                <a:solidFill>
                  <a:srgbClr val="231F20"/>
                </a:solidFill>
                <a:latin typeface="Tahoma"/>
                <a:cs typeface="Tahoma"/>
              </a:rPr>
              <a:t> </a:t>
            </a:r>
            <a:r>
              <a:rPr lang="en-US" sz="1588">
                <a:solidFill>
                  <a:srgbClr val="231F20"/>
                </a:solidFill>
                <a:latin typeface="Tahoma"/>
                <a:cs typeface="Tahoma"/>
              </a:rPr>
              <a:t>million</a:t>
            </a:r>
            <a:endParaRPr lang="en-US" sz="1588">
              <a:latin typeface="Tahoma"/>
              <a:ea typeface="Tahoma"/>
              <a:cs typeface="Tahoma"/>
            </a:endParaRPr>
          </a:p>
          <a:p>
            <a:pPr marL="10795" algn="just">
              <a:lnSpc>
                <a:spcPts val="1844"/>
              </a:lnSpc>
            </a:pPr>
            <a:r>
              <a:rPr lang="en-US" sz="1588" spc="-4">
                <a:solidFill>
                  <a:srgbClr val="231F20"/>
                </a:solidFill>
                <a:latin typeface="Tahoma"/>
                <a:cs typeface="Tahoma"/>
              </a:rPr>
              <a:t>per medium-range</a:t>
            </a:r>
            <a:r>
              <a:rPr lang="en-US" sz="1588">
                <a:solidFill>
                  <a:srgbClr val="231F20"/>
                </a:solidFill>
                <a:latin typeface="Tahoma"/>
                <a:cs typeface="Tahoma"/>
              </a:rPr>
              <a:t> </a:t>
            </a:r>
            <a:r>
              <a:rPr lang="en-US" sz="1588" spc="-4">
                <a:solidFill>
                  <a:srgbClr val="231F20"/>
                </a:solidFill>
                <a:latin typeface="Tahoma"/>
                <a:cs typeface="Tahoma"/>
              </a:rPr>
              <a:t>plane,</a:t>
            </a:r>
            <a:r>
              <a:rPr lang="en-US" sz="1588" spc="22">
                <a:solidFill>
                  <a:srgbClr val="231F20"/>
                </a:solidFill>
                <a:latin typeface="Tahoma"/>
                <a:cs typeface="Tahoma"/>
              </a:rPr>
              <a:t> </a:t>
            </a:r>
            <a:r>
              <a:rPr lang="en-US" sz="1588">
                <a:solidFill>
                  <a:srgbClr val="231F20"/>
                </a:solidFill>
                <a:latin typeface="Tahoma"/>
                <a:cs typeface="Tahoma"/>
              </a:rPr>
              <a:t>and</a:t>
            </a:r>
            <a:r>
              <a:rPr lang="en-US" sz="1588" spc="-9">
                <a:solidFill>
                  <a:srgbClr val="231F20"/>
                </a:solidFill>
                <a:latin typeface="Tahoma"/>
                <a:cs typeface="Tahoma"/>
              </a:rPr>
              <a:t> </a:t>
            </a:r>
            <a:r>
              <a:rPr lang="en-US" sz="1588" spc="-4">
                <a:solidFill>
                  <a:srgbClr val="231F20"/>
                </a:solidFill>
                <a:latin typeface="Tahoma"/>
                <a:cs typeface="Tahoma"/>
              </a:rPr>
              <a:t>$2.3</a:t>
            </a:r>
            <a:r>
              <a:rPr lang="en-US" sz="1588" spc="18">
                <a:solidFill>
                  <a:srgbClr val="231F20"/>
                </a:solidFill>
                <a:latin typeface="Tahoma"/>
                <a:cs typeface="Tahoma"/>
              </a:rPr>
              <a:t> </a:t>
            </a:r>
            <a:r>
              <a:rPr lang="en-US" sz="1588" spc="-4">
                <a:solidFill>
                  <a:srgbClr val="231F20"/>
                </a:solidFill>
                <a:latin typeface="Tahoma"/>
                <a:cs typeface="Tahoma"/>
              </a:rPr>
              <a:t>million</a:t>
            </a:r>
            <a:r>
              <a:rPr lang="en-US" sz="1588" spc="26">
                <a:solidFill>
                  <a:srgbClr val="231F20"/>
                </a:solidFill>
                <a:latin typeface="Tahoma"/>
                <a:cs typeface="Tahoma"/>
              </a:rPr>
              <a:t> </a:t>
            </a:r>
            <a:r>
              <a:rPr lang="en-US" sz="1588" spc="-4">
                <a:solidFill>
                  <a:srgbClr val="231F20"/>
                </a:solidFill>
                <a:latin typeface="Tahoma"/>
                <a:cs typeface="Tahoma"/>
              </a:rPr>
              <a:t>per </a:t>
            </a:r>
            <a:r>
              <a:rPr lang="en-US" sz="1588" spc="-9">
                <a:solidFill>
                  <a:srgbClr val="231F20"/>
                </a:solidFill>
                <a:latin typeface="Tahoma"/>
                <a:cs typeface="Tahoma"/>
              </a:rPr>
              <a:t>short-range</a:t>
            </a:r>
            <a:r>
              <a:rPr lang="en-US" sz="1588">
                <a:solidFill>
                  <a:srgbClr val="231F20"/>
                </a:solidFill>
                <a:latin typeface="Tahoma"/>
                <a:cs typeface="Tahoma"/>
              </a:rPr>
              <a:t> plane.</a:t>
            </a:r>
            <a:endParaRPr lang="en-US" sz="1588">
              <a:latin typeface="Tahoma"/>
              <a:ea typeface="Tahoma"/>
              <a:cs typeface="Tahoma"/>
            </a:endParaRPr>
          </a:p>
          <a:p>
            <a:pPr marL="10795" marR="4445" algn="just"/>
            <a:r>
              <a:rPr lang="en-US" sz="1588">
                <a:solidFill>
                  <a:srgbClr val="231F20"/>
                </a:solidFill>
                <a:latin typeface="Tahoma"/>
                <a:cs typeface="Tahoma"/>
              </a:rPr>
              <a:t>It </a:t>
            </a:r>
            <a:r>
              <a:rPr lang="en-US" sz="1588" spc="-4">
                <a:solidFill>
                  <a:srgbClr val="231F20"/>
                </a:solidFill>
                <a:latin typeface="Tahoma"/>
                <a:cs typeface="Tahoma"/>
              </a:rPr>
              <a:t>is predicted that enough </a:t>
            </a:r>
            <a:r>
              <a:rPr lang="en-US" sz="1588" spc="-9">
                <a:solidFill>
                  <a:srgbClr val="231F20"/>
                </a:solidFill>
                <a:latin typeface="Tahoma"/>
                <a:cs typeface="Tahoma"/>
              </a:rPr>
              <a:t>trained </a:t>
            </a:r>
            <a:r>
              <a:rPr lang="en-US" sz="1588" spc="-4">
                <a:solidFill>
                  <a:srgbClr val="231F20"/>
                </a:solidFill>
                <a:latin typeface="Tahoma"/>
                <a:cs typeface="Tahoma"/>
              </a:rPr>
              <a:t>pilots </a:t>
            </a:r>
            <a:r>
              <a:rPr lang="en-US" sz="1588">
                <a:solidFill>
                  <a:srgbClr val="231F20"/>
                </a:solidFill>
                <a:latin typeface="Tahoma"/>
                <a:cs typeface="Tahoma"/>
              </a:rPr>
              <a:t>will be </a:t>
            </a:r>
            <a:r>
              <a:rPr lang="en-US" sz="1588" spc="-4">
                <a:solidFill>
                  <a:srgbClr val="231F20"/>
                </a:solidFill>
                <a:latin typeface="Tahoma"/>
                <a:cs typeface="Tahoma"/>
              </a:rPr>
              <a:t>available </a:t>
            </a:r>
            <a:r>
              <a:rPr lang="en-US" sz="1588">
                <a:solidFill>
                  <a:srgbClr val="231F20"/>
                </a:solidFill>
                <a:latin typeface="Tahoma"/>
                <a:cs typeface="Tahoma"/>
              </a:rPr>
              <a:t>to </a:t>
            </a:r>
            <a:r>
              <a:rPr lang="en-US" sz="1588" spc="-4">
                <a:solidFill>
                  <a:srgbClr val="231F20"/>
                </a:solidFill>
                <a:latin typeface="Tahoma"/>
                <a:cs typeface="Tahoma"/>
              </a:rPr>
              <a:t>the company to </a:t>
            </a:r>
            <a:r>
              <a:rPr lang="en-US" sz="1588" spc="-9">
                <a:solidFill>
                  <a:srgbClr val="231F20"/>
                </a:solidFill>
                <a:latin typeface="Tahoma"/>
                <a:cs typeface="Tahoma"/>
              </a:rPr>
              <a:t>crew </a:t>
            </a:r>
            <a:r>
              <a:rPr lang="en-US" sz="1588" spc="4">
                <a:solidFill>
                  <a:srgbClr val="231F20"/>
                </a:solidFill>
                <a:latin typeface="Tahoma"/>
                <a:cs typeface="Tahoma"/>
              </a:rPr>
              <a:t>30 </a:t>
            </a:r>
            <a:r>
              <a:rPr lang="en-US" sz="1588" spc="-4">
                <a:solidFill>
                  <a:srgbClr val="231F20"/>
                </a:solidFill>
                <a:latin typeface="Tahoma"/>
                <a:cs typeface="Tahoma"/>
              </a:rPr>
              <a:t>new </a:t>
            </a:r>
            <a:r>
              <a:rPr lang="en-US" sz="1588">
                <a:solidFill>
                  <a:srgbClr val="231F20"/>
                </a:solidFill>
                <a:latin typeface="Tahoma"/>
                <a:cs typeface="Tahoma"/>
              </a:rPr>
              <a:t>airplanes. If </a:t>
            </a:r>
            <a:r>
              <a:rPr lang="en-US" sz="1588" spc="-4">
                <a:solidFill>
                  <a:srgbClr val="231F20"/>
                </a:solidFill>
                <a:latin typeface="Tahoma"/>
                <a:cs typeface="Tahoma"/>
              </a:rPr>
              <a:t>only </a:t>
            </a:r>
            <a:r>
              <a:rPr lang="en-US" sz="1588" spc="-9">
                <a:solidFill>
                  <a:srgbClr val="231F20"/>
                </a:solidFill>
                <a:latin typeface="Tahoma"/>
                <a:cs typeface="Tahoma"/>
              </a:rPr>
              <a:t>short-range </a:t>
            </a:r>
            <a:r>
              <a:rPr lang="en-US" sz="1588" spc="-4">
                <a:solidFill>
                  <a:srgbClr val="231F20"/>
                </a:solidFill>
                <a:latin typeface="Tahoma"/>
                <a:cs typeface="Tahoma"/>
              </a:rPr>
              <a:t>planes were purchased, the maintenance facilities would</a:t>
            </a:r>
            <a:r>
              <a:rPr lang="en-US" sz="1588">
                <a:solidFill>
                  <a:srgbClr val="231F20"/>
                </a:solidFill>
                <a:latin typeface="Tahoma"/>
                <a:cs typeface="Tahoma"/>
              </a:rPr>
              <a:t> be able</a:t>
            </a:r>
            <a:r>
              <a:rPr lang="en-US" sz="1588" spc="4">
                <a:solidFill>
                  <a:srgbClr val="231F20"/>
                </a:solidFill>
                <a:latin typeface="Tahoma"/>
                <a:cs typeface="Tahoma"/>
              </a:rPr>
              <a:t> </a:t>
            </a:r>
            <a:r>
              <a:rPr lang="en-US" sz="1588" spc="-4">
                <a:solidFill>
                  <a:srgbClr val="231F20"/>
                </a:solidFill>
                <a:latin typeface="Tahoma"/>
                <a:cs typeface="Tahoma"/>
              </a:rPr>
              <a:t>to </a:t>
            </a:r>
            <a:r>
              <a:rPr lang="en-US" sz="1588">
                <a:solidFill>
                  <a:srgbClr val="231F20"/>
                </a:solidFill>
                <a:latin typeface="Tahoma"/>
                <a:cs typeface="Tahoma"/>
              </a:rPr>
              <a:t>handle 40 </a:t>
            </a:r>
            <a:r>
              <a:rPr lang="en-US" sz="1588" spc="-4">
                <a:solidFill>
                  <a:srgbClr val="231F20"/>
                </a:solidFill>
                <a:latin typeface="Tahoma"/>
                <a:cs typeface="Tahoma"/>
              </a:rPr>
              <a:t>new</a:t>
            </a:r>
            <a:r>
              <a:rPr lang="en-US" sz="1588">
                <a:solidFill>
                  <a:srgbClr val="231F20"/>
                </a:solidFill>
                <a:latin typeface="Tahoma"/>
                <a:cs typeface="Tahoma"/>
              </a:rPr>
              <a:t> </a:t>
            </a:r>
            <a:r>
              <a:rPr lang="en-US" sz="1588" spc="-4">
                <a:solidFill>
                  <a:srgbClr val="231F20"/>
                </a:solidFill>
                <a:latin typeface="Tahoma"/>
                <a:cs typeface="Tahoma"/>
              </a:rPr>
              <a:t>planes. </a:t>
            </a:r>
            <a:r>
              <a:rPr lang="en-US" sz="1588" spc="-31">
                <a:solidFill>
                  <a:srgbClr val="231F20"/>
                </a:solidFill>
                <a:latin typeface="Tahoma"/>
                <a:cs typeface="Tahoma"/>
              </a:rPr>
              <a:t>However,</a:t>
            </a:r>
            <a:r>
              <a:rPr lang="en-US" sz="1588" spc="-26">
                <a:solidFill>
                  <a:srgbClr val="231F20"/>
                </a:solidFill>
                <a:latin typeface="Tahoma"/>
                <a:cs typeface="Tahoma"/>
              </a:rPr>
              <a:t> </a:t>
            </a:r>
            <a:r>
              <a:rPr lang="en-US" sz="1588" spc="-4">
                <a:solidFill>
                  <a:srgbClr val="231F20"/>
                </a:solidFill>
                <a:latin typeface="Tahoma"/>
                <a:cs typeface="Tahoma"/>
              </a:rPr>
              <a:t>each</a:t>
            </a:r>
            <a:r>
              <a:rPr lang="en-US" sz="1588">
                <a:solidFill>
                  <a:srgbClr val="231F20"/>
                </a:solidFill>
                <a:latin typeface="Tahoma"/>
                <a:cs typeface="Tahoma"/>
              </a:rPr>
              <a:t> </a:t>
            </a:r>
            <a:r>
              <a:rPr lang="en-US" sz="1588" spc="-4">
                <a:solidFill>
                  <a:srgbClr val="231F20"/>
                </a:solidFill>
                <a:latin typeface="Tahoma"/>
                <a:cs typeface="Tahoma"/>
              </a:rPr>
              <a:t>medium-range </a:t>
            </a:r>
            <a:r>
              <a:rPr lang="en-US" sz="1588">
                <a:solidFill>
                  <a:srgbClr val="231F20"/>
                </a:solidFill>
                <a:latin typeface="Tahoma"/>
                <a:cs typeface="Tahoma"/>
              </a:rPr>
              <a:t>plane </a:t>
            </a:r>
            <a:r>
              <a:rPr lang="en-US" sz="1588" spc="-4">
                <a:solidFill>
                  <a:srgbClr val="231F20"/>
                </a:solidFill>
                <a:latin typeface="Tahoma"/>
                <a:cs typeface="Tahoma"/>
              </a:rPr>
              <a:t>is equivalent to 4/3 </a:t>
            </a:r>
            <a:r>
              <a:rPr lang="en-US" sz="1588" spc="-9">
                <a:solidFill>
                  <a:srgbClr val="231F20"/>
                </a:solidFill>
                <a:latin typeface="Tahoma"/>
                <a:cs typeface="Tahoma"/>
              </a:rPr>
              <a:t>short-range </a:t>
            </a:r>
            <a:r>
              <a:rPr lang="en-US" sz="1588" spc="-4">
                <a:solidFill>
                  <a:srgbClr val="231F20"/>
                </a:solidFill>
                <a:latin typeface="Tahoma"/>
                <a:cs typeface="Tahoma"/>
              </a:rPr>
              <a:t>planes, </a:t>
            </a:r>
            <a:r>
              <a:rPr lang="en-US" sz="1588">
                <a:solidFill>
                  <a:srgbClr val="231F20"/>
                </a:solidFill>
                <a:latin typeface="Tahoma"/>
                <a:cs typeface="Tahoma"/>
              </a:rPr>
              <a:t>and </a:t>
            </a:r>
            <a:r>
              <a:rPr lang="en-US" sz="1588" spc="-4">
                <a:solidFill>
                  <a:srgbClr val="231F20"/>
                </a:solidFill>
                <a:latin typeface="Tahoma"/>
                <a:cs typeface="Tahoma"/>
              </a:rPr>
              <a:t>each </a:t>
            </a:r>
            <a:r>
              <a:rPr lang="en-US" sz="1588" spc="-9">
                <a:solidFill>
                  <a:srgbClr val="231F20"/>
                </a:solidFill>
                <a:latin typeface="Tahoma"/>
                <a:cs typeface="Tahoma"/>
              </a:rPr>
              <a:t>long-range </a:t>
            </a:r>
            <a:r>
              <a:rPr lang="en-US" sz="1588">
                <a:solidFill>
                  <a:srgbClr val="231F20"/>
                </a:solidFill>
                <a:latin typeface="Tahoma"/>
                <a:cs typeface="Tahoma"/>
              </a:rPr>
              <a:t>plane </a:t>
            </a:r>
            <a:r>
              <a:rPr lang="en-US" sz="1588" spc="-4">
                <a:solidFill>
                  <a:srgbClr val="231F20"/>
                </a:solidFill>
                <a:latin typeface="Tahoma"/>
                <a:cs typeface="Tahoma"/>
              </a:rPr>
              <a:t>is equivalent to 5/3 </a:t>
            </a:r>
            <a:r>
              <a:rPr lang="en-US" sz="1588" spc="-9">
                <a:solidFill>
                  <a:srgbClr val="231F20"/>
                </a:solidFill>
                <a:latin typeface="Tahoma"/>
                <a:cs typeface="Tahoma"/>
              </a:rPr>
              <a:t>short-range </a:t>
            </a:r>
            <a:r>
              <a:rPr lang="en-US" sz="1588" spc="-4">
                <a:solidFill>
                  <a:srgbClr val="231F20"/>
                </a:solidFill>
                <a:latin typeface="Tahoma"/>
                <a:cs typeface="Tahoma"/>
              </a:rPr>
              <a:t>planes</a:t>
            </a:r>
            <a:r>
              <a:rPr lang="en-US" sz="1588" spc="4">
                <a:solidFill>
                  <a:srgbClr val="231F20"/>
                </a:solidFill>
                <a:latin typeface="Tahoma"/>
                <a:cs typeface="Tahoma"/>
              </a:rPr>
              <a:t> </a:t>
            </a:r>
            <a:r>
              <a:rPr lang="en-US" sz="1588" spc="-4">
                <a:solidFill>
                  <a:srgbClr val="231F20"/>
                </a:solidFill>
                <a:latin typeface="Tahoma"/>
                <a:cs typeface="Tahoma"/>
              </a:rPr>
              <a:t>in</a:t>
            </a:r>
            <a:r>
              <a:rPr lang="en-US" sz="1588" spc="4">
                <a:solidFill>
                  <a:srgbClr val="231F20"/>
                </a:solidFill>
                <a:latin typeface="Tahoma"/>
                <a:cs typeface="Tahoma"/>
              </a:rPr>
              <a:t> </a:t>
            </a:r>
            <a:r>
              <a:rPr lang="en-US" sz="1588" spc="-4">
                <a:solidFill>
                  <a:srgbClr val="231F20"/>
                </a:solidFill>
                <a:latin typeface="Tahoma"/>
                <a:cs typeface="Tahoma"/>
              </a:rPr>
              <a:t>terms</a:t>
            </a:r>
            <a:r>
              <a:rPr lang="en-US" sz="1588" spc="4">
                <a:solidFill>
                  <a:srgbClr val="231F20"/>
                </a:solidFill>
                <a:latin typeface="Tahoma"/>
                <a:cs typeface="Tahoma"/>
              </a:rPr>
              <a:t> </a:t>
            </a:r>
            <a:r>
              <a:rPr lang="en-US" sz="1588" spc="-4">
                <a:solidFill>
                  <a:srgbClr val="231F20"/>
                </a:solidFill>
                <a:latin typeface="Tahoma"/>
                <a:cs typeface="Tahoma"/>
              </a:rPr>
              <a:t>of</a:t>
            </a:r>
            <a:r>
              <a:rPr lang="en-US" sz="1588" spc="4">
                <a:solidFill>
                  <a:srgbClr val="231F20"/>
                </a:solidFill>
                <a:latin typeface="Tahoma"/>
                <a:cs typeface="Tahoma"/>
              </a:rPr>
              <a:t> </a:t>
            </a:r>
            <a:r>
              <a:rPr lang="en-US" sz="1588" spc="-4">
                <a:solidFill>
                  <a:srgbClr val="231F20"/>
                </a:solidFill>
                <a:latin typeface="Tahoma"/>
                <a:cs typeface="Tahoma"/>
              </a:rPr>
              <a:t>their</a:t>
            </a:r>
            <a:r>
              <a:rPr lang="en-US" sz="1588">
                <a:solidFill>
                  <a:srgbClr val="231F20"/>
                </a:solidFill>
                <a:latin typeface="Tahoma"/>
                <a:cs typeface="Tahoma"/>
              </a:rPr>
              <a:t> </a:t>
            </a:r>
            <a:r>
              <a:rPr lang="en-US" sz="1588" spc="-4">
                <a:solidFill>
                  <a:srgbClr val="231F20"/>
                </a:solidFill>
                <a:latin typeface="Tahoma"/>
                <a:cs typeface="Tahoma"/>
              </a:rPr>
              <a:t>use of</a:t>
            </a:r>
            <a:r>
              <a:rPr lang="en-US" sz="1588" spc="4">
                <a:solidFill>
                  <a:srgbClr val="231F20"/>
                </a:solidFill>
                <a:latin typeface="Tahoma"/>
                <a:cs typeface="Tahoma"/>
              </a:rPr>
              <a:t> </a:t>
            </a:r>
            <a:r>
              <a:rPr lang="en-US" sz="1588" spc="-4">
                <a:solidFill>
                  <a:srgbClr val="231F20"/>
                </a:solidFill>
                <a:latin typeface="Tahoma"/>
                <a:cs typeface="Tahoma"/>
              </a:rPr>
              <a:t>the maintenance </a:t>
            </a:r>
            <a:r>
              <a:rPr lang="en-US" sz="1588" spc="-9">
                <a:solidFill>
                  <a:srgbClr val="231F20"/>
                </a:solidFill>
                <a:latin typeface="Tahoma"/>
                <a:cs typeface="Tahoma"/>
              </a:rPr>
              <a:t>facilities.</a:t>
            </a:r>
            <a:endParaRPr lang="en-US" sz="1588">
              <a:latin typeface="Tahoma"/>
              <a:ea typeface="Tahoma"/>
              <a:cs typeface="Tahoma"/>
            </a:endParaRPr>
          </a:p>
          <a:p>
            <a:pPr marL="10795" marR="5715" algn="just">
              <a:spcBef>
                <a:spcPts val="4"/>
              </a:spcBef>
            </a:pPr>
            <a:r>
              <a:rPr lang="en-US" sz="1588">
                <a:solidFill>
                  <a:srgbClr val="231F20"/>
                </a:solidFill>
                <a:latin typeface="Tahoma"/>
                <a:cs typeface="Tahoma"/>
              </a:rPr>
              <a:t>The </a:t>
            </a:r>
            <a:r>
              <a:rPr lang="en-US" sz="1588" spc="-4">
                <a:solidFill>
                  <a:srgbClr val="231F20"/>
                </a:solidFill>
                <a:latin typeface="Tahoma"/>
                <a:cs typeface="Tahoma"/>
              </a:rPr>
              <a:t>information given here </a:t>
            </a:r>
            <a:r>
              <a:rPr lang="en-US" sz="1588" spc="-9">
                <a:solidFill>
                  <a:srgbClr val="231F20"/>
                </a:solidFill>
                <a:latin typeface="Tahoma"/>
                <a:cs typeface="Tahoma"/>
              </a:rPr>
              <a:t>was </a:t>
            </a:r>
            <a:r>
              <a:rPr lang="en-US" sz="1588" spc="-4">
                <a:solidFill>
                  <a:srgbClr val="231F20"/>
                </a:solidFill>
                <a:latin typeface="Tahoma"/>
                <a:cs typeface="Tahoma"/>
              </a:rPr>
              <a:t>obtained </a:t>
            </a:r>
            <a:r>
              <a:rPr lang="en-US" sz="1588">
                <a:solidFill>
                  <a:srgbClr val="231F20"/>
                </a:solidFill>
                <a:latin typeface="Tahoma"/>
                <a:cs typeface="Tahoma"/>
              </a:rPr>
              <a:t>by a </a:t>
            </a:r>
            <a:r>
              <a:rPr lang="en-US" sz="1588" spc="-4">
                <a:solidFill>
                  <a:srgbClr val="231F20"/>
                </a:solidFill>
                <a:latin typeface="Tahoma"/>
                <a:cs typeface="Tahoma"/>
              </a:rPr>
              <a:t>preliminary analysis of </a:t>
            </a:r>
            <a:r>
              <a:rPr lang="en-US" sz="1588" spc="-9">
                <a:solidFill>
                  <a:srgbClr val="231F20"/>
                </a:solidFill>
                <a:latin typeface="Tahoma"/>
                <a:cs typeface="Tahoma"/>
              </a:rPr>
              <a:t>the </a:t>
            </a:r>
            <a:r>
              <a:rPr lang="en-US" sz="1588" spc="-4">
                <a:solidFill>
                  <a:srgbClr val="231F20"/>
                </a:solidFill>
                <a:latin typeface="Tahoma"/>
                <a:cs typeface="Tahoma"/>
              </a:rPr>
              <a:t>problem. </a:t>
            </a:r>
            <a:r>
              <a:rPr lang="en-US" sz="1588">
                <a:solidFill>
                  <a:srgbClr val="231F20"/>
                </a:solidFill>
                <a:latin typeface="Tahoma"/>
                <a:cs typeface="Tahoma"/>
              </a:rPr>
              <a:t>A </a:t>
            </a:r>
            <a:r>
              <a:rPr lang="en-US" sz="1588" spc="-4">
                <a:solidFill>
                  <a:srgbClr val="231F20"/>
                </a:solidFill>
                <a:latin typeface="Tahoma"/>
                <a:cs typeface="Tahoma"/>
              </a:rPr>
              <a:t>more </a:t>
            </a:r>
            <a:r>
              <a:rPr lang="en-US" sz="1588">
                <a:solidFill>
                  <a:srgbClr val="231F20"/>
                </a:solidFill>
                <a:latin typeface="Tahoma"/>
                <a:cs typeface="Tahoma"/>
              </a:rPr>
              <a:t>detailed </a:t>
            </a:r>
            <a:r>
              <a:rPr lang="en-US" sz="1588" spc="-4">
                <a:solidFill>
                  <a:srgbClr val="231F20"/>
                </a:solidFill>
                <a:latin typeface="Tahoma"/>
                <a:cs typeface="Tahoma"/>
              </a:rPr>
              <a:t>analysis will </a:t>
            </a:r>
            <a:r>
              <a:rPr lang="en-US" sz="1588" spc="4">
                <a:solidFill>
                  <a:srgbClr val="231F20"/>
                </a:solidFill>
                <a:latin typeface="Tahoma"/>
                <a:cs typeface="Tahoma"/>
              </a:rPr>
              <a:t>be </a:t>
            </a:r>
            <a:r>
              <a:rPr lang="en-US" sz="1588" spc="-4">
                <a:solidFill>
                  <a:srgbClr val="231F20"/>
                </a:solidFill>
                <a:latin typeface="Tahoma"/>
                <a:cs typeface="Tahoma"/>
              </a:rPr>
              <a:t>conducted </a:t>
            </a:r>
            <a:r>
              <a:rPr lang="en-US" sz="1588" spc="-13">
                <a:solidFill>
                  <a:srgbClr val="231F20"/>
                </a:solidFill>
                <a:latin typeface="Tahoma"/>
                <a:cs typeface="Tahoma"/>
              </a:rPr>
              <a:t>subsequently. </a:t>
            </a:r>
            <a:r>
              <a:rPr lang="en-US" sz="1588" spc="-31">
                <a:solidFill>
                  <a:srgbClr val="231F20"/>
                </a:solidFill>
                <a:latin typeface="Tahoma"/>
                <a:cs typeface="Tahoma"/>
              </a:rPr>
              <a:t>However, </a:t>
            </a:r>
            <a:r>
              <a:rPr lang="en-US" sz="1588" spc="-4">
                <a:solidFill>
                  <a:srgbClr val="231F20"/>
                </a:solidFill>
                <a:latin typeface="Tahoma"/>
                <a:cs typeface="Tahoma"/>
              </a:rPr>
              <a:t>using the preceding data </a:t>
            </a:r>
            <a:r>
              <a:rPr lang="en-US" sz="1588">
                <a:solidFill>
                  <a:srgbClr val="231F20"/>
                </a:solidFill>
                <a:latin typeface="Tahoma"/>
                <a:cs typeface="Tahoma"/>
              </a:rPr>
              <a:t>as a </a:t>
            </a:r>
            <a:r>
              <a:rPr lang="en-US" sz="1588" spc="-4">
                <a:solidFill>
                  <a:srgbClr val="231F20"/>
                </a:solidFill>
                <a:latin typeface="Tahoma"/>
                <a:cs typeface="Tahoma"/>
              </a:rPr>
              <a:t>first approximation, </a:t>
            </a:r>
            <a:r>
              <a:rPr lang="en-US" sz="1588">
                <a:solidFill>
                  <a:srgbClr val="231F20"/>
                </a:solidFill>
                <a:latin typeface="Tahoma"/>
                <a:cs typeface="Tahoma"/>
              </a:rPr>
              <a:t>management </a:t>
            </a:r>
            <a:r>
              <a:rPr lang="en-US" sz="1588" spc="-4">
                <a:solidFill>
                  <a:srgbClr val="231F20"/>
                </a:solidFill>
                <a:latin typeface="Tahoma"/>
                <a:cs typeface="Tahoma"/>
              </a:rPr>
              <a:t>wishes to know </a:t>
            </a:r>
            <a:r>
              <a:rPr lang="en-US" sz="1588">
                <a:solidFill>
                  <a:srgbClr val="231F20"/>
                </a:solidFill>
                <a:latin typeface="Tahoma"/>
                <a:cs typeface="Tahoma"/>
              </a:rPr>
              <a:t>how </a:t>
            </a:r>
            <a:r>
              <a:rPr lang="en-US" sz="1588" spc="-4">
                <a:solidFill>
                  <a:srgbClr val="231F20"/>
                </a:solidFill>
                <a:latin typeface="Tahoma"/>
                <a:cs typeface="Tahoma"/>
              </a:rPr>
              <a:t>many planes of each type should </a:t>
            </a:r>
            <a:r>
              <a:rPr lang="en-US" sz="1588">
                <a:solidFill>
                  <a:srgbClr val="231F20"/>
                </a:solidFill>
                <a:latin typeface="Tahoma"/>
                <a:cs typeface="Tahoma"/>
              </a:rPr>
              <a:t>be </a:t>
            </a:r>
            <a:r>
              <a:rPr lang="en-US" sz="1588" spc="-4">
                <a:solidFill>
                  <a:srgbClr val="231F20"/>
                </a:solidFill>
                <a:latin typeface="Tahoma"/>
                <a:cs typeface="Tahoma"/>
              </a:rPr>
              <a:t>purchased</a:t>
            </a:r>
            <a:r>
              <a:rPr lang="en-US" sz="1588" spc="4">
                <a:solidFill>
                  <a:srgbClr val="231F20"/>
                </a:solidFill>
                <a:latin typeface="Tahoma"/>
                <a:cs typeface="Tahoma"/>
              </a:rPr>
              <a:t> </a:t>
            </a:r>
            <a:r>
              <a:rPr lang="en-US" sz="1588" spc="-4">
                <a:solidFill>
                  <a:srgbClr val="231F20"/>
                </a:solidFill>
                <a:latin typeface="Tahoma"/>
                <a:cs typeface="Tahoma"/>
              </a:rPr>
              <a:t>to</a:t>
            </a:r>
            <a:r>
              <a:rPr lang="en-US" sz="1588">
                <a:solidFill>
                  <a:srgbClr val="231F20"/>
                </a:solidFill>
                <a:latin typeface="Tahoma"/>
                <a:cs typeface="Tahoma"/>
              </a:rPr>
              <a:t> </a:t>
            </a:r>
            <a:r>
              <a:rPr lang="en-US" sz="1588" spc="-4">
                <a:solidFill>
                  <a:srgbClr val="231F20"/>
                </a:solidFill>
                <a:latin typeface="Tahoma"/>
                <a:cs typeface="Tahoma"/>
              </a:rPr>
              <a:t>maximize</a:t>
            </a:r>
            <a:r>
              <a:rPr lang="en-US" sz="1588" spc="13">
                <a:solidFill>
                  <a:srgbClr val="231F20"/>
                </a:solidFill>
                <a:latin typeface="Tahoma"/>
                <a:cs typeface="Tahoma"/>
              </a:rPr>
              <a:t> </a:t>
            </a:r>
            <a:r>
              <a:rPr lang="en-US" sz="1588" spc="-4">
                <a:solidFill>
                  <a:srgbClr val="231F20"/>
                </a:solidFill>
                <a:latin typeface="Tahoma"/>
                <a:cs typeface="Tahoma"/>
              </a:rPr>
              <a:t>profit.</a:t>
            </a:r>
            <a:r>
              <a:rPr lang="en-US" sz="1588" spc="18">
                <a:solidFill>
                  <a:srgbClr val="231F20"/>
                </a:solidFill>
                <a:latin typeface="Tahoma"/>
                <a:cs typeface="Tahoma"/>
              </a:rPr>
              <a:t> </a:t>
            </a:r>
            <a:r>
              <a:rPr lang="en-US" sz="1588" spc="-9">
                <a:solidFill>
                  <a:srgbClr val="231F20"/>
                </a:solidFill>
                <a:latin typeface="Tahoma"/>
                <a:cs typeface="Tahoma"/>
              </a:rPr>
              <a:t>Formulate</a:t>
            </a:r>
            <a:r>
              <a:rPr lang="en-US" sz="1588" spc="9">
                <a:solidFill>
                  <a:srgbClr val="231F20"/>
                </a:solidFill>
                <a:latin typeface="Tahoma"/>
                <a:cs typeface="Tahoma"/>
              </a:rPr>
              <a:t> </a:t>
            </a:r>
            <a:r>
              <a:rPr lang="en-US" sz="1588">
                <a:solidFill>
                  <a:srgbClr val="231F20"/>
                </a:solidFill>
                <a:latin typeface="Tahoma"/>
                <a:cs typeface="Tahoma"/>
              </a:rPr>
              <a:t>an</a:t>
            </a:r>
            <a:r>
              <a:rPr lang="en-US" sz="1588" spc="4">
                <a:solidFill>
                  <a:srgbClr val="231F20"/>
                </a:solidFill>
                <a:latin typeface="Tahoma"/>
                <a:cs typeface="Tahoma"/>
              </a:rPr>
              <a:t> </a:t>
            </a:r>
            <a:r>
              <a:rPr lang="en-US" sz="1588">
                <a:solidFill>
                  <a:srgbClr val="231F20"/>
                </a:solidFill>
                <a:latin typeface="Tahoma"/>
                <a:cs typeface="Tahoma"/>
              </a:rPr>
              <a:t>IP</a:t>
            </a:r>
            <a:r>
              <a:rPr lang="en-US" sz="1588" spc="-4">
                <a:solidFill>
                  <a:srgbClr val="231F20"/>
                </a:solidFill>
                <a:latin typeface="Tahoma"/>
                <a:cs typeface="Tahoma"/>
              </a:rPr>
              <a:t> model</a:t>
            </a:r>
            <a:r>
              <a:rPr lang="en-US" sz="1588" spc="9">
                <a:solidFill>
                  <a:srgbClr val="231F20"/>
                </a:solidFill>
                <a:latin typeface="Tahoma"/>
                <a:cs typeface="Tahoma"/>
              </a:rPr>
              <a:t> </a:t>
            </a:r>
            <a:r>
              <a:rPr lang="en-US" sz="1588" spc="-4">
                <a:solidFill>
                  <a:srgbClr val="231F20"/>
                </a:solidFill>
                <a:latin typeface="Tahoma"/>
                <a:cs typeface="Tahoma"/>
              </a:rPr>
              <a:t>for this</a:t>
            </a:r>
            <a:r>
              <a:rPr lang="en-US" sz="1588" spc="-9">
                <a:solidFill>
                  <a:srgbClr val="231F20"/>
                </a:solidFill>
                <a:latin typeface="Tahoma"/>
                <a:cs typeface="Tahoma"/>
              </a:rPr>
              <a:t> </a:t>
            </a:r>
            <a:r>
              <a:rPr lang="en-US" sz="1588" spc="-4">
                <a:solidFill>
                  <a:srgbClr val="231F20"/>
                </a:solidFill>
                <a:latin typeface="Tahoma"/>
                <a:cs typeface="Tahoma"/>
              </a:rPr>
              <a:t>problem.</a:t>
            </a:r>
            <a:endParaRPr sz="1588">
              <a:latin typeface="Tahoma"/>
              <a:ea typeface="Tahoma"/>
              <a:cs typeface="Tahoma"/>
            </a:endParaRPr>
          </a:p>
        </p:txBody>
      </p:sp>
    </p:spTree>
    <p:extLst>
      <p:ext uri="{BB962C8B-B14F-4D97-AF65-F5344CB8AC3E}">
        <p14:creationId xmlns:p14="http://schemas.microsoft.com/office/powerpoint/2010/main" val="1059512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39276" y="709870"/>
            <a:ext cx="8473478" cy="1097201"/>
          </a:xfrm>
          <a:prstGeom prst="rect">
            <a:avLst/>
          </a:prstGeom>
        </p:spPr>
        <p:txBody>
          <a:bodyPr vert="horz" wrap="square" lIns="0" tIns="10646" rIns="0" bIns="0" rtlCol="0" anchor="t">
            <a:spAutoFit/>
          </a:bodyPr>
          <a:lstStyle/>
          <a:p>
            <a:pPr marL="1805924" marR="4483" algn="r">
              <a:lnSpc>
                <a:spcPct val="100000"/>
              </a:lnSpc>
              <a:spcBef>
                <a:spcPts val="84"/>
              </a:spcBef>
            </a:pPr>
            <a:r>
              <a:rPr sz="3530" spc="-4"/>
              <a:t>INTEGER</a:t>
            </a:r>
            <a:r>
              <a:rPr sz="3530" spc="-79"/>
              <a:t> </a:t>
            </a:r>
            <a:r>
              <a:rPr sz="3530" spc="-4"/>
              <a:t>PROGRAMMING:</a:t>
            </a:r>
            <a:endParaRPr sz="3530"/>
          </a:p>
          <a:p>
            <a:pPr marL="1805924" marR="4483" algn="r">
              <a:lnSpc>
                <a:spcPct val="100000"/>
              </a:lnSpc>
            </a:pPr>
            <a:r>
              <a:rPr sz="3530" spc="-4"/>
              <a:t>FORMULATION</a:t>
            </a:r>
            <a:endParaRPr sz="3530"/>
          </a:p>
        </p:txBody>
      </p:sp>
      <p:pic>
        <p:nvPicPr>
          <p:cNvPr id="3" name="object 3"/>
          <p:cNvPicPr/>
          <p:nvPr/>
        </p:nvPicPr>
        <p:blipFill>
          <a:blip r:embed="rId2" cstate="print"/>
          <a:stretch>
            <a:fillRect/>
          </a:stretch>
        </p:blipFill>
        <p:spPr>
          <a:xfrm>
            <a:off x="2331732" y="2055377"/>
            <a:ext cx="8293109" cy="3030668"/>
          </a:xfrm>
          <a:prstGeom prst="rect">
            <a:avLst/>
          </a:prstGeom>
        </p:spPr>
      </p:pic>
      <p:sp>
        <p:nvSpPr>
          <p:cNvPr id="4" name="object 4"/>
          <p:cNvSpPr txBox="1">
            <a:spLocks noGrp="1"/>
          </p:cNvSpPr>
          <p:nvPr>
            <p:ph type="sldNum" sz="quarter" idx="7"/>
          </p:nvPr>
        </p:nvSpPr>
        <p:spPr>
          <a:xfrm>
            <a:off x="8846562" y="6891552"/>
            <a:ext cx="243840" cy="209550"/>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9A9D9F"/>
                </a:solidFill>
                <a:latin typeface="Tahoma"/>
                <a:ea typeface="+mn-ea"/>
                <a:cs typeface="Tahom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1285">
              <a:spcBef>
                <a:spcPts val="100"/>
              </a:spcBef>
            </a:pPr>
            <a:fld id="{81D60167-4931-47E6-BA6A-407CBD079E47}" type="slidenum">
              <a:rPr lang="en-IN" smtClean="0"/>
              <a:pPr marL="121285">
                <a:spcBef>
                  <a:spcPts val="100"/>
                </a:spcBef>
              </a:pPr>
              <a:t>8</a:t>
            </a:fld>
            <a:endParaRPr/>
          </a:p>
        </p:txBody>
      </p:sp>
    </p:spTree>
    <p:extLst>
      <p:ext uri="{BB962C8B-B14F-4D97-AF65-F5344CB8AC3E}">
        <p14:creationId xmlns:p14="http://schemas.microsoft.com/office/powerpoint/2010/main" val="2114198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xfrm>
            <a:off x="8846562" y="6891552"/>
            <a:ext cx="243840" cy="209550"/>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9A9D9F"/>
                </a:solidFill>
                <a:latin typeface="Tahoma"/>
                <a:ea typeface="+mn-ea"/>
                <a:cs typeface="Tahom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1285">
              <a:spcBef>
                <a:spcPts val="100"/>
              </a:spcBef>
            </a:pPr>
            <a:fld id="{81D60167-4931-47E6-BA6A-407CBD079E47}" type="slidenum">
              <a:rPr lang="en-IN" smtClean="0"/>
              <a:pPr marL="121285">
                <a:spcBef>
                  <a:spcPts val="100"/>
                </a:spcBef>
              </a:pPr>
              <a:t>9</a:t>
            </a:fld>
            <a:endParaRPr/>
          </a:p>
        </p:txBody>
      </p:sp>
      <p:sp>
        <p:nvSpPr>
          <p:cNvPr id="2" name="object 2"/>
          <p:cNvSpPr txBox="1">
            <a:spLocks noGrp="1"/>
          </p:cNvSpPr>
          <p:nvPr>
            <p:ph type="title"/>
          </p:nvPr>
        </p:nvSpPr>
        <p:spPr>
          <a:xfrm>
            <a:off x="2939276" y="709870"/>
            <a:ext cx="8473478" cy="1097201"/>
          </a:xfrm>
          <a:prstGeom prst="rect">
            <a:avLst/>
          </a:prstGeom>
        </p:spPr>
        <p:txBody>
          <a:bodyPr vert="horz" wrap="square" lIns="0" tIns="10646" rIns="0" bIns="0" rtlCol="0" anchor="t">
            <a:spAutoFit/>
          </a:bodyPr>
          <a:lstStyle/>
          <a:p>
            <a:pPr marL="1805924" marR="4483" algn="r">
              <a:lnSpc>
                <a:spcPct val="100000"/>
              </a:lnSpc>
              <a:spcBef>
                <a:spcPts val="84"/>
              </a:spcBef>
            </a:pPr>
            <a:r>
              <a:rPr sz="3530" spc="-4"/>
              <a:t>INTEGER</a:t>
            </a:r>
            <a:r>
              <a:rPr sz="3530" spc="-79"/>
              <a:t> </a:t>
            </a:r>
            <a:r>
              <a:rPr sz="3530" spc="-4"/>
              <a:t>PROGRAMMING:</a:t>
            </a:r>
            <a:endParaRPr sz="3530"/>
          </a:p>
          <a:p>
            <a:pPr marL="1805924" marR="4483" algn="r">
              <a:lnSpc>
                <a:spcPct val="100000"/>
              </a:lnSpc>
            </a:pPr>
            <a:r>
              <a:rPr sz="3530" spc="-4"/>
              <a:t>FORMULATION</a:t>
            </a:r>
            <a:endParaRPr sz="3530"/>
          </a:p>
        </p:txBody>
      </p:sp>
      <p:sp>
        <p:nvSpPr>
          <p:cNvPr id="3" name="object 3"/>
          <p:cNvSpPr txBox="1"/>
          <p:nvPr/>
        </p:nvSpPr>
        <p:spPr>
          <a:xfrm>
            <a:off x="1035780" y="1914258"/>
            <a:ext cx="10026032" cy="1369380"/>
          </a:xfrm>
          <a:prstGeom prst="rect">
            <a:avLst/>
          </a:prstGeom>
        </p:spPr>
        <p:txBody>
          <a:bodyPr vert="horz" wrap="square" lIns="0" tIns="11206" rIns="0" bIns="0" rtlCol="0" anchor="t">
            <a:spAutoFit/>
          </a:bodyPr>
          <a:lstStyle/>
          <a:p>
            <a:pPr marL="11430" algn="just">
              <a:spcBef>
                <a:spcPts val="88"/>
              </a:spcBef>
              <a:tabLst>
                <a:tab pos="313781" algn="l"/>
              </a:tabLst>
            </a:pPr>
            <a:r>
              <a:rPr lang="en-US" sz="1750" b="1" spc="-4" dirty="0">
                <a:solidFill>
                  <a:srgbClr val="FF0000"/>
                </a:solidFill>
                <a:latin typeface="Tahoma"/>
                <a:cs typeface="Tahoma"/>
              </a:rPr>
              <a:t>Mixed</a:t>
            </a:r>
            <a:r>
              <a:rPr lang="en-US" sz="1750" b="1" spc="-26" dirty="0">
                <a:solidFill>
                  <a:srgbClr val="FF0000"/>
                </a:solidFill>
                <a:latin typeface="Tahoma"/>
                <a:cs typeface="Tahoma"/>
              </a:rPr>
              <a:t> </a:t>
            </a:r>
            <a:r>
              <a:rPr lang="en-US" sz="1750" b="1" dirty="0">
                <a:solidFill>
                  <a:srgbClr val="FF0000"/>
                </a:solidFill>
                <a:latin typeface="Tahoma"/>
                <a:cs typeface="Tahoma"/>
              </a:rPr>
              <a:t>ILP</a:t>
            </a:r>
            <a:endParaRPr lang="en-US" sz="1750" b="1" spc="-31" dirty="0">
              <a:solidFill>
                <a:srgbClr val="FF0000"/>
              </a:solidFill>
              <a:latin typeface="Tahoma"/>
              <a:ea typeface="Tahoma"/>
              <a:cs typeface="Tahoma"/>
            </a:endParaRPr>
          </a:p>
          <a:p>
            <a:pPr marL="10795" marR="4445" algn="just"/>
            <a:r>
              <a:rPr lang="en-US" sz="1765" dirty="0">
                <a:solidFill>
                  <a:srgbClr val="231F20"/>
                </a:solidFill>
                <a:latin typeface="Tahoma"/>
                <a:cs typeface="Tahoma"/>
              </a:rPr>
              <a:t>A textile </a:t>
            </a:r>
            <a:r>
              <a:rPr lang="en-US" sz="1765" spc="-4" dirty="0">
                <a:solidFill>
                  <a:srgbClr val="231F20"/>
                </a:solidFill>
                <a:latin typeface="Tahoma"/>
                <a:cs typeface="Tahoma"/>
              </a:rPr>
              <a:t>company </a:t>
            </a:r>
            <a:r>
              <a:rPr lang="en-US" sz="1765" dirty="0">
                <a:solidFill>
                  <a:srgbClr val="231F20"/>
                </a:solidFill>
                <a:latin typeface="Tahoma"/>
                <a:cs typeface="Tahoma"/>
              </a:rPr>
              <a:t>can </a:t>
            </a:r>
            <a:r>
              <a:rPr lang="en-US" sz="1765" spc="-4" dirty="0">
                <a:solidFill>
                  <a:srgbClr val="231F20"/>
                </a:solidFill>
                <a:latin typeface="Tahoma"/>
                <a:cs typeface="Tahoma"/>
              </a:rPr>
              <a:t>use </a:t>
            </a:r>
            <a:r>
              <a:rPr lang="en-US" sz="1765" spc="-9" dirty="0">
                <a:solidFill>
                  <a:srgbClr val="231F20"/>
                </a:solidFill>
                <a:latin typeface="Tahoma"/>
                <a:cs typeface="Tahoma"/>
              </a:rPr>
              <a:t>any </a:t>
            </a:r>
            <a:r>
              <a:rPr lang="en-US" sz="1765" dirty="0">
                <a:solidFill>
                  <a:srgbClr val="231F20"/>
                </a:solidFill>
                <a:latin typeface="Tahoma"/>
                <a:cs typeface="Tahoma"/>
              </a:rPr>
              <a:t>or all of </a:t>
            </a:r>
            <a:r>
              <a:rPr lang="en-US" sz="1765" spc="-4" dirty="0">
                <a:solidFill>
                  <a:srgbClr val="231F20"/>
                </a:solidFill>
                <a:latin typeface="Tahoma"/>
                <a:cs typeface="Tahoma"/>
              </a:rPr>
              <a:t>three </a:t>
            </a:r>
            <a:r>
              <a:rPr lang="en-US" sz="1765" spc="-9" dirty="0">
                <a:solidFill>
                  <a:srgbClr val="231F20"/>
                </a:solidFill>
                <a:latin typeface="Tahoma"/>
                <a:cs typeface="Tahoma"/>
              </a:rPr>
              <a:t>different </a:t>
            </a:r>
            <a:r>
              <a:rPr lang="en-US" sz="1765" spc="-4" dirty="0">
                <a:solidFill>
                  <a:srgbClr val="231F20"/>
                </a:solidFill>
                <a:latin typeface="Tahoma"/>
                <a:cs typeface="Tahoma"/>
              </a:rPr>
              <a:t>processes </a:t>
            </a:r>
            <a:r>
              <a:rPr lang="en-US" sz="1765" spc="-13" dirty="0">
                <a:solidFill>
                  <a:srgbClr val="231F20"/>
                </a:solidFill>
                <a:latin typeface="Tahoma"/>
                <a:cs typeface="Tahoma"/>
              </a:rPr>
              <a:t>for </a:t>
            </a:r>
            <a:r>
              <a:rPr lang="en-US" sz="1765" spc="-4" dirty="0">
                <a:solidFill>
                  <a:srgbClr val="231F20"/>
                </a:solidFill>
                <a:latin typeface="Tahoma"/>
                <a:cs typeface="Tahoma"/>
              </a:rPr>
              <a:t>weaving in standard white polyester fabric. Each </a:t>
            </a:r>
            <a:r>
              <a:rPr lang="en-US" sz="1765" dirty="0">
                <a:solidFill>
                  <a:srgbClr val="231F20"/>
                </a:solidFill>
                <a:latin typeface="Tahoma"/>
                <a:cs typeface="Tahoma"/>
              </a:rPr>
              <a:t>of </a:t>
            </a:r>
            <a:r>
              <a:rPr lang="en-US" sz="1765" spc="-9" dirty="0">
                <a:solidFill>
                  <a:srgbClr val="231F20"/>
                </a:solidFill>
                <a:latin typeface="Tahoma"/>
                <a:cs typeface="Tahoma"/>
              </a:rPr>
              <a:t>these </a:t>
            </a:r>
            <a:r>
              <a:rPr lang="en-US" sz="1765" spc="-4" dirty="0">
                <a:solidFill>
                  <a:srgbClr val="231F20"/>
                </a:solidFill>
                <a:latin typeface="Tahoma"/>
                <a:cs typeface="Tahoma"/>
              </a:rPr>
              <a:t>production </a:t>
            </a:r>
            <a:r>
              <a:rPr lang="en-US" sz="1765" spc="-9" dirty="0">
                <a:solidFill>
                  <a:srgbClr val="231F20"/>
                </a:solidFill>
                <a:latin typeface="Tahoma"/>
                <a:cs typeface="Tahoma"/>
              </a:rPr>
              <a:t>processes </a:t>
            </a:r>
            <a:r>
              <a:rPr lang="en-US" sz="1765" spc="-4" dirty="0">
                <a:solidFill>
                  <a:srgbClr val="231F20"/>
                </a:solidFill>
                <a:latin typeface="Tahoma"/>
                <a:cs typeface="Tahoma"/>
              </a:rPr>
              <a:t>has </a:t>
            </a:r>
            <a:r>
              <a:rPr lang="en-US" sz="1765" dirty="0">
                <a:solidFill>
                  <a:srgbClr val="231F20"/>
                </a:solidFill>
                <a:latin typeface="Tahoma"/>
                <a:cs typeface="Tahoma"/>
              </a:rPr>
              <a:t>a </a:t>
            </a:r>
            <a:r>
              <a:rPr lang="en-US" sz="1765" spc="-4" dirty="0">
                <a:solidFill>
                  <a:srgbClr val="231F20"/>
                </a:solidFill>
                <a:latin typeface="Tahoma"/>
                <a:cs typeface="Tahoma"/>
              </a:rPr>
              <a:t>weaving machine setup cost </a:t>
            </a:r>
            <a:r>
              <a:rPr lang="en-US" sz="1765" dirty="0">
                <a:solidFill>
                  <a:srgbClr val="231F20"/>
                </a:solidFill>
                <a:latin typeface="Tahoma"/>
                <a:cs typeface="Tahoma"/>
              </a:rPr>
              <a:t>and </a:t>
            </a:r>
            <a:r>
              <a:rPr lang="en-US" sz="1765" spc="-9" dirty="0">
                <a:solidFill>
                  <a:srgbClr val="231F20"/>
                </a:solidFill>
                <a:latin typeface="Tahoma"/>
                <a:cs typeface="Tahoma"/>
              </a:rPr>
              <a:t>per </a:t>
            </a:r>
            <a:r>
              <a:rPr lang="en-US" sz="1765" spc="-4" dirty="0">
                <a:solidFill>
                  <a:srgbClr val="231F20"/>
                </a:solidFill>
                <a:latin typeface="Tahoma"/>
                <a:cs typeface="Tahoma"/>
              </a:rPr>
              <a:t>square-meter processing cost. These costs and </a:t>
            </a:r>
            <a:r>
              <a:rPr lang="en-US" sz="1765" dirty="0">
                <a:solidFill>
                  <a:srgbClr val="231F20"/>
                </a:solidFill>
                <a:latin typeface="Tahoma"/>
                <a:cs typeface="Tahoma"/>
              </a:rPr>
              <a:t>the </a:t>
            </a:r>
            <a:r>
              <a:rPr lang="en-US" sz="1765" spc="-4" dirty="0">
                <a:solidFill>
                  <a:srgbClr val="231F20"/>
                </a:solidFill>
                <a:latin typeface="Tahoma"/>
                <a:cs typeface="Tahoma"/>
              </a:rPr>
              <a:t>capacities </a:t>
            </a:r>
            <a:r>
              <a:rPr lang="en-US" sz="1765" dirty="0">
                <a:solidFill>
                  <a:srgbClr val="231F20"/>
                </a:solidFill>
                <a:latin typeface="Tahoma"/>
                <a:cs typeface="Tahoma"/>
              </a:rPr>
              <a:t>of </a:t>
            </a:r>
            <a:r>
              <a:rPr lang="en-US" sz="1765" spc="-4" dirty="0">
                <a:solidFill>
                  <a:srgbClr val="231F20"/>
                </a:solidFill>
                <a:latin typeface="Tahoma"/>
                <a:cs typeface="Tahoma"/>
              </a:rPr>
              <a:t>each </a:t>
            </a:r>
            <a:r>
              <a:rPr lang="en-US" sz="1765" dirty="0">
                <a:solidFill>
                  <a:srgbClr val="231F20"/>
                </a:solidFill>
                <a:latin typeface="Tahoma"/>
                <a:cs typeface="Tahoma"/>
              </a:rPr>
              <a:t>of the </a:t>
            </a:r>
            <a:r>
              <a:rPr lang="en-US" sz="1765" spc="-9" dirty="0">
                <a:solidFill>
                  <a:srgbClr val="231F20"/>
                </a:solidFill>
                <a:latin typeface="Tahoma"/>
                <a:cs typeface="Tahoma"/>
              </a:rPr>
              <a:t>three </a:t>
            </a:r>
            <a:r>
              <a:rPr lang="en-US" sz="1765" spc="-4" dirty="0">
                <a:solidFill>
                  <a:srgbClr val="231F20"/>
                </a:solidFill>
                <a:latin typeface="Tahoma"/>
                <a:cs typeface="Tahoma"/>
              </a:rPr>
              <a:t>production </a:t>
            </a:r>
            <a:r>
              <a:rPr lang="en-US" sz="1765" spc="-9" dirty="0">
                <a:solidFill>
                  <a:srgbClr val="231F20"/>
                </a:solidFill>
                <a:latin typeface="Tahoma"/>
                <a:cs typeface="Tahoma"/>
              </a:rPr>
              <a:t>processes </a:t>
            </a:r>
            <a:r>
              <a:rPr lang="en-US" sz="1765" spc="-4" dirty="0">
                <a:solidFill>
                  <a:srgbClr val="231F20"/>
                </a:solidFill>
                <a:latin typeface="Tahoma"/>
                <a:cs typeface="Tahoma"/>
              </a:rPr>
              <a:t>are shown </a:t>
            </a:r>
            <a:r>
              <a:rPr lang="en-US" sz="1765" dirty="0">
                <a:solidFill>
                  <a:srgbClr val="231F20"/>
                </a:solidFill>
                <a:latin typeface="Tahoma"/>
                <a:cs typeface="Tahoma"/>
              </a:rPr>
              <a:t>below:</a:t>
            </a:r>
            <a:endParaRPr sz="1765" dirty="0">
              <a:latin typeface="Tahoma"/>
              <a:ea typeface="Tahoma"/>
              <a:cs typeface="Tahoma"/>
            </a:endParaRPr>
          </a:p>
        </p:txBody>
      </p:sp>
      <p:graphicFrame>
        <p:nvGraphicFramePr>
          <p:cNvPr id="4" name="object 4"/>
          <p:cNvGraphicFramePr>
            <a:graphicFrameLocks noGrp="1"/>
          </p:cNvGraphicFramePr>
          <p:nvPr>
            <p:extLst>
              <p:ext uri="{D42A27DB-BD31-4B8C-83A1-F6EECF244321}">
                <p14:modId xmlns:p14="http://schemas.microsoft.com/office/powerpoint/2010/main" val="583669419"/>
              </p:ext>
            </p:extLst>
          </p:nvPr>
        </p:nvGraphicFramePr>
        <p:xfrm>
          <a:off x="1100516" y="3390825"/>
          <a:ext cx="9888466" cy="1788456"/>
        </p:xfrm>
        <a:graphic>
          <a:graphicData uri="http://schemas.openxmlformats.org/drawingml/2006/table">
            <a:tbl>
              <a:tblPr firstRow="1" bandRow="1">
                <a:tableStyleId>{2D5ABB26-0587-4C30-8999-92F81FD0307C}</a:tableStyleId>
              </a:tblPr>
              <a:tblGrid>
                <a:gridCol w="1606876">
                  <a:extLst>
                    <a:ext uri="{9D8B030D-6E8A-4147-A177-3AD203B41FA5}">
                      <a16:colId xmlns:a16="http://schemas.microsoft.com/office/drawing/2014/main" val="20000"/>
                    </a:ext>
                  </a:extLst>
                </a:gridCol>
                <a:gridCol w="3337356">
                  <a:extLst>
                    <a:ext uri="{9D8B030D-6E8A-4147-A177-3AD203B41FA5}">
                      <a16:colId xmlns:a16="http://schemas.microsoft.com/office/drawing/2014/main" val="20001"/>
                    </a:ext>
                  </a:extLst>
                </a:gridCol>
                <a:gridCol w="2472117">
                  <a:extLst>
                    <a:ext uri="{9D8B030D-6E8A-4147-A177-3AD203B41FA5}">
                      <a16:colId xmlns:a16="http://schemas.microsoft.com/office/drawing/2014/main" val="20002"/>
                    </a:ext>
                  </a:extLst>
                </a:gridCol>
                <a:gridCol w="2472117">
                  <a:extLst>
                    <a:ext uri="{9D8B030D-6E8A-4147-A177-3AD203B41FA5}">
                      <a16:colId xmlns:a16="http://schemas.microsoft.com/office/drawing/2014/main" val="20003"/>
                    </a:ext>
                  </a:extLst>
                </a:gridCol>
              </a:tblGrid>
              <a:tr h="806823">
                <a:tc>
                  <a:txBody>
                    <a:bodyPr/>
                    <a:lstStyle/>
                    <a:p>
                      <a:pPr marL="219710" marR="212090" indent="19685">
                        <a:lnSpc>
                          <a:spcPct val="100000"/>
                        </a:lnSpc>
                        <a:spcBef>
                          <a:spcPts val="350"/>
                        </a:spcBef>
                      </a:pPr>
                      <a:r>
                        <a:rPr lang="en-US" sz="1600" b="1" spc="-5" dirty="0">
                          <a:solidFill>
                            <a:srgbClr val="FFFFFF"/>
                          </a:solidFill>
                          <a:latin typeface="Tahoma"/>
                          <a:cs typeface="Tahoma"/>
                        </a:rPr>
                        <a:t>Process </a:t>
                      </a:r>
                      <a:r>
                        <a:rPr lang="en-US" sz="1600" b="1" spc="5" dirty="0">
                          <a:solidFill>
                            <a:srgbClr val="FFFFFF"/>
                          </a:solidFill>
                          <a:latin typeface="Tahoma"/>
                          <a:cs typeface="Tahoma"/>
                        </a:rPr>
                        <a:t>N</a:t>
                      </a:r>
                      <a:r>
                        <a:rPr lang="en-US" sz="1600" b="1" spc="-5" dirty="0">
                          <a:solidFill>
                            <a:srgbClr val="FFFFFF"/>
                          </a:solidFill>
                          <a:latin typeface="Tahoma"/>
                          <a:cs typeface="Tahoma"/>
                        </a:rPr>
                        <a:t>u</a:t>
                      </a:r>
                      <a:r>
                        <a:rPr lang="en-US" sz="1600" b="1" dirty="0">
                          <a:solidFill>
                            <a:srgbClr val="FFFFFF"/>
                          </a:solidFill>
                          <a:latin typeface="Tahoma"/>
                          <a:cs typeface="Tahoma"/>
                        </a:rPr>
                        <a:t>m</a:t>
                      </a:r>
                      <a:r>
                        <a:rPr lang="en-US" sz="1600" b="1" spc="5" dirty="0">
                          <a:solidFill>
                            <a:srgbClr val="FFFFFF"/>
                          </a:solidFill>
                          <a:latin typeface="Tahoma"/>
                          <a:cs typeface="Tahoma"/>
                        </a:rPr>
                        <a:t>b</a:t>
                      </a:r>
                      <a:r>
                        <a:rPr lang="en-US" sz="1600" b="1" dirty="0">
                          <a:solidFill>
                            <a:srgbClr val="FFFFFF"/>
                          </a:solidFill>
                          <a:latin typeface="Tahoma"/>
                          <a:cs typeface="Tahoma"/>
                        </a:rPr>
                        <a:t>er</a:t>
                      </a:r>
                      <a:endParaRPr sz="1600" dirty="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marL="635" algn="ctr">
                        <a:lnSpc>
                          <a:spcPct val="100000"/>
                        </a:lnSpc>
                        <a:spcBef>
                          <a:spcPts val="350"/>
                        </a:spcBef>
                      </a:pPr>
                      <a:r>
                        <a:rPr sz="1600" b="1" spc="-5">
                          <a:solidFill>
                            <a:srgbClr val="FFFFFF"/>
                          </a:solidFill>
                          <a:latin typeface="Tahoma"/>
                          <a:cs typeface="Tahoma"/>
                        </a:rPr>
                        <a:t>Weaving</a:t>
                      </a:r>
                      <a:r>
                        <a:rPr sz="1600" b="1" spc="-35">
                          <a:solidFill>
                            <a:srgbClr val="FFFFFF"/>
                          </a:solidFill>
                          <a:latin typeface="Tahoma"/>
                          <a:cs typeface="Tahoma"/>
                        </a:rPr>
                        <a:t> </a:t>
                      </a:r>
                      <a:r>
                        <a:rPr sz="1600" b="1" spc="-5">
                          <a:solidFill>
                            <a:srgbClr val="FFFFFF"/>
                          </a:solidFill>
                          <a:latin typeface="Tahoma"/>
                          <a:cs typeface="Tahoma"/>
                        </a:rPr>
                        <a:t>machine</a:t>
                      </a:r>
                      <a:r>
                        <a:rPr sz="1600" b="1" spc="-30">
                          <a:solidFill>
                            <a:srgbClr val="FFFFFF"/>
                          </a:solidFill>
                          <a:latin typeface="Tahoma"/>
                          <a:cs typeface="Tahoma"/>
                        </a:rPr>
                        <a:t> </a:t>
                      </a:r>
                      <a:r>
                        <a:rPr lang="en-US" sz="1600" b="1" spc="-5">
                          <a:solidFill>
                            <a:srgbClr val="FFFFFF"/>
                          </a:solidFill>
                          <a:latin typeface="Tahoma"/>
                          <a:cs typeface="Tahoma"/>
                        </a:rPr>
                        <a:t>Setu</a:t>
                      </a:r>
                      <a:r>
                        <a:rPr lang="en-US" sz="1600" b="1">
                          <a:solidFill>
                            <a:srgbClr val="FFFFFF"/>
                          </a:solidFill>
                          <a:latin typeface="Tahoma"/>
                          <a:cs typeface="Tahoma"/>
                        </a:rPr>
                        <a:t>p</a:t>
                      </a:r>
                      <a:r>
                        <a:rPr sz="1600" b="1" spc="-45">
                          <a:solidFill>
                            <a:srgbClr val="FFFFFF"/>
                          </a:solidFill>
                          <a:latin typeface="Tahoma"/>
                          <a:cs typeface="Tahoma"/>
                        </a:rPr>
                        <a:t> </a:t>
                      </a:r>
                      <a:r>
                        <a:rPr sz="1600" b="1" spc="-5">
                          <a:solidFill>
                            <a:srgbClr val="FFFFFF"/>
                          </a:solidFill>
                          <a:latin typeface="Tahoma"/>
                          <a:cs typeface="Tahoma"/>
                        </a:rPr>
                        <a:t>cost</a:t>
                      </a:r>
                      <a:r>
                        <a:rPr sz="1600" b="1" spc="-25">
                          <a:solidFill>
                            <a:srgbClr val="FFFFFF"/>
                          </a:solidFill>
                          <a:latin typeface="Tahoma"/>
                          <a:cs typeface="Tahoma"/>
                        </a:rPr>
                        <a:t> </a:t>
                      </a:r>
                      <a:r>
                        <a:rPr sz="1600" b="1" spc="-5">
                          <a:solidFill>
                            <a:srgbClr val="FFFFFF"/>
                          </a:solidFill>
                          <a:latin typeface="Tahoma"/>
                          <a:cs typeface="Tahoma"/>
                        </a:rPr>
                        <a:t>(Rs.)</a:t>
                      </a:r>
                      <a:endParaRPr lang="en-US" sz="160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marL="766445" marR="133350" indent="-624840">
                        <a:lnSpc>
                          <a:spcPct val="100000"/>
                        </a:lnSpc>
                        <a:spcBef>
                          <a:spcPts val="350"/>
                        </a:spcBef>
                      </a:pPr>
                      <a:r>
                        <a:rPr lang="en-US" sz="1600" b="1" spc="-5">
                          <a:solidFill>
                            <a:srgbClr val="FFFFFF"/>
                          </a:solidFill>
                          <a:latin typeface="Tahoma"/>
                          <a:cs typeface="Tahoma"/>
                        </a:rPr>
                        <a:t>Processing</a:t>
                      </a:r>
                      <a:r>
                        <a:rPr lang="en-US" sz="1600" b="1" spc="-80">
                          <a:solidFill>
                            <a:srgbClr val="FFFFFF"/>
                          </a:solidFill>
                          <a:latin typeface="Tahoma"/>
                          <a:cs typeface="Tahoma"/>
                        </a:rPr>
                        <a:t> </a:t>
                      </a:r>
                      <a:r>
                        <a:rPr lang="en-US" sz="1600" b="1" spc="-5">
                          <a:solidFill>
                            <a:srgbClr val="FFFFFF"/>
                          </a:solidFill>
                          <a:latin typeface="Tahoma"/>
                          <a:cs typeface="Tahoma"/>
                        </a:rPr>
                        <a:t>Cost (Rs.)</a:t>
                      </a:r>
                      <a:endParaRPr sz="160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marL="176530" marR="167640" algn="ctr">
                        <a:lnSpc>
                          <a:spcPct val="100000"/>
                        </a:lnSpc>
                        <a:spcBef>
                          <a:spcPts val="350"/>
                        </a:spcBef>
                      </a:pPr>
                      <a:r>
                        <a:rPr lang="en-US" sz="1600" b="1" spc="-5" dirty="0">
                          <a:solidFill>
                            <a:srgbClr val="FFFFFF"/>
                          </a:solidFill>
                          <a:latin typeface="Tahoma"/>
                          <a:cs typeface="Tahoma"/>
                        </a:rPr>
                        <a:t>Maximum</a:t>
                      </a:r>
                      <a:r>
                        <a:rPr lang="en-US" sz="1600" b="1" spc="-100" dirty="0">
                          <a:solidFill>
                            <a:srgbClr val="FFFFFF"/>
                          </a:solidFill>
                          <a:latin typeface="Tahoma"/>
                          <a:cs typeface="Tahoma"/>
                        </a:rPr>
                        <a:t> </a:t>
                      </a:r>
                      <a:r>
                        <a:rPr lang="en-US" sz="1600" b="1" spc="-5" dirty="0">
                          <a:solidFill>
                            <a:srgbClr val="FFFFFF"/>
                          </a:solidFill>
                          <a:latin typeface="Tahoma"/>
                          <a:cs typeface="Tahoma"/>
                        </a:rPr>
                        <a:t>daily capacity (Sq. meter)</a:t>
                      </a:r>
                      <a:endParaRPr sz="1600" dirty="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extLst>
                  <a:ext uri="{0D108BD9-81ED-4DB2-BD59-A6C34878D82A}">
                    <a16:rowId xmlns:a16="http://schemas.microsoft.com/office/drawing/2014/main" val="10000"/>
                  </a:ext>
                </a:extLst>
              </a:tr>
              <a:tr h="327206">
                <a:tc>
                  <a:txBody>
                    <a:bodyPr/>
                    <a:lstStyle/>
                    <a:p>
                      <a:pPr algn="ctr">
                        <a:lnSpc>
                          <a:spcPct val="100000"/>
                        </a:lnSpc>
                        <a:spcBef>
                          <a:spcPts val="355"/>
                        </a:spcBef>
                      </a:pPr>
                      <a:r>
                        <a:rPr sz="1600">
                          <a:solidFill>
                            <a:srgbClr val="231F20"/>
                          </a:solidFill>
                          <a:latin typeface="Tahoma"/>
                          <a:cs typeface="Tahoma"/>
                        </a:rPr>
                        <a:t>1</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tc>
                  <a:txBody>
                    <a:bodyPr/>
                    <a:lstStyle/>
                    <a:p>
                      <a:pPr algn="ctr">
                        <a:lnSpc>
                          <a:spcPct val="100000"/>
                        </a:lnSpc>
                        <a:spcBef>
                          <a:spcPts val="355"/>
                        </a:spcBef>
                      </a:pPr>
                      <a:r>
                        <a:rPr sz="1600">
                          <a:solidFill>
                            <a:srgbClr val="231F20"/>
                          </a:solidFill>
                          <a:latin typeface="Tahoma"/>
                          <a:cs typeface="Tahoma"/>
                        </a:rPr>
                        <a:t>150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tc>
                  <a:txBody>
                    <a:bodyPr/>
                    <a:lstStyle/>
                    <a:p>
                      <a:pPr marL="1905" algn="ctr">
                        <a:lnSpc>
                          <a:spcPct val="100000"/>
                        </a:lnSpc>
                        <a:spcBef>
                          <a:spcPts val="355"/>
                        </a:spcBef>
                      </a:pPr>
                      <a:r>
                        <a:rPr sz="1600">
                          <a:solidFill>
                            <a:srgbClr val="231F20"/>
                          </a:solidFill>
                          <a:latin typeface="Tahoma"/>
                          <a:cs typeface="Tahoma"/>
                        </a:rPr>
                        <a:t>15</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tc>
                  <a:txBody>
                    <a:bodyPr/>
                    <a:lstStyle/>
                    <a:p>
                      <a:pPr marL="798830">
                        <a:lnSpc>
                          <a:spcPct val="100000"/>
                        </a:lnSpc>
                        <a:spcBef>
                          <a:spcPts val="355"/>
                        </a:spcBef>
                      </a:pPr>
                      <a:r>
                        <a:rPr sz="1600">
                          <a:solidFill>
                            <a:srgbClr val="231F20"/>
                          </a:solidFill>
                          <a:latin typeface="Tahoma"/>
                          <a:cs typeface="Tahoma"/>
                        </a:rPr>
                        <a:t>2000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extLst>
                  <a:ext uri="{0D108BD9-81ED-4DB2-BD59-A6C34878D82A}">
                    <a16:rowId xmlns:a16="http://schemas.microsoft.com/office/drawing/2014/main" val="10001"/>
                  </a:ext>
                </a:extLst>
              </a:tr>
              <a:tr h="327206">
                <a:tc>
                  <a:txBody>
                    <a:bodyPr/>
                    <a:lstStyle/>
                    <a:p>
                      <a:pPr algn="ctr">
                        <a:lnSpc>
                          <a:spcPct val="100000"/>
                        </a:lnSpc>
                        <a:spcBef>
                          <a:spcPts val="355"/>
                        </a:spcBef>
                      </a:pPr>
                      <a:r>
                        <a:rPr sz="1600">
                          <a:solidFill>
                            <a:srgbClr val="231F20"/>
                          </a:solidFill>
                          <a:latin typeface="Tahoma"/>
                          <a:cs typeface="Tahoma"/>
                        </a:rPr>
                        <a:t>2</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tc>
                  <a:txBody>
                    <a:bodyPr/>
                    <a:lstStyle/>
                    <a:p>
                      <a:pPr algn="ctr">
                        <a:lnSpc>
                          <a:spcPct val="100000"/>
                        </a:lnSpc>
                        <a:spcBef>
                          <a:spcPts val="355"/>
                        </a:spcBef>
                      </a:pPr>
                      <a:r>
                        <a:rPr sz="1600">
                          <a:solidFill>
                            <a:srgbClr val="231F20"/>
                          </a:solidFill>
                          <a:latin typeface="Tahoma"/>
                          <a:cs typeface="Tahoma"/>
                        </a:rPr>
                        <a:t>240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tc>
                  <a:txBody>
                    <a:bodyPr/>
                    <a:lstStyle/>
                    <a:p>
                      <a:pPr marL="1905" algn="ctr">
                        <a:lnSpc>
                          <a:spcPct val="100000"/>
                        </a:lnSpc>
                        <a:spcBef>
                          <a:spcPts val="355"/>
                        </a:spcBef>
                      </a:pPr>
                      <a:r>
                        <a:rPr sz="1600">
                          <a:solidFill>
                            <a:srgbClr val="231F20"/>
                          </a:solidFill>
                          <a:latin typeface="Tahoma"/>
                          <a:cs typeface="Tahoma"/>
                        </a:rPr>
                        <a:t>10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tc>
                  <a:txBody>
                    <a:bodyPr/>
                    <a:lstStyle/>
                    <a:p>
                      <a:pPr marL="798830">
                        <a:lnSpc>
                          <a:spcPct val="100000"/>
                        </a:lnSpc>
                        <a:spcBef>
                          <a:spcPts val="355"/>
                        </a:spcBef>
                      </a:pPr>
                      <a:r>
                        <a:rPr sz="1600">
                          <a:solidFill>
                            <a:srgbClr val="231F20"/>
                          </a:solidFill>
                          <a:latin typeface="Tahoma"/>
                          <a:cs typeface="Tahoma"/>
                        </a:rPr>
                        <a:t>3000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extLst>
                  <a:ext uri="{0D108BD9-81ED-4DB2-BD59-A6C34878D82A}">
                    <a16:rowId xmlns:a16="http://schemas.microsoft.com/office/drawing/2014/main" val="10002"/>
                  </a:ext>
                </a:extLst>
              </a:tr>
              <a:tr h="327221">
                <a:tc>
                  <a:txBody>
                    <a:bodyPr/>
                    <a:lstStyle/>
                    <a:p>
                      <a:pPr algn="ctr">
                        <a:lnSpc>
                          <a:spcPct val="100000"/>
                        </a:lnSpc>
                        <a:spcBef>
                          <a:spcPts val="355"/>
                        </a:spcBef>
                      </a:pPr>
                      <a:r>
                        <a:rPr sz="1600">
                          <a:solidFill>
                            <a:srgbClr val="231F20"/>
                          </a:solidFill>
                          <a:latin typeface="Tahoma"/>
                          <a:cs typeface="Tahoma"/>
                        </a:rPr>
                        <a:t>3</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tc>
                  <a:txBody>
                    <a:bodyPr/>
                    <a:lstStyle/>
                    <a:p>
                      <a:pPr algn="ctr">
                        <a:lnSpc>
                          <a:spcPct val="100000"/>
                        </a:lnSpc>
                        <a:spcBef>
                          <a:spcPts val="355"/>
                        </a:spcBef>
                      </a:pPr>
                      <a:r>
                        <a:rPr sz="1600">
                          <a:solidFill>
                            <a:srgbClr val="231F20"/>
                          </a:solidFill>
                          <a:latin typeface="Tahoma"/>
                          <a:cs typeface="Tahoma"/>
                        </a:rPr>
                        <a:t>300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tc>
                  <a:txBody>
                    <a:bodyPr/>
                    <a:lstStyle/>
                    <a:p>
                      <a:pPr marL="1905" algn="ctr">
                        <a:lnSpc>
                          <a:spcPct val="100000"/>
                        </a:lnSpc>
                        <a:spcBef>
                          <a:spcPts val="355"/>
                        </a:spcBef>
                      </a:pPr>
                      <a:r>
                        <a:rPr sz="1600">
                          <a:solidFill>
                            <a:srgbClr val="231F20"/>
                          </a:solidFill>
                          <a:latin typeface="Tahoma"/>
                          <a:cs typeface="Tahoma"/>
                        </a:rPr>
                        <a:t>8</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tc>
                  <a:txBody>
                    <a:bodyPr/>
                    <a:lstStyle/>
                    <a:p>
                      <a:pPr marL="798830">
                        <a:lnSpc>
                          <a:spcPct val="100000"/>
                        </a:lnSpc>
                        <a:spcBef>
                          <a:spcPts val="355"/>
                        </a:spcBef>
                      </a:pPr>
                      <a:r>
                        <a:rPr sz="1600" dirty="0">
                          <a:solidFill>
                            <a:srgbClr val="231F20"/>
                          </a:solidFill>
                          <a:latin typeface="Tahoma"/>
                          <a:cs typeface="Tahoma"/>
                        </a:rPr>
                        <a:t>3500</a:t>
                      </a:r>
                      <a:endParaRPr sz="1600" dirty="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extLst>
                  <a:ext uri="{0D108BD9-81ED-4DB2-BD59-A6C34878D82A}">
                    <a16:rowId xmlns:a16="http://schemas.microsoft.com/office/drawing/2014/main" val="10003"/>
                  </a:ext>
                </a:extLst>
              </a:tr>
            </a:tbl>
          </a:graphicData>
        </a:graphic>
      </p:graphicFrame>
      <p:sp>
        <p:nvSpPr>
          <p:cNvPr id="5" name="object 5"/>
          <p:cNvSpPr txBox="1"/>
          <p:nvPr/>
        </p:nvSpPr>
        <p:spPr>
          <a:xfrm>
            <a:off x="1100516" y="5192852"/>
            <a:ext cx="9807547" cy="826154"/>
          </a:xfrm>
          <a:prstGeom prst="rect">
            <a:avLst/>
          </a:prstGeom>
        </p:spPr>
        <p:txBody>
          <a:bodyPr vert="horz" wrap="square" lIns="0" tIns="11206" rIns="0" bIns="0" rtlCol="0">
            <a:spAutoFit/>
          </a:bodyPr>
          <a:lstStyle/>
          <a:p>
            <a:pPr marL="11206" marR="4483" algn="just">
              <a:spcBef>
                <a:spcPts val="88"/>
              </a:spcBef>
            </a:pPr>
            <a:r>
              <a:rPr lang="en-US" sz="1765" spc="-4" dirty="0">
                <a:solidFill>
                  <a:srgbClr val="231F20"/>
                </a:solidFill>
                <a:latin typeface="Tahoma"/>
                <a:cs typeface="Tahoma"/>
              </a:rPr>
              <a:t>The </a:t>
            </a:r>
            <a:r>
              <a:rPr lang="en-US" sz="1765" dirty="0">
                <a:solidFill>
                  <a:srgbClr val="231F20"/>
                </a:solidFill>
                <a:latin typeface="Tahoma"/>
                <a:cs typeface="Tahoma"/>
              </a:rPr>
              <a:t>daily </a:t>
            </a:r>
            <a:r>
              <a:rPr lang="en-US" sz="1765" spc="-4" dirty="0">
                <a:solidFill>
                  <a:srgbClr val="231F20"/>
                </a:solidFill>
                <a:latin typeface="Tahoma"/>
                <a:cs typeface="Tahoma"/>
              </a:rPr>
              <a:t>demand </a:t>
            </a:r>
            <a:r>
              <a:rPr lang="en-US" sz="1765" spc="-9" dirty="0">
                <a:solidFill>
                  <a:srgbClr val="231F20"/>
                </a:solidFill>
                <a:latin typeface="Tahoma"/>
                <a:cs typeface="Tahoma"/>
              </a:rPr>
              <a:t>forecasts for </a:t>
            </a:r>
            <a:r>
              <a:rPr lang="en-US" sz="1765" spc="-4" dirty="0">
                <a:solidFill>
                  <a:srgbClr val="231F20"/>
                </a:solidFill>
                <a:latin typeface="Tahoma"/>
                <a:cs typeface="Tahoma"/>
              </a:rPr>
              <a:t>its white polyester </a:t>
            </a:r>
            <a:r>
              <a:rPr lang="en-US" sz="1765" spc="-9" dirty="0">
                <a:solidFill>
                  <a:srgbClr val="231F20"/>
                </a:solidFill>
                <a:latin typeface="Tahoma"/>
                <a:cs typeface="Tahoma"/>
              </a:rPr>
              <a:t>fabric </a:t>
            </a:r>
            <a:r>
              <a:rPr lang="en-US" sz="1765" spc="-4" dirty="0">
                <a:solidFill>
                  <a:srgbClr val="231F20"/>
                </a:solidFill>
                <a:latin typeface="Tahoma"/>
                <a:cs typeface="Tahoma"/>
              </a:rPr>
              <a:t>is 4000 Sq. </a:t>
            </a:r>
            <a:r>
              <a:rPr lang="en-US" sz="1765" spc="-44" dirty="0">
                <a:solidFill>
                  <a:srgbClr val="231F20"/>
                </a:solidFill>
                <a:latin typeface="Tahoma"/>
                <a:cs typeface="Tahoma"/>
              </a:rPr>
              <a:t>meter. </a:t>
            </a:r>
            <a:r>
              <a:rPr lang="en-US" sz="1765" spc="-4" dirty="0">
                <a:solidFill>
                  <a:srgbClr val="231F20"/>
                </a:solidFill>
                <a:latin typeface="Tahoma"/>
                <a:cs typeface="Tahoma"/>
              </a:rPr>
              <a:t>The</a:t>
            </a:r>
            <a:r>
              <a:rPr lang="en-US" sz="1765" dirty="0">
                <a:solidFill>
                  <a:srgbClr val="231F20"/>
                </a:solidFill>
                <a:latin typeface="Tahoma"/>
                <a:cs typeface="Tahoma"/>
              </a:rPr>
              <a:t> </a:t>
            </a:r>
            <a:r>
              <a:rPr lang="en-US" sz="1765" spc="-9" dirty="0">
                <a:solidFill>
                  <a:srgbClr val="231F20"/>
                </a:solidFill>
                <a:latin typeface="Tahoma"/>
                <a:cs typeface="Tahoma"/>
              </a:rPr>
              <a:t>company’s</a:t>
            </a:r>
            <a:r>
              <a:rPr lang="en-US" sz="1765" spc="-4" dirty="0">
                <a:solidFill>
                  <a:srgbClr val="231F20"/>
                </a:solidFill>
                <a:latin typeface="Tahoma"/>
                <a:cs typeface="Tahoma"/>
              </a:rPr>
              <a:t> production</a:t>
            </a:r>
            <a:r>
              <a:rPr lang="en-US" sz="1765" dirty="0">
                <a:solidFill>
                  <a:srgbClr val="231F20"/>
                </a:solidFill>
                <a:latin typeface="Tahoma"/>
                <a:cs typeface="Tahoma"/>
              </a:rPr>
              <a:t> </a:t>
            </a:r>
            <a:r>
              <a:rPr lang="en-US" sz="1765" spc="-4" dirty="0">
                <a:solidFill>
                  <a:srgbClr val="231F20"/>
                </a:solidFill>
                <a:latin typeface="Tahoma"/>
                <a:cs typeface="Tahoma"/>
              </a:rPr>
              <a:t>manager</a:t>
            </a:r>
            <a:r>
              <a:rPr lang="en-US" sz="1765" dirty="0">
                <a:solidFill>
                  <a:srgbClr val="231F20"/>
                </a:solidFill>
                <a:latin typeface="Tahoma"/>
                <a:cs typeface="Tahoma"/>
              </a:rPr>
              <a:t> </a:t>
            </a:r>
            <a:r>
              <a:rPr lang="en-US" sz="1765" spc="-4" dirty="0">
                <a:solidFill>
                  <a:srgbClr val="231F20"/>
                </a:solidFill>
                <a:latin typeface="Tahoma"/>
                <a:cs typeface="Tahoma"/>
              </a:rPr>
              <a:t>wants</a:t>
            </a:r>
            <a:r>
              <a:rPr lang="en-US" sz="1765" dirty="0">
                <a:solidFill>
                  <a:srgbClr val="231F20"/>
                </a:solidFill>
                <a:latin typeface="Tahoma"/>
                <a:cs typeface="Tahoma"/>
              </a:rPr>
              <a:t> to</a:t>
            </a:r>
            <a:r>
              <a:rPr lang="en-US" sz="1765" spc="4" dirty="0">
                <a:solidFill>
                  <a:srgbClr val="231F20"/>
                </a:solidFill>
                <a:latin typeface="Tahoma"/>
                <a:cs typeface="Tahoma"/>
              </a:rPr>
              <a:t> </a:t>
            </a:r>
            <a:r>
              <a:rPr lang="en-US" sz="1765" spc="-4" dirty="0">
                <a:solidFill>
                  <a:srgbClr val="231F20"/>
                </a:solidFill>
                <a:latin typeface="Tahoma"/>
                <a:cs typeface="Tahoma"/>
              </a:rPr>
              <a:t>determine</a:t>
            </a:r>
            <a:r>
              <a:rPr lang="en-US" sz="1765" dirty="0">
                <a:solidFill>
                  <a:srgbClr val="231F20"/>
                </a:solidFill>
                <a:latin typeface="Tahoma"/>
                <a:cs typeface="Tahoma"/>
              </a:rPr>
              <a:t> </a:t>
            </a:r>
            <a:r>
              <a:rPr lang="en-US" sz="1765" spc="-4" dirty="0">
                <a:solidFill>
                  <a:srgbClr val="231F20"/>
                </a:solidFill>
                <a:latin typeface="Tahoma"/>
                <a:cs typeface="Tahoma"/>
              </a:rPr>
              <a:t>the</a:t>
            </a:r>
            <a:r>
              <a:rPr lang="en-US" sz="1765" dirty="0">
                <a:solidFill>
                  <a:srgbClr val="231F20"/>
                </a:solidFill>
                <a:latin typeface="Tahoma"/>
                <a:cs typeface="Tahoma"/>
              </a:rPr>
              <a:t> optimal combination of the </a:t>
            </a:r>
            <a:r>
              <a:rPr lang="en-US" sz="1765" spc="-4" dirty="0">
                <a:solidFill>
                  <a:srgbClr val="231F20"/>
                </a:solidFill>
                <a:latin typeface="Tahoma"/>
                <a:cs typeface="Tahoma"/>
              </a:rPr>
              <a:t>production processes </a:t>
            </a:r>
            <a:r>
              <a:rPr lang="en-US" sz="1765" dirty="0">
                <a:solidFill>
                  <a:srgbClr val="231F20"/>
                </a:solidFill>
                <a:latin typeface="Tahoma"/>
                <a:cs typeface="Tahoma"/>
              </a:rPr>
              <a:t>and </a:t>
            </a:r>
            <a:r>
              <a:rPr lang="en-US" sz="1765" spc="-4" dirty="0">
                <a:solidFill>
                  <a:srgbClr val="231F20"/>
                </a:solidFill>
                <a:latin typeface="Tahoma"/>
                <a:cs typeface="Tahoma"/>
              </a:rPr>
              <a:t>their actual </a:t>
            </a:r>
            <a:r>
              <a:rPr lang="en-US" sz="1765" dirty="0">
                <a:solidFill>
                  <a:srgbClr val="231F20"/>
                </a:solidFill>
                <a:latin typeface="Tahoma"/>
                <a:cs typeface="Tahoma"/>
              </a:rPr>
              <a:t>daily </a:t>
            </a:r>
            <a:r>
              <a:rPr lang="en-US" sz="1765" spc="-4" dirty="0">
                <a:solidFill>
                  <a:srgbClr val="231F20"/>
                </a:solidFill>
                <a:latin typeface="Tahoma"/>
                <a:cs typeface="Tahoma"/>
              </a:rPr>
              <a:t>production levels</a:t>
            </a:r>
            <a:r>
              <a:rPr lang="en-US" sz="1765" spc="-22" dirty="0">
                <a:solidFill>
                  <a:srgbClr val="231F20"/>
                </a:solidFill>
                <a:latin typeface="Tahoma"/>
                <a:cs typeface="Tahoma"/>
              </a:rPr>
              <a:t> </a:t>
            </a:r>
            <a:r>
              <a:rPr lang="en-US" sz="1765" dirty="0">
                <a:solidFill>
                  <a:srgbClr val="231F20"/>
                </a:solidFill>
                <a:latin typeface="Tahoma"/>
                <a:cs typeface="Tahoma"/>
              </a:rPr>
              <a:t>such</a:t>
            </a:r>
            <a:r>
              <a:rPr lang="en-US" sz="1765" spc="-13" dirty="0">
                <a:solidFill>
                  <a:srgbClr val="231F20"/>
                </a:solidFill>
                <a:latin typeface="Tahoma"/>
                <a:cs typeface="Tahoma"/>
              </a:rPr>
              <a:t> </a:t>
            </a:r>
            <a:r>
              <a:rPr lang="en-US" sz="1765" dirty="0">
                <a:solidFill>
                  <a:srgbClr val="231F20"/>
                </a:solidFill>
                <a:latin typeface="Tahoma"/>
                <a:cs typeface="Tahoma"/>
              </a:rPr>
              <a:t>that</a:t>
            </a:r>
            <a:r>
              <a:rPr lang="en-US" sz="1765" spc="4" dirty="0">
                <a:solidFill>
                  <a:srgbClr val="231F20"/>
                </a:solidFill>
                <a:latin typeface="Tahoma"/>
                <a:cs typeface="Tahoma"/>
              </a:rPr>
              <a:t> </a:t>
            </a:r>
            <a:r>
              <a:rPr lang="en-US" sz="1765" dirty="0">
                <a:solidFill>
                  <a:srgbClr val="231F20"/>
                </a:solidFill>
                <a:latin typeface="Tahoma"/>
                <a:cs typeface="Tahoma"/>
              </a:rPr>
              <a:t>the</a:t>
            </a:r>
            <a:r>
              <a:rPr lang="en-US" sz="1765" spc="-13" dirty="0">
                <a:solidFill>
                  <a:srgbClr val="231F20"/>
                </a:solidFill>
                <a:latin typeface="Tahoma"/>
                <a:cs typeface="Tahoma"/>
              </a:rPr>
              <a:t> </a:t>
            </a:r>
            <a:r>
              <a:rPr lang="en-US" sz="1765" spc="-4" dirty="0">
                <a:solidFill>
                  <a:srgbClr val="231F20"/>
                </a:solidFill>
                <a:latin typeface="Tahoma"/>
                <a:cs typeface="Tahoma"/>
              </a:rPr>
              <a:t>total</a:t>
            </a:r>
            <a:r>
              <a:rPr lang="en-US" sz="1765" spc="4" dirty="0">
                <a:solidFill>
                  <a:srgbClr val="231F20"/>
                </a:solidFill>
                <a:latin typeface="Tahoma"/>
                <a:cs typeface="Tahoma"/>
              </a:rPr>
              <a:t> </a:t>
            </a:r>
            <a:r>
              <a:rPr lang="en-US" sz="1765" spc="-4" dirty="0">
                <a:solidFill>
                  <a:srgbClr val="231F20"/>
                </a:solidFill>
                <a:latin typeface="Tahoma"/>
                <a:cs typeface="Tahoma"/>
              </a:rPr>
              <a:t>production</a:t>
            </a:r>
            <a:r>
              <a:rPr lang="en-US" sz="1765" dirty="0">
                <a:solidFill>
                  <a:srgbClr val="231F20"/>
                </a:solidFill>
                <a:latin typeface="Tahoma"/>
                <a:cs typeface="Tahoma"/>
              </a:rPr>
              <a:t> cost</a:t>
            </a:r>
            <a:r>
              <a:rPr lang="en-US" sz="1765" spc="-9" dirty="0">
                <a:solidFill>
                  <a:srgbClr val="231F20"/>
                </a:solidFill>
                <a:latin typeface="Tahoma"/>
                <a:cs typeface="Tahoma"/>
              </a:rPr>
              <a:t> </a:t>
            </a:r>
            <a:r>
              <a:rPr lang="en-US" sz="1765" spc="-4" dirty="0">
                <a:solidFill>
                  <a:srgbClr val="231F20"/>
                </a:solidFill>
                <a:latin typeface="Tahoma"/>
                <a:cs typeface="Tahoma"/>
              </a:rPr>
              <a:t>is minimized.</a:t>
            </a:r>
            <a:endParaRPr sz="1765" dirty="0">
              <a:latin typeface="Tahoma"/>
              <a:cs typeface="Tahoma"/>
            </a:endParaRPr>
          </a:p>
        </p:txBody>
      </p:sp>
      <p:graphicFrame>
        <p:nvGraphicFramePr>
          <p:cNvPr id="7" name="object 4"/>
          <p:cNvGraphicFramePr>
            <a:graphicFrameLocks noGrp="1"/>
          </p:cNvGraphicFramePr>
          <p:nvPr>
            <p:extLst>
              <p:ext uri="{D42A27DB-BD31-4B8C-83A1-F6EECF244321}">
                <p14:modId xmlns:p14="http://schemas.microsoft.com/office/powerpoint/2010/main" val="981496972"/>
              </p:ext>
            </p:extLst>
          </p:nvPr>
        </p:nvGraphicFramePr>
        <p:xfrm>
          <a:off x="1100516" y="3404396"/>
          <a:ext cx="9888466" cy="1788456"/>
        </p:xfrm>
        <a:graphic>
          <a:graphicData uri="http://schemas.openxmlformats.org/drawingml/2006/table">
            <a:tbl>
              <a:tblPr firstRow="1" bandRow="1">
                <a:tableStyleId>{2D5ABB26-0587-4C30-8999-92F81FD0307C}</a:tableStyleId>
              </a:tblPr>
              <a:tblGrid>
                <a:gridCol w="1606876">
                  <a:extLst>
                    <a:ext uri="{9D8B030D-6E8A-4147-A177-3AD203B41FA5}">
                      <a16:colId xmlns:a16="http://schemas.microsoft.com/office/drawing/2014/main" val="20000"/>
                    </a:ext>
                  </a:extLst>
                </a:gridCol>
                <a:gridCol w="3337356">
                  <a:extLst>
                    <a:ext uri="{9D8B030D-6E8A-4147-A177-3AD203B41FA5}">
                      <a16:colId xmlns:a16="http://schemas.microsoft.com/office/drawing/2014/main" val="20001"/>
                    </a:ext>
                  </a:extLst>
                </a:gridCol>
                <a:gridCol w="2472117">
                  <a:extLst>
                    <a:ext uri="{9D8B030D-6E8A-4147-A177-3AD203B41FA5}">
                      <a16:colId xmlns:a16="http://schemas.microsoft.com/office/drawing/2014/main" val="20002"/>
                    </a:ext>
                  </a:extLst>
                </a:gridCol>
                <a:gridCol w="2472117">
                  <a:extLst>
                    <a:ext uri="{9D8B030D-6E8A-4147-A177-3AD203B41FA5}">
                      <a16:colId xmlns:a16="http://schemas.microsoft.com/office/drawing/2014/main" val="20003"/>
                    </a:ext>
                  </a:extLst>
                </a:gridCol>
              </a:tblGrid>
              <a:tr h="806823">
                <a:tc>
                  <a:txBody>
                    <a:bodyPr/>
                    <a:lstStyle/>
                    <a:p>
                      <a:pPr marL="219710" marR="212090" indent="19685">
                        <a:lnSpc>
                          <a:spcPct val="100000"/>
                        </a:lnSpc>
                        <a:spcBef>
                          <a:spcPts val="350"/>
                        </a:spcBef>
                      </a:pPr>
                      <a:r>
                        <a:rPr lang="en-US" sz="1600" b="1" spc="-5" dirty="0">
                          <a:solidFill>
                            <a:srgbClr val="FFFFFF"/>
                          </a:solidFill>
                          <a:latin typeface="Tahoma"/>
                          <a:cs typeface="Tahoma"/>
                        </a:rPr>
                        <a:t>Process </a:t>
                      </a:r>
                      <a:r>
                        <a:rPr lang="en-US" sz="1600" b="1" spc="5" dirty="0">
                          <a:solidFill>
                            <a:srgbClr val="FFFFFF"/>
                          </a:solidFill>
                          <a:latin typeface="Tahoma"/>
                          <a:cs typeface="Tahoma"/>
                        </a:rPr>
                        <a:t>N</a:t>
                      </a:r>
                      <a:r>
                        <a:rPr lang="en-US" sz="1600" b="1" spc="-5" dirty="0">
                          <a:solidFill>
                            <a:srgbClr val="FFFFFF"/>
                          </a:solidFill>
                          <a:latin typeface="Tahoma"/>
                          <a:cs typeface="Tahoma"/>
                        </a:rPr>
                        <a:t>u</a:t>
                      </a:r>
                      <a:r>
                        <a:rPr lang="en-US" sz="1600" b="1" dirty="0">
                          <a:solidFill>
                            <a:srgbClr val="FFFFFF"/>
                          </a:solidFill>
                          <a:latin typeface="Tahoma"/>
                          <a:cs typeface="Tahoma"/>
                        </a:rPr>
                        <a:t>m</a:t>
                      </a:r>
                      <a:r>
                        <a:rPr lang="en-US" sz="1600" b="1" spc="5" dirty="0">
                          <a:solidFill>
                            <a:srgbClr val="FFFFFF"/>
                          </a:solidFill>
                          <a:latin typeface="Tahoma"/>
                          <a:cs typeface="Tahoma"/>
                        </a:rPr>
                        <a:t>b</a:t>
                      </a:r>
                      <a:r>
                        <a:rPr lang="en-US" sz="1600" b="1" dirty="0">
                          <a:solidFill>
                            <a:srgbClr val="FFFFFF"/>
                          </a:solidFill>
                          <a:latin typeface="Tahoma"/>
                          <a:cs typeface="Tahoma"/>
                        </a:rPr>
                        <a:t>er</a:t>
                      </a:r>
                      <a:endParaRPr sz="1600" dirty="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marL="635" algn="ctr">
                        <a:lnSpc>
                          <a:spcPct val="100000"/>
                        </a:lnSpc>
                        <a:spcBef>
                          <a:spcPts val="350"/>
                        </a:spcBef>
                      </a:pPr>
                      <a:r>
                        <a:rPr sz="1600" b="1" spc="-5">
                          <a:solidFill>
                            <a:srgbClr val="FFFFFF"/>
                          </a:solidFill>
                          <a:latin typeface="Tahoma"/>
                          <a:cs typeface="Tahoma"/>
                        </a:rPr>
                        <a:t>Weaving</a:t>
                      </a:r>
                      <a:r>
                        <a:rPr sz="1600" b="1" spc="-35">
                          <a:solidFill>
                            <a:srgbClr val="FFFFFF"/>
                          </a:solidFill>
                          <a:latin typeface="Tahoma"/>
                          <a:cs typeface="Tahoma"/>
                        </a:rPr>
                        <a:t> </a:t>
                      </a:r>
                      <a:r>
                        <a:rPr sz="1600" b="1" spc="-5">
                          <a:solidFill>
                            <a:srgbClr val="FFFFFF"/>
                          </a:solidFill>
                          <a:latin typeface="Tahoma"/>
                          <a:cs typeface="Tahoma"/>
                        </a:rPr>
                        <a:t>machine</a:t>
                      </a:r>
                      <a:r>
                        <a:rPr sz="1600" b="1" spc="-30">
                          <a:solidFill>
                            <a:srgbClr val="FFFFFF"/>
                          </a:solidFill>
                          <a:latin typeface="Tahoma"/>
                          <a:cs typeface="Tahoma"/>
                        </a:rPr>
                        <a:t> </a:t>
                      </a:r>
                      <a:r>
                        <a:rPr lang="en-US" sz="1600" b="1" spc="-5">
                          <a:solidFill>
                            <a:srgbClr val="FFFFFF"/>
                          </a:solidFill>
                          <a:latin typeface="Tahoma"/>
                          <a:cs typeface="Tahoma"/>
                        </a:rPr>
                        <a:t>Setu</a:t>
                      </a:r>
                      <a:r>
                        <a:rPr lang="en-US" sz="1600" b="1">
                          <a:solidFill>
                            <a:srgbClr val="FFFFFF"/>
                          </a:solidFill>
                          <a:latin typeface="Tahoma"/>
                          <a:cs typeface="Tahoma"/>
                        </a:rPr>
                        <a:t>p</a:t>
                      </a:r>
                      <a:r>
                        <a:rPr sz="1600" b="1" spc="-45">
                          <a:solidFill>
                            <a:srgbClr val="FFFFFF"/>
                          </a:solidFill>
                          <a:latin typeface="Tahoma"/>
                          <a:cs typeface="Tahoma"/>
                        </a:rPr>
                        <a:t> </a:t>
                      </a:r>
                      <a:r>
                        <a:rPr sz="1600" b="1" spc="-5">
                          <a:solidFill>
                            <a:srgbClr val="FFFFFF"/>
                          </a:solidFill>
                          <a:latin typeface="Tahoma"/>
                          <a:cs typeface="Tahoma"/>
                        </a:rPr>
                        <a:t>cost</a:t>
                      </a:r>
                      <a:r>
                        <a:rPr sz="1600" b="1" spc="-25">
                          <a:solidFill>
                            <a:srgbClr val="FFFFFF"/>
                          </a:solidFill>
                          <a:latin typeface="Tahoma"/>
                          <a:cs typeface="Tahoma"/>
                        </a:rPr>
                        <a:t> </a:t>
                      </a:r>
                      <a:r>
                        <a:rPr sz="1600" b="1" spc="-5">
                          <a:solidFill>
                            <a:srgbClr val="FFFFFF"/>
                          </a:solidFill>
                          <a:latin typeface="Tahoma"/>
                          <a:cs typeface="Tahoma"/>
                        </a:rPr>
                        <a:t>(Rs.)</a:t>
                      </a:r>
                      <a:endParaRPr lang="en-US" sz="160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marL="766445" marR="133350" indent="-624840">
                        <a:lnSpc>
                          <a:spcPct val="100000"/>
                        </a:lnSpc>
                        <a:spcBef>
                          <a:spcPts val="350"/>
                        </a:spcBef>
                      </a:pPr>
                      <a:r>
                        <a:rPr lang="en-US" sz="1600" b="1" spc="-5">
                          <a:solidFill>
                            <a:srgbClr val="FFFFFF"/>
                          </a:solidFill>
                          <a:latin typeface="Tahoma"/>
                          <a:cs typeface="Tahoma"/>
                        </a:rPr>
                        <a:t>Processing</a:t>
                      </a:r>
                      <a:r>
                        <a:rPr lang="en-US" sz="1600" b="1" spc="-80">
                          <a:solidFill>
                            <a:srgbClr val="FFFFFF"/>
                          </a:solidFill>
                          <a:latin typeface="Tahoma"/>
                          <a:cs typeface="Tahoma"/>
                        </a:rPr>
                        <a:t> </a:t>
                      </a:r>
                      <a:r>
                        <a:rPr lang="en-US" sz="1600" b="1" spc="-5">
                          <a:solidFill>
                            <a:srgbClr val="FFFFFF"/>
                          </a:solidFill>
                          <a:latin typeface="Tahoma"/>
                          <a:cs typeface="Tahoma"/>
                        </a:rPr>
                        <a:t>Cost (Rs.)</a:t>
                      </a:r>
                      <a:endParaRPr sz="160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marL="176530" marR="167640" algn="ctr">
                        <a:lnSpc>
                          <a:spcPct val="100000"/>
                        </a:lnSpc>
                        <a:spcBef>
                          <a:spcPts val="350"/>
                        </a:spcBef>
                      </a:pPr>
                      <a:r>
                        <a:rPr lang="en-US" sz="1600" b="1" spc="-5" dirty="0">
                          <a:solidFill>
                            <a:srgbClr val="FFFFFF"/>
                          </a:solidFill>
                          <a:latin typeface="Tahoma"/>
                          <a:cs typeface="Tahoma"/>
                        </a:rPr>
                        <a:t>Maximum</a:t>
                      </a:r>
                      <a:r>
                        <a:rPr lang="en-US" sz="1600" b="1" spc="-100" dirty="0">
                          <a:solidFill>
                            <a:srgbClr val="FFFFFF"/>
                          </a:solidFill>
                          <a:latin typeface="Tahoma"/>
                          <a:cs typeface="Tahoma"/>
                        </a:rPr>
                        <a:t> </a:t>
                      </a:r>
                      <a:r>
                        <a:rPr lang="en-US" sz="1600" b="1" spc="-5" dirty="0">
                          <a:solidFill>
                            <a:srgbClr val="FFFFFF"/>
                          </a:solidFill>
                          <a:latin typeface="Tahoma"/>
                          <a:cs typeface="Tahoma"/>
                        </a:rPr>
                        <a:t>daily capacity (Sq. meter)</a:t>
                      </a:r>
                      <a:endParaRPr sz="1600" dirty="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extLst>
                  <a:ext uri="{0D108BD9-81ED-4DB2-BD59-A6C34878D82A}">
                    <a16:rowId xmlns:a16="http://schemas.microsoft.com/office/drawing/2014/main" val="10000"/>
                  </a:ext>
                </a:extLst>
              </a:tr>
              <a:tr h="327206">
                <a:tc>
                  <a:txBody>
                    <a:bodyPr/>
                    <a:lstStyle/>
                    <a:p>
                      <a:pPr algn="ctr">
                        <a:lnSpc>
                          <a:spcPct val="100000"/>
                        </a:lnSpc>
                        <a:spcBef>
                          <a:spcPts val="355"/>
                        </a:spcBef>
                      </a:pPr>
                      <a:r>
                        <a:rPr sz="1600">
                          <a:solidFill>
                            <a:srgbClr val="231F20"/>
                          </a:solidFill>
                          <a:latin typeface="Tahoma"/>
                          <a:cs typeface="Tahoma"/>
                        </a:rPr>
                        <a:t>1</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tc>
                  <a:txBody>
                    <a:bodyPr/>
                    <a:lstStyle/>
                    <a:p>
                      <a:pPr algn="ctr">
                        <a:lnSpc>
                          <a:spcPct val="100000"/>
                        </a:lnSpc>
                        <a:spcBef>
                          <a:spcPts val="355"/>
                        </a:spcBef>
                      </a:pPr>
                      <a:r>
                        <a:rPr sz="1600">
                          <a:solidFill>
                            <a:srgbClr val="231F20"/>
                          </a:solidFill>
                          <a:latin typeface="Tahoma"/>
                          <a:cs typeface="Tahoma"/>
                        </a:rPr>
                        <a:t>150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tc>
                  <a:txBody>
                    <a:bodyPr/>
                    <a:lstStyle/>
                    <a:p>
                      <a:pPr marL="1905" algn="ctr">
                        <a:lnSpc>
                          <a:spcPct val="100000"/>
                        </a:lnSpc>
                        <a:spcBef>
                          <a:spcPts val="355"/>
                        </a:spcBef>
                      </a:pPr>
                      <a:r>
                        <a:rPr sz="1600">
                          <a:solidFill>
                            <a:srgbClr val="231F20"/>
                          </a:solidFill>
                          <a:latin typeface="Tahoma"/>
                          <a:cs typeface="Tahoma"/>
                        </a:rPr>
                        <a:t>15</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tc>
                  <a:txBody>
                    <a:bodyPr/>
                    <a:lstStyle/>
                    <a:p>
                      <a:pPr marL="798830">
                        <a:lnSpc>
                          <a:spcPct val="100000"/>
                        </a:lnSpc>
                        <a:spcBef>
                          <a:spcPts val="355"/>
                        </a:spcBef>
                      </a:pPr>
                      <a:r>
                        <a:rPr sz="1600">
                          <a:solidFill>
                            <a:srgbClr val="231F20"/>
                          </a:solidFill>
                          <a:latin typeface="Tahoma"/>
                          <a:cs typeface="Tahoma"/>
                        </a:rPr>
                        <a:t>2000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extLst>
                  <a:ext uri="{0D108BD9-81ED-4DB2-BD59-A6C34878D82A}">
                    <a16:rowId xmlns:a16="http://schemas.microsoft.com/office/drawing/2014/main" val="10001"/>
                  </a:ext>
                </a:extLst>
              </a:tr>
              <a:tr h="327206">
                <a:tc>
                  <a:txBody>
                    <a:bodyPr/>
                    <a:lstStyle/>
                    <a:p>
                      <a:pPr algn="ctr">
                        <a:lnSpc>
                          <a:spcPct val="100000"/>
                        </a:lnSpc>
                        <a:spcBef>
                          <a:spcPts val="355"/>
                        </a:spcBef>
                      </a:pPr>
                      <a:r>
                        <a:rPr sz="1600">
                          <a:solidFill>
                            <a:srgbClr val="231F20"/>
                          </a:solidFill>
                          <a:latin typeface="Tahoma"/>
                          <a:cs typeface="Tahoma"/>
                        </a:rPr>
                        <a:t>2</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tc>
                  <a:txBody>
                    <a:bodyPr/>
                    <a:lstStyle/>
                    <a:p>
                      <a:pPr algn="ctr">
                        <a:lnSpc>
                          <a:spcPct val="100000"/>
                        </a:lnSpc>
                        <a:spcBef>
                          <a:spcPts val="355"/>
                        </a:spcBef>
                      </a:pPr>
                      <a:r>
                        <a:rPr sz="1600">
                          <a:solidFill>
                            <a:srgbClr val="231F20"/>
                          </a:solidFill>
                          <a:latin typeface="Tahoma"/>
                          <a:cs typeface="Tahoma"/>
                        </a:rPr>
                        <a:t>240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tc>
                  <a:txBody>
                    <a:bodyPr/>
                    <a:lstStyle/>
                    <a:p>
                      <a:pPr marL="1905" algn="ctr">
                        <a:lnSpc>
                          <a:spcPct val="100000"/>
                        </a:lnSpc>
                        <a:spcBef>
                          <a:spcPts val="355"/>
                        </a:spcBef>
                      </a:pPr>
                      <a:r>
                        <a:rPr sz="1600">
                          <a:solidFill>
                            <a:srgbClr val="231F20"/>
                          </a:solidFill>
                          <a:latin typeface="Tahoma"/>
                          <a:cs typeface="Tahoma"/>
                        </a:rPr>
                        <a:t>10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tc>
                  <a:txBody>
                    <a:bodyPr/>
                    <a:lstStyle/>
                    <a:p>
                      <a:pPr marL="798830">
                        <a:lnSpc>
                          <a:spcPct val="100000"/>
                        </a:lnSpc>
                        <a:spcBef>
                          <a:spcPts val="355"/>
                        </a:spcBef>
                      </a:pPr>
                      <a:r>
                        <a:rPr sz="1600">
                          <a:solidFill>
                            <a:srgbClr val="231F20"/>
                          </a:solidFill>
                          <a:latin typeface="Tahoma"/>
                          <a:cs typeface="Tahoma"/>
                        </a:rPr>
                        <a:t>3000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extLst>
                  <a:ext uri="{0D108BD9-81ED-4DB2-BD59-A6C34878D82A}">
                    <a16:rowId xmlns:a16="http://schemas.microsoft.com/office/drawing/2014/main" val="10002"/>
                  </a:ext>
                </a:extLst>
              </a:tr>
              <a:tr h="327221">
                <a:tc>
                  <a:txBody>
                    <a:bodyPr/>
                    <a:lstStyle/>
                    <a:p>
                      <a:pPr algn="ctr">
                        <a:lnSpc>
                          <a:spcPct val="100000"/>
                        </a:lnSpc>
                        <a:spcBef>
                          <a:spcPts val="355"/>
                        </a:spcBef>
                      </a:pPr>
                      <a:r>
                        <a:rPr sz="1600">
                          <a:solidFill>
                            <a:srgbClr val="231F20"/>
                          </a:solidFill>
                          <a:latin typeface="Tahoma"/>
                          <a:cs typeface="Tahoma"/>
                        </a:rPr>
                        <a:t>3</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tc>
                  <a:txBody>
                    <a:bodyPr/>
                    <a:lstStyle/>
                    <a:p>
                      <a:pPr algn="ctr">
                        <a:lnSpc>
                          <a:spcPct val="100000"/>
                        </a:lnSpc>
                        <a:spcBef>
                          <a:spcPts val="355"/>
                        </a:spcBef>
                      </a:pPr>
                      <a:r>
                        <a:rPr sz="1600">
                          <a:solidFill>
                            <a:srgbClr val="231F20"/>
                          </a:solidFill>
                          <a:latin typeface="Tahoma"/>
                          <a:cs typeface="Tahoma"/>
                        </a:rPr>
                        <a:t>300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tc>
                  <a:txBody>
                    <a:bodyPr/>
                    <a:lstStyle/>
                    <a:p>
                      <a:pPr marL="1905" algn="ctr">
                        <a:lnSpc>
                          <a:spcPct val="100000"/>
                        </a:lnSpc>
                        <a:spcBef>
                          <a:spcPts val="355"/>
                        </a:spcBef>
                      </a:pPr>
                      <a:r>
                        <a:rPr sz="1600">
                          <a:solidFill>
                            <a:srgbClr val="231F20"/>
                          </a:solidFill>
                          <a:latin typeface="Tahoma"/>
                          <a:cs typeface="Tahoma"/>
                        </a:rPr>
                        <a:t>8</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tc>
                  <a:txBody>
                    <a:bodyPr/>
                    <a:lstStyle/>
                    <a:p>
                      <a:pPr marL="798830">
                        <a:lnSpc>
                          <a:spcPct val="100000"/>
                        </a:lnSpc>
                        <a:spcBef>
                          <a:spcPts val="355"/>
                        </a:spcBef>
                      </a:pPr>
                      <a:r>
                        <a:rPr sz="1600" dirty="0">
                          <a:solidFill>
                            <a:srgbClr val="231F20"/>
                          </a:solidFill>
                          <a:latin typeface="Tahoma"/>
                          <a:cs typeface="Tahoma"/>
                        </a:rPr>
                        <a:t>3500</a:t>
                      </a:r>
                      <a:endParaRPr sz="1600" dirty="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extLst>
                  <a:ext uri="{0D108BD9-81ED-4DB2-BD59-A6C34878D82A}">
                    <a16:rowId xmlns:a16="http://schemas.microsoft.com/office/drawing/2014/main" val="10003"/>
                  </a:ext>
                </a:extLst>
              </a:tr>
            </a:tbl>
          </a:graphicData>
        </a:graphic>
      </p:graphicFrame>
      <p:graphicFrame>
        <p:nvGraphicFramePr>
          <p:cNvPr id="8" name="object 4"/>
          <p:cNvGraphicFramePr>
            <a:graphicFrameLocks noGrp="1"/>
          </p:cNvGraphicFramePr>
          <p:nvPr>
            <p:extLst>
              <p:ext uri="{D42A27DB-BD31-4B8C-83A1-F6EECF244321}">
                <p14:modId xmlns:p14="http://schemas.microsoft.com/office/powerpoint/2010/main" val="695047295"/>
              </p:ext>
            </p:extLst>
          </p:nvPr>
        </p:nvGraphicFramePr>
        <p:xfrm>
          <a:off x="1060056" y="3390825"/>
          <a:ext cx="9888466" cy="1788456"/>
        </p:xfrm>
        <a:graphic>
          <a:graphicData uri="http://schemas.openxmlformats.org/drawingml/2006/table">
            <a:tbl>
              <a:tblPr firstRow="1" bandRow="1">
                <a:tableStyleId>{2D5ABB26-0587-4C30-8999-92F81FD0307C}</a:tableStyleId>
              </a:tblPr>
              <a:tblGrid>
                <a:gridCol w="1606876">
                  <a:extLst>
                    <a:ext uri="{9D8B030D-6E8A-4147-A177-3AD203B41FA5}">
                      <a16:colId xmlns:a16="http://schemas.microsoft.com/office/drawing/2014/main" val="20000"/>
                    </a:ext>
                  </a:extLst>
                </a:gridCol>
                <a:gridCol w="3337356">
                  <a:extLst>
                    <a:ext uri="{9D8B030D-6E8A-4147-A177-3AD203B41FA5}">
                      <a16:colId xmlns:a16="http://schemas.microsoft.com/office/drawing/2014/main" val="20001"/>
                    </a:ext>
                  </a:extLst>
                </a:gridCol>
                <a:gridCol w="2472117">
                  <a:extLst>
                    <a:ext uri="{9D8B030D-6E8A-4147-A177-3AD203B41FA5}">
                      <a16:colId xmlns:a16="http://schemas.microsoft.com/office/drawing/2014/main" val="20002"/>
                    </a:ext>
                  </a:extLst>
                </a:gridCol>
                <a:gridCol w="2472117">
                  <a:extLst>
                    <a:ext uri="{9D8B030D-6E8A-4147-A177-3AD203B41FA5}">
                      <a16:colId xmlns:a16="http://schemas.microsoft.com/office/drawing/2014/main" val="20003"/>
                    </a:ext>
                  </a:extLst>
                </a:gridCol>
              </a:tblGrid>
              <a:tr h="806823">
                <a:tc>
                  <a:txBody>
                    <a:bodyPr/>
                    <a:lstStyle/>
                    <a:p>
                      <a:pPr marL="219710" marR="212090" indent="19685">
                        <a:lnSpc>
                          <a:spcPct val="100000"/>
                        </a:lnSpc>
                        <a:spcBef>
                          <a:spcPts val="350"/>
                        </a:spcBef>
                      </a:pPr>
                      <a:r>
                        <a:rPr lang="en-US" sz="1600" b="1" spc="-5" dirty="0">
                          <a:solidFill>
                            <a:srgbClr val="FFFFFF"/>
                          </a:solidFill>
                          <a:latin typeface="Tahoma"/>
                          <a:cs typeface="Tahoma"/>
                        </a:rPr>
                        <a:t>Process </a:t>
                      </a:r>
                      <a:r>
                        <a:rPr lang="en-US" sz="1600" b="1" spc="5" dirty="0">
                          <a:solidFill>
                            <a:srgbClr val="FFFFFF"/>
                          </a:solidFill>
                          <a:latin typeface="Tahoma"/>
                          <a:cs typeface="Tahoma"/>
                        </a:rPr>
                        <a:t>N</a:t>
                      </a:r>
                      <a:r>
                        <a:rPr lang="en-US" sz="1600" b="1" spc="-5" dirty="0">
                          <a:solidFill>
                            <a:srgbClr val="FFFFFF"/>
                          </a:solidFill>
                          <a:latin typeface="Tahoma"/>
                          <a:cs typeface="Tahoma"/>
                        </a:rPr>
                        <a:t>u</a:t>
                      </a:r>
                      <a:r>
                        <a:rPr lang="en-US" sz="1600" b="1" dirty="0">
                          <a:solidFill>
                            <a:srgbClr val="FFFFFF"/>
                          </a:solidFill>
                          <a:latin typeface="Tahoma"/>
                          <a:cs typeface="Tahoma"/>
                        </a:rPr>
                        <a:t>m</a:t>
                      </a:r>
                      <a:r>
                        <a:rPr lang="en-US" sz="1600" b="1" spc="5" dirty="0">
                          <a:solidFill>
                            <a:srgbClr val="FFFFFF"/>
                          </a:solidFill>
                          <a:latin typeface="Tahoma"/>
                          <a:cs typeface="Tahoma"/>
                        </a:rPr>
                        <a:t>b</a:t>
                      </a:r>
                      <a:r>
                        <a:rPr lang="en-US" sz="1600" b="1" dirty="0">
                          <a:solidFill>
                            <a:srgbClr val="FFFFFF"/>
                          </a:solidFill>
                          <a:latin typeface="Tahoma"/>
                          <a:cs typeface="Tahoma"/>
                        </a:rPr>
                        <a:t>er</a:t>
                      </a:r>
                      <a:endParaRPr sz="1600" dirty="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marL="635" algn="ctr">
                        <a:lnSpc>
                          <a:spcPct val="100000"/>
                        </a:lnSpc>
                        <a:spcBef>
                          <a:spcPts val="350"/>
                        </a:spcBef>
                      </a:pPr>
                      <a:r>
                        <a:rPr sz="1600" b="1" spc="-5">
                          <a:solidFill>
                            <a:srgbClr val="FFFFFF"/>
                          </a:solidFill>
                          <a:latin typeface="Tahoma"/>
                          <a:cs typeface="Tahoma"/>
                        </a:rPr>
                        <a:t>Weaving</a:t>
                      </a:r>
                      <a:r>
                        <a:rPr sz="1600" b="1" spc="-35">
                          <a:solidFill>
                            <a:srgbClr val="FFFFFF"/>
                          </a:solidFill>
                          <a:latin typeface="Tahoma"/>
                          <a:cs typeface="Tahoma"/>
                        </a:rPr>
                        <a:t> </a:t>
                      </a:r>
                      <a:r>
                        <a:rPr sz="1600" b="1" spc="-5">
                          <a:solidFill>
                            <a:srgbClr val="FFFFFF"/>
                          </a:solidFill>
                          <a:latin typeface="Tahoma"/>
                          <a:cs typeface="Tahoma"/>
                        </a:rPr>
                        <a:t>machine</a:t>
                      </a:r>
                      <a:r>
                        <a:rPr sz="1600" b="1" spc="-30">
                          <a:solidFill>
                            <a:srgbClr val="FFFFFF"/>
                          </a:solidFill>
                          <a:latin typeface="Tahoma"/>
                          <a:cs typeface="Tahoma"/>
                        </a:rPr>
                        <a:t> </a:t>
                      </a:r>
                      <a:r>
                        <a:rPr lang="en-US" sz="1600" b="1" spc="-5">
                          <a:solidFill>
                            <a:srgbClr val="FFFFFF"/>
                          </a:solidFill>
                          <a:latin typeface="Tahoma"/>
                          <a:cs typeface="Tahoma"/>
                        </a:rPr>
                        <a:t>Setu</a:t>
                      </a:r>
                      <a:r>
                        <a:rPr lang="en-US" sz="1600" b="1">
                          <a:solidFill>
                            <a:srgbClr val="FFFFFF"/>
                          </a:solidFill>
                          <a:latin typeface="Tahoma"/>
                          <a:cs typeface="Tahoma"/>
                        </a:rPr>
                        <a:t>p</a:t>
                      </a:r>
                      <a:r>
                        <a:rPr sz="1600" b="1" spc="-45">
                          <a:solidFill>
                            <a:srgbClr val="FFFFFF"/>
                          </a:solidFill>
                          <a:latin typeface="Tahoma"/>
                          <a:cs typeface="Tahoma"/>
                        </a:rPr>
                        <a:t> </a:t>
                      </a:r>
                      <a:r>
                        <a:rPr sz="1600" b="1" spc="-5">
                          <a:solidFill>
                            <a:srgbClr val="FFFFFF"/>
                          </a:solidFill>
                          <a:latin typeface="Tahoma"/>
                          <a:cs typeface="Tahoma"/>
                        </a:rPr>
                        <a:t>cost</a:t>
                      </a:r>
                      <a:r>
                        <a:rPr sz="1600" b="1" spc="-25">
                          <a:solidFill>
                            <a:srgbClr val="FFFFFF"/>
                          </a:solidFill>
                          <a:latin typeface="Tahoma"/>
                          <a:cs typeface="Tahoma"/>
                        </a:rPr>
                        <a:t> </a:t>
                      </a:r>
                      <a:r>
                        <a:rPr sz="1600" b="1" spc="-5">
                          <a:solidFill>
                            <a:srgbClr val="FFFFFF"/>
                          </a:solidFill>
                          <a:latin typeface="Tahoma"/>
                          <a:cs typeface="Tahoma"/>
                        </a:rPr>
                        <a:t>(Rs.)</a:t>
                      </a:r>
                      <a:endParaRPr lang="en-US" sz="160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marL="766445" marR="133350" indent="-624840">
                        <a:lnSpc>
                          <a:spcPct val="100000"/>
                        </a:lnSpc>
                        <a:spcBef>
                          <a:spcPts val="350"/>
                        </a:spcBef>
                      </a:pPr>
                      <a:r>
                        <a:rPr lang="en-US" sz="1600" b="1" spc="-5">
                          <a:solidFill>
                            <a:srgbClr val="FFFFFF"/>
                          </a:solidFill>
                          <a:latin typeface="Tahoma"/>
                          <a:cs typeface="Tahoma"/>
                        </a:rPr>
                        <a:t>Processing</a:t>
                      </a:r>
                      <a:r>
                        <a:rPr lang="en-US" sz="1600" b="1" spc="-80">
                          <a:solidFill>
                            <a:srgbClr val="FFFFFF"/>
                          </a:solidFill>
                          <a:latin typeface="Tahoma"/>
                          <a:cs typeface="Tahoma"/>
                        </a:rPr>
                        <a:t> </a:t>
                      </a:r>
                      <a:r>
                        <a:rPr lang="en-US" sz="1600" b="1" spc="-5">
                          <a:solidFill>
                            <a:srgbClr val="FFFFFF"/>
                          </a:solidFill>
                          <a:latin typeface="Tahoma"/>
                          <a:cs typeface="Tahoma"/>
                        </a:rPr>
                        <a:t>Cost (Rs.)</a:t>
                      </a:r>
                      <a:endParaRPr sz="160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marL="176530" marR="167640" algn="ctr">
                        <a:lnSpc>
                          <a:spcPct val="100000"/>
                        </a:lnSpc>
                        <a:spcBef>
                          <a:spcPts val="350"/>
                        </a:spcBef>
                      </a:pPr>
                      <a:r>
                        <a:rPr lang="en-US" sz="1600" b="1" spc="-5" dirty="0">
                          <a:solidFill>
                            <a:srgbClr val="FFFFFF"/>
                          </a:solidFill>
                          <a:latin typeface="Tahoma"/>
                          <a:cs typeface="Tahoma"/>
                        </a:rPr>
                        <a:t>Maximum</a:t>
                      </a:r>
                      <a:r>
                        <a:rPr lang="en-US" sz="1600" b="1" spc="-100" dirty="0">
                          <a:solidFill>
                            <a:srgbClr val="FFFFFF"/>
                          </a:solidFill>
                          <a:latin typeface="Tahoma"/>
                          <a:cs typeface="Tahoma"/>
                        </a:rPr>
                        <a:t> </a:t>
                      </a:r>
                      <a:r>
                        <a:rPr lang="en-US" sz="1600" b="1" spc="-5" dirty="0">
                          <a:solidFill>
                            <a:srgbClr val="FFFFFF"/>
                          </a:solidFill>
                          <a:latin typeface="Tahoma"/>
                          <a:cs typeface="Tahoma"/>
                        </a:rPr>
                        <a:t>daily capacity (Sq. meter)</a:t>
                      </a:r>
                      <a:endParaRPr sz="1600" dirty="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extLst>
                  <a:ext uri="{0D108BD9-81ED-4DB2-BD59-A6C34878D82A}">
                    <a16:rowId xmlns:a16="http://schemas.microsoft.com/office/drawing/2014/main" val="10000"/>
                  </a:ext>
                </a:extLst>
              </a:tr>
              <a:tr h="327206">
                <a:tc>
                  <a:txBody>
                    <a:bodyPr/>
                    <a:lstStyle/>
                    <a:p>
                      <a:pPr algn="ctr">
                        <a:lnSpc>
                          <a:spcPct val="100000"/>
                        </a:lnSpc>
                        <a:spcBef>
                          <a:spcPts val="355"/>
                        </a:spcBef>
                      </a:pPr>
                      <a:r>
                        <a:rPr sz="1600">
                          <a:solidFill>
                            <a:srgbClr val="231F20"/>
                          </a:solidFill>
                          <a:latin typeface="Tahoma"/>
                          <a:cs typeface="Tahoma"/>
                        </a:rPr>
                        <a:t>1</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tc>
                  <a:txBody>
                    <a:bodyPr/>
                    <a:lstStyle/>
                    <a:p>
                      <a:pPr algn="ctr">
                        <a:lnSpc>
                          <a:spcPct val="100000"/>
                        </a:lnSpc>
                        <a:spcBef>
                          <a:spcPts val="355"/>
                        </a:spcBef>
                      </a:pPr>
                      <a:r>
                        <a:rPr sz="1600">
                          <a:solidFill>
                            <a:srgbClr val="231F20"/>
                          </a:solidFill>
                          <a:latin typeface="Tahoma"/>
                          <a:cs typeface="Tahoma"/>
                        </a:rPr>
                        <a:t>150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tc>
                  <a:txBody>
                    <a:bodyPr/>
                    <a:lstStyle/>
                    <a:p>
                      <a:pPr marL="1905" algn="ctr">
                        <a:lnSpc>
                          <a:spcPct val="100000"/>
                        </a:lnSpc>
                        <a:spcBef>
                          <a:spcPts val="355"/>
                        </a:spcBef>
                      </a:pPr>
                      <a:r>
                        <a:rPr sz="1600">
                          <a:solidFill>
                            <a:srgbClr val="231F20"/>
                          </a:solidFill>
                          <a:latin typeface="Tahoma"/>
                          <a:cs typeface="Tahoma"/>
                        </a:rPr>
                        <a:t>15</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tc>
                  <a:txBody>
                    <a:bodyPr/>
                    <a:lstStyle/>
                    <a:p>
                      <a:pPr marL="798830">
                        <a:lnSpc>
                          <a:spcPct val="100000"/>
                        </a:lnSpc>
                        <a:spcBef>
                          <a:spcPts val="355"/>
                        </a:spcBef>
                      </a:pPr>
                      <a:r>
                        <a:rPr sz="1600">
                          <a:solidFill>
                            <a:srgbClr val="231F20"/>
                          </a:solidFill>
                          <a:latin typeface="Tahoma"/>
                          <a:cs typeface="Tahoma"/>
                        </a:rPr>
                        <a:t>2000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extLst>
                  <a:ext uri="{0D108BD9-81ED-4DB2-BD59-A6C34878D82A}">
                    <a16:rowId xmlns:a16="http://schemas.microsoft.com/office/drawing/2014/main" val="10001"/>
                  </a:ext>
                </a:extLst>
              </a:tr>
              <a:tr h="327206">
                <a:tc>
                  <a:txBody>
                    <a:bodyPr/>
                    <a:lstStyle/>
                    <a:p>
                      <a:pPr algn="ctr">
                        <a:lnSpc>
                          <a:spcPct val="100000"/>
                        </a:lnSpc>
                        <a:spcBef>
                          <a:spcPts val="355"/>
                        </a:spcBef>
                      </a:pPr>
                      <a:r>
                        <a:rPr sz="1600">
                          <a:solidFill>
                            <a:srgbClr val="231F20"/>
                          </a:solidFill>
                          <a:latin typeface="Tahoma"/>
                          <a:cs typeface="Tahoma"/>
                        </a:rPr>
                        <a:t>2</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tc>
                  <a:txBody>
                    <a:bodyPr/>
                    <a:lstStyle/>
                    <a:p>
                      <a:pPr algn="ctr">
                        <a:lnSpc>
                          <a:spcPct val="100000"/>
                        </a:lnSpc>
                        <a:spcBef>
                          <a:spcPts val="355"/>
                        </a:spcBef>
                      </a:pPr>
                      <a:r>
                        <a:rPr sz="1600">
                          <a:solidFill>
                            <a:srgbClr val="231F20"/>
                          </a:solidFill>
                          <a:latin typeface="Tahoma"/>
                          <a:cs typeface="Tahoma"/>
                        </a:rPr>
                        <a:t>240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tc>
                  <a:txBody>
                    <a:bodyPr/>
                    <a:lstStyle/>
                    <a:p>
                      <a:pPr marL="1905" algn="ctr">
                        <a:lnSpc>
                          <a:spcPct val="100000"/>
                        </a:lnSpc>
                        <a:spcBef>
                          <a:spcPts val="355"/>
                        </a:spcBef>
                      </a:pPr>
                      <a:r>
                        <a:rPr sz="1600">
                          <a:solidFill>
                            <a:srgbClr val="231F20"/>
                          </a:solidFill>
                          <a:latin typeface="Tahoma"/>
                          <a:cs typeface="Tahoma"/>
                        </a:rPr>
                        <a:t>10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tc>
                  <a:txBody>
                    <a:bodyPr/>
                    <a:lstStyle/>
                    <a:p>
                      <a:pPr marL="798830">
                        <a:lnSpc>
                          <a:spcPct val="100000"/>
                        </a:lnSpc>
                        <a:spcBef>
                          <a:spcPts val="355"/>
                        </a:spcBef>
                      </a:pPr>
                      <a:r>
                        <a:rPr sz="1600">
                          <a:solidFill>
                            <a:srgbClr val="231F20"/>
                          </a:solidFill>
                          <a:latin typeface="Tahoma"/>
                          <a:cs typeface="Tahoma"/>
                        </a:rPr>
                        <a:t>3000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extLst>
                  <a:ext uri="{0D108BD9-81ED-4DB2-BD59-A6C34878D82A}">
                    <a16:rowId xmlns:a16="http://schemas.microsoft.com/office/drawing/2014/main" val="10002"/>
                  </a:ext>
                </a:extLst>
              </a:tr>
              <a:tr h="327221">
                <a:tc>
                  <a:txBody>
                    <a:bodyPr/>
                    <a:lstStyle/>
                    <a:p>
                      <a:pPr algn="ctr">
                        <a:lnSpc>
                          <a:spcPct val="100000"/>
                        </a:lnSpc>
                        <a:spcBef>
                          <a:spcPts val="355"/>
                        </a:spcBef>
                      </a:pPr>
                      <a:r>
                        <a:rPr sz="1600">
                          <a:solidFill>
                            <a:srgbClr val="231F20"/>
                          </a:solidFill>
                          <a:latin typeface="Tahoma"/>
                          <a:cs typeface="Tahoma"/>
                        </a:rPr>
                        <a:t>3</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tc>
                  <a:txBody>
                    <a:bodyPr/>
                    <a:lstStyle/>
                    <a:p>
                      <a:pPr algn="ctr">
                        <a:lnSpc>
                          <a:spcPct val="100000"/>
                        </a:lnSpc>
                        <a:spcBef>
                          <a:spcPts val="355"/>
                        </a:spcBef>
                      </a:pPr>
                      <a:r>
                        <a:rPr sz="1600">
                          <a:solidFill>
                            <a:srgbClr val="231F20"/>
                          </a:solidFill>
                          <a:latin typeface="Tahoma"/>
                          <a:cs typeface="Tahoma"/>
                        </a:rPr>
                        <a:t>300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tc>
                  <a:txBody>
                    <a:bodyPr/>
                    <a:lstStyle/>
                    <a:p>
                      <a:pPr marL="1905" algn="ctr">
                        <a:lnSpc>
                          <a:spcPct val="100000"/>
                        </a:lnSpc>
                        <a:spcBef>
                          <a:spcPts val="355"/>
                        </a:spcBef>
                      </a:pPr>
                      <a:r>
                        <a:rPr sz="1600">
                          <a:solidFill>
                            <a:srgbClr val="231F20"/>
                          </a:solidFill>
                          <a:latin typeface="Tahoma"/>
                          <a:cs typeface="Tahoma"/>
                        </a:rPr>
                        <a:t>8</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tc>
                  <a:txBody>
                    <a:bodyPr/>
                    <a:lstStyle/>
                    <a:p>
                      <a:pPr marL="798830">
                        <a:lnSpc>
                          <a:spcPct val="100000"/>
                        </a:lnSpc>
                        <a:spcBef>
                          <a:spcPts val="355"/>
                        </a:spcBef>
                      </a:pPr>
                      <a:r>
                        <a:rPr sz="1600" dirty="0">
                          <a:solidFill>
                            <a:srgbClr val="231F20"/>
                          </a:solidFill>
                          <a:latin typeface="Tahoma"/>
                          <a:cs typeface="Tahoma"/>
                        </a:rPr>
                        <a:t>3500</a:t>
                      </a:r>
                      <a:endParaRPr sz="1600" dirty="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426929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sldNum" sz="quarter" idx="7"/>
          </p:nvPr>
        </p:nvSpPr>
        <p:spPr>
          <a:xfrm>
            <a:off x="8846562" y="6891552"/>
            <a:ext cx="243840" cy="209550"/>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9A9D9F"/>
                </a:solidFill>
                <a:latin typeface="Tahoma"/>
                <a:ea typeface="+mn-ea"/>
                <a:cs typeface="Tahom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1285">
              <a:spcBef>
                <a:spcPts val="100"/>
              </a:spcBef>
            </a:pPr>
            <a:fld id="{81D60167-4931-47E6-BA6A-407CBD079E47}" type="slidenum">
              <a:rPr lang="en-IN" smtClean="0"/>
              <a:pPr marL="121285">
                <a:spcBef>
                  <a:spcPts val="100"/>
                </a:spcBef>
              </a:pPr>
              <a:t>10</a:t>
            </a:fld>
            <a:endParaRPr/>
          </a:p>
        </p:txBody>
      </p:sp>
      <p:sp>
        <p:nvSpPr>
          <p:cNvPr id="2" name="object 2"/>
          <p:cNvSpPr txBox="1">
            <a:spLocks noGrp="1"/>
          </p:cNvSpPr>
          <p:nvPr>
            <p:ph type="title"/>
          </p:nvPr>
        </p:nvSpPr>
        <p:spPr>
          <a:xfrm>
            <a:off x="2939276" y="709870"/>
            <a:ext cx="8473478" cy="1097201"/>
          </a:xfrm>
          <a:prstGeom prst="rect">
            <a:avLst/>
          </a:prstGeom>
        </p:spPr>
        <p:txBody>
          <a:bodyPr vert="horz" wrap="square" lIns="0" tIns="10646" rIns="0" bIns="0" rtlCol="0" anchor="t">
            <a:spAutoFit/>
          </a:bodyPr>
          <a:lstStyle/>
          <a:p>
            <a:pPr marL="1805924" marR="4483" algn="r">
              <a:lnSpc>
                <a:spcPct val="100000"/>
              </a:lnSpc>
              <a:spcBef>
                <a:spcPts val="84"/>
              </a:spcBef>
            </a:pPr>
            <a:r>
              <a:rPr sz="3530" spc="-4"/>
              <a:t>INTEGER</a:t>
            </a:r>
            <a:r>
              <a:rPr sz="3530" spc="-79"/>
              <a:t> </a:t>
            </a:r>
            <a:r>
              <a:rPr sz="3530" spc="-4"/>
              <a:t>PROGRAMMING:</a:t>
            </a:r>
            <a:endParaRPr sz="3530"/>
          </a:p>
          <a:p>
            <a:pPr marL="1805924" marR="4483" algn="r">
              <a:lnSpc>
                <a:spcPct val="100000"/>
              </a:lnSpc>
            </a:pPr>
            <a:r>
              <a:rPr sz="3530" spc="-4"/>
              <a:t>FORMULATION</a:t>
            </a:r>
            <a:endParaRPr sz="3530"/>
          </a:p>
        </p:txBody>
      </p:sp>
      <p:sp>
        <p:nvSpPr>
          <p:cNvPr id="3" name="object 3"/>
          <p:cNvSpPr txBox="1"/>
          <p:nvPr/>
        </p:nvSpPr>
        <p:spPr>
          <a:xfrm>
            <a:off x="166273" y="1984389"/>
            <a:ext cx="10719537" cy="4054602"/>
          </a:xfrm>
          <a:prstGeom prst="rect">
            <a:avLst/>
          </a:prstGeom>
        </p:spPr>
        <p:txBody>
          <a:bodyPr vert="horz" wrap="square" lIns="0" tIns="11206" rIns="0" bIns="0" rtlCol="0" anchor="t">
            <a:spAutoFit/>
          </a:bodyPr>
          <a:lstStyle/>
          <a:p>
            <a:pPr marL="368935" marR="82550" indent="-302260">
              <a:spcBef>
                <a:spcPts val="88"/>
              </a:spcBef>
              <a:buFont typeface="Wingdings"/>
              <a:buChar char=""/>
              <a:tabLst>
                <a:tab pos="369254" algn="l"/>
                <a:tab pos="369814" algn="l"/>
                <a:tab pos="1706187" algn="l"/>
                <a:tab pos="3249319" algn="l"/>
                <a:tab pos="3807402" algn="l"/>
                <a:tab pos="4206913" algn="l"/>
                <a:tab pos="4689912" algn="l"/>
                <a:tab pos="5264244" algn="l"/>
                <a:tab pos="6717164" algn="l"/>
                <a:tab pos="7447827" algn="l"/>
              </a:tabLst>
            </a:pPr>
            <a:r>
              <a:rPr lang="en-US" sz="2118" b="1" spc="-4">
                <a:solidFill>
                  <a:srgbClr val="231F20"/>
                </a:solidFill>
                <a:latin typeface="Tahoma"/>
                <a:cs typeface="Tahoma"/>
              </a:rPr>
              <a:t>D</a:t>
            </a:r>
            <a:r>
              <a:rPr lang="en-US" sz="2118" b="1">
                <a:solidFill>
                  <a:srgbClr val="231F20"/>
                </a:solidFill>
                <a:latin typeface="Tahoma"/>
                <a:cs typeface="Tahoma"/>
              </a:rPr>
              <a:t>e</a:t>
            </a:r>
            <a:r>
              <a:rPr lang="en-US" sz="2118" b="1" spc="-9">
                <a:solidFill>
                  <a:srgbClr val="231F20"/>
                </a:solidFill>
                <a:latin typeface="Tahoma"/>
                <a:cs typeface="Tahoma"/>
              </a:rPr>
              <a:t>c</a:t>
            </a:r>
            <a:r>
              <a:rPr lang="en-US" sz="2118" b="1">
                <a:solidFill>
                  <a:srgbClr val="231F20"/>
                </a:solidFill>
                <a:latin typeface="Tahoma"/>
                <a:cs typeface="Tahoma"/>
              </a:rPr>
              <a:t>isi</a:t>
            </a:r>
            <a:r>
              <a:rPr lang="en-US" sz="2118" b="1" spc="-4">
                <a:solidFill>
                  <a:srgbClr val="231F20"/>
                </a:solidFill>
                <a:latin typeface="Tahoma"/>
                <a:cs typeface="Tahoma"/>
              </a:rPr>
              <a:t>o</a:t>
            </a:r>
            <a:r>
              <a:rPr lang="en-US" sz="2118" b="1">
                <a:solidFill>
                  <a:srgbClr val="231F20"/>
                </a:solidFill>
                <a:latin typeface="Tahoma"/>
                <a:cs typeface="Tahoma"/>
              </a:rPr>
              <a:t>n</a:t>
            </a:r>
            <a:r>
              <a:rPr lang="en-US" sz="2118">
                <a:solidFill>
                  <a:srgbClr val="231F20"/>
                </a:solidFill>
                <a:latin typeface="Times New Roman"/>
                <a:cs typeface="Times New Roman"/>
              </a:rPr>
              <a:t>	</a:t>
            </a:r>
            <a:r>
              <a:rPr lang="en-US" sz="2118" b="1">
                <a:solidFill>
                  <a:srgbClr val="231F20"/>
                </a:solidFill>
                <a:latin typeface="Tahoma"/>
                <a:cs typeface="Tahoma"/>
              </a:rPr>
              <a:t>Variab</a:t>
            </a:r>
            <a:r>
              <a:rPr lang="en-US" sz="2118" b="1" spc="-9">
                <a:solidFill>
                  <a:srgbClr val="231F20"/>
                </a:solidFill>
                <a:latin typeface="Tahoma"/>
                <a:cs typeface="Tahoma"/>
              </a:rPr>
              <a:t>l</a:t>
            </a:r>
            <a:r>
              <a:rPr lang="en-US" sz="2118" b="1">
                <a:solidFill>
                  <a:srgbClr val="231F20"/>
                </a:solidFill>
                <a:latin typeface="Tahoma"/>
                <a:cs typeface="Tahoma"/>
              </a:rPr>
              <a:t>e</a:t>
            </a:r>
            <a:r>
              <a:rPr lang="en-US" sz="2118" b="1" spc="4">
                <a:solidFill>
                  <a:srgbClr val="231F20"/>
                </a:solidFill>
                <a:latin typeface="Tahoma"/>
                <a:cs typeface="Tahoma"/>
              </a:rPr>
              <a:t>s</a:t>
            </a:r>
            <a:r>
              <a:rPr lang="en-US" sz="2118" b="1">
                <a:solidFill>
                  <a:srgbClr val="231F20"/>
                </a:solidFill>
                <a:latin typeface="Tahoma"/>
                <a:cs typeface="Tahoma"/>
              </a:rPr>
              <a:t>:</a:t>
            </a:r>
            <a:r>
              <a:rPr lang="en-US" sz="2118">
                <a:solidFill>
                  <a:srgbClr val="231F20"/>
                </a:solidFill>
                <a:latin typeface="Times New Roman"/>
                <a:cs typeface="Times New Roman"/>
              </a:rPr>
              <a:t>	</a:t>
            </a:r>
            <a:r>
              <a:rPr lang="en-US" sz="2118">
                <a:solidFill>
                  <a:srgbClr val="231F20"/>
                </a:solidFill>
                <a:latin typeface="Tahoma"/>
                <a:cs typeface="Tahoma"/>
              </a:rPr>
              <a:t>L</a:t>
            </a:r>
            <a:r>
              <a:rPr lang="en-US" sz="2118" spc="-4">
                <a:solidFill>
                  <a:srgbClr val="231F20"/>
                </a:solidFill>
                <a:latin typeface="Tahoma"/>
                <a:cs typeface="Tahoma"/>
              </a:rPr>
              <a:t>e</a:t>
            </a:r>
            <a:r>
              <a:rPr lang="en-US" sz="2118">
                <a:solidFill>
                  <a:srgbClr val="231F20"/>
                </a:solidFill>
                <a:latin typeface="Tahoma"/>
                <a:cs typeface="Tahoma"/>
              </a:rPr>
              <a:t>t</a:t>
            </a:r>
            <a:r>
              <a:rPr lang="en-US" sz="2118">
                <a:solidFill>
                  <a:srgbClr val="231F20"/>
                </a:solidFill>
                <a:latin typeface="Times New Roman"/>
                <a:cs typeface="Times New Roman"/>
              </a:rPr>
              <a:t>	</a:t>
            </a:r>
            <a:r>
              <a:rPr lang="en-US" sz="2118" spc="-4">
                <a:solidFill>
                  <a:srgbClr val="231F20"/>
                </a:solidFill>
                <a:latin typeface="Tahoma"/>
                <a:cs typeface="Tahoma"/>
              </a:rPr>
              <a:t>X</a:t>
            </a:r>
            <a:r>
              <a:rPr lang="en-US" sz="2118" spc="-6" baseline="-20833">
                <a:solidFill>
                  <a:srgbClr val="231F20"/>
                </a:solidFill>
                <a:latin typeface="Tahoma"/>
                <a:cs typeface="Tahoma"/>
              </a:rPr>
              <a:t>j</a:t>
            </a:r>
            <a:r>
              <a:rPr lang="en-US" sz="2118" baseline="-20833">
                <a:solidFill>
                  <a:srgbClr val="231F20"/>
                </a:solidFill>
                <a:latin typeface="Times New Roman"/>
                <a:cs typeface="Times New Roman"/>
              </a:rPr>
              <a:t>	</a:t>
            </a:r>
            <a:r>
              <a:rPr lang="en-US" sz="2118" spc="-9">
                <a:solidFill>
                  <a:srgbClr val="231F20"/>
                </a:solidFill>
                <a:latin typeface="Tahoma"/>
                <a:cs typeface="Tahoma"/>
              </a:rPr>
              <a:t>b</a:t>
            </a:r>
            <a:r>
              <a:rPr lang="en-US" sz="2118">
                <a:solidFill>
                  <a:srgbClr val="231F20"/>
                </a:solidFill>
                <a:latin typeface="Tahoma"/>
                <a:cs typeface="Tahoma"/>
              </a:rPr>
              <a:t>e</a:t>
            </a:r>
            <a:r>
              <a:rPr lang="en-US" sz="2118">
                <a:solidFill>
                  <a:srgbClr val="231F20"/>
                </a:solidFill>
                <a:latin typeface="Times New Roman"/>
                <a:cs typeface="Times New Roman"/>
              </a:rPr>
              <a:t>	</a:t>
            </a:r>
            <a:r>
              <a:rPr lang="en-US" sz="2118" spc="-4">
                <a:solidFill>
                  <a:srgbClr val="231F20"/>
                </a:solidFill>
                <a:latin typeface="Tahoma"/>
                <a:cs typeface="Tahoma"/>
              </a:rPr>
              <a:t>t</a:t>
            </a:r>
            <a:r>
              <a:rPr lang="en-US" sz="2118">
                <a:solidFill>
                  <a:srgbClr val="231F20"/>
                </a:solidFill>
                <a:latin typeface="Tahoma"/>
                <a:cs typeface="Tahoma"/>
              </a:rPr>
              <a:t>he</a:t>
            </a:r>
            <a:r>
              <a:rPr lang="en-US" sz="2118">
                <a:solidFill>
                  <a:srgbClr val="231F20"/>
                </a:solidFill>
                <a:latin typeface="Times New Roman"/>
                <a:cs typeface="Times New Roman"/>
              </a:rPr>
              <a:t>	</a:t>
            </a:r>
            <a:r>
              <a:rPr lang="en-US" sz="2118">
                <a:solidFill>
                  <a:srgbClr val="231F20"/>
                </a:solidFill>
                <a:latin typeface="Tahoma"/>
                <a:cs typeface="Tahoma"/>
              </a:rPr>
              <a:t>p</a:t>
            </a:r>
            <a:r>
              <a:rPr lang="en-US" sz="2118" spc="-22">
                <a:solidFill>
                  <a:srgbClr val="231F20"/>
                </a:solidFill>
                <a:latin typeface="Tahoma"/>
                <a:cs typeface="Tahoma"/>
              </a:rPr>
              <a:t>r</a:t>
            </a:r>
            <a:r>
              <a:rPr lang="en-US" sz="2118">
                <a:solidFill>
                  <a:srgbClr val="231F20"/>
                </a:solidFill>
                <a:latin typeface="Tahoma"/>
                <a:cs typeface="Tahoma"/>
              </a:rPr>
              <a:t>odu</a:t>
            </a:r>
            <a:r>
              <a:rPr lang="en-US" sz="2118" spc="-4">
                <a:solidFill>
                  <a:srgbClr val="231F20"/>
                </a:solidFill>
                <a:latin typeface="Tahoma"/>
                <a:cs typeface="Tahoma"/>
              </a:rPr>
              <a:t>cti</a:t>
            </a:r>
            <a:r>
              <a:rPr lang="en-US" sz="2118">
                <a:solidFill>
                  <a:srgbClr val="231F20"/>
                </a:solidFill>
                <a:latin typeface="Tahoma"/>
                <a:cs typeface="Tahoma"/>
              </a:rPr>
              <a:t>on</a:t>
            </a:r>
            <a:r>
              <a:rPr lang="en-US" sz="2118">
                <a:solidFill>
                  <a:srgbClr val="231F20"/>
                </a:solidFill>
                <a:latin typeface="Times New Roman"/>
                <a:cs typeface="Times New Roman"/>
              </a:rPr>
              <a:t>	</a:t>
            </a:r>
            <a:r>
              <a:rPr lang="en-US" sz="2118">
                <a:solidFill>
                  <a:srgbClr val="231F20"/>
                </a:solidFill>
                <a:latin typeface="Tahoma"/>
                <a:cs typeface="Tahoma"/>
              </a:rPr>
              <a:t>l</a:t>
            </a:r>
            <a:r>
              <a:rPr lang="en-US" sz="2118" spc="-13">
                <a:solidFill>
                  <a:srgbClr val="231F20"/>
                </a:solidFill>
                <a:latin typeface="Tahoma"/>
                <a:cs typeface="Tahoma"/>
              </a:rPr>
              <a:t>e</a:t>
            </a:r>
            <a:r>
              <a:rPr lang="en-US" sz="2118" spc="-18">
                <a:solidFill>
                  <a:srgbClr val="231F20"/>
                </a:solidFill>
                <a:latin typeface="Tahoma"/>
                <a:cs typeface="Tahoma"/>
              </a:rPr>
              <a:t>v</a:t>
            </a:r>
            <a:r>
              <a:rPr lang="en-US" sz="2118" spc="-4">
                <a:solidFill>
                  <a:srgbClr val="231F20"/>
                </a:solidFill>
                <a:latin typeface="Tahoma"/>
                <a:cs typeface="Tahoma"/>
              </a:rPr>
              <a:t>e</a:t>
            </a:r>
            <a:r>
              <a:rPr lang="en-US" sz="2118">
                <a:solidFill>
                  <a:srgbClr val="231F20"/>
                </a:solidFill>
                <a:latin typeface="Tahoma"/>
                <a:cs typeface="Tahoma"/>
              </a:rPr>
              <a:t>l</a:t>
            </a:r>
            <a:r>
              <a:rPr lang="en-US" sz="2118">
                <a:solidFill>
                  <a:srgbClr val="231F20"/>
                </a:solidFill>
                <a:latin typeface="Times New Roman"/>
                <a:cs typeface="Times New Roman"/>
              </a:rPr>
              <a:t>	</a:t>
            </a:r>
            <a:r>
              <a:rPr lang="en-US" sz="2118" spc="-22">
                <a:solidFill>
                  <a:srgbClr val="231F20"/>
                </a:solidFill>
                <a:latin typeface="Tahoma"/>
                <a:cs typeface="Tahoma"/>
              </a:rPr>
              <a:t>f</a:t>
            </a:r>
            <a:r>
              <a:rPr lang="en-US" sz="2118">
                <a:solidFill>
                  <a:srgbClr val="231F20"/>
                </a:solidFill>
                <a:latin typeface="Tahoma"/>
                <a:cs typeface="Tahoma"/>
              </a:rPr>
              <a:t>or </a:t>
            </a:r>
            <a:r>
              <a:rPr lang="en-US" sz="2118" spc="-4">
                <a:solidFill>
                  <a:srgbClr val="231F20"/>
                </a:solidFill>
                <a:latin typeface="Tahoma"/>
                <a:cs typeface="Tahoma"/>
              </a:rPr>
              <a:t>process</a:t>
            </a:r>
            <a:r>
              <a:rPr lang="en-US" sz="2118" spc="-13">
                <a:solidFill>
                  <a:srgbClr val="231F20"/>
                </a:solidFill>
                <a:latin typeface="Tahoma"/>
                <a:cs typeface="Tahoma"/>
              </a:rPr>
              <a:t> </a:t>
            </a:r>
            <a:r>
              <a:rPr lang="en-US" sz="2118">
                <a:solidFill>
                  <a:srgbClr val="231F20"/>
                </a:solidFill>
                <a:latin typeface="Tahoma"/>
                <a:cs typeface="Tahoma"/>
              </a:rPr>
              <a:t>j </a:t>
            </a:r>
            <a:r>
              <a:rPr lang="en-US" sz="2118" spc="26">
                <a:solidFill>
                  <a:srgbClr val="231F20"/>
                </a:solidFill>
                <a:latin typeface="Tahoma"/>
                <a:cs typeface="Tahoma"/>
              </a:rPr>
              <a:t>(j</a:t>
            </a:r>
            <a:r>
              <a:rPr lang="en-US" sz="2118">
                <a:solidFill>
                  <a:srgbClr val="231F20"/>
                </a:solidFill>
                <a:latin typeface="Tahoma"/>
                <a:cs typeface="Tahoma"/>
              </a:rPr>
              <a:t> = </a:t>
            </a:r>
            <a:r>
              <a:rPr lang="en-US" sz="2118" spc="-4">
                <a:solidFill>
                  <a:srgbClr val="231F20"/>
                </a:solidFill>
                <a:latin typeface="Tahoma"/>
                <a:cs typeface="Tahoma"/>
              </a:rPr>
              <a:t>1,</a:t>
            </a:r>
            <a:r>
              <a:rPr lang="en-US" sz="2118">
                <a:solidFill>
                  <a:srgbClr val="231F20"/>
                </a:solidFill>
                <a:latin typeface="Tahoma"/>
                <a:cs typeface="Tahoma"/>
              </a:rPr>
              <a:t> </a:t>
            </a:r>
            <a:r>
              <a:rPr lang="en-US" sz="2118" spc="-4">
                <a:solidFill>
                  <a:srgbClr val="231F20"/>
                </a:solidFill>
                <a:latin typeface="Tahoma"/>
                <a:cs typeface="Tahoma"/>
              </a:rPr>
              <a:t>2,</a:t>
            </a:r>
            <a:r>
              <a:rPr lang="en-US" sz="2118" spc="9">
                <a:solidFill>
                  <a:srgbClr val="231F20"/>
                </a:solidFill>
                <a:latin typeface="Tahoma"/>
                <a:cs typeface="Tahoma"/>
              </a:rPr>
              <a:t> </a:t>
            </a:r>
            <a:r>
              <a:rPr lang="en-US" sz="2118" spc="-4">
                <a:solidFill>
                  <a:srgbClr val="231F20"/>
                </a:solidFill>
                <a:latin typeface="Tahoma"/>
                <a:cs typeface="Tahoma"/>
              </a:rPr>
              <a:t>3)</a:t>
            </a:r>
            <a:r>
              <a:rPr lang="en-US" sz="2118" spc="9">
                <a:solidFill>
                  <a:srgbClr val="231F20"/>
                </a:solidFill>
                <a:latin typeface="Tahoma"/>
                <a:cs typeface="Tahoma"/>
              </a:rPr>
              <a:t> </a:t>
            </a:r>
            <a:r>
              <a:rPr lang="en-US" sz="2118" spc="-4">
                <a:solidFill>
                  <a:srgbClr val="231F20"/>
                </a:solidFill>
                <a:latin typeface="Tahoma"/>
                <a:cs typeface="Tahoma"/>
              </a:rPr>
              <a:t>also</a:t>
            </a:r>
            <a:r>
              <a:rPr lang="en-US" sz="2118">
                <a:solidFill>
                  <a:srgbClr val="231F20"/>
                </a:solidFill>
                <a:latin typeface="Tahoma"/>
                <a:cs typeface="Tahoma"/>
              </a:rPr>
              <a:t> </a:t>
            </a:r>
            <a:r>
              <a:rPr lang="en-US" sz="2118" spc="-4">
                <a:solidFill>
                  <a:srgbClr val="231F20"/>
                </a:solidFill>
                <a:latin typeface="Tahoma"/>
                <a:cs typeface="Tahoma"/>
              </a:rPr>
              <a:t>let</a:t>
            </a:r>
            <a:endParaRPr lang="en-US" sz="2118">
              <a:latin typeface="Tahoma"/>
              <a:ea typeface="Tahoma"/>
              <a:cs typeface="Tahoma"/>
            </a:endParaRPr>
          </a:p>
          <a:p>
            <a:pPr marL="1579880" lvl="1" indent="-302895">
              <a:buFont typeface="Wingdings"/>
              <a:buChar char=""/>
              <a:tabLst>
                <a:tab pos="1580114" algn="l"/>
                <a:tab pos="1580674" algn="l"/>
                <a:tab pos="2464305" algn="l"/>
              </a:tabLst>
            </a:pPr>
            <a:r>
              <a:rPr lang="en-US" sz="2118" spc="-4">
                <a:solidFill>
                  <a:srgbClr val="231F20"/>
                </a:solidFill>
                <a:latin typeface="Tahoma"/>
                <a:cs typeface="Tahoma"/>
              </a:rPr>
              <a:t>Y</a:t>
            </a:r>
            <a:r>
              <a:rPr lang="en-US" sz="2118" spc="-6" baseline="-20833">
                <a:solidFill>
                  <a:srgbClr val="231F20"/>
                </a:solidFill>
                <a:latin typeface="Tahoma"/>
                <a:cs typeface="Tahoma"/>
              </a:rPr>
              <a:t>j</a:t>
            </a:r>
            <a:r>
              <a:rPr lang="en-US" sz="2118" spc="331" baseline="-20833">
                <a:solidFill>
                  <a:srgbClr val="231F20"/>
                </a:solidFill>
                <a:latin typeface="Tahoma"/>
                <a:cs typeface="Tahoma"/>
              </a:rPr>
              <a:t> </a:t>
            </a:r>
            <a:r>
              <a:rPr lang="en-US" sz="2118">
                <a:solidFill>
                  <a:srgbClr val="231F20"/>
                </a:solidFill>
                <a:latin typeface="Tahoma"/>
                <a:cs typeface="Tahoma"/>
              </a:rPr>
              <a:t>= 1</a:t>
            </a:r>
            <a:r>
              <a:rPr lang="en-US" sz="2118">
                <a:solidFill>
                  <a:srgbClr val="231F20"/>
                </a:solidFill>
                <a:latin typeface="Times New Roman"/>
                <a:cs typeface="Times New Roman"/>
              </a:rPr>
              <a:t>	</a:t>
            </a:r>
            <a:r>
              <a:rPr lang="en-US" sz="2118">
                <a:solidFill>
                  <a:srgbClr val="231F20"/>
                </a:solidFill>
                <a:latin typeface="Tahoma"/>
                <a:cs typeface="Tahoma"/>
              </a:rPr>
              <a:t>if</a:t>
            </a:r>
            <a:r>
              <a:rPr lang="en-US" sz="2118" spc="-4">
                <a:solidFill>
                  <a:srgbClr val="231F20"/>
                </a:solidFill>
                <a:latin typeface="Tahoma"/>
                <a:cs typeface="Tahoma"/>
              </a:rPr>
              <a:t> process</a:t>
            </a:r>
            <a:r>
              <a:rPr lang="en-US" sz="2118" spc="-9">
                <a:solidFill>
                  <a:srgbClr val="231F20"/>
                </a:solidFill>
                <a:latin typeface="Tahoma"/>
                <a:cs typeface="Tahoma"/>
              </a:rPr>
              <a:t> </a:t>
            </a:r>
            <a:r>
              <a:rPr lang="en-US" sz="2118">
                <a:solidFill>
                  <a:srgbClr val="231F20"/>
                </a:solidFill>
                <a:latin typeface="Tahoma"/>
                <a:cs typeface="Tahoma"/>
              </a:rPr>
              <a:t>j</a:t>
            </a:r>
            <a:r>
              <a:rPr lang="en-US" sz="2118" spc="-13">
                <a:solidFill>
                  <a:srgbClr val="231F20"/>
                </a:solidFill>
                <a:latin typeface="Tahoma"/>
                <a:cs typeface="Tahoma"/>
              </a:rPr>
              <a:t> </a:t>
            </a:r>
            <a:r>
              <a:rPr lang="en-US" sz="2118">
                <a:solidFill>
                  <a:srgbClr val="231F20"/>
                </a:solidFill>
                <a:latin typeface="Tahoma"/>
                <a:cs typeface="Tahoma"/>
              </a:rPr>
              <a:t>is</a:t>
            </a:r>
            <a:r>
              <a:rPr lang="en-US" sz="2118" spc="-13">
                <a:solidFill>
                  <a:srgbClr val="231F20"/>
                </a:solidFill>
                <a:latin typeface="Tahoma"/>
                <a:cs typeface="Tahoma"/>
              </a:rPr>
              <a:t> </a:t>
            </a:r>
            <a:r>
              <a:rPr lang="en-US" sz="2118" spc="-4">
                <a:solidFill>
                  <a:srgbClr val="231F20"/>
                </a:solidFill>
                <a:latin typeface="Tahoma"/>
                <a:cs typeface="Tahoma"/>
              </a:rPr>
              <a:t>used,</a:t>
            </a:r>
            <a:r>
              <a:rPr lang="en-US" sz="2118" spc="-13">
                <a:solidFill>
                  <a:srgbClr val="231F20"/>
                </a:solidFill>
                <a:latin typeface="Tahoma"/>
                <a:cs typeface="Tahoma"/>
              </a:rPr>
              <a:t> </a:t>
            </a:r>
            <a:r>
              <a:rPr lang="en-US" sz="2118">
                <a:solidFill>
                  <a:srgbClr val="231F20"/>
                </a:solidFill>
                <a:latin typeface="Tahoma"/>
                <a:cs typeface="Tahoma"/>
              </a:rPr>
              <a:t>and</a:t>
            </a:r>
            <a:endParaRPr lang="en-US" sz="2118">
              <a:latin typeface="Tahoma"/>
              <a:ea typeface="Tahoma"/>
              <a:cs typeface="Tahoma"/>
            </a:endParaRPr>
          </a:p>
          <a:p>
            <a:pPr marL="1579880" lvl="1" indent="-302895">
              <a:buFont typeface="Wingdings"/>
              <a:buChar char=""/>
              <a:tabLst>
                <a:tab pos="1580114" algn="l"/>
                <a:tab pos="1580674" algn="l"/>
              </a:tabLst>
            </a:pPr>
            <a:r>
              <a:rPr lang="en-US" sz="2118" spc="-4">
                <a:solidFill>
                  <a:srgbClr val="231F20"/>
                </a:solidFill>
                <a:latin typeface="Tahoma"/>
                <a:cs typeface="Tahoma"/>
              </a:rPr>
              <a:t>Y</a:t>
            </a:r>
            <a:r>
              <a:rPr lang="en-US" sz="2118" spc="-6" baseline="-20833">
                <a:solidFill>
                  <a:srgbClr val="231F20"/>
                </a:solidFill>
                <a:latin typeface="Tahoma"/>
                <a:cs typeface="Tahoma"/>
              </a:rPr>
              <a:t>j</a:t>
            </a:r>
            <a:r>
              <a:rPr lang="en-US" sz="2118" spc="317" baseline="-20833">
                <a:solidFill>
                  <a:srgbClr val="231F20"/>
                </a:solidFill>
                <a:latin typeface="Tahoma"/>
                <a:cs typeface="Tahoma"/>
              </a:rPr>
              <a:t> </a:t>
            </a:r>
            <a:r>
              <a:rPr lang="en-US" sz="2118">
                <a:solidFill>
                  <a:srgbClr val="231F20"/>
                </a:solidFill>
                <a:latin typeface="Tahoma"/>
                <a:cs typeface="Tahoma"/>
              </a:rPr>
              <a:t>=</a:t>
            </a:r>
            <a:r>
              <a:rPr lang="en-US" sz="2118" spc="-9">
                <a:solidFill>
                  <a:srgbClr val="231F20"/>
                </a:solidFill>
                <a:latin typeface="Tahoma"/>
                <a:cs typeface="Tahoma"/>
              </a:rPr>
              <a:t> </a:t>
            </a:r>
            <a:r>
              <a:rPr lang="en-US" sz="2118">
                <a:solidFill>
                  <a:srgbClr val="231F20"/>
                </a:solidFill>
                <a:latin typeface="Tahoma"/>
                <a:cs typeface="Tahoma"/>
              </a:rPr>
              <a:t>0</a:t>
            </a:r>
            <a:r>
              <a:rPr lang="en-US" sz="2118" spc="-4">
                <a:solidFill>
                  <a:srgbClr val="231F20"/>
                </a:solidFill>
                <a:latin typeface="Tahoma"/>
                <a:cs typeface="Tahoma"/>
              </a:rPr>
              <a:t> </a:t>
            </a:r>
            <a:r>
              <a:rPr lang="en-US" sz="2118">
                <a:solidFill>
                  <a:srgbClr val="231F20"/>
                </a:solidFill>
                <a:latin typeface="Tahoma"/>
                <a:cs typeface="Tahoma"/>
              </a:rPr>
              <a:t>if</a:t>
            </a:r>
            <a:r>
              <a:rPr lang="en-US" sz="2118" spc="-4">
                <a:solidFill>
                  <a:srgbClr val="231F20"/>
                </a:solidFill>
                <a:latin typeface="Tahoma"/>
                <a:cs typeface="Tahoma"/>
              </a:rPr>
              <a:t> process</a:t>
            </a:r>
            <a:r>
              <a:rPr lang="en-US" sz="2118" spc="-9">
                <a:solidFill>
                  <a:srgbClr val="231F20"/>
                </a:solidFill>
                <a:latin typeface="Tahoma"/>
                <a:cs typeface="Tahoma"/>
              </a:rPr>
              <a:t> </a:t>
            </a:r>
            <a:r>
              <a:rPr lang="en-US" sz="2118">
                <a:solidFill>
                  <a:srgbClr val="231F20"/>
                </a:solidFill>
                <a:latin typeface="Tahoma"/>
                <a:cs typeface="Tahoma"/>
              </a:rPr>
              <a:t>j</a:t>
            </a:r>
            <a:r>
              <a:rPr lang="en-US" sz="2118" spc="-9">
                <a:solidFill>
                  <a:srgbClr val="231F20"/>
                </a:solidFill>
                <a:latin typeface="Tahoma"/>
                <a:cs typeface="Tahoma"/>
              </a:rPr>
              <a:t> </a:t>
            </a:r>
            <a:r>
              <a:rPr lang="en-US" sz="2118">
                <a:solidFill>
                  <a:srgbClr val="231F20"/>
                </a:solidFill>
                <a:latin typeface="Tahoma"/>
                <a:cs typeface="Tahoma"/>
              </a:rPr>
              <a:t>is</a:t>
            </a:r>
            <a:r>
              <a:rPr lang="en-US" sz="2118" spc="-4">
                <a:solidFill>
                  <a:srgbClr val="231F20"/>
                </a:solidFill>
                <a:latin typeface="Tahoma"/>
                <a:cs typeface="Tahoma"/>
              </a:rPr>
              <a:t> </a:t>
            </a:r>
            <a:r>
              <a:rPr lang="en-US" sz="2118">
                <a:solidFill>
                  <a:srgbClr val="231F20"/>
                </a:solidFill>
                <a:latin typeface="Tahoma"/>
                <a:cs typeface="Tahoma"/>
              </a:rPr>
              <a:t>not</a:t>
            </a:r>
            <a:r>
              <a:rPr lang="en-US" sz="2118" spc="-22">
                <a:solidFill>
                  <a:srgbClr val="231F20"/>
                </a:solidFill>
                <a:latin typeface="Tahoma"/>
                <a:cs typeface="Tahoma"/>
              </a:rPr>
              <a:t> </a:t>
            </a:r>
            <a:r>
              <a:rPr lang="en-US" sz="2118" spc="-4">
                <a:solidFill>
                  <a:srgbClr val="231F20"/>
                </a:solidFill>
                <a:latin typeface="Tahoma"/>
                <a:cs typeface="Tahoma"/>
              </a:rPr>
              <a:t>used</a:t>
            </a:r>
            <a:endParaRPr lang="en-US" sz="2118">
              <a:latin typeface="Tahoma"/>
              <a:ea typeface="Tahoma"/>
              <a:cs typeface="Tahoma"/>
            </a:endParaRPr>
          </a:p>
          <a:p>
            <a:pPr marL="369570" indent="-302260">
              <a:lnSpc>
                <a:spcPts val="2541"/>
              </a:lnSpc>
              <a:buFont typeface="Wingdings"/>
              <a:buChar char=""/>
              <a:tabLst>
                <a:tab pos="369254" algn="l"/>
                <a:tab pos="369814" algn="l"/>
              </a:tabLst>
            </a:pPr>
            <a:r>
              <a:rPr lang="en-US" sz="2118" b="1" spc="-4">
                <a:solidFill>
                  <a:srgbClr val="231F20"/>
                </a:solidFill>
                <a:latin typeface="Tahoma"/>
                <a:cs typeface="Tahoma"/>
              </a:rPr>
              <a:t>Objective</a:t>
            </a:r>
            <a:r>
              <a:rPr lang="en-US" sz="2118" b="1" spc="-35">
                <a:solidFill>
                  <a:srgbClr val="231F20"/>
                </a:solidFill>
                <a:latin typeface="Tahoma"/>
                <a:cs typeface="Tahoma"/>
              </a:rPr>
              <a:t> </a:t>
            </a:r>
            <a:r>
              <a:rPr lang="en-US" sz="2118" b="1" spc="-4">
                <a:solidFill>
                  <a:srgbClr val="231F20"/>
                </a:solidFill>
                <a:latin typeface="Tahoma"/>
                <a:cs typeface="Tahoma"/>
              </a:rPr>
              <a:t>Function:</a:t>
            </a:r>
            <a:endParaRPr lang="en-US" sz="2118">
              <a:latin typeface="Tahoma"/>
              <a:ea typeface="Tahoma"/>
              <a:cs typeface="Tahoma"/>
            </a:endParaRPr>
          </a:p>
          <a:p>
            <a:pPr marL="772795" lvl="1" indent="-303530">
              <a:lnSpc>
                <a:spcPts val="2330"/>
              </a:lnSpc>
              <a:buFont typeface="Wingdings"/>
              <a:buChar char=""/>
              <a:tabLst>
                <a:tab pos="773247" algn="l"/>
                <a:tab pos="773807" algn="l"/>
              </a:tabLst>
            </a:pPr>
            <a:r>
              <a:rPr lang="en-US" sz="1941" spc="-4">
                <a:solidFill>
                  <a:srgbClr val="231F20"/>
                </a:solidFill>
                <a:latin typeface="Tahoma"/>
                <a:cs typeface="Tahoma"/>
              </a:rPr>
              <a:t>Minimize</a:t>
            </a:r>
            <a:r>
              <a:rPr lang="en-US" sz="1941" spc="-9">
                <a:solidFill>
                  <a:srgbClr val="231F20"/>
                </a:solidFill>
                <a:latin typeface="Tahoma"/>
                <a:cs typeface="Tahoma"/>
              </a:rPr>
              <a:t> </a:t>
            </a:r>
            <a:r>
              <a:rPr lang="en-US" sz="1941" spc="-4">
                <a:solidFill>
                  <a:srgbClr val="231F20"/>
                </a:solidFill>
                <a:latin typeface="Tahoma"/>
                <a:cs typeface="Tahoma"/>
              </a:rPr>
              <a:t>Z</a:t>
            </a:r>
            <a:r>
              <a:rPr lang="en-US" sz="1941">
                <a:solidFill>
                  <a:srgbClr val="231F20"/>
                </a:solidFill>
                <a:latin typeface="Tahoma"/>
                <a:cs typeface="Tahoma"/>
              </a:rPr>
              <a:t> </a:t>
            </a:r>
            <a:r>
              <a:rPr lang="en-US" sz="1941" spc="-4">
                <a:solidFill>
                  <a:srgbClr val="231F20"/>
                </a:solidFill>
                <a:latin typeface="Tahoma"/>
                <a:cs typeface="Tahoma"/>
              </a:rPr>
              <a:t>= (15X</a:t>
            </a:r>
            <a:r>
              <a:rPr lang="en-US" sz="1919" spc="-6" baseline="-21072">
                <a:solidFill>
                  <a:srgbClr val="231F20"/>
                </a:solidFill>
                <a:latin typeface="Tahoma"/>
                <a:cs typeface="Tahoma"/>
              </a:rPr>
              <a:t>1</a:t>
            </a:r>
            <a:r>
              <a:rPr lang="en-US" sz="1919" spc="26" baseline="-21072">
                <a:solidFill>
                  <a:srgbClr val="231F20"/>
                </a:solidFill>
                <a:latin typeface="Tahoma"/>
                <a:cs typeface="Tahoma"/>
              </a:rPr>
              <a:t> </a:t>
            </a:r>
            <a:r>
              <a:rPr lang="en-US" sz="1941" spc="-4">
                <a:solidFill>
                  <a:srgbClr val="231F20"/>
                </a:solidFill>
                <a:latin typeface="Tahoma"/>
                <a:cs typeface="Tahoma"/>
              </a:rPr>
              <a:t>+</a:t>
            </a:r>
            <a:r>
              <a:rPr lang="en-US" sz="1941" spc="-9">
                <a:solidFill>
                  <a:srgbClr val="231F20"/>
                </a:solidFill>
                <a:latin typeface="Tahoma"/>
                <a:cs typeface="Tahoma"/>
              </a:rPr>
              <a:t> </a:t>
            </a:r>
            <a:r>
              <a:rPr lang="en-US" sz="1941" spc="-4">
                <a:solidFill>
                  <a:srgbClr val="231F20"/>
                </a:solidFill>
                <a:latin typeface="Tahoma"/>
                <a:cs typeface="Tahoma"/>
              </a:rPr>
              <a:t>10X</a:t>
            </a:r>
            <a:r>
              <a:rPr lang="en-US" sz="1919" spc="-6" baseline="-21072">
                <a:solidFill>
                  <a:srgbClr val="231F20"/>
                </a:solidFill>
                <a:latin typeface="Tahoma"/>
                <a:cs typeface="Tahoma"/>
              </a:rPr>
              <a:t>2</a:t>
            </a:r>
            <a:r>
              <a:rPr lang="en-US" sz="1919" spc="26" baseline="-21072">
                <a:solidFill>
                  <a:srgbClr val="231F20"/>
                </a:solidFill>
                <a:latin typeface="Tahoma"/>
                <a:cs typeface="Tahoma"/>
              </a:rPr>
              <a:t> </a:t>
            </a:r>
            <a:r>
              <a:rPr lang="en-US" sz="1941" spc="-4">
                <a:solidFill>
                  <a:srgbClr val="231F20"/>
                </a:solidFill>
                <a:latin typeface="Tahoma"/>
                <a:cs typeface="Tahoma"/>
              </a:rPr>
              <a:t>+</a:t>
            </a:r>
            <a:r>
              <a:rPr lang="en-US" sz="1941" spc="-9">
                <a:solidFill>
                  <a:srgbClr val="231F20"/>
                </a:solidFill>
                <a:latin typeface="Tahoma"/>
                <a:cs typeface="Tahoma"/>
              </a:rPr>
              <a:t> </a:t>
            </a:r>
            <a:r>
              <a:rPr lang="en-US" sz="1941" spc="-4">
                <a:solidFill>
                  <a:srgbClr val="231F20"/>
                </a:solidFill>
                <a:latin typeface="Tahoma"/>
                <a:cs typeface="Tahoma"/>
              </a:rPr>
              <a:t>8X</a:t>
            </a:r>
            <a:r>
              <a:rPr lang="en-US" sz="1919" spc="-6" baseline="-21072">
                <a:solidFill>
                  <a:srgbClr val="231F20"/>
                </a:solidFill>
                <a:latin typeface="Tahoma"/>
                <a:cs typeface="Tahoma"/>
              </a:rPr>
              <a:t>3</a:t>
            </a:r>
            <a:r>
              <a:rPr lang="en-US" sz="1941" spc="-4">
                <a:solidFill>
                  <a:srgbClr val="231F20"/>
                </a:solidFill>
                <a:latin typeface="Tahoma"/>
                <a:cs typeface="Tahoma"/>
              </a:rPr>
              <a:t>)</a:t>
            </a:r>
            <a:r>
              <a:rPr lang="en-US" sz="1941">
                <a:solidFill>
                  <a:srgbClr val="231F20"/>
                </a:solidFill>
                <a:latin typeface="Tahoma"/>
                <a:cs typeface="Tahoma"/>
              </a:rPr>
              <a:t> </a:t>
            </a:r>
            <a:r>
              <a:rPr lang="en-US" sz="1941" spc="-4">
                <a:solidFill>
                  <a:srgbClr val="231F20"/>
                </a:solidFill>
                <a:latin typeface="Tahoma"/>
                <a:cs typeface="Tahoma"/>
              </a:rPr>
              <a:t>+</a:t>
            </a:r>
            <a:r>
              <a:rPr lang="en-US" sz="1941" spc="4">
                <a:solidFill>
                  <a:srgbClr val="231F20"/>
                </a:solidFill>
                <a:latin typeface="Tahoma"/>
                <a:cs typeface="Tahoma"/>
              </a:rPr>
              <a:t> </a:t>
            </a:r>
            <a:r>
              <a:rPr lang="en-US" sz="1941" spc="-4">
                <a:solidFill>
                  <a:srgbClr val="231F20"/>
                </a:solidFill>
                <a:latin typeface="Tahoma"/>
                <a:cs typeface="Tahoma"/>
              </a:rPr>
              <a:t>(150Y</a:t>
            </a:r>
            <a:r>
              <a:rPr lang="en-US" sz="1919" spc="-6" baseline="-21072">
                <a:solidFill>
                  <a:srgbClr val="231F20"/>
                </a:solidFill>
                <a:latin typeface="Tahoma"/>
                <a:cs typeface="Tahoma"/>
              </a:rPr>
              <a:t>1</a:t>
            </a:r>
            <a:r>
              <a:rPr lang="en-US" sz="1919" spc="6" baseline="-21072">
                <a:solidFill>
                  <a:srgbClr val="231F20"/>
                </a:solidFill>
                <a:latin typeface="Tahoma"/>
                <a:cs typeface="Tahoma"/>
              </a:rPr>
              <a:t> </a:t>
            </a:r>
            <a:r>
              <a:rPr lang="en-US" sz="1941" spc="-4">
                <a:solidFill>
                  <a:srgbClr val="231F20"/>
                </a:solidFill>
                <a:latin typeface="Tahoma"/>
                <a:cs typeface="Tahoma"/>
              </a:rPr>
              <a:t>+</a:t>
            </a:r>
            <a:r>
              <a:rPr lang="en-US" sz="1941" spc="4">
                <a:solidFill>
                  <a:srgbClr val="231F20"/>
                </a:solidFill>
                <a:latin typeface="Tahoma"/>
                <a:cs typeface="Tahoma"/>
              </a:rPr>
              <a:t> </a:t>
            </a:r>
            <a:r>
              <a:rPr lang="en-US" sz="1941" spc="-4">
                <a:solidFill>
                  <a:srgbClr val="231F20"/>
                </a:solidFill>
                <a:latin typeface="Tahoma"/>
                <a:cs typeface="Tahoma"/>
              </a:rPr>
              <a:t>240Y</a:t>
            </a:r>
            <a:r>
              <a:rPr lang="en-US" sz="1919" spc="-6" baseline="-21072">
                <a:solidFill>
                  <a:srgbClr val="231F20"/>
                </a:solidFill>
                <a:latin typeface="Tahoma"/>
                <a:cs typeface="Tahoma"/>
              </a:rPr>
              <a:t>2</a:t>
            </a:r>
            <a:r>
              <a:rPr lang="en-US" sz="1919" spc="6" baseline="-21072">
                <a:solidFill>
                  <a:srgbClr val="231F20"/>
                </a:solidFill>
                <a:latin typeface="Tahoma"/>
                <a:cs typeface="Tahoma"/>
              </a:rPr>
              <a:t> </a:t>
            </a:r>
            <a:r>
              <a:rPr lang="en-US" sz="1941" spc="-4">
                <a:solidFill>
                  <a:srgbClr val="231F20"/>
                </a:solidFill>
                <a:latin typeface="Tahoma"/>
                <a:cs typeface="Tahoma"/>
              </a:rPr>
              <a:t>+</a:t>
            </a:r>
            <a:r>
              <a:rPr lang="en-US" sz="1941" spc="9">
                <a:solidFill>
                  <a:srgbClr val="231F20"/>
                </a:solidFill>
                <a:latin typeface="Tahoma"/>
                <a:cs typeface="Tahoma"/>
              </a:rPr>
              <a:t> </a:t>
            </a:r>
            <a:r>
              <a:rPr lang="en-US" sz="1941" spc="-4">
                <a:solidFill>
                  <a:srgbClr val="231F20"/>
                </a:solidFill>
                <a:latin typeface="Tahoma"/>
                <a:cs typeface="Tahoma"/>
              </a:rPr>
              <a:t>300Y</a:t>
            </a:r>
            <a:r>
              <a:rPr lang="en-US" sz="1919" spc="-6" baseline="-21072">
                <a:solidFill>
                  <a:srgbClr val="231F20"/>
                </a:solidFill>
                <a:latin typeface="Tahoma"/>
                <a:cs typeface="Tahoma"/>
              </a:rPr>
              <a:t>3</a:t>
            </a:r>
            <a:r>
              <a:rPr lang="en-US" sz="1919" baseline="-21072">
                <a:solidFill>
                  <a:srgbClr val="231F20"/>
                </a:solidFill>
                <a:latin typeface="Tahoma"/>
                <a:cs typeface="Tahoma"/>
              </a:rPr>
              <a:t> </a:t>
            </a:r>
            <a:r>
              <a:rPr lang="en-US" sz="1941" spc="-4">
                <a:solidFill>
                  <a:srgbClr val="231F20"/>
                </a:solidFill>
                <a:latin typeface="Tahoma"/>
                <a:cs typeface="Tahoma"/>
              </a:rPr>
              <a:t>)</a:t>
            </a:r>
            <a:endParaRPr lang="en-US" sz="1941">
              <a:latin typeface="Tahoma"/>
              <a:ea typeface="Tahoma"/>
              <a:cs typeface="Tahoma"/>
            </a:endParaRPr>
          </a:p>
          <a:p>
            <a:pPr marL="470535" algn="just">
              <a:spcBef>
                <a:spcPts val="1385"/>
              </a:spcBef>
            </a:pPr>
            <a:r>
              <a:rPr lang="en-US" sz="2118" b="1" spc="-4">
                <a:solidFill>
                  <a:srgbClr val="231F20"/>
                </a:solidFill>
                <a:latin typeface="Tahoma"/>
                <a:cs typeface="Tahoma"/>
              </a:rPr>
              <a:t>Subject</a:t>
            </a:r>
            <a:r>
              <a:rPr lang="en-US" sz="2118" b="1" spc="-44">
                <a:solidFill>
                  <a:srgbClr val="231F20"/>
                </a:solidFill>
                <a:latin typeface="Tahoma"/>
                <a:cs typeface="Tahoma"/>
              </a:rPr>
              <a:t> </a:t>
            </a:r>
            <a:r>
              <a:rPr lang="en-US" sz="2118" b="1" spc="-4">
                <a:solidFill>
                  <a:srgbClr val="231F20"/>
                </a:solidFill>
                <a:latin typeface="Tahoma"/>
                <a:cs typeface="Tahoma"/>
              </a:rPr>
              <a:t>to:</a:t>
            </a:r>
            <a:endParaRPr lang="en-US" sz="2118">
              <a:latin typeface="Tahoma"/>
              <a:ea typeface="Tahoma"/>
              <a:cs typeface="Tahoma"/>
            </a:endParaRPr>
          </a:p>
          <a:p>
            <a:pPr marL="2084070" algn="just"/>
            <a:r>
              <a:rPr lang="en-US" sz="2118" spc="-4">
                <a:solidFill>
                  <a:srgbClr val="231F20"/>
                </a:solidFill>
                <a:latin typeface="Tahoma"/>
                <a:cs typeface="Tahoma"/>
              </a:rPr>
              <a:t>X</a:t>
            </a:r>
            <a:r>
              <a:rPr lang="en-US" sz="2118" spc="-6" baseline="-20833">
                <a:solidFill>
                  <a:srgbClr val="231F20"/>
                </a:solidFill>
                <a:latin typeface="Tahoma"/>
                <a:cs typeface="Tahoma"/>
              </a:rPr>
              <a:t>1</a:t>
            </a:r>
            <a:r>
              <a:rPr lang="en-US" sz="2118" spc="297" baseline="-20833">
                <a:solidFill>
                  <a:srgbClr val="231F20"/>
                </a:solidFill>
                <a:latin typeface="Tahoma"/>
                <a:cs typeface="Tahoma"/>
              </a:rPr>
              <a:t> </a:t>
            </a:r>
            <a:r>
              <a:rPr lang="en-US" sz="2118">
                <a:solidFill>
                  <a:srgbClr val="231F20"/>
                </a:solidFill>
                <a:latin typeface="Tahoma"/>
                <a:cs typeface="Tahoma"/>
              </a:rPr>
              <a:t>+</a:t>
            </a:r>
            <a:r>
              <a:rPr lang="en-US" sz="2118" spc="-4">
                <a:solidFill>
                  <a:srgbClr val="231F20"/>
                </a:solidFill>
                <a:latin typeface="Tahoma"/>
                <a:cs typeface="Tahoma"/>
              </a:rPr>
              <a:t> X</a:t>
            </a:r>
            <a:r>
              <a:rPr lang="en-US" sz="2118" spc="-6" baseline="-20833">
                <a:solidFill>
                  <a:srgbClr val="231F20"/>
                </a:solidFill>
                <a:latin typeface="Tahoma"/>
                <a:cs typeface="Tahoma"/>
              </a:rPr>
              <a:t>2</a:t>
            </a:r>
            <a:r>
              <a:rPr lang="en-US" sz="2118" baseline="-20833">
                <a:solidFill>
                  <a:srgbClr val="231F20"/>
                </a:solidFill>
                <a:latin typeface="Tahoma"/>
                <a:cs typeface="Tahoma"/>
              </a:rPr>
              <a:t> </a:t>
            </a:r>
            <a:r>
              <a:rPr lang="en-US" sz="2118">
                <a:solidFill>
                  <a:srgbClr val="231F20"/>
                </a:solidFill>
                <a:latin typeface="Tahoma"/>
                <a:cs typeface="Tahoma"/>
              </a:rPr>
              <a:t>+</a:t>
            </a:r>
            <a:r>
              <a:rPr lang="en-US" sz="2118" spc="-9">
                <a:solidFill>
                  <a:srgbClr val="231F20"/>
                </a:solidFill>
                <a:latin typeface="Tahoma"/>
                <a:cs typeface="Tahoma"/>
              </a:rPr>
              <a:t> </a:t>
            </a:r>
            <a:r>
              <a:rPr lang="en-US" sz="2118" spc="-4">
                <a:solidFill>
                  <a:srgbClr val="231F20"/>
                </a:solidFill>
                <a:latin typeface="Tahoma"/>
                <a:cs typeface="Tahoma"/>
              </a:rPr>
              <a:t>X</a:t>
            </a:r>
            <a:r>
              <a:rPr lang="en-US" sz="2118" spc="-6" baseline="-20833">
                <a:solidFill>
                  <a:srgbClr val="231F20"/>
                </a:solidFill>
                <a:latin typeface="Tahoma"/>
                <a:cs typeface="Tahoma"/>
              </a:rPr>
              <a:t>3</a:t>
            </a:r>
            <a:r>
              <a:rPr lang="en-US" sz="2118" spc="-13" baseline="-20833">
                <a:solidFill>
                  <a:srgbClr val="231F20"/>
                </a:solidFill>
                <a:latin typeface="Tahoma"/>
                <a:cs typeface="Tahoma"/>
              </a:rPr>
              <a:t> </a:t>
            </a:r>
            <a:r>
              <a:rPr lang="en-US" sz="2118">
                <a:solidFill>
                  <a:srgbClr val="231F20"/>
                </a:solidFill>
                <a:latin typeface="Tahoma"/>
                <a:cs typeface="Tahoma"/>
              </a:rPr>
              <a:t>=</a:t>
            </a:r>
            <a:r>
              <a:rPr lang="en-US" sz="2118" spc="-9">
                <a:solidFill>
                  <a:srgbClr val="231F20"/>
                </a:solidFill>
                <a:latin typeface="Tahoma"/>
                <a:cs typeface="Tahoma"/>
              </a:rPr>
              <a:t> </a:t>
            </a:r>
            <a:r>
              <a:rPr lang="en-US" sz="2118" spc="-4">
                <a:solidFill>
                  <a:srgbClr val="231F20"/>
                </a:solidFill>
                <a:latin typeface="Tahoma"/>
                <a:cs typeface="Tahoma"/>
              </a:rPr>
              <a:t>4000</a:t>
            </a:r>
            <a:r>
              <a:rPr lang="en-US" sz="2118" spc="4">
                <a:solidFill>
                  <a:srgbClr val="231F20"/>
                </a:solidFill>
                <a:latin typeface="Tahoma"/>
                <a:cs typeface="Tahoma"/>
              </a:rPr>
              <a:t> </a:t>
            </a:r>
            <a:r>
              <a:rPr lang="en-US" sz="2118">
                <a:solidFill>
                  <a:srgbClr val="231F20"/>
                </a:solidFill>
                <a:latin typeface="Tahoma"/>
                <a:cs typeface="Tahoma"/>
              </a:rPr>
              <a:t>(Daily</a:t>
            </a:r>
            <a:r>
              <a:rPr lang="en-US" sz="2118" spc="4">
                <a:solidFill>
                  <a:srgbClr val="231F20"/>
                </a:solidFill>
                <a:latin typeface="Tahoma"/>
                <a:cs typeface="Tahoma"/>
              </a:rPr>
              <a:t> </a:t>
            </a:r>
            <a:r>
              <a:rPr lang="en-US" sz="2118">
                <a:solidFill>
                  <a:srgbClr val="231F20"/>
                </a:solidFill>
                <a:latin typeface="Tahoma"/>
                <a:cs typeface="Tahoma"/>
              </a:rPr>
              <a:t>Diamond)</a:t>
            </a:r>
            <a:endParaRPr lang="en-US" sz="2118">
              <a:latin typeface="Tahoma"/>
              <a:ea typeface="Tahoma"/>
              <a:cs typeface="Tahoma"/>
            </a:endParaRPr>
          </a:p>
          <a:p>
            <a:pPr marL="2084070" marR="382270" algn="just"/>
            <a:r>
              <a:rPr lang="en-US" sz="2100" spc="-4">
                <a:solidFill>
                  <a:srgbClr val="231F20"/>
                </a:solidFill>
                <a:latin typeface="Tahoma"/>
                <a:cs typeface="Tahoma"/>
              </a:rPr>
              <a:t>X</a:t>
            </a:r>
            <a:r>
              <a:rPr lang="en-US" sz="2100" spc="-6" baseline="-20833">
                <a:solidFill>
                  <a:srgbClr val="231F20"/>
                </a:solidFill>
                <a:latin typeface="Tahoma"/>
                <a:cs typeface="Tahoma"/>
              </a:rPr>
              <a:t>1 </a:t>
            </a:r>
            <a:r>
              <a:rPr lang="en-US" sz="2100">
                <a:solidFill>
                  <a:srgbClr val="231F20"/>
                </a:solidFill>
                <a:latin typeface="Tahoma"/>
                <a:cs typeface="Tahoma"/>
              </a:rPr>
              <a:t>– </a:t>
            </a:r>
            <a:r>
              <a:rPr lang="en-US" sz="2100" spc="-4">
                <a:solidFill>
                  <a:srgbClr val="231F20"/>
                </a:solidFill>
                <a:latin typeface="Tahoma"/>
                <a:cs typeface="Tahoma"/>
              </a:rPr>
              <a:t>2000Y</a:t>
            </a:r>
            <a:r>
              <a:rPr lang="en-US" sz="2100" spc="-6" baseline="-20833">
                <a:solidFill>
                  <a:srgbClr val="231F20"/>
                </a:solidFill>
                <a:latin typeface="Tahoma"/>
                <a:cs typeface="Tahoma"/>
              </a:rPr>
              <a:t>1 </a:t>
            </a:r>
            <a:r>
              <a:rPr lang="en-US" sz="2100">
                <a:solidFill>
                  <a:srgbClr val="231F20"/>
                </a:solidFill>
                <a:latin typeface="Tahoma"/>
                <a:cs typeface="Tahoma"/>
              </a:rPr>
              <a:t>≤ 0 (Daily </a:t>
            </a:r>
            <a:r>
              <a:rPr lang="en-US" sz="2100" spc="-4">
                <a:solidFill>
                  <a:srgbClr val="231F20"/>
                </a:solidFill>
                <a:latin typeface="Tahoma"/>
                <a:cs typeface="Tahoma"/>
              </a:rPr>
              <a:t>Capacity </a:t>
            </a:r>
            <a:r>
              <a:rPr lang="en-US" sz="2100">
                <a:solidFill>
                  <a:srgbClr val="231F20"/>
                </a:solidFill>
                <a:latin typeface="Tahoma"/>
                <a:cs typeface="Tahoma"/>
              </a:rPr>
              <a:t>of </a:t>
            </a:r>
            <a:r>
              <a:rPr lang="en-US" sz="2100" spc="-4">
                <a:solidFill>
                  <a:srgbClr val="231F20"/>
                </a:solidFill>
                <a:latin typeface="Tahoma"/>
                <a:cs typeface="Tahoma"/>
              </a:rPr>
              <a:t>Process-1) </a:t>
            </a:r>
            <a:endParaRPr lang="en-US" sz="2118">
              <a:solidFill>
                <a:srgbClr val="000000"/>
              </a:solidFill>
              <a:latin typeface="Tahoma"/>
              <a:ea typeface="Tahoma"/>
              <a:cs typeface="Tahoma"/>
            </a:endParaRPr>
          </a:p>
          <a:p>
            <a:pPr marL="2084070" marR="382270" algn="just"/>
            <a:r>
              <a:rPr lang="en-US" sz="2100" spc="-4">
                <a:solidFill>
                  <a:srgbClr val="231F20"/>
                </a:solidFill>
                <a:latin typeface="Tahoma"/>
                <a:cs typeface="Tahoma"/>
              </a:rPr>
              <a:t>X</a:t>
            </a:r>
            <a:r>
              <a:rPr lang="en-US" sz="2100" spc="-6" baseline="-20833">
                <a:solidFill>
                  <a:srgbClr val="231F20"/>
                </a:solidFill>
                <a:latin typeface="Tahoma"/>
                <a:cs typeface="Tahoma"/>
              </a:rPr>
              <a:t>2 </a:t>
            </a:r>
            <a:r>
              <a:rPr lang="en-US" sz="2100">
                <a:solidFill>
                  <a:srgbClr val="231F20"/>
                </a:solidFill>
                <a:latin typeface="Tahoma"/>
                <a:cs typeface="Tahoma"/>
              </a:rPr>
              <a:t>– </a:t>
            </a:r>
            <a:r>
              <a:rPr lang="en-US" sz="2100" spc="-4">
                <a:solidFill>
                  <a:srgbClr val="231F20"/>
                </a:solidFill>
                <a:latin typeface="Tahoma"/>
                <a:cs typeface="Tahoma"/>
              </a:rPr>
              <a:t>3000Y</a:t>
            </a:r>
            <a:r>
              <a:rPr lang="en-US" sz="2100" spc="-6" baseline="-20833">
                <a:solidFill>
                  <a:srgbClr val="231F20"/>
                </a:solidFill>
                <a:latin typeface="Tahoma"/>
                <a:cs typeface="Tahoma"/>
              </a:rPr>
              <a:t>2 </a:t>
            </a:r>
            <a:r>
              <a:rPr lang="en-US" sz="2100">
                <a:solidFill>
                  <a:srgbClr val="231F20"/>
                </a:solidFill>
                <a:latin typeface="Tahoma"/>
                <a:cs typeface="Tahoma"/>
              </a:rPr>
              <a:t>≤ 0 (Daily </a:t>
            </a:r>
            <a:r>
              <a:rPr lang="en-US" sz="2100" spc="-4">
                <a:solidFill>
                  <a:srgbClr val="231F20"/>
                </a:solidFill>
                <a:latin typeface="Tahoma"/>
                <a:cs typeface="Tahoma"/>
              </a:rPr>
              <a:t>Capacity </a:t>
            </a:r>
            <a:r>
              <a:rPr lang="en-US" sz="2100">
                <a:solidFill>
                  <a:srgbClr val="231F20"/>
                </a:solidFill>
                <a:latin typeface="Tahoma"/>
                <a:cs typeface="Tahoma"/>
              </a:rPr>
              <a:t>of </a:t>
            </a:r>
            <a:r>
              <a:rPr lang="en-US" sz="2100" spc="-4">
                <a:solidFill>
                  <a:srgbClr val="231F20"/>
                </a:solidFill>
                <a:latin typeface="Tahoma"/>
                <a:cs typeface="Tahoma"/>
              </a:rPr>
              <a:t>Process-2) </a:t>
            </a:r>
            <a:endParaRPr lang="en-US" sz="2100">
              <a:solidFill>
                <a:srgbClr val="000000"/>
              </a:solidFill>
              <a:latin typeface="Tahoma"/>
              <a:cs typeface="Tahoma"/>
            </a:endParaRPr>
          </a:p>
          <a:p>
            <a:pPr marL="2084070" marR="382270" algn="just"/>
            <a:r>
              <a:rPr lang="en-US" sz="2100" spc="-4">
                <a:solidFill>
                  <a:srgbClr val="231F20"/>
                </a:solidFill>
                <a:latin typeface="Tahoma"/>
                <a:cs typeface="Tahoma"/>
              </a:rPr>
              <a:t>X</a:t>
            </a:r>
            <a:r>
              <a:rPr lang="en-US" sz="2100" spc="-6" baseline="-20833">
                <a:solidFill>
                  <a:srgbClr val="231F20"/>
                </a:solidFill>
                <a:latin typeface="Tahoma"/>
                <a:cs typeface="Tahoma"/>
              </a:rPr>
              <a:t>3 </a:t>
            </a:r>
            <a:r>
              <a:rPr lang="en-US" sz="2100">
                <a:solidFill>
                  <a:srgbClr val="231F20"/>
                </a:solidFill>
                <a:latin typeface="Tahoma"/>
                <a:cs typeface="Tahoma"/>
              </a:rPr>
              <a:t>– </a:t>
            </a:r>
            <a:r>
              <a:rPr lang="en-US" sz="2100" spc="-4">
                <a:solidFill>
                  <a:srgbClr val="231F20"/>
                </a:solidFill>
                <a:latin typeface="Tahoma"/>
                <a:cs typeface="Tahoma"/>
              </a:rPr>
              <a:t>3500Y</a:t>
            </a:r>
            <a:r>
              <a:rPr lang="en-US" sz="2100" spc="-6" baseline="-20833">
                <a:solidFill>
                  <a:srgbClr val="231F20"/>
                </a:solidFill>
                <a:latin typeface="Tahoma"/>
                <a:cs typeface="Tahoma"/>
              </a:rPr>
              <a:t>3 </a:t>
            </a:r>
            <a:r>
              <a:rPr lang="en-US" sz="2100">
                <a:solidFill>
                  <a:srgbClr val="231F20"/>
                </a:solidFill>
                <a:latin typeface="Tahoma"/>
                <a:cs typeface="Tahoma"/>
              </a:rPr>
              <a:t>≤ 0 (Daily </a:t>
            </a:r>
            <a:r>
              <a:rPr lang="en-US" sz="2100" spc="-4">
                <a:solidFill>
                  <a:srgbClr val="231F20"/>
                </a:solidFill>
                <a:latin typeface="Tahoma"/>
                <a:cs typeface="Tahoma"/>
              </a:rPr>
              <a:t>Capacity </a:t>
            </a:r>
            <a:r>
              <a:rPr lang="en-US" sz="2100">
                <a:solidFill>
                  <a:srgbClr val="231F20"/>
                </a:solidFill>
                <a:latin typeface="Tahoma"/>
                <a:cs typeface="Tahoma"/>
              </a:rPr>
              <a:t>of </a:t>
            </a:r>
            <a:r>
              <a:rPr lang="en-US" sz="2100" spc="-4">
                <a:solidFill>
                  <a:srgbClr val="231F20"/>
                </a:solidFill>
                <a:latin typeface="Tahoma"/>
                <a:cs typeface="Tahoma"/>
              </a:rPr>
              <a:t>Process-3) </a:t>
            </a:r>
            <a:endParaRPr lang="en-US" sz="2100">
              <a:solidFill>
                <a:srgbClr val="000000"/>
              </a:solidFill>
              <a:latin typeface="Tahoma"/>
              <a:cs typeface="Tahoma"/>
            </a:endParaRPr>
          </a:p>
          <a:p>
            <a:pPr marL="2084070" marR="382270" algn="just"/>
            <a:r>
              <a:rPr lang="en-US" sz="2100">
                <a:solidFill>
                  <a:srgbClr val="231F20"/>
                </a:solidFill>
                <a:latin typeface="Tahoma"/>
                <a:cs typeface="Tahoma"/>
              </a:rPr>
              <a:t>With</a:t>
            </a:r>
            <a:r>
              <a:rPr lang="en-US" sz="2100" spc="-18">
                <a:solidFill>
                  <a:srgbClr val="231F20"/>
                </a:solidFill>
                <a:latin typeface="Tahoma"/>
                <a:cs typeface="Tahoma"/>
              </a:rPr>
              <a:t> </a:t>
            </a:r>
            <a:r>
              <a:rPr lang="en-US" sz="2100" spc="-4">
                <a:solidFill>
                  <a:srgbClr val="231F20"/>
                </a:solidFill>
                <a:latin typeface="Tahoma"/>
                <a:cs typeface="Tahoma"/>
              </a:rPr>
              <a:t>X</a:t>
            </a:r>
            <a:r>
              <a:rPr lang="en-US" sz="2100" spc="-6" baseline="-20833">
                <a:solidFill>
                  <a:srgbClr val="231F20"/>
                </a:solidFill>
                <a:latin typeface="Tahoma"/>
                <a:cs typeface="Tahoma"/>
              </a:rPr>
              <a:t>1</a:t>
            </a:r>
            <a:r>
              <a:rPr lang="en-US" sz="2100" spc="-4">
                <a:solidFill>
                  <a:srgbClr val="231F20"/>
                </a:solidFill>
                <a:latin typeface="Tahoma"/>
                <a:cs typeface="Tahoma"/>
              </a:rPr>
              <a:t>,</a:t>
            </a:r>
            <a:r>
              <a:rPr lang="en-US" sz="2100" spc="-13">
                <a:solidFill>
                  <a:srgbClr val="231F20"/>
                </a:solidFill>
                <a:latin typeface="Tahoma"/>
                <a:cs typeface="Tahoma"/>
              </a:rPr>
              <a:t> </a:t>
            </a:r>
            <a:r>
              <a:rPr lang="en-US" sz="2100" spc="-4">
                <a:solidFill>
                  <a:srgbClr val="231F20"/>
                </a:solidFill>
                <a:latin typeface="Tahoma"/>
                <a:cs typeface="Tahoma"/>
              </a:rPr>
              <a:t>X</a:t>
            </a:r>
            <a:r>
              <a:rPr lang="en-US" sz="2100" spc="-6" baseline="-20833">
                <a:solidFill>
                  <a:srgbClr val="231F20"/>
                </a:solidFill>
                <a:latin typeface="Tahoma"/>
                <a:cs typeface="Tahoma"/>
              </a:rPr>
              <a:t>2</a:t>
            </a:r>
            <a:r>
              <a:rPr lang="en-US" sz="2100" spc="-4">
                <a:solidFill>
                  <a:srgbClr val="231F20"/>
                </a:solidFill>
                <a:latin typeface="Tahoma"/>
                <a:cs typeface="Tahoma"/>
              </a:rPr>
              <a:t>,</a:t>
            </a:r>
            <a:r>
              <a:rPr lang="en-US" sz="2100">
                <a:solidFill>
                  <a:srgbClr val="231F20"/>
                </a:solidFill>
                <a:latin typeface="Tahoma"/>
                <a:cs typeface="Tahoma"/>
              </a:rPr>
              <a:t> </a:t>
            </a:r>
            <a:r>
              <a:rPr lang="en-US" sz="2100" spc="-4">
                <a:solidFill>
                  <a:srgbClr val="231F20"/>
                </a:solidFill>
                <a:latin typeface="Tahoma"/>
                <a:cs typeface="Tahoma"/>
              </a:rPr>
              <a:t>X</a:t>
            </a:r>
            <a:r>
              <a:rPr lang="en-US" sz="2100" spc="-6" baseline="-20833">
                <a:solidFill>
                  <a:srgbClr val="231F20"/>
                </a:solidFill>
                <a:latin typeface="Tahoma"/>
                <a:cs typeface="Tahoma"/>
              </a:rPr>
              <a:t>3</a:t>
            </a:r>
            <a:r>
              <a:rPr lang="en-US" sz="2100" spc="-13" baseline="-20833">
                <a:solidFill>
                  <a:srgbClr val="231F20"/>
                </a:solidFill>
                <a:latin typeface="Tahoma"/>
                <a:cs typeface="Tahoma"/>
              </a:rPr>
              <a:t> </a:t>
            </a:r>
            <a:r>
              <a:rPr lang="en-US" sz="2100">
                <a:solidFill>
                  <a:srgbClr val="231F20"/>
                </a:solidFill>
                <a:latin typeface="Tahoma"/>
                <a:cs typeface="Tahoma"/>
              </a:rPr>
              <a:t>≥</a:t>
            </a:r>
            <a:r>
              <a:rPr lang="en-US" sz="2100" spc="9">
                <a:solidFill>
                  <a:srgbClr val="231F20"/>
                </a:solidFill>
                <a:latin typeface="Tahoma"/>
                <a:cs typeface="Tahoma"/>
              </a:rPr>
              <a:t> </a:t>
            </a:r>
            <a:r>
              <a:rPr lang="en-US" sz="2100" spc="-4">
                <a:solidFill>
                  <a:srgbClr val="231F20"/>
                </a:solidFill>
                <a:latin typeface="Tahoma"/>
                <a:cs typeface="Tahoma"/>
              </a:rPr>
              <a:t>0;</a:t>
            </a:r>
            <a:r>
              <a:rPr lang="en-US" sz="2100">
                <a:solidFill>
                  <a:srgbClr val="231F20"/>
                </a:solidFill>
                <a:latin typeface="Tahoma"/>
                <a:cs typeface="Tahoma"/>
              </a:rPr>
              <a:t>  </a:t>
            </a:r>
            <a:r>
              <a:rPr lang="en-US" sz="2100" spc="-4" err="1">
                <a:solidFill>
                  <a:srgbClr val="231F20"/>
                </a:solidFill>
                <a:latin typeface="Tahoma"/>
                <a:cs typeface="Tahoma"/>
              </a:rPr>
              <a:t>Y</a:t>
            </a:r>
            <a:r>
              <a:rPr lang="en-US" sz="2100" spc="-6" baseline="-20833" err="1">
                <a:solidFill>
                  <a:srgbClr val="231F20"/>
                </a:solidFill>
                <a:latin typeface="Tahoma"/>
                <a:cs typeface="Tahoma"/>
              </a:rPr>
              <a:t>j</a:t>
            </a:r>
            <a:r>
              <a:rPr lang="en-US" sz="2100" spc="337" baseline="-20833">
                <a:solidFill>
                  <a:srgbClr val="231F20"/>
                </a:solidFill>
                <a:latin typeface="Tahoma"/>
                <a:cs typeface="Tahoma"/>
              </a:rPr>
              <a:t> </a:t>
            </a:r>
            <a:r>
              <a:rPr lang="en-US" sz="2100">
                <a:solidFill>
                  <a:srgbClr val="231F20"/>
                </a:solidFill>
                <a:latin typeface="Tahoma"/>
                <a:cs typeface="Tahoma"/>
              </a:rPr>
              <a:t>= 0 or</a:t>
            </a:r>
            <a:r>
              <a:rPr lang="en-US" sz="2100" spc="-13">
                <a:solidFill>
                  <a:srgbClr val="231F20"/>
                </a:solidFill>
                <a:latin typeface="Tahoma"/>
                <a:cs typeface="Tahoma"/>
              </a:rPr>
              <a:t> </a:t>
            </a:r>
            <a:r>
              <a:rPr lang="en-US" sz="2100" spc="-4">
                <a:solidFill>
                  <a:srgbClr val="231F20"/>
                </a:solidFill>
                <a:latin typeface="Tahoma"/>
                <a:cs typeface="Tahoma"/>
              </a:rPr>
              <a:t>1, j=</a:t>
            </a:r>
            <a:r>
              <a:rPr lang="en-US" sz="2100" spc="4">
                <a:solidFill>
                  <a:srgbClr val="231F20"/>
                </a:solidFill>
                <a:latin typeface="Tahoma"/>
                <a:cs typeface="Tahoma"/>
              </a:rPr>
              <a:t> </a:t>
            </a:r>
            <a:r>
              <a:rPr lang="en-US" sz="2100" spc="-4">
                <a:solidFill>
                  <a:srgbClr val="231F20"/>
                </a:solidFill>
                <a:latin typeface="Tahoma"/>
                <a:cs typeface="Tahoma"/>
              </a:rPr>
              <a:t>1, 2,</a:t>
            </a:r>
            <a:r>
              <a:rPr lang="en-US" sz="2100">
                <a:solidFill>
                  <a:srgbClr val="231F20"/>
                </a:solidFill>
                <a:latin typeface="Tahoma"/>
                <a:cs typeface="Tahoma"/>
              </a:rPr>
              <a:t> 3</a:t>
            </a:r>
            <a:endParaRPr sz="2100">
              <a:latin typeface="Tahoma"/>
              <a:ea typeface="Tahoma"/>
              <a:cs typeface="Tahoma"/>
            </a:endParaRPr>
          </a:p>
        </p:txBody>
      </p:sp>
      <p:graphicFrame>
        <p:nvGraphicFramePr>
          <p:cNvPr id="6" name="object 4">
            <a:extLst>
              <a:ext uri="{FF2B5EF4-FFF2-40B4-BE49-F238E27FC236}">
                <a16:creationId xmlns:a16="http://schemas.microsoft.com/office/drawing/2014/main" id="{85B4BE5B-246D-63ED-26D5-739AEDA5D5DE}"/>
              </a:ext>
            </a:extLst>
          </p:cNvPr>
          <p:cNvGraphicFramePr>
            <a:graphicFrameLocks noGrp="1"/>
          </p:cNvGraphicFramePr>
          <p:nvPr>
            <p:extLst>
              <p:ext uri="{D42A27DB-BD31-4B8C-83A1-F6EECF244321}">
                <p14:modId xmlns:p14="http://schemas.microsoft.com/office/powerpoint/2010/main" val="2064336911"/>
              </p:ext>
            </p:extLst>
          </p:nvPr>
        </p:nvGraphicFramePr>
        <p:xfrm>
          <a:off x="4689763" y="69272"/>
          <a:ext cx="7341170" cy="1651835"/>
        </p:xfrm>
        <a:graphic>
          <a:graphicData uri="http://schemas.openxmlformats.org/drawingml/2006/table">
            <a:tbl>
              <a:tblPr firstRow="1" bandRow="1">
                <a:tableStyleId>{2D5ABB26-0587-4C30-8999-92F81FD0307C}</a:tableStyleId>
              </a:tblPr>
              <a:tblGrid>
                <a:gridCol w="1277393">
                  <a:extLst>
                    <a:ext uri="{9D8B030D-6E8A-4147-A177-3AD203B41FA5}">
                      <a16:colId xmlns:a16="http://schemas.microsoft.com/office/drawing/2014/main" val="20000"/>
                    </a:ext>
                  </a:extLst>
                </a:gridCol>
                <a:gridCol w="2000738">
                  <a:extLst>
                    <a:ext uri="{9D8B030D-6E8A-4147-A177-3AD203B41FA5}">
                      <a16:colId xmlns:a16="http://schemas.microsoft.com/office/drawing/2014/main" val="20001"/>
                    </a:ext>
                  </a:extLst>
                </a:gridCol>
                <a:gridCol w="1523640">
                  <a:extLst>
                    <a:ext uri="{9D8B030D-6E8A-4147-A177-3AD203B41FA5}">
                      <a16:colId xmlns:a16="http://schemas.microsoft.com/office/drawing/2014/main" val="20002"/>
                    </a:ext>
                  </a:extLst>
                </a:gridCol>
                <a:gridCol w="2539399">
                  <a:extLst>
                    <a:ext uri="{9D8B030D-6E8A-4147-A177-3AD203B41FA5}">
                      <a16:colId xmlns:a16="http://schemas.microsoft.com/office/drawing/2014/main" val="20003"/>
                    </a:ext>
                  </a:extLst>
                </a:gridCol>
              </a:tblGrid>
              <a:tr h="746918">
                <a:tc>
                  <a:txBody>
                    <a:bodyPr/>
                    <a:lstStyle/>
                    <a:p>
                      <a:pPr marL="219710" marR="212090" indent="19685">
                        <a:lnSpc>
                          <a:spcPct val="100000"/>
                        </a:lnSpc>
                        <a:spcBef>
                          <a:spcPts val="350"/>
                        </a:spcBef>
                      </a:pPr>
                      <a:r>
                        <a:rPr lang="en-US" sz="1600" b="1" spc="-5">
                          <a:solidFill>
                            <a:srgbClr val="FFFFFF"/>
                          </a:solidFill>
                          <a:latin typeface="Tahoma"/>
                          <a:cs typeface="Tahoma"/>
                        </a:rPr>
                        <a:t>Process </a:t>
                      </a:r>
                      <a:r>
                        <a:rPr lang="en-US" sz="1600" b="1" spc="5">
                          <a:solidFill>
                            <a:srgbClr val="FFFFFF"/>
                          </a:solidFill>
                          <a:latin typeface="Tahoma"/>
                          <a:cs typeface="Tahoma"/>
                        </a:rPr>
                        <a:t>N</a:t>
                      </a:r>
                      <a:r>
                        <a:rPr lang="en-US" sz="1600" b="1" spc="-5">
                          <a:solidFill>
                            <a:srgbClr val="FFFFFF"/>
                          </a:solidFill>
                          <a:latin typeface="Tahoma"/>
                          <a:cs typeface="Tahoma"/>
                        </a:rPr>
                        <a:t>u</a:t>
                      </a:r>
                      <a:r>
                        <a:rPr lang="en-US" sz="1600" b="1">
                          <a:solidFill>
                            <a:srgbClr val="FFFFFF"/>
                          </a:solidFill>
                          <a:latin typeface="Tahoma"/>
                          <a:cs typeface="Tahoma"/>
                        </a:rPr>
                        <a:t>m</a:t>
                      </a:r>
                      <a:r>
                        <a:rPr lang="en-US" sz="1600" b="1" spc="5">
                          <a:solidFill>
                            <a:srgbClr val="FFFFFF"/>
                          </a:solidFill>
                          <a:latin typeface="Tahoma"/>
                          <a:cs typeface="Tahoma"/>
                        </a:rPr>
                        <a:t>b</a:t>
                      </a:r>
                      <a:r>
                        <a:rPr lang="en-US" sz="1600" b="1">
                          <a:solidFill>
                            <a:srgbClr val="FFFFFF"/>
                          </a:solidFill>
                          <a:latin typeface="Tahoma"/>
                          <a:cs typeface="Tahoma"/>
                        </a:rPr>
                        <a:t>er</a:t>
                      </a:r>
                      <a:endParaRPr sz="160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marL="635" algn="ctr">
                        <a:lnSpc>
                          <a:spcPct val="100000"/>
                        </a:lnSpc>
                        <a:spcBef>
                          <a:spcPts val="350"/>
                        </a:spcBef>
                      </a:pPr>
                      <a:r>
                        <a:rPr sz="1600" b="1" spc="-5">
                          <a:solidFill>
                            <a:srgbClr val="FFFFFF"/>
                          </a:solidFill>
                          <a:latin typeface="Tahoma"/>
                          <a:cs typeface="Tahoma"/>
                        </a:rPr>
                        <a:t>Weaving</a:t>
                      </a:r>
                      <a:r>
                        <a:rPr sz="1600" b="1" spc="-35">
                          <a:solidFill>
                            <a:srgbClr val="FFFFFF"/>
                          </a:solidFill>
                          <a:latin typeface="Tahoma"/>
                          <a:cs typeface="Tahoma"/>
                        </a:rPr>
                        <a:t> </a:t>
                      </a:r>
                      <a:r>
                        <a:rPr sz="1600" b="1" spc="-5">
                          <a:solidFill>
                            <a:srgbClr val="FFFFFF"/>
                          </a:solidFill>
                          <a:latin typeface="Tahoma"/>
                          <a:cs typeface="Tahoma"/>
                        </a:rPr>
                        <a:t>machine</a:t>
                      </a:r>
                      <a:r>
                        <a:rPr sz="1600" b="1" spc="-30">
                          <a:solidFill>
                            <a:srgbClr val="FFFFFF"/>
                          </a:solidFill>
                          <a:latin typeface="Tahoma"/>
                          <a:cs typeface="Tahoma"/>
                        </a:rPr>
                        <a:t> </a:t>
                      </a:r>
                      <a:endParaRPr lang="en-US" sz="1600">
                        <a:latin typeface="Tahoma"/>
                        <a:cs typeface="Tahoma"/>
                      </a:endParaRPr>
                    </a:p>
                    <a:p>
                      <a:pPr marL="635" lvl="0" algn="ctr">
                        <a:lnSpc>
                          <a:spcPct val="100000"/>
                        </a:lnSpc>
                        <a:spcBef>
                          <a:spcPts val="350"/>
                        </a:spcBef>
                        <a:buNone/>
                      </a:pPr>
                      <a:r>
                        <a:rPr lang="en-US" sz="1600" b="1" spc="-5">
                          <a:solidFill>
                            <a:srgbClr val="FFFFFF"/>
                          </a:solidFill>
                          <a:latin typeface="Tahoma"/>
                          <a:cs typeface="Tahoma"/>
                        </a:rPr>
                        <a:t>Setu</a:t>
                      </a:r>
                      <a:r>
                        <a:rPr lang="en-US" sz="1600" b="1">
                          <a:solidFill>
                            <a:srgbClr val="FFFFFF"/>
                          </a:solidFill>
                          <a:latin typeface="Tahoma"/>
                          <a:cs typeface="Tahoma"/>
                        </a:rPr>
                        <a:t>p</a:t>
                      </a:r>
                      <a:r>
                        <a:rPr sz="1600" b="1" spc="-45">
                          <a:solidFill>
                            <a:srgbClr val="FFFFFF"/>
                          </a:solidFill>
                          <a:latin typeface="Tahoma"/>
                          <a:cs typeface="Tahoma"/>
                        </a:rPr>
                        <a:t> </a:t>
                      </a:r>
                      <a:r>
                        <a:rPr sz="1600" b="1" spc="-5">
                          <a:solidFill>
                            <a:srgbClr val="FFFFFF"/>
                          </a:solidFill>
                          <a:latin typeface="Tahoma"/>
                          <a:cs typeface="Tahoma"/>
                        </a:rPr>
                        <a:t>cost</a:t>
                      </a:r>
                      <a:r>
                        <a:rPr sz="1600" b="1" spc="-25">
                          <a:solidFill>
                            <a:srgbClr val="FFFFFF"/>
                          </a:solidFill>
                          <a:latin typeface="Tahoma"/>
                          <a:cs typeface="Tahoma"/>
                        </a:rPr>
                        <a:t> </a:t>
                      </a:r>
                      <a:r>
                        <a:rPr sz="1600" b="1" spc="-5">
                          <a:solidFill>
                            <a:srgbClr val="FFFFFF"/>
                          </a:solidFill>
                          <a:latin typeface="Tahoma"/>
                          <a:cs typeface="Tahoma"/>
                        </a:rPr>
                        <a:t>(Rs.)</a:t>
                      </a:r>
                      <a:endParaRPr lang="en-US" sz="160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marL="766445" marR="133350" indent="-624840">
                        <a:lnSpc>
                          <a:spcPct val="100000"/>
                        </a:lnSpc>
                        <a:spcBef>
                          <a:spcPts val="350"/>
                        </a:spcBef>
                      </a:pPr>
                      <a:r>
                        <a:rPr lang="en-US" sz="1600" b="1" spc="-5">
                          <a:solidFill>
                            <a:srgbClr val="FFFFFF"/>
                          </a:solidFill>
                          <a:latin typeface="Tahoma"/>
                          <a:cs typeface="Tahoma"/>
                        </a:rPr>
                        <a:t>Processing</a:t>
                      </a:r>
                      <a:endParaRPr lang="en-US" sz="1600">
                        <a:latin typeface="Tahoma"/>
                        <a:cs typeface="Tahoma"/>
                      </a:endParaRPr>
                    </a:p>
                    <a:p>
                      <a:pPr marL="766445" marR="133350" lvl="0" indent="-624840">
                        <a:lnSpc>
                          <a:spcPct val="100000"/>
                        </a:lnSpc>
                        <a:spcBef>
                          <a:spcPts val="350"/>
                        </a:spcBef>
                        <a:buNone/>
                      </a:pPr>
                      <a:r>
                        <a:rPr lang="en-US" sz="1600" b="1" spc="-5">
                          <a:solidFill>
                            <a:srgbClr val="FFFFFF"/>
                          </a:solidFill>
                          <a:latin typeface="Tahoma"/>
                          <a:cs typeface="Tahoma"/>
                        </a:rPr>
                        <a:t>Cost (Rs.)</a:t>
                      </a:r>
                      <a:endParaRPr sz="160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tc>
                  <a:txBody>
                    <a:bodyPr/>
                    <a:lstStyle/>
                    <a:p>
                      <a:pPr marL="176530" marR="167640" algn="ctr">
                        <a:lnSpc>
                          <a:spcPct val="100000"/>
                        </a:lnSpc>
                        <a:spcBef>
                          <a:spcPts val="350"/>
                        </a:spcBef>
                      </a:pPr>
                      <a:r>
                        <a:rPr lang="en-US" sz="1600" b="1" spc="-5">
                          <a:solidFill>
                            <a:srgbClr val="FFFFFF"/>
                          </a:solidFill>
                          <a:latin typeface="Tahoma"/>
                          <a:cs typeface="Tahoma"/>
                        </a:rPr>
                        <a:t>Maximum</a:t>
                      </a:r>
                      <a:r>
                        <a:rPr lang="en-US" sz="1600" b="1" spc="-100">
                          <a:solidFill>
                            <a:srgbClr val="FFFFFF"/>
                          </a:solidFill>
                          <a:latin typeface="Tahoma"/>
                          <a:cs typeface="Tahoma"/>
                        </a:rPr>
                        <a:t> </a:t>
                      </a:r>
                      <a:r>
                        <a:rPr lang="en-US" sz="1600" b="1" spc="-5">
                          <a:solidFill>
                            <a:srgbClr val="FFFFFF"/>
                          </a:solidFill>
                          <a:latin typeface="Tahoma"/>
                          <a:cs typeface="Tahoma"/>
                        </a:rPr>
                        <a:t>daily capacity (Sq. meter)</a:t>
                      </a:r>
                      <a:endParaRPr sz="1600">
                        <a:latin typeface="Tahoma"/>
                        <a:cs typeface="Tahoma"/>
                      </a:endParaRPr>
                    </a:p>
                  </a:txBody>
                  <a:tcPr marL="0" marR="0" marT="39221"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F81BD"/>
                    </a:solidFill>
                  </a:tcPr>
                </a:tc>
                <a:extLst>
                  <a:ext uri="{0D108BD9-81ED-4DB2-BD59-A6C34878D82A}">
                    <a16:rowId xmlns:a16="http://schemas.microsoft.com/office/drawing/2014/main" val="10000"/>
                  </a:ext>
                </a:extLst>
              </a:tr>
              <a:tr h="301639">
                <a:tc>
                  <a:txBody>
                    <a:bodyPr/>
                    <a:lstStyle/>
                    <a:p>
                      <a:pPr algn="ctr">
                        <a:lnSpc>
                          <a:spcPct val="100000"/>
                        </a:lnSpc>
                        <a:spcBef>
                          <a:spcPts val="355"/>
                        </a:spcBef>
                      </a:pPr>
                      <a:r>
                        <a:rPr sz="1600">
                          <a:solidFill>
                            <a:srgbClr val="231F20"/>
                          </a:solidFill>
                          <a:latin typeface="Tahoma"/>
                          <a:cs typeface="Tahoma"/>
                        </a:rPr>
                        <a:t>1</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tc>
                  <a:txBody>
                    <a:bodyPr/>
                    <a:lstStyle/>
                    <a:p>
                      <a:pPr algn="ctr">
                        <a:lnSpc>
                          <a:spcPct val="100000"/>
                        </a:lnSpc>
                        <a:spcBef>
                          <a:spcPts val="355"/>
                        </a:spcBef>
                      </a:pPr>
                      <a:r>
                        <a:rPr sz="1600">
                          <a:solidFill>
                            <a:srgbClr val="231F20"/>
                          </a:solidFill>
                          <a:latin typeface="Tahoma"/>
                          <a:cs typeface="Tahoma"/>
                        </a:rPr>
                        <a:t>150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tc>
                  <a:txBody>
                    <a:bodyPr/>
                    <a:lstStyle/>
                    <a:p>
                      <a:pPr marL="1905" algn="ctr">
                        <a:lnSpc>
                          <a:spcPct val="100000"/>
                        </a:lnSpc>
                        <a:spcBef>
                          <a:spcPts val="355"/>
                        </a:spcBef>
                      </a:pPr>
                      <a:r>
                        <a:rPr sz="1600">
                          <a:solidFill>
                            <a:srgbClr val="231F20"/>
                          </a:solidFill>
                          <a:latin typeface="Tahoma"/>
                          <a:cs typeface="Tahoma"/>
                        </a:rPr>
                        <a:t>15</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tc>
                  <a:txBody>
                    <a:bodyPr/>
                    <a:lstStyle/>
                    <a:p>
                      <a:pPr marL="798830">
                        <a:lnSpc>
                          <a:spcPct val="100000"/>
                        </a:lnSpc>
                        <a:spcBef>
                          <a:spcPts val="355"/>
                        </a:spcBef>
                      </a:pPr>
                      <a:r>
                        <a:rPr sz="1600">
                          <a:solidFill>
                            <a:srgbClr val="231F20"/>
                          </a:solidFill>
                          <a:latin typeface="Tahoma"/>
                          <a:cs typeface="Tahoma"/>
                        </a:rPr>
                        <a:t>2000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7E7"/>
                    </a:solidFill>
                  </a:tcPr>
                </a:tc>
                <a:extLst>
                  <a:ext uri="{0D108BD9-81ED-4DB2-BD59-A6C34878D82A}">
                    <a16:rowId xmlns:a16="http://schemas.microsoft.com/office/drawing/2014/main" val="10001"/>
                  </a:ext>
                </a:extLst>
              </a:tr>
              <a:tr h="301639">
                <a:tc>
                  <a:txBody>
                    <a:bodyPr/>
                    <a:lstStyle/>
                    <a:p>
                      <a:pPr algn="ctr">
                        <a:lnSpc>
                          <a:spcPct val="100000"/>
                        </a:lnSpc>
                        <a:spcBef>
                          <a:spcPts val="355"/>
                        </a:spcBef>
                      </a:pPr>
                      <a:r>
                        <a:rPr sz="1600">
                          <a:solidFill>
                            <a:srgbClr val="231F20"/>
                          </a:solidFill>
                          <a:latin typeface="Tahoma"/>
                          <a:cs typeface="Tahoma"/>
                        </a:rPr>
                        <a:t>2</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tc>
                  <a:txBody>
                    <a:bodyPr/>
                    <a:lstStyle/>
                    <a:p>
                      <a:pPr algn="ctr">
                        <a:lnSpc>
                          <a:spcPct val="100000"/>
                        </a:lnSpc>
                        <a:spcBef>
                          <a:spcPts val="355"/>
                        </a:spcBef>
                      </a:pPr>
                      <a:r>
                        <a:rPr sz="1600">
                          <a:solidFill>
                            <a:srgbClr val="231F20"/>
                          </a:solidFill>
                          <a:latin typeface="Tahoma"/>
                          <a:cs typeface="Tahoma"/>
                        </a:rPr>
                        <a:t>240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tc>
                  <a:txBody>
                    <a:bodyPr/>
                    <a:lstStyle/>
                    <a:p>
                      <a:pPr marL="1905" algn="ctr">
                        <a:lnSpc>
                          <a:spcPct val="100000"/>
                        </a:lnSpc>
                        <a:spcBef>
                          <a:spcPts val="355"/>
                        </a:spcBef>
                      </a:pPr>
                      <a:r>
                        <a:rPr sz="1600">
                          <a:solidFill>
                            <a:srgbClr val="231F20"/>
                          </a:solidFill>
                          <a:latin typeface="Tahoma"/>
                          <a:cs typeface="Tahoma"/>
                        </a:rPr>
                        <a:t>10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tc>
                  <a:txBody>
                    <a:bodyPr/>
                    <a:lstStyle/>
                    <a:p>
                      <a:pPr marL="798830">
                        <a:lnSpc>
                          <a:spcPct val="100000"/>
                        </a:lnSpc>
                        <a:spcBef>
                          <a:spcPts val="355"/>
                        </a:spcBef>
                      </a:pPr>
                      <a:r>
                        <a:rPr sz="1600">
                          <a:solidFill>
                            <a:srgbClr val="231F20"/>
                          </a:solidFill>
                          <a:latin typeface="Tahoma"/>
                          <a:cs typeface="Tahoma"/>
                        </a:rPr>
                        <a:t>3000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CF3"/>
                    </a:solidFill>
                  </a:tcPr>
                </a:tc>
                <a:extLst>
                  <a:ext uri="{0D108BD9-81ED-4DB2-BD59-A6C34878D82A}">
                    <a16:rowId xmlns:a16="http://schemas.microsoft.com/office/drawing/2014/main" val="10002"/>
                  </a:ext>
                </a:extLst>
              </a:tr>
              <a:tr h="301639">
                <a:tc>
                  <a:txBody>
                    <a:bodyPr/>
                    <a:lstStyle/>
                    <a:p>
                      <a:pPr algn="ctr">
                        <a:lnSpc>
                          <a:spcPct val="100000"/>
                        </a:lnSpc>
                        <a:spcBef>
                          <a:spcPts val="355"/>
                        </a:spcBef>
                      </a:pPr>
                      <a:r>
                        <a:rPr sz="1600">
                          <a:solidFill>
                            <a:srgbClr val="231F20"/>
                          </a:solidFill>
                          <a:latin typeface="Tahoma"/>
                          <a:cs typeface="Tahoma"/>
                        </a:rPr>
                        <a:t>3</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tc>
                  <a:txBody>
                    <a:bodyPr/>
                    <a:lstStyle/>
                    <a:p>
                      <a:pPr algn="ctr">
                        <a:lnSpc>
                          <a:spcPct val="100000"/>
                        </a:lnSpc>
                        <a:spcBef>
                          <a:spcPts val="355"/>
                        </a:spcBef>
                      </a:pPr>
                      <a:r>
                        <a:rPr sz="1600">
                          <a:solidFill>
                            <a:srgbClr val="231F20"/>
                          </a:solidFill>
                          <a:latin typeface="Tahoma"/>
                          <a:cs typeface="Tahoma"/>
                        </a:rPr>
                        <a:t>300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tc>
                  <a:txBody>
                    <a:bodyPr/>
                    <a:lstStyle/>
                    <a:p>
                      <a:pPr marL="1905" algn="ctr">
                        <a:lnSpc>
                          <a:spcPct val="100000"/>
                        </a:lnSpc>
                        <a:spcBef>
                          <a:spcPts val="355"/>
                        </a:spcBef>
                      </a:pPr>
                      <a:r>
                        <a:rPr sz="1600">
                          <a:solidFill>
                            <a:srgbClr val="231F20"/>
                          </a:solidFill>
                          <a:latin typeface="Tahoma"/>
                          <a:cs typeface="Tahoma"/>
                        </a:rPr>
                        <a:t>8</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tc>
                  <a:txBody>
                    <a:bodyPr/>
                    <a:lstStyle/>
                    <a:p>
                      <a:pPr marL="798830">
                        <a:lnSpc>
                          <a:spcPct val="100000"/>
                        </a:lnSpc>
                        <a:spcBef>
                          <a:spcPts val="355"/>
                        </a:spcBef>
                      </a:pPr>
                      <a:r>
                        <a:rPr sz="1600">
                          <a:solidFill>
                            <a:srgbClr val="231F20"/>
                          </a:solidFill>
                          <a:latin typeface="Tahoma"/>
                          <a:cs typeface="Tahoma"/>
                        </a:rPr>
                        <a:t>3500</a:t>
                      </a:r>
                      <a:endParaRPr sz="1600">
                        <a:latin typeface="Tahoma"/>
                        <a:cs typeface="Tahoma"/>
                      </a:endParaRPr>
                    </a:p>
                  </a:txBody>
                  <a:tcPr marL="0" marR="0" marT="39781"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0D7E7"/>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84000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39276" y="709870"/>
            <a:ext cx="8473478" cy="1097201"/>
          </a:xfrm>
          <a:prstGeom prst="rect">
            <a:avLst/>
          </a:prstGeom>
        </p:spPr>
        <p:txBody>
          <a:bodyPr vert="horz" wrap="square" lIns="0" tIns="10646" rIns="0" bIns="0" rtlCol="0" anchor="t">
            <a:spAutoFit/>
          </a:bodyPr>
          <a:lstStyle/>
          <a:p>
            <a:pPr marL="1805924" marR="4483" algn="r">
              <a:lnSpc>
                <a:spcPct val="100000"/>
              </a:lnSpc>
              <a:spcBef>
                <a:spcPts val="84"/>
              </a:spcBef>
            </a:pPr>
            <a:r>
              <a:rPr sz="3530" spc="-4"/>
              <a:t>INTEGER</a:t>
            </a:r>
            <a:r>
              <a:rPr sz="3530" spc="-79"/>
              <a:t> </a:t>
            </a:r>
            <a:r>
              <a:rPr sz="3530" spc="-4"/>
              <a:t>PROGRAMMING:</a:t>
            </a:r>
            <a:endParaRPr sz="3530"/>
          </a:p>
          <a:p>
            <a:pPr marL="1805924" marR="4483" algn="r">
              <a:lnSpc>
                <a:spcPct val="100000"/>
              </a:lnSpc>
            </a:pPr>
            <a:r>
              <a:rPr sz="3530" spc="-4"/>
              <a:t>FORMULATION</a:t>
            </a:r>
            <a:endParaRPr sz="3530"/>
          </a:p>
        </p:txBody>
      </p:sp>
      <p:sp>
        <p:nvSpPr>
          <p:cNvPr id="3" name="object 3"/>
          <p:cNvSpPr txBox="1"/>
          <p:nvPr/>
        </p:nvSpPr>
        <p:spPr>
          <a:xfrm>
            <a:off x="873940" y="1863583"/>
            <a:ext cx="10082675" cy="1369380"/>
          </a:xfrm>
          <a:prstGeom prst="rect">
            <a:avLst/>
          </a:prstGeom>
        </p:spPr>
        <p:txBody>
          <a:bodyPr vert="horz" wrap="square" lIns="0" tIns="11206" rIns="0" bIns="0" rtlCol="0" anchor="t">
            <a:spAutoFit/>
          </a:bodyPr>
          <a:lstStyle/>
          <a:p>
            <a:pPr marL="11430" algn="just">
              <a:spcBef>
                <a:spcPts val="88"/>
              </a:spcBef>
              <a:tabLst>
                <a:tab pos="313781" algn="l"/>
              </a:tabLst>
            </a:pPr>
            <a:r>
              <a:rPr lang="en-US" sz="1750" b="1" dirty="0">
                <a:solidFill>
                  <a:srgbClr val="FF0000"/>
                </a:solidFill>
                <a:latin typeface="Tahoma"/>
                <a:cs typeface="Tahoma"/>
              </a:rPr>
              <a:t>Zero–One</a:t>
            </a:r>
            <a:r>
              <a:rPr lang="en-US" sz="1750" b="1" spc="-44" dirty="0">
                <a:solidFill>
                  <a:srgbClr val="FF0000"/>
                </a:solidFill>
                <a:latin typeface="Tahoma"/>
                <a:cs typeface="Tahoma"/>
              </a:rPr>
              <a:t> </a:t>
            </a:r>
            <a:r>
              <a:rPr lang="en-US" sz="1750" b="1" dirty="0">
                <a:solidFill>
                  <a:srgbClr val="FF0000"/>
                </a:solidFill>
                <a:latin typeface="Tahoma"/>
                <a:cs typeface="Tahoma"/>
              </a:rPr>
              <a:t>ILP</a:t>
            </a:r>
            <a:endParaRPr lang="en-US" sz="1750" b="1" spc="-44" dirty="0">
              <a:solidFill>
                <a:srgbClr val="FF0000"/>
              </a:solidFill>
              <a:latin typeface="Tahoma"/>
              <a:ea typeface="Tahoma"/>
              <a:cs typeface="Tahoma"/>
            </a:endParaRPr>
          </a:p>
          <a:p>
            <a:pPr marL="10795" marR="4445" algn="just"/>
            <a:r>
              <a:rPr lang="en-US" sz="1750" dirty="0">
                <a:solidFill>
                  <a:srgbClr val="231F20"/>
                </a:solidFill>
                <a:latin typeface="Tahoma"/>
                <a:cs typeface="Tahoma"/>
              </a:rPr>
              <a:t>A </a:t>
            </a:r>
            <a:r>
              <a:rPr lang="en-US" sz="1750" spc="-4" dirty="0">
                <a:solidFill>
                  <a:srgbClr val="231F20"/>
                </a:solidFill>
                <a:latin typeface="Tahoma"/>
                <a:cs typeface="Tahoma"/>
              </a:rPr>
              <a:t>real estate </a:t>
            </a:r>
            <a:r>
              <a:rPr lang="en-US" sz="1750" spc="-9" dirty="0">
                <a:solidFill>
                  <a:srgbClr val="231F20"/>
                </a:solidFill>
                <a:latin typeface="Tahoma"/>
                <a:cs typeface="Tahoma"/>
              </a:rPr>
              <a:t>development </a:t>
            </a:r>
            <a:r>
              <a:rPr lang="en-US" sz="1750" spc="-4" dirty="0">
                <a:solidFill>
                  <a:srgbClr val="231F20"/>
                </a:solidFill>
                <a:latin typeface="Tahoma"/>
                <a:cs typeface="Tahoma"/>
              </a:rPr>
              <a:t>firm, </a:t>
            </a:r>
            <a:r>
              <a:rPr lang="en-US" sz="1750" spc="-9" dirty="0">
                <a:solidFill>
                  <a:srgbClr val="231F20"/>
                </a:solidFill>
                <a:latin typeface="Tahoma"/>
                <a:cs typeface="Tahoma"/>
              </a:rPr>
              <a:t>Peterson </a:t>
            </a:r>
            <a:r>
              <a:rPr lang="en-US" sz="1750" spc="-4" dirty="0">
                <a:solidFill>
                  <a:srgbClr val="231F20"/>
                </a:solidFill>
                <a:latin typeface="Tahoma"/>
                <a:cs typeface="Tahoma"/>
              </a:rPr>
              <a:t>and Johnson, is considering five possible development projects. </a:t>
            </a:r>
            <a:r>
              <a:rPr lang="en-US" sz="1750" dirty="0">
                <a:solidFill>
                  <a:srgbClr val="231F20"/>
                </a:solidFill>
                <a:latin typeface="Tahoma"/>
                <a:cs typeface="Tahoma"/>
              </a:rPr>
              <a:t>The </a:t>
            </a:r>
            <a:r>
              <a:rPr lang="en-US" sz="1750" spc="-4" dirty="0">
                <a:solidFill>
                  <a:srgbClr val="231F20"/>
                </a:solidFill>
                <a:latin typeface="Tahoma"/>
                <a:cs typeface="Tahoma"/>
              </a:rPr>
              <a:t>following table shows the estimated long-</a:t>
            </a:r>
            <a:r>
              <a:rPr lang="en-US" sz="1750" dirty="0">
                <a:solidFill>
                  <a:srgbClr val="231F20"/>
                </a:solidFill>
                <a:latin typeface="Tahoma"/>
                <a:cs typeface="Tahoma"/>
              </a:rPr>
              <a:t>run</a:t>
            </a:r>
            <a:r>
              <a:rPr lang="en-US" sz="1750" spc="234" dirty="0">
                <a:solidFill>
                  <a:srgbClr val="231F20"/>
                </a:solidFill>
                <a:latin typeface="Tahoma"/>
                <a:cs typeface="Tahoma"/>
              </a:rPr>
              <a:t> </a:t>
            </a:r>
            <a:r>
              <a:rPr lang="en-US" sz="1750" spc="-4" dirty="0">
                <a:solidFill>
                  <a:srgbClr val="231F20"/>
                </a:solidFill>
                <a:latin typeface="Tahoma"/>
                <a:cs typeface="Tahoma"/>
              </a:rPr>
              <a:t>profit</a:t>
            </a:r>
            <a:r>
              <a:rPr lang="en-US" sz="1750" spc="247" dirty="0">
                <a:solidFill>
                  <a:srgbClr val="231F20"/>
                </a:solidFill>
                <a:latin typeface="Tahoma"/>
                <a:cs typeface="Tahoma"/>
              </a:rPr>
              <a:t> </a:t>
            </a:r>
            <a:r>
              <a:rPr lang="en-US" sz="1750" dirty="0">
                <a:solidFill>
                  <a:srgbClr val="231F20"/>
                </a:solidFill>
                <a:latin typeface="Tahoma"/>
                <a:cs typeface="Tahoma"/>
              </a:rPr>
              <a:t>(net</a:t>
            </a:r>
            <a:r>
              <a:rPr lang="en-US" sz="1750" spc="243" dirty="0">
                <a:solidFill>
                  <a:srgbClr val="231F20"/>
                </a:solidFill>
                <a:latin typeface="Tahoma"/>
                <a:cs typeface="Tahoma"/>
              </a:rPr>
              <a:t> </a:t>
            </a:r>
            <a:r>
              <a:rPr lang="en-US" sz="1750" spc="-4" dirty="0">
                <a:solidFill>
                  <a:srgbClr val="231F20"/>
                </a:solidFill>
                <a:latin typeface="Tahoma"/>
                <a:cs typeface="Tahoma"/>
              </a:rPr>
              <a:t>present</a:t>
            </a:r>
            <a:r>
              <a:rPr lang="en-US" sz="1750" spc="247" dirty="0">
                <a:solidFill>
                  <a:srgbClr val="231F20"/>
                </a:solidFill>
                <a:latin typeface="Tahoma"/>
                <a:cs typeface="Tahoma"/>
              </a:rPr>
              <a:t> </a:t>
            </a:r>
            <a:r>
              <a:rPr lang="en-US" sz="1750" spc="-13" dirty="0">
                <a:solidFill>
                  <a:srgbClr val="231F20"/>
                </a:solidFill>
                <a:latin typeface="Tahoma"/>
                <a:cs typeface="Tahoma"/>
              </a:rPr>
              <a:t>value)</a:t>
            </a:r>
            <a:r>
              <a:rPr lang="en-US" sz="1750" spc="251" dirty="0">
                <a:solidFill>
                  <a:srgbClr val="231F20"/>
                </a:solidFill>
                <a:latin typeface="Tahoma"/>
                <a:cs typeface="Tahoma"/>
              </a:rPr>
              <a:t> </a:t>
            </a:r>
            <a:r>
              <a:rPr lang="en-US" sz="1750" dirty="0">
                <a:solidFill>
                  <a:srgbClr val="231F20"/>
                </a:solidFill>
                <a:latin typeface="Tahoma"/>
                <a:cs typeface="Tahoma"/>
              </a:rPr>
              <a:t>that</a:t>
            </a:r>
            <a:r>
              <a:rPr lang="en-US" sz="1750" spc="234" dirty="0">
                <a:solidFill>
                  <a:srgbClr val="231F20"/>
                </a:solidFill>
                <a:latin typeface="Tahoma"/>
                <a:cs typeface="Tahoma"/>
              </a:rPr>
              <a:t> </a:t>
            </a:r>
            <a:r>
              <a:rPr lang="en-US" sz="1750" spc="-4" dirty="0">
                <a:solidFill>
                  <a:srgbClr val="231F20"/>
                </a:solidFill>
                <a:latin typeface="Tahoma"/>
                <a:cs typeface="Tahoma"/>
              </a:rPr>
              <a:t>each</a:t>
            </a:r>
            <a:r>
              <a:rPr lang="en-US" sz="1750" spc="238" dirty="0">
                <a:solidFill>
                  <a:srgbClr val="231F20"/>
                </a:solidFill>
                <a:latin typeface="Tahoma"/>
                <a:cs typeface="Tahoma"/>
              </a:rPr>
              <a:t> </a:t>
            </a:r>
            <a:r>
              <a:rPr lang="en-US" sz="1750" spc="-4" dirty="0">
                <a:solidFill>
                  <a:srgbClr val="231F20"/>
                </a:solidFill>
                <a:latin typeface="Tahoma"/>
                <a:cs typeface="Tahoma"/>
              </a:rPr>
              <a:t>project</a:t>
            </a:r>
            <a:r>
              <a:rPr lang="en-US" sz="1750" spc="247" dirty="0">
                <a:solidFill>
                  <a:srgbClr val="231F20"/>
                </a:solidFill>
                <a:latin typeface="Tahoma"/>
                <a:cs typeface="Tahoma"/>
              </a:rPr>
              <a:t> </a:t>
            </a:r>
            <a:r>
              <a:rPr lang="en-US" sz="1750" spc="-4" dirty="0">
                <a:solidFill>
                  <a:srgbClr val="231F20"/>
                </a:solidFill>
                <a:latin typeface="Tahoma"/>
                <a:cs typeface="Tahoma"/>
              </a:rPr>
              <a:t>would</a:t>
            </a:r>
            <a:r>
              <a:rPr lang="en-US" sz="1750" spc="243" dirty="0">
                <a:solidFill>
                  <a:srgbClr val="231F20"/>
                </a:solidFill>
                <a:latin typeface="Tahoma"/>
                <a:cs typeface="Tahoma"/>
              </a:rPr>
              <a:t> </a:t>
            </a:r>
            <a:r>
              <a:rPr lang="en-US" sz="1750" spc="-9" dirty="0">
                <a:solidFill>
                  <a:srgbClr val="231F20"/>
                </a:solidFill>
                <a:latin typeface="Tahoma"/>
                <a:cs typeface="Tahoma"/>
              </a:rPr>
              <a:t>generate,</a:t>
            </a:r>
            <a:r>
              <a:rPr lang="en-US" sz="1750" spc="243" dirty="0">
                <a:solidFill>
                  <a:srgbClr val="231F20"/>
                </a:solidFill>
                <a:latin typeface="Tahoma"/>
                <a:cs typeface="Tahoma"/>
              </a:rPr>
              <a:t> </a:t>
            </a:r>
            <a:r>
              <a:rPr lang="en-US" sz="1750" spc="-4" dirty="0">
                <a:solidFill>
                  <a:srgbClr val="231F20"/>
                </a:solidFill>
                <a:latin typeface="Tahoma"/>
                <a:cs typeface="Tahoma"/>
              </a:rPr>
              <a:t>as</a:t>
            </a:r>
            <a:r>
              <a:rPr lang="en-US" sz="1750" spc="251" dirty="0">
                <a:solidFill>
                  <a:srgbClr val="231F20"/>
                </a:solidFill>
                <a:latin typeface="Tahoma"/>
                <a:cs typeface="Tahoma"/>
              </a:rPr>
              <a:t> </a:t>
            </a:r>
            <a:r>
              <a:rPr lang="en-US" sz="1750" dirty="0">
                <a:solidFill>
                  <a:srgbClr val="231F20"/>
                </a:solidFill>
                <a:latin typeface="Tahoma"/>
                <a:cs typeface="Tahoma"/>
              </a:rPr>
              <a:t>well</a:t>
            </a:r>
            <a:r>
              <a:rPr lang="en-US" sz="1750" spc="243" dirty="0">
                <a:solidFill>
                  <a:srgbClr val="231F20"/>
                </a:solidFill>
                <a:latin typeface="Tahoma"/>
                <a:cs typeface="Tahoma"/>
              </a:rPr>
              <a:t> </a:t>
            </a:r>
            <a:r>
              <a:rPr lang="en-US" sz="1750" dirty="0">
                <a:solidFill>
                  <a:srgbClr val="231F20"/>
                </a:solidFill>
                <a:latin typeface="Tahoma"/>
                <a:cs typeface="Tahoma"/>
              </a:rPr>
              <a:t>as the </a:t>
            </a:r>
            <a:r>
              <a:rPr lang="en-US" sz="1750" spc="-4" dirty="0">
                <a:solidFill>
                  <a:srgbClr val="231F20"/>
                </a:solidFill>
                <a:latin typeface="Tahoma"/>
                <a:cs typeface="Tahoma"/>
              </a:rPr>
              <a:t>amount </a:t>
            </a:r>
            <a:r>
              <a:rPr lang="en-US" sz="1750" dirty="0">
                <a:solidFill>
                  <a:srgbClr val="231F20"/>
                </a:solidFill>
                <a:latin typeface="Tahoma"/>
                <a:cs typeface="Tahoma"/>
              </a:rPr>
              <a:t>of </a:t>
            </a:r>
            <a:r>
              <a:rPr lang="en-US" sz="1750" spc="-9" dirty="0">
                <a:solidFill>
                  <a:srgbClr val="231F20"/>
                </a:solidFill>
                <a:latin typeface="Tahoma"/>
                <a:cs typeface="Tahoma"/>
              </a:rPr>
              <a:t>investment required </a:t>
            </a:r>
            <a:r>
              <a:rPr lang="en-US" sz="1750" dirty="0">
                <a:solidFill>
                  <a:srgbClr val="231F20"/>
                </a:solidFill>
                <a:latin typeface="Tahoma"/>
                <a:cs typeface="Tahoma"/>
              </a:rPr>
              <a:t>to </a:t>
            </a:r>
            <a:r>
              <a:rPr lang="en-US" sz="1750" spc="-4" dirty="0">
                <a:solidFill>
                  <a:srgbClr val="231F20"/>
                </a:solidFill>
                <a:latin typeface="Tahoma"/>
                <a:cs typeface="Tahoma"/>
              </a:rPr>
              <a:t>undertake the project, in units </a:t>
            </a:r>
            <a:r>
              <a:rPr lang="en-US" sz="1750" dirty="0">
                <a:solidFill>
                  <a:srgbClr val="231F20"/>
                </a:solidFill>
                <a:latin typeface="Tahoma"/>
                <a:cs typeface="Tahoma"/>
              </a:rPr>
              <a:t>of </a:t>
            </a:r>
            <a:r>
              <a:rPr lang="en-US" sz="1750" spc="-4" dirty="0">
                <a:solidFill>
                  <a:srgbClr val="231F20"/>
                </a:solidFill>
                <a:latin typeface="Tahoma"/>
                <a:cs typeface="Tahoma"/>
              </a:rPr>
              <a:t>millions</a:t>
            </a:r>
            <a:r>
              <a:rPr lang="en-US" sz="1750" dirty="0">
                <a:solidFill>
                  <a:srgbClr val="231F20"/>
                </a:solidFill>
                <a:latin typeface="Tahoma"/>
                <a:cs typeface="Tahoma"/>
              </a:rPr>
              <a:t> of</a:t>
            </a:r>
            <a:r>
              <a:rPr lang="en-US" sz="1750" spc="-4" dirty="0">
                <a:solidFill>
                  <a:srgbClr val="231F20"/>
                </a:solidFill>
                <a:latin typeface="Tahoma"/>
                <a:cs typeface="Tahoma"/>
              </a:rPr>
              <a:t> </a:t>
            </a:r>
            <a:r>
              <a:rPr lang="en-US" sz="1750" dirty="0">
                <a:solidFill>
                  <a:srgbClr val="231F20"/>
                </a:solidFill>
                <a:latin typeface="Tahoma"/>
                <a:cs typeface="Tahoma"/>
              </a:rPr>
              <a:t>dollars.</a:t>
            </a:r>
            <a:endParaRPr sz="1750" dirty="0">
              <a:latin typeface="Tahoma"/>
              <a:ea typeface="Tahoma"/>
              <a:cs typeface="Tahoma"/>
            </a:endParaRPr>
          </a:p>
        </p:txBody>
      </p:sp>
      <p:sp>
        <p:nvSpPr>
          <p:cNvPr id="4" name="object 4"/>
          <p:cNvSpPr txBox="1"/>
          <p:nvPr/>
        </p:nvSpPr>
        <p:spPr>
          <a:xfrm>
            <a:off x="809203" y="4994417"/>
            <a:ext cx="10398266" cy="988763"/>
          </a:xfrm>
          <a:prstGeom prst="rect">
            <a:avLst/>
          </a:prstGeom>
        </p:spPr>
        <p:txBody>
          <a:bodyPr vert="horz" wrap="square" lIns="0" tIns="11206" rIns="0" bIns="0" rtlCol="0" anchor="t">
            <a:spAutoFit/>
          </a:bodyPr>
          <a:lstStyle/>
          <a:p>
            <a:pPr marL="10795" marR="4445" algn="just">
              <a:spcBef>
                <a:spcPts val="88"/>
              </a:spcBef>
            </a:pPr>
            <a:r>
              <a:rPr lang="en-US" sz="1550" dirty="0">
                <a:solidFill>
                  <a:srgbClr val="231F20"/>
                </a:solidFill>
                <a:latin typeface="Tahoma"/>
                <a:cs typeface="Tahoma"/>
              </a:rPr>
              <a:t>The </a:t>
            </a:r>
            <a:r>
              <a:rPr lang="en-US" sz="1550" spc="-4" dirty="0">
                <a:solidFill>
                  <a:srgbClr val="231F20"/>
                </a:solidFill>
                <a:latin typeface="Tahoma"/>
                <a:cs typeface="Tahoma"/>
              </a:rPr>
              <a:t>owners of the firm, Dave </a:t>
            </a:r>
            <a:r>
              <a:rPr lang="en-US" sz="1550" spc="-9" dirty="0">
                <a:solidFill>
                  <a:srgbClr val="231F20"/>
                </a:solidFill>
                <a:latin typeface="Tahoma"/>
                <a:cs typeface="Tahoma"/>
              </a:rPr>
              <a:t>Peterson </a:t>
            </a:r>
            <a:r>
              <a:rPr lang="en-US" sz="1550" dirty="0">
                <a:solidFill>
                  <a:srgbClr val="231F20"/>
                </a:solidFill>
                <a:latin typeface="Tahoma"/>
                <a:cs typeface="Tahoma"/>
              </a:rPr>
              <a:t>and </a:t>
            </a:r>
            <a:r>
              <a:rPr lang="en-US" sz="1550" spc="-18" dirty="0">
                <a:solidFill>
                  <a:srgbClr val="231F20"/>
                </a:solidFill>
                <a:latin typeface="Tahoma"/>
                <a:cs typeface="Tahoma"/>
              </a:rPr>
              <a:t>Ron </a:t>
            </a:r>
            <a:r>
              <a:rPr lang="en-US" sz="1550" spc="-9" dirty="0">
                <a:solidFill>
                  <a:srgbClr val="231F20"/>
                </a:solidFill>
                <a:latin typeface="Tahoma"/>
                <a:cs typeface="Tahoma"/>
              </a:rPr>
              <a:t>Johnson, have raised </a:t>
            </a:r>
            <a:r>
              <a:rPr lang="en-US" sz="1550" dirty="0">
                <a:solidFill>
                  <a:srgbClr val="231F20"/>
                </a:solidFill>
                <a:latin typeface="Tahoma"/>
                <a:cs typeface="Tahoma"/>
              </a:rPr>
              <a:t>$20 million </a:t>
            </a:r>
            <a:r>
              <a:rPr lang="en-US" sz="1550" spc="-4" dirty="0">
                <a:solidFill>
                  <a:srgbClr val="231F20"/>
                </a:solidFill>
                <a:latin typeface="Tahoma"/>
                <a:cs typeface="Tahoma"/>
              </a:rPr>
              <a:t>of investment</a:t>
            </a:r>
            <a:r>
              <a:rPr lang="en-US" sz="1550" dirty="0">
                <a:solidFill>
                  <a:srgbClr val="231F20"/>
                </a:solidFill>
                <a:latin typeface="Tahoma"/>
                <a:cs typeface="Tahoma"/>
              </a:rPr>
              <a:t> </a:t>
            </a:r>
            <a:r>
              <a:rPr lang="en-US" sz="1550" spc="-4" dirty="0">
                <a:solidFill>
                  <a:srgbClr val="231F20"/>
                </a:solidFill>
                <a:latin typeface="Tahoma"/>
                <a:cs typeface="Tahoma"/>
              </a:rPr>
              <a:t>capital</a:t>
            </a:r>
            <a:r>
              <a:rPr lang="en-US" sz="1550" dirty="0">
                <a:solidFill>
                  <a:srgbClr val="231F20"/>
                </a:solidFill>
                <a:latin typeface="Tahoma"/>
                <a:cs typeface="Tahoma"/>
              </a:rPr>
              <a:t> </a:t>
            </a:r>
            <a:r>
              <a:rPr lang="en-US" sz="1550" spc="-4" dirty="0">
                <a:solidFill>
                  <a:srgbClr val="231F20"/>
                </a:solidFill>
                <a:latin typeface="Tahoma"/>
                <a:cs typeface="Tahoma"/>
              </a:rPr>
              <a:t>for</a:t>
            </a:r>
            <a:r>
              <a:rPr lang="en-US" sz="1550" dirty="0">
                <a:solidFill>
                  <a:srgbClr val="231F20"/>
                </a:solidFill>
                <a:latin typeface="Tahoma"/>
                <a:cs typeface="Tahoma"/>
              </a:rPr>
              <a:t> </a:t>
            </a:r>
            <a:r>
              <a:rPr lang="en-US" sz="1550" spc="-4" dirty="0">
                <a:solidFill>
                  <a:srgbClr val="231F20"/>
                </a:solidFill>
                <a:latin typeface="Tahoma"/>
                <a:cs typeface="Tahoma"/>
              </a:rPr>
              <a:t>these</a:t>
            </a:r>
            <a:r>
              <a:rPr lang="en-US" sz="1550" dirty="0">
                <a:solidFill>
                  <a:srgbClr val="231F20"/>
                </a:solidFill>
                <a:latin typeface="Tahoma"/>
                <a:cs typeface="Tahoma"/>
              </a:rPr>
              <a:t> </a:t>
            </a:r>
            <a:r>
              <a:rPr lang="en-US" sz="1550" spc="-4" dirty="0">
                <a:solidFill>
                  <a:srgbClr val="231F20"/>
                </a:solidFill>
                <a:latin typeface="Tahoma"/>
                <a:cs typeface="Tahoma"/>
              </a:rPr>
              <a:t>projects.</a:t>
            </a:r>
            <a:r>
              <a:rPr lang="en-US" sz="1550" dirty="0">
                <a:solidFill>
                  <a:srgbClr val="231F20"/>
                </a:solidFill>
                <a:latin typeface="Tahoma"/>
                <a:cs typeface="Tahoma"/>
              </a:rPr>
              <a:t> </a:t>
            </a:r>
            <a:r>
              <a:rPr lang="en-US" sz="1550" spc="-4" dirty="0">
                <a:solidFill>
                  <a:srgbClr val="231F20"/>
                </a:solidFill>
                <a:latin typeface="Tahoma"/>
                <a:cs typeface="Tahoma"/>
              </a:rPr>
              <a:t>Dave</a:t>
            </a:r>
            <a:r>
              <a:rPr lang="en-US" sz="1550" dirty="0">
                <a:solidFill>
                  <a:srgbClr val="231F20"/>
                </a:solidFill>
                <a:latin typeface="Tahoma"/>
                <a:cs typeface="Tahoma"/>
              </a:rPr>
              <a:t> and</a:t>
            </a:r>
            <a:r>
              <a:rPr lang="en-US" sz="1550" spc="4" dirty="0">
                <a:solidFill>
                  <a:srgbClr val="231F20"/>
                </a:solidFill>
                <a:latin typeface="Tahoma"/>
                <a:cs typeface="Tahoma"/>
              </a:rPr>
              <a:t> </a:t>
            </a:r>
            <a:r>
              <a:rPr lang="en-US" sz="1550" spc="-13" dirty="0">
                <a:solidFill>
                  <a:srgbClr val="231F20"/>
                </a:solidFill>
                <a:latin typeface="Tahoma"/>
                <a:cs typeface="Tahoma"/>
              </a:rPr>
              <a:t>Ron</a:t>
            </a:r>
            <a:r>
              <a:rPr lang="en-US" sz="1550" spc="-9" dirty="0">
                <a:solidFill>
                  <a:srgbClr val="231F20"/>
                </a:solidFill>
                <a:latin typeface="Tahoma"/>
                <a:cs typeface="Tahoma"/>
              </a:rPr>
              <a:t> </a:t>
            </a:r>
            <a:r>
              <a:rPr lang="en-US" sz="1550" spc="-4" dirty="0">
                <a:solidFill>
                  <a:srgbClr val="231F20"/>
                </a:solidFill>
                <a:latin typeface="Tahoma"/>
                <a:cs typeface="Tahoma"/>
              </a:rPr>
              <a:t>now</a:t>
            </a:r>
            <a:r>
              <a:rPr lang="en-US" sz="1550" dirty="0">
                <a:solidFill>
                  <a:srgbClr val="231F20"/>
                </a:solidFill>
                <a:latin typeface="Tahoma"/>
                <a:cs typeface="Tahoma"/>
              </a:rPr>
              <a:t> </a:t>
            </a:r>
            <a:r>
              <a:rPr lang="en-US" sz="1550" spc="-4" dirty="0">
                <a:solidFill>
                  <a:srgbClr val="231F20"/>
                </a:solidFill>
                <a:latin typeface="Tahoma"/>
                <a:cs typeface="Tahoma"/>
              </a:rPr>
              <a:t>want</a:t>
            </a:r>
            <a:r>
              <a:rPr lang="en-US" sz="1550" dirty="0">
                <a:solidFill>
                  <a:srgbClr val="231F20"/>
                </a:solidFill>
                <a:latin typeface="Tahoma"/>
                <a:cs typeface="Tahoma"/>
              </a:rPr>
              <a:t> </a:t>
            </a:r>
            <a:r>
              <a:rPr lang="en-US" sz="1550" spc="-4" dirty="0">
                <a:solidFill>
                  <a:srgbClr val="231F20"/>
                </a:solidFill>
                <a:latin typeface="Tahoma"/>
                <a:cs typeface="Tahoma"/>
              </a:rPr>
              <a:t>to</a:t>
            </a:r>
            <a:r>
              <a:rPr lang="en-US" sz="1550" dirty="0">
                <a:solidFill>
                  <a:srgbClr val="231F20"/>
                </a:solidFill>
                <a:latin typeface="Tahoma"/>
                <a:cs typeface="Tahoma"/>
              </a:rPr>
              <a:t> </a:t>
            </a:r>
            <a:r>
              <a:rPr lang="en-US" sz="1550" spc="-4" dirty="0">
                <a:solidFill>
                  <a:srgbClr val="231F20"/>
                </a:solidFill>
                <a:latin typeface="Tahoma"/>
                <a:cs typeface="Tahoma"/>
              </a:rPr>
              <a:t>select</a:t>
            </a:r>
            <a:r>
              <a:rPr lang="en-US" sz="1550" dirty="0">
                <a:solidFill>
                  <a:srgbClr val="231F20"/>
                </a:solidFill>
                <a:latin typeface="Tahoma"/>
                <a:cs typeface="Tahoma"/>
              </a:rPr>
              <a:t> </a:t>
            </a:r>
            <a:r>
              <a:rPr lang="en-US" sz="1550" spc="-4" dirty="0">
                <a:solidFill>
                  <a:srgbClr val="231F20"/>
                </a:solidFill>
                <a:latin typeface="Tahoma"/>
                <a:cs typeface="Tahoma"/>
              </a:rPr>
              <a:t>the combination of projects that will maximize </a:t>
            </a:r>
            <a:r>
              <a:rPr lang="en-US" sz="1550" dirty="0">
                <a:solidFill>
                  <a:srgbClr val="231F20"/>
                </a:solidFill>
                <a:latin typeface="Tahoma"/>
                <a:cs typeface="Tahoma"/>
              </a:rPr>
              <a:t>their </a:t>
            </a:r>
            <a:r>
              <a:rPr lang="en-US" sz="1550" spc="-4" dirty="0">
                <a:solidFill>
                  <a:srgbClr val="231F20"/>
                </a:solidFill>
                <a:latin typeface="Tahoma"/>
                <a:cs typeface="Tahoma"/>
              </a:rPr>
              <a:t>total estimated long-run profit (net present </a:t>
            </a:r>
            <a:r>
              <a:rPr lang="en-US" sz="1550" spc="-9" dirty="0">
                <a:solidFill>
                  <a:srgbClr val="231F20"/>
                </a:solidFill>
                <a:latin typeface="Tahoma"/>
                <a:cs typeface="Tahoma"/>
              </a:rPr>
              <a:t>value) </a:t>
            </a:r>
            <a:r>
              <a:rPr lang="en-US" sz="1550" spc="-4" dirty="0">
                <a:solidFill>
                  <a:srgbClr val="231F20"/>
                </a:solidFill>
                <a:latin typeface="Tahoma"/>
                <a:cs typeface="Tahoma"/>
              </a:rPr>
              <a:t>without </a:t>
            </a:r>
            <a:r>
              <a:rPr lang="en-US" sz="1550" spc="-9" dirty="0">
                <a:solidFill>
                  <a:srgbClr val="231F20"/>
                </a:solidFill>
                <a:latin typeface="Tahoma"/>
                <a:cs typeface="Tahoma"/>
              </a:rPr>
              <a:t>investing </a:t>
            </a:r>
            <a:r>
              <a:rPr lang="en-US" sz="1550" spc="-4" dirty="0">
                <a:solidFill>
                  <a:srgbClr val="231F20"/>
                </a:solidFill>
                <a:latin typeface="Tahoma"/>
                <a:cs typeface="Tahoma"/>
              </a:rPr>
              <a:t>more than </a:t>
            </a:r>
            <a:r>
              <a:rPr lang="en-US" sz="1550" dirty="0">
                <a:solidFill>
                  <a:srgbClr val="231F20"/>
                </a:solidFill>
                <a:latin typeface="Tahoma"/>
                <a:cs typeface="Tahoma"/>
              </a:rPr>
              <a:t>$20 </a:t>
            </a:r>
            <a:r>
              <a:rPr lang="en-US" sz="1550" spc="-4" dirty="0">
                <a:solidFill>
                  <a:srgbClr val="231F20"/>
                </a:solidFill>
                <a:latin typeface="Tahoma"/>
                <a:cs typeface="Tahoma"/>
              </a:rPr>
              <a:t>million. </a:t>
            </a:r>
            <a:r>
              <a:rPr lang="en-US" sz="1550" spc="-9" dirty="0">
                <a:solidFill>
                  <a:srgbClr val="231F20"/>
                </a:solidFill>
                <a:latin typeface="Tahoma"/>
                <a:cs typeface="Tahoma"/>
              </a:rPr>
              <a:t>Formulate </a:t>
            </a:r>
            <a:r>
              <a:rPr lang="en-US" sz="1550" dirty="0">
                <a:solidFill>
                  <a:srgbClr val="231F20"/>
                </a:solidFill>
                <a:latin typeface="Tahoma"/>
                <a:cs typeface="Tahoma"/>
              </a:rPr>
              <a:t>a </a:t>
            </a:r>
            <a:r>
              <a:rPr lang="en-US" sz="1550" spc="-4" dirty="0">
                <a:solidFill>
                  <a:srgbClr val="231F20"/>
                </a:solidFill>
                <a:latin typeface="Tahoma"/>
                <a:cs typeface="Tahoma"/>
              </a:rPr>
              <a:t>Binary Integer </a:t>
            </a:r>
            <a:r>
              <a:rPr lang="en-US" sz="1550" spc="-9" dirty="0">
                <a:solidFill>
                  <a:srgbClr val="231F20"/>
                </a:solidFill>
                <a:latin typeface="Tahoma"/>
                <a:cs typeface="Tahoma"/>
              </a:rPr>
              <a:t>Programming</a:t>
            </a:r>
            <a:r>
              <a:rPr lang="en-US" sz="1550" spc="4" dirty="0">
                <a:solidFill>
                  <a:srgbClr val="231F20"/>
                </a:solidFill>
                <a:latin typeface="Tahoma"/>
                <a:cs typeface="Tahoma"/>
              </a:rPr>
              <a:t> </a:t>
            </a:r>
            <a:r>
              <a:rPr lang="en-US" sz="1550" spc="-4" dirty="0">
                <a:solidFill>
                  <a:srgbClr val="231F20"/>
                </a:solidFill>
                <a:latin typeface="Tahoma"/>
                <a:cs typeface="Tahoma"/>
              </a:rPr>
              <a:t>(0–1)</a:t>
            </a:r>
            <a:r>
              <a:rPr lang="en-US" sz="1550" spc="9" dirty="0">
                <a:solidFill>
                  <a:srgbClr val="231F20"/>
                </a:solidFill>
                <a:latin typeface="Tahoma"/>
                <a:cs typeface="Tahoma"/>
              </a:rPr>
              <a:t> </a:t>
            </a:r>
            <a:r>
              <a:rPr lang="en-US" sz="1550" spc="-4" dirty="0">
                <a:solidFill>
                  <a:srgbClr val="231F20"/>
                </a:solidFill>
                <a:latin typeface="Tahoma"/>
                <a:cs typeface="Tahoma"/>
              </a:rPr>
              <a:t>model</a:t>
            </a:r>
            <a:r>
              <a:rPr lang="en-US" sz="1550" spc="4" dirty="0">
                <a:solidFill>
                  <a:srgbClr val="231F20"/>
                </a:solidFill>
                <a:latin typeface="Tahoma"/>
                <a:cs typeface="Tahoma"/>
              </a:rPr>
              <a:t> </a:t>
            </a:r>
            <a:r>
              <a:rPr lang="en-US" sz="1550" spc="-4" dirty="0">
                <a:solidFill>
                  <a:srgbClr val="231F20"/>
                </a:solidFill>
                <a:latin typeface="Tahoma"/>
                <a:cs typeface="Tahoma"/>
              </a:rPr>
              <a:t>for</a:t>
            </a:r>
            <a:r>
              <a:rPr lang="en-US" sz="1550" dirty="0">
                <a:solidFill>
                  <a:srgbClr val="231F20"/>
                </a:solidFill>
                <a:latin typeface="Tahoma"/>
                <a:cs typeface="Tahoma"/>
              </a:rPr>
              <a:t> </a:t>
            </a:r>
            <a:r>
              <a:rPr lang="en-US" sz="1550" spc="-4" dirty="0">
                <a:solidFill>
                  <a:srgbClr val="231F20"/>
                </a:solidFill>
                <a:latin typeface="Tahoma"/>
                <a:cs typeface="Tahoma"/>
              </a:rPr>
              <a:t>this</a:t>
            </a:r>
            <a:r>
              <a:rPr lang="en-US" sz="1550" spc="-13" dirty="0">
                <a:solidFill>
                  <a:srgbClr val="231F20"/>
                </a:solidFill>
                <a:latin typeface="Tahoma"/>
                <a:cs typeface="Tahoma"/>
              </a:rPr>
              <a:t> </a:t>
            </a:r>
            <a:r>
              <a:rPr lang="en-US" sz="1550" spc="-4" dirty="0">
                <a:solidFill>
                  <a:srgbClr val="231F20"/>
                </a:solidFill>
                <a:latin typeface="Tahoma"/>
                <a:cs typeface="Tahoma"/>
              </a:rPr>
              <a:t>problem.</a:t>
            </a:r>
            <a:endParaRPr lang="en-US" sz="1550" dirty="0">
              <a:latin typeface="Tahoma"/>
              <a:ea typeface="Tahoma"/>
              <a:cs typeface="Tahoma"/>
            </a:endParaRPr>
          </a:p>
        </p:txBody>
      </p:sp>
      <p:pic>
        <p:nvPicPr>
          <p:cNvPr id="5" name="object 5"/>
          <p:cNvPicPr/>
          <p:nvPr/>
        </p:nvPicPr>
        <p:blipFill>
          <a:blip r:embed="rId2" cstate="print"/>
          <a:stretch>
            <a:fillRect/>
          </a:stretch>
        </p:blipFill>
        <p:spPr>
          <a:xfrm>
            <a:off x="2031198" y="3328871"/>
            <a:ext cx="6815364" cy="1569638"/>
          </a:xfrm>
          <a:prstGeom prst="rect">
            <a:avLst/>
          </a:prstGeom>
        </p:spPr>
      </p:pic>
      <p:sp>
        <p:nvSpPr>
          <p:cNvPr id="6" name="object 6"/>
          <p:cNvSpPr txBox="1">
            <a:spLocks noGrp="1"/>
          </p:cNvSpPr>
          <p:nvPr>
            <p:ph type="sldNum" sz="quarter" idx="7"/>
          </p:nvPr>
        </p:nvSpPr>
        <p:spPr>
          <a:xfrm>
            <a:off x="8846562" y="6891552"/>
            <a:ext cx="243840" cy="209550"/>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9A9D9F"/>
                </a:solidFill>
                <a:latin typeface="Tahoma"/>
                <a:ea typeface="+mn-ea"/>
                <a:cs typeface="Tahom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1285">
              <a:spcBef>
                <a:spcPts val="100"/>
              </a:spcBef>
            </a:pPr>
            <a:fld id="{81D60167-4931-47E6-BA6A-407CBD079E47}" type="slidenum">
              <a:rPr lang="en-IN" smtClean="0"/>
              <a:pPr marL="121285">
                <a:spcBef>
                  <a:spcPts val="100"/>
                </a:spcBef>
              </a:pPr>
              <a:t>11</a:t>
            </a:fld>
            <a:endParaRPr/>
          </a:p>
        </p:txBody>
      </p:sp>
    </p:spTree>
    <p:extLst>
      <p:ext uri="{BB962C8B-B14F-4D97-AF65-F5344CB8AC3E}">
        <p14:creationId xmlns:p14="http://schemas.microsoft.com/office/powerpoint/2010/main" val="35364400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39276" y="709870"/>
            <a:ext cx="8473478" cy="1097201"/>
          </a:xfrm>
          <a:prstGeom prst="rect">
            <a:avLst/>
          </a:prstGeom>
        </p:spPr>
        <p:txBody>
          <a:bodyPr vert="horz" wrap="square" lIns="0" tIns="10646" rIns="0" bIns="0" rtlCol="0" anchor="t">
            <a:spAutoFit/>
          </a:bodyPr>
          <a:lstStyle/>
          <a:p>
            <a:pPr marL="1805924" marR="4483" algn="r">
              <a:lnSpc>
                <a:spcPct val="100000"/>
              </a:lnSpc>
              <a:spcBef>
                <a:spcPts val="84"/>
              </a:spcBef>
            </a:pPr>
            <a:r>
              <a:rPr sz="3530" spc="-4"/>
              <a:t>INTEGER</a:t>
            </a:r>
            <a:r>
              <a:rPr sz="3530" spc="-79"/>
              <a:t> </a:t>
            </a:r>
            <a:r>
              <a:rPr sz="3530" spc="-4"/>
              <a:t>PROGRAMMING:</a:t>
            </a:r>
            <a:endParaRPr sz="3530"/>
          </a:p>
          <a:p>
            <a:pPr marL="1805924" marR="4483" algn="r">
              <a:lnSpc>
                <a:spcPct val="100000"/>
              </a:lnSpc>
            </a:pPr>
            <a:r>
              <a:rPr sz="3530" spc="-4"/>
              <a:t>FORMULATION</a:t>
            </a:r>
            <a:endParaRPr sz="3530"/>
          </a:p>
        </p:txBody>
      </p:sp>
      <p:pic>
        <p:nvPicPr>
          <p:cNvPr id="3" name="object 3"/>
          <p:cNvPicPr/>
          <p:nvPr/>
        </p:nvPicPr>
        <p:blipFill>
          <a:blip r:embed="rId2" cstate="print"/>
          <a:stretch>
            <a:fillRect/>
          </a:stretch>
        </p:blipFill>
        <p:spPr>
          <a:xfrm>
            <a:off x="2854221" y="2017234"/>
            <a:ext cx="6372993" cy="2819899"/>
          </a:xfrm>
          <a:prstGeom prst="rect">
            <a:avLst/>
          </a:prstGeom>
        </p:spPr>
      </p:pic>
      <p:sp>
        <p:nvSpPr>
          <p:cNvPr id="4" name="object 4"/>
          <p:cNvSpPr txBox="1">
            <a:spLocks noGrp="1"/>
          </p:cNvSpPr>
          <p:nvPr>
            <p:ph type="sldNum" sz="quarter" idx="7"/>
          </p:nvPr>
        </p:nvSpPr>
        <p:spPr>
          <a:xfrm>
            <a:off x="8846562" y="6891552"/>
            <a:ext cx="243840" cy="209550"/>
          </a:xfrm>
          <a:prstGeom prst="rect">
            <a:avLst/>
          </a:prstGeom>
        </p:spPr>
        <p:txBody>
          <a:bodyPr vert="horz" wrap="square" lIns="0" tIns="0" rIns="0" bIns="0" rtlCol="0">
            <a:spAutoFit/>
          </a:bodyPr>
          <a:lstStyle>
            <a:defPPr>
              <a:defRPr lang="en-US"/>
            </a:defPPr>
            <a:lvl1pPr marL="0" algn="l" defTabSz="914400" rtl="0" eaLnBrk="1" latinLnBrk="0" hangingPunct="1">
              <a:defRPr sz="1200" b="0" i="0" kern="1200">
                <a:solidFill>
                  <a:srgbClr val="9A9D9F"/>
                </a:solidFill>
                <a:latin typeface="Tahoma"/>
                <a:ea typeface="+mn-ea"/>
                <a:cs typeface="Tahoma"/>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1285">
              <a:spcBef>
                <a:spcPts val="100"/>
              </a:spcBef>
            </a:pPr>
            <a:fld id="{81D60167-4931-47E6-BA6A-407CBD079E47}" type="slidenum">
              <a:rPr lang="en-IN" smtClean="0"/>
              <a:pPr marL="121285">
                <a:spcBef>
                  <a:spcPts val="100"/>
                </a:spcBef>
              </a:pPr>
              <a:t>12</a:t>
            </a:fld>
            <a:endParaRPr/>
          </a:p>
        </p:txBody>
      </p:sp>
    </p:spTree>
    <p:extLst>
      <p:ext uri="{BB962C8B-B14F-4D97-AF65-F5344CB8AC3E}">
        <p14:creationId xmlns:p14="http://schemas.microsoft.com/office/powerpoint/2010/main" val="2140823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50CEA-A461-0334-8690-4FBF0092AE03}"/>
              </a:ext>
            </a:extLst>
          </p:cNvPr>
          <p:cNvSpPr>
            <a:spLocks noGrp="1"/>
          </p:cNvSpPr>
          <p:nvPr>
            <p:ph type="title"/>
          </p:nvPr>
        </p:nvSpPr>
        <p:spPr>
          <a:xfrm>
            <a:off x="1451579" y="804519"/>
            <a:ext cx="9603275" cy="689017"/>
          </a:xfrm>
        </p:spPr>
        <p:txBody>
          <a:bodyPr>
            <a:normAutofit/>
          </a:bodyPr>
          <a:lstStyle/>
          <a:p>
            <a:pPr marL="1510030" marR="5715">
              <a:lnSpc>
                <a:spcPct val="100000"/>
              </a:lnSpc>
              <a:spcBef>
                <a:spcPts val="95"/>
              </a:spcBef>
            </a:pPr>
            <a:r>
              <a:rPr lang="en-US" spc="-10" dirty="0"/>
              <a:t>APPROACH TO </a:t>
            </a:r>
            <a:r>
              <a:rPr lang="en-US" sz="3200" spc="-5" dirty="0"/>
              <a:t>SOLVING</a:t>
            </a:r>
            <a:r>
              <a:rPr lang="en-US" sz="3200" spc="5" dirty="0"/>
              <a:t> </a:t>
            </a:r>
            <a:r>
              <a:rPr lang="en-US" spc="-10" dirty="0"/>
              <a:t>ILP PROBLEM</a:t>
            </a:r>
            <a:endParaRPr lang="en-IN" dirty="0"/>
          </a:p>
        </p:txBody>
      </p:sp>
      <p:sp>
        <p:nvSpPr>
          <p:cNvPr id="3" name="Content Placeholder 2">
            <a:extLst>
              <a:ext uri="{FF2B5EF4-FFF2-40B4-BE49-F238E27FC236}">
                <a16:creationId xmlns:a16="http://schemas.microsoft.com/office/drawing/2014/main" id="{64B7C174-5A74-8059-0CC8-673725ED0DF5}"/>
              </a:ext>
            </a:extLst>
          </p:cNvPr>
          <p:cNvSpPr>
            <a:spLocks noGrp="1"/>
          </p:cNvSpPr>
          <p:nvPr>
            <p:ph idx="1"/>
          </p:nvPr>
        </p:nvSpPr>
        <p:spPr>
          <a:xfrm>
            <a:off x="1451579" y="1939532"/>
            <a:ext cx="9603275" cy="1019142"/>
          </a:xfrm>
        </p:spPr>
        <p:txBody>
          <a:bodyPr>
            <a:normAutofit/>
          </a:bodyPr>
          <a:lstStyle/>
          <a:p>
            <a:pPr marL="89535" indent="0">
              <a:lnSpc>
                <a:spcPct val="100000"/>
              </a:lnSpc>
              <a:buNone/>
              <a:tabLst>
                <a:tab pos="673100" algn="l"/>
                <a:tab pos="673735" algn="l"/>
              </a:tabLst>
            </a:pPr>
            <a:r>
              <a:rPr lang="en-US" spc="-5" dirty="0">
                <a:latin typeface="Times New Roman"/>
                <a:cs typeface="Times New Roman"/>
              </a:rPr>
              <a:t>Firstly, we solve the LPP problem without integer constraints on the decision variables. Then, we search for solutions with integer values for the decision variables.  Finally, decide the optimal solution with integer value constraints.</a:t>
            </a:r>
            <a:endParaRPr lang="en-US" dirty="0"/>
          </a:p>
          <a:p>
            <a:pPr marL="89535" indent="0">
              <a:lnSpc>
                <a:spcPct val="100000"/>
              </a:lnSpc>
              <a:buNone/>
              <a:tabLst>
                <a:tab pos="673100" algn="l"/>
                <a:tab pos="673735" algn="l"/>
              </a:tabLst>
            </a:pPr>
            <a:endParaRPr lang="en-US" spc="-5" dirty="0">
              <a:latin typeface="Times New Roman"/>
              <a:cs typeface="Times New Roman"/>
            </a:endParaRPr>
          </a:p>
        </p:txBody>
      </p:sp>
      <p:sp>
        <p:nvSpPr>
          <p:cNvPr id="4" name="Slide Number Placeholder 3">
            <a:extLst>
              <a:ext uri="{FF2B5EF4-FFF2-40B4-BE49-F238E27FC236}">
                <a16:creationId xmlns:a16="http://schemas.microsoft.com/office/drawing/2014/main" id="{EBF2E5AE-D37D-0F29-93B5-F55F6D8674EA}"/>
              </a:ext>
            </a:extLst>
          </p:cNvPr>
          <p:cNvSpPr>
            <a:spLocks noGrp="1"/>
          </p:cNvSpPr>
          <p:nvPr>
            <p:ph type="sldNum" sz="quarter" idx="12"/>
          </p:nvPr>
        </p:nvSpPr>
        <p:spPr/>
        <p:txBody>
          <a:bodyPr/>
          <a:lstStyle/>
          <a:p>
            <a:fld id="{CBABCCC1-BF11-4F37-963E-1BCD5B23FD72}" type="slidenum">
              <a:rPr lang="en-IN" smtClean="0"/>
              <a:pPr/>
              <a:t>13</a:t>
            </a:fld>
            <a:endParaRPr lang="en-IN"/>
          </a:p>
        </p:txBody>
      </p:sp>
      <p:sp>
        <p:nvSpPr>
          <p:cNvPr id="16" name="object 3">
            <a:extLst>
              <a:ext uri="{FF2B5EF4-FFF2-40B4-BE49-F238E27FC236}">
                <a16:creationId xmlns:a16="http://schemas.microsoft.com/office/drawing/2014/main" id="{0BA24A4E-8106-3C36-CE4E-38F219F894E2}"/>
              </a:ext>
            </a:extLst>
          </p:cNvPr>
          <p:cNvSpPr txBox="1"/>
          <p:nvPr/>
        </p:nvSpPr>
        <p:spPr>
          <a:xfrm>
            <a:off x="1655331" y="3339391"/>
            <a:ext cx="2972832" cy="1396310"/>
          </a:xfrm>
          <a:prstGeom prst="rect">
            <a:avLst/>
          </a:prstGeom>
        </p:spPr>
        <p:txBody>
          <a:bodyPr vert="horz" wrap="square" lIns="0" tIns="11206" rIns="0" bIns="0" rtlCol="0" anchor="t">
            <a:spAutoFit/>
          </a:bodyPr>
          <a:lstStyle/>
          <a:p>
            <a:pPr marL="10795">
              <a:spcBef>
                <a:spcPts val="88"/>
              </a:spcBef>
            </a:pPr>
            <a:r>
              <a:rPr lang="en-US" spc="-4" dirty="0">
                <a:solidFill>
                  <a:srgbClr val="231F20"/>
                </a:solidFill>
                <a:latin typeface="Tahoma"/>
                <a:cs typeface="Tahoma"/>
              </a:rPr>
              <a:t>Max.</a:t>
            </a:r>
            <a:r>
              <a:rPr lang="en-US" spc="-22" dirty="0">
                <a:solidFill>
                  <a:srgbClr val="231F20"/>
                </a:solidFill>
                <a:latin typeface="Tahoma"/>
                <a:cs typeface="Tahoma"/>
              </a:rPr>
              <a:t> </a:t>
            </a:r>
            <a:r>
              <a:rPr lang="en-US" dirty="0">
                <a:solidFill>
                  <a:srgbClr val="231F20"/>
                </a:solidFill>
                <a:latin typeface="Tahoma"/>
                <a:cs typeface="Tahoma"/>
              </a:rPr>
              <a:t>Z</a:t>
            </a:r>
            <a:r>
              <a:rPr lang="en-US" spc="-13" dirty="0">
                <a:solidFill>
                  <a:srgbClr val="231F20"/>
                </a:solidFill>
                <a:latin typeface="Tahoma"/>
                <a:cs typeface="Tahoma"/>
              </a:rPr>
              <a:t> </a:t>
            </a:r>
            <a:r>
              <a:rPr lang="en-US" dirty="0">
                <a:solidFill>
                  <a:srgbClr val="231F20"/>
                </a:solidFill>
                <a:latin typeface="Tahoma"/>
                <a:cs typeface="Tahoma"/>
              </a:rPr>
              <a:t>= </a:t>
            </a:r>
            <a:r>
              <a:rPr lang="en-US" spc="-4" dirty="0">
                <a:solidFill>
                  <a:srgbClr val="231F20"/>
                </a:solidFill>
                <a:latin typeface="Tahoma"/>
                <a:cs typeface="Tahoma"/>
              </a:rPr>
              <a:t>10X1 </a:t>
            </a:r>
            <a:r>
              <a:rPr lang="en-US" dirty="0">
                <a:solidFill>
                  <a:srgbClr val="231F20"/>
                </a:solidFill>
                <a:latin typeface="Tahoma"/>
                <a:cs typeface="Tahoma"/>
              </a:rPr>
              <a:t>+</a:t>
            </a:r>
            <a:r>
              <a:rPr lang="en-US" spc="-9" dirty="0">
                <a:solidFill>
                  <a:srgbClr val="231F20"/>
                </a:solidFill>
                <a:latin typeface="Tahoma"/>
                <a:cs typeface="Tahoma"/>
              </a:rPr>
              <a:t> </a:t>
            </a:r>
            <a:r>
              <a:rPr lang="en-US" spc="-4" dirty="0">
                <a:solidFill>
                  <a:srgbClr val="231F20"/>
                </a:solidFill>
                <a:latin typeface="Tahoma"/>
                <a:cs typeface="Tahoma"/>
              </a:rPr>
              <a:t>20X2</a:t>
            </a:r>
            <a:endParaRPr lang="en-US">
              <a:latin typeface="Tahoma"/>
              <a:ea typeface="Tahoma"/>
              <a:cs typeface="Tahoma"/>
            </a:endParaRPr>
          </a:p>
          <a:p>
            <a:pPr marL="10795"/>
            <a:r>
              <a:rPr lang="en-US" spc="-4" dirty="0">
                <a:solidFill>
                  <a:srgbClr val="231F20"/>
                </a:solidFill>
                <a:latin typeface="Tahoma"/>
                <a:cs typeface="Tahoma"/>
              </a:rPr>
              <a:t>Subject</a:t>
            </a:r>
            <a:r>
              <a:rPr lang="en-US" spc="-44" dirty="0">
                <a:solidFill>
                  <a:srgbClr val="231F20"/>
                </a:solidFill>
                <a:latin typeface="Tahoma"/>
                <a:cs typeface="Tahoma"/>
              </a:rPr>
              <a:t> </a:t>
            </a:r>
            <a:r>
              <a:rPr lang="en-US" dirty="0">
                <a:solidFill>
                  <a:srgbClr val="231F20"/>
                </a:solidFill>
                <a:latin typeface="Tahoma"/>
                <a:cs typeface="Tahoma"/>
              </a:rPr>
              <a:t>to:</a:t>
            </a:r>
            <a:endParaRPr lang="en-US">
              <a:latin typeface="Tahoma"/>
              <a:ea typeface="Tahoma"/>
              <a:cs typeface="Tahoma"/>
            </a:endParaRPr>
          </a:p>
          <a:p>
            <a:pPr marL="817880" marR="117475"/>
            <a:r>
              <a:rPr lang="en-US" spc="-4" dirty="0">
                <a:solidFill>
                  <a:srgbClr val="231F20"/>
                </a:solidFill>
                <a:latin typeface="Tahoma"/>
                <a:cs typeface="Tahoma"/>
              </a:rPr>
              <a:t>6X1</a:t>
            </a:r>
            <a:r>
              <a:rPr lang="en-US" spc="-26" dirty="0">
                <a:solidFill>
                  <a:srgbClr val="231F20"/>
                </a:solidFill>
                <a:latin typeface="Tahoma"/>
                <a:cs typeface="Tahoma"/>
              </a:rPr>
              <a:t> </a:t>
            </a:r>
            <a:r>
              <a:rPr lang="en-US" dirty="0">
                <a:solidFill>
                  <a:srgbClr val="231F20"/>
                </a:solidFill>
                <a:latin typeface="Tahoma"/>
                <a:cs typeface="Tahoma"/>
              </a:rPr>
              <a:t>+</a:t>
            </a:r>
            <a:r>
              <a:rPr lang="en-US" spc="-18" dirty="0">
                <a:solidFill>
                  <a:srgbClr val="231F20"/>
                </a:solidFill>
                <a:latin typeface="Tahoma"/>
                <a:cs typeface="Tahoma"/>
              </a:rPr>
              <a:t> </a:t>
            </a:r>
            <a:r>
              <a:rPr lang="en-US" spc="-4" dirty="0">
                <a:solidFill>
                  <a:srgbClr val="231F20"/>
                </a:solidFill>
                <a:latin typeface="Tahoma"/>
                <a:cs typeface="Tahoma"/>
              </a:rPr>
              <a:t>8X2</a:t>
            </a:r>
            <a:r>
              <a:rPr lang="en-US" spc="-22" dirty="0">
                <a:solidFill>
                  <a:srgbClr val="231F20"/>
                </a:solidFill>
                <a:latin typeface="Tahoma"/>
                <a:cs typeface="Tahoma"/>
              </a:rPr>
              <a:t> </a:t>
            </a:r>
            <a:r>
              <a:rPr lang="en-US" dirty="0">
                <a:solidFill>
                  <a:srgbClr val="231F20"/>
                </a:solidFill>
                <a:latin typeface="Tahoma"/>
                <a:cs typeface="Tahoma"/>
              </a:rPr>
              <a:t>≤</a:t>
            </a:r>
            <a:r>
              <a:rPr lang="en-US" spc="-18" dirty="0">
                <a:solidFill>
                  <a:srgbClr val="231F20"/>
                </a:solidFill>
                <a:latin typeface="Tahoma"/>
                <a:cs typeface="Tahoma"/>
              </a:rPr>
              <a:t> </a:t>
            </a:r>
            <a:r>
              <a:rPr lang="en-US" spc="-4" dirty="0">
                <a:solidFill>
                  <a:srgbClr val="231F20"/>
                </a:solidFill>
                <a:latin typeface="Tahoma"/>
                <a:cs typeface="Tahoma"/>
              </a:rPr>
              <a:t>48</a:t>
            </a:r>
            <a:endParaRPr lang="en-US">
              <a:solidFill>
                <a:srgbClr val="000000"/>
              </a:solidFill>
              <a:latin typeface="Tahoma"/>
              <a:ea typeface="Tahoma"/>
              <a:cs typeface="Tahoma"/>
            </a:endParaRPr>
          </a:p>
          <a:p>
            <a:pPr marL="817880" marR="117475"/>
            <a:r>
              <a:rPr lang="en-US" spc="-649" dirty="0">
                <a:solidFill>
                  <a:srgbClr val="231F20"/>
                </a:solidFill>
                <a:latin typeface="Tahoma"/>
                <a:cs typeface="Tahoma"/>
              </a:rPr>
              <a:t>    </a:t>
            </a:r>
            <a:r>
              <a:rPr lang="en-US" dirty="0">
                <a:solidFill>
                  <a:srgbClr val="231F20"/>
                </a:solidFill>
                <a:latin typeface="Tahoma"/>
                <a:cs typeface="Tahoma"/>
              </a:rPr>
              <a:t>X1</a:t>
            </a:r>
            <a:r>
              <a:rPr lang="en-US" spc="-35" dirty="0">
                <a:solidFill>
                  <a:srgbClr val="231F20"/>
                </a:solidFill>
                <a:latin typeface="Tahoma"/>
                <a:cs typeface="Tahoma"/>
              </a:rPr>
              <a:t>  </a:t>
            </a:r>
            <a:r>
              <a:rPr lang="en-US" dirty="0">
                <a:solidFill>
                  <a:srgbClr val="231F20"/>
                </a:solidFill>
                <a:latin typeface="Tahoma"/>
                <a:cs typeface="Tahoma"/>
              </a:rPr>
              <a:t>+</a:t>
            </a:r>
            <a:r>
              <a:rPr lang="en-US" spc="-4" dirty="0">
                <a:solidFill>
                  <a:srgbClr val="231F20"/>
                </a:solidFill>
                <a:latin typeface="Tahoma"/>
                <a:cs typeface="Tahoma"/>
              </a:rPr>
              <a:t> 3X2</a:t>
            </a:r>
            <a:r>
              <a:rPr lang="en-US" spc="-18" dirty="0">
                <a:solidFill>
                  <a:srgbClr val="231F20"/>
                </a:solidFill>
                <a:latin typeface="Tahoma"/>
                <a:cs typeface="Tahoma"/>
              </a:rPr>
              <a:t> </a:t>
            </a:r>
            <a:r>
              <a:rPr lang="en-US" dirty="0">
                <a:solidFill>
                  <a:srgbClr val="231F20"/>
                </a:solidFill>
                <a:latin typeface="Tahoma"/>
                <a:cs typeface="Tahoma"/>
              </a:rPr>
              <a:t>≤</a:t>
            </a:r>
            <a:r>
              <a:rPr lang="en-US" spc="-13" dirty="0">
                <a:solidFill>
                  <a:srgbClr val="231F20"/>
                </a:solidFill>
                <a:latin typeface="Tahoma"/>
                <a:cs typeface="Tahoma"/>
              </a:rPr>
              <a:t> </a:t>
            </a:r>
            <a:r>
              <a:rPr lang="en-US" spc="-4" dirty="0">
                <a:solidFill>
                  <a:srgbClr val="231F20"/>
                </a:solidFill>
                <a:latin typeface="Tahoma"/>
                <a:cs typeface="Tahoma"/>
              </a:rPr>
              <a:t>12</a:t>
            </a:r>
            <a:endParaRPr lang="en-US">
              <a:latin typeface="Tahoma"/>
              <a:ea typeface="Tahoma"/>
              <a:cs typeface="Tahoma"/>
            </a:endParaRPr>
          </a:p>
          <a:p>
            <a:pPr marL="10795">
              <a:spcBef>
                <a:spcPts val="4"/>
              </a:spcBef>
            </a:pPr>
            <a:r>
              <a:rPr lang="en-US" spc="-4" dirty="0">
                <a:solidFill>
                  <a:srgbClr val="231F20"/>
                </a:solidFill>
                <a:latin typeface="Tahoma"/>
                <a:cs typeface="Tahoma"/>
              </a:rPr>
              <a:t>X1,</a:t>
            </a:r>
            <a:r>
              <a:rPr lang="en-US" spc="-22" dirty="0">
                <a:solidFill>
                  <a:srgbClr val="231F20"/>
                </a:solidFill>
                <a:latin typeface="Tahoma"/>
                <a:cs typeface="Tahoma"/>
              </a:rPr>
              <a:t> </a:t>
            </a:r>
            <a:r>
              <a:rPr lang="en-US" spc="-4" dirty="0">
                <a:solidFill>
                  <a:srgbClr val="231F20"/>
                </a:solidFill>
                <a:latin typeface="Tahoma"/>
                <a:cs typeface="Tahoma"/>
              </a:rPr>
              <a:t>X2</a:t>
            </a:r>
            <a:r>
              <a:rPr lang="en-US" spc="-22" dirty="0">
                <a:solidFill>
                  <a:srgbClr val="231F20"/>
                </a:solidFill>
                <a:latin typeface="Tahoma"/>
                <a:cs typeface="Tahoma"/>
              </a:rPr>
              <a:t> </a:t>
            </a:r>
            <a:r>
              <a:rPr lang="en-US" dirty="0">
                <a:solidFill>
                  <a:srgbClr val="231F20"/>
                </a:solidFill>
                <a:latin typeface="Tahoma"/>
                <a:cs typeface="Tahoma"/>
              </a:rPr>
              <a:t>≥ 0</a:t>
            </a:r>
            <a:r>
              <a:rPr lang="en-US" spc="-9" dirty="0">
                <a:solidFill>
                  <a:srgbClr val="231F20"/>
                </a:solidFill>
                <a:latin typeface="Tahoma"/>
                <a:cs typeface="Tahoma"/>
              </a:rPr>
              <a:t> </a:t>
            </a:r>
            <a:r>
              <a:rPr lang="en-US" dirty="0">
                <a:solidFill>
                  <a:srgbClr val="0070C0"/>
                </a:solidFill>
                <a:latin typeface="Tahoma"/>
                <a:cs typeface="Tahoma"/>
              </a:rPr>
              <a:t>and</a:t>
            </a:r>
            <a:r>
              <a:rPr lang="en-US" spc="-18" dirty="0">
                <a:solidFill>
                  <a:srgbClr val="0070C0"/>
                </a:solidFill>
                <a:latin typeface="Tahoma"/>
                <a:cs typeface="Tahoma"/>
              </a:rPr>
              <a:t> </a:t>
            </a:r>
            <a:r>
              <a:rPr lang="en-US" spc="-4" dirty="0">
                <a:solidFill>
                  <a:srgbClr val="0070C0"/>
                </a:solidFill>
                <a:latin typeface="Tahoma"/>
                <a:cs typeface="Tahoma"/>
              </a:rPr>
              <a:t>integers</a:t>
            </a:r>
            <a:endParaRPr dirty="0">
              <a:solidFill>
                <a:srgbClr val="0070C0"/>
              </a:solidFill>
              <a:latin typeface="Tahoma"/>
              <a:ea typeface="Tahoma"/>
              <a:cs typeface="Tahoma"/>
            </a:endParaRPr>
          </a:p>
        </p:txBody>
      </p:sp>
      <p:pic>
        <p:nvPicPr>
          <p:cNvPr id="18" name="object 4">
            <a:extLst>
              <a:ext uri="{FF2B5EF4-FFF2-40B4-BE49-F238E27FC236}">
                <a16:creationId xmlns:a16="http://schemas.microsoft.com/office/drawing/2014/main" id="{462253D6-C69B-E48F-6637-E833B4BA4A1F}"/>
              </a:ext>
            </a:extLst>
          </p:cNvPr>
          <p:cNvPicPr/>
          <p:nvPr/>
        </p:nvPicPr>
        <p:blipFill>
          <a:blip r:embed="rId2" cstate="print"/>
          <a:stretch>
            <a:fillRect/>
          </a:stretch>
        </p:blipFill>
        <p:spPr>
          <a:xfrm>
            <a:off x="8344919" y="3432234"/>
            <a:ext cx="3785143" cy="2714111"/>
          </a:xfrm>
          <a:prstGeom prst="rect">
            <a:avLst/>
          </a:prstGeom>
        </p:spPr>
      </p:pic>
      <p:sp>
        <p:nvSpPr>
          <p:cNvPr id="20" name="object 5">
            <a:extLst>
              <a:ext uri="{FF2B5EF4-FFF2-40B4-BE49-F238E27FC236}">
                <a16:creationId xmlns:a16="http://schemas.microsoft.com/office/drawing/2014/main" id="{D6BFBC0F-4C75-84DD-6C86-95F1A8CDA344}"/>
              </a:ext>
            </a:extLst>
          </p:cNvPr>
          <p:cNvSpPr txBox="1"/>
          <p:nvPr/>
        </p:nvSpPr>
        <p:spPr>
          <a:xfrm>
            <a:off x="8043786" y="2757500"/>
            <a:ext cx="4034118" cy="1064575"/>
          </a:xfrm>
          <a:prstGeom prst="rect">
            <a:avLst/>
          </a:prstGeom>
          <a:solidFill>
            <a:srgbClr val="4F81BD"/>
          </a:solidFill>
          <a:ln w="25400">
            <a:solidFill>
              <a:srgbClr val="365D8A"/>
            </a:solidFill>
          </a:ln>
        </p:spPr>
        <p:txBody>
          <a:bodyPr vert="horz" wrap="square" lIns="0" tIns="86285" rIns="0" bIns="0" rtlCol="0" anchor="t">
            <a:spAutoFit/>
          </a:bodyPr>
          <a:lstStyle/>
          <a:p>
            <a:pPr marL="80645">
              <a:spcBef>
                <a:spcPts val="679"/>
              </a:spcBef>
            </a:pPr>
            <a:r>
              <a:rPr sz="1588">
                <a:solidFill>
                  <a:srgbClr val="FFFFFF"/>
                </a:solidFill>
                <a:latin typeface="Tahoma"/>
                <a:cs typeface="Tahoma"/>
              </a:rPr>
              <a:t>Z</a:t>
            </a:r>
            <a:r>
              <a:rPr sz="1588" spc="-18">
                <a:solidFill>
                  <a:srgbClr val="FFFFFF"/>
                </a:solidFill>
                <a:latin typeface="Tahoma"/>
                <a:cs typeface="Tahoma"/>
              </a:rPr>
              <a:t> </a:t>
            </a:r>
            <a:r>
              <a:rPr sz="1588" spc="-4">
                <a:solidFill>
                  <a:srgbClr val="FFFFFF"/>
                </a:solidFill>
                <a:latin typeface="Tahoma"/>
                <a:cs typeface="Tahoma"/>
              </a:rPr>
              <a:t>(A)</a:t>
            </a:r>
            <a:r>
              <a:rPr sz="1588" spc="-9">
                <a:solidFill>
                  <a:srgbClr val="FFFFFF"/>
                </a:solidFill>
                <a:latin typeface="Tahoma"/>
                <a:cs typeface="Tahoma"/>
              </a:rPr>
              <a:t> </a:t>
            </a:r>
            <a:r>
              <a:rPr sz="1588">
                <a:solidFill>
                  <a:srgbClr val="FFFFFF"/>
                </a:solidFill>
                <a:latin typeface="Tahoma"/>
                <a:cs typeface="Tahoma"/>
              </a:rPr>
              <a:t>=</a:t>
            </a:r>
            <a:r>
              <a:rPr sz="1588" spc="4">
                <a:solidFill>
                  <a:srgbClr val="FFFFFF"/>
                </a:solidFill>
                <a:latin typeface="Tahoma"/>
                <a:cs typeface="Tahoma"/>
              </a:rPr>
              <a:t> </a:t>
            </a:r>
            <a:r>
              <a:rPr sz="1588">
                <a:solidFill>
                  <a:srgbClr val="FFFFFF"/>
                </a:solidFill>
                <a:latin typeface="Tahoma"/>
                <a:cs typeface="Tahoma"/>
              </a:rPr>
              <a:t>10</a:t>
            </a:r>
            <a:r>
              <a:rPr sz="1588" spc="-4">
                <a:solidFill>
                  <a:srgbClr val="FFFFFF"/>
                </a:solidFill>
                <a:latin typeface="Tahoma"/>
                <a:cs typeface="Tahoma"/>
              </a:rPr>
              <a:t> (0)</a:t>
            </a:r>
            <a:r>
              <a:rPr sz="1588">
                <a:solidFill>
                  <a:srgbClr val="FFFFFF"/>
                </a:solidFill>
                <a:latin typeface="Tahoma"/>
                <a:cs typeface="Tahoma"/>
              </a:rPr>
              <a:t> +</a:t>
            </a:r>
            <a:r>
              <a:rPr sz="1588" spc="-9">
                <a:solidFill>
                  <a:srgbClr val="FFFFFF"/>
                </a:solidFill>
                <a:latin typeface="Tahoma"/>
                <a:cs typeface="Tahoma"/>
              </a:rPr>
              <a:t> </a:t>
            </a:r>
            <a:r>
              <a:rPr sz="1588">
                <a:solidFill>
                  <a:srgbClr val="FFFFFF"/>
                </a:solidFill>
                <a:latin typeface="Tahoma"/>
                <a:cs typeface="Tahoma"/>
              </a:rPr>
              <a:t>20</a:t>
            </a:r>
            <a:r>
              <a:rPr sz="1588" spc="-4">
                <a:solidFill>
                  <a:srgbClr val="FFFFFF"/>
                </a:solidFill>
                <a:latin typeface="Tahoma"/>
                <a:cs typeface="Tahoma"/>
              </a:rPr>
              <a:t> (0)</a:t>
            </a:r>
            <a:r>
              <a:rPr sz="1588">
                <a:solidFill>
                  <a:srgbClr val="FFFFFF"/>
                </a:solidFill>
                <a:latin typeface="Tahoma"/>
                <a:cs typeface="Tahoma"/>
              </a:rPr>
              <a:t> =</a:t>
            </a:r>
            <a:r>
              <a:rPr sz="1588" spc="-9">
                <a:solidFill>
                  <a:srgbClr val="FFFFFF"/>
                </a:solidFill>
                <a:latin typeface="Tahoma"/>
                <a:cs typeface="Tahoma"/>
              </a:rPr>
              <a:t> </a:t>
            </a:r>
            <a:r>
              <a:rPr sz="1588">
                <a:solidFill>
                  <a:srgbClr val="FFFFFF"/>
                </a:solidFill>
                <a:latin typeface="Tahoma"/>
                <a:cs typeface="Tahoma"/>
              </a:rPr>
              <a:t>0</a:t>
            </a:r>
            <a:endParaRPr lang="en-US" sz="1588">
              <a:latin typeface="Tahoma"/>
              <a:ea typeface="Tahoma"/>
              <a:cs typeface="Tahoma"/>
            </a:endParaRPr>
          </a:p>
          <a:p>
            <a:pPr marL="80645"/>
            <a:r>
              <a:rPr sz="1588" spc="-4">
                <a:solidFill>
                  <a:srgbClr val="FFFFFF"/>
                </a:solidFill>
                <a:latin typeface="Tahoma"/>
                <a:cs typeface="Tahoma"/>
              </a:rPr>
              <a:t>Z(B)</a:t>
            </a:r>
            <a:r>
              <a:rPr sz="1588" spc="-13">
                <a:solidFill>
                  <a:srgbClr val="FFFFFF"/>
                </a:solidFill>
                <a:latin typeface="Tahoma"/>
                <a:cs typeface="Tahoma"/>
              </a:rPr>
              <a:t> </a:t>
            </a:r>
            <a:r>
              <a:rPr sz="1588">
                <a:solidFill>
                  <a:srgbClr val="FFFFFF"/>
                </a:solidFill>
                <a:latin typeface="Tahoma"/>
                <a:cs typeface="Tahoma"/>
              </a:rPr>
              <a:t>=</a:t>
            </a:r>
            <a:r>
              <a:rPr sz="1588" spc="4">
                <a:solidFill>
                  <a:srgbClr val="FFFFFF"/>
                </a:solidFill>
                <a:latin typeface="Tahoma"/>
                <a:cs typeface="Tahoma"/>
              </a:rPr>
              <a:t> </a:t>
            </a:r>
            <a:r>
              <a:rPr sz="1588">
                <a:solidFill>
                  <a:srgbClr val="FFFFFF"/>
                </a:solidFill>
                <a:latin typeface="Tahoma"/>
                <a:cs typeface="Tahoma"/>
              </a:rPr>
              <a:t>10</a:t>
            </a:r>
            <a:r>
              <a:rPr sz="1588" spc="-4">
                <a:solidFill>
                  <a:srgbClr val="FFFFFF"/>
                </a:solidFill>
                <a:latin typeface="Tahoma"/>
                <a:cs typeface="Tahoma"/>
              </a:rPr>
              <a:t> (8)</a:t>
            </a:r>
            <a:r>
              <a:rPr sz="1588">
                <a:solidFill>
                  <a:srgbClr val="FFFFFF"/>
                </a:solidFill>
                <a:latin typeface="Tahoma"/>
                <a:cs typeface="Tahoma"/>
              </a:rPr>
              <a:t> +</a:t>
            </a:r>
            <a:r>
              <a:rPr sz="1588" spc="-9">
                <a:solidFill>
                  <a:srgbClr val="FFFFFF"/>
                </a:solidFill>
                <a:latin typeface="Tahoma"/>
                <a:cs typeface="Tahoma"/>
              </a:rPr>
              <a:t> </a:t>
            </a:r>
            <a:r>
              <a:rPr sz="1588">
                <a:solidFill>
                  <a:srgbClr val="FFFFFF"/>
                </a:solidFill>
                <a:latin typeface="Tahoma"/>
                <a:cs typeface="Tahoma"/>
              </a:rPr>
              <a:t>+</a:t>
            </a:r>
            <a:r>
              <a:rPr sz="1588" spc="-9">
                <a:solidFill>
                  <a:srgbClr val="FFFFFF"/>
                </a:solidFill>
                <a:latin typeface="Tahoma"/>
                <a:cs typeface="Tahoma"/>
              </a:rPr>
              <a:t> </a:t>
            </a:r>
            <a:r>
              <a:rPr sz="1588">
                <a:solidFill>
                  <a:srgbClr val="FFFFFF"/>
                </a:solidFill>
                <a:latin typeface="Tahoma"/>
                <a:cs typeface="Tahoma"/>
              </a:rPr>
              <a:t>20</a:t>
            </a:r>
            <a:r>
              <a:rPr sz="1588" spc="4">
                <a:solidFill>
                  <a:srgbClr val="FFFFFF"/>
                </a:solidFill>
                <a:latin typeface="Tahoma"/>
                <a:cs typeface="Tahoma"/>
              </a:rPr>
              <a:t> </a:t>
            </a:r>
            <a:r>
              <a:rPr sz="1588" spc="-4">
                <a:solidFill>
                  <a:srgbClr val="FFFFFF"/>
                </a:solidFill>
                <a:latin typeface="Tahoma"/>
                <a:cs typeface="Tahoma"/>
              </a:rPr>
              <a:t>(0)</a:t>
            </a:r>
            <a:r>
              <a:rPr sz="1588">
                <a:solidFill>
                  <a:srgbClr val="FFFFFF"/>
                </a:solidFill>
                <a:latin typeface="Tahoma"/>
                <a:cs typeface="Tahoma"/>
              </a:rPr>
              <a:t> =</a:t>
            </a:r>
            <a:r>
              <a:rPr sz="1588" spc="-4">
                <a:solidFill>
                  <a:srgbClr val="FFFFFF"/>
                </a:solidFill>
                <a:latin typeface="Tahoma"/>
                <a:cs typeface="Tahoma"/>
              </a:rPr>
              <a:t> </a:t>
            </a:r>
            <a:r>
              <a:rPr sz="1588">
                <a:solidFill>
                  <a:srgbClr val="FFFFFF"/>
                </a:solidFill>
                <a:latin typeface="Tahoma"/>
                <a:cs typeface="Tahoma"/>
              </a:rPr>
              <a:t>80</a:t>
            </a:r>
            <a:endParaRPr sz="1588">
              <a:latin typeface="Tahoma"/>
              <a:ea typeface="Tahoma"/>
              <a:cs typeface="Tahoma"/>
            </a:endParaRPr>
          </a:p>
          <a:p>
            <a:pPr marL="80645"/>
            <a:r>
              <a:rPr sz="1588" b="1" spc="-4" dirty="0">
                <a:solidFill>
                  <a:srgbClr val="F6EB00"/>
                </a:solidFill>
                <a:latin typeface="Tahoma"/>
                <a:cs typeface="Tahoma"/>
              </a:rPr>
              <a:t>Z(C)</a:t>
            </a:r>
            <a:r>
              <a:rPr sz="1588" b="1" spc="-26" dirty="0">
                <a:solidFill>
                  <a:srgbClr val="F6EB00"/>
                </a:solidFill>
                <a:latin typeface="Tahoma"/>
                <a:cs typeface="Tahoma"/>
              </a:rPr>
              <a:t> </a:t>
            </a:r>
            <a:r>
              <a:rPr sz="1588" b="1" dirty="0">
                <a:solidFill>
                  <a:srgbClr val="F6EB00"/>
                </a:solidFill>
                <a:latin typeface="Tahoma"/>
                <a:cs typeface="Tahoma"/>
              </a:rPr>
              <a:t>=</a:t>
            </a:r>
            <a:r>
              <a:rPr sz="1588" b="1" spc="-4" dirty="0">
                <a:solidFill>
                  <a:srgbClr val="F6EB00"/>
                </a:solidFill>
                <a:latin typeface="Tahoma"/>
                <a:cs typeface="Tahoma"/>
              </a:rPr>
              <a:t> </a:t>
            </a:r>
            <a:r>
              <a:rPr sz="1588" b="1" dirty="0">
                <a:solidFill>
                  <a:srgbClr val="F6EB00"/>
                </a:solidFill>
                <a:latin typeface="Tahoma"/>
                <a:cs typeface="Tahoma"/>
              </a:rPr>
              <a:t>10</a:t>
            </a:r>
            <a:r>
              <a:rPr sz="1588" b="1" spc="-13" dirty="0">
                <a:solidFill>
                  <a:srgbClr val="F6EB00"/>
                </a:solidFill>
                <a:latin typeface="Tahoma"/>
                <a:cs typeface="Tahoma"/>
              </a:rPr>
              <a:t> </a:t>
            </a:r>
            <a:r>
              <a:rPr sz="1588" b="1" dirty="0">
                <a:solidFill>
                  <a:srgbClr val="F6EB00"/>
                </a:solidFill>
                <a:latin typeface="Tahoma"/>
                <a:cs typeface="Tahoma"/>
              </a:rPr>
              <a:t>(24/5)</a:t>
            </a:r>
            <a:r>
              <a:rPr sz="1588" b="1" spc="-31" dirty="0">
                <a:solidFill>
                  <a:srgbClr val="F6EB00"/>
                </a:solidFill>
                <a:latin typeface="Tahoma"/>
                <a:cs typeface="Tahoma"/>
              </a:rPr>
              <a:t> </a:t>
            </a:r>
            <a:r>
              <a:rPr sz="1588" b="1" dirty="0">
                <a:solidFill>
                  <a:srgbClr val="F6EB00"/>
                </a:solidFill>
                <a:latin typeface="Tahoma"/>
                <a:cs typeface="Tahoma"/>
              </a:rPr>
              <a:t>+</a:t>
            </a:r>
            <a:r>
              <a:rPr sz="1588" b="1" spc="-9" dirty="0">
                <a:solidFill>
                  <a:srgbClr val="F6EB00"/>
                </a:solidFill>
                <a:latin typeface="Tahoma"/>
                <a:cs typeface="Tahoma"/>
              </a:rPr>
              <a:t> </a:t>
            </a:r>
            <a:r>
              <a:rPr sz="1588" b="1" dirty="0">
                <a:solidFill>
                  <a:srgbClr val="F6EB00"/>
                </a:solidFill>
                <a:latin typeface="Tahoma"/>
                <a:cs typeface="Tahoma"/>
              </a:rPr>
              <a:t>+</a:t>
            </a:r>
            <a:r>
              <a:rPr sz="1588" b="1" spc="-18" dirty="0">
                <a:solidFill>
                  <a:srgbClr val="F6EB00"/>
                </a:solidFill>
                <a:latin typeface="Tahoma"/>
                <a:cs typeface="Tahoma"/>
              </a:rPr>
              <a:t> </a:t>
            </a:r>
            <a:r>
              <a:rPr sz="1588" b="1" dirty="0">
                <a:solidFill>
                  <a:srgbClr val="F6EB00"/>
                </a:solidFill>
                <a:latin typeface="Tahoma"/>
                <a:cs typeface="Tahoma"/>
              </a:rPr>
              <a:t>20 (12/5)</a:t>
            </a:r>
            <a:r>
              <a:rPr sz="1588" b="1" spc="-26" dirty="0">
                <a:solidFill>
                  <a:srgbClr val="F6EB00"/>
                </a:solidFill>
                <a:latin typeface="Tahoma"/>
                <a:cs typeface="Tahoma"/>
              </a:rPr>
              <a:t> </a:t>
            </a:r>
            <a:r>
              <a:rPr sz="1588" b="1" dirty="0">
                <a:solidFill>
                  <a:srgbClr val="F6EB00"/>
                </a:solidFill>
                <a:latin typeface="Tahoma"/>
                <a:cs typeface="Tahoma"/>
              </a:rPr>
              <a:t>=</a:t>
            </a:r>
            <a:r>
              <a:rPr sz="1588" b="1" spc="-9" dirty="0">
                <a:solidFill>
                  <a:srgbClr val="F6EB00"/>
                </a:solidFill>
                <a:latin typeface="Tahoma"/>
                <a:cs typeface="Tahoma"/>
              </a:rPr>
              <a:t> </a:t>
            </a:r>
            <a:r>
              <a:rPr sz="1588" b="1" dirty="0">
                <a:solidFill>
                  <a:srgbClr val="F6EB00"/>
                </a:solidFill>
                <a:latin typeface="Tahoma"/>
                <a:cs typeface="Tahoma"/>
              </a:rPr>
              <a:t>96</a:t>
            </a:r>
            <a:endParaRPr sz="1588" dirty="0">
              <a:latin typeface="Tahoma"/>
              <a:ea typeface="Tahoma"/>
              <a:cs typeface="Tahoma"/>
            </a:endParaRPr>
          </a:p>
          <a:p>
            <a:pPr marL="80645"/>
            <a:r>
              <a:rPr sz="1550" spc="-4">
                <a:solidFill>
                  <a:srgbClr val="FFFFFF"/>
                </a:solidFill>
                <a:latin typeface="Tahoma"/>
                <a:cs typeface="Tahoma"/>
              </a:rPr>
              <a:t>Z</a:t>
            </a:r>
            <a:r>
              <a:rPr lang="en-US" sz="1550" spc="-4">
                <a:solidFill>
                  <a:srgbClr val="FFFFFF"/>
                </a:solidFill>
                <a:latin typeface="Tahoma"/>
                <a:cs typeface="Tahoma"/>
              </a:rPr>
              <a:t>(D)</a:t>
            </a:r>
            <a:r>
              <a:rPr sz="1550" spc="-13">
                <a:solidFill>
                  <a:srgbClr val="FFFFFF"/>
                </a:solidFill>
                <a:latin typeface="Tahoma"/>
                <a:cs typeface="Tahoma"/>
              </a:rPr>
              <a:t> </a:t>
            </a:r>
            <a:r>
              <a:rPr sz="1550">
                <a:solidFill>
                  <a:srgbClr val="FFFFFF"/>
                </a:solidFill>
                <a:latin typeface="Tahoma"/>
                <a:cs typeface="Tahoma"/>
              </a:rPr>
              <a:t>=</a:t>
            </a:r>
            <a:r>
              <a:rPr sz="1550" spc="4">
                <a:solidFill>
                  <a:srgbClr val="FFFFFF"/>
                </a:solidFill>
                <a:latin typeface="Tahoma"/>
                <a:cs typeface="Tahoma"/>
              </a:rPr>
              <a:t> </a:t>
            </a:r>
            <a:r>
              <a:rPr sz="1550">
                <a:solidFill>
                  <a:srgbClr val="FFFFFF"/>
                </a:solidFill>
                <a:latin typeface="Tahoma"/>
                <a:cs typeface="Tahoma"/>
              </a:rPr>
              <a:t>10</a:t>
            </a:r>
            <a:r>
              <a:rPr sz="1550" spc="-4">
                <a:solidFill>
                  <a:srgbClr val="FFFFFF"/>
                </a:solidFill>
                <a:latin typeface="Tahoma"/>
                <a:cs typeface="Tahoma"/>
              </a:rPr>
              <a:t> (0)</a:t>
            </a:r>
            <a:r>
              <a:rPr sz="1550">
                <a:solidFill>
                  <a:srgbClr val="FFFFFF"/>
                </a:solidFill>
                <a:latin typeface="Tahoma"/>
                <a:cs typeface="Tahoma"/>
              </a:rPr>
              <a:t> +</a:t>
            </a:r>
            <a:r>
              <a:rPr sz="1550" spc="-9">
                <a:solidFill>
                  <a:srgbClr val="FFFFFF"/>
                </a:solidFill>
                <a:latin typeface="Tahoma"/>
                <a:cs typeface="Tahoma"/>
              </a:rPr>
              <a:t> </a:t>
            </a:r>
            <a:r>
              <a:rPr sz="1550">
                <a:solidFill>
                  <a:srgbClr val="FFFFFF"/>
                </a:solidFill>
                <a:latin typeface="Tahoma"/>
                <a:cs typeface="Tahoma"/>
              </a:rPr>
              <a:t>+</a:t>
            </a:r>
            <a:r>
              <a:rPr sz="1550" spc="-9">
                <a:solidFill>
                  <a:srgbClr val="FFFFFF"/>
                </a:solidFill>
                <a:latin typeface="Tahoma"/>
                <a:cs typeface="Tahoma"/>
              </a:rPr>
              <a:t> </a:t>
            </a:r>
            <a:r>
              <a:rPr sz="1550">
                <a:solidFill>
                  <a:srgbClr val="FFFFFF"/>
                </a:solidFill>
                <a:latin typeface="Tahoma"/>
                <a:cs typeface="Tahoma"/>
              </a:rPr>
              <a:t>20</a:t>
            </a:r>
            <a:r>
              <a:rPr sz="1550" spc="4">
                <a:solidFill>
                  <a:srgbClr val="FFFFFF"/>
                </a:solidFill>
                <a:latin typeface="Tahoma"/>
                <a:cs typeface="Tahoma"/>
              </a:rPr>
              <a:t> </a:t>
            </a:r>
            <a:r>
              <a:rPr sz="1550" spc="-4">
                <a:solidFill>
                  <a:srgbClr val="FFFFFF"/>
                </a:solidFill>
                <a:latin typeface="Tahoma"/>
                <a:cs typeface="Tahoma"/>
              </a:rPr>
              <a:t>(4)</a:t>
            </a:r>
            <a:r>
              <a:rPr sz="1550">
                <a:solidFill>
                  <a:srgbClr val="FFFFFF"/>
                </a:solidFill>
                <a:latin typeface="Tahoma"/>
                <a:cs typeface="Tahoma"/>
              </a:rPr>
              <a:t> =</a:t>
            </a:r>
            <a:r>
              <a:rPr sz="1550" spc="-4">
                <a:solidFill>
                  <a:srgbClr val="FFFFFF"/>
                </a:solidFill>
                <a:latin typeface="Tahoma"/>
                <a:cs typeface="Tahoma"/>
              </a:rPr>
              <a:t> </a:t>
            </a:r>
            <a:r>
              <a:rPr sz="1550">
                <a:solidFill>
                  <a:srgbClr val="FFFFFF"/>
                </a:solidFill>
                <a:latin typeface="Tahoma"/>
                <a:cs typeface="Tahoma"/>
              </a:rPr>
              <a:t>80</a:t>
            </a:r>
            <a:endParaRPr sz="1550">
              <a:latin typeface="Tahoma"/>
              <a:ea typeface="Tahoma"/>
              <a:cs typeface="Tahoma"/>
            </a:endParaRPr>
          </a:p>
        </p:txBody>
      </p:sp>
      <p:sp>
        <p:nvSpPr>
          <p:cNvPr id="22" name="TextBox 21">
            <a:extLst>
              <a:ext uri="{FF2B5EF4-FFF2-40B4-BE49-F238E27FC236}">
                <a16:creationId xmlns:a16="http://schemas.microsoft.com/office/drawing/2014/main" id="{EACBD758-D6CA-9891-2348-36E903B1B609}"/>
              </a:ext>
            </a:extLst>
          </p:cNvPr>
          <p:cNvSpPr txBox="1"/>
          <p:nvPr/>
        </p:nvSpPr>
        <p:spPr>
          <a:xfrm>
            <a:off x="1655960" y="4949810"/>
            <a:ext cx="3552459"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Optimal solution to </a:t>
            </a:r>
            <a:r>
              <a:rPr lang="en-US" b="1" dirty="0">
                <a:solidFill>
                  <a:srgbClr val="0070C0"/>
                </a:solidFill>
              </a:rPr>
              <a:t>relaxed</a:t>
            </a:r>
            <a:r>
              <a:rPr lang="en-US" dirty="0"/>
              <a:t> LPP:</a:t>
            </a:r>
          </a:p>
          <a:p>
            <a:r>
              <a:rPr lang="en-US" dirty="0"/>
              <a:t>Z  = 96</a:t>
            </a:r>
            <a:br>
              <a:rPr lang="en-US" dirty="0"/>
            </a:br>
            <a:r>
              <a:rPr lang="en-US" dirty="0"/>
              <a:t>X1 =24/5</a:t>
            </a:r>
            <a:br>
              <a:rPr lang="en-US" dirty="0"/>
            </a:br>
            <a:r>
              <a:rPr lang="en-US" dirty="0"/>
              <a:t>X2 = 12/5</a:t>
            </a:r>
          </a:p>
        </p:txBody>
      </p:sp>
    </p:spTree>
    <p:extLst>
      <p:ext uri="{BB962C8B-B14F-4D97-AF65-F5344CB8AC3E}">
        <p14:creationId xmlns:p14="http://schemas.microsoft.com/office/powerpoint/2010/main" val="42569908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50CEA-A461-0334-8690-4FBF0092AE03}"/>
              </a:ext>
            </a:extLst>
          </p:cNvPr>
          <p:cNvSpPr>
            <a:spLocks noGrp="1"/>
          </p:cNvSpPr>
          <p:nvPr>
            <p:ph type="title"/>
          </p:nvPr>
        </p:nvSpPr>
        <p:spPr/>
        <p:txBody>
          <a:bodyPr>
            <a:normAutofit/>
          </a:bodyPr>
          <a:lstStyle/>
          <a:p>
            <a:pPr marL="1510030" marR="5715">
              <a:lnSpc>
                <a:spcPct val="100000"/>
              </a:lnSpc>
              <a:spcBef>
                <a:spcPts val="95"/>
              </a:spcBef>
            </a:pPr>
            <a:r>
              <a:rPr lang="en-US" sz="3200" spc="-10" dirty="0"/>
              <a:t>METHODS</a:t>
            </a:r>
            <a:r>
              <a:rPr lang="en-US" sz="3200" spc="10" dirty="0"/>
              <a:t> </a:t>
            </a:r>
            <a:r>
              <a:rPr lang="en-US" sz="3200" spc="-10" dirty="0"/>
              <a:t>FOR</a:t>
            </a:r>
            <a:r>
              <a:rPr lang="en-US" sz="3200" spc="-5" dirty="0"/>
              <a:t> SOLVING</a:t>
            </a:r>
            <a:r>
              <a:rPr lang="en-US" sz="3200" spc="5" dirty="0"/>
              <a:t> </a:t>
            </a:r>
            <a:r>
              <a:rPr lang="en-US" spc="-10" dirty="0"/>
              <a:t>ILP PROBLEMS</a:t>
            </a:r>
            <a:endParaRPr lang="en-IN" dirty="0"/>
          </a:p>
        </p:txBody>
      </p:sp>
      <p:sp>
        <p:nvSpPr>
          <p:cNvPr id="3" name="Content Placeholder 2">
            <a:extLst>
              <a:ext uri="{FF2B5EF4-FFF2-40B4-BE49-F238E27FC236}">
                <a16:creationId xmlns:a16="http://schemas.microsoft.com/office/drawing/2014/main" id="{64B7C174-5A74-8059-0CC8-673725ED0DF5}"/>
              </a:ext>
            </a:extLst>
          </p:cNvPr>
          <p:cNvSpPr>
            <a:spLocks noGrp="1"/>
          </p:cNvSpPr>
          <p:nvPr>
            <p:ph idx="1"/>
          </p:nvPr>
        </p:nvSpPr>
        <p:spPr>
          <a:xfrm>
            <a:off x="1451579" y="2015732"/>
            <a:ext cx="9603275" cy="2577777"/>
          </a:xfrm>
        </p:spPr>
        <p:txBody>
          <a:bodyPr>
            <a:normAutofit/>
          </a:bodyPr>
          <a:lstStyle/>
          <a:p>
            <a:pPr marL="89535" indent="0">
              <a:lnSpc>
                <a:spcPct val="100000"/>
              </a:lnSpc>
              <a:buNone/>
              <a:tabLst>
                <a:tab pos="673100" algn="l"/>
                <a:tab pos="673735" algn="l"/>
              </a:tabLst>
            </a:pPr>
            <a:endParaRPr lang="en-US" spc="-5" dirty="0">
              <a:latin typeface="Times New Roman"/>
              <a:cs typeface="Times New Roman"/>
            </a:endParaRPr>
          </a:p>
          <a:p>
            <a:pPr marL="672465" indent="-582930">
              <a:lnSpc>
                <a:spcPts val="3835"/>
              </a:lnSpc>
              <a:buAutoNum type="arabicPeriod"/>
              <a:tabLst>
                <a:tab pos="673100" algn="l"/>
                <a:tab pos="673735" algn="l"/>
              </a:tabLst>
            </a:pPr>
            <a:r>
              <a:rPr lang="en-US" sz="2800" spc="-5" dirty="0"/>
              <a:t>Branch–and–Bound</a:t>
            </a:r>
            <a:r>
              <a:rPr lang="en-US" sz="2800" spc="-35" dirty="0"/>
              <a:t> </a:t>
            </a:r>
            <a:r>
              <a:rPr lang="en-US" sz="2800" dirty="0"/>
              <a:t>Method</a:t>
            </a:r>
          </a:p>
          <a:p>
            <a:pPr marL="545465" lvl="1" indent="0">
              <a:lnSpc>
                <a:spcPts val="2875"/>
              </a:lnSpc>
              <a:spcBef>
                <a:spcPts val="10"/>
              </a:spcBef>
              <a:buNone/>
              <a:tabLst>
                <a:tab pos="1005205" algn="l"/>
                <a:tab pos="1005840" algn="l"/>
              </a:tabLst>
            </a:pPr>
            <a:r>
              <a:rPr lang="en-US" sz="2000" spc="-5" dirty="0">
                <a:solidFill>
                  <a:srgbClr val="231F20"/>
                </a:solidFill>
                <a:latin typeface="Tahoma"/>
                <a:cs typeface="Tahoma"/>
              </a:rPr>
              <a:t>(Developed</a:t>
            </a:r>
            <a:r>
              <a:rPr lang="en-US" sz="2000" spc="-35" dirty="0">
                <a:solidFill>
                  <a:srgbClr val="231F20"/>
                </a:solidFill>
                <a:latin typeface="Tahoma"/>
                <a:cs typeface="Tahoma"/>
              </a:rPr>
              <a:t> </a:t>
            </a:r>
            <a:r>
              <a:rPr lang="en-US" sz="2000" dirty="0">
                <a:solidFill>
                  <a:srgbClr val="231F20"/>
                </a:solidFill>
                <a:latin typeface="Tahoma"/>
                <a:cs typeface="Tahoma"/>
              </a:rPr>
              <a:t>By:</a:t>
            </a:r>
            <a:r>
              <a:rPr lang="en-US" sz="2000" spc="-10" dirty="0">
                <a:solidFill>
                  <a:srgbClr val="231F20"/>
                </a:solidFill>
                <a:latin typeface="Tahoma"/>
                <a:cs typeface="Tahoma"/>
              </a:rPr>
              <a:t> </a:t>
            </a:r>
            <a:r>
              <a:rPr lang="en-US" sz="2000" dirty="0">
                <a:solidFill>
                  <a:srgbClr val="231F20"/>
                </a:solidFill>
                <a:latin typeface="Tahoma"/>
                <a:cs typeface="Tahoma"/>
              </a:rPr>
              <a:t>A.H.</a:t>
            </a:r>
            <a:r>
              <a:rPr lang="en-US" sz="2000" spc="-5" dirty="0">
                <a:solidFill>
                  <a:srgbClr val="231F20"/>
                </a:solidFill>
                <a:latin typeface="Tahoma"/>
                <a:cs typeface="Tahoma"/>
              </a:rPr>
              <a:t> </a:t>
            </a:r>
            <a:r>
              <a:rPr lang="en-US" sz="2000" dirty="0">
                <a:solidFill>
                  <a:srgbClr val="231F20"/>
                </a:solidFill>
                <a:latin typeface="Tahoma"/>
                <a:cs typeface="Tahoma"/>
              </a:rPr>
              <a:t>Land</a:t>
            </a:r>
            <a:r>
              <a:rPr lang="en-US" sz="2000" spc="-15" dirty="0">
                <a:solidFill>
                  <a:srgbClr val="231F20"/>
                </a:solidFill>
                <a:latin typeface="Tahoma"/>
                <a:cs typeface="Tahoma"/>
              </a:rPr>
              <a:t> </a:t>
            </a:r>
            <a:r>
              <a:rPr lang="en-US" sz="2000" dirty="0">
                <a:solidFill>
                  <a:srgbClr val="231F20"/>
                </a:solidFill>
                <a:latin typeface="Tahoma"/>
                <a:cs typeface="Tahoma"/>
              </a:rPr>
              <a:t>and</a:t>
            </a:r>
            <a:r>
              <a:rPr lang="en-US" sz="2000" spc="-10" dirty="0">
                <a:solidFill>
                  <a:srgbClr val="231F20"/>
                </a:solidFill>
                <a:latin typeface="Tahoma"/>
                <a:cs typeface="Tahoma"/>
              </a:rPr>
              <a:t> </a:t>
            </a:r>
            <a:r>
              <a:rPr lang="en-US" sz="2000" dirty="0">
                <a:solidFill>
                  <a:srgbClr val="231F20"/>
                </a:solidFill>
                <a:latin typeface="Tahoma"/>
                <a:cs typeface="Tahoma"/>
              </a:rPr>
              <a:t>A.</a:t>
            </a:r>
            <a:r>
              <a:rPr lang="en-US" sz="2000" spc="-5" dirty="0">
                <a:solidFill>
                  <a:srgbClr val="231F20"/>
                </a:solidFill>
                <a:latin typeface="Tahoma"/>
                <a:cs typeface="Tahoma"/>
              </a:rPr>
              <a:t> G. </a:t>
            </a:r>
            <a:r>
              <a:rPr lang="en-US" sz="2000" dirty="0">
                <a:solidFill>
                  <a:srgbClr val="231F20"/>
                </a:solidFill>
                <a:latin typeface="Tahoma"/>
                <a:cs typeface="Tahoma"/>
              </a:rPr>
              <a:t>Doing)</a:t>
            </a:r>
            <a:endParaRPr lang="en-US" sz="2000" dirty="0">
              <a:solidFill>
                <a:srgbClr val="231F20"/>
              </a:solidFill>
              <a:latin typeface="Tahoma"/>
              <a:ea typeface="Tahoma"/>
              <a:cs typeface="Tahoma"/>
            </a:endParaRPr>
          </a:p>
          <a:p>
            <a:pPr marL="545465" lvl="1" indent="0">
              <a:lnSpc>
                <a:spcPts val="2875"/>
              </a:lnSpc>
              <a:spcBef>
                <a:spcPts val="10"/>
              </a:spcBef>
              <a:buNone/>
              <a:tabLst>
                <a:tab pos="548640" algn="l"/>
              </a:tabLst>
            </a:pPr>
            <a:endParaRPr lang="en-US" sz="2000" dirty="0">
              <a:solidFill>
                <a:srgbClr val="231F20"/>
              </a:solidFill>
              <a:latin typeface="Tahoma"/>
              <a:ea typeface="Tahoma"/>
              <a:cs typeface="Tahoma"/>
            </a:endParaRPr>
          </a:p>
          <a:p>
            <a:pPr marL="547370" indent="-457200">
              <a:lnSpc>
                <a:spcPct val="100000"/>
              </a:lnSpc>
              <a:spcBef>
                <a:spcPts val="5"/>
              </a:spcBef>
              <a:buAutoNum type="arabicPeriod"/>
              <a:tabLst>
                <a:tab pos="548640" algn="l"/>
              </a:tabLst>
            </a:pPr>
            <a:r>
              <a:rPr lang="en-US" sz="2800" spc="-5" dirty="0"/>
              <a:t>Cutting–Plane Method</a:t>
            </a:r>
          </a:p>
          <a:p>
            <a:pPr marL="553085" lvl="1" indent="0">
              <a:lnSpc>
                <a:spcPts val="2875"/>
              </a:lnSpc>
              <a:spcBef>
                <a:spcPts val="10"/>
              </a:spcBef>
              <a:buNone/>
              <a:tabLst>
                <a:tab pos="1010919" algn="l"/>
                <a:tab pos="1011555" algn="l"/>
              </a:tabLst>
            </a:pPr>
            <a:r>
              <a:rPr lang="en-US" sz="2000" spc="-10" dirty="0">
                <a:solidFill>
                  <a:srgbClr val="231F20"/>
                </a:solidFill>
                <a:latin typeface="Tahoma"/>
                <a:cs typeface="Tahoma"/>
              </a:rPr>
              <a:t>(developed by: Ralph E. Gomory)</a:t>
            </a:r>
          </a:p>
        </p:txBody>
      </p:sp>
      <p:sp>
        <p:nvSpPr>
          <p:cNvPr id="4" name="Slide Number Placeholder 3">
            <a:extLst>
              <a:ext uri="{FF2B5EF4-FFF2-40B4-BE49-F238E27FC236}">
                <a16:creationId xmlns:a16="http://schemas.microsoft.com/office/drawing/2014/main" id="{EBF2E5AE-D37D-0F29-93B5-F55F6D8674EA}"/>
              </a:ext>
            </a:extLst>
          </p:cNvPr>
          <p:cNvSpPr>
            <a:spLocks noGrp="1"/>
          </p:cNvSpPr>
          <p:nvPr>
            <p:ph type="sldNum" sz="quarter" idx="12"/>
          </p:nvPr>
        </p:nvSpPr>
        <p:spPr/>
        <p:txBody>
          <a:bodyPr/>
          <a:lstStyle/>
          <a:p>
            <a:fld id="{CBABCCC1-BF11-4F37-963E-1BCD5B23FD72}" type="slidenum">
              <a:rPr lang="en-IN" smtClean="0"/>
              <a:pPr/>
              <a:t>14</a:t>
            </a:fld>
            <a:endParaRPr lang="en-IN"/>
          </a:p>
        </p:txBody>
      </p:sp>
      <p:pic>
        <p:nvPicPr>
          <p:cNvPr id="6" name="Picture 8" descr="Complete Binary Tree">
            <a:extLst>
              <a:ext uri="{FF2B5EF4-FFF2-40B4-BE49-F238E27FC236}">
                <a16:creationId xmlns:a16="http://schemas.microsoft.com/office/drawing/2014/main" id="{97DFA428-F0A1-8AD0-DFD6-EB3A99CDF94F}"/>
              </a:ext>
            </a:extLst>
          </p:cNvPr>
          <p:cNvPicPr>
            <a:picLocks noChangeAspect="1"/>
          </p:cNvPicPr>
          <p:nvPr/>
        </p:nvPicPr>
        <p:blipFill rotWithShape="1">
          <a:blip r:embed="rId2"/>
          <a:srcRect t="-476" b="39048"/>
          <a:stretch/>
        </p:blipFill>
        <p:spPr>
          <a:xfrm>
            <a:off x="9550931" y="2413866"/>
            <a:ext cx="1510146" cy="892547"/>
          </a:xfrm>
          <a:prstGeom prst="rect">
            <a:avLst/>
          </a:prstGeom>
        </p:spPr>
      </p:pic>
      <p:sp>
        <p:nvSpPr>
          <p:cNvPr id="5" name="TextBox 1">
            <a:extLst>
              <a:ext uri="{FF2B5EF4-FFF2-40B4-BE49-F238E27FC236}">
                <a16:creationId xmlns:a16="http://schemas.microsoft.com/office/drawing/2014/main" id="{452C01E8-FEEF-63A9-1614-18371763723B}"/>
              </a:ext>
            </a:extLst>
          </p:cNvPr>
          <p:cNvSpPr txBox="1"/>
          <p:nvPr/>
        </p:nvSpPr>
        <p:spPr>
          <a:xfrm>
            <a:off x="7916142" y="3370118"/>
            <a:ext cx="4099212"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a:t>Source: </a:t>
            </a:r>
            <a:r>
              <a:rPr lang="en-US" sz="1200">
                <a:ea typeface="+mn-lt"/>
                <a:cs typeface="+mn-lt"/>
              </a:rPr>
              <a:t>https://www.programiz.com/dsa/complete-binary-tree</a:t>
            </a:r>
            <a:endParaRPr lang="en-US" sz="1200"/>
          </a:p>
        </p:txBody>
      </p:sp>
    </p:spTree>
    <p:extLst>
      <p:ext uri="{BB962C8B-B14F-4D97-AF65-F5344CB8AC3E}">
        <p14:creationId xmlns:p14="http://schemas.microsoft.com/office/powerpoint/2010/main" val="364470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A4046-C220-54EE-2174-5B00BFC194F1}"/>
              </a:ext>
            </a:extLst>
          </p:cNvPr>
          <p:cNvSpPr>
            <a:spLocks noGrp="1"/>
          </p:cNvSpPr>
          <p:nvPr>
            <p:ph type="title"/>
          </p:nvPr>
        </p:nvSpPr>
        <p:spPr/>
        <p:txBody>
          <a:bodyPr/>
          <a:lstStyle/>
          <a:p>
            <a:r>
              <a:rPr lang="en-IN" sz="3200" spc="-5" dirty="0"/>
              <a:t>BRANCH–AND–BOUND</a:t>
            </a:r>
            <a:r>
              <a:rPr lang="en-IN" sz="3200" spc="-30" dirty="0"/>
              <a:t> </a:t>
            </a:r>
            <a:r>
              <a:rPr lang="en-IN" sz="3200" spc="-10" dirty="0"/>
              <a:t>METHOD</a:t>
            </a:r>
            <a:endParaRPr lang="en-IN" dirty="0"/>
          </a:p>
        </p:txBody>
      </p:sp>
      <p:sp>
        <p:nvSpPr>
          <p:cNvPr id="3" name="Content Placeholder 2">
            <a:extLst>
              <a:ext uri="{FF2B5EF4-FFF2-40B4-BE49-F238E27FC236}">
                <a16:creationId xmlns:a16="http://schemas.microsoft.com/office/drawing/2014/main" id="{47D2867A-10EB-D08D-7809-CB60F6F5449E}"/>
              </a:ext>
            </a:extLst>
          </p:cNvPr>
          <p:cNvSpPr>
            <a:spLocks noGrp="1"/>
          </p:cNvSpPr>
          <p:nvPr>
            <p:ph idx="1"/>
          </p:nvPr>
        </p:nvSpPr>
        <p:spPr>
          <a:xfrm>
            <a:off x="1495321" y="1669240"/>
            <a:ext cx="9705360" cy="2965520"/>
          </a:xfrm>
        </p:spPr>
        <p:txBody>
          <a:bodyPr>
            <a:normAutofit fontScale="47500" lnSpcReduction="20000"/>
          </a:bodyPr>
          <a:lstStyle/>
          <a:p>
            <a:pPr marL="426720" indent="-351155">
              <a:lnSpc>
                <a:spcPts val="2400"/>
              </a:lnSpc>
              <a:buFont typeface="Wingdings"/>
              <a:buChar char=""/>
              <a:tabLst>
                <a:tab pos="427355" algn="l"/>
              </a:tabLst>
            </a:pPr>
            <a:r>
              <a:rPr lang="en-US" sz="2500" b="1" dirty="0">
                <a:solidFill>
                  <a:srgbClr val="231F20"/>
                </a:solidFill>
                <a:latin typeface="Tahoma"/>
                <a:cs typeface="Tahoma"/>
              </a:rPr>
              <a:t>BRANCHING</a:t>
            </a:r>
            <a:r>
              <a:rPr lang="en-US" sz="2000" b="1" dirty="0">
                <a:solidFill>
                  <a:srgbClr val="231F20"/>
                </a:solidFill>
                <a:latin typeface="Tahoma"/>
                <a:cs typeface="Tahoma"/>
              </a:rPr>
              <a:t>:</a:t>
            </a:r>
            <a:endParaRPr lang="en-US" sz="2000" dirty="0">
              <a:latin typeface="Tahoma"/>
              <a:cs typeface="Tahoma"/>
            </a:endParaRPr>
          </a:p>
          <a:p>
            <a:pPr marL="883285" lvl="1" indent="-351155" algn="just">
              <a:lnSpc>
                <a:spcPct val="170000"/>
              </a:lnSpc>
              <a:buFont typeface="Wingdings"/>
              <a:buChar char=""/>
              <a:tabLst>
                <a:tab pos="884555" algn="l"/>
              </a:tabLst>
            </a:pPr>
            <a:r>
              <a:rPr lang="en-US" sz="2900" spc="-5" dirty="0">
                <a:solidFill>
                  <a:srgbClr val="231F20"/>
                </a:solidFill>
                <a:latin typeface="Tahoma"/>
                <a:cs typeface="Tahoma"/>
              </a:rPr>
              <a:t>Selection of</a:t>
            </a:r>
            <a:r>
              <a:rPr lang="en-US" sz="2900" spc="185" dirty="0">
                <a:solidFill>
                  <a:srgbClr val="231F20"/>
                </a:solidFill>
                <a:latin typeface="Tahoma"/>
                <a:cs typeface="Tahoma"/>
              </a:rPr>
              <a:t> </a:t>
            </a:r>
            <a:r>
              <a:rPr lang="en-US" sz="2900" spc="5" dirty="0">
                <a:solidFill>
                  <a:srgbClr val="231F20"/>
                </a:solidFill>
                <a:latin typeface="Tahoma"/>
                <a:cs typeface="Tahoma"/>
              </a:rPr>
              <a:t>an</a:t>
            </a:r>
            <a:r>
              <a:rPr lang="en-US" sz="2900" spc="180" dirty="0">
                <a:solidFill>
                  <a:srgbClr val="231F20"/>
                </a:solidFill>
                <a:latin typeface="Tahoma"/>
                <a:cs typeface="Tahoma"/>
              </a:rPr>
              <a:t> </a:t>
            </a:r>
            <a:r>
              <a:rPr lang="en-US" sz="2900" spc="-5" dirty="0">
                <a:solidFill>
                  <a:srgbClr val="231F20"/>
                </a:solidFill>
                <a:latin typeface="Tahoma"/>
                <a:cs typeface="Tahoma"/>
              </a:rPr>
              <a:t>integer</a:t>
            </a:r>
            <a:r>
              <a:rPr lang="en-US" sz="2900" spc="180" dirty="0">
                <a:solidFill>
                  <a:srgbClr val="231F20"/>
                </a:solidFill>
                <a:latin typeface="Tahoma"/>
                <a:cs typeface="Tahoma"/>
              </a:rPr>
              <a:t> </a:t>
            </a:r>
            <a:r>
              <a:rPr lang="en-US" sz="2900" spc="-10" dirty="0">
                <a:solidFill>
                  <a:srgbClr val="231F20"/>
                </a:solidFill>
                <a:latin typeface="Tahoma"/>
                <a:cs typeface="Tahoma"/>
              </a:rPr>
              <a:t>value</a:t>
            </a:r>
            <a:r>
              <a:rPr lang="en-US" sz="2900" spc="180" dirty="0">
                <a:solidFill>
                  <a:srgbClr val="231F20"/>
                </a:solidFill>
                <a:latin typeface="Tahoma"/>
                <a:cs typeface="Tahoma"/>
              </a:rPr>
              <a:t> </a:t>
            </a:r>
            <a:r>
              <a:rPr lang="en-US" sz="2900" spc="-5" dirty="0">
                <a:solidFill>
                  <a:srgbClr val="231F20"/>
                </a:solidFill>
                <a:latin typeface="Tahoma"/>
                <a:cs typeface="Tahoma"/>
              </a:rPr>
              <a:t>of</a:t>
            </a:r>
            <a:r>
              <a:rPr lang="en-US" sz="2900" spc="185" dirty="0">
                <a:solidFill>
                  <a:srgbClr val="231F20"/>
                </a:solidFill>
                <a:latin typeface="Tahoma"/>
                <a:cs typeface="Tahoma"/>
              </a:rPr>
              <a:t> </a:t>
            </a:r>
            <a:r>
              <a:rPr lang="en-US" sz="2900" dirty="0">
                <a:solidFill>
                  <a:srgbClr val="231F20"/>
                </a:solidFill>
                <a:latin typeface="Tahoma"/>
                <a:cs typeface="Tahoma"/>
              </a:rPr>
              <a:t>a</a:t>
            </a:r>
            <a:r>
              <a:rPr lang="en-US" sz="2900" spc="185" dirty="0">
                <a:solidFill>
                  <a:srgbClr val="231F20"/>
                </a:solidFill>
                <a:latin typeface="Tahoma"/>
                <a:cs typeface="Tahoma"/>
              </a:rPr>
              <a:t> </a:t>
            </a:r>
            <a:r>
              <a:rPr lang="en-US" sz="2900" spc="-5" dirty="0">
                <a:solidFill>
                  <a:srgbClr val="231F20"/>
                </a:solidFill>
                <a:latin typeface="Tahoma"/>
                <a:cs typeface="Tahoma"/>
              </a:rPr>
              <a:t>decision</a:t>
            </a:r>
            <a:r>
              <a:rPr lang="en-US" sz="2900" spc="190" dirty="0">
                <a:solidFill>
                  <a:srgbClr val="231F20"/>
                </a:solidFill>
                <a:latin typeface="Tahoma"/>
                <a:cs typeface="Tahoma"/>
              </a:rPr>
              <a:t> </a:t>
            </a:r>
            <a:r>
              <a:rPr lang="en-US" sz="2900" spc="-5" dirty="0">
                <a:solidFill>
                  <a:srgbClr val="231F20"/>
                </a:solidFill>
                <a:latin typeface="Tahoma"/>
                <a:cs typeface="Tahoma"/>
              </a:rPr>
              <a:t>variable</a:t>
            </a:r>
            <a:r>
              <a:rPr lang="en-US" sz="2900" spc="180" dirty="0">
                <a:solidFill>
                  <a:srgbClr val="231F20"/>
                </a:solidFill>
                <a:latin typeface="Tahoma"/>
                <a:cs typeface="Tahoma"/>
              </a:rPr>
              <a:t> </a:t>
            </a:r>
            <a:r>
              <a:rPr lang="en-US" sz="2900" spc="-5" dirty="0">
                <a:solidFill>
                  <a:srgbClr val="231F20"/>
                </a:solidFill>
                <a:latin typeface="Tahoma"/>
                <a:cs typeface="Tahoma"/>
              </a:rPr>
              <a:t>to</a:t>
            </a:r>
            <a:r>
              <a:rPr lang="en-US" sz="2900" spc="175" dirty="0">
                <a:solidFill>
                  <a:srgbClr val="231F20"/>
                </a:solidFill>
                <a:latin typeface="Tahoma"/>
                <a:cs typeface="Tahoma"/>
              </a:rPr>
              <a:t> </a:t>
            </a:r>
            <a:r>
              <a:rPr lang="en-US" sz="2900" dirty="0">
                <a:solidFill>
                  <a:srgbClr val="231F20"/>
                </a:solidFill>
                <a:latin typeface="Tahoma"/>
                <a:cs typeface="Tahoma"/>
              </a:rPr>
              <a:t>examine</a:t>
            </a:r>
            <a:r>
              <a:rPr lang="en-US" sz="2900" spc="185" dirty="0">
                <a:solidFill>
                  <a:srgbClr val="231F20"/>
                </a:solidFill>
                <a:latin typeface="Tahoma"/>
                <a:cs typeface="Tahoma"/>
              </a:rPr>
              <a:t> </a:t>
            </a:r>
            <a:r>
              <a:rPr lang="en-US" sz="2900" spc="-5" dirty="0">
                <a:solidFill>
                  <a:srgbClr val="231F20"/>
                </a:solidFill>
                <a:latin typeface="Tahoma"/>
                <a:cs typeface="Tahoma"/>
              </a:rPr>
              <a:t>for</a:t>
            </a:r>
            <a:r>
              <a:rPr lang="en-US" sz="2900" spc="170" dirty="0">
                <a:solidFill>
                  <a:srgbClr val="231F20"/>
                </a:solidFill>
                <a:latin typeface="Tahoma"/>
                <a:cs typeface="Tahoma"/>
              </a:rPr>
              <a:t> </a:t>
            </a:r>
            <a:r>
              <a:rPr lang="en-US" sz="2900" dirty="0">
                <a:solidFill>
                  <a:srgbClr val="231F20"/>
                </a:solidFill>
                <a:latin typeface="Tahoma"/>
                <a:cs typeface="Tahoma"/>
              </a:rPr>
              <a:t>a</a:t>
            </a:r>
            <a:r>
              <a:rPr lang="en-US" sz="2900" spc="185" dirty="0">
                <a:solidFill>
                  <a:srgbClr val="231F20"/>
                </a:solidFill>
                <a:latin typeface="Tahoma"/>
                <a:cs typeface="Tahoma"/>
              </a:rPr>
              <a:t> </a:t>
            </a:r>
            <a:r>
              <a:rPr lang="en-US" sz="2900" spc="-5" dirty="0">
                <a:solidFill>
                  <a:srgbClr val="231F20"/>
                </a:solidFill>
                <a:latin typeface="Tahoma"/>
                <a:cs typeface="Tahoma"/>
              </a:rPr>
              <a:t>possible integer</a:t>
            </a:r>
            <a:r>
              <a:rPr lang="en-US" sz="2900" spc="-30" dirty="0">
                <a:solidFill>
                  <a:srgbClr val="231F20"/>
                </a:solidFill>
                <a:latin typeface="Tahoma"/>
                <a:cs typeface="Tahoma"/>
              </a:rPr>
              <a:t> </a:t>
            </a:r>
            <a:r>
              <a:rPr lang="en-US" sz="2900" spc="-5" dirty="0">
                <a:solidFill>
                  <a:srgbClr val="231F20"/>
                </a:solidFill>
                <a:latin typeface="Tahoma"/>
                <a:cs typeface="Tahoma"/>
              </a:rPr>
              <a:t>solution to</a:t>
            </a:r>
            <a:r>
              <a:rPr lang="en-US" sz="2900" spc="-15" dirty="0">
                <a:solidFill>
                  <a:srgbClr val="231F20"/>
                </a:solidFill>
                <a:latin typeface="Tahoma"/>
                <a:cs typeface="Tahoma"/>
              </a:rPr>
              <a:t> </a:t>
            </a:r>
            <a:r>
              <a:rPr lang="en-US" sz="2900" dirty="0">
                <a:solidFill>
                  <a:srgbClr val="231F20"/>
                </a:solidFill>
                <a:latin typeface="Tahoma"/>
                <a:cs typeface="Tahoma"/>
              </a:rPr>
              <a:t>a</a:t>
            </a:r>
            <a:r>
              <a:rPr lang="en-US" sz="2900" spc="-10" dirty="0">
                <a:solidFill>
                  <a:srgbClr val="231F20"/>
                </a:solidFill>
                <a:latin typeface="Tahoma"/>
                <a:cs typeface="Tahoma"/>
              </a:rPr>
              <a:t> </a:t>
            </a:r>
            <a:r>
              <a:rPr lang="en-US" sz="2900" spc="-5" dirty="0">
                <a:solidFill>
                  <a:srgbClr val="231F20"/>
                </a:solidFill>
                <a:latin typeface="Tahoma"/>
                <a:cs typeface="Tahoma"/>
              </a:rPr>
              <a:t>problem</a:t>
            </a:r>
            <a:endParaRPr lang="en-US" sz="2900" dirty="0">
              <a:latin typeface="Tahoma"/>
              <a:ea typeface="Tahoma"/>
              <a:cs typeface="Tahoma"/>
            </a:endParaRPr>
          </a:p>
          <a:p>
            <a:pPr marL="883285" marR="93980" lvl="1" indent="-350520" algn="just">
              <a:lnSpc>
                <a:spcPct val="170000"/>
              </a:lnSpc>
              <a:buFont typeface="Wingdings"/>
              <a:buChar char=""/>
              <a:tabLst>
                <a:tab pos="884555" algn="l"/>
              </a:tabLst>
            </a:pPr>
            <a:r>
              <a:rPr lang="en-US" sz="2900" spc="-5" dirty="0">
                <a:solidFill>
                  <a:srgbClr val="231F20"/>
                </a:solidFill>
                <a:latin typeface="Tahoma"/>
                <a:cs typeface="Tahoma"/>
              </a:rPr>
              <a:t>If the solution to the linear programming problem contains non-integer values for some or all decision variables, then the solution space is reduced by introducing constraints with respect to any one of those decision variables. If the value of the decision variable “X1” is </a:t>
            </a:r>
            <a:r>
              <a:rPr lang="en-US" sz="2900" spc="-5" dirty="0">
                <a:solidFill>
                  <a:srgbClr val="FF0000"/>
                </a:solidFill>
                <a:latin typeface="Tahoma"/>
                <a:cs typeface="Tahoma"/>
              </a:rPr>
              <a:t>24/5</a:t>
            </a:r>
            <a:r>
              <a:rPr lang="en-US" sz="2900" spc="-5" dirty="0">
                <a:solidFill>
                  <a:srgbClr val="231F20"/>
                </a:solidFill>
                <a:latin typeface="Tahoma"/>
                <a:cs typeface="Tahoma"/>
              </a:rPr>
              <a:t>, then two more problems will be created by using each of the following constraints. </a:t>
            </a:r>
          </a:p>
          <a:p>
            <a:pPr marL="989965" marR="93980" lvl="2" indent="0" algn="just">
              <a:lnSpc>
                <a:spcPct val="170000"/>
              </a:lnSpc>
              <a:buNone/>
              <a:tabLst>
                <a:tab pos="884555" algn="l"/>
              </a:tabLst>
            </a:pPr>
            <a:endParaRPr lang="en-US" sz="2700" spc="-5" dirty="0">
              <a:solidFill>
                <a:srgbClr val="231F20"/>
              </a:solidFill>
              <a:latin typeface="Tahoma"/>
              <a:cs typeface="Tahoma"/>
            </a:endParaRPr>
          </a:p>
          <a:p>
            <a:pPr marL="989965" marR="93980" lvl="2" indent="0" algn="just">
              <a:lnSpc>
                <a:spcPct val="170000"/>
              </a:lnSpc>
              <a:buNone/>
              <a:tabLst>
                <a:tab pos="884555" algn="l"/>
              </a:tabLst>
            </a:pPr>
            <a:r>
              <a:rPr lang="en-US" sz="2700" spc="-5" dirty="0">
                <a:solidFill>
                  <a:srgbClr val="231F20"/>
                </a:solidFill>
                <a:latin typeface="Tahoma"/>
                <a:cs typeface="Tahoma"/>
              </a:rPr>
              <a:t>                                                                      X1 ≤ 4       X1 ≥ 5.</a:t>
            </a:r>
            <a:endParaRPr lang="en-US" sz="2700" spc="-5" dirty="0">
              <a:solidFill>
                <a:srgbClr val="231F20"/>
              </a:solidFill>
              <a:latin typeface="Tahoma"/>
              <a:ea typeface="Tahoma"/>
              <a:cs typeface="Tahoma"/>
            </a:endParaRPr>
          </a:p>
          <a:p>
            <a:pPr marL="426720" indent="-351155">
              <a:lnSpc>
                <a:spcPct val="170000"/>
              </a:lnSpc>
              <a:buFont typeface="Wingdings" panose="020B0604020202020204" pitchFamily="34" charset="0"/>
              <a:buChar char=""/>
              <a:tabLst>
                <a:tab pos="427355" algn="l"/>
              </a:tabLst>
            </a:pPr>
            <a:endParaRPr lang="en-US" b="1" dirty="0">
              <a:solidFill>
                <a:srgbClr val="231F20"/>
              </a:solidFill>
              <a:latin typeface="Tahoma"/>
              <a:ea typeface="Tahoma"/>
              <a:cs typeface="Tahoma"/>
            </a:endParaRPr>
          </a:p>
        </p:txBody>
      </p:sp>
      <p:sp>
        <p:nvSpPr>
          <p:cNvPr id="4" name="Slide Number Placeholder 3">
            <a:extLst>
              <a:ext uri="{FF2B5EF4-FFF2-40B4-BE49-F238E27FC236}">
                <a16:creationId xmlns:a16="http://schemas.microsoft.com/office/drawing/2014/main" id="{206A7325-48E1-238E-7E80-A2053B029A30}"/>
              </a:ext>
            </a:extLst>
          </p:cNvPr>
          <p:cNvSpPr>
            <a:spLocks noGrp="1"/>
          </p:cNvSpPr>
          <p:nvPr>
            <p:ph type="sldNum" sz="quarter" idx="12"/>
          </p:nvPr>
        </p:nvSpPr>
        <p:spPr/>
        <p:txBody>
          <a:bodyPr/>
          <a:lstStyle/>
          <a:p>
            <a:fld id="{CBABCCC1-BF11-4F37-963E-1BCD5B23FD72}" type="slidenum">
              <a:rPr lang="en-IN" smtClean="0"/>
              <a:pPr/>
              <a:t>15</a:t>
            </a:fld>
            <a:endParaRPr lang="en-IN"/>
          </a:p>
        </p:txBody>
      </p:sp>
      <p:pic>
        <p:nvPicPr>
          <p:cNvPr id="8" name="Picture 8" descr="Complete Binary Tree">
            <a:extLst>
              <a:ext uri="{FF2B5EF4-FFF2-40B4-BE49-F238E27FC236}">
                <a16:creationId xmlns:a16="http://schemas.microsoft.com/office/drawing/2014/main" id="{0BD79978-C1F2-DAF2-0664-6E642DA6C877}"/>
              </a:ext>
            </a:extLst>
          </p:cNvPr>
          <p:cNvPicPr>
            <a:picLocks noChangeAspect="1"/>
          </p:cNvPicPr>
          <p:nvPr/>
        </p:nvPicPr>
        <p:blipFill rotWithShape="1">
          <a:blip r:embed="rId2"/>
          <a:srcRect t="-476" b="39048"/>
          <a:stretch/>
        </p:blipFill>
        <p:spPr>
          <a:xfrm>
            <a:off x="5867399" y="3342120"/>
            <a:ext cx="1510146" cy="892547"/>
          </a:xfrm>
          <a:prstGeom prst="rect">
            <a:avLst/>
          </a:prstGeom>
        </p:spPr>
      </p:pic>
      <p:sp>
        <p:nvSpPr>
          <p:cNvPr id="16" name="object 3">
            <a:extLst>
              <a:ext uri="{FF2B5EF4-FFF2-40B4-BE49-F238E27FC236}">
                <a16:creationId xmlns:a16="http://schemas.microsoft.com/office/drawing/2014/main" id="{71CB58FE-8A6A-71C1-36C8-84DC74F99F55}"/>
              </a:ext>
            </a:extLst>
          </p:cNvPr>
          <p:cNvSpPr txBox="1"/>
          <p:nvPr/>
        </p:nvSpPr>
        <p:spPr>
          <a:xfrm>
            <a:off x="2105604" y="4960373"/>
            <a:ext cx="2487923" cy="1088533"/>
          </a:xfrm>
          <a:prstGeom prst="rect">
            <a:avLst/>
          </a:prstGeom>
        </p:spPr>
        <p:txBody>
          <a:bodyPr vert="horz" wrap="square" lIns="0" tIns="11206" rIns="0" bIns="0" rtlCol="0" anchor="t">
            <a:spAutoFit/>
          </a:bodyPr>
          <a:lstStyle/>
          <a:p>
            <a:pPr marL="10795">
              <a:spcBef>
                <a:spcPts val="88"/>
              </a:spcBef>
            </a:pPr>
            <a:r>
              <a:rPr lang="en-US" sz="1400" spc="-4" dirty="0">
                <a:solidFill>
                  <a:srgbClr val="231F20"/>
                </a:solidFill>
                <a:latin typeface="Tahoma"/>
                <a:cs typeface="Tahoma"/>
              </a:rPr>
              <a:t>Max.</a:t>
            </a:r>
            <a:r>
              <a:rPr lang="en-US" sz="1400" spc="-22" dirty="0">
                <a:solidFill>
                  <a:srgbClr val="231F20"/>
                </a:solidFill>
                <a:latin typeface="Tahoma"/>
                <a:cs typeface="Tahoma"/>
              </a:rPr>
              <a:t> </a:t>
            </a:r>
            <a:r>
              <a:rPr lang="en-US" sz="1400" dirty="0">
                <a:solidFill>
                  <a:srgbClr val="231F20"/>
                </a:solidFill>
                <a:latin typeface="Tahoma"/>
                <a:cs typeface="Tahoma"/>
              </a:rPr>
              <a:t>Z</a:t>
            </a:r>
            <a:r>
              <a:rPr lang="en-US" sz="1400" spc="-13" dirty="0">
                <a:solidFill>
                  <a:srgbClr val="231F20"/>
                </a:solidFill>
                <a:latin typeface="Tahoma"/>
                <a:cs typeface="Tahoma"/>
              </a:rPr>
              <a:t> </a:t>
            </a:r>
            <a:r>
              <a:rPr lang="en-US" sz="1400" dirty="0">
                <a:solidFill>
                  <a:srgbClr val="231F20"/>
                </a:solidFill>
                <a:latin typeface="Tahoma"/>
                <a:cs typeface="Tahoma"/>
              </a:rPr>
              <a:t>= </a:t>
            </a:r>
            <a:r>
              <a:rPr lang="en-US" sz="1400" spc="-4" dirty="0">
                <a:solidFill>
                  <a:srgbClr val="231F20"/>
                </a:solidFill>
                <a:latin typeface="Tahoma"/>
                <a:cs typeface="Tahoma"/>
              </a:rPr>
              <a:t>10X1 </a:t>
            </a:r>
            <a:r>
              <a:rPr lang="en-US" sz="1400" dirty="0">
                <a:solidFill>
                  <a:srgbClr val="231F20"/>
                </a:solidFill>
                <a:latin typeface="Tahoma"/>
                <a:cs typeface="Tahoma"/>
              </a:rPr>
              <a:t>+</a:t>
            </a:r>
            <a:r>
              <a:rPr lang="en-US" sz="1400" spc="-9" dirty="0">
                <a:solidFill>
                  <a:srgbClr val="231F20"/>
                </a:solidFill>
                <a:latin typeface="Tahoma"/>
                <a:cs typeface="Tahoma"/>
              </a:rPr>
              <a:t> </a:t>
            </a:r>
            <a:r>
              <a:rPr lang="en-US" sz="1400" spc="-4" dirty="0">
                <a:solidFill>
                  <a:srgbClr val="231F20"/>
                </a:solidFill>
                <a:latin typeface="Tahoma"/>
                <a:cs typeface="Tahoma"/>
              </a:rPr>
              <a:t>20X2</a:t>
            </a:r>
            <a:endParaRPr lang="en-US" sz="1400">
              <a:latin typeface="Tahoma"/>
              <a:ea typeface="Tahoma"/>
              <a:cs typeface="Tahoma"/>
            </a:endParaRPr>
          </a:p>
          <a:p>
            <a:pPr marL="10795"/>
            <a:r>
              <a:rPr lang="en-US" sz="1400" spc="-4" dirty="0">
                <a:solidFill>
                  <a:srgbClr val="231F20"/>
                </a:solidFill>
                <a:latin typeface="Tahoma"/>
                <a:cs typeface="Tahoma"/>
              </a:rPr>
              <a:t>Subject</a:t>
            </a:r>
            <a:r>
              <a:rPr lang="en-US" sz="1400" spc="-44" dirty="0">
                <a:solidFill>
                  <a:srgbClr val="231F20"/>
                </a:solidFill>
                <a:latin typeface="Tahoma"/>
                <a:cs typeface="Tahoma"/>
              </a:rPr>
              <a:t> </a:t>
            </a:r>
            <a:r>
              <a:rPr lang="en-US" sz="1400" dirty="0">
                <a:solidFill>
                  <a:srgbClr val="231F20"/>
                </a:solidFill>
                <a:latin typeface="Tahoma"/>
                <a:cs typeface="Tahoma"/>
              </a:rPr>
              <a:t>to:</a:t>
            </a:r>
            <a:endParaRPr lang="en-US" sz="1400">
              <a:latin typeface="Tahoma"/>
              <a:ea typeface="Tahoma"/>
              <a:cs typeface="Tahoma"/>
            </a:endParaRPr>
          </a:p>
          <a:p>
            <a:pPr marL="817880" marR="117475"/>
            <a:r>
              <a:rPr lang="en-US" sz="1400" spc="-4" dirty="0">
                <a:solidFill>
                  <a:srgbClr val="231F20"/>
                </a:solidFill>
                <a:latin typeface="Tahoma"/>
                <a:cs typeface="Tahoma"/>
              </a:rPr>
              <a:t>6X1</a:t>
            </a:r>
            <a:r>
              <a:rPr lang="en-US" sz="1400" spc="-26" dirty="0">
                <a:solidFill>
                  <a:srgbClr val="231F20"/>
                </a:solidFill>
                <a:latin typeface="Tahoma"/>
                <a:cs typeface="Tahoma"/>
              </a:rPr>
              <a:t> </a:t>
            </a:r>
            <a:r>
              <a:rPr lang="en-US" sz="1400" dirty="0">
                <a:solidFill>
                  <a:srgbClr val="231F20"/>
                </a:solidFill>
                <a:latin typeface="Tahoma"/>
                <a:cs typeface="Tahoma"/>
              </a:rPr>
              <a:t>+</a:t>
            </a:r>
            <a:r>
              <a:rPr lang="en-US" sz="1400" spc="-18" dirty="0">
                <a:solidFill>
                  <a:srgbClr val="231F20"/>
                </a:solidFill>
                <a:latin typeface="Tahoma"/>
                <a:cs typeface="Tahoma"/>
              </a:rPr>
              <a:t> </a:t>
            </a:r>
            <a:r>
              <a:rPr lang="en-US" sz="1400" spc="-4" dirty="0">
                <a:solidFill>
                  <a:srgbClr val="231F20"/>
                </a:solidFill>
                <a:latin typeface="Tahoma"/>
                <a:cs typeface="Tahoma"/>
              </a:rPr>
              <a:t>8X2</a:t>
            </a:r>
            <a:r>
              <a:rPr lang="en-US" sz="1400" spc="-22" dirty="0">
                <a:solidFill>
                  <a:srgbClr val="231F20"/>
                </a:solidFill>
                <a:latin typeface="Tahoma"/>
                <a:cs typeface="Tahoma"/>
              </a:rPr>
              <a:t> </a:t>
            </a:r>
            <a:r>
              <a:rPr lang="en-US" sz="1400" dirty="0">
                <a:solidFill>
                  <a:srgbClr val="231F20"/>
                </a:solidFill>
                <a:latin typeface="Tahoma"/>
                <a:cs typeface="Tahoma"/>
              </a:rPr>
              <a:t>≤</a:t>
            </a:r>
            <a:r>
              <a:rPr lang="en-US" sz="1400" spc="-18" dirty="0">
                <a:solidFill>
                  <a:srgbClr val="231F20"/>
                </a:solidFill>
                <a:latin typeface="Tahoma"/>
                <a:cs typeface="Tahoma"/>
              </a:rPr>
              <a:t> </a:t>
            </a:r>
            <a:r>
              <a:rPr lang="en-US" sz="1400" spc="-4" dirty="0">
                <a:solidFill>
                  <a:srgbClr val="231F20"/>
                </a:solidFill>
                <a:latin typeface="Tahoma"/>
                <a:cs typeface="Tahoma"/>
              </a:rPr>
              <a:t>48</a:t>
            </a:r>
            <a:endParaRPr lang="en-US" sz="1400">
              <a:solidFill>
                <a:srgbClr val="000000"/>
              </a:solidFill>
              <a:latin typeface="Tahoma"/>
              <a:ea typeface="Tahoma"/>
              <a:cs typeface="Tahoma"/>
            </a:endParaRPr>
          </a:p>
          <a:p>
            <a:pPr marL="817880" marR="117475"/>
            <a:r>
              <a:rPr lang="en-US" sz="1400" spc="-649" dirty="0">
                <a:solidFill>
                  <a:srgbClr val="231F20"/>
                </a:solidFill>
                <a:latin typeface="Tahoma"/>
                <a:cs typeface="Tahoma"/>
              </a:rPr>
              <a:t>    </a:t>
            </a:r>
            <a:r>
              <a:rPr lang="en-US" sz="1400" dirty="0">
                <a:solidFill>
                  <a:srgbClr val="231F20"/>
                </a:solidFill>
                <a:latin typeface="Tahoma"/>
                <a:cs typeface="Tahoma"/>
              </a:rPr>
              <a:t>X1</a:t>
            </a:r>
            <a:r>
              <a:rPr lang="en-US" sz="1400" spc="-35" dirty="0">
                <a:solidFill>
                  <a:srgbClr val="231F20"/>
                </a:solidFill>
                <a:latin typeface="Tahoma"/>
                <a:cs typeface="Tahoma"/>
              </a:rPr>
              <a:t>  </a:t>
            </a:r>
            <a:r>
              <a:rPr lang="en-US" sz="1400" dirty="0">
                <a:solidFill>
                  <a:srgbClr val="231F20"/>
                </a:solidFill>
                <a:latin typeface="Tahoma"/>
                <a:cs typeface="Tahoma"/>
              </a:rPr>
              <a:t>+</a:t>
            </a:r>
            <a:r>
              <a:rPr lang="en-US" sz="1400" spc="-4" dirty="0">
                <a:solidFill>
                  <a:srgbClr val="231F20"/>
                </a:solidFill>
                <a:latin typeface="Tahoma"/>
                <a:cs typeface="Tahoma"/>
              </a:rPr>
              <a:t> 3X2</a:t>
            </a:r>
            <a:r>
              <a:rPr lang="en-US" sz="1400" spc="-18" dirty="0">
                <a:solidFill>
                  <a:srgbClr val="231F20"/>
                </a:solidFill>
                <a:latin typeface="Tahoma"/>
                <a:cs typeface="Tahoma"/>
              </a:rPr>
              <a:t> </a:t>
            </a:r>
            <a:r>
              <a:rPr lang="en-US" sz="1400" dirty="0">
                <a:solidFill>
                  <a:srgbClr val="231F20"/>
                </a:solidFill>
                <a:latin typeface="Tahoma"/>
                <a:cs typeface="Tahoma"/>
              </a:rPr>
              <a:t>≤</a:t>
            </a:r>
            <a:r>
              <a:rPr lang="en-US" sz="1400" spc="-13" dirty="0">
                <a:solidFill>
                  <a:srgbClr val="231F20"/>
                </a:solidFill>
                <a:latin typeface="Tahoma"/>
                <a:cs typeface="Tahoma"/>
              </a:rPr>
              <a:t> </a:t>
            </a:r>
            <a:r>
              <a:rPr lang="en-US" sz="1400" spc="-4" dirty="0">
                <a:solidFill>
                  <a:srgbClr val="231F20"/>
                </a:solidFill>
                <a:latin typeface="Tahoma"/>
                <a:cs typeface="Tahoma"/>
              </a:rPr>
              <a:t>12</a:t>
            </a:r>
            <a:endParaRPr lang="en-US" sz="1400">
              <a:latin typeface="Tahoma"/>
              <a:ea typeface="Tahoma"/>
              <a:cs typeface="Tahoma"/>
            </a:endParaRPr>
          </a:p>
          <a:p>
            <a:pPr marL="10795">
              <a:spcBef>
                <a:spcPts val="4"/>
              </a:spcBef>
            </a:pPr>
            <a:r>
              <a:rPr lang="en-US" sz="1400" spc="-4" dirty="0">
                <a:solidFill>
                  <a:srgbClr val="231F20"/>
                </a:solidFill>
                <a:latin typeface="Tahoma"/>
                <a:cs typeface="Tahoma"/>
              </a:rPr>
              <a:t>X1,</a:t>
            </a:r>
            <a:r>
              <a:rPr lang="en-US" sz="1400" spc="-22" dirty="0">
                <a:solidFill>
                  <a:srgbClr val="231F20"/>
                </a:solidFill>
                <a:latin typeface="Tahoma"/>
                <a:cs typeface="Tahoma"/>
              </a:rPr>
              <a:t> </a:t>
            </a:r>
            <a:r>
              <a:rPr lang="en-US" sz="1400" spc="-4" dirty="0">
                <a:solidFill>
                  <a:srgbClr val="231F20"/>
                </a:solidFill>
                <a:latin typeface="Tahoma"/>
                <a:cs typeface="Tahoma"/>
              </a:rPr>
              <a:t>X2</a:t>
            </a:r>
            <a:r>
              <a:rPr lang="en-US" sz="1400" spc="-22" dirty="0">
                <a:solidFill>
                  <a:srgbClr val="231F20"/>
                </a:solidFill>
                <a:latin typeface="Tahoma"/>
                <a:cs typeface="Tahoma"/>
              </a:rPr>
              <a:t> </a:t>
            </a:r>
            <a:r>
              <a:rPr lang="en-US" sz="1400" dirty="0">
                <a:solidFill>
                  <a:srgbClr val="231F20"/>
                </a:solidFill>
                <a:latin typeface="Tahoma"/>
                <a:cs typeface="Tahoma"/>
              </a:rPr>
              <a:t>≥ 0</a:t>
            </a:r>
            <a:r>
              <a:rPr lang="en-US" sz="1400" spc="-9" dirty="0">
                <a:solidFill>
                  <a:srgbClr val="231F20"/>
                </a:solidFill>
                <a:latin typeface="Tahoma"/>
                <a:cs typeface="Tahoma"/>
              </a:rPr>
              <a:t> </a:t>
            </a:r>
            <a:r>
              <a:rPr lang="en-US" sz="1400" dirty="0">
                <a:solidFill>
                  <a:srgbClr val="231F20"/>
                </a:solidFill>
                <a:latin typeface="Tahoma"/>
                <a:cs typeface="Tahoma"/>
              </a:rPr>
              <a:t>and</a:t>
            </a:r>
            <a:r>
              <a:rPr lang="en-US" sz="1400" spc="-18" dirty="0">
                <a:solidFill>
                  <a:srgbClr val="231F20"/>
                </a:solidFill>
                <a:latin typeface="Tahoma"/>
                <a:cs typeface="Tahoma"/>
              </a:rPr>
              <a:t> </a:t>
            </a:r>
            <a:r>
              <a:rPr lang="en-US" sz="1400" spc="-4" dirty="0">
                <a:solidFill>
                  <a:srgbClr val="231F20"/>
                </a:solidFill>
                <a:latin typeface="Tahoma"/>
                <a:cs typeface="Tahoma"/>
              </a:rPr>
              <a:t>integers</a:t>
            </a:r>
            <a:endParaRPr sz="1400" dirty="0">
              <a:latin typeface="Tahoma"/>
              <a:ea typeface="Tahoma"/>
              <a:cs typeface="Tahoma"/>
            </a:endParaRPr>
          </a:p>
        </p:txBody>
      </p:sp>
      <p:pic>
        <p:nvPicPr>
          <p:cNvPr id="18" name="object 4">
            <a:extLst>
              <a:ext uri="{FF2B5EF4-FFF2-40B4-BE49-F238E27FC236}">
                <a16:creationId xmlns:a16="http://schemas.microsoft.com/office/drawing/2014/main" id="{F41F7B2D-A98B-4C30-0447-AFE31B5093B6}"/>
              </a:ext>
            </a:extLst>
          </p:cNvPr>
          <p:cNvPicPr/>
          <p:nvPr/>
        </p:nvPicPr>
        <p:blipFill>
          <a:blip r:embed="rId3" cstate="print"/>
          <a:stretch>
            <a:fillRect/>
          </a:stretch>
        </p:blipFill>
        <p:spPr>
          <a:xfrm>
            <a:off x="8469609" y="3605415"/>
            <a:ext cx="3660453" cy="2540930"/>
          </a:xfrm>
          <a:prstGeom prst="rect">
            <a:avLst/>
          </a:prstGeom>
        </p:spPr>
      </p:pic>
      <p:sp>
        <p:nvSpPr>
          <p:cNvPr id="22" name="TextBox 21">
            <a:extLst>
              <a:ext uri="{FF2B5EF4-FFF2-40B4-BE49-F238E27FC236}">
                <a16:creationId xmlns:a16="http://schemas.microsoft.com/office/drawing/2014/main" id="{80B2AAF7-AD95-BE21-4290-0E12EAE61761}"/>
              </a:ext>
            </a:extLst>
          </p:cNvPr>
          <p:cNvSpPr txBox="1"/>
          <p:nvPr/>
        </p:nvSpPr>
        <p:spPr>
          <a:xfrm>
            <a:off x="5313561" y="4873609"/>
            <a:ext cx="3032913" cy="10702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dirty="0"/>
              <a:t>Optimal solution to relaxed LPP:</a:t>
            </a:r>
          </a:p>
          <a:p>
            <a:r>
              <a:rPr lang="en-US" sz="1600" dirty="0"/>
              <a:t>Z  = 96</a:t>
            </a:r>
            <a:br>
              <a:rPr lang="en-US" sz="1600" dirty="0"/>
            </a:br>
            <a:r>
              <a:rPr lang="en-US" sz="1600" dirty="0"/>
              <a:t>X1 =</a:t>
            </a:r>
            <a:r>
              <a:rPr lang="en-US" sz="1600" dirty="0">
                <a:solidFill>
                  <a:srgbClr val="FF0000"/>
                </a:solidFill>
              </a:rPr>
              <a:t>24/5</a:t>
            </a:r>
            <a:br>
              <a:rPr lang="en-US" sz="1600" dirty="0"/>
            </a:br>
            <a:r>
              <a:rPr lang="en-US" sz="1600" dirty="0"/>
              <a:t>X2 = 12/5</a:t>
            </a:r>
          </a:p>
        </p:txBody>
      </p:sp>
    </p:spTree>
    <p:extLst>
      <p:ext uri="{BB962C8B-B14F-4D97-AF65-F5344CB8AC3E}">
        <p14:creationId xmlns:p14="http://schemas.microsoft.com/office/powerpoint/2010/main" val="392468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A4046-C220-54EE-2174-5B00BFC194F1}"/>
              </a:ext>
            </a:extLst>
          </p:cNvPr>
          <p:cNvSpPr>
            <a:spLocks noGrp="1"/>
          </p:cNvSpPr>
          <p:nvPr>
            <p:ph type="title"/>
          </p:nvPr>
        </p:nvSpPr>
        <p:spPr>
          <a:xfrm>
            <a:off x="1451579" y="804519"/>
            <a:ext cx="9603275" cy="723654"/>
          </a:xfrm>
        </p:spPr>
        <p:txBody>
          <a:bodyPr/>
          <a:lstStyle/>
          <a:p>
            <a:r>
              <a:rPr lang="en-IN" sz="3200" spc="-5"/>
              <a:t>BRANCH–AND–BOUND</a:t>
            </a:r>
            <a:r>
              <a:rPr lang="en-IN" sz="3200" spc="-30"/>
              <a:t> </a:t>
            </a:r>
            <a:r>
              <a:rPr lang="en-IN" sz="3200" spc="-10"/>
              <a:t>METHOD</a:t>
            </a:r>
            <a:endParaRPr lang="en-IN"/>
          </a:p>
        </p:txBody>
      </p:sp>
      <p:sp>
        <p:nvSpPr>
          <p:cNvPr id="3" name="Content Placeholder 2">
            <a:extLst>
              <a:ext uri="{FF2B5EF4-FFF2-40B4-BE49-F238E27FC236}">
                <a16:creationId xmlns:a16="http://schemas.microsoft.com/office/drawing/2014/main" id="{47D2867A-10EB-D08D-7809-CB60F6F5449E}"/>
              </a:ext>
            </a:extLst>
          </p:cNvPr>
          <p:cNvSpPr>
            <a:spLocks noGrp="1"/>
          </p:cNvSpPr>
          <p:nvPr>
            <p:ph idx="1"/>
          </p:nvPr>
        </p:nvSpPr>
        <p:spPr>
          <a:xfrm>
            <a:off x="52270" y="1463010"/>
            <a:ext cx="11942869" cy="2660718"/>
          </a:xfrm>
        </p:spPr>
        <p:txBody>
          <a:bodyPr>
            <a:normAutofit fontScale="62500" lnSpcReduction="20000"/>
          </a:bodyPr>
          <a:lstStyle/>
          <a:p>
            <a:pPr marL="426720" indent="-351155">
              <a:lnSpc>
                <a:spcPts val="2400"/>
              </a:lnSpc>
              <a:buFont typeface="Wingdings"/>
              <a:buChar char=""/>
              <a:tabLst>
                <a:tab pos="427355" algn="l"/>
              </a:tabLst>
            </a:pPr>
            <a:r>
              <a:rPr lang="en-US" sz="2500" b="1" dirty="0">
                <a:solidFill>
                  <a:srgbClr val="231F20"/>
                </a:solidFill>
                <a:latin typeface="Tahoma"/>
                <a:cs typeface="Tahoma"/>
              </a:rPr>
              <a:t>BOUND</a:t>
            </a:r>
            <a:r>
              <a:rPr lang="en-US" sz="2000" b="1" dirty="0">
                <a:solidFill>
                  <a:srgbClr val="231F20"/>
                </a:solidFill>
                <a:latin typeface="Tahoma"/>
                <a:cs typeface="Tahoma"/>
              </a:rPr>
              <a:t>:</a:t>
            </a:r>
            <a:endParaRPr lang="en-US" sz="2000" dirty="0">
              <a:latin typeface="Tahoma"/>
              <a:ea typeface="Tahoma"/>
              <a:cs typeface="Tahoma"/>
            </a:endParaRPr>
          </a:p>
          <a:p>
            <a:pPr marL="532765" marR="96520" lvl="1" indent="0">
              <a:lnSpc>
                <a:spcPct val="170000"/>
              </a:lnSpc>
              <a:spcBef>
                <a:spcPts val="70"/>
              </a:spcBef>
              <a:buNone/>
              <a:tabLst>
                <a:tab pos="883919" algn="l"/>
                <a:tab pos="884555" algn="l"/>
              </a:tabLst>
            </a:pPr>
            <a:r>
              <a:rPr lang="en-US" sz="2800" spc="-5" dirty="0">
                <a:solidFill>
                  <a:srgbClr val="231F20"/>
                </a:solidFill>
                <a:latin typeface="Tahoma"/>
                <a:cs typeface="Tahoma"/>
              </a:rPr>
              <a:t>An upper or lower limit on the value of the objective function at a given stage of the analysis of an ILP.</a:t>
            </a:r>
            <a:endParaRPr lang="en-US" sz="2800" dirty="0">
              <a:latin typeface="Tahoma"/>
              <a:ea typeface="Tahoma"/>
              <a:cs typeface="Tahoma"/>
            </a:endParaRPr>
          </a:p>
          <a:p>
            <a:pPr marL="883285" marR="95250" lvl="1" indent="-350520">
              <a:lnSpc>
                <a:spcPct val="170000"/>
              </a:lnSpc>
              <a:buFont typeface="Wingdings"/>
              <a:buChar char=""/>
              <a:tabLst>
                <a:tab pos="883919" algn="l"/>
                <a:tab pos="884555" algn="l"/>
              </a:tabLst>
            </a:pPr>
            <a:r>
              <a:rPr lang="en-US" sz="2800" b="1" dirty="0">
                <a:solidFill>
                  <a:srgbClr val="FF0000"/>
                </a:solidFill>
                <a:latin typeface="Tahoma"/>
                <a:cs typeface="Tahoma"/>
              </a:rPr>
              <a:t>UPPER BOUND</a:t>
            </a:r>
            <a:r>
              <a:rPr lang="en-US" sz="2800" b="1" spc="-5" dirty="0">
                <a:solidFill>
                  <a:srgbClr val="231F20"/>
                </a:solidFill>
                <a:latin typeface="Tahoma"/>
                <a:cs typeface="Tahoma"/>
              </a:rPr>
              <a:t>:</a:t>
            </a:r>
            <a:r>
              <a:rPr lang="en-US" sz="2800" b="1" spc="375" dirty="0">
                <a:solidFill>
                  <a:srgbClr val="231F20"/>
                </a:solidFill>
                <a:latin typeface="Tahoma"/>
                <a:cs typeface="Tahoma"/>
              </a:rPr>
              <a:t> </a:t>
            </a:r>
            <a:r>
              <a:rPr lang="en-US" sz="2800" spc="-5" dirty="0">
                <a:solidFill>
                  <a:srgbClr val="231F20"/>
                </a:solidFill>
                <a:latin typeface="Tahoma"/>
                <a:cs typeface="Tahoma"/>
              </a:rPr>
              <a:t>The upper bound at a node is the value of the objective function corresponding to the linear programming solution in that node: </a:t>
            </a:r>
            <a:r>
              <a:rPr lang="en-US" sz="2700" b="1" spc="-5" dirty="0">
                <a:solidFill>
                  <a:srgbClr val="FF0000"/>
                </a:solidFill>
                <a:latin typeface="Tahoma"/>
                <a:cs typeface="Tahoma"/>
              </a:rPr>
              <a:t>Z</a:t>
            </a:r>
            <a:r>
              <a:rPr lang="en-US" sz="2700" b="1" spc="-5" baseline="-25000" dirty="0">
                <a:solidFill>
                  <a:srgbClr val="FF0000"/>
                </a:solidFill>
                <a:latin typeface="Tahoma"/>
                <a:cs typeface="Tahoma"/>
              </a:rPr>
              <a:t>U</a:t>
            </a:r>
            <a:r>
              <a:rPr lang="en-US" sz="2900" b="1" spc="-5" dirty="0">
                <a:solidFill>
                  <a:srgbClr val="0070C0"/>
                </a:solidFill>
                <a:latin typeface="Tahoma"/>
                <a:cs typeface="Tahoma"/>
              </a:rPr>
              <a:t> = </a:t>
            </a:r>
            <a:r>
              <a:rPr lang="en-US" sz="2800" b="1" spc="-5" dirty="0">
                <a:solidFill>
                  <a:srgbClr val="0070C0"/>
                </a:solidFill>
                <a:latin typeface="Tahoma"/>
                <a:cs typeface="Tahoma"/>
              </a:rPr>
              <a:t> </a:t>
            </a:r>
            <a:r>
              <a:rPr lang="en-US" sz="2900" b="1" spc="-5" dirty="0">
                <a:solidFill>
                  <a:srgbClr val="0070C0"/>
                </a:solidFill>
                <a:latin typeface="Tahoma"/>
                <a:cs typeface="Tahoma"/>
              </a:rPr>
              <a:t>Z(C) = 10 (24/5) + + 20 (12/5) = </a:t>
            </a:r>
            <a:r>
              <a:rPr lang="en-US" sz="2700" b="1" spc="-5" dirty="0">
                <a:solidFill>
                  <a:srgbClr val="FF0000"/>
                </a:solidFill>
                <a:latin typeface="Tahoma"/>
                <a:cs typeface="Tahoma"/>
              </a:rPr>
              <a:t>96</a:t>
            </a:r>
          </a:p>
          <a:p>
            <a:pPr marL="883285" marR="95250" lvl="1" indent="-350520">
              <a:lnSpc>
                <a:spcPct val="170000"/>
              </a:lnSpc>
              <a:buFont typeface="Wingdings"/>
              <a:buChar char=""/>
              <a:tabLst>
                <a:tab pos="883919" algn="l"/>
                <a:tab pos="884555" algn="l"/>
              </a:tabLst>
            </a:pPr>
            <a:r>
              <a:rPr lang="en-US" sz="2400" b="1" spc="-5" dirty="0">
                <a:solidFill>
                  <a:srgbClr val="FF0000"/>
                </a:solidFill>
                <a:latin typeface="Tahoma"/>
                <a:ea typeface="Tahoma"/>
                <a:cs typeface="Tahoma"/>
              </a:rPr>
              <a:t>LOWER BOUND</a:t>
            </a:r>
            <a:r>
              <a:rPr lang="en-US" sz="2400" b="1" spc="-5" dirty="0">
                <a:solidFill>
                  <a:srgbClr val="231F20"/>
                </a:solidFill>
                <a:latin typeface="Tahoma"/>
                <a:ea typeface="Tahoma"/>
                <a:cs typeface="Tahoma"/>
              </a:rPr>
              <a:t>: </a:t>
            </a:r>
            <a:r>
              <a:rPr lang="en-US" sz="2400" spc="-5" dirty="0">
                <a:solidFill>
                  <a:srgbClr val="231F20"/>
                </a:solidFill>
                <a:latin typeface="Tahoma"/>
                <a:ea typeface="Tahoma"/>
                <a:cs typeface="Tahoma"/>
              </a:rPr>
              <a:t>The lower bound at a node is the value of the objective function corresponding to the truncated values (integer parts) of the decision variables of the problem in that node. </a:t>
            </a:r>
            <a:r>
              <a:rPr lang="en-US" sz="2400" b="1" spc="-5" dirty="0">
                <a:solidFill>
                  <a:srgbClr val="FF0000"/>
                </a:solidFill>
                <a:latin typeface="Tahoma"/>
                <a:ea typeface="Tahoma"/>
                <a:cs typeface="Tahoma"/>
              </a:rPr>
              <a:t>Z</a:t>
            </a:r>
            <a:r>
              <a:rPr lang="en-US" sz="2600" b="1" spc="-5" baseline="-25000" dirty="0">
                <a:solidFill>
                  <a:srgbClr val="FF0000"/>
                </a:solidFill>
                <a:latin typeface="Tahoma"/>
                <a:ea typeface="Tahoma"/>
                <a:cs typeface="Tahoma"/>
              </a:rPr>
              <a:t>L</a:t>
            </a:r>
            <a:r>
              <a:rPr lang="en-US" sz="2400" b="1" spc="-5" dirty="0">
                <a:solidFill>
                  <a:srgbClr val="0070C0"/>
                </a:solidFill>
                <a:latin typeface="Tahoma"/>
                <a:ea typeface="Tahoma"/>
                <a:cs typeface="Tahoma"/>
              </a:rPr>
              <a:t> = 10x4 + 20x2  =  </a:t>
            </a:r>
            <a:r>
              <a:rPr lang="en-US" sz="2400" b="1" spc="-5" dirty="0">
                <a:solidFill>
                  <a:srgbClr val="FF0000"/>
                </a:solidFill>
                <a:latin typeface="Tahoma"/>
                <a:ea typeface="Tahoma"/>
                <a:cs typeface="Tahoma"/>
              </a:rPr>
              <a:t>80</a:t>
            </a:r>
            <a:endParaRPr lang="en-US" sz="2700" b="1" spc="-5" dirty="0">
              <a:solidFill>
                <a:srgbClr val="FF0000"/>
              </a:solidFill>
              <a:latin typeface="Tahoma"/>
              <a:ea typeface="Tahoma"/>
              <a:cs typeface="Tahoma"/>
            </a:endParaRPr>
          </a:p>
        </p:txBody>
      </p:sp>
      <p:sp>
        <p:nvSpPr>
          <p:cNvPr id="4" name="Slide Number Placeholder 3">
            <a:extLst>
              <a:ext uri="{FF2B5EF4-FFF2-40B4-BE49-F238E27FC236}">
                <a16:creationId xmlns:a16="http://schemas.microsoft.com/office/drawing/2014/main" id="{206A7325-48E1-238E-7E80-A2053B029A30}"/>
              </a:ext>
            </a:extLst>
          </p:cNvPr>
          <p:cNvSpPr>
            <a:spLocks noGrp="1"/>
          </p:cNvSpPr>
          <p:nvPr>
            <p:ph type="sldNum" sz="quarter" idx="12"/>
          </p:nvPr>
        </p:nvSpPr>
        <p:spPr/>
        <p:txBody>
          <a:bodyPr/>
          <a:lstStyle/>
          <a:p>
            <a:fld id="{CBABCCC1-BF11-4F37-963E-1BCD5B23FD72}" type="slidenum">
              <a:rPr lang="en-IN" smtClean="0"/>
              <a:pPr/>
              <a:t>16</a:t>
            </a:fld>
            <a:endParaRPr lang="en-IN"/>
          </a:p>
        </p:txBody>
      </p:sp>
      <p:pic>
        <p:nvPicPr>
          <p:cNvPr id="10" name="object 4">
            <a:extLst>
              <a:ext uri="{FF2B5EF4-FFF2-40B4-BE49-F238E27FC236}">
                <a16:creationId xmlns:a16="http://schemas.microsoft.com/office/drawing/2014/main" id="{6DFB15C6-026D-DF5A-2D03-D411139B8EC6}"/>
              </a:ext>
            </a:extLst>
          </p:cNvPr>
          <p:cNvPicPr/>
          <p:nvPr/>
        </p:nvPicPr>
        <p:blipFill rotWithShape="1">
          <a:blip r:embed="rId2" cstate="print"/>
          <a:srcRect t="24471" r="21881"/>
          <a:stretch/>
        </p:blipFill>
        <p:spPr>
          <a:xfrm>
            <a:off x="9231611" y="4173452"/>
            <a:ext cx="2767729" cy="1883179"/>
          </a:xfrm>
          <a:prstGeom prst="rect">
            <a:avLst/>
          </a:prstGeom>
        </p:spPr>
      </p:pic>
      <p:sp>
        <p:nvSpPr>
          <p:cNvPr id="12" name="object 5">
            <a:extLst>
              <a:ext uri="{FF2B5EF4-FFF2-40B4-BE49-F238E27FC236}">
                <a16:creationId xmlns:a16="http://schemas.microsoft.com/office/drawing/2014/main" id="{AB18552E-78D5-B3B6-C046-BE779D3E32E8}"/>
              </a:ext>
            </a:extLst>
          </p:cNvPr>
          <p:cNvSpPr txBox="1"/>
          <p:nvPr/>
        </p:nvSpPr>
        <p:spPr>
          <a:xfrm>
            <a:off x="4143732" y="5022718"/>
            <a:ext cx="3507646" cy="969683"/>
          </a:xfrm>
          <a:prstGeom prst="rect">
            <a:avLst/>
          </a:prstGeom>
          <a:solidFill>
            <a:srgbClr val="4F81BD"/>
          </a:solidFill>
          <a:ln w="25400">
            <a:solidFill>
              <a:srgbClr val="365D8A"/>
            </a:solidFill>
          </a:ln>
        </p:spPr>
        <p:txBody>
          <a:bodyPr vert="horz" wrap="square" lIns="0" tIns="86285" rIns="0" bIns="0" rtlCol="0" anchor="t">
            <a:spAutoFit/>
          </a:bodyPr>
          <a:lstStyle/>
          <a:p>
            <a:pPr marL="80645">
              <a:spcBef>
                <a:spcPts val="679"/>
              </a:spcBef>
            </a:pPr>
            <a:r>
              <a:rPr sz="1400" dirty="0">
                <a:solidFill>
                  <a:srgbClr val="FFFFFF"/>
                </a:solidFill>
                <a:latin typeface="Tahoma"/>
                <a:cs typeface="Tahoma"/>
              </a:rPr>
              <a:t>Z</a:t>
            </a:r>
            <a:r>
              <a:rPr sz="1400" spc="-18" dirty="0">
                <a:solidFill>
                  <a:srgbClr val="FFFFFF"/>
                </a:solidFill>
                <a:latin typeface="Tahoma"/>
                <a:cs typeface="Tahoma"/>
              </a:rPr>
              <a:t> </a:t>
            </a:r>
            <a:r>
              <a:rPr sz="1400" spc="-4" dirty="0">
                <a:solidFill>
                  <a:srgbClr val="FFFFFF"/>
                </a:solidFill>
                <a:latin typeface="Tahoma"/>
                <a:cs typeface="Tahoma"/>
              </a:rPr>
              <a:t>(A)</a:t>
            </a:r>
            <a:r>
              <a:rPr sz="1400" spc="-9" dirty="0">
                <a:solidFill>
                  <a:srgbClr val="FFFFFF"/>
                </a:solidFill>
                <a:latin typeface="Tahoma"/>
                <a:cs typeface="Tahoma"/>
              </a:rPr>
              <a:t> </a:t>
            </a:r>
            <a:r>
              <a:rPr sz="1400" dirty="0">
                <a:solidFill>
                  <a:srgbClr val="FFFFFF"/>
                </a:solidFill>
                <a:latin typeface="Tahoma"/>
                <a:cs typeface="Tahoma"/>
              </a:rPr>
              <a:t>=</a:t>
            </a:r>
            <a:r>
              <a:rPr sz="1400" spc="4" dirty="0">
                <a:solidFill>
                  <a:srgbClr val="FFFFFF"/>
                </a:solidFill>
                <a:latin typeface="Tahoma"/>
                <a:cs typeface="Tahoma"/>
              </a:rPr>
              <a:t> </a:t>
            </a:r>
            <a:r>
              <a:rPr sz="1400" dirty="0">
                <a:solidFill>
                  <a:srgbClr val="FFFFFF"/>
                </a:solidFill>
                <a:latin typeface="Tahoma"/>
                <a:cs typeface="Tahoma"/>
              </a:rPr>
              <a:t>10</a:t>
            </a:r>
            <a:r>
              <a:rPr sz="1400" spc="-4" dirty="0">
                <a:solidFill>
                  <a:srgbClr val="FFFFFF"/>
                </a:solidFill>
                <a:latin typeface="Tahoma"/>
                <a:cs typeface="Tahoma"/>
              </a:rPr>
              <a:t> (0)</a:t>
            </a:r>
            <a:r>
              <a:rPr sz="1400" dirty="0">
                <a:solidFill>
                  <a:srgbClr val="FFFFFF"/>
                </a:solidFill>
                <a:latin typeface="Tahoma"/>
                <a:cs typeface="Tahoma"/>
              </a:rPr>
              <a:t> +</a:t>
            </a:r>
            <a:r>
              <a:rPr sz="1400" spc="-9" dirty="0">
                <a:solidFill>
                  <a:srgbClr val="FFFFFF"/>
                </a:solidFill>
                <a:latin typeface="Tahoma"/>
                <a:cs typeface="Tahoma"/>
              </a:rPr>
              <a:t> </a:t>
            </a:r>
            <a:r>
              <a:rPr sz="1400" dirty="0">
                <a:solidFill>
                  <a:srgbClr val="FFFFFF"/>
                </a:solidFill>
                <a:latin typeface="Tahoma"/>
                <a:cs typeface="Tahoma"/>
              </a:rPr>
              <a:t>20</a:t>
            </a:r>
            <a:r>
              <a:rPr sz="1400" spc="-4" dirty="0">
                <a:solidFill>
                  <a:srgbClr val="FFFFFF"/>
                </a:solidFill>
                <a:latin typeface="Tahoma"/>
                <a:cs typeface="Tahoma"/>
              </a:rPr>
              <a:t> (0)</a:t>
            </a:r>
            <a:r>
              <a:rPr sz="1400" dirty="0">
                <a:solidFill>
                  <a:srgbClr val="FFFFFF"/>
                </a:solidFill>
                <a:latin typeface="Tahoma"/>
                <a:cs typeface="Tahoma"/>
              </a:rPr>
              <a:t> =</a:t>
            </a:r>
            <a:r>
              <a:rPr sz="1400" spc="-9" dirty="0">
                <a:solidFill>
                  <a:srgbClr val="FFFFFF"/>
                </a:solidFill>
                <a:latin typeface="Tahoma"/>
                <a:cs typeface="Tahoma"/>
              </a:rPr>
              <a:t> </a:t>
            </a:r>
            <a:r>
              <a:rPr sz="1400" dirty="0">
                <a:solidFill>
                  <a:srgbClr val="FFFFFF"/>
                </a:solidFill>
                <a:latin typeface="Tahoma"/>
                <a:cs typeface="Tahoma"/>
              </a:rPr>
              <a:t>0</a:t>
            </a:r>
            <a:endParaRPr lang="en-US" sz="1400" dirty="0">
              <a:latin typeface="Tahoma"/>
              <a:ea typeface="Tahoma"/>
              <a:cs typeface="Tahoma"/>
            </a:endParaRPr>
          </a:p>
          <a:p>
            <a:pPr marL="80645"/>
            <a:r>
              <a:rPr sz="1400" spc="-4" dirty="0">
                <a:solidFill>
                  <a:srgbClr val="FFFFFF"/>
                </a:solidFill>
                <a:latin typeface="Tahoma"/>
                <a:cs typeface="Tahoma"/>
              </a:rPr>
              <a:t>Z(B)</a:t>
            </a:r>
            <a:r>
              <a:rPr sz="1400" spc="-13" dirty="0">
                <a:solidFill>
                  <a:srgbClr val="FFFFFF"/>
                </a:solidFill>
                <a:latin typeface="Tahoma"/>
                <a:cs typeface="Tahoma"/>
              </a:rPr>
              <a:t> </a:t>
            </a:r>
            <a:r>
              <a:rPr sz="1400" dirty="0">
                <a:solidFill>
                  <a:srgbClr val="FFFFFF"/>
                </a:solidFill>
                <a:latin typeface="Tahoma"/>
                <a:cs typeface="Tahoma"/>
              </a:rPr>
              <a:t>=</a:t>
            </a:r>
            <a:r>
              <a:rPr sz="1400" spc="4" dirty="0">
                <a:solidFill>
                  <a:srgbClr val="FFFFFF"/>
                </a:solidFill>
                <a:latin typeface="Tahoma"/>
                <a:cs typeface="Tahoma"/>
              </a:rPr>
              <a:t> </a:t>
            </a:r>
            <a:r>
              <a:rPr sz="1400" dirty="0">
                <a:solidFill>
                  <a:srgbClr val="FFFFFF"/>
                </a:solidFill>
                <a:latin typeface="Tahoma"/>
                <a:cs typeface="Tahoma"/>
              </a:rPr>
              <a:t>10</a:t>
            </a:r>
            <a:r>
              <a:rPr sz="1400" spc="-4" dirty="0">
                <a:solidFill>
                  <a:srgbClr val="FFFFFF"/>
                </a:solidFill>
                <a:latin typeface="Tahoma"/>
                <a:cs typeface="Tahoma"/>
              </a:rPr>
              <a:t> (8)</a:t>
            </a:r>
            <a:r>
              <a:rPr sz="1400" dirty="0">
                <a:solidFill>
                  <a:srgbClr val="FFFFFF"/>
                </a:solidFill>
                <a:latin typeface="Tahoma"/>
                <a:cs typeface="Tahoma"/>
              </a:rPr>
              <a:t> +</a:t>
            </a:r>
            <a:r>
              <a:rPr sz="1400" spc="-9" dirty="0">
                <a:solidFill>
                  <a:srgbClr val="FFFFFF"/>
                </a:solidFill>
                <a:latin typeface="Tahoma"/>
                <a:cs typeface="Tahoma"/>
              </a:rPr>
              <a:t> </a:t>
            </a:r>
            <a:r>
              <a:rPr sz="1400" dirty="0">
                <a:solidFill>
                  <a:srgbClr val="FFFFFF"/>
                </a:solidFill>
                <a:latin typeface="Tahoma"/>
                <a:cs typeface="Tahoma"/>
              </a:rPr>
              <a:t>+</a:t>
            </a:r>
            <a:r>
              <a:rPr sz="1400" spc="-9" dirty="0">
                <a:solidFill>
                  <a:srgbClr val="FFFFFF"/>
                </a:solidFill>
                <a:latin typeface="Tahoma"/>
                <a:cs typeface="Tahoma"/>
              </a:rPr>
              <a:t> </a:t>
            </a:r>
            <a:r>
              <a:rPr sz="1400" dirty="0">
                <a:solidFill>
                  <a:srgbClr val="FFFFFF"/>
                </a:solidFill>
                <a:latin typeface="Tahoma"/>
                <a:cs typeface="Tahoma"/>
              </a:rPr>
              <a:t>20</a:t>
            </a:r>
            <a:r>
              <a:rPr sz="1400" spc="4" dirty="0">
                <a:solidFill>
                  <a:srgbClr val="FFFFFF"/>
                </a:solidFill>
                <a:latin typeface="Tahoma"/>
                <a:cs typeface="Tahoma"/>
              </a:rPr>
              <a:t> </a:t>
            </a:r>
            <a:r>
              <a:rPr sz="1400" spc="-4" dirty="0">
                <a:solidFill>
                  <a:srgbClr val="FFFFFF"/>
                </a:solidFill>
                <a:latin typeface="Tahoma"/>
                <a:cs typeface="Tahoma"/>
              </a:rPr>
              <a:t>(0)</a:t>
            </a:r>
            <a:r>
              <a:rPr sz="1400" dirty="0">
                <a:solidFill>
                  <a:srgbClr val="FFFFFF"/>
                </a:solidFill>
                <a:latin typeface="Tahoma"/>
                <a:cs typeface="Tahoma"/>
              </a:rPr>
              <a:t> =</a:t>
            </a:r>
            <a:r>
              <a:rPr sz="1400" spc="-4" dirty="0">
                <a:solidFill>
                  <a:srgbClr val="FFFFFF"/>
                </a:solidFill>
                <a:latin typeface="Tahoma"/>
                <a:cs typeface="Tahoma"/>
              </a:rPr>
              <a:t> </a:t>
            </a:r>
            <a:r>
              <a:rPr sz="1400" dirty="0">
                <a:solidFill>
                  <a:srgbClr val="FFFFFF"/>
                </a:solidFill>
                <a:latin typeface="Tahoma"/>
                <a:cs typeface="Tahoma"/>
              </a:rPr>
              <a:t>80</a:t>
            </a:r>
            <a:endParaRPr sz="1400" dirty="0">
              <a:latin typeface="Tahoma"/>
              <a:ea typeface="Tahoma"/>
              <a:cs typeface="Tahoma"/>
            </a:endParaRPr>
          </a:p>
          <a:p>
            <a:pPr marL="80645"/>
            <a:r>
              <a:rPr sz="1400" b="1" spc="-4" dirty="0">
                <a:solidFill>
                  <a:srgbClr val="F6EB00"/>
                </a:solidFill>
                <a:latin typeface="Tahoma"/>
                <a:cs typeface="Tahoma"/>
              </a:rPr>
              <a:t>Z(C)</a:t>
            </a:r>
            <a:r>
              <a:rPr sz="1400" b="1" spc="-26" dirty="0">
                <a:solidFill>
                  <a:srgbClr val="F6EB00"/>
                </a:solidFill>
                <a:latin typeface="Tahoma"/>
                <a:cs typeface="Tahoma"/>
              </a:rPr>
              <a:t> </a:t>
            </a:r>
            <a:r>
              <a:rPr sz="1400" b="1" dirty="0">
                <a:solidFill>
                  <a:srgbClr val="F6EB00"/>
                </a:solidFill>
                <a:latin typeface="Tahoma"/>
                <a:cs typeface="Tahoma"/>
              </a:rPr>
              <a:t>=</a:t>
            </a:r>
            <a:r>
              <a:rPr sz="1400" b="1" spc="-4" dirty="0">
                <a:solidFill>
                  <a:srgbClr val="F6EB00"/>
                </a:solidFill>
                <a:latin typeface="Tahoma"/>
                <a:cs typeface="Tahoma"/>
              </a:rPr>
              <a:t> </a:t>
            </a:r>
            <a:r>
              <a:rPr sz="1400" b="1" dirty="0">
                <a:solidFill>
                  <a:srgbClr val="F6EB00"/>
                </a:solidFill>
                <a:latin typeface="Tahoma"/>
                <a:cs typeface="Tahoma"/>
              </a:rPr>
              <a:t>10</a:t>
            </a:r>
            <a:r>
              <a:rPr sz="1400" b="1" spc="-13" dirty="0">
                <a:solidFill>
                  <a:srgbClr val="F6EB00"/>
                </a:solidFill>
                <a:latin typeface="Tahoma"/>
                <a:cs typeface="Tahoma"/>
              </a:rPr>
              <a:t> </a:t>
            </a:r>
            <a:r>
              <a:rPr sz="1400" b="1" dirty="0">
                <a:solidFill>
                  <a:srgbClr val="F6EB00"/>
                </a:solidFill>
                <a:latin typeface="Tahoma"/>
                <a:cs typeface="Tahoma"/>
              </a:rPr>
              <a:t>(24/5)</a:t>
            </a:r>
            <a:r>
              <a:rPr sz="1400" b="1" spc="-31" dirty="0">
                <a:solidFill>
                  <a:srgbClr val="F6EB00"/>
                </a:solidFill>
                <a:latin typeface="Tahoma"/>
                <a:cs typeface="Tahoma"/>
              </a:rPr>
              <a:t> </a:t>
            </a:r>
            <a:r>
              <a:rPr sz="1400" b="1" dirty="0">
                <a:solidFill>
                  <a:srgbClr val="F6EB00"/>
                </a:solidFill>
                <a:latin typeface="Tahoma"/>
                <a:cs typeface="Tahoma"/>
              </a:rPr>
              <a:t>+</a:t>
            </a:r>
            <a:r>
              <a:rPr sz="1400" b="1" spc="-9" dirty="0">
                <a:solidFill>
                  <a:srgbClr val="F6EB00"/>
                </a:solidFill>
                <a:latin typeface="Tahoma"/>
                <a:cs typeface="Tahoma"/>
              </a:rPr>
              <a:t> </a:t>
            </a:r>
            <a:r>
              <a:rPr sz="1400" b="1" dirty="0">
                <a:solidFill>
                  <a:srgbClr val="F6EB00"/>
                </a:solidFill>
                <a:latin typeface="Tahoma"/>
                <a:cs typeface="Tahoma"/>
              </a:rPr>
              <a:t>+</a:t>
            </a:r>
            <a:r>
              <a:rPr sz="1400" b="1" spc="-18" dirty="0">
                <a:solidFill>
                  <a:srgbClr val="F6EB00"/>
                </a:solidFill>
                <a:latin typeface="Tahoma"/>
                <a:cs typeface="Tahoma"/>
              </a:rPr>
              <a:t> </a:t>
            </a:r>
            <a:r>
              <a:rPr sz="1400" b="1" dirty="0">
                <a:solidFill>
                  <a:srgbClr val="F6EB00"/>
                </a:solidFill>
                <a:latin typeface="Tahoma"/>
                <a:cs typeface="Tahoma"/>
              </a:rPr>
              <a:t>20 (12/5)</a:t>
            </a:r>
            <a:r>
              <a:rPr sz="1400" b="1" spc="-26" dirty="0">
                <a:solidFill>
                  <a:srgbClr val="F6EB00"/>
                </a:solidFill>
                <a:latin typeface="Tahoma"/>
                <a:cs typeface="Tahoma"/>
              </a:rPr>
              <a:t> </a:t>
            </a:r>
            <a:r>
              <a:rPr sz="1400" b="1" dirty="0">
                <a:solidFill>
                  <a:srgbClr val="F6EB00"/>
                </a:solidFill>
                <a:latin typeface="Tahoma"/>
                <a:cs typeface="Tahoma"/>
              </a:rPr>
              <a:t>=</a:t>
            </a:r>
            <a:r>
              <a:rPr sz="1400" b="1" spc="-9" dirty="0">
                <a:solidFill>
                  <a:srgbClr val="F6EB00"/>
                </a:solidFill>
                <a:latin typeface="Tahoma"/>
                <a:cs typeface="Tahoma"/>
              </a:rPr>
              <a:t> </a:t>
            </a:r>
            <a:r>
              <a:rPr sz="1400" b="1" dirty="0">
                <a:solidFill>
                  <a:srgbClr val="F6EB00"/>
                </a:solidFill>
                <a:latin typeface="Tahoma"/>
                <a:cs typeface="Tahoma"/>
              </a:rPr>
              <a:t>96</a:t>
            </a:r>
            <a:endParaRPr sz="1400">
              <a:latin typeface="Tahoma"/>
              <a:ea typeface="Tahoma"/>
              <a:cs typeface="Tahoma"/>
            </a:endParaRPr>
          </a:p>
          <a:p>
            <a:pPr marL="80645"/>
            <a:r>
              <a:rPr sz="1400" spc="-4" dirty="0">
                <a:solidFill>
                  <a:srgbClr val="FFFFFF"/>
                </a:solidFill>
                <a:latin typeface="Tahoma"/>
                <a:cs typeface="Tahoma"/>
              </a:rPr>
              <a:t>Z</a:t>
            </a:r>
            <a:r>
              <a:rPr lang="en-US" sz="1400" spc="-4" dirty="0">
                <a:solidFill>
                  <a:srgbClr val="FFFFFF"/>
                </a:solidFill>
                <a:latin typeface="Tahoma"/>
                <a:cs typeface="Tahoma"/>
              </a:rPr>
              <a:t>(D)</a:t>
            </a:r>
            <a:r>
              <a:rPr sz="1400" spc="-13" dirty="0">
                <a:solidFill>
                  <a:srgbClr val="FFFFFF"/>
                </a:solidFill>
                <a:latin typeface="Tahoma"/>
                <a:cs typeface="Tahoma"/>
              </a:rPr>
              <a:t> </a:t>
            </a:r>
            <a:r>
              <a:rPr sz="1400" dirty="0">
                <a:solidFill>
                  <a:srgbClr val="FFFFFF"/>
                </a:solidFill>
                <a:latin typeface="Tahoma"/>
                <a:cs typeface="Tahoma"/>
              </a:rPr>
              <a:t>=</a:t>
            </a:r>
            <a:r>
              <a:rPr sz="1400" spc="4" dirty="0">
                <a:solidFill>
                  <a:srgbClr val="FFFFFF"/>
                </a:solidFill>
                <a:latin typeface="Tahoma"/>
                <a:cs typeface="Tahoma"/>
              </a:rPr>
              <a:t> </a:t>
            </a:r>
            <a:r>
              <a:rPr sz="1400" dirty="0">
                <a:solidFill>
                  <a:srgbClr val="FFFFFF"/>
                </a:solidFill>
                <a:latin typeface="Tahoma"/>
                <a:cs typeface="Tahoma"/>
              </a:rPr>
              <a:t>10</a:t>
            </a:r>
            <a:r>
              <a:rPr sz="1400" spc="-4" dirty="0">
                <a:solidFill>
                  <a:srgbClr val="FFFFFF"/>
                </a:solidFill>
                <a:latin typeface="Tahoma"/>
                <a:cs typeface="Tahoma"/>
              </a:rPr>
              <a:t> (0)</a:t>
            </a:r>
            <a:r>
              <a:rPr sz="1400" dirty="0">
                <a:solidFill>
                  <a:srgbClr val="FFFFFF"/>
                </a:solidFill>
                <a:latin typeface="Tahoma"/>
                <a:cs typeface="Tahoma"/>
              </a:rPr>
              <a:t> +</a:t>
            </a:r>
            <a:r>
              <a:rPr sz="1400" spc="-9" dirty="0">
                <a:solidFill>
                  <a:srgbClr val="FFFFFF"/>
                </a:solidFill>
                <a:latin typeface="Tahoma"/>
                <a:cs typeface="Tahoma"/>
              </a:rPr>
              <a:t> </a:t>
            </a:r>
            <a:r>
              <a:rPr sz="1400" dirty="0">
                <a:solidFill>
                  <a:srgbClr val="FFFFFF"/>
                </a:solidFill>
                <a:latin typeface="Tahoma"/>
                <a:cs typeface="Tahoma"/>
              </a:rPr>
              <a:t>+</a:t>
            </a:r>
            <a:r>
              <a:rPr sz="1400" spc="-9" dirty="0">
                <a:solidFill>
                  <a:srgbClr val="FFFFFF"/>
                </a:solidFill>
                <a:latin typeface="Tahoma"/>
                <a:cs typeface="Tahoma"/>
              </a:rPr>
              <a:t> </a:t>
            </a:r>
            <a:r>
              <a:rPr sz="1400" dirty="0">
                <a:solidFill>
                  <a:srgbClr val="FFFFFF"/>
                </a:solidFill>
                <a:latin typeface="Tahoma"/>
                <a:cs typeface="Tahoma"/>
              </a:rPr>
              <a:t>20</a:t>
            </a:r>
            <a:r>
              <a:rPr sz="1400" spc="4" dirty="0">
                <a:solidFill>
                  <a:srgbClr val="FFFFFF"/>
                </a:solidFill>
                <a:latin typeface="Tahoma"/>
                <a:cs typeface="Tahoma"/>
              </a:rPr>
              <a:t> </a:t>
            </a:r>
            <a:r>
              <a:rPr sz="1400" spc="-4" dirty="0">
                <a:solidFill>
                  <a:srgbClr val="FFFFFF"/>
                </a:solidFill>
                <a:latin typeface="Tahoma"/>
                <a:cs typeface="Tahoma"/>
              </a:rPr>
              <a:t>(4)</a:t>
            </a:r>
            <a:r>
              <a:rPr sz="1400" dirty="0">
                <a:solidFill>
                  <a:srgbClr val="FFFFFF"/>
                </a:solidFill>
                <a:latin typeface="Tahoma"/>
                <a:cs typeface="Tahoma"/>
              </a:rPr>
              <a:t> =</a:t>
            </a:r>
            <a:r>
              <a:rPr sz="1400" spc="-4" dirty="0">
                <a:solidFill>
                  <a:srgbClr val="FFFFFF"/>
                </a:solidFill>
                <a:latin typeface="Tahoma"/>
                <a:cs typeface="Tahoma"/>
              </a:rPr>
              <a:t> </a:t>
            </a:r>
            <a:r>
              <a:rPr sz="1400" dirty="0">
                <a:solidFill>
                  <a:srgbClr val="FFFFFF"/>
                </a:solidFill>
                <a:latin typeface="Tahoma"/>
                <a:cs typeface="Tahoma"/>
              </a:rPr>
              <a:t>80</a:t>
            </a:r>
            <a:endParaRPr sz="1400" dirty="0">
              <a:latin typeface="Tahoma"/>
              <a:ea typeface="Tahoma"/>
              <a:cs typeface="Tahoma"/>
            </a:endParaRPr>
          </a:p>
        </p:txBody>
      </p:sp>
      <p:sp>
        <p:nvSpPr>
          <p:cNvPr id="16" name="object 3">
            <a:extLst>
              <a:ext uri="{FF2B5EF4-FFF2-40B4-BE49-F238E27FC236}">
                <a16:creationId xmlns:a16="http://schemas.microsoft.com/office/drawing/2014/main" id="{74DC8D6F-1C8B-B602-5FDF-A72549C0E711}"/>
              </a:ext>
            </a:extLst>
          </p:cNvPr>
          <p:cNvSpPr txBox="1"/>
          <p:nvPr/>
        </p:nvSpPr>
        <p:spPr>
          <a:xfrm>
            <a:off x="359931" y="4787191"/>
            <a:ext cx="2972832" cy="1088533"/>
          </a:xfrm>
          <a:prstGeom prst="rect">
            <a:avLst/>
          </a:prstGeom>
        </p:spPr>
        <p:txBody>
          <a:bodyPr vert="horz" wrap="square" lIns="0" tIns="11206" rIns="0" bIns="0" rtlCol="0" anchor="t">
            <a:spAutoFit/>
          </a:bodyPr>
          <a:lstStyle/>
          <a:p>
            <a:pPr marL="10795">
              <a:spcBef>
                <a:spcPts val="88"/>
              </a:spcBef>
            </a:pPr>
            <a:r>
              <a:rPr lang="en-US" sz="1400" spc="-4" dirty="0">
                <a:solidFill>
                  <a:srgbClr val="231F20"/>
                </a:solidFill>
                <a:latin typeface="Tahoma"/>
                <a:cs typeface="Tahoma"/>
              </a:rPr>
              <a:t>Max.</a:t>
            </a:r>
            <a:r>
              <a:rPr lang="en-US" sz="1400" spc="-22" dirty="0">
                <a:solidFill>
                  <a:srgbClr val="231F20"/>
                </a:solidFill>
                <a:latin typeface="Tahoma"/>
                <a:cs typeface="Tahoma"/>
              </a:rPr>
              <a:t> </a:t>
            </a:r>
            <a:r>
              <a:rPr lang="en-US" sz="1400" b="1" dirty="0">
                <a:solidFill>
                  <a:srgbClr val="0070C0"/>
                </a:solidFill>
                <a:latin typeface="Tahoma"/>
                <a:cs typeface="Tahoma"/>
              </a:rPr>
              <a:t>Z</a:t>
            </a:r>
            <a:r>
              <a:rPr lang="en-US" sz="1400" b="1" spc="-13" dirty="0">
                <a:solidFill>
                  <a:srgbClr val="0070C0"/>
                </a:solidFill>
                <a:latin typeface="Tahoma"/>
                <a:cs typeface="Tahoma"/>
              </a:rPr>
              <a:t> </a:t>
            </a:r>
            <a:r>
              <a:rPr lang="en-US" sz="1400" b="1" dirty="0">
                <a:solidFill>
                  <a:srgbClr val="0070C0"/>
                </a:solidFill>
                <a:latin typeface="Tahoma"/>
                <a:cs typeface="Tahoma"/>
              </a:rPr>
              <a:t>= </a:t>
            </a:r>
            <a:r>
              <a:rPr lang="en-US" sz="1400" b="1" spc="-4" dirty="0">
                <a:solidFill>
                  <a:srgbClr val="0070C0"/>
                </a:solidFill>
                <a:latin typeface="Tahoma"/>
                <a:cs typeface="Tahoma"/>
              </a:rPr>
              <a:t>10X1 </a:t>
            </a:r>
            <a:r>
              <a:rPr lang="en-US" sz="1400" b="1" dirty="0">
                <a:solidFill>
                  <a:srgbClr val="0070C0"/>
                </a:solidFill>
                <a:latin typeface="Tahoma"/>
                <a:cs typeface="Tahoma"/>
              </a:rPr>
              <a:t>+</a:t>
            </a:r>
            <a:r>
              <a:rPr lang="en-US" sz="1400" b="1" spc="-9" dirty="0">
                <a:solidFill>
                  <a:srgbClr val="0070C0"/>
                </a:solidFill>
                <a:latin typeface="Tahoma"/>
                <a:cs typeface="Tahoma"/>
              </a:rPr>
              <a:t> </a:t>
            </a:r>
            <a:r>
              <a:rPr lang="en-US" sz="1400" b="1" spc="-4" dirty="0">
                <a:solidFill>
                  <a:srgbClr val="0070C0"/>
                </a:solidFill>
                <a:latin typeface="Tahoma"/>
                <a:cs typeface="Tahoma"/>
              </a:rPr>
              <a:t>20X2</a:t>
            </a:r>
            <a:endParaRPr lang="en-US" sz="1400" b="1">
              <a:solidFill>
                <a:srgbClr val="0070C0"/>
              </a:solidFill>
              <a:latin typeface="Tahoma"/>
              <a:ea typeface="Tahoma"/>
              <a:cs typeface="Tahoma"/>
            </a:endParaRPr>
          </a:p>
          <a:p>
            <a:pPr marL="10795"/>
            <a:r>
              <a:rPr lang="en-US" sz="1400" spc="-4" dirty="0">
                <a:solidFill>
                  <a:srgbClr val="231F20"/>
                </a:solidFill>
                <a:latin typeface="Tahoma"/>
                <a:cs typeface="Tahoma"/>
              </a:rPr>
              <a:t>Subject</a:t>
            </a:r>
            <a:r>
              <a:rPr lang="en-US" sz="1400" spc="-44" dirty="0">
                <a:solidFill>
                  <a:srgbClr val="231F20"/>
                </a:solidFill>
                <a:latin typeface="Tahoma"/>
                <a:cs typeface="Tahoma"/>
              </a:rPr>
              <a:t> </a:t>
            </a:r>
            <a:r>
              <a:rPr lang="en-US" sz="1400" dirty="0">
                <a:solidFill>
                  <a:srgbClr val="231F20"/>
                </a:solidFill>
                <a:latin typeface="Tahoma"/>
                <a:cs typeface="Tahoma"/>
              </a:rPr>
              <a:t>to:</a:t>
            </a:r>
            <a:endParaRPr lang="en-US" sz="1400">
              <a:latin typeface="Tahoma"/>
              <a:ea typeface="Tahoma"/>
              <a:cs typeface="Tahoma"/>
            </a:endParaRPr>
          </a:p>
          <a:p>
            <a:pPr marL="817880" marR="117475"/>
            <a:r>
              <a:rPr lang="en-US" sz="1400" spc="-4" dirty="0">
                <a:solidFill>
                  <a:srgbClr val="231F20"/>
                </a:solidFill>
                <a:latin typeface="Tahoma"/>
                <a:cs typeface="Tahoma"/>
              </a:rPr>
              <a:t>6X1</a:t>
            </a:r>
            <a:r>
              <a:rPr lang="en-US" sz="1400" spc="-26" dirty="0">
                <a:solidFill>
                  <a:srgbClr val="231F20"/>
                </a:solidFill>
                <a:latin typeface="Tahoma"/>
                <a:cs typeface="Tahoma"/>
              </a:rPr>
              <a:t> </a:t>
            </a:r>
            <a:r>
              <a:rPr lang="en-US" sz="1400" dirty="0">
                <a:solidFill>
                  <a:srgbClr val="231F20"/>
                </a:solidFill>
                <a:latin typeface="Tahoma"/>
                <a:cs typeface="Tahoma"/>
              </a:rPr>
              <a:t>+</a:t>
            </a:r>
            <a:r>
              <a:rPr lang="en-US" sz="1400" spc="-18" dirty="0">
                <a:solidFill>
                  <a:srgbClr val="231F20"/>
                </a:solidFill>
                <a:latin typeface="Tahoma"/>
                <a:cs typeface="Tahoma"/>
              </a:rPr>
              <a:t> </a:t>
            </a:r>
            <a:r>
              <a:rPr lang="en-US" sz="1400" spc="-4" dirty="0">
                <a:solidFill>
                  <a:srgbClr val="231F20"/>
                </a:solidFill>
                <a:latin typeface="Tahoma"/>
                <a:cs typeface="Tahoma"/>
              </a:rPr>
              <a:t>8X2</a:t>
            </a:r>
            <a:r>
              <a:rPr lang="en-US" sz="1400" spc="-22" dirty="0">
                <a:solidFill>
                  <a:srgbClr val="231F20"/>
                </a:solidFill>
                <a:latin typeface="Tahoma"/>
                <a:cs typeface="Tahoma"/>
              </a:rPr>
              <a:t> </a:t>
            </a:r>
            <a:r>
              <a:rPr lang="en-US" sz="1400" dirty="0">
                <a:solidFill>
                  <a:srgbClr val="231F20"/>
                </a:solidFill>
                <a:latin typeface="Tahoma"/>
                <a:cs typeface="Tahoma"/>
              </a:rPr>
              <a:t>≤</a:t>
            </a:r>
            <a:r>
              <a:rPr lang="en-US" sz="1400" spc="-18" dirty="0">
                <a:solidFill>
                  <a:srgbClr val="231F20"/>
                </a:solidFill>
                <a:latin typeface="Tahoma"/>
                <a:cs typeface="Tahoma"/>
              </a:rPr>
              <a:t> </a:t>
            </a:r>
            <a:r>
              <a:rPr lang="en-US" sz="1400" spc="-4" dirty="0">
                <a:solidFill>
                  <a:srgbClr val="231F20"/>
                </a:solidFill>
                <a:latin typeface="Tahoma"/>
                <a:cs typeface="Tahoma"/>
              </a:rPr>
              <a:t>48</a:t>
            </a:r>
            <a:endParaRPr lang="en-US" sz="1400">
              <a:solidFill>
                <a:srgbClr val="000000"/>
              </a:solidFill>
              <a:latin typeface="Tahoma"/>
              <a:ea typeface="Tahoma"/>
              <a:cs typeface="Tahoma"/>
            </a:endParaRPr>
          </a:p>
          <a:p>
            <a:pPr marL="817880" marR="117475"/>
            <a:r>
              <a:rPr lang="en-US" sz="1400" spc="-649" dirty="0">
                <a:solidFill>
                  <a:srgbClr val="231F20"/>
                </a:solidFill>
                <a:latin typeface="Tahoma"/>
                <a:cs typeface="Tahoma"/>
              </a:rPr>
              <a:t>    </a:t>
            </a:r>
            <a:r>
              <a:rPr lang="en-US" sz="1400" dirty="0">
                <a:solidFill>
                  <a:srgbClr val="231F20"/>
                </a:solidFill>
                <a:latin typeface="Tahoma"/>
                <a:cs typeface="Tahoma"/>
              </a:rPr>
              <a:t>X1</a:t>
            </a:r>
            <a:r>
              <a:rPr lang="en-US" sz="1400" spc="-35" dirty="0">
                <a:solidFill>
                  <a:srgbClr val="231F20"/>
                </a:solidFill>
                <a:latin typeface="Tahoma"/>
                <a:cs typeface="Tahoma"/>
              </a:rPr>
              <a:t>  </a:t>
            </a:r>
            <a:r>
              <a:rPr lang="en-US" sz="1400" dirty="0">
                <a:solidFill>
                  <a:srgbClr val="231F20"/>
                </a:solidFill>
                <a:latin typeface="Tahoma"/>
                <a:cs typeface="Tahoma"/>
              </a:rPr>
              <a:t>+</a:t>
            </a:r>
            <a:r>
              <a:rPr lang="en-US" sz="1400" spc="-4" dirty="0">
                <a:solidFill>
                  <a:srgbClr val="231F20"/>
                </a:solidFill>
                <a:latin typeface="Tahoma"/>
                <a:cs typeface="Tahoma"/>
              </a:rPr>
              <a:t> 3X2</a:t>
            </a:r>
            <a:r>
              <a:rPr lang="en-US" sz="1400" spc="-18" dirty="0">
                <a:solidFill>
                  <a:srgbClr val="231F20"/>
                </a:solidFill>
                <a:latin typeface="Tahoma"/>
                <a:cs typeface="Tahoma"/>
              </a:rPr>
              <a:t> </a:t>
            </a:r>
            <a:r>
              <a:rPr lang="en-US" sz="1400" dirty="0">
                <a:solidFill>
                  <a:srgbClr val="231F20"/>
                </a:solidFill>
                <a:latin typeface="Tahoma"/>
                <a:cs typeface="Tahoma"/>
              </a:rPr>
              <a:t>≤</a:t>
            </a:r>
            <a:r>
              <a:rPr lang="en-US" sz="1400" spc="-13" dirty="0">
                <a:solidFill>
                  <a:srgbClr val="231F20"/>
                </a:solidFill>
                <a:latin typeface="Tahoma"/>
                <a:cs typeface="Tahoma"/>
              </a:rPr>
              <a:t> </a:t>
            </a:r>
            <a:r>
              <a:rPr lang="en-US" sz="1400" spc="-4" dirty="0">
                <a:solidFill>
                  <a:srgbClr val="231F20"/>
                </a:solidFill>
                <a:latin typeface="Tahoma"/>
                <a:cs typeface="Tahoma"/>
              </a:rPr>
              <a:t>12</a:t>
            </a:r>
            <a:endParaRPr lang="en-US" sz="1400">
              <a:latin typeface="Tahoma"/>
              <a:ea typeface="Tahoma"/>
              <a:cs typeface="Tahoma"/>
            </a:endParaRPr>
          </a:p>
          <a:p>
            <a:pPr marL="10795">
              <a:spcBef>
                <a:spcPts val="4"/>
              </a:spcBef>
            </a:pPr>
            <a:r>
              <a:rPr lang="en-US" sz="1400" spc="-4" dirty="0">
                <a:solidFill>
                  <a:srgbClr val="231F20"/>
                </a:solidFill>
                <a:latin typeface="Tahoma"/>
                <a:cs typeface="Tahoma"/>
              </a:rPr>
              <a:t>X1,</a:t>
            </a:r>
            <a:r>
              <a:rPr lang="en-US" sz="1400" spc="-22" dirty="0">
                <a:solidFill>
                  <a:srgbClr val="231F20"/>
                </a:solidFill>
                <a:latin typeface="Tahoma"/>
                <a:cs typeface="Tahoma"/>
              </a:rPr>
              <a:t> </a:t>
            </a:r>
            <a:r>
              <a:rPr lang="en-US" sz="1400" spc="-4" dirty="0">
                <a:solidFill>
                  <a:srgbClr val="231F20"/>
                </a:solidFill>
                <a:latin typeface="Tahoma"/>
                <a:cs typeface="Tahoma"/>
              </a:rPr>
              <a:t>X2</a:t>
            </a:r>
            <a:r>
              <a:rPr lang="en-US" sz="1400" spc="-22" dirty="0">
                <a:solidFill>
                  <a:srgbClr val="231F20"/>
                </a:solidFill>
                <a:latin typeface="Tahoma"/>
                <a:cs typeface="Tahoma"/>
              </a:rPr>
              <a:t> </a:t>
            </a:r>
            <a:r>
              <a:rPr lang="en-US" sz="1400" dirty="0">
                <a:solidFill>
                  <a:srgbClr val="231F20"/>
                </a:solidFill>
                <a:latin typeface="Tahoma"/>
                <a:cs typeface="Tahoma"/>
              </a:rPr>
              <a:t>≥ 0</a:t>
            </a:r>
            <a:r>
              <a:rPr lang="en-US" sz="1400" spc="-9" dirty="0">
                <a:solidFill>
                  <a:srgbClr val="231F20"/>
                </a:solidFill>
                <a:latin typeface="Tahoma"/>
                <a:cs typeface="Tahoma"/>
              </a:rPr>
              <a:t> </a:t>
            </a:r>
            <a:r>
              <a:rPr lang="en-US" sz="1400" dirty="0">
                <a:solidFill>
                  <a:srgbClr val="231F20"/>
                </a:solidFill>
                <a:latin typeface="Tahoma"/>
                <a:cs typeface="Tahoma"/>
              </a:rPr>
              <a:t>and</a:t>
            </a:r>
            <a:r>
              <a:rPr lang="en-US" sz="1400" spc="-18" dirty="0">
                <a:solidFill>
                  <a:srgbClr val="231F20"/>
                </a:solidFill>
                <a:latin typeface="Tahoma"/>
                <a:cs typeface="Tahoma"/>
              </a:rPr>
              <a:t> </a:t>
            </a:r>
            <a:r>
              <a:rPr lang="en-US" sz="1400" spc="-4" dirty="0">
                <a:solidFill>
                  <a:srgbClr val="231F20"/>
                </a:solidFill>
                <a:latin typeface="Tahoma"/>
                <a:cs typeface="Tahoma"/>
              </a:rPr>
              <a:t>integers</a:t>
            </a:r>
            <a:endParaRPr sz="1400" dirty="0">
              <a:latin typeface="Tahoma"/>
              <a:ea typeface="Tahoma"/>
              <a:cs typeface="Tahoma"/>
            </a:endParaRPr>
          </a:p>
        </p:txBody>
      </p:sp>
    </p:spTree>
    <p:extLst>
      <p:ext uri="{BB962C8B-B14F-4D97-AF65-F5344CB8AC3E}">
        <p14:creationId xmlns:p14="http://schemas.microsoft.com/office/powerpoint/2010/main" val="1959735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7C0574FF-2F91-0ADC-E686-D4EE381AF56C}"/>
              </a:ext>
            </a:extLst>
          </p:cNvPr>
          <p:cNvSpPr txBox="1">
            <a:spLocks noGrp="1"/>
          </p:cNvSpPr>
          <p:nvPr>
            <p:ph type="title"/>
          </p:nvPr>
        </p:nvSpPr>
        <p:spPr>
          <a:xfrm>
            <a:off x="1450479" y="0"/>
            <a:ext cx="9604375" cy="1049337"/>
          </a:xfrm>
        </p:spPr>
        <p:txBody>
          <a:bodyPr vert="horz" lIns="0" tIns="11766" rIns="0" bIns="0" rtlCol="0" anchor="t">
            <a:normAutofit/>
          </a:bodyPr>
          <a:lstStyle/>
          <a:p>
            <a:pPr marL="11206">
              <a:spcBef>
                <a:spcPts val="93"/>
              </a:spcBef>
            </a:pPr>
            <a:r>
              <a:rPr dirty="0"/>
              <a:t>BRANCH–AND–BOUND</a:t>
            </a:r>
            <a:r>
              <a:rPr spc="-79" dirty="0"/>
              <a:t> </a:t>
            </a:r>
            <a:r>
              <a:rPr spc="-4" dirty="0"/>
              <a:t>METHOD</a:t>
            </a:r>
            <a:r>
              <a:rPr spc="-26" dirty="0"/>
              <a:t> </a:t>
            </a:r>
            <a:r>
              <a:rPr dirty="0"/>
              <a:t>(</a:t>
            </a:r>
            <a:r>
              <a:rPr dirty="0" err="1"/>
              <a:t>Cont</a:t>
            </a:r>
            <a:r>
              <a:rPr dirty="0"/>
              <a:t>…)</a:t>
            </a:r>
            <a:endParaRPr lang="en-US" dirty="0"/>
          </a:p>
        </p:txBody>
      </p:sp>
      <p:sp>
        <p:nvSpPr>
          <p:cNvPr id="3" name="Content Placeholder 2">
            <a:extLst>
              <a:ext uri="{FF2B5EF4-FFF2-40B4-BE49-F238E27FC236}">
                <a16:creationId xmlns:a16="http://schemas.microsoft.com/office/drawing/2014/main" id="{00DD31CA-3365-86B0-E76C-DF94FC31A160}"/>
              </a:ext>
            </a:extLst>
          </p:cNvPr>
          <p:cNvSpPr>
            <a:spLocks noGrp="1"/>
          </p:cNvSpPr>
          <p:nvPr>
            <p:ph idx="1"/>
          </p:nvPr>
        </p:nvSpPr>
        <p:spPr>
          <a:xfrm>
            <a:off x="1451579" y="2015732"/>
            <a:ext cx="9603275" cy="4060213"/>
          </a:xfrm>
        </p:spPr>
        <p:txBody>
          <a:bodyPr anchor="t">
            <a:normAutofit fontScale="92500"/>
          </a:bodyPr>
          <a:lstStyle/>
          <a:p>
            <a:pPr marL="362585" marR="6350" indent="-350520">
              <a:lnSpc>
                <a:spcPct val="110000"/>
              </a:lnSpc>
              <a:spcBef>
                <a:spcPts val="100"/>
              </a:spcBef>
              <a:buFont typeface="Wingdings"/>
              <a:buChar char="•"/>
              <a:tabLst>
                <a:tab pos="363220" algn="l"/>
              </a:tabLst>
            </a:pPr>
            <a:r>
              <a:rPr lang="en-US" sz="1600" b="1" dirty="0">
                <a:solidFill>
                  <a:srgbClr val="FF0000"/>
                </a:solidFill>
              </a:rPr>
              <a:t>FATHOMED SUBPROBLEM / NODE</a:t>
            </a:r>
            <a:r>
              <a:rPr lang="en-US" sz="1600" b="1" dirty="0"/>
              <a:t>:</a:t>
            </a:r>
            <a:r>
              <a:rPr lang="en-US" sz="1600" b="1" spc="-5" dirty="0"/>
              <a:t> </a:t>
            </a:r>
            <a:r>
              <a:rPr lang="en-US" spc="-5" dirty="0"/>
              <a:t>A problem is said to be fathomed if any one of the following three conditions is true:</a:t>
            </a:r>
            <a:endParaRPr lang="en-US" dirty="0"/>
          </a:p>
          <a:p>
            <a:pPr marL="819785" lvl="1" indent="-351155">
              <a:lnSpc>
                <a:spcPct val="110000"/>
              </a:lnSpc>
              <a:spcBef>
                <a:spcPts val="5"/>
              </a:spcBef>
              <a:tabLst>
                <a:tab pos="819785" algn="l"/>
                <a:tab pos="820419" algn="l"/>
              </a:tabLst>
            </a:pPr>
            <a:r>
              <a:rPr lang="en-US" sz="2000" dirty="0"/>
              <a:t>The</a:t>
            </a:r>
            <a:r>
              <a:rPr lang="en-US" sz="2000" spc="-35" dirty="0"/>
              <a:t> </a:t>
            </a:r>
            <a:r>
              <a:rPr lang="en-US" sz="2000" spc="-10" dirty="0"/>
              <a:t>values</a:t>
            </a:r>
            <a:r>
              <a:rPr lang="en-US" sz="2000" spc="-5" dirty="0"/>
              <a:t> </a:t>
            </a:r>
            <a:r>
              <a:rPr lang="en-US" sz="2000" dirty="0"/>
              <a:t>of</a:t>
            </a:r>
            <a:r>
              <a:rPr lang="en-US" sz="2000" spc="-10" dirty="0"/>
              <a:t> </a:t>
            </a:r>
            <a:r>
              <a:rPr lang="en-US" sz="2000" dirty="0"/>
              <a:t>the </a:t>
            </a:r>
            <a:r>
              <a:rPr lang="en-US" sz="2000" spc="-5" dirty="0"/>
              <a:t>decision</a:t>
            </a:r>
            <a:r>
              <a:rPr lang="en-US" sz="2000" spc="-15" dirty="0"/>
              <a:t> </a:t>
            </a:r>
            <a:r>
              <a:rPr lang="en-US" sz="2000" spc="-5" dirty="0"/>
              <a:t>variables </a:t>
            </a:r>
            <a:r>
              <a:rPr lang="en-US" sz="2000" dirty="0"/>
              <a:t>of</a:t>
            </a:r>
            <a:r>
              <a:rPr lang="en-US" sz="2000" spc="-15" dirty="0"/>
              <a:t> </a:t>
            </a:r>
            <a:r>
              <a:rPr lang="en-US" sz="2000" dirty="0"/>
              <a:t>the </a:t>
            </a:r>
            <a:r>
              <a:rPr lang="en-US" sz="2000" spc="-5" dirty="0"/>
              <a:t>problem</a:t>
            </a:r>
            <a:r>
              <a:rPr lang="en-US" sz="2000" spc="-10" dirty="0"/>
              <a:t> </a:t>
            </a:r>
            <a:r>
              <a:rPr lang="en-US" sz="2000" spc="-5" dirty="0"/>
              <a:t>are</a:t>
            </a:r>
            <a:r>
              <a:rPr lang="en-US" sz="2000" dirty="0"/>
              <a:t> </a:t>
            </a:r>
            <a:r>
              <a:rPr lang="en-US" sz="2000" spc="-35" dirty="0"/>
              <a:t>integer.</a:t>
            </a:r>
            <a:endParaRPr lang="en-US" sz="2000" dirty="0"/>
          </a:p>
          <a:p>
            <a:pPr marL="819785" marR="8890" lvl="1" indent="-350520">
              <a:lnSpc>
                <a:spcPct val="110000"/>
              </a:lnSpc>
              <a:tabLst>
                <a:tab pos="819785" algn="l"/>
                <a:tab pos="820419" algn="l"/>
              </a:tabLst>
            </a:pPr>
            <a:r>
              <a:rPr lang="en-US" sz="2000" spc="-5" dirty="0"/>
              <a:t>The</a:t>
            </a:r>
            <a:r>
              <a:rPr lang="en-US" sz="2000" spc="20" dirty="0"/>
              <a:t> </a:t>
            </a:r>
            <a:r>
              <a:rPr lang="en-US" sz="2000" spc="-5" dirty="0"/>
              <a:t>upper</a:t>
            </a:r>
            <a:r>
              <a:rPr lang="en-US" sz="2000" spc="20" dirty="0"/>
              <a:t> </a:t>
            </a:r>
            <a:r>
              <a:rPr lang="en-US" sz="2000" spc="-5" dirty="0"/>
              <a:t>bound</a:t>
            </a:r>
            <a:r>
              <a:rPr lang="en-US" sz="2000" spc="15" dirty="0"/>
              <a:t> </a:t>
            </a:r>
            <a:r>
              <a:rPr lang="en-US" sz="2000" dirty="0"/>
              <a:t>of</a:t>
            </a:r>
            <a:r>
              <a:rPr lang="en-US" sz="2000" spc="25" dirty="0"/>
              <a:t> </a:t>
            </a:r>
            <a:r>
              <a:rPr lang="en-US" sz="2000" dirty="0"/>
              <a:t>the</a:t>
            </a:r>
            <a:r>
              <a:rPr lang="en-US" sz="2000" spc="20" dirty="0"/>
              <a:t> </a:t>
            </a:r>
            <a:r>
              <a:rPr lang="en-US" sz="2000" spc="-5" dirty="0"/>
              <a:t>problem</a:t>
            </a:r>
            <a:r>
              <a:rPr lang="en-US" sz="2000" spc="15" dirty="0"/>
              <a:t> </a:t>
            </a:r>
            <a:r>
              <a:rPr lang="en-US" sz="2000" dirty="0"/>
              <a:t>which</a:t>
            </a:r>
            <a:r>
              <a:rPr lang="en-US" sz="2000" spc="5" dirty="0"/>
              <a:t> </a:t>
            </a:r>
            <a:r>
              <a:rPr lang="en-US" sz="2000" spc="-5" dirty="0"/>
              <a:t>has</a:t>
            </a:r>
            <a:r>
              <a:rPr lang="en-US" sz="2000" spc="30" dirty="0"/>
              <a:t> </a:t>
            </a:r>
            <a:r>
              <a:rPr lang="en-US" sz="2000" spc="-5" dirty="0"/>
              <a:t>non–integer</a:t>
            </a:r>
            <a:r>
              <a:rPr lang="en-US" sz="2000" spc="15" dirty="0"/>
              <a:t> </a:t>
            </a:r>
            <a:r>
              <a:rPr lang="en-US" sz="2000" spc="-10" dirty="0"/>
              <a:t>values</a:t>
            </a:r>
            <a:r>
              <a:rPr lang="en-US" sz="2000" spc="30" dirty="0"/>
              <a:t> </a:t>
            </a:r>
            <a:r>
              <a:rPr lang="en-US" sz="2000" spc="-10" dirty="0"/>
              <a:t>for</a:t>
            </a:r>
            <a:r>
              <a:rPr lang="en-US" sz="2000" spc="25" dirty="0"/>
              <a:t> </a:t>
            </a:r>
            <a:r>
              <a:rPr lang="en-US" sz="2000" dirty="0"/>
              <a:t>its </a:t>
            </a:r>
            <a:r>
              <a:rPr lang="en-US" sz="2000" spc="-5" dirty="0"/>
              <a:t>decision</a:t>
            </a:r>
            <a:r>
              <a:rPr lang="en-US" sz="2000" spc="-25" dirty="0"/>
              <a:t> </a:t>
            </a:r>
            <a:r>
              <a:rPr lang="en-US" sz="2000" spc="-5" dirty="0"/>
              <a:t>variables is</a:t>
            </a:r>
            <a:r>
              <a:rPr lang="en-US" sz="2000" spc="-10" dirty="0"/>
              <a:t> </a:t>
            </a:r>
            <a:r>
              <a:rPr lang="en-US" sz="2000" dirty="0"/>
              <a:t>not</a:t>
            </a:r>
            <a:r>
              <a:rPr lang="en-US" sz="2000" spc="5" dirty="0"/>
              <a:t> </a:t>
            </a:r>
            <a:r>
              <a:rPr lang="en-US" sz="2000" spc="-5" dirty="0"/>
              <a:t>greater </a:t>
            </a:r>
            <a:r>
              <a:rPr lang="en-US" sz="2000" dirty="0"/>
              <a:t>than the</a:t>
            </a:r>
            <a:r>
              <a:rPr lang="en-US" sz="2000" spc="-10" dirty="0"/>
              <a:t> </a:t>
            </a:r>
            <a:r>
              <a:rPr lang="en-US" sz="2000" spc="-5" dirty="0"/>
              <a:t>current best lower</a:t>
            </a:r>
            <a:r>
              <a:rPr lang="en-US" sz="2000" spc="5" dirty="0"/>
              <a:t> </a:t>
            </a:r>
            <a:r>
              <a:rPr lang="en-US" sz="2000" dirty="0"/>
              <a:t>bound.</a:t>
            </a:r>
          </a:p>
          <a:p>
            <a:pPr marL="819785" lvl="1" indent="-350520">
              <a:lnSpc>
                <a:spcPct val="110000"/>
              </a:lnSpc>
              <a:tabLst>
                <a:tab pos="819785" algn="l"/>
                <a:tab pos="820419" algn="l"/>
              </a:tabLst>
            </a:pPr>
            <a:r>
              <a:rPr lang="en-US" sz="2000" dirty="0"/>
              <a:t>The</a:t>
            </a:r>
            <a:r>
              <a:rPr lang="en-US" sz="2000" spc="-40" dirty="0"/>
              <a:t> </a:t>
            </a:r>
            <a:r>
              <a:rPr lang="en-US" sz="2000" spc="-5" dirty="0"/>
              <a:t>problem</a:t>
            </a:r>
            <a:r>
              <a:rPr lang="en-US" sz="2000" spc="-30" dirty="0"/>
              <a:t> </a:t>
            </a:r>
            <a:r>
              <a:rPr lang="en-US" sz="2000" dirty="0"/>
              <a:t>has</a:t>
            </a:r>
            <a:r>
              <a:rPr lang="en-US" sz="2000" spc="-15" dirty="0"/>
              <a:t> </a:t>
            </a:r>
            <a:r>
              <a:rPr lang="en-US" sz="2000" spc="-5" dirty="0"/>
              <a:t>infeasible</a:t>
            </a:r>
            <a:r>
              <a:rPr lang="en-US" sz="2000" spc="-20" dirty="0"/>
              <a:t> </a:t>
            </a:r>
            <a:r>
              <a:rPr lang="en-US" sz="2000" dirty="0"/>
              <a:t>solution.</a:t>
            </a:r>
          </a:p>
          <a:p>
            <a:pPr marL="468630" marR="6985" indent="0">
              <a:lnSpc>
                <a:spcPct val="110000"/>
              </a:lnSpc>
              <a:buNone/>
            </a:pPr>
            <a:r>
              <a:rPr lang="en-US" spc="-5" dirty="0"/>
              <a:t>This</a:t>
            </a:r>
            <a:r>
              <a:rPr lang="en-US" spc="190" dirty="0"/>
              <a:t> </a:t>
            </a:r>
            <a:r>
              <a:rPr lang="en-US" spc="-10" dirty="0"/>
              <a:t>means</a:t>
            </a:r>
            <a:r>
              <a:rPr lang="en-US" spc="195" dirty="0"/>
              <a:t> </a:t>
            </a:r>
            <a:r>
              <a:rPr lang="en-US" dirty="0"/>
              <a:t>that</a:t>
            </a:r>
            <a:r>
              <a:rPr lang="en-US" spc="195" dirty="0"/>
              <a:t> </a:t>
            </a:r>
            <a:r>
              <a:rPr lang="en-US" spc="-5" dirty="0"/>
              <a:t>further</a:t>
            </a:r>
            <a:r>
              <a:rPr lang="en-US" spc="185" dirty="0"/>
              <a:t> </a:t>
            </a:r>
            <a:r>
              <a:rPr lang="en-US" spc="-5" dirty="0"/>
              <a:t>branching</a:t>
            </a:r>
            <a:r>
              <a:rPr lang="en-US" spc="185" dirty="0"/>
              <a:t> </a:t>
            </a:r>
            <a:r>
              <a:rPr lang="en-US" spc="-10" dirty="0"/>
              <a:t>from</a:t>
            </a:r>
            <a:r>
              <a:rPr lang="en-US" spc="175" dirty="0"/>
              <a:t> </a:t>
            </a:r>
            <a:r>
              <a:rPr lang="en-US" dirty="0"/>
              <a:t>this</a:t>
            </a:r>
            <a:r>
              <a:rPr lang="en-US" spc="190" dirty="0"/>
              <a:t> </a:t>
            </a:r>
            <a:r>
              <a:rPr lang="en-US" spc="-10" dirty="0"/>
              <a:t>type</a:t>
            </a:r>
            <a:r>
              <a:rPr lang="en-US" spc="195" dirty="0"/>
              <a:t> </a:t>
            </a:r>
            <a:r>
              <a:rPr lang="en-US" dirty="0"/>
              <a:t>of</a:t>
            </a:r>
            <a:r>
              <a:rPr lang="en-US" spc="185" dirty="0"/>
              <a:t> </a:t>
            </a:r>
            <a:r>
              <a:rPr lang="en-US" spc="-5" dirty="0"/>
              <a:t>fathomed</a:t>
            </a:r>
            <a:r>
              <a:rPr lang="en-US" spc="190" dirty="0"/>
              <a:t> </a:t>
            </a:r>
            <a:r>
              <a:rPr lang="en-US" spc="-10" dirty="0"/>
              <a:t>nodes</a:t>
            </a:r>
            <a:r>
              <a:rPr lang="en-US" spc="195" dirty="0"/>
              <a:t> </a:t>
            </a:r>
            <a:r>
              <a:rPr lang="en-US" spc="-5" dirty="0"/>
              <a:t>is </a:t>
            </a:r>
            <a:r>
              <a:rPr lang="en-US" dirty="0"/>
              <a:t>not</a:t>
            </a:r>
            <a:r>
              <a:rPr lang="en-US" spc="-15" dirty="0"/>
              <a:t> </a:t>
            </a:r>
            <a:r>
              <a:rPr lang="en-US" spc="-20" dirty="0"/>
              <a:t>necessary.</a:t>
            </a:r>
            <a:endParaRPr lang="en-US" dirty="0"/>
          </a:p>
          <a:p>
            <a:pPr>
              <a:lnSpc>
                <a:spcPct val="110000"/>
              </a:lnSpc>
              <a:spcBef>
                <a:spcPts val="40"/>
              </a:spcBef>
            </a:pPr>
            <a:endParaRPr lang="en-US" sz="1600"/>
          </a:p>
          <a:p>
            <a:pPr marL="362585" marR="5080" indent="-350520">
              <a:lnSpc>
                <a:spcPct val="110000"/>
              </a:lnSpc>
              <a:buFont typeface="Wingdings"/>
              <a:buChar char="•"/>
              <a:tabLst>
                <a:tab pos="363220" algn="l"/>
              </a:tabLst>
            </a:pPr>
            <a:r>
              <a:rPr lang="en-US" sz="1600" b="1" dirty="0">
                <a:solidFill>
                  <a:srgbClr val="FF0000"/>
                </a:solidFill>
              </a:rPr>
              <a:t>CURRENT BEST LOWER BOUND</a:t>
            </a:r>
            <a:r>
              <a:rPr lang="en-US" sz="1600" b="1" dirty="0"/>
              <a:t>:</a:t>
            </a:r>
            <a:r>
              <a:rPr lang="en-US" sz="1600" b="1" spc="-5" dirty="0"/>
              <a:t> </a:t>
            </a:r>
            <a:r>
              <a:rPr lang="en-US" spc="-5" dirty="0"/>
              <a:t>This is the best lower bound (highest in the case of maximization problem and lowest in the case of minimization problem) among the lower bounds of all the fathomed nodes. Initially, it </a:t>
            </a:r>
            <a:r>
              <a:rPr lang="en-US" b="1" spc="-5" dirty="0"/>
              <a:t>(</a:t>
            </a:r>
            <a:r>
              <a:rPr lang="en-US" sz="1600" b="1" spc="-5" dirty="0">
                <a:solidFill>
                  <a:srgbClr val="FF0000"/>
                </a:solidFill>
                <a:latin typeface="Tahoma"/>
                <a:ea typeface="Tahoma"/>
                <a:cs typeface="Tahoma"/>
              </a:rPr>
              <a:t>Z</a:t>
            </a:r>
            <a:r>
              <a:rPr lang="en-US" sz="1600" b="1" spc="-5" baseline="-25000" dirty="0">
                <a:solidFill>
                  <a:srgbClr val="FF0000"/>
                </a:solidFill>
                <a:latin typeface="Tahoma"/>
                <a:ea typeface="Tahoma"/>
                <a:cs typeface="Tahoma"/>
              </a:rPr>
              <a:t>B</a:t>
            </a:r>
            <a:r>
              <a:rPr lang="en-US" b="1" spc="-5" dirty="0"/>
              <a:t>)</a:t>
            </a:r>
            <a:r>
              <a:rPr lang="en-US" spc="-5" dirty="0"/>
              <a:t> is assumed as -infinity for the root node.</a:t>
            </a:r>
          </a:p>
        </p:txBody>
      </p:sp>
      <p:sp>
        <p:nvSpPr>
          <p:cNvPr id="4" name="Slide Number Placeholder 3">
            <a:extLst>
              <a:ext uri="{FF2B5EF4-FFF2-40B4-BE49-F238E27FC236}">
                <a16:creationId xmlns:a16="http://schemas.microsoft.com/office/drawing/2014/main" id="{7B1667FA-49C1-3B2A-5AE9-222E68DF91DD}"/>
              </a:ext>
            </a:extLst>
          </p:cNvPr>
          <p:cNvSpPr>
            <a:spLocks noGrp="1"/>
          </p:cNvSpPr>
          <p:nvPr>
            <p:ph type="sldNum" sz="quarter" idx="12"/>
          </p:nvPr>
        </p:nvSpPr>
        <p:spPr>
          <a:xfrm>
            <a:off x="5690490" y="6291139"/>
            <a:ext cx="811019" cy="503578"/>
          </a:xfrm>
        </p:spPr>
        <p:txBody>
          <a:bodyPr anchor="t">
            <a:normAutofit/>
          </a:bodyPr>
          <a:lstStyle/>
          <a:p>
            <a:pPr>
              <a:spcAft>
                <a:spcPts val="600"/>
              </a:spcAft>
            </a:pPr>
            <a:fld id="{CBABCCC1-BF11-4F37-963E-1BCD5B23FD72}" type="slidenum">
              <a:rPr lang="en-IN" smtClean="0"/>
              <a:pPr>
                <a:spcAft>
                  <a:spcPts val="600"/>
                </a:spcAft>
              </a:pPr>
              <a:t>17</a:t>
            </a:fld>
            <a:endParaRPr lang="en-IN"/>
          </a:p>
        </p:txBody>
      </p:sp>
      <p:pic>
        <p:nvPicPr>
          <p:cNvPr id="6" name="Picture 8" descr="Complete Binary Tree">
            <a:extLst>
              <a:ext uri="{FF2B5EF4-FFF2-40B4-BE49-F238E27FC236}">
                <a16:creationId xmlns:a16="http://schemas.microsoft.com/office/drawing/2014/main" id="{0BA13023-2397-93C3-F0BA-7F6CE46CFEE9}"/>
              </a:ext>
            </a:extLst>
          </p:cNvPr>
          <p:cNvPicPr>
            <a:picLocks noChangeAspect="1"/>
          </p:cNvPicPr>
          <p:nvPr/>
        </p:nvPicPr>
        <p:blipFill>
          <a:blip r:embed="rId2"/>
          <a:stretch>
            <a:fillRect/>
          </a:stretch>
        </p:blipFill>
        <p:spPr>
          <a:xfrm>
            <a:off x="10404763" y="18184"/>
            <a:ext cx="1510146" cy="1452995"/>
          </a:xfrm>
          <a:prstGeom prst="rect">
            <a:avLst/>
          </a:prstGeom>
        </p:spPr>
      </p:pic>
      <p:sp>
        <p:nvSpPr>
          <p:cNvPr id="8" name="TextBox 7">
            <a:extLst>
              <a:ext uri="{FF2B5EF4-FFF2-40B4-BE49-F238E27FC236}">
                <a16:creationId xmlns:a16="http://schemas.microsoft.com/office/drawing/2014/main" id="{D6D99238-FC96-5714-52BA-F19F90CEE749}"/>
              </a:ext>
            </a:extLst>
          </p:cNvPr>
          <p:cNvSpPr txBox="1"/>
          <p:nvPr/>
        </p:nvSpPr>
        <p:spPr>
          <a:xfrm>
            <a:off x="7964633" y="1437409"/>
            <a:ext cx="4099212"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200"/>
              <a:t>Source: </a:t>
            </a:r>
            <a:r>
              <a:rPr lang="en-US" sz="1200">
                <a:ea typeface="+mn-lt"/>
                <a:cs typeface="+mn-lt"/>
              </a:rPr>
              <a:t>https://www.programiz.com/dsa/complete-binary-tree</a:t>
            </a:r>
            <a:endParaRPr lang="en-US" sz="1200"/>
          </a:p>
        </p:txBody>
      </p:sp>
    </p:spTree>
    <p:extLst>
      <p:ext uri="{BB962C8B-B14F-4D97-AF65-F5344CB8AC3E}">
        <p14:creationId xmlns:p14="http://schemas.microsoft.com/office/powerpoint/2010/main" val="2417952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25661" y="18184"/>
            <a:ext cx="8432766" cy="504323"/>
          </a:xfrm>
          <a:prstGeom prst="rect">
            <a:avLst/>
          </a:prstGeom>
        </p:spPr>
        <p:txBody>
          <a:bodyPr vert="horz" wrap="square" lIns="0" tIns="11766" rIns="0" bIns="0" rtlCol="0" anchor="t">
            <a:spAutoFit/>
          </a:bodyPr>
          <a:lstStyle/>
          <a:p>
            <a:pPr marL="11206">
              <a:lnSpc>
                <a:spcPct val="100000"/>
              </a:lnSpc>
              <a:spcBef>
                <a:spcPts val="93"/>
              </a:spcBef>
            </a:pPr>
            <a:r>
              <a:rPr dirty="0"/>
              <a:t>BRANCH–AND–BOUND</a:t>
            </a:r>
            <a:r>
              <a:rPr spc="-79" dirty="0"/>
              <a:t> </a:t>
            </a:r>
            <a:r>
              <a:rPr spc="-4" dirty="0"/>
              <a:t>METHOD</a:t>
            </a:r>
            <a:r>
              <a:rPr spc="-26" dirty="0"/>
              <a:t> </a:t>
            </a:r>
            <a:r>
              <a:rPr dirty="0"/>
              <a:t>(</a:t>
            </a:r>
            <a:r>
              <a:rPr dirty="0" err="1"/>
              <a:t>Cont</a:t>
            </a:r>
            <a:r>
              <a:rPr dirty="0"/>
              <a:t>…)</a:t>
            </a:r>
          </a:p>
        </p:txBody>
      </p:sp>
      <p:sp>
        <p:nvSpPr>
          <p:cNvPr id="3" name="object 3"/>
          <p:cNvSpPr txBox="1"/>
          <p:nvPr/>
        </p:nvSpPr>
        <p:spPr>
          <a:xfrm>
            <a:off x="215073" y="1369876"/>
            <a:ext cx="11811674" cy="3778693"/>
          </a:xfrm>
          <a:prstGeom prst="rect">
            <a:avLst/>
          </a:prstGeom>
        </p:spPr>
        <p:txBody>
          <a:bodyPr vert="horz" wrap="square" lIns="0" tIns="11206" rIns="0" bIns="0" rtlCol="0" anchor="t">
            <a:spAutoFit/>
          </a:bodyPr>
          <a:lstStyle/>
          <a:p>
            <a:pPr marL="226060" marR="17780" indent="-204470" algn="just">
              <a:buAutoNum type="arabicPeriod"/>
              <a:tabLst>
                <a:tab pos="226931" algn="l"/>
              </a:tabLst>
            </a:pPr>
            <a:r>
              <a:rPr lang="en-US" sz="1600" spc="-4" dirty="0">
                <a:solidFill>
                  <a:srgbClr val="231F20"/>
                </a:solidFill>
                <a:latin typeface="Tahoma"/>
                <a:cs typeface="Tahoma"/>
              </a:rPr>
              <a:t>Solve</a:t>
            </a:r>
            <a:r>
              <a:rPr lang="en-US" sz="1600" dirty="0">
                <a:solidFill>
                  <a:srgbClr val="231F20"/>
                </a:solidFill>
                <a:latin typeface="Tahoma"/>
                <a:cs typeface="Tahoma"/>
              </a:rPr>
              <a:t> </a:t>
            </a:r>
            <a:r>
              <a:rPr lang="en-US" sz="1600" spc="-4" dirty="0">
                <a:solidFill>
                  <a:srgbClr val="231F20"/>
                </a:solidFill>
                <a:latin typeface="Tahoma"/>
                <a:cs typeface="Tahoma"/>
              </a:rPr>
              <a:t>the</a:t>
            </a:r>
            <a:r>
              <a:rPr lang="en-US" sz="1600" dirty="0">
                <a:solidFill>
                  <a:srgbClr val="231F20"/>
                </a:solidFill>
                <a:latin typeface="Tahoma"/>
                <a:cs typeface="Tahoma"/>
              </a:rPr>
              <a:t> </a:t>
            </a:r>
            <a:r>
              <a:rPr lang="en-US" sz="1600" spc="-4" dirty="0">
                <a:solidFill>
                  <a:srgbClr val="231F20"/>
                </a:solidFill>
                <a:latin typeface="Tahoma"/>
                <a:cs typeface="Tahoma"/>
              </a:rPr>
              <a:t>given</a:t>
            </a:r>
            <a:r>
              <a:rPr lang="en-US" sz="1600" dirty="0">
                <a:solidFill>
                  <a:srgbClr val="231F20"/>
                </a:solidFill>
                <a:latin typeface="Tahoma"/>
                <a:cs typeface="Tahoma"/>
              </a:rPr>
              <a:t> </a:t>
            </a:r>
            <a:r>
              <a:rPr lang="en-US" sz="1600" spc="-4" dirty="0">
                <a:solidFill>
                  <a:srgbClr val="231F20"/>
                </a:solidFill>
                <a:latin typeface="Tahoma"/>
                <a:cs typeface="Tahoma"/>
              </a:rPr>
              <a:t>linear</a:t>
            </a:r>
            <a:r>
              <a:rPr lang="en-US" sz="1600" dirty="0">
                <a:solidFill>
                  <a:srgbClr val="231F20"/>
                </a:solidFill>
                <a:latin typeface="Tahoma"/>
                <a:cs typeface="Tahoma"/>
              </a:rPr>
              <a:t> </a:t>
            </a:r>
            <a:r>
              <a:rPr lang="en-US" sz="1600" spc="-9" dirty="0">
                <a:solidFill>
                  <a:srgbClr val="231F20"/>
                </a:solidFill>
                <a:latin typeface="Tahoma"/>
                <a:cs typeface="Tahoma"/>
              </a:rPr>
              <a:t>programming</a:t>
            </a:r>
            <a:r>
              <a:rPr lang="en-US" sz="1600" spc="-4" dirty="0">
                <a:solidFill>
                  <a:srgbClr val="231F20"/>
                </a:solidFill>
                <a:latin typeface="Tahoma"/>
                <a:cs typeface="Tahoma"/>
              </a:rPr>
              <a:t> problem</a:t>
            </a:r>
            <a:r>
              <a:rPr lang="en-US" sz="1600" dirty="0">
                <a:solidFill>
                  <a:srgbClr val="231F20"/>
                </a:solidFill>
                <a:latin typeface="Tahoma"/>
                <a:cs typeface="Tahoma"/>
              </a:rPr>
              <a:t> </a:t>
            </a:r>
            <a:r>
              <a:rPr lang="en-US" sz="1600" spc="-9" dirty="0">
                <a:solidFill>
                  <a:srgbClr val="231F20"/>
                </a:solidFill>
                <a:latin typeface="Tahoma"/>
                <a:cs typeface="Tahoma"/>
              </a:rPr>
              <a:t>graphically</a:t>
            </a:r>
            <a:r>
              <a:rPr lang="en-US" sz="1600" spc="-4" dirty="0">
                <a:solidFill>
                  <a:srgbClr val="231F20"/>
                </a:solidFill>
                <a:latin typeface="Tahoma"/>
                <a:cs typeface="Tahoma"/>
              </a:rPr>
              <a:t> or</a:t>
            </a:r>
            <a:r>
              <a:rPr lang="en-US" sz="1600" dirty="0">
                <a:solidFill>
                  <a:srgbClr val="231F20"/>
                </a:solidFill>
                <a:latin typeface="Tahoma"/>
                <a:cs typeface="Tahoma"/>
              </a:rPr>
              <a:t> using</a:t>
            </a:r>
            <a:r>
              <a:rPr lang="en-US" sz="1600" spc="4" dirty="0">
                <a:solidFill>
                  <a:srgbClr val="231F20"/>
                </a:solidFill>
                <a:latin typeface="Tahoma"/>
                <a:cs typeface="Tahoma"/>
              </a:rPr>
              <a:t> </a:t>
            </a:r>
            <a:r>
              <a:rPr lang="en-US" sz="1600" spc="-4" dirty="0">
                <a:solidFill>
                  <a:srgbClr val="231F20"/>
                </a:solidFill>
                <a:latin typeface="Tahoma"/>
                <a:cs typeface="Tahoma"/>
              </a:rPr>
              <a:t>iterative method.</a:t>
            </a:r>
            <a:r>
              <a:rPr lang="en-US" sz="1600" spc="-13" dirty="0">
                <a:solidFill>
                  <a:srgbClr val="231F20"/>
                </a:solidFill>
                <a:latin typeface="Tahoma"/>
                <a:cs typeface="Tahoma"/>
              </a:rPr>
              <a:t> </a:t>
            </a:r>
            <a:r>
              <a:rPr lang="en-US" sz="1600" spc="-4" dirty="0">
                <a:solidFill>
                  <a:srgbClr val="231F20"/>
                </a:solidFill>
                <a:latin typeface="Tahoma"/>
                <a:cs typeface="Tahoma"/>
              </a:rPr>
              <a:t>Set,</a:t>
            </a:r>
            <a:r>
              <a:rPr lang="en-US" sz="1600" spc="4" dirty="0">
                <a:solidFill>
                  <a:srgbClr val="231F20"/>
                </a:solidFill>
                <a:latin typeface="Tahoma"/>
                <a:cs typeface="Tahoma"/>
              </a:rPr>
              <a:t> </a:t>
            </a:r>
            <a:r>
              <a:rPr lang="en-US" sz="1600" spc="-4" dirty="0">
                <a:solidFill>
                  <a:srgbClr val="231F20"/>
                </a:solidFill>
                <a:latin typeface="Tahoma"/>
                <a:cs typeface="Tahoma"/>
              </a:rPr>
              <a:t>the</a:t>
            </a:r>
            <a:r>
              <a:rPr lang="en-US" sz="1600" spc="9" dirty="0">
                <a:solidFill>
                  <a:srgbClr val="231F20"/>
                </a:solidFill>
                <a:latin typeface="Tahoma"/>
                <a:cs typeface="Tahoma"/>
              </a:rPr>
              <a:t> </a:t>
            </a:r>
            <a:r>
              <a:rPr lang="en-US" sz="1600" spc="-9" dirty="0">
                <a:solidFill>
                  <a:srgbClr val="231F20"/>
                </a:solidFill>
                <a:latin typeface="Tahoma"/>
                <a:cs typeface="Tahoma"/>
              </a:rPr>
              <a:t>current</a:t>
            </a:r>
            <a:r>
              <a:rPr lang="en-US" sz="1600" spc="26" dirty="0">
                <a:solidFill>
                  <a:srgbClr val="231F20"/>
                </a:solidFill>
                <a:latin typeface="Tahoma"/>
                <a:cs typeface="Tahoma"/>
              </a:rPr>
              <a:t> </a:t>
            </a:r>
            <a:r>
              <a:rPr lang="en-US" sz="1600" spc="-4" dirty="0">
                <a:solidFill>
                  <a:srgbClr val="231F20"/>
                </a:solidFill>
                <a:latin typeface="Tahoma"/>
                <a:cs typeface="Tahoma"/>
              </a:rPr>
              <a:t>best</a:t>
            </a:r>
            <a:r>
              <a:rPr lang="en-US" sz="1600" spc="4" dirty="0">
                <a:solidFill>
                  <a:srgbClr val="231F20"/>
                </a:solidFill>
                <a:latin typeface="Tahoma"/>
                <a:cs typeface="Tahoma"/>
              </a:rPr>
              <a:t> </a:t>
            </a:r>
            <a:r>
              <a:rPr lang="en-US" sz="1600" spc="-4" dirty="0">
                <a:solidFill>
                  <a:srgbClr val="231F20"/>
                </a:solidFill>
                <a:latin typeface="Tahoma"/>
                <a:cs typeface="Tahoma"/>
              </a:rPr>
              <a:t>lower</a:t>
            </a:r>
            <a:r>
              <a:rPr lang="en-US" sz="1600" dirty="0">
                <a:solidFill>
                  <a:srgbClr val="231F20"/>
                </a:solidFill>
                <a:latin typeface="Tahoma"/>
                <a:cs typeface="Tahoma"/>
              </a:rPr>
              <a:t> </a:t>
            </a:r>
            <a:r>
              <a:rPr lang="en-US" sz="1600" spc="-4" dirty="0">
                <a:solidFill>
                  <a:srgbClr val="231F20"/>
                </a:solidFill>
                <a:latin typeface="Tahoma"/>
                <a:cs typeface="Tahoma"/>
              </a:rPr>
              <a:t>bound</a:t>
            </a:r>
            <a:r>
              <a:rPr lang="en-US" sz="1600" spc="13" dirty="0">
                <a:solidFill>
                  <a:srgbClr val="231F20"/>
                </a:solidFill>
                <a:latin typeface="Tahoma"/>
                <a:cs typeface="Tahoma"/>
              </a:rPr>
              <a:t> </a:t>
            </a:r>
            <a:r>
              <a:rPr lang="en-US" sz="1600" spc="4" dirty="0">
                <a:solidFill>
                  <a:srgbClr val="231F20"/>
                </a:solidFill>
                <a:latin typeface="Tahoma"/>
                <a:cs typeface="Tahoma"/>
              </a:rPr>
              <a:t>Z</a:t>
            </a:r>
            <a:r>
              <a:rPr lang="en-US" sz="1550" spc="6" baseline="-20833" dirty="0">
                <a:solidFill>
                  <a:srgbClr val="231F20"/>
                </a:solidFill>
                <a:latin typeface="Tahoma"/>
                <a:cs typeface="Tahoma"/>
              </a:rPr>
              <a:t>B</a:t>
            </a:r>
            <a:r>
              <a:rPr lang="en-US" sz="1550" spc="13" baseline="-20833" dirty="0">
                <a:solidFill>
                  <a:srgbClr val="231F20"/>
                </a:solidFill>
                <a:latin typeface="Tahoma"/>
                <a:cs typeface="Tahoma"/>
              </a:rPr>
              <a:t> </a:t>
            </a:r>
            <a:r>
              <a:rPr lang="en-US" sz="1600" spc="-4" dirty="0">
                <a:solidFill>
                  <a:srgbClr val="231F20"/>
                </a:solidFill>
                <a:latin typeface="Tahoma"/>
                <a:cs typeface="Tahoma"/>
              </a:rPr>
              <a:t>as</a:t>
            </a:r>
            <a:r>
              <a:rPr lang="en-US" sz="1600" dirty="0">
                <a:solidFill>
                  <a:srgbClr val="231F20"/>
                </a:solidFill>
                <a:latin typeface="Tahoma"/>
                <a:cs typeface="Tahoma"/>
              </a:rPr>
              <a:t> -</a:t>
            </a:r>
            <a:r>
              <a:rPr lang="en-US" sz="1600" spc="-4" dirty="0">
                <a:solidFill>
                  <a:srgbClr val="231F20"/>
                </a:solidFill>
                <a:latin typeface="Tahoma"/>
                <a:cs typeface="Tahoma"/>
              </a:rPr>
              <a:t>∞.</a:t>
            </a:r>
            <a:endParaRPr lang="en-US" sz="1600" dirty="0">
              <a:latin typeface="Tahoma"/>
              <a:ea typeface="Tahoma"/>
              <a:cs typeface="Tahoma"/>
            </a:endParaRPr>
          </a:p>
          <a:p>
            <a:pPr marL="226060" marR="18415" indent="-204470" algn="just">
              <a:buAutoNum type="arabicPeriod"/>
              <a:tabLst>
                <a:tab pos="226931" algn="l"/>
              </a:tabLst>
            </a:pPr>
            <a:r>
              <a:rPr lang="en-US" sz="1600" spc="-9" dirty="0">
                <a:solidFill>
                  <a:srgbClr val="231F20"/>
                </a:solidFill>
                <a:latin typeface="Tahoma"/>
                <a:cs typeface="Tahoma"/>
              </a:rPr>
              <a:t>Check, Whether the problem has integer solution. If yes, print the current solution as the optimal solution and stop; Otherwise go to Step 3.</a:t>
            </a:r>
            <a:endParaRPr lang="en-US" sz="1600" spc="-9" dirty="0">
              <a:solidFill>
                <a:srgbClr val="231F20"/>
              </a:solidFill>
              <a:latin typeface="Tahoma"/>
              <a:ea typeface="Tahoma"/>
              <a:cs typeface="Tahoma"/>
            </a:endParaRPr>
          </a:p>
          <a:p>
            <a:pPr marL="226060" marR="15240" indent="-204470" algn="just">
              <a:buAutoNum type="arabicPeriod"/>
              <a:tabLst>
                <a:tab pos="226931" algn="l"/>
              </a:tabLst>
            </a:pPr>
            <a:r>
              <a:rPr lang="en-US" sz="1600" spc="-9" dirty="0">
                <a:solidFill>
                  <a:srgbClr val="231F20"/>
                </a:solidFill>
                <a:latin typeface="Tahoma"/>
                <a:cs typeface="Tahoma"/>
              </a:rPr>
              <a:t>Identify the variable </a:t>
            </a:r>
            <a:r>
              <a:rPr lang="en-US" sz="1600" spc="-9" dirty="0" err="1">
                <a:solidFill>
                  <a:srgbClr val="231F20"/>
                </a:solidFill>
                <a:latin typeface="Tahoma"/>
                <a:cs typeface="Tahoma"/>
              </a:rPr>
              <a:t>Xk</a:t>
            </a:r>
            <a:r>
              <a:rPr lang="en-US" sz="1600" spc="-9" dirty="0">
                <a:solidFill>
                  <a:srgbClr val="231F20"/>
                </a:solidFill>
                <a:latin typeface="Tahoma"/>
                <a:cs typeface="Tahoma"/>
              </a:rPr>
              <a:t> which has the maximum fractional part as the branching variable. (In case of tie, select the variable which has the highest objective function coefficient.)</a:t>
            </a:r>
            <a:endParaRPr lang="en-US" sz="1600" spc="-9" dirty="0">
              <a:solidFill>
                <a:srgbClr val="231F20"/>
              </a:solidFill>
              <a:latin typeface="Tahoma"/>
              <a:ea typeface="Tahoma"/>
              <a:cs typeface="Tahoma"/>
            </a:endParaRPr>
          </a:p>
          <a:p>
            <a:pPr marL="226060" marR="17145" indent="-204470" algn="just">
              <a:buAutoNum type="arabicPeriod"/>
              <a:tabLst>
                <a:tab pos="226931" algn="l"/>
              </a:tabLst>
            </a:pPr>
            <a:r>
              <a:rPr lang="en-US" sz="1600" spc="-9" dirty="0">
                <a:solidFill>
                  <a:srgbClr val="231F20"/>
                </a:solidFill>
                <a:latin typeface="Tahoma"/>
                <a:cs typeface="Tahoma"/>
              </a:rPr>
              <a:t>Create two more problems by including each of the following constraints to the current problem and solve them.</a:t>
            </a:r>
            <a:endParaRPr lang="en-US" sz="1600" spc="-9" dirty="0">
              <a:solidFill>
                <a:srgbClr val="231F20"/>
              </a:solidFill>
              <a:latin typeface="Tahoma"/>
              <a:ea typeface="Tahoma"/>
              <a:cs typeface="Tahoma"/>
            </a:endParaRPr>
          </a:p>
          <a:p>
            <a:pPr marL="1635760" lvl="1" indent="-403860" algn="just">
              <a:buAutoNum type="alphaLcPeriod"/>
              <a:tabLst>
                <a:tab pos="1636706" algn="l"/>
              </a:tabLst>
            </a:pPr>
            <a:r>
              <a:rPr lang="en-US" sz="1600" spc="-9" dirty="0" err="1">
                <a:solidFill>
                  <a:srgbClr val="231F20"/>
                </a:solidFill>
                <a:latin typeface="Tahoma"/>
                <a:cs typeface="Tahoma"/>
              </a:rPr>
              <a:t>Xk</a:t>
            </a:r>
            <a:r>
              <a:rPr lang="en-US" sz="1600" spc="-9" dirty="0">
                <a:solidFill>
                  <a:srgbClr val="231F20"/>
                </a:solidFill>
                <a:latin typeface="Tahoma"/>
                <a:cs typeface="Tahoma"/>
              </a:rPr>
              <a:t> ≤ Integer part of </a:t>
            </a:r>
            <a:r>
              <a:rPr lang="en-US" sz="1600" spc="-9" dirty="0" err="1">
                <a:solidFill>
                  <a:srgbClr val="231F20"/>
                </a:solidFill>
                <a:latin typeface="Tahoma"/>
                <a:cs typeface="Tahoma"/>
              </a:rPr>
              <a:t>Xk</a:t>
            </a:r>
            <a:endParaRPr lang="en-US" sz="1600" spc="-9" dirty="0" err="1">
              <a:solidFill>
                <a:srgbClr val="231F20"/>
              </a:solidFill>
              <a:latin typeface="Tahoma"/>
              <a:ea typeface="Tahoma"/>
              <a:cs typeface="Tahoma"/>
            </a:endParaRPr>
          </a:p>
          <a:p>
            <a:pPr marL="1635760" lvl="1" indent="-403860" algn="just">
              <a:spcBef>
                <a:spcPts val="4"/>
              </a:spcBef>
              <a:buAutoNum type="alphaLcPeriod"/>
              <a:tabLst>
                <a:tab pos="1636706" algn="l"/>
              </a:tabLst>
            </a:pPr>
            <a:r>
              <a:rPr lang="en-US" sz="1600" spc="-9" dirty="0" err="1">
                <a:solidFill>
                  <a:srgbClr val="231F20"/>
                </a:solidFill>
                <a:latin typeface="Tahoma"/>
                <a:cs typeface="Tahoma"/>
              </a:rPr>
              <a:t>Xk</a:t>
            </a:r>
            <a:r>
              <a:rPr lang="en-US" sz="1600" spc="-9" dirty="0">
                <a:solidFill>
                  <a:srgbClr val="231F20"/>
                </a:solidFill>
                <a:latin typeface="Tahoma"/>
                <a:cs typeface="Tahoma"/>
              </a:rPr>
              <a:t> ≥ Next Integer of </a:t>
            </a:r>
            <a:r>
              <a:rPr lang="en-US" sz="1600" spc="-9" dirty="0" err="1">
                <a:solidFill>
                  <a:srgbClr val="231F20"/>
                </a:solidFill>
                <a:latin typeface="Tahoma"/>
                <a:cs typeface="Tahoma"/>
              </a:rPr>
              <a:t>Xk</a:t>
            </a:r>
            <a:endParaRPr lang="en-US" sz="1600" spc="-9" dirty="0" err="1">
              <a:solidFill>
                <a:srgbClr val="231F20"/>
              </a:solidFill>
              <a:latin typeface="Tahoma"/>
              <a:ea typeface="Tahoma"/>
              <a:cs typeface="Tahoma"/>
            </a:endParaRPr>
          </a:p>
          <a:p>
            <a:pPr marL="226060" marR="16510" indent="-204470" algn="just">
              <a:buAutoNum type="arabicPeriod"/>
              <a:tabLst>
                <a:tab pos="226931" algn="l"/>
              </a:tabLst>
            </a:pPr>
            <a:r>
              <a:rPr lang="en-US" sz="1600" spc="-9" dirty="0">
                <a:solidFill>
                  <a:srgbClr val="231F20"/>
                </a:solidFill>
                <a:latin typeface="Tahoma"/>
                <a:cs typeface="Tahoma"/>
              </a:rPr>
              <a:t>If any one of the new sub-problems has infeasible solution or fully integer values for the decision variables, the corresponding node is fathomed. If a new node has integer values for the decision variables, update the current best lower bound as the lower bound of that node if its lower bound is greater than the previous current best lower bound.</a:t>
            </a:r>
            <a:endParaRPr lang="en-US" sz="1600" spc="-9" dirty="0">
              <a:solidFill>
                <a:srgbClr val="231F20"/>
              </a:solidFill>
              <a:latin typeface="Tahoma"/>
              <a:ea typeface="Tahoma"/>
              <a:cs typeface="Tahoma"/>
            </a:endParaRPr>
          </a:p>
          <a:p>
            <a:pPr marL="226060" indent="-204470" algn="just">
              <a:buAutoNum type="arabicPeriod"/>
              <a:tabLst>
                <a:tab pos="226931" algn="l"/>
              </a:tabLst>
            </a:pPr>
            <a:r>
              <a:rPr lang="en-US" sz="1600" spc="-9" dirty="0">
                <a:solidFill>
                  <a:srgbClr val="231F20"/>
                </a:solidFill>
                <a:latin typeface="Tahoma"/>
                <a:cs typeface="Tahoma"/>
              </a:rPr>
              <a:t>Are all terminal nodes fathomed? If answer is yes, go to step 7; otherwise,</a:t>
            </a:r>
            <a:endParaRPr lang="en-US" sz="1600" spc="-9" dirty="0">
              <a:solidFill>
                <a:srgbClr val="231F20"/>
              </a:solidFill>
              <a:latin typeface="Tahoma"/>
              <a:ea typeface="Tahoma"/>
              <a:cs typeface="Tahoma"/>
            </a:endParaRPr>
          </a:p>
          <a:p>
            <a:pPr marL="226060" algn="just"/>
            <a:r>
              <a:rPr lang="en-US" sz="1600" spc="-9" dirty="0">
                <a:solidFill>
                  <a:srgbClr val="231F20"/>
                </a:solidFill>
                <a:latin typeface="Tahoma"/>
                <a:cs typeface="Tahoma"/>
              </a:rPr>
              <a:t>identify the node with the highest lower bound and go to step 3.</a:t>
            </a:r>
            <a:endParaRPr lang="en-US" sz="1600" spc="-9" dirty="0">
              <a:solidFill>
                <a:srgbClr val="231F20"/>
              </a:solidFill>
              <a:latin typeface="Tahoma"/>
              <a:ea typeface="Tahoma"/>
              <a:cs typeface="Tahoma"/>
            </a:endParaRPr>
          </a:p>
          <a:p>
            <a:pPr marL="226060" marR="17145" indent="-204470" algn="just">
              <a:buAutoNum type="arabicPeriod" startAt="7"/>
              <a:tabLst>
                <a:tab pos="226931" algn="l"/>
              </a:tabLst>
            </a:pPr>
            <a:r>
              <a:rPr lang="en-US" sz="1600" spc="-9" dirty="0">
                <a:solidFill>
                  <a:srgbClr val="231F20"/>
                </a:solidFill>
                <a:latin typeface="Tahoma"/>
                <a:cs typeface="Tahoma"/>
              </a:rPr>
              <a:t>Select the solution of the problem with respect to the fathomed node whose lower bound is equal to the current best lower bound as the optimal integer solution.</a:t>
            </a:r>
            <a:endParaRPr sz="1600" spc="-9" dirty="0">
              <a:solidFill>
                <a:srgbClr val="231F20"/>
              </a:solidFill>
              <a:latin typeface="Tahoma"/>
              <a:ea typeface="Tahoma"/>
              <a:cs typeface="Tahoma"/>
            </a:endParaRPr>
          </a:p>
        </p:txBody>
      </p:sp>
      <p:pic>
        <p:nvPicPr>
          <p:cNvPr id="5" name="Picture 8" descr="Complete Binary Tree">
            <a:extLst>
              <a:ext uri="{FF2B5EF4-FFF2-40B4-BE49-F238E27FC236}">
                <a16:creationId xmlns:a16="http://schemas.microsoft.com/office/drawing/2014/main" id="{C70C8C9F-D7D8-35A6-5E93-24C11687D229}"/>
              </a:ext>
            </a:extLst>
          </p:cNvPr>
          <p:cNvPicPr>
            <a:picLocks noChangeAspect="1"/>
          </p:cNvPicPr>
          <p:nvPr/>
        </p:nvPicPr>
        <p:blipFill>
          <a:blip r:embed="rId2"/>
          <a:stretch>
            <a:fillRect/>
          </a:stretch>
        </p:blipFill>
        <p:spPr>
          <a:xfrm>
            <a:off x="10404763" y="18184"/>
            <a:ext cx="1510146" cy="145299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54389" y="39878"/>
            <a:ext cx="9769263" cy="446487"/>
          </a:xfrm>
          <a:prstGeom prst="rect">
            <a:avLst/>
          </a:prstGeom>
        </p:spPr>
        <p:txBody>
          <a:bodyPr vert="horz" wrap="square" lIns="0" tIns="11766" rIns="0" bIns="0" rtlCol="0" anchor="t">
            <a:spAutoFit/>
          </a:bodyPr>
          <a:lstStyle/>
          <a:p>
            <a:pPr marL="11206">
              <a:lnSpc>
                <a:spcPct val="100000"/>
              </a:lnSpc>
              <a:spcBef>
                <a:spcPts val="93"/>
              </a:spcBef>
            </a:pPr>
            <a:r>
              <a:t>BRANCH–AND–BOUND</a:t>
            </a:r>
            <a:r>
              <a:rPr spc="-79"/>
              <a:t> </a:t>
            </a:r>
            <a:r>
              <a:rPr spc="-4"/>
              <a:t>METHOD</a:t>
            </a:r>
            <a:r>
              <a:rPr lang="en-US" spc="-26"/>
              <a:t>: A Solved problem</a:t>
            </a:r>
            <a:endParaRPr/>
          </a:p>
        </p:txBody>
      </p:sp>
      <p:sp>
        <p:nvSpPr>
          <p:cNvPr id="3" name="object 3"/>
          <p:cNvSpPr txBox="1"/>
          <p:nvPr/>
        </p:nvSpPr>
        <p:spPr>
          <a:xfrm>
            <a:off x="1523713" y="914846"/>
            <a:ext cx="2972832" cy="1635414"/>
          </a:xfrm>
          <a:prstGeom prst="rect">
            <a:avLst/>
          </a:prstGeom>
        </p:spPr>
        <p:txBody>
          <a:bodyPr vert="horz" wrap="square" lIns="0" tIns="11206" rIns="0" bIns="0" rtlCol="0" anchor="t">
            <a:spAutoFit/>
          </a:bodyPr>
          <a:lstStyle/>
          <a:p>
            <a:pPr marL="10795">
              <a:spcBef>
                <a:spcPts val="88"/>
              </a:spcBef>
            </a:pPr>
            <a:r>
              <a:rPr lang="en-US" sz="2118" spc="-4" dirty="0">
                <a:solidFill>
                  <a:srgbClr val="231F20"/>
                </a:solidFill>
                <a:latin typeface="Tahoma"/>
                <a:cs typeface="Tahoma"/>
              </a:rPr>
              <a:t>Max.</a:t>
            </a:r>
            <a:r>
              <a:rPr lang="en-US" sz="2118" spc="-22" dirty="0">
                <a:solidFill>
                  <a:srgbClr val="231F20"/>
                </a:solidFill>
                <a:latin typeface="Tahoma"/>
                <a:cs typeface="Tahoma"/>
              </a:rPr>
              <a:t> </a:t>
            </a:r>
            <a:r>
              <a:rPr lang="en-US" sz="2118" dirty="0">
                <a:solidFill>
                  <a:srgbClr val="231F20"/>
                </a:solidFill>
                <a:latin typeface="Tahoma"/>
                <a:cs typeface="Tahoma"/>
              </a:rPr>
              <a:t>Z</a:t>
            </a:r>
            <a:r>
              <a:rPr lang="en-US" sz="2118" spc="-13" dirty="0">
                <a:solidFill>
                  <a:srgbClr val="231F20"/>
                </a:solidFill>
                <a:latin typeface="Tahoma"/>
                <a:cs typeface="Tahoma"/>
              </a:rPr>
              <a:t> </a:t>
            </a:r>
            <a:r>
              <a:rPr lang="en-US" sz="2118" dirty="0">
                <a:solidFill>
                  <a:srgbClr val="231F20"/>
                </a:solidFill>
                <a:latin typeface="Tahoma"/>
                <a:cs typeface="Tahoma"/>
              </a:rPr>
              <a:t>= </a:t>
            </a:r>
            <a:r>
              <a:rPr lang="en-US" sz="2118" spc="-4" dirty="0">
                <a:solidFill>
                  <a:srgbClr val="231F20"/>
                </a:solidFill>
                <a:latin typeface="Tahoma"/>
                <a:cs typeface="Tahoma"/>
              </a:rPr>
              <a:t>10X1 </a:t>
            </a:r>
            <a:r>
              <a:rPr lang="en-US" sz="2118" dirty="0">
                <a:solidFill>
                  <a:srgbClr val="231F20"/>
                </a:solidFill>
                <a:latin typeface="Tahoma"/>
                <a:cs typeface="Tahoma"/>
              </a:rPr>
              <a:t>+</a:t>
            </a:r>
            <a:r>
              <a:rPr lang="en-US" sz="2118" spc="-9" dirty="0">
                <a:solidFill>
                  <a:srgbClr val="231F20"/>
                </a:solidFill>
                <a:latin typeface="Tahoma"/>
                <a:cs typeface="Tahoma"/>
              </a:rPr>
              <a:t> </a:t>
            </a:r>
            <a:r>
              <a:rPr lang="en-US" sz="2118" spc="-4" dirty="0">
                <a:solidFill>
                  <a:srgbClr val="231F20"/>
                </a:solidFill>
                <a:latin typeface="Tahoma"/>
                <a:cs typeface="Tahoma"/>
              </a:rPr>
              <a:t>20X2</a:t>
            </a:r>
            <a:endParaRPr lang="en-US" sz="2118" dirty="0">
              <a:latin typeface="Tahoma"/>
              <a:ea typeface="Tahoma"/>
              <a:cs typeface="Tahoma"/>
            </a:endParaRPr>
          </a:p>
          <a:p>
            <a:pPr marL="10795"/>
            <a:r>
              <a:rPr lang="en-US" sz="2118" spc="-4" dirty="0">
                <a:solidFill>
                  <a:srgbClr val="231F20"/>
                </a:solidFill>
                <a:latin typeface="Tahoma"/>
                <a:cs typeface="Tahoma"/>
              </a:rPr>
              <a:t>Subject</a:t>
            </a:r>
            <a:r>
              <a:rPr lang="en-US" sz="2118" spc="-44" dirty="0">
                <a:solidFill>
                  <a:srgbClr val="231F20"/>
                </a:solidFill>
                <a:latin typeface="Tahoma"/>
                <a:cs typeface="Tahoma"/>
              </a:rPr>
              <a:t> </a:t>
            </a:r>
            <a:r>
              <a:rPr lang="en-US" sz="2118" dirty="0">
                <a:solidFill>
                  <a:srgbClr val="231F20"/>
                </a:solidFill>
                <a:latin typeface="Tahoma"/>
                <a:cs typeface="Tahoma"/>
              </a:rPr>
              <a:t>to:</a:t>
            </a:r>
            <a:endParaRPr lang="en-US" sz="2118" dirty="0">
              <a:latin typeface="Tahoma"/>
              <a:ea typeface="Tahoma"/>
              <a:cs typeface="Tahoma"/>
            </a:endParaRPr>
          </a:p>
          <a:p>
            <a:pPr marL="817880" marR="117475"/>
            <a:r>
              <a:rPr lang="en-US" sz="2100" spc="-4" dirty="0">
                <a:solidFill>
                  <a:srgbClr val="231F20"/>
                </a:solidFill>
                <a:latin typeface="Tahoma"/>
                <a:cs typeface="Tahoma"/>
              </a:rPr>
              <a:t>6X1</a:t>
            </a:r>
            <a:r>
              <a:rPr lang="en-US" sz="2100" spc="-26" dirty="0">
                <a:solidFill>
                  <a:srgbClr val="231F20"/>
                </a:solidFill>
                <a:latin typeface="Tahoma"/>
                <a:cs typeface="Tahoma"/>
              </a:rPr>
              <a:t> </a:t>
            </a:r>
            <a:r>
              <a:rPr lang="en-US" sz="2100" dirty="0">
                <a:solidFill>
                  <a:srgbClr val="231F20"/>
                </a:solidFill>
                <a:latin typeface="Tahoma"/>
                <a:cs typeface="Tahoma"/>
              </a:rPr>
              <a:t>+</a:t>
            </a:r>
            <a:r>
              <a:rPr lang="en-US" sz="2100" spc="-18" dirty="0">
                <a:solidFill>
                  <a:srgbClr val="231F20"/>
                </a:solidFill>
                <a:latin typeface="Tahoma"/>
                <a:cs typeface="Tahoma"/>
              </a:rPr>
              <a:t> </a:t>
            </a:r>
            <a:r>
              <a:rPr lang="en-US" sz="2100" spc="-4" dirty="0">
                <a:solidFill>
                  <a:srgbClr val="231F20"/>
                </a:solidFill>
                <a:latin typeface="Tahoma"/>
                <a:cs typeface="Tahoma"/>
              </a:rPr>
              <a:t>8X2</a:t>
            </a:r>
            <a:r>
              <a:rPr lang="en-US" sz="2100" spc="-22" dirty="0">
                <a:solidFill>
                  <a:srgbClr val="231F20"/>
                </a:solidFill>
                <a:latin typeface="Tahoma"/>
                <a:cs typeface="Tahoma"/>
              </a:rPr>
              <a:t> </a:t>
            </a:r>
            <a:r>
              <a:rPr lang="en-US" sz="2100" dirty="0">
                <a:solidFill>
                  <a:srgbClr val="231F20"/>
                </a:solidFill>
                <a:latin typeface="Tahoma"/>
                <a:cs typeface="Tahoma"/>
              </a:rPr>
              <a:t>≤</a:t>
            </a:r>
            <a:r>
              <a:rPr lang="en-US" sz="2100" spc="-18" dirty="0">
                <a:solidFill>
                  <a:srgbClr val="231F20"/>
                </a:solidFill>
                <a:latin typeface="Tahoma"/>
                <a:cs typeface="Tahoma"/>
              </a:rPr>
              <a:t> </a:t>
            </a:r>
            <a:r>
              <a:rPr lang="en-US" sz="2100" spc="-4" dirty="0">
                <a:solidFill>
                  <a:srgbClr val="231F20"/>
                </a:solidFill>
                <a:latin typeface="Tahoma"/>
                <a:cs typeface="Tahoma"/>
              </a:rPr>
              <a:t>48</a:t>
            </a:r>
            <a:endParaRPr lang="en-US" sz="2100" dirty="0">
              <a:solidFill>
                <a:srgbClr val="000000"/>
              </a:solidFill>
              <a:latin typeface="Tahoma"/>
              <a:cs typeface="Tahoma"/>
            </a:endParaRPr>
          </a:p>
          <a:p>
            <a:pPr marL="817880" marR="117475"/>
            <a:r>
              <a:rPr lang="en-US" sz="2100" spc="-649" dirty="0">
                <a:solidFill>
                  <a:srgbClr val="231F20"/>
                </a:solidFill>
                <a:latin typeface="Tahoma"/>
                <a:cs typeface="Tahoma"/>
              </a:rPr>
              <a:t>    </a:t>
            </a:r>
            <a:r>
              <a:rPr lang="en-US" sz="2100" dirty="0">
                <a:solidFill>
                  <a:srgbClr val="231F20"/>
                </a:solidFill>
                <a:latin typeface="Tahoma"/>
                <a:cs typeface="Tahoma"/>
              </a:rPr>
              <a:t>X1</a:t>
            </a:r>
            <a:r>
              <a:rPr lang="en-US" sz="2100" spc="-35" dirty="0">
                <a:solidFill>
                  <a:srgbClr val="231F20"/>
                </a:solidFill>
                <a:latin typeface="Tahoma"/>
                <a:cs typeface="Tahoma"/>
              </a:rPr>
              <a:t>  </a:t>
            </a:r>
            <a:r>
              <a:rPr lang="en-US" sz="2100" dirty="0">
                <a:solidFill>
                  <a:srgbClr val="231F20"/>
                </a:solidFill>
                <a:latin typeface="Tahoma"/>
                <a:cs typeface="Tahoma"/>
              </a:rPr>
              <a:t>+</a:t>
            </a:r>
            <a:r>
              <a:rPr lang="en-US" sz="2100" spc="-4" dirty="0">
                <a:solidFill>
                  <a:srgbClr val="231F20"/>
                </a:solidFill>
                <a:latin typeface="Tahoma"/>
                <a:cs typeface="Tahoma"/>
              </a:rPr>
              <a:t> 3X2</a:t>
            </a:r>
            <a:r>
              <a:rPr lang="en-US" sz="2100" spc="-18" dirty="0">
                <a:solidFill>
                  <a:srgbClr val="231F20"/>
                </a:solidFill>
                <a:latin typeface="Tahoma"/>
                <a:cs typeface="Tahoma"/>
              </a:rPr>
              <a:t> </a:t>
            </a:r>
            <a:r>
              <a:rPr lang="en-US" sz="2100" dirty="0">
                <a:solidFill>
                  <a:srgbClr val="231F20"/>
                </a:solidFill>
                <a:latin typeface="Tahoma"/>
                <a:cs typeface="Tahoma"/>
              </a:rPr>
              <a:t>≤</a:t>
            </a:r>
            <a:r>
              <a:rPr lang="en-US" sz="2100" spc="-13" dirty="0">
                <a:solidFill>
                  <a:srgbClr val="231F20"/>
                </a:solidFill>
                <a:latin typeface="Tahoma"/>
                <a:cs typeface="Tahoma"/>
              </a:rPr>
              <a:t> </a:t>
            </a:r>
            <a:r>
              <a:rPr lang="en-US" sz="2100" spc="-4" dirty="0">
                <a:solidFill>
                  <a:srgbClr val="231F20"/>
                </a:solidFill>
                <a:latin typeface="Tahoma"/>
                <a:cs typeface="Tahoma"/>
              </a:rPr>
              <a:t>12</a:t>
            </a:r>
            <a:endParaRPr lang="en-US" sz="2100" dirty="0">
              <a:latin typeface="Tahoma"/>
              <a:ea typeface="Tahoma"/>
              <a:cs typeface="Tahoma"/>
            </a:endParaRPr>
          </a:p>
          <a:p>
            <a:pPr marL="10795">
              <a:spcBef>
                <a:spcPts val="4"/>
              </a:spcBef>
            </a:pPr>
            <a:r>
              <a:rPr lang="en-US" sz="2118" spc="-4" dirty="0">
                <a:solidFill>
                  <a:srgbClr val="231F20"/>
                </a:solidFill>
                <a:latin typeface="Tahoma"/>
                <a:cs typeface="Tahoma"/>
              </a:rPr>
              <a:t>X1,</a:t>
            </a:r>
            <a:r>
              <a:rPr lang="en-US" sz="2118" spc="-22" dirty="0">
                <a:solidFill>
                  <a:srgbClr val="231F20"/>
                </a:solidFill>
                <a:latin typeface="Tahoma"/>
                <a:cs typeface="Tahoma"/>
              </a:rPr>
              <a:t> </a:t>
            </a:r>
            <a:r>
              <a:rPr lang="en-US" sz="2118" spc="-4" dirty="0">
                <a:solidFill>
                  <a:srgbClr val="231F20"/>
                </a:solidFill>
                <a:latin typeface="Tahoma"/>
                <a:cs typeface="Tahoma"/>
              </a:rPr>
              <a:t>X2</a:t>
            </a:r>
            <a:r>
              <a:rPr lang="en-US" sz="2118" spc="-22" dirty="0">
                <a:solidFill>
                  <a:srgbClr val="231F20"/>
                </a:solidFill>
                <a:latin typeface="Tahoma"/>
                <a:cs typeface="Tahoma"/>
              </a:rPr>
              <a:t> </a:t>
            </a:r>
            <a:r>
              <a:rPr lang="en-US" sz="2118" dirty="0">
                <a:solidFill>
                  <a:srgbClr val="231F20"/>
                </a:solidFill>
                <a:latin typeface="Tahoma"/>
                <a:cs typeface="Tahoma"/>
              </a:rPr>
              <a:t>≥ 0</a:t>
            </a:r>
            <a:r>
              <a:rPr lang="en-US" sz="2118" spc="-9" dirty="0">
                <a:solidFill>
                  <a:srgbClr val="231F20"/>
                </a:solidFill>
                <a:latin typeface="Tahoma"/>
                <a:cs typeface="Tahoma"/>
              </a:rPr>
              <a:t> </a:t>
            </a:r>
            <a:r>
              <a:rPr lang="en-US" sz="2118" dirty="0">
                <a:solidFill>
                  <a:srgbClr val="231F20"/>
                </a:solidFill>
                <a:latin typeface="Tahoma"/>
                <a:cs typeface="Tahoma"/>
              </a:rPr>
              <a:t>and</a:t>
            </a:r>
            <a:r>
              <a:rPr lang="en-US" sz="2118" spc="-18" dirty="0">
                <a:solidFill>
                  <a:srgbClr val="231F20"/>
                </a:solidFill>
                <a:latin typeface="Tahoma"/>
                <a:cs typeface="Tahoma"/>
              </a:rPr>
              <a:t> </a:t>
            </a:r>
            <a:r>
              <a:rPr lang="en-US" sz="2118" spc="-4" dirty="0">
                <a:solidFill>
                  <a:srgbClr val="231F20"/>
                </a:solidFill>
                <a:latin typeface="Tahoma"/>
                <a:cs typeface="Tahoma"/>
              </a:rPr>
              <a:t>integers</a:t>
            </a:r>
            <a:endParaRPr sz="2118" dirty="0">
              <a:latin typeface="Tahoma"/>
              <a:ea typeface="Tahoma"/>
              <a:cs typeface="Tahoma"/>
            </a:endParaRPr>
          </a:p>
        </p:txBody>
      </p:sp>
      <p:pic>
        <p:nvPicPr>
          <p:cNvPr id="4" name="object 4"/>
          <p:cNvPicPr/>
          <p:nvPr/>
        </p:nvPicPr>
        <p:blipFill>
          <a:blip r:embed="rId2" cstate="print"/>
          <a:stretch>
            <a:fillRect/>
          </a:stretch>
        </p:blipFill>
        <p:spPr>
          <a:xfrm>
            <a:off x="5490883" y="751380"/>
            <a:ext cx="4706470" cy="3683929"/>
          </a:xfrm>
          <a:prstGeom prst="rect">
            <a:avLst/>
          </a:prstGeom>
        </p:spPr>
      </p:pic>
      <p:sp>
        <p:nvSpPr>
          <p:cNvPr id="5" name="object 5"/>
          <p:cNvSpPr txBox="1"/>
          <p:nvPr/>
        </p:nvSpPr>
        <p:spPr>
          <a:xfrm>
            <a:off x="5827059" y="914846"/>
            <a:ext cx="4034118" cy="1064575"/>
          </a:xfrm>
          <a:prstGeom prst="rect">
            <a:avLst/>
          </a:prstGeom>
          <a:solidFill>
            <a:srgbClr val="4F81BD"/>
          </a:solidFill>
          <a:ln w="25400">
            <a:solidFill>
              <a:srgbClr val="365D8A"/>
            </a:solidFill>
          </a:ln>
        </p:spPr>
        <p:txBody>
          <a:bodyPr vert="horz" wrap="square" lIns="0" tIns="86285" rIns="0" bIns="0" rtlCol="0" anchor="t">
            <a:spAutoFit/>
          </a:bodyPr>
          <a:lstStyle/>
          <a:p>
            <a:pPr marL="80645">
              <a:spcBef>
                <a:spcPts val="679"/>
              </a:spcBef>
            </a:pPr>
            <a:r>
              <a:rPr sz="1588">
                <a:solidFill>
                  <a:srgbClr val="FFFFFF"/>
                </a:solidFill>
                <a:latin typeface="Tahoma"/>
                <a:cs typeface="Tahoma"/>
              </a:rPr>
              <a:t>Z</a:t>
            </a:r>
            <a:r>
              <a:rPr sz="1588" spc="-18">
                <a:solidFill>
                  <a:srgbClr val="FFFFFF"/>
                </a:solidFill>
                <a:latin typeface="Tahoma"/>
                <a:cs typeface="Tahoma"/>
              </a:rPr>
              <a:t> </a:t>
            </a:r>
            <a:r>
              <a:rPr sz="1588" spc="-4">
                <a:solidFill>
                  <a:srgbClr val="FFFFFF"/>
                </a:solidFill>
                <a:latin typeface="Tahoma"/>
                <a:cs typeface="Tahoma"/>
              </a:rPr>
              <a:t>(A)</a:t>
            </a:r>
            <a:r>
              <a:rPr sz="1588" spc="-9">
                <a:solidFill>
                  <a:srgbClr val="FFFFFF"/>
                </a:solidFill>
                <a:latin typeface="Tahoma"/>
                <a:cs typeface="Tahoma"/>
              </a:rPr>
              <a:t> </a:t>
            </a:r>
            <a:r>
              <a:rPr sz="1588">
                <a:solidFill>
                  <a:srgbClr val="FFFFFF"/>
                </a:solidFill>
                <a:latin typeface="Tahoma"/>
                <a:cs typeface="Tahoma"/>
              </a:rPr>
              <a:t>=</a:t>
            </a:r>
            <a:r>
              <a:rPr sz="1588" spc="4">
                <a:solidFill>
                  <a:srgbClr val="FFFFFF"/>
                </a:solidFill>
                <a:latin typeface="Tahoma"/>
                <a:cs typeface="Tahoma"/>
              </a:rPr>
              <a:t> </a:t>
            </a:r>
            <a:r>
              <a:rPr sz="1588">
                <a:solidFill>
                  <a:srgbClr val="FFFFFF"/>
                </a:solidFill>
                <a:latin typeface="Tahoma"/>
                <a:cs typeface="Tahoma"/>
              </a:rPr>
              <a:t>10</a:t>
            </a:r>
            <a:r>
              <a:rPr sz="1588" spc="-4">
                <a:solidFill>
                  <a:srgbClr val="FFFFFF"/>
                </a:solidFill>
                <a:latin typeface="Tahoma"/>
                <a:cs typeface="Tahoma"/>
              </a:rPr>
              <a:t> (0)</a:t>
            </a:r>
            <a:r>
              <a:rPr sz="1588">
                <a:solidFill>
                  <a:srgbClr val="FFFFFF"/>
                </a:solidFill>
                <a:latin typeface="Tahoma"/>
                <a:cs typeface="Tahoma"/>
              </a:rPr>
              <a:t> +</a:t>
            </a:r>
            <a:r>
              <a:rPr sz="1588" spc="-9">
                <a:solidFill>
                  <a:srgbClr val="FFFFFF"/>
                </a:solidFill>
                <a:latin typeface="Tahoma"/>
                <a:cs typeface="Tahoma"/>
              </a:rPr>
              <a:t> </a:t>
            </a:r>
            <a:r>
              <a:rPr sz="1588">
                <a:solidFill>
                  <a:srgbClr val="FFFFFF"/>
                </a:solidFill>
                <a:latin typeface="Tahoma"/>
                <a:cs typeface="Tahoma"/>
              </a:rPr>
              <a:t>20</a:t>
            </a:r>
            <a:r>
              <a:rPr sz="1588" spc="-4">
                <a:solidFill>
                  <a:srgbClr val="FFFFFF"/>
                </a:solidFill>
                <a:latin typeface="Tahoma"/>
                <a:cs typeface="Tahoma"/>
              </a:rPr>
              <a:t> (0)</a:t>
            </a:r>
            <a:r>
              <a:rPr sz="1588">
                <a:solidFill>
                  <a:srgbClr val="FFFFFF"/>
                </a:solidFill>
                <a:latin typeface="Tahoma"/>
                <a:cs typeface="Tahoma"/>
              </a:rPr>
              <a:t> =</a:t>
            </a:r>
            <a:r>
              <a:rPr sz="1588" spc="-9">
                <a:solidFill>
                  <a:srgbClr val="FFFFFF"/>
                </a:solidFill>
                <a:latin typeface="Tahoma"/>
                <a:cs typeface="Tahoma"/>
              </a:rPr>
              <a:t> </a:t>
            </a:r>
            <a:r>
              <a:rPr sz="1588">
                <a:solidFill>
                  <a:srgbClr val="FFFFFF"/>
                </a:solidFill>
                <a:latin typeface="Tahoma"/>
                <a:cs typeface="Tahoma"/>
              </a:rPr>
              <a:t>0</a:t>
            </a:r>
            <a:endParaRPr lang="en-US" sz="1588">
              <a:latin typeface="Tahoma"/>
              <a:ea typeface="Tahoma"/>
              <a:cs typeface="Tahoma"/>
            </a:endParaRPr>
          </a:p>
          <a:p>
            <a:pPr marL="80645"/>
            <a:r>
              <a:rPr sz="1588" spc="-4">
                <a:solidFill>
                  <a:srgbClr val="FFFFFF"/>
                </a:solidFill>
                <a:latin typeface="Tahoma"/>
                <a:cs typeface="Tahoma"/>
              </a:rPr>
              <a:t>Z(B)</a:t>
            </a:r>
            <a:r>
              <a:rPr sz="1588" spc="-13">
                <a:solidFill>
                  <a:srgbClr val="FFFFFF"/>
                </a:solidFill>
                <a:latin typeface="Tahoma"/>
                <a:cs typeface="Tahoma"/>
              </a:rPr>
              <a:t> </a:t>
            </a:r>
            <a:r>
              <a:rPr sz="1588">
                <a:solidFill>
                  <a:srgbClr val="FFFFFF"/>
                </a:solidFill>
                <a:latin typeface="Tahoma"/>
                <a:cs typeface="Tahoma"/>
              </a:rPr>
              <a:t>=</a:t>
            </a:r>
            <a:r>
              <a:rPr sz="1588" spc="4">
                <a:solidFill>
                  <a:srgbClr val="FFFFFF"/>
                </a:solidFill>
                <a:latin typeface="Tahoma"/>
                <a:cs typeface="Tahoma"/>
              </a:rPr>
              <a:t> </a:t>
            </a:r>
            <a:r>
              <a:rPr sz="1588">
                <a:solidFill>
                  <a:srgbClr val="FFFFFF"/>
                </a:solidFill>
                <a:latin typeface="Tahoma"/>
                <a:cs typeface="Tahoma"/>
              </a:rPr>
              <a:t>10</a:t>
            </a:r>
            <a:r>
              <a:rPr sz="1588" spc="-4">
                <a:solidFill>
                  <a:srgbClr val="FFFFFF"/>
                </a:solidFill>
                <a:latin typeface="Tahoma"/>
                <a:cs typeface="Tahoma"/>
              </a:rPr>
              <a:t> (8)</a:t>
            </a:r>
            <a:r>
              <a:rPr sz="1588">
                <a:solidFill>
                  <a:srgbClr val="FFFFFF"/>
                </a:solidFill>
                <a:latin typeface="Tahoma"/>
                <a:cs typeface="Tahoma"/>
              </a:rPr>
              <a:t> +</a:t>
            </a:r>
            <a:r>
              <a:rPr sz="1588" spc="-9">
                <a:solidFill>
                  <a:srgbClr val="FFFFFF"/>
                </a:solidFill>
                <a:latin typeface="Tahoma"/>
                <a:cs typeface="Tahoma"/>
              </a:rPr>
              <a:t> </a:t>
            </a:r>
            <a:r>
              <a:rPr sz="1588">
                <a:solidFill>
                  <a:srgbClr val="FFFFFF"/>
                </a:solidFill>
                <a:latin typeface="Tahoma"/>
                <a:cs typeface="Tahoma"/>
              </a:rPr>
              <a:t>+</a:t>
            </a:r>
            <a:r>
              <a:rPr sz="1588" spc="-9">
                <a:solidFill>
                  <a:srgbClr val="FFFFFF"/>
                </a:solidFill>
                <a:latin typeface="Tahoma"/>
                <a:cs typeface="Tahoma"/>
              </a:rPr>
              <a:t> </a:t>
            </a:r>
            <a:r>
              <a:rPr sz="1588">
                <a:solidFill>
                  <a:srgbClr val="FFFFFF"/>
                </a:solidFill>
                <a:latin typeface="Tahoma"/>
                <a:cs typeface="Tahoma"/>
              </a:rPr>
              <a:t>20</a:t>
            </a:r>
            <a:r>
              <a:rPr sz="1588" spc="4">
                <a:solidFill>
                  <a:srgbClr val="FFFFFF"/>
                </a:solidFill>
                <a:latin typeface="Tahoma"/>
                <a:cs typeface="Tahoma"/>
              </a:rPr>
              <a:t> </a:t>
            </a:r>
            <a:r>
              <a:rPr sz="1588" spc="-4">
                <a:solidFill>
                  <a:srgbClr val="FFFFFF"/>
                </a:solidFill>
                <a:latin typeface="Tahoma"/>
                <a:cs typeface="Tahoma"/>
              </a:rPr>
              <a:t>(0)</a:t>
            </a:r>
            <a:r>
              <a:rPr sz="1588">
                <a:solidFill>
                  <a:srgbClr val="FFFFFF"/>
                </a:solidFill>
                <a:latin typeface="Tahoma"/>
                <a:cs typeface="Tahoma"/>
              </a:rPr>
              <a:t> =</a:t>
            </a:r>
            <a:r>
              <a:rPr sz="1588" spc="-4">
                <a:solidFill>
                  <a:srgbClr val="FFFFFF"/>
                </a:solidFill>
                <a:latin typeface="Tahoma"/>
                <a:cs typeface="Tahoma"/>
              </a:rPr>
              <a:t> </a:t>
            </a:r>
            <a:r>
              <a:rPr sz="1588">
                <a:solidFill>
                  <a:srgbClr val="FFFFFF"/>
                </a:solidFill>
                <a:latin typeface="Tahoma"/>
                <a:cs typeface="Tahoma"/>
              </a:rPr>
              <a:t>80</a:t>
            </a:r>
            <a:endParaRPr sz="1588">
              <a:latin typeface="Tahoma"/>
              <a:ea typeface="Tahoma"/>
              <a:cs typeface="Tahoma"/>
            </a:endParaRPr>
          </a:p>
          <a:p>
            <a:pPr marL="80645"/>
            <a:r>
              <a:rPr sz="1588" b="1" spc="-4">
                <a:solidFill>
                  <a:srgbClr val="F6EB00"/>
                </a:solidFill>
                <a:latin typeface="Tahoma"/>
                <a:cs typeface="Tahoma"/>
              </a:rPr>
              <a:t>Z(C)</a:t>
            </a:r>
            <a:r>
              <a:rPr sz="1588" b="1" spc="-26">
                <a:solidFill>
                  <a:srgbClr val="F6EB00"/>
                </a:solidFill>
                <a:latin typeface="Tahoma"/>
                <a:cs typeface="Tahoma"/>
              </a:rPr>
              <a:t> </a:t>
            </a:r>
            <a:r>
              <a:rPr sz="1588" b="1">
                <a:solidFill>
                  <a:srgbClr val="F6EB00"/>
                </a:solidFill>
                <a:latin typeface="Tahoma"/>
                <a:cs typeface="Tahoma"/>
              </a:rPr>
              <a:t>=</a:t>
            </a:r>
            <a:r>
              <a:rPr sz="1588" b="1" spc="-4">
                <a:solidFill>
                  <a:srgbClr val="F6EB00"/>
                </a:solidFill>
                <a:latin typeface="Tahoma"/>
                <a:cs typeface="Tahoma"/>
              </a:rPr>
              <a:t> </a:t>
            </a:r>
            <a:r>
              <a:rPr sz="1588" b="1">
                <a:solidFill>
                  <a:srgbClr val="F6EB00"/>
                </a:solidFill>
                <a:latin typeface="Tahoma"/>
                <a:cs typeface="Tahoma"/>
              </a:rPr>
              <a:t>10</a:t>
            </a:r>
            <a:r>
              <a:rPr sz="1588" b="1" spc="-13">
                <a:solidFill>
                  <a:srgbClr val="F6EB00"/>
                </a:solidFill>
                <a:latin typeface="Tahoma"/>
                <a:cs typeface="Tahoma"/>
              </a:rPr>
              <a:t> </a:t>
            </a:r>
            <a:r>
              <a:rPr sz="1588" b="1">
                <a:solidFill>
                  <a:srgbClr val="F6EB00"/>
                </a:solidFill>
                <a:latin typeface="Tahoma"/>
                <a:cs typeface="Tahoma"/>
              </a:rPr>
              <a:t>(24/5)</a:t>
            </a:r>
            <a:r>
              <a:rPr sz="1588" b="1" spc="-31">
                <a:solidFill>
                  <a:srgbClr val="F6EB00"/>
                </a:solidFill>
                <a:latin typeface="Tahoma"/>
                <a:cs typeface="Tahoma"/>
              </a:rPr>
              <a:t> </a:t>
            </a:r>
            <a:r>
              <a:rPr sz="1588" b="1">
                <a:solidFill>
                  <a:srgbClr val="F6EB00"/>
                </a:solidFill>
                <a:latin typeface="Tahoma"/>
                <a:cs typeface="Tahoma"/>
              </a:rPr>
              <a:t>+</a:t>
            </a:r>
            <a:r>
              <a:rPr sz="1588" b="1" spc="-9">
                <a:solidFill>
                  <a:srgbClr val="F6EB00"/>
                </a:solidFill>
                <a:latin typeface="Tahoma"/>
                <a:cs typeface="Tahoma"/>
              </a:rPr>
              <a:t> </a:t>
            </a:r>
            <a:r>
              <a:rPr sz="1588" b="1">
                <a:solidFill>
                  <a:srgbClr val="F6EB00"/>
                </a:solidFill>
                <a:latin typeface="Tahoma"/>
                <a:cs typeface="Tahoma"/>
              </a:rPr>
              <a:t>+</a:t>
            </a:r>
            <a:r>
              <a:rPr sz="1588" b="1" spc="-18">
                <a:solidFill>
                  <a:srgbClr val="F6EB00"/>
                </a:solidFill>
                <a:latin typeface="Tahoma"/>
                <a:cs typeface="Tahoma"/>
              </a:rPr>
              <a:t> </a:t>
            </a:r>
            <a:r>
              <a:rPr sz="1588" b="1">
                <a:solidFill>
                  <a:srgbClr val="F6EB00"/>
                </a:solidFill>
                <a:latin typeface="Tahoma"/>
                <a:cs typeface="Tahoma"/>
              </a:rPr>
              <a:t>20 (12/5)</a:t>
            </a:r>
            <a:r>
              <a:rPr sz="1588" b="1" spc="-26">
                <a:solidFill>
                  <a:srgbClr val="F6EB00"/>
                </a:solidFill>
                <a:latin typeface="Tahoma"/>
                <a:cs typeface="Tahoma"/>
              </a:rPr>
              <a:t> </a:t>
            </a:r>
            <a:r>
              <a:rPr sz="1588" b="1">
                <a:solidFill>
                  <a:srgbClr val="F6EB00"/>
                </a:solidFill>
                <a:latin typeface="Tahoma"/>
                <a:cs typeface="Tahoma"/>
              </a:rPr>
              <a:t>=</a:t>
            </a:r>
            <a:r>
              <a:rPr sz="1588" b="1" spc="-9">
                <a:solidFill>
                  <a:srgbClr val="F6EB00"/>
                </a:solidFill>
                <a:latin typeface="Tahoma"/>
                <a:cs typeface="Tahoma"/>
              </a:rPr>
              <a:t> </a:t>
            </a:r>
            <a:r>
              <a:rPr sz="1588" b="1">
                <a:solidFill>
                  <a:srgbClr val="F6EB00"/>
                </a:solidFill>
                <a:latin typeface="Tahoma"/>
                <a:cs typeface="Tahoma"/>
              </a:rPr>
              <a:t>96</a:t>
            </a:r>
            <a:endParaRPr sz="1588">
              <a:latin typeface="Tahoma"/>
              <a:ea typeface="Tahoma"/>
              <a:cs typeface="Tahoma"/>
            </a:endParaRPr>
          </a:p>
          <a:p>
            <a:pPr marL="80645"/>
            <a:r>
              <a:rPr sz="1550" spc="-4">
                <a:solidFill>
                  <a:srgbClr val="FFFFFF"/>
                </a:solidFill>
                <a:latin typeface="Tahoma"/>
                <a:cs typeface="Tahoma"/>
              </a:rPr>
              <a:t>Z</a:t>
            </a:r>
            <a:r>
              <a:rPr lang="en-US" sz="1550" spc="-4">
                <a:solidFill>
                  <a:srgbClr val="FFFFFF"/>
                </a:solidFill>
                <a:latin typeface="Tahoma"/>
                <a:cs typeface="Tahoma"/>
              </a:rPr>
              <a:t>(D)</a:t>
            </a:r>
            <a:r>
              <a:rPr sz="1550" spc="-13">
                <a:solidFill>
                  <a:srgbClr val="FFFFFF"/>
                </a:solidFill>
                <a:latin typeface="Tahoma"/>
                <a:cs typeface="Tahoma"/>
              </a:rPr>
              <a:t> </a:t>
            </a:r>
            <a:r>
              <a:rPr sz="1550">
                <a:solidFill>
                  <a:srgbClr val="FFFFFF"/>
                </a:solidFill>
                <a:latin typeface="Tahoma"/>
                <a:cs typeface="Tahoma"/>
              </a:rPr>
              <a:t>=</a:t>
            </a:r>
            <a:r>
              <a:rPr sz="1550" spc="4">
                <a:solidFill>
                  <a:srgbClr val="FFFFFF"/>
                </a:solidFill>
                <a:latin typeface="Tahoma"/>
                <a:cs typeface="Tahoma"/>
              </a:rPr>
              <a:t> </a:t>
            </a:r>
            <a:r>
              <a:rPr sz="1550">
                <a:solidFill>
                  <a:srgbClr val="FFFFFF"/>
                </a:solidFill>
                <a:latin typeface="Tahoma"/>
                <a:cs typeface="Tahoma"/>
              </a:rPr>
              <a:t>10</a:t>
            </a:r>
            <a:r>
              <a:rPr sz="1550" spc="-4">
                <a:solidFill>
                  <a:srgbClr val="FFFFFF"/>
                </a:solidFill>
                <a:latin typeface="Tahoma"/>
                <a:cs typeface="Tahoma"/>
              </a:rPr>
              <a:t> (0)</a:t>
            </a:r>
            <a:r>
              <a:rPr sz="1550">
                <a:solidFill>
                  <a:srgbClr val="FFFFFF"/>
                </a:solidFill>
                <a:latin typeface="Tahoma"/>
                <a:cs typeface="Tahoma"/>
              </a:rPr>
              <a:t> +</a:t>
            </a:r>
            <a:r>
              <a:rPr sz="1550" spc="-9">
                <a:solidFill>
                  <a:srgbClr val="FFFFFF"/>
                </a:solidFill>
                <a:latin typeface="Tahoma"/>
                <a:cs typeface="Tahoma"/>
              </a:rPr>
              <a:t> </a:t>
            </a:r>
            <a:r>
              <a:rPr sz="1550">
                <a:solidFill>
                  <a:srgbClr val="FFFFFF"/>
                </a:solidFill>
                <a:latin typeface="Tahoma"/>
                <a:cs typeface="Tahoma"/>
              </a:rPr>
              <a:t>+</a:t>
            </a:r>
            <a:r>
              <a:rPr sz="1550" spc="-9">
                <a:solidFill>
                  <a:srgbClr val="FFFFFF"/>
                </a:solidFill>
                <a:latin typeface="Tahoma"/>
                <a:cs typeface="Tahoma"/>
              </a:rPr>
              <a:t> </a:t>
            </a:r>
            <a:r>
              <a:rPr sz="1550">
                <a:solidFill>
                  <a:srgbClr val="FFFFFF"/>
                </a:solidFill>
                <a:latin typeface="Tahoma"/>
                <a:cs typeface="Tahoma"/>
              </a:rPr>
              <a:t>20</a:t>
            </a:r>
            <a:r>
              <a:rPr sz="1550" spc="4">
                <a:solidFill>
                  <a:srgbClr val="FFFFFF"/>
                </a:solidFill>
                <a:latin typeface="Tahoma"/>
                <a:cs typeface="Tahoma"/>
              </a:rPr>
              <a:t> </a:t>
            </a:r>
            <a:r>
              <a:rPr sz="1550" spc="-4">
                <a:solidFill>
                  <a:srgbClr val="FFFFFF"/>
                </a:solidFill>
                <a:latin typeface="Tahoma"/>
                <a:cs typeface="Tahoma"/>
              </a:rPr>
              <a:t>(4)</a:t>
            </a:r>
            <a:r>
              <a:rPr sz="1550">
                <a:solidFill>
                  <a:srgbClr val="FFFFFF"/>
                </a:solidFill>
                <a:latin typeface="Tahoma"/>
                <a:cs typeface="Tahoma"/>
              </a:rPr>
              <a:t> =</a:t>
            </a:r>
            <a:r>
              <a:rPr sz="1550" spc="-4">
                <a:solidFill>
                  <a:srgbClr val="FFFFFF"/>
                </a:solidFill>
                <a:latin typeface="Tahoma"/>
                <a:cs typeface="Tahoma"/>
              </a:rPr>
              <a:t> </a:t>
            </a:r>
            <a:r>
              <a:rPr sz="1550">
                <a:solidFill>
                  <a:srgbClr val="FFFFFF"/>
                </a:solidFill>
                <a:latin typeface="Tahoma"/>
                <a:cs typeface="Tahoma"/>
              </a:rPr>
              <a:t>80</a:t>
            </a:r>
            <a:endParaRPr sz="1550">
              <a:latin typeface="Tahoma"/>
              <a:ea typeface="Tahoma"/>
              <a:cs typeface="Tahoma"/>
            </a:endParaRPr>
          </a:p>
        </p:txBody>
      </p:sp>
      <p:sp>
        <p:nvSpPr>
          <p:cNvPr id="8" name="TextBox 7">
            <a:extLst>
              <a:ext uri="{FF2B5EF4-FFF2-40B4-BE49-F238E27FC236}">
                <a16:creationId xmlns:a16="http://schemas.microsoft.com/office/drawing/2014/main" id="{580E9A47-747D-D0A9-58A9-64D44DFA111F}"/>
              </a:ext>
            </a:extLst>
          </p:cNvPr>
          <p:cNvSpPr txBox="1"/>
          <p:nvPr/>
        </p:nvSpPr>
        <p:spPr>
          <a:xfrm>
            <a:off x="1455069" y="3945355"/>
            <a:ext cx="443915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Optimal LPP solution:</a:t>
            </a:r>
          </a:p>
          <a:p>
            <a:r>
              <a:rPr lang="en-US" dirty="0"/>
              <a:t>Z  = 96</a:t>
            </a:r>
            <a:br>
              <a:rPr lang="en-US" dirty="0"/>
            </a:br>
            <a:r>
              <a:rPr lang="en-US" dirty="0"/>
              <a:t>X1 =24/5</a:t>
            </a:r>
            <a:br>
              <a:rPr lang="en-US" dirty="0"/>
            </a:br>
            <a:r>
              <a:rPr lang="en-US" dirty="0"/>
              <a:t>X2 = 12/5</a:t>
            </a:r>
          </a:p>
          <a:p>
            <a:endParaRPr lang="en-US" dirty="0"/>
          </a:p>
          <a:p>
            <a:r>
              <a:rPr lang="en-US" dirty="0"/>
              <a:t>This is NOT an integer solution.</a:t>
            </a:r>
            <a:br>
              <a:rPr lang="en-US" dirty="0"/>
            </a:br>
            <a:r>
              <a:rPr lang="en-US" dirty="0"/>
              <a:t>Let us follow the branch and bound method.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54389" y="39878"/>
            <a:ext cx="9769263" cy="446487"/>
          </a:xfrm>
          <a:prstGeom prst="rect">
            <a:avLst/>
          </a:prstGeom>
        </p:spPr>
        <p:txBody>
          <a:bodyPr vert="horz" wrap="square" lIns="0" tIns="11766" rIns="0" bIns="0" rtlCol="0" anchor="t">
            <a:spAutoFit/>
          </a:bodyPr>
          <a:lstStyle/>
          <a:p>
            <a:pPr marL="11206">
              <a:lnSpc>
                <a:spcPct val="100000"/>
              </a:lnSpc>
              <a:spcBef>
                <a:spcPts val="93"/>
              </a:spcBef>
            </a:pPr>
            <a:r>
              <a:t>BRANCH–AND–BOUND</a:t>
            </a:r>
            <a:r>
              <a:rPr spc="-79"/>
              <a:t> </a:t>
            </a:r>
            <a:r>
              <a:rPr spc="-4"/>
              <a:t>METHOD</a:t>
            </a:r>
            <a:r>
              <a:rPr lang="en-US" spc="-26"/>
              <a:t>: A Solved problem</a:t>
            </a:r>
            <a:endParaRPr/>
          </a:p>
        </p:txBody>
      </p:sp>
      <p:pic>
        <p:nvPicPr>
          <p:cNvPr id="4" name="object 4"/>
          <p:cNvPicPr/>
          <p:nvPr/>
        </p:nvPicPr>
        <p:blipFill>
          <a:blip r:embed="rId2" cstate="print"/>
          <a:stretch>
            <a:fillRect/>
          </a:stretch>
        </p:blipFill>
        <p:spPr>
          <a:xfrm>
            <a:off x="6583751" y="560880"/>
            <a:ext cx="4706470" cy="3683929"/>
          </a:xfrm>
          <a:prstGeom prst="rect">
            <a:avLst/>
          </a:prstGeom>
        </p:spPr>
      </p:pic>
      <p:sp>
        <p:nvSpPr>
          <p:cNvPr id="5" name="object 5"/>
          <p:cNvSpPr txBox="1"/>
          <p:nvPr/>
        </p:nvSpPr>
        <p:spPr>
          <a:xfrm>
            <a:off x="7240770" y="754425"/>
            <a:ext cx="4034118" cy="1064575"/>
          </a:xfrm>
          <a:prstGeom prst="rect">
            <a:avLst/>
          </a:prstGeom>
          <a:solidFill>
            <a:srgbClr val="4F81BD"/>
          </a:solidFill>
          <a:ln w="25400">
            <a:solidFill>
              <a:srgbClr val="365D8A"/>
            </a:solidFill>
          </a:ln>
        </p:spPr>
        <p:txBody>
          <a:bodyPr vert="horz" wrap="square" lIns="0" tIns="86285" rIns="0" bIns="0" rtlCol="0" anchor="t">
            <a:spAutoFit/>
          </a:bodyPr>
          <a:lstStyle/>
          <a:p>
            <a:pPr marL="80645">
              <a:spcBef>
                <a:spcPts val="679"/>
              </a:spcBef>
            </a:pPr>
            <a:r>
              <a:rPr sz="1588">
                <a:solidFill>
                  <a:srgbClr val="FFFFFF"/>
                </a:solidFill>
                <a:latin typeface="Tahoma"/>
                <a:cs typeface="Tahoma"/>
              </a:rPr>
              <a:t>Z</a:t>
            </a:r>
            <a:r>
              <a:rPr sz="1588" spc="-18">
                <a:solidFill>
                  <a:srgbClr val="FFFFFF"/>
                </a:solidFill>
                <a:latin typeface="Tahoma"/>
                <a:cs typeface="Tahoma"/>
              </a:rPr>
              <a:t> </a:t>
            </a:r>
            <a:r>
              <a:rPr sz="1588" spc="-4">
                <a:solidFill>
                  <a:srgbClr val="FFFFFF"/>
                </a:solidFill>
                <a:latin typeface="Tahoma"/>
                <a:cs typeface="Tahoma"/>
              </a:rPr>
              <a:t>(A)</a:t>
            </a:r>
            <a:r>
              <a:rPr sz="1588" spc="-9">
                <a:solidFill>
                  <a:srgbClr val="FFFFFF"/>
                </a:solidFill>
                <a:latin typeface="Tahoma"/>
                <a:cs typeface="Tahoma"/>
              </a:rPr>
              <a:t> </a:t>
            </a:r>
            <a:r>
              <a:rPr sz="1588">
                <a:solidFill>
                  <a:srgbClr val="FFFFFF"/>
                </a:solidFill>
                <a:latin typeface="Tahoma"/>
                <a:cs typeface="Tahoma"/>
              </a:rPr>
              <a:t>=</a:t>
            </a:r>
            <a:r>
              <a:rPr sz="1588" spc="4">
                <a:solidFill>
                  <a:srgbClr val="FFFFFF"/>
                </a:solidFill>
                <a:latin typeface="Tahoma"/>
                <a:cs typeface="Tahoma"/>
              </a:rPr>
              <a:t> </a:t>
            </a:r>
            <a:r>
              <a:rPr sz="1588">
                <a:solidFill>
                  <a:srgbClr val="FFFFFF"/>
                </a:solidFill>
                <a:latin typeface="Tahoma"/>
                <a:cs typeface="Tahoma"/>
              </a:rPr>
              <a:t>10</a:t>
            </a:r>
            <a:r>
              <a:rPr sz="1588" spc="-4">
                <a:solidFill>
                  <a:srgbClr val="FFFFFF"/>
                </a:solidFill>
                <a:latin typeface="Tahoma"/>
                <a:cs typeface="Tahoma"/>
              </a:rPr>
              <a:t> (0)</a:t>
            </a:r>
            <a:r>
              <a:rPr sz="1588">
                <a:solidFill>
                  <a:srgbClr val="FFFFFF"/>
                </a:solidFill>
                <a:latin typeface="Tahoma"/>
                <a:cs typeface="Tahoma"/>
              </a:rPr>
              <a:t> +</a:t>
            </a:r>
            <a:r>
              <a:rPr sz="1588" spc="-9">
                <a:solidFill>
                  <a:srgbClr val="FFFFFF"/>
                </a:solidFill>
                <a:latin typeface="Tahoma"/>
                <a:cs typeface="Tahoma"/>
              </a:rPr>
              <a:t> </a:t>
            </a:r>
            <a:r>
              <a:rPr sz="1588">
                <a:solidFill>
                  <a:srgbClr val="FFFFFF"/>
                </a:solidFill>
                <a:latin typeface="Tahoma"/>
                <a:cs typeface="Tahoma"/>
              </a:rPr>
              <a:t>20</a:t>
            </a:r>
            <a:r>
              <a:rPr sz="1588" spc="-4">
                <a:solidFill>
                  <a:srgbClr val="FFFFFF"/>
                </a:solidFill>
                <a:latin typeface="Tahoma"/>
                <a:cs typeface="Tahoma"/>
              </a:rPr>
              <a:t> (0)</a:t>
            </a:r>
            <a:r>
              <a:rPr sz="1588">
                <a:solidFill>
                  <a:srgbClr val="FFFFFF"/>
                </a:solidFill>
                <a:latin typeface="Tahoma"/>
                <a:cs typeface="Tahoma"/>
              </a:rPr>
              <a:t> =</a:t>
            </a:r>
            <a:r>
              <a:rPr sz="1588" spc="-9">
                <a:solidFill>
                  <a:srgbClr val="FFFFFF"/>
                </a:solidFill>
                <a:latin typeface="Tahoma"/>
                <a:cs typeface="Tahoma"/>
              </a:rPr>
              <a:t> </a:t>
            </a:r>
            <a:r>
              <a:rPr sz="1588">
                <a:solidFill>
                  <a:srgbClr val="FFFFFF"/>
                </a:solidFill>
                <a:latin typeface="Tahoma"/>
                <a:cs typeface="Tahoma"/>
              </a:rPr>
              <a:t>0</a:t>
            </a:r>
            <a:endParaRPr lang="en-US" sz="1588">
              <a:latin typeface="Tahoma"/>
              <a:ea typeface="Tahoma"/>
              <a:cs typeface="Tahoma"/>
            </a:endParaRPr>
          </a:p>
          <a:p>
            <a:pPr marL="80645"/>
            <a:r>
              <a:rPr sz="1588" spc="-4">
                <a:solidFill>
                  <a:srgbClr val="FFFFFF"/>
                </a:solidFill>
                <a:latin typeface="Tahoma"/>
                <a:cs typeface="Tahoma"/>
              </a:rPr>
              <a:t>Z(B)</a:t>
            </a:r>
            <a:r>
              <a:rPr sz="1588" spc="-13">
                <a:solidFill>
                  <a:srgbClr val="FFFFFF"/>
                </a:solidFill>
                <a:latin typeface="Tahoma"/>
                <a:cs typeface="Tahoma"/>
              </a:rPr>
              <a:t> </a:t>
            </a:r>
            <a:r>
              <a:rPr sz="1588">
                <a:solidFill>
                  <a:srgbClr val="FFFFFF"/>
                </a:solidFill>
                <a:latin typeface="Tahoma"/>
                <a:cs typeface="Tahoma"/>
              </a:rPr>
              <a:t>=</a:t>
            </a:r>
            <a:r>
              <a:rPr sz="1588" spc="4">
                <a:solidFill>
                  <a:srgbClr val="FFFFFF"/>
                </a:solidFill>
                <a:latin typeface="Tahoma"/>
                <a:cs typeface="Tahoma"/>
              </a:rPr>
              <a:t> </a:t>
            </a:r>
            <a:r>
              <a:rPr sz="1588">
                <a:solidFill>
                  <a:srgbClr val="FFFFFF"/>
                </a:solidFill>
                <a:latin typeface="Tahoma"/>
                <a:cs typeface="Tahoma"/>
              </a:rPr>
              <a:t>10</a:t>
            </a:r>
            <a:r>
              <a:rPr sz="1588" spc="-4">
                <a:solidFill>
                  <a:srgbClr val="FFFFFF"/>
                </a:solidFill>
                <a:latin typeface="Tahoma"/>
                <a:cs typeface="Tahoma"/>
              </a:rPr>
              <a:t> (8)</a:t>
            </a:r>
            <a:r>
              <a:rPr sz="1588">
                <a:solidFill>
                  <a:srgbClr val="FFFFFF"/>
                </a:solidFill>
                <a:latin typeface="Tahoma"/>
                <a:cs typeface="Tahoma"/>
              </a:rPr>
              <a:t> +</a:t>
            </a:r>
            <a:r>
              <a:rPr sz="1588" spc="-9">
                <a:solidFill>
                  <a:srgbClr val="FFFFFF"/>
                </a:solidFill>
                <a:latin typeface="Tahoma"/>
                <a:cs typeface="Tahoma"/>
              </a:rPr>
              <a:t> </a:t>
            </a:r>
            <a:r>
              <a:rPr sz="1588">
                <a:solidFill>
                  <a:srgbClr val="FFFFFF"/>
                </a:solidFill>
                <a:latin typeface="Tahoma"/>
                <a:cs typeface="Tahoma"/>
              </a:rPr>
              <a:t>+</a:t>
            </a:r>
            <a:r>
              <a:rPr sz="1588" spc="-9">
                <a:solidFill>
                  <a:srgbClr val="FFFFFF"/>
                </a:solidFill>
                <a:latin typeface="Tahoma"/>
                <a:cs typeface="Tahoma"/>
              </a:rPr>
              <a:t> </a:t>
            </a:r>
            <a:r>
              <a:rPr sz="1588">
                <a:solidFill>
                  <a:srgbClr val="FFFFFF"/>
                </a:solidFill>
                <a:latin typeface="Tahoma"/>
                <a:cs typeface="Tahoma"/>
              </a:rPr>
              <a:t>20</a:t>
            </a:r>
            <a:r>
              <a:rPr sz="1588" spc="4">
                <a:solidFill>
                  <a:srgbClr val="FFFFFF"/>
                </a:solidFill>
                <a:latin typeface="Tahoma"/>
                <a:cs typeface="Tahoma"/>
              </a:rPr>
              <a:t> </a:t>
            </a:r>
            <a:r>
              <a:rPr sz="1588" spc="-4">
                <a:solidFill>
                  <a:srgbClr val="FFFFFF"/>
                </a:solidFill>
                <a:latin typeface="Tahoma"/>
                <a:cs typeface="Tahoma"/>
              </a:rPr>
              <a:t>(0)</a:t>
            </a:r>
            <a:r>
              <a:rPr sz="1588">
                <a:solidFill>
                  <a:srgbClr val="FFFFFF"/>
                </a:solidFill>
                <a:latin typeface="Tahoma"/>
                <a:cs typeface="Tahoma"/>
              </a:rPr>
              <a:t> =</a:t>
            </a:r>
            <a:r>
              <a:rPr sz="1588" spc="-4">
                <a:solidFill>
                  <a:srgbClr val="FFFFFF"/>
                </a:solidFill>
                <a:latin typeface="Tahoma"/>
                <a:cs typeface="Tahoma"/>
              </a:rPr>
              <a:t> </a:t>
            </a:r>
            <a:r>
              <a:rPr sz="1588">
                <a:solidFill>
                  <a:srgbClr val="FFFFFF"/>
                </a:solidFill>
                <a:latin typeface="Tahoma"/>
                <a:cs typeface="Tahoma"/>
              </a:rPr>
              <a:t>80</a:t>
            </a:r>
            <a:endParaRPr sz="1588">
              <a:latin typeface="Tahoma"/>
              <a:ea typeface="Tahoma"/>
              <a:cs typeface="Tahoma"/>
            </a:endParaRPr>
          </a:p>
          <a:p>
            <a:pPr marL="80645"/>
            <a:r>
              <a:rPr sz="1588" b="1" spc="-4">
                <a:solidFill>
                  <a:srgbClr val="F6EB00"/>
                </a:solidFill>
                <a:latin typeface="Tahoma"/>
                <a:cs typeface="Tahoma"/>
              </a:rPr>
              <a:t>Z(C)</a:t>
            </a:r>
            <a:r>
              <a:rPr sz="1588" b="1" spc="-26">
                <a:solidFill>
                  <a:srgbClr val="F6EB00"/>
                </a:solidFill>
                <a:latin typeface="Tahoma"/>
                <a:cs typeface="Tahoma"/>
              </a:rPr>
              <a:t> </a:t>
            </a:r>
            <a:r>
              <a:rPr sz="1588" b="1">
                <a:solidFill>
                  <a:srgbClr val="F6EB00"/>
                </a:solidFill>
                <a:latin typeface="Tahoma"/>
                <a:cs typeface="Tahoma"/>
              </a:rPr>
              <a:t>=</a:t>
            </a:r>
            <a:r>
              <a:rPr sz="1588" b="1" spc="-4">
                <a:solidFill>
                  <a:srgbClr val="F6EB00"/>
                </a:solidFill>
                <a:latin typeface="Tahoma"/>
                <a:cs typeface="Tahoma"/>
              </a:rPr>
              <a:t> </a:t>
            </a:r>
            <a:r>
              <a:rPr sz="1588" b="1">
                <a:solidFill>
                  <a:srgbClr val="F6EB00"/>
                </a:solidFill>
                <a:latin typeface="Tahoma"/>
                <a:cs typeface="Tahoma"/>
              </a:rPr>
              <a:t>10</a:t>
            </a:r>
            <a:r>
              <a:rPr sz="1588" b="1" spc="-13">
                <a:solidFill>
                  <a:srgbClr val="F6EB00"/>
                </a:solidFill>
                <a:latin typeface="Tahoma"/>
                <a:cs typeface="Tahoma"/>
              </a:rPr>
              <a:t> </a:t>
            </a:r>
            <a:r>
              <a:rPr sz="1588" b="1">
                <a:solidFill>
                  <a:srgbClr val="F6EB00"/>
                </a:solidFill>
                <a:latin typeface="Tahoma"/>
                <a:cs typeface="Tahoma"/>
              </a:rPr>
              <a:t>(24/5)</a:t>
            </a:r>
            <a:r>
              <a:rPr sz="1588" b="1" spc="-31">
                <a:solidFill>
                  <a:srgbClr val="F6EB00"/>
                </a:solidFill>
                <a:latin typeface="Tahoma"/>
                <a:cs typeface="Tahoma"/>
              </a:rPr>
              <a:t> </a:t>
            </a:r>
            <a:r>
              <a:rPr sz="1588" b="1">
                <a:solidFill>
                  <a:srgbClr val="F6EB00"/>
                </a:solidFill>
                <a:latin typeface="Tahoma"/>
                <a:cs typeface="Tahoma"/>
              </a:rPr>
              <a:t>+</a:t>
            </a:r>
            <a:r>
              <a:rPr sz="1588" b="1" spc="-9">
                <a:solidFill>
                  <a:srgbClr val="F6EB00"/>
                </a:solidFill>
                <a:latin typeface="Tahoma"/>
                <a:cs typeface="Tahoma"/>
              </a:rPr>
              <a:t> </a:t>
            </a:r>
            <a:r>
              <a:rPr sz="1588" b="1">
                <a:solidFill>
                  <a:srgbClr val="F6EB00"/>
                </a:solidFill>
                <a:latin typeface="Tahoma"/>
                <a:cs typeface="Tahoma"/>
              </a:rPr>
              <a:t>+</a:t>
            </a:r>
            <a:r>
              <a:rPr sz="1588" b="1" spc="-18">
                <a:solidFill>
                  <a:srgbClr val="F6EB00"/>
                </a:solidFill>
                <a:latin typeface="Tahoma"/>
                <a:cs typeface="Tahoma"/>
              </a:rPr>
              <a:t> </a:t>
            </a:r>
            <a:r>
              <a:rPr sz="1588" b="1">
                <a:solidFill>
                  <a:srgbClr val="F6EB00"/>
                </a:solidFill>
                <a:latin typeface="Tahoma"/>
                <a:cs typeface="Tahoma"/>
              </a:rPr>
              <a:t>20 (12/5)</a:t>
            </a:r>
            <a:r>
              <a:rPr sz="1588" b="1" spc="-26">
                <a:solidFill>
                  <a:srgbClr val="F6EB00"/>
                </a:solidFill>
                <a:latin typeface="Tahoma"/>
                <a:cs typeface="Tahoma"/>
              </a:rPr>
              <a:t> </a:t>
            </a:r>
            <a:r>
              <a:rPr sz="1588" b="1">
                <a:solidFill>
                  <a:srgbClr val="F6EB00"/>
                </a:solidFill>
                <a:latin typeface="Tahoma"/>
                <a:cs typeface="Tahoma"/>
              </a:rPr>
              <a:t>=</a:t>
            </a:r>
            <a:r>
              <a:rPr sz="1588" b="1" spc="-9">
                <a:solidFill>
                  <a:srgbClr val="F6EB00"/>
                </a:solidFill>
                <a:latin typeface="Tahoma"/>
                <a:cs typeface="Tahoma"/>
              </a:rPr>
              <a:t> </a:t>
            </a:r>
            <a:r>
              <a:rPr sz="1588" b="1">
                <a:solidFill>
                  <a:srgbClr val="F6EB00"/>
                </a:solidFill>
                <a:latin typeface="Tahoma"/>
                <a:cs typeface="Tahoma"/>
              </a:rPr>
              <a:t>96</a:t>
            </a:r>
            <a:endParaRPr sz="1588">
              <a:latin typeface="Tahoma"/>
              <a:ea typeface="Tahoma"/>
              <a:cs typeface="Tahoma"/>
            </a:endParaRPr>
          </a:p>
          <a:p>
            <a:pPr marL="80645"/>
            <a:r>
              <a:rPr sz="1550" spc="-4">
                <a:solidFill>
                  <a:srgbClr val="FFFFFF"/>
                </a:solidFill>
                <a:latin typeface="Tahoma"/>
                <a:cs typeface="Tahoma"/>
              </a:rPr>
              <a:t>Z</a:t>
            </a:r>
            <a:r>
              <a:rPr lang="en-US" sz="1550" spc="-4">
                <a:solidFill>
                  <a:srgbClr val="FFFFFF"/>
                </a:solidFill>
                <a:latin typeface="Tahoma"/>
                <a:cs typeface="Tahoma"/>
              </a:rPr>
              <a:t>(D)</a:t>
            </a:r>
            <a:r>
              <a:rPr sz="1550" spc="-13">
                <a:solidFill>
                  <a:srgbClr val="FFFFFF"/>
                </a:solidFill>
                <a:latin typeface="Tahoma"/>
                <a:cs typeface="Tahoma"/>
              </a:rPr>
              <a:t> </a:t>
            </a:r>
            <a:r>
              <a:rPr sz="1550">
                <a:solidFill>
                  <a:srgbClr val="FFFFFF"/>
                </a:solidFill>
                <a:latin typeface="Tahoma"/>
                <a:cs typeface="Tahoma"/>
              </a:rPr>
              <a:t>=</a:t>
            </a:r>
            <a:r>
              <a:rPr sz="1550" spc="4">
                <a:solidFill>
                  <a:srgbClr val="FFFFFF"/>
                </a:solidFill>
                <a:latin typeface="Tahoma"/>
                <a:cs typeface="Tahoma"/>
              </a:rPr>
              <a:t> </a:t>
            </a:r>
            <a:r>
              <a:rPr sz="1550">
                <a:solidFill>
                  <a:srgbClr val="FFFFFF"/>
                </a:solidFill>
                <a:latin typeface="Tahoma"/>
                <a:cs typeface="Tahoma"/>
              </a:rPr>
              <a:t>10</a:t>
            </a:r>
            <a:r>
              <a:rPr sz="1550" spc="-4">
                <a:solidFill>
                  <a:srgbClr val="FFFFFF"/>
                </a:solidFill>
                <a:latin typeface="Tahoma"/>
                <a:cs typeface="Tahoma"/>
              </a:rPr>
              <a:t> (0)</a:t>
            </a:r>
            <a:r>
              <a:rPr sz="1550">
                <a:solidFill>
                  <a:srgbClr val="FFFFFF"/>
                </a:solidFill>
                <a:latin typeface="Tahoma"/>
                <a:cs typeface="Tahoma"/>
              </a:rPr>
              <a:t> +</a:t>
            </a:r>
            <a:r>
              <a:rPr sz="1550" spc="-9">
                <a:solidFill>
                  <a:srgbClr val="FFFFFF"/>
                </a:solidFill>
                <a:latin typeface="Tahoma"/>
                <a:cs typeface="Tahoma"/>
              </a:rPr>
              <a:t> </a:t>
            </a:r>
            <a:r>
              <a:rPr sz="1550">
                <a:solidFill>
                  <a:srgbClr val="FFFFFF"/>
                </a:solidFill>
                <a:latin typeface="Tahoma"/>
                <a:cs typeface="Tahoma"/>
              </a:rPr>
              <a:t>+</a:t>
            </a:r>
            <a:r>
              <a:rPr sz="1550" spc="-9">
                <a:solidFill>
                  <a:srgbClr val="FFFFFF"/>
                </a:solidFill>
                <a:latin typeface="Tahoma"/>
                <a:cs typeface="Tahoma"/>
              </a:rPr>
              <a:t> </a:t>
            </a:r>
            <a:r>
              <a:rPr sz="1550">
                <a:solidFill>
                  <a:srgbClr val="FFFFFF"/>
                </a:solidFill>
                <a:latin typeface="Tahoma"/>
                <a:cs typeface="Tahoma"/>
              </a:rPr>
              <a:t>20</a:t>
            </a:r>
            <a:r>
              <a:rPr sz="1550" spc="4">
                <a:solidFill>
                  <a:srgbClr val="FFFFFF"/>
                </a:solidFill>
                <a:latin typeface="Tahoma"/>
                <a:cs typeface="Tahoma"/>
              </a:rPr>
              <a:t> </a:t>
            </a:r>
            <a:r>
              <a:rPr sz="1550" spc="-4">
                <a:solidFill>
                  <a:srgbClr val="FFFFFF"/>
                </a:solidFill>
                <a:latin typeface="Tahoma"/>
                <a:cs typeface="Tahoma"/>
              </a:rPr>
              <a:t>(4)</a:t>
            </a:r>
            <a:r>
              <a:rPr sz="1550">
                <a:solidFill>
                  <a:srgbClr val="FFFFFF"/>
                </a:solidFill>
                <a:latin typeface="Tahoma"/>
                <a:cs typeface="Tahoma"/>
              </a:rPr>
              <a:t> =</a:t>
            </a:r>
            <a:r>
              <a:rPr sz="1550" spc="-4">
                <a:solidFill>
                  <a:srgbClr val="FFFFFF"/>
                </a:solidFill>
                <a:latin typeface="Tahoma"/>
                <a:cs typeface="Tahoma"/>
              </a:rPr>
              <a:t> </a:t>
            </a:r>
            <a:r>
              <a:rPr sz="1550">
                <a:solidFill>
                  <a:srgbClr val="FFFFFF"/>
                </a:solidFill>
                <a:latin typeface="Tahoma"/>
                <a:cs typeface="Tahoma"/>
              </a:rPr>
              <a:t>80</a:t>
            </a:r>
            <a:endParaRPr sz="1550">
              <a:latin typeface="Tahoma"/>
              <a:ea typeface="Tahoma"/>
              <a:cs typeface="Tahoma"/>
            </a:endParaRPr>
          </a:p>
        </p:txBody>
      </p:sp>
      <p:sp>
        <p:nvSpPr>
          <p:cNvPr id="7" name="object 7"/>
          <p:cNvSpPr txBox="1"/>
          <p:nvPr/>
        </p:nvSpPr>
        <p:spPr>
          <a:xfrm>
            <a:off x="1191215" y="3594705"/>
            <a:ext cx="3744091" cy="2474713"/>
          </a:xfrm>
          <a:prstGeom prst="rect">
            <a:avLst/>
          </a:prstGeom>
        </p:spPr>
        <p:txBody>
          <a:bodyPr vert="horz" wrap="square" lIns="0" tIns="11206" rIns="0" bIns="0" rtlCol="0" anchor="t">
            <a:spAutoFit/>
          </a:bodyPr>
          <a:lstStyle/>
          <a:p>
            <a:pPr marL="333375" marR="71120" indent="-199390" algn="just">
              <a:spcBef>
                <a:spcPts val="88"/>
              </a:spcBef>
              <a:buFont typeface="Wingdings"/>
              <a:buChar char=""/>
              <a:tabLst>
                <a:tab pos="333953" algn="l"/>
              </a:tabLst>
            </a:pPr>
            <a:r>
              <a:rPr lang="en-US" sz="1550" b="1" dirty="0">
                <a:solidFill>
                  <a:srgbClr val="231F20"/>
                </a:solidFill>
                <a:latin typeface="Tahoma"/>
                <a:cs typeface="Tahoma"/>
              </a:rPr>
              <a:t>Z</a:t>
            </a:r>
            <a:r>
              <a:rPr lang="en-US" sz="1550" b="1" baseline="-20833" dirty="0">
                <a:solidFill>
                  <a:srgbClr val="231F20"/>
                </a:solidFill>
                <a:latin typeface="Tahoma"/>
                <a:cs typeface="Tahoma"/>
              </a:rPr>
              <a:t>U </a:t>
            </a:r>
            <a:r>
              <a:rPr lang="en-US" sz="1550" dirty="0">
                <a:solidFill>
                  <a:srgbClr val="231F20"/>
                </a:solidFill>
                <a:latin typeface="Tahoma"/>
                <a:cs typeface="Tahoma"/>
              </a:rPr>
              <a:t>= </a:t>
            </a:r>
            <a:r>
              <a:rPr lang="en-US" sz="1550" spc="-4" dirty="0">
                <a:solidFill>
                  <a:srgbClr val="231F20"/>
                </a:solidFill>
                <a:latin typeface="Tahoma"/>
                <a:cs typeface="Tahoma"/>
              </a:rPr>
              <a:t>Upper </a:t>
            </a:r>
            <a:r>
              <a:rPr lang="en-US" sz="1550" dirty="0">
                <a:solidFill>
                  <a:srgbClr val="231F20"/>
                </a:solidFill>
                <a:latin typeface="Tahoma"/>
                <a:cs typeface="Tahoma"/>
              </a:rPr>
              <a:t>bound = Z </a:t>
            </a:r>
            <a:r>
              <a:rPr lang="en-US" sz="1550" spc="-4" dirty="0">
                <a:solidFill>
                  <a:srgbClr val="231F20"/>
                </a:solidFill>
                <a:latin typeface="Tahoma"/>
                <a:cs typeface="Tahoma"/>
              </a:rPr>
              <a:t>(Optimum) of relaxed </a:t>
            </a:r>
            <a:r>
              <a:rPr lang="en-US" sz="1550" dirty="0">
                <a:solidFill>
                  <a:srgbClr val="231F20"/>
                </a:solidFill>
                <a:latin typeface="Tahoma"/>
                <a:cs typeface="Tahoma"/>
              </a:rPr>
              <a:t>LP</a:t>
            </a:r>
            <a:r>
              <a:rPr lang="en-US" sz="1550" spc="-22" dirty="0">
                <a:solidFill>
                  <a:srgbClr val="231F20"/>
                </a:solidFill>
                <a:latin typeface="Tahoma"/>
                <a:cs typeface="Tahoma"/>
              </a:rPr>
              <a:t> </a:t>
            </a:r>
            <a:r>
              <a:rPr lang="en-US" sz="1550" spc="-4" dirty="0">
                <a:solidFill>
                  <a:srgbClr val="231F20"/>
                </a:solidFill>
                <a:latin typeface="Tahoma"/>
                <a:cs typeface="Tahoma"/>
              </a:rPr>
              <a:t>Problem.</a:t>
            </a:r>
            <a:endParaRPr lang="en-US" sz="1550" dirty="0">
              <a:latin typeface="Tahoma"/>
              <a:ea typeface="Tahoma"/>
              <a:cs typeface="Tahoma"/>
            </a:endParaRPr>
          </a:p>
          <a:p>
            <a:pPr marL="591185" marR="71120" lvl="1" algn="just">
              <a:spcBef>
                <a:spcPts val="88"/>
              </a:spcBef>
              <a:tabLst>
                <a:tab pos="333953" algn="l"/>
              </a:tabLst>
            </a:pPr>
            <a:r>
              <a:rPr lang="en-US" sz="1550" spc="-4" dirty="0">
                <a:solidFill>
                  <a:srgbClr val="FF0000"/>
                </a:solidFill>
                <a:latin typeface="Tahoma"/>
                <a:ea typeface="Tahoma"/>
                <a:cs typeface="Tahoma"/>
              </a:rPr>
              <a:t>Z</a:t>
            </a:r>
            <a:r>
              <a:rPr lang="en-US" sz="1550" spc="-4" baseline="-25000" dirty="0">
                <a:solidFill>
                  <a:srgbClr val="FF0000"/>
                </a:solidFill>
                <a:latin typeface="Tahoma"/>
                <a:ea typeface="Tahoma"/>
                <a:cs typeface="Tahoma"/>
              </a:rPr>
              <a:t>U</a:t>
            </a:r>
            <a:r>
              <a:rPr lang="en-US" sz="1550" spc="-4" dirty="0">
                <a:solidFill>
                  <a:srgbClr val="231F20"/>
                </a:solidFill>
                <a:latin typeface="Tahoma"/>
                <a:ea typeface="Tahoma"/>
                <a:cs typeface="Tahoma"/>
              </a:rPr>
              <a:t> = 10(24/5) + 20(12/5) = </a:t>
            </a:r>
            <a:r>
              <a:rPr lang="en-US" sz="1550" spc="-4" dirty="0">
                <a:solidFill>
                  <a:srgbClr val="FF0000"/>
                </a:solidFill>
                <a:latin typeface="Tahoma"/>
                <a:ea typeface="Tahoma"/>
                <a:cs typeface="Tahoma"/>
              </a:rPr>
              <a:t>96</a:t>
            </a:r>
          </a:p>
          <a:p>
            <a:pPr marL="333375" marR="73025" indent="-199390" algn="just">
              <a:buFont typeface="Wingdings"/>
              <a:buChar char=""/>
              <a:tabLst>
                <a:tab pos="333953" algn="l"/>
              </a:tabLst>
            </a:pPr>
            <a:r>
              <a:rPr lang="en-US" sz="1550" b="1" dirty="0">
                <a:solidFill>
                  <a:srgbClr val="231F20"/>
                </a:solidFill>
                <a:latin typeface="Tahoma"/>
                <a:cs typeface="Tahoma"/>
              </a:rPr>
              <a:t>Z</a:t>
            </a:r>
            <a:r>
              <a:rPr lang="en-US" sz="1550" b="1" baseline="-20833" dirty="0">
                <a:solidFill>
                  <a:srgbClr val="231F20"/>
                </a:solidFill>
                <a:latin typeface="Tahoma"/>
                <a:cs typeface="Tahoma"/>
              </a:rPr>
              <a:t>L</a:t>
            </a:r>
            <a:r>
              <a:rPr lang="en-US" sz="1550" dirty="0">
                <a:solidFill>
                  <a:srgbClr val="231F20"/>
                </a:solidFill>
                <a:latin typeface="Tahoma"/>
                <a:cs typeface="Tahoma"/>
              </a:rPr>
              <a:t> =</a:t>
            </a:r>
            <a:r>
              <a:rPr lang="en-US" sz="1550" spc="4" dirty="0">
                <a:solidFill>
                  <a:srgbClr val="231F20"/>
                </a:solidFill>
                <a:latin typeface="Tahoma"/>
                <a:cs typeface="Tahoma"/>
              </a:rPr>
              <a:t> </a:t>
            </a:r>
            <a:r>
              <a:rPr lang="en-US" sz="1550" spc="-4" dirty="0">
                <a:solidFill>
                  <a:srgbClr val="231F20"/>
                </a:solidFill>
                <a:latin typeface="Tahoma"/>
                <a:cs typeface="Tahoma"/>
              </a:rPr>
              <a:t>Lower</a:t>
            </a:r>
            <a:r>
              <a:rPr lang="en-US" sz="1550" dirty="0">
                <a:solidFill>
                  <a:srgbClr val="231F20"/>
                </a:solidFill>
                <a:latin typeface="Tahoma"/>
                <a:cs typeface="Tahoma"/>
              </a:rPr>
              <a:t> bound</a:t>
            </a:r>
            <a:r>
              <a:rPr lang="en-US" sz="1550" spc="4" dirty="0">
                <a:solidFill>
                  <a:srgbClr val="231F20"/>
                </a:solidFill>
                <a:latin typeface="Tahoma"/>
                <a:cs typeface="Tahoma"/>
              </a:rPr>
              <a:t> </a:t>
            </a:r>
            <a:r>
              <a:rPr lang="en-US" sz="1550" spc="-31" dirty="0">
                <a:solidFill>
                  <a:srgbClr val="231F20"/>
                </a:solidFill>
                <a:latin typeface="Tahoma"/>
                <a:cs typeface="Tahoma"/>
              </a:rPr>
              <a:t>w.</a:t>
            </a:r>
            <a:r>
              <a:rPr lang="en-US" sz="1550" spc="-26" dirty="0">
                <a:solidFill>
                  <a:srgbClr val="231F20"/>
                </a:solidFill>
                <a:latin typeface="Tahoma"/>
                <a:cs typeface="Tahoma"/>
              </a:rPr>
              <a:t> </a:t>
            </a:r>
            <a:r>
              <a:rPr lang="en-US" sz="1550" spc="-110" dirty="0">
                <a:solidFill>
                  <a:srgbClr val="231F20"/>
                </a:solidFill>
                <a:latin typeface="Tahoma"/>
                <a:cs typeface="Tahoma"/>
              </a:rPr>
              <a:t>r.</a:t>
            </a:r>
            <a:r>
              <a:rPr lang="en-US" sz="1550" spc="-106" dirty="0">
                <a:solidFill>
                  <a:srgbClr val="231F20"/>
                </a:solidFill>
                <a:latin typeface="Tahoma"/>
                <a:cs typeface="Tahoma"/>
              </a:rPr>
              <a:t> </a:t>
            </a:r>
            <a:r>
              <a:rPr lang="en-US" sz="1550" spc="-4" dirty="0">
                <a:solidFill>
                  <a:srgbClr val="231F20"/>
                </a:solidFill>
                <a:latin typeface="Tahoma"/>
                <a:cs typeface="Tahoma"/>
              </a:rPr>
              <a:t>t.</a:t>
            </a:r>
            <a:r>
              <a:rPr lang="en-US" sz="1550" dirty="0">
                <a:solidFill>
                  <a:srgbClr val="231F20"/>
                </a:solidFill>
                <a:latin typeface="Tahoma"/>
                <a:cs typeface="Tahoma"/>
              </a:rPr>
              <a:t> </a:t>
            </a:r>
            <a:r>
              <a:rPr lang="en-US" sz="1550" spc="-4" dirty="0">
                <a:solidFill>
                  <a:srgbClr val="231F20"/>
                </a:solidFill>
                <a:latin typeface="Tahoma"/>
                <a:cs typeface="Tahoma"/>
              </a:rPr>
              <a:t>the truncated</a:t>
            </a:r>
            <a:r>
              <a:rPr lang="en-US" sz="1550" dirty="0">
                <a:solidFill>
                  <a:srgbClr val="231F20"/>
                </a:solidFill>
                <a:latin typeface="Tahoma"/>
                <a:cs typeface="Tahoma"/>
              </a:rPr>
              <a:t> </a:t>
            </a:r>
            <a:r>
              <a:rPr lang="en-US" sz="1550" spc="-9" dirty="0">
                <a:solidFill>
                  <a:srgbClr val="231F20"/>
                </a:solidFill>
                <a:latin typeface="Tahoma"/>
                <a:cs typeface="Tahoma"/>
              </a:rPr>
              <a:t>values</a:t>
            </a:r>
            <a:r>
              <a:rPr lang="en-US" sz="1550" spc="-4" dirty="0">
                <a:solidFill>
                  <a:srgbClr val="231F20"/>
                </a:solidFill>
                <a:latin typeface="Tahoma"/>
                <a:cs typeface="Tahoma"/>
              </a:rPr>
              <a:t> of</a:t>
            </a:r>
            <a:r>
              <a:rPr lang="en-US" sz="1550" dirty="0">
                <a:solidFill>
                  <a:srgbClr val="231F20"/>
                </a:solidFill>
                <a:latin typeface="Tahoma"/>
                <a:cs typeface="Tahoma"/>
              </a:rPr>
              <a:t> </a:t>
            </a:r>
            <a:r>
              <a:rPr lang="en-US" sz="1550" spc="-4" dirty="0">
                <a:solidFill>
                  <a:srgbClr val="231F20"/>
                </a:solidFill>
                <a:latin typeface="Tahoma"/>
                <a:cs typeface="Tahoma"/>
              </a:rPr>
              <a:t>the</a:t>
            </a:r>
            <a:r>
              <a:rPr lang="en-US" sz="1550" dirty="0">
                <a:solidFill>
                  <a:srgbClr val="231F20"/>
                </a:solidFill>
                <a:latin typeface="Tahoma"/>
                <a:cs typeface="Tahoma"/>
              </a:rPr>
              <a:t> </a:t>
            </a:r>
            <a:r>
              <a:rPr lang="en-US" sz="1550" spc="-4" dirty="0">
                <a:solidFill>
                  <a:srgbClr val="231F20"/>
                </a:solidFill>
                <a:latin typeface="Tahoma"/>
                <a:cs typeface="Tahoma"/>
              </a:rPr>
              <a:t>decision variables</a:t>
            </a:r>
            <a:endParaRPr lang="en-US" sz="1550" dirty="0">
              <a:latin typeface="Tahoma"/>
              <a:ea typeface="Tahoma"/>
              <a:cs typeface="Tahoma"/>
            </a:endParaRPr>
          </a:p>
          <a:p>
            <a:pPr marL="591185" marR="73025" lvl="1" algn="just">
              <a:tabLst>
                <a:tab pos="333953" algn="l"/>
              </a:tabLst>
            </a:pPr>
            <a:r>
              <a:rPr lang="en-US" sz="1550" spc="-4" dirty="0">
                <a:solidFill>
                  <a:srgbClr val="FF0000"/>
                </a:solidFill>
                <a:latin typeface="Tahoma"/>
                <a:ea typeface="Tahoma"/>
                <a:cs typeface="Tahoma"/>
              </a:rPr>
              <a:t>Z</a:t>
            </a:r>
            <a:r>
              <a:rPr lang="en-US" sz="1550" spc="-4" baseline="-25000" dirty="0">
                <a:solidFill>
                  <a:srgbClr val="FF0000"/>
                </a:solidFill>
                <a:latin typeface="Tahoma"/>
                <a:ea typeface="Tahoma"/>
                <a:cs typeface="Tahoma"/>
              </a:rPr>
              <a:t>L</a:t>
            </a:r>
            <a:r>
              <a:rPr lang="en-US" sz="1550" spc="-4" dirty="0">
                <a:solidFill>
                  <a:srgbClr val="231F20"/>
                </a:solidFill>
                <a:latin typeface="Tahoma"/>
                <a:ea typeface="Tahoma"/>
                <a:cs typeface="Tahoma"/>
              </a:rPr>
              <a:t> = </a:t>
            </a:r>
            <a:r>
              <a:rPr lang="en-US" sz="1600" spc="-4" dirty="0">
                <a:solidFill>
                  <a:srgbClr val="231F20"/>
                </a:solidFill>
                <a:latin typeface="Tahoma"/>
                <a:ea typeface="Tahoma"/>
                <a:cs typeface="Tahoma"/>
              </a:rPr>
              <a:t>10(4) + 20(2) = </a:t>
            </a:r>
            <a:r>
              <a:rPr lang="en-US" sz="1600" spc="-4" dirty="0">
                <a:solidFill>
                  <a:srgbClr val="FF0000"/>
                </a:solidFill>
                <a:latin typeface="Tahoma"/>
                <a:ea typeface="Tahoma"/>
                <a:cs typeface="Tahoma"/>
              </a:rPr>
              <a:t>80</a:t>
            </a:r>
          </a:p>
          <a:p>
            <a:pPr marL="591185" marR="73025" lvl="1" algn="just">
              <a:tabLst>
                <a:tab pos="333953" algn="l"/>
              </a:tabLst>
            </a:pPr>
            <a:endParaRPr lang="en-US" sz="1550" spc="-4" dirty="0">
              <a:solidFill>
                <a:srgbClr val="231F20"/>
              </a:solidFill>
              <a:latin typeface="Tahoma"/>
              <a:ea typeface="Tahoma"/>
              <a:cs typeface="Tahoma"/>
            </a:endParaRPr>
          </a:p>
          <a:p>
            <a:pPr marL="333375" indent="-199390" algn="just">
              <a:buFont typeface="Wingdings"/>
              <a:buChar char=""/>
              <a:tabLst>
                <a:tab pos="333953" algn="l"/>
              </a:tabLst>
            </a:pPr>
            <a:r>
              <a:rPr lang="en-US" sz="1550" b="1" dirty="0">
                <a:solidFill>
                  <a:srgbClr val="231F20"/>
                </a:solidFill>
                <a:latin typeface="Tahoma"/>
                <a:cs typeface="Tahoma"/>
              </a:rPr>
              <a:t>Z</a:t>
            </a:r>
            <a:r>
              <a:rPr lang="en-US" sz="1550" b="1" baseline="-20833" dirty="0">
                <a:solidFill>
                  <a:srgbClr val="231F20"/>
                </a:solidFill>
                <a:latin typeface="Tahoma"/>
                <a:cs typeface="Tahoma"/>
              </a:rPr>
              <a:t>B</a:t>
            </a:r>
            <a:r>
              <a:rPr lang="en-US" sz="1550" spc="-13" baseline="-20833" dirty="0">
                <a:solidFill>
                  <a:srgbClr val="231F20"/>
                </a:solidFill>
                <a:latin typeface="Tahoma"/>
                <a:cs typeface="Tahoma"/>
              </a:rPr>
              <a:t> </a:t>
            </a:r>
            <a:r>
              <a:rPr lang="en-US" sz="1550" dirty="0">
                <a:solidFill>
                  <a:srgbClr val="231F20"/>
                </a:solidFill>
                <a:latin typeface="Tahoma"/>
                <a:cs typeface="Tahoma"/>
              </a:rPr>
              <a:t>=</a:t>
            </a:r>
            <a:r>
              <a:rPr lang="en-US" sz="1550" spc="-9" dirty="0">
                <a:solidFill>
                  <a:srgbClr val="231F20"/>
                </a:solidFill>
                <a:latin typeface="Tahoma"/>
                <a:cs typeface="Tahoma"/>
              </a:rPr>
              <a:t> </a:t>
            </a:r>
            <a:r>
              <a:rPr lang="en-US" sz="1550" spc="-4" dirty="0">
                <a:solidFill>
                  <a:srgbClr val="231F20"/>
                </a:solidFill>
                <a:latin typeface="Tahoma"/>
                <a:cs typeface="Tahoma"/>
              </a:rPr>
              <a:t>Current</a:t>
            </a:r>
            <a:r>
              <a:rPr lang="en-US" sz="1550" spc="-13" dirty="0">
                <a:solidFill>
                  <a:srgbClr val="231F20"/>
                </a:solidFill>
                <a:latin typeface="Tahoma"/>
                <a:cs typeface="Tahoma"/>
              </a:rPr>
              <a:t> </a:t>
            </a:r>
            <a:r>
              <a:rPr lang="en-US" sz="1550" spc="-4" dirty="0">
                <a:solidFill>
                  <a:srgbClr val="231F20"/>
                </a:solidFill>
                <a:latin typeface="Tahoma"/>
                <a:cs typeface="Tahoma"/>
              </a:rPr>
              <a:t>Best</a:t>
            </a:r>
            <a:r>
              <a:rPr lang="en-US" sz="1550" spc="-9" dirty="0">
                <a:solidFill>
                  <a:srgbClr val="231F20"/>
                </a:solidFill>
                <a:latin typeface="Tahoma"/>
                <a:cs typeface="Tahoma"/>
              </a:rPr>
              <a:t> </a:t>
            </a:r>
            <a:r>
              <a:rPr lang="en-US" sz="1550" spc="-4" dirty="0">
                <a:solidFill>
                  <a:srgbClr val="231F20"/>
                </a:solidFill>
                <a:latin typeface="Tahoma"/>
                <a:cs typeface="Tahoma"/>
              </a:rPr>
              <a:t>Lower</a:t>
            </a:r>
            <a:r>
              <a:rPr lang="en-US" sz="1550" spc="4" dirty="0">
                <a:solidFill>
                  <a:srgbClr val="231F20"/>
                </a:solidFill>
                <a:latin typeface="Tahoma"/>
                <a:cs typeface="Tahoma"/>
              </a:rPr>
              <a:t> </a:t>
            </a:r>
            <a:r>
              <a:rPr lang="en-US" sz="1550" spc="-4" dirty="0">
                <a:solidFill>
                  <a:srgbClr val="231F20"/>
                </a:solidFill>
                <a:latin typeface="Tahoma"/>
                <a:cs typeface="Tahoma"/>
              </a:rPr>
              <a:t>Bound</a:t>
            </a:r>
            <a:endParaRPr lang="en-US" sz="1550" spc="-4" dirty="0">
              <a:solidFill>
                <a:srgbClr val="231F20"/>
              </a:solidFill>
              <a:latin typeface="Tahoma"/>
              <a:ea typeface="Tahoma"/>
              <a:cs typeface="Tahoma"/>
            </a:endParaRPr>
          </a:p>
          <a:p>
            <a:pPr marL="591185" lvl="1" algn="just">
              <a:tabLst>
                <a:tab pos="333953" algn="l"/>
              </a:tabLst>
            </a:pPr>
            <a:r>
              <a:rPr lang="en-US" sz="1550" spc="-4" dirty="0">
                <a:solidFill>
                  <a:srgbClr val="231F20"/>
                </a:solidFill>
                <a:latin typeface="Tahoma"/>
                <a:ea typeface="Tahoma"/>
                <a:cs typeface="Tahoma"/>
              </a:rPr>
              <a:t>= </a:t>
            </a:r>
            <a:r>
              <a:rPr lang="en-US" sz="1550" spc="-4" dirty="0">
                <a:solidFill>
                  <a:srgbClr val="FF0000"/>
                </a:solidFill>
                <a:latin typeface="Tahoma"/>
                <a:ea typeface="Tahoma"/>
                <a:cs typeface="Tahoma"/>
              </a:rPr>
              <a:t>-infinity</a:t>
            </a:r>
          </a:p>
        </p:txBody>
      </p:sp>
      <p:pic>
        <p:nvPicPr>
          <p:cNvPr id="9" name="object 3">
            <a:extLst>
              <a:ext uri="{FF2B5EF4-FFF2-40B4-BE49-F238E27FC236}">
                <a16:creationId xmlns:a16="http://schemas.microsoft.com/office/drawing/2014/main" id="{EB5D75CA-740E-04C9-987C-8309F5A0D245}"/>
              </a:ext>
            </a:extLst>
          </p:cNvPr>
          <p:cNvPicPr/>
          <p:nvPr/>
        </p:nvPicPr>
        <p:blipFill>
          <a:blip r:embed="rId3" cstate="print"/>
          <a:stretch>
            <a:fillRect/>
          </a:stretch>
        </p:blipFill>
        <p:spPr>
          <a:xfrm>
            <a:off x="1194311" y="756913"/>
            <a:ext cx="3697940" cy="1748117"/>
          </a:xfrm>
          <a:prstGeom prst="rect">
            <a:avLst/>
          </a:prstGeom>
        </p:spPr>
      </p:pic>
      <p:sp>
        <p:nvSpPr>
          <p:cNvPr id="11" name="object 9">
            <a:extLst>
              <a:ext uri="{FF2B5EF4-FFF2-40B4-BE49-F238E27FC236}">
                <a16:creationId xmlns:a16="http://schemas.microsoft.com/office/drawing/2014/main" id="{46CF24EA-AB3C-AB6E-9216-3A9C6D0C66E4}"/>
              </a:ext>
            </a:extLst>
          </p:cNvPr>
          <p:cNvSpPr txBox="1"/>
          <p:nvPr/>
        </p:nvSpPr>
        <p:spPr>
          <a:xfrm>
            <a:off x="71101" y="2770841"/>
            <a:ext cx="6250464" cy="501193"/>
          </a:xfrm>
          <a:prstGeom prst="rect">
            <a:avLst/>
          </a:prstGeom>
        </p:spPr>
        <p:txBody>
          <a:bodyPr vert="horz" wrap="square" lIns="0" tIns="11206" rIns="0" bIns="0" rtlCol="0" anchor="t">
            <a:spAutoFit/>
          </a:bodyPr>
          <a:lstStyle/>
          <a:p>
            <a:pPr marL="372745">
              <a:spcBef>
                <a:spcPts val="88"/>
              </a:spcBef>
            </a:pPr>
            <a:r>
              <a:rPr sz="1550" b="1" dirty="0">
                <a:solidFill>
                  <a:srgbClr val="231F20"/>
                </a:solidFill>
                <a:latin typeface="Tahoma"/>
                <a:cs typeface="Tahoma"/>
              </a:rPr>
              <a:t>In</a:t>
            </a:r>
            <a:r>
              <a:rPr sz="1550" b="1" spc="221" dirty="0">
                <a:solidFill>
                  <a:srgbClr val="231F20"/>
                </a:solidFill>
                <a:latin typeface="Tahoma"/>
                <a:cs typeface="Tahoma"/>
              </a:rPr>
              <a:t> </a:t>
            </a:r>
            <a:r>
              <a:rPr sz="1550" b="1" spc="-4" dirty="0">
                <a:solidFill>
                  <a:srgbClr val="231F20"/>
                </a:solidFill>
                <a:latin typeface="Tahoma"/>
                <a:cs typeface="Tahoma"/>
              </a:rPr>
              <a:t>Problem</a:t>
            </a:r>
            <a:r>
              <a:rPr sz="1550" b="1" spc="212" dirty="0">
                <a:solidFill>
                  <a:srgbClr val="231F20"/>
                </a:solidFill>
                <a:latin typeface="Tahoma"/>
                <a:cs typeface="Tahoma"/>
              </a:rPr>
              <a:t> </a:t>
            </a:r>
            <a:r>
              <a:rPr sz="1550" b="1" spc="-4" dirty="0">
                <a:solidFill>
                  <a:srgbClr val="231F20"/>
                </a:solidFill>
                <a:latin typeface="Tahoma"/>
                <a:cs typeface="Tahoma"/>
              </a:rPr>
              <a:t>(P</a:t>
            </a:r>
            <a:r>
              <a:rPr sz="1550" b="1" spc="-6" baseline="-20833" dirty="0">
                <a:solidFill>
                  <a:srgbClr val="231F20"/>
                </a:solidFill>
                <a:latin typeface="Tahoma"/>
                <a:cs typeface="Tahoma"/>
              </a:rPr>
              <a:t>1</a:t>
            </a:r>
            <a:r>
              <a:rPr sz="1550" b="1" spc="-4" dirty="0">
                <a:solidFill>
                  <a:srgbClr val="231F20"/>
                </a:solidFill>
                <a:latin typeface="Tahoma"/>
                <a:cs typeface="Tahoma"/>
              </a:rPr>
              <a:t>),</a:t>
            </a:r>
            <a:r>
              <a:rPr sz="1550" b="1" spc="229" dirty="0">
                <a:solidFill>
                  <a:srgbClr val="231F20"/>
                </a:solidFill>
                <a:latin typeface="Tahoma"/>
                <a:cs typeface="Tahoma"/>
              </a:rPr>
              <a:t> </a:t>
            </a:r>
            <a:r>
              <a:rPr sz="1550" b="1" spc="-4" dirty="0">
                <a:solidFill>
                  <a:srgbClr val="231F20"/>
                </a:solidFill>
                <a:latin typeface="Tahoma"/>
                <a:cs typeface="Tahoma"/>
              </a:rPr>
              <a:t>X</a:t>
            </a:r>
            <a:r>
              <a:rPr sz="1550" b="1" spc="-6" baseline="-20833" dirty="0">
                <a:solidFill>
                  <a:srgbClr val="231F20"/>
                </a:solidFill>
                <a:latin typeface="Tahoma"/>
                <a:cs typeface="Tahoma"/>
              </a:rPr>
              <a:t>1</a:t>
            </a:r>
            <a:r>
              <a:rPr sz="1550" b="1" spc="158" baseline="-20833" dirty="0">
                <a:solidFill>
                  <a:srgbClr val="231F20"/>
                </a:solidFill>
                <a:latin typeface="Tahoma"/>
                <a:cs typeface="Tahoma"/>
              </a:rPr>
              <a:t> </a:t>
            </a:r>
            <a:r>
              <a:rPr sz="1550" b="1" spc="-4" dirty="0">
                <a:solidFill>
                  <a:srgbClr val="231F20"/>
                </a:solidFill>
                <a:latin typeface="Tahoma"/>
                <a:cs typeface="Tahoma"/>
              </a:rPr>
              <a:t>has</a:t>
            </a:r>
            <a:r>
              <a:rPr sz="1550" b="1" spc="224" dirty="0">
                <a:solidFill>
                  <a:srgbClr val="231F20"/>
                </a:solidFill>
                <a:latin typeface="Tahoma"/>
                <a:cs typeface="Tahoma"/>
              </a:rPr>
              <a:t> </a:t>
            </a:r>
            <a:r>
              <a:rPr sz="1550" b="1" spc="-9" dirty="0">
                <a:solidFill>
                  <a:srgbClr val="231F20"/>
                </a:solidFill>
                <a:latin typeface="Tahoma"/>
                <a:cs typeface="Tahoma"/>
              </a:rPr>
              <a:t>the</a:t>
            </a:r>
            <a:r>
              <a:rPr sz="1550" b="1" spc="224" dirty="0">
                <a:solidFill>
                  <a:srgbClr val="231F20"/>
                </a:solidFill>
                <a:latin typeface="Tahoma"/>
                <a:cs typeface="Tahoma"/>
              </a:rPr>
              <a:t> </a:t>
            </a:r>
            <a:r>
              <a:rPr sz="1550" b="1" spc="-4" dirty="0">
                <a:solidFill>
                  <a:srgbClr val="231F20"/>
                </a:solidFill>
                <a:latin typeface="Tahoma"/>
                <a:cs typeface="Tahoma"/>
              </a:rPr>
              <a:t>highest</a:t>
            </a:r>
            <a:r>
              <a:rPr sz="1550" b="1" spc="216" dirty="0">
                <a:solidFill>
                  <a:srgbClr val="231F20"/>
                </a:solidFill>
                <a:latin typeface="Tahoma"/>
                <a:cs typeface="Tahoma"/>
              </a:rPr>
              <a:t> </a:t>
            </a:r>
            <a:r>
              <a:rPr sz="1550" b="1" spc="-4" dirty="0">
                <a:solidFill>
                  <a:srgbClr val="231F20"/>
                </a:solidFill>
                <a:latin typeface="Tahoma"/>
                <a:cs typeface="Tahoma"/>
              </a:rPr>
              <a:t>fractional</a:t>
            </a:r>
            <a:r>
              <a:rPr sz="1550" b="1" spc="221" dirty="0">
                <a:solidFill>
                  <a:srgbClr val="231F20"/>
                </a:solidFill>
                <a:latin typeface="Tahoma"/>
                <a:cs typeface="Tahoma"/>
              </a:rPr>
              <a:t> </a:t>
            </a:r>
            <a:r>
              <a:rPr sz="1550" b="1" spc="-4" dirty="0">
                <a:solidFill>
                  <a:srgbClr val="231F20"/>
                </a:solidFill>
                <a:latin typeface="Tahoma"/>
                <a:cs typeface="Tahoma"/>
              </a:rPr>
              <a:t>part</a:t>
            </a:r>
            <a:r>
              <a:rPr sz="1550" b="1" spc="216" dirty="0">
                <a:solidFill>
                  <a:srgbClr val="231F20"/>
                </a:solidFill>
                <a:latin typeface="Tahoma"/>
                <a:cs typeface="Tahoma"/>
              </a:rPr>
              <a:t> </a:t>
            </a:r>
            <a:r>
              <a:rPr sz="1550" b="1" spc="-4" dirty="0">
                <a:solidFill>
                  <a:srgbClr val="231F20"/>
                </a:solidFill>
                <a:latin typeface="Tahoma"/>
                <a:cs typeface="Tahoma"/>
              </a:rPr>
              <a:t>4/5.</a:t>
            </a:r>
            <a:endParaRPr lang="en-US" sz="1588" dirty="0">
              <a:solidFill>
                <a:srgbClr val="000000"/>
              </a:solidFill>
              <a:latin typeface="Tahoma"/>
              <a:cs typeface="Tahoma"/>
            </a:endParaRPr>
          </a:p>
          <a:p>
            <a:pPr marL="372745">
              <a:spcBef>
                <a:spcPts val="88"/>
              </a:spcBef>
            </a:pPr>
            <a:r>
              <a:rPr sz="1550" b="1" spc="-4" dirty="0">
                <a:solidFill>
                  <a:srgbClr val="231F20"/>
                </a:solidFill>
                <a:latin typeface="Tahoma"/>
                <a:cs typeface="Tahoma"/>
              </a:rPr>
              <a:t>Hence</a:t>
            </a:r>
            <a:r>
              <a:rPr lang="en-US" sz="1550" b="1" spc="-4" dirty="0">
                <a:solidFill>
                  <a:srgbClr val="231F20"/>
                </a:solidFill>
                <a:latin typeface="Tahoma"/>
                <a:cs typeface="Tahoma"/>
              </a:rPr>
              <a:t>, </a:t>
            </a:r>
            <a:r>
              <a:rPr sz="1550" b="1" spc="-4" dirty="0">
                <a:solidFill>
                  <a:srgbClr val="231F20"/>
                </a:solidFill>
                <a:latin typeface="Tahoma"/>
                <a:cs typeface="Tahoma"/>
              </a:rPr>
              <a:t>“X</a:t>
            </a:r>
            <a:r>
              <a:rPr sz="1550" b="1" spc="-6" baseline="-20833" dirty="0">
                <a:solidFill>
                  <a:srgbClr val="231F20"/>
                </a:solidFill>
                <a:latin typeface="Tahoma"/>
                <a:cs typeface="Tahoma"/>
              </a:rPr>
              <a:t>1</a:t>
            </a:r>
            <a:r>
              <a:rPr sz="1550" b="1" spc="-4" dirty="0">
                <a:solidFill>
                  <a:srgbClr val="231F20"/>
                </a:solidFill>
                <a:latin typeface="Tahoma"/>
                <a:cs typeface="Tahoma"/>
              </a:rPr>
              <a:t>”</a:t>
            </a:r>
            <a:r>
              <a:rPr sz="1550" b="1" spc="-31" dirty="0">
                <a:solidFill>
                  <a:srgbClr val="231F20"/>
                </a:solidFill>
                <a:latin typeface="Tahoma"/>
                <a:cs typeface="Tahoma"/>
              </a:rPr>
              <a:t> </a:t>
            </a:r>
            <a:r>
              <a:rPr sz="1550" b="1" spc="-4" dirty="0">
                <a:solidFill>
                  <a:srgbClr val="231F20"/>
                </a:solidFill>
                <a:latin typeface="Tahoma"/>
                <a:cs typeface="Tahoma"/>
              </a:rPr>
              <a:t>is selected</a:t>
            </a:r>
            <a:r>
              <a:rPr sz="1550" b="1" spc="18" dirty="0">
                <a:solidFill>
                  <a:srgbClr val="231F20"/>
                </a:solidFill>
                <a:latin typeface="Tahoma"/>
                <a:cs typeface="Tahoma"/>
              </a:rPr>
              <a:t> </a:t>
            </a:r>
            <a:r>
              <a:rPr sz="1550" b="1" spc="-4" dirty="0">
                <a:solidFill>
                  <a:srgbClr val="231F20"/>
                </a:solidFill>
                <a:latin typeface="Tahoma"/>
                <a:cs typeface="Tahoma"/>
              </a:rPr>
              <a:t>for</a:t>
            </a:r>
            <a:r>
              <a:rPr sz="1550" b="1" spc="-13" dirty="0">
                <a:solidFill>
                  <a:srgbClr val="231F20"/>
                </a:solidFill>
                <a:latin typeface="Tahoma"/>
                <a:cs typeface="Tahoma"/>
              </a:rPr>
              <a:t> </a:t>
            </a:r>
            <a:r>
              <a:rPr sz="1550" b="1" spc="-4" dirty="0">
                <a:solidFill>
                  <a:srgbClr val="231F20"/>
                </a:solidFill>
                <a:latin typeface="Tahoma"/>
                <a:cs typeface="Tahoma"/>
              </a:rPr>
              <a:t>further</a:t>
            </a:r>
            <a:r>
              <a:rPr sz="1550" b="1" spc="-9" dirty="0">
                <a:solidFill>
                  <a:srgbClr val="231F20"/>
                </a:solidFill>
                <a:latin typeface="Tahoma"/>
                <a:cs typeface="Tahoma"/>
              </a:rPr>
              <a:t> </a:t>
            </a:r>
            <a:r>
              <a:rPr sz="1550" b="1" spc="-4" dirty="0">
                <a:solidFill>
                  <a:srgbClr val="231F20"/>
                </a:solidFill>
                <a:latin typeface="Tahoma"/>
                <a:cs typeface="Tahoma"/>
              </a:rPr>
              <a:t>branching.</a:t>
            </a:r>
            <a:endParaRPr sz="1550" dirty="0">
              <a:latin typeface="Tahoma"/>
              <a:ea typeface="Tahoma"/>
              <a:cs typeface="Tahoma"/>
            </a:endParaRPr>
          </a:p>
        </p:txBody>
      </p:sp>
    </p:spTree>
    <p:extLst>
      <p:ext uri="{BB962C8B-B14F-4D97-AF65-F5344CB8AC3E}">
        <p14:creationId xmlns:p14="http://schemas.microsoft.com/office/powerpoint/2010/main" val="28134893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79379" y="234817"/>
            <a:ext cx="8771124" cy="504323"/>
          </a:xfrm>
          <a:prstGeom prst="rect">
            <a:avLst/>
          </a:prstGeom>
        </p:spPr>
        <p:txBody>
          <a:bodyPr vert="horz" wrap="square" lIns="0" tIns="11766" rIns="0" bIns="0" rtlCol="0" anchor="t">
            <a:spAutoFit/>
          </a:bodyPr>
          <a:lstStyle/>
          <a:p>
            <a:pPr marL="11206">
              <a:lnSpc>
                <a:spcPct val="100000"/>
              </a:lnSpc>
              <a:spcBef>
                <a:spcPts val="93"/>
              </a:spcBef>
            </a:pPr>
            <a:r>
              <a:t>BRANCH–AND–BOUND</a:t>
            </a:r>
            <a:r>
              <a:rPr spc="-79"/>
              <a:t> </a:t>
            </a:r>
            <a:r>
              <a:rPr spc="-4"/>
              <a:t>METHOD</a:t>
            </a:r>
            <a:r>
              <a:rPr spc="-26"/>
              <a:t> </a:t>
            </a:r>
            <a:r>
              <a:t>(Cont…)</a:t>
            </a:r>
          </a:p>
        </p:txBody>
      </p:sp>
      <p:grpSp>
        <p:nvGrpSpPr>
          <p:cNvPr id="4" name="object 4"/>
          <p:cNvGrpSpPr/>
          <p:nvPr/>
        </p:nvGrpSpPr>
        <p:grpSpPr>
          <a:xfrm>
            <a:off x="2008204" y="825130"/>
            <a:ext cx="8178140" cy="5333266"/>
            <a:chOff x="1249186" y="3691689"/>
            <a:chExt cx="7666355" cy="3624018"/>
          </a:xfrm>
        </p:grpSpPr>
        <p:pic>
          <p:nvPicPr>
            <p:cNvPr id="5" name="object 5"/>
            <p:cNvPicPr/>
            <p:nvPr/>
          </p:nvPicPr>
          <p:blipFill>
            <a:blip r:embed="rId2" cstate="print"/>
            <a:stretch>
              <a:fillRect/>
            </a:stretch>
          </p:blipFill>
          <p:spPr>
            <a:xfrm>
              <a:off x="1417052" y="3691689"/>
              <a:ext cx="7391399" cy="3429000"/>
            </a:xfrm>
            <a:prstGeom prst="rect">
              <a:avLst/>
            </a:prstGeom>
          </p:spPr>
        </p:pic>
        <p:sp>
          <p:nvSpPr>
            <p:cNvPr id="6" name="object 6"/>
            <p:cNvSpPr/>
            <p:nvPr/>
          </p:nvSpPr>
          <p:spPr>
            <a:xfrm>
              <a:off x="1249186" y="5531357"/>
              <a:ext cx="7666355" cy="1784350"/>
            </a:xfrm>
            <a:custGeom>
              <a:avLst/>
              <a:gdLst/>
              <a:ahLst/>
              <a:cxnLst/>
              <a:rect l="l" t="t" r="r" b="b"/>
              <a:pathLst>
                <a:path w="7666355" h="1784350">
                  <a:moveTo>
                    <a:pt x="1981175" y="0"/>
                  </a:moveTo>
                  <a:lnTo>
                    <a:pt x="2046575" y="480"/>
                  </a:lnTo>
                  <a:lnTo>
                    <a:pt x="2111445" y="1913"/>
                  </a:lnTo>
                  <a:lnTo>
                    <a:pt x="2175752" y="4282"/>
                  </a:lnTo>
                  <a:lnTo>
                    <a:pt x="2239463" y="7574"/>
                  </a:lnTo>
                  <a:lnTo>
                    <a:pt x="2302547" y="11772"/>
                  </a:lnTo>
                  <a:lnTo>
                    <a:pt x="2364970" y="16863"/>
                  </a:lnTo>
                  <a:lnTo>
                    <a:pt x="2426700" y="22832"/>
                  </a:lnTo>
                  <a:lnTo>
                    <a:pt x="2487704" y="29664"/>
                  </a:lnTo>
                  <a:lnTo>
                    <a:pt x="2547950" y="37343"/>
                  </a:lnTo>
                  <a:lnTo>
                    <a:pt x="2607405" y="45856"/>
                  </a:lnTo>
                  <a:lnTo>
                    <a:pt x="2666036" y="55187"/>
                  </a:lnTo>
                  <a:lnTo>
                    <a:pt x="2723811" y="65321"/>
                  </a:lnTo>
                  <a:lnTo>
                    <a:pt x="2780696" y="76244"/>
                  </a:lnTo>
                  <a:lnTo>
                    <a:pt x="2836661" y="87941"/>
                  </a:lnTo>
                  <a:lnTo>
                    <a:pt x="2891671" y="100397"/>
                  </a:lnTo>
                  <a:lnTo>
                    <a:pt x="2945694" y="113598"/>
                  </a:lnTo>
                  <a:lnTo>
                    <a:pt x="2998697" y="127527"/>
                  </a:lnTo>
                  <a:lnTo>
                    <a:pt x="3050649" y="142172"/>
                  </a:lnTo>
                  <a:lnTo>
                    <a:pt x="3101516" y="157516"/>
                  </a:lnTo>
                  <a:lnTo>
                    <a:pt x="3151266" y="173545"/>
                  </a:lnTo>
                  <a:lnTo>
                    <a:pt x="3199865" y="190244"/>
                  </a:lnTo>
                  <a:lnTo>
                    <a:pt x="3247282" y="207599"/>
                  </a:lnTo>
                  <a:lnTo>
                    <a:pt x="3293484" y="225594"/>
                  </a:lnTo>
                  <a:lnTo>
                    <a:pt x="3338438" y="244214"/>
                  </a:lnTo>
                  <a:lnTo>
                    <a:pt x="3382112" y="263446"/>
                  </a:lnTo>
                  <a:lnTo>
                    <a:pt x="3424473" y="283273"/>
                  </a:lnTo>
                  <a:lnTo>
                    <a:pt x="3465487" y="303682"/>
                  </a:lnTo>
                  <a:lnTo>
                    <a:pt x="3505124" y="324657"/>
                  </a:lnTo>
                  <a:lnTo>
                    <a:pt x="3543349" y="346184"/>
                  </a:lnTo>
                  <a:lnTo>
                    <a:pt x="3580131" y="368248"/>
                  </a:lnTo>
                  <a:lnTo>
                    <a:pt x="3615437" y="390833"/>
                  </a:lnTo>
                  <a:lnTo>
                    <a:pt x="3649234" y="413926"/>
                  </a:lnTo>
                  <a:lnTo>
                    <a:pt x="3681490" y="437511"/>
                  </a:lnTo>
                  <a:lnTo>
                    <a:pt x="3712171" y="461573"/>
                  </a:lnTo>
                  <a:lnTo>
                    <a:pt x="3768681" y="511071"/>
                  </a:lnTo>
                  <a:lnTo>
                    <a:pt x="3818503" y="562302"/>
                  </a:lnTo>
                  <a:lnTo>
                    <a:pt x="3861377" y="615145"/>
                  </a:lnTo>
                  <a:lnTo>
                    <a:pt x="3897040" y="669484"/>
                  </a:lnTo>
                  <a:lnTo>
                    <a:pt x="3925233" y="725199"/>
                  </a:lnTo>
                  <a:lnTo>
                    <a:pt x="3945693" y="782173"/>
                  </a:lnTo>
                  <a:lnTo>
                    <a:pt x="3958161" y="840285"/>
                  </a:lnTo>
                  <a:lnTo>
                    <a:pt x="3962375" y="899419"/>
                  </a:lnTo>
                  <a:lnTo>
                    <a:pt x="3961316" y="929107"/>
                  </a:lnTo>
                  <a:lnTo>
                    <a:pt x="3952943" y="987748"/>
                  </a:lnTo>
                  <a:lnTo>
                    <a:pt x="3936446" y="1045308"/>
                  </a:lnTo>
                  <a:lnTo>
                    <a:pt x="3912086" y="1101669"/>
                  </a:lnTo>
                  <a:lnTo>
                    <a:pt x="3880126" y="1156712"/>
                  </a:lnTo>
                  <a:lnTo>
                    <a:pt x="3840825" y="1210318"/>
                  </a:lnTo>
                  <a:lnTo>
                    <a:pt x="3794444" y="1262370"/>
                  </a:lnTo>
                  <a:lnTo>
                    <a:pt x="3741246" y="1312749"/>
                  </a:lnTo>
                  <a:lnTo>
                    <a:pt x="3681490" y="1361336"/>
                  </a:lnTo>
                  <a:lnTo>
                    <a:pt x="3649234" y="1384920"/>
                  </a:lnTo>
                  <a:lnTo>
                    <a:pt x="3615437" y="1408012"/>
                  </a:lnTo>
                  <a:lnTo>
                    <a:pt x="3580131" y="1430597"/>
                  </a:lnTo>
                  <a:lnTo>
                    <a:pt x="3543349" y="1452660"/>
                  </a:lnTo>
                  <a:lnTo>
                    <a:pt x="3505124" y="1474186"/>
                  </a:lnTo>
                  <a:lnTo>
                    <a:pt x="3465487" y="1495161"/>
                  </a:lnTo>
                  <a:lnTo>
                    <a:pt x="3424473" y="1515568"/>
                  </a:lnTo>
                  <a:lnTo>
                    <a:pt x="3382112" y="1535395"/>
                  </a:lnTo>
                  <a:lnTo>
                    <a:pt x="3338438" y="1554626"/>
                  </a:lnTo>
                  <a:lnTo>
                    <a:pt x="3293484" y="1573246"/>
                  </a:lnTo>
                  <a:lnTo>
                    <a:pt x="3247282" y="1591240"/>
                  </a:lnTo>
                  <a:lnTo>
                    <a:pt x="3199865" y="1608593"/>
                  </a:lnTo>
                  <a:lnTo>
                    <a:pt x="3151266" y="1625291"/>
                  </a:lnTo>
                  <a:lnTo>
                    <a:pt x="3101516" y="1641319"/>
                  </a:lnTo>
                  <a:lnTo>
                    <a:pt x="3050649" y="1656662"/>
                  </a:lnTo>
                  <a:lnTo>
                    <a:pt x="2998697" y="1671306"/>
                  </a:lnTo>
                  <a:lnTo>
                    <a:pt x="2945694" y="1685234"/>
                  </a:lnTo>
                  <a:lnTo>
                    <a:pt x="2891671" y="1698434"/>
                  </a:lnTo>
                  <a:lnTo>
                    <a:pt x="2836661" y="1710889"/>
                  </a:lnTo>
                  <a:lnTo>
                    <a:pt x="2780696" y="1722585"/>
                  </a:lnTo>
                  <a:lnTo>
                    <a:pt x="2723811" y="1733507"/>
                  </a:lnTo>
                  <a:lnTo>
                    <a:pt x="2666036" y="1743641"/>
                  </a:lnTo>
                  <a:lnTo>
                    <a:pt x="2607405" y="1752971"/>
                  </a:lnTo>
                  <a:lnTo>
                    <a:pt x="2547950" y="1761483"/>
                  </a:lnTo>
                  <a:lnTo>
                    <a:pt x="2487704" y="1769161"/>
                  </a:lnTo>
                  <a:lnTo>
                    <a:pt x="2426700" y="1775992"/>
                  </a:lnTo>
                  <a:lnTo>
                    <a:pt x="2364970" y="1781960"/>
                  </a:lnTo>
                  <a:lnTo>
                    <a:pt x="2341909" y="1783841"/>
                  </a:lnTo>
                </a:path>
                <a:path w="7666355" h="1784350">
                  <a:moveTo>
                    <a:pt x="1620442" y="1783841"/>
                  </a:moveTo>
                  <a:lnTo>
                    <a:pt x="1535651" y="1775992"/>
                  </a:lnTo>
                  <a:lnTo>
                    <a:pt x="1474647" y="1769161"/>
                  </a:lnTo>
                  <a:lnTo>
                    <a:pt x="1414402" y="1761483"/>
                  </a:lnTo>
                  <a:lnTo>
                    <a:pt x="1354948" y="1752971"/>
                  </a:lnTo>
                  <a:lnTo>
                    <a:pt x="1296317" y="1743641"/>
                  </a:lnTo>
                  <a:lnTo>
                    <a:pt x="1238543" y="1733507"/>
                  </a:lnTo>
                  <a:lnTo>
                    <a:pt x="1181658" y="1722585"/>
                  </a:lnTo>
                  <a:lnTo>
                    <a:pt x="1125694" y="1710889"/>
                  </a:lnTo>
                  <a:lnTo>
                    <a:pt x="1070685" y="1698434"/>
                  </a:lnTo>
                  <a:lnTo>
                    <a:pt x="1016662" y="1685234"/>
                  </a:lnTo>
                  <a:lnTo>
                    <a:pt x="963659" y="1671306"/>
                  </a:lnTo>
                  <a:lnTo>
                    <a:pt x="911708" y="1656662"/>
                  </a:lnTo>
                  <a:lnTo>
                    <a:pt x="860842" y="1641319"/>
                  </a:lnTo>
                  <a:lnTo>
                    <a:pt x="811093" y="1625291"/>
                  </a:lnTo>
                  <a:lnTo>
                    <a:pt x="762494" y="1608593"/>
                  </a:lnTo>
                  <a:lnTo>
                    <a:pt x="715078" y="1591240"/>
                  </a:lnTo>
                  <a:lnTo>
                    <a:pt x="668877" y="1573246"/>
                  </a:lnTo>
                  <a:lnTo>
                    <a:pt x="623923" y="1554626"/>
                  </a:lnTo>
                  <a:lnTo>
                    <a:pt x="580250" y="1535395"/>
                  </a:lnTo>
                  <a:lnTo>
                    <a:pt x="537890" y="1515568"/>
                  </a:lnTo>
                  <a:lnTo>
                    <a:pt x="496876" y="1495161"/>
                  </a:lnTo>
                  <a:lnTo>
                    <a:pt x="457241" y="1474186"/>
                  </a:lnTo>
                  <a:lnTo>
                    <a:pt x="419016" y="1452660"/>
                  </a:lnTo>
                  <a:lnTo>
                    <a:pt x="382234" y="1430597"/>
                  </a:lnTo>
                  <a:lnTo>
                    <a:pt x="346929" y="1408012"/>
                  </a:lnTo>
                  <a:lnTo>
                    <a:pt x="313133" y="1384920"/>
                  </a:lnTo>
                  <a:lnTo>
                    <a:pt x="280878" y="1361336"/>
                  </a:lnTo>
                  <a:lnTo>
                    <a:pt x="250198" y="1337274"/>
                  </a:lnTo>
                  <a:lnTo>
                    <a:pt x="193689" y="1287776"/>
                  </a:lnTo>
                  <a:lnTo>
                    <a:pt x="143868" y="1236546"/>
                  </a:lnTo>
                  <a:lnTo>
                    <a:pt x="100995" y="1183702"/>
                  </a:lnTo>
                  <a:lnTo>
                    <a:pt x="65333" y="1129362"/>
                  </a:lnTo>
                  <a:lnTo>
                    <a:pt x="37141" y="1073646"/>
                  </a:lnTo>
                  <a:lnTo>
                    <a:pt x="16681" y="1016670"/>
                  </a:lnTo>
                  <a:lnTo>
                    <a:pt x="4213" y="958555"/>
                  </a:lnTo>
                  <a:lnTo>
                    <a:pt x="0" y="899419"/>
                  </a:lnTo>
                  <a:lnTo>
                    <a:pt x="1037" y="870051"/>
                  </a:lnTo>
                  <a:lnTo>
                    <a:pt x="9249" y="812014"/>
                  </a:lnTo>
                  <a:lnTo>
                    <a:pt x="25434" y="755009"/>
                  </a:lnTo>
                  <a:lnTo>
                    <a:pt x="49345" y="699154"/>
                  </a:lnTo>
                  <a:lnTo>
                    <a:pt x="80732" y="644567"/>
                  </a:lnTo>
                  <a:lnTo>
                    <a:pt x="119345" y="591365"/>
                  </a:lnTo>
                  <a:lnTo>
                    <a:pt x="164935" y="539667"/>
                  </a:lnTo>
                  <a:lnTo>
                    <a:pt x="217253" y="489590"/>
                  </a:lnTo>
                  <a:lnTo>
                    <a:pt x="276051" y="441254"/>
                  </a:lnTo>
                  <a:lnTo>
                    <a:pt x="307801" y="417776"/>
                  </a:lnTo>
                  <a:lnTo>
                    <a:pt x="341078" y="394776"/>
                  </a:lnTo>
                  <a:lnTo>
                    <a:pt x="375849" y="372271"/>
                  </a:lnTo>
                  <a:lnTo>
                    <a:pt x="412085" y="350274"/>
                  </a:lnTo>
                  <a:lnTo>
                    <a:pt x="449753" y="328801"/>
                  </a:lnTo>
                  <a:lnTo>
                    <a:pt x="488824" y="307867"/>
                  </a:lnTo>
                  <a:lnTo>
                    <a:pt x="529264" y="287485"/>
                  </a:lnTo>
                  <a:lnTo>
                    <a:pt x="571044" y="267672"/>
                  </a:lnTo>
                  <a:lnTo>
                    <a:pt x="614132" y="248441"/>
                  </a:lnTo>
                  <a:lnTo>
                    <a:pt x="658497" y="229807"/>
                  </a:lnTo>
                  <a:lnTo>
                    <a:pt x="704108" y="211786"/>
                  </a:lnTo>
                  <a:lnTo>
                    <a:pt x="750934" y="194391"/>
                  </a:lnTo>
                  <a:lnTo>
                    <a:pt x="798943" y="177638"/>
                  </a:lnTo>
                  <a:lnTo>
                    <a:pt x="848105" y="161542"/>
                  </a:lnTo>
                  <a:lnTo>
                    <a:pt x="898388" y="146116"/>
                  </a:lnTo>
                  <a:lnTo>
                    <a:pt x="949761" y="131377"/>
                  </a:lnTo>
                  <a:lnTo>
                    <a:pt x="1002193" y="117338"/>
                  </a:lnTo>
                  <a:lnTo>
                    <a:pt x="1055653" y="104015"/>
                  </a:lnTo>
                  <a:lnTo>
                    <a:pt x="1110110" y="91422"/>
                  </a:lnTo>
                  <a:lnTo>
                    <a:pt x="1165532" y="79574"/>
                  </a:lnTo>
                  <a:lnTo>
                    <a:pt x="1221888" y="68486"/>
                  </a:lnTo>
                  <a:lnTo>
                    <a:pt x="1279148" y="58173"/>
                  </a:lnTo>
                  <a:lnTo>
                    <a:pt x="1337280" y="48648"/>
                  </a:lnTo>
                  <a:lnTo>
                    <a:pt x="1396252" y="39928"/>
                  </a:lnTo>
                  <a:lnTo>
                    <a:pt x="1456034" y="32027"/>
                  </a:lnTo>
                  <a:lnTo>
                    <a:pt x="1516595" y="24959"/>
                  </a:lnTo>
                  <a:lnTo>
                    <a:pt x="1577904" y="18739"/>
                  </a:lnTo>
                  <a:lnTo>
                    <a:pt x="1639928" y="13383"/>
                  </a:lnTo>
                  <a:lnTo>
                    <a:pt x="1702638" y="8904"/>
                  </a:lnTo>
                  <a:lnTo>
                    <a:pt x="1766001" y="5318"/>
                  </a:lnTo>
                  <a:lnTo>
                    <a:pt x="1829988" y="2640"/>
                  </a:lnTo>
                  <a:lnTo>
                    <a:pt x="1894566" y="883"/>
                  </a:lnTo>
                </a:path>
                <a:path w="7666355" h="1784350">
                  <a:moveTo>
                    <a:pt x="5723113" y="14980"/>
                  </a:moveTo>
                  <a:lnTo>
                    <a:pt x="5787252" y="15453"/>
                  </a:lnTo>
                  <a:lnTo>
                    <a:pt x="5850872" y="16862"/>
                  </a:lnTo>
                  <a:lnTo>
                    <a:pt x="5913940" y="19191"/>
                  </a:lnTo>
                  <a:lnTo>
                    <a:pt x="5976424" y="22428"/>
                  </a:lnTo>
                  <a:lnTo>
                    <a:pt x="6038293" y="26556"/>
                  </a:lnTo>
                  <a:lnTo>
                    <a:pt x="6099514" y="31562"/>
                  </a:lnTo>
                  <a:lnTo>
                    <a:pt x="6160055" y="37431"/>
                  </a:lnTo>
                  <a:lnTo>
                    <a:pt x="6219885" y="44149"/>
                  </a:lnTo>
                  <a:lnTo>
                    <a:pt x="6278971" y="51700"/>
                  </a:lnTo>
                  <a:lnTo>
                    <a:pt x="6337281" y="60070"/>
                  </a:lnTo>
                  <a:lnTo>
                    <a:pt x="6394784" y="69245"/>
                  </a:lnTo>
                  <a:lnTo>
                    <a:pt x="6451447" y="79210"/>
                  </a:lnTo>
                  <a:lnTo>
                    <a:pt x="6507238" y="89951"/>
                  </a:lnTo>
                  <a:lnTo>
                    <a:pt x="6562126" y="101453"/>
                  </a:lnTo>
                  <a:lnTo>
                    <a:pt x="6616077" y="113701"/>
                  </a:lnTo>
                  <a:lnTo>
                    <a:pt x="6669062" y="126681"/>
                  </a:lnTo>
                  <a:lnTo>
                    <a:pt x="6721046" y="140378"/>
                  </a:lnTo>
                  <a:lnTo>
                    <a:pt x="6771999" y="154777"/>
                  </a:lnTo>
                  <a:lnTo>
                    <a:pt x="6821888" y="169865"/>
                  </a:lnTo>
                  <a:lnTo>
                    <a:pt x="6870681" y="185627"/>
                  </a:lnTo>
                  <a:lnTo>
                    <a:pt x="6918346" y="202047"/>
                  </a:lnTo>
                  <a:lnTo>
                    <a:pt x="6964852" y="219112"/>
                  </a:lnTo>
                  <a:lnTo>
                    <a:pt x="7010166" y="236807"/>
                  </a:lnTo>
                  <a:lnTo>
                    <a:pt x="7054256" y="255117"/>
                  </a:lnTo>
                  <a:lnTo>
                    <a:pt x="7097091" y="274028"/>
                  </a:lnTo>
                  <a:lnTo>
                    <a:pt x="7138637" y="293525"/>
                  </a:lnTo>
                  <a:lnTo>
                    <a:pt x="7178864" y="313593"/>
                  </a:lnTo>
                  <a:lnTo>
                    <a:pt x="7217739" y="334219"/>
                  </a:lnTo>
                  <a:lnTo>
                    <a:pt x="7255231" y="355387"/>
                  </a:lnTo>
                  <a:lnTo>
                    <a:pt x="7291306" y="377083"/>
                  </a:lnTo>
                  <a:lnTo>
                    <a:pt x="7325934" y="399292"/>
                  </a:lnTo>
                  <a:lnTo>
                    <a:pt x="7359082" y="422000"/>
                  </a:lnTo>
                  <a:lnTo>
                    <a:pt x="7390718" y="445192"/>
                  </a:lnTo>
                  <a:lnTo>
                    <a:pt x="7420810" y="468854"/>
                  </a:lnTo>
                  <a:lnTo>
                    <a:pt x="7476236" y="517527"/>
                  </a:lnTo>
                  <a:lnTo>
                    <a:pt x="7525102" y="567905"/>
                  </a:lnTo>
                  <a:lnTo>
                    <a:pt x="7567152" y="619869"/>
                  </a:lnTo>
                  <a:lnTo>
                    <a:pt x="7602131" y="673304"/>
                  </a:lnTo>
                  <a:lnTo>
                    <a:pt x="7629783" y="728093"/>
                  </a:lnTo>
                  <a:lnTo>
                    <a:pt x="7649851" y="784120"/>
                  </a:lnTo>
                  <a:lnTo>
                    <a:pt x="7662080" y="841267"/>
                  </a:lnTo>
                  <a:lnTo>
                    <a:pt x="7666213" y="899419"/>
                  </a:lnTo>
                  <a:lnTo>
                    <a:pt x="7665174" y="928612"/>
                  </a:lnTo>
                  <a:lnTo>
                    <a:pt x="7656962" y="986274"/>
                  </a:lnTo>
                  <a:lnTo>
                    <a:pt x="7640781" y="1042874"/>
                  </a:lnTo>
                  <a:lnTo>
                    <a:pt x="7616889" y="1098295"/>
                  </a:lnTo>
                  <a:lnTo>
                    <a:pt x="7585542" y="1152420"/>
                  </a:lnTo>
                  <a:lnTo>
                    <a:pt x="7546995" y="1205133"/>
                  </a:lnTo>
                  <a:lnTo>
                    <a:pt x="7501505" y="1256318"/>
                  </a:lnTo>
                  <a:lnTo>
                    <a:pt x="7449327" y="1305857"/>
                  </a:lnTo>
                  <a:lnTo>
                    <a:pt x="7390718" y="1353634"/>
                  </a:lnTo>
                  <a:lnTo>
                    <a:pt x="7359082" y="1376826"/>
                  </a:lnTo>
                  <a:lnTo>
                    <a:pt x="7325934" y="1399534"/>
                  </a:lnTo>
                  <a:lnTo>
                    <a:pt x="7291306" y="1421742"/>
                  </a:lnTo>
                  <a:lnTo>
                    <a:pt x="7255231" y="1443438"/>
                  </a:lnTo>
                  <a:lnTo>
                    <a:pt x="7217739" y="1464606"/>
                  </a:lnTo>
                  <a:lnTo>
                    <a:pt x="7178864" y="1485231"/>
                  </a:lnTo>
                  <a:lnTo>
                    <a:pt x="7138637" y="1505299"/>
                  </a:lnTo>
                  <a:lnTo>
                    <a:pt x="7097091" y="1524796"/>
                  </a:lnTo>
                  <a:lnTo>
                    <a:pt x="7054256" y="1543706"/>
                  </a:lnTo>
                  <a:lnTo>
                    <a:pt x="7010166" y="1562016"/>
                  </a:lnTo>
                  <a:lnTo>
                    <a:pt x="6964852" y="1579711"/>
                  </a:lnTo>
                  <a:lnTo>
                    <a:pt x="6918346" y="1596776"/>
                  </a:lnTo>
                  <a:lnTo>
                    <a:pt x="6870681" y="1613196"/>
                  </a:lnTo>
                  <a:lnTo>
                    <a:pt x="6821888" y="1628957"/>
                  </a:lnTo>
                  <a:lnTo>
                    <a:pt x="6771999" y="1644045"/>
                  </a:lnTo>
                  <a:lnTo>
                    <a:pt x="6721046" y="1658445"/>
                  </a:lnTo>
                  <a:lnTo>
                    <a:pt x="6669062" y="1672142"/>
                  </a:lnTo>
                  <a:lnTo>
                    <a:pt x="6616077" y="1685122"/>
                  </a:lnTo>
                  <a:lnTo>
                    <a:pt x="6562126" y="1697370"/>
                  </a:lnTo>
                  <a:lnTo>
                    <a:pt x="6507238" y="1708871"/>
                  </a:lnTo>
                  <a:lnTo>
                    <a:pt x="6451447" y="1719612"/>
                  </a:lnTo>
                  <a:lnTo>
                    <a:pt x="6394784" y="1729577"/>
                  </a:lnTo>
                  <a:lnTo>
                    <a:pt x="6337281" y="1738752"/>
                  </a:lnTo>
                  <a:lnTo>
                    <a:pt x="6278971" y="1747122"/>
                  </a:lnTo>
                  <a:lnTo>
                    <a:pt x="6219885" y="1754673"/>
                  </a:lnTo>
                  <a:lnTo>
                    <a:pt x="6160055" y="1761391"/>
                  </a:lnTo>
                  <a:lnTo>
                    <a:pt x="6099514" y="1767260"/>
                  </a:lnTo>
                  <a:lnTo>
                    <a:pt x="6038293" y="1772266"/>
                  </a:lnTo>
                  <a:lnTo>
                    <a:pt x="5976424" y="1776394"/>
                  </a:lnTo>
                  <a:lnTo>
                    <a:pt x="5913940" y="1779630"/>
                  </a:lnTo>
                  <a:lnTo>
                    <a:pt x="5850872" y="1781960"/>
                  </a:lnTo>
                  <a:lnTo>
                    <a:pt x="5787252" y="1783369"/>
                  </a:lnTo>
                  <a:lnTo>
                    <a:pt x="5723113" y="1783841"/>
                  </a:lnTo>
                  <a:lnTo>
                    <a:pt x="5658973" y="1783369"/>
                  </a:lnTo>
                  <a:lnTo>
                    <a:pt x="5595353" y="1781960"/>
                  </a:lnTo>
                  <a:lnTo>
                    <a:pt x="5532284" y="1779630"/>
                  </a:lnTo>
                  <a:lnTo>
                    <a:pt x="5469799" y="1776394"/>
                  </a:lnTo>
                  <a:lnTo>
                    <a:pt x="5407930" y="1772266"/>
                  </a:lnTo>
                  <a:lnTo>
                    <a:pt x="5346708" y="1767260"/>
                  </a:lnTo>
                  <a:lnTo>
                    <a:pt x="5286166" y="1761391"/>
                  </a:lnTo>
                  <a:lnTo>
                    <a:pt x="5226336" y="1754673"/>
                  </a:lnTo>
                  <a:lnTo>
                    <a:pt x="5167250" y="1747122"/>
                  </a:lnTo>
                  <a:lnTo>
                    <a:pt x="5108939" y="1738752"/>
                  </a:lnTo>
                  <a:lnTo>
                    <a:pt x="5051436" y="1729577"/>
                  </a:lnTo>
                  <a:lnTo>
                    <a:pt x="4994773" y="1719612"/>
                  </a:lnTo>
                  <a:lnTo>
                    <a:pt x="4938982" y="1708871"/>
                  </a:lnTo>
                  <a:lnTo>
                    <a:pt x="4884094" y="1697370"/>
                  </a:lnTo>
                  <a:lnTo>
                    <a:pt x="4830142" y="1685122"/>
                  </a:lnTo>
                  <a:lnTo>
                    <a:pt x="4777158" y="1672142"/>
                  </a:lnTo>
                  <a:lnTo>
                    <a:pt x="4725174" y="1658445"/>
                  </a:lnTo>
                  <a:lnTo>
                    <a:pt x="4674221" y="1644045"/>
                  </a:lnTo>
                  <a:lnTo>
                    <a:pt x="4624332" y="1628957"/>
                  </a:lnTo>
                  <a:lnTo>
                    <a:pt x="4575539" y="1613196"/>
                  </a:lnTo>
                  <a:lnTo>
                    <a:pt x="4527874" y="1596776"/>
                  </a:lnTo>
                  <a:lnTo>
                    <a:pt x="4481368" y="1579711"/>
                  </a:lnTo>
                  <a:lnTo>
                    <a:pt x="4436054" y="1562016"/>
                  </a:lnTo>
                  <a:lnTo>
                    <a:pt x="4391964" y="1543706"/>
                  </a:lnTo>
                  <a:lnTo>
                    <a:pt x="4349130" y="1524796"/>
                  </a:lnTo>
                  <a:lnTo>
                    <a:pt x="4307584" y="1505299"/>
                  </a:lnTo>
                  <a:lnTo>
                    <a:pt x="4267357" y="1485231"/>
                  </a:lnTo>
                  <a:lnTo>
                    <a:pt x="4228482" y="1464606"/>
                  </a:lnTo>
                  <a:lnTo>
                    <a:pt x="4190991" y="1443438"/>
                  </a:lnTo>
                  <a:lnTo>
                    <a:pt x="4154916" y="1421742"/>
                  </a:lnTo>
                  <a:lnTo>
                    <a:pt x="4120288" y="1399534"/>
                  </a:lnTo>
                  <a:lnTo>
                    <a:pt x="4087141" y="1376826"/>
                  </a:lnTo>
                  <a:lnTo>
                    <a:pt x="4055505" y="1353634"/>
                  </a:lnTo>
                  <a:lnTo>
                    <a:pt x="4025413" y="1329973"/>
                  </a:lnTo>
                  <a:lnTo>
                    <a:pt x="3969988" y="1281300"/>
                  </a:lnTo>
                  <a:lnTo>
                    <a:pt x="3921123" y="1230924"/>
                  </a:lnTo>
                  <a:lnTo>
                    <a:pt x="3879073" y="1178960"/>
                  </a:lnTo>
                  <a:lnTo>
                    <a:pt x="3844094" y="1125526"/>
                  </a:lnTo>
                  <a:lnTo>
                    <a:pt x="3816443" y="1070739"/>
                  </a:lnTo>
                  <a:lnTo>
                    <a:pt x="3796375" y="1014714"/>
                  </a:lnTo>
                  <a:lnTo>
                    <a:pt x="3784146" y="957568"/>
                  </a:lnTo>
                  <a:lnTo>
                    <a:pt x="3780013" y="899419"/>
                  </a:lnTo>
                  <a:lnTo>
                    <a:pt x="3781074" y="869947"/>
                  </a:lnTo>
                  <a:lnTo>
                    <a:pt x="3789463" y="811719"/>
                  </a:lnTo>
                  <a:lnTo>
                    <a:pt x="3805993" y="754551"/>
                  </a:lnTo>
                  <a:lnTo>
                    <a:pt x="3830403" y="698565"/>
                  </a:lnTo>
                  <a:lnTo>
                    <a:pt x="3862434" y="643886"/>
                  </a:lnTo>
                  <a:lnTo>
                    <a:pt x="3901826" y="590636"/>
                  </a:lnTo>
                  <a:lnTo>
                    <a:pt x="3948319" y="538940"/>
                  </a:lnTo>
                  <a:lnTo>
                    <a:pt x="4001653" y="488920"/>
                  </a:lnTo>
                  <a:lnTo>
                    <a:pt x="4061568" y="440702"/>
                  </a:lnTo>
                  <a:lnTo>
                    <a:pt x="4093912" y="417307"/>
                  </a:lnTo>
                  <a:lnTo>
                    <a:pt x="4127804" y="394409"/>
                  </a:lnTo>
                  <a:lnTo>
                    <a:pt x="4163212" y="372022"/>
                  </a:lnTo>
                  <a:lnTo>
                    <a:pt x="4200103" y="350163"/>
                  </a:lnTo>
                  <a:lnTo>
                    <a:pt x="4238444" y="328847"/>
                  </a:lnTo>
                  <a:lnTo>
                    <a:pt x="4278203" y="308090"/>
                  </a:lnTo>
                  <a:lnTo>
                    <a:pt x="4319347" y="287906"/>
                  </a:lnTo>
                  <a:lnTo>
                    <a:pt x="4361845" y="268312"/>
                  </a:lnTo>
                  <a:lnTo>
                    <a:pt x="4405663" y="249322"/>
                  </a:lnTo>
                  <a:lnTo>
                    <a:pt x="4450769" y="230953"/>
                  </a:lnTo>
                  <a:lnTo>
                    <a:pt x="4497131" y="213220"/>
                  </a:lnTo>
                  <a:lnTo>
                    <a:pt x="4544715" y="196137"/>
                  </a:lnTo>
                  <a:lnTo>
                    <a:pt x="4593491" y="179722"/>
                  </a:lnTo>
                  <a:lnTo>
                    <a:pt x="4643424" y="163988"/>
                  </a:lnTo>
                  <a:lnTo>
                    <a:pt x="4694483" y="148952"/>
                  </a:lnTo>
                  <a:lnTo>
                    <a:pt x="4746635" y="134630"/>
                  </a:lnTo>
                  <a:lnTo>
                    <a:pt x="4799848" y="121035"/>
                  </a:lnTo>
                  <a:lnTo>
                    <a:pt x="4854090" y="108185"/>
                  </a:lnTo>
                  <a:lnTo>
                    <a:pt x="4909326" y="96094"/>
                  </a:lnTo>
                  <a:lnTo>
                    <a:pt x="4965527" y="84778"/>
                  </a:lnTo>
                  <a:lnTo>
                    <a:pt x="5022657" y="74252"/>
                  </a:lnTo>
                  <a:lnTo>
                    <a:pt x="5080687" y="64532"/>
                  </a:lnTo>
                  <a:lnTo>
                    <a:pt x="5139582" y="55633"/>
                  </a:lnTo>
                  <a:lnTo>
                    <a:pt x="5199310" y="47571"/>
                  </a:lnTo>
                  <a:lnTo>
                    <a:pt x="5259839" y="40362"/>
                  </a:lnTo>
                  <a:lnTo>
                    <a:pt x="5321137" y="34019"/>
                  </a:lnTo>
                  <a:lnTo>
                    <a:pt x="5383170" y="28560"/>
                  </a:lnTo>
                  <a:lnTo>
                    <a:pt x="5445907" y="24000"/>
                  </a:lnTo>
                  <a:lnTo>
                    <a:pt x="5509315" y="20353"/>
                  </a:lnTo>
                  <a:lnTo>
                    <a:pt x="5573361" y="17636"/>
                  </a:lnTo>
                  <a:lnTo>
                    <a:pt x="5638013" y="15864"/>
                  </a:lnTo>
                </a:path>
              </a:pathLst>
            </a:custGeom>
            <a:ln w="57149">
              <a:solidFill>
                <a:srgbClr val="ED2124"/>
              </a:solidFill>
            </a:ln>
          </p:spPr>
          <p:txBody>
            <a:bodyPr wrap="square" lIns="0" tIns="0" rIns="0" bIns="0" rtlCol="0"/>
            <a:lstStyle/>
            <a:p>
              <a:endParaRPr sz="1588"/>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18455" y="162486"/>
            <a:ext cx="8649744" cy="446487"/>
          </a:xfrm>
          <a:prstGeom prst="rect">
            <a:avLst/>
          </a:prstGeom>
        </p:spPr>
        <p:txBody>
          <a:bodyPr vert="horz" wrap="square" lIns="0" tIns="11766" rIns="0" bIns="0" rtlCol="0" anchor="t">
            <a:spAutoFit/>
          </a:bodyPr>
          <a:lstStyle/>
          <a:p>
            <a:pPr marL="11206">
              <a:lnSpc>
                <a:spcPct val="100000"/>
              </a:lnSpc>
              <a:spcBef>
                <a:spcPts val="93"/>
              </a:spcBef>
            </a:pPr>
            <a:r>
              <a:t>BRANCH–AND–BOUND</a:t>
            </a:r>
            <a:r>
              <a:rPr spc="-79"/>
              <a:t> </a:t>
            </a:r>
            <a:r>
              <a:rPr spc="-4"/>
              <a:t>METHOD</a:t>
            </a:r>
            <a:r>
              <a:rPr spc="-26"/>
              <a:t> </a:t>
            </a:r>
            <a:r>
              <a:t>(Cont…)</a:t>
            </a:r>
          </a:p>
        </p:txBody>
      </p:sp>
      <p:grpSp>
        <p:nvGrpSpPr>
          <p:cNvPr id="3" name="object 3"/>
          <p:cNvGrpSpPr/>
          <p:nvPr/>
        </p:nvGrpSpPr>
        <p:grpSpPr>
          <a:xfrm>
            <a:off x="2089438" y="1075765"/>
            <a:ext cx="3816163" cy="5311588"/>
            <a:chOff x="488429" y="1219200"/>
            <a:chExt cx="4324985" cy="6019800"/>
          </a:xfrm>
        </p:grpSpPr>
        <p:pic>
          <p:nvPicPr>
            <p:cNvPr id="4" name="object 4"/>
            <p:cNvPicPr/>
            <p:nvPr/>
          </p:nvPicPr>
          <p:blipFill>
            <a:blip r:embed="rId2" cstate="print"/>
            <a:stretch>
              <a:fillRect/>
            </a:stretch>
          </p:blipFill>
          <p:spPr>
            <a:xfrm>
              <a:off x="488429" y="1219200"/>
              <a:ext cx="4267196" cy="6019799"/>
            </a:xfrm>
            <a:prstGeom prst="rect">
              <a:avLst/>
            </a:prstGeom>
          </p:spPr>
        </p:pic>
        <p:sp>
          <p:nvSpPr>
            <p:cNvPr id="5" name="object 5"/>
            <p:cNvSpPr/>
            <p:nvPr/>
          </p:nvSpPr>
          <p:spPr>
            <a:xfrm>
              <a:off x="2045329" y="2819400"/>
              <a:ext cx="2755265" cy="2851150"/>
            </a:xfrm>
            <a:custGeom>
              <a:avLst/>
              <a:gdLst/>
              <a:ahLst/>
              <a:cxnLst/>
              <a:rect l="l" t="t" r="r" b="b"/>
              <a:pathLst>
                <a:path w="2755265" h="2851150">
                  <a:moveTo>
                    <a:pt x="2755270" y="761999"/>
                  </a:moveTo>
                  <a:lnTo>
                    <a:pt x="2755270" y="0"/>
                  </a:lnTo>
                  <a:lnTo>
                    <a:pt x="164470" y="0"/>
                  </a:lnTo>
                  <a:lnTo>
                    <a:pt x="164470" y="761999"/>
                  </a:lnTo>
                  <a:lnTo>
                    <a:pt x="596264" y="761999"/>
                  </a:lnTo>
                  <a:lnTo>
                    <a:pt x="0" y="2850885"/>
                  </a:lnTo>
                  <a:lnTo>
                    <a:pt x="1243964" y="761999"/>
                  </a:lnTo>
                  <a:lnTo>
                    <a:pt x="2755270" y="761999"/>
                  </a:lnTo>
                  <a:close/>
                </a:path>
              </a:pathLst>
            </a:custGeom>
            <a:solidFill>
              <a:srgbClr val="4F81BD"/>
            </a:solidFill>
          </p:spPr>
          <p:txBody>
            <a:bodyPr wrap="square" lIns="0" tIns="0" rIns="0" bIns="0" rtlCol="0"/>
            <a:lstStyle/>
            <a:p>
              <a:endParaRPr sz="1588"/>
            </a:p>
          </p:txBody>
        </p:sp>
        <p:sp>
          <p:nvSpPr>
            <p:cNvPr id="6" name="object 6"/>
            <p:cNvSpPr/>
            <p:nvPr/>
          </p:nvSpPr>
          <p:spPr>
            <a:xfrm>
              <a:off x="2045329" y="2819400"/>
              <a:ext cx="2755265" cy="2851150"/>
            </a:xfrm>
            <a:custGeom>
              <a:avLst/>
              <a:gdLst/>
              <a:ahLst/>
              <a:cxnLst/>
              <a:rect l="l" t="t" r="r" b="b"/>
              <a:pathLst>
                <a:path w="2755265" h="2851150">
                  <a:moveTo>
                    <a:pt x="164470" y="0"/>
                  </a:moveTo>
                  <a:lnTo>
                    <a:pt x="2755270" y="0"/>
                  </a:lnTo>
                  <a:lnTo>
                    <a:pt x="2755270" y="761999"/>
                  </a:lnTo>
                  <a:lnTo>
                    <a:pt x="1243964" y="761999"/>
                  </a:lnTo>
                  <a:lnTo>
                    <a:pt x="0" y="2850885"/>
                  </a:lnTo>
                  <a:lnTo>
                    <a:pt x="596264" y="761999"/>
                  </a:lnTo>
                  <a:lnTo>
                    <a:pt x="164470" y="761999"/>
                  </a:lnTo>
                  <a:lnTo>
                    <a:pt x="164470" y="444489"/>
                  </a:lnTo>
                  <a:lnTo>
                    <a:pt x="164470" y="0"/>
                  </a:lnTo>
                  <a:close/>
                </a:path>
              </a:pathLst>
            </a:custGeom>
            <a:ln w="25400">
              <a:solidFill>
                <a:srgbClr val="365D8A"/>
              </a:solidFill>
            </a:ln>
          </p:spPr>
          <p:txBody>
            <a:bodyPr wrap="square" lIns="0" tIns="0" rIns="0" bIns="0" rtlCol="0"/>
            <a:lstStyle/>
            <a:p>
              <a:endParaRPr sz="1588"/>
            </a:p>
          </p:txBody>
        </p:sp>
      </p:grpSp>
      <p:sp>
        <p:nvSpPr>
          <p:cNvPr id="7" name="object 7"/>
          <p:cNvSpPr txBox="1"/>
          <p:nvPr/>
        </p:nvSpPr>
        <p:spPr>
          <a:xfrm>
            <a:off x="3685726" y="2598082"/>
            <a:ext cx="2131359" cy="445356"/>
          </a:xfrm>
          <a:prstGeom prst="rect">
            <a:avLst/>
          </a:prstGeom>
        </p:spPr>
        <p:txBody>
          <a:bodyPr vert="horz" wrap="square" lIns="0" tIns="10646" rIns="0" bIns="0" rtlCol="0">
            <a:spAutoFit/>
          </a:bodyPr>
          <a:lstStyle/>
          <a:p>
            <a:pPr marL="33619">
              <a:spcBef>
                <a:spcPts val="84"/>
              </a:spcBef>
            </a:pPr>
            <a:r>
              <a:rPr sz="1412" spc="-9">
                <a:solidFill>
                  <a:srgbClr val="FFFFFF"/>
                </a:solidFill>
                <a:latin typeface="Tahoma"/>
                <a:cs typeface="Tahoma"/>
              </a:rPr>
              <a:t>Feasible Region</a:t>
            </a:r>
            <a:r>
              <a:rPr sz="1412" spc="-22">
                <a:solidFill>
                  <a:srgbClr val="FFFFFF"/>
                </a:solidFill>
                <a:latin typeface="Tahoma"/>
                <a:cs typeface="Tahoma"/>
              </a:rPr>
              <a:t> </a:t>
            </a:r>
            <a:r>
              <a:rPr sz="1412" spc="-4">
                <a:solidFill>
                  <a:srgbClr val="FFFFFF"/>
                </a:solidFill>
                <a:latin typeface="Tahoma"/>
                <a:cs typeface="Tahoma"/>
              </a:rPr>
              <a:t>of </a:t>
            </a:r>
            <a:r>
              <a:rPr sz="1412">
                <a:solidFill>
                  <a:srgbClr val="FFFFFF"/>
                </a:solidFill>
                <a:latin typeface="Tahoma"/>
                <a:cs typeface="Tahoma"/>
              </a:rPr>
              <a:t>P</a:t>
            </a:r>
            <a:r>
              <a:rPr sz="1390" baseline="-21164">
                <a:solidFill>
                  <a:srgbClr val="FFFFFF"/>
                </a:solidFill>
                <a:latin typeface="Tahoma"/>
                <a:cs typeface="Tahoma"/>
              </a:rPr>
              <a:t>2</a:t>
            </a:r>
            <a:r>
              <a:rPr sz="1390" spc="26" baseline="-21164">
                <a:solidFill>
                  <a:srgbClr val="FFFFFF"/>
                </a:solidFill>
                <a:latin typeface="Tahoma"/>
                <a:cs typeface="Tahoma"/>
              </a:rPr>
              <a:t> </a:t>
            </a:r>
            <a:r>
              <a:rPr sz="1412" spc="-9">
                <a:solidFill>
                  <a:srgbClr val="FFFFFF"/>
                </a:solidFill>
                <a:latin typeface="Tahoma"/>
                <a:cs typeface="Tahoma"/>
              </a:rPr>
              <a:t>after</a:t>
            </a:r>
            <a:endParaRPr sz="1412">
              <a:latin typeface="Tahoma"/>
              <a:cs typeface="Tahoma"/>
            </a:endParaRPr>
          </a:p>
          <a:p>
            <a:pPr marL="79006"/>
            <a:r>
              <a:rPr sz="1412" spc="-9">
                <a:solidFill>
                  <a:srgbClr val="FFFFFF"/>
                </a:solidFill>
                <a:latin typeface="Tahoma"/>
                <a:cs typeface="Tahoma"/>
              </a:rPr>
              <a:t>introduction</a:t>
            </a:r>
            <a:r>
              <a:rPr sz="1412" spc="18">
                <a:solidFill>
                  <a:srgbClr val="FFFFFF"/>
                </a:solidFill>
                <a:latin typeface="Tahoma"/>
                <a:cs typeface="Tahoma"/>
              </a:rPr>
              <a:t> </a:t>
            </a:r>
            <a:r>
              <a:rPr sz="1412" spc="-4">
                <a:solidFill>
                  <a:srgbClr val="FFFFFF"/>
                </a:solidFill>
                <a:latin typeface="Tahoma"/>
                <a:cs typeface="Tahoma"/>
              </a:rPr>
              <a:t>X1</a:t>
            </a:r>
            <a:r>
              <a:rPr sz="1412">
                <a:solidFill>
                  <a:srgbClr val="FFFFFF"/>
                </a:solidFill>
                <a:latin typeface="Tahoma"/>
                <a:cs typeface="Tahoma"/>
              </a:rPr>
              <a:t> </a:t>
            </a:r>
            <a:r>
              <a:rPr sz="1412" spc="-4">
                <a:solidFill>
                  <a:srgbClr val="FFFFFF"/>
                </a:solidFill>
                <a:latin typeface="Tahoma"/>
                <a:cs typeface="Tahoma"/>
              </a:rPr>
              <a:t>≥</a:t>
            </a:r>
            <a:r>
              <a:rPr sz="1412" spc="-9">
                <a:solidFill>
                  <a:srgbClr val="FFFFFF"/>
                </a:solidFill>
                <a:latin typeface="Tahoma"/>
                <a:cs typeface="Tahoma"/>
              </a:rPr>
              <a:t> </a:t>
            </a:r>
            <a:r>
              <a:rPr sz="1412" spc="-4">
                <a:solidFill>
                  <a:srgbClr val="FFFFFF"/>
                </a:solidFill>
                <a:latin typeface="Tahoma"/>
                <a:cs typeface="Tahoma"/>
              </a:rPr>
              <a:t>5</a:t>
            </a:r>
            <a:r>
              <a:rPr sz="1412">
                <a:solidFill>
                  <a:srgbClr val="FFFFFF"/>
                </a:solidFill>
                <a:latin typeface="Tahoma"/>
                <a:cs typeface="Tahoma"/>
              </a:rPr>
              <a:t> </a:t>
            </a:r>
            <a:r>
              <a:rPr sz="1412" spc="-9">
                <a:solidFill>
                  <a:srgbClr val="FFFFFF"/>
                </a:solidFill>
                <a:latin typeface="Tahoma"/>
                <a:cs typeface="Tahoma"/>
              </a:rPr>
              <a:t>to</a:t>
            </a:r>
            <a:r>
              <a:rPr sz="1412" spc="4">
                <a:solidFill>
                  <a:srgbClr val="FFFFFF"/>
                </a:solidFill>
                <a:latin typeface="Tahoma"/>
                <a:cs typeface="Tahoma"/>
              </a:rPr>
              <a:t> </a:t>
            </a:r>
            <a:r>
              <a:rPr sz="1412">
                <a:solidFill>
                  <a:srgbClr val="FFFFFF"/>
                </a:solidFill>
                <a:latin typeface="Tahoma"/>
                <a:cs typeface="Tahoma"/>
              </a:rPr>
              <a:t>P</a:t>
            </a:r>
            <a:r>
              <a:rPr sz="1390" baseline="-21164">
                <a:solidFill>
                  <a:srgbClr val="FFFFFF"/>
                </a:solidFill>
                <a:latin typeface="Tahoma"/>
                <a:cs typeface="Tahoma"/>
              </a:rPr>
              <a:t>1</a:t>
            </a:r>
            <a:endParaRPr sz="1390" baseline="-21164">
              <a:latin typeface="Tahoma"/>
              <a:cs typeface="Tahoma"/>
            </a:endParaRPr>
          </a:p>
        </p:txBody>
      </p:sp>
      <p:grpSp>
        <p:nvGrpSpPr>
          <p:cNvPr id="8" name="object 8"/>
          <p:cNvGrpSpPr/>
          <p:nvPr/>
        </p:nvGrpSpPr>
        <p:grpSpPr>
          <a:xfrm>
            <a:off x="5961529" y="1075765"/>
            <a:ext cx="4128247" cy="5311588"/>
            <a:chOff x="4876800" y="1219200"/>
            <a:chExt cx="4678680" cy="6019800"/>
          </a:xfrm>
        </p:grpSpPr>
        <p:pic>
          <p:nvPicPr>
            <p:cNvPr id="9" name="object 9"/>
            <p:cNvPicPr/>
            <p:nvPr/>
          </p:nvPicPr>
          <p:blipFill>
            <a:blip r:embed="rId3" cstate="print"/>
            <a:stretch>
              <a:fillRect/>
            </a:stretch>
          </p:blipFill>
          <p:spPr>
            <a:xfrm>
              <a:off x="4876800" y="1219200"/>
              <a:ext cx="4678161" cy="6019799"/>
            </a:xfrm>
            <a:prstGeom prst="rect">
              <a:avLst/>
            </a:prstGeom>
          </p:spPr>
        </p:pic>
        <p:sp>
          <p:nvSpPr>
            <p:cNvPr id="10" name="object 10"/>
            <p:cNvSpPr/>
            <p:nvPr/>
          </p:nvSpPr>
          <p:spPr>
            <a:xfrm>
              <a:off x="6388729" y="2286000"/>
              <a:ext cx="2755265" cy="2851150"/>
            </a:xfrm>
            <a:custGeom>
              <a:avLst/>
              <a:gdLst/>
              <a:ahLst/>
              <a:cxnLst/>
              <a:rect l="l" t="t" r="r" b="b"/>
              <a:pathLst>
                <a:path w="2755265" h="2851150">
                  <a:moveTo>
                    <a:pt x="2755270" y="761999"/>
                  </a:moveTo>
                  <a:lnTo>
                    <a:pt x="2755270" y="0"/>
                  </a:lnTo>
                  <a:lnTo>
                    <a:pt x="164470" y="0"/>
                  </a:lnTo>
                  <a:lnTo>
                    <a:pt x="164470" y="761999"/>
                  </a:lnTo>
                  <a:lnTo>
                    <a:pt x="596264" y="761999"/>
                  </a:lnTo>
                  <a:lnTo>
                    <a:pt x="0" y="2850885"/>
                  </a:lnTo>
                  <a:lnTo>
                    <a:pt x="1243964" y="761999"/>
                  </a:lnTo>
                  <a:lnTo>
                    <a:pt x="2755270" y="761999"/>
                  </a:lnTo>
                  <a:close/>
                </a:path>
              </a:pathLst>
            </a:custGeom>
            <a:solidFill>
              <a:srgbClr val="4F81BD"/>
            </a:solidFill>
          </p:spPr>
          <p:txBody>
            <a:bodyPr wrap="square" lIns="0" tIns="0" rIns="0" bIns="0" rtlCol="0"/>
            <a:lstStyle/>
            <a:p>
              <a:endParaRPr sz="1588"/>
            </a:p>
          </p:txBody>
        </p:sp>
        <p:sp>
          <p:nvSpPr>
            <p:cNvPr id="11" name="object 11"/>
            <p:cNvSpPr/>
            <p:nvPr/>
          </p:nvSpPr>
          <p:spPr>
            <a:xfrm>
              <a:off x="6388729" y="2286000"/>
              <a:ext cx="2755265" cy="2851150"/>
            </a:xfrm>
            <a:custGeom>
              <a:avLst/>
              <a:gdLst/>
              <a:ahLst/>
              <a:cxnLst/>
              <a:rect l="l" t="t" r="r" b="b"/>
              <a:pathLst>
                <a:path w="2755265" h="2851150">
                  <a:moveTo>
                    <a:pt x="164470" y="0"/>
                  </a:moveTo>
                  <a:lnTo>
                    <a:pt x="2755270" y="0"/>
                  </a:lnTo>
                  <a:lnTo>
                    <a:pt x="2755270" y="761999"/>
                  </a:lnTo>
                  <a:lnTo>
                    <a:pt x="1243964" y="761999"/>
                  </a:lnTo>
                  <a:lnTo>
                    <a:pt x="0" y="2850885"/>
                  </a:lnTo>
                  <a:lnTo>
                    <a:pt x="596264" y="761999"/>
                  </a:lnTo>
                  <a:lnTo>
                    <a:pt x="164470" y="761999"/>
                  </a:lnTo>
                  <a:lnTo>
                    <a:pt x="164470" y="444489"/>
                  </a:lnTo>
                  <a:lnTo>
                    <a:pt x="164470" y="0"/>
                  </a:lnTo>
                  <a:close/>
                </a:path>
              </a:pathLst>
            </a:custGeom>
            <a:ln w="25400">
              <a:solidFill>
                <a:srgbClr val="365D8A"/>
              </a:solidFill>
            </a:ln>
          </p:spPr>
          <p:txBody>
            <a:bodyPr wrap="square" lIns="0" tIns="0" rIns="0" bIns="0" rtlCol="0"/>
            <a:lstStyle/>
            <a:p>
              <a:endParaRPr sz="1588"/>
            </a:p>
          </p:txBody>
        </p:sp>
      </p:grpSp>
      <p:sp>
        <p:nvSpPr>
          <p:cNvPr id="12" name="object 12"/>
          <p:cNvSpPr txBox="1"/>
          <p:nvPr/>
        </p:nvSpPr>
        <p:spPr>
          <a:xfrm>
            <a:off x="7518696" y="2127099"/>
            <a:ext cx="2131359" cy="445356"/>
          </a:xfrm>
          <a:prstGeom prst="rect">
            <a:avLst/>
          </a:prstGeom>
        </p:spPr>
        <p:txBody>
          <a:bodyPr vert="horz" wrap="square" lIns="0" tIns="10646" rIns="0" bIns="0" rtlCol="0">
            <a:spAutoFit/>
          </a:bodyPr>
          <a:lstStyle/>
          <a:p>
            <a:pPr marL="33619">
              <a:spcBef>
                <a:spcPts val="84"/>
              </a:spcBef>
            </a:pPr>
            <a:r>
              <a:rPr sz="1412" spc="-9">
                <a:solidFill>
                  <a:srgbClr val="FFFFFF"/>
                </a:solidFill>
                <a:latin typeface="Tahoma"/>
                <a:cs typeface="Tahoma"/>
              </a:rPr>
              <a:t>Feasible Region</a:t>
            </a:r>
            <a:r>
              <a:rPr sz="1412" spc="-22">
                <a:solidFill>
                  <a:srgbClr val="FFFFFF"/>
                </a:solidFill>
                <a:latin typeface="Tahoma"/>
                <a:cs typeface="Tahoma"/>
              </a:rPr>
              <a:t> </a:t>
            </a:r>
            <a:r>
              <a:rPr sz="1412" spc="-4">
                <a:solidFill>
                  <a:srgbClr val="FFFFFF"/>
                </a:solidFill>
                <a:latin typeface="Tahoma"/>
                <a:cs typeface="Tahoma"/>
              </a:rPr>
              <a:t>of </a:t>
            </a:r>
            <a:r>
              <a:rPr sz="1412">
                <a:solidFill>
                  <a:srgbClr val="FFFFFF"/>
                </a:solidFill>
                <a:latin typeface="Tahoma"/>
                <a:cs typeface="Tahoma"/>
              </a:rPr>
              <a:t>P</a:t>
            </a:r>
            <a:r>
              <a:rPr sz="1390" baseline="-21164">
                <a:solidFill>
                  <a:srgbClr val="FFFFFF"/>
                </a:solidFill>
                <a:latin typeface="Tahoma"/>
                <a:cs typeface="Tahoma"/>
              </a:rPr>
              <a:t>3</a:t>
            </a:r>
            <a:r>
              <a:rPr sz="1390" spc="26" baseline="-21164">
                <a:solidFill>
                  <a:srgbClr val="FFFFFF"/>
                </a:solidFill>
                <a:latin typeface="Tahoma"/>
                <a:cs typeface="Tahoma"/>
              </a:rPr>
              <a:t> </a:t>
            </a:r>
            <a:r>
              <a:rPr sz="1412" spc="-9">
                <a:solidFill>
                  <a:srgbClr val="FFFFFF"/>
                </a:solidFill>
                <a:latin typeface="Tahoma"/>
                <a:cs typeface="Tahoma"/>
              </a:rPr>
              <a:t>after</a:t>
            </a:r>
            <a:endParaRPr sz="1412">
              <a:latin typeface="Tahoma"/>
              <a:cs typeface="Tahoma"/>
            </a:endParaRPr>
          </a:p>
          <a:p>
            <a:pPr marL="79006">
              <a:spcBef>
                <a:spcPts val="4"/>
              </a:spcBef>
            </a:pPr>
            <a:r>
              <a:rPr sz="1412" spc="-9">
                <a:solidFill>
                  <a:srgbClr val="FFFFFF"/>
                </a:solidFill>
                <a:latin typeface="Tahoma"/>
                <a:cs typeface="Tahoma"/>
              </a:rPr>
              <a:t>introduction</a:t>
            </a:r>
            <a:r>
              <a:rPr sz="1412" spc="22">
                <a:solidFill>
                  <a:srgbClr val="FFFFFF"/>
                </a:solidFill>
                <a:latin typeface="Tahoma"/>
                <a:cs typeface="Tahoma"/>
              </a:rPr>
              <a:t> </a:t>
            </a:r>
            <a:r>
              <a:rPr sz="1412" spc="-4">
                <a:solidFill>
                  <a:srgbClr val="FFFFFF"/>
                </a:solidFill>
                <a:latin typeface="Tahoma"/>
                <a:cs typeface="Tahoma"/>
              </a:rPr>
              <a:t>X1 ≤ 4</a:t>
            </a:r>
            <a:r>
              <a:rPr sz="1412">
                <a:solidFill>
                  <a:srgbClr val="FFFFFF"/>
                </a:solidFill>
                <a:latin typeface="Tahoma"/>
                <a:cs typeface="Tahoma"/>
              </a:rPr>
              <a:t> </a:t>
            </a:r>
            <a:r>
              <a:rPr sz="1412" spc="-9">
                <a:solidFill>
                  <a:srgbClr val="FFFFFF"/>
                </a:solidFill>
                <a:latin typeface="Tahoma"/>
                <a:cs typeface="Tahoma"/>
              </a:rPr>
              <a:t>to</a:t>
            </a:r>
            <a:r>
              <a:rPr sz="1412" spc="4">
                <a:solidFill>
                  <a:srgbClr val="FFFFFF"/>
                </a:solidFill>
                <a:latin typeface="Tahoma"/>
                <a:cs typeface="Tahoma"/>
              </a:rPr>
              <a:t> </a:t>
            </a:r>
            <a:r>
              <a:rPr sz="1412">
                <a:solidFill>
                  <a:srgbClr val="FFFFFF"/>
                </a:solidFill>
                <a:latin typeface="Tahoma"/>
                <a:cs typeface="Tahoma"/>
              </a:rPr>
              <a:t>P</a:t>
            </a:r>
            <a:r>
              <a:rPr sz="1390" baseline="-21164">
                <a:solidFill>
                  <a:srgbClr val="FFFFFF"/>
                </a:solidFill>
                <a:latin typeface="Tahoma"/>
                <a:cs typeface="Tahoma"/>
              </a:rPr>
              <a:t>1</a:t>
            </a:r>
            <a:endParaRPr sz="1390" baseline="-21164">
              <a:latin typeface="Tahoma"/>
              <a:cs typeface="Tahom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79379" y="234817"/>
            <a:ext cx="8771124" cy="504323"/>
          </a:xfrm>
          <a:prstGeom prst="rect">
            <a:avLst/>
          </a:prstGeom>
        </p:spPr>
        <p:txBody>
          <a:bodyPr vert="horz" wrap="square" lIns="0" tIns="11766" rIns="0" bIns="0" rtlCol="0" anchor="t">
            <a:spAutoFit/>
          </a:bodyPr>
          <a:lstStyle/>
          <a:p>
            <a:pPr marL="11206">
              <a:lnSpc>
                <a:spcPct val="100000"/>
              </a:lnSpc>
              <a:spcBef>
                <a:spcPts val="93"/>
              </a:spcBef>
            </a:pPr>
            <a:r>
              <a:t>BRANCH–AND–BOUND</a:t>
            </a:r>
            <a:r>
              <a:rPr spc="-79"/>
              <a:t> </a:t>
            </a:r>
            <a:r>
              <a:rPr spc="-4"/>
              <a:t>METHOD</a:t>
            </a:r>
            <a:r>
              <a:rPr spc="-26"/>
              <a:t> </a:t>
            </a:r>
            <a:r>
              <a:t>(Cont…)</a:t>
            </a:r>
          </a:p>
        </p:txBody>
      </p:sp>
      <p:grpSp>
        <p:nvGrpSpPr>
          <p:cNvPr id="4" name="object 4"/>
          <p:cNvGrpSpPr/>
          <p:nvPr/>
        </p:nvGrpSpPr>
        <p:grpSpPr>
          <a:xfrm>
            <a:off x="1872045" y="1958104"/>
            <a:ext cx="7993458" cy="4160188"/>
            <a:chOff x="685799" y="3668963"/>
            <a:chExt cx="8229742" cy="3646744"/>
          </a:xfrm>
        </p:grpSpPr>
        <p:pic>
          <p:nvPicPr>
            <p:cNvPr id="5" name="object 5"/>
            <p:cNvPicPr/>
            <p:nvPr/>
          </p:nvPicPr>
          <p:blipFill>
            <a:blip r:embed="rId2" cstate="print"/>
            <a:stretch>
              <a:fillRect/>
            </a:stretch>
          </p:blipFill>
          <p:spPr>
            <a:xfrm>
              <a:off x="1451141" y="3668963"/>
              <a:ext cx="7391399" cy="3428999"/>
            </a:xfrm>
            <a:prstGeom prst="rect">
              <a:avLst/>
            </a:prstGeom>
          </p:spPr>
        </p:pic>
        <p:sp>
          <p:nvSpPr>
            <p:cNvPr id="6" name="object 6"/>
            <p:cNvSpPr/>
            <p:nvPr/>
          </p:nvSpPr>
          <p:spPr>
            <a:xfrm>
              <a:off x="1249186" y="5531357"/>
              <a:ext cx="7666355" cy="1784350"/>
            </a:xfrm>
            <a:custGeom>
              <a:avLst/>
              <a:gdLst/>
              <a:ahLst/>
              <a:cxnLst/>
              <a:rect l="l" t="t" r="r" b="b"/>
              <a:pathLst>
                <a:path w="7666355" h="1784350">
                  <a:moveTo>
                    <a:pt x="1981175" y="0"/>
                  </a:moveTo>
                  <a:lnTo>
                    <a:pt x="2046575" y="480"/>
                  </a:lnTo>
                  <a:lnTo>
                    <a:pt x="2111445" y="1913"/>
                  </a:lnTo>
                  <a:lnTo>
                    <a:pt x="2175752" y="4282"/>
                  </a:lnTo>
                  <a:lnTo>
                    <a:pt x="2239463" y="7574"/>
                  </a:lnTo>
                  <a:lnTo>
                    <a:pt x="2302547" y="11772"/>
                  </a:lnTo>
                  <a:lnTo>
                    <a:pt x="2364970" y="16863"/>
                  </a:lnTo>
                  <a:lnTo>
                    <a:pt x="2426700" y="22832"/>
                  </a:lnTo>
                  <a:lnTo>
                    <a:pt x="2487704" y="29664"/>
                  </a:lnTo>
                  <a:lnTo>
                    <a:pt x="2547950" y="37343"/>
                  </a:lnTo>
                  <a:lnTo>
                    <a:pt x="2607405" y="45856"/>
                  </a:lnTo>
                  <a:lnTo>
                    <a:pt x="2666036" y="55187"/>
                  </a:lnTo>
                  <a:lnTo>
                    <a:pt x="2723811" y="65321"/>
                  </a:lnTo>
                  <a:lnTo>
                    <a:pt x="2780696" y="76244"/>
                  </a:lnTo>
                  <a:lnTo>
                    <a:pt x="2836661" y="87941"/>
                  </a:lnTo>
                  <a:lnTo>
                    <a:pt x="2891671" y="100397"/>
                  </a:lnTo>
                  <a:lnTo>
                    <a:pt x="2945694" y="113598"/>
                  </a:lnTo>
                  <a:lnTo>
                    <a:pt x="2998697" y="127527"/>
                  </a:lnTo>
                  <a:lnTo>
                    <a:pt x="3050649" y="142172"/>
                  </a:lnTo>
                  <a:lnTo>
                    <a:pt x="3101516" y="157516"/>
                  </a:lnTo>
                  <a:lnTo>
                    <a:pt x="3151266" y="173545"/>
                  </a:lnTo>
                  <a:lnTo>
                    <a:pt x="3199865" y="190244"/>
                  </a:lnTo>
                  <a:lnTo>
                    <a:pt x="3247282" y="207599"/>
                  </a:lnTo>
                  <a:lnTo>
                    <a:pt x="3293484" y="225594"/>
                  </a:lnTo>
                  <a:lnTo>
                    <a:pt x="3338438" y="244214"/>
                  </a:lnTo>
                  <a:lnTo>
                    <a:pt x="3382112" y="263446"/>
                  </a:lnTo>
                  <a:lnTo>
                    <a:pt x="3424473" y="283273"/>
                  </a:lnTo>
                  <a:lnTo>
                    <a:pt x="3465487" y="303682"/>
                  </a:lnTo>
                  <a:lnTo>
                    <a:pt x="3505124" y="324657"/>
                  </a:lnTo>
                  <a:lnTo>
                    <a:pt x="3543349" y="346184"/>
                  </a:lnTo>
                  <a:lnTo>
                    <a:pt x="3580131" y="368248"/>
                  </a:lnTo>
                  <a:lnTo>
                    <a:pt x="3615437" y="390833"/>
                  </a:lnTo>
                  <a:lnTo>
                    <a:pt x="3649234" y="413926"/>
                  </a:lnTo>
                  <a:lnTo>
                    <a:pt x="3681490" y="437511"/>
                  </a:lnTo>
                  <a:lnTo>
                    <a:pt x="3712171" y="461573"/>
                  </a:lnTo>
                  <a:lnTo>
                    <a:pt x="3768681" y="511071"/>
                  </a:lnTo>
                  <a:lnTo>
                    <a:pt x="3818503" y="562302"/>
                  </a:lnTo>
                  <a:lnTo>
                    <a:pt x="3861377" y="615145"/>
                  </a:lnTo>
                  <a:lnTo>
                    <a:pt x="3897040" y="669484"/>
                  </a:lnTo>
                  <a:lnTo>
                    <a:pt x="3925233" y="725199"/>
                  </a:lnTo>
                  <a:lnTo>
                    <a:pt x="3945693" y="782173"/>
                  </a:lnTo>
                  <a:lnTo>
                    <a:pt x="3958161" y="840285"/>
                  </a:lnTo>
                  <a:lnTo>
                    <a:pt x="3962375" y="899419"/>
                  </a:lnTo>
                  <a:lnTo>
                    <a:pt x="3961316" y="929107"/>
                  </a:lnTo>
                  <a:lnTo>
                    <a:pt x="3952943" y="987748"/>
                  </a:lnTo>
                  <a:lnTo>
                    <a:pt x="3936446" y="1045308"/>
                  </a:lnTo>
                  <a:lnTo>
                    <a:pt x="3912086" y="1101669"/>
                  </a:lnTo>
                  <a:lnTo>
                    <a:pt x="3880126" y="1156712"/>
                  </a:lnTo>
                  <a:lnTo>
                    <a:pt x="3840825" y="1210318"/>
                  </a:lnTo>
                  <a:lnTo>
                    <a:pt x="3794444" y="1262370"/>
                  </a:lnTo>
                  <a:lnTo>
                    <a:pt x="3741246" y="1312749"/>
                  </a:lnTo>
                  <a:lnTo>
                    <a:pt x="3681490" y="1361336"/>
                  </a:lnTo>
                  <a:lnTo>
                    <a:pt x="3649234" y="1384920"/>
                  </a:lnTo>
                  <a:lnTo>
                    <a:pt x="3615437" y="1408012"/>
                  </a:lnTo>
                  <a:lnTo>
                    <a:pt x="3580131" y="1430597"/>
                  </a:lnTo>
                  <a:lnTo>
                    <a:pt x="3543349" y="1452660"/>
                  </a:lnTo>
                  <a:lnTo>
                    <a:pt x="3505124" y="1474186"/>
                  </a:lnTo>
                  <a:lnTo>
                    <a:pt x="3465487" y="1495161"/>
                  </a:lnTo>
                  <a:lnTo>
                    <a:pt x="3424473" y="1515568"/>
                  </a:lnTo>
                  <a:lnTo>
                    <a:pt x="3382112" y="1535395"/>
                  </a:lnTo>
                  <a:lnTo>
                    <a:pt x="3338438" y="1554626"/>
                  </a:lnTo>
                  <a:lnTo>
                    <a:pt x="3293484" y="1573246"/>
                  </a:lnTo>
                  <a:lnTo>
                    <a:pt x="3247282" y="1591240"/>
                  </a:lnTo>
                  <a:lnTo>
                    <a:pt x="3199865" y="1608593"/>
                  </a:lnTo>
                  <a:lnTo>
                    <a:pt x="3151266" y="1625291"/>
                  </a:lnTo>
                  <a:lnTo>
                    <a:pt x="3101516" y="1641319"/>
                  </a:lnTo>
                  <a:lnTo>
                    <a:pt x="3050649" y="1656662"/>
                  </a:lnTo>
                  <a:lnTo>
                    <a:pt x="2998697" y="1671306"/>
                  </a:lnTo>
                  <a:lnTo>
                    <a:pt x="2945694" y="1685234"/>
                  </a:lnTo>
                  <a:lnTo>
                    <a:pt x="2891671" y="1698434"/>
                  </a:lnTo>
                  <a:lnTo>
                    <a:pt x="2836661" y="1710889"/>
                  </a:lnTo>
                  <a:lnTo>
                    <a:pt x="2780696" y="1722585"/>
                  </a:lnTo>
                  <a:lnTo>
                    <a:pt x="2723811" y="1733507"/>
                  </a:lnTo>
                  <a:lnTo>
                    <a:pt x="2666036" y="1743641"/>
                  </a:lnTo>
                  <a:lnTo>
                    <a:pt x="2607405" y="1752971"/>
                  </a:lnTo>
                  <a:lnTo>
                    <a:pt x="2547950" y="1761483"/>
                  </a:lnTo>
                  <a:lnTo>
                    <a:pt x="2487704" y="1769161"/>
                  </a:lnTo>
                  <a:lnTo>
                    <a:pt x="2426700" y="1775992"/>
                  </a:lnTo>
                  <a:lnTo>
                    <a:pt x="2364970" y="1781960"/>
                  </a:lnTo>
                  <a:lnTo>
                    <a:pt x="2341909" y="1783841"/>
                  </a:lnTo>
                </a:path>
                <a:path w="7666355" h="1784350">
                  <a:moveTo>
                    <a:pt x="1620442" y="1783841"/>
                  </a:moveTo>
                  <a:lnTo>
                    <a:pt x="1535651" y="1775992"/>
                  </a:lnTo>
                  <a:lnTo>
                    <a:pt x="1474647" y="1769161"/>
                  </a:lnTo>
                  <a:lnTo>
                    <a:pt x="1414402" y="1761483"/>
                  </a:lnTo>
                  <a:lnTo>
                    <a:pt x="1354948" y="1752971"/>
                  </a:lnTo>
                  <a:lnTo>
                    <a:pt x="1296317" y="1743641"/>
                  </a:lnTo>
                  <a:lnTo>
                    <a:pt x="1238543" y="1733507"/>
                  </a:lnTo>
                  <a:lnTo>
                    <a:pt x="1181658" y="1722585"/>
                  </a:lnTo>
                  <a:lnTo>
                    <a:pt x="1125694" y="1710889"/>
                  </a:lnTo>
                  <a:lnTo>
                    <a:pt x="1070685" y="1698434"/>
                  </a:lnTo>
                  <a:lnTo>
                    <a:pt x="1016662" y="1685234"/>
                  </a:lnTo>
                  <a:lnTo>
                    <a:pt x="963659" y="1671306"/>
                  </a:lnTo>
                  <a:lnTo>
                    <a:pt x="911708" y="1656662"/>
                  </a:lnTo>
                  <a:lnTo>
                    <a:pt x="860842" y="1641319"/>
                  </a:lnTo>
                  <a:lnTo>
                    <a:pt x="811093" y="1625291"/>
                  </a:lnTo>
                  <a:lnTo>
                    <a:pt x="762494" y="1608593"/>
                  </a:lnTo>
                  <a:lnTo>
                    <a:pt x="715078" y="1591240"/>
                  </a:lnTo>
                  <a:lnTo>
                    <a:pt x="668877" y="1573246"/>
                  </a:lnTo>
                  <a:lnTo>
                    <a:pt x="623923" y="1554626"/>
                  </a:lnTo>
                  <a:lnTo>
                    <a:pt x="580250" y="1535395"/>
                  </a:lnTo>
                  <a:lnTo>
                    <a:pt x="537890" y="1515568"/>
                  </a:lnTo>
                  <a:lnTo>
                    <a:pt x="496876" y="1495161"/>
                  </a:lnTo>
                  <a:lnTo>
                    <a:pt x="457241" y="1474186"/>
                  </a:lnTo>
                  <a:lnTo>
                    <a:pt x="419016" y="1452660"/>
                  </a:lnTo>
                  <a:lnTo>
                    <a:pt x="382234" y="1430597"/>
                  </a:lnTo>
                  <a:lnTo>
                    <a:pt x="346929" y="1408012"/>
                  </a:lnTo>
                  <a:lnTo>
                    <a:pt x="313133" y="1384920"/>
                  </a:lnTo>
                  <a:lnTo>
                    <a:pt x="280878" y="1361336"/>
                  </a:lnTo>
                  <a:lnTo>
                    <a:pt x="250198" y="1337274"/>
                  </a:lnTo>
                  <a:lnTo>
                    <a:pt x="193689" y="1287776"/>
                  </a:lnTo>
                  <a:lnTo>
                    <a:pt x="143868" y="1236546"/>
                  </a:lnTo>
                  <a:lnTo>
                    <a:pt x="100995" y="1183702"/>
                  </a:lnTo>
                  <a:lnTo>
                    <a:pt x="65333" y="1129362"/>
                  </a:lnTo>
                  <a:lnTo>
                    <a:pt x="37141" y="1073646"/>
                  </a:lnTo>
                  <a:lnTo>
                    <a:pt x="16681" y="1016670"/>
                  </a:lnTo>
                  <a:lnTo>
                    <a:pt x="4213" y="958555"/>
                  </a:lnTo>
                  <a:lnTo>
                    <a:pt x="0" y="899419"/>
                  </a:lnTo>
                  <a:lnTo>
                    <a:pt x="1037" y="870051"/>
                  </a:lnTo>
                  <a:lnTo>
                    <a:pt x="9249" y="812014"/>
                  </a:lnTo>
                  <a:lnTo>
                    <a:pt x="25434" y="755009"/>
                  </a:lnTo>
                  <a:lnTo>
                    <a:pt x="49345" y="699154"/>
                  </a:lnTo>
                  <a:lnTo>
                    <a:pt x="80732" y="644567"/>
                  </a:lnTo>
                  <a:lnTo>
                    <a:pt x="119345" y="591365"/>
                  </a:lnTo>
                  <a:lnTo>
                    <a:pt x="164935" y="539667"/>
                  </a:lnTo>
                  <a:lnTo>
                    <a:pt x="217253" y="489590"/>
                  </a:lnTo>
                  <a:lnTo>
                    <a:pt x="276051" y="441254"/>
                  </a:lnTo>
                  <a:lnTo>
                    <a:pt x="307801" y="417776"/>
                  </a:lnTo>
                  <a:lnTo>
                    <a:pt x="341078" y="394776"/>
                  </a:lnTo>
                  <a:lnTo>
                    <a:pt x="375849" y="372271"/>
                  </a:lnTo>
                  <a:lnTo>
                    <a:pt x="412085" y="350274"/>
                  </a:lnTo>
                  <a:lnTo>
                    <a:pt x="449753" y="328801"/>
                  </a:lnTo>
                  <a:lnTo>
                    <a:pt x="488824" y="307867"/>
                  </a:lnTo>
                  <a:lnTo>
                    <a:pt x="529264" y="287485"/>
                  </a:lnTo>
                  <a:lnTo>
                    <a:pt x="571044" y="267672"/>
                  </a:lnTo>
                  <a:lnTo>
                    <a:pt x="614132" y="248441"/>
                  </a:lnTo>
                  <a:lnTo>
                    <a:pt x="658497" y="229807"/>
                  </a:lnTo>
                  <a:lnTo>
                    <a:pt x="704108" y="211786"/>
                  </a:lnTo>
                  <a:lnTo>
                    <a:pt x="750934" y="194391"/>
                  </a:lnTo>
                  <a:lnTo>
                    <a:pt x="798943" y="177638"/>
                  </a:lnTo>
                  <a:lnTo>
                    <a:pt x="848105" y="161542"/>
                  </a:lnTo>
                  <a:lnTo>
                    <a:pt x="898388" y="146116"/>
                  </a:lnTo>
                  <a:lnTo>
                    <a:pt x="949761" y="131377"/>
                  </a:lnTo>
                  <a:lnTo>
                    <a:pt x="1002193" y="117338"/>
                  </a:lnTo>
                  <a:lnTo>
                    <a:pt x="1055653" y="104015"/>
                  </a:lnTo>
                  <a:lnTo>
                    <a:pt x="1110110" y="91422"/>
                  </a:lnTo>
                  <a:lnTo>
                    <a:pt x="1165532" y="79574"/>
                  </a:lnTo>
                  <a:lnTo>
                    <a:pt x="1221888" y="68486"/>
                  </a:lnTo>
                  <a:lnTo>
                    <a:pt x="1279148" y="58173"/>
                  </a:lnTo>
                  <a:lnTo>
                    <a:pt x="1337280" y="48648"/>
                  </a:lnTo>
                  <a:lnTo>
                    <a:pt x="1396252" y="39928"/>
                  </a:lnTo>
                  <a:lnTo>
                    <a:pt x="1456034" y="32027"/>
                  </a:lnTo>
                  <a:lnTo>
                    <a:pt x="1516595" y="24959"/>
                  </a:lnTo>
                  <a:lnTo>
                    <a:pt x="1577904" y="18739"/>
                  </a:lnTo>
                  <a:lnTo>
                    <a:pt x="1639928" y="13383"/>
                  </a:lnTo>
                  <a:lnTo>
                    <a:pt x="1702638" y="8904"/>
                  </a:lnTo>
                  <a:lnTo>
                    <a:pt x="1766001" y="5318"/>
                  </a:lnTo>
                  <a:lnTo>
                    <a:pt x="1829988" y="2640"/>
                  </a:lnTo>
                  <a:lnTo>
                    <a:pt x="1894566" y="883"/>
                  </a:lnTo>
                </a:path>
                <a:path w="7666355" h="1784350">
                  <a:moveTo>
                    <a:pt x="5723113" y="14980"/>
                  </a:moveTo>
                  <a:lnTo>
                    <a:pt x="5787252" y="15453"/>
                  </a:lnTo>
                  <a:lnTo>
                    <a:pt x="5850872" y="16862"/>
                  </a:lnTo>
                  <a:lnTo>
                    <a:pt x="5913940" y="19191"/>
                  </a:lnTo>
                  <a:lnTo>
                    <a:pt x="5976424" y="22428"/>
                  </a:lnTo>
                  <a:lnTo>
                    <a:pt x="6038293" y="26556"/>
                  </a:lnTo>
                  <a:lnTo>
                    <a:pt x="6099514" y="31562"/>
                  </a:lnTo>
                  <a:lnTo>
                    <a:pt x="6160055" y="37431"/>
                  </a:lnTo>
                  <a:lnTo>
                    <a:pt x="6219885" y="44149"/>
                  </a:lnTo>
                  <a:lnTo>
                    <a:pt x="6278971" y="51700"/>
                  </a:lnTo>
                  <a:lnTo>
                    <a:pt x="6337281" y="60070"/>
                  </a:lnTo>
                  <a:lnTo>
                    <a:pt x="6394784" y="69245"/>
                  </a:lnTo>
                  <a:lnTo>
                    <a:pt x="6451447" y="79210"/>
                  </a:lnTo>
                  <a:lnTo>
                    <a:pt x="6507238" y="89951"/>
                  </a:lnTo>
                  <a:lnTo>
                    <a:pt x="6562126" y="101453"/>
                  </a:lnTo>
                  <a:lnTo>
                    <a:pt x="6616077" y="113701"/>
                  </a:lnTo>
                  <a:lnTo>
                    <a:pt x="6669062" y="126681"/>
                  </a:lnTo>
                  <a:lnTo>
                    <a:pt x="6721046" y="140378"/>
                  </a:lnTo>
                  <a:lnTo>
                    <a:pt x="6771999" y="154777"/>
                  </a:lnTo>
                  <a:lnTo>
                    <a:pt x="6821888" y="169865"/>
                  </a:lnTo>
                  <a:lnTo>
                    <a:pt x="6870681" y="185627"/>
                  </a:lnTo>
                  <a:lnTo>
                    <a:pt x="6918346" y="202047"/>
                  </a:lnTo>
                  <a:lnTo>
                    <a:pt x="6964852" y="219112"/>
                  </a:lnTo>
                  <a:lnTo>
                    <a:pt x="7010166" y="236807"/>
                  </a:lnTo>
                  <a:lnTo>
                    <a:pt x="7054256" y="255117"/>
                  </a:lnTo>
                  <a:lnTo>
                    <a:pt x="7097091" y="274028"/>
                  </a:lnTo>
                  <a:lnTo>
                    <a:pt x="7138637" y="293525"/>
                  </a:lnTo>
                  <a:lnTo>
                    <a:pt x="7178864" y="313593"/>
                  </a:lnTo>
                  <a:lnTo>
                    <a:pt x="7217739" y="334219"/>
                  </a:lnTo>
                  <a:lnTo>
                    <a:pt x="7255231" y="355387"/>
                  </a:lnTo>
                  <a:lnTo>
                    <a:pt x="7291306" y="377083"/>
                  </a:lnTo>
                  <a:lnTo>
                    <a:pt x="7325934" y="399292"/>
                  </a:lnTo>
                  <a:lnTo>
                    <a:pt x="7359082" y="422000"/>
                  </a:lnTo>
                  <a:lnTo>
                    <a:pt x="7390718" y="445192"/>
                  </a:lnTo>
                  <a:lnTo>
                    <a:pt x="7420810" y="468854"/>
                  </a:lnTo>
                  <a:lnTo>
                    <a:pt x="7476236" y="517527"/>
                  </a:lnTo>
                  <a:lnTo>
                    <a:pt x="7525102" y="567905"/>
                  </a:lnTo>
                  <a:lnTo>
                    <a:pt x="7567152" y="619869"/>
                  </a:lnTo>
                  <a:lnTo>
                    <a:pt x="7602131" y="673304"/>
                  </a:lnTo>
                  <a:lnTo>
                    <a:pt x="7629783" y="728093"/>
                  </a:lnTo>
                  <a:lnTo>
                    <a:pt x="7649851" y="784120"/>
                  </a:lnTo>
                  <a:lnTo>
                    <a:pt x="7662080" y="841267"/>
                  </a:lnTo>
                  <a:lnTo>
                    <a:pt x="7666213" y="899419"/>
                  </a:lnTo>
                  <a:lnTo>
                    <a:pt x="7665174" y="928612"/>
                  </a:lnTo>
                  <a:lnTo>
                    <a:pt x="7656962" y="986274"/>
                  </a:lnTo>
                  <a:lnTo>
                    <a:pt x="7640781" y="1042874"/>
                  </a:lnTo>
                  <a:lnTo>
                    <a:pt x="7616889" y="1098295"/>
                  </a:lnTo>
                  <a:lnTo>
                    <a:pt x="7585542" y="1152420"/>
                  </a:lnTo>
                  <a:lnTo>
                    <a:pt x="7546995" y="1205133"/>
                  </a:lnTo>
                  <a:lnTo>
                    <a:pt x="7501505" y="1256318"/>
                  </a:lnTo>
                  <a:lnTo>
                    <a:pt x="7449327" y="1305857"/>
                  </a:lnTo>
                  <a:lnTo>
                    <a:pt x="7390718" y="1353634"/>
                  </a:lnTo>
                  <a:lnTo>
                    <a:pt x="7359082" y="1376826"/>
                  </a:lnTo>
                  <a:lnTo>
                    <a:pt x="7325934" y="1399534"/>
                  </a:lnTo>
                  <a:lnTo>
                    <a:pt x="7291306" y="1421742"/>
                  </a:lnTo>
                  <a:lnTo>
                    <a:pt x="7255231" y="1443438"/>
                  </a:lnTo>
                  <a:lnTo>
                    <a:pt x="7217739" y="1464606"/>
                  </a:lnTo>
                  <a:lnTo>
                    <a:pt x="7178864" y="1485231"/>
                  </a:lnTo>
                  <a:lnTo>
                    <a:pt x="7138637" y="1505299"/>
                  </a:lnTo>
                  <a:lnTo>
                    <a:pt x="7097091" y="1524796"/>
                  </a:lnTo>
                  <a:lnTo>
                    <a:pt x="7054256" y="1543706"/>
                  </a:lnTo>
                  <a:lnTo>
                    <a:pt x="7010166" y="1562016"/>
                  </a:lnTo>
                  <a:lnTo>
                    <a:pt x="6964852" y="1579711"/>
                  </a:lnTo>
                  <a:lnTo>
                    <a:pt x="6918346" y="1596776"/>
                  </a:lnTo>
                  <a:lnTo>
                    <a:pt x="6870681" y="1613196"/>
                  </a:lnTo>
                  <a:lnTo>
                    <a:pt x="6821888" y="1628957"/>
                  </a:lnTo>
                  <a:lnTo>
                    <a:pt x="6771999" y="1644045"/>
                  </a:lnTo>
                  <a:lnTo>
                    <a:pt x="6721046" y="1658445"/>
                  </a:lnTo>
                  <a:lnTo>
                    <a:pt x="6669062" y="1672142"/>
                  </a:lnTo>
                  <a:lnTo>
                    <a:pt x="6616077" y="1685122"/>
                  </a:lnTo>
                  <a:lnTo>
                    <a:pt x="6562126" y="1697370"/>
                  </a:lnTo>
                  <a:lnTo>
                    <a:pt x="6507238" y="1708871"/>
                  </a:lnTo>
                  <a:lnTo>
                    <a:pt x="6451447" y="1719612"/>
                  </a:lnTo>
                  <a:lnTo>
                    <a:pt x="6394784" y="1729577"/>
                  </a:lnTo>
                  <a:lnTo>
                    <a:pt x="6337281" y="1738752"/>
                  </a:lnTo>
                  <a:lnTo>
                    <a:pt x="6278971" y="1747122"/>
                  </a:lnTo>
                  <a:lnTo>
                    <a:pt x="6219885" y="1754673"/>
                  </a:lnTo>
                  <a:lnTo>
                    <a:pt x="6160055" y="1761391"/>
                  </a:lnTo>
                  <a:lnTo>
                    <a:pt x="6099514" y="1767260"/>
                  </a:lnTo>
                  <a:lnTo>
                    <a:pt x="6038293" y="1772266"/>
                  </a:lnTo>
                  <a:lnTo>
                    <a:pt x="5976424" y="1776394"/>
                  </a:lnTo>
                  <a:lnTo>
                    <a:pt x="5913940" y="1779630"/>
                  </a:lnTo>
                  <a:lnTo>
                    <a:pt x="5850872" y="1781960"/>
                  </a:lnTo>
                  <a:lnTo>
                    <a:pt x="5787252" y="1783369"/>
                  </a:lnTo>
                  <a:lnTo>
                    <a:pt x="5723113" y="1783841"/>
                  </a:lnTo>
                  <a:lnTo>
                    <a:pt x="5658973" y="1783369"/>
                  </a:lnTo>
                  <a:lnTo>
                    <a:pt x="5595353" y="1781960"/>
                  </a:lnTo>
                  <a:lnTo>
                    <a:pt x="5532284" y="1779630"/>
                  </a:lnTo>
                  <a:lnTo>
                    <a:pt x="5469799" y="1776394"/>
                  </a:lnTo>
                  <a:lnTo>
                    <a:pt x="5407930" y="1772266"/>
                  </a:lnTo>
                  <a:lnTo>
                    <a:pt x="5346708" y="1767260"/>
                  </a:lnTo>
                  <a:lnTo>
                    <a:pt x="5286166" y="1761391"/>
                  </a:lnTo>
                  <a:lnTo>
                    <a:pt x="5226336" y="1754673"/>
                  </a:lnTo>
                  <a:lnTo>
                    <a:pt x="5167250" y="1747122"/>
                  </a:lnTo>
                  <a:lnTo>
                    <a:pt x="5108939" y="1738752"/>
                  </a:lnTo>
                  <a:lnTo>
                    <a:pt x="5051436" y="1729577"/>
                  </a:lnTo>
                  <a:lnTo>
                    <a:pt x="4994773" y="1719612"/>
                  </a:lnTo>
                  <a:lnTo>
                    <a:pt x="4938982" y="1708871"/>
                  </a:lnTo>
                  <a:lnTo>
                    <a:pt x="4884094" y="1697370"/>
                  </a:lnTo>
                  <a:lnTo>
                    <a:pt x="4830142" y="1685122"/>
                  </a:lnTo>
                  <a:lnTo>
                    <a:pt x="4777158" y="1672142"/>
                  </a:lnTo>
                  <a:lnTo>
                    <a:pt x="4725174" y="1658445"/>
                  </a:lnTo>
                  <a:lnTo>
                    <a:pt x="4674221" y="1644045"/>
                  </a:lnTo>
                  <a:lnTo>
                    <a:pt x="4624332" y="1628957"/>
                  </a:lnTo>
                  <a:lnTo>
                    <a:pt x="4575539" y="1613196"/>
                  </a:lnTo>
                  <a:lnTo>
                    <a:pt x="4527874" y="1596776"/>
                  </a:lnTo>
                  <a:lnTo>
                    <a:pt x="4481368" y="1579711"/>
                  </a:lnTo>
                  <a:lnTo>
                    <a:pt x="4436054" y="1562016"/>
                  </a:lnTo>
                  <a:lnTo>
                    <a:pt x="4391964" y="1543706"/>
                  </a:lnTo>
                  <a:lnTo>
                    <a:pt x="4349130" y="1524796"/>
                  </a:lnTo>
                  <a:lnTo>
                    <a:pt x="4307584" y="1505299"/>
                  </a:lnTo>
                  <a:lnTo>
                    <a:pt x="4267357" y="1485231"/>
                  </a:lnTo>
                  <a:lnTo>
                    <a:pt x="4228482" y="1464606"/>
                  </a:lnTo>
                  <a:lnTo>
                    <a:pt x="4190991" y="1443438"/>
                  </a:lnTo>
                  <a:lnTo>
                    <a:pt x="4154916" y="1421742"/>
                  </a:lnTo>
                  <a:lnTo>
                    <a:pt x="4120288" y="1399534"/>
                  </a:lnTo>
                  <a:lnTo>
                    <a:pt x="4087141" y="1376826"/>
                  </a:lnTo>
                  <a:lnTo>
                    <a:pt x="4055505" y="1353634"/>
                  </a:lnTo>
                  <a:lnTo>
                    <a:pt x="4025413" y="1329973"/>
                  </a:lnTo>
                  <a:lnTo>
                    <a:pt x="3969988" y="1281300"/>
                  </a:lnTo>
                  <a:lnTo>
                    <a:pt x="3921123" y="1230924"/>
                  </a:lnTo>
                  <a:lnTo>
                    <a:pt x="3879073" y="1178960"/>
                  </a:lnTo>
                  <a:lnTo>
                    <a:pt x="3844094" y="1125526"/>
                  </a:lnTo>
                  <a:lnTo>
                    <a:pt x="3816443" y="1070739"/>
                  </a:lnTo>
                  <a:lnTo>
                    <a:pt x="3796375" y="1014714"/>
                  </a:lnTo>
                  <a:lnTo>
                    <a:pt x="3784146" y="957568"/>
                  </a:lnTo>
                  <a:lnTo>
                    <a:pt x="3780013" y="899419"/>
                  </a:lnTo>
                  <a:lnTo>
                    <a:pt x="3781074" y="869947"/>
                  </a:lnTo>
                  <a:lnTo>
                    <a:pt x="3789463" y="811719"/>
                  </a:lnTo>
                  <a:lnTo>
                    <a:pt x="3805993" y="754551"/>
                  </a:lnTo>
                  <a:lnTo>
                    <a:pt x="3830403" y="698565"/>
                  </a:lnTo>
                  <a:lnTo>
                    <a:pt x="3862434" y="643886"/>
                  </a:lnTo>
                  <a:lnTo>
                    <a:pt x="3901826" y="590636"/>
                  </a:lnTo>
                  <a:lnTo>
                    <a:pt x="3948319" y="538940"/>
                  </a:lnTo>
                  <a:lnTo>
                    <a:pt x="4001653" y="488920"/>
                  </a:lnTo>
                  <a:lnTo>
                    <a:pt x="4061568" y="440702"/>
                  </a:lnTo>
                  <a:lnTo>
                    <a:pt x="4093912" y="417307"/>
                  </a:lnTo>
                  <a:lnTo>
                    <a:pt x="4127804" y="394409"/>
                  </a:lnTo>
                  <a:lnTo>
                    <a:pt x="4163212" y="372022"/>
                  </a:lnTo>
                  <a:lnTo>
                    <a:pt x="4200103" y="350163"/>
                  </a:lnTo>
                  <a:lnTo>
                    <a:pt x="4238444" y="328847"/>
                  </a:lnTo>
                  <a:lnTo>
                    <a:pt x="4278203" y="308090"/>
                  </a:lnTo>
                  <a:lnTo>
                    <a:pt x="4319347" y="287906"/>
                  </a:lnTo>
                  <a:lnTo>
                    <a:pt x="4361845" y="268312"/>
                  </a:lnTo>
                  <a:lnTo>
                    <a:pt x="4405663" y="249322"/>
                  </a:lnTo>
                  <a:lnTo>
                    <a:pt x="4450769" y="230953"/>
                  </a:lnTo>
                  <a:lnTo>
                    <a:pt x="4497131" y="213220"/>
                  </a:lnTo>
                  <a:lnTo>
                    <a:pt x="4544715" y="196137"/>
                  </a:lnTo>
                  <a:lnTo>
                    <a:pt x="4593491" y="179722"/>
                  </a:lnTo>
                  <a:lnTo>
                    <a:pt x="4643424" y="163988"/>
                  </a:lnTo>
                  <a:lnTo>
                    <a:pt x="4694483" y="148952"/>
                  </a:lnTo>
                  <a:lnTo>
                    <a:pt x="4746635" y="134630"/>
                  </a:lnTo>
                  <a:lnTo>
                    <a:pt x="4799848" y="121035"/>
                  </a:lnTo>
                  <a:lnTo>
                    <a:pt x="4854090" y="108185"/>
                  </a:lnTo>
                  <a:lnTo>
                    <a:pt x="4909326" y="96094"/>
                  </a:lnTo>
                  <a:lnTo>
                    <a:pt x="4965527" y="84778"/>
                  </a:lnTo>
                  <a:lnTo>
                    <a:pt x="5022657" y="74252"/>
                  </a:lnTo>
                  <a:lnTo>
                    <a:pt x="5080687" y="64532"/>
                  </a:lnTo>
                  <a:lnTo>
                    <a:pt x="5139582" y="55633"/>
                  </a:lnTo>
                  <a:lnTo>
                    <a:pt x="5199310" y="47571"/>
                  </a:lnTo>
                  <a:lnTo>
                    <a:pt x="5259839" y="40362"/>
                  </a:lnTo>
                  <a:lnTo>
                    <a:pt x="5321137" y="34019"/>
                  </a:lnTo>
                  <a:lnTo>
                    <a:pt x="5383170" y="28560"/>
                  </a:lnTo>
                  <a:lnTo>
                    <a:pt x="5445907" y="24000"/>
                  </a:lnTo>
                  <a:lnTo>
                    <a:pt x="5509315" y="20353"/>
                  </a:lnTo>
                  <a:lnTo>
                    <a:pt x="5573361" y="17636"/>
                  </a:lnTo>
                  <a:lnTo>
                    <a:pt x="5638013" y="15864"/>
                  </a:lnTo>
                </a:path>
              </a:pathLst>
            </a:custGeom>
            <a:ln w="57149">
              <a:solidFill>
                <a:srgbClr val="ED2124"/>
              </a:solidFill>
            </a:ln>
          </p:spPr>
          <p:txBody>
            <a:bodyPr wrap="square" lIns="0" tIns="0" rIns="0" bIns="0" rtlCol="0"/>
            <a:lstStyle/>
            <a:p>
              <a:endParaRPr sz="1588"/>
            </a:p>
          </p:txBody>
        </p:sp>
        <p:sp>
          <p:nvSpPr>
            <p:cNvPr id="8" name="object 8"/>
            <p:cNvSpPr/>
            <p:nvPr/>
          </p:nvSpPr>
          <p:spPr>
            <a:xfrm>
              <a:off x="685799" y="3810000"/>
              <a:ext cx="4648200" cy="1746885"/>
            </a:xfrm>
            <a:custGeom>
              <a:avLst/>
              <a:gdLst/>
              <a:ahLst/>
              <a:cxnLst/>
              <a:rect l="l" t="t" r="r" b="b"/>
              <a:pathLst>
                <a:path w="4648200" h="1746885">
                  <a:moveTo>
                    <a:pt x="0" y="203194"/>
                  </a:moveTo>
                  <a:lnTo>
                    <a:pt x="5366" y="156587"/>
                  </a:lnTo>
                  <a:lnTo>
                    <a:pt x="20654" y="113812"/>
                  </a:lnTo>
                  <a:lnTo>
                    <a:pt x="44642" y="76085"/>
                  </a:lnTo>
                  <a:lnTo>
                    <a:pt x="76110" y="44623"/>
                  </a:lnTo>
                  <a:lnTo>
                    <a:pt x="113839" y="20643"/>
                  </a:lnTo>
                  <a:lnTo>
                    <a:pt x="156608" y="5363"/>
                  </a:lnTo>
                  <a:lnTo>
                    <a:pt x="203197" y="0"/>
                  </a:lnTo>
                  <a:lnTo>
                    <a:pt x="4444989" y="0"/>
                  </a:lnTo>
                  <a:lnTo>
                    <a:pt x="4491597" y="5363"/>
                  </a:lnTo>
                  <a:lnTo>
                    <a:pt x="4534375" y="20643"/>
                  </a:lnTo>
                  <a:lnTo>
                    <a:pt x="4572105" y="44623"/>
                  </a:lnTo>
                  <a:lnTo>
                    <a:pt x="4603570" y="76085"/>
                  </a:lnTo>
                  <a:lnTo>
                    <a:pt x="4627552" y="113812"/>
                  </a:lnTo>
                  <a:lnTo>
                    <a:pt x="4642835" y="156587"/>
                  </a:lnTo>
                  <a:lnTo>
                    <a:pt x="4648199" y="203194"/>
                  </a:lnTo>
                  <a:lnTo>
                    <a:pt x="4648199" y="1015989"/>
                  </a:lnTo>
                  <a:lnTo>
                    <a:pt x="4642835" y="1062597"/>
                  </a:lnTo>
                  <a:lnTo>
                    <a:pt x="4627552" y="1105375"/>
                  </a:lnTo>
                  <a:lnTo>
                    <a:pt x="4603570" y="1143105"/>
                  </a:lnTo>
                  <a:lnTo>
                    <a:pt x="4572105" y="1174570"/>
                  </a:lnTo>
                  <a:lnTo>
                    <a:pt x="4534375" y="1198553"/>
                  </a:lnTo>
                  <a:lnTo>
                    <a:pt x="4491597" y="1213835"/>
                  </a:lnTo>
                  <a:lnTo>
                    <a:pt x="4444989" y="1219199"/>
                  </a:lnTo>
                  <a:lnTo>
                    <a:pt x="3873489" y="1219199"/>
                  </a:lnTo>
                  <a:lnTo>
                    <a:pt x="2884672" y="1746366"/>
                  </a:lnTo>
                  <a:lnTo>
                    <a:pt x="2711439" y="1219199"/>
                  </a:lnTo>
                  <a:lnTo>
                    <a:pt x="203197" y="1219199"/>
                  </a:lnTo>
                  <a:lnTo>
                    <a:pt x="156608" y="1213835"/>
                  </a:lnTo>
                  <a:lnTo>
                    <a:pt x="113839" y="1198553"/>
                  </a:lnTo>
                  <a:lnTo>
                    <a:pt x="76110" y="1174570"/>
                  </a:lnTo>
                  <a:lnTo>
                    <a:pt x="44642" y="1143105"/>
                  </a:lnTo>
                  <a:lnTo>
                    <a:pt x="20654" y="1105375"/>
                  </a:lnTo>
                  <a:lnTo>
                    <a:pt x="5366" y="1062597"/>
                  </a:lnTo>
                  <a:lnTo>
                    <a:pt x="0" y="1015989"/>
                  </a:lnTo>
                  <a:lnTo>
                    <a:pt x="0" y="711189"/>
                  </a:lnTo>
                  <a:lnTo>
                    <a:pt x="0" y="203194"/>
                  </a:lnTo>
                  <a:close/>
                </a:path>
              </a:pathLst>
            </a:custGeom>
            <a:ln w="25400">
              <a:solidFill>
                <a:srgbClr val="365D8A"/>
              </a:solidFill>
            </a:ln>
          </p:spPr>
          <p:txBody>
            <a:bodyPr wrap="square" lIns="0" tIns="0" rIns="0" bIns="0" rtlCol="0"/>
            <a:lstStyle/>
            <a:p>
              <a:endParaRPr sz="1588"/>
            </a:p>
          </p:txBody>
        </p:sp>
      </p:grpSp>
      <p:sp>
        <p:nvSpPr>
          <p:cNvPr id="9" name="object 9"/>
          <p:cNvSpPr txBox="1"/>
          <p:nvPr/>
        </p:nvSpPr>
        <p:spPr>
          <a:xfrm>
            <a:off x="2377152" y="895921"/>
            <a:ext cx="6982385" cy="985941"/>
          </a:xfrm>
          <a:prstGeom prst="rect">
            <a:avLst/>
          </a:prstGeom>
        </p:spPr>
        <p:txBody>
          <a:bodyPr vert="horz" wrap="square" lIns="0" tIns="11206" rIns="0" bIns="0" rtlCol="0" anchor="t">
            <a:spAutoFit/>
          </a:bodyPr>
          <a:lstStyle/>
          <a:p>
            <a:pPr marL="372745">
              <a:spcBef>
                <a:spcPts val="88"/>
              </a:spcBef>
            </a:pPr>
            <a:r>
              <a:rPr lang="en-US" sz="1550" spc="-4" dirty="0">
                <a:solidFill>
                  <a:srgbClr val="000000"/>
                </a:solidFill>
                <a:latin typeface="Tahoma"/>
                <a:cs typeface="Tahoma"/>
              </a:rPr>
              <a:t>Problem</a:t>
            </a:r>
            <a:r>
              <a:rPr lang="en-US" sz="1550" dirty="0">
                <a:latin typeface="Tahoma"/>
                <a:cs typeface="Tahoma"/>
              </a:rPr>
              <a:t> </a:t>
            </a:r>
            <a:r>
              <a:rPr lang="en-US" sz="1550" spc="-9" dirty="0">
                <a:latin typeface="Tahoma"/>
                <a:cs typeface="Tahoma"/>
              </a:rPr>
              <a:t>P</a:t>
            </a:r>
            <a:r>
              <a:rPr lang="en-US" sz="1550" spc="-13" baseline="-20833" dirty="0">
                <a:latin typeface="Tahoma"/>
                <a:cs typeface="Tahoma"/>
              </a:rPr>
              <a:t>2</a:t>
            </a:r>
            <a:r>
              <a:rPr lang="en-US" sz="1550" spc="-6" baseline="-20833" dirty="0">
                <a:latin typeface="Tahoma"/>
                <a:cs typeface="Tahoma"/>
              </a:rPr>
              <a:t> </a:t>
            </a:r>
            <a:r>
              <a:rPr lang="en-US" sz="1550" dirty="0">
                <a:latin typeface="Tahoma"/>
                <a:cs typeface="Tahoma"/>
              </a:rPr>
              <a:t>has</a:t>
            </a:r>
            <a:r>
              <a:rPr lang="en-US" sz="1550" spc="4" dirty="0">
                <a:latin typeface="Tahoma"/>
                <a:cs typeface="Tahoma"/>
              </a:rPr>
              <a:t> </a:t>
            </a:r>
            <a:r>
              <a:rPr lang="en-US" sz="1550" spc="-4" dirty="0">
                <a:latin typeface="Tahoma"/>
                <a:cs typeface="Tahoma"/>
              </a:rPr>
              <a:t>the</a:t>
            </a:r>
            <a:r>
              <a:rPr lang="en-US" sz="1550" dirty="0">
                <a:latin typeface="Tahoma"/>
                <a:cs typeface="Tahoma"/>
              </a:rPr>
              <a:t> </a:t>
            </a:r>
            <a:r>
              <a:rPr lang="en-US" sz="1550" spc="-4" dirty="0">
                <a:latin typeface="Tahoma"/>
                <a:cs typeface="Tahoma"/>
              </a:rPr>
              <a:t>highest</a:t>
            </a:r>
            <a:r>
              <a:rPr lang="en-US" sz="1550" dirty="0">
                <a:latin typeface="Tahoma"/>
                <a:cs typeface="Tahoma"/>
              </a:rPr>
              <a:t> </a:t>
            </a:r>
            <a:r>
              <a:rPr lang="en-US" sz="1550" spc="-4" dirty="0">
                <a:latin typeface="Tahoma"/>
                <a:cs typeface="Tahoma"/>
              </a:rPr>
              <a:t>lower</a:t>
            </a:r>
            <a:r>
              <a:rPr lang="en-US" sz="1550" dirty="0">
                <a:latin typeface="Tahoma"/>
                <a:cs typeface="Tahoma"/>
              </a:rPr>
              <a:t> </a:t>
            </a:r>
            <a:r>
              <a:rPr lang="en-US" sz="1550" spc="-4" dirty="0">
                <a:latin typeface="Tahoma"/>
                <a:cs typeface="Tahoma"/>
              </a:rPr>
              <a:t>bound (Z</a:t>
            </a:r>
            <a:r>
              <a:rPr lang="en-US" sz="1550" spc="-6" baseline="-20833" dirty="0">
                <a:latin typeface="Tahoma"/>
                <a:cs typeface="Tahoma"/>
              </a:rPr>
              <a:t>L </a:t>
            </a:r>
            <a:r>
              <a:rPr lang="en-US" sz="1550" dirty="0">
                <a:latin typeface="Tahoma"/>
                <a:cs typeface="Tahoma"/>
              </a:rPr>
              <a:t>) </a:t>
            </a:r>
            <a:r>
              <a:rPr lang="en-US" sz="1550" spc="-4" dirty="0">
                <a:latin typeface="Tahoma"/>
                <a:cs typeface="Tahoma"/>
              </a:rPr>
              <a:t>of </a:t>
            </a:r>
            <a:r>
              <a:rPr lang="en-US" sz="1550" dirty="0">
                <a:latin typeface="Tahoma"/>
                <a:cs typeface="Tahoma"/>
              </a:rPr>
              <a:t>90 among </a:t>
            </a:r>
            <a:r>
              <a:rPr lang="en-US" sz="1550" spc="-9" dirty="0">
                <a:latin typeface="Tahoma"/>
                <a:cs typeface="Tahoma"/>
              </a:rPr>
              <a:t>the </a:t>
            </a:r>
            <a:r>
              <a:rPr lang="en-US" sz="1550" spc="-4" dirty="0">
                <a:latin typeface="Tahoma"/>
                <a:cs typeface="Tahoma"/>
              </a:rPr>
              <a:t>unfathomed terminal nodes. </a:t>
            </a:r>
            <a:r>
              <a:rPr lang="en-US" sz="1550" spc="-9" dirty="0">
                <a:latin typeface="Tahoma"/>
                <a:cs typeface="Tahoma"/>
              </a:rPr>
              <a:t>So, </a:t>
            </a:r>
            <a:r>
              <a:rPr lang="en-US" sz="1550" spc="-4" dirty="0">
                <a:latin typeface="Tahoma"/>
                <a:cs typeface="Tahoma"/>
              </a:rPr>
              <a:t>the</a:t>
            </a:r>
            <a:r>
              <a:rPr lang="en-US" sz="1550" dirty="0">
                <a:latin typeface="Tahoma"/>
                <a:cs typeface="Tahoma"/>
              </a:rPr>
              <a:t> </a:t>
            </a:r>
            <a:r>
              <a:rPr lang="en-US" sz="1550" spc="-9" dirty="0">
                <a:latin typeface="Tahoma"/>
                <a:cs typeface="Tahoma"/>
              </a:rPr>
              <a:t>further</a:t>
            </a:r>
            <a:r>
              <a:rPr lang="en-US" sz="1550" spc="476" dirty="0">
                <a:latin typeface="Tahoma"/>
                <a:cs typeface="Tahoma"/>
              </a:rPr>
              <a:t> </a:t>
            </a:r>
            <a:r>
              <a:rPr lang="en-US" sz="1550" spc="-4" dirty="0">
                <a:latin typeface="Tahoma"/>
                <a:cs typeface="Tahoma"/>
              </a:rPr>
              <a:t>branching is</a:t>
            </a:r>
            <a:r>
              <a:rPr lang="en-US" sz="1550" spc="-9" dirty="0">
                <a:latin typeface="Tahoma"/>
                <a:cs typeface="Tahoma"/>
              </a:rPr>
              <a:t> </a:t>
            </a:r>
            <a:r>
              <a:rPr lang="en-US" sz="1550" dirty="0">
                <a:latin typeface="Tahoma"/>
                <a:cs typeface="Tahoma"/>
              </a:rPr>
              <a:t>done</a:t>
            </a:r>
            <a:r>
              <a:rPr lang="en-US" sz="1550" spc="-4" dirty="0">
                <a:latin typeface="Tahoma"/>
                <a:cs typeface="Tahoma"/>
              </a:rPr>
              <a:t> </a:t>
            </a:r>
            <a:r>
              <a:rPr lang="en-US" sz="1550" spc="-9" dirty="0">
                <a:latin typeface="Tahoma"/>
                <a:cs typeface="Tahoma"/>
              </a:rPr>
              <a:t>from</a:t>
            </a:r>
            <a:r>
              <a:rPr lang="en-US" sz="1550" spc="4" dirty="0">
                <a:latin typeface="Tahoma"/>
                <a:cs typeface="Tahoma"/>
              </a:rPr>
              <a:t> P2</a:t>
            </a:r>
            <a:r>
              <a:rPr lang="en-US" sz="1550" spc="-4" dirty="0">
                <a:latin typeface="Tahoma"/>
                <a:cs typeface="Tahoma"/>
              </a:rPr>
              <a:t> </a:t>
            </a:r>
            <a:r>
              <a:rPr lang="en-US" sz="1550" dirty="0">
                <a:latin typeface="Tahoma"/>
                <a:cs typeface="Tahoma"/>
              </a:rPr>
              <a:t>node.</a:t>
            </a:r>
          </a:p>
          <a:p>
            <a:pPr marL="372745">
              <a:spcBef>
                <a:spcPts val="88"/>
              </a:spcBef>
            </a:pPr>
            <a:r>
              <a:rPr lang="en-US" sz="1550" dirty="0">
                <a:latin typeface="Tahoma"/>
                <a:ea typeface="Tahoma"/>
                <a:cs typeface="Tahoma"/>
              </a:rPr>
              <a:t>Z</a:t>
            </a:r>
            <a:r>
              <a:rPr lang="en-US" sz="2400" baseline="-25000" dirty="0">
                <a:latin typeface="Tahoma"/>
                <a:ea typeface="Tahoma"/>
                <a:cs typeface="Tahoma"/>
              </a:rPr>
              <a:t>U</a:t>
            </a:r>
            <a:r>
              <a:rPr lang="en-US" sz="1550" dirty="0">
                <a:latin typeface="Tahoma"/>
                <a:ea typeface="Tahoma"/>
                <a:cs typeface="Tahoma"/>
              </a:rPr>
              <a:t> = 95   Z</a:t>
            </a:r>
            <a:r>
              <a:rPr lang="en-US" sz="2400" baseline="-25000" dirty="0">
                <a:latin typeface="Tahoma"/>
                <a:ea typeface="Tahoma"/>
                <a:cs typeface="Tahoma"/>
              </a:rPr>
              <a:t>B</a:t>
            </a:r>
            <a:r>
              <a:rPr lang="en-US" sz="1550" dirty="0">
                <a:latin typeface="Tahoma"/>
                <a:ea typeface="Tahoma"/>
                <a:cs typeface="Tahoma"/>
              </a:rPr>
              <a:t>=90</a:t>
            </a:r>
          </a:p>
        </p:txBody>
      </p:sp>
    </p:spTree>
    <p:extLst>
      <p:ext uri="{BB962C8B-B14F-4D97-AF65-F5344CB8AC3E}">
        <p14:creationId xmlns:p14="http://schemas.microsoft.com/office/powerpoint/2010/main" val="5939929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9374" y="218486"/>
            <a:ext cx="9410395" cy="504323"/>
          </a:xfrm>
          <a:prstGeom prst="rect">
            <a:avLst/>
          </a:prstGeom>
        </p:spPr>
        <p:txBody>
          <a:bodyPr vert="horz" wrap="square" lIns="0" tIns="11766" rIns="0" bIns="0" rtlCol="0" anchor="t">
            <a:spAutoFit/>
          </a:bodyPr>
          <a:lstStyle/>
          <a:p>
            <a:pPr marL="11206">
              <a:lnSpc>
                <a:spcPct val="100000"/>
              </a:lnSpc>
              <a:spcBef>
                <a:spcPts val="93"/>
              </a:spcBef>
            </a:pPr>
            <a:r>
              <a:t>BRANCH–AND–BOUND</a:t>
            </a:r>
            <a:r>
              <a:rPr spc="-79"/>
              <a:t> </a:t>
            </a:r>
            <a:r>
              <a:rPr spc="-4"/>
              <a:t>METHOD</a:t>
            </a:r>
            <a:r>
              <a:rPr spc="-26"/>
              <a:t> </a:t>
            </a:r>
            <a:r>
              <a:t>(Cont…)</a:t>
            </a:r>
          </a:p>
        </p:txBody>
      </p:sp>
      <p:pic>
        <p:nvPicPr>
          <p:cNvPr id="4" name="object 4"/>
          <p:cNvPicPr/>
          <p:nvPr/>
        </p:nvPicPr>
        <p:blipFill>
          <a:blip r:embed="rId2" cstate="print"/>
          <a:stretch>
            <a:fillRect/>
          </a:stretch>
        </p:blipFill>
        <p:spPr>
          <a:xfrm>
            <a:off x="1321167" y="722809"/>
            <a:ext cx="9472664" cy="526756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9374" y="218486"/>
            <a:ext cx="9410395" cy="504323"/>
          </a:xfrm>
          <a:prstGeom prst="rect">
            <a:avLst/>
          </a:prstGeom>
        </p:spPr>
        <p:txBody>
          <a:bodyPr vert="horz" wrap="square" lIns="0" tIns="11766" rIns="0" bIns="0" rtlCol="0" anchor="t">
            <a:spAutoFit/>
          </a:bodyPr>
          <a:lstStyle/>
          <a:p>
            <a:pPr marL="11206">
              <a:lnSpc>
                <a:spcPct val="100000"/>
              </a:lnSpc>
              <a:spcBef>
                <a:spcPts val="93"/>
              </a:spcBef>
            </a:pPr>
            <a:r>
              <a:t>BRANCH–AND–BOUND</a:t>
            </a:r>
            <a:r>
              <a:rPr spc="-79"/>
              <a:t> </a:t>
            </a:r>
            <a:r>
              <a:rPr spc="-4"/>
              <a:t>METHOD</a:t>
            </a:r>
            <a:r>
              <a:rPr spc="-26"/>
              <a:t> </a:t>
            </a:r>
            <a:r>
              <a:t>(Cont…)</a:t>
            </a:r>
          </a:p>
        </p:txBody>
      </p:sp>
      <p:pic>
        <p:nvPicPr>
          <p:cNvPr id="4" name="object 4"/>
          <p:cNvPicPr/>
          <p:nvPr/>
        </p:nvPicPr>
        <p:blipFill rotWithShape="1">
          <a:blip r:embed="rId2" cstate="print"/>
          <a:srcRect t="39792" r="47446"/>
          <a:stretch/>
        </p:blipFill>
        <p:spPr>
          <a:xfrm>
            <a:off x="649403" y="843125"/>
            <a:ext cx="5153652" cy="2370291"/>
          </a:xfrm>
          <a:prstGeom prst="rect">
            <a:avLst/>
          </a:prstGeom>
        </p:spPr>
      </p:pic>
      <p:pic>
        <p:nvPicPr>
          <p:cNvPr id="5" name="object 5"/>
          <p:cNvPicPr/>
          <p:nvPr/>
        </p:nvPicPr>
        <p:blipFill>
          <a:blip r:embed="rId3" cstate="print"/>
          <a:stretch>
            <a:fillRect/>
          </a:stretch>
        </p:blipFill>
        <p:spPr>
          <a:xfrm>
            <a:off x="6260146" y="2088944"/>
            <a:ext cx="5823167" cy="3957514"/>
          </a:xfrm>
          <a:prstGeom prst="rect">
            <a:avLst/>
          </a:prstGeom>
        </p:spPr>
      </p:pic>
    </p:spTree>
    <p:extLst>
      <p:ext uri="{BB962C8B-B14F-4D97-AF65-F5344CB8AC3E}">
        <p14:creationId xmlns:p14="http://schemas.microsoft.com/office/powerpoint/2010/main" val="29243098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23651" y="218513"/>
            <a:ext cx="9531776" cy="504323"/>
          </a:xfrm>
          <a:prstGeom prst="rect">
            <a:avLst/>
          </a:prstGeom>
        </p:spPr>
        <p:txBody>
          <a:bodyPr vert="horz" wrap="square" lIns="0" tIns="11766" rIns="0" bIns="0" rtlCol="0" anchor="t">
            <a:spAutoFit/>
          </a:bodyPr>
          <a:lstStyle/>
          <a:p>
            <a:pPr marL="11206">
              <a:lnSpc>
                <a:spcPct val="100000"/>
              </a:lnSpc>
              <a:spcBef>
                <a:spcPts val="93"/>
              </a:spcBef>
            </a:pPr>
            <a:r>
              <a:t>BRANCH–AND–BOUND</a:t>
            </a:r>
            <a:r>
              <a:rPr spc="-79"/>
              <a:t> </a:t>
            </a:r>
            <a:r>
              <a:rPr spc="-4"/>
              <a:t>METHOD</a:t>
            </a:r>
            <a:r>
              <a:rPr spc="-26"/>
              <a:t> </a:t>
            </a:r>
            <a:r>
              <a:t>(Cont…)</a:t>
            </a:r>
          </a:p>
        </p:txBody>
      </p:sp>
      <p:grpSp>
        <p:nvGrpSpPr>
          <p:cNvPr id="3" name="object 3"/>
          <p:cNvGrpSpPr/>
          <p:nvPr/>
        </p:nvGrpSpPr>
        <p:grpSpPr>
          <a:xfrm>
            <a:off x="2103905" y="1008530"/>
            <a:ext cx="7958978" cy="5109882"/>
            <a:chOff x="504825" y="1143000"/>
            <a:chExt cx="9020175" cy="5791200"/>
          </a:xfrm>
        </p:grpSpPr>
        <p:pic>
          <p:nvPicPr>
            <p:cNvPr id="4" name="object 4"/>
            <p:cNvPicPr/>
            <p:nvPr/>
          </p:nvPicPr>
          <p:blipFill>
            <a:blip r:embed="rId2" cstate="print"/>
            <a:stretch>
              <a:fillRect/>
            </a:stretch>
          </p:blipFill>
          <p:spPr>
            <a:xfrm>
              <a:off x="762000" y="1143000"/>
              <a:ext cx="8229599" cy="5791199"/>
            </a:xfrm>
            <a:prstGeom prst="rect">
              <a:avLst/>
            </a:prstGeom>
          </p:spPr>
        </p:pic>
        <p:sp>
          <p:nvSpPr>
            <p:cNvPr id="5" name="object 5"/>
            <p:cNvSpPr/>
            <p:nvPr/>
          </p:nvSpPr>
          <p:spPr>
            <a:xfrm>
              <a:off x="533400" y="3505200"/>
              <a:ext cx="8382000" cy="3124200"/>
            </a:xfrm>
            <a:custGeom>
              <a:avLst/>
              <a:gdLst/>
              <a:ahLst/>
              <a:cxnLst/>
              <a:rect l="l" t="t" r="r" b="b"/>
              <a:pathLst>
                <a:path w="8382000" h="3124200">
                  <a:moveTo>
                    <a:pt x="2262880" y="0"/>
                  </a:moveTo>
                  <a:lnTo>
                    <a:pt x="2319524" y="479"/>
                  </a:lnTo>
                  <a:lnTo>
                    <a:pt x="2375825" y="1911"/>
                  </a:lnTo>
                  <a:lnTo>
                    <a:pt x="2431768" y="4284"/>
                  </a:lnTo>
                  <a:lnTo>
                    <a:pt x="2487336" y="7587"/>
                  </a:lnTo>
                  <a:lnTo>
                    <a:pt x="2542513" y="11808"/>
                  </a:lnTo>
                  <a:lnTo>
                    <a:pt x="2597283" y="16937"/>
                  </a:lnTo>
                  <a:lnTo>
                    <a:pt x="2651630" y="22962"/>
                  </a:lnTo>
                  <a:lnTo>
                    <a:pt x="2705537" y="29871"/>
                  </a:lnTo>
                  <a:lnTo>
                    <a:pt x="2758989" y="37655"/>
                  </a:lnTo>
                  <a:lnTo>
                    <a:pt x="2811969" y="46302"/>
                  </a:lnTo>
                  <a:lnTo>
                    <a:pt x="2864460" y="55799"/>
                  </a:lnTo>
                  <a:lnTo>
                    <a:pt x="2916448" y="66138"/>
                  </a:lnTo>
                  <a:lnTo>
                    <a:pt x="2967914" y="77305"/>
                  </a:lnTo>
                  <a:lnTo>
                    <a:pt x="3018845" y="89290"/>
                  </a:lnTo>
                  <a:lnTo>
                    <a:pt x="3069222" y="102082"/>
                  </a:lnTo>
                  <a:lnTo>
                    <a:pt x="3119030" y="115669"/>
                  </a:lnTo>
                  <a:lnTo>
                    <a:pt x="3168253" y="130041"/>
                  </a:lnTo>
                  <a:lnTo>
                    <a:pt x="3216874" y="145185"/>
                  </a:lnTo>
                  <a:lnTo>
                    <a:pt x="3264878" y="161092"/>
                  </a:lnTo>
                  <a:lnTo>
                    <a:pt x="3312248" y="177750"/>
                  </a:lnTo>
                  <a:lnTo>
                    <a:pt x="3358967" y="195147"/>
                  </a:lnTo>
                  <a:lnTo>
                    <a:pt x="3405021" y="213273"/>
                  </a:lnTo>
                  <a:lnTo>
                    <a:pt x="3450392" y="232115"/>
                  </a:lnTo>
                  <a:lnTo>
                    <a:pt x="3495064" y="251664"/>
                  </a:lnTo>
                  <a:lnTo>
                    <a:pt x="3539021" y="271908"/>
                  </a:lnTo>
                  <a:lnTo>
                    <a:pt x="3582247" y="292835"/>
                  </a:lnTo>
                  <a:lnTo>
                    <a:pt x="3624725" y="314435"/>
                  </a:lnTo>
                  <a:lnTo>
                    <a:pt x="3666441" y="336696"/>
                  </a:lnTo>
                  <a:lnTo>
                    <a:pt x="3707376" y="359607"/>
                  </a:lnTo>
                  <a:lnTo>
                    <a:pt x="3747516" y="383157"/>
                  </a:lnTo>
                  <a:lnTo>
                    <a:pt x="3786843" y="407335"/>
                  </a:lnTo>
                  <a:lnTo>
                    <a:pt x="3825342" y="432129"/>
                  </a:lnTo>
                  <a:lnTo>
                    <a:pt x="3862997" y="457529"/>
                  </a:lnTo>
                  <a:lnTo>
                    <a:pt x="3899790" y="483523"/>
                  </a:lnTo>
                  <a:lnTo>
                    <a:pt x="3935707" y="510100"/>
                  </a:lnTo>
                  <a:lnTo>
                    <a:pt x="3970731" y="537248"/>
                  </a:lnTo>
                  <a:lnTo>
                    <a:pt x="4004845" y="564958"/>
                  </a:lnTo>
                  <a:lnTo>
                    <a:pt x="4038034" y="593216"/>
                  </a:lnTo>
                  <a:lnTo>
                    <a:pt x="4070281" y="622013"/>
                  </a:lnTo>
                  <a:lnTo>
                    <a:pt x="4101570" y="651337"/>
                  </a:lnTo>
                  <a:lnTo>
                    <a:pt x="4131885" y="681177"/>
                  </a:lnTo>
                  <a:lnTo>
                    <a:pt x="4161209" y="711521"/>
                  </a:lnTo>
                  <a:lnTo>
                    <a:pt x="4189527" y="742359"/>
                  </a:lnTo>
                  <a:lnTo>
                    <a:pt x="4216822" y="773679"/>
                  </a:lnTo>
                  <a:lnTo>
                    <a:pt x="4243078" y="805470"/>
                  </a:lnTo>
                  <a:lnTo>
                    <a:pt x="4268279" y="837721"/>
                  </a:lnTo>
                  <a:lnTo>
                    <a:pt x="4292409" y="870421"/>
                  </a:lnTo>
                  <a:lnTo>
                    <a:pt x="4315451" y="903559"/>
                  </a:lnTo>
                  <a:lnTo>
                    <a:pt x="4337389" y="937123"/>
                  </a:lnTo>
                  <a:lnTo>
                    <a:pt x="4358208" y="971102"/>
                  </a:lnTo>
                  <a:lnTo>
                    <a:pt x="4377890" y="1005485"/>
                  </a:lnTo>
                  <a:lnTo>
                    <a:pt x="4396419" y="1040260"/>
                  </a:lnTo>
                  <a:lnTo>
                    <a:pt x="4413781" y="1075418"/>
                  </a:lnTo>
                  <a:lnTo>
                    <a:pt x="4429957" y="1110945"/>
                  </a:lnTo>
                  <a:lnTo>
                    <a:pt x="4444932" y="1146832"/>
                  </a:lnTo>
                  <a:lnTo>
                    <a:pt x="4458690" y="1183067"/>
                  </a:lnTo>
                  <a:lnTo>
                    <a:pt x="4471215" y="1219639"/>
                  </a:lnTo>
                  <a:lnTo>
                    <a:pt x="4482490" y="1256537"/>
                  </a:lnTo>
                  <a:lnTo>
                    <a:pt x="4492500" y="1293749"/>
                  </a:lnTo>
                  <a:lnTo>
                    <a:pt x="4501227" y="1331264"/>
                  </a:lnTo>
                  <a:lnTo>
                    <a:pt x="4508656" y="1369072"/>
                  </a:lnTo>
                  <a:lnTo>
                    <a:pt x="4514771" y="1407160"/>
                  </a:lnTo>
                  <a:lnTo>
                    <a:pt x="4519555" y="1445518"/>
                  </a:lnTo>
                  <a:lnTo>
                    <a:pt x="4522992" y="1484135"/>
                  </a:lnTo>
                  <a:lnTo>
                    <a:pt x="4525066" y="1522999"/>
                  </a:lnTo>
                  <a:lnTo>
                    <a:pt x="4525761" y="1562099"/>
                  </a:lnTo>
                  <a:lnTo>
                    <a:pt x="4525066" y="1601199"/>
                  </a:lnTo>
                  <a:lnTo>
                    <a:pt x="4522992" y="1640062"/>
                  </a:lnTo>
                  <a:lnTo>
                    <a:pt x="4519555" y="1678679"/>
                  </a:lnTo>
                  <a:lnTo>
                    <a:pt x="4514771" y="1717036"/>
                  </a:lnTo>
                  <a:lnTo>
                    <a:pt x="4508656" y="1755124"/>
                  </a:lnTo>
                  <a:lnTo>
                    <a:pt x="4501227" y="1792931"/>
                  </a:lnTo>
                  <a:lnTo>
                    <a:pt x="4492500" y="1830446"/>
                  </a:lnTo>
                  <a:lnTo>
                    <a:pt x="4482490" y="1867658"/>
                  </a:lnTo>
                  <a:lnTo>
                    <a:pt x="4471215" y="1904555"/>
                  </a:lnTo>
                  <a:lnTo>
                    <a:pt x="4458690" y="1941126"/>
                  </a:lnTo>
                  <a:lnTo>
                    <a:pt x="4444932" y="1977361"/>
                  </a:lnTo>
                  <a:lnTo>
                    <a:pt x="4429957" y="2013248"/>
                  </a:lnTo>
                  <a:lnTo>
                    <a:pt x="4413781" y="2048776"/>
                  </a:lnTo>
                  <a:lnTo>
                    <a:pt x="4396419" y="2083933"/>
                  </a:lnTo>
                  <a:lnTo>
                    <a:pt x="4377890" y="2118708"/>
                  </a:lnTo>
                  <a:lnTo>
                    <a:pt x="4358208" y="2153091"/>
                  </a:lnTo>
                  <a:lnTo>
                    <a:pt x="4337389" y="2187070"/>
                  </a:lnTo>
                  <a:lnTo>
                    <a:pt x="4315451" y="2220634"/>
                  </a:lnTo>
                  <a:lnTo>
                    <a:pt x="4292409" y="2253771"/>
                  </a:lnTo>
                  <a:lnTo>
                    <a:pt x="4268279" y="2286471"/>
                  </a:lnTo>
                  <a:lnTo>
                    <a:pt x="4243078" y="2318722"/>
                  </a:lnTo>
                  <a:lnTo>
                    <a:pt x="4216822" y="2350513"/>
                  </a:lnTo>
                  <a:lnTo>
                    <a:pt x="4189527" y="2381833"/>
                  </a:lnTo>
                  <a:lnTo>
                    <a:pt x="4161209" y="2412671"/>
                  </a:lnTo>
                  <a:lnTo>
                    <a:pt x="4131885" y="2443016"/>
                  </a:lnTo>
                  <a:lnTo>
                    <a:pt x="4101570" y="2472855"/>
                  </a:lnTo>
                  <a:lnTo>
                    <a:pt x="4070281" y="2502179"/>
                  </a:lnTo>
                  <a:lnTo>
                    <a:pt x="4038034" y="2530976"/>
                  </a:lnTo>
                  <a:lnTo>
                    <a:pt x="4004845" y="2559235"/>
                  </a:lnTo>
                  <a:lnTo>
                    <a:pt x="3970731" y="2586944"/>
                  </a:lnTo>
                  <a:lnTo>
                    <a:pt x="3935707" y="2614093"/>
                  </a:lnTo>
                  <a:lnTo>
                    <a:pt x="3899790" y="2640670"/>
                  </a:lnTo>
                  <a:lnTo>
                    <a:pt x="3862997" y="2666664"/>
                  </a:lnTo>
                  <a:lnTo>
                    <a:pt x="3825342" y="2692064"/>
                  </a:lnTo>
                  <a:lnTo>
                    <a:pt x="3786843" y="2716859"/>
                  </a:lnTo>
                  <a:lnTo>
                    <a:pt x="3747516" y="2741037"/>
                  </a:lnTo>
                  <a:lnTo>
                    <a:pt x="3707376" y="2764587"/>
                  </a:lnTo>
                  <a:lnTo>
                    <a:pt x="3666441" y="2787498"/>
                  </a:lnTo>
                  <a:lnTo>
                    <a:pt x="3624725" y="2809759"/>
                  </a:lnTo>
                  <a:lnTo>
                    <a:pt x="3582247" y="2831359"/>
                  </a:lnTo>
                  <a:lnTo>
                    <a:pt x="3539021" y="2852287"/>
                  </a:lnTo>
                  <a:lnTo>
                    <a:pt x="3495064" y="2872531"/>
                  </a:lnTo>
                  <a:lnTo>
                    <a:pt x="3450392" y="2892080"/>
                  </a:lnTo>
                  <a:lnTo>
                    <a:pt x="3405021" y="2910923"/>
                  </a:lnTo>
                  <a:lnTo>
                    <a:pt x="3358967" y="2929049"/>
                  </a:lnTo>
                  <a:lnTo>
                    <a:pt x="3312248" y="2946446"/>
                  </a:lnTo>
                  <a:lnTo>
                    <a:pt x="3264878" y="2963104"/>
                  </a:lnTo>
                  <a:lnTo>
                    <a:pt x="3216874" y="2979011"/>
                  </a:lnTo>
                  <a:lnTo>
                    <a:pt x="3168253" y="2994156"/>
                  </a:lnTo>
                  <a:lnTo>
                    <a:pt x="3119030" y="3008528"/>
                  </a:lnTo>
                  <a:lnTo>
                    <a:pt x="3069222" y="3022115"/>
                  </a:lnTo>
                  <a:lnTo>
                    <a:pt x="3018845" y="3034907"/>
                  </a:lnTo>
                  <a:lnTo>
                    <a:pt x="2967914" y="3046893"/>
                  </a:lnTo>
                  <a:lnTo>
                    <a:pt x="2916448" y="3058060"/>
                  </a:lnTo>
                  <a:lnTo>
                    <a:pt x="2864460" y="3068398"/>
                  </a:lnTo>
                  <a:lnTo>
                    <a:pt x="2811969" y="3077896"/>
                  </a:lnTo>
                  <a:lnTo>
                    <a:pt x="2758989" y="3086543"/>
                  </a:lnTo>
                  <a:lnTo>
                    <a:pt x="2705537" y="3094327"/>
                  </a:lnTo>
                  <a:lnTo>
                    <a:pt x="2651630" y="3101237"/>
                  </a:lnTo>
                  <a:lnTo>
                    <a:pt x="2597283" y="3107262"/>
                  </a:lnTo>
                  <a:lnTo>
                    <a:pt x="2542513" y="3112391"/>
                  </a:lnTo>
                  <a:lnTo>
                    <a:pt x="2487336" y="3116612"/>
                  </a:lnTo>
                  <a:lnTo>
                    <a:pt x="2431768" y="3119915"/>
                  </a:lnTo>
                  <a:lnTo>
                    <a:pt x="2375825" y="3122288"/>
                  </a:lnTo>
                  <a:lnTo>
                    <a:pt x="2319524" y="3123720"/>
                  </a:lnTo>
                  <a:lnTo>
                    <a:pt x="2262880" y="3124199"/>
                  </a:lnTo>
                  <a:lnTo>
                    <a:pt x="2206239" y="3123720"/>
                  </a:lnTo>
                  <a:lnTo>
                    <a:pt x="2149940" y="3122288"/>
                  </a:lnTo>
                  <a:lnTo>
                    <a:pt x="2093999" y="3119915"/>
                  </a:lnTo>
                  <a:lnTo>
                    <a:pt x="2038432" y="3116612"/>
                  </a:lnTo>
                  <a:lnTo>
                    <a:pt x="1983257" y="3112391"/>
                  </a:lnTo>
                  <a:lnTo>
                    <a:pt x="1928488" y="3107262"/>
                  </a:lnTo>
                  <a:lnTo>
                    <a:pt x="1874143" y="3101237"/>
                  </a:lnTo>
                  <a:lnTo>
                    <a:pt x="1820236" y="3094327"/>
                  </a:lnTo>
                  <a:lnTo>
                    <a:pt x="1766786" y="3086543"/>
                  </a:lnTo>
                  <a:lnTo>
                    <a:pt x="1713807" y="3077896"/>
                  </a:lnTo>
                  <a:lnTo>
                    <a:pt x="1661316" y="3068398"/>
                  </a:lnTo>
                  <a:lnTo>
                    <a:pt x="1609330" y="3058060"/>
                  </a:lnTo>
                  <a:lnTo>
                    <a:pt x="1557864" y="3046893"/>
                  </a:lnTo>
                  <a:lnTo>
                    <a:pt x="1506934" y="3034907"/>
                  </a:lnTo>
                  <a:lnTo>
                    <a:pt x="1456557" y="3022115"/>
                  </a:lnTo>
                  <a:lnTo>
                    <a:pt x="1406750" y="3008528"/>
                  </a:lnTo>
                  <a:lnTo>
                    <a:pt x="1357527" y="2994156"/>
                  </a:lnTo>
                  <a:lnTo>
                    <a:pt x="1308906" y="2979011"/>
                  </a:lnTo>
                  <a:lnTo>
                    <a:pt x="1260903" y="2963104"/>
                  </a:lnTo>
                  <a:lnTo>
                    <a:pt x="1213533" y="2946446"/>
                  </a:lnTo>
                  <a:lnTo>
                    <a:pt x="1166814" y="2929049"/>
                  </a:lnTo>
                  <a:lnTo>
                    <a:pt x="1120760" y="2910923"/>
                  </a:lnTo>
                  <a:lnTo>
                    <a:pt x="1075390" y="2892080"/>
                  </a:lnTo>
                  <a:lnTo>
                    <a:pt x="1030717" y="2872531"/>
                  </a:lnTo>
                  <a:lnTo>
                    <a:pt x="986760" y="2852287"/>
                  </a:lnTo>
                  <a:lnTo>
                    <a:pt x="943534" y="2831359"/>
                  </a:lnTo>
                  <a:lnTo>
                    <a:pt x="901055" y="2809759"/>
                  </a:lnTo>
                  <a:lnTo>
                    <a:pt x="859339" y="2787498"/>
                  </a:lnTo>
                  <a:lnTo>
                    <a:pt x="818404" y="2764587"/>
                  </a:lnTo>
                  <a:lnTo>
                    <a:pt x="778264" y="2741037"/>
                  </a:lnTo>
                  <a:lnTo>
                    <a:pt x="738936" y="2716859"/>
                  </a:lnTo>
                  <a:lnTo>
                    <a:pt x="700436" y="2692064"/>
                  </a:lnTo>
                  <a:lnTo>
                    <a:pt x="662781" y="2666664"/>
                  </a:lnTo>
                  <a:lnTo>
                    <a:pt x="625987" y="2640670"/>
                  </a:lnTo>
                  <a:lnTo>
                    <a:pt x="590070" y="2614093"/>
                  </a:lnTo>
                  <a:lnTo>
                    <a:pt x="555045" y="2586944"/>
                  </a:lnTo>
                  <a:lnTo>
                    <a:pt x="520931" y="2559235"/>
                  </a:lnTo>
                  <a:lnTo>
                    <a:pt x="487741" y="2530976"/>
                  </a:lnTo>
                  <a:lnTo>
                    <a:pt x="455494" y="2502179"/>
                  </a:lnTo>
                  <a:lnTo>
                    <a:pt x="424204" y="2472855"/>
                  </a:lnTo>
                  <a:lnTo>
                    <a:pt x="393888" y="2443016"/>
                  </a:lnTo>
                  <a:lnTo>
                    <a:pt x="364563" y="2412671"/>
                  </a:lnTo>
                  <a:lnTo>
                    <a:pt x="336245" y="2381833"/>
                  </a:lnTo>
                  <a:lnTo>
                    <a:pt x="308949" y="2350513"/>
                  </a:lnTo>
                  <a:lnTo>
                    <a:pt x="282692" y="2318722"/>
                  </a:lnTo>
                  <a:lnTo>
                    <a:pt x="257490" y="2286471"/>
                  </a:lnTo>
                  <a:lnTo>
                    <a:pt x="233360" y="2253771"/>
                  </a:lnTo>
                  <a:lnTo>
                    <a:pt x="210317" y="2220634"/>
                  </a:lnTo>
                  <a:lnTo>
                    <a:pt x="188378" y="2187070"/>
                  </a:lnTo>
                  <a:lnTo>
                    <a:pt x="167559" y="2153091"/>
                  </a:lnTo>
                  <a:lnTo>
                    <a:pt x="147876" y="2118708"/>
                  </a:lnTo>
                  <a:lnTo>
                    <a:pt x="129346" y="2083933"/>
                  </a:lnTo>
                  <a:lnTo>
                    <a:pt x="111984" y="2048776"/>
                  </a:lnTo>
                  <a:lnTo>
                    <a:pt x="95808" y="2013248"/>
                  </a:lnTo>
                  <a:lnTo>
                    <a:pt x="80832" y="1977361"/>
                  </a:lnTo>
                  <a:lnTo>
                    <a:pt x="67073" y="1941126"/>
                  </a:lnTo>
                  <a:lnTo>
                    <a:pt x="54548" y="1904555"/>
                  </a:lnTo>
                  <a:lnTo>
                    <a:pt x="43272" y="1867658"/>
                  </a:lnTo>
                  <a:lnTo>
                    <a:pt x="33263" y="1830446"/>
                  </a:lnTo>
                  <a:lnTo>
                    <a:pt x="24535" y="1792931"/>
                  </a:lnTo>
                  <a:lnTo>
                    <a:pt x="17105" y="1755124"/>
                  </a:lnTo>
                  <a:lnTo>
                    <a:pt x="10991" y="1717036"/>
                  </a:lnTo>
                  <a:lnTo>
                    <a:pt x="6206" y="1678679"/>
                  </a:lnTo>
                  <a:lnTo>
                    <a:pt x="2769" y="1640062"/>
                  </a:lnTo>
                  <a:lnTo>
                    <a:pt x="695" y="1601199"/>
                  </a:lnTo>
                  <a:lnTo>
                    <a:pt x="0" y="1562099"/>
                  </a:lnTo>
                  <a:lnTo>
                    <a:pt x="718" y="1522415"/>
                  </a:lnTo>
                  <a:lnTo>
                    <a:pt x="2861" y="1482963"/>
                  </a:lnTo>
                  <a:lnTo>
                    <a:pt x="6414" y="1443755"/>
                  </a:lnTo>
                  <a:lnTo>
                    <a:pt x="11359" y="1404804"/>
                  </a:lnTo>
                  <a:lnTo>
                    <a:pt x="17679" y="1366121"/>
                  </a:lnTo>
                  <a:lnTo>
                    <a:pt x="25359" y="1327719"/>
                  </a:lnTo>
                  <a:lnTo>
                    <a:pt x="34381" y="1289611"/>
                  </a:lnTo>
                  <a:lnTo>
                    <a:pt x="44729" y="1251808"/>
                  </a:lnTo>
                  <a:lnTo>
                    <a:pt x="56387" y="1214324"/>
                  </a:lnTo>
                  <a:lnTo>
                    <a:pt x="69337" y="1177169"/>
                  </a:lnTo>
                  <a:lnTo>
                    <a:pt x="83563" y="1140356"/>
                  </a:lnTo>
                  <a:lnTo>
                    <a:pt x="99049" y="1103898"/>
                  </a:lnTo>
                  <a:lnTo>
                    <a:pt x="115778" y="1067806"/>
                  </a:lnTo>
                  <a:lnTo>
                    <a:pt x="133733" y="1032093"/>
                  </a:lnTo>
                  <a:lnTo>
                    <a:pt x="152898" y="996772"/>
                  </a:lnTo>
                  <a:lnTo>
                    <a:pt x="173256" y="961854"/>
                  </a:lnTo>
                  <a:lnTo>
                    <a:pt x="194791" y="927352"/>
                  </a:lnTo>
                  <a:lnTo>
                    <a:pt x="217486" y="893277"/>
                  </a:lnTo>
                  <a:lnTo>
                    <a:pt x="241324" y="859643"/>
                  </a:lnTo>
                  <a:lnTo>
                    <a:pt x="266289" y="826461"/>
                  </a:lnTo>
                  <a:lnTo>
                    <a:pt x="292365" y="793744"/>
                  </a:lnTo>
                  <a:lnTo>
                    <a:pt x="319534" y="761504"/>
                  </a:lnTo>
                  <a:lnTo>
                    <a:pt x="347780" y="729753"/>
                  </a:lnTo>
                  <a:lnTo>
                    <a:pt x="377086" y="698503"/>
                  </a:lnTo>
                  <a:lnTo>
                    <a:pt x="407437" y="667766"/>
                  </a:lnTo>
                  <a:lnTo>
                    <a:pt x="438814" y="637556"/>
                  </a:lnTo>
                  <a:lnTo>
                    <a:pt x="471203" y="607884"/>
                  </a:lnTo>
                  <a:lnTo>
                    <a:pt x="504585" y="578762"/>
                  </a:lnTo>
                  <a:lnTo>
                    <a:pt x="538946" y="550202"/>
                  </a:lnTo>
                  <a:lnTo>
                    <a:pt x="574267" y="522217"/>
                  </a:lnTo>
                  <a:lnTo>
                    <a:pt x="610532" y="494819"/>
                  </a:lnTo>
                  <a:lnTo>
                    <a:pt x="647725" y="468021"/>
                  </a:lnTo>
                  <a:lnTo>
                    <a:pt x="685830" y="441834"/>
                  </a:lnTo>
                  <a:lnTo>
                    <a:pt x="724828" y="416271"/>
                  </a:lnTo>
                  <a:lnTo>
                    <a:pt x="764705" y="391343"/>
                  </a:lnTo>
                  <a:lnTo>
                    <a:pt x="805444" y="367064"/>
                  </a:lnTo>
                  <a:lnTo>
                    <a:pt x="847027" y="343446"/>
                  </a:lnTo>
                  <a:lnTo>
                    <a:pt x="889438" y="320500"/>
                  </a:lnTo>
                  <a:lnTo>
                    <a:pt x="932661" y="298239"/>
                  </a:lnTo>
                  <a:lnTo>
                    <a:pt x="976679" y="276675"/>
                  </a:lnTo>
                  <a:lnTo>
                    <a:pt x="1021476" y="255821"/>
                  </a:lnTo>
                  <a:lnTo>
                    <a:pt x="1067034" y="235688"/>
                  </a:lnTo>
                  <a:lnTo>
                    <a:pt x="1113338" y="216289"/>
                  </a:lnTo>
                  <a:lnTo>
                    <a:pt x="1160370" y="197636"/>
                  </a:lnTo>
                  <a:lnTo>
                    <a:pt x="1208114" y="179742"/>
                  </a:lnTo>
                  <a:lnTo>
                    <a:pt x="1256554" y="162618"/>
                  </a:lnTo>
                  <a:lnTo>
                    <a:pt x="1305673" y="146277"/>
                  </a:lnTo>
                  <a:lnTo>
                    <a:pt x="1355454" y="130732"/>
                  </a:lnTo>
                  <a:lnTo>
                    <a:pt x="1405881" y="115993"/>
                  </a:lnTo>
                  <a:lnTo>
                    <a:pt x="1456937" y="102074"/>
                  </a:lnTo>
                  <a:lnTo>
                    <a:pt x="1508606" y="88987"/>
                  </a:lnTo>
                  <a:lnTo>
                    <a:pt x="1560870" y="76744"/>
                  </a:lnTo>
                  <a:lnTo>
                    <a:pt x="1613714" y="65357"/>
                  </a:lnTo>
                  <a:lnTo>
                    <a:pt x="1667121" y="54839"/>
                  </a:lnTo>
                  <a:lnTo>
                    <a:pt x="1721074" y="45202"/>
                  </a:lnTo>
                  <a:lnTo>
                    <a:pt x="1775557" y="36457"/>
                  </a:lnTo>
                  <a:lnTo>
                    <a:pt x="1830552" y="28618"/>
                  </a:lnTo>
                  <a:lnTo>
                    <a:pt x="1886044" y="21696"/>
                  </a:lnTo>
                  <a:lnTo>
                    <a:pt x="1942016" y="15704"/>
                  </a:lnTo>
                  <a:lnTo>
                    <a:pt x="1998451" y="10654"/>
                  </a:lnTo>
                  <a:lnTo>
                    <a:pt x="2055333" y="6558"/>
                  </a:lnTo>
                  <a:lnTo>
                    <a:pt x="2112644" y="3428"/>
                  </a:lnTo>
                </a:path>
                <a:path w="8382000" h="3124200">
                  <a:moveTo>
                    <a:pt x="6400799" y="0"/>
                  </a:moveTo>
                  <a:lnTo>
                    <a:pt x="6458195" y="555"/>
                  </a:lnTo>
                  <a:lnTo>
                    <a:pt x="6515187" y="2210"/>
                  </a:lnTo>
                  <a:lnTo>
                    <a:pt x="6571751" y="4951"/>
                  </a:lnTo>
                  <a:lnTo>
                    <a:pt x="6627867" y="8763"/>
                  </a:lnTo>
                  <a:lnTo>
                    <a:pt x="6683512" y="13630"/>
                  </a:lnTo>
                  <a:lnTo>
                    <a:pt x="6738664" y="19537"/>
                  </a:lnTo>
                  <a:lnTo>
                    <a:pt x="6793301" y="26470"/>
                  </a:lnTo>
                  <a:lnTo>
                    <a:pt x="6847401" y="34414"/>
                  </a:lnTo>
                  <a:lnTo>
                    <a:pt x="6900942" y="43352"/>
                  </a:lnTo>
                  <a:lnTo>
                    <a:pt x="6953903" y="53272"/>
                  </a:lnTo>
                  <a:lnTo>
                    <a:pt x="7006260" y="64156"/>
                  </a:lnTo>
                  <a:lnTo>
                    <a:pt x="7057992" y="75991"/>
                  </a:lnTo>
                  <a:lnTo>
                    <a:pt x="7109078" y="88762"/>
                  </a:lnTo>
                  <a:lnTo>
                    <a:pt x="7159494" y="102453"/>
                  </a:lnTo>
                  <a:lnTo>
                    <a:pt x="7209219" y="117050"/>
                  </a:lnTo>
                  <a:lnTo>
                    <a:pt x="7258231" y="132537"/>
                  </a:lnTo>
                  <a:lnTo>
                    <a:pt x="7306508" y="148899"/>
                  </a:lnTo>
                  <a:lnTo>
                    <a:pt x="7354028" y="166122"/>
                  </a:lnTo>
                  <a:lnTo>
                    <a:pt x="7400769" y="184191"/>
                  </a:lnTo>
                  <a:lnTo>
                    <a:pt x="7446709" y="203090"/>
                  </a:lnTo>
                  <a:lnTo>
                    <a:pt x="7491825" y="222804"/>
                  </a:lnTo>
                  <a:lnTo>
                    <a:pt x="7536096" y="243319"/>
                  </a:lnTo>
                  <a:lnTo>
                    <a:pt x="7579500" y="264619"/>
                  </a:lnTo>
                  <a:lnTo>
                    <a:pt x="7622015" y="286690"/>
                  </a:lnTo>
                  <a:lnTo>
                    <a:pt x="7663618" y="309517"/>
                  </a:lnTo>
                  <a:lnTo>
                    <a:pt x="7704289" y="333084"/>
                  </a:lnTo>
                  <a:lnTo>
                    <a:pt x="7744003" y="357376"/>
                  </a:lnTo>
                  <a:lnTo>
                    <a:pt x="7782741" y="382379"/>
                  </a:lnTo>
                  <a:lnTo>
                    <a:pt x="7820479" y="408077"/>
                  </a:lnTo>
                  <a:lnTo>
                    <a:pt x="7857196" y="434456"/>
                  </a:lnTo>
                  <a:lnTo>
                    <a:pt x="7892869" y="461501"/>
                  </a:lnTo>
                  <a:lnTo>
                    <a:pt x="7927477" y="489196"/>
                  </a:lnTo>
                  <a:lnTo>
                    <a:pt x="7960998" y="517526"/>
                  </a:lnTo>
                  <a:lnTo>
                    <a:pt x="7993409" y="546477"/>
                  </a:lnTo>
                  <a:lnTo>
                    <a:pt x="8024688" y="576034"/>
                  </a:lnTo>
                  <a:lnTo>
                    <a:pt x="8054814" y="606181"/>
                  </a:lnTo>
                  <a:lnTo>
                    <a:pt x="8083765" y="636903"/>
                  </a:lnTo>
                  <a:lnTo>
                    <a:pt x="8111518" y="668187"/>
                  </a:lnTo>
                  <a:lnTo>
                    <a:pt x="8138051" y="700015"/>
                  </a:lnTo>
                  <a:lnTo>
                    <a:pt x="8163343" y="732374"/>
                  </a:lnTo>
                  <a:lnTo>
                    <a:pt x="8187371" y="765249"/>
                  </a:lnTo>
                  <a:lnTo>
                    <a:pt x="8210113" y="798624"/>
                  </a:lnTo>
                  <a:lnTo>
                    <a:pt x="8231548" y="832485"/>
                  </a:lnTo>
                  <a:lnTo>
                    <a:pt x="8251653" y="866817"/>
                  </a:lnTo>
                  <a:lnTo>
                    <a:pt x="8270407" y="901604"/>
                  </a:lnTo>
                  <a:lnTo>
                    <a:pt x="8287786" y="936831"/>
                  </a:lnTo>
                  <a:lnTo>
                    <a:pt x="8303770" y="972484"/>
                  </a:lnTo>
                  <a:lnTo>
                    <a:pt x="8318337" y="1008548"/>
                  </a:lnTo>
                  <a:lnTo>
                    <a:pt x="8331463" y="1045007"/>
                  </a:lnTo>
                  <a:lnTo>
                    <a:pt x="8343128" y="1081846"/>
                  </a:lnTo>
                  <a:lnTo>
                    <a:pt x="8353308" y="1119052"/>
                  </a:lnTo>
                  <a:lnTo>
                    <a:pt x="8361983" y="1156608"/>
                  </a:lnTo>
                  <a:lnTo>
                    <a:pt x="8369130" y="1194499"/>
                  </a:lnTo>
                  <a:lnTo>
                    <a:pt x="8374727" y="1232711"/>
                  </a:lnTo>
                  <a:lnTo>
                    <a:pt x="8378753" y="1271229"/>
                  </a:lnTo>
                  <a:lnTo>
                    <a:pt x="8381184" y="1310037"/>
                  </a:lnTo>
                  <a:lnTo>
                    <a:pt x="8381999" y="1349120"/>
                  </a:lnTo>
                  <a:lnTo>
                    <a:pt x="8381184" y="1388203"/>
                  </a:lnTo>
                  <a:lnTo>
                    <a:pt x="8378753" y="1427011"/>
                  </a:lnTo>
                  <a:lnTo>
                    <a:pt x="8374727" y="1465528"/>
                  </a:lnTo>
                  <a:lnTo>
                    <a:pt x="8369130" y="1503739"/>
                  </a:lnTo>
                  <a:lnTo>
                    <a:pt x="8361983" y="1541630"/>
                  </a:lnTo>
                  <a:lnTo>
                    <a:pt x="8353308" y="1579185"/>
                  </a:lnTo>
                  <a:lnTo>
                    <a:pt x="8343128" y="1616390"/>
                  </a:lnTo>
                  <a:lnTo>
                    <a:pt x="8331463" y="1653229"/>
                  </a:lnTo>
                  <a:lnTo>
                    <a:pt x="8318337" y="1689687"/>
                  </a:lnTo>
                  <a:lnTo>
                    <a:pt x="8303770" y="1725750"/>
                  </a:lnTo>
                  <a:lnTo>
                    <a:pt x="8287786" y="1761403"/>
                  </a:lnTo>
                  <a:lnTo>
                    <a:pt x="8270407" y="1796630"/>
                  </a:lnTo>
                  <a:lnTo>
                    <a:pt x="8251653" y="1831416"/>
                  </a:lnTo>
                  <a:lnTo>
                    <a:pt x="8231548" y="1865747"/>
                  </a:lnTo>
                  <a:lnTo>
                    <a:pt x="8210113" y="1899607"/>
                  </a:lnTo>
                  <a:lnTo>
                    <a:pt x="8187371" y="1932982"/>
                  </a:lnTo>
                  <a:lnTo>
                    <a:pt x="8163343" y="1965857"/>
                  </a:lnTo>
                  <a:lnTo>
                    <a:pt x="8138051" y="1998215"/>
                  </a:lnTo>
                  <a:lnTo>
                    <a:pt x="8111518" y="2030044"/>
                  </a:lnTo>
                  <a:lnTo>
                    <a:pt x="8083765" y="2061326"/>
                  </a:lnTo>
                  <a:lnTo>
                    <a:pt x="8054814" y="2092049"/>
                  </a:lnTo>
                  <a:lnTo>
                    <a:pt x="8024688" y="2122195"/>
                  </a:lnTo>
                  <a:lnTo>
                    <a:pt x="7993409" y="2151752"/>
                  </a:lnTo>
                  <a:lnTo>
                    <a:pt x="7960998" y="2180702"/>
                  </a:lnTo>
                  <a:lnTo>
                    <a:pt x="7927477" y="2209033"/>
                  </a:lnTo>
                  <a:lnTo>
                    <a:pt x="7892869" y="2236727"/>
                  </a:lnTo>
                  <a:lnTo>
                    <a:pt x="7857196" y="2263772"/>
                  </a:lnTo>
                  <a:lnTo>
                    <a:pt x="7820479" y="2290150"/>
                  </a:lnTo>
                  <a:lnTo>
                    <a:pt x="7782741" y="2315849"/>
                  </a:lnTo>
                  <a:lnTo>
                    <a:pt x="7744003" y="2340851"/>
                  </a:lnTo>
                  <a:lnTo>
                    <a:pt x="7704289" y="2365143"/>
                  </a:lnTo>
                  <a:lnTo>
                    <a:pt x="7663618" y="2388710"/>
                  </a:lnTo>
                  <a:lnTo>
                    <a:pt x="7622015" y="2411536"/>
                  </a:lnTo>
                  <a:lnTo>
                    <a:pt x="7579500" y="2433607"/>
                  </a:lnTo>
                  <a:lnTo>
                    <a:pt x="7536096" y="2454908"/>
                  </a:lnTo>
                  <a:lnTo>
                    <a:pt x="7491825" y="2475422"/>
                  </a:lnTo>
                  <a:lnTo>
                    <a:pt x="7446709" y="2495137"/>
                  </a:lnTo>
                  <a:lnTo>
                    <a:pt x="7400769" y="2514036"/>
                  </a:lnTo>
                  <a:lnTo>
                    <a:pt x="7354028" y="2532104"/>
                  </a:lnTo>
                  <a:lnTo>
                    <a:pt x="7306508" y="2549327"/>
                  </a:lnTo>
                  <a:lnTo>
                    <a:pt x="7258231" y="2565689"/>
                  </a:lnTo>
                  <a:lnTo>
                    <a:pt x="7209219" y="2581176"/>
                  </a:lnTo>
                  <a:lnTo>
                    <a:pt x="7159494" y="2595773"/>
                  </a:lnTo>
                  <a:lnTo>
                    <a:pt x="7109078" y="2609464"/>
                  </a:lnTo>
                  <a:lnTo>
                    <a:pt x="7057992" y="2622234"/>
                  </a:lnTo>
                  <a:lnTo>
                    <a:pt x="7006260" y="2634070"/>
                  </a:lnTo>
                  <a:lnTo>
                    <a:pt x="6953903" y="2644954"/>
                  </a:lnTo>
                  <a:lnTo>
                    <a:pt x="6900942" y="2654873"/>
                  </a:lnTo>
                  <a:lnTo>
                    <a:pt x="6847401" y="2663812"/>
                  </a:lnTo>
                  <a:lnTo>
                    <a:pt x="6793301" y="2671755"/>
                  </a:lnTo>
                  <a:lnTo>
                    <a:pt x="6738664" y="2678688"/>
                  </a:lnTo>
                  <a:lnTo>
                    <a:pt x="6683512" y="2684596"/>
                  </a:lnTo>
                  <a:lnTo>
                    <a:pt x="6627867" y="2689463"/>
                  </a:lnTo>
                  <a:lnTo>
                    <a:pt x="6571751" y="2693274"/>
                  </a:lnTo>
                  <a:lnTo>
                    <a:pt x="6515187" y="2696015"/>
                  </a:lnTo>
                  <a:lnTo>
                    <a:pt x="6458195" y="2697671"/>
                  </a:lnTo>
                  <a:lnTo>
                    <a:pt x="6400799" y="2698226"/>
                  </a:lnTo>
                  <a:lnTo>
                    <a:pt x="6343403" y="2697671"/>
                  </a:lnTo>
                  <a:lnTo>
                    <a:pt x="6286412" y="2696015"/>
                  </a:lnTo>
                  <a:lnTo>
                    <a:pt x="6229847" y="2693274"/>
                  </a:lnTo>
                  <a:lnTo>
                    <a:pt x="6173732" y="2689463"/>
                  </a:lnTo>
                  <a:lnTo>
                    <a:pt x="6118087" y="2684596"/>
                  </a:lnTo>
                  <a:lnTo>
                    <a:pt x="6062935" y="2678688"/>
                  </a:lnTo>
                  <a:lnTo>
                    <a:pt x="6008298" y="2671755"/>
                  </a:lnTo>
                  <a:lnTo>
                    <a:pt x="5954198" y="2663812"/>
                  </a:lnTo>
                  <a:lnTo>
                    <a:pt x="5900656" y="2654873"/>
                  </a:lnTo>
                  <a:lnTo>
                    <a:pt x="5847696" y="2644954"/>
                  </a:lnTo>
                  <a:lnTo>
                    <a:pt x="5795339" y="2634070"/>
                  </a:lnTo>
                  <a:lnTo>
                    <a:pt x="5743606" y="2622234"/>
                  </a:lnTo>
                  <a:lnTo>
                    <a:pt x="5692521" y="2609464"/>
                  </a:lnTo>
                  <a:lnTo>
                    <a:pt x="5642105" y="2595773"/>
                  </a:lnTo>
                  <a:lnTo>
                    <a:pt x="5592379" y="2581176"/>
                  </a:lnTo>
                  <a:lnTo>
                    <a:pt x="5543367" y="2565689"/>
                  </a:lnTo>
                  <a:lnTo>
                    <a:pt x="5495090" y="2549327"/>
                  </a:lnTo>
                  <a:lnTo>
                    <a:pt x="5447570" y="2532104"/>
                  </a:lnTo>
                  <a:lnTo>
                    <a:pt x="5400830" y="2514036"/>
                  </a:lnTo>
                  <a:lnTo>
                    <a:pt x="5354890" y="2495137"/>
                  </a:lnTo>
                  <a:lnTo>
                    <a:pt x="5309774" y="2475422"/>
                  </a:lnTo>
                  <a:lnTo>
                    <a:pt x="5265502" y="2454908"/>
                  </a:lnTo>
                  <a:lnTo>
                    <a:pt x="5222098" y="2433607"/>
                  </a:lnTo>
                  <a:lnTo>
                    <a:pt x="5179584" y="2411536"/>
                  </a:lnTo>
                  <a:lnTo>
                    <a:pt x="5137980" y="2388710"/>
                  </a:lnTo>
                  <a:lnTo>
                    <a:pt x="5097310" y="2365143"/>
                  </a:lnTo>
                  <a:lnTo>
                    <a:pt x="5057595" y="2340851"/>
                  </a:lnTo>
                  <a:lnTo>
                    <a:pt x="5018858" y="2315849"/>
                  </a:lnTo>
                  <a:lnTo>
                    <a:pt x="4981120" y="2290150"/>
                  </a:lnTo>
                  <a:lnTo>
                    <a:pt x="4944403" y="2263772"/>
                  </a:lnTo>
                  <a:lnTo>
                    <a:pt x="4908730" y="2236727"/>
                  </a:lnTo>
                  <a:lnTo>
                    <a:pt x="4874122" y="2209033"/>
                  </a:lnTo>
                  <a:lnTo>
                    <a:pt x="4840601" y="2180702"/>
                  </a:lnTo>
                  <a:lnTo>
                    <a:pt x="4808190" y="2151752"/>
                  </a:lnTo>
                  <a:lnTo>
                    <a:pt x="4776911" y="2122195"/>
                  </a:lnTo>
                  <a:lnTo>
                    <a:pt x="4746785" y="2092049"/>
                  </a:lnTo>
                  <a:lnTo>
                    <a:pt x="4717834" y="2061326"/>
                  </a:lnTo>
                  <a:lnTo>
                    <a:pt x="4690081" y="2030044"/>
                  </a:lnTo>
                  <a:lnTo>
                    <a:pt x="4663548" y="1998215"/>
                  </a:lnTo>
                  <a:lnTo>
                    <a:pt x="4638256" y="1965857"/>
                  </a:lnTo>
                  <a:lnTo>
                    <a:pt x="4614228" y="1932982"/>
                  </a:lnTo>
                  <a:lnTo>
                    <a:pt x="4591485" y="1899607"/>
                  </a:lnTo>
                  <a:lnTo>
                    <a:pt x="4570051" y="1865747"/>
                  </a:lnTo>
                  <a:lnTo>
                    <a:pt x="4549945" y="1831416"/>
                  </a:lnTo>
                  <a:lnTo>
                    <a:pt x="4531192" y="1796630"/>
                  </a:lnTo>
                  <a:lnTo>
                    <a:pt x="4513812" y="1761403"/>
                  </a:lnTo>
                  <a:lnTo>
                    <a:pt x="4497828" y="1725750"/>
                  </a:lnTo>
                  <a:lnTo>
                    <a:pt x="4483262" y="1689687"/>
                  </a:lnTo>
                  <a:lnTo>
                    <a:pt x="4470136" y="1653229"/>
                  </a:lnTo>
                  <a:lnTo>
                    <a:pt x="4458471" y="1616390"/>
                  </a:lnTo>
                  <a:lnTo>
                    <a:pt x="4448290" y="1579185"/>
                  </a:lnTo>
                  <a:lnTo>
                    <a:pt x="4439615" y="1541630"/>
                  </a:lnTo>
                  <a:lnTo>
                    <a:pt x="4432468" y="1503739"/>
                  </a:lnTo>
                  <a:lnTo>
                    <a:pt x="4426871" y="1465528"/>
                  </a:lnTo>
                  <a:lnTo>
                    <a:pt x="4422846" y="1427011"/>
                  </a:lnTo>
                  <a:lnTo>
                    <a:pt x="4420415" y="1388203"/>
                  </a:lnTo>
                  <a:lnTo>
                    <a:pt x="4419599" y="1349120"/>
                  </a:lnTo>
                  <a:lnTo>
                    <a:pt x="4420429" y="1309758"/>
                  </a:lnTo>
                  <a:lnTo>
                    <a:pt x="4422903" y="1270663"/>
                  </a:lnTo>
                  <a:lnTo>
                    <a:pt x="4426999" y="1231851"/>
                  </a:lnTo>
                  <a:lnTo>
                    <a:pt x="4432696" y="1193337"/>
                  </a:lnTo>
                  <a:lnTo>
                    <a:pt x="4439970" y="1155139"/>
                  </a:lnTo>
                  <a:lnTo>
                    <a:pt x="4448802" y="1117271"/>
                  </a:lnTo>
                  <a:lnTo>
                    <a:pt x="4459167" y="1079751"/>
                  </a:lnTo>
                  <a:lnTo>
                    <a:pt x="4471044" y="1042594"/>
                  </a:lnTo>
                  <a:lnTo>
                    <a:pt x="4484412" y="1005815"/>
                  </a:lnTo>
                  <a:lnTo>
                    <a:pt x="4499248" y="969432"/>
                  </a:lnTo>
                  <a:lnTo>
                    <a:pt x="4515530" y="933460"/>
                  </a:lnTo>
                  <a:lnTo>
                    <a:pt x="4533236" y="897915"/>
                  </a:lnTo>
                  <a:lnTo>
                    <a:pt x="4552344" y="862813"/>
                  </a:lnTo>
                  <a:lnTo>
                    <a:pt x="4572832" y="828170"/>
                  </a:lnTo>
                  <a:lnTo>
                    <a:pt x="4594679" y="794002"/>
                  </a:lnTo>
                  <a:lnTo>
                    <a:pt x="4617861" y="760326"/>
                  </a:lnTo>
                  <a:lnTo>
                    <a:pt x="4642357" y="727157"/>
                  </a:lnTo>
                  <a:lnTo>
                    <a:pt x="4668145" y="694511"/>
                  </a:lnTo>
                  <a:lnTo>
                    <a:pt x="4695203" y="662404"/>
                  </a:lnTo>
                  <a:lnTo>
                    <a:pt x="4723509" y="630853"/>
                  </a:lnTo>
                  <a:lnTo>
                    <a:pt x="4753041" y="599872"/>
                  </a:lnTo>
                  <a:lnTo>
                    <a:pt x="4783776" y="569480"/>
                  </a:lnTo>
                  <a:lnTo>
                    <a:pt x="4815694" y="539690"/>
                  </a:lnTo>
                  <a:lnTo>
                    <a:pt x="4848771" y="510520"/>
                  </a:lnTo>
                  <a:lnTo>
                    <a:pt x="4882986" y="481986"/>
                  </a:lnTo>
                  <a:lnTo>
                    <a:pt x="4918316" y="454103"/>
                  </a:lnTo>
                  <a:lnTo>
                    <a:pt x="4954741" y="426887"/>
                  </a:lnTo>
                  <a:lnTo>
                    <a:pt x="4992236" y="400355"/>
                  </a:lnTo>
                  <a:lnTo>
                    <a:pt x="5030782" y="374522"/>
                  </a:lnTo>
                  <a:lnTo>
                    <a:pt x="5070355" y="349405"/>
                  </a:lnTo>
                  <a:lnTo>
                    <a:pt x="5110934" y="325020"/>
                  </a:lnTo>
                  <a:lnTo>
                    <a:pt x="5152496" y="301382"/>
                  </a:lnTo>
                  <a:lnTo>
                    <a:pt x="5195020" y="278507"/>
                  </a:lnTo>
                  <a:lnTo>
                    <a:pt x="5238483" y="256412"/>
                  </a:lnTo>
                  <a:lnTo>
                    <a:pt x="5282864" y="235113"/>
                  </a:lnTo>
                  <a:lnTo>
                    <a:pt x="5328140" y="214626"/>
                  </a:lnTo>
                  <a:lnTo>
                    <a:pt x="5374290" y="194966"/>
                  </a:lnTo>
                  <a:lnTo>
                    <a:pt x="5421291" y="176150"/>
                  </a:lnTo>
                  <a:lnTo>
                    <a:pt x="5469122" y="158193"/>
                  </a:lnTo>
                  <a:lnTo>
                    <a:pt x="5517759" y="141113"/>
                  </a:lnTo>
                  <a:lnTo>
                    <a:pt x="5567182" y="124924"/>
                  </a:lnTo>
                  <a:lnTo>
                    <a:pt x="5617369" y="109643"/>
                  </a:lnTo>
                  <a:lnTo>
                    <a:pt x="5668296" y="95285"/>
                  </a:lnTo>
                  <a:lnTo>
                    <a:pt x="5719943" y="81868"/>
                  </a:lnTo>
                  <a:lnTo>
                    <a:pt x="5772287" y="69406"/>
                  </a:lnTo>
                  <a:lnTo>
                    <a:pt x="5825306" y="57917"/>
                  </a:lnTo>
                  <a:lnTo>
                    <a:pt x="5878978" y="47415"/>
                  </a:lnTo>
                  <a:lnTo>
                    <a:pt x="5933282" y="37917"/>
                  </a:lnTo>
                  <a:lnTo>
                    <a:pt x="5988194" y="29439"/>
                  </a:lnTo>
                  <a:lnTo>
                    <a:pt x="6043694" y="21998"/>
                  </a:lnTo>
                  <a:lnTo>
                    <a:pt x="6099758" y="15608"/>
                  </a:lnTo>
                  <a:lnTo>
                    <a:pt x="6156366" y="10286"/>
                  </a:lnTo>
                  <a:lnTo>
                    <a:pt x="6213495" y="6048"/>
                  </a:lnTo>
                  <a:lnTo>
                    <a:pt x="6271122" y="2910"/>
                  </a:lnTo>
                </a:path>
              </a:pathLst>
            </a:custGeom>
            <a:ln w="57149">
              <a:solidFill>
                <a:srgbClr val="ED2124"/>
              </a:solidFill>
            </a:ln>
          </p:spPr>
          <p:txBody>
            <a:bodyPr wrap="square" lIns="0" tIns="0" rIns="0" bIns="0" rtlCol="0"/>
            <a:lstStyle/>
            <a:p>
              <a:endParaRPr sz="1588"/>
            </a:p>
          </p:txBody>
        </p:sp>
        <p:sp>
          <p:nvSpPr>
            <p:cNvPr id="6" name="object 6"/>
            <p:cNvSpPr/>
            <p:nvPr/>
          </p:nvSpPr>
          <p:spPr>
            <a:xfrm>
              <a:off x="7924800" y="2362139"/>
              <a:ext cx="1600200" cy="1200785"/>
            </a:xfrm>
            <a:custGeom>
              <a:avLst/>
              <a:gdLst/>
              <a:ahLst/>
              <a:cxnLst/>
              <a:rect l="l" t="t" r="r" b="b"/>
              <a:pathLst>
                <a:path w="1600200" h="1200785">
                  <a:moveTo>
                    <a:pt x="1600199" y="1200328"/>
                  </a:moveTo>
                  <a:lnTo>
                    <a:pt x="1600199" y="0"/>
                  </a:lnTo>
                  <a:lnTo>
                    <a:pt x="0" y="0"/>
                  </a:lnTo>
                  <a:lnTo>
                    <a:pt x="0" y="1200328"/>
                  </a:lnTo>
                  <a:lnTo>
                    <a:pt x="1600199" y="1200328"/>
                  </a:lnTo>
                  <a:close/>
                </a:path>
              </a:pathLst>
            </a:custGeom>
            <a:solidFill>
              <a:srgbClr val="F6EB00"/>
            </a:solidFill>
          </p:spPr>
          <p:txBody>
            <a:bodyPr wrap="square" lIns="0" tIns="0" rIns="0" bIns="0" rtlCol="0"/>
            <a:lstStyle/>
            <a:p>
              <a:endParaRPr sz="1588"/>
            </a:p>
          </p:txBody>
        </p:sp>
      </p:grpSp>
      <p:sp>
        <p:nvSpPr>
          <p:cNvPr id="7" name="object 7"/>
          <p:cNvSpPr txBox="1"/>
          <p:nvPr/>
        </p:nvSpPr>
        <p:spPr>
          <a:xfrm>
            <a:off x="8699123" y="2112307"/>
            <a:ext cx="1134596" cy="988763"/>
          </a:xfrm>
          <a:prstGeom prst="rect">
            <a:avLst/>
          </a:prstGeom>
        </p:spPr>
        <p:txBody>
          <a:bodyPr vert="horz" wrap="square" lIns="0" tIns="11206" rIns="0" bIns="0" rtlCol="0">
            <a:spAutoFit/>
          </a:bodyPr>
          <a:lstStyle/>
          <a:p>
            <a:pPr marL="33619">
              <a:spcBef>
                <a:spcPts val="88"/>
              </a:spcBef>
            </a:pPr>
            <a:r>
              <a:rPr sz="1588" b="1">
                <a:solidFill>
                  <a:srgbClr val="ED2124"/>
                </a:solidFill>
                <a:latin typeface="Tahoma"/>
                <a:cs typeface="Tahoma"/>
              </a:rPr>
              <a:t>X</a:t>
            </a:r>
            <a:r>
              <a:rPr sz="1588" b="1" baseline="-20833">
                <a:solidFill>
                  <a:srgbClr val="ED2124"/>
                </a:solidFill>
                <a:latin typeface="Tahoma"/>
                <a:cs typeface="Tahoma"/>
              </a:rPr>
              <a:t>1</a:t>
            </a:r>
            <a:r>
              <a:rPr sz="1588" b="1" spc="165" baseline="-20833">
                <a:solidFill>
                  <a:srgbClr val="ED2124"/>
                </a:solidFill>
                <a:latin typeface="Tahoma"/>
                <a:cs typeface="Tahoma"/>
              </a:rPr>
              <a:t> </a:t>
            </a:r>
            <a:r>
              <a:rPr sz="1588" b="1">
                <a:solidFill>
                  <a:srgbClr val="ED2124"/>
                </a:solidFill>
                <a:latin typeface="Tahoma"/>
                <a:cs typeface="Tahoma"/>
              </a:rPr>
              <a:t>=</a:t>
            </a:r>
            <a:r>
              <a:rPr sz="1588" b="1" spc="-26">
                <a:solidFill>
                  <a:srgbClr val="ED2124"/>
                </a:solidFill>
                <a:latin typeface="Tahoma"/>
                <a:cs typeface="Tahoma"/>
              </a:rPr>
              <a:t> </a:t>
            </a:r>
            <a:r>
              <a:rPr sz="1588" b="1">
                <a:solidFill>
                  <a:srgbClr val="ED2124"/>
                </a:solidFill>
                <a:latin typeface="Tahoma"/>
                <a:cs typeface="Tahoma"/>
              </a:rPr>
              <a:t>16/3</a:t>
            </a:r>
            <a:endParaRPr sz="1588">
              <a:latin typeface="Tahoma"/>
              <a:cs typeface="Tahoma"/>
            </a:endParaRPr>
          </a:p>
          <a:p>
            <a:pPr marL="33619"/>
            <a:r>
              <a:rPr sz="1588" b="1">
                <a:solidFill>
                  <a:srgbClr val="ED2124"/>
                </a:solidFill>
                <a:latin typeface="Tahoma"/>
                <a:cs typeface="Tahoma"/>
              </a:rPr>
              <a:t>X</a:t>
            </a:r>
            <a:r>
              <a:rPr sz="1588" b="1" baseline="-20833">
                <a:solidFill>
                  <a:srgbClr val="ED2124"/>
                </a:solidFill>
                <a:latin typeface="Tahoma"/>
                <a:cs typeface="Tahoma"/>
              </a:rPr>
              <a:t>2</a:t>
            </a:r>
            <a:r>
              <a:rPr sz="1588" b="1" spc="-53" baseline="-20833">
                <a:solidFill>
                  <a:srgbClr val="ED2124"/>
                </a:solidFill>
                <a:latin typeface="Tahoma"/>
                <a:cs typeface="Tahoma"/>
              </a:rPr>
              <a:t> </a:t>
            </a:r>
            <a:r>
              <a:rPr sz="1588" b="1">
                <a:solidFill>
                  <a:srgbClr val="ED2124"/>
                </a:solidFill>
                <a:latin typeface="Tahoma"/>
                <a:cs typeface="Tahoma"/>
              </a:rPr>
              <a:t>=</a:t>
            </a:r>
            <a:r>
              <a:rPr sz="1588" b="1" spc="-40">
                <a:solidFill>
                  <a:srgbClr val="ED2124"/>
                </a:solidFill>
                <a:latin typeface="Tahoma"/>
                <a:cs typeface="Tahoma"/>
              </a:rPr>
              <a:t> </a:t>
            </a:r>
            <a:r>
              <a:rPr sz="1588" b="1">
                <a:solidFill>
                  <a:srgbClr val="ED2124"/>
                </a:solidFill>
                <a:latin typeface="Tahoma"/>
                <a:cs typeface="Tahoma"/>
              </a:rPr>
              <a:t>2</a:t>
            </a:r>
            <a:endParaRPr sz="1588">
              <a:latin typeface="Tahoma"/>
              <a:cs typeface="Tahoma"/>
            </a:endParaRPr>
          </a:p>
          <a:p>
            <a:pPr marL="33619"/>
            <a:r>
              <a:rPr sz="1588" b="1" spc="-4">
                <a:solidFill>
                  <a:srgbClr val="ED2124"/>
                </a:solidFill>
                <a:latin typeface="Tahoma"/>
                <a:cs typeface="Tahoma"/>
              </a:rPr>
              <a:t>Z</a:t>
            </a:r>
            <a:r>
              <a:rPr sz="1588" b="1" spc="-6" baseline="-20833">
                <a:solidFill>
                  <a:srgbClr val="ED2124"/>
                </a:solidFill>
                <a:latin typeface="Tahoma"/>
                <a:cs typeface="Tahoma"/>
              </a:rPr>
              <a:t>U</a:t>
            </a:r>
            <a:r>
              <a:rPr sz="1588" b="1" spc="-39" baseline="-20833">
                <a:solidFill>
                  <a:srgbClr val="ED2124"/>
                </a:solidFill>
                <a:latin typeface="Tahoma"/>
                <a:cs typeface="Tahoma"/>
              </a:rPr>
              <a:t> </a:t>
            </a:r>
            <a:r>
              <a:rPr sz="1588" b="1">
                <a:solidFill>
                  <a:srgbClr val="ED2124"/>
                </a:solidFill>
                <a:latin typeface="Tahoma"/>
                <a:cs typeface="Tahoma"/>
              </a:rPr>
              <a:t>=</a:t>
            </a:r>
            <a:r>
              <a:rPr sz="1588" b="1" spc="-31">
                <a:solidFill>
                  <a:srgbClr val="ED2124"/>
                </a:solidFill>
                <a:latin typeface="Tahoma"/>
                <a:cs typeface="Tahoma"/>
              </a:rPr>
              <a:t> </a:t>
            </a:r>
            <a:r>
              <a:rPr sz="1588" b="1">
                <a:solidFill>
                  <a:srgbClr val="ED2124"/>
                </a:solidFill>
                <a:latin typeface="Tahoma"/>
                <a:cs typeface="Tahoma"/>
              </a:rPr>
              <a:t>93.33</a:t>
            </a:r>
            <a:endParaRPr sz="1588">
              <a:latin typeface="Tahoma"/>
              <a:cs typeface="Tahoma"/>
            </a:endParaRPr>
          </a:p>
          <a:p>
            <a:pPr marL="33619"/>
            <a:r>
              <a:rPr sz="1588" b="1" spc="-4">
                <a:solidFill>
                  <a:srgbClr val="ED2124"/>
                </a:solidFill>
                <a:latin typeface="Tahoma"/>
                <a:cs typeface="Tahoma"/>
              </a:rPr>
              <a:t>Z</a:t>
            </a:r>
            <a:r>
              <a:rPr sz="1588" b="1" spc="-6" baseline="-20833">
                <a:solidFill>
                  <a:srgbClr val="ED2124"/>
                </a:solidFill>
                <a:latin typeface="Tahoma"/>
                <a:cs typeface="Tahoma"/>
              </a:rPr>
              <a:t>L</a:t>
            </a:r>
            <a:r>
              <a:rPr sz="1588" b="1" spc="-39" baseline="-20833">
                <a:solidFill>
                  <a:srgbClr val="ED2124"/>
                </a:solidFill>
                <a:latin typeface="Tahoma"/>
                <a:cs typeface="Tahoma"/>
              </a:rPr>
              <a:t> </a:t>
            </a:r>
            <a:r>
              <a:rPr sz="1588" b="1">
                <a:solidFill>
                  <a:srgbClr val="ED2124"/>
                </a:solidFill>
                <a:latin typeface="Tahoma"/>
                <a:cs typeface="Tahoma"/>
              </a:rPr>
              <a:t>=</a:t>
            </a:r>
            <a:r>
              <a:rPr sz="1588" b="1" spc="-26">
                <a:solidFill>
                  <a:srgbClr val="ED2124"/>
                </a:solidFill>
                <a:latin typeface="Tahoma"/>
                <a:cs typeface="Tahoma"/>
              </a:rPr>
              <a:t> </a:t>
            </a:r>
            <a:r>
              <a:rPr sz="1588" b="1">
                <a:solidFill>
                  <a:srgbClr val="ED2124"/>
                </a:solidFill>
                <a:latin typeface="Tahoma"/>
                <a:cs typeface="Tahoma"/>
              </a:rPr>
              <a:t>90</a:t>
            </a:r>
            <a:endParaRPr sz="1588">
              <a:latin typeface="Tahoma"/>
              <a:cs typeface="Tahoma"/>
            </a:endParaRPr>
          </a:p>
        </p:txBody>
      </p:sp>
      <p:sp>
        <p:nvSpPr>
          <p:cNvPr id="8" name="object 8"/>
          <p:cNvSpPr/>
          <p:nvPr/>
        </p:nvSpPr>
        <p:spPr>
          <a:xfrm>
            <a:off x="8164157" y="2890996"/>
            <a:ext cx="419660" cy="355787"/>
          </a:xfrm>
          <a:custGeom>
            <a:avLst/>
            <a:gdLst/>
            <a:ahLst/>
            <a:cxnLst/>
            <a:rect l="l" t="t" r="r" b="b"/>
            <a:pathLst>
              <a:path w="475615" h="403225">
                <a:moveTo>
                  <a:pt x="388408" y="72649"/>
                </a:moveTo>
                <a:lnTo>
                  <a:pt x="332550" y="82035"/>
                </a:lnTo>
                <a:lnTo>
                  <a:pt x="0" y="359161"/>
                </a:lnTo>
                <a:lnTo>
                  <a:pt x="36576" y="403098"/>
                </a:lnTo>
                <a:lnTo>
                  <a:pt x="369048" y="126037"/>
                </a:lnTo>
                <a:lnTo>
                  <a:pt x="388408" y="72649"/>
                </a:lnTo>
                <a:close/>
              </a:path>
              <a:path w="475615" h="403225">
                <a:moveTo>
                  <a:pt x="475609" y="0"/>
                </a:moveTo>
                <a:lnTo>
                  <a:pt x="231510" y="41148"/>
                </a:lnTo>
                <a:lnTo>
                  <a:pt x="208147" y="74051"/>
                </a:lnTo>
                <a:lnTo>
                  <a:pt x="212163" y="84608"/>
                </a:lnTo>
                <a:lnTo>
                  <a:pt x="219688" y="92539"/>
                </a:lnTo>
                <a:lnTo>
                  <a:pt x="229664" y="97066"/>
                </a:lnTo>
                <a:lnTo>
                  <a:pt x="241035" y="97414"/>
                </a:lnTo>
                <a:lnTo>
                  <a:pt x="332550" y="82035"/>
                </a:lnTo>
                <a:lnTo>
                  <a:pt x="413766" y="14356"/>
                </a:lnTo>
                <a:lnTo>
                  <a:pt x="450342" y="58293"/>
                </a:lnTo>
                <a:lnTo>
                  <a:pt x="450342" y="69607"/>
                </a:lnTo>
                <a:lnTo>
                  <a:pt x="475609" y="0"/>
                </a:lnTo>
                <a:close/>
              </a:path>
              <a:path w="475615" h="403225">
                <a:moveTo>
                  <a:pt x="450342" y="58293"/>
                </a:moveTo>
                <a:lnTo>
                  <a:pt x="413766" y="14356"/>
                </a:lnTo>
                <a:lnTo>
                  <a:pt x="332550" y="82035"/>
                </a:lnTo>
                <a:lnTo>
                  <a:pt x="388408" y="72649"/>
                </a:lnTo>
                <a:lnTo>
                  <a:pt x="405124" y="26548"/>
                </a:lnTo>
                <a:lnTo>
                  <a:pt x="436747" y="64526"/>
                </a:lnTo>
                <a:lnTo>
                  <a:pt x="436747" y="69621"/>
                </a:lnTo>
                <a:lnTo>
                  <a:pt x="450342" y="58293"/>
                </a:lnTo>
                <a:close/>
              </a:path>
              <a:path w="475615" h="403225">
                <a:moveTo>
                  <a:pt x="450342" y="69607"/>
                </a:moveTo>
                <a:lnTo>
                  <a:pt x="450342" y="58293"/>
                </a:lnTo>
                <a:lnTo>
                  <a:pt x="369048" y="126037"/>
                </a:lnTo>
                <a:lnTo>
                  <a:pt x="337428" y="213238"/>
                </a:lnTo>
                <a:lnTo>
                  <a:pt x="335767" y="224471"/>
                </a:lnTo>
                <a:lnTo>
                  <a:pt x="338428" y="235097"/>
                </a:lnTo>
                <a:lnTo>
                  <a:pt x="344876" y="243938"/>
                </a:lnTo>
                <a:lnTo>
                  <a:pt x="354573" y="249814"/>
                </a:lnTo>
                <a:lnTo>
                  <a:pt x="365807" y="251475"/>
                </a:lnTo>
                <a:lnTo>
                  <a:pt x="376433" y="248813"/>
                </a:lnTo>
                <a:lnTo>
                  <a:pt x="385274" y="242366"/>
                </a:lnTo>
                <a:lnTo>
                  <a:pt x="391149" y="232669"/>
                </a:lnTo>
                <a:lnTo>
                  <a:pt x="450342" y="69607"/>
                </a:lnTo>
                <a:close/>
              </a:path>
              <a:path w="475615" h="403225">
                <a:moveTo>
                  <a:pt x="436747" y="69621"/>
                </a:moveTo>
                <a:lnTo>
                  <a:pt x="436747" y="64526"/>
                </a:lnTo>
                <a:lnTo>
                  <a:pt x="388408" y="72649"/>
                </a:lnTo>
                <a:lnTo>
                  <a:pt x="369048" y="126037"/>
                </a:lnTo>
                <a:lnTo>
                  <a:pt x="436747" y="69621"/>
                </a:lnTo>
                <a:close/>
              </a:path>
              <a:path w="475615" h="403225">
                <a:moveTo>
                  <a:pt x="436747" y="64526"/>
                </a:moveTo>
                <a:lnTo>
                  <a:pt x="405124" y="26548"/>
                </a:lnTo>
                <a:lnTo>
                  <a:pt x="388408" y="72649"/>
                </a:lnTo>
                <a:lnTo>
                  <a:pt x="436747" y="64526"/>
                </a:lnTo>
                <a:close/>
              </a:path>
            </a:pathLst>
          </a:custGeom>
          <a:solidFill>
            <a:srgbClr val="F6EB00"/>
          </a:solidFill>
        </p:spPr>
        <p:txBody>
          <a:bodyPr wrap="square" lIns="0" tIns="0" rIns="0" bIns="0" rtlCol="0"/>
          <a:lstStyle/>
          <a:p>
            <a:endParaRPr sz="1588"/>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9374" y="218486"/>
            <a:ext cx="9410395" cy="504323"/>
          </a:xfrm>
          <a:prstGeom prst="rect">
            <a:avLst/>
          </a:prstGeom>
        </p:spPr>
        <p:txBody>
          <a:bodyPr vert="horz" wrap="square" lIns="0" tIns="11766" rIns="0" bIns="0" rtlCol="0" anchor="t">
            <a:spAutoFit/>
          </a:bodyPr>
          <a:lstStyle/>
          <a:p>
            <a:pPr marL="11206">
              <a:lnSpc>
                <a:spcPct val="100000"/>
              </a:lnSpc>
              <a:spcBef>
                <a:spcPts val="93"/>
              </a:spcBef>
            </a:pPr>
            <a:r>
              <a:t>BRANCH–AND–BOUND</a:t>
            </a:r>
            <a:r>
              <a:rPr spc="-79"/>
              <a:t> </a:t>
            </a:r>
            <a:r>
              <a:rPr spc="-4"/>
              <a:t>METHOD</a:t>
            </a:r>
            <a:r>
              <a:rPr spc="-26"/>
              <a:t> </a:t>
            </a:r>
            <a:r>
              <a:t>(Cont…)</a:t>
            </a:r>
          </a:p>
        </p:txBody>
      </p:sp>
      <p:grpSp>
        <p:nvGrpSpPr>
          <p:cNvPr id="3" name="object 3"/>
          <p:cNvGrpSpPr/>
          <p:nvPr/>
        </p:nvGrpSpPr>
        <p:grpSpPr>
          <a:xfrm>
            <a:off x="1321167" y="722809"/>
            <a:ext cx="9934853" cy="5664543"/>
            <a:chOff x="1219200" y="990600"/>
            <a:chExt cx="8229599" cy="6248399"/>
          </a:xfrm>
        </p:grpSpPr>
        <p:pic>
          <p:nvPicPr>
            <p:cNvPr id="4" name="object 4"/>
            <p:cNvPicPr/>
            <p:nvPr/>
          </p:nvPicPr>
          <p:blipFill>
            <a:blip r:embed="rId2" cstate="print"/>
            <a:stretch>
              <a:fillRect/>
            </a:stretch>
          </p:blipFill>
          <p:spPr>
            <a:xfrm>
              <a:off x="1219200" y="990600"/>
              <a:ext cx="7315199" cy="3200399"/>
            </a:xfrm>
            <a:prstGeom prst="rect">
              <a:avLst/>
            </a:prstGeom>
          </p:spPr>
        </p:pic>
        <p:pic>
          <p:nvPicPr>
            <p:cNvPr id="6" name="object 6"/>
            <p:cNvPicPr/>
            <p:nvPr/>
          </p:nvPicPr>
          <p:blipFill>
            <a:blip r:embed="rId3" cstate="print"/>
            <a:stretch>
              <a:fillRect/>
            </a:stretch>
          </p:blipFill>
          <p:spPr>
            <a:xfrm>
              <a:off x="5105400" y="3581400"/>
              <a:ext cx="4343399" cy="3657599"/>
            </a:xfrm>
            <a:prstGeom prst="rect">
              <a:avLst/>
            </a:prstGeom>
          </p:spPr>
        </p:pic>
      </p:grpSp>
    </p:spTree>
    <p:extLst>
      <p:ext uri="{BB962C8B-B14F-4D97-AF65-F5344CB8AC3E}">
        <p14:creationId xmlns:p14="http://schemas.microsoft.com/office/powerpoint/2010/main" val="18267870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2595" y="236275"/>
            <a:ext cx="9313291" cy="504323"/>
          </a:xfrm>
          <a:prstGeom prst="rect">
            <a:avLst/>
          </a:prstGeom>
        </p:spPr>
        <p:txBody>
          <a:bodyPr vert="horz" wrap="square" lIns="0" tIns="11766" rIns="0" bIns="0" rtlCol="0" anchor="t">
            <a:spAutoFit/>
          </a:bodyPr>
          <a:lstStyle/>
          <a:p>
            <a:pPr marL="11206">
              <a:lnSpc>
                <a:spcPct val="100000"/>
              </a:lnSpc>
              <a:spcBef>
                <a:spcPts val="93"/>
              </a:spcBef>
            </a:pPr>
            <a:r>
              <a:t>BRANCH–AND–BOUND</a:t>
            </a:r>
            <a:r>
              <a:rPr spc="-79"/>
              <a:t> </a:t>
            </a:r>
            <a:r>
              <a:rPr spc="-4"/>
              <a:t>METHOD</a:t>
            </a:r>
            <a:r>
              <a:rPr spc="-26"/>
              <a:t> </a:t>
            </a:r>
            <a:r>
              <a:t>(Cont…)</a:t>
            </a:r>
          </a:p>
        </p:txBody>
      </p:sp>
      <p:grpSp>
        <p:nvGrpSpPr>
          <p:cNvPr id="3" name="object 3"/>
          <p:cNvGrpSpPr/>
          <p:nvPr/>
        </p:nvGrpSpPr>
        <p:grpSpPr>
          <a:xfrm>
            <a:off x="2063123" y="1143000"/>
            <a:ext cx="8037419" cy="5042647"/>
            <a:chOff x="458605" y="1295400"/>
            <a:chExt cx="9109075" cy="5715000"/>
          </a:xfrm>
        </p:grpSpPr>
        <p:pic>
          <p:nvPicPr>
            <p:cNvPr id="4" name="object 4"/>
            <p:cNvPicPr/>
            <p:nvPr/>
          </p:nvPicPr>
          <p:blipFill>
            <a:blip r:embed="rId2" cstate="print"/>
            <a:stretch>
              <a:fillRect/>
            </a:stretch>
          </p:blipFill>
          <p:spPr>
            <a:xfrm>
              <a:off x="990599" y="1295400"/>
              <a:ext cx="8000999" cy="5714999"/>
            </a:xfrm>
            <a:prstGeom prst="rect">
              <a:avLst/>
            </a:prstGeom>
          </p:spPr>
        </p:pic>
        <p:sp>
          <p:nvSpPr>
            <p:cNvPr id="5" name="object 5"/>
            <p:cNvSpPr/>
            <p:nvPr/>
          </p:nvSpPr>
          <p:spPr>
            <a:xfrm>
              <a:off x="487180" y="3765041"/>
              <a:ext cx="9051925" cy="3168015"/>
            </a:xfrm>
            <a:custGeom>
              <a:avLst/>
              <a:gdLst/>
              <a:ahLst/>
              <a:cxnLst/>
              <a:rect l="l" t="t" r="r" b="b"/>
              <a:pathLst>
                <a:path w="9051925" h="3168015">
                  <a:moveTo>
                    <a:pt x="2514581" y="43677"/>
                  </a:moveTo>
                  <a:lnTo>
                    <a:pt x="2573935" y="44104"/>
                  </a:lnTo>
                  <a:lnTo>
                    <a:pt x="2632952" y="45378"/>
                  </a:lnTo>
                  <a:lnTo>
                    <a:pt x="2691618" y="47489"/>
                  </a:lnTo>
                  <a:lnTo>
                    <a:pt x="2749915" y="50429"/>
                  </a:lnTo>
                  <a:lnTo>
                    <a:pt x="2807831" y="54187"/>
                  </a:lnTo>
                  <a:lnTo>
                    <a:pt x="2865349" y="58755"/>
                  </a:lnTo>
                  <a:lnTo>
                    <a:pt x="2922455" y="64123"/>
                  </a:lnTo>
                  <a:lnTo>
                    <a:pt x="2979133" y="70282"/>
                  </a:lnTo>
                  <a:lnTo>
                    <a:pt x="3035369" y="77222"/>
                  </a:lnTo>
                  <a:lnTo>
                    <a:pt x="3091146" y="84934"/>
                  </a:lnTo>
                  <a:lnTo>
                    <a:pt x="3146451" y="93409"/>
                  </a:lnTo>
                  <a:lnTo>
                    <a:pt x="3201268" y="102637"/>
                  </a:lnTo>
                  <a:lnTo>
                    <a:pt x="3255582" y="112609"/>
                  </a:lnTo>
                  <a:lnTo>
                    <a:pt x="3309378" y="123316"/>
                  </a:lnTo>
                  <a:lnTo>
                    <a:pt x="3362640" y="134748"/>
                  </a:lnTo>
                  <a:lnTo>
                    <a:pt x="3415354" y="146895"/>
                  </a:lnTo>
                  <a:lnTo>
                    <a:pt x="3467505" y="159749"/>
                  </a:lnTo>
                  <a:lnTo>
                    <a:pt x="3519077" y="173299"/>
                  </a:lnTo>
                  <a:lnTo>
                    <a:pt x="3570056" y="187538"/>
                  </a:lnTo>
                  <a:lnTo>
                    <a:pt x="3620425" y="202454"/>
                  </a:lnTo>
                  <a:lnTo>
                    <a:pt x="3670171" y="218040"/>
                  </a:lnTo>
                  <a:lnTo>
                    <a:pt x="3719278" y="234284"/>
                  </a:lnTo>
                  <a:lnTo>
                    <a:pt x="3767731" y="251179"/>
                  </a:lnTo>
                  <a:lnTo>
                    <a:pt x="3815515" y="268715"/>
                  </a:lnTo>
                  <a:lnTo>
                    <a:pt x="3862615" y="286882"/>
                  </a:lnTo>
                  <a:lnTo>
                    <a:pt x="3909016" y="305671"/>
                  </a:lnTo>
                  <a:lnTo>
                    <a:pt x="3954702" y="325072"/>
                  </a:lnTo>
                  <a:lnTo>
                    <a:pt x="3999658" y="345077"/>
                  </a:lnTo>
                  <a:lnTo>
                    <a:pt x="4043870" y="365676"/>
                  </a:lnTo>
                  <a:lnTo>
                    <a:pt x="4087322" y="386859"/>
                  </a:lnTo>
                  <a:lnTo>
                    <a:pt x="4130000" y="408617"/>
                  </a:lnTo>
                  <a:lnTo>
                    <a:pt x="4171888" y="430941"/>
                  </a:lnTo>
                  <a:lnTo>
                    <a:pt x="4212970" y="453821"/>
                  </a:lnTo>
                  <a:lnTo>
                    <a:pt x="4253233" y="477248"/>
                  </a:lnTo>
                  <a:lnTo>
                    <a:pt x="4292660" y="501213"/>
                  </a:lnTo>
                  <a:lnTo>
                    <a:pt x="4331238" y="525705"/>
                  </a:lnTo>
                  <a:lnTo>
                    <a:pt x="4368950" y="550717"/>
                  </a:lnTo>
                  <a:lnTo>
                    <a:pt x="4405781" y="576238"/>
                  </a:lnTo>
                  <a:lnTo>
                    <a:pt x="4441717" y="602259"/>
                  </a:lnTo>
                  <a:lnTo>
                    <a:pt x="4476742" y="628771"/>
                  </a:lnTo>
                  <a:lnTo>
                    <a:pt x="4510842" y="655764"/>
                  </a:lnTo>
                  <a:lnTo>
                    <a:pt x="4544000" y="683229"/>
                  </a:lnTo>
                  <a:lnTo>
                    <a:pt x="4576203" y="711157"/>
                  </a:lnTo>
                  <a:lnTo>
                    <a:pt x="4607435" y="739537"/>
                  </a:lnTo>
                  <a:lnTo>
                    <a:pt x="4637681" y="768362"/>
                  </a:lnTo>
                  <a:lnTo>
                    <a:pt x="4666925" y="797621"/>
                  </a:lnTo>
                  <a:lnTo>
                    <a:pt x="4695153" y="827305"/>
                  </a:lnTo>
                  <a:lnTo>
                    <a:pt x="4722350" y="857405"/>
                  </a:lnTo>
                  <a:lnTo>
                    <a:pt x="4748500" y="887910"/>
                  </a:lnTo>
                  <a:lnTo>
                    <a:pt x="4773589" y="918813"/>
                  </a:lnTo>
                  <a:lnTo>
                    <a:pt x="4797601" y="950104"/>
                  </a:lnTo>
                  <a:lnTo>
                    <a:pt x="4820521" y="981772"/>
                  </a:lnTo>
                  <a:lnTo>
                    <a:pt x="4842334" y="1013809"/>
                  </a:lnTo>
                  <a:lnTo>
                    <a:pt x="4863026" y="1046206"/>
                  </a:lnTo>
                  <a:lnTo>
                    <a:pt x="4882580" y="1078953"/>
                  </a:lnTo>
                  <a:lnTo>
                    <a:pt x="4918217" y="1145458"/>
                  </a:lnTo>
                  <a:lnTo>
                    <a:pt x="4949125" y="1213252"/>
                  </a:lnTo>
                  <a:lnTo>
                    <a:pt x="4975182" y="1282258"/>
                  </a:lnTo>
                  <a:lnTo>
                    <a:pt x="4996268" y="1352401"/>
                  </a:lnTo>
                  <a:lnTo>
                    <a:pt x="5012263" y="1423607"/>
                  </a:lnTo>
                  <a:lnTo>
                    <a:pt x="5023045" y="1495800"/>
                  </a:lnTo>
                  <a:lnTo>
                    <a:pt x="5028494" y="1568906"/>
                  </a:lnTo>
                  <a:lnTo>
                    <a:pt x="5029181" y="1605777"/>
                  </a:lnTo>
                  <a:lnTo>
                    <a:pt x="5028494" y="1642651"/>
                  </a:lnTo>
                  <a:lnTo>
                    <a:pt x="5023045" y="1715760"/>
                  </a:lnTo>
                  <a:lnTo>
                    <a:pt x="5012263" y="1787956"/>
                  </a:lnTo>
                  <a:lnTo>
                    <a:pt x="4996268" y="1859165"/>
                  </a:lnTo>
                  <a:lnTo>
                    <a:pt x="4975182" y="1929311"/>
                  </a:lnTo>
                  <a:lnTo>
                    <a:pt x="4949125" y="1998319"/>
                  </a:lnTo>
                  <a:lnTo>
                    <a:pt x="4918217" y="2066115"/>
                  </a:lnTo>
                  <a:lnTo>
                    <a:pt x="4882580" y="2132622"/>
                  </a:lnTo>
                  <a:lnTo>
                    <a:pt x="4863026" y="2165370"/>
                  </a:lnTo>
                  <a:lnTo>
                    <a:pt x="4842334" y="2197767"/>
                  </a:lnTo>
                  <a:lnTo>
                    <a:pt x="4820521" y="2229805"/>
                  </a:lnTo>
                  <a:lnTo>
                    <a:pt x="4797601" y="2261474"/>
                  </a:lnTo>
                  <a:lnTo>
                    <a:pt x="4773589" y="2292765"/>
                  </a:lnTo>
                  <a:lnTo>
                    <a:pt x="4748500" y="2323668"/>
                  </a:lnTo>
                  <a:lnTo>
                    <a:pt x="4722350" y="2354174"/>
                  </a:lnTo>
                  <a:lnTo>
                    <a:pt x="4695153" y="2384274"/>
                  </a:lnTo>
                  <a:lnTo>
                    <a:pt x="4666925" y="2413959"/>
                  </a:lnTo>
                  <a:lnTo>
                    <a:pt x="4637681" y="2443218"/>
                  </a:lnTo>
                  <a:lnTo>
                    <a:pt x="4607435" y="2472043"/>
                  </a:lnTo>
                  <a:lnTo>
                    <a:pt x="4576203" y="2500424"/>
                  </a:lnTo>
                  <a:lnTo>
                    <a:pt x="4544000" y="2528352"/>
                  </a:lnTo>
                  <a:lnTo>
                    <a:pt x="4510842" y="2555817"/>
                  </a:lnTo>
                  <a:lnTo>
                    <a:pt x="4476742" y="2582810"/>
                  </a:lnTo>
                  <a:lnTo>
                    <a:pt x="4441717" y="2609322"/>
                  </a:lnTo>
                  <a:lnTo>
                    <a:pt x="4405781" y="2635343"/>
                  </a:lnTo>
                  <a:lnTo>
                    <a:pt x="4368950" y="2660864"/>
                  </a:lnTo>
                  <a:lnTo>
                    <a:pt x="4331238" y="2685876"/>
                  </a:lnTo>
                  <a:lnTo>
                    <a:pt x="4292660" y="2710369"/>
                  </a:lnTo>
                  <a:lnTo>
                    <a:pt x="4253233" y="2734333"/>
                  </a:lnTo>
                  <a:lnTo>
                    <a:pt x="4212970" y="2757760"/>
                  </a:lnTo>
                  <a:lnTo>
                    <a:pt x="4171888" y="2780640"/>
                  </a:lnTo>
                  <a:lnTo>
                    <a:pt x="4130000" y="2802964"/>
                  </a:lnTo>
                  <a:lnTo>
                    <a:pt x="4087322" y="2824722"/>
                  </a:lnTo>
                  <a:lnTo>
                    <a:pt x="4043870" y="2845905"/>
                  </a:lnTo>
                  <a:lnTo>
                    <a:pt x="3999658" y="2866504"/>
                  </a:lnTo>
                  <a:lnTo>
                    <a:pt x="3954702" y="2886508"/>
                  </a:lnTo>
                  <a:lnTo>
                    <a:pt x="3909016" y="2905910"/>
                  </a:lnTo>
                  <a:lnTo>
                    <a:pt x="3862615" y="2924699"/>
                  </a:lnTo>
                  <a:lnTo>
                    <a:pt x="3815515" y="2942866"/>
                  </a:lnTo>
                  <a:lnTo>
                    <a:pt x="3767731" y="2960401"/>
                  </a:lnTo>
                  <a:lnTo>
                    <a:pt x="3719278" y="2977296"/>
                  </a:lnTo>
                  <a:lnTo>
                    <a:pt x="3670171" y="2993541"/>
                  </a:lnTo>
                  <a:lnTo>
                    <a:pt x="3620425" y="3009126"/>
                  </a:lnTo>
                  <a:lnTo>
                    <a:pt x="3570056" y="3024043"/>
                  </a:lnTo>
                  <a:lnTo>
                    <a:pt x="3519077" y="3038281"/>
                  </a:lnTo>
                  <a:lnTo>
                    <a:pt x="3467505" y="3051832"/>
                  </a:lnTo>
                  <a:lnTo>
                    <a:pt x="3415354" y="3064685"/>
                  </a:lnTo>
                  <a:lnTo>
                    <a:pt x="3362640" y="3076833"/>
                  </a:lnTo>
                  <a:lnTo>
                    <a:pt x="3309378" y="3088264"/>
                  </a:lnTo>
                  <a:lnTo>
                    <a:pt x="3255582" y="3098971"/>
                  </a:lnTo>
                  <a:lnTo>
                    <a:pt x="3201268" y="3108943"/>
                  </a:lnTo>
                  <a:lnTo>
                    <a:pt x="3146451" y="3118171"/>
                  </a:lnTo>
                  <a:lnTo>
                    <a:pt x="3091146" y="3126647"/>
                  </a:lnTo>
                  <a:lnTo>
                    <a:pt x="3035369" y="3134359"/>
                  </a:lnTo>
                  <a:lnTo>
                    <a:pt x="2979133" y="3141300"/>
                  </a:lnTo>
                  <a:lnTo>
                    <a:pt x="2922455" y="3147459"/>
                  </a:lnTo>
                  <a:lnTo>
                    <a:pt x="2865349" y="3152827"/>
                  </a:lnTo>
                  <a:lnTo>
                    <a:pt x="2807831" y="3157395"/>
                  </a:lnTo>
                  <a:lnTo>
                    <a:pt x="2749915" y="3161154"/>
                  </a:lnTo>
                  <a:lnTo>
                    <a:pt x="2691618" y="3164094"/>
                  </a:lnTo>
                  <a:lnTo>
                    <a:pt x="2632952" y="3166206"/>
                  </a:lnTo>
                  <a:lnTo>
                    <a:pt x="2573935" y="3167480"/>
                  </a:lnTo>
                  <a:lnTo>
                    <a:pt x="2514581" y="3167908"/>
                  </a:lnTo>
                  <a:lnTo>
                    <a:pt x="2455226" y="3167481"/>
                  </a:lnTo>
                  <a:lnTo>
                    <a:pt x="2396209" y="3166207"/>
                  </a:lnTo>
                  <a:lnTo>
                    <a:pt x="2337543" y="3164096"/>
                  </a:lnTo>
                  <a:lnTo>
                    <a:pt x="2279245" y="3161157"/>
                  </a:lnTo>
                  <a:lnTo>
                    <a:pt x="2221329" y="3157398"/>
                  </a:lnTo>
                  <a:lnTo>
                    <a:pt x="2163810" y="3152830"/>
                  </a:lnTo>
                  <a:lnTo>
                    <a:pt x="2106704" y="3147462"/>
                  </a:lnTo>
                  <a:lnTo>
                    <a:pt x="2050026" y="3141304"/>
                  </a:lnTo>
                  <a:lnTo>
                    <a:pt x="1993790" y="3134363"/>
                  </a:lnTo>
                  <a:lnTo>
                    <a:pt x="1938012" y="3126651"/>
                  </a:lnTo>
                  <a:lnTo>
                    <a:pt x="1882707" y="3118177"/>
                  </a:lnTo>
                  <a:lnTo>
                    <a:pt x="1827890" y="3108949"/>
                  </a:lnTo>
                  <a:lnTo>
                    <a:pt x="1773576" y="3098977"/>
                  </a:lnTo>
                  <a:lnTo>
                    <a:pt x="1719781" y="3088270"/>
                  </a:lnTo>
                  <a:lnTo>
                    <a:pt x="1666518" y="3076839"/>
                  </a:lnTo>
                  <a:lnTo>
                    <a:pt x="1613804" y="3064692"/>
                  </a:lnTo>
                  <a:lnTo>
                    <a:pt x="1561654" y="3051838"/>
                  </a:lnTo>
                  <a:lnTo>
                    <a:pt x="1510082" y="3038287"/>
                  </a:lnTo>
                  <a:lnTo>
                    <a:pt x="1459104" y="3024049"/>
                  </a:lnTo>
                  <a:lnTo>
                    <a:pt x="1408734" y="3009133"/>
                  </a:lnTo>
                  <a:lnTo>
                    <a:pt x="1358988" y="2993548"/>
                  </a:lnTo>
                  <a:lnTo>
                    <a:pt x="1309882" y="2977303"/>
                  </a:lnTo>
                  <a:lnTo>
                    <a:pt x="1261429" y="2960408"/>
                  </a:lnTo>
                  <a:lnTo>
                    <a:pt x="1213645" y="2942872"/>
                  </a:lnTo>
                  <a:lnTo>
                    <a:pt x="1166546" y="2924705"/>
                  </a:lnTo>
                  <a:lnTo>
                    <a:pt x="1120146" y="2905917"/>
                  </a:lnTo>
                  <a:lnTo>
                    <a:pt x="1074460" y="2886515"/>
                  </a:lnTo>
                  <a:lnTo>
                    <a:pt x="1029504" y="2866510"/>
                  </a:lnTo>
                  <a:lnTo>
                    <a:pt x="985292" y="2845912"/>
                  </a:lnTo>
                  <a:lnTo>
                    <a:pt x="941841" y="2824729"/>
                  </a:lnTo>
                  <a:lnTo>
                    <a:pt x="899164" y="2802970"/>
                  </a:lnTo>
                  <a:lnTo>
                    <a:pt x="857276" y="2780647"/>
                  </a:lnTo>
                  <a:lnTo>
                    <a:pt x="816194" y="2757766"/>
                  </a:lnTo>
                  <a:lnTo>
                    <a:pt x="775932" y="2734339"/>
                  </a:lnTo>
                  <a:lnTo>
                    <a:pt x="736505" y="2710374"/>
                  </a:lnTo>
                  <a:lnTo>
                    <a:pt x="697929" y="2685881"/>
                  </a:lnTo>
                  <a:lnTo>
                    <a:pt x="660217" y="2660870"/>
                  </a:lnTo>
                  <a:lnTo>
                    <a:pt x="623386" y="2635348"/>
                  </a:lnTo>
                  <a:lnTo>
                    <a:pt x="587451" y="2609327"/>
                  </a:lnTo>
                  <a:lnTo>
                    <a:pt x="552426" y="2582815"/>
                  </a:lnTo>
                  <a:lnTo>
                    <a:pt x="518327" y="2555821"/>
                  </a:lnTo>
                  <a:lnTo>
                    <a:pt x="485169" y="2528356"/>
                  </a:lnTo>
                  <a:lnTo>
                    <a:pt x="452967" y="2500428"/>
                  </a:lnTo>
                  <a:lnTo>
                    <a:pt x="421736" y="2472047"/>
                  </a:lnTo>
                  <a:lnTo>
                    <a:pt x="391491" y="2443222"/>
                  </a:lnTo>
                  <a:lnTo>
                    <a:pt x="362247" y="2413962"/>
                  </a:lnTo>
                  <a:lnTo>
                    <a:pt x="334019" y="2384278"/>
                  </a:lnTo>
                  <a:lnTo>
                    <a:pt x="306823" y="2354178"/>
                  </a:lnTo>
                  <a:lnTo>
                    <a:pt x="280673" y="2323671"/>
                  </a:lnTo>
                  <a:lnTo>
                    <a:pt x="255585" y="2292767"/>
                  </a:lnTo>
                  <a:lnTo>
                    <a:pt x="231574" y="2261476"/>
                  </a:lnTo>
                  <a:lnTo>
                    <a:pt x="208654" y="2229807"/>
                  </a:lnTo>
                  <a:lnTo>
                    <a:pt x="186841" y="2197769"/>
                  </a:lnTo>
                  <a:lnTo>
                    <a:pt x="166151" y="2165371"/>
                  </a:lnTo>
                  <a:lnTo>
                    <a:pt x="146597" y="2132624"/>
                  </a:lnTo>
                  <a:lnTo>
                    <a:pt x="110961" y="2066116"/>
                  </a:lnTo>
                  <a:lnTo>
                    <a:pt x="80054" y="1998320"/>
                  </a:lnTo>
                  <a:lnTo>
                    <a:pt x="53997" y="1929312"/>
                  </a:lnTo>
                  <a:lnTo>
                    <a:pt x="32911" y="1859166"/>
                  </a:lnTo>
                  <a:lnTo>
                    <a:pt x="16917" y="1787957"/>
                  </a:lnTo>
                  <a:lnTo>
                    <a:pt x="6135" y="1715760"/>
                  </a:lnTo>
                  <a:lnTo>
                    <a:pt x="686" y="1642651"/>
                  </a:lnTo>
                  <a:lnTo>
                    <a:pt x="0" y="1605777"/>
                  </a:lnTo>
                  <a:lnTo>
                    <a:pt x="690" y="1568867"/>
                  </a:lnTo>
                  <a:lnTo>
                    <a:pt x="6166" y="1495658"/>
                  </a:lnTo>
                  <a:lnTo>
                    <a:pt x="17004" y="1423333"/>
                  </a:lnTo>
                  <a:lnTo>
                    <a:pt x="33086" y="1351968"/>
                  </a:lnTo>
                  <a:lnTo>
                    <a:pt x="54293" y="1281643"/>
                  </a:lnTo>
                  <a:lnTo>
                    <a:pt x="80505" y="1212435"/>
                  </a:lnTo>
                  <a:lnTo>
                    <a:pt x="111605" y="1144424"/>
                  </a:lnTo>
                  <a:lnTo>
                    <a:pt x="147472" y="1077687"/>
                  </a:lnTo>
                  <a:lnTo>
                    <a:pt x="167157" y="1044821"/>
                  </a:lnTo>
                  <a:lnTo>
                    <a:pt x="187989" y="1012303"/>
                  </a:lnTo>
                  <a:lnTo>
                    <a:pt x="209954" y="980142"/>
                  </a:lnTo>
                  <a:lnTo>
                    <a:pt x="233036" y="948349"/>
                  </a:lnTo>
                  <a:lnTo>
                    <a:pt x="257222" y="916934"/>
                  </a:lnTo>
                  <a:lnTo>
                    <a:pt x="282495" y="885905"/>
                  </a:lnTo>
                  <a:lnTo>
                    <a:pt x="308842" y="855274"/>
                  </a:lnTo>
                  <a:lnTo>
                    <a:pt x="336247" y="825049"/>
                  </a:lnTo>
                  <a:lnTo>
                    <a:pt x="364695" y="795241"/>
                  </a:lnTo>
                  <a:lnTo>
                    <a:pt x="394172" y="765859"/>
                  </a:lnTo>
                  <a:lnTo>
                    <a:pt x="424663" y="736914"/>
                  </a:lnTo>
                  <a:lnTo>
                    <a:pt x="456153" y="708414"/>
                  </a:lnTo>
                  <a:lnTo>
                    <a:pt x="488627" y="680370"/>
                  </a:lnTo>
                  <a:lnTo>
                    <a:pt x="522070" y="652791"/>
                  </a:lnTo>
                  <a:lnTo>
                    <a:pt x="556468" y="625688"/>
                  </a:lnTo>
                  <a:lnTo>
                    <a:pt x="591805" y="599069"/>
                  </a:lnTo>
                  <a:lnTo>
                    <a:pt x="628067" y="572946"/>
                  </a:lnTo>
                  <a:lnTo>
                    <a:pt x="665238" y="547327"/>
                  </a:lnTo>
                  <a:lnTo>
                    <a:pt x="703305" y="522223"/>
                  </a:lnTo>
                  <a:lnTo>
                    <a:pt x="742251" y="497643"/>
                  </a:lnTo>
                  <a:lnTo>
                    <a:pt x="782063" y="473597"/>
                  </a:lnTo>
                  <a:lnTo>
                    <a:pt x="822725" y="450095"/>
                  </a:lnTo>
                  <a:lnTo>
                    <a:pt x="864223" y="427146"/>
                  </a:lnTo>
                  <a:lnTo>
                    <a:pt x="906541" y="404761"/>
                  </a:lnTo>
                  <a:lnTo>
                    <a:pt x="949666" y="382949"/>
                  </a:lnTo>
                  <a:lnTo>
                    <a:pt x="993581" y="361720"/>
                  </a:lnTo>
                  <a:lnTo>
                    <a:pt x="1038272" y="341084"/>
                  </a:lnTo>
                  <a:lnTo>
                    <a:pt x="1083725" y="321050"/>
                  </a:lnTo>
                  <a:lnTo>
                    <a:pt x="1129924" y="301629"/>
                  </a:lnTo>
                  <a:lnTo>
                    <a:pt x="1176854" y="282830"/>
                  </a:lnTo>
                  <a:lnTo>
                    <a:pt x="1224501" y="264663"/>
                  </a:lnTo>
                  <a:lnTo>
                    <a:pt x="1272851" y="247138"/>
                  </a:lnTo>
                  <a:lnTo>
                    <a:pt x="1321887" y="230264"/>
                  </a:lnTo>
                  <a:lnTo>
                    <a:pt x="1371595" y="214052"/>
                  </a:lnTo>
                  <a:lnTo>
                    <a:pt x="1421960" y="198510"/>
                  </a:lnTo>
                  <a:lnTo>
                    <a:pt x="1472968" y="183650"/>
                  </a:lnTo>
                  <a:lnTo>
                    <a:pt x="1524604" y="169480"/>
                  </a:lnTo>
                  <a:lnTo>
                    <a:pt x="1576852" y="156011"/>
                  </a:lnTo>
                  <a:lnTo>
                    <a:pt x="1629698" y="143252"/>
                  </a:lnTo>
                  <a:lnTo>
                    <a:pt x="1683127" y="131214"/>
                  </a:lnTo>
                  <a:lnTo>
                    <a:pt x="1737125" y="119905"/>
                  </a:lnTo>
                  <a:lnTo>
                    <a:pt x="1791675" y="109336"/>
                  </a:lnTo>
                  <a:lnTo>
                    <a:pt x="1846764" y="99516"/>
                  </a:lnTo>
                  <a:lnTo>
                    <a:pt x="1902377" y="90456"/>
                  </a:lnTo>
                  <a:lnTo>
                    <a:pt x="1958498" y="82164"/>
                  </a:lnTo>
                  <a:lnTo>
                    <a:pt x="2015114" y="74652"/>
                  </a:lnTo>
                  <a:lnTo>
                    <a:pt x="2072208" y="67928"/>
                  </a:lnTo>
                  <a:lnTo>
                    <a:pt x="2129767" y="62003"/>
                  </a:lnTo>
                  <a:lnTo>
                    <a:pt x="2187774" y="56886"/>
                  </a:lnTo>
                  <a:lnTo>
                    <a:pt x="2246217" y="52586"/>
                  </a:lnTo>
                  <a:lnTo>
                    <a:pt x="2305079" y="49115"/>
                  </a:lnTo>
                  <a:lnTo>
                    <a:pt x="2364345" y="46481"/>
                  </a:lnTo>
                </a:path>
                <a:path w="9051925" h="3168015">
                  <a:moveTo>
                    <a:pt x="6644377" y="0"/>
                  </a:moveTo>
                  <a:lnTo>
                    <a:pt x="6702863" y="452"/>
                  </a:lnTo>
                  <a:lnTo>
                    <a:pt x="6761006" y="1801"/>
                  </a:lnTo>
                  <a:lnTo>
                    <a:pt x="6818791" y="4037"/>
                  </a:lnTo>
                  <a:lnTo>
                    <a:pt x="6876202" y="7150"/>
                  </a:lnTo>
                  <a:lnTo>
                    <a:pt x="6933223" y="11130"/>
                  </a:lnTo>
                  <a:lnTo>
                    <a:pt x="6989839" y="15966"/>
                  </a:lnTo>
                  <a:lnTo>
                    <a:pt x="7046034" y="21648"/>
                  </a:lnTo>
                  <a:lnTo>
                    <a:pt x="7101792" y="28167"/>
                  </a:lnTo>
                  <a:lnTo>
                    <a:pt x="7157097" y="35510"/>
                  </a:lnTo>
                  <a:lnTo>
                    <a:pt x="7211934" y="43670"/>
                  </a:lnTo>
                  <a:lnTo>
                    <a:pt x="7266286" y="52634"/>
                  </a:lnTo>
                  <a:lnTo>
                    <a:pt x="7320138" y="62394"/>
                  </a:lnTo>
                  <a:lnTo>
                    <a:pt x="7373475" y="72938"/>
                  </a:lnTo>
                  <a:lnTo>
                    <a:pt x="7426280" y="84256"/>
                  </a:lnTo>
                  <a:lnTo>
                    <a:pt x="7478538" y="96339"/>
                  </a:lnTo>
                  <a:lnTo>
                    <a:pt x="7530233" y="109177"/>
                  </a:lnTo>
                  <a:lnTo>
                    <a:pt x="7581349" y="122757"/>
                  </a:lnTo>
                  <a:lnTo>
                    <a:pt x="7631871" y="137072"/>
                  </a:lnTo>
                  <a:lnTo>
                    <a:pt x="7681782" y="152110"/>
                  </a:lnTo>
                  <a:lnTo>
                    <a:pt x="7731067" y="167861"/>
                  </a:lnTo>
                  <a:lnTo>
                    <a:pt x="7779710" y="184315"/>
                  </a:lnTo>
                  <a:lnTo>
                    <a:pt x="7827696" y="201462"/>
                  </a:lnTo>
                  <a:lnTo>
                    <a:pt x="7875008" y="219291"/>
                  </a:lnTo>
                  <a:lnTo>
                    <a:pt x="7921631" y="237792"/>
                  </a:lnTo>
                  <a:lnTo>
                    <a:pt x="7967550" y="256956"/>
                  </a:lnTo>
                  <a:lnTo>
                    <a:pt x="8012747" y="276771"/>
                  </a:lnTo>
                  <a:lnTo>
                    <a:pt x="8057208" y="297228"/>
                  </a:lnTo>
                  <a:lnTo>
                    <a:pt x="8100917" y="318316"/>
                  </a:lnTo>
                  <a:lnTo>
                    <a:pt x="8143859" y="340025"/>
                  </a:lnTo>
                  <a:lnTo>
                    <a:pt x="8186016" y="362345"/>
                  </a:lnTo>
                  <a:lnTo>
                    <a:pt x="8227374" y="385265"/>
                  </a:lnTo>
                  <a:lnTo>
                    <a:pt x="8267916" y="408777"/>
                  </a:lnTo>
                  <a:lnTo>
                    <a:pt x="8307628" y="432868"/>
                  </a:lnTo>
                  <a:lnTo>
                    <a:pt x="8346493" y="457529"/>
                  </a:lnTo>
                  <a:lnTo>
                    <a:pt x="8384495" y="482750"/>
                  </a:lnTo>
                  <a:lnTo>
                    <a:pt x="8421619" y="508520"/>
                  </a:lnTo>
                  <a:lnTo>
                    <a:pt x="8457849" y="534830"/>
                  </a:lnTo>
                  <a:lnTo>
                    <a:pt x="8493169" y="561669"/>
                  </a:lnTo>
                  <a:lnTo>
                    <a:pt x="8527564" y="589026"/>
                  </a:lnTo>
                  <a:lnTo>
                    <a:pt x="8561017" y="616893"/>
                  </a:lnTo>
                  <a:lnTo>
                    <a:pt x="8593514" y="645257"/>
                  </a:lnTo>
                  <a:lnTo>
                    <a:pt x="8625037" y="674110"/>
                  </a:lnTo>
                  <a:lnTo>
                    <a:pt x="8655572" y="703440"/>
                  </a:lnTo>
                  <a:lnTo>
                    <a:pt x="8685102" y="733238"/>
                  </a:lnTo>
                  <a:lnTo>
                    <a:pt x="8713612" y="763494"/>
                  </a:lnTo>
                  <a:lnTo>
                    <a:pt x="8741087" y="794197"/>
                  </a:lnTo>
                  <a:lnTo>
                    <a:pt x="8767509" y="825336"/>
                  </a:lnTo>
                  <a:lnTo>
                    <a:pt x="8792864" y="856903"/>
                  </a:lnTo>
                  <a:lnTo>
                    <a:pt x="8817137" y="888886"/>
                  </a:lnTo>
                  <a:lnTo>
                    <a:pt x="8840310" y="921275"/>
                  </a:lnTo>
                  <a:lnTo>
                    <a:pt x="8862368" y="954061"/>
                  </a:lnTo>
                  <a:lnTo>
                    <a:pt x="8883296" y="987232"/>
                  </a:lnTo>
                  <a:lnTo>
                    <a:pt x="8903077" y="1020779"/>
                  </a:lnTo>
                  <a:lnTo>
                    <a:pt x="8921697" y="1054691"/>
                  </a:lnTo>
                  <a:lnTo>
                    <a:pt x="8939139" y="1088959"/>
                  </a:lnTo>
                  <a:lnTo>
                    <a:pt x="8955387" y="1123571"/>
                  </a:lnTo>
                  <a:lnTo>
                    <a:pt x="8984240" y="1193789"/>
                  </a:lnTo>
                  <a:lnTo>
                    <a:pt x="9008130" y="1265265"/>
                  </a:lnTo>
                  <a:lnTo>
                    <a:pt x="9026931" y="1337915"/>
                  </a:lnTo>
                  <a:lnTo>
                    <a:pt x="9040516" y="1411659"/>
                  </a:lnTo>
                  <a:lnTo>
                    <a:pt x="9048759" y="1486415"/>
                  </a:lnTo>
                  <a:lnTo>
                    <a:pt x="9051535" y="1562099"/>
                  </a:lnTo>
                  <a:lnTo>
                    <a:pt x="9050839" y="1600052"/>
                  </a:lnTo>
                  <a:lnTo>
                    <a:pt x="9045313" y="1675281"/>
                  </a:lnTo>
                  <a:lnTo>
                    <a:pt x="9034383" y="1749540"/>
                  </a:lnTo>
                  <a:lnTo>
                    <a:pt x="9018175" y="1822746"/>
                  </a:lnTo>
                  <a:lnTo>
                    <a:pt x="8996814" y="1894818"/>
                  </a:lnTo>
                  <a:lnTo>
                    <a:pt x="8970426" y="1965675"/>
                  </a:lnTo>
                  <a:lnTo>
                    <a:pt x="8939139" y="2035233"/>
                  </a:lnTo>
                  <a:lnTo>
                    <a:pt x="8921697" y="2069500"/>
                  </a:lnTo>
                  <a:lnTo>
                    <a:pt x="8903077" y="2103412"/>
                  </a:lnTo>
                  <a:lnTo>
                    <a:pt x="8883296" y="2136958"/>
                  </a:lnTo>
                  <a:lnTo>
                    <a:pt x="8862368" y="2170129"/>
                  </a:lnTo>
                  <a:lnTo>
                    <a:pt x="8840310" y="2202914"/>
                  </a:lnTo>
                  <a:lnTo>
                    <a:pt x="8817137" y="2235303"/>
                  </a:lnTo>
                  <a:lnTo>
                    <a:pt x="8792864" y="2267286"/>
                  </a:lnTo>
                  <a:lnTo>
                    <a:pt x="8767509" y="2298852"/>
                  </a:lnTo>
                  <a:lnTo>
                    <a:pt x="8741087" y="2329992"/>
                  </a:lnTo>
                  <a:lnTo>
                    <a:pt x="8713612" y="2360694"/>
                  </a:lnTo>
                  <a:lnTo>
                    <a:pt x="8685102" y="2390950"/>
                  </a:lnTo>
                  <a:lnTo>
                    <a:pt x="8655572" y="2420747"/>
                  </a:lnTo>
                  <a:lnTo>
                    <a:pt x="8625037" y="2450078"/>
                  </a:lnTo>
                  <a:lnTo>
                    <a:pt x="8593514" y="2478930"/>
                  </a:lnTo>
                  <a:lnTo>
                    <a:pt x="8561017" y="2507294"/>
                  </a:lnTo>
                  <a:lnTo>
                    <a:pt x="8527564" y="2535160"/>
                  </a:lnTo>
                  <a:lnTo>
                    <a:pt x="8493169" y="2562517"/>
                  </a:lnTo>
                  <a:lnTo>
                    <a:pt x="8457849" y="2589356"/>
                  </a:lnTo>
                  <a:lnTo>
                    <a:pt x="8421619" y="2615666"/>
                  </a:lnTo>
                  <a:lnTo>
                    <a:pt x="8384495" y="2641436"/>
                  </a:lnTo>
                  <a:lnTo>
                    <a:pt x="8346493" y="2666657"/>
                  </a:lnTo>
                  <a:lnTo>
                    <a:pt x="8307628" y="2691318"/>
                  </a:lnTo>
                  <a:lnTo>
                    <a:pt x="8267916" y="2715409"/>
                  </a:lnTo>
                  <a:lnTo>
                    <a:pt x="8227374" y="2738920"/>
                  </a:lnTo>
                  <a:lnTo>
                    <a:pt x="8186016" y="2761840"/>
                  </a:lnTo>
                  <a:lnTo>
                    <a:pt x="8143859" y="2784160"/>
                  </a:lnTo>
                  <a:lnTo>
                    <a:pt x="8100917" y="2805869"/>
                  </a:lnTo>
                  <a:lnTo>
                    <a:pt x="8057208" y="2826957"/>
                  </a:lnTo>
                  <a:lnTo>
                    <a:pt x="8012747" y="2847414"/>
                  </a:lnTo>
                  <a:lnTo>
                    <a:pt x="7967550" y="2867229"/>
                  </a:lnTo>
                  <a:lnTo>
                    <a:pt x="7921631" y="2886392"/>
                  </a:lnTo>
                  <a:lnTo>
                    <a:pt x="7875008" y="2904893"/>
                  </a:lnTo>
                  <a:lnTo>
                    <a:pt x="7827696" y="2922723"/>
                  </a:lnTo>
                  <a:lnTo>
                    <a:pt x="7779710" y="2939869"/>
                  </a:lnTo>
                  <a:lnTo>
                    <a:pt x="7731067" y="2956323"/>
                  </a:lnTo>
                  <a:lnTo>
                    <a:pt x="7681782" y="2972074"/>
                  </a:lnTo>
                  <a:lnTo>
                    <a:pt x="7631871" y="2987112"/>
                  </a:lnTo>
                  <a:lnTo>
                    <a:pt x="7581349" y="3001426"/>
                  </a:lnTo>
                  <a:lnTo>
                    <a:pt x="7530233" y="3015007"/>
                  </a:lnTo>
                  <a:lnTo>
                    <a:pt x="7478538" y="3027844"/>
                  </a:lnTo>
                  <a:lnTo>
                    <a:pt x="7426280" y="3039927"/>
                  </a:lnTo>
                  <a:lnTo>
                    <a:pt x="7373475" y="3051246"/>
                  </a:lnTo>
                  <a:lnTo>
                    <a:pt x="7320138" y="3061790"/>
                  </a:lnTo>
                  <a:lnTo>
                    <a:pt x="7266286" y="3071550"/>
                  </a:lnTo>
                  <a:lnTo>
                    <a:pt x="7211934" y="3080514"/>
                  </a:lnTo>
                  <a:lnTo>
                    <a:pt x="7157097" y="3088673"/>
                  </a:lnTo>
                  <a:lnTo>
                    <a:pt x="7101792" y="3096017"/>
                  </a:lnTo>
                  <a:lnTo>
                    <a:pt x="7046034" y="3102535"/>
                  </a:lnTo>
                  <a:lnTo>
                    <a:pt x="6989839" y="3108217"/>
                  </a:lnTo>
                  <a:lnTo>
                    <a:pt x="6933223" y="3113054"/>
                  </a:lnTo>
                  <a:lnTo>
                    <a:pt x="6876202" y="3117033"/>
                  </a:lnTo>
                  <a:lnTo>
                    <a:pt x="6818791" y="3120146"/>
                  </a:lnTo>
                  <a:lnTo>
                    <a:pt x="6761006" y="3122383"/>
                  </a:lnTo>
                  <a:lnTo>
                    <a:pt x="6702863" y="3123732"/>
                  </a:lnTo>
                  <a:lnTo>
                    <a:pt x="6644377" y="3124184"/>
                  </a:lnTo>
                  <a:lnTo>
                    <a:pt x="6585891" y="3123732"/>
                  </a:lnTo>
                  <a:lnTo>
                    <a:pt x="6527747" y="3122383"/>
                  </a:lnTo>
                  <a:lnTo>
                    <a:pt x="6469962" y="3120146"/>
                  </a:lnTo>
                  <a:lnTo>
                    <a:pt x="6412550" y="3117033"/>
                  </a:lnTo>
                  <a:lnTo>
                    <a:pt x="6355528" y="3113054"/>
                  </a:lnTo>
                  <a:lnTo>
                    <a:pt x="6298912" y="3108217"/>
                  </a:lnTo>
                  <a:lnTo>
                    <a:pt x="6242717" y="3102535"/>
                  </a:lnTo>
                  <a:lnTo>
                    <a:pt x="6186959" y="3096017"/>
                  </a:lnTo>
                  <a:lnTo>
                    <a:pt x="6131653" y="3088673"/>
                  </a:lnTo>
                  <a:lnTo>
                    <a:pt x="6076816" y="3080514"/>
                  </a:lnTo>
                  <a:lnTo>
                    <a:pt x="6022463" y="3071550"/>
                  </a:lnTo>
                  <a:lnTo>
                    <a:pt x="5968610" y="3061790"/>
                  </a:lnTo>
                  <a:lnTo>
                    <a:pt x="5915274" y="3051246"/>
                  </a:lnTo>
                  <a:lnTo>
                    <a:pt x="5862468" y="3039927"/>
                  </a:lnTo>
                  <a:lnTo>
                    <a:pt x="5810210" y="3027844"/>
                  </a:lnTo>
                  <a:lnTo>
                    <a:pt x="5758515" y="3015007"/>
                  </a:lnTo>
                  <a:lnTo>
                    <a:pt x="5707399" y="3001426"/>
                  </a:lnTo>
                  <a:lnTo>
                    <a:pt x="5656877" y="2987112"/>
                  </a:lnTo>
                  <a:lnTo>
                    <a:pt x="5606966" y="2972074"/>
                  </a:lnTo>
                  <a:lnTo>
                    <a:pt x="5557681" y="2956323"/>
                  </a:lnTo>
                  <a:lnTo>
                    <a:pt x="5509037" y="2939869"/>
                  </a:lnTo>
                  <a:lnTo>
                    <a:pt x="5461052" y="2922723"/>
                  </a:lnTo>
                  <a:lnTo>
                    <a:pt x="5413739" y="2904893"/>
                  </a:lnTo>
                  <a:lnTo>
                    <a:pt x="5367116" y="2886392"/>
                  </a:lnTo>
                  <a:lnTo>
                    <a:pt x="5321198" y="2867229"/>
                  </a:lnTo>
                  <a:lnTo>
                    <a:pt x="5276000" y="2847414"/>
                  </a:lnTo>
                  <a:lnTo>
                    <a:pt x="5231539" y="2826957"/>
                  </a:lnTo>
                  <a:lnTo>
                    <a:pt x="5187830" y="2805869"/>
                  </a:lnTo>
                  <a:lnTo>
                    <a:pt x="5144890" y="2784160"/>
                  </a:lnTo>
                  <a:lnTo>
                    <a:pt x="5102732" y="2761840"/>
                  </a:lnTo>
                  <a:lnTo>
                    <a:pt x="5061375" y="2738920"/>
                  </a:lnTo>
                  <a:lnTo>
                    <a:pt x="5020832" y="2715409"/>
                  </a:lnTo>
                  <a:lnTo>
                    <a:pt x="4981121" y="2691318"/>
                  </a:lnTo>
                  <a:lnTo>
                    <a:pt x="4942256" y="2666657"/>
                  </a:lnTo>
                  <a:lnTo>
                    <a:pt x="4904254" y="2641436"/>
                  </a:lnTo>
                  <a:lnTo>
                    <a:pt x="4867130" y="2615666"/>
                  </a:lnTo>
                  <a:lnTo>
                    <a:pt x="4830900" y="2589356"/>
                  </a:lnTo>
                  <a:lnTo>
                    <a:pt x="4795580" y="2562517"/>
                  </a:lnTo>
                  <a:lnTo>
                    <a:pt x="4761186" y="2535160"/>
                  </a:lnTo>
                  <a:lnTo>
                    <a:pt x="4727733" y="2507294"/>
                  </a:lnTo>
                  <a:lnTo>
                    <a:pt x="4695237" y="2478930"/>
                  </a:lnTo>
                  <a:lnTo>
                    <a:pt x="4663713" y="2450078"/>
                  </a:lnTo>
                  <a:lnTo>
                    <a:pt x="4633179" y="2420747"/>
                  </a:lnTo>
                  <a:lnTo>
                    <a:pt x="4603649" y="2390950"/>
                  </a:lnTo>
                  <a:lnTo>
                    <a:pt x="4575139" y="2360694"/>
                  </a:lnTo>
                  <a:lnTo>
                    <a:pt x="4547665" y="2329992"/>
                  </a:lnTo>
                  <a:lnTo>
                    <a:pt x="4521242" y="2298852"/>
                  </a:lnTo>
                  <a:lnTo>
                    <a:pt x="4495887" y="2267286"/>
                  </a:lnTo>
                  <a:lnTo>
                    <a:pt x="4471615" y="2235303"/>
                  </a:lnTo>
                  <a:lnTo>
                    <a:pt x="4448442" y="2202914"/>
                  </a:lnTo>
                  <a:lnTo>
                    <a:pt x="4426384" y="2170129"/>
                  </a:lnTo>
                  <a:lnTo>
                    <a:pt x="4405457" y="2136958"/>
                  </a:lnTo>
                  <a:lnTo>
                    <a:pt x="4385675" y="2103412"/>
                  </a:lnTo>
                  <a:lnTo>
                    <a:pt x="4367056" y="2069500"/>
                  </a:lnTo>
                  <a:lnTo>
                    <a:pt x="4349614" y="2035233"/>
                  </a:lnTo>
                  <a:lnTo>
                    <a:pt x="4333366" y="2000621"/>
                  </a:lnTo>
                  <a:lnTo>
                    <a:pt x="4304513" y="1930404"/>
                  </a:lnTo>
                  <a:lnTo>
                    <a:pt x="4280624" y="1858929"/>
                  </a:lnTo>
                  <a:lnTo>
                    <a:pt x="4261823" y="1786280"/>
                  </a:lnTo>
                  <a:lnTo>
                    <a:pt x="4248238" y="1712537"/>
                  </a:lnTo>
                  <a:lnTo>
                    <a:pt x="4239995" y="1637783"/>
                  </a:lnTo>
                  <a:lnTo>
                    <a:pt x="4237219" y="1562099"/>
                  </a:lnTo>
                  <a:lnTo>
                    <a:pt x="4237918" y="1524131"/>
                  </a:lnTo>
                  <a:lnTo>
                    <a:pt x="4243466" y="1448844"/>
                  </a:lnTo>
                  <a:lnTo>
                    <a:pt x="4254441" y="1374491"/>
                  </a:lnTo>
                  <a:lnTo>
                    <a:pt x="4270721" y="1301160"/>
                  </a:lnTo>
                  <a:lnTo>
                    <a:pt x="4292182" y="1228935"/>
                  </a:lnTo>
                  <a:lnTo>
                    <a:pt x="4318701" y="1157903"/>
                  </a:lnTo>
                  <a:lnTo>
                    <a:pt x="4333818" y="1122860"/>
                  </a:lnTo>
                  <a:lnTo>
                    <a:pt x="4350153" y="1088148"/>
                  </a:lnTo>
                  <a:lnTo>
                    <a:pt x="4367690" y="1053776"/>
                  </a:lnTo>
                  <a:lnTo>
                    <a:pt x="4386414" y="1019756"/>
                  </a:lnTo>
                  <a:lnTo>
                    <a:pt x="4406310" y="986097"/>
                  </a:lnTo>
                  <a:lnTo>
                    <a:pt x="4427362" y="952812"/>
                  </a:lnTo>
                  <a:lnTo>
                    <a:pt x="4449554" y="919910"/>
                  </a:lnTo>
                  <a:lnTo>
                    <a:pt x="4472871" y="887403"/>
                  </a:lnTo>
                  <a:lnTo>
                    <a:pt x="4497298" y="855300"/>
                  </a:lnTo>
                  <a:lnTo>
                    <a:pt x="4522819" y="823613"/>
                  </a:lnTo>
                  <a:lnTo>
                    <a:pt x="4549419" y="792352"/>
                  </a:lnTo>
                  <a:lnTo>
                    <a:pt x="4577082" y="761528"/>
                  </a:lnTo>
                  <a:lnTo>
                    <a:pt x="4605793" y="731152"/>
                  </a:lnTo>
                  <a:lnTo>
                    <a:pt x="4635536" y="701234"/>
                  </a:lnTo>
                  <a:lnTo>
                    <a:pt x="4666296" y="671785"/>
                  </a:lnTo>
                  <a:lnTo>
                    <a:pt x="4698057" y="642816"/>
                  </a:lnTo>
                  <a:lnTo>
                    <a:pt x="4730804" y="614337"/>
                  </a:lnTo>
                  <a:lnTo>
                    <a:pt x="4764521" y="586359"/>
                  </a:lnTo>
                  <a:lnTo>
                    <a:pt x="4799193" y="558893"/>
                  </a:lnTo>
                  <a:lnTo>
                    <a:pt x="4834805" y="531950"/>
                  </a:lnTo>
                  <a:lnTo>
                    <a:pt x="4871341" y="505539"/>
                  </a:lnTo>
                  <a:lnTo>
                    <a:pt x="4908785" y="479673"/>
                  </a:lnTo>
                  <a:lnTo>
                    <a:pt x="4947122" y="454361"/>
                  </a:lnTo>
                  <a:lnTo>
                    <a:pt x="4986337" y="429614"/>
                  </a:lnTo>
                  <a:lnTo>
                    <a:pt x="5026414" y="405443"/>
                  </a:lnTo>
                  <a:lnTo>
                    <a:pt x="5067338" y="381859"/>
                  </a:lnTo>
                  <a:lnTo>
                    <a:pt x="5109092" y="358872"/>
                  </a:lnTo>
                  <a:lnTo>
                    <a:pt x="5151663" y="336493"/>
                  </a:lnTo>
                  <a:lnTo>
                    <a:pt x="5195033" y="314732"/>
                  </a:lnTo>
                  <a:lnTo>
                    <a:pt x="5239189" y="293601"/>
                  </a:lnTo>
                  <a:lnTo>
                    <a:pt x="5284114" y="273110"/>
                  </a:lnTo>
                  <a:lnTo>
                    <a:pt x="5329792" y="253270"/>
                  </a:lnTo>
                  <a:lnTo>
                    <a:pt x="5376209" y="234091"/>
                  </a:lnTo>
                  <a:lnTo>
                    <a:pt x="5423349" y="215584"/>
                  </a:lnTo>
                  <a:lnTo>
                    <a:pt x="5471196" y="197760"/>
                  </a:lnTo>
                  <a:lnTo>
                    <a:pt x="5519735" y="180630"/>
                  </a:lnTo>
                  <a:lnTo>
                    <a:pt x="5568950" y="164203"/>
                  </a:lnTo>
                  <a:lnTo>
                    <a:pt x="5618827" y="148492"/>
                  </a:lnTo>
                  <a:lnTo>
                    <a:pt x="5669349" y="133506"/>
                  </a:lnTo>
                  <a:lnTo>
                    <a:pt x="5720501" y="119256"/>
                  </a:lnTo>
                  <a:lnTo>
                    <a:pt x="5772268" y="105753"/>
                  </a:lnTo>
                  <a:lnTo>
                    <a:pt x="5824634" y="93008"/>
                  </a:lnTo>
                  <a:lnTo>
                    <a:pt x="5877584" y="81031"/>
                  </a:lnTo>
                  <a:lnTo>
                    <a:pt x="5931101" y="69833"/>
                  </a:lnTo>
                  <a:lnTo>
                    <a:pt x="5985172" y="59424"/>
                  </a:lnTo>
                  <a:lnTo>
                    <a:pt x="6039780" y="49816"/>
                  </a:lnTo>
                  <a:lnTo>
                    <a:pt x="6094909" y="41019"/>
                  </a:lnTo>
                  <a:lnTo>
                    <a:pt x="6150545" y="33044"/>
                  </a:lnTo>
                  <a:lnTo>
                    <a:pt x="6206672" y="25901"/>
                  </a:lnTo>
                  <a:lnTo>
                    <a:pt x="6263274" y="19602"/>
                  </a:lnTo>
                  <a:lnTo>
                    <a:pt x="6320335" y="14156"/>
                  </a:lnTo>
                  <a:lnTo>
                    <a:pt x="6377842" y="9574"/>
                  </a:lnTo>
                  <a:lnTo>
                    <a:pt x="6435777" y="5868"/>
                  </a:lnTo>
                  <a:lnTo>
                    <a:pt x="6494126" y="3047"/>
                  </a:lnTo>
                </a:path>
              </a:pathLst>
            </a:custGeom>
            <a:ln w="57149">
              <a:solidFill>
                <a:srgbClr val="ED2124"/>
              </a:solidFill>
            </a:ln>
          </p:spPr>
          <p:txBody>
            <a:bodyPr wrap="square" lIns="0" tIns="0" rIns="0" bIns="0" rtlCol="0"/>
            <a:lstStyle/>
            <a:p>
              <a:endParaRPr sz="1588"/>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88336" y="230252"/>
            <a:ext cx="9297107" cy="504323"/>
          </a:xfrm>
          <a:prstGeom prst="rect">
            <a:avLst/>
          </a:prstGeom>
        </p:spPr>
        <p:txBody>
          <a:bodyPr vert="horz" wrap="square" lIns="0" tIns="11766" rIns="0" bIns="0" rtlCol="0" anchor="t">
            <a:spAutoFit/>
          </a:bodyPr>
          <a:lstStyle/>
          <a:p>
            <a:pPr marL="11206">
              <a:lnSpc>
                <a:spcPct val="100000"/>
              </a:lnSpc>
              <a:spcBef>
                <a:spcPts val="93"/>
              </a:spcBef>
            </a:pPr>
            <a:r>
              <a:t>BRANCH–AND–BOUND</a:t>
            </a:r>
            <a:r>
              <a:rPr spc="-79"/>
              <a:t> </a:t>
            </a:r>
            <a:r>
              <a:rPr spc="-4"/>
              <a:t>METHOD</a:t>
            </a:r>
            <a:r>
              <a:rPr spc="-26"/>
              <a:t> </a:t>
            </a:r>
            <a:r>
              <a:t>(Cont…)</a:t>
            </a:r>
          </a:p>
        </p:txBody>
      </p:sp>
      <p:grpSp>
        <p:nvGrpSpPr>
          <p:cNvPr id="3" name="object 3"/>
          <p:cNvGrpSpPr/>
          <p:nvPr/>
        </p:nvGrpSpPr>
        <p:grpSpPr>
          <a:xfrm>
            <a:off x="2088336" y="874059"/>
            <a:ext cx="7985872" cy="5522259"/>
            <a:chOff x="487180" y="990600"/>
            <a:chExt cx="9050655" cy="6258560"/>
          </a:xfrm>
        </p:grpSpPr>
        <p:pic>
          <p:nvPicPr>
            <p:cNvPr id="4" name="object 4"/>
            <p:cNvPicPr/>
            <p:nvPr/>
          </p:nvPicPr>
          <p:blipFill>
            <a:blip r:embed="rId2" cstate="print"/>
            <a:stretch>
              <a:fillRect/>
            </a:stretch>
          </p:blipFill>
          <p:spPr>
            <a:xfrm>
              <a:off x="487180" y="4038630"/>
              <a:ext cx="4237235" cy="3210046"/>
            </a:xfrm>
            <a:prstGeom prst="rect">
              <a:avLst/>
            </a:prstGeom>
          </p:spPr>
        </p:pic>
        <p:pic>
          <p:nvPicPr>
            <p:cNvPr id="5" name="object 5"/>
            <p:cNvPicPr/>
            <p:nvPr/>
          </p:nvPicPr>
          <p:blipFill>
            <a:blip r:embed="rId3" cstate="print"/>
            <a:stretch>
              <a:fillRect/>
            </a:stretch>
          </p:blipFill>
          <p:spPr>
            <a:xfrm>
              <a:off x="4784338" y="4038615"/>
              <a:ext cx="4648199" cy="3169157"/>
            </a:xfrm>
            <a:prstGeom prst="rect">
              <a:avLst/>
            </a:prstGeom>
          </p:spPr>
        </p:pic>
        <p:pic>
          <p:nvPicPr>
            <p:cNvPr id="6" name="object 6"/>
            <p:cNvPicPr/>
            <p:nvPr/>
          </p:nvPicPr>
          <p:blipFill>
            <a:blip r:embed="rId4" cstate="print"/>
            <a:stretch>
              <a:fillRect/>
            </a:stretch>
          </p:blipFill>
          <p:spPr>
            <a:xfrm>
              <a:off x="1904999" y="990600"/>
              <a:ext cx="5410199" cy="3124199"/>
            </a:xfrm>
            <a:prstGeom prst="rect">
              <a:avLst/>
            </a:prstGeom>
          </p:spPr>
        </p:pic>
        <p:sp>
          <p:nvSpPr>
            <p:cNvPr id="7" name="object 7"/>
            <p:cNvSpPr/>
            <p:nvPr/>
          </p:nvSpPr>
          <p:spPr>
            <a:xfrm>
              <a:off x="5181599" y="3921754"/>
              <a:ext cx="4343400" cy="2098040"/>
            </a:xfrm>
            <a:custGeom>
              <a:avLst/>
              <a:gdLst/>
              <a:ahLst/>
              <a:cxnLst/>
              <a:rect l="l" t="t" r="r" b="b"/>
              <a:pathLst>
                <a:path w="4343400" h="2098040">
                  <a:moveTo>
                    <a:pt x="4343399" y="1844039"/>
                  </a:moveTo>
                  <a:lnTo>
                    <a:pt x="4343399" y="828034"/>
                  </a:lnTo>
                  <a:lnTo>
                    <a:pt x="4339309" y="782365"/>
                  </a:lnTo>
                  <a:lnTo>
                    <a:pt x="4327514" y="739387"/>
                  </a:lnTo>
                  <a:lnTo>
                    <a:pt x="4308731" y="699816"/>
                  </a:lnTo>
                  <a:lnTo>
                    <a:pt x="4283676" y="664369"/>
                  </a:lnTo>
                  <a:lnTo>
                    <a:pt x="4253066" y="633762"/>
                  </a:lnTo>
                  <a:lnTo>
                    <a:pt x="4217616" y="608709"/>
                  </a:lnTo>
                  <a:lnTo>
                    <a:pt x="4178044" y="589928"/>
                  </a:lnTo>
                  <a:lnTo>
                    <a:pt x="4135064" y="578135"/>
                  </a:lnTo>
                  <a:lnTo>
                    <a:pt x="4089394" y="574045"/>
                  </a:lnTo>
                  <a:lnTo>
                    <a:pt x="1809749" y="574045"/>
                  </a:lnTo>
                  <a:lnTo>
                    <a:pt x="961003" y="0"/>
                  </a:lnTo>
                  <a:lnTo>
                    <a:pt x="723899" y="574045"/>
                  </a:lnTo>
                  <a:lnTo>
                    <a:pt x="253989" y="574045"/>
                  </a:lnTo>
                  <a:lnTo>
                    <a:pt x="208320" y="578135"/>
                  </a:lnTo>
                  <a:lnTo>
                    <a:pt x="165342" y="589928"/>
                  </a:lnTo>
                  <a:lnTo>
                    <a:pt x="125771" y="608709"/>
                  </a:lnTo>
                  <a:lnTo>
                    <a:pt x="90324" y="633762"/>
                  </a:lnTo>
                  <a:lnTo>
                    <a:pt x="59717" y="664369"/>
                  </a:lnTo>
                  <a:lnTo>
                    <a:pt x="34664" y="699816"/>
                  </a:lnTo>
                  <a:lnTo>
                    <a:pt x="15883" y="739387"/>
                  </a:lnTo>
                  <a:lnTo>
                    <a:pt x="4090" y="782365"/>
                  </a:lnTo>
                  <a:lnTo>
                    <a:pt x="0" y="828034"/>
                  </a:lnTo>
                  <a:lnTo>
                    <a:pt x="0" y="1844039"/>
                  </a:lnTo>
                  <a:lnTo>
                    <a:pt x="4090" y="1889710"/>
                  </a:lnTo>
                  <a:lnTo>
                    <a:pt x="15883" y="1932689"/>
                  </a:lnTo>
                  <a:lnTo>
                    <a:pt x="34664" y="1972261"/>
                  </a:lnTo>
                  <a:lnTo>
                    <a:pt x="59717" y="2007711"/>
                  </a:lnTo>
                  <a:lnTo>
                    <a:pt x="90324" y="2038321"/>
                  </a:lnTo>
                  <a:lnTo>
                    <a:pt x="125771" y="2063376"/>
                  </a:lnTo>
                  <a:lnTo>
                    <a:pt x="165342" y="2082159"/>
                  </a:lnTo>
                  <a:lnTo>
                    <a:pt x="208320" y="2093954"/>
                  </a:lnTo>
                  <a:lnTo>
                    <a:pt x="253989" y="2098045"/>
                  </a:lnTo>
                  <a:lnTo>
                    <a:pt x="4089394" y="2098045"/>
                  </a:lnTo>
                  <a:lnTo>
                    <a:pt x="4135064" y="2093954"/>
                  </a:lnTo>
                  <a:lnTo>
                    <a:pt x="4178044" y="2082159"/>
                  </a:lnTo>
                  <a:lnTo>
                    <a:pt x="4217616" y="2063376"/>
                  </a:lnTo>
                  <a:lnTo>
                    <a:pt x="4253066" y="2038321"/>
                  </a:lnTo>
                  <a:lnTo>
                    <a:pt x="4283676" y="2007711"/>
                  </a:lnTo>
                  <a:lnTo>
                    <a:pt x="4308731" y="1972261"/>
                  </a:lnTo>
                  <a:lnTo>
                    <a:pt x="4327514" y="1932689"/>
                  </a:lnTo>
                  <a:lnTo>
                    <a:pt x="4339309" y="1889710"/>
                  </a:lnTo>
                  <a:lnTo>
                    <a:pt x="4343399" y="1844039"/>
                  </a:lnTo>
                  <a:close/>
                </a:path>
              </a:pathLst>
            </a:custGeom>
            <a:solidFill>
              <a:srgbClr val="4F81BD"/>
            </a:solidFill>
          </p:spPr>
          <p:txBody>
            <a:bodyPr wrap="square" lIns="0" tIns="0" rIns="0" bIns="0" rtlCol="0"/>
            <a:lstStyle/>
            <a:p>
              <a:endParaRPr sz="1588"/>
            </a:p>
          </p:txBody>
        </p:sp>
        <p:sp>
          <p:nvSpPr>
            <p:cNvPr id="8" name="object 8"/>
            <p:cNvSpPr/>
            <p:nvPr/>
          </p:nvSpPr>
          <p:spPr>
            <a:xfrm>
              <a:off x="5181599" y="3921754"/>
              <a:ext cx="4343400" cy="2098040"/>
            </a:xfrm>
            <a:custGeom>
              <a:avLst/>
              <a:gdLst/>
              <a:ahLst/>
              <a:cxnLst/>
              <a:rect l="l" t="t" r="r" b="b"/>
              <a:pathLst>
                <a:path w="4343400" h="2098040">
                  <a:moveTo>
                    <a:pt x="0" y="828034"/>
                  </a:moveTo>
                  <a:lnTo>
                    <a:pt x="4090" y="782365"/>
                  </a:lnTo>
                  <a:lnTo>
                    <a:pt x="15883" y="739387"/>
                  </a:lnTo>
                  <a:lnTo>
                    <a:pt x="34664" y="699816"/>
                  </a:lnTo>
                  <a:lnTo>
                    <a:pt x="59717" y="664369"/>
                  </a:lnTo>
                  <a:lnTo>
                    <a:pt x="90324" y="633762"/>
                  </a:lnTo>
                  <a:lnTo>
                    <a:pt x="125771" y="608709"/>
                  </a:lnTo>
                  <a:lnTo>
                    <a:pt x="165342" y="589928"/>
                  </a:lnTo>
                  <a:lnTo>
                    <a:pt x="208320" y="578135"/>
                  </a:lnTo>
                  <a:lnTo>
                    <a:pt x="253989" y="574045"/>
                  </a:lnTo>
                  <a:lnTo>
                    <a:pt x="723899" y="574045"/>
                  </a:lnTo>
                  <a:lnTo>
                    <a:pt x="961003" y="0"/>
                  </a:lnTo>
                  <a:lnTo>
                    <a:pt x="1809749" y="574045"/>
                  </a:lnTo>
                  <a:lnTo>
                    <a:pt x="4089394" y="574045"/>
                  </a:lnTo>
                  <a:lnTo>
                    <a:pt x="4135064" y="578135"/>
                  </a:lnTo>
                  <a:lnTo>
                    <a:pt x="4178044" y="589928"/>
                  </a:lnTo>
                  <a:lnTo>
                    <a:pt x="4217616" y="608709"/>
                  </a:lnTo>
                  <a:lnTo>
                    <a:pt x="4253066" y="633762"/>
                  </a:lnTo>
                  <a:lnTo>
                    <a:pt x="4283676" y="664369"/>
                  </a:lnTo>
                  <a:lnTo>
                    <a:pt x="4308731" y="699816"/>
                  </a:lnTo>
                  <a:lnTo>
                    <a:pt x="4327514" y="739387"/>
                  </a:lnTo>
                  <a:lnTo>
                    <a:pt x="4339309" y="782365"/>
                  </a:lnTo>
                  <a:lnTo>
                    <a:pt x="4343399" y="828034"/>
                  </a:lnTo>
                  <a:lnTo>
                    <a:pt x="4343399" y="1844039"/>
                  </a:lnTo>
                  <a:lnTo>
                    <a:pt x="4339309" y="1889710"/>
                  </a:lnTo>
                  <a:lnTo>
                    <a:pt x="4327514" y="1932689"/>
                  </a:lnTo>
                  <a:lnTo>
                    <a:pt x="4308731" y="1972261"/>
                  </a:lnTo>
                  <a:lnTo>
                    <a:pt x="4283676" y="2007711"/>
                  </a:lnTo>
                  <a:lnTo>
                    <a:pt x="4253066" y="2038321"/>
                  </a:lnTo>
                  <a:lnTo>
                    <a:pt x="4217616" y="2063376"/>
                  </a:lnTo>
                  <a:lnTo>
                    <a:pt x="4178044" y="2082159"/>
                  </a:lnTo>
                  <a:lnTo>
                    <a:pt x="4135064" y="2093954"/>
                  </a:lnTo>
                  <a:lnTo>
                    <a:pt x="4089394" y="2098045"/>
                  </a:lnTo>
                  <a:lnTo>
                    <a:pt x="253989" y="2098045"/>
                  </a:lnTo>
                  <a:lnTo>
                    <a:pt x="208320" y="2093954"/>
                  </a:lnTo>
                  <a:lnTo>
                    <a:pt x="165342" y="2082159"/>
                  </a:lnTo>
                  <a:lnTo>
                    <a:pt x="125771" y="2063376"/>
                  </a:lnTo>
                  <a:lnTo>
                    <a:pt x="90324" y="2038321"/>
                  </a:lnTo>
                  <a:lnTo>
                    <a:pt x="59717" y="2007711"/>
                  </a:lnTo>
                  <a:lnTo>
                    <a:pt x="34664" y="1972261"/>
                  </a:lnTo>
                  <a:lnTo>
                    <a:pt x="15883" y="1932689"/>
                  </a:lnTo>
                  <a:lnTo>
                    <a:pt x="4090" y="1889710"/>
                  </a:lnTo>
                  <a:lnTo>
                    <a:pt x="0" y="1844039"/>
                  </a:lnTo>
                  <a:lnTo>
                    <a:pt x="0" y="828034"/>
                  </a:lnTo>
                  <a:close/>
                </a:path>
              </a:pathLst>
            </a:custGeom>
            <a:ln w="25400">
              <a:solidFill>
                <a:srgbClr val="365D8A"/>
              </a:solidFill>
            </a:ln>
          </p:spPr>
          <p:txBody>
            <a:bodyPr wrap="square" lIns="0" tIns="0" rIns="0" bIns="0" rtlCol="0"/>
            <a:lstStyle/>
            <a:p>
              <a:endParaRPr sz="1588"/>
            </a:p>
          </p:txBody>
        </p:sp>
      </p:grpSp>
      <p:sp>
        <p:nvSpPr>
          <p:cNvPr id="9" name="object 9"/>
          <p:cNvSpPr txBox="1"/>
          <p:nvPr/>
        </p:nvSpPr>
        <p:spPr>
          <a:xfrm>
            <a:off x="6343547" y="4022350"/>
            <a:ext cx="3610535" cy="1233125"/>
          </a:xfrm>
          <a:prstGeom prst="rect">
            <a:avLst/>
          </a:prstGeom>
        </p:spPr>
        <p:txBody>
          <a:bodyPr vert="horz" wrap="square" lIns="0" tIns="11206" rIns="0" bIns="0" rtlCol="0">
            <a:spAutoFit/>
          </a:bodyPr>
          <a:lstStyle/>
          <a:p>
            <a:pPr marL="33619" marR="26896" indent="-560" algn="just">
              <a:spcBef>
                <a:spcPts val="88"/>
              </a:spcBef>
            </a:pPr>
            <a:r>
              <a:rPr lang="en-US" sz="1588">
                <a:solidFill>
                  <a:srgbClr val="FFFFFF"/>
                </a:solidFill>
                <a:latin typeface="Tahoma"/>
                <a:cs typeface="Tahoma"/>
              </a:rPr>
              <a:t>The</a:t>
            </a:r>
            <a:r>
              <a:rPr lang="en-US" sz="1588" spc="4">
                <a:solidFill>
                  <a:srgbClr val="FFFFFF"/>
                </a:solidFill>
                <a:latin typeface="Tahoma"/>
                <a:cs typeface="Tahoma"/>
              </a:rPr>
              <a:t> </a:t>
            </a:r>
            <a:r>
              <a:rPr lang="en-US" sz="1588" spc="-4">
                <a:solidFill>
                  <a:srgbClr val="FFFFFF"/>
                </a:solidFill>
                <a:latin typeface="Tahoma"/>
                <a:cs typeface="Tahoma"/>
              </a:rPr>
              <a:t>Problem</a:t>
            </a:r>
            <a:r>
              <a:rPr lang="en-US" sz="1588">
                <a:solidFill>
                  <a:srgbClr val="FFFFFF"/>
                </a:solidFill>
                <a:latin typeface="Tahoma"/>
                <a:cs typeface="Tahoma"/>
              </a:rPr>
              <a:t> </a:t>
            </a:r>
            <a:r>
              <a:rPr lang="en-US" sz="1588" spc="-4">
                <a:solidFill>
                  <a:srgbClr val="FFFFFF"/>
                </a:solidFill>
                <a:latin typeface="Tahoma"/>
                <a:cs typeface="Tahoma"/>
              </a:rPr>
              <a:t>P</a:t>
            </a:r>
            <a:r>
              <a:rPr lang="en-US" sz="1588" spc="-6" baseline="-20833">
                <a:solidFill>
                  <a:srgbClr val="FFFFFF"/>
                </a:solidFill>
                <a:latin typeface="Tahoma"/>
                <a:cs typeface="Tahoma"/>
              </a:rPr>
              <a:t>7</a:t>
            </a:r>
            <a:r>
              <a:rPr lang="en-US" sz="1588" baseline="-20833">
                <a:solidFill>
                  <a:srgbClr val="FFFFFF"/>
                </a:solidFill>
                <a:latin typeface="Tahoma"/>
                <a:cs typeface="Tahoma"/>
              </a:rPr>
              <a:t> </a:t>
            </a:r>
            <a:r>
              <a:rPr lang="en-US" sz="1588">
                <a:solidFill>
                  <a:srgbClr val="FFFFFF"/>
                </a:solidFill>
                <a:latin typeface="Tahoma"/>
                <a:cs typeface="Tahoma"/>
              </a:rPr>
              <a:t>has</a:t>
            </a:r>
            <a:r>
              <a:rPr lang="en-US" sz="1588" spc="4">
                <a:solidFill>
                  <a:srgbClr val="FFFFFF"/>
                </a:solidFill>
                <a:latin typeface="Tahoma"/>
                <a:cs typeface="Tahoma"/>
              </a:rPr>
              <a:t> </a:t>
            </a:r>
            <a:r>
              <a:rPr lang="en-US" sz="1588" spc="-4">
                <a:solidFill>
                  <a:srgbClr val="FFFFFF"/>
                </a:solidFill>
                <a:latin typeface="Tahoma"/>
                <a:cs typeface="Tahoma"/>
              </a:rPr>
              <a:t>integer</a:t>
            </a:r>
            <a:r>
              <a:rPr lang="en-US" sz="1588" spc="485">
                <a:solidFill>
                  <a:srgbClr val="FFFFFF"/>
                </a:solidFill>
                <a:latin typeface="Tahoma"/>
                <a:cs typeface="Tahoma"/>
              </a:rPr>
              <a:t> </a:t>
            </a:r>
            <a:r>
              <a:rPr lang="en-US" sz="1588" spc="-4">
                <a:solidFill>
                  <a:srgbClr val="FFFFFF"/>
                </a:solidFill>
                <a:latin typeface="Tahoma"/>
                <a:cs typeface="Tahoma"/>
              </a:rPr>
              <a:t>solution. </a:t>
            </a:r>
            <a:r>
              <a:rPr lang="en-US" sz="1588" spc="-9">
                <a:solidFill>
                  <a:srgbClr val="FFFFFF"/>
                </a:solidFill>
                <a:latin typeface="Tahoma"/>
                <a:cs typeface="Tahoma"/>
              </a:rPr>
              <a:t>So, </a:t>
            </a:r>
            <a:r>
              <a:rPr lang="en-US" sz="1588" spc="-4">
                <a:solidFill>
                  <a:srgbClr val="FFFFFF"/>
                </a:solidFill>
                <a:latin typeface="Tahoma"/>
                <a:cs typeface="Tahoma"/>
              </a:rPr>
              <a:t>it is </a:t>
            </a:r>
            <a:r>
              <a:rPr lang="en-US" sz="1588">
                <a:solidFill>
                  <a:srgbClr val="FFFFFF"/>
                </a:solidFill>
                <a:latin typeface="Tahoma"/>
                <a:cs typeface="Tahoma"/>
              </a:rPr>
              <a:t>a </a:t>
            </a:r>
            <a:r>
              <a:rPr lang="en-US" sz="1588" spc="-4">
                <a:solidFill>
                  <a:srgbClr val="FFFFFF"/>
                </a:solidFill>
                <a:latin typeface="Tahoma"/>
                <a:cs typeface="Tahoma"/>
              </a:rPr>
              <a:t>fathomed node. Hence the current</a:t>
            </a:r>
            <a:r>
              <a:rPr lang="en-US" sz="1588">
                <a:solidFill>
                  <a:srgbClr val="FFFFFF"/>
                </a:solidFill>
                <a:latin typeface="Tahoma"/>
                <a:cs typeface="Tahoma"/>
              </a:rPr>
              <a:t> </a:t>
            </a:r>
            <a:r>
              <a:rPr lang="en-US" sz="1588" spc="-4">
                <a:solidFill>
                  <a:srgbClr val="FFFFFF"/>
                </a:solidFill>
                <a:latin typeface="Tahoma"/>
                <a:cs typeface="Tahoma"/>
              </a:rPr>
              <a:t>best</a:t>
            </a:r>
            <a:r>
              <a:rPr lang="en-US" sz="1588">
                <a:solidFill>
                  <a:srgbClr val="FFFFFF"/>
                </a:solidFill>
                <a:latin typeface="Tahoma"/>
                <a:cs typeface="Tahoma"/>
              </a:rPr>
              <a:t> </a:t>
            </a:r>
            <a:r>
              <a:rPr lang="en-US" sz="1588" spc="-4">
                <a:solidFill>
                  <a:srgbClr val="FFFFFF"/>
                </a:solidFill>
                <a:latin typeface="Tahoma"/>
                <a:cs typeface="Tahoma"/>
              </a:rPr>
              <a:t>lower</a:t>
            </a:r>
            <a:r>
              <a:rPr lang="en-US" sz="1588">
                <a:solidFill>
                  <a:srgbClr val="FFFFFF"/>
                </a:solidFill>
                <a:latin typeface="Tahoma"/>
                <a:cs typeface="Tahoma"/>
              </a:rPr>
              <a:t> bound</a:t>
            </a:r>
            <a:r>
              <a:rPr lang="en-US" sz="1588" spc="4">
                <a:solidFill>
                  <a:srgbClr val="FFFFFF"/>
                </a:solidFill>
                <a:latin typeface="Tahoma"/>
                <a:cs typeface="Tahoma"/>
              </a:rPr>
              <a:t> </a:t>
            </a:r>
            <a:r>
              <a:rPr lang="en-US" sz="1588">
                <a:solidFill>
                  <a:srgbClr val="FFFFFF"/>
                </a:solidFill>
                <a:latin typeface="Tahoma"/>
                <a:cs typeface="Tahoma"/>
              </a:rPr>
              <a:t>(Z</a:t>
            </a:r>
            <a:r>
              <a:rPr lang="en-US" sz="1588" baseline="-20833">
                <a:solidFill>
                  <a:srgbClr val="FFFFFF"/>
                </a:solidFill>
                <a:latin typeface="Tahoma"/>
                <a:cs typeface="Tahoma"/>
              </a:rPr>
              <a:t>B</a:t>
            </a:r>
            <a:r>
              <a:rPr lang="en-US" sz="1588">
                <a:solidFill>
                  <a:srgbClr val="FFFFFF"/>
                </a:solidFill>
                <a:latin typeface="Tahoma"/>
                <a:cs typeface="Tahoma"/>
              </a:rPr>
              <a:t>)</a:t>
            </a:r>
            <a:r>
              <a:rPr lang="en-US" sz="1588" spc="4">
                <a:solidFill>
                  <a:srgbClr val="FFFFFF"/>
                </a:solidFill>
                <a:latin typeface="Tahoma"/>
                <a:cs typeface="Tahoma"/>
              </a:rPr>
              <a:t> </a:t>
            </a:r>
            <a:r>
              <a:rPr lang="en-US" sz="1588" spc="-4">
                <a:solidFill>
                  <a:srgbClr val="FFFFFF"/>
                </a:solidFill>
                <a:latin typeface="Tahoma"/>
                <a:cs typeface="Tahoma"/>
              </a:rPr>
              <a:t>is updated to the objective </a:t>
            </a:r>
            <a:r>
              <a:rPr lang="en-US" sz="1588" spc="-9">
                <a:solidFill>
                  <a:srgbClr val="FFFFFF"/>
                </a:solidFill>
                <a:latin typeface="Tahoma"/>
                <a:cs typeface="Tahoma"/>
              </a:rPr>
              <a:t>function value </a:t>
            </a:r>
            <a:r>
              <a:rPr lang="en-US" sz="1588">
                <a:solidFill>
                  <a:srgbClr val="FFFFFF"/>
                </a:solidFill>
                <a:latin typeface="Tahoma"/>
                <a:cs typeface="Tahoma"/>
              </a:rPr>
              <a:t>90.</a:t>
            </a:r>
            <a:endParaRPr sz="1588">
              <a:latin typeface="Tahoma"/>
              <a:cs typeface="Tahoma"/>
            </a:endParaRPr>
          </a:p>
        </p:txBody>
      </p:sp>
      <p:grpSp>
        <p:nvGrpSpPr>
          <p:cNvPr id="10" name="object 10"/>
          <p:cNvGrpSpPr/>
          <p:nvPr/>
        </p:nvGrpSpPr>
        <p:grpSpPr>
          <a:xfrm>
            <a:off x="2117911" y="3491416"/>
            <a:ext cx="3854824" cy="1898837"/>
            <a:chOff x="520699" y="3956938"/>
            <a:chExt cx="4368800" cy="2152015"/>
          </a:xfrm>
        </p:grpSpPr>
        <p:sp>
          <p:nvSpPr>
            <p:cNvPr id="11" name="object 11"/>
            <p:cNvSpPr/>
            <p:nvPr/>
          </p:nvSpPr>
          <p:spPr>
            <a:xfrm>
              <a:off x="533399" y="3969638"/>
              <a:ext cx="4343400" cy="2126615"/>
            </a:xfrm>
            <a:custGeom>
              <a:avLst/>
              <a:gdLst/>
              <a:ahLst/>
              <a:cxnLst/>
              <a:rect l="l" t="t" r="r" b="b"/>
              <a:pathLst>
                <a:path w="4343400" h="2126615">
                  <a:moveTo>
                    <a:pt x="4343399" y="1846950"/>
                  </a:moveTo>
                  <a:lnTo>
                    <a:pt x="4343399" y="729355"/>
                  </a:lnTo>
                  <a:lnTo>
                    <a:pt x="4339742" y="684036"/>
                  </a:lnTo>
                  <a:lnTo>
                    <a:pt x="4329154" y="641045"/>
                  </a:lnTo>
                  <a:lnTo>
                    <a:pt x="4312210" y="600958"/>
                  </a:lnTo>
                  <a:lnTo>
                    <a:pt x="4289487" y="564349"/>
                  </a:lnTo>
                  <a:lnTo>
                    <a:pt x="4261559" y="531794"/>
                  </a:lnTo>
                  <a:lnTo>
                    <a:pt x="4229001" y="503868"/>
                  </a:lnTo>
                  <a:lnTo>
                    <a:pt x="4192390" y="481146"/>
                  </a:lnTo>
                  <a:lnTo>
                    <a:pt x="4152301" y="464204"/>
                  </a:lnTo>
                  <a:lnTo>
                    <a:pt x="4109309" y="453617"/>
                  </a:lnTo>
                  <a:lnTo>
                    <a:pt x="4063989" y="449960"/>
                  </a:lnTo>
                  <a:lnTo>
                    <a:pt x="3619499" y="449960"/>
                  </a:lnTo>
                  <a:lnTo>
                    <a:pt x="2804784" y="0"/>
                  </a:lnTo>
                  <a:lnTo>
                    <a:pt x="2533649" y="449960"/>
                  </a:lnTo>
                  <a:lnTo>
                    <a:pt x="279397" y="449960"/>
                  </a:lnTo>
                  <a:lnTo>
                    <a:pt x="234078" y="453617"/>
                  </a:lnTo>
                  <a:lnTo>
                    <a:pt x="191087" y="464204"/>
                  </a:lnTo>
                  <a:lnTo>
                    <a:pt x="150999" y="481146"/>
                  </a:lnTo>
                  <a:lnTo>
                    <a:pt x="114390" y="503868"/>
                  </a:lnTo>
                  <a:lnTo>
                    <a:pt x="81834" y="531794"/>
                  </a:lnTo>
                  <a:lnTo>
                    <a:pt x="53908" y="564349"/>
                  </a:lnTo>
                  <a:lnTo>
                    <a:pt x="31186" y="600958"/>
                  </a:lnTo>
                  <a:lnTo>
                    <a:pt x="14244" y="641045"/>
                  </a:lnTo>
                  <a:lnTo>
                    <a:pt x="3656" y="684036"/>
                  </a:lnTo>
                  <a:lnTo>
                    <a:pt x="0" y="729355"/>
                  </a:lnTo>
                  <a:lnTo>
                    <a:pt x="0" y="1846950"/>
                  </a:lnTo>
                  <a:lnTo>
                    <a:pt x="3656" y="1892270"/>
                  </a:lnTo>
                  <a:lnTo>
                    <a:pt x="14244" y="1935262"/>
                  </a:lnTo>
                  <a:lnTo>
                    <a:pt x="31186" y="1975351"/>
                  </a:lnTo>
                  <a:lnTo>
                    <a:pt x="53908" y="2011962"/>
                  </a:lnTo>
                  <a:lnTo>
                    <a:pt x="81834" y="2044520"/>
                  </a:lnTo>
                  <a:lnTo>
                    <a:pt x="114390" y="2072448"/>
                  </a:lnTo>
                  <a:lnTo>
                    <a:pt x="150999" y="2095172"/>
                  </a:lnTo>
                  <a:lnTo>
                    <a:pt x="191087" y="2112115"/>
                  </a:lnTo>
                  <a:lnTo>
                    <a:pt x="234078" y="2122703"/>
                  </a:lnTo>
                  <a:lnTo>
                    <a:pt x="279397" y="2126360"/>
                  </a:lnTo>
                  <a:lnTo>
                    <a:pt x="4063989" y="2126360"/>
                  </a:lnTo>
                  <a:lnTo>
                    <a:pt x="4109309" y="2122703"/>
                  </a:lnTo>
                  <a:lnTo>
                    <a:pt x="4152301" y="2112115"/>
                  </a:lnTo>
                  <a:lnTo>
                    <a:pt x="4192390" y="2095172"/>
                  </a:lnTo>
                  <a:lnTo>
                    <a:pt x="4229001" y="2072448"/>
                  </a:lnTo>
                  <a:lnTo>
                    <a:pt x="4261559" y="2044520"/>
                  </a:lnTo>
                  <a:lnTo>
                    <a:pt x="4289487" y="2011962"/>
                  </a:lnTo>
                  <a:lnTo>
                    <a:pt x="4312210" y="1975351"/>
                  </a:lnTo>
                  <a:lnTo>
                    <a:pt x="4329154" y="1935262"/>
                  </a:lnTo>
                  <a:lnTo>
                    <a:pt x="4339742" y="1892270"/>
                  </a:lnTo>
                  <a:lnTo>
                    <a:pt x="4343399" y="1846950"/>
                  </a:lnTo>
                  <a:close/>
                </a:path>
              </a:pathLst>
            </a:custGeom>
            <a:solidFill>
              <a:srgbClr val="4F81BD"/>
            </a:solidFill>
          </p:spPr>
          <p:txBody>
            <a:bodyPr wrap="square" lIns="0" tIns="0" rIns="0" bIns="0" rtlCol="0"/>
            <a:lstStyle/>
            <a:p>
              <a:endParaRPr sz="1588"/>
            </a:p>
          </p:txBody>
        </p:sp>
        <p:sp>
          <p:nvSpPr>
            <p:cNvPr id="12" name="object 12"/>
            <p:cNvSpPr/>
            <p:nvPr/>
          </p:nvSpPr>
          <p:spPr>
            <a:xfrm>
              <a:off x="533399" y="3969638"/>
              <a:ext cx="4343400" cy="2126615"/>
            </a:xfrm>
            <a:custGeom>
              <a:avLst/>
              <a:gdLst/>
              <a:ahLst/>
              <a:cxnLst/>
              <a:rect l="l" t="t" r="r" b="b"/>
              <a:pathLst>
                <a:path w="4343400" h="2126615">
                  <a:moveTo>
                    <a:pt x="0" y="729355"/>
                  </a:moveTo>
                  <a:lnTo>
                    <a:pt x="3656" y="684036"/>
                  </a:lnTo>
                  <a:lnTo>
                    <a:pt x="14244" y="641045"/>
                  </a:lnTo>
                  <a:lnTo>
                    <a:pt x="31186" y="600958"/>
                  </a:lnTo>
                  <a:lnTo>
                    <a:pt x="53908" y="564349"/>
                  </a:lnTo>
                  <a:lnTo>
                    <a:pt x="81834" y="531794"/>
                  </a:lnTo>
                  <a:lnTo>
                    <a:pt x="114390" y="503868"/>
                  </a:lnTo>
                  <a:lnTo>
                    <a:pt x="150999" y="481146"/>
                  </a:lnTo>
                  <a:lnTo>
                    <a:pt x="191087" y="464204"/>
                  </a:lnTo>
                  <a:lnTo>
                    <a:pt x="234078" y="453617"/>
                  </a:lnTo>
                  <a:lnTo>
                    <a:pt x="279397" y="449960"/>
                  </a:lnTo>
                  <a:lnTo>
                    <a:pt x="2533649" y="449960"/>
                  </a:lnTo>
                  <a:lnTo>
                    <a:pt x="2804784" y="0"/>
                  </a:lnTo>
                  <a:lnTo>
                    <a:pt x="3619499" y="449960"/>
                  </a:lnTo>
                  <a:lnTo>
                    <a:pt x="4063989" y="449960"/>
                  </a:lnTo>
                  <a:lnTo>
                    <a:pt x="4109309" y="453617"/>
                  </a:lnTo>
                  <a:lnTo>
                    <a:pt x="4152301" y="464204"/>
                  </a:lnTo>
                  <a:lnTo>
                    <a:pt x="4192390" y="481146"/>
                  </a:lnTo>
                  <a:lnTo>
                    <a:pt x="4229001" y="503868"/>
                  </a:lnTo>
                  <a:lnTo>
                    <a:pt x="4261559" y="531794"/>
                  </a:lnTo>
                  <a:lnTo>
                    <a:pt x="4289487" y="564349"/>
                  </a:lnTo>
                  <a:lnTo>
                    <a:pt x="4312210" y="600958"/>
                  </a:lnTo>
                  <a:lnTo>
                    <a:pt x="4329154" y="641045"/>
                  </a:lnTo>
                  <a:lnTo>
                    <a:pt x="4339742" y="684036"/>
                  </a:lnTo>
                  <a:lnTo>
                    <a:pt x="4343399" y="729355"/>
                  </a:lnTo>
                  <a:lnTo>
                    <a:pt x="4343399" y="1846950"/>
                  </a:lnTo>
                  <a:lnTo>
                    <a:pt x="4339742" y="1892270"/>
                  </a:lnTo>
                  <a:lnTo>
                    <a:pt x="4329154" y="1935262"/>
                  </a:lnTo>
                  <a:lnTo>
                    <a:pt x="4312210" y="1975351"/>
                  </a:lnTo>
                  <a:lnTo>
                    <a:pt x="4289487" y="2011962"/>
                  </a:lnTo>
                  <a:lnTo>
                    <a:pt x="4261559" y="2044520"/>
                  </a:lnTo>
                  <a:lnTo>
                    <a:pt x="4229001" y="2072448"/>
                  </a:lnTo>
                  <a:lnTo>
                    <a:pt x="4192390" y="2095172"/>
                  </a:lnTo>
                  <a:lnTo>
                    <a:pt x="4152301" y="2112115"/>
                  </a:lnTo>
                  <a:lnTo>
                    <a:pt x="4109309" y="2122703"/>
                  </a:lnTo>
                  <a:lnTo>
                    <a:pt x="4063989" y="2126360"/>
                  </a:lnTo>
                  <a:lnTo>
                    <a:pt x="279397" y="2126360"/>
                  </a:lnTo>
                  <a:lnTo>
                    <a:pt x="234078" y="2122703"/>
                  </a:lnTo>
                  <a:lnTo>
                    <a:pt x="191087" y="2112115"/>
                  </a:lnTo>
                  <a:lnTo>
                    <a:pt x="150999" y="2095172"/>
                  </a:lnTo>
                  <a:lnTo>
                    <a:pt x="114390" y="2072448"/>
                  </a:lnTo>
                  <a:lnTo>
                    <a:pt x="81834" y="2044520"/>
                  </a:lnTo>
                  <a:lnTo>
                    <a:pt x="53908" y="2011962"/>
                  </a:lnTo>
                  <a:lnTo>
                    <a:pt x="31186" y="1975351"/>
                  </a:lnTo>
                  <a:lnTo>
                    <a:pt x="14244" y="1935262"/>
                  </a:lnTo>
                  <a:lnTo>
                    <a:pt x="3656" y="1892270"/>
                  </a:lnTo>
                  <a:lnTo>
                    <a:pt x="0" y="1846950"/>
                  </a:lnTo>
                  <a:lnTo>
                    <a:pt x="0" y="729355"/>
                  </a:lnTo>
                  <a:close/>
                </a:path>
              </a:pathLst>
            </a:custGeom>
            <a:ln w="25400">
              <a:solidFill>
                <a:srgbClr val="365D8A"/>
              </a:solidFill>
            </a:ln>
          </p:spPr>
          <p:txBody>
            <a:bodyPr wrap="square" lIns="0" tIns="0" rIns="0" bIns="0" rtlCol="0"/>
            <a:lstStyle/>
            <a:p>
              <a:endParaRPr sz="1588"/>
            </a:p>
          </p:txBody>
        </p:sp>
      </p:grpSp>
      <p:sp>
        <p:nvSpPr>
          <p:cNvPr id="13" name="object 13"/>
          <p:cNvSpPr txBox="1"/>
          <p:nvPr/>
        </p:nvSpPr>
        <p:spPr>
          <a:xfrm>
            <a:off x="2248430" y="3901326"/>
            <a:ext cx="3595407" cy="1477486"/>
          </a:xfrm>
          <a:prstGeom prst="rect">
            <a:avLst/>
          </a:prstGeom>
        </p:spPr>
        <p:txBody>
          <a:bodyPr vert="horz" wrap="square" lIns="0" tIns="11206" rIns="0" bIns="0" rtlCol="0">
            <a:spAutoFit/>
          </a:bodyPr>
          <a:lstStyle/>
          <a:p>
            <a:pPr marL="33619" marR="26896" indent="-560" algn="just">
              <a:spcBef>
                <a:spcPts val="88"/>
              </a:spcBef>
            </a:pPr>
            <a:r>
              <a:rPr lang="en-US" sz="1588">
                <a:solidFill>
                  <a:srgbClr val="FFFFFF"/>
                </a:solidFill>
                <a:latin typeface="Tahoma"/>
                <a:cs typeface="Tahoma"/>
              </a:rPr>
              <a:t>The</a:t>
            </a:r>
            <a:r>
              <a:rPr lang="en-US" sz="1588" spc="331">
                <a:solidFill>
                  <a:srgbClr val="FFFFFF"/>
                </a:solidFill>
                <a:latin typeface="Tahoma"/>
                <a:cs typeface="Tahoma"/>
              </a:rPr>
              <a:t> </a:t>
            </a:r>
            <a:r>
              <a:rPr lang="en-US" sz="1588" spc="-4">
                <a:solidFill>
                  <a:srgbClr val="FFFFFF"/>
                </a:solidFill>
                <a:latin typeface="Tahoma"/>
                <a:cs typeface="Tahoma"/>
              </a:rPr>
              <a:t>solution</a:t>
            </a:r>
            <a:r>
              <a:rPr lang="en-US" sz="1588" spc="331">
                <a:solidFill>
                  <a:srgbClr val="FFFFFF"/>
                </a:solidFill>
                <a:latin typeface="Tahoma"/>
                <a:cs typeface="Tahoma"/>
              </a:rPr>
              <a:t> </a:t>
            </a:r>
            <a:r>
              <a:rPr lang="en-US" sz="1588" spc="-4">
                <a:solidFill>
                  <a:srgbClr val="FFFFFF"/>
                </a:solidFill>
                <a:latin typeface="Tahoma"/>
                <a:cs typeface="Tahoma"/>
              </a:rPr>
              <a:t>of</a:t>
            </a:r>
            <a:r>
              <a:rPr lang="en-US" sz="1588" spc="331">
                <a:solidFill>
                  <a:srgbClr val="FFFFFF"/>
                </a:solidFill>
                <a:latin typeface="Tahoma"/>
                <a:cs typeface="Tahoma"/>
              </a:rPr>
              <a:t> </a:t>
            </a:r>
            <a:r>
              <a:rPr lang="en-US" sz="1588">
                <a:solidFill>
                  <a:srgbClr val="FFFFFF"/>
                </a:solidFill>
                <a:latin typeface="Tahoma"/>
                <a:cs typeface="Tahoma"/>
              </a:rPr>
              <a:t>P</a:t>
            </a:r>
            <a:r>
              <a:rPr lang="en-US" sz="1588" baseline="-20833">
                <a:solidFill>
                  <a:srgbClr val="FFFFFF"/>
                </a:solidFill>
                <a:latin typeface="Tahoma"/>
                <a:cs typeface="Tahoma"/>
              </a:rPr>
              <a:t>6</a:t>
            </a:r>
            <a:r>
              <a:rPr lang="en-US" sz="1588" spc="350" baseline="-20833">
                <a:solidFill>
                  <a:srgbClr val="FFFFFF"/>
                </a:solidFill>
                <a:latin typeface="Tahoma"/>
                <a:cs typeface="Tahoma"/>
              </a:rPr>
              <a:t> </a:t>
            </a:r>
            <a:r>
              <a:rPr lang="en-US" sz="1588" spc="-4">
                <a:solidFill>
                  <a:srgbClr val="FFFFFF"/>
                </a:solidFill>
                <a:latin typeface="Tahoma"/>
                <a:cs typeface="Tahoma"/>
              </a:rPr>
              <a:t>is</a:t>
            </a:r>
            <a:r>
              <a:rPr lang="en-US" sz="1588" spc="326">
                <a:solidFill>
                  <a:srgbClr val="FFFFFF"/>
                </a:solidFill>
                <a:latin typeface="Tahoma"/>
                <a:cs typeface="Tahoma"/>
              </a:rPr>
              <a:t> </a:t>
            </a:r>
            <a:r>
              <a:rPr lang="en-US" sz="1588" spc="-4">
                <a:solidFill>
                  <a:srgbClr val="FFFFFF"/>
                </a:solidFill>
                <a:latin typeface="Tahoma"/>
                <a:cs typeface="Tahoma"/>
              </a:rPr>
              <a:t>non–integer</a:t>
            </a:r>
            <a:r>
              <a:rPr lang="en-US" sz="1588" spc="331">
                <a:solidFill>
                  <a:srgbClr val="FFFFFF"/>
                </a:solidFill>
                <a:latin typeface="Tahoma"/>
                <a:cs typeface="Tahoma"/>
              </a:rPr>
              <a:t> </a:t>
            </a:r>
            <a:r>
              <a:rPr lang="en-US" sz="1588">
                <a:solidFill>
                  <a:srgbClr val="FFFFFF"/>
                </a:solidFill>
                <a:latin typeface="Tahoma"/>
                <a:cs typeface="Tahoma"/>
              </a:rPr>
              <a:t>and </a:t>
            </a:r>
            <a:r>
              <a:rPr lang="en-US" sz="1588" spc="-4">
                <a:solidFill>
                  <a:srgbClr val="FFFFFF"/>
                </a:solidFill>
                <a:latin typeface="Tahoma"/>
                <a:cs typeface="Tahoma"/>
              </a:rPr>
              <a:t>its </a:t>
            </a:r>
            <a:r>
              <a:rPr lang="en-US" sz="1588">
                <a:solidFill>
                  <a:srgbClr val="FFFFFF"/>
                </a:solidFill>
                <a:latin typeface="Tahoma"/>
                <a:cs typeface="Tahoma"/>
              </a:rPr>
              <a:t>Z</a:t>
            </a:r>
            <a:r>
              <a:rPr lang="en-US" sz="1588" baseline="-20833">
                <a:solidFill>
                  <a:srgbClr val="FFFFFF"/>
                </a:solidFill>
                <a:latin typeface="Tahoma"/>
                <a:cs typeface="Tahoma"/>
              </a:rPr>
              <a:t>L</a:t>
            </a:r>
            <a:r>
              <a:rPr lang="en-US" sz="1588" spc="6" baseline="-20833">
                <a:solidFill>
                  <a:srgbClr val="FFFFFF"/>
                </a:solidFill>
                <a:latin typeface="Tahoma"/>
                <a:cs typeface="Tahoma"/>
              </a:rPr>
              <a:t> </a:t>
            </a:r>
            <a:r>
              <a:rPr lang="en-US" sz="1588">
                <a:solidFill>
                  <a:srgbClr val="FFFFFF"/>
                </a:solidFill>
                <a:latin typeface="Tahoma"/>
                <a:cs typeface="Tahoma"/>
              </a:rPr>
              <a:t>= 80 and </a:t>
            </a:r>
            <a:r>
              <a:rPr lang="en-US" sz="1588" spc="-4">
                <a:solidFill>
                  <a:srgbClr val="FFFFFF"/>
                </a:solidFill>
                <a:latin typeface="Tahoma"/>
                <a:cs typeface="Tahoma"/>
              </a:rPr>
              <a:t>Z</a:t>
            </a:r>
            <a:r>
              <a:rPr lang="en-US" sz="1588" spc="-6" baseline="-20833">
                <a:solidFill>
                  <a:srgbClr val="FFFFFF"/>
                </a:solidFill>
                <a:latin typeface="Tahoma"/>
                <a:cs typeface="Tahoma"/>
              </a:rPr>
              <a:t>U </a:t>
            </a:r>
            <a:r>
              <a:rPr lang="en-US" sz="1588">
                <a:solidFill>
                  <a:srgbClr val="FFFFFF"/>
                </a:solidFill>
                <a:latin typeface="Tahoma"/>
                <a:cs typeface="Tahoma"/>
              </a:rPr>
              <a:t>= 90. </a:t>
            </a:r>
            <a:r>
              <a:rPr lang="en-US" sz="1588" spc="-4">
                <a:solidFill>
                  <a:srgbClr val="FFFFFF"/>
                </a:solidFill>
                <a:latin typeface="Tahoma"/>
                <a:cs typeface="Tahoma"/>
              </a:rPr>
              <a:t>Since, Z</a:t>
            </a:r>
            <a:r>
              <a:rPr lang="en-US" sz="1588" spc="-6" baseline="-20833">
                <a:solidFill>
                  <a:srgbClr val="FFFFFF"/>
                </a:solidFill>
                <a:latin typeface="Tahoma"/>
                <a:cs typeface="Tahoma"/>
              </a:rPr>
              <a:t>U </a:t>
            </a:r>
            <a:r>
              <a:rPr lang="en-US" sz="1588">
                <a:solidFill>
                  <a:srgbClr val="FFFFFF"/>
                </a:solidFill>
                <a:latin typeface="Tahoma"/>
                <a:cs typeface="Tahoma"/>
              </a:rPr>
              <a:t>≤ </a:t>
            </a:r>
            <a:r>
              <a:rPr lang="en-US" sz="1588" spc="-4">
                <a:solidFill>
                  <a:srgbClr val="FFFFFF"/>
                </a:solidFill>
                <a:latin typeface="Tahoma"/>
                <a:cs typeface="Tahoma"/>
              </a:rPr>
              <a:t>(Current best </a:t>
            </a:r>
            <a:r>
              <a:rPr lang="en-US" sz="1588">
                <a:solidFill>
                  <a:srgbClr val="FFFFFF"/>
                </a:solidFill>
                <a:latin typeface="Tahoma"/>
                <a:cs typeface="Tahoma"/>
              </a:rPr>
              <a:t>Z</a:t>
            </a:r>
            <a:r>
              <a:rPr lang="en-US" sz="1588" baseline="-20833">
                <a:solidFill>
                  <a:srgbClr val="FFFFFF"/>
                </a:solidFill>
                <a:latin typeface="Tahoma"/>
                <a:cs typeface="Tahoma"/>
              </a:rPr>
              <a:t>L </a:t>
            </a:r>
            <a:r>
              <a:rPr lang="en-US" sz="1588">
                <a:solidFill>
                  <a:srgbClr val="FFFFFF"/>
                </a:solidFill>
                <a:latin typeface="Tahoma"/>
                <a:cs typeface="Tahoma"/>
              </a:rPr>
              <a:t>=90), </a:t>
            </a:r>
            <a:r>
              <a:rPr lang="en-US" sz="1588" spc="-4">
                <a:solidFill>
                  <a:srgbClr val="FFFFFF"/>
                </a:solidFill>
                <a:latin typeface="Tahoma"/>
                <a:cs typeface="Tahoma"/>
              </a:rPr>
              <a:t>the node </a:t>
            </a:r>
            <a:r>
              <a:rPr lang="en-US" sz="1588">
                <a:solidFill>
                  <a:srgbClr val="FFFFFF"/>
                </a:solidFill>
                <a:latin typeface="Tahoma"/>
                <a:cs typeface="Tahoma"/>
              </a:rPr>
              <a:t>P6 </a:t>
            </a:r>
            <a:r>
              <a:rPr lang="en-US" sz="1588" spc="-4">
                <a:solidFill>
                  <a:srgbClr val="FFFFFF"/>
                </a:solidFill>
                <a:latin typeface="Tahoma"/>
                <a:cs typeface="Tahoma"/>
              </a:rPr>
              <a:t>is also</a:t>
            </a:r>
            <a:r>
              <a:rPr lang="en-US" sz="1588">
                <a:solidFill>
                  <a:srgbClr val="FFFFFF"/>
                </a:solidFill>
                <a:latin typeface="Tahoma"/>
                <a:cs typeface="Tahoma"/>
              </a:rPr>
              <a:t> </a:t>
            </a:r>
            <a:r>
              <a:rPr lang="en-US" sz="1588" spc="-4">
                <a:solidFill>
                  <a:srgbClr val="FFFFFF"/>
                </a:solidFill>
                <a:latin typeface="Tahoma"/>
                <a:cs typeface="Tahoma"/>
              </a:rPr>
              <a:t>fathomed</a:t>
            </a:r>
            <a:r>
              <a:rPr lang="en-US" sz="1588">
                <a:solidFill>
                  <a:srgbClr val="FFFFFF"/>
                </a:solidFill>
                <a:latin typeface="Tahoma"/>
                <a:cs typeface="Tahoma"/>
              </a:rPr>
              <a:t> and</a:t>
            </a:r>
            <a:r>
              <a:rPr lang="en-US" sz="1588" spc="4">
                <a:solidFill>
                  <a:srgbClr val="FFFFFF"/>
                </a:solidFill>
                <a:latin typeface="Tahoma"/>
                <a:cs typeface="Tahoma"/>
              </a:rPr>
              <a:t> </a:t>
            </a:r>
            <a:r>
              <a:rPr lang="en-US" sz="1588" spc="-4">
                <a:solidFill>
                  <a:srgbClr val="FFFFFF"/>
                </a:solidFill>
                <a:latin typeface="Tahoma"/>
                <a:cs typeface="Tahoma"/>
              </a:rPr>
              <a:t>it</a:t>
            </a:r>
            <a:r>
              <a:rPr lang="en-US" sz="1588">
                <a:solidFill>
                  <a:srgbClr val="FFFFFF"/>
                </a:solidFill>
                <a:latin typeface="Tahoma"/>
                <a:cs typeface="Tahoma"/>
              </a:rPr>
              <a:t> has</a:t>
            </a:r>
            <a:r>
              <a:rPr lang="en-US" sz="1588" spc="4">
                <a:solidFill>
                  <a:srgbClr val="FFFFFF"/>
                </a:solidFill>
                <a:latin typeface="Tahoma"/>
                <a:cs typeface="Tahoma"/>
              </a:rPr>
              <a:t> </a:t>
            </a:r>
            <a:r>
              <a:rPr lang="en-US" sz="1588" spc="-4">
                <a:solidFill>
                  <a:srgbClr val="FFFFFF"/>
                </a:solidFill>
                <a:latin typeface="Tahoma"/>
                <a:cs typeface="Tahoma"/>
              </a:rPr>
              <a:t>infeasible solution in terms of </a:t>
            </a:r>
            <a:r>
              <a:rPr lang="en-US" sz="1588">
                <a:solidFill>
                  <a:srgbClr val="FFFFFF"/>
                </a:solidFill>
                <a:latin typeface="Tahoma"/>
                <a:cs typeface="Tahoma"/>
              </a:rPr>
              <a:t>not </a:t>
            </a:r>
            <a:r>
              <a:rPr lang="en-US" sz="1588" spc="-4">
                <a:solidFill>
                  <a:srgbClr val="FFFFFF"/>
                </a:solidFill>
                <a:latin typeface="Tahoma"/>
                <a:cs typeface="Tahoma"/>
              </a:rPr>
              <a:t>fulfilling integer </a:t>
            </a:r>
            <a:r>
              <a:rPr lang="en-US" sz="1588" spc="-9">
                <a:solidFill>
                  <a:srgbClr val="FFFFFF"/>
                </a:solidFill>
                <a:latin typeface="Tahoma"/>
                <a:cs typeface="Tahoma"/>
              </a:rPr>
              <a:t>constraints</a:t>
            </a:r>
            <a:r>
              <a:rPr lang="en-US" sz="1588" spc="-26">
                <a:solidFill>
                  <a:srgbClr val="FFFFFF"/>
                </a:solidFill>
                <a:latin typeface="Tahoma"/>
                <a:cs typeface="Tahoma"/>
              </a:rPr>
              <a:t> </a:t>
            </a:r>
            <a:r>
              <a:rPr lang="en-US" sz="1588" spc="-9">
                <a:solidFill>
                  <a:srgbClr val="FFFFFF"/>
                </a:solidFill>
                <a:latin typeface="Tahoma"/>
                <a:cs typeface="Tahoma"/>
              </a:rPr>
              <a:t>for</a:t>
            </a:r>
            <a:r>
              <a:rPr lang="en-US" sz="1588" spc="-4">
                <a:solidFill>
                  <a:srgbClr val="FFFFFF"/>
                </a:solidFill>
                <a:latin typeface="Tahoma"/>
                <a:cs typeface="Tahoma"/>
              </a:rPr>
              <a:t> the</a:t>
            </a:r>
            <a:r>
              <a:rPr lang="en-US" sz="1588" spc="-13">
                <a:solidFill>
                  <a:srgbClr val="FFFFFF"/>
                </a:solidFill>
                <a:latin typeface="Tahoma"/>
                <a:cs typeface="Tahoma"/>
              </a:rPr>
              <a:t> </a:t>
            </a:r>
            <a:r>
              <a:rPr lang="en-US" sz="1588" spc="-4">
                <a:solidFill>
                  <a:srgbClr val="FFFFFF"/>
                </a:solidFill>
                <a:latin typeface="Tahoma"/>
                <a:cs typeface="Tahoma"/>
              </a:rPr>
              <a:t>decision</a:t>
            </a:r>
            <a:r>
              <a:rPr lang="en-US" sz="1588">
                <a:solidFill>
                  <a:srgbClr val="FFFFFF"/>
                </a:solidFill>
                <a:latin typeface="Tahoma"/>
                <a:cs typeface="Tahoma"/>
              </a:rPr>
              <a:t> </a:t>
            </a:r>
            <a:r>
              <a:rPr lang="en-US" sz="1588" spc="-4">
                <a:solidFill>
                  <a:srgbClr val="FFFFFF"/>
                </a:solidFill>
                <a:latin typeface="Tahoma"/>
                <a:cs typeface="Tahoma"/>
              </a:rPr>
              <a:t>variables.</a:t>
            </a:r>
            <a:endParaRPr sz="1588">
              <a:latin typeface="Tahoma"/>
              <a:cs typeface="Tahom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50822" y="190934"/>
            <a:ext cx="9491316" cy="504323"/>
          </a:xfrm>
          <a:prstGeom prst="rect">
            <a:avLst/>
          </a:prstGeom>
        </p:spPr>
        <p:txBody>
          <a:bodyPr vert="horz" wrap="square" lIns="0" tIns="11766" rIns="0" bIns="0" rtlCol="0" anchor="t">
            <a:spAutoFit/>
          </a:bodyPr>
          <a:lstStyle/>
          <a:p>
            <a:pPr marL="11206">
              <a:lnSpc>
                <a:spcPct val="100000"/>
              </a:lnSpc>
              <a:spcBef>
                <a:spcPts val="93"/>
              </a:spcBef>
            </a:pPr>
            <a:r>
              <a:t>BRANCH–AND–BOUND</a:t>
            </a:r>
            <a:r>
              <a:rPr spc="-79"/>
              <a:t> </a:t>
            </a:r>
            <a:r>
              <a:rPr spc="-4"/>
              <a:t>METHOD</a:t>
            </a:r>
            <a:r>
              <a:rPr spc="-26"/>
              <a:t> </a:t>
            </a:r>
            <a:r>
              <a:t>(Cont…)</a:t>
            </a:r>
          </a:p>
        </p:txBody>
      </p:sp>
      <p:sp>
        <p:nvSpPr>
          <p:cNvPr id="3" name="object 3"/>
          <p:cNvSpPr txBox="1"/>
          <p:nvPr/>
        </p:nvSpPr>
        <p:spPr>
          <a:xfrm>
            <a:off x="1102527" y="896324"/>
            <a:ext cx="10602685" cy="255678"/>
          </a:xfrm>
          <a:prstGeom prst="rect">
            <a:avLst/>
          </a:prstGeom>
        </p:spPr>
        <p:txBody>
          <a:bodyPr vert="horz" wrap="square" lIns="0" tIns="11206" rIns="0" bIns="0" rtlCol="0">
            <a:spAutoFit/>
          </a:bodyPr>
          <a:lstStyle/>
          <a:p>
            <a:pPr marL="22413">
              <a:spcBef>
                <a:spcPts val="88"/>
              </a:spcBef>
            </a:pPr>
            <a:r>
              <a:rPr sz="1588" spc="-18" dirty="0">
                <a:solidFill>
                  <a:srgbClr val="231F20"/>
                </a:solidFill>
                <a:latin typeface="Tahoma"/>
                <a:cs typeface="Tahoma"/>
              </a:rPr>
              <a:t>Now,</a:t>
            </a:r>
            <a:r>
              <a:rPr sz="1588" spc="296" dirty="0">
                <a:solidFill>
                  <a:srgbClr val="231F20"/>
                </a:solidFill>
                <a:latin typeface="Tahoma"/>
                <a:cs typeface="Tahoma"/>
              </a:rPr>
              <a:t> </a:t>
            </a:r>
            <a:r>
              <a:rPr sz="1588" spc="-4" dirty="0">
                <a:solidFill>
                  <a:srgbClr val="231F20"/>
                </a:solidFill>
                <a:latin typeface="Tahoma"/>
                <a:cs typeface="Tahoma"/>
              </a:rPr>
              <a:t>the</a:t>
            </a:r>
            <a:r>
              <a:rPr sz="1588" spc="300" dirty="0">
                <a:solidFill>
                  <a:srgbClr val="231F20"/>
                </a:solidFill>
                <a:latin typeface="Tahoma"/>
                <a:cs typeface="Tahoma"/>
              </a:rPr>
              <a:t> </a:t>
            </a:r>
            <a:r>
              <a:rPr sz="1588" spc="-4" dirty="0">
                <a:solidFill>
                  <a:srgbClr val="231F20"/>
                </a:solidFill>
                <a:latin typeface="Tahoma"/>
                <a:cs typeface="Tahoma"/>
              </a:rPr>
              <a:t>Only</a:t>
            </a:r>
            <a:r>
              <a:rPr sz="1588" spc="296" dirty="0">
                <a:solidFill>
                  <a:srgbClr val="231F20"/>
                </a:solidFill>
                <a:latin typeface="Tahoma"/>
                <a:cs typeface="Tahoma"/>
              </a:rPr>
              <a:t> </a:t>
            </a:r>
            <a:r>
              <a:rPr sz="1588" spc="-4" dirty="0">
                <a:solidFill>
                  <a:srgbClr val="231F20"/>
                </a:solidFill>
                <a:latin typeface="Tahoma"/>
                <a:cs typeface="Tahoma"/>
              </a:rPr>
              <a:t>unfathomed</a:t>
            </a:r>
            <a:r>
              <a:rPr sz="1588" spc="300" dirty="0">
                <a:solidFill>
                  <a:srgbClr val="231F20"/>
                </a:solidFill>
                <a:latin typeface="Tahoma"/>
                <a:cs typeface="Tahoma"/>
              </a:rPr>
              <a:t> </a:t>
            </a:r>
            <a:r>
              <a:rPr sz="1588" spc="-4" dirty="0">
                <a:solidFill>
                  <a:srgbClr val="231F20"/>
                </a:solidFill>
                <a:latin typeface="Tahoma"/>
                <a:cs typeface="Tahoma"/>
              </a:rPr>
              <a:t>terminal</a:t>
            </a:r>
            <a:r>
              <a:rPr sz="1588" spc="304" dirty="0">
                <a:solidFill>
                  <a:srgbClr val="231F20"/>
                </a:solidFill>
                <a:latin typeface="Tahoma"/>
                <a:cs typeface="Tahoma"/>
              </a:rPr>
              <a:t> </a:t>
            </a:r>
            <a:r>
              <a:rPr sz="1588" dirty="0">
                <a:solidFill>
                  <a:srgbClr val="231F20"/>
                </a:solidFill>
                <a:latin typeface="Tahoma"/>
                <a:cs typeface="Tahoma"/>
              </a:rPr>
              <a:t>node</a:t>
            </a:r>
            <a:r>
              <a:rPr sz="1588" spc="291" dirty="0">
                <a:solidFill>
                  <a:srgbClr val="231F20"/>
                </a:solidFill>
                <a:latin typeface="Tahoma"/>
                <a:cs typeface="Tahoma"/>
              </a:rPr>
              <a:t> </a:t>
            </a:r>
            <a:r>
              <a:rPr sz="1588" spc="-4" dirty="0">
                <a:solidFill>
                  <a:srgbClr val="231F20"/>
                </a:solidFill>
                <a:latin typeface="Tahoma"/>
                <a:cs typeface="Tahoma"/>
              </a:rPr>
              <a:t>is</a:t>
            </a:r>
            <a:r>
              <a:rPr sz="1588" spc="291" dirty="0">
                <a:solidFill>
                  <a:srgbClr val="231F20"/>
                </a:solidFill>
                <a:latin typeface="Tahoma"/>
                <a:cs typeface="Tahoma"/>
              </a:rPr>
              <a:t> </a:t>
            </a:r>
            <a:r>
              <a:rPr sz="1588" spc="-4" dirty="0">
                <a:solidFill>
                  <a:srgbClr val="231F20"/>
                </a:solidFill>
                <a:latin typeface="Tahoma"/>
                <a:cs typeface="Tahoma"/>
              </a:rPr>
              <a:t>P</a:t>
            </a:r>
            <a:r>
              <a:rPr sz="1588" spc="-6" baseline="-20833" dirty="0">
                <a:solidFill>
                  <a:srgbClr val="231F20"/>
                </a:solidFill>
                <a:latin typeface="Tahoma"/>
                <a:cs typeface="Tahoma"/>
              </a:rPr>
              <a:t>3</a:t>
            </a:r>
            <a:r>
              <a:rPr sz="1588" spc="-4" dirty="0">
                <a:solidFill>
                  <a:srgbClr val="231F20"/>
                </a:solidFill>
                <a:latin typeface="Tahoma"/>
                <a:cs typeface="Tahoma"/>
              </a:rPr>
              <a:t>.</a:t>
            </a:r>
            <a:r>
              <a:rPr sz="1588" spc="291" dirty="0">
                <a:solidFill>
                  <a:srgbClr val="231F20"/>
                </a:solidFill>
                <a:latin typeface="Tahoma"/>
                <a:cs typeface="Tahoma"/>
              </a:rPr>
              <a:t> </a:t>
            </a:r>
            <a:r>
              <a:rPr sz="1588" spc="-4" dirty="0">
                <a:solidFill>
                  <a:srgbClr val="231F20"/>
                </a:solidFill>
                <a:latin typeface="Tahoma"/>
                <a:cs typeface="Tahoma"/>
              </a:rPr>
              <a:t>The</a:t>
            </a:r>
            <a:r>
              <a:rPr sz="1588" spc="296" dirty="0">
                <a:solidFill>
                  <a:srgbClr val="231F20"/>
                </a:solidFill>
                <a:latin typeface="Tahoma"/>
                <a:cs typeface="Tahoma"/>
              </a:rPr>
              <a:t> </a:t>
            </a:r>
            <a:r>
              <a:rPr sz="1588" spc="-4" dirty="0">
                <a:solidFill>
                  <a:srgbClr val="231F20"/>
                </a:solidFill>
                <a:latin typeface="Tahoma"/>
                <a:cs typeface="Tahoma"/>
              </a:rPr>
              <a:t>further</a:t>
            </a:r>
            <a:r>
              <a:rPr sz="1588" spc="300" dirty="0">
                <a:solidFill>
                  <a:srgbClr val="231F20"/>
                </a:solidFill>
                <a:latin typeface="Tahoma"/>
                <a:cs typeface="Tahoma"/>
              </a:rPr>
              <a:t> </a:t>
            </a:r>
            <a:r>
              <a:rPr sz="1588" spc="-9" dirty="0">
                <a:solidFill>
                  <a:srgbClr val="231F20"/>
                </a:solidFill>
                <a:latin typeface="Tahoma"/>
                <a:cs typeface="Tahoma"/>
              </a:rPr>
              <a:t>branching</a:t>
            </a:r>
            <a:r>
              <a:rPr sz="1588" spc="296" dirty="0">
                <a:solidFill>
                  <a:srgbClr val="231F20"/>
                </a:solidFill>
                <a:latin typeface="Tahoma"/>
                <a:cs typeface="Tahoma"/>
              </a:rPr>
              <a:t> </a:t>
            </a:r>
            <a:r>
              <a:rPr sz="1588" spc="-9" dirty="0">
                <a:solidFill>
                  <a:srgbClr val="231F20"/>
                </a:solidFill>
                <a:latin typeface="Tahoma"/>
                <a:cs typeface="Tahoma"/>
              </a:rPr>
              <a:t>from</a:t>
            </a:r>
            <a:r>
              <a:rPr sz="1588" spc="296" dirty="0">
                <a:solidFill>
                  <a:srgbClr val="231F20"/>
                </a:solidFill>
                <a:latin typeface="Tahoma"/>
                <a:cs typeface="Tahoma"/>
              </a:rPr>
              <a:t> </a:t>
            </a:r>
            <a:r>
              <a:rPr sz="1588" spc="-4" dirty="0">
                <a:solidFill>
                  <a:srgbClr val="231F20"/>
                </a:solidFill>
                <a:latin typeface="Tahoma"/>
                <a:cs typeface="Tahoma"/>
              </a:rPr>
              <a:t>this</a:t>
            </a:r>
            <a:r>
              <a:rPr lang="en-US" sz="1588" spc="-4" dirty="0">
                <a:latin typeface="Tahoma"/>
                <a:cs typeface="Tahoma"/>
              </a:rPr>
              <a:t> </a:t>
            </a:r>
            <a:r>
              <a:rPr sz="1588" dirty="0">
                <a:solidFill>
                  <a:srgbClr val="231F20"/>
                </a:solidFill>
                <a:latin typeface="Tahoma"/>
                <a:cs typeface="Tahoma"/>
              </a:rPr>
              <a:t>node</a:t>
            </a:r>
            <a:r>
              <a:rPr sz="1588" spc="-26" dirty="0">
                <a:solidFill>
                  <a:srgbClr val="231F20"/>
                </a:solidFill>
                <a:latin typeface="Tahoma"/>
                <a:cs typeface="Tahoma"/>
              </a:rPr>
              <a:t> </a:t>
            </a:r>
            <a:r>
              <a:rPr sz="1588" spc="-4" dirty="0">
                <a:solidFill>
                  <a:srgbClr val="231F20"/>
                </a:solidFill>
                <a:latin typeface="Tahoma"/>
                <a:cs typeface="Tahoma"/>
              </a:rPr>
              <a:t>is</a:t>
            </a:r>
            <a:r>
              <a:rPr sz="1588" spc="-13" dirty="0">
                <a:solidFill>
                  <a:srgbClr val="231F20"/>
                </a:solidFill>
                <a:latin typeface="Tahoma"/>
                <a:cs typeface="Tahoma"/>
              </a:rPr>
              <a:t> </a:t>
            </a:r>
            <a:r>
              <a:rPr sz="1588" spc="-4" dirty="0">
                <a:solidFill>
                  <a:srgbClr val="231F20"/>
                </a:solidFill>
                <a:latin typeface="Tahoma"/>
                <a:cs typeface="Tahoma"/>
              </a:rPr>
              <a:t>shown</a:t>
            </a:r>
            <a:r>
              <a:rPr sz="1588" spc="-26" dirty="0">
                <a:solidFill>
                  <a:srgbClr val="231F20"/>
                </a:solidFill>
                <a:latin typeface="Tahoma"/>
                <a:cs typeface="Tahoma"/>
              </a:rPr>
              <a:t> </a:t>
            </a:r>
            <a:r>
              <a:rPr sz="1588" spc="-4" dirty="0">
                <a:solidFill>
                  <a:srgbClr val="231F20"/>
                </a:solidFill>
                <a:latin typeface="Tahoma"/>
                <a:cs typeface="Tahoma"/>
              </a:rPr>
              <a:t>below:</a:t>
            </a:r>
            <a:endParaRPr sz="1588" dirty="0">
              <a:latin typeface="Tahoma"/>
              <a:cs typeface="Tahoma"/>
            </a:endParaRPr>
          </a:p>
        </p:txBody>
      </p:sp>
      <p:pic>
        <p:nvPicPr>
          <p:cNvPr id="7" name="object 7"/>
          <p:cNvPicPr/>
          <p:nvPr/>
        </p:nvPicPr>
        <p:blipFill>
          <a:blip r:embed="rId2" cstate="print"/>
          <a:stretch>
            <a:fillRect/>
          </a:stretch>
        </p:blipFill>
        <p:spPr>
          <a:xfrm>
            <a:off x="1257230" y="1522903"/>
            <a:ext cx="9213919" cy="421847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36938" y="221275"/>
            <a:ext cx="9666643" cy="504323"/>
          </a:xfrm>
          <a:prstGeom prst="rect">
            <a:avLst/>
          </a:prstGeom>
        </p:spPr>
        <p:txBody>
          <a:bodyPr vert="horz" wrap="square" lIns="0" tIns="11766" rIns="0" bIns="0" rtlCol="0" anchor="t">
            <a:spAutoFit/>
          </a:bodyPr>
          <a:lstStyle/>
          <a:p>
            <a:pPr marL="11206">
              <a:lnSpc>
                <a:spcPct val="100000"/>
              </a:lnSpc>
              <a:spcBef>
                <a:spcPts val="93"/>
              </a:spcBef>
            </a:pPr>
            <a:r>
              <a:t>BRANCH–AND–BOUND</a:t>
            </a:r>
            <a:r>
              <a:rPr spc="-79"/>
              <a:t> </a:t>
            </a:r>
            <a:r>
              <a:rPr spc="-4"/>
              <a:t>METHOD</a:t>
            </a:r>
            <a:r>
              <a:rPr spc="-26"/>
              <a:t> </a:t>
            </a:r>
            <a:r>
              <a:t>(Cont…)</a:t>
            </a:r>
          </a:p>
        </p:txBody>
      </p:sp>
      <p:sp>
        <p:nvSpPr>
          <p:cNvPr id="3" name="object 3"/>
          <p:cNvSpPr txBox="1"/>
          <p:nvPr/>
        </p:nvSpPr>
        <p:spPr>
          <a:xfrm>
            <a:off x="296708" y="1794427"/>
            <a:ext cx="11895292" cy="3350126"/>
          </a:xfrm>
          <a:prstGeom prst="rect">
            <a:avLst/>
          </a:prstGeom>
        </p:spPr>
        <p:txBody>
          <a:bodyPr vert="horz" wrap="square" lIns="0" tIns="10646" rIns="0" bIns="0" rtlCol="0" anchor="t">
            <a:spAutoFit/>
          </a:bodyPr>
          <a:lstStyle/>
          <a:p>
            <a:pPr marL="326109" marR="17370" indent="-304256" algn="just">
              <a:spcBef>
                <a:spcPts val="84"/>
              </a:spcBef>
              <a:buFont typeface="Wingdings"/>
              <a:buChar char=""/>
              <a:tabLst>
                <a:tab pos="326669" algn="l"/>
              </a:tabLst>
            </a:pPr>
            <a:r>
              <a:rPr lang="en-US" sz="2400" spc="-4" dirty="0">
                <a:solidFill>
                  <a:srgbClr val="231F20"/>
                </a:solidFill>
                <a:latin typeface="Tahoma"/>
                <a:cs typeface="Tahoma"/>
              </a:rPr>
              <a:t>The problems </a:t>
            </a:r>
            <a:r>
              <a:rPr lang="en-US" sz="2400" dirty="0">
                <a:solidFill>
                  <a:srgbClr val="231F20"/>
                </a:solidFill>
                <a:latin typeface="Tahoma"/>
                <a:cs typeface="Tahoma"/>
              </a:rPr>
              <a:t>P</a:t>
            </a:r>
            <a:r>
              <a:rPr lang="en-US" sz="2400" baseline="-21021" dirty="0">
                <a:solidFill>
                  <a:srgbClr val="231F20"/>
                </a:solidFill>
                <a:latin typeface="Tahoma"/>
                <a:cs typeface="Tahoma"/>
              </a:rPr>
              <a:t>8</a:t>
            </a:r>
            <a:r>
              <a:rPr lang="en-US" sz="2400" spc="6" baseline="-21021" dirty="0">
                <a:solidFill>
                  <a:srgbClr val="231F20"/>
                </a:solidFill>
                <a:latin typeface="Tahoma"/>
                <a:cs typeface="Tahoma"/>
              </a:rPr>
              <a:t> </a:t>
            </a:r>
            <a:r>
              <a:rPr lang="en-US" sz="2400" spc="-4" dirty="0">
                <a:solidFill>
                  <a:srgbClr val="231F20"/>
                </a:solidFill>
                <a:latin typeface="Tahoma"/>
                <a:cs typeface="Tahoma"/>
              </a:rPr>
              <a:t>and P</a:t>
            </a:r>
            <a:r>
              <a:rPr lang="en-US" sz="2400" spc="-6" baseline="-21021" dirty="0">
                <a:solidFill>
                  <a:srgbClr val="231F20"/>
                </a:solidFill>
                <a:latin typeface="Tahoma"/>
                <a:cs typeface="Tahoma"/>
              </a:rPr>
              <a:t>9 </a:t>
            </a:r>
            <a:r>
              <a:rPr lang="en-US" sz="2400" spc="-9" dirty="0">
                <a:solidFill>
                  <a:srgbClr val="231F20"/>
                </a:solidFill>
                <a:latin typeface="Tahoma"/>
                <a:cs typeface="Tahoma"/>
              </a:rPr>
              <a:t>have </a:t>
            </a:r>
            <a:r>
              <a:rPr lang="en-US" sz="2400" spc="-4" dirty="0">
                <a:solidFill>
                  <a:srgbClr val="231F20"/>
                </a:solidFill>
                <a:latin typeface="Tahoma"/>
                <a:cs typeface="Tahoma"/>
              </a:rPr>
              <a:t>integer solution. </a:t>
            </a:r>
            <a:r>
              <a:rPr lang="en-US" sz="2400" spc="-13" dirty="0">
                <a:solidFill>
                  <a:srgbClr val="231F20"/>
                </a:solidFill>
                <a:latin typeface="Tahoma"/>
                <a:cs typeface="Tahoma"/>
              </a:rPr>
              <a:t>So, </a:t>
            </a:r>
            <a:r>
              <a:rPr lang="en-US" sz="2400" spc="-4" dirty="0">
                <a:solidFill>
                  <a:srgbClr val="231F20"/>
                </a:solidFill>
                <a:latin typeface="Tahoma"/>
                <a:cs typeface="Tahoma"/>
              </a:rPr>
              <a:t>these two</a:t>
            </a:r>
            <a:r>
              <a:rPr lang="en-US" sz="2400" spc="4" dirty="0">
                <a:solidFill>
                  <a:srgbClr val="231F20"/>
                </a:solidFill>
                <a:latin typeface="Tahoma"/>
                <a:cs typeface="Tahoma"/>
              </a:rPr>
              <a:t> </a:t>
            </a:r>
            <a:r>
              <a:rPr lang="en-US" sz="2400" spc="-4" dirty="0">
                <a:solidFill>
                  <a:srgbClr val="231F20"/>
                </a:solidFill>
                <a:latin typeface="Tahoma"/>
                <a:cs typeface="Tahoma"/>
              </a:rPr>
              <a:t>nodes</a:t>
            </a:r>
            <a:r>
              <a:rPr lang="en-US" sz="2400" spc="13" dirty="0">
                <a:solidFill>
                  <a:srgbClr val="231F20"/>
                </a:solidFill>
                <a:latin typeface="Tahoma"/>
                <a:cs typeface="Tahoma"/>
              </a:rPr>
              <a:t> </a:t>
            </a:r>
            <a:r>
              <a:rPr lang="en-US" sz="2400" spc="-9" dirty="0">
                <a:solidFill>
                  <a:srgbClr val="231F20"/>
                </a:solidFill>
                <a:latin typeface="Tahoma"/>
                <a:cs typeface="Tahoma"/>
              </a:rPr>
              <a:t>are</a:t>
            </a:r>
            <a:r>
              <a:rPr lang="en-US" sz="2400" spc="13" dirty="0">
                <a:solidFill>
                  <a:srgbClr val="231F20"/>
                </a:solidFill>
                <a:latin typeface="Tahoma"/>
                <a:cs typeface="Tahoma"/>
              </a:rPr>
              <a:t> </a:t>
            </a:r>
            <a:r>
              <a:rPr lang="en-US" sz="2400" spc="-9" dirty="0">
                <a:solidFill>
                  <a:srgbClr val="231F20"/>
                </a:solidFill>
                <a:latin typeface="Tahoma"/>
                <a:cs typeface="Tahoma"/>
              </a:rPr>
              <a:t>fathomed.</a:t>
            </a:r>
            <a:endParaRPr lang="en-US" sz="2400" dirty="0">
              <a:latin typeface="Tahoma"/>
              <a:cs typeface="Tahoma"/>
            </a:endParaRPr>
          </a:p>
          <a:p>
            <a:pPr marL="325755" marR="15240" indent="-304165" algn="just">
              <a:buFont typeface="Wingdings"/>
              <a:buChar char=""/>
              <a:tabLst>
                <a:tab pos="326669" algn="l"/>
              </a:tabLst>
            </a:pPr>
            <a:r>
              <a:rPr lang="en-US" sz="2400" spc="-4" dirty="0">
                <a:solidFill>
                  <a:srgbClr val="231F20"/>
                </a:solidFill>
                <a:latin typeface="Tahoma"/>
                <a:cs typeface="Tahoma"/>
              </a:rPr>
              <a:t>But the objective </a:t>
            </a:r>
            <a:r>
              <a:rPr lang="en-US" sz="2400" spc="-9" dirty="0">
                <a:solidFill>
                  <a:srgbClr val="231F20"/>
                </a:solidFill>
                <a:latin typeface="Tahoma"/>
                <a:cs typeface="Tahoma"/>
              </a:rPr>
              <a:t>function value </a:t>
            </a:r>
            <a:r>
              <a:rPr lang="en-US" sz="2400" dirty="0">
                <a:solidFill>
                  <a:srgbClr val="231F20"/>
                </a:solidFill>
                <a:latin typeface="Tahoma"/>
                <a:cs typeface="Tahoma"/>
              </a:rPr>
              <a:t>of </a:t>
            </a:r>
            <a:r>
              <a:rPr lang="en-US" sz="2400" spc="-4" dirty="0">
                <a:solidFill>
                  <a:srgbClr val="231F20"/>
                </a:solidFill>
                <a:latin typeface="Tahoma"/>
                <a:cs typeface="Tahoma"/>
              </a:rPr>
              <a:t>these </a:t>
            </a:r>
            <a:r>
              <a:rPr lang="en-US" sz="2400" dirty="0">
                <a:solidFill>
                  <a:srgbClr val="231F20"/>
                </a:solidFill>
                <a:latin typeface="Tahoma"/>
                <a:cs typeface="Tahoma"/>
              </a:rPr>
              <a:t>nodes </a:t>
            </a:r>
            <a:r>
              <a:rPr lang="en-US" sz="2400" spc="-4" dirty="0">
                <a:solidFill>
                  <a:srgbClr val="231F20"/>
                </a:solidFill>
                <a:latin typeface="Tahoma"/>
                <a:cs typeface="Tahoma"/>
              </a:rPr>
              <a:t>are not</a:t>
            </a:r>
            <a:r>
              <a:rPr lang="en-US" sz="2400" spc="424" dirty="0">
                <a:solidFill>
                  <a:srgbClr val="231F20"/>
                </a:solidFill>
                <a:latin typeface="Tahoma"/>
                <a:cs typeface="Tahoma"/>
              </a:rPr>
              <a:t> </a:t>
            </a:r>
            <a:r>
              <a:rPr lang="en-US" sz="2400" spc="-4" dirty="0">
                <a:solidFill>
                  <a:srgbClr val="231F20"/>
                </a:solidFill>
                <a:latin typeface="Tahoma"/>
                <a:cs typeface="Tahoma"/>
              </a:rPr>
              <a:t>greater</a:t>
            </a:r>
            <a:r>
              <a:rPr lang="en-US" sz="2400" spc="427" dirty="0">
                <a:solidFill>
                  <a:srgbClr val="231F20"/>
                </a:solidFill>
                <a:latin typeface="Tahoma"/>
                <a:cs typeface="Tahoma"/>
              </a:rPr>
              <a:t> </a:t>
            </a:r>
            <a:r>
              <a:rPr lang="en-US" sz="2400" spc="-4" dirty="0">
                <a:solidFill>
                  <a:srgbClr val="231F20"/>
                </a:solidFill>
                <a:latin typeface="Tahoma"/>
                <a:cs typeface="Tahoma"/>
              </a:rPr>
              <a:t>than</a:t>
            </a:r>
            <a:r>
              <a:rPr lang="en-US" sz="2400" spc="427" dirty="0">
                <a:solidFill>
                  <a:srgbClr val="231F20"/>
                </a:solidFill>
                <a:latin typeface="Tahoma"/>
                <a:cs typeface="Tahoma"/>
              </a:rPr>
              <a:t> </a:t>
            </a:r>
            <a:r>
              <a:rPr lang="en-US" sz="2400" spc="-4" dirty="0">
                <a:solidFill>
                  <a:srgbClr val="231F20"/>
                </a:solidFill>
                <a:latin typeface="Tahoma"/>
                <a:cs typeface="Tahoma"/>
              </a:rPr>
              <a:t>the</a:t>
            </a:r>
            <a:r>
              <a:rPr lang="en-US" sz="2400" spc="424" dirty="0">
                <a:solidFill>
                  <a:srgbClr val="231F20"/>
                </a:solidFill>
                <a:latin typeface="Tahoma"/>
                <a:cs typeface="Tahoma"/>
              </a:rPr>
              <a:t> </a:t>
            </a:r>
            <a:r>
              <a:rPr lang="en-US" sz="2400" spc="-4" dirty="0">
                <a:solidFill>
                  <a:srgbClr val="231F20"/>
                </a:solidFill>
                <a:latin typeface="Tahoma"/>
                <a:cs typeface="Tahoma"/>
              </a:rPr>
              <a:t>current</a:t>
            </a:r>
            <a:r>
              <a:rPr lang="en-US" sz="2400" spc="427" dirty="0">
                <a:solidFill>
                  <a:srgbClr val="231F20"/>
                </a:solidFill>
                <a:latin typeface="Tahoma"/>
                <a:cs typeface="Tahoma"/>
              </a:rPr>
              <a:t> </a:t>
            </a:r>
            <a:r>
              <a:rPr lang="en-US" sz="2400" spc="-4" dirty="0">
                <a:solidFill>
                  <a:srgbClr val="231F20"/>
                </a:solidFill>
                <a:latin typeface="Tahoma"/>
                <a:cs typeface="Tahoma"/>
              </a:rPr>
              <a:t>best</a:t>
            </a:r>
            <a:r>
              <a:rPr lang="en-US" sz="2400" spc="427" dirty="0">
                <a:solidFill>
                  <a:srgbClr val="231F20"/>
                </a:solidFill>
                <a:latin typeface="Tahoma"/>
                <a:cs typeface="Tahoma"/>
              </a:rPr>
              <a:t> </a:t>
            </a:r>
            <a:r>
              <a:rPr lang="en-US" sz="2400" spc="-4" dirty="0">
                <a:solidFill>
                  <a:srgbClr val="231F20"/>
                </a:solidFill>
                <a:latin typeface="Tahoma"/>
                <a:cs typeface="Tahoma"/>
              </a:rPr>
              <a:t>lower</a:t>
            </a:r>
            <a:r>
              <a:rPr lang="en-US" sz="2400" spc="432" dirty="0">
                <a:solidFill>
                  <a:srgbClr val="231F20"/>
                </a:solidFill>
                <a:latin typeface="Tahoma"/>
                <a:cs typeface="Tahoma"/>
              </a:rPr>
              <a:t> </a:t>
            </a:r>
            <a:r>
              <a:rPr lang="en-US" sz="2400" dirty="0">
                <a:solidFill>
                  <a:srgbClr val="231F20"/>
                </a:solidFill>
                <a:latin typeface="Tahoma"/>
                <a:cs typeface="Tahoma"/>
              </a:rPr>
              <a:t>bound</a:t>
            </a:r>
            <a:r>
              <a:rPr lang="en-US" sz="2400" spc="424" dirty="0">
                <a:solidFill>
                  <a:srgbClr val="231F20"/>
                </a:solidFill>
                <a:latin typeface="Tahoma"/>
                <a:cs typeface="Tahoma"/>
              </a:rPr>
              <a:t> </a:t>
            </a:r>
            <a:r>
              <a:rPr lang="en-US" sz="2400" dirty="0">
                <a:solidFill>
                  <a:srgbClr val="231F20"/>
                </a:solidFill>
                <a:latin typeface="Tahoma"/>
                <a:cs typeface="Tahoma"/>
              </a:rPr>
              <a:t>of </a:t>
            </a:r>
            <a:r>
              <a:rPr lang="en-US" sz="2400" spc="-9" dirty="0">
                <a:solidFill>
                  <a:srgbClr val="231F20"/>
                </a:solidFill>
                <a:latin typeface="Tahoma"/>
                <a:cs typeface="Tahoma"/>
              </a:rPr>
              <a:t>90.</a:t>
            </a:r>
            <a:r>
              <a:rPr lang="en-US" sz="2400" spc="-4" dirty="0">
                <a:solidFill>
                  <a:srgbClr val="231F20"/>
                </a:solidFill>
                <a:latin typeface="Tahoma"/>
                <a:cs typeface="Tahoma"/>
              </a:rPr>
              <a:t> </a:t>
            </a:r>
            <a:r>
              <a:rPr lang="en-US" sz="2400" spc="-9" dirty="0">
                <a:solidFill>
                  <a:srgbClr val="231F20"/>
                </a:solidFill>
                <a:latin typeface="Tahoma"/>
                <a:cs typeface="Tahoma"/>
              </a:rPr>
              <a:t>Hence,</a:t>
            </a:r>
            <a:r>
              <a:rPr lang="en-US" sz="2400" spc="-4" dirty="0">
                <a:solidFill>
                  <a:srgbClr val="231F20"/>
                </a:solidFill>
                <a:latin typeface="Tahoma"/>
                <a:cs typeface="Tahoma"/>
              </a:rPr>
              <a:t> the </a:t>
            </a:r>
            <a:r>
              <a:rPr lang="en-US" sz="2400" spc="-9" dirty="0">
                <a:solidFill>
                  <a:srgbClr val="231F20"/>
                </a:solidFill>
                <a:latin typeface="Tahoma"/>
                <a:cs typeface="Tahoma"/>
              </a:rPr>
              <a:t>current</a:t>
            </a:r>
            <a:r>
              <a:rPr lang="en-US" sz="2400" spc="-4" dirty="0">
                <a:solidFill>
                  <a:srgbClr val="231F20"/>
                </a:solidFill>
                <a:latin typeface="Tahoma"/>
                <a:cs typeface="Tahoma"/>
              </a:rPr>
              <a:t> best lower</a:t>
            </a:r>
            <a:r>
              <a:rPr lang="en-US" sz="2400" dirty="0">
                <a:solidFill>
                  <a:srgbClr val="231F20"/>
                </a:solidFill>
                <a:latin typeface="Tahoma"/>
                <a:cs typeface="Tahoma"/>
              </a:rPr>
              <a:t> </a:t>
            </a:r>
            <a:r>
              <a:rPr lang="en-US" sz="2400" spc="-4" dirty="0">
                <a:solidFill>
                  <a:srgbClr val="231F20"/>
                </a:solidFill>
                <a:latin typeface="Tahoma"/>
                <a:cs typeface="Tahoma"/>
              </a:rPr>
              <a:t>bound</a:t>
            </a:r>
            <a:r>
              <a:rPr lang="en-US" sz="2400" dirty="0">
                <a:solidFill>
                  <a:srgbClr val="231F20"/>
                </a:solidFill>
                <a:latin typeface="Tahoma"/>
                <a:cs typeface="Tahoma"/>
              </a:rPr>
              <a:t> is </a:t>
            </a:r>
            <a:r>
              <a:rPr lang="en-US" sz="2400" spc="-4" dirty="0">
                <a:solidFill>
                  <a:srgbClr val="231F20"/>
                </a:solidFill>
                <a:latin typeface="Tahoma"/>
                <a:cs typeface="Tahoma"/>
              </a:rPr>
              <a:t>not updated.</a:t>
            </a:r>
            <a:endParaRPr lang="en-US" sz="2400" dirty="0">
              <a:latin typeface="Tahoma"/>
              <a:ea typeface="Tahoma"/>
              <a:cs typeface="Tahoma"/>
            </a:endParaRPr>
          </a:p>
          <a:p>
            <a:pPr marL="326109" marR="17930" indent="-304256" algn="just">
              <a:buFont typeface="Wingdings"/>
              <a:buChar char=""/>
              <a:tabLst>
                <a:tab pos="326669" algn="l"/>
              </a:tabLst>
            </a:pPr>
            <a:r>
              <a:rPr lang="en-US" sz="2400" spc="-26" dirty="0">
                <a:solidFill>
                  <a:srgbClr val="231F20"/>
                </a:solidFill>
                <a:latin typeface="Tahoma"/>
                <a:cs typeface="Tahoma"/>
              </a:rPr>
              <a:t>Now,</a:t>
            </a:r>
            <a:r>
              <a:rPr lang="en-US" sz="2400" spc="-22" dirty="0">
                <a:solidFill>
                  <a:srgbClr val="231F20"/>
                </a:solidFill>
                <a:latin typeface="Tahoma"/>
                <a:cs typeface="Tahoma"/>
              </a:rPr>
              <a:t> </a:t>
            </a:r>
            <a:r>
              <a:rPr lang="en-US" sz="2400" spc="-4" dirty="0">
                <a:solidFill>
                  <a:srgbClr val="231F20"/>
                </a:solidFill>
                <a:latin typeface="Tahoma"/>
                <a:cs typeface="Tahoma"/>
              </a:rPr>
              <a:t>all</a:t>
            </a:r>
            <a:r>
              <a:rPr lang="en-US" sz="2400" dirty="0">
                <a:solidFill>
                  <a:srgbClr val="231F20"/>
                </a:solidFill>
                <a:latin typeface="Tahoma"/>
                <a:cs typeface="Tahoma"/>
              </a:rPr>
              <a:t> </a:t>
            </a:r>
            <a:r>
              <a:rPr lang="en-US" sz="2400" spc="-4" dirty="0">
                <a:solidFill>
                  <a:srgbClr val="231F20"/>
                </a:solidFill>
                <a:latin typeface="Tahoma"/>
                <a:cs typeface="Tahoma"/>
              </a:rPr>
              <a:t>the</a:t>
            </a:r>
            <a:r>
              <a:rPr lang="en-US" sz="2400" dirty="0">
                <a:solidFill>
                  <a:srgbClr val="231F20"/>
                </a:solidFill>
                <a:latin typeface="Tahoma"/>
                <a:cs typeface="Tahoma"/>
              </a:rPr>
              <a:t> </a:t>
            </a:r>
            <a:r>
              <a:rPr lang="en-US" sz="2400" spc="-4" dirty="0">
                <a:solidFill>
                  <a:srgbClr val="231F20"/>
                </a:solidFill>
                <a:latin typeface="Tahoma"/>
                <a:cs typeface="Tahoma"/>
              </a:rPr>
              <a:t>terminal</a:t>
            </a:r>
            <a:r>
              <a:rPr lang="en-US" sz="2400" dirty="0">
                <a:solidFill>
                  <a:srgbClr val="231F20"/>
                </a:solidFill>
                <a:latin typeface="Tahoma"/>
                <a:cs typeface="Tahoma"/>
              </a:rPr>
              <a:t> </a:t>
            </a:r>
            <a:r>
              <a:rPr lang="en-US" sz="2400" spc="-4" dirty="0">
                <a:solidFill>
                  <a:srgbClr val="231F20"/>
                </a:solidFill>
                <a:latin typeface="Tahoma"/>
                <a:cs typeface="Tahoma"/>
              </a:rPr>
              <a:t>nodes</a:t>
            </a:r>
            <a:r>
              <a:rPr lang="en-US" sz="2400" dirty="0">
                <a:solidFill>
                  <a:srgbClr val="231F20"/>
                </a:solidFill>
                <a:latin typeface="Tahoma"/>
                <a:cs typeface="Tahoma"/>
              </a:rPr>
              <a:t> </a:t>
            </a:r>
            <a:r>
              <a:rPr lang="en-US" sz="2400" spc="-4" dirty="0">
                <a:solidFill>
                  <a:srgbClr val="231F20"/>
                </a:solidFill>
                <a:latin typeface="Tahoma"/>
                <a:cs typeface="Tahoma"/>
              </a:rPr>
              <a:t>are</a:t>
            </a:r>
            <a:r>
              <a:rPr lang="en-US" sz="2400" dirty="0">
                <a:solidFill>
                  <a:srgbClr val="231F20"/>
                </a:solidFill>
                <a:latin typeface="Tahoma"/>
                <a:cs typeface="Tahoma"/>
              </a:rPr>
              <a:t> </a:t>
            </a:r>
            <a:r>
              <a:rPr lang="en-US" sz="2400" spc="-4" dirty="0">
                <a:solidFill>
                  <a:srgbClr val="231F20"/>
                </a:solidFill>
                <a:latin typeface="Tahoma"/>
                <a:cs typeface="Tahoma"/>
              </a:rPr>
              <a:t>fathomed.</a:t>
            </a:r>
            <a:r>
              <a:rPr lang="en-US" sz="2400" dirty="0">
                <a:solidFill>
                  <a:srgbClr val="231F20"/>
                </a:solidFill>
                <a:latin typeface="Tahoma"/>
                <a:cs typeface="Tahoma"/>
              </a:rPr>
              <a:t> </a:t>
            </a:r>
            <a:r>
              <a:rPr lang="en-US" sz="2400" spc="-4" dirty="0">
                <a:solidFill>
                  <a:srgbClr val="231F20"/>
                </a:solidFill>
                <a:latin typeface="Tahoma"/>
                <a:cs typeface="Tahoma"/>
              </a:rPr>
              <a:t>The </a:t>
            </a:r>
            <a:r>
              <a:rPr lang="en-US" sz="2400" spc="-9" dirty="0">
                <a:solidFill>
                  <a:srgbClr val="231F20"/>
                </a:solidFill>
                <a:latin typeface="Tahoma"/>
                <a:cs typeface="Tahoma"/>
              </a:rPr>
              <a:t>feasible fathomed </a:t>
            </a:r>
            <a:r>
              <a:rPr lang="en-US" sz="2400" spc="-4" dirty="0">
                <a:solidFill>
                  <a:srgbClr val="231F20"/>
                </a:solidFill>
                <a:latin typeface="Tahoma"/>
                <a:cs typeface="Tahoma"/>
              </a:rPr>
              <a:t>node with the current best lower bound</a:t>
            </a:r>
            <a:r>
              <a:rPr lang="en-US" sz="2400" spc="4" dirty="0">
                <a:solidFill>
                  <a:srgbClr val="231F20"/>
                </a:solidFill>
                <a:latin typeface="Tahoma"/>
                <a:cs typeface="Tahoma"/>
              </a:rPr>
              <a:t> </a:t>
            </a:r>
            <a:r>
              <a:rPr lang="en-US" sz="2400" spc="-4" dirty="0">
                <a:solidFill>
                  <a:srgbClr val="231F20"/>
                </a:solidFill>
                <a:latin typeface="Tahoma"/>
                <a:cs typeface="Tahoma"/>
              </a:rPr>
              <a:t>is</a:t>
            </a:r>
            <a:r>
              <a:rPr lang="en-US" sz="2400" dirty="0">
                <a:solidFill>
                  <a:srgbClr val="231F20"/>
                </a:solidFill>
                <a:latin typeface="Tahoma"/>
                <a:cs typeface="Tahoma"/>
              </a:rPr>
              <a:t> </a:t>
            </a:r>
            <a:r>
              <a:rPr lang="en-US" sz="2400" spc="-44" dirty="0">
                <a:solidFill>
                  <a:srgbClr val="231F20"/>
                </a:solidFill>
                <a:latin typeface="Tahoma"/>
                <a:cs typeface="Tahoma"/>
              </a:rPr>
              <a:t>P</a:t>
            </a:r>
            <a:r>
              <a:rPr lang="en-US" sz="2400" spc="-66" baseline="-21021" dirty="0">
                <a:solidFill>
                  <a:srgbClr val="231F20"/>
                </a:solidFill>
                <a:latin typeface="Tahoma"/>
                <a:cs typeface="Tahoma"/>
              </a:rPr>
              <a:t>7</a:t>
            </a:r>
            <a:r>
              <a:rPr lang="en-US" sz="2400" spc="-44" dirty="0">
                <a:solidFill>
                  <a:srgbClr val="231F20"/>
                </a:solidFill>
                <a:latin typeface="Tahoma"/>
                <a:cs typeface="Tahoma"/>
              </a:rPr>
              <a:t>.</a:t>
            </a:r>
            <a:endParaRPr lang="en-US" sz="2400" dirty="0">
              <a:latin typeface="Tahoma"/>
              <a:cs typeface="Tahoma"/>
            </a:endParaRPr>
          </a:p>
          <a:p>
            <a:pPr marL="326109" marR="16249" indent="-304256" algn="just">
              <a:buFont typeface="Wingdings"/>
              <a:buChar char=""/>
              <a:tabLst>
                <a:tab pos="326669" algn="l"/>
              </a:tabLst>
            </a:pPr>
            <a:r>
              <a:rPr lang="en-US" sz="2400" spc="-4" dirty="0">
                <a:solidFill>
                  <a:srgbClr val="231F20"/>
                </a:solidFill>
                <a:latin typeface="Tahoma"/>
                <a:cs typeface="Tahoma"/>
              </a:rPr>
              <a:t>Hence,</a:t>
            </a:r>
            <a:r>
              <a:rPr lang="en-US" sz="2400" dirty="0">
                <a:solidFill>
                  <a:srgbClr val="231F20"/>
                </a:solidFill>
                <a:latin typeface="Tahoma"/>
                <a:cs typeface="Tahoma"/>
              </a:rPr>
              <a:t> </a:t>
            </a:r>
            <a:r>
              <a:rPr lang="en-US" sz="2400" spc="-4" dirty="0">
                <a:solidFill>
                  <a:srgbClr val="231F20"/>
                </a:solidFill>
                <a:latin typeface="Tahoma"/>
                <a:cs typeface="Tahoma"/>
              </a:rPr>
              <a:t>its</a:t>
            </a:r>
            <a:r>
              <a:rPr lang="en-US" sz="2400" dirty="0">
                <a:solidFill>
                  <a:srgbClr val="231F20"/>
                </a:solidFill>
                <a:latin typeface="Tahoma"/>
                <a:cs typeface="Tahoma"/>
              </a:rPr>
              <a:t> </a:t>
            </a:r>
            <a:r>
              <a:rPr lang="en-US" sz="2400" spc="-4" dirty="0">
                <a:solidFill>
                  <a:srgbClr val="231F20"/>
                </a:solidFill>
                <a:latin typeface="Tahoma"/>
                <a:cs typeface="Tahoma"/>
              </a:rPr>
              <a:t>solution</a:t>
            </a:r>
            <a:r>
              <a:rPr lang="en-US" sz="2400" dirty="0">
                <a:solidFill>
                  <a:srgbClr val="231F20"/>
                </a:solidFill>
                <a:latin typeface="Tahoma"/>
                <a:cs typeface="Tahoma"/>
              </a:rPr>
              <a:t> </a:t>
            </a:r>
            <a:r>
              <a:rPr lang="en-US" sz="2400" spc="-4" dirty="0">
                <a:solidFill>
                  <a:srgbClr val="231F20"/>
                </a:solidFill>
                <a:latin typeface="Tahoma"/>
                <a:cs typeface="Tahoma"/>
              </a:rPr>
              <a:t>is</a:t>
            </a:r>
            <a:r>
              <a:rPr lang="en-US" sz="2400" dirty="0">
                <a:solidFill>
                  <a:srgbClr val="231F20"/>
                </a:solidFill>
                <a:latin typeface="Tahoma"/>
                <a:cs typeface="Tahoma"/>
              </a:rPr>
              <a:t> </a:t>
            </a:r>
            <a:r>
              <a:rPr lang="en-US" sz="2400" spc="-9" dirty="0">
                <a:solidFill>
                  <a:srgbClr val="231F20"/>
                </a:solidFill>
                <a:latin typeface="Tahoma"/>
                <a:cs typeface="Tahoma"/>
              </a:rPr>
              <a:t>treated</a:t>
            </a:r>
            <a:r>
              <a:rPr lang="en-US" sz="2400" spc="-4" dirty="0">
                <a:solidFill>
                  <a:srgbClr val="231F20"/>
                </a:solidFill>
                <a:latin typeface="Tahoma"/>
                <a:cs typeface="Tahoma"/>
              </a:rPr>
              <a:t> as</a:t>
            </a:r>
            <a:r>
              <a:rPr lang="en-US" sz="2400" dirty="0">
                <a:solidFill>
                  <a:srgbClr val="231F20"/>
                </a:solidFill>
                <a:latin typeface="Tahoma"/>
                <a:cs typeface="Tahoma"/>
              </a:rPr>
              <a:t> </a:t>
            </a:r>
            <a:r>
              <a:rPr lang="en-US" sz="2400" spc="-4" dirty="0">
                <a:solidFill>
                  <a:srgbClr val="231F20"/>
                </a:solidFill>
                <a:latin typeface="Tahoma"/>
                <a:cs typeface="Tahoma"/>
              </a:rPr>
              <a:t>the</a:t>
            </a:r>
            <a:r>
              <a:rPr lang="en-US" sz="2400" spc="763" dirty="0">
                <a:solidFill>
                  <a:srgbClr val="231F20"/>
                </a:solidFill>
                <a:latin typeface="Tahoma"/>
                <a:cs typeface="Tahoma"/>
              </a:rPr>
              <a:t> </a:t>
            </a:r>
            <a:r>
              <a:rPr lang="en-US" sz="2400" spc="-4" dirty="0">
                <a:solidFill>
                  <a:srgbClr val="231F20"/>
                </a:solidFill>
                <a:latin typeface="Tahoma"/>
                <a:cs typeface="Tahoma"/>
              </a:rPr>
              <a:t>optimal solution:</a:t>
            </a:r>
            <a:r>
              <a:rPr lang="en-US" sz="2400" spc="-9" dirty="0">
                <a:solidFill>
                  <a:srgbClr val="231F20"/>
                </a:solidFill>
                <a:latin typeface="Tahoma"/>
                <a:cs typeface="Tahoma"/>
              </a:rPr>
              <a:t> </a:t>
            </a:r>
            <a:r>
              <a:rPr lang="en-US" sz="2400" spc="-4" dirty="0">
                <a:solidFill>
                  <a:srgbClr val="231F20"/>
                </a:solidFill>
                <a:latin typeface="Tahoma"/>
                <a:cs typeface="Tahoma"/>
              </a:rPr>
              <a:t>X</a:t>
            </a:r>
            <a:r>
              <a:rPr lang="en-US" sz="2400" spc="-6" baseline="-21021" dirty="0">
                <a:solidFill>
                  <a:srgbClr val="231F20"/>
                </a:solidFill>
                <a:latin typeface="Tahoma"/>
                <a:cs typeface="Tahoma"/>
              </a:rPr>
              <a:t>1</a:t>
            </a:r>
            <a:r>
              <a:rPr lang="en-US" sz="2400" spc="-4" dirty="0">
                <a:solidFill>
                  <a:srgbClr val="231F20"/>
                </a:solidFill>
                <a:latin typeface="Tahoma"/>
                <a:cs typeface="Tahoma"/>
              </a:rPr>
              <a:t>=5,</a:t>
            </a:r>
            <a:r>
              <a:rPr lang="en-US" sz="2400" spc="18" dirty="0">
                <a:solidFill>
                  <a:srgbClr val="231F20"/>
                </a:solidFill>
                <a:latin typeface="Tahoma"/>
                <a:cs typeface="Tahoma"/>
              </a:rPr>
              <a:t> </a:t>
            </a:r>
            <a:r>
              <a:rPr lang="en-US" sz="2400" dirty="0">
                <a:solidFill>
                  <a:srgbClr val="231F20"/>
                </a:solidFill>
                <a:latin typeface="Tahoma"/>
                <a:cs typeface="Tahoma"/>
              </a:rPr>
              <a:t>X</a:t>
            </a:r>
            <a:r>
              <a:rPr lang="en-US" sz="2400" baseline="-21021" dirty="0">
                <a:solidFill>
                  <a:srgbClr val="231F20"/>
                </a:solidFill>
                <a:latin typeface="Tahoma"/>
                <a:cs typeface="Tahoma"/>
              </a:rPr>
              <a:t>2</a:t>
            </a:r>
            <a:r>
              <a:rPr lang="en-US" sz="2400" spc="26" baseline="-21021" dirty="0">
                <a:solidFill>
                  <a:srgbClr val="231F20"/>
                </a:solidFill>
                <a:latin typeface="Tahoma"/>
                <a:cs typeface="Tahoma"/>
              </a:rPr>
              <a:t> </a:t>
            </a:r>
            <a:r>
              <a:rPr lang="en-US" sz="2400" spc="-4" dirty="0">
                <a:solidFill>
                  <a:srgbClr val="231F20"/>
                </a:solidFill>
                <a:latin typeface="Tahoma"/>
                <a:cs typeface="Tahoma"/>
              </a:rPr>
              <a:t>=2,</a:t>
            </a:r>
            <a:r>
              <a:rPr lang="en-US" sz="2400" spc="-9" dirty="0">
                <a:solidFill>
                  <a:srgbClr val="231F20"/>
                </a:solidFill>
                <a:latin typeface="Tahoma"/>
                <a:cs typeface="Tahoma"/>
              </a:rPr>
              <a:t> </a:t>
            </a:r>
            <a:r>
              <a:rPr lang="en-US" sz="2400" spc="-4" dirty="0">
                <a:solidFill>
                  <a:srgbClr val="231F20"/>
                </a:solidFill>
                <a:latin typeface="Tahoma"/>
                <a:cs typeface="Tahoma"/>
              </a:rPr>
              <a:t>Z(Optimum)</a:t>
            </a:r>
            <a:r>
              <a:rPr lang="en-US" sz="2400" spc="13" dirty="0">
                <a:solidFill>
                  <a:srgbClr val="231F20"/>
                </a:solidFill>
                <a:latin typeface="Tahoma"/>
                <a:cs typeface="Tahoma"/>
              </a:rPr>
              <a:t> </a:t>
            </a:r>
            <a:r>
              <a:rPr lang="en-US" sz="2400" spc="-4" dirty="0">
                <a:solidFill>
                  <a:srgbClr val="231F20"/>
                </a:solidFill>
                <a:latin typeface="Tahoma"/>
                <a:cs typeface="Tahoma"/>
              </a:rPr>
              <a:t>=</a:t>
            </a:r>
            <a:r>
              <a:rPr lang="en-US" sz="2400" spc="4" dirty="0">
                <a:solidFill>
                  <a:srgbClr val="231F20"/>
                </a:solidFill>
                <a:latin typeface="Tahoma"/>
                <a:cs typeface="Tahoma"/>
              </a:rPr>
              <a:t> </a:t>
            </a:r>
            <a:r>
              <a:rPr lang="en-US" sz="2400" spc="-4" dirty="0">
                <a:solidFill>
                  <a:srgbClr val="231F20"/>
                </a:solidFill>
                <a:latin typeface="Tahoma"/>
                <a:cs typeface="Tahoma"/>
              </a:rPr>
              <a:t>90</a:t>
            </a:r>
            <a:endParaRPr lang="en-US" sz="2400" dirty="0">
              <a:latin typeface="Tahoma"/>
              <a:cs typeface="Tahoma"/>
            </a:endParaRPr>
          </a:p>
          <a:p>
            <a:pPr marL="326109" marR="16810" indent="-304256" algn="just">
              <a:spcBef>
                <a:spcPts val="2969"/>
              </a:spcBef>
              <a:buFont typeface="Wingdings"/>
              <a:buChar char=""/>
              <a:tabLst>
                <a:tab pos="326669" algn="l"/>
              </a:tabLst>
            </a:pPr>
            <a:r>
              <a:rPr lang="en-US" sz="2400" spc="-13" dirty="0">
                <a:solidFill>
                  <a:srgbClr val="156FB8"/>
                </a:solidFill>
                <a:latin typeface="Tahoma"/>
                <a:cs typeface="Tahoma"/>
              </a:rPr>
              <a:t>NOTE:</a:t>
            </a:r>
            <a:r>
              <a:rPr lang="en-US" sz="2400" spc="741" dirty="0">
                <a:solidFill>
                  <a:srgbClr val="156FB8"/>
                </a:solidFill>
                <a:latin typeface="Tahoma"/>
                <a:cs typeface="Tahoma"/>
              </a:rPr>
              <a:t> </a:t>
            </a:r>
            <a:r>
              <a:rPr lang="en-US" sz="2400" spc="-4" dirty="0">
                <a:solidFill>
                  <a:srgbClr val="156FB8"/>
                </a:solidFill>
                <a:latin typeface="Tahoma"/>
                <a:cs typeface="Tahoma"/>
              </a:rPr>
              <a:t>This</a:t>
            </a:r>
            <a:r>
              <a:rPr lang="en-US" sz="2400" spc="732" dirty="0">
                <a:solidFill>
                  <a:srgbClr val="156FB8"/>
                </a:solidFill>
                <a:latin typeface="Tahoma"/>
                <a:cs typeface="Tahoma"/>
              </a:rPr>
              <a:t> </a:t>
            </a:r>
            <a:r>
              <a:rPr lang="en-US" sz="2400" spc="-4" dirty="0">
                <a:solidFill>
                  <a:srgbClr val="156FB8"/>
                </a:solidFill>
                <a:latin typeface="Tahoma"/>
                <a:cs typeface="Tahoma"/>
              </a:rPr>
              <a:t>Problem</a:t>
            </a:r>
            <a:r>
              <a:rPr lang="en-US" sz="2400" spc="745" dirty="0">
                <a:solidFill>
                  <a:srgbClr val="156FB8"/>
                </a:solidFill>
                <a:latin typeface="Tahoma"/>
                <a:cs typeface="Tahoma"/>
              </a:rPr>
              <a:t> </a:t>
            </a:r>
            <a:r>
              <a:rPr lang="en-US" sz="2400" spc="-4" dirty="0">
                <a:solidFill>
                  <a:srgbClr val="156FB8"/>
                </a:solidFill>
                <a:latin typeface="Tahoma"/>
                <a:cs typeface="Tahoma"/>
              </a:rPr>
              <a:t>has</a:t>
            </a:r>
            <a:r>
              <a:rPr lang="en-US" sz="2400" spc="745" dirty="0">
                <a:solidFill>
                  <a:srgbClr val="156FB8"/>
                </a:solidFill>
                <a:latin typeface="Tahoma"/>
                <a:cs typeface="Tahoma"/>
              </a:rPr>
              <a:t> </a:t>
            </a:r>
            <a:r>
              <a:rPr lang="en-US" sz="2400" spc="-4" dirty="0">
                <a:solidFill>
                  <a:srgbClr val="156FB8"/>
                </a:solidFill>
                <a:latin typeface="Tahoma"/>
                <a:cs typeface="Tahoma"/>
              </a:rPr>
              <a:t>alternative</a:t>
            </a:r>
            <a:r>
              <a:rPr lang="en-US" sz="2400" spc="745" dirty="0">
                <a:solidFill>
                  <a:srgbClr val="156FB8"/>
                </a:solidFill>
                <a:latin typeface="Tahoma"/>
                <a:cs typeface="Tahoma"/>
              </a:rPr>
              <a:t> </a:t>
            </a:r>
            <a:r>
              <a:rPr lang="en-US" sz="2400" spc="-4" dirty="0">
                <a:solidFill>
                  <a:srgbClr val="156FB8"/>
                </a:solidFill>
                <a:latin typeface="Tahoma"/>
                <a:cs typeface="Tahoma"/>
              </a:rPr>
              <a:t>optimum solution</a:t>
            </a:r>
            <a:r>
              <a:rPr lang="en-US" sz="2400" spc="4" dirty="0">
                <a:solidFill>
                  <a:srgbClr val="156FB8"/>
                </a:solidFill>
                <a:latin typeface="Tahoma"/>
                <a:cs typeface="Tahoma"/>
              </a:rPr>
              <a:t> </a:t>
            </a:r>
            <a:r>
              <a:rPr lang="en-US" sz="2400" spc="-4" dirty="0">
                <a:solidFill>
                  <a:srgbClr val="156FB8"/>
                </a:solidFill>
                <a:latin typeface="Tahoma"/>
                <a:cs typeface="Tahoma"/>
              </a:rPr>
              <a:t>at</a:t>
            </a:r>
            <a:r>
              <a:rPr lang="en-US" sz="2400" spc="9" dirty="0">
                <a:solidFill>
                  <a:srgbClr val="156FB8"/>
                </a:solidFill>
                <a:latin typeface="Tahoma"/>
                <a:cs typeface="Tahoma"/>
              </a:rPr>
              <a:t> </a:t>
            </a:r>
            <a:r>
              <a:rPr lang="en-US" sz="2400" spc="-4" dirty="0">
                <a:solidFill>
                  <a:srgbClr val="156FB8"/>
                </a:solidFill>
                <a:latin typeface="Tahoma"/>
                <a:cs typeface="Tahoma"/>
              </a:rPr>
              <a:t>P</a:t>
            </a:r>
            <a:r>
              <a:rPr lang="en-US" sz="2400" spc="-6" baseline="-21021" dirty="0">
                <a:solidFill>
                  <a:srgbClr val="156FB8"/>
                </a:solidFill>
                <a:latin typeface="Tahoma"/>
                <a:cs typeface="Tahoma"/>
              </a:rPr>
              <a:t>8</a:t>
            </a:r>
            <a:r>
              <a:rPr lang="en-US" sz="2400" spc="19" baseline="-21021" dirty="0">
                <a:solidFill>
                  <a:srgbClr val="156FB8"/>
                </a:solidFill>
                <a:latin typeface="Tahoma"/>
                <a:cs typeface="Tahoma"/>
              </a:rPr>
              <a:t> </a:t>
            </a:r>
            <a:r>
              <a:rPr lang="en-US" sz="2400" spc="-4" dirty="0">
                <a:solidFill>
                  <a:srgbClr val="156FB8"/>
                </a:solidFill>
                <a:latin typeface="Tahoma"/>
                <a:cs typeface="Tahoma"/>
              </a:rPr>
              <a:t>with</a:t>
            </a:r>
            <a:r>
              <a:rPr lang="en-US" sz="2400" spc="4" dirty="0">
                <a:solidFill>
                  <a:srgbClr val="156FB8"/>
                </a:solidFill>
                <a:latin typeface="Tahoma"/>
                <a:cs typeface="Tahoma"/>
              </a:rPr>
              <a:t> </a:t>
            </a:r>
            <a:r>
              <a:rPr lang="en-US" sz="2400" spc="-4" dirty="0">
                <a:solidFill>
                  <a:srgbClr val="156FB8"/>
                </a:solidFill>
                <a:latin typeface="Tahoma"/>
                <a:cs typeface="Tahoma"/>
              </a:rPr>
              <a:t>X</a:t>
            </a:r>
            <a:r>
              <a:rPr lang="en-US" sz="2400" spc="-6" baseline="-21021" dirty="0">
                <a:solidFill>
                  <a:srgbClr val="156FB8"/>
                </a:solidFill>
                <a:latin typeface="Tahoma"/>
                <a:cs typeface="Tahoma"/>
              </a:rPr>
              <a:t>1</a:t>
            </a:r>
            <a:r>
              <a:rPr lang="en-US" sz="2400" spc="-4" dirty="0">
                <a:solidFill>
                  <a:srgbClr val="156FB8"/>
                </a:solidFill>
                <a:latin typeface="Tahoma"/>
                <a:cs typeface="Tahoma"/>
              </a:rPr>
              <a:t>=3,</a:t>
            </a:r>
            <a:r>
              <a:rPr lang="en-US" sz="2400" spc="18" dirty="0">
                <a:solidFill>
                  <a:srgbClr val="156FB8"/>
                </a:solidFill>
                <a:latin typeface="Tahoma"/>
                <a:cs typeface="Tahoma"/>
              </a:rPr>
              <a:t> </a:t>
            </a:r>
            <a:r>
              <a:rPr lang="en-US" sz="2400" spc="-4" dirty="0">
                <a:solidFill>
                  <a:srgbClr val="156FB8"/>
                </a:solidFill>
                <a:latin typeface="Tahoma"/>
                <a:cs typeface="Tahoma"/>
              </a:rPr>
              <a:t>X</a:t>
            </a:r>
            <a:r>
              <a:rPr lang="en-US" sz="2400" spc="-6" baseline="-21021" dirty="0">
                <a:solidFill>
                  <a:srgbClr val="156FB8"/>
                </a:solidFill>
                <a:latin typeface="Tahoma"/>
                <a:cs typeface="Tahoma"/>
              </a:rPr>
              <a:t>2</a:t>
            </a:r>
            <a:r>
              <a:rPr lang="en-US" sz="2400" spc="-4" dirty="0">
                <a:solidFill>
                  <a:srgbClr val="156FB8"/>
                </a:solidFill>
                <a:latin typeface="Tahoma"/>
                <a:cs typeface="Tahoma"/>
              </a:rPr>
              <a:t>=3,</a:t>
            </a:r>
            <a:r>
              <a:rPr lang="en-US" sz="2400" dirty="0">
                <a:solidFill>
                  <a:srgbClr val="156FB8"/>
                </a:solidFill>
                <a:latin typeface="Tahoma"/>
                <a:cs typeface="Tahoma"/>
              </a:rPr>
              <a:t> </a:t>
            </a:r>
            <a:r>
              <a:rPr lang="en-US" sz="2400" spc="-4" dirty="0">
                <a:solidFill>
                  <a:srgbClr val="156FB8"/>
                </a:solidFill>
                <a:latin typeface="Tahoma"/>
                <a:cs typeface="Tahoma"/>
              </a:rPr>
              <a:t>Z(Optimum)=90</a:t>
            </a:r>
            <a:endParaRPr sz="2400" dirty="0">
              <a:latin typeface="Tahoma"/>
              <a:cs typeface="Tahom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6837" y="215555"/>
            <a:ext cx="9450855" cy="504323"/>
          </a:xfrm>
          <a:prstGeom prst="rect">
            <a:avLst/>
          </a:prstGeom>
        </p:spPr>
        <p:txBody>
          <a:bodyPr vert="horz" wrap="square" lIns="0" tIns="11766" rIns="0" bIns="0" rtlCol="0" anchor="t">
            <a:spAutoFit/>
          </a:bodyPr>
          <a:lstStyle/>
          <a:p>
            <a:pPr marL="11206">
              <a:lnSpc>
                <a:spcPct val="100000"/>
              </a:lnSpc>
              <a:spcBef>
                <a:spcPts val="93"/>
              </a:spcBef>
            </a:pPr>
            <a:r>
              <a:t>BRANCH–AND–BOUND</a:t>
            </a:r>
            <a:r>
              <a:rPr spc="-79"/>
              <a:t> </a:t>
            </a:r>
            <a:r>
              <a:rPr spc="-4"/>
              <a:t>METHOD</a:t>
            </a:r>
            <a:r>
              <a:rPr spc="-26"/>
              <a:t> </a:t>
            </a:r>
            <a:r>
              <a:t>(Cont…)</a:t>
            </a:r>
          </a:p>
        </p:txBody>
      </p:sp>
      <p:sp>
        <p:nvSpPr>
          <p:cNvPr id="3" name="object 3"/>
          <p:cNvSpPr txBox="1"/>
          <p:nvPr/>
        </p:nvSpPr>
        <p:spPr>
          <a:xfrm>
            <a:off x="2236837" y="655899"/>
            <a:ext cx="4922815" cy="390982"/>
          </a:xfrm>
          <a:prstGeom prst="rect">
            <a:avLst/>
          </a:prstGeom>
        </p:spPr>
        <p:txBody>
          <a:bodyPr vert="horz" wrap="square" lIns="0" tIns="10646" rIns="0" bIns="0" rtlCol="0">
            <a:spAutoFit/>
          </a:bodyPr>
          <a:lstStyle/>
          <a:p>
            <a:pPr marL="314902" marR="4483" indent="-304256">
              <a:spcBef>
                <a:spcPts val="84"/>
              </a:spcBef>
              <a:buFont typeface="Wingdings"/>
              <a:buChar char=""/>
              <a:tabLst>
                <a:tab pos="315462" algn="l"/>
              </a:tabLst>
            </a:pPr>
            <a:r>
              <a:rPr lang="en-US" sz="2471" spc="-4">
                <a:solidFill>
                  <a:srgbClr val="231F20"/>
                </a:solidFill>
                <a:latin typeface="Tahoma"/>
                <a:cs typeface="Tahoma"/>
              </a:rPr>
              <a:t>C</a:t>
            </a:r>
            <a:r>
              <a:rPr lang="en-US" sz="2471">
                <a:solidFill>
                  <a:srgbClr val="231F20"/>
                </a:solidFill>
                <a:latin typeface="Tahoma"/>
                <a:cs typeface="Tahoma"/>
              </a:rPr>
              <a:t>o</a:t>
            </a:r>
            <a:r>
              <a:rPr lang="en-US" sz="2471" spc="-4">
                <a:solidFill>
                  <a:srgbClr val="231F20"/>
                </a:solidFill>
                <a:latin typeface="Tahoma"/>
                <a:cs typeface="Tahoma"/>
              </a:rPr>
              <a:t>m</a:t>
            </a:r>
            <a:r>
              <a:rPr lang="en-US" sz="2471">
                <a:solidFill>
                  <a:srgbClr val="231F20"/>
                </a:solidFill>
                <a:latin typeface="Tahoma"/>
                <a:cs typeface="Tahoma"/>
              </a:rPr>
              <a:t>p</a:t>
            </a:r>
            <a:r>
              <a:rPr lang="en-US" sz="2471" spc="-4">
                <a:solidFill>
                  <a:srgbClr val="231F20"/>
                </a:solidFill>
                <a:latin typeface="Tahoma"/>
                <a:cs typeface="Tahoma"/>
              </a:rPr>
              <a:t>l</a:t>
            </a:r>
            <a:r>
              <a:rPr lang="en-US" sz="2471" spc="-9">
                <a:solidFill>
                  <a:srgbClr val="231F20"/>
                </a:solidFill>
                <a:latin typeface="Tahoma"/>
                <a:cs typeface="Tahoma"/>
              </a:rPr>
              <a:t>et</a:t>
            </a:r>
            <a:r>
              <a:rPr lang="en-US" sz="2471" spc="-4">
                <a:solidFill>
                  <a:srgbClr val="231F20"/>
                </a:solidFill>
                <a:latin typeface="Tahoma"/>
                <a:cs typeface="Tahoma"/>
              </a:rPr>
              <a:t>e </a:t>
            </a:r>
            <a:r>
              <a:rPr lang="en-US" sz="2471" spc="-53">
                <a:solidFill>
                  <a:srgbClr val="231F20"/>
                </a:solidFill>
                <a:latin typeface="Tahoma"/>
                <a:cs typeface="Tahoma"/>
              </a:rPr>
              <a:t>Tree:</a:t>
            </a:r>
            <a:endParaRPr sz="2471">
              <a:latin typeface="Tahoma"/>
              <a:cs typeface="Tahoma"/>
            </a:endParaRPr>
          </a:p>
        </p:txBody>
      </p:sp>
      <p:pic>
        <p:nvPicPr>
          <p:cNvPr id="4" name="object 4"/>
          <p:cNvPicPr/>
          <p:nvPr/>
        </p:nvPicPr>
        <p:blipFill>
          <a:blip r:embed="rId2" cstate="print"/>
          <a:stretch>
            <a:fillRect/>
          </a:stretch>
        </p:blipFill>
        <p:spPr>
          <a:xfrm>
            <a:off x="778328" y="1046881"/>
            <a:ext cx="10635343" cy="5793701"/>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71425" y="240358"/>
            <a:ext cx="8432766" cy="504323"/>
          </a:xfrm>
          <a:prstGeom prst="rect">
            <a:avLst/>
          </a:prstGeom>
        </p:spPr>
        <p:txBody>
          <a:bodyPr vert="horz" wrap="square" lIns="0" tIns="11766" rIns="0" bIns="0" rtlCol="0" anchor="t">
            <a:spAutoFit/>
          </a:bodyPr>
          <a:lstStyle/>
          <a:p>
            <a:pPr marL="11206">
              <a:lnSpc>
                <a:spcPct val="100000"/>
              </a:lnSpc>
              <a:spcBef>
                <a:spcPts val="93"/>
              </a:spcBef>
            </a:pPr>
            <a:r>
              <a:rPr dirty="0"/>
              <a:t>BRANCH–AND–BOUND</a:t>
            </a:r>
            <a:r>
              <a:rPr spc="-79" dirty="0"/>
              <a:t> </a:t>
            </a:r>
            <a:r>
              <a:rPr spc="-4" dirty="0"/>
              <a:t>METHOD</a:t>
            </a:r>
            <a:r>
              <a:rPr spc="-26" dirty="0"/>
              <a:t> </a:t>
            </a:r>
            <a:r>
              <a:rPr dirty="0"/>
              <a:t>(</a:t>
            </a:r>
            <a:r>
              <a:rPr dirty="0" err="1"/>
              <a:t>Cont</a:t>
            </a:r>
            <a:r>
              <a:rPr dirty="0"/>
              <a:t>…)</a:t>
            </a:r>
          </a:p>
        </p:txBody>
      </p:sp>
      <p:sp>
        <p:nvSpPr>
          <p:cNvPr id="3" name="object 3"/>
          <p:cNvSpPr txBox="1"/>
          <p:nvPr/>
        </p:nvSpPr>
        <p:spPr>
          <a:xfrm>
            <a:off x="380326" y="1953770"/>
            <a:ext cx="11811674" cy="3778693"/>
          </a:xfrm>
          <a:prstGeom prst="rect">
            <a:avLst/>
          </a:prstGeom>
        </p:spPr>
        <p:txBody>
          <a:bodyPr vert="horz" wrap="square" lIns="0" tIns="11206" rIns="0" bIns="0" rtlCol="0" anchor="t">
            <a:spAutoFit/>
          </a:bodyPr>
          <a:lstStyle/>
          <a:p>
            <a:pPr marL="226060" marR="17780" indent="-204470" algn="just">
              <a:buAutoNum type="arabicPeriod"/>
              <a:tabLst>
                <a:tab pos="226931" algn="l"/>
              </a:tabLst>
            </a:pPr>
            <a:r>
              <a:rPr lang="en-US" sz="1600" spc="-4" dirty="0">
                <a:solidFill>
                  <a:srgbClr val="231F20"/>
                </a:solidFill>
                <a:latin typeface="Tahoma"/>
                <a:cs typeface="Tahoma"/>
              </a:rPr>
              <a:t>Solve</a:t>
            </a:r>
            <a:r>
              <a:rPr lang="en-US" sz="1600" dirty="0">
                <a:solidFill>
                  <a:srgbClr val="231F20"/>
                </a:solidFill>
                <a:latin typeface="Tahoma"/>
                <a:cs typeface="Tahoma"/>
              </a:rPr>
              <a:t> </a:t>
            </a:r>
            <a:r>
              <a:rPr lang="en-US" sz="1600" spc="-4" dirty="0">
                <a:solidFill>
                  <a:srgbClr val="231F20"/>
                </a:solidFill>
                <a:latin typeface="Tahoma"/>
                <a:cs typeface="Tahoma"/>
              </a:rPr>
              <a:t>the</a:t>
            </a:r>
            <a:r>
              <a:rPr lang="en-US" sz="1600" dirty="0">
                <a:solidFill>
                  <a:srgbClr val="231F20"/>
                </a:solidFill>
                <a:latin typeface="Tahoma"/>
                <a:cs typeface="Tahoma"/>
              </a:rPr>
              <a:t> </a:t>
            </a:r>
            <a:r>
              <a:rPr lang="en-US" sz="1600" spc="-4" dirty="0">
                <a:solidFill>
                  <a:srgbClr val="231F20"/>
                </a:solidFill>
                <a:latin typeface="Tahoma"/>
                <a:cs typeface="Tahoma"/>
              </a:rPr>
              <a:t>given</a:t>
            </a:r>
            <a:r>
              <a:rPr lang="en-US" sz="1600" dirty="0">
                <a:solidFill>
                  <a:srgbClr val="231F20"/>
                </a:solidFill>
                <a:latin typeface="Tahoma"/>
                <a:cs typeface="Tahoma"/>
              </a:rPr>
              <a:t> </a:t>
            </a:r>
            <a:r>
              <a:rPr lang="en-US" sz="1600" spc="-4" dirty="0">
                <a:solidFill>
                  <a:srgbClr val="231F20"/>
                </a:solidFill>
                <a:latin typeface="Tahoma"/>
                <a:cs typeface="Tahoma"/>
              </a:rPr>
              <a:t>linear</a:t>
            </a:r>
            <a:r>
              <a:rPr lang="en-US" sz="1600" dirty="0">
                <a:solidFill>
                  <a:srgbClr val="231F20"/>
                </a:solidFill>
                <a:latin typeface="Tahoma"/>
                <a:cs typeface="Tahoma"/>
              </a:rPr>
              <a:t> </a:t>
            </a:r>
            <a:r>
              <a:rPr lang="en-US" sz="1600" spc="-9" dirty="0">
                <a:solidFill>
                  <a:srgbClr val="231F20"/>
                </a:solidFill>
                <a:latin typeface="Tahoma"/>
                <a:cs typeface="Tahoma"/>
              </a:rPr>
              <a:t>programming</a:t>
            </a:r>
            <a:r>
              <a:rPr lang="en-US" sz="1600" spc="-4" dirty="0">
                <a:solidFill>
                  <a:srgbClr val="231F20"/>
                </a:solidFill>
                <a:latin typeface="Tahoma"/>
                <a:cs typeface="Tahoma"/>
              </a:rPr>
              <a:t> problem</a:t>
            </a:r>
            <a:r>
              <a:rPr lang="en-US" sz="1600" dirty="0">
                <a:solidFill>
                  <a:srgbClr val="231F20"/>
                </a:solidFill>
                <a:latin typeface="Tahoma"/>
                <a:cs typeface="Tahoma"/>
              </a:rPr>
              <a:t> </a:t>
            </a:r>
            <a:r>
              <a:rPr lang="en-US" sz="1600" spc="-9" dirty="0">
                <a:solidFill>
                  <a:srgbClr val="231F20"/>
                </a:solidFill>
                <a:latin typeface="Tahoma"/>
                <a:cs typeface="Tahoma"/>
              </a:rPr>
              <a:t>graphically</a:t>
            </a:r>
            <a:r>
              <a:rPr lang="en-US" sz="1600" spc="-4" dirty="0">
                <a:solidFill>
                  <a:srgbClr val="231F20"/>
                </a:solidFill>
                <a:latin typeface="Tahoma"/>
                <a:cs typeface="Tahoma"/>
              </a:rPr>
              <a:t> or</a:t>
            </a:r>
            <a:r>
              <a:rPr lang="en-US" sz="1600" dirty="0">
                <a:solidFill>
                  <a:srgbClr val="231F20"/>
                </a:solidFill>
                <a:latin typeface="Tahoma"/>
                <a:cs typeface="Tahoma"/>
              </a:rPr>
              <a:t> using</a:t>
            </a:r>
            <a:r>
              <a:rPr lang="en-US" sz="1600" spc="4" dirty="0">
                <a:solidFill>
                  <a:srgbClr val="231F20"/>
                </a:solidFill>
                <a:latin typeface="Tahoma"/>
                <a:cs typeface="Tahoma"/>
              </a:rPr>
              <a:t> </a:t>
            </a:r>
            <a:r>
              <a:rPr lang="en-US" sz="1600" spc="-4" dirty="0">
                <a:solidFill>
                  <a:srgbClr val="231F20"/>
                </a:solidFill>
                <a:latin typeface="Tahoma"/>
                <a:cs typeface="Tahoma"/>
              </a:rPr>
              <a:t>iterative method.</a:t>
            </a:r>
            <a:r>
              <a:rPr lang="en-US" sz="1600" spc="-13" dirty="0">
                <a:solidFill>
                  <a:srgbClr val="231F20"/>
                </a:solidFill>
                <a:latin typeface="Tahoma"/>
                <a:cs typeface="Tahoma"/>
              </a:rPr>
              <a:t> </a:t>
            </a:r>
            <a:r>
              <a:rPr lang="en-US" sz="1600" spc="-4" dirty="0">
                <a:solidFill>
                  <a:srgbClr val="231F20"/>
                </a:solidFill>
                <a:latin typeface="Tahoma"/>
                <a:cs typeface="Tahoma"/>
              </a:rPr>
              <a:t>Set,</a:t>
            </a:r>
            <a:r>
              <a:rPr lang="en-US" sz="1600" spc="4" dirty="0">
                <a:solidFill>
                  <a:srgbClr val="231F20"/>
                </a:solidFill>
                <a:latin typeface="Tahoma"/>
                <a:cs typeface="Tahoma"/>
              </a:rPr>
              <a:t> </a:t>
            </a:r>
            <a:r>
              <a:rPr lang="en-US" sz="1600" spc="-4" dirty="0">
                <a:solidFill>
                  <a:srgbClr val="231F20"/>
                </a:solidFill>
                <a:latin typeface="Tahoma"/>
                <a:cs typeface="Tahoma"/>
              </a:rPr>
              <a:t>the</a:t>
            </a:r>
            <a:r>
              <a:rPr lang="en-US" sz="1600" spc="9" dirty="0">
                <a:solidFill>
                  <a:srgbClr val="231F20"/>
                </a:solidFill>
                <a:latin typeface="Tahoma"/>
                <a:cs typeface="Tahoma"/>
              </a:rPr>
              <a:t> </a:t>
            </a:r>
            <a:r>
              <a:rPr lang="en-US" sz="1600" spc="-9" dirty="0">
                <a:solidFill>
                  <a:srgbClr val="231F20"/>
                </a:solidFill>
                <a:latin typeface="Tahoma"/>
                <a:cs typeface="Tahoma"/>
              </a:rPr>
              <a:t>current</a:t>
            </a:r>
            <a:r>
              <a:rPr lang="en-US" sz="1600" spc="26" dirty="0">
                <a:solidFill>
                  <a:srgbClr val="231F20"/>
                </a:solidFill>
                <a:latin typeface="Tahoma"/>
                <a:cs typeface="Tahoma"/>
              </a:rPr>
              <a:t> </a:t>
            </a:r>
            <a:r>
              <a:rPr lang="en-US" sz="1600" spc="-4" dirty="0">
                <a:solidFill>
                  <a:srgbClr val="231F20"/>
                </a:solidFill>
                <a:latin typeface="Tahoma"/>
                <a:cs typeface="Tahoma"/>
              </a:rPr>
              <a:t>best</a:t>
            </a:r>
            <a:r>
              <a:rPr lang="en-US" sz="1600" spc="4" dirty="0">
                <a:solidFill>
                  <a:srgbClr val="231F20"/>
                </a:solidFill>
                <a:latin typeface="Tahoma"/>
                <a:cs typeface="Tahoma"/>
              </a:rPr>
              <a:t> </a:t>
            </a:r>
            <a:r>
              <a:rPr lang="en-US" sz="1600" spc="-4" dirty="0">
                <a:solidFill>
                  <a:srgbClr val="231F20"/>
                </a:solidFill>
                <a:latin typeface="Tahoma"/>
                <a:cs typeface="Tahoma"/>
              </a:rPr>
              <a:t>lower</a:t>
            </a:r>
            <a:r>
              <a:rPr lang="en-US" sz="1600" dirty="0">
                <a:solidFill>
                  <a:srgbClr val="231F20"/>
                </a:solidFill>
                <a:latin typeface="Tahoma"/>
                <a:cs typeface="Tahoma"/>
              </a:rPr>
              <a:t> </a:t>
            </a:r>
            <a:r>
              <a:rPr lang="en-US" sz="1600" spc="-4" dirty="0">
                <a:solidFill>
                  <a:srgbClr val="231F20"/>
                </a:solidFill>
                <a:latin typeface="Tahoma"/>
                <a:cs typeface="Tahoma"/>
              </a:rPr>
              <a:t>bound</a:t>
            </a:r>
            <a:r>
              <a:rPr lang="en-US" sz="1600" spc="13" dirty="0">
                <a:solidFill>
                  <a:srgbClr val="231F20"/>
                </a:solidFill>
                <a:latin typeface="Tahoma"/>
                <a:cs typeface="Tahoma"/>
              </a:rPr>
              <a:t> </a:t>
            </a:r>
            <a:r>
              <a:rPr lang="en-US" sz="1600" spc="4" dirty="0">
                <a:solidFill>
                  <a:srgbClr val="231F20"/>
                </a:solidFill>
                <a:latin typeface="Tahoma"/>
                <a:cs typeface="Tahoma"/>
              </a:rPr>
              <a:t>Z</a:t>
            </a:r>
            <a:r>
              <a:rPr lang="en-US" sz="1550" spc="6" baseline="-20833" dirty="0">
                <a:solidFill>
                  <a:srgbClr val="231F20"/>
                </a:solidFill>
                <a:latin typeface="Tahoma"/>
                <a:cs typeface="Tahoma"/>
              </a:rPr>
              <a:t>B</a:t>
            </a:r>
            <a:r>
              <a:rPr lang="en-US" sz="1550" spc="13" baseline="-20833" dirty="0">
                <a:solidFill>
                  <a:srgbClr val="231F20"/>
                </a:solidFill>
                <a:latin typeface="Tahoma"/>
                <a:cs typeface="Tahoma"/>
              </a:rPr>
              <a:t> </a:t>
            </a:r>
            <a:r>
              <a:rPr lang="en-US" sz="1600" spc="-4" dirty="0">
                <a:solidFill>
                  <a:srgbClr val="231F20"/>
                </a:solidFill>
                <a:latin typeface="Tahoma"/>
                <a:cs typeface="Tahoma"/>
              </a:rPr>
              <a:t>as</a:t>
            </a:r>
            <a:r>
              <a:rPr lang="en-US" sz="1600" dirty="0">
                <a:solidFill>
                  <a:srgbClr val="231F20"/>
                </a:solidFill>
                <a:latin typeface="Tahoma"/>
                <a:cs typeface="Tahoma"/>
              </a:rPr>
              <a:t> -</a:t>
            </a:r>
            <a:r>
              <a:rPr lang="en-US" sz="1600" spc="-4" dirty="0">
                <a:solidFill>
                  <a:srgbClr val="231F20"/>
                </a:solidFill>
                <a:latin typeface="Tahoma"/>
                <a:cs typeface="Tahoma"/>
              </a:rPr>
              <a:t>∞.</a:t>
            </a:r>
            <a:endParaRPr lang="en-US" sz="1600" dirty="0">
              <a:latin typeface="Tahoma"/>
              <a:ea typeface="Tahoma"/>
              <a:cs typeface="Tahoma"/>
            </a:endParaRPr>
          </a:p>
          <a:p>
            <a:pPr marL="226060" marR="18415" indent="-204470" algn="just">
              <a:buAutoNum type="arabicPeriod"/>
              <a:tabLst>
                <a:tab pos="226931" algn="l"/>
              </a:tabLst>
            </a:pPr>
            <a:r>
              <a:rPr lang="en-US" sz="1600" spc="-9" dirty="0">
                <a:solidFill>
                  <a:srgbClr val="231F20"/>
                </a:solidFill>
                <a:latin typeface="Tahoma"/>
                <a:cs typeface="Tahoma"/>
              </a:rPr>
              <a:t>Check, Whether the problem has integer solution. If yes, print the current solution as the optimal solution and stop; Otherwise go to Step 3.</a:t>
            </a:r>
            <a:endParaRPr lang="en-US" sz="1600" spc="-9" dirty="0">
              <a:solidFill>
                <a:srgbClr val="231F20"/>
              </a:solidFill>
              <a:latin typeface="Tahoma"/>
              <a:ea typeface="Tahoma"/>
              <a:cs typeface="Tahoma"/>
            </a:endParaRPr>
          </a:p>
          <a:p>
            <a:pPr marL="226060" marR="15240" indent="-204470" algn="just">
              <a:buAutoNum type="arabicPeriod"/>
              <a:tabLst>
                <a:tab pos="226931" algn="l"/>
              </a:tabLst>
            </a:pPr>
            <a:r>
              <a:rPr lang="en-US" sz="1600" spc="-9" dirty="0">
                <a:solidFill>
                  <a:srgbClr val="231F20"/>
                </a:solidFill>
                <a:latin typeface="Tahoma"/>
                <a:cs typeface="Tahoma"/>
              </a:rPr>
              <a:t>Identify the variable </a:t>
            </a:r>
            <a:r>
              <a:rPr lang="en-US" sz="1600" spc="-9" dirty="0" err="1">
                <a:solidFill>
                  <a:srgbClr val="231F20"/>
                </a:solidFill>
                <a:latin typeface="Tahoma"/>
                <a:cs typeface="Tahoma"/>
              </a:rPr>
              <a:t>Xk</a:t>
            </a:r>
            <a:r>
              <a:rPr lang="en-US" sz="1600" spc="-9" dirty="0">
                <a:solidFill>
                  <a:srgbClr val="231F20"/>
                </a:solidFill>
                <a:latin typeface="Tahoma"/>
                <a:cs typeface="Tahoma"/>
              </a:rPr>
              <a:t> which has the maximum fractional part as the branching variable. (In case of tie, select the variable which has the highest objective function coefficient.)</a:t>
            </a:r>
            <a:endParaRPr lang="en-US" sz="1600" spc="-9" dirty="0">
              <a:solidFill>
                <a:srgbClr val="231F20"/>
              </a:solidFill>
              <a:latin typeface="Tahoma"/>
              <a:ea typeface="Tahoma"/>
              <a:cs typeface="Tahoma"/>
            </a:endParaRPr>
          </a:p>
          <a:p>
            <a:pPr marL="226060" marR="17145" indent="-204470" algn="just">
              <a:buAutoNum type="arabicPeriod"/>
              <a:tabLst>
                <a:tab pos="226931" algn="l"/>
              </a:tabLst>
            </a:pPr>
            <a:r>
              <a:rPr lang="en-US" sz="1600" spc="-9" dirty="0">
                <a:solidFill>
                  <a:srgbClr val="231F20"/>
                </a:solidFill>
                <a:latin typeface="Tahoma"/>
                <a:cs typeface="Tahoma"/>
              </a:rPr>
              <a:t>Create two more problems by including each of the following constraints to the current problem and solve them.</a:t>
            </a:r>
            <a:endParaRPr lang="en-US" sz="1600" spc="-9" dirty="0">
              <a:solidFill>
                <a:srgbClr val="231F20"/>
              </a:solidFill>
              <a:latin typeface="Tahoma"/>
              <a:ea typeface="Tahoma"/>
              <a:cs typeface="Tahoma"/>
            </a:endParaRPr>
          </a:p>
          <a:p>
            <a:pPr marL="1635760" lvl="1" indent="-403860" algn="just">
              <a:buAutoNum type="alphaLcPeriod"/>
              <a:tabLst>
                <a:tab pos="1636706" algn="l"/>
              </a:tabLst>
            </a:pPr>
            <a:r>
              <a:rPr lang="en-US" sz="1600" spc="-9" dirty="0" err="1">
                <a:solidFill>
                  <a:srgbClr val="231F20"/>
                </a:solidFill>
                <a:latin typeface="Tahoma"/>
                <a:cs typeface="Tahoma"/>
              </a:rPr>
              <a:t>Xk</a:t>
            </a:r>
            <a:r>
              <a:rPr lang="en-US" sz="1600" spc="-9" dirty="0">
                <a:solidFill>
                  <a:srgbClr val="231F20"/>
                </a:solidFill>
                <a:latin typeface="Tahoma"/>
                <a:cs typeface="Tahoma"/>
              </a:rPr>
              <a:t> ≤ Integer part of </a:t>
            </a:r>
            <a:r>
              <a:rPr lang="en-US" sz="1600" spc="-9" dirty="0" err="1">
                <a:solidFill>
                  <a:srgbClr val="231F20"/>
                </a:solidFill>
                <a:latin typeface="Tahoma"/>
                <a:cs typeface="Tahoma"/>
              </a:rPr>
              <a:t>Xk</a:t>
            </a:r>
            <a:endParaRPr lang="en-US" sz="1600" spc="-9" dirty="0" err="1">
              <a:solidFill>
                <a:srgbClr val="231F20"/>
              </a:solidFill>
              <a:latin typeface="Tahoma"/>
              <a:ea typeface="Tahoma"/>
              <a:cs typeface="Tahoma"/>
            </a:endParaRPr>
          </a:p>
          <a:p>
            <a:pPr marL="1635760" lvl="1" indent="-403860" algn="just">
              <a:spcBef>
                <a:spcPts val="4"/>
              </a:spcBef>
              <a:buAutoNum type="alphaLcPeriod"/>
              <a:tabLst>
                <a:tab pos="1636706" algn="l"/>
              </a:tabLst>
            </a:pPr>
            <a:r>
              <a:rPr lang="en-US" sz="1600" spc="-9" dirty="0" err="1">
                <a:solidFill>
                  <a:srgbClr val="231F20"/>
                </a:solidFill>
                <a:latin typeface="Tahoma"/>
                <a:cs typeface="Tahoma"/>
              </a:rPr>
              <a:t>Xk</a:t>
            </a:r>
            <a:r>
              <a:rPr lang="en-US" sz="1600" spc="-9" dirty="0">
                <a:solidFill>
                  <a:srgbClr val="231F20"/>
                </a:solidFill>
                <a:latin typeface="Tahoma"/>
                <a:cs typeface="Tahoma"/>
              </a:rPr>
              <a:t> ≥ Next Integer of </a:t>
            </a:r>
            <a:r>
              <a:rPr lang="en-US" sz="1600" spc="-9" dirty="0" err="1">
                <a:solidFill>
                  <a:srgbClr val="231F20"/>
                </a:solidFill>
                <a:latin typeface="Tahoma"/>
                <a:cs typeface="Tahoma"/>
              </a:rPr>
              <a:t>Xk</a:t>
            </a:r>
            <a:endParaRPr lang="en-US" sz="1600" spc="-9" dirty="0" err="1">
              <a:solidFill>
                <a:srgbClr val="231F20"/>
              </a:solidFill>
              <a:latin typeface="Tahoma"/>
              <a:ea typeface="Tahoma"/>
              <a:cs typeface="Tahoma"/>
            </a:endParaRPr>
          </a:p>
          <a:p>
            <a:pPr marL="226060" marR="16510" indent="-204470" algn="just">
              <a:buAutoNum type="arabicPeriod"/>
              <a:tabLst>
                <a:tab pos="226931" algn="l"/>
              </a:tabLst>
            </a:pPr>
            <a:r>
              <a:rPr lang="en-US" sz="1600" spc="-9" dirty="0">
                <a:solidFill>
                  <a:srgbClr val="231F20"/>
                </a:solidFill>
                <a:latin typeface="Tahoma"/>
                <a:cs typeface="Tahoma"/>
              </a:rPr>
              <a:t>If any one of the new sub-problems has infeasible solution or fully integer values for the decision variables, the corresponding node is fathomed. If a new node has integer values for the decision variables, update the current best lower bound as the lower bound of that node if its lower bound is greater than the previous current best lower bound.</a:t>
            </a:r>
            <a:endParaRPr lang="en-US" sz="1600" spc="-9" dirty="0">
              <a:solidFill>
                <a:srgbClr val="231F20"/>
              </a:solidFill>
              <a:latin typeface="Tahoma"/>
              <a:ea typeface="Tahoma"/>
              <a:cs typeface="Tahoma"/>
            </a:endParaRPr>
          </a:p>
          <a:p>
            <a:pPr marL="226060" indent="-204470" algn="just">
              <a:buAutoNum type="arabicPeriod"/>
              <a:tabLst>
                <a:tab pos="226931" algn="l"/>
              </a:tabLst>
            </a:pPr>
            <a:r>
              <a:rPr lang="en-US" sz="1600" spc="-9" dirty="0">
                <a:solidFill>
                  <a:srgbClr val="231F20"/>
                </a:solidFill>
                <a:latin typeface="Tahoma"/>
                <a:cs typeface="Tahoma"/>
              </a:rPr>
              <a:t>Are all terminal nodes fathomed? If answer is yes, go to step 7; otherwise,</a:t>
            </a:r>
            <a:endParaRPr lang="en-US" sz="1600" spc="-9" dirty="0">
              <a:solidFill>
                <a:srgbClr val="231F20"/>
              </a:solidFill>
              <a:latin typeface="Tahoma"/>
              <a:ea typeface="Tahoma"/>
              <a:cs typeface="Tahoma"/>
            </a:endParaRPr>
          </a:p>
          <a:p>
            <a:pPr marL="226060" algn="just"/>
            <a:r>
              <a:rPr lang="en-US" sz="1600" spc="-9" dirty="0">
                <a:solidFill>
                  <a:srgbClr val="231F20"/>
                </a:solidFill>
                <a:latin typeface="Tahoma"/>
                <a:cs typeface="Tahoma"/>
              </a:rPr>
              <a:t>identify the node with the highest lower bound and go to step 3.</a:t>
            </a:r>
            <a:endParaRPr lang="en-US" sz="1600" spc="-9" dirty="0">
              <a:solidFill>
                <a:srgbClr val="231F20"/>
              </a:solidFill>
              <a:latin typeface="Tahoma"/>
              <a:ea typeface="Tahoma"/>
              <a:cs typeface="Tahoma"/>
            </a:endParaRPr>
          </a:p>
          <a:p>
            <a:pPr marL="226060" marR="17145" indent="-204470" algn="just">
              <a:buAutoNum type="arabicPeriod" startAt="7"/>
              <a:tabLst>
                <a:tab pos="226931" algn="l"/>
              </a:tabLst>
            </a:pPr>
            <a:r>
              <a:rPr lang="en-US" sz="1600" spc="-9" dirty="0">
                <a:solidFill>
                  <a:srgbClr val="231F20"/>
                </a:solidFill>
                <a:latin typeface="Tahoma"/>
                <a:cs typeface="Tahoma"/>
              </a:rPr>
              <a:t>Select the solution of the problem with respect to the fathomed node whose lower bound is equal to the current best lower bound as the optimal integer solution.</a:t>
            </a:r>
            <a:endParaRPr sz="1600" spc="-9" dirty="0">
              <a:solidFill>
                <a:srgbClr val="231F20"/>
              </a:solidFill>
              <a:latin typeface="Tahoma"/>
              <a:ea typeface="Tahoma"/>
              <a:cs typeface="Tahoma"/>
            </a:endParaRPr>
          </a:p>
        </p:txBody>
      </p:sp>
      <p:pic>
        <p:nvPicPr>
          <p:cNvPr id="5" name="Picture 8" descr="Complete Binary Tree">
            <a:extLst>
              <a:ext uri="{FF2B5EF4-FFF2-40B4-BE49-F238E27FC236}">
                <a16:creationId xmlns:a16="http://schemas.microsoft.com/office/drawing/2014/main" id="{C70C8C9F-D7D8-35A6-5E93-24C11687D229}"/>
              </a:ext>
            </a:extLst>
          </p:cNvPr>
          <p:cNvPicPr>
            <a:picLocks noChangeAspect="1"/>
          </p:cNvPicPr>
          <p:nvPr/>
        </p:nvPicPr>
        <p:blipFill>
          <a:blip r:embed="rId2"/>
          <a:stretch>
            <a:fillRect/>
          </a:stretch>
        </p:blipFill>
        <p:spPr>
          <a:xfrm>
            <a:off x="10404763" y="18184"/>
            <a:ext cx="1510146" cy="1452995"/>
          </a:xfrm>
          <a:prstGeom prst="rect">
            <a:avLst/>
          </a:prstGeom>
        </p:spPr>
      </p:pic>
    </p:spTree>
    <p:extLst>
      <p:ext uri="{BB962C8B-B14F-4D97-AF65-F5344CB8AC3E}">
        <p14:creationId xmlns:p14="http://schemas.microsoft.com/office/powerpoint/2010/main" val="35827987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4"/>
          <p:cNvSpPr/>
          <p:nvPr/>
        </p:nvSpPr>
        <p:spPr>
          <a:xfrm>
            <a:off x="3390480" y="94680"/>
            <a:ext cx="5410440" cy="411840"/>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i="0" u="none" strike="noStrike" cap="none">
                <a:solidFill>
                  <a:srgbClr val="FFFFFF"/>
                </a:solidFill>
                <a:latin typeface="Calibri"/>
                <a:ea typeface="Calibri"/>
                <a:cs typeface="Calibri"/>
                <a:sym typeface="Calibri"/>
              </a:rPr>
              <a:t>TERMINAL QUESTIONS</a:t>
            </a:r>
            <a:endParaRPr sz="2400" b="0" i="0" u="none" strike="noStrike" cap="none">
              <a:latin typeface="Arial"/>
              <a:ea typeface="Arial"/>
              <a:cs typeface="Arial"/>
              <a:sym typeface="Arial"/>
            </a:endParaRPr>
          </a:p>
        </p:txBody>
      </p:sp>
      <p:sp>
        <p:nvSpPr>
          <p:cNvPr id="311" name="Google Shape;311;p44"/>
          <p:cNvSpPr/>
          <p:nvPr/>
        </p:nvSpPr>
        <p:spPr>
          <a:xfrm>
            <a:off x="151920" y="750960"/>
            <a:ext cx="11722320" cy="4678879"/>
          </a:xfrm>
          <a:prstGeom prst="rect">
            <a:avLst/>
          </a:prstGeom>
          <a:noFill/>
          <a:ln>
            <a:noFill/>
          </a:ln>
        </p:spPr>
        <p:txBody>
          <a:bodyPr spcFirstLastPara="1" wrap="square" lIns="90000" tIns="45000" rIns="90000" bIns="45000" anchor="t" anchorCtr="0">
            <a:noAutofit/>
          </a:bodyPr>
          <a:lstStyle/>
          <a:p>
            <a:pPr algn="l" rtl="0" fontAlgn="base"/>
            <a:r>
              <a:rPr lang="en-US" sz="1800" b="0" i="0" dirty="0">
                <a:solidFill>
                  <a:srgbClr val="000000"/>
                </a:solidFill>
                <a:effectLst/>
                <a:latin typeface="Times New Roman"/>
                <a:cs typeface="Times New Roman"/>
              </a:rPr>
              <a:t>1.What are the 3 conditions under with a node is fathomed. </a:t>
            </a:r>
            <a:endParaRPr lang="en-US" sz="2000" b="0" i="0" dirty="0">
              <a:solidFill>
                <a:srgbClr val="000000"/>
              </a:solidFill>
              <a:effectLst/>
              <a:latin typeface="Times New Roman"/>
              <a:cs typeface="Times New Roman"/>
            </a:endParaRPr>
          </a:p>
          <a:p>
            <a:pPr algn="l" rtl="0" fontAlgn="base"/>
            <a:r>
              <a:rPr lang="en-US" sz="1800" b="0" i="0" dirty="0">
                <a:solidFill>
                  <a:srgbClr val="000000"/>
                </a:solidFill>
                <a:effectLst/>
                <a:latin typeface="Times New Roman"/>
                <a:cs typeface="Times New Roman"/>
              </a:rPr>
              <a:t>2. How do you select the branching variable? </a:t>
            </a:r>
            <a:endParaRPr lang="en-US" sz="2000" b="0" i="0" dirty="0">
              <a:solidFill>
                <a:srgbClr val="000000"/>
              </a:solidFill>
              <a:effectLst/>
              <a:latin typeface="Times New Roman"/>
              <a:cs typeface="Times New Roman"/>
            </a:endParaRPr>
          </a:p>
          <a:p>
            <a:pPr fontAlgn="base"/>
            <a:r>
              <a:rPr lang="en-US" sz="1800" b="0" i="0" dirty="0">
                <a:solidFill>
                  <a:srgbClr val="000000"/>
                </a:solidFill>
                <a:effectLst/>
                <a:latin typeface="Times New Roman"/>
                <a:cs typeface="Times New Roman"/>
              </a:rPr>
              <a:t>3. If a branching variable has value 22/7, what will be the additional constraints of the two sub problems?</a:t>
            </a:r>
            <a:r>
              <a:rPr lang="en-US" dirty="0">
                <a:solidFill>
                  <a:srgbClr val="000000"/>
                </a:solidFill>
                <a:latin typeface="Times New Roman"/>
                <a:cs typeface="Times New Roman"/>
              </a:rPr>
              <a:t> </a:t>
            </a:r>
            <a:endParaRPr lang="en-US" sz="2000" b="0" i="0">
              <a:solidFill>
                <a:srgbClr val="000000"/>
              </a:solidFill>
              <a:effectLst/>
              <a:latin typeface="Times New Roman" panose="02020603050405020304" pitchFamily="18" charset="0"/>
            </a:endParaRPr>
          </a:p>
          <a:p>
            <a:pPr algn="l" rtl="0" fontAlgn="base"/>
            <a:r>
              <a:rPr lang="en-US" sz="1800" b="0" i="0" dirty="0">
                <a:solidFill>
                  <a:srgbClr val="000000"/>
                </a:solidFill>
                <a:effectLst/>
                <a:latin typeface="Times New Roman"/>
                <a:cs typeface="Times New Roman"/>
              </a:rPr>
              <a:t>4. Consider the following linear programming model </a:t>
            </a:r>
            <a:endParaRPr lang="en-US" sz="2000" b="0" i="0" dirty="0">
              <a:solidFill>
                <a:srgbClr val="000000"/>
              </a:solidFill>
              <a:effectLst/>
              <a:latin typeface="Times New Roman"/>
              <a:cs typeface="Times New Roman"/>
            </a:endParaRPr>
          </a:p>
          <a:p>
            <a:pPr lvl="1" algn="l" rtl="0" fontAlgn="base"/>
            <a:r>
              <a:rPr lang="en-US" sz="1800" b="0" i="0" dirty="0">
                <a:solidFill>
                  <a:srgbClr val="000000"/>
                </a:solidFill>
                <a:effectLst/>
                <a:latin typeface="Times New Roman"/>
                <a:cs typeface="Times New Roman"/>
              </a:rPr>
              <a:t>maximize Z = 5x</a:t>
            </a:r>
            <a:r>
              <a:rPr lang="en-US" sz="1800" b="0" i="0" baseline="-25000" dirty="0">
                <a:solidFill>
                  <a:srgbClr val="000000"/>
                </a:solidFill>
                <a:effectLst/>
                <a:latin typeface="Times New Roman"/>
                <a:cs typeface="Times New Roman"/>
              </a:rPr>
              <a:t>1</a:t>
            </a:r>
            <a:r>
              <a:rPr lang="en-US" sz="1800" b="0" i="0" dirty="0">
                <a:solidFill>
                  <a:srgbClr val="000000"/>
                </a:solidFill>
                <a:effectLst/>
                <a:latin typeface="Times New Roman"/>
                <a:cs typeface="Times New Roman"/>
              </a:rPr>
              <a:t> + 4x</a:t>
            </a:r>
            <a:r>
              <a:rPr lang="en-US" sz="1800" b="0" i="0" baseline="-25000" dirty="0">
                <a:solidFill>
                  <a:srgbClr val="000000"/>
                </a:solidFill>
                <a:effectLst/>
                <a:latin typeface="Times New Roman"/>
                <a:cs typeface="Times New Roman"/>
              </a:rPr>
              <a:t>2</a:t>
            </a:r>
            <a:r>
              <a:rPr lang="en-US" sz="1800" b="0" i="0" dirty="0">
                <a:solidFill>
                  <a:srgbClr val="000000"/>
                </a:solidFill>
                <a:effectLst/>
                <a:latin typeface="Times New Roman"/>
                <a:cs typeface="Times New Roman"/>
              </a:rPr>
              <a:t> </a:t>
            </a:r>
            <a:endParaRPr lang="en-US" sz="2000" b="0" i="0" dirty="0">
              <a:solidFill>
                <a:srgbClr val="000000"/>
              </a:solidFill>
              <a:effectLst/>
              <a:latin typeface="Times New Roman"/>
              <a:cs typeface="Times New Roman"/>
            </a:endParaRPr>
          </a:p>
          <a:p>
            <a:pPr lvl="1" algn="l" rtl="0" fontAlgn="base"/>
            <a:r>
              <a:rPr lang="en-US" sz="1800" b="0" i="0" dirty="0">
                <a:solidFill>
                  <a:srgbClr val="000000"/>
                </a:solidFill>
                <a:effectLst/>
                <a:latin typeface="Times New Roman"/>
                <a:cs typeface="Times New Roman"/>
              </a:rPr>
              <a:t>subject to </a:t>
            </a:r>
            <a:endParaRPr lang="en-US" sz="2000" b="0" i="0" dirty="0">
              <a:solidFill>
                <a:srgbClr val="000000"/>
              </a:solidFill>
              <a:effectLst/>
              <a:latin typeface="Times New Roman"/>
              <a:cs typeface="Times New Roman"/>
            </a:endParaRPr>
          </a:p>
          <a:p>
            <a:pPr lvl="2" algn="l" rtl="0" fontAlgn="base"/>
            <a:r>
              <a:rPr lang="en-US" sz="1800" b="0" i="0" dirty="0">
                <a:solidFill>
                  <a:srgbClr val="000000"/>
                </a:solidFill>
                <a:effectLst/>
                <a:latin typeface="Times New Roman"/>
                <a:cs typeface="Times New Roman"/>
              </a:rPr>
              <a:t>3x</a:t>
            </a:r>
            <a:r>
              <a:rPr lang="en-US" sz="1800" b="0" i="0" baseline="-25000" dirty="0">
                <a:solidFill>
                  <a:srgbClr val="000000"/>
                </a:solidFill>
                <a:effectLst/>
                <a:latin typeface="Times New Roman"/>
                <a:cs typeface="Times New Roman"/>
              </a:rPr>
              <a:t>1</a:t>
            </a:r>
            <a:r>
              <a:rPr lang="en-US" sz="1800" b="0" i="0" dirty="0">
                <a:solidFill>
                  <a:srgbClr val="000000"/>
                </a:solidFill>
                <a:effectLst/>
                <a:latin typeface="Times New Roman"/>
                <a:cs typeface="Times New Roman"/>
              </a:rPr>
              <a:t> + 4x</a:t>
            </a:r>
            <a:r>
              <a:rPr lang="en-US" sz="1800" b="0" i="0" baseline="-25000" dirty="0">
                <a:solidFill>
                  <a:srgbClr val="000000"/>
                </a:solidFill>
                <a:effectLst/>
                <a:latin typeface="Times New Roman"/>
                <a:cs typeface="Times New Roman"/>
              </a:rPr>
              <a:t>2</a:t>
            </a:r>
            <a:r>
              <a:rPr lang="en-US" sz="1800" b="0" i="0" dirty="0">
                <a:solidFill>
                  <a:srgbClr val="000000"/>
                </a:solidFill>
                <a:effectLst/>
                <a:latin typeface="Times New Roman"/>
                <a:cs typeface="Times New Roman"/>
              </a:rPr>
              <a:t> &lt;= 10 </a:t>
            </a:r>
            <a:endParaRPr lang="en-US" sz="2000" b="0" i="0" dirty="0">
              <a:solidFill>
                <a:srgbClr val="000000"/>
              </a:solidFill>
              <a:effectLst/>
              <a:latin typeface="Times New Roman"/>
              <a:cs typeface="Times New Roman"/>
            </a:endParaRPr>
          </a:p>
          <a:p>
            <a:pPr lvl="2" algn="l" rtl="0" fontAlgn="base"/>
            <a:r>
              <a:rPr lang="en-US" sz="1800" b="0" i="0" dirty="0">
                <a:solidFill>
                  <a:srgbClr val="000000"/>
                </a:solidFill>
                <a:effectLst/>
                <a:latin typeface="Times New Roman"/>
                <a:cs typeface="Times New Roman"/>
              </a:rPr>
              <a:t>x1, x2 &gt;= 0 and </a:t>
            </a:r>
            <a:r>
              <a:rPr lang="en-US" dirty="0">
                <a:solidFill>
                  <a:srgbClr val="000000"/>
                </a:solidFill>
                <a:latin typeface="Times New Roman"/>
                <a:cs typeface="Times New Roman"/>
              </a:rPr>
              <a:t>integers</a:t>
            </a:r>
            <a:r>
              <a:rPr lang="en-US" sz="1800" b="0" i="0" dirty="0">
                <a:solidFill>
                  <a:srgbClr val="000000"/>
                </a:solidFill>
                <a:effectLst/>
                <a:latin typeface="Times New Roman"/>
                <a:cs typeface="Times New Roman"/>
              </a:rPr>
              <a:t> </a:t>
            </a:r>
            <a:endParaRPr lang="en-US" sz="2000" b="0" i="0" dirty="0">
              <a:solidFill>
                <a:srgbClr val="000000"/>
              </a:solidFill>
              <a:effectLst/>
              <a:latin typeface="Times New Roman"/>
              <a:cs typeface="Times New Roman"/>
            </a:endParaRPr>
          </a:p>
          <a:p>
            <a:pPr algn="ctr" rtl="0" fontAlgn="base"/>
            <a:endParaRPr lang="en-US" sz="2000" b="0" i="0">
              <a:solidFill>
                <a:srgbClr val="000000"/>
              </a:solidFill>
              <a:effectLst/>
              <a:latin typeface="Times New Roman" panose="02020603050405020304" pitchFamily="18" charset="0"/>
            </a:endParaRPr>
          </a:p>
          <a:p>
            <a:pPr marL="800100" lvl="1" indent="-342900" algn="l" rtl="0" fontAlgn="base">
              <a:buAutoNum type="alphaLcParenR"/>
            </a:pPr>
            <a:r>
              <a:rPr lang="en-US" sz="1800" b="0" i="0" dirty="0">
                <a:solidFill>
                  <a:srgbClr val="000000"/>
                </a:solidFill>
                <a:effectLst/>
                <a:latin typeface="Times New Roman" panose="02020603050405020304" pitchFamily="18" charset="0"/>
              </a:rPr>
              <a:t>Solve this model using the branch and bound method. </a:t>
            </a:r>
            <a:endParaRPr lang="en-US" sz="1800" b="0" i="0" dirty="0">
              <a:solidFill>
                <a:srgbClr val="000000"/>
              </a:solidFill>
              <a:effectLst/>
              <a:latin typeface="Times New Roman" panose="02020603050405020304" pitchFamily="18" charset="0"/>
              <a:cs typeface="Times New Roman" panose="02020603050405020304" pitchFamily="18" charset="0"/>
            </a:endParaRPr>
          </a:p>
          <a:p>
            <a:pPr marL="800100" lvl="1" indent="-342900" algn="l" rtl="0" fontAlgn="base">
              <a:buAutoNum type="alphaLcParenR"/>
            </a:pPr>
            <a:r>
              <a:rPr lang="en-US" sz="1800" b="0" i="0" dirty="0">
                <a:solidFill>
                  <a:srgbClr val="000000"/>
                </a:solidFill>
                <a:effectLst/>
                <a:latin typeface="Times New Roman" panose="02020603050405020304" pitchFamily="18" charset="0"/>
              </a:rPr>
              <a:t>Demonstrate the solution partitioning graphically.</a:t>
            </a:r>
            <a:endParaRPr lang="en-IN" sz="2000" b="0" i="0" u="none" strike="noStrike" cap="none" dirty="0">
              <a:latin typeface="Arial"/>
              <a:ea typeface="Arial"/>
              <a:cs typeface="Arial"/>
            </a:endParaRPr>
          </a:p>
        </p:txBody>
      </p:sp>
      <p:pic>
        <p:nvPicPr>
          <p:cNvPr id="312" name="Google Shape;312;p44" descr="KL Deemed to be University Logo"/>
          <p:cNvPicPr preferRelativeResize="0"/>
          <p:nvPr/>
        </p:nvPicPr>
        <p:blipFill rotWithShape="1">
          <a:blip r:embed="rId3">
            <a:alphaModFix/>
          </a:blip>
          <a:srcRect/>
          <a:stretch/>
        </p:blipFill>
        <p:spPr>
          <a:xfrm>
            <a:off x="0" y="0"/>
            <a:ext cx="1990440" cy="599760"/>
          </a:xfrm>
          <a:prstGeom prst="rect">
            <a:avLst/>
          </a:prstGeom>
          <a:noFill/>
          <a:ln>
            <a:noFill/>
          </a:ln>
        </p:spPr>
      </p:pic>
      <p:pic>
        <p:nvPicPr>
          <p:cNvPr id="313" name="Google Shape;313;p44"/>
          <p:cNvPicPr preferRelativeResize="0"/>
          <p:nvPr/>
        </p:nvPicPr>
        <p:blipFill rotWithShape="1">
          <a:blip r:embed="rId4">
            <a:alphaModFix/>
          </a:blip>
          <a:srcRect l="11087" t="90948" r="8738" b="2224"/>
          <a:stretch/>
        </p:blipFill>
        <p:spPr>
          <a:xfrm>
            <a:off x="686425" y="6334750"/>
            <a:ext cx="10923300" cy="523250"/>
          </a:xfrm>
          <a:prstGeom prst="rect">
            <a:avLst/>
          </a:prstGeom>
          <a:noFill/>
          <a:ln>
            <a:noFill/>
          </a:ln>
        </p:spPr>
      </p:pic>
      <p:sp>
        <p:nvSpPr>
          <p:cNvPr id="2" name="Slide Number Placeholder 3">
            <a:extLst>
              <a:ext uri="{FF2B5EF4-FFF2-40B4-BE49-F238E27FC236}">
                <a16:creationId xmlns:a16="http://schemas.microsoft.com/office/drawing/2014/main" id="{6D057268-68E0-41D5-D99D-EB88F923C0A5}"/>
              </a:ext>
            </a:extLst>
          </p:cNvPr>
          <p:cNvSpPr>
            <a:spLocks noGrp="1"/>
          </p:cNvSpPr>
          <p:nvPr>
            <p:ph type="sldNum" sz="quarter" idx="12"/>
          </p:nvPr>
        </p:nvSpPr>
        <p:spPr>
          <a:xfrm>
            <a:off x="5690490" y="6291139"/>
            <a:ext cx="811019" cy="503578"/>
          </a:xfrm>
        </p:spPr>
        <p:txBody>
          <a:bodyPr/>
          <a:lstStyle/>
          <a:p>
            <a:fld id="{CBABCCC1-BF11-4F37-963E-1BCD5B23FD72}" type="slidenum">
              <a:rPr lang="en-IN" dirty="0" smtClean="0"/>
              <a:pPr/>
              <a:t>34</a:t>
            </a:fld>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0"/>
                                        </p:tgtEl>
                                        <p:attrNameLst>
                                          <p:attrName>style.visibility</p:attrName>
                                        </p:attrNameLst>
                                      </p:cBhvr>
                                      <p:to>
                                        <p:strVal val="visible"/>
                                      </p:to>
                                    </p:set>
                                    <p:animEffect transition="in" filter="fade">
                                      <p:cBhvr>
                                        <p:cTn id="7" dur="5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3"/>
          <p:cNvSpPr/>
          <p:nvPr/>
        </p:nvSpPr>
        <p:spPr>
          <a:xfrm>
            <a:off x="3390480" y="94680"/>
            <a:ext cx="5410440" cy="411840"/>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i="0" u="none" strike="noStrike" cap="none">
                <a:solidFill>
                  <a:srgbClr val="FFFFFF"/>
                </a:solidFill>
                <a:latin typeface="Calibri"/>
                <a:ea typeface="Calibri"/>
                <a:cs typeface="Calibri"/>
                <a:sym typeface="Calibri"/>
              </a:rPr>
              <a:t>SELF-ASSESSMENT QUESTIONS</a:t>
            </a:r>
            <a:endParaRPr sz="2400" b="0" i="0" u="none" strike="noStrike" cap="none">
              <a:latin typeface="Arial"/>
              <a:ea typeface="Arial"/>
              <a:cs typeface="Arial"/>
              <a:sym typeface="Arial"/>
            </a:endParaRPr>
          </a:p>
        </p:txBody>
      </p:sp>
      <p:sp>
        <p:nvSpPr>
          <p:cNvPr id="299" name="Google Shape;299;p43"/>
          <p:cNvSpPr/>
          <p:nvPr/>
        </p:nvSpPr>
        <p:spPr>
          <a:xfrm>
            <a:off x="666000" y="625320"/>
            <a:ext cx="10171800" cy="709920"/>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400">
                <a:solidFill>
                  <a:srgbClr val="000000"/>
                </a:solidFill>
                <a:latin typeface="Calibri"/>
                <a:ea typeface="Arial"/>
                <a:cs typeface="Calibri"/>
                <a:sym typeface="Calibri"/>
              </a:rPr>
              <a:t>Pure ILP can have </a:t>
            </a:r>
            <a:endParaRPr sz="2400" b="0" i="0" u="none" strike="noStrike" cap="none">
              <a:latin typeface="Arial"/>
              <a:ea typeface="Arial"/>
              <a:cs typeface="Arial"/>
              <a:sym typeface="Arial"/>
            </a:endParaRPr>
          </a:p>
        </p:txBody>
      </p:sp>
      <p:sp>
        <p:nvSpPr>
          <p:cNvPr id="300" name="Google Shape;300;p43"/>
          <p:cNvSpPr/>
          <p:nvPr/>
        </p:nvSpPr>
        <p:spPr>
          <a:xfrm>
            <a:off x="963360" y="1453680"/>
            <a:ext cx="10049900" cy="1553471"/>
          </a:xfrm>
          <a:prstGeom prst="roundRect">
            <a:avLst>
              <a:gd name="adj" fmla="val 16667"/>
            </a:avLst>
          </a:prstGeom>
          <a:gradFill>
            <a:gsLst>
              <a:gs pos="0">
                <a:srgbClr val="3864B3"/>
              </a:gs>
              <a:gs pos="100000">
                <a:srgbClr val="2C4F8C"/>
              </a:gs>
            </a:gsLst>
            <a:path path="circle">
              <a:fillToRect l="50000" t="50000" r="50000" b="50000"/>
            </a:path>
            <a:tileRect/>
          </a:gradFill>
          <a:ln>
            <a:noFill/>
          </a:ln>
          <a:effectLst>
            <a:outerShdw blurRad="50800" dist="37674" dir="2700000" algn="tl" rotWithShape="0">
              <a:srgbClr val="BA2532">
                <a:alpha val="40000"/>
              </a:srgbClr>
            </a:outerShdw>
          </a:effectLst>
        </p:spPr>
        <p:txBody>
          <a:bodyPr spcFirstLastPara="1" wrap="square" lIns="90000" tIns="45000" rIns="90000" bIns="45000" anchor="ctr" anchorCtr="0">
            <a:noAutofit/>
          </a:bodyPr>
          <a:lstStyle/>
          <a:p>
            <a:pPr lvl="0"/>
            <a:r>
              <a:rPr lang="en-US" sz="2000" b="0" i="0" u="none" strike="noStrike" cap="none">
                <a:solidFill>
                  <a:srgbClr val="FFFFFF"/>
                </a:solidFill>
                <a:latin typeface="Calibri"/>
                <a:ea typeface="Calibri"/>
                <a:cs typeface="Calibri"/>
                <a:sym typeface="Calibri"/>
              </a:rPr>
              <a:t>A)All the decision variables has to</a:t>
            </a:r>
            <a:r>
              <a:rPr lang="en-US" sz="2000" spc="10">
                <a:solidFill>
                  <a:srgbClr val="231F20"/>
                </a:solidFill>
                <a:latin typeface="Tahoma"/>
                <a:cs typeface="Tahoma"/>
              </a:rPr>
              <a:t> </a:t>
            </a:r>
            <a:r>
              <a:rPr lang="en-US" sz="2000" spc="-10">
                <a:solidFill>
                  <a:srgbClr val="231F20"/>
                </a:solidFill>
                <a:latin typeface="Tahoma"/>
                <a:cs typeface="Tahoma"/>
              </a:rPr>
              <a:t>have </a:t>
            </a:r>
            <a:r>
              <a:rPr lang="en-US" sz="2000" spc="-5">
                <a:solidFill>
                  <a:srgbClr val="231F20"/>
                </a:solidFill>
                <a:latin typeface="Tahoma"/>
                <a:cs typeface="Tahoma"/>
              </a:rPr>
              <a:t>integer</a:t>
            </a:r>
            <a:r>
              <a:rPr lang="en-US" sz="2000" spc="-10">
                <a:solidFill>
                  <a:srgbClr val="231F20"/>
                </a:solidFill>
                <a:latin typeface="Tahoma"/>
                <a:cs typeface="Tahoma"/>
              </a:rPr>
              <a:t> </a:t>
            </a:r>
            <a:r>
              <a:rPr lang="en-US" sz="2000">
                <a:solidFill>
                  <a:srgbClr val="231F20"/>
                </a:solidFill>
                <a:latin typeface="Tahoma"/>
                <a:cs typeface="Tahoma"/>
              </a:rPr>
              <a:t>solutions</a:t>
            </a:r>
            <a:endParaRPr sz="2000" b="0" i="0" u="none" strike="noStrike" cap="none">
              <a:latin typeface="Arial"/>
              <a:ea typeface="Arial"/>
              <a:cs typeface="Arial"/>
              <a:sym typeface="Arial"/>
            </a:endParaRPr>
          </a:p>
          <a:p>
            <a:pPr lvl="0"/>
            <a:r>
              <a:rPr lang="en-US" sz="2000" b="0" i="0" u="none" strike="noStrike" cap="none">
                <a:solidFill>
                  <a:srgbClr val="FFFFFF"/>
                </a:solidFill>
                <a:latin typeface="Calibri"/>
                <a:ea typeface="Calibri"/>
                <a:cs typeface="Calibri"/>
                <a:sym typeface="Calibri"/>
              </a:rPr>
              <a:t>B) </a:t>
            </a:r>
            <a:r>
              <a:rPr lang="en-US" sz="2000">
                <a:solidFill>
                  <a:srgbClr val="FFFFFF"/>
                </a:solidFill>
                <a:latin typeface="Calibri"/>
                <a:ea typeface="Calibri"/>
                <a:cs typeface="Calibri"/>
                <a:sym typeface="Calibri"/>
              </a:rPr>
              <a:t>At least one decision variables</a:t>
            </a:r>
            <a:r>
              <a:rPr lang="en-US" sz="2000" spc="10">
                <a:solidFill>
                  <a:srgbClr val="231F20"/>
                </a:solidFill>
                <a:latin typeface="Tahoma"/>
                <a:cs typeface="Tahoma"/>
              </a:rPr>
              <a:t> </a:t>
            </a:r>
            <a:r>
              <a:rPr lang="en-US" sz="2000" spc="-10">
                <a:solidFill>
                  <a:srgbClr val="231F20"/>
                </a:solidFill>
                <a:latin typeface="Tahoma"/>
                <a:cs typeface="Tahoma"/>
              </a:rPr>
              <a:t>has to have </a:t>
            </a:r>
            <a:r>
              <a:rPr lang="en-US" sz="2000" spc="-5">
                <a:solidFill>
                  <a:srgbClr val="231F20"/>
                </a:solidFill>
                <a:latin typeface="Tahoma"/>
                <a:cs typeface="Tahoma"/>
              </a:rPr>
              <a:t>integer</a:t>
            </a:r>
            <a:r>
              <a:rPr lang="en-US" sz="2000" spc="-10">
                <a:solidFill>
                  <a:srgbClr val="231F20"/>
                </a:solidFill>
                <a:latin typeface="Tahoma"/>
                <a:cs typeface="Tahoma"/>
              </a:rPr>
              <a:t> </a:t>
            </a:r>
            <a:r>
              <a:rPr lang="en-US" sz="2000">
                <a:solidFill>
                  <a:srgbClr val="231F20"/>
                </a:solidFill>
                <a:latin typeface="Tahoma"/>
                <a:cs typeface="Tahoma"/>
              </a:rPr>
              <a:t>solutions</a:t>
            </a:r>
            <a:endParaRPr lang="en-US" sz="2000">
              <a:solidFill>
                <a:srgbClr val="FFFFFF"/>
              </a:solidFill>
              <a:latin typeface="Calibri"/>
              <a:ea typeface="Calibri"/>
              <a:cs typeface="Calibri"/>
              <a:sym typeface="Calibri"/>
            </a:endParaRPr>
          </a:p>
          <a:p>
            <a:pPr lvl="0"/>
            <a:r>
              <a:rPr lang="en-US" sz="2000">
                <a:solidFill>
                  <a:srgbClr val="FFFFFF"/>
                </a:solidFill>
                <a:latin typeface="Calibri"/>
                <a:ea typeface="Calibri"/>
                <a:cs typeface="Calibri"/>
                <a:sym typeface="Calibri"/>
              </a:rPr>
              <a:t>C</a:t>
            </a:r>
            <a:r>
              <a:rPr lang="en-US" sz="2000" b="0" i="0" u="none" strike="noStrike" cap="none">
                <a:solidFill>
                  <a:srgbClr val="FFFFFF"/>
                </a:solidFill>
                <a:latin typeface="Calibri"/>
                <a:ea typeface="Calibri"/>
                <a:cs typeface="Calibri"/>
                <a:sym typeface="Calibri"/>
              </a:rPr>
              <a:t>) </a:t>
            </a:r>
            <a:r>
              <a:rPr lang="en-US" sz="2000">
                <a:solidFill>
                  <a:srgbClr val="FFFFFF"/>
                </a:solidFill>
                <a:latin typeface="Calibri"/>
                <a:ea typeface="Calibri"/>
                <a:cs typeface="Calibri"/>
                <a:sym typeface="Calibri"/>
              </a:rPr>
              <a:t>Both</a:t>
            </a:r>
          </a:p>
          <a:p>
            <a:pPr lvl="0"/>
            <a:r>
              <a:rPr lang="en-US" sz="2000">
                <a:solidFill>
                  <a:srgbClr val="FFFFFF"/>
                </a:solidFill>
                <a:latin typeface="Calibri"/>
                <a:ea typeface="Calibri"/>
                <a:cs typeface="Calibri"/>
                <a:sym typeface="Calibri"/>
              </a:rPr>
              <a:t>D</a:t>
            </a:r>
            <a:r>
              <a:rPr lang="en-US" sz="2000" b="0" i="0" u="none" strike="noStrike" cap="none">
                <a:solidFill>
                  <a:srgbClr val="FFFFFF"/>
                </a:solidFill>
                <a:latin typeface="Calibri"/>
                <a:ea typeface="Calibri"/>
                <a:cs typeface="Calibri"/>
                <a:sym typeface="Calibri"/>
              </a:rPr>
              <a:t>) none of the above</a:t>
            </a:r>
            <a:endParaRPr sz="2000" b="0" i="0" u="none" strike="noStrike" cap="none">
              <a:latin typeface="Arial"/>
              <a:ea typeface="Arial"/>
              <a:cs typeface="Arial"/>
              <a:sym typeface="Arial"/>
            </a:endParaRPr>
          </a:p>
        </p:txBody>
      </p:sp>
      <p:sp>
        <p:nvSpPr>
          <p:cNvPr id="301" name="Google Shape;301;p43"/>
          <p:cNvSpPr/>
          <p:nvPr/>
        </p:nvSpPr>
        <p:spPr>
          <a:xfrm>
            <a:off x="666000" y="3543840"/>
            <a:ext cx="10171800" cy="709920"/>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400" b="0" i="0" u="none" strike="noStrike" cap="none">
                <a:solidFill>
                  <a:srgbClr val="000000"/>
                </a:solidFill>
                <a:latin typeface="Calibri"/>
                <a:ea typeface="Calibri"/>
                <a:cs typeface="Calibri"/>
                <a:sym typeface="Calibri"/>
              </a:rPr>
              <a:t>Types of ILP are </a:t>
            </a:r>
            <a:endParaRPr sz="2400" b="0" i="0" u="none" strike="noStrike" cap="none">
              <a:latin typeface="Arial"/>
              <a:ea typeface="Arial"/>
              <a:cs typeface="Arial"/>
              <a:sym typeface="Arial"/>
            </a:endParaRPr>
          </a:p>
        </p:txBody>
      </p:sp>
      <p:sp>
        <p:nvSpPr>
          <p:cNvPr id="302" name="Google Shape;302;p43"/>
          <p:cNvSpPr/>
          <p:nvPr/>
        </p:nvSpPr>
        <p:spPr>
          <a:xfrm>
            <a:off x="850320" y="4501440"/>
            <a:ext cx="4456972" cy="1305471"/>
          </a:xfrm>
          <a:prstGeom prst="roundRect">
            <a:avLst>
              <a:gd name="adj" fmla="val 16667"/>
            </a:avLst>
          </a:prstGeom>
          <a:gradFill>
            <a:gsLst>
              <a:gs pos="0">
                <a:srgbClr val="3864B3"/>
              </a:gs>
              <a:gs pos="100000">
                <a:srgbClr val="2C4F8C"/>
              </a:gs>
            </a:gsLst>
            <a:path path="circle">
              <a:fillToRect l="50000" t="50000" r="50000" b="50000"/>
            </a:path>
            <a:tileRect/>
          </a:gradFill>
          <a:ln>
            <a:noFill/>
          </a:ln>
          <a:effectLst>
            <a:outerShdw blurRad="50800" dist="37674" dir="2700000" algn="tl" rotWithShape="0">
              <a:srgbClr val="BA2532">
                <a:alpha val="40000"/>
              </a:srgbClr>
            </a:outerShdw>
          </a:effectLst>
        </p:spPr>
        <p:txBody>
          <a:bodyPr spcFirstLastPara="1" wrap="square" lIns="90000" tIns="45000" rIns="90000" bIns="45000" anchor="ctr" anchorCtr="0">
            <a:noAutofit/>
          </a:bodyPr>
          <a:lstStyle/>
          <a:p>
            <a:pPr marL="457200" marR="0" lvl="0" indent="-457200" algn="l" rtl="0">
              <a:lnSpc>
                <a:spcPct val="100000"/>
              </a:lnSpc>
              <a:spcBef>
                <a:spcPts val="0"/>
              </a:spcBef>
              <a:spcAft>
                <a:spcPts val="0"/>
              </a:spcAft>
              <a:buAutoNum type="alphaUcPeriod"/>
            </a:pPr>
            <a:r>
              <a:rPr lang="en-US" sz="2000">
                <a:solidFill>
                  <a:srgbClr val="FFFFFF"/>
                </a:solidFill>
                <a:latin typeface="Calibri"/>
                <a:ea typeface="Calibri"/>
                <a:cs typeface="Calibri"/>
                <a:sym typeface="Calibri"/>
              </a:rPr>
              <a:t>Pure</a:t>
            </a:r>
          </a:p>
          <a:p>
            <a:pPr marL="457200" marR="0" lvl="0" indent="-457200" algn="l" rtl="0">
              <a:lnSpc>
                <a:spcPct val="100000"/>
              </a:lnSpc>
              <a:spcBef>
                <a:spcPts val="0"/>
              </a:spcBef>
              <a:spcAft>
                <a:spcPts val="0"/>
              </a:spcAft>
              <a:buAutoNum type="alphaUcPeriod"/>
            </a:pPr>
            <a:r>
              <a:rPr lang="en-US" sz="2000">
                <a:solidFill>
                  <a:srgbClr val="FFFFFF"/>
                </a:solidFill>
                <a:latin typeface="Calibri"/>
                <a:ea typeface="Arial"/>
                <a:cs typeface="Calibri"/>
                <a:sym typeface="Calibri"/>
              </a:rPr>
              <a:t>Mixed</a:t>
            </a:r>
          </a:p>
          <a:p>
            <a:pPr marL="457200" marR="0" lvl="0" indent="-457200" algn="l" rtl="0">
              <a:lnSpc>
                <a:spcPct val="100000"/>
              </a:lnSpc>
              <a:spcBef>
                <a:spcPts val="0"/>
              </a:spcBef>
              <a:spcAft>
                <a:spcPts val="0"/>
              </a:spcAft>
              <a:buAutoNum type="alphaUcPeriod"/>
            </a:pPr>
            <a:r>
              <a:rPr lang="en-US" sz="2000">
                <a:solidFill>
                  <a:srgbClr val="FFFFFF"/>
                </a:solidFill>
                <a:latin typeface="Calibri"/>
                <a:ea typeface="Arial"/>
                <a:cs typeface="Calibri"/>
                <a:sym typeface="Calibri"/>
              </a:rPr>
              <a:t>0-1 </a:t>
            </a:r>
            <a:endParaRPr lang="en-US" sz="2000" b="0" i="0" u="none" strike="noStrike" cap="none">
              <a:solidFill>
                <a:srgbClr val="FFFFFF"/>
              </a:solidFill>
              <a:latin typeface="Calibri"/>
              <a:ea typeface="Arial"/>
              <a:cs typeface="Calibri"/>
              <a:sym typeface="Calibri"/>
            </a:endParaRPr>
          </a:p>
          <a:p>
            <a:pPr marL="457200" marR="0" lvl="0" indent="-457200" algn="l" rtl="0">
              <a:lnSpc>
                <a:spcPct val="100000"/>
              </a:lnSpc>
              <a:spcBef>
                <a:spcPts val="0"/>
              </a:spcBef>
              <a:spcAft>
                <a:spcPts val="0"/>
              </a:spcAft>
              <a:buAutoNum type="alphaUcPeriod"/>
            </a:pPr>
            <a:r>
              <a:rPr lang="en-US" sz="2000">
                <a:solidFill>
                  <a:srgbClr val="FFFFFF"/>
                </a:solidFill>
                <a:latin typeface="Calibri"/>
                <a:ea typeface="Arial"/>
                <a:cs typeface="Calibri"/>
                <a:sym typeface="Calibri"/>
              </a:rPr>
              <a:t>All</a:t>
            </a:r>
            <a:endParaRPr sz="2000" b="0" i="0" u="none" strike="noStrike" cap="none">
              <a:latin typeface="Arial"/>
              <a:ea typeface="Arial"/>
              <a:cs typeface="Arial"/>
              <a:sym typeface="Arial"/>
            </a:endParaRPr>
          </a:p>
        </p:txBody>
      </p:sp>
      <p:pic>
        <p:nvPicPr>
          <p:cNvPr id="303" name="Google Shape;303;p43" descr="KL Deemed to be University Logo"/>
          <p:cNvPicPr preferRelativeResize="0"/>
          <p:nvPr/>
        </p:nvPicPr>
        <p:blipFill rotWithShape="1">
          <a:blip r:embed="rId3">
            <a:alphaModFix/>
          </a:blip>
          <a:srcRect/>
          <a:stretch/>
        </p:blipFill>
        <p:spPr>
          <a:xfrm>
            <a:off x="0" y="0"/>
            <a:ext cx="1990440" cy="599760"/>
          </a:xfrm>
          <a:prstGeom prst="rect">
            <a:avLst/>
          </a:prstGeom>
          <a:noFill/>
          <a:ln>
            <a:noFill/>
          </a:ln>
        </p:spPr>
      </p:pic>
      <p:pic>
        <p:nvPicPr>
          <p:cNvPr id="304" name="Google Shape;304;p43"/>
          <p:cNvPicPr preferRelativeResize="0"/>
          <p:nvPr/>
        </p:nvPicPr>
        <p:blipFill rotWithShape="1">
          <a:blip r:embed="rId4">
            <a:alphaModFix/>
          </a:blip>
          <a:srcRect l="11087" t="90948" r="8738" b="2224"/>
          <a:stretch/>
        </p:blipFill>
        <p:spPr>
          <a:xfrm>
            <a:off x="686425" y="6334750"/>
            <a:ext cx="10923300" cy="523250"/>
          </a:xfrm>
          <a:prstGeom prst="rect">
            <a:avLst/>
          </a:prstGeom>
          <a:noFill/>
          <a:ln>
            <a:noFill/>
          </a:ln>
        </p:spPr>
      </p:pic>
      <p:sp>
        <p:nvSpPr>
          <p:cNvPr id="2" name="Slide Number Placeholder 3">
            <a:extLst>
              <a:ext uri="{FF2B5EF4-FFF2-40B4-BE49-F238E27FC236}">
                <a16:creationId xmlns:a16="http://schemas.microsoft.com/office/drawing/2014/main" id="{B3A1CCD3-B17E-3389-6D43-8922D19E74A1}"/>
              </a:ext>
            </a:extLst>
          </p:cNvPr>
          <p:cNvSpPr>
            <a:spLocks noGrp="1"/>
          </p:cNvSpPr>
          <p:nvPr>
            <p:ph type="sldNum" sz="quarter" idx="12"/>
          </p:nvPr>
        </p:nvSpPr>
        <p:spPr>
          <a:xfrm>
            <a:off x="5690490" y="6291139"/>
            <a:ext cx="811019" cy="503578"/>
          </a:xfrm>
        </p:spPr>
        <p:txBody>
          <a:bodyPr/>
          <a:lstStyle/>
          <a:p>
            <a:fld id="{CBABCCC1-BF11-4F37-963E-1BCD5B23FD72}" type="slidenum">
              <a:rPr lang="en-IN" smtClean="0"/>
              <a:t>35</a:t>
            </a:fld>
            <a:endParaRPr lang="en-IN"/>
          </a:p>
        </p:txBody>
      </p:sp>
    </p:spTree>
    <p:extLst>
      <p:ext uri="{BB962C8B-B14F-4D97-AF65-F5344CB8AC3E}">
        <p14:creationId xmlns:p14="http://schemas.microsoft.com/office/powerpoint/2010/main" val="1018977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animEffect transition="in" filter="fade">
                                      <p:cBhvr>
                                        <p:cTn id="7" dur="500"/>
                                        <p:tgtEl>
                                          <p:spTgt spid="2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0"/>
                                        </p:tgtEl>
                                        <p:attrNameLst>
                                          <p:attrName>style.visibility</p:attrName>
                                        </p:attrNameLst>
                                      </p:cBhvr>
                                      <p:to>
                                        <p:strVal val="visible"/>
                                      </p:to>
                                    </p:set>
                                    <p:animEffect transition="in" filter="fade">
                                      <p:cBhvr>
                                        <p:cTn id="12" dur="500"/>
                                        <p:tgtEl>
                                          <p:spTgt spid="30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2"/>
                                        </p:tgtEl>
                                        <p:attrNameLst>
                                          <p:attrName>style.visibility</p:attrName>
                                        </p:attrNameLst>
                                      </p:cBhvr>
                                      <p:to>
                                        <p:strVal val="visible"/>
                                      </p:to>
                                    </p:set>
                                    <p:animEffect transition="in" filter="fade">
                                      <p:cBhvr>
                                        <p:cTn id="17" dur="500"/>
                                        <p:tgtEl>
                                          <p:spTgt spid="30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9"/>
                                        </p:tgtEl>
                                        <p:attrNameLst>
                                          <p:attrName>style.visibility</p:attrName>
                                        </p:attrNameLst>
                                      </p:cBhvr>
                                      <p:to>
                                        <p:strVal val="visible"/>
                                      </p:to>
                                    </p:set>
                                    <p:animEffect transition="in" filter="fade">
                                      <p:cBhvr>
                                        <p:cTn id="22" dur="500"/>
                                        <p:tgtEl>
                                          <p:spTgt spid="29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1"/>
                                        </p:tgtEl>
                                        <p:attrNameLst>
                                          <p:attrName>style.visibility</p:attrName>
                                        </p:attrNameLst>
                                      </p:cBhvr>
                                      <p:to>
                                        <p:strVal val="visible"/>
                                      </p:to>
                                    </p:set>
                                    <p:animEffect transition="in" filter="fade">
                                      <p:cBhvr>
                                        <p:cTn id="27" dur="500"/>
                                        <p:tgtEl>
                                          <p:spTgt spid="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45"/>
          <p:cNvSpPr/>
          <p:nvPr/>
        </p:nvSpPr>
        <p:spPr>
          <a:xfrm>
            <a:off x="2161440" y="93960"/>
            <a:ext cx="7104960" cy="411840"/>
          </a:xfrm>
          <a:prstGeom prst="roundRect">
            <a:avLst>
              <a:gd name="adj" fmla="val 16667"/>
            </a:avLst>
          </a:prstGeom>
          <a:solidFill>
            <a:srgbClr val="BA2532"/>
          </a:solidFill>
          <a:ln>
            <a:noFill/>
          </a:ln>
          <a:effectLst>
            <a:outerShdw blurRad="50800" dist="37674" dir="2700000" algn="tl" rotWithShape="0">
              <a:srgbClr val="BA2532">
                <a:alpha val="40000"/>
              </a:srgbClr>
            </a:outerShdw>
          </a:effectLst>
        </p:spPr>
        <p:txBody>
          <a:bodyPr spcFirstLastPara="1" wrap="square" lIns="90000" tIns="45000" rIns="90000" bIns="45000" anchor="ctr" anchorCtr="0">
            <a:noAutofit/>
          </a:bodyPr>
          <a:lstStyle/>
          <a:p>
            <a:pPr marL="0" marR="0" lvl="0" indent="0" algn="ctr" rtl="0">
              <a:lnSpc>
                <a:spcPct val="100000"/>
              </a:lnSpc>
              <a:spcBef>
                <a:spcPts val="0"/>
              </a:spcBef>
              <a:spcAft>
                <a:spcPts val="0"/>
              </a:spcAft>
              <a:buNone/>
            </a:pPr>
            <a:r>
              <a:rPr lang="en-US" sz="2400" b="0" i="0" u="none" strike="noStrike" cap="none">
                <a:solidFill>
                  <a:srgbClr val="FFFFFF"/>
                </a:solidFill>
                <a:latin typeface="Calibri"/>
                <a:ea typeface="Calibri"/>
                <a:cs typeface="Calibri"/>
                <a:sym typeface="Calibri"/>
              </a:rPr>
              <a:t>REFERENCES FOR FURTHER LEARNING OF THE SESSION</a:t>
            </a:r>
            <a:endParaRPr sz="2400" b="0" i="0" u="none" strike="noStrike" cap="none">
              <a:latin typeface="Arial"/>
              <a:ea typeface="Arial"/>
              <a:cs typeface="Arial"/>
              <a:sym typeface="Arial"/>
            </a:endParaRPr>
          </a:p>
        </p:txBody>
      </p:sp>
      <p:sp>
        <p:nvSpPr>
          <p:cNvPr id="319" name="Google Shape;319;p45"/>
          <p:cNvSpPr/>
          <p:nvPr/>
        </p:nvSpPr>
        <p:spPr>
          <a:xfrm>
            <a:off x="904237" y="1051230"/>
            <a:ext cx="10383525" cy="5022998"/>
          </a:xfrm>
          <a:prstGeom prst="rect">
            <a:avLst/>
          </a:prstGeom>
          <a:noFill/>
          <a:ln>
            <a:noFill/>
          </a:ln>
        </p:spPr>
        <p:txBody>
          <a:bodyPr spcFirstLastPara="1" wrap="square" lIns="90000" tIns="45000" rIns="90000" bIns="45000" anchor="t" anchorCtr="0">
            <a:noAutofit/>
          </a:bodyPr>
          <a:lstStyle/>
          <a:p>
            <a:pPr algn="l" rtl="0" fontAlgn="base"/>
            <a:r>
              <a:rPr lang="en-IN" sz="1800" b="1" i="0">
                <a:solidFill>
                  <a:srgbClr val="000000"/>
                </a:solidFill>
                <a:effectLst/>
                <a:latin typeface="Times New Roman" panose="02020603050405020304" pitchFamily="18" charset="0"/>
              </a:rPr>
              <a:t>Web links to NPTEL videos</a:t>
            </a:r>
            <a:r>
              <a:rPr lang="en-IN" sz="1800" b="0" i="0">
                <a:solidFill>
                  <a:srgbClr val="000000"/>
                </a:solidFill>
                <a:effectLst/>
                <a:latin typeface="Times New Roman" panose="02020603050405020304" pitchFamily="18" charset="0"/>
              </a:rPr>
              <a:t> </a:t>
            </a:r>
            <a:endParaRPr lang="en-IN" b="0" i="0">
              <a:solidFill>
                <a:srgbClr val="000000"/>
              </a:solidFill>
              <a:effectLst/>
              <a:latin typeface="Times New Roman" panose="02020603050405020304" pitchFamily="18" charset="0"/>
            </a:endParaRPr>
          </a:p>
          <a:p>
            <a:pPr algn="l" rtl="0" fontAlgn="base">
              <a:buFont typeface="Arial" panose="020B0604020202020204" pitchFamily="34" charset="0"/>
              <a:buChar char="•"/>
            </a:pPr>
            <a:r>
              <a:rPr lang="en-IN" sz="1800" b="0" i="0">
                <a:solidFill>
                  <a:srgbClr val="000000"/>
                </a:solidFill>
                <a:effectLst/>
                <a:latin typeface="Times New Roman" panose="02020603050405020304" pitchFamily="18" charset="0"/>
              </a:rPr>
              <a:t>”Integer Linear Programming Problem- Branch and Bound technique”, </a:t>
            </a:r>
            <a:r>
              <a:rPr lang="en-IN" sz="1800" b="0" i="0" err="1">
                <a:solidFill>
                  <a:srgbClr val="000000"/>
                </a:solidFill>
                <a:effectLst/>
                <a:latin typeface="Times New Roman" panose="02020603050405020304" pitchFamily="18" charset="0"/>
              </a:rPr>
              <a:t>Dr.</a:t>
            </a:r>
            <a:r>
              <a:rPr lang="en-IN" sz="1800" b="0" i="0">
                <a:solidFill>
                  <a:srgbClr val="000000"/>
                </a:solidFill>
                <a:effectLst/>
                <a:latin typeface="Times New Roman" panose="02020603050405020304" pitchFamily="18" charset="0"/>
              </a:rPr>
              <a:t> Isha Dhiman, </a:t>
            </a:r>
            <a:r>
              <a:rPr lang="en-IN" sz="1800" b="0" i="0" u="sng" strike="noStrike">
                <a:solidFill>
                  <a:srgbClr val="0000FF"/>
                </a:solidFill>
                <a:effectLst/>
                <a:latin typeface="Times New Roman" panose="02020603050405020304" pitchFamily="18" charset="0"/>
                <a:hlinkClick r:id="rId3"/>
              </a:rPr>
              <a:t>https://www.youtube.com/watch?v=BzKUhT20wDc</a:t>
            </a:r>
            <a:r>
              <a:rPr lang="en-IN" sz="1800" b="0" i="0">
                <a:solidFill>
                  <a:srgbClr val="000000"/>
                </a:solidFill>
                <a:effectLst/>
                <a:latin typeface="Times New Roman" panose="02020603050405020304" pitchFamily="18" charset="0"/>
              </a:rPr>
              <a:t> </a:t>
            </a:r>
          </a:p>
          <a:p>
            <a:pPr algn="l" rtl="0" fontAlgn="base">
              <a:buFont typeface="Arial" panose="020B0604020202020204" pitchFamily="34" charset="0"/>
              <a:buChar char="•"/>
            </a:pPr>
            <a:r>
              <a:rPr lang="en-IN" sz="1800" b="0" i="0">
                <a:solidFill>
                  <a:srgbClr val="000000"/>
                </a:solidFill>
                <a:effectLst/>
                <a:latin typeface="Times New Roman" panose="02020603050405020304" pitchFamily="18" charset="0"/>
              </a:rPr>
              <a:t>“State space search: branch and bound”, </a:t>
            </a:r>
            <a:r>
              <a:rPr lang="en-IN" sz="1800" b="0" i="0" err="1">
                <a:solidFill>
                  <a:srgbClr val="000000"/>
                </a:solidFill>
                <a:effectLst/>
                <a:latin typeface="Times New Roman" panose="02020603050405020304" pitchFamily="18" charset="0"/>
              </a:rPr>
              <a:t>Dr.</a:t>
            </a:r>
            <a:r>
              <a:rPr lang="en-IN" sz="1800" b="0" i="0">
                <a:solidFill>
                  <a:srgbClr val="000000"/>
                </a:solidFill>
                <a:effectLst/>
                <a:latin typeface="Times New Roman" panose="02020603050405020304" pitchFamily="18" charset="0"/>
              </a:rPr>
              <a:t> Deepak </a:t>
            </a:r>
            <a:r>
              <a:rPr lang="en-IN" sz="1800" b="0" i="0" err="1">
                <a:solidFill>
                  <a:srgbClr val="000000"/>
                </a:solidFill>
                <a:effectLst/>
                <a:latin typeface="Times New Roman" panose="02020603050405020304" pitchFamily="18" charset="0"/>
              </a:rPr>
              <a:t>Khemani</a:t>
            </a:r>
            <a:r>
              <a:rPr lang="en-IN" sz="1800" b="0" i="0">
                <a:solidFill>
                  <a:srgbClr val="000000"/>
                </a:solidFill>
                <a:effectLst/>
                <a:latin typeface="Times New Roman" panose="02020603050405020304" pitchFamily="18" charset="0"/>
              </a:rPr>
              <a:t>, IIT Madras, NPTEL-NOC IITM, </a:t>
            </a:r>
            <a:r>
              <a:rPr lang="en-IN" sz="1800" b="0" i="0" u="sng" strike="noStrike">
                <a:solidFill>
                  <a:srgbClr val="0000FF"/>
                </a:solidFill>
                <a:effectLst/>
                <a:latin typeface="Times New Roman" panose="02020603050405020304" pitchFamily="18" charset="0"/>
                <a:hlinkClick r:id="rId4"/>
              </a:rPr>
              <a:t>https://www.youtube.com/watch?v=ZF8xhXE0P20</a:t>
            </a:r>
            <a:r>
              <a:rPr lang="en-IN" sz="1800" b="0" i="0">
                <a:solidFill>
                  <a:srgbClr val="000000"/>
                </a:solidFill>
                <a:effectLst/>
                <a:latin typeface="Times New Roman" panose="02020603050405020304" pitchFamily="18" charset="0"/>
              </a:rPr>
              <a:t> </a:t>
            </a:r>
          </a:p>
          <a:p>
            <a:pPr algn="l" rtl="0" fontAlgn="base"/>
            <a:r>
              <a:rPr lang="en-IN" sz="1800" b="0" i="0">
                <a:solidFill>
                  <a:srgbClr val="000000"/>
                </a:solidFill>
                <a:effectLst/>
                <a:latin typeface="Times New Roman" panose="02020603050405020304" pitchFamily="18" charset="0"/>
              </a:rPr>
              <a:t> </a:t>
            </a:r>
            <a:endParaRPr lang="en-IN" b="0" i="0">
              <a:solidFill>
                <a:srgbClr val="000000"/>
              </a:solidFill>
              <a:effectLst/>
              <a:latin typeface="Times New Roman" panose="02020603050405020304" pitchFamily="18" charset="0"/>
            </a:endParaRPr>
          </a:p>
          <a:p>
            <a:pPr algn="just" rtl="0" fontAlgn="base"/>
            <a:r>
              <a:rPr lang="en-IN" sz="1800" b="1" i="0">
                <a:solidFill>
                  <a:srgbClr val="000000"/>
                </a:solidFill>
                <a:effectLst/>
                <a:latin typeface="Times New Roman" panose="02020603050405020304" pitchFamily="18" charset="0"/>
              </a:rPr>
              <a:t>Web Links to tutorials, blogs:</a:t>
            </a:r>
            <a:r>
              <a:rPr lang="en-IN" sz="1800" b="0" i="0">
                <a:solidFill>
                  <a:srgbClr val="000000"/>
                </a:solidFill>
                <a:effectLst/>
                <a:latin typeface="Times New Roman" panose="02020603050405020304" pitchFamily="18" charset="0"/>
              </a:rPr>
              <a:t> </a:t>
            </a:r>
            <a:endParaRPr lang="en-IN" b="0" i="0">
              <a:solidFill>
                <a:srgbClr val="000000"/>
              </a:solidFill>
              <a:effectLst/>
              <a:latin typeface="Times New Roman" panose="02020603050405020304" pitchFamily="18" charset="0"/>
            </a:endParaRPr>
          </a:p>
          <a:p>
            <a:pPr algn="l" rtl="0" fontAlgn="base">
              <a:buFont typeface="+mj-lt"/>
              <a:buAutoNum type="arabicPeriod"/>
            </a:pPr>
            <a:r>
              <a:rPr lang="en-IN" sz="1800" b="0" i="0">
                <a:solidFill>
                  <a:srgbClr val="000000"/>
                </a:solidFill>
                <a:effectLst/>
                <a:latin typeface="Times New Roman" panose="02020603050405020304" pitchFamily="18" charset="0"/>
              </a:rPr>
              <a:t>“Integer Programming: Branch and Bound method”, Miguel </a:t>
            </a:r>
            <a:r>
              <a:rPr lang="en-IN" sz="1800" b="0" i="0" err="1">
                <a:solidFill>
                  <a:srgbClr val="000000"/>
                </a:solidFill>
                <a:effectLst/>
                <a:latin typeface="Times New Roman" panose="02020603050405020304" pitchFamily="18" charset="0"/>
              </a:rPr>
              <a:t>Casquilho</a:t>
            </a:r>
            <a:r>
              <a:rPr lang="en-IN" sz="1800" b="0" i="0">
                <a:solidFill>
                  <a:srgbClr val="000000"/>
                </a:solidFill>
                <a:effectLst/>
                <a:latin typeface="Times New Roman" panose="02020603050405020304" pitchFamily="18" charset="0"/>
              </a:rPr>
              <a:t>, U. of Lisbon, https://web.tecnico.ulisboa.pt/mcasquilho/compute/_linpro/TaylorB_module_c.pdf </a:t>
            </a:r>
          </a:p>
          <a:p>
            <a:pPr algn="l" rtl="0" fontAlgn="base">
              <a:buFont typeface="+mj-lt"/>
              <a:buAutoNum type="arabicPeriod" startAt="2"/>
            </a:pPr>
            <a:r>
              <a:rPr lang="en-IN" sz="1800" b="0" i="0">
                <a:solidFill>
                  <a:srgbClr val="000000"/>
                </a:solidFill>
                <a:effectLst/>
                <a:latin typeface="Times New Roman" panose="02020603050405020304" pitchFamily="18" charset="0"/>
              </a:rPr>
              <a:t>“Solving Integer Programming with Branch-and-Bound Technique”, Mustafa </a:t>
            </a:r>
            <a:r>
              <a:rPr lang="en-IN" sz="1800" b="0" i="0" err="1">
                <a:solidFill>
                  <a:srgbClr val="000000"/>
                </a:solidFill>
                <a:effectLst/>
                <a:latin typeface="Times New Roman" panose="02020603050405020304" pitchFamily="18" charset="0"/>
              </a:rPr>
              <a:t>Çelebi</a:t>
            </a:r>
            <a:r>
              <a:rPr lang="en-IN" sz="1800" b="0" i="0">
                <a:solidFill>
                  <a:srgbClr val="000000"/>
                </a:solidFill>
                <a:effectLst/>
                <a:latin typeface="Times New Roman" panose="02020603050405020304" pitchFamily="18" charset="0"/>
              </a:rPr>
              <a:t> </a:t>
            </a:r>
            <a:r>
              <a:rPr lang="en-IN" sz="1800" b="0" i="0" err="1">
                <a:solidFill>
                  <a:srgbClr val="000000"/>
                </a:solidFill>
                <a:effectLst/>
                <a:latin typeface="Times New Roman" panose="02020603050405020304" pitchFamily="18" charset="0"/>
              </a:rPr>
              <a:t>Pınar</a:t>
            </a:r>
            <a:r>
              <a:rPr lang="en-IN" sz="1800" b="0" i="0">
                <a:solidFill>
                  <a:srgbClr val="000000"/>
                </a:solidFill>
                <a:effectLst/>
                <a:latin typeface="Times New Roman" panose="02020603050405020304" pitchFamily="18" charset="0"/>
              </a:rPr>
              <a:t> , </a:t>
            </a:r>
            <a:r>
              <a:rPr lang="en-IN" sz="1800" b="0" i="0" err="1">
                <a:solidFill>
                  <a:srgbClr val="000000"/>
                </a:solidFill>
                <a:effectLst/>
                <a:latin typeface="Times New Roman" panose="02020603050405020304" pitchFamily="18" charset="0"/>
              </a:rPr>
              <a:t>Bilkent</a:t>
            </a:r>
            <a:r>
              <a:rPr lang="en-IN" sz="1800" b="0" i="0">
                <a:solidFill>
                  <a:srgbClr val="000000"/>
                </a:solidFill>
                <a:effectLst/>
                <a:latin typeface="Times New Roman" panose="02020603050405020304" pitchFamily="18" charset="0"/>
              </a:rPr>
              <a:t> University, Turkey, </a:t>
            </a:r>
            <a:r>
              <a:rPr lang="en-IN" sz="1800" b="0" i="0" u="none" strike="noStrike">
                <a:solidFill>
                  <a:srgbClr val="000000"/>
                </a:solidFill>
                <a:effectLst/>
                <a:latin typeface="Times New Roman" panose="02020603050405020304" pitchFamily="18" charset="0"/>
                <a:hlinkClick r:id="rId5"/>
              </a:rPr>
              <a:t>https://www.ie.bilkent.edu.tr/~mustafap/courses/bb.pdf</a:t>
            </a:r>
            <a:r>
              <a:rPr lang="en-IN" sz="1800" b="0" i="0">
                <a:solidFill>
                  <a:srgbClr val="000000"/>
                </a:solidFill>
                <a:effectLst/>
                <a:latin typeface="Times New Roman" panose="02020603050405020304" pitchFamily="18" charset="0"/>
              </a:rPr>
              <a:t> </a:t>
            </a:r>
          </a:p>
          <a:p>
            <a:pPr algn="l" rtl="0" fontAlgn="base">
              <a:buFont typeface="+mj-lt"/>
              <a:buAutoNum type="arabicPeriod" startAt="3"/>
            </a:pPr>
            <a:r>
              <a:rPr lang="en-IN" sz="1800" b="0" i="0">
                <a:solidFill>
                  <a:srgbClr val="000000"/>
                </a:solidFill>
                <a:effectLst/>
                <a:latin typeface="Times New Roman" panose="02020603050405020304" pitchFamily="18" charset="0"/>
              </a:rPr>
              <a:t>“A Tutorial on Integer Programming”, Matthew J. Saltzman, Clemson University, </a:t>
            </a:r>
            <a:r>
              <a:rPr lang="en-IN" sz="1800" b="0" i="0" u="none" strike="noStrike">
                <a:solidFill>
                  <a:srgbClr val="000000"/>
                </a:solidFill>
                <a:effectLst/>
                <a:latin typeface="Times New Roman" panose="02020603050405020304" pitchFamily="18" charset="0"/>
                <a:hlinkClick r:id="rId6"/>
              </a:rPr>
              <a:t>https://www.math.clemson.edu/~mjs/courses/mthsc.440/integer.pdf</a:t>
            </a:r>
            <a:r>
              <a:rPr lang="en-IN" sz="1800" b="0" i="0">
                <a:solidFill>
                  <a:srgbClr val="000000"/>
                </a:solidFill>
                <a:effectLst/>
                <a:latin typeface="Times New Roman" panose="02020603050405020304" pitchFamily="18" charset="0"/>
              </a:rPr>
              <a:t>, Section 3.2 </a:t>
            </a:r>
          </a:p>
          <a:p>
            <a:pPr algn="just" rtl="0" fontAlgn="base"/>
            <a:r>
              <a:rPr lang="en-IN" sz="1800" b="0" i="0">
                <a:solidFill>
                  <a:srgbClr val="000000"/>
                </a:solidFill>
                <a:effectLst/>
                <a:latin typeface="Times New Roman" panose="02020603050405020304" pitchFamily="18" charset="0"/>
              </a:rPr>
              <a:t> </a:t>
            </a:r>
            <a:endParaRPr lang="en-IN" b="0" i="0">
              <a:solidFill>
                <a:srgbClr val="000000"/>
              </a:solidFill>
              <a:effectLst/>
              <a:latin typeface="Times New Roman" panose="02020603050405020304" pitchFamily="18" charset="0"/>
            </a:endParaRPr>
          </a:p>
          <a:p>
            <a:pPr algn="just" rtl="0" fontAlgn="base"/>
            <a:r>
              <a:rPr lang="en-IN" sz="1800" b="1" i="0">
                <a:solidFill>
                  <a:srgbClr val="000000"/>
                </a:solidFill>
                <a:effectLst/>
                <a:latin typeface="Times New Roman" panose="02020603050405020304" pitchFamily="18" charset="0"/>
              </a:rPr>
              <a:t>Books:</a:t>
            </a:r>
            <a:r>
              <a:rPr lang="en-IN" sz="1800" b="0" i="0">
                <a:solidFill>
                  <a:srgbClr val="000000"/>
                </a:solidFill>
                <a:effectLst/>
                <a:latin typeface="Times New Roman" panose="02020603050405020304" pitchFamily="18" charset="0"/>
              </a:rPr>
              <a:t> </a:t>
            </a:r>
            <a:endParaRPr lang="en-IN" b="0" i="0">
              <a:solidFill>
                <a:srgbClr val="000000"/>
              </a:solidFill>
              <a:effectLst/>
              <a:latin typeface="Times New Roman" panose="02020603050405020304" pitchFamily="18" charset="0"/>
            </a:endParaRPr>
          </a:p>
          <a:p>
            <a:pPr algn="l" rtl="0" fontAlgn="base">
              <a:buFont typeface="+mj-lt"/>
              <a:buAutoNum type="arabicPeriod"/>
            </a:pPr>
            <a:r>
              <a:rPr lang="en-IN" sz="1800" b="0" i="0">
                <a:solidFill>
                  <a:srgbClr val="000000"/>
                </a:solidFill>
                <a:effectLst/>
                <a:latin typeface="Times New Roman" panose="02020603050405020304" pitchFamily="18" charset="0"/>
              </a:rPr>
              <a:t>“Integer Linear Programming in Computational and Systems Biology: An entry-level text and course”, Dan </a:t>
            </a:r>
            <a:r>
              <a:rPr lang="en-IN" sz="1800" b="0" i="0" err="1">
                <a:solidFill>
                  <a:srgbClr val="000000"/>
                </a:solidFill>
                <a:effectLst/>
                <a:latin typeface="Times New Roman" panose="02020603050405020304" pitchFamily="18" charset="0"/>
              </a:rPr>
              <a:t>Gusfield</a:t>
            </a:r>
            <a:r>
              <a:rPr lang="en-IN" sz="1800" b="0" i="0">
                <a:solidFill>
                  <a:srgbClr val="000000"/>
                </a:solidFill>
                <a:effectLst/>
                <a:latin typeface="Times New Roman" panose="02020603050405020304" pitchFamily="18" charset="0"/>
              </a:rPr>
              <a:t>, URL: https://www.cambridge.org/core/books/integer-linear-programming-in-computational-and-systems-biology/A1E06EE0AC95E4D9911A49C7140CCF5B </a:t>
            </a:r>
          </a:p>
        </p:txBody>
      </p:sp>
      <p:pic>
        <p:nvPicPr>
          <p:cNvPr id="320" name="Google Shape;320;p45" descr="KL Deemed to be University Logo"/>
          <p:cNvPicPr preferRelativeResize="0"/>
          <p:nvPr/>
        </p:nvPicPr>
        <p:blipFill rotWithShape="1">
          <a:blip r:embed="rId7">
            <a:alphaModFix/>
          </a:blip>
          <a:srcRect/>
          <a:stretch/>
        </p:blipFill>
        <p:spPr>
          <a:xfrm>
            <a:off x="0" y="0"/>
            <a:ext cx="1990440" cy="599760"/>
          </a:xfrm>
          <a:prstGeom prst="rect">
            <a:avLst/>
          </a:prstGeom>
          <a:noFill/>
          <a:ln>
            <a:noFill/>
          </a:ln>
        </p:spPr>
      </p:pic>
      <p:pic>
        <p:nvPicPr>
          <p:cNvPr id="321" name="Google Shape;321;p45"/>
          <p:cNvPicPr preferRelativeResize="0"/>
          <p:nvPr/>
        </p:nvPicPr>
        <p:blipFill rotWithShape="1">
          <a:blip r:embed="rId8">
            <a:alphaModFix/>
          </a:blip>
          <a:srcRect l="11087" t="90948" r="8738" b="2224"/>
          <a:stretch/>
        </p:blipFill>
        <p:spPr>
          <a:xfrm>
            <a:off x="686425" y="6334750"/>
            <a:ext cx="10923300" cy="523250"/>
          </a:xfrm>
          <a:prstGeom prst="rect">
            <a:avLst/>
          </a:prstGeom>
          <a:noFill/>
          <a:ln>
            <a:noFill/>
          </a:ln>
        </p:spPr>
      </p:pic>
      <p:sp>
        <p:nvSpPr>
          <p:cNvPr id="2" name="Slide Number Placeholder 3">
            <a:extLst>
              <a:ext uri="{FF2B5EF4-FFF2-40B4-BE49-F238E27FC236}">
                <a16:creationId xmlns:a16="http://schemas.microsoft.com/office/drawing/2014/main" id="{0BE16B25-CC8A-B908-D9EA-3C7392769E27}"/>
              </a:ext>
            </a:extLst>
          </p:cNvPr>
          <p:cNvSpPr>
            <a:spLocks noGrp="1"/>
          </p:cNvSpPr>
          <p:nvPr>
            <p:ph type="sldNum" sz="quarter" idx="12"/>
          </p:nvPr>
        </p:nvSpPr>
        <p:spPr>
          <a:xfrm>
            <a:off x="5690490" y="6291139"/>
            <a:ext cx="811019" cy="503578"/>
          </a:xfrm>
        </p:spPr>
        <p:txBody>
          <a:bodyPr/>
          <a:lstStyle/>
          <a:p>
            <a:fld id="{CBABCCC1-BF11-4F37-963E-1BCD5B23FD72}" type="slidenum">
              <a:rPr lang="en-IN" dirty="0" smtClean="0"/>
              <a:pPr/>
              <a:t>36</a:t>
            </a:fld>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8"/>
                                        </p:tgtEl>
                                        <p:attrNameLst>
                                          <p:attrName>style.visibility</p:attrName>
                                        </p:attrNameLst>
                                      </p:cBhvr>
                                      <p:to>
                                        <p:strVal val="visible"/>
                                      </p:to>
                                    </p:set>
                                    <p:animEffect transition="in" filter="fade">
                                      <p:cBhvr>
                                        <p:cTn id="7" dur="500"/>
                                        <p:tgtEl>
                                          <p:spTgt spid="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PT Template.potx" id="{A4A573FA-5023-4A60-BA15-556917C382C0}" vid="{FAB5C421-D54E-4084-8823-8DA30F368A70}"/>
    </a:ext>
  </a:extLst>
</a:theme>
</file>

<file path=ppt/theme/theme2.xml><?xml version="1.0" encoding="utf-8"?>
<a:theme xmlns:a="http://schemas.openxmlformats.org/drawingml/2006/main" name="1_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3.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PT Template.potx" id="{A4A573FA-5023-4A60-BA15-556917C382C0}" vid="{FAB5C421-D54E-4084-8823-8DA30F368A7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branch and bound</Template>
  <TotalTime>104</TotalTime>
  <Words>1954</Words>
  <Application>Microsoft Office PowerPoint</Application>
  <PresentationFormat>Widescreen</PresentationFormat>
  <Paragraphs>353</Paragraphs>
  <Slides>36</Slides>
  <Notes>4</Notes>
  <HiddenSlides>0</HiddenSlides>
  <MMClips>0</MMClips>
  <ScaleCrop>false</ScaleCrop>
  <HeadingPairs>
    <vt:vector size="4" baseType="variant">
      <vt:variant>
        <vt:lpstr>Theme</vt:lpstr>
      </vt:variant>
      <vt:variant>
        <vt:i4>3</vt:i4>
      </vt:variant>
      <vt:variant>
        <vt:lpstr>Slide Titles</vt:lpstr>
      </vt:variant>
      <vt:variant>
        <vt:i4>36</vt:i4>
      </vt:variant>
    </vt:vector>
  </HeadingPairs>
  <TitlesOfParts>
    <vt:vector size="39" baseType="lpstr">
      <vt:lpstr>Gallery</vt:lpstr>
      <vt:lpstr>1_Gallery</vt:lpstr>
      <vt:lpstr>Gallery</vt:lpstr>
      <vt:lpstr>mathematical optimization</vt:lpstr>
      <vt:lpstr>PowerPoint Presentation</vt:lpstr>
      <vt:lpstr>INTEGER PROGRAMMING:  AN INTRODUCTION</vt:lpstr>
      <vt:lpstr>TYPES OF INTEGER PROGRAMMING PROBLEMS</vt:lpstr>
      <vt:lpstr>INTEGER PROGRAMMING: FORMULATION</vt:lpstr>
      <vt:lpstr>INTEGER PROGRAMMING: FORMULATION</vt:lpstr>
      <vt:lpstr>INTEGER PROGRAMMING: FORMULATION</vt:lpstr>
      <vt:lpstr>INTEGER PROGRAMMING: FORMULATION</vt:lpstr>
      <vt:lpstr>INTEGER PROGRAMMING: FORMULATION</vt:lpstr>
      <vt:lpstr>INTEGER PROGRAMMING: FORMULATION</vt:lpstr>
      <vt:lpstr>INTEGER PROGRAMMING: FORMULATION</vt:lpstr>
      <vt:lpstr>INTEGER PROGRAMMING: FORMULATION</vt:lpstr>
      <vt:lpstr>APPROACH TO SOLVING ILP PROBLEM</vt:lpstr>
      <vt:lpstr>METHODS FOR SOLVING ILP PROBLEMS</vt:lpstr>
      <vt:lpstr>BRANCH–AND–BOUND METHOD</vt:lpstr>
      <vt:lpstr>BRANCH–AND–BOUND METHOD</vt:lpstr>
      <vt:lpstr>BRANCH–AND–BOUND METHOD (Cont…)</vt:lpstr>
      <vt:lpstr>BRANCH–AND–BOUND METHOD (Cont…)</vt:lpstr>
      <vt:lpstr>BRANCH–AND–BOUND METHOD: A Solved problem</vt:lpstr>
      <vt:lpstr>BRANCH–AND–BOUND METHOD: A Solved problem</vt:lpstr>
      <vt:lpstr>BRANCH–AND–BOUND METHOD (Cont…)</vt:lpstr>
      <vt:lpstr>BRANCH–AND–BOUND METHOD (Cont…)</vt:lpstr>
      <vt:lpstr>BRANCH–AND–BOUND METHOD (Cont…)</vt:lpstr>
      <vt:lpstr>BRANCH–AND–BOUND METHOD (Cont…)</vt:lpstr>
      <vt:lpstr>BRANCH–AND–BOUND METHOD (Cont…)</vt:lpstr>
      <vt:lpstr>BRANCH–AND–BOUND METHOD (Cont…)</vt:lpstr>
      <vt:lpstr>BRANCH–AND–BOUND METHOD (Cont…)</vt:lpstr>
      <vt:lpstr>BRANCH–AND–BOUND METHOD (Cont…)</vt:lpstr>
      <vt:lpstr>BRANCH–AND–BOUND METHOD (Cont…)</vt:lpstr>
      <vt:lpstr>BRANCH–AND–BOUND METHOD (Cont…)</vt:lpstr>
      <vt:lpstr>BRANCH–AND–BOUND METHOD (Cont…)</vt:lpstr>
      <vt:lpstr>BRANCH–AND–BOUND METHOD (Cont…)</vt:lpstr>
      <vt:lpstr>BRANCH–AND–BOUND METHOD (Cont…)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mathematical PROGRAMMING</dc:title>
  <dc:creator>Imunganbi Sanasam</dc:creator>
  <cp:lastModifiedBy>P Murali Krishna</cp:lastModifiedBy>
  <cp:revision>287</cp:revision>
  <dcterms:created xsi:type="dcterms:W3CDTF">2023-05-05T03:38:14Z</dcterms:created>
  <dcterms:modified xsi:type="dcterms:W3CDTF">2025-08-14T02:23:20Z</dcterms:modified>
</cp:coreProperties>
</file>