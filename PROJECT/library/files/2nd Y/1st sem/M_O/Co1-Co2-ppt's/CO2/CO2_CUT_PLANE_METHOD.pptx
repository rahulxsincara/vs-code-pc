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9"/>
  </p:notesMasterIdLst>
  <p:sldIdLst>
    <p:sldId id="296" r:id="rId2"/>
    <p:sldId id="297" r:id="rId3"/>
    <p:sldId id="273" r:id="rId4"/>
    <p:sldId id="274" r:id="rId5"/>
    <p:sldId id="275" r:id="rId6"/>
    <p:sldId id="298" r:id="rId7"/>
    <p:sldId id="276" r:id="rId8"/>
    <p:sldId id="301" r:id="rId9"/>
    <p:sldId id="277" r:id="rId10"/>
    <p:sldId id="299" r:id="rId11"/>
    <p:sldId id="278" r:id="rId12"/>
    <p:sldId id="279" r:id="rId13"/>
    <p:sldId id="303" r:id="rId14"/>
    <p:sldId id="280" r:id="rId15"/>
    <p:sldId id="304" r:id="rId16"/>
    <p:sldId id="281" r:id="rId17"/>
    <p:sldId id="30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8E91D4-DF6C-BD5F-FD73-5603CACEB574}" v="27" dt="2023-07-31T07:23:26.512"/>
    <p1510:client id="{3E86FAD0-02C9-F4BA-4F05-5EAB6E6E58A8}" v="733" dt="2023-07-31T07:13:48.600"/>
    <p1510:client id="{49B1E9F3-E4D1-2865-6F88-BA7AE6BB35A1}" v="199" dt="2023-07-31T05:45:42.325"/>
    <p1510:client id="{7C0858FB-0E9A-CEDE-3520-79687D912A61}" v="65" dt="2023-07-04T06:38:18.721"/>
    <p1510:client id="{FF259638-13F2-4FB4-8666-F8B47B0D064A}" v="251" dt="2023-07-31T04:58:43.3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222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FAD77E-5F6E-4CB3-B06B-CFB44D547C5E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127779-081A-4E94-8466-3C53AB2DB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348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6523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1449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703" y="165386"/>
            <a:ext cx="9603275" cy="1049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371703" y="804519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511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5294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5649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9335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6576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777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695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4490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5877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6861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24" b="1" i="0">
                <a:solidFill>
                  <a:srgbClr val="BE1F25"/>
                </a:solidFill>
                <a:latin typeface="Tahoma"/>
                <a:cs typeface="Tahoma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381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381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9" b="0" i="0">
                <a:solidFill>
                  <a:srgbClr val="9A9D9F"/>
                </a:solidFill>
                <a:latin typeface="Tahoma"/>
                <a:cs typeface="Tahoma"/>
              </a:defRPr>
            </a:lvl1pPr>
          </a:lstStyle>
          <a:p>
            <a:pPr marL="107022">
              <a:spcBef>
                <a:spcPts val="88"/>
              </a:spcBef>
            </a:pPr>
            <a:fld id="{81D60167-4931-47E6-BA6A-407CBD079E47}" type="slidenum">
              <a:rPr lang="en-IN" smtClean="0"/>
              <a:pPr marL="107022">
                <a:spcBef>
                  <a:spcPts val="88"/>
                </a:spcBef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336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025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69B8D-BF65-4ADD-F76F-77EA72FFCB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mathematical optimization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640656-3048-2A08-BF39-81705306F7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91440" rIns="91440" bIns="91440" rtlCol="0" anchor="t">
            <a:normAutofit/>
          </a:bodyPr>
          <a:lstStyle/>
          <a:p>
            <a:r>
              <a:rPr lang="en-IN" dirty="0"/>
              <a:t>CO2- Integer programming – GoMoRy Cut plane method</a:t>
            </a:r>
          </a:p>
          <a:p>
            <a:r>
              <a:rPr lang="en-IN" dirty="0"/>
              <a:t>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512659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/>
          <p:nvPr/>
        </p:nvSpPr>
        <p:spPr>
          <a:xfrm>
            <a:off x="4471200" y="84240"/>
            <a:ext cx="3011040" cy="390240"/>
          </a:xfrm>
          <a:prstGeom prst="roundRect">
            <a:avLst>
              <a:gd name="adj" fmla="val 16667"/>
            </a:avLst>
          </a:prstGeom>
          <a:solidFill>
            <a:srgbClr val="BA2532"/>
          </a:solidFill>
          <a:ln>
            <a:noFill/>
          </a:ln>
          <a:effectLst>
            <a:outerShdw blurRad="50800" dist="37674" dir="2700000" algn="tl" rotWithShape="0">
              <a:srgbClr val="BA2532">
                <a:alpha val="40000"/>
              </a:srgbClr>
            </a:outerShdw>
          </a:effectLst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AIM OF THE SESSION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8"/>
          <p:cNvSpPr/>
          <p:nvPr/>
        </p:nvSpPr>
        <p:spPr>
          <a:xfrm>
            <a:off x="914400" y="684360"/>
            <a:ext cx="10705480" cy="605260"/>
          </a:xfrm>
          <a:prstGeom prst="rect">
            <a:avLst/>
          </a:prstGeom>
          <a:gradFill>
            <a:gsLst>
              <a:gs pos="0">
                <a:srgbClr val="F7FAFD"/>
              </a:gs>
              <a:gs pos="100000">
                <a:srgbClr val="CEE1F2"/>
              </a:gs>
            </a:gsLst>
            <a:path path="circle">
              <a:fillToRect l="50000" t="50000" r="50000" b="50000"/>
            </a:path>
            <a:tileRect/>
          </a:gradFill>
          <a:ln w="9525" cap="rnd" cmpd="sng">
            <a:solidFill>
              <a:srgbClr val="DDEAF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60" algn="l" rotWithShape="0">
              <a:srgbClr val="BBD6EE">
                <a:alpha val="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familiarize students with the 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method of solving </a:t>
            </a:r>
            <a:r>
              <a:rPr lang="en-IN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ILP using Gomory cut plane method.</a:t>
            </a:r>
            <a:endParaRPr sz="16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8"/>
          <p:cNvSpPr/>
          <p:nvPr/>
        </p:nvSpPr>
        <p:spPr>
          <a:xfrm>
            <a:off x="4160520" y="1807200"/>
            <a:ext cx="3870360" cy="390240"/>
          </a:xfrm>
          <a:prstGeom prst="roundRect">
            <a:avLst>
              <a:gd name="adj" fmla="val 16667"/>
            </a:avLst>
          </a:prstGeom>
          <a:solidFill>
            <a:srgbClr val="BA2532"/>
          </a:solidFill>
          <a:ln>
            <a:noFill/>
          </a:ln>
          <a:effectLst>
            <a:outerShdw blurRad="50800" dist="37674" dir="2700000" algn="tl" rotWithShape="0">
              <a:srgbClr val="BA2532">
                <a:alpha val="40000"/>
              </a:srgbClr>
            </a:outerShdw>
          </a:effectLst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INSTRUCTIONAL OBJECTIVES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8"/>
          <p:cNvSpPr/>
          <p:nvPr/>
        </p:nvSpPr>
        <p:spPr>
          <a:xfrm>
            <a:off x="1752480" y="2438640"/>
            <a:ext cx="8791200" cy="1551960"/>
          </a:xfrm>
          <a:prstGeom prst="rect">
            <a:avLst/>
          </a:prstGeom>
          <a:gradFill>
            <a:gsLst>
              <a:gs pos="0">
                <a:srgbClr val="F7FAFD"/>
              </a:gs>
              <a:gs pos="100000">
                <a:srgbClr val="CEE1F2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DDEAF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60" algn="l" rotWithShape="0">
              <a:srgbClr val="BBD6EE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Session is designed to:</a:t>
            </a:r>
            <a:endParaRPr lang="en-US" sz="1600" b="0" i="0" u="none" strike="noStrike" cap="none" dirty="0">
              <a:latin typeface="Arial"/>
              <a:ea typeface="Arial"/>
              <a:cs typeface="Arial"/>
            </a:endParaRPr>
          </a:p>
          <a:p>
            <a:pPr marL="342900" indent="-342265">
              <a:buClr>
                <a:srgbClr val="000000"/>
              </a:buClr>
              <a:buSzPts val="1600"/>
              <a:buFont typeface="Noto Sans Symbols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Introduce  </a:t>
            </a:r>
            <a:r>
              <a:rPr lang="en-US" sz="1600" dirty="0"/>
              <a:t>Gomory Cut plane method</a:t>
            </a:r>
            <a:endParaRPr lang="en-US"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indent="-342265">
              <a:buClr>
                <a:srgbClr val="000000"/>
              </a:buClr>
              <a:buSzPts val="1600"/>
              <a:buFont typeface="Noto Sans Symbols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 methods to solve ILP using</a:t>
            </a:r>
            <a:r>
              <a:rPr lang="en-US" sz="1600" dirty="0">
                <a:latin typeface="Arial"/>
                <a:cs typeface="Arial"/>
              </a:rPr>
              <a:t> </a:t>
            </a:r>
            <a:r>
              <a:rPr lang="en-US" sz="1600" dirty="0"/>
              <a:t>Gomory Cut plane method</a:t>
            </a:r>
            <a:endParaRPr sz="1600" b="0" i="0" u="none" strike="noStrike" cap="none" dirty="0">
              <a:latin typeface="Arial"/>
              <a:ea typeface="Arial"/>
              <a:cs typeface="Arial"/>
            </a:endParaRPr>
          </a:p>
        </p:txBody>
      </p:sp>
      <p:pic>
        <p:nvPicPr>
          <p:cNvPr id="145" name="Google Shape;145;p28" descr="Bullseye outline"/>
          <p:cNvPicPr preferRelativeResize="0"/>
          <p:nvPr/>
        </p:nvPicPr>
        <p:blipFill rotWithShape="1">
          <a:blip r:embed="rId3" cstate="print">
            <a:alphaModFix/>
          </a:blip>
          <a:srcRect/>
          <a:stretch/>
        </p:blipFill>
        <p:spPr>
          <a:xfrm>
            <a:off x="0" y="625320"/>
            <a:ext cx="914040" cy="914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8" descr="Presentation with checklist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080" y="2438640"/>
            <a:ext cx="914040" cy="914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8"/>
          <p:cNvSpPr/>
          <p:nvPr/>
        </p:nvSpPr>
        <p:spPr>
          <a:xfrm>
            <a:off x="4213080" y="4249080"/>
            <a:ext cx="3870360" cy="390240"/>
          </a:xfrm>
          <a:prstGeom prst="roundRect">
            <a:avLst>
              <a:gd name="adj" fmla="val 16667"/>
            </a:avLst>
          </a:prstGeom>
          <a:solidFill>
            <a:srgbClr val="BA2532"/>
          </a:solidFill>
          <a:ln>
            <a:noFill/>
          </a:ln>
          <a:effectLst>
            <a:outerShdw blurRad="50800" dist="37674" dir="2700000" algn="tl" rotWithShape="0">
              <a:srgbClr val="BA2532">
                <a:alpha val="40000"/>
              </a:srgbClr>
            </a:outerShdw>
          </a:effectLst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LEARNING OUTCOMES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28" descr="Idea outline"/>
          <p:cNvPicPr preferRelativeResize="0"/>
          <p:nvPr/>
        </p:nvPicPr>
        <p:blipFill rotWithShape="1">
          <a:blip r:embed="rId5" cstate="print">
            <a:alphaModFix/>
          </a:blip>
          <a:srcRect/>
          <a:stretch/>
        </p:blipFill>
        <p:spPr>
          <a:xfrm>
            <a:off x="914400" y="4765680"/>
            <a:ext cx="914040" cy="914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8"/>
          <p:cNvSpPr/>
          <p:nvPr/>
        </p:nvSpPr>
        <p:spPr>
          <a:xfrm>
            <a:off x="1752480" y="4772160"/>
            <a:ext cx="8791200" cy="1156200"/>
          </a:xfrm>
          <a:prstGeom prst="rect">
            <a:avLst/>
          </a:prstGeom>
          <a:gradFill>
            <a:gsLst>
              <a:gs pos="0">
                <a:srgbClr val="F7FAFD"/>
              </a:gs>
              <a:gs pos="100000">
                <a:srgbClr val="CEE1F2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DDEAF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60" algn="l" rotWithShape="0">
              <a:srgbClr val="BBD6EE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the end of this session, 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students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should be able to:</a:t>
            </a:r>
            <a:endParaRPr lang="en-US" sz="16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2900" indent="-342265">
              <a:buClr>
                <a:srgbClr val="000000"/>
              </a:buClr>
              <a:buSzPts val="1600"/>
              <a:buFont typeface="Noto Sans Symbols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 the solution for an ILP using</a:t>
            </a:r>
            <a:r>
              <a:rPr lang="en-US" sz="1600" dirty="0">
                <a:latin typeface="Arial"/>
                <a:cs typeface="Arial"/>
              </a:rPr>
              <a:t> </a:t>
            </a:r>
            <a:r>
              <a:rPr lang="en-US" sz="1600" dirty="0"/>
              <a:t>Gomory Cut plane method</a:t>
            </a:r>
            <a:endParaRPr sz="1600" b="0" i="0" u="none" strike="noStrike" cap="none" dirty="0">
              <a:latin typeface="Arial"/>
              <a:ea typeface="Arial"/>
              <a:cs typeface="Arial"/>
            </a:endParaRPr>
          </a:p>
        </p:txBody>
      </p:sp>
      <p:pic>
        <p:nvPicPr>
          <p:cNvPr id="150" name="Google Shape;150;p28" descr="KL Deemed to be University Logo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1990440" cy="59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8"/>
          <p:cNvPicPr preferRelativeResize="0"/>
          <p:nvPr/>
        </p:nvPicPr>
        <p:blipFill rotWithShape="1">
          <a:blip r:embed="rId7">
            <a:alphaModFix/>
          </a:blip>
          <a:srcRect l="11087" t="90948" r="8738" b="2224"/>
          <a:stretch/>
        </p:blipFill>
        <p:spPr>
          <a:xfrm>
            <a:off x="686425" y="6334750"/>
            <a:ext cx="10923300" cy="52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4AE62C8-CFDA-6A6A-8DEF-9426216F8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90490" y="6291139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pPr/>
              <a:t>2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5663" y="413947"/>
            <a:ext cx="7038415" cy="500232"/>
          </a:xfrm>
          <a:prstGeom prst="rect">
            <a:avLst/>
          </a:prstGeom>
        </p:spPr>
        <p:txBody>
          <a:bodyPr vert="horz" wrap="square" lIns="0" tIns="11206" rIns="0" bIns="0" rtlCol="0" anchor="t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3177" spc="-4" dirty="0"/>
              <a:t>THE</a:t>
            </a:r>
            <a:r>
              <a:rPr sz="3177" spc="-35" dirty="0"/>
              <a:t> </a:t>
            </a:r>
            <a:r>
              <a:rPr sz="3177" spc="-4" dirty="0"/>
              <a:t>CUTTING–PLANE</a:t>
            </a:r>
            <a:r>
              <a:rPr sz="3177" spc="-22" dirty="0"/>
              <a:t> </a:t>
            </a:r>
            <a:r>
              <a:rPr sz="3177" spc="-4" dirty="0"/>
              <a:t>ALGORITHM</a:t>
            </a:r>
            <a:endParaRPr sz="3177" dirty="0"/>
          </a:p>
        </p:txBody>
      </p:sp>
      <p:sp>
        <p:nvSpPr>
          <p:cNvPr id="3" name="object 3"/>
          <p:cNvSpPr txBox="1"/>
          <p:nvPr/>
        </p:nvSpPr>
        <p:spPr>
          <a:xfrm>
            <a:off x="9486673" y="6080847"/>
            <a:ext cx="170329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4" dirty="0">
                <a:solidFill>
                  <a:srgbClr val="9A9D9F"/>
                </a:solidFill>
                <a:latin typeface="Tahoma"/>
                <a:cs typeface="Tahoma"/>
              </a:rPr>
              <a:t>1</a:t>
            </a:r>
            <a:r>
              <a:rPr sz="1059" dirty="0">
                <a:solidFill>
                  <a:srgbClr val="9A9D9F"/>
                </a:solidFill>
                <a:latin typeface="Tahoma"/>
                <a:cs typeface="Tahoma"/>
              </a:rPr>
              <a:t>9</a:t>
            </a:r>
            <a:endParaRPr sz="1059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5918" y="1509670"/>
            <a:ext cx="11620163" cy="3599477"/>
          </a:xfrm>
          <a:prstGeom prst="rect">
            <a:avLst/>
          </a:prstGeom>
        </p:spPr>
        <p:txBody>
          <a:bodyPr vert="horz" wrap="square" lIns="0" tIns="11206" rIns="0" bIns="0" rtlCol="0" anchor="t">
            <a:spAutoFit/>
          </a:bodyPr>
          <a:lstStyle/>
          <a:p>
            <a:pPr marL="88900">
              <a:spcBef>
                <a:spcPts val="88"/>
              </a:spcBef>
              <a:tabLst>
                <a:tab pos="516058" algn="l"/>
                <a:tab pos="1636146" algn="l"/>
                <a:tab pos="2074319" algn="l"/>
                <a:tab pos="2927693" algn="l"/>
                <a:tab pos="3541248" algn="l"/>
                <a:tab pos="4399104" algn="l"/>
                <a:tab pos="4931972" algn="l"/>
                <a:tab pos="5687849" algn="l"/>
                <a:tab pos="6545144" algn="l"/>
              </a:tabLst>
            </a:pPr>
            <a:r>
              <a:rPr sz="1600" dirty="0">
                <a:solidFill>
                  <a:srgbClr val="231F20"/>
                </a:solidFill>
                <a:latin typeface="Tahoma"/>
                <a:cs typeface="Tahoma"/>
              </a:rPr>
              <a:t>An</a:t>
            </a:r>
            <a:r>
              <a:rPr sz="1600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600" dirty="0">
                <a:solidFill>
                  <a:srgbClr val="231F20"/>
                </a:solidFill>
                <a:latin typeface="Tahoma"/>
                <a:cs typeface="Tahoma"/>
              </a:rPr>
              <a:t>Algorithm</a:t>
            </a:r>
            <a:r>
              <a:rPr sz="1600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600" spc="-9" dirty="0">
                <a:solidFill>
                  <a:srgbClr val="231F20"/>
                </a:solidFill>
                <a:latin typeface="Tahoma"/>
                <a:cs typeface="Tahoma"/>
              </a:rPr>
              <a:t>for</a:t>
            </a:r>
            <a:r>
              <a:rPr sz="1600" spc="-9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600" dirty="0">
                <a:solidFill>
                  <a:srgbClr val="231F20"/>
                </a:solidFill>
                <a:latin typeface="Tahoma"/>
                <a:cs typeface="Tahoma"/>
              </a:rPr>
              <a:t>solving</a:t>
            </a:r>
            <a:r>
              <a:rPr sz="1600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600" spc="-4" dirty="0">
                <a:solidFill>
                  <a:srgbClr val="231F20"/>
                </a:solidFill>
                <a:latin typeface="Tahoma"/>
                <a:cs typeface="Tahoma"/>
              </a:rPr>
              <a:t>Pure</a:t>
            </a:r>
            <a:r>
              <a:rPr sz="1600" spc="-4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600" spc="-4" dirty="0">
                <a:solidFill>
                  <a:srgbClr val="231F20"/>
                </a:solidFill>
                <a:latin typeface="Tahoma"/>
                <a:cs typeface="Tahoma"/>
              </a:rPr>
              <a:t>integer</a:t>
            </a:r>
            <a:r>
              <a:rPr sz="1600" spc="-4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600" spc="-4" dirty="0">
                <a:solidFill>
                  <a:srgbClr val="231F20"/>
                </a:solidFill>
                <a:latin typeface="Tahoma"/>
                <a:cs typeface="Tahoma"/>
              </a:rPr>
              <a:t>and</a:t>
            </a:r>
            <a:r>
              <a:rPr sz="1600" spc="-4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600" spc="-9" dirty="0">
                <a:solidFill>
                  <a:srgbClr val="231F20"/>
                </a:solidFill>
                <a:latin typeface="Tahoma"/>
                <a:cs typeface="Tahoma"/>
              </a:rPr>
              <a:t>mixed</a:t>
            </a:r>
            <a:r>
              <a:rPr sz="1600" spc="-9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600" spc="-4" dirty="0">
                <a:solidFill>
                  <a:srgbClr val="231F20"/>
                </a:solidFill>
                <a:latin typeface="Tahoma"/>
                <a:cs typeface="Tahoma"/>
              </a:rPr>
              <a:t>integer</a:t>
            </a:r>
            <a:r>
              <a:rPr sz="1600" spc="-4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600" spc="-9" dirty="0">
                <a:solidFill>
                  <a:srgbClr val="231F20"/>
                </a:solidFill>
                <a:latin typeface="Tahoma"/>
                <a:cs typeface="Tahoma"/>
              </a:rPr>
              <a:t>programming</a:t>
            </a:r>
            <a:r>
              <a:rPr lang="en-US" sz="1600" spc="-9" dirty="0">
                <a:solidFill>
                  <a:srgbClr val="231F20"/>
                </a:solidFill>
                <a:latin typeface="Tahoma"/>
                <a:cs typeface="Tahoma"/>
              </a:rPr>
              <a:t> </a:t>
            </a:r>
            <a:r>
              <a:rPr sz="1600" spc="-4" dirty="0">
                <a:solidFill>
                  <a:srgbClr val="231F20"/>
                </a:solidFill>
                <a:latin typeface="Tahoma"/>
                <a:cs typeface="Tahoma"/>
              </a:rPr>
              <a:t>problems</a:t>
            </a:r>
            <a:r>
              <a:rPr lang="en-US" sz="1600" spc="-35" dirty="0">
                <a:solidFill>
                  <a:srgbClr val="231F20"/>
                </a:solidFill>
                <a:latin typeface="Tahoma"/>
                <a:cs typeface="Tahoma"/>
              </a:rPr>
              <a:t> was</a:t>
            </a:r>
            <a:r>
              <a:rPr lang="en-US" sz="1600" dirty="0">
                <a:solidFill>
                  <a:srgbClr val="231F20"/>
                </a:solidFill>
                <a:latin typeface="Tahoma"/>
                <a:cs typeface="Tahoma"/>
              </a:rPr>
              <a:t> </a:t>
            </a:r>
            <a:r>
              <a:rPr sz="1600" spc="-4" dirty="0">
                <a:solidFill>
                  <a:srgbClr val="231F20"/>
                </a:solidFill>
                <a:latin typeface="Tahoma"/>
                <a:cs typeface="Tahoma"/>
              </a:rPr>
              <a:t>developed</a:t>
            </a:r>
            <a:r>
              <a:rPr sz="1600" spc="-3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31F20"/>
                </a:solidFill>
                <a:latin typeface="Tahoma"/>
                <a:cs typeface="Tahoma"/>
              </a:rPr>
              <a:t>by</a:t>
            </a:r>
            <a:r>
              <a:rPr sz="1600" spc="-1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lang="en-US" sz="1600" dirty="0">
                <a:solidFill>
                  <a:srgbClr val="231F20"/>
                </a:solidFill>
                <a:latin typeface="Tahoma"/>
                <a:cs typeface="Tahoma"/>
              </a:rPr>
              <a:t>R.</a:t>
            </a:r>
            <a:r>
              <a:rPr sz="1600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31F20"/>
                </a:solidFill>
                <a:latin typeface="Tahoma"/>
                <a:cs typeface="Tahoma"/>
              </a:rPr>
              <a:t>E.</a:t>
            </a:r>
            <a:r>
              <a:rPr sz="1600" spc="-2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31F20"/>
                </a:solidFill>
                <a:latin typeface="Tahoma"/>
                <a:cs typeface="Tahoma"/>
              </a:rPr>
              <a:t>Gomory</a:t>
            </a:r>
            <a:r>
              <a:rPr lang="en-US" sz="1600" dirty="0">
                <a:solidFill>
                  <a:srgbClr val="231F20"/>
                </a:solidFill>
                <a:latin typeface="Tahoma"/>
                <a:cs typeface="Tahoma"/>
              </a:rPr>
              <a:t>.</a:t>
            </a:r>
            <a:endParaRPr lang="en-US" sz="1600" dirty="0">
              <a:latin typeface="Tahoma"/>
              <a:ea typeface="Tahoma"/>
              <a:cs typeface="Tahoma"/>
            </a:endParaRPr>
          </a:p>
          <a:p>
            <a:pPr marL="492760" indent="-403860" algn="just">
              <a:spcBef>
                <a:spcPts val="1059"/>
              </a:spcBef>
              <a:buAutoNum type="arabicPeriod"/>
              <a:tabLst>
                <a:tab pos="493645" algn="l"/>
              </a:tabLst>
            </a:pPr>
            <a:r>
              <a:rPr sz="1600" spc="-9" dirty="0">
                <a:solidFill>
                  <a:srgbClr val="231F20"/>
                </a:solidFill>
                <a:latin typeface="Tahoma"/>
                <a:cs typeface="Tahoma"/>
              </a:rPr>
              <a:t>Relax</a:t>
            </a:r>
            <a:r>
              <a:rPr sz="1600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600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31F20"/>
                </a:solidFill>
                <a:latin typeface="Tahoma"/>
                <a:cs typeface="Tahoma"/>
              </a:rPr>
              <a:t>integer</a:t>
            </a:r>
            <a:r>
              <a:rPr sz="1600" spc="-2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600" spc="-4" dirty="0">
                <a:solidFill>
                  <a:srgbClr val="231F20"/>
                </a:solidFill>
                <a:latin typeface="Tahoma"/>
                <a:cs typeface="Tahoma"/>
              </a:rPr>
              <a:t>requirements.</a:t>
            </a:r>
            <a:endParaRPr sz="1600" dirty="0">
              <a:latin typeface="Tahoma"/>
              <a:ea typeface="Tahoma"/>
              <a:cs typeface="Tahoma"/>
            </a:endParaRPr>
          </a:p>
          <a:p>
            <a:pPr marL="492760" indent="-403860" algn="just">
              <a:buAutoNum type="arabicPeriod"/>
              <a:tabLst>
                <a:tab pos="493645" algn="l"/>
              </a:tabLst>
            </a:pPr>
            <a:r>
              <a:rPr sz="1600" spc="-4" dirty="0">
                <a:latin typeface="Tahoma"/>
                <a:cs typeface="Tahoma"/>
              </a:rPr>
              <a:t>Solve</a:t>
            </a:r>
            <a:r>
              <a:rPr sz="1600" spc="-18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the</a:t>
            </a:r>
            <a:r>
              <a:rPr sz="1600" spc="-13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resulting</a:t>
            </a:r>
            <a:r>
              <a:rPr sz="1600" spc="-18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LP</a:t>
            </a:r>
            <a:r>
              <a:rPr sz="1600" spc="-4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problem</a:t>
            </a:r>
            <a:r>
              <a:rPr sz="1600" spc="-26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using</a:t>
            </a:r>
            <a:r>
              <a:rPr sz="1600" spc="-13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Simplex</a:t>
            </a:r>
            <a:r>
              <a:rPr sz="1600" spc="-18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Method.</a:t>
            </a:r>
            <a:endParaRPr sz="1600">
              <a:latin typeface="Tahoma"/>
              <a:ea typeface="Tahoma"/>
              <a:cs typeface="Tahoma"/>
            </a:endParaRPr>
          </a:p>
          <a:p>
            <a:pPr marL="492125" marR="94615" indent="-403225" algn="just">
              <a:buAutoNum type="arabicPeriod"/>
              <a:tabLst>
                <a:tab pos="493645" algn="l"/>
              </a:tabLst>
            </a:pPr>
            <a:r>
              <a:rPr sz="1600" dirty="0">
                <a:latin typeface="Tahoma"/>
                <a:cs typeface="Tahoma"/>
              </a:rPr>
              <a:t>If all the </a:t>
            </a:r>
            <a:r>
              <a:rPr sz="1600" spc="-4" dirty="0">
                <a:latin typeface="Tahoma"/>
                <a:cs typeface="Tahoma"/>
              </a:rPr>
              <a:t>basic variables </a:t>
            </a:r>
            <a:r>
              <a:rPr sz="1600" spc="-9" dirty="0">
                <a:latin typeface="Tahoma"/>
                <a:cs typeface="Tahoma"/>
              </a:rPr>
              <a:t>have </a:t>
            </a:r>
            <a:r>
              <a:rPr sz="1600" spc="-4" dirty="0">
                <a:latin typeface="Tahoma"/>
                <a:cs typeface="Tahoma"/>
              </a:rPr>
              <a:t>integer values, Optimality </a:t>
            </a:r>
            <a:r>
              <a:rPr sz="1600" spc="4" dirty="0">
                <a:latin typeface="Tahoma"/>
                <a:cs typeface="Tahoma"/>
              </a:rPr>
              <a:t>of </a:t>
            </a:r>
            <a:r>
              <a:rPr sz="1600" spc="-4" dirty="0">
                <a:latin typeface="Tahoma"/>
                <a:cs typeface="Tahoma"/>
              </a:rPr>
              <a:t>the </a:t>
            </a:r>
            <a:r>
              <a:rPr sz="1600" spc="-9" dirty="0">
                <a:latin typeface="Tahoma"/>
                <a:cs typeface="Tahoma"/>
              </a:rPr>
              <a:t>Integer</a:t>
            </a:r>
            <a:r>
              <a:rPr lang="en-US" sz="1600" spc="-9" dirty="0">
                <a:latin typeface="Tahoma"/>
                <a:cs typeface="Tahoma"/>
              </a:rPr>
              <a:t> </a:t>
            </a:r>
            <a:r>
              <a:rPr sz="1600" spc="-4" dirty="0">
                <a:latin typeface="Tahoma"/>
                <a:cs typeface="Tahoma"/>
              </a:rPr>
              <a:t> programming</a:t>
            </a:r>
            <a:r>
              <a:rPr sz="1600" spc="-44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problem</a:t>
            </a:r>
            <a:r>
              <a:rPr sz="1600" spc="-22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is</a:t>
            </a:r>
            <a:r>
              <a:rPr sz="1600" spc="4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reached.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So</a:t>
            </a:r>
            <a:r>
              <a:rPr sz="1600" spc="9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go</a:t>
            </a:r>
            <a:r>
              <a:rPr sz="1600" spc="-9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step</a:t>
            </a:r>
            <a:r>
              <a:rPr sz="1600" spc="-13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7;</a:t>
            </a:r>
            <a:r>
              <a:rPr sz="1600" spc="-9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otherwise</a:t>
            </a:r>
            <a:r>
              <a:rPr sz="1600" spc="-22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go</a:t>
            </a:r>
            <a:r>
              <a:rPr sz="1600" spc="-4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to</a:t>
            </a:r>
            <a:r>
              <a:rPr sz="1600" spc="-18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step</a:t>
            </a:r>
            <a:r>
              <a:rPr sz="1600" spc="-4" dirty="0">
                <a:latin typeface="Tahoma"/>
                <a:cs typeface="Tahoma"/>
              </a:rPr>
              <a:t> </a:t>
            </a:r>
            <a:r>
              <a:rPr sz="1600" spc="-9" dirty="0">
                <a:latin typeface="Tahoma"/>
                <a:cs typeface="Tahoma"/>
              </a:rPr>
              <a:t>4.</a:t>
            </a:r>
            <a:endParaRPr sz="1600">
              <a:latin typeface="Tahoma"/>
              <a:ea typeface="Tahoma"/>
              <a:cs typeface="Tahoma"/>
            </a:endParaRPr>
          </a:p>
          <a:p>
            <a:pPr marL="492125" marR="93980" indent="-403225" algn="just">
              <a:spcBef>
                <a:spcPts val="4"/>
              </a:spcBef>
              <a:buAutoNum type="arabicPeriod"/>
              <a:tabLst>
                <a:tab pos="493645" algn="l"/>
              </a:tabLst>
            </a:pPr>
            <a:r>
              <a:rPr sz="1600" spc="-4" dirty="0">
                <a:latin typeface="Tahoma"/>
                <a:cs typeface="Tahoma"/>
              </a:rPr>
              <a:t>Examine the constraints corresponding to the </a:t>
            </a:r>
            <a:r>
              <a:rPr sz="1600" spc="-9" dirty="0">
                <a:latin typeface="Tahoma"/>
                <a:cs typeface="Tahoma"/>
              </a:rPr>
              <a:t>current </a:t>
            </a:r>
            <a:r>
              <a:rPr sz="1600" spc="-4" dirty="0">
                <a:latin typeface="Tahoma"/>
                <a:cs typeface="Tahoma"/>
              </a:rPr>
              <a:t>optimal solution. </a:t>
            </a:r>
            <a:r>
              <a:rPr sz="1600" spc="-22" dirty="0">
                <a:latin typeface="Tahoma"/>
                <a:cs typeface="Tahoma"/>
              </a:rPr>
              <a:t>For</a:t>
            </a:r>
            <a:r>
              <a:rPr lang="en-US" sz="1600" spc="-22" dirty="0">
                <a:latin typeface="Tahoma"/>
                <a:cs typeface="Tahoma"/>
              </a:rPr>
              <a:t> </a:t>
            </a:r>
            <a:r>
              <a:rPr sz="1600" spc="-18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each </a:t>
            </a:r>
            <a:r>
              <a:rPr sz="1600" dirty="0">
                <a:latin typeface="Tahoma"/>
                <a:cs typeface="Tahoma"/>
              </a:rPr>
              <a:t>Basic </a:t>
            </a:r>
            <a:r>
              <a:rPr sz="1600" spc="-13" dirty="0">
                <a:latin typeface="Tahoma"/>
                <a:cs typeface="Tahoma"/>
              </a:rPr>
              <a:t>Variable </a:t>
            </a:r>
            <a:r>
              <a:rPr sz="1600" spc="-4" dirty="0">
                <a:latin typeface="Tahoma"/>
                <a:cs typeface="Tahoma"/>
              </a:rPr>
              <a:t>with non-integer </a:t>
            </a:r>
            <a:r>
              <a:rPr sz="1600" dirty="0">
                <a:latin typeface="Tahoma"/>
                <a:cs typeface="Tahoma"/>
              </a:rPr>
              <a:t>solution </a:t>
            </a:r>
            <a:r>
              <a:rPr sz="1600" spc="-4" dirty="0">
                <a:latin typeface="Tahoma"/>
                <a:cs typeface="Tahoma"/>
              </a:rPr>
              <a:t>in the </a:t>
            </a:r>
            <a:r>
              <a:rPr sz="1600" spc="-9" dirty="0">
                <a:latin typeface="Tahoma"/>
                <a:cs typeface="Tahoma"/>
              </a:rPr>
              <a:t>current </a:t>
            </a:r>
            <a:r>
              <a:rPr sz="1600" spc="-4" dirty="0">
                <a:latin typeface="Tahoma"/>
                <a:cs typeface="Tahoma"/>
              </a:rPr>
              <a:t>optimal table,</a:t>
            </a:r>
            <a:r>
              <a:rPr lang="en-US" sz="1600" spc="-4" dirty="0">
                <a:latin typeface="Tahoma"/>
                <a:cs typeface="Tahoma"/>
              </a:rPr>
              <a:t> </a:t>
            </a:r>
            <a:r>
              <a:rPr sz="1600" dirty="0">
                <a:latin typeface="Tahoma"/>
                <a:cs typeface="Tahoma"/>
              </a:rPr>
              <a:t> find </a:t>
            </a:r>
            <a:r>
              <a:rPr sz="1600" spc="-4" dirty="0">
                <a:latin typeface="Tahoma"/>
                <a:cs typeface="Tahoma"/>
              </a:rPr>
              <a:t>the fractional part,</a:t>
            </a:r>
            <a:r>
              <a:rPr lang="en-US" sz="1600" spc="-4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f</a:t>
            </a:r>
            <a:r>
              <a:rPr sz="1600" spc="-6" baseline="-21367" dirty="0">
                <a:latin typeface="Tahoma"/>
                <a:cs typeface="Tahoma"/>
              </a:rPr>
              <a:t>i </a:t>
            </a:r>
            <a:r>
              <a:rPr sz="1600" dirty="0">
                <a:latin typeface="Tahoma"/>
                <a:cs typeface="Tahoma"/>
              </a:rPr>
              <a:t>, </a:t>
            </a:r>
            <a:r>
              <a:rPr sz="1600" spc="-9" dirty="0">
                <a:latin typeface="Tahoma"/>
                <a:cs typeface="Tahoma"/>
              </a:rPr>
              <a:t>Therefore, </a:t>
            </a:r>
            <a:r>
              <a:rPr sz="1600" spc="-4" dirty="0">
                <a:latin typeface="Tahoma"/>
                <a:cs typeface="Tahoma"/>
              </a:rPr>
              <a:t>b</a:t>
            </a:r>
            <a:r>
              <a:rPr sz="1600" spc="-6" baseline="-21367" dirty="0">
                <a:latin typeface="Tahoma"/>
                <a:cs typeface="Tahoma"/>
              </a:rPr>
              <a:t>i </a:t>
            </a:r>
            <a:r>
              <a:rPr sz="1600" dirty="0">
                <a:latin typeface="Tahoma"/>
                <a:cs typeface="Tahoma"/>
              </a:rPr>
              <a:t>= </a:t>
            </a:r>
            <a:r>
              <a:rPr sz="1600" spc="-4" dirty="0">
                <a:latin typeface="Tahoma"/>
                <a:cs typeface="Tahoma"/>
              </a:rPr>
              <a:t>[b</a:t>
            </a:r>
            <a:r>
              <a:rPr sz="1600" spc="-6" baseline="-21367" dirty="0">
                <a:latin typeface="Tahoma"/>
                <a:cs typeface="Tahoma"/>
              </a:rPr>
              <a:t>i</a:t>
            </a:r>
            <a:r>
              <a:rPr sz="1600" spc="-4" dirty="0">
                <a:latin typeface="Tahoma"/>
                <a:cs typeface="Tahoma"/>
              </a:rPr>
              <a:t>] </a:t>
            </a:r>
            <a:r>
              <a:rPr sz="1600" dirty="0">
                <a:latin typeface="Tahoma"/>
                <a:cs typeface="Tahoma"/>
              </a:rPr>
              <a:t>+ </a:t>
            </a:r>
            <a:r>
              <a:rPr sz="1600" spc="-4" dirty="0">
                <a:latin typeface="Tahoma"/>
                <a:cs typeface="Tahoma"/>
              </a:rPr>
              <a:t>f</a:t>
            </a:r>
            <a:r>
              <a:rPr sz="1600" spc="-6" baseline="-21367" dirty="0">
                <a:latin typeface="Tahoma"/>
                <a:cs typeface="Tahoma"/>
              </a:rPr>
              <a:t>i</a:t>
            </a:r>
            <a:r>
              <a:rPr sz="1600" spc="-4" dirty="0">
                <a:latin typeface="Tahoma"/>
                <a:cs typeface="Tahoma"/>
              </a:rPr>
              <a:t>, where </a:t>
            </a:r>
            <a:r>
              <a:rPr sz="1600" dirty="0">
                <a:latin typeface="Tahoma"/>
                <a:cs typeface="Tahoma"/>
              </a:rPr>
              <a:t>[b</a:t>
            </a:r>
            <a:r>
              <a:rPr sz="1600" baseline="-21367" dirty="0">
                <a:latin typeface="Tahoma"/>
                <a:cs typeface="Tahoma"/>
              </a:rPr>
              <a:t>i</a:t>
            </a:r>
            <a:r>
              <a:rPr sz="1600" dirty="0">
                <a:latin typeface="Tahoma"/>
                <a:cs typeface="Tahoma"/>
              </a:rPr>
              <a:t>] </a:t>
            </a:r>
            <a:r>
              <a:rPr sz="1600" spc="-4" dirty="0">
                <a:latin typeface="Tahoma"/>
                <a:cs typeface="Tahoma"/>
              </a:rPr>
              <a:t>is </a:t>
            </a:r>
            <a:r>
              <a:rPr sz="1600" dirty="0">
                <a:latin typeface="Tahoma"/>
                <a:cs typeface="Tahoma"/>
              </a:rPr>
              <a:t>the </a:t>
            </a:r>
            <a:r>
              <a:rPr sz="1600" spc="-9" dirty="0">
                <a:latin typeface="Tahoma"/>
                <a:cs typeface="Tahoma"/>
              </a:rPr>
              <a:t>integer</a:t>
            </a:r>
            <a:r>
              <a:rPr lang="en-US" sz="1600" spc="-9" dirty="0">
                <a:latin typeface="Tahoma"/>
                <a:cs typeface="Tahoma"/>
              </a:rPr>
              <a:t> </a:t>
            </a:r>
            <a:r>
              <a:rPr sz="1600" spc="-4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part</a:t>
            </a:r>
            <a:r>
              <a:rPr sz="1600" spc="-26" dirty="0">
                <a:latin typeface="Tahoma"/>
                <a:cs typeface="Tahoma"/>
              </a:rPr>
              <a:t> </a:t>
            </a:r>
            <a:r>
              <a:rPr sz="1600" spc="4" dirty="0">
                <a:latin typeface="Tahoma"/>
                <a:cs typeface="Tahoma"/>
              </a:rPr>
              <a:t>of</a:t>
            </a:r>
            <a:r>
              <a:rPr sz="1600" spc="-9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b</a:t>
            </a:r>
            <a:r>
              <a:rPr sz="1600" spc="-6" baseline="-21367" dirty="0">
                <a:latin typeface="Tahoma"/>
                <a:cs typeface="Tahoma"/>
              </a:rPr>
              <a:t>i</a:t>
            </a:r>
            <a:r>
              <a:rPr sz="1600" spc="-4" dirty="0">
                <a:latin typeface="Tahoma"/>
                <a:cs typeface="Tahoma"/>
              </a:rPr>
              <a:t>,</a:t>
            </a:r>
            <a:r>
              <a:rPr sz="1600" dirty="0">
                <a:latin typeface="Tahoma"/>
                <a:cs typeface="Tahoma"/>
              </a:rPr>
              <a:t> and</a:t>
            </a:r>
            <a:r>
              <a:rPr sz="1600" spc="-18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f</a:t>
            </a:r>
            <a:r>
              <a:rPr sz="1600" spc="-6" baseline="-21367" dirty="0">
                <a:latin typeface="Tahoma"/>
                <a:cs typeface="Tahoma"/>
              </a:rPr>
              <a:t>i</a:t>
            </a:r>
            <a:r>
              <a:rPr sz="1600" spc="291" baseline="-21367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is</a:t>
            </a:r>
            <a:r>
              <a:rPr sz="1600" spc="4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the</a:t>
            </a:r>
            <a:r>
              <a:rPr lang="en-US" sz="1600" spc="-18" dirty="0">
                <a:latin typeface="Tahoma"/>
                <a:cs typeface="Tahoma"/>
              </a:rPr>
              <a:t> positive </a:t>
            </a:r>
            <a:r>
              <a:rPr lang="en-US" sz="1600" spc="-4" dirty="0">
                <a:latin typeface="Tahoma"/>
                <a:cs typeface="Tahoma"/>
              </a:rPr>
              <a:t>fractional</a:t>
            </a:r>
            <a:r>
              <a:rPr sz="1600" spc="-13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part</a:t>
            </a:r>
            <a:r>
              <a:rPr sz="1600" spc="-13" dirty="0">
                <a:latin typeface="Tahoma"/>
                <a:cs typeface="Tahoma"/>
              </a:rPr>
              <a:t> </a:t>
            </a:r>
            <a:r>
              <a:rPr sz="1600" spc="4" dirty="0">
                <a:latin typeface="Tahoma"/>
                <a:cs typeface="Tahoma"/>
              </a:rPr>
              <a:t>of</a:t>
            </a:r>
            <a:r>
              <a:rPr sz="1600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b</a:t>
            </a:r>
            <a:r>
              <a:rPr sz="1600" spc="-6" baseline="-21367" dirty="0">
                <a:latin typeface="Tahoma"/>
                <a:cs typeface="Tahoma"/>
              </a:rPr>
              <a:t>i</a:t>
            </a:r>
            <a:r>
              <a:rPr sz="1600" spc="-4" dirty="0">
                <a:latin typeface="Tahoma"/>
                <a:cs typeface="Tahoma"/>
              </a:rPr>
              <a:t>.</a:t>
            </a:r>
            <a:endParaRPr sz="1600">
              <a:latin typeface="Tahoma"/>
              <a:ea typeface="Tahoma"/>
              <a:cs typeface="Tahoma"/>
            </a:endParaRPr>
          </a:p>
          <a:p>
            <a:pPr marL="492125" marR="93980" indent="-403225" algn="just">
              <a:buAutoNum type="arabicPeriod"/>
              <a:tabLst>
                <a:tab pos="493645" algn="l"/>
              </a:tabLst>
            </a:pPr>
            <a:r>
              <a:rPr sz="1600" dirty="0">
                <a:latin typeface="Tahoma"/>
                <a:cs typeface="Tahoma"/>
              </a:rPr>
              <a:t>Choose</a:t>
            </a:r>
            <a:r>
              <a:rPr sz="1600" spc="4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the</a:t>
            </a:r>
            <a:r>
              <a:rPr sz="1600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largest</a:t>
            </a:r>
            <a:r>
              <a:rPr sz="1600" dirty="0">
                <a:latin typeface="Tahoma"/>
                <a:cs typeface="Tahoma"/>
              </a:rPr>
              <a:t> </a:t>
            </a:r>
            <a:r>
              <a:rPr sz="1600" spc="-9" dirty="0">
                <a:latin typeface="Tahoma"/>
                <a:cs typeface="Tahoma"/>
              </a:rPr>
              <a:t>fraction</a:t>
            </a:r>
            <a:r>
              <a:rPr sz="1600" spc="-4" dirty="0">
                <a:latin typeface="Tahoma"/>
                <a:cs typeface="Tahoma"/>
              </a:rPr>
              <a:t> among</a:t>
            </a:r>
            <a:r>
              <a:rPr sz="1600" dirty="0">
                <a:latin typeface="Tahoma"/>
                <a:cs typeface="Tahoma"/>
              </a:rPr>
              <a:t> </a:t>
            </a:r>
            <a:r>
              <a:rPr sz="1600" spc="-9" dirty="0">
                <a:latin typeface="Tahoma"/>
                <a:cs typeface="Tahoma"/>
              </a:rPr>
              <a:t>various</a:t>
            </a:r>
            <a:r>
              <a:rPr sz="1600" spc="-4" dirty="0">
                <a:latin typeface="Tahoma"/>
                <a:cs typeface="Tahoma"/>
              </a:rPr>
              <a:t> f</a:t>
            </a:r>
            <a:r>
              <a:rPr sz="1600" spc="-6" baseline="-21367" dirty="0">
                <a:latin typeface="Tahoma"/>
                <a:cs typeface="Tahoma"/>
              </a:rPr>
              <a:t>i</a:t>
            </a:r>
            <a:r>
              <a:rPr sz="1600" baseline="-21367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;</a:t>
            </a:r>
            <a:r>
              <a:rPr sz="1600" spc="4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i.e</a:t>
            </a:r>
            <a:r>
              <a:rPr lang="en-US" sz="1600" spc="-4" dirty="0">
                <a:latin typeface="Tahoma"/>
                <a:cs typeface="Tahoma"/>
              </a:rPr>
              <a:t>.,</a:t>
            </a:r>
            <a:r>
              <a:rPr sz="1600" dirty="0">
                <a:latin typeface="Tahoma"/>
                <a:cs typeface="Tahoma"/>
              </a:rPr>
              <a:t> Max</a:t>
            </a:r>
            <a:r>
              <a:rPr sz="1600" spc="4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(f</a:t>
            </a:r>
            <a:r>
              <a:rPr sz="1600" spc="-6" baseline="-21367" dirty="0">
                <a:latin typeface="Tahoma"/>
                <a:cs typeface="Tahoma"/>
              </a:rPr>
              <a:t>i</a:t>
            </a:r>
            <a:r>
              <a:rPr sz="1600" spc="-4" dirty="0">
                <a:latin typeface="Tahoma"/>
                <a:cs typeface="Tahoma"/>
              </a:rPr>
              <a:t>).</a:t>
            </a:r>
            <a:r>
              <a:rPr sz="1600" dirty="0">
                <a:latin typeface="Tahoma"/>
                <a:cs typeface="Tahoma"/>
              </a:rPr>
              <a:t> </a:t>
            </a:r>
            <a:r>
              <a:rPr sz="1600" spc="-40" dirty="0">
                <a:latin typeface="Tahoma"/>
                <a:cs typeface="Tahoma"/>
              </a:rPr>
              <a:t>Treat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the</a:t>
            </a:r>
            <a:r>
              <a:rPr lang="en-US" sz="1600" spc="-4" dirty="0">
                <a:latin typeface="Tahoma"/>
                <a:cs typeface="Tahoma"/>
              </a:rPr>
              <a:t> </a:t>
            </a:r>
            <a:r>
              <a:rPr sz="1600" spc="-525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constraint</a:t>
            </a:r>
            <a:r>
              <a:rPr sz="1600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corresponding</a:t>
            </a:r>
            <a:r>
              <a:rPr sz="1600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to</a:t>
            </a:r>
            <a:r>
              <a:rPr sz="1600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the</a:t>
            </a:r>
            <a:r>
              <a:rPr sz="1600" dirty="0">
                <a:latin typeface="Tahoma"/>
                <a:cs typeface="Tahoma"/>
              </a:rPr>
              <a:t> maximum</a:t>
            </a:r>
            <a:r>
              <a:rPr sz="1600" spc="4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fraction</a:t>
            </a:r>
            <a:r>
              <a:rPr sz="1600" dirty="0">
                <a:latin typeface="Tahoma"/>
                <a:cs typeface="Tahoma"/>
              </a:rPr>
              <a:t> as</a:t>
            </a:r>
            <a:r>
              <a:rPr sz="1600" spc="4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the</a:t>
            </a:r>
            <a:r>
              <a:rPr sz="1600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source</a:t>
            </a:r>
            <a:r>
              <a:rPr sz="1600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row</a:t>
            </a:r>
            <a:r>
              <a:rPr lang="en-US" sz="1600" spc="-4" dirty="0">
                <a:latin typeface="Tahoma"/>
                <a:cs typeface="Tahoma"/>
              </a:rPr>
              <a:t> </a:t>
            </a:r>
            <a:r>
              <a:rPr sz="1600" dirty="0">
                <a:latin typeface="Tahoma"/>
                <a:cs typeface="Tahoma"/>
              </a:rPr>
              <a:t> (equation). Based </a:t>
            </a:r>
            <a:r>
              <a:rPr sz="1600" spc="4" dirty="0">
                <a:latin typeface="Tahoma"/>
                <a:cs typeface="Tahoma"/>
              </a:rPr>
              <a:t>on </a:t>
            </a:r>
            <a:r>
              <a:rPr sz="1600" spc="-4" dirty="0">
                <a:latin typeface="Tahoma"/>
                <a:cs typeface="Tahoma"/>
              </a:rPr>
              <a:t>the source equation, develop </a:t>
            </a:r>
            <a:r>
              <a:rPr sz="1600" spc="-9" dirty="0">
                <a:latin typeface="Tahoma"/>
                <a:cs typeface="Tahoma"/>
              </a:rPr>
              <a:t>an </a:t>
            </a:r>
            <a:r>
              <a:rPr sz="1600" dirty="0">
                <a:latin typeface="Tahoma"/>
                <a:cs typeface="Tahoma"/>
              </a:rPr>
              <a:t>additional </a:t>
            </a:r>
            <a:r>
              <a:rPr sz="1600" spc="-4" dirty="0">
                <a:latin typeface="Tahoma"/>
                <a:cs typeface="Tahoma"/>
              </a:rPr>
              <a:t>constraint</a:t>
            </a:r>
            <a:r>
              <a:rPr lang="en-US" sz="1600" spc="-4" dirty="0">
                <a:latin typeface="Tahoma"/>
                <a:cs typeface="Tahoma"/>
              </a:rPr>
              <a:t> </a:t>
            </a:r>
            <a:r>
              <a:rPr sz="1600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(Gomory’s</a:t>
            </a:r>
            <a:r>
              <a:rPr sz="1600" spc="-22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constraint</a:t>
            </a:r>
            <a:r>
              <a:rPr sz="1600" spc="-18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/ </a:t>
            </a:r>
            <a:r>
              <a:rPr sz="1600" spc="-4" dirty="0">
                <a:latin typeface="Tahoma"/>
                <a:cs typeface="Tahoma"/>
              </a:rPr>
              <a:t>fractional</a:t>
            </a:r>
            <a:r>
              <a:rPr sz="1600" spc="-13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cut)</a:t>
            </a:r>
            <a:r>
              <a:rPr sz="1600" spc="-9" dirty="0">
                <a:latin typeface="Tahoma"/>
                <a:cs typeface="Tahoma"/>
              </a:rPr>
              <a:t> </a:t>
            </a:r>
            <a:r>
              <a:rPr sz="1600" spc="4" dirty="0">
                <a:latin typeface="Tahoma"/>
                <a:cs typeface="Tahoma"/>
              </a:rPr>
              <a:t>as</a:t>
            </a:r>
            <a:r>
              <a:rPr sz="1600" spc="-4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shown:</a:t>
            </a:r>
            <a:endParaRPr sz="1600">
              <a:latin typeface="Tahoma"/>
              <a:ea typeface="Tahoma"/>
              <a:cs typeface="Tahoma"/>
            </a:endParaRPr>
          </a:p>
          <a:p>
            <a:pPr marL="1299845" lvl="1" indent="-403860" algn="just">
              <a:buFont typeface="Wingdings"/>
              <a:buChar char=""/>
              <a:tabLst>
                <a:tab pos="1300512" algn="l"/>
              </a:tabLst>
            </a:pPr>
            <a:r>
              <a:rPr sz="1600" dirty="0">
                <a:latin typeface="Tahoma"/>
                <a:cs typeface="Tahoma"/>
              </a:rPr>
              <a:t>–f</a:t>
            </a:r>
            <a:r>
              <a:rPr sz="1600" baseline="-21367" dirty="0">
                <a:latin typeface="Tahoma"/>
                <a:cs typeface="Tahoma"/>
              </a:rPr>
              <a:t>i</a:t>
            </a:r>
            <a:r>
              <a:rPr sz="1600" spc="251" baseline="-21367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=</a:t>
            </a:r>
            <a:r>
              <a:rPr sz="1600" spc="-18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S</a:t>
            </a:r>
            <a:r>
              <a:rPr sz="1600" spc="-6" baseline="-21367" dirty="0">
                <a:latin typeface="Tahoma"/>
                <a:cs typeface="Tahoma"/>
              </a:rPr>
              <a:t>i</a:t>
            </a:r>
            <a:r>
              <a:rPr sz="1600" spc="278" baseline="-21367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– Summation</a:t>
            </a:r>
            <a:r>
              <a:rPr sz="1600" spc="-31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((f</a:t>
            </a:r>
            <a:r>
              <a:rPr sz="1600" baseline="-21367" dirty="0">
                <a:latin typeface="Tahoma"/>
                <a:cs typeface="Tahoma"/>
              </a:rPr>
              <a:t>i</a:t>
            </a:r>
            <a:r>
              <a:rPr sz="1600" dirty="0">
                <a:latin typeface="Tahoma"/>
                <a:cs typeface="Tahoma"/>
              </a:rPr>
              <a:t>)(Non–Basic</a:t>
            </a:r>
            <a:r>
              <a:rPr sz="1600" spc="-4" dirty="0">
                <a:latin typeface="Tahoma"/>
                <a:cs typeface="Tahoma"/>
              </a:rPr>
              <a:t> </a:t>
            </a:r>
            <a:r>
              <a:rPr sz="1600" spc="-9" dirty="0">
                <a:latin typeface="Tahoma"/>
                <a:cs typeface="Tahoma"/>
              </a:rPr>
              <a:t>Variable))</a:t>
            </a:r>
            <a:endParaRPr sz="1600">
              <a:latin typeface="Tahoma"/>
              <a:ea typeface="Tahoma"/>
              <a:cs typeface="Tahoma"/>
            </a:endParaRPr>
          </a:p>
          <a:p>
            <a:pPr marL="492125" marR="93345" indent="-403225" algn="just">
              <a:buAutoNum type="arabicPeriod"/>
              <a:tabLst>
                <a:tab pos="493085" algn="l"/>
              </a:tabLst>
            </a:pPr>
            <a:r>
              <a:rPr sz="1600" dirty="0">
                <a:latin typeface="Tahoma"/>
                <a:cs typeface="Tahoma"/>
              </a:rPr>
              <a:t>Add the </a:t>
            </a:r>
            <a:r>
              <a:rPr sz="1600" spc="-4" dirty="0">
                <a:latin typeface="Tahoma"/>
                <a:cs typeface="Tahoma"/>
              </a:rPr>
              <a:t>fractional cut </a:t>
            </a:r>
            <a:r>
              <a:rPr sz="1600" spc="4" dirty="0">
                <a:latin typeface="Tahoma"/>
                <a:cs typeface="Tahoma"/>
              </a:rPr>
              <a:t>as </a:t>
            </a:r>
            <a:r>
              <a:rPr sz="1600" spc="-9" dirty="0">
                <a:latin typeface="Tahoma"/>
                <a:cs typeface="Tahoma"/>
              </a:rPr>
              <a:t>the </a:t>
            </a:r>
            <a:r>
              <a:rPr sz="1600" dirty="0">
                <a:latin typeface="Tahoma"/>
                <a:cs typeface="Tahoma"/>
              </a:rPr>
              <a:t>last </a:t>
            </a:r>
            <a:r>
              <a:rPr sz="1600" spc="-4" dirty="0">
                <a:latin typeface="Tahoma"/>
                <a:cs typeface="Tahoma"/>
              </a:rPr>
              <a:t>row in </a:t>
            </a:r>
            <a:r>
              <a:rPr sz="1600" dirty="0">
                <a:latin typeface="Tahoma"/>
                <a:cs typeface="Tahoma"/>
              </a:rPr>
              <a:t>the </a:t>
            </a:r>
            <a:r>
              <a:rPr sz="1600" spc="-4" dirty="0">
                <a:latin typeface="Tahoma"/>
                <a:cs typeface="Tahoma"/>
              </a:rPr>
              <a:t>latest optimal </a:t>
            </a:r>
            <a:r>
              <a:rPr sz="1600" dirty="0">
                <a:latin typeface="Tahoma"/>
                <a:cs typeface="Tahoma"/>
              </a:rPr>
              <a:t>table </a:t>
            </a:r>
            <a:r>
              <a:rPr sz="1600" spc="-4" dirty="0">
                <a:latin typeface="Tahoma"/>
                <a:cs typeface="Tahoma"/>
              </a:rPr>
              <a:t>and proceed</a:t>
            </a:r>
            <a:r>
              <a:rPr lang="en-US" sz="1600" spc="-4" dirty="0">
                <a:latin typeface="Tahoma"/>
                <a:cs typeface="Tahoma"/>
              </a:rPr>
              <a:t> </a:t>
            </a:r>
            <a:r>
              <a:rPr sz="1600" spc="-525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further </a:t>
            </a:r>
            <a:r>
              <a:rPr sz="1600" dirty="0">
                <a:latin typeface="Tahoma"/>
                <a:cs typeface="Tahoma"/>
              </a:rPr>
              <a:t>using dual </a:t>
            </a:r>
            <a:r>
              <a:rPr sz="1600" spc="-4" dirty="0">
                <a:latin typeface="Tahoma"/>
                <a:cs typeface="Tahoma"/>
              </a:rPr>
              <a:t>simplex </a:t>
            </a:r>
            <a:r>
              <a:rPr sz="1600" dirty="0">
                <a:latin typeface="Tahoma"/>
                <a:cs typeface="Tahoma"/>
              </a:rPr>
              <a:t>method, and find the </a:t>
            </a:r>
            <a:r>
              <a:rPr sz="1600" spc="-4" dirty="0">
                <a:latin typeface="Tahoma"/>
                <a:cs typeface="Tahoma"/>
              </a:rPr>
              <a:t>new </a:t>
            </a:r>
            <a:r>
              <a:rPr sz="1600" dirty="0">
                <a:latin typeface="Tahoma"/>
                <a:cs typeface="Tahoma"/>
              </a:rPr>
              <a:t>optimum solution. </a:t>
            </a:r>
            <a:r>
              <a:rPr sz="1600" spc="-4" dirty="0">
                <a:latin typeface="Tahoma"/>
                <a:cs typeface="Tahoma"/>
              </a:rPr>
              <a:t>If</a:t>
            </a:r>
            <a:r>
              <a:rPr lang="en-US" sz="1600" spc="-4" dirty="0">
                <a:latin typeface="Tahoma"/>
                <a:cs typeface="Tahoma"/>
              </a:rPr>
              <a:t> </a:t>
            </a:r>
            <a:r>
              <a:rPr sz="1600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the new </a:t>
            </a:r>
            <a:r>
              <a:rPr sz="1600" dirty="0">
                <a:latin typeface="Tahoma"/>
                <a:cs typeface="Tahoma"/>
              </a:rPr>
              <a:t>optimum solution </a:t>
            </a:r>
            <a:r>
              <a:rPr sz="1600" spc="-4" dirty="0">
                <a:latin typeface="Tahoma"/>
                <a:cs typeface="Tahoma"/>
              </a:rPr>
              <a:t>is integer then </a:t>
            </a:r>
            <a:r>
              <a:rPr sz="1600" dirty="0">
                <a:latin typeface="Tahoma"/>
                <a:cs typeface="Tahoma"/>
              </a:rPr>
              <a:t>go </a:t>
            </a:r>
            <a:r>
              <a:rPr sz="1600" spc="-4" dirty="0">
                <a:latin typeface="Tahoma"/>
                <a:cs typeface="Tahoma"/>
              </a:rPr>
              <a:t>to step 7; otherwise </a:t>
            </a:r>
            <a:r>
              <a:rPr sz="1600" spc="-9" dirty="0">
                <a:latin typeface="Tahoma"/>
                <a:cs typeface="Tahoma"/>
              </a:rPr>
              <a:t>go </a:t>
            </a:r>
            <a:r>
              <a:rPr sz="1600" spc="-4" dirty="0">
                <a:latin typeface="Tahoma"/>
                <a:cs typeface="Tahoma"/>
              </a:rPr>
              <a:t>to step</a:t>
            </a:r>
            <a:r>
              <a:rPr lang="en-US" sz="1600" spc="-4" dirty="0">
                <a:latin typeface="Tahoma"/>
                <a:cs typeface="Tahoma"/>
              </a:rPr>
              <a:t> </a:t>
            </a:r>
            <a:r>
              <a:rPr sz="1600" dirty="0">
                <a:latin typeface="Tahoma"/>
                <a:cs typeface="Tahoma"/>
              </a:rPr>
              <a:t> </a:t>
            </a:r>
            <a:r>
              <a:rPr sz="1600" spc="-9" dirty="0">
                <a:latin typeface="Tahoma"/>
                <a:cs typeface="Tahoma"/>
              </a:rPr>
              <a:t>4.</a:t>
            </a:r>
            <a:endParaRPr sz="1600" dirty="0">
              <a:latin typeface="Tahoma"/>
              <a:ea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9189" y="5274886"/>
            <a:ext cx="4808444" cy="276697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>
              <a:spcBef>
                <a:spcPts val="93"/>
              </a:spcBef>
              <a:tabLst>
                <a:tab pos="414640" algn="l"/>
              </a:tabLst>
            </a:pPr>
            <a:r>
              <a:rPr sz="1721" dirty="0">
                <a:solidFill>
                  <a:srgbClr val="231F20"/>
                </a:solidFill>
                <a:latin typeface="Tahoma"/>
                <a:cs typeface="Tahoma"/>
              </a:rPr>
              <a:t>7.</a:t>
            </a:r>
            <a:r>
              <a:rPr sz="1721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721" dirty="0">
                <a:solidFill>
                  <a:srgbClr val="231F20"/>
                </a:solidFill>
                <a:latin typeface="Tahoma"/>
                <a:cs typeface="Tahoma"/>
              </a:rPr>
              <a:t>Print</a:t>
            </a:r>
            <a:r>
              <a:rPr sz="1721" spc="-2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21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721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21" dirty="0">
                <a:solidFill>
                  <a:srgbClr val="231F20"/>
                </a:solidFill>
                <a:latin typeface="Tahoma"/>
                <a:cs typeface="Tahoma"/>
              </a:rPr>
              <a:t>integer</a:t>
            </a:r>
            <a:r>
              <a:rPr sz="1721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21" dirty="0">
                <a:solidFill>
                  <a:srgbClr val="231F20"/>
                </a:solidFill>
                <a:latin typeface="Tahoma"/>
                <a:cs typeface="Tahoma"/>
              </a:rPr>
              <a:t>solution</a:t>
            </a:r>
            <a:r>
              <a:rPr sz="1721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21" spc="-18" dirty="0">
                <a:solidFill>
                  <a:srgbClr val="231F20"/>
                </a:solidFill>
                <a:latin typeface="Tahoma"/>
                <a:cs typeface="Tahoma"/>
              </a:rPr>
              <a:t>[X’s</a:t>
            </a:r>
            <a:r>
              <a:rPr sz="1721" dirty="0">
                <a:solidFill>
                  <a:srgbClr val="231F20"/>
                </a:solidFill>
                <a:latin typeface="Tahoma"/>
                <a:cs typeface="Tahoma"/>
              </a:rPr>
              <a:t> and</a:t>
            </a:r>
            <a:r>
              <a:rPr sz="1721" spc="-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21" dirty="0">
                <a:solidFill>
                  <a:srgbClr val="231F20"/>
                </a:solidFill>
                <a:latin typeface="Tahoma"/>
                <a:cs typeface="Tahoma"/>
              </a:rPr>
              <a:t>Z</a:t>
            </a:r>
            <a:r>
              <a:rPr sz="1721" spc="-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21" dirty="0">
                <a:solidFill>
                  <a:srgbClr val="231F20"/>
                </a:solidFill>
                <a:latin typeface="Tahoma"/>
                <a:cs typeface="Tahoma"/>
              </a:rPr>
              <a:t>–</a:t>
            </a:r>
            <a:r>
              <a:rPr sz="1721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21" spc="-13" dirty="0">
                <a:solidFill>
                  <a:srgbClr val="231F20"/>
                </a:solidFill>
                <a:latin typeface="Tahoma"/>
                <a:cs typeface="Tahoma"/>
              </a:rPr>
              <a:t>Values]</a:t>
            </a:r>
            <a:endParaRPr sz="1721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846562" y="6891552"/>
            <a:ext cx="243840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9A9D9F"/>
                </a:solidFill>
                <a:latin typeface="Tahoma"/>
                <a:ea typeface="+mn-ea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1285">
              <a:spcBef>
                <a:spcPts val="100"/>
              </a:spcBef>
            </a:pPr>
            <a:fld id="{81D60167-4931-47E6-BA6A-407CBD079E47}" type="slidenum">
              <a:rPr lang="en-IN" smtClean="0"/>
              <a:pPr marL="121285">
                <a:spcBef>
                  <a:spcPts val="100"/>
                </a:spcBef>
              </a:pPr>
              <a:t>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5663" y="413947"/>
            <a:ext cx="7038415" cy="500232"/>
          </a:xfrm>
          <a:prstGeom prst="rect">
            <a:avLst/>
          </a:prstGeom>
        </p:spPr>
        <p:txBody>
          <a:bodyPr vert="horz" wrap="square" lIns="0" tIns="11206" rIns="0" bIns="0" rtlCol="0" anchor="t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3177" spc="-4" dirty="0"/>
              <a:t>THE</a:t>
            </a:r>
            <a:r>
              <a:rPr sz="3177" spc="-35" dirty="0"/>
              <a:t> </a:t>
            </a:r>
            <a:r>
              <a:rPr sz="3177" spc="-4" dirty="0"/>
              <a:t>CUTTING–PLANE</a:t>
            </a:r>
            <a:r>
              <a:rPr sz="3177" spc="-22" dirty="0"/>
              <a:t> </a:t>
            </a:r>
            <a:r>
              <a:rPr sz="3177" spc="-4" dirty="0"/>
              <a:t>ALGORITHM</a:t>
            </a:r>
            <a:endParaRPr sz="3177"/>
          </a:p>
        </p:txBody>
      </p:sp>
      <p:sp>
        <p:nvSpPr>
          <p:cNvPr id="3" name="object 3"/>
          <p:cNvSpPr txBox="1"/>
          <p:nvPr/>
        </p:nvSpPr>
        <p:spPr>
          <a:xfrm>
            <a:off x="507315" y="1225892"/>
            <a:ext cx="9694258" cy="4318713"/>
          </a:xfrm>
          <a:prstGeom prst="rect">
            <a:avLst/>
          </a:prstGeom>
        </p:spPr>
        <p:txBody>
          <a:bodyPr vert="horz" wrap="square" lIns="0" tIns="11206" rIns="0" bIns="0" rtlCol="0" anchor="t">
            <a:spAutoFit/>
          </a:bodyPr>
          <a:lstStyle/>
          <a:p>
            <a:pPr marL="33020">
              <a:spcBef>
                <a:spcPts val="88"/>
              </a:spcBef>
            </a:pPr>
            <a:r>
              <a:rPr sz="2118" b="1" spc="-4" dirty="0">
                <a:solidFill>
                  <a:srgbClr val="231F20"/>
                </a:solidFill>
                <a:latin typeface="Tahoma"/>
                <a:cs typeface="Tahoma"/>
              </a:rPr>
              <a:t>EXAMPLE:</a:t>
            </a:r>
            <a:endParaRPr lang="en-US" sz="2118" dirty="0">
              <a:latin typeface="Tahoma"/>
              <a:ea typeface="Tahoma"/>
              <a:cs typeface="Tahoma"/>
            </a:endParaRPr>
          </a:p>
          <a:p>
            <a:pPr marL="840105"/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Max.</a:t>
            </a:r>
            <a:r>
              <a:rPr sz="2118" spc="-2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Z</a:t>
            </a:r>
            <a:r>
              <a:rPr sz="2118" spc="-1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= 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5X</a:t>
            </a:r>
            <a:r>
              <a:rPr sz="2118" spc="-13" baseline="-20833" dirty="0">
                <a:solidFill>
                  <a:srgbClr val="231F20"/>
                </a:solidFill>
                <a:latin typeface="Tahoma"/>
                <a:cs typeface="Tahoma"/>
              </a:rPr>
              <a:t>1</a:t>
            </a:r>
            <a:r>
              <a:rPr sz="2118" spc="-19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+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8X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endParaRPr sz="2118" baseline="-20833" dirty="0">
              <a:latin typeface="Tahoma"/>
              <a:ea typeface="Tahoma"/>
              <a:cs typeface="Tahoma"/>
            </a:endParaRPr>
          </a:p>
          <a:p>
            <a:pPr marL="840105"/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Subject</a:t>
            </a:r>
            <a:r>
              <a:rPr sz="2118" spc="-4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to:</a:t>
            </a:r>
            <a:endParaRPr sz="2118" dirty="0">
              <a:latin typeface="Tahoma"/>
              <a:ea typeface="Tahoma"/>
              <a:cs typeface="Tahoma"/>
            </a:endParaRPr>
          </a:p>
          <a:p>
            <a:pPr marL="1680845" marR="2415540" indent="-33020">
              <a:tabLst>
                <a:tab pos="2613911" algn="l"/>
              </a:tabLst>
            </a:pPr>
            <a:r>
              <a:rPr sz="2100" spc="-4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2100" spc="-6" baseline="-20833" dirty="0">
                <a:solidFill>
                  <a:srgbClr val="231F20"/>
                </a:solidFill>
                <a:latin typeface="Tahoma"/>
                <a:cs typeface="Tahoma"/>
              </a:rPr>
              <a:t>1</a:t>
            </a:r>
            <a:r>
              <a:rPr sz="2100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231F20"/>
                </a:solidFill>
                <a:latin typeface="Tahoma"/>
                <a:cs typeface="Tahoma"/>
              </a:rPr>
              <a:t>+ </a:t>
            </a:r>
            <a:r>
              <a:rPr sz="2100" spc="-4" dirty="0">
                <a:solidFill>
                  <a:srgbClr val="231F20"/>
                </a:solidFill>
                <a:latin typeface="Tahoma"/>
                <a:cs typeface="Tahoma"/>
              </a:rPr>
              <a:t>2X</a:t>
            </a:r>
            <a:r>
              <a:rPr sz="2100" spc="-6" baseline="-20833" dirty="0">
                <a:solidFill>
                  <a:srgbClr val="231F20"/>
                </a:solidFill>
                <a:latin typeface="Tahoma"/>
                <a:cs typeface="Tahoma"/>
              </a:rPr>
              <a:t>2 </a:t>
            </a:r>
            <a:r>
              <a:rPr sz="2100" dirty="0">
                <a:solidFill>
                  <a:srgbClr val="231F20"/>
                </a:solidFill>
                <a:latin typeface="Tahoma"/>
                <a:cs typeface="Tahoma"/>
              </a:rPr>
              <a:t>≤ 8</a:t>
            </a:r>
            <a:r>
              <a:rPr lang="en-US" sz="2100" dirty="0">
                <a:solidFill>
                  <a:srgbClr val="231F20"/>
                </a:solidFill>
                <a:latin typeface="Tahoma"/>
                <a:cs typeface="Tahoma"/>
              </a:rPr>
              <a:t> </a:t>
            </a:r>
            <a:r>
              <a:rPr lang="en-US" sz="2100" spc="4" dirty="0">
                <a:solidFill>
                  <a:srgbClr val="231F20"/>
                </a:solidFill>
                <a:latin typeface="Tahoma"/>
                <a:cs typeface="Tahoma"/>
              </a:rPr>
              <a:t>            </a:t>
            </a:r>
          </a:p>
          <a:p>
            <a:pPr marL="1680845" marR="2415540" indent="-33020">
              <a:tabLst>
                <a:tab pos="2613911" algn="l"/>
              </a:tabLst>
            </a:pPr>
            <a:r>
              <a:rPr sz="2100" spc="-9" dirty="0">
                <a:solidFill>
                  <a:srgbClr val="231F20"/>
                </a:solidFill>
                <a:latin typeface="Tahoma"/>
                <a:cs typeface="Tahoma"/>
              </a:rPr>
              <a:t>4X</a:t>
            </a:r>
            <a:r>
              <a:rPr sz="2100" spc="-13" baseline="-20833" dirty="0">
                <a:solidFill>
                  <a:srgbClr val="231F20"/>
                </a:solidFill>
                <a:latin typeface="Tahoma"/>
                <a:cs typeface="Tahoma"/>
              </a:rPr>
              <a:t>1</a:t>
            </a:r>
            <a:r>
              <a:rPr sz="2100" spc="324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231F20"/>
                </a:solidFill>
                <a:latin typeface="Tahoma"/>
                <a:cs typeface="Tahoma"/>
              </a:rPr>
              <a:t>+</a:t>
            </a:r>
            <a:r>
              <a:rPr lang="en-US" sz="2100" dirty="0">
                <a:solidFill>
                  <a:srgbClr val="231F20"/>
                </a:solidFill>
                <a:latin typeface="Tahoma"/>
                <a:cs typeface="Tahoma"/>
              </a:rPr>
              <a:t> </a:t>
            </a:r>
            <a:r>
              <a:rPr sz="2100" spc="-9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2100" spc="-13" baseline="-20833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sz="2100" spc="-53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231F20"/>
                </a:solidFill>
                <a:latin typeface="Tahoma"/>
                <a:cs typeface="Tahoma"/>
              </a:rPr>
              <a:t>≤</a:t>
            </a:r>
            <a:r>
              <a:rPr sz="2100" spc="-4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00" spc="-4" dirty="0">
                <a:solidFill>
                  <a:srgbClr val="231F20"/>
                </a:solidFill>
                <a:latin typeface="Tahoma"/>
                <a:cs typeface="Tahoma"/>
              </a:rPr>
              <a:t>10</a:t>
            </a:r>
            <a:endParaRPr sz="2100" dirty="0">
              <a:latin typeface="Tahoma"/>
              <a:ea typeface="Tahoma"/>
              <a:cs typeface="Tahoma"/>
            </a:endParaRPr>
          </a:p>
          <a:p>
            <a:pPr marL="1647825"/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1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,</a:t>
            </a:r>
            <a:r>
              <a:rPr sz="2118" spc="-3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sz="2118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≥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0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and</a:t>
            </a:r>
            <a:r>
              <a:rPr sz="2118" spc="-1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integers</a:t>
            </a:r>
            <a:endParaRPr sz="2118" dirty="0">
              <a:latin typeface="Tahoma"/>
              <a:ea typeface="Tahoma"/>
              <a:cs typeface="Tahoma"/>
            </a:endParaRPr>
          </a:p>
          <a:p>
            <a:pPr>
              <a:spcBef>
                <a:spcPts val="35"/>
              </a:spcBef>
            </a:pPr>
            <a:endParaRPr sz="2647" dirty="0">
              <a:latin typeface="Tahoma"/>
              <a:cs typeface="Tahoma"/>
            </a:endParaRPr>
          </a:p>
          <a:p>
            <a:pPr marL="167005"/>
            <a:r>
              <a:rPr sz="2118" b="1" spc="-4" dirty="0">
                <a:solidFill>
                  <a:srgbClr val="231F20"/>
                </a:solidFill>
                <a:latin typeface="Tahoma"/>
                <a:cs typeface="Tahoma"/>
              </a:rPr>
              <a:t>Standard</a:t>
            </a:r>
            <a:r>
              <a:rPr sz="2118" b="1" spc="-4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b="1" spc="-4" dirty="0">
                <a:solidFill>
                  <a:srgbClr val="231F20"/>
                </a:solidFill>
                <a:latin typeface="Tahoma"/>
                <a:cs typeface="Tahoma"/>
              </a:rPr>
              <a:t>Form:</a:t>
            </a:r>
            <a:endParaRPr sz="2118" dirty="0">
              <a:latin typeface="Tahoma"/>
              <a:ea typeface="Tahoma"/>
              <a:cs typeface="Tahoma"/>
            </a:endParaRPr>
          </a:p>
          <a:p>
            <a:pPr marL="974725"/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Max.</a:t>
            </a:r>
            <a:r>
              <a:rPr sz="2118" spc="-2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Z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=</a:t>
            </a:r>
            <a:r>
              <a:rPr sz="2118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5X</a:t>
            </a:r>
            <a:r>
              <a:rPr sz="2118" spc="-13" baseline="-20833" dirty="0">
                <a:solidFill>
                  <a:srgbClr val="231F20"/>
                </a:solidFill>
                <a:latin typeface="Tahoma"/>
                <a:cs typeface="Tahoma"/>
              </a:rPr>
              <a:t>1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+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 8X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sz="2118" spc="337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+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0S</a:t>
            </a:r>
            <a:r>
              <a:rPr sz="2118" spc="-13" baseline="-20833" dirty="0">
                <a:solidFill>
                  <a:srgbClr val="231F20"/>
                </a:solidFill>
                <a:latin typeface="Tahoma"/>
                <a:cs typeface="Tahoma"/>
              </a:rPr>
              <a:t>1</a:t>
            </a:r>
            <a:r>
              <a:rPr sz="2118" spc="337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+0S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endParaRPr sz="2118" baseline="-20833" dirty="0">
              <a:latin typeface="Tahoma"/>
              <a:ea typeface="Tahoma"/>
              <a:cs typeface="Tahoma"/>
            </a:endParaRPr>
          </a:p>
          <a:p>
            <a:pPr marL="974725"/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Subject</a:t>
            </a:r>
            <a:r>
              <a:rPr sz="2118" spc="-4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to:</a:t>
            </a:r>
            <a:endParaRPr sz="2118" dirty="0">
              <a:latin typeface="Tahoma"/>
              <a:ea typeface="Tahoma"/>
              <a:cs typeface="Tahoma"/>
            </a:endParaRPr>
          </a:p>
          <a:p>
            <a:pPr marL="1814830" marR="1667510" indent="-33020">
              <a:tabLst>
                <a:tab pos="2748389" algn="l"/>
              </a:tabLst>
            </a:pPr>
            <a:r>
              <a:rPr sz="2100" spc="-4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2100" spc="-6" baseline="-20833" dirty="0">
                <a:solidFill>
                  <a:srgbClr val="231F20"/>
                </a:solidFill>
                <a:latin typeface="Tahoma"/>
                <a:cs typeface="Tahoma"/>
              </a:rPr>
              <a:t>1</a:t>
            </a:r>
            <a:r>
              <a:rPr sz="2100" spc="649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231F20"/>
                </a:solidFill>
                <a:latin typeface="Tahoma"/>
                <a:cs typeface="Tahoma"/>
              </a:rPr>
              <a:t>+ </a:t>
            </a:r>
            <a:r>
              <a:rPr sz="2100" spc="-4" dirty="0">
                <a:solidFill>
                  <a:srgbClr val="231F20"/>
                </a:solidFill>
                <a:latin typeface="Tahoma"/>
                <a:cs typeface="Tahoma"/>
              </a:rPr>
              <a:t>2X</a:t>
            </a:r>
            <a:r>
              <a:rPr sz="2100" spc="-6" baseline="-20833" dirty="0">
                <a:solidFill>
                  <a:srgbClr val="231F20"/>
                </a:solidFill>
                <a:latin typeface="Tahoma"/>
                <a:cs typeface="Tahoma"/>
              </a:rPr>
              <a:t>2 </a:t>
            </a:r>
            <a:r>
              <a:rPr sz="2100" dirty="0">
                <a:solidFill>
                  <a:srgbClr val="231F20"/>
                </a:solidFill>
                <a:latin typeface="Tahoma"/>
                <a:cs typeface="Tahoma"/>
              </a:rPr>
              <a:t>+ </a:t>
            </a:r>
            <a:r>
              <a:rPr sz="2100" spc="-9" dirty="0">
                <a:solidFill>
                  <a:srgbClr val="231F20"/>
                </a:solidFill>
                <a:latin typeface="Tahoma"/>
                <a:cs typeface="Tahoma"/>
              </a:rPr>
              <a:t>S</a:t>
            </a:r>
            <a:r>
              <a:rPr sz="2100" spc="-13" baseline="-20833" dirty="0">
                <a:solidFill>
                  <a:srgbClr val="231F20"/>
                </a:solidFill>
                <a:latin typeface="Tahoma"/>
                <a:cs typeface="Tahoma"/>
              </a:rPr>
              <a:t>1 </a:t>
            </a:r>
            <a:r>
              <a:rPr sz="2100" dirty="0">
                <a:solidFill>
                  <a:srgbClr val="231F20"/>
                </a:solidFill>
                <a:latin typeface="Tahoma"/>
                <a:cs typeface="Tahoma"/>
              </a:rPr>
              <a:t>= 8</a:t>
            </a:r>
            <a:r>
              <a:rPr lang="en-US" sz="2100" dirty="0">
                <a:solidFill>
                  <a:srgbClr val="231F20"/>
                </a:solidFill>
                <a:latin typeface="Tahoma"/>
                <a:cs typeface="Tahoma"/>
              </a:rPr>
              <a:t> </a:t>
            </a:r>
            <a:r>
              <a:rPr lang="en-US" sz="2100" spc="4" dirty="0">
                <a:solidFill>
                  <a:srgbClr val="231F20"/>
                </a:solidFill>
                <a:latin typeface="Tahoma"/>
                <a:cs typeface="Tahoma"/>
              </a:rPr>
              <a:t>  </a:t>
            </a:r>
          </a:p>
          <a:p>
            <a:pPr marL="1814830" marR="1667510" indent="-33020">
              <a:tabLst>
                <a:tab pos="2748389" algn="l"/>
              </a:tabLst>
            </a:pPr>
            <a:r>
              <a:rPr lang="en-US" sz="2100" spc="4" dirty="0">
                <a:solidFill>
                  <a:srgbClr val="231F20"/>
                </a:solidFill>
                <a:latin typeface="Tahoma"/>
                <a:cs typeface="Tahoma"/>
              </a:rPr>
              <a:t> </a:t>
            </a:r>
            <a:r>
              <a:rPr sz="2100" spc="-9" dirty="0">
                <a:solidFill>
                  <a:srgbClr val="231F20"/>
                </a:solidFill>
                <a:latin typeface="Tahoma"/>
                <a:cs typeface="Tahoma"/>
              </a:rPr>
              <a:t>4X</a:t>
            </a:r>
            <a:r>
              <a:rPr sz="2100" spc="-13" baseline="-20833" dirty="0">
                <a:solidFill>
                  <a:srgbClr val="231F20"/>
                </a:solidFill>
                <a:latin typeface="Tahoma"/>
                <a:cs typeface="Tahoma"/>
              </a:rPr>
              <a:t>1</a:t>
            </a:r>
            <a:r>
              <a:rPr sz="2100" spc="324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231F20"/>
                </a:solidFill>
                <a:latin typeface="Tahoma"/>
                <a:cs typeface="Tahoma"/>
              </a:rPr>
              <a:t>+</a:t>
            </a:r>
            <a:r>
              <a:rPr lang="en-US" sz="2100" dirty="0">
                <a:solidFill>
                  <a:srgbClr val="231F20"/>
                </a:solidFill>
                <a:latin typeface="Tahoma"/>
                <a:cs typeface="Tahoma"/>
              </a:rPr>
              <a:t> </a:t>
            </a:r>
            <a:r>
              <a:rPr sz="2100" spc="-9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2100" spc="-13" baseline="-20833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sz="2100" spc="-26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231F20"/>
                </a:solidFill>
                <a:latin typeface="Tahoma"/>
                <a:cs typeface="Tahoma"/>
              </a:rPr>
              <a:t>+</a:t>
            </a:r>
            <a:r>
              <a:rPr sz="2100" spc="-1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00" spc="-9" dirty="0">
                <a:solidFill>
                  <a:srgbClr val="231F20"/>
                </a:solidFill>
                <a:latin typeface="Tahoma"/>
                <a:cs typeface="Tahoma"/>
              </a:rPr>
              <a:t>S</a:t>
            </a:r>
            <a:r>
              <a:rPr sz="2100" spc="-13" baseline="-20833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sz="2100" spc="311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231F20"/>
                </a:solidFill>
                <a:latin typeface="Tahoma"/>
                <a:cs typeface="Tahoma"/>
              </a:rPr>
              <a:t>=</a:t>
            </a:r>
            <a:r>
              <a:rPr sz="2100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00" spc="-4" dirty="0">
                <a:solidFill>
                  <a:srgbClr val="231F20"/>
                </a:solidFill>
                <a:latin typeface="Tahoma"/>
                <a:cs typeface="Tahoma"/>
              </a:rPr>
              <a:t>10</a:t>
            </a:r>
            <a:endParaRPr sz="2100" dirty="0">
              <a:latin typeface="Tahoma"/>
              <a:ea typeface="Tahoma"/>
              <a:cs typeface="Tahoma"/>
            </a:endParaRPr>
          </a:p>
          <a:p>
            <a:pPr marL="1781810">
              <a:spcBef>
                <a:spcPts val="4"/>
              </a:spcBef>
            </a:pP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1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,</a:t>
            </a:r>
            <a:r>
              <a:rPr sz="2118" spc="-2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, S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1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,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and 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S</a:t>
            </a:r>
            <a:r>
              <a:rPr sz="2118" spc="-13" baseline="-20833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sz="2118" spc="337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≥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0 and</a:t>
            </a:r>
            <a:r>
              <a:rPr sz="2118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integers</a:t>
            </a:r>
            <a:endParaRPr sz="2118" dirty="0"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846562" y="6891552"/>
            <a:ext cx="243840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9A9D9F"/>
                </a:solidFill>
                <a:latin typeface="Tahoma"/>
                <a:ea typeface="+mn-ea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1285">
              <a:spcBef>
                <a:spcPts val="100"/>
              </a:spcBef>
            </a:pPr>
            <a:fld id="{81D60167-4931-47E6-BA6A-407CBD079E47}" type="slidenum">
              <a:rPr lang="en-IN" smtClean="0"/>
              <a:pPr marL="121285">
                <a:spcBef>
                  <a:spcPts val="100"/>
                </a:spcBef>
              </a:pPr>
              <a:t>5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1371" y="339988"/>
            <a:ext cx="10236424" cy="500232"/>
          </a:xfrm>
          <a:prstGeom prst="rect">
            <a:avLst/>
          </a:prstGeom>
        </p:spPr>
        <p:txBody>
          <a:bodyPr vert="horz" wrap="square" lIns="0" tIns="11206" rIns="0" bIns="0" rtlCol="0" anchor="t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3177" spc="-4" dirty="0"/>
              <a:t>THE</a:t>
            </a:r>
            <a:r>
              <a:rPr sz="3177" spc="-35" dirty="0"/>
              <a:t> </a:t>
            </a:r>
            <a:r>
              <a:rPr sz="3177" spc="-4" dirty="0"/>
              <a:t>CUTTING–PLANE</a:t>
            </a:r>
            <a:r>
              <a:rPr sz="3177" spc="-22" dirty="0"/>
              <a:t> </a:t>
            </a:r>
            <a:r>
              <a:rPr sz="3177" spc="-4" dirty="0"/>
              <a:t>ALGORITHM</a:t>
            </a:r>
            <a:r>
              <a:rPr lang="en-IN" sz="3177" dirty="0"/>
              <a:t> </a:t>
            </a:r>
            <a:r>
              <a:rPr sz="3177" spc="-4" dirty="0"/>
              <a:t>(Cont…)</a:t>
            </a:r>
            <a:endParaRPr sz="3177" dirty="0"/>
          </a:p>
        </p:txBody>
      </p:sp>
      <p:sp>
        <p:nvSpPr>
          <p:cNvPr id="3" name="object 3"/>
          <p:cNvSpPr txBox="1"/>
          <p:nvPr/>
        </p:nvSpPr>
        <p:spPr>
          <a:xfrm>
            <a:off x="2477226" y="3231080"/>
            <a:ext cx="2348494" cy="280620"/>
          </a:xfrm>
          <a:prstGeom prst="rect">
            <a:avLst/>
          </a:prstGeom>
        </p:spPr>
        <p:txBody>
          <a:bodyPr vert="horz" wrap="square" lIns="0" tIns="11206" rIns="0" bIns="0" rtlCol="0" anchor="t">
            <a:spAutoFit/>
          </a:bodyPr>
          <a:lstStyle/>
          <a:p>
            <a:pPr marL="10795">
              <a:spcBef>
                <a:spcPts val="88"/>
              </a:spcBef>
            </a:pPr>
            <a:r>
              <a:rPr sz="1750" b="1" spc="-4" dirty="0">
                <a:solidFill>
                  <a:srgbClr val="231F20"/>
                </a:solidFill>
                <a:latin typeface="Tahoma"/>
                <a:cs typeface="Tahoma"/>
              </a:rPr>
              <a:t>Initial</a:t>
            </a:r>
            <a:r>
              <a:rPr lang="en-US" sz="1750" b="1" spc="-88" dirty="0">
                <a:solidFill>
                  <a:srgbClr val="231F20"/>
                </a:solidFill>
                <a:latin typeface="Tahoma"/>
                <a:cs typeface="Tahoma"/>
              </a:rPr>
              <a:t> Simplex </a:t>
            </a:r>
            <a:r>
              <a:rPr lang="en-US" sz="1750" b="1" dirty="0">
                <a:solidFill>
                  <a:srgbClr val="231F20"/>
                </a:solidFill>
                <a:latin typeface="Tahoma"/>
                <a:cs typeface="Tahoma"/>
              </a:rPr>
              <a:t>Table</a:t>
            </a:r>
            <a:r>
              <a:rPr sz="1750" b="1" dirty="0">
                <a:solidFill>
                  <a:srgbClr val="231F20"/>
                </a:solidFill>
                <a:latin typeface="Tahoma"/>
                <a:cs typeface="Tahoma"/>
              </a:rPr>
              <a:t>:</a:t>
            </a:r>
            <a:endParaRPr lang="en-US" sz="1750" dirty="0">
              <a:latin typeface="Tahoma"/>
              <a:ea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086472"/>
              </p:ext>
            </p:extLst>
          </p:nvPr>
        </p:nvGraphicFramePr>
        <p:xfrm>
          <a:off x="1409455" y="3672956"/>
          <a:ext cx="8033842" cy="16834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2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13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7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1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72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504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504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0364">
                <a:tc gridSpan="2">
                  <a:txBody>
                    <a:bodyPr/>
                    <a:lstStyle/>
                    <a:p>
                      <a:pPr marL="130810">
                        <a:lnSpc>
                          <a:spcPts val="1920"/>
                        </a:lnSpc>
                        <a:tabLst>
                          <a:tab pos="2320290" algn="l"/>
                        </a:tabLst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Contribution</a:t>
                      </a:r>
                      <a:r>
                        <a:rPr sz="1400" spc="3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2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Per</a:t>
                      </a:r>
                      <a:r>
                        <a:rPr sz="1400" spc="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Unit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sz="1400" spc="-7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j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3050" algn="r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73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2100" baseline="13888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Bi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175372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8025" marR="179070" indent="-52197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Basic</a:t>
                      </a:r>
                      <a:r>
                        <a:rPr sz="1400" spc="-7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Variables </a:t>
                      </a:r>
                      <a:r>
                        <a:rPr sz="1400" spc="-48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(B)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5213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3679" algn="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X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 baseline="-21164" dirty="0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X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400" baseline="-21164" dirty="0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 baseline="-21164" dirty="0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lang="en-US" sz="1400" spc="-5" dirty="0" err="1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bj</a:t>
                      </a:r>
                      <a:r>
                        <a:rPr lang="en-US"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(solution)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Ratio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3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tc>
                  <a:txBody>
                    <a:bodyPr/>
                    <a:lstStyle/>
                    <a:p>
                      <a:pPr marR="743585" algn="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tc>
                  <a:txBody>
                    <a:bodyPr/>
                    <a:lstStyle/>
                    <a:p>
                      <a:pPr marR="273050" algn="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DC0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8/2</a:t>
                      </a:r>
                      <a:r>
                        <a:rPr sz="1400" spc="-3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=</a:t>
                      </a:r>
                      <a:r>
                        <a:rPr sz="1400" spc="-4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4*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3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43585" algn="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0" algn="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10/1</a:t>
                      </a:r>
                      <a:r>
                        <a:rPr sz="1400" spc="-4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=</a:t>
                      </a:r>
                      <a:r>
                        <a:rPr sz="1400" spc="-2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364">
                <a:tc gridSpan="2"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tabLst>
                          <a:tab pos="1162050" algn="l"/>
                        </a:tabLst>
                      </a:pPr>
                      <a:r>
                        <a:rPr sz="1400" spc="-4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Total</a:t>
                      </a:r>
                      <a:r>
                        <a:rPr sz="1400" spc="1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Profit</a:t>
                      </a: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(Z</a:t>
                      </a:r>
                      <a:r>
                        <a:rPr sz="1400" spc="-7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j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)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3050" algn="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364">
                <a:tc gridSpan="2"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tabLst>
                          <a:tab pos="1663700" algn="l"/>
                        </a:tabLst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Net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Contribution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(C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j</a:t>
                      </a:r>
                      <a:r>
                        <a:rPr sz="1400" spc="209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–</a:t>
                      </a:r>
                      <a:r>
                        <a:rPr sz="1400" spc="-3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Z</a:t>
                      </a:r>
                      <a:r>
                        <a:rPr sz="1400" spc="-7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j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)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3050" algn="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8*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F7D17BB-78FC-0979-F9E2-FD5DCE3B41FA}"/>
              </a:ext>
            </a:extLst>
          </p:cNvPr>
          <p:cNvSpPr txBox="1"/>
          <p:nvPr/>
        </p:nvSpPr>
        <p:spPr>
          <a:xfrm>
            <a:off x="2951018" y="1340065"/>
            <a:ext cx="699367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974725"/>
            <a:r>
              <a:rPr lang="en-US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Max. Z = 5X</a:t>
            </a:r>
            <a:r>
              <a:rPr lang="en-US" baseline="-25000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1 </a:t>
            </a:r>
            <a:r>
              <a:rPr lang="en-US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+ 8X</a:t>
            </a:r>
            <a:r>
              <a:rPr lang="en-US" baseline="-25000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2 </a:t>
            </a:r>
            <a:r>
              <a:rPr lang="en-US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+ 0S</a:t>
            </a:r>
            <a:r>
              <a:rPr lang="en-US" baseline="-25000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1 </a:t>
            </a:r>
            <a:r>
              <a:rPr lang="en-US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+0S</a:t>
            </a:r>
            <a:r>
              <a:rPr lang="en-US" baseline="-25000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2</a:t>
            </a:r>
            <a:endParaRPr lang="en-US" dirty="0">
              <a:solidFill>
                <a:srgbClr val="231F20"/>
              </a:solidFill>
              <a:latin typeface="Tahoma"/>
              <a:ea typeface="Tahoma"/>
              <a:cs typeface="Tahoma"/>
            </a:endParaRPr>
          </a:p>
          <a:p>
            <a:pPr marL="974725"/>
            <a:r>
              <a:rPr lang="en-US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Subject to:</a:t>
            </a:r>
          </a:p>
          <a:p>
            <a:pPr marL="1814830" marR="1667510" indent="-33020"/>
            <a:r>
              <a:rPr lang="en-US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X</a:t>
            </a:r>
            <a:r>
              <a:rPr lang="en-US" baseline="-25000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1 </a:t>
            </a:r>
            <a:r>
              <a:rPr lang="en-US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 +2X</a:t>
            </a:r>
            <a:r>
              <a:rPr lang="en-US" baseline="-25000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2 </a:t>
            </a:r>
            <a:r>
              <a:rPr lang="en-US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+ S</a:t>
            </a:r>
            <a:r>
              <a:rPr lang="en-US" baseline="-25000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1 </a:t>
            </a:r>
            <a:r>
              <a:rPr lang="en-US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+0S</a:t>
            </a:r>
            <a:r>
              <a:rPr lang="en-US" sz="1600" baseline="-25000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2</a:t>
            </a:r>
            <a:r>
              <a:rPr lang="en-US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 =8     </a:t>
            </a:r>
          </a:p>
          <a:p>
            <a:pPr marL="1814830" marR="1667510" indent="-33020"/>
            <a:r>
              <a:rPr lang="en-US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4X</a:t>
            </a:r>
            <a:r>
              <a:rPr lang="en-US" baseline="-25000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1 </a:t>
            </a:r>
            <a:r>
              <a:rPr lang="en-US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+ X</a:t>
            </a:r>
            <a:r>
              <a:rPr lang="en-US" baseline="-25000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2 </a:t>
            </a:r>
            <a:r>
              <a:rPr lang="en-US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 +0S</a:t>
            </a:r>
            <a:r>
              <a:rPr lang="en-US" baseline="-25000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1</a:t>
            </a:r>
            <a:r>
              <a:rPr lang="en-US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 + S</a:t>
            </a:r>
            <a:r>
              <a:rPr lang="en-US" baseline="-25000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2 </a:t>
            </a:r>
            <a:r>
              <a:rPr lang="en-US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= 10</a:t>
            </a:r>
            <a:endParaRPr lang="en-US" dirty="0"/>
          </a:p>
          <a:p>
            <a:pPr marL="1781810">
              <a:spcBef>
                <a:spcPts val="4"/>
              </a:spcBef>
            </a:pPr>
            <a:r>
              <a:rPr lang="en-US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X</a:t>
            </a:r>
            <a:r>
              <a:rPr lang="en-US" baseline="-25000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1</a:t>
            </a:r>
            <a:r>
              <a:rPr lang="en-US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, X</a:t>
            </a:r>
            <a:r>
              <a:rPr lang="en-US" baseline="-25000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2</a:t>
            </a:r>
            <a:r>
              <a:rPr lang="en-US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, S</a:t>
            </a:r>
            <a:r>
              <a:rPr lang="en-US" baseline="-25000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1</a:t>
            </a:r>
            <a:r>
              <a:rPr lang="en-US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, and S</a:t>
            </a:r>
            <a:r>
              <a:rPr lang="en-US" baseline="-25000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2 </a:t>
            </a:r>
            <a:r>
              <a:rPr lang="en-US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≥ 0 and integers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846562" y="6891552"/>
            <a:ext cx="243840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9A9D9F"/>
                </a:solidFill>
                <a:latin typeface="Tahoma"/>
                <a:ea typeface="+mn-ea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1285">
              <a:spcBef>
                <a:spcPts val="100"/>
              </a:spcBef>
            </a:pPr>
            <a:fld id="{81D60167-4931-47E6-BA6A-407CBD079E47}" type="slidenum">
              <a:rPr lang="en-IN" smtClean="0"/>
              <a:pPr marL="121285">
                <a:spcBef>
                  <a:spcPts val="100"/>
                </a:spcBef>
              </a:pPr>
              <a:t>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1371" y="339988"/>
            <a:ext cx="10236424" cy="500232"/>
          </a:xfrm>
          <a:prstGeom prst="rect">
            <a:avLst/>
          </a:prstGeom>
        </p:spPr>
        <p:txBody>
          <a:bodyPr vert="horz" wrap="square" lIns="0" tIns="11206" rIns="0" bIns="0" rtlCol="0" anchor="t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3177" spc="-4" dirty="0"/>
              <a:t>THE</a:t>
            </a:r>
            <a:r>
              <a:rPr sz="3177" spc="-35" dirty="0"/>
              <a:t> </a:t>
            </a:r>
            <a:r>
              <a:rPr sz="3177" spc="-4" dirty="0"/>
              <a:t>CUTTING–PLANE</a:t>
            </a:r>
            <a:r>
              <a:rPr sz="3177" spc="-22" dirty="0"/>
              <a:t> </a:t>
            </a:r>
            <a:r>
              <a:rPr sz="3177" spc="-4" dirty="0"/>
              <a:t>ALGORITHM</a:t>
            </a:r>
            <a:r>
              <a:rPr lang="en-IN" sz="3177" dirty="0"/>
              <a:t> </a:t>
            </a:r>
            <a:r>
              <a:rPr sz="3177" spc="-4" dirty="0"/>
              <a:t>(Cont…)</a:t>
            </a:r>
            <a:endParaRPr sz="3177" dirty="0"/>
          </a:p>
        </p:txBody>
      </p:sp>
      <p:sp>
        <p:nvSpPr>
          <p:cNvPr id="3" name="object 3"/>
          <p:cNvSpPr txBox="1"/>
          <p:nvPr/>
        </p:nvSpPr>
        <p:spPr>
          <a:xfrm>
            <a:off x="1213806" y="920001"/>
            <a:ext cx="1462928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b="1" spc="-4" dirty="0">
                <a:solidFill>
                  <a:srgbClr val="231F20"/>
                </a:solidFill>
                <a:latin typeface="Tahoma"/>
                <a:cs typeface="Tahoma"/>
              </a:rPr>
              <a:t>Initial</a:t>
            </a:r>
            <a:r>
              <a:rPr sz="1765" b="1" spc="-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b="1" dirty="0">
                <a:solidFill>
                  <a:srgbClr val="231F20"/>
                </a:solidFill>
                <a:latin typeface="Tahoma"/>
                <a:cs typeface="Tahoma"/>
              </a:rPr>
              <a:t>Table:</a:t>
            </a:r>
            <a:endParaRPr sz="1765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1371" y="3315840"/>
            <a:ext cx="1566582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b="1" spc="-4" dirty="0">
                <a:solidFill>
                  <a:srgbClr val="231F20"/>
                </a:solidFill>
                <a:latin typeface="Tahoma"/>
                <a:cs typeface="Tahoma"/>
              </a:rPr>
              <a:t>Iteration</a:t>
            </a:r>
            <a:r>
              <a:rPr sz="1765" b="1" spc="-5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b="1" dirty="0">
                <a:solidFill>
                  <a:srgbClr val="231F20"/>
                </a:solidFill>
                <a:latin typeface="Tahoma"/>
                <a:cs typeface="Tahoma"/>
              </a:rPr>
              <a:t>#</a:t>
            </a:r>
            <a:r>
              <a:rPr sz="1765" b="1" spc="-3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b="1" spc="-4" dirty="0">
                <a:solidFill>
                  <a:srgbClr val="231F20"/>
                </a:solidFill>
                <a:latin typeface="Tahoma"/>
                <a:cs typeface="Tahoma"/>
              </a:rPr>
              <a:t>1:</a:t>
            </a:r>
            <a:endParaRPr sz="1765" dirty="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623309"/>
              </p:ext>
            </p:extLst>
          </p:nvPr>
        </p:nvGraphicFramePr>
        <p:xfrm>
          <a:off x="1056557" y="1434569"/>
          <a:ext cx="8033845" cy="16834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2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13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72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1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72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504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504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0365">
                <a:tc gridSpan="2">
                  <a:txBody>
                    <a:bodyPr/>
                    <a:lstStyle/>
                    <a:p>
                      <a:pPr marL="130810">
                        <a:lnSpc>
                          <a:spcPts val="1920"/>
                        </a:lnSpc>
                        <a:tabLst>
                          <a:tab pos="2320290" algn="l"/>
                        </a:tabLst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Contribution</a:t>
                      </a:r>
                      <a:r>
                        <a:rPr sz="1400" spc="3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2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Per</a:t>
                      </a:r>
                      <a:r>
                        <a:rPr sz="1400" spc="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Unit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sz="1400" spc="-7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j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3050" algn="r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73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2100" baseline="13888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Bi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175372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8025" marR="179070" indent="-52197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Basic</a:t>
                      </a:r>
                      <a:r>
                        <a:rPr sz="1400" spc="-7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Variables </a:t>
                      </a:r>
                      <a:r>
                        <a:rPr sz="1400" spc="-48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(B)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5213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3679" algn="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X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 baseline="-21164" dirty="0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X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400" baseline="-21164" dirty="0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 baseline="-21164" dirty="0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SOLUTION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Ratio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tc>
                  <a:txBody>
                    <a:bodyPr/>
                    <a:lstStyle/>
                    <a:p>
                      <a:pPr marR="743585" algn="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tc>
                  <a:txBody>
                    <a:bodyPr/>
                    <a:lstStyle/>
                    <a:p>
                      <a:pPr marR="273050" algn="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DC0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8/2</a:t>
                      </a:r>
                      <a:r>
                        <a:rPr sz="1400" spc="-3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=</a:t>
                      </a:r>
                      <a:r>
                        <a:rPr sz="1400" spc="-4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4*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43585" algn="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0" algn="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10/1</a:t>
                      </a:r>
                      <a:r>
                        <a:rPr sz="1400" spc="-4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=</a:t>
                      </a:r>
                      <a:r>
                        <a:rPr sz="1400" spc="-2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365">
                <a:tc gridSpan="2"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tabLst>
                          <a:tab pos="1162050" algn="l"/>
                        </a:tabLst>
                      </a:pPr>
                      <a:r>
                        <a:rPr sz="1400" spc="-4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Total</a:t>
                      </a:r>
                      <a:r>
                        <a:rPr sz="1400" spc="1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Profit</a:t>
                      </a: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(Z</a:t>
                      </a:r>
                      <a:r>
                        <a:rPr sz="1400" spc="-7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j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)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3050" algn="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365">
                <a:tc gridSpan="2"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tabLst>
                          <a:tab pos="1663700" algn="l"/>
                        </a:tabLst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Net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Contribution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(C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j</a:t>
                      </a:r>
                      <a:r>
                        <a:rPr sz="1400" spc="209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–</a:t>
                      </a:r>
                      <a:r>
                        <a:rPr sz="1400" spc="-3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Z</a:t>
                      </a:r>
                      <a:r>
                        <a:rPr sz="1400" spc="-7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j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)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3050" algn="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8*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523051"/>
              </p:ext>
            </p:extLst>
          </p:nvPr>
        </p:nvGraphicFramePr>
        <p:xfrm>
          <a:off x="1056557" y="3796548"/>
          <a:ext cx="8289694" cy="16825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1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8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6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5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66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34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934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0365">
                <a:tc gridSpan="2"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tabLst>
                          <a:tab pos="2320290" algn="l"/>
                        </a:tabLst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Contribution</a:t>
                      </a:r>
                      <a:r>
                        <a:rPr sz="1400" spc="3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2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Per</a:t>
                      </a:r>
                      <a:r>
                        <a:rPr sz="1400" spc="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Unit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sz="1400" spc="-7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j</a:t>
                      </a:r>
                      <a:endParaRPr sz="1400" baseline="-21164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73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sz="2100" baseline="13888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Bi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175932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Basic</a:t>
                      </a:r>
                      <a:r>
                        <a:rPr sz="1400" spc="-5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Variables</a:t>
                      </a:r>
                      <a:endParaRPr sz="1400">
                        <a:latin typeface="Tahoma"/>
                        <a:cs typeface="Tahom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(B)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5213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X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X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 baseline="-21164" dirty="0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SOLUTION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784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Ratio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42315" algn="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X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1/2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1/2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tc>
                  <a:txBody>
                    <a:bodyPr/>
                    <a:lstStyle/>
                    <a:p>
                      <a:pPr marR="743585" algn="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7/2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DC0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-1/2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tc>
                  <a:txBody>
                    <a:bodyPr/>
                    <a:lstStyle/>
                    <a:p>
                      <a:pPr marL="405130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12/7*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365">
                <a:tc gridSpan="2"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1162050" algn="l"/>
                        </a:tabLst>
                      </a:pPr>
                      <a:r>
                        <a:rPr sz="1400" spc="-4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Total</a:t>
                      </a:r>
                      <a:r>
                        <a:rPr sz="1400" spc="1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Profit</a:t>
                      </a: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(Z</a:t>
                      </a:r>
                      <a:r>
                        <a:rPr sz="1400" spc="-7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j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)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6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6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6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6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6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32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6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365">
                <a:tc gridSpan="2"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1663700" algn="l"/>
                        </a:tabLst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Net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Contribution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(C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j</a:t>
                      </a:r>
                      <a:r>
                        <a:rPr sz="1400" spc="209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–</a:t>
                      </a:r>
                      <a:r>
                        <a:rPr sz="1400" spc="-3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Z</a:t>
                      </a:r>
                      <a:r>
                        <a:rPr sz="1400" spc="-7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j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)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6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1*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6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6E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6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-4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6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6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4710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5663" y="339988"/>
            <a:ext cx="6534708" cy="491268"/>
          </a:xfrm>
          <a:prstGeom prst="rect">
            <a:avLst/>
          </a:prstGeom>
        </p:spPr>
        <p:txBody>
          <a:bodyPr vert="horz" wrap="square" lIns="0" tIns="11206" rIns="0" bIns="0" rtlCol="0" anchor="t">
            <a:spAutoFit/>
          </a:bodyPr>
          <a:lstStyle/>
          <a:p>
            <a:pPr marL="10795">
              <a:lnSpc>
                <a:spcPct val="100000"/>
              </a:lnSpc>
              <a:spcBef>
                <a:spcPts val="88"/>
              </a:spcBef>
            </a:pPr>
            <a:r>
              <a:rPr sz="3150" spc="-4" dirty="0"/>
              <a:t>THE</a:t>
            </a:r>
            <a:r>
              <a:rPr sz="3150" spc="-35" dirty="0"/>
              <a:t> </a:t>
            </a:r>
            <a:r>
              <a:rPr sz="3150" spc="-4" dirty="0"/>
              <a:t>CUTTING–PLANE</a:t>
            </a:r>
            <a:r>
              <a:rPr sz="3150" spc="-22" dirty="0"/>
              <a:t> </a:t>
            </a:r>
            <a:r>
              <a:rPr sz="3150" spc="-4" dirty="0"/>
              <a:t>ALGORITHM</a:t>
            </a:r>
            <a:endParaRPr lang="en-US" sz="3150" spc="-4" dirty="0"/>
          </a:p>
        </p:txBody>
      </p:sp>
      <p:sp>
        <p:nvSpPr>
          <p:cNvPr id="3" name="object 3"/>
          <p:cNvSpPr txBox="1"/>
          <p:nvPr/>
        </p:nvSpPr>
        <p:spPr>
          <a:xfrm>
            <a:off x="9495525" y="337249"/>
            <a:ext cx="1736351" cy="50023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3177" spc="-4" dirty="0">
                <a:latin typeface="Tahoma"/>
                <a:cs typeface="Tahoma"/>
              </a:rPr>
              <a:t>(Con</a:t>
            </a:r>
            <a:r>
              <a:rPr sz="3177" dirty="0">
                <a:latin typeface="Tahoma"/>
                <a:cs typeface="Tahoma"/>
              </a:rPr>
              <a:t>t…)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33064" y="969039"/>
            <a:ext cx="1566582" cy="283494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>
              <a:spcBef>
                <a:spcPts val="93"/>
              </a:spcBef>
            </a:pPr>
            <a:r>
              <a:rPr sz="1765" b="1" spc="-4" dirty="0">
                <a:solidFill>
                  <a:srgbClr val="231F20"/>
                </a:solidFill>
                <a:latin typeface="Tahoma"/>
                <a:cs typeface="Tahoma"/>
              </a:rPr>
              <a:t>Iteration</a:t>
            </a:r>
            <a:r>
              <a:rPr sz="1765" b="1" spc="-5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b="1" spc="4" dirty="0">
                <a:solidFill>
                  <a:srgbClr val="231F20"/>
                </a:solidFill>
                <a:latin typeface="Tahoma"/>
                <a:cs typeface="Tahoma"/>
              </a:rPr>
              <a:t>#</a:t>
            </a:r>
            <a:r>
              <a:rPr sz="1765" b="1" spc="-3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b="1" dirty="0">
                <a:solidFill>
                  <a:srgbClr val="231F20"/>
                </a:solidFill>
                <a:latin typeface="Tahoma"/>
                <a:cs typeface="Tahoma"/>
              </a:rPr>
              <a:t>2:</a:t>
            </a:r>
            <a:endParaRPr sz="1765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6635" y="1344596"/>
            <a:ext cx="8574542" cy="219780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82943" y="3704215"/>
            <a:ext cx="7922841" cy="1761923"/>
          </a:xfrm>
          <a:prstGeom prst="rect">
            <a:avLst/>
          </a:prstGeom>
        </p:spPr>
        <p:txBody>
          <a:bodyPr vert="horz" wrap="square" lIns="0" tIns="11206" rIns="0" bIns="0" rtlCol="0" anchor="t">
            <a:spAutoFit/>
          </a:bodyPr>
          <a:lstStyle/>
          <a:p>
            <a:pPr marL="111125">
              <a:spcBef>
                <a:spcPts val="88"/>
              </a:spcBef>
            </a:pP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All</a:t>
            </a:r>
            <a:r>
              <a:rPr sz="1550" spc="21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550" spc="22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13" dirty="0">
                <a:solidFill>
                  <a:srgbClr val="231F20"/>
                </a:solidFill>
                <a:latin typeface="Tahoma"/>
                <a:cs typeface="Tahoma"/>
              </a:rPr>
              <a:t>Values</a:t>
            </a:r>
            <a:r>
              <a:rPr sz="1550" spc="22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of</a:t>
            </a:r>
            <a:r>
              <a:rPr sz="1550" spc="22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(C</a:t>
            </a:r>
            <a:r>
              <a:rPr sz="1550" spc="-6" baseline="-20833" dirty="0">
                <a:solidFill>
                  <a:srgbClr val="231F20"/>
                </a:solidFill>
                <a:latin typeface="Tahoma"/>
                <a:cs typeface="Tahoma"/>
              </a:rPr>
              <a:t>j</a:t>
            </a:r>
            <a:r>
              <a:rPr sz="1550" spc="92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–</a:t>
            </a:r>
            <a:r>
              <a:rPr sz="1550" spc="22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Z</a:t>
            </a:r>
            <a:r>
              <a:rPr sz="1550" spc="-6" baseline="-20833" dirty="0">
                <a:solidFill>
                  <a:srgbClr val="231F20"/>
                </a:solidFill>
                <a:latin typeface="Tahoma"/>
                <a:cs typeface="Tahoma"/>
              </a:rPr>
              <a:t>j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)</a:t>
            </a:r>
            <a:r>
              <a:rPr sz="1550" spc="21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≤</a:t>
            </a:r>
            <a:r>
              <a:rPr sz="1550" spc="22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0;</a:t>
            </a:r>
            <a:r>
              <a:rPr sz="1550" spc="22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9" dirty="0">
                <a:solidFill>
                  <a:srgbClr val="231F20"/>
                </a:solidFill>
                <a:latin typeface="Tahoma"/>
                <a:cs typeface="Tahoma"/>
              </a:rPr>
              <a:t>So,</a:t>
            </a:r>
            <a:r>
              <a:rPr sz="1550" spc="21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550" spc="22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current</a:t>
            </a:r>
            <a:r>
              <a:rPr sz="1550" spc="22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solution</a:t>
            </a:r>
            <a:r>
              <a:rPr sz="1550" spc="22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is</a:t>
            </a:r>
            <a:r>
              <a:rPr sz="1550" spc="21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optimal</a:t>
            </a:r>
            <a:r>
              <a:rPr sz="1550" spc="22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for</a:t>
            </a:r>
            <a:r>
              <a:rPr sz="1550" spc="22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lang="en-US" sz="1550" dirty="0">
                <a:solidFill>
                  <a:srgbClr val="231F20"/>
                </a:solidFill>
                <a:latin typeface="Tahoma"/>
                <a:cs typeface="Tahoma"/>
              </a:rPr>
              <a:t>LP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.</a:t>
            </a:r>
            <a:endParaRPr lang="en-US" sz="1550" dirty="0">
              <a:latin typeface="Tahoma"/>
              <a:ea typeface="Tahoma"/>
              <a:cs typeface="Tahoma"/>
            </a:endParaRPr>
          </a:p>
          <a:p>
            <a:pPr marL="1788795"/>
            <a:endParaRPr lang="en-US" sz="1588" b="1" dirty="0">
              <a:solidFill>
                <a:srgbClr val="231F20"/>
              </a:solidFill>
              <a:latin typeface="Tahoma"/>
              <a:cs typeface="Tahoma"/>
            </a:endParaRPr>
          </a:p>
          <a:p>
            <a:pPr marL="1788795"/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1588" b="1" baseline="-20833" dirty="0">
                <a:solidFill>
                  <a:srgbClr val="231F20"/>
                </a:solidFill>
                <a:latin typeface="Tahoma"/>
                <a:cs typeface="Tahoma"/>
              </a:rPr>
              <a:t>1</a:t>
            </a:r>
            <a:r>
              <a:rPr sz="1588" b="1" spc="191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=</a:t>
            </a:r>
            <a:r>
              <a:rPr sz="1588" b="1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12/7,</a:t>
            </a:r>
            <a:r>
              <a:rPr sz="1588" b="1" spc="-1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spc="4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1588" b="1" spc="6" baseline="-20833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sz="1588" b="1" spc="212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=</a:t>
            </a:r>
            <a:r>
              <a:rPr sz="1588" b="1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22/7</a:t>
            </a:r>
            <a:r>
              <a:rPr sz="1588" b="1" spc="-2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spc="-4" dirty="0">
                <a:solidFill>
                  <a:srgbClr val="231F20"/>
                </a:solidFill>
                <a:latin typeface="Tahoma"/>
                <a:cs typeface="Tahoma"/>
              </a:rPr>
              <a:t>and</a:t>
            </a:r>
            <a:r>
              <a:rPr sz="1588" b="1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Z</a:t>
            </a:r>
            <a:r>
              <a:rPr sz="1588" b="1" spc="-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=</a:t>
            </a:r>
            <a:r>
              <a:rPr sz="1588" b="1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236/7</a:t>
            </a:r>
            <a:endParaRPr sz="1588" dirty="0">
              <a:latin typeface="Tahoma"/>
              <a:ea typeface="Tahoma"/>
              <a:cs typeface="Tahoma"/>
            </a:endParaRPr>
          </a:p>
          <a:p>
            <a:pPr marL="44450" marR="38100">
              <a:spcBef>
                <a:spcPts val="1165"/>
              </a:spcBef>
            </a:pPr>
            <a:endParaRPr lang="en-US" sz="1550" spc="-4" dirty="0">
              <a:solidFill>
                <a:srgbClr val="231F20"/>
              </a:solidFill>
              <a:latin typeface="Tahoma"/>
              <a:cs typeface="Tahoma"/>
            </a:endParaRPr>
          </a:p>
          <a:p>
            <a:pPr marL="44450" marR="38100">
              <a:spcBef>
                <a:spcPts val="1165"/>
              </a:spcBef>
            </a:pPr>
            <a:r>
              <a:rPr lang="en-US" sz="1550" spc="-4" dirty="0">
                <a:solidFill>
                  <a:srgbClr val="231F20"/>
                </a:solidFill>
                <a:latin typeface="Tahoma"/>
                <a:cs typeface="Tahoma"/>
              </a:rPr>
              <a:t>However, t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he</a:t>
            </a:r>
            <a:r>
              <a:rPr sz="1550" spc="10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9" dirty="0">
                <a:solidFill>
                  <a:srgbClr val="231F20"/>
                </a:solidFill>
                <a:latin typeface="Tahoma"/>
                <a:cs typeface="Tahoma"/>
              </a:rPr>
              <a:t>values</a:t>
            </a:r>
            <a:r>
              <a:rPr sz="1550" spc="9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of</a:t>
            </a:r>
            <a:r>
              <a:rPr sz="1550" spc="9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550" spc="10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decision</a:t>
            </a:r>
            <a:r>
              <a:rPr sz="1550" spc="10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variables</a:t>
            </a:r>
            <a:r>
              <a:rPr sz="1550" spc="9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1550" spc="-6" baseline="-20833" dirty="0">
                <a:solidFill>
                  <a:srgbClr val="231F20"/>
                </a:solidFill>
                <a:latin typeface="Tahoma"/>
                <a:cs typeface="Tahoma"/>
              </a:rPr>
              <a:t>1</a:t>
            </a:r>
            <a:r>
              <a:rPr sz="1550" spc="397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&amp;</a:t>
            </a:r>
            <a:r>
              <a:rPr sz="1550" spc="9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1550" spc="-6" baseline="-20833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sz="1550" spc="397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are</a:t>
            </a:r>
            <a:r>
              <a:rPr sz="1550" spc="9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not</a:t>
            </a:r>
            <a:r>
              <a:rPr sz="1550" spc="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9" dirty="0">
                <a:solidFill>
                  <a:srgbClr val="231F20"/>
                </a:solidFill>
                <a:latin typeface="Tahoma"/>
                <a:cs typeface="Tahoma"/>
              </a:rPr>
              <a:t>integers,</a:t>
            </a:r>
            <a:r>
              <a:rPr sz="1550" spc="9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9" dirty="0">
                <a:solidFill>
                  <a:srgbClr val="231F20"/>
                </a:solidFill>
                <a:latin typeface="Tahoma"/>
                <a:cs typeface="Tahoma"/>
              </a:rPr>
              <a:t>so,</a:t>
            </a:r>
            <a:r>
              <a:rPr sz="1550" spc="9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550" spc="10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solution</a:t>
            </a:r>
            <a:r>
              <a:rPr sz="1550" spc="9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is</a:t>
            </a:r>
            <a:r>
              <a:rPr lang="en-US" sz="1550" spc="-4" dirty="0">
                <a:solidFill>
                  <a:srgbClr val="231F20"/>
                </a:solidFill>
                <a:latin typeface="Tahoma"/>
                <a:cs typeface="Tahoma"/>
              </a:rPr>
              <a:t> </a:t>
            </a:r>
            <a:r>
              <a:rPr sz="1550" b="1" spc="-48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231F20"/>
                </a:solidFill>
                <a:latin typeface="Tahoma"/>
                <a:cs typeface="Tahoma"/>
              </a:rPr>
              <a:t>not</a:t>
            </a:r>
            <a:r>
              <a:rPr sz="1550" b="1" spc="-2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b="1" spc="-4" dirty="0">
                <a:solidFill>
                  <a:srgbClr val="231F20"/>
                </a:solidFill>
                <a:latin typeface="Tahoma"/>
                <a:cs typeface="Tahoma"/>
              </a:rPr>
              <a:t>optimum</a:t>
            </a:r>
            <a:r>
              <a:rPr sz="1550" b="1" spc="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b="1" spc="-4" dirty="0">
                <a:solidFill>
                  <a:srgbClr val="231F20"/>
                </a:solidFill>
                <a:latin typeface="Tahoma"/>
                <a:cs typeface="Tahoma"/>
              </a:rPr>
              <a:t>for</a:t>
            </a:r>
            <a:r>
              <a:rPr sz="1550" b="1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b="1" spc="-4" dirty="0">
                <a:solidFill>
                  <a:srgbClr val="FF0000"/>
                </a:solidFill>
                <a:latin typeface="Tahoma"/>
                <a:cs typeface="Tahoma"/>
              </a:rPr>
              <a:t>Integer</a:t>
            </a:r>
            <a:r>
              <a:rPr sz="1550" b="1" spc="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b="1" spc="-4" dirty="0">
                <a:solidFill>
                  <a:srgbClr val="231F20"/>
                </a:solidFill>
                <a:latin typeface="Tahoma"/>
                <a:cs typeface="Tahoma"/>
              </a:rPr>
              <a:t>Programming.</a:t>
            </a:r>
            <a:endParaRPr sz="1550" b="1" dirty="0">
              <a:latin typeface="Tahoma"/>
              <a:ea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8846562" y="6891552"/>
            <a:ext cx="243840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9A9D9F"/>
                </a:solidFill>
                <a:latin typeface="Tahoma"/>
                <a:ea typeface="+mn-ea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1285">
              <a:spcBef>
                <a:spcPts val="100"/>
              </a:spcBef>
            </a:pPr>
            <a:fld id="{81D60167-4931-47E6-BA6A-407CBD079E47}" type="slidenum">
              <a:rPr lang="en-IN" smtClean="0"/>
              <a:pPr marL="121285">
                <a:spcBef>
                  <a:spcPts val="100"/>
                </a:spcBef>
              </a:pPr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5663" y="339988"/>
            <a:ext cx="6534708" cy="491268"/>
          </a:xfrm>
          <a:prstGeom prst="rect">
            <a:avLst/>
          </a:prstGeom>
        </p:spPr>
        <p:txBody>
          <a:bodyPr vert="horz" wrap="square" lIns="0" tIns="11206" rIns="0" bIns="0" rtlCol="0" anchor="t">
            <a:spAutoFit/>
          </a:bodyPr>
          <a:lstStyle/>
          <a:p>
            <a:pPr marL="10795">
              <a:lnSpc>
                <a:spcPct val="100000"/>
              </a:lnSpc>
              <a:spcBef>
                <a:spcPts val="88"/>
              </a:spcBef>
            </a:pPr>
            <a:r>
              <a:rPr sz="3150" spc="-4" dirty="0"/>
              <a:t>THE</a:t>
            </a:r>
            <a:r>
              <a:rPr sz="3150" spc="-35" dirty="0"/>
              <a:t> </a:t>
            </a:r>
            <a:r>
              <a:rPr sz="3150" spc="-4" dirty="0"/>
              <a:t>CUTTING–PLANE</a:t>
            </a:r>
            <a:r>
              <a:rPr sz="3150" spc="-22" dirty="0"/>
              <a:t> </a:t>
            </a:r>
            <a:r>
              <a:rPr sz="3150" spc="-4" dirty="0"/>
              <a:t>ALGORITHM</a:t>
            </a:r>
            <a:endParaRPr lang="en-US" sz="3150" spc="-4" dirty="0"/>
          </a:p>
        </p:txBody>
      </p:sp>
      <p:sp>
        <p:nvSpPr>
          <p:cNvPr id="3" name="object 3"/>
          <p:cNvSpPr txBox="1"/>
          <p:nvPr/>
        </p:nvSpPr>
        <p:spPr>
          <a:xfrm>
            <a:off x="9495525" y="337249"/>
            <a:ext cx="1736351" cy="50023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3177" b="1" spc="-4" dirty="0">
                <a:solidFill>
                  <a:srgbClr val="BE1F25"/>
                </a:solidFill>
                <a:latin typeface="Tahoma"/>
                <a:cs typeface="Tahoma"/>
              </a:rPr>
              <a:t>(Con</a:t>
            </a:r>
            <a:r>
              <a:rPr sz="3177" b="1" dirty="0">
                <a:solidFill>
                  <a:srgbClr val="BE1F25"/>
                </a:solidFill>
                <a:latin typeface="Tahoma"/>
                <a:cs typeface="Tahoma"/>
              </a:rPr>
              <a:t>t…)</a:t>
            </a:r>
            <a:endParaRPr sz="3177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5642" y="3368612"/>
            <a:ext cx="8905850" cy="1130981"/>
          </a:xfrm>
          <a:prstGeom prst="rect">
            <a:avLst/>
          </a:prstGeom>
        </p:spPr>
        <p:txBody>
          <a:bodyPr vert="horz" wrap="square" lIns="0" tIns="11206" rIns="0" bIns="0" rtlCol="0" anchor="t">
            <a:spAutoFit/>
          </a:bodyPr>
          <a:lstStyle/>
          <a:p>
            <a:pPr marL="111125">
              <a:spcBef>
                <a:spcPts val="88"/>
              </a:spcBef>
            </a:pP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All</a:t>
            </a:r>
            <a:r>
              <a:rPr sz="1550" spc="21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550" spc="22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13" dirty="0">
                <a:solidFill>
                  <a:srgbClr val="231F20"/>
                </a:solidFill>
                <a:latin typeface="Tahoma"/>
                <a:cs typeface="Tahoma"/>
              </a:rPr>
              <a:t>Values</a:t>
            </a:r>
            <a:r>
              <a:rPr sz="1550" spc="22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of</a:t>
            </a:r>
            <a:r>
              <a:rPr sz="1550" spc="22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(C</a:t>
            </a:r>
            <a:r>
              <a:rPr sz="1550" spc="-6" baseline="-20833" dirty="0">
                <a:solidFill>
                  <a:srgbClr val="231F20"/>
                </a:solidFill>
                <a:latin typeface="Tahoma"/>
                <a:cs typeface="Tahoma"/>
              </a:rPr>
              <a:t>j</a:t>
            </a:r>
            <a:r>
              <a:rPr sz="1550" spc="92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–</a:t>
            </a:r>
            <a:r>
              <a:rPr sz="1550" spc="22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Z</a:t>
            </a:r>
            <a:r>
              <a:rPr sz="1550" spc="-6" baseline="-20833" dirty="0">
                <a:solidFill>
                  <a:srgbClr val="231F20"/>
                </a:solidFill>
                <a:latin typeface="Tahoma"/>
                <a:cs typeface="Tahoma"/>
              </a:rPr>
              <a:t>j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)</a:t>
            </a:r>
            <a:r>
              <a:rPr sz="1550" spc="21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≤</a:t>
            </a:r>
            <a:r>
              <a:rPr sz="1550" spc="22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0;</a:t>
            </a:r>
            <a:r>
              <a:rPr sz="1550" spc="22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9" dirty="0">
                <a:solidFill>
                  <a:srgbClr val="231F20"/>
                </a:solidFill>
                <a:latin typeface="Tahoma"/>
                <a:cs typeface="Tahoma"/>
              </a:rPr>
              <a:t>So,</a:t>
            </a:r>
            <a:r>
              <a:rPr sz="1550" spc="21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550" spc="22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current</a:t>
            </a:r>
            <a:r>
              <a:rPr sz="1550" spc="22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solution</a:t>
            </a:r>
            <a:r>
              <a:rPr sz="1550" spc="22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is</a:t>
            </a:r>
            <a:r>
              <a:rPr sz="1550" spc="21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optimal</a:t>
            </a:r>
            <a:r>
              <a:rPr sz="1550" spc="22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for</a:t>
            </a:r>
            <a:r>
              <a:rPr sz="1550" spc="22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lang="en-US" sz="1550" dirty="0">
                <a:solidFill>
                  <a:srgbClr val="231F20"/>
                </a:solidFill>
                <a:latin typeface="Tahoma"/>
                <a:cs typeface="Tahoma"/>
              </a:rPr>
              <a:t>linear </a:t>
            </a:r>
            <a:r>
              <a:rPr lang="en-US" sz="1550" spc="-4" dirty="0">
                <a:solidFill>
                  <a:srgbClr val="231F20"/>
                </a:solidFill>
                <a:latin typeface="Tahoma"/>
                <a:cs typeface="Tahoma"/>
              </a:rPr>
              <a:t>programming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.</a:t>
            </a:r>
            <a:endParaRPr lang="en-US" sz="1550" dirty="0">
              <a:latin typeface="Tahoma"/>
              <a:ea typeface="Tahoma"/>
              <a:cs typeface="Tahoma"/>
            </a:endParaRPr>
          </a:p>
          <a:p>
            <a:pPr marL="1788795"/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1588" b="1" baseline="-20833" dirty="0">
                <a:solidFill>
                  <a:srgbClr val="231F20"/>
                </a:solidFill>
                <a:latin typeface="Tahoma"/>
                <a:cs typeface="Tahoma"/>
              </a:rPr>
              <a:t>1</a:t>
            </a:r>
            <a:r>
              <a:rPr sz="1588" b="1" spc="191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=</a:t>
            </a:r>
            <a:r>
              <a:rPr sz="1588" b="1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12/7,</a:t>
            </a:r>
            <a:r>
              <a:rPr sz="1588" b="1" spc="-1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spc="4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1588" b="1" spc="6" baseline="-20833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sz="1588" b="1" spc="212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=</a:t>
            </a:r>
            <a:r>
              <a:rPr sz="1588" b="1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22/7</a:t>
            </a:r>
            <a:r>
              <a:rPr sz="1588" b="1" spc="-2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spc="-4" dirty="0">
                <a:solidFill>
                  <a:srgbClr val="231F20"/>
                </a:solidFill>
                <a:latin typeface="Tahoma"/>
                <a:cs typeface="Tahoma"/>
              </a:rPr>
              <a:t>and</a:t>
            </a:r>
            <a:r>
              <a:rPr sz="1588" b="1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Z</a:t>
            </a:r>
            <a:r>
              <a:rPr sz="1588" b="1" spc="-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=</a:t>
            </a:r>
            <a:r>
              <a:rPr sz="1588" b="1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236/7</a:t>
            </a:r>
            <a:endParaRPr sz="1588" dirty="0">
              <a:latin typeface="Tahoma"/>
              <a:ea typeface="Tahoma"/>
              <a:cs typeface="Tahoma"/>
            </a:endParaRPr>
          </a:p>
          <a:p>
            <a:pPr marL="44450" marR="38100">
              <a:spcBef>
                <a:spcPts val="1165"/>
              </a:spcBef>
            </a:pPr>
            <a:endParaRPr sz="1550" spc="-4" dirty="0">
              <a:solidFill>
                <a:srgbClr val="231F20"/>
              </a:solidFill>
              <a:latin typeface="Tahoma"/>
              <a:ea typeface="Tahoma"/>
              <a:cs typeface="Tahoma"/>
            </a:endParaRPr>
          </a:p>
          <a:p>
            <a:pPr marL="44450">
              <a:spcBef>
                <a:spcPts val="18"/>
              </a:spcBef>
              <a:tabLst>
                <a:tab pos="2003158" algn="l"/>
              </a:tabLst>
            </a:pPr>
            <a:r>
              <a:rPr sz="1588" b="1" spc="-4" dirty="0">
                <a:solidFill>
                  <a:srgbClr val="231F20"/>
                </a:solidFill>
                <a:latin typeface="Tahoma"/>
                <a:cs typeface="Tahoma"/>
              </a:rPr>
              <a:t>STEP 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#4:</a:t>
            </a:r>
            <a:r>
              <a:rPr sz="158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588" b="1" spc="-4" dirty="0">
                <a:solidFill>
                  <a:srgbClr val="231F20"/>
                </a:solidFill>
                <a:latin typeface="Tahoma"/>
                <a:cs typeface="Tahoma"/>
              </a:rPr>
              <a:t>Summary</a:t>
            </a:r>
            <a:r>
              <a:rPr sz="1588" b="1" spc="-4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of</a:t>
            </a:r>
            <a:r>
              <a:rPr sz="1588" b="1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spc="-4" dirty="0">
                <a:solidFill>
                  <a:srgbClr val="231F20"/>
                </a:solidFill>
                <a:latin typeface="Tahoma"/>
                <a:cs typeface="Tahoma"/>
              </a:rPr>
              <a:t>Integer</a:t>
            </a:r>
            <a:r>
              <a:rPr sz="1588" b="1" spc="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&amp;</a:t>
            </a:r>
            <a:r>
              <a:rPr sz="1588" b="1" spc="-4" dirty="0">
                <a:solidFill>
                  <a:srgbClr val="231F20"/>
                </a:solidFill>
                <a:latin typeface="Tahoma"/>
                <a:cs typeface="Tahoma"/>
              </a:rPr>
              <a:t> Fractional</a:t>
            </a:r>
            <a:r>
              <a:rPr sz="1588" b="1" spc="-1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Parts</a:t>
            </a:r>
            <a:endParaRPr sz="1588" dirty="0">
              <a:latin typeface="Tahoma"/>
              <a:ea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8846562" y="6891552"/>
            <a:ext cx="243840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9A9D9F"/>
                </a:solidFill>
                <a:latin typeface="Tahoma"/>
                <a:ea typeface="+mn-ea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1285">
              <a:spcBef>
                <a:spcPts val="100"/>
              </a:spcBef>
            </a:pPr>
            <a:fld id="{81D60167-4931-47E6-BA6A-407CBD079E47}" type="slidenum">
              <a:rPr lang="en-IN" smtClean="0"/>
              <a:pPr marL="121285">
                <a:spcBef>
                  <a:spcPts val="100"/>
                </a:spcBef>
              </a:pPr>
              <a:t>8</a:t>
            </a:fld>
            <a:endParaRPr dirty="0"/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452854"/>
              </p:ext>
            </p:extLst>
          </p:nvPr>
        </p:nvGraphicFramePr>
        <p:xfrm>
          <a:off x="2963047" y="4786408"/>
          <a:ext cx="5242920" cy="1104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88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6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58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910"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Basic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Variable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in</a:t>
                      </a:r>
                      <a:r>
                        <a:rPr sz="1600" b="1" spc="-3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the</a:t>
                      </a:r>
                      <a:endParaRPr sz="1600" dirty="0">
                        <a:latin typeface="Tahoma"/>
                        <a:cs typeface="Tahoma"/>
                      </a:endParaRPr>
                    </a:p>
                    <a:p>
                      <a:pPr marL="293370">
                        <a:lnSpc>
                          <a:spcPct val="100000"/>
                        </a:lnSpc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above</a:t>
                      </a:r>
                      <a:r>
                        <a:rPr sz="1600" b="1" spc="-6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Optimal</a:t>
                      </a:r>
                      <a:r>
                        <a:rPr sz="1600" b="1" spc="-5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table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</a:t>
                      </a:r>
                      <a:r>
                        <a:rPr sz="1600" b="1" baseline="-20833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</a:t>
                      </a:r>
                      <a:endParaRPr sz="1600" baseline="-20833" dirty="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5924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[b</a:t>
                      </a:r>
                      <a:r>
                        <a:rPr sz="1600" b="1" spc="-7" baseline="-20833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]</a:t>
                      </a:r>
                      <a:r>
                        <a:rPr sz="1600" b="1" spc="-5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+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f</a:t>
                      </a:r>
                      <a:r>
                        <a:rPr sz="1600" b="1" spc="-7" baseline="-20833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</a:t>
                      </a:r>
                      <a:endParaRPr sz="1600" baseline="-20833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597">
                <a:tc>
                  <a:txBody>
                    <a:bodyPr/>
                    <a:lstStyle/>
                    <a:p>
                      <a:pPr marR="133286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X</a:t>
                      </a:r>
                      <a:r>
                        <a:rPr sz="1600" spc="-7" baseline="-20833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600" baseline="-20833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12/7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7"/>
                    </a:solidFill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+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7"/>
                    </a:solidFill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(5/7)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597">
                <a:tc>
                  <a:txBody>
                    <a:bodyPr/>
                    <a:lstStyle/>
                    <a:p>
                      <a:pPr marR="133286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X</a:t>
                      </a:r>
                      <a:r>
                        <a:rPr sz="1600" spc="-7" baseline="-20833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600" baseline="-20833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22/7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+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(1/7)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Arrow: Left 8">
            <a:extLst>
              <a:ext uri="{FF2B5EF4-FFF2-40B4-BE49-F238E27FC236}">
                <a16:creationId xmlns:a16="http://schemas.microsoft.com/office/drawing/2014/main" id="{4898A8F0-9DA5-E291-DA29-3F3447EC5D01}"/>
              </a:ext>
            </a:extLst>
          </p:cNvPr>
          <p:cNvSpPr/>
          <p:nvPr/>
        </p:nvSpPr>
        <p:spPr>
          <a:xfrm>
            <a:off x="8340662" y="5388783"/>
            <a:ext cx="842682" cy="19722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3E84A5-FDBF-11E4-5817-13D0E754A552}"/>
              </a:ext>
            </a:extLst>
          </p:cNvPr>
          <p:cNvSpPr txBox="1"/>
          <p:nvPr/>
        </p:nvSpPr>
        <p:spPr>
          <a:xfrm>
            <a:off x="9328088" y="5319867"/>
            <a:ext cx="220923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Maximum </a:t>
            </a:r>
            <a:r>
              <a:rPr lang="en-US" sz="1600"/>
              <a:t>fraction</a:t>
            </a:r>
            <a:r>
              <a:rPr lang="en-US" sz="1600" dirty="0"/>
              <a:t> value</a:t>
            </a: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71AB6051-A940-E68F-A083-420533CE30A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2759" y="1037900"/>
            <a:ext cx="8574542" cy="2197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269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8997" y="339988"/>
            <a:ext cx="8647081" cy="496064"/>
          </a:xfrm>
          <a:prstGeom prst="rect">
            <a:avLst/>
          </a:prstGeom>
        </p:spPr>
        <p:txBody>
          <a:bodyPr vert="horz" wrap="square" lIns="0" tIns="11206" rIns="0" bIns="0" rtlCol="0" anchor="t">
            <a:spAutoFit/>
          </a:bodyPr>
          <a:lstStyle/>
          <a:p>
            <a:pPr marL="10795">
              <a:lnSpc>
                <a:spcPct val="100000"/>
              </a:lnSpc>
              <a:spcBef>
                <a:spcPts val="88"/>
              </a:spcBef>
            </a:pPr>
            <a:r>
              <a:rPr sz="3150" spc="-4" dirty="0"/>
              <a:t>THE</a:t>
            </a:r>
            <a:r>
              <a:rPr sz="3150" spc="-35" dirty="0"/>
              <a:t> </a:t>
            </a:r>
            <a:r>
              <a:rPr sz="3150" spc="-4" dirty="0"/>
              <a:t>CUTTING–PLANE</a:t>
            </a:r>
            <a:r>
              <a:rPr sz="3150" spc="-22" dirty="0"/>
              <a:t> </a:t>
            </a:r>
            <a:r>
              <a:rPr sz="3150" spc="-4" dirty="0"/>
              <a:t>ALGORITHM</a:t>
            </a:r>
            <a:r>
              <a:rPr lang="en-US" sz="3150" spc="-4" dirty="0"/>
              <a:t> </a:t>
            </a:r>
            <a:r>
              <a:rPr sz="3150" spc="-4" dirty="0"/>
              <a:t>(</a:t>
            </a:r>
            <a:r>
              <a:rPr sz="3150" spc="-4" dirty="0" err="1"/>
              <a:t>Cont</a:t>
            </a:r>
            <a:r>
              <a:rPr sz="3150" spc="-4" dirty="0"/>
              <a:t>…)</a:t>
            </a:r>
            <a:endParaRPr lang="en-US" sz="3150" dirty="0"/>
          </a:p>
        </p:txBody>
      </p:sp>
      <p:sp>
        <p:nvSpPr>
          <p:cNvPr id="3" name="object 3"/>
          <p:cNvSpPr txBox="1"/>
          <p:nvPr/>
        </p:nvSpPr>
        <p:spPr>
          <a:xfrm>
            <a:off x="734901" y="3430523"/>
            <a:ext cx="10615762" cy="2689293"/>
          </a:xfrm>
          <a:prstGeom prst="rect">
            <a:avLst/>
          </a:prstGeom>
        </p:spPr>
        <p:txBody>
          <a:bodyPr vert="horz" wrap="square" lIns="0" tIns="11206" rIns="0" bIns="0" rtlCol="0" anchor="t">
            <a:spAutoFit/>
          </a:bodyPr>
          <a:lstStyle/>
          <a:p>
            <a:pPr marL="22225" algn="just">
              <a:spcBef>
                <a:spcPts val="88"/>
              </a:spcBef>
            </a:pPr>
            <a:r>
              <a:rPr sz="1550" b="1" spc="-4" dirty="0">
                <a:solidFill>
                  <a:srgbClr val="231F20"/>
                </a:solidFill>
                <a:latin typeface="Tahoma"/>
                <a:cs typeface="Tahoma"/>
              </a:rPr>
              <a:t>STEP</a:t>
            </a:r>
            <a:r>
              <a:rPr sz="1550" b="1" spc="17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231F20"/>
                </a:solidFill>
                <a:latin typeface="Tahoma"/>
                <a:cs typeface="Tahoma"/>
              </a:rPr>
              <a:t>#5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:</a:t>
            </a:r>
            <a:r>
              <a:rPr lang="en-US" sz="1550" spc="168" dirty="0">
                <a:solidFill>
                  <a:srgbClr val="231F20"/>
                </a:solidFill>
                <a:latin typeface="Tahoma"/>
                <a:cs typeface="Tahoma"/>
              </a:rPr>
              <a:t> T</a:t>
            </a:r>
            <a:r>
              <a:rPr lang="en-US" sz="1550" spc="-4" dirty="0">
                <a:solidFill>
                  <a:srgbClr val="231F20"/>
                </a:solidFill>
                <a:latin typeface="Tahoma"/>
                <a:cs typeface="Tahoma"/>
              </a:rPr>
              <a:t>he</a:t>
            </a:r>
            <a:r>
              <a:rPr sz="1550" spc="14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9" dirty="0">
                <a:solidFill>
                  <a:srgbClr val="231F20"/>
                </a:solidFill>
                <a:latin typeface="Tahoma"/>
                <a:cs typeface="Tahoma"/>
              </a:rPr>
              <a:t>fractional</a:t>
            </a:r>
            <a:r>
              <a:rPr sz="1550" spc="14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part,</a:t>
            </a:r>
            <a:r>
              <a:rPr lang="en-US" sz="155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f</a:t>
            </a:r>
            <a:r>
              <a:rPr sz="1550" baseline="-20833" dirty="0">
                <a:solidFill>
                  <a:srgbClr val="231F20"/>
                </a:solidFill>
                <a:latin typeface="Tahoma"/>
                <a:cs typeface="Tahoma"/>
              </a:rPr>
              <a:t>1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,</a:t>
            </a:r>
            <a:r>
              <a:rPr sz="1550" spc="13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is</a:t>
            </a:r>
            <a:r>
              <a:rPr sz="1550" spc="14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550" spc="13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maximum.</a:t>
            </a:r>
            <a:r>
              <a:rPr sz="1550" spc="13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9" dirty="0">
                <a:solidFill>
                  <a:srgbClr val="231F20"/>
                </a:solidFill>
                <a:latin typeface="Tahoma"/>
                <a:cs typeface="Tahoma"/>
              </a:rPr>
              <a:t>So,</a:t>
            </a:r>
            <a:r>
              <a:rPr sz="1550" spc="13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Select</a:t>
            </a:r>
            <a:r>
              <a:rPr sz="1550" spc="13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550" spc="14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13" dirty="0">
                <a:solidFill>
                  <a:srgbClr val="231F20"/>
                </a:solidFill>
                <a:latin typeface="Tahoma"/>
                <a:cs typeface="Tahoma"/>
              </a:rPr>
              <a:t>Row</a:t>
            </a:r>
            <a:r>
              <a:rPr sz="1550" spc="11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“X</a:t>
            </a:r>
            <a:r>
              <a:rPr sz="1550" spc="-6" baseline="-20833" dirty="0">
                <a:solidFill>
                  <a:srgbClr val="231F20"/>
                </a:solidFill>
                <a:latin typeface="Tahoma"/>
                <a:cs typeface="Tahoma"/>
              </a:rPr>
              <a:t>1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”</a:t>
            </a:r>
            <a:r>
              <a:rPr lang="en-US" sz="1550" spc="-4" dirty="0">
                <a:solidFill>
                  <a:srgbClr val="231F20"/>
                </a:solidFill>
                <a:latin typeface="Tahoma"/>
                <a:cs typeface="Tahoma"/>
              </a:rPr>
              <a:t> 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as</a:t>
            </a:r>
            <a:r>
              <a:rPr sz="1550" spc="-1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550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Source</a:t>
            </a:r>
            <a:r>
              <a:rPr sz="1550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row</a:t>
            </a:r>
            <a:r>
              <a:rPr sz="1550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for</a:t>
            </a:r>
            <a:r>
              <a:rPr sz="1550" spc="-2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developing</a:t>
            </a:r>
            <a:r>
              <a:rPr sz="1550" spc="2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first</a:t>
            </a:r>
            <a:r>
              <a:rPr sz="1550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cut.</a:t>
            </a:r>
            <a:endParaRPr lang="en-US" sz="1550">
              <a:latin typeface="Tahoma"/>
              <a:ea typeface="Tahoma"/>
              <a:cs typeface="Tahoma"/>
            </a:endParaRPr>
          </a:p>
          <a:p>
            <a:pPr marL="936625" lvl="2" algn="just">
              <a:spcBef>
                <a:spcPts val="88"/>
              </a:spcBef>
            </a:pPr>
            <a:r>
              <a:rPr lang="en-US" sz="1600" spc="-4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X</a:t>
            </a:r>
            <a:r>
              <a:rPr lang="en-US" sz="1600" spc="-4" baseline="-25000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1 </a:t>
            </a:r>
            <a:r>
              <a:rPr lang="en-US" sz="1600" spc="-4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– 1/7S</a:t>
            </a:r>
            <a:r>
              <a:rPr lang="en-US" sz="1600" spc="-4" baseline="-25000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1 </a:t>
            </a:r>
            <a:r>
              <a:rPr lang="en-US" sz="1600" spc="-4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+ 2/7S</a:t>
            </a:r>
            <a:r>
              <a:rPr lang="en-US" sz="1600" spc="-4" baseline="-25000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2</a:t>
            </a:r>
            <a:r>
              <a:rPr lang="en-US" sz="1550" spc="-4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 = 12/7</a:t>
            </a:r>
            <a:endParaRPr lang="en-US" sz="1600" spc="-4" dirty="0">
              <a:solidFill>
                <a:srgbClr val="231F20"/>
              </a:solidFill>
              <a:latin typeface="Tahoma"/>
              <a:ea typeface="Tahoma"/>
              <a:cs typeface="Tahoma"/>
            </a:endParaRPr>
          </a:p>
          <a:p>
            <a:pPr marL="936625" lvl="2" algn="just">
              <a:spcBef>
                <a:spcPts val="88"/>
              </a:spcBef>
            </a:pPr>
            <a:r>
              <a:rPr lang="en-US" sz="1600" spc="-4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(1+0)X</a:t>
            </a:r>
            <a:r>
              <a:rPr lang="en-US" sz="1600" spc="-4" baseline="-25000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1 </a:t>
            </a:r>
            <a:r>
              <a:rPr lang="en-US" sz="1600" spc="-4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+ (-1+6/7)S</a:t>
            </a:r>
            <a:r>
              <a:rPr lang="en-US" sz="1600" spc="-4" baseline="-25000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1 </a:t>
            </a:r>
            <a:r>
              <a:rPr lang="en-US" sz="1600" spc="-4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+ (0+2/7)S</a:t>
            </a:r>
            <a:r>
              <a:rPr lang="en-US" sz="1600" spc="-4" baseline="-25000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2</a:t>
            </a:r>
            <a:r>
              <a:rPr lang="en-US" sz="1600" spc="-4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 = 1+5/7</a:t>
            </a:r>
            <a:endParaRPr lang="en-US" dirty="0"/>
          </a:p>
          <a:p>
            <a:pPr marL="936625" lvl="2" algn="just">
              <a:spcBef>
                <a:spcPts val="88"/>
              </a:spcBef>
            </a:pPr>
            <a:r>
              <a:rPr lang="en-US" sz="1600" spc="-4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      0     +       6/7     +      2/7      &gt;=  5/7</a:t>
            </a:r>
          </a:p>
          <a:p>
            <a:pPr marL="936625" lvl="2" algn="just">
              <a:spcBef>
                <a:spcPts val="88"/>
              </a:spcBef>
            </a:pPr>
            <a:r>
              <a:rPr lang="en-US" sz="1600" spc="-4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      0X</a:t>
            </a:r>
            <a:r>
              <a:rPr lang="en-US" sz="1600" spc="-4" baseline="-25000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1 </a:t>
            </a:r>
            <a:r>
              <a:rPr lang="en-US" sz="1600" spc="-4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 +       6/7S</a:t>
            </a:r>
            <a:r>
              <a:rPr lang="en-US" sz="1600" spc="-4" baseline="-25000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1 </a:t>
            </a:r>
            <a:r>
              <a:rPr lang="en-US" sz="1600" spc="-4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  +      2/7S</a:t>
            </a:r>
            <a:r>
              <a:rPr lang="en-US" sz="1600" spc="-4" baseline="-25000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2</a:t>
            </a:r>
            <a:r>
              <a:rPr lang="en-US" sz="1600" spc="-4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     =   5/7 + S</a:t>
            </a:r>
            <a:r>
              <a:rPr lang="en-US" sz="1600" b="1" spc="-4" baseline="-25000" dirty="0">
                <a:solidFill>
                  <a:srgbClr val="FF0000"/>
                </a:solidFill>
                <a:latin typeface="Tahoma"/>
                <a:ea typeface="Tahoma"/>
                <a:cs typeface="Tahoma"/>
              </a:rPr>
              <a:t>3</a:t>
            </a:r>
            <a:endParaRPr lang="en-US" b="1" baseline="-25000">
              <a:solidFill>
                <a:srgbClr val="FF0000"/>
              </a:solidFill>
            </a:endParaRPr>
          </a:p>
          <a:p>
            <a:pPr marL="936625" lvl="2" algn="just">
              <a:spcBef>
                <a:spcPts val="88"/>
              </a:spcBef>
            </a:pPr>
            <a:endParaRPr lang="en-US" sz="1600" b="1" spc="-4" baseline="-25000" dirty="0">
              <a:solidFill>
                <a:srgbClr val="FF0000"/>
              </a:solidFill>
              <a:latin typeface="Tahoma"/>
              <a:ea typeface="Tahoma"/>
              <a:cs typeface="Tahoma"/>
            </a:endParaRPr>
          </a:p>
          <a:p>
            <a:pPr marL="936625" lvl="2" algn="just">
              <a:spcBef>
                <a:spcPts val="88"/>
              </a:spcBef>
            </a:pPr>
            <a:r>
              <a:rPr lang="en-US" sz="1600" b="1" spc="-4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  –5/7 = S</a:t>
            </a:r>
            <a:r>
              <a:rPr lang="en-US" sz="1600" b="1" spc="-4" baseline="-25000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3 </a:t>
            </a:r>
            <a:r>
              <a:rPr lang="en-US" sz="1600" b="1" spc="-4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– 6/7S</a:t>
            </a:r>
            <a:r>
              <a:rPr lang="en-US" sz="1600" b="1" spc="-4" baseline="-25000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1 </a:t>
            </a:r>
            <a:r>
              <a:rPr lang="en-US" sz="1600" b="1" spc="-4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– 2/7S</a:t>
            </a:r>
            <a:r>
              <a:rPr lang="en-US" sz="1600" b="1" spc="-4" baseline="-25000" dirty="0">
                <a:solidFill>
                  <a:srgbClr val="231F20"/>
                </a:solidFill>
                <a:latin typeface="Tahoma"/>
                <a:ea typeface="Tahoma"/>
                <a:cs typeface="Tahoma"/>
              </a:rPr>
              <a:t>2</a:t>
            </a:r>
            <a:endParaRPr lang="en-US" sz="1600" dirty="0"/>
          </a:p>
          <a:p>
            <a:pPr marL="344805">
              <a:spcBef>
                <a:spcPts val="1941"/>
              </a:spcBef>
            </a:pPr>
            <a:r>
              <a:rPr lang="en-US" sz="1550" dirty="0">
                <a:solidFill>
                  <a:srgbClr val="231F20"/>
                </a:solidFill>
                <a:latin typeface="Tahoma"/>
                <a:cs typeface="Tahoma"/>
              </a:rPr>
              <a:t>This is the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9" dirty="0">
                <a:solidFill>
                  <a:srgbClr val="231F20"/>
                </a:solidFill>
                <a:latin typeface="Tahoma"/>
                <a:cs typeface="Tahoma"/>
              </a:rPr>
              <a:t>fractional</a:t>
            </a:r>
            <a:r>
              <a:rPr sz="1550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cut</a:t>
            </a:r>
            <a:r>
              <a:rPr lang="en-US" sz="1550" spc="-4" dirty="0">
                <a:solidFill>
                  <a:srgbClr val="231F20"/>
                </a:solidFill>
                <a:latin typeface="Tahoma"/>
                <a:cs typeface="Tahoma"/>
              </a:rPr>
              <a:t> proposed by </a:t>
            </a:r>
            <a:r>
              <a:rPr lang="en-US" sz="1600" spc="-4" dirty="0">
                <a:solidFill>
                  <a:srgbClr val="231F20"/>
                </a:solidFill>
                <a:latin typeface="Tahoma"/>
                <a:cs typeface="Tahoma"/>
              </a:rPr>
              <a:t>Gomory</a:t>
            </a:r>
            <a:r>
              <a:rPr lang="en-US" sz="1550" spc="-13" dirty="0">
                <a:solidFill>
                  <a:srgbClr val="231F20"/>
                </a:solidFill>
                <a:latin typeface="Tahoma"/>
                <a:cs typeface="Tahoma"/>
              </a:rPr>
              <a:t> 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:</a:t>
            </a:r>
            <a:endParaRPr sz="1550" dirty="0">
              <a:latin typeface="Tahoma"/>
              <a:ea typeface="Tahoma"/>
              <a:cs typeface="Tahoma"/>
            </a:endParaRPr>
          </a:p>
          <a:p>
            <a:pPr marL="1151890" algn="just">
              <a:lnSpc>
                <a:spcPts val="2060"/>
              </a:lnSpc>
              <a:spcBef>
                <a:spcPts val="4"/>
              </a:spcBef>
            </a:pPr>
            <a:r>
              <a:rPr dirty="0">
                <a:solidFill>
                  <a:srgbClr val="231F20"/>
                </a:solidFill>
                <a:latin typeface="Tahoma"/>
                <a:cs typeface="Tahoma"/>
              </a:rPr>
              <a:t>–f</a:t>
            </a:r>
            <a:r>
              <a:rPr baseline="-21367" dirty="0">
                <a:solidFill>
                  <a:srgbClr val="231F20"/>
                </a:solidFill>
                <a:latin typeface="Tahoma"/>
                <a:cs typeface="Tahoma"/>
              </a:rPr>
              <a:t>i</a:t>
            </a:r>
            <a:r>
              <a:rPr spc="251" baseline="-2136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231F20"/>
                </a:solidFill>
                <a:latin typeface="Tahoma"/>
                <a:cs typeface="Tahoma"/>
              </a:rPr>
              <a:t>=</a:t>
            </a:r>
            <a:r>
              <a:rPr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pc="-4" dirty="0">
                <a:solidFill>
                  <a:srgbClr val="231F20"/>
                </a:solidFill>
                <a:latin typeface="Tahoma"/>
                <a:cs typeface="Tahoma"/>
              </a:rPr>
              <a:t>S</a:t>
            </a:r>
            <a:r>
              <a:rPr spc="-6" baseline="-21367" dirty="0">
                <a:solidFill>
                  <a:srgbClr val="231F20"/>
                </a:solidFill>
                <a:latin typeface="Tahoma"/>
                <a:cs typeface="Tahoma"/>
              </a:rPr>
              <a:t>i</a:t>
            </a:r>
            <a:r>
              <a:rPr spc="271" baseline="-2136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231F20"/>
                </a:solidFill>
                <a:latin typeface="Tahoma"/>
                <a:cs typeface="Tahoma"/>
              </a:rPr>
              <a:t>–</a:t>
            </a:r>
            <a:r>
              <a:rPr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231F20"/>
                </a:solidFill>
                <a:latin typeface="Tahoma"/>
                <a:cs typeface="Tahoma"/>
              </a:rPr>
              <a:t>Summation</a:t>
            </a:r>
            <a:r>
              <a:rPr spc="-3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231F20"/>
                </a:solidFill>
                <a:latin typeface="Tahoma"/>
                <a:cs typeface="Tahoma"/>
              </a:rPr>
              <a:t>((f</a:t>
            </a:r>
            <a:r>
              <a:rPr baseline="-21367" dirty="0">
                <a:solidFill>
                  <a:srgbClr val="231F20"/>
                </a:solidFill>
                <a:latin typeface="Tahoma"/>
                <a:cs typeface="Tahoma"/>
              </a:rPr>
              <a:t>i</a:t>
            </a:r>
            <a:r>
              <a:rPr dirty="0">
                <a:solidFill>
                  <a:srgbClr val="231F20"/>
                </a:solidFill>
                <a:latin typeface="Tahoma"/>
                <a:cs typeface="Tahoma"/>
              </a:rPr>
              <a:t>)(Non–Basic</a:t>
            </a:r>
            <a:r>
              <a:rPr spc="-9" dirty="0">
                <a:solidFill>
                  <a:srgbClr val="231F20"/>
                </a:solidFill>
                <a:latin typeface="Tahoma"/>
                <a:cs typeface="Tahoma"/>
              </a:rPr>
              <a:t> Variable))</a:t>
            </a:r>
            <a:endParaRPr>
              <a:latin typeface="Tahoma"/>
              <a:ea typeface="Tahoma"/>
              <a:cs typeface="Tahoma"/>
            </a:endParaRPr>
          </a:p>
          <a:p>
            <a:pPr marL="1214120" algn="just">
              <a:lnSpc>
                <a:spcPts val="1902"/>
              </a:lnSpc>
            </a:pPr>
            <a:endParaRPr sz="1550" b="1" baseline="-20833" dirty="0">
              <a:solidFill>
                <a:srgbClr val="231F2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846562" y="6891552"/>
            <a:ext cx="243840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9A9D9F"/>
                </a:solidFill>
                <a:latin typeface="Tahoma"/>
                <a:ea typeface="+mn-ea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1285">
              <a:spcBef>
                <a:spcPts val="100"/>
              </a:spcBef>
            </a:pPr>
            <a:fld id="{81D60167-4931-47E6-BA6A-407CBD079E47}" type="slidenum">
              <a:rPr lang="en-IN" smtClean="0"/>
              <a:pPr marL="121285">
                <a:spcBef>
                  <a:spcPts val="100"/>
                </a:spcBef>
              </a:pPr>
              <a:t>9</a:t>
            </a:fld>
            <a:endParaRPr dirty="0"/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31A120FF-9F5D-4B03-539C-1905A5D3E29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6570" y="1187465"/>
            <a:ext cx="8431107" cy="2027473"/>
          </a:xfrm>
          <a:prstGeom prst="rect">
            <a:avLst/>
          </a:prstGeom>
        </p:spPr>
      </p:pic>
      <p:sp>
        <p:nvSpPr>
          <p:cNvPr id="10" name="Arrow: Left 9">
            <a:extLst>
              <a:ext uri="{FF2B5EF4-FFF2-40B4-BE49-F238E27FC236}">
                <a16:creationId xmlns:a16="http://schemas.microsoft.com/office/drawing/2014/main" id="{09A5F1BE-6388-4027-ECB1-0A3367269E25}"/>
              </a:ext>
            </a:extLst>
          </p:cNvPr>
          <p:cNvSpPr/>
          <p:nvPr/>
        </p:nvSpPr>
        <p:spPr>
          <a:xfrm>
            <a:off x="11144249" y="2284676"/>
            <a:ext cx="645583" cy="20108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6798" y="339988"/>
            <a:ext cx="8653399" cy="496064"/>
          </a:xfrm>
          <a:prstGeom prst="rect">
            <a:avLst/>
          </a:prstGeom>
        </p:spPr>
        <p:txBody>
          <a:bodyPr vert="horz" wrap="square" lIns="0" tIns="11206" rIns="0" bIns="0" rtlCol="0" anchor="t">
            <a:spAutoFit/>
          </a:bodyPr>
          <a:lstStyle/>
          <a:p>
            <a:pPr marL="10795">
              <a:lnSpc>
                <a:spcPct val="100000"/>
              </a:lnSpc>
              <a:spcBef>
                <a:spcPts val="88"/>
              </a:spcBef>
            </a:pPr>
            <a:r>
              <a:rPr sz="3150" spc="-4" dirty="0"/>
              <a:t>THE</a:t>
            </a:r>
            <a:r>
              <a:rPr sz="3150" spc="-35" dirty="0"/>
              <a:t> </a:t>
            </a:r>
            <a:r>
              <a:rPr sz="3150" spc="-4" dirty="0"/>
              <a:t>CUTTING–PLANE</a:t>
            </a:r>
            <a:r>
              <a:rPr sz="3150" spc="-22" dirty="0"/>
              <a:t> </a:t>
            </a:r>
            <a:r>
              <a:rPr sz="3150" spc="-4" dirty="0"/>
              <a:t>ALGORITHM</a:t>
            </a:r>
            <a:r>
              <a:rPr lang="en-US" sz="3150" spc="-4" dirty="0"/>
              <a:t> </a:t>
            </a:r>
            <a:r>
              <a:rPr sz="3150" spc="-4" dirty="0"/>
              <a:t>(</a:t>
            </a:r>
            <a:r>
              <a:rPr sz="3150" spc="-4" dirty="0" err="1"/>
              <a:t>Cont</a:t>
            </a:r>
            <a:r>
              <a:rPr sz="3150" spc="-4" dirty="0"/>
              <a:t>…)</a:t>
            </a:r>
            <a:endParaRPr lang="en-US" sz="3177" dirty="0"/>
          </a:p>
        </p:txBody>
      </p:sp>
      <p:sp>
        <p:nvSpPr>
          <p:cNvPr id="3" name="object 3"/>
          <p:cNvSpPr txBox="1"/>
          <p:nvPr/>
        </p:nvSpPr>
        <p:spPr>
          <a:xfrm>
            <a:off x="678344" y="1166674"/>
            <a:ext cx="10560106" cy="1355273"/>
          </a:xfrm>
          <a:prstGeom prst="rect">
            <a:avLst/>
          </a:prstGeom>
        </p:spPr>
        <p:txBody>
          <a:bodyPr vert="horz" wrap="square" lIns="0" tIns="11206" rIns="0" bIns="0" rtlCol="0" anchor="t">
            <a:spAutoFit/>
          </a:bodyPr>
          <a:lstStyle/>
          <a:p>
            <a:pPr marL="22225" algn="just">
              <a:spcBef>
                <a:spcPts val="88"/>
              </a:spcBef>
            </a:pPr>
            <a:r>
              <a:rPr lang="en-US" sz="1550" b="1" spc="-4" dirty="0">
                <a:solidFill>
                  <a:srgbClr val="231F20"/>
                </a:solidFill>
                <a:latin typeface="Tahoma"/>
                <a:cs typeface="Tahoma"/>
              </a:rPr>
              <a:t>  </a:t>
            </a:r>
            <a:r>
              <a:rPr sz="1550" b="1" spc="-4" dirty="0">
                <a:solidFill>
                  <a:srgbClr val="231F20"/>
                </a:solidFill>
                <a:latin typeface="Tahoma"/>
                <a:cs typeface="Tahoma"/>
              </a:rPr>
              <a:t>STEP</a:t>
            </a:r>
            <a:r>
              <a:rPr sz="1550" b="1" spc="17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231F20"/>
                </a:solidFill>
                <a:latin typeface="Tahoma"/>
                <a:cs typeface="Tahoma"/>
              </a:rPr>
              <a:t>#</a:t>
            </a:r>
            <a:r>
              <a:rPr sz="1550" b="1" spc="17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231F20"/>
                </a:solidFill>
                <a:latin typeface="Tahoma"/>
                <a:cs typeface="Tahoma"/>
              </a:rPr>
              <a:t>5:</a:t>
            </a:r>
            <a:r>
              <a:rPr lang="en-US" sz="1550" b="1" spc="168" dirty="0">
                <a:solidFill>
                  <a:srgbClr val="231F20"/>
                </a:solidFill>
                <a:latin typeface="Tahoma"/>
                <a:cs typeface="Tahoma"/>
              </a:rPr>
              <a:t> 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lang="en-US" sz="1550" spc="-4" dirty="0">
                <a:solidFill>
                  <a:srgbClr val="231F20"/>
                </a:solidFill>
                <a:latin typeface="Tahoma"/>
                <a:cs typeface="Tahoma"/>
              </a:rPr>
              <a:t> </a:t>
            </a:r>
            <a:r>
              <a:rPr sz="1550" spc="-9" dirty="0">
                <a:solidFill>
                  <a:srgbClr val="231F20"/>
                </a:solidFill>
                <a:latin typeface="Tahoma"/>
                <a:cs typeface="Tahoma"/>
              </a:rPr>
              <a:t>fractional</a:t>
            </a:r>
            <a:r>
              <a:rPr sz="1550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cut</a:t>
            </a:r>
            <a:r>
              <a:rPr sz="1550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is:</a:t>
            </a:r>
            <a:endParaRPr lang="en-US" sz="1550" dirty="0">
              <a:latin typeface="Tahoma"/>
              <a:ea typeface="Tahoma"/>
              <a:cs typeface="Tahoma"/>
            </a:endParaRPr>
          </a:p>
          <a:p>
            <a:pPr marL="1151890" algn="just">
              <a:lnSpc>
                <a:spcPts val="2060"/>
              </a:lnSpc>
              <a:spcBef>
                <a:spcPts val="4"/>
              </a:spcBef>
            </a:pPr>
            <a:r>
              <a:rPr sz="1721" dirty="0">
                <a:solidFill>
                  <a:srgbClr val="231F20"/>
                </a:solidFill>
                <a:latin typeface="Tahoma"/>
                <a:cs typeface="Tahoma"/>
              </a:rPr>
              <a:t>–f</a:t>
            </a:r>
            <a:r>
              <a:rPr sz="1721" baseline="-21367" dirty="0">
                <a:solidFill>
                  <a:srgbClr val="231F20"/>
                </a:solidFill>
                <a:latin typeface="Tahoma"/>
                <a:cs typeface="Tahoma"/>
              </a:rPr>
              <a:t>i</a:t>
            </a:r>
            <a:r>
              <a:rPr sz="1721" spc="251" baseline="-2136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21" dirty="0">
                <a:solidFill>
                  <a:srgbClr val="231F20"/>
                </a:solidFill>
                <a:latin typeface="Tahoma"/>
                <a:cs typeface="Tahoma"/>
              </a:rPr>
              <a:t>=</a:t>
            </a:r>
            <a:r>
              <a:rPr sz="1721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21" spc="-4" dirty="0">
                <a:solidFill>
                  <a:srgbClr val="231F20"/>
                </a:solidFill>
                <a:latin typeface="Tahoma"/>
                <a:cs typeface="Tahoma"/>
              </a:rPr>
              <a:t>S</a:t>
            </a:r>
            <a:r>
              <a:rPr sz="1721" spc="-6" baseline="-21367" dirty="0">
                <a:solidFill>
                  <a:srgbClr val="231F20"/>
                </a:solidFill>
                <a:latin typeface="Tahoma"/>
                <a:cs typeface="Tahoma"/>
              </a:rPr>
              <a:t>i</a:t>
            </a:r>
            <a:r>
              <a:rPr sz="1721" spc="271" baseline="-2136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21" dirty="0">
                <a:solidFill>
                  <a:srgbClr val="231F20"/>
                </a:solidFill>
                <a:latin typeface="Tahoma"/>
                <a:cs typeface="Tahoma"/>
              </a:rPr>
              <a:t>–</a:t>
            </a:r>
            <a:r>
              <a:rPr sz="1721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21" dirty="0">
                <a:solidFill>
                  <a:srgbClr val="231F20"/>
                </a:solidFill>
                <a:latin typeface="Tahoma"/>
                <a:cs typeface="Tahoma"/>
              </a:rPr>
              <a:t>Summation</a:t>
            </a:r>
            <a:r>
              <a:rPr sz="1721" spc="-3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21" dirty="0">
                <a:solidFill>
                  <a:srgbClr val="231F20"/>
                </a:solidFill>
                <a:latin typeface="Tahoma"/>
                <a:cs typeface="Tahoma"/>
              </a:rPr>
              <a:t>((f</a:t>
            </a:r>
            <a:r>
              <a:rPr sz="1721" baseline="-21367" dirty="0">
                <a:solidFill>
                  <a:srgbClr val="231F20"/>
                </a:solidFill>
                <a:latin typeface="Tahoma"/>
                <a:cs typeface="Tahoma"/>
              </a:rPr>
              <a:t>i</a:t>
            </a:r>
            <a:r>
              <a:rPr sz="1721" dirty="0">
                <a:solidFill>
                  <a:srgbClr val="231F20"/>
                </a:solidFill>
                <a:latin typeface="Tahoma"/>
                <a:cs typeface="Tahoma"/>
              </a:rPr>
              <a:t>)(Non–Basic</a:t>
            </a:r>
            <a:r>
              <a:rPr sz="1721" spc="-9" dirty="0">
                <a:solidFill>
                  <a:srgbClr val="231F20"/>
                </a:solidFill>
                <a:latin typeface="Tahoma"/>
                <a:cs typeface="Tahoma"/>
              </a:rPr>
              <a:t> Variable))</a:t>
            </a:r>
            <a:endParaRPr sz="1721" dirty="0">
              <a:latin typeface="Tahoma"/>
              <a:ea typeface="Tahoma"/>
              <a:cs typeface="Tahoma"/>
            </a:endParaRPr>
          </a:p>
          <a:p>
            <a:pPr marL="1214120" algn="just">
              <a:lnSpc>
                <a:spcPts val="1902"/>
              </a:lnSpc>
            </a:pPr>
            <a:r>
              <a:rPr sz="1550" b="1" dirty="0">
                <a:solidFill>
                  <a:srgbClr val="231F20"/>
                </a:solidFill>
                <a:latin typeface="Tahoma"/>
                <a:cs typeface="Tahoma"/>
              </a:rPr>
              <a:t>–5/7</a:t>
            </a:r>
            <a:r>
              <a:rPr sz="1550" b="1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231F20"/>
                </a:solidFill>
                <a:latin typeface="Tahoma"/>
                <a:cs typeface="Tahoma"/>
              </a:rPr>
              <a:t>=</a:t>
            </a:r>
            <a:r>
              <a:rPr sz="1550" b="1" spc="43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231F20"/>
                </a:solidFill>
                <a:latin typeface="Tahoma"/>
                <a:cs typeface="Tahoma"/>
              </a:rPr>
              <a:t>S</a:t>
            </a:r>
            <a:r>
              <a:rPr sz="1550" b="1" baseline="-20833" dirty="0">
                <a:solidFill>
                  <a:srgbClr val="231F20"/>
                </a:solidFill>
                <a:latin typeface="Tahoma"/>
                <a:cs typeface="Tahoma"/>
              </a:rPr>
              <a:t>3</a:t>
            </a:r>
            <a:r>
              <a:rPr sz="1550" b="1" spc="-33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231F20"/>
                </a:solidFill>
                <a:latin typeface="Tahoma"/>
                <a:cs typeface="Tahoma"/>
              </a:rPr>
              <a:t>–</a:t>
            </a:r>
            <a:r>
              <a:rPr sz="1550" b="1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231F20"/>
                </a:solidFill>
                <a:latin typeface="Tahoma"/>
                <a:cs typeface="Tahoma"/>
              </a:rPr>
              <a:t>6/7S</a:t>
            </a:r>
            <a:r>
              <a:rPr sz="1550" b="1" baseline="-20833" dirty="0">
                <a:solidFill>
                  <a:srgbClr val="231F20"/>
                </a:solidFill>
                <a:latin typeface="Tahoma"/>
                <a:cs typeface="Tahoma"/>
              </a:rPr>
              <a:t>1</a:t>
            </a:r>
            <a:r>
              <a:rPr sz="1550" b="1" spc="-33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231F20"/>
                </a:solidFill>
                <a:latin typeface="Tahoma"/>
                <a:cs typeface="Tahoma"/>
              </a:rPr>
              <a:t>–</a:t>
            </a:r>
            <a:r>
              <a:rPr sz="1550" b="1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231F20"/>
                </a:solidFill>
                <a:latin typeface="Tahoma"/>
                <a:cs typeface="Tahoma"/>
              </a:rPr>
              <a:t>2/7S</a:t>
            </a:r>
            <a:r>
              <a:rPr sz="1550" b="1" baseline="-20833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lang="en-US" sz="1550" b="1" dirty="0">
                <a:solidFill>
                  <a:srgbClr val="231F20"/>
                </a:solidFill>
                <a:latin typeface="Tahoma"/>
                <a:cs typeface="Tahoma"/>
              </a:rPr>
              <a:t>      </a:t>
            </a:r>
            <a:r>
              <a:rPr lang="en-US" sz="1550" dirty="0">
                <a:solidFill>
                  <a:srgbClr val="231F20"/>
                </a:solidFill>
                <a:latin typeface="Tahoma"/>
                <a:cs typeface="Tahoma"/>
              </a:rPr>
              <a:t> ==&gt;  0X1  +0X2  –(6/7)S1  -(2/7)S2  +1S3  = -5/7</a:t>
            </a:r>
            <a:endParaRPr lang="en-US" sz="1600" spc="-4" dirty="0">
              <a:solidFill>
                <a:srgbClr val="231F20"/>
              </a:solidFill>
              <a:latin typeface="Tahoma"/>
              <a:ea typeface="Tahoma"/>
              <a:cs typeface="Tahoma"/>
            </a:endParaRPr>
          </a:p>
          <a:p>
            <a:pPr marL="142875" marR="95885" algn="just">
              <a:spcBef>
                <a:spcPts val="899"/>
              </a:spcBef>
            </a:pPr>
            <a:r>
              <a:rPr lang="en-US" sz="1550" b="1" spc="-4" dirty="0">
                <a:solidFill>
                  <a:srgbClr val="231F20"/>
                </a:solidFill>
                <a:latin typeface="Tahoma"/>
                <a:cs typeface="Tahoma"/>
              </a:rPr>
              <a:t>STEP</a:t>
            </a:r>
            <a:r>
              <a:rPr sz="1550" b="1" spc="-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231F20"/>
                </a:solidFill>
                <a:latin typeface="Tahoma"/>
                <a:cs typeface="Tahoma"/>
              </a:rPr>
              <a:t># 6: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This cut is added to the table which</a:t>
            </a:r>
            <a:r>
              <a:rPr lang="en-US" sz="1550" spc="-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we get </a:t>
            </a:r>
            <a:r>
              <a:rPr sz="1550" spc="-9" dirty="0">
                <a:solidFill>
                  <a:srgbClr val="231F20"/>
                </a:solidFill>
                <a:latin typeface="Tahoma"/>
                <a:cs typeface="Tahoma"/>
              </a:rPr>
              <a:t>in Iteration 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# 2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(Optimal</a:t>
            </a:r>
            <a:r>
              <a:rPr lang="en-US" sz="1550" spc="-4" dirty="0">
                <a:solidFill>
                  <a:srgbClr val="231F20"/>
                </a:solidFill>
                <a:latin typeface="Tahoma"/>
                <a:cs typeface="Tahoma"/>
              </a:rPr>
              <a:t> 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35" dirty="0">
                <a:solidFill>
                  <a:srgbClr val="231F20"/>
                </a:solidFill>
                <a:latin typeface="Tahoma"/>
                <a:cs typeface="Tahoma"/>
              </a:rPr>
              <a:t>Table</a:t>
            </a:r>
            <a:r>
              <a:rPr sz="1550" spc="-3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Solution for 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Linear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Programming</a:t>
            </a:r>
            <a:r>
              <a:rPr lang="en-US" sz="1550" spc="-4" dirty="0">
                <a:solidFill>
                  <a:srgbClr val="231F20"/>
                </a:solidFill>
                <a:latin typeface="Tahoma"/>
                <a:cs typeface="Tahoma"/>
              </a:rPr>
              <a:t>), 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and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further </a:t>
            </a:r>
            <a:r>
              <a:rPr sz="1550" spc="-9" dirty="0">
                <a:solidFill>
                  <a:srgbClr val="231F20"/>
                </a:solidFill>
                <a:latin typeface="Tahoma"/>
                <a:cs typeface="Tahoma"/>
              </a:rPr>
              <a:t>solved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using </a:t>
            </a:r>
            <a:r>
              <a:rPr sz="1550" spc="-4" dirty="0">
                <a:solidFill>
                  <a:srgbClr val="FF0000"/>
                </a:solidFill>
                <a:latin typeface="Tahoma"/>
                <a:cs typeface="Tahoma"/>
              </a:rPr>
              <a:t>dual simplex</a:t>
            </a:r>
            <a:r>
              <a:rPr lang="en-US" sz="1550" spc="-4" dirty="0">
                <a:solidFill>
                  <a:srgbClr val="FF0000"/>
                </a:solidFill>
                <a:latin typeface="Tahoma"/>
                <a:cs typeface="Tahoma"/>
              </a:rPr>
              <a:t> 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method.</a:t>
            </a:r>
            <a:endParaRPr sz="1550" dirty="0">
              <a:latin typeface="Tahoma"/>
              <a:ea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 rot="-60000">
            <a:off x="1719217" y="2663542"/>
            <a:ext cx="7665825" cy="321260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846562" y="6891552"/>
            <a:ext cx="243840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9A9D9F"/>
                </a:solidFill>
                <a:latin typeface="Tahoma"/>
                <a:ea typeface="+mn-ea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1285">
              <a:spcBef>
                <a:spcPts val="100"/>
              </a:spcBef>
            </a:pPr>
            <a:fld id="{81D60167-4931-47E6-BA6A-407CBD079E47}" type="slidenum">
              <a:rPr lang="en-IN" smtClean="0"/>
              <a:pPr marL="121285">
                <a:spcBef>
                  <a:spcPts val="100"/>
                </a:spcBef>
              </a:pPr>
              <a:t>10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8958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2469" y="339988"/>
            <a:ext cx="8880862" cy="496064"/>
          </a:xfrm>
          <a:prstGeom prst="rect">
            <a:avLst/>
          </a:prstGeom>
        </p:spPr>
        <p:txBody>
          <a:bodyPr vert="horz" wrap="square" lIns="0" tIns="11206" rIns="0" bIns="0" rtlCol="0" anchor="t">
            <a:spAutoFit/>
          </a:bodyPr>
          <a:lstStyle/>
          <a:p>
            <a:pPr marL="10795">
              <a:lnSpc>
                <a:spcPct val="100000"/>
              </a:lnSpc>
              <a:spcBef>
                <a:spcPts val="88"/>
              </a:spcBef>
            </a:pPr>
            <a:r>
              <a:rPr sz="3150" spc="-4" dirty="0"/>
              <a:t>THE</a:t>
            </a:r>
            <a:r>
              <a:rPr sz="3150" spc="-35" dirty="0"/>
              <a:t> </a:t>
            </a:r>
            <a:r>
              <a:rPr sz="3150" spc="-4" dirty="0"/>
              <a:t>CUTTING–PLANE</a:t>
            </a:r>
            <a:r>
              <a:rPr sz="3150" spc="-22" dirty="0"/>
              <a:t> </a:t>
            </a:r>
            <a:r>
              <a:rPr sz="3150" spc="-4" dirty="0"/>
              <a:t>ALGORITHM</a:t>
            </a:r>
            <a:r>
              <a:rPr lang="en-US" sz="3150" spc="-4" dirty="0"/>
              <a:t> </a:t>
            </a:r>
            <a:r>
              <a:rPr sz="3150" spc="-4" dirty="0"/>
              <a:t>(</a:t>
            </a:r>
            <a:r>
              <a:rPr sz="3150" spc="-4" dirty="0" err="1"/>
              <a:t>Cont</a:t>
            </a:r>
            <a:r>
              <a:rPr sz="3150" spc="-4" dirty="0"/>
              <a:t>…)</a:t>
            </a:r>
            <a:endParaRPr lang="en-US" sz="3177" dirty="0"/>
          </a:p>
        </p:txBody>
      </p:sp>
      <p:sp>
        <p:nvSpPr>
          <p:cNvPr id="3" name="object 3"/>
          <p:cNvSpPr txBox="1"/>
          <p:nvPr/>
        </p:nvSpPr>
        <p:spPr>
          <a:xfrm>
            <a:off x="1764149" y="960037"/>
            <a:ext cx="7749428" cy="5000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2413" marR="15689">
              <a:spcBef>
                <a:spcPts val="88"/>
              </a:spcBef>
              <a:tabLst>
                <a:tab pos="548557" algn="l"/>
                <a:tab pos="958714" algn="l"/>
                <a:tab pos="1491582" algn="l"/>
                <a:tab pos="1946005" algn="l"/>
                <a:tab pos="3092428" algn="l"/>
                <a:tab pos="3477371" algn="l"/>
                <a:tab pos="3910501" algn="l"/>
                <a:tab pos="4140794" algn="l"/>
                <a:tab pos="5020503" algn="l"/>
                <a:tab pos="5838576" algn="l"/>
                <a:tab pos="6492474" algn="l"/>
                <a:tab pos="7541401" algn="l"/>
              </a:tabLst>
            </a:pP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Only</a:t>
            </a:r>
            <a:r>
              <a:rPr sz="158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t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he</a:t>
            </a:r>
            <a:r>
              <a:rPr sz="158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t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hi</a:t>
            </a:r>
            <a:r>
              <a:rPr sz="1588" spc="-18" dirty="0">
                <a:solidFill>
                  <a:srgbClr val="231F20"/>
                </a:solidFill>
                <a:latin typeface="Tahoma"/>
                <a:cs typeface="Tahoma"/>
              </a:rPr>
              <a:t>r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d</a:t>
            </a:r>
            <a:r>
              <a:rPr sz="158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588" spc="-13" dirty="0">
                <a:solidFill>
                  <a:srgbClr val="231F20"/>
                </a:solidFill>
                <a:latin typeface="Tahoma"/>
                <a:cs typeface="Tahoma"/>
              </a:rPr>
              <a:t>r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ow</a:t>
            </a:r>
            <a:r>
              <a:rPr sz="158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(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C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on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t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aining</a:t>
            </a:r>
            <a:r>
              <a:rPr sz="158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588" spc="-18" dirty="0">
                <a:solidFill>
                  <a:srgbClr val="231F20"/>
                </a:solidFill>
                <a:latin typeface="Tahoma"/>
                <a:cs typeface="Tahoma"/>
              </a:rPr>
              <a:t>S</a:t>
            </a:r>
            <a:r>
              <a:rPr sz="1588" baseline="-20833" dirty="0">
                <a:solidFill>
                  <a:srgbClr val="231F20"/>
                </a:solidFill>
                <a:latin typeface="Tahoma"/>
                <a:cs typeface="Tahoma"/>
              </a:rPr>
              <a:t>3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)</a:t>
            </a:r>
            <a:r>
              <a:rPr sz="158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588" spc="4" dirty="0">
                <a:solidFill>
                  <a:srgbClr val="231F20"/>
                </a:solidFill>
                <a:latin typeface="Tahoma"/>
                <a:cs typeface="Tahoma"/>
              </a:rPr>
              <a:t>h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as</a:t>
            </a:r>
            <a:r>
              <a:rPr sz="158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sz="158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n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e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g</a:t>
            </a:r>
            <a:r>
              <a:rPr sz="1588" spc="4" dirty="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t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i</a:t>
            </a:r>
            <a:r>
              <a:rPr sz="1588" spc="-13" dirty="0">
                <a:solidFill>
                  <a:srgbClr val="231F20"/>
                </a:solidFill>
                <a:latin typeface="Tahoma"/>
                <a:cs typeface="Tahoma"/>
              </a:rPr>
              <a:t>v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e</a:t>
            </a:r>
            <a:r>
              <a:rPr sz="158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s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o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l</a:t>
            </a:r>
            <a:r>
              <a:rPr sz="1588" spc="13" dirty="0">
                <a:solidFill>
                  <a:srgbClr val="231F20"/>
                </a:solidFill>
                <a:latin typeface="Tahoma"/>
                <a:cs typeface="Tahoma"/>
              </a:rPr>
              <a:t>u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t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i</a:t>
            </a:r>
            <a:r>
              <a:rPr sz="1588" spc="-13" dirty="0">
                <a:solidFill>
                  <a:srgbClr val="231F20"/>
                </a:solidFill>
                <a:latin typeface="Tahoma"/>
                <a:cs typeface="Tahoma"/>
              </a:rPr>
              <a:t>o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n</a:t>
            </a:r>
            <a:r>
              <a:rPr sz="158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588" spc="-31" dirty="0">
                <a:solidFill>
                  <a:srgbClr val="231F20"/>
                </a:solidFill>
                <a:latin typeface="Tahoma"/>
                <a:cs typeface="Tahoma"/>
              </a:rPr>
              <a:t>v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alue.</a:t>
            </a:r>
            <a:r>
              <a:rPr sz="158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Th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e</a:t>
            </a:r>
            <a:r>
              <a:rPr sz="1588" spc="-18" dirty="0">
                <a:solidFill>
                  <a:srgbClr val="231F20"/>
                </a:solidFill>
                <a:latin typeface="Tahoma"/>
                <a:cs typeface="Tahoma"/>
              </a:rPr>
              <a:t>r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e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f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o</a:t>
            </a:r>
            <a:r>
              <a:rPr sz="1588" spc="-18" dirty="0">
                <a:solidFill>
                  <a:srgbClr val="231F20"/>
                </a:solidFill>
                <a:latin typeface="Tahoma"/>
                <a:cs typeface="Tahoma"/>
              </a:rPr>
              <a:t>r</a:t>
            </a:r>
            <a:r>
              <a:rPr sz="1588" spc="4" dirty="0">
                <a:solidFill>
                  <a:srgbClr val="231F20"/>
                </a:solidFill>
                <a:latin typeface="Tahoma"/>
                <a:cs typeface="Tahoma"/>
              </a:rPr>
              <a:t>e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,</a:t>
            </a:r>
            <a:r>
              <a:rPr sz="158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S</a:t>
            </a:r>
            <a:r>
              <a:rPr sz="1588" baseline="-20833" dirty="0">
                <a:solidFill>
                  <a:srgbClr val="231F20"/>
                </a:solidFill>
                <a:latin typeface="Tahoma"/>
                <a:cs typeface="Tahoma"/>
              </a:rPr>
              <a:t>3 </a:t>
            </a:r>
            <a:r>
              <a:rPr sz="1588" baseline="-208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(LEAVING</a:t>
            </a:r>
            <a:r>
              <a:rPr sz="1588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Variable)</a:t>
            </a:r>
            <a:r>
              <a:rPr sz="1588" spc="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leaves</a:t>
            </a:r>
            <a:r>
              <a:rPr sz="1588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basis.</a:t>
            </a:r>
            <a:endParaRPr sz="1588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 rot="-60000">
            <a:off x="720191" y="1815353"/>
            <a:ext cx="9140985" cy="268941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22862" y="4992221"/>
            <a:ext cx="4202205" cy="31936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53433" y="4760800"/>
            <a:ext cx="11062033" cy="129684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4826">
              <a:spcBef>
                <a:spcPts val="88"/>
              </a:spcBef>
            </a:pPr>
            <a:r>
              <a:rPr sz="1588" spc="-13" dirty="0">
                <a:solidFill>
                  <a:srgbClr val="231F20"/>
                </a:solidFill>
                <a:latin typeface="Tahoma"/>
                <a:cs typeface="Tahoma"/>
              </a:rPr>
              <a:t>For</a:t>
            </a:r>
            <a:r>
              <a:rPr sz="1588" spc="-4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ENTERING</a:t>
            </a:r>
            <a:r>
              <a:rPr sz="1588" spc="-2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Variable;</a:t>
            </a:r>
            <a:endParaRPr sz="1588" dirty="0">
              <a:latin typeface="Tahoma"/>
              <a:cs typeface="Tahoma"/>
            </a:endParaRPr>
          </a:p>
          <a:p>
            <a:pPr marL="44826"/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Ratio</a:t>
            </a:r>
            <a:r>
              <a:rPr sz="1588" spc="-2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=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 (C</a:t>
            </a:r>
            <a:r>
              <a:rPr sz="1588" spc="-6" baseline="-20833" dirty="0">
                <a:solidFill>
                  <a:srgbClr val="231F20"/>
                </a:solidFill>
                <a:latin typeface="Tahoma"/>
                <a:cs typeface="Tahoma"/>
              </a:rPr>
              <a:t>j</a:t>
            </a:r>
            <a:r>
              <a:rPr sz="1588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–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 Z</a:t>
            </a:r>
            <a:r>
              <a:rPr sz="1588" spc="-6" baseline="-20833" dirty="0">
                <a:solidFill>
                  <a:srgbClr val="231F20"/>
                </a:solidFill>
                <a:latin typeface="Tahoma"/>
                <a:cs typeface="Tahoma"/>
              </a:rPr>
              <a:t>j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)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/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(Pivot</a:t>
            </a:r>
            <a:r>
              <a:rPr sz="1588" spc="-2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13" dirty="0">
                <a:solidFill>
                  <a:srgbClr val="231F20"/>
                </a:solidFill>
                <a:latin typeface="Tahoma"/>
                <a:cs typeface="Tahoma"/>
              </a:rPr>
              <a:t>Row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&lt;0)</a:t>
            </a:r>
            <a:endParaRPr sz="1588" dirty="0">
              <a:latin typeface="Tahoma"/>
              <a:cs typeface="Tahoma"/>
            </a:endParaRPr>
          </a:p>
          <a:p>
            <a:pPr>
              <a:spcBef>
                <a:spcPts val="40"/>
              </a:spcBef>
            </a:pPr>
            <a:endParaRPr sz="3265" dirty="0">
              <a:latin typeface="Tahoma"/>
              <a:cs typeface="Tahoma"/>
            </a:endParaRPr>
          </a:p>
          <a:p>
            <a:pPr marL="44826" marR="38102" indent="-560">
              <a:tabLst>
                <a:tab pos="549118" algn="l"/>
                <a:tab pos="1481496" algn="l"/>
                <a:tab pos="2056949" algn="l"/>
                <a:tab pos="2338792" algn="l"/>
                <a:tab pos="2771363" algn="l"/>
                <a:tab pos="3268930" algn="l"/>
                <a:tab pos="3718310" algn="l"/>
                <a:tab pos="5244633" algn="l"/>
                <a:tab pos="6145073" algn="l"/>
                <a:tab pos="6426356" algn="l"/>
                <a:tab pos="6988921" algn="l"/>
                <a:tab pos="7431577" algn="l"/>
              </a:tabLst>
            </a:pP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T</a:t>
            </a:r>
            <a:r>
              <a:rPr sz="1765" spc="-9" dirty="0">
                <a:solidFill>
                  <a:srgbClr val="231F20"/>
                </a:solidFill>
                <a:latin typeface="Tahoma"/>
                <a:cs typeface="Tahoma"/>
              </a:rPr>
              <a:t>h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e</a:t>
            </a:r>
            <a:r>
              <a:rPr sz="1765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s</a:t>
            </a:r>
            <a:r>
              <a:rPr sz="1765" spc="-9" dirty="0">
                <a:solidFill>
                  <a:srgbClr val="231F20"/>
                </a:solidFill>
                <a:latin typeface="Tahoma"/>
                <a:cs typeface="Tahoma"/>
              </a:rPr>
              <a:t>m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all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e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st</a:t>
            </a:r>
            <a:r>
              <a:rPr sz="1765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765" spc="-35" dirty="0">
                <a:solidFill>
                  <a:srgbClr val="231F20"/>
                </a:solidFill>
                <a:latin typeface="Tahoma"/>
                <a:cs typeface="Tahoma"/>
              </a:rPr>
              <a:t>r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atio</a:t>
            </a:r>
            <a:r>
              <a:rPr sz="1765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i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s</a:t>
            </a:r>
            <a:r>
              <a:rPr sz="1765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“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1”</a:t>
            </a:r>
            <a:r>
              <a:rPr sz="1765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and</a:t>
            </a:r>
            <a:r>
              <a:rPr sz="1765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t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he</a:t>
            </a:r>
            <a:r>
              <a:rPr sz="1765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c</a:t>
            </a:r>
            <a:r>
              <a:rPr sz="1765" spc="-9" dirty="0">
                <a:solidFill>
                  <a:srgbClr val="231F20"/>
                </a:solidFill>
                <a:latin typeface="Tahoma"/>
                <a:cs typeface="Tahoma"/>
              </a:rPr>
              <a:t>o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r</a:t>
            </a:r>
            <a:r>
              <a:rPr sz="1765" spc="-18" dirty="0">
                <a:solidFill>
                  <a:srgbClr val="231F20"/>
                </a:solidFill>
                <a:latin typeface="Tahoma"/>
                <a:cs typeface="Tahoma"/>
              </a:rPr>
              <a:t>r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e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sp</a:t>
            </a:r>
            <a:r>
              <a:rPr sz="1765" spc="-13" dirty="0">
                <a:solidFill>
                  <a:srgbClr val="231F20"/>
                </a:solidFill>
                <a:latin typeface="Tahoma"/>
                <a:cs typeface="Tahoma"/>
              </a:rPr>
              <a:t>o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n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d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ing</a:t>
            </a:r>
            <a:r>
              <a:rPr sz="1765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765" spc="-35" dirty="0">
                <a:solidFill>
                  <a:srgbClr val="231F20"/>
                </a:solidFill>
                <a:latin typeface="Tahoma"/>
                <a:cs typeface="Tahoma"/>
              </a:rPr>
              <a:t>v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r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iable</a:t>
            </a:r>
            <a:r>
              <a:rPr sz="1765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i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s</a:t>
            </a:r>
            <a:r>
              <a:rPr sz="1765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“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S</a:t>
            </a:r>
            <a:r>
              <a:rPr sz="1721" spc="6" baseline="-21367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sz="1765" spc="-180" dirty="0">
                <a:solidFill>
                  <a:srgbClr val="231F20"/>
                </a:solidFill>
                <a:latin typeface="Tahoma"/>
                <a:cs typeface="Tahoma"/>
              </a:rPr>
              <a:t>”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.</a:t>
            </a:r>
            <a:r>
              <a:rPr sz="1765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S</a:t>
            </a:r>
            <a:r>
              <a:rPr sz="1765" spc="-31" dirty="0">
                <a:solidFill>
                  <a:srgbClr val="231F20"/>
                </a:solidFill>
                <a:latin typeface="Tahoma"/>
                <a:cs typeface="Tahoma"/>
              </a:rPr>
              <a:t>o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,</a:t>
            </a:r>
            <a:r>
              <a:rPr sz="1765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t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he </a:t>
            </a:r>
            <a:r>
              <a:rPr sz="17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variable</a:t>
            </a:r>
            <a:r>
              <a:rPr sz="1765" spc="-2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“S</a:t>
            </a:r>
            <a:r>
              <a:rPr sz="1721" baseline="-21367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”</a:t>
            </a:r>
            <a:r>
              <a:rPr sz="1765" spc="-2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enters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765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basis.</a:t>
            </a:r>
            <a:endParaRPr sz="1765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846562" y="6891552"/>
            <a:ext cx="243840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9A9D9F"/>
                </a:solidFill>
                <a:latin typeface="Tahoma"/>
                <a:ea typeface="+mn-ea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1285">
              <a:spcBef>
                <a:spcPts val="100"/>
              </a:spcBef>
            </a:pPr>
            <a:fld id="{81D60167-4931-47E6-BA6A-407CBD079E47}" type="slidenum">
              <a:rPr lang="en-IN" smtClean="0"/>
              <a:pPr marL="121285">
                <a:spcBef>
                  <a:spcPts val="100"/>
                </a:spcBef>
              </a:pPr>
              <a:t>11</a:t>
            </a:fld>
            <a:endParaRPr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E79BF2F-EF7E-6C0D-F978-50E8B08B2869}"/>
              </a:ext>
            </a:extLst>
          </p:cNvPr>
          <p:cNvSpPr/>
          <p:nvPr/>
        </p:nvSpPr>
        <p:spPr>
          <a:xfrm rot="5460000">
            <a:off x="5087563" y="3327496"/>
            <a:ext cx="3616657" cy="727881"/>
          </a:xfrm>
          <a:prstGeom prst="roundRect">
            <a:avLst/>
          </a:prstGeom>
          <a:noFill/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D45EDC9-6437-B04A-194F-AF7B7267498B}"/>
              </a:ext>
            </a:extLst>
          </p:cNvPr>
          <p:cNvSpPr/>
          <p:nvPr/>
        </p:nvSpPr>
        <p:spPr>
          <a:xfrm>
            <a:off x="2952038" y="3409094"/>
            <a:ext cx="6687402" cy="352568"/>
          </a:xfrm>
          <a:prstGeom prst="roundRect">
            <a:avLst/>
          </a:prstGeom>
          <a:noFill/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0917" y="339988"/>
            <a:ext cx="8630653" cy="496064"/>
          </a:xfrm>
          <a:prstGeom prst="rect">
            <a:avLst/>
          </a:prstGeom>
        </p:spPr>
        <p:txBody>
          <a:bodyPr vert="horz" wrap="square" lIns="0" tIns="11206" rIns="0" bIns="0" rtlCol="0" anchor="t">
            <a:spAutoFit/>
          </a:bodyPr>
          <a:lstStyle/>
          <a:p>
            <a:pPr marL="10795">
              <a:lnSpc>
                <a:spcPct val="100000"/>
              </a:lnSpc>
              <a:spcBef>
                <a:spcPts val="88"/>
              </a:spcBef>
            </a:pPr>
            <a:r>
              <a:rPr sz="3150" spc="-4" dirty="0"/>
              <a:t>THE</a:t>
            </a:r>
            <a:r>
              <a:rPr sz="3150" spc="-35" dirty="0"/>
              <a:t> </a:t>
            </a:r>
            <a:r>
              <a:rPr sz="3150" spc="-4" dirty="0"/>
              <a:t>CUTTING–PLANE</a:t>
            </a:r>
            <a:r>
              <a:rPr sz="3150" spc="-22" dirty="0"/>
              <a:t> </a:t>
            </a:r>
            <a:r>
              <a:rPr sz="3150" spc="-4" dirty="0"/>
              <a:t>ALGORITHM</a:t>
            </a:r>
            <a:r>
              <a:rPr lang="en-US" sz="3150" spc="-4" dirty="0"/>
              <a:t> </a:t>
            </a:r>
            <a:r>
              <a:rPr sz="3150" spc="-4" dirty="0"/>
              <a:t>(</a:t>
            </a:r>
            <a:r>
              <a:rPr sz="3150" spc="-4" dirty="0" err="1"/>
              <a:t>Cont</a:t>
            </a:r>
            <a:r>
              <a:rPr sz="3150" spc="-4" dirty="0"/>
              <a:t>…)</a:t>
            </a:r>
            <a:endParaRPr lang="en-US" sz="3150" dirty="0"/>
          </a:p>
        </p:txBody>
      </p:sp>
      <p:sp>
        <p:nvSpPr>
          <p:cNvPr id="3" name="object 3"/>
          <p:cNvSpPr txBox="1"/>
          <p:nvPr/>
        </p:nvSpPr>
        <p:spPr>
          <a:xfrm>
            <a:off x="9486673" y="6080847"/>
            <a:ext cx="170329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4" dirty="0">
                <a:solidFill>
                  <a:srgbClr val="9A9D9F"/>
                </a:solidFill>
                <a:latin typeface="Tahoma"/>
                <a:cs typeface="Tahoma"/>
              </a:rPr>
              <a:t>2</a:t>
            </a:r>
            <a:r>
              <a:rPr sz="1059" dirty="0">
                <a:solidFill>
                  <a:srgbClr val="9A9D9F"/>
                </a:solidFill>
                <a:latin typeface="Tahoma"/>
                <a:cs typeface="Tahoma"/>
              </a:rPr>
              <a:t>5</a:t>
            </a:r>
            <a:endParaRPr sz="1059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58121"/>
              </p:ext>
            </p:extLst>
          </p:nvPr>
        </p:nvGraphicFramePr>
        <p:xfrm>
          <a:off x="920741" y="1157134"/>
          <a:ext cx="10050307" cy="19247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4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6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2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63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2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0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73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0365">
                <a:tc gridSpan="2">
                  <a:txBody>
                    <a:bodyPr/>
                    <a:lstStyle/>
                    <a:p>
                      <a:pPr marL="130810">
                        <a:lnSpc>
                          <a:spcPts val="1920"/>
                        </a:lnSpc>
                        <a:tabLst>
                          <a:tab pos="2573655" algn="l"/>
                        </a:tabLst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Contribution</a:t>
                      </a:r>
                      <a:r>
                        <a:rPr sz="1400" spc="3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2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Per</a:t>
                      </a:r>
                      <a:r>
                        <a:rPr sz="1400" spc="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Unit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j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1955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2326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7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2100" baseline="13888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Bi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175372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Basic</a:t>
                      </a:r>
                      <a:r>
                        <a:rPr sz="1400" spc="-3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Variables</a:t>
                      </a:r>
                      <a:r>
                        <a:rPr sz="1400" spc="-2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(B)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X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X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SOLUTION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X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1955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-</a:t>
                      </a:r>
                      <a:r>
                        <a:rPr sz="1400" spc="-5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1/2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7/2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X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-1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1955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-7/2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5/2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365">
                <a:tc gridSpan="2"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tabLst>
                          <a:tab pos="1162050" algn="l"/>
                        </a:tabLst>
                      </a:pPr>
                      <a:r>
                        <a:rPr sz="1400" spc="-4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Total</a:t>
                      </a:r>
                      <a:r>
                        <a:rPr sz="1400" spc="1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Profit</a:t>
                      </a: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(Z</a:t>
                      </a:r>
                      <a:r>
                        <a:rPr sz="1400" spc="-7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j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)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1955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33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365">
                <a:tc gridSpan="2"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tabLst>
                          <a:tab pos="1663700" algn="l"/>
                        </a:tabLst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Net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Contribution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(C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j</a:t>
                      </a:r>
                      <a:r>
                        <a:rPr sz="1400" spc="209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–</a:t>
                      </a:r>
                      <a:r>
                        <a:rPr sz="1400" spc="-3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Z</a:t>
                      </a:r>
                      <a:r>
                        <a:rPr sz="1400" spc="-7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j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)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-3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-1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2326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54860" y="3401487"/>
            <a:ext cx="10834506" cy="249842"/>
          </a:xfrm>
          <a:prstGeom prst="rect">
            <a:avLst/>
          </a:prstGeom>
        </p:spPr>
        <p:txBody>
          <a:bodyPr vert="horz" wrap="square" lIns="0" tIns="11206" rIns="0" bIns="0" rtlCol="0" anchor="t">
            <a:spAutoFit/>
          </a:bodyPr>
          <a:lstStyle/>
          <a:p>
            <a:pPr marL="33020">
              <a:spcBef>
                <a:spcPts val="88"/>
              </a:spcBef>
            </a:pP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550" spc="20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Solution</a:t>
            </a:r>
            <a:r>
              <a:rPr sz="1550" spc="21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is</a:t>
            </a:r>
            <a:r>
              <a:rPr sz="1550" spc="19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still</a:t>
            </a:r>
            <a:r>
              <a:rPr sz="1550" spc="20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22" dirty="0">
                <a:solidFill>
                  <a:srgbClr val="231F20"/>
                </a:solidFill>
                <a:latin typeface="Tahoma"/>
                <a:cs typeface="Tahoma"/>
              </a:rPr>
              <a:t>non-integer.</a:t>
            </a:r>
            <a:r>
              <a:rPr sz="1550" spc="19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9" dirty="0">
                <a:solidFill>
                  <a:srgbClr val="231F20"/>
                </a:solidFill>
                <a:latin typeface="Tahoma"/>
                <a:cs typeface="Tahoma"/>
              </a:rPr>
              <a:t>So,</a:t>
            </a:r>
            <a:r>
              <a:rPr sz="1550" spc="21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develop</a:t>
            </a:r>
            <a:r>
              <a:rPr sz="1550" spc="23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sz="1550" spc="22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9" dirty="0">
                <a:solidFill>
                  <a:srgbClr val="231F20"/>
                </a:solidFill>
                <a:latin typeface="Tahoma"/>
                <a:cs typeface="Tahoma"/>
              </a:rPr>
              <a:t>fractional</a:t>
            </a:r>
            <a:r>
              <a:rPr sz="1550" spc="21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cut.</a:t>
            </a:r>
            <a:r>
              <a:rPr sz="1550" spc="21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550" spc="21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Basic</a:t>
            </a:r>
            <a:r>
              <a:rPr sz="1550" spc="20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variables</a:t>
            </a:r>
            <a:r>
              <a:rPr sz="1550" spc="21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1550" spc="-6" baseline="-20833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lang="en-US" sz="1550" spc="-6" baseline="-20833" dirty="0">
                <a:solidFill>
                  <a:srgbClr val="231F20"/>
                </a:solidFill>
                <a:latin typeface="Tahoma"/>
                <a:cs typeface="Tahoma"/>
              </a:rPr>
              <a:t> 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and</a:t>
            </a:r>
            <a:r>
              <a:rPr sz="1550" spc="-2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S</a:t>
            </a:r>
            <a:r>
              <a:rPr sz="1550" baseline="-20833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sz="1550" spc="205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are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 not</a:t>
            </a:r>
            <a:r>
              <a:rPr sz="1550" spc="-3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integers.</a:t>
            </a:r>
            <a:endParaRPr lang="en-US" sz="1550"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0917" y="339988"/>
            <a:ext cx="8630653" cy="496064"/>
          </a:xfrm>
          <a:prstGeom prst="rect">
            <a:avLst/>
          </a:prstGeom>
        </p:spPr>
        <p:txBody>
          <a:bodyPr vert="horz" wrap="square" lIns="0" tIns="11206" rIns="0" bIns="0" rtlCol="0" anchor="t">
            <a:spAutoFit/>
          </a:bodyPr>
          <a:lstStyle/>
          <a:p>
            <a:pPr marL="10795">
              <a:lnSpc>
                <a:spcPct val="100000"/>
              </a:lnSpc>
              <a:spcBef>
                <a:spcPts val="88"/>
              </a:spcBef>
            </a:pPr>
            <a:r>
              <a:rPr sz="3150" spc="-4" dirty="0"/>
              <a:t>THE</a:t>
            </a:r>
            <a:r>
              <a:rPr sz="3150" spc="-35" dirty="0"/>
              <a:t> </a:t>
            </a:r>
            <a:r>
              <a:rPr sz="3150" spc="-4" dirty="0"/>
              <a:t>CUTTING–PLANE</a:t>
            </a:r>
            <a:r>
              <a:rPr sz="3150" spc="-22" dirty="0"/>
              <a:t> </a:t>
            </a:r>
            <a:r>
              <a:rPr sz="3150" spc="-4" dirty="0"/>
              <a:t>ALGORITHM</a:t>
            </a:r>
            <a:r>
              <a:rPr lang="en-US" sz="3150" spc="-4" dirty="0"/>
              <a:t> </a:t>
            </a:r>
            <a:r>
              <a:rPr sz="3150" spc="-4" dirty="0"/>
              <a:t>(</a:t>
            </a:r>
            <a:r>
              <a:rPr sz="3150" spc="-4" dirty="0" err="1"/>
              <a:t>Cont</a:t>
            </a:r>
            <a:r>
              <a:rPr sz="3150" spc="-4" dirty="0"/>
              <a:t>…)</a:t>
            </a:r>
            <a:endParaRPr lang="en-US" sz="3150" dirty="0"/>
          </a:p>
        </p:txBody>
      </p:sp>
      <p:sp>
        <p:nvSpPr>
          <p:cNvPr id="3" name="object 3"/>
          <p:cNvSpPr txBox="1"/>
          <p:nvPr/>
        </p:nvSpPr>
        <p:spPr>
          <a:xfrm>
            <a:off x="9486673" y="6080847"/>
            <a:ext cx="170329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4" dirty="0">
                <a:solidFill>
                  <a:srgbClr val="9A9D9F"/>
                </a:solidFill>
                <a:latin typeface="Tahoma"/>
                <a:cs typeface="Tahoma"/>
              </a:rPr>
              <a:t>2</a:t>
            </a:r>
            <a:r>
              <a:rPr sz="1059" dirty="0">
                <a:solidFill>
                  <a:srgbClr val="9A9D9F"/>
                </a:solidFill>
                <a:latin typeface="Tahoma"/>
                <a:cs typeface="Tahoma"/>
              </a:rPr>
              <a:t>5</a:t>
            </a:r>
            <a:endParaRPr sz="1059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0741" y="1157134"/>
          <a:ext cx="10050307" cy="19247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4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6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2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63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2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0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73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0365">
                <a:tc gridSpan="2">
                  <a:txBody>
                    <a:bodyPr/>
                    <a:lstStyle/>
                    <a:p>
                      <a:pPr marL="130810">
                        <a:lnSpc>
                          <a:spcPts val="1920"/>
                        </a:lnSpc>
                        <a:tabLst>
                          <a:tab pos="2573655" algn="l"/>
                        </a:tabLst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Contribution</a:t>
                      </a:r>
                      <a:r>
                        <a:rPr sz="1400" spc="3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2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Per</a:t>
                      </a:r>
                      <a:r>
                        <a:rPr sz="1400" spc="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Unit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j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1955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2326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7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2100" baseline="13888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Bi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175372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Basic</a:t>
                      </a:r>
                      <a:r>
                        <a:rPr sz="1400" spc="-3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Variables</a:t>
                      </a:r>
                      <a:r>
                        <a:rPr sz="1400" spc="-2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(B)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X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X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SOLUTION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X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1955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-</a:t>
                      </a:r>
                      <a:r>
                        <a:rPr sz="1400" spc="-5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1/2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7/2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X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-1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1955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-7/2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5/2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365">
                <a:tc gridSpan="2"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tabLst>
                          <a:tab pos="1162050" algn="l"/>
                        </a:tabLst>
                      </a:pPr>
                      <a:r>
                        <a:rPr sz="1400" spc="-4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Total</a:t>
                      </a:r>
                      <a:r>
                        <a:rPr sz="1400" spc="1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Profit</a:t>
                      </a: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(Z</a:t>
                      </a:r>
                      <a:r>
                        <a:rPr sz="1400" spc="-7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j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)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1955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33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365">
                <a:tc gridSpan="2"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tabLst>
                          <a:tab pos="1663700" algn="l"/>
                        </a:tabLst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Net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Contribution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(C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j</a:t>
                      </a:r>
                      <a:r>
                        <a:rPr sz="1400" spc="209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–</a:t>
                      </a:r>
                      <a:r>
                        <a:rPr sz="1400" spc="-3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Z</a:t>
                      </a:r>
                      <a:r>
                        <a:rPr sz="1400" spc="-7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j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)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-3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-1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2326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20741" y="3429000"/>
            <a:ext cx="956422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b="1" spc="-4" dirty="0">
                <a:solidFill>
                  <a:srgbClr val="231F20"/>
                </a:solidFill>
                <a:latin typeface="Tahoma"/>
                <a:cs typeface="Tahoma"/>
              </a:rPr>
              <a:t>STEP</a:t>
            </a:r>
            <a:r>
              <a:rPr sz="1588" b="1" spc="-7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#4:</a:t>
            </a:r>
            <a:endParaRPr sz="1588" dirty="0">
              <a:latin typeface="Tahoma"/>
              <a:cs typeface="Tahom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590919"/>
              </p:ext>
            </p:extLst>
          </p:nvPr>
        </p:nvGraphicFramePr>
        <p:xfrm>
          <a:off x="2993400" y="3794600"/>
          <a:ext cx="5378821" cy="14257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4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9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5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4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4776">
                <a:tc>
                  <a:txBody>
                    <a:bodyPr/>
                    <a:lstStyle/>
                    <a:p>
                      <a:pPr marL="293370" marR="273050" indent="-127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Basic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Variable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in</a:t>
                      </a:r>
                      <a:r>
                        <a:rPr sz="1600" b="1" spc="-3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the </a:t>
                      </a:r>
                      <a:r>
                        <a:rPr sz="1600" b="1" spc="-509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above</a:t>
                      </a:r>
                      <a:r>
                        <a:rPr sz="1600" b="1" spc="-6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Optimal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table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</a:t>
                      </a:r>
                      <a:r>
                        <a:rPr sz="1600" b="1" baseline="-20833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</a:t>
                      </a:r>
                      <a:endParaRPr sz="1600" baseline="-20833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5924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[b</a:t>
                      </a:r>
                      <a:r>
                        <a:rPr sz="1600" b="1" spc="-7" baseline="-20833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]</a:t>
                      </a:r>
                      <a:r>
                        <a:rPr sz="1600" b="1" spc="-5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+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f</a:t>
                      </a:r>
                      <a:r>
                        <a:rPr sz="1600" b="1" spc="-7" baseline="-20833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</a:t>
                      </a:r>
                      <a:endParaRPr sz="1600" baseline="-20833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206">
                <a:tc>
                  <a:txBody>
                    <a:bodyPr/>
                    <a:lstStyle/>
                    <a:p>
                      <a:pPr marR="133286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X</a:t>
                      </a:r>
                      <a:r>
                        <a:rPr sz="1600" spc="-7" baseline="-20833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600" baseline="-20833" dirty="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7/2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7"/>
                    </a:solidFill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+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7"/>
                    </a:solidFill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1/2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206">
                <a:tc>
                  <a:txBody>
                    <a:bodyPr/>
                    <a:lstStyle/>
                    <a:p>
                      <a:pPr marR="133413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600" baseline="-20833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600" baseline="-20833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5/2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+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1/2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3833147" y="3493681"/>
            <a:ext cx="3944471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b="1" spc="-4" dirty="0">
                <a:solidFill>
                  <a:srgbClr val="231F20"/>
                </a:solidFill>
                <a:latin typeface="Tahoma"/>
                <a:cs typeface="Tahoma"/>
              </a:rPr>
              <a:t>Summary</a:t>
            </a:r>
            <a:r>
              <a:rPr sz="1588" b="1" spc="-4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of</a:t>
            </a:r>
            <a:r>
              <a:rPr sz="1588" b="1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spc="-4" dirty="0">
                <a:solidFill>
                  <a:srgbClr val="231F20"/>
                </a:solidFill>
                <a:latin typeface="Tahoma"/>
                <a:cs typeface="Tahoma"/>
              </a:rPr>
              <a:t>Integer</a:t>
            </a:r>
            <a:r>
              <a:rPr sz="1588" b="1" spc="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&amp;</a:t>
            </a:r>
            <a:r>
              <a:rPr sz="1588" b="1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spc="-4" dirty="0">
                <a:solidFill>
                  <a:srgbClr val="231F20"/>
                </a:solidFill>
                <a:latin typeface="Tahoma"/>
                <a:cs typeface="Tahoma"/>
              </a:rPr>
              <a:t>Fractional</a:t>
            </a:r>
            <a:r>
              <a:rPr sz="1588" b="1" spc="-1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Parts</a:t>
            </a:r>
            <a:endParaRPr sz="1588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0741" y="5265554"/>
            <a:ext cx="9957466" cy="488369"/>
          </a:xfrm>
          <a:prstGeom prst="rect">
            <a:avLst/>
          </a:prstGeom>
        </p:spPr>
        <p:txBody>
          <a:bodyPr vert="horz" wrap="square" lIns="0" tIns="11206" rIns="0" bIns="0" rtlCol="0" anchor="t">
            <a:spAutoFit/>
          </a:bodyPr>
          <a:lstStyle/>
          <a:p>
            <a:pPr marL="33020" marR="26670">
              <a:spcBef>
                <a:spcPts val="88"/>
              </a:spcBef>
            </a:pPr>
            <a:r>
              <a:rPr sz="1550" b="1" spc="-4" dirty="0">
                <a:solidFill>
                  <a:srgbClr val="231F20"/>
                </a:solidFill>
                <a:latin typeface="Tahoma"/>
                <a:cs typeface="Tahoma"/>
              </a:rPr>
              <a:t>STEP</a:t>
            </a:r>
            <a:r>
              <a:rPr sz="1550" b="1" spc="12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231F20"/>
                </a:solidFill>
                <a:latin typeface="Tahoma"/>
                <a:cs typeface="Tahoma"/>
              </a:rPr>
              <a:t>#</a:t>
            </a:r>
            <a:r>
              <a:rPr sz="1550" b="1" spc="11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231F20"/>
                </a:solidFill>
                <a:latin typeface="Tahoma"/>
                <a:cs typeface="Tahoma"/>
              </a:rPr>
              <a:t>5:</a:t>
            </a:r>
            <a:r>
              <a:rPr sz="1550" b="1" spc="11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9" dirty="0">
                <a:solidFill>
                  <a:srgbClr val="231F20"/>
                </a:solidFill>
                <a:latin typeface="Tahoma"/>
                <a:cs typeface="Tahoma"/>
              </a:rPr>
              <a:t>Here,</a:t>
            </a:r>
            <a:r>
              <a:rPr sz="1550" spc="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550" spc="7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9" dirty="0">
                <a:solidFill>
                  <a:srgbClr val="231F20"/>
                </a:solidFill>
                <a:latin typeface="Tahoma"/>
                <a:cs typeface="Tahoma"/>
              </a:rPr>
              <a:t>fractional</a:t>
            </a:r>
            <a:r>
              <a:rPr sz="1550" spc="7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parts</a:t>
            </a:r>
            <a:r>
              <a:rPr sz="1550" spc="9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are</a:t>
            </a:r>
            <a:r>
              <a:rPr sz="1550" spc="7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550" spc="7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same</a:t>
            </a:r>
            <a:r>
              <a:rPr sz="1550" spc="7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for</a:t>
            </a:r>
            <a:r>
              <a:rPr sz="1550" spc="7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1550" spc="-6" baseline="-20833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sz="1550" spc="13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&amp;</a:t>
            </a:r>
            <a:r>
              <a:rPr sz="1550" spc="7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S</a:t>
            </a:r>
            <a:r>
              <a:rPr sz="1550" baseline="-20833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.</a:t>
            </a:r>
            <a:r>
              <a:rPr sz="1550" spc="7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lang="en-US" sz="1550" spc="-4" dirty="0">
                <a:solidFill>
                  <a:srgbClr val="231F20"/>
                </a:solidFill>
                <a:latin typeface="Tahoma"/>
                <a:cs typeface="Tahoma"/>
              </a:rPr>
              <a:t>But,</a:t>
            </a:r>
            <a:r>
              <a:rPr sz="1550" spc="7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we</a:t>
            </a:r>
            <a:r>
              <a:rPr sz="1550" spc="9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9" dirty="0">
                <a:solidFill>
                  <a:srgbClr val="231F20"/>
                </a:solidFill>
                <a:latin typeface="Tahoma"/>
                <a:cs typeface="Tahoma"/>
              </a:rPr>
              <a:t>preferred</a:t>
            </a:r>
            <a:r>
              <a:rPr sz="1550" spc="7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lang="en-US" sz="1550" spc="-4" dirty="0">
                <a:solidFill>
                  <a:srgbClr val="231F20"/>
                </a:solidFill>
                <a:latin typeface="Tahoma"/>
                <a:cs typeface="Tahoma"/>
              </a:rPr>
              <a:t> </a:t>
            </a:r>
            <a:r>
              <a:rPr sz="1550" spc="-48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9" dirty="0">
                <a:solidFill>
                  <a:srgbClr val="231F20"/>
                </a:solidFill>
                <a:latin typeface="Tahoma"/>
                <a:cs typeface="Tahoma"/>
              </a:rPr>
              <a:t>fractional</a:t>
            </a:r>
            <a:r>
              <a:rPr sz="1550" spc="22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part</a:t>
            </a:r>
            <a:r>
              <a:rPr sz="1550" spc="23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of</a:t>
            </a:r>
            <a:r>
              <a:rPr sz="1550" spc="22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lang="en-US" sz="1550" spc="-4" dirty="0">
                <a:solidFill>
                  <a:srgbClr val="231F20"/>
                </a:solidFill>
                <a:latin typeface="Tahoma"/>
                <a:cs typeface="Tahoma"/>
              </a:rPr>
              <a:t> 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1550" spc="-6" baseline="-20833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.</a:t>
            </a:r>
            <a:r>
              <a:rPr sz="1550" spc="22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9" dirty="0">
                <a:solidFill>
                  <a:srgbClr val="231F20"/>
                </a:solidFill>
                <a:latin typeface="Tahoma"/>
                <a:cs typeface="Tahoma"/>
              </a:rPr>
              <a:t>So,</a:t>
            </a:r>
            <a:r>
              <a:rPr sz="1550" spc="21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Select</a:t>
            </a:r>
            <a:r>
              <a:rPr sz="1550" spc="22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550" spc="21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13" dirty="0">
                <a:solidFill>
                  <a:srgbClr val="231F20"/>
                </a:solidFill>
                <a:latin typeface="Tahoma"/>
                <a:cs typeface="Tahoma"/>
              </a:rPr>
              <a:t>Row</a:t>
            </a:r>
            <a:r>
              <a:rPr sz="1550" spc="21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“X</a:t>
            </a:r>
            <a:r>
              <a:rPr sz="1550" spc="-6" baseline="-20833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”</a:t>
            </a:r>
            <a:r>
              <a:rPr sz="1550" spc="21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as</a:t>
            </a:r>
            <a:r>
              <a:rPr sz="1550" spc="22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550" spc="21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Source</a:t>
            </a:r>
            <a:r>
              <a:rPr sz="1550" spc="22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row</a:t>
            </a:r>
            <a:r>
              <a:rPr sz="1550" spc="21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for</a:t>
            </a:r>
            <a:r>
              <a:rPr sz="1550" spc="20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developing</a:t>
            </a:r>
            <a:r>
              <a:rPr lang="en-IN" sz="1550" spc="-4" dirty="0">
                <a:solidFill>
                  <a:srgbClr val="231F20"/>
                </a:solidFill>
                <a:latin typeface="Tahoma"/>
                <a:cs typeface="Tahoma"/>
              </a:rPr>
              <a:t> cut</a:t>
            </a:r>
          </a:p>
        </p:txBody>
      </p:sp>
    </p:spTree>
    <p:extLst>
      <p:ext uri="{BB962C8B-B14F-4D97-AF65-F5344CB8AC3E}">
        <p14:creationId xmlns:p14="http://schemas.microsoft.com/office/powerpoint/2010/main" val="617908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9529" y="339988"/>
            <a:ext cx="10762407" cy="500232"/>
          </a:xfrm>
          <a:prstGeom prst="rect">
            <a:avLst/>
          </a:prstGeom>
        </p:spPr>
        <p:txBody>
          <a:bodyPr vert="horz" wrap="square" lIns="0" tIns="11206" rIns="0" bIns="0" rtlCol="0" anchor="t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3177" spc="-4" dirty="0"/>
              <a:t>THE</a:t>
            </a:r>
            <a:r>
              <a:rPr sz="3177" spc="-35" dirty="0"/>
              <a:t> </a:t>
            </a:r>
            <a:r>
              <a:rPr sz="3177" spc="-4" dirty="0"/>
              <a:t>CUTTING–PLANE</a:t>
            </a:r>
            <a:r>
              <a:rPr sz="3177" spc="-22" dirty="0"/>
              <a:t> </a:t>
            </a:r>
            <a:r>
              <a:rPr sz="3177" spc="-4" dirty="0"/>
              <a:t>ALGORITHM</a:t>
            </a:r>
            <a:r>
              <a:rPr lang="en-IN" sz="3177" dirty="0"/>
              <a:t> </a:t>
            </a:r>
            <a:r>
              <a:rPr sz="3177" spc="-4" dirty="0"/>
              <a:t>(Cont…)</a:t>
            </a:r>
            <a:endParaRPr sz="3177" dirty="0"/>
          </a:p>
        </p:txBody>
      </p:sp>
      <p:sp>
        <p:nvSpPr>
          <p:cNvPr id="3" name="object 3"/>
          <p:cNvSpPr txBox="1"/>
          <p:nvPr/>
        </p:nvSpPr>
        <p:spPr>
          <a:xfrm>
            <a:off x="861480" y="4018028"/>
            <a:ext cx="10050308" cy="1563819"/>
          </a:xfrm>
          <a:prstGeom prst="rect">
            <a:avLst/>
          </a:prstGeom>
        </p:spPr>
        <p:txBody>
          <a:bodyPr vert="horz" wrap="square" lIns="0" tIns="149599" rIns="0" bIns="0" rtlCol="0" anchor="t">
            <a:spAutoFit/>
          </a:bodyPr>
          <a:lstStyle/>
          <a:p>
            <a:pPr marL="617855">
              <a:spcBef>
                <a:spcPts val="1178"/>
              </a:spcBef>
            </a:pP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7/2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=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1588" spc="-6" baseline="-20833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sz="1588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+</a:t>
            </a:r>
            <a:r>
              <a:rPr sz="1588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S</a:t>
            </a:r>
            <a:r>
              <a:rPr sz="1588" baseline="-20833" dirty="0">
                <a:solidFill>
                  <a:srgbClr val="231F20"/>
                </a:solidFill>
                <a:latin typeface="Tahoma"/>
                <a:cs typeface="Tahoma"/>
              </a:rPr>
              <a:t>1</a:t>
            </a:r>
            <a:r>
              <a:rPr sz="1588" spc="-19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–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1/2S</a:t>
            </a:r>
            <a:r>
              <a:rPr sz="1588" spc="-6" baseline="-20833" dirty="0">
                <a:solidFill>
                  <a:srgbClr val="231F20"/>
                </a:solidFill>
                <a:latin typeface="Tahoma"/>
                <a:cs typeface="Tahoma"/>
              </a:rPr>
              <a:t>3</a:t>
            </a:r>
            <a:r>
              <a:rPr sz="1588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dirty="0">
                <a:solidFill>
                  <a:srgbClr val="231F20"/>
                </a:solidFill>
                <a:latin typeface="Wingdings"/>
                <a:cs typeface="Wingdings"/>
              </a:rPr>
              <a:t></a:t>
            </a:r>
            <a:r>
              <a:rPr sz="1588" spc="88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88" dirty="0">
                <a:solidFill>
                  <a:srgbClr val="ED2124"/>
                </a:solidFill>
                <a:latin typeface="Tahoma"/>
                <a:cs typeface="Tahoma"/>
              </a:rPr>
              <a:t>(3+ </a:t>
            </a:r>
            <a:r>
              <a:rPr sz="1588" spc="-4" dirty="0">
                <a:solidFill>
                  <a:srgbClr val="ED2124"/>
                </a:solidFill>
                <a:latin typeface="Tahoma"/>
                <a:cs typeface="Tahoma"/>
              </a:rPr>
              <a:t>1/2)</a:t>
            </a:r>
            <a:r>
              <a:rPr sz="1588" spc="9" dirty="0">
                <a:solidFill>
                  <a:srgbClr val="ED2124"/>
                </a:solidFill>
                <a:latin typeface="Tahoma"/>
                <a:cs typeface="Tahoma"/>
              </a:rPr>
              <a:t> </a:t>
            </a:r>
            <a:r>
              <a:rPr sz="1588" dirty="0">
                <a:solidFill>
                  <a:srgbClr val="ED2124"/>
                </a:solidFill>
                <a:latin typeface="Tahoma"/>
                <a:cs typeface="Tahoma"/>
              </a:rPr>
              <a:t>=</a:t>
            </a:r>
            <a:r>
              <a:rPr sz="1588" spc="9" dirty="0">
                <a:solidFill>
                  <a:srgbClr val="ED2124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ED2124"/>
                </a:solidFill>
                <a:latin typeface="Tahoma"/>
                <a:cs typeface="Tahoma"/>
              </a:rPr>
              <a:t>(1+0)X</a:t>
            </a:r>
            <a:r>
              <a:rPr sz="1588" spc="-6" baseline="-20833" dirty="0">
                <a:solidFill>
                  <a:srgbClr val="ED2124"/>
                </a:solidFill>
                <a:latin typeface="Tahoma"/>
                <a:cs typeface="Tahoma"/>
              </a:rPr>
              <a:t>1</a:t>
            </a:r>
            <a:r>
              <a:rPr sz="1588" spc="13" baseline="-20833" dirty="0">
                <a:solidFill>
                  <a:srgbClr val="ED2124"/>
                </a:solidFill>
                <a:latin typeface="Tahoma"/>
                <a:cs typeface="Tahoma"/>
              </a:rPr>
              <a:t> </a:t>
            </a:r>
            <a:r>
              <a:rPr sz="1588" dirty="0">
                <a:solidFill>
                  <a:srgbClr val="ED2124"/>
                </a:solidFill>
                <a:latin typeface="Tahoma"/>
                <a:cs typeface="Tahoma"/>
              </a:rPr>
              <a:t>+</a:t>
            </a:r>
            <a:r>
              <a:rPr sz="1588" spc="4" dirty="0">
                <a:solidFill>
                  <a:srgbClr val="ED2124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ED2124"/>
                </a:solidFill>
                <a:latin typeface="Tahoma"/>
                <a:cs typeface="Tahoma"/>
              </a:rPr>
              <a:t>(1+0)S</a:t>
            </a:r>
            <a:r>
              <a:rPr sz="1588" spc="-6" baseline="-20833" dirty="0">
                <a:solidFill>
                  <a:srgbClr val="ED2124"/>
                </a:solidFill>
                <a:latin typeface="Tahoma"/>
                <a:cs typeface="Tahoma"/>
              </a:rPr>
              <a:t>1</a:t>
            </a:r>
            <a:r>
              <a:rPr sz="1588" spc="13" baseline="-20833" dirty="0">
                <a:solidFill>
                  <a:srgbClr val="ED2124"/>
                </a:solidFill>
                <a:latin typeface="Tahoma"/>
                <a:cs typeface="Tahoma"/>
              </a:rPr>
              <a:t> </a:t>
            </a:r>
            <a:r>
              <a:rPr sz="1588" dirty="0">
                <a:solidFill>
                  <a:srgbClr val="ED2124"/>
                </a:solidFill>
                <a:latin typeface="Tahoma"/>
                <a:cs typeface="Tahoma"/>
              </a:rPr>
              <a:t>+ </a:t>
            </a:r>
            <a:r>
              <a:rPr sz="1588" spc="-4" dirty="0">
                <a:solidFill>
                  <a:srgbClr val="ED2124"/>
                </a:solidFill>
                <a:latin typeface="Tahoma"/>
                <a:cs typeface="Tahoma"/>
              </a:rPr>
              <a:t>(–1+1/2)S</a:t>
            </a:r>
            <a:r>
              <a:rPr sz="1588" spc="-6" baseline="-20833" dirty="0">
                <a:solidFill>
                  <a:srgbClr val="ED2124"/>
                </a:solidFill>
                <a:latin typeface="Tahoma"/>
                <a:cs typeface="Tahoma"/>
              </a:rPr>
              <a:t>3</a:t>
            </a:r>
            <a:endParaRPr lang="en-US" sz="1588" baseline="-20833" dirty="0">
              <a:latin typeface="Tahoma"/>
              <a:ea typeface="Tahoma"/>
              <a:cs typeface="Tahoma"/>
            </a:endParaRPr>
          </a:p>
          <a:p>
            <a:pPr marL="357505">
              <a:spcBef>
                <a:spcPts val="1090"/>
              </a:spcBef>
            </a:pP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588" spc="-2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Corresponding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fractional</a:t>
            </a:r>
            <a:r>
              <a:rPr sz="1588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cut</a:t>
            </a:r>
            <a:r>
              <a:rPr sz="1588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is:</a:t>
            </a:r>
            <a:endParaRPr sz="1588" dirty="0">
              <a:latin typeface="Tahoma"/>
              <a:ea typeface="Tahoma"/>
              <a:cs typeface="Tahoma"/>
            </a:endParaRPr>
          </a:p>
          <a:p>
            <a:pPr marL="1165225">
              <a:lnSpc>
                <a:spcPts val="2060"/>
              </a:lnSpc>
              <a:spcBef>
                <a:spcPts val="4"/>
              </a:spcBef>
            </a:pPr>
            <a:r>
              <a:rPr sz="1721" dirty="0">
                <a:solidFill>
                  <a:srgbClr val="231F20"/>
                </a:solidFill>
                <a:latin typeface="Tahoma"/>
                <a:cs typeface="Tahoma"/>
              </a:rPr>
              <a:t>–f</a:t>
            </a:r>
            <a:r>
              <a:rPr sz="1721" baseline="-21367" dirty="0">
                <a:solidFill>
                  <a:srgbClr val="231F20"/>
                </a:solidFill>
                <a:latin typeface="Tahoma"/>
                <a:cs typeface="Tahoma"/>
              </a:rPr>
              <a:t>i</a:t>
            </a:r>
            <a:r>
              <a:rPr sz="1721" spc="251" baseline="-2136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21" dirty="0">
                <a:solidFill>
                  <a:srgbClr val="231F20"/>
                </a:solidFill>
                <a:latin typeface="Tahoma"/>
                <a:cs typeface="Tahoma"/>
              </a:rPr>
              <a:t>=</a:t>
            </a:r>
            <a:r>
              <a:rPr sz="1721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21" spc="-4" dirty="0">
                <a:solidFill>
                  <a:srgbClr val="231F20"/>
                </a:solidFill>
                <a:latin typeface="Tahoma"/>
                <a:cs typeface="Tahoma"/>
              </a:rPr>
              <a:t>S</a:t>
            </a:r>
            <a:r>
              <a:rPr sz="1721" spc="-6" baseline="-21367" dirty="0">
                <a:solidFill>
                  <a:srgbClr val="231F20"/>
                </a:solidFill>
                <a:latin typeface="Tahoma"/>
                <a:cs typeface="Tahoma"/>
              </a:rPr>
              <a:t>i</a:t>
            </a:r>
            <a:r>
              <a:rPr sz="1721" spc="271" baseline="-2136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21" dirty="0">
                <a:solidFill>
                  <a:srgbClr val="231F20"/>
                </a:solidFill>
                <a:latin typeface="Tahoma"/>
                <a:cs typeface="Tahoma"/>
              </a:rPr>
              <a:t>–</a:t>
            </a:r>
            <a:r>
              <a:rPr sz="1721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21" dirty="0">
                <a:solidFill>
                  <a:srgbClr val="231F20"/>
                </a:solidFill>
                <a:latin typeface="Tahoma"/>
                <a:cs typeface="Tahoma"/>
              </a:rPr>
              <a:t>Summation</a:t>
            </a:r>
            <a:r>
              <a:rPr sz="1721" spc="-3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21" dirty="0">
                <a:solidFill>
                  <a:srgbClr val="231F20"/>
                </a:solidFill>
                <a:latin typeface="Tahoma"/>
                <a:cs typeface="Tahoma"/>
              </a:rPr>
              <a:t>((f</a:t>
            </a:r>
            <a:r>
              <a:rPr sz="1721" baseline="-21367" dirty="0">
                <a:solidFill>
                  <a:srgbClr val="231F20"/>
                </a:solidFill>
                <a:latin typeface="Tahoma"/>
                <a:cs typeface="Tahoma"/>
              </a:rPr>
              <a:t>i</a:t>
            </a:r>
            <a:r>
              <a:rPr sz="1721" dirty="0">
                <a:solidFill>
                  <a:srgbClr val="231F20"/>
                </a:solidFill>
                <a:latin typeface="Tahoma"/>
                <a:cs typeface="Tahoma"/>
              </a:rPr>
              <a:t>)(Non–Basic</a:t>
            </a:r>
            <a:r>
              <a:rPr sz="1721" spc="-9" dirty="0">
                <a:solidFill>
                  <a:srgbClr val="231F20"/>
                </a:solidFill>
                <a:latin typeface="Tahoma"/>
                <a:cs typeface="Tahoma"/>
              </a:rPr>
              <a:t> Variable))</a:t>
            </a:r>
            <a:endParaRPr sz="1721" dirty="0">
              <a:latin typeface="Tahoma"/>
              <a:ea typeface="Tahoma"/>
              <a:cs typeface="Tahoma"/>
            </a:endParaRPr>
          </a:p>
          <a:p>
            <a:pPr marL="1226820">
              <a:lnSpc>
                <a:spcPts val="1902"/>
              </a:lnSpc>
              <a:tabLst>
                <a:tab pos="2071518" algn="l"/>
              </a:tabLst>
            </a:pP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–1/2</a:t>
            </a:r>
            <a:r>
              <a:rPr sz="1588" b="1" spc="-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=</a:t>
            </a:r>
            <a:r>
              <a:rPr sz="158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S</a:t>
            </a:r>
            <a:r>
              <a:rPr sz="1588" b="1" baseline="-20833" dirty="0">
                <a:solidFill>
                  <a:srgbClr val="231F20"/>
                </a:solidFill>
                <a:latin typeface="Tahoma"/>
                <a:cs typeface="Tahoma"/>
              </a:rPr>
              <a:t>4</a:t>
            </a:r>
            <a:r>
              <a:rPr sz="1588" b="1" spc="178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–</a:t>
            </a:r>
            <a:r>
              <a:rPr sz="1588" b="1" spc="-2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1/2S</a:t>
            </a:r>
            <a:r>
              <a:rPr sz="1588" b="1" baseline="-20833" dirty="0">
                <a:solidFill>
                  <a:srgbClr val="231F20"/>
                </a:solidFill>
                <a:latin typeface="Tahoma"/>
                <a:cs typeface="Tahoma"/>
              </a:rPr>
              <a:t>3</a:t>
            </a:r>
            <a:endParaRPr sz="1588" baseline="-20833" dirty="0">
              <a:latin typeface="Tahoma"/>
              <a:ea typeface="Tahoma"/>
              <a:cs typeface="Tahoma"/>
            </a:endParaRPr>
          </a:p>
          <a:p>
            <a:pPr marL="22225" marR="15240">
              <a:spcBef>
                <a:spcPts val="163"/>
              </a:spcBef>
            </a:pPr>
            <a:endParaRPr sz="1550" spc="-4" dirty="0">
              <a:solidFill>
                <a:srgbClr val="231F20"/>
              </a:solidFill>
              <a:latin typeface="Tahoma"/>
              <a:ea typeface="Tahoma"/>
              <a:cs typeface="Tahoma"/>
            </a:endParaRP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87659A05-02FE-2E90-8F32-F74FBD6172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375443"/>
              </p:ext>
            </p:extLst>
          </p:nvPr>
        </p:nvGraphicFramePr>
        <p:xfrm>
          <a:off x="920741" y="1125603"/>
          <a:ext cx="10050307" cy="19247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4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6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2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63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2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0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73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0365">
                <a:tc gridSpan="2">
                  <a:txBody>
                    <a:bodyPr/>
                    <a:lstStyle/>
                    <a:p>
                      <a:pPr marL="130810">
                        <a:lnSpc>
                          <a:spcPts val="1920"/>
                        </a:lnSpc>
                        <a:tabLst>
                          <a:tab pos="2573655" algn="l"/>
                        </a:tabLst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Contribution</a:t>
                      </a:r>
                      <a:r>
                        <a:rPr sz="1400" spc="3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2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Per</a:t>
                      </a:r>
                      <a:r>
                        <a:rPr sz="1400" spc="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Unit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j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1955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2326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7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2100" baseline="13888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Bi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175372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Basic</a:t>
                      </a:r>
                      <a:r>
                        <a:rPr sz="1400" spc="-3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Variables</a:t>
                      </a:r>
                      <a:r>
                        <a:rPr sz="1400" spc="-2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(B)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X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X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SOLUTION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X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1955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-</a:t>
                      </a:r>
                      <a:r>
                        <a:rPr sz="1400" spc="-5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1/2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7/2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X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-1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1955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-7/2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5/2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365">
                <a:tc gridSpan="2"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tabLst>
                          <a:tab pos="1162050" algn="l"/>
                        </a:tabLst>
                      </a:pPr>
                      <a:r>
                        <a:rPr sz="1400" spc="-4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Total</a:t>
                      </a:r>
                      <a:r>
                        <a:rPr sz="1400" spc="1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Profit</a:t>
                      </a: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(Z</a:t>
                      </a:r>
                      <a:r>
                        <a:rPr sz="1400" spc="-7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j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)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1955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33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365">
                <a:tc gridSpan="2"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tabLst>
                          <a:tab pos="1663700" algn="l"/>
                        </a:tabLst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Net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Contribution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(C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j</a:t>
                      </a:r>
                      <a:r>
                        <a:rPr sz="1400" spc="209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–</a:t>
                      </a:r>
                      <a:r>
                        <a:rPr sz="1400" spc="-3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Z</a:t>
                      </a:r>
                      <a:r>
                        <a:rPr sz="1400" spc="-7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j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)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-3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-1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2326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9">
            <a:extLst>
              <a:ext uri="{FF2B5EF4-FFF2-40B4-BE49-F238E27FC236}">
                <a16:creationId xmlns:a16="http://schemas.microsoft.com/office/drawing/2014/main" id="{0DDF850C-CE2C-D1A7-97E5-BB8B622B7938}"/>
              </a:ext>
            </a:extLst>
          </p:cNvPr>
          <p:cNvSpPr txBox="1"/>
          <p:nvPr/>
        </p:nvSpPr>
        <p:spPr>
          <a:xfrm>
            <a:off x="861480" y="3529659"/>
            <a:ext cx="9957466" cy="488369"/>
          </a:xfrm>
          <a:prstGeom prst="rect">
            <a:avLst/>
          </a:prstGeom>
        </p:spPr>
        <p:txBody>
          <a:bodyPr vert="horz" wrap="square" lIns="0" tIns="11206" rIns="0" bIns="0" rtlCol="0" anchor="t">
            <a:spAutoFit/>
          </a:bodyPr>
          <a:lstStyle/>
          <a:p>
            <a:pPr marL="33020" marR="26670">
              <a:spcBef>
                <a:spcPts val="88"/>
              </a:spcBef>
            </a:pPr>
            <a:r>
              <a:rPr sz="1550" b="1" spc="-4" dirty="0">
                <a:solidFill>
                  <a:srgbClr val="231F20"/>
                </a:solidFill>
                <a:latin typeface="Tahoma"/>
                <a:cs typeface="Tahoma"/>
              </a:rPr>
              <a:t>STEP</a:t>
            </a:r>
            <a:r>
              <a:rPr sz="1550" b="1" spc="12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231F20"/>
                </a:solidFill>
                <a:latin typeface="Tahoma"/>
                <a:cs typeface="Tahoma"/>
              </a:rPr>
              <a:t>#</a:t>
            </a:r>
            <a:r>
              <a:rPr sz="1550" b="1" spc="11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231F20"/>
                </a:solidFill>
                <a:latin typeface="Tahoma"/>
                <a:cs typeface="Tahoma"/>
              </a:rPr>
              <a:t>5:</a:t>
            </a:r>
            <a:r>
              <a:rPr sz="1550" b="1" spc="11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9" dirty="0">
                <a:solidFill>
                  <a:srgbClr val="231F20"/>
                </a:solidFill>
                <a:latin typeface="Tahoma"/>
                <a:cs typeface="Tahoma"/>
              </a:rPr>
              <a:t>Here,</a:t>
            </a:r>
            <a:r>
              <a:rPr sz="1550" spc="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550" spc="7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9" dirty="0">
                <a:solidFill>
                  <a:srgbClr val="231F20"/>
                </a:solidFill>
                <a:latin typeface="Tahoma"/>
                <a:cs typeface="Tahoma"/>
              </a:rPr>
              <a:t>fractional</a:t>
            </a:r>
            <a:r>
              <a:rPr sz="1550" spc="7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parts</a:t>
            </a:r>
            <a:r>
              <a:rPr sz="1550" spc="9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are</a:t>
            </a:r>
            <a:r>
              <a:rPr sz="1550" spc="7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550" spc="7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same</a:t>
            </a:r>
            <a:r>
              <a:rPr sz="1550" spc="7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for</a:t>
            </a:r>
            <a:r>
              <a:rPr sz="1550" spc="7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1550" spc="-6" baseline="-20833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sz="1550" spc="13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&amp;</a:t>
            </a:r>
            <a:r>
              <a:rPr sz="1550" spc="7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S</a:t>
            </a:r>
            <a:r>
              <a:rPr sz="1550" baseline="-20833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.</a:t>
            </a:r>
            <a:r>
              <a:rPr sz="1550" spc="7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lang="en-US" sz="1550" spc="-4" dirty="0">
                <a:solidFill>
                  <a:srgbClr val="231F20"/>
                </a:solidFill>
                <a:latin typeface="Tahoma"/>
                <a:cs typeface="Tahoma"/>
              </a:rPr>
              <a:t>But,</a:t>
            </a:r>
            <a:r>
              <a:rPr sz="1550" spc="7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we</a:t>
            </a:r>
            <a:r>
              <a:rPr sz="1550" spc="9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9" dirty="0">
                <a:solidFill>
                  <a:srgbClr val="231F20"/>
                </a:solidFill>
                <a:latin typeface="Tahoma"/>
                <a:cs typeface="Tahoma"/>
              </a:rPr>
              <a:t>preferred</a:t>
            </a:r>
            <a:r>
              <a:rPr sz="1550" spc="7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lang="en-US" sz="1550" spc="-4" dirty="0">
                <a:solidFill>
                  <a:srgbClr val="231F20"/>
                </a:solidFill>
                <a:latin typeface="Tahoma"/>
                <a:cs typeface="Tahoma"/>
              </a:rPr>
              <a:t> </a:t>
            </a:r>
            <a:r>
              <a:rPr sz="1550" spc="-48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9" dirty="0">
                <a:solidFill>
                  <a:srgbClr val="231F20"/>
                </a:solidFill>
                <a:latin typeface="Tahoma"/>
                <a:cs typeface="Tahoma"/>
              </a:rPr>
              <a:t>fractional</a:t>
            </a:r>
            <a:r>
              <a:rPr sz="1550" spc="22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part</a:t>
            </a:r>
            <a:r>
              <a:rPr sz="1550" spc="23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of</a:t>
            </a:r>
            <a:r>
              <a:rPr sz="1550" spc="22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lang="en-US" sz="1550" spc="-4" dirty="0">
                <a:solidFill>
                  <a:srgbClr val="231F20"/>
                </a:solidFill>
                <a:latin typeface="Tahoma"/>
                <a:cs typeface="Tahoma"/>
              </a:rPr>
              <a:t> 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1550" spc="-6" baseline="-20833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.</a:t>
            </a:r>
            <a:r>
              <a:rPr sz="1550" spc="22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9" dirty="0">
                <a:solidFill>
                  <a:srgbClr val="231F20"/>
                </a:solidFill>
                <a:latin typeface="Tahoma"/>
                <a:cs typeface="Tahoma"/>
              </a:rPr>
              <a:t>So,</a:t>
            </a:r>
            <a:r>
              <a:rPr sz="1550" spc="21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Select</a:t>
            </a:r>
            <a:r>
              <a:rPr sz="1550" spc="22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550" spc="21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13" dirty="0">
                <a:solidFill>
                  <a:srgbClr val="231F20"/>
                </a:solidFill>
                <a:latin typeface="Tahoma"/>
                <a:cs typeface="Tahoma"/>
              </a:rPr>
              <a:t>Row</a:t>
            </a:r>
            <a:r>
              <a:rPr sz="1550" spc="21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“X</a:t>
            </a:r>
            <a:r>
              <a:rPr sz="1550" spc="-6" baseline="-20833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”</a:t>
            </a:r>
            <a:r>
              <a:rPr sz="1550" spc="21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as</a:t>
            </a:r>
            <a:r>
              <a:rPr sz="1550" spc="22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550" spc="21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Source</a:t>
            </a:r>
            <a:r>
              <a:rPr sz="1550" spc="22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row</a:t>
            </a:r>
            <a:r>
              <a:rPr sz="1550" spc="21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for</a:t>
            </a:r>
            <a:r>
              <a:rPr sz="1550" spc="20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developing</a:t>
            </a:r>
            <a:r>
              <a:rPr lang="en-IN" sz="1550" spc="-4" dirty="0">
                <a:solidFill>
                  <a:srgbClr val="231F20"/>
                </a:solidFill>
                <a:latin typeface="Tahoma"/>
                <a:cs typeface="Tahoma"/>
              </a:rPr>
              <a:t> cut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3081" y="342682"/>
            <a:ext cx="10762407" cy="500232"/>
          </a:xfrm>
          <a:prstGeom prst="rect">
            <a:avLst/>
          </a:prstGeom>
        </p:spPr>
        <p:txBody>
          <a:bodyPr vert="horz" wrap="square" lIns="0" tIns="11206" rIns="0" bIns="0" rtlCol="0" anchor="t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3177" spc="-4" dirty="0"/>
              <a:t>THE</a:t>
            </a:r>
            <a:r>
              <a:rPr sz="3177" spc="-35" dirty="0"/>
              <a:t> </a:t>
            </a:r>
            <a:r>
              <a:rPr sz="3177" spc="-4" dirty="0"/>
              <a:t>CUTTING–PLANE</a:t>
            </a:r>
            <a:r>
              <a:rPr sz="3177" spc="-22" dirty="0"/>
              <a:t> </a:t>
            </a:r>
            <a:r>
              <a:rPr sz="3177" spc="-4" dirty="0"/>
              <a:t>ALGORITHM</a:t>
            </a:r>
            <a:r>
              <a:rPr lang="en-IN" sz="3177" dirty="0"/>
              <a:t> </a:t>
            </a:r>
            <a:r>
              <a:rPr sz="3177" spc="-4" dirty="0"/>
              <a:t>(Cont…)</a:t>
            </a:r>
            <a:endParaRPr sz="3177" dirty="0"/>
          </a:p>
        </p:txBody>
      </p:sp>
      <p:sp>
        <p:nvSpPr>
          <p:cNvPr id="3" name="object 3"/>
          <p:cNvSpPr txBox="1"/>
          <p:nvPr/>
        </p:nvSpPr>
        <p:spPr>
          <a:xfrm>
            <a:off x="736376" y="1083759"/>
            <a:ext cx="10050308" cy="664727"/>
          </a:xfrm>
          <a:prstGeom prst="rect">
            <a:avLst/>
          </a:prstGeom>
        </p:spPr>
        <p:txBody>
          <a:bodyPr vert="horz" wrap="square" lIns="0" tIns="149599" rIns="0" bIns="0" rtlCol="0" anchor="t">
            <a:spAutoFit/>
          </a:bodyPr>
          <a:lstStyle/>
          <a:p>
            <a:pPr marL="1226820">
              <a:lnSpc>
                <a:spcPts val="1902"/>
              </a:lnSpc>
            </a:pPr>
            <a:r>
              <a:rPr lang="en-IN" sz="1588" b="1" dirty="0">
                <a:solidFill>
                  <a:srgbClr val="231F20"/>
                </a:solidFill>
                <a:latin typeface="Tahoma"/>
                <a:cs typeface="Tahoma"/>
              </a:rPr>
              <a:t>–1/2</a:t>
            </a:r>
            <a:r>
              <a:rPr lang="en-IN" sz="1588" b="1" spc="-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lang="en-IN" sz="1588" b="1" dirty="0">
                <a:solidFill>
                  <a:srgbClr val="231F20"/>
                </a:solidFill>
                <a:latin typeface="Tahoma"/>
                <a:cs typeface="Tahoma"/>
              </a:rPr>
              <a:t>=</a:t>
            </a:r>
            <a:r>
              <a:rPr lang="en-IN" sz="158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lang="en-IN" sz="1588" b="1" dirty="0">
                <a:solidFill>
                  <a:srgbClr val="231F20"/>
                </a:solidFill>
                <a:latin typeface="Tahoma"/>
                <a:cs typeface="Tahoma"/>
              </a:rPr>
              <a:t>S</a:t>
            </a:r>
            <a:r>
              <a:rPr lang="en-IN" sz="1588" b="1" baseline="-20833" dirty="0">
                <a:solidFill>
                  <a:srgbClr val="231F20"/>
                </a:solidFill>
                <a:latin typeface="Tahoma"/>
                <a:cs typeface="Tahoma"/>
              </a:rPr>
              <a:t>4</a:t>
            </a:r>
            <a:r>
              <a:rPr lang="en-IN" sz="1588" b="1" spc="178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lang="en-IN" sz="1588" b="1" dirty="0">
                <a:solidFill>
                  <a:srgbClr val="231F20"/>
                </a:solidFill>
                <a:latin typeface="Tahoma"/>
                <a:cs typeface="Tahoma"/>
              </a:rPr>
              <a:t>–</a:t>
            </a:r>
            <a:r>
              <a:rPr lang="en-IN" sz="1588" b="1" spc="-2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lang="en-IN" sz="1588" b="1" dirty="0">
                <a:solidFill>
                  <a:srgbClr val="231F20"/>
                </a:solidFill>
                <a:latin typeface="Tahoma"/>
                <a:cs typeface="Tahoma"/>
              </a:rPr>
              <a:t>1/2S</a:t>
            </a:r>
            <a:r>
              <a:rPr lang="en-IN" sz="1588" b="1" baseline="-20833" dirty="0">
                <a:solidFill>
                  <a:srgbClr val="231F20"/>
                </a:solidFill>
                <a:latin typeface="Tahoma"/>
                <a:cs typeface="Tahoma"/>
              </a:rPr>
              <a:t>3</a:t>
            </a:r>
            <a:endParaRPr lang="en-IN" sz="1588" baseline="-20833" dirty="0">
              <a:latin typeface="Tahoma"/>
              <a:ea typeface="Tahoma"/>
              <a:cs typeface="Tahoma"/>
            </a:endParaRPr>
          </a:p>
          <a:p>
            <a:pPr marL="22225" marR="15240">
              <a:spcBef>
                <a:spcPts val="163"/>
              </a:spcBef>
            </a:pPr>
            <a:r>
              <a:rPr sz="1550" b="1" spc="-4" dirty="0">
                <a:solidFill>
                  <a:srgbClr val="231F20"/>
                </a:solidFill>
                <a:latin typeface="Tahoma"/>
                <a:cs typeface="Tahoma"/>
              </a:rPr>
              <a:t>STEP</a:t>
            </a:r>
            <a:r>
              <a:rPr sz="1550" b="1" spc="30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231F20"/>
                </a:solidFill>
                <a:latin typeface="Tahoma"/>
                <a:cs typeface="Tahoma"/>
              </a:rPr>
              <a:t>#</a:t>
            </a:r>
            <a:r>
              <a:rPr sz="1550" b="1" spc="30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231F20"/>
                </a:solidFill>
                <a:latin typeface="Tahoma"/>
                <a:cs typeface="Tahoma"/>
              </a:rPr>
              <a:t>6:</a:t>
            </a:r>
            <a:r>
              <a:rPr sz="1550" b="1" spc="29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Th</a:t>
            </a:r>
            <a:r>
              <a:rPr lang="en-IN" sz="1550" spc="-4" dirty="0">
                <a:solidFill>
                  <a:srgbClr val="231F20"/>
                </a:solidFill>
                <a:latin typeface="Tahoma"/>
                <a:cs typeface="Tahoma"/>
              </a:rPr>
              <a:t>is</a:t>
            </a:r>
            <a:r>
              <a:rPr sz="1550" spc="26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9" dirty="0">
                <a:solidFill>
                  <a:srgbClr val="231F20"/>
                </a:solidFill>
                <a:latin typeface="Tahoma"/>
                <a:cs typeface="Tahoma"/>
              </a:rPr>
              <a:t>cut</a:t>
            </a:r>
            <a:r>
              <a:rPr sz="1550" spc="26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is</a:t>
            </a:r>
            <a:r>
              <a:rPr sz="1550" spc="26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added</a:t>
            </a:r>
            <a:r>
              <a:rPr sz="1550" spc="27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to</a:t>
            </a:r>
            <a:r>
              <a:rPr sz="1550" spc="26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lang="en-US" sz="1550" spc="269" dirty="0">
                <a:solidFill>
                  <a:srgbClr val="231F20"/>
                </a:solidFill>
                <a:latin typeface="Tahoma"/>
                <a:cs typeface="Tahoma"/>
              </a:rPr>
              <a:t> simplex</a:t>
            </a:r>
            <a:r>
              <a:rPr lang="en-US" sz="1550" spc="-4" dirty="0">
                <a:solidFill>
                  <a:srgbClr val="231F20"/>
                </a:solidFill>
                <a:latin typeface="Tahoma"/>
                <a:cs typeface="Tahoma"/>
              </a:rPr>
              <a:t> 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table</a:t>
            </a:r>
            <a:r>
              <a:rPr lang="en-US" sz="1550" spc="-4" dirty="0">
                <a:solidFill>
                  <a:srgbClr val="231F20"/>
                </a:solidFill>
                <a:latin typeface="Tahoma"/>
                <a:cs typeface="Tahoma"/>
              </a:rPr>
              <a:t>,</a:t>
            </a:r>
            <a:r>
              <a:rPr sz="1550" spc="26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and</a:t>
            </a:r>
            <a:r>
              <a:rPr sz="1550" spc="27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9" dirty="0">
                <a:solidFill>
                  <a:srgbClr val="231F20"/>
                </a:solidFill>
                <a:latin typeface="Tahoma"/>
                <a:cs typeface="Tahoma"/>
              </a:rPr>
              <a:t>further</a:t>
            </a:r>
            <a:r>
              <a:rPr sz="1550" spc="26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solved</a:t>
            </a:r>
            <a:r>
              <a:rPr sz="1550" spc="27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using</a:t>
            </a:r>
            <a:r>
              <a:rPr sz="1550" spc="27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dual</a:t>
            </a:r>
            <a:r>
              <a:rPr lang="en-US" sz="1550" dirty="0">
                <a:solidFill>
                  <a:srgbClr val="231F20"/>
                </a:solidFill>
                <a:latin typeface="Tahoma"/>
                <a:cs typeface="Tahoma"/>
              </a:rPr>
              <a:t> </a:t>
            </a:r>
            <a:r>
              <a:rPr sz="1550" spc="-48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simplex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method.</a:t>
            </a:r>
            <a:endParaRPr lang="en-IN" sz="1550" dirty="0">
              <a:latin typeface="Tahoma"/>
              <a:ea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529" y="2750050"/>
            <a:ext cx="8604412" cy="22187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79795" y="5552977"/>
            <a:ext cx="4740087" cy="20170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30584" y="5071287"/>
            <a:ext cx="10956616" cy="99555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588" spc="-18" dirty="0">
                <a:solidFill>
                  <a:srgbClr val="231F20"/>
                </a:solidFill>
                <a:latin typeface="Tahoma"/>
                <a:cs typeface="Tahoma"/>
              </a:rPr>
              <a:t>For</a:t>
            </a:r>
            <a:r>
              <a:rPr sz="1588" spc="-2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ENTERING</a:t>
            </a:r>
            <a:r>
              <a:rPr sz="1588" spc="-13" dirty="0">
                <a:solidFill>
                  <a:srgbClr val="231F20"/>
                </a:solidFill>
                <a:latin typeface="Tahoma"/>
                <a:cs typeface="Tahoma"/>
              </a:rPr>
              <a:t> Variable;</a:t>
            </a:r>
            <a:endParaRPr sz="1588" dirty="0">
              <a:latin typeface="Tahoma"/>
              <a:cs typeface="Tahoma"/>
            </a:endParaRPr>
          </a:p>
          <a:p>
            <a:pPr marL="33619"/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Ratio</a:t>
            </a:r>
            <a:r>
              <a:rPr sz="1588" spc="-2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=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 (C</a:t>
            </a:r>
            <a:r>
              <a:rPr sz="1588" spc="-6" baseline="-20833" dirty="0">
                <a:solidFill>
                  <a:srgbClr val="231F20"/>
                </a:solidFill>
                <a:latin typeface="Tahoma"/>
                <a:cs typeface="Tahoma"/>
              </a:rPr>
              <a:t>j</a:t>
            </a:r>
            <a:r>
              <a:rPr sz="1588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–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 Z</a:t>
            </a:r>
            <a:r>
              <a:rPr sz="1588" spc="-6" baseline="-20833" dirty="0">
                <a:solidFill>
                  <a:srgbClr val="231F20"/>
                </a:solidFill>
                <a:latin typeface="Tahoma"/>
                <a:cs typeface="Tahoma"/>
              </a:rPr>
              <a:t>j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)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/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(Pivot</a:t>
            </a:r>
            <a:r>
              <a:rPr sz="1588" spc="-2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13" dirty="0">
                <a:solidFill>
                  <a:srgbClr val="231F20"/>
                </a:solidFill>
                <a:latin typeface="Tahoma"/>
                <a:cs typeface="Tahoma"/>
              </a:rPr>
              <a:t>Row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&lt;0)</a:t>
            </a:r>
            <a:endParaRPr sz="1588" dirty="0">
              <a:latin typeface="Tahoma"/>
              <a:cs typeface="Tahoma"/>
            </a:endParaRPr>
          </a:p>
          <a:p>
            <a:pPr>
              <a:spcBef>
                <a:spcPts val="40"/>
              </a:spcBef>
            </a:pPr>
            <a:endParaRPr sz="1632" dirty="0">
              <a:latin typeface="Tahoma"/>
              <a:cs typeface="Tahoma"/>
            </a:endParaRPr>
          </a:p>
          <a:p>
            <a:pPr marL="33619" marR="26896" indent="-560">
              <a:tabLst>
                <a:tab pos="486922" algn="l"/>
                <a:tab pos="1323485" algn="l"/>
                <a:tab pos="2115783" algn="l"/>
                <a:tab pos="2629601" algn="l"/>
                <a:tab pos="2882307" algn="l"/>
                <a:tab pos="3269491" algn="l"/>
                <a:tab pos="3716069" algn="l"/>
                <a:tab pos="4118381" algn="l"/>
                <a:tab pos="5493416" algn="l"/>
                <a:tab pos="6301964" algn="l"/>
                <a:tab pos="6552429" algn="l"/>
                <a:tab pos="7057281" algn="l"/>
                <a:tab pos="7452309" algn="l"/>
              </a:tabLst>
            </a:pP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T</a:t>
            </a:r>
            <a:r>
              <a:rPr sz="1588" spc="4" dirty="0">
                <a:solidFill>
                  <a:srgbClr val="231F20"/>
                </a:solidFill>
                <a:latin typeface="Tahoma"/>
                <a:cs typeface="Tahoma"/>
              </a:rPr>
              <a:t>h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e</a:t>
            </a:r>
            <a:r>
              <a:rPr sz="158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s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mall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es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t</a:t>
            </a:r>
            <a:r>
              <a:rPr sz="158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po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s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i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t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i</a:t>
            </a:r>
            <a:r>
              <a:rPr sz="1588" spc="-13" dirty="0">
                <a:solidFill>
                  <a:srgbClr val="231F20"/>
                </a:solidFill>
                <a:latin typeface="Tahoma"/>
                <a:cs typeface="Tahoma"/>
              </a:rPr>
              <a:t>v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e</a:t>
            </a:r>
            <a:r>
              <a:rPr sz="158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588" spc="-35" dirty="0">
                <a:solidFill>
                  <a:srgbClr val="231F20"/>
                </a:solidFill>
                <a:latin typeface="Tahoma"/>
                <a:cs typeface="Tahoma"/>
              </a:rPr>
              <a:t>r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t</a:t>
            </a:r>
            <a:r>
              <a:rPr sz="1588" spc="4" dirty="0">
                <a:solidFill>
                  <a:srgbClr val="231F20"/>
                </a:solidFill>
                <a:latin typeface="Tahoma"/>
                <a:cs typeface="Tahoma"/>
              </a:rPr>
              <a:t>i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o</a:t>
            </a:r>
            <a:r>
              <a:rPr sz="158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588" spc="4" dirty="0">
                <a:solidFill>
                  <a:srgbClr val="231F20"/>
                </a:solidFill>
                <a:latin typeface="Tahoma"/>
                <a:cs typeface="Tahoma"/>
              </a:rPr>
              <a:t>i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s</a:t>
            </a:r>
            <a:r>
              <a:rPr sz="158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“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2”</a:t>
            </a:r>
            <a:r>
              <a:rPr sz="158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and</a:t>
            </a:r>
            <a:r>
              <a:rPr sz="158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t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he</a:t>
            </a:r>
            <a:r>
              <a:rPr sz="158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c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o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r</a:t>
            </a:r>
            <a:r>
              <a:rPr sz="1588" spc="-13" dirty="0">
                <a:solidFill>
                  <a:srgbClr val="231F20"/>
                </a:solidFill>
                <a:latin typeface="Tahoma"/>
                <a:cs typeface="Tahoma"/>
              </a:rPr>
              <a:t>r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es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ponding</a:t>
            </a:r>
            <a:r>
              <a:rPr sz="158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588" spc="-31" dirty="0">
                <a:solidFill>
                  <a:srgbClr val="231F20"/>
                </a:solidFill>
                <a:latin typeface="Tahoma"/>
                <a:cs typeface="Tahoma"/>
              </a:rPr>
              <a:t>v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r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ia</a:t>
            </a:r>
            <a:r>
              <a:rPr sz="1588" spc="9" dirty="0">
                <a:solidFill>
                  <a:srgbClr val="231F20"/>
                </a:solidFill>
                <a:latin typeface="Tahoma"/>
                <a:cs typeface="Tahoma"/>
              </a:rPr>
              <a:t>b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le</a:t>
            </a:r>
            <a:r>
              <a:rPr sz="158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i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s</a:t>
            </a:r>
            <a:r>
              <a:rPr sz="158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“</a:t>
            </a:r>
            <a:r>
              <a:rPr sz="1588" spc="4" dirty="0">
                <a:solidFill>
                  <a:srgbClr val="231F20"/>
                </a:solidFill>
                <a:latin typeface="Tahoma"/>
                <a:cs typeface="Tahoma"/>
              </a:rPr>
              <a:t>S</a:t>
            </a:r>
            <a:r>
              <a:rPr sz="1588" baseline="-20833" dirty="0">
                <a:solidFill>
                  <a:srgbClr val="231F20"/>
                </a:solidFill>
                <a:latin typeface="Tahoma"/>
                <a:cs typeface="Tahoma"/>
              </a:rPr>
              <a:t>3</a:t>
            </a:r>
            <a:r>
              <a:rPr sz="1588" spc="-163" dirty="0">
                <a:solidFill>
                  <a:srgbClr val="231F20"/>
                </a:solidFill>
                <a:latin typeface="Tahoma"/>
                <a:cs typeface="Tahoma"/>
              </a:rPr>
              <a:t>”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.</a:t>
            </a:r>
            <a:r>
              <a:rPr sz="158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S</a:t>
            </a:r>
            <a:r>
              <a:rPr sz="1588" spc="-26" dirty="0">
                <a:solidFill>
                  <a:srgbClr val="231F20"/>
                </a:solidFill>
                <a:latin typeface="Tahoma"/>
                <a:cs typeface="Tahoma"/>
              </a:rPr>
              <a:t>o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,</a:t>
            </a:r>
            <a:r>
              <a:rPr sz="158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t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he </a:t>
            </a:r>
            <a:r>
              <a:rPr sz="1588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variable</a:t>
            </a:r>
            <a:r>
              <a:rPr sz="1588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“S</a:t>
            </a:r>
            <a:r>
              <a:rPr sz="1588" baseline="-20833" dirty="0">
                <a:solidFill>
                  <a:srgbClr val="231F20"/>
                </a:solidFill>
                <a:latin typeface="Tahoma"/>
                <a:cs typeface="Tahoma"/>
              </a:rPr>
              <a:t>3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”</a:t>
            </a:r>
            <a:r>
              <a:rPr sz="1588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enters the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basis.</a:t>
            </a:r>
            <a:endParaRPr sz="1588" dirty="0">
              <a:latin typeface="Tahoma"/>
              <a:cs typeface="Tahoma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2AD48ED-C75B-CC28-960C-6E5A0FFA9EEC}"/>
              </a:ext>
            </a:extLst>
          </p:cNvPr>
          <p:cNvSpPr/>
          <p:nvPr/>
        </p:nvSpPr>
        <p:spPr>
          <a:xfrm>
            <a:off x="3270486" y="4138399"/>
            <a:ext cx="6459940" cy="272955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85A994D-523A-7CA4-3E34-F13C617A5964}"/>
              </a:ext>
            </a:extLst>
          </p:cNvPr>
          <p:cNvSpPr/>
          <p:nvPr/>
        </p:nvSpPr>
        <p:spPr>
          <a:xfrm>
            <a:off x="7266010" y="3074300"/>
            <a:ext cx="602776" cy="1876566"/>
          </a:xfrm>
          <a:prstGeom prst="round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767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1277" y="339988"/>
            <a:ext cx="8757744" cy="500232"/>
          </a:xfrm>
          <a:prstGeom prst="rect">
            <a:avLst/>
          </a:prstGeom>
        </p:spPr>
        <p:txBody>
          <a:bodyPr vert="horz" wrap="square" lIns="0" tIns="11206" rIns="0" bIns="0" rtlCol="0" anchor="t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3177" spc="-4" dirty="0"/>
              <a:t>THE</a:t>
            </a:r>
            <a:r>
              <a:rPr sz="3177" spc="-35" dirty="0"/>
              <a:t> </a:t>
            </a:r>
            <a:r>
              <a:rPr sz="3177" spc="-4" dirty="0"/>
              <a:t>CUTTING–PLANE</a:t>
            </a:r>
            <a:r>
              <a:rPr sz="3177" spc="-22" dirty="0"/>
              <a:t> </a:t>
            </a:r>
            <a:r>
              <a:rPr sz="3177" spc="-4" dirty="0"/>
              <a:t>ALGORITHM</a:t>
            </a:r>
            <a:r>
              <a:rPr lang="en-US" sz="3177" dirty="0"/>
              <a:t> </a:t>
            </a:r>
            <a:r>
              <a:rPr sz="3177" spc="-4" dirty="0"/>
              <a:t>(Cont…)</a:t>
            </a:r>
            <a:endParaRPr sz="3177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60652" y="2067386"/>
          <a:ext cx="10252610" cy="21651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7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7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7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20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20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947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40365">
                <a:tc gridSpan="2">
                  <a:txBody>
                    <a:bodyPr/>
                    <a:lstStyle/>
                    <a:p>
                      <a:pPr marL="130810">
                        <a:lnSpc>
                          <a:spcPts val="1920"/>
                        </a:lnSpc>
                        <a:tabLst>
                          <a:tab pos="2319655" algn="l"/>
                        </a:tabLst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Contribution</a:t>
                      </a:r>
                      <a:r>
                        <a:rPr sz="1400" spc="3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2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Per</a:t>
                      </a:r>
                      <a:r>
                        <a:rPr sz="1400" spc="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Unit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j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6540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2326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2326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73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2100" baseline="13888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Bi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175372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Basic</a:t>
                      </a:r>
                      <a:r>
                        <a:rPr sz="1400" spc="-4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Variables</a:t>
                      </a:r>
                      <a:endParaRPr sz="1400">
                        <a:latin typeface="Tahoma"/>
                        <a:cs typeface="Tahoma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(B)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5213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X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X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SOLUTION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3279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X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6540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-1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X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6540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-1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6540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-7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92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400" baseline="-21164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6540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-2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365">
                <a:tc gridSpan="2"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tabLst>
                          <a:tab pos="1162050" algn="l"/>
                        </a:tabLst>
                      </a:pPr>
                      <a:r>
                        <a:rPr sz="1400" spc="-4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Total</a:t>
                      </a:r>
                      <a:r>
                        <a:rPr sz="1400" spc="1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Profit</a:t>
                      </a: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(Z</a:t>
                      </a:r>
                      <a:r>
                        <a:rPr sz="1400" spc="-7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j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)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6540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32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365">
                <a:tc gridSpan="2"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tabLst>
                          <a:tab pos="1663700" algn="l"/>
                        </a:tabLst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Net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Contribution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(C</a:t>
                      </a:r>
                      <a:r>
                        <a:rPr sz="1400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j</a:t>
                      </a:r>
                      <a:r>
                        <a:rPr sz="1400" spc="209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–</a:t>
                      </a:r>
                      <a:r>
                        <a:rPr sz="1400" spc="-3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Z</a:t>
                      </a:r>
                      <a:r>
                        <a:rPr sz="1400" spc="-7" baseline="-21164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j</a:t>
                      </a: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)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6540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-3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2326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-2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2326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865590" y="4457297"/>
            <a:ext cx="7503459" cy="744401"/>
          </a:xfrm>
          <a:prstGeom prst="rect">
            <a:avLst/>
          </a:prstGeom>
        </p:spPr>
        <p:txBody>
          <a:bodyPr vert="horz" wrap="square" lIns="0" tIns="11206" rIns="0" bIns="0" rtlCol="0" anchor="t">
            <a:spAutoFit/>
          </a:bodyPr>
          <a:lstStyle/>
          <a:p>
            <a:pPr marL="33020" marR="26670">
              <a:spcBef>
                <a:spcPts val="88"/>
              </a:spcBef>
            </a:pPr>
            <a:r>
              <a:rPr sz="1550" spc="-9" dirty="0">
                <a:solidFill>
                  <a:srgbClr val="231F20"/>
                </a:solidFill>
                <a:latin typeface="Tahoma"/>
                <a:cs typeface="Tahoma"/>
              </a:rPr>
              <a:t>So,</a:t>
            </a:r>
            <a:r>
              <a:rPr sz="1550" spc="7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550" spc="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9" dirty="0">
                <a:solidFill>
                  <a:srgbClr val="231F20"/>
                </a:solidFill>
                <a:latin typeface="Tahoma"/>
                <a:cs typeface="Tahoma"/>
              </a:rPr>
              <a:t>values</a:t>
            </a:r>
            <a:r>
              <a:rPr sz="1550" spc="7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of</a:t>
            </a:r>
            <a:r>
              <a:rPr sz="1550" spc="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all</a:t>
            </a:r>
            <a:r>
              <a:rPr sz="1550" spc="8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550" spc="8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basic</a:t>
            </a:r>
            <a:r>
              <a:rPr sz="1550" spc="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variables</a:t>
            </a:r>
            <a:r>
              <a:rPr sz="1550" spc="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are</a:t>
            </a:r>
            <a:r>
              <a:rPr sz="1550" spc="9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integers.</a:t>
            </a:r>
            <a:r>
              <a:rPr sz="1550" spc="8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9" dirty="0">
                <a:solidFill>
                  <a:srgbClr val="231F20"/>
                </a:solidFill>
                <a:latin typeface="Tahoma"/>
                <a:cs typeface="Tahoma"/>
              </a:rPr>
              <a:t>So,</a:t>
            </a:r>
            <a:r>
              <a:rPr sz="1550" spc="8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550" spc="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optimality</a:t>
            </a:r>
            <a:r>
              <a:rPr sz="1550" spc="9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is</a:t>
            </a:r>
            <a:r>
              <a:rPr sz="1550" spc="8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reached</a:t>
            </a:r>
            <a:r>
              <a:rPr lang="en-US" sz="1550" spc="-4" dirty="0">
                <a:solidFill>
                  <a:srgbClr val="231F20"/>
                </a:solidFill>
                <a:latin typeface="Tahoma"/>
                <a:cs typeface="Tahoma"/>
              </a:rPr>
              <a:t> </a:t>
            </a:r>
            <a:endParaRPr lang="en-US" sz="1550" dirty="0">
              <a:solidFill>
                <a:srgbClr val="000000"/>
              </a:solidFill>
              <a:latin typeface="Tahoma"/>
              <a:cs typeface="Tahoma"/>
            </a:endParaRPr>
          </a:p>
          <a:p>
            <a:pPr marL="33020" marR="26670">
              <a:spcBef>
                <a:spcPts val="88"/>
              </a:spcBef>
            </a:pPr>
            <a:r>
              <a:rPr lang="en-US" sz="1550" spc="-481" dirty="0">
                <a:solidFill>
                  <a:srgbClr val="231F20"/>
                </a:solidFill>
                <a:latin typeface="Tahoma"/>
                <a:cs typeface="Tahoma"/>
              </a:rPr>
              <a:t> 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and</a:t>
            </a:r>
            <a:r>
              <a:rPr sz="1550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550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corresponding</a:t>
            </a:r>
            <a:r>
              <a:rPr sz="1550" spc="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results</a:t>
            </a:r>
            <a:r>
              <a:rPr sz="1550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are</a:t>
            </a:r>
            <a:r>
              <a:rPr sz="1550" spc="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4" dirty="0">
                <a:solidFill>
                  <a:srgbClr val="231F20"/>
                </a:solidFill>
                <a:latin typeface="Tahoma"/>
                <a:cs typeface="Tahoma"/>
              </a:rPr>
              <a:t>summarized</a:t>
            </a:r>
            <a:r>
              <a:rPr sz="1550" dirty="0">
                <a:solidFill>
                  <a:srgbClr val="231F20"/>
                </a:solidFill>
                <a:latin typeface="Tahoma"/>
                <a:cs typeface="Tahoma"/>
              </a:rPr>
              <a:t> as</a:t>
            </a:r>
            <a:r>
              <a:rPr sz="1550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50" spc="-9" dirty="0">
                <a:solidFill>
                  <a:srgbClr val="231F20"/>
                </a:solidFill>
                <a:latin typeface="Tahoma"/>
                <a:cs typeface="Tahoma"/>
              </a:rPr>
              <a:t>follows:</a:t>
            </a:r>
            <a:endParaRPr lang="en-US" sz="1550">
              <a:latin typeface="Tahoma"/>
              <a:ea typeface="Tahoma"/>
              <a:cs typeface="Tahoma"/>
            </a:endParaRPr>
          </a:p>
          <a:p>
            <a:pPr marL="1902460"/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1588" b="1" baseline="-20833" dirty="0">
                <a:solidFill>
                  <a:srgbClr val="231F20"/>
                </a:solidFill>
                <a:latin typeface="Tahoma"/>
                <a:cs typeface="Tahoma"/>
              </a:rPr>
              <a:t>1</a:t>
            </a:r>
            <a:r>
              <a:rPr sz="1588" b="1" spc="-33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=</a:t>
            </a:r>
            <a:r>
              <a:rPr sz="1588" b="1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0,</a:t>
            </a:r>
            <a:r>
              <a:rPr sz="1588" b="1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1588" b="1" baseline="-20833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sz="1588" b="1" spc="-6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=</a:t>
            </a:r>
            <a:r>
              <a:rPr sz="1588" b="1" spc="-1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4</a:t>
            </a:r>
            <a:r>
              <a:rPr sz="1588" b="1" spc="-4" dirty="0">
                <a:solidFill>
                  <a:srgbClr val="231F20"/>
                </a:solidFill>
                <a:latin typeface="Tahoma"/>
                <a:cs typeface="Tahoma"/>
              </a:rPr>
              <a:t> and 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Z</a:t>
            </a:r>
            <a:r>
              <a:rPr sz="1588" b="1" spc="-4" dirty="0">
                <a:solidFill>
                  <a:srgbClr val="231F20"/>
                </a:solidFill>
                <a:latin typeface="Tahoma"/>
                <a:cs typeface="Tahoma"/>
              </a:rPr>
              <a:t> (Optimum)</a:t>
            </a:r>
            <a:r>
              <a:rPr sz="1588" b="1" spc="-2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=</a:t>
            </a:r>
            <a:r>
              <a:rPr sz="1588" b="1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b="1" dirty="0">
                <a:solidFill>
                  <a:srgbClr val="231F20"/>
                </a:solidFill>
                <a:latin typeface="Tahoma"/>
                <a:cs typeface="Tahoma"/>
              </a:rPr>
              <a:t>32</a:t>
            </a:r>
            <a:endParaRPr sz="1588" dirty="0"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5663" y="413947"/>
            <a:ext cx="7038415" cy="500232"/>
          </a:xfrm>
          <a:prstGeom prst="rect">
            <a:avLst/>
          </a:prstGeom>
        </p:spPr>
        <p:txBody>
          <a:bodyPr vert="horz" wrap="square" lIns="0" tIns="11206" rIns="0" bIns="0" rtlCol="0" anchor="t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3177" spc="-4" dirty="0"/>
              <a:t>THE</a:t>
            </a:r>
            <a:r>
              <a:rPr sz="3177" spc="-35" dirty="0"/>
              <a:t> </a:t>
            </a:r>
            <a:r>
              <a:rPr sz="3177" spc="-4" dirty="0"/>
              <a:t>CUTTING–PLANE</a:t>
            </a:r>
            <a:r>
              <a:rPr sz="3177" spc="-22" dirty="0"/>
              <a:t> </a:t>
            </a:r>
            <a:r>
              <a:rPr sz="3177" spc="-4" dirty="0"/>
              <a:t>ALGORITHM</a:t>
            </a:r>
            <a:endParaRPr sz="3177" dirty="0"/>
          </a:p>
        </p:txBody>
      </p:sp>
      <p:sp>
        <p:nvSpPr>
          <p:cNvPr id="3" name="object 3"/>
          <p:cNvSpPr txBox="1"/>
          <p:nvPr/>
        </p:nvSpPr>
        <p:spPr>
          <a:xfrm>
            <a:off x="9486673" y="6080847"/>
            <a:ext cx="170329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4" dirty="0">
                <a:solidFill>
                  <a:srgbClr val="9A9D9F"/>
                </a:solidFill>
                <a:latin typeface="Tahoma"/>
                <a:cs typeface="Tahoma"/>
              </a:rPr>
              <a:t>1</a:t>
            </a:r>
            <a:r>
              <a:rPr sz="1059" dirty="0">
                <a:solidFill>
                  <a:srgbClr val="9A9D9F"/>
                </a:solidFill>
                <a:latin typeface="Tahoma"/>
                <a:cs typeface="Tahoma"/>
              </a:rPr>
              <a:t>9</a:t>
            </a:r>
            <a:endParaRPr sz="1059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3573" y="1073252"/>
            <a:ext cx="11620163" cy="3599477"/>
          </a:xfrm>
          <a:prstGeom prst="rect">
            <a:avLst/>
          </a:prstGeom>
        </p:spPr>
        <p:txBody>
          <a:bodyPr vert="horz" wrap="square" lIns="0" tIns="11206" rIns="0" bIns="0" rtlCol="0" anchor="t">
            <a:spAutoFit/>
          </a:bodyPr>
          <a:lstStyle/>
          <a:p>
            <a:pPr marL="88900">
              <a:spcBef>
                <a:spcPts val="88"/>
              </a:spcBef>
              <a:tabLst>
                <a:tab pos="516058" algn="l"/>
                <a:tab pos="1636146" algn="l"/>
                <a:tab pos="2074319" algn="l"/>
                <a:tab pos="2927693" algn="l"/>
                <a:tab pos="3541248" algn="l"/>
                <a:tab pos="4399104" algn="l"/>
                <a:tab pos="4931972" algn="l"/>
                <a:tab pos="5687849" algn="l"/>
                <a:tab pos="6545144" algn="l"/>
              </a:tabLst>
            </a:pPr>
            <a:r>
              <a:rPr sz="1600" dirty="0">
                <a:solidFill>
                  <a:srgbClr val="231F20"/>
                </a:solidFill>
                <a:latin typeface="Tahoma"/>
                <a:cs typeface="Tahoma"/>
              </a:rPr>
              <a:t>An</a:t>
            </a:r>
            <a:r>
              <a:rPr sz="1600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600" dirty="0">
                <a:solidFill>
                  <a:srgbClr val="231F20"/>
                </a:solidFill>
                <a:latin typeface="Tahoma"/>
                <a:cs typeface="Tahoma"/>
              </a:rPr>
              <a:t>Algorithm</a:t>
            </a:r>
            <a:r>
              <a:rPr sz="1600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600" spc="-9" dirty="0">
                <a:solidFill>
                  <a:srgbClr val="231F20"/>
                </a:solidFill>
                <a:latin typeface="Tahoma"/>
                <a:cs typeface="Tahoma"/>
              </a:rPr>
              <a:t>for</a:t>
            </a:r>
            <a:r>
              <a:rPr sz="1600" spc="-9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600" dirty="0">
                <a:solidFill>
                  <a:srgbClr val="231F20"/>
                </a:solidFill>
                <a:latin typeface="Tahoma"/>
                <a:cs typeface="Tahoma"/>
              </a:rPr>
              <a:t>solving</a:t>
            </a:r>
            <a:r>
              <a:rPr sz="1600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600" spc="-4" dirty="0">
                <a:solidFill>
                  <a:srgbClr val="231F20"/>
                </a:solidFill>
                <a:latin typeface="Tahoma"/>
                <a:cs typeface="Tahoma"/>
              </a:rPr>
              <a:t>Pure</a:t>
            </a:r>
            <a:r>
              <a:rPr sz="1600" spc="-4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600" spc="-4" dirty="0">
                <a:solidFill>
                  <a:srgbClr val="231F20"/>
                </a:solidFill>
                <a:latin typeface="Tahoma"/>
                <a:cs typeface="Tahoma"/>
              </a:rPr>
              <a:t>integer</a:t>
            </a:r>
            <a:r>
              <a:rPr sz="1600" spc="-4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600" spc="-4" dirty="0">
                <a:solidFill>
                  <a:srgbClr val="231F20"/>
                </a:solidFill>
                <a:latin typeface="Tahoma"/>
                <a:cs typeface="Tahoma"/>
              </a:rPr>
              <a:t>and</a:t>
            </a:r>
            <a:r>
              <a:rPr sz="1600" spc="-4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600" spc="-9" dirty="0">
                <a:solidFill>
                  <a:srgbClr val="231F20"/>
                </a:solidFill>
                <a:latin typeface="Tahoma"/>
                <a:cs typeface="Tahoma"/>
              </a:rPr>
              <a:t>mixed</a:t>
            </a:r>
            <a:r>
              <a:rPr sz="1600" spc="-9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600" spc="-4" dirty="0">
                <a:solidFill>
                  <a:srgbClr val="231F20"/>
                </a:solidFill>
                <a:latin typeface="Tahoma"/>
                <a:cs typeface="Tahoma"/>
              </a:rPr>
              <a:t>integer</a:t>
            </a:r>
            <a:r>
              <a:rPr sz="1600" spc="-4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600" spc="-9" dirty="0">
                <a:solidFill>
                  <a:srgbClr val="231F20"/>
                </a:solidFill>
                <a:latin typeface="Tahoma"/>
                <a:cs typeface="Tahoma"/>
              </a:rPr>
              <a:t>programming</a:t>
            </a:r>
            <a:r>
              <a:rPr lang="en-US" sz="1600" spc="-9" dirty="0">
                <a:solidFill>
                  <a:srgbClr val="231F20"/>
                </a:solidFill>
                <a:latin typeface="Tahoma"/>
                <a:cs typeface="Tahoma"/>
              </a:rPr>
              <a:t> </a:t>
            </a:r>
            <a:r>
              <a:rPr sz="1600" spc="-4" dirty="0">
                <a:solidFill>
                  <a:srgbClr val="231F20"/>
                </a:solidFill>
                <a:latin typeface="Tahoma"/>
                <a:cs typeface="Tahoma"/>
              </a:rPr>
              <a:t>problems</a:t>
            </a:r>
            <a:r>
              <a:rPr lang="en-US" sz="1600" spc="-35" dirty="0">
                <a:solidFill>
                  <a:srgbClr val="231F20"/>
                </a:solidFill>
                <a:latin typeface="Tahoma"/>
                <a:cs typeface="Tahoma"/>
              </a:rPr>
              <a:t> was</a:t>
            </a:r>
            <a:r>
              <a:rPr lang="en-US" sz="1600" dirty="0">
                <a:solidFill>
                  <a:srgbClr val="231F20"/>
                </a:solidFill>
                <a:latin typeface="Tahoma"/>
                <a:cs typeface="Tahoma"/>
              </a:rPr>
              <a:t> </a:t>
            </a:r>
            <a:r>
              <a:rPr sz="1600" spc="-4" dirty="0">
                <a:solidFill>
                  <a:srgbClr val="231F20"/>
                </a:solidFill>
                <a:latin typeface="Tahoma"/>
                <a:cs typeface="Tahoma"/>
              </a:rPr>
              <a:t>developed</a:t>
            </a:r>
            <a:r>
              <a:rPr sz="1600" spc="-3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31F20"/>
                </a:solidFill>
                <a:latin typeface="Tahoma"/>
                <a:cs typeface="Tahoma"/>
              </a:rPr>
              <a:t>by</a:t>
            </a:r>
            <a:r>
              <a:rPr sz="1600" spc="-1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lang="en-US" sz="1600" dirty="0">
                <a:solidFill>
                  <a:srgbClr val="231F20"/>
                </a:solidFill>
                <a:latin typeface="Tahoma"/>
                <a:cs typeface="Tahoma"/>
              </a:rPr>
              <a:t>R.</a:t>
            </a:r>
            <a:r>
              <a:rPr sz="1600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31F20"/>
                </a:solidFill>
                <a:latin typeface="Tahoma"/>
                <a:cs typeface="Tahoma"/>
              </a:rPr>
              <a:t>E.</a:t>
            </a:r>
            <a:r>
              <a:rPr sz="1600" spc="-2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31F20"/>
                </a:solidFill>
                <a:latin typeface="Tahoma"/>
                <a:cs typeface="Tahoma"/>
              </a:rPr>
              <a:t>Gomory</a:t>
            </a:r>
            <a:r>
              <a:rPr lang="en-US" sz="1600" dirty="0">
                <a:solidFill>
                  <a:srgbClr val="231F20"/>
                </a:solidFill>
                <a:latin typeface="Tahoma"/>
                <a:cs typeface="Tahoma"/>
              </a:rPr>
              <a:t>.</a:t>
            </a:r>
            <a:endParaRPr lang="en-US" sz="1600" dirty="0">
              <a:latin typeface="Tahoma"/>
              <a:ea typeface="Tahoma"/>
              <a:cs typeface="Tahoma"/>
            </a:endParaRPr>
          </a:p>
          <a:p>
            <a:pPr marL="492760" indent="-403860" algn="just">
              <a:spcBef>
                <a:spcPts val="1059"/>
              </a:spcBef>
              <a:buAutoNum type="arabicPeriod"/>
              <a:tabLst>
                <a:tab pos="493645" algn="l"/>
              </a:tabLst>
            </a:pPr>
            <a:r>
              <a:rPr sz="1600" spc="-9" dirty="0">
                <a:solidFill>
                  <a:srgbClr val="231F20"/>
                </a:solidFill>
                <a:latin typeface="Tahoma"/>
                <a:cs typeface="Tahoma"/>
              </a:rPr>
              <a:t>Relax</a:t>
            </a:r>
            <a:r>
              <a:rPr sz="1600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600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31F20"/>
                </a:solidFill>
                <a:latin typeface="Tahoma"/>
                <a:cs typeface="Tahoma"/>
              </a:rPr>
              <a:t>integer</a:t>
            </a:r>
            <a:r>
              <a:rPr sz="1600" spc="-2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600" spc="-4" dirty="0">
                <a:solidFill>
                  <a:srgbClr val="231F20"/>
                </a:solidFill>
                <a:latin typeface="Tahoma"/>
                <a:cs typeface="Tahoma"/>
              </a:rPr>
              <a:t>requirements.</a:t>
            </a:r>
            <a:endParaRPr sz="1600" dirty="0">
              <a:latin typeface="Tahoma"/>
              <a:ea typeface="Tahoma"/>
              <a:cs typeface="Tahoma"/>
            </a:endParaRPr>
          </a:p>
          <a:p>
            <a:pPr marL="492760" indent="-403860" algn="just">
              <a:buAutoNum type="arabicPeriod"/>
              <a:tabLst>
                <a:tab pos="493645" algn="l"/>
              </a:tabLst>
            </a:pPr>
            <a:r>
              <a:rPr sz="1600" spc="-4" dirty="0">
                <a:latin typeface="Tahoma"/>
                <a:cs typeface="Tahoma"/>
              </a:rPr>
              <a:t>Solve</a:t>
            </a:r>
            <a:r>
              <a:rPr sz="1600" spc="-18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the</a:t>
            </a:r>
            <a:r>
              <a:rPr sz="1600" spc="-13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resulting</a:t>
            </a:r>
            <a:r>
              <a:rPr sz="1600" spc="-18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LP</a:t>
            </a:r>
            <a:r>
              <a:rPr sz="1600" spc="-4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problem</a:t>
            </a:r>
            <a:r>
              <a:rPr sz="1600" spc="-26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using</a:t>
            </a:r>
            <a:r>
              <a:rPr sz="1600" spc="-13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Simplex</a:t>
            </a:r>
            <a:r>
              <a:rPr sz="1600" spc="-18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Method.</a:t>
            </a:r>
            <a:endParaRPr sz="1600" dirty="0">
              <a:latin typeface="Tahoma"/>
              <a:ea typeface="Tahoma"/>
              <a:cs typeface="Tahoma"/>
            </a:endParaRPr>
          </a:p>
          <a:p>
            <a:pPr marL="492125" marR="94615" indent="-403225" algn="just">
              <a:buAutoNum type="arabicPeriod"/>
              <a:tabLst>
                <a:tab pos="493645" algn="l"/>
              </a:tabLst>
            </a:pPr>
            <a:r>
              <a:rPr sz="1600" dirty="0">
                <a:latin typeface="Tahoma"/>
                <a:cs typeface="Tahoma"/>
              </a:rPr>
              <a:t>If all the </a:t>
            </a:r>
            <a:r>
              <a:rPr sz="1600" spc="-4" dirty="0">
                <a:latin typeface="Tahoma"/>
                <a:cs typeface="Tahoma"/>
              </a:rPr>
              <a:t>basic variables </a:t>
            </a:r>
            <a:r>
              <a:rPr sz="1600" spc="-9" dirty="0">
                <a:latin typeface="Tahoma"/>
                <a:cs typeface="Tahoma"/>
              </a:rPr>
              <a:t>have </a:t>
            </a:r>
            <a:r>
              <a:rPr sz="1600" spc="-4" dirty="0">
                <a:latin typeface="Tahoma"/>
                <a:cs typeface="Tahoma"/>
              </a:rPr>
              <a:t>integer values, Optimality </a:t>
            </a:r>
            <a:r>
              <a:rPr sz="1600" spc="4" dirty="0">
                <a:latin typeface="Tahoma"/>
                <a:cs typeface="Tahoma"/>
              </a:rPr>
              <a:t>of </a:t>
            </a:r>
            <a:r>
              <a:rPr sz="1600" spc="-4" dirty="0">
                <a:latin typeface="Tahoma"/>
                <a:cs typeface="Tahoma"/>
              </a:rPr>
              <a:t>the </a:t>
            </a:r>
            <a:r>
              <a:rPr sz="1600" spc="-9" dirty="0">
                <a:latin typeface="Tahoma"/>
                <a:cs typeface="Tahoma"/>
              </a:rPr>
              <a:t>Integer</a:t>
            </a:r>
            <a:r>
              <a:rPr lang="en-US" sz="1600" spc="-9" dirty="0">
                <a:latin typeface="Tahoma"/>
                <a:cs typeface="Tahoma"/>
              </a:rPr>
              <a:t> </a:t>
            </a:r>
            <a:r>
              <a:rPr sz="1600" spc="-4" dirty="0">
                <a:latin typeface="Tahoma"/>
                <a:cs typeface="Tahoma"/>
              </a:rPr>
              <a:t> programming</a:t>
            </a:r>
            <a:r>
              <a:rPr sz="1600" spc="-44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problem</a:t>
            </a:r>
            <a:r>
              <a:rPr sz="1600" spc="-22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is</a:t>
            </a:r>
            <a:r>
              <a:rPr sz="1600" spc="4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reached.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So</a:t>
            </a:r>
            <a:r>
              <a:rPr sz="1600" spc="9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go</a:t>
            </a:r>
            <a:r>
              <a:rPr sz="1600" spc="-9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step</a:t>
            </a:r>
            <a:r>
              <a:rPr sz="1600" spc="-13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7;</a:t>
            </a:r>
            <a:r>
              <a:rPr sz="1600" spc="-9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otherwise</a:t>
            </a:r>
            <a:r>
              <a:rPr sz="1600" spc="-22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go</a:t>
            </a:r>
            <a:r>
              <a:rPr sz="1600" spc="-4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to</a:t>
            </a:r>
            <a:r>
              <a:rPr sz="1600" spc="-18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step</a:t>
            </a:r>
            <a:r>
              <a:rPr sz="1600" spc="-4" dirty="0">
                <a:latin typeface="Tahoma"/>
                <a:cs typeface="Tahoma"/>
              </a:rPr>
              <a:t> </a:t>
            </a:r>
            <a:r>
              <a:rPr sz="1600" spc="-9" dirty="0">
                <a:latin typeface="Tahoma"/>
                <a:cs typeface="Tahoma"/>
              </a:rPr>
              <a:t>4.</a:t>
            </a:r>
            <a:endParaRPr sz="1600" dirty="0">
              <a:latin typeface="Tahoma"/>
              <a:ea typeface="Tahoma"/>
              <a:cs typeface="Tahoma"/>
            </a:endParaRPr>
          </a:p>
          <a:p>
            <a:pPr marL="492125" marR="93980" indent="-403225" algn="just">
              <a:spcBef>
                <a:spcPts val="4"/>
              </a:spcBef>
              <a:buAutoNum type="arabicPeriod"/>
              <a:tabLst>
                <a:tab pos="493645" algn="l"/>
              </a:tabLst>
            </a:pPr>
            <a:r>
              <a:rPr sz="1600" spc="-4" dirty="0">
                <a:latin typeface="Tahoma"/>
                <a:cs typeface="Tahoma"/>
              </a:rPr>
              <a:t>Examine the constraints corresponding to the </a:t>
            </a:r>
            <a:r>
              <a:rPr sz="1600" spc="-9" dirty="0">
                <a:latin typeface="Tahoma"/>
                <a:cs typeface="Tahoma"/>
              </a:rPr>
              <a:t>current </a:t>
            </a:r>
            <a:r>
              <a:rPr sz="1600" spc="-4" dirty="0">
                <a:latin typeface="Tahoma"/>
                <a:cs typeface="Tahoma"/>
              </a:rPr>
              <a:t>optimal solution. </a:t>
            </a:r>
            <a:r>
              <a:rPr sz="1600" spc="-22" dirty="0">
                <a:latin typeface="Tahoma"/>
                <a:cs typeface="Tahoma"/>
              </a:rPr>
              <a:t>For</a:t>
            </a:r>
            <a:r>
              <a:rPr lang="en-US" sz="1600" spc="-22" dirty="0">
                <a:latin typeface="Tahoma"/>
                <a:cs typeface="Tahoma"/>
              </a:rPr>
              <a:t> </a:t>
            </a:r>
            <a:r>
              <a:rPr sz="1600" spc="-18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each </a:t>
            </a:r>
            <a:r>
              <a:rPr sz="1600" dirty="0">
                <a:latin typeface="Tahoma"/>
                <a:cs typeface="Tahoma"/>
              </a:rPr>
              <a:t>Basic </a:t>
            </a:r>
            <a:r>
              <a:rPr sz="1600" spc="-13" dirty="0">
                <a:latin typeface="Tahoma"/>
                <a:cs typeface="Tahoma"/>
              </a:rPr>
              <a:t>Variable </a:t>
            </a:r>
            <a:r>
              <a:rPr sz="1600" spc="-4" dirty="0">
                <a:latin typeface="Tahoma"/>
                <a:cs typeface="Tahoma"/>
              </a:rPr>
              <a:t>with non-integer </a:t>
            </a:r>
            <a:r>
              <a:rPr sz="1600" dirty="0">
                <a:latin typeface="Tahoma"/>
                <a:cs typeface="Tahoma"/>
              </a:rPr>
              <a:t>solution </a:t>
            </a:r>
            <a:r>
              <a:rPr sz="1600" spc="-4" dirty="0">
                <a:latin typeface="Tahoma"/>
                <a:cs typeface="Tahoma"/>
              </a:rPr>
              <a:t>in the </a:t>
            </a:r>
            <a:r>
              <a:rPr sz="1600" spc="-9" dirty="0">
                <a:latin typeface="Tahoma"/>
                <a:cs typeface="Tahoma"/>
              </a:rPr>
              <a:t>current </a:t>
            </a:r>
            <a:r>
              <a:rPr sz="1600" spc="-4" dirty="0">
                <a:latin typeface="Tahoma"/>
                <a:cs typeface="Tahoma"/>
              </a:rPr>
              <a:t>optimal table,</a:t>
            </a:r>
            <a:r>
              <a:rPr lang="en-US" sz="1600" spc="-4" dirty="0">
                <a:latin typeface="Tahoma"/>
                <a:cs typeface="Tahoma"/>
              </a:rPr>
              <a:t> </a:t>
            </a:r>
            <a:r>
              <a:rPr sz="1600" dirty="0">
                <a:latin typeface="Tahoma"/>
                <a:cs typeface="Tahoma"/>
              </a:rPr>
              <a:t> find </a:t>
            </a:r>
            <a:r>
              <a:rPr sz="1600" spc="-4" dirty="0">
                <a:latin typeface="Tahoma"/>
                <a:cs typeface="Tahoma"/>
              </a:rPr>
              <a:t>the fractional part,</a:t>
            </a:r>
            <a:r>
              <a:rPr lang="en-US" sz="1600" spc="-4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f</a:t>
            </a:r>
            <a:r>
              <a:rPr sz="1600" spc="-6" baseline="-21367" dirty="0">
                <a:latin typeface="Tahoma"/>
                <a:cs typeface="Tahoma"/>
              </a:rPr>
              <a:t>i </a:t>
            </a:r>
            <a:r>
              <a:rPr sz="1600" dirty="0">
                <a:latin typeface="Tahoma"/>
                <a:cs typeface="Tahoma"/>
              </a:rPr>
              <a:t>, </a:t>
            </a:r>
            <a:r>
              <a:rPr sz="1600" spc="-9" dirty="0">
                <a:latin typeface="Tahoma"/>
                <a:cs typeface="Tahoma"/>
              </a:rPr>
              <a:t>Therefore, </a:t>
            </a:r>
            <a:r>
              <a:rPr sz="1600" spc="-4" dirty="0">
                <a:latin typeface="Tahoma"/>
                <a:cs typeface="Tahoma"/>
              </a:rPr>
              <a:t>b</a:t>
            </a:r>
            <a:r>
              <a:rPr sz="1600" spc="-6" baseline="-21367" dirty="0">
                <a:latin typeface="Tahoma"/>
                <a:cs typeface="Tahoma"/>
              </a:rPr>
              <a:t>i </a:t>
            </a:r>
            <a:r>
              <a:rPr sz="1600" dirty="0">
                <a:latin typeface="Tahoma"/>
                <a:cs typeface="Tahoma"/>
              </a:rPr>
              <a:t>= </a:t>
            </a:r>
            <a:r>
              <a:rPr sz="1600" spc="-4" dirty="0">
                <a:latin typeface="Tahoma"/>
                <a:cs typeface="Tahoma"/>
              </a:rPr>
              <a:t>[b</a:t>
            </a:r>
            <a:r>
              <a:rPr sz="1600" spc="-6" baseline="-21367" dirty="0">
                <a:latin typeface="Tahoma"/>
                <a:cs typeface="Tahoma"/>
              </a:rPr>
              <a:t>i</a:t>
            </a:r>
            <a:r>
              <a:rPr sz="1600" spc="-4" dirty="0">
                <a:latin typeface="Tahoma"/>
                <a:cs typeface="Tahoma"/>
              </a:rPr>
              <a:t>] </a:t>
            </a:r>
            <a:r>
              <a:rPr sz="1600" dirty="0">
                <a:latin typeface="Tahoma"/>
                <a:cs typeface="Tahoma"/>
              </a:rPr>
              <a:t>+ </a:t>
            </a:r>
            <a:r>
              <a:rPr sz="1600" spc="-4" dirty="0">
                <a:latin typeface="Tahoma"/>
                <a:cs typeface="Tahoma"/>
              </a:rPr>
              <a:t>f</a:t>
            </a:r>
            <a:r>
              <a:rPr sz="1600" spc="-6" baseline="-21367" dirty="0">
                <a:latin typeface="Tahoma"/>
                <a:cs typeface="Tahoma"/>
              </a:rPr>
              <a:t>i</a:t>
            </a:r>
            <a:r>
              <a:rPr sz="1600" spc="-4" dirty="0">
                <a:latin typeface="Tahoma"/>
                <a:cs typeface="Tahoma"/>
              </a:rPr>
              <a:t>, where </a:t>
            </a:r>
            <a:r>
              <a:rPr sz="1600" dirty="0">
                <a:latin typeface="Tahoma"/>
                <a:cs typeface="Tahoma"/>
              </a:rPr>
              <a:t>[b</a:t>
            </a:r>
            <a:r>
              <a:rPr sz="1600" baseline="-21367" dirty="0">
                <a:latin typeface="Tahoma"/>
                <a:cs typeface="Tahoma"/>
              </a:rPr>
              <a:t>i</a:t>
            </a:r>
            <a:r>
              <a:rPr sz="1600" dirty="0">
                <a:latin typeface="Tahoma"/>
                <a:cs typeface="Tahoma"/>
              </a:rPr>
              <a:t>] </a:t>
            </a:r>
            <a:r>
              <a:rPr sz="1600" spc="-4" dirty="0">
                <a:latin typeface="Tahoma"/>
                <a:cs typeface="Tahoma"/>
              </a:rPr>
              <a:t>is </a:t>
            </a:r>
            <a:r>
              <a:rPr sz="1600" dirty="0">
                <a:latin typeface="Tahoma"/>
                <a:cs typeface="Tahoma"/>
              </a:rPr>
              <a:t>the </a:t>
            </a:r>
            <a:r>
              <a:rPr sz="1600" spc="-9" dirty="0">
                <a:latin typeface="Tahoma"/>
                <a:cs typeface="Tahoma"/>
              </a:rPr>
              <a:t>integer</a:t>
            </a:r>
            <a:r>
              <a:rPr lang="en-US" sz="1600" spc="-9" dirty="0">
                <a:latin typeface="Tahoma"/>
                <a:cs typeface="Tahoma"/>
              </a:rPr>
              <a:t> </a:t>
            </a:r>
            <a:r>
              <a:rPr sz="1600" spc="-4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part</a:t>
            </a:r>
            <a:r>
              <a:rPr sz="1600" spc="-26" dirty="0">
                <a:latin typeface="Tahoma"/>
                <a:cs typeface="Tahoma"/>
              </a:rPr>
              <a:t> </a:t>
            </a:r>
            <a:r>
              <a:rPr sz="1600" spc="4" dirty="0">
                <a:latin typeface="Tahoma"/>
                <a:cs typeface="Tahoma"/>
              </a:rPr>
              <a:t>of</a:t>
            </a:r>
            <a:r>
              <a:rPr sz="1600" spc="-9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b</a:t>
            </a:r>
            <a:r>
              <a:rPr sz="1600" spc="-6" baseline="-21367" dirty="0">
                <a:latin typeface="Tahoma"/>
                <a:cs typeface="Tahoma"/>
              </a:rPr>
              <a:t>i</a:t>
            </a:r>
            <a:r>
              <a:rPr sz="1600" spc="-4" dirty="0">
                <a:latin typeface="Tahoma"/>
                <a:cs typeface="Tahoma"/>
              </a:rPr>
              <a:t>,</a:t>
            </a:r>
            <a:r>
              <a:rPr sz="1600" dirty="0">
                <a:latin typeface="Tahoma"/>
                <a:cs typeface="Tahoma"/>
              </a:rPr>
              <a:t> and</a:t>
            </a:r>
            <a:r>
              <a:rPr sz="1600" spc="-18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f</a:t>
            </a:r>
            <a:r>
              <a:rPr sz="1600" spc="-6" baseline="-21367" dirty="0">
                <a:latin typeface="Tahoma"/>
                <a:cs typeface="Tahoma"/>
              </a:rPr>
              <a:t>i</a:t>
            </a:r>
            <a:r>
              <a:rPr sz="1600" spc="291" baseline="-21367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is</a:t>
            </a:r>
            <a:r>
              <a:rPr sz="1600" spc="4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the</a:t>
            </a:r>
            <a:r>
              <a:rPr lang="en-US" sz="1600" spc="-18" dirty="0">
                <a:latin typeface="Tahoma"/>
                <a:cs typeface="Tahoma"/>
              </a:rPr>
              <a:t> positive </a:t>
            </a:r>
            <a:r>
              <a:rPr lang="en-US" sz="1600" spc="-4" dirty="0">
                <a:latin typeface="Tahoma"/>
                <a:cs typeface="Tahoma"/>
              </a:rPr>
              <a:t>fractional</a:t>
            </a:r>
            <a:r>
              <a:rPr sz="1600" spc="-13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part</a:t>
            </a:r>
            <a:r>
              <a:rPr sz="1600" spc="-13" dirty="0">
                <a:latin typeface="Tahoma"/>
                <a:cs typeface="Tahoma"/>
              </a:rPr>
              <a:t> </a:t>
            </a:r>
            <a:r>
              <a:rPr sz="1600" spc="4" dirty="0">
                <a:latin typeface="Tahoma"/>
                <a:cs typeface="Tahoma"/>
              </a:rPr>
              <a:t>of</a:t>
            </a:r>
            <a:r>
              <a:rPr sz="1600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b</a:t>
            </a:r>
            <a:r>
              <a:rPr sz="1600" spc="-6" baseline="-21367" dirty="0">
                <a:latin typeface="Tahoma"/>
                <a:cs typeface="Tahoma"/>
              </a:rPr>
              <a:t>i</a:t>
            </a:r>
            <a:r>
              <a:rPr sz="1600" spc="-4" dirty="0">
                <a:latin typeface="Tahoma"/>
                <a:cs typeface="Tahoma"/>
              </a:rPr>
              <a:t>.</a:t>
            </a:r>
            <a:endParaRPr sz="1600" dirty="0">
              <a:latin typeface="Tahoma"/>
              <a:ea typeface="Tahoma"/>
              <a:cs typeface="Tahoma"/>
            </a:endParaRPr>
          </a:p>
          <a:p>
            <a:pPr marL="492125" marR="93980" indent="-403225" algn="just">
              <a:buAutoNum type="arabicPeriod"/>
              <a:tabLst>
                <a:tab pos="493645" algn="l"/>
              </a:tabLst>
            </a:pPr>
            <a:r>
              <a:rPr sz="1600" dirty="0">
                <a:latin typeface="Tahoma"/>
                <a:cs typeface="Tahoma"/>
              </a:rPr>
              <a:t>Choose</a:t>
            </a:r>
            <a:r>
              <a:rPr sz="1600" spc="4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the</a:t>
            </a:r>
            <a:r>
              <a:rPr sz="1600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largest</a:t>
            </a:r>
            <a:r>
              <a:rPr sz="1600" dirty="0">
                <a:latin typeface="Tahoma"/>
                <a:cs typeface="Tahoma"/>
              </a:rPr>
              <a:t> </a:t>
            </a:r>
            <a:r>
              <a:rPr sz="1600" spc="-9" dirty="0">
                <a:latin typeface="Tahoma"/>
                <a:cs typeface="Tahoma"/>
              </a:rPr>
              <a:t>fraction</a:t>
            </a:r>
            <a:r>
              <a:rPr sz="1600" spc="-4" dirty="0">
                <a:latin typeface="Tahoma"/>
                <a:cs typeface="Tahoma"/>
              </a:rPr>
              <a:t> among</a:t>
            </a:r>
            <a:r>
              <a:rPr sz="1600" dirty="0">
                <a:latin typeface="Tahoma"/>
                <a:cs typeface="Tahoma"/>
              </a:rPr>
              <a:t> </a:t>
            </a:r>
            <a:r>
              <a:rPr sz="1600" spc="-9" dirty="0">
                <a:latin typeface="Tahoma"/>
                <a:cs typeface="Tahoma"/>
              </a:rPr>
              <a:t>various</a:t>
            </a:r>
            <a:r>
              <a:rPr sz="1600" spc="-4" dirty="0">
                <a:latin typeface="Tahoma"/>
                <a:cs typeface="Tahoma"/>
              </a:rPr>
              <a:t> f</a:t>
            </a:r>
            <a:r>
              <a:rPr sz="1600" spc="-6" baseline="-21367" dirty="0">
                <a:latin typeface="Tahoma"/>
                <a:cs typeface="Tahoma"/>
              </a:rPr>
              <a:t>i</a:t>
            </a:r>
            <a:r>
              <a:rPr sz="1600" baseline="-21367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;</a:t>
            </a:r>
            <a:r>
              <a:rPr sz="1600" spc="4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i.e</a:t>
            </a:r>
            <a:r>
              <a:rPr lang="en-US" sz="1600" spc="-4" dirty="0">
                <a:latin typeface="Tahoma"/>
                <a:cs typeface="Tahoma"/>
              </a:rPr>
              <a:t>.,</a:t>
            </a:r>
            <a:r>
              <a:rPr sz="1600" dirty="0">
                <a:latin typeface="Tahoma"/>
                <a:cs typeface="Tahoma"/>
              </a:rPr>
              <a:t> Max</a:t>
            </a:r>
            <a:r>
              <a:rPr sz="1600" spc="4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(f</a:t>
            </a:r>
            <a:r>
              <a:rPr sz="1600" spc="-6" baseline="-21367" dirty="0">
                <a:latin typeface="Tahoma"/>
                <a:cs typeface="Tahoma"/>
              </a:rPr>
              <a:t>i</a:t>
            </a:r>
            <a:r>
              <a:rPr sz="1600" spc="-4" dirty="0">
                <a:latin typeface="Tahoma"/>
                <a:cs typeface="Tahoma"/>
              </a:rPr>
              <a:t>).</a:t>
            </a:r>
            <a:r>
              <a:rPr sz="1600" dirty="0">
                <a:latin typeface="Tahoma"/>
                <a:cs typeface="Tahoma"/>
              </a:rPr>
              <a:t> </a:t>
            </a:r>
            <a:r>
              <a:rPr sz="1600" spc="-40" dirty="0">
                <a:latin typeface="Tahoma"/>
                <a:cs typeface="Tahoma"/>
              </a:rPr>
              <a:t>Treat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the</a:t>
            </a:r>
            <a:r>
              <a:rPr lang="en-US" sz="1600" spc="-4" dirty="0">
                <a:latin typeface="Tahoma"/>
                <a:cs typeface="Tahoma"/>
              </a:rPr>
              <a:t> </a:t>
            </a:r>
            <a:r>
              <a:rPr sz="1600" spc="-525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constraint</a:t>
            </a:r>
            <a:r>
              <a:rPr sz="1600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corresponding</a:t>
            </a:r>
            <a:r>
              <a:rPr sz="1600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to</a:t>
            </a:r>
            <a:r>
              <a:rPr sz="1600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the</a:t>
            </a:r>
            <a:r>
              <a:rPr sz="1600" dirty="0">
                <a:latin typeface="Tahoma"/>
                <a:cs typeface="Tahoma"/>
              </a:rPr>
              <a:t> maximum</a:t>
            </a:r>
            <a:r>
              <a:rPr sz="1600" spc="4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fraction</a:t>
            </a:r>
            <a:r>
              <a:rPr sz="1600" dirty="0">
                <a:latin typeface="Tahoma"/>
                <a:cs typeface="Tahoma"/>
              </a:rPr>
              <a:t> as</a:t>
            </a:r>
            <a:r>
              <a:rPr sz="1600" spc="4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the</a:t>
            </a:r>
            <a:r>
              <a:rPr sz="1600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source</a:t>
            </a:r>
            <a:r>
              <a:rPr sz="1600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row</a:t>
            </a:r>
            <a:r>
              <a:rPr lang="en-US" sz="1600" spc="-4" dirty="0">
                <a:latin typeface="Tahoma"/>
                <a:cs typeface="Tahoma"/>
              </a:rPr>
              <a:t> </a:t>
            </a:r>
            <a:r>
              <a:rPr sz="1600" dirty="0">
                <a:latin typeface="Tahoma"/>
                <a:cs typeface="Tahoma"/>
              </a:rPr>
              <a:t> (equation). Based </a:t>
            </a:r>
            <a:r>
              <a:rPr sz="1600" spc="4" dirty="0">
                <a:latin typeface="Tahoma"/>
                <a:cs typeface="Tahoma"/>
              </a:rPr>
              <a:t>on </a:t>
            </a:r>
            <a:r>
              <a:rPr sz="1600" spc="-4" dirty="0">
                <a:latin typeface="Tahoma"/>
                <a:cs typeface="Tahoma"/>
              </a:rPr>
              <a:t>the source equation, develop </a:t>
            </a:r>
            <a:r>
              <a:rPr sz="1600" spc="-9" dirty="0">
                <a:latin typeface="Tahoma"/>
                <a:cs typeface="Tahoma"/>
              </a:rPr>
              <a:t>an </a:t>
            </a:r>
            <a:r>
              <a:rPr sz="1600" dirty="0">
                <a:latin typeface="Tahoma"/>
                <a:cs typeface="Tahoma"/>
              </a:rPr>
              <a:t>additional </a:t>
            </a:r>
            <a:r>
              <a:rPr sz="1600" spc="-4" dirty="0">
                <a:latin typeface="Tahoma"/>
                <a:cs typeface="Tahoma"/>
              </a:rPr>
              <a:t>constraint</a:t>
            </a:r>
            <a:r>
              <a:rPr lang="en-US" sz="1600" spc="-4" dirty="0">
                <a:latin typeface="Tahoma"/>
                <a:cs typeface="Tahoma"/>
              </a:rPr>
              <a:t> </a:t>
            </a:r>
            <a:r>
              <a:rPr sz="1600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(Gomory’s</a:t>
            </a:r>
            <a:r>
              <a:rPr sz="1600" spc="-22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constraint</a:t>
            </a:r>
            <a:r>
              <a:rPr sz="1600" spc="-18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/ </a:t>
            </a:r>
            <a:r>
              <a:rPr sz="1600" spc="-4" dirty="0">
                <a:latin typeface="Tahoma"/>
                <a:cs typeface="Tahoma"/>
              </a:rPr>
              <a:t>fractional</a:t>
            </a:r>
            <a:r>
              <a:rPr sz="1600" spc="-13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cut)</a:t>
            </a:r>
            <a:r>
              <a:rPr sz="1600" spc="-9" dirty="0">
                <a:latin typeface="Tahoma"/>
                <a:cs typeface="Tahoma"/>
              </a:rPr>
              <a:t> </a:t>
            </a:r>
            <a:r>
              <a:rPr sz="1600" spc="4" dirty="0">
                <a:latin typeface="Tahoma"/>
                <a:cs typeface="Tahoma"/>
              </a:rPr>
              <a:t>as</a:t>
            </a:r>
            <a:r>
              <a:rPr sz="1600" spc="-4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shown:</a:t>
            </a:r>
            <a:endParaRPr sz="1600" dirty="0">
              <a:latin typeface="Tahoma"/>
              <a:ea typeface="Tahoma"/>
              <a:cs typeface="Tahoma"/>
            </a:endParaRPr>
          </a:p>
          <a:p>
            <a:pPr marL="1299845" lvl="1" indent="-403860" algn="just">
              <a:buFont typeface="Wingdings"/>
              <a:buChar char=""/>
              <a:tabLst>
                <a:tab pos="1300512" algn="l"/>
              </a:tabLst>
            </a:pPr>
            <a:r>
              <a:rPr sz="1600" dirty="0">
                <a:latin typeface="Tahoma"/>
                <a:cs typeface="Tahoma"/>
              </a:rPr>
              <a:t>–f</a:t>
            </a:r>
            <a:r>
              <a:rPr sz="1600" baseline="-21367" dirty="0">
                <a:latin typeface="Tahoma"/>
                <a:cs typeface="Tahoma"/>
              </a:rPr>
              <a:t>i</a:t>
            </a:r>
            <a:r>
              <a:rPr sz="1600" spc="251" baseline="-21367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=</a:t>
            </a:r>
            <a:r>
              <a:rPr sz="1600" spc="-18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S</a:t>
            </a:r>
            <a:r>
              <a:rPr sz="1600" spc="-6" baseline="-21367" dirty="0">
                <a:latin typeface="Tahoma"/>
                <a:cs typeface="Tahoma"/>
              </a:rPr>
              <a:t>i</a:t>
            </a:r>
            <a:r>
              <a:rPr sz="1600" spc="278" baseline="-21367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– Summation</a:t>
            </a:r>
            <a:r>
              <a:rPr sz="1600" spc="-31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((f</a:t>
            </a:r>
            <a:r>
              <a:rPr sz="1600" baseline="-21367" dirty="0">
                <a:latin typeface="Tahoma"/>
                <a:cs typeface="Tahoma"/>
              </a:rPr>
              <a:t>i</a:t>
            </a:r>
            <a:r>
              <a:rPr sz="1600" dirty="0">
                <a:latin typeface="Tahoma"/>
                <a:cs typeface="Tahoma"/>
              </a:rPr>
              <a:t>)(Non–Basic</a:t>
            </a:r>
            <a:r>
              <a:rPr sz="1600" spc="-4" dirty="0">
                <a:latin typeface="Tahoma"/>
                <a:cs typeface="Tahoma"/>
              </a:rPr>
              <a:t> </a:t>
            </a:r>
            <a:r>
              <a:rPr sz="1600" spc="-9" dirty="0">
                <a:latin typeface="Tahoma"/>
                <a:cs typeface="Tahoma"/>
              </a:rPr>
              <a:t>Variable))</a:t>
            </a:r>
            <a:endParaRPr sz="1600" dirty="0">
              <a:latin typeface="Tahoma"/>
              <a:ea typeface="Tahoma"/>
              <a:cs typeface="Tahoma"/>
            </a:endParaRPr>
          </a:p>
          <a:p>
            <a:pPr marL="492125" marR="93345" indent="-403225" algn="just">
              <a:buAutoNum type="arabicPeriod"/>
              <a:tabLst>
                <a:tab pos="493085" algn="l"/>
              </a:tabLst>
            </a:pPr>
            <a:r>
              <a:rPr sz="1600" dirty="0">
                <a:latin typeface="Tahoma"/>
                <a:cs typeface="Tahoma"/>
              </a:rPr>
              <a:t>Add the </a:t>
            </a:r>
            <a:r>
              <a:rPr sz="1600" spc="-4" dirty="0">
                <a:latin typeface="Tahoma"/>
                <a:cs typeface="Tahoma"/>
              </a:rPr>
              <a:t>fractional cut </a:t>
            </a:r>
            <a:r>
              <a:rPr sz="1600" spc="4" dirty="0">
                <a:latin typeface="Tahoma"/>
                <a:cs typeface="Tahoma"/>
              </a:rPr>
              <a:t>as </a:t>
            </a:r>
            <a:r>
              <a:rPr sz="1600" spc="-9" dirty="0">
                <a:latin typeface="Tahoma"/>
                <a:cs typeface="Tahoma"/>
              </a:rPr>
              <a:t>the </a:t>
            </a:r>
            <a:r>
              <a:rPr sz="1600" dirty="0">
                <a:latin typeface="Tahoma"/>
                <a:cs typeface="Tahoma"/>
              </a:rPr>
              <a:t>last </a:t>
            </a:r>
            <a:r>
              <a:rPr sz="1600" spc="-4" dirty="0">
                <a:latin typeface="Tahoma"/>
                <a:cs typeface="Tahoma"/>
              </a:rPr>
              <a:t>row in </a:t>
            </a:r>
            <a:r>
              <a:rPr sz="1600" dirty="0">
                <a:latin typeface="Tahoma"/>
                <a:cs typeface="Tahoma"/>
              </a:rPr>
              <a:t>the </a:t>
            </a:r>
            <a:r>
              <a:rPr sz="1600" spc="-4" dirty="0">
                <a:latin typeface="Tahoma"/>
                <a:cs typeface="Tahoma"/>
              </a:rPr>
              <a:t>latest optimal </a:t>
            </a:r>
            <a:r>
              <a:rPr sz="1600" dirty="0">
                <a:latin typeface="Tahoma"/>
                <a:cs typeface="Tahoma"/>
              </a:rPr>
              <a:t>table </a:t>
            </a:r>
            <a:r>
              <a:rPr sz="1600" spc="-4" dirty="0">
                <a:latin typeface="Tahoma"/>
                <a:cs typeface="Tahoma"/>
              </a:rPr>
              <a:t>and proceed</a:t>
            </a:r>
            <a:r>
              <a:rPr lang="en-US" sz="1600" spc="-4" dirty="0">
                <a:latin typeface="Tahoma"/>
                <a:cs typeface="Tahoma"/>
              </a:rPr>
              <a:t> </a:t>
            </a:r>
            <a:r>
              <a:rPr sz="1600" spc="-525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further </a:t>
            </a:r>
            <a:r>
              <a:rPr sz="1600" dirty="0">
                <a:latin typeface="Tahoma"/>
                <a:cs typeface="Tahoma"/>
              </a:rPr>
              <a:t>using dual </a:t>
            </a:r>
            <a:r>
              <a:rPr sz="1600" spc="-4" dirty="0">
                <a:latin typeface="Tahoma"/>
                <a:cs typeface="Tahoma"/>
              </a:rPr>
              <a:t>simplex </a:t>
            </a:r>
            <a:r>
              <a:rPr sz="1600" dirty="0">
                <a:latin typeface="Tahoma"/>
                <a:cs typeface="Tahoma"/>
              </a:rPr>
              <a:t>method, and find the </a:t>
            </a:r>
            <a:r>
              <a:rPr sz="1600" spc="-4" dirty="0">
                <a:latin typeface="Tahoma"/>
                <a:cs typeface="Tahoma"/>
              </a:rPr>
              <a:t>new </a:t>
            </a:r>
            <a:r>
              <a:rPr sz="1600" dirty="0">
                <a:latin typeface="Tahoma"/>
                <a:cs typeface="Tahoma"/>
              </a:rPr>
              <a:t>optimum solution. </a:t>
            </a:r>
            <a:r>
              <a:rPr sz="1600" spc="-4" dirty="0">
                <a:latin typeface="Tahoma"/>
                <a:cs typeface="Tahoma"/>
              </a:rPr>
              <a:t>If</a:t>
            </a:r>
            <a:r>
              <a:rPr lang="en-US" sz="1600" spc="-4" dirty="0">
                <a:latin typeface="Tahoma"/>
                <a:cs typeface="Tahoma"/>
              </a:rPr>
              <a:t> </a:t>
            </a:r>
            <a:r>
              <a:rPr sz="1600" dirty="0">
                <a:latin typeface="Tahoma"/>
                <a:cs typeface="Tahoma"/>
              </a:rPr>
              <a:t> </a:t>
            </a:r>
            <a:r>
              <a:rPr sz="1600" spc="-4" dirty="0">
                <a:latin typeface="Tahoma"/>
                <a:cs typeface="Tahoma"/>
              </a:rPr>
              <a:t>the new </a:t>
            </a:r>
            <a:r>
              <a:rPr sz="1600" dirty="0">
                <a:latin typeface="Tahoma"/>
                <a:cs typeface="Tahoma"/>
              </a:rPr>
              <a:t>optimum solution </a:t>
            </a:r>
            <a:r>
              <a:rPr sz="1600" spc="-4" dirty="0">
                <a:latin typeface="Tahoma"/>
                <a:cs typeface="Tahoma"/>
              </a:rPr>
              <a:t>is integer then </a:t>
            </a:r>
            <a:r>
              <a:rPr sz="1600" dirty="0">
                <a:latin typeface="Tahoma"/>
                <a:cs typeface="Tahoma"/>
              </a:rPr>
              <a:t>go </a:t>
            </a:r>
            <a:r>
              <a:rPr sz="1600" spc="-4" dirty="0">
                <a:latin typeface="Tahoma"/>
                <a:cs typeface="Tahoma"/>
              </a:rPr>
              <a:t>to step 7; otherwise </a:t>
            </a:r>
            <a:r>
              <a:rPr sz="1600" spc="-9" dirty="0">
                <a:latin typeface="Tahoma"/>
                <a:cs typeface="Tahoma"/>
              </a:rPr>
              <a:t>go </a:t>
            </a:r>
            <a:r>
              <a:rPr sz="1600" spc="-4" dirty="0">
                <a:latin typeface="Tahoma"/>
                <a:cs typeface="Tahoma"/>
              </a:rPr>
              <a:t>to step</a:t>
            </a:r>
            <a:r>
              <a:rPr lang="en-US" sz="1600" spc="-4" dirty="0">
                <a:latin typeface="Tahoma"/>
                <a:cs typeface="Tahoma"/>
              </a:rPr>
              <a:t> </a:t>
            </a:r>
            <a:r>
              <a:rPr sz="1600" dirty="0">
                <a:latin typeface="Tahoma"/>
                <a:cs typeface="Tahoma"/>
              </a:rPr>
              <a:t> </a:t>
            </a:r>
            <a:r>
              <a:rPr sz="1600" spc="-9" dirty="0">
                <a:latin typeface="Tahoma"/>
                <a:cs typeface="Tahoma"/>
              </a:rPr>
              <a:t>4.</a:t>
            </a:r>
            <a:endParaRPr sz="1600" dirty="0">
              <a:latin typeface="Tahoma"/>
              <a:ea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5671" y="4831802"/>
            <a:ext cx="4808444" cy="276697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>
              <a:spcBef>
                <a:spcPts val="93"/>
              </a:spcBef>
              <a:tabLst>
                <a:tab pos="414640" algn="l"/>
              </a:tabLst>
            </a:pPr>
            <a:r>
              <a:rPr sz="1721" dirty="0">
                <a:solidFill>
                  <a:srgbClr val="231F20"/>
                </a:solidFill>
                <a:latin typeface="Tahoma"/>
                <a:cs typeface="Tahoma"/>
              </a:rPr>
              <a:t>7.</a:t>
            </a:r>
            <a:r>
              <a:rPr sz="1721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721" dirty="0">
                <a:solidFill>
                  <a:srgbClr val="231F20"/>
                </a:solidFill>
                <a:latin typeface="Tahoma"/>
                <a:cs typeface="Tahoma"/>
              </a:rPr>
              <a:t>Print</a:t>
            </a:r>
            <a:r>
              <a:rPr sz="1721" spc="-2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21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721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21" dirty="0">
                <a:solidFill>
                  <a:srgbClr val="231F20"/>
                </a:solidFill>
                <a:latin typeface="Tahoma"/>
                <a:cs typeface="Tahoma"/>
              </a:rPr>
              <a:t>integer</a:t>
            </a:r>
            <a:r>
              <a:rPr sz="1721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21" dirty="0">
                <a:solidFill>
                  <a:srgbClr val="231F20"/>
                </a:solidFill>
                <a:latin typeface="Tahoma"/>
                <a:cs typeface="Tahoma"/>
              </a:rPr>
              <a:t>solution</a:t>
            </a:r>
            <a:r>
              <a:rPr sz="1721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21" spc="-18" dirty="0">
                <a:solidFill>
                  <a:srgbClr val="231F20"/>
                </a:solidFill>
                <a:latin typeface="Tahoma"/>
                <a:cs typeface="Tahoma"/>
              </a:rPr>
              <a:t>[X’s</a:t>
            </a:r>
            <a:r>
              <a:rPr sz="1721" dirty="0">
                <a:solidFill>
                  <a:srgbClr val="231F20"/>
                </a:solidFill>
                <a:latin typeface="Tahoma"/>
                <a:cs typeface="Tahoma"/>
              </a:rPr>
              <a:t> and</a:t>
            </a:r>
            <a:r>
              <a:rPr sz="1721" spc="-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21" dirty="0">
                <a:solidFill>
                  <a:srgbClr val="231F20"/>
                </a:solidFill>
                <a:latin typeface="Tahoma"/>
                <a:cs typeface="Tahoma"/>
              </a:rPr>
              <a:t>Z</a:t>
            </a:r>
            <a:r>
              <a:rPr sz="1721" spc="-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21" dirty="0">
                <a:solidFill>
                  <a:srgbClr val="231F20"/>
                </a:solidFill>
                <a:latin typeface="Tahoma"/>
                <a:cs typeface="Tahoma"/>
              </a:rPr>
              <a:t>–</a:t>
            </a:r>
            <a:r>
              <a:rPr sz="1721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21" spc="-13" dirty="0">
                <a:solidFill>
                  <a:srgbClr val="231F20"/>
                </a:solidFill>
                <a:latin typeface="Tahoma"/>
                <a:cs typeface="Tahoma"/>
              </a:rPr>
              <a:t>Values]</a:t>
            </a:r>
            <a:endParaRPr sz="1721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80400612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.potx" id="{A4A573FA-5023-4A60-BA15-556917C382C0}" vid="{FAB5C421-D54E-4084-8823-8DA30F368A7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2115</Words>
  <Application>Microsoft Office PowerPoint</Application>
  <PresentationFormat>Widescreen</PresentationFormat>
  <Paragraphs>497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Gill Sans MT</vt:lpstr>
      <vt:lpstr>Noto Sans Symbols</vt:lpstr>
      <vt:lpstr>Poppins</vt:lpstr>
      <vt:lpstr>Tahoma</vt:lpstr>
      <vt:lpstr>Times New Roman</vt:lpstr>
      <vt:lpstr>Wingdings</vt:lpstr>
      <vt:lpstr>Gallery</vt:lpstr>
      <vt:lpstr>mathematical optimization </vt:lpstr>
      <vt:lpstr>PowerPoint Presentation</vt:lpstr>
      <vt:lpstr>THE CUTTING–PLANE ALGORITHM</vt:lpstr>
      <vt:lpstr>THE CUTTING–PLANE ALGORITHM</vt:lpstr>
      <vt:lpstr>THE CUTTING–PLANE ALGORITHM (Cont…)</vt:lpstr>
      <vt:lpstr>THE CUTTING–PLANE ALGORITHM (Cont…)</vt:lpstr>
      <vt:lpstr>THE CUTTING–PLANE ALGORITHM</vt:lpstr>
      <vt:lpstr>THE CUTTING–PLANE ALGORITHM</vt:lpstr>
      <vt:lpstr>THE CUTTING–PLANE ALGORITHM (Cont…)</vt:lpstr>
      <vt:lpstr>THE CUTTING–PLANE ALGORITHM (Cont…)</vt:lpstr>
      <vt:lpstr>THE CUTTING–PLANE ALGORITHM (Cont…)</vt:lpstr>
      <vt:lpstr>THE CUTTING–PLANE ALGORITHM (Cont…)</vt:lpstr>
      <vt:lpstr>THE CUTTING–PLANE ALGORITHM (Cont…)</vt:lpstr>
      <vt:lpstr>THE CUTTING–PLANE ALGORITHM (Cont…)</vt:lpstr>
      <vt:lpstr>THE CUTTING–PLANE ALGORITHM (Cont…)</vt:lpstr>
      <vt:lpstr>THE CUTTING–PLANE ALGORITHM (Cont…)</vt:lpstr>
      <vt:lpstr>THE CUTTING–PLANE ALGORITHM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PROGRAMMING</dc:title>
  <dc:creator>Imunganbi Sanasam</dc:creator>
  <cp:lastModifiedBy>V V Sivaramaraju</cp:lastModifiedBy>
  <cp:revision>347</cp:revision>
  <dcterms:created xsi:type="dcterms:W3CDTF">2023-05-10T06:33:41Z</dcterms:created>
  <dcterms:modified xsi:type="dcterms:W3CDTF">2025-07-02T06:37:27Z</dcterms:modified>
</cp:coreProperties>
</file>