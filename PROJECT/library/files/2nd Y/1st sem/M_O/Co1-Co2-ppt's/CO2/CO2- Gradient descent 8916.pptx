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5"/>
  </p:notesMasterIdLst>
  <p:handoutMasterIdLst>
    <p:handoutMasterId r:id="rId16"/>
  </p:handoutMasterIdLst>
  <p:sldIdLst>
    <p:sldId id="256" r:id="rId2"/>
    <p:sldId id="300" r:id="rId3"/>
    <p:sldId id="257" r:id="rId4"/>
    <p:sldId id="297" r:id="rId5"/>
    <p:sldId id="298" r:id="rId6"/>
    <p:sldId id="301" r:id="rId7"/>
    <p:sldId id="302" r:id="rId8"/>
    <p:sldId id="303" r:id="rId9"/>
    <p:sldId id="312" r:id="rId10"/>
    <p:sldId id="314" r:id="rId11"/>
    <p:sldId id="315" r:id="rId12"/>
    <p:sldId id="313" r:id="rId13"/>
    <p:sldId id="31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3" d="100"/>
          <a:sy n="83" d="100"/>
        </p:scale>
        <p:origin x="22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02-07-2025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9" name="Google Shape;139;p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718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47332" y="1374477"/>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mathematical optimization</a:t>
            </a:r>
          </a:p>
        </p:txBody>
      </p:sp>
      <p:sp>
        <p:nvSpPr>
          <p:cNvPr id="3" name="Subtitle 2">
            <a:extLst>
              <a:ext uri="{FF2B5EF4-FFF2-40B4-BE49-F238E27FC236}">
                <a16:creationId xmlns:a16="http://schemas.microsoft.com/office/drawing/2014/main" id="{5F640656-3048-2A08-BF39-81705306F79A}"/>
              </a:ext>
            </a:extLst>
          </p:cNvPr>
          <p:cNvSpPr>
            <a:spLocks noGrp="1"/>
          </p:cNvSpPr>
          <p:nvPr>
            <p:ph type="subTitle" idx="1"/>
          </p:nvPr>
        </p:nvSpPr>
        <p:spPr/>
        <p:txBody>
          <a:bodyPr/>
          <a:lstStyle/>
          <a:p>
            <a:r>
              <a:rPr lang="en-IN" dirty="0">
                <a:latin typeface="Times New Roman" panose="02020603050405020304" pitchFamily="18" charset="0"/>
                <a:cs typeface="Times New Roman" panose="02020603050405020304" pitchFamily="18" charset="0"/>
              </a:rPr>
              <a:t>CO2- </a:t>
            </a:r>
            <a:r>
              <a:rPr lang="en-US" dirty="0">
                <a:latin typeface="Times New Roman" panose="02020603050405020304" pitchFamily="18" charset="0"/>
                <a:cs typeface="Times New Roman" panose="02020603050405020304" pitchFamily="18" charset="0"/>
              </a:rPr>
              <a:t>Gradient descent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p:nvPr/>
        </p:nvSpPr>
        <p:spPr>
          <a:xfrm>
            <a:off x="4471200" y="84240"/>
            <a:ext cx="3011040" cy="3902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i="0" u="none" strike="noStrike" cap="none">
                <a:solidFill>
                  <a:srgbClr val="FFFFFF"/>
                </a:solidFill>
                <a:latin typeface="Calibri"/>
                <a:ea typeface="Calibri"/>
                <a:cs typeface="Calibri"/>
                <a:sym typeface="Calibri"/>
              </a:rPr>
              <a:t>AIM OF THE SESSION</a:t>
            </a:r>
            <a:endParaRPr sz="2400" b="0" i="0" u="none" strike="noStrike" cap="none">
              <a:latin typeface="Arial"/>
              <a:ea typeface="Arial"/>
              <a:cs typeface="Arial"/>
              <a:sym typeface="Arial"/>
            </a:endParaRPr>
          </a:p>
        </p:txBody>
      </p:sp>
      <p:sp>
        <p:nvSpPr>
          <p:cNvPr id="142" name="Google Shape;142;p28"/>
          <p:cNvSpPr/>
          <p:nvPr/>
        </p:nvSpPr>
        <p:spPr>
          <a:xfrm>
            <a:off x="914400" y="684360"/>
            <a:ext cx="10705480" cy="605260"/>
          </a:xfrm>
          <a:prstGeom prst="rect">
            <a:avLst/>
          </a:prstGeom>
          <a:gradFill>
            <a:gsLst>
              <a:gs pos="0">
                <a:srgbClr val="F7FAFD"/>
              </a:gs>
              <a:gs pos="100000">
                <a:srgbClr val="CEE1F2"/>
              </a:gs>
            </a:gsLst>
            <a:path path="circle">
              <a:fillToRect l="50000" t="50000" r="50000" b="50000"/>
            </a:path>
            <a:tileRect/>
          </a:gradFill>
          <a:ln w="9525" cap="rnd" cmpd="sng">
            <a:solidFill>
              <a:srgbClr val="DDEAF6"/>
            </a:solidFill>
            <a:prstDash val="solid"/>
            <a:round/>
            <a:headEnd type="none" w="sm" len="sm"/>
            <a:tailEnd type="none" w="sm" len="sm"/>
          </a:ln>
          <a:effectLst>
            <a:outerShdw blurRad="50800" dist="38160" algn="l" rotWithShape="0">
              <a:srgbClr val="BBD6EE">
                <a:alpha val="0"/>
              </a:srgbClr>
            </a:outerShdw>
          </a:effectLst>
        </p:spPr>
        <p:txBody>
          <a:bodyPr spcFirstLastPara="1" wrap="square" lIns="91425" tIns="45700" rIns="91425" bIns="45700" anchor="t" anchorCtr="0">
            <a:noAutofit/>
          </a:bodyPr>
          <a:lstStyle/>
          <a:p>
            <a:pPr lvl="0">
              <a:lnSpc>
                <a:spcPct val="150000"/>
              </a:lnSpc>
            </a:pPr>
            <a:r>
              <a:rPr lang="en-US" sz="1600" b="0" i="0" u="none" strike="noStrike" cap="none" dirty="0">
                <a:solidFill>
                  <a:srgbClr val="000000"/>
                </a:solidFill>
                <a:latin typeface="Poppins"/>
                <a:ea typeface="Poppins"/>
                <a:cs typeface="Poppins"/>
                <a:sym typeface="Poppins"/>
              </a:rPr>
              <a:t>To familiarize students with the concept of </a:t>
            </a:r>
            <a:r>
              <a:rPr lang="en-US" dirty="0"/>
              <a:t>Constrained optimization</a:t>
            </a:r>
            <a:r>
              <a:rPr lang="en-IN" sz="1600" b="0" i="0" u="none" strike="noStrike" cap="none" dirty="0">
                <a:solidFill>
                  <a:srgbClr val="000000"/>
                </a:solidFill>
                <a:latin typeface="Poppins"/>
                <a:ea typeface="Poppins"/>
                <a:cs typeface="Poppins"/>
                <a:sym typeface="Poppins"/>
              </a:rPr>
              <a:t>.</a:t>
            </a:r>
            <a:endParaRPr sz="1600" b="0" i="0" u="none" strike="noStrike" cap="none" dirty="0">
              <a:latin typeface="Arial"/>
              <a:ea typeface="Arial"/>
              <a:cs typeface="Arial"/>
              <a:sym typeface="Arial"/>
            </a:endParaRPr>
          </a:p>
          <a:p>
            <a:pPr marL="0" marR="0" lvl="0" indent="0" algn="l" rtl="0">
              <a:lnSpc>
                <a:spcPct val="150000"/>
              </a:lnSpc>
              <a:spcBef>
                <a:spcPts val="0"/>
              </a:spcBef>
              <a:spcAft>
                <a:spcPts val="0"/>
              </a:spcAft>
              <a:buNone/>
            </a:pPr>
            <a:endParaRPr sz="1600" b="0" i="0" u="none" strike="noStrike" cap="none" dirty="0">
              <a:latin typeface="Arial"/>
              <a:ea typeface="Arial"/>
              <a:cs typeface="Arial"/>
              <a:sym typeface="Arial"/>
            </a:endParaRPr>
          </a:p>
        </p:txBody>
      </p:sp>
      <p:sp>
        <p:nvSpPr>
          <p:cNvPr id="143" name="Google Shape;143;p28"/>
          <p:cNvSpPr/>
          <p:nvPr/>
        </p:nvSpPr>
        <p:spPr>
          <a:xfrm>
            <a:off x="4160520" y="1807200"/>
            <a:ext cx="3870360" cy="3902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i="0" u="none" strike="noStrike" cap="none">
                <a:solidFill>
                  <a:srgbClr val="FFFFFF"/>
                </a:solidFill>
                <a:latin typeface="Calibri"/>
                <a:ea typeface="Calibri"/>
                <a:cs typeface="Calibri"/>
                <a:sym typeface="Calibri"/>
              </a:rPr>
              <a:t>INSTRUCTIONAL OBJECTIVES</a:t>
            </a:r>
            <a:endParaRPr sz="2400" b="0" i="0" u="none" strike="noStrike" cap="none">
              <a:latin typeface="Arial"/>
              <a:ea typeface="Arial"/>
              <a:cs typeface="Arial"/>
              <a:sym typeface="Arial"/>
            </a:endParaRPr>
          </a:p>
        </p:txBody>
      </p:sp>
      <p:sp>
        <p:nvSpPr>
          <p:cNvPr id="144" name="Google Shape;144;p28"/>
          <p:cNvSpPr/>
          <p:nvPr/>
        </p:nvSpPr>
        <p:spPr>
          <a:xfrm>
            <a:off x="1752480" y="2438640"/>
            <a:ext cx="8791200" cy="1551960"/>
          </a:xfrm>
          <a:prstGeom prst="rect">
            <a:avLst/>
          </a:prstGeom>
          <a:gradFill>
            <a:gsLst>
              <a:gs pos="0">
                <a:srgbClr val="F7FAFD"/>
              </a:gs>
              <a:gs pos="100000">
                <a:srgbClr val="CEE1F2"/>
              </a:gs>
            </a:gsLst>
            <a:path path="circle">
              <a:fillToRect l="50000" t="50000" r="50000" b="50000"/>
            </a:path>
            <a:tileRect/>
          </a:gradFill>
          <a:ln w="9525" cap="flat" cmpd="sng">
            <a:solidFill>
              <a:srgbClr val="DDEAF6"/>
            </a:solidFill>
            <a:prstDash val="solid"/>
            <a:round/>
            <a:headEnd type="none" w="sm" len="sm"/>
            <a:tailEnd type="none" w="sm" len="sm"/>
          </a:ln>
          <a:effectLst>
            <a:outerShdw blurRad="50800" dist="38160" algn="l" rotWithShape="0">
              <a:srgbClr val="BBD6EE">
                <a:alpha val="40000"/>
              </a:srgbClr>
            </a:outerShdw>
          </a:effectLst>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1600" b="0" i="0" u="none" strike="noStrike" cap="none" dirty="0">
                <a:solidFill>
                  <a:srgbClr val="000000"/>
                </a:solidFill>
                <a:latin typeface="Poppins"/>
                <a:ea typeface="Poppins"/>
                <a:cs typeface="Poppins"/>
                <a:sym typeface="Poppins"/>
              </a:rPr>
              <a:t>This Session is designed to:</a:t>
            </a:r>
            <a:endParaRPr sz="1600" b="0" i="0" u="none" strike="noStrike" cap="none" dirty="0">
              <a:latin typeface="Arial"/>
              <a:ea typeface="Arial"/>
              <a:cs typeface="Arial"/>
              <a:sym typeface="Arial"/>
            </a:endParaRPr>
          </a:p>
          <a:p>
            <a:pPr marL="342900" lvl="0" indent="-342265">
              <a:buClr>
                <a:srgbClr val="000000"/>
              </a:buClr>
              <a:buSzPts val="1600"/>
              <a:buFont typeface="Noto Sans Symbols"/>
              <a:buAutoNum type="arabicPeriod"/>
            </a:pPr>
            <a:r>
              <a:rPr lang="en-US" sz="1600" b="0" i="0" u="none" strike="noStrike" cap="none" dirty="0">
                <a:solidFill>
                  <a:srgbClr val="000000"/>
                </a:solidFill>
                <a:latin typeface="Arial"/>
                <a:ea typeface="Arial"/>
                <a:cs typeface="Arial"/>
                <a:sym typeface="Arial"/>
              </a:rPr>
              <a:t>Introduction to the </a:t>
            </a:r>
            <a:r>
              <a:rPr lang="en-US" dirty="0"/>
              <a:t>Gradient Descent Method</a:t>
            </a:r>
          </a:p>
          <a:p>
            <a:pPr marL="342900" lvl="0" indent="-342265">
              <a:buClr>
                <a:srgbClr val="000000"/>
              </a:buClr>
              <a:buSzPts val="1600"/>
              <a:buFont typeface="Noto Sans Symbols"/>
              <a:buAutoNum type="arabicPeriod"/>
            </a:pPr>
            <a:r>
              <a:rPr lang="en-US" sz="1600" dirty="0">
                <a:solidFill>
                  <a:srgbClr val="000000"/>
                </a:solidFill>
                <a:latin typeface="Arial"/>
                <a:ea typeface="Arial"/>
                <a:cs typeface="Arial"/>
                <a:sym typeface="Arial"/>
              </a:rPr>
              <a:t>Working with the </a:t>
            </a:r>
            <a:r>
              <a:rPr lang="en-US" sz="1600" dirty="0"/>
              <a:t>Gradient Descent Method</a:t>
            </a:r>
            <a:endParaRPr lang="en-IN" sz="1600" dirty="0">
              <a:solidFill>
                <a:srgbClr val="000000"/>
              </a:solidFill>
              <a:latin typeface="Arial"/>
              <a:ea typeface="Arial"/>
              <a:cs typeface="Arial"/>
              <a:sym typeface="Arial"/>
            </a:endParaRPr>
          </a:p>
          <a:p>
            <a:pPr marL="342900" indent="-342265">
              <a:buClr>
                <a:srgbClr val="000000"/>
              </a:buClr>
              <a:buSzPts val="1600"/>
              <a:buFont typeface="Noto Sans Symbols"/>
              <a:buAutoNum type="arabicPeriod"/>
            </a:pPr>
            <a:r>
              <a:rPr lang="en-IN" sz="1600" dirty="0">
                <a:solidFill>
                  <a:srgbClr val="000000"/>
                </a:solidFill>
                <a:latin typeface="Arial"/>
                <a:ea typeface="Arial"/>
                <a:cs typeface="Arial"/>
                <a:sym typeface="Arial"/>
              </a:rPr>
              <a:t>Examples of the </a:t>
            </a:r>
            <a:r>
              <a:rPr lang="en-US" sz="1600" dirty="0"/>
              <a:t>Gradient Descent Method</a:t>
            </a:r>
            <a:endParaRPr sz="1600" b="0" i="0" u="none" strike="noStrike" cap="none" dirty="0">
              <a:latin typeface="Arial"/>
              <a:ea typeface="Arial"/>
              <a:cs typeface="Arial"/>
            </a:endParaRPr>
          </a:p>
        </p:txBody>
      </p:sp>
      <p:pic>
        <p:nvPicPr>
          <p:cNvPr id="145" name="Google Shape;145;p28" descr="Bullseye outline"/>
          <p:cNvPicPr preferRelativeResize="0"/>
          <p:nvPr/>
        </p:nvPicPr>
        <p:blipFill rotWithShape="1">
          <a:blip r:embed="rId3">
            <a:alphaModFix/>
          </a:blip>
          <a:srcRect/>
          <a:stretch/>
        </p:blipFill>
        <p:spPr>
          <a:xfrm>
            <a:off x="0" y="625320"/>
            <a:ext cx="914040" cy="914040"/>
          </a:xfrm>
          <a:prstGeom prst="rect">
            <a:avLst/>
          </a:prstGeom>
          <a:noFill/>
          <a:ln>
            <a:noFill/>
          </a:ln>
        </p:spPr>
      </p:pic>
      <p:pic>
        <p:nvPicPr>
          <p:cNvPr id="146" name="Google Shape;146;p28" descr="Presentation with checklist outline"/>
          <p:cNvPicPr preferRelativeResize="0"/>
          <p:nvPr/>
        </p:nvPicPr>
        <p:blipFill rotWithShape="1">
          <a:blip r:embed="rId4">
            <a:alphaModFix/>
          </a:blip>
          <a:srcRect/>
          <a:stretch/>
        </p:blipFill>
        <p:spPr>
          <a:xfrm>
            <a:off x="838080" y="2438640"/>
            <a:ext cx="914040" cy="914040"/>
          </a:xfrm>
          <a:prstGeom prst="rect">
            <a:avLst/>
          </a:prstGeom>
          <a:noFill/>
          <a:ln>
            <a:noFill/>
          </a:ln>
        </p:spPr>
      </p:pic>
      <p:sp>
        <p:nvSpPr>
          <p:cNvPr id="147" name="Google Shape;147;p28"/>
          <p:cNvSpPr/>
          <p:nvPr/>
        </p:nvSpPr>
        <p:spPr>
          <a:xfrm>
            <a:off x="4213080" y="4249080"/>
            <a:ext cx="3870360" cy="3902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i="0" u="none" strike="noStrike" cap="none">
                <a:solidFill>
                  <a:srgbClr val="FFFFFF"/>
                </a:solidFill>
                <a:latin typeface="Calibri"/>
                <a:ea typeface="Calibri"/>
                <a:cs typeface="Calibri"/>
                <a:sym typeface="Calibri"/>
              </a:rPr>
              <a:t>LEARNING OUTCOMES</a:t>
            </a:r>
            <a:endParaRPr sz="2400" b="0" i="0" u="none" strike="noStrike" cap="none">
              <a:latin typeface="Arial"/>
              <a:ea typeface="Arial"/>
              <a:cs typeface="Arial"/>
              <a:sym typeface="Arial"/>
            </a:endParaRPr>
          </a:p>
        </p:txBody>
      </p:sp>
      <p:pic>
        <p:nvPicPr>
          <p:cNvPr id="148" name="Google Shape;148;p28" descr="Idea outline"/>
          <p:cNvPicPr preferRelativeResize="0"/>
          <p:nvPr/>
        </p:nvPicPr>
        <p:blipFill rotWithShape="1">
          <a:blip r:embed="rId5">
            <a:alphaModFix/>
          </a:blip>
          <a:srcRect/>
          <a:stretch/>
        </p:blipFill>
        <p:spPr>
          <a:xfrm>
            <a:off x="914400" y="4765680"/>
            <a:ext cx="914040" cy="914040"/>
          </a:xfrm>
          <a:prstGeom prst="rect">
            <a:avLst/>
          </a:prstGeom>
          <a:noFill/>
          <a:ln>
            <a:noFill/>
          </a:ln>
        </p:spPr>
      </p:pic>
      <p:sp>
        <p:nvSpPr>
          <p:cNvPr id="149" name="Google Shape;149;p28"/>
          <p:cNvSpPr/>
          <p:nvPr/>
        </p:nvSpPr>
        <p:spPr>
          <a:xfrm>
            <a:off x="1752480" y="4772160"/>
            <a:ext cx="8791200" cy="1156200"/>
          </a:xfrm>
          <a:prstGeom prst="rect">
            <a:avLst/>
          </a:prstGeom>
          <a:gradFill>
            <a:gsLst>
              <a:gs pos="0">
                <a:srgbClr val="F7FAFD"/>
              </a:gs>
              <a:gs pos="100000">
                <a:srgbClr val="CEE1F2"/>
              </a:gs>
            </a:gsLst>
            <a:path path="circle">
              <a:fillToRect l="50000" t="50000" r="50000" b="50000"/>
            </a:path>
            <a:tileRect/>
          </a:gradFill>
          <a:ln w="9525" cap="flat" cmpd="sng">
            <a:solidFill>
              <a:srgbClr val="DDEAF6"/>
            </a:solidFill>
            <a:prstDash val="solid"/>
            <a:round/>
            <a:headEnd type="none" w="sm" len="sm"/>
            <a:tailEnd type="none" w="sm" len="sm"/>
          </a:ln>
          <a:effectLst>
            <a:outerShdw blurRad="50800" dist="38160" algn="l" rotWithShape="0">
              <a:srgbClr val="BBD6EE">
                <a:alpha val="40000"/>
              </a:srgbClr>
            </a:outerShdw>
          </a:effectLst>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1600" b="0" i="0" u="none" strike="noStrike" cap="none" dirty="0">
                <a:solidFill>
                  <a:srgbClr val="000000"/>
                </a:solidFill>
                <a:latin typeface="Arial"/>
                <a:ea typeface="Arial"/>
                <a:cs typeface="Arial"/>
                <a:sym typeface="Arial"/>
              </a:rPr>
              <a:t>At the end of this session, </a:t>
            </a:r>
            <a:r>
              <a:rPr lang="en-US" sz="1600" dirty="0">
                <a:solidFill>
                  <a:srgbClr val="000000"/>
                </a:solidFill>
                <a:latin typeface="Arial"/>
                <a:ea typeface="Arial"/>
                <a:cs typeface="Arial"/>
                <a:sym typeface="Arial"/>
              </a:rPr>
              <a:t>the students</a:t>
            </a:r>
            <a:r>
              <a:rPr lang="en-US" sz="1600" b="0" i="0" u="none" strike="noStrike" cap="none" dirty="0">
                <a:solidFill>
                  <a:srgbClr val="000000"/>
                </a:solidFill>
                <a:latin typeface="Arial"/>
                <a:ea typeface="Arial"/>
                <a:cs typeface="Arial"/>
                <a:sym typeface="Arial"/>
              </a:rPr>
              <a:t> should be able to:</a:t>
            </a:r>
            <a:endParaRPr sz="1600" b="0" i="0" u="none" strike="noStrike" cap="none" dirty="0">
              <a:latin typeface="Arial"/>
              <a:ea typeface="Arial"/>
              <a:cs typeface="Arial"/>
              <a:sym typeface="Arial"/>
            </a:endParaRPr>
          </a:p>
          <a:p>
            <a:pPr marL="343080" lvl="0" indent="-342720">
              <a:buClr>
                <a:srgbClr val="000000"/>
              </a:buClr>
              <a:buSzPts val="1600"/>
              <a:buFont typeface="Noto Sans Symbols"/>
              <a:buAutoNum type="arabicPeriod"/>
            </a:pPr>
            <a:r>
              <a:rPr lang="en-US" sz="1600" dirty="0">
                <a:solidFill>
                  <a:srgbClr val="000000"/>
                </a:solidFill>
                <a:latin typeface="Arial"/>
                <a:ea typeface="Arial"/>
                <a:cs typeface="Arial"/>
                <a:sym typeface="Arial"/>
              </a:rPr>
              <a:t>Understand </a:t>
            </a:r>
            <a:r>
              <a:rPr lang="en-US" sz="1600" dirty="0"/>
              <a:t>Gradient Descent method </a:t>
            </a:r>
            <a:endParaRPr sz="1600" b="0" i="0" u="none" strike="noStrike" cap="none" dirty="0">
              <a:latin typeface="Arial"/>
              <a:ea typeface="Arial"/>
              <a:cs typeface="Arial"/>
              <a:sym typeface="Arial"/>
            </a:endParaRPr>
          </a:p>
        </p:txBody>
      </p:sp>
      <p:pic>
        <p:nvPicPr>
          <p:cNvPr id="150" name="Google Shape;150;p28" descr="KL Deemed to be University Logo"/>
          <p:cNvPicPr preferRelativeResize="0"/>
          <p:nvPr/>
        </p:nvPicPr>
        <p:blipFill rotWithShape="1">
          <a:blip r:embed="rId6">
            <a:alphaModFix/>
          </a:blip>
          <a:srcRect/>
          <a:stretch/>
        </p:blipFill>
        <p:spPr>
          <a:xfrm>
            <a:off x="0" y="0"/>
            <a:ext cx="1990440" cy="599760"/>
          </a:xfrm>
          <a:prstGeom prst="rect">
            <a:avLst/>
          </a:prstGeom>
          <a:noFill/>
          <a:ln>
            <a:noFill/>
          </a:ln>
        </p:spPr>
      </p:pic>
      <p:pic>
        <p:nvPicPr>
          <p:cNvPr id="151" name="Google Shape;151;p28"/>
          <p:cNvPicPr preferRelativeResize="0"/>
          <p:nvPr/>
        </p:nvPicPr>
        <p:blipFill rotWithShape="1">
          <a:blip r:embed="rId7">
            <a:alphaModFix/>
          </a:blip>
          <a:srcRect l="11087" t="90948" r="8738" b="2224"/>
          <a:stretch/>
        </p:blipFill>
        <p:spPr>
          <a:xfrm>
            <a:off x="686425" y="6334750"/>
            <a:ext cx="10923300" cy="523250"/>
          </a:xfrm>
          <a:prstGeom prst="rect">
            <a:avLst/>
          </a:prstGeom>
          <a:noFill/>
          <a:ln>
            <a:noFill/>
          </a:ln>
        </p:spPr>
      </p:pic>
      <p:sp>
        <p:nvSpPr>
          <p:cNvPr id="2" name="Slide Number Placeholder 3">
            <a:extLst>
              <a:ext uri="{FF2B5EF4-FFF2-40B4-BE49-F238E27FC236}">
                <a16:creationId xmlns:a16="http://schemas.microsoft.com/office/drawing/2014/main" id="{B4AE62C8-CFDA-6A6A-8DEF-9426216F8C56}"/>
              </a:ext>
            </a:extLst>
          </p:cNvPr>
          <p:cNvSpPr>
            <a:spLocks noGrp="1"/>
          </p:cNvSpPr>
          <p:nvPr>
            <p:ph type="sldNum" sz="quarter" idx="12"/>
          </p:nvPr>
        </p:nvSpPr>
        <p:spPr>
          <a:xfrm>
            <a:off x="5690490" y="6291139"/>
            <a:ext cx="811019" cy="503578"/>
          </a:xfrm>
        </p:spPr>
        <p:txBody>
          <a:bodyPr/>
          <a:lstStyle/>
          <a:p>
            <a:fld id="{CBABCCC1-BF11-4F37-963E-1BCD5B23FD72}" type="slidenum">
              <a:rPr lang="en-IN" smtClean="0"/>
              <a:t>2</a:t>
            </a:fld>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5"/>
                                        </p:tgtEl>
                                        <p:attrNameLst>
                                          <p:attrName>style.visibility</p:attrName>
                                        </p:attrNameLst>
                                      </p:cBhvr>
                                      <p:to>
                                        <p:strVal val="visible"/>
                                      </p:to>
                                    </p:set>
                                    <p:animEffect transition="in" filter="fade">
                                      <p:cBhvr>
                                        <p:cTn id="12" dur="500"/>
                                        <p:tgtEl>
                                          <p:spTgt spid="145"/>
                                        </p:tgtEl>
                                      </p:cBhvr>
                                    </p:animEffect>
                                  </p:childTnLst>
                                </p:cTn>
                              </p:par>
                              <p:par>
                                <p:cTn id="13" presetID="10" presetClass="entr" presetSubtype="0" fill="hold" nodeType="withEffect">
                                  <p:stCondLst>
                                    <p:cond delay="0"/>
                                  </p:stCondLst>
                                  <p:childTnLst>
                                    <p:set>
                                      <p:cBhvr>
                                        <p:cTn id="14" dur="1" fill="hold">
                                          <p:stCondLst>
                                            <p:cond delay="0"/>
                                          </p:stCondLst>
                                        </p:cTn>
                                        <p:tgtEl>
                                          <p:spTgt spid="142"/>
                                        </p:tgtEl>
                                        <p:attrNameLst>
                                          <p:attrName>style.visibility</p:attrName>
                                        </p:attrNameLst>
                                      </p:cBhvr>
                                      <p:to>
                                        <p:strVal val="visible"/>
                                      </p:to>
                                    </p:set>
                                    <p:animEffect transition="in" filter="fade">
                                      <p:cBhvr>
                                        <p:cTn id="15" dur="500"/>
                                        <p:tgtEl>
                                          <p:spTgt spid="14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3"/>
                                        </p:tgtEl>
                                        <p:attrNameLst>
                                          <p:attrName>style.visibility</p:attrName>
                                        </p:attrNameLst>
                                      </p:cBhvr>
                                      <p:to>
                                        <p:strVal val="visible"/>
                                      </p:to>
                                    </p:set>
                                    <p:animEffect transition="in" filter="fade">
                                      <p:cBhvr>
                                        <p:cTn id="20" dur="500"/>
                                        <p:tgtEl>
                                          <p:spTgt spid="14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4"/>
                                        </p:tgtEl>
                                        <p:attrNameLst>
                                          <p:attrName>style.visibility</p:attrName>
                                        </p:attrNameLst>
                                      </p:cBhvr>
                                      <p:to>
                                        <p:strVal val="visible"/>
                                      </p:to>
                                    </p:set>
                                    <p:animEffect transition="in" filter="fade">
                                      <p:cBhvr>
                                        <p:cTn id="25" dur="500"/>
                                        <p:tgtEl>
                                          <p:spTgt spid="144"/>
                                        </p:tgtEl>
                                      </p:cBhvr>
                                    </p:animEffect>
                                  </p:childTnLst>
                                </p:cTn>
                              </p:par>
                              <p:par>
                                <p:cTn id="26" presetID="10" presetClass="entr" presetSubtype="0" fill="hold" nodeType="withEffect">
                                  <p:stCondLst>
                                    <p:cond delay="0"/>
                                  </p:stCondLst>
                                  <p:childTnLst>
                                    <p:set>
                                      <p:cBhvr>
                                        <p:cTn id="27" dur="1" fill="hold">
                                          <p:stCondLst>
                                            <p:cond delay="0"/>
                                          </p:stCondLst>
                                        </p:cTn>
                                        <p:tgtEl>
                                          <p:spTgt spid="146"/>
                                        </p:tgtEl>
                                        <p:attrNameLst>
                                          <p:attrName>style.visibility</p:attrName>
                                        </p:attrNameLst>
                                      </p:cBhvr>
                                      <p:to>
                                        <p:strVal val="visible"/>
                                      </p:to>
                                    </p:set>
                                    <p:animEffect transition="in" filter="fade">
                                      <p:cBhvr>
                                        <p:cTn id="28" dur="500"/>
                                        <p:tgtEl>
                                          <p:spTgt spid="14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7"/>
                                        </p:tgtEl>
                                        <p:attrNameLst>
                                          <p:attrName>style.visibility</p:attrName>
                                        </p:attrNameLst>
                                      </p:cBhvr>
                                      <p:to>
                                        <p:strVal val="visible"/>
                                      </p:to>
                                    </p:set>
                                    <p:animEffect transition="in" filter="fade">
                                      <p:cBhvr>
                                        <p:cTn id="33" dur="500"/>
                                        <p:tgtEl>
                                          <p:spTgt spid="14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9"/>
                                        </p:tgtEl>
                                        <p:attrNameLst>
                                          <p:attrName>style.visibility</p:attrName>
                                        </p:attrNameLst>
                                      </p:cBhvr>
                                      <p:to>
                                        <p:strVal val="visible"/>
                                      </p:to>
                                    </p:set>
                                    <p:animEffect transition="in" filter="fade">
                                      <p:cBhvr>
                                        <p:cTn id="38" dur="500"/>
                                        <p:tgtEl>
                                          <p:spTgt spid="149"/>
                                        </p:tgtEl>
                                      </p:cBhvr>
                                    </p:animEffect>
                                  </p:childTnLst>
                                </p:cTn>
                              </p:par>
                              <p:par>
                                <p:cTn id="39" presetID="10" presetClass="entr" presetSubtype="0" fill="hold" nodeType="withEffect">
                                  <p:stCondLst>
                                    <p:cond delay="0"/>
                                  </p:stCondLst>
                                  <p:childTnLst>
                                    <p:set>
                                      <p:cBhvr>
                                        <p:cTn id="40" dur="1" fill="hold">
                                          <p:stCondLst>
                                            <p:cond delay="0"/>
                                          </p:stCondLst>
                                        </p:cTn>
                                        <p:tgtEl>
                                          <p:spTgt spid="148"/>
                                        </p:tgtEl>
                                        <p:attrNameLst>
                                          <p:attrName>style.visibility</p:attrName>
                                        </p:attrNameLst>
                                      </p:cBhvr>
                                      <p:to>
                                        <p:strVal val="visible"/>
                                      </p:to>
                                    </p:set>
                                    <p:animEffect transition="in" filter="fade">
                                      <p:cBhvr>
                                        <p:cTn id="41"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938E-369B-C16C-7F9D-AB782D33D20F}"/>
              </a:ext>
            </a:extLst>
          </p:cNvPr>
          <p:cNvSpPr>
            <a:spLocks noGrp="1"/>
          </p:cNvSpPr>
          <p:nvPr>
            <p:ph type="title"/>
          </p:nvPr>
        </p:nvSpPr>
        <p:spPr>
          <a:xfrm>
            <a:off x="439839" y="694481"/>
            <a:ext cx="11104462" cy="968496"/>
          </a:xfrm>
        </p:spPr>
        <p:txBody>
          <a:bodyPr>
            <a:normAutofit fontScale="90000"/>
          </a:bodyPr>
          <a:lstStyle/>
          <a:p>
            <a:r>
              <a:rPr lang="en-US" dirty="0">
                <a:latin typeface="Times New Roman" panose="02020603050405020304" pitchFamily="18" charset="0"/>
                <a:cs typeface="Times New Roman" panose="02020603050405020304" pitchFamily="18" charset="0"/>
              </a:rPr>
              <a:t>Gradient descent,</a:t>
            </a:r>
            <a:r>
              <a:rPr lang="en-IN" dirty="0">
                <a:latin typeface="Times New Roman" panose="02020603050405020304" pitchFamily="18" charset="0"/>
                <a:cs typeface="Times New Roman" panose="02020603050405020304" pitchFamily="18" charset="0"/>
              </a:rPr>
              <a:t> Newton's method</a:t>
            </a:r>
            <a:r>
              <a:rPr lang="en-IN" sz="3200" spc="-9" dirty="0">
                <a:latin typeface="Times New Roman" panose="02020603050405020304" pitchFamily="18" charset="0"/>
                <a:cs typeface="Times New Roman" panose="02020603050405020304" pitchFamily="18" charset="0"/>
              </a:rPr>
              <a:t>: </a:t>
            </a:r>
            <a:r>
              <a:rPr lang="en-IN" sz="3200" spc="-1024" dirty="0">
                <a:latin typeface="Times New Roman" panose="02020603050405020304" pitchFamily="18" charset="0"/>
                <a:cs typeface="Times New Roman" panose="02020603050405020304" pitchFamily="18" charset="0"/>
              </a:rPr>
              <a:t> </a:t>
            </a:r>
            <a:r>
              <a:rPr lang="en-IN" sz="3200" spc="-4" dirty="0">
                <a:latin typeface="Times New Roman" panose="02020603050405020304" pitchFamily="18" charset="0"/>
                <a:cs typeface="Times New Roman" panose="02020603050405020304" pitchFamily="18" charset="0"/>
              </a:rPr>
              <a:t>AN</a:t>
            </a:r>
            <a:r>
              <a:rPr lang="en-IN" sz="3200" spc="-44" dirty="0">
                <a:latin typeface="Times New Roman" panose="02020603050405020304" pitchFamily="18" charset="0"/>
                <a:cs typeface="Times New Roman" panose="02020603050405020304" pitchFamily="18" charset="0"/>
              </a:rPr>
              <a:t> </a:t>
            </a:r>
            <a:r>
              <a:rPr lang="en-IN" sz="3200" spc="-9"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75C292-02A6-6C9F-D6D7-2141BB08618A}"/>
              </a:ext>
            </a:extLst>
          </p:cNvPr>
          <p:cNvSpPr>
            <a:spLocks noGrp="1"/>
          </p:cNvSpPr>
          <p:nvPr>
            <p:ph idx="1"/>
          </p:nvPr>
        </p:nvSpPr>
        <p:spPr>
          <a:xfrm>
            <a:off x="353292" y="1517072"/>
            <a:ext cx="11191008" cy="4561609"/>
          </a:xfrm>
        </p:spPr>
        <p:txBody>
          <a:bodyPr>
            <a:normAutofit/>
          </a:bodyPr>
          <a:lstStyle/>
          <a:p>
            <a:pPr algn="just"/>
            <a:r>
              <a:rPr lang="en-IN" dirty="0">
                <a:latin typeface="Times New Roman" panose="02020603050405020304" pitchFamily="18" charset="0"/>
                <a:cs typeface="Times New Roman" panose="02020603050405020304" pitchFamily="18" charset="0"/>
              </a:rPr>
              <a:t>Gradient descent, Newton's method, and the conjugate gradient method are all iterative algorithms used to find the minimum of a function, often in the context of optimization problems. </a:t>
            </a:r>
          </a:p>
          <a:p>
            <a:pPr algn="just"/>
            <a:r>
              <a:rPr lang="en-IN" dirty="0">
                <a:latin typeface="Times New Roman" panose="02020603050405020304" pitchFamily="18" charset="0"/>
                <a:cs typeface="Times New Roman" panose="02020603050405020304" pitchFamily="18" charset="0"/>
              </a:rPr>
              <a:t>Gradient descent is a first-order method, while Newton's method is a second-order method.</a:t>
            </a:r>
          </a:p>
          <a:p>
            <a:pPr algn="just"/>
            <a:r>
              <a:rPr lang="en-IN" dirty="0">
                <a:latin typeface="Times New Roman" panose="02020603050405020304" pitchFamily="18" charset="0"/>
                <a:cs typeface="Times New Roman" panose="02020603050405020304" pitchFamily="18" charset="0"/>
              </a:rPr>
              <a:t>The conjugate gradient method is an iterative method that can be seen as an improvement over gradient descent, offering faster convergence than steepest descent while avoiding the computational cost of Newton's method. </a:t>
            </a:r>
          </a:p>
          <a:p>
            <a:endParaRPr lang="en-IN" dirty="0"/>
          </a:p>
        </p:txBody>
      </p:sp>
      <p:sp>
        <p:nvSpPr>
          <p:cNvPr id="4" name="Slide Number Placeholder 3">
            <a:extLst>
              <a:ext uri="{FF2B5EF4-FFF2-40B4-BE49-F238E27FC236}">
                <a16:creationId xmlns:a16="http://schemas.microsoft.com/office/drawing/2014/main" id="{17E0FD6D-86AB-FA66-845A-CE396BC58451}"/>
              </a:ext>
            </a:extLst>
          </p:cNvPr>
          <p:cNvSpPr>
            <a:spLocks noGrp="1"/>
          </p:cNvSpPr>
          <p:nvPr>
            <p:ph type="sldNum" sz="quarter" idx="12"/>
          </p:nvPr>
        </p:nvSpPr>
        <p:spPr/>
        <p:txBody>
          <a:bodyPr/>
          <a:lstStyle/>
          <a:p>
            <a:fld id="{CBABCCC1-BF11-4F37-963E-1BCD5B23FD72}" type="slidenum">
              <a:rPr lang="en-IN" smtClean="0"/>
              <a:t>3</a:t>
            </a:fld>
            <a:endParaRPr lang="en-IN"/>
          </a:p>
        </p:txBody>
      </p:sp>
    </p:spTree>
    <p:extLst>
      <p:ext uri="{BB962C8B-B14F-4D97-AF65-F5344CB8AC3E}">
        <p14:creationId xmlns:p14="http://schemas.microsoft.com/office/powerpoint/2010/main" val="2416561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5044" y="658028"/>
            <a:ext cx="8473478" cy="564748"/>
          </a:xfrm>
          <a:prstGeom prst="rect">
            <a:avLst/>
          </a:prstGeom>
        </p:spPr>
        <p:txBody>
          <a:bodyPr vert="horz" wrap="square" lIns="0" tIns="10646" rIns="0" bIns="0" rtlCol="0" anchor="t">
            <a:spAutoFit/>
          </a:bodyPr>
          <a:lstStyle/>
          <a:p>
            <a:pPr marR="4483">
              <a:lnSpc>
                <a:spcPct val="100000"/>
              </a:lnSpc>
              <a:spcBef>
                <a:spcPts val="84"/>
              </a:spcBef>
            </a:pPr>
            <a:r>
              <a:rPr lang="en-US" sz="3600" dirty="0">
                <a:latin typeface="Times New Roman" panose="02020603050405020304" pitchFamily="18" charset="0"/>
                <a:cs typeface="Times New Roman" panose="02020603050405020304" pitchFamily="18" charset="0"/>
              </a:rPr>
              <a:t>Gradient descent</a:t>
            </a:r>
            <a:endParaRPr sz="3530" dirty="0">
              <a:latin typeface="Times New Roman" panose="02020603050405020304" pitchFamily="18" charset="0"/>
              <a:cs typeface="Times New Roman" panose="02020603050405020304" pitchFamily="18" charset="0"/>
            </a:endParaRPr>
          </a:p>
        </p:txBody>
      </p:sp>
      <p:sp>
        <p:nvSpPr>
          <p:cNvPr id="8" name="object 8"/>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4</a:t>
            </a:fld>
            <a:endParaRPr dirty="0"/>
          </a:p>
        </p:txBody>
      </p:sp>
      <p:sp>
        <p:nvSpPr>
          <p:cNvPr id="13" name="TextBox 12">
            <a:extLst>
              <a:ext uri="{FF2B5EF4-FFF2-40B4-BE49-F238E27FC236}">
                <a16:creationId xmlns:a16="http://schemas.microsoft.com/office/drawing/2014/main" id="{A4B835A0-069E-102F-A727-0144260DA520}"/>
              </a:ext>
            </a:extLst>
          </p:cNvPr>
          <p:cNvSpPr txBox="1"/>
          <p:nvPr/>
        </p:nvSpPr>
        <p:spPr>
          <a:xfrm>
            <a:off x="1525044" y="1497104"/>
            <a:ext cx="9259866" cy="5120120"/>
          </a:xfrm>
          <a:prstGeom prst="rect">
            <a:avLst/>
          </a:prstGeom>
          <a:noFill/>
        </p:spPr>
        <p:txBody>
          <a:bodyPr wrap="square">
            <a:spAutoFit/>
          </a:bodyPr>
          <a:lstStyle/>
          <a:p>
            <a:pPr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Gradient descent is an optimization algorithm used in machine learning to minimize the cost function by iteratively adjusting parameters in the direction of the negative gradient, aiming to find the optimal set of parameters.</a:t>
            </a:r>
          </a:p>
          <a:p>
            <a:pPr algn="just">
              <a:lnSpc>
                <a:spcPct val="107000"/>
              </a:lnSpc>
              <a:spcAft>
                <a:spcPts val="800"/>
              </a:spcAft>
            </a:pP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cost function represents the discrepancy between the predicted output of the model and the actual output. The goal of gradient descent is to find the set of parameters that minimizes this discrepancy and improves the model’s performance.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descr="A diagram of a weight loss&#10;&#10;Description automatically generated">
            <a:extLst>
              <a:ext uri="{FF2B5EF4-FFF2-40B4-BE49-F238E27FC236}">
                <a16:creationId xmlns:a16="http://schemas.microsoft.com/office/drawing/2014/main" id="{96E592D1-B5F3-5768-C21C-B3BFCEB1297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83068" y="2474277"/>
            <a:ext cx="3111878" cy="21478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5</a:t>
            </a:fld>
            <a:endParaRPr dirty="0"/>
          </a:p>
        </p:txBody>
      </p:sp>
      <p:sp>
        <p:nvSpPr>
          <p:cNvPr id="2" name="object 2"/>
          <p:cNvSpPr txBox="1">
            <a:spLocks noGrp="1"/>
          </p:cNvSpPr>
          <p:nvPr>
            <p:ph type="title"/>
          </p:nvPr>
        </p:nvSpPr>
        <p:spPr>
          <a:xfrm>
            <a:off x="2613599" y="689974"/>
            <a:ext cx="8473478" cy="503192"/>
          </a:xfrm>
          <a:prstGeom prst="rect">
            <a:avLst/>
          </a:prstGeom>
        </p:spPr>
        <p:txBody>
          <a:bodyPr vert="horz" wrap="square" lIns="0" tIns="10646" rIns="0" bIns="0" rtlCol="0" anchor="t">
            <a:spAutoFit/>
          </a:bodyPr>
          <a:lstStyle/>
          <a:p>
            <a:pPr marL="1805924" marR="4483" algn="r">
              <a:lnSpc>
                <a:spcPct val="100000"/>
              </a:lnSpc>
              <a:spcBef>
                <a:spcPts val="84"/>
              </a:spcBef>
            </a:pPr>
            <a:r>
              <a:rPr lang="en-US" dirty="0">
                <a:latin typeface="Times New Roman" panose="02020603050405020304" pitchFamily="18" charset="0"/>
                <a:cs typeface="Times New Roman" panose="02020603050405020304" pitchFamily="18" charset="0"/>
              </a:rPr>
              <a:t>Gradient descent</a:t>
            </a:r>
            <a:endParaRPr sz="3530" dirty="0">
              <a:latin typeface="Times New Roman" panose="02020603050405020304" pitchFamily="18" charset="0"/>
              <a:cs typeface="Times New Roman" panose="02020603050405020304" pitchFamily="18" charset="0"/>
            </a:endParaRPr>
          </a:p>
        </p:txBody>
      </p:sp>
      <p:sp>
        <p:nvSpPr>
          <p:cNvPr id="6" name="Text Box 2">
            <a:extLst>
              <a:ext uri="{FF2B5EF4-FFF2-40B4-BE49-F238E27FC236}">
                <a16:creationId xmlns:a16="http://schemas.microsoft.com/office/drawing/2014/main" id="{751B295E-671E-ED64-2B3B-F8E174CBAC24}"/>
              </a:ext>
            </a:extLst>
          </p:cNvPr>
          <p:cNvSpPr txBox="1">
            <a:spLocks noChangeArrowheads="1"/>
          </p:cNvSpPr>
          <p:nvPr/>
        </p:nvSpPr>
        <p:spPr bwMode="auto">
          <a:xfrm>
            <a:off x="964242" y="1503450"/>
            <a:ext cx="10041285" cy="355706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buNone/>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Algorithm:</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Take the derivative of loss function for each parameter in it. In fancy ML take gradient of the loss function.</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Pick random values for the parameters.</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Plug the parameter values into derivatives(gradient).</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Calculate the step sizes:</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indent="457200">
              <a:lnSpc>
                <a:spcPct val="107000"/>
              </a:lnSpc>
              <a:spcAft>
                <a:spcPts val="800"/>
              </a:spcAft>
              <a:buNone/>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Step size = slope * learning rate.</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5. Calculate new parameter:</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indent="457200">
              <a:lnSpc>
                <a:spcPct val="107000"/>
              </a:lnSpc>
              <a:spcAft>
                <a:spcPts val="800"/>
              </a:spcAft>
              <a:buNone/>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New parameter = old parameter – step size.</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Now go back to step3 &amp; repeat until step size is very small or you reach the max no of steps.</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89CFD02A-7E2E-F0F6-3958-A672F6AE162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17339" y="5354550"/>
            <a:ext cx="2926605" cy="357318"/>
          </a:xfrm>
          <a:prstGeom prst="rect">
            <a:avLst/>
          </a:prstGeom>
          <a:noFill/>
        </p:spPr>
      </p:pic>
      <p:pic>
        <p:nvPicPr>
          <p:cNvPr id="8" name="Picture 7">
            <a:extLst>
              <a:ext uri="{FF2B5EF4-FFF2-40B4-BE49-F238E27FC236}">
                <a16:creationId xmlns:a16="http://schemas.microsoft.com/office/drawing/2014/main" id="{6EF32F5B-C461-95A6-5E17-7F5210FB26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84884" y="5354550"/>
            <a:ext cx="2263014" cy="357318"/>
          </a:xfrm>
          <a:prstGeom prst="rect">
            <a:avLst/>
          </a:prstGeom>
          <a:noFill/>
        </p:spPr>
      </p:pic>
      <p:sp>
        <p:nvSpPr>
          <p:cNvPr id="10" name="TextBox 9">
            <a:extLst>
              <a:ext uri="{FF2B5EF4-FFF2-40B4-BE49-F238E27FC236}">
                <a16:creationId xmlns:a16="http://schemas.microsoft.com/office/drawing/2014/main" id="{A89EE86B-C4AC-DA64-C5CD-99B3932F785B}"/>
              </a:ext>
            </a:extLst>
          </p:cNvPr>
          <p:cNvSpPr txBox="1"/>
          <p:nvPr/>
        </p:nvSpPr>
        <p:spPr>
          <a:xfrm>
            <a:off x="5157591" y="5367667"/>
            <a:ext cx="366387"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9CF40-FEB9-7B3E-E818-14C3E7C43C5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4764464-6063-2DAB-131E-61AF538BEF72}"/>
              </a:ext>
            </a:extLst>
          </p:cNvPr>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6</a:t>
            </a:fld>
            <a:endParaRPr dirty="0"/>
          </a:p>
        </p:txBody>
      </p:sp>
      <p:sp>
        <p:nvSpPr>
          <p:cNvPr id="2" name="object 2">
            <a:extLst>
              <a:ext uri="{FF2B5EF4-FFF2-40B4-BE49-F238E27FC236}">
                <a16:creationId xmlns:a16="http://schemas.microsoft.com/office/drawing/2014/main" id="{5EE4475A-F89B-BB4C-FEEE-70016C670E70}"/>
              </a:ext>
            </a:extLst>
          </p:cNvPr>
          <p:cNvSpPr txBox="1">
            <a:spLocks noGrp="1"/>
          </p:cNvSpPr>
          <p:nvPr>
            <p:ph type="title"/>
          </p:nvPr>
        </p:nvSpPr>
        <p:spPr>
          <a:xfrm>
            <a:off x="2613599" y="689974"/>
            <a:ext cx="8473478" cy="503192"/>
          </a:xfrm>
          <a:prstGeom prst="rect">
            <a:avLst/>
          </a:prstGeom>
        </p:spPr>
        <p:txBody>
          <a:bodyPr vert="horz" wrap="square" lIns="0" tIns="10646" rIns="0" bIns="0" rtlCol="0" anchor="t">
            <a:spAutoFit/>
          </a:bodyPr>
          <a:lstStyle/>
          <a:p>
            <a:pPr marL="1805924" marR="4483" algn="r">
              <a:lnSpc>
                <a:spcPct val="100000"/>
              </a:lnSpc>
              <a:spcBef>
                <a:spcPts val="84"/>
              </a:spcBef>
            </a:pPr>
            <a:r>
              <a:rPr lang="en-US" dirty="0">
                <a:latin typeface="Times New Roman" panose="02020603050405020304" pitchFamily="18" charset="0"/>
                <a:cs typeface="Times New Roman" panose="02020603050405020304" pitchFamily="18" charset="0"/>
              </a:rPr>
              <a:t>Gradient descent</a:t>
            </a:r>
            <a:endParaRPr sz="353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9CFD9DE-6488-0AB1-BE53-65BF6E232275}"/>
              </a:ext>
            </a:extLst>
          </p:cNvPr>
          <p:cNvSpPr txBox="1"/>
          <p:nvPr/>
        </p:nvSpPr>
        <p:spPr>
          <a:xfrm>
            <a:off x="463463" y="1524883"/>
            <a:ext cx="11386159" cy="4278287"/>
          </a:xfrm>
          <a:prstGeom prst="rect">
            <a:avLst/>
          </a:prstGeom>
          <a:noFill/>
        </p:spPr>
        <p:txBody>
          <a:bodyPr wrap="square">
            <a:spAutoFit/>
          </a:bodyPr>
          <a:lstStyle/>
          <a:p>
            <a:pPr algn="just">
              <a:lnSpc>
                <a:spcPct val="107000"/>
              </a:lnSpc>
              <a:spcAft>
                <a:spcPts val="800"/>
              </a:spcAft>
              <a:buNone/>
            </a:pPr>
            <a:r>
              <a:rPr lang="en-IN"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Example1:</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Let's say we want to minimize the function f(x) = x² - 4x + 5 using gradient descent.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n-IN"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1. Initialization:</a:t>
            </a: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Start with an initial guess, x₀ = 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startAt="2"/>
              <a:tabLst>
                <a:tab pos="457200" algn="l"/>
              </a:tabLst>
            </a:pPr>
            <a:r>
              <a:rPr lang="en-IN"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Iteration: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Gradient:</a:t>
            </a: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The gradient of f(x) is </a:t>
            </a:r>
            <a:r>
              <a:rPr lang="en-IN" dirty="0">
                <a:latin typeface="Times New Roman" panose="02020603050405020304" pitchFamily="18" charset="0"/>
                <a:cs typeface="Times New Roman" panose="02020603050405020304" pitchFamily="18" charset="0"/>
              </a:rPr>
              <a:t>f'</a:t>
            </a: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(x) = 2x - 4.</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IN"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Update:</a:t>
            </a: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x₁ = x₀ - </a:t>
            </a:r>
            <a:r>
              <a:rPr lang="en-IN"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learning_rate</a:t>
            </a: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 f'(x₀). Let's use a learning rate of 0.1.</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371600" algn="l"/>
              </a:tabLst>
            </a:pP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x₁ = 0 - 0.1 * (2 * 0 - 4) = 0.4</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371600" algn="l"/>
              </a:tabLst>
            </a:pP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x₂ = 0.4 - 0.1 * (2 * 0.4 - 4) = 0.68</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Wingdings" panose="05000000000000000000" pitchFamily="2" charset="2"/>
              <a:buChar char=""/>
              <a:tabLst>
                <a:tab pos="1371600" algn="l"/>
              </a:tabLst>
            </a:pP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x₃ = 0.68 - 0.1 * (2 * 0.68 - 4) = 0.944</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and so 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You would continue this process until the change in x between iterations becomes very small, indicating that the algorithm has converged.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0054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F8987-4731-19A3-A17D-482BF453421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F1960D6-2127-AF1A-CFC3-B773E5F9E887}"/>
              </a:ext>
            </a:extLst>
          </p:cNvPr>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7</a:t>
            </a:fld>
            <a:endParaRPr dirty="0"/>
          </a:p>
        </p:txBody>
      </p:sp>
      <p:sp>
        <p:nvSpPr>
          <p:cNvPr id="2" name="object 2">
            <a:extLst>
              <a:ext uri="{FF2B5EF4-FFF2-40B4-BE49-F238E27FC236}">
                <a16:creationId xmlns:a16="http://schemas.microsoft.com/office/drawing/2014/main" id="{EB457E0A-3632-9B4E-D428-A74479306FE7}"/>
              </a:ext>
            </a:extLst>
          </p:cNvPr>
          <p:cNvSpPr txBox="1">
            <a:spLocks noGrp="1"/>
          </p:cNvSpPr>
          <p:nvPr>
            <p:ph type="title"/>
          </p:nvPr>
        </p:nvSpPr>
        <p:spPr>
          <a:xfrm>
            <a:off x="2416829" y="769719"/>
            <a:ext cx="8544396" cy="503192"/>
          </a:xfrm>
          <a:prstGeom prst="rect">
            <a:avLst/>
          </a:prstGeom>
        </p:spPr>
        <p:txBody>
          <a:bodyPr vert="horz" wrap="square" lIns="0" tIns="10646" rIns="0" bIns="0" rtlCol="0" anchor="t">
            <a:spAutoFit/>
          </a:bodyPr>
          <a:lstStyle/>
          <a:p>
            <a:pPr marL="1805924" marR="4483" algn="r">
              <a:lnSpc>
                <a:spcPct val="100000"/>
              </a:lnSpc>
              <a:spcBef>
                <a:spcPts val="84"/>
              </a:spcBef>
            </a:pPr>
            <a:r>
              <a:rPr lang="en-US" dirty="0">
                <a:latin typeface="Times New Roman" panose="02020603050405020304" pitchFamily="18" charset="0"/>
                <a:cs typeface="Times New Roman" panose="02020603050405020304" pitchFamily="18" charset="0"/>
              </a:rPr>
              <a:t>Gradient descent</a:t>
            </a:r>
            <a:endParaRPr sz="3530" dirty="0">
              <a:latin typeface="Times New Roman" panose="02020603050405020304" pitchFamily="18" charset="0"/>
              <a:cs typeface="Times New Roman" panose="02020603050405020304" pitchFamily="18" charset="0"/>
            </a:endParaRPr>
          </a:p>
        </p:txBody>
      </p:sp>
      <p:sp>
        <p:nvSpPr>
          <p:cNvPr id="17" name="Rectangle 18">
            <a:extLst>
              <a:ext uri="{FF2B5EF4-FFF2-40B4-BE49-F238E27FC236}">
                <a16:creationId xmlns:a16="http://schemas.microsoft.com/office/drawing/2014/main" id="{31467D1F-3F4B-DC8F-647D-84B067B86642}"/>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0" name="Picture 19" descr="A screenshot of a math formula&#10;&#10;AI-generated content may be incorrect.">
            <a:extLst>
              <a:ext uri="{FF2B5EF4-FFF2-40B4-BE49-F238E27FC236}">
                <a16:creationId xmlns:a16="http://schemas.microsoft.com/office/drawing/2014/main" id="{E24FA1C6-2A32-C836-BB71-EAB4CF703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1769" y="1438904"/>
            <a:ext cx="9069782" cy="4649377"/>
          </a:xfrm>
          <a:prstGeom prst="rect">
            <a:avLst/>
          </a:prstGeom>
        </p:spPr>
      </p:pic>
    </p:spTree>
    <p:extLst>
      <p:ext uri="{BB962C8B-B14F-4D97-AF65-F5344CB8AC3E}">
        <p14:creationId xmlns:p14="http://schemas.microsoft.com/office/powerpoint/2010/main" val="1276824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3F36E-CC57-A4EF-8A5C-9EE4199E48E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97FB672-7967-0B59-F54F-6071BB550F38}"/>
              </a:ext>
            </a:extLst>
          </p:cNvPr>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8</a:t>
            </a:fld>
            <a:endParaRPr dirty="0"/>
          </a:p>
        </p:txBody>
      </p:sp>
      <p:sp>
        <p:nvSpPr>
          <p:cNvPr id="2" name="object 2">
            <a:extLst>
              <a:ext uri="{FF2B5EF4-FFF2-40B4-BE49-F238E27FC236}">
                <a16:creationId xmlns:a16="http://schemas.microsoft.com/office/drawing/2014/main" id="{A6963461-679C-D621-CAD4-2D4362A5E780}"/>
              </a:ext>
            </a:extLst>
          </p:cNvPr>
          <p:cNvSpPr txBox="1">
            <a:spLocks noGrp="1"/>
          </p:cNvSpPr>
          <p:nvPr>
            <p:ph type="title"/>
          </p:nvPr>
        </p:nvSpPr>
        <p:spPr>
          <a:xfrm>
            <a:off x="2613599" y="689974"/>
            <a:ext cx="8473478" cy="503192"/>
          </a:xfrm>
          <a:prstGeom prst="rect">
            <a:avLst/>
          </a:prstGeom>
        </p:spPr>
        <p:txBody>
          <a:bodyPr vert="horz" wrap="square" lIns="0" tIns="10646" rIns="0" bIns="0" rtlCol="0" anchor="t">
            <a:spAutoFit/>
          </a:bodyPr>
          <a:lstStyle/>
          <a:p>
            <a:pPr marL="1805924" marR="4483" algn="r">
              <a:lnSpc>
                <a:spcPct val="100000"/>
              </a:lnSpc>
              <a:spcBef>
                <a:spcPts val="84"/>
              </a:spcBef>
            </a:pPr>
            <a:r>
              <a:rPr lang="en-US" dirty="0">
                <a:latin typeface="Times New Roman" panose="02020603050405020304" pitchFamily="18" charset="0"/>
                <a:cs typeface="Times New Roman" panose="02020603050405020304" pitchFamily="18" charset="0"/>
              </a:rPr>
              <a:t>Gradient descent</a:t>
            </a:r>
            <a:endParaRPr sz="3530" dirty="0">
              <a:latin typeface="Times New Roman" panose="02020603050405020304" pitchFamily="18" charset="0"/>
              <a:cs typeface="Times New Roman" panose="02020603050405020304" pitchFamily="18" charset="0"/>
            </a:endParaRPr>
          </a:p>
        </p:txBody>
      </p:sp>
      <p:sp>
        <p:nvSpPr>
          <p:cNvPr id="17" name="Rectangle 18">
            <a:extLst>
              <a:ext uri="{FF2B5EF4-FFF2-40B4-BE49-F238E27FC236}">
                <a16:creationId xmlns:a16="http://schemas.microsoft.com/office/drawing/2014/main" id="{9D1A94B5-5227-9705-7255-8E150BE0B954}"/>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descr="A screenshot of a math program&#10;&#10;AI-generated content may be incorrect.">
            <a:extLst>
              <a:ext uri="{FF2B5EF4-FFF2-40B4-BE49-F238E27FC236}">
                <a16:creationId xmlns:a16="http://schemas.microsoft.com/office/drawing/2014/main" id="{06B7235F-B7A9-8A70-815D-B4BFFB8F6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679" y="1425940"/>
            <a:ext cx="10123398" cy="4639462"/>
          </a:xfrm>
          <a:prstGeom prst="rect">
            <a:avLst/>
          </a:prstGeom>
        </p:spPr>
      </p:pic>
    </p:spTree>
    <p:extLst>
      <p:ext uri="{BB962C8B-B14F-4D97-AF65-F5344CB8AC3E}">
        <p14:creationId xmlns:p14="http://schemas.microsoft.com/office/powerpoint/2010/main" val="1972830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2246F-D40C-456F-32AE-12263A5A781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3041023-FB2D-F698-CAB9-5A6D62CE0C85}"/>
              </a:ext>
            </a:extLst>
          </p:cNvPr>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9</a:t>
            </a:fld>
            <a:endParaRPr dirty="0"/>
          </a:p>
        </p:txBody>
      </p:sp>
      <p:sp>
        <p:nvSpPr>
          <p:cNvPr id="2" name="object 2">
            <a:extLst>
              <a:ext uri="{FF2B5EF4-FFF2-40B4-BE49-F238E27FC236}">
                <a16:creationId xmlns:a16="http://schemas.microsoft.com/office/drawing/2014/main" id="{DB03234E-FAC6-91DA-AF5B-0AC26B8B3703}"/>
              </a:ext>
            </a:extLst>
          </p:cNvPr>
          <p:cNvSpPr txBox="1">
            <a:spLocks noGrp="1"/>
          </p:cNvSpPr>
          <p:nvPr>
            <p:ph type="title"/>
          </p:nvPr>
        </p:nvSpPr>
        <p:spPr>
          <a:xfrm>
            <a:off x="2474703" y="751771"/>
            <a:ext cx="8473478" cy="503192"/>
          </a:xfrm>
          <a:prstGeom prst="rect">
            <a:avLst/>
          </a:prstGeom>
        </p:spPr>
        <p:txBody>
          <a:bodyPr vert="horz" wrap="square" lIns="0" tIns="10646" rIns="0" bIns="0" rtlCol="0" anchor="t">
            <a:spAutoFit/>
          </a:bodyPr>
          <a:lstStyle/>
          <a:p>
            <a:pPr marL="1805924" marR="4483" algn="r">
              <a:lnSpc>
                <a:spcPct val="100000"/>
              </a:lnSpc>
              <a:spcBef>
                <a:spcPts val="84"/>
              </a:spcBef>
            </a:pPr>
            <a:r>
              <a:rPr lang="en-US" dirty="0">
                <a:latin typeface="Times New Roman" panose="02020603050405020304" pitchFamily="18" charset="0"/>
                <a:cs typeface="Times New Roman" panose="02020603050405020304" pitchFamily="18" charset="0"/>
              </a:rPr>
              <a:t>Gradient descent</a:t>
            </a:r>
            <a:endParaRPr sz="3530" dirty="0">
              <a:latin typeface="Times New Roman" panose="02020603050405020304" pitchFamily="18" charset="0"/>
              <a:cs typeface="Times New Roman" panose="02020603050405020304" pitchFamily="18" charset="0"/>
            </a:endParaRPr>
          </a:p>
        </p:txBody>
      </p:sp>
      <p:sp>
        <p:nvSpPr>
          <p:cNvPr id="17" name="Rectangle 18">
            <a:extLst>
              <a:ext uri="{FF2B5EF4-FFF2-40B4-BE49-F238E27FC236}">
                <a16:creationId xmlns:a16="http://schemas.microsoft.com/office/drawing/2014/main" id="{B45370B4-F32A-DC91-3771-C70D3816A644}"/>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descr="A screenshot of a white sheet with black text&#10;&#10;AI-generated content may be incorrect.">
            <a:extLst>
              <a:ext uri="{FF2B5EF4-FFF2-40B4-BE49-F238E27FC236}">
                <a16:creationId xmlns:a16="http://schemas.microsoft.com/office/drawing/2014/main" id="{BFE41BD2-91FF-65F5-A949-C5480A820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7065" y="1595526"/>
            <a:ext cx="9365058" cy="4377011"/>
          </a:xfrm>
          <a:prstGeom prst="rect">
            <a:avLst/>
          </a:prstGeom>
        </p:spPr>
      </p:pic>
    </p:spTree>
    <p:extLst>
      <p:ext uri="{BB962C8B-B14F-4D97-AF65-F5344CB8AC3E}">
        <p14:creationId xmlns:p14="http://schemas.microsoft.com/office/powerpoint/2010/main" val="4271597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94E8-0E19-6C9C-308A-C3BC4F6A0387}"/>
              </a:ext>
            </a:extLst>
          </p:cNvPr>
          <p:cNvSpPr>
            <a:spLocks noGrp="1"/>
          </p:cNvSpPr>
          <p:nvPr>
            <p:ph type="title"/>
          </p:nvPr>
        </p:nvSpPr>
        <p:spPr>
          <a:xfrm>
            <a:off x="1655181" y="804519"/>
            <a:ext cx="9399674" cy="386419"/>
          </a:xfrm>
        </p:spPr>
        <p:txBody>
          <a:bodyPr>
            <a:normAutofit fontScale="90000"/>
          </a:bodyPr>
          <a:lstStyle/>
          <a:p>
            <a:pPr algn="r"/>
            <a:r>
              <a:rPr lang="en-IN" dirty="0"/>
              <a:t>Gradient descent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89523BC-AB4A-EECB-0C27-519DC921BCE4}"/>
                  </a:ext>
                </a:extLst>
              </p:cNvPr>
              <p:cNvSpPr>
                <a:spLocks noGrp="1"/>
              </p:cNvSpPr>
              <p:nvPr>
                <p:ph idx="1"/>
              </p:nvPr>
            </p:nvSpPr>
            <p:spPr>
              <a:xfrm>
                <a:off x="1247978" y="1703693"/>
                <a:ext cx="9603275" cy="3829006"/>
              </a:xfrm>
            </p:spPr>
            <p:txBody>
              <a:bodyPr/>
              <a:lstStyle/>
              <a:p>
                <a:r>
                  <a:rPr lang="en-US" dirty="0">
                    <a:latin typeface="Times New Roman" panose="02020603050405020304" pitchFamily="18" charset="0"/>
                    <a:cs typeface="Times New Roman" panose="02020603050405020304" pitchFamily="18" charset="0"/>
                  </a:rPr>
                  <a:t>Example:3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e>
                    </m:d>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baseline="30000" smtClean="0">
                        <a:latin typeface="Cambria Math" panose="02040503050406030204" pitchFamily="18" charset="0"/>
                      </a:rPr>
                      <m:t>2</m:t>
                    </m:r>
                    <m:r>
                      <a:rPr lang="en-US" sz="2400" b="0" i="1" smtClean="0">
                        <a:latin typeface="Cambria Math" panose="02040503050406030204" pitchFamily="18" charset="0"/>
                      </a:rPr>
                      <m:t>+2</m:t>
                    </m:r>
                    <m:r>
                      <a:rPr lang="en-US" sz="2400" b="0" i="1" smtClean="0">
                        <a:latin typeface="Cambria Math" panose="02040503050406030204" pitchFamily="18" charset="0"/>
                      </a:rPr>
                      <m:t>𝑦</m:t>
                    </m:r>
                    <m:r>
                      <a:rPr lang="en-US" sz="2400" b="0" i="1" baseline="30000" smtClean="0">
                        <a:latin typeface="Cambria Math" panose="02040503050406030204" pitchFamily="18" charset="0"/>
                      </a:rPr>
                      <m:t>2</m:t>
                    </m:r>
                  </m:oMath>
                </a14:m>
                <a:r>
                  <a:rPr lang="en-IN" baseline="30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optimize the parameters using gradient descent</a:t>
                </a:r>
                <a:endParaRPr lang="en-IN" baseline="30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gradient of f(</a:t>
                </a:r>
                <a:r>
                  <a:rPr lang="en-US" dirty="0" err="1">
                    <a:latin typeface="Times New Roman" panose="02020603050405020304" pitchFamily="18" charset="0"/>
                    <a:cs typeface="Times New Roman" panose="02020603050405020304" pitchFamily="18" charset="0"/>
                  </a:rPr>
                  <a:t>x,y</a:t>
                </a:r>
                <a:r>
                  <a:rPr lang="en-US" dirty="0">
                    <a:latin typeface="Times New Roman" panose="02020603050405020304" pitchFamily="18" charset="0"/>
                    <a:cs typeface="Times New Roman" panose="02020603050405020304" pitchFamily="18" charset="0"/>
                  </a:rPr>
                  <a:t>) vector of partial derivatives :</a:t>
                </a:r>
              </a:p>
              <a:p>
                <a:pPr marL="0" indent="0">
                  <a:buNone/>
                </a:pPr>
                <a:r>
                  <a:rPr lang="en-US" b="0" dirty="0">
                    <a:latin typeface="Times New Roman" panose="02020603050405020304" pitchFamily="18" charset="0"/>
                    <a:cs typeface="Times New Roman" panose="02020603050405020304" pitchFamily="18" charset="0"/>
                  </a:rPr>
                  <a:t>				</a:t>
                </a:r>
                <a14:m>
                  <m:oMath xmlns:m="http://schemas.openxmlformats.org/officeDocument/2006/math">
                    <m:r>
                      <a:rPr lang="es-ES" i="1">
                        <a:latin typeface="Cambria Math" panose="02040503050406030204" pitchFamily="18" charset="0"/>
                      </a:rPr>
                      <m:t>𝑓</m:t>
                    </m:r>
                    <m:r>
                      <a:rPr lang="es-ES" i="1" baseline="30000">
                        <a:latin typeface="Cambria Math" panose="02040503050406030204" pitchFamily="18" charset="0"/>
                      </a:rPr>
                      <m:t>| </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r>
                      <a:rPr lang="es-ES" i="1">
                        <a:latin typeface="Cambria Math" panose="02040503050406030204" pitchFamily="18" charset="0"/>
                      </a:rPr>
                      <m:t>)=(</m:t>
                    </m:r>
                    <m:r>
                      <a:rPr lang="es-ES" i="1">
                        <a:latin typeface="Cambria Math" panose="02040503050406030204" pitchFamily="18" charset="0"/>
                      </a:rPr>
                      <m:t>𝜕</m:t>
                    </m:r>
                    <m:r>
                      <a:rPr lang="es-ES" i="1">
                        <a:latin typeface="Cambria Math" panose="02040503050406030204" pitchFamily="18" charset="0"/>
                      </a:rPr>
                      <m:t>𝑓</m:t>
                    </m:r>
                    <m:r>
                      <a:rPr lang="es-ES" i="1">
                        <a:latin typeface="Cambria Math" panose="02040503050406030204" pitchFamily="18" charset="0"/>
                      </a:rPr>
                      <m:t>/</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,ⅆ</m:t>
                    </m:r>
                    <m:r>
                      <a:rPr lang="es-ES" i="1">
                        <a:latin typeface="Cambria Math" panose="02040503050406030204" pitchFamily="18" charset="0"/>
                      </a:rPr>
                      <m:t>𝑓</m:t>
                    </m:r>
                    <m:r>
                      <a:rPr lang="es-ES" i="1">
                        <a:latin typeface="Cambria Math" panose="02040503050406030204" pitchFamily="18" charset="0"/>
                      </a:rPr>
                      <m:t>/</m:t>
                    </m:r>
                    <m:r>
                      <a:rPr lang="es-ES" i="1">
                        <a:latin typeface="Cambria Math" panose="02040503050406030204" pitchFamily="18" charset="0"/>
                      </a:rPr>
                      <m:t>𝜕</m:t>
                    </m:r>
                    <m:r>
                      <a:rPr lang="es-ES" i="1">
                        <a:latin typeface="Cambria Math" panose="02040503050406030204" pitchFamily="18" charset="0"/>
                      </a:rPr>
                      <m:t>𝑦</m:t>
                    </m:r>
                    <m:r>
                      <a:rPr lang="es-ES" i="1">
                        <a:latin typeface="Cambria Math" panose="02040503050406030204" pitchFamily="18" charset="0"/>
                      </a:rPr>
                      <m:t>) = (2</m:t>
                    </m:r>
                    <m:r>
                      <a:rPr lang="es-ES" i="1">
                        <a:latin typeface="Cambria Math" panose="02040503050406030204" pitchFamily="18" charset="0"/>
                      </a:rPr>
                      <m:t>𝑥</m:t>
                    </m:r>
                    <m:r>
                      <a:rPr lang="es-ES" i="1">
                        <a:latin typeface="Cambria Math" panose="02040503050406030204" pitchFamily="18" charset="0"/>
                      </a:rPr>
                      <m:t> ,4</m:t>
                    </m:r>
                    <m:r>
                      <a:rPr lang="es-ES" i="1">
                        <a:latin typeface="Cambria Math" panose="02040503050406030204" pitchFamily="18" charset="0"/>
                      </a:rPr>
                      <m:t>𝑦</m:t>
                    </m:r>
                    <m:r>
                      <a:rPr lang="es-ES" i="1">
                        <a:latin typeface="Cambria Math" panose="02040503050406030204" pitchFamily="18" charset="0"/>
                      </a:rPr>
                      <m:t>)</m:t>
                    </m:r>
                  </m:oMath>
                </a14:m>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update rules of parameters </a:t>
                </a:r>
                <a:r>
                  <a:rPr lang="en-US" i="1" dirty="0" err="1">
                    <a:latin typeface="Times New Roman" panose="02020603050405020304" pitchFamily="18" charset="0"/>
                    <a:cs typeface="Times New Roman" panose="02020603050405020304" pitchFamily="18" charset="0"/>
                  </a:rPr>
                  <a:t>x,y</a:t>
                </a:r>
                <a:r>
                  <a:rPr lang="en-US" dirty="0">
                    <a:latin typeface="Times New Roman" panose="02020603050405020304" pitchFamily="18" charset="0"/>
                    <a:cs typeface="Times New Roman" panose="02020603050405020304" pitchFamily="18" charset="0"/>
                  </a:rPr>
                  <a:t> :</a:t>
                </a:r>
              </a:p>
              <a:p>
                <a:pPr>
                  <a:lnSpc>
                    <a:spcPct val="107000"/>
                  </a:lnSpc>
                  <a:spcAft>
                    <a:spcPts val="800"/>
                  </a:spcAft>
                  <a:buNone/>
                </a:pPr>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IN" i="1" kern="100">
                            <a:latin typeface="Cambria Math" panose="02040503050406030204" pitchFamily="18" charset="0"/>
                            <a:ea typeface="Times New Roman" panose="02020603050405020304" pitchFamily="18" charset="0"/>
                            <a:cs typeface="Times New Roman" panose="02020603050405020304" pitchFamily="18" charset="0"/>
                          </a:rPr>
                          <m:t>𝑥</m:t>
                        </m:r>
                      </m:e>
                      <m:sub>
                        <m:r>
                          <a:rPr lang="en-IN" i="1" kern="100">
                            <a:latin typeface="Cambria Math" panose="02040503050406030204" pitchFamily="18" charset="0"/>
                            <a:ea typeface="Times New Roman" panose="02020603050405020304" pitchFamily="18" charset="0"/>
                            <a:cs typeface="Times New Roman" panose="02020603050405020304" pitchFamily="18" charset="0"/>
                          </a:rPr>
                          <m:t>𝑘</m:t>
                        </m:r>
                        <m:r>
                          <a:rPr lang="en-IN" i="1" kern="100">
                            <a:latin typeface="Cambria Math" panose="02040503050406030204" pitchFamily="18" charset="0"/>
                            <a:ea typeface="Times New Roman" panose="02020603050405020304" pitchFamily="18" charset="0"/>
                            <a:cs typeface="Times New Roman" panose="02020603050405020304" pitchFamily="18" charset="0"/>
                          </a:rPr>
                          <m:t>+1</m:t>
                        </m:r>
                      </m:sub>
                    </m:sSub>
                    <m:r>
                      <a:rPr lang="en-IN" i="1" kern="10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IN" i="1" kern="100">
                            <a:latin typeface="Cambria Math" panose="02040503050406030204" pitchFamily="18" charset="0"/>
                            <a:ea typeface="Times New Roman" panose="02020603050405020304" pitchFamily="18" charset="0"/>
                            <a:cs typeface="Times New Roman" panose="02020603050405020304" pitchFamily="18" charset="0"/>
                          </a:rPr>
                          <m:t>𝑥</m:t>
                        </m:r>
                      </m:e>
                      <m:sub>
                        <m:r>
                          <a:rPr lang="en-IN" i="1" kern="100">
                            <a:latin typeface="Cambria Math" panose="02040503050406030204" pitchFamily="18" charset="0"/>
                            <a:ea typeface="Times New Roman" panose="02020603050405020304" pitchFamily="18" charset="0"/>
                            <a:cs typeface="Times New Roman" panose="02020603050405020304" pitchFamily="18" charset="0"/>
                          </a:rPr>
                          <m:t>𝑘</m:t>
                        </m:r>
                      </m:sub>
                    </m:sSub>
                    <m:r>
                      <a:rPr lang="en-IN" i="1" kern="100">
                        <a:latin typeface="Cambria Math" panose="02040503050406030204" pitchFamily="18" charset="0"/>
                        <a:ea typeface="Times New Roman" panose="02020603050405020304" pitchFamily="18" charset="0"/>
                        <a:cs typeface="Times New Roman" panose="02020603050405020304" pitchFamily="18" charset="0"/>
                      </a:rPr>
                      <m:t>−</m:t>
                    </m:r>
                    <m:r>
                      <a:rPr lang="en-IN" i="1" kern="100">
                        <a:latin typeface="Cambria Math" panose="02040503050406030204" pitchFamily="18" charset="0"/>
                        <a:ea typeface="Times New Roman" panose="02020603050405020304" pitchFamily="18" charset="0"/>
                        <a:cs typeface="Times New Roman" panose="02020603050405020304" pitchFamily="18" charset="0"/>
                      </a:rPr>
                      <m:t>𝛼</m:t>
                    </m:r>
                    <m:r>
                      <a:rPr lang="en-IN" i="1" kern="100">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en-IN"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IN" i="1" kern="100">
                            <a:latin typeface="Cambria Math" panose="02040503050406030204" pitchFamily="18" charset="0"/>
                            <a:ea typeface="Times New Roman" panose="02020603050405020304" pitchFamily="18" charset="0"/>
                            <a:cs typeface="Times New Roman" panose="02020603050405020304" pitchFamily="18" charset="0"/>
                          </a:rPr>
                          <m:t>𝑥</m:t>
                        </m:r>
                      </m:e>
                      <m:sub>
                        <m:r>
                          <a:rPr lang="en-IN" i="1" kern="100">
                            <a:latin typeface="Cambria Math" panose="02040503050406030204" pitchFamily="18" charset="0"/>
                            <a:ea typeface="Times New Roman" panose="02020603050405020304" pitchFamily="18" charset="0"/>
                            <a:cs typeface="Times New Roman" panose="02020603050405020304" pitchFamily="18" charset="0"/>
                          </a:rPr>
                          <m:t>𝑘</m:t>
                        </m:r>
                      </m:sub>
                    </m:sSub>
                  </m:oMath>
                </a14:m>
                <a:r>
                  <a:rPr lang="en-IN" kern="100" dirty="0">
                    <a:latin typeface="Times New Roman" panose="02020603050405020304" pitchFamily="18" charset="0"/>
                    <a:ea typeface="Times New Roman" panose="02020603050405020304" pitchFamily="18" charset="0"/>
                    <a:cs typeface="Times New Roman" panose="02020603050405020304" pitchFamily="18" charset="0"/>
                  </a:rPr>
                  <a:t>=</a:t>
                </a:r>
                <a14:m>
                  <m:oMath xmlns:m="http://schemas.openxmlformats.org/officeDocument/2006/math">
                    <m:sSub>
                      <m:sSubPr>
                        <m:ctrlPr>
                          <a:rPr lang="en-IN"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IN" i="1" kern="100">
                            <a:latin typeface="Cambria Math" panose="02040503050406030204" pitchFamily="18" charset="0"/>
                            <a:ea typeface="Times New Roman" panose="02020603050405020304" pitchFamily="18" charset="0"/>
                            <a:cs typeface="Times New Roman" panose="02020603050405020304" pitchFamily="18" charset="0"/>
                          </a:rPr>
                          <m:t>𝑥</m:t>
                        </m:r>
                      </m:e>
                      <m:sub>
                        <m:r>
                          <a:rPr lang="en-IN" i="1" kern="100">
                            <a:latin typeface="Cambria Math" panose="02040503050406030204" pitchFamily="18" charset="0"/>
                            <a:ea typeface="Times New Roman" panose="02020603050405020304" pitchFamily="18" charset="0"/>
                            <a:cs typeface="Times New Roman" panose="02020603050405020304" pitchFamily="18" charset="0"/>
                          </a:rPr>
                          <m:t>𝑘</m:t>
                        </m:r>
                      </m:sub>
                    </m:sSub>
                  </m:oMath>
                </a14:m>
                <a:r>
                  <a:rPr lang="en-IN" kern="100" dirty="0">
                    <a:latin typeface="Times New Roman" panose="02020603050405020304" pitchFamily="18" charset="0"/>
                    <a:ea typeface="Times New Roman" panose="02020603050405020304" pitchFamily="18" charset="0"/>
                    <a:cs typeface="Times New Roman" panose="02020603050405020304" pitchFamily="18" charset="0"/>
                  </a:rPr>
                  <a:t>(1- 2</a:t>
                </a:r>
                <a14:m>
                  <m:oMath xmlns:m="http://schemas.openxmlformats.org/officeDocument/2006/math">
                    <m:r>
                      <a:rPr lang="en-IN" i="1" kern="100">
                        <a:latin typeface="Cambria Math" panose="02040503050406030204" pitchFamily="18" charset="0"/>
                        <a:ea typeface="Times New Roman" panose="02020603050405020304" pitchFamily="18" charset="0"/>
                        <a:cs typeface="Times New Roman" panose="02020603050405020304" pitchFamily="18" charset="0"/>
                      </a:rPr>
                      <m:t>𝛼</m:t>
                    </m:r>
                    <m:r>
                      <a:rPr lang="en-IN" i="1" kern="100">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kern="100" dirty="0">
                  <a:latin typeface="Times New Roman" panose="02020603050405020304" pitchFamily="18" charset="0"/>
                  <a:ea typeface="Aptos" panose="020B0004020202020204" pitchFamily="34" charset="0"/>
                  <a:cs typeface="Times New Roman" panose="02020603050405020304" pitchFamily="18" charset="0"/>
                </a:endParaRPr>
              </a:p>
              <a:p>
                <a:pPr marL="0" indent="0">
                  <a:lnSpc>
                    <a:spcPct val="107000"/>
                  </a:lnSpc>
                  <a:spcAft>
                    <a:spcPts val="800"/>
                  </a:spcAft>
                  <a:buNone/>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IN" i="1" kern="100">
                            <a:latin typeface="Cambria Math" panose="02040503050406030204" pitchFamily="18" charset="0"/>
                            <a:ea typeface="Times New Roman" panose="02020603050405020304" pitchFamily="18" charset="0"/>
                            <a:cs typeface="Times New Roman" panose="02020603050405020304" pitchFamily="18" charset="0"/>
                          </a:rPr>
                          <m:t>𝑦</m:t>
                        </m:r>
                      </m:e>
                      <m:sub>
                        <m:r>
                          <a:rPr lang="en-IN" i="1" kern="100">
                            <a:latin typeface="Cambria Math" panose="02040503050406030204" pitchFamily="18" charset="0"/>
                            <a:ea typeface="Times New Roman" panose="02020603050405020304" pitchFamily="18" charset="0"/>
                            <a:cs typeface="Times New Roman" panose="02020603050405020304" pitchFamily="18" charset="0"/>
                          </a:rPr>
                          <m:t>𝑘</m:t>
                        </m:r>
                        <m:r>
                          <a:rPr lang="en-IN" i="1" kern="100">
                            <a:latin typeface="Cambria Math" panose="02040503050406030204" pitchFamily="18" charset="0"/>
                            <a:ea typeface="Times New Roman" panose="02020603050405020304" pitchFamily="18" charset="0"/>
                            <a:cs typeface="Times New Roman" panose="02020603050405020304" pitchFamily="18" charset="0"/>
                          </a:rPr>
                          <m:t>+1</m:t>
                        </m:r>
                      </m:sub>
                    </m:sSub>
                    <m:r>
                      <a:rPr lang="en-IN" i="1" kern="100">
                        <a:latin typeface="Cambria Math" panose="02040503050406030204" pitchFamily="18" charset="0"/>
                        <a:ea typeface="Times New Roman" panose="02020603050405020304" pitchFamily="18" charset="0"/>
                        <a:cs typeface="Times New Roman" panose="02020603050405020304" pitchFamily="18" charset="0"/>
                      </a:rPr>
                      <m:t>=</m:t>
                    </m:r>
                    <m:r>
                      <a:rPr lang="en-IN" i="1" kern="100">
                        <a:latin typeface="Cambria Math" panose="02040503050406030204" pitchFamily="18" charset="0"/>
                        <a:ea typeface="Times New Roman" panose="02020603050405020304" pitchFamily="18" charset="0"/>
                        <a:cs typeface="Times New Roman" panose="02020603050405020304" pitchFamily="18" charset="0"/>
                      </a:rPr>
                      <m:t>𝑦</m:t>
                    </m:r>
                    <m:r>
                      <a:rPr lang="en-IN" i="1" kern="100">
                        <a:latin typeface="Cambria Math" panose="02040503050406030204" pitchFamily="18" charset="0"/>
                        <a:ea typeface="Times New Roman" panose="02020603050405020304" pitchFamily="18" charset="0"/>
                        <a:cs typeface="Times New Roman" panose="02020603050405020304" pitchFamily="18" charset="0"/>
                      </a:rPr>
                      <m:t>−</m:t>
                    </m:r>
                    <m:r>
                      <a:rPr lang="en-IN" i="1" kern="100">
                        <a:latin typeface="Cambria Math" panose="02040503050406030204" pitchFamily="18" charset="0"/>
                        <a:ea typeface="Times New Roman" panose="02020603050405020304" pitchFamily="18" charset="0"/>
                        <a:cs typeface="Times New Roman" panose="02020603050405020304" pitchFamily="18" charset="0"/>
                      </a:rPr>
                      <m:t>𝛼</m:t>
                    </m:r>
                    <m:r>
                      <a:rPr lang="en-IN" i="1" kern="100">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en-IN"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IN" i="1" kern="100">
                            <a:latin typeface="Cambria Math" panose="02040503050406030204" pitchFamily="18" charset="0"/>
                            <a:ea typeface="Times New Roman" panose="02020603050405020304" pitchFamily="18" charset="0"/>
                            <a:cs typeface="Times New Roman" panose="02020603050405020304" pitchFamily="18" charset="0"/>
                          </a:rPr>
                          <m:t>𝑦</m:t>
                        </m:r>
                      </m:e>
                      <m:sub>
                        <m:r>
                          <a:rPr lang="en-IN" i="1" kern="100">
                            <a:latin typeface="Cambria Math" panose="02040503050406030204" pitchFamily="18" charset="0"/>
                            <a:ea typeface="Times New Roman" panose="02020603050405020304" pitchFamily="18" charset="0"/>
                            <a:cs typeface="Times New Roman" panose="02020603050405020304" pitchFamily="18" charset="0"/>
                          </a:rPr>
                          <m:t>𝑘</m:t>
                        </m:r>
                      </m:sub>
                    </m:sSub>
                  </m:oMath>
                </a14:m>
                <a:r>
                  <a:rPr lang="en-IN" kern="100" dirty="0">
                    <a:latin typeface="Times New Roman" panose="02020603050405020304" pitchFamily="18" charset="0"/>
                    <a:ea typeface="Times New Roman" panose="02020603050405020304" pitchFamily="18" charset="0"/>
                    <a:cs typeface="Times New Roman" panose="02020603050405020304" pitchFamily="18" charset="0"/>
                  </a:rPr>
                  <a:t>=</a:t>
                </a:r>
                <a14:m>
                  <m:oMath xmlns:m="http://schemas.openxmlformats.org/officeDocument/2006/math">
                    <m:r>
                      <a:rPr lang="en-IN" i="1" kern="100">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IN" i="1" kern="100">
                            <a:latin typeface="Cambria Math" panose="02040503050406030204" pitchFamily="18" charset="0"/>
                            <a:ea typeface="Times New Roman" panose="02020603050405020304" pitchFamily="18" charset="0"/>
                            <a:cs typeface="Times New Roman" panose="02020603050405020304" pitchFamily="18" charset="0"/>
                          </a:rPr>
                          <m:t>𝑦</m:t>
                        </m:r>
                      </m:e>
                      <m:sub>
                        <m:r>
                          <a:rPr lang="en-IN" i="1" kern="100">
                            <a:latin typeface="Cambria Math" panose="02040503050406030204" pitchFamily="18" charset="0"/>
                            <a:ea typeface="Times New Roman" panose="02020603050405020304" pitchFamily="18" charset="0"/>
                            <a:cs typeface="Times New Roman" panose="02020603050405020304" pitchFamily="18" charset="0"/>
                          </a:rPr>
                          <m:t>𝑘</m:t>
                        </m:r>
                      </m:sub>
                    </m:sSub>
                  </m:oMath>
                </a14:m>
                <a:r>
                  <a:rPr lang="en-IN" kern="100" dirty="0">
                    <a:latin typeface="Times New Roman" panose="02020603050405020304" pitchFamily="18" charset="0"/>
                    <a:ea typeface="Times New Roman" panose="02020603050405020304" pitchFamily="18" charset="0"/>
                    <a:cs typeface="Times New Roman" panose="02020603050405020304" pitchFamily="18" charset="0"/>
                  </a:rPr>
                  <a:t>(1- 2</a:t>
                </a:r>
                <a14:m>
                  <m:oMath xmlns:m="http://schemas.openxmlformats.org/officeDocument/2006/math">
                    <m:r>
                      <a:rPr lang="en-IN" i="1" kern="100">
                        <a:latin typeface="Cambria Math" panose="02040503050406030204" pitchFamily="18" charset="0"/>
                        <a:ea typeface="Times New Roman" panose="02020603050405020304" pitchFamily="18" charset="0"/>
                        <a:cs typeface="Times New Roman" panose="02020603050405020304" pitchFamily="18" charset="0"/>
                      </a:rPr>
                      <m:t>𝛼</m:t>
                    </m:r>
                    <m:r>
                      <a:rPr lang="en-IN" i="1" kern="100">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kern="100" dirty="0">
                  <a:latin typeface="Times New Roman" panose="02020603050405020304" pitchFamily="18" charset="0"/>
                  <a:ea typeface="Aptos" panose="020B000402020202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b="0" baseline="30000" dirty="0"/>
              </a:p>
              <a:p>
                <a:endParaRPr lang="en-IN" baseline="30000" dirty="0"/>
              </a:p>
            </p:txBody>
          </p:sp>
        </mc:Choice>
        <mc:Fallback>
          <p:sp>
            <p:nvSpPr>
              <p:cNvPr id="3" name="Content Placeholder 2">
                <a:extLst>
                  <a:ext uri="{FF2B5EF4-FFF2-40B4-BE49-F238E27FC236}">
                    <a16:creationId xmlns:a16="http://schemas.microsoft.com/office/drawing/2014/main" id="{489523BC-AB4A-EECB-0C27-519DC921BCE4}"/>
                  </a:ext>
                </a:extLst>
              </p:cNvPr>
              <p:cNvSpPr>
                <a:spLocks noGrp="1" noRot="1" noChangeAspect="1" noMove="1" noResize="1" noEditPoints="1" noAdjustHandles="1" noChangeArrowheads="1" noChangeShapeType="1" noTextEdit="1"/>
              </p:cNvSpPr>
              <p:nvPr>
                <p:ph idx="1"/>
              </p:nvPr>
            </p:nvSpPr>
            <p:spPr>
              <a:xfrm>
                <a:off x="1247978" y="1703693"/>
                <a:ext cx="9603275" cy="3829006"/>
              </a:xfrm>
              <a:blipFill>
                <a:blip r:embed="rId2"/>
                <a:stretch>
                  <a:fillRect l="-698"/>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A2FE4B0F-54A9-5F1A-011C-3DA252265156}"/>
              </a:ext>
            </a:extLst>
          </p:cNvPr>
          <p:cNvSpPr>
            <a:spLocks noGrp="1"/>
          </p:cNvSpPr>
          <p:nvPr>
            <p:ph type="sldNum" sz="quarter" idx="12"/>
          </p:nvPr>
        </p:nvSpPr>
        <p:spPr/>
        <p:txBody>
          <a:bodyPr/>
          <a:lstStyle/>
          <a:p>
            <a:fld id="{CBABCCC1-BF11-4F37-963E-1BCD5B23FD72}" type="slidenum">
              <a:rPr lang="en-IN" smtClean="0"/>
              <a:t>10</a:t>
            </a:fld>
            <a:endParaRPr lang="en-IN"/>
          </a:p>
        </p:txBody>
      </p:sp>
    </p:spTree>
    <p:extLst>
      <p:ext uri="{BB962C8B-B14F-4D97-AF65-F5344CB8AC3E}">
        <p14:creationId xmlns:p14="http://schemas.microsoft.com/office/powerpoint/2010/main" val="1629739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84017-7E50-4E2A-BAD5-E0745B7DA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470E1-A619-5713-33D6-77C06EA29712}"/>
              </a:ext>
            </a:extLst>
          </p:cNvPr>
          <p:cNvSpPr>
            <a:spLocks noGrp="1"/>
          </p:cNvSpPr>
          <p:nvPr>
            <p:ph type="title"/>
          </p:nvPr>
        </p:nvSpPr>
        <p:spPr>
          <a:xfrm>
            <a:off x="1655181" y="804519"/>
            <a:ext cx="9399674" cy="386419"/>
          </a:xfrm>
        </p:spPr>
        <p:txBody>
          <a:bodyPr>
            <a:normAutofit fontScale="90000"/>
          </a:bodyPr>
          <a:lstStyle/>
          <a:p>
            <a:pPr algn="r"/>
            <a:r>
              <a:rPr lang="en-IN" dirty="0"/>
              <a:t>Gradient descent</a:t>
            </a:r>
          </a:p>
        </p:txBody>
      </p:sp>
      <p:sp>
        <p:nvSpPr>
          <p:cNvPr id="3" name="Content Placeholder 2">
            <a:extLst>
              <a:ext uri="{FF2B5EF4-FFF2-40B4-BE49-F238E27FC236}">
                <a16:creationId xmlns:a16="http://schemas.microsoft.com/office/drawing/2014/main" id="{4660B5E0-18E8-80ED-4A0D-46AEF98022D8}"/>
              </a:ext>
            </a:extLst>
          </p:cNvPr>
          <p:cNvSpPr>
            <a:spLocks noGrp="1"/>
          </p:cNvSpPr>
          <p:nvPr>
            <p:ph idx="1"/>
          </p:nvPr>
        </p:nvSpPr>
        <p:spPr>
          <a:xfrm>
            <a:off x="1655181" y="1622671"/>
            <a:ext cx="5140215" cy="3829006"/>
          </a:xfrm>
        </p:spPr>
        <p:txBody>
          <a:bodyPr>
            <a:normAutofit fontScale="92500" lnSpcReduction="10000"/>
          </a:bodyPr>
          <a:lstStyle/>
          <a:p>
            <a:pPr marL="0" indent="0">
              <a:buNone/>
            </a:pPr>
            <a:r>
              <a:rPr lang="en-US" sz="2200" b="1" baseline="30000" dirty="0">
                <a:latin typeface="Times New Roman" panose="02020603050405020304" pitchFamily="18" charset="0"/>
                <a:cs typeface="Times New Roman" panose="02020603050405020304" pitchFamily="18" charset="0"/>
              </a:rPr>
              <a:t>Let’s take:</a:t>
            </a:r>
          </a:p>
          <a:p>
            <a:pPr marL="0" indent="0">
              <a:buNone/>
            </a:pPr>
            <a:r>
              <a:rPr lang="en-US" sz="2200" b="1" baseline="30000" dirty="0">
                <a:latin typeface="Times New Roman" panose="02020603050405020304" pitchFamily="18" charset="0"/>
                <a:cs typeface="Times New Roman" panose="02020603050405020304" pitchFamily="18" charset="0"/>
              </a:rPr>
              <a:t>•	x=1, y=1</a:t>
            </a:r>
          </a:p>
          <a:p>
            <a:pPr marL="0" indent="0">
              <a:buNone/>
            </a:pPr>
            <a:r>
              <a:rPr lang="en-US" sz="2200" b="1" baseline="30000" dirty="0">
                <a:latin typeface="Times New Roman" panose="02020603050405020304" pitchFamily="18" charset="0"/>
                <a:cs typeface="Times New Roman" panose="02020603050405020304" pitchFamily="18" charset="0"/>
              </a:rPr>
              <a:t>•	α=0.1</a:t>
            </a:r>
          </a:p>
          <a:p>
            <a:pPr marL="0" indent="0">
              <a:buNone/>
            </a:pPr>
            <a:r>
              <a:rPr lang="en-US" sz="2200" b="1" baseline="30000" dirty="0">
                <a:latin typeface="Times New Roman" panose="02020603050405020304" pitchFamily="18" charset="0"/>
                <a:cs typeface="Times New Roman" panose="02020603050405020304" pitchFamily="18" charset="0"/>
              </a:rPr>
              <a:t>•	Run 5 iterations:</a:t>
            </a:r>
          </a:p>
          <a:p>
            <a:pPr marL="0" indent="0" algn="just">
              <a:buNone/>
            </a:pPr>
            <a:r>
              <a:rPr lang="en-US" sz="2200" b="1" baseline="30000" dirty="0">
                <a:latin typeface="Times New Roman" panose="02020603050405020304" pitchFamily="18" charset="0"/>
                <a:cs typeface="Times New Roman" panose="02020603050405020304" pitchFamily="18" charset="0"/>
              </a:rPr>
              <a:t>Iteration	x	y	f(x, y)</a:t>
            </a:r>
          </a:p>
          <a:p>
            <a:pPr marL="0" indent="0" algn="just">
              <a:buNone/>
            </a:pPr>
            <a:r>
              <a:rPr lang="en-US" sz="2200" b="1" baseline="30000" dirty="0">
                <a:latin typeface="Times New Roman" panose="02020603050405020304" pitchFamily="18" charset="0"/>
                <a:cs typeface="Times New Roman" panose="02020603050405020304" pitchFamily="18" charset="0"/>
              </a:rPr>
              <a:t>0	1.000	1.000	1 + 2 = 3</a:t>
            </a:r>
          </a:p>
          <a:p>
            <a:pPr marL="0" indent="0" algn="just">
              <a:buNone/>
            </a:pPr>
            <a:r>
              <a:rPr lang="en-US" sz="2200" b="1" baseline="30000" dirty="0">
                <a:latin typeface="Times New Roman" panose="02020603050405020304" pitchFamily="18" charset="0"/>
                <a:cs typeface="Times New Roman" panose="02020603050405020304" pitchFamily="18" charset="0"/>
              </a:rPr>
              <a:t>1	0.800	0.600	0.64 + 0.72 = 1.36</a:t>
            </a:r>
          </a:p>
          <a:p>
            <a:pPr marL="0" indent="0" algn="just">
              <a:buNone/>
            </a:pPr>
            <a:r>
              <a:rPr lang="en-US" sz="2200" b="1" baseline="30000" dirty="0">
                <a:latin typeface="Times New Roman" panose="02020603050405020304" pitchFamily="18" charset="0"/>
                <a:cs typeface="Times New Roman" panose="02020603050405020304" pitchFamily="18" charset="0"/>
              </a:rPr>
              <a:t>2	0.640	0.360	0.41 + 0.26 ≈ 0.67</a:t>
            </a:r>
          </a:p>
          <a:p>
            <a:pPr marL="0" indent="0" algn="just">
              <a:buNone/>
            </a:pPr>
            <a:r>
              <a:rPr lang="en-US" sz="2200" b="1" baseline="30000" dirty="0">
                <a:latin typeface="Times New Roman" panose="02020603050405020304" pitchFamily="18" charset="0"/>
                <a:cs typeface="Times New Roman" panose="02020603050405020304" pitchFamily="18" charset="0"/>
              </a:rPr>
              <a:t>3	0.512	0.216	0.26 + 0.09 ≈ 0.35</a:t>
            </a:r>
          </a:p>
          <a:p>
            <a:pPr marL="0" indent="0" algn="just">
              <a:buNone/>
            </a:pPr>
            <a:r>
              <a:rPr lang="en-US" sz="2200" b="1" baseline="30000" dirty="0">
                <a:latin typeface="Times New Roman" panose="02020603050405020304" pitchFamily="18" charset="0"/>
                <a:cs typeface="Times New Roman" panose="02020603050405020304" pitchFamily="18" charset="0"/>
              </a:rPr>
              <a:t>4	0.410	0.130	0.17 + 0.034 ≈ 0.21</a:t>
            </a:r>
          </a:p>
          <a:p>
            <a:pPr marL="0" indent="0" algn="just">
              <a:buNone/>
            </a:pPr>
            <a:r>
              <a:rPr lang="en-US" sz="2200" b="1" baseline="30000" dirty="0">
                <a:latin typeface="Times New Roman" panose="02020603050405020304" pitchFamily="18" charset="0"/>
                <a:cs typeface="Times New Roman" panose="02020603050405020304" pitchFamily="18" charset="0"/>
              </a:rPr>
              <a:t>5	0.328	0.078	0.11 + 0.012 ≈ 0.13</a:t>
            </a:r>
          </a:p>
          <a:p>
            <a:pPr marL="0" indent="0">
              <a:buNone/>
            </a:pPr>
            <a:endParaRPr lang="en-US" sz="2200" b="0" baseline="30000" dirty="0"/>
          </a:p>
          <a:p>
            <a:endParaRPr lang="en-IN" baseline="30000" dirty="0"/>
          </a:p>
        </p:txBody>
      </p:sp>
      <p:sp>
        <p:nvSpPr>
          <p:cNvPr id="4" name="Slide Number Placeholder 3">
            <a:extLst>
              <a:ext uri="{FF2B5EF4-FFF2-40B4-BE49-F238E27FC236}">
                <a16:creationId xmlns:a16="http://schemas.microsoft.com/office/drawing/2014/main" id="{DB6AC84A-F94F-6FA0-700D-BFFFE232DF8A}"/>
              </a:ext>
            </a:extLst>
          </p:cNvPr>
          <p:cNvSpPr>
            <a:spLocks noGrp="1"/>
          </p:cNvSpPr>
          <p:nvPr>
            <p:ph type="sldNum" sz="quarter" idx="12"/>
          </p:nvPr>
        </p:nvSpPr>
        <p:spPr/>
        <p:txBody>
          <a:bodyPr/>
          <a:lstStyle/>
          <a:p>
            <a:fld id="{CBABCCC1-BF11-4F37-963E-1BCD5B23FD72}" type="slidenum">
              <a:rPr lang="en-IN" smtClean="0"/>
              <a:t>11</a:t>
            </a:fld>
            <a:endParaRPr lang="en-IN"/>
          </a:p>
        </p:txBody>
      </p:sp>
    </p:spTree>
    <p:extLst>
      <p:ext uri="{BB962C8B-B14F-4D97-AF65-F5344CB8AC3E}">
        <p14:creationId xmlns:p14="http://schemas.microsoft.com/office/powerpoint/2010/main" val="3050036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50D19-6B01-3BC8-D326-19029D6938E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8F5AE8B-6DD5-6624-ACE4-0E09D64F9B9C}"/>
              </a:ext>
            </a:extLst>
          </p:cNvPr>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12</a:t>
            </a:fld>
            <a:endParaRPr dirty="0"/>
          </a:p>
        </p:txBody>
      </p:sp>
      <p:sp>
        <p:nvSpPr>
          <p:cNvPr id="2" name="object 2">
            <a:extLst>
              <a:ext uri="{FF2B5EF4-FFF2-40B4-BE49-F238E27FC236}">
                <a16:creationId xmlns:a16="http://schemas.microsoft.com/office/drawing/2014/main" id="{A162D9A7-0022-2ED1-186C-436C76A35070}"/>
              </a:ext>
            </a:extLst>
          </p:cNvPr>
          <p:cNvSpPr txBox="1">
            <a:spLocks noGrp="1"/>
          </p:cNvSpPr>
          <p:nvPr>
            <p:ph type="title"/>
          </p:nvPr>
        </p:nvSpPr>
        <p:spPr>
          <a:xfrm>
            <a:off x="2613599" y="689974"/>
            <a:ext cx="8473478" cy="503192"/>
          </a:xfrm>
          <a:prstGeom prst="rect">
            <a:avLst/>
          </a:prstGeom>
        </p:spPr>
        <p:txBody>
          <a:bodyPr vert="horz" wrap="square" lIns="0" tIns="10646" rIns="0" bIns="0" rtlCol="0" anchor="t">
            <a:spAutoFit/>
          </a:bodyPr>
          <a:lstStyle/>
          <a:p>
            <a:pPr marL="1805924" marR="4483" algn="r">
              <a:lnSpc>
                <a:spcPct val="100000"/>
              </a:lnSpc>
              <a:spcBef>
                <a:spcPts val="84"/>
              </a:spcBef>
            </a:pPr>
            <a:r>
              <a:rPr lang="en-US" dirty="0"/>
              <a:t>Gradient descent</a:t>
            </a:r>
            <a:endParaRPr sz="3530" dirty="0"/>
          </a:p>
        </p:txBody>
      </p:sp>
      <p:sp>
        <p:nvSpPr>
          <p:cNvPr id="17" name="Rectangle 18">
            <a:extLst>
              <a:ext uri="{FF2B5EF4-FFF2-40B4-BE49-F238E27FC236}">
                <a16:creationId xmlns:a16="http://schemas.microsoft.com/office/drawing/2014/main" id="{EDDE5284-A05E-E2F3-5511-4448F211E430}"/>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0BDBC497-9EC3-8783-7A18-16F9FB6D6AA6}"/>
              </a:ext>
            </a:extLst>
          </p:cNvPr>
          <p:cNvSpPr txBox="1"/>
          <p:nvPr/>
        </p:nvSpPr>
        <p:spPr>
          <a:xfrm>
            <a:off x="1096701" y="1425940"/>
            <a:ext cx="9424686" cy="4524315"/>
          </a:xfrm>
          <a:prstGeom prst="rect">
            <a:avLst/>
          </a:prstGeom>
          <a:noFill/>
        </p:spPr>
        <p:txBody>
          <a:bodyPr wrap="square">
            <a:spAutoFit/>
          </a:bodyPr>
          <a:lstStyle/>
          <a:p>
            <a:pPr>
              <a:lnSpc>
                <a:spcPct val="150000"/>
              </a:lnSpc>
            </a:pPr>
            <a:r>
              <a:rPr lang="en-US" dirty="0"/>
              <a:t>1.	What is gradient descent? Give the update rule for gradient descent?</a:t>
            </a:r>
          </a:p>
          <a:p>
            <a:pPr>
              <a:lnSpc>
                <a:spcPct val="150000"/>
              </a:lnSpc>
            </a:pPr>
            <a:r>
              <a:rPr lang="en-US" dirty="0"/>
              <a:t>2.	How does gradient descent work?</a:t>
            </a:r>
          </a:p>
          <a:p>
            <a:pPr>
              <a:lnSpc>
                <a:spcPct val="150000"/>
              </a:lnSpc>
            </a:pPr>
            <a:r>
              <a:rPr lang="en-US" dirty="0"/>
              <a:t>3.	What are the advantages of gradient descent?</a:t>
            </a:r>
          </a:p>
          <a:p>
            <a:pPr marL="342900" indent="-342900">
              <a:lnSpc>
                <a:spcPct val="150000"/>
              </a:lnSpc>
              <a:buAutoNum type="arabicPeriod" startAt="4"/>
            </a:pPr>
            <a:r>
              <a:rPr lang="en-US" dirty="0"/>
              <a:t>Give some applications of gradient descent.</a:t>
            </a:r>
          </a:p>
          <a:p>
            <a:pPr marL="342900" indent="-342900">
              <a:lnSpc>
                <a:spcPct val="150000"/>
              </a:lnSpc>
              <a:buAutoNum type="arabicPeriod" startAt="4"/>
            </a:pPr>
            <a:r>
              <a:rPr lang="en-US" dirty="0"/>
              <a:t>How does the learning rate affect the convergence of gradient descent? Demonstrate with an </a:t>
            </a:r>
            <a:r>
              <a:rPr lang="en-US" dirty="0" err="1"/>
              <a:t>example.f</a:t>
            </a:r>
            <a:r>
              <a:rPr lang="en-US" dirty="0"/>
              <a:t>(x)=(x−3)</a:t>
            </a:r>
            <a:r>
              <a:rPr lang="en-US" baseline="30000" dirty="0"/>
              <a:t>2</a:t>
            </a:r>
            <a:r>
              <a:rPr lang="en-US" dirty="0"/>
              <a:t> α=0.1</a:t>
            </a:r>
          </a:p>
          <a:p>
            <a:pPr marL="342900" indent="-342900">
              <a:lnSpc>
                <a:spcPct val="150000"/>
              </a:lnSpc>
              <a:buAutoNum type="arabicPeriod" startAt="4"/>
            </a:pPr>
            <a:r>
              <a:rPr lang="en-US" dirty="0"/>
              <a:t>Given the following set of ordered pairs (3,8), (9,6), (5,4), (3,2), and assume that the relationship between </a:t>
            </a:r>
            <a:r>
              <a:rPr lang="en-US" dirty="0" err="1"/>
              <a:t>x,y</a:t>
            </a:r>
            <a:r>
              <a:rPr lang="en-US" dirty="0"/>
              <a:t> is approximately linear(y=</a:t>
            </a:r>
            <a:r>
              <a:rPr lang="en-US" dirty="0" err="1"/>
              <a:t>mx+c</a:t>
            </a:r>
            <a:r>
              <a:rPr lang="en-US" dirty="0"/>
              <a:t>). Your task is to optimize the parameters m (slope) and c (intercept) by minimizing the Mean Squared Error (MSE) cost function using the gradient descent algorithm.</a:t>
            </a:r>
          </a:p>
          <a:p>
            <a:endParaRPr lang="en-US" dirty="0"/>
          </a:p>
        </p:txBody>
      </p:sp>
    </p:spTree>
    <p:extLst>
      <p:ext uri="{BB962C8B-B14F-4D97-AF65-F5344CB8AC3E}">
        <p14:creationId xmlns:p14="http://schemas.microsoft.com/office/powerpoint/2010/main" val="2417096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A131B-B777-F491-354A-97A8B613F71C}"/>
              </a:ext>
            </a:extLst>
          </p:cNvPr>
          <p:cNvSpPr>
            <a:spLocks noGrp="1"/>
          </p:cNvSpPr>
          <p:nvPr>
            <p:ph idx="1"/>
          </p:nvPr>
        </p:nvSpPr>
        <p:spPr>
          <a:xfrm>
            <a:off x="4395197" y="2266254"/>
            <a:ext cx="2456540" cy="739994"/>
          </a:xfrm>
        </p:spPr>
        <p:txBody>
          <a:bodyPr>
            <a:noAutofit/>
          </a:bodyPr>
          <a:lstStyle/>
          <a:p>
            <a:pPr marL="0" indent="0">
              <a:buNone/>
            </a:pPr>
            <a:r>
              <a:rPr lang="en-US" sz="4000" dirty="0"/>
              <a:t>Thank You</a:t>
            </a:r>
            <a:endParaRPr lang="en-IN" sz="4000" dirty="0"/>
          </a:p>
        </p:txBody>
      </p:sp>
      <p:sp>
        <p:nvSpPr>
          <p:cNvPr id="4" name="Slide Number Placeholder 3">
            <a:extLst>
              <a:ext uri="{FF2B5EF4-FFF2-40B4-BE49-F238E27FC236}">
                <a16:creationId xmlns:a16="http://schemas.microsoft.com/office/drawing/2014/main" id="{671FB170-71F9-6F34-C077-D0F737334013}"/>
              </a:ext>
            </a:extLst>
          </p:cNvPr>
          <p:cNvSpPr>
            <a:spLocks noGrp="1"/>
          </p:cNvSpPr>
          <p:nvPr>
            <p:ph type="sldNum" sz="quarter" idx="12"/>
          </p:nvPr>
        </p:nvSpPr>
        <p:spPr/>
        <p:txBody>
          <a:bodyPr/>
          <a:lstStyle/>
          <a:p>
            <a:fld id="{CBABCCC1-BF11-4F37-963E-1BCD5B23FD72}" type="slidenum">
              <a:rPr lang="en-IN" smtClean="0"/>
              <a:t>13</a:t>
            </a:fld>
            <a:endParaRPr lang="en-IN"/>
          </a:p>
        </p:txBody>
      </p:sp>
    </p:spTree>
    <p:extLst>
      <p:ext uri="{BB962C8B-B14F-4D97-AF65-F5344CB8AC3E}">
        <p14:creationId xmlns:p14="http://schemas.microsoft.com/office/powerpoint/2010/main" val="285903039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PT Template.potx" id="{A4A573FA-5023-4A60-BA15-556917C382C0}" vid="{FAB5C421-D54E-4084-8823-8DA30F368A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branch and bound</Template>
  <TotalTime>402</TotalTime>
  <Words>860</Words>
  <Application>Microsoft Office PowerPoint</Application>
  <PresentationFormat>Widescreen</PresentationFormat>
  <Paragraphs>91</Paragraphs>
  <Slides>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Calibri</vt:lpstr>
      <vt:lpstr>Cambria Math</vt:lpstr>
      <vt:lpstr>Courier New</vt:lpstr>
      <vt:lpstr>Gill Sans MT</vt:lpstr>
      <vt:lpstr>Noto Sans Symbols</vt:lpstr>
      <vt:lpstr>Poppins</vt:lpstr>
      <vt:lpstr>Times New Roman</vt:lpstr>
      <vt:lpstr>Wingdings</vt:lpstr>
      <vt:lpstr>Gallery</vt:lpstr>
      <vt:lpstr>mathematical optimization</vt:lpstr>
      <vt:lpstr>PowerPoint Presentation</vt:lpstr>
      <vt:lpstr>Gradient descent, Newton's method:  AN INTRODUCTION</vt:lpstr>
      <vt:lpstr>Gradient descent</vt:lpstr>
      <vt:lpstr>Gradient descent</vt:lpstr>
      <vt:lpstr>Gradient descent</vt:lpstr>
      <vt:lpstr>Gradient descent</vt:lpstr>
      <vt:lpstr>Gradient descent</vt:lpstr>
      <vt:lpstr>Gradient descent</vt:lpstr>
      <vt:lpstr>Gradient descent</vt:lpstr>
      <vt:lpstr>Gradient descent</vt:lpstr>
      <vt:lpstr>Gradient descent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PROGRAMMING</dc:title>
  <dc:creator>Imunganbi Sanasam</dc:creator>
  <cp:lastModifiedBy>V V Sivaramaraju</cp:lastModifiedBy>
  <cp:revision>17</cp:revision>
  <dcterms:created xsi:type="dcterms:W3CDTF">2023-05-10T05:51:59Z</dcterms:created>
  <dcterms:modified xsi:type="dcterms:W3CDTF">2025-07-02T04:51:21Z</dcterms:modified>
</cp:coreProperties>
</file>