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256" r:id="rId2"/>
    <p:sldId id="300" r:id="rId3"/>
    <p:sldId id="257" r:id="rId4"/>
    <p:sldId id="296" r:id="rId5"/>
    <p:sldId id="297" r:id="rId6"/>
    <p:sldId id="298" r:id="rId7"/>
    <p:sldId id="299" r:id="rId8"/>
    <p:sldId id="261" r:id="rId9"/>
    <p:sldId id="262" r:id="rId10"/>
    <p:sldId id="263" r:id="rId11"/>
    <p:sldId id="264" r:id="rId12"/>
    <p:sldId id="265" r:id="rId13"/>
    <p:sldId id="27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22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7188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5" name="Google Shape;295;p9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strike="noStrike">
                <a:latin typeface="Arial"/>
                <a:ea typeface="Arial"/>
                <a:cs typeface="Arial"/>
                <a:sym typeface="Arial"/>
              </a:rPr>
              <a:t>Answer 1 b and 2 c</a:t>
            </a: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9:notes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sz="1200" b="0" i="0" u="none" strike="noStrike" cap="non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06890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982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7332" y="1374477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521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0948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286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372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7466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587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2037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776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267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640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:a16="http://schemas.microsoft.com/office/drawing/2014/main" id="{D33DD7EC-6054-A5D7-0F93-3916702EC90E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6D7A70-9470-38A5-6785-933F5C0892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id="{A51BE3ED-273E-B0A1-FC3A-EE01E1A92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380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69B8D-BF65-4ADD-F76F-77EA72FFCB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mathematical optimization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640656-3048-2A08-BF39-81705306F7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CO2- Integer programming</a:t>
            </a:r>
          </a:p>
        </p:txBody>
      </p:sp>
    </p:spTree>
    <p:extLst>
      <p:ext uri="{BB962C8B-B14F-4D97-AF65-F5344CB8AC3E}">
        <p14:creationId xmlns:p14="http://schemas.microsoft.com/office/powerpoint/2010/main" val="2503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8"/>
          <p:cNvSpPr/>
          <p:nvPr/>
        </p:nvSpPr>
        <p:spPr>
          <a:xfrm>
            <a:off x="4471200" y="84240"/>
            <a:ext cx="3011040" cy="390240"/>
          </a:xfrm>
          <a:prstGeom prst="roundRect">
            <a:avLst>
              <a:gd name="adj" fmla="val 16667"/>
            </a:avLst>
          </a:prstGeom>
          <a:solidFill>
            <a:srgbClr val="BA2532"/>
          </a:solidFill>
          <a:ln>
            <a:noFill/>
          </a:ln>
          <a:effectLst>
            <a:outerShdw blurRad="50800" dist="37674" dir="2700000" algn="tl" rotWithShape="0">
              <a:srgbClr val="BA2532">
                <a:alpha val="40000"/>
              </a:srgbClr>
            </a:outerShdw>
          </a:effectLst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AIM OF THE SESSION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8"/>
          <p:cNvSpPr/>
          <p:nvPr/>
        </p:nvSpPr>
        <p:spPr>
          <a:xfrm>
            <a:off x="914400" y="684360"/>
            <a:ext cx="10705480" cy="605260"/>
          </a:xfrm>
          <a:prstGeom prst="rect">
            <a:avLst/>
          </a:prstGeom>
          <a:gradFill>
            <a:gsLst>
              <a:gs pos="0">
                <a:srgbClr val="F7FAFD"/>
              </a:gs>
              <a:gs pos="100000">
                <a:srgbClr val="CEE1F2"/>
              </a:gs>
            </a:gsLst>
            <a:path path="circle">
              <a:fillToRect l="50000" t="50000" r="50000" b="50000"/>
            </a:path>
            <a:tileRect/>
          </a:gradFill>
          <a:ln w="9525" cap="rnd" cmpd="sng">
            <a:solidFill>
              <a:srgbClr val="DDEAF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60" algn="l" rotWithShape="0">
              <a:srgbClr val="BBD6EE">
                <a:alpha val="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 familiarize students with the concept of </a:t>
            </a:r>
            <a:r>
              <a:rPr lang="en-IN" sz="1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Integer Programming</a:t>
            </a:r>
            <a:r>
              <a:rPr lang="en-IN" sz="16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6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8"/>
          <p:cNvSpPr/>
          <p:nvPr/>
        </p:nvSpPr>
        <p:spPr>
          <a:xfrm>
            <a:off x="4160520" y="1807200"/>
            <a:ext cx="3870360" cy="390240"/>
          </a:xfrm>
          <a:prstGeom prst="roundRect">
            <a:avLst>
              <a:gd name="adj" fmla="val 16667"/>
            </a:avLst>
          </a:prstGeom>
          <a:solidFill>
            <a:srgbClr val="BA2532"/>
          </a:solidFill>
          <a:ln>
            <a:noFill/>
          </a:ln>
          <a:effectLst>
            <a:outerShdw blurRad="50800" dist="37674" dir="2700000" algn="tl" rotWithShape="0">
              <a:srgbClr val="BA2532">
                <a:alpha val="40000"/>
              </a:srgbClr>
            </a:outerShdw>
          </a:effectLst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INSTRUCTIONAL OBJECTIVES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8"/>
          <p:cNvSpPr/>
          <p:nvPr/>
        </p:nvSpPr>
        <p:spPr>
          <a:xfrm>
            <a:off x="1752480" y="2438640"/>
            <a:ext cx="8791200" cy="1551960"/>
          </a:xfrm>
          <a:prstGeom prst="rect">
            <a:avLst/>
          </a:prstGeom>
          <a:gradFill>
            <a:gsLst>
              <a:gs pos="0">
                <a:srgbClr val="F7FAFD"/>
              </a:gs>
              <a:gs pos="100000">
                <a:srgbClr val="CEE1F2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rgbClr val="DDEAF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60" algn="l" rotWithShape="0">
              <a:srgbClr val="BBD6EE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This Session is designed to:</a:t>
            </a:r>
            <a:endParaRPr sz="16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-342265">
              <a:buClr>
                <a:srgbClr val="000000"/>
              </a:buClr>
              <a:buSzPts val="1600"/>
              <a:buFont typeface="Noto Sans Symbols"/>
              <a:buAutoNum type="arabicPeriod"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Introduce Integer linear programming (ILP)</a:t>
            </a:r>
            <a:endParaRPr sz="1600" i="0" u="none" strike="noStrike" cap="none" dirty="0"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  <a:p>
            <a:pPr marL="342900" indent="-342265">
              <a:buClr>
                <a:srgbClr val="000000"/>
              </a:buClr>
              <a:buSzPts val="1600"/>
              <a:buFont typeface="Noto Sans Symbols"/>
              <a:buAutoNum type="arabicPeriod"/>
            </a:pPr>
            <a:r>
              <a:rPr lang="en-IN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Introduce types of ILP</a:t>
            </a:r>
          </a:p>
          <a:p>
            <a:pPr marL="342900" indent="-342265">
              <a:buClr>
                <a:srgbClr val="000000"/>
              </a:buClr>
              <a:buSzPts val="1600"/>
              <a:buFont typeface="Noto Sans Symbols"/>
              <a:buAutoNum type="arabicPeriod"/>
            </a:pPr>
            <a:r>
              <a:rPr lang="en-IN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 methods to solve ILP</a:t>
            </a:r>
            <a:endParaRPr sz="1600" b="0" i="0" u="none" strike="noStrike" cap="none" dirty="0">
              <a:latin typeface="Arial"/>
              <a:ea typeface="Arial"/>
              <a:cs typeface="Arial"/>
            </a:endParaRPr>
          </a:p>
        </p:txBody>
      </p:sp>
      <p:pic>
        <p:nvPicPr>
          <p:cNvPr id="145" name="Google Shape;145;p28" descr="Bullseye outlin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5320"/>
            <a:ext cx="914040" cy="914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8" descr="Presentation with checklist outlin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080" y="2438640"/>
            <a:ext cx="914040" cy="91404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8"/>
          <p:cNvSpPr/>
          <p:nvPr/>
        </p:nvSpPr>
        <p:spPr>
          <a:xfrm>
            <a:off x="4213080" y="4249080"/>
            <a:ext cx="3870360" cy="390240"/>
          </a:xfrm>
          <a:prstGeom prst="roundRect">
            <a:avLst>
              <a:gd name="adj" fmla="val 16667"/>
            </a:avLst>
          </a:prstGeom>
          <a:solidFill>
            <a:srgbClr val="BA2532"/>
          </a:solidFill>
          <a:ln>
            <a:noFill/>
          </a:ln>
          <a:effectLst>
            <a:outerShdw blurRad="50800" dist="37674" dir="2700000" algn="tl" rotWithShape="0">
              <a:srgbClr val="BA2532">
                <a:alpha val="40000"/>
              </a:srgbClr>
            </a:outerShdw>
          </a:effectLst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LEARNING OUTCOMES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28" descr="Idea outlin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4400" y="4765680"/>
            <a:ext cx="914040" cy="91404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8"/>
          <p:cNvSpPr/>
          <p:nvPr/>
        </p:nvSpPr>
        <p:spPr>
          <a:xfrm>
            <a:off x="1752480" y="4772160"/>
            <a:ext cx="8791200" cy="1156200"/>
          </a:xfrm>
          <a:prstGeom prst="rect">
            <a:avLst/>
          </a:prstGeom>
          <a:gradFill>
            <a:gsLst>
              <a:gs pos="0">
                <a:srgbClr val="F7FAFD"/>
              </a:gs>
              <a:gs pos="100000">
                <a:srgbClr val="CEE1F2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rgbClr val="DDEAF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60" algn="l" rotWithShape="0">
              <a:srgbClr val="BBD6EE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 the end of this session, 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students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should be able to:</a:t>
            </a:r>
            <a:endParaRPr sz="16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43080" lvl="0" indent="-342720">
              <a:buClr>
                <a:srgbClr val="000000"/>
              </a:buClr>
              <a:buSzPts val="1600"/>
              <a:buFont typeface="Noto Sans Symbols"/>
              <a:buAutoNum type="arabicPeriod"/>
            </a:pP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 ILP</a:t>
            </a:r>
            <a:endParaRPr sz="16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28" descr="KL Deemed to be University Logo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0"/>
            <a:ext cx="1990440" cy="59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8"/>
          <p:cNvPicPr preferRelativeResize="0"/>
          <p:nvPr/>
        </p:nvPicPr>
        <p:blipFill rotWithShape="1">
          <a:blip r:embed="rId7">
            <a:alphaModFix/>
          </a:blip>
          <a:srcRect l="11087" t="90948" r="8738" b="2224"/>
          <a:stretch/>
        </p:blipFill>
        <p:spPr>
          <a:xfrm>
            <a:off x="686425" y="6334750"/>
            <a:ext cx="10923300" cy="5232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B4AE62C8-CFDA-6A6A-8DEF-9426216F8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90490" y="6291139"/>
            <a:ext cx="811019" cy="503578"/>
          </a:xfrm>
        </p:spPr>
        <p:txBody>
          <a:bodyPr/>
          <a:lstStyle/>
          <a:p>
            <a:fld id="{CBABCCC1-BF11-4F37-963E-1BCD5B23FD72}" type="slidenum">
              <a:rPr lang="en-IN" smtClean="0"/>
              <a:t>2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F938E-369B-C16C-7F9D-AB782D33D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3143" y="613742"/>
            <a:ext cx="9603275" cy="1049235"/>
          </a:xfrm>
        </p:spPr>
        <p:txBody>
          <a:bodyPr/>
          <a:lstStyle/>
          <a:p>
            <a:r>
              <a:rPr lang="en-IN" sz="3200" spc="-4" dirty="0"/>
              <a:t>INTEGER </a:t>
            </a:r>
            <a:r>
              <a:rPr lang="en-IN" sz="3200" spc="-9" dirty="0"/>
              <a:t>PROGRAMMING: </a:t>
            </a:r>
            <a:r>
              <a:rPr lang="en-IN" sz="3200" spc="-1024" dirty="0"/>
              <a:t> </a:t>
            </a:r>
            <a:r>
              <a:rPr lang="en-IN" sz="3200" spc="-4" dirty="0"/>
              <a:t>AN</a:t>
            </a:r>
            <a:r>
              <a:rPr lang="en-IN" sz="3200" spc="-44" dirty="0"/>
              <a:t> </a:t>
            </a:r>
            <a:r>
              <a:rPr lang="en-IN" sz="3200" spc="-9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5C292-02A6-6C9F-D6D7-2141BB086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292" y="1517072"/>
            <a:ext cx="11191008" cy="4561609"/>
          </a:xfrm>
        </p:spPr>
        <p:txBody>
          <a:bodyPr>
            <a:normAutofit lnSpcReduction="10000"/>
          </a:bodyPr>
          <a:lstStyle/>
          <a:p>
            <a:pPr marL="313221" marR="6724" indent="-302575" algn="just">
              <a:spcBef>
                <a:spcPts val="84"/>
              </a:spcBef>
              <a:buFont typeface="Wingdings"/>
              <a:buChar char=""/>
              <a:tabLst>
                <a:tab pos="313781" algn="l"/>
              </a:tabLst>
            </a:pPr>
            <a:r>
              <a:rPr lang="en-US" sz="2000" dirty="0">
                <a:solidFill>
                  <a:srgbClr val="231F20"/>
                </a:solidFill>
                <a:latin typeface="Tahoma"/>
                <a:cs typeface="Tahoma"/>
              </a:rPr>
              <a:t>An </a:t>
            </a:r>
            <a:r>
              <a:rPr lang="en-US" sz="2000" spc="-4" dirty="0">
                <a:solidFill>
                  <a:srgbClr val="231F20"/>
                </a:solidFill>
                <a:latin typeface="Tahoma"/>
                <a:cs typeface="Tahoma"/>
              </a:rPr>
              <a:t>integer </a:t>
            </a:r>
            <a:r>
              <a:rPr lang="en-US" sz="2000" spc="-9" dirty="0">
                <a:solidFill>
                  <a:srgbClr val="231F20"/>
                </a:solidFill>
                <a:latin typeface="Tahoma"/>
                <a:cs typeface="Tahoma"/>
              </a:rPr>
              <a:t>programming </a:t>
            </a:r>
            <a:r>
              <a:rPr lang="en-US" sz="2000" spc="-4" dirty="0">
                <a:solidFill>
                  <a:srgbClr val="231F20"/>
                </a:solidFill>
                <a:latin typeface="Tahoma"/>
                <a:cs typeface="Tahoma"/>
              </a:rPr>
              <a:t>model is one where one or </a:t>
            </a:r>
            <a:r>
              <a:rPr lang="en-US" sz="2000" spc="-9" dirty="0">
                <a:solidFill>
                  <a:srgbClr val="231F20"/>
                </a:solidFill>
                <a:latin typeface="Tahoma"/>
                <a:cs typeface="Tahoma"/>
              </a:rPr>
              <a:t>more </a:t>
            </a:r>
            <a:r>
              <a:rPr lang="en-US" sz="2000" spc="-4" dirty="0">
                <a:solidFill>
                  <a:srgbClr val="231F20"/>
                </a:solidFill>
                <a:latin typeface="Tahoma"/>
                <a:cs typeface="Tahoma"/>
              </a:rPr>
              <a:t>of the </a:t>
            </a:r>
            <a:r>
              <a:rPr lang="en-US" sz="200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lang="en-US" sz="2000" spc="-4" dirty="0">
                <a:solidFill>
                  <a:srgbClr val="231F20"/>
                </a:solidFill>
                <a:latin typeface="Tahoma"/>
                <a:cs typeface="Tahoma"/>
              </a:rPr>
              <a:t>decision </a:t>
            </a:r>
            <a:r>
              <a:rPr lang="en-US" sz="2000" spc="-9" dirty="0">
                <a:solidFill>
                  <a:srgbClr val="231F20"/>
                </a:solidFill>
                <a:latin typeface="Tahoma"/>
                <a:cs typeface="Tahoma"/>
              </a:rPr>
              <a:t>variables </a:t>
            </a:r>
            <a:r>
              <a:rPr lang="en-US" sz="2000" spc="-4" dirty="0">
                <a:solidFill>
                  <a:srgbClr val="231F20"/>
                </a:solidFill>
                <a:latin typeface="Tahoma"/>
                <a:cs typeface="Tahoma"/>
              </a:rPr>
              <a:t>has </a:t>
            </a:r>
            <a:r>
              <a:rPr lang="en-US" sz="2000" dirty="0">
                <a:solidFill>
                  <a:srgbClr val="231F20"/>
                </a:solidFill>
                <a:latin typeface="Tahoma"/>
                <a:cs typeface="Tahoma"/>
              </a:rPr>
              <a:t>to </a:t>
            </a:r>
            <a:r>
              <a:rPr lang="en-US" sz="2000" spc="-9" dirty="0">
                <a:solidFill>
                  <a:srgbClr val="231F20"/>
                </a:solidFill>
                <a:latin typeface="Tahoma"/>
                <a:cs typeface="Tahoma"/>
              </a:rPr>
              <a:t>take </a:t>
            </a:r>
            <a:r>
              <a:rPr lang="en-US" sz="2000" spc="-4" dirty="0">
                <a:solidFill>
                  <a:srgbClr val="231F20"/>
                </a:solidFill>
                <a:latin typeface="Tahoma"/>
                <a:cs typeface="Tahoma"/>
              </a:rPr>
              <a:t>on an integer </a:t>
            </a:r>
            <a:r>
              <a:rPr lang="en-US" sz="2000" spc="-9" dirty="0">
                <a:solidFill>
                  <a:srgbClr val="231F20"/>
                </a:solidFill>
                <a:latin typeface="Tahoma"/>
                <a:cs typeface="Tahoma"/>
              </a:rPr>
              <a:t>value </a:t>
            </a:r>
            <a:r>
              <a:rPr lang="en-US" sz="2000" spc="-4" dirty="0">
                <a:solidFill>
                  <a:srgbClr val="231F20"/>
                </a:solidFill>
                <a:latin typeface="Tahoma"/>
                <a:cs typeface="Tahoma"/>
              </a:rPr>
              <a:t>in the final </a:t>
            </a:r>
            <a:r>
              <a:rPr lang="en-US" sz="200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lang="en-US" sz="2000" spc="-4" dirty="0">
                <a:solidFill>
                  <a:srgbClr val="231F20"/>
                </a:solidFill>
                <a:latin typeface="Tahoma"/>
                <a:cs typeface="Tahoma"/>
              </a:rPr>
              <a:t>solution</a:t>
            </a:r>
            <a:endParaRPr lang="en-US" sz="2000" dirty="0">
              <a:latin typeface="Tahoma"/>
              <a:cs typeface="Tahoma"/>
            </a:endParaRPr>
          </a:p>
          <a:p>
            <a:pPr marL="313221" marR="6724" indent="-302575" algn="just">
              <a:buFont typeface="Wingdings"/>
              <a:buChar char=""/>
              <a:tabLst>
                <a:tab pos="313781" algn="l"/>
              </a:tabLst>
            </a:pPr>
            <a:r>
              <a:rPr lang="en-US" sz="2000" spc="-4" dirty="0">
                <a:solidFill>
                  <a:srgbClr val="ED2124"/>
                </a:solidFill>
                <a:latin typeface="Tahoma"/>
                <a:cs typeface="Tahoma"/>
              </a:rPr>
              <a:t>Solving an integer </a:t>
            </a:r>
            <a:r>
              <a:rPr lang="en-US" sz="2000" spc="-9" dirty="0">
                <a:solidFill>
                  <a:srgbClr val="ED2124"/>
                </a:solidFill>
                <a:latin typeface="Tahoma"/>
                <a:cs typeface="Tahoma"/>
              </a:rPr>
              <a:t>programming </a:t>
            </a:r>
            <a:r>
              <a:rPr lang="en-US" sz="2000" spc="-4" dirty="0">
                <a:solidFill>
                  <a:srgbClr val="ED2124"/>
                </a:solidFill>
                <a:latin typeface="Tahoma"/>
                <a:cs typeface="Tahoma"/>
              </a:rPr>
              <a:t>problem is much more difficult </a:t>
            </a:r>
            <a:r>
              <a:rPr lang="en-US" sz="2000" dirty="0">
                <a:solidFill>
                  <a:srgbClr val="ED2124"/>
                </a:solidFill>
                <a:latin typeface="Tahoma"/>
                <a:cs typeface="Tahoma"/>
              </a:rPr>
              <a:t> </a:t>
            </a:r>
            <a:r>
              <a:rPr lang="en-US" sz="2000" spc="-4" dirty="0">
                <a:solidFill>
                  <a:srgbClr val="ED2124"/>
                </a:solidFill>
                <a:latin typeface="Tahoma"/>
                <a:cs typeface="Tahoma"/>
              </a:rPr>
              <a:t>than solving</a:t>
            </a:r>
            <a:r>
              <a:rPr lang="en-US" sz="2000" dirty="0">
                <a:solidFill>
                  <a:srgbClr val="ED2124"/>
                </a:solidFill>
                <a:latin typeface="Tahoma"/>
                <a:cs typeface="Tahoma"/>
              </a:rPr>
              <a:t> </a:t>
            </a:r>
            <a:r>
              <a:rPr lang="en-US" sz="2000" spc="-4" dirty="0">
                <a:solidFill>
                  <a:srgbClr val="ED2124"/>
                </a:solidFill>
                <a:latin typeface="Tahoma"/>
                <a:cs typeface="Tahoma"/>
              </a:rPr>
              <a:t>an</a:t>
            </a:r>
            <a:r>
              <a:rPr lang="en-US" sz="2000" spc="4" dirty="0">
                <a:solidFill>
                  <a:srgbClr val="ED2124"/>
                </a:solidFill>
                <a:latin typeface="Tahoma"/>
                <a:cs typeface="Tahoma"/>
              </a:rPr>
              <a:t> </a:t>
            </a:r>
            <a:r>
              <a:rPr lang="en-US" sz="2000" spc="-4" dirty="0">
                <a:solidFill>
                  <a:srgbClr val="ED2124"/>
                </a:solidFill>
                <a:latin typeface="Tahoma"/>
                <a:cs typeface="Tahoma"/>
              </a:rPr>
              <a:t>LP</a:t>
            </a:r>
            <a:r>
              <a:rPr lang="en-US" sz="2000" spc="9" dirty="0">
                <a:solidFill>
                  <a:srgbClr val="ED2124"/>
                </a:solidFill>
                <a:latin typeface="Tahoma"/>
                <a:cs typeface="Tahoma"/>
              </a:rPr>
              <a:t> </a:t>
            </a:r>
            <a:r>
              <a:rPr lang="en-US" sz="2000" spc="-9" dirty="0">
                <a:solidFill>
                  <a:srgbClr val="ED2124"/>
                </a:solidFill>
                <a:latin typeface="Tahoma"/>
                <a:cs typeface="Tahoma"/>
              </a:rPr>
              <a:t>problem</a:t>
            </a:r>
            <a:endParaRPr lang="en-US" sz="2000" dirty="0">
              <a:latin typeface="Tahoma"/>
              <a:cs typeface="Tahoma"/>
            </a:endParaRPr>
          </a:p>
          <a:p>
            <a:pPr marL="313221" marR="6724" indent="-302575" algn="just">
              <a:buFont typeface="Wingdings"/>
              <a:buChar char=""/>
              <a:tabLst>
                <a:tab pos="313781" algn="l"/>
              </a:tabLst>
            </a:pPr>
            <a:r>
              <a:rPr lang="en-US" sz="2000" spc="-9" dirty="0">
                <a:solidFill>
                  <a:srgbClr val="231F20"/>
                </a:solidFill>
                <a:latin typeface="Tahoma"/>
                <a:cs typeface="Tahoma"/>
              </a:rPr>
              <a:t>Even </a:t>
            </a:r>
            <a:r>
              <a:rPr lang="en-US" sz="2000" spc="-4" dirty="0">
                <a:solidFill>
                  <a:srgbClr val="231F20"/>
                </a:solidFill>
                <a:latin typeface="Tahoma"/>
                <a:cs typeface="Tahoma"/>
              </a:rPr>
              <a:t>the </a:t>
            </a:r>
            <a:r>
              <a:rPr lang="en-US" sz="2000" spc="-9" dirty="0">
                <a:solidFill>
                  <a:srgbClr val="231F20"/>
                </a:solidFill>
                <a:latin typeface="Tahoma"/>
                <a:cs typeface="Tahoma"/>
              </a:rPr>
              <a:t>fastest </a:t>
            </a:r>
            <a:r>
              <a:rPr lang="en-US" sz="2000" spc="-4" dirty="0">
                <a:solidFill>
                  <a:srgbClr val="231F20"/>
                </a:solidFill>
                <a:latin typeface="Tahoma"/>
                <a:cs typeface="Tahoma"/>
              </a:rPr>
              <a:t>computers can </a:t>
            </a:r>
            <a:r>
              <a:rPr lang="en-US" sz="2000" spc="-9" dirty="0">
                <a:solidFill>
                  <a:srgbClr val="231F20"/>
                </a:solidFill>
                <a:latin typeface="Tahoma"/>
                <a:cs typeface="Tahoma"/>
              </a:rPr>
              <a:t>take </a:t>
            </a:r>
            <a:r>
              <a:rPr lang="en-US" sz="2000" spc="-4" dirty="0">
                <a:solidFill>
                  <a:srgbClr val="231F20"/>
                </a:solidFill>
                <a:latin typeface="Tahoma"/>
                <a:cs typeface="Tahoma"/>
              </a:rPr>
              <a:t>an </a:t>
            </a:r>
            <a:r>
              <a:rPr lang="en-US" sz="2000" spc="-9" dirty="0">
                <a:solidFill>
                  <a:srgbClr val="231F20"/>
                </a:solidFill>
                <a:latin typeface="Tahoma"/>
                <a:cs typeface="Tahoma"/>
              </a:rPr>
              <a:t>excessively </a:t>
            </a:r>
            <a:r>
              <a:rPr lang="en-US" sz="2000" dirty="0">
                <a:solidFill>
                  <a:srgbClr val="231F20"/>
                </a:solidFill>
                <a:latin typeface="Tahoma"/>
                <a:cs typeface="Tahoma"/>
              </a:rPr>
              <a:t>long </a:t>
            </a:r>
            <a:r>
              <a:rPr lang="en-US" sz="2000" spc="-4" dirty="0">
                <a:solidFill>
                  <a:srgbClr val="231F20"/>
                </a:solidFill>
                <a:latin typeface="Tahoma"/>
                <a:cs typeface="Tahoma"/>
              </a:rPr>
              <a:t>time </a:t>
            </a:r>
            <a:r>
              <a:rPr lang="en-US" sz="2000" dirty="0">
                <a:solidFill>
                  <a:srgbClr val="231F20"/>
                </a:solidFill>
                <a:latin typeface="Tahoma"/>
                <a:cs typeface="Tahoma"/>
              </a:rPr>
              <a:t>to </a:t>
            </a:r>
            <a:r>
              <a:rPr lang="en-US" sz="2000"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lang="en-US" sz="2000" spc="-9" dirty="0">
                <a:solidFill>
                  <a:srgbClr val="231F20"/>
                </a:solidFill>
                <a:latin typeface="Tahoma"/>
                <a:cs typeface="Tahoma"/>
              </a:rPr>
              <a:t>solve</a:t>
            </a:r>
            <a:r>
              <a:rPr lang="en-US" sz="2000"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lang="en-US" sz="2000" spc="-4" dirty="0">
                <a:solidFill>
                  <a:srgbClr val="231F20"/>
                </a:solidFill>
                <a:latin typeface="Tahoma"/>
                <a:cs typeface="Tahoma"/>
              </a:rPr>
              <a:t>big </a:t>
            </a:r>
            <a:r>
              <a:rPr lang="en-US" sz="2000" spc="-9" dirty="0">
                <a:solidFill>
                  <a:srgbClr val="231F20"/>
                </a:solidFill>
                <a:latin typeface="Tahoma"/>
                <a:cs typeface="Tahoma"/>
              </a:rPr>
              <a:t>integer</a:t>
            </a:r>
            <a:r>
              <a:rPr lang="en-US" sz="2000" spc="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lang="en-US" sz="2000" spc="-9" dirty="0">
                <a:solidFill>
                  <a:srgbClr val="231F20"/>
                </a:solidFill>
                <a:latin typeface="Tahoma"/>
                <a:cs typeface="Tahoma"/>
              </a:rPr>
              <a:t>programming</a:t>
            </a:r>
            <a:r>
              <a:rPr lang="en-US" sz="2000" spc="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lang="en-US" sz="2000" spc="-9" dirty="0">
                <a:solidFill>
                  <a:srgbClr val="231F20"/>
                </a:solidFill>
                <a:latin typeface="Tahoma"/>
                <a:cs typeface="Tahoma"/>
              </a:rPr>
              <a:t>problems</a:t>
            </a:r>
            <a:endParaRPr lang="en-US" sz="2000" dirty="0">
              <a:latin typeface="Tahoma"/>
              <a:cs typeface="Tahoma"/>
            </a:endParaRPr>
          </a:p>
          <a:p>
            <a:pPr marL="313221" marR="4483" indent="-302575" algn="just">
              <a:lnSpc>
                <a:spcPct val="97400"/>
              </a:lnSpc>
              <a:spcBef>
                <a:spcPts val="66"/>
              </a:spcBef>
              <a:buFont typeface="Wingdings"/>
              <a:buChar char=""/>
              <a:tabLst>
                <a:tab pos="313781" algn="l"/>
              </a:tabLst>
            </a:pPr>
            <a:r>
              <a:rPr lang="en-US" sz="2000" spc="-4" dirty="0">
                <a:solidFill>
                  <a:srgbClr val="ED2124"/>
                </a:solidFill>
                <a:latin typeface="Tahoma"/>
                <a:cs typeface="Tahoma"/>
              </a:rPr>
              <a:t>If requiring integer </a:t>
            </a:r>
            <a:r>
              <a:rPr lang="en-US" sz="2000" spc="-9" dirty="0">
                <a:solidFill>
                  <a:srgbClr val="ED2124"/>
                </a:solidFill>
                <a:latin typeface="Tahoma"/>
                <a:cs typeface="Tahoma"/>
              </a:rPr>
              <a:t>values </a:t>
            </a:r>
            <a:r>
              <a:rPr lang="en-US" sz="2000" spc="-4" dirty="0">
                <a:solidFill>
                  <a:srgbClr val="ED2124"/>
                </a:solidFill>
                <a:latin typeface="Tahoma"/>
                <a:cs typeface="Tahoma"/>
              </a:rPr>
              <a:t>is the only </a:t>
            </a:r>
            <a:r>
              <a:rPr lang="en-US" sz="2000" spc="-18" dirty="0">
                <a:solidFill>
                  <a:srgbClr val="ED2124"/>
                </a:solidFill>
                <a:latin typeface="Tahoma"/>
                <a:cs typeface="Tahoma"/>
              </a:rPr>
              <a:t>way </a:t>
            </a:r>
            <a:r>
              <a:rPr lang="en-US" sz="2000" spc="-4" dirty="0">
                <a:solidFill>
                  <a:srgbClr val="ED2124"/>
                </a:solidFill>
                <a:latin typeface="Tahoma"/>
                <a:cs typeface="Tahoma"/>
              </a:rPr>
              <a:t>in </a:t>
            </a:r>
            <a:r>
              <a:rPr lang="en-US" sz="2000" spc="-9" dirty="0">
                <a:solidFill>
                  <a:srgbClr val="ED2124"/>
                </a:solidFill>
                <a:latin typeface="Tahoma"/>
                <a:cs typeface="Tahoma"/>
              </a:rPr>
              <a:t>which </a:t>
            </a:r>
            <a:r>
              <a:rPr lang="en-US" sz="2000" spc="-4" dirty="0">
                <a:solidFill>
                  <a:srgbClr val="ED2124"/>
                </a:solidFill>
                <a:latin typeface="Tahoma"/>
                <a:cs typeface="Tahoma"/>
              </a:rPr>
              <a:t>a problem </a:t>
            </a:r>
            <a:r>
              <a:rPr lang="en-US" sz="2000" dirty="0">
                <a:solidFill>
                  <a:srgbClr val="ED2124"/>
                </a:solidFill>
                <a:latin typeface="Tahoma"/>
                <a:cs typeface="Tahoma"/>
              </a:rPr>
              <a:t> </a:t>
            </a:r>
            <a:r>
              <a:rPr lang="en-US" sz="2000" spc="-4" dirty="0">
                <a:solidFill>
                  <a:srgbClr val="ED2124"/>
                </a:solidFill>
                <a:latin typeface="Tahoma"/>
                <a:cs typeface="Tahoma"/>
              </a:rPr>
              <a:t>deviates </a:t>
            </a:r>
            <a:r>
              <a:rPr lang="en-US" sz="2000" spc="-9" dirty="0">
                <a:solidFill>
                  <a:srgbClr val="ED2124"/>
                </a:solidFill>
                <a:latin typeface="Tahoma"/>
                <a:cs typeface="Tahoma"/>
              </a:rPr>
              <a:t>from </a:t>
            </a:r>
            <a:r>
              <a:rPr lang="en-US" sz="2000" spc="-4" dirty="0">
                <a:solidFill>
                  <a:srgbClr val="ED2124"/>
                </a:solidFill>
                <a:latin typeface="Tahoma"/>
                <a:cs typeface="Tahoma"/>
              </a:rPr>
              <a:t>a linear </a:t>
            </a:r>
            <a:r>
              <a:rPr lang="en-US" sz="2000" spc="-9" dirty="0">
                <a:solidFill>
                  <a:srgbClr val="ED2124"/>
                </a:solidFill>
                <a:latin typeface="Tahoma"/>
                <a:cs typeface="Tahoma"/>
              </a:rPr>
              <a:t>programming </a:t>
            </a:r>
            <a:r>
              <a:rPr lang="en-US" sz="2000" spc="-4" dirty="0">
                <a:solidFill>
                  <a:srgbClr val="ED2124"/>
                </a:solidFill>
                <a:latin typeface="Tahoma"/>
                <a:cs typeface="Tahoma"/>
              </a:rPr>
              <a:t>formulation, then </a:t>
            </a:r>
            <a:r>
              <a:rPr lang="en-US" sz="2000" spc="4" dirty="0">
                <a:solidFill>
                  <a:srgbClr val="ED2124"/>
                </a:solidFill>
                <a:latin typeface="Tahoma"/>
                <a:cs typeface="Tahoma"/>
              </a:rPr>
              <a:t>it </a:t>
            </a:r>
            <a:r>
              <a:rPr lang="en-US" sz="2000" spc="-4" dirty="0">
                <a:solidFill>
                  <a:srgbClr val="ED2124"/>
                </a:solidFill>
                <a:latin typeface="Tahoma"/>
                <a:cs typeface="Tahoma"/>
              </a:rPr>
              <a:t>is an </a:t>
            </a:r>
            <a:r>
              <a:rPr lang="en-US" sz="2000" dirty="0">
                <a:solidFill>
                  <a:srgbClr val="ED2124"/>
                </a:solidFill>
                <a:latin typeface="Tahoma"/>
                <a:cs typeface="Tahoma"/>
              </a:rPr>
              <a:t> </a:t>
            </a:r>
            <a:r>
              <a:rPr lang="en-US" sz="2400" spc="-44" dirty="0">
                <a:solidFill>
                  <a:srgbClr val="ED2124"/>
                </a:solidFill>
                <a:latin typeface="Tahoma"/>
                <a:cs typeface="Tahoma"/>
              </a:rPr>
              <a:t>integer </a:t>
            </a:r>
            <a:r>
              <a:rPr lang="en-US" sz="2400" spc="-53" dirty="0">
                <a:solidFill>
                  <a:srgbClr val="ED2124"/>
                </a:solidFill>
                <a:latin typeface="Tahoma"/>
                <a:cs typeface="Tahoma"/>
              </a:rPr>
              <a:t>programming </a:t>
            </a:r>
            <a:r>
              <a:rPr lang="en-US" sz="2400" spc="-44" dirty="0">
                <a:solidFill>
                  <a:srgbClr val="ED2124"/>
                </a:solidFill>
                <a:latin typeface="Tahoma"/>
                <a:cs typeface="Tahoma"/>
              </a:rPr>
              <a:t>(IP) </a:t>
            </a:r>
            <a:r>
              <a:rPr lang="en-US" sz="2400" spc="-49" dirty="0">
                <a:solidFill>
                  <a:srgbClr val="ED2124"/>
                </a:solidFill>
                <a:latin typeface="Tahoma"/>
                <a:cs typeface="Tahoma"/>
              </a:rPr>
              <a:t>problem. </a:t>
            </a:r>
            <a:r>
              <a:rPr lang="en-US" sz="2400" spc="-44" dirty="0">
                <a:solidFill>
                  <a:srgbClr val="ED2124"/>
                </a:solidFill>
                <a:latin typeface="Tahoma"/>
                <a:cs typeface="Tahoma"/>
              </a:rPr>
              <a:t>(The </a:t>
            </a:r>
            <a:r>
              <a:rPr lang="en-US" sz="2400" spc="-53" dirty="0">
                <a:solidFill>
                  <a:srgbClr val="ED2124"/>
                </a:solidFill>
                <a:latin typeface="Tahoma"/>
                <a:cs typeface="Tahoma"/>
              </a:rPr>
              <a:t>more </a:t>
            </a:r>
            <a:r>
              <a:rPr lang="en-US" sz="2400" spc="-49" dirty="0">
                <a:solidFill>
                  <a:srgbClr val="ED2124"/>
                </a:solidFill>
                <a:latin typeface="Tahoma"/>
                <a:cs typeface="Tahoma"/>
              </a:rPr>
              <a:t>complete </a:t>
            </a:r>
            <a:r>
              <a:rPr lang="en-US" sz="2400" spc="-57" dirty="0">
                <a:solidFill>
                  <a:srgbClr val="ED2124"/>
                </a:solidFill>
                <a:latin typeface="Tahoma"/>
                <a:cs typeface="Tahoma"/>
              </a:rPr>
              <a:t>name </a:t>
            </a:r>
            <a:r>
              <a:rPr lang="en-US" sz="2400" spc="-35" dirty="0">
                <a:solidFill>
                  <a:srgbClr val="ED2124"/>
                </a:solidFill>
                <a:latin typeface="Tahoma"/>
                <a:cs typeface="Tahoma"/>
              </a:rPr>
              <a:t>is </a:t>
            </a:r>
            <a:r>
              <a:rPr lang="en-US" sz="2400" spc="-31" dirty="0">
                <a:solidFill>
                  <a:srgbClr val="ED2124"/>
                </a:solidFill>
                <a:latin typeface="Tahoma"/>
                <a:cs typeface="Tahoma"/>
              </a:rPr>
              <a:t> </a:t>
            </a:r>
            <a:r>
              <a:rPr lang="en-US" sz="2400" spc="-44" dirty="0">
                <a:solidFill>
                  <a:srgbClr val="ED2124"/>
                </a:solidFill>
                <a:latin typeface="Tahoma"/>
                <a:cs typeface="Tahoma"/>
              </a:rPr>
              <a:t>integer </a:t>
            </a:r>
            <a:r>
              <a:rPr lang="en-US" sz="2400" spc="-40" dirty="0">
                <a:solidFill>
                  <a:srgbClr val="ED2124"/>
                </a:solidFill>
                <a:latin typeface="Tahoma"/>
                <a:cs typeface="Tahoma"/>
              </a:rPr>
              <a:t>linear </a:t>
            </a:r>
            <a:r>
              <a:rPr lang="en-US" sz="2400" spc="-53" dirty="0">
                <a:solidFill>
                  <a:srgbClr val="ED2124"/>
                </a:solidFill>
                <a:latin typeface="Tahoma"/>
                <a:cs typeface="Tahoma"/>
              </a:rPr>
              <a:t>programming, </a:t>
            </a:r>
            <a:r>
              <a:rPr lang="en-US" sz="2400" spc="-49" dirty="0">
                <a:solidFill>
                  <a:srgbClr val="ED2124"/>
                </a:solidFill>
                <a:latin typeface="Tahoma"/>
                <a:cs typeface="Tahoma"/>
              </a:rPr>
              <a:t>but </a:t>
            </a:r>
            <a:r>
              <a:rPr lang="en-US" sz="2400" spc="-44" dirty="0">
                <a:solidFill>
                  <a:srgbClr val="ED2124"/>
                </a:solidFill>
                <a:latin typeface="Tahoma"/>
                <a:cs typeface="Tahoma"/>
              </a:rPr>
              <a:t>the adjective linear normally </a:t>
            </a:r>
            <a:r>
              <a:rPr lang="en-US" sz="2400" spc="-35" dirty="0">
                <a:solidFill>
                  <a:srgbClr val="ED2124"/>
                </a:solidFill>
                <a:latin typeface="Tahoma"/>
                <a:cs typeface="Tahoma"/>
              </a:rPr>
              <a:t>is </a:t>
            </a:r>
            <a:r>
              <a:rPr lang="en-US" sz="2400" spc="-31" dirty="0">
                <a:solidFill>
                  <a:srgbClr val="ED2124"/>
                </a:solidFill>
                <a:latin typeface="Tahoma"/>
                <a:cs typeface="Tahoma"/>
              </a:rPr>
              <a:t> </a:t>
            </a:r>
            <a:r>
              <a:rPr lang="en-US" sz="2400" spc="-53" dirty="0">
                <a:solidFill>
                  <a:srgbClr val="ED2124"/>
                </a:solidFill>
                <a:latin typeface="Tahoma"/>
                <a:cs typeface="Tahoma"/>
              </a:rPr>
              <a:t>dropped </a:t>
            </a:r>
            <a:r>
              <a:rPr lang="en-US" sz="2400" spc="-49" dirty="0">
                <a:solidFill>
                  <a:srgbClr val="ED2124"/>
                </a:solidFill>
                <a:latin typeface="Tahoma"/>
                <a:cs typeface="Tahoma"/>
              </a:rPr>
              <a:t>except </a:t>
            </a:r>
            <a:r>
              <a:rPr lang="en-US" sz="2400" spc="-57" dirty="0">
                <a:solidFill>
                  <a:srgbClr val="ED2124"/>
                </a:solidFill>
                <a:latin typeface="Tahoma"/>
                <a:cs typeface="Tahoma"/>
              </a:rPr>
              <a:t>when </a:t>
            </a:r>
            <a:r>
              <a:rPr lang="en-US" sz="2400" spc="-40" dirty="0">
                <a:solidFill>
                  <a:srgbClr val="ED2124"/>
                </a:solidFill>
                <a:latin typeface="Tahoma"/>
                <a:cs typeface="Tahoma"/>
              </a:rPr>
              <a:t>this </a:t>
            </a:r>
            <a:r>
              <a:rPr lang="en-US" sz="2000" spc="-4" dirty="0">
                <a:solidFill>
                  <a:srgbClr val="ED2124"/>
                </a:solidFill>
                <a:latin typeface="Tahoma"/>
                <a:cs typeface="Tahoma"/>
              </a:rPr>
              <a:t>problem is </a:t>
            </a:r>
            <a:r>
              <a:rPr lang="en-US" sz="2000" spc="-9" dirty="0">
                <a:solidFill>
                  <a:srgbClr val="ED2124"/>
                </a:solidFill>
                <a:latin typeface="Tahoma"/>
                <a:cs typeface="Tahoma"/>
              </a:rPr>
              <a:t>contrasted </a:t>
            </a:r>
            <a:r>
              <a:rPr lang="en-US" sz="2000" spc="-4" dirty="0">
                <a:solidFill>
                  <a:srgbClr val="ED2124"/>
                </a:solidFill>
                <a:latin typeface="Tahoma"/>
                <a:cs typeface="Tahoma"/>
              </a:rPr>
              <a:t>with the more </a:t>
            </a:r>
            <a:r>
              <a:rPr lang="en-US" sz="2000" dirty="0">
                <a:solidFill>
                  <a:srgbClr val="ED2124"/>
                </a:solidFill>
                <a:latin typeface="Tahoma"/>
                <a:cs typeface="Tahoma"/>
              </a:rPr>
              <a:t> </a:t>
            </a:r>
            <a:r>
              <a:rPr lang="en-US" sz="2000" spc="-9" dirty="0">
                <a:solidFill>
                  <a:srgbClr val="ED2124"/>
                </a:solidFill>
                <a:latin typeface="Tahoma"/>
                <a:cs typeface="Tahoma"/>
              </a:rPr>
              <a:t>esoteric</a:t>
            </a:r>
            <a:r>
              <a:rPr lang="en-US" sz="2000" spc="13" dirty="0">
                <a:solidFill>
                  <a:srgbClr val="ED2124"/>
                </a:solidFill>
                <a:latin typeface="Tahoma"/>
                <a:cs typeface="Tahoma"/>
              </a:rPr>
              <a:t> </a:t>
            </a:r>
            <a:r>
              <a:rPr lang="en-US" sz="2000" spc="-9" dirty="0">
                <a:solidFill>
                  <a:srgbClr val="ED2124"/>
                </a:solidFill>
                <a:latin typeface="Tahoma"/>
                <a:cs typeface="Tahoma"/>
              </a:rPr>
              <a:t>integer</a:t>
            </a:r>
            <a:r>
              <a:rPr lang="en-US" sz="2000" spc="18" dirty="0">
                <a:solidFill>
                  <a:srgbClr val="ED2124"/>
                </a:solidFill>
                <a:latin typeface="Tahoma"/>
                <a:cs typeface="Tahoma"/>
              </a:rPr>
              <a:t> </a:t>
            </a:r>
            <a:r>
              <a:rPr lang="en-US" sz="2000" spc="-4" dirty="0">
                <a:solidFill>
                  <a:srgbClr val="ED2124"/>
                </a:solidFill>
                <a:latin typeface="Tahoma"/>
                <a:cs typeface="Tahoma"/>
              </a:rPr>
              <a:t>nonlinear</a:t>
            </a:r>
            <a:r>
              <a:rPr lang="en-US" sz="2000" spc="18" dirty="0">
                <a:solidFill>
                  <a:srgbClr val="ED2124"/>
                </a:solidFill>
                <a:latin typeface="Tahoma"/>
                <a:cs typeface="Tahoma"/>
              </a:rPr>
              <a:t> </a:t>
            </a:r>
            <a:r>
              <a:rPr lang="en-US" sz="2000" spc="-9" dirty="0">
                <a:solidFill>
                  <a:srgbClr val="ED2124"/>
                </a:solidFill>
                <a:latin typeface="Tahoma"/>
                <a:cs typeface="Tahoma"/>
              </a:rPr>
              <a:t>programming</a:t>
            </a:r>
            <a:r>
              <a:rPr lang="en-US" sz="2000" dirty="0">
                <a:solidFill>
                  <a:srgbClr val="ED2124"/>
                </a:solidFill>
                <a:latin typeface="Tahoma"/>
                <a:cs typeface="Tahoma"/>
              </a:rPr>
              <a:t> </a:t>
            </a:r>
            <a:r>
              <a:rPr lang="en-US" sz="2000" spc="-9" dirty="0">
                <a:solidFill>
                  <a:srgbClr val="ED2124"/>
                </a:solidFill>
                <a:latin typeface="Tahoma"/>
                <a:cs typeface="Tahoma"/>
              </a:rPr>
              <a:t>problem</a:t>
            </a:r>
            <a:endParaRPr lang="en-US" sz="2000" dirty="0">
              <a:latin typeface="Tahoma"/>
              <a:cs typeface="Tahoma"/>
            </a:endParaRPr>
          </a:p>
          <a:p>
            <a:pPr marL="313221" marR="6724" indent="-302575" algn="just">
              <a:buFont typeface="Wingdings"/>
              <a:buChar char=""/>
              <a:tabLst>
                <a:tab pos="313781" algn="l"/>
              </a:tabLst>
            </a:pPr>
            <a:r>
              <a:rPr lang="en-US" sz="2000" spc="-13" dirty="0">
                <a:solidFill>
                  <a:srgbClr val="156FB8"/>
                </a:solidFill>
                <a:latin typeface="Tahoma"/>
                <a:cs typeface="Tahoma"/>
              </a:rPr>
              <a:t>So, </a:t>
            </a:r>
            <a:r>
              <a:rPr lang="en-US" sz="2000" dirty="0">
                <a:solidFill>
                  <a:srgbClr val="156FB8"/>
                </a:solidFill>
                <a:latin typeface="Tahoma"/>
                <a:cs typeface="Tahoma"/>
              </a:rPr>
              <a:t>The </a:t>
            </a:r>
            <a:r>
              <a:rPr lang="en-US" sz="2000" spc="-4" dirty="0">
                <a:solidFill>
                  <a:srgbClr val="156FB8"/>
                </a:solidFill>
                <a:latin typeface="Tahoma"/>
                <a:cs typeface="Tahoma"/>
              </a:rPr>
              <a:t>mathematical model </a:t>
            </a:r>
            <a:r>
              <a:rPr lang="en-US" sz="2000" spc="-9" dirty="0">
                <a:solidFill>
                  <a:srgbClr val="156FB8"/>
                </a:solidFill>
                <a:latin typeface="Tahoma"/>
                <a:cs typeface="Tahoma"/>
              </a:rPr>
              <a:t>for </a:t>
            </a:r>
            <a:r>
              <a:rPr lang="en-US" sz="2000" spc="-4" dirty="0">
                <a:solidFill>
                  <a:srgbClr val="156FB8"/>
                </a:solidFill>
                <a:latin typeface="Tahoma"/>
                <a:cs typeface="Tahoma"/>
              </a:rPr>
              <a:t>integer </a:t>
            </a:r>
            <a:r>
              <a:rPr lang="en-US" sz="2000" spc="-9" dirty="0">
                <a:solidFill>
                  <a:srgbClr val="156FB8"/>
                </a:solidFill>
                <a:latin typeface="Tahoma"/>
                <a:cs typeface="Tahoma"/>
              </a:rPr>
              <a:t>programming </a:t>
            </a:r>
            <a:r>
              <a:rPr lang="en-US" sz="2000" spc="-4" dirty="0">
                <a:solidFill>
                  <a:srgbClr val="156FB8"/>
                </a:solidFill>
                <a:latin typeface="Tahoma"/>
                <a:cs typeface="Tahoma"/>
              </a:rPr>
              <a:t>is the linear </a:t>
            </a:r>
            <a:r>
              <a:rPr lang="en-US" sz="2000" dirty="0">
                <a:solidFill>
                  <a:srgbClr val="156FB8"/>
                </a:solidFill>
                <a:latin typeface="Tahoma"/>
                <a:cs typeface="Tahoma"/>
              </a:rPr>
              <a:t> </a:t>
            </a:r>
            <a:r>
              <a:rPr lang="en-US" sz="2000" spc="-9" dirty="0">
                <a:solidFill>
                  <a:srgbClr val="156FB8"/>
                </a:solidFill>
                <a:latin typeface="Tahoma"/>
                <a:cs typeface="Tahoma"/>
              </a:rPr>
              <a:t>programming</a:t>
            </a:r>
            <a:r>
              <a:rPr lang="en-US" sz="2000" spc="405" dirty="0">
                <a:solidFill>
                  <a:srgbClr val="156FB8"/>
                </a:solidFill>
                <a:latin typeface="Tahoma"/>
                <a:cs typeface="Tahoma"/>
              </a:rPr>
              <a:t> </a:t>
            </a:r>
            <a:r>
              <a:rPr lang="en-US" sz="2000" spc="-4" dirty="0">
                <a:solidFill>
                  <a:srgbClr val="156FB8"/>
                </a:solidFill>
                <a:latin typeface="Tahoma"/>
                <a:cs typeface="Tahoma"/>
              </a:rPr>
              <a:t>model</a:t>
            </a:r>
            <a:r>
              <a:rPr lang="en-US" sz="2000" spc="415" dirty="0">
                <a:solidFill>
                  <a:srgbClr val="156FB8"/>
                </a:solidFill>
                <a:latin typeface="Tahoma"/>
                <a:cs typeface="Tahoma"/>
              </a:rPr>
              <a:t> </a:t>
            </a:r>
            <a:r>
              <a:rPr lang="en-US" sz="2000" spc="-4" dirty="0">
                <a:solidFill>
                  <a:srgbClr val="156FB8"/>
                </a:solidFill>
                <a:latin typeface="Tahoma"/>
                <a:cs typeface="Tahoma"/>
              </a:rPr>
              <a:t>with</a:t>
            </a:r>
            <a:r>
              <a:rPr lang="en-US" sz="2000" spc="415" dirty="0">
                <a:solidFill>
                  <a:srgbClr val="156FB8"/>
                </a:solidFill>
                <a:latin typeface="Tahoma"/>
                <a:cs typeface="Tahoma"/>
              </a:rPr>
              <a:t> </a:t>
            </a:r>
            <a:r>
              <a:rPr lang="en-US" sz="2000" spc="-4" dirty="0">
                <a:solidFill>
                  <a:srgbClr val="156FB8"/>
                </a:solidFill>
                <a:latin typeface="Tahoma"/>
                <a:cs typeface="Tahoma"/>
              </a:rPr>
              <a:t>the</a:t>
            </a:r>
            <a:r>
              <a:rPr lang="en-US" sz="2000" spc="415" dirty="0">
                <a:solidFill>
                  <a:srgbClr val="156FB8"/>
                </a:solidFill>
                <a:latin typeface="Tahoma"/>
                <a:cs typeface="Tahoma"/>
              </a:rPr>
              <a:t> </a:t>
            </a:r>
            <a:r>
              <a:rPr lang="en-US" sz="2000" spc="-4" dirty="0">
                <a:solidFill>
                  <a:srgbClr val="156FB8"/>
                </a:solidFill>
                <a:latin typeface="Tahoma"/>
                <a:cs typeface="Tahoma"/>
              </a:rPr>
              <a:t>one</a:t>
            </a:r>
            <a:r>
              <a:rPr lang="en-US" sz="2000" spc="427" dirty="0">
                <a:solidFill>
                  <a:srgbClr val="156FB8"/>
                </a:solidFill>
                <a:latin typeface="Tahoma"/>
                <a:cs typeface="Tahoma"/>
              </a:rPr>
              <a:t> </a:t>
            </a:r>
            <a:r>
              <a:rPr lang="en-US" sz="2000" spc="-4" dirty="0">
                <a:solidFill>
                  <a:srgbClr val="156FB8"/>
                </a:solidFill>
                <a:latin typeface="Tahoma"/>
                <a:cs typeface="Tahoma"/>
              </a:rPr>
              <a:t>additional</a:t>
            </a:r>
            <a:r>
              <a:rPr lang="en-US" sz="2000" spc="410" dirty="0">
                <a:solidFill>
                  <a:srgbClr val="156FB8"/>
                </a:solidFill>
                <a:latin typeface="Tahoma"/>
                <a:cs typeface="Tahoma"/>
              </a:rPr>
              <a:t> </a:t>
            </a:r>
            <a:r>
              <a:rPr lang="en-US" sz="2000" spc="-9" dirty="0">
                <a:solidFill>
                  <a:srgbClr val="156FB8"/>
                </a:solidFill>
                <a:latin typeface="Tahoma"/>
                <a:cs typeface="Tahoma"/>
              </a:rPr>
              <a:t>restriction</a:t>
            </a:r>
            <a:r>
              <a:rPr lang="en-US" sz="2000" spc="419" dirty="0">
                <a:solidFill>
                  <a:srgbClr val="156FB8"/>
                </a:solidFill>
                <a:latin typeface="Tahoma"/>
                <a:cs typeface="Tahoma"/>
              </a:rPr>
              <a:t> </a:t>
            </a:r>
            <a:r>
              <a:rPr lang="en-US" sz="2000" dirty="0">
                <a:solidFill>
                  <a:srgbClr val="156FB8"/>
                </a:solidFill>
                <a:latin typeface="Tahoma"/>
                <a:cs typeface="Tahoma"/>
              </a:rPr>
              <a:t>that</a:t>
            </a:r>
            <a:r>
              <a:rPr lang="en-US" sz="2000" spc="405" dirty="0">
                <a:solidFill>
                  <a:srgbClr val="156FB8"/>
                </a:solidFill>
                <a:latin typeface="Tahoma"/>
                <a:cs typeface="Tahoma"/>
              </a:rPr>
              <a:t> </a:t>
            </a:r>
            <a:r>
              <a:rPr lang="en-US" sz="2000" spc="-4" dirty="0">
                <a:solidFill>
                  <a:srgbClr val="156FB8"/>
                </a:solidFill>
                <a:latin typeface="Tahoma"/>
                <a:cs typeface="Tahoma"/>
              </a:rPr>
              <a:t>the </a:t>
            </a:r>
            <a:r>
              <a:rPr lang="en-US" sz="2000" spc="-9" dirty="0">
                <a:solidFill>
                  <a:srgbClr val="156FB8"/>
                </a:solidFill>
                <a:latin typeface="Tahoma"/>
                <a:cs typeface="Tahoma"/>
              </a:rPr>
              <a:t>variables</a:t>
            </a:r>
            <a:r>
              <a:rPr lang="en-US" sz="2000" spc="-22" dirty="0">
                <a:solidFill>
                  <a:srgbClr val="156FB8"/>
                </a:solidFill>
                <a:latin typeface="Tahoma"/>
                <a:cs typeface="Tahoma"/>
              </a:rPr>
              <a:t> </a:t>
            </a:r>
            <a:r>
              <a:rPr lang="en-US" sz="2000" spc="-4" dirty="0">
                <a:solidFill>
                  <a:srgbClr val="156FB8"/>
                </a:solidFill>
                <a:latin typeface="Tahoma"/>
                <a:cs typeface="Tahoma"/>
              </a:rPr>
              <a:t>must</a:t>
            </a:r>
            <a:r>
              <a:rPr lang="en-US" sz="2000" spc="13" dirty="0">
                <a:solidFill>
                  <a:srgbClr val="156FB8"/>
                </a:solidFill>
                <a:latin typeface="Tahoma"/>
                <a:cs typeface="Tahoma"/>
              </a:rPr>
              <a:t> </a:t>
            </a:r>
            <a:r>
              <a:rPr lang="en-US" sz="2000" spc="-9" dirty="0">
                <a:solidFill>
                  <a:srgbClr val="156FB8"/>
                </a:solidFill>
                <a:latin typeface="Tahoma"/>
                <a:cs typeface="Tahoma"/>
              </a:rPr>
              <a:t>have</a:t>
            </a:r>
            <a:r>
              <a:rPr lang="en-US" sz="2000" spc="-4" dirty="0">
                <a:solidFill>
                  <a:srgbClr val="156FB8"/>
                </a:solidFill>
                <a:latin typeface="Tahoma"/>
                <a:cs typeface="Tahoma"/>
              </a:rPr>
              <a:t> </a:t>
            </a:r>
            <a:r>
              <a:rPr lang="en-US" sz="2000" spc="-9" dirty="0">
                <a:solidFill>
                  <a:srgbClr val="156FB8"/>
                </a:solidFill>
                <a:latin typeface="Tahoma"/>
                <a:cs typeface="Tahoma"/>
              </a:rPr>
              <a:t>integer</a:t>
            </a:r>
            <a:r>
              <a:rPr lang="en-US" sz="2000" spc="9" dirty="0">
                <a:solidFill>
                  <a:srgbClr val="156FB8"/>
                </a:solidFill>
                <a:latin typeface="Tahoma"/>
                <a:cs typeface="Tahoma"/>
              </a:rPr>
              <a:t> </a:t>
            </a:r>
            <a:r>
              <a:rPr lang="en-US" sz="2000" spc="-9" dirty="0">
                <a:solidFill>
                  <a:srgbClr val="156FB8"/>
                </a:solidFill>
                <a:latin typeface="Tahoma"/>
                <a:cs typeface="Tahoma"/>
              </a:rPr>
              <a:t>values</a:t>
            </a:r>
            <a:endParaRPr lang="en-US" sz="2000" dirty="0">
              <a:latin typeface="Tahoma"/>
              <a:cs typeface="Tahoma"/>
            </a:endParaRP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E0FD6D-86AB-FA66-845A-CE396BC58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6561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63588" y="470647"/>
            <a:ext cx="7664824" cy="941294"/>
          </a:xfrm>
          <a:custGeom>
            <a:avLst/>
            <a:gdLst/>
            <a:ahLst/>
            <a:cxnLst/>
            <a:rect l="l" t="t" r="r" b="b"/>
            <a:pathLst>
              <a:path w="8686800" h="1066800">
                <a:moveTo>
                  <a:pt x="8686799" y="1066799"/>
                </a:moveTo>
                <a:lnTo>
                  <a:pt x="8686799" y="0"/>
                </a:lnTo>
                <a:lnTo>
                  <a:pt x="0" y="0"/>
                </a:lnTo>
                <a:lnTo>
                  <a:pt x="0" y="1066799"/>
                </a:lnTo>
                <a:lnTo>
                  <a:pt x="8686799" y="1066799"/>
                </a:lnTo>
                <a:close/>
              </a:path>
            </a:pathLst>
          </a:custGeom>
          <a:solidFill>
            <a:srgbClr val="CB6728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45527" y="443305"/>
            <a:ext cx="7312398" cy="989147"/>
          </a:xfrm>
          <a:prstGeom prst="rect">
            <a:avLst/>
          </a:prstGeom>
        </p:spPr>
        <p:txBody>
          <a:bodyPr vert="horz" wrap="square" lIns="0" tIns="11206" rIns="0" bIns="0" rtlCol="0" anchor="t">
            <a:spAutoFit/>
          </a:bodyPr>
          <a:lstStyle/>
          <a:p>
            <a:pPr marR="6724" algn="r">
              <a:lnSpc>
                <a:spcPct val="100000"/>
              </a:lnSpc>
              <a:spcBef>
                <a:spcPts val="88"/>
              </a:spcBef>
            </a:pPr>
            <a:r>
              <a:rPr sz="3177" spc="-4" dirty="0">
                <a:solidFill>
                  <a:srgbClr val="F6EB00"/>
                </a:solidFill>
              </a:rPr>
              <a:t>TYPES</a:t>
            </a:r>
            <a:r>
              <a:rPr sz="3177" spc="-44" dirty="0">
                <a:solidFill>
                  <a:srgbClr val="F6EB00"/>
                </a:solidFill>
              </a:rPr>
              <a:t> </a:t>
            </a:r>
            <a:r>
              <a:rPr sz="3177" spc="-4" dirty="0">
                <a:solidFill>
                  <a:srgbClr val="F6EB00"/>
                </a:solidFill>
              </a:rPr>
              <a:t>OF</a:t>
            </a:r>
            <a:r>
              <a:rPr sz="3177" spc="-31" dirty="0">
                <a:solidFill>
                  <a:srgbClr val="F6EB00"/>
                </a:solidFill>
              </a:rPr>
              <a:t> </a:t>
            </a:r>
            <a:r>
              <a:rPr sz="3177" spc="-4" dirty="0">
                <a:solidFill>
                  <a:srgbClr val="F6EB00"/>
                </a:solidFill>
              </a:rPr>
              <a:t>INTEGER</a:t>
            </a:r>
            <a:r>
              <a:rPr sz="3177" spc="-26" dirty="0">
                <a:solidFill>
                  <a:srgbClr val="F6EB00"/>
                </a:solidFill>
              </a:rPr>
              <a:t> </a:t>
            </a:r>
            <a:r>
              <a:rPr sz="3177" spc="-4" dirty="0">
                <a:solidFill>
                  <a:srgbClr val="F6EB00"/>
                </a:solidFill>
              </a:rPr>
              <a:t>PROGRAMMING</a:t>
            </a:r>
            <a:endParaRPr sz="3177"/>
          </a:p>
          <a:p>
            <a:pPr marR="4483" algn="r">
              <a:lnSpc>
                <a:spcPct val="100000"/>
              </a:lnSpc>
            </a:pPr>
            <a:r>
              <a:rPr sz="3177" spc="-4" dirty="0">
                <a:solidFill>
                  <a:srgbClr val="F6EB00"/>
                </a:solidFill>
              </a:rPr>
              <a:t>PROBLEMS</a:t>
            </a:r>
            <a:endParaRPr sz="3177"/>
          </a:p>
        </p:txBody>
      </p:sp>
      <p:sp>
        <p:nvSpPr>
          <p:cNvPr id="4" name="object 4"/>
          <p:cNvSpPr txBox="1"/>
          <p:nvPr/>
        </p:nvSpPr>
        <p:spPr>
          <a:xfrm>
            <a:off x="1067329" y="1764425"/>
            <a:ext cx="10268793" cy="3954031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13781" indent="-302575">
              <a:spcBef>
                <a:spcPts val="525"/>
              </a:spcBef>
              <a:buFont typeface="Wingdings"/>
              <a:buChar char=""/>
              <a:tabLst>
                <a:tab pos="313221" algn="l"/>
                <a:tab pos="313781" algn="l"/>
              </a:tabLst>
            </a:pPr>
            <a:r>
              <a:rPr sz="2471" b="1" spc="-9" dirty="0">
                <a:solidFill>
                  <a:srgbClr val="231F20"/>
                </a:solidFill>
                <a:latin typeface="Tahoma"/>
                <a:cs typeface="Tahoma"/>
              </a:rPr>
              <a:t>PURE-INTEGER</a:t>
            </a:r>
            <a:r>
              <a:rPr sz="2471" b="1" spc="26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471" b="1" spc="-9" dirty="0">
                <a:solidFill>
                  <a:srgbClr val="231F20"/>
                </a:solidFill>
                <a:latin typeface="Tahoma"/>
                <a:cs typeface="Tahoma"/>
              </a:rPr>
              <a:t>PROBLEMS</a:t>
            </a:r>
            <a:endParaRPr sz="2471" dirty="0">
              <a:latin typeface="Tahoma"/>
              <a:cs typeface="Tahoma"/>
            </a:endParaRPr>
          </a:p>
          <a:p>
            <a:pPr marL="667346" lvl="1" indent="-253827">
              <a:spcBef>
                <a:spcPts val="424"/>
              </a:spcBef>
              <a:buFont typeface="Arial MT"/>
              <a:buChar char="–"/>
              <a:tabLst>
                <a:tab pos="667906" algn="l"/>
              </a:tabLst>
            </a:pP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require</a:t>
            </a:r>
            <a:r>
              <a:rPr sz="2118" spc="-31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that</a:t>
            </a:r>
            <a:r>
              <a:rPr sz="2118"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206" spc="-26" dirty="0">
                <a:solidFill>
                  <a:srgbClr val="231F20"/>
                </a:solidFill>
                <a:latin typeface="Tahoma"/>
                <a:cs typeface="Tahoma"/>
              </a:rPr>
              <a:t>all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decision</a:t>
            </a:r>
            <a:r>
              <a:rPr sz="2118"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9" dirty="0">
                <a:solidFill>
                  <a:srgbClr val="231F20"/>
                </a:solidFill>
                <a:latin typeface="Tahoma"/>
                <a:cs typeface="Tahoma"/>
              </a:rPr>
              <a:t>variables</a:t>
            </a:r>
            <a:r>
              <a:rPr sz="2118" spc="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9" dirty="0">
                <a:solidFill>
                  <a:srgbClr val="231F20"/>
                </a:solidFill>
                <a:latin typeface="Tahoma"/>
                <a:cs typeface="Tahoma"/>
              </a:rPr>
              <a:t>have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integer</a:t>
            </a:r>
            <a:r>
              <a:rPr sz="2118" spc="-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solutions.</a:t>
            </a:r>
            <a:endParaRPr sz="2118" dirty="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buClr>
                <a:srgbClr val="231F20"/>
              </a:buClr>
              <a:buFont typeface="Arial MT"/>
              <a:buChar char="–"/>
            </a:pPr>
            <a:endParaRPr sz="3000" dirty="0">
              <a:latin typeface="Tahoma"/>
              <a:cs typeface="Tahoma"/>
            </a:endParaRPr>
          </a:p>
          <a:p>
            <a:pPr marL="313781" indent="-302575">
              <a:buFont typeface="Wingdings"/>
              <a:buChar char=""/>
              <a:tabLst>
                <a:tab pos="313221" algn="l"/>
                <a:tab pos="313781" algn="l"/>
              </a:tabLst>
            </a:pPr>
            <a:r>
              <a:rPr sz="2471" b="1" spc="-9" dirty="0">
                <a:solidFill>
                  <a:srgbClr val="231F20"/>
                </a:solidFill>
                <a:latin typeface="Tahoma"/>
                <a:cs typeface="Tahoma"/>
              </a:rPr>
              <a:t>MIXED-INTEGER</a:t>
            </a:r>
            <a:r>
              <a:rPr sz="2471" b="1" spc="31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471" b="1" spc="-9" dirty="0">
                <a:solidFill>
                  <a:srgbClr val="231F20"/>
                </a:solidFill>
                <a:latin typeface="Tahoma"/>
                <a:cs typeface="Tahoma"/>
              </a:rPr>
              <a:t>PROBLEMS</a:t>
            </a:r>
            <a:endParaRPr sz="2471" dirty="0">
              <a:latin typeface="Tahoma"/>
              <a:cs typeface="Tahoma"/>
            </a:endParaRPr>
          </a:p>
          <a:p>
            <a:pPr marL="667346" marR="4483" lvl="1" indent="-253266" algn="just">
              <a:spcBef>
                <a:spcPts val="512"/>
              </a:spcBef>
              <a:buFont typeface="Arial MT"/>
              <a:buChar char="–"/>
              <a:tabLst>
                <a:tab pos="667906" algn="l"/>
              </a:tabLst>
            </a:pPr>
            <a:r>
              <a:rPr sz="2118" spc="-9" dirty="0">
                <a:solidFill>
                  <a:srgbClr val="231F20"/>
                </a:solidFill>
                <a:latin typeface="Tahoma"/>
                <a:cs typeface="Tahoma"/>
              </a:rPr>
              <a:t>Require some,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but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not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all,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of the decision </a:t>
            </a:r>
            <a:r>
              <a:rPr sz="2118" spc="-9" dirty="0">
                <a:solidFill>
                  <a:srgbClr val="231F20"/>
                </a:solidFill>
                <a:latin typeface="Tahoma"/>
                <a:cs typeface="Tahoma"/>
              </a:rPr>
              <a:t>variables to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9" dirty="0">
                <a:solidFill>
                  <a:srgbClr val="231F20"/>
                </a:solidFill>
                <a:latin typeface="Tahoma"/>
                <a:cs typeface="Tahoma"/>
              </a:rPr>
              <a:t>have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integer </a:t>
            </a:r>
            <a:r>
              <a:rPr sz="2118" spc="-9" dirty="0">
                <a:solidFill>
                  <a:srgbClr val="231F20"/>
                </a:solidFill>
                <a:latin typeface="Tahoma"/>
                <a:cs typeface="Tahoma"/>
              </a:rPr>
              <a:t>values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in the final solution, whereas others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need</a:t>
            </a:r>
            <a:r>
              <a:rPr sz="2118" spc="-22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not</a:t>
            </a:r>
            <a:r>
              <a:rPr sz="2118" spc="-1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9" dirty="0">
                <a:solidFill>
                  <a:srgbClr val="231F20"/>
                </a:solidFill>
                <a:latin typeface="Tahoma"/>
                <a:cs typeface="Tahoma"/>
              </a:rPr>
              <a:t>have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integer</a:t>
            </a:r>
            <a:r>
              <a:rPr sz="2118" spc="-1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9" dirty="0">
                <a:solidFill>
                  <a:srgbClr val="231F20"/>
                </a:solidFill>
                <a:latin typeface="Tahoma"/>
                <a:cs typeface="Tahoma"/>
              </a:rPr>
              <a:t>values.</a:t>
            </a:r>
            <a:endParaRPr sz="2118" dirty="0">
              <a:latin typeface="Tahoma"/>
              <a:cs typeface="Tahoma"/>
            </a:endParaRPr>
          </a:p>
          <a:p>
            <a:pPr lvl="1">
              <a:spcBef>
                <a:spcPts val="18"/>
              </a:spcBef>
              <a:buClr>
                <a:srgbClr val="231F20"/>
              </a:buClr>
              <a:buFont typeface="Arial MT"/>
              <a:buChar char="–"/>
            </a:pPr>
            <a:endParaRPr sz="3000" dirty="0">
              <a:latin typeface="Tahoma"/>
              <a:cs typeface="Tahoma"/>
            </a:endParaRPr>
          </a:p>
          <a:p>
            <a:pPr marL="313781" indent="-302575">
              <a:spcBef>
                <a:spcPts val="4"/>
              </a:spcBef>
              <a:buFont typeface="Wingdings"/>
              <a:buChar char=""/>
              <a:tabLst>
                <a:tab pos="313221" algn="l"/>
                <a:tab pos="313781" algn="l"/>
              </a:tabLst>
            </a:pPr>
            <a:r>
              <a:rPr sz="2471" b="1" spc="-9" dirty="0">
                <a:solidFill>
                  <a:srgbClr val="231F20"/>
                </a:solidFill>
                <a:latin typeface="Tahoma"/>
                <a:cs typeface="Tahoma"/>
              </a:rPr>
              <a:t>0–1</a:t>
            </a:r>
            <a:r>
              <a:rPr sz="2471" b="1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471" b="1" spc="-4" dirty="0">
                <a:solidFill>
                  <a:srgbClr val="231F20"/>
                </a:solidFill>
                <a:latin typeface="Tahoma"/>
                <a:cs typeface="Tahoma"/>
              </a:rPr>
              <a:t>INTEGER</a:t>
            </a:r>
            <a:r>
              <a:rPr sz="2471" b="1"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471" b="1" spc="-9" dirty="0">
                <a:solidFill>
                  <a:srgbClr val="231F20"/>
                </a:solidFill>
                <a:latin typeface="Tahoma"/>
                <a:cs typeface="Tahoma"/>
              </a:rPr>
              <a:t>PROBLEMS</a:t>
            </a:r>
            <a:endParaRPr sz="2471" dirty="0">
              <a:latin typeface="Tahoma"/>
              <a:cs typeface="Tahoma"/>
            </a:endParaRPr>
          </a:p>
          <a:p>
            <a:pPr marL="667346" marR="4483" lvl="1" indent="-253266" algn="just">
              <a:spcBef>
                <a:spcPts val="512"/>
              </a:spcBef>
              <a:buFont typeface="Arial MT"/>
              <a:buChar char="–"/>
              <a:tabLst>
                <a:tab pos="667906" algn="l"/>
              </a:tabLst>
            </a:pPr>
            <a:r>
              <a:rPr sz="2118" spc="-9" dirty="0">
                <a:solidFill>
                  <a:srgbClr val="231F20"/>
                </a:solidFill>
                <a:latin typeface="Tahoma"/>
                <a:cs typeface="Tahoma"/>
              </a:rPr>
              <a:t>Require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integer </a:t>
            </a:r>
            <a:r>
              <a:rPr sz="2118" spc="-9" dirty="0">
                <a:solidFill>
                  <a:srgbClr val="231F20"/>
                </a:solidFill>
                <a:latin typeface="Tahoma"/>
                <a:cs typeface="Tahoma"/>
              </a:rPr>
              <a:t>variables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to </a:t>
            </a:r>
            <a:r>
              <a:rPr sz="2118" spc="-9" dirty="0">
                <a:solidFill>
                  <a:srgbClr val="231F20"/>
                </a:solidFill>
                <a:latin typeface="Tahoma"/>
                <a:cs typeface="Tahoma"/>
              </a:rPr>
              <a:t>have</a:t>
            </a:r>
            <a:r>
              <a:rPr sz="2118" spc="1297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9" dirty="0">
                <a:solidFill>
                  <a:srgbClr val="231F20"/>
                </a:solidFill>
                <a:latin typeface="Tahoma"/>
                <a:cs typeface="Tahoma"/>
              </a:rPr>
              <a:t>value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of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0 or </a:t>
            </a:r>
            <a:r>
              <a:rPr sz="2118" spc="-9" dirty="0">
                <a:solidFill>
                  <a:srgbClr val="231F20"/>
                </a:solidFill>
                <a:latin typeface="Tahoma"/>
                <a:cs typeface="Tahoma"/>
              </a:rPr>
              <a:t>1,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such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 as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situations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in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which decision </a:t>
            </a:r>
            <a:r>
              <a:rPr sz="2118" spc="-9" dirty="0">
                <a:solidFill>
                  <a:srgbClr val="231F20"/>
                </a:solidFill>
                <a:latin typeface="Tahoma"/>
                <a:cs typeface="Tahoma"/>
              </a:rPr>
              <a:t>variables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are of </a:t>
            </a:r>
            <a:r>
              <a:rPr sz="2118" spc="-9" dirty="0">
                <a:solidFill>
                  <a:srgbClr val="231F20"/>
                </a:solidFill>
                <a:latin typeface="Tahoma"/>
                <a:cs typeface="Tahoma"/>
              </a:rPr>
              <a:t>the </a:t>
            </a:r>
            <a:r>
              <a:rPr sz="2118" spc="-13" dirty="0">
                <a:solidFill>
                  <a:srgbClr val="231F20"/>
                </a:solidFill>
                <a:latin typeface="Tahoma"/>
                <a:cs typeface="Tahoma"/>
              </a:rPr>
              <a:t>yes- </a:t>
            </a:r>
            <a:r>
              <a:rPr sz="2118" spc="-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no</a:t>
            </a:r>
            <a:r>
              <a:rPr sz="2118" spc="-26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9" dirty="0">
                <a:solidFill>
                  <a:srgbClr val="231F20"/>
                </a:solidFill>
                <a:latin typeface="Tahoma"/>
                <a:cs typeface="Tahoma"/>
              </a:rPr>
              <a:t>type.</a:t>
            </a:r>
            <a:endParaRPr sz="2118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18494" y="286575"/>
            <a:ext cx="8473478" cy="1097201"/>
          </a:xfrm>
          <a:prstGeom prst="rect">
            <a:avLst/>
          </a:prstGeom>
        </p:spPr>
        <p:txBody>
          <a:bodyPr vert="horz" wrap="square" lIns="0" tIns="10646" rIns="0" bIns="0" rtlCol="0" anchor="t">
            <a:spAutoFit/>
          </a:bodyPr>
          <a:lstStyle/>
          <a:p>
            <a:pPr marL="1805924" marR="4483" algn="r">
              <a:lnSpc>
                <a:spcPct val="100000"/>
              </a:lnSpc>
              <a:spcBef>
                <a:spcPts val="84"/>
              </a:spcBef>
            </a:pPr>
            <a:r>
              <a:rPr sz="3530" spc="-4" dirty="0"/>
              <a:t>INTEGER</a:t>
            </a:r>
            <a:r>
              <a:rPr sz="3530" spc="-79" dirty="0"/>
              <a:t> </a:t>
            </a:r>
            <a:r>
              <a:rPr sz="3530" spc="-4" dirty="0"/>
              <a:t>PROGRAMMING:</a:t>
            </a:r>
            <a:endParaRPr sz="3530" dirty="0"/>
          </a:p>
          <a:p>
            <a:pPr marL="1805924" marR="4483" algn="r">
              <a:lnSpc>
                <a:spcPct val="100000"/>
              </a:lnSpc>
            </a:pPr>
            <a:r>
              <a:rPr sz="3530" spc="-4" dirty="0"/>
              <a:t>FORMULATION</a:t>
            </a:r>
            <a:endParaRPr sz="3530" dirty="0"/>
          </a:p>
        </p:txBody>
      </p:sp>
      <p:sp>
        <p:nvSpPr>
          <p:cNvPr id="3" name="object 3"/>
          <p:cNvSpPr txBox="1"/>
          <p:nvPr/>
        </p:nvSpPr>
        <p:spPr>
          <a:xfrm>
            <a:off x="1205713" y="1341057"/>
            <a:ext cx="9637614" cy="138220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13781" indent="-302575">
              <a:spcBef>
                <a:spcPts val="88"/>
              </a:spcBef>
              <a:buFont typeface="Wingdings"/>
              <a:buChar char=""/>
              <a:tabLst>
                <a:tab pos="313221" algn="l"/>
                <a:tab pos="313781" algn="l"/>
              </a:tabLst>
            </a:pPr>
            <a:endParaRPr lang="en-IN" sz="1765" b="1" spc="-4" dirty="0">
              <a:solidFill>
                <a:srgbClr val="231F20"/>
              </a:solidFill>
              <a:latin typeface="Tahoma"/>
              <a:cs typeface="Tahoma"/>
            </a:endParaRPr>
          </a:p>
          <a:p>
            <a:pPr marL="313781" indent="-302575">
              <a:spcBef>
                <a:spcPts val="88"/>
              </a:spcBef>
              <a:buFont typeface="Wingdings"/>
              <a:buChar char=""/>
              <a:tabLst>
                <a:tab pos="313221" algn="l"/>
                <a:tab pos="313781" algn="l"/>
              </a:tabLst>
            </a:pPr>
            <a:r>
              <a:rPr sz="1765" b="1" spc="-4" dirty="0">
                <a:solidFill>
                  <a:srgbClr val="231F20"/>
                </a:solidFill>
                <a:latin typeface="Tahoma"/>
                <a:cs typeface="Tahoma"/>
              </a:rPr>
              <a:t>Pure</a:t>
            </a:r>
            <a:r>
              <a:rPr sz="1765" b="1" spc="-4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b="1" dirty="0">
                <a:solidFill>
                  <a:srgbClr val="231F20"/>
                </a:solidFill>
                <a:latin typeface="Tahoma"/>
                <a:cs typeface="Tahoma"/>
              </a:rPr>
              <a:t>ILP</a:t>
            </a:r>
            <a:r>
              <a:rPr sz="1765" b="1" spc="-1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b="1" spc="-4" dirty="0">
                <a:solidFill>
                  <a:srgbClr val="231F20"/>
                </a:solidFill>
                <a:latin typeface="Tahoma"/>
                <a:cs typeface="Tahoma"/>
              </a:rPr>
              <a:t>Problem:</a:t>
            </a:r>
            <a:endParaRPr sz="1765" dirty="0">
              <a:latin typeface="Tahoma"/>
              <a:cs typeface="Tahoma"/>
            </a:endParaRPr>
          </a:p>
          <a:p>
            <a:pPr marL="11206" marR="4483" algn="just"/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A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jewelery shop in the </a:t>
            </a:r>
            <a:r>
              <a:rPr sz="1765" spc="-9" dirty="0">
                <a:solidFill>
                  <a:srgbClr val="231F20"/>
                </a:solidFill>
                <a:latin typeface="Tahoma"/>
                <a:cs typeface="Tahoma"/>
              </a:rPr>
              <a:t>city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specializes in ornaments 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and the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manger </a:t>
            </a:r>
            <a:r>
              <a:rPr sz="1765" spc="-9" dirty="0">
                <a:solidFill>
                  <a:srgbClr val="231F20"/>
                </a:solidFill>
                <a:latin typeface="Tahoma"/>
                <a:cs typeface="Tahoma"/>
              </a:rPr>
              <a:t>has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 planned 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to limit the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use of diamonds </a:t>
            </a:r>
            <a:r>
              <a:rPr sz="1765" spc="-9" dirty="0">
                <a:solidFill>
                  <a:srgbClr val="231F20"/>
                </a:solidFill>
                <a:latin typeface="Tahoma"/>
                <a:cs typeface="Tahoma"/>
              </a:rPr>
              <a:t>to 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the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artistic configuration 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of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diamond 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rings, diamond earnings and diamond necklaces. 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The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three items require 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the </a:t>
            </a:r>
            <a:r>
              <a:rPr sz="1765"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following</a:t>
            </a:r>
            <a:r>
              <a:rPr sz="1765" spc="-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specifications:</a:t>
            </a:r>
            <a:endParaRPr sz="1765" dirty="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4514307"/>
              </p:ext>
            </p:extLst>
          </p:nvPr>
        </p:nvGraphicFramePr>
        <p:xfrm>
          <a:off x="1319002" y="2922559"/>
          <a:ext cx="8342888" cy="20977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35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0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75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9926">
                <a:tc gridSpan="3">
                  <a:txBody>
                    <a:bodyPr/>
                    <a:lstStyle/>
                    <a:p>
                      <a:pPr marL="271780">
                        <a:lnSpc>
                          <a:spcPct val="100000"/>
                        </a:lnSpc>
                        <a:spcBef>
                          <a:spcPts val="355"/>
                        </a:spcBef>
                        <a:tabLst>
                          <a:tab pos="3413760" algn="l"/>
                        </a:tabLst>
                      </a:pPr>
                      <a:r>
                        <a:rPr sz="1800" b="1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ORNAMENT</a:t>
                      </a:r>
                      <a:r>
                        <a:rPr sz="18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b="1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DIAMOND</a:t>
                      </a:r>
                      <a:endParaRPr sz="1800" dirty="0">
                        <a:latin typeface="Tahoma"/>
                        <a:cs typeface="Tahoma"/>
                      </a:endParaRPr>
                    </a:p>
                  </a:txBody>
                  <a:tcPr marL="0" marR="0" marT="39781" marB="0">
                    <a:solidFill>
                      <a:srgbClr val="94C95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4C951"/>
                    </a:solidFill>
                  </a:tcPr>
                </a:tc>
                <a:tc>
                  <a:txBody>
                    <a:bodyPr/>
                    <a:lstStyle/>
                    <a:p>
                      <a:pPr marR="431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½</a:t>
                      </a:r>
                      <a:r>
                        <a:rPr sz="1800" spc="-5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1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Carat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39781" marB="0">
                    <a:solidFill>
                      <a:srgbClr val="94C951"/>
                    </a:solidFill>
                  </a:tcPr>
                </a:tc>
                <a:tc>
                  <a:txBody>
                    <a:bodyPr/>
                    <a:lstStyle/>
                    <a:p>
                      <a:pPr marL="54927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¼</a:t>
                      </a:r>
                      <a:r>
                        <a:rPr sz="1800" spc="-5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1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Carat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39781" marB="0">
                    <a:solidFill>
                      <a:srgbClr val="94C9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89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Ring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39781" marB="0"/>
                </a:tc>
                <a:tc>
                  <a:txBody>
                    <a:bodyPr/>
                    <a:lstStyle/>
                    <a:p>
                      <a:pPr marR="431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4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39781" marB="0"/>
                </a:tc>
                <a:tc>
                  <a:txBody>
                    <a:bodyPr/>
                    <a:lstStyle/>
                    <a:p>
                      <a:pPr marL="5511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6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39781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60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Earring</a:t>
                      </a:r>
                      <a:r>
                        <a:rPr sz="1800" spc="-5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1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(Pair)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39781" marB="0"/>
                </a:tc>
                <a:tc>
                  <a:txBody>
                    <a:bodyPr/>
                    <a:lstStyle/>
                    <a:p>
                      <a:pPr marR="4381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1800" dirty="0">
                        <a:latin typeface="Tahoma"/>
                        <a:cs typeface="Tahoma"/>
                      </a:endParaRPr>
                    </a:p>
                  </a:txBody>
                  <a:tcPr marL="0" marR="0" marT="39781" marB="0"/>
                </a:tc>
                <a:tc>
                  <a:txBody>
                    <a:bodyPr/>
                    <a:lstStyle/>
                    <a:p>
                      <a:pPr marL="5511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5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39781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37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Necklace</a:t>
                      </a:r>
                      <a:endParaRPr sz="1800" dirty="0">
                        <a:latin typeface="Tahoma"/>
                        <a:cs typeface="Tahoma"/>
                      </a:endParaRPr>
                    </a:p>
                  </a:txBody>
                  <a:tcPr marL="0" marR="0" marT="39781" marB="0"/>
                </a:tc>
                <a:tc>
                  <a:txBody>
                    <a:bodyPr/>
                    <a:lstStyle/>
                    <a:p>
                      <a:pPr marR="4445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10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39781" marB="0"/>
                </a:tc>
                <a:tc>
                  <a:txBody>
                    <a:bodyPr/>
                    <a:lstStyle/>
                    <a:p>
                      <a:pPr marL="55181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9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39781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62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800" b="1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Availability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0340" marB="0">
                    <a:solidFill>
                      <a:srgbClr val="DCDDDE"/>
                    </a:solidFill>
                  </a:tcPr>
                </a:tc>
                <a:tc>
                  <a:txBody>
                    <a:bodyPr/>
                    <a:lstStyle/>
                    <a:p>
                      <a:pPr marR="44450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800" b="1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150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0340" marB="0">
                    <a:solidFill>
                      <a:srgbClr val="DCDDDE"/>
                    </a:solidFill>
                  </a:tcPr>
                </a:tc>
                <a:tc>
                  <a:txBody>
                    <a:bodyPr/>
                    <a:lstStyle/>
                    <a:p>
                      <a:pPr marL="549275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800" b="1" spc="-5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160</a:t>
                      </a:r>
                      <a:endParaRPr sz="1800" dirty="0">
                        <a:latin typeface="Tahoma"/>
                        <a:cs typeface="Tahoma"/>
                      </a:endParaRPr>
                    </a:p>
                  </a:txBody>
                  <a:tcPr marL="0" marR="0" marT="40340" marB="0">
                    <a:solidFill>
                      <a:srgbClr val="DCDD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6857990" y="4611668"/>
            <a:ext cx="1792941" cy="349624"/>
          </a:xfrm>
          <a:custGeom>
            <a:avLst/>
            <a:gdLst/>
            <a:ahLst/>
            <a:cxnLst/>
            <a:rect l="l" t="t" r="r" b="b"/>
            <a:pathLst>
              <a:path w="2032000" h="396239">
                <a:moveTo>
                  <a:pt x="2031994" y="396239"/>
                </a:moveTo>
                <a:lnTo>
                  <a:pt x="2031994" y="0"/>
                </a:lnTo>
                <a:lnTo>
                  <a:pt x="0" y="0"/>
                </a:lnTo>
                <a:lnTo>
                  <a:pt x="0" y="396239"/>
                </a:lnTo>
                <a:lnTo>
                  <a:pt x="2031994" y="396239"/>
                </a:lnTo>
                <a:close/>
              </a:path>
            </a:pathLst>
          </a:custGeom>
          <a:solidFill>
            <a:srgbClr val="DCDDDE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" name="object 7"/>
          <p:cNvSpPr txBox="1"/>
          <p:nvPr/>
        </p:nvSpPr>
        <p:spPr>
          <a:xfrm>
            <a:off x="1205713" y="5129205"/>
            <a:ext cx="9637614" cy="826719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11206" marR="4483" algn="just">
              <a:spcBef>
                <a:spcPts val="93"/>
              </a:spcBef>
            </a:pP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The jeweler does 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no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want 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to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configure </a:t>
            </a:r>
            <a:r>
              <a:rPr sz="1765" spc="4" dirty="0">
                <a:solidFill>
                  <a:srgbClr val="231F20"/>
                </a:solidFill>
                <a:latin typeface="Tahoma"/>
                <a:cs typeface="Tahoma"/>
              </a:rPr>
              <a:t>the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diamond into more than 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50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items. 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The per unit profit </a:t>
            </a:r>
            <a:r>
              <a:rPr sz="1765" spc="-9" dirty="0">
                <a:solidFill>
                  <a:srgbClr val="231F20"/>
                </a:solidFill>
                <a:latin typeface="Tahoma"/>
                <a:cs typeface="Tahoma"/>
              </a:rPr>
              <a:t>for 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the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rings is Rs. 1500, </a:t>
            </a:r>
            <a:r>
              <a:rPr sz="1765" spc="-9" dirty="0">
                <a:solidFill>
                  <a:srgbClr val="231F20"/>
                </a:solidFill>
                <a:latin typeface="Tahoma"/>
                <a:cs typeface="Tahoma"/>
              </a:rPr>
              <a:t>for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earnings is Rs. 2400 and </a:t>
            </a:r>
            <a:r>
              <a:rPr sz="1765" spc="-13" dirty="0">
                <a:solidFill>
                  <a:srgbClr val="231F20"/>
                </a:solidFill>
                <a:latin typeface="Tahoma"/>
                <a:cs typeface="Tahoma"/>
              </a:rPr>
              <a:t>for </a:t>
            </a:r>
            <a:r>
              <a:rPr sz="1765" spc="-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necklace is Rs. 3600. </a:t>
            </a:r>
            <a:r>
              <a:rPr sz="1765" spc="-9" dirty="0">
                <a:solidFill>
                  <a:srgbClr val="231F20"/>
                </a:solidFill>
                <a:latin typeface="Tahoma"/>
                <a:cs typeface="Tahoma"/>
              </a:rPr>
              <a:t>Formulate 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the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problem as 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an ILP model </a:t>
            </a:r>
            <a:r>
              <a:rPr sz="1765" spc="-9" dirty="0">
                <a:solidFill>
                  <a:srgbClr val="231F20"/>
                </a:solidFill>
                <a:latin typeface="Tahoma"/>
                <a:cs typeface="Tahoma"/>
              </a:rPr>
              <a:t>for 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maximizing </a:t>
            </a:r>
            <a:r>
              <a:rPr sz="1765"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sz="1765" spc="-1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profit.</a:t>
            </a:r>
            <a:endParaRPr sz="1765" dirty="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8846562" y="6891552"/>
            <a:ext cx="243840" cy="209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9A9D9F"/>
                </a:solidFill>
                <a:latin typeface="Tahoma"/>
                <a:ea typeface="+mn-ea"/>
                <a:cs typeface="Tahom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1285">
              <a:spcBef>
                <a:spcPts val="100"/>
              </a:spcBef>
            </a:pPr>
            <a:fld id="{81D60167-4931-47E6-BA6A-407CBD079E47}" type="slidenum">
              <a:rPr lang="en-IN" smtClean="0"/>
              <a:pPr marL="121285">
                <a:spcBef>
                  <a:spcPts val="100"/>
                </a:spcBef>
              </a:pPr>
              <a:t>5</a:t>
            </a:fld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846562" y="6891552"/>
            <a:ext cx="243840" cy="209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9A9D9F"/>
                </a:solidFill>
                <a:latin typeface="Tahoma"/>
                <a:ea typeface="+mn-ea"/>
                <a:cs typeface="Tahom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1285">
              <a:spcBef>
                <a:spcPts val="100"/>
              </a:spcBef>
            </a:pPr>
            <a:fld id="{81D60167-4931-47E6-BA6A-407CBD079E47}" type="slidenum">
              <a:rPr lang="en-IN" smtClean="0"/>
              <a:pPr marL="121285">
                <a:spcBef>
                  <a:spcPts val="100"/>
                </a:spcBef>
              </a:pPr>
              <a:t>6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39276" y="211107"/>
            <a:ext cx="8473478" cy="1097201"/>
          </a:xfrm>
          <a:prstGeom prst="rect">
            <a:avLst/>
          </a:prstGeom>
        </p:spPr>
        <p:txBody>
          <a:bodyPr vert="horz" wrap="square" lIns="0" tIns="10646" rIns="0" bIns="0" rtlCol="0" anchor="t">
            <a:spAutoFit/>
          </a:bodyPr>
          <a:lstStyle/>
          <a:p>
            <a:pPr marL="1805924" marR="4483" algn="r">
              <a:lnSpc>
                <a:spcPct val="100000"/>
              </a:lnSpc>
              <a:spcBef>
                <a:spcPts val="84"/>
              </a:spcBef>
            </a:pPr>
            <a:r>
              <a:rPr sz="3530" spc="-4" dirty="0"/>
              <a:t>INTEGER</a:t>
            </a:r>
            <a:r>
              <a:rPr sz="3530" spc="-79" dirty="0"/>
              <a:t> </a:t>
            </a:r>
            <a:r>
              <a:rPr sz="3530" spc="-4" dirty="0"/>
              <a:t>PROGRAMMING:</a:t>
            </a:r>
            <a:endParaRPr sz="3530" dirty="0"/>
          </a:p>
          <a:p>
            <a:pPr marL="1805924" marR="4483" algn="r">
              <a:lnSpc>
                <a:spcPct val="100000"/>
              </a:lnSpc>
            </a:pPr>
            <a:r>
              <a:rPr sz="3530" spc="-4" dirty="0"/>
              <a:t>FORMULATION</a:t>
            </a:r>
            <a:endParaRPr sz="3530" dirty="0"/>
          </a:p>
        </p:txBody>
      </p:sp>
      <p:sp>
        <p:nvSpPr>
          <p:cNvPr id="3" name="object 3"/>
          <p:cNvSpPr txBox="1"/>
          <p:nvPr/>
        </p:nvSpPr>
        <p:spPr>
          <a:xfrm>
            <a:off x="698900" y="1424323"/>
            <a:ext cx="10713854" cy="4501723"/>
          </a:xfrm>
          <a:prstGeom prst="rect">
            <a:avLst/>
          </a:prstGeom>
        </p:spPr>
        <p:txBody>
          <a:bodyPr vert="horz" wrap="square" lIns="0" tIns="172571" rIns="0" bIns="0" rtlCol="0">
            <a:spAutoFit/>
          </a:bodyPr>
          <a:lstStyle/>
          <a:p>
            <a:pPr marL="369814" indent="-302575">
              <a:spcBef>
                <a:spcPts val="1359"/>
              </a:spcBef>
              <a:buFont typeface="Wingdings"/>
              <a:buChar char=""/>
              <a:tabLst>
                <a:tab pos="369254" algn="l"/>
                <a:tab pos="369814" algn="l"/>
              </a:tabLst>
            </a:pPr>
            <a:r>
              <a:rPr sz="2118" b="1" spc="-4" dirty="0">
                <a:solidFill>
                  <a:srgbClr val="231F20"/>
                </a:solidFill>
                <a:latin typeface="Tahoma"/>
                <a:cs typeface="Tahoma"/>
              </a:rPr>
              <a:t>Decision</a:t>
            </a:r>
            <a:r>
              <a:rPr sz="2118" b="1" spc="256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b="1" spc="-4" dirty="0">
                <a:solidFill>
                  <a:srgbClr val="231F20"/>
                </a:solidFill>
                <a:latin typeface="Tahoma"/>
                <a:cs typeface="Tahoma"/>
              </a:rPr>
              <a:t>Variables:</a:t>
            </a:r>
            <a:r>
              <a:rPr sz="2118" b="1" spc="247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Let</a:t>
            </a:r>
            <a:r>
              <a:rPr sz="2118" spc="212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X</a:t>
            </a:r>
            <a:r>
              <a:rPr sz="2118" spc="-6" baseline="-20833" dirty="0">
                <a:solidFill>
                  <a:srgbClr val="231F20"/>
                </a:solidFill>
                <a:latin typeface="Tahoma"/>
                <a:cs typeface="Tahoma"/>
              </a:rPr>
              <a:t>1</a:t>
            </a:r>
            <a:r>
              <a:rPr sz="2118" spc="634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=</a:t>
            </a:r>
            <a:r>
              <a:rPr sz="2118" spc="207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Number</a:t>
            </a:r>
            <a:r>
              <a:rPr sz="2118" spc="202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of</a:t>
            </a:r>
            <a:r>
              <a:rPr sz="2118" spc="202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diamond</a:t>
            </a:r>
            <a:r>
              <a:rPr sz="2118" spc="207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rings,</a:t>
            </a:r>
            <a:r>
              <a:rPr sz="2118" spc="202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endParaRPr lang="en-US" sz="2118" spc="202" dirty="0">
              <a:solidFill>
                <a:srgbClr val="231F20"/>
              </a:solidFill>
              <a:latin typeface="Tahoma"/>
              <a:cs typeface="Tahoma"/>
            </a:endParaRPr>
          </a:p>
          <a:p>
            <a:pPr marL="67239">
              <a:spcBef>
                <a:spcPts val="1359"/>
              </a:spcBef>
              <a:tabLst>
                <a:tab pos="369254" algn="l"/>
                <a:tab pos="369814" algn="l"/>
              </a:tabLst>
            </a:pPr>
            <a:r>
              <a:rPr sz="2118" spc="-9" dirty="0">
                <a:solidFill>
                  <a:srgbClr val="231F20"/>
                </a:solidFill>
                <a:latin typeface="Tahoma"/>
                <a:cs typeface="Tahoma"/>
              </a:rPr>
              <a:t>X</a:t>
            </a:r>
            <a:r>
              <a:rPr sz="2118" spc="-13" baseline="-20833" dirty="0">
                <a:solidFill>
                  <a:srgbClr val="231F20"/>
                </a:solidFill>
                <a:latin typeface="Tahoma"/>
                <a:cs typeface="Tahoma"/>
              </a:rPr>
              <a:t>2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=</a:t>
            </a:r>
            <a:r>
              <a:rPr sz="2118" spc="-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Number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of</a:t>
            </a:r>
            <a:r>
              <a:rPr sz="2118" spc="-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pair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of</a:t>
            </a:r>
            <a:r>
              <a:rPr sz="2118" spc="-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earrings</a:t>
            </a:r>
            <a:r>
              <a:rPr sz="2118" spc="-4">
                <a:solidFill>
                  <a:srgbClr val="231F20"/>
                </a:solidFill>
                <a:latin typeface="Tahoma"/>
                <a:cs typeface="Tahoma"/>
              </a:rPr>
              <a:t>,</a:t>
            </a:r>
            <a:r>
              <a:rPr sz="2118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9">
                <a:solidFill>
                  <a:srgbClr val="231F20"/>
                </a:solidFill>
                <a:latin typeface="Tahoma"/>
                <a:cs typeface="Tahoma"/>
              </a:rPr>
              <a:t>X</a:t>
            </a:r>
            <a:r>
              <a:rPr lang="en-US" sz="2118" spc="-13" baseline="-20833" dirty="0">
                <a:solidFill>
                  <a:srgbClr val="231F20"/>
                </a:solidFill>
                <a:latin typeface="Tahoma"/>
                <a:cs typeface="Tahoma"/>
              </a:rPr>
              <a:t>3</a:t>
            </a:r>
            <a:r>
              <a:rPr sz="2118" spc="324" baseline="-20833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=</a:t>
            </a:r>
            <a:r>
              <a:rPr sz="2118"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Number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of</a:t>
            </a:r>
            <a:r>
              <a:rPr sz="2118" spc="-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necklaces</a:t>
            </a:r>
            <a:endParaRPr sz="2118" dirty="0">
              <a:latin typeface="Tahoma"/>
              <a:cs typeface="Tahoma"/>
            </a:endParaRPr>
          </a:p>
          <a:p>
            <a:pPr>
              <a:spcBef>
                <a:spcPts val="22"/>
              </a:spcBef>
            </a:pPr>
            <a:endParaRPr sz="4191" dirty="0">
              <a:latin typeface="Tahoma"/>
              <a:cs typeface="Tahoma"/>
            </a:endParaRPr>
          </a:p>
          <a:p>
            <a:pPr marL="369814" indent="-302575">
              <a:spcBef>
                <a:spcPts val="4"/>
              </a:spcBef>
              <a:buFont typeface="Wingdings"/>
              <a:buChar char=""/>
              <a:tabLst>
                <a:tab pos="369254" algn="l"/>
                <a:tab pos="369814" algn="l"/>
              </a:tabLst>
            </a:pPr>
            <a:r>
              <a:rPr sz="2118" b="1" spc="-4" dirty="0">
                <a:solidFill>
                  <a:srgbClr val="231F20"/>
                </a:solidFill>
                <a:latin typeface="Tahoma"/>
                <a:cs typeface="Tahoma"/>
              </a:rPr>
              <a:t>Objective</a:t>
            </a:r>
            <a:r>
              <a:rPr sz="2118" b="1" spc="-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b="1" spc="-4" dirty="0">
                <a:solidFill>
                  <a:srgbClr val="231F20"/>
                </a:solidFill>
                <a:latin typeface="Tahoma"/>
                <a:cs typeface="Tahoma"/>
              </a:rPr>
              <a:t>Function:</a:t>
            </a:r>
            <a:r>
              <a:rPr sz="2118" b="1" spc="62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Max.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Z</a:t>
            </a:r>
            <a:r>
              <a:rPr sz="2118" spc="-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=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 1500X</a:t>
            </a:r>
            <a:r>
              <a:rPr sz="2118" spc="-6" baseline="-20833" dirty="0">
                <a:solidFill>
                  <a:srgbClr val="231F20"/>
                </a:solidFill>
                <a:latin typeface="Tahoma"/>
                <a:cs typeface="Tahoma"/>
              </a:rPr>
              <a:t>1</a:t>
            </a:r>
            <a:r>
              <a:rPr sz="2118" spc="19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+</a:t>
            </a:r>
            <a:r>
              <a:rPr sz="2118"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2400X</a:t>
            </a:r>
            <a:r>
              <a:rPr sz="2118" spc="-6" baseline="-20833" dirty="0">
                <a:solidFill>
                  <a:srgbClr val="231F20"/>
                </a:solidFill>
                <a:latin typeface="Tahoma"/>
                <a:cs typeface="Tahoma"/>
              </a:rPr>
              <a:t>2</a:t>
            </a:r>
            <a:r>
              <a:rPr sz="2118" spc="6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+</a:t>
            </a:r>
            <a:r>
              <a:rPr sz="2118"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3600X</a:t>
            </a:r>
            <a:r>
              <a:rPr sz="2118" spc="-6" baseline="-20833" dirty="0">
                <a:solidFill>
                  <a:srgbClr val="231F20"/>
                </a:solidFill>
                <a:latin typeface="Tahoma"/>
                <a:cs typeface="Tahoma"/>
              </a:rPr>
              <a:t>3</a:t>
            </a:r>
            <a:endParaRPr sz="2118" baseline="-20833" dirty="0">
              <a:latin typeface="Tahoma"/>
              <a:cs typeface="Tahoma"/>
            </a:endParaRPr>
          </a:p>
          <a:p>
            <a:pPr marL="335634">
              <a:spcBef>
                <a:spcPts val="1906"/>
              </a:spcBef>
            </a:pPr>
            <a:r>
              <a:rPr sz="2118" b="1" spc="-4" dirty="0">
                <a:solidFill>
                  <a:srgbClr val="231F20"/>
                </a:solidFill>
                <a:latin typeface="Tahoma"/>
                <a:cs typeface="Tahoma"/>
              </a:rPr>
              <a:t>Subject</a:t>
            </a:r>
            <a:r>
              <a:rPr sz="2118" b="1" spc="-4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b="1" spc="-4" dirty="0">
                <a:solidFill>
                  <a:srgbClr val="231F20"/>
                </a:solidFill>
                <a:latin typeface="Tahoma"/>
                <a:cs typeface="Tahoma"/>
              </a:rPr>
              <a:t>to:</a:t>
            </a:r>
            <a:endParaRPr sz="2118" dirty="0">
              <a:latin typeface="Tahoma"/>
              <a:cs typeface="Tahoma"/>
            </a:endParaRPr>
          </a:p>
          <a:p>
            <a:pPr marL="1949928" marR="484680">
              <a:lnSpc>
                <a:spcPct val="150000"/>
              </a:lnSpc>
              <a:tabLst>
                <a:tab pos="3534523" algn="l"/>
              </a:tabLst>
            </a:pP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4X</a:t>
            </a:r>
            <a:r>
              <a:rPr sz="2118" spc="-6" baseline="-20833" dirty="0">
                <a:solidFill>
                  <a:srgbClr val="231F20"/>
                </a:solidFill>
                <a:latin typeface="Tahoma"/>
                <a:cs typeface="Tahoma"/>
              </a:rPr>
              <a:t>1</a:t>
            </a:r>
            <a:r>
              <a:rPr sz="2118" spc="297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+</a:t>
            </a:r>
            <a:r>
              <a:rPr sz="2118" spc="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9" dirty="0">
                <a:solidFill>
                  <a:srgbClr val="231F20"/>
                </a:solidFill>
                <a:latin typeface="Tahoma"/>
                <a:cs typeface="Tahoma"/>
              </a:rPr>
              <a:t>3X</a:t>
            </a:r>
            <a:r>
              <a:rPr sz="2118" spc="-13" baseline="-20833" dirty="0">
                <a:solidFill>
                  <a:srgbClr val="231F20"/>
                </a:solidFill>
                <a:latin typeface="Tahoma"/>
                <a:cs typeface="Tahoma"/>
              </a:rPr>
              <a:t>2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+</a:t>
            </a:r>
            <a:r>
              <a:rPr sz="2118"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10X</a:t>
            </a:r>
            <a:r>
              <a:rPr sz="2118" spc="-6" baseline="-20833" dirty="0">
                <a:solidFill>
                  <a:srgbClr val="231F20"/>
                </a:solidFill>
                <a:latin typeface="Tahoma"/>
                <a:cs typeface="Tahoma"/>
              </a:rPr>
              <a:t>3</a:t>
            </a:r>
            <a:r>
              <a:rPr sz="2118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≤</a:t>
            </a:r>
            <a:r>
              <a:rPr sz="2118" spc="-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150</a:t>
            </a:r>
            <a:r>
              <a:rPr sz="2118" spc="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(1/2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9" dirty="0">
                <a:solidFill>
                  <a:srgbClr val="231F20"/>
                </a:solidFill>
                <a:latin typeface="Tahoma"/>
                <a:cs typeface="Tahoma"/>
              </a:rPr>
              <a:t>Carat</a:t>
            </a:r>
            <a:r>
              <a:rPr sz="2118" spc="-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Diamond) </a:t>
            </a:r>
            <a:r>
              <a:rPr sz="2118" spc="-64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endParaRPr lang="en-US" sz="2118" spc="-649" dirty="0">
              <a:solidFill>
                <a:srgbClr val="231F20"/>
              </a:solidFill>
              <a:latin typeface="Tahoma"/>
              <a:cs typeface="Tahoma"/>
            </a:endParaRPr>
          </a:p>
          <a:p>
            <a:pPr marL="1949928" marR="484680">
              <a:lnSpc>
                <a:spcPct val="150000"/>
              </a:lnSpc>
              <a:tabLst>
                <a:tab pos="3534523" algn="l"/>
              </a:tabLst>
            </a:pP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6X</a:t>
            </a:r>
            <a:r>
              <a:rPr sz="2118" spc="-6" baseline="-20833" dirty="0">
                <a:solidFill>
                  <a:srgbClr val="231F20"/>
                </a:solidFill>
                <a:latin typeface="Tahoma"/>
                <a:cs typeface="Tahoma"/>
              </a:rPr>
              <a:t>1</a:t>
            </a:r>
            <a:r>
              <a:rPr sz="2118" spc="311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+</a:t>
            </a:r>
            <a:r>
              <a:rPr sz="2118" spc="1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9" dirty="0">
                <a:solidFill>
                  <a:srgbClr val="231F20"/>
                </a:solidFill>
                <a:latin typeface="Tahoma"/>
                <a:cs typeface="Tahoma"/>
              </a:rPr>
              <a:t>5X</a:t>
            </a:r>
            <a:r>
              <a:rPr sz="2118" spc="-13" baseline="-20833" dirty="0">
                <a:solidFill>
                  <a:srgbClr val="231F20"/>
                </a:solidFill>
                <a:latin typeface="Tahoma"/>
                <a:cs typeface="Tahoma"/>
              </a:rPr>
              <a:t>2</a:t>
            </a:r>
            <a:r>
              <a:rPr sz="2118" spc="-6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+</a:t>
            </a:r>
            <a:r>
              <a:rPr sz="2118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2118" spc="-9" dirty="0">
                <a:solidFill>
                  <a:srgbClr val="231F20"/>
                </a:solidFill>
                <a:latin typeface="Tahoma"/>
                <a:cs typeface="Tahoma"/>
              </a:rPr>
              <a:t>9X</a:t>
            </a:r>
            <a:r>
              <a:rPr sz="2118" spc="-13" baseline="-20833" dirty="0">
                <a:solidFill>
                  <a:srgbClr val="231F20"/>
                </a:solidFill>
                <a:latin typeface="Tahoma"/>
                <a:cs typeface="Tahoma"/>
              </a:rPr>
              <a:t>3</a:t>
            </a:r>
            <a:r>
              <a:rPr sz="2118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≤</a:t>
            </a:r>
            <a:r>
              <a:rPr sz="2118" spc="-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160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(1/4 </a:t>
            </a:r>
            <a:r>
              <a:rPr sz="2118" spc="-9" dirty="0">
                <a:solidFill>
                  <a:srgbClr val="231F20"/>
                </a:solidFill>
                <a:latin typeface="Tahoma"/>
                <a:cs typeface="Tahoma"/>
              </a:rPr>
              <a:t>Carat</a:t>
            </a:r>
            <a:r>
              <a:rPr sz="2118" spc="-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Diamond)</a:t>
            </a:r>
            <a:endParaRPr sz="2118" dirty="0">
              <a:latin typeface="Tahoma"/>
              <a:cs typeface="Tahoma"/>
            </a:endParaRPr>
          </a:p>
          <a:p>
            <a:pPr marL="1949928" marR="244301" indent="81807">
              <a:lnSpc>
                <a:spcPct val="150000"/>
              </a:lnSpc>
              <a:spcBef>
                <a:spcPts val="4"/>
              </a:spcBef>
              <a:tabLst>
                <a:tab pos="2819550" algn="l"/>
                <a:tab pos="3661157" algn="l"/>
                <a:tab pos="4334666" algn="l"/>
                <a:tab pos="5562336" algn="l"/>
              </a:tabLst>
            </a:pPr>
            <a:r>
              <a:rPr sz="2118" spc="-9" dirty="0">
                <a:solidFill>
                  <a:srgbClr val="231F20"/>
                </a:solidFill>
                <a:latin typeface="Tahoma"/>
                <a:cs typeface="Tahoma"/>
              </a:rPr>
              <a:t>X</a:t>
            </a:r>
            <a:r>
              <a:rPr sz="2118" spc="-13" baseline="-20833" dirty="0">
                <a:solidFill>
                  <a:srgbClr val="231F20"/>
                </a:solidFill>
                <a:latin typeface="Tahoma"/>
                <a:cs typeface="Tahoma"/>
              </a:rPr>
              <a:t>1</a:t>
            </a:r>
            <a:r>
              <a:rPr sz="2118" spc="344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+</a:t>
            </a:r>
            <a:r>
              <a:rPr sz="2118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2118" spc="-9" dirty="0">
                <a:solidFill>
                  <a:srgbClr val="231F20"/>
                </a:solidFill>
                <a:latin typeface="Tahoma"/>
                <a:cs typeface="Tahoma"/>
              </a:rPr>
              <a:t>X</a:t>
            </a:r>
            <a:r>
              <a:rPr sz="2118" spc="-13" baseline="-20833" dirty="0">
                <a:solidFill>
                  <a:srgbClr val="231F20"/>
                </a:solidFill>
                <a:latin typeface="Tahoma"/>
                <a:cs typeface="Tahoma"/>
              </a:rPr>
              <a:t>2</a:t>
            </a:r>
            <a:r>
              <a:rPr sz="2118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+</a:t>
            </a:r>
            <a:r>
              <a:rPr sz="2118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2118" spc="-9" dirty="0">
                <a:solidFill>
                  <a:srgbClr val="231F20"/>
                </a:solidFill>
                <a:latin typeface="Tahoma"/>
                <a:cs typeface="Tahoma"/>
              </a:rPr>
              <a:t>X</a:t>
            </a:r>
            <a:r>
              <a:rPr sz="2118" spc="-13" baseline="-20833" dirty="0">
                <a:solidFill>
                  <a:srgbClr val="231F20"/>
                </a:solidFill>
                <a:latin typeface="Tahoma"/>
                <a:cs typeface="Tahoma"/>
              </a:rPr>
              <a:t>3</a:t>
            </a:r>
            <a:r>
              <a:rPr sz="2118" spc="-6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≤</a:t>
            </a:r>
            <a:r>
              <a:rPr sz="2118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50</a:t>
            </a:r>
            <a:r>
              <a:rPr sz="2118"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35" dirty="0">
                <a:solidFill>
                  <a:srgbClr val="231F20"/>
                </a:solidFill>
                <a:latin typeface="Tahoma"/>
                <a:cs typeface="Tahoma"/>
              </a:rPr>
              <a:t>(Total</a:t>
            </a:r>
            <a:r>
              <a:rPr sz="2118" spc="-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Number</a:t>
            </a:r>
            <a:r>
              <a:rPr sz="2118" spc="-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of</a:t>
            </a:r>
            <a:r>
              <a:rPr sz="2118" spc="-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items) </a:t>
            </a:r>
            <a:r>
              <a:rPr sz="2118" spc="-64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With</a:t>
            </a:r>
            <a:r>
              <a:rPr sz="2118" spc="-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X</a:t>
            </a:r>
            <a:r>
              <a:rPr sz="2118" spc="-6" baseline="-20833" dirty="0">
                <a:solidFill>
                  <a:srgbClr val="231F20"/>
                </a:solidFill>
                <a:latin typeface="Tahoma"/>
                <a:cs typeface="Tahoma"/>
              </a:rPr>
              <a:t>1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,</a:t>
            </a:r>
            <a:r>
              <a:rPr sz="2118" spc="-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X</a:t>
            </a:r>
            <a:r>
              <a:rPr sz="2118" spc="-6" baseline="-20833" dirty="0">
                <a:solidFill>
                  <a:srgbClr val="231F20"/>
                </a:solidFill>
                <a:latin typeface="Tahoma"/>
                <a:cs typeface="Tahoma"/>
              </a:rPr>
              <a:t>2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,</a:t>
            </a:r>
            <a:r>
              <a:rPr sz="2118"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X</a:t>
            </a:r>
            <a:r>
              <a:rPr sz="2118" spc="-6" baseline="-20833" dirty="0">
                <a:solidFill>
                  <a:srgbClr val="231F20"/>
                </a:solidFill>
                <a:latin typeface="Tahoma"/>
                <a:cs typeface="Tahoma"/>
              </a:rPr>
              <a:t>3</a:t>
            </a:r>
            <a:r>
              <a:rPr sz="2118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≥</a:t>
            </a:r>
            <a:r>
              <a:rPr sz="2118" spc="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0;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endParaRPr lang="en-US" sz="2118" dirty="0">
              <a:solidFill>
                <a:srgbClr val="231F20"/>
              </a:solidFill>
              <a:latin typeface="Tahoma"/>
              <a:cs typeface="Tahoma"/>
            </a:endParaRPr>
          </a:p>
          <a:p>
            <a:pPr marL="1949928" marR="244301" indent="81807">
              <a:lnSpc>
                <a:spcPct val="150000"/>
              </a:lnSpc>
              <a:spcBef>
                <a:spcPts val="4"/>
              </a:spcBef>
              <a:tabLst>
                <a:tab pos="2819550" algn="l"/>
                <a:tab pos="3661157" algn="l"/>
                <a:tab pos="4334666" algn="l"/>
                <a:tab pos="5562336" algn="l"/>
              </a:tabLst>
            </a:pP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X</a:t>
            </a:r>
            <a:r>
              <a:rPr sz="2118" spc="-6" baseline="-20833" dirty="0">
                <a:solidFill>
                  <a:srgbClr val="231F20"/>
                </a:solidFill>
                <a:latin typeface="Tahoma"/>
                <a:cs typeface="Tahoma"/>
              </a:rPr>
              <a:t>1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,</a:t>
            </a:r>
            <a:r>
              <a:rPr sz="2118" spc="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X</a:t>
            </a:r>
            <a:r>
              <a:rPr sz="2118" spc="-6" baseline="-20833" dirty="0">
                <a:solidFill>
                  <a:srgbClr val="231F20"/>
                </a:solidFill>
                <a:latin typeface="Tahoma"/>
                <a:cs typeface="Tahoma"/>
              </a:rPr>
              <a:t>2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,</a:t>
            </a:r>
            <a:r>
              <a:rPr sz="2118" spc="-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X</a:t>
            </a:r>
            <a:r>
              <a:rPr sz="2118" spc="-6" baseline="-20833" dirty="0">
                <a:solidFill>
                  <a:srgbClr val="231F20"/>
                </a:solidFill>
                <a:latin typeface="Tahoma"/>
                <a:cs typeface="Tahoma"/>
              </a:rPr>
              <a:t>3</a:t>
            </a:r>
            <a:r>
              <a:rPr sz="2118" spc="-6" baseline="-20833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are</a:t>
            </a:r>
            <a:r>
              <a:rPr sz="2118" spc="-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integers</a:t>
            </a:r>
            <a:endParaRPr sz="2118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18746" y="263061"/>
            <a:ext cx="8473478" cy="1097201"/>
          </a:xfrm>
          <a:prstGeom prst="rect">
            <a:avLst/>
          </a:prstGeom>
        </p:spPr>
        <p:txBody>
          <a:bodyPr vert="horz" wrap="square" lIns="0" tIns="10646" rIns="0" bIns="0" rtlCol="0" anchor="t">
            <a:spAutoFit/>
          </a:bodyPr>
          <a:lstStyle/>
          <a:p>
            <a:pPr marL="1805924" marR="4483" algn="r">
              <a:lnSpc>
                <a:spcPct val="100000"/>
              </a:lnSpc>
              <a:spcBef>
                <a:spcPts val="84"/>
              </a:spcBef>
            </a:pPr>
            <a:r>
              <a:rPr lang="en-US" sz="3530" spc="-4" dirty="0"/>
              <a:t>I</a:t>
            </a:r>
            <a:r>
              <a:rPr sz="3530" spc="-4" dirty="0"/>
              <a:t>NTEGER</a:t>
            </a:r>
            <a:r>
              <a:rPr sz="3530" spc="-79" dirty="0"/>
              <a:t> </a:t>
            </a:r>
            <a:r>
              <a:rPr sz="3530" spc="-4" dirty="0"/>
              <a:t>PROGRAMMING:</a:t>
            </a:r>
            <a:endParaRPr sz="3530" dirty="0"/>
          </a:p>
          <a:p>
            <a:pPr marL="1805924" marR="4483" algn="r">
              <a:lnSpc>
                <a:spcPct val="100000"/>
              </a:lnSpc>
            </a:pPr>
            <a:r>
              <a:rPr sz="3530" spc="-4" dirty="0"/>
              <a:t>FORMULATION</a:t>
            </a:r>
            <a:endParaRPr sz="3530" dirty="0"/>
          </a:p>
        </p:txBody>
      </p:sp>
      <p:sp>
        <p:nvSpPr>
          <p:cNvPr id="3" name="object 3"/>
          <p:cNvSpPr txBox="1"/>
          <p:nvPr/>
        </p:nvSpPr>
        <p:spPr>
          <a:xfrm>
            <a:off x="155864" y="1594165"/>
            <a:ext cx="11256890" cy="396605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13781" indent="-303135">
              <a:lnSpc>
                <a:spcPts val="2118"/>
              </a:lnSpc>
              <a:spcBef>
                <a:spcPts val="88"/>
              </a:spcBef>
              <a:buFont typeface="Wingdings"/>
              <a:buChar char=""/>
              <a:tabLst>
                <a:tab pos="313781" algn="l"/>
                <a:tab pos="314342" algn="l"/>
              </a:tabLst>
            </a:pPr>
            <a:r>
              <a:rPr sz="1765" b="1" spc="-4" dirty="0">
                <a:solidFill>
                  <a:srgbClr val="231F20"/>
                </a:solidFill>
                <a:latin typeface="Tahoma"/>
                <a:cs typeface="Tahoma"/>
              </a:rPr>
              <a:t>Pure</a:t>
            </a:r>
            <a:r>
              <a:rPr sz="1765" b="1" spc="-4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b="1" dirty="0">
                <a:solidFill>
                  <a:srgbClr val="231F20"/>
                </a:solidFill>
                <a:latin typeface="Tahoma"/>
                <a:cs typeface="Tahoma"/>
              </a:rPr>
              <a:t>ILP</a:t>
            </a:r>
            <a:r>
              <a:rPr sz="1765" b="1" spc="-1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b="1" spc="-4" dirty="0">
                <a:solidFill>
                  <a:srgbClr val="231F20"/>
                </a:solidFill>
                <a:latin typeface="Tahoma"/>
                <a:cs typeface="Tahoma"/>
              </a:rPr>
              <a:t>Problem:</a:t>
            </a:r>
            <a:endParaRPr sz="1765" dirty="0">
              <a:latin typeface="Tahoma"/>
              <a:cs typeface="Tahoma"/>
            </a:endParaRPr>
          </a:p>
          <a:p>
            <a:pPr marL="11206" marR="4483" algn="just">
              <a:lnSpc>
                <a:spcPts val="1906"/>
              </a:lnSpc>
              <a:spcBef>
                <a:spcPts val="62"/>
              </a:spcBef>
            </a:pP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Northeastern Airlines is considering the purchase of </a:t>
            </a:r>
            <a:r>
              <a:rPr sz="1588" spc="-4" dirty="0">
                <a:solidFill>
                  <a:srgbClr val="FF0000"/>
                </a:solidFill>
                <a:latin typeface="Tahoma"/>
                <a:cs typeface="Tahoma"/>
              </a:rPr>
              <a:t>new long-, medium-, </a:t>
            </a:r>
            <a:r>
              <a:rPr sz="1588" dirty="0">
                <a:solidFill>
                  <a:srgbClr val="FF0000"/>
                </a:solidFill>
                <a:latin typeface="Tahoma"/>
                <a:cs typeface="Tahoma"/>
              </a:rPr>
              <a:t>and </a:t>
            </a:r>
            <a:r>
              <a:rPr sz="1588" spc="-9" dirty="0">
                <a:solidFill>
                  <a:srgbClr val="FF0000"/>
                </a:solidFill>
                <a:latin typeface="Tahoma"/>
                <a:cs typeface="Tahoma"/>
              </a:rPr>
              <a:t>short-</a:t>
            </a:r>
            <a:r>
              <a:rPr sz="1588" spc="-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9" dirty="0">
                <a:solidFill>
                  <a:srgbClr val="231F20"/>
                </a:solidFill>
                <a:latin typeface="Tahoma"/>
                <a:cs typeface="Tahoma"/>
              </a:rPr>
              <a:t>range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jet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passenger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airplanes. The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purchase price would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be $67 million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for each long-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9" dirty="0">
                <a:solidFill>
                  <a:srgbClr val="231F20"/>
                </a:solidFill>
                <a:latin typeface="Tahoma"/>
                <a:cs typeface="Tahoma"/>
              </a:rPr>
              <a:t>range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 plane, $50</a:t>
            </a:r>
            <a:r>
              <a:rPr sz="1588"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million</a:t>
            </a:r>
            <a:r>
              <a:rPr sz="1588" spc="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for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each</a:t>
            </a:r>
            <a:r>
              <a:rPr sz="1588" spc="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medium-range</a:t>
            </a:r>
            <a:r>
              <a:rPr sz="1588"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plane,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 and</a:t>
            </a:r>
            <a:r>
              <a:rPr sz="1588" spc="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$35</a:t>
            </a:r>
            <a:r>
              <a:rPr sz="1588"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million</a:t>
            </a:r>
            <a:r>
              <a:rPr sz="1588" spc="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for</a:t>
            </a:r>
            <a:r>
              <a:rPr sz="1588" spc="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each</a:t>
            </a:r>
            <a:r>
              <a:rPr sz="1588" spc="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13" dirty="0">
                <a:solidFill>
                  <a:srgbClr val="231F20"/>
                </a:solidFill>
                <a:latin typeface="Tahoma"/>
                <a:cs typeface="Tahoma"/>
              </a:rPr>
              <a:t>short-</a:t>
            </a:r>
            <a:r>
              <a:rPr lang="en-US" sz="1588" dirty="0">
                <a:latin typeface="Tahoma"/>
                <a:cs typeface="Tahoma"/>
              </a:rPr>
              <a:t> </a:t>
            </a:r>
            <a:r>
              <a:rPr sz="1588" spc="-9" dirty="0">
                <a:solidFill>
                  <a:srgbClr val="231F20"/>
                </a:solidFill>
                <a:latin typeface="Tahoma"/>
                <a:cs typeface="Tahoma"/>
              </a:rPr>
              <a:t>range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plane.</a:t>
            </a:r>
            <a:endParaRPr lang="en-US" sz="1588" dirty="0">
              <a:solidFill>
                <a:srgbClr val="231F20"/>
              </a:solidFill>
              <a:latin typeface="Tahoma"/>
              <a:cs typeface="Tahoma"/>
            </a:endParaRPr>
          </a:p>
          <a:p>
            <a:pPr marL="11206" marR="4483" algn="just">
              <a:lnSpc>
                <a:spcPts val="1906"/>
              </a:lnSpc>
              <a:spcBef>
                <a:spcPts val="62"/>
              </a:spcBef>
            </a:pP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 The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board of directors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has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authorized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a maximum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commitment </a:t>
            </a:r>
            <a:r>
              <a:rPr sz="1588" spc="-4" dirty="0">
                <a:solidFill>
                  <a:srgbClr val="FF0000"/>
                </a:solidFill>
                <a:latin typeface="Tahoma"/>
                <a:cs typeface="Tahoma"/>
              </a:rPr>
              <a:t>of $1.5 </a:t>
            </a:r>
            <a:r>
              <a:rPr sz="1588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FF0000"/>
                </a:solidFill>
                <a:latin typeface="Tahoma"/>
                <a:cs typeface="Tahoma"/>
              </a:rPr>
              <a:t>billion for these purchases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. </a:t>
            </a:r>
            <a:r>
              <a:rPr sz="1588" spc="-9" dirty="0">
                <a:solidFill>
                  <a:srgbClr val="231F20"/>
                </a:solidFill>
                <a:latin typeface="Tahoma"/>
                <a:cs typeface="Tahoma"/>
              </a:rPr>
              <a:t>Regardless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of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which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airplanes are purchased,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air </a:t>
            </a:r>
            <a:r>
              <a:rPr sz="1588" spc="-9" dirty="0">
                <a:solidFill>
                  <a:srgbClr val="231F20"/>
                </a:solidFill>
                <a:latin typeface="Tahoma"/>
                <a:cs typeface="Tahoma"/>
              </a:rPr>
              <a:t>travel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of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 all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distances is expected to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be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sufficiently large that these planes would </a:t>
            </a:r>
            <a:r>
              <a:rPr sz="1588" spc="4" dirty="0">
                <a:solidFill>
                  <a:srgbClr val="231F20"/>
                </a:solidFill>
                <a:latin typeface="Tahoma"/>
                <a:cs typeface="Tahoma"/>
              </a:rPr>
              <a:t>be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utilized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at </a:t>
            </a:r>
            <a:r>
              <a:rPr sz="1588"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essentially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maximum </a:t>
            </a:r>
            <a:r>
              <a:rPr sz="1588" spc="-18" dirty="0">
                <a:solidFill>
                  <a:srgbClr val="231F20"/>
                </a:solidFill>
                <a:latin typeface="Tahoma"/>
                <a:cs typeface="Tahoma"/>
              </a:rPr>
              <a:t>capacity.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It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is estimated that the net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annual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profit (after capital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9" dirty="0">
                <a:solidFill>
                  <a:srgbClr val="231F20"/>
                </a:solidFill>
                <a:latin typeface="Tahoma"/>
                <a:cs typeface="Tahoma"/>
              </a:rPr>
              <a:t>recovery</a:t>
            </a:r>
            <a:r>
              <a:rPr sz="1588" spc="9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costs</a:t>
            </a:r>
            <a:r>
              <a:rPr sz="1588" spc="97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are</a:t>
            </a:r>
            <a:r>
              <a:rPr sz="1588" spc="9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subtracted)</a:t>
            </a:r>
            <a:r>
              <a:rPr sz="1588" spc="97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would</a:t>
            </a:r>
            <a:r>
              <a:rPr sz="1588" spc="9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4" dirty="0">
                <a:solidFill>
                  <a:srgbClr val="231F20"/>
                </a:solidFill>
                <a:latin typeface="Tahoma"/>
                <a:cs typeface="Tahoma"/>
              </a:rPr>
              <a:t>be</a:t>
            </a:r>
            <a:r>
              <a:rPr sz="1588" spc="8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b="1" dirty="0"/>
              <a:t>$4.2 million per long-range plane, $3 million</a:t>
            </a:r>
            <a:r>
              <a:rPr lang="en-US" b="1" dirty="0"/>
              <a:t> </a:t>
            </a:r>
            <a:r>
              <a:rPr b="1" dirty="0"/>
              <a:t>per medium-range plane, and $2.3 million per short-range plane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.</a:t>
            </a:r>
            <a:endParaRPr sz="1588" dirty="0">
              <a:latin typeface="Tahoma"/>
              <a:cs typeface="Tahoma"/>
            </a:endParaRPr>
          </a:p>
          <a:p>
            <a:pPr marL="11206" marR="5043" algn="just"/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It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is predicted that enough </a:t>
            </a:r>
            <a:r>
              <a:rPr sz="1588" spc="-9" dirty="0">
                <a:solidFill>
                  <a:srgbClr val="231F20"/>
                </a:solidFill>
                <a:latin typeface="Tahoma"/>
                <a:cs typeface="Tahoma"/>
              </a:rPr>
              <a:t>trained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pilots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will be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available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to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the company to </a:t>
            </a:r>
            <a:r>
              <a:rPr sz="1588" spc="-9" dirty="0">
                <a:solidFill>
                  <a:srgbClr val="231F20"/>
                </a:solidFill>
                <a:latin typeface="Tahoma"/>
                <a:cs typeface="Tahoma"/>
              </a:rPr>
              <a:t>crew </a:t>
            </a:r>
            <a:r>
              <a:rPr sz="1588" spc="4" dirty="0">
                <a:solidFill>
                  <a:srgbClr val="231F20"/>
                </a:solidFill>
                <a:latin typeface="Tahoma"/>
                <a:cs typeface="Tahoma"/>
              </a:rPr>
              <a:t>30 </a:t>
            </a:r>
            <a:r>
              <a:rPr sz="1588" spc="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new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airplanes. If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only </a:t>
            </a:r>
            <a:r>
              <a:rPr sz="1588" spc="-9" dirty="0">
                <a:solidFill>
                  <a:srgbClr val="231F20"/>
                </a:solidFill>
                <a:latin typeface="Tahoma"/>
                <a:cs typeface="Tahoma"/>
              </a:rPr>
              <a:t>short-range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planes were purchased, the maintenance facilities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would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 be able</a:t>
            </a:r>
            <a:r>
              <a:rPr sz="1588"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to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handle 40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new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planes. </a:t>
            </a:r>
            <a:r>
              <a:rPr sz="1588" spc="-31" dirty="0">
                <a:solidFill>
                  <a:srgbClr val="231F20"/>
                </a:solidFill>
                <a:latin typeface="Tahoma"/>
                <a:cs typeface="Tahoma"/>
              </a:rPr>
              <a:t>However,</a:t>
            </a:r>
            <a:r>
              <a:rPr sz="1588" spc="-26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each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medium-range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plane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is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equivalent to 4/3 </a:t>
            </a:r>
            <a:r>
              <a:rPr sz="1588" spc="-9" dirty="0">
                <a:solidFill>
                  <a:srgbClr val="231F20"/>
                </a:solidFill>
                <a:latin typeface="Tahoma"/>
                <a:cs typeface="Tahoma"/>
              </a:rPr>
              <a:t>short-range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planes,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and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each </a:t>
            </a:r>
            <a:r>
              <a:rPr sz="1588" spc="-9" dirty="0">
                <a:solidFill>
                  <a:srgbClr val="231F20"/>
                </a:solidFill>
                <a:latin typeface="Tahoma"/>
                <a:cs typeface="Tahoma"/>
              </a:rPr>
              <a:t>long-range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plane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is equivalent to 5/3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9" dirty="0">
                <a:solidFill>
                  <a:srgbClr val="231F20"/>
                </a:solidFill>
                <a:latin typeface="Tahoma"/>
                <a:cs typeface="Tahoma"/>
              </a:rPr>
              <a:t>short-range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planes</a:t>
            </a:r>
            <a:r>
              <a:rPr sz="1588"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in</a:t>
            </a:r>
            <a:r>
              <a:rPr sz="1588"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terms</a:t>
            </a:r>
            <a:r>
              <a:rPr sz="1588"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of</a:t>
            </a:r>
            <a:r>
              <a:rPr sz="1588"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their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use of</a:t>
            </a:r>
            <a:r>
              <a:rPr sz="1588"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the maintenance </a:t>
            </a:r>
            <a:r>
              <a:rPr sz="1588" spc="-9" dirty="0">
                <a:solidFill>
                  <a:srgbClr val="231F20"/>
                </a:solidFill>
                <a:latin typeface="Tahoma"/>
                <a:cs typeface="Tahoma"/>
              </a:rPr>
              <a:t>facilities.</a:t>
            </a:r>
            <a:endParaRPr sz="1588" dirty="0">
              <a:latin typeface="Tahoma"/>
              <a:cs typeface="Tahoma"/>
            </a:endParaRPr>
          </a:p>
          <a:p>
            <a:pPr marL="11206" marR="6164" indent="-560" algn="just">
              <a:spcBef>
                <a:spcPts val="4"/>
              </a:spcBef>
            </a:pP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The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information given here </a:t>
            </a:r>
            <a:r>
              <a:rPr sz="1588" spc="-9" dirty="0">
                <a:solidFill>
                  <a:srgbClr val="231F20"/>
                </a:solidFill>
                <a:latin typeface="Tahoma"/>
                <a:cs typeface="Tahoma"/>
              </a:rPr>
              <a:t>was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obtained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by a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preliminary analysis of </a:t>
            </a:r>
            <a:r>
              <a:rPr sz="1588" spc="-9" dirty="0">
                <a:solidFill>
                  <a:srgbClr val="231F20"/>
                </a:solidFill>
                <a:latin typeface="Tahoma"/>
                <a:cs typeface="Tahoma"/>
              </a:rPr>
              <a:t>the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problem.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A </a:t>
            </a:r>
            <a:r>
              <a:rPr sz="1588"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more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detailed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analysis will </a:t>
            </a:r>
            <a:r>
              <a:rPr sz="1588" spc="4" dirty="0">
                <a:solidFill>
                  <a:srgbClr val="231F20"/>
                </a:solidFill>
                <a:latin typeface="Tahoma"/>
                <a:cs typeface="Tahoma"/>
              </a:rPr>
              <a:t>be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conducted </a:t>
            </a:r>
            <a:r>
              <a:rPr sz="1588" spc="-13" dirty="0">
                <a:solidFill>
                  <a:srgbClr val="231F20"/>
                </a:solidFill>
                <a:latin typeface="Tahoma"/>
                <a:cs typeface="Tahoma"/>
              </a:rPr>
              <a:t>subsequently. </a:t>
            </a:r>
            <a:r>
              <a:rPr sz="1588" spc="-31" dirty="0">
                <a:solidFill>
                  <a:srgbClr val="231F20"/>
                </a:solidFill>
                <a:latin typeface="Tahoma"/>
                <a:cs typeface="Tahoma"/>
              </a:rPr>
              <a:t>However,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using the preceding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data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as a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first approximation,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management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wishes to know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how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many planes of each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type should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be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purchased</a:t>
            </a:r>
            <a:r>
              <a:rPr sz="1588"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to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maximize</a:t>
            </a:r>
            <a:r>
              <a:rPr sz="1588" spc="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profit.</a:t>
            </a:r>
            <a:r>
              <a:rPr sz="1588" spc="1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9" dirty="0">
                <a:solidFill>
                  <a:srgbClr val="231F20"/>
                </a:solidFill>
                <a:latin typeface="Tahoma"/>
                <a:cs typeface="Tahoma"/>
              </a:rPr>
              <a:t>Formulate</a:t>
            </a:r>
            <a:r>
              <a:rPr sz="1588" spc="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an</a:t>
            </a:r>
            <a:r>
              <a:rPr sz="1588"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IP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 model</a:t>
            </a:r>
            <a:r>
              <a:rPr sz="1588" spc="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for this</a:t>
            </a:r>
            <a:r>
              <a:rPr sz="1588" spc="-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problem.</a:t>
            </a:r>
            <a:endParaRPr sz="1588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39276" y="709870"/>
            <a:ext cx="8473478" cy="1097201"/>
          </a:xfrm>
          <a:prstGeom prst="rect">
            <a:avLst/>
          </a:prstGeom>
        </p:spPr>
        <p:txBody>
          <a:bodyPr vert="horz" wrap="square" lIns="0" tIns="10646" rIns="0" bIns="0" rtlCol="0" anchor="t">
            <a:spAutoFit/>
          </a:bodyPr>
          <a:lstStyle/>
          <a:p>
            <a:pPr marL="1805924" marR="4483" algn="r">
              <a:lnSpc>
                <a:spcPct val="100000"/>
              </a:lnSpc>
              <a:spcBef>
                <a:spcPts val="84"/>
              </a:spcBef>
            </a:pPr>
            <a:r>
              <a:rPr sz="3530" spc="-4" dirty="0"/>
              <a:t>INTEGER</a:t>
            </a:r>
            <a:r>
              <a:rPr sz="3530" spc="-79" dirty="0"/>
              <a:t> </a:t>
            </a:r>
            <a:r>
              <a:rPr sz="3530" spc="-4" dirty="0"/>
              <a:t>PROGRAMMING:</a:t>
            </a:r>
            <a:endParaRPr sz="3530"/>
          </a:p>
          <a:p>
            <a:pPr marL="1805924" marR="4483" algn="r">
              <a:lnSpc>
                <a:spcPct val="100000"/>
              </a:lnSpc>
            </a:pPr>
            <a:r>
              <a:rPr sz="3530" spc="-4" dirty="0"/>
              <a:t>FORMULATION</a:t>
            </a:r>
            <a:endParaRPr sz="353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2750" y="2055377"/>
            <a:ext cx="9152091" cy="391735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846562" y="6891552"/>
            <a:ext cx="243840" cy="209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9A9D9F"/>
                </a:solidFill>
                <a:latin typeface="Tahoma"/>
                <a:ea typeface="+mn-ea"/>
                <a:cs typeface="Tahom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1285">
              <a:spcBef>
                <a:spcPts val="100"/>
              </a:spcBef>
            </a:pPr>
            <a:fld id="{81D60167-4931-47E6-BA6A-407CBD079E47}" type="slidenum">
              <a:rPr lang="en-IN" smtClean="0"/>
              <a:pPr marL="121285">
                <a:spcBef>
                  <a:spcPts val="100"/>
                </a:spcBef>
              </a:pPr>
              <a:t>8</a:t>
            </a:fld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846562" y="6891552"/>
            <a:ext cx="243840" cy="209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9A9D9F"/>
                </a:solidFill>
                <a:latin typeface="Tahoma"/>
                <a:ea typeface="+mn-ea"/>
                <a:cs typeface="Tahom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1285">
              <a:spcBef>
                <a:spcPts val="100"/>
              </a:spcBef>
            </a:pPr>
            <a:fld id="{81D60167-4931-47E6-BA6A-407CBD079E47}" type="slidenum">
              <a:rPr lang="en-IN" smtClean="0"/>
              <a:pPr marL="121285">
                <a:spcBef>
                  <a:spcPts val="100"/>
                </a:spcBef>
              </a:pPr>
              <a:t>9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70449" y="380784"/>
            <a:ext cx="8473478" cy="1097201"/>
          </a:xfrm>
          <a:prstGeom prst="rect">
            <a:avLst/>
          </a:prstGeom>
        </p:spPr>
        <p:txBody>
          <a:bodyPr vert="horz" wrap="square" lIns="0" tIns="10646" rIns="0" bIns="0" rtlCol="0" anchor="t">
            <a:spAutoFit/>
          </a:bodyPr>
          <a:lstStyle/>
          <a:p>
            <a:pPr marL="1805924" marR="4483" algn="r">
              <a:lnSpc>
                <a:spcPct val="100000"/>
              </a:lnSpc>
              <a:spcBef>
                <a:spcPts val="84"/>
              </a:spcBef>
            </a:pPr>
            <a:r>
              <a:rPr sz="3530" spc="-4" dirty="0"/>
              <a:t>INTEGER</a:t>
            </a:r>
            <a:r>
              <a:rPr sz="3530" spc="-79" dirty="0"/>
              <a:t> </a:t>
            </a:r>
            <a:r>
              <a:rPr sz="3530" spc="-4" dirty="0"/>
              <a:t>PROGRAMMING:</a:t>
            </a:r>
            <a:endParaRPr sz="3530" dirty="0"/>
          </a:p>
          <a:p>
            <a:pPr marL="1805924" marR="4483" algn="r">
              <a:lnSpc>
                <a:spcPct val="100000"/>
              </a:lnSpc>
            </a:pPr>
            <a:r>
              <a:rPr sz="3530" spc="-4" dirty="0"/>
              <a:t>FORMULATION</a:t>
            </a:r>
            <a:endParaRPr sz="3530" dirty="0"/>
          </a:p>
        </p:txBody>
      </p:sp>
      <p:sp>
        <p:nvSpPr>
          <p:cNvPr id="3" name="object 3"/>
          <p:cNvSpPr txBox="1"/>
          <p:nvPr/>
        </p:nvSpPr>
        <p:spPr>
          <a:xfrm>
            <a:off x="1031733" y="1665841"/>
            <a:ext cx="10026032" cy="13693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13781" indent="-302575" algn="just">
              <a:spcBef>
                <a:spcPts val="88"/>
              </a:spcBef>
              <a:buFont typeface="Wingdings"/>
              <a:buChar char=""/>
              <a:tabLst>
                <a:tab pos="313781" algn="l"/>
              </a:tabLst>
            </a:pPr>
            <a:r>
              <a:rPr sz="1765" b="1" spc="-4" dirty="0">
                <a:solidFill>
                  <a:srgbClr val="231F20"/>
                </a:solidFill>
                <a:latin typeface="Tahoma"/>
                <a:cs typeface="Tahoma"/>
              </a:rPr>
              <a:t>Mixed</a:t>
            </a:r>
            <a:r>
              <a:rPr sz="1765" b="1" spc="-26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b="1" dirty="0">
                <a:solidFill>
                  <a:srgbClr val="231F20"/>
                </a:solidFill>
                <a:latin typeface="Tahoma"/>
                <a:cs typeface="Tahoma"/>
              </a:rPr>
              <a:t>ILP</a:t>
            </a:r>
            <a:r>
              <a:rPr sz="1765" b="1" spc="-31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b="1" spc="-4" dirty="0">
                <a:solidFill>
                  <a:srgbClr val="231F20"/>
                </a:solidFill>
                <a:latin typeface="Tahoma"/>
                <a:cs typeface="Tahoma"/>
              </a:rPr>
              <a:t>Problem:</a:t>
            </a:r>
            <a:endParaRPr sz="1765" dirty="0">
              <a:latin typeface="Tahoma"/>
              <a:cs typeface="Tahoma"/>
            </a:endParaRPr>
          </a:p>
          <a:p>
            <a:pPr marL="11206" marR="4483" algn="just"/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A textile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company 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can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use </a:t>
            </a:r>
            <a:r>
              <a:rPr sz="1765" spc="-9" dirty="0">
                <a:solidFill>
                  <a:srgbClr val="231F20"/>
                </a:solidFill>
                <a:latin typeface="Tahoma"/>
                <a:cs typeface="Tahoma"/>
              </a:rPr>
              <a:t>any 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or all of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three </a:t>
            </a:r>
            <a:r>
              <a:rPr sz="1765" spc="-9" dirty="0">
                <a:solidFill>
                  <a:srgbClr val="231F20"/>
                </a:solidFill>
                <a:latin typeface="Tahoma"/>
                <a:cs typeface="Tahoma"/>
              </a:rPr>
              <a:t>different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processes </a:t>
            </a:r>
            <a:r>
              <a:rPr sz="1765" spc="-13" dirty="0">
                <a:solidFill>
                  <a:srgbClr val="231F20"/>
                </a:solidFill>
                <a:latin typeface="Tahoma"/>
                <a:cs typeface="Tahoma"/>
              </a:rPr>
              <a:t>for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weaving 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in standard white polyester fabric. Each 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of </a:t>
            </a:r>
            <a:r>
              <a:rPr sz="1765" spc="-9" dirty="0">
                <a:solidFill>
                  <a:srgbClr val="231F20"/>
                </a:solidFill>
                <a:latin typeface="Tahoma"/>
                <a:cs typeface="Tahoma"/>
              </a:rPr>
              <a:t>these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production </a:t>
            </a:r>
            <a:r>
              <a:rPr sz="1765" spc="-9" dirty="0">
                <a:solidFill>
                  <a:srgbClr val="231F20"/>
                </a:solidFill>
                <a:latin typeface="Tahoma"/>
                <a:cs typeface="Tahoma"/>
              </a:rPr>
              <a:t>processes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has 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a </a:t>
            </a:r>
            <a:r>
              <a:rPr sz="1765"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weaving machine setup cost 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and </a:t>
            </a:r>
            <a:r>
              <a:rPr sz="1765" spc="-9" dirty="0">
                <a:solidFill>
                  <a:srgbClr val="231F20"/>
                </a:solidFill>
                <a:latin typeface="Tahoma"/>
                <a:cs typeface="Tahoma"/>
              </a:rPr>
              <a:t>per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square-meter processing cost. These 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costs and 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the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capacities 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of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each 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of the </a:t>
            </a:r>
            <a:r>
              <a:rPr sz="1765" spc="-9" dirty="0">
                <a:solidFill>
                  <a:srgbClr val="231F20"/>
                </a:solidFill>
                <a:latin typeface="Tahoma"/>
                <a:cs typeface="Tahoma"/>
              </a:rPr>
              <a:t>three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production </a:t>
            </a:r>
            <a:r>
              <a:rPr sz="1765" spc="-9" dirty="0">
                <a:solidFill>
                  <a:srgbClr val="231F20"/>
                </a:solidFill>
                <a:latin typeface="Tahoma"/>
                <a:cs typeface="Tahoma"/>
              </a:rPr>
              <a:t>processes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are shown 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 below:</a:t>
            </a:r>
            <a:endParaRPr sz="1765" dirty="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4717809"/>
              </p:ext>
            </p:extLst>
          </p:nvPr>
        </p:nvGraphicFramePr>
        <p:xfrm>
          <a:off x="1100516" y="3390825"/>
          <a:ext cx="9888466" cy="17884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6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73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21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21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6823">
                <a:tc>
                  <a:txBody>
                    <a:bodyPr/>
                    <a:lstStyle/>
                    <a:p>
                      <a:pPr marL="219710" marR="212090" indent="1968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Process </a:t>
                      </a:r>
                      <a:r>
                        <a:rPr sz="1600" b="1" spc="-51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spc="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u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m</a:t>
                      </a:r>
                      <a:r>
                        <a:rPr sz="1600" b="1" spc="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b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er</a:t>
                      </a:r>
                      <a:endParaRPr sz="1600" dirty="0">
                        <a:latin typeface="Tahoma"/>
                        <a:cs typeface="Tahoma"/>
                      </a:endParaRPr>
                    </a:p>
                  </a:txBody>
                  <a:tcPr marL="0" marR="0" marT="3922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Weaving</a:t>
                      </a:r>
                      <a:r>
                        <a:rPr sz="1600" b="1" spc="-3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machine</a:t>
                      </a:r>
                      <a:r>
                        <a:rPr sz="1600" b="1" spc="-3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Set</a:t>
                      </a:r>
                      <a:endParaRPr sz="1600" dirty="0">
                        <a:latin typeface="Tahoma"/>
                        <a:cs typeface="Tahoma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–Up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cost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(Rs.)</a:t>
                      </a:r>
                      <a:endParaRPr sz="1600" dirty="0">
                        <a:latin typeface="Tahoma"/>
                        <a:cs typeface="Tahoma"/>
                      </a:endParaRPr>
                    </a:p>
                  </a:txBody>
                  <a:tcPr marL="0" marR="0" marT="3922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766445" marR="133350" indent="-6248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Processing</a:t>
                      </a:r>
                      <a:r>
                        <a:rPr sz="1600" b="1" spc="-8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Cost </a:t>
                      </a:r>
                      <a:r>
                        <a:rPr sz="1600" b="1" spc="-509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(Rs.)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922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176530" marR="16764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Maximum</a:t>
                      </a:r>
                      <a:r>
                        <a:rPr sz="1600" b="1" spc="-10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daily </a:t>
                      </a:r>
                      <a:r>
                        <a:rPr sz="1600" b="1" spc="-51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capacity (Sq.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meter)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922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20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978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150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978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15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978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7"/>
                    </a:solidFill>
                  </a:tcPr>
                </a:tc>
                <a:tc>
                  <a:txBody>
                    <a:bodyPr/>
                    <a:lstStyle/>
                    <a:p>
                      <a:pPr marL="79883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2000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978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20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978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240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978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10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978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marL="79883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3000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978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22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978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300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978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8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978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7"/>
                    </a:solidFill>
                  </a:tcPr>
                </a:tc>
                <a:tc>
                  <a:txBody>
                    <a:bodyPr/>
                    <a:lstStyle/>
                    <a:p>
                      <a:pPr marL="79883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solidFill>
                            <a:srgbClr val="231F20"/>
                          </a:solidFill>
                          <a:latin typeface="Tahoma"/>
                          <a:cs typeface="Tahoma"/>
                        </a:rPr>
                        <a:t>3500</a:t>
                      </a:r>
                      <a:endParaRPr sz="1600" dirty="0">
                        <a:latin typeface="Tahoma"/>
                        <a:cs typeface="Tahoma"/>
                      </a:endParaRPr>
                    </a:p>
                  </a:txBody>
                  <a:tcPr marL="0" marR="0" marT="3978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100516" y="5192852"/>
            <a:ext cx="9807547" cy="82615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 algn="just">
              <a:spcBef>
                <a:spcPts val="88"/>
              </a:spcBef>
            </a:pP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The 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daily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demand </a:t>
            </a:r>
            <a:r>
              <a:rPr sz="1765" spc="-9" dirty="0">
                <a:solidFill>
                  <a:srgbClr val="231F20"/>
                </a:solidFill>
                <a:latin typeface="Tahoma"/>
                <a:cs typeface="Tahoma"/>
              </a:rPr>
              <a:t>forecasts for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its white polyester </a:t>
            </a:r>
            <a:r>
              <a:rPr sz="1765" spc="-9" dirty="0">
                <a:solidFill>
                  <a:srgbClr val="231F20"/>
                </a:solidFill>
                <a:latin typeface="Tahoma"/>
                <a:cs typeface="Tahoma"/>
              </a:rPr>
              <a:t>fabric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is 4000 Sq. </a:t>
            </a:r>
            <a:r>
              <a:rPr sz="1765" spc="-44" dirty="0">
                <a:solidFill>
                  <a:srgbClr val="231F20"/>
                </a:solidFill>
                <a:latin typeface="Tahoma"/>
                <a:cs typeface="Tahoma"/>
              </a:rPr>
              <a:t>meter. </a:t>
            </a:r>
            <a:r>
              <a:rPr sz="1765" spc="-4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spc="-9" dirty="0">
                <a:solidFill>
                  <a:srgbClr val="231F20"/>
                </a:solidFill>
                <a:latin typeface="Tahoma"/>
                <a:cs typeface="Tahoma"/>
              </a:rPr>
              <a:t>company’s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 production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manager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wants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 to</a:t>
            </a:r>
            <a:r>
              <a:rPr sz="1765"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determine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 optimal </a:t>
            </a:r>
            <a:r>
              <a:rPr sz="1765"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combination of the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production processes 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and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their actual 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daily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production 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levels</a:t>
            </a:r>
            <a:r>
              <a:rPr sz="1765" spc="-22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such</a:t>
            </a:r>
            <a:r>
              <a:rPr sz="1765" spc="-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that</a:t>
            </a:r>
            <a:r>
              <a:rPr sz="1765"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sz="1765" spc="-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total</a:t>
            </a:r>
            <a:r>
              <a:rPr sz="1765"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production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 cost</a:t>
            </a:r>
            <a:r>
              <a:rPr sz="1765" spc="-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is minimized.</a:t>
            </a:r>
            <a:endParaRPr sz="1765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846562" y="6891552"/>
            <a:ext cx="243840" cy="209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9A9D9F"/>
                </a:solidFill>
                <a:latin typeface="Tahoma"/>
                <a:ea typeface="+mn-ea"/>
                <a:cs typeface="Tahom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1285">
              <a:spcBef>
                <a:spcPts val="100"/>
              </a:spcBef>
            </a:pPr>
            <a:fld id="{81D60167-4931-47E6-BA6A-407CBD079E47}" type="slidenum">
              <a:rPr lang="en-IN" smtClean="0"/>
              <a:pPr marL="121285">
                <a:spcBef>
                  <a:spcPts val="100"/>
                </a:spcBef>
              </a:pPr>
              <a:t>10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8103" y="251506"/>
            <a:ext cx="8473478" cy="1097201"/>
          </a:xfrm>
          <a:prstGeom prst="rect">
            <a:avLst/>
          </a:prstGeom>
        </p:spPr>
        <p:txBody>
          <a:bodyPr vert="horz" wrap="square" lIns="0" tIns="10646" rIns="0" bIns="0" rtlCol="0" anchor="t">
            <a:spAutoFit/>
          </a:bodyPr>
          <a:lstStyle/>
          <a:p>
            <a:pPr marL="1805924" marR="4483" algn="r">
              <a:lnSpc>
                <a:spcPct val="100000"/>
              </a:lnSpc>
              <a:spcBef>
                <a:spcPts val="84"/>
              </a:spcBef>
            </a:pPr>
            <a:r>
              <a:rPr sz="3530" spc="-4" dirty="0"/>
              <a:t>INTEGER</a:t>
            </a:r>
            <a:r>
              <a:rPr sz="3530" spc="-79" dirty="0"/>
              <a:t> </a:t>
            </a:r>
            <a:r>
              <a:rPr sz="3530" spc="-4" dirty="0"/>
              <a:t>PROGRAMMING:</a:t>
            </a:r>
            <a:endParaRPr sz="3530"/>
          </a:p>
          <a:p>
            <a:pPr marL="1805924" marR="4483" algn="r">
              <a:lnSpc>
                <a:spcPct val="100000"/>
              </a:lnSpc>
            </a:pPr>
            <a:r>
              <a:rPr sz="3530" spc="-4" dirty="0"/>
              <a:t>FORMULATION</a:t>
            </a:r>
            <a:endParaRPr sz="3530"/>
          </a:p>
        </p:txBody>
      </p:sp>
      <p:sp>
        <p:nvSpPr>
          <p:cNvPr id="3" name="object 3"/>
          <p:cNvSpPr txBox="1"/>
          <p:nvPr/>
        </p:nvSpPr>
        <p:spPr>
          <a:xfrm>
            <a:off x="831291" y="1710762"/>
            <a:ext cx="10719537" cy="406563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69254" marR="82928" indent="-302575">
              <a:spcBef>
                <a:spcPts val="88"/>
              </a:spcBef>
              <a:buFont typeface="Wingdings"/>
              <a:buChar char=""/>
              <a:tabLst>
                <a:tab pos="369254" algn="l"/>
                <a:tab pos="369814" algn="l"/>
                <a:tab pos="1706187" algn="l"/>
                <a:tab pos="3249319" algn="l"/>
                <a:tab pos="3807402" algn="l"/>
                <a:tab pos="4206913" algn="l"/>
                <a:tab pos="4689912" algn="l"/>
                <a:tab pos="5264244" algn="l"/>
                <a:tab pos="6717164" algn="l"/>
                <a:tab pos="7447827" algn="l"/>
              </a:tabLst>
            </a:pPr>
            <a:r>
              <a:rPr sz="2118" b="1" spc="-4" dirty="0">
                <a:solidFill>
                  <a:srgbClr val="231F20"/>
                </a:solidFill>
                <a:latin typeface="Tahoma"/>
                <a:cs typeface="Tahoma"/>
              </a:rPr>
              <a:t>D</a:t>
            </a:r>
            <a:r>
              <a:rPr sz="2118" b="1" dirty="0">
                <a:solidFill>
                  <a:srgbClr val="231F20"/>
                </a:solidFill>
                <a:latin typeface="Tahoma"/>
                <a:cs typeface="Tahoma"/>
              </a:rPr>
              <a:t>e</a:t>
            </a:r>
            <a:r>
              <a:rPr sz="2118" b="1" spc="-9" dirty="0">
                <a:solidFill>
                  <a:srgbClr val="231F20"/>
                </a:solidFill>
                <a:latin typeface="Tahoma"/>
                <a:cs typeface="Tahoma"/>
              </a:rPr>
              <a:t>c</a:t>
            </a:r>
            <a:r>
              <a:rPr sz="2118" b="1" dirty="0">
                <a:solidFill>
                  <a:srgbClr val="231F20"/>
                </a:solidFill>
                <a:latin typeface="Tahoma"/>
                <a:cs typeface="Tahoma"/>
              </a:rPr>
              <a:t>isi</a:t>
            </a:r>
            <a:r>
              <a:rPr sz="2118" b="1" spc="-4" dirty="0">
                <a:solidFill>
                  <a:srgbClr val="231F20"/>
                </a:solidFill>
                <a:latin typeface="Tahoma"/>
                <a:cs typeface="Tahoma"/>
              </a:rPr>
              <a:t>o</a:t>
            </a:r>
            <a:r>
              <a:rPr sz="2118" b="1" dirty="0">
                <a:solidFill>
                  <a:srgbClr val="231F20"/>
                </a:solidFill>
                <a:latin typeface="Tahoma"/>
                <a:cs typeface="Tahoma"/>
              </a:rPr>
              <a:t>n</a:t>
            </a:r>
            <a:r>
              <a:rPr sz="2118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2118" b="1" dirty="0">
                <a:solidFill>
                  <a:srgbClr val="231F20"/>
                </a:solidFill>
                <a:latin typeface="Tahoma"/>
                <a:cs typeface="Tahoma"/>
              </a:rPr>
              <a:t>Variab</a:t>
            </a:r>
            <a:r>
              <a:rPr sz="2118" b="1" spc="-9" dirty="0">
                <a:solidFill>
                  <a:srgbClr val="231F20"/>
                </a:solidFill>
                <a:latin typeface="Tahoma"/>
                <a:cs typeface="Tahoma"/>
              </a:rPr>
              <a:t>l</a:t>
            </a:r>
            <a:r>
              <a:rPr sz="2118" b="1" dirty="0">
                <a:solidFill>
                  <a:srgbClr val="231F20"/>
                </a:solidFill>
                <a:latin typeface="Tahoma"/>
                <a:cs typeface="Tahoma"/>
              </a:rPr>
              <a:t>e</a:t>
            </a:r>
            <a:r>
              <a:rPr sz="2118" b="1" spc="4" dirty="0">
                <a:solidFill>
                  <a:srgbClr val="231F20"/>
                </a:solidFill>
                <a:latin typeface="Tahoma"/>
                <a:cs typeface="Tahoma"/>
              </a:rPr>
              <a:t>s</a:t>
            </a:r>
            <a:r>
              <a:rPr sz="2118" b="1" dirty="0">
                <a:solidFill>
                  <a:srgbClr val="231F20"/>
                </a:solidFill>
                <a:latin typeface="Tahoma"/>
                <a:cs typeface="Tahoma"/>
              </a:rPr>
              <a:t>:</a:t>
            </a:r>
            <a:r>
              <a:rPr sz="2118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L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e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t</a:t>
            </a:r>
            <a:r>
              <a:rPr sz="2118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X</a:t>
            </a:r>
            <a:r>
              <a:rPr sz="2118" spc="-6" baseline="-20833" dirty="0">
                <a:solidFill>
                  <a:srgbClr val="231F20"/>
                </a:solidFill>
                <a:latin typeface="Tahoma"/>
                <a:cs typeface="Tahoma"/>
              </a:rPr>
              <a:t>j</a:t>
            </a:r>
            <a:r>
              <a:rPr sz="2118" baseline="-20833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2118" spc="-9" dirty="0">
                <a:solidFill>
                  <a:srgbClr val="231F20"/>
                </a:solidFill>
                <a:latin typeface="Tahoma"/>
                <a:cs typeface="Tahoma"/>
              </a:rPr>
              <a:t>b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e</a:t>
            </a:r>
            <a:r>
              <a:rPr sz="2118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t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he</a:t>
            </a:r>
            <a:r>
              <a:rPr sz="2118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p</a:t>
            </a:r>
            <a:r>
              <a:rPr sz="2118" spc="-22" dirty="0">
                <a:solidFill>
                  <a:srgbClr val="231F20"/>
                </a:solidFill>
                <a:latin typeface="Tahoma"/>
                <a:cs typeface="Tahoma"/>
              </a:rPr>
              <a:t>r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odu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cti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on</a:t>
            </a:r>
            <a:r>
              <a:rPr sz="2118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l</a:t>
            </a:r>
            <a:r>
              <a:rPr sz="2118" spc="-13" dirty="0">
                <a:solidFill>
                  <a:srgbClr val="231F20"/>
                </a:solidFill>
                <a:latin typeface="Tahoma"/>
                <a:cs typeface="Tahoma"/>
              </a:rPr>
              <a:t>e</a:t>
            </a:r>
            <a:r>
              <a:rPr sz="2118" spc="-18" dirty="0">
                <a:solidFill>
                  <a:srgbClr val="231F20"/>
                </a:solidFill>
                <a:latin typeface="Tahoma"/>
                <a:cs typeface="Tahoma"/>
              </a:rPr>
              <a:t>v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e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l</a:t>
            </a:r>
            <a:r>
              <a:rPr sz="2118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2118" spc="-22" dirty="0">
                <a:solidFill>
                  <a:srgbClr val="231F20"/>
                </a:solidFill>
                <a:latin typeface="Tahoma"/>
                <a:cs typeface="Tahoma"/>
              </a:rPr>
              <a:t>f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or </a:t>
            </a:r>
            <a:r>
              <a:rPr sz="2118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process</a:t>
            </a:r>
            <a:r>
              <a:rPr sz="2118" spc="-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j </a:t>
            </a:r>
            <a:r>
              <a:rPr sz="2118" spc="26" dirty="0">
                <a:solidFill>
                  <a:srgbClr val="231F20"/>
                </a:solidFill>
                <a:latin typeface="Tahoma"/>
                <a:cs typeface="Tahoma"/>
              </a:rPr>
              <a:t>(j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 =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1,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2,</a:t>
            </a:r>
            <a:r>
              <a:rPr sz="2118" spc="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3)</a:t>
            </a:r>
            <a:r>
              <a:rPr sz="2118" spc="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also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let</a:t>
            </a:r>
            <a:endParaRPr sz="2118" dirty="0">
              <a:latin typeface="Tahoma"/>
              <a:cs typeface="Tahoma"/>
            </a:endParaRPr>
          </a:p>
          <a:p>
            <a:pPr marL="1580114" lvl="1" indent="-303135">
              <a:buFont typeface="Wingdings"/>
              <a:buChar char=""/>
              <a:tabLst>
                <a:tab pos="1580114" algn="l"/>
                <a:tab pos="1580674" algn="l"/>
                <a:tab pos="2464305" algn="l"/>
              </a:tabLst>
            </a:pP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Y</a:t>
            </a:r>
            <a:r>
              <a:rPr sz="2118" spc="-6" baseline="-20833" dirty="0">
                <a:solidFill>
                  <a:srgbClr val="231F20"/>
                </a:solidFill>
                <a:latin typeface="Tahoma"/>
                <a:cs typeface="Tahoma"/>
              </a:rPr>
              <a:t>j</a:t>
            </a:r>
            <a:r>
              <a:rPr sz="2118" spc="331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= 1</a:t>
            </a:r>
            <a:r>
              <a:rPr sz="2118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if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 process</a:t>
            </a:r>
            <a:r>
              <a:rPr sz="2118" spc="-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j</a:t>
            </a:r>
            <a:r>
              <a:rPr sz="2118" spc="-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is</a:t>
            </a:r>
            <a:r>
              <a:rPr sz="2118" spc="-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used,</a:t>
            </a:r>
            <a:r>
              <a:rPr sz="2118" spc="-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and</a:t>
            </a:r>
            <a:endParaRPr sz="2118" dirty="0">
              <a:latin typeface="Tahoma"/>
              <a:cs typeface="Tahoma"/>
            </a:endParaRPr>
          </a:p>
          <a:p>
            <a:pPr marL="1580114" lvl="1" indent="-303135">
              <a:buFont typeface="Wingdings"/>
              <a:buChar char=""/>
              <a:tabLst>
                <a:tab pos="1580114" algn="l"/>
                <a:tab pos="1580674" algn="l"/>
              </a:tabLst>
            </a:pP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Y</a:t>
            </a:r>
            <a:r>
              <a:rPr sz="2118" spc="-6" baseline="-20833" dirty="0">
                <a:solidFill>
                  <a:srgbClr val="231F20"/>
                </a:solidFill>
                <a:latin typeface="Tahoma"/>
                <a:cs typeface="Tahoma"/>
              </a:rPr>
              <a:t>j</a:t>
            </a:r>
            <a:r>
              <a:rPr sz="2118" spc="317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=</a:t>
            </a:r>
            <a:r>
              <a:rPr sz="2118" spc="-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0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if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 process</a:t>
            </a:r>
            <a:r>
              <a:rPr sz="2118" spc="-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j</a:t>
            </a:r>
            <a:r>
              <a:rPr sz="2118" spc="-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is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not</a:t>
            </a:r>
            <a:r>
              <a:rPr sz="2118" spc="-22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used</a:t>
            </a:r>
            <a:endParaRPr sz="2118" dirty="0">
              <a:latin typeface="Tahoma"/>
              <a:cs typeface="Tahoma"/>
            </a:endParaRPr>
          </a:p>
          <a:p>
            <a:pPr marL="369814" indent="-302575">
              <a:lnSpc>
                <a:spcPts val="2541"/>
              </a:lnSpc>
              <a:buFont typeface="Wingdings"/>
              <a:buChar char=""/>
              <a:tabLst>
                <a:tab pos="369254" algn="l"/>
                <a:tab pos="369814" algn="l"/>
              </a:tabLst>
            </a:pPr>
            <a:r>
              <a:rPr sz="2118" b="1" spc="-4" dirty="0">
                <a:solidFill>
                  <a:srgbClr val="231F20"/>
                </a:solidFill>
                <a:latin typeface="Tahoma"/>
                <a:cs typeface="Tahoma"/>
              </a:rPr>
              <a:t>Objective</a:t>
            </a:r>
            <a:r>
              <a:rPr sz="2118" b="1" spc="-3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b="1" spc="-4" dirty="0">
                <a:solidFill>
                  <a:srgbClr val="231F20"/>
                </a:solidFill>
                <a:latin typeface="Tahoma"/>
                <a:cs typeface="Tahoma"/>
              </a:rPr>
              <a:t>Function:</a:t>
            </a:r>
            <a:endParaRPr sz="2118" dirty="0">
              <a:latin typeface="Tahoma"/>
              <a:cs typeface="Tahoma"/>
            </a:endParaRPr>
          </a:p>
          <a:p>
            <a:pPr marL="773247" lvl="1" indent="-303696">
              <a:lnSpc>
                <a:spcPts val="2330"/>
              </a:lnSpc>
              <a:buFont typeface="Wingdings"/>
              <a:buChar char=""/>
              <a:tabLst>
                <a:tab pos="773247" algn="l"/>
                <a:tab pos="773807" algn="l"/>
              </a:tabLst>
            </a:pPr>
            <a:r>
              <a:rPr sz="1941" spc="-4" dirty="0">
                <a:solidFill>
                  <a:srgbClr val="231F20"/>
                </a:solidFill>
                <a:latin typeface="Tahoma"/>
                <a:cs typeface="Tahoma"/>
              </a:rPr>
              <a:t>Minimize</a:t>
            </a:r>
            <a:r>
              <a:rPr sz="1941" spc="-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941" spc="-4" dirty="0">
                <a:solidFill>
                  <a:srgbClr val="231F20"/>
                </a:solidFill>
                <a:latin typeface="Tahoma"/>
                <a:cs typeface="Tahoma"/>
              </a:rPr>
              <a:t>Z</a:t>
            </a:r>
            <a:r>
              <a:rPr sz="1941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941" spc="-4" dirty="0">
                <a:solidFill>
                  <a:srgbClr val="231F20"/>
                </a:solidFill>
                <a:latin typeface="Tahoma"/>
                <a:cs typeface="Tahoma"/>
              </a:rPr>
              <a:t>= (15X</a:t>
            </a:r>
            <a:r>
              <a:rPr sz="1919" spc="-6" baseline="-21072" dirty="0">
                <a:solidFill>
                  <a:srgbClr val="231F20"/>
                </a:solidFill>
                <a:latin typeface="Tahoma"/>
                <a:cs typeface="Tahoma"/>
              </a:rPr>
              <a:t>1</a:t>
            </a:r>
            <a:r>
              <a:rPr sz="1919" spc="26" baseline="-21072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941" spc="-4" dirty="0">
                <a:solidFill>
                  <a:srgbClr val="231F20"/>
                </a:solidFill>
                <a:latin typeface="Tahoma"/>
                <a:cs typeface="Tahoma"/>
              </a:rPr>
              <a:t>+</a:t>
            </a:r>
            <a:r>
              <a:rPr sz="1941" spc="-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941" spc="-4" dirty="0">
                <a:solidFill>
                  <a:srgbClr val="231F20"/>
                </a:solidFill>
                <a:latin typeface="Tahoma"/>
                <a:cs typeface="Tahoma"/>
              </a:rPr>
              <a:t>10X</a:t>
            </a:r>
            <a:r>
              <a:rPr sz="1919" spc="-6" baseline="-21072" dirty="0">
                <a:solidFill>
                  <a:srgbClr val="231F20"/>
                </a:solidFill>
                <a:latin typeface="Tahoma"/>
                <a:cs typeface="Tahoma"/>
              </a:rPr>
              <a:t>2</a:t>
            </a:r>
            <a:r>
              <a:rPr sz="1919" spc="26" baseline="-21072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941" spc="-4" dirty="0">
                <a:solidFill>
                  <a:srgbClr val="231F20"/>
                </a:solidFill>
                <a:latin typeface="Tahoma"/>
                <a:cs typeface="Tahoma"/>
              </a:rPr>
              <a:t>+</a:t>
            </a:r>
            <a:r>
              <a:rPr sz="1941" spc="-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941" spc="-4" dirty="0">
                <a:solidFill>
                  <a:srgbClr val="231F20"/>
                </a:solidFill>
                <a:latin typeface="Tahoma"/>
                <a:cs typeface="Tahoma"/>
              </a:rPr>
              <a:t>8X</a:t>
            </a:r>
            <a:r>
              <a:rPr sz="1919" spc="-6" baseline="-21072" dirty="0">
                <a:solidFill>
                  <a:srgbClr val="231F20"/>
                </a:solidFill>
                <a:latin typeface="Tahoma"/>
                <a:cs typeface="Tahoma"/>
              </a:rPr>
              <a:t>3</a:t>
            </a:r>
            <a:r>
              <a:rPr sz="1941" spc="-4" dirty="0">
                <a:solidFill>
                  <a:srgbClr val="231F20"/>
                </a:solidFill>
                <a:latin typeface="Tahoma"/>
                <a:cs typeface="Tahoma"/>
              </a:rPr>
              <a:t>)</a:t>
            </a:r>
            <a:r>
              <a:rPr sz="1941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941" spc="-4" dirty="0">
                <a:solidFill>
                  <a:srgbClr val="231F20"/>
                </a:solidFill>
                <a:latin typeface="Tahoma"/>
                <a:cs typeface="Tahoma"/>
              </a:rPr>
              <a:t>+</a:t>
            </a:r>
            <a:r>
              <a:rPr sz="1941"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941" spc="-4" dirty="0">
                <a:solidFill>
                  <a:srgbClr val="231F20"/>
                </a:solidFill>
                <a:latin typeface="Tahoma"/>
                <a:cs typeface="Tahoma"/>
              </a:rPr>
              <a:t>(150Y</a:t>
            </a:r>
            <a:r>
              <a:rPr sz="1919" spc="-6" baseline="-21072" dirty="0">
                <a:solidFill>
                  <a:srgbClr val="231F20"/>
                </a:solidFill>
                <a:latin typeface="Tahoma"/>
                <a:cs typeface="Tahoma"/>
              </a:rPr>
              <a:t>1</a:t>
            </a:r>
            <a:r>
              <a:rPr sz="1919" spc="6" baseline="-21072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941" spc="-4" dirty="0">
                <a:solidFill>
                  <a:srgbClr val="231F20"/>
                </a:solidFill>
                <a:latin typeface="Tahoma"/>
                <a:cs typeface="Tahoma"/>
              </a:rPr>
              <a:t>+</a:t>
            </a:r>
            <a:r>
              <a:rPr sz="1941"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941" spc="-4" dirty="0">
                <a:solidFill>
                  <a:srgbClr val="231F20"/>
                </a:solidFill>
                <a:latin typeface="Tahoma"/>
                <a:cs typeface="Tahoma"/>
              </a:rPr>
              <a:t>240Y</a:t>
            </a:r>
            <a:r>
              <a:rPr sz="1919" spc="-6" baseline="-21072" dirty="0">
                <a:solidFill>
                  <a:srgbClr val="231F20"/>
                </a:solidFill>
                <a:latin typeface="Tahoma"/>
                <a:cs typeface="Tahoma"/>
              </a:rPr>
              <a:t>2</a:t>
            </a:r>
            <a:r>
              <a:rPr sz="1919" spc="6" baseline="-21072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941" spc="-4" dirty="0">
                <a:solidFill>
                  <a:srgbClr val="231F20"/>
                </a:solidFill>
                <a:latin typeface="Tahoma"/>
                <a:cs typeface="Tahoma"/>
              </a:rPr>
              <a:t>+</a:t>
            </a:r>
            <a:r>
              <a:rPr sz="1941" spc="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941" spc="-4" dirty="0">
                <a:solidFill>
                  <a:srgbClr val="231F20"/>
                </a:solidFill>
                <a:latin typeface="Tahoma"/>
                <a:cs typeface="Tahoma"/>
              </a:rPr>
              <a:t>300Y</a:t>
            </a:r>
            <a:r>
              <a:rPr sz="1919" spc="-6" baseline="-21072" dirty="0">
                <a:solidFill>
                  <a:srgbClr val="231F20"/>
                </a:solidFill>
                <a:latin typeface="Tahoma"/>
                <a:cs typeface="Tahoma"/>
              </a:rPr>
              <a:t>3</a:t>
            </a:r>
            <a:r>
              <a:rPr sz="1919" baseline="-21072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941" spc="-4" dirty="0">
                <a:solidFill>
                  <a:srgbClr val="231F20"/>
                </a:solidFill>
                <a:latin typeface="Tahoma"/>
                <a:cs typeface="Tahoma"/>
              </a:rPr>
              <a:t>)</a:t>
            </a:r>
            <a:endParaRPr sz="1941" dirty="0">
              <a:latin typeface="Tahoma"/>
              <a:cs typeface="Tahoma"/>
            </a:endParaRPr>
          </a:p>
          <a:p>
            <a:pPr marL="470672" algn="just">
              <a:spcBef>
                <a:spcPts val="1385"/>
              </a:spcBef>
            </a:pPr>
            <a:r>
              <a:rPr sz="2118" b="1" spc="-4" dirty="0">
                <a:solidFill>
                  <a:srgbClr val="231F20"/>
                </a:solidFill>
                <a:latin typeface="Tahoma"/>
                <a:cs typeface="Tahoma"/>
              </a:rPr>
              <a:t>Subject</a:t>
            </a:r>
            <a:r>
              <a:rPr sz="2118" b="1" spc="-4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b="1" spc="-4" dirty="0">
                <a:solidFill>
                  <a:srgbClr val="231F20"/>
                </a:solidFill>
                <a:latin typeface="Tahoma"/>
                <a:cs typeface="Tahoma"/>
              </a:rPr>
              <a:t>to:</a:t>
            </a:r>
            <a:endParaRPr sz="2118" dirty="0">
              <a:latin typeface="Tahoma"/>
              <a:cs typeface="Tahoma"/>
            </a:endParaRPr>
          </a:p>
          <a:p>
            <a:pPr marL="2084405" algn="just"/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X</a:t>
            </a:r>
            <a:r>
              <a:rPr sz="2118" spc="-6" baseline="-20833" dirty="0">
                <a:solidFill>
                  <a:srgbClr val="231F20"/>
                </a:solidFill>
                <a:latin typeface="Tahoma"/>
                <a:cs typeface="Tahoma"/>
              </a:rPr>
              <a:t>1</a:t>
            </a:r>
            <a:r>
              <a:rPr sz="2118" spc="297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+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 X</a:t>
            </a:r>
            <a:r>
              <a:rPr sz="2118" spc="-6" baseline="-20833" dirty="0">
                <a:solidFill>
                  <a:srgbClr val="231F20"/>
                </a:solidFill>
                <a:latin typeface="Tahoma"/>
                <a:cs typeface="Tahoma"/>
              </a:rPr>
              <a:t>2</a:t>
            </a:r>
            <a:r>
              <a:rPr sz="2118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+</a:t>
            </a:r>
            <a:r>
              <a:rPr sz="2118" spc="-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X</a:t>
            </a:r>
            <a:r>
              <a:rPr sz="2118" spc="-6" baseline="-20833" dirty="0">
                <a:solidFill>
                  <a:srgbClr val="231F20"/>
                </a:solidFill>
                <a:latin typeface="Tahoma"/>
                <a:cs typeface="Tahoma"/>
              </a:rPr>
              <a:t>3</a:t>
            </a:r>
            <a:r>
              <a:rPr sz="2118" spc="-13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=</a:t>
            </a:r>
            <a:r>
              <a:rPr sz="2118" spc="-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4000</a:t>
            </a:r>
            <a:r>
              <a:rPr sz="2118"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(Daily</a:t>
            </a:r>
            <a:r>
              <a:rPr sz="2118"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Diamond)</a:t>
            </a:r>
            <a:endParaRPr sz="2118" dirty="0">
              <a:latin typeface="Tahoma"/>
              <a:cs typeface="Tahoma"/>
            </a:endParaRPr>
          </a:p>
          <a:p>
            <a:pPr marL="2084405" marR="382701" algn="just"/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X</a:t>
            </a:r>
            <a:r>
              <a:rPr sz="2118" spc="-6" baseline="-20833" dirty="0">
                <a:solidFill>
                  <a:srgbClr val="231F20"/>
                </a:solidFill>
                <a:latin typeface="Tahoma"/>
                <a:cs typeface="Tahoma"/>
              </a:rPr>
              <a:t>1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–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2000Y</a:t>
            </a:r>
            <a:r>
              <a:rPr sz="2118" spc="-6" baseline="-20833" dirty="0">
                <a:solidFill>
                  <a:srgbClr val="231F20"/>
                </a:solidFill>
                <a:latin typeface="Tahoma"/>
                <a:cs typeface="Tahoma"/>
              </a:rPr>
              <a:t>1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≤ 0 (Daily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Capacity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of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Process-1) </a:t>
            </a:r>
            <a:endParaRPr lang="en-US" sz="2118" spc="-4" dirty="0">
              <a:solidFill>
                <a:srgbClr val="231F20"/>
              </a:solidFill>
              <a:latin typeface="Tahoma"/>
              <a:cs typeface="Tahoma"/>
            </a:endParaRPr>
          </a:p>
          <a:p>
            <a:pPr marL="2084405" marR="382701" algn="just"/>
            <a:r>
              <a:rPr sz="2118" spc="-64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X</a:t>
            </a:r>
            <a:r>
              <a:rPr sz="2118" spc="-6" baseline="-20833" dirty="0">
                <a:solidFill>
                  <a:srgbClr val="231F20"/>
                </a:solidFill>
                <a:latin typeface="Tahoma"/>
                <a:cs typeface="Tahoma"/>
              </a:rPr>
              <a:t>2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–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3000Y</a:t>
            </a:r>
            <a:r>
              <a:rPr sz="2118" spc="-6" baseline="-20833" dirty="0">
                <a:solidFill>
                  <a:srgbClr val="231F20"/>
                </a:solidFill>
                <a:latin typeface="Tahoma"/>
                <a:cs typeface="Tahoma"/>
              </a:rPr>
              <a:t>2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≤ 0 (Daily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Capacity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of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Process-2) </a:t>
            </a:r>
            <a:r>
              <a:rPr sz="2118" spc="-64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endParaRPr lang="en-US" sz="2118" spc="-649" dirty="0">
              <a:solidFill>
                <a:srgbClr val="231F20"/>
              </a:solidFill>
              <a:latin typeface="Tahoma"/>
              <a:cs typeface="Tahoma"/>
            </a:endParaRPr>
          </a:p>
          <a:p>
            <a:pPr marL="2084405" marR="382701" algn="just"/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X</a:t>
            </a:r>
            <a:r>
              <a:rPr sz="2118" spc="-6" baseline="-20833" dirty="0">
                <a:solidFill>
                  <a:srgbClr val="231F20"/>
                </a:solidFill>
                <a:latin typeface="Tahoma"/>
                <a:cs typeface="Tahoma"/>
              </a:rPr>
              <a:t>3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–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3500Y</a:t>
            </a:r>
            <a:r>
              <a:rPr sz="2118" spc="-6" baseline="-20833" dirty="0">
                <a:solidFill>
                  <a:srgbClr val="231F20"/>
                </a:solidFill>
                <a:latin typeface="Tahoma"/>
                <a:cs typeface="Tahoma"/>
              </a:rPr>
              <a:t>3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≤ 0 (Daily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Capacity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of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Process-3) </a:t>
            </a:r>
            <a:r>
              <a:rPr sz="2118" spc="-64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endParaRPr lang="en-US" sz="2118" spc="-649" dirty="0">
              <a:solidFill>
                <a:srgbClr val="231F20"/>
              </a:solidFill>
              <a:latin typeface="Tahoma"/>
              <a:cs typeface="Tahoma"/>
            </a:endParaRPr>
          </a:p>
          <a:p>
            <a:pPr marL="2084405" marR="382701" algn="just"/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With</a:t>
            </a:r>
            <a:r>
              <a:rPr sz="2118" spc="-1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X</a:t>
            </a:r>
            <a:r>
              <a:rPr sz="2118" spc="-6" baseline="-20833" dirty="0">
                <a:solidFill>
                  <a:srgbClr val="231F20"/>
                </a:solidFill>
                <a:latin typeface="Tahoma"/>
                <a:cs typeface="Tahoma"/>
              </a:rPr>
              <a:t>1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,</a:t>
            </a:r>
            <a:r>
              <a:rPr sz="2118" spc="-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X</a:t>
            </a:r>
            <a:r>
              <a:rPr sz="2118" spc="-6" baseline="-20833" dirty="0">
                <a:solidFill>
                  <a:srgbClr val="231F20"/>
                </a:solidFill>
                <a:latin typeface="Tahoma"/>
                <a:cs typeface="Tahoma"/>
              </a:rPr>
              <a:t>2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,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X</a:t>
            </a:r>
            <a:r>
              <a:rPr sz="2118" spc="-6" baseline="-20833" dirty="0">
                <a:solidFill>
                  <a:srgbClr val="231F20"/>
                </a:solidFill>
                <a:latin typeface="Tahoma"/>
                <a:cs typeface="Tahoma"/>
              </a:rPr>
              <a:t>3</a:t>
            </a:r>
            <a:r>
              <a:rPr sz="2118" spc="-13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≥</a:t>
            </a:r>
            <a:r>
              <a:rPr sz="2118" spc="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0;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Y</a:t>
            </a:r>
            <a:r>
              <a:rPr sz="2118" spc="-6" baseline="-20833" dirty="0">
                <a:solidFill>
                  <a:srgbClr val="231F20"/>
                </a:solidFill>
                <a:latin typeface="Tahoma"/>
                <a:cs typeface="Tahoma"/>
              </a:rPr>
              <a:t>j</a:t>
            </a:r>
            <a:r>
              <a:rPr sz="2118" spc="337" baseline="-2083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= 0 or</a:t>
            </a:r>
            <a:r>
              <a:rPr sz="2118" spc="-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1, j=</a:t>
            </a:r>
            <a:r>
              <a:rPr sz="2118"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2118" spc="-4" dirty="0">
                <a:solidFill>
                  <a:srgbClr val="231F20"/>
                </a:solidFill>
                <a:latin typeface="Tahoma"/>
                <a:cs typeface="Tahoma"/>
              </a:rPr>
              <a:t>1, 2,</a:t>
            </a:r>
            <a:r>
              <a:rPr sz="2118" dirty="0">
                <a:solidFill>
                  <a:srgbClr val="231F20"/>
                </a:solidFill>
                <a:latin typeface="Tahoma"/>
                <a:cs typeface="Tahoma"/>
              </a:rPr>
              <a:t> 3</a:t>
            </a:r>
            <a:endParaRPr sz="2118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76930" y="406610"/>
            <a:ext cx="8473478" cy="1097201"/>
          </a:xfrm>
          <a:prstGeom prst="rect">
            <a:avLst/>
          </a:prstGeom>
        </p:spPr>
        <p:txBody>
          <a:bodyPr vert="horz" wrap="square" lIns="0" tIns="10646" rIns="0" bIns="0" rtlCol="0" anchor="t">
            <a:spAutoFit/>
          </a:bodyPr>
          <a:lstStyle/>
          <a:p>
            <a:pPr marL="1805924" marR="4483" algn="r">
              <a:lnSpc>
                <a:spcPct val="100000"/>
              </a:lnSpc>
              <a:spcBef>
                <a:spcPts val="84"/>
              </a:spcBef>
            </a:pPr>
            <a:r>
              <a:rPr sz="3530" spc="-4" dirty="0"/>
              <a:t>INTEGER</a:t>
            </a:r>
            <a:r>
              <a:rPr sz="3530" spc="-79" dirty="0"/>
              <a:t> </a:t>
            </a:r>
            <a:r>
              <a:rPr sz="3530" spc="-4" dirty="0"/>
              <a:t>PROGRAMMING:</a:t>
            </a:r>
            <a:endParaRPr sz="3530" dirty="0"/>
          </a:p>
          <a:p>
            <a:pPr marL="1805924" marR="4483" algn="r">
              <a:lnSpc>
                <a:spcPct val="100000"/>
              </a:lnSpc>
            </a:pPr>
            <a:r>
              <a:rPr sz="3530" spc="-4" dirty="0"/>
              <a:t>FORMULATION</a:t>
            </a:r>
            <a:endParaRPr sz="3530" dirty="0"/>
          </a:p>
        </p:txBody>
      </p:sp>
      <p:sp>
        <p:nvSpPr>
          <p:cNvPr id="3" name="object 3"/>
          <p:cNvSpPr txBox="1"/>
          <p:nvPr/>
        </p:nvSpPr>
        <p:spPr>
          <a:xfrm>
            <a:off x="873940" y="1863583"/>
            <a:ext cx="10082675" cy="13693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13781" indent="-302575" algn="just">
              <a:spcBef>
                <a:spcPts val="88"/>
              </a:spcBef>
              <a:buFont typeface="Wingdings"/>
              <a:buChar char=""/>
              <a:tabLst>
                <a:tab pos="313781" algn="l"/>
              </a:tabLst>
            </a:pPr>
            <a:r>
              <a:rPr sz="1765" b="1" dirty="0">
                <a:solidFill>
                  <a:srgbClr val="231F20"/>
                </a:solidFill>
                <a:latin typeface="Tahoma"/>
                <a:cs typeface="Tahoma"/>
              </a:rPr>
              <a:t>Zero–One</a:t>
            </a:r>
            <a:r>
              <a:rPr sz="1765" b="1" spc="-4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b="1" dirty="0">
                <a:solidFill>
                  <a:srgbClr val="231F20"/>
                </a:solidFill>
                <a:latin typeface="Tahoma"/>
                <a:cs typeface="Tahoma"/>
              </a:rPr>
              <a:t>ILP</a:t>
            </a:r>
            <a:r>
              <a:rPr sz="1765" b="1" spc="-4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b="1" dirty="0">
                <a:solidFill>
                  <a:srgbClr val="231F20"/>
                </a:solidFill>
                <a:latin typeface="Tahoma"/>
                <a:cs typeface="Tahoma"/>
              </a:rPr>
              <a:t>Problem:</a:t>
            </a:r>
            <a:endParaRPr sz="1765" dirty="0">
              <a:latin typeface="Tahoma"/>
              <a:cs typeface="Tahoma"/>
            </a:endParaRPr>
          </a:p>
          <a:p>
            <a:pPr marL="11206" marR="4483" algn="just"/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A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real estate </a:t>
            </a:r>
            <a:r>
              <a:rPr sz="1765" spc="-9" dirty="0">
                <a:solidFill>
                  <a:srgbClr val="231F20"/>
                </a:solidFill>
                <a:latin typeface="Tahoma"/>
                <a:cs typeface="Tahoma"/>
              </a:rPr>
              <a:t>development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firm, </a:t>
            </a:r>
            <a:r>
              <a:rPr sz="1765" spc="-9" dirty="0">
                <a:solidFill>
                  <a:srgbClr val="231F20"/>
                </a:solidFill>
                <a:latin typeface="Tahoma"/>
                <a:cs typeface="Tahoma"/>
              </a:rPr>
              <a:t>Peterson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and Johnson, is considering five 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possible development projects. 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The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following table shows the estimated long- </a:t>
            </a:r>
            <a:r>
              <a:rPr sz="1765" spc="-53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run</a:t>
            </a:r>
            <a:r>
              <a:rPr sz="1765" spc="23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profit</a:t>
            </a:r>
            <a:r>
              <a:rPr sz="1765" spc="247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(net</a:t>
            </a:r>
            <a:r>
              <a:rPr sz="1765" spc="24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present</a:t>
            </a:r>
            <a:r>
              <a:rPr sz="1765" spc="247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spc="-13" dirty="0">
                <a:solidFill>
                  <a:srgbClr val="231F20"/>
                </a:solidFill>
                <a:latin typeface="Tahoma"/>
                <a:cs typeface="Tahoma"/>
              </a:rPr>
              <a:t>value)</a:t>
            </a:r>
            <a:r>
              <a:rPr sz="1765" spc="251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that</a:t>
            </a:r>
            <a:r>
              <a:rPr sz="1765" spc="23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each</a:t>
            </a:r>
            <a:r>
              <a:rPr sz="1765" spc="23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project</a:t>
            </a:r>
            <a:r>
              <a:rPr sz="1765" spc="247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would</a:t>
            </a:r>
            <a:r>
              <a:rPr sz="1765" spc="24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spc="-9" dirty="0">
                <a:solidFill>
                  <a:srgbClr val="231F20"/>
                </a:solidFill>
                <a:latin typeface="Tahoma"/>
                <a:cs typeface="Tahoma"/>
              </a:rPr>
              <a:t>generate,</a:t>
            </a:r>
            <a:r>
              <a:rPr sz="1765" spc="24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as</a:t>
            </a:r>
            <a:r>
              <a:rPr sz="1765" spc="251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well</a:t>
            </a:r>
            <a:r>
              <a:rPr sz="1765" spc="24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as </a:t>
            </a:r>
            <a:r>
              <a:rPr sz="1765" spc="-54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the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amount 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of </a:t>
            </a:r>
            <a:r>
              <a:rPr sz="1765" spc="-9" dirty="0">
                <a:solidFill>
                  <a:srgbClr val="231F20"/>
                </a:solidFill>
                <a:latin typeface="Tahoma"/>
                <a:cs typeface="Tahoma"/>
              </a:rPr>
              <a:t>investment required 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to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undertake the project, in units 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of </a:t>
            </a:r>
            <a:r>
              <a:rPr sz="1765"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millions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 of</a:t>
            </a:r>
            <a:r>
              <a:rPr sz="1765" spc="-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765" dirty="0">
                <a:solidFill>
                  <a:srgbClr val="231F20"/>
                </a:solidFill>
                <a:latin typeface="Tahoma"/>
                <a:cs typeface="Tahoma"/>
              </a:rPr>
              <a:t>dollars.</a:t>
            </a:r>
            <a:endParaRPr sz="1765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9203" y="4994417"/>
            <a:ext cx="10398266" cy="98876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 indent="-560" algn="just">
              <a:spcBef>
                <a:spcPts val="88"/>
              </a:spcBef>
            </a:pP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The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owners of the firm, Dave </a:t>
            </a:r>
            <a:r>
              <a:rPr sz="1588" spc="-9" dirty="0">
                <a:solidFill>
                  <a:srgbClr val="231F20"/>
                </a:solidFill>
                <a:latin typeface="Tahoma"/>
                <a:cs typeface="Tahoma"/>
              </a:rPr>
              <a:t>Peterson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and </a:t>
            </a:r>
            <a:r>
              <a:rPr sz="1588" spc="-18" dirty="0">
                <a:solidFill>
                  <a:srgbClr val="231F20"/>
                </a:solidFill>
                <a:latin typeface="Tahoma"/>
                <a:cs typeface="Tahoma"/>
              </a:rPr>
              <a:t>Ron </a:t>
            </a:r>
            <a:r>
              <a:rPr sz="1588" spc="-9" dirty="0">
                <a:solidFill>
                  <a:srgbClr val="231F20"/>
                </a:solidFill>
                <a:latin typeface="Tahoma"/>
                <a:cs typeface="Tahoma"/>
              </a:rPr>
              <a:t>Johnson, have raised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$20 million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of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investment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capital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for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these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projects.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Dave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 and</a:t>
            </a:r>
            <a:r>
              <a:rPr sz="1588"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13" dirty="0">
                <a:solidFill>
                  <a:srgbClr val="231F20"/>
                </a:solidFill>
                <a:latin typeface="Tahoma"/>
                <a:cs typeface="Tahoma"/>
              </a:rPr>
              <a:t>Ron</a:t>
            </a:r>
            <a:r>
              <a:rPr sz="1588" spc="-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now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want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to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select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the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combination of projects that will maximize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their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total estimated long-run profit (net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present </a:t>
            </a:r>
            <a:r>
              <a:rPr sz="1588" spc="-9" dirty="0">
                <a:solidFill>
                  <a:srgbClr val="231F20"/>
                </a:solidFill>
                <a:latin typeface="Tahoma"/>
                <a:cs typeface="Tahoma"/>
              </a:rPr>
              <a:t>value)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without </a:t>
            </a:r>
            <a:r>
              <a:rPr sz="1588" spc="-9" dirty="0">
                <a:solidFill>
                  <a:srgbClr val="231F20"/>
                </a:solidFill>
                <a:latin typeface="Tahoma"/>
                <a:cs typeface="Tahoma"/>
              </a:rPr>
              <a:t>investing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more that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$20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million. </a:t>
            </a:r>
            <a:r>
              <a:rPr sz="1588" spc="-9" dirty="0">
                <a:solidFill>
                  <a:srgbClr val="231F20"/>
                </a:solidFill>
                <a:latin typeface="Tahoma"/>
                <a:cs typeface="Tahoma"/>
              </a:rPr>
              <a:t>Formulate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a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Binary Integer 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9" dirty="0">
                <a:solidFill>
                  <a:srgbClr val="231F20"/>
                </a:solidFill>
                <a:latin typeface="Tahoma"/>
                <a:cs typeface="Tahoma"/>
              </a:rPr>
              <a:t>Programming</a:t>
            </a:r>
            <a:r>
              <a:rPr sz="1588"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(0–1)</a:t>
            </a:r>
            <a:r>
              <a:rPr sz="1588" spc="9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model</a:t>
            </a:r>
            <a:r>
              <a:rPr sz="1588" spc="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for</a:t>
            </a:r>
            <a:r>
              <a:rPr sz="1588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this</a:t>
            </a:r>
            <a:r>
              <a:rPr sz="1588" spc="-13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588" spc="-4" dirty="0">
                <a:solidFill>
                  <a:srgbClr val="231F20"/>
                </a:solidFill>
                <a:latin typeface="Tahoma"/>
                <a:cs typeface="Tahoma"/>
              </a:rPr>
              <a:t>problem.</a:t>
            </a:r>
            <a:endParaRPr sz="1588" dirty="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0911" y="3424779"/>
            <a:ext cx="8909330" cy="156963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846562" y="6891552"/>
            <a:ext cx="243840" cy="209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9A9D9F"/>
                </a:solidFill>
                <a:latin typeface="Tahoma"/>
                <a:ea typeface="+mn-ea"/>
                <a:cs typeface="Tahom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1285">
              <a:spcBef>
                <a:spcPts val="100"/>
              </a:spcBef>
            </a:pPr>
            <a:fld id="{81D60167-4931-47E6-BA6A-407CBD079E47}" type="slidenum">
              <a:rPr lang="en-IN" smtClean="0"/>
              <a:pPr marL="121285">
                <a:spcBef>
                  <a:spcPts val="100"/>
                </a:spcBef>
              </a:pPr>
              <a:t>11</a:t>
            </a:fld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39276" y="709870"/>
            <a:ext cx="8473478" cy="1097201"/>
          </a:xfrm>
          <a:prstGeom prst="rect">
            <a:avLst/>
          </a:prstGeom>
        </p:spPr>
        <p:txBody>
          <a:bodyPr vert="horz" wrap="square" lIns="0" tIns="10646" rIns="0" bIns="0" rtlCol="0" anchor="t">
            <a:spAutoFit/>
          </a:bodyPr>
          <a:lstStyle/>
          <a:p>
            <a:pPr marL="1805924" marR="4483" algn="r">
              <a:lnSpc>
                <a:spcPct val="100000"/>
              </a:lnSpc>
              <a:spcBef>
                <a:spcPts val="84"/>
              </a:spcBef>
            </a:pPr>
            <a:r>
              <a:rPr sz="3530" spc="-4" dirty="0"/>
              <a:t>INTEGER</a:t>
            </a:r>
            <a:r>
              <a:rPr sz="3530" spc="-79" dirty="0"/>
              <a:t> </a:t>
            </a:r>
            <a:r>
              <a:rPr sz="3530" spc="-4" dirty="0"/>
              <a:t>PROGRAMMING:</a:t>
            </a:r>
            <a:endParaRPr sz="3530"/>
          </a:p>
          <a:p>
            <a:pPr marL="1805924" marR="4483" algn="r">
              <a:lnSpc>
                <a:spcPct val="100000"/>
              </a:lnSpc>
            </a:pPr>
            <a:r>
              <a:rPr sz="3530" spc="-4" dirty="0"/>
              <a:t>FORMULATION</a:t>
            </a:r>
            <a:endParaRPr sz="353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4457" y="1871761"/>
            <a:ext cx="7841574" cy="417071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846562" y="6891552"/>
            <a:ext cx="243840" cy="209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9A9D9F"/>
                </a:solidFill>
                <a:latin typeface="Tahoma"/>
                <a:ea typeface="+mn-ea"/>
                <a:cs typeface="Tahom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1285">
              <a:spcBef>
                <a:spcPts val="100"/>
              </a:spcBef>
            </a:pPr>
            <a:fld id="{81D60167-4931-47E6-BA6A-407CBD079E47}" type="slidenum">
              <a:rPr lang="en-IN" smtClean="0"/>
              <a:pPr marL="121285">
                <a:spcBef>
                  <a:spcPts val="100"/>
                </a:spcBef>
              </a:pPr>
              <a:t>12</a:t>
            </a:fld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3"/>
          <p:cNvSpPr/>
          <p:nvPr/>
        </p:nvSpPr>
        <p:spPr>
          <a:xfrm>
            <a:off x="3390480" y="94680"/>
            <a:ext cx="5410440" cy="411840"/>
          </a:xfrm>
          <a:prstGeom prst="roundRect">
            <a:avLst>
              <a:gd name="adj" fmla="val 16667"/>
            </a:avLst>
          </a:prstGeom>
          <a:solidFill>
            <a:srgbClr val="BA2532"/>
          </a:solidFill>
          <a:ln>
            <a:noFill/>
          </a:ln>
          <a:effectLst>
            <a:outerShdw blurRad="50800" dist="37674" dir="2700000" algn="tl" rotWithShape="0">
              <a:srgbClr val="BA2532">
                <a:alpha val="40000"/>
              </a:srgbClr>
            </a:outerShdw>
          </a:effectLst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SELF-ASSESSMENT QUESTIONS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43"/>
          <p:cNvSpPr/>
          <p:nvPr/>
        </p:nvSpPr>
        <p:spPr>
          <a:xfrm>
            <a:off x="666000" y="625320"/>
            <a:ext cx="10171800" cy="709920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alibri"/>
                <a:ea typeface="Arial"/>
                <a:cs typeface="Calibri"/>
                <a:sym typeface="Calibri"/>
              </a:rPr>
              <a:t>Pure ILP can have </a:t>
            </a:r>
            <a:endParaRPr sz="24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43"/>
          <p:cNvSpPr/>
          <p:nvPr/>
        </p:nvSpPr>
        <p:spPr>
          <a:xfrm>
            <a:off x="963360" y="1453680"/>
            <a:ext cx="10049900" cy="1553471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3864B3"/>
              </a:gs>
              <a:gs pos="100000">
                <a:srgbClr val="2C4F8C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7674" dir="2700000" algn="tl" rotWithShape="0">
              <a:srgbClr val="BA2532">
                <a:alpha val="40000"/>
              </a:srgbClr>
            </a:outerShdw>
          </a:effectLst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/>
            <a:r>
              <a:rPr lang="en-US" sz="20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A)All the decision variables has to</a:t>
            </a:r>
            <a:r>
              <a:rPr lang="en-US" sz="2000" spc="1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lang="en-US" sz="2000" spc="-10" dirty="0">
                <a:solidFill>
                  <a:srgbClr val="231F20"/>
                </a:solidFill>
                <a:latin typeface="Tahoma"/>
                <a:cs typeface="Tahoma"/>
              </a:rPr>
              <a:t>have </a:t>
            </a:r>
            <a:r>
              <a:rPr lang="en-US" sz="2000" spc="-5" dirty="0">
                <a:solidFill>
                  <a:srgbClr val="231F20"/>
                </a:solidFill>
                <a:latin typeface="Tahoma"/>
                <a:cs typeface="Tahoma"/>
              </a:rPr>
              <a:t>integer</a:t>
            </a:r>
            <a:r>
              <a:rPr lang="en-US" sz="2000" spc="-1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lang="en-US" sz="2000" dirty="0">
                <a:solidFill>
                  <a:srgbClr val="231F20"/>
                </a:solidFill>
                <a:latin typeface="Tahoma"/>
                <a:cs typeface="Tahoma"/>
              </a:rPr>
              <a:t>solutions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US" sz="20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B) </a:t>
            </a:r>
            <a:r>
              <a:rPr lang="en-US" sz="2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 least one decision variables</a:t>
            </a:r>
            <a:r>
              <a:rPr lang="en-US" sz="2000" spc="1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lang="en-US" sz="2000" spc="-10" dirty="0">
                <a:solidFill>
                  <a:srgbClr val="231F20"/>
                </a:solidFill>
                <a:latin typeface="Tahoma"/>
                <a:cs typeface="Tahoma"/>
              </a:rPr>
              <a:t>has to have </a:t>
            </a:r>
            <a:r>
              <a:rPr lang="en-US" sz="2000" spc="-5" dirty="0">
                <a:solidFill>
                  <a:srgbClr val="231F20"/>
                </a:solidFill>
                <a:latin typeface="Tahoma"/>
                <a:cs typeface="Tahoma"/>
              </a:rPr>
              <a:t>integer</a:t>
            </a:r>
            <a:r>
              <a:rPr lang="en-US" sz="2000" spc="-1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lang="en-US" sz="2000" dirty="0">
                <a:solidFill>
                  <a:srgbClr val="231F20"/>
                </a:solidFill>
                <a:latin typeface="Tahoma"/>
                <a:cs typeface="Tahoma"/>
              </a:rPr>
              <a:t>solutions</a:t>
            </a:r>
            <a:endParaRPr lang="en-US" sz="20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/>
            <a:r>
              <a:rPr lang="en-US" sz="2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20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lang="en-US" sz="2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Both</a:t>
            </a:r>
          </a:p>
          <a:p>
            <a:pPr lvl="0"/>
            <a:r>
              <a:rPr lang="en-US" sz="2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20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) none of the above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43"/>
          <p:cNvSpPr/>
          <p:nvPr/>
        </p:nvSpPr>
        <p:spPr>
          <a:xfrm>
            <a:off x="666000" y="3543840"/>
            <a:ext cx="10171800" cy="709920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Types of ILP are </a:t>
            </a:r>
            <a:endParaRPr sz="24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43"/>
          <p:cNvSpPr/>
          <p:nvPr/>
        </p:nvSpPr>
        <p:spPr>
          <a:xfrm>
            <a:off x="850320" y="4501440"/>
            <a:ext cx="4456972" cy="1305471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3864B3"/>
              </a:gs>
              <a:gs pos="100000">
                <a:srgbClr val="2C4F8C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7674" dir="2700000" algn="tl" rotWithShape="0">
              <a:srgbClr val="BA2532">
                <a:alpha val="40000"/>
              </a:srgbClr>
            </a:outerShdw>
          </a:effectLst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lphaUcPeriod"/>
            </a:pPr>
            <a:r>
              <a:rPr lang="en-US" sz="2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Pure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lphaUcPeriod"/>
            </a:pPr>
            <a:r>
              <a:rPr lang="en-US" sz="2000" dirty="0">
                <a:solidFill>
                  <a:srgbClr val="FFFFFF"/>
                </a:solidFill>
                <a:latin typeface="Calibri"/>
                <a:ea typeface="Arial"/>
                <a:cs typeface="Calibri"/>
                <a:sym typeface="Calibri"/>
              </a:rPr>
              <a:t>Mixed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lphaUcPeriod"/>
            </a:pPr>
            <a:r>
              <a:rPr lang="en-US" sz="2000" dirty="0">
                <a:solidFill>
                  <a:srgbClr val="FFFFFF"/>
                </a:solidFill>
                <a:latin typeface="Calibri"/>
                <a:ea typeface="Arial"/>
                <a:cs typeface="Calibri"/>
                <a:sym typeface="Calibri"/>
              </a:rPr>
              <a:t>0-1 </a:t>
            </a:r>
            <a:endParaRPr lang="en-US" sz="2000" b="0" i="0" u="none" strike="noStrike" cap="none" dirty="0">
              <a:solidFill>
                <a:srgbClr val="FFFFFF"/>
              </a:solidFill>
              <a:latin typeface="Calibri"/>
              <a:ea typeface="Arial"/>
              <a:cs typeface="Calibri"/>
              <a:sym typeface="Calibri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lphaUcPeriod"/>
            </a:pPr>
            <a:r>
              <a:rPr lang="en-US" sz="2000">
                <a:solidFill>
                  <a:srgbClr val="FFFFFF"/>
                </a:solidFill>
                <a:latin typeface="Calibri"/>
                <a:ea typeface="Arial"/>
                <a:cs typeface="Calibri"/>
                <a:sym typeface="Calibri"/>
              </a:rPr>
              <a:t>All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3" name="Google Shape;303;p43" descr="KL Deemed to be University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990440" cy="59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43"/>
          <p:cNvPicPr preferRelativeResize="0"/>
          <p:nvPr/>
        </p:nvPicPr>
        <p:blipFill rotWithShape="1">
          <a:blip r:embed="rId4">
            <a:alphaModFix/>
          </a:blip>
          <a:srcRect l="11087" t="90948" r="8738" b="2224"/>
          <a:stretch/>
        </p:blipFill>
        <p:spPr>
          <a:xfrm>
            <a:off x="686425" y="6334750"/>
            <a:ext cx="10923300" cy="5232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B3A1CCD3-B17E-3389-6D43-8922D19E7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90490" y="6291139"/>
            <a:ext cx="811019" cy="503578"/>
          </a:xfrm>
        </p:spPr>
        <p:txBody>
          <a:bodyPr/>
          <a:lstStyle/>
          <a:p>
            <a:fld id="{CBABCCC1-BF11-4F37-963E-1BCD5B23FD72}" type="slidenum">
              <a:rPr lang="en-IN" smtClean="0"/>
              <a:t>13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 Template.potx" id="{A4A573FA-5023-4A60-BA15-556917C382C0}" vid="{FAB5C421-D54E-4084-8823-8DA30F368A7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branch and bound</Template>
  <TotalTime>32</TotalTime>
  <Words>1278</Words>
  <Application>Microsoft Office PowerPoint</Application>
  <PresentationFormat>Widescreen</PresentationFormat>
  <Paragraphs>134</Paragraphs>
  <Slides>13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Gallery</vt:lpstr>
      <vt:lpstr>mathematical optimization </vt:lpstr>
      <vt:lpstr>PowerPoint Presentation</vt:lpstr>
      <vt:lpstr>INTEGER PROGRAMMING:  AN INTRODUCTION</vt:lpstr>
      <vt:lpstr>TYPES OF INTEGER PROGRAMMING PROBLEMS</vt:lpstr>
      <vt:lpstr>INTEGER PROGRAMMING: FORMULATION</vt:lpstr>
      <vt:lpstr>INTEGER PROGRAMMING: FORMULATION</vt:lpstr>
      <vt:lpstr>INTEGER PROGRAMMING: FORMULATION</vt:lpstr>
      <vt:lpstr>INTEGER PROGRAMMING: FORMULATION</vt:lpstr>
      <vt:lpstr>INTEGER PROGRAMMING: FORMULATION</vt:lpstr>
      <vt:lpstr>INTEGER PROGRAMMING: FORMULATION</vt:lpstr>
      <vt:lpstr>INTEGER PROGRAMMING: FORMULATION</vt:lpstr>
      <vt:lpstr>INTEGER PROGRAMMING: FORMULATION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mathematical PROGRAMMING</dc:title>
  <dc:creator>Imunganbi Sanasam</dc:creator>
  <cp:lastModifiedBy>V V Sivaramaraju</cp:lastModifiedBy>
  <cp:revision>11</cp:revision>
  <dcterms:created xsi:type="dcterms:W3CDTF">2023-05-10T05:51:59Z</dcterms:created>
  <dcterms:modified xsi:type="dcterms:W3CDTF">2025-08-06T11:03:09Z</dcterms:modified>
</cp:coreProperties>
</file>