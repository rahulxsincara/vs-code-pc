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60" r:id="rId1"/>
  </p:sldMasterIdLst>
  <p:notesMasterIdLst>
    <p:notesMasterId r:id="rId13"/>
  </p:notesMasterIdLst>
  <p:handoutMasterIdLst>
    <p:handoutMasterId r:id="rId14"/>
  </p:handoutMasterIdLst>
  <p:sldIdLst>
    <p:sldId id="256" r:id="rId2"/>
    <p:sldId id="300" r:id="rId3"/>
    <p:sldId id="304" r:id="rId4"/>
    <p:sldId id="305" r:id="rId5"/>
    <p:sldId id="306" r:id="rId6"/>
    <p:sldId id="307" r:id="rId7"/>
    <p:sldId id="308" r:id="rId8"/>
    <p:sldId id="309" r:id="rId9"/>
    <p:sldId id="310" r:id="rId10"/>
    <p:sldId id="312" r:id="rId11"/>
    <p:sldId id="311" r:id="rId12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60"/>
  </p:normalViewPr>
  <p:slideViewPr>
    <p:cSldViewPr snapToGrid="0">
      <p:cViewPr varScale="1">
        <p:scale>
          <a:sx n="83" d="100"/>
          <a:sy n="83" d="100"/>
        </p:scale>
        <p:origin x="222" y="9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6CDB74D4-5E76-4C47-E7AA-61E2C648C8D8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C962EDA-0A3B-5C3A-C8DF-7672C339CF9F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775D750-AD1D-4C03-A026-1768137CC901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EC80489-5F61-FA08-A147-AE43BE9C4993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F72D387C-1469-6716-E148-98BDCB6976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44566E6-FD90-4AE7-9488-620D46A968BE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954391555"/>
      </p:ext>
    </p:extLst>
  </p:cSld>
  <p:clrMap bg1="lt1" tx1="dk1" bg2="lt2" tx2="dk2" accent1="accent1" accent2="accent2" accent3="accent3" accent4="accent4" accent5="accent5" accent6="accent6" hlink="hlink" folHlink="folHlink"/>
  <p:hf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r>
              <a:rPr lang="en-IN"/>
              <a:t>Course Title, Topic Name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6BB4A-8EA9-40D4-95BF-21E04B247614}" type="datetimeFigureOut">
              <a:rPr lang="en-IN" smtClean="0"/>
              <a:t>02-07-2025</a:t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en-US"/>
              <a:t>College of Engineering, KONERU LAKSHMAIAH EDUCATION FOUNDATION</a:t>
            </a:r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23BDDA1-7BB7-447A-97DE-AE5425C8F2AD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10007880"/>
      </p:ext>
    </p:extLst>
  </p:cSld>
  <p:clrMap bg1="lt1" tx1="dk1" bg2="lt2" tx2="dk2" accent1="accent1" accent2="accent2" accent3="accent3" accent4="accent4" accent5="accent5" accent6="accent6" hlink="hlink" folHlink="folHlink"/>
  <p:hf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p2:notes"/>
          <p:cNvSpPr txBox="1">
            <a:spLocks noGrp="1"/>
          </p:cNvSpPr>
          <p:nvPr>
            <p:ph type="body" idx="1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</p:spPr>
        <p:txBody>
          <a:bodyPr spcFirstLastPara="1" wrap="square" lIns="0" tIns="0" rIns="0" bIns="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39" name="Google Shape;139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7488" y="812800"/>
            <a:ext cx="7124700" cy="4008438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147188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417779" y="802298"/>
            <a:ext cx="8637073" cy="2541431"/>
          </a:xfrm>
        </p:spPr>
        <p:txBody>
          <a:bodyPr bIns="0" anchor="b">
            <a:normAutofit/>
          </a:bodyPr>
          <a:lstStyle>
            <a:lvl1pPr algn="l"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417780" y="3531204"/>
            <a:ext cx="8637072" cy="977621"/>
          </a:xfrm>
        </p:spPr>
        <p:txBody>
          <a:bodyPr tIns="91440" bIns="91440">
            <a:normAutofit/>
          </a:bodyPr>
          <a:lstStyle>
            <a:lvl1pPr marL="0" indent="0" algn="l">
              <a:buNone/>
              <a:defRPr sz="1800" b="0" cap="all" baseline="0">
                <a:solidFill>
                  <a:schemeClr val="tx1"/>
                </a:solidFill>
              </a:defRPr>
            </a:lvl1pPr>
            <a:lvl2pPr marL="457200" indent="0" algn="ctr">
              <a:buNone/>
              <a:defRPr sz="18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437664" y="798973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2417780" y="3528542"/>
            <a:ext cx="863707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8839828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3" name="Straight Connector 32"/>
          <p:cNvCxnSpPr/>
          <p:nvPr/>
        </p:nvCxnSpPr>
        <p:spPr>
          <a:xfrm>
            <a:off x="1447332" y="1374477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5752113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4239" y="1756130"/>
            <a:ext cx="8643154" cy="1887950"/>
          </a:xfrm>
        </p:spPr>
        <p:txBody>
          <a:bodyPr anchor="b">
            <a:normAutofit/>
          </a:bodyPr>
          <a:lstStyle>
            <a:lvl1pPr algn="l"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4239" y="3806195"/>
            <a:ext cx="8630446" cy="1012929"/>
          </a:xfrm>
        </p:spPr>
        <p:txBody>
          <a:bodyPr tIns="91440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1454239" y="3804985"/>
            <a:ext cx="8630446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9094892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9217" y="804889"/>
            <a:ext cx="9605635" cy="1059305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47331" y="2010878"/>
            <a:ext cx="4645152" cy="344859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413771" y="2017343"/>
            <a:ext cx="4645152" cy="34415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5" name="Straight Connector 3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22861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7191" y="804163"/>
            <a:ext cx="9607661" cy="105631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47191" y="2019549"/>
            <a:ext cx="4645152" cy="801943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47191" y="2824269"/>
            <a:ext cx="4645152" cy="264445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412362" y="2023003"/>
            <a:ext cx="4645152" cy="802237"/>
          </a:xfrm>
        </p:spPr>
        <p:txBody>
          <a:bodyPr anchor="b">
            <a:normAutofit/>
          </a:bodyPr>
          <a:lstStyle>
            <a:lvl1pPr marL="0" indent="0">
              <a:lnSpc>
                <a:spcPct val="100000"/>
              </a:lnSpc>
              <a:buNone/>
              <a:defRPr sz="2200" b="0" cap="all" baseline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412362" y="2821491"/>
            <a:ext cx="4645152" cy="263737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9" name="Straight Connector 28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83727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5" name="Straight Connector 24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07466690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9458717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44671" y="798973"/>
            <a:ext cx="3273099" cy="2247117"/>
          </a:xfrm>
        </p:spPr>
        <p:txBody>
          <a:bodyPr anchor="b">
            <a:normAutofit/>
          </a:bodyPr>
          <a:lstStyle>
            <a:lvl1pPr algn="l">
              <a:defRPr sz="2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043714" y="798974"/>
            <a:ext cx="6012470" cy="4658826"/>
          </a:xfrm>
        </p:spPr>
        <p:txBody>
          <a:bodyPr anchor="ctr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44671" y="3205491"/>
            <a:ext cx="3275013" cy="2248181"/>
          </a:xfrm>
        </p:spPr>
        <p:txBody>
          <a:bodyPr/>
          <a:lstStyle>
            <a:lvl1pPr marL="0" indent="0" algn="l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7" name="Straight Connector 16"/>
          <p:cNvCxnSpPr/>
          <p:nvPr/>
        </p:nvCxnSpPr>
        <p:spPr>
          <a:xfrm>
            <a:off x="1448280" y="3205491"/>
            <a:ext cx="3269490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73203743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7477387" y="482170"/>
            <a:ext cx="4074533" cy="5149101"/>
            <a:chOff x="7477387" y="482170"/>
            <a:chExt cx="4074533" cy="5149101"/>
          </a:xfrm>
        </p:grpSpPr>
        <p:sp>
          <p:nvSpPr>
            <p:cNvPr id="18" name="Rectangle 17"/>
            <p:cNvSpPr/>
            <p:nvPr/>
          </p:nvSpPr>
          <p:spPr bwMode="black">
            <a:xfrm>
              <a:off x="7477387" y="482170"/>
              <a:ext cx="4074533" cy="5149101"/>
            </a:xfrm>
            <a:prstGeom prst="rect">
              <a:avLst/>
            </a:prstGeom>
            <a:gradFill>
              <a:gsLst>
                <a:gs pos="0">
                  <a:srgbClr val="000001"/>
                </a:gs>
                <a:gs pos="100000">
                  <a:srgbClr val="191919"/>
                </a:gs>
              </a:gsLst>
            </a:gradFill>
            <a:ln w="76200" cmpd="sng">
              <a:noFill/>
              <a:miter lim="800000"/>
            </a:ln>
            <a:effectLst>
              <a:outerShdw blurRad="127000" dist="228600" dir="4740000" sx="98000" sy="98000" algn="tl" rotWithShape="0">
                <a:srgbClr val="000000">
                  <a:alpha val="34000"/>
                </a:srgbClr>
              </a:outerShdw>
            </a:effectLst>
            <a:scene3d>
              <a:camera prst="orthographicFront"/>
              <a:lightRig rig="threePt" dir="t"/>
            </a:scene3d>
            <a:sp3d>
              <a:bevelT w="152400" h="50800" prst="softRound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Rectangle 18"/>
            <p:cNvSpPr/>
            <p:nvPr/>
          </p:nvSpPr>
          <p:spPr bwMode="blackWhite">
            <a:xfrm>
              <a:off x="7790446" y="812506"/>
              <a:ext cx="3450289" cy="4466452"/>
            </a:xfrm>
            <a:prstGeom prst="rect">
              <a:avLst/>
            </a:prstGeom>
            <a:gradFill>
              <a:gsLst>
                <a:gs pos="0">
                  <a:srgbClr val="DADADA"/>
                </a:gs>
                <a:gs pos="100000">
                  <a:srgbClr val="FFFFFE"/>
                </a:gs>
              </a:gsLst>
              <a:lin ang="16200000" scaled="0"/>
            </a:gradFill>
            <a:ln w="50800" cmpd="sng">
              <a:solidFill>
                <a:srgbClr val="191919"/>
              </a:solidFill>
              <a:miter lim="800000"/>
            </a:ln>
            <a:effectLst>
              <a:innerShdw blurRad="63500" dist="88900" dir="14100000">
                <a:srgbClr val="000000">
                  <a:alpha val="30000"/>
                </a:srgbClr>
              </a:innerShdw>
            </a:effectLst>
            <a:scene3d>
              <a:camera prst="orthographicFront"/>
              <a:lightRig rig="threePt" dir="t"/>
            </a:scene3d>
            <a:sp3d>
              <a:bevelT prst="relaxedInset"/>
            </a:sp3d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51206" y="1129513"/>
            <a:ext cx="5532328" cy="1830584"/>
          </a:xfrm>
        </p:spPr>
        <p:txBody>
          <a:bodyPr anchor="b">
            <a:normAutofit/>
          </a:bodyPr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8124389" y="1122542"/>
            <a:ext cx="2791171" cy="3866327"/>
          </a:xfrm>
          <a:solidFill>
            <a:schemeClr val="bg1">
              <a:lumMod val="85000"/>
            </a:schemeClr>
          </a:solidFill>
          <a:ln w="9525" cap="sq">
            <a:noFill/>
            <a:miter lim="800000"/>
          </a:ln>
          <a:effectLst/>
        </p:spPr>
        <p:txBody>
          <a:bodyPr anchor="t"/>
          <a:lstStyle>
            <a:lvl1pPr marL="0" indent="0" algn="ctr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50329" y="3145992"/>
            <a:ext cx="5524404" cy="2003742"/>
          </a:xfrm>
        </p:spPr>
        <p:txBody>
          <a:bodyPr>
            <a:normAutofit/>
          </a:bodyPr>
          <a:lstStyle>
            <a:lvl1pPr marL="0" indent="0" algn="l">
              <a:buNone/>
              <a:defRPr sz="18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1447382" y="5469856"/>
            <a:ext cx="5527351" cy="320123"/>
          </a:xfrm>
        </p:spPr>
        <p:txBody>
          <a:bodyPr/>
          <a:lstStyle>
            <a:lvl1pPr algn="l">
              <a:defRPr/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31" name="Straight Connector 30"/>
          <p:cNvCxnSpPr/>
          <p:nvPr/>
        </p:nvCxnSpPr>
        <p:spPr>
          <a:xfrm>
            <a:off x="1447382" y="3143605"/>
            <a:ext cx="5527351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20077693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26" name="Straight Connector 25"/>
          <p:cNvCxnSpPr/>
          <p:nvPr/>
        </p:nvCxnSpPr>
        <p:spPr>
          <a:xfrm>
            <a:off x="1453896" y="1847088"/>
            <a:ext cx="9607522" cy="0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23126745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439111" y="798973"/>
            <a:ext cx="1615742" cy="4659889"/>
          </a:xfrm>
        </p:spPr>
        <p:txBody>
          <a:bodyPr vert="eaVert"/>
          <a:lstStyle>
            <a:lvl1pPr algn="l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44672" y="798973"/>
            <a:ext cx="7828830" cy="4659889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‹#›</a:t>
            </a:fld>
            <a:endParaRPr lang="en-IN"/>
          </a:p>
        </p:txBody>
      </p:sp>
      <p:cxnSp>
        <p:nvCxnSpPr>
          <p:cNvPr id="15" name="Straight Connector 14"/>
          <p:cNvCxnSpPr/>
          <p:nvPr/>
        </p:nvCxnSpPr>
        <p:spPr>
          <a:xfrm>
            <a:off x="9439111" y="798973"/>
            <a:ext cx="0" cy="4659889"/>
          </a:xfrm>
          <a:prstGeom prst="line">
            <a:avLst/>
          </a:prstGeom>
          <a:ln w="31750"/>
        </p:spPr>
        <p:style>
          <a:lnRef idx="3">
            <a:schemeClr val="accent1"/>
          </a:lnRef>
          <a:fillRef idx="0">
            <a:schemeClr val="accent1"/>
          </a:fillRef>
          <a:effectRef idx="2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75364021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2019476"/>
            <a:ext cx="12192000" cy="4105941"/>
          </a:xfrm>
          <a:prstGeom prst="rect">
            <a:avLst/>
          </a:prstGeom>
          <a:gradFill flip="none" rotWithShape="1">
            <a:gsLst>
              <a:gs pos="0">
                <a:schemeClr val="bg2">
                  <a:alpha val="0"/>
                </a:schemeClr>
              </a:gs>
              <a:gs pos="100000">
                <a:schemeClr val="bg2"/>
              </a:gs>
            </a:gsLst>
            <a:lin ang="5400000" scaled="0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51579" y="804519"/>
            <a:ext cx="9603275" cy="104923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51579" y="2015732"/>
            <a:ext cx="9603275" cy="345061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554139" y="379083"/>
            <a:ext cx="3500715" cy="3092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en-US"/>
              <a:t>&lt;COURSE TITLE&gt;, &lt;TOPIC NAME&gt;</a:t>
            </a:r>
            <a:endParaRPr lang="en-IN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5690490" y="6291139"/>
            <a:ext cx="811019" cy="503578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ctr">
              <a:defRPr sz="2200">
                <a:solidFill>
                  <a:schemeClr val="accent1"/>
                </a:solidFill>
              </a:defRPr>
            </a:lvl1pPr>
          </a:lstStyle>
          <a:p>
            <a:fld id="{CBABCCC1-BF11-4F37-963E-1BCD5B23FD72}" type="slidenum">
              <a:rPr lang="en-IN" smtClean="0"/>
              <a:pPr/>
              <a:t>‹#›</a:t>
            </a:fld>
            <a:endParaRPr lang="en-IN" dirty="0"/>
          </a:p>
        </p:txBody>
      </p:sp>
      <p:cxnSp>
        <p:nvCxnSpPr>
          <p:cNvPr id="10" name="Straight Connector 9"/>
          <p:cNvCxnSpPr/>
          <p:nvPr/>
        </p:nvCxnSpPr>
        <p:spPr>
          <a:xfrm>
            <a:off x="0" y="6128413"/>
            <a:ext cx="12192000" cy="0"/>
          </a:xfrm>
          <a:prstGeom prst="line">
            <a:avLst/>
          </a:prstGeom>
          <a:ln w="12700">
            <a:solidFill>
              <a:srgbClr val="000001">
                <a:alpha val="20000"/>
              </a:srgb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Icon&#10;&#10;Description automatically generated with medium confidence">
            <a:extLst>
              <a:ext uri="{FF2B5EF4-FFF2-40B4-BE49-F238E27FC236}">
                <a16:creationId xmlns:a16="http://schemas.microsoft.com/office/drawing/2014/main" id="{D33DD7EC-6054-A5D7-0F93-3916702EC90E}"/>
              </a:ext>
            </a:extLst>
          </p:cNvPr>
          <p:cNvPicPr>
            <a:picLocks noChangeAspect="1"/>
          </p:cNvPicPr>
          <p:nvPr userDrawn="1"/>
        </p:nvPicPr>
        <p:blipFill>
          <a:blip r:embed="rId1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7444" y="32699"/>
            <a:ext cx="1218935" cy="500985"/>
          </a:xfrm>
          <a:prstGeom prst="rect">
            <a:avLst/>
          </a:prstGeom>
        </p:spPr>
      </p:pic>
      <p:pic>
        <p:nvPicPr>
          <p:cNvPr id="12" name="Picture 11">
            <a:extLst>
              <a:ext uri="{FF2B5EF4-FFF2-40B4-BE49-F238E27FC236}">
                <a16:creationId xmlns:a16="http://schemas.microsoft.com/office/drawing/2014/main" id="{DB6D7A70-9470-38A5-6785-933F5C089234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60" t="18054" b="50110"/>
          <a:stretch/>
        </p:blipFill>
        <p:spPr>
          <a:xfrm>
            <a:off x="1451579" y="6373097"/>
            <a:ext cx="2912198" cy="351077"/>
          </a:xfrm>
          <a:prstGeom prst="rect">
            <a:avLst/>
          </a:prstGeom>
        </p:spPr>
      </p:pic>
      <p:pic>
        <p:nvPicPr>
          <p:cNvPr id="14" name="Picture 13" descr="Text&#10;&#10;Description automatically generated with medium confidence">
            <a:extLst>
              <a:ext uri="{FF2B5EF4-FFF2-40B4-BE49-F238E27FC236}">
                <a16:creationId xmlns:a16="http://schemas.microsoft.com/office/drawing/2014/main" id="{A51BE3ED-273E-B0A1-FC3A-EE01E1A92D2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1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53957" r="20929" b="13232"/>
          <a:stretch/>
        </p:blipFill>
        <p:spPr>
          <a:xfrm>
            <a:off x="8825503" y="6373097"/>
            <a:ext cx="2229351" cy="33502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983802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200" b="0" i="0" kern="1200" cap="all">
          <a:solidFill>
            <a:schemeClr val="tx1"/>
          </a:solidFill>
          <a:effectLst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2000" kern="1200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8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600" kern="1200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400" kern="1200" cap="none" baseline="0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120000"/>
        </a:lnSpc>
        <a:spcBef>
          <a:spcPts val="500"/>
        </a:spcBef>
        <a:buClr>
          <a:schemeClr val="accent1"/>
        </a:buClr>
        <a:buSzPct val="100000"/>
        <a:buFont typeface="Arial" panose="020B0604020202020204" pitchFamily="34" charset="0"/>
        <a:buChar char="•"/>
        <a:defRPr sz="1200" kern="1200" baseline="0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jpe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image" Target="../media/image13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DA69B8D-BF65-4ADD-F76F-77EA72FFCB8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mathematical optimization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640656-3048-2A08-BF39-81705306F79A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CO2-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 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03091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1" name="Google Shape;141;p28"/>
          <p:cNvSpPr/>
          <p:nvPr/>
        </p:nvSpPr>
        <p:spPr>
          <a:xfrm>
            <a:off x="4471200" y="84240"/>
            <a:ext cx="301104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AIM OF THE SESSION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2" name="Google Shape;142;p28"/>
          <p:cNvSpPr/>
          <p:nvPr/>
        </p:nvSpPr>
        <p:spPr>
          <a:xfrm>
            <a:off x="914400" y="684360"/>
            <a:ext cx="10705480" cy="60526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rnd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lvl="0">
              <a:lnSpc>
                <a:spcPct val="150000"/>
              </a:lnSpc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To familiarize students with the concept of </a:t>
            </a:r>
            <a:r>
              <a:rPr lang="en-US" dirty="0"/>
              <a:t>Constrained optimization</a:t>
            </a:r>
            <a:r>
              <a:rPr lang="en-IN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.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0" marR="0" lvl="0" indent="0" algn="l" rtl="0">
              <a:lnSpc>
                <a:spcPct val="150000"/>
              </a:lnSpc>
              <a:spcBef>
                <a:spcPts val="0"/>
              </a:spcBef>
              <a:spcAft>
                <a:spcPts val="0"/>
              </a:spcAft>
              <a:buNone/>
            </a:pP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3" name="Google Shape;143;p28"/>
          <p:cNvSpPr/>
          <p:nvPr/>
        </p:nvSpPr>
        <p:spPr>
          <a:xfrm>
            <a:off x="4160520" y="1807200"/>
            <a:ext cx="387036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INSTRUCTIONAL OBJECTIVES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44" name="Google Shape;144;p28"/>
          <p:cNvSpPr/>
          <p:nvPr/>
        </p:nvSpPr>
        <p:spPr>
          <a:xfrm>
            <a:off x="1752480" y="2438640"/>
            <a:ext cx="8791200" cy="155196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Poppins"/>
                <a:ea typeface="Poppins"/>
                <a:cs typeface="Poppins"/>
                <a:sym typeface="Poppins"/>
              </a:rPr>
              <a:t>This Session is designed to: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2900" lvl="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Introduction to </a:t>
            </a:r>
            <a:r>
              <a:rPr lang="en-US" dirty="0"/>
              <a:t>Newton's method</a:t>
            </a:r>
          </a:p>
          <a:p>
            <a:pPr marL="342900" lvl="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Working with </a:t>
            </a:r>
            <a:r>
              <a:rPr lang="en-US" sz="1600" dirty="0"/>
              <a:t>Newton's method</a:t>
            </a:r>
            <a:endParaRPr lang="en-IN" sz="160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  <a:p>
            <a:pPr marL="342900" indent="-342265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IN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Examples on </a:t>
            </a:r>
            <a:r>
              <a:rPr lang="en-US" sz="1600" dirty="0"/>
              <a:t>Newton's method</a:t>
            </a:r>
            <a:endParaRPr sz="1600" b="0" i="0" u="none" strike="noStrike" cap="none" dirty="0">
              <a:latin typeface="Arial"/>
              <a:ea typeface="Arial"/>
              <a:cs typeface="Arial"/>
            </a:endParaRPr>
          </a:p>
        </p:txBody>
      </p:sp>
      <p:pic>
        <p:nvPicPr>
          <p:cNvPr id="145" name="Google Shape;145;p28" descr="Bullseye outline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625320"/>
            <a:ext cx="914040" cy="914040"/>
          </a:xfrm>
          <a:prstGeom prst="rect">
            <a:avLst/>
          </a:prstGeom>
          <a:noFill/>
          <a:ln>
            <a:noFill/>
          </a:ln>
        </p:spPr>
      </p:pic>
      <p:pic>
        <p:nvPicPr>
          <p:cNvPr id="146" name="Google Shape;146;p28" descr="Presentation with checklist outline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838080" y="2438640"/>
            <a:ext cx="914040" cy="9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7" name="Google Shape;147;p28"/>
          <p:cNvSpPr/>
          <p:nvPr/>
        </p:nvSpPr>
        <p:spPr>
          <a:xfrm>
            <a:off x="4213080" y="4249080"/>
            <a:ext cx="3870360" cy="390240"/>
          </a:xfrm>
          <a:prstGeom prst="roundRect">
            <a:avLst>
              <a:gd name="adj" fmla="val 16667"/>
            </a:avLst>
          </a:prstGeom>
          <a:solidFill>
            <a:srgbClr val="BA2532"/>
          </a:solidFill>
          <a:ln>
            <a:noFill/>
          </a:ln>
          <a:effectLst>
            <a:outerShdw blurRad="50800" dist="37674" dir="2700000" algn="tl" rotWithShape="0">
              <a:srgbClr val="BA2532">
                <a:alpha val="40000"/>
              </a:srgbClr>
            </a:outerShdw>
          </a:effectLst>
        </p:spPr>
        <p:txBody>
          <a:bodyPr spcFirstLastPara="1" wrap="square" lIns="90000" tIns="45000" rIns="90000" bIns="45000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b="0" i="0" u="none" strike="noStrike" cap="none">
                <a:solidFill>
                  <a:srgbClr val="FFFFFF"/>
                </a:solidFill>
                <a:latin typeface="Calibri"/>
                <a:ea typeface="Calibri"/>
                <a:cs typeface="Calibri"/>
                <a:sym typeface="Calibri"/>
              </a:rPr>
              <a:t>LEARNING OUTCOMES</a:t>
            </a:r>
            <a:endParaRPr sz="2400" b="0" i="0" u="none" strike="noStrike" cap="none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48" name="Google Shape;148;p28" descr="Idea outline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914400" y="4765680"/>
            <a:ext cx="914040" cy="914040"/>
          </a:xfrm>
          <a:prstGeom prst="rect">
            <a:avLst/>
          </a:prstGeom>
          <a:noFill/>
          <a:ln>
            <a:noFill/>
          </a:ln>
        </p:spPr>
      </p:pic>
      <p:sp>
        <p:nvSpPr>
          <p:cNvPr id="149" name="Google Shape;149;p28"/>
          <p:cNvSpPr/>
          <p:nvPr/>
        </p:nvSpPr>
        <p:spPr>
          <a:xfrm>
            <a:off x="1752480" y="4772160"/>
            <a:ext cx="8791200" cy="1156200"/>
          </a:xfrm>
          <a:prstGeom prst="rect">
            <a:avLst/>
          </a:prstGeom>
          <a:gradFill>
            <a:gsLst>
              <a:gs pos="0">
                <a:srgbClr val="F7FAFD"/>
              </a:gs>
              <a:gs pos="100000">
                <a:srgbClr val="CEE1F2"/>
              </a:gs>
            </a:gsLst>
            <a:path path="circle">
              <a:fillToRect l="50000" t="50000" r="50000" b="50000"/>
            </a:path>
            <a:tileRect/>
          </a:gradFill>
          <a:ln w="9525" cap="flat" cmpd="sng">
            <a:solidFill>
              <a:srgbClr val="DDEAF6"/>
            </a:solidFill>
            <a:prstDash val="solid"/>
            <a:round/>
            <a:headEnd type="none" w="sm" len="sm"/>
            <a:tailEnd type="none" w="sm" len="sm"/>
          </a:ln>
          <a:effectLst>
            <a:outerShdw blurRad="50800" dist="38160" algn="l" rotWithShape="0">
              <a:srgbClr val="BBD6EE">
                <a:alpha val="40000"/>
              </a:srgbClr>
            </a:outerShdw>
          </a:effectLst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marR="0" lvl="0" indent="0" algn="l" rtl="0">
              <a:lnSpc>
                <a:spcPct val="2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At the end of this session, </a:t>
            </a: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the students</a:t>
            </a:r>
            <a:r>
              <a:rPr lang="en-US" sz="1600" b="0" i="0" u="none" strike="noStrike" cap="none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 should be able to: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  <a:p>
            <a:pPr marL="343080" lvl="0" indent="-342720">
              <a:buClr>
                <a:srgbClr val="000000"/>
              </a:buClr>
              <a:buSzPts val="1600"/>
              <a:buFont typeface="Noto Sans Symbols"/>
              <a:buAutoNum type="arabicPeriod"/>
            </a:pPr>
            <a:r>
              <a:rPr lang="en-US" sz="160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Understand </a:t>
            </a:r>
            <a:r>
              <a:rPr lang="en-US" sz="1600" dirty="0"/>
              <a:t>Newton's method</a:t>
            </a:r>
            <a:endParaRPr sz="1600" b="0" i="0" u="none" strike="noStrike" cap="none" dirty="0"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50" name="Google Shape;150;p28" descr="KL Deemed to be University Logo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0" y="0"/>
            <a:ext cx="1990440" cy="599760"/>
          </a:xfrm>
          <a:prstGeom prst="rect">
            <a:avLst/>
          </a:prstGeom>
          <a:noFill/>
          <a:ln>
            <a:noFill/>
          </a:ln>
        </p:spPr>
      </p:pic>
      <p:pic>
        <p:nvPicPr>
          <p:cNvPr id="151" name="Google Shape;151;p28"/>
          <p:cNvPicPr preferRelativeResize="0"/>
          <p:nvPr/>
        </p:nvPicPr>
        <p:blipFill rotWithShape="1">
          <a:blip r:embed="rId7">
            <a:alphaModFix/>
          </a:blip>
          <a:srcRect l="11087" t="90948" r="8738" b="2224"/>
          <a:stretch/>
        </p:blipFill>
        <p:spPr>
          <a:xfrm>
            <a:off x="686425" y="6334750"/>
            <a:ext cx="10923300" cy="523250"/>
          </a:xfrm>
          <a:prstGeom prst="rect">
            <a:avLst/>
          </a:prstGeom>
          <a:noFill/>
          <a:ln>
            <a:noFill/>
          </a:ln>
        </p:spPr>
      </p:pic>
      <p:sp>
        <p:nvSpPr>
          <p:cNvPr id="2" name="Slide Number Placeholder 3">
            <a:extLst>
              <a:ext uri="{FF2B5EF4-FFF2-40B4-BE49-F238E27FC236}">
                <a16:creationId xmlns:a16="http://schemas.microsoft.com/office/drawing/2014/main" id="{B4AE62C8-CFDA-6A6A-8DEF-9426216F8C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5690490" y="6291139"/>
            <a:ext cx="811019" cy="503578"/>
          </a:xfrm>
        </p:spPr>
        <p:txBody>
          <a:bodyPr/>
          <a:lstStyle/>
          <a:p>
            <a:fld id="{CBABCCC1-BF11-4F37-963E-1BCD5B23FD72}" type="slidenum">
              <a:rPr lang="en-IN" smtClean="0"/>
              <a:t>2</a:t>
            </a:fld>
            <a:endParaRPr lang="en-IN" dirty="0"/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14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6" fill="hold">
                      <p:stCondLst>
                        <p:cond delay="indefinite"/>
                      </p:stCondLst>
                      <p:childTnLst>
                        <p:par>
                          <p:cTn id="17" fill="hold">
                            <p:stCondLst>
                              <p:cond delay="0"/>
                            </p:stCondLst>
                            <p:childTnLst>
                              <p:par>
                                <p:cTn id="1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500"/>
                                        <p:tgtEl>
                                          <p:spTgt spid="1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500"/>
                                        <p:tgtEl>
                                          <p:spTgt spid="14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14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14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1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4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B8A95C-4CE4-2C26-9259-F045968804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81CA903C-6E0D-9C4C-8EB2-E9191D2294D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3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32BF1383-10F9-FF4B-6452-C6EF82C62C01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64748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sz="3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16E9D2D2-B222-CA7B-587B-67E07870287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DA2E9ED-6426-C8EE-2D25-A5B826C7B756}"/>
              </a:ext>
            </a:extLst>
          </p:cNvPr>
          <p:cNvSpPr txBox="1"/>
          <p:nvPr/>
        </p:nvSpPr>
        <p:spPr>
          <a:xfrm>
            <a:off x="648221" y="1591178"/>
            <a:ext cx="10863198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 for Curve Optimization is a second-order optimization technique used to find the local minima or maxima of a function. It uses both the first and second derivatives (gradient and Hessian in multivariable cases) to iteratively update the solution.</a:t>
            </a:r>
          </a:p>
          <a:p>
            <a:endParaRPr lang="en-US" dirty="0"/>
          </a:p>
          <a:p>
            <a:endParaRPr lang="en-US" dirty="0"/>
          </a:p>
          <a:p>
            <a:endParaRPr lang="en-IN" dirty="0"/>
          </a:p>
        </p:txBody>
      </p:sp>
      <p:pic>
        <p:nvPicPr>
          <p:cNvPr id="8" name="Picture 7" descr="A diagram of a function&#10;&#10;AI-generated content may be incorrect.">
            <a:extLst>
              <a:ext uri="{FF2B5EF4-FFF2-40B4-BE49-F238E27FC236}">
                <a16:creationId xmlns:a16="http://schemas.microsoft.com/office/drawing/2014/main" id="{17644E10-043B-025D-F92B-E1662271D88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38180" y="2610038"/>
            <a:ext cx="2977020" cy="2290910"/>
          </a:xfrm>
          <a:prstGeom prst="rect">
            <a:avLst/>
          </a:prstGeom>
        </p:spPr>
      </p:pic>
      <p:pic>
        <p:nvPicPr>
          <p:cNvPr id="10" name="Picture 9" descr="A white background with black text&#10;&#10;AI-generated content may be incorrect.">
            <a:extLst>
              <a:ext uri="{FF2B5EF4-FFF2-40B4-BE49-F238E27FC236}">
                <a16:creationId xmlns:a16="http://schemas.microsoft.com/office/drawing/2014/main" id="{771B1C07-2672-8605-4E5B-2943AA02AAE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89705" y="5064116"/>
            <a:ext cx="5073970" cy="98095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33994102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C9302E3-3136-EC73-F68F-F93101B915C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C88796EE-E48B-8481-477E-769351B2DFFD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4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F0C9CB4A-3DA9-F3AA-8F89-AF32E29BE35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64748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sz="3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8DAE8CB4-6BDA-27C0-60FC-C03BAB20C10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5438AEA1-F31C-9425-CBD9-7694EC19F1B4}"/>
              </a:ext>
            </a:extLst>
          </p:cNvPr>
          <p:cNvSpPr txBox="1"/>
          <p:nvPr/>
        </p:nvSpPr>
        <p:spPr>
          <a:xfrm>
            <a:off x="648220" y="1591177"/>
            <a:ext cx="10612679" cy="39993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Algorithm: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1.	Initialization: Choose initial values for the model's parameters.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2.	Iteration: Repeat until convergence: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	Calculate the gradient and Hessian: Compute the gradient (first derivative) and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the Hessian (second derivative) of the loss function with respect to the parameters.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o	Update parameters: Update the parameters using the formula: xᵢ₊₁ = xᵢ - H⁻¹(xᵢ) * ∇f(xᵢ), </a:t>
            </a:r>
          </a:p>
          <a:p>
            <a:pPr>
              <a:lnSpc>
                <a:spcPct val="2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where H⁻¹ is the inverse of the Hessian matrix, and ∇f is the gradient.</a:t>
            </a:r>
          </a:p>
        </p:txBody>
      </p:sp>
    </p:spTree>
    <p:extLst>
      <p:ext uri="{BB962C8B-B14F-4D97-AF65-F5344CB8AC3E}">
        <p14:creationId xmlns:p14="http://schemas.microsoft.com/office/powerpoint/2010/main" val="20251373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E5C382-38A6-FB12-8B7D-4A5CB8597A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D18347B-2DCA-C132-1FB0-E0CD3F2C1C7E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5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601E9ECA-2E5A-43D7-BC63-4B825B44DEB4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64748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sz="3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1B7E0F24-076E-CB06-A548-8285CFF8E31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87009FDE-3919-D531-9543-EB76218ED65D}"/>
              </a:ext>
            </a:extLst>
          </p:cNvPr>
          <p:cNvSpPr txBox="1"/>
          <p:nvPr/>
        </p:nvSpPr>
        <p:spPr>
          <a:xfrm>
            <a:off x="789660" y="1668081"/>
            <a:ext cx="10959754" cy="433965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Example:1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Using the same function, f(x) = x² - 4x + 5, for Newton's method: 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Initialization: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 Start with an initial guess, x₀ = 0.</a:t>
            </a:r>
          </a:p>
          <a:p>
            <a:pPr lvl="0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Iteration: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 and Hessian: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Gradient: f'(x) = 2x - 4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Hessian: f''(x) = 2</a:t>
            </a:r>
          </a:p>
          <a:p>
            <a:pPr lvl="1" algn="just"/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Update: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x₁ = x₀ - f''(x₀)⁻¹ * f'(x₀) = 0 - 2⁻¹ * (-4) = 2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x₂ = 2 - 2⁻¹ * (2*2 - 4) = 2</a:t>
            </a:r>
          </a:p>
          <a:p>
            <a:pPr lvl="2" algn="just"/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this simple case, Newton's method converges very quickly to the minimum (x=2). In more complex, multi-variable cases, it might take more iterations, and the calculation of the inverse Hessian matrix can be computationally expensive. </a:t>
            </a:r>
          </a:p>
          <a:p>
            <a:pPr lvl="2"/>
            <a:endParaRPr lang="en-IN" sz="1600" dirty="0"/>
          </a:p>
        </p:txBody>
      </p:sp>
    </p:spTree>
    <p:extLst>
      <p:ext uri="{BB962C8B-B14F-4D97-AF65-F5344CB8AC3E}">
        <p14:creationId xmlns:p14="http://schemas.microsoft.com/office/powerpoint/2010/main" val="2404050300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51EDE5-A209-A98B-D8DA-2D320226BAC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4E0A8B7-13E3-7BDE-0CA7-732B4B0CD2D5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6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ACD3B6A9-339A-66C1-CD29-39967536D5B9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03192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5E60472E-E1A3-4B24-DB43-3C8149A7075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pic>
        <p:nvPicPr>
          <p:cNvPr id="5" name="Picture 4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51E804A7-A8BD-63BD-D9AE-D3AFE4587C6A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869" y="1425940"/>
            <a:ext cx="7735554" cy="2544452"/>
          </a:xfrm>
          <a:prstGeom prst="rect">
            <a:avLst/>
          </a:prstGeom>
        </p:spPr>
      </p:pic>
      <p:pic>
        <p:nvPicPr>
          <p:cNvPr id="8" name="Picture 7" descr="A white sheet with black text and numbers&#10;&#10;AI-generated content may be incorrect.">
            <a:extLst>
              <a:ext uri="{FF2B5EF4-FFF2-40B4-BE49-F238E27FC236}">
                <a16:creationId xmlns:a16="http://schemas.microsoft.com/office/drawing/2014/main" id="{44BD5B7A-63B7-397A-2EAD-AB484B78A2B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403869" y="3937225"/>
            <a:ext cx="7735554" cy="2294011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9768F2F4-4A21-EE8B-2174-B8EC170BC0D0}"/>
              </a:ext>
            </a:extLst>
          </p:cNvPr>
          <p:cNvSpPr txBox="1"/>
          <p:nvPr/>
        </p:nvSpPr>
        <p:spPr>
          <a:xfrm>
            <a:off x="511397" y="1008500"/>
            <a:ext cx="159080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Example:2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046890414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18BCF39-C9CC-9444-A164-8A780BDE5D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B79AD484-C26C-1F6E-A955-5BF50FEB84A8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7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24705EC3-B2A8-46C0-B7A5-45AEE63132EE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64748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sz="3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310DB57B-13C1-189B-0DD8-9565B17AE963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38031940-5CAF-3DD9-E537-58301D44BA7B}"/>
              </a:ext>
            </a:extLst>
          </p:cNvPr>
          <p:cNvSpPr txBox="1"/>
          <p:nvPr/>
        </p:nvSpPr>
        <p:spPr>
          <a:xfrm>
            <a:off x="163358" y="1339439"/>
            <a:ext cx="136481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Example:3</a:t>
            </a:r>
            <a:endParaRPr lang="en-IN" sz="1600" dirty="0"/>
          </a:p>
          <a:p>
            <a:pPr lvl="2"/>
            <a:endParaRPr lang="en-IN" sz="1600" dirty="0"/>
          </a:p>
        </p:txBody>
      </p:sp>
      <p:pic>
        <p:nvPicPr>
          <p:cNvPr id="5" name="Picture 4" descr="A number and mathematical symbols&#10;&#10;AI-generated content may be incorrect.">
            <a:extLst>
              <a:ext uri="{FF2B5EF4-FFF2-40B4-BE49-F238E27FC236}">
                <a16:creationId xmlns:a16="http://schemas.microsoft.com/office/drawing/2014/main" id="{72F66011-D265-E76C-528D-1ACC9B6B1E7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5222" y="1706845"/>
            <a:ext cx="4176398" cy="594637"/>
          </a:xfrm>
          <a:prstGeom prst="rect">
            <a:avLst/>
          </a:prstGeom>
        </p:spPr>
      </p:pic>
      <p:pic>
        <p:nvPicPr>
          <p:cNvPr id="8" name="Picture 7" descr="A math equations with numbers and symbols&#10;&#10;AI-generated content may be incorrect.">
            <a:extLst>
              <a:ext uri="{FF2B5EF4-FFF2-40B4-BE49-F238E27FC236}">
                <a16:creationId xmlns:a16="http://schemas.microsoft.com/office/drawing/2014/main" id="{E6AE9EB9-9F71-57A7-1308-1AA6A1DC8101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850338" y="2170637"/>
            <a:ext cx="5055986" cy="2463993"/>
          </a:xfrm>
          <a:prstGeom prst="rect">
            <a:avLst/>
          </a:prstGeom>
        </p:spPr>
      </p:pic>
      <p:pic>
        <p:nvPicPr>
          <p:cNvPr id="10" name="Picture 9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CE05077E-CC72-F0FE-EC5D-6EE2369D389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52" y="2301482"/>
            <a:ext cx="5914286" cy="1695238"/>
          </a:xfrm>
          <a:prstGeom prst="rect">
            <a:avLst/>
          </a:prstGeom>
        </p:spPr>
      </p:pic>
      <p:pic>
        <p:nvPicPr>
          <p:cNvPr id="12" name="Picture 11" descr="A math equations with numbers&#10;&#10;AI-generated content may be incorrect.">
            <a:extLst>
              <a:ext uri="{FF2B5EF4-FFF2-40B4-BE49-F238E27FC236}">
                <a16:creationId xmlns:a16="http://schemas.microsoft.com/office/drawing/2014/main" id="{3AECC4E3-7096-FD6C-05D3-B7CA01CCA5E8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36052" y="3848461"/>
            <a:ext cx="5914286" cy="20666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3995998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1F568D2-FE6D-7ED1-38D3-0A205B2E17D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DDBA2C73-DA59-5283-1A9D-13C81F610FE3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8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C106F317-EB21-6096-9F0C-DF888320A6F6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64748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sz="3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5950200A-228E-2C12-3F3F-CB7663881869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E40AF3B1-9EB2-8318-3B1D-D7C51353EAC3}"/>
              </a:ext>
            </a:extLst>
          </p:cNvPr>
          <p:cNvSpPr txBox="1"/>
          <p:nvPr/>
        </p:nvSpPr>
        <p:spPr>
          <a:xfrm>
            <a:off x="163358" y="1339439"/>
            <a:ext cx="136481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Example:3</a:t>
            </a:r>
            <a:endParaRPr lang="en-IN" sz="1600" dirty="0"/>
          </a:p>
          <a:p>
            <a:pPr lvl="2"/>
            <a:endParaRPr lang="en-IN" sz="1600" dirty="0"/>
          </a:p>
        </p:txBody>
      </p:sp>
      <p:pic>
        <p:nvPicPr>
          <p:cNvPr id="7" name="Picture 6" descr="A math equations on a white background&#10;&#10;AI-generated content may be incorrect.">
            <a:extLst>
              <a:ext uri="{FF2B5EF4-FFF2-40B4-BE49-F238E27FC236}">
                <a16:creationId xmlns:a16="http://schemas.microsoft.com/office/drawing/2014/main" id="{637DA13D-8C52-5D32-33D7-7F7C0D138B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251053" y="1487496"/>
            <a:ext cx="6254119" cy="4565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50199185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F92485-4EB9-5357-ECBB-9DD3A5F2579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>
            <a:extLst>
              <a:ext uri="{FF2B5EF4-FFF2-40B4-BE49-F238E27FC236}">
                <a16:creationId xmlns:a16="http://schemas.microsoft.com/office/drawing/2014/main" id="{19A9FACB-896C-3F33-4B3D-8967D9C7EDB1}"/>
              </a:ext>
            </a:extLst>
          </p:cNvPr>
          <p:cNvSpPr txBox="1">
            <a:spLocks noGrp="1"/>
          </p:cNvSpPr>
          <p:nvPr>
            <p:ph type="sldNum" sz="quarter" idx="7"/>
          </p:nvPr>
        </p:nvSpPr>
        <p:spPr>
          <a:xfrm>
            <a:off x="8846562" y="6891552"/>
            <a:ext cx="243840" cy="20955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>
            <a:defPPr>
              <a:defRPr lang="en-US"/>
            </a:defPPr>
            <a:lvl1pPr marL="0" algn="l" defTabSz="914400" rtl="0" eaLnBrk="1" latinLnBrk="0" hangingPunct="1">
              <a:defRPr sz="1200" b="0" i="0" kern="1200">
                <a:solidFill>
                  <a:srgbClr val="9A9D9F"/>
                </a:solidFill>
                <a:latin typeface="Tahoma"/>
                <a:ea typeface="+mn-ea"/>
                <a:cs typeface="Tahoma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121285">
              <a:spcBef>
                <a:spcPts val="100"/>
              </a:spcBef>
            </a:pPr>
            <a:fld id="{81D60167-4931-47E6-BA6A-407CBD079E47}" type="slidenum">
              <a:rPr lang="en-IN" smtClean="0"/>
              <a:pPr marL="121285">
                <a:spcBef>
                  <a:spcPts val="100"/>
                </a:spcBef>
              </a:pPr>
              <a:t>9</a:t>
            </a:fld>
            <a:endParaRPr dirty="0"/>
          </a:p>
        </p:txBody>
      </p:sp>
      <p:sp>
        <p:nvSpPr>
          <p:cNvPr id="2" name="object 2">
            <a:extLst>
              <a:ext uri="{FF2B5EF4-FFF2-40B4-BE49-F238E27FC236}">
                <a16:creationId xmlns:a16="http://schemas.microsoft.com/office/drawing/2014/main" id="{12E54CD9-2D90-E7AD-1A50-F3AFE86912A3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2613599" y="689974"/>
            <a:ext cx="8473478" cy="564748"/>
          </a:xfrm>
          <a:prstGeom prst="rect">
            <a:avLst/>
          </a:prstGeom>
        </p:spPr>
        <p:txBody>
          <a:bodyPr vert="horz" wrap="square" lIns="0" tIns="10646" rIns="0" bIns="0" rtlCol="0" anchor="t">
            <a:spAutoFit/>
          </a:bodyPr>
          <a:lstStyle/>
          <a:p>
            <a:pPr marL="1805924" marR="4483" algn="r">
              <a:lnSpc>
                <a:spcPct val="100000"/>
              </a:lnSpc>
              <a:spcBef>
                <a:spcPts val="84"/>
              </a:spcBef>
            </a:pPr>
            <a:r>
              <a:rPr lang="en-IN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sz="353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7" name="Rectangle 18">
            <a:extLst>
              <a:ext uri="{FF2B5EF4-FFF2-40B4-BE49-F238E27FC236}">
                <a16:creationId xmlns:a16="http://schemas.microsoft.com/office/drawing/2014/main" id="{266E55D2-6A63-9E5F-2D9E-763B84F5AECD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457200"/>
            <a:ext cx="12192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endParaRPr lang="en-IN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70799B92-B90F-4687-F830-AA5D40321B65}"/>
              </a:ext>
            </a:extLst>
          </p:cNvPr>
          <p:cNvSpPr txBox="1"/>
          <p:nvPr/>
        </p:nvSpPr>
        <p:spPr>
          <a:xfrm>
            <a:off x="163358" y="1339439"/>
            <a:ext cx="1364817" cy="61555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/>
              <a:t>Example:3</a:t>
            </a:r>
            <a:endParaRPr lang="en-IN" sz="1600" dirty="0"/>
          </a:p>
          <a:p>
            <a:pPr lvl="2"/>
            <a:endParaRPr lang="en-IN" sz="1600" dirty="0"/>
          </a:p>
        </p:txBody>
      </p:sp>
      <p:pic>
        <p:nvPicPr>
          <p:cNvPr id="5" name="Picture 4" descr="A screenshot of a math problem&#10;&#10;AI-generated content may be incorrect.">
            <a:extLst>
              <a:ext uri="{FF2B5EF4-FFF2-40B4-BE49-F238E27FC236}">
                <a16:creationId xmlns:a16="http://schemas.microsoft.com/office/drawing/2014/main" id="{C87258C5-F213-7D6B-B543-A37CF4B59A54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83251" y="1487496"/>
            <a:ext cx="7812309" cy="468053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742621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0DE1E28-6240-15B2-CCAC-1893EEF7E7C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51579" y="804520"/>
            <a:ext cx="9603275" cy="587136"/>
          </a:xfrm>
        </p:spPr>
        <p:txBody>
          <a:bodyPr/>
          <a:lstStyle/>
          <a:p>
            <a:pPr algn="r"/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Newton's Method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E436EF0-47D9-817C-3187-0065EA03FB2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1294362" y="1512154"/>
            <a:ext cx="10222448" cy="3450613"/>
          </a:xfrm>
        </p:spPr>
        <p:txBody>
          <a:bodyPr>
            <a:normAutofit fontScale="92500" lnSpcReduction="20000"/>
          </a:bodyPr>
          <a:lstStyle/>
          <a:p>
            <a:pPr marL="0" indent="0">
              <a:buNone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SAMPLE QUESTIONS</a:t>
            </a: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Describe how Newton's method operates as an optimization algorithm and state the specific formula governing its parameter adjustments.</a:t>
            </a: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Explain how Newton's method uses curvature (second derivative) to improve convergence.</a:t>
            </a: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Let f: R —&gt; R. be given by f ( X ) = (X-X0)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X0 ∈ R is a constant. Suppose that we apply Newton's method to the problem of minimizing f. Write down the update equation for Newton's method applied to the problem.</a:t>
            </a:r>
          </a:p>
          <a:p>
            <a:pPr marL="457200" indent="-457200">
              <a:buAutoNum type="arabicPeriod"/>
            </a:pP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Apply Newton's method, find the minimizer of  f(x)=1/2 x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-sin(x)  the initial value is x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(0)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=0.5  the required accuracy is 10</a:t>
            </a:r>
            <a:r>
              <a:rPr lang="en-US" sz="2200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-5</a:t>
            </a:r>
            <a:r>
              <a:rPr lang="en-US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</a:p>
          <a:p>
            <a:pPr marL="457200" indent="-457200">
              <a:buAutoNum type="arabicPeriod"/>
            </a:pPr>
            <a:endParaRPr lang="en-IN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FF8DCB7-7B5D-8540-E936-043A64DFB0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10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54028140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23A131B-B777-F491-354A-97A8B613F7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742438" y="2358852"/>
            <a:ext cx="2456540" cy="739994"/>
          </a:xfrm>
        </p:spPr>
        <p:txBody>
          <a:bodyPr>
            <a:noAutofit/>
          </a:bodyPr>
          <a:lstStyle/>
          <a:p>
            <a:pPr marL="0" indent="0">
              <a:buNone/>
            </a:pPr>
            <a:r>
              <a:rPr lang="en-US" sz="4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Thank You</a:t>
            </a:r>
            <a:endParaRPr lang="en-IN" sz="4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71FB170-71F9-6F34-C077-D0F73733401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BABCCC1-BF11-4F37-963E-1BCD5B23FD72}" type="slidenum">
              <a:rPr lang="en-IN" smtClean="0"/>
              <a:t>11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859030396"/>
      </p:ext>
    </p:extLst>
  </p:cSld>
  <p:clrMapOvr>
    <a:masterClrMapping/>
  </p:clrMapOvr>
</p:sld>
</file>

<file path=ppt/theme/theme1.xml><?xml version="1.0" encoding="utf-8"?>
<a:theme xmlns:a="http://schemas.openxmlformats.org/drawingml/2006/main" name="Gallery">
  <a:themeElements>
    <a:clrScheme name="Gallery">
      <a:dk1>
        <a:sysClr val="windowText" lastClr="000000"/>
      </a:dk1>
      <a:lt1>
        <a:sysClr val="window" lastClr="FFFFFF"/>
      </a:lt1>
      <a:dk2>
        <a:srgbClr val="454545"/>
      </a:dk2>
      <a:lt2>
        <a:srgbClr val="DFDBD5"/>
      </a:lt2>
      <a:accent1>
        <a:srgbClr val="B71E42"/>
      </a:accent1>
      <a:accent2>
        <a:srgbClr val="DE478E"/>
      </a:accent2>
      <a:accent3>
        <a:srgbClr val="BC72F0"/>
      </a:accent3>
      <a:accent4>
        <a:srgbClr val="795FAF"/>
      </a:accent4>
      <a:accent5>
        <a:srgbClr val="586EA6"/>
      </a:accent5>
      <a:accent6>
        <a:srgbClr val="6892A0"/>
      </a:accent6>
      <a:hlink>
        <a:srgbClr val="FA2B5C"/>
      </a:hlink>
      <a:folHlink>
        <a:srgbClr val="BC658E"/>
      </a:folHlink>
    </a:clrScheme>
    <a:fontScheme name="Gallery">
      <a:majorFont>
        <a:latin typeface="Gill Sans MT" panose="020B0502020104020203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Gill Sans MT" panose="020B0502020104020203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gradFill rotWithShape="1">
          <a:gsLst>
            <a:gs pos="0">
              <a:schemeClr val="phClr">
                <a:tint val="94000"/>
                <a:satMod val="80000"/>
                <a:lumMod val="106000"/>
              </a:schemeClr>
            </a:gs>
            <a:gs pos="100000">
              <a:schemeClr val="phClr">
                <a:shade val="80000"/>
              </a:schemeClr>
            </a:gs>
          </a:gsLst>
          <a:path path="circle">
            <a:fillToRect l="43000" r="43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PPT Template.potx" id="{A4A573FA-5023-4A60-BA15-556917C382C0}" vid="{FAB5C421-D54E-4084-8823-8DA30F368A70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branch and bound</Template>
  <TotalTime>277</TotalTime>
  <Words>524</Words>
  <Application>Microsoft Office PowerPoint</Application>
  <PresentationFormat>Widescreen</PresentationFormat>
  <Paragraphs>60</Paragraphs>
  <Slides>11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8" baseType="lpstr">
      <vt:lpstr>Arial</vt:lpstr>
      <vt:lpstr>Calibri</vt:lpstr>
      <vt:lpstr>Gill Sans MT</vt:lpstr>
      <vt:lpstr>Noto Sans Symbols</vt:lpstr>
      <vt:lpstr>Poppins</vt:lpstr>
      <vt:lpstr>Times New Roman</vt:lpstr>
      <vt:lpstr>Gallery</vt:lpstr>
      <vt:lpstr>mathematical optimization</vt:lpstr>
      <vt:lpstr>PowerPoint Presentation</vt:lpstr>
      <vt:lpstr>Newton's Method</vt:lpstr>
      <vt:lpstr>Newton's Method</vt:lpstr>
      <vt:lpstr>Newton's Method</vt:lpstr>
      <vt:lpstr>Newton's Method</vt:lpstr>
      <vt:lpstr>Newton's Method</vt:lpstr>
      <vt:lpstr>Newton's Method</vt:lpstr>
      <vt:lpstr>Newton's Method</vt:lpstr>
      <vt:lpstr>Newton's Method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mathematical PROGRAMMING</dc:title>
  <dc:creator>Imunganbi Sanasam</dc:creator>
  <cp:lastModifiedBy>V V Sivaramaraju</cp:lastModifiedBy>
  <cp:revision>13</cp:revision>
  <dcterms:created xsi:type="dcterms:W3CDTF">2023-05-10T05:51:59Z</dcterms:created>
  <dcterms:modified xsi:type="dcterms:W3CDTF">2025-07-02T05:21:10Z</dcterms:modified>
</cp:coreProperties>
</file>