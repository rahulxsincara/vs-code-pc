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handoutMasterIdLst>
    <p:handoutMasterId r:id="rId19"/>
  </p:handoutMasterIdLst>
  <p:sldIdLst>
    <p:sldId id="271"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03-07-2025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03-07-2025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8" y="290811"/>
            <a:ext cx="9603275" cy="1049235"/>
          </a:xfrm>
        </p:spPr>
        <p:txBody>
          <a:bodyPr/>
          <a:lstStyle/>
          <a:p>
            <a:r>
              <a:rPr lang="en-US" dirty="0"/>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1579" y="922414"/>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coursera.org/learn/operations-research-modeling" TargetMode="External"/><Relationship Id="rId2" Type="http://schemas.openxmlformats.org/officeDocument/2006/relationships/hyperlink" Target="https://nptel.ac.in/courses/110105096" TargetMode="External"/><Relationship Id="rId1" Type="http://schemas.openxmlformats.org/officeDocument/2006/relationships/slideLayout" Target="../slideLayouts/slideLayout2.xml"/><Relationship Id="rId4" Type="http://schemas.openxmlformats.org/officeDocument/2006/relationships/hyperlink" Target="https://www.semanticscholar.org/paper/Applied-Mathematical-Programming-Bradley-Hax/8a4ee083b23505df221410e6a2b41fc56fa250a6"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17">
            <a:extLst>
              <a:ext uri="{FF2B5EF4-FFF2-40B4-BE49-F238E27FC236}">
                <a16:creationId xmlns:a16="http://schemas.microsoft.com/office/drawing/2014/main" id="{807C1E3F-2DA3-AFAE-99EA-57C7BD21ED5A}"/>
              </a:ext>
            </a:extLst>
          </p:cNvPr>
          <p:cNvSpPr/>
          <p:nvPr/>
        </p:nvSpPr>
        <p:spPr>
          <a:xfrm>
            <a:off x="2223655" y="363682"/>
            <a:ext cx="8981581" cy="3141606"/>
          </a:xfrm>
          <a:prstGeom prst="roundRect">
            <a:avLst>
              <a:gd name="adj" fmla="val 12235"/>
            </a:avLst>
          </a:prstGeom>
          <a:gradFill>
            <a:gsLst>
              <a:gs pos="0">
                <a:schemeClr val="bg1">
                  <a:lumMod val="95000"/>
                </a:schemeClr>
              </a:gs>
              <a:gs pos="100000">
                <a:schemeClr val="bg1">
                  <a:lumMod val="85000"/>
                </a:schemeClr>
              </a:gs>
            </a:gsLst>
            <a:lin ang="5400000" scaled="0"/>
          </a:gradFill>
          <a:ln>
            <a:no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476;p16"/>
          <p:cNvSpPr txBox="1"/>
          <p:nvPr/>
        </p:nvSpPr>
        <p:spPr>
          <a:xfrm>
            <a:off x="2306781" y="534122"/>
            <a:ext cx="8898455" cy="2492950"/>
          </a:xfrm>
          <a:prstGeom prst="rect">
            <a:avLst/>
          </a:prstGeom>
          <a:noFill/>
          <a:ln>
            <a:noFill/>
          </a:ln>
        </p:spPr>
        <p:txBody>
          <a:bodyPr spcFirstLastPara="1" wrap="square" lIns="91425" tIns="45700" rIns="91425" bIns="45700" anchor="t" anchorCtr="0">
            <a:spAutoFit/>
          </a:bodyPr>
          <a:lstStyle/>
          <a:p>
            <a:r>
              <a:rPr lang="en-US" sz="20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Course Title: </a:t>
            </a:r>
            <a:r>
              <a:rPr lang="en-IN" sz="2400" b="1" dirty="0"/>
              <a:t>Mathematical Optimization</a:t>
            </a:r>
          </a:p>
          <a:p>
            <a:pPr algn="ctr"/>
            <a:r>
              <a:rPr lang="en-IN" sz="2400" b="1" dirty="0"/>
              <a:t> (2-2-0-0)</a:t>
            </a:r>
          </a:p>
          <a:p>
            <a:pPr lvl="0" algn="r"/>
            <a:r>
              <a:rPr lang="en-US" sz="2800" b="1" dirty="0">
                <a:solidFill>
                  <a:srgbClr val="262626"/>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endParaRPr>
          </a:p>
          <a:p>
            <a:pPr marL="0" marR="0" lvl="0" indent="0" algn="l" rtl="0">
              <a:spcBef>
                <a:spcPts val="0"/>
              </a:spcBef>
              <a:spcAft>
                <a:spcPts val="0"/>
              </a:spcAft>
              <a:buNone/>
            </a:pPr>
            <a:r>
              <a:rPr lang="en-US" sz="20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Topic :     </a:t>
            </a:r>
          </a:p>
          <a:p>
            <a:pPr lvl="0" algn="ctr"/>
            <a:r>
              <a:rPr lang="en-US" sz="20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  </a:t>
            </a:r>
            <a:r>
              <a:rPr lang="en-US" sz="60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 </a:t>
            </a:r>
            <a:r>
              <a:rPr lang="en-IN" sz="6000" dirty="0"/>
              <a:t>Duality in LPP</a:t>
            </a:r>
            <a:endParaRPr lang="en-IN" sz="11500" dirty="0"/>
          </a:p>
        </p:txBody>
      </p:sp>
      <p:sp>
        <p:nvSpPr>
          <p:cNvPr id="6" name="Google Shape;502;p17">
            <a:extLst>
              <a:ext uri="{FF2B5EF4-FFF2-40B4-BE49-F238E27FC236}">
                <a16:creationId xmlns:a16="http://schemas.microsoft.com/office/drawing/2014/main" id="{2AA4B22D-392B-DF3F-B021-65F2138EAE6E}"/>
              </a:ext>
            </a:extLst>
          </p:cNvPr>
          <p:cNvSpPr/>
          <p:nvPr/>
        </p:nvSpPr>
        <p:spPr>
          <a:xfrm>
            <a:off x="1844986" y="3850889"/>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Poppins" panose="00000500000000000000" pitchFamily="2" charset="0"/>
                <a:ea typeface="Calibri"/>
                <a:cs typeface="Poppins" panose="00000500000000000000" pitchFamily="2" charset="0"/>
                <a:sym typeface="Calibri"/>
              </a:rPr>
              <a:t>CO-1</a:t>
            </a:r>
            <a:endParaRPr sz="2400" dirty="0">
              <a:solidFill>
                <a:schemeClr val="lt1"/>
              </a:solidFill>
              <a:latin typeface="Poppins" panose="00000500000000000000" pitchFamily="2" charset="0"/>
              <a:ea typeface="Calibri"/>
              <a:cs typeface="Poppins" panose="00000500000000000000" pitchFamily="2" charset="0"/>
              <a:sym typeface="Calibri"/>
            </a:endParaRPr>
          </a:p>
        </p:txBody>
      </p:sp>
      <p:sp>
        <p:nvSpPr>
          <p:cNvPr id="7" name="Google Shape;502;p17">
            <a:extLst>
              <a:ext uri="{FF2B5EF4-FFF2-40B4-BE49-F238E27FC236}">
                <a16:creationId xmlns:a16="http://schemas.microsoft.com/office/drawing/2014/main" id="{7153E61F-4441-DBE3-3DFF-6E9EF6C48D23}"/>
              </a:ext>
            </a:extLst>
          </p:cNvPr>
          <p:cNvSpPr/>
          <p:nvPr/>
        </p:nvSpPr>
        <p:spPr>
          <a:xfrm>
            <a:off x="7793182" y="3850889"/>
            <a:ext cx="2518931"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Poppins" panose="00000500000000000000" pitchFamily="2" charset="0"/>
                <a:ea typeface="Calibri"/>
                <a:cs typeface="Poppins" panose="00000500000000000000" pitchFamily="2" charset="0"/>
                <a:sym typeface="Calibri"/>
              </a:rPr>
              <a:t>Session - 05</a:t>
            </a:r>
            <a:endParaRPr sz="2400" dirty="0">
              <a:solidFill>
                <a:schemeClr val="lt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53574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2</a:t>
            </a:fld>
            <a:endParaRPr lang="en-IN"/>
          </a:p>
        </p:txBody>
      </p:sp>
      <p:sp>
        <p:nvSpPr>
          <p:cNvPr id="5" name="Rounded Rectangle 17">
            <a:extLst>
              <a:ext uri="{FF2B5EF4-FFF2-40B4-BE49-F238E27FC236}">
                <a16:creationId xmlns:a16="http://schemas.microsoft.com/office/drawing/2014/main" id="{D530E72E-233E-E443-1A84-D3CD02ECB889}"/>
              </a:ext>
            </a:extLst>
          </p:cNvPr>
          <p:cNvSpPr/>
          <p:nvPr/>
        </p:nvSpPr>
        <p:spPr>
          <a:xfrm>
            <a:off x="5330319" y="145070"/>
            <a:ext cx="153136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AIM</a:t>
            </a:r>
          </a:p>
        </p:txBody>
      </p:sp>
      <p:sp>
        <p:nvSpPr>
          <p:cNvPr id="6" name="TextBox 5">
            <a:extLst>
              <a:ext uri="{FF2B5EF4-FFF2-40B4-BE49-F238E27FC236}">
                <a16:creationId xmlns:a16="http://schemas.microsoft.com/office/drawing/2014/main" id="{D7C61438-200D-827A-D4DD-5B5127AFA187}"/>
              </a:ext>
            </a:extLst>
          </p:cNvPr>
          <p:cNvSpPr txBox="1"/>
          <p:nvPr/>
        </p:nvSpPr>
        <p:spPr>
          <a:xfrm>
            <a:off x="1253020" y="542362"/>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concept of </a:t>
            </a:r>
            <a:r>
              <a:rPr lang="en-IN" sz="1600" dirty="0">
                <a:latin typeface="Poppins" panose="00000500000000000000"/>
              </a:rPr>
              <a:t>duality in linear programming </a:t>
            </a:r>
            <a:endParaRPr lang="en-US" sz="1600" dirty="0">
              <a:latin typeface="Poppins"/>
              <a:cs typeface="Poppins"/>
            </a:endParaRPr>
          </a:p>
          <a:p>
            <a:pPr>
              <a:lnSpc>
                <a:spcPct val="150000"/>
              </a:lnSpc>
            </a:pPr>
            <a:r>
              <a:rPr lang="en-US" sz="1600" b="0" i="0" dirty="0">
                <a:effectLst/>
                <a:latin typeface="Poppins"/>
                <a:cs typeface="Poppins"/>
              </a:rPr>
              <a:t> </a:t>
            </a:r>
            <a:endParaRPr lang="en-US" sz="1600" dirty="0">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3" y="1374271"/>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effectLst/>
                <a:latin typeface="Arial" panose="020B0604020202020204" pitchFamily="34" charset="0"/>
              </a:rPr>
              <a:t>INSTRUCTIONAL OBJECTIVES</a:t>
            </a:r>
            <a:endPar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2B5EAD4E-C007-9DE7-A40A-12802D3C9611}"/>
              </a:ext>
            </a:extLst>
          </p:cNvPr>
          <p:cNvSpPr txBox="1"/>
          <p:nvPr/>
        </p:nvSpPr>
        <p:spPr>
          <a:xfrm>
            <a:off x="1752600" y="2030246"/>
            <a:ext cx="907732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FontTx/>
              <a:buAutoNum type="arabicPeriod"/>
            </a:pPr>
            <a:r>
              <a:rPr lang="en-US" sz="1600" dirty="0">
                <a:latin typeface="Arial" panose="020B0604020202020204" pitchFamily="34" charset="0"/>
                <a:cs typeface="Arial" panose="020B0604020202020204" pitchFamily="34" charset="0"/>
              </a:rPr>
              <a:t>Illustrate in detail of  </a:t>
            </a:r>
            <a:r>
              <a:rPr lang="en-IN" sz="1600" dirty="0"/>
              <a:t>duality in linear programming </a:t>
            </a:r>
            <a:endParaRPr lang="en-US" sz="1600" b="0" i="0" dirty="0">
              <a:effectLst/>
              <a:latin typeface="Arial" panose="020B0604020202020204" pitchFamily="34" charset="0"/>
              <a:cs typeface="Arial" panose="020B0604020202020204" pitchFamily="34" charset="0"/>
            </a:endParaRPr>
          </a:p>
          <a:p>
            <a:pPr marL="342900" indent="-342900">
              <a:buFontTx/>
              <a:buAutoNum type="arabicPeriod"/>
            </a:pPr>
            <a:r>
              <a:rPr lang="en-US" sz="1600" b="0" i="0" dirty="0">
                <a:effectLst/>
                <a:latin typeface="Arial" panose="020B0604020202020204" pitchFamily="34" charset="0"/>
                <a:cs typeface="Arial" panose="020B0604020202020204" pitchFamily="34" charset="0"/>
              </a:rPr>
              <a:t>Demonstrate how to </a:t>
            </a:r>
            <a:r>
              <a:rPr lang="en-IN" sz="1600" dirty="0">
                <a:latin typeface="Arial" panose="020B0604020202020204" pitchFamily="34" charset="0"/>
                <a:cs typeface="Arial" panose="020B0604020202020204" pitchFamily="34" charset="0"/>
              </a:rPr>
              <a:t>formulate  the </a:t>
            </a:r>
            <a:r>
              <a:rPr lang="en-IN" sz="1600" dirty="0"/>
              <a:t>duality in linear programming </a:t>
            </a:r>
            <a:endParaRPr lang="en-US" sz="1600" dirty="0">
              <a:latin typeface="Poppins"/>
              <a:cs typeface="Poppins"/>
            </a:endParaRPr>
          </a:p>
          <a:p>
            <a:r>
              <a:rPr lang="en-IN" sz="1600" dirty="0">
                <a:latin typeface="Arial" panose="020B0604020202020204" pitchFamily="34" charset="0"/>
                <a:cs typeface="Arial" panose="020B0604020202020204" pitchFamily="34" charset="0"/>
              </a:rPr>
              <a:t>.</a:t>
            </a:r>
          </a:p>
          <a:p>
            <a:endParaRPr lang="en-US" sz="1600" dirty="0">
              <a:latin typeface="Arial" panose="020B0604020202020204" pitchFamily="34" charset="0"/>
            </a:endParaRPr>
          </a:p>
        </p:txBody>
      </p:sp>
      <p:pic>
        <p:nvPicPr>
          <p:cNvPr id="9"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493" y="655220"/>
            <a:ext cx="914400" cy="914400"/>
          </a:xfrm>
          <a:prstGeom prst="rect">
            <a:avLst/>
          </a:prstGeom>
        </p:spPr>
      </p:pic>
      <p:pic>
        <p:nvPicPr>
          <p:cNvPr id="10"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6459" y="1939703"/>
            <a:ext cx="914400" cy="998484"/>
          </a:xfrm>
          <a:prstGeom prst="rect">
            <a:avLst/>
          </a:prstGeom>
        </p:spPr>
      </p:pic>
      <p:sp>
        <p:nvSpPr>
          <p:cNvPr id="11" name="Rounded Rectangle 17">
            <a:extLst>
              <a:ext uri="{FF2B5EF4-FFF2-40B4-BE49-F238E27FC236}">
                <a16:creationId xmlns:a16="http://schemas.microsoft.com/office/drawing/2014/main" id="{6652A33D-9A9E-3EAC-0CAE-113901ECA179}"/>
              </a:ext>
            </a:extLst>
          </p:cNvPr>
          <p:cNvSpPr/>
          <p:nvPr/>
        </p:nvSpPr>
        <p:spPr>
          <a:xfrm>
            <a:off x="4212971" y="4088448"/>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effectLst/>
                <a:latin typeface="Arial" panose="020B0604020202020204" pitchFamily="34" charset="0"/>
              </a:rPr>
              <a:t>LEARNING OUTCOMES</a:t>
            </a:r>
            <a:endPar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12"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13" name="TextBox 12">
            <a:extLst>
              <a:ext uri="{FF2B5EF4-FFF2-40B4-BE49-F238E27FC236}">
                <a16:creationId xmlns:a16="http://schemas.microsoft.com/office/drawing/2014/main" id="{B0BB8E68-8B73-12DE-615E-1091F19A9A9A}"/>
              </a:ext>
            </a:extLst>
          </p:cNvPr>
          <p:cNvSpPr txBox="1"/>
          <p:nvPr/>
        </p:nvSpPr>
        <p:spPr>
          <a:xfrm>
            <a:off x="1752600" y="4631029"/>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unit, you should be able to:</a:t>
            </a:r>
            <a:endParaRPr lang="en-US" sz="1600" b="0" i="0" dirty="0">
              <a:effectLst/>
              <a:latin typeface="Arial" panose="020B0604020202020204" pitchFamily="34" charset="0"/>
            </a:endParaRPr>
          </a:p>
          <a:p>
            <a:pPr marL="342900" indent="-342900">
              <a:buFontTx/>
              <a:buAutoNum type="arabicPeriod"/>
            </a:pPr>
            <a:r>
              <a:rPr lang="en-US" sz="1600" b="0" i="0" dirty="0">
                <a:effectLst/>
                <a:latin typeface="Arial" panose="020B0604020202020204" pitchFamily="34" charset="0"/>
              </a:rPr>
              <a:t>Describe the ways to construct the </a:t>
            </a:r>
            <a:r>
              <a:rPr lang="en-IN" sz="1600" dirty="0"/>
              <a:t>duality in linear programming </a:t>
            </a:r>
            <a:endParaRPr lang="en-US" sz="1600" b="0" i="0" dirty="0">
              <a:effectLst/>
              <a:latin typeface="Arial" panose="020B0604020202020204" pitchFamily="34" charset="0"/>
            </a:endParaRPr>
          </a:p>
          <a:p>
            <a:pPr marL="342900" indent="-342900">
              <a:buFontTx/>
              <a:buAutoNum type="arabicPeriod"/>
            </a:pPr>
            <a:r>
              <a:rPr lang="en-US" sz="1600" b="0" i="0" dirty="0">
                <a:effectLst/>
                <a:latin typeface="Arial" panose="020B0604020202020204" pitchFamily="34" charset="0"/>
              </a:rPr>
              <a:t>Solve the </a:t>
            </a:r>
            <a:r>
              <a:rPr lang="en-US" sz="1600" dirty="0">
                <a:latin typeface="Arial" panose="020B0604020202020204" pitchFamily="34" charset="0"/>
              </a:rPr>
              <a:t>formulation of  </a:t>
            </a:r>
            <a:r>
              <a:rPr lang="en-IN" sz="1600" dirty="0"/>
              <a:t>duality in linear programming </a:t>
            </a:r>
            <a:endParaRPr lang="en-US" sz="1600" dirty="0">
              <a:latin typeface="Poppins"/>
              <a:cs typeface="Poppins"/>
            </a:endParaRPr>
          </a:p>
        </p:txBody>
      </p:sp>
    </p:spTree>
    <p:extLst>
      <p:ext uri="{BB962C8B-B14F-4D97-AF65-F5344CB8AC3E}">
        <p14:creationId xmlns:p14="http://schemas.microsoft.com/office/powerpoint/2010/main" val="3006218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Duality in linear programming</a:t>
            </a:r>
          </a:p>
        </p:txBody>
      </p:sp>
      <p:sp>
        <p:nvSpPr>
          <p:cNvPr id="3" name="Content Placeholder 2"/>
          <p:cNvSpPr>
            <a:spLocks noGrp="1"/>
          </p:cNvSpPr>
          <p:nvPr>
            <p:ph idx="1"/>
          </p:nvPr>
        </p:nvSpPr>
        <p:spPr>
          <a:xfrm>
            <a:off x="218209" y="1218044"/>
            <a:ext cx="11461173" cy="5181600"/>
          </a:xfrm>
        </p:spPr>
        <p:txBody>
          <a:bodyPr/>
          <a:lstStyle/>
          <a:p>
            <a:r>
              <a:rPr lang="en-US" sz="2800" dirty="0"/>
              <a:t>For every LP problem, there is a related unique LP problem involving the same data which also describes the original problem</a:t>
            </a:r>
          </a:p>
          <a:p>
            <a:r>
              <a:rPr lang="en-US" sz="2800" dirty="0"/>
              <a:t>The given original problem is called the primal problem</a:t>
            </a:r>
          </a:p>
          <a:p>
            <a:r>
              <a:rPr lang="en-US" sz="2800" dirty="0"/>
              <a:t>If the problem is rewritten by transposing the rows and columns of the algebraic statement of the problem, then we get another LP problem which we call as Dual of the problem</a:t>
            </a:r>
            <a:r>
              <a:rPr lang="en-US"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645" y="1316184"/>
            <a:ext cx="11191010" cy="2964872"/>
          </a:xfrm>
        </p:spPr>
        <p:txBody>
          <a:bodyPr/>
          <a:lstStyle/>
          <a:p>
            <a:r>
              <a:rPr lang="en-US" sz="2800"/>
              <a:t>A solution to the dual problem may be found in a manner similar to that used for primal problem</a:t>
            </a:r>
          </a:p>
          <a:p>
            <a:r>
              <a:rPr lang="en-US" sz="2800"/>
              <a:t>The optimal solution of the dual problem gives complete information about optimal solution of the primal problem and vice-versa</a:t>
            </a:r>
          </a:p>
          <a:p>
            <a:pPr>
              <a:buNone/>
            </a:pPr>
            <a:r>
              <a:rPr lang="en-US"/>
              <a:t> </a:t>
            </a:r>
            <a:endParaRPr lang="en-US" dirty="0"/>
          </a:p>
        </p:txBody>
      </p:sp>
      <p:sp>
        <p:nvSpPr>
          <p:cNvPr id="2" name="Rectangle 1"/>
          <p:cNvSpPr/>
          <p:nvPr/>
        </p:nvSpPr>
        <p:spPr>
          <a:xfrm>
            <a:off x="1562100" y="365400"/>
            <a:ext cx="7374081" cy="584775"/>
          </a:xfrm>
          <a:prstGeom prst="rect">
            <a:avLst/>
          </a:prstGeom>
        </p:spPr>
        <p:txBody>
          <a:bodyPr wrap="square">
            <a:spAutoFit/>
          </a:bodyPr>
          <a:lstStyle/>
          <a:p>
            <a:r>
              <a:rPr lang="en-US" sz="3200" cap="all" dirty="0">
                <a:solidFill>
                  <a:prstClr val="black"/>
                </a:solidFill>
                <a:ea typeface="+mj-ea"/>
                <a:cs typeface="+mj-cs"/>
              </a:rPr>
              <a:t>Duality in linear programming</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6118" y="196129"/>
            <a:ext cx="8229600" cy="868362"/>
          </a:xfrm>
        </p:spPr>
        <p:txBody>
          <a:bodyPr>
            <a:normAutofit/>
          </a:bodyPr>
          <a:lstStyle/>
          <a:p>
            <a:r>
              <a:rPr lang="en-US" dirty="0"/>
              <a:t>Some interesting features of Duality</a:t>
            </a:r>
          </a:p>
        </p:txBody>
      </p:sp>
      <p:sp>
        <p:nvSpPr>
          <p:cNvPr id="3" name="Content Placeholder 2"/>
          <p:cNvSpPr>
            <a:spLocks noGrp="1"/>
          </p:cNvSpPr>
          <p:nvPr>
            <p:ph idx="1"/>
          </p:nvPr>
        </p:nvSpPr>
        <p:spPr>
          <a:xfrm>
            <a:off x="675409" y="1064491"/>
            <a:ext cx="10858499" cy="5059363"/>
          </a:xfrm>
        </p:spPr>
        <p:txBody>
          <a:bodyPr>
            <a:normAutofit/>
          </a:bodyPr>
          <a:lstStyle/>
          <a:p>
            <a:pPr>
              <a:buFont typeface="Wingdings" panose="05000000000000000000" pitchFamily="2" charset="2"/>
              <a:buChar char="§"/>
            </a:pPr>
            <a:r>
              <a:rPr lang="en-US" sz="2800" dirty="0"/>
              <a:t>If the primal problem contains a large number of rows ( constraints ) and smaller number of columns ( variables ), then the computational procedure can be considerably reduced by converting it into dual and then solving it. Hence, it offers an advantage in many applications</a:t>
            </a:r>
          </a:p>
          <a:p>
            <a:pPr>
              <a:buFont typeface="Wingdings" panose="05000000000000000000" pitchFamily="2" charset="2"/>
              <a:buChar char="§"/>
            </a:pPr>
            <a:r>
              <a:rPr lang="en-US" sz="2800" dirty="0"/>
              <a:t>It gives additional information as to how the optimal solution changes as a result of the changes in the coefficients and the formulation of the problem.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a:bodyPr>
          <a:lstStyle/>
          <a:p>
            <a:r>
              <a:rPr lang="en-US" dirty="0"/>
              <a:t>Some interesting features (Cont…)</a:t>
            </a:r>
          </a:p>
        </p:txBody>
      </p:sp>
      <p:sp>
        <p:nvSpPr>
          <p:cNvPr id="3" name="Content Placeholder 2"/>
          <p:cNvSpPr>
            <a:spLocks noGrp="1"/>
          </p:cNvSpPr>
          <p:nvPr>
            <p:ph idx="1"/>
          </p:nvPr>
        </p:nvSpPr>
        <p:spPr>
          <a:xfrm>
            <a:off x="228600" y="1211119"/>
            <a:ext cx="11783291" cy="5211763"/>
          </a:xfrm>
        </p:spPr>
        <p:txBody>
          <a:bodyPr>
            <a:normAutofit/>
          </a:bodyPr>
          <a:lstStyle/>
          <a:p>
            <a:r>
              <a:rPr lang="en-US" sz="2400" dirty="0"/>
              <a:t>It helps managers answer questions about alternative courses of actions and their relative values</a:t>
            </a:r>
          </a:p>
          <a:p>
            <a:r>
              <a:rPr lang="en-US" sz="2400" dirty="0"/>
              <a:t>Calculation of the dual checks the accuracy of the primal solution</a:t>
            </a:r>
          </a:p>
          <a:p>
            <a:r>
              <a:rPr lang="en-US" sz="2400" dirty="0"/>
              <a:t>Duality in linear programming shows that each linear program is equivalent to Two-person-Zero sum game. This indicates that fairly close relationship exist between linear programming and the theory of games</a:t>
            </a:r>
          </a:p>
          <a:p>
            <a:r>
              <a:rPr lang="en-US" sz="2400" dirty="0"/>
              <a:t> Duality is not restricted to linear programming problem only but finds applications in many domains like Economics, physics and other fields.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a:bodyPr>
          <a:lstStyle/>
          <a:p>
            <a:r>
              <a:rPr lang="en-US" dirty="0"/>
              <a:t>Some interesting features (Cont…)</a:t>
            </a:r>
          </a:p>
        </p:txBody>
      </p:sp>
      <p:sp>
        <p:nvSpPr>
          <p:cNvPr id="3" name="Content Placeholder 2"/>
          <p:cNvSpPr>
            <a:spLocks noGrp="1"/>
          </p:cNvSpPr>
          <p:nvPr>
            <p:ph idx="1"/>
          </p:nvPr>
        </p:nvSpPr>
        <p:spPr>
          <a:xfrm>
            <a:off x="290945" y="1302329"/>
            <a:ext cx="11336482" cy="2126672"/>
          </a:xfrm>
        </p:spPr>
        <p:txBody>
          <a:bodyPr/>
          <a:lstStyle/>
          <a:p>
            <a:r>
              <a:rPr lang="en-US" sz="2400" dirty="0"/>
              <a:t>Economics interpretations of the dual helps the management in making future decisions</a:t>
            </a:r>
          </a:p>
          <a:p>
            <a:r>
              <a:rPr lang="en-US" sz="2400" dirty="0"/>
              <a:t>Duality is used to solve LP problems in which the initial solution is infeasible.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020762"/>
          </a:xfrm>
        </p:spPr>
        <p:txBody>
          <a:bodyPr>
            <a:normAutofit/>
          </a:bodyPr>
          <a:lstStyle/>
          <a:p>
            <a:r>
              <a:rPr lang="en-US" dirty="0"/>
              <a:t>Rules for converting the primal problem into a Dual Problem</a:t>
            </a:r>
          </a:p>
        </p:txBody>
      </p:sp>
      <p:sp>
        <p:nvSpPr>
          <p:cNvPr id="3" name="Content Placeholder 2"/>
          <p:cNvSpPr>
            <a:spLocks noGrp="1"/>
          </p:cNvSpPr>
          <p:nvPr>
            <p:ph idx="1"/>
          </p:nvPr>
        </p:nvSpPr>
        <p:spPr>
          <a:xfrm>
            <a:off x="197428" y="1020762"/>
            <a:ext cx="11617036" cy="5037138"/>
          </a:xfrm>
        </p:spPr>
        <p:txBody>
          <a:bodyPr>
            <a:normAutofit/>
          </a:bodyPr>
          <a:lstStyle/>
          <a:p>
            <a:r>
              <a:rPr lang="en-US" sz="2400" dirty="0"/>
              <a:t>If the primal contains n-variables and m-constraints, the dual will contain m variables and n constraints</a:t>
            </a:r>
          </a:p>
          <a:p>
            <a:r>
              <a:rPr lang="en-US" sz="2400" dirty="0"/>
              <a:t>The maximization problem in the primal becomes the minimization problem in the dual and vice-versa</a:t>
            </a:r>
          </a:p>
          <a:p>
            <a:r>
              <a:rPr lang="en-US" sz="2400" dirty="0"/>
              <a:t>The maximization problem has </a:t>
            </a:r>
            <a:r>
              <a:rPr lang="en-US" sz="2400" dirty="0">
                <a:latin typeface="Calibri"/>
                <a:cs typeface="Calibri"/>
              </a:rPr>
              <a:t>≤ constraints while the minimization problem has ≥ constraints</a:t>
            </a:r>
          </a:p>
          <a:p>
            <a:r>
              <a:rPr lang="en-US" sz="2400" dirty="0">
                <a:latin typeface="Calibri"/>
                <a:cs typeface="Calibri"/>
              </a:rPr>
              <a:t>Constraints of ≤ type in the primal become ≥ type in the dual and vice-versa</a:t>
            </a:r>
          </a:p>
          <a:p>
            <a:r>
              <a:rPr lang="en-US" sz="2400" dirty="0">
                <a:latin typeface="Calibri"/>
                <a:cs typeface="Calibri"/>
              </a:rPr>
              <a:t>The coefficient matrix of the constraints of the dual is the transpose of the primal</a:t>
            </a:r>
          </a:p>
          <a:p>
            <a:r>
              <a:rPr lang="en-US" sz="2400" dirty="0">
                <a:latin typeface="Calibri"/>
                <a:cs typeface="Calibri"/>
              </a:rPr>
              <a:t>A new set of variables appear in the dual. </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0"/>
            <a:ext cx="9603275" cy="1049235"/>
          </a:xfrm>
        </p:spPr>
        <p:txBody>
          <a:bodyPr>
            <a:normAutofit/>
          </a:bodyPr>
          <a:lstStyle/>
          <a:p>
            <a:r>
              <a:rPr lang="en-US" dirty="0"/>
              <a:t>Rules for converting the primal problem into a Dual Problem</a:t>
            </a:r>
          </a:p>
        </p:txBody>
      </p:sp>
      <p:sp>
        <p:nvSpPr>
          <p:cNvPr id="3" name="Content Placeholder 2"/>
          <p:cNvSpPr>
            <a:spLocks noGrp="1"/>
          </p:cNvSpPr>
          <p:nvPr>
            <p:ph idx="1"/>
          </p:nvPr>
        </p:nvSpPr>
        <p:spPr>
          <a:xfrm>
            <a:off x="436419" y="1226023"/>
            <a:ext cx="10879281" cy="3450613"/>
          </a:xfrm>
        </p:spPr>
        <p:txBody>
          <a:bodyPr>
            <a:normAutofit/>
          </a:bodyPr>
          <a:lstStyle/>
          <a:p>
            <a:r>
              <a:rPr lang="en-US" sz="2400" dirty="0"/>
              <a:t>The constants c</a:t>
            </a:r>
            <a:r>
              <a:rPr lang="en-US" sz="2400" baseline="-25000" dirty="0"/>
              <a:t>1</a:t>
            </a:r>
            <a:r>
              <a:rPr lang="en-US" sz="2400" dirty="0"/>
              <a:t>,c</a:t>
            </a:r>
            <a:r>
              <a:rPr lang="en-US" sz="2400" baseline="-25000" dirty="0"/>
              <a:t>2</a:t>
            </a:r>
            <a:r>
              <a:rPr lang="en-US" sz="2400" dirty="0"/>
              <a:t>,c</a:t>
            </a:r>
            <a:r>
              <a:rPr lang="en-US" sz="2400" baseline="-25000" dirty="0"/>
              <a:t>3</a:t>
            </a:r>
            <a:r>
              <a:rPr lang="en-US" sz="2400" dirty="0"/>
              <a:t>….,</a:t>
            </a:r>
            <a:r>
              <a:rPr lang="en-US" sz="2400" dirty="0" err="1"/>
              <a:t>c</a:t>
            </a:r>
            <a:r>
              <a:rPr lang="en-US" sz="2400" baseline="-25000" dirty="0" err="1"/>
              <a:t>n</a:t>
            </a:r>
            <a:r>
              <a:rPr lang="en-US" sz="2400" dirty="0"/>
              <a:t> in the objective function of the primal appear in the constraints of the dual</a:t>
            </a:r>
          </a:p>
          <a:p>
            <a:r>
              <a:rPr lang="en-US" sz="2400" dirty="0"/>
              <a:t>The constants b</a:t>
            </a:r>
            <a:r>
              <a:rPr lang="en-US" sz="2400" baseline="-25000" dirty="0"/>
              <a:t>1</a:t>
            </a:r>
            <a:r>
              <a:rPr lang="en-US" sz="2400" dirty="0"/>
              <a:t>,b</a:t>
            </a:r>
            <a:r>
              <a:rPr lang="en-US" sz="2400" baseline="-25000" dirty="0"/>
              <a:t>2</a:t>
            </a:r>
            <a:r>
              <a:rPr lang="en-US" sz="2400" dirty="0"/>
              <a:t>,b</a:t>
            </a:r>
            <a:r>
              <a:rPr lang="en-US" sz="2400" baseline="-25000" dirty="0"/>
              <a:t>3</a:t>
            </a:r>
            <a:r>
              <a:rPr lang="en-US" sz="2400" dirty="0"/>
              <a:t>….,</a:t>
            </a:r>
            <a:r>
              <a:rPr lang="en-US" sz="2400" dirty="0" err="1"/>
              <a:t>b</a:t>
            </a:r>
            <a:r>
              <a:rPr lang="en-US" sz="2400" baseline="-25000" dirty="0" err="1"/>
              <a:t>n</a:t>
            </a:r>
            <a:r>
              <a:rPr lang="en-US" sz="2400" dirty="0"/>
              <a:t> in the constraints of the primal appear in the objective function of the dual</a:t>
            </a:r>
          </a:p>
          <a:p>
            <a:r>
              <a:rPr lang="en-US" sz="2400" dirty="0"/>
              <a:t>The variables in both problems are non-negative.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a:bodyPr>
          <a:lstStyle/>
          <a:p>
            <a:r>
              <a:rPr lang="en-US" dirty="0"/>
              <a:t>Problem</a:t>
            </a:r>
          </a:p>
        </p:txBody>
      </p:sp>
      <p:sp>
        <p:nvSpPr>
          <p:cNvPr id="3" name="Content Placeholder 2"/>
          <p:cNvSpPr>
            <a:spLocks noGrp="1"/>
          </p:cNvSpPr>
          <p:nvPr>
            <p:ph idx="1"/>
          </p:nvPr>
        </p:nvSpPr>
        <p:spPr>
          <a:xfrm>
            <a:off x="1607127" y="1169555"/>
            <a:ext cx="8229600" cy="5135563"/>
          </a:xfrm>
        </p:spPr>
        <p:txBody>
          <a:bodyPr/>
          <a:lstStyle/>
          <a:p>
            <a:pPr marL="0" indent="0">
              <a:buNone/>
            </a:pPr>
            <a:r>
              <a:rPr lang="en-US" sz="2800" dirty="0"/>
              <a:t>Construct the dual to the primal problem</a:t>
            </a:r>
          </a:p>
          <a:p>
            <a:pPr>
              <a:buNone/>
            </a:pPr>
            <a:r>
              <a:rPr lang="en-US" sz="2800" dirty="0"/>
              <a:t>    Maximize      Z=3x</a:t>
            </a:r>
            <a:r>
              <a:rPr lang="en-US" sz="2800" baseline="-25000" dirty="0"/>
              <a:t>1</a:t>
            </a:r>
            <a:r>
              <a:rPr lang="en-US" sz="2800" dirty="0"/>
              <a:t>+5x</a:t>
            </a:r>
            <a:r>
              <a:rPr lang="en-US" sz="2800" baseline="-25000" dirty="0"/>
              <a:t>2</a:t>
            </a:r>
          </a:p>
          <a:p>
            <a:pPr>
              <a:buNone/>
            </a:pPr>
            <a:r>
              <a:rPr lang="en-US" sz="2800" dirty="0"/>
              <a:t>    Subject to            2x</a:t>
            </a:r>
            <a:r>
              <a:rPr lang="en-US" sz="2800" baseline="-25000" dirty="0"/>
              <a:t>1</a:t>
            </a:r>
            <a:r>
              <a:rPr lang="en-US" sz="2800" dirty="0"/>
              <a:t>+6x</a:t>
            </a:r>
            <a:r>
              <a:rPr lang="en-US" sz="2800" baseline="-25000" dirty="0"/>
              <a:t>2</a:t>
            </a:r>
            <a:r>
              <a:rPr lang="en-US" sz="2800" dirty="0">
                <a:latin typeface="Calibri"/>
                <a:cs typeface="Calibri"/>
              </a:rPr>
              <a:t>≤ 50</a:t>
            </a:r>
          </a:p>
          <a:p>
            <a:pPr>
              <a:buNone/>
            </a:pPr>
            <a:r>
              <a:rPr lang="en-US" sz="2800" dirty="0">
                <a:latin typeface="Calibri"/>
                <a:cs typeface="Calibri"/>
              </a:rPr>
              <a:t>                                      3x</a:t>
            </a:r>
            <a:r>
              <a:rPr lang="en-US" sz="2800" baseline="-25000" dirty="0">
                <a:latin typeface="Calibri"/>
                <a:cs typeface="Calibri"/>
              </a:rPr>
              <a:t>1</a:t>
            </a:r>
            <a:r>
              <a:rPr lang="en-US" sz="2800" dirty="0">
                <a:latin typeface="Calibri"/>
                <a:cs typeface="Calibri"/>
              </a:rPr>
              <a:t>+2x</a:t>
            </a:r>
            <a:r>
              <a:rPr lang="en-US" sz="2800" baseline="-25000" dirty="0">
                <a:latin typeface="Calibri"/>
                <a:cs typeface="Calibri"/>
              </a:rPr>
              <a:t>2</a:t>
            </a:r>
            <a:r>
              <a:rPr lang="en-US" sz="2800" dirty="0">
                <a:cs typeface="Calibri"/>
              </a:rPr>
              <a:t>≤35</a:t>
            </a:r>
          </a:p>
          <a:p>
            <a:pPr>
              <a:buNone/>
            </a:pPr>
            <a:r>
              <a:rPr lang="en-US" sz="2800" dirty="0">
                <a:cs typeface="Calibri"/>
              </a:rPr>
              <a:t>                                5x</a:t>
            </a:r>
            <a:r>
              <a:rPr lang="en-US" sz="2800" baseline="-25000" dirty="0">
                <a:cs typeface="Calibri"/>
              </a:rPr>
              <a:t>1</a:t>
            </a:r>
            <a:r>
              <a:rPr lang="en-US" sz="2800" dirty="0">
                <a:cs typeface="Calibri"/>
              </a:rPr>
              <a:t>-3x</a:t>
            </a:r>
            <a:r>
              <a:rPr lang="en-US" sz="2800" baseline="-25000" dirty="0">
                <a:cs typeface="Calibri"/>
              </a:rPr>
              <a:t>2</a:t>
            </a:r>
            <a:r>
              <a:rPr lang="en-US" sz="2800" dirty="0">
                <a:cs typeface="Calibri"/>
              </a:rPr>
              <a:t> ≤10</a:t>
            </a:r>
          </a:p>
          <a:p>
            <a:pPr>
              <a:buNone/>
            </a:pPr>
            <a:r>
              <a:rPr lang="en-US" sz="2800" dirty="0">
                <a:cs typeface="Calibri"/>
              </a:rPr>
              <a:t>                                 x</a:t>
            </a:r>
            <a:r>
              <a:rPr lang="en-US" sz="2800" baseline="-25000" dirty="0">
                <a:cs typeface="Calibri"/>
              </a:rPr>
              <a:t>2</a:t>
            </a:r>
            <a:r>
              <a:rPr lang="en-US" sz="2800" dirty="0">
                <a:cs typeface="Calibri"/>
              </a:rPr>
              <a:t> ≤ 20  where x</a:t>
            </a:r>
            <a:r>
              <a:rPr lang="en-US" sz="2800" baseline="-25000" dirty="0">
                <a:cs typeface="Calibri"/>
              </a:rPr>
              <a:t>1</a:t>
            </a:r>
            <a:r>
              <a:rPr lang="en-US" sz="2800" dirty="0">
                <a:latin typeface="Calibri"/>
                <a:cs typeface="Calibri"/>
              </a:rPr>
              <a:t>≥0, x</a:t>
            </a:r>
            <a:r>
              <a:rPr lang="en-US" sz="2800" baseline="-25000" dirty="0">
                <a:latin typeface="Calibri"/>
                <a:cs typeface="Calibri"/>
              </a:rPr>
              <a:t>2</a:t>
            </a:r>
            <a:r>
              <a:rPr lang="en-US" sz="2800" dirty="0">
                <a:latin typeface="Calibri"/>
                <a:cs typeface="Calibri"/>
              </a:rPr>
              <a:t>≥0</a:t>
            </a:r>
          </a:p>
          <a:p>
            <a:pPr>
              <a:buNone/>
            </a:pPr>
            <a:endParaRPr lang="en-US" dirty="0">
              <a:latin typeface="Calibri"/>
              <a:cs typeface="Calibri"/>
            </a:endParaRPr>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2044" y="1081664"/>
            <a:ext cx="10103428" cy="5516563"/>
          </a:xfrm>
        </p:spPr>
        <p:txBody>
          <a:bodyPr>
            <a:normAutofit/>
          </a:bodyPr>
          <a:lstStyle/>
          <a:p>
            <a:r>
              <a:rPr lang="en-US" dirty="0"/>
              <a:t>The dual of the given LPP is </a:t>
            </a:r>
          </a:p>
          <a:p>
            <a:pPr>
              <a:buNone/>
            </a:pPr>
            <a:r>
              <a:rPr lang="en-US" dirty="0"/>
              <a:t>     W=50y1+35y2+10y3+20y4</a:t>
            </a:r>
          </a:p>
          <a:p>
            <a:pPr>
              <a:buNone/>
            </a:pPr>
            <a:r>
              <a:rPr lang="en-US" dirty="0"/>
              <a:t>Subject to     2y1+3y2+5y3</a:t>
            </a:r>
            <a:r>
              <a:rPr lang="en-US" dirty="0">
                <a:latin typeface="Calibri"/>
                <a:cs typeface="Calibri"/>
              </a:rPr>
              <a:t>≥3</a:t>
            </a:r>
          </a:p>
          <a:p>
            <a:pPr>
              <a:buNone/>
            </a:pPr>
            <a:r>
              <a:rPr lang="en-US" dirty="0">
                <a:latin typeface="Calibri"/>
                <a:cs typeface="Calibri"/>
              </a:rPr>
              <a:t>                        6y1+2y2-3y3+y4≥5</a:t>
            </a:r>
          </a:p>
          <a:p>
            <a:pPr>
              <a:buNone/>
            </a:pPr>
            <a:r>
              <a:rPr lang="en-US" dirty="0">
                <a:latin typeface="Calibri"/>
                <a:cs typeface="Calibri"/>
              </a:rPr>
              <a:t> where   y1,y2,y3 and y4≥0</a:t>
            </a:r>
          </a:p>
          <a:p>
            <a:pPr>
              <a:buNone/>
            </a:pPr>
            <a:r>
              <a:rPr lang="en-US" dirty="0">
                <a:latin typeface="Calibri"/>
                <a:cs typeface="Calibri"/>
              </a:rPr>
              <a:t>As the dual problem has lesser number of constraints than the primal, it requires lesser work and effort to solve it.</a:t>
            </a:r>
          </a:p>
          <a:p>
            <a:pPr>
              <a:buNone/>
            </a:pPr>
            <a:r>
              <a:rPr lang="en-US" dirty="0">
                <a:latin typeface="Calibri"/>
                <a:cs typeface="Calibri"/>
              </a:rPr>
              <a:t>Note: This follows from the fact that, the computational difficulty in the LPP is mainly associated with the number of constraints rather than number of variables.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7309" y="1265237"/>
            <a:ext cx="8229600" cy="5592763"/>
          </a:xfrm>
        </p:spPr>
        <p:txBody>
          <a:bodyPr/>
          <a:lstStyle/>
          <a:p>
            <a:r>
              <a:rPr lang="en-US" dirty="0"/>
              <a:t>Construct the dual of the problem  </a:t>
            </a:r>
          </a:p>
          <a:p>
            <a:pPr>
              <a:buNone/>
            </a:pPr>
            <a:r>
              <a:rPr lang="en-US" dirty="0"/>
              <a:t>        Minimize      Z=3x1-2x2+4x3   subject to the   constraints    		       </a:t>
            </a:r>
          </a:p>
          <a:p>
            <a:pPr>
              <a:buNone/>
            </a:pPr>
            <a:r>
              <a:rPr lang="en-US" dirty="0"/>
              <a:t>		         3x1+5x2+4x3</a:t>
            </a:r>
            <a:r>
              <a:rPr lang="en-US" dirty="0">
                <a:latin typeface="Calibri"/>
                <a:cs typeface="Calibri"/>
              </a:rPr>
              <a:t>≥7</a:t>
            </a:r>
          </a:p>
          <a:p>
            <a:pPr>
              <a:buNone/>
            </a:pPr>
            <a:r>
              <a:rPr lang="en-US" dirty="0">
                <a:latin typeface="Calibri"/>
                <a:cs typeface="Calibri"/>
              </a:rPr>
              <a:t>                            6x1+x2+3x3≥4</a:t>
            </a:r>
          </a:p>
          <a:p>
            <a:pPr>
              <a:buNone/>
            </a:pPr>
            <a:r>
              <a:rPr lang="en-US" dirty="0">
                <a:latin typeface="Calibri"/>
                <a:cs typeface="Calibri"/>
              </a:rPr>
              <a:t>                             7x1-2x2-x3</a:t>
            </a:r>
            <a:r>
              <a:rPr lang="en-US" dirty="0"/>
              <a:t> </a:t>
            </a:r>
            <a:r>
              <a:rPr lang="en-US" dirty="0">
                <a:latin typeface="Calibri"/>
                <a:cs typeface="Calibri"/>
              </a:rPr>
              <a:t>≤ 10</a:t>
            </a:r>
          </a:p>
          <a:p>
            <a:pPr>
              <a:buNone/>
            </a:pPr>
            <a:r>
              <a:rPr lang="en-US" dirty="0">
                <a:latin typeface="Calibri"/>
                <a:cs typeface="Calibri"/>
              </a:rPr>
              <a:t>                             x1-2x2+5x3≥ 3</a:t>
            </a:r>
          </a:p>
          <a:p>
            <a:pPr>
              <a:buNone/>
            </a:pPr>
            <a:r>
              <a:rPr lang="en-US" dirty="0">
                <a:latin typeface="Calibri"/>
                <a:cs typeface="Calibri"/>
              </a:rPr>
              <a:t>                             4x1+7x2-2x3≥2</a:t>
            </a:r>
          </a:p>
          <a:p>
            <a:pPr>
              <a:buNone/>
            </a:pPr>
            <a:r>
              <a:rPr lang="en-US" dirty="0">
                <a:latin typeface="Calibri"/>
                <a:cs typeface="Calibri"/>
              </a:rPr>
              <a:t>                                 x1,x2,x3≥0</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38799"/>
          </a:xfrm>
        </p:spPr>
        <p:txBody>
          <a:bodyPr>
            <a:normAutofit lnSpcReduction="10000"/>
          </a:bodyPr>
          <a:lstStyle/>
          <a:p>
            <a:r>
              <a:rPr lang="en-US" dirty="0"/>
              <a:t>Solution</a:t>
            </a:r>
          </a:p>
          <a:p>
            <a:pPr>
              <a:buNone/>
            </a:pPr>
            <a:r>
              <a:rPr lang="en-US" dirty="0"/>
              <a:t>As the given problem is minimization, All constraints should be of </a:t>
            </a:r>
            <a:r>
              <a:rPr lang="en-US" dirty="0">
                <a:latin typeface="Calibri"/>
                <a:cs typeface="Calibri"/>
              </a:rPr>
              <a:t>≥ type.  Multiplying the third constraint by -1 on both sides, we get</a:t>
            </a:r>
          </a:p>
          <a:p>
            <a:pPr>
              <a:buNone/>
            </a:pPr>
            <a:r>
              <a:rPr lang="en-US" dirty="0">
                <a:latin typeface="Calibri"/>
                <a:cs typeface="Calibri"/>
              </a:rPr>
              <a:t>                              -7x1+2x2+x3≥-10</a:t>
            </a:r>
          </a:p>
          <a:p>
            <a:pPr>
              <a:buNone/>
            </a:pPr>
            <a:r>
              <a:rPr lang="en-US" dirty="0">
                <a:latin typeface="Calibri"/>
                <a:cs typeface="Calibri"/>
              </a:rPr>
              <a:t>    So, the dual of the given problem will be </a:t>
            </a:r>
          </a:p>
          <a:p>
            <a:pPr>
              <a:buNone/>
            </a:pPr>
            <a:r>
              <a:rPr lang="en-US" dirty="0">
                <a:latin typeface="Calibri"/>
                <a:cs typeface="Calibri"/>
              </a:rPr>
              <a:t>         Maximize     W=7y1+4y2-10y3+3y4+2y3</a:t>
            </a:r>
          </a:p>
          <a:p>
            <a:pPr>
              <a:buNone/>
            </a:pPr>
            <a:r>
              <a:rPr lang="en-US" dirty="0">
                <a:latin typeface="Calibri"/>
                <a:cs typeface="Calibri"/>
              </a:rPr>
              <a:t>Subject to      3y1+6y2-7y3+y4+4y5≤3</a:t>
            </a:r>
          </a:p>
          <a:p>
            <a:pPr>
              <a:buNone/>
            </a:pPr>
            <a:r>
              <a:rPr lang="en-US" dirty="0">
                <a:latin typeface="Calibri"/>
                <a:cs typeface="Calibri"/>
              </a:rPr>
              <a:t>                         5y1+y2+2y3-2y4+7y5≤-2</a:t>
            </a:r>
          </a:p>
          <a:p>
            <a:pPr>
              <a:buNone/>
            </a:pPr>
            <a:r>
              <a:rPr lang="en-US" dirty="0">
                <a:latin typeface="Calibri"/>
                <a:cs typeface="Calibri"/>
              </a:rPr>
              <a:t>                         4y1+3y2+y3+5y4-2y5≤4 where</a:t>
            </a:r>
          </a:p>
          <a:p>
            <a:pPr>
              <a:buNone/>
            </a:pPr>
            <a:r>
              <a:rPr lang="en-US" dirty="0">
                <a:latin typeface="Calibri"/>
                <a:cs typeface="Calibri"/>
              </a:rPr>
              <a:t>                                 y1,y2,y3,y4 and y5≥0</a:t>
            </a:r>
          </a:p>
          <a:p>
            <a:pPr>
              <a:buNone/>
            </a:pPr>
            <a:r>
              <a:rPr lang="en-US" dirty="0">
                <a:latin typeface="Calibri"/>
                <a:cs typeface="Calibri"/>
              </a:rPr>
              <a:t>                         </a:t>
            </a:r>
          </a:p>
          <a:p>
            <a:pPr>
              <a:buNone/>
            </a:pPr>
            <a:r>
              <a:rPr lang="en-US" dirty="0">
                <a:latin typeface="Calibri"/>
                <a:cs typeface="Calibri"/>
              </a:rPr>
              <a:t>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87681" y="1203037"/>
                <a:ext cx="8229600" cy="4906963"/>
              </a:xfrm>
            </p:spPr>
            <p:txBody>
              <a:bodyPr>
                <a:normAutofit/>
              </a:bodyPr>
              <a:lstStyle/>
              <a:p>
                <a:r>
                  <a:rPr lang="en-US" sz="2800" dirty="0"/>
                  <a:t>Construct the dual of the problem</a:t>
                </a:r>
              </a:p>
              <a:p>
                <a:r>
                  <a:rPr lang="en-US" sz="2800" dirty="0"/>
                  <a:t>Maximize     </a:t>
                </a:r>
                <a14:m>
                  <m:oMath xmlns:m="http://schemas.openxmlformats.org/officeDocument/2006/math">
                    <m:r>
                      <a:rPr lang="en-US" sz="2800" b="0" i="1" smtClean="0">
                        <a:latin typeface="Cambria Math" panose="02040503050406030204" pitchFamily="18" charset="0"/>
                      </a:rPr>
                      <m:t>𝑧</m:t>
                    </m:r>
                    <m:r>
                      <a:rPr lang="en-US" sz="2800" b="0" i="1" smtClean="0">
                        <a:latin typeface="Cambria Math" panose="02040503050406030204" pitchFamily="18" charset="0"/>
                      </a:rPr>
                      <m:t>=3</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+17</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+9</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3</m:t>
                        </m:r>
                      </m:sub>
                    </m:sSub>
                  </m:oMath>
                </a14:m>
                <a:endParaRPr lang="en-US" sz="2800" dirty="0"/>
              </a:p>
              <a:p>
                <a:r>
                  <a:rPr lang="en-US" sz="2800" dirty="0"/>
                  <a:t>Subject to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3</m:t>
                        </m:r>
                      </m:sub>
                    </m:sSub>
                    <m:r>
                      <a:rPr lang="en-US" sz="2800" b="0" i="1" smtClean="0">
                        <a:latin typeface="Cambria Math" panose="02040503050406030204" pitchFamily="18" charset="0"/>
                        <a:ea typeface="Cambria Math" panose="02040503050406030204" pitchFamily="18" charset="0"/>
                      </a:rPr>
                      <m:t>≥3</m:t>
                    </m:r>
                  </m:oMath>
                </a14:m>
                <a:endParaRPr lang="en-US" sz="2800" dirty="0"/>
              </a:p>
              <a:p>
                <a:pPr marL="0" indent="0">
                  <a:buNone/>
                </a:pPr>
                <a:r>
                  <a:rPr lang="en-US" sz="2800" dirty="0">
                    <a:latin typeface="Calibri"/>
                    <a:cs typeface="Calibri"/>
                  </a:rPr>
                  <a:t>                         </a:t>
                </a:r>
                <a14:m>
                  <m:oMath xmlns:m="http://schemas.openxmlformats.org/officeDocument/2006/math">
                    <m:r>
                      <a:rPr lang="en-US" sz="2800" b="0" i="1" smtClean="0">
                        <a:latin typeface="Cambria Math" panose="02040503050406030204" pitchFamily="18" charset="0"/>
                        <a:cs typeface="Calibri"/>
                      </a:rPr>
                      <m:t>−3</m:t>
                    </m:r>
                    <m:sSub>
                      <m:sSubPr>
                        <m:ctrlPr>
                          <a:rPr lang="en-US" sz="2800" b="0" i="1" smtClean="0">
                            <a:latin typeface="Cambria Math" panose="02040503050406030204" pitchFamily="18" charset="0"/>
                            <a:cs typeface="Calibri"/>
                          </a:rPr>
                        </m:ctrlPr>
                      </m:sSubPr>
                      <m:e>
                        <m:r>
                          <a:rPr lang="en-US" sz="2800" b="0" i="1" smtClean="0">
                            <a:latin typeface="Cambria Math" panose="02040503050406030204" pitchFamily="18" charset="0"/>
                            <a:cs typeface="Calibri"/>
                          </a:rPr>
                          <m:t>𝑥</m:t>
                        </m:r>
                      </m:e>
                      <m:sub>
                        <m:r>
                          <a:rPr lang="en-US" sz="2800" b="0" i="1" smtClean="0">
                            <a:latin typeface="Cambria Math" panose="02040503050406030204" pitchFamily="18" charset="0"/>
                            <a:cs typeface="Calibri"/>
                          </a:rPr>
                          <m:t>1</m:t>
                        </m:r>
                      </m:sub>
                    </m:sSub>
                    <m:r>
                      <a:rPr lang="en-US" sz="2800" b="0" i="1" smtClean="0">
                        <a:latin typeface="Cambria Math" panose="02040503050406030204" pitchFamily="18" charset="0"/>
                        <a:cs typeface="Calibri"/>
                      </a:rPr>
                      <m:t>+2</m:t>
                    </m:r>
                    <m:sSub>
                      <m:sSubPr>
                        <m:ctrlPr>
                          <a:rPr lang="en-US" sz="2800" b="0" i="1" smtClean="0">
                            <a:latin typeface="Cambria Math" panose="02040503050406030204" pitchFamily="18" charset="0"/>
                            <a:cs typeface="Calibri"/>
                          </a:rPr>
                        </m:ctrlPr>
                      </m:sSubPr>
                      <m:e>
                        <m:r>
                          <a:rPr lang="en-US" sz="2800" b="0" i="1" smtClean="0">
                            <a:latin typeface="Cambria Math" panose="02040503050406030204" pitchFamily="18" charset="0"/>
                            <a:cs typeface="Calibri"/>
                          </a:rPr>
                          <m:t>𝑥</m:t>
                        </m:r>
                      </m:e>
                      <m:sub>
                        <m:r>
                          <a:rPr lang="en-US" sz="2800" b="0" i="1" smtClean="0">
                            <a:latin typeface="Cambria Math" panose="02040503050406030204" pitchFamily="18" charset="0"/>
                            <a:cs typeface="Calibri"/>
                          </a:rPr>
                          <m:t>3</m:t>
                        </m:r>
                      </m:sub>
                    </m:sSub>
                    <m:r>
                      <a:rPr lang="en-US" sz="2800" b="0" i="1" smtClean="0">
                        <a:latin typeface="Cambria Math" panose="02040503050406030204" pitchFamily="18" charset="0"/>
                        <a:ea typeface="Cambria Math" panose="02040503050406030204" pitchFamily="18" charset="0"/>
                        <a:cs typeface="Calibri"/>
                      </a:rPr>
                      <m:t>≤1</m:t>
                    </m:r>
                  </m:oMath>
                </a14:m>
                <a:endParaRPr lang="en-US" sz="2800" dirty="0">
                  <a:latin typeface="Calibri"/>
                  <a:cs typeface="Calibri"/>
                </a:endParaRPr>
              </a:p>
              <a:p>
                <a:pPr marL="0" indent="0">
                  <a:buNone/>
                </a:pPr>
                <a:r>
                  <a:rPr lang="en-US" sz="2800" dirty="0">
                    <a:latin typeface="Calibri"/>
                    <a:cs typeface="Calibri"/>
                  </a:rPr>
                  <a:t>                     where        </a:t>
                </a:r>
                <a14:m>
                  <m:oMath xmlns:m="http://schemas.openxmlformats.org/officeDocument/2006/math">
                    <m:sSub>
                      <m:sSubPr>
                        <m:ctrlPr>
                          <a:rPr lang="en-US" sz="2800" b="0" i="1" smtClean="0">
                            <a:latin typeface="Cambria Math" panose="02040503050406030204" pitchFamily="18" charset="0"/>
                            <a:cs typeface="Calibri"/>
                          </a:rPr>
                        </m:ctrlPr>
                      </m:sSubPr>
                      <m:e>
                        <m:r>
                          <a:rPr lang="en-US" sz="2800" b="0" i="1" smtClean="0">
                            <a:latin typeface="Cambria Math" panose="02040503050406030204" pitchFamily="18" charset="0"/>
                            <a:cs typeface="Calibri"/>
                          </a:rPr>
                          <m:t>𝑥</m:t>
                        </m:r>
                      </m:e>
                      <m:sub>
                        <m:r>
                          <a:rPr lang="en-US" sz="2800" b="0" i="1" smtClean="0">
                            <a:latin typeface="Cambria Math" panose="02040503050406030204" pitchFamily="18" charset="0"/>
                            <a:cs typeface="Calibri"/>
                          </a:rPr>
                          <m:t>1</m:t>
                        </m:r>
                      </m:sub>
                    </m:sSub>
                    <m:r>
                      <a:rPr lang="en-US" sz="2800" b="0" i="1" smtClean="0">
                        <a:latin typeface="Cambria Math" panose="02040503050406030204" pitchFamily="18" charset="0"/>
                        <a:cs typeface="Calibri"/>
                      </a:rPr>
                      <m:t>,</m:t>
                    </m:r>
                    <m:sSub>
                      <m:sSubPr>
                        <m:ctrlPr>
                          <a:rPr lang="en-US" sz="2800" b="0" i="1" smtClean="0">
                            <a:latin typeface="Cambria Math" panose="02040503050406030204" pitchFamily="18" charset="0"/>
                            <a:cs typeface="Calibri"/>
                          </a:rPr>
                        </m:ctrlPr>
                      </m:sSubPr>
                      <m:e>
                        <m:r>
                          <a:rPr lang="en-US" sz="2800" b="0" i="1" smtClean="0">
                            <a:latin typeface="Cambria Math" panose="02040503050406030204" pitchFamily="18" charset="0"/>
                            <a:cs typeface="Calibri"/>
                          </a:rPr>
                          <m:t>𝑥</m:t>
                        </m:r>
                      </m:e>
                      <m:sub>
                        <m:r>
                          <a:rPr lang="en-US" sz="2800" b="0" i="1" smtClean="0">
                            <a:latin typeface="Cambria Math" panose="02040503050406030204" pitchFamily="18" charset="0"/>
                            <a:cs typeface="Calibri"/>
                          </a:rPr>
                          <m:t>2</m:t>
                        </m:r>
                      </m:sub>
                    </m:sSub>
                    <m:r>
                      <a:rPr lang="en-US" sz="2800" b="0" i="1" smtClean="0">
                        <a:latin typeface="Cambria Math" panose="02040503050406030204" pitchFamily="18" charset="0"/>
                        <a:cs typeface="Calibri"/>
                      </a:rPr>
                      <m:t>,</m:t>
                    </m:r>
                    <m:sSub>
                      <m:sSubPr>
                        <m:ctrlPr>
                          <a:rPr lang="en-US" sz="2800" b="0" i="1" smtClean="0">
                            <a:latin typeface="Cambria Math" panose="02040503050406030204" pitchFamily="18" charset="0"/>
                            <a:cs typeface="Calibri"/>
                          </a:rPr>
                        </m:ctrlPr>
                      </m:sSubPr>
                      <m:e>
                        <m:r>
                          <a:rPr lang="en-US" sz="2800" b="0" i="1" smtClean="0">
                            <a:latin typeface="Cambria Math" panose="02040503050406030204" pitchFamily="18" charset="0"/>
                            <a:cs typeface="Calibri"/>
                          </a:rPr>
                          <m:t>𝑥</m:t>
                        </m:r>
                      </m:e>
                      <m:sub>
                        <m:r>
                          <a:rPr lang="en-US" sz="2800" b="0" i="1" smtClean="0">
                            <a:latin typeface="Cambria Math" panose="02040503050406030204" pitchFamily="18" charset="0"/>
                            <a:cs typeface="Calibri"/>
                          </a:rPr>
                          <m:t>3</m:t>
                        </m:r>
                      </m:sub>
                    </m:sSub>
                    <m:r>
                      <a:rPr lang="en-US" sz="2800" b="0" i="1" smtClean="0">
                        <a:latin typeface="Cambria Math" panose="02040503050406030204" pitchFamily="18" charset="0"/>
                        <a:ea typeface="Cambria Math" panose="02040503050406030204" pitchFamily="18" charset="0"/>
                        <a:cs typeface="Calibri"/>
                      </a:rPr>
                      <m:t>≥0</m:t>
                    </m:r>
                  </m:oMath>
                </a14:m>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87681" y="1203037"/>
                <a:ext cx="8229600" cy="4906963"/>
              </a:xfrm>
              <a:blipFill rotWithShape="0">
                <a:blip r:embed="rId2"/>
                <a:stretch>
                  <a:fillRect l="-1333" t="-373"/>
                </a:stretch>
              </a:blipFill>
            </p:spPr>
            <p:txBody>
              <a:bodyPr/>
              <a:lstStyle/>
              <a:p>
                <a:r>
                  <a:rPr lang="en-IN">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246581"/>
            <a:ext cx="9603275" cy="844464"/>
          </a:xfrm>
        </p:spPr>
        <p:txBody>
          <a:bodyPr/>
          <a:lstStyle/>
          <a:p>
            <a:r>
              <a:rPr lang="en-US" dirty="0"/>
              <a:t>References</a:t>
            </a:r>
            <a:endParaRPr lang="en-IN" dirty="0"/>
          </a:p>
        </p:txBody>
      </p:sp>
      <p:sp>
        <p:nvSpPr>
          <p:cNvPr id="3" name="Content Placeholder 2"/>
          <p:cNvSpPr>
            <a:spLocks noGrp="1"/>
          </p:cNvSpPr>
          <p:nvPr>
            <p:ph idx="1"/>
          </p:nvPr>
        </p:nvSpPr>
        <p:spPr>
          <a:xfrm>
            <a:off x="280555" y="1091046"/>
            <a:ext cx="11772900" cy="4946072"/>
          </a:xfrm>
        </p:spPr>
        <p:txBody>
          <a:bodyPr>
            <a:normAutofit lnSpcReduction="10000"/>
          </a:bodyPr>
          <a:lstStyle/>
          <a:p>
            <a:pPr marL="0" indent="0">
              <a:buNone/>
            </a:pPr>
            <a:r>
              <a:rPr lang="en-US" b="1" dirty="0"/>
              <a:t>Textbook: </a:t>
            </a:r>
          </a:p>
          <a:p>
            <a:pPr marL="0" indent="0">
              <a:buNone/>
            </a:pPr>
            <a:r>
              <a:rPr lang="en-US" b="1" i="1" dirty="0"/>
              <a:t> 1. </a:t>
            </a:r>
            <a:r>
              <a:rPr lang="en-US" i="1" dirty="0"/>
              <a:t>Introduction to Mathematical Programming </a:t>
            </a:r>
            <a:r>
              <a:rPr lang="en-US" dirty="0"/>
              <a:t>by Russell C. Walker, published by Pearson Custom Publishing,  2006 </a:t>
            </a:r>
          </a:p>
          <a:p>
            <a:pPr marL="0" indent="0">
              <a:buNone/>
            </a:pPr>
            <a:r>
              <a:rPr lang="en-US" dirty="0"/>
              <a:t>2. S. P. Bradley, A. C. </a:t>
            </a:r>
            <a:r>
              <a:rPr lang="en-US" dirty="0" err="1"/>
              <a:t>Hax</a:t>
            </a:r>
            <a:r>
              <a:rPr lang="en-US" dirty="0"/>
              <a:t>, and T. L. </a:t>
            </a:r>
            <a:r>
              <a:rPr lang="en-US" dirty="0" err="1"/>
              <a:t>Magnanti</a:t>
            </a:r>
            <a:r>
              <a:rPr lang="en-US" dirty="0"/>
              <a:t>, </a:t>
            </a:r>
            <a:r>
              <a:rPr lang="en-US" i="1" dirty="0"/>
              <a:t>Applied Mathematical Programming</a:t>
            </a:r>
            <a:r>
              <a:rPr lang="en-US" dirty="0"/>
              <a:t>, Addison-Wesley Publishing Company, 1977 </a:t>
            </a:r>
            <a:br>
              <a:rPr lang="en-US" dirty="0"/>
            </a:br>
            <a:r>
              <a:rPr lang="en-US" dirty="0"/>
              <a:t>3. </a:t>
            </a:r>
            <a:r>
              <a:rPr lang="en-US" dirty="0" err="1"/>
              <a:t>Lenstra</a:t>
            </a:r>
            <a:r>
              <a:rPr lang="en-US" dirty="0"/>
              <a:t>, </a:t>
            </a:r>
            <a:r>
              <a:rPr lang="en-US" dirty="0" err="1"/>
              <a:t>Rinnooy</a:t>
            </a:r>
            <a:r>
              <a:rPr lang="en-US" dirty="0"/>
              <a:t> </a:t>
            </a:r>
            <a:r>
              <a:rPr lang="en-US" dirty="0" err="1"/>
              <a:t>Kan</a:t>
            </a:r>
            <a:r>
              <a:rPr lang="en-US" dirty="0"/>
              <a:t>, &amp; </a:t>
            </a:r>
            <a:r>
              <a:rPr lang="en-US" dirty="0" err="1"/>
              <a:t>Schrijver</a:t>
            </a:r>
            <a:r>
              <a:rPr lang="en-US" dirty="0"/>
              <a:t> (eds.), </a:t>
            </a:r>
            <a:r>
              <a:rPr lang="en-US" i="1" dirty="0"/>
              <a:t>History of Mathematical Programming: A Collection of Personal Reminiscences</a:t>
            </a:r>
            <a:r>
              <a:rPr lang="en-US" dirty="0"/>
              <a:t>, Elsevier, 1991. </a:t>
            </a:r>
            <a:br>
              <a:rPr lang="en-US" dirty="0"/>
            </a:br>
            <a:br>
              <a:rPr lang="en-US" dirty="0"/>
            </a:br>
            <a:r>
              <a:rPr lang="en-US" b="1" dirty="0"/>
              <a:t>Web Resources:</a:t>
            </a:r>
          </a:p>
          <a:p>
            <a:pPr marL="457200" indent="-457200">
              <a:buAutoNum type="arabicPeriod"/>
            </a:pPr>
            <a:r>
              <a:rPr lang="en-US" dirty="0">
                <a:hlinkClick r:id="rId2"/>
              </a:rPr>
              <a:t>https://nptel.ac.in/courses/110105096</a:t>
            </a:r>
            <a:r>
              <a:rPr lang="en-US" dirty="0"/>
              <a:t> </a:t>
            </a:r>
          </a:p>
          <a:p>
            <a:pPr marL="457200" indent="-457200">
              <a:buAutoNum type="arabicPeriod"/>
            </a:pPr>
            <a:r>
              <a:rPr lang="en-US" dirty="0">
                <a:hlinkClick r:id="rId3"/>
              </a:rPr>
              <a:t>https://www.coursera.org/learn/operations-research-modeling</a:t>
            </a:r>
            <a:r>
              <a:rPr lang="en-US" dirty="0"/>
              <a:t>  </a:t>
            </a:r>
          </a:p>
          <a:p>
            <a:pPr marL="457200" indent="-457200">
              <a:buAutoNum type="arabicPeriod"/>
            </a:pPr>
            <a:r>
              <a:rPr lang="en-IN" dirty="0">
                <a:hlinkClick r:id="rId4"/>
              </a:rPr>
              <a:t>https://www.semanticscholar.org/paper/Applied-Mathematical-Programming-Bradley-Hax/8a4ee083b23505df221410e6a2b41fc56fa250a6</a:t>
            </a:r>
            <a:r>
              <a:rPr lang="en-IN" dirty="0"/>
              <a:t> </a:t>
            </a:r>
          </a:p>
        </p:txBody>
      </p:sp>
      <p:sp>
        <p:nvSpPr>
          <p:cNvPr id="4" name="Slide Number Placeholder 3"/>
          <p:cNvSpPr>
            <a:spLocks noGrp="1"/>
          </p:cNvSpPr>
          <p:nvPr>
            <p:ph type="sldNum" sz="quarter" idx="12"/>
          </p:nvPr>
        </p:nvSpPr>
        <p:spPr/>
        <p:txBody>
          <a:bodyPr/>
          <a:lstStyle/>
          <a:p>
            <a:fld id="{CBABCCC1-BF11-4F37-963E-1BCD5B23FD72}" type="slidenum">
              <a:rPr lang="en-IN" smtClean="0"/>
              <a:t>15</a:t>
            </a:fld>
            <a:endParaRPr lang="en-IN"/>
          </a:p>
        </p:txBody>
      </p:sp>
    </p:spTree>
    <p:extLst>
      <p:ext uri="{BB962C8B-B14F-4D97-AF65-F5344CB8AC3E}">
        <p14:creationId xmlns:p14="http://schemas.microsoft.com/office/powerpoint/2010/main" val="1582998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3148577" y="2249951"/>
            <a:ext cx="5940083" cy="2162908"/>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Poppins" pitchFamily="2" charset="77"/>
              <a:cs typeface="Poppins" pitchFamily="2" charset="77"/>
            </a:endParaRPr>
          </a:p>
          <a:p>
            <a:pPr algn="ctr"/>
            <a:endParaRPr lang="en-US" b="1" dirty="0">
              <a:latin typeface="Poppins" pitchFamily="2" charset="77"/>
              <a:cs typeface="Poppins" pitchFamily="2" charset="77"/>
            </a:endParaRPr>
          </a:p>
          <a:p>
            <a:pPr algn="ctr"/>
            <a:r>
              <a:rPr lang="en-US" b="1" dirty="0">
                <a:latin typeface="Poppins" pitchFamily="2" charset="77"/>
                <a:cs typeface="Poppins" pitchFamily="2" charset="77"/>
              </a:rPr>
              <a:t>THANK YOU</a:t>
            </a: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r>
              <a:rPr lang="en-US" b="1" dirty="0">
                <a:latin typeface="Poppins" pitchFamily="2" charset="77"/>
                <a:cs typeface="Poppins" pitchFamily="2" charset="77"/>
              </a:rPr>
              <a:t>Team – Mathematical Optimization</a:t>
            </a: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22168" y="2777492"/>
            <a:ext cx="2426678" cy="812409"/>
          </a:xfrm>
          <a:prstGeom prst="rect">
            <a:avLst/>
          </a:prstGeom>
          <a:noFill/>
        </p:spPr>
      </p:pic>
    </p:spTree>
    <p:extLst>
      <p:ext uri="{BB962C8B-B14F-4D97-AF65-F5344CB8AC3E}">
        <p14:creationId xmlns:p14="http://schemas.microsoft.com/office/powerpoint/2010/main" val="254645255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178</TotalTime>
  <Words>998</Words>
  <Application>Microsoft Office PowerPoint</Application>
  <PresentationFormat>Widescreen</PresentationFormat>
  <Paragraphs>105</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Cambria Math</vt:lpstr>
      <vt:lpstr>Gill Sans MT</vt:lpstr>
      <vt:lpstr>Poppins</vt:lpstr>
      <vt:lpstr>Times New Roman</vt:lpstr>
      <vt:lpstr>Wingdings</vt:lpstr>
      <vt:lpstr>Gallery</vt:lpstr>
      <vt:lpstr>PowerPoint Presentation</vt:lpstr>
      <vt:lpstr>PowerPoint Presentation</vt:lpstr>
      <vt:lpstr>Duality in linear programming</vt:lpstr>
      <vt:lpstr>PowerPoint Presentation</vt:lpstr>
      <vt:lpstr>Some interesting features of Duality</vt:lpstr>
      <vt:lpstr>Some interesting features (Cont…)</vt:lpstr>
      <vt:lpstr>Some interesting features (Cont…)</vt:lpstr>
      <vt:lpstr>Rules for converting the primal problem into a Dual Problem</vt:lpstr>
      <vt:lpstr>Rules for converting the primal problem into a Dual Problem</vt:lpstr>
      <vt:lpstr>Problem</vt:lpstr>
      <vt:lpstr>PowerPoint Presentation</vt:lpstr>
      <vt:lpstr>PowerPoint Presentation</vt:lpstr>
      <vt:lpstr>PowerPoint Presentation</vt:lpstr>
      <vt:lpstr>Assignment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GOVIND DIVAKARAN</dc:creator>
  <cp:lastModifiedBy>k drakshayani</cp:lastModifiedBy>
  <cp:revision>21</cp:revision>
  <dcterms:created xsi:type="dcterms:W3CDTF">2023-05-03T04:42:59Z</dcterms:created>
  <dcterms:modified xsi:type="dcterms:W3CDTF">2025-07-03T06:00:14Z</dcterms:modified>
</cp:coreProperties>
</file>