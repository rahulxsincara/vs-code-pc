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326" r:id="rId4"/>
    <p:sldId id="327" r:id="rId5"/>
    <p:sldId id="297" r:id="rId6"/>
    <p:sldId id="328" r:id="rId7"/>
    <p:sldId id="292" r:id="rId8"/>
    <p:sldId id="296" r:id="rId9"/>
    <p:sldId id="324" r:id="rId10"/>
    <p:sldId id="325" r:id="rId11"/>
    <p:sldId id="298" r:id="rId12"/>
    <p:sldId id="299" r:id="rId13"/>
    <p:sldId id="300" r:id="rId14"/>
    <p:sldId id="276" r:id="rId15"/>
    <p:sldId id="318" r:id="rId16"/>
    <p:sldId id="319" r:id="rId17"/>
    <p:sldId id="321" r:id="rId18"/>
    <p:sldId id="323" r:id="rId19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F7FCE6-5DF6-9A97-3F8B-2CCFCF8F146D}" v="93" dt="2025-07-12T13:48:29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Murali Krishna" userId="S::pmuralikrishna@kluniversity.in::b4e88df8-02e8-4a4f-88f6-55bdf17a0457" providerId="AD" clId="Web-{BDF7FCE6-5DF6-9A97-3F8B-2CCFCF8F146D}"/>
    <pc:docChg chg="addSld delSld modSld">
      <pc:chgData name="P Murali Krishna" userId="S::pmuralikrishna@kluniversity.in::b4e88df8-02e8-4a4f-88f6-55bdf17a0457" providerId="AD" clId="Web-{BDF7FCE6-5DF6-9A97-3F8B-2CCFCF8F146D}" dt="2025-07-12T13:48:29.652" v="84" actId="20577"/>
      <pc:docMkLst>
        <pc:docMk/>
      </pc:docMkLst>
      <pc:sldChg chg="modSp">
        <pc:chgData name="P Murali Krishna" userId="S::pmuralikrishna@kluniversity.in::b4e88df8-02e8-4a4f-88f6-55bdf17a0457" providerId="AD" clId="Web-{BDF7FCE6-5DF6-9A97-3F8B-2CCFCF8F146D}" dt="2025-07-12T13:30:05.356" v="0" actId="1076"/>
        <pc:sldMkLst>
          <pc:docMk/>
          <pc:sldMk cId="0" sldId="292"/>
        </pc:sldMkLst>
        <pc:picChg chg="mod">
          <ac:chgData name="P Murali Krishna" userId="S::pmuralikrishna@kluniversity.in::b4e88df8-02e8-4a4f-88f6-55bdf17a0457" providerId="AD" clId="Web-{BDF7FCE6-5DF6-9A97-3F8B-2CCFCF8F146D}" dt="2025-07-12T13:30:05.356" v="0" actId="1076"/>
          <ac:picMkLst>
            <pc:docMk/>
            <pc:sldMk cId="0" sldId="292"/>
            <ac:picMk id="20488" creationId="{FDBDFF3E-0501-C651-362C-EA7A6BAB28E1}"/>
          </ac:picMkLst>
        </pc:picChg>
      </pc:sldChg>
      <pc:sldChg chg="modSp">
        <pc:chgData name="P Murali Krishna" userId="S::pmuralikrishna@kluniversity.in::b4e88df8-02e8-4a4f-88f6-55bdf17a0457" providerId="AD" clId="Web-{BDF7FCE6-5DF6-9A97-3F8B-2CCFCF8F146D}" dt="2025-07-12T13:48:29.652" v="84" actId="20577"/>
        <pc:sldMkLst>
          <pc:docMk/>
          <pc:sldMk cId="0" sldId="297"/>
        </pc:sldMkLst>
        <pc:spChg chg="mod">
          <ac:chgData name="P Murali Krishna" userId="S::pmuralikrishna@kluniversity.in::b4e88df8-02e8-4a4f-88f6-55bdf17a0457" providerId="AD" clId="Web-{BDF7FCE6-5DF6-9A97-3F8B-2CCFCF8F146D}" dt="2025-07-12T13:48:29.652" v="84" actId="20577"/>
          <ac:spMkLst>
            <pc:docMk/>
            <pc:sldMk cId="0" sldId="297"/>
            <ac:spMk id="195" creationId="{28A818F9-284D-04A5-4CC1-C5D61CC45C9A}"/>
          </ac:spMkLst>
        </pc:spChg>
        <pc:spChg chg="mod">
          <ac:chgData name="P Murali Krishna" userId="S::pmuralikrishna@kluniversity.in::b4e88df8-02e8-4a4f-88f6-55bdf17a0457" providerId="AD" clId="Web-{BDF7FCE6-5DF6-9A97-3F8B-2CCFCF8F146D}" dt="2025-07-12T13:47:03.758" v="66" actId="20577"/>
          <ac:spMkLst>
            <pc:docMk/>
            <pc:sldMk cId="0" sldId="297"/>
            <ac:spMk id="20483" creationId="{464842DB-EC09-2291-DDFD-E4812025B554}"/>
          </ac:spMkLst>
        </pc:spChg>
      </pc:sldChg>
      <pc:sldChg chg="add">
        <pc:chgData name="P Murali Krishna" userId="S::pmuralikrishna@kluniversity.in::b4e88df8-02e8-4a4f-88f6-55bdf17a0457" providerId="AD" clId="Web-{BDF7FCE6-5DF6-9A97-3F8B-2CCFCF8F146D}" dt="2025-07-12T13:41:04.696" v="1"/>
        <pc:sldMkLst>
          <pc:docMk/>
          <pc:sldMk cId="431547288" sldId="326"/>
        </pc:sldMkLst>
      </pc:sldChg>
      <pc:sldChg chg="addSp delSp modSp add replId">
        <pc:chgData name="P Murali Krishna" userId="S::pmuralikrishna@kluniversity.in::b4e88df8-02e8-4a4f-88f6-55bdf17a0457" providerId="AD" clId="Web-{BDF7FCE6-5DF6-9A97-3F8B-2CCFCF8F146D}" dt="2025-07-12T13:43:17.624" v="23" actId="1076"/>
        <pc:sldMkLst>
          <pc:docMk/>
          <pc:sldMk cId="2571393145" sldId="327"/>
        </pc:sldMkLst>
        <pc:spChg chg="del mod">
          <ac:chgData name="P Murali Krishna" userId="S::pmuralikrishna@kluniversity.in::b4e88df8-02e8-4a4f-88f6-55bdf17a0457" providerId="AD" clId="Web-{BDF7FCE6-5DF6-9A97-3F8B-2CCFCF8F146D}" dt="2025-07-12T13:42:49.169" v="19"/>
          <ac:spMkLst>
            <pc:docMk/>
            <pc:sldMk cId="2571393145" sldId="327"/>
            <ac:spMk id="195" creationId="{4D967CF5-57B9-EFC0-5E51-ECB6FD67A845}"/>
          </ac:spMkLst>
        </pc:spChg>
        <pc:spChg chg="mod">
          <ac:chgData name="P Murali Krishna" userId="S::pmuralikrishna@kluniversity.in::b4e88df8-02e8-4a4f-88f6-55bdf17a0457" providerId="AD" clId="Web-{BDF7FCE6-5DF6-9A97-3F8B-2CCFCF8F146D}" dt="2025-07-12T13:42:40.247" v="17" actId="20577"/>
          <ac:spMkLst>
            <pc:docMk/>
            <pc:sldMk cId="2571393145" sldId="327"/>
            <ac:spMk id="20483" creationId="{2D8F43B8-FD4E-0EF5-A470-AB75299FB017}"/>
          </ac:spMkLst>
        </pc:spChg>
        <pc:picChg chg="add mod">
          <ac:chgData name="P Murali Krishna" userId="S::pmuralikrishna@kluniversity.in::b4e88df8-02e8-4a4f-88f6-55bdf17a0457" providerId="AD" clId="Web-{BDF7FCE6-5DF6-9A97-3F8B-2CCFCF8F146D}" dt="2025-07-12T13:43:17.624" v="23" actId="1076"/>
          <ac:picMkLst>
            <pc:docMk/>
            <pc:sldMk cId="2571393145" sldId="327"/>
            <ac:picMk id="2" creationId="{94399CA3-8192-EBCE-0A95-DA87410F4121}"/>
          </ac:picMkLst>
        </pc:picChg>
      </pc:sldChg>
      <pc:sldChg chg="new del">
        <pc:chgData name="P Murali Krishna" userId="S::pmuralikrishna@kluniversity.in::b4e88df8-02e8-4a4f-88f6-55bdf17a0457" providerId="AD" clId="Web-{BDF7FCE6-5DF6-9A97-3F8B-2CCFCF8F146D}" dt="2025-07-12T13:44:20.048" v="27"/>
        <pc:sldMkLst>
          <pc:docMk/>
          <pc:sldMk cId="2811134064" sldId="328"/>
        </pc:sldMkLst>
      </pc:sldChg>
      <pc:sldChg chg="add replId">
        <pc:chgData name="P Murali Krishna" userId="S::pmuralikrishna@kluniversity.in::b4e88df8-02e8-4a4f-88f6-55bdf17a0457" providerId="AD" clId="Web-{BDF7FCE6-5DF6-9A97-3F8B-2CCFCF8F146D}" dt="2025-07-12T13:44:54.800" v="28"/>
        <pc:sldMkLst>
          <pc:docMk/>
          <pc:sldMk cId="3353535407" sldId="3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10FD35-98A1-B5A3-1E23-F16A56EB8E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92BB2-3681-0E62-89F7-DE95F07EC0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D6BABBA-6688-4748-B7AF-DA201F67ECF6}" type="datetimeFigureOut">
              <a:rPr lang="en-IN"/>
              <a:pPr>
                <a:defRPr/>
              </a:pPr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BC26C-9188-786E-CBDE-95F59D4F7A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DCE55-8F3E-72DC-FCDB-DD52C89172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657974E-26D2-434E-9DB5-973B165A0EF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97EB20-1AC6-23DF-9E43-06F4060D2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ABA23-06EA-3113-0454-0D70EF2611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F69B69C-8041-4045-9DD9-2E326831A933}" type="datetimeFigureOut">
              <a:rPr lang="en-IN"/>
              <a:pPr>
                <a:defRPr/>
              </a:pPr>
              <a:t>12-07-2025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387ABB0-CC2E-DF25-80C2-E080F5930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233646-60F3-C267-3554-CE22AA1CE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5355A-32D9-65C3-CC81-17B3B59797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CA999-7003-9CB7-57F6-07BAA413B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2653B88-E9CF-47DE-BFA8-EA2E2597071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125;p1:notes">
            <a:extLst>
              <a:ext uri="{FF2B5EF4-FFF2-40B4-BE49-F238E27FC236}">
                <a16:creationId xmlns:a16="http://schemas.microsoft.com/office/drawing/2014/main" id="{422EC1D1-CFF0-8BC8-C5A4-C28A2ABF0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3" name="Google Shape;126;p1:notes">
            <a:extLst>
              <a:ext uri="{FF2B5EF4-FFF2-40B4-BE49-F238E27FC236}">
                <a16:creationId xmlns:a16="http://schemas.microsoft.com/office/drawing/2014/main" id="{30989BAA-B247-BFA0-652D-088617ABC56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217488" y="812800"/>
            <a:ext cx="7124700" cy="4008438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138;p2:notes">
            <a:extLst>
              <a:ext uri="{FF2B5EF4-FFF2-40B4-BE49-F238E27FC236}">
                <a16:creationId xmlns:a16="http://schemas.microsoft.com/office/drawing/2014/main" id="{07B67D6A-1043-AC21-3F15-78D6B1F19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1" name="Google Shape;139;p2:notes">
            <a:extLst>
              <a:ext uri="{FF2B5EF4-FFF2-40B4-BE49-F238E27FC236}">
                <a16:creationId xmlns:a16="http://schemas.microsoft.com/office/drawing/2014/main" id="{6483180A-39CF-D53E-ABA5-815E143E4E9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217488" y="812800"/>
            <a:ext cx="7124700" cy="4008438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C6F7CCB-1855-0D44-DE8A-2E9837BD3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188;g23b9104a24c_0_23:notes">
            <a:extLst>
              <a:ext uri="{FF2B5EF4-FFF2-40B4-BE49-F238E27FC236}">
                <a16:creationId xmlns:a16="http://schemas.microsoft.com/office/drawing/2014/main" id="{2008FF82-5F42-CEF1-C781-BD9A27CD457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19459" name="Google Shape;189;g23b9104a24c_0_23:notes">
            <a:extLst>
              <a:ext uri="{FF2B5EF4-FFF2-40B4-BE49-F238E27FC236}">
                <a16:creationId xmlns:a16="http://schemas.microsoft.com/office/drawing/2014/main" id="{5A6F4435-6305-9A07-F1B5-213A63FB0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460" name="Google Shape;190;g23b9104a24c_0_23:notes">
            <a:extLst>
              <a:ext uri="{FF2B5EF4-FFF2-40B4-BE49-F238E27FC236}">
                <a16:creationId xmlns:a16="http://schemas.microsoft.com/office/drawing/2014/main" id="{B486C8A0-223B-5A53-C926-C8F4F02DD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54C03E87-684F-4506-8318-0D4C2F09CBF0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3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839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B71E290-2C6F-47A2-9620-A59D9088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188;g23b9104a24c_0_23:notes">
            <a:extLst>
              <a:ext uri="{FF2B5EF4-FFF2-40B4-BE49-F238E27FC236}">
                <a16:creationId xmlns:a16="http://schemas.microsoft.com/office/drawing/2014/main" id="{D8A99976-421D-E81A-2E80-AFEEEB6721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19459" name="Google Shape;189;g23b9104a24c_0_23:notes">
            <a:extLst>
              <a:ext uri="{FF2B5EF4-FFF2-40B4-BE49-F238E27FC236}">
                <a16:creationId xmlns:a16="http://schemas.microsoft.com/office/drawing/2014/main" id="{6C6766FB-2128-DB99-E406-19E69BF29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460" name="Google Shape;190;g23b9104a24c_0_23:notes">
            <a:extLst>
              <a:ext uri="{FF2B5EF4-FFF2-40B4-BE49-F238E27FC236}">
                <a16:creationId xmlns:a16="http://schemas.microsoft.com/office/drawing/2014/main" id="{283946C2-64B6-04E1-1DE9-D4581EB02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54C03E87-684F-4506-8318-0D4C2F09CBF0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4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34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188;g23b9104a24c_0_23:notes">
            <a:extLst>
              <a:ext uri="{FF2B5EF4-FFF2-40B4-BE49-F238E27FC236}">
                <a16:creationId xmlns:a16="http://schemas.microsoft.com/office/drawing/2014/main" id="{90B23ED5-627B-C39E-BEDD-2723260C3FE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19459" name="Google Shape;189;g23b9104a24c_0_23:notes">
            <a:extLst>
              <a:ext uri="{FF2B5EF4-FFF2-40B4-BE49-F238E27FC236}">
                <a16:creationId xmlns:a16="http://schemas.microsoft.com/office/drawing/2014/main" id="{EA30F6CA-1B54-400B-4958-B35B1A8EE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460" name="Google Shape;190;g23b9104a24c_0_23:notes">
            <a:extLst>
              <a:ext uri="{FF2B5EF4-FFF2-40B4-BE49-F238E27FC236}">
                <a16:creationId xmlns:a16="http://schemas.microsoft.com/office/drawing/2014/main" id="{23D5557F-A9DD-FBDC-23CA-A4C08D967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0A3BBE0A-CD6C-41C7-9353-1DA5854E1625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3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35E80E-80AF-89D6-9E2C-53F4395A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188;g23b9104a24c_0_23:notes">
            <a:extLst>
              <a:ext uri="{FF2B5EF4-FFF2-40B4-BE49-F238E27FC236}">
                <a16:creationId xmlns:a16="http://schemas.microsoft.com/office/drawing/2014/main" id="{026F4B60-32AA-25E9-C983-3D4FDDD33DB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19459" name="Google Shape;189;g23b9104a24c_0_23:notes">
            <a:extLst>
              <a:ext uri="{FF2B5EF4-FFF2-40B4-BE49-F238E27FC236}">
                <a16:creationId xmlns:a16="http://schemas.microsoft.com/office/drawing/2014/main" id="{2A8C4438-254E-5588-25B1-AB183D69C6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460" name="Google Shape;190;g23b9104a24c_0_23:notes">
            <a:extLst>
              <a:ext uri="{FF2B5EF4-FFF2-40B4-BE49-F238E27FC236}">
                <a16:creationId xmlns:a16="http://schemas.microsoft.com/office/drawing/2014/main" id="{E8233AB9-FF46-DDE2-3A7B-4945118B7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0A3BBE0A-CD6C-41C7-9353-1DA5854E1625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6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442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188;g23b9104a24c_0_23:notes">
            <a:extLst>
              <a:ext uri="{FF2B5EF4-FFF2-40B4-BE49-F238E27FC236}">
                <a16:creationId xmlns:a16="http://schemas.microsoft.com/office/drawing/2014/main" id="{88916043-56EF-3542-1A6A-027E08929E6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1507" name="Google Shape;189;g23b9104a24c_0_23:notes">
            <a:extLst>
              <a:ext uri="{FF2B5EF4-FFF2-40B4-BE49-F238E27FC236}">
                <a16:creationId xmlns:a16="http://schemas.microsoft.com/office/drawing/2014/main" id="{D4E40BD4-4CDA-F1C9-89BC-7720C964E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508" name="Google Shape;190;g23b9104a24c_0_23:notes">
            <a:extLst>
              <a:ext uri="{FF2B5EF4-FFF2-40B4-BE49-F238E27FC236}">
                <a16:creationId xmlns:a16="http://schemas.microsoft.com/office/drawing/2014/main" id="{EBA9BDB3-D39F-A08B-DED7-20A53E060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E4601B0B-A119-4685-BE0B-338C1DB7C404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4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188;g23b9104a24c_0_23:notes">
            <a:extLst>
              <a:ext uri="{FF2B5EF4-FFF2-40B4-BE49-F238E27FC236}">
                <a16:creationId xmlns:a16="http://schemas.microsoft.com/office/drawing/2014/main" id="{6F8D6DDC-F8F9-6D09-E7F7-8CCB4B64DE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3555" name="Google Shape;189;g23b9104a24c_0_23:notes">
            <a:extLst>
              <a:ext uri="{FF2B5EF4-FFF2-40B4-BE49-F238E27FC236}">
                <a16:creationId xmlns:a16="http://schemas.microsoft.com/office/drawing/2014/main" id="{6819E2D2-D45B-CF85-E733-6CD0BE1B0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556" name="Google Shape;190;g23b9104a24c_0_23:notes">
            <a:extLst>
              <a:ext uri="{FF2B5EF4-FFF2-40B4-BE49-F238E27FC236}">
                <a16:creationId xmlns:a16="http://schemas.microsoft.com/office/drawing/2014/main" id="{C51E1FAF-B6E5-202D-6554-985449C13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51D474CC-D1BF-4396-BA9C-80E464FF4171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5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188;g23b9104a24c_0_23:notes">
            <a:extLst>
              <a:ext uri="{FF2B5EF4-FFF2-40B4-BE49-F238E27FC236}">
                <a16:creationId xmlns:a16="http://schemas.microsoft.com/office/drawing/2014/main" id="{50C23E0F-3548-2A33-E296-3C86302107C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5603" name="Google Shape;189;g23b9104a24c_0_23:notes">
            <a:extLst>
              <a:ext uri="{FF2B5EF4-FFF2-40B4-BE49-F238E27FC236}">
                <a16:creationId xmlns:a16="http://schemas.microsoft.com/office/drawing/2014/main" id="{DAE5CEF8-D761-6845-89B6-EDF01684A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604" name="Google Shape;190;g23b9104a24c_0_23:notes">
            <a:extLst>
              <a:ext uri="{FF2B5EF4-FFF2-40B4-BE49-F238E27FC236}">
                <a16:creationId xmlns:a16="http://schemas.microsoft.com/office/drawing/2014/main" id="{71E6EBFF-AAEA-A89E-AAA2-FAB7B1982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EEBA9051-D165-4F05-AE87-6475104B497A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6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188;g23b9104a24c_0_23:notes">
            <a:extLst>
              <a:ext uri="{FF2B5EF4-FFF2-40B4-BE49-F238E27FC236}">
                <a16:creationId xmlns:a16="http://schemas.microsoft.com/office/drawing/2014/main" id="{2BDCA379-D14E-2D7E-D308-4B2B1184509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7651" name="Google Shape;189;g23b9104a24c_0_23:notes">
            <a:extLst>
              <a:ext uri="{FF2B5EF4-FFF2-40B4-BE49-F238E27FC236}">
                <a16:creationId xmlns:a16="http://schemas.microsoft.com/office/drawing/2014/main" id="{D03956EC-C6C7-3FF8-8739-87DAFF28C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652" name="Google Shape;190;g23b9104a24c_0_23:notes">
            <a:extLst>
              <a:ext uri="{FF2B5EF4-FFF2-40B4-BE49-F238E27FC236}">
                <a16:creationId xmlns:a16="http://schemas.microsoft.com/office/drawing/2014/main" id="{25050E9F-54BC-30C2-904D-9F4B13B83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075C1C06-C06E-497C-A3F2-83F5E1963EC8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7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188;g23b9104a24c_0_23:notes">
            <a:extLst>
              <a:ext uri="{FF2B5EF4-FFF2-40B4-BE49-F238E27FC236}">
                <a16:creationId xmlns:a16="http://schemas.microsoft.com/office/drawing/2014/main" id="{C893DF3E-A539-720C-879E-9F13FB3F8C1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9699" name="Google Shape;189;g23b9104a24c_0_23:notes">
            <a:extLst>
              <a:ext uri="{FF2B5EF4-FFF2-40B4-BE49-F238E27FC236}">
                <a16:creationId xmlns:a16="http://schemas.microsoft.com/office/drawing/2014/main" id="{D87ED0FB-284B-D205-4D3D-DF497B13D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700" name="Google Shape;190;g23b9104a24c_0_23:notes">
            <a:extLst>
              <a:ext uri="{FF2B5EF4-FFF2-40B4-BE49-F238E27FC236}">
                <a16:creationId xmlns:a16="http://schemas.microsoft.com/office/drawing/2014/main" id="{A5610CB2-67FF-EB36-B11A-1303364E1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5454C0A5-6B45-4C04-AA79-DEC6BD3761E8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8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188;g23b9104a24c_0_23:notes">
            <a:extLst>
              <a:ext uri="{FF2B5EF4-FFF2-40B4-BE49-F238E27FC236}">
                <a16:creationId xmlns:a16="http://schemas.microsoft.com/office/drawing/2014/main" id="{24539297-1832-51F0-70C5-CB19C3C7F8C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1747" name="Google Shape;189;g23b9104a24c_0_23:notes">
            <a:extLst>
              <a:ext uri="{FF2B5EF4-FFF2-40B4-BE49-F238E27FC236}">
                <a16:creationId xmlns:a16="http://schemas.microsoft.com/office/drawing/2014/main" id="{C03254A0-6168-E7FB-E6F5-6B13F1BC1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748" name="Google Shape;190;g23b9104a24c_0_23:notes">
            <a:extLst>
              <a:ext uri="{FF2B5EF4-FFF2-40B4-BE49-F238E27FC236}">
                <a16:creationId xmlns:a16="http://schemas.microsoft.com/office/drawing/2014/main" id="{E2B54100-6E63-7A4F-445F-5ED1DB90B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ECC52747-0ED2-4F80-944A-38CCF72A24A7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9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88;g23b9104a24c_0_23:notes">
            <a:extLst>
              <a:ext uri="{FF2B5EF4-FFF2-40B4-BE49-F238E27FC236}">
                <a16:creationId xmlns:a16="http://schemas.microsoft.com/office/drawing/2014/main" id="{5A6F6238-90B0-CE94-A6A4-7D65B31934B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3795" name="Google Shape;189;g23b9104a24c_0_23:notes">
            <a:extLst>
              <a:ext uri="{FF2B5EF4-FFF2-40B4-BE49-F238E27FC236}">
                <a16:creationId xmlns:a16="http://schemas.microsoft.com/office/drawing/2014/main" id="{1BAC674A-87E4-5266-677E-815824538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796" name="Google Shape;190;g23b9104a24c_0_23:notes">
            <a:extLst>
              <a:ext uri="{FF2B5EF4-FFF2-40B4-BE49-F238E27FC236}">
                <a16:creationId xmlns:a16="http://schemas.microsoft.com/office/drawing/2014/main" id="{D702C188-450A-387C-EB23-41F944F39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7C196824-B002-4631-8400-F4876075ED2F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10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306;p10:notes">
            <a:extLst>
              <a:ext uri="{FF2B5EF4-FFF2-40B4-BE49-F238E27FC236}">
                <a16:creationId xmlns:a16="http://schemas.microsoft.com/office/drawing/2014/main" id="{21565E60-DB30-1DA6-2D3B-A25B1B84AC6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5843" name="Google Shape;307;p10:notes">
            <a:extLst>
              <a:ext uri="{FF2B5EF4-FFF2-40B4-BE49-F238E27FC236}">
                <a16:creationId xmlns:a16="http://schemas.microsoft.com/office/drawing/2014/main" id="{F7585ECF-22DA-660F-301A-BFBE8BA30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844" name="Google Shape;308;p10:notes">
            <a:extLst>
              <a:ext uri="{FF2B5EF4-FFF2-40B4-BE49-F238E27FC236}">
                <a16:creationId xmlns:a16="http://schemas.microsoft.com/office/drawing/2014/main" id="{4D86AF87-D451-5C65-35A8-A3A7D1F6F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E0A77A75-0308-4F00-AF5A-C37B06D529CB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11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306;p10:notes">
            <a:extLst>
              <a:ext uri="{FF2B5EF4-FFF2-40B4-BE49-F238E27FC236}">
                <a16:creationId xmlns:a16="http://schemas.microsoft.com/office/drawing/2014/main" id="{A4F77150-667C-E9D4-1B70-C5B22D7F406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7891" name="Google Shape;307;p10:notes">
            <a:extLst>
              <a:ext uri="{FF2B5EF4-FFF2-40B4-BE49-F238E27FC236}">
                <a16:creationId xmlns:a16="http://schemas.microsoft.com/office/drawing/2014/main" id="{73E6BA8D-BD23-EB09-AC87-A6DE295E5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892" name="Google Shape;308;p10:notes">
            <a:extLst>
              <a:ext uri="{FF2B5EF4-FFF2-40B4-BE49-F238E27FC236}">
                <a16:creationId xmlns:a16="http://schemas.microsoft.com/office/drawing/2014/main" id="{1A87F536-0166-0A2E-E317-7C5005267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3E6B116E-834B-43C4-A7B2-FBD3ADB4D840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12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306;p10:notes">
            <a:extLst>
              <a:ext uri="{FF2B5EF4-FFF2-40B4-BE49-F238E27FC236}">
                <a16:creationId xmlns:a16="http://schemas.microsoft.com/office/drawing/2014/main" id="{A0667B1D-BFDB-9785-357E-31BF4FC9BD0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9939" name="Google Shape;307;p10:notes">
            <a:extLst>
              <a:ext uri="{FF2B5EF4-FFF2-40B4-BE49-F238E27FC236}">
                <a16:creationId xmlns:a16="http://schemas.microsoft.com/office/drawing/2014/main" id="{9A9550C2-BF44-3D5A-DBB6-5CF11EF5B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940" name="Google Shape;308;p10:notes">
            <a:extLst>
              <a:ext uri="{FF2B5EF4-FFF2-40B4-BE49-F238E27FC236}">
                <a16:creationId xmlns:a16="http://schemas.microsoft.com/office/drawing/2014/main" id="{1E8726BF-DFDE-2C5B-743B-0A3630E94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95A85233-1A5C-4EA8-B8BB-6B9606C1FBFD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13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Google Shape;306;p10:notes">
            <a:extLst>
              <a:ext uri="{FF2B5EF4-FFF2-40B4-BE49-F238E27FC236}">
                <a16:creationId xmlns:a16="http://schemas.microsoft.com/office/drawing/2014/main" id="{D84EC6CD-F683-1290-2847-9FF180C3EFB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41987" name="Google Shape;307;p10:notes">
            <a:extLst>
              <a:ext uri="{FF2B5EF4-FFF2-40B4-BE49-F238E27FC236}">
                <a16:creationId xmlns:a16="http://schemas.microsoft.com/office/drawing/2014/main" id="{839B8ED0-7BB1-C211-7B86-5475D79E9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988" name="Google Shape;308;p10:notes">
            <a:extLst>
              <a:ext uri="{FF2B5EF4-FFF2-40B4-BE49-F238E27FC236}">
                <a16:creationId xmlns:a16="http://schemas.microsoft.com/office/drawing/2014/main" id="{5B4E00A3-B679-F10A-DAC3-49D6F7DD8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B4278EE0-041B-4F39-899C-8AD8C625F954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14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Google Shape;306;p10:notes">
            <a:extLst>
              <a:ext uri="{FF2B5EF4-FFF2-40B4-BE49-F238E27FC236}">
                <a16:creationId xmlns:a16="http://schemas.microsoft.com/office/drawing/2014/main" id="{11832E0B-90A1-00EE-2B29-0A6848C75AC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44035" name="Google Shape;307;p10:notes">
            <a:extLst>
              <a:ext uri="{FF2B5EF4-FFF2-40B4-BE49-F238E27FC236}">
                <a16:creationId xmlns:a16="http://schemas.microsoft.com/office/drawing/2014/main" id="{CE16C8D6-F52B-B9F1-7FA9-4F102DB02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036" name="Google Shape;308;p10:notes">
            <a:extLst>
              <a:ext uri="{FF2B5EF4-FFF2-40B4-BE49-F238E27FC236}">
                <a16:creationId xmlns:a16="http://schemas.microsoft.com/office/drawing/2014/main" id="{331DA81C-03B3-5B11-067C-89B4AC374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b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r" eaLnBrk="1" hangingPunct="1"/>
            <a:fld id="{7117E1C8-AE9F-4C55-9679-3D7972B4A125}" type="slidenum"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pPr algn="r" eaLnBrk="1" hangingPunct="1"/>
              <a:t>15</a:t>
            </a:fld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869DA2-43DA-8BC1-CF36-9F0DB8A77E6E}"/>
              </a:ext>
            </a:extLst>
          </p:cNvPr>
          <p:cNvCxnSpPr/>
          <p:nvPr/>
        </p:nvCxnSpPr>
        <p:spPr>
          <a:xfrm>
            <a:off x="2417763" y="3529013"/>
            <a:ext cx="863758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796089-F92E-8668-EDBD-A4BF813E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3466D-F17D-C7AD-31FC-F990F352E5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38275" y="798513"/>
            <a:ext cx="809625" cy="5048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10B0A-D199-44A9-8008-C82E1FC3021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2652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3B00B1-0840-B54F-A342-8D7EACBB56D8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A8633C-95A9-6CD8-657B-BC6DB1D3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EBC-8243-0D59-6A05-22ACF70CC4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E4A00-46A8-4B63-B0BD-89E3505A022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23604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AE741D-0676-2F9A-B136-09502792C8C7}"/>
              </a:ext>
            </a:extLst>
          </p:cNvPr>
          <p:cNvCxnSpPr/>
          <p:nvPr/>
        </p:nvCxnSpPr>
        <p:spPr>
          <a:xfrm>
            <a:off x="1454150" y="3805238"/>
            <a:ext cx="86312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33951F9-D25A-6B1D-3748-37A93153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4937-FFA8-46E2-DBDD-77B34D1818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29949-1603-42D8-921D-D5CCADD072C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5824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E88165-CA17-1528-F38E-D0F6F5569943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5ECB120-7431-D8CB-D336-74F37547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66622-0522-12FF-4E17-BA81158B2C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48A1D-9FCF-4393-9D8F-F8FA3F93402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42054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DA39FC-6260-3F36-7D72-1F7048C9DE59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403B2CAB-D4D1-93D4-F8BB-A75D7BAD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AB7E7-F713-A197-03E5-AAEC234375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3E0BE-F968-4879-85C5-52D652215CD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90302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499A6CC-D2E5-DB94-2764-5C0FF0B6316E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5373855F-0533-697C-D88B-809BBC711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8E054-B47E-4B85-CB5C-DE9CD33FE2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F6D1F-A043-47DD-A887-34D1060D081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2816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E97631-FE03-DD69-4106-375234CF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CD30C5B-6A8A-2D28-95C5-95E79970FE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DB8F5-5A87-4194-A2ED-866AAC5B18C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7460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0A2D64-F031-9859-782C-748E5A685985}"/>
              </a:ext>
            </a:extLst>
          </p:cNvPr>
          <p:cNvCxnSpPr/>
          <p:nvPr/>
        </p:nvCxnSpPr>
        <p:spPr>
          <a:xfrm>
            <a:off x="1447800" y="3205163"/>
            <a:ext cx="3270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4B09CC1-0A7B-70DE-9DA8-828090E8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ABE5E-08CC-71ED-CDC9-586B154903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7C6BA-CC5A-40C7-86DA-D08DCB8E714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3666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>
            <a:extLst>
              <a:ext uri="{FF2B5EF4-FFF2-40B4-BE49-F238E27FC236}">
                <a16:creationId xmlns:a16="http://schemas.microsoft.com/office/drawing/2014/main" id="{B68462E7-5DEB-35F0-2268-C26B9D70AF9C}"/>
              </a:ext>
            </a:extLst>
          </p:cNvPr>
          <p:cNvGrpSpPr>
            <a:grpSpLocks/>
          </p:cNvGrpSpPr>
          <p:nvPr/>
        </p:nvGrpSpPr>
        <p:grpSpPr bwMode="auto">
          <a:xfrm>
            <a:off x="7477125" y="482600"/>
            <a:ext cx="4075113" cy="5148263"/>
            <a:chOff x="7477387" y="482170"/>
            <a:chExt cx="4074533" cy="51491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78238B-4B6C-2788-5DE2-6FA6A168797D}"/>
                </a:ext>
              </a:extLst>
            </p:cNvPr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601330-24F6-D1EA-8EC5-EB61CB881F78}"/>
                </a:ext>
              </a:extLst>
            </p:cNvPr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6E5C90-A986-11AE-F0B4-09C96A4F3CF6}"/>
              </a:ext>
            </a:extLst>
          </p:cNvPr>
          <p:cNvCxnSpPr/>
          <p:nvPr/>
        </p:nvCxnSpPr>
        <p:spPr>
          <a:xfrm>
            <a:off x="1447800" y="3143250"/>
            <a:ext cx="55276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388D910-1F4B-CE0B-B2CD-B3E28F997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7800" y="5470525"/>
            <a:ext cx="5527675" cy="319088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AC2C27C-B7E4-8681-D7BD-8C40B47FFF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CE625-328B-47EF-A180-B174D3D81F3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71888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394197-F6D9-5493-9430-BCD179CC4184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100F7E-FD1D-CE2B-A383-117DFF8F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18DE9-AFED-3B46-6D6C-89BEB15679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9D3DC-5FE7-4D3B-A20C-00101D1D33A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4895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D92B9A-CC2B-0E57-E254-D1A08DC293CD}"/>
              </a:ext>
            </a:extLst>
          </p:cNvPr>
          <p:cNvCxnSpPr/>
          <p:nvPr/>
        </p:nvCxnSpPr>
        <p:spPr>
          <a:xfrm>
            <a:off x="9439275" y="798513"/>
            <a:ext cx="0" cy="466090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D71246-6A5B-DE03-B046-DBB797D7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BEF98-C00B-25D2-38D3-1D240E92AF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87900-AE03-4F85-B05C-3DF68C8776D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2462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52D8C3-F4E4-0767-860D-F1E04348C745}"/>
              </a:ext>
            </a:extLst>
          </p:cNvPr>
          <p:cNvSpPr/>
          <p:nvPr/>
        </p:nvSpPr>
        <p:spPr>
          <a:xfrm>
            <a:off x="0" y="2019300"/>
            <a:ext cx="12192000" cy="41068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E8CF1-CFF3-F840-253C-B4F10E2A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975" y="804863"/>
            <a:ext cx="9604375" cy="1049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269A675-46C1-128E-87E9-EE186FE8F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50975" y="2016125"/>
            <a:ext cx="9604375" cy="344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9B576-943F-3832-28C6-EBE58096B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4913" y="379413"/>
            <a:ext cx="3500437" cy="30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8E12B-91C4-588C-B229-29A5E10ED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1188" y="6291263"/>
            <a:ext cx="809625" cy="5032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8220D5E1-804B-41A7-8393-4FC2442A175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42A936-0408-CD3D-F002-D4C0C80B4134}"/>
              </a:ext>
            </a:extLst>
          </p:cNvPr>
          <p:cNvCxnSpPr/>
          <p:nvPr/>
        </p:nvCxnSpPr>
        <p:spPr>
          <a:xfrm>
            <a:off x="0" y="6127750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73110941-28DF-6632-4A85-6A56944DC1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33338"/>
            <a:ext cx="12192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1">
            <a:extLst>
              <a:ext uri="{FF2B5EF4-FFF2-40B4-BE49-F238E27FC236}">
                <a16:creationId xmlns:a16="http://schemas.microsoft.com/office/drawing/2014/main" id="{789A31B9-21E2-5BD0-F571-5D23C78593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" t="18054" b="50110"/>
          <a:stretch>
            <a:fillRect/>
          </a:stretch>
        </p:blipFill>
        <p:spPr bwMode="auto">
          <a:xfrm>
            <a:off x="1450975" y="6373813"/>
            <a:ext cx="2913063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06353E57-A721-C919-B8C3-A21F0E70A4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 bwMode="auto">
          <a:xfrm>
            <a:off x="8824913" y="6373813"/>
            <a:ext cx="223043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1" r:id="rId7"/>
    <p:sldLayoutId id="2147483878" r:id="rId8"/>
    <p:sldLayoutId id="2147483879" r:id="rId9"/>
    <p:sldLayoutId id="2147483880" r:id="rId10"/>
    <p:sldLayoutId id="214748388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ursera.org/learn/operations-research-theory" TargetMode="External"/><Relationship Id="rId5" Type="http://schemas.openxmlformats.org/officeDocument/2006/relationships/hyperlink" Target="https://www.coursera.org/learn/operations-research-algorithms" TargetMode="External"/><Relationship Id="rId4" Type="http://schemas.openxmlformats.org/officeDocument/2006/relationships/hyperlink" Target="https://www.coursera.org/learn/operations-research-model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ursera.org/learn/discrete-optimization" TargetMode="External"/><Relationship Id="rId5" Type="http://schemas.openxmlformats.org/officeDocument/2006/relationships/hyperlink" Target="https://www.coursera.org/learn/mathematical-optimization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128;p27">
            <a:extLst>
              <a:ext uri="{FF2B5EF4-FFF2-40B4-BE49-F238E27FC236}">
                <a16:creationId xmlns:a16="http://schemas.microsoft.com/office/drawing/2014/main" id="{9F82A9F2-190E-3E83-BC52-6DADB8079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4925"/>
            <a:ext cx="12192000" cy="6856413"/>
          </a:xfrm>
          <a:prstGeom prst="rect">
            <a:avLst/>
          </a:prstGeom>
          <a:solidFill>
            <a:schemeClr val="bg1"/>
          </a:solidFill>
          <a:ln w="25400">
            <a:solidFill>
              <a:srgbClr val="BA8C00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39" name="Google Shape;129;p27">
            <a:extLst>
              <a:ext uri="{FF2B5EF4-FFF2-40B4-BE49-F238E27FC236}">
                <a16:creationId xmlns:a16="http://schemas.microsoft.com/office/drawing/2014/main" id="{FD644C39-DFEC-FB2C-F7B9-053AC4BCB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225" y="1500188"/>
            <a:ext cx="8532813" cy="288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COURSE NAME:MATHEMATICAL OPTIMIZATION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CODE:24MT2012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Topic: </a:t>
            </a:r>
            <a:r>
              <a:rPr lang="en-US" altLang="en-US" b="1" dirty="0">
                <a:highlight>
                  <a:srgbClr val="FFFF00"/>
                </a:highlight>
              </a:rPr>
              <a:t>Optimization Problems &amp; Applications Across Disciplines</a:t>
            </a:r>
            <a:endParaRPr lang="en-US" altLang="en-US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340" name="Google Shape;130;p27">
            <a:extLst>
              <a:ext uri="{FF2B5EF4-FFF2-40B4-BE49-F238E27FC236}">
                <a16:creationId xmlns:a16="http://schemas.microsoft.com/office/drawing/2014/main" id="{62D1F821-95C6-51A2-83CD-8DC17BFA1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563" y="196850"/>
            <a:ext cx="5811837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1" name="Google Shape;131;p27">
            <a:extLst>
              <a:ext uri="{FF2B5EF4-FFF2-40B4-BE49-F238E27FC236}">
                <a16:creationId xmlns:a16="http://schemas.microsoft.com/office/drawing/2014/main" id="{D610E54C-0AC2-31E7-EF03-36C63C9C36EF}"/>
              </a:ext>
            </a:extLst>
          </p:cNvPr>
          <p:cNvSpPr/>
          <p:nvPr/>
        </p:nvSpPr>
        <p:spPr>
          <a:xfrm>
            <a:off x="5208588" y="4783138"/>
            <a:ext cx="2533650" cy="452437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CO1: Session - 01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2" name="Google Shape;132;p27">
            <a:extLst>
              <a:ext uri="{FF2B5EF4-FFF2-40B4-BE49-F238E27FC236}">
                <a16:creationId xmlns:a16="http://schemas.microsoft.com/office/drawing/2014/main" id="{F4E41BF7-8CCE-80BC-5195-BC6B6CF8B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3" name="Google Shape;133;p27">
            <a:extLst>
              <a:ext uri="{FF2B5EF4-FFF2-40B4-BE49-F238E27FC236}">
                <a16:creationId xmlns:a16="http://schemas.microsoft.com/office/drawing/2014/main" id="{C199E8F0-F71E-A3EB-1EEF-676B23898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4344" name="Google Shape;134;p27" descr="KL Deemed to be University Logo">
            <a:extLst>
              <a:ext uri="{FF2B5EF4-FFF2-40B4-BE49-F238E27FC236}">
                <a16:creationId xmlns:a16="http://schemas.microsoft.com/office/drawing/2014/main" id="{BD357727-C78D-06F4-CFCB-915A44955A0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038"/>
            <a:ext cx="3522663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5" name="Google Shape;135;p27">
            <a:extLst>
              <a:ext uri="{FF2B5EF4-FFF2-40B4-BE49-F238E27FC236}">
                <a16:creationId xmlns:a16="http://schemas.microsoft.com/office/drawing/2014/main" id="{5D079514-FA18-3ECB-8416-D07AB377C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3000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aseline="-250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en-US" altLang="en-US" sz="1800"/>
          </a:p>
        </p:txBody>
      </p:sp>
      <p:pic>
        <p:nvPicPr>
          <p:cNvPr id="14346" name="Google Shape;136;p27">
            <a:extLst>
              <a:ext uri="{FF2B5EF4-FFF2-40B4-BE49-F238E27FC236}">
                <a16:creationId xmlns:a16="http://schemas.microsoft.com/office/drawing/2014/main" id="{692B4AB7-8E36-10D8-C8FD-D5F80A1CFC5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/>
          <a:stretch>
            <a:fillRect/>
          </a:stretch>
        </p:blipFill>
        <p:spPr bwMode="auto">
          <a:xfrm>
            <a:off x="561975" y="6038850"/>
            <a:ext cx="10923588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7" name="Slide Number Placeholder 3">
            <a:extLst>
              <a:ext uri="{FF2B5EF4-FFF2-40B4-BE49-F238E27FC236}">
                <a16:creationId xmlns:a16="http://schemas.microsoft.com/office/drawing/2014/main" id="{725B4951-7301-CCF7-0BE3-B4BD76F800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54649D0-B170-4B4B-B020-9BAAA13DCCF7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>
            <a:extLst>
              <a:ext uri="{FF2B5EF4-FFF2-40B4-BE49-F238E27FC236}">
                <a16:creationId xmlns:a16="http://schemas.microsoft.com/office/drawing/2014/main" id="{1BF4D946-31F5-E0B9-D181-872B76CFDB43}"/>
              </a:ext>
            </a:extLst>
          </p:cNvPr>
          <p:cNvSpPr/>
          <p:nvPr/>
        </p:nvSpPr>
        <p:spPr>
          <a:xfrm>
            <a:off x="4471988" y="84138"/>
            <a:ext cx="3009900" cy="390525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AIM OF THE SESSION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>
            <a:extLst>
              <a:ext uri="{FF2B5EF4-FFF2-40B4-BE49-F238E27FC236}">
                <a16:creationId xmlns:a16="http://schemas.microsoft.com/office/drawing/2014/main" id="{67626A47-83EB-4610-5285-F8BE2C0B4CBF}"/>
              </a:ext>
            </a:extLst>
          </p:cNvPr>
          <p:cNvSpPr/>
          <p:nvPr/>
        </p:nvSpPr>
        <p:spPr>
          <a:xfrm>
            <a:off x="1148073" y="702779"/>
            <a:ext cx="10705480" cy="914399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rnd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0"/>
              </a:srgbClr>
            </a:outerShdw>
          </a:effectLst>
        </p:spPr>
        <p:txBody>
          <a:bodyPr spcFirstLastPara="1" lIns="91425" tIns="45700" rIns="91425" bIns="45700"/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To explore optimization problems and their diverse applications across disciplines through mathematical optimization techniques.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1600" dirty="0">
              <a:latin typeface="Poppins"/>
              <a:ea typeface="Arial"/>
              <a:cs typeface="Poppins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>
            <a:extLst>
              <a:ext uri="{FF2B5EF4-FFF2-40B4-BE49-F238E27FC236}">
                <a16:creationId xmlns:a16="http://schemas.microsoft.com/office/drawing/2014/main" id="{69F4CC13-C3BE-CFF7-CBAE-E978CBB5652A}"/>
              </a:ext>
            </a:extLst>
          </p:cNvPr>
          <p:cNvSpPr/>
          <p:nvPr/>
        </p:nvSpPr>
        <p:spPr>
          <a:xfrm>
            <a:off x="4160838" y="1465263"/>
            <a:ext cx="3870325" cy="50165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INSTRUCTIONAL OBJECTIVES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>
            <a:extLst>
              <a:ext uri="{FF2B5EF4-FFF2-40B4-BE49-F238E27FC236}">
                <a16:creationId xmlns:a16="http://schemas.microsoft.com/office/drawing/2014/main" id="{D2997398-8142-9008-7899-3292C3F0BFEE}"/>
              </a:ext>
            </a:extLst>
          </p:cNvPr>
          <p:cNvSpPr/>
          <p:nvPr/>
        </p:nvSpPr>
        <p:spPr>
          <a:xfrm>
            <a:off x="1752480" y="1887537"/>
            <a:ext cx="8791200" cy="2224087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just" eaLnBrk="1" hangingPunct="1">
              <a:lnSpc>
                <a:spcPct val="200000"/>
              </a:lnSpc>
              <a:defRPr/>
            </a:pPr>
            <a:r>
              <a:rPr lang="en-US" altLang="en-US" sz="1600" dirty="0">
                <a:solidFill>
                  <a:srgbClr val="000000"/>
                </a:solidFill>
                <a:latin typeface="Poppins" pitchFamily="2" charset="0"/>
                <a:ea typeface="Poppins" pitchFamily="2" charset="0"/>
                <a:cs typeface="Poppins" pitchFamily="2" charset="0"/>
                <a:sym typeface="Poppins" pitchFamily="2" charset="0"/>
              </a:rPr>
              <a:t>This Session is designed to: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 eaLnBrk="1" hangingPunct="1"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r>
              <a:rPr lang="en-US" sz="1600" b="1" dirty="0"/>
              <a:t>Define</a:t>
            </a:r>
            <a:r>
              <a:rPr lang="en-US" sz="1600" dirty="0"/>
              <a:t> the concept of optimization and classify different types of optimization problems.</a:t>
            </a:r>
          </a:p>
          <a:p>
            <a:pPr algn="just" eaLnBrk="1" hangingPunct="1"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r>
              <a:rPr lang="en-US" sz="1600" b="1" dirty="0"/>
              <a:t>Explain</a:t>
            </a:r>
            <a:r>
              <a:rPr lang="en-US" sz="1600" dirty="0"/>
              <a:t> the mathematical formulation of optimization problems including objective functions and constraints.</a:t>
            </a:r>
          </a:p>
          <a:p>
            <a:pPr algn="just" eaLnBrk="1" hangingPunct="1"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r>
              <a:rPr lang="en-US" sz="1600" b="1" dirty="0"/>
              <a:t>Identify</a:t>
            </a:r>
            <a:r>
              <a:rPr lang="en-US" sz="1600" dirty="0"/>
              <a:t> key challenges in solving nonlinear optimization problems.</a:t>
            </a:r>
          </a:p>
          <a:p>
            <a:pPr algn="just" eaLnBrk="1" hangingPunct="1"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r>
              <a:rPr lang="en-US" sz="1600" b="1" dirty="0"/>
              <a:t>Analyze</a:t>
            </a:r>
            <a:r>
              <a:rPr lang="en-US" sz="1600" dirty="0"/>
              <a:t> real-world applications of mathematical optimization across various disciplines such as engineering, economics, computer science, and healthcare.</a:t>
            </a:r>
          </a:p>
          <a:p>
            <a:pPr algn="just" eaLnBrk="1" hangingPunct="1"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r>
              <a:rPr lang="en-US" sz="1600" b="1" dirty="0"/>
              <a:t>Evaluate</a:t>
            </a:r>
            <a:r>
              <a:rPr lang="en-US" sz="1600" dirty="0"/>
              <a:t> suitable optimization techniques for specific interdisciplinary problems.</a:t>
            </a:r>
          </a:p>
          <a:p>
            <a:pPr eaLnBrk="1" hangingPunct="1">
              <a:buClr>
                <a:srgbClr val="000000"/>
              </a:buClr>
              <a:buSzPts val="1600"/>
              <a:defRPr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394" name="Google Shape;145;p28" descr="Bullseye outline">
            <a:extLst>
              <a:ext uri="{FF2B5EF4-FFF2-40B4-BE49-F238E27FC236}">
                <a16:creationId xmlns:a16="http://schemas.microsoft.com/office/drawing/2014/main" id="{4E917133-BC9B-F421-4703-D437F16B6BE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547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Google Shape;146;p28" descr="Presentation with checklist outline">
            <a:extLst>
              <a:ext uri="{FF2B5EF4-FFF2-40B4-BE49-F238E27FC236}">
                <a16:creationId xmlns:a16="http://schemas.microsoft.com/office/drawing/2014/main" id="{A795073F-9B53-06EC-1ACD-3F20A2C7272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84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" name="Google Shape;147;p28">
            <a:extLst>
              <a:ext uri="{FF2B5EF4-FFF2-40B4-BE49-F238E27FC236}">
                <a16:creationId xmlns:a16="http://schemas.microsoft.com/office/drawing/2014/main" id="{8D51B870-9F80-DC82-6E1C-CD880D841309}"/>
              </a:ext>
            </a:extLst>
          </p:cNvPr>
          <p:cNvSpPr/>
          <p:nvPr/>
        </p:nvSpPr>
        <p:spPr>
          <a:xfrm>
            <a:off x="3854450" y="4252913"/>
            <a:ext cx="3870325" cy="388937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97" name="Google Shape;148;p28" descr="Idea outline">
            <a:extLst>
              <a:ext uri="{FF2B5EF4-FFF2-40B4-BE49-F238E27FC236}">
                <a16:creationId xmlns:a16="http://schemas.microsoft.com/office/drawing/2014/main" id="{EA2C9F6A-C541-6508-1465-B5E32EB17A1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6567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" name="Google Shape;149;p28">
            <a:extLst>
              <a:ext uri="{FF2B5EF4-FFF2-40B4-BE49-F238E27FC236}">
                <a16:creationId xmlns:a16="http://schemas.microsoft.com/office/drawing/2014/main" id="{7DF289BE-9402-BD84-FE27-4C2DC4FE5617}"/>
              </a:ext>
            </a:extLst>
          </p:cNvPr>
          <p:cNvSpPr/>
          <p:nvPr/>
        </p:nvSpPr>
        <p:spPr>
          <a:xfrm>
            <a:off x="1828440" y="4644599"/>
            <a:ext cx="8991960" cy="1510621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spcFirstLastPara="1" lIns="91425" tIns="45700" rIns="91425" bIns="45700"/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end of this session, the students should be able to: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342900" indent="-34226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r>
              <a:rPr lang="en-US" sz="1600" b="1" dirty="0"/>
              <a:t>Understand</a:t>
            </a:r>
            <a:r>
              <a:rPr lang="en-US" sz="1600" dirty="0"/>
              <a:t> the fundamental concepts and types of optimization problems, including linear, nonlinear, integer, and dynamic programming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42900" indent="-34226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the advantages and limitations of optimization techniques such as convex optimization, genetic algorithms, and mixed-integer programming.</a:t>
            </a:r>
          </a:p>
          <a:p>
            <a:pPr marL="342900" indent="-34226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26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26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AutoNum type="arabicPeriod"/>
              <a:defRPr/>
            </a:pP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42900" indent="-342265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AutoNum type="arabicPeriod"/>
              <a:defRPr/>
            </a:pPr>
            <a:endParaRPr lang="en-US" sz="1600" dirty="0">
              <a:latin typeface="Arial"/>
              <a:ea typeface="Arial"/>
              <a:cs typeface="Arial"/>
            </a:endParaRPr>
          </a:p>
        </p:txBody>
      </p:sp>
      <p:pic>
        <p:nvPicPr>
          <p:cNvPr id="16401" name="Google Shape;150;p28" descr="KL Deemed to be University Logo">
            <a:extLst>
              <a:ext uri="{FF2B5EF4-FFF2-40B4-BE49-F238E27FC236}">
                <a16:creationId xmlns:a16="http://schemas.microsoft.com/office/drawing/2014/main" id="{80B77ADB-C37C-BA05-28A5-6B9A4BEFB2B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2" name="Google Shape;151;p28">
            <a:extLst>
              <a:ext uri="{FF2B5EF4-FFF2-40B4-BE49-F238E27FC236}">
                <a16:creationId xmlns:a16="http://schemas.microsoft.com/office/drawing/2014/main" id="{5DE724AA-9DCE-A2F2-D07E-E263284F111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3" name="Slide Number Placeholder 3">
            <a:extLst>
              <a:ext uri="{FF2B5EF4-FFF2-40B4-BE49-F238E27FC236}">
                <a16:creationId xmlns:a16="http://schemas.microsoft.com/office/drawing/2014/main" id="{A769CA31-F13E-0519-19B9-498A19C186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D487A45-EB81-4652-9E33-3470191AEA3F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7FE5-4E81-09AD-FA3F-4B70E92C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192;p32" descr="KL Deemed to be University Logo">
            <a:extLst>
              <a:ext uri="{FF2B5EF4-FFF2-40B4-BE49-F238E27FC236}">
                <a16:creationId xmlns:a16="http://schemas.microsoft.com/office/drawing/2014/main" id="{E789A871-6FB8-2B7C-C636-C2ED0D3863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Google Shape;193;p32">
            <a:extLst>
              <a:ext uri="{FF2B5EF4-FFF2-40B4-BE49-F238E27FC236}">
                <a16:creationId xmlns:a16="http://schemas.microsoft.com/office/drawing/2014/main" id="{F7357765-BAC6-51C2-8B56-36E53DB0B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6673850" cy="85566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lnSpc>
                <a:spcPct val="107000"/>
              </a:lnSpc>
              <a:spcAft>
                <a:spcPts val="1000"/>
              </a:spcAft>
              <a:buNone/>
            </a:pPr>
            <a:r>
              <a:rPr lang="en-I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436" name="Google Shape;194;p32" descr="KL Deemed to be University Logo">
            <a:extLst>
              <a:ext uri="{FF2B5EF4-FFF2-40B4-BE49-F238E27FC236}">
                <a16:creationId xmlns:a16="http://schemas.microsoft.com/office/drawing/2014/main" id="{0BCC2B4F-6198-9AA5-6826-B16A75D62D6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" name="Google Shape;195;p32">
            <a:extLst>
              <a:ext uri="{FF2B5EF4-FFF2-40B4-BE49-F238E27FC236}">
                <a16:creationId xmlns:a16="http://schemas.microsoft.com/office/drawing/2014/main" id="{7153132A-E9E4-39F4-9076-39BD09592EB5}"/>
              </a:ext>
            </a:extLst>
          </p:cNvPr>
          <p:cNvSpPr txBox="1"/>
          <p:nvPr/>
        </p:nvSpPr>
        <p:spPr>
          <a:xfrm>
            <a:off x="87313" y="1204913"/>
            <a:ext cx="11985625" cy="54783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CO1: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Optimization: Types of optimization problems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Applications across disciplines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Linear Programming: Formulation of LP Problem (LPP), Graphical method, Simplex method.(maximization and minimization) Duality concept in LPP. Transportation problem, Assignment method.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CO2:, Integer Programming, Branch &amp; bound algorithms, valid inequalities &amp; cut plane method. 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Constrained optimization: Gradient descent Newton's method Conjugate gradient method</a:t>
            </a:r>
            <a:r>
              <a:rPr lang="en-US" sz="20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CO3: Non-Linear Programming : Quadratic programs – Constrained quadratic programming problems, Beale’s method, Wolfe method,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Karush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-Kuhn Tucker (KKT) Conditions. Geometric Programming: Problems with one-degree of difficulty with positive coefficients, Geometric programming with constraints, Problems with positive and negative coefficients.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10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CO4: Infinite Dimensional Optimization: Heuristic and Meta heuristics, Single solution vs. population-based, Evolutionary algorithms Genetic Algorithm, Trajectory algorithms-   Simulated annealing, Tabu search. Nature- inspired metaheuristics-Ant-colony optimization, Particle swarm optimization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endParaRPr lang="en-US" sz="28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1600" eaLnBrk="1" fontAlgn="auto" hangingPunct="1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US" sz="2000" dirty="0">
              <a:latin typeface="Gill Sans MT"/>
              <a:cs typeface="Times New Roman"/>
            </a:endParaRPr>
          </a:p>
        </p:txBody>
      </p:sp>
      <p:pic>
        <p:nvPicPr>
          <p:cNvPr id="18438" name="Google Shape;196;p32">
            <a:extLst>
              <a:ext uri="{FF2B5EF4-FFF2-40B4-BE49-F238E27FC236}">
                <a16:creationId xmlns:a16="http://schemas.microsoft.com/office/drawing/2014/main" id="{1B7759D6-9293-B5D2-BC24-B66CFB59157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Slide Number Placeholder 3">
            <a:extLst>
              <a:ext uri="{FF2B5EF4-FFF2-40B4-BE49-F238E27FC236}">
                <a16:creationId xmlns:a16="http://schemas.microsoft.com/office/drawing/2014/main" id="{DFCC0652-3783-075B-B490-D15414D80A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E343EEF-4E08-436C-97C4-0A830BC5F076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547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3994-6FED-F4D5-2E3E-74285F0F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192;p32" descr="KL Deemed to be University Logo">
            <a:extLst>
              <a:ext uri="{FF2B5EF4-FFF2-40B4-BE49-F238E27FC236}">
                <a16:creationId xmlns:a16="http://schemas.microsoft.com/office/drawing/2014/main" id="{8AF3003D-344B-C12A-8AA6-3261C6738E3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Google Shape;193;p32">
            <a:extLst>
              <a:ext uri="{FF2B5EF4-FFF2-40B4-BE49-F238E27FC236}">
                <a16:creationId xmlns:a16="http://schemas.microsoft.com/office/drawing/2014/main" id="{2D8F43B8-FD4E-0EF5-A470-AB75299FB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6673850" cy="85566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 anchor="t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>
              <a:lnSpc>
                <a:spcPct val="107000"/>
              </a:lnSpc>
              <a:spcAft>
                <a:spcPts val="1000"/>
              </a:spcAft>
              <a:buNone/>
            </a:pPr>
            <a:r>
              <a:rPr lang="en-IN" sz="2800" b="1" dirty="0">
                <a:latin typeface="Times New Roman"/>
                <a:ea typeface="Calibri"/>
                <a:cs typeface="Times New Roman"/>
              </a:rPr>
              <a:t>Evalution plan</a:t>
            </a:r>
            <a:endParaRPr lang="en-IN" sz="2800" b="1" dirty="0">
              <a:effectLst/>
              <a:latin typeface="Times New Roman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436" name="Google Shape;194;p32" descr="KL Deemed to be University Logo">
            <a:extLst>
              <a:ext uri="{FF2B5EF4-FFF2-40B4-BE49-F238E27FC236}">
                <a16:creationId xmlns:a16="http://schemas.microsoft.com/office/drawing/2014/main" id="{343D6DA9-FE81-1B3A-5806-9B1FE163782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Google Shape;196;p32">
            <a:extLst>
              <a:ext uri="{FF2B5EF4-FFF2-40B4-BE49-F238E27FC236}">
                <a16:creationId xmlns:a16="http://schemas.microsoft.com/office/drawing/2014/main" id="{4B7E7009-3FF4-B1B1-8E84-99E46B850A5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Slide Number Placeholder 3">
            <a:extLst>
              <a:ext uri="{FF2B5EF4-FFF2-40B4-BE49-F238E27FC236}">
                <a16:creationId xmlns:a16="http://schemas.microsoft.com/office/drawing/2014/main" id="{4631AFED-5F31-1911-F95F-E8A4481FF25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E343EEF-4E08-436C-97C4-0A830BC5F076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IN" altLang="en-US" sz="2200">
              <a:solidFill>
                <a:schemeClr val="accent1"/>
              </a:solidFill>
            </a:endParaRPr>
          </a:p>
        </p:txBody>
      </p:sp>
      <p:pic>
        <p:nvPicPr>
          <p:cNvPr id="2" name="Picture 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94399CA3-8192-EBCE-0A95-DA87410F4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16" y="1172589"/>
            <a:ext cx="11755098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9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192;p32" descr="KL Deemed to be University Logo">
            <a:extLst>
              <a:ext uri="{FF2B5EF4-FFF2-40B4-BE49-F238E27FC236}">
                <a16:creationId xmlns:a16="http://schemas.microsoft.com/office/drawing/2014/main" id="{9F91D4E2-325E-A1E4-9752-363365DAFCF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Google Shape;193;p32">
            <a:extLst>
              <a:ext uri="{FF2B5EF4-FFF2-40B4-BE49-F238E27FC236}">
                <a16:creationId xmlns:a16="http://schemas.microsoft.com/office/drawing/2014/main" id="{464842DB-EC09-2291-DDFD-E4812025B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6673850" cy="85566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 anchor="t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sz="2800" b="1" kern="100" dirty="0" err="1">
                <a:solidFill>
                  <a:srgbClr val="FF0000"/>
                </a:solidFill>
                <a:latin typeface="Times New Roman"/>
                <a:ea typeface="Aptos" panose="020B0004020202020204" pitchFamily="34" charset="0"/>
                <a:cs typeface="Times New Roman"/>
              </a:rPr>
              <a:t>MooCs</a:t>
            </a:r>
            <a:r>
              <a:rPr lang="en-US" sz="2800" b="1" kern="100" dirty="0">
                <a:solidFill>
                  <a:srgbClr val="FF0000"/>
                </a:solidFill>
                <a:latin typeface="Times New Roman"/>
                <a:ea typeface="Aptos" panose="020B0004020202020204" pitchFamily="34" charset="0"/>
                <a:cs typeface="Times New Roman"/>
              </a:rPr>
              <a:t> Course Links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4400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8436" name="Google Shape;194;p32" descr="KL Deemed to be University Logo">
            <a:extLst>
              <a:ext uri="{FF2B5EF4-FFF2-40B4-BE49-F238E27FC236}">
                <a16:creationId xmlns:a16="http://schemas.microsoft.com/office/drawing/2014/main" id="{72A6842F-E99C-0DBF-C0D4-EA79DB4C99D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" name="Google Shape;195;p32">
            <a:extLst>
              <a:ext uri="{FF2B5EF4-FFF2-40B4-BE49-F238E27FC236}">
                <a16:creationId xmlns:a16="http://schemas.microsoft.com/office/drawing/2014/main" id="{28A818F9-284D-04A5-4CC1-C5D61CC45C9A}"/>
              </a:ext>
            </a:extLst>
          </p:cNvPr>
          <p:cNvSpPr txBox="1"/>
          <p:nvPr/>
        </p:nvSpPr>
        <p:spPr>
          <a:xfrm>
            <a:off x="87313" y="1204913"/>
            <a:ext cx="11985625" cy="408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t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endParaRPr lang="en-US" sz="28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4999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defRPr/>
            </a:pPr>
            <a:r>
              <a:rPr lang="en-US" sz="2800" kern="100" dirty="0">
                <a:latin typeface="Gill Sans MT"/>
                <a:cs typeface="Times New Roman"/>
                <a:hlinkClick r:id="rId4"/>
              </a:rPr>
              <a:t>https://www.coursera.org/learn/operations-research-modeling</a:t>
            </a:r>
            <a:endParaRPr lang="en-US" sz="2800" kern="1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14999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defRPr/>
            </a:pPr>
            <a:r>
              <a:rPr lang="en-US" sz="2800" kern="100" dirty="0">
                <a:latin typeface="Gill Sans MT"/>
                <a:cs typeface="Times New Roman"/>
                <a:hlinkClick r:id="rId5"/>
              </a:rPr>
              <a:t>https://www.coursera.org/learn/operations-research-algorithms</a:t>
            </a:r>
          </a:p>
          <a:p>
            <a:pPr marL="342900" indent="-342900" algn="just">
              <a:lnSpc>
                <a:spcPct val="114999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defRPr/>
            </a:pPr>
            <a:r>
              <a:rPr lang="en-US" sz="2800" kern="100" dirty="0">
                <a:latin typeface="Gill Sans MT"/>
                <a:cs typeface="Times New Roman"/>
                <a:hlinkClick r:id="rId6"/>
              </a:rPr>
              <a:t>https://www.coursera.org/learn/operations-research-theory</a:t>
            </a:r>
          </a:p>
          <a:p>
            <a:pPr marL="342900" indent="-342900" algn="just">
              <a:lnSpc>
                <a:spcPct val="114999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defRPr/>
            </a:pPr>
            <a:endParaRPr lang="en-US" sz="2800" kern="100" dirty="0">
              <a:latin typeface="Gill Sans MT"/>
              <a:cs typeface="Times New Roman"/>
            </a:endParaRPr>
          </a:p>
          <a:p>
            <a:pPr marL="342900" indent="-342900" algn="just">
              <a:lnSpc>
                <a:spcPct val="114999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defRPr/>
            </a:pPr>
            <a:endParaRPr lang="en-US" sz="2800" kern="100" dirty="0">
              <a:latin typeface="Gill Sans MT"/>
              <a:cs typeface="Times New Roman"/>
            </a:endParaRPr>
          </a:p>
          <a:p>
            <a:pPr marL="101600" eaLnBrk="1" fontAlgn="auto" hangingPunct="1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US" sz="2000" dirty="0">
              <a:latin typeface="Gill Sans MT"/>
              <a:cs typeface="Times New Roman"/>
            </a:endParaRPr>
          </a:p>
        </p:txBody>
      </p:sp>
      <p:pic>
        <p:nvPicPr>
          <p:cNvPr id="18438" name="Google Shape;196;p32">
            <a:extLst>
              <a:ext uri="{FF2B5EF4-FFF2-40B4-BE49-F238E27FC236}">
                <a16:creationId xmlns:a16="http://schemas.microsoft.com/office/drawing/2014/main" id="{A8CC3D2E-FBA2-EA49-C090-8E8189827BF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Slide Number Placeholder 3">
            <a:extLst>
              <a:ext uri="{FF2B5EF4-FFF2-40B4-BE49-F238E27FC236}">
                <a16:creationId xmlns:a16="http://schemas.microsoft.com/office/drawing/2014/main" id="{D0A1D26A-3C37-BF78-2814-8058AB2215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9A5A027-4A21-4DD2-9A1E-68F0BB921F30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9E3A-2944-DC2B-9FAF-37D3B601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192;p32" descr="KL Deemed to be University Logo">
            <a:extLst>
              <a:ext uri="{FF2B5EF4-FFF2-40B4-BE49-F238E27FC236}">
                <a16:creationId xmlns:a16="http://schemas.microsoft.com/office/drawing/2014/main" id="{8168313A-F31B-D9CE-25F9-1B90BDC1C78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Google Shape;193;p32">
            <a:extLst>
              <a:ext uri="{FF2B5EF4-FFF2-40B4-BE49-F238E27FC236}">
                <a16:creationId xmlns:a16="http://schemas.microsoft.com/office/drawing/2014/main" id="{1CCC32F0-C544-2286-8789-D68769DBA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6673850" cy="85566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 anchor="t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kern="100" dirty="0">
                <a:solidFill>
                  <a:srgbClr val="FF0000"/>
                </a:solidFill>
                <a:latin typeface="Times New Roman"/>
                <a:ea typeface="Aptos" panose="020B0004020202020204" pitchFamily="34" charset="0"/>
                <a:cs typeface="Times New Roman"/>
              </a:rPr>
              <a:t>What is an Optimization Problem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4400" b="1" dirty="0">
              <a:solidFill>
                <a:srgbClr val="FF0000"/>
              </a:solidFill>
              <a:latin typeface="Arial" panose="020B060402020202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8436" name="Google Shape;194;p32" descr="KL Deemed to be University Logo">
            <a:extLst>
              <a:ext uri="{FF2B5EF4-FFF2-40B4-BE49-F238E27FC236}">
                <a16:creationId xmlns:a16="http://schemas.microsoft.com/office/drawing/2014/main" id="{B92949A4-E0AF-5E03-A540-82CB6EF090E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" name="Google Shape;195;p32">
            <a:extLst>
              <a:ext uri="{FF2B5EF4-FFF2-40B4-BE49-F238E27FC236}">
                <a16:creationId xmlns:a16="http://schemas.microsoft.com/office/drawing/2014/main" id="{269CFF42-B938-7C52-361A-55AC95184630}"/>
              </a:ext>
            </a:extLst>
          </p:cNvPr>
          <p:cNvSpPr txBox="1"/>
          <p:nvPr/>
        </p:nvSpPr>
        <p:spPr>
          <a:xfrm>
            <a:off x="87313" y="1204913"/>
            <a:ext cx="11985625" cy="3379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sz="2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 </a:t>
            </a:r>
            <a:r>
              <a:rPr lang="en-US" sz="2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optimization problem</a:t>
            </a:r>
            <a:r>
              <a:rPr lang="en-US" sz="2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a mathematical problem of finding the best solution from a set of feasible solutions. It typically involves:</a:t>
            </a: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 Function</a:t>
            </a:r>
            <a:r>
              <a:rPr lang="en-US" sz="2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 function to be maximized or minimized.</a:t>
            </a: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Decision Variables</a:t>
            </a:r>
            <a:r>
              <a:rPr lang="en-US" sz="2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The variables that affect the outcome.</a:t>
            </a: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Constraints</a:t>
            </a:r>
            <a:r>
              <a:rPr lang="en-US" sz="2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Conditions that must be satisfied.</a:t>
            </a:r>
          </a:p>
          <a:p>
            <a:pPr marL="101600" eaLnBrk="1" fontAlgn="auto" hangingPunct="1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US" sz="2000" dirty="0">
              <a:latin typeface="Gill Sans MT"/>
              <a:cs typeface="Times New Roman"/>
            </a:endParaRPr>
          </a:p>
        </p:txBody>
      </p:sp>
      <p:pic>
        <p:nvPicPr>
          <p:cNvPr id="18438" name="Google Shape;196;p32">
            <a:extLst>
              <a:ext uri="{FF2B5EF4-FFF2-40B4-BE49-F238E27FC236}">
                <a16:creationId xmlns:a16="http://schemas.microsoft.com/office/drawing/2014/main" id="{BEF9C4F1-D487-81A1-75E2-281A6CCD376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Slide Number Placeholder 3">
            <a:extLst>
              <a:ext uri="{FF2B5EF4-FFF2-40B4-BE49-F238E27FC236}">
                <a16:creationId xmlns:a16="http://schemas.microsoft.com/office/drawing/2014/main" id="{5925C5B9-9EA2-C4C3-545C-714E2DDCBC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9A5A027-4A21-4DD2-9A1E-68F0BB921F30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53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Google Shape;192;p32" descr="KL Deemed to be University Logo">
            <a:extLst>
              <a:ext uri="{FF2B5EF4-FFF2-40B4-BE49-F238E27FC236}">
                <a16:creationId xmlns:a16="http://schemas.microsoft.com/office/drawing/2014/main" id="{1A784AF6-E56C-C322-0140-2ADFD066EAD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Google Shape;193;p32">
            <a:extLst>
              <a:ext uri="{FF2B5EF4-FFF2-40B4-BE49-F238E27FC236}">
                <a16:creationId xmlns:a16="http://schemas.microsoft.com/office/drawing/2014/main" id="{366E3B79-F1D9-C642-4ECF-789EB5DD2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725" y="112713"/>
            <a:ext cx="6864350" cy="579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3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Mathematical Form (General)</a:t>
            </a:r>
            <a:endParaRPr lang="en-US" sz="3200" b="1" kern="100" dirty="0">
              <a:solidFill>
                <a:srgbClr val="FF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3200" b="1" dirty="0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20484" name="Google Shape;194;p32" descr="KL Deemed to be University Logo">
            <a:extLst>
              <a:ext uri="{FF2B5EF4-FFF2-40B4-BE49-F238E27FC236}">
                <a16:creationId xmlns:a16="http://schemas.microsoft.com/office/drawing/2014/main" id="{EF4DCE32-2B51-251F-5212-2C2B69A986E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Google Shape;195;p32">
            <a:extLst>
              <a:ext uri="{FF2B5EF4-FFF2-40B4-BE49-F238E27FC236}">
                <a16:creationId xmlns:a16="http://schemas.microsoft.com/office/drawing/2014/main" id="{4C89E1C0-B176-4B45-2D70-3BC80C01D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1204913"/>
            <a:ext cx="10847387" cy="4921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 marL="1016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Pts val="2000"/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6" name="Google Shape;196;p32">
            <a:extLst>
              <a:ext uri="{FF2B5EF4-FFF2-40B4-BE49-F238E27FC236}">
                <a16:creationId xmlns:a16="http://schemas.microsoft.com/office/drawing/2014/main" id="{1289F38F-A3EF-CF59-E321-0D34D255F3F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Slide Number Placeholder 3">
            <a:extLst>
              <a:ext uri="{FF2B5EF4-FFF2-40B4-BE49-F238E27FC236}">
                <a16:creationId xmlns:a16="http://schemas.microsoft.com/office/drawing/2014/main" id="{A73557DF-2272-DB74-76E1-B0BB86B795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1ACFA01-5012-41AF-9F93-D674FAAF45D3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IN" altLang="en-US" sz="2200">
              <a:solidFill>
                <a:schemeClr val="accent1"/>
              </a:solidFill>
            </a:endParaRPr>
          </a:p>
        </p:txBody>
      </p:sp>
      <p:pic>
        <p:nvPicPr>
          <p:cNvPr id="20488" name="Picture 1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FDBDFF3E-0501-C651-362C-EA7A6BAB2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893295"/>
            <a:ext cx="10923587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Google Shape;192;p32" descr="KL Deemed to be University Logo">
            <a:extLst>
              <a:ext uri="{FF2B5EF4-FFF2-40B4-BE49-F238E27FC236}">
                <a16:creationId xmlns:a16="http://schemas.microsoft.com/office/drawing/2014/main" id="{26E5C37B-7CE5-0919-A848-2C89728C77A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Google Shape;193;p32">
            <a:extLst>
              <a:ext uri="{FF2B5EF4-FFF2-40B4-BE49-F238E27FC236}">
                <a16:creationId xmlns:a16="http://schemas.microsoft.com/office/drawing/2014/main" id="{E966CD91-5FE9-4A78-50DF-F596CF8CB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5786437" cy="579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Aptos" panose="020B0004020202020204" pitchFamily="34" charset="0"/>
              </a:rPr>
              <a:t>Types of Optimization Problems</a:t>
            </a:r>
            <a:endParaRPr lang="en-US" altLang="en-US" sz="48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22532" name="Google Shape;194;p32" descr="KL Deemed to be University Logo">
            <a:extLst>
              <a:ext uri="{FF2B5EF4-FFF2-40B4-BE49-F238E27FC236}">
                <a16:creationId xmlns:a16="http://schemas.microsoft.com/office/drawing/2014/main" id="{6FF5EB40-A54E-8AB4-04D3-A7D81202381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Google Shape;195;p32">
            <a:extLst>
              <a:ext uri="{FF2B5EF4-FFF2-40B4-BE49-F238E27FC236}">
                <a16:creationId xmlns:a16="http://schemas.microsoft.com/office/drawing/2014/main" id="{DF4708E3-7627-8901-FCCE-D88962D35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1204913"/>
            <a:ext cx="11222038" cy="495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914400" indent="-4572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Linear Programming (LP)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Objective and constraints are linear.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Nonlinear Programming (NLP)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At least one nonlinear component.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Integer Programming (IP)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Variables restricted to integers.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Dynamic Programming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Sequential decision-making.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Convex Optimization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Convex objective and feasible region.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Stochastic Optimization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Deals with uncertainty in data.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Combinatorial Optimization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Deals with discrete structures.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4" name="Google Shape;196;p32">
            <a:extLst>
              <a:ext uri="{FF2B5EF4-FFF2-40B4-BE49-F238E27FC236}">
                <a16:creationId xmlns:a16="http://schemas.microsoft.com/office/drawing/2014/main" id="{E1D0C2FC-F282-E1DC-0E08-D1F6DEE4B7D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Slide Number Placeholder 3">
            <a:extLst>
              <a:ext uri="{FF2B5EF4-FFF2-40B4-BE49-F238E27FC236}">
                <a16:creationId xmlns:a16="http://schemas.microsoft.com/office/drawing/2014/main" id="{21040DFD-AE6A-57AB-6802-37357A0A32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3E7796B-5D4B-40F5-B775-31C801DB2F72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Google Shape;192;p32" descr="KL Deemed to be University Logo">
            <a:extLst>
              <a:ext uri="{FF2B5EF4-FFF2-40B4-BE49-F238E27FC236}">
                <a16:creationId xmlns:a16="http://schemas.microsoft.com/office/drawing/2014/main" id="{BC8B5C7B-00D3-2614-873E-159925DAE27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Google Shape;193;p32">
            <a:extLst>
              <a:ext uri="{FF2B5EF4-FFF2-40B4-BE49-F238E27FC236}">
                <a16:creationId xmlns:a16="http://schemas.microsoft.com/office/drawing/2014/main" id="{4C54ED86-AEA1-34A5-8DAC-7CD7AFD37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5786437" cy="579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Aptos" panose="020B0004020202020204" pitchFamily="34" charset="0"/>
              </a:rPr>
              <a:t>Types of Optimization Problems</a:t>
            </a:r>
            <a:endParaRPr lang="en-US" altLang="en-US" sz="48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24580" name="Google Shape;194;p32" descr="KL Deemed to be University Logo">
            <a:extLst>
              <a:ext uri="{FF2B5EF4-FFF2-40B4-BE49-F238E27FC236}">
                <a16:creationId xmlns:a16="http://schemas.microsoft.com/office/drawing/2014/main" id="{31815421-9F1D-367A-9B09-CA2A18A43A0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Google Shape;195;p32">
            <a:extLst>
              <a:ext uri="{FF2B5EF4-FFF2-40B4-BE49-F238E27FC236}">
                <a16:creationId xmlns:a16="http://schemas.microsoft.com/office/drawing/2014/main" id="{855218E3-7CC7-B935-02AC-50B5C3563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1204913"/>
            <a:ext cx="11222038" cy="41814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914400" indent="-4572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rgbClr val="242424"/>
                </a:solidFill>
                <a:latin typeface="source-serif-pro"/>
              </a:rPr>
              <a:t>A. </a:t>
            </a:r>
            <a:r>
              <a:rPr lang="en-US" altLang="en-US" sz="2800" b="1" i="1">
                <a:solidFill>
                  <a:srgbClr val="242424"/>
                </a:solidFill>
                <a:latin typeface="source-serif-pro"/>
              </a:rPr>
              <a:t>Classical Techniques</a:t>
            </a:r>
            <a:endParaRPr lang="en-US" altLang="en-US" sz="2800">
              <a:solidFill>
                <a:srgbClr val="242424"/>
              </a:solidFill>
              <a:latin typeface="source-serif-pro"/>
            </a:endParaRP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Linear Programming (LP)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Solves problems with linear objective functions and linear constraints.</a:t>
            </a: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Integer Programming (IP)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Optimization where variables are constrained to take integer values.</a:t>
            </a: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Nonlinear Programming (NLP)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Deals with problems having nonlinear functions.</a:t>
            </a: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Gradient Descent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An iterative method that uses gradients to find local minima.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82" name="Google Shape;196;p32">
            <a:extLst>
              <a:ext uri="{FF2B5EF4-FFF2-40B4-BE49-F238E27FC236}">
                <a16:creationId xmlns:a16="http://schemas.microsoft.com/office/drawing/2014/main" id="{2D63EBE8-42C3-F29F-7025-7C94D34F7F6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Slide Number Placeholder 3">
            <a:extLst>
              <a:ext uri="{FF2B5EF4-FFF2-40B4-BE49-F238E27FC236}">
                <a16:creationId xmlns:a16="http://schemas.microsoft.com/office/drawing/2014/main" id="{10E18816-9CD7-7CC3-6748-2B7967BB16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FD44F2A-678F-4FFC-9ABD-EC72294EF7AE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Google Shape;192;p32" descr="KL Deemed to be University Logo">
            <a:extLst>
              <a:ext uri="{FF2B5EF4-FFF2-40B4-BE49-F238E27FC236}">
                <a16:creationId xmlns:a16="http://schemas.microsoft.com/office/drawing/2014/main" id="{150FE02E-F84B-A68A-C0DA-1036C9BA6B5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Google Shape;193;p32">
            <a:extLst>
              <a:ext uri="{FF2B5EF4-FFF2-40B4-BE49-F238E27FC236}">
                <a16:creationId xmlns:a16="http://schemas.microsoft.com/office/drawing/2014/main" id="{3AC14D5F-50A0-F2A5-7CBB-69A6C267B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5786437" cy="579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Aptos" panose="020B0004020202020204" pitchFamily="34" charset="0"/>
              </a:rPr>
              <a:t>Types of Optimization Problems</a:t>
            </a:r>
            <a:endParaRPr lang="en-US" altLang="en-US" sz="48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26628" name="Google Shape;194;p32" descr="KL Deemed to be University Logo">
            <a:extLst>
              <a:ext uri="{FF2B5EF4-FFF2-40B4-BE49-F238E27FC236}">
                <a16:creationId xmlns:a16="http://schemas.microsoft.com/office/drawing/2014/main" id="{6BD8120D-71B4-DE12-C47A-378103D093E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Google Shape;195;p32">
            <a:extLst>
              <a:ext uri="{FF2B5EF4-FFF2-40B4-BE49-F238E27FC236}">
                <a16:creationId xmlns:a16="http://schemas.microsoft.com/office/drawing/2014/main" id="{C8E279CA-CD1C-D20C-3167-80D489C88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1204913"/>
            <a:ext cx="11222038" cy="41814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914400" indent="-4572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rgbClr val="242424"/>
                </a:solidFill>
                <a:latin typeface="source-serif-pro"/>
              </a:rPr>
              <a:t>B. </a:t>
            </a:r>
            <a:r>
              <a:rPr lang="en-US" altLang="en-US" sz="2800" b="1" i="1">
                <a:solidFill>
                  <a:srgbClr val="242424"/>
                </a:solidFill>
                <a:latin typeface="source-serif-pro"/>
              </a:rPr>
              <a:t>Heuristic and Metaheuristic Techniques</a:t>
            </a:r>
            <a:endParaRPr lang="en-US" altLang="en-US" sz="2800">
              <a:solidFill>
                <a:srgbClr val="242424"/>
              </a:solidFill>
              <a:latin typeface="source-serif-pro"/>
            </a:endParaRP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Genetic Algorithms (GA)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Inspired by natural selection, used for complex and non-differentiable problems.</a:t>
            </a: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Simulated Annealing (SA)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Mimics the annealing process in metallurgy.</a:t>
            </a: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Particle Swarm Optimization (PSO)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Based on the movement of bird flocks or fish schools.</a:t>
            </a:r>
          </a:p>
          <a:p>
            <a:r>
              <a:rPr lang="en-US" altLang="en-US" sz="2400" b="1">
                <a:solidFill>
                  <a:srgbClr val="242424"/>
                </a:solidFill>
                <a:latin typeface="source-serif-pro"/>
              </a:rPr>
              <a:t>Ant Colony Optimization (ACO)</a:t>
            </a:r>
            <a:r>
              <a:rPr lang="en-US" altLang="en-US" sz="2400">
                <a:solidFill>
                  <a:srgbClr val="242424"/>
                </a:solidFill>
                <a:latin typeface="source-serif-pro"/>
              </a:rPr>
              <a:t>: Inspired by the behavior of ants searching for food.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30" name="Google Shape;196;p32">
            <a:extLst>
              <a:ext uri="{FF2B5EF4-FFF2-40B4-BE49-F238E27FC236}">
                <a16:creationId xmlns:a16="http://schemas.microsoft.com/office/drawing/2014/main" id="{753451EA-02B3-F03F-51E7-40DD5E66648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Slide Number Placeholder 3">
            <a:extLst>
              <a:ext uri="{FF2B5EF4-FFF2-40B4-BE49-F238E27FC236}">
                <a16:creationId xmlns:a16="http://schemas.microsoft.com/office/drawing/2014/main" id="{BFCEDBB4-FE46-8458-4B2D-0368880FBD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DBC833B-6AAB-4C29-B138-4E5312BC886D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Google Shape;192;p32" descr="KL Deemed to be University Logo">
            <a:extLst>
              <a:ext uri="{FF2B5EF4-FFF2-40B4-BE49-F238E27FC236}">
                <a16:creationId xmlns:a16="http://schemas.microsoft.com/office/drawing/2014/main" id="{424230CA-E2DF-3EE6-B996-33A16AC8D1B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Google Shape;193;p32">
            <a:extLst>
              <a:ext uri="{FF2B5EF4-FFF2-40B4-BE49-F238E27FC236}">
                <a16:creationId xmlns:a16="http://schemas.microsoft.com/office/drawing/2014/main" id="{645C4C89-3A8C-C37F-E21B-260BCCD25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0" y="280988"/>
            <a:ext cx="5786438" cy="579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Aptos" panose="020B0004020202020204" pitchFamily="34" charset="0"/>
              </a:rPr>
              <a:t>Applications Across Disciplines</a:t>
            </a:r>
            <a:endParaRPr lang="en-US" altLang="en-US" sz="44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28676" name="Google Shape;194;p32" descr="KL Deemed to be University Logo">
            <a:extLst>
              <a:ext uri="{FF2B5EF4-FFF2-40B4-BE49-F238E27FC236}">
                <a16:creationId xmlns:a16="http://schemas.microsoft.com/office/drawing/2014/main" id="{E2AD1C15-803A-5070-F69B-3FE79F10308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Google Shape;195;p32">
            <a:extLst>
              <a:ext uri="{FF2B5EF4-FFF2-40B4-BE49-F238E27FC236}">
                <a16:creationId xmlns:a16="http://schemas.microsoft.com/office/drawing/2014/main" id="{D2245FAD-B030-5345-BCA8-7294722EF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1204913"/>
            <a:ext cx="11244263" cy="4759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914400" indent="-4572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A. Engineering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Civil/Mechanical Engineering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Design optimization of structures (e.g., trusses, bridges).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Electrical Engineering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Circuit design, power flow optimization.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Control Systems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Optimal control for dynamic systems.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B. Computer Science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Machine Learning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Model training (e.g., minimizing loss function).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Scheduling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Job-shop and task scheduling.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Network Design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Routing, bandwidth allocation, load balancing.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8" name="Google Shape;196;p32">
            <a:extLst>
              <a:ext uri="{FF2B5EF4-FFF2-40B4-BE49-F238E27FC236}">
                <a16:creationId xmlns:a16="http://schemas.microsoft.com/office/drawing/2014/main" id="{40386BFB-C381-907C-E64B-21E186754D0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Slide Number Placeholder 3">
            <a:extLst>
              <a:ext uri="{FF2B5EF4-FFF2-40B4-BE49-F238E27FC236}">
                <a16:creationId xmlns:a16="http://schemas.microsoft.com/office/drawing/2014/main" id="{3DC10EC0-D3D0-CC36-BD53-286FC0DB4F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7901EEE-7CD3-485C-9B28-6850DF8C2218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Google Shape;192;p32" descr="KL Deemed to be University Logo">
            <a:extLst>
              <a:ext uri="{FF2B5EF4-FFF2-40B4-BE49-F238E27FC236}">
                <a16:creationId xmlns:a16="http://schemas.microsoft.com/office/drawing/2014/main" id="{43E96C4B-2FFC-FD1B-C098-37993BBFE90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Google Shape;193;p32">
            <a:extLst>
              <a:ext uri="{FF2B5EF4-FFF2-40B4-BE49-F238E27FC236}">
                <a16:creationId xmlns:a16="http://schemas.microsoft.com/office/drawing/2014/main" id="{06DE6F2B-40B5-901F-8451-0E4D59B69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413" y="112713"/>
            <a:ext cx="6577012" cy="579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lIns="91425" tIns="45700" rIns="91425" bIns="457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Aptos" panose="020B0004020202020204" pitchFamily="34" charset="0"/>
              </a:rPr>
              <a:t>Applications Across Disciplines….</a:t>
            </a:r>
            <a:endParaRPr lang="en-US" altLang="en-US" sz="48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200" b="1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30724" name="Google Shape;194;p32" descr="KL Deemed to be University Logo">
            <a:extLst>
              <a:ext uri="{FF2B5EF4-FFF2-40B4-BE49-F238E27FC236}">
                <a16:creationId xmlns:a16="http://schemas.microsoft.com/office/drawing/2014/main" id="{C41D2185-742B-50DD-FD58-FE39D8D6F55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Google Shape;195;p32">
            <a:extLst>
              <a:ext uri="{FF2B5EF4-FFF2-40B4-BE49-F238E27FC236}">
                <a16:creationId xmlns:a16="http://schemas.microsoft.com/office/drawing/2014/main" id="{E8962C5D-13BD-E517-F029-172CF43C5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1204913"/>
            <a:ext cx="11680825" cy="47291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C. Operations Research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Logistics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Supply chain optimization, vehicle routing.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Resource Allocation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Staff scheduling, inventory management.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Project Management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Critical path and cost minimization.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D. Economics &amp; Finance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Portfolio Optimization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Maximize returns, minimize risk.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Game Theory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Nash equilibria, strategic decisions.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Pricing Models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Revenue maximization under constraints.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</p:txBody>
      </p:sp>
      <p:pic>
        <p:nvPicPr>
          <p:cNvPr id="30726" name="Google Shape;196;p32">
            <a:extLst>
              <a:ext uri="{FF2B5EF4-FFF2-40B4-BE49-F238E27FC236}">
                <a16:creationId xmlns:a16="http://schemas.microsoft.com/office/drawing/2014/main" id="{1F4F28E0-D5FC-86C0-D212-71E3128A961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Slide Number Placeholder 3">
            <a:extLst>
              <a:ext uri="{FF2B5EF4-FFF2-40B4-BE49-F238E27FC236}">
                <a16:creationId xmlns:a16="http://schemas.microsoft.com/office/drawing/2014/main" id="{995B8E97-7661-6770-569B-430378892B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305FFE0-D940-493B-B40C-9A55D6392A5C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Google Shape;192;p32" descr="KL Deemed to be University Logo">
            <a:extLst>
              <a:ext uri="{FF2B5EF4-FFF2-40B4-BE49-F238E27FC236}">
                <a16:creationId xmlns:a16="http://schemas.microsoft.com/office/drawing/2014/main" id="{7F60DF59-3183-8F8C-EEE2-2C8F4523EB9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" name="Google Shape;193;p32">
            <a:extLst>
              <a:ext uri="{FF2B5EF4-FFF2-40B4-BE49-F238E27FC236}">
                <a16:creationId xmlns:a16="http://schemas.microsoft.com/office/drawing/2014/main" id="{0513FC44-5E27-723E-34CF-1329C3AF921A}"/>
              </a:ext>
            </a:extLst>
          </p:cNvPr>
          <p:cNvSpPr/>
          <p:nvPr/>
        </p:nvSpPr>
        <p:spPr>
          <a:xfrm>
            <a:off x="1895475" y="112713"/>
            <a:ext cx="8974138" cy="60642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lIns="91425" tIns="45700" rIns="91425" bIns="457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Applications Across Disciplines….</a:t>
            </a:r>
            <a:endParaRPr lang="en-US" altLang="en-US" sz="4800" b="1" dirty="0">
              <a:solidFill>
                <a:srgbClr val="FF0000"/>
              </a:solidFill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schemeClr val="accent3"/>
              </a:solidFill>
              <a:latin typeface="Calibri"/>
              <a:ea typeface="Arial"/>
              <a:cs typeface="Calibri"/>
            </a:endParaRPr>
          </a:p>
        </p:txBody>
      </p:sp>
      <p:pic>
        <p:nvPicPr>
          <p:cNvPr id="32772" name="Google Shape;194;p32" descr="KL Deemed to be University Logo">
            <a:extLst>
              <a:ext uri="{FF2B5EF4-FFF2-40B4-BE49-F238E27FC236}">
                <a16:creationId xmlns:a16="http://schemas.microsoft.com/office/drawing/2014/main" id="{2A50638F-1EFE-F2F4-3048-0B667890508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Google Shape;195;p32">
            <a:extLst>
              <a:ext uri="{FF2B5EF4-FFF2-40B4-BE49-F238E27FC236}">
                <a16:creationId xmlns:a16="http://schemas.microsoft.com/office/drawing/2014/main" id="{55035CEC-10C6-1420-FBF9-61B291DB2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23950"/>
            <a:ext cx="11353800" cy="62849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800100" indent="-3429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E. Healthcare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Radiation Therapy Planning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Optimize dosage while minimizing damage to healthy tissue.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Hospital Resource Allocation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Beds, staff, and equipment optimization.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F. Environmental Science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Energy Optimization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Renewable energy allocation, grid optimization.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Water Resource Management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Irrigation planning, reservoir management.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G. Telecommunications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Signal Processing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Filter design, error correction.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Network Optimization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Maximizing throughput, minimizing latency.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None/>
              <a:tabLst>
                <a:tab pos="457200" algn="l"/>
              </a:tabLst>
              <a:defRPr/>
            </a:pP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None/>
              <a:tabLst>
                <a:tab pos="457200" algn="l"/>
              </a:tabLst>
              <a:defRPr/>
            </a:pP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2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2774" name="Google Shape;196;p32">
            <a:extLst>
              <a:ext uri="{FF2B5EF4-FFF2-40B4-BE49-F238E27FC236}">
                <a16:creationId xmlns:a16="http://schemas.microsoft.com/office/drawing/2014/main" id="{64958D91-D323-3608-EF12-0093C57009F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Slide Number Placeholder 3">
            <a:extLst>
              <a:ext uri="{FF2B5EF4-FFF2-40B4-BE49-F238E27FC236}">
                <a16:creationId xmlns:a16="http://schemas.microsoft.com/office/drawing/2014/main" id="{9B363899-79D0-7BEE-E601-237A4B408BB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5691188" y="6305550"/>
            <a:ext cx="809625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26C46D34-BF24-4C16-9A4D-ACE053B85B25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>
            <a:extLst>
              <a:ext uri="{FF2B5EF4-FFF2-40B4-BE49-F238E27FC236}">
                <a16:creationId xmlns:a16="http://schemas.microsoft.com/office/drawing/2014/main" id="{6299042A-D35E-CDFB-7A7C-86638E1BAAD3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TERMINAL QUESTIONS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4">
            <a:extLst>
              <a:ext uri="{FF2B5EF4-FFF2-40B4-BE49-F238E27FC236}">
                <a16:creationId xmlns:a16="http://schemas.microsoft.com/office/drawing/2014/main" id="{B67D3B95-BE55-C8DD-8402-0C997D51CFF2}"/>
              </a:ext>
            </a:extLst>
          </p:cNvPr>
          <p:cNvSpPr/>
          <p:nvPr/>
        </p:nvSpPr>
        <p:spPr>
          <a:xfrm>
            <a:off x="152400" y="750888"/>
            <a:ext cx="117221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lIns="90000" tIns="45000" rIns="90000" bIns="45000"/>
          <a:lstStyle/>
          <a:p>
            <a:pPr marL="342900" indent="-342265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the steps of converting a minimization problem to a maximization problem.</a:t>
            </a:r>
            <a:endParaRPr lang="en-US" sz="2000" dirty="0">
              <a:latin typeface="Arial"/>
              <a:ea typeface="Arial"/>
              <a:cs typeface="Arial"/>
            </a:endParaRPr>
          </a:p>
          <a:p>
            <a:pPr marL="342900" indent="-342265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the steps of optimization following the Simplex method.</a:t>
            </a:r>
            <a:endParaRPr lang="en-US" sz="2000" dirty="0">
              <a:latin typeface="Arial"/>
              <a:ea typeface="Arial"/>
              <a:cs typeface="Arial"/>
            </a:endParaRPr>
          </a:p>
          <a:p>
            <a:pPr marL="342900" indent="-342265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Define the following terms:</a:t>
            </a:r>
          </a:p>
          <a:p>
            <a:pPr marL="915035" lvl="1" indent="-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AutoNum type="alphaLcParenR"/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Pivot element</a:t>
            </a:r>
            <a:endParaRPr lang="en-US" sz="2000" dirty="0">
              <a:latin typeface="Times New Roman"/>
              <a:ea typeface="Times New Roman"/>
              <a:cs typeface="Times New Roman"/>
            </a:endParaRPr>
          </a:p>
          <a:p>
            <a:pPr marL="915035" lvl="1" indent="-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AutoNum type="alphaLcParenR"/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Slack variable</a:t>
            </a: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5035" lvl="1" indent="-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AutoNum type="alphaLcParenR"/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Basic variable</a:t>
            </a:r>
          </a:p>
          <a:p>
            <a:pPr marL="342900" indent="-342265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AutoNum type="arabicPeriod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Times New Roman"/>
              </a:rPr>
              <a:t>In simplex method, what is the criterion to decide whether the optimality is reached?</a:t>
            </a:r>
            <a:endParaRPr lang="en-US" sz="2000" dirty="0">
              <a:latin typeface="Times New Roman"/>
              <a:ea typeface="Arial"/>
              <a:cs typeface="Times New Roman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IN" sz="2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US" dirty="0">
              <a:latin typeface="+mn-lt"/>
            </a:endParaRPr>
          </a:p>
        </p:txBody>
      </p:sp>
      <p:pic>
        <p:nvPicPr>
          <p:cNvPr id="34820" name="Google Shape;312;p44" descr="KL Deemed to be University Logo">
            <a:extLst>
              <a:ext uri="{FF2B5EF4-FFF2-40B4-BE49-F238E27FC236}">
                <a16:creationId xmlns:a16="http://schemas.microsoft.com/office/drawing/2014/main" id="{144E2BED-12F9-2EEB-32DF-BB1E8FF48F6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Google Shape;313;p44">
            <a:extLst>
              <a:ext uri="{FF2B5EF4-FFF2-40B4-BE49-F238E27FC236}">
                <a16:creationId xmlns:a16="http://schemas.microsoft.com/office/drawing/2014/main" id="{0301CEA0-A882-AF48-4EB4-8F60D3A2067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Slide Number Placeholder 3">
            <a:extLst>
              <a:ext uri="{FF2B5EF4-FFF2-40B4-BE49-F238E27FC236}">
                <a16:creationId xmlns:a16="http://schemas.microsoft.com/office/drawing/2014/main" id="{70FF53B9-4A71-CC98-C1A0-CC5E9DEFA1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E7671B6-4F25-4894-A888-C942569F3785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IN" altLang="en-US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>
            <a:extLst>
              <a:ext uri="{FF2B5EF4-FFF2-40B4-BE49-F238E27FC236}">
                <a16:creationId xmlns:a16="http://schemas.microsoft.com/office/drawing/2014/main" id="{631167BE-B2AA-230A-89F6-F0F039EF2191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</a:rPr>
              <a:t>Real-World Case Examples</a:t>
            </a:r>
            <a:endParaRPr sz="2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7" name="Google Shape;311;p44">
            <a:extLst>
              <a:ext uri="{FF2B5EF4-FFF2-40B4-BE49-F238E27FC236}">
                <a16:creationId xmlns:a16="http://schemas.microsoft.com/office/drawing/2014/main" id="{309E2C14-F8BC-5784-3039-526B4D5C3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50888"/>
            <a:ext cx="1172210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Clr>
                <a:srgbClr val="000000"/>
              </a:buClr>
              <a:buSzPts val="2000"/>
              <a:buFontTx/>
              <a:buNone/>
            </a:pPr>
            <a:endParaRPr lang="en-IN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Pts val="2000"/>
              <a:buFontTx/>
              <a:buNone/>
            </a:pPr>
            <a:endParaRPr lang="en-IN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868" name="Google Shape;312;p44" descr="KL Deemed to be University Logo">
            <a:extLst>
              <a:ext uri="{FF2B5EF4-FFF2-40B4-BE49-F238E27FC236}">
                <a16:creationId xmlns:a16="http://schemas.microsoft.com/office/drawing/2014/main" id="{514B3769-343B-5A8E-5669-B501AF81C57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Google Shape;313;p44">
            <a:extLst>
              <a:ext uri="{FF2B5EF4-FFF2-40B4-BE49-F238E27FC236}">
                <a16:creationId xmlns:a16="http://schemas.microsoft.com/office/drawing/2014/main" id="{954414B4-D5C3-5A61-0648-85ECBA73F8F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Slide Number Placeholder 3">
            <a:extLst>
              <a:ext uri="{FF2B5EF4-FFF2-40B4-BE49-F238E27FC236}">
                <a16:creationId xmlns:a16="http://schemas.microsoft.com/office/drawing/2014/main" id="{6D23A9A7-9077-9F60-3284-0E336A7318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C221CF97-F622-466A-9EBD-91BB2095E021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IN" altLang="en-US" sz="220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24D3F-253E-38D2-6626-5A280F2F450E}"/>
              </a:ext>
            </a:extLst>
          </p:cNvPr>
          <p:cNvSpPr txBox="1"/>
          <p:nvPr/>
        </p:nvSpPr>
        <p:spPr>
          <a:xfrm>
            <a:off x="555625" y="1098550"/>
            <a:ext cx="9531350" cy="1547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Google Maps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Uses optimization algorithms for shortest path.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Amazon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Uses optimization in warehouse logistics and delivery routing.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Finance</a:t>
            </a: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Algorithms for real-time trading optimize portfolios.</a:t>
            </a:r>
            <a:endParaRPr lang="en-US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>
            <a:extLst>
              <a:ext uri="{FF2B5EF4-FFF2-40B4-BE49-F238E27FC236}">
                <a16:creationId xmlns:a16="http://schemas.microsoft.com/office/drawing/2014/main" id="{73D6247B-FDC7-93BE-EE32-8252BC89F663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4">
            <a:extLst>
              <a:ext uri="{FF2B5EF4-FFF2-40B4-BE49-F238E27FC236}">
                <a16:creationId xmlns:a16="http://schemas.microsoft.com/office/drawing/2014/main" id="{EB88590F-9FBE-4075-7029-A9C632A32B05}"/>
              </a:ext>
            </a:extLst>
          </p:cNvPr>
          <p:cNvSpPr/>
          <p:nvPr/>
        </p:nvSpPr>
        <p:spPr>
          <a:xfrm>
            <a:off x="152400" y="750888"/>
            <a:ext cx="117221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lIns="90000" tIns="45000" rIns="90000" bIns="45000"/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IN" sz="2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US" dirty="0">
              <a:latin typeface="+mn-lt"/>
            </a:endParaRPr>
          </a:p>
        </p:txBody>
      </p:sp>
      <p:pic>
        <p:nvPicPr>
          <p:cNvPr id="38916" name="Google Shape;312;p44" descr="KL Deemed to be University Logo">
            <a:extLst>
              <a:ext uri="{FF2B5EF4-FFF2-40B4-BE49-F238E27FC236}">
                <a16:creationId xmlns:a16="http://schemas.microsoft.com/office/drawing/2014/main" id="{E940579C-0017-9C27-A805-B4BA9B31475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Google Shape;313;p44">
            <a:extLst>
              <a:ext uri="{FF2B5EF4-FFF2-40B4-BE49-F238E27FC236}">
                <a16:creationId xmlns:a16="http://schemas.microsoft.com/office/drawing/2014/main" id="{761703CC-3125-8573-3B99-213E858F1F4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Slide Number Placeholder 3">
            <a:extLst>
              <a:ext uri="{FF2B5EF4-FFF2-40B4-BE49-F238E27FC236}">
                <a16:creationId xmlns:a16="http://schemas.microsoft.com/office/drawing/2014/main" id="{B49A8460-EE3C-95DB-0D8C-ED3C1DDC38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D5DF7CC4-F5B0-43CC-840B-C0FE70B2C18C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IN" altLang="en-US" sz="220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55B630-D8AB-E1A8-170E-5EC8E25BFC37}"/>
              </a:ext>
            </a:extLst>
          </p:cNvPr>
          <p:cNvSpPr txBox="1"/>
          <p:nvPr/>
        </p:nvSpPr>
        <p:spPr>
          <a:xfrm>
            <a:off x="773113" y="750888"/>
            <a:ext cx="10404475" cy="3097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endParaRPr lang="en-US" sz="3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sz="3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Mathematical optimization is a fundamental tool that cuts across disciplines. 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sz="3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 provides the framework to model, solve, and interpret real-world decision-making problems effectively and efficiently.</a:t>
            </a:r>
            <a:endParaRPr lang="en-US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>
            <a:extLst>
              <a:ext uri="{FF2B5EF4-FFF2-40B4-BE49-F238E27FC236}">
                <a16:creationId xmlns:a16="http://schemas.microsoft.com/office/drawing/2014/main" id="{0D5054F5-D34C-AEC5-2482-4B8478D141A7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Terminal Questions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4">
            <a:extLst>
              <a:ext uri="{FF2B5EF4-FFF2-40B4-BE49-F238E27FC236}">
                <a16:creationId xmlns:a16="http://schemas.microsoft.com/office/drawing/2014/main" id="{01BAF29D-4B81-0839-413C-FF45EFE77244}"/>
              </a:ext>
            </a:extLst>
          </p:cNvPr>
          <p:cNvSpPr/>
          <p:nvPr/>
        </p:nvSpPr>
        <p:spPr>
          <a:xfrm>
            <a:off x="152400" y="750888"/>
            <a:ext cx="117221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lIns="90000" tIns="45000" rIns="90000" bIns="45000"/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IN" sz="2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US" dirty="0">
              <a:latin typeface="+mn-lt"/>
            </a:endParaRPr>
          </a:p>
        </p:txBody>
      </p:sp>
      <p:pic>
        <p:nvPicPr>
          <p:cNvPr id="40964" name="Google Shape;312;p44" descr="KL Deemed to be University Logo">
            <a:extLst>
              <a:ext uri="{FF2B5EF4-FFF2-40B4-BE49-F238E27FC236}">
                <a16:creationId xmlns:a16="http://schemas.microsoft.com/office/drawing/2014/main" id="{8A66A145-4C9E-6496-53BB-502824B87B4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Google Shape;313;p44">
            <a:extLst>
              <a:ext uri="{FF2B5EF4-FFF2-40B4-BE49-F238E27FC236}">
                <a16:creationId xmlns:a16="http://schemas.microsoft.com/office/drawing/2014/main" id="{490FD93A-2E71-4906-B764-176156B2167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Slide Number Placeholder 3">
            <a:extLst>
              <a:ext uri="{FF2B5EF4-FFF2-40B4-BE49-F238E27FC236}">
                <a16:creationId xmlns:a16="http://schemas.microsoft.com/office/drawing/2014/main" id="{1C8DB494-C071-F2DF-1EC4-B80FE65DA4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F11A6BB-04B9-4619-ADC4-112AE5149E61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IN" altLang="en-US" sz="220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F2B37-1DC8-E097-925A-48073C451FDD}"/>
              </a:ext>
            </a:extLst>
          </p:cNvPr>
          <p:cNvSpPr txBox="1"/>
          <p:nvPr/>
        </p:nvSpPr>
        <p:spPr>
          <a:xfrm>
            <a:off x="773113" y="687388"/>
            <a:ext cx="10482262" cy="41703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Which of the following is an example of a linear programming problem?</a:t>
            </a:r>
          </a:p>
          <a:p>
            <a:pPr marL="342900" indent="-342900">
              <a:buFontTx/>
              <a:buAutoNum type="alphaU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Minimizing a nonlinear function with multiple local minima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Allocating limited resources to maximize profit under linear constraints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Training a neural network using gradient descent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Solving a differential equation for dynamic systems</a:t>
            </a:r>
          </a:p>
          <a:p>
            <a:pPr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</a:t>
            </a:r>
            <a:r>
              <a:rPr lang="en-US" b="1" dirty="0"/>
              <a:t> In which of the following fields is mathematical optimization commonly used?</a:t>
            </a:r>
          </a:p>
          <a:p>
            <a:pPr marL="342900" indent="-342900">
              <a:buFontTx/>
              <a:buAutoNum type="alphaUcPeriod"/>
              <a:defRPr/>
            </a:pPr>
            <a:r>
              <a:rPr lang="en-US" dirty="0"/>
              <a:t>Operations research</a:t>
            </a:r>
            <a:br>
              <a:rPr lang="en-US" dirty="0"/>
            </a:br>
            <a:r>
              <a:rPr lang="en-US" dirty="0"/>
              <a:t>B. Economics</a:t>
            </a:r>
            <a:br>
              <a:rPr lang="en-US" dirty="0"/>
            </a:br>
            <a:r>
              <a:rPr lang="en-US" dirty="0"/>
              <a:t>C. Engineering design</a:t>
            </a:r>
            <a:br>
              <a:rPr lang="en-US" dirty="0"/>
            </a:br>
            <a:r>
              <a:rPr lang="en-US" dirty="0"/>
              <a:t>D. All of the above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endParaRPr lang="en-US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>
            <a:extLst>
              <a:ext uri="{FF2B5EF4-FFF2-40B4-BE49-F238E27FC236}">
                <a16:creationId xmlns:a16="http://schemas.microsoft.com/office/drawing/2014/main" id="{CF2C3F92-6145-EB8E-1792-0AD85735A0A7}"/>
              </a:ext>
            </a:extLst>
          </p:cNvPr>
          <p:cNvSpPr/>
          <p:nvPr/>
        </p:nvSpPr>
        <p:spPr>
          <a:xfrm>
            <a:off x="3390900" y="95250"/>
            <a:ext cx="5410200" cy="411163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lIns="90000" tIns="45000" rIns="90000" bIns="45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Textbook References</a:t>
            </a:r>
            <a:endParaRPr sz="2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4">
            <a:extLst>
              <a:ext uri="{FF2B5EF4-FFF2-40B4-BE49-F238E27FC236}">
                <a16:creationId xmlns:a16="http://schemas.microsoft.com/office/drawing/2014/main" id="{FB0408B2-882C-0E86-4434-0B9CE5052E7F}"/>
              </a:ext>
            </a:extLst>
          </p:cNvPr>
          <p:cNvSpPr/>
          <p:nvPr/>
        </p:nvSpPr>
        <p:spPr>
          <a:xfrm>
            <a:off x="152400" y="750888"/>
            <a:ext cx="117221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lIns="90000" tIns="45000" rIns="90000" bIns="45000"/>
          <a:lstStyle/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IN" sz="2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en-US" dirty="0">
              <a:latin typeface="+mn-lt"/>
            </a:endParaRPr>
          </a:p>
        </p:txBody>
      </p:sp>
      <p:pic>
        <p:nvPicPr>
          <p:cNvPr id="43012" name="Google Shape;312;p44" descr="KL Deemed to be University Logo">
            <a:extLst>
              <a:ext uri="{FF2B5EF4-FFF2-40B4-BE49-F238E27FC236}">
                <a16:creationId xmlns:a16="http://schemas.microsoft.com/office/drawing/2014/main" id="{7FF1CD68-5C3E-7312-E605-0FDD585B19B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907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Google Shape;313;p44">
            <a:extLst>
              <a:ext uri="{FF2B5EF4-FFF2-40B4-BE49-F238E27FC236}">
                <a16:creationId xmlns:a16="http://schemas.microsoft.com/office/drawing/2014/main" id="{2BEBE663-3CAE-7911-D547-480D9293908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 b="2225"/>
          <a:stretch>
            <a:fillRect/>
          </a:stretch>
        </p:blipFill>
        <p:spPr bwMode="auto">
          <a:xfrm>
            <a:off x="685800" y="6334125"/>
            <a:ext cx="10923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Slide Number Placeholder 3">
            <a:extLst>
              <a:ext uri="{FF2B5EF4-FFF2-40B4-BE49-F238E27FC236}">
                <a16:creationId xmlns:a16="http://schemas.microsoft.com/office/drawing/2014/main" id="{E9E2A911-560A-E9A0-A066-D65AB8BFC8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C915712-8C3F-411B-A8CD-9E1E45B6BE6A}" type="slidenum">
              <a:rPr lang="en-IN" altLang="en-US" sz="2200" smtClean="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IN" altLang="en-US" sz="220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DCF5F-C810-525C-39F6-4B09ECB98A7B}"/>
              </a:ext>
            </a:extLst>
          </p:cNvPr>
          <p:cNvSpPr txBox="1"/>
          <p:nvPr/>
        </p:nvSpPr>
        <p:spPr>
          <a:xfrm>
            <a:off x="685800" y="844550"/>
            <a:ext cx="10923588" cy="4419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Operations Research"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Frederick S. Hillier and Gerald J. Lieberman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McGraw-Hill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Covers linear, nonlinear, integer, and dynamic programming. Very detailed and application-oriented.</a:t>
            </a:r>
          </a:p>
          <a:p>
            <a:pPr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Moocks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https://www.coursera.org/learn/mathematical-optimization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programming, convex optimization, and duality. Beginner friendly.</a:t>
            </a:r>
          </a:p>
          <a:p>
            <a:pPr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[Discrete Optimization – Coursera (University of Melbourne)]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https://www.coursera.org/learn/discrete-optimization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Constraint programming, integer programming, local search.</a:t>
            </a:r>
          </a:p>
          <a:p>
            <a:pPr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defRPr/>
            </a:pPr>
            <a:endParaRPr lang="en-US" sz="20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2109</TotalTime>
  <Words>996</Words>
  <Application>Microsoft Office PowerPoint</Application>
  <PresentationFormat>Widescreen</PresentationFormat>
  <Paragraphs>140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Dr.Samudra Vijaya K</dc:creator>
  <cp:lastModifiedBy>P Murali Krishna</cp:lastModifiedBy>
  <cp:revision>3334</cp:revision>
  <dcterms:created xsi:type="dcterms:W3CDTF">2023-05-06T06:20:36Z</dcterms:created>
  <dcterms:modified xsi:type="dcterms:W3CDTF">2025-07-12T13:48:29Z</dcterms:modified>
</cp:coreProperties>
</file>