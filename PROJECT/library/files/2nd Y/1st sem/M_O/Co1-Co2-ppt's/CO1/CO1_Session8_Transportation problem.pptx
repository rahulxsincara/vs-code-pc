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1" r:id="rId5"/>
    <p:sldId id="259" r:id="rId6"/>
    <p:sldId id="262" r:id="rId7"/>
    <p:sldId id="263" r:id="rId8"/>
    <p:sldId id="266"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72" autoAdjust="0"/>
    <p:restoredTop sz="94660"/>
  </p:normalViewPr>
  <p:slideViewPr>
    <p:cSldViewPr snapToGrid="0">
      <p:cViewPr varScale="1">
        <p:scale>
          <a:sx n="75" d="100"/>
          <a:sy n="75" d="100"/>
        </p:scale>
        <p:origin x="797"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97892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8" y="141703"/>
            <a:ext cx="9603275" cy="1049235"/>
          </a:xfrm>
        </p:spPr>
        <p:txBody>
          <a:bodyPr/>
          <a:lstStyle/>
          <a:p>
            <a:r>
              <a:rPr lang="en-US" dirty="0"/>
              <a:t>Click to edit Master title style</a:t>
            </a:r>
          </a:p>
        </p:txBody>
      </p:sp>
      <p:sp>
        <p:nvSpPr>
          <p:cNvPr id="3" name="Content Placeholder 2"/>
          <p:cNvSpPr>
            <a:spLocks noGrp="1"/>
          </p:cNvSpPr>
          <p:nvPr>
            <p:ph idx="1"/>
          </p:nvPr>
        </p:nvSpPr>
        <p:spPr>
          <a:xfrm>
            <a:off x="1369386" y="1479089"/>
            <a:ext cx="9603275" cy="3450613"/>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33" name="Straight Connector 32"/>
          <p:cNvCxnSpPr/>
          <p:nvPr userDrawn="1"/>
        </p:nvCxnSpPr>
        <p:spPr>
          <a:xfrm>
            <a:off x="1586067" y="799123"/>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48740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15" name="Straight Connector 14"/>
          <p:cNvCxnSpPr/>
          <p:nvPr userDrawn="1"/>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85925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6584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29" name="Straight Connector 28"/>
          <p:cNvCxnSpPr/>
          <p:nvPr/>
        </p:nvCxnSpPr>
        <p:spPr>
          <a:xfrm>
            <a:off x="1447191" y="521722"/>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26259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51579" y="163666"/>
            <a:ext cx="9603275" cy="1049235"/>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25" name="Straight Connector 24"/>
          <p:cNvCxnSpPr/>
          <p:nvPr/>
        </p:nvCxnSpPr>
        <p:spPr>
          <a:xfrm>
            <a:off x="1597734" y="688284"/>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0973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spTree>
    <p:extLst>
      <p:ext uri="{BB962C8B-B14F-4D97-AF65-F5344CB8AC3E}">
        <p14:creationId xmlns:p14="http://schemas.microsoft.com/office/powerpoint/2010/main" val="3246530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7323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4200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2653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CBABCCC1-BF11-4F37-963E-1BCD5B23FD72}" type="slidenum">
              <a:rPr lang="en-IN" smtClean="0">
                <a:solidFill>
                  <a:srgbClr val="B71E42"/>
                </a:solidFill>
              </a:rPr>
              <a:pPr/>
              <a:t>‹#›</a:t>
            </a:fld>
            <a:endParaRPr lang="en-IN">
              <a:solidFill>
                <a:srgbClr val="B71E42"/>
              </a:solidFill>
            </a:endParaRPr>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5467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pPr defTabSz="457200"/>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defTabSz="457200"/>
            <a:fld id="{CBABCCC1-BF11-4F37-963E-1BCD5B23FD72}" type="slidenum">
              <a:rPr lang="en-IN" smtClean="0">
                <a:solidFill>
                  <a:srgbClr val="B71E42"/>
                </a:solidFill>
              </a:rPr>
              <a:pPr defTabSz="457200"/>
              <a:t>‹#›</a:t>
            </a:fld>
            <a:endParaRPr lang="en-IN" dirty="0">
              <a:solidFill>
                <a:srgbClr val="B71E42"/>
              </a:solidFill>
            </a:endParaRP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8816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Transportation Problem</a:t>
            </a:r>
            <a:br>
              <a:rPr lang="en-IN" b="1" dirty="0"/>
            </a:br>
            <a:endParaRPr lang="en-IN" dirty="0"/>
          </a:p>
        </p:txBody>
      </p:sp>
      <p:sp>
        <p:nvSpPr>
          <p:cNvPr id="3" name="Content Placeholder 2"/>
          <p:cNvSpPr>
            <a:spLocks noGrp="1"/>
          </p:cNvSpPr>
          <p:nvPr>
            <p:ph idx="1"/>
          </p:nvPr>
        </p:nvSpPr>
        <p:spPr>
          <a:xfrm>
            <a:off x="154237" y="925417"/>
            <a:ext cx="11865166" cy="5365721"/>
          </a:xfrm>
        </p:spPr>
        <p:txBody>
          <a:bodyPr>
            <a:noAutofit/>
          </a:bodyPr>
          <a:lstStyle/>
          <a:p>
            <a:r>
              <a:rPr lang="en-US" sz="2400" b="1" dirty="0"/>
              <a:t>Transportation problem</a:t>
            </a:r>
            <a:r>
              <a:rPr lang="en-US" sz="2400" dirty="0"/>
              <a:t> is a special kind of </a:t>
            </a:r>
            <a:r>
              <a:rPr lang="en-US" sz="2400" b="1" dirty="0"/>
              <a:t>Linear Programming Problem (LPP)</a:t>
            </a:r>
            <a:r>
              <a:rPr lang="en-US" sz="2400" dirty="0"/>
              <a:t> in which goods are transported from a set of sources to a set of destinations subject to the supply and demand of the sources and destination respectively such that the total cost of transportation is minimized. It is also sometimes called as Hitchcock problem.</a:t>
            </a:r>
          </a:p>
          <a:p>
            <a:pPr marL="0" indent="0" fontAlgn="base">
              <a:buNone/>
            </a:pPr>
            <a:r>
              <a:rPr lang="en-US" sz="2400" b="1" dirty="0"/>
              <a:t>Types of Transportation problems:</a:t>
            </a:r>
            <a:br>
              <a:rPr lang="en-US" sz="2400" dirty="0"/>
            </a:br>
            <a:r>
              <a:rPr lang="en-US" sz="2400" b="1" dirty="0"/>
              <a:t>Balanced:</a:t>
            </a:r>
            <a:r>
              <a:rPr lang="en-US" sz="2400" dirty="0"/>
              <a:t> When both supplies and demands are equal then the problem is said to be a balanced transportation problem.</a:t>
            </a:r>
          </a:p>
          <a:p>
            <a:pPr marL="0" indent="0" fontAlgn="base">
              <a:buNone/>
            </a:pPr>
            <a:r>
              <a:rPr lang="en-US" sz="2400" b="1" dirty="0"/>
              <a:t>Unbalanced:</a:t>
            </a:r>
            <a:r>
              <a:rPr lang="en-US" sz="2400" dirty="0"/>
              <a:t> When the supply and demand are not equal then it is said to be an unbalanced transportation problem. In this type of problem, either a dummy row or a dummy column is added according to the requirement to make it a balanced problem. Then it can be solved similar to the balanced problem.</a:t>
            </a:r>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a:t>
            </a:fld>
            <a:endParaRPr lang="en-IN">
              <a:solidFill>
                <a:srgbClr val="B71E42"/>
              </a:solidFill>
            </a:endParaRPr>
          </a:p>
        </p:txBody>
      </p:sp>
    </p:spTree>
    <p:extLst>
      <p:ext uri="{BB962C8B-B14F-4D97-AF65-F5344CB8AC3E}">
        <p14:creationId xmlns:p14="http://schemas.microsoft.com/office/powerpoint/2010/main" val="8618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63666"/>
            <a:ext cx="10358503" cy="1049235"/>
          </a:xfrm>
        </p:spPr>
        <p:txBody>
          <a:bodyPr>
            <a:normAutofit/>
          </a:bodyPr>
          <a:lstStyle/>
          <a:p>
            <a:r>
              <a:rPr lang="en-US" sz="2800" b="1" dirty="0"/>
              <a:t>Basic structure of transportation problem:</a:t>
            </a:r>
            <a:endParaRPr lang="en-IN" sz="2800" dirty="0"/>
          </a:p>
        </p:txBody>
      </p:sp>
      <p:sp>
        <p:nvSpPr>
          <p:cNvPr id="3" name="Slide Number Placeholder 2"/>
          <p:cNvSpPr>
            <a:spLocks noGrp="1"/>
          </p:cNvSpPr>
          <p:nvPr>
            <p:ph type="sldNum" sz="quarter" idx="12"/>
          </p:nvPr>
        </p:nvSpPr>
        <p:spPr/>
        <p:txBody>
          <a:bodyPr/>
          <a:lstStyle/>
          <a:p>
            <a:fld id="{CBABCCC1-BF11-4F37-963E-1BCD5B23FD72}" type="slidenum">
              <a:rPr lang="en-IN" smtClean="0">
                <a:solidFill>
                  <a:srgbClr val="B71E42"/>
                </a:solidFill>
              </a:rPr>
              <a:pPr/>
              <a:t>2</a:t>
            </a:fld>
            <a:endParaRPr lang="en-IN">
              <a:solidFill>
                <a:srgbClr val="B71E42"/>
              </a:solidFill>
            </a:endParaRPr>
          </a:p>
        </p:txBody>
      </p:sp>
      <p:pic>
        <p:nvPicPr>
          <p:cNvPr id="1028" name="Picture 4"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501" y="1004047"/>
            <a:ext cx="4892674" cy="42179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6357" y="1104640"/>
            <a:ext cx="6604891" cy="4401205"/>
          </a:xfrm>
          <a:prstGeom prst="rect">
            <a:avLst/>
          </a:prstGeom>
        </p:spPr>
        <p:txBody>
          <a:bodyPr wrap="square">
            <a:spAutoFit/>
          </a:bodyPr>
          <a:lstStyle/>
          <a:p>
            <a:r>
              <a:rPr lang="en-US" sz="2800" dirty="0">
                <a:solidFill>
                  <a:srgbClr val="273239"/>
                </a:solidFill>
                <a:latin typeface="Nunito"/>
              </a:rPr>
              <a:t>In the given table </a:t>
            </a:r>
          </a:p>
          <a:p>
            <a:r>
              <a:rPr lang="en-US" sz="2800" b="1" dirty="0">
                <a:solidFill>
                  <a:srgbClr val="273239"/>
                </a:solidFill>
                <a:latin typeface="Nunito"/>
              </a:rPr>
              <a:t>D1</a:t>
            </a:r>
            <a:r>
              <a:rPr lang="en-US" sz="2800" dirty="0">
                <a:solidFill>
                  <a:srgbClr val="273239"/>
                </a:solidFill>
                <a:latin typeface="Nunito"/>
              </a:rPr>
              <a:t>, </a:t>
            </a:r>
            <a:r>
              <a:rPr lang="en-US" sz="2800" b="1" dirty="0">
                <a:solidFill>
                  <a:srgbClr val="273239"/>
                </a:solidFill>
                <a:latin typeface="Nunito"/>
              </a:rPr>
              <a:t>D2</a:t>
            </a:r>
            <a:r>
              <a:rPr lang="en-US" sz="2800" dirty="0">
                <a:solidFill>
                  <a:srgbClr val="273239"/>
                </a:solidFill>
                <a:latin typeface="Nunito"/>
              </a:rPr>
              <a:t>, </a:t>
            </a:r>
            <a:r>
              <a:rPr lang="en-US" sz="2800" b="1" dirty="0">
                <a:solidFill>
                  <a:srgbClr val="273239"/>
                </a:solidFill>
                <a:latin typeface="Nunito"/>
              </a:rPr>
              <a:t>D3</a:t>
            </a:r>
            <a:r>
              <a:rPr lang="en-US" sz="2800" dirty="0">
                <a:solidFill>
                  <a:srgbClr val="273239"/>
                </a:solidFill>
                <a:latin typeface="Nunito"/>
              </a:rPr>
              <a:t> and </a:t>
            </a:r>
            <a:r>
              <a:rPr lang="en-US" sz="2800" b="1" dirty="0">
                <a:solidFill>
                  <a:srgbClr val="273239"/>
                </a:solidFill>
                <a:latin typeface="Nunito"/>
              </a:rPr>
              <a:t>D4</a:t>
            </a:r>
            <a:r>
              <a:rPr lang="en-US" sz="2800" dirty="0">
                <a:solidFill>
                  <a:srgbClr val="273239"/>
                </a:solidFill>
                <a:latin typeface="Nunito"/>
              </a:rPr>
              <a:t>  are the destinations where the products/goods are to be delivered from different sources </a:t>
            </a:r>
            <a:r>
              <a:rPr lang="en-US" sz="2800" b="1" dirty="0">
                <a:solidFill>
                  <a:srgbClr val="273239"/>
                </a:solidFill>
                <a:latin typeface="Nunito"/>
              </a:rPr>
              <a:t>S1</a:t>
            </a:r>
            <a:r>
              <a:rPr lang="en-US" sz="2800" dirty="0">
                <a:solidFill>
                  <a:srgbClr val="273239"/>
                </a:solidFill>
                <a:latin typeface="Nunito"/>
              </a:rPr>
              <a:t>, </a:t>
            </a:r>
            <a:r>
              <a:rPr lang="en-US" sz="2800" b="1" dirty="0">
                <a:solidFill>
                  <a:srgbClr val="273239"/>
                </a:solidFill>
                <a:latin typeface="Nunito"/>
              </a:rPr>
              <a:t>S2</a:t>
            </a:r>
            <a:r>
              <a:rPr lang="en-US" sz="2800" dirty="0">
                <a:solidFill>
                  <a:srgbClr val="273239"/>
                </a:solidFill>
                <a:latin typeface="Nunito"/>
              </a:rPr>
              <a:t>, </a:t>
            </a:r>
            <a:r>
              <a:rPr lang="en-US" sz="2800" b="1" dirty="0">
                <a:solidFill>
                  <a:srgbClr val="273239"/>
                </a:solidFill>
                <a:latin typeface="Nunito"/>
              </a:rPr>
              <a:t>S3</a:t>
            </a:r>
            <a:r>
              <a:rPr lang="en-US" sz="2800" dirty="0">
                <a:solidFill>
                  <a:srgbClr val="273239"/>
                </a:solidFill>
                <a:latin typeface="Nunito"/>
              </a:rPr>
              <a:t> and </a:t>
            </a:r>
            <a:r>
              <a:rPr lang="en-US" sz="2800" b="1" dirty="0">
                <a:solidFill>
                  <a:srgbClr val="273239"/>
                </a:solidFill>
                <a:latin typeface="Nunito"/>
              </a:rPr>
              <a:t>S4</a:t>
            </a:r>
            <a:r>
              <a:rPr lang="en-US" sz="2800" dirty="0">
                <a:solidFill>
                  <a:srgbClr val="273239"/>
                </a:solidFill>
                <a:latin typeface="Nunito"/>
              </a:rPr>
              <a:t>.</a:t>
            </a:r>
          </a:p>
          <a:p>
            <a:r>
              <a:rPr lang="en-US" sz="2800" b="1" dirty="0">
                <a:solidFill>
                  <a:srgbClr val="273239"/>
                </a:solidFill>
                <a:latin typeface="Nunito"/>
              </a:rPr>
              <a:t>S</a:t>
            </a:r>
            <a:r>
              <a:rPr lang="en-US" sz="2800" b="1" baseline="-25000" dirty="0">
                <a:solidFill>
                  <a:srgbClr val="273239"/>
                </a:solidFill>
                <a:latin typeface="Nunito"/>
              </a:rPr>
              <a:t>i</a:t>
            </a:r>
            <a:r>
              <a:rPr lang="en-US" sz="2800" dirty="0">
                <a:solidFill>
                  <a:srgbClr val="273239"/>
                </a:solidFill>
                <a:latin typeface="Nunito"/>
              </a:rPr>
              <a:t> is the supply from the source </a:t>
            </a:r>
            <a:r>
              <a:rPr lang="en-US" sz="2800" b="1" dirty="0">
                <a:solidFill>
                  <a:srgbClr val="273239"/>
                </a:solidFill>
                <a:latin typeface="Nunito"/>
              </a:rPr>
              <a:t>O</a:t>
            </a:r>
            <a:r>
              <a:rPr lang="en-US" sz="2800" b="1" baseline="-25000" dirty="0">
                <a:solidFill>
                  <a:srgbClr val="273239"/>
                </a:solidFill>
                <a:latin typeface="Nunito"/>
              </a:rPr>
              <a:t>i</a:t>
            </a:r>
            <a:r>
              <a:rPr lang="en-US" sz="2800" dirty="0">
                <a:solidFill>
                  <a:srgbClr val="273239"/>
                </a:solidFill>
                <a:latin typeface="Nunito"/>
              </a:rPr>
              <a:t>. </a:t>
            </a:r>
          </a:p>
          <a:p>
            <a:r>
              <a:rPr lang="en-US" sz="2800" b="1" dirty="0" err="1">
                <a:solidFill>
                  <a:srgbClr val="273239"/>
                </a:solidFill>
                <a:latin typeface="Nunito"/>
              </a:rPr>
              <a:t>d</a:t>
            </a:r>
            <a:r>
              <a:rPr lang="en-US" sz="2800" b="1" baseline="-25000" dirty="0" err="1">
                <a:solidFill>
                  <a:srgbClr val="273239"/>
                </a:solidFill>
                <a:latin typeface="Nunito"/>
              </a:rPr>
              <a:t>j</a:t>
            </a:r>
            <a:r>
              <a:rPr lang="en-US" sz="2800" dirty="0">
                <a:solidFill>
                  <a:srgbClr val="273239"/>
                </a:solidFill>
                <a:latin typeface="Nunito"/>
              </a:rPr>
              <a:t> is the demand of the destination </a:t>
            </a:r>
            <a:r>
              <a:rPr lang="en-US" sz="2800" b="1" dirty="0" err="1">
                <a:solidFill>
                  <a:srgbClr val="273239"/>
                </a:solidFill>
                <a:latin typeface="Nunito"/>
              </a:rPr>
              <a:t>D</a:t>
            </a:r>
            <a:r>
              <a:rPr lang="en-US" sz="2800" b="1" baseline="-25000" dirty="0" err="1">
                <a:solidFill>
                  <a:srgbClr val="273239"/>
                </a:solidFill>
                <a:latin typeface="Nunito"/>
              </a:rPr>
              <a:t>j</a:t>
            </a:r>
            <a:r>
              <a:rPr lang="en-US" sz="2800" dirty="0">
                <a:solidFill>
                  <a:srgbClr val="273239"/>
                </a:solidFill>
                <a:latin typeface="Nunito"/>
              </a:rPr>
              <a:t>. </a:t>
            </a:r>
          </a:p>
          <a:p>
            <a:r>
              <a:rPr lang="en-US" sz="2800" b="1" dirty="0" err="1">
                <a:solidFill>
                  <a:srgbClr val="273239"/>
                </a:solidFill>
                <a:latin typeface="Nunito"/>
              </a:rPr>
              <a:t>C</a:t>
            </a:r>
            <a:r>
              <a:rPr lang="en-US" sz="2800" b="1" baseline="-25000" dirty="0" err="1">
                <a:solidFill>
                  <a:srgbClr val="273239"/>
                </a:solidFill>
                <a:latin typeface="Nunito"/>
              </a:rPr>
              <a:t>ij</a:t>
            </a:r>
            <a:r>
              <a:rPr lang="en-US" sz="2800" dirty="0">
                <a:solidFill>
                  <a:srgbClr val="273239"/>
                </a:solidFill>
                <a:latin typeface="Nunito"/>
              </a:rPr>
              <a:t> is the cost when the product is delivered from source </a:t>
            </a:r>
            <a:r>
              <a:rPr lang="en-US" sz="2800" b="1" dirty="0">
                <a:solidFill>
                  <a:srgbClr val="273239"/>
                </a:solidFill>
                <a:latin typeface="Nunito"/>
              </a:rPr>
              <a:t>S</a:t>
            </a:r>
            <a:r>
              <a:rPr lang="en-US" sz="2800" b="1" baseline="-25000" dirty="0">
                <a:solidFill>
                  <a:srgbClr val="273239"/>
                </a:solidFill>
                <a:latin typeface="Nunito"/>
              </a:rPr>
              <a:t>i</a:t>
            </a:r>
            <a:r>
              <a:rPr lang="en-US" sz="2800" dirty="0">
                <a:solidFill>
                  <a:srgbClr val="273239"/>
                </a:solidFill>
                <a:latin typeface="Nunito"/>
              </a:rPr>
              <a:t> to destination </a:t>
            </a:r>
            <a:r>
              <a:rPr lang="en-US" sz="2800" b="1" dirty="0" err="1">
                <a:solidFill>
                  <a:srgbClr val="273239"/>
                </a:solidFill>
                <a:latin typeface="Nunito"/>
              </a:rPr>
              <a:t>D</a:t>
            </a:r>
            <a:r>
              <a:rPr lang="en-US" sz="2800" b="1" baseline="-25000" dirty="0" err="1">
                <a:solidFill>
                  <a:srgbClr val="273239"/>
                </a:solidFill>
                <a:latin typeface="Nunito"/>
              </a:rPr>
              <a:t>j</a:t>
            </a:r>
            <a:r>
              <a:rPr lang="en-US" sz="2800" dirty="0">
                <a:solidFill>
                  <a:srgbClr val="273239"/>
                </a:solidFill>
                <a:latin typeface="Nunito"/>
              </a:rPr>
              <a:t>.</a:t>
            </a:r>
            <a:endParaRPr lang="en-IN" sz="2800" dirty="0"/>
          </a:p>
        </p:txBody>
      </p:sp>
    </p:spTree>
    <p:extLst>
      <p:ext uri="{BB962C8B-B14F-4D97-AF65-F5344CB8AC3E}">
        <p14:creationId xmlns:p14="http://schemas.microsoft.com/office/powerpoint/2010/main" val="126666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Methods to Solve:</a:t>
            </a:r>
            <a:endParaRPr lang="en-IN" dirty="0"/>
          </a:p>
        </p:txBody>
      </p:sp>
      <p:sp>
        <p:nvSpPr>
          <p:cNvPr id="3" name="Content Placeholder 2"/>
          <p:cNvSpPr>
            <a:spLocks noGrp="1"/>
          </p:cNvSpPr>
          <p:nvPr>
            <p:ph idx="1"/>
          </p:nvPr>
        </p:nvSpPr>
        <p:spPr/>
        <p:txBody>
          <a:bodyPr/>
          <a:lstStyle/>
          <a:p>
            <a:pPr marL="0" indent="0">
              <a:buNone/>
            </a:pPr>
            <a:r>
              <a:rPr lang="en-US" dirty="0"/>
              <a:t>To find the initial basic feasible solution there are three methods:</a:t>
            </a:r>
          </a:p>
          <a:p>
            <a:pPr marL="0" indent="0">
              <a:buNone/>
            </a:pPr>
            <a:endParaRPr lang="en-US" dirty="0"/>
          </a:p>
          <a:p>
            <a:pPr fontAlgn="base"/>
            <a:r>
              <a:rPr lang="en-US" dirty="0" err="1"/>
              <a:t>NorthWest</a:t>
            </a:r>
            <a:r>
              <a:rPr lang="en-US" dirty="0"/>
              <a:t> Corner Cell Method.</a:t>
            </a:r>
          </a:p>
          <a:p>
            <a:pPr fontAlgn="base"/>
            <a:r>
              <a:rPr lang="en-US" dirty="0"/>
              <a:t>Least Call Cell Method.</a:t>
            </a:r>
          </a:p>
          <a:p>
            <a:pPr fontAlgn="base"/>
            <a:r>
              <a:rPr lang="en-US" dirty="0"/>
              <a:t>Vogel’s Approximation Method (VAM).</a:t>
            </a:r>
          </a:p>
          <a:p>
            <a:pPr marL="0" indent="0">
              <a:buNone/>
            </a:pP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3</a:t>
            </a:fld>
            <a:endParaRPr lang="en-IN">
              <a:solidFill>
                <a:srgbClr val="B71E42"/>
              </a:solidFill>
            </a:endParaRPr>
          </a:p>
        </p:txBody>
      </p:sp>
    </p:spTree>
    <p:extLst>
      <p:ext uri="{BB962C8B-B14F-4D97-AF65-F5344CB8AC3E}">
        <p14:creationId xmlns:p14="http://schemas.microsoft.com/office/powerpoint/2010/main" val="2256607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t>NorthWest</a:t>
            </a:r>
            <a:r>
              <a:rPr lang="en-US" b="1" dirty="0"/>
              <a:t> Corner Method</a:t>
            </a:r>
            <a:br>
              <a:rPr lang="en-US" b="1" dirty="0"/>
            </a:br>
            <a:endParaRPr lang="en-IN" dirty="0"/>
          </a:p>
        </p:txBody>
      </p:sp>
      <p:sp>
        <p:nvSpPr>
          <p:cNvPr id="3" name="Slide Number Placeholder 2"/>
          <p:cNvSpPr>
            <a:spLocks noGrp="1"/>
          </p:cNvSpPr>
          <p:nvPr>
            <p:ph type="sldNum" sz="quarter" idx="12"/>
          </p:nvPr>
        </p:nvSpPr>
        <p:spPr/>
        <p:txBody>
          <a:bodyPr/>
          <a:lstStyle/>
          <a:p>
            <a:fld id="{CBABCCC1-BF11-4F37-963E-1BCD5B23FD72}" type="slidenum">
              <a:rPr lang="en-IN" smtClean="0">
                <a:solidFill>
                  <a:srgbClr val="B71E42"/>
                </a:solidFill>
              </a:rPr>
              <a:pPr/>
              <a:t>4</a:t>
            </a:fld>
            <a:endParaRPr lang="en-IN">
              <a:solidFill>
                <a:srgbClr val="B71E42"/>
              </a:solidFill>
            </a:endParaRPr>
          </a:p>
        </p:txBody>
      </p:sp>
      <p:pic>
        <p:nvPicPr>
          <p:cNvPr id="2050"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950" y="2478979"/>
            <a:ext cx="7758809" cy="406394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843532"/>
            <a:ext cx="11449050" cy="1200329"/>
          </a:xfrm>
          <a:prstGeom prst="rect">
            <a:avLst/>
          </a:prstGeom>
        </p:spPr>
        <p:txBody>
          <a:bodyPr wrap="square">
            <a:spAutoFit/>
          </a:bodyPr>
          <a:lstStyle/>
          <a:p>
            <a:pPr algn="just"/>
            <a:r>
              <a:rPr lang="en-US" sz="2400" dirty="0">
                <a:solidFill>
                  <a:srgbClr val="273239"/>
                </a:solidFill>
                <a:latin typeface="Nunito"/>
              </a:rPr>
              <a:t>Given three sources </a:t>
            </a:r>
            <a:r>
              <a:rPr lang="en-US" sz="2400" b="1" dirty="0">
                <a:solidFill>
                  <a:srgbClr val="273239"/>
                </a:solidFill>
                <a:latin typeface="Nunito"/>
              </a:rPr>
              <a:t>O1</a:t>
            </a:r>
            <a:r>
              <a:rPr lang="en-US" sz="2400" dirty="0">
                <a:solidFill>
                  <a:srgbClr val="273239"/>
                </a:solidFill>
                <a:latin typeface="Nunito"/>
              </a:rPr>
              <a:t>, </a:t>
            </a:r>
            <a:r>
              <a:rPr lang="en-US" sz="2400" b="1" dirty="0">
                <a:solidFill>
                  <a:srgbClr val="273239"/>
                </a:solidFill>
                <a:latin typeface="Nunito"/>
              </a:rPr>
              <a:t>O2</a:t>
            </a:r>
            <a:r>
              <a:rPr lang="en-US" sz="2400" dirty="0">
                <a:solidFill>
                  <a:srgbClr val="273239"/>
                </a:solidFill>
                <a:latin typeface="Nunito"/>
              </a:rPr>
              <a:t> and </a:t>
            </a:r>
            <a:r>
              <a:rPr lang="en-US" sz="2400" b="1" dirty="0">
                <a:solidFill>
                  <a:srgbClr val="273239"/>
                </a:solidFill>
                <a:latin typeface="Nunito"/>
              </a:rPr>
              <a:t>O3</a:t>
            </a:r>
            <a:r>
              <a:rPr lang="en-US" sz="2400" dirty="0">
                <a:solidFill>
                  <a:srgbClr val="273239"/>
                </a:solidFill>
                <a:latin typeface="Nunito"/>
              </a:rPr>
              <a:t> and four destinations </a:t>
            </a:r>
            <a:r>
              <a:rPr lang="en-US" sz="2400" b="1" dirty="0">
                <a:solidFill>
                  <a:srgbClr val="273239"/>
                </a:solidFill>
                <a:latin typeface="Nunito"/>
              </a:rPr>
              <a:t>D1</a:t>
            </a:r>
            <a:r>
              <a:rPr lang="en-US" sz="2400" dirty="0">
                <a:solidFill>
                  <a:srgbClr val="273239"/>
                </a:solidFill>
                <a:latin typeface="Nunito"/>
              </a:rPr>
              <a:t>, </a:t>
            </a:r>
            <a:r>
              <a:rPr lang="en-US" sz="2400" b="1" dirty="0">
                <a:solidFill>
                  <a:srgbClr val="273239"/>
                </a:solidFill>
                <a:latin typeface="Nunito"/>
              </a:rPr>
              <a:t>D2</a:t>
            </a:r>
            <a:r>
              <a:rPr lang="en-US" sz="2400" dirty="0">
                <a:solidFill>
                  <a:srgbClr val="273239"/>
                </a:solidFill>
                <a:latin typeface="Nunito"/>
              </a:rPr>
              <a:t>, </a:t>
            </a:r>
            <a:r>
              <a:rPr lang="en-US" sz="2400" b="1" dirty="0">
                <a:solidFill>
                  <a:srgbClr val="273239"/>
                </a:solidFill>
                <a:latin typeface="Nunito"/>
              </a:rPr>
              <a:t>D3</a:t>
            </a:r>
            <a:r>
              <a:rPr lang="en-US" sz="2400" dirty="0">
                <a:solidFill>
                  <a:srgbClr val="273239"/>
                </a:solidFill>
                <a:latin typeface="Nunito"/>
              </a:rPr>
              <a:t> and </a:t>
            </a:r>
            <a:r>
              <a:rPr lang="en-US" sz="2400" b="1" dirty="0">
                <a:solidFill>
                  <a:srgbClr val="273239"/>
                </a:solidFill>
                <a:latin typeface="Nunito"/>
              </a:rPr>
              <a:t>D4</a:t>
            </a:r>
            <a:r>
              <a:rPr lang="en-US" sz="2400" dirty="0">
                <a:solidFill>
                  <a:srgbClr val="273239"/>
                </a:solidFill>
                <a:latin typeface="Nunito"/>
              </a:rPr>
              <a:t>. For the sources </a:t>
            </a:r>
            <a:r>
              <a:rPr lang="en-US" sz="2400" b="1" dirty="0">
                <a:solidFill>
                  <a:srgbClr val="273239"/>
                </a:solidFill>
                <a:latin typeface="Nunito"/>
              </a:rPr>
              <a:t>O1</a:t>
            </a:r>
            <a:r>
              <a:rPr lang="en-US" sz="2400" dirty="0">
                <a:solidFill>
                  <a:srgbClr val="273239"/>
                </a:solidFill>
                <a:latin typeface="Nunito"/>
              </a:rPr>
              <a:t>, </a:t>
            </a:r>
            <a:r>
              <a:rPr lang="en-US" sz="2400" b="1" dirty="0">
                <a:solidFill>
                  <a:srgbClr val="273239"/>
                </a:solidFill>
                <a:latin typeface="Nunito"/>
              </a:rPr>
              <a:t>O2</a:t>
            </a:r>
            <a:r>
              <a:rPr lang="en-US" sz="2400" dirty="0">
                <a:solidFill>
                  <a:srgbClr val="273239"/>
                </a:solidFill>
                <a:latin typeface="Nunito"/>
              </a:rPr>
              <a:t> and </a:t>
            </a:r>
            <a:r>
              <a:rPr lang="en-US" sz="2400" b="1" dirty="0">
                <a:solidFill>
                  <a:srgbClr val="273239"/>
                </a:solidFill>
                <a:latin typeface="Nunito"/>
              </a:rPr>
              <a:t>O3</a:t>
            </a:r>
            <a:r>
              <a:rPr lang="en-US" sz="2400" dirty="0">
                <a:solidFill>
                  <a:srgbClr val="273239"/>
                </a:solidFill>
                <a:latin typeface="Nunito"/>
              </a:rPr>
              <a:t>, the </a:t>
            </a:r>
            <a:r>
              <a:rPr lang="en-US" sz="2400" dirty="0" err="1">
                <a:solidFill>
                  <a:srgbClr val="273239"/>
                </a:solidFill>
                <a:latin typeface="Nunito"/>
              </a:rPr>
              <a:t>supplyis</a:t>
            </a:r>
            <a:r>
              <a:rPr lang="en-US" sz="2400" dirty="0">
                <a:solidFill>
                  <a:srgbClr val="273239"/>
                </a:solidFill>
                <a:latin typeface="Nunito"/>
              </a:rPr>
              <a:t> </a:t>
            </a:r>
            <a:r>
              <a:rPr lang="en-US" sz="2400" b="1" dirty="0">
                <a:solidFill>
                  <a:srgbClr val="273239"/>
                </a:solidFill>
                <a:latin typeface="Nunito"/>
              </a:rPr>
              <a:t>300</a:t>
            </a:r>
            <a:r>
              <a:rPr lang="en-US" sz="2400" dirty="0">
                <a:solidFill>
                  <a:srgbClr val="273239"/>
                </a:solidFill>
                <a:latin typeface="Nunito"/>
              </a:rPr>
              <a:t>, </a:t>
            </a:r>
            <a:r>
              <a:rPr lang="en-US" sz="2400" b="1" dirty="0">
                <a:solidFill>
                  <a:srgbClr val="273239"/>
                </a:solidFill>
                <a:latin typeface="Nunito"/>
              </a:rPr>
              <a:t>400</a:t>
            </a:r>
            <a:r>
              <a:rPr lang="en-US" sz="2400" dirty="0">
                <a:solidFill>
                  <a:srgbClr val="273239"/>
                </a:solidFill>
                <a:latin typeface="Nunito"/>
              </a:rPr>
              <a:t> and </a:t>
            </a:r>
            <a:r>
              <a:rPr lang="en-US" sz="2400" b="1" dirty="0">
                <a:solidFill>
                  <a:srgbClr val="273239"/>
                </a:solidFill>
                <a:latin typeface="Nunito"/>
              </a:rPr>
              <a:t>500</a:t>
            </a:r>
            <a:r>
              <a:rPr lang="en-US" sz="2400" dirty="0">
                <a:solidFill>
                  <a:srgbClr val="273239"/>
                </a:solidFill>
                <a:latin typeface="Nunito"/>
              </a:rPr>
              <a:t> respectively. The destinations</a:t>
            </a:r>
            <a:r>
              <a:rPr lang="en-US" sz="2400" b="1" dirty="0">
                <a:solidFill>
                  <a:srgbClr val="273239"/>
                </a:solidFill>
                <a:latin typeface="Nunito"/>
              </a:rPr>
              <a:t>D1</a:t>
            </a:r>
            <a:r>
              <a:rPr lang="en-US" sz="2400" dirty="0">
                <a:solidFill>
                  <a:srgbClr val="273239"/>
                </a:solidFill>
                <a:latin typeface="Nunito"/>
              </a:rPr>
              <a:t>,</a:t>
            </a:r>
            <a:r>
              <a:rPr lang="en-US" sz="2400" b="1" dirty="0">
                <a:solidFill>
                  <a:srgbClr val="273239"/>
                </a:solidFill>
                <a:latin typeface="Nunito"/>
              </a:rPr>
              <a:t>D2</a:t>
            </a:r>
            <a:r>
              <a:rPr lang="en-US" sz="2400" dirty="0">
                <a:solidFill>
                  <a:srgbClr val="273239"/>
                </a:solidFill>
                <a:latin typeface="Nunito"/>
              </a:rPr>
              <a:t>, </a:t>
            </a:r>
            <a:r>
              <a:rPr lang="en-US" sz="2400" b="1" dirty="0">
                <a:solidFill>
                  <a:srgbClr val="273239"/>
                </a:solidFill>
                <a:latin typeface="Nunito"/>
              </a:rPr>
              <a:t>D3</a:t>
            </a:r>
            <a:r>
              <a:rPr lang="en-US" sz="2400" dirty="0">
                <a:solidFill>
                  <a:srgbClr val="273239"/>
                </a:solidFill>
                <a:latin typeface="Nunito"/>
              </a:rPr>
              <a:t> and </a:t>
            </a:r>
            <a:r>
              <a:rPr lang="en-US" sz="2400" b="1" dirty="0">
                <a:solidFill>
                  <a:srgbClr val="273239"/>
                </a:solidFill>
                <a:latin typeface="Nunito"/>
              </a:rPr>
              <a:t>D4</a:t>
            </a:r>
            <a:r>
              <a:rPr lang="en-US" sz="2400" dirty="0">
                <a:solidFill>
                  <a:srgbClr val="273239"/>
                </a:solidFill>
                <a:latin typeface="Nunito"/>
              </a:rPr>
              <a:t> have demands </a:t>
            </a:r>
            <a:r>
              <a:rPr lang="en-US" sz="2400" b="1" dirty="0">
                <a:solidFill>
                  <a:srgbClr val="273239"/>
                </a:solidFill>
                <a:latin typeface="Nunito"/>
              </a:rPr>
              <a:t>250</a:t>
            </a:r>
            <a:r>
              <a:rPr lang="en-US" sz="2400" dirty="0">
                <a:solidFill>
                  <a:srgbClr val="273239"/>
                </a:solidFill>
                <a:latin typeface="Nunito"/>
              </a:rPr>
              <a:t>, </a:t>
            </a:r>
            <a:r>
              <a:rPr lang="en-US" sz="2400" b="1" dirty="0">
                <a:solidFill>
                  <a:srgbClr val="273239"/>
                </a:solidFill>
                <a:latin typeface="Nunito"/>
              </a:rPr>
              <a:t>350</a:t>
            </a:r>
            <a:r>
              <a:rPr lang="en-US" sz="2400" dirty="0">
                <a:solidFill>
                  <a:srgbClr val="273239"/>
                </a:solidFill>
                <a:latin typeface="Nunito"/>
              </a:rPr>
              <a:t>, </a:t>
            </a:r>
            <a:r>
              <a:rPr lang="en-US" sz="2400" b="1" dirty="0">
                <a:solidFill>
                  <a:srgbClr val="273239"/>
                </a:solidFill>
                <a:latin typeface="Nunito"/>
              </a:rPr>
              <a:t>400</a:t>
            </a:r>
            <a:r>
              <a:rPr lang="en-US" sz="2400" dirty="0">
                <a:solidFill>
                  <a:srgbClr val="273239"/>
                </a:solidFill>
                <a:latin typeface="Nunito"/>
              </a:rPr>
              <a:t> and </a:t>
            </a:r>
            <a:r>
              <a:rPr lang="en-US" sz="2400" b="1" dirty="0">
                <a:solidFill>
                  <a:srgbClr val="273239"/>
                </a:solidFill>
                <a:latin typeface="Nunito"/>
              </a:rPr>
              <a:t>200</a:t>
            </a:r>
            <a:r>
              <a:rPr lang="en-US" sz="2400" dirty="0">
                <a:solidFill>
                  <a:srgbClr val="273239"/>
                </a:solidFill>
                <a:latin typeface="Nunito"/>
              </a:rPr>
              <a:t> respectively. </a:t>
            </a:r>
            <a:endParaRPr lang="en-IN" sz="2400" dirty="0"/>
          </a:p>
        </p:txBody>
      </p:sp>
    </p:spTree>
    <p:extLst>
      <p:ext uri="{BB962C8B-B14F-4D97-AF65-F5344CB8AC3E}">
        <p14:creationId xmlns:p14="http://schemas.microsoft.com/office/powerpoint/2010/main" val="3029619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NorthWest</a:t>
            </a:r>
            <a:r>
              <a:rPr lang="en-US" b="1" dirty="0"/>
              <a:t> Corner Method</a:t>
            </a:r>
            <a:endParaRPr lang="en-IN" dirty="0"/>
          </a:p>
        </p:txBody>
      </p:sp>
      <p:sp>
        <p:nvSpPr>
          <p:cNvPr id="3" name="Content Placeholder 2"/>
          <p:cNvSpPr>
            <a:spLocks noGrp="1"/>
          </p:cNvSpPr>
          <p:nvPr>
            <p:ph idx="1"/>
          </p:nvPr>
        </p:nvSpPr>
        <p:spPr>
          <a:xfrm>
            <a:off x="114299" y="983789"/>
            <a:ext cx="5124451" cy="5307350"/>
          </a:xfrm>
        </p:spPr>
        <p:txBody>
          <a:bodyPr>
            <a:noAutofit/>
          </a:bodyPr>
          <a:lstStyle/>
          <a:p>
            <a:pPr marL="0" indent="0">
              <a:buNone/>
            </a:pPr>
            <a:r>
              <a:rPr lang="en-US" b="1" dirty="0"/>
              <a:t>(O1, D1)</a:t>
            </a:r>
            <a:r>
              <a:rPr lang="en-US" dirty="0"/>
              <a:t> has to be the starting point i.e. the north-west corner of the table. Each and every value in the cell is considered as the cost per transportation. Compare the demand for column </a:t>
            </a:r>
            <a:r>
              <a:rPr lang="en-US" b="1" dirty="0"/>
              <a:t>D1</a:t>
            </a:r>
            <a:r>
              <a:rPr lang="en-US" dirty="0"/>
              <a:t> and supply from the source </a:t>
            </a:r>
            <a:r>
              <a:rPr lang="en-US" b="1" dirty="0"/>
              <a:t>O1</a:t>
            </a:r>
            <a:r>
              <a:rPr lang="en-US" dirty="0"/>
              <a:t> and allocate the minimum of two to the cell </a:t>
            </a:r>
            <a:r>
              <a:rPr lang="en-US" b="1" dirty="0"/>
              <a:t>(O1, D1)</a:t>
            </a:r>
            <a:r>
              <a:rPr lang="en-US" dirty="0"/>
              <a:t> as shown in the figure. </a:t>
            </a:r>
            <a:br>
              <a:rPr lang="en-US" dirty="0"/>
            </a:br>
            <a:r>
              <a:rPr lang="en-US" dirty="0"/>
              <a:t>The demand for Column </a:t>
            </a:r>
            <a:r>
              <a:rPr lang="en-US" b="1" dirty="0"/>
              <a:t>D1</a:t>
            </a:r>
            <a:r>
              <a:rPr lang="en-US" dirty="0"/>
              <a:t> is completed so the entire column </a:t>
            </a:r>
            <a:r>
              <a:rPr lang="en-US" b="1" dirty="0"/>
              <a:t>D1</a:t>
            </a:r>
            <a:r>
              <a:rPr lang="en-US" dirty="0"/>
              <a:t> will be canceled. The supply from the source </a:t>
            </a:r>
            <a:r>
              <a:rPr lang="en-US" b="1" dirty="0"/>
              <a:t>O1</a:t>
            </a:r>
            <a:r>
              <a:rPr lang="en-US" dirty="0"/>
              <a:t> remains </a:t>
            </a:r>
            <a:r>
              <a:rPr lang="en-US" b="1" dirty="0"/>
              <a:t>300 – 250 = 50</a:t>
            </a:r>
            <a:r>
              <a:rPr lang="en-US" dirty="0"/>
              <a:t>. </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5</a:t>
            </a:fld>
            <a:endParaRPr lang="en-IN">
              <a:solidFill>
                <a:srgbClr val="B71E42"/>
              </a:solidFill>
            </a:endParaRPr>
          </a:p>
        </p:txBody>
      </p:sp>
      <p:pic>
        <p:nvPicPr>
          <p:cNvPr id="4098"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0" y="983789"/>
            <a:ext cx="6357990" cy="5154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5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NorthWest</a:t>
            </a:r>
            <a:r>
              <a:rPr lang="en-US" b="1" dirty="0"/>
              <a:t> Corner Method</a:t>
            </a:r>
            <a:endParaRPr lang="en-IN" dirty="0"/>
          </a:p>
        </p:txBody>
      </p:sp>
      <p:sp>
        <p:nvSpPr>
          <p:cNvPr id="3" name="Slide Number Placeholder 2"/>
          <p:cNvSpPr>
            <a:spLocks noGrp="1"/>
          </p:cNvSpPr>
          <p:nvPr>
            <p:ph type="sldNum" sz="quarter" idx="12"/>
          </p:nvPr>
        </p:nvSpPr>
        <p:spPr/>
        <p:txBody>
          <a:bodyPr/>
          <a:lstStyle/>
          <a:p>
            <a:fld id="{CBABCCC1-BF11-4F37-963E-1BCD5B23FD72}" type="slidenum">
              <a:rPr lang="en-IN" smtClean="0">
                <a:solidFill>
                  <a:srgbClr val="B71E42"/>
                </a:solidFill>
              </a:rPr>
              <a:pPr/>
              <a:t>6</a:t>
            </a:fld>
            <a:endParaRPr lang="en-IN">
              <a:solidFill>
                <a:srgbClr val="B71E42"/>
              </a:solidFill>
            </a:endParaRPr>
          </a:p>
        </p:txBody>
      </p:sp>
      <p:pic>
        <p:nvPicPr>
          <p:cNvPr id="3074" name="Picture 2" descr="https://media.geeksforgeeks.org/wp-content/uploads/20191124193512/t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560" y="1212901"/>
            <a:ext cx="9073802" cy="4415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023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6189" y="0"/>
            <a:ext cx="9607661" cy="1056319"/>
          </a:xfrm>
        </p:spPr>
        <p:txBody>
          <a:bodyPr/>
          <a:lstStyle/>
          <a:p>
            <a:r>
              <a:rPr lang="en-US" b="1" dirty="0" err="1"/>
              <a:t>NorthWest</a:t>
            </a:r>
            <a:r>
              <a:rPr lang="en-US" b="1" dirty="0"/>
              <a:t> Corner Method</a:t>
            </a:r>
            <a:endParaRPr lang="en-IN" dirty="0"/>
          </a:p>
        </p:txBody>
      </p:sp>
      <p:sp>
        <p:nvSpPr>
          <p:cNvPr id="4" name="Content Placeholder 3"/>
          <p:cNvSpPr>
            <a:spLocks noGrp="1"/>
          </p:cNvSpPr>
          <p:nvPr>
            <p:ph sz="half" idx="2"/>
          </p:nvPr>
        </p:nvSpPr>
        <p:spPr>
          <a:xfrm>
            <a:off x="-9971" y="1147741"/>
            <a:ext cx="6610350" cy="5393887"/>
          </a:xfrm>
        </p:spPr>
        <p:txBody>
          <a:bodyPr>
            <a:normAutofit/>
          </a:bodyPr>
          <a:lstStyle/>
          <a:p>
            <a:pPr marL="0" indent="0">
              <a:buNone/>
            </a:pPr>
            <a:r>
              <a:rPr lang="en-US" sz="2400" dirty="0">
                <a:solidFill>
                  <a:srgbClr val="273239"/>
                </a:solidFill>
                <a:latin typeface="Nunito"/>
              </a:rPr>
              <a:t>From the remaining table the north-west corner cell is </a:t>
            </a:r>
            <a:r>
              <a:rPr lang="en-US" sz="2400" b="1" dirty="0">
                <a:solidFill>
                  <a:srgbClr val="273239"/>
                </a:solidFill>
                <a:latin typeface="Nunito"/>
              </a:rPr>
              <a:t>(O2, D2)</a:t>
            </a:r>
            <a:r>
              <a:rPr lang="en-US" sz="2400" dirty="0">
                <a:solidFill>
                  <a:srgbClr val="273239"/>
                </a:solidFill>
                <a:latin typeface="Nunito"/>
              </a:rPr>
              <a:t>. The minimum among the supply from source </a:t>
            </a:r>
            <a:r>
              <a:rPr lang="en-US" sz="2400" b="1" dirty="0">
                <a:solidFill>
                  <a:srgbClr val="273239"/>
                </a:solidFill>
                <a:latin typeface="Nunito"/>
              </a:rPr>
              <a:t>O2</a:t>
            </a:r>
            <a:r>
              <a:rPr lang="en-US" sz="2400" dirty="0">
                <a:solidFill>
                  <a:srgbClr val="273239"/>
                </a:solidFill>
                <a:latin typeface="Nunito"/>
              </a:rPr>
              <a:t> (</a:t>
            </a:r>
            <a:r>
              <a:rPr lang="en-US" sz="2400" dirty="0" err="1">
                <a:solidFill>
                  <a:srgbClr val="273239"/>
                </a:solidFill>
                <a:latin typeface="Nunito"/>
              </a:rPr>
              <a:t>i.e</a:t>
            </a:r>
            <a:r>
              <a:rPr lang="en-US" sz="2400" dirty="0">
                <a:solidFill>
                  <a:srgbClr val="273239"/>
                </a:solidFill>
                <a:latin typeface="Nunito"/>
              </a:rPr>
              <a:t> 400) and demand for column </a:t>
            </a:r>
            <a:r>
              <a:rPr lang="en-US" sz="2400" b="1" dirty="0">
                <a:solidFill>
                  <a:srgbClr val="273239"/>
                </a:solidFill>
                <a:latin typeface="Nunito"/>
              </a:rPr>
              <a:t>D2</a:t>
            </a:r>
            <a:r>
              <a:rPr lang="en-US" sz="2400" dirty="0">
                <a:solidFill>
                  <a:srgbClr val="273239"/>
                </a:solidFill>
                <a:latin typeface="Nunito"/>
              </a:rPr>
              <a:t> (</a:t>
            </a:r>
            <a:r>
              <a:rPr lang="en-US" sz="2400" dirty="0" err="1">
                <a:solidFill>
                  <a:srgbClr val="273239"/>
                </a:solidFill>
                <a:latin typeface="Nunito"/>
              </a:rPr>
              <a:t>i.e</a:t>
            </a:r>
            <a:r>
              <a:rPr lang="en-US" sz="2400" dirty="0">
                <a:solidFill>
                  <a:srgbClr val="273239"/>
                </a:solidFill>
                <a:latin typeface="Nunito"/>
              </a:rPr>
              <a:t> 300) is </a:t>
            </a:r>
            <a:r>
              <a:rPr lang="en-US" sz="2400" b="1" dirty="0">
                <a:solidFill>
                  <a:srgbClr val="273239"/>
                </a:solidFill>
                <a:latin typeface="Nunito"/>
              </a:rPr>
              <a:t>300</a:t>
            </a:r>
            <a:r>
              <a:rPr lang="en-US" sz="2400" dirty="0">
                <a:solidFill>
                  <a:srgbClr val="273239"/>
                </a:solidFill>
                <a:latin typeface="Nunito"/>
              </a:rPr>
              <a:t>, </a:t>
            </a:r>
          </a:p>
          <a:p>
            <a:pPr marL="0" indent="0">
              <a:buNone/>
            </a:pPr>
            <a:r>
              <a:rPr lang="en-US" sz="2400" dirty="0">
                <a:solidFill>
                  <a:srgbClr val="273239"/>
                </a:solidFill>
                <a:latin typeface="Nunito"/>
              </a:rPr>
              <a:t>so allocate </a:t>
            </a:r>
            <a:r>
              <a:rPr lang="en-US" sz="2400" b="1" dirty="0">
                <a:solidFill>
                  <a:srgbClr val="273239"/>
                </a:solidFill>
                <a:latin typeface="Nunito"/>
              </a:rPr>
              <a:t>300</a:t>
            </a:r>
            <a:r>
              <a:rPr lang="en-US" sz="2400" dirty="0">
                <a:solidFill>
                  <a:srgbClr val="273239"/>
                </a:solidFill>
                <a:latin typeface="Nunito"/>
              </a:rPr>
              <a:t> to the cell </a:t>
            </a:r>
            <a:r>
              <a:rPr lang="en-US" sz="2400" b="1" dirty="0">
                <a:solidFill>
                  <a:srgbClr val="273239"/>
                </a:solidFill>
                <a:latin typeface="Nunito"/>
              </a:rPr>
              <a:t>(O2, D2)</a:t>
            </a:r>
            <a:r>
              <a:rPr lang="en-US" sz="2400" dirty="0">
                <a:solidFill>
                  <a:srgbClr val="273239"/>
                </a:solidFill>
                <a:latin typeface="Nunito"/>
              </a:rPr>
              <a:t>. The demand for the column </a:t>
            </a:r>
            <a:r>
              <a:rPr lang="en-US" sz="2400" b="1" dirty="0">
                <a:solidFill>
                  <a:srgbClr val="273239"/>
                </a:solidFill>
                <a:latin typeface="Nunito"/>
              </a:rPr>
              <a:t>D2</a:t>
            </a:r>
            <a:r>
              <a:rPr lang="en-US" sz="2400" dirty="0">
                <a:solidFill>
                  <a:srgbClr val="273239"/>
                </a:solidFill>
                <a:latin typeface="Nunito"/>
              </a:rPr>
              <a:t> is completed so cancel the column and the remaining supply from source </a:t>
            </a:r>
            <a:r>
              <a:rPr lang="en-US" sz="2400" b="1" dirty="0">
                <a:solidFill>
                  <a:srgbClr val="273239"/>
                </a:solidFill>
                <a:latin typeface="Nunito"/>
              </a:rPr>
              <a:t>O2</a:t>
            </a:r>
            <a:r>
              <a:rPr lang="en-US" sz="2400" dirty="0">
                <a:solidFill>
                  <a:srgbClr val="273239"/>
                </a:solidFill>
                <a:latin typeface="Nunito"/>
              </a:rPr>
              <a:t> is </a:t>
            </a:r>
            <a:r>
              <a:rPr lang="en-US" sz="2400" b="1" dirty="0">
                <a:solidFill>
                  <a:srgbClr val="273239"/>
                </a:solidFill>
                <a:latin typeface="Nunito"/>
              </a:rPr>
              <a:t>400 – 300 = 100</a:t>
            </a:r>
            <a:r>
              <a:rPr lang="en-US" sz="2400" dirty="0">
                <a:solidFill>
                  <a:srgbClr val="273239"/>
                </a:solidFill>
                <a:latin typeface="Nunito"/>
              </a:rPr>
              <a:t>. </a:t>
            </a:r>
            <a:endParaRPr lang="en-IN" sz="2400" dirty="0"/>
          </a:p>
        </p:txBody>
      </p:sp>
      <p:sp>
        <p:nvSpPr>
          <p:cNvPr id="5" name="Text Placeholder 4"/>
          <p:cNvSpPr>
            <a:spLocks noGrp="1"/>
          </p:cNvSpPr>
          <p:nvPr>
            <p:ph type="body" sz="quarter" idx="3"/>
          </p:nvPr>
        </p:nvSpPr>
        <p:spPr/>
        <p:txBody>
          <a:bodyPr/>
          <a:lstStyle/>
          <a:p>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solidFill>
                  <a:srgbClr val="B71E42"/>
                </a:solidFill>
              </a:rPr>
              <a:pPr/>
              <a:t>7</a:t>
            </a:fld>
            <a:endParaRPr lang="en-IN">
              <a:solidFill>
                <a:srgbClr val="B71E42"/>
              </a:solidFill>
            </a:endParaRPr>
          </a:p>
        </p:txBody>
      </p:sp>
      <p:pic>
        <p:nvPicPr>
          <p:cNvPr id="5122" name="Picture 2" descr="https://media.geeksforgeeks.org/wp-content/uploads/20191124194709/t31.jpg"/>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412361" y="1210487"/>
            <a:ext cx="5177383" cy="4827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2624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6189" y="0"/>
            <a:ext cx="9607661" cy="1056319"/>
          </a:xfrm>
        </p:spPr>
        <p:txBody>
          <a:bodyPr/>
          <a:lstStyle/>
          <a:p>
            <a:r>
              <a:rPr lang="en-US" b="1" dirty="0" err="1"/>
              <a:t>NorthWest</a:t>
            </a:r>
            <a:r>
              <a:rPr lang="en-US" b="1" dirty="0"/>
              <a:t> Corner Method</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solidFill>
                  <a:srgbClr val="B71E42"/>
                </a:solidFill>
              </a:rPr>
              <a:pPr/>
              <a:t>8</a:t>
            </a:fld>
            <a:endParaRPr lang="en-IN">
              <a:solidFill>
                <a:srgbClr val="B71E42"/>
              </a:solidFill>
            </a:endParaRPr>
          </a:p>
        </p:txBody>
      </p:sp>
      <p:pic>
        <p:nvPicPr>
          <p:cNvPr id="6148" name="Picture 4" descr="Lightbox"/>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1279336" y="914400"/>
            <a:ext cx="8822307" cy="4545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1695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NorthWest</a:t>
            </a:r>
            <a:r>
              <a:rPr lang="en-US" b="1" dirty="0"/>
              <a:t> Corner Method</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9</a:t>
            </a:fld>
            <a:endParaRPr lang="en-IN">
              <a:solidFill>
                <a:srgbClr val="B71E42"/>
              </a:solidFill>
            </a:endParaRPr>
          </a:p>
        </p:txBody>
      </p:sp>
      <p:pic>
        <p:nvPicPr>
          <p:cNvPr id="7170"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72200" y="800100"/>
            <a:ext cx="6153150" cy="5491039"/>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5"/>
          <p:cNvSpPr txBox="1">
            <a:spLocks/>
          </p:cNvSpPr>
          <p:nvPr/>
        </p:nvSpPr>
        <p:spPr>
          <a:xfrm>
            <a:off x="132202" y="800100"/>
            <a:ext cx="5963798" cy="5491039"/>
          </a:xfrm>
          <a:prstGeom prst="rect">
            <a:avLst/>
          </a:prstGeom>
        </p:spPr>
        <p:txBody>
          <a:bodyPr>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800" dirty="0"/>
              <a:t>Now from remaining table find the north-west corner i.e. </a:t>
            </a:r>
            <a:r>
              <a:rPr lang="en-US" sz="2800" b="1" dirty="0"/>
              <a:t>(O2, D3)</a:t>
            </a:r>
            <a:r>
              <a:rPr lang="en-US" sz="2800" dirty="0"/>
              <a:t> and compare the </a:t>
            </a:r>
            <a:r>
              <a:rPr lang="en-US" sz="2800" b="1" dirty="0"/>
              <a:t>O2</a:t>
            </a:r>
            <a:r>
              <a:rPr lang="en-US" sz="2800" dirty="0"/>
              <a:t> supply (i.e. 100) and the demand for </a:t>
            </a:r>
            <a:r>
              <a:rPr lang="en-US" sz="2800" b="1" dirty="0"/>
              <a:t>D2</a:t>
            </a:r>
            <a:r>
              <a:rPr lang="en-US" sz="2800" dirty="0"/>
              <a:t> (i.e. 400) and allocate the smaller (i.e. 100) to the cell </a:t>
            </a:r>
            <a:r>
              <a:rPr lang="en-US" sz="2800" b="1" dirty="0"/>
              <a:t>(O2, D2)</a:t>
            </a:r>
            <a:r>
              <a:rPr lang="en-US" sz="2800" dirty="0"/>
              <a:t>. </a:t>
            </a:r>
          </a:p>
          <a:p>
            <a:pPr marL="0" indent="0">
              <a:buFont typeface="Arial" panose="020B0604020202020204" pitchFamily="34" charset="0"/>
              <a:buNone/>
            </a:pPr>
            <a:r>
              <a:rPr lang="en-US" sz="2800" dirty="0"/>
              <a:t>The supply from </a:t>
            </a:r>
            <a:r>
              <a:rPr lang="en-US" sz="2800" b="1" dirty="0"/>
              <a:t>O2</a:t>
            </a:r>
            <a:r>
              <a:rPr lang="en-US" sz="2800" dirty="0"/>
              <a:t> is completed so cancel the row </a:t>
            </a:r>
            <a:r>
              <a:rPr lang="en-US" sz="2800" b="1" dirty="0"/>
              <a:t>O2</a:t>
            </a:r>
            <a:r>
              <a:rPr lang="en-US" sz="2800" dirty="0"/>
              <a:t>. The remaining demand for column </a:t>
            </a:r>
            <a:r>
              <a:rPr lang="en-US" sz="2800" b="1" dirty="0"/>
              <a:t>D3</a:t>
            </a:r>
            <a:r>
              <a:rPr lang="en-US" sz="2800" dirty="0"/>
              <a:t> remains </a:t>
            </a:r>
          </a:p>
          <a:p>
            <a:pPr marL="0" indent="0">
              <a:buFont typeface="Arial" panose="020B0604020202020204" pitchFamily="34" charset="0"/>
              <a:buNone/>
            </a:pPr>
            <a:r>
              <a:rPr lang="en-US" sz="2800" b="1" dirty="0"/>
              <a:t>400 – 100 = 300</a:t>
            </a:r>
            <a:r>
              <a:rPr lang="en-US" sz="2800" dirty="0"/>
              <a:t>. </a:t>
            </a:r>
            <a:endParaRPr lang="en-IN" sz="2800" dirty="0"/>
          </a:p>
        </p:txBody>
      </p:sp>
    </p:spTree>
    <p:extLst>
      <p:ext uri="{BB962C8B-B14F-4D97-AF65-F5344CB8AC3E}">
        <p14:creationId xmlns:p14="http://schemas.microsoft.com/office/powerpoint/2010/main" val="138440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528" y="7246"/>
            <a:ext cx="10454672" cy="1049235"/>
          </a:xfrm>
        </p:spPr>
        <p:txBody>
          <a:bodyPr/>
          <a:lstStyle/>
          <a:p>
            <a:r>
              <a:rPr lang="en-US" sz="2400" dirty="0"/>
              <a:t>Proceeding in the same way, </a:t>
            </a:r>
            <a:br>
              <a:rPr lang="en-US" sz="2400" dirty="0"/>
            </a:br>
            <a:r>
              <a:rPr lang="en-US" sz="2400" dirty="0"/>
              <a:t>the final values of the cells will be :</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10</a:t>
            </a:fld>
            <a:endParaRPr lang="en-IN">
              <a:solidFill>
                <a:srgbClr val="B71E42"/>
              </a:solidFill>
            </a:endParaRPr>
          </a:p>
        </p:txBody>
      </p:sp>
      <p:pic>
        <p:nvPicPr>
          <p:cNvPr id="8194" name="Picture 2" descr="https://media.geeksforgeeks.org/wp-content/uploads/20191124200701/t6.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056481"/>
            <a:ext cx="11887200" cy="5096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085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NorthWest</a:t>
            </a:r>
            <a:r>
              <a:rPr lang="en-US" b="1" dirty="0"/>
              <a:t> Corner Method</a:t>
            </a:r>
            <a:endParaRPr lang="en-IN" dirty="0"/>
          </a:p>
        </p:txBody>
      </p:sp>
      <p:sp>
        <p:nvSpPr>
          <p:cNvPr id="3" name="Content Placeholder 2"/>
          <p:cNvSpPr>
            <a:spLocks noGrp="1"/>
          </p:cNvSpPr>
          <p:nvPr>
            <p:ph idx="1"/>
          </p:nvPr>
        </p:nvSpPr>
        <p:spPr>
          <a:xfrm>
            <a:off x="209550" y="914401"/>
            <a:ext cx="10763111" cy="4015302"/>
          </a:xfrm>
        </p:spPr>
        <p:txBody>
          <a:bodyPr>
            <a:noAutofit/>
          </a:bodyPr>
          <a:lstStyle/>
          <a:p>
            <a:pPr marL="0" indent="0">
              <a:buNone/>
            </a:pPr>
            <a:r>
              <a:rPr lang="en-US" sz="3200" dirty="0"/>
              <a:t>In the last remaining cell the demand for the respective columns and rows are equal which was cell </a:t>
            </a:r>
            <a:r>
              <a:rPr lang="en-US" sz="3200" b="1" dirty="0"/>
              <a:t>(O3, D4)</a:t>
            </a:r>
            <a:r>
              <a:rPr lang="en-US" sz="3200" dirty="0"/>
              <a:t>. In this case, the supply from </a:t>
            </a:r>
            <a:r>
              <a:rPr lang="en-US" sz="3200" b="1" dirty="0"/>
              <a:t>O3</a:t>
            </a:r>
            <a:r>
              <a:rPr lang="en-US" sz="3200" dirty="0"/>
              <a:t> and the demand for </a:t>
            </a:r>
            <a:r>
              <a:rPr lang="en-US" sz="3200" b="1" dirty="0"/>
              <a:t>D4</a:t>
            </a:r>
            <a:r>
              <a:rPr lang="en-US" sz="3200" dirty="0"/>
              <a:t> was </a:t>
            </a:r>
            <a:r>
              <a:rPr lang="en-US" sz="3200" b="1" dirty="0"/>
              <a:t>200</a:t>
            </a:r>
            <a:r>
              <a:rPr lang="en-US" sz="3200" dirty="0"/>
              <a:t> which was allocated to this cell. At last, nothing remained for any row or column. </a:t>
            </a:r>
            <a:br>
              <a:rPr lang="en-US" sz="3200" dirty="0"/>
            </a:br>
            <a:r>
              <a:rPr lang="en-US" sz="3200" dirty="0"/>
              <a:t>Now just multiply the allocated value with the respective cell value (i.e. the cost) and add all of them to get the basic solution i.e. </a:t>
            </a:r>
            <a:r>
              <a:rPr lang="en-US" sz="3200" b="1" dirty="0"/>
              <a:t>(250 * 3) + (50 * 1) + (300 * 6) + (100 * 5) + (300 * 3) + (200 * 2) = 4400</a:t>
            </a:r>
            <a:endParaRPr lang="en-IN" sz="3200"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11</a:t>
            </a:fld>
            <a:endParaRPr lang="en-IN">
              <a:solidFill>
                <a:srgbClr val="B71E42"/>
              </a:solidFill>
            </a:endParaRPr>
          </a:p>
        </p:txBody>
      </p:sp>
    </p:spTree>
    <p:extLst>
      <p:ext uri="{BB962C8B-B14F-4D97-AF65-F5344CB8AC3E}">
        <p14:creationId xmlns:p14="http://schemas.microsoft.com/office/powerpoint/2010/main" val="3219474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Least Cost Cell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12</a:t>
            </a:fld>
            <a:endParaRPr lang="en-IN">
              <a:solidFill>
                <a:srgbClr val="B71E42"/>
              </a:solidFill>
            </a:endParaRPr>
          </a:p>
        </p:txBody>
      </p:sp>
      <p:pic>
        <p:nvPicPr>
          <p:cNvPr id="9218" name="Picture 2" descr="https://media.geeksforgeeks.org/wp-content/uploads/20191124203520/t12.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54480" y="1159188"/>
            <a:ext cx="7382779" cy="4539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688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Least Cost Cell Method</a:t>
            </a:r>
            <a:br>
              <a:rPr lang="en-IN" b="1" dirty="0"/>
            </a:br>
            <a:endParaRPr lang="en-IN" dirty="0"/>
          </a:p>
        </p:txBody>
      </p:sp>
      <p:sp>
        <p:nvSpPr>
          <p:cNvPr id="3" name="Content Placeholder 2"/>
          <p:cNvSpPr>
            <a:spLocks noGrp="1"/>
          </p:cNvSpPr>
          <p:nvPr>
            <p:ph idx="1"/>
          </p:nvPr>
        </p:nvSpPr>
        <p:spPr>
          <a:xfrm>
            <a:off x="209551" y="952501"/>
            <a:ext cx="4667250" cy="5048250"/>
          </a:xfrm>
        </p:spPr>
        <p:txBody>
          <a:bodyPr>
            <a:normAutofit/>
          </a:bodyPr>
          <a:lstStyle/>
          <a:p>
            <a:r>
              <a:rPr lang="en-US" dirty="0"/>
              <a:t>According to the Least Cost Cell method, the least cost among all the cells in the table has to be found which is </a:t>
            </a:r>
            <a:r>
              <a:rPr lang="en-US" b="1" dirty="0"/>
              <a:t>1</a:t>
            </a:r>
            <a:r>
              <a:rPr lang="en-US" dirty="0"/>
              <a:t> (i.e. cell </a:t>
            </a:r>
            <a:r>
              <a:rPr lang="en-US" b="1" dirty="0"/>
              <a:t>(O1, D2)</a:t>
            </a:r>
            <a:r>
              <a:rPr lang="en-US" dirty="0"/>
              <a:t>). </a:t>
            </a:r>
            <a:br>
              <a:rPr lang="en-US" dirty="0"/>
            </a:br>
            <a:r>
              <a:rPr lang="en-US" dirty="0"/>
              <a:t>Now check the supply from the row </a:t>
            </a:r>
            <a:r>
              <a:rPr lang="en-US" b="1" dirty="0"/>
              <a:t>O1</a:t>
            </a:r>
            <a:r>
              <a:rPr lang="en-US" dirty="0"/>
              <a:t> and demand for column </a:t>
            </a:r>
            <a:r>
              <a:rPr lang="en-US" b="1" dirty="0"/>
              <a:t>D2</a:t>
            </a:r>
            <a:r>
              <a:rPr lang="en-US" dirty="0"/>
              <a:t> and allocate the smaller value to the cell. The smaller value is </a:t>
            </a:r>
            <a:r>
              <a:rPr lang="en-US" b="1" dirty="0"/>
              <a:t>300</a:t>
            </a:r>
            <a:r>
              <a:rPr lang="en-US" dirty="0"/>
              <a:t> so allocate this to the cell. </a:t>
            </a:r>
          </a:p>
          <a:p>
            <a:r>
              <a:rPr lang="en-US" dirty="0"/>
              <a:t>The supply from </a:t>
            </a:r>
            <a:r>
              <a:rPr lang="en-US" b="1" dirty="0"/>
              <a:t>O1</a:t>
            </a:r>
            <a:r>
              <a:rPr lang="en-US" dirty="0"/>
              <a:t> is completed so cancel this row and the remaining demand for the column </a:t>
            </a:r>
            <a:r>
              <a:rPr lang="en-US" b="1" dirty="0"/>
              <a:t>D2</a:t>
            </a:r>
            <a:r>
              <a:rPr lang="en-US" dirty="0"/>
              <a:t> is </a:t>
            </a:r>
            <a:r>
              <a:rPr lang="en-US" b="1" dirty="0"/>
              <a:t>350 – 300 = 50</a:t>
            </a:r>
            <a:r>
              <a:rPr lang="en-US" dirty="0"/>
              <a:t>. </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13</a:t>
            </a:fld>
            <a:endParaRPr lang="en-IN">
              <a:solidFill>
                <a:srgbClr val="B71E42"/>
              </a:solidFill>
            </a:endParaRPr>
          </a:p>
        </p:txBody>
      </p:sp>
      <p:pic>
        <p:nvPicPr>
          <p:cNvPr id="10242"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1" y="1190938"/>
            <a:ext cx="7162799" cy="4809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25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Least Cost Cell Method</a:t>
            </a:r>
            <a:endParaRPr lang="en-IN" dirty="0"/>
          </a:p>
        </p:txBody>
      </p:sp>
      <p:sp>
        <p:nvSpPr>
          <p:cNvPr id="3" name="Slide Number Placeholder 2"/>
          <p:cNvSpPr>
            <a:spLocks noGrp="1"/>
          </p:cNvSpPr>
          <p:nvPr>
            <p:ph type="sldNum" sz="quarter" idx="12"/>
          </p:nvPr>
        </p:nvSpPr>
        <p:spPr/>
        <p:txBody>
          <a:bodyPr/>
          <a:lstStyle/>
          <a:p>
            <a:fld id="{CBABCCC1-BF11-4F37-963E-1BCD5B23FD72}" type="slidenum">
              <a:rPr lang="en-IN" smtClean="0">
                <a:solidFill>
                  <a:srgbClr val="B71E42"/>
                </a:solidFill>
              </a:rPr>
              <a:pPr/>
              <a:t>14</a:t>
            </a:fld>
            <a:endParaRPr lang="en-IN">
              <a:solidFill>
                <a:srgbClr val="B71E42"/>
              </a:solidFill>
            </a:endParaRPr>
          </a:p>
        </p:txBody>
      </p:sp>
      <p:pic>
        <p:nvPicPr>
          <p:cNvPr id="1126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574" y="1212902"/>
            <a:ext cx="6340475" cy="47306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4191" y="1412381"/>
            <a:ext cx="5040259" cy="4154984"/>
          </a:xfrm>
          <a:prstGeom prst="rect">
            <a:avLst/>
          </a:prstGeom>
        </p:spPr>
        <p:txBody>
          <a:bodyPr wrap="square">
            <a:spAutoFit/>
          </a:bodyPr>
          <a:lstStyle/>
          <a:p>
            <a:r>
              <a:rPr lang="en-US" sz="2400" dirty="0">
                <a:solidFill>
                  <a:srgbClr val="273239"/>
                </a:solidFill>
                <a:latin typeface="Nunito"/>
              </a:rPr>
              <a:t>Now find the cell with the least cost among the remaining cells. There are two cells with the least cost i.e. </a:t>
            </a:r>
            <a:r>
              <a:rPr lang="en-US" sz="2400" b="1" dirty="0">
                <a:solidFill>
                  <a:srgbClr val="273239"/>
                </a:solidFill>
                <a:latin typeface="Nunito"/>
              </a:rPr>
              <a:t>(O2, D1)</a:t>
            </a:r>
            <a:r>
              <a:rPr lang="en-US" sz="2400" dirty="0">
                <a:solidFill>
                  <a:srgbClr val="273239"/>
                </a:solidFill>
                <a:latin typeface="Nunito"/>
              </a:rPr>
              <a:t> and </a:t>
            </a:r>
            <a:r>
              <a:rPr lang="en-US" sz="2400" b="1" dirty="0">
                <a:solidFill>
                  <a:srgbClr val="273239"/>
                </a:solidFill>
                <a:latin typeface="Nunito"/>
              </a:rPr>
              <a:t>(O3, D4)</a:t>
            </a:r>
            <a:r>
              <a:rPr lang="en-US" sz="2400" dirty="0">
                <a:solidFill>
                  <a:srgbClr val="273239"/>
                </a:solidFill>
                <a:latin typeface="Nunito"/>
              </a:rPr>
              <a:t> with cost </a:t>
            </a:r>
            <a:r>
              <a:rPr lang="en-US" sz="2400" b="1" dirty="0">
                <a:solidFill>
                  <a:srgbClr val="273239"/>
                </a:solidFill>
                <a:latin typeface="Nunito"/>
              </a:rPr>
              <a:t>2</a:t>
            </a:r>
            <a:r>
              <a:rPr lang="en-US" sz="2400" dirty="0">
                <a:solidFill>
                  <a:srgbClr val="273239"/>
                </a:solidFill>
                <a:latin typeface="Nunito"/>
              </a:rPr>
              <a:t>. Lets select </a:t>
            </a:r>
            <a:r>
              <a:rPr lang="en-US" sz="2400" b="1" dirty="0">
                <a:solidFill>
                  <a:srgbClr val="273239"/>
                </a:solidFill>
                <a:latin typeface="Nunito"/>
              </a:rPr>
              <a:t>(O2, D1)</a:t>
            </a:r>
            <a:r>
              <a:rPr lang="en-US" sz="2400" dirty="0">
                <a:solidFill>
                  <a:srgbClr val="273239"/>
                </a:solidFill>
                <a:latin typeface="Nunito"/>
              </a:rPr>
              <a:t>. Now find the demand and supply for the respective cell and allocate the minimum among them to the cell and cancel the row or column whose supply or demand becomes </a:t>
            </a:r>
            <a:r>
              <a:rPr lang="en-US" sz="2400" b="1" dirty="0">
                <a:solidFill>
                  <a:srgbClr val="273239"/>
                </a:solidFill>
                <a:latin typeface="Nunito"/>
              </a:rPr>
              <a:t>0</a:t>
            </a:r>
            <a:r>
              <a:rPr lang="en-US" sz="2400" dirty="0">
                <a:solidFill>
                  <a:srgbClr val="273239"/>
                </a:solidFill>
                <a:latin typeface="Nunito"/>
              </a:rPr>
              <a:t> after allocation. </a:t>
            </a:r>
            <a:endParaRPr lang="en-IN" sz="2400" dirty="0"/>
          </a:p>
        </p:txBody>
      </p:sp>
    </p:spTree>
    <p:extLst>
      <p:ext uri="{BB962C8B-B14F-4D97-AF65-F5344CB8AC3E}">
        <p14:creationId xmlns:p14="http://schemas.microsoft.com/office/powerpoint/2010/main" val="1345743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Least Cost Cell Method</a:t>
            </a:r>
            <a:endParaRPr lang="en-IN" dirty="0"/>
          </a:p>
        </p:txBody>
      </p:sp>
      <p:sp>
        <p:nvSpPr>
          <p:cNvPr id="3" name="Slide Number Placeholder 2"/>
          <p:cNvSpPr>
            <a:spLocks noGrp="1"/>
          </p:cNvSpPr>
          <p:nvPr>
            <p:ph type="sldNum" sz="quarter" idx="12"/>
          </p:nvPr>
        </p:nvSpPr>
        <p:spPr/>
        <p:txBody>
          <a:bodyPr/>
          <a:lstStyle/>
          <a:p>
            <a:fld id="{CBABCCC1-BF11-4F37-963E-1BCD5B23FD72}" type="slidenum">
              <a:rPr lang="en-IN" smtClean="0">
                <a:solidFill>
                  <a:srgbClr val="B71E42"/>
                </a:solidFill>
              </a:rPr>
              <a:pPr/>
              <a:t>15</a:t>
            </a:fld>
            <a:endParaRPr lang="en-IN">
              <a:solidFill>
                <a:srgbClr val="B71E42"/>
              </a:solidFill>
            </a:endParaRPr>
          </a:p>
        </p:txBody>
      </p:sp>
      <p:pic>
        <p:nvPicPr>
          <p:cNvPr id="12290"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8300" y="1428750"/>
            <a:ext cx="6743700" cy="4648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7216" y="1671935"/>
            <a:ext cx="5291084" cy="2246769"/>
          </a:xfrm>
          <a:prstGeom prst="rect">
            <a:avLst/>
          </a:prstGeom>
        </p:spPr>
        <p:txBody>
          <a:bodyPr wrap="square">
            <a:spAutoFit/>
          </a:bodyPr>
          <a:lstStyle/>
          <a:p>
            <a:r>
              <a:rPr lang="en-US" sz="2800" dirty="0">
                <a:solidFill>
                  <a:srgbClr val="273239"/>
                </a:solidFill>
                <a:latin typeface="Nunito"/>
              </a:rPr>
              <a:t>Now the cell with the least cost is </a:t>
            </a:r>
            <a:r>
              <a:rPr lang="en-US" sz="2800" b="1" dirty="0">
                <a:solidFill>
                  <a:srgbClr val="273239"/>
                </a:solidFill>
                <a:latin typeface="Nunito"/>
              </a:rPr>
              <a:t>(O3, D4)</a:t>
            </a:r>
            <a:r>
              <a:rPr lang="en-US" sz="2800" dirty="0">
                <a:solidFill>
                  <a:srgbClr val="273239"/>
                </a:solidFill>
                <a:latin typeface="Nunito"/>
              </a:rPr>
              <a:t> with cost </a:t>
            </a:r>
            <a:r>
              <a:rPr lang="en-US" sz="2800" b="1" dirty="0">
                <a:solidFill>
                  <a:srgbClr val="273239"/>
                </a:solidFill>
                <a:latin typeface="Nunito"/>
              </a:rPr>
              <a:t>2</a:t>
            </a:r>
            <a:r>
              <a:rPr lang="en-US" sz="2800" dirty="0">
                <a:solidFill>
                  <a:srgbClr val="273239"/>
                </a:solidFill>
                <a:latin typeface="Nunito"/>
              </a:rPr>
              <a:t>. Allocate this cell with </a:t>
            </a:r>
            <a:r>
              <a:rPr lang="en-US" sz="2800" b="1" dirty="0">
                <a:solidFill>
                  <a:srgbClr val="273239"/>
                </a:solidFill>
                <a:latin typeface="Nunito"/>
              </a:rPr>
              <a:t>200</a:t>
            </a:r>
            <a:r>
              <a:rPr lang="en-US" sz="2800" dirty="0">
                <a:solidFill>
                  <a:srgbClr val="273239"/>
                </a:solidFill>
                <a:latin typeface="Nunito"/>
              </a:rPr>
              <a:t> as the demand is smaller than the supply. So the column gets cancelled. </a:t>
            </a:r>
            <a:endParaRPr lang="en-IN" sz="2800" dirty="0"/>
          </a:p>
        </p:txBody>
      </p:sp>
    </p:spTree>
    <p:extLst>
      <p:ext uri="{BB962C8B-B14F-4D97-AF65-F5344CB8AC3E}">
        <p14:creationId xmlns:p14="http://schemas.microsoft.com/office/powerpoint/2010/main" val="3516387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Least Cost Cell Method</a:t>
            </a:r>
            <a:br>
              <a:rPr lang="en-IN" b="1" dirty="0"/>
            </a:br>
            <a:endParaRPr lang="en-IN" dirty="0"/>
          </a:p>
        </p:txBody>
      </p:sp>
      <p:sp>
        <p:nvSpPr>
          <p:cNvPr id="3" name="Content Placeholder 2"/>
          <p:cNvSpPr>
            <a:spLocks noGrp="1"/>
          </p:cNvSpPr>
          <p:nvPr>
            <p:ph idx="1"/>
          </p:nvPr>
        </p:nvSpPr>
        <p:spPr>
          <a:xfrm>
            <a:off x="152400" y="1479089"/>
            <a:ext cx="5067301" cy="4812050"/>
          </a:xfrm>
        </p:spPr>
        <p:txBody>
          <a:bodyPr>
            <a:normAutofit/>
          </a:bodyPr>
          <a:lstStyle/>
          <a:p>
            <a:r>
              <a:rPr lang="en-US" sz="2800" dirty="0"/>
              <a:t>There are two cells among the unallocated cells that have the least cost. Choose any at random say </a:t>
            </a:r>
            <a:r>
              <a:rPr lang="en-US" sz="2800" b="1" dirty="0"/>
              <a:t>(O3, D2)</a:t>
            </a:r>
            <a:r>
              <a:rPr lang="en-US" sz="2800" dirty="0"/>
              <a:t>. Allocate this cell with a minimum among the supply from the respective row and the demand of the respective column. Cancel the row or column with zero value. </a:t>
            </a:r>
            <a:endParaRPr lang="en-IN" sz="2800"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16</a:t>
            </a:fld>
            <a:endParaRPr lang="en-IN">
              <a:solidFill>
                <a:srgbClr val="B71E42"/>
              </a:solidFill>
            </a:endParaRPr>
          </a:p>
        </p:txBody>
      </p:sp>
      <p:pic>
        <p:nvPicPr>
          <p:cNvPr id="13314"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7350" y="1190938"/>
            <a:ext cx="6724649" cy="5100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2274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Least Cost Cell Method</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17</a:t>
            </a:fld>
            <a:endParaRPr lang="en-IN">
              <a:solidFill>
                <a:srgbClr val="B71E42"/>
              </a:solidFill>
            </a:endParaRPr>
          </a:p>
        </p:txBody>
      </p:sp>
      <p:pic>
        <p:nvPicPr>
          <p:cNvPr id="14338"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90491" y="1920866"/>
            <a:ext cx="5925944" cy="423228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23850" y="1749416"/>
            <a:ext cx="4819650" cy="2246769"/>
          </a:xfrm>
          <a:prstGeom prst="rect">
            <a:avLst/>
          </a:prstGeom>
        </p:spPr>
        <p:txBody>
          <a:bodyPr wrap="square">
            <a:spAutoFit/>
          </a:bodyPr>
          <a:lstStyle/>
          <a:p>
            <a:r>
              <a:rPr lang="en-US" sz="2800" dirty="0">
                <a:solidFill>
                  <a:srgbClr val="273239"/>
                </a:solidFill>
                <a:latin typeface="Nunito"/>
              </a:rPr>
              <a:t>Now the cell with the least cost is </a:t>
            </a:r>
            <a:r>
              <a:rPr lang="en-US" sz="2800" b="1" dirty="0">
                <a:solidFill>
                  <a:srgbClr val="273239"/>
                </a:solidFill>
                <a:latin typeface="Nunito"/>
              </a:rPr>
              <a:t>(O3, D3)</a:t>
            </a:r>
            <a:r>
              <a:rPr lang="en-US" sz="2800" dirty="0">
                <a:solidFill>
                  <a:srgbClr val="273239"/>
                </a:solidFill>
                <a:latin typeface="Nunito"/>
              </a:rPr>
              <a:t>. Allocate the minimum of supply and demand and cancel the row or column with zero value.  </a:t>
            </a:r>
            <a:endParaRPr lang="en-IN" sz="2800" dirty="0"/>
          </a:p>
        </p:txBody>
      </p:sp>
    </p:spTree>
    <p:extLst>
      <p:ext uri="{BB962C8B-B14F-4D97-AF65-F5344CB8AC3E}">
        <p14:creationId xmlns:p14="http://schemas.microsoft.com/office/powerpoint/2010/main" val="1362103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Least Cost Cell Method</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18</a:t>
            </a:fld>
            <a:endParaRPr lang="en-IN">
              <a:solidFill>
                <a:srgbClr val="B71E42"/>
              </a:solidFill>
            </a:endParaRPr>
          </a:p>
        </p:txBody>
      </p:sp>
      <p:pic>
        <p:nvPicPr>
          <p:cNvPr id="15362" name="Picture 2" descr="https://media.geeksforgeeks.org/wp-content/uploads/20191124210447/t6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80559" y="1190938"/>
            <a:ext cx="6748037" cy="490506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1462385"/>
            <a:ext cx="3810000" cy="3108543"/>
          </a:xfrm>
          <a:prstGeom prst="rect">
            <a:avLst/>
          </a:prstGeom>
        </p:spPr>
        <p:txBody>
          <a:bodyPr wrap="square">
            <a:spAutoFit/>
          </a:bodyPr>
          <a:lstStyle/>
          <a:p>
            <a:r>
              <a:rPr lang="en-US" sz="2800" dirty="0">
                <a:solidFill>
                  <a:srgbClr val="273239"/>
                </a:solidFill>
                <a:latin typeface="Nunito"/>
              </a:rPr>
              <a:t>The only remaining cell is </a:t>
            </a:r>
            <a:r>
              <a:rPr lang="en-US" sz="2800" b="1" dirty="0">
                <a:solidFill>
                  <a:srgbClr val="273239"/>
                </a:solidFill>
                <a:latin typeface="Nunito"/>
              </a:rPr>
              <a:t>(O2, D3)</a:t>
            </a:r>
            <a:r>
              <a:rPr lang="en-US" sz="2800" dirty="0">
                <a:solidFill>
                  <a:srgbClr val="273239"/>
                </a:solidFill>
                <a:latin typeface="Nunito"/>
              </a:rPr>
              <a:t> with cost </a:t>
            </a:r>
            <a:r>
              <a:rPr lang="en-US" sz="2800" b="1" dirty="0">
                <a:solidFill>
                  <a:srgbClr val="273239"/>
                </a:solidFill>
                <a:latin typeface="Nunito"/>
              </a:rPr>
              <a:t>5</a:t>
            </a:r>
            <a:r>
              <a:rPr lang="en-US" sz="2800" dirty="0">
                <a:solidFill>
                  <a:srgbClr val="273239"/>
                </a:solidFill>
                <a:latin typeface="Nunito"/>
              </a:rPr>
              <a:t> and its supply is </a:t>
            </a:r>
            <a:r>
              <a:rPr lang="en-US" sz="2800" b="1" dirty="0">
                <a:solidFill>
                  <a:srgbClr val="273239"/>
                </a:solidFill>
                <a:latin typeface="Nunito"/>
              </a:rPr>
              <a:t>150</a:t>
            </a:r>
            <a:r>
              <a:rPr lang="en-US" sz="2800" dirty="0">
                <a:solidFill>
                  <a:srgbClr val="273239"/>
                </a:solidFill>
                <a:latin typeface="Nunito"/>
              </a:rPr>
              <a:t> and demand is </a:t>
            </a:r>
            <a:r>
              <a:rPr lang="en-US" sz="2800" b="1" dirty="0">
                <a:solidFill>
                  <a:srgbClr val="273239"/>
                </a:solidFill>
                <a:latin typeface="Nunito"/>
              </a:rPr>
              <a:t>150</a:t>
            </a:r>
            <a:r>
              <a:rPr lang="en-US" sz="2800" dirty="0">
                <a:solidFill>
                  <a:srgbClr val="273239"/>
                </a:solidFill>
                <a:latin typeface="Nunito"/>
              </a:rPr>
              <a:t> i.e. demand and supply both are equal. Allocate it to this cell. </a:t>
            </a:r>
            <a:endParaRPr lang="en-IN" sz="2800" dirty="0"/>
          </a:p>
        </p:txBody>
      </p:sp>
    </p:spTree>
    <p:extLst>
      <p:ext uri="{BB962C8B-B14F-4D97-AF65-F5344CB8AC3E}">
        <p14:creationId xmlns:p14="http://schemas.microsoft.com/office/powerpoint/2010/main" val="1638681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Least Cost Cell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19</a:t>
            </a:fld>
            <a:endParaRPr lang="en-IN">
              <a:solidFill>
                <a:srgbClr val="B71E42"/>
              </a:solidFill>
            </a:endParaRPr>
          </a:p>
        </p:txBody>
      </p:sp>
      <p:pic>
        <p:nvPicPr>
          <p:cNvPr id="16386" name="Picture 2" descr="https://media.geeksforgeeks.org/wp-content/uploads/20191124210722/t62.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4605" y="899489"/>
            <a:ext cx="8806675" cy="5166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226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Least Cost Cell Method</a:t>
            </a:r>
            <a:br>
              <a:rPr lang="en-IN" b="1" dirty="0"/>
            </a:br>
            <a:endParaRPr lang="en-IN" dirty="0"/>
          </a:p>
        </p:txBody>
      </p:sp>
      <p:sp>
        <p:nvSpPr>
          <p:cNvPr id="3" name="Content Placeholder 2"/>
          <p:cNvSpPr>
            <a:spLocks noGrp="1"/>
          </p:cNvSpPr>
          <p:nvPr>
            <p:ph idx="1"/>
          </p:nvPr>
        </p:nvSpPr>
        <p:spPr>
          <a:xfrm>
            <a:off x="152400" y="1190939"/>
            <a:ext cx="11791950" cy="4905062"/>
          </a:xfrm>
        </p:spPr>
        <p:txBody>
          <a:bodyPr>
            <a:normAutofit/>
          </a:bodyPr>
          <a:lstStyle/>
          <a:p>
            <a:r>
              <a:rPr lang="en-US" sz="3200" dirty="0"/>
              <a:t>Now multiply the cost of the cell with their respective allocated values and add all of them to get the basic solution</a:t>
            </a:r>
          </a:p>
          <a:p>
            <a:pPr marL="0" indent="0">
              <a:buNone/>
            </a:pPr>
            <a:r>
              <a:rPr lang="en-US" sz="3200" dirty="0"/>
              <a:t>i.e. </a:t>
            </a:r>
            <a:r>
              <a:rPr lang="en-US" sz="3200" b="1" dirty="0"/>
              <a:t>(300 * 1) + (250 * 2) + (150 * 5) + (50 * 3) + (250 * 3) + (200 * 2) = 2850</a:t>
            </a:r>
            <a:endParaRPr lang="en-IN" sz="3200"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20</a:t>
            </a:fld>
            <a:endParaRPr lang="en-IN">
              <a:solidFill>
                <a:srgbClr val="B71E42"/>
              </a:solidFill>
            </a:endParaRPr>
          </a:p>
        </p:txBody>
      </p:sp>
    </p:spTree>
    <p:extLst>
      <p:ext uri="{BB962C8B-B14F-4D97-AF65-F5344CB8AC3E}">
        <p14:creationId xmlns:p14="http://schemas.microsoft.com/office/powerpoint/2010/main" val="1886758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IN" b="1"/>
              <a:t>Vogel’s Approximation Method</a:t>
            </a:r>
          </a:p>
        </p:txBody>
      </p:sp>
      <p:sp>
        <p:nvSpPr>
          <p:cNvPr id="3" name="Slide Number Placeholder 2"/>
          <p:cNvSpPr>
            <a:spLocks noGrp="1"/>
          </p:cNvSpPr>
          <p:nvPr>
            <p:ph type="sldNum" sz="quarter" idx="12"/>
          </p:nvPr>
        </p:nvSpPr>
        <p:spPr/>
        <p:txBody>
          <a:bodyPr/>
          <a:lstStyle/>
          <a:p>
            <a:fld id="{CBABCCC1-BF11-4F37-963E-1BCD5B23FD72}" type="slidenum">
              <a:rPr lang="en-IN" smtClean="0">
                <a:solidFill>
                  <a:srgbClr val="B71E42"/>
                </a:solidFill>
              </a:rPr>
              <a:pPr/>
              <a:t>21</a:t>
            </a:fld>
            <a:endParaRPr lang="en-IN">
              <a:solidFill>
                <a:srgbClr val="B71E42"/>
              </a:solidFill>
            </a:endParaRPr>
          </a:p>
        </p:txBody>
      </p:sp>
      <p:pic>
        <p:nvPicPr>
          <p:cNvPr id="17410" name="Picture 2" descr="https://media.geeksforgeeks.org/wp-content/uploads/20191124215011/t2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5375" y="1473200"/>
            <a:ext cx="7136071" cy="3945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443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Vogel’s Approximation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22</a:t>
            </a:fld>
            <a:endParaRPr lang="en-IN">
              <a:solidFill>
                <a:srgbClr val="B71E42"/>
              </a:solidFill>
            </a:endParaRPr>
          </a:p>
        </p:txBody>
      </p:sp>
      <p:pic>
        <p:nvPicPr>
          <p:cNvPr id="18434" name="Picture 2" descr="https://media.geeksforgeeks.org/wp-content/uploads/20191124215854/t33.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797669"/>
            <a:ext cx="12003932" cy="527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448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Vogel’s Approximation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23</a:t>
            </a:fld>
            <a:endParaRPr lang="en-IN">
              <a:solidFill>
                <a:srgbClr val="B71E42"/>
              </a:solidFill>
            </a:endParaRPr>
          </a:p>
        </p:txBody>
      </p:sp>
      <p:pic>
        <p:nvPicPr>
          <p:cNvPr id="19458" name="Picture 2" descr="https://media.geeksforgeeks.org/wp-content/uploads/20191124220330/t42.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009" y="1479549"/>
            <a:ext cx="11977991" cy="4811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54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Vogel’s Approximation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24</a:t>
            </a:fld>
            <a:endParaRPr lang="en-IN">
              <a:solidFill>
                <a:srgbClr val="B71E42"/>
              </a:solidFill>
            </a:endParaRPr>
          </a:p>
        </p:txBody>
      </p:sp>
      <p:pic>
        <p:nvPicPr>
          <p:cNvPr id="21506" name="Picture 2" descr="https://media.geeksforgeeks.org/wp-content/uploads/20191124222109/t9.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3116" y="953311"/>
            <a:ext cx="11225718" cy="5175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5042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Vogel’s Approximation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25</a:t>
            </a:fld>
            <a:endParaRPr lang="en-IN">
              <a:solidFill>
                <a:srgbClr val="B71E42"/>
              </a:solidFill>
            </a:endParaRPr>
          </a:p>
        </p:txBody>
      </p:sp>
      <p:pic>
        <p:nvPicPr>
          <p:cNvPr id="20482" name="Picture 2" descr="https://media.geeksforgeeks.org/wp-content/uploads/20191124220956/t7.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762000"/>
            <a:ext cx="12420600" cy="539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440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Vogel’s Approximation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26</a:t>
            </a:fld>
            <a:endParaRPr lang="en-IN">
              <a:solidFill>
                <a:srgbClr val="B71E42"/>
              </a:solidFill>
            </a:endParaRPr>
          </a:p>
        </p:txBody>
      </p:sp>
      <p:pic>
        <p:nvPicPr>
          <p:cNvPr id="22530" name="Picture 2" descr="https://media.geeksforgeeks.org/wp-content/uploads/20191124222948/t14.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5750" y="819151"/>
            <a:ext cx="11906249" cy="5975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8513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Vogel’s Approximation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27</a:t>
            </a:fld>
            <a:endParaRPr lang="en-IN">
              <a:solidFill>
                <a:srgbClr val="B71E42"/>
              </a:solidFill>
            </a:endParaRPr>
          </a:p>
        </p:txBody>
      </p:sp>
      <p:pic>
        <p:nvPicPr>
          <p:cNvPr id="23554" name="Picture 2" descr="https://media.geeksforgeeks.org/wp-content/uploads/20191124223645/t15.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5350" y="704850"/>
            <a:ext cx="10496550" cy="584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124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Vogel’s Approximation Method</a:t>
            </a:r>
            <a:br>
              <a:rPr lang="en-IN" b="1"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28</a:t>
            </a:fld>
            <a:endParaRPr lang="en-IN">
              <a:solidFill>
                <a:srgbClr val="B71E42"/>
              </a:solidFill>
            </a:endParaRPr>
          </a:p>
        </p:txBody>
      </p:sp>
      <p:pic>
        <p:nvPicPr>
          <p:cNvPr id="24578" name="Picture 2" descr="https://media.geeksforgeeks.org/wp-content/uploads/20191124223934/t16.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1578" y="1479550"/>
            <a:ext cx="9292621" cy="463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3383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Vogel’s Approximation Method</a:t>
            </a:r>
            <a:br>
              <a:rPr lang="en-IN" b="1" dirty="0"/>
            </a:br>
            <a:endParaRPr lang="en-IN" dirty="0"/>
          </a:p>
        </p:txBody>
      </p:sp>
      <p:sp>
        <p:nvSpPr>
          <p:cNvPr id="3" name="Content Placeholder 2"/>
          <p:cNvSpPr>
            <a:spLocks noGrp="1"/>
          </p:cNvSpPr>
          <p:nvPr>
            <p:ph idx="1"/>
          </p:nvPr>
        </p:nvSpPr>
        <p:spPr/>
        <p:txBody>
          <a:bodyPr/>
          <a:lstStyle/>
          <a:p>
            <a:r>
              <a:rPr lang="en-US" dirty="0"/>
              <a:t>No balance remains. So multiply the allocated value of the cells with their corresponding cell cost and add all to get the final cost</a:t>
            </a:r>
          </a:p>
          <a:p>
            <a:endParaRPr lang="en-US" dirty="0"/>
          </a:p>
          <a:p>
            <a:r>
              <a:rPr lang="en-US" dirty="0"/>
              <a:t> i.e. </a:t>
            </a:r>
            <a:r>
              <a:rPr lang="en-US" b="1" dirty="0"/>
              <a:t>(300 * 1) + (250 * 2) + (50 * 3) + (250 * 3) + (200 * 2) + (150 * 5) = 2850</a:t>
            </a:r>
            <a:endParaRPr lang="en-US" dirty="0"/>
          </a:p>
          <a:p>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solidFill>
                  <a:srgbClr val="B71E42"/>
                </a:solidFill>
              </a:rPr>
              <a:pPr/>
              <a:t>29</a:t>
            </a:fld>
            <a:endParaRPr lang="en-IN">
              <a:solidFill>
                <a:srgbClr val="B71E42"/>
              </a:solidFill>
            </a:endParaRPr>
          </a:p>
        </p:txBody>
      </p:sp>
    </p:spTree>
    <p:extLst>
      <p:ext uri="{BB962C8B-B14F-4D97-AF65-F5344CB8AC3E}">
        <p14:creationId xmlns:p14="http://schemas.microsoft.com/office/powerpoint/2010/main" val="74144625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docProps/app.xml><?xml version="1.0" encoding="utf-8"?>
<Properties xmlns="http://schemas.openxmlformats.org/officeDocument/2006/extended-properties" xmlns:vt="http://schemas.openxmlformats.org/officeDocument/2006/docPropsVTypes">
  <TotalTime>76</TotalTime>
  <Words>1310</Words>
  <Application>Microsoft Office PowerPoint</Application>
  <PresentationFormat>Widescreen</PresentationFormat>
  <Paragraphs>91</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Gill Sans MT</vt:lpstr>
      <vt:lpstr>Nunito</vt:lpstr>
      <vt:lpstr>Gallery</vt:lpstr>
      <vt:lpstr>Transportation Problem </vt:lpstr>
      <vt:lpstr>Basic structure of transportation problem:</vt:lpstr>
      <vt:lpstr>Methods to Solve:</vt:lpstr>
      <vt:lpstr>NorthWest Corner Method </vt:lpstr>
      <vt:lpstr>NorthWest Corner Method</vt:lpstr>
      <vt:lpstr>NorthWest Corner Method</vt:lpstr>
      <vt:lpstr>NorthWest Corner Method</vt:lpstr>
      <vt:lpstr>NorthWest Corner Method</vt:lpstr>
      <vt:lpstr>NorthWest Corner Method</vt:lpstr>
      <vt:lpstr>Proceeding in the same way,  the final values of the cells will be :</vt:lpstr>
      <vt:lpstr>NorthWest Corner Method</vt:lpstr>
      <vt:lpstr>Least Cost Cell Method </vt:lpstr>
      <vt:lpstr>Least Cost Cell Method </vt:lpstr>
      <vt:lpstr>Least Cost Cell Method</vt:lpstr>
      <vt:lpstr>Least Cost Cell Method</vt:lpstr>
      <vt:lpstr>Least Cost Cell Method </vt:lpstr>
      <vt:lpstr>Least Cost Cell Method</vt:lpstr>
      <vt:lpstr>Least Cost Cell Method</vt:lpstr>
      <vt:lpstr>Least Cost Cell Method </vt:lpstr>
      <vt:lpstr>Least Cost Cell Method </vt:lpstr>
      <vt:lpstr>Vogel’s Approximation Method</vt:lpstr>
      <vt:lpstr>Vogel’s Approximation Method </vt:lpstr>
      <vt:lpstr>Vogel’s Approximation Method </vt:lpstr>
      <vt:lpstr>Vogel’s Approximation Method </vt:lpstr>
      <vt:lpstr>Vogel’s Approximation Method </vt:lpstr>
      <vt:lpstr>Vogel’s Approximation Method </vt:lpstr>
      <vt:lpstr>Vogel’s Approximation Method </vt:lpstr>
      <vt:lpstr>Vogel’s Approximation Method </vt:lpstr>
      <vt:lpstr>Vogel’s Approximation Method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Transportation Problem </dc:title>
  <dc:creator>Microsoft account</dc:creator>
  <cp:lastModifiedBy>k drakshayani</cp:lastModifiedBy>
  <cp:revision>19</cp:revision>
  <dcterms:created xsi:type="dcterms:W3CDTF">2023-07-15T02:04:10Z</dcterms:created>
  <dcterms:modified xsi:type="dcterms:W3CDTF">2025-07-03T05:44:07Z</dcterms:modified>
</cp:coreProperties>
</file>