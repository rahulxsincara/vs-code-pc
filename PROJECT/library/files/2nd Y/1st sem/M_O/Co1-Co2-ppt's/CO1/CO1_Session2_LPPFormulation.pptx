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34"/>
  </p:notesMasterIdLst>
  <p:handoutMasterIdLst>
    <p:handoutMasterId r:id="rId35"/>
  </p:handoutMasterIdLst>
  <p:sldIdLst>
    <p:sldId id="313" r:id="rId2"/>
    <p:sldId id="312" r:id="rId3"/>
    <p:sldId id="311" r:id="rId4"/>
    <p:sldId id="317" r:id="rId5"/>
    <p:sldId id="318" r:id="rId6"/>
    <p:sldId id="319" r:id="rId7"/>
    <p:sldId id="320" r:id="rId8"/>
    <p:sldId id="321" r:id="rId9"/>
    <p:sldId id="257" r:id="rId10"/>
    <p:sldId id="258" r:id="rId11"/>
    <p:sldId id="316" r:id="rId12"/>
    <p:sldId id="259" r:id="rId13"/>
    <p:sldId id="260" r:id="rId14"/>
    <p:sldId id="261" r:id="rId15"/>
    <p:sldId id="262" r:id="rId16"/>
    <p:sldId id="263" r:id="rId17"/>
    <p:sldId id="265" r:id="rId18"/>
    <p:sldId id="266" r:id="rId19"/>
    <p:sldId id="267" r:id="rId20"/>
    <p:sldId id="292" r:id="rId21"/>
    <p:sldId id="293" r:id="rId22"/>
    <p:sldId id="295" r:id="rId23"/>
    <p:sldId id="297" r:id="rId24"/>
    <p:sldId id="310" r:id="rId25"/>
    <p:sldId id="300" r:id="rId26"/>
    <p:sldId id="302" r:id="rId27"/>
    <p:sldId id="303" r:id="rId28"/>
    <p:sldId id="305" r:id="rId29"/>
    <p:sldId id="307" r:id="rId30"/>
    <p:sldId id="308" r:id="rId31"/>
    <p:sldId id="315" r:id="rId32"/>
    <p:sldId id="314"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4269AD-63AF-C5B5-2D31-5D73CBEF22A6}" v="2" dt="2025-07-15T04:57:14.4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9" d="100"/>
          <a:sy n="79" d="100"/>
        </p:scale>
        <p:origin x="773"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40"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handoutMaster" Target="handoutMasters/handout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 Murali Krishna" userId="S::pmuralikrishna@kluniversity.in::b4e88df8-02e8-4a4f-88f6-55bdf17a0457" providerId="AD" clId="Web-{8C7FF075-884F-8C64-186F-B2309F27C533}"/>
    <pc:docChg chg="modSld">
      <pc:chgData name="P Murali Krishna" userId="S::pmuralikrishna@kluniversity.in::b4e88df8-02e8-4a4f-88f6-55bdf17a0457" providerId="AD" clId="Web-{8C7FF075-884F-8C64-186F-B2309F27C533}" dt="2025-07-12T13:32:08.209" v="40" actId="20577"/>
      <pc:docMkLst>
        <pc:docMk/>
      </pc:docMkLst>
      <pc:sldChg chg="modSp">
        <pc:chgData name="P Murali Krishna" userId="S::pmuralikrishna@kluniversity.in::b4e88df8-02e8-4a4f-88f6-55bdf17a0457" providerId="AD" clId="Web-{8C7FF075-884F-8C64-186F-B2309F27C533}" dt="2025-07-12T13:32:08.209" v="40" actId="20577"/>
        <pc:sldMkLst>
          <pc:docMk/>
          <pc:sldMk cId="2179560643" sldId="317"/>
        </pc:sldMkLst>
        <pc:spChg chg="mod">
          <ac:chgData name="P Murali Krishna" userId="S::pmuralikrishna@kluniversity.in::b4e88df8-02e8-4a4f-88f6-55bdf17a0457" providerId="AD" clId="Web-{8C7FF075-884F-8C64-186F-B2309F27C533}" dt="2025-07-12T13:32:08.209" v="40" actId="20577"/>
          <ac:spMkLst>
            <pc:docMk/>
            <pc:sldMk cId="2179560643" sldId="317"/>
            <ac:spMk id="3" creationId="{FBE4520C-C39A-969D-CE57-0D36F1E53F40}"/>
          </ac:spMkLst>
        </pc:spChg>
      </pc:sldChg>
    </pc:docChg>
  </pc:docChgLst>
  <pc:docChgLst>
    <pc:chgData name="Guest User" userId="S::urn:spo:tenantanon#808cc83e-a546-47e7-a03f-73a1ebba24f3::" providerId="AD" clId="Web-{474269AD-63AF-C5B5-2D31-5D73CBEF22A6}"/>
    <pc:docChg chg="modSld sldOrd">
      <pc:chgData name="Guest User" userId="S::urn:spo:tenantanon#808cc83e-a546-47e7-a03f-73a1ebba24f3::" providerId="AD" clId="Web-{474269AD-63AF-C5B5-2D31-5D73CBEF22A6}" dt="2025-07-15T04:57:14.492" v="1"/>
      <pc:docMkLst>
        <pc:docMk/>
      </pc:docMkLst>
      <pc:sldChg chg="ord">
        <pc:chgData name="Guest User" userId="S::urn:spo:tenantanon#808cc83e-a546-47e7-a03f-73a1ebba24f3::" providerId="AD" clId="Web-{474269AD-63AF-C5B5-2D31-5D73CBEF22A6}" dt="2025-07-15T04:57:14.492" v="1"/>
        <pc:sldMkLst>
          <pc:docMk/>
          <pc:sldMk cId="3338300578" sldId="316"/>
        </pc:sldMkLst>
      </pc:sldChg>
      <pc:sldChg chg="modSp">
        <pc:chgData name="Guest User" userId="S::urn:spo:tenantanon#808cc83e-a546-47e7-a03f-73a1ebba24f3::" providerId="AD" clId="Web-{474269AD-63AF-C5B5-2D31-5D73CBEF22A6}" dt="2025-07-15T04:57:08.070" v="0" actId="1076"/>
        <pc:sldMkLst>
          <pc:docMk/>
          <pc:sldMk cId="1205294006" sldId="320"/>
        </pc:sldMkLst>
        <pc:picChg chg="mod">
          <ac:chgData name="Guest User" userId="S::urn:spo:tenantanon#808cc83e-a546-47e7-a03f-73a1ebba24f3::" providerId="AD" clId="Web-{474269AD-63AF-C5B5-2D31-5D73CBEF22A6}" dt="2025-07-15T04:57:08.070" v="0" actId="1076"/>
          <ac:picMkLst>
            <pc:docMk/>
            <pc:sldMk cId="1205294006" sldId="320"/>
            <ac:picMk id="5" creationId="{00000000-0000-0000-0000-000000000000}"/>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CDB74D4-5E76-4C47-E7AA-61E2C648C8D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a:extLst>
              <a:ext uri="{FF2B5EF4-FFF2-40B4-BE49-F238E27FC236}">
                <a16:creationId xmlns:a16="http://schemas.microsoft.com/office/drawing/2014/main" id="{7C962EDA-0A3B-5C3A-C8DF-7672C339CF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t>14-07-2025</a:t>
            </a:fld>
            <a:endParaRPr lang="en-IN"/>
          </a:p>
        </p:txBody>
      </p:sp>
      <p:sp>
        <p:nvSpPr>
          <p:cNvPr id="4" name="Footer Placeholder 3">
            <a:extLst>
              <a:ext uri="{FF2B5EF4-FFF2-40B4-BE49-F238E27FC236}">
                <a16:creationId xmlns:a16="http://schemas.microsoft.com/office/drawing/2014/main" id="{1EC80489-5F61-FA08-A147-AE43BE9C499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a:extLst>
              <a:ext uri="{FF2B5EF4-FFF2-40B4-BE49-F238E27FC236}">
                <a16:creationId xmlns:a16="http://schemas.microsoft.com/office/drawing/2014/main" id="{F72D387C-1469-6716-E148-98BDCB69762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t>‹#›</a:t>
            </a:fld>
            <a:endParaRPr lang="en-IN"/>
          </a:p>
        </p:txBody>
      </p:sp>
    </p:spTree>
    <p:extLst>
      <p:ext uri="{BB962C8B-B14F-4D97-AF65-F5344CB8AC3E}">
        <p14:creationId xmlns:p14="http://schemas.microsoft.com/office/powerpoint/2010/main" val="954391555"/>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t>14-07-2025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t>‹#›</a:t>
            </a:fld>
            <a:endParaRPr lang="en-IN"/>
          </a:p>
        </p:txBody>
      </p:sp>
    </p:spTree>
    <p:extLst>
      <p:ext uri="{BB962C8B-B14F-4D97-AF65-F5344CB8AC3E}">
        <p14:creationId xmlns:p14="http://schemas.microsoft.com/office/powerpoint/2010/main" val="3310007880"/>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t>‹#›</a:t>
            </a:fld>
            <a:endParaRPr lang="en-IN"/>
          </a:p>
        </p:txBody>
      </p:sp>
      <p:cxnSp>
        <p:nvCxnSpPr>
          <p:cNvPr id="15" name="Straight Connector 14"/>
          <p:cNvCxnSpPr/>
          <p:nvPr/>
        </p:nvCxnSpPr>
        <p:spPr>
          <a:xfrm>
            <a:off x="2123181" y="3531204"/>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839828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451579" y="246581"/>
            <a:ext cx="9603275" cy="1607174"/>
          </a:xfrm>
        </p:spPr>
        <p:txBody>
          <a:bodyPr/>
          <a:lstStyle/>
          <a:p>
            <a:r>
              <a:rPr lang="en-US" dirty="0"/>
              <a:t>Click to edit Master title style</a:t>
            </a:r>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33" name="Straight Connector 32"/>
          <p:cNvCxnSpPr/>
          <p:nvPr/>
        </p:nvCxnSpPr>
        <p:spPr>
          <a:xfrm>
            <a:off x="1451579" y="86076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57521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90948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52286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&lt;COURSE TITLE&gt;, &lt;TOPIC NAME&gt;</a:t>
            </a:r>
            <a:endParaRPr lang="en-IN" dirty="0"/>
          </a:p>
        </p:txBody>
      </p:sp>
      <p:sp>
        <p:nvSpPr>
          <p:cNvPr id="9" name="Slide Number Placeholder 8"/>
          <p:cNvSpPr>
            <a:spLocks noGrp="1"/>
          </p:cNvSpPr>
          <p:nvPr>
            <p:ph type="sldNum" sz="quarter" idx="12"/>
          </p:nvPr>
        </p:nvSpPr>
        <p:spPr/>
        <p:txBody>
          <a:bodyPr/>
          <a:lstStyle/>
          <a:p>
            <a:fld id="{CBABCCC1-BF11-4F37-963E-1BCD5B23FD72}"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8372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r>
              <a:rPr lang="en-US"/>
              <a:t>&lt;COURSE TITLE&gt;, &lt;TOPIC NAME&gt;</a:t>
            </a:r>
            <a:endParaRPr lang="en-IN" dirty="0"/>
          </a:p>
        </p:txBody>
      </p:sp>
      <p:sp>
        <p:nvSpPr>
          <p:cNvPr id="5" name="Slide Number Placeholder 4"/>
          <p:cNvSpPr>
            <a:spLocks noGrp="1"/>
          </p:cNvSpPr>
          <p:nvPr>
            <p:ph type="sldNum" sz="quarter" idx="12"/>
          </p:nvPr>
        </p:nvSpPr>
        <p:spPr/>
        <p:txBody>
          <a:bodyPr/>
          <a:lstStyle/>
          <a:p>
            <a:fld id="{CBABCCC1-BF11-4F37-963E-1BCD5B23FD72}" type="slidenum">
              <a:rPr lang="en-IN" smtClean="0"/>
              <a:t>‹#›</a:t>
            </a:fld>
            <a:endParaRPr lang="en-IN"/>
          </a:p>
        </p:txBody>
      </p:sp>
      <p:cxnSp>
        <p:nvCxnSpPr>
          <p:cNvPr id="25" name="Straight Connector 2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1074666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&lt;COURSE TITLE&gt;, &lt;TOPIC NAME&gt;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3194587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32037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00776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1267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536402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pPr/>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a:extLst>
              <a:ext uri="{FF2B5EF4-FFF2-40B4-BE49-F238E27FC236}">
                <a16:creationId xmlns:a16="http://schemas.microsoft.com/office/drawing/2014/main" id="{D33DD7EC-6054-A5D7-0F93-3916702EC90E}"/>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a:extLst>
              <a:ext uri="{FF2B5EF4-FFF2-40B4-BE49-F238E27FC236}">
                <a16:creationId xmlns:a16="http://schemas.microsoft.com/office/drawing/2014/main" id="{DB6D7A70-9470-38A5-6785-933F5C089234}"/>
              </a:ext>
            </a:extLst>
          </p:cNvPr>
          <p:cNvPicPr>
            <a:picLocks noChangeAspect="1"/>
          </p:cNvPicPr>
          <p:nvPr userDrawn="1"/>
        </p:nvPicPr>
        <p:blipFill rotWithShape="1">
          <a:blip r:embed="rId14" cstate="print">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14" name="Picture 13" descr="Text&#10;&#10;Description automatically generated with medium confidence">
            <a:extLst>
              <a:ext uri="{FF2B5EF4-FFF2-40B4-BE49-F238E27FC236}">
                <a16:creationId xmlns:a16="http://schemas.microsoft.com/office/drawing/2014/main" id="{A51BE3ED-273E-B0A1-FC3A-EE01E1A92D27}"/>
              </a:ext>
            </a:extLst>
          </p:cNvPr>
          <p:cNvPicPr>
            <a:picLocks noChangeAspect="1"/>
          </p:cNvPicPr>
          <p:nvPr userDrawn="1"/>
        </p:nvPicPr>
        <p:blipFill rotWithShape="1">
          <a:blip r:embed="rId15" cstate="print">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31983802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svg"/><Relationship Id="rId7" Type="http://schemas.openxmlformats.org/officeDocument/2006/relationships/image" Target="../media/image9.sv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8.png"/><Relationship Id="rId5" Type="http://schemas.openxmlformats.org/officeDocument/2006/relationships/image" Target="../media/image7.sv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hyperlink" Target="https://www.coursera.org/learn/operations-research-modeling" TargetMode="External"/><Relationship Id="rId2" Type="http://schemas.openxmlformats.org/officeDocument/2006/relationships/hyperlink" Target="https://nptel.ac.in/courses/110105096" TargetMode="External"/><Relationship Id="rId1" Type="http://schemas.openxmlformats.org/officeDocument/2006/relationships/slideLayout" Target="../slideLayouts/slideLayout2.xml"/><Relationship Id="rId4" Type="http://schemas.openxmlformats.org/officeDocument/2006/relationships/hyperlink" Target="https://www.semanticscholar.org/paper/Applied-Mathematical-Programming-Bradley-Hax/8a4ee083b23505df221410e6a2b41fc56fa250a6" TargetMode="Externa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Rounded Corners 17">
            <a:extLst>
              <a:ext uri="{FF2B5EF4-FFF2-40B4-BE49-F238E27FC236}">
                <a16:creationId xmlns:a16="http://schemas.microsoft.com/office/drawing/2014/main" id="{807C1E3F-2DA3-AFAE-99EA-57C7BD21ED5A}"/>
              </a:ext>
            </a:extLst>
          </p:cNvPr>
          <p:cNvSpPr/>
          <p:nvPr/>
        </p:nvSpPr>
        <p:spPr>
          <a:xfrm>
            <a:off x="1943101" y="762080"/>
            <a:ext cx="8981581" cy="2743208"/>
          </a:xfrm>
          <a:prstGeom prst="roundRect">
            <a:avLst>
              <a:gd name="adj" fmla="val 12235"/>
            </a:avLst>
          </a:prstGeom>
          <a:gradFill>
            <a:gsLst>
              <a:gs pos="0">
                <a:schemeClr val="bg1">
                  <a:lumMod val="95000"/>
                </a:schemeClr>
              </a:gs>
              <a:gs pos="100000">
                <a:schemeClr val="bg1">
                  <a:lumMod val="85000"/>
                </a:schemeClr>
              </a:gs>
            </a:gsLst>
            <a:lin ang="5400000" scaled="0"/>
          </a:gradFill>
          <a:ln>
            <a:noFill/>
          </a:ln>
          <a:effectLst>
            <a:innerShdw blurRad="114300">
              <a:schemeClr val="bg1">
                <a:lumMod val="85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Google Shape;476;p16"/>
          <p:cNvSpPr txBox="1"/>
          <p:nvPr/>
        </p:nvSpPr>
        <p:spPr>
          <a:xfrm>
            <a:off x="2202872" y="762080"/>
            <a:ext cx="8898455" cy="2862282"/>
          </a:xfrm>
          <a:prstGeom prst="rect">
            <a:avLst/>
          </a:prstGeom>
          <a:noFill/>
          <a:ln>
            <a:noFill/>
          </a:ln>
        </p:spPr>
        <p:txBody>
          <a:bodyPr spcFirstLastPara="1" wrap="square" lIns="91425" tIns="45700" rIns="91425" bIns="45700" anchor="t" anchorCtr="0">
            <a:spAutoFit/>
          </a:bodyPr>
          <a:lstStyle/>
          <a:p>
            <a:r>
              <a:rPr lang="en-US" sz="2000" b="1" dirty="0">
                <a:solidFill>
                  <a:schemeClr val="bg1">
                    <a:lumMod val="50000"/>
                  </a:schemeClr>
                </a:solidFill>
                <a:latin typeface="Poppins" panose="00000500000000000000" pitchFamily="2" charset="0"/>
                <a:ea typeface="BioRhyme ExtraBold"/>
                <a:cs typeface="Poppins" panose="00000500000000000000" pitchFamily="2" charset="0"/>
                <a:sym typeface="BioRhyme ExtraBold"/>
              </a:rPr>
              <a:t>Course Title: </a:t>
            </a:r>
          </a:p>
          <a:p>
            <a:pPr algn="ctr"/>
            <a:r>
              <a:rPr lang="en-IN" sz="2400" b="1"/>
              <a:t>Mathematical Optimization </a:t>
            </a:r>
            <a:endParaRPr lang="en-IN" sz="2400" b="1" dirty="0"/>
          </a:p>
          <a:p>
            <a:pPr algn="ctr"/>
            <a:r>
              <a:rPr lang="en-IN" sz="2400" b="1" dirty="0"/>
              <a:t> (2-2-0-0)</a:t>
            </a:r>
          </a:p>
          <a:p>
            <a:pPr lvl="0" algn="r"/>
            <a:r>
              <a:rPr lang="en-US" sz="2800" b="1" dirty="0">
                <a:solidFill>
                  <a:srgbClr val="262626"/>
                </a:solidFill>
                <a:effectLst/>
                <a:latin typeface="Times New Roman" panose="02020603050405020304" pitchFamily="18" charset="0"/>
                <a:ea typeface="Times New Roman" panose="02020603050405020304" pitchFamily="18" charset="0"/>
                <a:cs typeface="Times New Roman" panose="02020603050405020304" pitchFamily="18" charset="0"/>
              </a:rPr>
              <a:t>       </a:t>
            </a:r>
            <a:endParaRPr lang="en-US" sz="2800" b="1" dirty="0">
              <a:solidFill>
                <a:schemeClr val="bg1">
                  <a:lumMod val="50000"/>
                </a:schemeClr>
              </a:solidFill>
              <a:latin typeface="Poppins" panose="00000500000000000000" pitchFamily="2" charset="0"/>
              <a:ea typeface="BioRhyme ExtraBold"/>
              <a:cs typeface="Poppins" panose="00000500000000000000" pitchFamily="2" charset="0"/>
              <a:sym typeface="BioRhyme ExtraBold"/>
            </a:endParaRPr>
          </a:p>
          <a:p>
            <a:pPr marL="0" marR="0" lvl="0" indent="0" algn="l" rtl="0">
              <a:spcBef>
                <a:spcPts val="0"/>
              </a:spcBef>
              <a:spcAft>
                <a:spcPts val="0"/>
              </a:spcAft>
              <a:buNone/>
            </a:pPr>
            <a:r>
              <a:rPr lang="en-US" sz="2000" b="1" dirty="0">
                <a:solidFill>
                  <a:schemeClr val="bg1">
                    <a:lumMod val="50000"/>
                  </a:schemeClr>
                </a:solidFill>
                <a:latin typeface="Poppins" panose="00000500000000000000" pitchFamily="2" charset="0"/>
                <a:ea typeface="BioRhyme ExtraBold"/>
                <a:cs typeface="Poppins" panose="00000500000000000000" pitchFamily="2" charset="0"/>
                <a:sym typeface="BioRhyme ExtraBold"/>
              </a:rPr>
              <a:t>Topic :</a:t>
            </a:r>
          </a:p>
          <a:p>
            <a:pPr algn="ctr"/>
            <a:r>
              <a:rPr lang="en-IN" sz="3200" b="1" dirty="0"/>
              <a:t>Formulation of  Linear Programming Problem</a:t>
            </a:r>
            <a:endParaRPr lang="en-US" altLang="en-US" sz="3200" b="1" dirty="0"/>
          </a:p>
        </p:txBody>
      </p:sp>
      <p:sp>
        <p:nvSpPr>
          <p:cNvPr id="6" name="Google Shape;502;p17">
            <a:extLst>
              <a:ext uri="{FF2B5EF4-FFF2-40B4-BE49-F238E27FC236}">
                <a16:creationId xmlns:a16="http://schemas.microsoft.com/office/drawing/2014/main" id="{2AA4B22D-392B-DF3F-B021-65F2138EAE6E}"/>
              </a:ext>
            </a:extLst>
          </p:cNvPr>
          <p:cNvSpPr/>
          <p:nvPr/>
        </p:nvSpPr>
        <p:spPr>
          <a:xfrm>
            <a:off x="2998377" y="3850889"/>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latin typeface="Poppins" panose="00000500000000000000" pitchFamily="2" charset="0"/>
                <a:ea typeface="Calibri"/>
                <a:cs typeface="Poppins" panose="00000500000000000000" pitchFamily="2" charset="0"/>
                <a:sym typeface="Calibri"/>
              </a:rPr>
              <a:t>CO-1</a:t>
            </a:r>
            <a:endParaRPr sz="2400" dirty="0">
              <a:solidFill>
                <a:schemeClr val="lt1"/>
              </a:solidFill>
              <a:latin typeface="Poppins" panose="00000500000000000000" pitchFamily="2" charset="0"/>
              <a:ea typeface="Calibri"/>
              <a:cs typeface="Poppins" panose="00000500000000000000" pitchFamily="2" charset="0"/>
              <a:sym typeface="Calibri"/>
            </a:endParaRPr>
          </a:p>
        </p:txBody>
      </p:sp>
      <p:sp>
        <p:nvSpPr>
          <p:cNvPr id="7" name="Google Shape;502;p17">
            <a:extLst>
              <a:ext uri="{FF2B5EF4-FFF2-40B4-BE49-F238E27FC236}">
                <a16:creationId xmlns:a16="http://schemas.microsoft.com/office/drawing/2014/main" id="{7153E61F-4441-DBE3-3DFF-6E9EF6C48D23}"/>
              </a:ext>
            </a:extLst>
          </p:cNvPr>
          <p:cNvSpPr/>
          <p:nvPr/>
        </p:nvSpPr>
        <p:spPr>
          <a:xfrm>
            <a:off x="7793182" y="3850889"/>
            <a:ext cx="2518931"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Poppins" panose="00000500000000000000" pitchFamily="2" charset="0"/>
                <a:ea typeface="Calibri"/>
                <a:cs typeface="Poppins" panose="00000500000000000000" pitchFamily="2" charset="0"/>
                <a:sym typeface="Calibri"/>
              </a:rPr>
              <a:t>Session -03</a:t>
            </a:r>
            <a:endParaRPr sz="2400" dirty="0">
              <a:solidFill>
                <a:schemeClr val="lt1"/>
              </a:solidFill>
              <a:latin typeface="Poppins" panose="00000500000000000000" pitchFamily="2" charset="0"/>
              <a:ea typeface="Calibri"/>
              <a:cs typeface="Poppins" panose="00000500000000000000" pitchFamily="2" charset="0"/>
              <a:sym typeface="Calibri"/>
            </a:endParaRPr>
          </a:p>
        </p:txBody>
      </p:sp>
    </p:spTree>
    <p:extLst>
      <p:ext uri="{BB962C8B-B14F-4D97-AF65-F5344CB8AC3E}">
        <p14:creationId xmlns:p14="http://schemas.microsoft.com/office/powerpoint/2010/main" val="21633130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CBABCCC1-BF11-4F37-963E-1BCD5B23FD72}" type="slidenum">
              <a:rPr lang="en-IN" smtClean="0"/>
              <a:t>2</a:t>
            </a:fld>
            <a:endParaRPr lang="en-IN"/>
          </a:p>
        </p:txBody>
      </p:sp>
      <p:sp>
        <p:nvSpPr>
          <p:cNvPr id="5" name="Rounded Rectangle 17">
            <a:extLst>
              <a:ext uri="{FF2B5EF4-FFF2-40B4-BE49-F238E27FC236}">
                <a16:creationId xmlns:a16="http://schemas.microsoft.com/office/drawing/2014/main" id="{D530E72E-233E-E443-1A84-D3CD02ECB889}"/>
              </a:ext>
            </a:extLst>
          </p:cNvPr>
          <p:cNvSpPr/>
          <p:nvPr/>
        </p:nvSpPr>
        <p:spPr>
          <a:xfrm>
            <a:off x="5330319" y="145070"/>
            <a:ext cx="153136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rPr>
              <a:t>AIM</a:t>
            </a:r>
          </a:p>
        </p:txBody>
      </p:sp>
      <p:sp>
        <p:nvSpPr>
          <p:cNvPr id="6" name="TextBox 5">
            <a:extLst>
              <a:ext uri="{FF2B5EF4-FFF2-40B4-BE49-F238E27FC236}">
                <a16:creationId xmlns:a16="http://schemas.microsoft.com/office/drawing/2014/main" id="{D7C61438-200D-827A-D4DD-5B5127AFA187}"/>
              </a:ext>
            </a:extLst>
          </p:cNvPr>
          <p:cNvSpPr txBox="1"/>
          <p:nvPr/>
        </p:nvSpPr>
        <p:spPr>
          <a:xfrm>
            <a:off x="1169893" y="684469"/>
            <a:ext cx="10731286" cy="416011"/>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wrap="square" lIns="91440" tIns="45720" rIns="91440" bIns="45720" rtlCol="0" anchor="t">
            <a:spAutoFit/>
          </a:bodyPr>
          <a:lstStyle/>
          <a:p>
            <a:pPr>
              <a:lnSpc>
                <a:spcPct val="150000"/>
              </a:lnSpc>
            </a:pPr>
            <a:r>
              <a:rPr lang="en-US" sz="1600" b="0" i="0" dirty="0">
                <a:effectLst/>
                <a:latin typeface="Poppins"/>
                <a:cs typeface="Poppins"/>
              </a:rPr>
              <a:t>To familiarize students with the concept of formulation of linear programming problem</a:t>
            </a:r>
            <a:endParaRPr lang="en-US" sz="1600" dirty="0">
              <a:latin typeface="Poppins"/>
              <a:cs typeface="Poppins"/>
            </a:endParaRPr>
          </a:p>
        </p:txBody>
      </p:sp>
      <p:sp>
        <p:nvSpPr>
          <p:cNvPr id="7" name="Rounded Rectangle 17">
            <a:extLst>
              <a:ext uri="{FF2B5EF4-FFF2-40B4-BE49-F238E27FC236}">
                <a16:creationId xmlns:a16="http://schemas.microsoft.com/office/drawing/2014/main" id="{7F3AABB0-F8BA-C900-B6BF-45F4B58E9490}"/>
              </a:ext>
            </a:extLst>
          </p:cNvPr>
          <p:cNvSpPr/>
          <p:nvPr/>
        </p:nvSpPr>
        <p:spPr>
          <a:xfrm>
            <a:off x="4160583" y="1374271"/>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0" i="0" dirty="0">
                <a:effectLst/>
                <a:latin typeface="Arial" panose="020B0604020202020204" pitchFamily="34" charset="0"/>
              </a:rPr>
              <a:t>INSTRUCTIONAL OBJECTIVES</a:t>
            </a:r>
            <a:endParaRPr lang="en-US"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sp>
        <p:nvSpPr>
          <p:cNvPr id="8" name="TextBox 7">
            <a:extLst>
              <a:ext uri="{FF2B5EF4-FFF2-40B4-BE49-F238E27FC236}">
                <a16:creationId xmlns:a16="http://schemas.microsoft.com/office/drawing/2014/main" id="{2B5EAD4E-C007-9DE7-A40A-12802D3C9611}"/>
              </a:ext>
            </a:extLst>
          </p:cNvPr>
          <p:cNvSpPr txBox="1"/>
          <p:nvPr/>
        </p:nvSpPr>
        <p:spPr>
          <a:xfrm>
            <a:off x="1752600" y="2030246"/>
            <a:ext cx="9077325" cy="1569660"/>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dirty="0">
                <a:latin typeface="Poppins"/>
                <a:cs typeface="Poppins"/>
              </a:rPr>
              <a:t>This</a:t>
            </a:r>
            <a:r>
              <a:rPr lang="en-US" sz="1600" b="0" i="0" dirty="0">
                <a:effectLst/>
                <a:latin typeface="Poppins"/>
                <a:cs typeface="Poppins"/>
              </a:rPr>
              <a:t> </a:t>
            </a:r>
            <a:r>
              <a:rPr lang="en-US" sz="1600" dirty="0">
                <a:latin typeface="Poppins"/>
                <a:cs typeface="Poppins"/>
              </a:rPr>
              <a:t>session</a:t>
            </a:r>
            <a:r>
              <a:rPr lang="en-US" sz="1600" b="0" i="0" dirty="0">
                <a:effectLst/>
                <a:latin typeface="Poppins"/>
                <a:cs typeface="Poppins"/>
              </a:rPr>
              <a:t> is designed to:</a:t>
            </a:r>
          </a:p>
          <a:p>
            <a:pPr marL="342900" indent="-342900">
              <a:buAutoNum type="arabicPeriod"/>
            </a:pPr>
            <a:r>
              <a:rPr lang="en-US" sz="1600" b="0" i="0" dirty="0">
                <a:effectLst/>
                <a:latin typeface="Arial" panose="020B0604020202020204" pitchFamily="34" charset="0"/>
                <a:cs typeface="Arial" panose="020B0604020202020204" pitchFamily="34" charset="0"/>
              </a:rPr>
              <a:t>Describe </a:t>
            </a:r>
            <a:r>
              <a:rPr lang="en-IN" sz="1600" dirty="0">
                <a:latin typeface="Arial" panose="020B0604020202020204" pitchFamily="34" charset="0"/>
                <a:cs typeface="Arial" panose="020B0604020202020204" pitchFamily="34" charset="0"/>
              </a:rPr>
              <a:t>develop  and  understanding of   linear  programming problem</a:t>
            </a:r>
            <a:r>
              <a:rPr lang="en-US" sz="1600" b="0" i="0" dirty="0">
                <a:effectLst/>
                <a:latin typeface="Arial" panose="020B0604020202020204" pitchFamily="34" charset="0"/>
                <a:cs typeface="Arial" panose="020B0604020202020204" pitchFamily="34" charset="0"/>
              </a:rPr>
              <a:t>.</a:t>
            </a:r>
          </a:p>
          <a:p>
            <a:pPr marL="342900" indent="-342900">
              <a:buAutoNum type="arabicPeriod"/>
            </a:pPr>
            <a:r>
              <a:rPr lang="en-US" sz="1600" b="0" i="0" dirty="0">
                <a:effectLst/>
                <a:latin typeface="Arial" panose="020B0604020202020204" pitchFamily="34" charset="0"/>
                <a:cs typeface="Arial" panose="020B0604020202020204" pitchFamily="34" charset="0"/>
              </a:rPr>
              <a:t>Demonstrate how to </a:t>
            </a:r>
            <a:r>
              <a:rPr lang="en-IN" sz="1600" dirty="0">
                <a:latin typeface="Arial" panose="020B0604020202020204" pitchFamily="34" charset="0"/>
                <a:cs typeface="Arial" panose="020B0604020202020204" pitchFamily="34" charset="0"/>
              </a:rPr>
              <a:t>formulate   linear  programming  problem</a:t>
            </a:r>
          </a:p>
          <a:p>
            <a:pPr marL="342900" indent="-342900">
              <a:buAutoNum type="arabicPeriod"/>
            </a:pPr>
            <a:r>
              <a:rPr lang="en-US" sz="1600" dirty="0">
                <a:latin typeface="Arial" panose="020B0604020202020204" pitchFamily="34" charset="0"/>
                <a:cs typeface="Arial" panose="020B0604020202020204" pitchFamily="34" charset="0"/>
              </a:rPr>
              <a:t>Illustrate in detail of objective function.</a:t>
            </a:r>
            <a:endParaRPr lang="en-IN" sz="1600" dirty="0">
              <a:latin typeface="Arial" panose="020B0604020202020204" pitchFamily="34" charset="0"/>
              <a:cs typeface="Arial" panose="020B0604020202020204" pitchFamily="34" charset="0"/>
            </a:endParaRPr>
          </a:p>
          <a:p>
            <a:endParaRPr lang="en-US" sz="1600" dirty="0">
              <a:latin typeface="Arial" panose="020B0604020202020204" pitchFamily="34" charset="0"/>
            </a:endParaRPr>
          </a:p>
        </p:txBody>
      </p:sp>
      <p:pic>
        <p:nvPicPr>
          <p:cNvPr id="9" name="Graphic 10" descr="Bullseye outline">
            <a:extLst>
              <a:ext uri="{FF2B5EF4-FFF2-40B4-BE49-F238E27FC236}">
                <a16:creationId xmlns:a16="http://schemas.microsoft.com/office/drawing/2014/main" id="{AB75B03E-9C0C-0AF7-2A76-D8618F8F999A}"/>
              </a:ext>
            </a:extLst>
          </p:cNvPr>
          <p:cNvPicPr>
            <a:picLocks noChangeAspect="1"/>
          </p:cNvPicPr>
          <p:nvPr/>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255493" y="655220"/>
            <a:ext cx="914400" cy="914400"/>
          </a:xfrm>
          <a:prstGeom prst="rect">
            <a:avLst/>
          </a:prstGeom>
        </p:spPr>
      </p:pic>
      <p:pic>
        <p:nvPicPr>
          <p:cNvPr id="10" name="Graphic 26" descr="Presentation with checklist outline">
            <a:extLst>
              <a:ext uri="{FF2B5EF4-FFF2-40B4-BE49-F238E27FC236}">
                <a16:creationId xmlns:a16="http://schemas.microsoft.com/office/drawing/2014/main" id="{1E9F25CA-EF99-00B6-5FFA-810D1F1806C7}"/>
              </a:ext>
            </a:extLst>
          </p:cNvPr>
          <p:cNvPicPr>
            <a:picLocks noChangeAspect="1"/>
          </p:cNvPicPr>
          <p:nvPr/>
        </p:nvPicPr>
        <p:blipFill>
          <a:blip r:embed="rId4" cstate="print">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56459" y="1939703"/>
            <a:ext cx="914400" cy="998484"/>
          </a:xfrm>
          <a:prstGeom prst="rect">
            <a:avLst/>
          </a:prstGeom>
        </p:spPr>
      </p:pic>
      <p:sp>
        <p:nvSpPr>
          <p:cNvPr id="11" name="Rounded Rectangle 17">
            <a:extLst>
              <a:ext uri="{FF2B5EF4-FFF2-40B4-BE49-F238E27FC236}">
                <a16:creationId xmlns:a16="http://schemas.microsoft.com/office/drawing/2014/main" id="{6652A33D-9A9E-3EAC-0CAE-113901ECA179}"/>
              </a:ext>
            </a:extLst>
          </p:cNvPr>
          <p:cNvSpPr/>
          <p:nvPr/>
        </p:nvSpPr>
        <p:spPr>
          <a:xfrm>
            <a:off x="4212971" y="4088448"/>
            <a:ext cx="3870831" cy="390698"/>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0" i="0" dirty="0">
                <a:effectLst/>
                <a:latin typeface="Arial" panose="020B0604020202020204" pitchFamily="34" charset="0"/>
              </a:rPr>
              <a:t>LEARNING OUTCOMES</a:t>
            </a:r>
            <a:endParaRPr lang="en-US"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12" name="Graphic 30" descr="Idea outline">
            <a:extLst>
              <a:ext uri="{FF2B5EF4-FFF2-40B4-BE49-F238E27FC236}">
                <a16:creationId xmlns:a16="http://schemas.microsoft.com/office/drawing/2014/main" id="{5F765FC3-60CF-297F-C1BD-F5A7B8B943AF}"/>
              </a:ext>
            </a:extLst>
          </p:cNvPr>
          <p:cNvPicPr>
            <a:picLocks noChangeAspect="1"/>
          </p:cNvPicPr>
          <p:nvPr/>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4765771"/>
            <a:ext cx="914400" cy="914400"/>
          </a:xfrm>
          <a:prstGeom prst="rect">
            <a:avLst/>
          </a:prstGeom>
        </p:spPr>
      </p:pic>
      <p:sp>
        <p:nvSpPr>
          <p:cNvPr id="13" name="TextBox 12">
            <a:extLst>
              <a:ext uri="{FF2B5EF4-FFF2-40B4-BE49-F238E27FC236}">
                <a16:creationId xmlns:a16="http://schemas.microsoft.com/office/drawing/2014/main" id="{B0BB8E68-8B73-12DE-615E-1091F19A9A9A}"/>
              </a:ext>
            </a:extLst>
          </p:cNvPr>
          <p:cNvSpPr txBox="1"/>
          <p:nvPr/>
        </p:nvSpPr>
        <p:spPr>
          <a:xfrm>
            <a:off x="1752600" y="4631029"/>
            <a:ext cx="8791575" cy="1077218"/>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lIns="91440" tIns="45720" rIns="91440" bIns="45720" rtlCol="0" anchor="t">
            <a:spAutoFit/>
          </a:bodyPr>
          <a:lstStyle/>
          <a:p>
            <a:pPr>
              <a:lnSpc>
                <a:spcPct val="200000"/>
              </a:lnSpc>
            </a:pPr>
            <a:r>
              <a:rPr lang="en-US" sz="1600" b="0" i="0" dirty="0">
                <a:effectLst/>
                <a:latin typeface="Arial"/>
                <a:cs typeface="Arial"/>
              </a:rPr>
              <a:t>At the end of this unit, you should be able to:</a:t>
            </a:r>
            <a:r>
              <a:rPr lang="en-US" sz="1600" b="0" i="0" dirty="0">
                <a:effectLst/>
                <a:latin typeface="Arial" panose="020B0604020202020204" pitchFamily="34" charset="0"/>
              </a:rPr>
              <a:t>.</a:t>
            </a:r>
          </a:p>
          <a:p>
            <a:pPr marL="342900" indent="-342900">
              <a:buAutoNum type="arabicPeriod"/>
            </a:pPr>
            <a:r>
              <a:rPr lang="en-US" sz="1600" b="0" i="0" dirty="0">
                <a:effectLst/>
                <a:latin typeface="Arial" panose="020B0604020202020204" pitchFamily="34" charset="0"/>
              </a:rPr>
              <a:t>Describe the ways to construct the mathematical formulation </a:t>
            </a:r>
            <a:r>
              <a:rPr lang="en-US" sz="1600" dirty="0">
                <a:latin typeface="Arial" panose="020B0604020202020204" pitchFamily="34" charset="0"/>
              </a:rPr>
              <a:t>of linear programming problem</a:t>
            </a:r>
            <a:endParaRPr lang="en-US" sz="1600" b="0" i="0" dirty="0">
              <a:effectLst/>
              <a:latin typeface="Arial" panose="020B0604020202020204" pitchFamily="34" charset="0"/>
            </a:endParaRPr>
          </a:p>
          <a:p>
            <a:pPr marL="342900" indent="-342900">
              <a:buAutoNum type="arabicPeriod"/>
            </a:pPr>
            <a:r>
              <a:rPr lang="en-US" sz="1600" b="0" i="0" dirty="0">
                <a:effectLst/>
                <a:latin typeface="Arial" panose="020B0604020202020204" pitchFamily="34" charset="0"/>
              </a:rPr>
              <a:t>Solve the </a:t>
            </a:r>
            <a:r>
              <a:rPr lang="en-US" sz="1600" dirty="0">
                <a:latin typeface="Arial" panose="020B0604020202020204" pitchFamily="34" charset="0"/>
              </a:rPr>
              <a:t>formulation of linear programming problem</a:t>
            </a:r>
            <a:r>
              <a:rPr lang="en-US" sz="1600" b="0" i="0" dirty="0">
                <a:effectLst/>
                <a:latin typeface="Arial" panose="020B0604020202020204" pitchFamily="34" charset="0"/>
              </a:rPr>
              <a:t>.</a:t>
            </a:r>
          </a:p>
        </p:txBody>
      </p:sp>
    </p:spTree>
    <p:extLst>
      <p:ext uri="{BB962C8B-B14F-4D97-AF65-F5344CB8AC3E}">
        <p14:creationId xmlns:p14="http://schemas.microsoft.com/office/powerpoint/2010/main" val="42591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fade">
                                      <p:cBhvr>
                                        <p:cTn id="12" dur="500"/>
                                        <p:tgtEl>
                                          <p:spTgt spid="9"/>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p:stCondLst>
                        <p:cond delay="indefinite"/>
                      </p:stCondLst>
                      <p:childTnLst>
                        <p:par>
                          <p:cTn id="22" fill="hold">
                            <p:stCondLst>
                              <p:cond delay="0"/>
                            </p:stCondLst>
                            <p:childTnLst>
                              <p:par>
                                <p:cTn id="23" presetID="10"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fade">
                                      <p:cBhvr>
                                        <p:cTn id="25" dur="500"/>
                                        <p:tgtEl>
                                          <p:spTgt spid="8"/>
                                        </p:tgtEl>
                                      </p:cBhvr>
                                    </p:animEffect>
                                  </p:childTnLst>
                                </p:cTn>
                              </p:par>
                              <p:par>
                                <p:cTn id="26" presetID="10" presetClass="entr" presetSubtype="0" fill="hold"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fade">
                                      <p:cBhvr>
                                        <p:cTn id="28" dur="500"/>
                                        <p:tgtEl>
                                          <p:spTgt spid="10"/>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500"/>
                                        <p:tgtEl>
                                          <p:spTgt spid="11"/>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grpId="0" nodeType="clickEffect">
                                  <p:stCondLst>
                                    <p:cond delay="0"/>
                                  </p:stCondLst>
                                  <p:childTnLst>
                                    <p:set>
                                      <p:cBhvr>
                                        <p:cTn id="37" dur="1" fill="hold">
                                          <p:stCondLst>
                                            <p:cond delay="0"/>
                                          </p:stCondLst>
                                        </p:cTn>
                                        <p:tgtEl>
                                          <p:spTgt spid="13"/>
                                        </p:tgtEl>
                                        <p:attrNameLst>
                                          <p:attrName>style.visibility</p:attrName>
                                        </p:attrNameLst>
                                      </p:cBhvr>
                                      <p:to>
                                        <p:strVal val="visible"/>
                                      </p:to>
                                    </p:set>
                                    <p:animEffect transition="in" filter="fade">
                                      <p:cBhvr>
                                        <p:cTn id="38" dur="500"/>
                                        <p:tgtEl>
                                          <p:spTgt spid="13"/>
                                        </p:tgtEl>
                                      </p:cBhvr>
                                    </p:animEffect>
                                  </p:childTnLst>
                                </p:cTn>
                              </p:par>
                              <p:par>
                                <p:cTn id="39" presetID="10" presetClass="entr" presetSubtype="0" fill="hold" nodeType="withEffect">
                                  <p:stCondLst>
                                    <p:cond delay="0"/>
                                  </p:stCondLst>
                                  <p:childTnLst>
                                    <p:set>
                                      <p:cBhvr>
                                        <p:cTn id="40" dur="1" fill="hold">
                                          <p:stCondLst>
                                            <p:cond delay="0"/>
                                          </p:stCondLst>
                                        </p:cTn>
                                        <p:tgtEl>
                                          <p:spTgt spid="12"/>
                                        </p:tgtEl>
                                        <p:attrNameLst>
                                          <p:attrName>style.visibility</p:attrName>
                                        </p:attrNameLst>
                                      </p:cBhvr>
                                      <p:to>
                                        <p:strVal val="visible"/>
                                      </p:to>
                                    </p:set>
                                    <p:animEffect transition="in" filter="fade">
                                      <p:cBhvr>
                                        <p:cTn id="41"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11" grpId="0" animBg="1"/>
      <p:bldP spid="13"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6A7A8-8EB9-90B3-99AA-775364D46A3D}"/>
              </a:ext>
            </a:extLst>
          </p:cNvPr>
          <p:cNvSpPr>
            <a:spLocks noGrp="1"/>
          </p:cNvSpPr>
          <p:nvPr>
            <p:ph type="title"/>
          </p:nvPr>
        </p:nvSpPr>
        <p:spPr>
          <a:xfrm>
            <a:off x="1451579" y="246581"/>
            <a:ext cx="9603275" cy="1021110"/>
          </a:xfrm>
        </p:spPr>
        <p:txBody>
          <a:bodyPr/>
          <a:lstStyle/>
          <a:p>
            <a:r>
              <a:rPr lang="en-IN" dirty="0"/>
              <a:t>Mathematical  OPTIMIZATION- Co’s</a:t>
            </a:r>
          </a:p>
        </p:txBody>
      </p:sp>
      <p:sp>
        <p:nvSpPr>
          <p:cNvPr id="3" name="Content Placeholder 2">
            <a:extLst>
              <a:ext uri="{FF2B5EF4-FFF2-40B4-BE49-F238E27FC236}">
                <a16:creationId xmlns:a16="http://schemas.microsoft.com/office/drawing/2014/main" id="{FBE4520C-C39A-969D-CE57-0D36F1E53F40}"/>
              </a:ext>
            </a:extLst>
          </p:cNvPr>
          <p:cNvSpPr>
            <a:spLocks noGrp="1"/>
          </p:cNvSpPr>
          <p:nvPr>
            <p:ph idx="1"/>
          </p:nvPr>
        </p:nvSpPr>
        <p:spPr>
          <a:xfrm>
            <a:off x="485421" y="1080655"/>
            <a:ext cx="11204351" cy="4946072"/>
          </a:xfrm>
        </p:spPr>
        <p:txBody>
          <a:bodyPr>
            <a:normAutofit fontScale="92500" lnSpcReduction="10000"/>
          </a:bodyPr>
          <a:lstStyle/>
          <a:p>
            <a:pPr marL="0" indent="0">
              <a:buNone/>
            </a:pPr>
            <a:r>
              <a:rPr lang="en-IN" b="1" dirty="0"/>
              <a:t>CO1:    </a:t>
            </a:r>
            <a:r>
              <a:rPr lang="en-IN" dirty="0"/>
              <a:t>Linear Programming: Formulation of LP Problem (LPP), Graphical method, Simplex method,  	Transportation problem,  Duality concept in LPP, Feasibility of solution using </a:t>
            </a:r>
            <a:r>
              <a:rPr lang="en-IN" dirty="0" err="1"/>
              <a:t>Farka’s</a:t>
            </a:r>
            <a:r>
              <a:rPr lang="en-IN" dirty="0"/>
              <a:t> Lemma, Ellipsoid 	method, </a:t>
            </a:r>
            <a:r>
              <a:rPr lang="en-IN" dirty="0" err="1"/>
              <a:t>Karmarkar’s</a:t>
            </a:r>
            <a:r>
              <a:rPr lang="en-IN" dirty="0"/>
              <a:t> Algorithm . </a:t>
            </a:r>
          </a:p>
          <a:p>
            <a:pPr marL="0" indent="0">
              <a:buNone/>
            </a:pPr>
            <a:r>
              <a:rPr lang="en-US" b="1" dirty="0"/>
              <a:t>CO2:   </a:t>
            </a:r>
            <a:r>
              <a:rPr lang="en-US" dirty="0"/>
              <a:t>Combinatorial Optimization , Integer Programming, Branch &amp; bound algorithms, valid 	inequalities &amp; cuts. 	Fractional Programming. Combinatorial Optimization: Approximation Algorithms, Submodular functions, 	</a:t>
            </a:r>
            <a:r>
              <a:rPr lang="en-US" dirty="0" err="1"/>
              <a:t>Matroids</a:t>
            </a:r>
            <a:r>
              <a:rPr lang="en-US" dirty="0"/>
              <a:t>, Continuous approximation algorithms. Dynamic programming: Knapsack problem, Travelling 	salesman problem </a:t>
            </a:r>
          </a:p>
          <a:p>
            <a:pPr marL="0" indent="0">
              <a:buNone/>
            </a:pPr>
            <a:r>
              <a:rPr lang="en-US" b="1" dirty="0"/>
              <a:t>CO3:   </a:t>
            </a:r>
            <a:r>
              <a:rPr lang="en-US" dirty="0"/>
              <a:t>Non-Linear Programming : Quadratic programs – Constrained quadratic programming problems, Beale’s                 	method, Wolfe method, </a:t>
            </a:r>
            <a:r>
              <a:rPr lang="en-US" dirty="0" err="1"/>
              <a:t>Karush</a:t>
            </a:r>
            <a:r>
              <a:rPr lang="en-US" dirty="0"/>
              <a:t>-Kuhn Tucker (KKT) Conditions. Geometric Programming: Problems 	with one-degree of difficulty with positive coefficients, Geometric programming with constraints, 	Problems with positive and 	negative coefficients</a:t>
            </a:r>
          </a:p>
          <a:p>
            <a:pPr marL="0" indent="0">
              <a:buNone/>
            </a:pPr>
            <a:r>
              <a:rPr lang="en-US" b="1" dirty="0"/>
              <a:t>CO4:   </a:t>
            </a:r>
            <a:r>
              <a:rPr lang="en-US" dirty="0"/>
              <a:t>Infinite Dimensional Optimization : Heuristic and Meta heuristics, Single solution vs. population-based, 	Parallel meta heuristics, Evolutionary algorithms, Nature-inspired metaheuristics, Genetic Algorithm, 	Ant-colony optimization, Particle swarm optimization, Simulated annealing</a:t>
            </a:r>
            <a:endParaRPr lang="en-IN" dirty="0"/>
          </a:p>
        </p:txBody>
      </p:sp>
      <p:sp>
        <p:nvSpPr>
          <p:cNvPr id="4" name="Slide Number Placeholder 3">
            <a:extLst>
              <a:ext uri="{FF2B5EF4-FFF2-40B4-BE49-F238E27FC236}">
                <a16:creationId xmlns:a16="http://schemas.microsoft.com/office/drawing/2014/main" id="{29761E82-14F7-E639-DC25-84611D0E2523}"/>
              </a:ext>
            </a:extLst>
          </p:cNvPr>
          <p:cNvSpPr>
            <a:spLocks noGrp="1"/>
          </p:cNvSpPr>
          <p:nvPr>
            <p:ph type="sldNum" sz="quarter" idx="12"/>
          </p:nvPr>
        </p:nvSpPr>
        <p:spPr/>
        <p:txBody>
          <a:bodyPr/>
          <a:lstStyle/>
          <a:p>
            <a:fld id="{CBABCCC1-BF11-4F37-963E-1BCD5B23FD72}" type="slidenum">
              <a:rPr lang="en-IN" smtClean="0"/>
              <a:t>3</a:t>
            </a:fld>
            <a:endParaRPr lang="en-IN"/>
          </a:p>
        </p:txBody>
      </p:sp>
      <p:sp>
        <p:nvSpPr>
          <p:cNvPr id="5" name="Content Placeholder 2">
            <a:extLst>
              <a:ext uri="{FF2B5EF4-FFF2-40B4-BE49-F238E27FC236}">
                <a16:creationId xmlns:a16="http://schemas.microsoft.com/office/drawing/2014/main" id="{5B9A3B13-A575-AF7F-AD66-2F5EBEF724ED}"/>
              </a:ext>
            </a:extLst>
          </p:cNvPr>
          <p:cNvSpPr txBox="1">
            <a:spLocks/>
          </p:cNvSpPr>
          <p:nvPr/>
        </p:nvSpPr>
        <p:spPr>
          <a:xfrm>
            <a:off x="5977573" y="1328076"/>
            <a:ext cx="4658797" cy="3046442"/>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lvl="1"/>
            <a:endParaRPr lang="en-IN" dirty="0"/>
          </a:p>
        </p:txBody>
      </p:sp>
      <p:sp>
        <p:nvSpPr>
          <p:cNvPr id="11" name="Content Placeholder 2">
            <a:extLst>
              <a:ext uri="{FF2B5EF4-FFF2-40B4-BE49-F238E27FC236}">
                <a16:creationId xmlns:a16="http://schemas.microsoft.com/office/drawing/2014/main" id="{764BDC55-0770-69B7-00BB-0624B81EE0CD}"/>
              </a:ext>
            </a:extLst>
          </p:cNvPr>
          <p:cNvSpPr txBox="1">
            <a:spLocks/>
          </p:cNvSpPr>
          <p:nvPr/>
        </p:nvSpPr>
        <p:spPr>
          <a:xfrm>
            <a:off x="5977573" y="4115434"/>
            <a:ext cx="6225930" cy="1985000"/>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lvl="1"/>
            <a:endParaRPr lang="en-IN" sz="1200" dirty="0"/>
          </a:p>
        </p:txBody>
      </p:sp>
    </p:spTree>
    <p:extLst>
      <p:ext uri="{BB962C8B-B14F-4D97-AF65-F5344CB8AC3E}">
        <p14:creationId xmlns:p14="http://schemas.microsoft.com/office/powerpoint/2010/main" val="35857028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06A7A8-8EB9-90B3-99AA-775364D46A3D}"/>
              </a:ext>
            </a:extLst>
          </p:cNvPr>
          <p:cNvSpPr>
            <a:spLocks noGrp="1"/>
          </p:cNvSpPr>
          <p:nvPr>
            <p:ph type="title"/>
          </p:nvPr>
        </p:nvSpPr>
        <p:spPr/>
        <p:txBody>
          <a:bodyPr>
            <a:normAutofit/>
          </a:bodyPr>
          <a:lstStyle/>
          <a:p>
            <a:r>
              <a:rPr lang="en-IN" sz="3000" dirty="0"/>
              <a:t>Mathematical  OPTIMIZATION course Objectives</a:t>
            </a:r>
          </a:p>
        </p:txBody>
      </p:sp>
      <p:sp>
        <p:nvSpPr>
          <p:cNvPr id="3" name="Content Placeholder 2">
            <a:extLst>
              <a:ext uri="{FF2B5EF4-FFF2-40B4-BE49-F238E27FC236}">
                <a16:creationId xmlns:a16="http://schemas.microsoft.com/office/drawing/2014/main" id="{FBE4520C-C39A-969D-CE57-0D36F1E53F40}"/>
              </a:ext>
            </a:extLst>
          </p:cNvPr>
          <p:cNvSpPr>
            <a:spLocks noGrp="1"/>
          </p:cNvSpPr>
          <p:nvPr>
            <p:ph idx="1"/>
          </p:nvPr>
        </p:nvSpPr>
        <p:spPr>
          <a:xfrm>
            <a:off x="485422" y="1862435"/>
            <a:ext cx="6225930" cy="2381761"/>
          </a:xfrm>
        </p:spPr>
        <p:txBody>
          <a:bodyPr>
            <a:normAutofit fontScale="77500" lnSpcReduction="20000"/>
          </a:bodyPr>
          <a:lstStyle/>
          <a:p>
            <a:r>
              <a:rPr lang="en-IN" dirty="0"/>
              <a:t>CO1 (Linear Programming)</a:t>
            </a:r>
          </a:p>
          <a:p>
            <a:pPr lvl="1"/>
            <a:r>
              <a:rPr lang="en-IN" dirty="0"/>
              <a:t>Formulation of linear programming</a:t>
            </a:r>
          </a:p>
          <a:p>
            <a:pPr lvl="1"/>
            <a:r>
              <a:rPr lang="en-IN" dirty="0"/>
              <a:t>Finding  optimal  solution to LPP by</a:t>
            </a:r>
          </a:p>
          <a:p>
            <a:pPr lvl="2"/>
            <a:r>
              <a:rPr lang="en-IN" dirty="0"/>
              <a:t>Graphical Method</a:t>
            </a:r>
          </a:p>
          <a:p>
            <a:pPr lvl="2"/>
            <a:r>
              <a:rPr lang="en-IN" dirty="0"/>
              <a:t>Simplex  Method</a:t>
            </a:r>
          </a:p>
          <a:p>
            <a:pPr lvl="1"/>
            <a:r>
              <a:rPr lang="en-IN" dirty="0"/>
              <a:t>Duality Principle</a:t>
            </a:r>
          </a:p>
          <a:p>
            <a:pPr lvl="1"/>
            <a:endParaRPr lang="en-IN" dirty="0"/>
          </a:p>
          <a:p>
            <a:pPr lvl="1"/>
            <a:r>
              <a:rPr lang="en-IN" dirty="0"/>
              <a:t>Transportation problem formulation and  minimum cost  computations</a:t>
            </a:r>
          </a:p>
          <a:p>
            <a:pPr lvl="1"/>
            <a:endParaRPr lang="en-IN" dirty="0"/>
          </a:p>
        </p:txBody>
      </p:sp>
      <p:sp>
        <p:nvSpPr>
          <p:cNvPr id="4" name="Slide Number Placeholder 3">
            <a:extLst>
              <a:ext uri="{FF2B5EF4-FFF2-40B4-BE49-F238E27FC236}">
                <a16:creationId xmlns:a16="http://schemas.microsoft.com/office/drawing/2014/main" id="{29761E82-14F7-E639-DC25-84611D0E2523}"/>
              </a:ext>
            </a:extLst>
          </p:cNvPr>
          <p:cNvSpPr>
            <a:spLocks noGrp="1"/>
          </p:cNvSpPr>
          <p:nvPr>
            <p:ph type="sldNum" sz="quarter" idx="12"/>
          </p:nvPr>
        </p:nvSpPr>
        <p:spPr/>
        <p:txBody>
          <a:bodyPr/>
          <a:lstStyle/>
          <a:p>
            <a:fld id="{CBABCCC1-BF11-4F37-963E-1BCD5B23FD72}" type="slidenum">
              <a:rPr lang="en-IN" smtClean="0"/>
              <a:t>4</a:t>
            </a:fld>
            <a:endParaRPr lang="en-IN"/>
          </a:p>
        </p:txBody>
      </p:sp>
      <p:sp>
        <p:nvSpPr>
          <p:cNvPr id="5" name="Content Placeholder 2">
            <a:extLst>
              <a:ext uri="{FF2B5EF4-FFF2-40B4-BE49-F238E27FC236}">
                <a16:creationId xmlns:a16="http://schemas.microsoft.com/office/drawing/2014/main" id="{5B9A3B13-A575-AF7F-AD66-2F5EBEF724ED}"/>
              </a:ext>
            </a:extLst>
          </p:cNvPr>
          <p:cNvSpPr txBox="1">
            <a:spLocks/>
          </p:cNvSpPr>
          <p:nvPr/>
        </p:nvSpPr>
        <p:spPr>
          <a:xfrm>
            <a:off x="5977573" y="1992756"/>
            <a:ext cx="4658797" cy="2381761"/>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IN" sz="1200" dirty="0"/>
              <a:t>CO2 (Integer Programming)</a:t>
            </a:r>
          </a:p>
          <a:p>
            <a:pPr lvl="1"/>
            <a:r>
              <a:rPr lang="en-IN" sz="1200" dirty="0"/>
              <a:t>Formulation of integer programming  problems(IPP)</a:t>
            </a:r>
          </a:p>
          <a:p>
            <a:pPr lvl="1"/>
            <a:r>
              <a:rPr lang="en-IN" sz="1200" dirty="0"/>
              <a:t>Finding  optimal  solution to IPP</a:t>
            </a:r>
          </a:p>
          <a:p>
            <a:pPr lvl="2"/>
            <a:r>
              <a:rPr lang="en-IN" sz="1200" dirty="0"/>
              <a:t>Branch and Bound</a:t>
            </a:r>
          </a:p>
          <a:p>
            <a:pPr lvl="2"/>
            <a:r>
              <a:rPr lang="en-IN" sz="1200" dirty="0" err="1"/>
              <a:t>Gomory’s</a:t>
            </a:r>
            <a:r>
              <a:rPr lang="en-IN" sz="1200" dirty="0"/>
              <a:t> cut  method</a:t>
            </a:r>
          </a:p>
          <a:p>
            <a:pPr lvl="1"/>
            <a:r>
              <a:rPr lang="en-IN" sz="1200" dirty="0"/>
              <a:t>Matroids</a:t>
            </a:r>
          </a:p>
          <a:p>
            <a:pPr lvl="1"/>
            <a:r>
              <a:rPr lang="en-IN" sz="1200" dirty="0"/>
              <a:t>Approximation algorithms</a:t>
            </a:r>
          </a:p>
          <a:p>
            <a:pPr marL="914400" lvl="2" indent="0">
              <a:buNone/>
            </a:pPr>
            <a:endParaRPr lang="en-IN" dirty="0"/>
          </a:p>
          <a:p>
            <a:pPr lvl="1"/>
            <a:endParaRPr lang="en-IN" dirty="0"/>
          </a:p>
        </p:txBody>
      </p:sp>
      <p:sp>
        <p:nvSpPr>
          <p:cNvPr id="10" name="Content Placeholder 2">
            <a:extLst>
              <a:ext uri="{FF2B5EF4-FFF2-40B4-BE49-F238E27FC236}">
                <a16:creationId xmlns:a16="http://schemas.microsoft.com/office/drawing/2014/main" id="{295FE16F-B879-1BFC-7118-D7D21981121A}"/>
              </a:ext>
            </a:extLst>
          </p:cNvPr>
          <p:cNvSpPr txBox="1">
            <a:spLocks/>
          </p:cNvSpPr>
          <p:nvPr/>
        </p:nvSpPr>
        <p:spPr>
          <a:xfrm>
            <a:off x="275579" y="4175818"/>
            <a:ext cx="6225930" cy="1985000"/>
          </a:xfrm>
          <a:prstGeom prst="rect">
            <a:avLst/>
          </a:prstGeom>
        </p:spPr>
        <p:txBody>
          <a:bodyPr vert="horz" lIns="91440" tIns="45720" rIns="91440" bIns="45720" rtlCol="0" anchor="t">
            <a:normAutofit fontScale="92500" lnSpcReduction="20000"/>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IN" sz="1200" dirty="0"/>
              <a:t>CO3 (Non-Linear Optimization Problems)</a:t>
            </a:r>
          </a:p>
          <a:p>
            <a:pPr lvl="1"/>
            <a:r>
              <a:rPr lang="en-IN" sz="1200" dirty="0"/>
              <a:t>Introduction to convex  sets, convex  function  and  convex  optimization </a:t>
            </a:r>
          </a:p>
          <a:p>
            <a:pPr lvl="1"/>
            <a:r>
              <a:rPr lang="en-IN" sz="1200" dirty="0"/>
              <a:t>Semi-definite programming, conic  programming, second  order conic programming</a:t>
            </a:r>
          </a:p>
          <a:p>
            <a:pPr lvl="1"/>
            <a:r>
              <a:rPr lang="en-IN" sz="1200" dirty="0"/>
              <a:t>Quadratic programming</a:t>
            </a:r>
          </a:p>
          <a:p>
            <a:pPr lvl="2"/>
            <a:r>
              <a:rPr lang="en-IN" sz="1200" dirty="0"/>
              <a:t>KKT conditions</a:t>
            </a:r>
          </a:p>
          <a:p>
            <a:pPr lvl="2"/>
            <a:r>
              <a:rPr lang="en-IN" sz="1200" dirty="0"/>
              <a:t>Beale’s method</a:t>
            </a:r>
          </a:p>
          <a:p>
            <a:pPr lvl="2"/>
            <a:r>
              <a:rPr lang="en-IN" sz="1200" dirty="0"/>
              <a:t>Wolf method</a:t>
            </a:r>
          </a:p>
          <a:p>
            <a:pPr lvl="1"/>
            <a:r>
              <a:rPr lang="en-IN" sz="1200" dirty="0"/>
              <a:t>Geometric programming</a:t>
            </a:r>
          </a:p>
        </p:txBody>
      </p:sp>
      <p:sp>
        <p:nvSpPr>
          <p:cNvPr id="11" name="Content Placeholder 2">
            <a:extLst>
              <a:ext uri="{FF2B5EF4-FFF2-40B4-BE49-F238E27FC236}">
                <a16:creationId xmlns:a16="http://schemas.microsoft.com/office/drawing/2014/main" id="{764BDC55-0770-69B7-00BB-0624B81EE0CD}"/>
              </a:ext>
            </a:extLst>
          </p:cNvPr>
          <p:cNvSpPr txBox="1">
            <a:spLocks/>
          </p:cNvSpPr>
          <p:nvPr/>
        </p:nvSpPr>
        <p:spPr>
          <a:xfrm>
            <a:off x="5977573" y="4115434"/>
            <a:ext cx="6225930" cy="1985000"/>
          </a:xfrm>
          <a:prstGeom prst="rect">
            <a:avLst/>
          </a:prstGeom>
        </p:spPr>
        <p:txBody>
          <a:bodyPr vert="horz" lIns="91440" tIns="45720" rIns="91440" bIns="45720" rtlCol="0" anchor="t">
            <a:normAutofit lnSpcReduction="10000"/>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r>
              <a:rPr lang="en-IN" sz="1200" dirty="0"/>
              <a:t>CO4 (optimization based search  algorithms)</a:t>
            </a:r>
          </a:p>
          <a:p>
            <a:pPr lvl="1"/>
            <a:r>
              <a:rPr lang="en-IN" sz="1200" dirty="0"/>
              <a:t>Finding  the  global  optimal solution</a:t>
            </a:r>
          </a:p>
          <a:p>
            <a:pPr lvl="2"/>
            <a:r>
              <a:rPr lang="en-IN" sz="1000" dirty="0"/>
              <a:t>Hill  climbing  methods</a:t>
            </a:r>
          </a:p>
          <a:p>
            <a:pPr lvl="2"/>
            <a:r>
              <a:rPr lang="en-IN" sz="1000" dirty="0"/>
              <a:t>Heuristics and meta heuristics</a:t>
            </a:r>
          </a:p>
          <a:p>
            <a:pPr lvl="2"/>
            <a:r>
              <a:rPr lang="en-IN" sz="1000" dirty="0"/>
              <a:t>Simulated  annealing</a:t>
            </a:r>
          </a:p>
          <a:p>
            <a:pPr lvl="2"/>
            <a:r>
              <a:rPr lang="en-IN" sz="1000" dirty="0"/>
              <a:t>Ant  colony optimization</a:t>
            </a:r>
          </a:p>
          <a:p>
            <a:pPr lvl="2"/>
            <a:r>
              <a:rPr lang="en-IN" sz="1000" dirty="0"/>
              <a:t>Evolutionary  Genetic  algorithms</a:t>
            </a:r>
          </a:p>
          <a:p>
            <a:pPr lvl="2"/>
            <a:r>
              <a:rPr lang="en-IN" sz="1000" dirty="0"/>
              <a:t>Particle Swarm  Optimization </a:t>
            </a:r>
          </a:p>
          <a:p>
            <a:pPr lvl="1"/>
            <a:endParaRPr lang="en-IN" sz="1200" dirty="0"/>
          </a:p>
        </p:txBody>
      </p:sp>
    </p:spTree>
    <p:extLst>
      <p:ext uri="{BB962C8B-B14F-4D97-AF65-F5344CB8AC3E}">
        <p14:creationId xmlns:p14="http://schemas.microsoft.com/office/powerpoint/2010/main" val="21795606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DA8A0A-CD9C-5D2B-8C1C-295A48F95636}"/>
              </a:ext>
            </a:extLst>
          </p:cNvPr>
          <p:cNvSpPr>
            <a:spLocks noGrp="1"/>
          </p:cNvSpPr>
          <p:nvPr>
            <p:ph type="title"/>
          </p:nvPr>
        </p:nvSpPr>
        <p:spPr/>
        <p:txBody>
          <a:bodyPr/>
          <a:lstStyle/>
          <a:p>
            <a:r>
              <a:rPr lang="en-IN" dirty="0"/>
              <a:t>Objective </a:t>
            </a:r>
          </a:p>
        </p:txBody>
      </p:sp>
      <p:sp>
        <p:nvSpPr>
          <p:cNvPr id="3" name="Content Placeholder 2">
            <a:extLst>
              <a:ext uri="{FF2B5EF4-FFF2-40B4-BE49-F238E27FC236}">
                <a16:creationId xmlns:a16="http://schemas.microsoft.com/office/drawing/2014/main" id="{B39998F0-176A-A8DA-B3B2-7D55E161BBC4}"/>
              </a:ext>
            </a:extLst>
          </p:cNvPr>
          <p:cNvSpPr>
            <a:spLocks noGrp="1"/>
          </p:cNvSpPr>
          <p:nvPr>
            <p:ph idx="1"/>
          </p:nvPr>
        </p:nvSpPr>
        <p:spPr/>
        <p:txBody>
          <a:bodyPr/>
          <a:lstStyle/>
          <a:p>
            <a:r>
              <a:rPr lang="en-IN" dirty="0"/>
              <a:t>To develop  and  understanding of   linear  programming problem</a:t>
            </a:r>
          </a:p>
          <a:p>
            <a:r>
              <a:rPr lang="en-IN" dirty="0"/>
              <a:t>To  formulate   linear  programming  problem</a:t>
            </a:r>
          </a:p>
        </p:txBody>
      </p:sp>
      <p:sp>
        <p:nvSpPr>
          <p:cNvPr id="4" name="Slide Number Placeholder 3">
            <a:extLst>
              <a:ext uri="{FF2B5EF4-FFF2-40B4-BE49-F238E27FC236}">
                <a16:creationId xmlns:a16="http://schemas.microsoft.com/office/drawing/2014/main" id="{7FAB5127-2FBD-1C27-249B-9CBC701F520C}"/>
              </a:ext>
            </a:extLst>
          </p:cNvPr>
          <p:cNvSpPr>
            <a:spLocks noGrp="1"/>
          </p:cNvSpPr>
          <p:nvPr>
            <p:ph type="sldNum" sz="quarter" idx="12"/>
          </p:nvPr>
        </p:nvSpPr>
        <p:spPr/>
        <p:txBody>
          <a:bodyPr/>
          <a:lstStyle/>
          <a:p>
            <a:fld id="{CBABCCC1-BF11-4F37-963E-1BCD5B23FD72}" type="slidenum">
              <a:rPr lang="en-IN" smtClean="0"/>
              <a:t>5</a:t>
            </a:fld>
            <a:endParaRPr lang="en-IN"/>
          </a:p>
        </p:txBody>
      </p:sp>
    </p:spTree>
    <p:extLst>
      <p:ext uri="{BB962C8B-B14F-4D97-AF65-F5344CB8AC3E}">
        <p14:creationId xmlns:p14="http://schemas.microsoft.com/office/powerpoint/2010/main" val="20184217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Example Problem</a:t>
            </a:r>
          </a:p>
        </p:txBody>
      </p:sp>
      <p:sp>
        <p:nvSpPr>
          <p:cNvPr id="4" name="Slide Number Placeholder 3"/>
          <p:cNvSpPr>
            <a:spLocks noGrp="1"/>
          </p:cNvSpPr>
          <p:nvPr>
            <p:ph type="sldNum" sz="quarter" idx="12"/>
          </p:nvPr>
        </p:nvSpPr>
        <p:spPr/>
        <p:txBody>
          <a:bodyPr/>
          <a:lstStyle/>
          <a:p>
            <a:fld id="{CBABCCC1-BF11-4F37-963E-1BCD5B23FD72}" type="slidenum">
              <a:rPr lang="en-IN" smtClean="0"/>
              <a:t>6</a:t>
            </a:fld>
            <a:endParaRPr lang="en-IN"/>
          </a:p>
        </p:txBody>
      </p:sp>
      <p:sp>
        <p:nvSpPr>
          <p:cNvPr id="6" name="Rectangle 5"/>
          <p:cNvSpPr/>
          <p:nvPr/>
        </p:nvSpPr>
        <p:spPr>
          <a:xfrm>
            <a:off x="1302896" y="1222076"/>
            <a:ext cx="9892146" cy="3539430"/>
          </a:xfrm>
          <a:prstGeom prst="rect">
            <a:avLst/>
          </a:prstGeom>
        </p:spPr>
        <p:txBody>
          <a:bodyPr wrap="square">
            <a:spAutoFit/>
          </a:bodyPr>
          <a:lstStyle/>
          <a:p>
            <a:r>
              <a:rPr lang="en-US" sz="2800" dirty="0"/>
              <a:t>A Company manufactures and sells 2 types of Products A and B;  The cost of production of each unit of A and B is </a:t>
            </a:r>
            <a:r>
              <a:rPr lang="en-IN" sz="2800" dirty="0"/>
              <a:t>$ </a:t>
            </a:r>
            <a:r>
              <a:rPr lang="en-US" sz="2800" dirty="0"/>
              <a:t>200 and </a:t>
            </a:r>
            <a:r>
              <a:rPr lang="en-IN" sz="2800" dirty="0"/>
              <a:t>$500 respectively each unit of A produce a profit of $20 and each unit of b produce a profit of $ 15 on selling. Company estimates the </a:t>
            </a:r>
            <a:r>
              <a:rPr lang="en-IN" sz="2800" dirty="0" err="1"/>
              <a:t>monthely</a:t>
            </a:r>
            <a:r>
              <a:rPr lang="en-IN" sz="2800" dirty="0"/>
              <a:t> demand of A and B to beat a maximum of 500 units in all. The production budget for month is set at $ 50,000. How many units should the company manufactures in order to earn maximum profit from its </a:t>
            </a:r>
            <a:r>
              <a:rPr lang="en-IN" sz="2800" dirty="0" err="1"/>
              <a:t>monthely</a:t>
            </a:r>
            <a:r>
              <a:rPr lang="en-IN" sz="2800" dirty="0"/>
              <a:t> sales of  A and B? </a:t>
            </a:r>
          </a:p>
        </p:txBody>
      </p:sp>
    </p:spTree>
    <p:extLst>
      <p:ext uri="{BB962C8B-B14F-4D97-AF65-F5344CB8AC3E}">
        <p14:creationId xmlns:p14="http://schemas.microsoft.com/office/powerpoint/2010/main" val="26742639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Formulation of LPP</a:t>
            </a:r>
            <a:endParaRPr lang="en-IN" dirty="0"/>
          </a:p>
        </p:txBody>
      </p:sp>
      <p:pic>
        <p:nvPicPr>
          <p:cNvPr id="5" name="Content Placeholder 4"/>
          <p:cNvPicPr>
            <a:picLocks noGrp="1" noChangeAspect="1"/>
          </p:cNvPicPr>
          <p:nvPr>
            <p:ph idx="1"/>
          </p:nvPr>
        </p:nvPicPr>
        <p:blipFill>
          <a:blip r:embed="rId2"/>
          <a:stretch>
            <a:fillRect/>
          </a:stretch>
        </p:blipFill>
        <p:spPr>
          <a:xfrm>
            <a:off x="1077650" y="-925005"/>
            <a:ext cx="10733809" cy="4405890"/>
          </a:xfrm>
          <a:prstGeom prst="rect">
            <a:avLst/>
          </a:prstGeom>
        </p:spPr>
      </p:pic>
      <p:sp>
        <p:nvSpPr>
          <p:cNvPr id="4" name="Slide Number Placeholder 3"/>
          <p:cNvSpPr>
            <a:spLocks noGrp="1"/>
          </p:cNvSpPr>
          <p:nvPr>
            <p:ph type="sldNum" sz="quarter" idx="12"/>
          </p:nvPr>
        </p:nvSpPr>
        <p:spPr/>
        <p:txBody>
          <a:bodyPr/>
          <a:lstStyle/>
          <a:p>
            <a:fld id="{CBABCCC1-BF11-4F37-963E-1BCD5B23FD72}" type="slidenum">
              <a:rPr lang="en-IN" smtClean="0"/>
              <a:t>7</a:t>
            </a:fld>
            <a:endParaRPr lang="en-IN"/>
          </a:p>
        </p:txBody>
      </p:sp>
    </p:spTree>
    <p:extLst>
      <p:ext uri="{BB962C8B-B14F-4D97-AF65-F5344CB8AC3E}">
        <p14:creationId xmlns:p14="http://schemas.microsoft.com/office/powerpoint/2010/main" val="12052940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Formulation of LPP</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t>8</a:t>
            </a:fld>
            <a:endParaRPr lang="en-IN"/>
          </a:p>
        </p:txBody>
      </p:sp>
      <p:pic>
        <p:nvPicPr>
          <p:cNvPr id="7" name="Content Placeholder 6"/>
          <p:cNvPicPr>
            <a:picLocks noGrp="1" noChangeAspect="1"/>
          </p:cNvPicPr>
          <p:nvPr>
            <p:ph idx="1"/>
          </p:nvPr>
        </p:nvPicPr>
        <p:blipFill>
          <a:blip r:embed="rId2"/>
          <a:stretch>
            <a:fillRect/>
          </a:stretch>
        </p:blipFill>
        <p:spPr>
          <a:xfrm>
            <a:off x="1153391" y="1184564"/>
            <a:ext cx="9897216" cy="4281199"/>
          </a:xfrm>
          <a:prstGeom prst="rect">
            <a:avLst/>
          </a:prstGeom>
        </p:spPr>
      </p:pic>
    </p:spTree>
    <p:extLst>
      <p:ext uri="{BB962C8B-B14F-4D97-AF65-F5344CB8AC3E}">
        <p14:creationId xmlns:p14="http://schemas.microsoft.com/office/powerpoint/2010/main" val="16822388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05F1D7-EB7E-B051-C597-E520EAAE24F4}"/>
              </a:ext>
            </a:extLst>
          </p:cNvPr>
          <p:cNvSpPr>
            <a:spLocks noGrp="1"/>
          </p:cNvSpPr>
          <p:nvPr>
            <p:ph type="title"/>
          </p:nvPr>
        </p:nvSpPr>
        <p:spPr/>
        <p:txBody>
          <a:bodyPr/>
          <a:lstStyle/>
          <a:p>
            <a:r>
              <a:rPr lang="en-US" dirty="0"/>
              <a:t>Case study</a:t>
            </a:r>
            <a:endParaRPr lang="en-IN" dirty="0"/>
          </a:p>
        </p:txBody>
      </p:sp>
      <p:sp>
        <p:nvSpPr>
          <p:cNvPr id="3" name="Content Placeholder 2">
            <a:extLst>
              <a:ext uri="{FF2B5EF4-FFF2-40B4-BE49-F238E27FC236}">
                <a16:creationId xmlns:a16="http://schemas.microsoft.com/office/drawing/2014/main" id="{378499EB-4A3A-67CE-F01F-710D152ED1F9}"/>
              </a:ext>
            </a:extLst>
          </p:cNvPr>
          <p:cNvSpPr>
            <a:spLocks noGrp="1"/>
          </p:cNvSpPr>
          <p:nvPr>
            <p:ph idx="1"/>
          </p:nvPr>
        </p:nvSpPr>
        <p:spPr>
          <a:xfrm>
            <a:off x="124691" y="924790"/>
            <a:ext cx="11565082" cy="5220875"/>
          </a:xfrm>
        </p:spPr>
        <p:txBody>
          <a:bodyPr>
            <a:normAutofit fontScale="92500" lnSpcReduction="20000"/>
          </a:bodyPr>
          <a:lstStyle/>
          <a:p>
            <a:pPr marL="0" indent="0" algn="just">
              <a:buNone/>
            </a:pPr>
            <a:r>
              <a:rPr lang="en-US" sz="2400" dirty="0"/>
              <a:t>A small cooperative craft workshop makes two types of table: a standard rectangular table and a de luxe circular table. The market can absorb as many of either type of table as the workshop can produce, and so we can assume unlimited demand.  Each type of table is made from the same wood and, once the wood has been cut, each table has to go through </a:t>
            </a:r>
            <a:r>
              <a:rPr lang="en-US" sz="2400" dirty="0">
                <a:solidFill>
                  <a:srgbClr val="FF0000"/>
                </a:solidFill>
              </a:rPr>
              <a:t>three processes: joinery, pre ﬁnishing and ﬁnal ﬁnishing </a:t>
            </a:r>
            <a:r>
              <a:rPr lang="en-US" sz="2400" dirty="0"/>
              <a:t>(in that order). Suﬃcient cut wood is always available. </a:t>
            </a:r>
          </a:p>
          <a:p>
            <a:pPr marL="0" indent="0" algn="just">
              <a:buNone/>
            </a:pPr>
            <a:r>
              <a:rPr lang="en-US" sz="2400" dirty="0"/>
              <a:t>Each </a:t>
            </a:r>
            <a:r>
              <a:rPr lang="en-US" sz="2400" dirty="0">
                <a:solidFill>
                  <a:srgbClr val="00B050"/>
                </a:solidFill>
              </a:rPr>
              <a:t>rectangular table </a:t>
            </a:r>
            <a:r>
              <a:rPr lang="en-US" sz="2400" dirty="0">
                <a:solidFill>
                  <a:srgbClr val="FF0000"/>
                </a:solidFill>
              </a:rPr>
              <a:t>takes 2 hours for joinery, 40 minutes for pre ﬁnishing and 5 hours 20 minutes</a:t>
            </a:r>
            <a:r>
              <a:rPr lang="en-US" sz="2400" dirty="0"/>
              <a:t> for ﬁnal ﬁnishing. </a:t>
            </a:r>
            <a:r>
              <a:rPr lang="en-US" sz="2400" dirty="0">
                <a:solidFill>
                  <a:srgbClr val="00B050"/>
                </a:solidFill>
              </a:rPr>
              <a:t>Each circular table requires </a:t>
            </a:r>
            <a:r>
              <a:rPr lang="en-US" sz="2400" dirty="0">
                <a:solidFill>
                  <a:srgbClr val="FF0000"/>
                </a:solidFill>
              </a:rPr>
              <a:t>3 hours for joinery, 2 hours for pre-ﬁnishing and 4 hours for ﬁnal ﬁnishing</a:t>
            </a:r>
            <a:r>
              <a:rPr lang="en-US" sz="2400" dirty="0"/>
              <a:t>. The workshop employs </a:t>
            </a:r>
            <a:r>
              <a:rPr lang="en-US" sz="2400" dirty="0">
                <a:solidFill>
                  <a:srgbClr val="FF0000"/>
                </a:solidFill>
              </a:rPr>
              <a:t>ﬁve joiners, two sanders and eight polishers</a:t>
            </a:r>
            <a:r>
              <a:rPr lang="en-US" sz="2400" dirty="0"/>
              <a:t>. The </a:t>
            </a:r>
            <a:r>
              <a:rPr lang="en-US" sz="2400" dirty="0">
                <a:solidFill>
                  <a:srgbClr val="0070C0"/>
                </a:solidFill>
              </a:rPr>
              <a:t>joiners each work a ﬁxed six-hour day</a:t>
            </a:r>
            <a:r>
              <a:rPr lang="en-US" sz="2400" dirty="0"/>
              <a:t>, while </a:t>
            </a:r>
            <a:r>
              <a:rPr lang="en-US" sz="2400" dirty="0">
                <a:solidFill>
                  <a:srgbClr val="0070C0"/>
                </a:solidFill>
              </a:rPr>
              <a:t>the sanders and polishers each work a ﬁxed eight-hour day </a:t>
            </a:r>
            <a:r>
              <a:rPr lang="en-US" sz="2400" dirty="0"/>
              <a:t>on the pre ﬁnishing and ﬁnal ﬁnishing respectively. No overtime is worked, and full six-hour or eight-hour days are worked by each employee irrespective of whether there is work for that employee to do. All running costs, including wages, are ﬁxed. The cooperative sells each rectangular table for £120 and each circular table for £150. How many of each type of table should it produce each day in order to maximize its proﬁt?</a:t>
            </a:r>
          </a:p>
          <a:p>
            <a:pPr lvl="1" algn="just"/>
            <a:endParaRPr lang="en-IN" dirty="0"/>
          </a:p>
          <a:p>
            <a:endParaRPr lang="en-IN" dirty="0"/>
          </a:p>
        </p:txBody>
      </p:sp>
      <p:sp>
        <p:nvSpPr>
          <p:cNvPr id="4" name="Slide Number Placeholder 3">
            <a:extLst>
              <a:ext uri="{FF2B5EF4-FFF2-40B4-BE49-F238E27FC236}">
                <a16:creationId xmlns:a16="http://schemas.microsoft.com/office/drawing/2014/main" id="{44761075-AD78-C29B-0DF4-58AD31F7C3C3}"/>
              </a:ext>
            </a:extLst>
          </p:cNvPr>
          <p:cNvSpPr>
            <a:spLocks noGrp="1"/>
          </p:cNvSpPr>
          <p:nvPr>
            <p:ph type="sldNum" sz="quarter" idx="12"/>
          </p:nvPr>
        </p:nvSpPr>
        <p:spPr/>
        <p:txBody>
          <a:bodyPr/>
          <a:lstStyle/>
          <a:p>
            <a:fld id="{CBABCCC1-BF11-4F37-963E-1BCD5B23FD72}" type="slidenum">
              <a:rPr lang="en-IN" smtClean="0"/>
              <a:t>9</a:t>
            </a:fld>
            <a:endParaRPr lang="en-IN"/>
          </a:p>
        </p:txBody>
      </p:sp>
    </p:spTree>
    <p:extLst>
      <p:ext uri="{BB962C8B-B14F-4D97-AF65-F5344CB8AC3E}">
        <p14:creationId xmlns:p14="http://schemas.microsoft.com/office/powerpoint/2010/main" val="27483967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DC149-8E7F-F7A0-EDFE-6ACE24194F93}"/>
              </a:ext>
            </a:extLst>
          </p:cNvPr>
          <p:cNvSpPr>
            <a:spLocks noGrp="1"/>
          </p:cNvSpPr>
          <p:nvPr>
            <p:ph type="title"/>
          </p:nvPr>
        </p:nvSpPr>
        <p:spPr/>
        <p:txBody>
          <a:bodyPr/>
          <a:lstStyle/>
          <a:p>
            <a:r>
              <a:rPr lang="en-IN" dirty="0"/>
              <a:t>Formulating  Objective function</a:t>
            </a:r>
          </a:p>
        </p:txBody>
      </p:sp>
      <p:sp>
        <p:nvSpPr>
          <p:cNvPr id="3" name="Content Placeholder 2">
            <a:extLst>
              <a:ext uri="{FF2B5EF4-FFF2-40B4-BE49-F238E27FC236}">
                <a16:creationId xmlns:a16="http://schemas.microsoft.com/office/drawing/2014/main" id="{0A812045-4163-6895-4150-418A465AADD3}"/>
              </a:ext>
            </a:extLst>
          </p:cNvPr>
          <p:cNvSpPr>
            <a:spLocks noGrp="1"/>
          </p:cNvSpPr>
          <p:nvPr>
            <p:ph idx="1"/>
          </p:nvPr>
        </p:nvSpPr>
        <p:spPr>
          <a:xfrm>
            <a:off x="249383" y="1184564"/>
            <a:ext cx="10805472" cy="4281781"/>
          </a:xfrm>
        </p:spPr>
        <p:txBody>
          <a:bodyPr>
            <a:normAutofit/>
          </a:bodyPr>
          <a:lstStyle/>
          <a:p>
            <a:pPr algn="just"/>
            <a:r>
              <a:rPr lang="en-US" dirty="0"/>
              <a:t>The quantity to be optimized in a mathematical programming problem is known as the objective function, and the objective is to optimize this function.</a:t>
            </a:r>
          </a:p>
          <a:p>
            <a:pPr algn="just"/>
            <a:r>
              <a:rPr lang="en-US" b="1" dirty="0"/>
              <a:t>The ﬁrst step in formulating a linear programming model is to identify the objective and it’s objective function.</a:t>
            </a:r>
          </a:p>
          <a:p>
            <a:pPr algn="just"/>
            <a:r>
              <a:rPr lang="en-US" dirty="0"/>
              <a:t>In this example, we want to maximize the daily proﬁt, so we could take maximizing the daily product as the objective and the daily proﬁt as the objective function. </a:t>
            </a:r>
          </a:p>
          <a:p>
            <a:pPr algn="just"/>
            <a:r>
              <a:rPr lang="en-US" dirty="0"/>
              <a:t>However, the daily proﬁt is equal to the daily income from selling tables less the ﬁxed daily running costs (including the cost of wood and wages). So, since the running costs are ﬁxed, maximizing daily proﬁt is equivalent to maximizing daily income. </a:t>
            </a:r>
            <a:endParaRPr lang="en-IN" dirty="0"/>
          </a:p>
          <a:p>
            <a:endParaRPr lang="en-IN" dirty="0"/>
          </a:p>
        </p:txBody>
      </p:sp>
      <p:sp>
        <p:nvSpPr>
          <p:cNvPr id="4" name="Slide Number Placeholder 3">
            <a:extLst>
              <a:ext uri="{FF2B5EF4-FFF2-40B4-BE49-F238E27FC236}">
                <a16:creationId xmlns:a16="http://schemas.microsoft.com/office/drawing/2014/main" id="{D37E2534-E532-865B-BF33-4D1BE8B9CFE9}"/>
              </a:ext>
            </a:extLst>
          </p:cNvPr>
          <p:cNvSpPr>
            <a:spLocks noGrp="1"/>
          </p:cNvSpPr>
          <p:nvPr>
            <p:ph type="sldNum" sz="quarter" idx="12"/>
          </p:nvPr>
        </p:nvSpPr>
        <p:spPr/>
        <p:txBody>
          <a:bodyPr/>
          <a:lstStyle/>
          <a:p>
            <a:fld id="{CBABCCC1-BF11-4F37-963E-1BCD5B23FD72}" type="slidenum">
              <a:rPr lang="en-IN" smtClean="0"/>
              <a:t>10</a:t>
            </a:fld>
            <a:endParaRPr lang="en-IN"/>
          </a:p>
        </p:txBody>
      </p:sp>
    </p:spTree>
    <p:extLst>
      <p:ext uri="{BB962C8B-B14F-4D97-AF65-F5344CB8AC3E}">
        <p14:creationId xmlns:p14="http://schemas.microsoft.com/office/powerpoint/2010/main" val="41559905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sz="2000" dirty="0"/>
              <a:t>Some commonly used terms in linear programming problems are</a:t>
            </a:r>
            <a:br>
              <a:rPr lang="en-IN" dirty="0"/>
            </a:br>
            <a:endParaRPr lang="en-IN" dirty="0"/>
          </a:p>
        </p:txBody>
      </p:sp>
      <p:sp>
        <p:nvSpPr>
          <p:cNvPr id="3" name="Content Placeholder 2"/>
          <p:cNvSpPr>
            <a:spLocks noGrp="1"/>
          </p:cNvSpPr>
          <p:nvPr>
            <p:ph idx="1"/>
          </p:nvPr>
        </p:nvSpPr>
        <p:spPr>
          <a:xfrm>
            <a:off x="394855" y="1309255"/>
            <a:ext cx="11336481" cy="4686299"/>
          </a:xfrm>
        </p:spPr>
        <p:txBody>
          <a:bodyPr>
            <a:normAutofit/>
          </a:bodyPr>
          <a:lstStyle/>
          <a:p>
            <a:pPr fontAlgn="base"/>
            <a:r>
              <a:rPr lang="en-IN" b="1" dirty="0"/>
              <a:t>Objective function:</a:t>
            </a:r>
            <a:r>
              <a:rPr lang="en-IN" dirty="0"/>
              <a:t> The direct function of form Z = </a:t>
            </a:r>
            <a:r>
              <a:rPr lang="en-IN" dirty="0" err="1"/>
              <a:t>ax</a:t>
            </a:r>
            <a:r>
              <a:rPr lang="en-IN" dirty="0"/>
              <a:t> + by, where a and b are constant, which is reduced or enlarged is called the objective function. For example, if Z = 13x + 21y. The variables x and y are called the decision variable.</a:t>
            </a:r>
          </a:p>
          <a:p>
            <a:pPr fontAlgn="base"/>
            <a:r>
              <a:rPr lang="en-IN" b="1" dirty="0"/>
              <a:t>Constraints:</a:t>
            </a:r>
            <a:r>
              <a:rPr lang="en-IN" dirty="0"/>
              <a:t> The restrictions that are applied to a linear inequality are called constraints.</a:t>
            </a:r>
          </a:p>
          <a:p>
            <a:pPr marL="0" lvl="0" indent="0" fontAlgn="base">
              <a:buNone/>
            </a:pPr>
            <a:r>
              <a:rPr lang="en-IN" dirty="0"/>
              <a:t>	Non-negative constraints: x &gt; 0, y &gt; 0 etc.</a:t>
            </a:r>
          </a:p>
          <a:p>
            <a:pPr marL="0" lvl="0" indent="0" fontAlgn="base">
              <a:buNone/>
            </a:pPr>
            <a:r>
              <a:rPr lang="en-IN" dirty="0"/>
              <a:t>	General constraints: x + y &gt; 30, 3x + 4y ≥ 20 etc.</a:t>
            </a:r>
          </a:p>
          <a:p>
            <a:pPr fontAlgn="base"/>
            <a:r>
              <a:rPr lang="en-IN" b="1" dirty="0"/>
              <a:t>Optimization problem: </a:t>
            </a:r>
            <a:r>
              <a:rPr lang="en-IN" dirty="0"/>
              <a:t>A problem that seeks to maximization or minimization of variables of linear inequality problem is called optimization problems.</a:t>
            </a:r>
          </a:p>
          <a:p>
            <a:pPr fontAlgn="base"/>
            <a:r>
              <a:rPr lang="en-IN" b="1" dirty="0"/>
              <a:t>Optimal (most feasible) solution: </a:t>
            </a:r>
            <a:r>
              <a:rPr lang="en-IN" dirty="0"/>
              <a:t>Any point in the emerging region that provides the right amount (maximum or minimum) of the objective function is called the optimal solution.</a:t>
            </a:r>
          </a:p>
          <a:p>
            <a:pPr marL="0" indent="0">
              <a:buNone/>
            </a:pPr>
            <a:endParaRPr lang="en-IN" dirty="0"/>
          </a:p>
          <a:p>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t>11</a:t>
            </a:fld>
            <a:endParaRPr lang="en-IN"/>
          </a:p>
        </p:txBody>
      </p:sp>
    </p:spTree>
    <p:extLst>
      <p:ext uri="{BB962C8B-B14F-4D97-AF65-F5344CB8AC3E}">
        <p14:creationId xmlns:p14="http://schemas.microsoft.com/office/powerpoint/2010/main" val="33383005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6F523D-0EFC-7B9B-C637-E7BD96B10A5E}"/>
              </a:ext>
            </a:extLst>
          </p:cNvPr>
          <p:cNvSpPr>
            <a:spLocks noGrp="1"/>
          </p:cNvSpPr>
          <p:nvPr>
            <p:ph type="title"/>
          </p:nvPr>
        </p:nvSpPr>
        <p:spPr/>
        <p:txBody>
          <a:bodyPr/>
          <a:lstStyle/>
          <a:p>
            <a:r>
              <a:rPr lang="en-IN" dirty="0"/>
              <a:t>Objective function (Cont..)</a:t>
            </a:r>
          </a:p>
        </p:txBody>
      </p:sp>
      <p:sp>
        <p:nvSpPr>
          <p:cNvPr id="3" name="Content Placeholder 2">
            <a:extLst>
              <a:ext uri="{FF2B5EF4-FFF2-40B4-BE49-F238E27FC236}">
                <a16:creationId xmlns:a16="http://schemas.microsoft.com/office/drawing/2014/main" id="{CEC49E7C-186C-EC5C-943C-DFB2D1E0C96F}"/>
              </a:ext>
            </a:extLst>
          </p:cNvPr>
          <p:cNvSpPr>
            <a:spLocks noGrp="1"/>
          </p:cNvSpPr>
          <p:nvPr>
            <p:ph idx="1"/>
          </p:nvPr>
        </p:nvSpPr>
        <p:spPr>
          <a:xfrm>
            <a:off x="332509" y="1153392"/>
            <a:ext cx="11617036" cy="4769426"/>
          </a:xfrm>
        </p:spPr>
        <p:txBody>
          <a:bodyPr>
            <a:normAutofit/>
          </a:bodyPr>
          <a:lstStyle/>
          <a:p>
            <a:pPr algn="just"/>
            <a:r>
              <a:rPr lang="en-US" dirty="0"/>
              <a:t>As omitting the ﬁxed running costs will simplify the model, we shall therefore take the objective to be to maximize daily product and the objective function to the daily income.</a:t>
            </a:r>
          </a:p>
          <a:p>
            <a:pPr algn="just"/>
            <a:r>
              <a:rPr lang="en-US" dirty="0"/>
              <a:t>The second step is to identify the variables, other than the objective function, and to specify their units of measurement.</a:t>
            </a:r>
          </a:p>
          <a:p>
            <a:pPr algn="just"/>
            <a:r>
              <a:rPr lang="en-US" dirty="0"/>
              <a:t>In this example, the only variables are the numbers of tables of each type made per day.</a:t>
            </a:r>
          </a:p>
          <a:p>
            <a:pPr algn="just"/>
            <a:r>
              <a:rPr lang="en-US" dirty="0"/>
              <a:t>The third step is to identify the constraints and parameters. In this example the only constraints are the numbers of person-hours available for joinery, pre ﬁnishing and ﬁnal ﬁnishing each day. The parameters are the time it takes for each process for each type of table, the hours available for each process each day, and the selling prices of the tables</a:t>
            </a:r>
            <a:endParaRPr lang="en-IN" dirty="0"/>
          </a:p>
          <a:p>
            <a:endParaRPr lang="en-IN" dirty="0"/>
          </a:p>
        </p:txBody>
      </p:sp>
      <p:sp>
        <p:nvSpPr>
          <p:cNvPr id="4" name="Slide Number Placeholder 3">
            <a:extLst>
              <a:ext uri="{FF2B5EF4-FFF2-40B4-BE49-F238E27FC236}">
                <a16:creationId xmlns:a16="http://schemas.microsoft.com/office/drawing/2014/main" id="{80113FD9-3E5E-4D9F-7EE6-1BE812860EAE}"/>
              </a:ext>
            </a:extLst>
          </p:cNvPr>
          <p:cNvSpPr>
            <a:spLocks noGrp="1"/>
          </p:cNvSpPr>
          <p:nvPr>
            <p:ph type="sldNum" sz="quarter" idx="12"/>
          </p:nvPr>
        </p:nvSpPr>
        <p:spPr/>
        <p:txBody>
          <a:bodyPr/>
          <a:lstStyle/>
          <a:p>
            <a:fld id="{CBABCCC1-BF11-4F37-963E-1BCD5B23FD72}" type="slidenum">
              <a:rPr lang="en-IN" smtClean="0"/>
              <a:t>12</a:t>
            </a:fld>
            <a:endParaRPr lang="en-IN"/>
          </a:p>
        </p:txBody>
      </p:sp>
    </p:spTree>
    <p:extLst>
      <p:ext uri="{BB962C8B-B14F-4D97-AF65-F5344CB8AC3E}">
        <p14:creationId xmlns:p14="http://schemas.microsoft.com/office/powerpoint/2010/main" val="38386183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5B491D-D678-AAC2-20EC-7424C69E3B6E}"/>
              </a:ext>
            </a:extLst>
          </p:cNvPr>
          <p:cNvSpPr>
            <a:spLocks noGrp="1"/>
          </p:cNvSpPr>
          <p:nvPr>
            <p:ph type="title"/>
          </p:nvPr>
        </p:nvSpPr>
        <p:spPr/>
        <p:txBody>
          <a:bodyPr/>
          <a:lstStyle/>
          <a:p>
            <a:r>
              <a:rPr lang="en-IN" dirty="0"/>
              <a:t>Decision Variables</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E0A43607-81C7-7BA0-8772-877D92CF041E}"/>
                  </a:ext>
                </a:extLst>
              </p:cNvPr>
              <p:cNvSpPr>
                <a:spLocks noGrp="1"/>
              </p:cNvSpPr>
              <p:nvPr>
                <p:ph idx="1"/>
              </p:nvPr>
            </p:nvSpPr>
            <p:spPr>
              <a:xfrm>
                <a:off x="342901" y="1236518"/>
                <a:ext cx="11627426" cy="4810991"/>
              </a:xfrm>
            </p:spPr>
            <p:txBody>
              <a:bodyPr>
                <a:normAutofit/>
              </a:bodyPr>
              <a:lstStyle/>
              <a:p>
                <a:r>
                  <a:rPr lang="en-US" dirty="0"/>
                  <a:t>The fourth step is to assign algebraic symbols to the objective function, the variables and, if necessary, the parameters. It is usual in linear programming to use z for the objective function and x1, x2, ... for the variables. So, in this case, we have:</a:t>
                </a:r>
              </a:p>
              <a:p>
                <a14:m>
                  <m:oMath xmlns:m="http://schemas.openxmlformats.org/officeDocument/2006/math">
                    <m:r>
                      <a:rPr lang="en-US" b="0" i="1" smtClean="0">
                        <a:latin typeface="Cambria Math" panose="02040503050406030204" pitchFamily="18" charset="0"/>
                      </a:rPr>
                      <m:t>𝑧</m:t>
                    </m:r>
                  </m:oMath>
                </a14:m>
                <a:r>
                  <a:rPr lang="en-US" dirty="0"/>
                  <a:t> the daily income, in pounds </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a14:m>
                <a:r>
                  <a:rPr lang="en-US" dirty="0"/>
                  <a:t> the number of rectangular tables made per day </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a14:m>
                <a:r>
                  <a:rPr lang="en-US" dirty="0"/>
                  <a:t> the number of circular tables made per day.</a:t>
                </a:r>
              </a:p>
              <a:p>
                <a:endParaRPr lang="en-US" sz="1100" dirty="0"/>
              </a:p>
              <a:p>
                <a:r>
                  <a:rPr lang="en-US" dirty="0"/>
                  <a:t>We shall therefore adopt this approach here, so that, usually, instead of assigning symbols to the parameters, we shall state their numerical values in a table that relates them to the variables, the objective function and the constraints, as in the following Table .</a:t>
                </a:r>
              </a:p>
              <a:p>
                <a:endParaRPr lang="en-IN" dirty="0"/>
              </a:p>
            </p:txBody>
          </p:sp>
        </mc:Choice>
        <mc:Fallback xmlns="">
          <p:sp>
            <p:nvSpPr>
              <p:cNvPr id="3" name="Content Placeholder 2">
                <a:extLst>
                  <a:ext uri="{FF2B5EF4-FFF2-40B4-BE49-F238E27FC236}">
                    <a16:creationId xmlns:a16="http://schemas.microsoft.com/office/drawing/2014/main" xmlns="" id="{E0A43607-81C7-7BA0-8772-877D92CF041E}"/>
                  </a:ext>
                </a:extLst>
              </p:cNvPr>
              <p:cNvSpPr>
                <a:spLocks noGrp="1" noRot="1" noChangeAspect="1" noMove="1" noResize="1" noEditPoints="1" noAdjustHandles="1" noChangeArrowheads="1" noChangeShapeType="1" noTextEdit="1"/>
              </p:cNvSpPr>
              <p:nvPr>
                <p:ph idx="1"/>
              </p:nvPr>
            </p:nvSpPr>
            <p:spPr>
              <a:xfrm>
                <a:off x="342901" y="1236518"/>
                <a:ext cx="11627426" cy="4810991"/>
              </a:xfrm>
              <a:blipFill rotWithShape="0">
                <a:blip r:embed="rId2"/>
                <a:stretch>
                  <a:fillRect l="-472" t="-127" r="-1101"/>
                </a:stretch>
              </a:blipFill>
            </p:spPr>
            <p:txBody>
              <a:bodyPr/>
              <a:lstStyle/>
              <a:p>
                <a:r>
                  <a:rPr lang="en-IN">
                    <a:noFill/>
                  </a:rPr>
                  <a:t> </a:t>
                </a:r>
              </a:p>
            </p:txBody>
          </p:sp>
        </mc:Fallback>
      </mc:AlternateContent>
      <p:sp>
        <p:nvSpPr>
          <p:cNvPr id="4" name="Slide Number Placeholder 3">
            <a:extLst>
              <a:ext uri="{FF2B5EF4-FFF2-40B4-BE49-F238E27FC236}">
                <a16:creationId xmlns:a16="http://schemas.microsoft.com/office/drawing/2014/main" id="{38EC4234-8C8E-BED2-7495-5D7FC0242AB2}"/>
              </a:ext>
            </a:extLst>
          </p:cNvPr>
          <p:cNvSpPr>
            <a:spLocks noGrp="1"/>
          </p:cNvSpPr>
          <p:nvPr>
            <p:ph type="sldNum" sz="quarter" idx="12"/>
          </p:nvPr>
        </p:nvSpPr>
        <p:spPr/>
        <p:txBody>
          <a:bodyPr/>
          <a:lstStyle/>
          <a:p>
            <a:fld id="{CBABCCC1-BF11-4F37-963E-1BCD5B23FD72}" type="slidenum">
              <a:rPr lang="en-IN" smtClean="0"/>
              <a:t>13</a:t>
            </a:fld>
            <a:endParaRPr lang="en-IN"/>
          </a:p>
        </p:txBody>
      </p:sp>
    </p:spTree>
    <p:extLst>
      <p:ext uri="{BB962C8B-B14F-4D97-AF65-F5344CB8AC3E}">
        <p14:creationId xmlns:p14="http://schemas.microsoft.com/office/powerpoint/2010/main" val="28518714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9478AC-8E6A-D580-3D1B-6DA9089D6D00}"/>
              </a:ext>
            </a:extLst>
          </p:cNvPr>
          <p:cNvSpPr>
            <a:spLocks noGrp="1"/>
          </p:cNvSpPr>
          <p:nvPr>
            <p:ph type="title"/>
          </p:nvPr>
        </p:nvSpPr>
        <p:spPr/>
        <p:txBody>
          <a:bodyPr/>
          <a:lstStyle/>
          <a:p>
            <a:r>
              <a:rPr lang="en-IN" dirty="0"/>
              <a:t>Tabulating  data  for  formulation</a:t>
            </a:r>
          </a:p>
        </p:txBody>
      </p:sp>
      <p:sp>
        <p:nvSpPr>
          <p:cNvPr id="3" name="Content Placeholder 2">
            <a:extLst>
              <a:ext uri="{FF2B5EF4-FFF2-40B4-BE49-F238E27FC236}">
                <a16:creationId xmlns:a16="http://schemas.microsoft.com/office/drawing/2014/main" id="{55C53EF3-E2CD-F79A-2A1C-C693A8163036}"/>
              </a:ext>
            </a:extLst>
          </p:cNvPr>
          <p:cNvSpPr>
            <a:spLocks noGrp="1"/>
          </p:cNvSpPr>
          <p:nvPr>
            <p:ph idx="1"/>
          </p:nvPr>
        </p:nvSpPr>
        <p:spPr>
          <a:xfrm>
            <a:off x="1451579" y="3036498"/>
            <a:ext cx="9603275" cy="2429847"/>
          </a:xfrm>
        </p:spPr>
        <p:txBody>
          <a:bodyPr>
            <a:normAutofit/>
          </a:bodyPr>
          <a:lstStyle/>
          <a:p>
            <a:pPr marL="0" algn="l" rtl="0" eaLnBrk="1" fontAlgn="t" latinLnBrk="0" hangingPunct="1">
              <a:spcBef>
                <a:spcPts val="0"/>
              </a:spcBef>
              <a:spcAft>
                <a:spcPts val="0"/>
              </a:spcAft>
            </a:pPr>
            <a:endParaRPr lang="en-IN" sz="1800" b="0" i="0" u="none" strike="noStrike" dirty="0">
              <a:effectLst/>
              <a:latin typeface="Arial" panose="020B0604020202020204" pitchFamily="34" charset="0"/>
            </a:endParaRPr>
          </a:p>
          <a:p>
            <a:pPr marL="0" algn="l" rtl="0" eaLnBrk="1" fontAlgn="t" latinLnBrk="0" hangingPunct="1">
              <a:spcBef>
                <a:spcPts val="0"/>
              </a:spcBef>
              <a:spcAft>
                <a:spcPts val="0"/>
              </a:spcAft>
            </a:pPr>
            <a:r>
              <a:rPr lang="en-IN" sz="1800" b="1" i="0" u="none" strike="noStrike" kern="1200" dirty="0">
                <a:solidFill>
                  <a:srgbClr val="FFFFFF"/>
                </a:solidFill>
                <a:effectLst/>
                <a:latin typeface="Calibri" panose="020F0502020204030204" pitchFamily="34" charset="0"/>
              </a:rPr>
              <a:t>Rectangle Table</a:t>
            </a:r>
            <a:endParaRPr lang="en-IN" sz="1800" b="0" i="0" u="none" strike="noStrike" dirty="0">
              <a:effectLst/>
              <a:latin typeface="Arial" panose="020B0604020202020204" pitchFamily="34" charset="0"/>
            </a:endParaRPr>
          </a:p>
          <a:p>
            <a:endParaRPr lang="en-IN" dirty="0"/>
          </a:p>
        </p:txBody>
      </p:sp>
      <p:sp>
        <p:nvSpPr>
          <p:cNvPr id="4" name="Slide Number Placeholder 3">
            <a:extLst>
              <a:ext uri="{FF2B5EF4-FFF2-40B4-BE49-F238E27FC236}">
                <a16:creationId xmlns:a16="http://schemas.microsoft.com/office/drawing/2014/main" id="{548204A5-135E-DB51-2CD0-E5BE383B04E2}"/>
              </a:ext>
            </a:extLst>
          </p:cNvPr>
          <p:cNvSpPr>
            <a:spLocks noGrp="1"/>
          </p:cNvSpPr>
          <p:nvPr>
            <p:ph type="sldNum" sz="quarter" idx="12"/>
          </p:nvPr>
        </p:nvSpPr>
        <p:spPr/>
        <p:txBody>
          <a:bodyPr/>
          <a:lstStyle/>
          <a:p>
            <a:fld id="{CBABCCC1-BF11-4F37-963E-1BCD5B23FD72}" type="slidenum">
              <a:rPr lang="en-IN" smtClean="0"/>
              <a:t>14</a:t>
            </a:fld>
            <a:endParaRPr lang="en-IN"/>
          </a:p>
        </p:txBody>
      </p:sp>
      <p:graphicFrame>
        <p:nvGraphicFramePr>
          <p:cNvPr id="5" name="Table 4">
            <a:extLst>
              <a:ext uri="{FF2B5EF4-FFF2-40B4-BE49-F238E27FC236}">
                <a16:creationId xmlns:a16="http://schemas.microsoft.com/office/drawing/2014/main" id="{A4D4881D-6CC7-C0BE-1B00-C2189B264C59}"/>
              </a:ext>
            </a:extLst>
          </p:cNvPr>
          <p:cNvGraphicFramePr>
            <a:graphicFrameLocks noGrp="1"/>
          </p:cNvGraphicFramePr>
          <p:nvPr>
            <p:extLst>
              <p:ext uri="{D42A27DB-BD31-4B8C-83A1-F6EECF244321}">
                <p14:modId xmlns:p14="http://schemas.microsoft.com/office/powerpoint/2010/main" val="2454047474"/>
              </p:ext>
            </p:extLst>
          </p:nvPr>
        </p:nvGraphicFramePr>
        <p:xfrm>
          <a:off x="855322" y="1288475"/>
          <a:ext cx="10317019" cy="2119744"/>
        </p:xfrm>
        <a:graphic>
          <a:graphicData uri="http://schemas.openxmlformats.org/drawingml/2006/table">
            <a:tbl>
              <a:tblPr firstRow="1" bandRow="1">
                <a:tableStyleId>{5C22544A-7EE6-4342-B048-85BDC9FD1C3A}</a:tableStyleId>
              </a:tblPr>
              <a:tblGrid>
                <a:gridCol w="2403409">
                  <a:extLst>
                    <a:ext uri="{9D8B030D-6E8A-4147-A177-3AD203B41FA5}">
                      <a16:colId xmlns:a16="http://schemas.microsoft.com/office/drawing/2014/main" val="294507724"/>
                    </a:ext>
                  </a:extLst>
                </a:gridCol>
                <a:gridCol w="2403409">
                  <a:extLst>
                    <a:ext uri="{9D8B030D-6E8A-4147-A177-3AD203B41FA5}">
                      <a16:colId xmlns:a16="http://schemas.microsoft.com/office/drawing/2014/main" val="1151295422"/>
                    </a:ext>
                  </a:extLst>
                </a:gridCol>
                <a:gridCol w="2403409">
                  <a:extLst>
                    <a:ext uri="{9D8B030D-6E8A-4147-A177-3AD203B41FA5}">
                      <a16:colId xmlns:a16="http://schemas.microsoft.com/office/drawing/2014/main" val="3292852308"/>
                    </a:ext>
                  </a:extLst>
                </a:gridCol>
                <a:gridCol w="3106792">
                  <a:extLst>
                    <a:ext uri="{9D8B030D-6E8A-4147-A177-3AD203B41FA5}">
                      <a16:colId xmlns:a16="http://schemas.microsoft.com/office/drawing/2014/main" val="1972670689"/>
                    </a:ext>
                  </a:extLst>
                </a:gridCol>
              </a:tblGrid>
              <a:tr h="416222">
                <a:tc>
                  <a:txBody>
                    <a:bodyPr/>
                    <a:lstStyle/>
                    <a:p>
                      <a:endParaRPr lang="en-IN" dirty="0"/>
                    </a:p>
                  </a:txBody>
                  <a:tcPr/>
                </a:tc>
                <a:tc>
                  <a:txBody>
                    <a:bodyPr/>
                    <a:lstStyle/>
                    <a:p>
                      <a:r>
                        <a:rPr lang="en-IN" dirty="0"/>
                        <a:t>Rectangle Table</a:t>
                      </a:r>
                    </a:p>
                  </a:txBody>
                  <a:tcPr/>
                </a:tc>
                <a:tc>
                  <a:txBody>
                    <a:bodyPr/>
                    <a:lstStyle/>
                    <a:p>
                      <a:r>
                        <a:rPr lang="en-IN" dirty="0"/>
                        <a:t>Circular Table</a:t>
                      </a:r>
                    </a:p>
                  </a:txBody>
                  <a:tcPr/>
                </a:tc>
                <a:tc>
                  <a:txBody>
                    <a:bodyPr/>
                    <a:lstStyle/>
                    <a:p>
                      <a:r>
                        <a:rPr lang="en-IN" dirty="0"/>
                        <a:t>upper limit(Per Day)</a:t>
                      </a:r>
                    </a:p>
                  </a:txBody>
                  <a:tcPr/>
                </a:tc>
                <a:extLst>
                  <a:ext uri="{0D108BD9-81ED-4DB2-BD59-A6C34878D82A}">
                    <a16:rowId xmlns:a16="http://schemas.microsoft.com/office/drawing/2014/main" val="2891473095"/>
                  </a:ext>
                </a:extLst>
              </a:tr>
              <a:tr h="399732">
                <a:tc>
                  <a:txBody>
                    <a:bodyPr/>
                    <a:lstStyle/>
                    <a:p>
                      <a:r>
                        <a:rPr lang="en-IN" dirty="0"/>
                        <a:t>income (£)</a:t>
                      </a:r>
                    </a:p>
                  </a:txBody>
                  <a:tcPr/>
                </a:tc>
                <a:tc>
                  <a:txBody>
                    <a:bodyPr/>
                    <a:lstStyle/>
                    <a:p>
                      <a:r>
                        <a:rPr lang="en-IN" dirty="0"/>
                        <a:t>120</a:t>
                      </a:r>
                    </a:p>
                  </a:txBody>
                  <a:tcPr/>
                </a:tc>
                <a:tc>
                  <a:txBody>
                    <a:bodyPr/>
                    <a:lstStyle/>
                    <a:p>
                      <a:r>
                        <a:rPr lang="en-IN" dirty="0"/>
                        <a:t>150</a:t>
                      </a:r>
                    </a:p>
                  </a:txBody>
                  <a:tcPr/>
                </a:tc>
                <a:tc>
                  <a:txBody>
                    <a:bodyPr/>
                    <a:lstStyle/>
                    <a:p>
                      <a:r>
                        <a:rPr lang="en-IN" dirty="0"/>
                        <a:t>-</a:t>
                      </a:r>
                    </a:p>
                  </a:txBody>
                  <a:tcPr/>
                </a:tc>
                <a:extLst>
                  <a:ext uri="{0D108BD9-81ED-4DB2-BD59-A6C34878D82A}">
                    <a16:rowId xmlns:a16="http://schemas.microsoft.com/office/drawing/2014/main" val="130098367"/>
                  </a:ext>
                </a:extLst>
              </a:tr>
              <a:tr h="399732">
                <a:tc>
                  <a:txBody>
                    <a:bodyPr/>
                    <a:lstStyle/>
                    <a:p>
                      <a:r>
                        <a:rPr lang="en-IN" dirty="0"/>
                        <a:t>joinery (hours)</a:t>
                      </a:r>
                    </a:p>
                  </a:txBody>
                  <a:tcPr/>
                </a:tc>
                <a:tc>
                  <a:txBody>
                    <a:bodyPr/>
                    <a:lstStyle/>
                    <a:p>
                      <a:r>
                        <a:rPr lang="en-IN" dirty="0"/>
                        <a:t>2</a:t>
                      </a:r>
                    </a:p>
                  </a:txBody>
                  <a:tcPr/>
                </a:tc>
                <a:tc>
                  <a:txBody>
                    <a:bodyPr/>
                    <a:lstStyle/>
                    <a:p>
                      <a:r>
                        <a:rPr lang="en-IN" dirty="0"/>
                        <a:t>3</a:t>
                      </a:r>
                    </a:p>
                  </a:txBody>
                  <a:tcPr/>
                </a:tc>
                <a:tc>
                  <a:txBody>
                    <a:bodyPr/>
                    <a:lstStyle/>
                    <a:p>
                      <a:r>
                        <a:rPr lang="en-IN" dirty="0"/>
                        <a:t>30</a:t>
                      </a:r>
                    </a:p>
                  </a:txBody>
                  <a:tcPr/>
                </a:tc>
                <a:extLst>
                  <a:ext uri="{0D108BD9-81ED-4DB2-BD59-A6C34878D82A}">
                    <a16:rowId xmlns:a16="http://schemas.microsoft.com/office/drawing/2014/main" val="934893300"/>
                  </a:ext>
                </a:extLst>
              </a:tr>
              <a:tr h="452029">
                <a:tc>
                  <a:txBody>
                    <a:bodyPr/>
                    <a:lstStyle/>
                    <a:p>
                      <a:r>
                        <a:rPr lang="en-IN" dirty="0"/>
                        <a:t>Pre ﬁnishing (hours)</a:t>
                      </a:r>
                    </a:p>
                  </a:txBody>
                  <a:tcPr/>
                </a:tc>
                <a:tc>
                  <a:txBody>
                    <a:bodyPr/>
                    <a:lstStyle/>
                    <a:p>
                      <a:r>
                        <a:rPr lang="en-IN" dirty="0"/>
                        <a:t>2/3</a:t>
                      </a:r>
                    </a:p>
                  </a:txBody>
                  <a:tcPr/>
                </a:tc>
                <a:tc>
                  <a:txBody>
                    <a:bodyPr/>
                    <a:lstStyle/>
                    <a:p>
                      <a:r>
                        <a:rPr lang="en-IN" dirty="0"/>
                        <a:t>2</a:t>
                      </a:r>
                    </a:p>
                  </a:txBody>
                  <a:tcPr/>
                </a:tc>
                <a:tc>
                  <a:txBody>
                    <a:bodyPr/>
                    <a:lstStyle/>
                    <a:p>
                      <a:r>
                        <a:rPr lang="en-IN" dirty="0"/>
                        <a:t>16</a:t>
                      </a:r>
                    </a:p>
                  </a:txBody>
                  <a:tcPr/>
                </a:tc>
                <a:extLst>
                  <a:ext uri="{0D108BD9-81ED-4DB2-BD59-A6C34878D82A}">
                    <a16:rowId xmlns:a16="http://schemas.microsoft.com/office/drawing/2014/main" val="1147659015"/>
                  </a:ext>
                </a:extLst>
              </a:tr>
              <a:tr h="452029">
                <a:tc>
                  <a:txBody>
                    <a:bodyPr/>
                    <a:lstStyle/>
                    <a:p>
                      <a:r>
                        <a:rPr lang="en-IN" dirty="0"/>
                        <a:t>ﬁnal ﬁnishing (hours)</a:t>
                      </a:r>
                    </a:p>
                  </a:txBody>
                  <a:tcPr/>
                </a:tc>
                <a:tc>
                  <a:txBody>
                    <a:bodyPr/>
                    <a:lstStyle/>
                    <a:p>
                      <a:r>
                        <a:rPr lang="en-IN" dirty="0"/>
                        <a:t>5 1/3</a:t>
                      </a:r>
                    </a:p>
                  </a:txBody>
                  <a:tcPr/>
                </a:tc>
                <a:tc>
                  <a:txBody>
                    <a:bodyPr/>
                    <a:lstStyle/>
                    <a:p>
                      <a:r>
                        <a:rPr lang="en-IN" dirty="0"/>
                        <a:t>4</a:t>
                      </a:r>
                    </a:p>
                  </a:txBody>
                  <a:tcPr/>
                </a:tc>
                <a:tc>
                  <a:txBody>
                    <a:bodyPr/>
                    <a:lstStyle/>
                    <a:p>
                      <a:r>
                        <a:rPr lang="en-IN" dirty="0"/>
                        <a:t>64</a:t>
                      </a:r>
                    </a:p>
                  </a:txBody>
                  <a:tcPr/>
                </a:tc>
                <a:extLst>
                  <a:ext uri="{0D108BD9-81ED-4DB2-BD59-A6C34878D82A}">
                    <a16:rowId xmlns:a16="http://schemas.microsoft.com/office/drawing/2014/main" val="2017631315"/>
                  </a:ext>
                </a:extLst>
              </a:tr>
            </a:tbl>
          </a:graphicData>
        </a:graphic>
      </p:graphicFrame>
      <p:pic>
        <p:nvPicPr>
          <p:cNvPr id="11" name="Picture 2">
            <a:extLst>
              <a:ext uri="{FF2B5EF4-FFF2-40B4-BE49-F238E27FC236}">
                <a16:creationId xmlns:a16="http://schemas.microsoft.com/office/drawing/2014/main" id="{C68484C5-0E59-AD6E-97CF-25BB7D81064D}"/>
              </a:ext>
            </a:extLst>
          </p:cNvPr>
          <p:cNvPicPr>
            <a:picLocks noChangeAspect="1" noChangeArrowheads="1"/>
          </p:cNvPicPr>
          <p:nvPr/>
        </p:nvPicPr>
        <p:blipFill>
          <a:blip r:embed="rId2" cstate="print"/>
          <a:srcRect/>
          <a:stretch>
            <a:fillRect/>
          </a:stretch>
        </p:blipFill>
        <p:spPr bwMode="auto">
          <a:xfrm>
            <a:off x="779700" y="3408219"/>
            <a:ext cx="10496550" cy="2650259"/>
          </a:xfrm>
          <a:prstGeom prst="rect">
            <a:avLst/>
          </a:prstGeom>
          <a:noFill/>
          <a:ln w="9525">
            <a:noFill/>
            <a:miter lim="800000"/>
            <a:headEnd/>
            <a:tailEnd/>
          </a:ln>
        </p:spPr>
      </p:pic>
    </p:spTree>
    <p:extLst>
      <p:ext uri="{BB962C8B-B14F-4D97-AF65-F5344CB8AC3E}">
        <p14:creationId xmlns:p14="http://schemas.microsoft.com/office/powerpoint/2010/main" val="4356873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2454D-38EF-161F-BF10-03F626932564}"/>
              </a:ext>
            </a:extLst>
          </p:cNvPr>
          <p:cNvSpPr>
            <a:spLocks noGrp="1"/>
          </p:cNvSpPr>
          <p:nvPr>
            <p:ph type="title"/>
          </p:nvPr>
        </p:nvSpPr>
        <p:spPr/>
        <p:txBody>
          <a:bodyPr/>
          <a:lstStyle/>
          <a:p>
            <a:r>
              <a:rPr lang="en-IN" dirty="0"/>
              <a:t> Formulation of  Constraints</a:t>
            </a:r>
          </a:p>
        </p:txBody>
      </p:sp>
      <p:sp>
        <p:nvSpPr>
          <p:cNvPr id="4" name="Slide Number Placeholder 3">
            <a:extLst>
              <a:ext uri="{FF2B5EF4-FFF2-40B4-BE49-F238E27FC236}">
                <a16:creationId xmlns:a16="http://schemas.microsoft.com/office/drawing/2014/main" id="{589FF047-C04F-88CF-28AD-E08464D1326C}"/>
              </a:ext>
            </a:extLst>
          </p:cNvPr>
          <p:cNvSpPr>
            <a:spLocks noGrp="1"/>
          </p:cNvSpPr>
          <p:nvPr>
            <p:ph type="sldNum" sz="quarter" idx="12"/>
          </p:nvPr>
        </p:nvSpPr>
        <p:spPr/>
        <p:txBody>
          <a:bodyPr/>
          <a:lstStyle/>
          <a:p>
            <a:fld id="{CBABCCC1-BF11-4F37-963E-1BCD5B23FD72}" type="slidenum">
              <a:rPr lang="en-IN" smtClean="0"/>
              <a:t>15</a:t>
            </a:fld>
            <a:endParaRPr lang="en-IN"/>
          </a:p>
        </p:txBody>
      </p:sp>
      <p:pic>
        <p:nvPicPr>
          <p:cNvPr id="5" name="Picture 2">
            <a:extLst>
              <a:ext uri="{FF2B5EF4-FFF2-40B4-BE49-F238E27FC236}">
                <a16:creationId xmlns:a16="http://schemas.microsoft.com/office/drawing/2014/main" id="{10B324CD-F18F-1159-A788-CF211DEC029A}"/>
              </a:ext>
            </a:extLst>
          </p:cNvPr>
          <p:cNvPicPr>
            <a:picLocks noGrp="1" noChangeAspect="1" noChangeArrowheads="1"/>
          </p:cNvPicPr>
          <p:nvPr>
            <p:ph idx="1"/>
          </p:nvPr>
        </p:nvPicPr>
        <p:blipFill>
          <a:blip r:embed="rId2" cstate="print"/>
          <a:srcRect/>
          <a:stretch>
            <a:fillRect/>
          </a:stretch>
        </p:blipFill>
        <p:spPr bwMode="auto">
          <a:xfrm>
            <a:off x="103910" y="1288473"/>
            <a:ext cx="11648208" cy="2890865"/>
          </a:xfrm>
          <a:prstGeom prst="rect">
            <a:avLst/>
          </a:prstGeom>
          <a:noFill/>
          <a:ln w="9525">
            <a:noFill/>
            <a:miter lim="800000"/>
            <a:headEnd/>
            <a:tailEnd/>
          </a:ln>
        </p:spPr>
      </p:pic>
      <p:pic>
        <p:nvPicPr>
          <p:cNvPr id="6" name="Picture 3">
            <a:extLst>
              <a:ext uri="{FF2B5EF4-FFF2-40B4-BE49-F238E27FC236}">
                <a16:creationId xmlns:a16="http://schemas.microsoft.com/office/drawing/2014/main" id="{E27C5C26-317B-5627-0235-7FCBFB0A47A6}"/>
              </a:ext>
            </a:extLst>
          </p:cNvPr>
          <p:cNvPicPr>
            <a:picLocks noChangeAspect="1" noChangeArrowheads="1"/>
          </p:cNvPicPr>
          <p:nvPr/>
        </p:nvPicPr>
        <p:blipFill>
          <a:blip r:embed="rId3" cstate="print"/>
          <a:srcRect/>
          <a:stretch>
            <a:fillRect/>
          </a:stretch>
        </p:blipFill>
        <p:spPr bwMode="auto">
          <a:xfrm>
            <a:off x="103911" y="4179338"/>
            <a:ext cx="11648207" cy="1867289"/>
          </a:xfrm>
          <a:prstGeom prst="rect">
            <a:avLst/>
          </a:prstGeom>
          <a:noFill/>
          <a:ln w="9525">
            <a:noFill/>
            <a:miter lim="800000"/>
            <a:headEnd/>
            <a:tailEnd/>
          </a:ln>
        </p:spPr>
      </p:pic>
    </p:spTree>
    <p:extLst>
      <p:ext uri="{BB962C8B-B14F-4D97-AF65-F5344CB8AC3E}">
        <p14:creationId xmlns:p14="http://schemas.microsoft.com/office/powerpoint/2010/main" val="42304723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B0D81-C547-7E7C-2876-023C517B0EC4}"/>
              </a:ext>
            </a:extLst>
          </p:cNvPr>
          <p:cNvSpPr>
            <a:spLocks noGrp="1"/>
          </p:cNvSpPr>
          <p:nvPr>
            <p:ph type="title"/>
          </p:nvPr>
        </p:nvSpPr>
        <p:spPr/>
        <p:txBody>
          <a:bodyPr>
            <a:normAutofit/>
          </a:bodyPr>
          <a:lstStyle/>
          <a:p>
            <a:r>
              <a:rPr lang="en-IN" sz="2400" dirty="0"/>
              <a:t>Final Formulation by  adding  non-negative  constraints</a:t>
            </a:r>
          </a:p>
        </p:txBody>
      </p:sp>
      <p:sp>
        <p:nvSpPr>
          <p:cNvPr id="4" name="Slide Number Placeholder 3">
            <a:extLst>
              <a:ext uri="{FF2B5EF4-FFF2-40B4-BE49-F238E27FC236}">
                <a16:creationId xmlns:a16="http://schemas.microsoft.com/office/drawing/2014/main" id="{B699A169-B350-8E2F-4BC4-822C9DD4FC4D}"/>
              </a:ext>
            </a:extLst>
          </p:cNvPr>
          <p:cNvSpPr>
            <a:spLocks noGrp="1"/>
          </p:cNvSpPr>
          <p:nvPr>
            <p:ph type="sldNum" sz="quarter" idx="12"/>
          </p:nvPr>
        </p:nvSpPr>
        <p:spPr/>
        <p:txBody>
          <a:bodyPr/>
          <a:lstStyle/>
          <a:p>
            <a:fld id="{CBABCCC1-BF11-4F37-963E-1BCD5B23FD72}" type="slidenum">
              <a:rPr lang="en-IN" smtClean="0"/>
              <a:t>16</a:t>
            </a:fld>
            <a:endParaRPr lang="en-IN"/>
          </a:p>
        </p:txBody>
      </p:sp>
      <p:pic>
        <p:nvPicPr>
          <p:cNvPr id="5" name="Picture 2">
            <a:extLst>
              <a:ext uri="{FF2B5EF4-FFF2-40B4-BE49-F238E27FC236}">
                <a16:creationId xmlns:a16="http://schemas.microsoft.com/office/drawing/2014/main" id="{C25AD0A7-4EBB-4CFA-6884-3FDD774F5945}"/>
              </a:ext>
            </a:extLst>
          </p:cNvPr>
          <p:cNvPicPr>
            <a:picLocks noGrp="1" noChangeAspect="1" noChangeArrowheads="1"/>
          </p:cNvPicPr>
          <p:nvPr>
            <p:ph idx="1"/>
          </p:nvPr>
        </p:nvPicPr>
        <p:blipFill>
          <a:blip r:embed="rId2" cstate="print"/>
          <a:srcRect/>
          <a:stretch>
            <a:fillRect/>
          </a:stretch>
        </p:blipFill>
        <p:spPr bwMode="auto">
          <a:xfrm>
            <a:off x="363683" y="1143000"/>
            <a:ext cx="11284526" cy="4831773"/>
          </a:xfrm>
          <a:prstGeom prst="rect">
            <a:avLst/>
          </a:prstGeom>
          <a:noFill/>
          <a:ln w="9525">
            <a:noFill/>
            <a:miter lim="800000"/>
            <a:headEnd/>
            <a:tailEnd/>
          </a:ln>
        </p:spPr>
      </p:pic>
    </p:spTree>
    <p:extLst>
      <p:ext uri="{BB962C8B-B14F-4D97-AF65-F5344CB8AC3E}">
        <p14:creationId xmlns:p14="http://schemas.microsoft.com/office/powerpoint/2010/main" val="386952476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96B808-6D9D-34CE-ADA0-AEB7052B0442}"/>
              </a:ext>
            </a:extLst>
          </p:cNvPr>
          <p:cNvSpPr>
            <a:spLocks noGrp="1"/>
          </p:cNvSpPr>
          <p:nvPr>
            <p:ph type="title"/>
          </p:nvPr>
        </p:nvSpPr>
        <p:spPr/>
        <p:txBody>
          <a:bodyPr/>
          <a:lstStyle/>
          <a:p>
            <a:r>
              <a:rPr lang="en-IN" dirty="0"/>
              <a:t>questions</a:t>
            </a:r>
          </a:p>
        </p:txBody>
      </p:sp>
      <p:sp>
        <p:nvSpPr>
          <p:cNvPr id="3" name="Content Placeholder 2">
            <a:extLst>
              <a:ext uri="{FF2B5EF4-FFF2-40B4-BE49-F238E27FC236}">
                <a16:creationId xmlns:a16="http://schemas.microsoft.com/office/drawing/2014/main" id="{28128BA9-0F64-15E9-D605-286458BECC6B}"/>
              </a:ext>
            </a:extLst>
          </p:cNvPr>
          <p:cNvSpPr>
            <a:spLocks noGrp="1"/>
          </p:cNvSpPr>
          <p:nvPr>
            <p:ph idx="1"/>
          </p:nvPr>
        </p:nvSpPr>
        <p:spPr>
          <a:xfrm>
            <a:off x="641088" y="1236518"/>
            <a:ext cx="9603275" cy="3731063"/>
          </a:xfrm>
        </p:spPr>
        <p:txBody>
          <a:bodyPr/>
          <a:lstStyle/>
          <a:p>
            <a:pPr>
              <a:buFont typeface="Wingdings" panose="05000000000000000000" pitchFamily="2" charset="2"/>
              <a:buChar char="Ø"/>
            </a:pPr>
            <a:r>
              <a:rPr lang="en-IN" dirty="0"/>
              <a:t>What is the  significance  of  objective  function in  a linear  programming problem</a:t>
            </a:r>
          </a:p>
          <a:p>
            <a:pPr>
              <a:buFont typeface="Wingdings" panose="05000000000000000000" pitchFamily="2" charset="2"/>
              <a:buChar char="Ø"/>
            </a:pPr>
            <a:r>
              <a:rPr lang="en-IN" dirty="0"/>
              <a:t>Give  examples  of  a minimization problem  and  maximization problem</a:t>
            </a:r>
          </a:p>
          <a:p>
            <a:pPr>
              <a:buFont typeface="Wingdings" panose="05000000000000000000" pitchFamily="2" charset="2"/>
              <a:buChar char="Ø"/>
            </a:pPr>
            <a:r>
              <a:rPr lang="en-IN" dirty="0"/>
              <a:t>What are decision variables</a:t>
            </a:r>
          </a:p>
          <a:p>
            <a:pPr>
              <a:buFont typeface="Wingdings" panose="05000000000000000000" pitchFamily="2" charset="2"/>
              <a:buChar char="Ø"/>
            </a:pPr>
            <a:r>
              <a:rPr lang="en-IN" dirty="0"/>
              <a:t>What  are constraints</a:t>
            </a:r>
          </a:p>
          <a:p>
            <a:pPr>
              <a:buFont typeface="Wingdings" panose="05000000000000000000" pitchFamily="2" charset="2"/>
              <a:buChar char="Ø"/>
            </a:pPr>
            <a:r>
              <a:rPr lang="en-IN" dirty="0"/>
              <a:t>What  are non-negative  constrains</a:t>
            </a:r>
          </a:p>
          <a:p>
            <a:pPr marL="0" indent="0">
              <a:buNone/>
            </a:pPr>
            <a:endParaRPr lang="en-IN" dirty="0"/>
          </a:p>
        </p:txBody>
      </p:sp>
      <p:sp>
        <p:nvSpPr>
          <p:cNvPr id="4" name="Slide Number Placeholder 3">
            <a:extLst>
              <a:ext uri="{FF2B5EF4-FFF2-40B4-BE49-F238E27FC236}">
                <a16:creationId xmlns:a16="http://schemas.microsoft.com/office/drawing/2014/main" id="{E7C2E921-9C92-75C3-6393-5E7FED48DE5B}"/>
              </a:ext>
            </a:extLst>
          </p:cNvPr>
          <p:cNvSpPr>
            <a:spLocks noGrp="1"/>
          </p:cNvSpPr>
          <p:nvPr>
            <p:ph type="sldNum" sz="quarter" idx="12"/>
          </p:nvPr>
        </p:nvSpPr>
        <p:spPr/>
        <p:txBody>
          <a:bodyPr/>
          <a:lstStyle/>
          <a:p>
            <a:fld id="{CBABCCC1-BF11-4F37-963E-1BCD5B23FD72}" type="slidenum">
              <a:rPr lang="en-IN" smtClean="0"/>
              <a:t>17</a:t>
            </a:fld>
            <a:endParaRPr lang="en-IN"/>
          </a:p>
        </p:txBody>
      </p:sp>
    </p:spTree>
    <p:extLst>
      <p:ext uri="{BB962C8B-B14F-4D97-AF65-F5344CB8AC3E}">
        <p14:creationId xmlns:p14="http://schemas.microsoft.com/office/powerpoint/2010/main" val="301544590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00964D-B4BE-C639-3AEB-F5F84755102F}"/>
              </a:ext>
            </a:extLst>
          </p:cNvPr>
          <p:cNvSpPr>
            <a:spLocks noGrp="1"/>
          </p:cNvSpPr>
          <p:nvPr>
            <p:ph type="title"/>
          </p:nvPr>
        </p:nvSpPr>
        <p:spPr/>
        <p:txBody>
          <a:bodyPr/>
          <a:lstStyle/>
          <a:p>
            <a:r>
              <a:rPr lang="en-IN" dirty="0"/>
              <a:t>Class work: LPP formulation problem</a:t>
            </a:r>
          </a:p>
        </p:txBody>
      </p:sp>
      <p:sp>
        <p:nvSpPr>
          <p:cNvPr id="3" name="Content Placeholder 2">
            <a:extLst>
              <a:ext uri="{FF2B5EF4-FFF2-40B4-BE49-F238E27FC236}">
                <a16:creationId xmlns:a16="http://schemas.microsoft.com/office/drawing/2014/main" id="{AFEC361F-9F2B-71D6-F3F8-6F5B57548CA9}"/>
              </a:ext>
            </a:extLst>
          </p:cNvPr>
          <p:cNvSpPr>
            <a:spLocks noGrp="1"/>
          </p:cNvSpPr>
          <p:nvPr>
            <p:ph idx="1"/>
          </p:nvPr>
        </p:nvSpPr>
        <p:spPr>
          <a:xfrm>
            <a:off x="994379" y="1371497"/>
            <a:ext cx="9603275" cy="2426872"/>
          </a:xfrm>
        </p:spPr>
        <p:txBody>
          <a:bodyPr/>
          <a:lstStyle/>
          <a:p>
            <a:pPr marL="0" indent="0">
              <a:buNone/>
            </a:pPr>
            <a:r>
              <a:rPr lang="en-US" dirty="0"/>
              <a:t>A food manufacturer buys edible oils in their raw state, and refines and  blends them to produce margarine. The raw oils can be vegetable or non-vegetable. The vegetable oils are ground-nut, soya-bean and palm. The non-vegetable oils are lard and fish. The margarine sells at £2400 a </a:t>
            </a:r>
            <a:r>
              <a:rPr lang="en-US" dirty="0" err="1"/>
              <a:t>tonne</a:t>
            </a:r>
            <a:r>
              <a:rPr lang="en-US" dirty="0"/>
              <a:t>, and the manufacturer can sell as much margarine as can be made. The prices of the raw oils are shown in Table . Sufficient quantities of all five oils can be assumed to be readily available.</a:t>
            </a:r>
          </a:p>
          <a:p>
            <a:pPr marL="0" indent="0">
              <a:buNone/>
            </a:pPr>
            <a:endParaRPr lang="en-IN" dirty="0"/>
          </a:p>
        </p:txBody>
      </p:sp>
      <p:sp>
        <p:nvSpPr>
          <p:cNvPr id="4" name="Slide Number Placeholder 3">
            <a:extLst>
              <a:ext uri="{FF2B5EF4-FFF2-40B4-BE49-F238E27FC236}">
                <a16:creationId xmlns:a16="http://schemas.microsoft.com/office/drawing/2014/main" id="{A0578387-8F51-52AF-4F90-A45230BD8260}"/>
              </a:ext>
            </a:extLst>
          </p:cNvPr>
          <p:cNvSpPr>
            <a:spLocks noGrp="1"/>
          </p:cNvSpPr>
          <p:nvPr>
            <p:ph type="sldNum" sz="quarter" idx="12"/>
          </p:nvPr>
        </p:nvSpPr>
        <p:spPr/>
        <p:txBody>
          <a:bodyPr/>
          <a:lstStyle/>
          <a:p>
            <a:fld id="{CBABCCC1-BF11-4F37-963E-1BCD5B23FD72}" type="slidenum">
              <a:rPr lang="en-IN" smtClean="0"/>
              <a:t>18</a:t>
            </a:fld>
            <a:endParaRPr lang="en-IN"/>
          </a:p>
        </p:txBody>
      </p:sp>
      <p:pic>
        <p:nvPicPr>
          <p:cNvPr id="5" name="Picture 2">
            <a:extLst>
              <a:ext uri="{FF2B5EF4-FFF2-40B4-BE49-F238E27FC236}">
                <a16:creationId xmlns:a16="http://schemas.microsoft.com/office/drawing/2014/main" id="{0E39AA2C-5414-4780-158C-21B9A848C07E}"/>
              </a:ext>
            </a:extLst>
          </p:cNvPr>
          <p:cNvPicPr>
            <a:picLocks noChangeAspect="1" noChangeArrowheads="1"/>
          </p:cNvPicPr>
          <p:nvPr/>
        </p:nvPicPr>
        <p:blipFill>
          <a:blip r:embed="rId2" cstate="print"/>
          <a:srcRect/>
          <a:stretch>
            <a:fillRect/>
          </a:stretch>
        </p:blipFill>
        <p:spPr bwMode="auto">
          <a:xfrm>
            <a:off x="1487402" y="3896743"/>
            <a:ext cx="8406176" cy="1561513"/>
          </a:xfrm>
          <a:prstGeom prst="rect">
            <a:avLst/>
          </a:prstGeom>
          <a:noFill/>
          <a:ln w="9525">
            <a:noFill/>
            <a:miter lim="800000"/>
            <a:headEnd/>
            <a:tailEnd/>
          </a:ln>
          <a:effectLst/>
        </p:spPr>
      </p:pic>
    </p:spTree>
    <p:extLst>
      <p:ext uri="{BB962C8B-B14F-4D97-AF65-F5344CB8AC3E}">
        <p14:creationId xmlns:p14="http://schemas.microsoft.com/office/powerpoint/2010/main" val="343386569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4CFCC8-FBAD-CF77-EB74-9C1F25BBD4E0}"/>
              </a:ext>
            </a:extLst>
          </p:cNvPr>
          <p:cNvSpPr>
            <a:spLocks noGrp="1"/>
          </p:cNvSpPr>
          <p:nvPr>
            <p:ph type="title"/>
          </p:nvPr>
        </p:nvSpPr>
        <p:spPr/>
        <p:txBody>
          <a:bodyPr/>
          <a:lstStyle/>
          <a:p>
            <a:r>
              <a:rPr lang="en-IN" dirty="0"/>
              <a:t>Problem Continued…</a:t>
            </a:r>
          </a:p>
        </p:txBody>
      </p:sp>
      <p:sp>
        <p:nvSpPr>
          <p:cNvPr id="3" name="Content Placeholder 2">
            <a:extLst>
              <a:ext uri="{FF2B5EF4-FFF2-40B4-BE49-F238E27FC236}">
                <a16:creationId xmlns:a16="http://schemas.microsoft.com/office/drawing/2014/main" id="{478D285D-0EFD-F12B-8839-B26436C23C78}"/>
              </a:ext>
            </a:extLst>
          </p:cNvPr>
          <p:cNvSpPr>
            <a:spLocks noGrp="1"/>
          </p:cNvSpPr>
          <p:nvPr>
            <p:ph idx="1"/>
          </p:nvPr>
        </p:nvSpPr>
        <p:spPr>
          <a:xfrm>
            <a:off x="197427" y="1050168"/>
            <a:ext cx="11741727" cy="4893432"/>
          </a:xfrm>
        </p:spPr>
        <p:txBody>
          <a:bodyPr>
            <a:normAutofit/>
          </a:bodyPr>
          <a:lstStyle/>
          <a:p>
            <a:pPr algn="just">
              <a:buFont typeface="Wingdings" panose="05000000000000000000" pitchFamily="2" charset="2"/>
              <a:buChar char="Ø"/>
            </a:pPr>
            <a:r>
              <a:rPr lang="en-US" dirty="0"/>
              <a:t>To avoid contamination, vegetable and non-vegetable oils are refined separately, using different equipment. It is possible to refine up to 1000 tones of vegetable oil and up to 800 tones of non-vegetable oil in a month. When refined, some or all of the oils are blended to produce the margarine.</a:t>
            </a:r>
          </a:p>
          <a:p>
            <a:pPr algn="just">
              <a:buFont typeface="Wingdings" panose="05000000000000000000" pitchFamily="2" charset="2"/>
              <a:buChar char="Ø"/>
            </a:pPr>
            <a:r>
              <a:rPr lang="en-US" dirty="0"/>
              <a:t>The quantities of oil lost during the refining and blending processes are negligible. </a:t>
            </a:r>
          </a:p>
          <a:p>
            <a:pPr algn="just">
              <a:buFont typeface="Wingdings" panose="05000000000000000000" pitchFamily="2" charset="2"/>
              <a:buChar char="Ø"/>
            </a:pPr>
            <a:r>
              <a:rPr lang="en-US" dirty="0"/>
              <a:t>The </a:t>
            </a:r>
            <a:r>
              <a:rPr lang="en-US" dirty="0" err="1"/>
              <a:t>hardnesses</a:t>
            </a:r>
            <a:r>
              <a:rPr lang="en-US" dirty="0"/>
              <a:t> of the refined oils, given in Table , are assumed to combine linearly to give the hardness of the margarine. To ensure that the margarine spreads easily but is not runny, the hardness of the margarine must be between 5.6 and 7.4, measured in the same units as the </a:t>
            </a:r>
            <a:r>
              <a:rPr lang="en-US" dirty="0" err="1"/>
              <a:t>hardnesses</a:t>
            </a:r>
            <a:r>
              <a:rPr lang="en-US" dirty="0"/>
              <a:t> of the oils in Table . All running costs can be taken to be fixed. The manufacturer wants to know how much of each type of oil to use in order to maximize profit while maintaining the quality of the margarine.</a:t>
            </a:r>
          </a:p>
          <a:p>
            <a:endParaRPr lang="en-IN" dirty="0"/>
          </a:p>
        </p:txBody>
      </p:sp>
      <p:sp>
        <p:nvSpPr>
          <p:cNvPr id="4" name="Slide Number Placeholder 3">
            <a:extLst>
              <a:ext uri="{FF2B5EF4-FFF2-40B4-BE49-F238E27FC236}">
                <a16:creationId xmlns:a16="http://schemas.microsoft.com/office/drawing/2014/main" id="{C5D2C465-C42E-BD51-4E79-8E1150E3E84C}"/>
              </a:ext>
            </a:extLst>
          </p:cNvPr>
          <p:cNvSpPr>
            <a:spLocks noGrp="1"/>
          </p:cNvSpPr>
          <p:nvPr>
            <p:ph type="sldNum" sz="quarter" idx="12"/>
          </p:nvPr>
        </p:nvSpPr>
        <p:spPr/>
        <p:txBody>
          <a:bodyPr/>
          <a:lstStyle/>
          <a:p>
            <a:fld id="{CBABCCC1-BF11-4F37-963E-1BCD5B23FD72}" type="slidenum">
              <a:rPr lang="en-IN" smtClean="0"/>
              <a:t>19</a:t>
            </a:fld>
            <a:endParaRPr lang="en-IN"/>
          </a:p>
        </p:txBody>
      </p:sp>
    </p:spTree>
    <p:extLst>
      <p:ext uri="{BB962C8B-B14F-4D97-AF65-F5344CB8AC3E}">
        <p14:creationId xmlns:p14="http://schemas.microsoft.com/office/powerpoint/2010/main" val="408057271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i="1" dirty="0"/>
              <a:t>Formulation</a:t>
            </a:r>
            <a:endParaRPr lang="en-US" dirty="0"/>
          </a:p>
        </p:txBody>
      </p:sp>
      <p:sp>
        <p:nvSpPr>
          <p:cNvPr id="3" name="Content Placeholder 2"/>
          <p:cNvSpPr>
            <a:spLocks noGrp="1"/>
          </p:cNvSpPr>
          <p:nvPr>
            <p:ph idx="1"/>
          </p:nvPr>
        </p:nvSpPr>
        <p:spPr>
          <a:xfrm>
            <a:off x="765464" y="1202928"/>
            <a:ext cx="10515600" cy="4726986"/>
          </a:xfrm>
        </p:spPr>
        <p:txBody>
          <a:bodyPr>
            <a:normAutofit/>
          </a:bodyPr>
          <a:lstStyle/>
          <a:p>
            <a:pPr>
              <a:buNone/>
            </a:pPr>
            <a:r>
              <a:rPr lang="en-US" dirty="0"/>
              <a:t> We follow the steps of Procedure </a:t>
            </a:r>
          </a:p>
          <a:p>
            <a:pPr algn="just">
              <a:buNone/>
            </a:pPr>
            <a:r>
              <a:rPr lang="en-US" dirty="0"/>
              <a:t>(a) The purpose of the model is to maximize profit, subject to constraints on resources, while maintaining quality. Since the refining capacities are given per month, it is sensible to work on a monthly basis. We could therefore take maximizing monthly profit as the objective. However, since the running costs are fixed, maximizing monthly profit is equivalent to maximizing monthly income. Therefore, as omitting the fixed running cost will simplify the model, we shall take the objective as maximizing monthly income. This monthly income could be measured in pounds. However, looking at the quantities involved, it would seem more sensible to work in units of £10 000.</a:t>
            </a:r>
          </a:p>
        </p:txBody>
      </p:sp>
      <p:sp>
        <p:nvSpPr>
          <p:cNvPr id="5" name="Footer Placeholder 3"/>
          <p:cNvSpPr>
            <a:spLocks noGrp="1"/>
          </p:cNvSpPr>
          <p:nvPr/>
        </p:nvSpPr>
        <p:spPr>
          <a:xfrm>
            <a:off x="898804" y="5929914"/>
            <a:ext cx="96694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AU" dirty="0"/>
              <a:t>© 2020 KL University – The contents of this presentation are an intellectual and copyrighted property of KL University. ALL RIGHTS RESERVED</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838200" y="513773"/>
                <a:ext cx="10515600" cy="5772727"/>
              </a:xfrm>
            </p:spPr>
            <p:txBody>
              <a:bodyPr>
                <a:normAutofit lnSpcReduction="10000"/>
              </a:bodyPr>
              <a:lstStyle/>
              <a:p>
                <a:pPr>
                  <a:buNone/>
                </a:pPr>
                <a:r>
                  <a:rPr lang="en-US" dirty="0"/>
                  <a:t>(b) The variables are the quantities of each oil used per month in blending the margarine. Also, as it will be useful to know the total quantity of margarine manufactured per month, we shall regard this as a variable.</a:t>
                </a:r>
              </a:p>
              <a:p>
                <a:pPr>
                  <a:buNone/>
                </a:pPr>
                <a:r>
                  <a:rPr lang="en-US" dirty="0"/>
                  <a:t>(c)identify the parameters .</a:t>
                </a:r>
              </a:p>
              <a:p>
                <a:pPr>
                  <a:buNone/>
                </a:pPr>
                <a:r>
                  <a:rPr lang="en-US" dirty="0"/>
                  <a:t>(d) We now assign algebraic symbols to the objective function and the variables, giving precise definitions, including units of measurement:</a:t>
                </a:r>
              </a:p>
              <a:p>
                <a14:m>
                  <m:oMath xmlns:m="http://schemas.openxmlformats.org/officeDocument/2006/math">
                    <m:r>
                      <a:rPr lang="en-US" b="0" i="1" smtClean="0">
                        <a:latin typeface="Cambria Math" panose="02040503050406030204" pitchFamily="18" charset="0"/>
                      </a:rPr>
                      <m:t>𝑧</m:t>
                    </m:r>
                  </m:oMath>
                </a14:m>
                <a:r>
                  <a:rPr lang="en-US" dirty="0"/>
                  <a:t> the monthly profit, in tens of thousands of pounds;</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1</m:t>
                        </m:r>
                      </m:sub>
                    </m:sSub>
                  </m:oMath>
                </a14:m>
                <a:r>
                  <a:rPr lang="en-US" dirty="0"/>
                  <a:t> the quantity, in hundreds of tones, of ground-nut oil used per month;</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2</m:t>
                        </m:r>
                      </m:sub>
                    </m:sSub>
                  </m:oMath>
                </a14:m>
                <a:r>
                  <a:rPr lang="en-US" dirty="0"/>
                  <a:t> the quantity, in hundreds of tones, of soya-bean oil used per month;</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3</m:t>
                        </m:r>
                      </m:sub>
                    </m:sSub>
                  </m:oMath>
                </a14:m>
                <a:r>
                  <a:rPr lang="en-US" dirty="0"/>
                  <a:t> the quantity, in hundreds of tones, of palm oil used per month;</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4</m:t>
                        </m:r>
                      </m:sub>
                    </m:sSub>
                  </m:oMath>
                </a14:m>
                <a:r>
                  <a:rPr lang="en-US" dirty="0"/>
                  <a:t> the quantity, in hundreds of tones, of lard used per month;</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5</m:t>
                        </m:r>
                      </m:sub>
                    </m:sSub>
                  </m:oMath>
                </a14:m>
                <a:r>
                  <a:rPr lang="en-US" dirty="0"/>
                  <a:t> the quantity, in hundreds of tones, of fish oil used per month;</a:t>
                </a:r>
              </a:p>
              <a:p>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𝑥</m:t>
                        </m:r>
                      </m:e>
                      <m:sub>
                        <m:r>
                          <a:rPr lang="en-US" b="0" i="1" smtClean="0">
                            <a:latin typeface="Cambria Math" panose="02040503050406030204" pitchFamily="18" charset="0"/>
                          </a:rPr>
                          <m:t>6</m:t>
                        </m:r>
                      </m:sub>
                    </m:sSub>
                  </m:oMath>
                </a14:m>
                <a:r>
                  <a:rPr lang="en-US" dirty="0"/>
                  <a:t> the quantity, in hundreds of tones, of margarine manufactured per month.</a:t>
                </a:r>
              </a:p>
              <a:p>
                <a:pPr>
                  <a:buNone/>
                </a:pPr>
                <a:endParaRPr lang="en-US" dirty="0"/>
              </a:p>
              <a:p>
                <a:pPr>
                  <a:buNone/>
                </a:pPr>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838200" y="513773"/>
                <a:ext cx="10515600" cy="5772727"/>
              </a:xfrm>
              <a:blipFill rotWithShape="0">
                <a:blip r:embed="rId2"/>
                <a:stretch>
                  <a:fillRect l="-638" t="-422"/>
                </a:stretch>
              </a:blipFill>
            </p:spPr>
            <p:txBody>
              <a:bodyPr/>
              <a:lstStyle/>
              <a:p>
                <a:r>
                  <a:rPr lang="en-IN">
                    <a:noFill/>
                  </a:rPr>
                  <a:t> </a:t>
                </a:r>
              </a:p>
            </p:txBody>
          </p:sp>
        </mc:Fallback>
      </mc:AlternateContent>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19509"/>
            <a:ext cx="10515600" cy="5357454"/>
          </a:xfrm>
        </p:spPr>
        <p:txBody>
          <a:bodyPr/>
          <a:lstStyle/>
          <a:p>
            <a:pPr algn="just">
              <a:buNone/>
            </a:pPr>
            <a:r>
              <a:rPr lang="en-US" dirty="0"/>
              <a:t>(e) We next identify the linear relationships for the objective function </a:t>
            </a:r>
          </a:p>
          <a:p>
            <a:pPr algn="just">
              <a:buNone/>
            </a:pPr>
            <a:r>
              <a:rPr lang="en-US" dirty="0"/>
              <a:t>and the constraints. We can do this by extending Table , and making</a:t>
            </a:r>
          </a:p>
          <a:p>
            <a:pPr algn="just">
              <a:buNone/>
            </a:pPr>
            <a:r>
              <a:rPr lang="en-US" dirty="0"/>
              <a:t>suitable adjustments to the numerical values to take into account the</a:t>
            </a:r>
          </a:p>
          <a:p>
            <a:pPr algn="just">
              <a:buNone/>
            </a:pPr>
            <a:r>
              <a:rPr lang="en-US" dirty="0"/>
              <a:t>units of measurement decided on in (a) and (b), and listed in (d). This</a:t>
            </a:r>
          </a:p>
          <a:p>
            <a:pPr algn="just">
              <a:buNone/>
            </a:pPr>
            <a:r>
              <a:rPr lang="en-US" dirty="0"/>
              <a:t>results in the following Table :</a:t>
            </a:r>
          </a:p>
        </p:txBody>
      </p:sp>
      <p:sp>
        <p:nvSpPr>
          <p:cNvPr id="5" name="Footer Placeholder 3"/>
          <p:cNvSpPr>
            <a:spLocks noGrp="1"/>
          </p:cNvSpPr>
          <p:nvPr/>
        </p:nvSpPr>
        <p:spPr>
          <a:xfrm>
            <a:off x="898804" y="5929914"/>
            <a:ext cx="96694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AU" dirty="0"/>
              <a:t>© 2020 KL University – The contents of this presentation are an intellectual and copyrighted property of KL University. ALL RIGHTS RESERVED</a:t>
            </a:r>
          </a:p>
        </p:txBody>
      </p:sp>
      <p:pic>
        <p:nvPicPr>
          <p:cNvPr id="7" name="Picture 2"/>
          <p:cNvPicPr>
            <a:picLocks noChangeAspect="1" noChangeArrowheads="1"/>
          </p:cNvPicPr>
          <p:nvPr/>
        </p:nvPicPr>
        <p:blipFill>
          <a:blip r:embed="rId2" cstate="print"/>
          <a:srcRect/>
          <a:stretch>
            <a:fillRect/>
          </a:stretch>
        </p:blipFill>
        <p:spPr bwMode="auto">
          <a:xfrm>
            <a:off x="923769" y="3214256"/>
            <a:ext cx="9744891" cy="2824235"/>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97527"/>
            <a:ext cx="10515600" cy="5179436"/>
          </a:xfrm>
        </p:spPr>
        <p:txBody>
          <a:bodyPr>
            <a:normAutofit/>
          </a:bodyPr>
          <a:lstStyle/>
          <a:p>
            <a:pPr algn="just"/>
            <a:r>
              <a:rPr lang="en-US" dirty="0"/>
              <a:t>(f) Determine the objective function and objective of the problem in terms of x1, . . . , x6</a:t>
            </a:r>
          </a:p>
          <a:p>
            <a:pPr algn="just"/>
            <a:r>
              <a:rPr lang="en-US" dirty="0"/>
              <a:t>(g) We now want to express the constraints algebraically in terms of the variables.</a:t>
            </a:r>
          </a:p>
          <a:p>
            <a:pPr algn="just"/>
            <a:r>
              <a:rPr lang="en-US" dirty="0"/>
              <a:t>The hardness constraints require some thought. </a:t>
            </a:r>
          </a:p>
          <a:p>
            <a:pPr algn="just"/>
            <a:r>
              <a:rPr lang="en-US" dirty="0"/>
              <a:t>Remember that the </a:t>
            </a:r>
            <a:r>
              <a:rPr lang="en-US" dirty="0" err="1"/>
              <a:t>hardnesses</a:t>
            </a:r>
            <a:r>
              <a:rPr lang="en-US" dirty="0"/>
              <a:t> of the components combine linearly to give the hardness of the margarine, which must be at least 5.6.</a:t>
            </a:r>
          </a:p>
          <a:p>
            <a:pPr algn="just"/>
            <a:r>
              <a:rPr lang="en-US" dirty="0"/>
              <a:t>Using Table  this means that we must have </a:t>
            </a:r>
          </a:p>
          <a:p>
            <a:pPr algn="just"/>
            <a:endParaRPr lang="en-US" dirty="0"/>
          </a:p>
        </p:txBody>
      </p:sp>
      <p:sp>
        <p:nvSpPr>
          <p:cNvPr id="5" name="Footer Placeholder 3"/>
          <p:cNvSpPr>
            <a:spLocks noGrp="1"/>
          </p:cNvSpPr>
          <p:nvPr/>
        </p:nvSpPr>
        <p:spPr>
          <a:xfrm>
            <a:off x="898804" y="5929914"/>
            <a:ext cx="96694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AU" dirty="0"/>
              <a:t>© 2020 KL University – The contents of this presentation are an intellectual and copyrighted property of KL University. ALL RIGHTS RESERVED</a:t>
            </a:r>
          </a:p>
        </p:txBody>
      </p:sp>
      <p:pic>
        <p:nvPicPr>
          <p:cNvPr id="6" name="Picture 6"/>
          <p:cNvPicPr>
            <a:picLocks noChangeAspect="1" noChangeArrowheads="1"/>
          </p:cNvPicPr>
          <p:nvPr/>
        </p:nvPicPr>
        <p:blipFill>
          <a:blip r:embed="rId2" cstate="print"/>
          <a:srcRect/>
          <a:stretch>
            <a:fillRect/>
          </a:stretch>
        </p:blipFill>
        <p:spPr bwMode="auto">
          <a:xfrm>
            <a:off x="2392218" y="4738255"/>
            <a:ext cx="5911273" cy="803563"/>
          </a:xfrm>
          <a:prstGeom prst="rect">
            <a:avLst/>
          </a:prstGeom>
          <a:noFill/>
          <a:ln w="9525">
            <a:noFill/>
            <a:miter lim="800000"/>
            <a:headEnd/>
            <a:tailEnd/>
          </a:ln>
          <a:effectLst/>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914399"/>
            <a:ext cx="10515600" cy="5262563"/>
          </a:xfrm>
        </p:spPr>
        <p:txBody>
          <a:bodyPr/>
          <a:lstStyle/>
          <a:p>
            <a:r>
              <a:rPr lang="en-US" dirty="0"/>
              <a:t>If, for consistency, we keep all variables to the left-hand side of inequality or equality signs, this becomes</a:t>
            </a:r>
          </a:p>
          <a:p>
            <a:endParaRPr lang="en-US" dirty="0"/>
          </a:p>
          <a:p>
            <a:endParaRPr lang="en-US" dirty="0"/>
          </a:p>
          <a:p>
            <a:r>
              <a:rPr lang="en-US" dirty="0"/>
              <a:t>We must also remember the quantity constraint, which can be written as</a:t>
            </a:r>
          </a:p>
          <a:p>
            <a:endParaRPr lang="en-US" dirty="0"/>
          </a:p>
          <a:p>
            <a:endParaRPr lang="en-US" sz="1600" dirty="0"/>
          </a:p>
          <a:p>
            <a:r>
              <a:rPr lang="en-US" dirty="0"/>
              <a:t>or, in the format of the other constraints, as</a:t>
            </a:r>
          </a:p>
          <a:p>
            <a:endParaRPr lang="en-US" dirty="0"/>
          </a:p>
          <a:p>
            <a:pPr>
              <a:buNone/>
            </a:pPr>
            <a:endParaRPr lang="en-US" dirty="0"/>
          </a:p>
          <a:p>
            <a:endParaRPr lang="en-US" dirty="0"/>
          </a:p>
        </p:txBody>
      </p:sp>
      <p:pic>
        <p:nvPicPr>
          <p:cNvPr id="3079" name="Picture 7"/>
          <p:cNvPicPr>
            <a:picLocks noChangeAspect="1" noChangeArrowheads="1"/>
          </p:cNvPicPr>
          <p:nvPr/>
        </p:nvPicPr>
        <p:blipFill>
          <a:blip r:embed="rId2" cstate="print"/>
          <a:srcRect/>
          <a:stretch>
            <a:fillRect/>
          </a:stretch>
        </p:blipFill>
        <p:spPr bwMode="auto">
          <a:xfrm>
            <a:off x="2723140" y="2075588"/>
            <a:ext cx="6596351" cy="738899"/>
          </a:xfrm>
          <a:prstGeom prst="rect">
            <a:avLst/>
          </a:prstGeom>
          <a:noFill/>
          <a:ln w="9525">
            <a:noFill/>
            <a:miter lim="800000"/>
            <a:headEnd/>
            <a:tailEnd/>
          </a:ln>
          <a:effectLst/>
        </p:spPr>
      </p:pic>
      <p:pic>
        <p:nvPicPr>
          <p:cNvPr id="6" name="Picture 5" descr="Image result for kluniversity logo"/>
          <p:cNvPicPr/>
          <p:nvPr/>
        </p:nvPicPr>
        <p:blipFill>
          <a:blip r:embed="rId3" cstate="print"/>
          <a:srcRect/>
          <a:stretch>
            <a:fillRect/>
          </a:stretch>
        </p:blipFill>
        <p:spPr bwMode="auto">
          <a:xfrm>
            <a:off x="11124020" y="282875"/>
            <a:ext cx="609600" cy="533400"/>
          </a:xfrm>
          <a:prstGeom prst="rect">
            <a:avLst/>
          </a:prstGeom>
          <a:noFill/>
          <a:ln w="9525">
            <a:noFill/>
            <a:miter lim="800000"/>
            <a:headEnd/>
            <a:tailEnd/>
          </a:ln>
        </p:spPr>
      </p:pic>
      <p:sp>
        <p:nvSpPr>
          <p:cNvPr id="7" name="Footer Placeholder 3"/>
          <p:cNvSpPr>
            <a:spLocks noGrp="1"/>
          </p:cNvSpPr>
          <p:nvPr/>
        </p:nvSpPr>
        <p:spPr>
          <a:xfrm>
            <a:off x="898804" y="5929914"/>
            <a:ext cx="96694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AU" dirty="0"/>
              <a:t>© 2020 KL University – The contents of this presentation are an intellectual and copyrighted property of KL University. ALL RIGHTS RESERVED</a:t>
            </a:r>
          </a:p>
        </p:txBody>
      </p:sp>
      <p:pic>
        <p:nvPicPr>
          <p:cNvPr id="8" name="Picture 3"/>
          <p:cNvPicPr>
            <a:picLocks noChangeAspect="1" noChangeArrowheads="1"/>
          </p:cNvPicPr>
          <p:nvPr/>
        </p:nvPicPr>
        <p:blipFill>
          <a:blip r:embed="rId4" cstate="print"/>
          <a:srcRect/>
          <a:stretch>
            <a:fillRect/>
          </a:stretch>
        </p:blipFill>
        <p:spPr bwMode="auto">
          <a:xfrm>
            <a:off x="2378791" y="3833751"/>
            <a:ext cx="6598953" cy="574807"/>
          </a:xfrm>
          <a:prstGeom prst="rect">
            <a:avLst/>
          </a:prstGeom>
          <a:noFill/>
          <a:ln w="9525">
            <a:noFill/>
            <a:miter lim="800000"/>
            <a:headEnd/>
            <a:tailEnd/>
          </a:ln>
          <a:effectLst/>
        </p:spPr>
      </p:pic>
      <p:pic>
        <p:nvPicPr>
          <p:cNvPr id="9" name="Picture 4"/>
          <p:cNvPicPr>
            <a:picLocks noChangeAspect="1" noChangeArrowheads="1"/>
          </p:cNvPicPr>
          <p:nvPr/>
        </p:nvPicPr>
        <p:blipFill>
          <a:blip r:embed="rId5" cstate="print"/>
          <a:srcRect/>
          <a:stretch>
            <a:fillRect/>
          </a:stretch>
        </p:blipFill>
        <p:spPr bwMode="auto">
          <a:xfrm>
            <a:off x="3518119" y="5404408"/>
            <a:ext cx="4905445" cy="473735"/>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Grp="1" noChangeAspect="1" noChangeArrowheads="1"/>
          </p:cNvPicPr>
          <p:nvPr>
            <p:ph idx="1"/>
          </p:nvPr>
        </p:nvPicPr>
        <p:blipFill>
          <a:blip r:embed="rId2" cstate="print"/>
          <a:srcRect/>
          <a:stretch>
            <a:fillRect/>
          </a:stretch>
        </p:blipFill>
        <p:spPr bwMode="auto">
          <a:xfrm>
            <a:off x="838200" y="1005840"/>
            <a:ext cx="10515600" cy="4851728"/>
          </a:xfrm>
          <a:prstGeom prst="rect">
            <a:avLst/>
          </a:prstGeom>
          <a:noFill/>
          <a:ln w="9525">
            <a:noFill/>
            <a:miter lim="800000"/>
            <a:headEnd/>
            <a:tailEnd/>
          </a:ln>
          <a:effectLst/>
        </p:spPr>
      </p:pic>
      <p:sp>
        <p:nvSpPr>
          <p:cNvPr id="4" name="Footer Placeholder 3"/>
          <p:cNvSpPr>
            <a:spLocks noGrp="1"/>
          </p:cNvSpPr>
          <p:nvPr/>
        </p:nvSpPr>
        <p:spPr>
          <a:xfrm>
            <a:off x="898804" y="5929914"/>
            <a:ext cx="9669463" cy="365125"/>
          </a:xfrm>
          <a:prstGeom prst="rect">
            <a:avLst/>
          </a:prstGeom>
        </p:spPr>
        <p:txBody>
          <a:bodyPr vert="horz" lIns="91440" tIns="45720" rIns="91440" bIns="45720" rtlCol="0" anchor="ctr"/>
          <a:lstStyle>
            <a:defPPr>
              <a:defRPr lang="en-US"/>
            </a:defPPr>
            <a:lvl1pPr marL="0" algn="l"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defRPr/>
            </a:pPr>
            <a:r>
              <a:rPr lang="en-AU" dirty="0"/>
              <a:t>© 2020 KL University – The contents of this presentation are an intellectual and copyrighted property of KL University. ALL RIGHTS RESERVED</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609600" y="381001"/>
          <a:ext cx="10972800" cy="6019803"/>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2194560">
                  <a:extLst>
                    <a:ext uri="{9D8B030D-6E8A-4147-A177-3AD203B41FA5}">
                      <a16:colId xmlns:a16="http://schemas.microsoft.com/office/drawing/2014/main" val="20004"/>
                    </a:ext>
                  </a:extLst>
                </a:gridCol>
              </a:tblGrid>
              <a:tr h="779159">
                <a:tc rowSpan="2">
                  <a:txBody>
                    <a:bodyPr/>
                    <a:lstStyle/>
                    <a:p>
                      <a:endParaRPr lang="en-US" dirty="0"/>
                    </a:p>
                    <a:p>
                      <a:endParaRPr lang="en-US" dirty="0"/>
                    </a:p>
                    <a:p>
                      <a:r>
                        <a:rPr lang="en-US" dirty="0"/>
                        <a:t>Food Type</a:t>
                      </a:r>
                    </a:p>
                  </a:txBody>
                  <a:tcPr marL="121920" marR="121920"/>
                </a:tc>
                <a:tc gridSpan="3">
                  <a:txBody>
                    <a:bodyPr/>
                    <a:lstStyle/>
                    <a:p>
                      <a:pPr algn="ctr"/>
                      <a:r>
                        <a:rPr lang="en-US" dirty="0" err="1"/>
                        <a:t>Yeild</a:t>
                      </a:r>
                      <a:r>
                        <a:rPr lang="en-US" baseline="0" dirty="0"/>
                        <a:t> per unit</a:t>
                      </a:r>
                      <a:endParaRPr lang="en-US" dirty="0"/>
                    </a:p>
                  </a:txBody>
                  <a:tcPr marL="121920" marR="121920"/>
                </a:tc>
                <a:tc hMerge="1">
                  <a:txBody>
                    <a:bodyPr/>
                    <a:lstStyle/>
                    <a:p>
                      <a:endParaRPr lang="en-US" dirty="0"/>
                    </a:p>
                  </a:txBody>
                  <a:tcPr/>
                </a:tc>
                <a:tc hMerge="1">
                  <a:txBody>
                    <a:bodyPr/>
                    <a:lstStyle/>
                    <a:p>
                      <a:endParaRPr lang="en-US" dirty="0"/>
                    </a:p>
                  </a:txBody>
                  <a:tcPr/>
                </a:tc>
                <a:tc rowSpan="2">
                  <a:txBody>
                    <a:bodyPr/>
                    <a:lstStyle/>
                    <a:p>
                      <a:endParaRPr lang="en-US" dirty="0"/>
                    </a:p>
                    <a:p>
                      <a:endParaRPr lang="en-US" dirty="0"/>
                    </a:p>
                    <a:p>
                      <a:r>
                        <a:rPr lang="en-US" dirty="0"/>
                        <a:t>Cost per Unit</a:t>
                      </a:r>
                    </a:p>
                  </a:txBody>
                  <a:tcPr marL="121920" marR="121920"/>
                </a:tc>
                <a:extLst>
                  <a:ext uri="{0D108BD9-81ED-4DB2-BD59-A6C34878D82A}">
                    <a16:rowId xmlns:a16="http://schemas.microsoft.com/office/drawing/2014/main" val="10000"/>
                  </a:ext>
                </a:extLst>
              </a:tr>
              <a:tr h="779159">
                <a:tc vMerge="1">
                  <a:txBody>
                    <a:bodyPr/>
                    <a:lstStyle/>
                    <a:p>
                      <a:endParaRPr lang="en-US" dirty="0"/>
                    </a:p>
                  </a:txBody>
                  <a:tcPr/>
                </a:tc>
                <a:tc>
                  <a:txBody>
                    <a:bodyPr/>
                    <a:lstStyle/>
                    <a:p>
                      <a:pPr algn="ctr"/>
                      <a:r>
                        <a:rPr lang="en-US" dirty="0" err="1"/>
                        <a:t>Protiens</a:t>
                      </a:r>
                      <a:endParaRPr lang="en-US" dirty="0"/>
                    </a:p>
                  </a:txBody>
                  <a:tcPr marL="121920" marR="121920"/>
                </a:tc>
                <a:tc>
                  <a:txBody>
                    <a:bodyPr/>
                    <a:lstStyle/>
                    <a:p>
                      <a:pPr algn="ctr"/>
                      <a:r>
                        <a:rPr lang="en-US" dirty="0"/>
                        <a:t>Fats</a:t>
                      </a:r>
                    </a:p>
                  </a:txBody>
                  <a:tcPr marL="121920" marR="121920"/>
                </a:tc>
                <a:tc>
                  <a:txBody>
                    <a:bodyPr/>
                    <a:lstStyle/>
                    <a:p>
                      <a:pPr algn="ctr"/>
                      <a:r>
                        <a:rPr lang="en-US" dirty="0"/>
                        <a:t>Carbohydrates</a:t>
                      </a:r>
                    </a:p>
                  </a:txBody>
                  <a:tcPr marL="121920" marR="121920"/>
                </a:tc>
                <a:tc vMerge="1">
                  <a:txBody>
                    <a:bodyPr/>
                    <a:lstStyle/>
                    <a:p>
                      <a:endParaRPr lang="en-US" dirty="0"/>
                    </a:p>
                  </a:txBody>
                  <a:tcPr/>
                </a:tc>
                <a:extLst>
                  <a:ext uri="{0D108BD9-81ED-4DB2-BD59-A6C34878D82A}">
                    <a16:rowId xmlns:a16="http://schemas.microsoft.com/office/drawing/2014/main" val="10001"/>
                  </a:ext>
                </a:extLst>
              </a:tr>
              <a:tr h="779159">
                <a:tc>
                  <a:txBody>
                    <a:bodyPr/>
                    <a:lstStyle/>
                    <a:p>
                      <a:pPr algn="ctr"/>
                      <a:r>
                        <a:rPr lang="en-US" dirty="0"/>
                        <a:t>1</a:t>
                      </a:r>
                    </a:p>
                  </a:txBody>
                  <a:tcPr marL="121920" marR="121920"/>
                </a:tc>
                <a:tc>
                  <a:txBody>
                    <a:bodyPr/>
                    <a:lstStyle/>
                    <a:p>
                      <a:pPr algn="ctr"/>
                      <a:r>
                        <a:rPr lang="en-US" dirty="0"/>
                        <a:t>3</a:t>
                      </a:r>
                    </a:p>
                  </a:txBody>
                  <a:tcPr marL="121920" marR="121920"/>
                </a:tc>
                <a:tc>
                  <a:txBody>
                    <a:bodyPr/>
                    <a:lstStyle/>
                    <a:p>
                      <a:pPr algn="ctr"/>
                      <a:r>
                        <a:rPr lang="en-US" dirty="0"/>
                        <a:t>2</a:t>
                      </a:r>
                    </a:p>
                  </a:txBody>
                  <a:tcPr marL="121920" marR="121920"/>
                </a:tc>
                <a:tc>
                  <a:txBody>
                    <a:bodyPr/>
                    <a:lstStyle/>
                    <a:p>
                      <a:pPr algn="ctr"/>
                      <a:r>
                        <a:rPr lang="en-US" dirty="0"/>
                        <a:t>6</a:t>
                      </a:r>
                    </a:p>
                  </a:txBody>
                  <a:tcPr marL="121920" marR="121920"/>
                </a:tc>
                <a:tc>
                  <a:txBody>
                    <a:bodyPr/>
                    <a:lstStyle/>
                    <a:p>
                      <a:pPr algn="ctr"/>
                      <a:r>
                        <a:rPr lang="en-US" dirty="0"/>
                        <a:t>45</a:t>
                      </a:r>
                    </a:p>
                  </a:txBody>
                  <a:tcPr marL="121920" marR="121920"/>
                </a:tc>
                <a:extLst>
                  <a:ext uri="{0D108BD9-81ED-4DB2-BD59-A6C34878D82A}">
                    <a16:rowId xmlns:a16="http://schemas.microsoft.com/office/drawing/2014/main" val="10002"/>
                  </a:ext>
                </a:extLst>
              </a:tr>
              <a:tr h="779159">
                <a:tc>
                  <a:txBody>
                    <a:bodyPr/>
                    <a:lstStyle/>
                    <a:p>
                      <a:pPr algn="ctr"/>
                      <a:r>
                        <a:rPr lang="en-US" dirty="0"/>
                        <a:t>2</a:t>
                      </a:r>
                    </a:p>
                  </a:txBody>
                  <a:tcPr marL="121920" marR="121920"/>
                </a:tc>
                <a:tc>
                  <a:txBody>
                    <a:bodyPr/>
                    <a:lstStyle/>
                    <a:p>
                      <a:pPr algn="ctr"/>
                      <a:r>
                        <a:rPr lang="en-US" dirty="0"/>
                        <a:t>4</a:t>
                      </a:r>
                    </a:p>
                  </a:txBody>
                  <a:tcPr marL="121920" marR="121920"/>
                </a:tc>
                <a:tc>
                  <a:txBody>
                    <a:bodyPr/>
                    <a:lstStyle/>
                    <a:p>
                      <a:pPr algn="ctr"/>
                      <a:r>
                        <a:rPr lang="en-US" dirty="0"/>
                        <a:t>2</a:t>
                      </a:r>
                    </a:p>
                  </a:txBody>
                  <a:tcPr marL="121920" marR="121920"/>
                </a:tc>
                <a:tc>
                  <a:txBody>
                    <a:bodyPr/>
                    <a:lstStyle/>
                    <a:p>
                      <a:pPr algn="ctr"/>
                      <a:r>
                        <a:rPr lang="en-US" dirty="0"/>
                        <a:t>4</a:t>
                      </a:r>
                    </a:p>
                  </a:txBody>
                  <a:tcPr marL="121920" marR="121920"/>
                </a:tc>
                <a:tc>
                  <a:txBody>
                    <a:bodyPr/>
                    <a:lstStyle/>
                    <a:p>
                      <a:pPr algn="ctr"/>
                      <a:r>
                        <a:rPr lang="en-US" dirty="0"/>
                        <a:t>40</a:t>
                      </a:r>
                    </a:p>
                  </a:txBody>
                  <a:tcPr marL="121920" marR="121920"/>
                </a:tc>
                <a:extLst>
                  <a:ext uri="{0D108BD9-81ED-4DB2-BD59-A6C34878D82A}">
                    <a16:rowId xmlns:a16="http://schemas.microsoft.com/office/drawing/2014/main" val="10003"/>
                  </a:ext>
                </a:extLst>
              </a:tr>
              <a:tr h="779159">
                <a:tc>
                  <a:txBody>
                    <a:bodyPr/>
                    <a:lstStyle/>
                    <a:p>
                      <a:pPr algn="ctr"/>
                      <a:r>
                        <a:rPr lang="en-US" dirty="0"/>
                        <a:t>3</a:t>
                      </a:r>
                    </a:p>
                  </a:txBody>
                  <a:tcPr marL="121920" marR="121920"/>
                </a:tc>
                <a:tc>
                  <a:txBody>
                    <a:bodyPr/>
                    <a:lstStyle/>
                    <a:p>
                      <a:pPr algn="ctr"/>
                      <a:r>
                        <a:rPr lang="en-US" dirty="0"/>
                        <a:t>8</a:t>
                      </a:r>
                    </a:p>
                  </a:txBody>
                  <a:tcPr marL="121920" marR="121920"/>
                </a:tc>
                <a:tc>
                  <a:txBody>
                    <a:bodyPr/>
                    <a:lstStyle/>
                    <a:p>
                      <a:pPr algn="ctr"/>
                      <a:r>
                        <a:rPr lang="en-US" dirty="0"/>
                        <a:t>7</a:t>
                      </a:r>
                    </a:p>
                  </a:txBody>
                  <a:tcPr marL="121920" marR="121920"/>
                </a:tc>
                <a:tc>
                  <a:txBody>
                    <a:bodyPr/>
                    <a:lstStyle/>
                    <a:p>
                      <a:pPr algn="ctr"/>
                      <a:r>
                        <a:rPr lang="en-US" dirty="0"/>
                        <a:t>7</a:t>
                      </a:r>
                    </a:p>
                  </a:txBody>
                  <a:tcPr marL="121920" marR="121920"/>
                </a:tc>
                <a:tc>
                  <a:txBody>
                    <a:bodyPr/>
                    <a:lstStyle/>
                    <a:p>
                      <a:pPr algn="ctr"/>
                      <a:r>
                        <a:rPr lang="en-US" dirty="0"/>
                        <a:t>85</a:t>
                      </a:r>
                    </a:p>
                  </a:txBody>
                  <a:tcPr marL="121920" marR="121920"/>
                </a:tc>
                <a:extLst>
                  <a:ext uri="{0D108BD9-81ED-4DB2-BD59-A6C34878D82A}">
                    <a16:rowId xmlns:a16="http://schemas.microsoft.com/office/drawing/2014/main" val="10004"/>
                  </a:ext>
                </a:extLst>
              </a:tr>
              <a:tr h="779159">
                <a:tc>
                  <a:txBody>
                    <a:bodyPr/>
                    <a:lstStyle/>
                    <a:p>
                      <a:pPr algn="ctr"/>
                      <a:r>
                        <a:rPr lang="en-US" dirty="0"/>
                        <a:t>4</a:t>
                      </a:r>
                    </a:p>
                  </a:txBody>
                  <a:tcPr marL="121920" marR="121920"/>
                </a:tc>
                <a:tc>
                  <a:txBody>
                    <a:bodyPr/>
                    <a:lstStyle/>
                    <a:p>
                      <a:pPr algn="ctr"/>
                      <a:r>
                        <a:rPr lang="en-US" dirty="0"/>
                        <a:t>6</a:t>
                      </a:r>
                    </a:p>
                  </a:txBody>
                  <a:tcPr marL="121920" marR="121920"/>
                </a:tc>
                <a:tc>
                  <a:txBody>
                    <a:bodyPr/>
                    <a:lstStyle/>
                    <a:p>
                      <a:pPr algn="ctr"/>
                      <a:r>
                        <a:rPr lang="en-US" dirty="0"/>
                        <a:t>5</a:t>
                      </a:r>
                    </a:p>
                  </a:txBody>
                  <a:tcPr marL="121920" marR="121920"/>
                </a:tc>
                <a:tc>
                  <a:txBody>
                    <a:bodyPr/>
                    <a:lstStyle/>
                    <a:p>
                      <a:pPr algn="ctr"/>
                      <a:r>
                        <a:rPr lang="en-US" dirty="0"/>
                        <a:t>4</a:t>
                      </a:r>
                    </a:p>
                  </a:txBody>
                  <a:tcPr marL="121920" marR="121920"/>
                </a:tc>
                <a:tc>
                  <a:txBody>
                    <a:bodyPr/>
                    <a:lstStyle/>
                    <a:p>
                      <a:pPr algn="ctr"/>
                      <a:r>
                        <a:rPr lang="en-US" dirty="0"/>
                        <a:t>65</a:t>
                      </a:r>
                    </a:p>
                  </a:txBody>
                  <a:tcPr marL="121920" marR="121920"/>
                </a:tc>
                <a:extLst>
                  <a:ext uri="{0D108BD9-81ED-4DB2-BD59-A6C34878D82A}">
                    <a16:rowId xmlns:a16="http://schemas.microsoft.com/office/drawing/2014/main" val="10005"/>
                  </a:ext>
                </a:extLst>
              </a:tr>
              <a:tr h="1344849">
                <a:tc>
                  <a:txBody>
                    <a:bodyPr/>
                    <a:lstStyle/>
                    <a:p>
                      <a:pPr algn="ctr"/>
                      <a:r>
                        <a:rPr lang="en-US" dirty="0"/>
                        <a:t>Minimum requirement</a:t>
                      </a:r>
                    </a:p>
                  </a:txBody>
                  <a:tcPr marL="121920" marR="121920"/>
                </a:tc>
                <a:tc>
                  <a:txBody>
                    <a:bodyPr/>
                    <a:lstStyle/>
                    <a:p>
                      <a:pPr algn="ctr"/>
                      <a:r>
                        <a:rPr lang="en-US" dirty="0"/>
                        <a:t>800</a:t>
                      </a:r>
                    </a:p>
                  </a:txBody>
                  <a:tcPr marL="121920" marR="121920"/>
                </a:tc>
                <a:tc>
                  <a:txBody>
                    <a:bodyPr/>
                    <a:lstStyle/>
                    <a:p>
                      <a:pPr algn="ctr"/>
                      <a:r>
                        <a:rPr lang="en-US" dirty="0"/>
                        <a:t>200</a:t>
                      </a:r>
                    </a:p>
                  </a:txBody>
                  <a:tcPr marL="121920" marR="121920"/>
                </a:tc>
                <a:tc>
                  <a:txBody>
                    <a:bodyPr/>
                    <a:lstStyle/>
                    <a:p>
                      <a:pPr algn="ctr"/>
                      <a:r>
                        <a:rPr lang="en-US" dirty="0"/>
                        <a:t>700</a:t>
                      </a:r>
                    </a:p>
                  </a:txBody>
                  <a:tcPr marL="121920" marR="121920"/>
                </a:tc>
                <a:tc>
                  <a:txBody>
                    <a:bodyPr/>
                    <a:lstStyle/>
                    <a:p>
                      <a:pPr algn="ctr"/>
                      <a:endParaRPr lang="en-US" dirty="0"/>
                    </a:p>
                  </a:txBody>
                  <a:tcPr marL="121920" marR="121920"/>
                </a:tc>
                <a:extLst>
                  <a:ext uri="{0D108BD9-81ED-4DB2-BD59-A6C34878D82A}">
                    <a16:rowId xmlns:a16="http://schemas.microsoft.com/office/drawing/2014/main" val="10006"/>
                  </a:ext>
                </a:extLst>
              </a:tr>
            </a:tbl>
          </a:graphicData>
        </a:graphic>
      </p:graphicFrame>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304801"/>
            <a:ext cx="10972800" cy="5821363"/>
          </a:xfrm>
        </p:spPr>
        <p:txBody>
          <a:bodyPr>
            <a:normAutofit/>
          </a:bodyPr>
          <a:lstStyle/>
          <a:p>
            <a:pPr>
              <a:buNone/>
            </a:pPr>
            <a:r>
              <a:rPr lang="en-US" dirty="0"/>
              <a:t>Formulate linear programming problem for the given problem.</a:t>
            </a:r>
          </a:p>
          <a:p>
            <a:pPr>
              <a:buNone/>
            </a:pPr>
            <a:r>
              <a:rPr lang="en-US" dirty="0">
                <a:solidFill>
                  <a:srgbClr val="FF0000"/>
                </a:solidFill>
              </a:rPr>
              <a:t>Solution:</a:t>
            </a:r>
          </a:p>
          <a:p>
            <a:r>
              <a:rPr lang="en-US" dirty="0"/>
              <a:t>Let x</a:t>
            </a:r>
            <a:r>
              <a:rPr lang="en-US" baseline="-25000" dirty="0"/>
              <a:t>1</a:t>
            </a:r>
            <a:r>
              <a:rPr lang="en-US" dirty="0"/>
              <a:t>,x</a:t>
            </a:r>
            <a:r>
              <a:rPr lang="en-US" baseline="-25000" dirty="0"/>
              <a:t>2</a:t>
            </a:r>
            <a:r>
              <a:rPr lang="en-US" dirty="0"/>
              <a:t>,x</a:t>
            </a:r>
            <a:r>
              <a:rPr lang="en-US" baseline="-25000" dirty="0"/>
              <a:t>3</a:t>
            </a:r>
            <a:r>
              <a:rPr lang="en-US" dirty="0"/>
              <a:t> and x</a:t>
            </a:r>
            <a:r>
              <a:rPr lang="en-US" baseline="-25000" dirty="0"/>
              <a:t>4</a:t>
            </a:r>
            <a:r>
              <a:rPr lang="en-US" dirty="0"/>
              <a:t> denote the number of units of food type 1,2,3 and 4 respectively. The objective is to minimize the cost.</a:t>
            </a:r>
          </a:p>
          <a:p>
            <a:pPr>
              <a:buNone/>
            </a:pPr>
            <a:endParaRPr lang="en-US" dirty="0"/>
          </a:p>
          <a:p>
            <a:pPr>
              <a:buNone/>
            </a:pPr>
            <a:r>
              <a:rPr lang="en-US" dirty="0"/>
              <a:t>                    Minimize  Z=45x</a:t>
            </a:r>
            <a:r>
              <a:rPr lang="en-US" baseline="-25000" dirty="0"/>
              <a:t>1</a:t>
            </a:r>
            <a:r>
              <a:rPr lang="en-US" dirty="0"/>
              <a:t>+40x</a:t>
            </a:r>
            <a:r>
              <a:rPr lang="en-US" baseline="-25000" dirty="0"/>
              <a:t>2</a:t>
            </a:r>
            <a:r>
              <a:rPr lang="en-US" dirty="0"/>
              <a:t>+85x</a:t>
            </a:r>
            <a:r>
              <a:rPr lang="en-US" baseline="-25000" dirty="0"/>
              <a:t>3</a:t>
            </a:r>
            <a:r>
              <a:rPr lang="en-US" dirty="0"/>
              <a:t>+65x</a:t>
            </a:r>
            <a:r>
              <a:rPr lang="en-US" baseline="-25000" dirty="0"/>
              <a:t>4</a:t>
            </a:r>
            <a:r>
              <a:rPr lang="en-US" dirty="0"/>
              <a:t> </a:t>
            </a:r>
          </a:p>
          <a:p>
            <a:pPr>
              <a:buNone/>
            </a:pPr>
            <a:r>
              <a:rPr lang="en-US" dirty="0"/>
              <a:t>  subject to the constraints </a:t>
            </a:r>
          </a:p>
          <a:p>
            <a:pPr>
              <a:buNone/>
            </a:pPr>
            <a:r>
              <a:rPr lang="en-US" dirty="0"/>
              <a:t>                               3x</a:t>
            </a:r>
            <a:r>
              <a:rPr lang="en-US" baseline="-25000" dirty="0"/>
              <a:t>1</a:t>
            </a:r>
            <a:r>
              <a:rPr lang="en-US" dirty="0"/>
              <a:t>+4x</a:t>
            </a:r>
            <a:r>
              <a:rPr lang="en-US" baseline="-25000" dirty="0"/>
              <a:t>2</a:t>
            </a:r>
            <a:r>
              <a:rPr lang="en-US" dirty="0"/>
              <a:t>+8x</a:t>
            </a:r>
            <a:r>
              <a:rPr lang="en-US" baseline="-25000" dirty="0"/>
              <a:t>3</a:t>
            </a:r>
            <a:r>
              <a:rPr lang="en-US" dirty="0"/>
              <a:t>+6x</a:t>
            </a:r>
            <a:r>
              <a:rPr lang="en-US" baseline="-25000" dirty="0"/>
              <a:t>4</a:t>
            </a:r>
            <a:r>
              <a:rPr lang="en-US" dirty="0"/>
              <a:t>&gt;=800</a:t>
            </a:r>
          </a:p>
          <a:p>
            <a:pPr>
              <a:buNone/>
            </a:pPr>
            <a:r>
              <a:rPr lang="en-US" dirty="0"/>
              <a:t>                               2x</a:t>
            </a:r>
            <a:r>
              <a:rPr lang="en-US" baseline="-25000" dirty="0"/>
              <a:t>1</a:t>
            </a:r>
            <a:r>
              <a:rPr lang="en-US" dirty="0"/>
              <a:t>+2x</a:t>
            </a:r>
            <a:r>
              <a:rPr lang="en-US" baseline="-25000" dirty="0"/>
              <a:t>2</a:t>
            </a:r>
            <a:r>
              <a:rPr lang="en-US" dirty="0"/>
              <a:t>+7x</a:t>
            </a:r>
            <a:r>
              <a:rPr lang="en-US" baseline="-25000" dirty="0"/>
              <a:t>3</a:t>
            </a:r>
            <a:r>
              <a:rPr lang="en-US" dirty="0"/>
              <a:t>+5x</a:t>
            </a:r>
            <a:r>
              <a:rPr lang="en-US" baseline="-25000" dirty="0"/>
              <a:t>4</a:t>
            </a:r>
            <a:r>
              <a:rPr lang="en-US" dirty="0"/>
              <a:t>&gt;=200</a:t>
            </a:r>
          </a:p>
          <a:p>
            <a:pPr>
              <a:buNone/>
            </a:pPr>
            <a:r>
              <a:rPr lang="en-US" dirty="0"/>
              <a:t>                              6x</a:t>
            </a:r>
            <a:r>
              <a:rPr lang="en-US" baseline="-25000" dirty="0"/>
              <a:t>1</a:t>
            </a:r>
            <a:r>
              <a:rPr lang="en-US" dirty="0"/>
              <a:t>+4x</a:t>
            </a:r>
            <a:r>
              <a:rPr lang="en-US" baseline="-25000" dirty="0"/>
              <a:t>2</a:t>
            </a:r>
            <a:r>
              <a:rPr lang="en-US" dirty="0"/>
              <a:t>+7x</a:t>
            </a:r>
            <a:r>
              <a:rPr lang="en-US" baseline="-25000" dirty="0"/>
              <a:t>3</a:t>
            </a:r>
            <a:r>
              <a:rPr lang="en-US" dirty="0"/>
              <a:t>+4x</a:t>
            </a:r>
            <a:r>
              <a:rPr lang="en-US" baseline="-25000" dirty="0"/>
              <a:t>4</a:t>
            </a:r>
            <a:r>
              <a:rPr lang="en-US" dirty="0"/>
              <a:t>&gt;=700 </a:t>
            </a:r>
          </a:p>
          <a:p>
            <a:pPr>
              <a:buNone/>
            </a:pPr>
            <a:r>
              <a:rPr lang="en-US" dirty="0"/>
              <a:t>                    where x</a:t>
            </a:r>
            <a:r>
              <a:rPr lang="en-US" baseline="-25000" dirty="0"/>
              <a:t>1</a:t>
            </a:r>
            <a:r>
              <a:rPr lang="en-US" dirty="0"/>
              <a:t>,x</a:t>
            </a:r>
            <a:r>
              <a:rPr lang="en-US" baseline="-25000" dirty="0"/>
              <a:t>2</a:t>
            </a:r>
            <a:r>
              <a:rPr lang="en-US" dirty="0"/>
              <a:t>,x</a:t>
            </a:r>
            <a:r>
              <a:rPr lang="en-US" baseline="-25000" dirty="0"/>
              <a:t>3</a:t>
            </a:r>
            <a:r>
              <a:rPr lang="en-US" dirty="0"/>
              <a:t> and x</a:t>
            </a:r>
            <a:r>
              <a:rPr lang="en-US" baseline="-25000" dirty="0"/>
              <a:t>4</a:t>
            </a:r>
            <a:r>
              <a:rPr lang="en-US" dirty="0"/>
              <a:t>&gt;=0. </a:t>
            </a:r>
          </a:p>
          <a:p>
            <a:pPr>
              <a:buNone/>
            </a:pPr>
            <a:r>
              <a:rPr lang="en-US" dirty="0"/>
              <a:t>   This is called an Linear Programming Problem( LPP).</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p:cNvGraphicFramePr>
            <a:graphicFrameLocks noGrp="1"/>
          </p:cNvGraphicFramePr>
          <p:nvPr>
            <p:ph idx="1"/>
          </p:nvPr>
        </p:nvGraphicFramePr>
        <p:xfrm>
          <a:off x="609600" y="533400"/>
          <a:ext cx="10972800" cy="5486400"/>
        </p:xfrm>
        <a:graphic>
          <a:graphicData uri="http://schemas.openxmlformats.org/drawingml/2006/table">
            <a:tbl>
              <a:tblPr firstRow="1" bandRow="1">
                <a:tableStyleId>{5C22544A-7EE6-4342-B048-85BDC9FD1C3A}</a:tableStyleId>
              </a:tblPr>
              <a:tblGrid>
                <a:gridCol w="219456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2194560">
                  <a:extLst>
                    <a:ext uri="{9D8B030D-6E8A-4147-A177-3AD203B41FA5}">
                      <a16:colId xmlns:a16="http://schemas.microsoft.com/office/drawing/2014/main" val="20004"/>
                    </a:ext>
                  </a:extLst>
                </a:gridCol>
              </a:tblGrid>
              <a:tr h="1097280">
                <a:tc rowSpan="2">
                  <a:txBody>
                    <a:bodyPr/>
                    <a:lstStyle/>
                    <a:p>
                      <a:endParaRPr lang="en-US" dirty="0"/>
                    </a:p>
                    <a:p>
                      <a:r>
                        <a:rPr lang="en-US" dirty="0"/>
                        <a:t>    Machines</a:t>
                      </a:r>
                    </a:p>
                  </a:txBody>
                  <a:tcPr marL="121920" marR="121920"/>
                </a:tc>
                <a:tc gridSpan="3">
                  <a:txBody>
                    <a:bodyPr/>
                    <a:lstStyle/>
                    <a:p>
                      <a:r>
                        <a:rPr lang="en-US" dirty="0"/>
                        <a:t>                       Time per unit ( minutes</a:t>
                      </a:r>
                      <a:r>
                        <a:rPr lang="en-US" baseline="0" dirty="0"/>
                        <a:t> )</a:t>
                      </a:r>
                      <a:endParaRPr lang="en-US" dirty="0"/>
                    </a:p>
                  </a:txBody>
                  <a:tcPr marL="121920" marR="121920"/>
                </a:tc>
                <a:tc hMerge="1">
                  <a:txBody>
                    <a:bodyPr/>
                    <a:lstStyle/>
                    <a:p>
                      <a:endParaRPr lang="en-US" dirty="0"/>
                    </a:p>
                  </a:txBody>
                  <a:tcPr/>
                </a:tc>
                <a:tc hMerge="1">
                  <a:txBody>
                    <a:bodyPr/>
                    <a:lstStyle/>
                    <a:p>
                      <a:endParaRPr lang="en-US" dirty="0"/>
                    </a:p>
                  </a:txBody>
                  <a:tcPr/>
                </a:tc>
                <a:tc rowSpan="2">
                  <a:txBody>
                    <a:bodyPr/>
                    <a:lstStyle/>
                    <a:p>
                      <a:r>
                        <a:rPr lang="en-US" dirty="0"/>
                        <a:t>     Machine    capacity</a:t>
                      </a:r>
                    </a:p>
                  </a:txBody>
                  <a:tcPr marL="121920" marR="121920"/>
                </a:tc>
                <a:extLst>
                  <a:ext uri="{0D108BD9-81ED-4DB2-BD59-A6C34878D82A}">
                    <a16:rowId xmlns:a16="http://schemas.microsoft.com/office/drawing/2014/main" val="10000"/>
                  </a:ext>
                </a:extLst>
              </a:tr>
              <a:tr h="1097280">
                <a:tc vMerge="1">
                  <a:txBody>
                    <a:bodyPr/>
                    <a:lstStyle/>
                    <a:p>
                      <a:endParaRPr lang="en-US" dirty="0"/>
                    </a:p>
                  </a:txBody>
                  <a:tcPr/>
                </a:tc>
                <a:tc>
                  <a:txBody>
                    <a:bodyPr/>
                    <a:lstStyle/>
                    <a:p>
                      <a:pPr algn="ctr"/>
                      <a:r>
                        <a:rPr lang="en-US" dirty="0"/>
                        <a:t>Product-1</a:t>
                      </a:r>
                    </a:p>
                  </a:txBody>
                  <a:tcPr marL="121920" marR="121920"/>
                </a:tc>
                <a:tc>
                  <a:txBody>
                    <a:bodyPr/>
                    <a:lstStyle/>
                    <a:p>
                      <a:pPr algn="ctr"/>
                      <a:r>
                        <a:rPr lang="en-US" dirty="0"/>
                        <a:t>Product-2</a:t>
                      </a:r>
                    </a:p>
                  </a:txBody>
                  <a:tcPr marL="121920" marR="121920"/>
                </a:tc>
                <a:tc>
                  <a:txBody>
                    <a:bodyPr/>
                    <a:lstStyle/>
                    <a:p>
                      <a:pPr algn="ctr"/>
                      <a:r>
                        <a:rPr lang="en-US" dirty="0"/>
                        <a:t>Product-3</a:t>
                      </a:r>
                    </a:p>
                  </a:txBody>
                  <a:tcPr marL="121920" marR="121920"/>
                </a:tc>
                <a:tc vMerge="1">
                  <a:txBody>
                    <a:bodyPr/>
                    <a:lstStyle/>
                    <a:p>
                      <a:endParaRPr lang="en-US" dirty="0"/>
                    </a:p>
                  </a:txBody>
                  <a:tcPr/>
                </a:tc>
                <a:extLst>
                  <a:ext uri="{0D108BD9-81ED-4DB2-BD59-A6C34878D82A}">
                    <a16:rowId xmlns:a16="http://schemas.microsoft.com/office/drawing/2014/main" val="10001"/>
                  </a:ext>
                </a:extLst>
              </a:tr>
              <a:tr h="1097280">
                <a:tc>
                  <a:txBody>
                    <a:bodyPr/>
                    <a:lstStyle/>
                    <a:p>
                      <a:pPr algn="ctr"/>
                      <a:r>
                        <a:rPr lang="en-US" dirty="0"/>
                        <a:t>M1</a:t>
                      </a:r>
                    </a:p>
                  </a:txBody>
                  <a:tcPr marL="121920" marR="121920"/>
                </a:tc>
                <a:tc>
                  <a:txBody>
                    <a:bodyPr/>
                    <a:lstStyle/>
                    <a:p>
                      <a:r>
                        <a:rPr lang="en-US" dirty="0"/>
                        <a:t>             2</a:t>
                      </a:r>
                    </a:p>
                  </a:txBody>
                  <a:tcPr marL="121920" marR="121920"/>
                </a:tc>
                <a:tc>
                  <a:txBody>
                    <a:bodyPr/>
                    <a:lstStyle/>
                    <a:p>
                      <a:r>
                        <a:rPr lang="en-US" dirty="0"/>
                        <a:t>             3</a:t>
                      </a:r>
                    </a:p>
                  </a:txBody>
                  <a:tcPr marL="121920" marR="121920"/>
                </a:tc>
                <a:tc>
                  <a:txBody>
                    <a:bodyPr/>
                    <a:lstStyle/>
                    <a:p>
                      <a:r>
                        <a:rPr lang="en-US" dirty="0"/>
                        <a:t>             2</a:t>
                      </a:r>
                    </a:p>
                  </a:txBody>
                  <a:tcPr marL="121920" marR="121920"/>
                </a:tc>
                <a:tc>
                  <a:txBody>
                    <a:bodyPr/>
                    <a:lstStyle/>
                    <a:p>
                      <a:r>
                        <a:rPr lang="en-US" dirty="0"/>
                        <a:t>           440</a:t>
                      </a:r>
                    </a:p>
                  </a:txBody>
                  <a:tcPr marL="121920" marR="121920"/>
                </a:tc>
                <a:extLst>
                  <a:ext uri="{0D108BD9-81ED-4DB2-BD59-A6C34878D82A}">
                    <a16:rowId xmlns:a16="http://schemas.microsoft.com/office/drawing/2014/main" val="10002"/>
                  </a:ext>
                </a:extLst>
              </a:tr>
              <a:tr h="1097280">
                <a:tc>
                  <a:txBody>
                    <a:bodyPr/>
                    <a:lstStyle/>
                    <a:p>
                      <a:pPr algn="ctr"/>
                      <a:r>
                        <a:rPr lang="en-US" dirty="0"/>
                        <a:t>M2</a:t>
                      </a:r>
                    </a:p>
                  </a:txBody>
                  <a:tcPr marL="121920" marR="121920"/>
                </a:tc>
                <a:tc>
                  <a:txBody>
                    <a:bodyPr/>
                    <a:lstStyle/>
                    <a:p>
                      <a:r>
                        <a:rPr lang="en-US" dirty="0"/>
                        <a:t>             4</a:t>
                      </a:r>
                    </a:p>
                  </a:txBody>
                  <a:tcPr marL="121920" marR="121920"/>
                </a:tc>
                <a:tc>
                  <a:txBody>
                    <a:bodyPr/>
                    <a:lstStyle/>
                    <a:p>
                      <a:r>
                        <a:rPr lang="en-US" dirty="0"/>
                        <a:t>            --</a:t>
                      </a:r>
                    </a:p>
                  </a:txBody>
                  <a:tcPr marL="121920" marR="121920"/>
                </a:tc>
                <a:tc>
                  <a:txBody>
                    <a:bodyPr/>
                    <a:lstStyle/>
                    <a:p>
                      <a:r>
                        <a:rPr lang="en-US" dirty="0"/>
                        <a:t>             3</a:t>
                      </a:r>
                    </a:p>
                  </a:txBody>
                  <a:tcPr marL="121920" marR="121920"/>
                </a:tc>
                <a:tc>
                  <a:txBody>
                    <a:bodyPr/>
                    <a:lstStyle/>
                    <a:p>
                      <a:pPr algn="ctr"/>
                      <a:r>
                        <a:rPr lang="en-US" dirty="0"/>
                        <a:t>470</a:t>
                      </a:r>
                    </a:p>
                  </a:txBody>
                  <a:tcPr marL="121920" marR="121920"/>
                </a:tc>
                <a:extLst>
                  <a:ext uri="{0D108BD9-81ED-4DB2-BD59-A6C34878D82A}">
                    <a16:rowId xmlns:a16="http://schemas.microsoft.com/office/drawing/2014/main" val="10003"/>
                  </a:ext>
                </a:extLst>
              </a:tr>
              <a:tr h="1097280">
                <a:tc>
                  <a:txBody>
                    <a:bodyPr/>
                    <a:lstStyle/>
                    <a:p>
                      <a:pPr algn="ctr"/>
                      <a:r>
                        <a:rPr lang="en-US" dirty="0"/>
                        <a:t>M3</a:t>
                      </a:r>
                    </a:p>
                  </a:txBody>
                  <a:tcPr marL="121920" marR="121920"/>
                </a:tc>
                <a:tc>
                  <a:txBody>
                    <a:bodyPr/>
                    <a:lstStyle/>
                    <a:p>
                      <a:r>
                        <a:rPr lang="en-US" dirty="0"/>
                        <a:t>             2</a:t>
                      </a:r>
                    </a:p>
                  </a:txBody>
                  <a:tcPr marL="121920" marR="121920"/>
                </a:tc>
                <a:tc>
                  <a:txBody>
                    <a:bodyPr/>
                    <a:lstStyle/>
                    <a:p>
                      <a:r>
                        <a:rPr lang="en-US" dirty="0"/>
                        <a:t>             5</a:t>
                      </a:r>
                    </a:p>
                  </a:txBody>
                  <a:tcPr marL="121920" marR="121920"/>
                </a:tc>
                <a:tc>
                  <a:txBody>
                    <a:bodyPr/>
                    <a:lstStyle/>
                    <a:p>
                      <a:r>
                        <a:rPr lang="en-US" dirty="0"/>
                        <a:t>             --</a:t>
                      </a:r>
                    </a:p>
                  </a:txBody>
                  <a:tcPr marL="121920" marR="121920"/>
                </a:tc>
                <a:tc>
                  <a:txBody>
                    <a:bodyPr/>
                    <a:lstStyle/>
                    <a:p>
                      <a:pPr algn="ctr"/>
                      <a:r>
                        <a:rPr lang="en-US" dirty="0"/>
                        <a:t>430</a:t>
                      </a:r>
                    </a:p>
                  </a:txBody>
                  <a:tcPr marL="121920" marR="121920"/>
                </a:tc>
                <a:extLst>
                  <a:ext uri="{0D108BD9-81ED-4DB2-BD59-A6C34878D82A}">
                    <a16:rowId xmlns:a16="http://schemas.microsoft.com/office/drawing/2014/main" val="10004"/>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533401"/>
            <a:ext cx="10972800" cy="5592763"/>
          </a:xfrm>
        </p:spPr>
        <p:txBody>
          <a:bodyPr>
            <a:normAutofit/>
          </a:bodyPr>
          <a:lstStyle/>
          <a:p>
            <a:pPr>
              <a:buNone/>
            </a:pPr>
            <a:r>
              <a:rPr lang="en-US" dirty="0">
                <a:solidFill>
                  <a:srgbClr val="FF0000"/>
                </a:solidFill>
              </a:rPr>
              <a:t>Solution:</a:t>
            </a:r>
          </a:p>
          <a:p>
            <a:pPr>
              <a:buNone/>
            </a:pPr>
            <a:r>
              <a:rPr lang="en-US" dirty="0"/>
              <a:t>    Let the amounts of products 1,2 and 3 manufactured daily be x1,x2 and x3 units respectively. Clearly  x1,x2 and x3 are clearly &gt;=0</a:t>
            </a:r>
          </a:p>
          <a:p>
            <a:pPr>
              <a:buNone/>
            </a:pPr>
            <a:r>
              <a:rPr lang="en-US" dirty="0"/>
              <a:t>    In this problem, The objective function is </a:t>
            </a:r>
          </a:p>
          <a:p>
            <a:pPr>
              <a:buNone/>
            </a:pPr>
            <a:r>
              <a:rPr lang="en-US" dirty="0"/>
              <a:t>                 Maximize     Z=4x</a:t>
            </a:r>
            <a:r>
              <a:rPr lang="en-US" baseline="-25000" dirty="0"/>
              <a:t>1</a:t>
            </a:r>
            <a:r>
              <a:rPr lang="en-US" dirty="0"/>
              <a:t>+3x</a:t>
            </a:r>
            <a:r>
              <a:rPr lang="en-US" baseline="-25000" dirty="0"/>
              <a:t>2</a:t>
            </a:r>
            <a:r>
              <a:rPr lang="en-US" dirty="0"/>
              <a:t>+6x</a:t>
            </a:r>
            <a:r>
              <a:rPr lang="en-US" baseline="-25000" dirty="0"/>
              <a:t>3</a:t>
            </a:r>
          </a:p>
          <a:p>
            <a:pPr>
              <a:buNone/>
            </a:pPr>
            <a:r>
              <a:rPr lang="en-US" dirty="0"/>
              <a:t>    Since, the constraints are on machine capacities and can be mathematically expressed as </a:t>
            </a:r>
          </a:p>
          <a:p>
            <a:pPr>
              <a:buNone/>
            </a:pPr>
            <a:r>
              <a:rPr lang="en-US" dirty="0"/>
              <a:t>                        2x</a:t>
            </a:r>
            <a:r>
              <a:rPr lang="en-US" baseline="-25000" dirty="0"/>
              <a:t>1</a:t>
            </a:r>
            <a:r>
              <a:rPr lang="en-US" dirty="0"/>
              <a:t>+3x</a:t>
            </a:r>
            <a:r>
              <a:rPr lang="en-US" baseline="-25000" dirty="0"/>
              <a:t>2</a:t>
            </a:r>
            <a:r>
              <a:rPr lang="en-US" dirty="0"/>
              <a:t>+2x</a:t>
            </a:r>
            <a:r>
              <a:rPr lang="en-US" baseline="-25000" dirty="0"/>
              <a:t>3</a:t>
            </a:r>
            <a:r>
              <a:rPr lang="en-US" dirty="0"/>
              <a:t>&lt;=440</a:t>
            </a:r>
          </a:p>
          <a:p>
            <a:pPr>
              <a:buNone/>
            </a:pPr>
            <a:r>
              <a:rPr lang="en-US" dirty="0"/>
              <a:t>                        4x</a:t>
            </a:r>
            <a:r>
              <a:rPr lang="en-US" baseline="-25000" dirty="0"/>
              <a:t>1</a:t>
            </a:r>
            <a:r>
              <a:rPr lang="en-US" dirty="0"/>
              <a:t>+0x</a:t>
            </a:r>
            <a:r>
              <a:rPr lang="en-US" baseline="-25000" dirty="0"/>
              <a:t>2</a:t>
            </a:r>
            <a:r>
              <a:rPr lang="en-US" dirty="0"/>
              <a:t>+3x</a:t>
            </a:r>
            <a:r>
              <a:rPr lang="en-US" baseline="-25000" dirty="0"/>
              <a:t>3</a:t>
            </a:r>
            <a:r>
              <a:rPr lang="en-US" dirty="0"/>
              <a:t>&lt;=470</a:t>
            </a:r>
          </a:p>
          <a:p>
            <a:pPr>
              <a:buNone/>
            </a:pPr>
            <a:r>
              <a:rPr lang="en-US" dirty="0"/>
              <a:t>                        2x</a:t>
            </a:r>
            <a:r>
              <a:rPr lang="en-US" baseline="-25000" dirty="0"/>
              <a:t>1</a:t>
            </a:r>
            <a:r>
              <a:rPr lang="en-US" dirty="0"/>
              <a:t>+5x</a:t>
            </a:r>
            <a:r>
              <a:rPr lang="en-US" baseline="-25000" dirty="0"/>
              <a:t>2</a:t>
            </a:r>
            <a:r>
              <a:rPr lang="en-US" dirty="0"/>
              <a:t>+0x</a:t>
            </a:r>
            <a:r>
              <a:rPr lang="en-US" baseline="-25000" dirty="0"/>
              <a:t>3</a:t>
            </a:r>
            <a:r>
              <a:rPr lang="en-US" dirty="0"/>
              <a:t>&lt;=430  </a:t>
            </a:r>
          </a:p>
          <a:p>
            <a:pPr>
              <a:buNone/>
            </a:pPr>
            <a:r>
              <a:rPr lang="en-US" dirty="0"/>
              <a:t>    where x</a:t>
            </a:r>
            <a:r>
              <a:rPr lang="en-US" baseline="-25000" dirty="0"/>
              <a:t>1</a:t>
            </a:r>
            <a:r>
              <a:rPr lang="en-US" dirty="0"/>
              <a:t>,x</a:t>
            </a:r>
            <a:r>
              <a:rPr lang="en-US" baseline="-25000" dirty="0"/>
              <a:t>2</a:t>
            </a:r>
            <a:r>
              <a:rPr lang="en-US" dirty="0"/>
              <a:t>,x</a:t>
            </a:r>
            <a:r>
              <a:rPr lang="en-US" baseline="-25000" dirty="0"/>
              <a:t>3</a:t>
            </a:r>
            <a:r>
              <a:rPr lang="en-US" dirty="0"/>
              <a:t> are &gt;=0.</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457201"/>
            <a:ext cx="10972800" cy="5668963"/>
          </a:xfrm>
        </p:spPr>
        <p:txBody>
          <a:bodyPr/>
          <a:lstStyle/>
          <a:p>
            <a:pPr>
              <a:buNone/>
            </a:pPr>
            <a:r>
              <a:rPr lang="en-US" dirty="0"/>
              <a:t>   Hence, The given problem can be formulated as an LP problem by </a:t>
            </a:r>
          </a:p>
          <a:p>
            <a:pPr>
              <a:buNone/>
            </a:pPr>
            <a:r>
              <a:rPr lang="en-US" dirty="0"/>
              <a:t>Maximize     Z = 4x</a:t>
            </a:r>
            <a:r>
              <a:rPr lang="en-US" baseline="-25000" dirty="0"/>
              <a:t>1</a:t>
            </a:r>
            <a:r>
              <a:rPr lang="en-US" dirty="0"/>
              <a:t>+3x</a:t>
            </a:r>
            <a:r>
              <a:rPr lang="en-US" baseline="-25000" dirty="0"/>
              <a:t>2</a:t>
            </a:r>
            <a:r>
              <a:rPr lang="en-US" dirty="0"/>
              <a:t>+6x</a:t>
            </a:r>
            <a:r>
              <a:rPr lang="en-US" baseline="-25000" dirty="0"/>
              <a:t>3</a:t>
            </a:r>
            <a:endParaRPr lang="en-US" dirty="0"/>
          </a:p>
          <a:p>
            <a:pPr>
              <a:buNone/>
            </a:pPr>
            <a:r>
              <a:rPr lang="en-US" dirty="0"/>
              <a:t>         Subject to the constraints </a:t>
            </a:r>
          </a:p>
          <a:p>
            <a:pPr>
              <a:buNone/>
            </a:pPr>
            <a:r>
              <a:rPr lang="en-US" dirty="0"/>
              <a:t>                        2x</a:t>
            </a:r>
            <a:r>
              <a:rPr lang="en-US" baseline="-25000" dirty="0"/>
              <a:t>1</a:t>
            </a:r>
            <a:r>
              <a:rPr lang="en-US" dirty="0"/>
              <a:t>+3x</a:t>
            </a:r>
            <a:r>
              <a:rPr lang="en-US" baseline="-25000" dirty="0"/>
              <a:t>2</a:t>
            </a:r>
            <a:r>
              <a:rPr lang="en-US" dirty="0"/>
              <a:t>+2x</a:t>
            </a:r>
            <a:r>
              <a:rPr lang="en-US" baseline="-25000" dirty="0"/>
              <a:t>3</a:t>
            </a:r>
            <a:r>
              <a:rPr lang="en-US" dirty="0"/>
              <a:t>&lt;=440</a:t>
            </a:r>
          </a:p>
          <a:p>
            <a:pPr>
              <a:buNone/>
            </a:pPr>
            <a:r>
              <a:rPr lang="en-US" dirty="0"/>
              <a:t>                        4x</a:t>
            </a:r>
            <a:r>
              <a:rPr lang="en-US" baseline="-25000" dirty="0"/>
              <a:t>1</a:t>
            </a:r>
            <a:r>
              <a:rPr lang="en-US" dirty="0"/>
              <a:t>+0x</a:t>
            </a:r>
            <a:r>
              <a:rPr lang="en-US" baseline="-25000" dirty="0"/>
              <a:t>2</a:t>
            </a:r>
            <a:r>
              <a:rPr lang="en-US" dirty="0"/>
              <a:t>+3x</a:t>
            </a:r>
            <a:r>
              <a:rPr lang="en-US" baseline="-25000" dirty="0"/>
              <a:t>3</a:t>
            </a:r>
            <a:r>
              <a:rPr lang="en-US" dirty="0"/>
              <a:t>&lt;=470</a:t>
            </a:r>
          </a:p>
          <a:p>
            <a:pPr>
              <a:buNone/>
            </a:pPr>
            <a:r>
              <a:rPr lang="en-US" dirty="0"/>
              <a:t>                        2x</a:t>
            </a:r>
            <a:r>
              <a:rPr lang="en-US" baseline="-25000" dirty="0"/>
              <a:t>1</a:t>
            </a:r>
            <a:r>
              <a:rPr lang="en-US" dirty="0"/>
              <a:t>+5x</a:t>
            </a:r>
            <a:r>
              <a:rPr lang="en-US" baseline="-25000" dirty="0"/>
              <a:t>2</a:t>
            </a:r>
            <a:r>
              <a:rPr lang="en-US" dirty="0"/>
              <a:t>+0x</a:t>
            </a:r>
            <a:r>
              <a:rPr lang="en-US" baseline="-25000" dirty="0"/>
              <a:t>3</a:t>
            </a:r>
            <a:r>
              <a:rPr lang="en-US" dirty="0"/>
              <a:t>&lt;=430  </a:t>
            </a:r>
          </a:p>
          <a:p>
            <a:pPr>
              <a:buNone/>
            </a:pPr>
            <a:r>
              <a:rPr lang="en-US" dirty="0"/>
              <a:t>    where x</a:t>
            </a:r>
            <a:r>
              <a:rPr lang="en-US" baseline="-25000" dirty="0"/>
              <a:t>1</a:t>
            </a:r>
            <a:r>
              <a:rPr lang="en-US" dirty="0"/>
              <a:t>,x</a:t>
            </a:r>
            <a:r>
              <a:rPr lang="en-US" baseline="-25000" dirty="0"/>
              <a:t>2</a:t>
            </a:r>
            <a:r>
              <a:rPr lang="en-US" dirty="0"/>
              <a:t>,x</a:t>
            </a:r>
            <a:r>
              <a:rPr lang="en-US" baseline="-25000" dirty="0"/>
              <a:t>3</a:t>
            </a:r>
            <a:r>
              <a:rPr lang="en-US" dirty="0"/>
              <a:t> are &gt;=0</a:t>
            </a:r>
          </a:p>
          <a:p>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451579" y="246581"/>
            <a:ext cx="9603275" cy="844464"/>
          </a:xfrm>
        </p:spPr>
        <p:txBody>
          <a:bodyPr/>
          <a:lstStyle/>
          <a:p>
            <a:r>
              <a:rPr lang="en-US" dirty="0"/>
              <a:t>References</a:t>
            </a:r>
            <a:endParaRPr lang="en-IN" dirty="0"/>
          </a:p>
        </p:txBody>
      </p:sp>
      <p:sp>
        <p:nvSpPr>
          <p:cNvPr id="3" name="Content Placeholder 2"/>
          <p:cNvSpPr>
            <a:spLocks noGrp="1"/>
          </p:cNvSpPr>
          <p:nvPr>
            <p:ph idx="1"/>
          </p:nvPr>
        </p:nvSpPr>
        <p:spPr>
          <a:xfrm>
            <a:off x="280555" y="1091046"/>
            <a:ext cx="11772900" cy="4946072"/>
          </a:xfrm>
        </p:spPr>
        <p:txBody>
          <a:bodyPr>
            <a:normAutofit fontScale="92500" lnSpcReduction="20000"/>
          </a:bodyPr>
          <a:lstStyle/>
          <a:p>
            <a:endParaRPr lang="en-US" dirty="0"/>
          </a:p>
          <a:p>
            <a:pPr marL="0" indent="0">
              <a:buNone/>
            </a:pPr>
            <a:r>
              <a:rPr lang="en-US" b="1" dirty="0"/>
              <a:t>Textbook: </a:t>
            </a:r>
          </a:p>
          <a:p>
            <a:pPr marL="0" indent="0">
              <a:buNone/>
            </a:pPr>
            <a:r>
              <a:rPr lang="en-US" b="1" i="1" dirty="0"/>
              <a:t> 1. </a:t>
            </a:r>
            <a:r>
              <a:rPr lang="en-US" i="1" dirty="0"/>
              <a:t>Introduction to Mathematical Programming </a:t>
            </a:r>
            <a:r>
              <a:rPr lang="en-US" dirty="0"/>
              <a:t>by Russell C. Walker, published by Pearson Custom Publishing,  2006 </a:t>
            </a:r>
          </a:p>
          <a:p>
            <a:pPr marL="0" indent="0">
              <a:buNone/>
            </a:pPr>
            <a:r>
              <a:rPr lang="en-US" dirty="0"/>
              <a:t>2. S. P. Bradley, A. C. </a:t>
            </a:r>
            <a:r>
              <a:rPr lang="en-US" dirty="0" err="1"/>
              <a:t>Hax</a:t>
            </a:r>
            <a:r>
              <a:rPr lang="en-US" dirty="0"/>
              <a:t>, and T. L. </a:t>
            </a:r>
            <a:r>
              <a:rPr lang="en-US" dirty="0" err="1"/>
              <a:t>Magnanti</a:t>
            </a:r>
            <a:r>
              <a:rPr lang="en-US" dirty="0"/>
              <a:t>, </a:t>
            </a:r>
            <a:r>
              <a:rPr lang="en-US" i="1" dirty="0"/>
              <a:t>Applied Mathematical Programming</a:t>
            </a:r>
            <a:r>
              <a:rPr lang="en-US" dirty="0"/>
              <a:t>, Addison-Wesley Publishing Company, 1977 </a:t>
            </a:r>
            <a:br>
              <a:rPr lang="en-US" dirty="0"/>
            </a:br>
            <a:r>
              <a:rPr lang="en-US" dirty="0"/>
              <a:t>3. </a:t>
            </a:r>
            <a:r>
              <a:rPr lang="en-US" dirty="0" err="1"/>
              <a:t>Lenstra</a:t>
            </a:r>
            <a:r>
              <a:rPr lang="en-US" dirty="0"/>
              <a:t>, </a:t>
            </a:r>
            <a:r>
              <a:rPr lang="en-US" dirty="0" err="1"/>
              <a:t>Rinnooy</a:t>
            </a:r>
            <a:r>
              <a:rPr lang="en-US" dirty="0"/>
              <a:t> </a:t>
            </a:r>
            <a:r>
              <a:rPr lang="en-US" dirty="0" err="1"/>
              <a:t>Kan</a:t>
            </a:r>
            <a:r>
              <a:rPr lang="en-US" dirty="0"/>
              <a:t>, &amp; </a:t>
            </a:r>
            <a:r>
              <a:rPr lang="en-US" dirty="0" err="1"/>
              <a:t>Schrijver</a:t>
            </a:r>
            <a:r>
              <a:rPr lang="en-US" dirty="0"/>
              <a:t> (eds.), </a:t>
            </a:r>
            <a:r>
              <a:rPr lang="en-US" i="1" dirty="0"/>
              <a:t>History of Mathematical Programming: A Collection of Personal Reminiscences</a:t>
            </a:r>
            <a:r>
              <a:rPr lang="en-US" dirty="0"/>
              <a:t>, Elsevier, 1991. </a:t>
            </a:r>
            <a:br>
              <a:rPr lang="en-US" dirty="0"/>
            </a:br>
            <a:br>
              <a:rPr lang="en-US" dirty="0"/>
            </a:br>
            <a:r>
              <a:rPr lang="en-US" b="1" dirty="0"/>
              <a:t>Web Resources</a:t>
            </a:r>
          </a:p>
          <a:p>
            <a:pPr marL="457200" indent="-457200">
              <a:buAutoNum type="arabicPeriod"/>
            </a:pPr>
            <a:r>
              <a:rPr lang="en-US" dirty="0">
                <a:hlinkClick r:id="rId2"/>
              </a:rPr>
              <a:t>https://nptel.ac.in/courses/110105096</a:t>
            </a:r>
            <a:r>
              <a:rPr lang="en-US" dirty="0"/>
              <a:t> </a:t>
            </a:r>
          </a:p>
          <a:p>
            <a:pPr marL="457200" indent="-457200">
              <a:buAutoNum type="arabicPeriod"/>
            </a:pPr>
            <a:r>
              <a:rPr lang="en-US" dirty="0">
                <a:hlinkClick r:id="rId3"/>
              </a:rPr>
              <a:t>https://www.coursera.org/learn/operations-research-modeling</a:t>
            </a:r>
            <a:r>
              <a:rPr lang="en-US" dirty="0"/>
              <a:t>  </a:t>
            </a:r>
          </a:p>
          <a:p>
            <a:pPr marL="457200" indent="-457200">
              <a:buAutoNum type="arabicPeriod"/>
            </a:pPr>
            <a:r>
              <a:rPr lang="en-IN" dirty="0">
                <a:hlinkClick r:id="rId4"/>
              </a:rPr>
              <a:t>https://www.semanticscholar.org/paper/Applied-Mathematical-Programming-Bradley-Hax/8a4ee083b23505df221410e6a2b41fc56fa250a6</a:t>
            </a:r>
            <a:r>
              <a:rPr lang="en-IN" dirty="0"/>
              <a:t> </a:t>
            </a:r>
          </a:p>
        </p:txBody>
      </p:sp>
      <p:sp>
        <p:nvSpPr>
          <p:cNvPr id="4" name="Slide Number Placeholder 3"/>
          <p:cNvSpPr>
            <a:spLocks noGrp="1"/>
          </p:cNvSpPr>
          <p:nvPr>
            <p:ph type="sldNum" sz="quarter" idx="12"/>
          </p:nvPr>
        </p:nvSpPr>
        <p:spPr/>
        <p:txBody>
          <a:bodyPr/>
          <a:lstStyle/>
          <a:p>
            <a:fld id="{CBABCCC1-BF11-4F37-963E-1BCD5B23FD72}" type="slidenum">
              <a:rPr lang="en-IN" smtClean="0"/>
              <a:t>31</a:t>
            </a:fld>
            <a:endParaRPr lang="en-IN"/>
          </a:p>
        </p:txBody>
      </p:sp>
    </p:spTree>
    <p:extLst>
      <p:ext uri="{BB962C8B-B14F-4D97-AF65-F5344CB8AC3E}">
        <p14:creationId xmlns:p14="http://schemas.microsoft.com/office/powerpoint/2010/main" val="28687194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3148577" y="2249951"/>
            <a:ext cx="5940083" cy="2162908"/>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atin typeface="Poppins" pitchFamily="2" charset="77"/>
              <a:cs typeface="Poppins" pitchFamily="2" charset="77"/>
            </a:endParaRPr>
          </a:p>
          <a:p>
            <a:pPr algn="ctr"/>
            <a:endParaRPr lang="en-US" b="1" dirty="0">
              <a:latin typeface="Poppins" pitchFamily="2" charset="77"/>
              <a:cs typeface="Poppins" pitchFamily="2" charset="77"/>
            </a:endParaRPr>
          </a:p>
          <a:p>
            <a:pPr algn="ctr"/>
            <a:r>
              <a:rPr lang="en-US" b="1" dirty="0">
                <a:latin typeface="Poppins" pitchFamily="2" charset="77"/>
                <a:cs typeface="Poppins" pitchFamily="2" charset="77"/>
              </a:rPr>
              <a:t>THANK YOU</a:t>
            </a:r>
          </a:p>
          <a:p>
            <a:pPr algn="ctr"/>
            <a:endParaRPr lang="en-US" dirty="0">
              <a:latin typeface="Poppins" pitchFamily="2" charset="77"/>
              <a:cs typeface="Poppins" pitchFamily="2" charset="77"/>
            </a:endParaRPr>
          </a:p>
          <a:p>
            <a:pPr algn="ctr"/>
            <a:endParaRPr lang="en-US" dirty="0">
              <a:latin typeface="Poppins" pitchFamily="2" charset="77"/>
              <a:cs typeface="Poppins" pitchFamily="2" charset="77"/>
            </a:endParaRPr>
          </a:p>
          <a:p>
            <a:pPr algn="ctr"/>
            <a:endParaRPr lang="en-US" dirty="0">
              <a:latin typeface="Poppins" pitchFamily="2" charset="77"/>
              <a:cs typeface="Poppins" pitchFamily="2" charset="77"/>
            </a:endParaRPr>
          </a:p>
          <a:p>
            <a:pPr algn="ctr"/>
            <a:endParaRPr lang="en-US" dirty="0">
              <a:latin typeface="Poppins" pitchFamily="2" charset="77"/>
              <a:cs typeface="Poppins" pitchFamily="2" charset="77"/>
            </a:endParaRPr>
          </a:p>
          <a:p>
            <a:pPr algn="ctr"/>
            <a:r>
              <a:rPr lang="en-US" b="1" dirty="0">
                <a:latin typeface="Poppins" pitchFamily="2" charset="77"/>
                <a:cs typeface="Poppins" pitchFamily="2" charset="77"/>
              </a:rPr>
              <a:t>Team – Mathematical Optimization</a:t>
            </a:r>
            <a:endParaRPr lang="en-US" dirty="0">
              <a:solidFill>
                <a:schemeClr val="bg1"/>
              </a:solidFill>
              <a:latin typeface="Poppins" pitchFamily="2" charset="77"/>
              <a:cs typeface="Poppins" pitchFamily="2" charset="77"/>
            </a:endParaRPr>
          </a:p>
          <a:p>
            <a:pPr algn="ctr"/>
            <a:endParaRPr lang="en-US" dirty="0">
              <a:solidFill>
                <a:schemeClr val="bg1"/>
              </a:solidFill>
              <a:latin typeface="Poppins" pitchFamily="2" charset="77"/>
              <a:cs typeface="Poppins" pitchFamily="2" charset="77"/>
            </a:endParaRPr>
          </a:p>
          <a:p>
            <a:pPr algn="ctr"/>
            <a:endParaRPr lang="en-US"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122168" y="2777492"/>
            <a:ext cx="2426678" cy="812409"/>
          </a:xfrm>
          <a:prstGeom prst="rect">
            <a:avLst/>
          </a:prstGeom>
          <a:noFill/>
        </p:spPr>
      </p:pic>
    </p:spTree>
    <p:extLst>
      <p:ext uri="{BB962C8B-B14F-4D97-AF65-F5344CB8AC3E}">
        <p14:creationId xmlns:p14="http://schemas.microsoft.com/office/powerpoint/2010/main" val="694146149"/>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Presentation1" id="{24598BE9-BD78-4C1A-902E-0BA786164A9D}" vid="{1551CBD6-114D-4A17-981D-82FBB9D5494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CoE PPT Template</Template>
  <TotalTime>2062</TotalTime>
  <Words>2791</Words>
  <Application>Microsoft Office PowerPoint</Application>
  <PresentationFormat>Widescreen</PresentationFormat>
  <Paragraphs>282</Paragraphs>
  <Slides>32</Slides>
  <Notes>0</Notes>
  <HiddenSlides>0</HiddenSlides>
  <MMClips>0</MMClips>
  <ScaleCrop>false</ScaleCrop>
  <HeadingPairs>
    <vt:vector size="4" baseType="variant">
      <vt:variant>
        <vt:lpstr>Theme</vt:lpstr>
      </vt:variant>
      <vt:variant>
        <vt:i4>1</vt:i4>
      </vt:variant>
      <vt:variant>
        <vt:lpstr>Slide Titles</vt:lpstr>
      </vt:variant>
      <vt:variant>
        <vt:i4>32</vt:i4>
      </vt:variant>
    </vt:vector>
  </HeadingPairs>
  <TitlesOfParts>
    <vt:vector size="33" baseType="lpstr">
      <vt:lpstr>Gallery</vt:lpstr>
      <vt:lpstr>PowerPoint Presentation</vt:lpstr>
      <vt:lpstr>PowerPoint Presentation</vt:lpstr>
      <vt:lpstr>Mathematical  OPTIMIZATION- Co’s</vt:lpstr>
      <vt:lpstr>Mathematical  OPTIMIZATION course Objectives</vt:lpstr>
      <vt:lpstr>Objective </vt:lpstr>
      <vt:lpstr>Example Problem</vt:lpstr>
      <vt:lpstr>Formulation of LPP</vt:lpstr>
      <vt:lpstr>Formulation of LPP</vt:lpstr>
      <vt:lpstr>Case study</vt:lpstr>
      <vt:lpstr>Formulating  Objective function</vt:lpstr>
      <vt:lpstr>Some commonly used terms in linear programming problems are </vt:lpstr>
      <vt:lpstr>Objective function (Cont..)</vt:lpstr>
      <vt:lpstr>Decision Variables</vt:lpstr>
      <vt:lpstr>Tabulating  data  for  formulation</vt:lpstr>
      <vt:lpstr> Formulation of  Constraints</vt:lpstr>
      <vt:lpstr>Final Formulation by  adding  non-negative  constraints</vt:lpstr>
      <vt:lpstr>questions</vt:lpstr>
      <vt:lpstr>Class work: LPP formulation problem</vt:lpstr>
      <vt:lpstr>Problem Continued…</vt:lpstr>
      <vt:lpstr>Formulation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References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Dr GOVIND DIVAKARAN</dc:creator>
  <cp:lastModifiedBy>k drakshayani</cp:lastModifiedBy>
  <cp:revision>52</cp:revision>
  <dcterms:created xsi:type="dcterms:W3CDTF">2023-05-03T04:42:59Z</dcterms:created>
  <dcterms:modified xsi:type="dcterms:W3CDTF">2025-07-15T04:57:18Z</dcterms:modified>
</cp:coreProperties>
</file>