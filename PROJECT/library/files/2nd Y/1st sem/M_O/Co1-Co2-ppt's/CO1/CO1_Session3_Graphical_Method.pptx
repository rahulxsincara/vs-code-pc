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7"/>
  </p:notesMasterIdLst>
  <p:handoutMasterIdLst>
    <p:handoutMasterId r:id="rId18"/>
  </p:handoutMasterIdLst>
  <p:sldIdLst>
    <p:sldId id="285" r:id="rId2"/>
    <p:sldId id="286" r:id="rId3"/>
    <p:sldId id="259" r:id="rId4"/>
    <p:sldId id="260" r:id="rId5"/>
    <p:sldId id="273" r:id="rId6"/>
    <p:sldId id="274" r:id="rId7"/>
    <p:sldId id="275" r:id="rId8"/>
    <p:sldId id="276" r:id="rId9"/>
    <p:sldId id="277" r:id="rId10"/>
    <p:sldId id="284" r:id="rId11"/>
    <p:sldId id="281" r:id="rId12"/>
    <p:sldId id="282" r:id="rId13"/>
    <p:sldId id="283" r:id="rId14"/>
    <p:sldId id="288" r:id="rId15"/>
    <p:sldId id="28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xmlns=""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14-06-2023</a:t>
            </a:fld>
            <a:endParaRPr lang="en-IN"/>
          </a:p>
        </p:txBody>
      </p:sp>
      <p:sp>
        <p:nvSpPr>
          <p:cNvPr id="4" name="Footer Placeholder 3">
            <a:extLst>
              <a:ext uri="{FF2B5EF4-FFF2-40B4-BE49-F238E27FC236}">
                <a16:creationId xmlns:a16="http://schemas.microsoft.com/office/drawing/2014/main" xmlns=""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xmlns=""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14-06-2023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113856"/>
            <a:ext cx="9603275" cy="1049235"/>
          </a:xfrm>
        </p:spPr>
        <p:txBody>
          <a:bodyPr/>
          <a:lstStyle/>
          <a:p>
            <a:r>
              <a:rPr lang="en-US" dirty="0"/>
              <a:t>Click to edit Master title style</a:t>
            </a:r>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554321" y="881317"/>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xmlns=""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xmlns="" id="{DB6D7A70-9470-38A5-6785-933F5C089234}"/>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xmlns="" id="{A51BE3ED-273E-B0A1-FC3A-EE01E1A92D27}"/>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coursera.org/learn/operations-research-modeling" TargetMode="External"/><Relationship Id="rId2" Type="http://schemas.openxmlformats.org/officeDocument/2006/relationships/hyperlink" Target="https://nptel.ac.in/courses/110105096" TargetMode="External"/><Relationship Id="rId1" Type="http://schemas.openxmlformats.org/officeDocument/2006/relationships/slideLayout" Target="../slideLayouts/slideLayout2.xml"/><Relationship Id="rId4" Type="http://schemas.openxmlformats.org/officeDocument/2006/relationships/hyperlink" Target="https://www.semanticscholar.org/paper/Applied-Mathematical-Programming-Bradley-Hax/8a4ee083b23505df221410e6a2b41fc56fa250a6"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17">
            <a:extLst>
              <a:ext uri="{FF2B5EF4-FFF2-40B4-BE49-F238E27FC236}">
                <a16:creationId xmlns="" xmlns:a16="http://schemas.microsoft.com/office/drawing/2014/main" id="{807C1E3F-2DA3-AFAE-99EA-57C7BD21ED5A}"/>
              </a:ext>
            </a:extLst>
          </p:cNvPr>
          <p:cNvSpPr/>
          <p:nvPr/>
        </p:nvSpPr>
        <p:spPr>
          <a:xfrm>
            <a:off x="2223655" y="363682"/>
            <a:ext cx="8981581" cy="3141606"/>
          </a:xfrm>
          <a:prstGeom prst="roundRect">
            <a:avLst>
              <a:gd name="adj" fmla="val 12235"/>
            </a:avLst>
          </a:prstGeom>
          <a:gradFill>
            <a:gsLst>
              <a:gs pos="0">
                <a:schemeClr val="bg1">
                  <a:lumMod val="95000"/>
                </a:schemeClr>
              </a:gs>
              <a:gs pos="100000">
                <a:schemeClr val="bg1">
                  <a:lumMod val="85000"/>
                </a:schemeClr>
              </a:gs>
            </a:gsLst>
            <a:lin ang="5400000" scaled="0"/>
          </a:gradFill>
          <a:ln>
            <a:no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476;p16"/>
          <p:cNvSpPr txBox="1"/>
          <p:nvPr/>
        </p:nvSpPr>
        <p:spPr>
          <a:xfrm>
            <a:off x="2306781" y="534122"/>
            <a:ext cx="8898455" cy="2923837"/>
          </a:xfrm>
          <a:prstGeom prst="rect">
            <a:avLst/>
          </a:prstGeom>
          <a:noFill/>
          <a:ln>
            <a:noFill/>
          </a:ln>
        </p:spPr>
        <p:txBody>
          <a:bodyPr spcFirstLastPara="1" wrap="square" lIns="91425" tIns="45700" rIns="91425" bIns="45700" anchor="t" anchorCtr="0">
            <a:spAutoFit/>
          </a:bodyPr>
          <a:lstStyle/>
          <a:p>
            <a:r>
              <a:rPr lang="en-US" sz="2000" b="1" dirty="0">
                <a:solidFill>
                  <a:schemeClr val="bg1">
                    <a:lumMod val="50000"/>
                  </a:schemeClr>
                </a:solidFill>
                <a:latin typeface="Poppins" panose="00000500000000000000" pitchFamily="2" charset="0"/>
                <a:ea typeface="BioRhyme ExtraBold"/>
                <a:cs typeface="Poppins" panose="00000500000000000000" pitchFamily="2" charset="0"/>
                <a:sym typeface="BioRhyme ExtraBold"/>
              </a:rPr>
              <a:t>Course </a:t>
            </a:r>
            <a:r>
              <a:rPr lang="en-US" sz="2000" b="1" dirty="0" smtClean="0">
                <a:solidFill>
                  <a:schemeClr val="bg1">
                    <a:lumMod val="50000"/>
                  </a:schemeClr>
                </a:solidFill>
                <a:latin typeface="Poppins" panose="00000500000000000000" pitchFamily="2" charset="0"/>
                <a:ea typeface="BioRhyme ExtraBold"/>
                <a:cs typeface="Poppins" panose="00000500000000000000" pitchFamily="2" charset="0"/>
                <a:sym typeface="BioRhyme ExtraBold"/>
              </a:rPr>
              <a:t>Title: </a:t>
            </a:r>
            <a:r>
              <a:rPr lang="en-IN" sz="2400" b="1" dirty="0" smtClean="0"/>
              <a:t>Mathematical </a:t>
            </a:r>
            <a:r>
              <a:rPr lang="en-IN" sz="2400" b="1" dirty="0"/>
              <a:t>programming </a:t>
            </a:r>
            <a:endParaRPr lang="en-IN" sz="2400" b="1" dirty="0" smtClean="0"/>
          </a:p>
          <a:p>
            <a:pPr algn="ctr"/>
            <a:r>
              <a:rPr lang="en-IN" sz="2400" b="1" dirty="0" smtClean="0"/>
              <a:t> </a:t>
            </a:r>
            <a:r>
              <a:rPr lang="en-IN" sz="2400" b="1" dirty="0"/>
              <a:t>(2-2-0-0)</a:t>
            </a:r>
          </a:p>
          <a:p>
            <a:pPr lvl="0" algn="r"/>
            <a:r>
              <a:rPr lang="en-US" sz="2800" b="1" dirty="0" smtClean="0">
                <a:solidFill>
                  <a:srgbClr val="262626"/>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bg1">
                  <a:lumMod val="50000"/>
                </a:schemeClr>
              </a:solidFill>
              <a:latin typeface="Poppins" panose="00000500000000000000" pitchFamily="2" charset="0"/>
              <a:ea typeface="BioRhyme ExtraBold"/>
              <a:cs typeface="Poppins" panose="00000500000000000000" pitchFamily="2" charset="0"/>
              <a:sym typeface="BioRhyme ExtraBold"/>
            </a:endParaRPr>
          </a:p>
          <a:p>
            <a:pPr marL="0" marR="0" lvl="0" indent="0" algn="l" rtl="0">
              <a:spcBef>
                <a:spcPts val="0"/>
              </a:spcBef>
              <a:spcAft>
                <a:spcPts val="0"/>
              </a:spcAft>
              <a:buNone/>
            </a:pPr>
            <a:r>
              <a:rPr lang="en-US" sz="2000" b="1" dirty="0" smtClean="0">
                <a:solidFill>
                  <a:schemeClr val="bg1">
                    <a:lumMod val="50000"/>
                  </a:schemeClr>
                </a:solidFill>
                <a:latin typeface="Poppins" panose="00000500000000000000" pitchFamily="2" charset="0"/>
                <a:ea typeface="BioRhyme ExtraBold"/>
                <a:cs typeface="Poppins" panose="00000500000000000000" pitchFamily="2" charset="0"/>
                <a:sym typeface="BioRhyme ExtraBold"/>
              </a:rPr>
              <a:t>Topic :</a:t>
            </a:r>
            <a:r>
              <a:rPr lang="en-US" sz="2000" b="1" dirty="0">
                <a:solidFill>
                  <a:schemeClr val="bg1">
                    <a:lumMod val="50000"/>
                  </a:schemeClr>
                </a:solidFill>
                <a:latin typeface="Poppins" panose="00000500000000000000" pitchFamily="2" charset="0"/>
                <a:ea typeface="BioRhyme ExtraBold"/>
                <a:cs typeface="Poppins" panose="00000500000000000000" pitchFamily="2" charset="0"/>
                <a:sym typeface="BioRhyme ExtraBold"/>
              </a:rPr>
              <a:t> </a:t>
            </a:r>
            <a:r>
              <a:rPr lang="en-US" sz="2000" b="1" dirty="0" smtClean="0">
                <a:solidFill>
                  <a:schemeClr val="bg1">
                    <a:lumMod val="50000"/>
                  </a:schemeClr>
                </a:solidFill>
                <a:latin typeface="Poppins" panose="00000500000000000000" pitchFamily="2" charset="0"/>
                <a:ea typeface="BioRhyme ExtraBold"/>
                <a:cs typeface="Poppins" panose="00000500000000000000" pitchFamily="2" charset="0"/>
                <a:sym typeface="BioRhyme ExtraBold"/>
              </a:rPr>
              <a:t>    </a:t>
            </a:r>
          </a:p>
          <a:p>
            <a:pPr marL="0" marR="0" lvl="0" indent="0" algn="ctr" rtl="0">
              <a:spcBef>
                <a:spcPts val="0"/>
              </a:spcBef>
              <a:spcAft>
                <a:spcPts val="0"/>
              </a:spcAft>
              <a:buNone/>
            </a:pPr>
            <a:r>
              <a:rPr lang="en-US" sz="2000" b="1" dirty="0" smtClean="0">
                <a:solidFill>
                  <a:schemeClr val="bg1">
                    <a:lumMod val="50000"/>
                  </a:schemeClr>
                </a:solidFill>
                <a:latin typeface="Poppins" panose="00000500000000000000" pitchFamily="2" charset="0"/>
                <a:ea typeface="BioRhyme ExtraBold"/>
                <a:cs typeface="Poppins" panose="00000500000000000000" pitchFamily="2" charset="0"/>
                <a:sym typeface="BioRhyme ExtraBold"/>
              </a:rPr>
              <a:t>    </a:t>
            </a:r>
            <a:r>
              <a:rPr lang="en-IN" sz="4400" dirty="0" smtClean="0"/>
              <a:t>Solution </a:t>
            </a:r>
            <a:r>
              <a:rPr lang="en-IN" sz="4400" dirty="0"/>
              <a:t>to </a:t>
            </a:r>
            <a:r>
              <a:rPr lang="en-IN" sz="4400" dirty="0" smtClean="0"/>
              <a:t>LPP</a:t>
            </a:r>
          </a:p>
          <a:p>
            <a:pPr algn="ctr"/>
            <a:r>
              <a:rPr lang="en-IN" sz="4400" dirty="0" smtClean="0"/>
              <a:t>     Graphical  method</a:t>
            </a:r>
          </a:p>
        </p:txBody>
      </p:sp>
      <p:sp>
        <p:nvSpPr>
          <p:cNvPr id="6" name="Google Shape;502;p17">
            <a:extLst>
              <a:ext uri="{FF2B5EF4-FFF2-40B4-BE49-F238E27FC236}">
                <a16:creationId xmlns="" xmlns:a16="http://schemas.microsoft.com/office/drawing/2014/main" id="{2AA4B22D-392B-DF3F-B021-65F2138EAE6E}"/>
              </a:ext>
            </a:extLst>
          </p:cNvPr>
          <p:cNvSpPr/>
          <p:nvPr/>
        </p:nvSpPr>
        <p:spPr>
          <a:xfrm>
            <a:off x="1844986" y="3850889"/>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smtClean="0">
                <a:solidFill>
                  <a:schemeClr val="lt1"/>
                </a:solidFill>
                <a:latin typeface="Poppins" panose="00000500000000000000" pitchFamily="2" charset="0"/>
                <a:ea typeface="Calibri"/>
                <a:cs typeface="Poppins" panose="00000500000000000000" pitchFamily="2" charset="0"/>
                <a:sym typeface="Calibri"/>
              </a:rPr>
              <a:t>CO-1</a:t>
            </a:r>
            <a:endParaRPr sz="2400" dirty="0">
              <a:solidFill>
                <a:schemeClr val="lt1"/>
              </a:solidFill>
              <a:latin typeface="Poppins" panose="00000500000000000000" pitchFamily="2" charset="0"/>
              <a:ea typeface="Calibri"/>
              <a:cs typeface="Poppins" panose="00000500000000000000" pitchFamily="2" charset="0"/>
              <a:sym typeface="Calibri"/>
            </a:endParaRPr>
          </a:p>
        </p:txBody>
      </p:sp>
      <p:sp>
        <p:nvSpPr>
          <p:cNvPr id="7" name="Google Shape;502;p17">
            <a:extLst>
              <a:ext uri="{FF2B5EF4-FFF2-40B4-BE49-F238E27FC236}">
                <a16:creationId xmlns="" xmlns:a16="http://schemas.microsoft.com/office/drawing/2014/main" id="{7153E61F-4441-DBE3-3DFF-6E9EF6C48D23}"/>
              </a:ext>
            </a:extLst>
          </p:cNvPr>
          <p:cNvSpPr/>
          <p:nvPr/>
        </p:nvSpPr>
        <p:spPr>
          <a:xfrm>
            <a:off x="7793182" y="3850889"/>
            <a:ext cx="2518931"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Poppins" panose="00000500000000000000" pitchFamily="2" charset="0"/>
                <a:ea typeface="Calibri"/>
                <a:cs typeface="Poppins" panose="00000500000000000000" pitchFamily="2" charset="0"/>
                <a:sym typeface="Calibri"/>
              </a:rPr>
              <a:t>Session - 2</a:t>
            </a:r>
            <a:endParaRPr sz="2400" dirty="0">
              <a:solidFill>
                <a:schemeClr val="lt1"/>
              </a:solidFill>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563892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2</a:t>
            </a:fld>
            <a:endParaRPr lang="en-IN"/>
          </a:p>
        </p:txBody>
      </p:sp>
      <p:sp>
        <p:nvSpPr>
          <p:cNvPr id="5" name="Rounded Rectangle 17">
            <a:extLst>
              <a:ext uri="{FF2B5EF4-FFF2-40B4-BE49-F238E27FC236}">
                <a16:creationId xmlns="" xmlns:a16="http://schemas.microsoft.com/office/drawing/2014/main" id="{D530E72E-233E-E443-1A84-D3CD02ECB889}"/>
              </a:ext>
            </a:extLst>
          </p:cNvPr>
          <p:cNvSpPr/>
          <p:nvPr/>
        </p:nvSpPr>
        <p:spPr>
          <a:xfrm>
            <a:off x="5330319" y="145070"/>
            <a:ext cx="153136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AIM</a:t>
            </a:r>
          </a:p>
        </p:txBody>
      </p:sp>
      <p:sp>
        <p:nvSpPr>
          <p:cNvPr id="6" name="TextBox 5">
            <a:extLst>
              <a:ext uri="{FF2B5EF4-FFF2-40B4-BE49-F238E27FC236}">
                <a16:creationId xmlns="" xmlns:a16="http://schemas.microsoft.com/office/drawing/2014/main" id="{D7C61438-200D-827A-D4DD-5B5127AFA187}"/>
              </a:ext>
            </a:extLst>
          </p:cNvPr>
          <p:cNvSpPr txBox="1"/>
          <p:nvPr/>
        </p:nvSpPr>
        <p:spPr>
          <a:xfrm>
            <a:off x="1253020" y="542362"/>
            <a:ext cx="10731286" cy="416011"/>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smtClean="0">
                <a:effectLst/>
                <a:latin typeface="Poppins"/>
                <a:cs typeface="Poppins"/>
              </a:rPr>
              <a:t>To familiarize students with the concept of  </a:t>
            </a:r>
            <a:r>
              <a:rPr lang="en-US" sz="1600" dirty="0" smtClean="0">
                <a:latin typeface="Poppins"/>
                <a:cs typeface="Poppins"/>
              </a:rPr>
              <a:t>Graphical Method.</a:t>
            </a:r>
            <a:endParaRPr lang="en-US" sz="1600" dirty="0">
              <a:latin typeface="Poppins"/>
              <a:cs typeface="Poppins"/>
            </a:endParaRPr>
          </a:p>
        </p:txBody>
      </p:sp>
      <p:sp>
        <p:nvSpPr>
          <p:cNvPr id="7" name="Rounded Rectangle 17">
            <a:extLst>
              <a:ext uri="{FF2B5EF4-FFF2-40B4-BE49-F238E27FC236}">
                <a16:creationId xmlns="" xmlns:a16="http://schemas.microsoft.com/office/drawing/2014/main" id="{7F3AABB0-F8BA-C900-B6BF-45F4B58E9490}"/>
              </a:ext>
            </a:extLst>
          </p:cNvPr>
          <p:cNvSpPr/>
          <p:nvPr/>
        </p:nvSpPr>
        <p:spPr>
          <a:xfrm>
            <a:off x="4160583" y="1374271"/>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dirty="0">
                <a:effectLst/>
                <a:latin typeface="Arial" panose="020B0604020202020204" pitchFamily="34" charset="0"/>
              </a:rPr>
              <a:t>INSTRUCTIONAL OBJECTIVES</a:t>
            </a:r>
            <a:endParaRPr lang="en-US"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8" name="TextBox 7">
            <a:extLst>
              <a:ext uri="{FF2B5EF4-FFF2-40B4-BE49-F238E27FC236}">
                <a16:creationId xmlns="" xmlns:a16="http://schemas.microsoft.com/office/drawing/2014/main" id="{2B5EAD4E-C007-9DE7-A40A-12802D3C9611}"/>
              </a:ext>
            </a:extLst>
          </p:cNvPr>
          <p:cNvSpPr txBox="1"/>
          <p:nvPr/>
        </p:nvSpPr>
        <p:spPr>
          <a:xfrm>
            <a:off x="1752600" y="2030246"/>
            <a:ext cx="907732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dirty="0">
                <a:latin typeface="Arial" panose="020B0604020202020204" pitchFamily="34" charset="0"/>
                <a:cs typeface="Arial" panose="020B0604020202020204" pitchFamily="34" charset="0"/>
              </a:rPr>
              <a:t>Illustrate in detail of </a:t>
            </a:r>
            <a:r>
              <a:rPr lang="en-US" sz="1600" dirty="0" smtClean="0">
                <a:latin typeface="Arial" panose="020B0604020202020204" pitchFamily="34" charset="0"/>
                <a:cs typeface="Arial" panose="020B0604020202020204" pitchFamily="34" charset="0"/>
              </a:rPr>
              <a:t>Graphical method.</a:t>
            </a:r>
            <a:endParaRPr lang="en-US" sz="1600" b="0" i="0" dirty="0" smtClean="0">
              <a:effectLst/>
              <a:latin typeface="Arial" panose="020B0604020202020204" pitchFamily="34" charset="0"/>
              <a:cs typeface="Arial" panose="020B0604020202020204" pitchFamily="34" charset="0"/>
            </a:endParaRPr>
          </a:p>
          <a:p>
            <a:pPr marL="342900" indent="-342900">
              <a:buAutoNum type="arabicPeriod"/>
            </a:pPr>
            <a:r>
              <a:rPr lang="en-US" sz="1600" b="0" i="0" dirty="0" smtClean="0">
                <a:effectLst/>
                <a:latin typeface="Arial" panose="020B0604020202020204" pitchFamily="34" charset="0"/>
                <a:cs typeface="Arial" panose="020B0604020202020204" pitchFamily="34" charset="0"/>
              </a:rPr>
              <a:t>Demonstrate </a:t>
            </a:r>
            <a:r>
              <a:rPr lang="en-US" sz="1600" b="0" i="0" dirty="0">
                <a:effectLst/>
                <a:latin typeface="Arial" panose="020B0604020202020204" pitchFamily="34" charset="0"/>
                <a:cs typeface="Arial" panose="020B0604020202020204" pitchFamily="34" charset="0"/>
              </a:rPr>
              <a:t>how </a:t>
            </a:r>
            <a:r>
              <a:rPr lang="en-US" sz="1600" b="0" i="0" dirty="0" smtClean="0">
                <a:effectLst/>
                <a:latin typeface="Arial" panose="020B0604020202020204" pitchFamily="34" charset="0"/>
                <a:cs typeface="Arial" panose="020B0604020202020204" pitchFamily="34" charset="0"/>
              </a:rPr>
              <a:t>to </a:t>
            </a:r>
            <a:r>
              <a:rPr lang="en-IN" sz="1600" dirty="0" smtClean="0">
                <a:latin typeface="Arial" panose="020B0604020202020204" pitchFamily="34" charset="0"/>
                <a:cs typeface="Arial" panose="020B0604020202020204" pitchFamily="34" charset="0"/>
              </a:rPr>
              <a:t>formulate  the Graphical method</a:t>
            </a:r>
            <a:r>
              <a:rPr lang="en-IN" sz="1600" dirty="0">
                <a:latin typeface="Arial" panose="020B0604020202020204" pitchFamily="34" charset="0"/>
                <a:cs typeface="Arial" panose="020B0604020202020204" pitchFamily="34" charset="0"/>
              </a:rPr>
              <a:t>.</a:t>
            </a:r>
          </a:p>
          <a:p>
            <a:endParaRPr lang="en-US" sz="1600" dirty="0">
              <a:latin typeface="Arial" panose="020B0604020202020204" pitchFamily="34" charset="0"/>
            </a:endParaRPr>
          </a:p>
        </p:txBody>
      </p:sp>
      <p:pic>
        <p:nvPicPr>
          <p:cNvPr id="9" name="Graphic 10" descr="Bullseye outline">
            <a:extLst>
              <a:ext uri="{FF2B5EF4-FFF2-40B4-BE49-F238E27FC236}">
                <a16:creationId xmlns=""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255493" y="655220"/>
            <a:ext cx="914400" cy="914400"/>
          </a:xfrm>
          <a:prstGeom prst="rect">
            <a:avLst/>
          </a:prstGeom>
        </p:spPr>
      </p:pic>
      <p:pic>
        <p:nvPicPr>
          <p:cNvPr id="10" name="Graphic 26" descr="Presentation with checklist outline">
            <a:extLst>
              <a:ext uri="{FF2B5EF4-FFF2-40B4-BE49-F238E27FC236}">
                <a16:creationId xmlns=""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656459" y="1939703"/>
            <a:ext cx="914400" cy="998484"/>
          </a:xfrm>
          <a:prstGeom prst="rect">
            <a:avLst/>
          </a:prstGeom>
        </p:spPr>
      </p:pic>
      <p:sp>
        <p:nvSpPr>
          <p:cNvPr id="11" name="Rounded Rectangle 17">
            <a:extLst>
              <a:ext uri="{FF2B5EF4-FFF2-40B4-BE49-F238E27FC236}">
                <a16:creationId xmlns="" xmlns:a16="http://schemas.microsoft.com/office/drawing/2014/main" id="{6652A33D-9A9E-3EAC-0CAE-113901ECA179}"/>
              </a:ext>
            </a:extLst>
          </p:cNvPr>
          <p:cNvSpPr/>
          <p:nvPr/>
        </p:nvSpPr>
        <p:spPr>
          <a:xfrm>
            <a:off x="4212971" y="4088448"/>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dirty="0">
                <a:effectLst/>
                <a:latin typeface="Arial" panose="020B0604020202020204" pitchFamily="34" charset="0"/>
              </a:rPr>
              <a:t>LEARNING OUTCOMES</a:t>
            </a:r>
            <a:endParaRPr lang="en-US"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12" name="Graphic 30" descr="Idea outline">
            <a:extLst>
              <a:ext uri="{FF2B5EF4-FFF2-40B4-BE49-F238E27FC236}">
                <a16:creationId xmlns=""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914400" y="4765771"/>
            <a:ext cx="914400" cy="914400"/>
          </a:xfrm>
          <a:prstGeom prst="rect">
            <a:avLst/>
          </a:prstGeom>
        </p:spPr>
      </p:pic>
      <p:sp>
        <p:nvSpPr>
          <p:cNvPr id="13" name="TextBox 12">
            <a:extLst>
              <a:ext uri="{FF2B5EF4-FFF2-40B4-BE49-F238E27FC236}">
                <a16:creationId xmlns="" xmlns:a16="http://schemas.microsoft.com/office/drawing/2014/main" id="{B0BB8E68-8B73-12DE-615E-1091F19A9A9A}"/>
              </a:ext>
            </a:extLst>
          </p:cNvPr>
          <p:cNvSpPr txBox="1"/>
          <p:nvPr/>
        </p:nvSpPr>
        <p:spPr>
          <a:xfrm>
            <a:off x="1752600" y="4631029"/>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unit, you should be able to</a:t>
            </a:r>
            <a:r>
              <a:rPr lang="en-US" sz="1600" b="0" i="0" dirty="0" smtClean="0">
                <a:effectLst/>
                <a:latin typeface="Arial"/>
                <a:cs typeface="Arial"/>
              </a:rPr>
              <a:t>:</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the ways to </a:t>
            </a:r>
            <a:r>
              <a:rPr lang="en-US" sz="1600" b="0" i="0" dirty="0" smtClean="0">
                <a:effectLst/>
                <a:latin typeface="Arial" panose="020B0604020202020204" pitchFamily="34" charset="0"/>
              </a:rPr>
              <a:t>construct the Graphical method</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Solve the </a:t>
            </a:r>
            <a:r>
              <a:rPr lang="en-US" sz="1600" dirty="0" smtClean="0">
                <a:latin typeface="Arial" panose="020B0604020202020204" pitchFamily="34" charset="0"/>
              </a:rPr>
              <a:t>formulation of linear programming problem with graphical method</a:t>
            </a:r>
            <a:r>
              <a:rPr lang="en-US" sz="1600" b="0" i="0" dirty="0" smtClean="0">
                <a:effectLst/>
                <a:latin typeface="Arial" panose="020B0604020202020204" pitchFamily="34" charset="0"/>
              </a:rPr>
              <a:t>.</a:t>
            </a:r>
            <a:endParaRPr lang="en-US" sz="1600" b="0" i="0" dirty="0">
              <a:effectLst/>
              <a:latin typeface="Arial" panose="020B0604020202020204" pitchFamily="34" charset="0"/>
            </a:endParaRPr>
          </a:p>
        </p:txBody>
      </p:sp>
    </p:spTree>
    <p:extLst>
      <p:ext uri="{BB962C8B-B14F-4D97-AF65-F5344CB8AC3E}">
        <p14:creationId xmlns:p14="http://schemas.microsoft.com/office/powerpoint/2010/main" val="1729633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1"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r>
              <a:rPr lang="en-US" dirty="0"/>
              <a:t>Topic delivery on Graphical Method</a:t>
            </a:r>
          </a:p>
        </p:txBody>
      </p:sp>
      <p:sp>
        <p:nvSpPr>
          <p:cNvPr id="3" name="Content Placeholder 2"/>
          <p:cNvSpPr>
            <a:spLocks noGrp="1"/>
          </p:cNvSpPr>
          <p:nvPr>
            <p:ph idx="1"/>
          </p:nvPr>
        </p:nvSpPr>
        <p:spPr>
          <a:xfrm>
            <a:off x="623455" y="1184565"/>
            <a:ext cx="10619509" cy="4270662"/>
          </a:xfrm>
        </p:spPr>
        <p:txBody>
          <a:bodyPr/>
          <a:lstStyle/>
          <a:p>
            <a:endParaRPr lang="en-US" dirty="0"/>
          </a:p>
          <a:p>
            <a:pPr marL="0" indent="0">
              <a:buNone/>
            </a:pPr>
            <a:r>
              <a:rPr lang="en-US" sz="2400" dirty="0"/>
              <a:t>Any optimization problem with two variables can be solved</a:t>
            </a:r>
          </a:p>
          <a:p>
            <a:pPr marL="0" indent="0">
              <a:buNone/>
            </a:pPr>
            <a:r>
              <a:rPr lang="en-US" sz="2400" dirty="0"/>
              <a:t>It is visual in nature</a:t>
            </a:r>
          </a:p>
          <a:p>
            <a:pPr marL="0" indent="0">
              <a:buNone/>
            </a:pPr>
            <a:r>
              <a:rPr lang="en-US" sz="2400" dirty="0"/>
              <a:t>For solving the problems graphically, we need the following</a:t>
            </a:r>
          </a:p>
          <a:p>
            <a:pPr>
              <a:buFont typeface="Wingdings" panose="05000000000000000000" pitchFamily="2" charset="2"/>
              <a:buChar char="q"/>
            </a:pPr>
            <a:r>
              <a:rPr lang="en-US" sz="2400" dirty="0" smtClean="0"/>
              <a:t>	  </a:t>
            </a:r>
            <a:r>
              <a:rPr lang="en-US" sz="2400" dirty="0"/>
              <a:t>Inequality </a:t>
            </a:r>
            <a:r>
              <a:rPr lang="en-US" sz="2400" dirty="0" smtClean="0"/>
              <a:t>Constraints</a:t>
            </a:r>
          </a:p>
          <a:p>
            <a:pPr>
              <a:buFont typeface="Wingdings" panose="05000000000000000000" pitchFamily="2" charset="2"/>
              <a:buChar char="q"/>
            </a:pPr>
            <a:r>
              <a:rPr lang="en-US" sz="2400" dirty="0" smtClean="0"/>
              <a:t> 	Objective </a:t>
            </a:r>
            <a:r>
              <a:rPr lang="en-US" sz="2400" dirty="0"/>
              <a:t>Functions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Outlines of Graphical Method </a:t>
            </a:r>
            <a:br>
              <a:rPr lang="en-US" dirty="0"/>
            </a:br>
            <a:endParaRPr lang="en-US" dirty="0"/>
          </a:p>
        </p:txBody>
      </p:sp>
      <p:sp>
        <p:nvSpPr>
          <p:cNvPr id="3" name="Content Placeholder 2"/>
          <p:cNvSpPr>
            <a:spLocks noGrp="1"/>
          </p:cNvSpPr>
          <p:nvPr>
            <p:ph idx="1"/>
          </p:nvPr>
        </p:nvSpPr>
        <p:spPr>
          <a:xfrm>
            <a:off x="384463" y="1049482"/>
            <a:ext cx="11689773" cy="5122717"/>
          </a:xfrm>
        </p:spPr>
        <p:txBody>
          <a:bodyPr>
            <a:normAutofit/>
          </a:bodyPr>
          <a:lstStyle/>
          <a:p>
            <a:pPr marL="0" indent="0" algn="just">
              <a:buNone/>
            </a:pPr>
            <a:r>
              <a:rPr lang="en-US" dirty="0"/>
              <a:t> The linear programming problems of two decision variables can be easily solved by graphical method.</a:t>
            </a:r>
            <a:endParaRPr lang="en-IN" dirty="0"/>
          </a:p>
          <a:p>
            <a:pPr marL="0" indent="0" algn="just">
              <a:buNone/>
            </a:pPr>
            <a:r>
              <a:rPr lang="en-US" dirty="0"/>
              <a:t>The outlines of the graphical procedure as follows:</a:t>
            </a:r>
            <a:endParaRPr lang="en-IN" dirty="0"/>
          </a:p>
          <a:p>
            <a:pPr marL="0" indent="0" algn="just">
              <a:buNone/>
            </a:pPr>
            <a:r>
              <a:rPr lang="en-US" b="1" dirty="0" smtClean="0"/>
              <a:t>	Step</a:t>
            </a:r>
            <a:r>
              <a:rPr lang="en-US" b="1" dirty="0"/>
              <a:t>: 1</a:t>
            </a:r>
            <a:r>
              <a:rPr lang="en-US" dirty="0"/>
              <a:t> Identify the problem-the decision variables, the objective function and the restrictions.</a:t>
            </a:r>
            <a:endParaRPr lang="en-IN" dirty="0"/>
          </a:p>
          <a:p>
            <a:pPr marL="0" indent="0" algn="just">
              <a:buNone/>
            </a:pPr>
            <a:r>
              <a:rPr lang="en-US" b="1" dirty="0" smtClean="0"/>
              <a:t>	Step</a:t>
            </a:r>
            <a:r>
              <a:rPr lang="en-US" b="1" dirty="0"/>
              <a:t>: 2</a:t>
            </a:r>
            <a:r>
              <a:rPr lang="en-US" dirty="0"/>
              <a:t> set up the mathematical formulation of the problem.</a:t>
            </a:r>
            <a:endParaRPr lang="en-IN" dirty="0"/>
          </a:p>
          <a:p>
            <a:pPr marL="0" indent="0" algn="just">
              <a:buNone/>
            </a:pPr>
            <a:r>
              <a:rPr lang="en-US" b="1" dirty="0" smtClean="0"/>
              <a:t>	Step</a:t>
            </a:r>
            <a:r>
              <a:rPr lang="en-US" b="1" dirty="0"/>
              <a:t>: 3</a:t>
            </a:r>
            <a:r>
              <a:rPr lang="en-US" dirty="0"/>
              <a:t> consider each inequality –constraint as an </a:t>
            </a:r>
            <a:r>
              <a:rPr lang="en-US" dirty="0" smtClean="0"/>
              <a:t>equation</a:t>
            </a:r>
          </a:p>
          <a:p>
            <a:pPr marL="0" indent="0" algn="just">
              <a:buNone/>
            </a:pPr>
            <a:r>
              <a:rPr lang="en-US" b="1" dirty="0" smtClean="0"/>
              <a:t>	Step</a:t>
            </a:r>
            <a:r>
              <a:rPr lang="en-US" b="1" dirty="0"/>
              <a:t>: 4</a:t>
            </a:r>
            <a:r>
              <a:rPr lang="en-US" dirty="0"/>
              <a:t> Plot each equation on the graph, as each one will geometrically represent a straight line.</a:t>
            </a:r>
            <a:endParaRPr lang="en-IN" dirty="0"/>
          </a:p>
          <a:p>
            <a:pPr marL="0" indent="0" algn="just">
              <a:buNone/>
            </a:pPr>
            <a:r>
              <a:rPr lang="en-US" b="1" dirty="0" smtClean="0"/>
              <a:t>	Step</a:t>
            </a:r>
            <a:r>
              <a:rPr lang="en-US" b="1" dirty="0"/>
              <a:t>: 5</a:t>
            </a:r>
            <a:r>
              <a:rPr lang="en-US" dirty="0"/>
              <a:t> Shade the feasible region. Every point on the line will satisfy the equation of the line. If the inequality constraint corresponding to that line is ‘≤’, then the region below the line lying in the first quadrant (due to non-negativity of variables) is shaded. For the inequality-constraint with ‘≥’ sign, the region above the line in the first quadrant is shaded. The points lying in the common region will satisfy all the constraints simultaneously. The common region thus obtained is called the </a:t>
            </a:r>
            <a:r>
              <a:rPr lang="en-US" b="1" dirty="0"/>
              <a:t>feasible region</a:t>
            </a:r>
            <a:r>
              <a:rPr lang="en-US" dirty="0"/>
              <a:t>.</a:t>
            </a:r>
            <a:endParaRPr lang="en-IN" dirty="0"/>
          </a:p>
          <a:p>
            <a:pPr marL="0" indent="0" algn="just">
              <a:buNone/>
            </a:pPr>
            <a:endParaRPr lang="en-US" dirty="0" smtClean="0"/>
          </a:p>
          <a:p>
            <a:pPr marL="0" indent="0" algn="just">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3682" y="1111827"/>
            <a:ext cx="11253354" cy="4842163"/>
          </a:xfrm>
        </p:spPr>
        <p:txBody>
          <a:bodyPr>
            <a:normAutofit lnSpcReduction="10000"/>
          </a:bodyPr>
          <a:lstStyle/>
          <a:p>
            <a:pPr marL="0" indent="0" algn="just">
              <a:buNone/>
            </a:pPr>
            <a:r>
              <a:rPr lang="en-US" b="1" dirty="0" smtClean="0"/>
              <a:t>	</a:t>
            </a:r>
            <a:r>
              <a:rPr lang="en-US" sz="2800" b="1" dirty="0" smtClean="0"/>
              <a:t>Step</a:t>
            </a:r>
            <a:r>
              <a:rPr lang="en-US" sz="2800" b="1" dirty="0"/>
              <a:t>: 6</a:t>
            </a:r>
            <a:r>
              <a:rPr lang="en-US" sz="2800" dirty="0"/>
              <a:t>: Choose the convenient value of z(say-0) and plot the objective function line.</a:t>
            </a:r>
            <a:endParaRPr lang="en-IN" sz="2800" dirty="0"/>
          </a:p>
          <a:p>
            <a:pPr marL="0" indent="0" algn="just">
              <a:buNone/>
            </a:pPr>
            <a:r>
              <a:rPr lang="en-US" sz="2800" b="1" dirty="0" smtClean="0"/>
              <a:t>	Step</a:t>
            </a:r>
            <a:r>
              <a:rPr lang="en-US" sz="2800" b="1" dirty="0"/>
              <a:t>: 7 </a:t>
            </a:r>
            <a:r>
              <a:rPr lang="en-US" sz="2800" dirty="0"/>
              <a:t>pull the objective function line until the extreme points of the feasible region. In the maximization case, this line will stop farthest from the origin and passing through at least one corner of the feasible region. In the minimization case, this line will stop nearest to the origin and passing through at least one corner of the feasible region.</a:t>
            </a:r>
            <a:endParaRPr lang="en-IN" sz="2800" dirty="0"/>
          </a:p>
          <a:p>
            <a:pPr marL="0" indent="0" algn="just">
              <a:buNone/>
            </a:pPr>
            <a:r>
              <a:rPr lang="en-US" sz="2800" b="1" dirty="0" smtClean="0"/>
              <a:t>	Step</a:t>
            </a:r>
            <a:r>
              <a:rPr lang="en-US" sz="2800" b="1" dirty="0"/>
              <a:t>: 8 </a:t>
            </a:r>
            <a:r>
              <a:rPr lang="en-US" sz="2800" dirty="0"/>
              <a:t>Read the coordinates of the extreme point(s) selected in step6, and find the maximum or minimum value of z. </a:t>
            </a:r>
            <a:endParaRPr lang="en-IN" sz="2800" dirty="0"/>
          </a:p>
          <a:p>
            <a:pPr algn="just">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t>Problem</a:t>
            </a:r>
          </a:p>
        </p:txBody>
      </p:sp>
      <p:sp>
        <p:nvSpPr>
          <p:cNvPr id="3" name="Content Placeholder 2"/>
          <p:cNvSpPr>
            <a:spLocks noGrp="1"/>
          </p:cNvSpPr>
          <p:nvPr>
            <p:ph idx="1"/>
          </p:nvPr>
        </p:nvSpPr>
        <p:spPr>
          <a:xfrm>
            <a:off x="633845" y="1401205"/>
            <a:ext cx="11097491" cy="4035696"/>
          </a:xfrm>
        </p:spPr>
        <p:txBody>
          <a:bodyPr>
            <a:normAutofit/>
          </a:bodyPr>
          <a:lstStyle/>
          <a:p>
            <a:pPr marL="0" indent="0">
              <a:buNone/>
            </a:pPr>
            <a:r>
              <a:rPr lang="en-US" dirty="0"/>
              <a:t>Using the graphical method, solve the following problem</a:t>
            </a:r>
          </a:p>
          <a:p>
            <a:pPr>
              <a:buNone/>
            </a:pPr>
            <a:r>
              <a:rPr lang="en-US" dirty="0"/>
              <a:t>		Max     Z=3x+2y   </a:t>
            </a:r>
          </a:p>
          <a:p>
            <a:pPr>
              <a:buNone/>
            </a:pPr>
            <a:r>
              <a:rPr lang="en-US" dirty="0"/>
              <a:t>			subject to the constraints </a:t>
            </a:r>
          </a:p>
          <a:p>
            <a:pPr>
              <a:buNone/>
            </a:pPr>
            <a:r>
              <a:rPr lang="en-US" dirty="0"/>
              <a:t>			2x+y</a:t>
            </a:r>
            <a:r>
              <a:rPr lang="en-US" dirty="0">
                <a:latin typeface="Calibri"/>
                <a:cs typeface="Calibri"/>
              </a:rPr>
              <a:t>≤18,</a:t>
            </a:r>
          </a:p>
          <a:p>
            <a:pPr>
              <a:buNone/>
            </a:pPr>
            <a:r>
              <a:rPr lang="en-US" dirty="0">
                <a:latin typeface="Calibri"/>
                <a:cs typeface="Calibri"/>
              </a:rPr>
              <a:t>			2x+3y≤42,</a:t>
            </a:r>
          </a:p>
          <a:p>
            <a:pPr>
              <a:buNone/>
            </a:pPr>
            <a:r>
              <a:rPr lang="en-US" dirty="0">
                <a:latin typeface="Calibri"/>
                <a:cs typeface="Calibri"/>
              </a:rPr>
              <a:t>			3x+y≤24 and y≥0</a:t>
            </a:r>
          </a:p>
          <a:p>
            <a:pPr>
              <a:buNone/>
            </a:pPr>
            <a:r>
              <a:rPr lang="en-US" dirty="0"/>
              <a:t>Solution:</a:t>
            </a:r>
            <a:endParaRPr lang="en-IN" dirty="0"/>
          </a:p>
          <a:p>
            <a:pPr marL="0" indent="0">
              <a:buNone/>
            </a:pPr>
            <a:r>
              <a:rPr lang="en-US" dirty="0"/>
              <a:t>First, we draw the lines of all the given equations and shade the common region according to the signs.</a:t>
            </a:r>
            <a:endParaRPr lang="en-IN"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Users\Prasanna\Desktop\Graphical method\New folder\all3lines.jpg"/>
          <p:cNvPicPr>
            <a:picLocks noGrp="1"/>
          </p:cNvPicPr>
          <p:nvPr>
            <p:ph idx="1"/>
          </p:nvPr>
        </p:nvPicPr>
        <p:blipFill>
          <a:blip r:embed="rId2" cstate="print"/>
          <a:srcRect/>
          <a:stretch>
            <a:fillRect/>
          </a:stretch>
        </p:blipFill>
        <p:spPr>
          <a:xfrm>
            <a:off x="2123210" y="1282984"/>
            <a:ext cx="7543799" cy="4037162"/>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9545" y="1153392"/>
            <a:ext cx="10619510" cy="3740726"/>
          </a:xfrm>
        </p:spPr>
        <p:txBody>
          <a:bodyPr>
            <a:normAutofit lnSpcReduction="10000"/>
          </a:bodyPr>
          <a:lstStyle/>
          <a:p>
            <a:pPr>
              <a:buFont typeface="Wingdings" panose="05000000000000000000" pitchFamily="2" charset="2"/>
              <a:buChar char="Ø"/>
            </a:pPr>
            <a:r>
              <a:rPr lang="en-US" sz="2800" dirty="0"/>
              <a:t>The feasible region is the intersection of the regions defined by the set of constraints and the coordinate axis (conditions of non-negativity of variables). This feasible region is represented by the O-A-B-C-D-O</a:t>
            </a:r>
            <a:endParaRPr lang="en-IN" sz="2800" dirty="0"/>
          </a:p>
          <a:p>
            <a:pPr>
              <a:buFont typeface="Wingdings" panose="05000000000000000000" pitchFamily="2" charset="2"/>
              <a:buChar char="Ø"/>
            </a:pPr>
            <a:r>
              <a:rPr lang="en-US" sz="2800" dirty="0"/>
              <a:t>As a feasible region exists, extreme values (or polygon vertices) are calculated. These vertices are the point’s candidate as optimal solutions. In the example, these points are O, A, B, C, and D, as shown in the figure</a:t>
            </a:r>
            <a:r>
              <a:rPr lang="en-US" dirty="0" smtClean="0"/>
              <a:t>.</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7427" y="1132609"/>
            <a:ext cx="10931237" cy="5191963"/>
          </a:xfrm>
        </p:spPr>
        <p:txBody>
          <a:bodyPr/>
          <a:lstStyle/>
          <a:p>
            <a:pPr marL="0" indent="0">
              <a:buNone/>
            </a:pPr>
            <a:r>
              <a:rPr lang="en-US" sz="2400" dirty="0"/>
              <a:t>Finally, the objective function is evaluated in each of these points (results are shown in the tableau below). Since C-point provides the greatest value to the Z-function and the objective is to maximize, this point is the optimal solution: Z = 33 with x = 3 and y = 12</a:t>
            </a:r>
          </a:p>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409700" y="2951019"/>
            <a:ext cx="8115300" cy="2740324"/>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2536" y="79664"/>
            <a:ext cx="7772400" cy="762000"/>
          </a:xfrm>
        </p:spPr>
        <p:txBody>
          <a:bodyPr>
            <a:normAutofit fontScale="90000"/>
          </a:bodyPr>
          <a:lstStyle/>
          <a:p>
            <a:r>
              <a:rPr lang="en-IN" dirty="0"/>
              <a:t>Example Problems</a:t>
            </a:r>
            <a:endParaRPr lang="te-IN" dirty="0"/>
          </a:p>
        </p:txBody>
      </p:sp>
      <p:pic>
        <p:nvPicPr>
          <p:cNvPr id="4" name="Picture 2"/>
          <p:cNvPicPr>
            <a:picLocks noGrp="1" noChangeAspect="1" noChangeArrowheads="1"/>
          </p:cNvPicPr>
          <p:nvPr>
            <p:ph idx="1"/>
          </p:nvPr>
        </p:nvPicPr>
        <p:blipFill>
          <a:blip r:embed="rId2" cstate="print"/>
          <a:srcRect/>
          <a:stretch>
            <a:fillRect/>
          </a:stretch>
        </p:blipFill>
        <p:spPr>
          <a:xfrm>
            <a:off x="1620983" y="945573"/>
            <a:ext cx="9559636" cy="2798291"/>
          </a:xfrm>
        </p:spPr>
      </p:pic>
      <p:pic>
        <p:nvPicPr>
          <p:cNvPr id="5" name="Picture 2"/>
          <p:cNvPicPr>
            <a:picLocks noChangeAspect="1" noChangeArrowheads="1"/>
          </p:cNvPicPr>
          <p:nvPr/>
        </p:nvPicPr>
        <p:blipFill>
          <a:blip r:embed="rId3" cstate="print"/>
          <a:srcRect/>
          <a:stretch>
            <a:fillRect/>
          </a:stretch>
        </p:blipFill>
        <p:spPr>
          <a:xfrm>
            <a:off x="1620983" y="3743864"/>
            <a:ext cx="9559636" cy="212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Formulation of an LPP and finding optimal solution using Graphical method problem</a:t>
            </a:r>
          </a:p>
        </p:txBody>
      </p:sp>
      <p:pic>
        <p:nvPicPr>
          <p:cNvPr id="4" name="Picture 2"/>
          <p:cNvPicPr>
            <a:picLocks noGrp="1" noChangeAspect="1" noChangeArrowheads="1"/>
          </p:cNvPicPr>
          <p:nvPr>
            <p:ph idx="1"/>
          </p:nvPr>
        </p:nvPicPr>
        <p:blipFill>
          <a:blip r:embed="rId2" cstate="print"/>
          <a:srcRect/>
          <a:stretch>
            <a:fillRect/>
          </a:stretch>
        </p:blipFill>
        <p:spPr>
          <a:xfrm>
            <a:off x="332508" y="1163091"/>
            <a:ext cx="11627427" cy="4957153"/>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srcRect/>
          <a:stretch>
            <a:fillRect/>
          </a:stretch>
        </p:blipFill>
        <p:spPr>
          <a:xfrm>
            <a:off x="1527463" y="197428"/>
            <a:ext cx="9954491" cy="5891646"/>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srcRect/>
          <a:stretch>
            <a:fillRect/>
          </a:stretch>
        </p:blipFill>
        <p:spPr>
          <a:xfrm>
            <a:off x="218208" y="561109"/>
            <a:ext cx="11003973" cy="5600700"/>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246581"/>
            <a:ext cx="9603275" cy="844464"/>
          </a:xfrm>
        </p:spPr>
        <p:txBody>
          <a:bodyPr/>
          <a:lstStyle/>
          <a:p>
            <a:r>
              <a:rPr lang="en-US" dirty="0" smtClean="0"/>
              <a:t>References</a:t>
            </a:r>
            <a:endParaRPr lang="en-IN" dirty="0"/>
          </a:p>
        </p:txBody>
      </p:sp>
      <p:sp>
        <p:nvSpPr>
          <p:cNvPr id="3" name="Content Placeholder 2"/>
          <p:cNvSpPr>
            <a:spLocks noGrp="1"/>
          </p:cNvSpPr>
          <p:nvPr>
            <p:ph idx="1"/>
          </p:nvPr>
        </p:nvSpPr>
        <p:spPr>
          <a:xfrm>
            <a:off x="280555" y="1091046"/>
            <a:ext cx="11772900" cy="4946072"/>
          </a:xfrm>
        </p:spPr>
        <p:txBody>
          <a:bodyPr>
            <a:normAutofit lnSpcReduction="10000"/>
          </a:bodyPr>
          <a:lstStyle/>
          <a:p>
            <a:pPr marL="0" indent="0">
              <a:buNone/>
            </a:pPr>
            <a:r>
              <a:rPr lang="en-US" b="1" dirty="0" smtClean="0"/>
              <a:t>Textbook</a:t>
            </a:r>
            <a:r>
              <a:rPr lang="en-US" b="1" dirty="0"/>
              <a:t>: </a:t>
            </a:r>
            <a:endParaRPr lang="en-US" b="1" dirty="0" smtClean="0"/>
          </a:p>
          <a:p>
            <a:pPr marL="0" indent="0">
              <a:buNone/>
            </a:pPr>
            <a:r>
              <a:rPr lang="en-US" b="1" i="1" dirty="0" smtClean="0"/>
              <a:t> 1. </a:t>
            </a:r>
            <a:r>
              <a:rPr lang="en-US" i="1" dirty="0" smtClean="0"/>
              <a:t>Introduction </a:t>
            </a:r>
            <a:r>
              <a:rPr lang="en-US" i="1" dirty="0"/>
              <a:t>to Mathematical Programming </a:t>
            </a:r>
            <a:r>
              <a:rPr lang="en-US" dirty="0"/>
              <a:t>by Russell C. Walker, published by Pearson Custom Publishing, </a:t>
            </a:r>
            <a:r>
              <a:rPr lang="en-US" dirty="0" smtClean="0"/>
              <a:t> 2006 </a:t>
            </a:r>
          </a:p>
          <a:p>
            <a:pPr marL="0" indent="0">
              <a:buNone/>
            </a:pPr>
            <a:r>
              <a:rPr lang="en-US" dirty="0" smtClean="0"/>
              <a:t>2.</a:t>
            </a:r>
            <a:r>
              <a:rPr lang="en-US" dirty="0"/>
              <a:t> S. P. Bradley, A. C. </a:t>
            </a:r>
            <a:r>
              <a:rPr lang="en-US" dirty="0" err="1"/>
              <a:t>Hax</a:t>
            </a:r>
            <a:r>
              <a:rPr lang="en-US" dirty="0"/>
              <a:t>, and T. L. </a:t>
            </a:r>
            <a:r>
              <a:rPr lang="en-US" dirty="0" err="1"/>
              <a:t>Magnanti</a:t>
            </a:r>
            <a:r>
              <a:rPr lang="en-US" dirty="0"/>
              <a:t>, </a:t>
            </a:r>
            <a:r>
              <a:rPr lang="en-US" i="1" dirty="0"/>
              <a:t>Applied Mathematical Programming</a:t>
            </a:r>
            <a:r>
              <a:rPr lang="en-US" dirty="0"/>
              <a:t>, Addison-Wesley Publishing Company, 1977 </a:t>
            </a:r>
            <a:br>
              <a:rPr lang="en-US" dirty="0"/>
            </a:br>
            <a:r>
              <a:rPr lang="en-US" dirty="0" smtClean="0"/>
              <a:t>3.</a:t>
            </a:r>
            <a:r>
              <a:rPr lang="en-US" dirty="0"/>
              <a:t> </a:t>
            </a:r>
            <a:r>
              <a:rPr lang="en-US" dirty="0" err="1"/>
              <a:t>Lenstra</a:t>
            </a:r>
            <a:r>
              <a:rPr lang="en-US" dirty="0"/>
              <a:t>, </a:t>
            </a:r>
            <a:r>
              <a:rPr lang="en-US" dirty="0" err="1"/>
              <a:t>Rinnooy</a:t>
            </a:r>
            <a:r>
              <a:rPr lang="en-US" dirty="0"/>
              <a:t> </a:t>
            </a:r>
            <a:r>
              <a:rPr lang="en-US" dirty="0" err="1"/>
              <a:t>Kan</a:t>
            </a:r>
            <a:r>
              <a:rPr lang="en-US" dirty="0"/>
              <a:t>, &amp; </a:t>
            </a:r>
            <a:r>
              <a:rPr lang="en-US" dirty="0" err="1"/>
              <a:t>Schrijver</a:t>
            </a:r>
            <a:r>
              <a:rPr lang="en-US" dirty="0"/>
              <a:t> (eds.), </a:t>
            </a:r>
            <a:r>
              <a:rPr lang="en-US" i="1" dirty="0"/>
              <a:t>History of Mathematical Programming: A Collection of Personal Reminiscences</a:t>
            </a:r>
            <a:r>
              <a:rPr lang="en-US" dirty="0"/>
              <a:t>, Elsevier, 1991. </a:t>
            </a:r>
            <a:br>
              <a:rPr lang="en-US" dirty="0"/>
            </a:br>
            <a:r>
              <a:rPr lang="en-US" dirty="0"/>
              <a:t/>
            </a:r>
            <a:br>
              <a:rPr lang="en-US" dirty="0"/>
            </a:br>
            <a:r>
              <a:rPr lang="en-US" b="1" dirty="0"/>
              <a:t>W</a:t>
            </a:r>
            <a:r>
              <a:rPr lang="en-US" b="1" dirty="0" smtClean="0"/>
              <a:t>eb Resources:</a:t>
            </a:r>
            <a:endParaRPr lang="en-US" b="1" dirty="0"/>
          </a:p>
          <a:p>
            <a:pPr marL="457200" indent="-457200">
              <a:buAutoNum type="arabicPeriod"/>
            </a:pPr>
            <a:r>
              <a:rPr lang="en-US" dirty="0" smtClean="0">
                <a:hlinkClick r:id="rId2"/>
              </a:rPr>
              <a:t>https</a:t>
            </a:r>
            <a:r>
              <a:rPr lang="en-US" dirty="0">
                <a:hlinkClick r:id="rId2"/>
              </a:rPr>
              <a:t>://</a:t>
            </a:r>
            <a:r>
              <a:rPr lang="en-US" dirty="0" smtClean="0">
                <a:hlinkClick r:id="rId2"/>
              </a:rPr>
              <a:t>nptel.ac.in/courses/110105096</a:t>
            </a:r>
            <a:r>
              <a:rPr lang="en-US" dirty="0" smtClean="0"/>
              <a:t> </a:t>
            </a:r>
          </a:p>
          <a:p>
            <a:pPr marL="457200" indent="-457200">
              <a:buAutoNum type="arabicPeriod"/>
            </a:pPr>
            <a:r>
              <a:rPr lang="en-US" dirty="0">
                <a:hlinkClick r:id="rId3"/>
              </a:rPr>
              <a:t>https://</a:t>
            </a:r>
            <a:r>
              <a:rPr lang="en-US" dirty="0" smtClean="0">
                <a:hlinkClick r:id="rId3"/>
              </a:rPr>
              <a:t>www.coursera.org/learn/operations-research-modeling</a:t>
            </a:r>
            <a:r>
              <a:rPr lang="en-US" dirty="0" smtClean="0"/>
              <a:t>  </a:t>
            </a:r>
          </a:p>
          <a:p>
            <a:pPr marL="457200" indent="-457200">
              <a:buAutoNum type="arabicPeriod"/>
            </a:pPr>
            <a:r>
              <a:rPr lang="en-IN" dirty="0">
                <a:hlinkClick r:id="rId4"/>
              </a:rPr>
              <a:t>https://</a:t>
            </a:r>
            <a:r>
              <a:rPr lang="en-IN" dirty="0" smtClean="0">
                <a:hlinkClick r:id="rId4"/>
              </a:rPr>
              <a:t>www.semanticscholar.org/paper/Applied-Mathematical-Programming-Bradley-Hax/8a4ee083b23505df221410e6a2b41fc56fa250a6</a:t>
            </a:r>
            <a:r>
              <a:rPr lang="en-IN" dirty="0" smtClean="0"/>
              <a:t> </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14</a:t>
            </a:fld>
            <a:endParaRPr lang="en-IN"/>
          </a:p>
        </p:txBody>
      </p:sp>
    </p:spTree>
    <p:extLst>
      <p:ext uri="{BB962C8B-B14F-4D97-AF65-F5344CB8AC3E}">
        <p14:creationId xmlns:p14="http://schemas.microsoft.com/office/powerpoint/2010/main" val="3618330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3148577" y="2249951"/>
            <a:ext cx="5940083" cy="2162908"/>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Poppins" pitchFamily="2" charset="77"/>
              <a:cs typeface="Poppins" pitchFamily="2" charset="77"/>
            </a:endParaRPr>
          </a:p>
          <a:p>
            <a:pPr algn="ctr"/>
            <a:endParaRPr lang="en-US" b="1" dirty="0">
              <a:latin typeface="Poppins" pitchFamily="2" charset="77"/>
              <a:cs typeface="Poppins" pitchFamily="2" charset="77"/>
            </a:endParaRPr>
          </a:p>
          <a:p>
            <a:pPr algn="ctr"/>
            <a:r>
              <a:rPr lang="en-US" b="1" dirty="0">
                <a:latin typeface="Poppins" pitchFamily="2" charset="77"/>
                <a:cs typeface="Poppins" pitchFamily="2" charset="77"/>
              </a:rPr>
              <a:t>THANK YOU</a:t>
            </a:r>
          </a:p>
          <a:p>
            <a:pPr algn="ctr"/>
            <a:endParaRPr lang="en-US" dirty="0">
              <a:latin typeface="Poppins" pitchFamily="2" charset="77"/>
              <a:cs typeface="Poppins" pitchFamily="2" charset="77"/>
            </a:endParaRPr>
          </a:p>
          <a:p>
            <a:pPr algn="ctr"/>
            <a:endParaRPr lang="en-US" dirty="0">
              <a:latin typeface="Poppins" pitchFamily="2" charset="77"/>
              <a:cs typeface="Poppins" pitchFamily="2" charset="77"/>
            </a:endParaRPr>
          </a:p>
          <a:p>
            <a:pPr algn="ctr"/>
            <a:endParaRPr lang="en-US" dirty="0">
              <a:latin typeface="Poppins" pitchFamily="2" charset="77"/>
              <a:cs typeface="Poppins" pitchFamily="2" charset="77"/>
            </a:endParaRPr>
          </a:p>
          <a:p>
            <a:pPr algn="ctr"/>
            <a:endParaRPr lang="en-US" dirty="0">
              <a:latin typeface="Poppins" pitchFamily="2" charset="77"/>
              <a:cs typeface="Poppins" pitchFamily="2" charset="77"/>
            </a:endParaRPr>
          </a:p>
          <a:p>
            <a:pPr algn="ctr"/>
            <a:r>
              <a:rPr lang="en-US" b="1" dirty="0">
                <a:latin typeface="Poppins" pitchFamily="2" charset="77"/>
                <a:cs typeface="Poppins" pitchFamily="2" charset="77"/>
              </a:rPr>
              <a:t>Team – Mathematical </a:t>
            </a:r>
            <a:r>
              <a:rPr lang="en-US" b="1" dirty="0" err="1">
                <a:latin typeface="Poppins" pitchFamily="2" charset="77"/>
                <a:cs typeface="Poppins" pitchFamily="2" charset="77"/>
              </a:rPr>
              <a:t>Progrmming</a:t>
            </a:r>
            <a:endParaRPr lang="en-US" b="1" dirty="0">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122168" y="2777492"/>
            <a:ext cx="2426678" cy="812409"/>
          </a:xfrm>
          <a:prstGeom prst="rect">
            <a:avLst/>
          </a:prstGeom>
          <a:noFill/>
        </p:spPr>
      </p:pic>
    </p:spTree>
    <p:extLst>
      <p:ext uri="{BB962C8B-B14F-4D97-AF65-F5344CB8AC3E}">
        <p14:creationId xmlns:p14="http://schemas.microsoft.com/office/powerpoint/2010/main" val="737436495"/>
      </p:ext>
    </p:extLst>
  </p:cSld>
  <p:clrMapOvr>
    <a:masterClrMapping/>
  </p:clrMapOvr>
  <p:timing>
    <p:tnLst>
      <p:par>
        <p:cTn id="1" dur="indefinite" restart="never" nodeType="tmRoot"/>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201</TotalTime>
  <Words>370</Words>
  <Application>Microsoft Office PowerPoint</Application>
  <PresentationFormat>Widescreen</PresentationFormat>
  <Paragraphs>68</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BioRhyme ExtraBold</vt:lpstr>
      <vt:lpstr>Calibri</vt:lpstr>
      <vt:lpstr>Gautami</vt:lpstr>
      <vt:lpstr>Gill Sans MT</vt:lpstr>
      <vt:lpstr>Poppins</vt:lpstr>
      <vt:lpstr>Times New Roman</vt:lpstr>
      <vt:lpstr>Wingdings</vt:lpstr>
      <vt:lpstr>Gallery</vt:lpstr>
      <vt:lpstr>PowerPoint Presentation</vt:lpstr>
      <vt:lpstr>PowerPoint Presentation</vt:lpstr>
      <vt:lpstr>Topic delivery on Graphical Method</vt:lpstr>
      <vt:lpstr> Outlines of Graphical Method  </vt:lpstr>
      <vt:lpstr>PowerPoint Presentation</vt:lpstr>
      <vt:lpstr>Problem</vt:lpstr>
      <vt:lpstr>PowerPoint Presentation</vt:lpstr>
      <vt:lpstr>PowerPoint Presentation</vt:lpstr>
      <vt:lpstr>PowerPoint Presentation</vt:lpstr>
      <vt:lpstr>Example Problems</vt:lpstr>
      <vt:lpstr>Formulation of an LPP and finding optimal solution using Graphical method problem</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GOVIND DIVAKARAN</dc:creator>
  <cp:lastModifiedBy>Microsoft account</cp:lastModifiedBy>
  <cp:revision>18</cp:revision>
  <dcterms:created xsi:type="dcterms:W3CDTF">2023-05-03T04:42:59Z</dcterms:created>
  <dcterms:modified xsi:type="dcterms:W3CDTF">2023-06-14T17:25:57Z</dcterms:modified>
</cp:coreProperties>
</file>