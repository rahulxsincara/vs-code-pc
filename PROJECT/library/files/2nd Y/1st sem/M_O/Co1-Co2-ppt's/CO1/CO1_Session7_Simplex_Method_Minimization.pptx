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9"/>
  </p:notesMasterIdLst>
  <p:handoutMasterIdLst>
    <p:handoutMasterId r:id="rId40"/>
  </p:handoutMasterIdLst>
  <p:sldIdLst>
    <p:sldId id="256" r:id="rId2"/>
    <p:sldId id="257" r:id="rId3"/>
    <p:sldId id="305" r:id="rId4"/>
    <p:sldId id="297" r:id="rId5"/>
    <p:sldId id="332" r:id="rId6"/>
    <p:sldId id="296" r:id="rId7"/>
    <p:sldId id="298" r:id="rId8"/>
    <p:sldId id="299" r:id="rId9"/>
    <p:sldId id="300" r:id="rId10"/>
    <p:sldId id="331" r:id="rId11"/>
    <p:sldId id="301" r:id="rId12"/>
    <p:sldId id="321" r:id="rId13"/>
    <p:sldId id="322" r:id="rId14"/>
    <p:sldId id="302" r:id="rId15"/>
    <p:sldId id="293" r:id="rId16"/>
    <p:sldId id="323" r:id="rId17"/>
    <p:sldId id="303" r:id="rId18"/>
    <p:sldId id="324" r:id="rId19"/>
    <p:sldId id="311" r:id="rId20"/>
    <p:sldId id="313" r:id="rId21"/>
    <p:sldId id="315" r:id="rId22"/>
    <p:sldId id="307" r:id="rId23"/>
    <p:sldId id="306" r:id="rId24"/>
    <p:sldId id="308" r:id="rId25"/>
    <p:sldId id="317" r:id="rId26"/>
    <p:sldId id="326" r:id="rId27"/>
    <p:sldId id="328" r:id="rId28"/>
    <p:sldId id="329" r:id="rId29"/>
    <p:sldId id="330" r:id="rId30"/>
    <p:sldId id="334" r:id="rId31"/>
    <p:sldId id="335" r:id="rId32"/>
    <p:sldId id="336" r:id="rId33"/>
    <p:sldId id="337" r:id="rId34"/>
    <p:sldId id="275" r:id="rId35"/>
    <p:sldId id="276" r:id="rId36"/>
    <p:sldId id="318" r:id="rId37"/>
    <p:sldId id="277" r:id="rId38"/>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5pPr>
    <a:lvl6pPr marL="2286000" algn="l" defTabSz="914400" rtl="0" eaLnBrk="1" latinLnBrk="0" hangingPunct="1">
      <a:defRPr kern="1200">
        <a:solidFill>
          <a:schemeClr val="tx1"/>
        </a:solidFill>
        <a:latin typeface="Gill Sans MT" panose="020B0502020104020203" pitchFamily="34" charset="0"/>
        <a:ea typeface="+mn-ea"/>
        <a:cs typeface="+mn-cs"/>
      </a:defRPr>
    </a:lvl6pPr>
    <a:lvl7pPr marL="2743200" algn="l" defTabSz="914400" rtl="0" eaLnBrk="1" latinLnBrk="0" hangingPunct="1">
      <a:defRPr kern="1200">
        <a:solidFill>
          <a:schemeClr val="tx1"/>
        </a:solidFill>
        <a:latin typeface="Gill Sans MT" panose="020B0502020104020203" pitchFamily="34" charset="0"/>
        <a:ea typeface="+mn-ea"/>
        <a:cs typeface="+mn-cs"/>
      </a:defRPr>
    </a:lvl7pPr>
    <a:lvl8pPr marL="3200400" algn="l" defTabSz="914400" rtl="0" eaLnBrk="1" latinLnBrk="0" hangingPunct="1">
      <a:defRPr kern="1200">
        <a:solidFill>
          <a:schemeClr val="tx1"/>
        </a:solidFill>
        <a:latin typeface="Gill Sans MT" panose="020B0502020104020203" pitchFamily="34" charset="0"/>
        <a:ea typeface="+mn-ea"/>
        <a:cs typeface="+mn-cs"/>
      </a:defRPr>
    </a:lvl8pPr>
    <a:lvl9pPr marL="3657600" algn="l" defTabSz="914400" rtl="0" eaLnBrk="1" latinLnBrk="0" hangingPunct="1">
      <a:defRPr kern="1200">
        <a:solidFill>
          <a:schemeClr val="tx1"/>
        </a:solidFill>
        <a:latin typeface="Gill Sans MT" panose="020B0502020104020203"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14" autoAdjust="0"/>
  </p:normalViewPr>
  <p:slideViewPr>
    <p:cSldViewPr snapToGrid="0">
      <p:cViewPr varScale="1">
        <p:scale>
          <a:sx n="75" d="100"/>
          <a:sy n="75" d="100"/>
        </p:scale>
        <p:origin x="902"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B0D162-76A1-03A6-A2C8-FD033ABE6C1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n-IN"/>
              <a:t>Course Title, Topic Name</a:t>
            </a:r>
          </a:p>
        </p:txBody>
      </p:sp>
      <p:sp>
        <p:nvSpPr>
          <p:cNvPr id="3" name="Date Placeholder 2">
            <a:extLst>
              <a:ext uri="{FF2B5EF4-FFF2-40B4-BE49-F238E27FC236}">
                <a16:creationId xmlns:a16="http://schemas.microsoft.com/office/drawing/2014/main" id="{EE0D9AE3-A8DB-1164-3237-A15D3F23AA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F5F0AD1-FCC9-4E97-B16A-5356A6EC5317}" type="datetimeFigureOut">
              <a:rPr lang="en-IN"/>
              <a:pPr>
                <a:defRPr/>
              </a:pPr>
              <a:t>04-08-2025</a:t>
            </a:fld>
            <a:endParaRPr lang="en-IN"/>
          </a:p>
        </p:txBody>
      </p:sp>
      <p:sp>
        <p:nvSpPr>
          <p:cNvPr id="4" name="Footer Placeholder 3">
            <a:extLst>
              <a:ext uri="{FF2B5EF4-FFF2-40B4-BE49-F238E27FC236}">
                <a16:creationId xmlns:a16="http://schemas.microsoft.com/office/drawing/2014/main" id="{2652BB28-32BF-C362-E79C-E72B2B31B4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C6EAB66C-BC11-6AFD-D112-83A28C394E1A}"/>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FC361737-446D-49AC-B977-9977885112A1}"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56150C-9B2D-FE6A-5C6D-636D34CD58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n-IN"/>
              <a:t>Course Title, Topic Name</a:t>
            </a:r>
          </a:p>
        </p:txBody>
      </p:sp>
      <p:sp>
        <p:nvSpPr>
          <p:cNvPr id="3" name="Date Placeholder 2">
            <a:extLst>
              <a:ext uri="{FF2B5EF4-FFF2-40B4-BE49-F238E27FC236}">
                <a16:creationId xmlns:a16="http://schemas.microsoft.com/office/drawing/2014/main" id="{7139889F-5CC7-2EB6-9485-1E2A6F46F8C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617BC45-F36B-41CD-BADE-D5AE0BF7E8E0}" type="datetimeFigureOut">
              <a:rPr lang="en-IN"/>
              <a:pPr>
                <a:defRPr/>
              </a:pPr>
              <a:t>04-08-2025</a:t>
            </a:fld>
            <a:endParaRPr lang="en-IN"/>
          </a:p>
        </p:txBody>
      </p:sp>
      <p:sp>
        <p:nvSpPr>
          <p:cNvPr id="4" name="Slide Image Placeholder 3">
            <a:extLst>
              <a:ext uri="{FF2B5EF4-FFF2-40B4-BE49-F238E27FC236}">
                <a16:creationId xmlns:a16="http://schemas.microsoft.com/office/drawing/2014/main" id="{F4C87730-6F25-81C4-D6E9-703A606E9087}"/>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190E6C3D-9E81-8B7E-43E2-372FEAFE112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BA6D9947-5F65-D04B-3859-C76928F7EC4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US"/>
              <a:t>College of Engineering, KONERU LAKSHMAIAH EDUCATION FOUNDATION</a:t>
            </a:r>
            <a:endParaRPr lang="en-IN"/>
          </a:p>
        </p:txBody>
      </p:sp>
      <p:sp>
        <p:nvSpPr>
          <p:cNvPr id="7" name="Slide Number Placeholder 6">
            <a:extLst>
              <a:ext uri="{FF2B5EF4-FFF2-40B4-BE49-F238E27FC236}">
                <a16:creationId xmlns:a16="http://schemas.microsoft.com/office/drawing/2014/main" id="{B7D7165B-B55E-75F1-7319-3832EA7163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29112AD-15FB-403D-B9F4-2FD960C66D25}"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362" name="Google Shape;125;p1:notes">
            <a:extLst>
              <a:ext uri="{FF2B5EF4-FFF2-40B4-BE49-F238E27FC236}">
                <a16:creationId xmlns:a16="http://schemas.microsoft.com/office/drawing/2014/main" id="{625F28B0-AD3F-34B4-EF88-0E02A6610153}"/>
              </a:ext>
            </a:extLst>
          </p:cNvPr>
          <p:cNvSpPr>
            <a:spLocks noGrp="1" noChangeArrowheads="1"/>
          </p:cNvSpPr>
          <p:nvPr>
            <p:ph type="body" idx="1"/>
          </p:nvPr>
        </p:nvSpPr>
        <p:spPr bwMode="auto">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a:p>
        </p:txBody>
      </p:sp>
      <p:sp>
        <p:nvSpPr>
          <p:cNvPr id="15363" name="Google Shape;126;p1:notes">
            <a:extLst>
              <a:ext uri="{FF2B5EF4-FFF2-40B4-BE49-F238E27FC236}">
                <a16:creationId xmlns:a16="http://schemas.microsoft.com/office/drawing/2014/main" id="{12E7E7EA-39D2-025A-296C-C1B831D2907E}"/>
              </a:ext>
            </a:extLst>
          </p:cNvPr>
          <p:cNvSpPr>
            <a:spLocks noGrp="1" noRot="1" noChangeAspect="1" noTextEdit="1"/>
          </p:cNvSpPr>
          <p:nvPr>
            <p:ph type="sldImg" idx="2"/>
          </p:nvPr>
        </p:nvSpPr>
        <p:spPr bwMode="auto">
          <a:xfrm>
            <a:off x="217488" y="812800"/>
            <a:ext cx="7124700" cy="4008438"/>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Google Shape;138;p2:notes">
            <a:extLst>
              <a:ext uri="{FF2B5EF4-FFF2-40B4-BE49-F238E27FC236}">
                <a16:creationId xmlns:a16="http://schemas.microsoft.com/office/drawing/2014/main" id="{5C9BDE62-31EB-51B9-BDED-65DFE23E7BE0}"/>
              </a:ext>
            </a:extLst>
          </p:cNvPr>
          <p:cNvSpPr>
            <a:spLocks noGrp="1" noChangeArrowheads="1"/>
          </p:cNvSpPr>
          <p:nvPr>
            <p:ph type="body" idx="1"/>
          </p:nvPr>
        </p:nvSpPr>
        <p:spPr bwMode="auto">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a:p>
        </p:txBody>
      </p:sp>
      <p:sp>
        <p:nvSpPr>
          <p:cNvPr id="17411" name="Google Shape;139;p2:notes">
            <a:extLst>
              <a:ext uri="{FF2B5EF4-FFF2-40B4-BE49-F238E27FC236}">
                <a16:creationId xmlns:a16="http://schemas.microsoft.com/office/drawing/2014/main" id="{79C9F197-4647-3B9D-F72D-8B8C4F5825DE}"/>
              </a:ext>
            </a:extLst>
          </p:cNvPr>
          <p:cNvSpPr>
            <a:spLocks noGrp="1" noRot="1" noChangeAspect="1" noTextEdit="1"/>
          </p:cNvSpPr>
          <p:nvPr>
            <p:ph type="sldImg" idx="2"/>
          </p:nvPr>
        </p:nvSpPr>
        <p:spPr bwMode="auto">
          <a:xfrm>
            <a:off x="217488" y="812800"/>
            <a:ext cx="7124700" cy="4008438"/>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Google Shape;188;g23b9104a24c_0_23:notes">
            <a:extLst>
              <a:ext uri="{FF2B5EF4-FFF2-40B4-BE49-F238E27FC236}">
                <a16:creationId xmlns:a16="http://schemas.microsoft.com/office/drawing/2014/main" id="{4C1CEB6D-F2AB-BFB9-A485-A0494AFB8BA6}"/>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19459" name="Google Shape;189;g23b9104a24c_0_23:notes">
            <a:extLst>
              <a:ext uri="{FF2B5EF4-FFF2-40B4-BE49-F238E27FC236}">
                <a16:creationId xmlns:a16="http://schemas.microsoft.com/office/drawing/2014/main" id="{D52DDABD-C36C-707F-C129-98AF4B245A6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19460" name="Google Shape;190;g23b9104a24c_0_23:notes">
            <a:extLst>
              <a:ext uri="{FF2B5EF4-FFF2-40B4-BE49-F238E27FC236}">
                <a16:creationId xmlns:a16="http://schemas.microsoft.com/office/drawing/2014/main" id="{C4B2B1C7-ACEF-1D82-D01E-5C78F030D806}"/>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E4078B38-3141-4375-ABB8-B8E2FD0DF816}"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Google Shape;188;g23b9104a24c_0_23:notes">
            <a:extLst>
              <a:ext uri="{FF2B5EF4-FFF2-40B4-BE49-F238E27FC236}">
                <a16:creationId xmlns:a16="http://schemas.microsoft.com/office/drawing/2014/main" id="{2CC35E00-51DA-5AC5-B1F7-C846AF48D94A}"/>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21507" name="Google Shape;189;g23b9104a24c_0_23:notes">
            <a:extLst>
              <a:ext uri="{FF2B5EF4-FFF2-40B4-BE49-F238E27FC236}">
                <a16:creationId xmlns:a16="http://schemas.microsoft.com/office/drawing/2014/main" id="{121B5F99-ED14-FD06-6437-4EEC7BFB5C2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21508" name="Google Shape;190;g23b9104a24c_0_23:notes">
            <a:extLst>
              <a:ext uri="{FF2B5EF4-FFF2-40B4-BE49-F238E27FC236}">
                <a16:creationId xmlns:a16="http://schemas.microsoft.com/office/drawing/2014/main" id="{7EDCC67E-EC89-3E42-37DD-139C3B0DDA0B}"/>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04F2C884-A214-4739-9AE0-717D05BD9F43}"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4</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Google Shape;188;g23b9104a24c_0_23:notes">
            <a:extLst>
              <a:ext uri="{FF2B5EF4-FFF2-40B4-BE49-F238E27FC236}">
                <a16:creationId xmlns:a16="http://schemas.microsoft.com/office/drawing/2014/main" id="{446C2979-15FD-E19A-3E3D-2A756B6F24BF}"/>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23555" name="Google Shape;189;g23b9104a24c_0_23:notes">
            <a:extLst>
              <a:ext uri="{FF2B5EF4-FFF2-40B4-BE49-F238E27FC236}">
                <a16:creationId xmlns:a16="http://schemas.microsoft.com/office/drawing/2014/main" id="{EC403567-CC84-2688-FA93-6DC254957E6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23556" name="Google Shape;190;g23b9104a24c_0_23:notes">
            <a:extLst>
              <a:ext uri="{FF2B5EF4-FFF2-40B4-BE49-F238E27FC236}">
                <a16:creationId xmlns:a16="http://schemas.microsoft.com/office/drawing/2014/main" id="{07F4DBF4-1155-255B-B4D2-45F4693702A5}"/>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6FAD260B-3B89-4BFB-A294-0E141E98F0A7}"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5</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5602" name="Google Shape;188;g23b9104a24c_0_23:notes">
            <a:extLst>
              <a:ext uri="{FF2B5EF4-FFF2-40B4-BE49-F238E27FC236}">
                <a16:creationId xmlns:a16="http://schemas.microsoft.com/office/drawing/2014/main" id="{2B9385EC-3BEC-2693-BD2C-E244BFBC067A}"/>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25603" name="Google Shape;189;g23b9104a24c_0_23:notes">
            <a:extLst>
              <a:ext uri="{FF2B5EF4-FFF2-40B4-BE49-F238E27FC236}">
                <a16:creationId xmlns:a16="http://schemas.microsoft.com/office/drawing/2014/main" id="{D8CEE909-3F92-3CB7-B007-3AE9C2D317B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25604" name="Google Shape;190;g23b9104a24c_0_23:notes">
            <a:extLst>
              <a:ext uri="{FF2B5EF4-FFF2-40B4-BE49-F238E27FC236}">
                <a16:creationId xmlns:a16="http://schemas.microsoft.com/office/drawing/2014/main" id="{0E462135-0743-301E-26B5-C49F2EF1B208}"/>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BD1E900F-FE7D-4DCE-A010-9D37BAF3CC66}"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6</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Google Shape;188;g23b9104a24c_0_23:notes">
            <a:extLst>
              <a:ext uri="{FF2B5EF4-FFF2-40B4-BE49-F238E27FC236}">
                <a16:creationId xmlns:a16="http://schemas.microsoft.com/office/drawing/2014/main" id="{198B217A-ACF1-5FAB-EB61-29288AFF7844}"/>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27651" name="Google Shape;189;g23b9104a24c_0_23:notes">
            <a:extLst>
              <a:ext uri="{FF2B5EF4-FFF2-40B4-BE49-F238E27FC236}">
                <a16:creationId xmlns:a16="http://schemas.microsoft.com/office/drawing/2014/main" id="{38CA007B-6067-2021-40E8-E010147E307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27652" name="Google Shape;190;g23b9104a24c_0_23:notes">
            <a:extLst>
              <a:ext uri="{FF2B5EF4-FFF2-40B4-BE49-F238E27FC236}">
                <a16:creationId xmlns:a16="http://schemas.microsoft.com/office/drawing/2014/main" id="{F72A2A51-C3A5-AB58-A7BC-B9276DE27B70}"/>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446CFEF6-98CE-454C-9BD5-6E8BD261F5D2}"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7</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Google Shape;188;g23b9104a24c_0_23:notes">
            <a:extLst>
              <a:ext uri="{FF2B5EF4-FFF2-40B4-BE49-F238E27FC236}">
                <a16:creationId xmlns:a16="http://schemas.microsoft.com/office/drawing/2014/main" id="{A7F756C3-F02F-D762-1D55-0A801EB29563}"/>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29699" name="Google Shape;189;g23b9104a24c_0_23:notes">
            <a:extLst>
              <a:ext uri="{FF2B5EF4-FFF2-40B4-BE49-F238E27FC236}">
                <a16:creationId xmlns:a16="http://schemas.microsoft.com/office/drawing/2014/main" id="{D7D0A384-3B26-8C13-4363-52618C4042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29700" name="Google Shape;190;g23b9104a24c_0_23:notes">
            <a:extLst>
              <a:ext uri="{FF2B5EF4-FFF2-40B4-BE49-F238E27FC236}">
                <a16:creationId xmlns:a16="http://schemas.microsoft.com/office/drawing/2014/main" id="{D1381977-2032-FF62-6DB1-E5F53EDF9A61}"/>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23A944D5-4D19-493D-A784-075DF4D23DB3}"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8</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6" name="Google Shape;188;g23b9104a24c_0_23:notes">
            <a:extLst>
              <a:ext uri="{FF2B5EF4-FFF2-40B4-BE49-F238E27FC236}">
                <a16:creationId xmlns:a16="http://schemas.microsoft.com/office/drawing/2014/main" id="{4CB937B6-9965-52A7-1A50-99E6AFC86622}"/>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31747" name="Google Shape;189;g23b9104a24c_0_23:notes">
            <a:extLst>
              <a:ext uri="{FF2B5EF4-FFF2-40B4-BE49-F238E27FC236}">
                <a16:creationId xmlns:a16="http://schemas.microsoft.com/office/drawing/2014/main" id="{357C7101-7FBB-1CF7-F750-BD5EBCDDA8F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31748" name="Google Shape;190;g23b9104a24c_0_23:notes">
            <a:extLst>
              <a:ext uri="{FF2B5EF4-FFF2-40B4-BE49-F238E27FC236}">
                <a16:creationId xmlns:a16="http://schemas.microsoft.com/office/drawing/2014/main" id="{7B23F596-C73D-4DF5-9C15-EF59FAD005F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4FC489C7-E3B8-40CC-8761-24F560CCB1C3}"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9</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Google Shape;188;g23b9104a24c_0_23:notes">
            <a:extLst>
              <a:ext uri="{FF2B5EF4-FFF2-40B4-BE49-F238E27FC236}">
                <a16:creationId xmlns:a16="http://schemas.microsoft.com/office/drawing/2014/main" id="{EEAC6294-CF18-E5F5-0C32-4E402015065A}"/>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34819" name="Google Shape;189;g23b9104a24c_0_23:notes">
            <a:extLst>
              <a:ext uri="{FF2B5EF4-FFF2-40B4-BE49-F238E27FC236}">
                <a16:creationId xmlns:a16="http://schemas.microsoft.com/office/drawing/2014/main" id="{4315EC91-D186-AD6D-7BD9-82D421DCE2D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34820" name="Google Shape;190;g23b9104a24c_0_23:notes">
            <a:extLst>
              <a:ext uri="{FF2B5EF4-FFF2-40B4-BE49-F238E27FC236}">
                <a16:creationId xmlns:a16="http://schemas.microsoft.com/office/drawing/2014/main" id="{15140052-6EFF-09BB-7375-548678AAC29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5F30D8C7-FC75-462B-B5A2-A3EF1968DF5A}"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11</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Google Shape;188;g23b9104a24c_0_23:notes">
            <a:extLst>
              <a:ext uri="{FF2B5EF4-FFF2-40B4-BE49-F238E27FC236}">
                <a16:creationId xmlns:a16="http://schemas.microsoft.com/office/drawing/2014/main" id="{9E037091-C362-7900-3E8D-FC4852835017}"/>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36867" name="Google Shape;189;g23b9104a24c_0_23:notes">
            <a:extLst>
              <a:ext uri="{FF2B5EF4-FFF2-40B4-BE49-F238E27FC236}">
                <a16:creationId xmlns:a16="http://schemas.microsoft.com/office/drawing/2014/main" id="{802ADAA7-81EB-5C4E-45FC-49B4563F8F5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36868" name="Google Shape;190;g23b9104a24c_0_23:notes">
            <a:extLst>
              <a:ext uri="{FF2B5EF4-FFF2-40B4-BE49-F238E27FC236}">
                <a16:creationId xmlns:a16="http://schemas.microsoft.com/office/drawing/2014/main" id="{6174668C-04B9-27AA-641B-55220E267EFF}"/>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D9FFFB05-FDDB-454E-84DB-85BFE32644D7}"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12</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Google Shape;188;g23b9104a24c_0_23:notes">
            <a:extLst>
              <a:ext uri="{FF2B5EF4-FFF2-40B4-BE49-F238E27FC236}">
                <a16:creationId xmlns:a16="http://schemas.microsoft.com/office/drawing/2014/main" id="{7E4F09FD-841D-3E95-0148-06854B6C0B47}"/>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38915" name="Google Shape;189;g23b9104a24c_0_23:notes">
            <a:extLst>
              <a:ext uri="{FF2B5EF4-FFF2-40B4-BE49-F238E27FC236}">
                <a16:creationId xmlns:a16="http://schemas.microsoft.com/office/drawing/2014/main" id="{4B66C246-FC38-187D-7BFA-1476AED659E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38916" name="Google Shape;190;g23b9104a24c_0_23:notes">
            <a:extLst>
              <a:ext uri="{FF2B5EF4-FFF2-40B4-BE49-F238E27FC236}">
                <a16:creationId xmlns:a16="http://schemas.microsoft.com/office/drawing/2014/main" id="{2BED0E91-93BC-67C6-33D8-90715F16E9C0}"/>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6D6D2E83-362B-48BC-8747-62182EED1E63}"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13</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Google Shape;188;g23b9104a24c_0_23:notes">
            <a:extLst>
              <a:ext uri="{FF2B5EF4-FFF2-40B4-BE49-F238E27FC236}">
                <a16:creationId xmlns:a16="http://schemas.microsoft.com/office/drawing/2014/main" id="{94E126D9-5604-99A7-0CBD-2C546B759A35}"/>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40963" name="Google Shape;189;g23b9104a24c_0_23:notes">
            <a:extLst>
              <a:ext uri="{FF2B5EF4-FFF2-40B4-BE49-F238E27FC236}">
                <a16:creationId xmlns:a16="http://schemas.microsoft.com/office/drawing/2014/main" id="{4FAFB14A-164A-8328-1557-ACAAFA5D03E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40964" name="Google Shape;190;g23b9104a24c_0_23:notes">
            <a:extLst>
              <a:ext uri="{FF2B5EF4-FFF2-40B4-BE49-F238E27FC236}">
                <a16:creationId xmlns:a16="http://schemas.microsoft.com/office/drawing/2014/main" id="{B7943191-1DBC-FACD-05B4-F5B135BBF9ED}"/>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EA7F0C94-44F5-4FEC-A115-4F5E78819C36}"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14</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10" name="Google Shape;188;g23b9104a24c_0_23:notes">
            <a:extLst>
              <a:ext uri="{FF2B5EF4-FFF2-40B4-BE49-F238E27FC236}">
                <a16:creationId xmlns:a16="http://schemas.microsoft.com/office/drawing/2014/main" id="{EBAC719A-30A9-7E9C-EE52-50BB7B400044}"/>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43011" name="Google Shape;189;g23b9104a24c_0_23:notes">
            <a:extLst>
              <a:ext uri="{FF2B5EF4-FFF2-40B4-BE49-F238E27FC236}">
                <a16:creationId xmlns:a16="http://schemas.microsoft.com/office/drawing/2014/main" id="{A409D2AC-5763-1902-42B4-73BB51A5525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43012" name="Google Shape;190;g23b9104a24c_0_23:notes">
            <a:extLst>
              <a:ext uri="{FF2B5EF4-FFF2-40B4-BE49-F238E27FC236}">
                <a16:creationId xmlns:a16="http://schemas.microsoft.com/office/drawing/2014/main" id="{388D2C37-488E-E1E1-873A-2D712E72FA04}"/>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EA3290BB-7D80-44AE-97F4-9490B5568E72}"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15</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Google Shape;188;g23b9104a24c_0_23:notes">
            <a:extLst>
              <a:ext uri="{FF2B5EF4-FFF2-40B4-BE49-F238E27FC236}">
                <a16:creationId xmlns:a16="http://schemas.microsoft.com/office/drawing/2014/main" id="{BDADC679-AD2D-AD6C-FE44-C5279011A508}"/>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45059" name="Google Shape;189;g23b9104a24c_0_23:notes">
            <a:extLst>
              <a:ext uri="{FF2B5EF4-FFF2-40B4-BE49-F238E27FC236}">
                <a16:creationId xmlns:a16="http://schemas.microsoft.com/office/drawing/2014/main" id="{A6FAC95C-6FF3-9D97-04DE-1E0222BED3E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45060" name="Google Shape;190;g23b9104a24c_0_23:notes">
            <a:extLst>
              <a:ext uri="{FF2B5EF4-FFF2-40B4-BE49-F238E27FC236}">
                <a16:creationId xmlns:a16="http://schemas.microsoft.com/office/drawing/2014/main" id="{01FCB96F-0A01-67E1-AA97-5F9DFA671925}"/>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9D030949-4020-4B64-97FF-7BA7B7CAE43B}"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16</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6" name="Google Shape;188;g23b9104a24c_0_23:notes">
            <a:extLst>
              <a:ext uri="{FF2B5EF4-FFF2-40B4-BE49-F238E27FC236}">
                <a16:creationId xmlns:a16="http://schemas.microsoft.com/office/drawing/2014/main" id="{18D01F11-3D35-E974-3E07-63EA256FBA39}"/>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47107" name="Google Shape;189;g23b9104a24c_0_23:notes">
            <a:extLst>
              <a:ext uri="{FF2B5EF4-FFF2-40B4-BE49-F238E27FC236}">
                <a16:creationId xmlns:a16="http://schemas.microsoft.com/office/drawing/2014/main" id="{8DD7029D-B0A4-FECC-A307-E7F0D47644F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47108" name="Google Shape;190;g23b9104a24c_0_23:notes">
            <a:extLst>
              <a:ext uri="{FF2B5EF4-FFF2-40B4-BE49-F238E27FC236}">
                <a16:creationId xmlns:a16="http://schemas.microsoft.com/office/drawing/2014/main" id="{0A435F82-7E66-F5FE-A727-FBB26FE82BE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C491F4D2-AF90-4F3F-8211-E4D38E01E115}"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17</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4" name="Google Shape;188;g23b9104a24c_0_23:notes">
            <a:extLst>
              <a:ext uri="{FF2B5EF4-FFF2-40B4-BE49-F238E27FC236}">
                <a16:creationId xmlns:a16="http://schemas.microsoft.com/office/drawing/2014/main" id="{F3FFE68C-0418-FCDD-BA31-0826D08D6042}"/>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49155" name="Google Shape;189;g23b9104a24c_0_23:notes">
            <a:extLst>
              <a:ext uri="{FF2B5EF4-FFF2-40B4-BE49-F238E27FC236}">
                <a16:creationId xmlns:a16="http://schemas.microsoft.com/office/drawing/2014/main" id="{7C644F92-75E8-4EE7-0BBF-02139B2B959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49156" name="Google Shape;190;g23b9104a24c_0_23:notes">
            <a:extLst>
              <a:ext uri="{FF2B5EF4-FFF2-40B4-BE49-F238E27FC236}">
                <a16:creationId xmlns:a16="http://schemas.microsoft.com/office/drawing/2014/main" id="{FD5C3C59-DD29-1FC6-003A-3996A71952C4}"/>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20668921-CD8E-43E7-B177-12B63400AD34}"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18</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2" name="Google Shape;188;g23b9104a24c_0_23:notes">
            <a:extLst>
              <a:ext uri="{FF2B5EF4-FFF2-40B4-BE49-F238E27FC236}">
                <a16:creationId xmlns:a16="http://schemas.microsoft.com/office/drawing/2014/main" id="{FD26966F-D284-3B3A-2F99-B1DA808CBA33}"/>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51203" name="Google Shape;189;g23b9104a24c_0_23:notes">
            <a:extLst>
              <a:ext uri="{FF2B5EF4-FFF2-40B4-BE49-F238E27FC236}">
                <a16:creationId xmlns:a16="http://schemas.microsoft.com/office/drawing/2014/main" id="{FF051E25-4AD3-77FF-F449-9EEC72B239F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51204" name="Google Shape;190;g23b9104a24c_0_23:notes">
            <a:extLst>
              <a:ext uri="{FF2B5EF4-FFF2-40B4-BE49-F238E27FC236}">
                <a16:creationId xmlns:a16="http://schemas.microsoft.com/office/drawing/2014/main" id="{BA1EB30A-1003-343D-61C5-D9ED34C20AF8}"/>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336B07B7-FD9F-4050-9565-9793F0D8792B}"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19</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3250" name="Google Shape;188;g23b9104a24c_0_23:notes">
            <a:extLst>
              <a:ext uri="{FF2B5EF4-FFF2-40B4-BE49-F238E27FC236}">
                <a16:creationId xmlns:a16="http://schemas.microsoft.com/office/drawing/2014/main" id="{6FE79B0E-DBB7-6822-78F5-00CE9BB94ECC}"/>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53251" name="Google Shape;189;g23b9104a24c_0_23:notes">
            <a:extLst>
              <a:ext uri="{FF2B5EF4-FFF2-40B4-BE49-F238E27FC236}">
                <a16:creationId xmlns:a16="http://schemas.microsoft.com/office/drawing/2014/main" id="{1A3D927D-F311-A535-F21C-D1F87A3C18C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53252" name="Google Shape;190;g23b9104a24c_0_23:notes">
            <a:extLst>
              <a:ext uri="{FF2B5EF4-FFF2-40B4-BE49-F238E27FC236}">
                <a16:creationId xmlns:a16="http://schemas.microsoft.com/office/drawing/2014/main" id="{4A5B3A72-CAD7-E49E-AFE7-F272375D43FB}"/>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411E6ED0-CFF2-4AFA-8A4D-1459C54C9108}"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20</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Google Shape;188;g23b9104a24c_0_23:notes">
            <a:extLst>
              <a:ext uri="{FF2B5EF4-FFF2-40B4-BE49-F238E27FC236}">
                <a16:creationId xmlns:a16="http://schemas.microsoft.com/office/drawing/2014/main" id="{406FEF93-515D-BB5A-7798-C683A432933F}"/>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55299" name="Google Shape;189;g23b9104a24c_0_23:notes">
            <a:extLst>
              <a:ext uri="{FF2B5EF4-FFF2-40B4-BE49-F238E27FC236}">
                <a16:creationId xmlns:a16="http://schemas.microsoft.com/office/drawing/2014/main" id="{7CC4B904-4F38-AA2B-E0F3-3C268A1930F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55300" name="Google Shape;190;g23b9104a24c_0_23:notes">
            <a:extLst>
              <a:ext uri="{FF2B5EF4-FFF2-40B4-BE49-F238E27FC236}">
                <a16:creationId xmlns:a16="http://schemas.microsoft.com/office/drawing/2014/main" id="{FAFB692B-1622-3D61-937D-539E56142BD6}"/>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079BCEFA-70C7-4D26-9BB8-9E169E211F3F}"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21</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Google Shape;188;g23b9104a24c_0_23:notes">
            <a:extLst>
              <a:ext uri="{FF2B5EF4-FFF2-40B4-BE49-F238E27FC236}">
                <a16:creationId xmlns:a16="http://schemas.microsoft.com/office/drawing/2014/main" id="{B7C3487B-3D1C-E755-119D-81BE79740F2B}"/>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57347" name="Google Shape;189;g23b9104a24c_0_23:notes">
            <a:extLst>
              <a:ext uri="{FF2B5EF4-FFF2-40B4-BE49-F238E27FC236}">
                <a16:creationId xmlns:a16="http://schemas.microsoft.com/office/drawing/2014/main" id="{D8FD15DD-D406-098C-04A9-B28F84607D4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57348" name="Google Shape;190;g23b9104a24c_0_23:notes">
            <a:extLst>
              <a:ext uri="{FF2B5EF4-FFF2-40B4-BE49-F238E27FC236}">
                <a16:creationId xmlns:a16="http://schemas.microsoft.com/office/drawing/2014/main" id="{4B8A20E2-2C5C-419A-EA85-7B114A41DF7A}"/>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C4BD4F3D-EBAC-4085-8F22-9DBC83DCDA81}"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22</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9394" name="Google Shape;188;g23b9104a24c_0_23:notes">
            <a:extLst>
              <a:ext uri="{FF2B5EF4-FFF2-40B4-BE49-F238E27FC236}">
                <a16:creationId xmlns:a16="http://schemas.microsoft.com/office/drawing/2014/main" id="{E29A42BA-FB72-050D-167E-23B4F9AC44CD}"/>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59395" name="Google Shape;189;g23b9104a24c_0_23:notes">
            <a:extLst>
              <a:ext uri="{FF2B5EF4-FFF2-40B4-BE49-F238E27FC236}">
                <a16:creationId xmlns:a16="http://schemas.microsoft.com/office/drawing/2014/main" id="{26CA81AF-DA5A-0648-BD23-88770D73447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59396" name="Google Shape;190;g23b9104a24c_0_23:notes">
            <a:extLst>
              <a:ext uri="{FF2B5EF4-FFF2-40B4-BE49-F238E27FC236}">
                <a16:creationId xmlns:a16="http://schemas.microsoft.com/office/drawing/2014/main" id="{312EA48B-9CA4-1F6E-59A6-5674653C6CF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5B4F8CF3-A217-4524-8F10-302CB9D600FA}"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23</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2" name="Google Shape;188;g23b9104a24c_0_23:notes">
            <a:extLst>
              <a:ext uri="{FF2B5EF4-FFF2-40B4-BE49-F238E27FC236}">
                <a16:creationId xmlns:a16="http://schemas.microsoft.com/office/drawing/2014/main" id="{5B53D5BD-E74E-383C-FA26-05E41DEE2D54}"/>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61443" name="Google Shape;189;g23b9104a24c_0_23:notes">
            <a:extLst>
              <a:ext uri="{FF2B5EF4-FFF2-40B4-BE49-F238E27FC236}">
                <a16:creationId xmlns:a16="http://schemas.microsoft.com/office/drawing/2014/main" id="{6CB35B77-7988-7CF4-B3E8-47B34958BD6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61444" name="Google Shape;190;g23b9104a24c_0_23:notes">
            <a:extLst>
              <a:ext uri="{FF2B5EF4-FFF2-40B4-BE49-F238E27FC236}">
                <a16:creationId xmlns:a16="http://schemas.microsoft.com/office/drawing/2014/main" id="{CBFEE88A-87A6-1263-7047-4BD00C4908C5}"/>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D562E1B1-083E-4023-95CF-859C458DD0CF}"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24</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90" name="Google Shape;188;g23b9104a24c_0_23:notes">
            <a:extLst>
              <a:ext uri="{FF2B5EF4-FFF2-40B4-BE49-F238E27FC236}">
                <a16:creationId xmlns:a16="http://schemas.microsoft.com/office/drawing/2014/main" id="{7FC91515-D02A-6717-2374-65C9E58535C5}"/>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63491" name="Google Shape;189;g23b9104a24c_0_23:notes">
            <a:extLst>
              <a:ext uri="{FF2B5EF4-FFF2-40B4-BE49-F238E27FC236}">
                <a16:creationId xmlns:a16="http://schemas.microsoft.com/office/drawing/2014/main" id="{89C6E9FC-BBE2-70C5-4A51-D1B16CE81EF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63492" name="Google Shape;190;g23b9104a24c_0_23:notes">
            <a:extLst>
              <a:ext uri="{FF2B5EF4-FFF2-40B4-BE49-F238E27FC236}">
                <a16:creationId xmlns:a16="http://schemas.microsoft.com/office/drawing/2014/main" id="{D5585645-D891-9567-9D94-51A631E5F8C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F3297CFF-F1DF-4753-AFB9-602D223DBCC8}"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25</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8" name="Google Shape;188;g23b9104a24c_0_23:notes">
            <a:extLst>
              <a:ext uri="{FF2B5EF4-FFF2-40B4-BE49-F238E27FC236}">
                <a16:creationId xmlns:a16="http://schemas.microsoft.com/office/drawing/2014/main" id="{29130D17-0187-F7EA-A386-7D12EABDCB5E}"/>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65539" name="Google Shape;189;g23b9104a24c_0_23:notes">
            <a:extLst>
              <a:ext uri="{FF2B5EF4-FFF2-40B4-BE49-F238E27FC236}">
                <a16:creationId xmlns:a16="http://schemas.microsoft.com/office/drawing/2014/main" id="{38564205-EAB1-2F7F-F5BC-08B79DE3E45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65540" name="Google Shape;190;g23b9104a24c_0_23:notes">
            <a:extLst>
              <a:ext uri="{FF2B5EF4-FFF2-40B4-BE49-F238E27FC236}">
                <a16:creationId xmlns:a16="http://schemas.microsoft.com/office/drawing/2014/main" id="{7B8AB131-C956-265D-34AD-5FB28A25D4C4}"/>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2F2D4D57-A5FB-4CF9-A011-00EF95694165}"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26</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6" name="Google Shape;188;g23b9104a24c_0_23:notes">
            <a:extLst>
              <a:ext uri="{FF2B5EF4-FFF2-40B4-BE49-F238E27FC236}">
                <a16:creationId xmlns:a16="http://schemas.microsoft.com/office/drawing/2014/main" id="{D268CA45-1D93-7B1F-0019-C9FD5C651B76}"/>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67587" name="Google Shape;189;g23b9104a24c_0_23:notes">
            <a:extLst>
              <a:ext uri="{FF2B5EF4-FFF2-40B4-BE49-F238E27FC236}">
                <a16:creationId xmlns:a16="http://schemas.microsoft.com/office/drawing/2014/main" id="{6E8E3625-4ED1-E434-E61F-91D6C309B4B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67588" name="Google Shape;190;g23b9104a24c_0_23:notes">
            <a:extLst>
              <a:ext uri="{FF2B5EF4-FFF2-40B4-BE49-F238E27FC236}">
                <a16:creationId xmlns:a16="http://schemas.microsoft.com/office/drawing/2014/main" id="{E622CCCB-F867-85AF-645E-9B796E412D98}"/>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B3788CA8-3098-4613-8F51-3E22EC98C0D3}"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27</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9634" name="Google Shape;188;g23b9104a24c_0_23:notes">
            <a:extLst>
              <a:ext uri="{FF2B5EF4-FFF2-40B4-BE49-F238E27FC236}">
                <a16:creationId xmlns:a16="http://schemas.microsoft.com/office/drawing/2014/main" id="{C157DF4C-C787-00B4-75E6-DCF414E7E01B}"/>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69635" name="Google Shape;189;g23b9104a24c_0_23:notes">
            <a:extLst>
              <a:ext uri="{FF2B5EF4-FFF2-40B4-BE49-F238E27FC236}">
                <a16:creationId xmlns:a16="http://schemas.microsoft.com/office/drawing/2014/main" id="{1FFF87FE-DE34-DACE-748F-4089D72B994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69636" name="Google Shape;190;g23b9104a24c_0_23:notes">
            <a:extLst>
              <a:ext uri="{FF2B5EF4-FFF2-40B4-BE49-F238E27FC236}">
                <a16:creationId xmlns:a16="http://schemas.microsoft.com/office/drawing/2014/main" id="{6394D856-ACBF-49AA-6A8E-13DF4035EC85}"/>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3F3D9788-47C3-457E-ADC7-670542F8ED8E}"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28</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682" name="Google Shape;188;g23b9104a24c_0_23:notes">
            <a:extLst>
              <a:ext uri="{FF2B5EF4-FFF2-40B4-BE49-F238E27FC236}">
                <a16:creationId xmlns:a16="http://schemas.microsoft.com/office/drawing/2014/main" id="{9F900A50-067D-BA5E-3DBB-D3057FE7CDBF}"/>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71683" name="Google Shape;189;g23b9104a24c_0_23:notes">
            <a:extLst>
              <a:ext uri="{FF2B5EF4-FFF2-40B4-BE49-F238E27FC236}">
                <a16:creationId xmlns:a16="http://schemas.microsoft.com/office/drawing/2014/main" id="{A3D2FE16-E752-9486-5D6E-92C4B8D93CE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71684" name="Google Shape;190;g23b9104a24c_0_23:notes">
            <a:extLst>
              <a:ext uri="{FF2B5EF4-FFF2-40B4-BE49-F238E27FC236}">
                <a16:creationId xmlns:a16="http://schemas.microsoft.com/office/drawing/2014/main" id="{1C7EEB1E-0940-4B18-A26A-4882E8EBB1D3}"/>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AA5A0B72-6DEB-4C53-A6A7-16F67ECAECBE}"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29</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3730" name="Google Shape;188;g23b9104a24c_0_23:notes">
            <a:extLst>
              <a:ext uri="{FF2B5EF4-FFF2-40B4-BE49-F238E27FC236}">
                <a16:creationId xmlns:a16="http://schemas.microsoft.com/office/drawing/2014/main" id="{523C053B-131E-DAF1-460E-96EA95672BA2}"/>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73731" name="Google Shape;189;g23b9104a24c_0_23:notes">
            <a:extLst>
              <a:ext uri="{FF2B5EF4-FFF2-40B4-BE49-F238E27FC236}">
                <a16:creationId xmlns:a16="http://schemas.microsoft.com/office/drawing/2014/main" id="{497B7A99-541E-4A20-6C5D-639886950C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73732" name="Google Shape;190;g23b9104a24c_0_23:notes">
            <a:extLst>
              <a:ext uri="{FF2B5EF4-FFF2-40B4-BE49-F238E27FC236}">
                <a16:creationId xmlns:a16="http://schemas.microsoft.com/office/drawing/2014/main" id="{932DB234-D357-183F-B8E0-EF90DE29FBD2}"/>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22AF1738-4B56-4278-9962-7348F69DD33A}"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30</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5778" name="Google Shape;188;g23b9104a24c_0_23:notes">
            <a:extLst>
              <a:ext uri="{FF2B5EF4-FFF2-40B4-BE49-F238E27FC236}">
                <a16:creationId xmlns:a16="http://schemas.microsoft.com/office/drawing/2014/main" id="{B7B0D7BB-F567-5E59-8E8B-FEB611436008}"/>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75779" name="Google Shape;189;g23b9104a24c_0_23:notes">
            <a:extLst>
              <a:ext uri="{FF2B5EF4-FFF2-40B4-BE49-F238E27FC236}">
                <a16:creationId xmlns:a16="http://schemas.microsoft.com/office/drawing/2014/main" id="{34EFBBE9-E171-4E8E-EA15-1814788F2E6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75780" name="Google Shape;190;g23b9104a24c_0_23:notes">
            <a:extLst>
              <a:ext uri="{FF2B5EF4-FFF2-40B4-BE49-F238E27FC236}">
                <a16:creationId xmlns:a16="http://schemas.microsoft.com/office/drawing/2014/main" id="{911FF238-C24A-637E-642F-6A721C1D5EEF}"/>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D46F50ED-0AA1-4AF7-AE47-C27D47496501}"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31</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7826" name="Google Shape;188;g23b9104a24c_0_23:notes">
            <a:extLst>
              <a:ext uri="{FF2B5EF4-FFF2-40B4-BE49-F238E27FC236}">
                <a16:creationId xmlns:a16="http://schemas.microsoft.com/office/drawing/2014/main" id="{60D24900-3365-0EF4-C888-41C005B8A5A0}"/>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77827" name="Google Shape;189;g23b9104a24c_0_23:notes">
            <a:extLst>
              <a:ext uri="{FF2B5EF4-FFF2-40B4-BE49-F238E27FC236}">
                <a16:creationId xmlns:a16="http://schemas.microsoft.com/office/drawing/2014/main" id="{0717430B-403B-ACDF-6FFC-4F3E0B0D48F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77828" name="Google Shape;190;g23b9104a24c_0_23:notes">
            <a:extLst>
              <a:ext uri="{FF2B5EF4-FFF2-40B4-BE49-F238E27FC236}">
                <a16:creationId xmlns:a16="http://schemas.microsoft.com/office/drawing/2014/main" id="{54C8D1D7-6556-4800-8842-C38D18553FCB}"/>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04DB58CF-407C-429A-93E1-E84CB5AFE83D}"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32</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874" name="Google Shape;188;g23b9104a24c_0_23:notes">
            <a:extLst>
              <a:ext uri="{FF2B5EF4-FFF2-40B4-BE49-F238E27FC236}">
                <a16:creationId xmlns:a16="http://schemas.microsoft.com/office/drawing/2014/main" id="{F25027FF-F4CF-DAED-969B-F79B2C4C2687}"/>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79875" name="Google Shape;189;g23b9104a24c_0_23:notes">
            <a:extLst>
              <a:ext uri="{FF2B5EF4-FFF2-40B4-BE49-F238E27FC236}">
                <a16:creationId xmlns:a16="http://schemas.microsoft.com/office/drawing/2014/main" id="{4312AD1C-A983-E2D0-0383-522907ACDA2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79876" name="Google Shape;190;g23b9104a24c_0_23:notes">
            <a:extLst>
              <a:ext uri="{FF2B5EF4-FFF2-40B4-BE49-F238E27FC236}">
                <a16:creationId xmlns:a16="http://schemas.microsoft.com/office/drawing/2014/main" id="{7159CDDC-47C5-9B71-6D0D-17A349FADFB2}"/>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BB1AC9B6-4696-400B-8F42-22E47650DFB6}"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33</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922" name="Google Shape;294;p9:notes">
            <a:extLst>
              <a:ext uri="{FF2B5EF4-FFF2-40B4-BE49-F238E27FC236}">
                <a16:creationId xmlns:a16="http://schemas.microsoft.com/office/drawing/2014/main" id="{099ABB6D-CB76-0147-74BB-FCEE597E29C8}"/>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81923" name="Google Shape;295;p9:notes">
            <a:extLst>
              <a:ext uri="{FF2B5EF4-FFF2-40B4-BE49-F238E27FC236}">
                <a16:creationId xmlns:a16="http://schemas.microsoft.com/office/drawing/2014/main" id="{1EE68182-2A75-9ACF-EF54-1E129D27C03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marL="215900" indent="-215900" eaLnBrk="1" hangingPunct="1">
              <a:spcBef>
                <a:spcPct val="0"/>
              </a:spcBef>
            </a:pPr>
            <a:r>
              <a:rPr lang="en-US" altLang="en-US" sz="2000">
                <a:latin typeface="Arial" panose="020B0604020202020204" pitchFamily="34" charset="0"/>
                <a:cs typeface="Arial" panose="020B0604020202020204" pitchFamily="34" charset="0"/>
                <a:sym typeface="Arial" panose="020B0604020202020204" pitchFamily="34" charset="0"/>
              </a:rPr>
              <a:t>Answer 1 b and 2 c</a:t>
            </a:r>
          </a:p>
        </p:txBody>
      </p:sp>
      <p:sp>
        <p:nvSpPr>
          <p:cNvPr id="81924" name="Google Shape;296;p9:notes">
            <a:extLst>
              <a:ext uri="{FF2B5EF4-FFF2-40B4-BE49-F238E27FC236}">
                <a16:creationId xmlns:a16="http://schemas.microsoft.com/office/drawing/2014/main" id="{CFAD8DC3-A673-A464-3E9E-E1AFD0857B78}"/>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728D6F2D-F06B-4E09-AC96-BC0400F7A9F2}"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34</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3970" name="Google Shape;306;p10:notes">
            <a:extLst>
              <a:ext uri="{FF2B5EF4-FFF2-40B4-BE49-F238E27FC236}">
                <a16:creationId xmlns:a16="http://schemas.microsoft.com/office/drawing/2014/main" id="{A079807C-D054-941B-1A43-5D92485ACB94}"/>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83971" name="Google Shape;307;p10:notes">
            <a:extLst>
              <a:ext uri="{FF2B5EF4-FFF2-40B4-BE49-F238E27FC236}">
                <a16:creationId xmlns:a16="http://schemas.microsoft.com/office/drawing/2014/main" id="{F0F4BFCA-6F41-A0E2-7EFD-55375B301F9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83972" name="Google Shape;308;p10:notes">
            <a:extLst>
              <a:ext uri="{FF2B5EF4-FFF2-40B4-BE49-F238E27FC236}">
                <a16:creationId xmlns:a16="http://schemas.microsoft.com/office/drawing/2014/main" id="{7DC9ABC7-5AD2-8C22-D0F4-FA8807504987}"/>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D4912A32-B64C-4631-95E0-F23A73D1B52A}"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35</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6018" name="Google Shape;306;p10:notes">
            <a:extLst>
              <a:ext uri="{FF2B5EF4-FFF2-40B4-BE49-F238E27FC236}">
                <a16:creationId xmlns:a16="http://schemas.microsoft.com/office/drawing/2014/main" id="{BFBF3ED0-429A-B32C-D936-98FCC5015157}"/>
              </a:ext>
            </a:extLst>
          </p:cNvPr>
          <p:cNvSpPr>
            <a:spLocks noGrp="1" noRot="1" noChangeAspect="1" noTextEdit="1"/>
          </p:cNvSpPr>
          <p:nvPr>
            <p:ph type="sldImg" idx="2"/>
          </p:nvPr>
        </p:nvSpPr>
        <p:spPr bwMode="auto">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sp>
      <p:sp>
        <p:nvSpPr>
          <p:cNvPr id="86019" name="Google Shape;307;p10:notes">
            <a:extLst>
              <a:ext uri="{FF2B5EF4-FFF2-40B4-BE49-F238E27FC236}">
                <a16:creationId xmlns:a16="http://schemas.microsoft.com/office/drawing/2014/main" id="{CAD7460C-C178-7ADB-7D0F-79866FBAFA7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sz="2000">
              <a:latin typeface="Arial" panose="020B0604020202020204" pitchFamily="34" charset="0"/>
              <a:cs typeface="Arial" panose="020B0604020202020204" pitchFamily="34" charset="0"/>
              <a:sym typeface="Arial" panose="020B0604020202020204" pitchFamily="34" charset="0"/>
            </a:endParaRPr>
          </a:p>
        </p:txBody>
      </p:sp>
      <p:sp>
        <p:nvSpPr>
          <p:cNvPr id="86020" name="Google Shape;308;p10:notes">
            <a:extLst>
              <a:ext uri="{FF2B5EF4-FFF2-40B4-BE49-F238E27FC236}">
                <a16:creationId xmlns:a16="http://schemas.microsoft.com/office/drawing/2014/main" id="{53012D23-D37C-2035-9FF0-AC547A89FC2A}"/>
              </a:ext>
            </a:extLst>
          </p:cNvPr>
          <p:cNvSpPr txBox="1">
            <a:spLocks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b"/>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pPr algn="r" eaLnBrk="1" hangingPunct="1"/>
            <a:fld id="{2E376B59-E591-4500-883C-46B84ADF2FE1}" type="slidenum">
              <a:rPr lang="en-US" altLang="en-US" sz="1200">
                <a:latin typeface="Times New Roman" panose="02020603050405020304" pitchFamily="18" charset="0"/>
                <a:cs typeface="Times New Roman" panose="02020603050405020304" pitchFamily="18" charset="0"/>
                <a:sym typeface="Times New Roman" panose="02020603050405020304" pitchFamily="18" charset="0"/>
              </a:rPr>
              <a:pPr algn="r" eaLnBrk="1" hangingPunct="1"/>
              <a:t>36</a:t>
            </a:fld>
            <a:endParaRPr lang="en-US" altLang="en-US" sz="120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8066" name="Google Shape;315;p11:notes">
            <a:extLst>
              <a:ext uri="{FF2B5EF4-FFF2-40B4-BE49-F238E27FC236}">
                <a16:creationId xmlns:a16="http://schemas.microsoft.com/office/drawing/2014/main" id="{132941B4-6877-79BB-EB08-45DB148697D3}"/>
              </a:ext>
            </a:extLst>
          </p:cNvPr>
          <p:cNvSpPr>
            <a:spLocks noGrp="1" noChangeArrowheads="1"/>
          </p:cNvSpPr>
          <p:nvPr>
            <p:ph type="body" idx="1"/>
          </p:nvPr>
        </p:nvSpPr>
        <p:spPr bwMode="auto">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numCol="1" anchor="t" anchorCtr="0" compatLnSpc="1">
            <a:prstTxWarp prst="textNoShape">
              <a:avLst/>
            </a:prstTxWarp>
          </a:bodyPr>
          <a:lstStyle/>
          <a:p>
            <a:pPr eaLnBrk="1" hangingPunct="1">
              <a:spcBef>
                <a:spcPct val="0"/>
              </a:spcBef>
            </a:pPr>
            <a:endParaRPr lang="en-US" altLang="en-US"/>
          </a:p>
        </p:txBody>
      </p:sp>
      <p:sp>
        <p:nvSpPr>
          <p:cNvPr id="88067" name="Google Shape;316;p11:notes">
            <a:extLst>
              <a:ext uri="{FF2B5EF4-FFF2-40B4-BE49-F238E27FC236}">
                <a16:creationId xmlns:a16="http://schemas.microsoft.com/office/drawing/2014/main" id="{2D62EC3A-11A3-FDE4-DB59-955829A5FAA9}"/>
              </a:ext>
            </a:extLst>
          </p:cNvPr>
          <p:cNvSpPr>
            <a:spLocks noGrp="1" noRot="1" noChangeAspect="1" noTextEdit="1"/>
          </p:cNvSpPr>
          <p:nvPr>
            <p:ph type="sldImg" idx="2"/>
          </p:nvPr>
        </p:nvSpPr>
        <p:spPr bwMode="auto">
          <a:xfrm>
            <a:off x="217488" y="812800"/>
            <a:ext cx="7124700" cy="4008438"/>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1F656C1-D1A5-2794-D94D-296B9AF1F8D1}"/>
              </a:ext>
            </a:extLst>
          </p:cNvPr>
          <p:cNvCxnSpPr/>
          <p:nvPr/>
        </p:nvCxnSpPr>
        <p:spPr>
          <a:xfrm>
            <a:off x="2417763" y="3529013"/>
            <a:ext cx="8637587"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ctrTitle"/>
          </p:nvPr>
        </p:nvSpPr>
        <p:spPr>
          <a:xfrm>
            <a:off x="2417779" y="802298"/>
            <a:ext cx="8637073" cy="2541431"/>
          </a:xfrm>
        </p:spPr>
        <p:txBody>
          <a:bodyPr bIns="0" anchor="b"/>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0EB34607-7E09-B569-8FEA-67DC2B19A6A7}"/>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6" name="Slide Number Placeholder 5">
            <a:extLst>
              <a:ext uri="{FF2B5EF4-FFF2-40B4-BE49-F238E27FC236}">
                <a16:creationId xmlns:a16="http://schemas.microsoft.com/office/drawing/2014/main" id="{189D78E1-89BA-E47C-AB35-9F913A646C0F}"/>
              </a:ext>
            </a:extLst>
          </p:cNvPr>
          <p:cNvSpPr>
            <a:spLocks noGrp="1"/>
          </p:cNvSpPr>
          <p:nvPr>
            <p:ph type="sldNum" sz="quarter" idx="11"/>
          </p:nvPr>
        </p:nvSpPr>
        <p:spPr>
          <a:xfrm>
            <a:off x="1438275" y="798513"/>
            <a:ext cx="809625" cy="504825"/>
          </a:xfrm>
        </p:spPr>
        <p:txBody>
          <a:bodyPr/>
          <a:lstStyle>
            <a:lvl1pPr>
              <a:defRPr/>
            </a:lvl1pPr>
          </a:lstStyle>
          <a:p>
            <a:pPr>
              <a:defRPr/>
            </a:pPr>
            <a:fld id="{4F1F35DA-0317-45E9-84A3-A7430AF25198}" type="slidenum">
              <a:rPr lang="en-IN" altLang="en-US"/>
              <a:pPr>
                <a:defRPr/>
              </a:pPr>
              <a:t>‹#›</a:t>
            </a:fld>
            <a:endParaRPr lang="en-IN" altLang="en-US"/>
          </a:p>
        </p:txBody>
      </p:sp>
    </p:spTree>
    <p:extLst>
      <p:ext uri="{BB962C8B-B14F-4D97-AF65-F5344CB8AC3E}">
        <p14:creationId xmlns:p14="http://schemas.microsoft.com/office/powerpoint/2010/main" val="3773323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99CA7AA-7E66-3D9B-A9EF-39FBFE0AD856}"/>
              </a:ext>
            </a:extLst>
          </p:cNvPr>
          <p:cNvCxnSpPr/>
          <p:nvPr/>
        </p:nvCxnSpPr>
        <p:spPr>
          <a:xfrm>
            <a:off x="1454150" y="1847850"/>
            <a:ext cx="96075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08FB51A0-D4E1-D263-2D45-A66A95546702}"/>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6" name="Slide Number Placeholder 5">
            <a:extLst>
              <a:ext uri="{FF2B5EF4-FFF2-40B4-BE49-F238E27FC236}">
                <a16:creationId xmlns:a16="http://schemas.microsoft.com/office/drawing/2014/main" id="{C13752E8-9BE1-5D28-3C78-4FAC7A9807F9}"/>
              </a:ext>
            </a:extLst>
          </p:cNvPr>
          <p:cNvSpPr>
            <a:spLocks noGrp="1"/>
          </p:cNvSpPr>
          <p:nvPr>
            <p:ph type="sldNum" sz="quarter" idx="11"/>
          </p:nvPr>
        </p:nvSpPr>
        <p:spPr/>
        <p:txBody>
          <a:bodyPr/>
          <a:lstStyle>
            <a:lvl1pPr>
              <a:defRPr/>
            </a:lvl1pPr>
          </a:lstStyle>
          <a:p>
            <a:pPr>
              <a:defRPr/>
            </a:pPr>
            <a:fld id="{87F4E654-0477-4368-A5C1-ADE6CBB24325}" type="slidenum">
              <a:rPr lang="en-IN" altLang="en-US"/>
              <a:pPr>
                <a:defRPr/>
              </a:pPr>
              <a:t>‹#›</a:t>
            </a:fld>
            <a:endParaRPr lang="en-IN" altLang="en-US"/>
          </a:p>
        </p:txBody>
      </p:sp>
    </p:spTree>
    <p:extLst>
      <p:ext uri="{BB962C8B-B14F-4D97-AF65-F5344CB8AC3E}">
        <p14:creationId xmlns:p14="http://schemas.microsoft.com/office/powerpoint/2010/main" val="3593209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224086-2009-1081-6B87-F8861803B087}"/>
              </a:ext>
            </a:extLst>
          </p:cNvPr>
          <p:cNvCxnSpPr/>
          <p:nvPr/>
        </p:nvCxnSpPr>
        <p:spPr>
          <a:xfrm>
            <a:off x="1454150" y="3805238"/>
            <a:ext cx="8631238"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54239" y="1756130"/>
            <a:ext cx="8643154" cy="1887950"/>
          </a:xfrm>
        </p:spPr>
        <p:txBody>
          <a:bodyPr anchor="b"/>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093541F6-1E01-7B62-DE65-7E4E8730CFBA}"/>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6" name="Slide Number Placeholder 5">
            <a:extLst>
              <a:ext uri="{FF2B5EF4-FFF2-40B4-BE49-F238E27FC236}">
                <a16:creationId xmlns:a16="http://schemas.microsoft.com/office/drawing/2014/main" id="{7BE7E9C2-7EE6-11FD-E522-4B7F3E62CC92}"/>
              </a:ext>
            </a:extLst>
          </p:cNvPr>
          <p:cNvSpPr>
            <a:spLocks noGrp="1"/>
          </p:cNvSpPr>
          <p:nvPr>
            <p:ph type="sldNum" sz="quarter" idx="11"/>
          </p:nvPr>
        </p:nvSpPr>
        <p:spPr/>
        <p:txBody>
          <a:bodyPr/>
          <a:lstStyle>
            <a:lvl1pPr>
              <a:defRPr/>
            </a:lvl1pPr>
          </a:lstStyle>
          <a:p>
            <a:pPr>
              <a:defRPr/>
            </a:pPr>
            <a:fld id="{AFFF598C-1B8B-4F1F-B588-8E012C708F4C}" type="slidenum">
              <a:rPr lang="en-IN" altLang="en-US"/>
              <a:pPr>
                <a:defRPr/>
              </a:pPr>
              <a:t>‹#›</a:t>
            </a:fld>
            <a:endParaRPr lang="en-IN" altLang="en-US"/>
          </a:p>
        </p:txBody>
      </p:sp>
    </p:spTree>
    <p:extLst>
      <p:ext uri="{BB962C8B-B14F-4D97-AF65-F5344CB8AC3E}">
        <p14:creationId xmlns:p14="http://schemas.microsoft.com/office/powerpoint/2010/main" val="22199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ED49A24-2907-CA80-24E5-86CFE37619D7}"/>
              </a:ext>
            </a:extLst>
          </p:cNvPr>
          <p:cNvCxnSpPr/>
          <p:nvPr/>
        </p:nvCxnSpPr>
        <p:spPr>
          <a:xfrm>
            <a:off x="1454150" y="1847850"/>
            <a:ext cx="96075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3D060F15-170F-D568-F49A-A00A3FC28B01}"/>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7" name="Slide Number Placeholder 6">
            <a:extLst>
              <a:ext uri="{FF2B5EF4-FFF2-40B4-BE49-F238E27FC236}">
                <a16:creationId xmlns:a16="http://schemas.microsoft.com/office/drawing/2014/main" id="{7F7DF397-7AE1-E5CF-4E25-E5848CD8AA89}"/>
              </a:ext>
            </a:extLst>
          </p:cNvPr>
          <p:cNvSpPr>
            <a:spLocks noGrp="1"/>
          </p:cNvSpPr>
          <p:nvPr>
            <p:ph type="sldNum" sz="quarter" idx="11"/>
          </p:nvPr>
        </p:nvSpPr>
        <p:spPr/>
        <p:txBody>
          <a:bodyPr/>
          <a:lstStyle>
            <a:lvl1pPr>
              <a:defRPr/>
            </a:lvl1pPr>
          </a:lstStyle>
          <a:p>
            <a:pPr>
              <a:defRPr/>
            </a:pPr>
            <a:fld id="{09655E65-3397-4DAB-87E3-4490B3304354}" type="slidenum">
              <a:rPr lang="en-IN" altLang="en-US"/>
              <a:pPr>
                <a:defRPr/>
              </a:pPr>
              <a:t>‹#›</a:t>
            </a:fld>
            <a:endParaRPr lang="en-IN" altLang="en-US"/>
          </a:p>
        </p:txBody>
      </p:sp>
    </p:spTree>
    <p:extLst>
      <p:ext uri="{BB962C8B-B14F-4D97-AF65-F5344CB8AC3E}">
        <p14:creationId xmlns:p14="http://schemas.microsoft.com/office/powerpoint/2010/main" val="3310486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591E1852-BB3E-55BA-0320-861FC0221AF2}"/>
              </a:ext>
            </a:extLst>
          </p:cNvPr>
          <p:cNvCxnSpPr/>
          <p:nvPr/>
        </p:nvCxnSpPr>
        <p:spPr>
          <a:xfrm>
            <a:off x="1454150" y="1847850"/>
            <a:ext cx="96075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a:extLst>
              <a:ext uri="{FF2B5EF4-FFF2-40B4-BE49-F238E27FC236}">
                <a16:creationId xmlns:a16="http://schemas.microsoft.com/office/drawing/2014/main" id="{3D985808-5639-6E7A-BC42-0EBA95EE705C}"/>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9" name="Slide Number Placeholder 8">
            <a:extLst>
              <a:ext uri="{FF2B5EF4-FFF2-40B4-BE49-F238E27FC236}">
                <a16:creationId xmlns:a16="http://schemas.microsoft.com/office/drawing/2014/main" id="{82BDA898-9D74-A5F5-3BF9-9B742212081F}"/>
              </a:ext>
            </a:extLst>
          </p:cNvPr>
          <p:cNvSpPr>
            <a:spLocks noGrp="1"/>
          </p:cNvSpPr>
          <p:nvPr>
            <p:ph type="sldNum" sz="quarter" idx="11"/>
          </p:nvPr>
        </p:nvSpPr>
        <p:spPr/>
        <p:txBody>
          <a:bodyPr/>
          <a:lstStyle>
            <a:lvl1pPr>
              <a:defRPr/>
            </a:lvl1pPr>
          </a:lstStyle>
          <a:p>
            <a:pPr>
              <a:defRPr/>
            </a:pPr>
            <a:fld id="{81C0FE7E-3E14-40B3-A4DC-CF01D7FFB4F5}" type="slidenum">
              <a:rPr lang="en-IN" altLang="en-US"/>
              <a:pPr>
                <a:defRPr/>
              </a:pPr>
              <a:t>‹#›</a:t>
            </a:fld>
            <a:endParaRPr lang="en-IN" altLang="en-US"/>
          </a:p>
        </p:txBody>
      </p:sp>
    </p:spTree>
    <p:extLst>
      <p:ext uri="{BB962C8B-B14F-4D97-AF65-F5344CB8AC3E}">
        <p14:creationId xmlns:p14="http://schemas.microsoft.com/office/powerpoint/2010/main" val="3671228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0E92356-9F96-0BBE-1C52-388E56D300B2}"/>
              </a:ext>
            </a:extLst>
          </p:cNvPr>
          <p:cNvCxnSpPr/>
          <p:nvPr/>
        </p:nvCxnSpPr>
        <p:spPr>
          <a:xfrm>
            <a:off x="1454150" y="1847850"/>
            <a:ext cx="96075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4" name="Date Placeholder 2">
            <a:extLst>
              <a:ext uri="{FF2B5EF4-FFF2-40B4-BE49-F238E27FC236}">
                <a16:creationId xmlns:a16="http://schemas.microsoft.com/office/drawing/2014/main" id="{979E99A3-22BD-BB2C-2A0B-91642FACA00D}"/>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5" name="Slide Number Placeholder 4">
            <a:extLst>
              <a:ext uri="{FF2B5EF4-FFF2-40B4-BE49-F238E27FC236}">
                <a16:creationId xmlns:a16="http://schemas.microsoft.com/office/drawing/2014/main" id="{2F5388B1-B0BC-2EF4-828D-5967A7CCBA7C}"/>
              </a:ext>
            </a:extLst>
          </p:cNvPr>
          <p:cNvSpPr>
            <a:spLocks noGrp="1"/>
          </p:cNvSpPr>
          <p:nvPr>
            <p:ph type="sldNum" sz="quarter" idx="11"/>
          </p:nvPr>
        </p:nvSpPr>
        <p:spPr/>
        <p:txBody>
          <a:bodyPr/>
          <a:lstStyle>
            <a:lvl1pPr>
              <a:defRPr/>
            </a:lvl1pPr>
          </a:lstStyle>
          <a:p>
            <a:pPr>
              <a:defRPr/>
            </a:pPr>
            <a:fld id="{8AE2BCFF-DD7C-4201-9A64-42B9D5CADCD7}" type="slidenum">
              <a:rPr lang="en-IN" altLang="en-US"/>
              <a:pPr>
                <a:defRPr/>
              </a:pPr>
              <a:t>‹#›</a:t>
            </a:fld>
            <a:endParaRPr lang="en-IN" altLang="en-US"/>
          </a:p>
        </p:txBody>
      </p:sp>
    </p:spTree>
    <p:extLst>
      <p:ext uri="{BB962C8B-B14F-4D97-AF65-F5344CB8AC3E}">
        <p14:creationId xmlns:p14="http://schemas.microsoft.com/office/powerpoint/2010/main" val="1868885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7162558-6488-9A8B-A3C6-651D31F00254}"/>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3" name="Slide Number Placeholder 5">
            <a:extLst>
              <a:ext uri="{FF2B5EF4-FFF2-40B4-BE49-F238E27FC236}">
                <a16:creationId xmlns:a16="http://schemas.microsoft.com/office/drawing/2014/main" id="{F95879C3-5A85-CD74-C96F-D8A9E85D8476}"/>
              </a:ext>
            </a:extLst>
          </p:cNvPr>
          <p:cNvSpPr>
            <a:spLocks noGrp="1"/>
          </p:cNvSpPr>
          <p:nvPr>
            <p:ph type="sldNum" sz="quarter" idx="11"/>
          </p:nvPr>
        </p:nvSpPr>
        <p:spPr/>
        <p:txBody>
          <a:bodyPr/>
          <a:lstStyle>
            <a:lvl1pPr>
              <a:defRPr/>
            </a:lvl1pPr>
          </a:lstStyle>
          <a:p>
            <a:pPr>
              <a:defRPr/>
            </a:pPr>
            <a:fld id="{276D6A39-CDFB-487B-A0C5-56B0AFB6032E}" type="slidenum">
              <a:rPr lang="en-IN" altLang="en-US"/>
              <a:pPr>
                <a:defRPr/>
              </a:pPr>
              <a:t>‹#›</a:t>
            </a:fld>
            <a:endParaRPr lang="en-IN" altLang="en-US"/>
          </a:p>
        </p:txBody>
      </p:sp>
    </p:spTree>
    <p:extLst>
      <p:ext uri="{BB962C8B-B14F-4D97-AF65-F5344CB8AC3E}">
        <p14:creationId xmlns:p14="http://schemas.microsoft.com/office/powerpoint/2010/main" val="3022190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468BEA4-7ABA-1BE1-69FE-CD9AA61A5712}"/>
              </a:ext>
            </a:extLst>
          </p:cNvPr>
          <p:cNvCxnSpPr/>
          <p:nvPr/>
        </p:nvCxnSpPr>
        <p:spPr>
          <a:xfrm>
            <a:off x="1447800" y="3205163"/>
            <a:ext cx="32702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4671" y="798973"/>
            <a:ext cx="3273099" cy="2247117"/>
          </a:xfrm>
        </p:spPr>
        <p:txBody>
          <a:bodyPr anchor="b"/>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FCA278F9-C53D-131F-1844-FDAA27BCA93A}"/>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7" name="Slide Number Placeholder 6">
            <a:extLst>
              <a:ext uri="{FF2B5EF4-FFF2-40B4-BE49-F238E27FC236}">
                <a16:creationId xmlns:a16="http://schemas.microsoft.com/office/drawing/2014/main" id="{88ADBE50-C4BF-36DF-C762-14BE41FA5F78}"/>
              </a:ext>
            </a:extLst>
          </p:cNvPr>
          <p:cNvSpPr>
            <a:spLocks noGrp="1"/>
          </p:cNvSpPr>
          <p:nvPr>
            <p:ph type="sldNum" sz="quarter" idx="11"/>
          </p:nvPr>
        </p:nvSpPr>
        <p:spPr/>
        <p:txBody>
          <a:bodyPr/>
          <a:lstStyle>
            <a:lvl1pPr>
              <a:defRPr/>
            </a:lvl1pPr>
          </a:lstStyle>
          <a:p>
            <a:pPr>
              <a:defRPr/>
            </a:pPr>
            <a:fld id="{50457552-380A-45F6-B827-3DC6CF219442}" type="slidenum">
              <a:rPr lang="en-IN" altLang="en-US"/>
              <a:pPr>
                <a:defRPr/>
              </a:pPr>
              <a:t>‹#›</a:t>
            </a:fld>
            <a:endParaRPr lang="en-IN" altLang="en-US"/>
          </a:p>
        </p:txBody>
      </p:sp>
    </p:spTree>
    <p:extLst>
      <p:ext uri="{BB962C8B-B14F-4D97-AF65-F5344CB8AC3E}">
        <p14:creationId xmlns:p14="http://schemas.microsoft.com/office/powerpoint/2010/main" val="276654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5" name="Group 10">
            <a:extLst>
              <a:ext uri="{FF2B5EF4-FFF2-40B4-BE49-F238E27FC236}">
                <a16:creationId xmlns:a16="http://schemas.microsoft.com/office/drawing/2014/main" id="{03274721-8061-7CB1-9C63-623D45FE4FD3}"/>
              </a:ext>
            </a:extLst>
          </p:cNvPr>
          <p:cNvGrpSpPr>
            <a:grpSpLocks/>
          </p:cNvGrpSpPr>
          <p:nvPr/>
        </p:nvGrpSpPr>
        <p:grpSpPr bwMode="auto">
          <a:xfrm>
            <a:off x="7477125" y="482600"/>
            <a:ext cx="4075113" cy="5148263"/>
            <a:chOff x="7477387" y="482170"/>
            <a:chExt cx="4074533" cy="5149101"/>
          </a:xfrm>
        </p:grpSpPr>
        <p:sp>
          <p:nvSpPr>
            <p:cNvPr id="6" name="Rectangle 5">
              <a:extLst>
                <a:ext uri="{FF2B5EF4-FFF2-40B4-BE49-F238E27FC236}">
                  <a16:creationId xmlns:a16="http://schemas.microsoft.com/office/drawing/2014/main" id="{B2817774-14FF-DDDC-9E40-35EE4D4116C2}"/>
                </a:ext>
              </a:extLst>
            </p:cNvPr>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7" name="Rectangle 6">
              <a:extLst>
                <a:ext uri="{FF2B5EF4-FFF2-40B4-BE49-F238E27FC236}">
                  <a16:creationId xmlns:a16="http://schemas.microsoft.com/office/drawing/2014/main" id="{B349B89C-1FD4-7423-AB8F-2332AA23D89C}"/>
                </a:ext>
              </a:extLst>
            </p:cNvPr>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cxnSp>
        <p:nvCxnSpPr>
          <p:cNvPr id="8" name="Straight Connector 7">
            <a:extLst>
              <a:ext uri="{FF2B5EF4-FFF2-40B4-BE49-F238E27FC236}">
                <a16:creationId xmlns:a16="http://schemas.microsoft.com/office/drawing/2014/main" id="{E5606EC5-2CE5-6A07-DE28-7177136F0DB7}"/>
              </a:ext>
            </a:extLst>
          </p:cNvPr>
          <p:cNvCxnSpPr/>
          <p:nvPr/>
        </p:nvCxnSpPr>
        <p:spPr>
          <a:xfrm>
            <a:off x="1447800" y="3143250"/>
            <a:ext cx="552767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51206" y="1129513"/>
            <a:ext cx="5532328" cy="1830584"/>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rtlCol="0">
            <a:norm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4">
            <a:extLst>
              <a:ext uri="{FF2B5EF4-FFF2-40B4-BE49-F238E27FC236}">
                <a16:creationId xmlns:a16="http://schemas.microsoft.com/office/drawing/2014/main" id="{6DED7162-231A-6F93-2968-2E18A4E30BA8}"/>
              </a:ext>
            </a:extLst>
          </p:cNvPr>
          <p:cNvSpPr>
            <a:spLocks noGrp="1"/>
          </p:cNvSpPr>
          <p:nvPr>
            <p:ph type="dt" sz="half" idx="10"/>
          </p:nvPr>
        </p:nvSpPr>
        <p:spPr>
          <a:xfrm>
            <a:off x="1447800" y="5470525"/>
            <a:ext cx="5527675" cy="319088"/>
          </a:xfrm>
        </p:spPr>
        <p:txBody>
          <a:bodyPr/>
          <a:lstStyle>
            <a:lvl1pPr algn="l">
              <a:defRPr/>
            </a:lvl1pPr>
          </a:lstStyle>
          <a:p>
            <a:pPr>
              <a:defRPr/>
            </a:pPr>
            <a:r>
              <a:rPr lang="en-US"/>
              <a:t>&lt;COURSE TITLE&gt;, &lt;TOPIC NAME&gt;</a:t>
            </a:r>
            <a:endParaRPr lang="en-IN" dirty="0"/>
          </a:p>
        </p:txBody>
      </p:sp>
      <p:sp>
        <p:nvSpPr>
          <p:cNvPr id="10" name="Slide Number Placeholder 6">
            <a:extLst>
              <a:ext uri="{FF2B5EF4-FFF2-40B4-BE49-F238E27FC236}">
                <a16:creationId xmlns:a16="http://schemas.microsoft.com/office/drawing/2014/main" id="{6394A12E-89EE-99D1-2198-E7A112C037DB}"/>
              </a:ext>
            </a:extLst>
          </p:cNvPr>
          <p:cNvSpPr>
            <a:spLocks noGrp="1"/>
          </p:cNvSpPr>
          <p:nvPr>
            <p:ph type="sldNum" sz="quarter" idx="11"/>
          </p:nvPr>
        </p:nvSpPr>
        <p:spPr/>
        <p:txBody>
          <a:bodyPr/>
          <a:lstStyle>
            <a:lvl1pPr>
              <a:defRPr/>
            </a:lvl1pPr>
          </a:lstStyle>
          <a:p>
            <a:pPr>
              <a:defRPr/>
            </a:pPr>
            <a:fld id="{EEFE5CF4-6095-4203-B40A-09C6F54A5B58}" type="slidenum">
              <a:rPr lang="en-IN" altLang="en-US"/>
              <a:pPr>
                <a:defRPr/>
              </a:pPr>
              <a:t>‹#›</a:t>
            </a:fld>
            <a:endParaRPr lang="en-IN" altLang="en-US"/>
          </a:p>
        </p:txBody>
      </p:sp>
    </p:spTree>
    <p:extLst>
      <p:ext uri="{BB962C8B-B14F-4D97-AF65-F5344CB8AC3E}">
        <p14:creationId xmlns:p14="http://schemas.microsoft.com/office/powerpoint/2010/main" val="4028463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9897163-A515-32B6-73E5-331F589160C1}"/>
              </a:ext>
            </a:extLst>
          </p:cNvPr>
          <p:cNvCxnSpPr/>
          <p:nvPr/>
        </p:nvCxnSpPr>
        <p:spPr>
          <a:xfrm>
            <a:off x="1454150" y="1847850"/>
            <a:ext cx="96075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BF1BC903-BE52-62EC-274E-2A16B6FD5A09}"/>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6" name="Slide Number Placeholder 5">
            <a:extLst>
              <a:ext uri="{FF2B5EF4-FFF2-40B4-BE49-F238E27FC236}">
                <a16:creationId xmlns:a16="http://schemas.microsoft.com/office/drawing/2014/main" id="{B06D2E72-DE32-D782-CFA4-042B4440CBA8}"/>
              </a:ext>
            </a:extLst>
          </p:cNvPr>
          <p:cNvSpPr>
            <a:spLocks noGrp="1"/>
          </p:cNvSpPr>
          <p:nvPr>
            <p:ph type="sldNum" sz="quarter" idx="11"/>
          </p:nvPr>
        </p:nvSpPr>
        <p:spPr/>
        <p:txBody>
          <a:bodyPr/>
          <a:lstStyle>
            <a:lvl1pPr>
              <a:defRPr/>
            </a:lvl1pPr>
          </a:lstStyle>
          <a:p>
            <a:pPr>
              <a:defRPr/>
            </a:pPr>
            <a:fld id="{E236903D-8D10-42C9-A750-805940E90BF5}" type="slidenum">
              <a:rPr lang="en-IN" altLang="en-US"/>
              <a:pPr>
                <a:defRPr/>
              </a:pPr>
              <a:t>‹#›</a:t>
            </a:fld>
            <a:endParaRPr lang="en-IN" altLang="en-US"/>
          </a:p>
        </p:txBody>
      </p:sp>
    </p:spTree>
    <p:extLst>
      <p:ext uri="{BB962C8B-B14F-4D97-AF65-F5344CB8AC3E}">
        <p14:creationId xmlns:p14="http://schemas.microsoft.com/office/powerpoint/2010/main" val="129610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33454983-05C2-2719-40B4-E145AFCA6C8C}"/>
              </a:ext>
            </a:extLst>
          </p:cNvPr>
          <p:cNvCxnSpPr/>
          <p:nvPr/>
        </p:nvCxnSpPr>
        <p:spPr>
          <a:xfrm>
            <a:off x="9439275" y="798513"/>
            <a:ext cx="0" cy="466090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B9E52193-0530-7568-237D-698E665DCC9D}"/>
              </a:ext>
            </a:extLst>
          </p:cNvPr>
          <p:cNvSpPr>
            <a:spLocks noGrp="1"/>
          </p:cNvSpPr>
          <p:nvPr>
            <p:ph type="dt" sz="half" idx="10"/>
          </p:nvPr>
        </p:nvSpPr>
        <p:spPr/>
        <p:txBody>
          <a:bodyPr/>
          <a:lstStyle>
            <a:lvl1pPr>
              <a:defRPr/>
            </a:lvl1pPr>
          </a:lstStyle>
          <a:p>
            <a:pPr>
              <a:defRPr/>
            </a:pPr>
            <a:r>
              <a:rPr lang="en-US"/>
              <a:t>&lt;COURSE TITLE&gt;, &lt;TOPIC NAME&gt;</a:t>
            </a:r>
            <a:endParaRPr lang="en-IN" dirty="0"/>
          </a:p>
        </p:txBody>
      </p:sp>
      <p:sp>
        <p:nvSpPr>
          <p:cNvPr id="6" name="Slide Number Placeholder 5">
            <a:extLst>
              <a:ext uri="{FF2B5EF4-FFF2-40B4-BE49-F238E27FC236}">
                <a16:creationId xmlns:a16="http://schemas.microsoft.com/office/drawing/2014/main" id="{9E18E173-9295-912D-F35E-ECC8AF52AF26}"/>
              </a:ext>
            </a:extLst>
          </p:cNvPr>
          <p:cNvSpPr>
            <a:spLocks noGrp="1"/>
          </p:cNvSpPr>
          <p:nvPr>
            <p:ph type="sldNum" sz="quarter" idx="11"/>
          </p:nvPr>
        </p:nvSpPr>
        <p:spPr/>
        <p:txBody>
          <a:bodyPr/>
          <a:lstStyle>
            <a:lvl1pPr>
              <a:defRPr/>
            </a:lvl1pPr>
          </a:lstStyle>
          <a:p>
            <a:pPr>
              <a:defRPr/>
            </a:pPr>
            <a:fld id="{0BF8D0D4-FA1F-4A53-AC68-75CDC52E914C}" type="slidenum">
              <a:rPr lang="en-IN" altLang="en-US"/>
              <a:pPr>
                <a:defRPr/>
              </a:pPr>
              <a:t>‹#›</a:t>
            </a:fld>
            <a:endParaRPr lang="en-IN" altLang="en-US"/>
          </a:p>
        </p:txBody>
      </p:sp>
    </p:spTree>
    <p:extLst>
      <p:ext uri="{BB962C8B-B14F-4D97-AF65-F5344CB8AC3E}">
        <p14:creationId xmlns:p14="http://schemas.microsoft.com/office/powerpoint/2010/main" val="761633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F11C2B-39A2-0389-3181-AD6378D44E4B}"/>
              </a:ext>
            </a:extLst>
          </p:cNvPr>
          <p:cNvSpPr/>
          <p:nvPr/>
        </p:nvSpPr>
        <p:spPr>
          <a:xfrm>
            <a:off x="0" y="2019300"/>
            <a:ext cx="12192000" cy="4106863"/>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78235DD2-7F84-B466-212F-D5221AE6BEE7}"/>
              </a:ext>
            </a:extLst>
          </p:cNvPr>
          <p:cNvSpPr>
            <a:spLocks noGrp="1"/>
          </p:cNvSpPr>
          <p:nvPr>
            <p:ph type="title"/>
          </p:nvPr>
        </p:nvSpPr>
        <p:spPr>
          <a:xfrm>
            <a:off x="1450975" y="804863"/>
            <a:ext cx="9604375" cy="104933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443230C2-2B5A-BF72-1E5F-F561FFC3601A}"/>
              </a:ext>
            </a:extLst>
          </p:cNvPr>
          <p:cNvSpPr>
            <a:spLocks noGrp="1" noChangeArrowheads="1"/>
          </p:cNvSpPr>
          <p:nvPr>
            <p:ph type="body" idx="1"/>
          </p:nvPr>
        </p:nvSpPr>
        <p:spPr bwMode="auto">
          <a:xfrm>
            <a:off x="1450975" y="2016125"/>
            <a:ext cx="9604375" cy="34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2CDBBA0-4A03-1FD7-AEC9-9B87B98634B7}"/>
              </a:ext>
            </a:extLst>
          </p:cNvPr>
          <p:cNvSpPr>
            <a:spLocks noGrp="1"/>
          </p:cNvSpPr>
          <p:nvPr>
            <p:ph type="dt" sz="half" idx="2"/>
          </p:nvPr>
        </p:nvSpPr>
        <p:spPr>
          <a:xfrm>
            <a:off x="7554913" y="379413"/>
            <a:ext cx="3500437" cy="309562"/>
          </a:xfrm>
          <a:prstGeom prst="rect">
            <a:avLst/>
          </a:prstGeom>
        </p:spPr>
        <p:txBody>
          <a:bodyPr vert="horz" lIns="91440" tIns="45720" rIns="91440" bIns="45720" rtlCol="0" anchor="ctr"/>
          <a:lstStyle>
            <a:lvl1pPr algn="r" eaLnBrk="1" fontAlgn="auto" hangingPunct="1">
              <a:spcBef>
                <a:spcPts val="0"/>
              </a:spcBef>
              <a:spcAft>
                <a:spcPts val="0"/>
              </a:spcAft>
              <a:defRPr sz="1000">
                <a:solidFill>
                  <a:schemeClr val="tx1">
                    <a:tint val="75000"/>
                  </a:schemeClr>
                </a:solidFill>
                <a:latin typeface="+mn-lt"/>
              </a:defRPr>
            </a:lvl1pPr>
          </a:lstStyle>
          <a:p>
            <a:pPr>
              <a:defRPr/>
            </a:pPr>
            <a:r>
              <a:rPr lang="en-US"/>
              <a:t>&lt;COURSE TITLE&gt;, &lt;TOPIC NAME&gt;</a:t>
            </a:r>
            <a:endParaRPr lang="en-IN" dirty="0"/>
          </a:p>
        </p:txBody>
      </p:sp>
      <p:sp>
        <p:nvSpPr>
          <p:cNvPr id="6" name="Slide Number Placeholder 5">
            <a:extLst>
              <a:ext uri="{FF2B5EF4-FFF2-40B4-BE49-F238E27FC236}">
                <a16:creationId xmlns:a16="http://schemas.microsoft.com/office/drawing/2014/main" id="{83F85B21-FB27-2C28-807E-4C83B23C037F}"/>
              </a:ext>
            </a:extLst>
          </p:cNvPr>
          <p:cNvSpPr>
            <a:spLocks noGrp="1"/>
          </p:cNvSpPr>
          <p:nvPr>
            <p:ph type="sldNum" sz="quarter" idx="4"/>
          </p:nvPr>
        </p:nvSpPr>
        <p:spPr>
          <a:xfrm>
            <a:off x="5691188" y="6291263"/>
            <a:ext cx="809625" cy="503237"/>
          </a:xfrm>
          <a:prstGeom prst="rect">
            <a:avLst/>
          </a:prstGeom>
        </p:spPr>
        <p:txBody>
          <a:bodyPr vert="horz" wrap="square" lIns="91440" tIns="45720" rIns="91440" bIns="45720" numCol="1" anchor="t" anchorCtr="0" compatLnSpc="1">
            <a:prstTxWarp prst="textNoShape">
              <a:avLst/>
            </a:prstTxWarp>
          </a:bodyPr>
          <a:lstStyle>
            <a:lvl1pPr algn="ctr" eaLnBrk="1" hangingPunct="1">
              <a:defRPr sz="2200">
                <a:solidFill>
                  <a:schemeClr val="accent1"/>
                </a:solidFill>
              </a:defRPr>
            </a:lvl1pPr>
          </a:lstStyle>
          <a:p>
            <a:pPr>
              <a:defRPr/>
            </a:pPr>
            <a:fld id="{72580515-E400-4014-AA44-603B1CC7D929}" type="slidenum">
              <a:rPr lang="en-IN" altLang="en-US"/>
              <a:pPr>
                <a:defRPr/>
              </a:pPr>
              <a:t>‹#›</a:t>
            </a:fld>
            <a:endParaRPr lang="en-IN" altLang="en-US"/>
          </a:p>
        </p:txBody>
      </p:sp>
      <p:cxnSp>
        <p:nvCxnSpPr>
          <p:cNvPr id="10" name="Straight Connector 9">
            <a:extLst>
              <a:ext uri="{FF2B5EF4-FFF2-40B4-BE49-F238E27FC236}">
                <a16:creationId xmlns:a16="http://schemas.microsoft.com/office/drawing/2014/main" id="{EB63B9AC-3304-BAF9-8334-9524E1BF6AC7}"/>
              </a:ext>
            </a:extLst>
          </p:cNvPr>
          <p:cNvCxnSpPr/>
          <p:nvPr/>
        </p:nvCxnSpPr>
        <p:spPr>
          <a:xfrm>
            <a:off x="0" y="6127750"/>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032" name="Picture 8" descr="Icon&#10;&#10;Description automatically generated with medium confidence">
            <a:extLst>
              <a:ext uri="{FF2B5EF4-FFF2-40B4-BE49-F238E27FC236}">
                <a16:creationId xmlns:a16="http://schemas.microsoft.com/office/drawing/2014/main" id="{A1BDFEDA-B93B-FD07-1F37-3C439A752982}"/>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788" y="33338"/>
            <a:ext cx="12192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11">
            <a:extLst>
              <a:ext uri="{FF2B5EF4-FFF2-40B4-BE49-F238E27FC236}">
                <a16:creationId xmlns:a16="http://schemas.microsoft.com/office/drawing/2014/main" id="{1725F559-DC0B-3E43-BECD-C7896BC2FEAB}"/>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l="4359" t="18054" b="50110"/>
          <a:stretch>
            <a:fillRect/>
          </a:stretch>
        </p:blipFill>
        <p:spPr bwMode="auto">
          <a:xfrm>
            <a:off x="1450975" y="6373813"/>
            <a:ext cx="291306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3" descr="Text&#10;&#10;Description automatically generated with medium confidence">
            <a:extLst>
              <a:ext uri="{FF2B5EF4-FFF2-40B4-BE49-F238E27FC236}">
                <a16:creationId xmlns:a16="http://schemas.microsoft.com/office/drawing/2014/main" id="{C9DE7D59-6CD2-75F8-DEA3-1E3276F5E1A3}"/>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t="53957" r="20929" b="13232"/>
          <a:stretch>
            <a:fillRect/>
          </a:stretch>
        </p:blipFill>
        <p:spPr bwMode="auto">
          <a:xfrm>
            <a:off x="8824913" y="6373813"/>
            <a:ext cx="223043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2" r:id="rId7"/>
    <p:sldLayoutId id="2147483899" r:id="rId8"/>
    <p:sldLayoutId id="2147483900" r:id="rId9"/>
    <p:sldLayoutId id="2147483901" r:id="rId10"/>
    <p:sldLayoutId id="2147483902" r:id="rId11"/>
  </p:sldLayoutIdLst>
  <p:hf hdr="0" ftr="0" dt="0"/>
  <p:txStyles>
    <p:titleStyle>
      <a:lvl1pPr algn="l" rtl="0" eaLnBrk="0" fontAlgn="base" hangingPunct="0">
        <a:lnSpc>
          <a:spcPct val="90000"/>
        </a:lnSpc>
        <a:spcBef>
          <a:spcPct val="0"/>
        </a:spcBef>
        <a:spcAft>
          <a:spcPct val="0"/>
        </a:spcAft>
        <a:defRPr sz="3200" kern="1200" cap="all">
          <a:solidFill>
            <a:schemeClr val="tx1"/>
          </a:solidFill>
          <a:latin typeface="+mj-lt"/>
          <a:ea typeface="+mj-ea"/>
          <a:cs typeface="+mj-cs"/>
        </a:defRPr>
      </a:lvl1pPr>
      <a:lvl2pPr algn="l" rtl="0" eaLnBrk="0" fontAlgn="base" hangingPunct="0">
        <a:lnSpc>
          <a:spcPct val="90000"/>
        </a:lnSpc>
        <a:spcBef>
          <a:spcPct val="0"/>
        </a:spcBef>
        <a:spcAft>
          <a:spcPct val="0"/>
        </a:spcAft>
        <a:defRPr sz="3200">
          <a:solidFill>
            <a:schemeClr val="tx1"/>
          </a:solidFill>
          <a:latin typeface="Gill Sans MT" panose="020B0502020104020203" pitchFamily="34" charset="0"/>
        </a:defRPr>
      </a:lvl2pPr>
      <a:lvl3pPr algn="l" rtl="0" eaLnBrk="0" fontAlgn="base" hangingPunct="0">
        <a:lnSpc>
          <a:spcPct val="90000"/>
        </a:lnSpc>
        <a:spcBef>
          <a:spcPct val="0"/>
        </a:spcBef>
        <a:spcAft>
          <a:spcPct val="0"/>
        </a:spcAft>
        <a:defRPr sz="3200">
          <a:solidFill>
            <a:schemeClr val="tx1"/>
          </a:solidFill>
          <a:latin typeface="Gill Sans MT" panose="020B0502020104020203" pitchFamily="34" charset="0"/>
        </a:defRPr>
      </a:lvl3pPr>
      <a:lvl4pPr algn="l" rtl="0" eaLnBrk="0" fontAlgn="base" hangingPunct="0">
        <a:lnSpc>
          <a:spcPct val="90000"/>
        </a:lnSpc>
        <a:spcBef>
          <a:spcPct val="0"/>
        </a:spcBef>
        <a:spcAft>
          <a:spcPct val="0"/>
        </a:spcAft>
        <a:defRPr sz="3200">
          <a:solidFill>
            <a:schemeClr val="tx1"/>
          </a:solidFill>
          <a:latin typeface="Gill Sans MT" panose="020B0502020104020203" pitchFamily="34" charset="0"/>
        </a:defRPr>
      </a:lvl4pPr>
      <a:lvl5pPr algn="l" rtl="0" eaLnBrk="0" fontAlgn="base" hangingPunct="0">
        <a:lnSpc>
          <a:spcPct val="90000"/>
        </a:lnSpc>
        <a:spcBef>
          <a:spcPct val="0"/>
        </a:spcBef>
        <a:spcAft>
          <a:spcPct val="0"/>
        </a:spcAft>
        <a:defRPr sz="3200">
          <a:solidFill>
            <a:schemeClr val="tx1"/>
          </a:solidFill>
          <a:latin typeface="Gill Sans MT" panose="020B0502020104020203" pitchFamily="34" charset="0"/>
        </a:defRPr>
      </a:lvl5pPr>
      <a:lvl6pPr marL="457200" algn="l" rtl="0" fontAlgn="base">
        <a:lnSpc>
          <a:spcPct val="90000"/>
        </a:lnSpc>
        <a:spcBef>
          <a:spcPct val="0"/>
        </a:spcBef>
        <a:spcAft>
          <a:spcPct val="0"/>
        </a:spcAft>
        <a:defRPr sz="3200">
          <a:solidFill>
            <a:schemeClr val="tx1"/>
          </a:solidFill>
          <a:latin typeface="Gill Sans MT" panose="020B0502020104020203" pitchFamily="34" charset="0"/>
        </a:defRPr>
      </a:lvl6pPr>
      <a:lvl7pPr marL="914400" algn="l" rtl="0" fontAlgn="base">
        <a:lnSpc>
          <a:spcPct val="90000"/>
        </a:lnSpc>
        <a:spcBef>
          <a:spcPct val="0"/>
        </a:spcBef>
        <a:spcAft>
          <a:spcPct val="0"/>
        </a:spcAft>
        <a:defRPr sz="3200">
          <a:solidFill>
            <a:schemeClr val="tx1"/>
          </a:solidFill>
          <a:latin typeface="Gill Sans MT" panose="020B0502020104020203" pitchFamily="34" charset="0"/>
        </a:defRPr>
      </a:lvl7pPr>
      <a:lvl8pPr marL="1371600" algn="l" rtl="0" fontAlgn="base">
        <a:lnSpc>
          <a:spcPct val="90000"/>
        </a:lnSpc>
        <a:spcBef>
          <a:spcPct val="0"/>
        </a:spcBef>
        <a:spcAft>
          <a:spcPct val="0"/>
        </a:spcAft>
        <a:defRPr sz="3200">
          <a:solidFill>
            <a:schemeClr val="tx1"/>
          </a:solidFill>
          <a:latin typeface="Gill Sans MT" panose="020B0502020104020203" pitchFamily="34" charset="0"/>
        </a:defRPr>
      </a:lvl8pPr>
      <a:lvl9pPr marL="1828800" algn="l" rtl="0" fontAlgn="base">
        <a:lnSpc>
          <a:spcPct val="90000"/>
        </a:lnSpc>
        <a:spcBef>
          <a:spcPct val="0"/>
        </a:spcBef>
        <a:spcAft>
          <a:spcPct val="0"/>
        </a:spcAft>
        <a:defRPr sz="3200">
          <a:solidFill>
            <a:schemeClr val="tx1"/>
          </a:solidFill>
          <a:latin typeface="Gill Sans MT" panose="020B0502020104020203" pitchFamily="34" charset="0"/>
        </a:defRPr>
      </a:lvl9pPr>
    </p:titleStyle>
    <p:bodyStyle>
      <a:lvl1pPr marL="228600" indent="-228600" algn="l" rtl="0" eaLnBrk="0" fontAlgn="base" hangingPunct="0">
        <a:lnSpc>
          <a:spcPct val="120000"/>
        </a:lnSpc>
        <a:spcBef>
          <a:spcPts val="1000"/>
        </a:spcBef>
        <a:spcAft>
          <a:spcPct val="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6858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kern="1200">
          <a:solidFill>
            <a:schemeClr val="tx1"/>
          </a:solidFill>
          <a:latin typeface="+mn-lt"/>
          <a:ea typeface="+mn-ea"/>
          <a:cs typeface="+mn-cs"/>
        </a:defRPr>
      </a:lvl2pPr>
      <a:lvl3pPr marL="11430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600" kern="1200">
          <a:solidFill>
            <a:schemeClr val="tx1"/>
          </a:solidFill>
          <a:latin typeface="+mn-lt"/>
          <a:ea typeface="+mn-ea"/>
          <a:cs typeface="+mn-cs"/>
        </a:defRPr>
      </a:lvl3pPr>
      <a:lvl4pPr marL="16002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4pPr>
      <a:lvl5pPr marL="2057400" indent="-228600" algn="l" rtl="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math.libretexts.org/Bookshelves/Applied_Mathematics/Applied_Finite_Mathematics_(Sekhon_and_Bloom)/04%3A_Linear_Programming_The_Simplex_Method/4.02%3A_Maximization_By_The_Simplex_Method" TargetMode="External"/><Relationship Id="rId7"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hyperlink" Target="https://www.youtube.com/watch?v=qxls3cYg8to" TargetMode="External"/><Relationship Id="rId5" Type="http://schemas.openxmlformats.org/officeDocument/2006/relationships/hyperlink" Target="https://www.imse.iastate.edu/files/2015/08/Explanation-of-Simplex-Method.docx" TargetMode="External"/><Relationship Id="rId4" Type="http://schemas.openxmlformats.org/officeDocument/2006/relationships/hyperlink" Target="http://recursos.pearson.es/castroman/tutor_chaps/ct03.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Google Shape;128;p27">
            <a:extLst>
              <a:ext uri="{FF2B5EF4-FFF2-40B4-BE49-F238E27FC236}">
                <a16:creationId xmlns:a16="http://schemas.microsoft.com/office/drawing/2014/main" id="{04BC5DCD-F944-7AB2-35E3-4A3518E449E6}"/>
              </a:ext>
            </a:extLst>
          </p:cNvPr>
          <p:cNvSpPr>
            <a:spLocks noChangeArrowheads="1"/>
          </p:cNvSpPr>
          <p:nvPr/>
        </p:nvSpPr>
        <p:spPr bwMode="auto">
          <a:xfrm>
            <a:off x="0" y="1304925"/>
            <a:ext cx="12192000" cy="6856413"/>
          </a:xfrm>
          <a:prstGeom prst="rect">
            <a:avLst/>
          </a:prstGeom>
          <a:solidFill>
            <a:schemeClr val="bg1"/>
          </a:solidFill>
          <a:ln w="25400">
            <a:solidFill>
              <a:srgbClr val="BA8C00"/>
            </a:solidFill>
            <a:round/>
            <a:headEnd type="none" w="sm" len="sm"/>
            <a:tailEnd type="none" w="sm" len="sm"/>
          </a:ln>
        </p:spPr>
        <p:txBody>
          <a:bodyPr lIns="91425" tIns="91425" rIns="91425" bIns="91425"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endParaRPr lang="en-US" altLang="en-US" sz="1800"/>
          </a:p>
        </p:txBody>
      </p:sp>
      <p:sp>
        <p:nvSpPr>
          <p:cNvPr id="14339" name="Google Shape;129;p27">
            <a:extLst>
              <a:ext uri="{FF2B5EF4-FFF2-40B4-BE49-F238E27FC236}">
                <a16:creationId xmlns:a16="http://schemas.microsoft.com/office/drawing/2014/main" id="{2B661CC7-5F2C-525A-4F79-6367F29E39B8}"/>
              </a:ext>
            </a:extLst>
          </p:cNvPr>
          <p:cNvSpPr>
            <a:spLocks noChangeArrowheads="1"/>
          </p:cNvSpPr>
          <p:nvPr/>
        </p:nvSpPr>
        <p:spPr bwMode="auto">
          <a:xfrm>
            <a:off x="2054225" y="1500188"/>
            <a:ext cx="8532813"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b="1">
                <a:solidFill>
                  <a:srgbClr val="C00000"/>
                </a:solidFill>
                <a:latin typeface="Calibri" panose="020F0502020204030204" pitchFamily="34" charset="0"/>
                <a:cs typeface="Calibri" panose="020F0502020204030204" pitchFamily="34" charset="0"/>
                <a:sym typeface="Calibri" panose="020F0502020204030204" pitchFamily="34" charset="0"/>
              </a:rPr>
              <a:t>MATHEMATICAL OPTIMIZATION</a:t>
            </a:r>
            <a:endParaRPr lang="en-US" altLang="en-US" sz="2400">
              <a:latin typeface="Arial" panose="020B0604020202020204" pitchFamily="34" charset="0"/>
              <a:cs typeface="Arial" panose="020B0604020202020204" pitchFamily="34" charset="0"/>
              <a:sym typeface="Arial" panose="020B0604020202020204" pitchFamily="34" charset="0"/>
            </a:endParaRPr>
          </a:p>
          <a:p>
            <a:pPr algn="ctr" eaLnBrk="1" hangingPunct="1">
              <a:lnSpc>
                <a:spcPct val="100000"/>
              </a:lnSpc>
              <a:spcBef>
                <a:spcPct val="0"/>
              </a:spcBef>
              <a:buClrTx/>
              <a:buSzTx/>
              <a:buFontTx/>
              <a:buNone/>
            </a:pPr>
            <a:r>
              <a:rPr lang="en-US" altLang="en-US" sz="3200" b="1">
                <a:solidFill>
                  <a:srgbClr val="C00000"/>
                </a:solidFill>
                <a:latin typeface="Calibri" panose="020F0502020204030204" pitchFamily="34" charset="0"/>
                <a:cs typeface="Calibri" panose="020F0502020204030204" pitchFamily="34" charset="0"/>
                <a:sym typeface="Calibri" panose="020F0502020204030204" pitchFamily="34" charset="0"/>
              </a:rPr>
              <a:t>24MT2012</a:t>
            </a:r>
            <a:endParaRPr lang="en-US" altLang="en-US" sz="3200">
              <a:latin typeface="Arial" panose="020B0604020202020204" pitchFamily="34" charset="0"/>
              <a:cs typeface="Arial" panose="020B0604020202020204" pitchFamily="34" charset="0"/>
              <a:sym typeface="Arial" panose="020B0604020202020204" pitchFamily="34" charset="0"/>
            </a:endParaRPr>
          </a:p>
          <a:p>
            <a:pPr algn="ctr" eaLnBrk="1" hangingPunct="1">
              <a:lnSpc>
                <a:spcPct val="100000"/>
              </a:lnSpc>
              <a:spcBef>
                <a:spcPct val="0"/>
              </a:spcBef>
              <a:buClrTx/>
              <a:buSzTx/>
              <a:buFontTx/>
              <a:buNone/>
            </a:pPr>
            <a:endParaRPr lang="en-US" altLang="en-US" sz="3200">
              <a:latin typeface="Arial" panose="020B0604020202020204" pitchFamily="34" charset="0"/>
              <a:cs typeface="Arial" panose="020B0604020202020204" pitchFamily="34" charset="0"/>
              <a:sym typeface="Arial" panose="020B0604020202020204" pitchFamily="34" charset="0"/>
            </a:endParaRPr>
          </a:p>
          <a:p>
            <a:pPr algn="ctr" eaLnBrk="1" hangingPunct="1">
              <a:lnSpc>
                <a:spcPct val="100000"/>
              </a:lnSpc>
              <a:spcBef>
                <a:spcPct val="0"/>
              </a:spcBef>
              <a:buClrTx/>
              <a:buSzTx/>
              <a:buFontTx/>
              <a:buNone/>
            </a:pPr>
            <a:r>
              <a:rPr lang="en-US" altLang="en-US" b="1">
                <a:solidFill>
                  <a:srgbClr val="808080"/>
                </a:solidFill>
                <a:latin typeface="Calibri" panose="020F0502020204030204" pitchFamily="34" charset="0"/>
                <a:cs typeface="Calibri" panose="020F0502020204030204" pitchFamily="34" charset="0"/>
                <a:sym typeface="Calibri" panose="020F0502020204030204" pitchFamily="34" charset="0"/>
              </a:rPr>
              <a:t>Topic: </a:t>
            </a:r>
            <a:endParaRPr lang="en-US" altLang="en-US">
              <a:latin typeface="Arial" panose="020B0604020202020204" pitchFamily="34" charset="0"/>
              <a:cs typeface="Arial" panose="020B0604020202020204" pitchFamily="34" charset="0"/>
              <a:sym typeface="Arial" panose="020B0604020202020204" pitchFamily="34" charset="0"/>
            </a:endParaRPr>
          </a:p>
          <a:p>
            <a:pPr algn="ctr" eaLnBrk="1" hangingPunct="1">
              <a:lnSpc>
                <a:spcPct val="100000"/>
              </a:lnSpc>
              <a:spcBef>
                <a:spcPct val="0"/>
              </a:spcBef>
              <a:buClrTx/>
              <a:buSzTx/>
              <a:buFontTx/>
              <a:buNone/>
            </a:pPr>
            <a:r>
              <a:rPr lang="en-US" altLang="en-US" sz="2800" b="1">
                <a:solidFill>
                  <a:srgbClr val="FF0000"/>
                </a:solidFill>
                <a:latin typeface="Calibri" panose="020F0502020204030204" pitchFamily="34" charset="0"/>
                <a:cs typeface="Calibri" panose="020F0502020204030204" pitchFamily="34" charset="0"/>
                <a:sym typeface="Calibri" panose="020F0502020204030204" pitchFamily="34" charset="0"/>
              </a:rPr>
              <a:t>LP: Simplex method</a:t>
            </a:r>
            <a:endParaRPr lang="en-US" altLang="en-US" sz="2800">
              <a:solidFill>
                <a:srgbClr val="002060"/>
              </a:solidFill>
              <a:latin typeface="Arial" panose="020B0604020202020204" pitchFamily="34" charset="0"/>
              <a:cs typeface="Arial" panose="020B0604020202020204" pitchFamily="34" charset="0"/>
              <a:sym typeface="Arial" panose="020B0604020202020204" pitchFamily="34" charset="0"/>
            </a:endParaRPr>
          </a:p>
        </p:txBody>
      </p:sp>
      <p:sp>
        <p:nvSpPr>
          <p:cNvPr id="14340" name="Google Shape;130;p27">
            <a:extLst>
              <a:ext uri="{FF2B5EF4-FFF2-40B4-BE49-F238E27FC236}">
                <a16:creationId xmlns:a16="http://schemas.microsoft.com/office/drawing/2014/main" id="{7E1337CE-121C-29CE-F377-894FE6B60925}"/>
              </a:ext>
            </a:extLst>
          </p:cNvPr>
          <p:cNvSpPr>
            <a:spLocks noChangeArrowheads="1"/>
          </p:cNvSpPr>
          <p:nvPr/>
        </p:nvSpPr>
        <p:spPr bwMode="auto">
          <a:xfrm>
            <a:off x="2849563" y="196850"/>
            <a:ext cx="5811837"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4000" b="1">
                <a:solidFill>
                  <a:srgbClr val="C00000"/>
                </a:solidFill>
                <a:latin typeface="Calibri" panose="020F0502020204030204" pitchFamily="34" charset="0"/>
                <a:cs typeface="Calibri" panose="020F0502020204030204" pitchFamily="34" charset="0"/>
                <a:sym typeface="Calibri" panose="020F0502020204030204" pitchFamily="34" charset="0"/>
              </a:rPr>
              <a:t>Department of CSE</a:t>
            </a:r>
            <a:endParaRPr lang="en-US" altLang="en-US" sz="4000">
              <a:latin typeface="Arial" panose="020B0604020202020204" pitchFamily="34" charset="0"/>
              <a:cs typeface="Arial" panose="020B0604020202020204" pitchFamily="34" charset="0"/>
              <a:sym typeface="Arial" panose="020B0604020202020204" pitchFamily="34" charset="0"/>
            </a:endParaRPr>
          </a:p>
        </p:txBody>
      </p:sp>
      <p:sp>
        <p:nvSpPr>
          <p:cNvPr id="131" name="Google Shape;131;p27">
            <a:extLst>
              <a:ext uri="{FF2B5EF4-FFF2-40B4-BE49-F238E27FC236}">
                <a16:creationId xmlns:a16="http://schemas.microsoft.com/office/drawing/2014/main" id="{E214AC2E-9D88-897B-5113-EBB31CF3D02F}"/>
              </a:ext>
            </a:extLst>
          </p:cNvPr>
          <p:cNvSpPr/>
          <p:nvPr/>
        </p:nvSpPr>
        <p:spPr>
          <a:xfrm>
            <a:off x="5208588" y="4783138"/>
            <a:ext cx="2533650" cy="452437"/>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lIns="91425" tIns="45700" rIns="91425" bIns="45700" anchor="ctr"/>
          <a:lstStyle/>
          <a:p>
            <a:pPr algn="ctr" eaLnBrk="1" fontAlgn="auto" hangingPunct="1">
              <a:spcBef>
                <a:spcPts val="0"/>
              </a:spcBef>
              <a:spcAft>
                <a:spcPts val="0"/>
              </a:spcAft>
              <a:defRPr/>
            </a:pPr>
            <a:r>
              <a:rPr lang="en-US" sz="2400" dirty="0">
                <a:solidFill>
                  <a:srgbClr val="FFFFFF"/>
                </a:solidFill>
                <a:latin typeface="Calibri"/>
                <a:ea typeface="Calibri"/>
                <a:cs typeface="Calibri"/>
                <a:sym typeface="Calibri"/>
              </a:rPr>
              <a:t>CO1; Session -</a:t>
            </a:r>
            <a:endParaRPr sz="2400" dirty="0">
              <a:latin typeface="Arial"/>
              <a:ea typeface="Arial"/>
              <a:cs typeface="Arial"/>
              <a:sym typeface="Arial"/>
            </a:endParaRPr>
          </a:p>
        </p:txBody>
      </p:sp>
      <p:sp>
        <p:nvSpPr>
          <p:cNvPr id="14342" name="Google Shape;132;p27">
            <a:extLst>
              <a:ext uri="{FF2B5EF4-FFF2-40B4-BE49-F238E27FC236}">
                <a16:creationId xmlns:a16="http://schemas.microsoft.com/office/drawing/2014/main" id="{E66231B1-3272-3ADD-2E67-E3768B950A50}"/>
              </a:ext>
            </a:extLst>
          </p:cNvPr>
          <p:cNvSpPr>
            <a:spLocks noChangeArrowheads="1"/>
          </p:cNvSpPr>
          <p:nvPr/>
        </p:nvSpPr>
        <p:spPr bwMode="auto">
          <a:xfrm>
            <a:off x="0" y="6811963"/>
            <a:ext cx="12192000" cy="46037"/>
          </a:xfrm>
          <a:prstGeom prst="rect">
            <a:avLst/>
          </a:prstGeom>
          <a:solidFill>
            <a:srgbClr val="BA253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endParaRPr lang="en-US" altLang="en-US" sz="1800"/>
          </a:p>
        </p:txBody>
      </p:sp>
      <p:sp>
        <p:nvSpPr>
          <p:cNvPr id="14343" name="Google Shape;133;p27">
            <a:extLst>
              <a:ext uri="{FF2B5EF4-FFF2-40B4-BE49-F238E27FC236}">
                <a16:creationId xmlns:a16="http://schemas.microsoft.com/office/drawing/2014/main" id="{BD9B8657-12E8-4324-904C-7BF1485103D9}"/>
              </a:ext>
            </a:extLst>
          </p:cNvPr>
          <p:cNvSpPr>
            <a:spLocks noChangeArrowheads="1"/>
          </p:cNvSpPr>
          <p:nvPr/>
        </p:nvSpPr>
        <p:spPr bwMode="auto">
          <a:xfrm>
            <a:off x="0" y="0"/>
            <a:ext cx="12192000" cy="46038"/>
          </a:xfrm>
          <a:prstGeom prst="rect">
            <a:avLst/>
          </a:prstGeom>
          <a:solidFill>
            <a:srgbClr val="BA253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endParaRPr lang="en-US" altLang="en-US" sz="1800"/>
          </a:p>
        </p:txBody>
      </p:sp>
      <p:pic>
        <p:nvPicPr>
          <p:cNvPr id="14344" name="Google Shape;134;p27" descr="KL Deemed to be University Logo">
            <a:extLst>
              <a:ext uri="{FF2B5EF4-FFF2-40B4-BE49-F238E27FC236}">
                <a16:creationId xmlns:a16="http://schemas.microsoft.com/office/drawing/2014/main" id="{A06489BD-F319-313B-42D3-3A4B791B331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6038"/>
            <a:ext cx="3522663"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5" name="Google Shape;135;p27">
            <a:extLst>
              <a:ext uri="{FF2B5EF4-FFF2-40B4-BE49-F238E27FC236}">
                <a16:creationId xmlns:a16="http://schemas.microsoft.com/office/drawing/2014/main" id="{AE995399-06EA-7867-54B3-116F12A7F328}"/>
              </a:ext>
            </a:extLst>
          </p:cNvPr>
          <p:cNvSpPr txBox="1">
            <a:spLocks noChangeArrowheads="1"/>
          </p:cNvSpPr>
          <p:nvPr/>
        </p:nvSpPr>
        <p:spPr bwMode="auto">
          <a:xfrm>
            <a:off x="304800" y="304800"/>
            <a:ext cx="30003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baseline="-25000">
                <a:latin typeface="Times New Roman" panose="02020603050405020304" pitchFamily="18" charset="0"/>
                <a:cs typeface="Times New Roman" panose="02020603050405020304" pitchFamily="18" charset="0"/>
                <a:sym typeface="Times New Roman" panose="02020603050405020304" pitchFamily="18" charset="0"/>
              </a:rPr>
              <a:t> </a:t>
            </a:r>
            <a:endParaRPr lang="en-US" altLang="en-US" sz="1800"/>
          </a:p>
        </p:txBody>
      </p:sp>
      <p:pic>
        <p:nvPicPr>
          <p:cNvPr id="14346" name="Google Shape;136;p27">
            <a:extLst>
              <a:ext uri="{FF2B5EF4-FFF2-40B4-BE49-F238E27FC236}">
                <a16:creationId xmlns:a16="http://schemas.microsoft.com/office/drawing/2014/main" id="{CBB0292B-9A3E-D467-51FC-2B6C49080F81}"/>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a:stretch>
            <a:fillRect/>
          </a:stretch>
        </p:blipFill>
        <p:spPr bwMode="auto">
          <a:xfrm>
            <a:off x="561975" y="6038850"/>
            <a:ext cx="10923588"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7" name="Slide Number Placeholder 3">
            <a:extLst>
              <a:ext uri="{FF2B5EF4-FFF2-40B4-BE49-F238E27FC236}">
                <a16:creationId xmlns:a16="http://schemas.microsoft.com/office/drawing/2014/main" id="{FB8BC4DB-E32D-5602-C853-C6DB79417C5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D32B492E-617B-4E63-8EEB-1FEF15C04136}" type="slidenum">
              <a:rPr lang="en-IN" altLang="en-US" sz="2200" smtClean="0">
                <a:solidFill>
                  <a:schemeClr val="accent1"/>
                </a:solidFill>
              </a:rPr>
              <a:pPr>
                <a:lnSpc>
                  <a:spcPct val="100000"/>
                </a:lnSpc>
                <a:spcBef>
                  <a:spcPct val="0"/>
                </a:spcBef>
                <a:buClrTx/>
                <a:buSzTx/>
                <a:buFontTx/>
                <a:buNone/>
              </a:pPr>
              <a:t>1</a:t>
            </a:fld>
            <a:endParaRPr lang="en-IN" altLang="en-US" sz="2200">
              <a:solidFill>
                <a:schemeClr val="accent1"/>
              </a:solidFil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Google Shape;141;p28">
            <a:extLst>
              <a:ext uri="{FF2B5EF4-FFF2-40B4-BE49-F238E27FC236}">
                <a16:creationId xmlns:a16="http://schemas.microsoft.com/office/drawing/2014/main" id="{B4652A45-8711-DC81-E466-B17EB1595FCC}"/>
              </a:ext>
            </a:extLst>
          </p:cNvPr>
          <p:cNvSpPr/>
          <p:nvPr/>
        </p:nvSpPr>
        <p:spPr>
          <a:xfrm>
            <a:off x="4471988" y="84138"/>
            <a:ext cx="3009900" cy="390525"/>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lIns="90000" tIns="45000" rIns="90000" bIns="45000" anchor="ctr"/>
          <a:lstStyle/>
          <a:p>
            <a:pPr algn="ctr" eaLnBrk="1" fontAlgn="auto" hangingPunct="1">
              <a:spcBef>
                <a:spcPts val="0"/>
              </a:spcBef>
              <a:spcAft>
                <a:spcPts val="0"/>
              </a:spcAft>
              <a:defRPr/>
            </a:pPr>
            <a:r>
              <a:rPr lang="en-US" sz="2400">
                <a:solidFill>
                  <a:srgbClr val="FFFFFF"/>
                </a:solidFill>
                <a:latin typeface="Calibri"/>
                <a:ea typeface="Calibri"/>
                <a:cs typeface="Calibri"/>
                <a:sym typeface="Calibri"/>
              </a:rPr>
              <a:t>AIM OF THE SESSION</a:t>
            </a:r>
            <a:endParaRPr sz="2400">
              <a:latin typeface="Arial"/>
              <a:ea typeface="Arial"/>
              <a:cs typeface="Arial"/>
              <a:sym typeface="Arial"/>
            </a:endParaRPr>
          </a:p>
        </p:txBody>
      </p:sp>
      <p:sp>
        <p:nvSpPr>
          <p:cNvPr id="142" name="Google Shape;142;p28">
            <a:extLst>
              <a:ext uri="{FF2B5EF4-FFF2-40B4-BE49-F238E27FC236}">
                <a16:creationId xmlns:a16="http://schemas.microsoft.com/office/drawing/2014/main" id="{67EC7F8E-AB9F-4075-8851-CB343CF3A40F}"/>
              </a:ext>
            </a:extLst>
          </p:cNvPr>
          <p:cNvSpPr/>
          <p:nvPr/>
        </p:nvSpPr>
        <p:spPr>
          <a:xfrm>
            <a:off x="914400" y="684360"/>
            <a:ext cx="10705480" cy="605260"/>
          </a:xfrm>
          <a:prstGeom prst="rect">
            <a:avLst/>
          </a:prstGeom>
          <a:gradFill>
            <a:gsLst>
              <a:gs pos="0">
                <a:srgbClr val="F7FAFD"/>
              </a:gs>
              <a:gs pos="100000">
                <a:srgbClr val="CEE1F2"/>
              </a:gs>
            </a:gsLst>
            <a:path path="circle">
              <a:fillToRect l="50000" t="50000" r="50000" b="50000"/>
            </a:path>
            <a:tileRect/>
          </a:gradFill>
          <a:ln w="9525" cap="rnd" cmpd="sng">
            <a:solidFill>
              <a:srgbClr val="DDEAF6"/>
            </a:solidFill>
            <a:prstDash val="solid"/>
            <a:round/>
            <a:headEnd type="none" w="sm" len="sm"/>
            <a:tailEnd type="none" w="sm" len="sm"/>
          </a:ln>
          <a:effectLst>
            <a:outerShdw blurRad="50800" dist="38160" algn="l" rotWithShape="0">
              <a:srgbClr val="BBD6EE">
                <a:alpha val="0"/>
              </a:srgbClr>
            </a:outerShdw>
          </a:effectLst>
        </p:spPr>
        <p:txBody>
          <a:bodyPr spcFirstLastPara="1" lIns="91425" tIns="45700" rIns="91425" bIns="45700"/>
          <a:lstStyle/>
          <a:p>
            <a:pPr eaLnBrk="1" fontAlgn="auto" hangingPunct="1">
              <a:lnSpc>
                <a:spcPct val="150000"/>
              </a:lnSpc>
              <a:spcBef>
                <a:spcPts val="0"/>
              </a:spcBef>
              <a:spcAft>
                <a:spcPts val="0"/>
              </a:spcAft>
              <a:defRPr/>
            </a:pPr>
            <a:r>
              <a:rPr lang="en-US" sz="1600" dirty="0">
                <a:solidFill>
                  <a:srgbClr val="000000"/>
                </a:solidFill>
                <a:latin typeface="Poppins"/>
                <a:ea typeface="Poppins"/>
                <a:cs typeface="Poppins"/>
                <a:sym typeface="Poppins"/>
              </a:rPr>
              <a:t>To familiarize students with the method of solving linear programming problems using Simplex method.</a:t>
            </a:r>
            <a:endParaRPr lang="en-US" sz="1600" dirty="0">
              <a:latin typeface="Poppins"/>
              <a:ea typeface="Arial"/>
              <a:cs typeface="Poppins"/>
            </a:endParaRPr>
          </a:p>
          <a:p>
            <a:pPr eaLnBrk="1" fontAlgn="auto" hangingPunct="1">
              <a:lnSpc>
                <a:spcPct val="150000"/>
              </a:lnSpc>
              <a:spcBef>
                <a:spcPts val="0"/>
              </a:spcBef>
              <a:spcAft>
                <a:spcPts val="0"/>
              </a:spcAft>
              <a:defRPr/>
            </a:pPr>
            <a:endParaRPr sz="1600" dirty="0">
              <a:latin typeface="Arial"/>
              <a:ea typeface="Arial"/>
              <a:cs typeface="Arial"/>
              <a:sym typeface="Arial"/>
            </a:endParaRPr>
          </a:p>
        </p:txBody>
      </p:sp>
      <p:sp>
        <p:nvSpPr>
          <p:cNvPr id="143" name="Google Shape;143;p28">
            <a:extLst>
              <a:ext uri="{FF2B5EF4-FFF2-40B4-BE49-F238E27FC236}">
                <a16:creationId xmlns:a16="http://schemas.microsoft.com/office/drawing/2014/main" id="{AEB3F508-FC8E-D3A9-6A27-50ACCA57C432}"/>
              </a:ext>
            </a:extLst>
          </p:cNvPr>
          <p:cNvSpPr/>
          <p:nvPr/>
        </p:nvSpPr>
        <p:spPr>
          <a:xfrm>
            <a:off x="4160838" y="1806575"/>
            <a:ext cx="3870325" cy="390525"/>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lIns="90000" tIns="45000" rIns="90000" bIns="45000" anchor="ctr"/>
          <a:lstStyle/>
          <a:p>
            <a:pPr algn="ctr" eaLnBrk="1" fontAlgn="auto" hangingPunct="1">
              <a:spcBef>
                <a:spcPts val="0"/>
              </a:spcBef>
              <a:spcAft>
                <a:spcPts val="0"/>
              </a:spcAft>
              <a:defRPr/>
            </a:pPr>
            <a:r>
              <a:rPr lang="en-US" sz="2400">
                <a:solidFill>
                  <a:srgbClr val="FFFFFF"/>
                </a:solidFill>
                <a:latin typeface="Calibri"/>
                <a:ea typeface="Calibri"/>
                <a:cs typeface="Calibri"/>
                <a:sym typeface="Calibri"/>
              </a:rPr>
              <a:t>INSTRUCTIONAL OBJECTIVES</a:t>
            </a:r>
            <a:endParaRPr sz="2400">
              <a:latin typeface="Arial"/>
              <a:ea typeface="Arial"/>
              <a:cs typeface="Arial"/>
              <a:sym typeface="Arial"/>
            </a:endParaRPr>
          </a:p>
        </p:txBody>
      </p:sp>
      <p:sp>
        <p:nvSpPr>
          <p:cNvPr id="144" name="Google Shape;144;p28">
            <a:extLst>
              <a:ext uri="{FF2B5EF4-FFF2-40B4-BE49-F238E27FC236}">
                <a16:creationId xmlns:a16="http://schemas.microsoft.com/office/drawing/2014/main" id="{48BAEBFD-A60E-6E41-EB22-F923F3CE9649}"/>
              </a:ext>
            </a:extLst>
          </p:cNvPr>
          <p:cNvSpPr/>
          <p:nvPr/>
        </p:nvSpPr>
        <p:spPr>
          <a:xfrm>
            <a:off x="1752480" y="2438640"/>
            <a:ext cx="8791200" cy="1551960"/>
          </a:xfrm>
          <a:prstGeom prst="rect">
            <a:avLst/>
          </a:prstGeom>
          <a:gradFill>
            <a:gsLst>
              <a:gs pos="0">
                <a:srgbClr val="F7FAFD"/>
              </a:gs>
              <a:gs pos="100000">
                <a:srgbClr val="CEE1F2"/>
              </a:gs>
            </a:gsLst>
            <a:path path="circle">
              <a:fillToRect l="50000" t="50000" r="50000" b="50000"/>
            </a:path>
            <a:tileRect/>
          </a:gradFill>
          <a:ln w="9525" cap="flat" cmpd="sng">
            <a:solidFill>
              <a:srgbClr val="DDEAF6"/>
            </a:solidFill>
            <a:prstDash val="solid"/>
            <a:round/>
            <a:headEnd type="none" w="sm" len="sm"/>
            <a:tailEnd type="none" w="sm" len="sm"/>
          </a:ln>
          <a:effectLst>
            <a:outerShdw blurRad="50800" dist="38160" algn="l" rotWithShape="0">
              <a:srgbClr val="BBD6EE">
                <a:alpha val="40000"/>
              </a:srgbClr>
            </a:outerShdw>
          </a:effectLst>
        </p:spPr>
        <p:txBody>
          <a:bodyPr lIns="91425" tIns="45700" rIns="91425" bIns="45700"/>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fontAlgn="base">
              <a:spcBef>
                <a:spcPct val="0"/>
              </a:spcBef>
              <a:spcAft>
                <a:spcPct val="0"/>
              </a:spcAft>
              <a:defRPr>
                <a:solidFill>
                  <a:schemeClr val="tx1"/>
                </a:solidFill>
                <a:latin typeface="Gill Sans MT" panose="020B0502020104020203" pitchFamily="34" charset="0"/>
              </a:defRPr>
            </a:lvl6pPr>
            <a:lvl7pPr marL="2971800" indent="-228600" defTabSz="457200" fontAlgn="base">
              <a:spcBef>
                <a:spcPct val="0"/>
              </a:spcBef>
              <a:spcAft>
                <a:spcPct val="0"/>
              </a:spcAft>
              <a:defRPr>
                <a:solidFill>
                  <a:schemeClr val="tx1"/>
                </a:solidFill>
                <a:latin typeface="Gill Sans MT" panose="020B0502020104020203" pitchFamily="34" charset="0"/>
              </a:defRPr>
            </a:lvl7pPr>
            <a:lvl8pPr marL="3429000" indent="-228600" defTabSz="457200" fontAlgn="base">
              <a:spcBef>
                <a:spcPct val="0"/>
              </a:spcBef>
              <a:spcAft>
                <a:spcPct val="0"/>
              </a:spcAft>
              <a:defRPr>
                <a:solidFill>
                  <a:schemeClr val="tx1"/>
                </a:solidFill>
                <a:latin typeface="Gill Sans MT" panose="020B0502020104020203" pitchFamily="34" charset="0"/>
              </a:defRPr>
            </a:lvl8pPr>
            <a:lvl9pPr marL="3886200" indent="-228600" defTabSz="457200" fontAlgn="base">
              <a:spcBef>
                <a:spcPct val="0"/>
              </a:spcBef>
              <a:spcAft>
                <a:spcPct val="0"/>
              </a:spcAft>
              <a:defRPr>
                <a:solidFill>
                  <a:schemeClr val="tx1"/>
                </a:solidFill>
                <a:latin typeface="Gill Sans MT" panose="020B0502020104020203" pitchFamily="34" charset="0"/>
              </a:defRPr>
            </a:lvl9pPr>
          </a:lstStyle>
          <a:p>
            <a:pPr eaLnBrk="1" hangingPunct="1">
              <a:lnSpc>
                <a:spcPct val="200000"/>
              </a:lnSpc>
              <a:defRPr/>
            </a:pPr>
            <a:r>
              <a:rPr lang="en-US" altLang="en-US" sz="1600">
                <a:solidFill>
                  <a:srgbClr val="000000"/>
                </a:solidFill>
                <a:latin typeface="Poppins" pitchFamily="2" charset="0"/>
                <a:ea typeface="Poppins" pitchFamily="2" charset="0"/>
                <a:cs typeface="Poppins" pitchFamily="2" charset="0"/>
                <a:sym typeface="Poppins" pitchFamily="2" charset="0"/>
              </a:rPr>
              <a:t>This Session is designed to:</a:t>
            </a:r>
            <a:endParaRPr lang="en-US" altLang="en-US" sz="1600">
              <a:latin typeface="Arial" panose="020B0604020202020204" pitchFamily="34" charset="0"/>
              <a:cs typeface="Arial" panose="020B0604020202020204" pitchFamily="34" charset="0"/>
              <a:sym typeface="Arial" panose="020B0604020202020204" pitchFamily="34" charset="0"/>
            </a:endParaRPr>
          </a:p>
          <a:p>
            <a:pPr eaLnBrk="1" hangingPunct="1">
              <a:buClr>
                <a:srgbClr val="000000"/>
              </a:buClr>
              <a:buSzPts val="1600"/>
              <a:buFont typeface="Noto Sans Symbols"/>
              <a:buAutoNum type="arabicPeriod"/>
              <a:defRPr/>
            </a:pPr>
            <a:r>
              <a:rPr lang="en-US" altLang="en-US" sz="1600">
                <a:solidFill>
                  <a:srgbClr val="000000"/>
                </a:solidFill>
                <a:latin typeface="Arial" panose="020B0604020202020204" pitchFamily="34" charset="0"/>
                <a:cs typeface="Arial" panose="020B0604020202020204" pitchFamily="34" charset="0"/>
                <a:sym typeface="Arial" panose="020B0604020202020204" pitchFamily="34" charset="0"/>
              </a:rPr>
              <a:t>Introduce the Standard form of LP for simplex method.</a:t>
            </a:r>
            <a:endParaRPr lang="en-US" altLang="en-US" sz="1600">
              <a:solidFill>
                <a:srgbClr val="000000"/>
              </a:solidFill>
              <a:latin typeface="Arial" panose="020B0604020202020204" pitchFamily="34" charset="0"/>
              <a:cs typeface="Arial" panose="020B0604020202020204" pitchFamily="34" charset="0"/>
            </a:endParaRPr>
          </a:p>
          <a:p>
            <a:pPr eaLnBrk="1" hangingPunct="1">
              <a:buClr>
                <a:srgbClr val="000000"/>
              </a:buClr>
              <a:buSzPts val="1600"/>
              <a:buFontTx/>
              <a:buAutoNum type="arabicPeriod"/>
              <a:defRPr/>
            </a:pPr>
            <a:r>
              <a:rPr lang="en-US" altLang="en-US" sz="1600">
                <a:solidFill>
                  <a:srgbClr val="000000"/>
                </a:solidFill>
                <a:latin typeface="Arial" panose="020B0604020202020204" pitchFamily="34" charset="0"/>
                <a:cs typeface="Arial" panose="020B0604020202020204" pitchFamily="34" charset="0"/>
                <a:sym typeface="Arial" panose="020B0604020202020204" pitchFamily="34" charset="0"/>
              </a:rPr>
              <a:t>Introduce the concept of </a:t>
            </a:r>
            <a:r>
              <a:rPr lang="en-US" altLang="en-US" sz="1600">
                <a:latin typeface="Arial" panose="020B0604020202020204" pitchFamily="34" charset="0"/>
                <a:cs typeface="Arial" panose="020B0604020202020204" pitchFamily="34" charset="0"/>
              </a:rPr>
              <a:t>Slack variables, Tableau, Pivot element.</a:t>
            </a:r>
          </a:p>
          <a:p>
            <a:pPr eaLnBrk="1" hangingPunct="1">
              <a:buClr>
                <a:srgbClr val="000000"/>
              </a:buClr>
              <a:buSzPts val="1600"/>
              <a:buFont typeface="Noto Sans Symbols"/>
              <a:buAutoNum type="arabicPeriod"/>
              <a:defRPr/>
            </a:pPr>
            <a:r>
              <a:rPr lang="en-IN" altLang="en-US" sz="1600">
                <a:solidFill>
                  <a:srgbClr val="000000"/>
                </a:solidFill>
                <a:latin typeface="Arial" panose="020B0604020202020204" pitchFamily="34" charset="0"/>
                <a:cs typeface="Arial" panose="020B0604020202020204" pitchFamily="34" charset="0"/>
                <a:sym typeface="Arial" panose="020B0604020202020204" pitchFamily="34" charset="0"/>
              </a:rPr>
              <a:t>Teach creation of new Tableau to maximize the objective function.</a:t>
            </a:r>
            <a:endParaRPr lang="en-US" altLang="en-US" sz="1600">
              <a:latin typeface="Arial" panose="020B0604020202020204" pitchFamily="34" charset="0"/>
              <a:cs typeface="Arial" panose="020B0604020202020204" pitchFamily="34" charset="0"/>
            </a:endParaRPr>
          </a:p>
          <a:p>
            <a:pPr eaLnBrk="1" hangingPunct="1">
              <a:buClr>
                <a:srgbClr val="000000"/>
              </a:buClr>
              <a:buSzPts val="1600"/>
              <a:buFont typeface="Noto Sans Symbols"/>
              <a:buAutoNum type="arabicPeriod"/>
              <a:defRPr/>
            </a:pPr>
            <a:r>
              <a:rPr lang="en-US" altLang="en-US" sz="1600">
                <a:solidFill>
                  <a:srgbClr val="000000"/>
                </a:solidFill>
                <a:latin typeface="Arial" panose="020B0604020202020204" pitchFamily="34" charset="0"/>
                <a:cs typeface="Arial" panose="020B0604020202020204" pitchFamily="34" charset="0"/>
                <a:sym typeface="Arial" panose="020B0604020202020204" pitchFamily="34" charset="0"/>
              </a:rPr>
              <a:t>Check whether optimal solution is achieved.</a:t>
            </a:r>
            <a:endParaRPr lang="en-US" altLang="en-US" sz="1600">
              <a:solidFill>
                <a:srgbClr val="000000"/>
              </a:solidFill>
              <a:latin typeface="Arial" panose="020B0604020202020204" pitchFamily="34" charset="0"/>
              <a:cs typeface="Arial" panose="020B0604020202020204" pitchFamily="34" charset="0"/>
            </a:endParaRPr>
          </a:p>
        </p:txBody>
      </p:sp>
      <p:pic>
        <p:nvPicPr>
          <p:cNvPr id="16394" name="Google Shape;145;p28" descr="Bullseye outline">
            <a:extLst>
              <a:ext uri="{FF2B5EF4-FFF2-40B4-BE49-F238E27FC236}">
                <a16:creationId xmlns:a16="http://schemas.microsoft.com/office/drawing/2014/main" id="{54998D5D-60CD-F012-BC97-10D9F2012CF7}"/>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54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Google Shape;146;p28" descr="Presentation with checklist outline">
            <a:extLst>
              <a:ext uri="{FF2B5EF4-FFF2-40B4-BE49-F238E27FC236}">
                <a16:creationId xmlns:a16="http://schemas.microsoft.com/office/drawing/2014/main" id="{99E3DABE-C0E4-4FC1-7238-5A763BC3A874}"/>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4384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 name="Google Shape;147;p28">
            <a:extLst>
              <a:ext uri="{FF2B5EF4-FFF2-40B4-BE49-F238E27FC236}">
                <a16:creationId xmlns:a16="http://schemas.microsoft.com/office/drawing/2014/main" id="{4DF4F373-5043-2DA4-EDE8-A4A203B8079C}"/>
              </a:ext>
            </a:extLst>
          </p:cNvPr>
          <p:cNvSpPr/>
          <p:nvPr/>
        </p:nvSpPr>
        <p:spPr>
          <a:xfrm>
            <a:off x="4213225" y="4249738"/>
            <a:ext cx="3870325" cy="388937"/>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lIns="90000" tIns="45000" rIns="90000" bIns="45000" anchor="ctr"/>
          <a:lstStyle/>
          <a:p>
            <a:pPr algn="ctr" eaLnBrk="1" fontAlgn="auto" hangingPunct="1">
              <a:spcBef>
                <a:spcPts val="0"/>
              </a:spcBef>
              <a:spcAft>
                <a:spcPts val="0"/>
              </a:spcAft>
              <a:defRPr/>
            </a:pPr>
            <a:r>
              <a:rPr lang="en-US" sz="2400">
                <a:solidFill>
                  <a:srgbClr val="FFFFFF"/>
                </a:solidFill>
                <a:latin typeface="Calibri"/>
                <a:ea typeface="Calibri"/>
                <a:cs typeface="Calibri"/>
                <a:sym typeface="Calibri"/>
              </a:rPr>
              <a:t>LEARNING OUTCOMES</a:t>
            </a:r>
            <a:endParaRPr sz="2400">
              <a:latin typeface="Arial"/>
              <a:ea typeface="Arial"/>
              <a:cs typeface="Arial"/>
              <a:sym typeface="Arial"/>
            </a:endParaRPr>
          </a:p>
        </p:txBody>
      </p:sp>
      <p:pic>
        <p:nvPicPr>
          <p:cNvPr id="16397" name="Google Shape;148;p28" descr="Idea outline">
            <a:extLst>
              <a:ext uri="{FF2B5EF4-FFF2-40B4-BE49-F238E27FC236}">
                <a16:creationId xmlns:a16="http://schemas.microsoft.com/office/drawing/2014/main" id="{EF7746B6-00FE-5AB6-DF6C-6F46B2024BAA}"/>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7656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Google Shape;149;p28">
            <a:extLst>
              <a:ext uri="{FF2B5EF4-FFF2-40B4-BE49-F238E27FC236}">
                <a16:creationId xmlns:a16="http://schemas.microsoft.com/office/drawing/2014/main" id="{45D8B3CD-4AB8-A18D-854A-2898BCEC3693}"/>
              </a:ext>
            </a:extLst>
          </p:cNvPr>
          <p:cNvSpPr/>
          <p:nvPr/>
        </p:nvSpPr>
        <p:spPr>
          <a:xfrm>
            <a:off x="1828440" y="4644600"/>
            <a:ext cx="8791200" cy="1297714"/>
          </a:xfrm>
          <a:prstGeom prst="rect">
            <a:avLst/>
          </a:prstGeom>
          <a:gradFill>
            <a:gsLst>
              <a:gs pos="0">
                <a:srgbClr val="F7FAFD"/>
              </a:gs>
              <a:gs pos="100000">
                <a:srgbClr val="CEE1F2"/>
              </a:gs>
            </a:gsLst>
            <a:path path="circle">
              <a:fillToRect l="50000" t="50000" r="50000" b="50000"/>
            </a:path>
            <a:tileRect/>
          </a:gradFill>
          <a:ln w="9525" cap="flat" cmpd="sng">
            <a:solidFill>
              <a:srgbClr val="DDEAF6"/>
            </a:solidFill>
            <a:prstDash val="solid"/>
            <a:round/>
            <a:headEnd type="none" w="sm" len="sm"/>
            <a:tailEnd type="none" w="sm" len="sm"/>
          </a:ln>
          <a:effectLst>
            <a:outerShdw blurRad="50800" dist="38160" algn="l" rotWithShape="0">
              <a:srgbClr val="BBD6EE">
                <a:alpha val="40000"/>
              </a:srgbClr>
            </a:outerShdw>
          </a:effectLst>
        </p:spPr>
        <p:txBody>
          <a:bodyPr spcFirstLastPara="1" lIns="91425" tIns="45700" rIns="91425" bIns="45700"/>
          <a:lstStyle/>
          <a:p>
            <a:pPr eaLnBrk="1" fontAlgn="auto" hangingPunct="1">
              <a:lnSpc>
                <a:spcPct val="200000"/>
              </a:lnSpc>
              <a:spcBef>
                <a:spcPts val="0"/>
              </a:spcBef>
              <a:spcAft>
                <a:spcPts val="0"/>
              </a:spcAft>
              <a:defRPr/>
            </a:pPr>
            <a:r>
              <a:rPr lang="en-US" sz="1600" dirty="0">
                <a:solidFill>
                  <a:srgbClr val="000000"/>
                </a:solidFill>
                <a:latin typeface="Arial"/>
                <a:ea typeface="Arial"/>
                <a:cs typeface="Arial"/>
                <a:sym typeface="Arial"/>
              </a:rPr>
              <a:t>At the end of this session, the students should be able to:</a:t>
            </a:r>
            <a:endParaRPr sz="1600" dirty="0">
              <a:latin typeface="Arial"/>
              <a:ea typeface="Arial"/>
              <a:cs typeface="Arial"/>
              <a:sym typeface="Arial"/>
            </a:endParaRPr>
          </a:p>
          <a:p>
            <a:pPr marL="342900" indent="-342265" eaLnBrk="1" fontAlgn="auto" hangingPunct="1">
              <a:spcBef>
                <a:spcPts val="0"/>
              </a:spcBef>
              <a:spcAft>
                <a:spcPts val="0"/>
              </a:spcAft>
              <a:buClr>
                <a:srgbClr val="000000"/>
              </a:buClr>
              <a:buSzPts val="1600"/>
              <a:buFont typeface="Noto Sans Symbols"/>
              <a:buAutoNum type="arabicPeriod"/>
              <a:defRPr/>
            </a:pPr>
            <a:r>
              <a:rPr lang="en-US" sz="1600" dirty="0">
                <a:solidFill>
                  <a:srgbClr val="000000"/>
                </a:solidFill>
                <a:latin typeface="Arial"/>
                <a:ea typeface="Arial"/>
                <a:cs typeface="Arial"/>
                <a:sym typeface="Arial"/>
              </a:rPr>
              <a:t>Formulate a linear programming problem in a standard format.</a:t>
            </a:r>
            <a:endParaRPr lang="en-US" sz="1600" dirty="0">
              <a:solidFill>
                <a:srgbClr val="000000"/>
              </a:solidFill>
              <a:latin typeface="Arial"/>
              <a:ea typeface="Arial"/>
              <a:cs typeface="Arial"/>
            </a:endParaRPr>
          </a:p>
          <a:p>
            <a:pPr marL="342900" indent="-342265" eaLnBrk="1" fontAlgn="auto" hangingPunct="1">
              <a:spcBef>
                <a:spcPts val="0"/>
              </a:spcBef>
              <a:spcAft>
                <a:spcPts val="0"/>
              </a:spcAft>
              <a:buClr>
                <a:srgbClr val="000000"/>
              </a:buClr>
              <a:buSzPts val="1600"/>
              <a:buFontTx/>
              <a:buAutoNum type="arabicPeriod"/>
              <a:defRPr/>
            </a:pPr>
            <a:r>
              <a:rPr lang="en-US" sz="1600" dirty="0">
                <a:solidFill>
                  <a:srgbClr val="000000"/>
                </a:solidFill>
                <a:latin typeface="Arial"/>
                <a:ea typeface="Arial"/>
                <a:cs typeface="Arial"/>
                <a:sym typeface="Arial"/>
              </a:rPr>
              <a:t>Compute the optimal value of the objective function and decision variables using Simplex method.</a:t>
            </a:r>
            <a:endParaRPr lang="en-US" sz="1600" dirty="0">
              <a:latin typeface="Arial"/>
              <a:ea typeface="Arial"/>
              <a:cs typeface="Arial"/>
            </a:endParaRPr>
          </a:p>
        </p:txBody>
      </p:sp>
      <p:pic>
        <p:nvPicPr>
          <p:cNvPr id="16401" name="Google Shape;150;p28" descr="KL Deemed to be University Logo">
            <a:extLst>
              <a:ext uri="{FF2B5EF4-FFF2-40B4-BE49-F238E27FC236}">
                <a16:creationId xmlns:a16="http://schemas.microsoft.com/office/drawing/2014/main" id="{B0E63BD4-BEE4-EB88-7B3A-34A334A5B2B2}"/>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2" name="Google Shape;151;p28">
            <a:extLst>
              <a:ext uri="{FF2B5EF4-FFF2-40B4-BE49-F238E27FC236}">
                <a16:creationId xmlns:a16="http://schemas.microsoft.com/office/drawing/2014/main" id="{41CDD39A-667C-E9F8-2461-FDBBE8CA213D}"/>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3" name="Slide Number Placeholder 3">
            <a:extLst>
              <a:ext uri="{FF2B5EF4-FFF2-40B4-BE49-F238E27FC236}">
                <a16:creationId xmlns:a16="http://schemas.microsoft.com/office/drawing/2014/main" id="{2485EEAF-4254-CA0E-FEAF-16FCD6C03F4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9851BEB9-07B4-4C62-9A35-B97A97ECF3EE}" type="slidenum">
              <a:rPr lang="en-IN" altLang="en-US" sz="2200" smtClean="0">
                <a:solidFill>
                  <a:schemeClr val="accent1"/>
                </a:solidFill>
              </a:rPr>
              <a:pPr>
                <a:lnSpc>
                  <a:spcPct val="100000"/>
                </a:lnSpc>
                <a:spcBef>
                  <a:spcPct val="0"/>
                </a:spcBef>
                <a:buClrTx/>
                <a:buSzTx/>
                <a:buFontTx/>
                <a:buNone/>
              </a:pPr>
              <a:t>2</a:t>
            </a:fld>
            <a:endParaRPr lang="en-IN" altLang="en-US" sz="22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Google Shape;192;p32" descr="KL Deemed to be University Logo">
            <a:extLst>
              <a:ext uri="{FF2B5EF4-FFF2-40B4-BE49-F238E27FC236}">
                <a16:creationId xmlns:a16="http://schemas.microsoft.com/office/drawing/2014/main" id="{942782D6-8C32-8E8F-AF85-FA6A2A10280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Google Shape;193;p32">
            <a:extLst>
              <a:ext uri="{FF2B5EF4-FFF2-40B4-BE49-F238E27FC236}">
                <a16:creationId xmlns:a16="http://schemas.microsoft.com/office/drawing/2014/main" id="{485C6DB0-D271-EEB6-C62E-C2D429459497}"/>
              </a:ext>
            </a:extLst>
          </p:cNvPr>
          <p:cNvSpPr>
            <a:spLocks noChangeArrowheads="1"/>
          </p:cNvSpPr>
          <p:nvPr/>
        </p:nvSpPr>
        <p:spPr bwMode="auto">
          <a:xfrm>
            <a:off x="3046413" y="112713"/>
            <a:ext cx="5786437"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sym typeface="Calibri" panose="020F0502020204030204" pitchFamily="34" charset="0"/>
              </a:rPr>
              <a:t>Introduction to Simplex Method</a:t>
            </a:r>
            <a:endParaRPr lang="en-US" altLang="en-US" sz="3200">
              <a:latin typeface="Arial" panose="020B0604020202020204" pitchFamily="34" charset="0"/>
              <a:ea typeface="Arial" panose="020B0604020202020204" pitchFamily="34" charset="0"/>
              <a:cs typeface="Calibri" panose="020F0502020204030204" pitchFamily="34" charset="0"/>
            </a:endParaRPr>
          </a:p>
        </p:txBody>
      </p:sp>
      <p:pic>
        <p:nvPicPr>
          <p:cNvPr id="18436" name="Google Shape;194;p32" descr="KL Deemed to be University Logo">
            <a:extLst>
              <a:ext uri="{FF2B5EF4-FFF2-40B4-BE49-F238E27FC236}">
                <a16:creationId xmlns:a16="http://schemas.microsoft.com/office/drawing/2014/main" id="{0320D824-B42C-D1FE-3D07-0DF37B4AA53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 name="Google Shape;195;p32">
            <a:extLst>
              <a:ext uri="{FF2B5EF4-FFF2-40B4-BE49-F238E27FC236}">
                <a16:creationId xmlns:a16="http://schemas.microsoft.com/office/drawing/2014/main" id="{E5A1CC49-F5EB-705D-8574-2E499BD913C3}"/>
              </a:ext>
            </a:extLst>
          </p:cNvPr>
          <p:cNvSpPr txBox="1"/>
          <p:nvPr/>
        </p:nvSpPr>
        <p:spPr>
          <a:xfrm>
            <a:off x="273050" y="1239838"/>
            <a:ext cx="6632575" cy="1416050"/>
          </a:xfrm>
          <a:prstGeom prst="rect">
            <a:avLst/>
          </a:prstGeom>
          <a:solidFill>
            <a:srgbClr val="FFFFFF"/>
          </a:solidFill>
          <a:ln>
            <a:noFill/>
          </a:ln>
        </p:spPr>
        <p:txBody>
          <a:bodyPr spcFirstLastPara="1" lIns="91425" tIns="91425" rIns="91425" bIns="91425">
            <a:spAutoFit/>
          </a:bodyPr>
          <a:lstStyle/>
          <a:p>
            <a:pPr marL="457200" indent="-355600" eaLnBrk="1" fontAlgn="auto" hangingPunct="1">
              <a:spcBef>
                <a:spcPts val="0"/>
              </a:spcBef>
              <a:spcAft>
                <a:spcPts val="0"/>
              </a:spcAft>
              <a:buSzPts val="2000"/>
              <a:buFont typeface="Arial"/>
              <a:buChar char="•"/>
              <a:defRPr/>
            </a:pPr>
            <a:r>
              <a:rPr lang="en-US" sz="2000" dirty="0">
                <a:latin typeface="+mn-lt"/>
                <a:ea typeface="+mn-lt"/>
                <a:cs typeface="+mn-lt"/>
              </a:rPr>
              <a:t>A linear program (LP) is a method of achieving the best outcome given the task of either maximizing or minimizing a linear objective function, subject to linear constraints.</a:t>
            </a:r>
            <a:endParaRPr lang="en-US" dirty="0">
              <a:latin typeface="+mn-lt"/>
            </a:endParaRPr>
          </a:p>
        </p:txBody>
      </p:sp>
      <p:pic>
        <p:nvPicPr>
          <p:cNvPr id="18438" name="Google Shape;196;p32">
            <a:extLst>
              <a:ext uri="{FF2B5EF4-FFF2-40B4-BE49-F238E27FC236}">
                <a16:creationId xmlns:a16="http://schemas.microsoft.com/office/drawing/2014/main" id="{2410DC9C-2DF0-17DD-DDB7-4A3AC9872FD9}"/>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Slide Number Placeholder 3">
            <a:extLst>
              <a:ext uri="{FF2B5EF4-FFF2-40B4-BE49-F238E27FC236}">
                <a16:creationId xmlns:a16="http://schemas.microsoft.com/office/drawing/2014/main" id="{973B8152-50CA-2387-207A-88AC3BDA590F}"/>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F8ED9BC8-3C94-49CE-98B2-CB39793034EF}" type="slidenum">
              <a:rPr lang="en-IN" altLang="en-US" sz="2200" smtClean="0">
                <a:solidFill>
                  <a:schemeClr val="accent1"/>
                </a:solidFill>
              </a:rPr>
              <a:pPr>
                <a:lnSpc>
                  <a:spcPct val="100000"/>
                </a:lnSpc>
                <a:spcBef>
                  <a:spcPct val="0"/>
                </a:spcBef>
                <a:buClrTx/>
                <a:buSzTx/>
                <a:buFontTx/>
                <a:buNone/>
              </a:pPr>
              <a:t>3</a:t>
            </a:fld>
            <a:endParaRPr lang="en-IN" altLang="en-US" sz="2200">
              <a:solidFill>
                <a:schemeClr val="accent1"/>
              </a:solidFill>
            </a:endParaRPr>
          </a:p>
        </p:txBody>
      </p:sp>
      <p:pic>
        <p:nvPicPr>
          <p:cNvPr id="18440" name="Picture 3">
            <a:extLst>
              <a:ext uri="{FF2B5EF4-FFF2-40B4-BE49-F238E27FC236}">
                <a16:creationId xmlns:a16="http://schemas.microsoft.com/office/drawing/2014/main" id="{053DDB57-AB5D-1509-4B70-10088D93F0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61475" y="784225"/>
            <a:ext cx="2767013"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1" name="TextBox 3">
            <a:extLst>
              <a:ext uri="{FF2B5EF4-FFF2-40B4-BE49-F238E27FC236}">
                <a16:creationId xmlns:a16="http://schemas.microsoft.com/office/drawing/2014/main" id="{10A70146-F4B2-A4B5-CDB0-0E0B4EC9D992}"/>
              </a:ext>
            </a:extLst>
          </p:cNvPr>
          <p:cNvSpPr txBox="1">
            <a:spLocks noChangeArrowheads="1"/>
          </p:cNvSpPr>
          <p:nvPr/>
        </p:nvSpPr>
        <p:spPr bwMode="auto">
          <a:xfrm>
            <a:off x="9055100" y="2857500"/>
            <a:ext cx="3336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Source: Encyclopedia Britanica</a:t>
            </a:r>
          </a:p>
        </p:txBody>
      </p:sp>
      <p:sp>
        <p:nvSpPr>
          <p:cNvPr id="5" name="Google Shape;195;p32">
            <a:extLst>
              <a:ext uri="{FF2B5EF4-FFF2-40B4-BE49-F238E27FC236}">
                <a16:creationId xmlns:a16="http://schemas.microsoft.com/office/drawing/2014/main" id="{C90102AE-D3A1-151F-9FE4-D0C5DD101649}"/>
              </a:ext>
            </a:extLst>
          </p:cNvPr>
          <p:cNvSpPr txBox="1"/>
          <p:nvPr/>
        </p:nvSpPr>
        <p:spPr>
          <a:xfrm>
            <a:off x="157163" y="3675063"/>
            <a:ext cx="7153275" cy="2339975"/>
          </a:xfrm>
          <a:prstGeom prst="rect">
            <a:avLst/>
          </a:prstGeom>
          <a:solidFill>
            <a:srgbClr val="FFFFFF"/>
          </a:solidFill>
          <a:ln>
            <a:noFill/>
          </a:ln>
        </p:spPr>
        <p:txBody>
          <a:bodyPr spcFirstLastPara="1" lIns="91425" tIns="91425" rIns="91425" bIns="91425">
            <a:spAutoFit/>
          </a:bodyPr>
          <a:lstStyle/>
          <a:p>
            <a:pPr marL="101600" eaLnBrk="1" fontAlgn="auto" hangingPunct="1">
              <a:spcBef>
                <a:spcPts val="0"/>
              </a:spcBef>
              <a:spcAft>
                <a:spcPts val="0"/>
              </a:spcAft>
              <a:buSzPts val="2000"/>
              <a:defRPr/>
            </a:pPr>
            <a:endParaRPr lang="en-US" sz="2000" dirty="0">
              <a:latin typeface="+mn-lt"/>
            </a:endParaRPr>
          </a:p>
          <a:p>
            <a:pPr marL="457200" indent="-355600" eaLnBrk="1" fontAlgn="auto" hangingPunct="1">
              <a:spcBef>
                <a:spcPts val="0"/>
              </a:spcBef>
              <a:spcAft>
                <a:spcPts val="0"/>
              </a:spcAft>
              <a:buSzPts val="2000"/>
              <a:buFont typeface="Arial"/>
              <a:buChar char="•"/>
              <a:defRPr/>
            </a:pPr>
            <a:r>
              <a:rPr lang="en-US" sz="2000" dirty="0">
                <a:latin typeface="+mn-lt"/>
              </a:rPr>
              <a:t>The </a:t>
            </a:r>
            <a:r>
              <a:rPr lang="en-US" sz="2000" dirty="0">
                <a:latin typeface="+mn-lt"/>
                <a:ea typeface="+mn-lt"/>
                <a:cs typeface="+mn-lt"/>
              </a:rPr>
              <a:t>simplex method uses an approach that is very efficient. It begins with a corner point of the feasibility region where all the main variables are zero. Then systematically moves from corner point to corner point, while improving the value of the objective function at each stage. The process continues until the optimal solution is found.</a:t>
            </a:r>
          </a:p>
        </p:txBody>
      </p:sp>
      <p:sp>
        <p:nvSpPr>
          <p:cNvPr id="18443" name="TextBox 5">
            <a:extLst>
              <a:ext uri="{FF2B5EF4-FFF2-40B4-BE49-F238E27FC236}">
                <a16:creationId xmlns:a16="http://schemas.microsoft.com/office/drawing/2014/main" id="{B315BAFF-1419-5254-31B8-8ECCD4A51DD7}"/>
              </a:ext>
            </a:extLst>
          </p:cNvPr>
          <p:cNvSpPr txBox="1">
            <a:spLocks noChangeArrowheads="1"/>
          </p:cNvSpPr>
          <p:nvPr/>
        </p:nvSpPr>
        <p:spPr bwMode="auto">
          <a:xfrm>
            <a:off x="8974138" y="5697538"/>
            <a:ext cx="3336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Source: UC Davis Mathematics</a:t>
            </a:r>
          </a:p>
        </p:txBody>
      </p:sp>
      <p:pic>
        <p:nvPicPr>
          <p:cNvPr id="18444" name="Picture 7">
            <a:extLst>
              <a:ext uri="{FF2B5EF4-FFF2-40B4-BE49-F238E27FC236}">
                <a16:creationId xmlns:a16="http://schemas.microsoft.com/office/drawing/2014/main" id="{EDE104D8-27C9-C0A1-A204-E5085A8003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96425" y="3851275"/>
            <a:ext cx="245745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Google Shape;192;p32" descr="KL Deemed to be University Logo">
            <a:extLst>
              <a:ext uri="{FF2B5EF4-FFF2-40B4-BE49-F238E27FC236}">
                <a16:creationId xmlns:a16="http://schemas.microsoft.com/office/drawing/2014/main" id="{0727ABFD-192F-D716-67F8-4336E6935ED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Google Shape;193;p32">
            <a:extLst>
              <a:ext uri="{FF2B5EF4-FFF2-40B4-BE49-F238E27FC236}">
                <a16:creationId xmlns:a16="http://schemas.microsoft.com/office/drawing/2014/main" id="{E850834F-7419-8AB5-8A86-E482070FB2E0}"/>
              </a:ext>
            </a:extLst>
          </p:cNvPr>
          <p:cNvSpPr>
            <a:spLocks noChangeArrowheads="1"/>
          </p:cNvSpPr>
          <p:nvPr/>
        </p:nvSpPr>
        <p:spPr bwMode="auto">
          <a:xfrm>
            <a:off x="3046413" y="112713"/>
            <a:ext cx="5786437"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sym typeface="Calibri" panose="020F0502020204030204" pitchFamily="34" charset="0"/>
              </a:rPr>
              <a:t>Introduction to Simplex Method</a:t>
            </a:r>
            <a:endParaRPr lang="en-US" altLang="en-US" sz="3200">
              <a:latin typeface="Arial" panose="020B0604020202020204" pitchFamily="34" charset="0"/>
              <a:ea typeface="Arial" panose="020B0604020202020204" pitchFamily="34" charset="0"/>
              <a:cs typeface="Calibri" panose="020F0502020204030204" pitchFamily="34" charset="0"/>
            </a:endParaRPr>
          </a:p>
        </p:txBody>
      </p:sp>
      <p:pic>
        <p:nvPicPr>
          <p:cNvPr id="20484" name="Google Shape;194;p32" descr="KL Deemed to be University Logo">
            <a:extLst>
              <a:ext uri="{FF2B5EF4-FFF2-40B4-BE49-F238E27FC236}">
                <a16:creationId xmlns:a16="http://schemas.microsoft.com/office/drawing/2014/main" id="{51541031-7739-E30F-84BC-7FABD0E76FB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 name="Google Shape;195;p32">
            <a:extLst>
              <a:ext uri="{FF2B5EF4-FFF2-40B4-BE49-F238E27FC236}">
                <a16:creationId xmlns:a16="http://schemas.microsoft.com/office/drawing/2014/main" id="{E4A610FF-5AFF-F489-9A24-7BAFFB0FB78F}"/>
              </a:ext>
            </a:extLst>
          </p:cNvPr>
          <p:cNvSpPr txBox="1"/>
          <p:nvPr/>
        </p:nvSpPr>
        <p:spPr>
          <a:xfrm>
            <a:off x="665163" y="1204913"/>
            <a:ext cx="10847387" cy="4494212"/>
          </a:xfrm>
          <a:prstGeom prst="rect">
            <a:avLst/>
          </a:prstGeom>
          <a:solidFill>
            <a:srgbClr val="FFFFFF"/>
          </a:solidFill>
          <a:ln>
            <a:noFill/>
          </a:ln>
        </p:spPr>
        <p:txBody>
          <a:bodyPr spcFirstLastPara="1" lIns="91425" tIns="91425" rIns="91425" bIns="91425">
            <a:spAutoFit/>
          </a:bodyPr>
          <a:lstStyle/>
          <a:p>
            <a:pPr marL="457200" indent="-355600" eaLnBrk="1" fontAlgn="auto" hangingPunct="1">
              <a:spcBef>
                <a:spcPts val="0"/>
              </a:spcBef>
              <a:spcAft>
                <a:spcPts val="0"/>
              </a:spcAft>
              <a:buSzPts val="2000"/>
              <a:buFont typeface="Arial"/>
              <a:buChar char="•"/>
              <a:defRPr/>
            </a:pPr>
            <a:r>
              <a:rPr lang="en-US" sz="2000" dirty="0">
                <a:latin typeface="+mn-lt"/>
                <a:ea typeface="+mn-lt"/>
                <a:cs typeface="+mn-lt"/>
              </a:rPr>
              <a:t>The Simplex method is an approach to solving linear programming problems by hand using </a:t>
            </a:r>
            <a:r>
              <a:rPr lang="en-US" sz="2000" b="1" dirty="0">
                <a:solidFill>
                  <a:srgbClr val="FF00FF"/>
                </a:solidFill>
                <a:latin typeface="+mn-lt"/>
                <a:ea typeface="+mn-lt"/>
                <a:cs typeface="+mn-lt"/>
              </a:rPr>
              <a:t>slack variables, tableau</a:t>
            </a:r>
            <a:r>
              <a:rPr lang="en-US" sz="2000" dirty="0">
                <a:latin typeface="+mn-lt"/>
                <a:ea typeface="+mn-lt"/>
                <a:cs typeface="+mn-lt"/>
              </a:rPr>
              <a:t>, and</a:t>
            </a:r>
            <a:r>
              <a:rPr lang="en-US" sz="2000" b="1" dirty="0">
                <a:solidFill>
                  <a:srgbClr val="FF00FF"/>
                </a:solidFill>
                <a:latin typeface="+mn-lt"/>
                <a:ea typeface="+mn-lt"/>
                <a:cs typeface="+mn-lt"/>
              </a:rPr>
              <a:t> pivot element</a:t>
            </a:r>
            <a:r>
              <a:rPr lang="en-US" sz="2000" dirty="0">
                <a:latin typeface="+mn-lt"/>
                <a:ea typeface="+mn-lt"/>
                <a:cs typeface="+mn-lt"/>
              </a:rPr>
              <a:t> as a means of finding the optimal solution of an optimization problem. </a:t>
            </a:r>
            <a:endParaRPr lang="en-US" sz="2000" dirty="0">
              <a:latin typeface="Gill Sans MT"/>
              <a:cs typeface="Times New Roman"/>
            </a:endParaRPr>
          </a:p>
          <a:p>
            <a:pPr marL="101600" eaLnBrk="1" fontAlgn="auto" hangingPunct="1">
              <a:spcBef>
                <a:spcPts val="0"/>
              </a:spcBef>
              <a:spcAft>
                <a:spcPts val="0"/>
              </a:spcAft>
              <a:buSzPts val="2000"/>
              <a:defRPr/>
            </a:pPr>
            <a:endParaRPr lang="en-US" sz="2000" dirty="0">
              <a:latin typeface="Gill Sans MT"/>
              <a:cs typeface="Times New Roman"/>
            </a:endParaRPr>
          </a:p>
          <a:p>
            <a:pPr marL="457200" indent="-355600" eaLnBrk="1" fontAlgn="auto" hangingPunct="1">
              <a:spcBef>
                <a:spcPts val="0"/>
              </a:spcBef>
              <a:spcAft>
                <a:spcPts val="0"/>
              </a:spcAft>
              <a:buSzPts val="2000"/>
              <a:buFont typeface="Arial"/>
              <a:buChar char="•"/>
              <a:defRPr/>
            </a:pPr>
            <a:endParaRPr lang="en-US" sz="2000" dirty="0">
              <a:latin typeface="Gill Sans MT"/>
              <a:cs typeface="Times New Roman"/>
            </a:endParaRPr>
          </a:p>
          <a:p>
            <a:pPr marL="457200" indent="-355600" eaLnBrk="1" fontAlgn="auto" hangingPunct="1">
              <a:spcBef>
                <a:spcPts val="0"/>
              </a:spcBef>
              <a:spcAft>
                <a:spcPts val="0"/>
              </a:spcAft>
              <a:buSzPts val="2000"/>
              <a:buFont typeface="Arial"/>
              <a:buChar char="•"/>
              <a:defRPr/>
            </a:pPr>
            <a:r>
              <a:rPr lang="en-US" sz="2000" dirty="0">
                <a:latin typeface="Gill Sans MT"/>
                <a:cs typeface="Times New Roman"/>
              </a:rPr>
              <a:t>Solving a LP problem using simplex method involves the following steps:</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Format the problem in Standard Form</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Convert inequality constraints to equations using </a:t>
            </a:r>
            <a:r>
              <a:rPr lang="en-US" sz="2000" b="1" dirty="0">
                <a:solidFill>
                  <a:srgbClr val="FF00FF"/>
                </a:solidFill>
                <a:latin typeface="Gill Sans MT"/>
                <a:cs typeface="Times New Roman"/>
              </a:rPr>
              <a:t>slack variables</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Set up the initial simplex </a:t>
            </a:r>
            <a:r>
              <a:rPr lang="en-US" sz="2000" b="1" dirty="0">
                <a:solidFill>
                  <a:srgbClr val="FF00FF"/>
                </a:solidFill>
                <a:latin typeface="Gill Sans MT"/>
                <a:cs typeface="Times New Roman"/>
              </a:rPr>
              <a:t>tableau</a:t>
            </a:r>
            <a:r>
              <a:rPr lang="en-US" sz="2000" dirty="0">
                <a:latin typeface="Gill Sans MT"/>
                <a:cs typeface="Times New Roman"/>
              </a:rPr>
              <a:t> using the objective function and the slack equations</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Check for optimality. If optimality is reached, go to step 8.</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Identify the </a:t>
            </a:r>
            <a:r>
              <a:rPr lang="en-US" sz="2000" b="1" dirty="0">
                <a:solidFill>
                  <a:srgbClr val="FF00FF"/>
                </a:solidFill>
                <a:latin typeface="Gill Sans MT"/>
                <a:cs typeface="Times New Roman"/>
              </a:rPr>
              <a:t>pivot element</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Create a revised/new tableau through pivoting operations.</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Check for optimality. If optimality is NOT reached, go to step 5</a:t>
            </a:r>
          </a:p>
          <a:p>
            <a:pPr marL="1016000" lvl="1" indent="-457200" eaLnBrk="1" fontAlgn="auto" hangingPunct="1">
              <a:spcBef>
                <a:spcPts val="0"/>
              </a:spcBef>
              <a:spcAft>
                <a:spcPts val="0"/>
              </a:spcAft>
              <a:buSzPts val="2000"/>
              <a:buFontTx/>
              <a:buAutoNum type="arabicPeriod"/>
              <a:defRPr/>
            </a:pPr>
            <a:r>
              <a:rPr lang="en-US" sz="2000" dirty="0">
                <a:latin typeface="Gill Sans MT"/>
                <a:cs typeface="Times New Roman"/>
              </a:rPr>
              <a:t>Determine the optimal value of the objective function and the decision variables.</a:t>
            </a:r>
          </a:p>
        </p:txBody>
      </p:sp>
      <p:pic>
        <p:nvPicPr>
          <p:cNvPr id="20486" name="Google Shape;196;p32">
            <a:extLst>
              <a:ext uri="{FF2B5EF4-FFF2-40B4-BE49-F238E27FC236}">
                <a16:creationId xmlns:a16="http://schemas.microsoft.com/office/drawing/2014/main" id="{CEB82881-1A14-86F4-5A22-9DD818EE3CE6}"/>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Slide Number Placeholder 3">
            <a:extLst>
              <a:ext uri="{FF2B5EF4-FFF2-40B4-BE49-F238E27FC236}">
                <a16:creationId xmlns:a16="http://schemas.microsoft.com/office/drawing/2014/main" id="{C797DEC8-557B-B0AB-0E18-D91D287AB8B4}"/>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9F126223-39E2-4046-A47C-A4EF209E365B}" type="slidenum">
              <a:rPr lang="en-IN" altLang="en-US" sz="2200" smtClean="0">
                <a:solidFill>
                  <a:schemeClr val="accent1"/>
                </a:solidFill>
              </a:rPr>
              <a:pPr>
                <a:lnSpc>
                  <a:spcPct val="100000"/>
                </a:lnSpc>
                <a:spcBef>
                  <a:spcPct val="0"/>
                </a:spcBef>
                <a:buClrTx/>
                <a:buSzTx/>
                <a:buFontTx/>
                <a:buNone/>
              </a:pPr>
              <a:t>4</a:t>
            </a:fld>
            <a:endParaRPr lang="en-IN" altLang="en-US" sz="220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Google Shape;192;p32" descr="KL Deemed to be University Logo">
            <a:extLst>
              <a:ext uri="{FF2B5EF4-FFF2-40B4-BE49-F238E27FC236}">
                <a16:creationId xmlns:a16="http://schemas.microsoft.com/office/drawing/2014/main" id="{1AC7CBBE-3AF7-50A9-E91D-CE0617886BF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Google Shape;193;p32">
            <a:extLst>
              <a:ext uri="{FF2B5EF4-FFF2-40B4-BE49-F238E27FC236}">
                <a16:creationId xmlns:a16="http://schemas.microsoft.com/office/drawing/2014/main" id="{F34CD589-7996-B760-5C10-4E816E3F272E}"/>
              </a:ext>
            </a:extLst>
          </p:cNvPr>
          <p:cNvSpPr>
            <a:spLocks noChangeArrowheads="1"/>
          </p:cNvSpPr>
          <p:nvPr/>
        </p:nvSpPr>
        <p:spPr bwMode="auto">
          <a:xfrm>
            <a:off x="2752725" y="193675"/>
            <a:ext cx="6864350" cy="600075"/>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Problem solving using Simplex method</a:t>
            </a:r>
          </a:p>
        </p:txBody>
      </p:sp>
      <p:pic>
        <p:nvPicPr>
          <p:cNvPr id="22532" name="Google Shape;194;p32" descr="KL Deemed to be University Logo">
            <a:extLst>
              <a:ext uri="{FF2B5EF4-FFF2-40B4-BE49-F238E27FC236}">
                <a16:creationId xmlns:a16="http://schemas.microsoft.com/office/drawing/2014/main" id="{FF385002-32FF-6277-4772-FD8EB0AC4897}"/>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Google Shape;195;p32">
            <a:extLst>
              <a:ext uri="{FF2B5EF4-FFF2-40B4-BE49-F238E27FC236}">
                <a16:creationId xmlns:a16="http://schemas.microsoft.com/office/drawing/2014/main" id="{1C8FCAE6-03A8-AF77-CDD5-DE61668D139D}"/>
              </a:ext>
            </a:extLst>
          </p:cNvPr>
          <p:cNvSpPr txBox="1">
            <a:spLocks noChangeArrowheads="1"/>
          </p:cNvSpPr>
          <p:nvPr/>
        </p:nvSpPr>
        <p:spPr bwMode="auto">
          <a:xfrm>
            <a:off x="665163" y="871538"/>
            <a:ext cx="10923587" cy="20145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457200" indent="-355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buFont typeface="Gill Sans MT" panose="020B0502020104020203" pitchFamily="34" charset="0"/>
              <a:buAutoNum type="arabicPeriod"/>
            </a:pPr>
            <a:r>
              <a:rPr lang="en-US" altLang="en-US"/>
              <a:t>Identify and set up a linear program in standard minimization form</a:t>
            </a:r>
          </a:p>
          <a:p>
            <a:pPr>
              <a:buFont typeface="Gill Sans MT" panose="020B0502020104020203" pitchFamily="34" charset="0"/>
              <a:buAutoNum type="arabicPeriod"/>
            </a:pPr>
            <a:r>
              <a:rPr lang="en-US" altLang="en-US"/>
              <a:t>Formulate a dual problem in standard maximization form</a:t>
            </a:r>
          </a:p>
          <a:p>
            <a:pPr>
              <a:buFont typeface="Gill Sans MT" panose="020B0502020104020203" pitchFamily="34" charset="0"/>
              <a:buAutoNum type="arabicPeriod"/>
            </a:pPr>
            <a:r>
              <a:rPr lang="en-US" altLang="en-US"/>
              <a:t>Use the simplex method to solve the dual maximization problem</a:t>
            </a:r>
          </a:p>
          <a:p>
            <a:pPr>
              <a:buFont typeface="Gill Sans MT" panose="020B0502020104020203" pitchFamily="34" charset="0"/>
              <a:buAutoNum type="arabicPeriod"/>
            </a:pPr>
            <a:r>
              <a:rPr lang="en-US" altLang="en-US"/>
              <a:t>Identify the optimal solution to the original minimization problem from the optimal simplex tableau.</a:t>
            </a:r>
          </a:p>
        </p:txBody>
      </p:sp>
      <p:pic>
        <p:nvPicPr>
          <p:cNvPr id="22534" name="Google Shape;196;p32">
            <a:extLst>
              <a:ext uri="{FF2B5EF4-FFF2-40B4-BE49-F238E27FC236}">
                <a16:creationId xmlns:a16="http://schemas.microsoft.com/office/drawing/2014/main" id="{BA4BFCBA-940E-645B-DEB0-0DA38D7D77C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Slide Number Placeholder 3">
            <a:extLst>
              <a:ext uri="{FF2B5EF4-FFF2-40B4-BE49-F238E27FC236}">
                <a16:creationId xmlns:a16="http://schemas.microsoft.com/office/drawing/2014/main" id="{0ABFC132-BAC9-52D6-3D41-4006AEF73F1A}"/>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C0A1F6BD-EE66-45E3-80B8-9B58C342E2D7}" type="slidenum">
              <a:rPr lang="en-IN" altLang="en-US" sz="2200" smtClean="0">
                <a:solidFill>
                  <a:schemeClr val="accent1"/>
                </a:solidFill>
              </a:rPr>
              <a:pPr>
                <a:lnSpc>
                  <a:spcPct val="100000"/>
                </a:lnSpc>
                <a:spcBef>
                  <a:spcPct val="0"/>
                </a:spcBef>
                <a:buClrTx/>
                <a:buSzTx/>
                <a:buFontTx/>
                <a:buNone/>
              </a:pPr>
              <a:t>5</a:t>
            </a:fld>
            <a:endParaRPr lang="en-IN" altLang="en-US" sz="2200">
              <a:solidFill>
                <a:schemeClr val="accent1"/>
              </a:solidFill>
            </a:endParaRPr>
          </a:p>
        </p:txBody>
      </p:sp>
      <p:sp>
        <p:nvSpPr>
          <p:cNvPr id="22536" name="TextBox 2">
            <a:extLst>
              <a:ext uri="{FF2B5EF4-FFF2-40B4-BE49-F238E27FC236}">
                <a16:creationId xmlns:a16="http://schemas.microsoft.com/office/drawing/2014/main" id="{C42A818E-BBDC-C002-1D3D-BAC25559CE81}"/>
              </a:ext>
            </a:extLst>
          </p:cNvPr>
          <p:cNvSpPr txBox="1">
            <a:spLocks noChangeArrowheads="1"/>
          </p:cNvSpPr>
          <p:nvPr/>
        </p:nvSpPr>
        <p:spPr bwMode="auto">
          <a:xfrm>
            <a:off x="665163" y="3281363"/>
            <a:ext cx="1094422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just" eaLnBrk="1" hangingPunct="1">
              <a:lnSpc>
                <a:spcPct val="100000"/>
              </a:lnSpc>
              <a:spcBef>
                <a:spcPct val="0"/>
              </a:spcBef>
              <a:buClrTx/>
              <a:buSzTx/>
              <a:buFontTx/>
              <a:buNone/>
            </a:pPr>
            <a:r>
              <a:rPr lang="en-US" altLang="en-US"/>
              <a:t>The procedure to solve these problems was developed by Dr. John Von Neuman. It involves solving an associated problem called the </a:t>
            </a:r>
            <a:r>
              <a:rPr lang="en-US" altLang="en-US" b="1"/>
              <a:t>dual problem. </a:t>
            </a:r>
            <a:r>
              <a:rPr lang="en-US" altLang="en-US"/>
              <a:t>To every minimization problem there corresponds a dual problem. The solution of the dual problem is used to find the solution of the original problem. The dual problem is a maximization problem, which we learned to solve in the last section. We first solve the dual problem by the simplex method.</a:t>
            </a:r>
          </a:p>
          <a:p>
            <a:pPr algn="just" eaLnBrk="1" hangingPunct="1">
              <a:lnSpc>
                <a:spcPct val="100000"/>
              </a:lnSpc>
              <a:spcBef>
                <a:spcPct val="0"/>
              </a:spcBef>
              <a:buClrTx/>
              <a:buSzTx/>
              <a:buFontTx/>
              <a:buNone/>
            </a:pPr>
            <a:r>
              <a:rPr lang="en-US" altLang="en-US"/>
              <a:t>First learn to convert a minimization problem into its corresponding maximization problem called its </a:t>
            </a:r>
            <a:r>
              <a:rPr lang="en-US" altLang="en-US" b="1"/>
              <a:t>dual</a:t>
            </a:r>
            <a:r>
              <a:rPr lang="en-US" altLang="en-US"/>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Google Shape;192;p32" descr="KL Deemed to be University Logo">
            <a:extLst>
              <a:ext uri="{FF2B5EF4-FFF2-40B4-BE49-F238E27FC236}">
                <a16:creationId xmlns:a16="http://schemas.microsoft.com/office/drawing/2014/main" id="{49E12DE6-FEF0-39DE-D40D-47DEEA2A9E3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Google Shape;193;p32">
            <a:extLst>
              <a:ext uri="{FF2B5EF4-FFF2-40B4-BE49-F238E27FC236}">
                <a16:creationId xmlns:a16="http://schemas.microsoft.com/office/drawing/2014/main" id="{17ABBFB1-76C5-0E3C-B25C-6746D79CFBF9}"/>
              </a:ext>
            </a:extLst>
          </p:cNvPr>
          <p:cNvSpPr>
            <a:spLocks noChangeArrowheads="1"/>
          </p:cNvSpPr>
          <p:nvPr/>
        </p:nvSpPr>
        <p:spPr bwMode="auto">
          <a:xfrm>
            <a:off x="3046413" y="112713"/>
            <a:ext cx="5786437"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cs typeface="Calibri" panose="020F0502020204030204" pitchFamily="34" charset="0"/>
              </a:rPr>
              <a:t>Introducing Artificial Variable</a:t>
            </a:r>
          </a:p>
        </p:txBody>
      </p:sp>
      <p:pic>
        <p:nvPicPr>
          <p:cNvPr id="24580" name="Google Shape;194;p32" descr="KL Deemed to be University Logo">
            <a:extLst>
              <a:ext uri="{FF2B5EF4-FFF2-40B4-BE49-F238E27FC236}">
                <a16:creationId xmlns:a16="http://schemas.microsoft.com/office/drawing/2014/main" id="{B44D5AE0-B51B-47C4-6FDD-77C54851ED9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Google Shape;195;p32">
            <a:extLst>
              <a:ext uri="{FF2B5EF4-FFF2-40B4-BE49-F238E27FC236}">
                <a16:creationId xmlns:a16="http://schemas.microsoft.com/office/drawing/2014/main" id="{6CC1BED0-0106-6922-52DE-6B65D48CC67A}"/>
              </a:ext>
            </a:extLst>
          </p:cNvPr>
          <p:cNvSpPr txBox="1">
            <a:spLocks noChangeArrowheads="1"/>
          </p:cNvSpPr>
          <p:nvPr/>
        </p:nvSpPr>
        <p:spPr bwMode="auto">
          <a:xfrm>
            <a:off x="676275" y="1204913"/>
            <a:ext cx="11261725" cy="3298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914400" indent="-45720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buFont typeface="Gill Sans MT" panose="020B0502020104020203" pitchFamily="34" charset="0"/>
              <a:buAutoNum type="arabicPeriod"/>
            </a:pPr>
            <a:r>
              <a:rPr lang="en-US" altLang="en-US" sz="1600"/>
              <a:t>Set up the problem.</a:t>
            </a:r>
          </a:p>
          <a:p>
            <a:pPr>
              <a:buFont typeface="Gill Sans MT" panose="020B0502020104020203" pitchFamily="34" charset="0"/>
              <a:buAutoNum type="arabicPeriod"/>
            </a:pPr>
            <a:r>
              <a:rPr lang="en-US" altLang="en-US" sz="1600"/>
              <a:t>Write a matrix whose rows represent each constraint with the objective function as its bottom row.</a:t>
            </a:r>
          </a:p>
          <a:p>
            <a:pPr>
              <a:buFont typeface="Gill Sans MT" panose="020B0502020104020203" pitchFamily="34" charset="0"/>
              <a:buAutoNum type="arabicPeriod"/>
            </a:pPr>
            <a:r>
              <a:rPr lang="en-US" altLang="en-US" sz="1600"/>
              <a:t>Write the transpose of this matrix by interchanging the rows and columns.</a:t>
            </a:r>
          </a:p>
          <a:p>
            <a:pPr>
              <a:buFont typeface="Gill Sans MT" panose="020B0502020104020203" pitchFamily="34" charset="0"/>
              <a:buAutoNum type="arabicPeriod"/>
            </a:pPr>
            <a:r>
              <a:rPr lang="en-US" altLang="en-US" sz="1600"/>
              <a:t>Now write the dual problem associated with the transpose.</a:t>
            </a:r>
          </a:p>
          <a:p>
            <a:pPr>
              <a:buFont typeface="Gill Sans MT" panose="020B0502020104020203" pitchFamily="34" charset="0"/>
              <a:buAutoNum type="arabicPeriod"/>
            </a:pPr>
            <a:r>
              <a:rPr lang="en-US" altLang="en-US" sz="1600"/>
              <a:t>Solve the dual problem by the simplex</a:t>
            </a:r>
          </a:p>
          <a:p>
            <a:pPr>
              <a:buFont typeface="Gill Sans MT" panose="020B0502020104020203" pitchFamily="34" charset="0"/>
              <a:buAutoNum type="arabicPeriod"/>
            </a:pPr>
            <a:r>
              <a:rPr lang="en-US" altLang="en-US" sz="1600"/>
              <a:t>The optimal solution is found in the bottom row of the final matrix in the columns corresponding to the slack variables, and the minimum value of the objective function is the same as the maximum value of the dual.</a:t>
            </a:r>
          </a:p>
          <a:p>
            <a:pPr eaLnBrk="1" hangingPunct="1">
              <a:lnSpc>
                <a:spcPct val="100000"/>
              </a:lnSpc>
              <a:buFontTx/>
              <a:buNone/>
            </a:pPr>
            <a:endParaRPr lang="en-US" altLang="en-US" sz="1800"/>
          </a:p>
        </p:txBody>
      </p:sp>
      <p:pic>
        <p:nvPicPr>
          <p:cNvPr id="24582" name="Google Shape;196;p32">
            <a:extLst>
              <a:ext uri="{FF2B5EF4-FFF2-40B4-BE49-F238E27FC236}">
                <a16:creationId xmlns:a16="http://schemas.microsoft.com/office/drawing/2014/main" id="{49F26AB0-6799-912E-8A41-AC3CD06471A7}"/>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Slide Number Placeholder 3">
            <a:extLst>
              <a:ext uri="{FF2B5EF4-FFF2-40B4-BE49-F238E27FC236}">
                <a16:creationId xmlns:a16="http://schemas.microsoft.com/office/drawing/2014/main" id="{6B211503-FCFC-119E-60FC-475C3E747028}"/>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56FFE786-DD5F-425A-97B8-140B27C19CB4}" type="slidenum">
              <a:rPr lang="en-IN" altLang="en-US" sz="2200" smtClean="0">
                <a:solidFill>
                  <a:schemeClr val="accent1"/>
                </a:solidFill>
              </a:rPr>
              <a:pPr>
                <a:lnSpc>
                  <a:spcPct val="100000"/>
                </a:lnSpc>
                <a:spcBef>
                  <a:spcPct val="0"/>
                </a:spcBef>
                <a:buClrTx/>
                <a:buSzTx/>
                <a:buFontTx/>
                <a:buNone/>
              </a:pPr>
              <a:t>6</a:t>
            </a:fld>
            <a:endParaRPr lang="en-IN" altLang="en-US" sz="220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Google Shape;192;p32" descr="KL Deemed to be University Logo">
            <a:extLst>
              <a:ext uri="{FF2B5EF4-FFF2-40B4-BE49-F238E27FC236}">
                <a16:creationId xmlns:a16="http://schemas.microsoft.com/office/drawing/2014/main" id="{546CB2D3-9AEE-E455-D34A-AFED10F74FE5}"/>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Google Shape;193;p32">
            <a:extLst>
              <a:ext uri="{FF2B5EF4-FFF2-40B4-BE49-F238E27FC236}">
                <a16:creationId xmlns:a16="http://schemas.microsoft.com/office/drawing/2014/main" id="{346DC944-B9BA-0795-A576-FE59F412DD32}"/>
              </a:ext>
            </a:extLst>
          </p:cNvPr>
          <p:cNvSpPr>
            <a:spLocks noChangeArrowheads="1"/>
          </p:cNvSpPr>
          <p:nvPr/>
        </p:nvSpPr>
        <p:spPr bwMode="auto">
          <a:xfrm>
            <a:off x="3046413" y="112713"/>
            <a:ext cx="5786437"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1: Standard Form</a:t>
            </a:r>
          </a:p>
        </p:txBody>
      </p:sp>
      <p:pic>
        <p:nvPicPr>
          <p:cNvPr id="26628" name="Google Shape;194;p32" descr="KL Deemed to be University Logo">
            <a:extLst>
              <a:ext uri="{FF2B5EF4-FFF2-40B4-BE49-F238E27FC236}">
                <a16:creationId xmlns:a16="http://schemas.microsoft.com/office/drawing/2014/main" id="{B07CDD55-39DE-1EF8-39C2-9D73C5DBF31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Google Shape;195;p32">
            <a:extLst>
              <a:ext uri="{FF2B5EF4-FFF2-40B4-BE49-F238E27FC236}">
                <a16:creationId xmlns:a16="http://schemas.microsoft.com/office/drawing/2014/main" id="{02B413FB-2FC5-CB63-BBC5-C0E8BED46981}"/>
              </a:ext>
            </a:extLst>
          </p:cNvPr>
          <p:cNvSpPr txBox="1">
            <a:spLocks noChangeArrowheads="1"/>
          </p:cNvSpPr>
          <p:nvPr/>
        </p:nvSpPr>
        <p:spPr bwMode="auto">
          <a:xfrm>
            <a:off x="676275" y="1204913"/>
            <a:ext cx="6353175" cy="1416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914400" indent="-45720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Standard form has three requirements: </a:t>
            </a:r>
          </a:p>
          <a:p>
            <a:pPr lvl="1" eaLnBrk="1" hangingPunct="1">
              <a:lnSpc>
                <a:spcPct val="100000"/>
              </a:lnSpc>
              <a:spcBef>
                <a:spcPct val="0"/>
              </a:spcBef>
              <a:buClrTx/>
              <a:buSzTx/>
              <a:buFontTx/>
              <a:buAutoNum type="arabicPeriod"/>
            </a:pPr>
            <a:r>
              <a:rPr lang="en-US" altLang="en-US" sz="2000">
                <a:latin typeface="Times New Roman" panose="02020603050405020304" pitchFamily="18" charset="0"/>
                <a:cs typeface="Times New Roman" panose="02020603050405020304" pitchFamily="18" charset="0"/>
              </a:rPr>
              <a:t>must be a maximization problem </a:t>
            </a:r>
          </a:p>
          <a:p>
            <a:pPr lvl="1" eaLnBrk="1" hangingPunct="1">
              <a:lnSpc>
                <a:spcPct val="100000"/>
              </a:lnSpc>
              <a:spcBef>
                <a:spcPct val="0"/>
              </a:spcBef>
              <a:buClrTx/>
              <a:buSzTx/>
              <a:buFontTx/>
              <a:buAutoNum type="arabicPeriod"/>
            </a:pPr>
            <a:r>
              <a:rPr lang="en-US" altLang="en-US" sz="2000">
                <a:latin typeface="Times New Roman" panose="02020603050405020304" pitchFamily="18" charset="0"/>
                <a:cs typeface="Times New Roman" panose="02020603050405020304" pitchFamily="18" charset="0"/>
              </a:rPr>
              <a:t>all linear constraints must be in a &lt;= inequality</a:t>
            </a:r>
          </a:p>
          <a:p>
            <a:pPr lvl="1" eaLnBrk="1" hangingPunct="1">
              <a:lnSpc>
                <a:spcPct val="100000"/>
              </a:lnSpc>
              <a:spcBef>
                <a:spcPct val="0"/>
              </a:spcBef>
              <a:buClrTx/>
              <a:buSzTx/>
              <a:buFontTx/>
              <a:buAutoNum type="arabicPeriod"/>
            </a:pPr>
            <a:r>
              <a:rPr lang="en-US" altLang="en-US" sz="2000">
                <a:latin typeface="Times New Roman" panose="02020603050405020304" pitchFamily="18" charset="0"/>
                <a:cs typeface="Times New Roman" panose="02020603050405020304" pitchFamily="18" charset="0"/>
              </a:rPr>
              <a:t>all variables are non-negative</a:t>
            </a:r>
          </a:p>
        </p:txBody>
      </p:sp>
      <p:pic>
        <p:nvPicPr>
          <p:cNvPr id="26630" name="Google Shape;196;p32">
            <a:extLst>
              <a:ext uri="{FF2B5EF4-FFF2-40B4-BE49-F238E27FC236}">
                <a16:creationId xmlns:a16="http://schemas.microsoft.com/office/drawing/2014/main" id="{068FD6C9-6621-A5E9-EF55-57AB0B22DBA7}"/>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Slide Number Placeholder 3">
            <a:extLst>
              <a:ext uri="{FF2B5EF4-FFF2-40B4-BE49-F238E27FC236}">
                <a16:creationId xmlns:a16="http://schemas.microsoft.com/office/drawing/2014/main" id="{1063DAA6-73E6-E489-A9E8-7DC13A4126BC}"/>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D45D39E5-7857-49F6-A57D-A0738619D5B5}" type="slidenum">
              <a:rPr lang="en-IN" altLang="en-US" sz="2200" smtClean="0">
                <a:solidFill>
                  <a:schemeClr val="accent1"/>
                </a:solidFill>
              </a:rPr>
              <a:pPr>
                <a:lnSpc>
                  <a:spcPct val="100000"/>
                </a:lnSpc>
                <a:spcBef>
                  <a:spcPct val="0"/>
                </a:spcBef>
                <a:buClrTx/>
                <a:buSzTx/>
                <a:buFontTx/>
                <a:buNone/>
              </a:pPr>
              <a:t>7</a:t>
            </a:fld>
            <a:endParaRPr lang="en-IN" altLang="en-US" sz="2200">
              <a:solidFill>
                <a:schemeClr val="accent1"/>
              </a:solidFill>
            </a:endParaRPr>
          </a:p>
        </p:txBody>
      </p:sp>
      <p:pic>
        <p:nvPicPr>
          <p:cNvPr id="26632" name="Picture 3">
            <a:extLst>
              <a:ext uri="{FF2B5EF4-FFF2-40B4-BE49-F238E27FC236}">
                <a16:creationId xmlns:a16="http://schemas.microsoft.com/office/drawing/2014/main" id="{82548ADA-E0B2-3D34-EB4A-32E6DF66EE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2288" y="1204913"/>
            <a:ext cx="3906837"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3" name="TextBox 3">
            <a:extLst>
              <a:ext uri="{FF2B5EF4-FFF2-40B4-BE49-F238E27FC236}">
                <a16:creationId xmlns:a16="http://schemas.microsoft.com/office/drawing/2014/main" id="{FF80A803-595D-81A5-EDBF-1667822BBC3D}"/>
              </a:ext>
            </a:extLst>
          </p:cNvPr>
          <p:cNvSpPr txBox="1">
            <a:spLocks noChangeArrowheads="1"/>
          </p:cNvSpPr>
          <p:nvPr/>
        </p:nvSpPr>
        <p:spPr bwMode="auto">
          <a:xfrm>
            <a:off x="681038" y="3089275"/>
            <a:ext cx="6648450" cy="1323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The given problem is to minimize –Z. To satisfy requirement 1, let us transform the minimization problem into a maximization problem, by multiplying both the left and the right sides of the objective function by –1.</a:t>
            </a:r>
          </a:p>
        </p:txBody>
      </p:sp>
      <p:pic>
        <p:nvPicPr>
          <p:cNvPr id="26634" name="Picture 5">
            <a:extLst>
              <a:ext uri="{FF2B5EF4-FFF2-40B4-BE49-F238E27FC236}">
                <a16:creationId xmlns:a16="http://schemas.microsoft.com/office/drawing/2014/main" id="{1E937FDE-DD48-9F0F-9953-E65D2C7635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6750" y="3190875"/>
            <a:ext cx="36322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5" name="TextBox 5">
            <a:extLst>
              <a:ext uri="{FF2B5EF4-FFF2-40B4-BE49-F238E27FC236}">
                <a16:creationId xmlns:a16="http://schemas.microsoft.com/office/drawing/2014/main" id="{3E8BF3B0-3FDF-520A-E5C7-A02EFB5F6B98}"/>
              </a:ext>
            </a:extLst>
          </p:cNvPr>
          <p:cNvSpPr txBox="1">
            <a:spLocks noChangeArrowheads="1"/>
          </p:cNvSpPr>
          <p:nvPr/>
        </p:nvSpPr>
        <p:spPr bwMode="auto">
          <a:xfrm>
            <a:off x="698500" y="4960938"/>
            <a:ext cx="6643688"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Similarly, let us transform the &gt;= constraint to &lt;= constraint by multiplying both sides of the constraint by –1.</a:t>
            </a:r>
          </a:p>
        </p:txBody>
      </p:sp>
      <p:pic>
        <p:nvPicPr>
          <p:cNvPr id="26636" name="Picture 7">
            <a:extLst>
              <a:ext uri="{FF2B5EF4-FFF2-40B4-BE49-F238E27FC236}">
                <a16:creationId xmlns:a16="http://schemas.microsoft.com/office/drawing/2014/main" id="{2C679CF5-6A1F-0453-3482-C82A9BA016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6763" y="5067300"/>
            <a:ext cx="352425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Google Shape;192;p32" descr="KL Deemed to be University Logo">
            <a:extLst>
              <a:ext uri="{FF2B5EF4-FFF2-40B4-BE49-F238E27FC236}">
                <a16:creationId xmlns:a16="http://schemas.microsoft.com/office/drawing/2014/main" id="{A9BB0BC9-8812-239E-B075-67FEF782476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Google Shape;193;p32">
            <a:extLst>
              <a:ext uri="{FF2B5EF4-FFF2-40B4-BE49-F238E27FC236}">
                <a16:creationId xmlns:a16="http://schemas.microsoft.com/office/drawing/2014/main" id="{C6254A44-784C-A9C5-0325-BCFB85BA9429}"/>
              </a:ext>
            </a:extLst>
          </p:cNvPr>
          <p:cNvSpPr>
            <a:spLocks noChangeArrowheads="1"/>
          </p:cNvSpPr>
          <p:nvPr/>
        </p:nvSpPr>
        <p:spPr bwMode="auto">
          <a:xfrm>
            <a:off x="3046413" y="112713"/>
            <a:ext cx="5786437"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2: Slack variables</a:t>
            </a:r>
          </a:p>
        </p:txBody>
      </p:sp>
      <p:pic>
        <p:nvPicPr>
          <p:cNvPr id="28676" name="Google Shape;194;p32" descr="KL Deemed to be University Logo">
            <a:extLst>
              <a:ext uri="{FF2B5EF4-FFF2-40B4-BE49-F238E27FC236}">
                <a16:creationId xmlns:a16="http://schemas.microsoft.com/office/drawing/2014/main" id="{EC4A28CF-AEA0-EBC5-44DE-6FE20C2D158E}"/>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Google Shape;195;p32">
            <a:extLst>
              <a:ext uri="{FF2B5EF4-FFF2-40B4-BE49-F238E27FC236}">
                <a16:creationId xmlns:a16="http://schemas.microsoft.com/office/drawing/2014/main" id="{6F6E2F34-5F1E-E892-4605-FE091AA16D49}"/>
              </a:ext>
            </a:extLst>
          </p:cNvPr>
          <p:cNvSpPr txBox="1">
            <a:spLocks noChangeArrowheads="1"/>
          </p:cNvSpPr>
          <p:nvPr/>
        </p:nvSpPr>
        <p:spPr bwMode="auto">
          <a:xfrm>
            <a:off x="687388" y="1204913"/>
            <a:ext cx="6024562" cy="3262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b="1">
                <a:latin typeface="Tahoma" panose="020B0604030504040204" pitchFamily="34" charset="0"/>
                <a:cs typeface="Tahoma" panose="020B0604030504040204" pitchFamily="34" charset="0"/>
              </a:rPr>
              <a:t>Convert the &lt;= inequalities into equations</a:t>
            </a:r>
            <a:endParaRPr lang="en-US" altLang="en-US" sz="1600"/>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by adding one slack variable for each inequality. </a:t>
            </a:r>
          </a:p>
          <a:p>
            <a:pPr eaLnBrk="1" hangingPunct="1">
              <a:lnSpc>
                <a:spcPct val="100000"/>
              </a:lnSpc>
              <a:spcBef>
                <a:spcPct val="0"/>
              </a:spcBef>
              <a:buClrTx/>
              <a:buSzTx/>
              <a:buFontTx/>
              <a:buNone/>
            </a:pPr>
            <a:endParaRPr lang="en-US" altLang="en-US">
              <a:latin typeface="Times New Roman" panose="02020603050405020304" pitchFamily="18" charset="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Slack variables are needed in the constraints to transform them into solvable equalities with one definite answer.</a:t>
            </a:r>
          </a:p>
          <a:p>
            <a:pPr eaLnBrk="1" hangingPunct="1">
              <a:lnSpc>
                <a:spcPct val="100000"/>
              </a:lnSpc>
              <a:spcBef>
                <a:spcPct val="0"/>
              </a:spcBef>
              <a:buClrTx/>
              <a:buSzTx/>
              <a:buFontTx/>
              <a:buNone/>
            </a:pPr>
            <a:endParaRPr lang="en-US" altLang="en-US">
              <a:latin typeface="Times New Roman" panose="02020603050405020304" pitchFamily="18" charset="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The variable </a:t>
            </a:r>
            <a:r>
              <a:rPr lang="en-US" altLang="en-US" b="1">
                <a:solidFill>
                  <a:srgbClr val="FF0000"/>
                </a:solidFill>
                <a:latin typeface="Times New Roman" panose="02020603050405020304" pitchFamily="18" charset="0"/>
                <a:cs typeface="Times New Roman" panose="02020603050405020304" pitchFamily="18" charset="0"/>
              </a:rPr>
              <a:t>s</a:t>
            </a:r>
            <a:r>
              <a:rPr lang="en-US" altLang="en-US" b="1" baseline="-25000">
                <a:solidFill>
                  <a:srgbClr val="FF0000"/>
                </a:solidFill>
                <a:latin typeface="Times New Roman" panose="02020603050405020304" pitchFamily="18" charset="0"/>
                <a:cs typeface="Times New Roman" panose="02020603050405020304" pitchFamily="18" charset="0"/>
              </a:rPr>
              <a:t>1</a:t>
            </a:r>
            <a:r>
              <a:rPr lang="en-US" altLang="en-US">
                <a:latin typeface="Times New Roman" panose="02020603050405020304" pitchFamily="18" charset="0"/>
                <a:cs typeface="Times New Roman" panose="02020603050405020304" pitchFamily="18" charset="0"/>
              </a:rPr>
              <a:t> represents the amount (slack) by which</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x</a:t>
            </a:r>
            <a:r>
              <a:rPr lang="en-US" altLang="en-US" baseline="-25000">
                <a:latin typeface="Times New Roman" panose="02020603050405020304" pitchFamily="18" charset="0"/>
                <a:cs typeface="Times New Roman" panose="02020603050405020304" pitchFamily="18" charset="0"/>
              </a:rPr>
              <a:t>1</a:t>
            </a:r>
            <a:r>
              <a:rPr lang="en-US" altLang="en-US">
                <a:latin typeface="Times New Roman" panose="02020603050405020304" pitchFamily="18" charset="0"/>
                <a:cs typeface="Times New Roman" panose="02020603050405020304" pitchFamily="18" charset="0"/>
              </a:rPr>
              <a:t> + 3x</a:t>
            </a:r>
            <a:r>
              <a:rPr lang="en-US" altLang="en-US" baseline="-25000">
                <a:latin typeface="Times New Roman" panose="02020603050405020304" pitchFamily="18" charset="0"/>
                <a:cs typeface="Times New Roman" panose="02020603050405020304" pitchFamily="18" charset="0"/>
              </a:rPr>
              <a:t>2</a:t>
            </a:r>
            <a:r>
              <a:rPr lang="en-US" altLang="en-US">
                <a:latin typeface="Times New Roman" panose="02020603050405020304" pitchFamily="18" charset="0"/>
                <a:cs typeface="Times New Roman" panose="02020603050405020304" pitchFamily="18" charset="0"/>
              </a:rPr>
              <a:t> + 2x</a:t>
            </a:r>
            <a:r>
              <a:rPr lang="en-US" altLang="en-US" baseline="-25000">
                <a:latin typeface="Times New Roman" panose="02020603050405020304" pitchFamily="18" charset="0"/>
                <a:cs typeface="Times New Roman" panose="02020603050405020304" pitchFamily="18" charset="0"/>
              </a:rPr>
              <a:t>3</a:t>
            </a:r>
            <a:r>
              <a:rPr lang="en-US" altLang="en-US">
                <a:latin typeface="Times New Roman" panose="02020603050405020304" pitchFamily="18" charset="0"/>
                <a:cs typeface="Times New Roman" panose="02020603050405020304" pitchFamily="18" charset="0"/>
              </a:rPr>
              <a:t> falls short of 10.</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Similarly, </a:t>
            </a:r>
            <a:r>
              <a:rPr lang="en-US" altLang="en-US" b="1">
                <a:solidFill>
                  <a:srgbClr val="FF0000"/>
                </a:solidFill>
                <a:latin typeface="Times New Roman" panose="02020603050405020304" pitchFamily="18" charset="0"/>
                <a:cs typeface="Times New Roman" panose="02020603050405020304" pitchFamily="18" charset="0"/>
              </a:rPr>
              <a:t>s</a:t>
            </a:r>
            <a:r>
              <a:rPr lang="en-US" altLang="en-US" sz="1300" b="1" baseline="-25000">
                <a:solidFill>
                  <a:srgbClr val="FF0000"/>
                </a:solidFill>
                <a:latin typeface="Times New Roman" panose="02020603050405020304" pitchFamily="18" charset="0"/>
                <a:cs typeface="Times New Roman" panose="02020603050405020304" pitchFamily="18" charset="0"/>
              </a:rPr>
              <a:t>2</a:t>
            </a:r>
            <a:r>
              <a:rPr lang="en-US" altLang="en-US">
                <a:latin typeface="Times New Roman" panose="02020603050405020304" pitchFamily="18" charset="0"/>
                <a:cs typeface="Times New Roman" panose="02020603050405020304" pitchFamily="18" charset="0"/>
              </a:rPr>
              <a:t> represents the amount (slack) by which</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x</a:t>
            </a:r>
            <a:r>
              <a:rPr lang="en-US" altLang="en-US" sz="1300" baseline="-25000">
                <a:latin typeface="Times New Roman" panose="02020603050405020304" pitchFamily="18" charset="0"/>
                <a:cs typeface="Times New Roman" panose="02020603050405020304" pitchFamily="18" charset="0"/>
              </a:rPr>
              <a:t>1</a:t>
            </a:r>
            <a:r>
              <a:rPr lang="en-US" altLang="en-US">
                <a:latin typeface="Times New Roman" panose="02020603050405020304" pitchFamily="18" charset="0"/>
                <a:cs typeface="Times New Roman" panose="02020603050405020304" pitchFamily="18" charset="0"/>
              </a:rPr>
              <a:t> + 5x</a:t>
            </a:r>
            <a:r>
              <a:rPr lang="en-US" altLang="en-US" sz="1300" baseline="-25000">
                <a:latin typeface="Times New Roman" panose="02020603050405020304" pitchFamily="18" charset="0"/>
                <a:cs typeface="Times New Roman" panose="02020603050405020304" pitchFamily="18" charset="0"/>
              </a:rPr>
              <a:t>2</a:t>
            </a:r>
            <a:r>
              <a:rPr lang="en-US" altLang="en-US">
                <a:latin typeface="Times New Roman" panose="02020603050405020304" pitchFamily="18" charset="0"/>
                <a:cs typeface="Times New Roman" panose="02020603050405020304" pitchFamily="18" charset="0"/>
              </a:rPr>
              <a:t> + x</a:t>
            </a:r>
            <a:r>
              <a:rPr lang="en-US" altLang="en-US" sz="1300" baseline="-25000">
                <a:latin typeface="Times New Roman" panose="02020603050405020304" pitchFamily="18" charset="0"/>
                <a:cs typeface="Times New Roman" panose="02020603050405020304" pitchFamily="18" charset="0"/>
              </a:rPr>
              <a:t>3</a:t>
            </a:r>
            <a:r>
              <a:rPr lang="en-US" altLang="en-US">
                <a:latin typeface="Times New Roman" panose="02020603050405020304" pitchFamily="18" charset="0"/>
                <a:cs typeface="Times New Roman" panose="02020603050405020304" pitchFamily="18" charset="0"/>
              </a:rPr>
              <a:t> falls short of 8.</a:t>
            </a:r>
            <a:endParaRPr lang="en-US" altLang="en-US" sz="1800"/>
          </a:p>
        </p:txBody>
      </p:sp>
      <p:pic>
        <p:nvPicPr>
          <p:cNvPr id="28678" name="Google Shape;196;p32">
            <a:extLst>
              <a:ext uri="{FF2B5EF4-FFF2-40B4-BE49-F238E27FC236}">
                <a16:creationId xmlns:a16="http://schemas.microsoft.com/office/drawing/2014/main" id="{EFDA71A4-2850-6F9E-F5A5-968338685570}"/>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Slide Number Placeholder 3">
            <a:extLst>
              <a:ext uri="{FF2B5EF4-FFF2-40B4-BE49-F238E27FC236}">
                <a16:creationId xmlns:a16="http://schemas.microsoft.com/office/drawing/2014/main" id="{DF964933-FFA0-4600-8230-E6680F2D105C}"/>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2822A86C-1EA4-4384-9E59-0CD62B65A6B9}" type="slidenum">
              <a:rPr lang="en-IN" altLang="en-US" sz="2200" smtClean="0">
                <a:solidFill>
                  <a:schemeClr val="accent1"/>
                </a:solidFill>
              </a:rPr>
              <a:pPr>
                <a:lnSpc>
                  <a:spcPct val="100000"/>
                </a:lnSpc>
                <a:spcBef>
                  <a:spcPct val="0"/>
                </a:spcBef>
                <a:buClrTx/>
                <a:buSzTx/>
                <a:buFontTx/>
                <a:buNone/>
              </a:pPr>
              <a:t>8</a:t>
            </a:fld>
            <a:endParaRPr lang="en-IN" altLang="en-US" sz="2200">
              <a:solidFill>
                <a:schemeClr val="accent1"/>
              </a:solidFill>
            </a:endParaRPr>
          </a:p>
        </p:txBody>
      </p:sp>
      <p:pic>
        <p:nvPicPr>
          <p:cNvPr id="28680" name="Picture 4">
            <a:extLst>
              <a:ext uri="{FF2B5EF4-FFF2-40B4-BE49-F238E27FC236}">
                <a16:creationId xmlns:a16="http://schemas.microsoft.com/office/drawing/2014/main" id="{3F035D0A-3368-0D87-4791-7FDA9F9BC6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4638" y="1279525"/>
            <a:ext cx="3630612"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Google Shape;192;p32" descr="KL Deemed to be University Logo">
            <a:extLst>
              <a:ext uri="{FF2B5EF4-FFF2-40B4-BE49-F238E27FC236}">
                <a16:creationId xmlns:a16="http://schemas.microsoft.com/office/drawing/2014/main" id="{6C252213-E2A6-EBE6-B261-3771F50C4B2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 name="Google Shape;193;p32">
            <a:extLst>
              <a:ext uri="{FF2B5EF4-FFF2-40B4-BE49-F238E27FC236}">
                <a16:creationId xmlns:a16="http://schemas.microsoft.com/office/drawing/2014/main" id="{D51CB68B-C59D-38FA-2B1C-2D49005A39D5}"/>
              </a:ext>
            </a:extLst>
          </p:cNvPr>
          <p:cNvSpPr/>
          <p:nvPr/>
        </p:nvSpPr>
        <p:spPr>
          <a:xfrm>
            <a:off x="1895475" y="112713"/>
            <a:ext cx="8974138" cy="606425"/>
          </a:xfrm>
          <a:prstGeom prst="rect">
            <a:avLst/>
          </a:prstGeom>
          <a:solidFill>
            <a:schemeClr val="lt1"/>
          </a:solidFill>
          <a:ln w="25400" cap="flat" cmpd="sng">
            <a:solidFill>
              <a:schemeClr val="accent2"/>
            </a:solidFill>
            <a:prstDash val="solid"/>
            <a:round/>
            <a:headEnd type="none" w="sm" len="sm"/>
            <a:tailEnd type="none" w="sm" len="sm"/>
          </a:ln>
        </p:spPr>
        <p:txBody>
          <a:bodyPr spcFirstLastPara="1" lIns="91425" tIns="45700" rIns="91425" bIns="45700"/>
          <a:lstStyle/>
          <a:p>
            <a:pPr algn="ctr" eaLnBrk="1" fontAlgn="auto" hangingPunct="1">
              <a:spcBef>
                <a:spcPts val="0"/>
              </a:spcBef>
              <a:spcAft>
                <a:spcPts val="0"/>
              </a:spcAft>
              <a:defRPr/>
            </a:pPr>
            <a:r>
              <a:rPr lang="en-US" sz="3200" b="1" dirty="0">
                <a:solidFill>
                  <a:srgbClr val="FF0000"/>
                </a:solidFill>
                <a:latin typeface="Calibri"/>
                <a:ea typeface="Arial"/>
                <a:cs typeface="Calibri"/>
              </a:rPr>
              <a:t>Step 3: Set up the initial Tableau:</a:t>
            </a:r>
            <a:r>
              <a:rPr lang="en-US" sz="3200" b="1" dirty="0">
                <a:solidFill>
                  <a:schemeClr val="accent3"/>
                </a:solidFill>
                <a:latin typeface="Calibri"/>
                <a:ea typeface="Arial"/>
                <a:cs typeface="Calibri"/>
              </a:rPr>
              <a:t> preparation</a:t>
            </a:r>
          </a:p>
        </p:txBody>
      </p:sp>
      <p:pic>
        <p:nvPicPr>
          <p:cNvPr id="30724" name="Google Shape;194;p32" descr="KL Deemed to be University Logo">
            <a:extLst>
              <a:ext uri="{FF2B5EF4-FFF2-40B4-BE49-F238E27FC236}">
                <a16:creationId xmlns:a16="http://schemas.microsoft.com/office/drawing/2014/main" id="{8097B176-7BED-73CA-6CC3-998B20A95D55}"/>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Google Shape;195;p32">
            <a:extLst>
              <a:ext uri="{FF2B5EF4-FFF2-40B4-BE49-F238E27FC236}">
                <a16:creationId xmlns:a16="http://schemas.microsoft.com/office/drawing/2014/main" id="{ACC72F01-28E9-CD9C-577C-F4B3D953AFCE}"/>
              </a:ext>
            </a:extLst>
          </p:cNvPr>
          <p:cNvSpPr txBox="1">
            <a:spLocks noChangeArrowheads="1"/>
          </p:cNvSpPr>
          <p:nvPr/>
        </p:nvSpPr>
        <p:spPr bwMode="auto">
          <a:xfrm>
            <a:off x="468313" y="1123950"/>
            <a:ext cx="6035675" cy="1416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800100" indent="-34290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A Simplex tableau is used </a:t>
            </a:r>
            <a:endParaRPr lang="en-US" altLang="en-US" sz="1800">
              <a:cs typeface="Times New Roman" panose="02020603050405020304" pitchFamily="18" charset="0"/>
            </a:endParaRPr>
          </a:p>
          <a:p>
            <a:pPr lvl="1" eaLnBrk="1" hangingPunct="1">
              <a:lnSpc>
                <a:spcPct val="100000"/>
              </a:lnSpc>
              <a:spcBef>
                <a:spcPct val="0"/>
              </a:spcBef>
              <a:buClrTx/>
              <a:buSzTx/>
            </a:pPr>
            <a:r>
              <a:rPr lang="en-US" altLang="en-US" sz="2000">
                <a:latin typeface="Times New Roman" panose="02020603050405020304" pitchFamily="18" charset="0"/>
                <a:cs typeface="Times New Roman" panose="02020603050405020304" pitchFamily="18" charset="0"/>
              </a:rPr>
              <a:t>to perform row operations on the LP model, and</a:t>
            </a:r>
            <a:endParaRPr lang="en-US" altLang="en-US">
              <a:cs typeface="Times New Roman" panose="02020603050405020304" pitchFamily="18" charset="0"/>
            </a:endParaRPr>
          </a:p>
          <a:p>
            <a:pPr lvl="1" eaLnBrk="1" hangingPunct="1">
              <a:lnSpc>
                <a:spcPct val="100000"/>
              </a:lnSpc>
              <a:spcBef>
                <a:spcPct val="0"/>
              </a:spcBef>
              <a:buClrTx/>
              <a:buSzTx/>
            </a:pPr>
            <a:r>
              <a:rPr lang="en-US" altLang="en-US" sz="2000">
                <a:latin typeface="Times New Roman" panose="02020603050405020304" pitchFamily="18" charset="0"/>
                <a:cs typeface="Times New Roman" panose="02020603050405020304" pitchFamily="18" charset="0"/>
              </a:rPr>
              <a:t>to check a solution for optimality. </a:t>
            </a:r>
            <a:endParaRPr lang="en-US" altLang="en-US"/>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The current LP model is shown on the right. </a:t>
            </a:r>
            <a:endParaRPr lang="en-US" altLang="en-US" sz="1200">
              <a:latin typeface="Roboto" panose="02000000000000000000" pitchFamily="2" charset="0"/>
              <a:ea typeface="Roboto" panose="02000000000000000000" pitchFamily="2" charset="0"/>
              <a:cs typeface="Roboto" panose="02000000000000000000" pitchFamily="2" charset="0"/>
            </a:endParaRPr>
          </a:p>
        </p:txBody>
      </p:sp>
      <p:pic>
        <p:nvPicPr>
          <p:cNvPr id="30726" name="Google Shape;196;p32">
            <a:extLst>
              <a:ext uri="{FF2B5EF4-FFF2-40B4-BE49-F238E27FC236}">
                <a16:creationId xmlns:a16="http://schemas.microsoft.com/office/drawing/2014/main" id="{CF1F5A73-D20F-E056-D35A-7B75A441ABD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Slide Number Placeholder 3">
            <a:extLst>
              <a:ext uri="{FF2B5EF4-FFF2-40B4-BE49-F238E27FC236}">
                <a16:creationId xmlns:a16="http://schemas.microsoft.com/office/drawing/2014/main" id="{A2CBAA42-1C3C-5A1A-96AA-F96A3375CA40}"/>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75B8B1DB-4BF9-4A24-B47E-11F5A2CED957}" type="slidenum">
              <a:rPr lang="en-IN" altLang="en-US" sz="2200" smtClean="0">
                <a:solidFill>
                  <a:schemeClr val="accent1"/>
                </a:solidFill>
              </a:rPr>
              <a:pPr>
                <a:lnSpc>
                  <a:spcPct val="100000"/>
                </a:lnSpc>
                <a:spcBef>
                  <a:spcPct val="0"/>
                </a:spcBef>
                <a:buClrTx/>
                <a:buSzTx/>
                <a:buFontTx/>
                <a:buNone/>
              </a:pPr>
              <a:t>9</a:t>
            </a:fld>
            <a:endParaRPr lang="en-IN" altLang="en-US" sz="2200">
              <a:solidFill>
                <a:schemeClr val="accent1"/>
              </a:solidFill>
            </a:endParaRPr>
          </a:p>
        </p:txBody>
      </p:sp>
      <p:pic>
        <p:nvPicPr>
          <p:cNvPr id="30728" name="Picture 4">
            <a:extLst>
              <a:ext uri="{FF2B5EF4-FFF2-40B4-BE49-F238E27FC236}">
                <a16:creationId xmlns:a16="http://schemas.microsoft.com/office/drawing/2014/main" id="{B06E47DD-D513-E49E-C056-1AC493F223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2288" y="1225550"/>
            <a:ext cx="48212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9" name="TextBox 5">
            <a:extLst>
              <a:ext uri="{FF2B5EF4-FFF2-40B4-BE49-F238E27FC236}">
                <a16:creationId xmlns:a16="http://schemas.microsoft.com/office/drawing/2014/main" id="{650C0C32-7D8E-C7CB-37B6-1979533A0081}"/>
              </a:ext>
            </a:extLst>
          </p:cNvPr>
          <p:cNvSpPr txBox="1">
            <a:spLocks noChangeArrowheads="1"/>
          </p:cNvSpPr>
          <p:nvPr/>
        </p:nvSpPr>
        <p:spPr bwMode="auto">
          <a:xfrm>
            <a:off x="6597650" y="3429000"/>
            <a:ext cx="524510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2800">
                <a:ea typeface="Gill Sans MT" panose="020B0502020104020203" pitchFamily="34" charset="0"/>
                <a:cs typeface="Gill Sans MT" panose="020B0502020104020203" pitchFamily="34" charset="0"/>
              </a:rPr>
              <a:t> 8</a:t>
            </a:r>
            <a:r>
              <a:rPr lang="en-US" altLang="en-US" sz="2400">
                <a:ea typeface="Gill Sans MT" panose="020B0502020104020203" pitchFamily="34" charset="0"/>
                <a:cs typeface="Gill Sans MT" panose="020B0502020104020203" pitchFamily="34" charset="0"/>
              </a:rPr>
              <a:t>x</a:t>
            </a:r>
            <a:r>
              <a:rPr lang="en-US" altLang="en-US" sz="24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+10x</a:t>
            </a:r>
            <a:r>
              <a:rPr lang="en-US" altLang="en-US" sz="24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+7x</a:t>
            </a:r>
            <a:r>
              <a:rPr lang="en-US" altLang="en-US" sz="2400" baseline="-25000">
                <a:ea typeface="Gill Sans MT" panose="020B0502020104020203" pitchFamily="34" charset="0"/>
                <a:cs typeface="Gill Sans MT" panose="020B0502020104020203" pitchFamily="34" charset="0"/>
              </a:rPr>
              <a:t>3</a:t>
            </a:r>
            <a:r>
              <a:rPr lang="en-US" altLang="en-US" sz="2400">
                <a:ea typeface="Gill Sans MT" panose="020B0502020104020203" pitchFamily="34" charset="0"/>
                <a:cs typeface="Gill Sans MT" panose="020B0502020104020203" pitchFamily="34" charset="0"/>
              </a:rPr>
              <a:t> </a:t>
            </a:r>
            <a:r>
              <a:rPr lang="en-US" altLang="en-US" sz="2800">
                <a:ea typeface="Gill Sans MT" panose="020B0502020104020203" pitchFamily="34" charset="0"/>
                <a:cs typeface="Gill Sans MT" panose="020B0502020104020203" pitchFamily="34" charset="0"/>
              </a:rPr>
              <a:t> +0s</a:t>
            </a:r>
            <a:r>
              <a:rPr lang="en-US" altLang="en-US" sz="24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+0s</a:t>
            </a:r>
            <a:r>
              <a:rPr lang="en-US" altLang="en-US" sz="24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 z</a:t>
            </a:r>
            <a:endParaRPr lang="en-US" altLang="en-US" sz="1800">
              <a:ea typeface="Gill Sans MT" panose="020B0502020104020203" pitchFamily="34" charset="0"/>
              <a:cs typeface="Gill Sans MT" panose="020B0502020104020203" pitchFamily="34" charset="0"/>
            </a:endParaRPr>
          </a:p>
          <a:p>
            <a:pPr eaLnBrk="1" hangingPunct="1">
              <a:lnSpc>
                <a:spcPct val="100000"/>
              </a:lnSpc>
              <a:spcBef>
                <a:spcPct val="0"/>
              </a:spcBef>
              <a:buClrTx/>
              <a:buSzTx/>
              <a:buFontTx/>
              <a:buNone/>
            </a:pPr>
            <a:r>
              <a:rPr lang="en-US" altLang="en-US" sz="2800">
                <a:latin typeface="Times New Roman" panose="02020603050405020304" pitchFamily="18" charset="0"/>
                <a:ea typeface="Gill Sans MT" panose="020B0502020104020203" pitchFamily="34" charset="0"/>
                <a:cs typeface="Times New Roman" panose="02020603050405020304" pitchFamily="18" charset="0"/>
              </a:rPr>
              <a:t> 1</a:t>
            </a:r>
            <a:r>
              <a:rPr lang="en-US" altLang="en-US" sz="2800">
                <a:ea typeface="Gill Sans MT" panose="020B0502020104020203" pitchFamily="34" charset="0"/>
                <a:cs typeface="Gill Sans MT" panose="020B0502020104020203" pitchFamily="34" charset="0"/>
              </a:rPr>
              <a:t>x</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+3x</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+2x</a:t>
            </a:r>
            <a:r>
              <a:rPr lang="en-US" altLang="en-US" sz="1900" baseline="-25000">
                <a:ea typeface="Gill Sans MT" panose="020B0502020104020203" pitchFamily="34" charset="0"/>
                <a:cs typeface="Gill Sans MT" panose="020B0502020104020203" pitchFamily="34" charset="0"/>
              </a:rPr>
              <a:t>3</a:t>
            </a:r>
            <a:r>
              <a:rPr lang="en-US" altLang="en-US" sz="2800">
                <a:ea typeface="Gill Sans MT" panose="020B0502020104020203" pitchFamily="34" charset="0"/>
                <a:cs typeface="Gill Sans MT" panose="020B0502020104020203" pitchFamily="34" charset="0"/>
              </a:rPr>
              <a:t>  +</a:t>
            </a:r>
            <a:r>
              <a:rPr lang="en-US" altLang="en-US" sz="2800">
                <a:latin typeface="Times New Roman" panose="02020603050405020304" pitchFamily="18" charset="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s</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+0s</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 10</a:t>
            </a:r>
            <a:endParaRPr lang="en-US" altLang="en-US" sz="1800"/>
          </a:p>
          <a:p>
            <a:pPr eaLnBrk="1" hangingPunct="1">
              <a:lnSpc>
                <a:spcPct val="100000"/>
              </a:lnSpc>
              <a:spcBef>
                <a:spcPct val="0"/>
              </a:spcBef>
              <a:buClrTx/>
              <a:buSzTx/>
              <a:buFontTx/>
              <a:buNone/>
            </a:pPr>
            <a:r>
              <a:rPr lang="en-US" altLang="en-US" sz="2800">
                <a:latin typeface="Times New Roman" panose="02020603050405020304" pitchFamily="18" charset="0"/>
                <a:ea typeface="Gill Sans MT" panose="020B0502020104020203" pitchFamily="34" charset="0"/>
                <a:cs typeface="Gill Sans MT" panose="020B0502020104020203" pitchFamily="34" charset="0"/>
              </a:rPr>
              <a:t> 1</a:t>
            </a:r>
            <a:r>
              <a:rPr lang="en-US" altLang="en-US" sz="2800">
                <a:ea typeface="Gill Sans MT" panose="020B0502020104020203" pitchFamily="34" charset="0"/>
                <a:cs typeface="Gill Sans MT" panose="020B0502020104020203" pitchFamily="34" charset="0"/>
              </a:rPr>
              <a:t>x</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+5x</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a:t>
            </a:r>
            <a:r>
              <a:rPr lang="en-US" altLang="en-US" sz="2800">
                <a:latin typeface="Times New Roman" panose="02020603050405020304" pitchFamily="18" charset="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x</a:t>
            </a:r>
            <a:r>
              <a:rPr lang="en-US" altLang="en-US" sz="1900" baseline="-25000">
                <a:ea typeface="Gill Sans MT" panose="020B0502020104020203" pitchFamily="34" charset="0"/>
                <a:cs typeface="Gill Sans MT" panose="020B0502020104020203" pitchFamily="34" charset="0"/>
              </a:rPr>
              <a:t>3</a:t>
            </a:r>
            <a:r>
              <a:rPr lang="en-US" altLang="en-US" sz="2800">
                <a:ea typeface="Gill Sans MT" panose="020B0502020104020203" pitchFamily="34" charset="0"/>
                <a:cs typeface="Gill Sans MT" panose="020B0502020104020203" pitchFamily="34" charset="0"/>
              </a:rPr>
              <a:t>  +0s</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a:t>
            </a:r>
            <a:r>
              <a:rPr lang="en-US" altLang="en-US" sz="2800">
                <a:latin typeface="Times New Roman" panose="02020603050405020304" pitchFamily="18" charset="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s</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 8</a:t>
            </a:r>
          </a:p>
        </p:txBody>
      </p:sp>
      <p:sp>
        <p:nvSpPr>
          <p:cNvPr id="30730" name="Google Shape;195;p32">
            <a:extLst>
              <a:ext uri="{FF2B5EF4-FFF2-40B4-BE49-F238E27FC236}">
                <a16:creationId xmlns:a16="http://schemas.microsoft.com/office/drawing/2014/main" id="{D2E36999-DE43-8ED1-6DE7-C3972F237FE0}"/>
              </a:ext>
            </a:extLst>
          </p:cNvPr>
          <p:cNvSpPr txBox="1">
            <a:spLocks noChangeArrowheads="1"/>
          </p:cNvSpPr>
          <p:nvPr/>
        </p:nvSpPr>
        <p:spPr bwMode="auto">
          <a:xfrm>
            <a:off x="468313" y="3560763"/>
            <a:ext cx="5972175" cy="17224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The tableau will be created from the coefficients of the 3 equations, (re-)written as shown on the right.</a:t>
            </a:r>
          </a:p>
          <a:p>
            <a:pPr eaLnBrk="1" hangingPunct="1">
              <a:lnSpc>
                <a:spcPct val="100000"/>
              </a:lnSpc>
              <a:spcBef>
                <a:spcPct val="0"/>
              </a:spcBef>
              <a:buClrTx/>
              <a:buSzTx/>
              <a:buFontTx/>
              <a:buNone/>
            </a:pPr>
            <a:endParaRPr lang="en-US" altLang="en-US">
              <a:latin typeface="Times New Roman" panose="02020603050405020304" pitchFamily="18" charset="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The first equation corresponds to the objective function.</a:t>
            </a:r>
            <a:endParaRPr lang="en-US" altLang="en-US" sz="1800"/>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The latter 2 equations correspond to the 2 constraints.</a:t>
            </a:r>
            <a:endParaRPr lang="en-US" altLang="en-US" sz="1800"/>
          </a:p>
        </p:txBody>
      </p:sp>
      <p:sp>
        <p:nvSpPr>
          <p:cNvPr id="4" name="Arrow: Right 3">
            <a:extLst>
              <a:ext uri="{FF2B5EF4-FFF2-40B4-BE49-F238E27FC236}">
                <a16:creationId xmlns:a16="http://schemas.microsoft.com/office/drawing/2014/main" id="{6284B613-4727-424C-359C-F67CFA06B4CE}"/>
              </a:ext>
            </a:extLst>
          </p:cNvPr>
          <p:cNvSpPr/>
          <p:nvPr/>
        </p:nvSpPr>
        <p:spPr>
          <a:xfrm>
            <a:off x="5378450" y="3960813"/>
            <a:ext cx="912813" cy="323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Arrow: Right 4">
            <a:extLst>
              <a:ext uri="{FF2B5EF4-FFF2-40B4-BE49-F238E27FC236}">
                <a16:creationId xmlns:a16="http://schemas.microsoft.com/office/drawing/2014/main" id="{4737CE60-E11B-3AE7-25CA-2C43129AFBF8}"/>
              </a:ext>
            </a:extLst>
          </p:cNvPr>
          <p:cNvSpPr/>
          <p:nvPr/>
        </p:nvSpPr>
        <p:spPr>
          <a:xfrm>
            <a:off x="5124450" y="2136775"/>
            <a:ext cx="1166813" cy="2889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a:extLst>
              <a:ext uri="{FF2B5EF4-FFF2-40B4-BE49-F238E27FC236}">
                <a16:creationId xmlns:a16="http://schemas.microsoft.com/office/drawing/2014/main" id="{D3CD6635-82F1-FE2D-E42A-E59BC2E2CF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784225"/>
            <a:ext cx="11723687" cy="534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Google Shape;192;p32" descr="KL Deemed to be University Logo">
            <a:extLst>
              <a:ext uri="{FF2B5EF4-FFF2-40B4-BE49-F238E27FC236}">
                <a16:creationId xmlns:a16="http://schemas.microsoft.com/office/drawing/2014/main" id="{350A2AA6-FDB1-0061-FB7B-04EF1ADE12E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 name="Google Shape;193;p32">
            <a:extLst>
              <a:ext uri="{FF2B5EF4-FFF2-40B4-BE49-F238E27FC236}">
                <a16:creationId xmlns:a16="http://schemas.microsoft.com/office/drawing/2014/main" id="{692CBD2E-5D78-FF7D-8119-5EDAE9C85409}"/>
              </a:ext>
            </a:extLst>
          </p:cNvPr>
          <p:cNvSpPr/>
          <p:nvPr/>
        </p:nvSpPr>
        <p:spPr>
          <a:xfrm>
            <a:off x="2090738" y="112713"/>
            <a:ext cx="6731000" cy="579437"/>
          </a:xfrm>
          <a:prstGeom prst="rect">
            <a:avLst/>
          </a:prstGeom>
          <a:solidFill>
            <a:schemeClr val="lt1"/>
          </a:solidFill>
          <a:ln w="25400" cap="flat" cmpd="sng">
            <a:solidFill>
              <a:schemeClr val="accent2"/>
            </a:solidFill>
            <a:prstDash val="solid"/>
            <a:round/>
            <a:headEnd type="none" w="sm" len="sm"/>
            <a:tailEnd type="none" w="sm" len="sm"/>
          </a:ln>
        </p:spPr>
        <p:txBody>
          <a:bodyPr spcFirstLastPara="1" lIns="91425" tIns="45700" rIns="91425" bIns="45700"/>
          <a:lstStyle/>
          <a:p>
            <a:pPr algn="ctr" eaLnBrk="1" fontAlgn="auto" hangingPunct="1">
              <a:spcBef>
                <a:spcPts val="0"/>
              </a:spcBef>
              <a:spcAft>
                <a:spcPts val="0"/>
              </a:spcAft>
              <a:defRPr/>
            </a:pPr>
            <a:r>
              <a:rPr lang="en-US" sz="3200" b="1" dirty="0">
                <a:solidFill>
                  <a:srgbClr val="FF0000"/>
                </a:solidFill>
                <a:latin typeface="Calibri"/>
                <a:ea typeface="Arial"/>
                <a:cs typeface="Calibri"/>
              </a:rPr>
              <a:t>Step 3: Set up the initial Tableau:   </a:t>
            </a:r>
            <a:r>
              <a:rPr lang="en-US" sz="3200" b="1" dirty="0">
                <a:solidFill>
                  <a:schemeClr val="accent3"/>
                </a:solidFill>
                <a:latin typeface="Calibri"/>
                <a:cs typeface="Calibri"/>
              </a:rPr>
              <a:t> C</a:t>
            </a:r>
            <a:r>
              <a:rPr lang="en-US" sz="3200" b="1" baseline="-25000" dirty="0">
                <a:solidFill>
                  <a:schemeClr val="accent3"/>
                </a:solidFill>
                <a:latin typeface="Calibri"/>
                <a:cs typeface="Calibri"/>
              </a:rPr>
              <a:t>j</a:t>
            </a:r>
            <a:r>
              <a:rPr lang="en-US" sz="3200" b="1" dirty="0">
                <a:solidFill>
                  <a:schemeClr val="accent3"/>
                </a:solidFill>
                <a:latin typeface="Calibri"/>
                <a:cs typeface="Calibri"/>
              </a:rPr>
              <a:t>s</a:t>
            </a:r>
          </a:p>
        </p:txBody>
      </p:sp>
      <p:pic>
        <p:nvPicPr>
          <p:cNvPr id="33796" name="Google Shape;196;p32">
            <a:extLst>
              <a:ext uri="{FF2B5EF4-FFF2-40B4-BE49-F238E27FC236}">
                <a16:creationId xmlns:a16="http://schemas.microsoft.com/office/drawing/2014/main" id="{F9602DC7-0F08-5073-D4E5-37C9D5F565EB}"/>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Slide Number Placeholder 3">
            <a:extLst>
              <a:ext uri="{FF2B5EF4-FFF2-40B4-BE49-F238E27FC236}">
                <a16:creationId xmlns:a16="http://schemas.microsoft.com/office/drawing/2014/main" id="{AFEE576A-7C53-4A61-FABB-9C2F2D450B33}"/>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E1F8891D-2134-4814-88BC-617A29DB3C95}" type="slidenum">
              <a:rPr lang="en-IN" altLang="en-US" sz="2200" smtClean="0">
                <a:solidFill>
                  <a:schemeClr val="accent1"/>
                </a:solidFill>
              </a:rPr>
              <a:pPr>
                <a:lnSpc>
                  <a:spcPct val="100000"/>
                </a:lnSpc>
                <a:spcBef>
                  <a:spcPct val="0"/>
                </a:spcBef>
                <a:buClrTx/>
                <a:buSzTx/>
                <a:buFontTx/>
                <a:buNone/>
              </a:pPr>
              <a:t>11</a:t>
            </a:fld>
            <a:endParaRPr lang="en-IN" altLang="en-US" sz="2200">
              <a:solidFill>
                <a:schemeClr val="accent1"/>
              </a:solidFill>
            </a:endParaRPr>
          </a:p>
        </p:txBody>
      </p:sp>
      <p:sp>
        <p:nvSpPr>
          <p:cNvPr id="8" name="TextBox 7">
            <a:extLst>
              <a:ext uri="{FF2B5EF4-FFF2-40B4-BE49-F238E27FC236}">
                <a16:creationId xmlns:a16="http://schemas.microsoft.com/office/drawing/2014/main" id="{FD8D054D-DB84-E74E-A6C6-A0DC5688EAAA}"/>
              </a:ext>
            </a:extLst>
          </p:cNvPr>
          <p:cNvSpPr txBox="1"/>
          <p:nvPr/>
        </p:nvSpPr>
        <p:spPr>
          <a:xfrm>
            <a:off x="3175" y="2108200"/>
            <a:ext cx="8410575" cy="1985963"/>
          </a:xfrm>
          <a:prstGeom prst="rect">
            <a:avLst/>
          </a:prstGeom>
          <a:solidFill>
            <a:schemeClr val="bg1">
              <a:lumMod val="95000"/>
            </a:schemeClr>
          </a:solidFill>
        </p:spPr>
        <p:txBody>
          <a:bodyPr>
            <a:spAutoFit/>
          </a:bodyPr>
          <a:lstStyle/>
          <a:p>
            <a:pPr eaLnBrk="1" fontAlgn="auto" hangingPunct="1">
              <a:spcBef>
                <a:spcPts val="0"/>
              </a:spcBef>
              <a:spcAft>
                <a:spcPts val="0"/>
              </a:spcAft>
              <a:defRPr/>
            </a:pPr>
            <a:r>
              <a:rPr lang="en-US" sz="2000" dirty="0">
                <a:latin typeface="Times New Roman"/>
                <a:cs typeface="Times New Roman"/>
              </a:rPr>
              <a:t>In the tableau below, </a:t>
            </a:r>
            <a:endParaRPr lang="en-US" dirty="0">
              <a:latin typeface="Gill Sans MT"/>
              <a:cs typeface="Times New Roman"/>
            </a:endParaRPr>
          </a:p>
          <a:p>
            <a:pPr marL="342900" indent="-342900" eaLnBrk="1" fontAlgn="auto" hangingPunct="1">
              <a:spcBef>
                <a:spcPts val="0"/>
              </a:spcBef>
              <a:spcAft>
                <a:spcPts val="0"/>
              </a:spcAft>
              <a:buFont typeface="Arial"/>
              <a:buChar char="•"/>
              <a:defRPr/>
            </a:pPr>
            <a:r>
              <a:rPr lang="en-US" sz="2000" dirty="0">
                <a:latin typeface="Times New Roman"/>
                <a:cs typeface="Times New Roman"/>
              </a:rPr>
              <a:t>the 2nd row of the tableau lists all the variables.</a:t>
            </a:r>
            <a:endParaRPr lang="en-US" dirty="0">
              <a:latin typeface="Gill Sans MT"/>
              <a:cs typeface="Times New Roman"/>
            </a:endParaRPr>
          </a:p>
          <a:p>
            <a:pPr marL="342900" indent="-342900" eaLnBrk="1" fontAlgn="auto" hangingPunct="1">
              <a:spcBef>
                <a:spcPts val="0"/>
              </a:spcBef>
              <a:spcAft>
                <a:spcPts val="0"/>
              </a:spcAft>
              <a:buFont typeface="Arial"/>
              <a:buChar char="•"/>
              <a:defRPr/>
            </a:pPr>
            <a:r>
              <a:rPr lang="en-US" sz="2000" dirty="0">
                <a:latin typeface="Times New Roman"/>
                <a:cs typeface="Times New Roman"/>
              </a:rPr>
              <a:t>The top row lists the coefficients of these variables in the objective function:</a:t>
            </a:r>
          </a:p>
          <a:p>
            <a:pPr lvl="2" eaLnBrk="1" fontAlgn="auto" hangingPunct="1">
              <a:spcBef>
                <a:spcPts val="0"/>
              </a:spcBef>
              <a:spcAft>
                <a:spcPts val="0"/>
              </a:spcAft>
              <a:defRPr/>
            </a:pPr>
            <a:r>
              <a:rPr lang="en-US" sz="2000" dirty="0">
                <a:latin typeface="Times New Roman"/>
                <a:cs typeface="Times New Roman"/>
              </a:rPr>
              <a:t>  </a:t>
            </a:r>
            <a:r>
              <a:rPr lang="en-US" sz="2400" b="1" dirty="0">
                <a:solidFill>
                  <a:schemeClr val="accent3"/>
                </a:solidFill>
                <a:latin typeface="Times New Roman"/>
                <a:cs typeface="Times New Roman"/>
              </a:rPr>
              <a:t>C</a:t>
            </a:r>
            <a:r>
              <a:rPr lang="en-US" sz="2400" b="1" baseline="-25000" dirty="0">
                <a:solidFill>
                  <a:schemeClr val="accent3"/>
                </a:solidFill>
                <a:latin typeface="Times New Roman"/>
                <a:cs typeface="Times New Roman"/>
              </a:rPr>
              <a:t>j</a:t>
            </a:r>
            <a:r>
              <a:rPr lang="en-US" sz="2000" dirty="0">
                <a:latin typeface="Times New Roman"/>
                <a:cs typeface="Times New Roman"/>
              </a:rPr>
              <a:t>: coefficient in the </a:t>
            </a:r>
            <a:r>
              <a:rPr lang="en-US" sz="2000" b="1" err="1">
                <a:solidFill>
                  <a:schemeClr val="accent3"/>
                </a:solidFill>
                <a:latin typeface="Times New Roman"/>
                <a:cs typeface="Times New Roman"/>
              </a:rPr>
              <a:t>j</a:t>
            </a:r>
            <a:r>
              <a:rPr lang="en-US" sz="2000" err="1">
                <a:latin typeface="Times New Roman"/>
                <a:cs typeface="Times New Roman"/>
              </a:rPr>
              <a:t>th</a:t>
            </a:r>
            <a:r>
              <a:rPr lang="en-US" sz="2000" dirty="0">
                <a:latin typeface="Times New Roman"/>
                <a:cs typeface="Times New Roman"/>
              </a:rPr>
              <a:t> column</a:t>
            </a:r>
            <a:endParaRPr lang="en-US">
              <a:latin typeface="+mn-lt"/>
            </a:endParaRPr>
          </a:p>
          <a:p>
            <a:pPr marL="342900" indent="-342900" eaLnBrk="1" fontAlgn="auto" hangingPunct="1">
              <a:spcBef>
                <a:spcPts val="0"/>
              </a:spcBef>
              <a:spcAft>
                <a:spcPts val="0"/>
              </a:spcAft>
              <a:buFont typeface="Arial"/>
              <a:buChar char="•"/>
              <a:defRPr/>
            </a:pPr>
            <a:r>
              <a:rPr lang="en-US" sz="2000" dirty="0">
                <a:latin typeface="Times New Roman"/>
                <a:cs typeface="Times New Roman"/>
              </a:rPr>
              <a:t>The last two rows list the coefficients in the two linear constraints.</a:t>
            </a:r>
          </a:p>
          <a:p>
            <a:pPr marL="342900" indent="-342900" eaLnBrk="1" fontAlgn="auto" hangingPunct="1">
              <a:spcBef>
                <a:spcPts val="0"/>
              </a:spcBef>
              <a:spcAft>
                <a:spcPts val="0"/>
              </a:spcAft>
              <a:buFont typeface="Arial"/>
              <a:buChar char="•"/>
              <a:defRPr/>
            </a:pPr>
            <a:r>
              <a:rPr lang="en-US" sz="2000" dirty="0">
                <a:latin typeface="Times New Roman"/>
                <a:cs typeface="Times New Roman"/>
              </a:rPr>
              <a:t>The last column contains the numbers on the RHS of the equations.</a:t>
            </a:r>
          </a:p>
        </p:txBody>
      </p:sp>
      <p:sp>
        <p:nvSpPr>
          <p:cNvPr id="6" name="Arrow: Right 5">
            <a:extLst>
              <a:ext uri="{FF2B5EF4-FFF2-40B4-BE49-F238E27FC236}">
                <a16:creationId xmlns:a16="http://schemas.microsoft.com/office/drawing/2014/main" id="{7457FBED-E869-7F9B-44B8-680BAC4C0D48}"/>
              </a:ext>
            </a:extLst>
          </p:cNvPr>
          <p:cNvSpPr/>
          <p:nvPr/>
        </p:nvSpPr>
        <p:spPr>
          <a:xfrm>
            <a:off x="2470150" y="5016500"/>
            <a:ext cx="1165225" cy="287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a:extLst>
              <a:ext uri="{FF2B5EF4-FFF2-40B4-BE49-F238E27FC236}">
                <a16:creationId xmlns:a16="http://schemas.microsoft.com/office/drawing/2014/main" id="{323FEB67-1A43-F523-F140-567F4A025B46}"/>
              </a:ext>
            </a:extLst>
          </p:cNvPr>
          <p:cNvSpPr txBox="1"/>
          <p:nvPr/>
        </p:nvSpPr>
        <p:spPr>
          <a:xfrm>
            <a:off x="1130300" y="4962525"/>
            <a:ext cx="1181100" cy="400050"/>
          </a:xfrm>
          <a:prstGeom prst="rect">
            <a:avLst/>
          </a:prstGeom>
          <a:noFill/>
        </p:spPr>
        <p:txBody>
          <a:bodyPr>
            <a:spAutoFit/>
          </a:bodyPr>
          <a:lstStyle/>
          <a:p>
            <a:pPr eaLnBrk="1" fontAlgn="auto" hangingPunct="1">
              <a:spcBef>
                <a:spcPts val="0"/>
              </a:spcBef>
              <a:spcAft>
                <a:spcPts val="0"/>
              </a:spcAft>
              <a:defRPr/>
            </a:pPr>
            <a:r>
              <a:rPr lang="en-US" sz="2000" b="1" dirty="0">
                <a:solidFill>
                  <a:srgbClr val="FF00FF"/>
                </a:solidFill>
                <a:latin typeface="+mn-lt"/>
                <a:ea typeface="+mn-lt"/>
                <a:cs typeface="+mn-lt"/>
              </a:rPr>
              <a:t>Tableau</a:t>
            </a:r>
            <a:endParaRPr lang="en-US" sz="2000" b="1" dirty="0">
              <a:solidFill>
                <a:srgbClr val="FF00FF"/>
              </a:solidFill>
              <a:latin typeface="+mn-lt"/>
            </a:endParaRPr>
          </a:p>
        </p:txBody>
      </p:sp>
      <p:graphicFrame>
        <p:nvGraphicFramePr>
          <p:cNvPr id="11" name="Table 11">
            <a:extLst>
              <a:ext uri="{FF2B5EF4-FFF2-40B4-BE49-F238E27FC236}">
                <a16:creationId xmlns:a16="http://schemas.microsoft.com/office/drawing/2014/main" id="{113253E7-9C99-2C49-AC36-098BAAF7D161}"/>
              </a:ext>
            </a:extLst>
          </p:cNvPr>
          <p:cNvGraphicFramePr>
            <a:graphicFrameLocks noGrp="1"/>
          </p:cNvGraphicFramePr>
          <p:nvPr/>
        </p:nvGraphicFramePr>
        <p:xfrm>
          <a:off x="3976688" y="4211638"/>
          <a:ext cx="7048503" cy="1868486"/>
        </p:xfrm>
        <a:graphic>
          <a:graphicData uri="http://schemas.openxmlformats.org/drawingml/2006/table">
            <a:tbl>
              <a:tblPr firstRow="1" bandRow="1">
                <a:tableStyleId>{2D5ABB26-0587-4C30-8999-92F81FD0307C}</a:tableStyleId>
              </a:tblPr>
              <a:tblGrid>
                <a:gridCol w="1006929">
                  <a:extLst>
                    <a:ext uri="{9D8B030D-6E8A-4147-A177-3AD203B41FA5}">
                      <a16:colId xmlns:a16="http://schemas.microsoft.com/office/drawing/2014/main" val="20000"/>
                    </a:ext>
                  </a:extLst>
                </a:gridCol>
                <a:gridCol w="1006929">
                  <a:extLst>
                    <a:ext uri="{9D8B030D-6E8A-4147-A177-3AD203B41FA5}">
                      <a16:colId xmlns:a16="http://schemas.microsoft.com/office/drawing/2014/main" val="20001"/>
                    </a:ext>
                  </a:extLst>
                </a:gridCol>
                <a:gridCol w="1006929">
                  <a:extLst>
                    <a:ext uri="{9D8B030D-6E8A-4147-A177-3AD203B41FA5}">
                      <a16:colId xmlns:a16="http://schemas.microsoft.com/office/drawing/2014/main" val="20002"/>
                    </a:ext>
                  </a:extLst>
                </a:gridCol>
                <a:gridCol w="1006929">
                  <a:extLst>
                    <a:ext uri="{9D8B030D-6E8A-4147-A177-3AD203B41FA5}">
                      <a16:colId xmlns:a16="http://schemas.microsoft.com/office/drawing/2014/main" val="20003"/>
                    </a:ext>
                  </a:extLst>
                </a:gridCol>
                <a:gridCol w="1006929">
                  <a:extLst>
                    <a:ext uri="{9D8B030D-6E8A-4147-A177-3AD203B41FA5}">
                      <a16:colId xmlns:a16="http://schemas.microsoft.com/office/drawing/2014/main" val="20004"/>
                    </a:ext>
                  </a:extLst>
                </a:gridCol>
                <a:gridCol w="1006929">
                  <a:extLst>
                    <a:ext uri="{9D8B030D-6E8A-4147-A177-3AD203B41FA5}">
                      <a16:colId xmlns:a16="http://schemas.microsoft.com/office/drawing/2014/main" val="20005"/>
                    </a:ext>
                  </a:extLst>
                </a:gridCol>
                <a:gridCol w="1006929">
                  <a:extLst>
                    <a:ext uri="{9D8B030D-6E8A-4147-A177-3AD203B41FA5}">
                      <a16:colId xmlns:a16="http://schemas.microsoft.com/office/drawing/2014/main" val="20006"/>
                    </a:ext>
                  </a:extLst>
                </a:gridCol>
              </a:tblGrid>
              <a:tr h="496304">
                <a:tc>
                  <a:txBody>
                    <a:bodyPr/>
                    <a:lstStyle/>
                    <a:p>
                      <a:pPr lvl="0" algn="ctr">
                        <a:buNone/>
                      </a:pPr>
                      <a:r>
                        <a:rPr lang="en-US" sz="2400" b="1" i="0" u="none" strike="noStrike" noProof="0" dirty="0">
                          <a:solidFill>
                            <a:schemeClr val="accent3"/>
                          </a:solidFill>
                          <a:latin typeface="Arial"/>
                        </a:rPr>
                        <a:t>C</a:t>
                      </a:r>
                      <a:r>
                        <a:rPr lang="en-US" sz="2400" b="1" i="0" u="none" strike="noStrike" baseline="-25000" noProof="0" dirty="0">
                          <a:solidFill>
                            <a:schemeClr val="accent3"/>
                          </a:solidFill>
                          <a:latin typeface="Arial"/>
                        </a:rPr>
                        <a:t>j</a:t>
                      </a:r>
                      <a:r>
                        <a:rPr lang="en-US" sz="2400" b="1" i="0" u="none" strike="noStrike" noProof="0" dirty="0">
                          <a:solidFill>
                            <a:schemeClr val="accent3"/>
                          </a:solidFill>
                          <a:latin typeface="Arial"/>
                        </a:rPr>
                        <a:t> </a:t>
                      </a:r>
                      <a:r>
                        <a:rPr lang="en-US" sz="2400" b="1" i="0" u="none" strike="noStrike" noProof="0" dirty="0">
                          <a:solidFill>
                            <a:srgbClr val="000000"/>
                          </a:solidFill>
                          <a:latin typeface="Arial"/>
                        </a:rPr>
                        <a:t>-&gt;</a:t>
                      </a:r>
                      <a:endParaRPr lang="en-US" sz="1800" dirty="0"/>
                    </a:p>
                  </a:txBody>
                  <a:tcPr marL="91425" marR="91425" marT="45739" marB="45739">
                    <a:lnL w="12700">
                      <a:solidFill>
                        <a:schemeClr val="tx1"/>
                      </a:solidFill>
                    </a:lnL>
                    <a:lnR w="12700">
                      <a:solidFill>
                        <a:schemeClr val="tx1"/>
                      </a:solidFill>
                    </a:lnR>
                    <a:lnB w="12700">
                      <a:solidFill>
                        <a:schemeClr val="tx1"/>
                      </a:solidFill>
                    </a:lnB>
                  </a:tcPr>
                </a:tc>
                <a:tc>
                  <a:txBody>
                    <a:bodyPr/>
                    <a:lstStyle/>
                    <a:p>
                      <a:pPr algn="ctr"/>
                      <a:r>
                        <a:rPr lang="en-US" sz="2400" b="1" dirty="0">
                          <a:latin typeface="Arial"/>
                        </a:rPr>
                        <a:t>8</a:t>
                      </a:r>
                    </a:p>
                  </a:txBody>
                  <a:tcPr marL="91425" marR="91425" marT="45739" marB="45739">
                    <a:lnL w="12700">
                      <a:solidFill>
                        <a:schemeClr val="tx1"/>
                      </a:solidFill>
                    </a:lnL>
                    <a:lnB w="12700">
                      <a:solidFill>
                        <a:schemeClr val="tx1"/>
                      </a:solidFill>
                    </a:lnB>
                  </a:tcPr>
                </a:tc>
                <a:tc>
                  <a:txBody>
                    <a:bodyPr/>
                    <a:lstStyle/>
                    <a:p>
                      <a:pPr algn="ctr"/>
                      <a:r>
                        <a:rPr lang="en-US" sz="2400" b="1" dirty="0">
                          <a:latin typeface="Arial"/>
                        </a:rPr>
                        <a:t>10</a:t>
                      </a:r>
                    </a:p>
                  </a:txBody>
                  <a:tcPr marL="91425" marR="91425" marT="45739" marB="45739">
                    <a:lnB w="12700">
                      <a:solidFill>
                        <a:schemeClr val="tx1"/>
                      </a:solidFill>
                    </a:lnB>
                  </a:tcPr>
                </a:tc>
                <a:tc>
                  <a:txBody>
                    <a:bodyPr/>
                    <a:lstStyle/>
                    <a:p>
                      <a:pPr algn="ctr"/>
                      <a:r>
                        <a:rPr lang="en-US" sz="2400" b="1" dirty="0">
                          <a:latin typeface="Arial"/>
                        </a:rPr>
                        <a:t>7</a:t>
                      </a:r>
                    </a:p>
                  </a:txBody>
                  <a:tcPr marL="91425" marR="91425" marT="45739" marB="45739">
                    <a:lnB w="12700">
                      <a:solidFill>
                        <a:schemeClr val="tx1"/>
                      </a:solidFill>
                    </a:lnB>
                  </a:tcPr>
                </a:tc>
                <a:tc>
                  <a:txBody>
                    <a:bodyPr/>
                    <a:lstStyle/>
                    <a:p>
                      <a:pPr algn="ctr"/>
                      <a:r>
                        <a:rPr lang="en-US" sz="2400" b="1" dirty="0">
                          <a:latin typeface="Arial"/>
                        </a:rPr>
                        <a:t>0</a:t>
                      </a:r>
                    </a:p>
                  </a:txBody>
                  <a:tcPr marL="91425" marR="91425" marT="45739" marB="45739">
                    <a:lnB w="12700">
                      <a:solidFill>
                        <a:schemeClr val="tx1"/>
                      </a:solidFill>
                    </a:lnB>
                  </a:tcPr>
                </a:tc>
                <a:tc>
                  <a:txBody>
                    <a:bodyPr/>
                    <a:lstStyle/>
                    <a:p>
                      <a:pPr algn="ctr"/>
                      <a:r>
                        <a:rPr lang="en-US" sz="2400" b="1" dirty="0">
                          <a:latin typeface="Arial"/>
                        </a:rPr>
                        <a:t>0</a:t>
                      </a:r>
                    </a:p>
                  </a:txBody>
                  <a:tcPr marL="91425" marR="91425" marT="45739" marB="45739">
                    <a:lnB w="12700">
                      <a:solidFill>
                        <a:schemeClr val="tx1"/>
                      </a:solidFill>
                    </a:lnB>
                  </a:tcPr>
                </a:tc>
                <a:tc>
                  <a:txBody>
                    <a:bodyPr/>
                    <a:lstStyle/>
                    <a:p>
                      <a:pPr algn="ctr"/>
                      <a:endParaRPr lang="en-US" sz="2400" b="1" dirty="0">
                        <a:latin typeface="Arial"/>
                      </a:endParaRPr>
                    </a:p>
                  </a:txBody>
                  <a:tcPr marL="91425" marR="91425" marT="45739" marB="45739">
                    <a:lnB w="12700">
                      <a:solidFill>
                        <a:schemeClr val="tx1"/>
                      </a:solidFill>
                    </a:lnB>
                  </a:tcPr>
                </a:tc>
                <a:extLst>
                  <a:ext uri="{0D108BD9-81ED-4DB2-BD59-A6C34878D82A}">
                    <a16:rowId xmlns:a16="http://schemas.microsoft.com/office/drawing/2014/main" val="10000"/>
                  </a:ext>
                </a:extLst>
              </a:tr>
              <a:tr h="457394">
                <a:tc>
                  <a:txBody>
                    <a:bodyPr/>
                    <a:lstStyle/>
                    <a:p>
                      <a:pPr lvl="0" algn="ctr">
                        <a:buNone/>
                      </a:pPr>
                      <a:endParaRPr lang="en-US" sz="2400" b="1" dirty="0">
                        <a:latin typeface="Arial"/>
                      </a:endParaRPr>
                    </a:p>
                  </a:txBody>
                  <a:tcPr marL="91425" marR="91425" marT="45739" marB="45739">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x1</a:t>
                      </a:r>
                      <a:endParaRPr lang="en-US" sz="1800"/>
                    </a:p>
                  </a:txBody>
                  <a:tcPr marL="91425" marR="91425" marT="45739" marB="45739">
                    <a:lnL w="12700">
                      <a:solidFill>
                        <a:schemeClr val="tx1"/>
                      </a:solidFill>
                    </a:lnL>
                    <a:lnT w="12700">
                      <a:solidFill>
                        <a:schemeClr val="tx1"/>
                      </a:solidFill>
                    </a:lnT>
                    <a:lnB w="12700">
                      <a:solidFill>
                        <a:schemeClr val="tx1"/>
                      </a:solidFill>
                    </a:lnB>
                  </a:tcPr>
                </a:tc>
                <a:tc>
                  <a:txBody>
                    <a:bodyPr/>
                    <a:lstStyle/>
                    <a:p>
                      <a:pPr lvl="0" algn="ctr">
                        <a:buNone/>
                      </a:pPr>
                      <a:r>
                        <a:rPr lang="en-US" sz="2400" b="1" dirty="0">
                          <a:latin typeface="Arial"/>
                        </a:rPr>
                        <a:t>x2</a:t>
                      </a:r>
                      <a:endParaRPr lang="en-US" sz="1800"/>
                    </a:p>
                  </a:txBody>
                  <a:tcPr marL="91425" marR="91425" marT="45739" marB="45739">
                    <a:lnT w="12700">
                      <a:solidFill>
                        <a:schemeClr val="tx1"/>
                      </a:solidFill>
                    </a:lnT>
                    <a:lnB w="12700">
                      <a:solidFill>
                        <a:schemeClr val="tx1"/>
                      </a:solidFill>
                    </a:lnB>
                  </a:tcPr>
                </a:tc>
                <a:tc>
                  <a:txBody>
                    <a:bodyPr/>
                    <a:lstStyle/>
                    <a:p>
                      <a:pPr lvl="0" algn="ctr">
                        <a:buNone/>
                      </a:pPr>
                      <a:r>
                        <a:rPr lang="en-US" sz="2400" b="1" dirty="0">
                          <a:latin typeface="Arial"/>
                        </a:rPr>
                        <a:t>x3</a:t>
                      </a:r>
                      <a:endParaRPr lang="en-US" sz="1800"/>
                    </a:p>
                  </a:txBody>
                  <a:tcPr marL="91425" marR="91425" marT="45739" marB="45739">
                    <a:lnT w="12700">
                      <a:solidFill>
                        <a:schemeClr val="tx1"/>
                      </a:solidFill>
                    </a:lnT>
                    <a:lnB w="12700">
                      <a:solidFill>
                        <a:schemeClr val="tx1"/>
                      </a:solidFill>
                    </a:lnB>
                  </a:tcPr>
                </a:tc>
                <a:tc>
                  <a:txBody>
                    <a:bodyPr/>
                    <a:lstStyle/>
                    <a:p>
                      <a:pPr lvl="0" algn="ctr">
                        <a:buNone/>
                      </a:pPr>
                      <a:r>
                        <a:rPr lang="en-US" sz="2400" b="1" dirty="0">
                          <a:latin typeface="Arial"/>
                        </a:rPr>
                        <a:t>s1</a:t>
                      </a:r>
                      <a:endParaRPr lang="en-US" sz="1800"/>
                    </a:p>
                  </a:txBody>
                  <a:tcPr marL="91425" marR="91425" marT="45739" marB="45739">
                    <a:lnT w="12700">
                      <a:solidFill>
                        <a:schemeClr val="tx1"/>
                      </a:solidFill>
                    </a:lnT>
                    <a:lnB w="12700">
                      <a:solidFill>
                        <a:schemeClr val="tx1"/>
                      </a:solidFill>
                    </a:lnB>
                  </a:tcPr>
                </a:tc>
                <a:tc>
                  <a:txBody>
                    <a:bodyPr/>
                    <a:lstStyle/>
                    <a:p>
                      <a:pPr lvl="0" algn="ctr">
                        <a:buNone/>
                      </a:pPr>
                      <a:r>
                        <a:rPr lang="en-US" sz="2400" b="1" dirty="0">
                          <a:latin typeface="Arial"/>
                        </a:rPr>
                        <a:t>s2</a:t>
                      </a:r>
                      <a:endParaRPr lang="en-US" sz="1800"/>
                    </a:p>
                  </a:txBody>
                  <a:tcPr marL="91425" marR="91425" marT="45739" marB="45739">
                    <a:lnT w="12700">
                      <a:solidFill>
                        <a:schemeClr val="tx1"/>
                      </a:solidFill>
                    </a:lnT>
                    <a:lnB w="12700">
                      <a:solidFill>
                        <a:schemeClr val="tx1"/>
                      </a:solidFill>
                    </a:lnB>
                  </a:tcPr>
                </a:tc>
                <a:tc>
                  <a:txBody>
                    <a:bodyPr/>
                    <a:lstStyle/>
                    <a:p>
                      <a:pPr lvl="0" algn="ctr">
                        <a:buNone/>
                      </a:pPr>
                      <a:r>
                        <a:rPr lang="en-US" sz="2400" b="1" dirty="0">
                          <a:latin typeface="Arial"/>
                        </a:rPr>
                        <a:t>b</a:t>
                      </a:r>
                      <a:endParaRPr lang="en-US" sz="1800"/>
                    </a:p>
                  </a:txBody>
                  <a:tcPr marL="91425" marR="91425" marT="45739" marB="45739">
                    <a:lnT w="12700">
                      <a:solidFill>
                        <a:schemeClr val="tx1"/>
                      </a:solidFill>
                    </a:lnT>
                    <a:lnB w="12700">
                      <a:solidFill>
                        <a:schemeClr val="tx1"/>
                      </a:solidFill>
                    </a:lnB>
                  </a:tcPr>
                </a:tc>
                <a:extLst>
                  <a:ext uri="{0D108BD9-81ED-4DB2-BD59-A6C34878D82A}">
                    <a16:rowId xmlns:a16="http://schemas.microsoft.com/office/drawing/2014/main" val="10001"/>
                  </a:ext>
                </a:extLst>
              </a:tr>
              <a:tr h="457394">
                <a:tc>
                  <a:txBody>
                    <a:bodyPr/>
                    <a:lstStyle/>
                    <a:p>
                      <a:pPr lvl="0" algn="ctr">
                        <a:buNone/>
                      </a:pPr>
                      <a:endParaRPr lang="en-US" sz="2400" b="1" dirty="0">
                        <a:latin typeface="Arial"/>
                      </a:endParaRPr>
                    </a:p>
                  </a:txBody>
                  <a:tcPr marL="91425" marR="91425" marT="45739" marB="45739">
                    <a:lnL w="12700">
                      <a:solidFill>
                        <a:schemeClr val="tx1"/>
                      </a:solidFill>
                    </a:lnL>
                    <a:lnR w="12700">
                      <a:solidFill>
                        <a:schemeClr val="tx1"/>
                      </a:solidFill>
                    </a:lnR>
                    <a:lnT w="12700">
                      <a:solidFill>
                        <a:schemeClr val="tx1"/>
                      </a:solidFill>
                    </a:lnT>
                  </a:tcPr>
                </a:tc>
                <a:tc>
                  <a:txBody>
                    <a:bodyPr/>
                    <a:lstStyle/>
                    <a:p>
                      <a:pPr algn="ctr"/>
                      <a:r>
                        <a:rPr lang="en-US" sz="2400" b="1" dirty="0">
                          <a:latin typeface="Arial"/>
                        </a:rPr>
                        <a:t>1</a:t>
                      </a:r>
                    </a:p>
                  </a:txBody>
                  <a:tcPr marL="91425" marR="91425" marT="45739" marB="45739">
                    <a:lnL w="12700">
                      <a:solidFill>
                        <a:schemeClr val="tx1"/>
                      </a:solidFill>
                    </a:lnL>
                    <a:lnT w="12700">
                      <a:solidFill>
                        <a:schemeClr val="tx1"/>
                      </a:solidFill>
                    </a:lnT>
                  </a:tcPr>
                </a:tc>
                <a:tc>
                  <a:txBody>
                    <a:bodyPr/>
                    <a:lstStyle/>
                    <a:p>
                      <a:pPr algn="ctr"/>
                      <a:r>
                        <a:rPr lang="en-US" sz="2400" b="1" dirty="0">
                          <a:latin typeface="Arial"/>
                        </a:rPr>
                        <a:t>3</a:t>
                      </a:r>
                    </a:p>
                  </a:txBody>
                  <a:tcPr marL="91425" marR="91425" marT="45739" marB="45739">
                    <a:lnT w="12700">
                      <a:solidFill>
                        <a:schemeClr val="tx1"/>
                      </a:solidFill>
                    </a:lnT>
                  </a:tcPr>
                </a:tc>
                <a:tc>
                  <a:txBody>
                    <a:bodyPr/>
                    <a:lstStyle/>
                    <a:p>
                      <a:pPr algn="ctr"/>
                      <a:r>
                        <a:rPr lang="en-US" sz="2400" b="1" dirty="0">
                          <a:latin typeface="Arial"/>
                        </a:rPr>
                        <a:t>2</a:t>
                      </a:r>
                    </a:p>
                  </a:txBody>
                  <a:tcPr marL="91425" marR="91425" marT="45739" marB="45739">
                    <a:lnT w="12700">
                      <a:solidFill>
                        <a:schemeClr val="tx1"/>
                      </a:solidFill>
                    </a:lnT>
                  </a:tcPr>
                </a:tc>
                <a:tc>
                  <a:txBody>
                    <a:bodyPr/>
                    <a:lstStyle/>
                    <a:p>
                      <a:pPr algn="ctr"/>
                      <a:r>
                        <a:rPr lang="en-US" sz="2400" b="1" dirty="0">
                          <a:latin typeface="Arial"/>
                        </a:rPr>
                        <a:t>1</a:t>
                      </a:r>
                    </a:p>
                  </a:txBody>
                  <a:tcPr marL="91425" marR="91425" marT="45739" marB="45739">
                    <a:lnT w="12700">
                      <a:solidFill>
                        <a:schemeClr val="tx1"/>
                      </a:solidFill>
                    </a:lnT>
                  </a:tcPr>
                </a:tc>
                <a:tc>
                  <a:txBody>
                    <a:bodyPr/>
                    <a:lstStyle/>
                    <a:p>
                      <a:pPr algn="ctr"/>
                      <a:r>
                        <a:rPr lang="en-US" sz="2400" b="1" dirty="0">
                          <a:latin typeface="Arial"/>
                        </a:rPr>
                        <a:t>0</a:t>
                      </a:r>
                    </a:p>
                  </a:txBody>
                  <a:tcPr marL="91425" marR="91425" marT="45739" marB="45739">
                    <a:lnT w="12700">
                      <a:solidFill>
                        <a:schemeClr val="tx1"/>
                      </a:solidFill>
                    </a:lnT>
                  </a:tcPr>
                </a:tc>
                <a:tc>
                  <a:txBody>
                    <a:bodyPr/>
                    <a:lstStyle/>
                    <a:p>
                      <a:pPr algn="ctr"/>
                      <a:r>
                        <a:rPr lang="en-US" sz="2400" b="1" dirty="0">
                          <a:latin typeface="Arial"/>
                        </a:rPr>
                        <a:t>10</a:t>
                      </a:r>
                    </a:p>
                  </a:txBody>
                  <a:tcPr marL="91425" marR="91425" marT="45739" marB="45739">
                    <a:lnT w="12700">
                      <a:solidFill>
                        <a:schemeClr val="tx1"/>
                      </a:solidFill>
                    </a:lnT>
                  </a:tcPr>
                </a:tc>
                <a:extLst>
                  <a:ext uri="{0D108BD9-81ED-4DB2-BD59-A6C34878D82A}">
                    <a16:rowId xmlns:a16="http://schemas.microsoft.com/office/drawing/2014/main" val="10002"/>
                  </a:ext>
                </a:extLst>
              </a:tr>
              <a:tr h="457394">
                <a:tc>
                  <a:txBody>
                    <a:bodyPr/>
                    <a:lstStyle/>
                    <a:p>
                      <a:pPr lvl="0" algn="ctr">
                        <a:buNone/>
                      </a:pPr>
                      <a:endParaRPr lang="en-US" sz="2400" b="1" dirty="0">
                        <a:latin typeface="Arial"/>
                      </a:endParaRPr>
                    </a:p>
                  </a:txBody>
                  <a:tcPr marL="91425" marR="91425" marT="45739" marB="45739">
                    <a:lnL w="12700">
                      <a:solidFill>
                        <a:schemeClr val="tx1"/>
                      </a:solidFill>
                    </a:lnL>
                    <a:lnR w="12700">
                      <a:solidFill>
                        <a:schemeClr val="tx1"/>
                      </a:solidFill>
                    </a:lnR>
                  </a:tcPr>
                </a:tc>
                <a:tc>
                  <a:txBody>
                    <a:bodyPr/>
                    <a:lstStyle/>
                    <a:p>
                      <a:pPr algn="ctr"/>
                      <a:r>
                        <a:rPr lang="en-US" sz="2400" b="1" dirty="0">
                          <a:latin typeface="Arial"/>
                        </a:rPr>
                        <a:t>1</a:t>
                      </a:r>
                    </a:p>
                  </a:txBody>
                  <a:tcPr marL="91425" marR="91425" marT="45739" marB="45739">
                    <a:lnL w="12700">
                      <a:solidFill>
                        <a:schemeClr val="tx1"/>
                      </a:solidFill>
                    </a:lnL>
                  </a:tcPr>
                </a:tc>
                <a:tc>
                  <a:txBody>
                    <a:bodyPr/>
                    <a:lstStyle/>
                    <a:p>
                      <a:pPr algn="ctr"/>
                      <a:r>
                        <a:rPr lang="en-US" sz="2400" b="1" dirty="0">
                          <a:latin typeface="Arial"/>
                        </a:rPr>
                        <a:t>5</a:t>
                      </a:r>
                    </a:p>
                  </a:txBody>
                  <a:tcPr marL="91425" marR="91425" marT="45739" marB="45739"/>
                </a:tc>
                <a:tc>
                  <a:txBody>
                    <a:bodyPr/>
                    <a:lstStyle/>
                    <a:p>
                      <a:pPr algn="ctr"/>
                      <a:r>
                        <a:rPr lang="en-US" sz="2400" b="1" dirty="0">
                          <a:latin typeface="Arial"/>
                        </a:rPr>
                        <a:t>1</a:t>
                      </a:r>
                    </a:p>
                  </a:txBody>
                  <a:tcPr marL="91425" marR="91425" marT="45739" marB="45739"/>
                </a:tc>
                <a:tc>
                  <a:txBody>
                    <a:bodyPr/>
                    <a:lstStyle/>
                    <a:p>
                      <a:pPr algn="ctr"/>
                      <a:r>
                        <a:rPr lang="en-US" sz="2400" b="1" dirty="0">
                          <a:latin typeface="Arial"/>
                        </a:rPr>
                        <a:t>0</a:t>
                      </a:r>
                    </a:p>
                  </a:txBody>
                  <a:tcPr marL="91425" marR="91425" marT="45739" marB="45739"/>
                </a:tc>
                <a:tc>
                  <a:txBody>
                    <a:bodyPr/>
                    <a:lstStyle/>
                    <a:p>
                      <a:pPr algn="ctr"/>
                      <a:r>
                        <a:rPr lang="en-US" sz="2400" b="1" dirty="0">
                          <a:latin typeface="Arial"/>
                        </a:rPr>
                        <a:t>1</a:t>
                      </a:r>
                    </a:p>
                  </a:txBody>
                  <a:tcPr marL="91425" marR="91425" marT="45739" marB="45739"/>
                </a:tc>
                <a:tc>
                  <a:txBody>
                    <a:bodyPr/>
                    <a:lstStyle/>
                    <a:p>
                      <a:pPr algn="ctr"/>
                      <a:r>
                        <a:rPr lang="en-US" sz="2400" b="1" dirty="0">
                          <a:latin typeface="Arial"/>
                        </a:rPr>
                        <a:t>8</a:t>
                      </a:r>
                    </a:p>
                  </a:txBody>
                  <a:tcPr marL="91425" marR="91425" marT="45739" marB="45739"/>
                </a:tc>
                <a:extLst>
                  <a:ext uri="{0D108BD9-81ED-4DB2-BD59-A6C34878D82A}">
                    <a16:rowId xmlns:a16="http://schemas.microsoft.com/office/drawing/2014/main" val="10003"/>
                  </a:ext>
                </a:extLst>
              </a:tr>
            </a:tbl>
          </a:graphicData>
        </a:graphic>
      </p:graphicFrame>
      <p:sp>
        <p:nvSpPr>
          <p:cNvPr id="33834" name="TextBox 4">
            <a:extLst>
              <a:ext uri="{FF2B5EF4-FFF2-40B4-BE49-F238E27FC236}">
                <a16:creationId xmlns:a16="http://schemas.microsoft.com/office/drawing/2014/main" id="{1B19EDD2-7E8B-2153-B7C9-3048A6759F8F}"/>
              </a:ext>
            </a:extLst>
          </p:cNvPr>
          <p:cNvSpPr txBox="1">
            <a:spLocks noChangeArrowheads="1"/>
          </p:cNvSpPr>
          <p:nvPr/>
        </p:nvSpPr>
        <p:spPr bwMode="auto">
          <a:xfrm>
            <a:off x="5111750" y="736600"/>
            <a:ext cx="524510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2800">
                <a:ea typeface="Gill Sans MT" panose="020B0502020104020203" pitchFamily="34" charset="0"/>
                <a:cs typeface="Gill Sans MT" panose="020B0502020104020203" pitchFamily="34" charset="0"/>
              </a:rPr>
              <a:t> 8</a:t>
            </a:r>
            <a:r>
              <a:rPr lang="en-US" altLang="en-US" sz="2400">
                <a:ea typeface="Gill Sans MT" panose="020B0502020104020203" pitchFamily="34" charset="0"/>
                <a:cs typeface="Gill Sans MT" panose="020B0502020104020203" pitchFamily="34" charset="0"/>
              </a:rPr>
              <a:t>x</a:t>
            </a:r>
            <a:r>
              <a:rPr lang="en-US" altLang="en-US" sz="24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+10x</a:t>
            </a:r>
            <a:r>
              <a:rPr lang="en-US" altLang="en-US" sz="24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+7x</a:t>
            </a:r>
            <a:r>
              <a:rPr lang="en-US" altLang="en-US" sz="2400" baseline="-25000">
                <a:ea typeface="Gill Sans MT" panose="020B0502020104020203" pitchFamily="34" charset="0"/>
                <a:cs typeface="Gill Sans MT" panose="020B0502020104020203" pitchFamily="34" charset="0"/>
              </a:rPr>
              <a:t>3</a:t>
            </a:r>
            <a:r>
              <a:rPr lang="en-US" altLang="en-US" sz="2400">
                <a:ea typeface="Gill Sans MT" panose="020B0502020104020203" pitchFamily="34" charset="0"/>
                <a:cs typeface="Gill Sans MT" panose="020B0502020104020203" pitchFamily="34" charset="0"/>
              </a:rPr>
              <a:t> </a:t>
            </a:r>
            <a:r>
              <a:rPr lang="en-US" altLang="en-US" sz="2800">
                <a:ea typeface="Gill Sans MT" panose="020B0502020104020203" pitchFamily="34" charset="0"/>
                <a:cs typeface="Gill Sans MT" panose="020B0502020104020203" pitchFamily="34" charset="0"/>
              </a:rPr>
              <a:t> +0s</a:t>
            </a:r>
            <a:r>
              <a:rPr lang="en-US" altLang="en-US" sz="24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+0s</a:t>
            </a:r>
            <a:r>
              <a:rPr lang="en-US" altLang="en-US" sz="24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 z</a:t>
            </a:r>
            <a:endParaRPr lang="en-US" altLang="en-US" sz="1800">
              <a:ea typeface="Gill Sans MT" panose="020B0502020104020203" pitchFamily="34" charset="0"/>
              <a:cs typeface="Gill Sans MT" panose="020B0502020104020203" pitchFamily="34" charset="0"/>
            </a:endParaRPr>
          </a:p>
          <a:p>
            <a:pPr eaLnBrk="1" hangingPunct="1">
              <a:lnSpc>
                <a:spcPct val="100000"/>
              </a:lnSpc>
              <a:spcBef>
                <a:spcPct val="0"/>
              </a:spcBef>
              <a:buClrTx/>
              <a:buSzTx/>
              <a:buFontTx/>
              <a:buNone/>
            </a:pPr>
            <a:r>
              <a:rPr lang="en-US" altLang="en-US" sz="2800">
                <a:latin typeface="Times New Roman" panose="02020603050405020304" pitchFamily="18" charset="0"/>
                <a:ea typeface="Gill Sans MT" panose="020B0502020104020203" pitchFamily="34" charset="0"/>
                <a:cs typeface="Times New Roman" panose="02020603050405020304" pitchFamily="18" charset="0"/>
              </a:rPr>
              <a:t> 1</a:t>
            </a:r>
            <a:r>
              <a:rPr lang="en-US" altLang="en-US" sz="2800">
                <a:ea typeface="Gill Sans MT" panose="020B0502020104020203" pitchFamily="34" charset="0"/>
                <a:cs typeface="Gill Sans MT" panose="020B0502020104020203" pitchFamily="34" charset="0"/>
              </a:rPr>
              <a:t>x</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+3x</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+2x</a:t>
            </a:r>
            <a:r>
              <a:rPr lang="en-US" altLang="en-US" sz="1900" baseline="-25000">
                <a:ea typeface="Gill Sans MT" panose="020B0502020104020203" pitchFamily="34" charset="0"/>
                <a:cs typeface="Gill Sans MT" panose="020B0502020104020203" pitchFamily="34" charset="0"/>
              </a:rPr>
              <a:t>3</a:t>
            </a:r>
            <a:r>
              <a:rPr lang="en-US" altLang="en-US" sz="2800">
                <a:ea typeface="Gill Sans MT" panose="020B0502020104020203" pitchFamily="34" charset="0"/>
                <a:cs typeface="Gill Sans MT" panose="020B0502020104020203" pitchFamily="34" charset="0"/>
              </a:rPr>
              <a:t>  +</a:t>
            </a:r>
            <a:r>
              <a:rPr lang="en-US" altLang="en-US" sz="2800">
                <a:latin typeface="Times New Roman" panose="02020603050405020304" pitchFamily="18" charset="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s</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+0s</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 10</a:t>
            </a:r>
            <a:endParaRPr lang="en-US" altLang="en-US" sz="1800"/>
          </a:p>
          <a:p>
            <a:pPr eaLnBrk="1" hangingPunct="1">
              <a:lnSpc>
                <a:spcPct val="100000"/>
              </a:lnSpc>
              <a:spcBef>
                <a:spcPct val="0"/>
              </a:spcBef>
              <a:buClrTx/>
              <a:buSzTx/>
              <a:buFontTx/>
              <a:buNone/>
            </a:pPr>
            <a:r>
              <a:rPr lang="en-US" altLang="en-US" sz="2800">
                <a:latin typeface="Times New Roman" panose="02020603050405020304" pitchFamily="18" charset="0"/>
                <a:ea typeface="Gill Sans MT" panose="020B0502020104020203" pitchFamily="34" charset="0"/>
                <a:cs typeface="Gill Sans MT" panose="020B0502020104020203" pitchFamily="34" charset="0"/>
              </a:rPr>
              <a:t> 1</a:t>
            </a:r>
            <a:r>
              <a:rPr lang="en-US" altLang="en-US" sz="2800">
                <a:ea typeface="Gill Sans MT" panose="020B0502020104020203" pitchFamily="34" charset="0"/>
                <a:cs typeface="Gill Sans MT" panose="020B0502020104020203" pitchFamily="34" charset="0"/>
              </a:rPr>
              <a:t>x</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+5x</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a:t>
            </a:r>
            <a:r>
              <a:rPr lang="en-US" altLang="en-US" sz="2800">
                <a:latin typeface="Times New Roman" panose="02020603050405020304" pitchFamily="18" charset="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x</a:t>
            </a:r>
            <a:r>
              <a:rPr lang="en-US" altLang="en-US" sz="1900" baseline="-25000">
                <a:ea typeface="Gill Sans MT" panose="020B0502020104020203" pitchFamily="34" charset="0"/>
                <a:cs typeface="Gill Sans MT" panose="020B0502020104020203" pitchFamily="34" charset="0"/>
              </a:rPr>
              <a:t>3</a:t>
            </a:r>
            <a:r>
              <a:rPr lang="en-US" altLang="en-US" sz="2800">
                <a:ea typeface="Gill Sans MT" panose="020B0502020104020203" pitchFamily="34" charset="0"/>
                <a:cs typeface="Gill Sans MT" panose="020B0502020104020203" pitchFamily="34" charset="0"/>
              </a:rPr>
              <a:t>  +0s</a:t>
            </a:r>
            <a:r>
              <a:rPr lang="en-US" altLang="en-US" sz="1900" baseline="-2500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 +</a:t>
            </a:r>
            <a:r>
              <a:rPr lang="en-US" altLang="en-US" sz="2800">
                <a:latin typeface="Times New Roman" panose="02020603050405020304" pitchFamily="18" charset="0"/>
                <a:ea typeface="Gill Sans MT" panose="020B0502020104020203" pitchFamily="34" charset="0"/>
                <a:cs typeface="Gill Sans MT" panose="020B0502020104020203" pitchFamily="34" charset="0"/>
              </a:rPr>
              <a:t>1</a:t>
            </a:r>
            <a:r>
              <a:rPr lang="en-US" altLang="en-US" sz="2800">
                <a:ea typeface="Gill Sans MT" panose="020B0502020104020203" pitchFamily="34" charset="0"/>
                <a:cs typeface="Gill Sans MT" panose="020B0502020104020203" pitchFamily="34" charset="0"/>
              </a:rPr>
              <a:t>s</a:t>
            </a:r>
            <a:r>
              <a:rPr lang="en-US" altLang="en-US" sz="1900" baseline="-25000">
                <a:ea typeface="Gill Sans MT" panose="020B0502020104020203" pitchFamily="34" charset="0"/>
                <a:cs typeface="Gill Sans MT" panose="020B0502020104020203" pitchFamily="34" charset="0"/>
              </a:rPr>
              <a:t>2</a:t>
            </a:r>
            <a:r>
              <a:rPr lang="en-US" altLang="en-US" sz="2800">
                <a:ea typeface="Gill Sans MT" panose="020B0502020104020203" pitchFamily="34" charset="0"/>
                <a:cs typeface="Gill Sans MT" panose="020B0502020104020203" pitchFamily="34" charset="0"/>
              </a:rPr>
              <a:t>  = 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Google Shape;192;p32" descr="KL Deemed to be University Logo">
            <a:extLst>
              <a:ext uri="{FF2B5EF4-FFF2-40B4-BE49-F238E27FC236}">
                <a16:creationId xmlns:a16="http://schemas.microsoft.com/office/drawing/2014/main" id="{9D61918F-A846-DA72-755C-459DBA829113}"/>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 name="Google Shape;193;p32">
            <a:extLst>
              <a:ext uri="{FF2B5EF4-FFF2-40B4-BE49-F238E27FC236}">
                <a16:creationId xmlns:a16="http://schemas.microsoft.com/office/drawing/2014/main" id="{63366080-5BB1-D8DE-5F09-03415B8F65A4}"/>
              </a:ext>
            </a:extLst>
          </p:cNvPr>
          <p:cNvSpPr/>
          <p:nvPr/>
        </p:nvSpPr>
        <p:spPr>
          <a:xfrm>
            <a:off x="2090738" y="112713"/>
            <a:ext cx="9515475" cy="606425"/>
          </a:xfrm>
          <a:prstGeom prst="rect">
            <a:avLst/>
          </a:prstGeom>
          <a:solidFill>
            <a:schemeClr val="lt1"/>
          </a:solidFill>
          <a:ln w="25400" cap="flat" cmpd="sng">
            <a:solidFill>
              <a:schemeClr val="accent2"/>
            </a:solidFill>
            <a:prstDash val="solid"/>
            <a:round/>
            <a:headEnd type="none" w="sm" len="sm"/>
            <a:tailEnd type="none" w="sm" len="sm"/>
          </a:ln>
        </p:spPr>
        <p:txBody>
          <a:bodyPr spcFirstLastPara="1" lIns="91425" tIns="45700" rIns="91425" bIns="45700"/>
          <a:lstStyle/>
          <a:p>
            <a:pPr algn="ctr" eaLnBrk="1" fontAlgn="auto" hangingPunct="1">
              <a:spcBef>
                <a:spcPts val="0"/>
              </a:spcBef>
              <a:spcAft>
                <a:spcPts val="0"/>
              </a:spcAft>
              <a:defRPr/>
            </a:pPr>
            <a:r>
              <a:rPr lang="en-US" sz="3200" b="1" dirty="0">
                <a:solidFill>
                  <a:srgbClr val="FF0000"/>
                </a:solidFill>
                <a:latin typeface="Calibri"/>
                <a:ea typeface="Arial"/>
                <a:cs typeface="Calibri"/>
              </a:rPr>
              <a:t>Step 3: Set up the initial Tableau:   </a:t>
            </a:r>
            <a:r>
              <a:rPr lang="en-US" sz="3200" b="1" dirty="0">
                <a:solidFill>
                  <a:schemeClr val="accent3"/>
                </a:solidFill>
                <a:latin typeface="Calibri"/>
                <a:ea typeface="Arial"/>
                <a:cs typeface="Calibri"/>
              </a:rPr>
              <a:t>basic variables</a:t>
            </a:r>
          </a:p>
        </p:txBody>
      </p:sp>
      <p:pic>
        <p:nvPicPr>
          <p:cNvPr id="35844" name="Google Shape;196;p32">
            <a:extLst>
              <a:ext uri="{FF2B5EF4-FFF2-40B4-BE49-F238E27FC236}">
                <a16:creationId xmlns:a16="http://schemas.microsoft.com/office/drawing/2014/main" id="{AC4C79CE-1412-93F0-4D6F-A0812E5D711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Slide Number Placeholder 3">
            <a:extLst>
              <a:ext uri="{FF2B5EF4-FFF2-40B4-BE49-F238E27FC236}">
                <a16:creationId xmlns:a16="http://schemas.microsoft.com/office/drawing/2014/main" id="{9E5B4B0B-AF3B-A397-6925-E34619694F9F}"/>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FA4B2B13-4053-4E69-9DE0-E194A1F72697}" type="slidenum">
              <a:rPr lang="en-IN" altLang="en-US" sz="2200" smtClean="0">
                <a:solidFill>
                  <a:schemeClr val="accent1"/>
                </a:solidFill>
              </a:rPr>
              <a:pPr>
                <a:lnSpc>
                  <a:spcPct val="100000"/>
                </a:lnSpc>
                <a:spcBef>
                  <a:spcPct val="0"/>
                </a:spcBef>
                <a:buClrTx/>
                <a:buSzTx/>
                <a:buFontTx/>
                <a:buNone/>
              </a:pPr>
              <a:t>12</a:t>
            </a:fld>
            <a:endParaRPr lang="en-IN" altLang="en-US" sz="2200">
              <a:solidFill>
                <a:schemeClr val="accent1"/>
              </a:solidFill>
            </a:endParaRPr>
          </a:p>
        </p:txBody>
      </p:sp>
      <p:sp>
        <p:nvSpPr>
          <p:cNvPr id="8" name="TextBox 7">
            <a:extLst>
              <a:ext uri="{FF2B5EF4-FFF2-40B4-BE49-F238E27FC236}">
                <a16:creationId xmlns:a16="http://schemas.microsoft.com/office/drawing/2014/main" id="{AC46949A-5CB0-0464-65BC-CC8ED9EA35BE}"/>
              </a:ext>
            </a:extLst>
          </p:cNvPr>
          <p:cNvSpPr txBox="1"/>
          <p:nvPr/>
        </p:nvSpPr>
        <p:spPr>
          <a:xfrm>
            <a:off x="71438" y="3325813"/>
            <a:ext cx="9802812" cy="2801937"/>
          </a:xfrm>
          <a:prstGeom prst="rect">
            <a:avLst/>
          </a:prstGeom>
          <a:solidFill>
            <a:schemeClr val="bg1">
              <a:lumMod val="95000"/>
            </a:schemeClr>
          </a:solidFill>
        </p:spPr>
        <p:txBody>
          <a:bodyPr>
            <a:spAutoFit/>
          </a:bodyPr>
          <a:lstStyle/>
          <a:p>
            <a:pPr eaLnBrk="1" fontAlgn="auto" hangingPunct="1">
              <a:spcBef>
                <a:spcPts val="0"/>
              </a:spcBef>
              <a:spcAft>
                <a:spcPts val="0"/>
              </a:spcAft>
              <a:defRPr/>
            </a:pPr>
            <a:r>
              <a:rPr lang="en-US" sz="3200" b="1" dirty="0">
                <a:solidFill>
                  <a:schemeClr val="accent3"/>
                </a:solidFill>
                <a:latin typeface="Calibri"/>
                <a:ea typeface="Calibri"/>
                <a:cs typeface="Calibri"/>
              </a:rPr>
              <a:t>basic variables:</a:t>
            </a:r>
            <a:endParaRPr lang="en-US" dirty="0">
              <a:solidFill>
                <a:schemeClr val="accent3"/>
              </a:solidFill>
              <a:latin typeface="+mn-lt"/>
            </a:endParaRPr>
          </a:p>
          <a:p>
            <a:pPr eaLnBrk="1" fontAlgn="auto" hangingPunct="1">
              <a:spcBef>
                <a:spcPts val="0"/>
              </a:spcBef>
              <a:spcAft>
                <a:spcPts val="0"/>
              </a:spcAft>
              <a:defRPr/>
            </a:pPr>
            <a:r>
              <a:rPr lang="en-US" sz="2000" dirty="0">
                <a:latin typeface="Times New Roman"/>
                <a:cs typeface="Times New Roman"/>
              </a:rPr>
              <a:t>A variable is called a basic variable if it's column (in the tableau above) contains 1 in a row and zeros in all other rows.</a:t>
            </a:r>
          </a:p>
          <a:p>
            <a:pPr marL="342900" indent="-342900" eaLnBrk="1" fontAlgn="auto" hangingPunct="1">
              <a:spcBef>
                <a:spcPts val="0"/>
              </a:spcBef>
              <a:spcAft>
                <a:spcPts val="0"/>
              </a:spcAft>
              <a:buFont typeface="Arial"/>
              <a:buChar char="•"/>
              <a:defRPr/>
            </a:pPr>
            <a:r>
              <a:rPr lang="en-US" sz="2000" dirty="0">
                <a:latin typeface="Times New Roman"/>
                <a:cs typeface="Times New Roman"/>
              </a:rPr>
              <a:t>Here, the s1 column contains 1 in the 1st row (below the horizontal line) and zeros in all other rows. So, </a:t>
            </a:r>
            <a:r>
              <a:rPr lang="en-US" sz="2000" dirty="0">
                <a:solidFill>
                  <a:schemeClr val="accent3"/>
                </a:solidFill>
                <a:latin typeface="Times New Roman"/>
                <a:cs typeface="Times New Roman"/>
              </a:rPr>
              <a:t>s1</a:t>
            </a:r>
            <a:r>
              <a:rPr lang="en-US" sz="2000" dirty="0">
                <a:latin typeface="Times New Roman"/>
                <a:cs typeface="Times New Roman"/>
              </a:rPr>
              <a:t> is a basic variable in the 1st row.  </a:t>
            </a:r>
            <a:endParaRPr lang="en-US" dirty="0">
              <a:latin typeface="Gill Sans MT"/>
              <a:cs typeface="Times New Roman"/>
            </a:endParaRPr>
          </a:p>
          <a:p>
            <a:pPr marL="342900" indent="-342900" eaLnBrk="1" fontAlgn="auto" hangingPunct="1">
              <a:spcBef>
                <a:spcPts val="0"/>
              </a:spcBef>
              <a:spcAft>
                <a:spcPts val="0"/>
              </a:spcAft>
              <a:buFont typeface="Arial"/>
              <a:buChar char="•"/>
              <a:defRPr/>
            </a:pPr>
            <a:r>
              <a:rPr lang="en-US" sz="2000" dirty="0">
                <a:latin typeface="Times New Roman"/>
                <a:cs typeface="Times New Roman"/>
              </a:rPr>
              <a:t>Similarly, </a:t>
            </a:r>
            <a:r>
              <a:rPr lang="en-US" sz="2000" dirty="0">
                <a:solidFill>
                  <a:schemeClr val="accent3"/>
                </a:solidFill>
                <a:latin typeface="Times New Roman"/>
                <a:cs typeface="Times New Roman"/>
              </a:rPr>
              <a:t>s2</a:t>
            </a:r>
            <a:r>
              <a:rPr lang="en-US" sz="2000" dirty="0">
                <a:latin typeface="Times New Roman"/>
                <a:cs typeface="Times New Roman"/>
              </a:rPr>
              <a:t> is a basic variable in the 2nd row.</a:t>
            </a:r>
          </a:p>
          <a:p>
            <a:pPr marL="342900" indent="-342900" eaLnBrk="1" fontAlgn="auto" hangingPunct="1">
              <a:spcBef>
                <a:spcPts val="0"/>
              </a:spcBef>
              <a:spcAft>
                <a:spcPts val="0"/>
              </a:spcAft>
              <a:buFont typeface="Arial"/>
              <a:buChar char="•"/>
              <a:defRPr/>
            </a:pPr>
            <a:r>
              <a:rPr lang="en-US" sz="2000" dirty="0">
                <a:latin typeface="Times New Roman"/>
                <a:cs typeface="Times New Roman"/>
              </a:rPr>
              <a:t>In the objective function ( </a:t>
            </a:r>
            <a:r>
              <a:rPr lang="en-US" sz="2000" dirty="0">
                <a:latin typeface="Times New Roman"/>
                <a:ea typeface="+mn-lt"/>
                <a:cs typeface="Times New Roman"/>
              </a:rPr>
              <a:t>z = 8x1 + 10x2 +7x3 +0s1 +0s2 ), the coefficients of the basic variables (s1 and s2) are zero. These (</a:t>
            </a:r>
            <a:r>
              <a:rPr lang="en-US" sz="2400" b="1" dirty="0" err="1">
                <a:latin typeface="Arial"/>
                <a:ea typeface="+mn-lt"/>
                <a:cs typeface="Arial"/>
              </a:rPr>
              <a:t>C</a:t>
            </a:r>
            <a:r>
              <a:rPr lang="en-US" sz="1600" b="1" baseline="-25000" dirty="0" err="1">
                <a:latin typeface="Arial"/>
                <a:ea typeface="+mn-lt"/>
                <a:cs typeface="Arial"/>
              </a:rPr>
              <a:t>Bi</a:t>
            </a:r>
            <a:r>
              <a:rPr lang="en-US" sz="2000" dirty="0">
                <a:latin typeface="Times New Roman"/>
                <a:ea typeface="+mn-lt"/>
                <a:cs typeface="Times New Roman"/>
              </a:rPr>
              <a:t>) are written in the left most column above.</a:t>
            </a:r>
          </a:p>
        </p:txBody>
      </p:sp>
      <p:graphicFrame>
        <p:nvGraphicFramePr>
          <p:cNvPr id="11" name="Table 11">
            <a:extLst>
              <a:ext uri="{FF2B5EF4-FFF2-40B4-BE49-F238E27FC236}">
                <a16:creationId xmlns:a16="http://schemas.microsoft.com/office/drawing/2014/main" id="{0BBEDCB9-A377-9595-32B6-59FC72C65C04}"/>
              </a:ext>
            </a:extLst>
          </p:cNvPr>
          <p:cNvGraphicFramePr>
            <a:graphicFrameLocks noGrp="1"/>
          </p:cNvGraphicFramePr>
          <p:nvPr/>
        </p:nvGraphicFramePr>
        <p:xfrm>
          <a:off x="3109913" y="1068388"/>
          <a:ext cx="8007352" cy="1951036"/>
        </p:xfrm>
        <a:graphic>
          <a:graphicData uri="http://schemas.openxmlformats.org/drawingml/2006/table">
            <a:tbl>
              <a:tblPr firstRow="1" bandRow="1">
                <a:tableStyleId>{2D5ABB26-0587-4C30-8999-92F81FD0307C}</a:tableStyleId>
              </a:tblPr>
              <a:tblGrid>
                <a:gridCol w="909073">
                  <a:extLst>
                    <a:ext uri="{9D8B030D-6E8A-4147-A177-3AD203B41FA5}">
                      <a16:colId xmlns:a16="http://schemas.microsoft.com/office/drawing/2014/main" val="20000"/>
                    </a:ext>
                  </a:extLst>
                </a:gridCol>
                <a:gridCol w="1092765">
                  <a:extLst>
                    <a:ext uri="{9D8B030D-6E8A-4147-A177-3AD203B41FA5}">
                      <a16:colId xmlns:a16="http://schemas.microsoft.com/office/drawing/2014/main" val="20001"/>
                    </a:ext>
                  </a:extLst>
                </a:gridCol>
                <a:gridCol w="1000919">
                  <a:extLst>
                    <a:ext uri="{9D8B030D-6E8A-4147-A177-3AD203B41FA5}">
                      <a16:colId xmlns:a16="http://schemas.microsoft.com/office/drawing/2014/main" val="20002"/>
                    </a:ext>
                  </a:extLst>
                </a:gridCol>
                <a:gridCol w="1000919">
                  <a:extLst>
                    <a:ext uri="{9D8B030D-6E8A-4147-A177-3AD203B41FA5}">
                      <a16:colId xmlns:a16="http://schemas.microsoft.com/office/drawing/2014/main" val="20003"/>
                    </a:ext>
                  </a:extLst>
                </a:gridCol>
                <a:gridCol w="1000919">
                  <a:extLst>
                    <a:ext uri="{9D8B030D-6E8A-4147-A177-3AD203B41FA5}">
                      <a16:colId xmlns:a16="http://schemas.microsoft.com/office/drawing/2014/main" val="20004"/>
                    </a:ext>
                  </a:extLst>
                </a:gridCol>
                <a:gridCol w="1000919">
                  <a:extLst>
                    <a:ext uri="{9D8B030D-6E8A-4147-A177-3AD203B41FA5}">
                      <a16:colId xmlns:a16="http://schemas.microsoft.com/office/drawing/2014/main" val="20005"/>
                    </a:ext>
                  </a:extLst>
                </a:gridCol>
                <a:gridCol w="1000919">
                  <a:extLst>
                    <a:ext uri="{9D8B030D-6E8A-4147-A177-3AD203B41FA5}">
                      <a16:colId xmlns:a16="http://schemas.microsoft.com/office/drawing/2014/main" val="20006"/>
                    </a:ext>
                  </a:extLst>
                </a:gridCol>
                <a:gridCol w="1000919">
                  <a:extLst>
                    <a:ext uri="{9D8B030D-6E8A-4147-A177-3AD203B41FA5}">
                      <a16:colId xmlns:a16="http://schemas.microsoft.com/office/drawing/2014/main" val="20007"/>
                    </a:ext>
                  </a:extLst>
                </a:gridCol>
              </a:tblGrid>
              <a:tr h="457274">
                <a:tc>
                  <a:txBody>
                    <a:bodyPr/>
                    <a:lstStyle/>
                    <a:p>
                      <a:pPr lvl="0" algn="ctr">
                        <a:buNone/>
                      </a:pPr>
                      <a:endParaRPr lang="en-US" sz="2400" b="1" dirty="0">
                        <a:latin typeface="Arial"/>
                      </a:endParaRPr>
                    </a:p>
                  </a:txBody>
                  <a:tcPr marL="91427" marR="91427" marT="45727" marB="45727">
                    <a:lnL w="12700">
                      <a:solidFill>
                        <a:schemeClr val="tx1"/>
                      </a:solidFill>
                    </a:lnL>
                    <a:lnB w="12700">
                      <a:solidFill>
                        <a:schemeClr val="tx1"/>
                      </a:solidFill>
                    </a:lnB>
                  </a:tcPr>
                </a:tc>
                <a:tc>
                  <a:txBody>
                    <a:bodyPr/>
                    <a:lstStyle/>
                    <a:p>
                      <a:pPr lvl="0" algn="ctr">
                        <a:buNone/>
                      </a:pPr>
                      <a:r>
                        <a:rPr lang="en-US" sz="2400" b="1" dirty="0">
                          <a:latin typeface="Arial"/>
                        </a:rPr>
                        <a:t>C</a:t>
                      </a:r>
                      <a:r>
                        <a:rPr lang="en-US" sz="2400" b="1" baseline="-25000" dirty="0">
                          <a:latin typeface="Arial"/>
                        </a:rPr>
                        <a:t>j</a:t>
                      </a:r>
                      <a:r>
                        <a:rPr lang="en-US" sz="2400" b="1" dirty="0">
                          <a:latin typeface="Arial"/>
                        </a:rPr>
                        <a:t> -&gt;</a:t>
                      </a:r>
                    </a:p>
                  </a:txBody>
                  <a:tcPr marL="91427" marR="91427" marT="45727" marB="45727">
                    <a:lnR w="12700">
                      <a:solidFill>
                        <a:schemeClr val="tx1"/>
                      </a:solidFill>
                    </a:lnR>
                    <a:lnB w="12700">
                      <a:solidFill>
                        <a:schemeClr val="tx1"/>
                      </a:solidFill>
                    </a:lnB>
                  </a:tcPr>
                </a:tc>
                <a:tc>
                  <a:txBody>
                    <a:bodyPr/>
                    <a:lstStyle/>
                    <a:p>
                      <a:pPr algn="ctr"/>
                      <a:r>
                        <a:rPr lang="en-US" sz="2400" b="1" dirty="0">
                          <a:latin typeface="Arial"/>
                        </a:rPr>
                        <a:t>8</a:t>
                      </a:r>
                    </a:p>
                  </a:txBody>
                  <a:tcPr marL="91427" marR="91427" marT="45727" marB="45727">
                    <a:lnL w="12700">
                      <a:solidFill>
                        <a:schemeClr val="tx1"/>
                      </a:solidFill>
                    </a:lnL>
                    <a:lnB w="12700">
                      <a:solidFill>
                        <a:schemeClr val="tx1"/>
                      </a:solidFill>
                    </a:lnB>
                  </a:tcPr>
                </a:tc>
                <a:tc>
                  <a:txBody>
                    <a:bodyPr/>
                    <a:lstStyle/>
                    <a:p>
                      <a:pPr algn="ctr"/>
                      <a:r>
                        <a:rPr lang="en-US" sz="2400" b="1" dirty="0">
                          <a:latin typeface="Arial"/>
                        </a:rPr>
                        <a:t>10</a:t>
                      </a:r>
                    </a:p>
                  </a:txBody>
                  <a:tcPr marL="91427" marR="91427" marT="45727" marB="45727">
                    <a:lnB w="12700">
                      <a:solidFill>
                        <a:schemeClr val="tx1"/>
                      </a:solidFill>
                    </a:lnB>
                  </a:tcPr>
                </a:tc>
                <a:tc>
                  <a:txBody>
                    <a:bodyPr/>
                    <a:lstStyle/>
                    <a:p>
                      <a:pPr algn="ctr"/>
                      <a:r>
                        <a:rPr lang="en-US" sz="2400" b="1" dirty="0">
                          <a:latin typeface="Arial"/>
                        </a:rPr>
                        <a:t>7</a:t>
                      </a:r>
                    </a:p>
                  </a:txBody>
                  <a:tcPr marL="91427" marR="91427" marT="45727" marB="45727">
                    <a:lnB w="12700">
                      <a:solidFill>
                        <a:schemeClr val="tx1"/>
                      </a:solidFill>
                    </a:lnB>
                  </a:tcPr>
                </a:tc>
                <a:tc>
                  <a:txBody>
                    <a:bodyPr/>
                    <a:lstStyle/>
                    <a:p>
                      <a:pPr algn="ctr"/>
                      <a:r>
                        <a:rPr lang="en-US" sz="2400" b="1" dirty="0">
                          <a:latin typeface="Arial"/>
                        </a:rPr>
                        <a:t>0</a:t>
                      </a:r>
                    </a:p>
                  </a:txBody>
                  <a:tcPr marL="91427" marR="91427" marT="45727" marB="45727">
                    <a:lnB w="12700">
                      <a:solidFill>
                        <a:schemeClr val="tx1"/>
                      </a:solidFill>
                    </a:lnB>
                  </a:tcPr>
                </a:tc>
                <a:tc>
                  <a:txBody>
                    <a:bodyPr/>
                    <a:lstStyle/>
                    <a:p>
                      <a:pPr algn="ctr"/>
                      <a:r>
                        <a:rPr lang="en-US" sz="2400" b="1" dirty="0">
                          <a:latin typeface="Arial"/>
                        </a:rPr>
                        <a:t>0</a:t>
                      </a:r>
                    </a:p>
                  </a:txBody>
                  <a:tcPr marL="91427" marR="91427" marT="45727" marB="45727">
                    <a:lnB w="12700">
                      <a:solidFill>
                        <a:schemeClr val="tx1"/>
                      </a:solidFill>
                    </a:lnB>
                  </a:tcPr>
                </a:tc>
                <a:tc>
                  <a:txBody>
                    <a:bodyPr/>
                    <a:lstStyle/>
                    <a:p>
                      <a:pPr algn="ctr"/>
                      <a:endParaRPr lang="en-US" sz="2400" b="1" dirty="0">
                        <a:latin typeface="Arial"/>
                      </a:endParaRPr>
                    </a:p>
                  </a:txBody>
                  <a:tcPr marL="91427" marR="91427" marT="45727" marB="45727">
                    <a:lnB w="12700">
                      <a:solidFill>
                        <a:schemeClr val="tx1"/>
                      </a:solidFill>
                    </a:lnB>
                  </a:tcPr>
                </a:tc>
                <a:extLst>
                  <a:ext uri="{0D108BD9-81ED-4DB2-BD59-A6C34878D82A}">
                    <a16:rowId xmlns:a16="http://schemas.microsoft.com/office/drawing/2014/main" val="10000"/>
                  </a:ext>
                </a:extLst>
              </a:tr>
              <a:tr h="579214">
                <a:tc>
                  <a:txBody>
                    <a:bodyPr/>
                    <a:lstStyle/>
                    <a:p>
                      <a:pPr lvl="0" algn="ctr">
                        <a:buNone/>
                      </a:pPr>
                      <a:r>
                        <a:rPr lang="en-US" sz="2400" b="1" err="1">
                          <a:latin typeface="Arial"/>
                        </a:rPr>
                        <a:t>C</a:t>
                      </a:r>
                      <a:r>
                        <a:rPr lang="en-US" sz="2400" b="1" baseline="-25000" err="1">
                          <a:latin typeface="Arial"/>
                        </a:rPr>
                        <a:t>Bi</a:t>
                      </a:r>
                    </a:p>
                  </a:txBody>
                  <a:tcPr marL="91427" marR="91427" marT="45727" marB="45727">
                    <a:lnL w="12700">
                      <a:solidFill>
                        <a:schemeClr val="tx1"/>
                      </a:solidFill>
                    </a:lnL>
                    <a:lnT w="12700">
                      <a:solidFill>
                        <a:schemeClr val="tx1"/>
                      </a:solidFill>
                    </a:lnT>
                    <a:lnB w="12700">
                      <a:solidFill>
                        <a:schemeClr val="tx1"/>
                      </a:solidFill>
                    </a:lnB>
                  </a:tcPr>
                </a:tc>
                <a:tc>
                  <a:txBody>
                    <a:bodyPr/>
                    <a:lstStyle/>
                    <a:p>
                      <a:pPr lvl="0" algn="ctr">
                        <a:buNone/>
                      </a:pPr>
                      <a:r>
                        <a:rPr lang="en-US" sz="1600" b="1" dirty="0">
                          <a:latin typeface="Arial"/>
                        </a:rPr>
                        <a:t>Basic variables</a:t>
                      </a:r>
                    </a:p>
                  </a:txBody>
                  <a:tcPr marL="91427" marR="91427" marT="45727" marB="45727">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x1</a:t>
                      </a:r>
                      <a:endParaRPr lang="en-US" sz="1800"/>
                    </a:p>
                  </a:txBody>
                  <a:tcPr marL="91427" marR="91427" marT="45727" marB="45727">
                    <a:lnL w="12700">
                      <a:solidFill>
                        <a:schemeClr val="tx1"/>
                      </a:solidFill>
                    </a:lnL>
                    <a:lnT w="12700">
                      <a:solidFill>
                        <a:schemeClr val="tx1"/>
                      </a:solidFill>
                    </a:lnT>
                    <a:lnB w="12700">
                      <a:solidFill>
                        <a:schemeClr val="tx1"/>
                      </a:solidFill>
                    </a:lnB>
                  </a:tcPr>
                </a:tc>
                <a:tc>
                  <a:txBody>
                    <a:bodyPr/>
                    <a:lstStyle/>
                    <a:p>
                      <a:pPr lvl="0" algn="ctr">
                        <a:buNone/>
                      </a:pPr>
                      <a:r>
                        <a:rPr lang="en-US" sz="2400" b="1" dirty="0">
                          <a:latin typeface="Arial"/>
                        </a:rPr>
                        <a:t>x2</a:t>
                      </a:r>
                      <a:endParaRPr lang="en-US" sz="1800"/>
                    </a:p>
                  </a:txBody>
                  <a:tcPr marL="91427" marR="91427" marT="45727" marB="45727">
                    <a:lnT w="12700">
                      <a:solidFill>
                        <a:schemeClr val="tx1"/>
                      </a:solidFill>
                    </a:lnT>
                    <a:lnB w="12700">
                      <a:solidFill>
                        <a:schemeClr val="tx1"/>
                      </a:solidFill>
                    </a:lnB>
                  </a:tcPr>
                </a:tc>
                <a:tc>
                  <a:txBody>
                    <a:bodyPr/>
                    <a:lstStyle/>
                    <a:p>
                      <a:pPr lvl="0" algn="ctr">
                        <a:buNone/>
                      </a:pPr>
                      <a:r>
                        <a:rPr lang="en-US" sz="2400" b="1" dirty="0">
                          <a:latin typeface="Arial"/>
                        </a:rPr>
                        <a:t>x3</a:t>
                      </a:r>
                      <a:endParaRPr lang="en-US" sz="1800"/>
                    </a:p>
                  </a:txBody>
                  <a:tcPr marL="91427" marR="91427" marT="45727" marB="45727">
                    <a:lnT w="12700">
                      <a:solidFill>
                        <a:schemeClr val="tx1"/>
                      </a:solidFill>
                    </a:lnT>
                    <a:lnB w="12700">
                      <a:solidFill>
                        <a:schemeClr val="tx1"/>
                      </a:solidFill>
                    </a:lnB>
                  </a:tcPr>
                </a:tc>
                <a:tc>
                  <a:txBody>
                    <a:bodyPr/>
                    <a:lstStyle/>
                    <a:p>
                      <a:pPr lvl="0" algn="ctr">
                        <a:buNone/>
                      </a:pPr>
                      <a:r>
                        <a:rPr lang="en-US" sz="2400" b="1" dirty="0">
                          <a:latin typeface="Arial"/>
                        </a:rPr>
                        <a:t>s1</a:t>
                      </a:r>
                      <a:endParaRPr lang="en-US" sz="1800"/>
                    </a:p>
                  </a:txBody>
                  <a:tcPr marL="91427" marR="91427" marT="45727" marB="45727">
                    <a:lnT w="12700">
                      <a:solidFill>
                        <a:schemeClr val="tx1"/>
                      </a:solidFill>
                    </a:lnT>
                    <a:lnB w="12700">
                      <a:solidFill>
                        <a:schemeClr val="tx1"/>
                      </a:solidFill>
                    </a:lnB>
                  </a:tcPr>
                </a:tc>
                <a:tc>
                  <a:txBody>
                    <a:bodyPr/>
                    <a:lstStyle/>
                    <a:p>
                      <a:pPr lvl="0" algn="ctr">
                        <a:buNone/>
                      </a:pPr>
                      <a:r>
                        <a:rPr lang="en-US" sz="2400" b="1" dirty="0">
                          <a:latin typeface="Arial"/>
                        </a:rPr>
                        <a:t>s2</a:t>
                      </a:r>
                      <a:endParaRPr lang="en-US" sz="1800"/>
                    </a:p>
                  </a:txBody>
                  <a:tcPr marL="91427" marR="91427" marT="45727" marB="45727">
                    <a:lnT w="12700">
                      <a:solidFill>
                        <a:schemeClr val="tx1"/>
                      </a:solidFill>
                    </a:lnT>
                    <a:lnB w="12700">
                      <a:solidFill>
                        <a:schemeClr val="tx1"/>
                      </a:solidFill>
                    </a:lnB>
                  </a:tcPr>
                </a:tc>
                <a:tc>
                  <a:txBody>
                    <a:bodyPr/>
                    <a:lstStyle/>
                    <a:p>
                      <a:pPr lvl="0" algn="ctr">
                        <a:buNone/>
                      </a:pPr>
                      <a:r>
                        <a:rPr lang="en-US" sz="2400" b="1" dirty="0">
                          <a:latin typeface="Arial"/>
                        </a:rPr>
                        <a:t>b</a:t>
                      </a:r>
                      <a:endParaRPr lang="en-US" sz="1800"/>
                    </a:p>
                  </a:txBody>
                  <a:tcPr marL="91427" marR="91427" marT="45727" marB="45727">
                    <a:lnT w="12700">
                      <a:solidFill>
                        <a:schemeClr val="tx1"/>
                      </a:solidFill>
                    </a:lnT>
                    <a:lnB w="12700">
                      <a:solidFill>
                        <a:schemeClr val="tx1"/>
                      </a:solidFill>
                    </a:lnB>
                  </a:tcPr>
                </a:tc>
                <a:extLst>
                  <a:ext uri="{0D108BD9-81ED-4DB2-BD59-A6C34878D82A}">
                    <a16:rowId xmlns:a16="http://schemas.microsoft.com/office/drawing/2014/main" val="10001"/>
                  </a:ext>
                </a:extLst>
              </a:tr>
              <a:tr h="457274">
                <a:tc>
                  <a:txBody>
                    <a:bodyPr/>
                    <a:lstStyle/>
                    <a:p>
                      <a:pPr lvl="0" algn="ctr">
                        <a:buNone/>
                      </a:pPr>
                      <a:r>
                        <a:rPr lang="en-US" sz="2400" b="1" dirty="0">
                          <a:latin typeface="Arial"/>
                        </a:rPr>
                        <a:t>0</a:t>
                      </a:r>
                    </a:p>
                  </a:txBody>
                  <a:tcPr marL="91427" marR="91427" marT="45727" marB="45727">
                    <a:lnL w="12700">
                      <a:solidFill>
                        <a:schemeClr val="tx1"/>
                      </a:solidFill>
                    </a:lnL>
                    <a:lnT w="12700">
                      <a:solidFill>
                        <a:schemeClr val="tx1"/>
                      </a:solidFill>
                    </a:lnT>
                  </a:tcPr>
                </a:tc>
                <a:tc>
                  <a:txBody>
                    <a:bodyPr/>
                    <a:lstStyle/>
                    <a:p>
                      <a:pPr lvl="0" algn="ctr">
                        <a:buNone/>
                      </a:pPr>
                      <a:r>
                        <a:rPr lang="en-US" sz="2400" b="1" dirty="0">
                          <a:solidFill>
                            <a:schemeClr val="accent3"/>
                          </a:solidFill>
                          <a:latin typeface="Arial"/>
                        </a:rPr>
                        <a:t>s1</a:t>
                      </a:r>
                    </a:p>
                  </a:txBody>
                  <a:tcPr marL="91427" marR="91427" marT="45727" marB="45727">
                    <a:lnR w="12700">
                      <a:solidFill>
                        <a:schemeClr val="tx1"/>
                      </a:solidFill>
                    </a:lnR>
                    <a:lnT w="12700">
                      <a:solidFill>
                        <a:schemeClr val="tx1"/>
                      </a:solidFill>
                    </a:lnT>
                  </a:tcPr>
                </a:tc>
                <a:tc>
                  <a:txBody>
                    <a:bodyPr/>
                    <a:lstStyle/>
                    <a:p>
                      <a:pPr algn="ctr"/>
                      <a:r>
                        <a:rPr lang="en-US" sz="2400" b="1" dirty="0">
                          <a:latin typeface="Arial"/>
                        </a:rPr>
                        <a:t>1</a:t>
                      </a:r>
                    </a:p>
                  </a:txBody>
                  <a:tcPr marL="91427" marR="91427" marT="45727" marB="45727">
                    <a:lnL w="12700">
                      <a:solidFill>
                        <a:schemeClr val="tx1"/>
                      </a:solidFill>
                    </a:lnL>
                    <a:lnT w="12700">
                      <a:solidFill>
                        <a:schemeClr val="tx1"/>
                      </a:solidFill>
                    </a:lnT>
                  </a:tcPr>
                </a:tc>
                <a:tc>
                  <a:txBody>
                    <a:bodyPr/>
                    <a:lstStyle/>
                    <a:p>
                      <a:pPr algn="ctr"/>
                      <a:r>
                        <a:rPr lang="en-US" sz="2400" b="1" dirty="0">
                          <a:latin typeface="Arial"/>
                        </a:rPr>
                        <a:t>3</a:t>
                      </a:r>
                    </a:p>
                  </a:txBody>
                  <a:tcPr marL="91427" marR="91427" marT="45727" marB="45727">
                    <a:lnT w="12700">
                      <a:solidFill>
                        <a:schemeClr val="tx1"/>
                      </a:solidFill>
                    </a:lnT>
                  </a:tcPr>
                </a:tc>
                <a:tc>
                  <a:txBody>
                    <a:bodyPr/>
                    <a:lstStyle/>
                    <a:p>
                      <a:pPr algn="ctr"/>
                      <a:r>
                        <a:rPr lang="en-US" sz="2400" b="1" dirty="0">
                          <a:latin typeface="Arial"/>
                        </a:rPr>
                        <a:t>2</a:t>
                      </a:r>
                    </a:p>
                  </a:txBody>
                  <a:tcPr marL="91427" marR="91427" marT="45727" marB="45727">
                    <a:lnT w="12700">
                      <a:solidFill>
                        <a:schemeClr val="tx1"/>
                      </a:solidFill>
                    </a:lnT>
                  </a:tcPr>
                </a:tc>
                <a:tc>
                  <a:txBody>
                    <a:bodyPr/>
                    <a:lstStyle/>
                    <a:p>
                      <a:pPr algn="ctr"/>
                      <a:r>
                        <a:rPr lang="en-US" sz="2400" b="1" dirty="0">
                          <a:latin typeface="Arial"/>
                        </a:rPr>
                        <a:t>1</a:t>
                      </a:r>
                    </a:p>
                  </a:txBody>
                  <a:tcPr marL="91427" marR="91427" marT="45727" marB="45727">
                    <a:lnT w="12700">
                      <a:solidFill>
                        <a:schemeClr val="tx1"/>
                      </a:solidFill>
                    </a:lnT>
                  </a:tcPr>
                </a:tc>
                <a:tc>
                  <a:txBody>
                    <a:bodyPr/>
                    <a:lstStyle/>
                    <a:p>
                      <a:pPr algn="ctr"/>
                      <a:r>
                        <a:rPr lang="en-US" sz="2400" b="1" dirty="0">
                          <a:latin typeface="Arial"/>
                        </a:rPr>
                        <a:t>0</a:t>
                      </a:r>
                    </a:p>
                  </a:txBody>
                  <a:tcPr marL="91427" marR="91427" marT="45727" marB="45727">
                    <a:lnT w="12700">
                      <a:solidFill>
                        <a:schemeClr val="tx1"/>
                      </a:solidFill>
                    </a:lnT>
                  </a:tcPr>
                </a:tc>
                <a:tc>
                  <a:txBody>
                    <a:bodyPr/>
                    <a:lstStyle/>
                    <a:p>
                      <a:pPr algn="ctr"/>
                      <a:r>
                        <a:rPr lang="en-US" sz="2400" b="1" dirty="0">
                          <a:latin typeface="Arial"/>
                        </a:rPr>
                        <a:t>10</a:t>
                      </a:r>
                    </a:p>
                  </a:txBody>
                  <a:tcPr marL="91427" marR="91427" marT="45727" marB="45727">
                    <a:lnT w="12700">
                      <a:solidFill>
                        <a:schemeClr val="tx1"/>
                      </a:solidFill>
                    </a:lnT>
                  </a:tcPr>
                </a:tc>
                <a:extLst>
                  <a:ext uri="{0D108BD9-81ED-4DB2-BD59-A6C34878D82A}">
                    <a16:rowId xmlns:a16="http://schemas.microsoft.com/office/drawing/2014/main" val="10002"/>
                  </a:ext>
                </a:extLst>
              </a:tr>
              <a:tr h="457274">
                <a:tc>
                  <a:txBody>
                    <a:bodyPr/>
                    <a:lstStyle/>
                    <a:p>
                      <a:pPr lvl="0" algn="ctr">
                        <a:buNone/>
                      </a:pPr>
                      <a:r>
                        <a:rPr lang="en-US" sz="2400" b="1" dirty="0">
                          <a:latin typeface="Arial"/>
                        </a:rPr>
                        <a:t>0</a:t>
                      </a:r>
                    </a:p>
                  </a:txBody>
                  <a:tcPr marL="91427" marR="91427" marT="45727" marB="45727">
                    <a:lnL w="12700">
                      <a:solidFill>
                        <a:schemeClr val="tx1"/>
                      </a:solidFill>
                    </a:lnL>
                  </a:tcPr>
                </a:tc>
                <a:tc>
                  <a:txBody>
                    <a:bodyPr/>
                    <a:lstStyle/>
                    <a:p>
                      <a:pPr lvl="0" algn="ctr">
                        <a:buNone/>
                      </a:pPr>
                      <a:r>
                        <a:rPr lang="en-US" sz="2400" b="1" dirty="0">
                          <a:solidFill>
                            <a:schemeClr val="accent3"/>
                          </a:solidFill>
                          <a:latin typeface="Arial"/>
                        </a:rPr>
                        <a:t>s2</a:t>
                      </a:r>
                    </a:p>
                  </a:txBody>
                  <a:tcPr marL="91427" marR="91427" marT="45727" marB="45727">
                    <a:lnR w="12700">
                      <a:solidFill>
                        <a:schemeClr val="tx1"/>
                      </a:solidFill>
                    </a:lnR>
                  </a:tcPr>
                </a:tc>
                <a:tc>
                  <a:txBody>
                    <a:bodyPr/>
                    <a:lstStyle/>
                    <a:p>
                      <a:pPr algn="ctr"/>
                      <a:r>
                        <a:rPr lang="en-US" sz="2400" b="1" dirty="0">
                          <a:latin typeface="Arial"/>
                        </a:rPr>
                        <a:t>1</a:t>
                      </a:r>
                    </a:p>
                  </a:txBody>
                  <a:tcPr marL="91427" marR="91427" marT="45727" marB="45727">
                    <a:lnL w="12700">
                      <a:solidFill>
                        <a:schemeClr val="tx1"/>
                      </a:solidFill>
                    </a:lnL>
                  </a:tcPr>
                </a:tc>
                <a:tc>
                  <a:txBody>
                    <a:bodyPr/>
                    <a:lstStyle/>
                    <a:p>
                      <a:pPr algn="ctr"/>
                      <a:r>
                        <a:rPr lang="en-US" sz="2400" b="1" dirty="0">
                          <a:latin typeface="Arial"/>
                        </a:rPr>
                        <a:t>5</a:t>
                      </a:r>
                    </a:p>
                  </a:txBody>
                  <a:tcPr marL="91427" marR="91427" marT="45727" marB="45727"/>
                </a:tc>
                <a:tc>
                  <a:txBody>
                    <a:bodyPr/>
                    <a:lstStyle/>
                    <a:p>
                      <a:pPr algn="ctr"/>
                      <a:r>
                        <a:rPr lang="en-US" sz="2400" b="1" dirty="0">
                          <a:latin typeface="Arial"/>
                        </a:rPr>
                        <a:t>1</a:t>
                      </a:r>
                    </a:p>
                  </a:txBody>
                  <a:tcPr marL="91427" marR="91427" marT="45727" marB="45727"/>
                </a:tc>
                <a:tc>
                  <a:txBody>
                    <a:bodyPr/>
                    <a:lstStyle/>
                    <a:p>
                      <a:pPr algn="ctr"/>
                      <a:r>
                        <a:rPr lang="en-US" sz="2400" b="1" dirty="0">
                          <a:latin typeface="Arial"/>
                        </a:rPr>
                        <a:t>0</a:t>
                      </a:r>
                    </a:p>
                  </a:txBody>
                  <a:tcPr marL="91427" marR="91427" marT="45727" marB="45727"/>
                </a:tc>
                <a:tc>
                  <a:txBody>
                    <a:bodyPr/>
                    <a:lstStyle/>
                    <a:p>
                      <a:pPr algn="ctr"/>
                      <a:r>
                        <a:rPr lang="en-US" sz="2400" b="1" dirty="0">
                          <a:latin typeface="Arial"/>
                        </a:rPr>
                        <a:t>1</a:t>
                      </a:r>
                    </a:p>
                  </a:txBody>
                  <a:tcPr marL="91427" marR="91427" marT="45727" marB="45727"/>
                </a:tc>
                <a:tc>
                  <a:txBody>
                    <a:bodyPr/>
                    <a:lstStyle/>
                    <a:p>
                      <a:pPr algn="ctr"/>
                      <a:r>
                        <a:rPr lang="en-US" sz="2400" b="1" dirty="0">
                          <a:latin typeface="Arial"/>
                        </a:rPr>
                        <a:t>8</a:t>
                      </a:r>
                    </a:p>
                  </a:txBody>
                  <a:tcPr marL="91427" marR="91427" marT="45727" marB="45727"/>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Google Shape;193;p32">
            <a:extLst>
              <a:ext uri="{FF2B5EF4-FFF2-40B4-BE49-F238E27FC236}">
                <a16:creationId xmlns:a16="http://schemas.microsoft.com/office/drawing/2014/main" id="{30686D10-761D-B45E-E0E3-11B75C796BA6}"/>
              </a:ext>
            </a:extLst>
          </p:cNvPr>
          <p:cNvSpPr/>
          <p:nvPr/>
        </p:nvSpPr>
        <p:spPr>
          <a:xfrm>
            <a:off x="2090738" y="112713"/>
            <a:ext cx="9515475" cy="606425"/>
          </a:xfrm>
          <a:prstGeom prst="rect">
            <a:avLst/>
          </a:prstGeom>
          <a:solidFill>
            <a:schemeClr val="lt1"/>
          </a:solidFill>
          <a:ln w="25400" cap="flat" cmpd="sng">
            <a:solidFill>
              <a:schemeClr val="accent2"/>
            </a:solidFill>
            <a:prstDash val="solid"/>
            <a:round/>
            <a:headEnd type="none" w="sm" len="sm"/>
            <a:tailEnd type="none" w="sm" len="sm"/>
          </a:ln>
        </p:spPr>
        <p:txBody>
          <a:bodyPr spcFirstLastPara="1" lIns="91425" tIns="45700" rIns="91425" bIns="45700"/>
          <a:lstStyle/>
          <a:p>
            <a:pPr algn="ctr" eaLnBrk="1" fontAlgn="auto" hangingPunct="1">
              <a:spcBef>
                <a:spcPts val="0"/>
              </a:spcBef>
              <a:spcAft>
                <a:spcPts val="0"/>
              </a:spcAft>
              <a:defRPr/>
            </a:pPr>
            <a:r>
              <a:rPr lang="en-US" sz="3200" b="1" dirty="0">
                <a:solidFill>
                  <a:srgbClr val="FF0000"/>
                </a:solidFill>
                <a:latin typeface="Calibri"/>
                <a:ea typeface="Arial"/>
                <a:cs typeface="Calibri"/>
              </a:rPr>
              <a:t>Step 3: Set up the initial Tableau: </a:t>
            </a:r>
            <a:r>
              <a:rPr lang="en-US" sz="3200" b="1" dirty="0">
                <a:solidFill>
                  <a:schemeClr val="accent3"/>
                </a:solidFill>
                <a:latin typeface="Calibri"/>
                <a:ea typeface="Arial"/>
                <a:cs typeface="Calibri"/>
              </a:rPr>
              <a:t> </a:t>
            </a:r>
            <a:r>
              <a:rPr lang="en-US" sz="3200" b="1" dirty="0" err="1">
                <a:solidFill>
                  <a:schemeClr val="accent3"/>
                </a:solidFill>
                <a:latin typeface="Calibri"/>
                <a:ea typeface="Arial"/>
                <a:cs typeface="Calibri"/>
              </a:rPr>
              <a:t>z</a:t>
            </a:r>
            <a:r>
              <a:rPr lang="en-US" sz="3200" b="1" baseline="-25000" dirty="0" err="1">
                <a:solidFill>
                  <a:schemeClr val="accent3"/>
                </a:solidFill>
                <a:latin typeface="Calibri"/>
                <a:ea typeface="Arial"/>
                <a:cs typeface="Calibri"/>
              </a:rPr>
              <a:t>j</a:t>
            </a:r>
            <a:r>
              <a:rPr lang="en-US" sz="3200" b="1" dirty="0" err="1">
                <a:solidFill>
                  <a:schemeClr val="accent3"/>
                </a:solidFill>
                <a:latin typeface="Calibri"/>
                <a:ea typeface="Arial"/>
                <a:cs typeface="Calibri"/>
              </a:rPr>
              <a:t>s</a:t>
            </a:r>
            <a:endParaRPr lang="en-US" sz="3200" b="1" dirty="0">
              <a:solidFill>
                <a:schemeClr val="accent3"/>
              </a:solidFill>
              <a:latin typeface="Calibri"/>
              <a:ea typeface="Arial"/>
              <a:cs typeface="Calibri"/>
            </a:endParaRPr>
          </a:p>
        </p:txBody>
      </p:sp>
      <p:pic>
        <p:nvPicPr>
          <p:cNvPr id="37891" name="Google Shape;196;p32">
            <a:extLst>
              <a:ext uri="{FF2B5EF4-FFF2-40B4-BE49-F238E27FC236}">
                <a16:creationId xmlns:a16="http://schemas.microsoft.com/office/drawing/2014/main" id="{50452087-C7F7-5EE0-0AED-D7E13363636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Slide Number Placeholder 3">
            <a:extLst>
              <a:ext uri="{FF2B5EF4-FFF2-40B4-BE49-F238E27FC236}">
                <a16:creationId xmlns:a16="http://schemas.microsoft.com/office/drawing/2014/main" id="{F5396DA3-48FE-CCF8-D973-F4B461BF3CA4}"/>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A1CFCC10-A512-4F3A-B235-B5521C4AC15F}" type="slidenum">
              <a:rPr lang="en-IN" altLang="en-US" sz="2200" smtClean="0">
                <a:solidFill>
                  <a:schemeClr val="accent1"/>
                </a:solidFill>
              </a:rPr>
              <a:pPr>
                <a:lnSpc>
                  <a:spcPct val="100000"/>
                </a:lnSpc>
                <a:spcBef>
                  <a:spcPct val="0"/>
                </a:spcBef>
                <a:buClrTx/>
                <a:buSzTx/>
                <a:buFontTx/>
                <a:buNone/>
              </a:pPr>
              <a:t>13</a:t>
            </a:fld>
            <a:endParaRPr lang="en-IN" altLang="en-US" sz="2200">
              <a:solidFill>
                <a:schemeClr val="accent1"/>
              </a:solidFill>
            </a:endParaRPr>
          </a:p>
        </p:txBody>
      </p:sp>
      <p:sp>
        <p:nvSpPr>
          <p:cNvPr id="8" name="TextBox 7">
            <a:extLst>
              <a:ext uri="{FF2B5EF4-FFF2-40B4-BE49-F238E27FC236}">
                <a16:creationId xmlns:a16="http://schemas.microsoft.com/office/drawing/2014/main" id="{4EB27E93-FEDD-5C77-53EA-934713C08F4B}"/>
              </a:ext>
            </a:extLst>
          </p:cNvPr>
          <p:cNvSpPr txBox="1"/>
          <p:nvPr/>
        </p:nvSpPr>
        <p:spPr>
          <a:xfrm>
            <a:off x="373063" y="4267200"/>
            <a:ext cx="9802812" cy="1814513"/>
          </a:xfrm>
          <a:prstGeom prst="rect">
            <a:avLst/>
          </a:prstGeom>
          <a:solidFill>
            <a:schemeClr val="bg1">
              <a:lumMod val="95000"/>
            </a:schemeClr>
          </a:solidFill>
        </p:spPr>
        <p:txBody>
          <a:bodyPr>
            <a:spAutoFit/>
          </a:bodyPr>
          <a:lstStyle/>
          <a:p>
            <a:pPr eaLnBrk="1" fontAlgn="auto" hangingPunct="1">
              <a:spcBef>
                <a:spcPts val="0"/>
              </a:spcBef>
              <a:spcAft>
                <a:spcPts val="0"/>
              </a:spcAft>
              <a:defRPr/>
            </a:pPr>
            <a:r>
              <a:rPr lang="en-US" sz="3200" b="1" dirty="0" err="1">
                <a:solidFill>
                  <a:schemeClr val="accent3"/>
                </a:solidFill>
                <a:latin typeface="Calibri"/>
                <a:ea typeface="Calibri"/>
                <a:cs typeface="Calibri"/>
              </a:rPr>
              <a:t>z</a:t>
            </a:r>
            <a:r>
              <a:rPr lang="en-US" sz="3200" b="1" baseline="-25000" dirty="0" err="1">
                <a:solidFill>
                  <a:schemeClr val="accent3"/>
                </a:solidFill>
                <a:latin typeface="Calibri"/>
                <a:ea typeface="Calibri"/>
                <a:cs typeface="Calibri"/>
              </a:rPr>
              <a:t>j</a:t>
            </a:r>
            <a:r>
              <a:rPr lang="en-US" sz="3200" b="1" dirty="0" err="1">
                <a:solidFill>
                  <a:schemeClr val="accent3"/>
                </a:solidFill>
                <a:latin typeface="Calibri"/>
                <a:ea typeface="Calibri"/>
                <a:cs typeface="Calibri"/>
              </a:rPr>
              <a:t>s</a:t>
            </a:r>
            <a:r>
              <a:rPr lang="en-US" sz="2000" dirty="0">
                <a:latin typeface="Times New Roman"/>
                <a:cs typeface="Times New Roman"/>
              </a:rPr>
              <a:t>:</a:t>
            </a:r>
            <a:r>
              <a:rPr lang="en-US" sz="2800" dirty="0">
                <a:latin typeface="Times New Roman"/>
                <a:cs typeface="Times New Roman"/>
              </a:rPr>
              <a:t>                                            </a:t>
            </a:r>
            <a:r>
              <a:rPr lang="en-US" sz="2800" dirty="0" err="1">
                <a:latin typeface="Times New Roman"/>
                <a:cs typeface="Times New Roman"/>
              </a:rPr>
              <a:t>z</a:t>
            </a:r>
            <a:r>
              <a:rPr lang="en-US" sz="2800" baseline="-25000" dirty="0" err="1">
                <a:latin typeface="Times New Roman"/>
                <a:cs typeface="Times New Roman"/>
              </a:rPr>
              <a:t>j</a:t>
            </a:r>
            <a:r>
              <a:rPr lang="en-US" sz="2800" dirty="0">
                <a:latin typeface="Times New Roman"/>
                <a:cs typeface="Times New Roman"/>
              </a:rPr>
              <a:t> =</a:t>
            </a:r>
            <a:r>
              <a:rPr lang="en-US" sz="2800" dirty="0">
                <a:solidFill>
                  <a:srgbClr val="000000"/>
                </a:solidFill>
                <a:latin typeface="Times New Roman"/>
                <a:cs typeface="Times New Roman"/>
              </a:rPr>
              <a:t> </a:t>
            </a:r>
            <a:r>
              <a:rPr lang="en-US" sz="2800" dirty="0" err="1">
                <a:latin typeface="Gill Sans MT"/>
                <a:cs typeface="Times New Roman"/>
              </a:rPr>
              <a:t>Σ</a:t>
            </a:r>
            <a:r>
              <a:rPr lang="en-US" sz="2800" baseline="-25000" dirty="0" err="1">
                <a:latin typeface="Gill Sans MT"/>
                <a:cs typeface="Times New Roman"/>
              </a:rPr>
              <a:t>i</a:t>
            </a:r>
            <a:r>
              <a:rPr lang="en-US" sz="2800" dirty="0">
                <a:latin typeface="Gill Sans MT"/>
                <a:cs typeface="Times New Roman"/>
              </a:rPr>
              <a:t> </a:t>
            </a:r>
            <a:r>
              <a:rPr lang="en-US" sz="2800" dirty="0" err="1">
                <a:latin typeface="Gill Sans MT"/>
                <a:cs typeface="Times New Roman"/>
              </a:rPr>
              <a:t>C</a:t>
            </a:r>
            <a:r>
              <a:rPr lang="en-US" sz="2800" baseline="-25000" dirty="0" err="1">
                <a:latin typeface="Gill Sans MT"/>
                <a:cs typeface="Times New Roman"/>
              </a:rPr>
              <a:t>Bi</a:t>
            </a:r>
            <a:r>
              <a:rPr lang="en-US" sz="2800" dirty="0">
                <a:latin typeface="Gill Sans MT"/>
                <a:cs typeface="Times New Roman"/>
              </a:rPr>
              <a:t> </a:t>
            </a:r>
            <a:r>
              <a:rPr lang="en-US" sz="2800" dirty="0" err="1">
                <a:latin typeface="Gill Sans MT"/>
                <a:cs typeface="Times New Roman"/>
              </a:rPr>
              <a:t>a</a:t>
            </a:r>
            <a:r>
              <a:rPr lang="en-US" sz="2800" baseline="-25000" dirty="0" err="1">
                <a:latin typeface="Gill Sans MT"/>
                <a:cs typeface="Times New Roman"/>
              </a:rPr>
              <a:t>ij</a:t>
            </a:r>
            <a:endParaRPr lang="en-US" sz="2800" baseline="-25000" dirty="0">
              <a:latin typeface="Gill Sans MT"/>
              <a:cs typeface="Times New Roman"/>
            </a:endParaRPr>
          </a:p>
          <a:p>
            <a:pPr eaLnBrk="1" fontAlgn="auto" hangingPunct="1">
              <a:spcBef>
                <a:spcPts val="0"/>
              </a:spcBef>
              <a:spcAft>
                <a:spcPts val="0"/>
              </a:spcAft>
              <a:defRPr/>
            </a:pPr>
            <a:r>
              <a:rPr lang="en-US" sz="2000" dirty="0">
                <a:latin typeface="Times New Roman"/>
                <a:cs typeface="Times New Roman"/>
              </a:rPr>
              <a:t>      1st column:    z1 = 0 x1 + 0x1  = 0</a:t>
            </a:r>
          </a:p>
          <a:p>
            <a:pPr eaLnBrk="1" fontAlgn="auto" hangingPunct="1">
              <a:spcBef>
                <a:spcPts val="0"/>
              </a:spcBef>
              <a:spcAft>
                <a:spcPts val="0"/>
              </a:spcAft>
              <a:defRPr/>
            </a:pPr>
            <a:r>
              <a:rPr lang="en-US" sz="2000" dirty="0">
                <a:latin typeface="Times New Roman"/>
                <a:cs typeface="Times New Roman"/>
              </a:rPr>
              <a:t>      Similarly, z</a:t>
            </a:r>
            <a:r>
              <a:rPr lang="en-US" sz="2000" baseline="-25000" dirty="0">
                <a:latin typeface="Times New Roman"/>
                <a:cs typeface="Times New Roman"/>
              </a:rPr>
              <a:t>i</a:t>
            </a:r>
            <a:r>
              <a:rPr lang="en-US" sz="2000" dirty="0">
                <a:latin typeface="Times New Roman"/>
                <a:cs typeface="Times New Roman"/>
              </a:rPr>
              <a:t> (I=1 to 6) is zero in all 6 columns. Write these zi values in a row below.</a:t>
            </a:r>
          </a:p>
          <a:p>
            <a:pPr eaLnBrk="1" fontAlgn="auto" hangingPunct="1">
              <a:spcBef>
                <a:spcPts val="0"/>
              </a:spcBef>
              <a:spcAft>
                <a:spcPts val="0"/>
              </a:spcAft>
              <a:defRPr/>
            </a:pPr>
            <a:endParaRPr lang="en-US" sz="2000" dirty="0">
              <a:solidFill>
                <a:srgbClr val="000000"/>
              </a:solidFill>
              <a:latin typeface="Times New Roman"/>
              <a:cs typeface="Times New Roman"/>
            </a:endParaRPr>
          </a:p>
          <a:p>
            <a:pPr marL="342900" indent="-342900" eaLnBrk="1" fontAlgn="auto" hangingPunct="1">
              <a:spcBef>
                <a:spcPts val="0"/>
              </a:spcBef>
              <a:spcAft>
                <a:spcPts val="0"/>
              </a:spcAft>
              <a:buFont typeface="Arial"/>
              <a:buChar char="•"/>
              <a:defRPr/>
            </a:pPr>
            <a:r>
              <a:rPr lang="en-US" sz="2000" dirty="0">
                <a:latin typeface="Times New Roman"/>
                <a:cs typeface="Times New Roman"/>
              </a:rPr>
              <a:t>Now, in each of the 6 columns, compute C</a:t>
            </a:r>
            <a:r>
              <a:rPr lang="en-US" sz="2000" baseline="-25000" dirty="0">
                <a:latin typeface="Times New Roman"/>
                <a:cs typeface="Times New Roman"/>
              </a:rPr>
              <a:t>j</a:t>
            </a:r>
            <a:r>
              <a:rPr lang="en-US" sz="2000" dirty="0">
                <a:latin typeface="Times New Roman"/>
                <a:cs typeface="Times New Roman"/>
              </a:rPr>
              <a:t> – </a:t>
            </a:r>
            <a:r>
              <a:rPr lang="en-US" sz="2000" dirty="0" err="1">
                <a:latin typeface="Times New Roman"/>
                <a:cs typeface="Times New Roman"/>
              </a:rPr>
              <a:t>z</a:t>
            </a:r>
            <a:r>
              <a:rPr lang="en-US" sz="2000" baseline="-25000" dirty="0" err="1">
                <a:latin typeface="Times New Roman"/>
                <a:cs typeface="Times New Roman"/>
              </a:rPr>
              <a:t>j</a:t>
            </a:r>
            <a:r>
              <a:rPr lang="en-US" sz="2000" dirty="0">
                <a:latin typeface="Times New Roman"/>
                <a:cs typeface="Times New Roman"/>
              </a:rPr>
              <a:t> and write them in the last row. </a:t>
            </a:r>
            <a:endParaRPr lang="en-US" dirty="0">
              <a:latin typeface="Gill Sans MT"/>
              <a:cs typeface="Times New Roman"/>
            </a:endParaRPr>
          </a:p>
        </p:txBody>
      </p:sp>
      <p:graphicFrame>
        <p:nvGraphicFramePr>
          <p:cNvPr id="11" name="Table 11">
            <a:extLst>
              <a:ext uri="{FF2B5EF4-FFF2-40B4-BE49-F238E27FC236}">
                <a16:creationId xmlns:a16="http://schemas.microsoft.com/office/drawing/2014/main" id="{D699A057-9523-266C-1FA3-C707E85BA3AE}"/>
              </a:ext>
            </a:extLst>
          </p:cNvPr>
          <p:cNvGraphicFramePr>
            <a:graphicFrameLocks noGrp="1"/>
          </p:cNvGraphicFramePr>
          <p:nvPr/>
        </p:nvGraphicFramePr>
        <p:xfrm>
          <a:off x="1954213" y="1093788"/>
          <a:ext cx="8007352" cy="2865439"/>
        </p:xfrm>
        <a:graphic>
          <a:graphicData uri="http://schemas.openxmlformats.org/drawingml/2006/table">
            <a:tbl>
              <a:tblPr firstRow="1" bandRow="1">
                <a:tableStyleId>{2D5ABB26-0587-4C30-8999-92F81FD0307C}</a:tableStyleId>
              </a:tblPr>
              <a:tblGrid>
                <a:gridCol w="909073">
                  <a:extLst>
                    <a:ext uri="{9D8B030D-6E8A-4147-A177-3AD203B41FA5}">
                      <a16:colId xmlns:a16="http://schemas.microsoft.com/office/drawing/2014/main" val="20000"/>
                    </a:ext>
                  </a:extLst>
                </a:gridCol>
                <a:gridCol w="1092765">
                  <a:extLst>
                    <a:ext uri="{9D8B030D-6E8A-4147-A177-3AD203B41FA5}">
                      <a16:colId xmlns:a16="http://schemas.microsoft.com/office/drawing/2014/main" val="20001"/>
                    </a:ext>
                  </a:extLst>
                </a:gridCol>
                <a:gridCol w="1000919">
                  <a:extLst>
                    <a:ext uri="{9D8B030D-6E8A-4147-A177-3AD203B41FA5}">
                      <a16:colId xmlns:a16="http://schemas.microsoft.com/office/drawing/2014/main" val="20002"/>
                    </a:ext>
                  </a:extLst>
                </a:gridCol>
                <a:gridCol w="1000919">
                  <a:extLst>
                    <a:ext uri="{9D8B030D-6E8A-4147-A177-3AD203B41FA5}">
                      <a16:colId xmlns:a16="http://schemas.microsoft.com/office/drawing/2014/main" val="20003"/>
                    </a:ext>
                  </a:extLst>
                </a:gridCol>
                <a:gridCol w="1000919">
                  <a:extLst>
                    <a:ext uri="{9D8B030D-6E8A-4147-A177-3AD203B41FA5}">
                      <a16:colId xmlns:a16="http://schemas.microsoft.com/office/drawing/2014/main" val="20004"/>
                    </a:ext>
                  </a:extLst>
                </a:gridCol>
                <a:gridCol w="1000919">
                  <a:extLst>
                    <a:ext uri="{9D8B030D-6E8A-4147-A177-3AD203B41FA5}">
                      <a16:colId xmlns:a16="http://schemas.microsoft.com/office/drawing/2014/main" val="20005"/>
                    </a:ext>
                  </a:extLst>
                </a:gridCol>
                <a:gridCol w="1000919">
                  <a:extLst>
                    <a:ext uri="{9D8B030D-6E8A-4147-A177-3AD203B41FA5}">
                      <a16:colId xmlns:a16="http://schemas.microsoft.com/office/drawing/2014/main" val="20006"/>
                    </a:ext>
                  </a:extLst>
                </a:gridCol>
                <a:gridCol w="1000919">
                  <a:extLst>
                    <a:ext uri="{9D8B030D-6E8A-4147-A177-3AD203B41FA5}">
                      <a16:colId xmlns:a16="http://schemas.microsoft.com/office/drawing/2014/main" val="20007"/>
                    </a:ext>
                  </a:extLst>
                </a:gridCol>
              </a:tblGrid>
              <a:tr h="457251">
                <a:tc>
                  <a:txBody>
                    <a:bodyPr/>
                    <a:lstStyle/>
                    <a:p>
                      <a:pPr lvl="0" algn="ctr">
                        <a:buNone/>
                      </a:pPr>
                      <a:endParaRPr lang="en-US" sz="2400" b="1" dirty="0">
                        <a:latin typeface="Arial"/>
                      </a:endParaRPr>
                    </a:p>
                  </a:txBody>
                  <a:tcPr marL="91427" marR="91427" marT="45725" marB="45725">
                    <a:lnL w="12700">
                      <a:solidFill>
                        <a:schemeClr val="tx1"/>
                      </a:solidFill>
                    </a:lnL>
                    <a:lnB w="12700">
                      <a:solidFill>
                        <a:schemeClr val="tx1"/>
                      </a:solidFill>
                    </a:lnB>
                  </a:tcPr>
                </a:tc>
                <a:tc>
                  <a:txBody>
                    <a:bodyPr/>
                    <a:lstStyle/>
                    <a:p>
                      <a:pPr lvl="0" algn="ctr">
                        <a:buNone/>
                      </a:pPr>
                      <a:r>
                        <a:rPr lang="en-US" sz="2400" b="1" dirty="0">
                          <a:latin typeface="Arial"/>
                        </a:rPr>
                        <a:t>C</a:t>
                      </a:r>
                      <a:r>
                        <a:rPr lang="en-US" sz="2400" b="1" baseline="-25000" dirty="0">
                          <a:latin typeface="Arial"/>
                        </a:rPr>
                        <a:t>j</a:t>
                      </a:r>
                      <a:r>
                        <a:rPr lang="en-US" sz="2400" b="1" dirty="0">
                          <a:latin typeface="Arial"/>
                        </a:rPr>
                        <a:t> -&gt;</a:t>
                      </a:r>
                    </a:p>
                  </a:txBody>
                  <a:tcPr marL="91427" marR="91427" marT="45725" marB="45725">
                    <a:lnR w="12700">
                      <a:solidFill>
                        <a:schemeClr val="tx1"/>
                      </a:solidFill>
                    </a:lnR>
                    <a:lnB w="12700">
                      <a:solidFill>
                        <a:schemeClr val="tx1"/>
                      </a:solidFill>
                    </a:lnB>
                  </a:tcPr>
                </a:tc>
                <a:tc>
                  <a:txBody>
                    <a:bodyPr/>
                    <a:lstStyle/>
                    <a:p>
                      <a:pPr algn="ctr"/>
                      <a:r>
                        <a:rPr lang="en-US" sz="2400" b="1" dirty="0">
                          <a:latin typeface="Arial"/>
                        </a:rPr>
                        <a:t>8</a:t>
                      </a:r>
                    </a:p>
                  </a:txBody>
                  <a:tcPr marL="91427" marR="91427" marT="45725" marB="45725">
                    <a:lnL w="12700">
                      <a:solidFill>
                        <a:schemeClr val="tx1"/>
                      </a:solidFill>
                    </a:lnL>
                    <a:lnB w="12700">
                      <a:solidFill>
                        <a:schemeClr val="tx1"/>
                      </a:solidFill>
                    </a:lnB>
                  </a:tcPr>
                </a:tc>
                <a:tc>
                  <a:txBody>
                    <a:bodyPr/>
                    <a:lstStyle/>
                    <a:p>
                      <a:pPr algn="ctr"/>
                      <a:r>
                        <a:rPr lang="en-US" sz="2400" b="1" dirty="0">
                          <a:latin typeface="Arial"/>
                        </a:rPr>
                        <a:t>10</a:t>
                      </a:r>
                    </a:p>
                  </a:txBody>
                  <a:tcPr marL="91427" marR="91427" marT="45725" marB="45725">
                    <a:lnB w="12700">
                      <a:solidFill>
                        <a:schemeClr val="tx1"/>
                      </a:solidFill>
                    </a:lnB>
                  </a:tcPr>
                </a:tc>
                <a:tc>
                  <a:txBody>
                    <a:bodyPr/>
                    <a:lstStyle/>
                    <a:p>
                      <a:pPr algn="ctr"/>
                      <a:r>
                        <a:rPr lang="en-US" sz="2400" b="1" dirty="0">
                          <a:latin typeface="Arial"/>
                        </a:rPr>
                        <a:t>7</a:t>
                      </a:r>
                    </a:p>
                  </a:txBody>
                  <a:tcPr marL="91427" marR="91427" marT="45725" marB="45725">
                    <a:lnB w="12700">
                      <a:solidFill>
                        <a:schemeClr val="tx1"/>
                      </a:solidFill>
                    </a:lnB>
                  </a:tcPr>
                </a:tc>
                <a:tc>
                  <a:txBody>
                    <a:bodyPr/>
                    <a:lstStyle/>
                    <a:p>
                      <a:pPr algn="ctr"/>
                      <a:r>
                        <a:rPr lang="en-US" sz="2400" b="1" dirty="0">
                          <a:latin typeface="Arial"/>
                        </a:rPr>
                        <a:t>0</a:t>
                      </a:r>
                    </a:p>
                  </a:txBody>
                  <a:tcPr marL="91427" marR="91427" marT="45725" marB="45725">
                    <a:lnB w="12700">
                      <a:solidFill>
                        <a:schemeClr val="tx1"/>
                      </a:solidFill>
                    </a:lnB>
                  </a:tcPr>
                </a:tc>
                <a:tc>
                  <a:txBody>
                    <a:bodyPr/>
                    <a:lstStyle/>
                    <a:p>
                      <a:pPr algn="ctr"/>
                      <a:r>
                        <a:rPr lang="en-US" sz="2400" b="1" dirty="0">
                          <a:latin typeface="Arial"/>
                        </a:rPr>
                        <a:t>0</a:t>
                      </a:r>
                    </a:p>
                  </a:txBody>
                  <a:tcPr marL="91427" marR="91427" marT="45725" marB="45725">
                    <a:lnR w="12700">
                      <a:solidFill>
                        <a:schemeClr val="tx1"/>
                      </a:solidFill>
                    </a:lnR>
                    <a:lnB w="12700">
                      <a:solidFill>
                        <a:schemeClr val="tx1"/>
                      </a:solidFill>
                    </a:lnB>
                  </a:tcPr>
                </a:tc>
                <a:tc>
                  <a:txBody>
                    <a:bodyPr/>
                    <a:lstStyle/>
                    <a:p>
                      <a:pPr algn="ctr"/>
                      <a:endParaRPr lang="en-US" sz="2400" b="1" dirty="0">
                        <a:latin typeface="Arial"/>
                      </a:endParaRPr>
                    </a:p>
                  </a:txBody>
                  <a:tcPr marL="91427" marR="91427" marT="45725" marB="45725">
                    <a:lnL w="12700">
                      <a:solidFill>
                        <a:schemeClr val="tx1"/>
                      </a:solidFill>
                    </a:lnL>
                    <a:lnB w="12700">
                      <a:solidFill>
                        <a:schemeClr val="tx1"/>
                      </a:solidFill>
                    </a:lnB>
                  </a:tcPr>
                </a:tc>
                <a:extLst>
                  <a:ext uri="{0D108BD9-81ED-4DB2-BD59-A6C34878D82A}">
                    <a16:rowId xmlns:a16="http://schemas.microsoft.com/office/drawing/2014/main" val="10000"/>
                  </a:ext>
                </a:extLst>
              </a:tr>
              <a:tr h="579184">
                <a:tc>
                  <a:txBody>
                    <a:bodyPr/>
                    <a:lstStyle/>
                    <a:p>
                      <a:pPr lvl="0" algn="ctr">
                        <a:buNone/>
                      </a:pPr>
                      <a:r>
                        <a:rPr lang="en-US" sz="2400" b="1" err="1">
                          <a:latin typeface="Arial"/>
                        </a:rPr>
                        <a:t>C</a:t>
                      </a:r>
                      <a:r>
                        <a:rPr lang="en-US" sz="2400" b="1" baseline="-25000" err="1">
                          <a:latin typeface="Arial"/>
                        </a:rPr>
                        <a:t>Bi</a:t>
                      </a:r>
                    </a:p>
                  </a:txBody>
                  <a:tcPr marL="91427" marR="91427" marT="45725" marB="45725">
                    <a:lnL w="12700">
                      <a:solidFill>
                        <a:schemeClr val="tx1"/>
                      </a:solidFill>
                    </a:lnL>
                    <a:lnT w="12700">
                      <a:solidFill>
                        <a:schemeClr val="tx1"/>
                      </a:solidFill>
                    </a:lnT>
                    <a:lnB w="12700">
                      <a:solidFill>
                        <a:schemeClr val="tx1"/>
                      </a:solidFill>
                    </a:lnB>
                  </a:tcPr>
                </a:tc>
                <a:tc>
                  <a:txBody>
                    <a:bodyPr/>
                    <a:lstStyle/>
                    <a:p>
                      <a:pPr lvl="0" algn="ctr">
                        <a:buNone/>
                      </a:pPr>
                      <a:r>
                        <a:rPr lang="en-US" sz="1600" b="1" dirty="0">
                          <a:latin typeface="Arial"/>
                        </a:rPr>
                        <a:t>Basic variables</a:t>
                      </a:r>
                    </a:p>
                  </a:txBody>
                  <a:tcPr marL="91427" marR="91427" marT="45725" marB="45725">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x1</a:t>
                      </a:r>
                      <a:endParaRPr lang="en-US" sz="1800"/>
                    </a:p>
                  </a:txBody>
                  <a:tcPr marL="91427" marR="91427" marT="45725" marB="45725">
                    <a:lnL w="12700">
                      <a:solidFill>
                        <a:schemeClr val="tx1"/>
                      </a:solidFill>
                    </a:lnL>
                    <a:lnT w="12700">
                      <a:solidFill>
                        <a:schemeClr val="tx1"/>
                      </a:solidFill>
                    </a:lnT>
                    <a:lnB w="12700">
                      <a:solidFill>
                        <a:schemeClr val="tx1"/>
                      </a:solidFill>
                    </a:lnB>
                  </a:tcPr>
                </a:tc>
                <a:tc>
                  <a:txBody>
                    <a:bodyPr/>
                    <a:lstStyle/>
                    <a:p>
                      <a:pPr lvl="0" algn="ctr">
                        <a:buNone/>
                      </a:pPr>
                      <a:r>
                        <a:rPr lang="en-US" sz="2400" b="1" dirty="0">
                          <a:latin typeface="Arial"/>
                        </a:rPr>
                        <a:t>x2</a:t>
                      </a:r>
                      <a:endParaRPr lang="en-US" sz="1800"/>
                    </a:p>
                  </a:txBody>
                  <a:tcPr marL="91427" marR="91427" marT="45725" marB="45725">
                    <a:lnT w="12700">
                      <a:solidFill>
                        <a:schemeClr val="tx1"/>
                      </a:solidFill>
                    </a:lnT>
                    <a:lnB w="12700">
                      <a:solidFill>
                        <a:schemeClr val="tx1"/>
                      </a:solidFill>
                    </a:lnB>
                  </a:tcPr>
                </a:tc>
                <a:tc>
                  <a:txBody>
                    <a:bodyPr/>
                    <a:lstStyle/>
                    <a:p>
                      <a:pPr lvl="0" algn="ctr">
                        <a:buNone/>
                      </a:pPr>
                      <a:r>
                        <a:rPr lang="en-US" sz="2400" b="1" dirty="0">
                          <a:latin typeface="Arial"/>
                        </a:rPr>
                        <a:t>x3</a:t>
                      </a:r>
                      <a:endParaRPr lang="en-US" sz="1800"/>
                    </a:p>
                  </a:txBody>
                  <a:tcPr marL="91427" marR="91427" marT="45725" marB="45725">
                    <a:lnT w="12700">
                      <a:solidFill>
                        <a:schemeClr val="tx1"/>
                      </a:solidFill>
                    </a:lnT>
                    <a:lnB w="12700">
                      <a:solidFill>
                        <a:schemeClr val="tx1"/>
                      </a:solidFill>
                    </a:lnB>
                  </a:tcPr>
                </a:tc>
                <a:tc>
                  <a:txBody>
                    <a:bodyPr/>
                    <a:lstStyle/>
                    <a:p>
                      <a:pPr lvl="0" algn="ctr">
                        <a:buNone/>
                      </a:pPr>
                      <a:r>
                        <a:rPr lang="en-US" sz="2400" b="1" dirty="0">
                          <a:latin typeface="Arial"/>
                        </a:rPr>
                        <a:t>s1</a:t>
                      </a:r>
                      <a:endParaRPr lang="en-US" sz="1800"/>
                    </a:p>
                  </a:txBody>
                  <a:tcPr marL="91427" marR="91427" marT="45725" marB="45725">
                    <a:lnT w="12700">
                      <a:solidFill>
                        <a:schemeClr val="tx1"/>
                      </a:solidFill>
                    </a:lnT>
                    <a:lnB w="12700">
                      <a:solidFill>
                        <a:schemeClr val="tx1"/>
                      </a:solidFill>
                    </a:lnB>
                  </a:tcPr>
                </a:tc>
                <a:tc>
                  <a:txBody>
                    <a:bodyPr/>
                    <a:lstStyle/>
                    <a:p>
                      <a:pPr lvl="0" algn="ctr">
                        <a:buNone/>
                      </a:pPr>
                      <a:r>
                        <a:rPr lang="en-US" sz="2400" b="1" dirty="0">
                          <a:latin typeface="Arial"/>
                        </a:rPr>
                        <a:t>s2</a:t>
                      </a:r>
                      <a:endParaRPr lang="en-US" sz="1800"/>
                    </a:p>
                  </a:txBody>
                  <a:tcPr marL="91427" marR="91427" marT="45725" marB="45725">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b</a:t>
                      </a:r>
                      <a:endParaRPr lang="en-US" sz="1800"/>
                    </a:p>
                  </a:txBody>
                  <a:tcPr marL="91427" marR="91427" marT="45725" marB="45725">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457251">
                <a:tc>
                  <a:txBody>
                    <a:bodyPr/>
                    <a:lstStyle/>
                    <a:p>
                      <a:pPr lvl="0" algn="ctr">
                        <a:buNone/>
                      </a:pPr>
                      <a:r>
                        <a:rPr lang="en-US" sz="2400" b="1" dirty="0">
                          <a:latin typeface="Arial"/>
                        </a:rPr>
                        <a:t>0</a:t>
                      </a:r>
                    </a:p>
                  </a:txBody>
                  <a:tcPr marL="91427" marR="91427" marT="45725" marB="45725">
                    <a:lnL w="12700">
                      <a:solidFill>
                        <a:schemeClr val="tx1"/>
                      </a:solidFill>
                    </a:lnL>
                    <a:lnT w="12700">
                      <a:solidFill>
                        <a:schemeClr val="tx1"/>
                      </a:solidFill>
                    </a:lnT>
                  </a:tcPr>
                </a:tc>
                <a:tc>
                  <a:txBody>
                    <a:bodyPr/>
                    <a:lstStyle/>
                    <a:p>
                      <a:pPr lvl="0" algn="ctr">
                        <a:buNone/>
                      </a:pPr>
                      <a:r>
                        <a:rPr lang="en-US" sz="2400" b="1" dirty="0">
                          <a:solidFill>
                            <a:schemeClr val="accent3"/>
                          </a:solidFill>
                          <a:latin typeface="Arial"/>
                        </a:rPr>
                        <a:t>s1</a:t>
                      </a:r>
                    </a:p>
                  </a:txBody>
                  <a:tcPr marL="91427" marR="91427" marT="45725" marB="45725">
                    <a:lnR w="12700">
                      <a:solidFill>
                        <a:schemeClr val="tx1"/>
                      </a:solidFill>
                    </a:lnR>
                    <a:lnT w="12700">
                      <a:solidFill>
                        <a:schemeClr val="tx1"/>
                      </a:solidFill>
                    </a:lnT>
                  </a:tcPr>
                </a:tc>
                <a:tc>
                  <a:txBody>
                    <a:bodyPr/>
                    <a:lstStyle/>
                    <a:p>
                      <a:pPr algn="ctr"/>
                      <a:r>
                        <a:rPr lang="en-US" sz="2400" b="1" dirty="0">
                          <a:latin typeface="Arial"/>
                        </a:rPr>
                        <a:t>1</a:t>
                      </a:r>
                    </a:p>
                  </a:txBody>
                  <a:tcPr marL="91427" marR="91427" marT="45725" marB="45725">
                    <a:lnL w="12700">
                      <a:solidFill>
                        <a:schemeClr val="tx1"/>
                      </a:solidFill>
                    </a:lnL>
                    <a:lnT w="12700">
                      <a:solidFill>
                        <a:schemeClr val="tx1"/>
                      </a:solidFill>
                    </a:lnT>
                  </a:tcPr>
                </a:tc>
                <a:tc>
                  <a:txBody>
                    <a:bodyPr/>
                    <a:lstStyle/>
                    <a:p>
                      <a:pPr algn="ctr"/>
                      <a:r>
                        <a:rPr lang="en-US" sz="2400" b="1" dirty="0">
                          <a:latin typeface="Arial"/>
                        </a:rPr>
                        <a:t>3</a:t>
                      </a:r>
                    </a:p>
                  </a:txBody>
                  <a:tcPr marL="91427" marR="91427" marT="45725" marB="45725">
                    <a:lnT w="12700">
                      <a:solidFill>
                        <a:schemeClr val="tx1"/>
                      </a:solidFill>
                    </a:lnT>
                  </a:tcPr>
                </a:tc>
                <a:tc>
                  <a:txBody>
                    <a:bodyPr/>
                    <a:lstStyle/>
                    <a:p>
                      <a:pPr algn="ctr"/>
                      <a:r>
                        <a:rPr lang="en-US" sz="2400" b="1" dirty="0">
                          <a:latin typeface="Arial"/>
                        </a:rPr>
                        <a:t>2</a:t>
                      </a:r>
                    </a:p>
                  </a:txBody>
                  <a:tcPr marL="91427" marR="91427" marT="45725" marB="45725">
                    <a:lnT w="12700">
                      <a:solidFill>
                        <a:schemeClr val="tx1"/>
                      </a:solidFill>
                    </a:lnT>
                  </a:tcPr>
                </a:tc>
                <a:tc>
                  <a:txBody>
                    <a:bodyPr/>
                    <a:lstStyle/>
                    <a:p>
                      <a:pPr algn="ctr"/>
                      <a:r>
                        <a:rPr lang="en-US" sz="2400" b="1" dirty="0">
                          <a:latin typeface="Arial"/>
                        </a:rPr>
                        <a:t>1</a:t>
                      </a:r>
                    </a:p>
                  </a:txBody>
                  <a:tcPr marL="91427" marR="91427" marT="45725" marB="45725">
                    <a:lnT w="12700">
                      <a:solidFill>
                        <a:schemeClr val="tx1"/>
                      </a:solidFill>
                    </a:lnT>
                  </a:tcPr>
                </a:tc>
                <a:tc>
                  <a:txBody>
                    <a:bodyPr/>
                    <a:lstStyle/>
                    <a:p>
                      <a:pPr algn="ctr"/>
                      <a:r>
                        <a:rPr lang="en-US" sz="2400" b="1" dirty="0">
                          <a:latin typeface="Arial"/>
                        </a:rPr>
                        <a:t>0</a:t>
                      </a:r>
                    </a:p>
                  </a:txBody>
                  <a:tcPr marL="91427" marR="91427" marT="45725" marB="45725">
                    <a:lnR w="12700">
                      <a:solidFill>
                        <a:schemeClr val="tx1"/>
                      </a:solidFill>
                    </a:lnR>
                    <a:lnT w="12700">
                      <a:solidFill>
                        <a:schemeClr val="tx1"/>
                      </a:solidFill>
                    </a:lnT>
                  </a:tcPr>
                </a:tc>
                <a:tc>
                  <a:txBody>
                    <a:bodyPr/>
                    <a:lstStyle/>
                    <a:p>
                      <a:pPr algn="ctr"/>
                      <a:r>
                        <a:rPr lang="en-US" sz="2400" b="1" dirty="0">
                          <a:latin typeface="Arial"/>
                        </a:rPr>
                        <a:t>10</a:t>
                      </a:r>
                    </a:p>
                  </a:txBody>
                  <a:tcPr marL="91427" marR="91427" marT="45725" marB="45725">
                    <a:lnL w="12700">
                      <a:solidFill>
                        <a:schemeClr val="tx1"/>
                      </a:solidFill>
                    </a:lnL>
                    <a:lnT w="12700">
                      <a:solidFill>
                        <a:schemeClr val="tx1"/>
                      </a:solidFill>
                    </a:lnT>
                  </a:tcPr>
                </a:tc>
                <a:extLst>
                  <a:ext uri="{0D108BD9-81ED-4DB2-BD59-A6C34878D82A}">
                    <a16:rowId xmlns:a16="http://schemas.microsoft.com/office/drawing/2014/main" val="10002"/>
                  </a:ext>
                </a:extLst>
              </a:tr>
              <a:tr h="457251">
                <a:tc>
                  <a:txBody>
                    <a:bodyPr/>
                    <a:lstStyle/>
                    <a:p>
                      <a:pPr lvl="0" algn="ctr">
                        <a:buNone/>
                      </a:pPr>
                      <a:r>
                        <a:rPr lang="en-US" sz="2400" b="1" dirty="0">
                          <a:latin typeface="Arial"/>
                        </a:rPr>
                        <a:t>0</a:t>
                      </a:r>
                    </a:p>
                  </a:txBody>
                  <a:tcPr marL="91427" marR="91427" marT="45725" marB="45725">
                    <a:lnL w="12700">
                      <a:solidFill>
                        <a:schemeClr val="tx1"/>
                      </a:solidFill>
                    </a:lnL>
                    <a:lnB w="12700">
                      <a:solidFill>
                        <a:schemeClr val="tx1"/>
                      </a:solidFill>
                    </a:lnB>
                  </a:tcPr>
                </a:tc>
                <a:tc>
                  <a:txBody>
                    <a:bodyPr/>
                    <a:lstStyle/>
                    <a:p>
                      <a:pPr lvl="0" algn="ctr">
                        <a:buNone/>
                      </a:pPr>
                      <a:r>
                        <a:rPr lang="en-US" sz="2400" b="1" dirty="0">
                          <a:solidFill>
                            <a:schemeClr val="accent3"/>
                          </a:solidFill>
                          <a:latin typeface="Arial"/>
                        </a:rPr>
                        <a:t>s2</a:t>
                      </a:r>
                    </a:p>
                  </a:txBody>
                  <a:tcPr marL="91427" marR="91427" marT="45725" marB="45725">
                    <a:lnR w="12700">
                      <a:solidFill>
                        <a:schemeClr val="tx1"/>
                      </a:solidFill>
                    </a:lnR>
                    <a:lnB w="12700">
                      <a:solidFill>
                        <a:schemeClr val="tx1"/>
                      </a:solidFill>
                    </a:lnB>
                  </a:tcPr>
                </a:tc>
                <a:tc>
                  <a:txBody>
                    <a:bodyPr/>
                    <a:lstStyle/>
                    <a:p>
                      <a:pPr algn="ctr"/>
                      <a:r>
                        <a:rPr lang="en-US" sz="2400" b="1" dirty="0">
                          <a:latin typeface="Arial"/>
                        </a:rPr>
                        <a:t>1</a:t>
                      </a:r>
                    </a:p>
                  </a:txBody>
                  <a:tcPr marL="91427" marR="91427" marT="45725" marB="45725">
                    <a:lnL w="12700">
                      <a:solidFill>
                        <a:schemeClr val="tx1"/>
                      </a:solidFill>
                    </a:lnL>
                    <a:lnB w="12700">
                      <a:solidFill>
                        <a:schemeClr val="tx1"/>
                      </a:solidFill>
                    </a:lnB>
                  </a:tcPr>
                </a:tc>
                <a:tc>
                  <a:txBody>
                    <a:bodyPr/>
                    <a:lstStyle/>
                    <a:p>
                      <a:pPr algn="ctr"/>
                      <a:r>
                        <a:rPr lang="en-US" sz="2400" b="1" dirty="0">
                          <a:latin typeface="Arial"/>
                        </a:rPr>
                        <a:t>5</a:t>
                      </a:r>
                    </a:p>
                  </a:txBody>
                  <a:tcPr marL="91427" marR="91427" marT="45725" marB="45725">
                    <a:lnB w="12700">
                      <a:solidFill>
                        <a:schemeClr val="tx1"/>
                      </a:solidFill>
                    </a:lnB>
                  </a:tcPr>
                </a:tc>
                <a:tc>
                  <a:txBody>
                    <a:bodyPr/>
                    <a:lstStyle/>
                    <a:p>
                      <a:pPr algn="ctr"/>
                      <a:r>
                        <a:rPr lang="en-US" sz="2400" b="1" dirty="0">
                          <a:latin typeface="Arial"/>
                        </a:rPr>
                        <a:t>1</a:t>
                      </a:r>
                    </a:p>
                  </a:txBody>
                  <a:tcPr marL="91427" marR="91427" marT="45725" marB="45725">
                    <a:lnB w="12700">
                      <a:solidFill>
                        <a:schemeClr val="tx1"/>
                      </a:solidFill>
                    </a:lnB>
                  </a:tcPr>
                </a:tc>
                <a:tc>
                  <a:txBody>
                    <a:bodyPr/>
                    <a:lstStyle/>
                    <a:p>
                      <a:pPr algn="ctr"/>
                      <a:r>
                        <a:rPr lang="en-US" sz="2400" b="1" dirty="0">
                          <a:latin typeface="Arial"/>
                        </a:rPr>
                        <a:t>0</a:t>
                      </a:r>
                    </a:p>
                  </a:txBody>
                  <a:tcPr marL="91427" marR="91427" marT="45725" marB="45725">
                    <a:lnB w="12700">
                      <a:solidFill>
                        <a:schemeClr val="tx1"/>
                      </a:solidFill>
                    </a:lnB>
                  </a:tcPr>
                </a:tc>
                <a:tc>
                  <a:txBody>
                    <a:bodyPr/>
                    <a:lstStyle/>
                    <a:p>
                      <a:pPr algn="ctr"/>
                      <a:r>
                        <a:rPr lang="en-US" sz="2400" b="1" dirty="0">
                          <a:latin typeface="Arial"/>
                        </a:rPr>
                        <a:t>1</a:t>
                      </a:r>
                    </a:p>
                  </a:txBody>
                  <a:tcPr marL="91427" marR="91427" marT="45725" marB="45725">
                    <a:lnR w="12700">
                      <a:solidFill>
                        <a:schemeClr val="tx1"/>
                      </a:solidFill>
                    </a:lnR>
                    <a:lnB w="12700">
                      <a:solidFill>
                        <a:schemeClr val="tx1"/>
                      </a:solidFill>
                    </a:lnB>
                  </a:tcPr>
                </a:tc>
                <a:tc>
                  <a:txBody>
                    <a:bodyPr/>
                    <a:lstStyle/>
                    <a:p>
                      <a:pPr algn="ctr"/>
                      <a:r>
                        <a:rPr lang="en-US" sz="2400" b="1" dirty="0">
                          <a:latin typeface="Arial"/>
                        </a:rPr>
                        <a:t>8</a:t>
                      </a:r>
                    </a:p>
                  </a:txBody>
                  <a:tcPr marL="91427" marR="91427" marT="45725" marB="45725">
                    <a:lnL w="12700">
                      <a:solidFill>
                        <a:schemeClr val="tx1"/>
                      </a:solidFill>
                    </a:lnL>
                    <a:lnB w="12700">
                      <a:solidFill>
                        <a:schemeClr val="tx1"/>
                      </a:solidFill>
                    </a:lnB>
                  </a:tcPr>
                </a:tc>
                <a:extLst>
                  <a:ext uri="{0D108BD9-81ED-4DB2-BD59-A6C34878D82A}">
                    <a16:rowId xmlns:a16="http://schemas.microsoft.com/office/drawing/2014/main" val="10003"/>
                  </a:ext>
                </a:extLst>
              </a:tr>
              <a:tr h="457251">
                <a:tc>
                  <a:txBody>
                    <a:bodyPr/>
                    <a:lstStyle/>
                    <a:p>
                      <a:pPr lvl="0" algn="ctr">
                        <a:buNone/>
                      </a:pPr>
                      <a:endParaRPr lang="en-US" sz="2400" b="1" dirty="0">
                        <a:latin typeface="Arial"/>
                      </a:endParaRPr>
                    </a:p>
                  </a:txBody>
                  <a:tcPr marL="91427" marR="91427" marT="45725" marB="45725">
                    <a:lnL w="12700">
                      <a:solidFill>
                        <a:schemeClr val="tx1"/>
                      </a:solidFill>
                    </a:lnL>
                    <a:lnT w="12700">
                      <a:solidFill>
                        <a:schemeClr val="tx1"/>
                      </a:solidFill>
                    </a:lnT>
                  </a:tcPr>
                </a:tc>
                <a:tc>
                  <a:txBody>
                    <a:bodyPr/>
                    <a:lstStyle/>
                    <a:p>
                      <a:pPr lvl="0" algn="ctr">
                        <a:buNone/>
                      </a:pPr>
                      <a:r>
                        <a:rPr lang="en-US" sz="2400" b="1" dirty="0" err="1">
                          <a:solidFill>
                            <a:schemeClr val="tx1"/>
                          </a:solidFill>
                          <a:latin typeface="Arial"/>
                        </a:rPr>
                        <a:t>z</a:t>
                      </a:r>
                      <a:r>
                        <a:rPr lang="en-US" sz="2400" b="1" baseline="-25000" dirty="0" err="1">
                          <a:solidFill>
                            <a:schemeClr val="tx1"/>
                          </a:solidFill>
                          <a:latin typeface="Arial"/>
                        </a:rPr>
                        <a:t>j</a:t>
                      </a:r>
                    </a:p>
                  </a:txBody>
                  <a:tcPr marL="91427" marR="91427" marT="45725" marB="45725">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7" marR="91427" marT="45725" marB="45725">
                    <a:lnL w="12700">
                      <a:solidFill>
                        <a:schemeClr val="tx1"/>
                      </a:solidFill>
                    </a:lnL>
                    <a:lnT w="12700">
                      <a:solidFill>
                        <a:schemeClr val="tx1"/>
                      </a:solidFill>
                    </a:lnT>
                  </a:tcPr>
                </a:tc>
                <a:tc>
                  <a:txBody>
                    <a:bodyPr/>
                    <a:lstStyle/>
                    <a:p>
                      <a:pPr lvl="0" algn="ctr">
                        <a:buNone/>
                      </a:pPr>
                      <a:r>
                        <a:rPr lang="en-US" sz="2400" b="1" dirty="0">
                          <a:latin typeface="Arial"/>
                        </a:rPr>
                        <a:t>0</a:t>
                      </a:r>
                    </a:p>
                  </a:txBody>
                  <a:tcPr marL="91427" marR="91427" marT="45725" marB="45725">
                    <a:lnT w="12700">
                      <a:solidFill>
                        <a:schemeClr val="tx1"/>
                      </a:solidFill>
                    </a:lnT>
                  </a:tcPr>
                </a:tc>
                <a:tc>
                  <a:txBody>
                    <a:bodyPr/>
                    <a:lstStyle/>
                    <a:p>
                      <a:pPr lvl="0" algn="ctr">
                        <a:buNone/>
                      </a:pPr>
                      <a:r>
                        <a:rPr lang="en-US" sz="2400" b="1" dirty="0">
                          <a:latin typeface="Arial"/>
                        </a:rPr>
                        <a:t>0</a:t>
                      </a:r>
                    </a:p>
                  </a:txBody>
                  <a:tcPr marL="91427" marR="91427" marT="45725" marB="45725">
                    <a:lnT w="12700">
                      <a:solidFill>
                        <a:schemeClr val="tx1"/>
                      </a:solidFill>
                    </a:lnT>
                  </a:tcPr>
                </a:tc>
                <a:tc>
                  <a:txBody>
                    <a:bodyPr/>
                    <a:lstStyle/>
                    <a:p>
                      <a:pPr lvl="0" algn="ctr">
                        <a:buNone/>
                      </a:pPr>
                      <a:r>
                        <a:rPr lang="en-US" sz="2400" b="1" dirty="0">
                          <a:latin typeface="Arial"/>
                        </a:rPr>
                        <a:t>0</a:t>
                      </a:r>
                    </a:p>
                  </a:txBody>
                  <a:tcPr marL="91427" marR="91427" marT="45725" marB="45725">
                    <a:lnT w="12700">
                      <a:solidFill>
                        <a:schemeClr val="tx1"/>
                      </a:solidFill>
                    </a:lnT>
                  </a:tcPr>
                </a:tc>
                <a:tc>
                  <a:txBody>
                    <a:bodyPr/>
                    <a:lstStyle/>
                    <a:p>
                      <a:pPr lvl="0" algn="ctr">
                        <a:buNone/>
                      </a:pPr>
                      <a:r>
                        <a:rPr lang="en-US" sz="2400" b="1" dirty="0">
                          <a:latin typeface="Arial"/>
                        </a:rPr>
                        <a:t>0</a:t>
                      </a:r>
                    </a:p>
                  </a:txBody>
                  <a:tcPr marL="91427" marR="91427" marT="45725" marB="45725">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7" marR="91427" marT="45725" marB="45725">
                    <a:lnL w="12700">
                      <a:solidFill>
                        <a:schemeClr val="tx1"/>
                      </a:solidFill>
                    </a:lnL>
                    <a:lnT w="12700">
                      <a:solidFill>
                        <a:schemeClr val="tx1"/>
                      </a:solidFill>
                    </a:lnT>
                  </a:tcPr>
                </a:tc>
                <a:extLst>
                  <a:ext uri="{0D108BD9-81ED-4DB2-BD59-A6C34878D82A}">
                    <a16:rowId xmlns:a16="http://schemas.microsoft.com/office/drawing/2014/main" val="10004"/>
                  </a:ext>
                </a:extLst>
              </a:tr>
              <a:tr h="457251">
                <a:tc>
                  <a:txBody>
                    <a:bodyPr/>
                    <a:lstStyle/>
                    <a:p>
                      <a:pPr lvl="0" algn="ctr">
                        <a:buNone/>
                      </a:pPr>
                      <a:endParaRPr lang="en-US" sz="2400" b="1" dirty="0">
                        <a:latin typeface="Arial"/>
                      </a:endParaRPr>
                    </a:p>
                  </a:txBody>
                  <a:tcPr marL="91427" marR="91427" marT="45725" marB="45725">
                    <a:lnL w="12700">
                      <a:solidFill>
                        <a:schemeClr val="tx1"/>
                      </a:solidFill>
                    </a:lnL>
                  </a:tcPr>
                </a:tc>
                <a:tc>
                  <a:txBody>
                    <a:bodyPr/>
                    <a:lstStyle/>
                    <a:p>
                      <a:pPr lvl="0" algn="ctr">
                        <a:buNone/>
                      </a:pPr>
                      <a:r>
                        <a:rPr lang="en-US" sz="2800" b="1" i="0" u="none" strike="noStrike" baseline="-25000" noProof="0" dirty="0">
                          <a:solidFill>
                            <a:srgbClr val="000000"/>
                          </a:solidFill>
                          <a:latin typeface="Arial"/>
                        </a:rPr>
                        <a:t>Cj - </a:t>
                      </a:r>
                      <a:r>
                        <a:rPr lang="en-US" sz="2800" b="1" i="0" u="none" strike="noStrike" baseline="-25000" noProof="0" err="1">
                          <a:solidFill>
                            <a:srgbClr val="000000"/>
                          </a:solidFill>
                          <a:latin typeface="Arial"/>
                        </a:rPr>
                        <a:t>zj</a:t>
                      </a:r>
                      <a:endParaRPr lang="en-US" sz="2800" b="1" i="0" u="none" strike="noStrike" baseline="-25000" noProof="0" err="1">
                        <a:solidFill>
                          <a:schemeClr val="tx1"/>
                        </a:solidFill>
                        <a:latin typeface="Arial"/>
                      </a:endParaRPr>
                    </a:p>
                  </a:txBody>
                  <a:tcPr marL="91427" marR="91427" marT="45725" marB="45725" anchor="ctr">
                    <a:lnR w="12700">
                      <a:solidFill>
                        <a:schemeClr val="tx1"/>
                      </a:solidFill>
                    </a:lnR>
                  </a:tcPr>
                </a:tc>
                <a:tc>
                  <a:txBody>
                    <a:bodyPr/>
                    <a:lstStyle/>
                    <a:p>
                      <a:pPr lvl="0" algn="ctr">
                        <a:buNone/>
                      </a:pPr>
                      <a:r>
                        <a:rPr lang="en-US" sz="2400" b="1" dirty="0">
                          <a:latin typeface="Arial"/>
                        </a:rPr>
                        <a:t>8</a:t>
                      </a:r>
                    </a:p>
                  </a:txBody>
                  <a:tcPr marL="91427" marR="91427" marT="45725" marB="45725">
                    <a:lnL w="12700">
                      <a:solidFill>
                        <a:schemeClr val="tx1"/>
                      </a:solidFill>
                    </a:lnL>
                  </a:tcPr>
                </a:tc>
                <a:tc>
                  <a:txBody>
                    <a:bodyPr/>
                    <a:lstStyle/>
                    <a:p>
                      <a:pPr lvl="0" algn="ctr">
                        <a:buNone/>
                      </a:pPr>
                      <a:r>
                        <a:rPr lang="en-US" sz="2400" b="1" dirty="0">
                          <a:latin typeface="Arial"/>
                        </a:rPr>
                        <a:t>10</a:t>
                      </a:r>
                    </a:p>
                  </a:txBody>
                  <a:tcPr marL="91427" marR="91427" marT="45725" marB="45725"/>
                </a:tc>
                <a:tc>
                  <a:txBody>
                    <a:bodyPr/>
                    <a:lstStyle/>
                    <a:p>
                      <a:pPr lvl="0" algn="ctr">
                        <a:buNone/>
                      </a:pPr>
                      <a:r>
                        <a:rPr lang="en-US" sz="2400" b="1" dirty="0">
                          <a:latin typeface="Arial"/>
                        </a:rPr>
                        <a:t>7</a:t>
                      </a:r>
                    </a:p>
                  </a:txBody>
                  <a:tcPr marL="91427" marR="91427" marT="45725" marB="45725"/>
                </a:tc>
                <a:tc>
                  <a:txBody>
                    <a:bodyPr/>
                    <a:lstStyle/>
                    <a:p>
                      <a:pPr lvl="0" algn="ctr">
                        <a:buNone/>
                      </a:pPr>
                      <a:r>
                        <a:rPr lang="en-US" sz="2400" b="1" dirty="0">
                          <a:latin typeface="Arial"/>
                        </a:rPr>
                        <a:t>0</a:t>
                      </a:r>
                    </a:p>
                  </a:txBody>
                  <a:tcPr marL="91427" marR="91427" marT="45725" marB="45725"/>
                </a:tc>
                <a:tc>
                  <a:txBody>
                    <a:bodyPr/>
                    <a:lstStyle/>
                    <a:p>
                      <a:pPr lvl="0" algn="ctr">
                        <a:buNone/>
                      </a:pPr>
                      <a:r>
                        <a:rPr lang="en-US" sz="2400" b="1" dirty="0">
                          <a:latin typeface="Arial"/>
                        </a:rPr>
                        <a:t>0</a:t>
                      </a:r>
                    </a:p>
                  </a:txBody>
                  <a:tcPr marL="91427" marR="91427" marT="45725" marB="45725"/>
                </a:tc>
                <a:tc>
                  <a:txBody>
                    <a:bodyPr/>
                    <a:lstStyle/>
                    <a:p>
                      <a:pPr lvl="0" algn="ctr">
                        <a:buNone/>
                      </a:pPr>
                      <a:endParaRPr lang="en-US" sz="2400" b="1" dirty="0">
                        <a:latin typeface="Arial"/>
                      </a:endParaRPr>
                    </a:p>
                  </a:txBody>
                  <a:tcPr marL="91427" marR="91427"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Google Shape;192;p32" descr="KL Deemed to be University Logo">
            <a:extLst>
              <a:ext uri="{FF2B5EF4-FFF2-40B4-BE49-F238E27FC236}">
                <a16:creationId xmlns:a16="http://schemas.microsoft.com/office/drawing/2014/main" id="{138B9BFC-F363-AB51-44CA-F505E35F17C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Google Shape;193;p32">
            <a:extLst>
              <a:ext uri="{FF2B5EF4-FFF2-40B4-BE49-F238E27FC236}">
                <a16:creationId xmlns:a16="http://schemas.microsoft.com/office/drawing/2014/main" id="{FF350125-BFBE-4A1F-7BE1-A4A6948F8472}"/>
              </a:ext>
            </a:extLst>
          </p:cNvPr>
          <p:cNvSpPr>
            <a:spLocks noChangeArrowheads="1"/>
          </p:cNvSpPr>
          <p:nvPr/>
        </p:nvSpPr>
        <p:spPr bwMode="auto">
          <a:xfrm>
            <a:off x="3046413" y="112713"/>
            <a:ext cx="5786437"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4: Check for optimality </a:t>
            </a:r>
          </a:p>
        </p:txBody>
      </p:sp>
      <p:sp>
        <p:nvSpPr>
          <p:cNvPr id="195" name="Google Shape;195;p32">
            <a:extLst>
              <a:ext uri="{FF2B5EF4-FFF2-40B4-BE49-F238E27FC236}">
                <a16:creationId xmlns:a16="http://schemas.microsoft.com/office/drawing/2014/main" id="{13181B65-7219-6EF3-38C5-0916F817B6E8}"/>
              </a:ext>
            </a:extLst>
          </p:cNvPr>
          <p:cNvSpPr txBox="1"/>
          <p:nvPr/>
        </p:nvSpPr>
        <p:spPr>
          <a:xfrm>
            <a:off x="758825" y="4348163"/>
            <a:ext cx="10847388" cy="1693862"/>
          </a:xfrm>
          <a:prstGeom prst="rect">
            <a:avLst/>
          </a:prstGeom>
          <a:solidFill>
            <a:srgbClr val="FFFFFF"/>
          </a:solidFill>
          <a:ln>
            <a:noFill/>
          </a:ln>
        </p:spPr>
        <p:txBody>
          <a:bodyPr spcFirstLastPara="1" lIns="91425" tIns="91425" rIns="91425" bIns="91425">
            <a:spAutoFit/>
          </a:bodyPr>
          <a:lstStyle/>
          <a:p>
            <a:pPr marL="101600" eaLnBrk="1" fontAlgn="auto" hangingPunct="1">
              <a:spcBef>
                <a:spcPts val="0"/>
              </a:spcBef>
              <a:spcAft>
                <a:spcPts val="0"/>
              </a:spcAft>
              <a:defRPr/>
            </a:pPr>
            <a:endParaRPr lang="en-US" dirty="0">
              <a:latin typeface="Gill Sans MT"/>
              <a:ea typeface="Cambria"/>
              <a:cs typeface="Times New Roman"/>
            </a:endParaRPr>
          </a:p>
          <a:p>
            <a:pPr marL="444500" indent="-342900" eaLnBrk="1" fontAlgn="auto" hangingPunct="1">
              <a:spcBef>
                <a:spcPts val="0"/>
              </a:spcBef>
              <a:spcAft>
                <a:spcPts val="0"/>
              </a:spcAft>
              <a:buFont typeface="Arial"/>
              <a:buChar char="•"/>
              <a:defRPr/>
            </a:pPr>
            <a:r>
              <a:rPr lang="en-US" sz="2000" dirty="0">
                <a:solidFill>
                  <a:srgbClr val="000000"/>
                </a:solidFill>
                <a:latin typeface="Times New Roman"/>
                <a:ea typeface="Cambria"/>
                <a:cs typeface="Times New Roman"/>
              </a:rPr>
              <a:t>A </a:t>
            </a:r>
            <a:r>
              <a:rPr lang="en-US" sz="2000" b="1" dirty="0">
                <a:solidFill>
                  <a:srgbClr val="FF00FF"/>
                </a:solidFill>
                <a:latin typeface="+mn-lt"/>
                <a:ea typeface="+mn-lt"/>
                <a:cs typeface="+mn-lt"/>
              </a:rPr>
              <a:t>solution is optimum</a:t>
            </a:r>
            <a:r>
              <a:rPr lang="en-US" sz="2000" dirty="0">
                <a:latin typeface="Times New Roman"/>
                <a:ea typeface="Cambria"/>
                <a:cs typeface="Times New Roman"/>
              </a:rPr>
              <a:t> (maximum) </a:t>
            </a:r>
            <a:r>
              <a:rPr lang="en-US" sz="2000" b="1" dirty="0">
                <a:latin typeface="Times New Roman"/>
                <a:ea typeface="Cambria"/>
                <a:cs typeface="Times New Roman"/>
              </a:rPr>
              <a:t>if</a:t>
            </a:r>
            <a:r>
              <a:rPr lang="en-US" sz="2000" dirty="0">
                <a:latin typeface="Times New Roman"/>
                <a:ea typeface="Cambria"/>
                <a:cs typeface="Times New Roman"/>
              </a:rPr>
              <a:t> </a:t>
            </a:r>
            <a:r>
              <a:rPr lang="en-US" sz="2000" b="1" dirty="0">
                <a:solidFill>
                  <a:srgbClr val="FF0000"/>
                </a:solidFill>
                <a:latin typeface="Times New Roman"/>
                <a:ea typeface="Cambria"/>
                <a:cs typeface="Times New Roman"/>
              </a:rPr>
              <a:t>all</a:t>
            </a:r>
            <a:r>
              <a:rPr lang="en-US" sz="2000" dirty="0">
                <a:latin typeface="Times New Roman"/>
                <a:ea typeface="Cambria"/>
                <a:cs typeface="Times New Roman"/>
              </a:rPr>
              <a:t> ( Cj – </a:t>
            </a:r>
            <a:r>
              <a:rPr lang="en-US" sz="2000" dirty="0" err="1">
                <a:latin typeface="Times New Roman"/>
                <a:ea typeface="Cambria"/>
                <a:cs typeface="Times New Roman"/>
              </a:rPr>
              <a:t>zj</a:t>
            </a:r>
            <a:r>
              <a:rPr lang="en-US" sz="2000" dirty="0">
                <a:latin typeface="Times New Roman"/>
                <a:ea typeface="Cambria"/>
                <a:cs typeface="Times New Roman"/>
              </a:rPr>
              <a:t> ) values in the last row of the tableau are</a:t>
            </a:r>
            <a:r>
              <a:rPr lang="en-US" sz="2000" b="1" dirty="0">
                <a:solidFill>
                  <a:srgbClr val="FF0000"/>
                </a:solidFill>
                <a:latin typeface="Times New Roman"/>
                <a:ea typeface="Cambria"/>
                <a:cs typeface="Times New Roman"/>
              </a:rPr>
              <a:t> </a:t>
            </a:r>
            <a:r>
              <a:rPr lang="en-US" sz="2000" b="1" dirty="0">
                <a:solidFill>
                  <a:srgbClr val="FF00FF"/>
                </a:solidFill>
                <a:latin typeface="+mn-lt"/>
                <a:ea typeface="+mn-lt"/>
                <a:cs typeface="+mn-lt"/>
              </a:rPr>
              <a:t>&lt;= zero</a:t>
            </a:r>
            <a:r>
              <a:rPr lang="en-US" sz="2000" dirty="0">
                <a:latin typeface="Times New Roman"/>
                <a:ea typeface="Cambria"/>
                <a:cs typeface="Times New Roman"/>
              </a:rPr>
              <a:t>. </a:t>
            </a:r>
            <a:endParaRPr lang="en-US">
              <a:latin typeface="Gill Sans MT"/>
              <a:ea typeface="Cambria"/>
              <a:cs typeface="Times New Roman"/>
            </a:endParaRPr>
          </a:p>
          <a:p>
            <a:pPr marL="444500" indent="-342900" eaLnBrk="1" fontAlgn="auto" hangingPunct="1">
              <a:spcBef>
                <a:spcPts val="0"/>
              </a:spcBef>
              <a:spcAft>
                <a:spcPts val="0"/>
              </a:spcAft>
              <a:buFont typeface="Arial"/>
              <a:buChar char="•"/>
              <a:defRPr/>
            </a:pPr>
            <a:r>
              <a:rPr lang="en-US" sz="2000" dirty="0">
                <a:latin typeface="Times New Roman"/>
                <a:ea typeface="Cambria"/>
                <a:cs typeface="Times New Roman"/>
              </a:rPr>
              <a:t>In the above tableau, there are 3 positive values of ( Cj – </a:t>
            </a:r>
            <a:r>
              <a:rPr lang="en-US" sz="2000" dirty="0" err="1">
                <a:latin typeface="Times New Roman"/>
                <a:ea typeface="Cambria"/>
                <a:cs typeface="Times New Roman"/>
              </a:rPr>
              <a:t>zj</a:t>
            </a:r>
            <a:r>
              <a:rPr lang="en-US" sz="2000" dirty="0">
                <a:latin typeface="Times New Roman"/>
                <a:ea typeface="Cambria"/>
                <a:cs typeface="Times New Roman"/>
              </a:rPr>
              <a:t> ). So, this solution is </a:t>
            </a:r>
            <a:r>
              <a:rPr lang="en-US" sz="2000" b="1" dirty="0">
                <a:solidFill>
                  <a:srgbClr val="FF0000"/>
                </a:solidFill>
                <a:latin typeface="Times New Roman"/>
                <a:ea typeface="Cambria"/>
                <a:cs typeface="Times New Roman"/>
              </a:rPr>
              <a:t>NOT optimal</a:t>
            </a:r>
            <a:r>
              <a:rPr lang="en-US" sz="2000" dirty="0">
                <a:latin typeface="Times New Roman"/>
                <a:ea typeface="Cambria"/>
                <a:cs typeface="Times New Roman"/>
              </a:rPr>
              <a:t>.</a:t>
            </a:r>
            <a:endParaRPr lang="en-US" dirty="0">
              <a:latin typeface="Gill Sans MT"/>
              <a:ea typeface="Cambria"/>
              <a:cs typeface="Times New Roman"/>
            </a:endParaRPr>
          </a:p>
          <a:p>
            <a:pPr marL="444500" indent="-342900" eaLnBrk="1" fontAlgn="auto" hangingPunct="1">
              <a:spcBef>
                <a:spcPts val="0"/>
              </a:spcBef>
              <a:spcAft>
                <a:spcPts val="0"/>
              </a:spcAft>
              <a:buFont typeface="Arial"/>
              <a:buChar char="•"/>
              <a:defRPr/>
            </a:pPr>
            <a:r>
              <a:rPr lang="en-US" sz="2000" dirty="0">
                <a:latin typeface="Times New Roman"/>
                <a:ea typeface="Cambria"/>
                <a:cs typeface="Times New Roman"/>
              </a:rPr>
              <a:t>So, we will go to step 5.</a:t>
            </a:r>
            <a:endParaRPr lang="en-US" dirty="0">
              <a:latin typeface="Gill Sans MT"/>
              <a:ea typeface="Cambria"/>
              <a:cs typeface="Times New Roman"/>
            </a:endParaRPr>
          </a:p>
        </p:txBody>
      </p:sp>
      <p:pic>
        <p:nvPicPr>
          <p:cNvPr id="39941" name="Google Shape;196;p32">
            <a:extLst>
              <a:ext uri="{FF2B5EF4-FFF2-40B4-BE49-F238E27FC236}">
                <a16:creationId xmlns:a16="http://schemas.microsoft.com/office/drawing/2014/main" id="{29D70816-46A7-88B4-2B79-2D15211868C3}"/>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Slide Number Placeholder 3">
            <a:extLst>
              <a:ext uri="{FF2B5EF4-FFF2-40B4-BE49-F238E27FC236}">
                <a16:creationId xmlns:a16="http://schemas.microsoft.com/office/drawing/2014/main" id="{9A41747B-39AE-2574-38F5-5EDD8C303FA2}"/>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E7160642-E388-400A-9BEC-7CBAF2642347}" type="slidenum">
              <a:rPr lang="en-IN" altLang="en-US" sz="2200" smtClean="0">
                <a:solidFill>
                  <a:schemeClr val="accent1"/>
                </a:solidFill>
              </a:rPr>
              <a:pPr>
                <a:lnSpc>
                  <a:spcPct val="100000"/>
                </a:lnSpc>
                <a:spcBef>
                  <a:spcPct val="0"/>
                </a:spcBef>
                <a:buClrTx/>
                <a:buSzTx/>
                <a:buFontTx/>
                <a:buNone/>
              </a:pPr>
              <a:t>14</a:t>
            </a:fld>
            <a:endParaRPr lang="en-IN" altLang="en-US" sz="2200">
              <a:solidFill>
                <a:schemeClr val="accent1"/>
              </a:solidFill>
            </a:endParaRPr>
          </a:p>
        </p:txBody>
      </p:sp>
      <p:graphicFrame>
        <p:nvGraphicFramePr>
          <p:cNvPr id="7" name="Table 11">
            <a:extLst>
              <a:ext uri="{FF2B5EF4-FFF2-40B4-BE49-F238E27FC236}">
                <a16:creationId xmlns:a16="http://schemas.microsoft.com/office/drawing/2014/main" id="{338DD556-F311-5A26-9111-3FC052784F07}"/>
              </a:ext>
            </a:extLst>
          </p:cNvPr>
          <p:cNvGraphicFramePr>
            <a:graphicFrameLocks noGrp="1"/>
          </p:cNvGraphicFramePr>
          <p:nvPr/>
        </p:nvGraphicFramePr>
        <p:xfrm>
          <a:off x="1954213" y="1093788"/>
          <a:ext cx="8007352" cy="2865439"/>
        </p:xfrm>
        <a:graphic>
          <a:graphicData uri="http://schemas.openxmlformats.org/drawingml/2006/table">
            <a:tbl>
              <a:tblPr firstRow="1" bandRow="1">
                <a:tableStyleId>{2D5ABB26-0587-4C30-8999-92F81FD0307C}</a:tableStyleId>
              </a:tblPr>
              <a:tblGrid>
                <a:gridCol w="909073">
                  <a:extLst>
                    <a:ext uri="{9D8B030D-6E8A-4147-A177-3AD203B41FA5}">
                      <a16:colId xmlns:a16="http://schemas.microsoft.com/office/drawing/2014/main" val="20000"/>
                    </a:ext>
                  </a:extLst>
                </a:gridCol>
                <a:gridCol w="1092765">
                  <a:extLst>
                    <a:ext uri="{9D8B030D-6E8A-4147-A177-3AD203B41FA5}">
                      <a16:colId xmlns:a16="http://schemas.microsoft.com/office/drawing/2014/main" val="20001"/>
                    </a:ext>
                  </a:extLst>
                </a:gridCol>
                <a:gridCol w="1000919">
                  <a:extLst>
                    <a:ext uri="{9D8B030D-6E8A-4147-A177-3AD203B41FA5}">
                      <a16:colId xmlns:a16="http://schemas.microsoft.com/office/drawing/2014/main" val="20002"/>
                    </a:ext>
                  </a:extLst>
                </a:gridCol>
                <a:gridCol w="1000919">
                  <a:extLst>
                    <a:ext uri="{9D8B030D-6E8A-4147-A177-3AD203B41FA5}">
                      <a16:colId xmlns:a16="http://schemas.microsoft.com/office/drawing/2014/main" val="20003"/>
                    </a:ext>
                  </a:extLst>
                </a:gridCol>
                <a:gridCol w="1000919">
                  <a:extLst>
                    <a:ext uri="{9D8B030D-6E8A-4147-A177-3AD203B41FA5}">
                      <a16:colId xmlns:a16="http://schemas.microsoft.com/office/drawing/2014/main" val="20004"/>
                    </a:ext>
                  </a:extLst>
                </a:gridCol>
                <a:gridCol w="1000919">
                  <a:extLst>
                    <a:ext uri="{9D8B030D-6E8A-4147-A177-3AD203B41FA5}">
                      <a16:colId xmlns:a16="http://schemas.microsoft.com/office/drawing/2014/main" val="20005"/>
                    </a:ext>
                  </a:extLst>
                </a:gridCol>
                <a:gridCol w="1000919">
                  <a:extLst>
                    <a:ext uri="{9D8B030D-6E8A-4147-A177-3AD203B41FA5}">
                      <a16:colId xmlns:a16="http://schemas.microsoft.com/office/drawing/2014/main" val="20006"/>
                    </a:ext>
                  </a:extLst>
                </a:gridCol>
                <a:gridCol w="1000919">
                  <a:extLst>
                    <a:ext uri="{9D8B030D-6E8A-4147-A177-3AD203B41FA5}">
                      <a16:colId xmlns:a16="http://schemas.microsoft.com/office/drawing/2014/main" val="20007"/>
                    </a:ext>
                  </a:extLst>
                </a:gridCol>
              </a:tblGrid>
              <a:tr h="457251">
                <a:tc>
                  <a:txBody>
                    <a:bodyPr/>
                    <a:lstStyle/>
                    <a:p>
                      <a:pPr lvl="0" algn="ctr">
                        <a:buNone/>
                      </a:pPr>
                      <a:endParaRPr lang="en-US" sz="2400" b="1" dirty="0">
                        <a:latin typeface="Arial"/>
                      </a:endParaRPr>
                    </a:p>
                  </a:txBody>
                  <a:tcPr marL="91427" marR="91427" marT="45725" marB="45725">
                    <a:lnL w="12700">
                      <a:solidFill>
                        <a:schemeClr val="tx1"/>
                      </a:solidFill>
                    </a:lnL>
                    <a:lnB w="12700">
                      <a:solidFill>
                        <a:schemeClr val="tx1"/>
                      </a:solidFill>
                    </a:lnB>
                  </a:tcPr>
                </a:tc>
                <a:tc>
                  <a:txBody>
                    <a:bodyPr/>
                    <a:lstStyle/>
                    <a:p>
                      <a:pPr lvl="0" algn="ctr">
                        <a:buNone/>
                      </a:pPr>
                      <a:r>
                        <a:rPr lang="en-US" sz="2400" b="1" dirty="0">
                          <a:latin typeface="Arial"/>
                        </a:rPr>
                        <a:t>C</a:t>
                      </a:r>
                      <a:r>
                        <a:rPr lang="en-US" sz="2400" b="1" baseline="-25000" dirty="0">
                          <a:latin typeface="Arial"/>
                        </a:rPr>
                        <a:t>j</a:t>
                      </a:r>
                      <a:r>
                        <a:rPr lang="en-US" sz="2400" b="1" dirty="0">
                          <a:latin typeface="Arial"/>
                        </a:rPr>
                        <a:t> -&gt;</a:t>
                      </a:r>
                    </a:p>
                  </a:txBody>
                  <a:tcPr marL="91427" marR="91427" marT="45725" marB="45725">
                    <a:lnR w="12700">
                      <a:solidFill>
                        <a:schemeClr val="tx1"/>
                      </a:solidFill>
                    </a:lnR>
                    <a:lnB w="12700">
                      <a:solidFill>
                        <a:schemeClr val="tx1"/>
                      </a:solidFill>
                    </a:lnB>
                  </a:tcPr>
                </a:tc>
                <a:tc>
                  <a:txBody>
                    <a:bodyPr/>
                    <a:lstStyle/>
                    <a:p>
                      <a:pPr algn="ctr"/>
                      <a:r>
                        <a:rPr lang="en-US" sz="2400" b="1" dirty="0">
                          <a:latin typeface="Arial"/>
                        </a:rPr>
                        <a:t>8</a:t>
                      </a:r>
                    </a:p>
                  </a:txBody>
                  <a:tcPr marL="91427" marR="91427" marT="45725" marB="45725">
                    <a:lnL w="12700">
                      <a:solidFill>
                        <a:schemeClr val="tx1"/>
                      </a:solidFill>
                    </a:lnL>
                    <a:lnB w="12700">
                      <a:solidFill>
                        <a:schemeClr val="tx1"/>
                      </a:solidFill>
                    </a:lnB>
                  </a:tcPr>
                </a:tc>
                <a:tc>
                  <a:txBody>
                    <a:bodyPr/>
                    <a:lstStyle/>
                    <a:p>
                      <a:pPr algn="ctr"/>
                      <a:r>
                        <a:rPr lang="en-US" sz="2400" b="1" dirty="0">
                          <a:latin typeface="Arial"/>
                        </a:rPr>
                        <a:t>10</a:t>
                      </a:r>
                    </a:p>
                  </a:txBody>
                  <a:tcPr marL="91427" marR="91427" marT="45725" marB="45725">
                    <a:lnB w="12700">
                      <a:solidFill>
                        <a:schemeClr val="tx1"/>
                      </a:solidFill>
                    </a:lnB>
                  </a:tcPr>
                </a:tc>
                <a:tc>
                  <a:txBody>
                    <a:bodyPr/>
                    <a:lstStyle/>
                    <a:p>
                      <a:pPr algn="ctr"/>
                      <a:r>
                        <a:rPr lang="en-US" sz="2400" b="1" dirty="0">
                          <a:latin typeface="Arial"/>
                        </a:rPr>
                        <a:t>7</a:t>
                      </a:r>
                    </a:p>
                  </a:txBody>
                  <a:tcPr marL="91427" marR="91427" marT="45725" marB="45725">
                    <a:lnB w="12700">
                      <a:solidFill>
                        <a:schemeClr val="tx1"/>
                      </a:solidFill>
                    </a:lnB>
                  </a:tcPr>
                </a:tc>
                <a:tc>
                  <a:txBody>
                    <a:bodyPr/>
                    <a:lstStyle/>
                    <a:p>
                      <a:pPr algn="ctr"/>
                      <a:r>
                        <a:rPr lang="en-US" sz="2400" b="1" dirty="0">
                          <a:latin typeface="Arial"/>
                        </a:rPr>
                        <a:t>0</a:t>
                      </a:r>
                    </a:p>
                  </a:txBody>
                  <a:tcPr marL="91427" marR="91427" marT="45725" marB="45725">
                    <a:lnB w="12700">
                      <a:solidFill>
                        <a:schemeClr val="tx1"/>
                      </a:solidFill>
                    </a:lnB>
                  </a:tcPr>
                </a:tc>
                <a:tc>
                  <a:txBody>
                    <a:bodyPr/>
                    <a:lstStyle/>
                    <a:p>
                      <a:pPr algn="ctr"/>
                      <a:r>
                        <a:rPr lang="en-US" sz="2400" b="1" dirty="0">
                          <a:latin typeface="Arial"/>
                        </a:rPr>
                        <a:t>0</a:t>
                      </a:r>
                    </a:p>
                  </a:txBody>
                  <a:tcPr marL="91427" marR="91427" marT="45725" marB="45725">
                    <a:lnR w="12700">
                      <a:solidFill>
                        <a:schemeClr val="tx1"/>
                      </a:solidFill>
                    </a:lnR>
                    <a:lnB w="12700">
                      <a:solidFill>
                        <a:schemeClr val="tx1"/>
                      </a:solidFill>
                    </a:lnB>
                  </a:tcPr>
                </a:tc>
                <a:tc>
                  <a:txBody>
                    <a:bodyPr/>
                    <a:lstStyle/>
                    <a:p>
                      <a:pPr algn="ctr"/>
                      <a:endParaRPr lang="en-US" sz="2400" b="1" dirty="0">
                        <a:latin typeface="Arial"/>
                      </a:endParaRPr>
                    </a:p>
                  </a:txBody>
                  <a:tcPr marL="91427" marR="91427" marT="45725" marB="45725">
                    <a:lnL w="12700">
                      <a:solidFill>
                        <a:schemeClr val="tx1"/>
                      </a:solidFill>
                    </a:lnL>
                    <a:lnB w="12700">
                      <a:solidFill>
                        <a:schemeClr val="tx1"/>
                      </a:solidFill>
                    </a:lnB>
                  </a:tcPr>
                </a:tc>
                <a:extLst>
                  <a:ext uri="{0D108BD9-81ED-4DB2-BD59-A6C34878D82A}">
                    <a16:rowId xmlns:a16="http://schemas.microsoft.com/office/drawing/2014/main" val="10000"/>
                  </a:ext>
                </a:extLst>
              </a:tr>
              <a:tr h="579184">
                <a:tc>
                  <a:txBody>
                    <a:bodyPr/>
                    <a:lstStyle/>
                    <a:p>
                      <a:pPr lvl="0" algn="ctr">
                        <a:buNone/>
                      </a:pPr>
                      <a:r>
                        <a:rPr lang="en-US" sz="2400" b="1" err="1">
                          <a:latin typeface="Arial"/>
                        </a:rPr>
                        <a:t>C</a:t>
                      </a:r>
                      <a:r>
                        <a:rPr lang="en-US" sz="2400" b="1" baseline="-25000" err="1">
                          <a:latin typeface="Arial"/>
                        </a:rPr>
                        <a:t>Bi</a:t>
                      </a:r>
                    </a:p>
                  </a:txBody>
                  <a:tcPr marL="91427" marR="91427" marT="45725" marB="45725">
                    <a:lnL w="12700">
                      <a:solidFill>
                        <a:schemeClr val="tx1"/>
                      </a:solidFill>
                    </a:lnL>
                    <a:lnT w="12700">
                      <a:solidFill>
                        <a:schemeClr val="tx1"/>
                      </a:solidFill>
                    </a:lnT>
                    <a:lnB w="12700">
                      <a:solidFill>
                        <a:schemeClr val="tx1"/>
                      </a:solidFill>
                    </a:lnB>
                  </a:tcPr>
                </a:tc>
                <a:tc>
                  <a:txBody>
                    <a:bodyPr/>
                    <a:lstStyle/>
                    <a:p>
                      <a:pPr lvl="0" algn="ctr">
                        <a:buNone/>
                      </a:pPr>
                      <a:r>
                        <a:rPr lang="en-US" sz="1600" b="1" dirty="0">
                          <a:latin typeface="Arial"/>
                        </a:rPr>
                        <a:t>Basic variables</a:t>
                      </a:r>
                    </a:p>
                  </a:txBody>
                  <a:tcPr marL="91427" marR="91427" marT="45725" marB="45725">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x1</a:t>
                      </a:r>
                      <a:endParaRPr lang="en-US" sz="1800"/>
                    </a:p>
                  </a:txBody>
                  <a:tcPr marL="91427" marR="91427" marT="45725" marB="45725">
                    <a:lnL w="12700">
                      <a:solidFill>
                        <a:schemeClr val="tx1"/>
                      </a:solidFill>
                    </a:lnL>
                    <a:lnT w="12700">
                      <a:solidFill>
                        <a:schemeClr val="tx1"/>
                      </a:solidFill>
                    </a:lnT>
                    <a:lnB w="12700">
                      <a:solidFill>
                        <a:schemeClr val="tx1"/>
                      </a:solidFill>
                    </a:lnB>
                  </a:tcPr>
                </a:tc>
                <a:tc>
                  <a:txBody>
                    <a:bodyPr/>
                    <a:lstStyle/>
                    <a:p>
                      <a:pPr lvl="0" algn="ctr">
                        <a:buNone/>
                      </a:pPr>
                      <a:r>
                        <a:rPr lang="en-US" sz="2400" b="1" dirty="0">
                          <a:latin typeface="Arial"/>
                        </a:rPr>
                        <a:t>x2</a:t>
                      </a:r>
                      <a:endParaRPr lang="en-US" sz="1800"/>
                    </a:p>
                  </a:txBody>
                  <a:tcPr marL="91427" marR="91427" marT="45725" marB="45725">
                    <a:lnT w="12700">
                      <a:solidFill>
                        <a:schemeClr val="tx1"/>
                      </a:solidFill>
                    </a:lnT>
                    <a:lnB w="12700">
                      <a:solidFill>
                        <a:schemeClr val="tx1"/>
                      </a:solidFill>
                    </a:lnB>
                  </a:tcPr>
                </a:tc>
                <a:tc>
                  <a:txBody>
                    <a:bodyPr/>
                    <a:lstStyle/>
                    <a:p>
                      <a:pPr lvl="0" algn="ctr">
                        <a:buNone/>
                      </a:pPr>
                      <a:r>
                        <a:rPr lang="en-US" sz="2400" b="1" dirty="0">
                          <a:latin typeface="Arial"/>
                        </a:rPr>
                        <a:t>x3</a:t>
                      </a:r>
                      <a:endParaRPr lang="en-US" sz="1800"/>
                    </a:p>
                  </a:txBody>
                  <a:tcPr marL="91427" marR="91427" marT="45725" marB="45725">
                    <a:lnT w="12700">
                      <a:solidFill>
                        <a:schemeClr val="tx1"/>
                      </a:solidFill>
                    </a:lnT>
                    <a:lnB w="12700">
                      <a:solidFill>
                        <a:schemeClr val="tx1"/>
                      </a:solidFill>
                    </a:lnB>
                  </a:tcPr>
                </a:tc>
                <a:tc>
                  <a:txBody>
                    <a:bodyPr/>
                    <a:lstStyle/>
                    <a:p>
                      <a:pPr lvl="0" algn="ctr">
                        <a:buNone/>
                      </a:pPr>
                      <a:r>
                        <a:rPr lang="en-US" sz="2400" b="1" dirty="0">
                          <a:latin typeface="Arial"/>
                        </a:rPr>
                        <a:t>s1</a:t>
                      </a:r>
                      <a:endParaRPr lang="en-US" sz="1800"/>
                    </a:p>
                  </a:txBody>
                  <a:tcPr marL="91427" marR="91427" marT="45725" marB="45725">
                    <a:lnT w="12700">
                      <a:solidFill>
                        <a:schemeClr val="tx1"/>
                      </a:solidFill>
                    </a:lnT>
                    <a:lnB w="12700">
                      <a:solidFill>
                        <a:schemeClr val="tx1"/>
                      </a:solidFill>
                    </a:lnB>
                  </a:tcPr>
                </a:tc>
                <a:tc>
                  <a:txBody>
                    <a:bodyPr/>
                    <a:lstStyle/>
                    <a:p>
                      <a:pPr lvl="0" algn="ctr">
                        <a:buNone/>
                      </a:pPr>
                      <a:r>
                        <a:rPr lang="en-US" sz="2400" b="1" dirty="0">
                          <a:latin typeface="Arial"/>
                        </a:rPr>
                        <a:t>s2</a:t>
                      </a:r>
                      <a:endParaRPr lang="en-US" sz="1800"/>
                    </a:p>
                  </a:txBody>
                  <a:tcPr marL="91427" marR="91427" marT="45725" marB="45725">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b</a:t>
                      </a:r>
                      <a:endParaRPr lang="en-US" sz="1800"/>
                    </a:p>
                  </a:txBody>
                  <a:tcPr marL="91427" marR="91427" marT="45725" marB="45725">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457251">
                <a:tc>
                  <a:txBody>
                    <a:bodyPr/>
                    <a:lstStyle/>
                    <a:p>
                      <a:pPr lvl="0" algn="ctr">
                        <a:buNone/>
                      </a:pPr>
                      <a:r>
                        <a:rPr lang="en-US" sz="2400" b="1" dirty="0">
                          <a:latin typeface="Arial"/>
                        </a:rPr>
                        <a:t>0</a:t>
                      </a:r>
                    </a:p>
                  </a:txBody>
                  <a:tcPr marL="91427" marR="91427" marT="45725" marB="45725">
                    <a:lnL w="12700">
                      <a:solidFill>
                        <a:schemeClr val="tx1"/>
                      </a:solidFill>
                    </a:lnL>
                    <a:lnT w="12700">
                      <a:solidFill>
                        <a:schemeClr val="tx1"/>
                      </a:solidFill>
                    </a:lnT>
                  </a:tcPr>
                </a:tc>
                <a:tc>
                  <a:txBody>
                    <a:bodyPr/>
                    <a:lstStyle/>
                    <a:p>
                      <a:pPr lvl="0" algn="ctr">
                        <a:buNone/>
                      </a:pPr>
                      <a:r>
                        <a:rPr lang="en-US" sz="2400" b="1" dirty="0">
                          <a:solidFill>
                            <a:schemeClr val="accent3"/>
                          </a:solidFill>
                          <a:latin typeface="Arial"/>
                        </a:rPr>
                        <a:t>s1</a:t>
                      </a:r>
                    </a:p>
                  </a:txBody>
                  <a:tcPr marL="91427" marR="91427" marT="45725" marB="45725">
                    <a:lnR w="12700">
                      <a:solidFill>
                        <a:schemeClr val="tx1"/>
                      </a:solidFill>
                    </a:lnR>
                    <a:lnT w="12700">
                      <a:solidFill>
                        <a:schemeClr val="tx1"/>
                      </a:solidFill>
                    </a:lnT>
                  </a:tcPr>
                </a:tc>
                <a:tc>
                  <a:txBody>
                    <a:bodyPr/>
                    <a:lstStyle/>
                    <a:p>
                      <a:pPr algn="ctr"/>
                      <a:r>
                        <a:rPr lang="en-US" sz="2400" b="1" dirty="0">
                          <a:latin typeface="Arial"/>
                        </a:rPr>
                        <a:t>1</a:t>
                      </a:r>
                    </a:p>
                  </a:txBody>
                  <a:tcPr marL="91427" marR="91427" marT="45725" marB="45725">
                    <a:lnL w="12700">
                      <a:solidFill>
                        <a:schemeClr val="tx1"/>
                      </a:solidFill>
                    </a:lnL>
                    <a:lnT w="12700">
                      <a:solidFill>
                        <a:schemeClr val="tx1"/>
                      </a:solidFill>
                    </a:lnT>
                  </a:tcPr>
                </a:tc>
                <a:tc>
                  <a:txBody>
                    <a:bodyPr/>
                    <a:lstStyle/>
                    <a:p>
                      <a:pPr algn="ctr"/>
                      <a:r>
                        <a:rPr lang="en-US" sz="2400" b="1" dirty="0">
                          <a:latin typeface="Arial"/>
                        </a:rPr>
                        <a:t>3</a:t>
                      </a:r>
                    </a:p>
                  </a:txBody>
                  <a:tcPr marL="91427" marR="91427" marT="45725" marB="45725">
                    <a:lnT w="12700">
                      <a:solidFill>
                        <a:schemeClr val="tx1"/>
                      </a:solidFill>
                    </a:lnT>
                  </a:tcPr>
                </a:tc>
                <a:tc>
                  <a:txBody>
                    <a:bodyPr/>
                    <a:lstStyle/>
                    <a:p>
                      <a:pPr algn="ctr"/>
                      <a:r>
                        <a:rPr lang="en-US" sz="2400" b="1" dirty="0">
                          <a:latin typeface="Arial"/>
                        </a:rPr>
                        <a:t>2</a:t>
                      </a:r>
                    </a:p>
                  </a:txBody>
                  <a:tcPr marL="91427" marR="91427" marT="45725" marB="45725">
                    <a:lnT w="12700">
                      <a:solidFill>
                        <a:schemeClr val="tx1"/>
                      </a:solidFill>
                    </a:lnT>
                  </a:tcPr>
                </a:tc>
                <a:tc>
                  <a:txBody>
                    <a:bodyPr/>
                    <a:lstStyle/>
                    <a:p>
                      <a:pPr algn="ctr"/>
                      <a:r>
                        <a:rPr lang="en-US" sz="2400" b="1" dirty="0">
                          <a:latin typeface="Arial"/>
                        </a:rPr>
                        <a:t>1</a:t>
                      </a:r>
                    </a:p>
                  </a:txBody>
                  <a:tcPr marL="91427" marR="91427" marT="45725" marB="45725">
                    <a:lnT w="12700">
                      <a:solidFill>
                        <a:schemeClr val="tx1"/>
                      </a:solidFill>
                    </a:lnT>
                  </a:tcPr>
                </a:tc>
                <a:tc>
                  <a:txBody>
                    <a:bodyPr/>
                    <a:lstStyle/>
                    <a:p>
                      <a:pPr algn="ctr"/>
                      <a:r>
                        <a:rPr lang="en-US" sz="2400" b="1" dirty="0">
                          <a:latin typeface="Arial"/>
                        </a:rPr>
                        <a:t>0</a:t>
                      </a:r>
                    </a:p>
                  </a:txBody>
                  <a:tcPr marL="91427" marR="91427" marT="45725" marB="45725">
                    <a:lnR w="12700">
                      <a:solidFill>
                        <a:schemeClr val="tx1"/>
                      </a:solidFill>
                    </a:lnR>
                    <a:lnT w="12700">
                      <a:solidFill>
                        <a:schemeClr val="tx1"/>
                      </a:solidFill>
                    </a:lnT>
                  </a:tcPr>
                </a:tc>
                <a:tc>
                  <a:txBody>
                    <a:bodyPr/>
                    <a:lstStyle/>
                    <a:p>
                      <a:pPr algn="ctr"/>
                      <a:r>
                        <a:rPr lang="en-US" sz="2400" b="1" dirty="0">
                          <a:latin typeface="Arial"/>
                        </a:rPr>
                        <a:t>10</a:t>
                      </a:r>
                    </a:p>
                  </a:txBody>
                  <a:tcPr marL="91427" marR="91427" marT="45725" marB="45725">
                    <a:lnL w="12700">
                      <a:solidFill>
                        <a:schemeClr val="tx1"/>
                      </a:solidFill>
                    </a:lnL>
                    <a:lnT w="12700">
                      <a:solidFill>
                        <a:schemeClr val="tx1"/>
                      </a:solidFill>
                    </a:lnT>
                  </a:tcPr>
                </a:tc>
                <a:extLst>
                  <a:ext uri="{0D108BD9-81ED-4DB2-BD59-A6C34878D82A}">
                    <a16:rowId xmlns:a16="http://schemas.microsoft.com/office/drawing/2014/main" val="10002"/>
                  </a:ext>
                </a:extLst>
              </a:tr>
              <a:tr h="457251">
                <a:tc>
                  <a:txBody>
                    <a:bodyPr/>
                    <a:lstStyle/>
                    <a:p>
                      <a:pPr lvl="0" algn="ctr">
                        <a:buNone/>
                      </a:pPr>
                      <a:r>
                        <a:rPr lang="en-US" sz="2400" b="1" dirty="0">
                          <a:latin typeface="Arial"/>
                        </a:rPr>
                        <a:t>0</a:t>
                      </a:r>
                    </a:p>
                  </a:txBody>
                  <a:tcPr marL="91427" marR="91427" marT="45725" marB="45725">
                    <a:lnL w="12700">
                      <a:solidFill>
                        <a:schemeClr val="tx1"/>
                      </a:solidFill>
                    </a:lnL>
                    <a:lnB w="12700">
                      <a:solidFill>
                        <a:schemeClr val="tx1"/>
                      </a:solidFill>
                    </a:lnB>
                  </a:tcPr>
                </a:tc>
                <a:tc>
                  <a:txBody>
                    <a:bodyPr/>
                    <a:lstStyle/>
                    <a:p>
                      <a:pPr lvl="0" algn="ctr">
                        <a:buNone/>
                      </a:pPr>
                      <a:r>
                        <a:rPr lang="en-US" sz="2400" b="1" dirty="0">
                          <a:solidFill>
                            <a:schemeClr val="accent3"/>
                          </a:solidFill>
                          <a:latin typeface="Arial"/>
                        </a:rPr>
                        <a:t>s2</a:t>
                      </a:r>
                    </a:p>
                  </a:txBody>
                  <a:tcPr marL="91427" marR="91427" marT="45725" marB="45725">
                    <a:lnR w="12700">
                      <a:solidFill>
                        <a:schemeClr val="tx1"/>
                      </a:solidFill>
                    </a:lnR>
                    <a:lnB w="12700">
                      <a:solidFill>
                        <a:schemeClr val="tx1"/>
                      </a:solidFill>
                    </a:lnB>
                  </a:tcPr>
                </a:tc>
                <a:tc>
                  <a:txBody>
                    <a:bodyPr/>
                    <a:lstStyle/>
                    <a:p>
                      <a:pPr algn="ctr"/>
                      <a:r>
                        <a:rPr lang="en-US" sz="2400" b="1" dirty="0">
                          <a:latin typeface="Arial"/>
                        </a:rPr>
                        <a:t>1</a:t>
                      </a:r>
                    </a:p>
                  </a:txBody>
                  <a:tcPr marL="91427" marR="91427" marT="45725" marB="45725">
                    <a:lnL w="12700">
                      <a:solidFill>
                        <a:schemeClr val="tx1"/>
                      </a:solidFill>
                    </a:lnL>
                    <a:lnB w="12700">
                      <a:solidFill>
                        <a:schemeClr val="tx1"/>
                      </a:solidFill>
                    </a:lnB>
                  </a:tcPr>
                </a:tc>
                <a:tc>
                  <a:txBody>
                    <a:bodyPr/>
                    <a:lstStyle/>
                    <a:p>
                      <a:pPr algn="ctr"/>
                      <a:r>
                        <a:rPr lang="en-US" sz="2400" b="1" dirty="0">
                          <a:latin typeface="Arial"/>
                        </a:rPr>
                        <a:t>5</a:t>
                      </a:r>
                    </a:p>
                  </a:txBody>
                  <a:tcPr marL="91427" marR="91427" marT="45725" marB="45725">
                    <a:lnB w="12700">
                      <a:solidFill>
                        <a:schemeClr val="tx1"/>
                      </a:solidFill>
                    </a:lnB>
                  </a:tcPr>
                </a:tc>
                <a:tc>
                  <a:txBody>
                    <a:bodyPr/>
                    <a:lstStyle/>
                    <a:p>
                      <a:pPr algn="ctr"/>
                      <a:r>
                        <a:rPr lang="en-US" sz="2400" b="1" dirty="0">
                          <a:latin typeface="Arial"/>
                        </a:rPr>
                        <a:t>1</a:t>
                      </a:r>
                    </a:p>
                  </a:txBody>
                  <a:tcPr marL="91427" marR="91427" marT="45725" marB="45725">
                    <a:lnB w="12700">
                      <a:solidFill>
                        <a:schemeClr val="tx1"/>
                      </a:solidFill>
                    </a:lnB>
                  </a:tcPr>
                </a:tc>
                <a:tc>
                  <a:txBody>
                    <a:bodyPr/>
                    <a:lstStyle/>
                    <a:p>
                      <a:pPr algn="ctr"/>
                      <a:r>
                        <a:rPr lang="en-US" sz="2400" b="1" dirty="0">
                          <a:latin typeface="Arial"/>
                        </a:rPr>
                        <a:t>0</a:t>
                      </a:r>
                    </a:p>
                  </a:txBody>
                  <a:tcPr marL="91427" marR="91427" marT="45725" marB="45725">
                    <a:lnB w="12700">
                      <a:solidFill>
                        <a:schemeClr val="tx1"/>
                      </a:solidFill>
                    </a:lnB>
                  </a:tcPr>
                </a:tc>
                <a:tc>
                  <a:txBody>
                    <a:bodyPr/>
                    <a:lstStyle/>
                    <a:p>
                      <a:pPr algn="ctr"/>
                      <a:r>
                        <a:rPr lang="en-US" sz="2400" b="1" dirty="0">
                          <a:latin typeface="Arial"/>
                        </a:rPr>
                        <a:t>1</a:t>
                      </a:r>
                    </a:p>
                  </a:txBody>
                  <a:tcPr marL="91427" marR="91427" marT="45725" marB="45725">
                    <a:lnR w="12700">
                      <a:solidFill>
                        <a:schemeClr val="tx1"/>
                      </a:solidFill>
                    </a:lnR>
                    <a:lnB w="12700">
                      <a:solidFill>
                        <a:schemeClr val="tx1"/>
                      </a:solidFill>
                    </a:lnB>
                  </a:tcPr>
                </a:tc>
                <a:tc>
                  <a:txBody>
                    <a:bodyPr/>
                    <a:lstStyle/>
                    <a:p>
                      <a:pPr algn="ctr"/>
                      <a:r>
                        <a:rPr lang="en-US" sz="2400" b="1" dirty="0">
                          <a:latin typeface="Arial"/>
                        </a:rPr>
                        <a:t>8</a:t>
                      </a:r>
                    </a:p>
                  </a:txBody>
                  <a:tcPr marL="91427" marR="91427" marT="45725" marB="45725">
                    <a:lnL w="12700">
                      <a:solidFill>
                        <a:schemeClr val="tx1"/>
                      </a:solidFill>
                    </a:lnL>
                    <a:lnB w="12700">
                      <a:solidFill>
                        <a:schemeClr val="tx1"/>
                      </a:solidFill>
                    </a:lnB>
                  </a:tcPr>
                </a:tc>
                <a:extLst>
                  <a:ext uri="{0D108BD9-81ED-4DB2-BD59-A6C34878D82A}">
                    <a16:rowId xmlns:a16="http://schemas.microsoft.com/office/drawing/2014/main" val="10003"/>
                  </a:ext>
                </a:extLst>
              </a:tr>
              <a:tr h="457251">
                <a:tc>
                  <a:txBody>
                    <a:bodyPr/>
                    <a:lstStyle/>
                    <a:p>
                      <a:pPr lvl="0" algn="ctr">
                        <a:buNone/>
                      </a:pPr>
                      <a:endParaRPr lang="en-US" sz="2400" b="1" dirty="0">
                        <a:latin typeface="Arial"/>
                      </a:endParaRPr>
                    </a:p>
                  </a:txBody>
                  <a:tcPr marL="91427" marR="91427" marT="45725" marB="45725">
                    <a:lnL w="12700">
                      <a:solidFill>
                        <a:schemeClr val="tx1"/>
                      </a:solidFill>
                    </a:lnL>
                    <a:lnT w="12700">
                      <a:solidFill>
                        <a:schemeClr val="tx1"/>
                      </a:solidFill>
                    </a:lnT>
                  </a:tcPr>
                </a:tc>
                <a:tc>
                  <a:txBody>
                    <a:bodyPr/>
                    <a:lstStyle/>
                    <a:p>
                      <a:pPr lvl="0" algn="ctr">
                        <a:buNone/>
                      </a:pPr>
                      <a:r>
                        <a:rPr lang="en-US" sz="2400" b="1" dirty="0" err="1">
                          <a:solidFill>
                            <a:schemeClr val="tx1"/>
                          </a:solidFill>
                          <a:latin typeface="Arial"/>
                        </a:rPr>
                        <a:t>z</a:t>
                      </a:r>
                      <a:r>
                        <a:rPr lang="en-US" sz="2400" b="1" baseline="-25000" dirty="0" err="1">
                          <a:solidFill>
                            <a:schemeClr val="tx1"/>
                          </a:solidFill>
                          <a:latin typeface="Arial"/>
                        </a:rPr>
                        <a:t>j</a:t>
                      </a:r>
                    </a:p>
                  </a:txBody>
                  <a:tcPr marL="91427" marR="91427" marT="45725" marB="45725">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7" marR="91427" marT="45725" marB="45725">
                    <a:lnL w="12700">
                      <a:solidFill>
                        <a:schemeClr val="tx1"/>
                      </a:solidFill>
                    </a:lnL>
                    <a:lnT w="12700">
                      <a:solidFill>
                        <a:schemeClr val="tx1"/>
                      </a:solidFill>
                    </a:lnT>
                  </a:tcPr>
                </a:tc>
                <a:tc>
                  <a:txBody>
                    <a:bodyPr/>
                    <a:lstStyle/>
                    <a:p>
                      <a:pPr lvl="0" algn="ctr">
                        <a:buNone/>
                      </a:pPr>
                      <a:r>
                        <a:rPr lang="en-US" sz="2400" b="1" dirty="0">
                          <a:latin typeface="Arial"/>
                        </a:rPr>
                        <a:t>0</a:t>
                      </a:r>
                    </a:p>
                  </a:txBody>
                  <a:tcPr marL="91427" marR="91427" marT="45725" marB="45725">
                    <a:lnT w="12700">
                      <a:solidFill>
                        <a:schemeClr val="tx1"/>
                      </a:solidFill>
                    </a:lnT>
                  </a:tcPr>
                </a:tc>
                <a:tc>
                  <a:txBody>
                    <a:bodyPr/>
                    <a:lstStyle/>
                    <a:p>
                      <a:pPr lvl="0" algn="ctr">
                        <a:buNone/>
                      </a:pPr>
                      <a:r>
                        <a:rPr lang="en-US" sz="2400" b="1" dirty="0">
                          <a:latin typeface="Arial"/>
                        </a:rPr>
                        <a:t>0</a:t>
                      </a:r>
                    </a:p>
                  </a:txBody>
                  <a:tcPr marL="91427" marR="91427" marT="45725" marB="45725">
                    <a:lnT w="12700">
                      <a:solidFill>
                        <a:schemeClr val="tx1"/>
                      </a:solidFill>
                    </a:lnT>
                  </a:tcPr>
                </a:tc>
                <a:tc>
                  <a:txBody>
                    <a:bodyPr/>
                    <a:lstStyle/>
                    <a:p>
                      <a:pPr lvl="0" algn="ctr">
                        <a:buNone/>
                      </a:pPr>
                      <a:r>
                        <a:rPr lang="en-US" sz="2400" b="1" dirty="0">
                          <a:latin typeface="Arial"/>
                        </a:rPr>
                        <a:t>0</a:t>
                      </a:r>
                    </a:p>
                  </a:txBody>
                  <a:tcPr marL="91427" marR="91427" marT="45725" marB="45725">
                    <a:lnT w="12700">
                      <a:solidFill>
                        <a:schemeClr val="tx1"/>
                      </a:solidFill>
                    </a:lnT>
                  </a:tcPr>
                </a:tc>
                <a:tc>
                  <a:txBody>
                    <a:bodyPr/>
                    <a:lstStyle/>
                    <a:p>
                      <a:pPr lvl="0" algn="ctr">
                        <a:buNone/>
                      </a:pPr>
                      <a:r>
                        <a:rPr lang="en-US" sz="2400" b="1" dirty="0">
                          <a:latin typeface="Arial"/>
                        </a:rPr>
                        <a:t>0</a:t>
                      </a:r>
                    </a:p>
                  </a:txBody>
                  <a:tcPr marL="91427" marR="91427" marT="45725" marB="45725">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7" marR="91427" marT="45725" marB="45725">
                    <a:lnL w="12700">
                      <a:solidFill>
                        <a:schemeClr val="tx1"/>
                      </a:solidFill>
                    </a:lnL>
                    <a:lnT w="12700">
                      <a:solidFill>
                        <a:schemeClr val="tx1"/>
                      </a:solidFill>
                    </a:lnT>
                  </a:tcPr>
                </a:tc>
                <a:extLst>
                  <a:ext uri="{0D108BD9-81ED-4DB2-BD59-A6C34878D82A}">
                    <a16:rowId xmlns:a16="http://schemas.microsoft.com/office/drawing/2014/main" val="10004"/>
                  </a:ext>
                </a:extLst>
              </a:tr>
              <a:tr h="457251">
                <a:tc>
                  <a:txBody>
                    <a:bodyPr/>
                    <a:lstStyle/>
                    <a:p>
                      <a:pPr lvl="0" algn="ctr">
                        <a:buNone/>
                      </a:pPr>
                      <a:endParaRPr lang="en-US" sz="2400" b="1" dirty="0">
                        <a:latin typeface="Arial"/>
                      </a:endParaRPr>
                    </a:p>
                  </a:txBody>
                  <a:tcPr marL="91427" marR="91427" marT="45725" marB="45725">
                    <a:lnL w="12700">
                      <a:solidFill>
                        <a:schemeClr val="tx1"/>
                      </a:solidFill>
                    </a:lnL>
                  </a:tcPr>
                </a:tc>
                <a:tc>
                  <a:txBody>
                    <a:bodyPr/>
                    <a:lstStyle/>
                    <a:p>
                      <a:pPr lvl="0" algn="ctr">
                        <a:buNone/>
                      </a:pPr>
                      <a:r>
                        <a:rPr lang="en-US" sz="2800" b="1" i="0" u="none" strike="noStrike" baseline="-25000" noProof="0" dirty="0">
                          <a:solidFill>
                            <a:srgbClr val="000000"/>
                          </a:solidFill>
                          <a:latin typeface="Arial"/>
                        </a:rPr>
                        <a:t>Cj - </a:t>
                      </a:r>
                      <a:r>
                        <a:rPr lang="en-US" sz="2800" b="1" i="0" u="none" strike="noStrike" baseline="-25000" noProof="0" err="1">
                          <a:solidFill>
                            <a:srgbClr val="000000"/>
                          </a:solidFill>
                          <a:latin typeface="Arial"/>
                        </a:rPr>
                        <a:t>zj</a:t>
                      </a:r>
                      <a:endParaRPr lang="en-US" sz="2800" b="1" i="0" u="none" strike="noStrike" baseline="-25000" noProof="0" err="1">
                        <a:solidFill>
                          <a:schemeClr val="tx1"/>
                        </a:solidFill>
                        <a:latin typeface="Arial"/>
                      </a:endParaRPr>
                    </a:p>
                  </a:txBody>
                  <a:tcPr marL="91427" marR="91427" marT="45725" marB="45725" anchor="ctr">
                    <a:lnR w="12700">
                      <a:solidFill>
                        <a:schemeClr val="tx1"/>
                      </a:solidFill>
                    </a:lnR>
                  </a:tcPr>
                </a:tc>
                <a:tc>
                  <a:txBody>
                    <a:bodyPr/>
                    <a:lstStyle/>
                    <a:p>
                      <a:pPr lvl="0" algn="ctr">
                        <a:buNone/>
                      </a:pPr>
                      <a:r>
                        <a:rPr lang="en-US" sz="2400" b="1" dirty="0">
                          <a:latin typeface="Arial"/>
                        </a:rPr>
                        <a:t>8</a:t>
                      </a:r>
                    </a:p>
                  </a:txBody>
                  <a:tcPr marL="91427" marR="91427" marT="45725" marB="45725">
                    <a:lnL w="12700">
                      <a:solidFill>
                        <a:schemeClr val="tx1"/>
                      </a:solidFill>
                    </a:lnL>
                  </a:tcPr>
                </a:tc>
                <a:tc>
                  <a:txBody>
                    <a:bodyPr/>
                    <a:lstStyle/>
                    <a:p>
                      <a:pPr lvl="0" algn="ctr">
                        <a:buNone/>
                      </a:pPr>
                      <a:r>
                        <a:rPr lang="en-US" sz="2400" b="1" dirty="0">
                          <a:latin typeface="Arial"/>
                        </a:rPr>
                        <a:t>10</a:t>
                      </a:r>
                    </a:p>
                  </a:txBody>
                  <a:tcPr marL="91427" marR="91427" marT="45725" marB="45725"/>
                </a:tc>
                <a:tc>
                  <a:txBody>
                    <a:bodyPr/>
                    <a:lstStyle/>
                    <a:p>
                      <a:pPr lvl="0" algn="ctr">
                        <a:buNone/>
                      </a:pPr>
                      <a:r>
                        <a:rPr lang="en-US" sz="2400" b="1" dirty="0">
                          <a:latin typeface="Arial"/>
                        </a:rPr>
                        <a:t>7</a:t>
                      </a:r>
                    </a:p>
                  </a:txBody>
                  <a:tcPr marL="91427" marR="91427" marT="45725" marB="45725"/>
                </a:tc>
                <a:tc>
                  <a:txBody>
                    <a:bodyPr/>
                    <a:lstStyle/>
                    <a:p>
                      <a:pPr lvl="0" algn="ctr">
                        <a:buNone/>
                      </a:pPr>
                      <a:r>
                        <a:rPr lang="en-US" sz="2400" b="1" dirty="0">
                          <a:latin typeface="Arial"/>
                        </a:rPr>
                        <a:t>0</a:t>
                      </a:r>
                    </a:p>
                  </a:txBody>
                  <a:tcPr marL="91427" marR="91427" marT="45725" marB="45725"/>
                </a:tc>
                <a:tc>
                  <a:txBody>
                    <a:bodyPr/>
                    <a:lstStyle/>
                    <a:p>
                      <a:pPr lvl="0" algn="ctr">
                        <a:buNone/>
                      </a:pPr>
                      <a:r>
                        <a:rPr lang="en-US" sz="2400" b="1" dirty="0">
                          <a:latin typeface="Arial"/>
                        </a:rPr>
                        <a:t>0</a:t>
                      </a:r>
                    </a:p>
                  </a:txBody>
                  <a:tcPr marL="91427" marR="91427" marT="45725" marB="45725"/>
                </a:tc>
                <a:tc>
                  <a:txBody>
                    <a:bodyPr/>
                    <a:lstStyle/>
                    <a:p>
                      <a:pPr lvl="0" algn="ctr">
                        <a:buNone/>
                      </a:pPr>
                      <a:endParaRPr lang="en-US" sz="2400" b="1" dirty="0">
                        <a:latin typeface="Arial"/>
                      </a:endParaRPr>
                    </a:p>
                  </a:txBody>
                  <a:tcPr marL="91427" marR="91427"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Google Shape;192;p32" descr="KL Deemed to be University Logo">
            <a:extLst>
              <a:ext uri="{FF2B5EF4-FFF2-40B4-BE49-F238E27FC236}">
                <a16:creationId xmlns:a16="http://schemas.microsoft.com/office/drawing/2014/main" id="{E1982B0B-6C97-182B-F400-6C12CF47236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Google Shape;193;p32">
            <a:extLst>
              <a:ext uri="{FF2B5EF4-FFF2-40B4-BE49-F238E27FC236}">
                <a16:creationId xmlns:a16="http://schemas.microsoft.com/office/drawing/2014/main" id="{6CEE39A5-4747-5E64-8554-BBD8DA4EC48D}"/>
              </a:ext>
            </a:extLst>
          </p:cNvPr>
          <p:cNvSpPr>
            <a:spLocks noChangeArrowheads="1"/>
          </p:cNvSpPr>
          <p:nvPr/>
        </p:nvSpPr>
        <p:spPr bwMode="auto">
          <a:xfrm>
            <a:off x="1857375" y="134938"/>
            <a:ext cx="9066213" cy="706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5: Identify pivot row/column and pivot element</a:t>
            </a:r>
          </a:p>
        </p:txBody>
      </p:sp>
      <p:sp>
        <p:nvSpPr>
          <p:cNvPr id="195" name="Google Shape;195;p32">
            <a:extLst>
              <a:ext uri="{FF2B5EF4-FFF2-40B4-BE49-F238E27FC236}">
                <a16:creationId xmlns:a16="http://schemas.microsoft.com/office/drawing/2014/main" id="{AC492C36-85C6-F3E9-CB8E-0480E330AFE1}"/>
              </a:ext>
            </a:extLst>
          </p:cNvPr>
          <p:cNvSpPr txBox="1"/>
          <p:nvPr/>
        </p:nvSpPr>
        <p:spPr>
          <a:xfrm>
            <a:off x="260350" y="3971925"/>
            <a:ext cx="10910888" cy="2339975"/>
          </a:xfrm>
          <a:prstGeom prst="rect">
            <a:avLst/>
          </a:prstGeom>
          <a:solidFill>
            <a:srgbClr val="FFFFFF"/>
          </a:solidFill>
          <a:ln>
            <a:noFill/>
          </a:ln>
        </p:spPr>
        <p:txBody>
          <a:bodyPr spcFirstLastPara="1" lIns="91425" tIns="91425" rIns="91425" bIns="91425">
            <a:spAutoFit/>
          </a:bodyPr>
          <a:lstStyle/>
          <a:p>
            <a:pPr marL="457200" indent="-355600" eaLnBrk="1" fontAlgn="auto" hangingPunct="1">
              <a:spcBef>
                <a:spcPts val="0"/>
              </a:spcBef>
              <a:spcAft>
                <a:spcPts val="0"/>
              </a:spcAft>
              <a:buSzPts val="2000"/>
              <a:buFont typeface="Arial"/>
              <a:buChar char="•"/>
              <a:defRPr/>
            </a:pPr>
            <a:r>
              <a:rPr lang="en-US" sz="2000" b="1" dirty="0">
                <a:solidFill>
                  <a:srgbClr val="FF00FF"/>
                </a:solidFill>
                <a:latin typeface="+mn-lt"/>
              </a:rPr>
              <a:t>Pivot column</a:t>
            </a:r>
            <a:r>
              <a:rPr lang="en-US" sz="2000" dirty="0">
                <a:latin typeface="Times New Roman"/>
                <a:cs typeface="Times New Roman"/>
              </a:rPr>
              <a:t>: In the Cj – </a:t>
            </a:r>
            <a:r>
              <a:rPr lang="en-US" sz="2000" dirty="0" err="1">
                <a:latin typeface="Times New Roman"/>
                <a:cs typeface="Times New Roman"/>
              </a:rPr>
              <a:t>zj</a:t>
            </a:r>
            <a:r>
              <a:rPr lang="en-US" sz="2000" dirty="0">
                <a:latin typeface="Times New Roman"/>
                <a:cs typeface="Times New Roman"/>
              </a:rPr>
              <a:t> row, there are 3 positive values: 8, 10 and 7. Pick the </a:t>
            </a:r>
            <a:r>
              <a:rPr lang="en-US" sz="2000" b="1" dirty="0">
                <a:latin typeface="Times New Roman"/>
                <a:cs typeface="Times New Roman"/>
              </a:rPr>
              <a:t>largest</a:t>
            </a:r>
            <a:r>
              <a:rPr lang="en-US" sz="2000" dirty="0">
                <a:latin typeface="Times New Roman"/>
                <a:cs typeface="Times New Roman"/>
              </a:rPr>
              <a:t> value. In our case, it is 10. The column containing this number is called the pivot column. In our case, it is the x2 column (outlined in </a:t>
            </a:r>
            <a:r>
              <a:rPr lang="en-US" sz="2000" dirty="0">
                <a:solidFill>
                  <a:srgbClr val="FFFF00"/>
                </a:solidFill>
                <a:latin typeface="Times New Roman"/>
                <a:cs typeface="Times New Roman"/>
              </a:rPr>
              <a:t>yellow</a:t>
            </a:r>
            <a:r>
              <a:rPr lang="en-US" sz="2000" dirty="0">
                <a:latin typeface="Times New Roman"/>
                <a:cs typeface="Times New Roman"/>
              </a:rPr>
              <a:t> color).</a:t>
            </a:r>
          </a:p>
          <a:p>
            <a:pPr marL="457200" indent="-355600" eaLnBrk="1" fontAlgn="auto" hangingPunct="1">
              <a:spcBef>
                <a:spcPts val="0"/>
              </a:spcBef>
              <a:spcAft>
                <a:spcPts val="0"/>
              </a:spcAft>
              <a:buSzPts val="2000"/>
              <a:buFont typeface="Arial"/>
              <a:buChar char="•"/>
              <a:defRPr/>
            </a:pPr>
            <a:r>
              <a:rPr lang="en-US" sz="2000" b="1" dirty="0">
                <a:solidFill>
                  <a:srgbClr val="FF00FF"/>
                </a:solidFill>
                <a:latin typeface="+mn-lt"/>
                <a:ea typeface="+mn-lt"/>
                <a:cs typeface="+mn-lt"/>
              </a:rPr>
              <a:t>Pivot </a:t>
            </a:r>
            <a:r>
              <a:rPr lang="en-US" sz="2000" b="1" dirty="0">
                <a:solidFill>
                  <a:srgbClr val="FF00FF"/>
                </a:solidFill>
                <a:latin typeface="Gill Sans MT"/>
                <a:cs typeface="Times New Roman"/>
              </a:rPr>
              <a:t>row</a:t>
            </a:r>
            <a:r>
              <a:rPr lang="en-US" sz="2000" dirty="0">
                <a:latin typeface="Times New Roman"/>
                <a:cs typeface="Times New Roman"/>
              </a:rPr>
              <a:t>: In each of the linear constraint row, compute the ratio of b to the value in the pivot column of that row. For example, b in the first row is 10 and the value in the pivot (x2) column in that row is 3. So, the ratio for the 1st row is 10/3. The ratio for the 2n row is 8/5. The row containing the </a:t>
            </a:r>
            <a:r>
              <a:rPr lang="en-US" sz="2000" b="1" dirty="0">
                <a:latin typeface="Times New Roman"/>
                <a:cs typeface="Times New Roman"/>
              </a:rPr>
              <a:t>smallest</a:t>
            </a:r>
            <a:r>
              <a:rPr lang="en-US" sz="2000" dirty="0">
                <a:latin typeface="Times New Roman"/>
                <a:cs typeface="Times New Roman"/>
              </a:rPr>
              <a:t> ratio is called the pivot row. In our case, 2nd row (</a:t>
            </a:r>
            <a:r>
              <a:rPr lang="en-US" sz="2000" dirty="0">
                <a:solidFill>
                  <a:srgbClr val="00B050"/>
                </a:solidFill>
                <a:latin typeface="Times New Roman"/>
                <a:cs typeface="Times New Roman"/>
              </a:rPr>
              <a:t>green</a:t>
            </a:r>
            <a:r>
              <a:rPr lang="en-US" sz="2000" dirty="0">
                <a:latin typeface="Times New Roman"/>
                <a:cs typeface="Times New Roman"/>
              </a:rPr>
              <a:t>) is the pivot row.</a:t>
            </a:r>
          </a:p>
        </p:txBody>
      </p:sp>
      <p:pic>
        <p:nvPicPr>
          <p:cNvPr id="41989" name="Google Shape;196;p32">
            <a:extLst>
              <a:ext uri="{FF2B5EF4-FFF2-40B4-BE49-F238E27FC236}">
                <a16:creationId xmlns:a16="http://schemas.microsoft.com/office/drawing/2014/main" id="{E09E8FA6-7630-DA64-4455-4F7590940DBD}"/>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Slide Number Placeholder 3">
            <a:extLst>
              <a:ext uri="{FF2B5EF4-FFF2-40B4-BE49-F238E27FC236}">
                <a16:creationId xmlns:a16="http://schemas.microsoft.com/office/drawing/2014/main" id="{2997BFE4-F26D-4BFC-8769-9CE85BB94511}"/>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379C0636-67E4-4BE1-9E05-F507E24219F4}" type="slidenum">
              <a:rPr lang="en-IN" altLang="en-US" sz="2200" smtClean="0">
                <a:solidFill>
                  <a:schemeClr val="accent1"/>
                </a:solidFill>
              </a:rPr>
              <a:pPr>
                <a:lnSpc>
                  <a:spcPct val="100000"/>
                </a:lnSpc>
                <a:spcBef>
                  <a:spcPct val="0"/>
                </a:spcBef>
                <a:buClrTx/>
                <a:buSzTx/>
                <a:buFontTx/>
                <a:buNone/>
              </a:pPr>
              <a:t>15</a:t>
            </a:fld>
            <a:endParaRPr lang="en-IN" altLang="en-US" sz="2200">
              <a:solidFill>
                <a:schemeClr val="accent1"/>
              </a:solidFill>
            </a:endParaRPr>
          </a:p>
        </p:txBody>
      </p:sp>
      <p:graphicFrame>
        <p:nvGraphicFramePr>
          <p:cNvPr id="7" name="Table 11">
            <a:extLst>
              <a:ext uri="{FF2B5EF4-FFF2-40B4-BE49-F238E27FC236}">
                <a16:creationId xmlns:a16="http://schemas.microsoft.com/office/drawing/2014/main" id="{C62A1074-248E-4CEE-A5C9-DE4FDD33F5E4}"/>
              </a:ext>
            </a:extLst>
          </p:cNvPr>
          <p:cNvGraphicFramePr>
            <a:graphicFrameLocks noGrp="1"/>
          </p:cNvGraphicFramePr>
          <p:nvPr/>
        </p:nvGraphicFramePr>
        <p:xfrm>
          <a:off x="2055813" y="1009650"/>
          <a:ext cx="8642352" cy="2905125"/>
        </p:xfrm>
        <a:graphic>
          <a:graphicData uri="http://schemas.openxmlformats.org/drawingml/2006/table">
            <a:tbl>
              <a:tblPr firstRow="1" bandRow="1">
                <a:tableStyleId>{2D5ABB26-0587-4C30-8999-92F81FD0307C}</a:tableStyleId>
              </a:tblPr>
              <a:tblGrid>
                <a:gridCol w="872147">
                  <a:extLst>
                    <a:ext uri="{9D8B030D-6E8A-4147-A177-3AD203B41FA5}">
                      <a16:colId xmlns:a16="http://schemas.microsoft.com/office/drawing/2014/main" val="20000"/>
                    </a:ext>
                  </a:extLst>
                </a:gridCol>
                <a:gridCol w="1230142">
                  <a:extLst>
                    <a:ext uri="{9D8B030D-6E8A-4147-A177-3AD203B41FA5}">
                      <a16:colId xmlns:a16="http://schemas.microsoft.com/office/drawing/2014/main" val="20001"/>
                    </a:ext>
                  </a:extLst>
                </a:gridCol>
                <a:gridCol w="778497">
                  <a:extLst>
                    <a:ext uri="{9D8B030D-6E8A-4147-A177-3AD203B41FA5}">
                      <a16:colId xmlns:a16="http://schemas.microsoft.com/office/drawing/2014/main" val="20002"/>
                    </a:ext>
                  </a:extLst>
                </a:gridCol>
                <a:gridCol w="960261">
                  <a:extLst>
                    <a:ext uri="{9D8B030D-6E8A-4147-A177-3AD203B41FA5}">
                      <a16:colId xmlns:a16="http://schemas.microsoft.com/office/drawing/2014/main" val="20003"/>
                    </a:ext>
                  </a:extLst>
                </a:gridCol>
                <a:gridCol w="960261">
                  <a:extLst>
                    <a:ext uri="{9D8B030D-6E8A-4147-A177-3AD203B41FA5}">
                      <a16:colId xmlns:a16="http://schemas.microsoft.com/office/drawing/2014/main" val="20004"/>
                    </a:ext>
                  </a:extLst>
                </a:gridCol>
                <a:gridCol w="960261">
                  <a:extLst>
                    <a:ext uri="{9D8B030D-6E8A-4147-A177-3AD203B41FA5}">
                      <a16:colId xmlns:a16="http://schemas.microsoft.com/office/drawing/2014/main" val="20005"/>
                    </a:ext>
                  </a:extLst>
                </a:gridCol>
                <a:gridCol w="960261">
                  <a:extLst>
                    <a:ext uri="{9D8B030D-6E8A-4147-A177-3AD203B41FA5}">
                      <a16:colId xmlns:a16="http://schemas.microsoft.com/office/drawing/2014/main" val="20006"/>
                    </a:ext>
                  </a:extLst>
                </a:gridCol>
                <a:gridCol w="960261">
                  <a:extLst>
                    <a:ext uri="{9D8B030D-6E8A-4147-A177-3AD203B41FA5}">
                      <a16:colId xmlns:a16="http://schemas.microsoft.com/office/drawing/2014/main" val="20007"/>
                    </a:ext>
                  </a:extLst>
                </a:gridCol>
                <a:gridCol w="960261">
                  <a:extLst>
                    <a:ext uri="{9D8B030D-6E8A-4147-A177-3AD203B41FA5}">
                      <a16:colId xmlns:a16="http://schemas.microsoft.com/office/drawing/2014/main" val="20008"/>
                    </a:ext>
                  </a:extLst>
                </a:gridCol>
              </a:tblGrid>
              <a:tr h="496283">
                <a:tc>
                  <a:txBody>
                    <a:bodyPr/>
                    <a:lstStyle/>
                    <a:p>
                      <a:pPr lvl="0" algn="ctr">
                        <a:buNone/>
                      </a:pPr>
                      <a:endParaRPr lang="en-US" sz="2400" b="1" dirty="0">
                        <a:latin typeface="Arial"/>
                      </a:endParaRPr>
                    </a:p>
                  </a:txBody>
                  <a:tcPr marL="91427" marR="91427" marT="45738" marB="45738">
                    <a:lnL w="12700">
                      <a:solidFill>
                        <a:schemeClr val="tx1"/>
                      </a:solidFill>
                    </a:lnL>
                    <a:lnB w="12700">
                      <a:solidFill>
                        <a:schemeClr val="tx1"/>
                      </a:solidFill>
                    </a:lnB>
                  </a:tcPr>
                </a:tc>
                <a:tc>
                  <a:txBody>
                    <a:bodyPr/>
                    <a:lstStyle/>
                    <a:p>
                      <a:pPr lvl="0" algn="ctr">
                        <a:buNone/>
                      </a:pPr>
                      <a:r>
                        <a:rPr lang="en-US" sz="2400" b="1" dirty="0">
                          <a:latin typeface="Arial"/>
                        </a:rPr>
                        <a:t>C</a:t>
                      </a:r>
                      <a:r>
                        <a:rPr lang="en-US" sz="2400" b="1" baseline="-25000" dirty="0">
                          <a:latin typeface="Arial"/>
                        </a:rPr>
                        <a:t>j</a:t>
                      </a:r>
                      <a:r>
                        <a:rPr lang="en-US" sz="2400" b="1" dirty="0">
                          <a:latin typeface="Arial"/>
                        </a:rPr>
                        <a:t> -&gt;</a:t>
                      </a:r>
                    </a:p>
                  </a:txBody>
                  <a:tcPr marL="91427" marR="91427" marT="45738" marB="45738">
                    <a:lnR w="12700">
                      <a:solidFill>
                        <a:schemeClr val="tx1"/>
                      </a:solidFill>
                    </a:lnR>
                    <a:lnB w="12700">
                      <a:solidFill>
                        <a:schemeClr val="tx1"/>
                      </a:solidFill>
                    </a:lnB>
                  </a:tcPr>
                </a:tc>
                <a:tc>
                  <a:txBody>
                    <a:bodyPr/>
                    <a:lstStyle/>
                    <a:p>
                      <a:pPr algn="ctr"/>
                      <a:r>
                        <a:rPr lang="en-US" sz="2400" b="1" dirty="0">
                          <a:latin typeface="Arial"/>
                        </a:rPr>
                        <a:t>8</a:t>
                      </a:r>
                    </a:p>
                  </a:txBody>
                  <a:tcPr marL="91427" marR="91427" marT="45738" marB="45738">
                    <a:lnL w="12700">
                      <a:solidFill>
                        <a:schemeClr val="tx1"/>
                      </a:solidFill>
                    </a:lnL>
                    <a:lnB w="12700">
                      <a:solidFill>
                        <a:schemeClr val="tx1"/>
                      </a:solidFill>
                    </a:lnB>
                  </a:tcPr>
                </a:tc>
                <a:tc>
                  <a:txBody>
                    <a:bodyPr/>
                    <a:lstStyle/>
                    <a:p>
                      <a:pPr algn="ctr"/>
                      <a:r>
                        <a:rPr lang="en-US" sz="2400" b="1" dirty="0">
                          <a:latin typeface="Arial"/>
                        </a:rPr>
                        <a:t>10</a:t>
                      </a:r>
                    </a:p>
                  </a:txBody>
                  <a:tcPr marL="91427" marR="91427" marT="45738" marB="45738">
                    <a:lnB w="12700">
                      <a:solidFill>
                        <a:schemeClr val="tx1"/>
                      </a:solidFill>
                    </a:lnB>
                  </a:tcPr>
                </a:tc>
                <a:tc>
                  <a:txBody>
                    <a:bodyPr/>
                    <a:lstStyle/>
                    <a:p>
                      <a:pPr algn="ctr"/>
                      <a:r>
                        <a:rPr lang="en-US" sz="2400" b="1" dirty="0">
                          <a:latin typeface="Arial"/>
                        </a:rPr>
                        <a:t>7</a:t>
                      </a:r>
                    </a:p>
                  </a:txBody>
                  <a:tcPr marL="91427" marR="91427" marT="45738" marB="45738">
                    <a:lnB w="12700">
                      <a:solidFill>
                        <a:schemeClr val="tx1"/>
                      </a:solidFill>
                    </a:lnB>
                  </a:tcPr>
                </a:tc>
                <a:tc>
                  <a:txBody>
                    <a:bodyPr/>
                    <a:lstStyle/>
                    <a:p>
                      <a:pPr algn="ctr"/>
                      <a:r>
                        <a:rPr lang="en-US" sz="2400" b="1" dirty="0">
                          <a:latin typeface="Arial"/>
                        </a:rPr>
                        <a:t>0</a:t>
                      </a:r>
                    </a:p>
                  </a:txBody>
                  <a:tcPr marL="91427" marR="91427" marT="45738" marB="45738">
                    <a:lnB w="12700">
                      <a:solidFill>
                        <a:schemeClr val="tx1"/>
                      </a:solidFill>
                    </a:lnB>
                  </a:tcPr>
                </a:tc>
                <a:tc>
                  <a:txBody>
                    <a:bodyPr/>
                    <a:lstStyle/>
                    <a:p>
                      <a:pPr algn="ctr"/>
                      <a:r>
                        <a:rPr lang="en-US" sz="2400" b="1" dirty="0">
                          <a:latin typeface="Arial"/>
                        </a:rPr>
                        <a:t>0</a:t>
                      </a:r>
                    </a:p>
                  </a:txBody>
                  <a:tcPr marL="91427" marR="91427" marT="45738" marB="45738">
                    <a:lnR w="12700">
                      <a:solidFill>
                        <a:schemeClr val="tx1"/>
                      </a:solidFill>
                    </a:lnR>
                    <a:lnB w="12700">
                      <a:solidFill>
                        <a:schemeClr val="tx1"/>
                      </a:solidFill>
                    </a:lnB>
                  </a:tcPr>
                </a:tc>
                <a:tc>
                  <a:txBody>
                    <a:bodyPr/>
                    <a:lstStyle/>
                    <a:p>
                      <a:pPr algn="ctr"/>
                      <a:endParaRPr lang="en-US" sz="2400" b="1" dirty="0">
                        <a:latin typeface="Arial"/>
                      </a:endParaRPr>
                    </a:p>
                  </a:txBody>
                  <a:tcPr marL="91427" marR="91427" marT="45738" marB="45738">
                    <a:lnL w="12700">
                      <a:solidFill>
                        <a:schemeClr val="tx1"/>
                      </a:solidFill>
                    </a:lnL>
                    <a:lnR w="12700">
                      <a:solidFill>
                        <a:schemeClr val="tx1"/>
                      </a:solidFill>
                    </a:lnR>
                    <a:lnB w="12700">
                      <a:solidFill>
                        <a:schemeClr val="tx1"/>
                      </a:solidFill>
                    </a:lnB>
                  </a:tcPr>
                </a:tc>
                <a:tc>
                  <a:txBody>
                    <a:bodyPr/>
                    <a:lstStyle/>
                    <a:p>
                      <a:pPr lvl="0" algn="ctr">
                        <a:buNone/>
                      </a:pPr>
                      <a:endParaRPr lang="en-US" sz="2400" b="1" dirty="0">
                        <a:latin typeface="Arial"/>
                      </a:endParaRPr>
                    </a:p>
                  </a:txBody>
                  <a:tcPr marL="91427" marR="91427" marT="45738" marB="45738">
                    <a:lnL w="12700">
                      <a:solidFill>
                        <a:schemeClr val="tx1"/>
                      </a:solidFill>
                    </a:lnL>
                    <a:lnB w="12700">
                      <a:solidFill>
                        <a:schemeClr val="tx1"/>
                      </a:solidFill>
                    </a:lnB>
                  </a:tcPr>
                </a:tc>
                <a:extLst>
                  <a:ext uri="{0D108BD9-81ED-4DB2-BD59-A6C34878D82A}">
                    <a16:rowId xmlns:a16="http://schemas.microsoft.com/office/drawing/2014/main" val="10000"/>
                  </a:ext>
                </a:extLst>
              </a:tr>
              <a:tr h="579342">
                <a:tc>
                  <a:txBody>
                    <a:bodyPr/>
                    <a:lstStyle/>
                    <a:p>
                      <a:pPr lvl="0" algn="ctr">
                        <a:buNone/>
                      </a:pPr>
                      <a:r>
                        <a:rPr lang="en-US" sz="2400" b="1" err="1">
                          <a:latin typeface="Arial"/>
                        </a:rPr>
                        <a:t>C</a:t>
                      </a:r>
                      <a:r>
                        <a:rPr lang="en-US" sz="2400" b="1" baseline="-25000" err="1">
                          <a:latin typeface="Arial"/>
                        </a:rPr>
                        <a:t>Bi</a:t>
                      </a:r>
                    </a:p>
                  </a:txBody>
                  <a:tcPr marL="91427" marR="91427" marT="45738" marB="45738">
                    <a:lnL w="12700">
                      <a:solidFill>
                        <a:schemeClr val="tx1"/>
                      </a:solidFill>
                    </a:lnL>
                    <a:lnT w="12700">
                      <a:solidFill>
                        <a:schemeClr val="tx1"/>
                      </a:solidFill>
                    </a:lnT>
                    <a:lnB w="12700">
                      <a:solidFill>
                        <a:schemeClr val="tx1"/>
                      </a:solidFill>
                    </a:lnB>
                  </a:tcPr>
                </a:tc>
                <a:tc>
                  <a:txBody>
                    <a:bodyPr/>
                    <a:lstStyle/>
                    <a:p>
                      <a:pPr lvl="0" algn="ctr">
                        <a:buNone/>
                      </a:pPr>
                      <a:r>
                        <a:rPr lang="en-US" sz="1600" b="1" dirty="0">
                          <a:latin typeface="Arial"/>
                        </a:rPr>
                        <a:t>Basic variables</a:t>
                      </a:r>
                    </a:p>
                  </a:txBody>
                  <a:tcPr marL="91427" marR="91427" marT="45738" marB="45738">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x1</a:t>
                      </a:r>
                      <a:endParaRPr lang="en-US" sz="1800"/>
                    </a:p>
                  </a:txBody>
                  <a:tcPr marL="91427" marR="91427" marT="45738" marB="45738">
                    <a:lnL w="12700">
                      <a:solidFill>
                        <a:schemeClr val="tx1"/>
                      </a:solidFill>
                    </a:lnL>
                    <a:lnT w="12700">
                      <a:solidFill>
                        <a:schemeClr val="tx1"/>
                      </a:solidFill>
                    </a:lnT>
                    <a:lnB w="12700">
                      <a:solidFill>
                        <a:schemeClr val="tx1"/>
                      </a:solidFill>
                    </a:lnB>
                  </a:tcPr>
                </a:tc>
                <a:tc>
                  <a:txBody>
                    <a:bodyPr/>
                    <a:lstStyle/>
                    <a:p>
                      <a:pPr lvl="0" algn="ctr">
                        <a:buNone/>
                      </a:pPr>
                      <a:r>
                        <a:rPr lang="en-US" sz="2400" b="1" dirty="0">
                          <a:latin typeface="Arial"/>
                        </a:rPr>
                        <a:t>x2</a:t>
                      </a:r>
                      <a:endParaRPr lang="en-US" sz="1800"/>
                    </a:p>
                  </a:txBody>
                  <a:tcPr marL="91427" marR="91427" marT="45738" marB="45738">
                    <a:lnT w="12700">
                      <a:solidFill>
                        <a:schemeClr val="tx1"/>
                      </a:solidFill>
                    </a:lnT>
                    <a:lnB w="12700">
                      <a:solidFill>
                        <a:schemeClr val="tx1"/>
                      </a:solidFill>
                    </a:lnB>
                  </a:tcPr>
                </a:tc>
                <a:tc>
                  <a:txBody>
                    <a:bodyPr/>
                    <a:lstStyle/>
                    <a:p>
                      <a:pPr lvl="0" algn="ctr">
                        <a:buNone/>
                      </a:pPr>
                      <a:r>
                        <a:rPr lang="en-US" sz="2400" b="1" dirty="0">
                          <a:latin typeface="Arial"/>
                        </a:rPr>
                        <a:t>x3</a:t>
                      </a:r>
                      <a:endParaRPr lang="en-US" sz="1800"/>
                    </a:p>
                  </a:txBody>
                  <a:tcPr marL="91427" marR="91427" marT="45738" marB="45738">
                    <a:lnT w="12700">
                      <a:solidFill>
                        <a:schemeClr val="tx1"/>
                      </a:solidFill>
                    </a:lnT>
                    <a:lnB w="12700">
                      <a:solidFill>
                        <a:schemeClr val="tx1"/>
                      </a:solidFill>
                    </a:lnB>
                  </a:tcPr>
                </a:tc>
                <a:tc>
                  <a:txBody>
                    <a:bodyPr/>
                    <a:lstStyle/>
                    <a:p>
                      <a:pPr lvl="0" algn="ctr">
                        <a:buNone/>
                      </a:pPr>
                      <a:r>
                        <a:rPr lang="en-US" sz="2400" b="1" dirty="0">
                          <a:latin typeface="Arial"/>
                        </a:rPr>
                        <a:t>s1</a:t>
                      </a:r>
                      <a:endParaRPr lang="en-US" sz="1800"/>
                    </a:p>
                  </a:txBody>
                  <a:tcPr marL="91427" marR="91427" marT="45738" marB="45738">
                    <a:lnT w="12700">
                      <a:solidFill>
                        <a:schemeClr val="tx1"/>
                      </a:solidFill>
                    </a:lnT>
                    <a:lnB w="12700">
                      <a:solidFill>
                        <a:schemeClr val="tx1"/>
                      </a:solidFill>
                    </a:lnB>
                  </a:tcPr>
                </a:tc>
                <a:tc>
                  <a:txBody>
                    <a:bodyPr/>
                    <a:lstStyle/>
                    <a:p>
                      <a:pPr lvl="0" algn="ctr">
                        <a:buNone/>
                      </a:pPr>
                      <a:r>
                        <a:rPr lang="en-US" sz="2400" b="1" dirty="0">
                          <a:latin typeface="Arial"/>
                        </a:rPr>
                        <a:t>s2</a:t>
                      </a:r>
                      <a:endParaRPr lang="en-US" sz="1800"/>
                    </a:p>
                  </a:txBody>
                  <a:tcPr marL="91427" marR="91427" marT="45738" marB="45738">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b</a:t>
                      </a:r>
                      <a:endParaRPr lang="en-US" sz="1800"/>
                    </a:p>
                  </a:txBody>
                  <a:tcPr marL="91427" marR="91427" marT="45738" marB="45738">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ratio</a:t>
                      </a:r>
                    </a:p>
                  </a:txBody>
                  <a:tcPr marL="91427" marR="91427" marT="45738" marB="45738">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457375">
                <a:tc>
                  <a:txBody>
                    <a:bodyPr/>
                    <a:lstStyle/>
                    <a:p>
                      <a:pPr lvl="0" algn="ctr">
                        <a:buNone/>
                      </a:pPr>
                      <a:r>
                        <a:rPr lang="en-US" sz="2400" b="1" dirty="0">
                          <a:latin typeface="Arial"/>
                        </a:rPr>
                        <a:t>0</a:t>
                      </a:r>
                    </a:p>
                  </a:txBody>
                  <a:tcPr marL="91427" marR="91427" marT="45738" marB="45738">
                    <a:lnL w="12700">
                      <a:solidFill>
                        <a:schemeClr val="tx1"/>
                      </a:solidFill>
                    </a:lnL>
                    <a:lnT w="12700">
                      <a:solidFill>
                        <a:schemeClr val="tx1"/>
                      </a:solidFill>
                    </a:lnT>
                  </a:tcPr>
                </a:tc>
                <a:tc>
                  <a:txBody>
                    <a:bodyPr/>
                    <a:lstStyle/>
                    <a:p>
                      <a:pPr lvl="0" algn="ctr">
                        <a:buNone/>
                      </a:pPr>
                      <a:r>
                        <a:rPr lang="en-US" sz="2400" b="1" dirty="0">
                          <a:solidFill>
                            <a:schemeClr val="accent3"/>
                          </a:solidFill>
                          <a:latin typeface="Arial"/>
                        </a:rPr>
                        <a:t>s1</a:t>
                      </a:r>
                    </a:p>
                  </a:txBody>
                  <a:tcPr marL="91427" marR="91427" marT="45738" marB="45738">
                    <a:lnR w="12700">
                      <a:solidFill>
                        <a:schemeClr val="tx1"/>
                      </a:solidFill>
                    </a:lnR>
                    <a:lnT w="12700">
                      <a:solidFill>
                        <a:schemeClr val="tx1"/>
                      </a:solidFill>
                    </a:lnT>
                  </a:tcPr>
                </a:tc>
                <a:tc>
                  <a:txBody>
                    <a:bodyPr/>
                    <a:lstStyle/>
                    <a:p>
                      <a:pPr algn="ctr"/>
                      <a:r>
                        <a:rPr lang="en-US" sz="2400" b="1" dirty="0">
                          <a:latin typeface="Arial"/>
                        </a:rPr>
                        <a:t>1</a:t>
                      </a:r>
                    </a:p>
                  </a:txBody>
                  <a:tcPr marL="91427" marR="91427" marT="45738" marB="45738">
                    <a:lnL w="12700">
                      <a:solidFill>
                        <a:schemeClr val="tx1"/>
                      </a:solidFill>
                    </a:lnL>
                    <a:lnT w="12700">
                      <a:solidFill>
                        <a:schemeClr val="tx1"/>
                      </a:solidFill>
                    </a:lnT>
                  </a:tcPr>
                </a:tc>
                <a:tc>
                  <a:txBody>
                    <a:bodyPr/>
                    <a:lstStyle/>
                    <a:p>
                      <a:pPr algn="ctr"/>
                      <a:r>
                        <a:rPr lang="en-US" sz="2400" b="1" dirty="0">
                          <a:latin typeface="Arial"/>
                        </a:rPr>
                        <a:t>3</a:t>
                      </a:r>
                    </a:p>
                  </a:txBody>
                  <a:tcPr marL="91427" marR="91427" marT="45738" marB="45738">
                    <a:lnT w="12700">
                      <a:solidFill>
                        <a:schemeClr val="tx1"/>
                      </a:solidFill>
                    </a:lnT>
                  </a:tcPr>
                </a:tc>
                <a:tc>
                  <a:txBody>
                    <a:bodyPr/>
                    <a:lstStyle/>
                    <a:p>
                      <a:pPr algn="ctr"/>
                      <a:r>
                        <a:rPr lang="en-US" sz="2400" b="1" dirty="0">
                          <a:latin typeface="Arial"/>
                        </a:rPr>
                        <a:t>2</a:t>
                      </a:r>
                    </a:p>
                  </a:txBody>
                  <a:tcPr marL="91427" marR="91427" marT="45738" marB="45738">
                    <a:lnT w="12700">
                      <a:solidFill>
                        <a:schemeClr val="tx1"/>
                      </a:solidFill>
                    </a:lnT>
                  </a:tcPr>
                </a:tc>
                <a:tc>
                  <a:txBody>
                    <a:bodyPr/>
                    <a:lstStyle/>
                    <a:p>
                      <a:pPr algn="ctr"/>
                      <a:r>
                        <a:rPr lang="en-US" sz="2400" b="1" dirty="0">
                          <a:latin typeface="Arial"/>
                        </a:rPr>
                        <a:t>1</a:t>
                      </a:r>
                    </a:p>
                  </a:txBody>
                  <a:tcPr marL="91427" marR="91427" marT="45738" marB="45738">
                    <a:lnT w="12700">
                      <a:solidFill>
                        <a:schemeClr val="tx1"/>
                      </a:solidFill>
                    </a:lnT>
                  </a:tcPr>
                </a:tc>
                <a:tc>
                  <a:txBody>
                    <a:bodyPr/>
                    <a:lstStyle/>
                    <a:p>
                      <a:pPr algn="ctr"/>
                      <a:r>
                        <a:rPr lang="en-US" sz="2400" b="1" dirty="0">
                          <a:latin typeface="Arial"/>
                        </a:rPr>
                        <a:t>0</a:t>
                      </a:r>
                    </a:p>
                  </a:txBody>
                  <a:tcPr marL="91427" marR="91427" marT="45738" marB="45738">
                    <a:lnR w="12700">
                      <a:solidFill>
                        <a:schemeClr val="tx1"/>
                      </a:solidFill>
                    </a:lnR>
                    <a:lnT w="12700">
                      <a:solidFill>
                        <a:schemeClr val="tx1"/>
                      </a:solidFill>
                    </a:lnT>
                  </a:tcPr>
                </a:tc>
                <a:tc>
                  <a:txBody>
                    <a:bodyPr/>
                    <a:lstStyle/>
                    <a:p>
                      <a:pPr algn="ctr"/>
                      <a:r>
                        <a:rPr lang="en-US" sz="2400" b="1" dirty="0">
                          <a:latin typeface="Arial"/>
                        </a:rPr>
                        <a:t>10</a:t>
                      </a:r>
                    </a:p>
                  </a:txBody>
                  <a:tcPr marL="91427" marR="91427" marT="45738" marB="45738">
                    <a:lnL w="12700">
                      <a:solidFill>
                        <a:schemeClr val="tx1"/>
                      </a:solidFill>
                    </a:lnL>
                    <a:lnR w="12700">
                      <a:solidFill>
                        <a:schemeClr val="tx1"/>
                      </a:solidFill>
                    </a:lnR>
                    <a:lnT w="12700">
                      <a:solidFill>
                        <a:schemeClr val="tx1"/>
                      </a:solidFill>
                    </a:lnT>
                  </a:tcPr>
                </a:tc>
                <a:tc>
                  <a:txBody>
                    <a:bodyPr/>
                    <a:lstStyle/>
                    <a:p>
                      <a:pPr lvl="0" algn="ctr">
                        <a:buNone/>
                      </a:pPr>
                      <a:r>
                        <a:rPr lang="en-US" sz="2400" b="1" dirty="0">
                          <a:latin typeface="Arial"/>
                        </a:rPr>
                        <a:t>10/3</a:t>
                      </a:r>
                    </a:p>
                  </a:txBody>
                  <a:tcPr marL="91427" marR="91427" marT="45738" marB="45738">
                    <a:lnL w="12700">
                      <a:solidFill>
                        <a:schemeClr val="tx1"/>
                      </a:solidFill>
                    </a:lnL>
                    <a:lnT w="12700">
                      <a:solidFill>
                        <a:schemeClr val="tx1"/>
                      </a:solidFill>
                    </a:lnT>
                  </a:tcPr>
                </a:tc>
                <a:extLst>
                  <a:ext uri="{0D108BD9-81ED-4DB2-BD59-A6C34878D82A}">
                    <a16:rowId xmlns:a16="http://schemas.microsoft.com/office/drawing/2014/main" val="10002"/>
                  </a:ext>
                </a:extLst>
              </a:tr>
              <a:tr h="457375">
                <a:tc>
                  <a:txBody>
                    <a:bodyPr/>
                    <a:lstStyle/>
                    <a:p>
                      <a:pPr lvl="0" algn="ctr">
                        <a:buNone/>
                      </a:pPr>
                      <a:r>
                        <a:rPr lang="en-US" sz="2400" b="1" dirty="0">
                          <a:latin typeface="Arial"/>
                        </a:rPr>
                        <a:t>0</a:t>
                      </a:r>
                    </a:p>
                  </a:txBody>
                  <a:tcPr marL="91427" marR="91427" marT="45738" marB="45738">
                    <a:lnL w="12700">
                      <a:solidFill>
                        <a:schemeClr val="tx1"/>
                      </a:solidFill>
                    </a:lnL>
                    <a:lnB w="12700">
                      <a:solidFill>
                        <a:schemeClr val="tx1"/>
                      </a:solidFill>
                    </a:lnB>
                  </a:tcPr>
                </a:tc>
                <a:tc>
                  <a:txBody>
                    <a:bodyPr/>
                    <a:lstStyle/>
                    <a:p>
                      <a:pPr lvl="0" algn="ctr">
                        <a:buNone/>
                      </a:pPr>
                      <a:r>
                        <a:rPr lang="en-US" sz="2400" b="1" dirty="0">
                          <a:solidFill>
                            <a:schemeClr val="accent3"/>
                          </a:solidFill>
                          <a:latin typeface="Arial"/>
                        </a:rPr>
                        <a:t>s2</a:t>
                      </a:r>
                    </a:p>
                  </a:txBody>
                  <a:tcPr marL="91427" marR="91427" marT="45738" marB="45738">
                    <a:lnR w="12700">
                      <a:solidFill>
                        <a:schemeClr val="tx1"/>
                      </a:solidFill>
                    </a:lnR>
                    <a:lnB w="12700">
                      <a:solidFill>
                        <a:schemeClr val="tx1"/>
                      </a:solidFill>
                    </a:lnB>
                  </a:tcPr>
                </a:tc>
                <a:tc>
                  <a:txBody>
                    <a:bodyPr/>
                    <a:lstStyle/>
                    <a:p>
                      <a:pPr algn="ctr"/>
                      <a:r>
                        <a:rPr lang="en-US" sz="2400" b="1" dirty="0">
                          <a:latin typeface="Arial"/>
                        </a:rPr>
                        <a:t>1</a:t>
                      </a:r>
                    </a:p>
                  </a:txBody>
                  <a:tcPr marL="91427" marR="91427" marT="45738" marB="45738">
                    <a:lnL w="12700">
                      <a:solidFill>
                        <a:schemeClr val="tx1"/>
                      </a:solidFill>
                    </a:lnL>
                    <a:lnB w="12700">
                      <a:solidFill>
                        <a:schemeClr val="tx1"/>
                      </a:solidFill>
                    </a:lnB>
                  </a:tcPr>
                </a:tc>
                <a:tc>
                  <a:txBody>
                    <a:bodyPr/>
                    <a:lstStyle/>
                    <a:p>
                      <a:pPr algn="ctr"/>
                      <a:r>
                        <a:rPr lang="en-US" sz="2400" b="1" dirty="0">
                          <a:latin typeface="Arial"/>
                        </a:rPr>
                        <a:t>5</a:t>
                      </a:r>
                    </a:p>
                  </a:txBody>
                  <a:tcPr marL="91427" marR="91427" marT="45738" marB="45738">
                    <a:lnB w="12700">
                      <a:solidFill>
                        <a:schemeClr val="tx1"/>
                      </a:solidFill>
                    </a:lnB>
                  </a:tcPr>
                </a:tc>
                <a:tc>
                  <a:txBody>
                    <a:bodyPr/>
                    <a:lstStyle/>
                    <a:p>
                      <a:pPr algn="ctr"/>
                      <a:r>
                        <a:rPr lang="en-US" sz="2400" b="1" dirty="0">
                          <a:latin typeface="Arial"/>
                        </a:rPr>
                        <a:t>1</a:t>
                      </a:r>
                    </a:p>
                  </a:txBody>
                  <a:tcPr marL="91427" marR="91427" marT="45738" marB="45738">
                    <a:lnB w="12700">
                      <a:solidFill>
                        <a:schemeClr val="tx1"/>
                      </a:solidFill>
                    </a:lnB>
                  </a:tcPr>
                </a:tc>
                <a:tc>
                  <a:txBody>
                    <a:bodyPr/>
                    <a:lstStyle/>
                    <a:p>
                      <a:pPr algn="ctr"/>
                      <a:r>
                        <a:rPr lang="en-US" sz="2400" b="1" dirty="0">
                          <a:latin typeface="Arial"/>
                        </a:rPr>
                        <a:t>0</a:t>
                      </a:r>
                    </a:p>
                  </a:txBody>
                  <a:tcPr marL="91427" marR="91427" marT="45738" marB="45738">
                    <a:lnB w="12700">
                      <a:solidFill>
                        <a:schemeClr val="tx1"/>
                      </a:solidFill>
                    </a:lnB>
                  </a:tcPr>
                </a:tc>
                <a:tc>
                  <a:txBody>
                    <a:bodyPr/>
                    <a:lstStyle/>
                    <a:p>
                      <a:pPr algn="ctr"/>
                      <a:r>
                        <a:rPr lang="en-US" sz="2400" b="1" dirty="0">
                          <a:latin typeface="Arial"/>
                        </a:rPr>
                        <a:t>1</a:t>
                      </a:r>
                    </a:p>
                  </a:txBody>
                  <a:tcPr marL="91427" marR="91427" marT="45738" marB="45738">
                    <a:lnR w="12700">
                      <a:solidFill>
                        <a:schemeClr val="tx1"/>
                      </a:solidFill>
                    </a:lnR>
                    <a:lnB w="12700">
                      <a:solidFill>
                        <a:schemeClr val="tx1"/>
                      </a:solidFill>
                    </a:lnB>
                  </a:tcPr>
                </a:tc>
                <a:tc>
                  <a:txBody>
                    <a:bodyPr/>
                    <a:lstStyle/>
                    <a:p>
                      <a:pPr algn="ctr"/>
                      <a:r>
                        <a:rPr lang="en-US" sz="2400" b="1" dirty="0">
                          <a:latin typeface="Arial"/>
                        </a:rPr>
                        <a:t>8</a:t>
                      </a:r>
                    </a:p>
                  </a:txBody>
                  <a:tcPr marL="91427" marR="91427" marT="45738" marB="45738">
                    <a:lnL w="12700">
                      <a:solidFill>
                        <a:schemeClr val="tx1"/>
                      </a:solidFill>
                    </a:lnL>
                    <a:lnR w="12700">
                      <a:solidFill>
                        <a:schemeClr val="tx1"/>
                      </a:solidFill>
                    </a:lnR>
                    <a:lnB w="12700">
                      <a:solidFill>
                        <a:schemeClr val="tx1"/>
                      </a:solidFill>
                    </a:lnB>
                  </a:tcPr>
                </a:tc>
                <a:tc>
                  <a:txBody>
                    <a:bodyPr/>
                    <a:lstStyle/>
                    <a:p>
                      <a:pPr lvl="0" algn="ctr">
                        <a:buNone/>
                      </a:pPr>
                      <a:r>
                        <a:rPr lang="en-US" sz="2400" b="1" dirty="0">
                          <a:latin typeface="Arial"/>
                        </a:rPr>
                        <a:t>8/5</a:t>
                      </a:r>
                    </a:p>
                  </a:txBody>
                  <a:tcPr marL="91427" marR="91427" marT="45738" marB="45738">
                    <a:lnL w="12700">
                      <a:solidFill>
                        <a:schemeClr val="tx1"/>
                      </a:solidFill>
                    </a:lnL>
                    <a:lnB w="12700">
                      <a:solidFill>
                        <a:schemeClr val="tx1"/>
                      </a:solidFill>
                    </a:lnB>
                  </a:tcPr>
                </a:tc>
                <a:extLst>
                  <a:ext uri="{0D108BD9-81ED-4DB2-BD59-A6C34878D82A}">
                    <a16:rowId xmlns:a16="http://schemas.microsoft.com/office/drawing/2014/main" val="10003"/>
                  </a:ext>
                </a:extLst>
              </a:tr>
              <a:tr h="457375">
                <a:tc>
                  <a:txBody>
                    <a:bodyPr/>
                    <a:lstStyle/>
                    <a:p>
                      <a:pPr lvl="0" algn="ctr">
                        <a:buNone/>
                      </a:pPr>
                      <a:endParaRPr lang="en-US" sz="2400" b="1" dirty="0">
                        <a:latin typeface="Arial"/>
                      </a:endParaRPr>
                    </a:p>
                  </a:txBody>
                  <a:tcPr marL="91427" marR="91427" marT="45738" marB="45738">
                    <a:lnL w="12700">
                      <a:solidFill>
                        <a:schemeClr val="tx1"/>
                      </a:solidFill>
                    </a:lnL>
                    <a:lnT w="12700">
                      <a:solidFill>
                        <a:schemeClr val="tx1"/>
                      </a:solidFill>
                    </a:lnT>
                  </a:tcPr>
                </a:tc>
                <a:tc>
                  <a:txBody>
                    <a:bodyPr/>
                    <a:lstStyle/>
                    <a:p>
                      <a:pPr lvl="0" algn="ctr">
                        <a:buNone/>
                      </a:pPr>
                      <a:r>
                        <a:rPr lang="en-US" sz="2400" b="1" dirty="0" err="1">
                          <a:solidFill>
                            <a:schemeClr val="tx1"/>
                          </a:solidFill>
                          <a:latin typeface="Arial"/>
                        </a:rPr>
                        <a:t>z</a:t>
                      </a:r>
                      <a:r>
                        <a:rPr lang="en-US" sz="2400" b="1" baseline="-25000" dirty="0" err="1">
                          <a:solidFill>
                            <a:schemeClr val="tx1"/>
                          </a:solidFill>
                          <a:latin typeface="Arial"/>
                        </a:rPr>
                        <a:t>j</a:t>
                      </a:r>
                    </a:p>
                  </a:txBody>
                  <a:tcPr marL="91427" marR="91427" marT="45738" marB="45738">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7" marR="91427" marT="45738" marB="45738">
                    <a:lnL w="12700">
                      <a:solidFill>
                        <a:schemeClr val="tx1"/>
                      </a:solidFill>
                    </a:lnL>
                    <a:lnT w="12700">
                      <a:solidFill>
                        <a:schemeClr val="tx1"/>
                      </a:solidFill>
                    </a:lnT>
                  </a:tcPr>
                </a:tc>
                <a:tc>
                  <a:txBody>
                    <a:bodyPr/>
                    <a:lstStyle/>
                    <a:p>
                      <a:pPr lvl="0" algn="ctr">
                        <a:buNone/>
                      </a:pPr>
                      <a:r>
                        <a:rPr lang="en-US" sz="2400" b="1" dirty="0">
                          <a:latin typeface="Arial"/>
                        </a:rPr>
                        <a:t>0</a:t>
                      </a:r>
                    </a:p>
                  </a:txBody>
                  <a:tcPr marL="91427" marR="91427" marT="45738" marB="45738">
                    <a:lnT w="12700">
                      <a:solidFill>
                        <a:schemeClr val="tx1"/>
                      </a:solidFill>
                    </a:lnT>
                  </a:tcPr>
                </a:tc>
                <a:tc>
                  <a:txBody>
                    <a:bodyPr/>
                    <a:lstStyle/>
                    <a:p>
                      <a:pPr lvl="0" algn="ctr">
                        <a:buNone/>
                      </a:pPr>
                      <a:r>
                        <a:rPr lang="en-US" sz="2400" b="1" dirty="0">
                          <a:latin typeface="Arial"/>
                        </a:rPr>
                        <a:t>0</a:t>
                      </a:r>
                    </a:p>
                  </a:txBody>
                  <a:tcPr marL="91427" marR="91427" marT="45738" marB="45738">
                    <a:lnT w="12700">
                      <a:solidFill>
                        <a:schemeClr val="tx1"/>
                      </a:solidFill>
                    </a:lnT>
                  </a:tcPr>
                </a:tc>
                <a:tc>
                  <a:txBody>
                    <a:bodyPr/>
                    <a:lstStyle/>
                    <a:p>
                      <a:pPr lvl="0" algn="ctr">
                        <a:buNone/>
                      </a:pPr>
                      <a:r>
                        <a:rPr lang="en-US" sz="2400" b="1" dirty="0">
                          <a:latin typeface="Arial"/>
                        </a:rPr>
                        <a:t>0</a:t>
                      </a:r>
                    </a:p>
                  </a:txBody>
                  <a:tcPr marL="91427" marR="91427" marT="45738" marB="45738">
                    <a:lnT w="12700">
                      <a:solidFill>
                        <a:schemeClr val="tx1"/>
                      </a:solidFill>
                    </a:lnT>
                  </a:tcPr>
                </a:tc>
                <a:tc>
                  <a:txBody>
                    <a:bodyPr/>
                    <a:lstStyle/>
                    <a:p>
                      <a:pPr lvl="0" algn="ctr">
                        <a:buNone/>
                      </a:pPr>
                      <a:r>
                        <a:rPr lang="en-US" sz="2400" b="1" dirty="0">
                          <a:latin typeface="Arial"/>
                        </a:rPr>
                        <a:t>0</a:t>
                      </a:r>
                    </a:p>
                  </a:txBody>
                  <a:tcPr marL="91427" marR="91427" marT="45738" marB="45738">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7" marR="91427" marT="45738" marB="45738">
                    <a:lnL w="12700">
                      <a:solidFill>
                        <a:schemeClr val="tx1"/>
                      </a:solidFill>
                    </a:lnL>
                    <a:lnR w="12700">
                      <a:solidFill>
                        <a:schemeClr val="tx1"/>
                      </a:solidFill>
                    </a:lnR>
                    <a:lnT w="12700">
                      <a:solidFill>
                        <a:schemeClr val="tx1"/>
                      </a:solidFill>
                    </a:lnT>
                  </a:tcPr>
                </a:tc>
                <a:tc>
                  <a:txBody>
                    <a:bodyPr/>
                    <a:lstStyle/>
                    <a:p>
                      <a:pPr lvl="0" algn="ctr">
                        <a:buNone/>
                      </a:pPr>
                      <a:endParaRPr lang="en-US" sz="2400" b="1" dirty="0">
                        <a:latin typeface="Arial"/>
                      </a:endParaRPr>
                    </a:p>
                  </a:txBody>
                  <a:tcPr marL="91427" marR="91427" marT="45738" marB="45738">
                    <a:lnL w="12700">
                      <a:solidFill>
                        <a:schemeClr val="tx1"/>
                      </a:solidFill>
                    </a:lnL>
                    <a:lnT w="12700">
                      <a:solidFill>
                        <a:schemeClr val="tx1"/>
                      </a:solidFill>
                    </a:lnT>
                  </a:tcPr>
                </a:tc>
                <a:extLst>
                  <a:ext uri="{0D108BD9-81ED-4DB2-BD59-A6C34878D82A}">
                    <a16:rowId xmlns:a16="http://schemas.microsoft.com/office/drawing/2014/main" val="10004"/>
                  </a:ext>
                </a:extLst>
              </a:tr>
              <a:tr h="457375">
                <a:tc>
                  <a:txBody>
                    <a:bodyPr/>
                    <a:lstStyle/>
                    <a:p>
                      <a:pPr lvl="0" algn="ctr">
                        <a:buNone/>
                      </a:pPr>
                      <a:endParaRPr lang="en-US" sz="2400" b="1" dirty="0">
                        <a:latin typeface="Arial"/>
                      </a:endParaRPr>
                    </a:p>
                  </a:txBody>
                  <a:tcPr marL="91427" marR="91427" marT="45738" marB="45738">
                    <a:lnL w="12700">
                      <a:solidFill>
                        <a:schemeClr val="tx1"/>
                      </a:solidFill>
                    </a:lnL>
                  </a:tcPr>
                </a:tc>
                <a:tc>
                  <a:txBody>
                    <a:bodyPr/>
                    <a:lstStyle/>
                    <a:p>
                      <a:pPr lvl="0" algn="ctr">
                        <a:buNone/>
                      </a:pPr>
                      <a:r>
                        <a:rPr lang="en-US" sz="2800" b="1" i="0" u="none" strike="noStrike" baseline="-25000" noProof="0" dirty="0" err="1">
                          <a:solidFill>
                            <a:srgbClr val="000000"/>
                          </a:solidFill>
                          <a:latin typeface="Arial"/>
                        </a:rPr>
                        <a:t>Cj</a:t>
                      </a:r>
                      <a:r>
                        <a:rPr lang="en-US" sz="2800" b="1" i="0" u="none" strike="noStrike" baseline="-25000" noProof="0" dirty="0">
                          <a:solidFill>
                            <a:srgbClr val="000000"/>
                          </a:solidFill>
                          <a:latin typeface="Arial"/>
                        </a:rPr>
                        <a:t> - </a:t>
                      </a:r>
                      <a:r>
                        <a:rPr lang="en-US" sz="2800" b="1" i="0" u="none" strike="noStrike" baseline="-25000" noProof="0" dirty="0" err="1">
                          <a:solidFill>
                            <a:srgbClr val="000000"/>
                          </a:solidFill>
                          <a:latin typeface="Arial"/>
                        </a:rPr>
                        <a:t>Zj</a:t>
                      </a:r>
                      <a:endParaRPr lang="en-US" sz="2800" b="1" i="0" u="none" strike="noStrike" baseline="-25000" noProof="0" dirty="0">
                        <a:solidFill>
                          <a:schemeClr val="tx1"/>
                        </a:solidFill>
                        <a:latin typeface="Arial"/>
                      </a:endParaRPr>
                    </a:p>
                  </a:txBody>
                  <a:tcPr marL="91427" marR="91427" marT="45738" marB="45738" anchor="ctr">
                    <a:lnR w="12700">
                      <a:solidFill>
                        <a:schemeClr val="tx1"/>
                      </a:solidFill>
                    </a:lnR>
                  </a:tcPr>
                </a:tc>
                <a:tc>
                  <a:txBody>
                    <a:bodyPr/>
                    <a:lstStyle/>
                    <a:p>
                      <a:pPr lvl="0" algn="ctr">
                        <a:buNone/>
                      </a:pPr>
                      <a:r>
                        <a:rPr lang="en-US" sz="2400" b="1" dirty="0">
                          <a:latin typeface="Arial"/>
                        </a:rPr>
                        <a:t>8</a:t>
                      </a:r>
                    </a:p>
                  </a:txBody>
                  <a:tcPr marL="91427" marR="91427" marT="45738" marB="45738">
                    <a:lnL w="12700">
                      <a:solidFill>
                        <a:schemeClr val="tx1"/>
                      </a:solidFill>
                    </a:lnL>
                  </a:tcPr>
                </a:tc>
                <a:tc>
                  <a:txBody>
                    <a:bodyPr/>
                    <a:lstStyle/>
                    <a:p>
                      <a:pPr lvl="0" algn="ctr">
                        <a:buNone/>
                      </a:pPr>
                      <a:r>
                        <a:rPr lang="en-US" sz="2400" b="1" dirty="0">
                          <a:latin typeface="Arial"/>
                        </a:rPr>
                        <a:t>10</a:t>
                      </a:r>
                    </a:p>
                  </a:txBody>
                  <a:tcPr marL="91427" marR="91427" marT="45738" marB="45738"/>
                </a:tc>
                <a:tc>
                  <a:txBody>
                    <a:bodyPr/>
                    <a:lstStyle/>
                    <a:p>
                      <a:pPr lvl="0" algn="ctr">
                        <a:buNone/>
                      </a:pPr>
                      <a:r>
                        <a:rPr lang="en-US" sz="2400" b="1" dirty="0">
                          <a:latin typeface="Arial"/>
                        </a:rPr>
                        <a:t>7</a:t>
                      </a:r>
                    </a:p>
                  </a:txBody>
                  <a:tcPr marL="91427" marR="91427" marT="45738" marB="45738"/>
                </a:tc>
                <a:tc>
                  <a:txBody>
                    <a:bodyPr/>
                    <a:lstStyle/>
                    <a:p>
                      <a:pPr lvl="0" algn="ctr">
                        <a:buNone/>
                      </a:pPr>
                      <a:r>
                        <a:rPr lang="en-US" sz="2400" b="1" dirty="0">
                          <a:latin typeface="Arial"/>
                        </a:rPr>
                        <a:t>0</a:t>
                      </a:r>
                    </a:p>
                  </a:txBody>
                  <a:tcPr marL="91427" marR="91427" marT="45738" marB="45738"/>
                </a:tc>
                <a:tc>
                  <a:txBody>
                    <a:bodyPr/>
                    <a:lstStyle/>
                    <a:p>
                      <a:pPr lvl="0" algn="ctr">
                        <a:buNone/>
                      </a:pPr>
                      <a:r>
                        <a:rPr lang="en-US" sz="2400" b="1" dirty="0">
                          <a:latin typeface="Arial"/>
                        </a:rPr>
                        <a:t>0</a:t>
                      </a:r>
                    </a:p>
                  </a:txBody>
                  <a:tcPr marL="91427" marR="91427" marT="45738" marB="45738"/>
                </a:tc>
                <a:tc>
                  <a:txBody>
                    <a:bodyPr/>
                    <a:lstStyle/>
                    <a:p>
                      <a:pPr lvl="0" algn="ctr">
                        <a:buNone/>
                      </a:pPr>
                      <a:endParaRPr lang="en-US" sz="2400" b="1" dirty="0">
                        <a:latin typeface="Arial"/>
                      </a:endParaRPr>
                    </a:p>
                  </a:txBody>
                  <a:tcPr marL="91427" marR="91427" marT="45738" marB="45738"/>
                </a:tc>
                <a:tc>
                  <a:txBody>
                    <a:bodyPr/>
                    <a:lstStyle/>
                    <a:p>
                      <a:pPr lvl="0" algn="ctr">
                        <a:buNone/>
                      </a:pPr>
                      <a:endParaRPr lang="en-US" sz="2400" b="1" dirty="0">
                        <a:latin typeface="Arial"/>
                      </a:endParaRPr>
                    </a:p>
                  </a:txBody>
                  <a:tcPr marL="91427" marR="91427" marT="45738" marB="45738"/>
                </a:tc>
                <a:extLst>
                  <a:ext uri="{0D108BD9-81ED-4DB2-BD59-A6C34878D82A}">
                    <a16:rowId xmlns:a16="http://schemas.microsoft.com/office/drawing/2014/main" val="10005"/>
                  </a:ext>
                </a:extLst>
              </a:tr>
            </a:tbl>
          </a:graphicData>
        </a:graphic>
      </p:graphicFrame>
      <p:sp>
        <p:nvSpPr>
          <p:cNvPr id="8" name="Rectangle: Rounded Corners 7">
            <a:extLst>
              <a:ext uri="{FF2B5EF4-FFF2-40B4-BE49-F238E27FC236}">
                <a16:creationId xmlns:a16="http://schemas.microsoft.com/office/drawing/2014/main" id="{C3978D53-CC26-B0A3-7103-B9950EE313CD}"/>
              </a:ext>
            </a:extLst>
          </p:cNvPr>
          <p:cNvSpPr/>
          <p:nvPr/>
        </p:nvSpPr>
        <p:spPr>
          <a:xfrm>
            <a:off x="5100638" y="3433763"/>
            <a:ext cx="698500" cy="431800"/>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Oval 8">
            <a:extLst>
              <a:ext uri="{FF2B5EF4-FFF2-40B4-BE49-F238E27FC236}">
                <a16:creationId xmlns:a16="http://schemas.microsoft.com/office/drawing/2014/main" id="{86627385-8F5A-8F39-5FDD-A12CEB90A1F3}"/>
              </a:ext>
            </a:extLst>
          </p:cNvPr>
          <p:cNvSpPr/>
          <p:nvPr/>
        </p:nvSpPr>
        <p:spPr>
          <a:xfrm>
            <a:off x="5159375" y="2063750"/>
            <a:ext cx="457200" cy="838200"/>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9">
            <a:extLst>
              <a:ext uri="{FF2B5EF4-FFF2-40B4-BE49-F238E27FC236}">
                <a16:creationId xmlns:a16="http://schemas.microsoft.com/office/drawing/2014/main" id="{E89016AC-4DB9-6924-AC8A-B84833ED83BB}"/>
              </a:ext>
            </a:extLst>
          </p:cNvPr>
          <p:cNvSpPr/>
          <p:nvPr/>
        </p:nvSpPr>
        <p:spPr>
          <a:xfrm>
            <a:off x="4075113" y="2493963"/>
            <a:ext cx="4622800" cy="520700"/>
          </a:xfrm>
          <a:prstGeom prst="ellipse">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Rectangle: Rounded Corners 2">
            <a:extLst>
              <a:ext uri="{FF2B5EF4-FFF2-40B4-BE49-F238E27FC236}">
                <a16:creationId xmlns:a16="http://schemas.microsoft.com/office/drawing/2014/main" id="{D547BADD-6CB5-0BD8-BD9E-031A661C0A9E}"/>
              </a:ext>
            </a:extLst>
          </p:cNvPr>
          <p:cNvSpPr/>
          <p:nvPr/>
        </p:nvSpPr>
        <p:spPr>
          <a:xfrm>
            <a:off x="9850438" y="2493963"/>
            <a:ext cx="698500" cy="431800"/>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Google Shape;192;p32" descr="KL Deemed to be University Logo">
            <a:extLst>
              <a:ext uri="{FF2B5EF4-FFF2-40B4-BE49-F238E27FC236}">
                <a16:creationId xmlns:a16="http://schemas.microsoft.com/office/drawing/2014/main" id="{3A35653A-632A-7852-18CD-615A846C69DE}"/>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Google Shape;193;p32">
            <a:extLst>
              <a:ext uri="{FF2B5EF4-FFF2-40B4-BE49-F238E27FC236}">
                <a16:creationId xmlns:a16="http://schemas.microsoft.com/office/drawing/2014/main" id="{CE199C28-B248-8FDC-F2DC-42C4652C8C42}"/>
              </a:ext>
            </a:extLst>
          </p:cNvPr>
          <p:cNvSpPr>
            <a:spLocks noChangeArrowheads="1"/>
          </p:cNvSpPr>
          <p:nvPr/>
        </p:nvSpPr>
        <p:spPr bwMode="auto">
          <a:xfrm>
            <a:off x="1857375" y="134938"/>
            <a:ext cx="9066213" cy="706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5: Identify pivot row/column and pivot element</a:t>
            </a:r>
          </a:p>
        </p:txBody>
      </p:sp>
      <p:pic>
        <p:nvPicPr>
          <p:cNvPr id="44036" name="Google Shape;194;p32" descr="KL Deemed to be University Logo">
            <a:extLst>
              <a:ext uri="{FF2B5EF4-FFF2-40B4-BE49-F238E27FC236}">
                <a16:creationId xmlns:a16="http://schemas.microsoft.com/office/drawing/2014/main" id="{B60DDAC3-574A-EC85-7771-FCE116AF606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 name="Google Shape;195;p32">
            <a:extLst>
              <a:ext uri="{FF2B5EF4-FFF2-40B4-BE49-F238E27FC236}">
                <a16:creationId xmlns:a16="http://schemas.microsoft.com/office/drawing/2014/main" id="{E9C2652B-E0F4-36C2-3DB9-E453B6454F58}"/>
              </a:ext>
            </a:extLst>
          </p:cNvPr>
          <p:cNvSpPr txBox="1"/>
          <p:nvPr/>
        </p:nvSpPr>
        <p:spPr>
          <a:xfrm>
            <a:off x="323850" y="4200525"/>
            <a:ext cx="10580688" cy="2092325"/>
          </a:xfrm>
          <a:prstGeom prst="rect">
            <a:avLst/>
          </a:prstGeom>
          <a:solidFill>
            <a:srgbClr val="FFFFFF"/>
          </a:solidFill>
          <a:ln>
            <a:noFill/>
          </a:ln>
        </p:spPr>
        <p:txBody>
          <a:bodyPr spcFirstLastPara="1" lIns="91425" tIns="91425" rIns="91425" bIns="91425">
            <a:spAutoFit/>
          </a:bodyPr>
          <a:lstStyle/>
          <a:p>
            <a:pPr marL="457200" indent="-355600" eaLnBrk="1" fontAlgn="auto" hangingPunct="1">
              <a:spcBef>
                <a:spcPts val="0"/>
              </a:spcBef>
              <a:spcAft>
                <a:spcPts val="0"/>
              </a:spcAft>
              <a:buSzPts val="2000"/>
              <a:buFont typeface="Arial"/>
              <a:buChar char="•"/>
              <a:defRPr/>
            </a:pPr>
            <a:r>
              <a:rPr lang="en-US" sz="2000" b="1" dirty="0">
                <a:solidFill>
                  <a:srgbClr val="FF00FF"/>
                </a:solidFill>
                <a:latin typeface="+mn-lt"/>
                <a:ea typeface="+mn-lt"/>
                <a:cs typeface="+mn-lt"/>
              </a:rPr>
              <a:t>Pivot element</a:t>
            </a:r>
            <a:r>
              <a:rPr lang="en-US" sz="2000" dirty="0">
                <a:latin typeface="Times New Roman"/>
                <a:cs typeface="Times New Roman"/>
              </a:rPr>
              <a:t>: The value present in the pivot column (x2 column) </a:t>
            </a:r>
            <a:r>
              <a:rPr lang="en-US" sz="2000" b="1" dirty="0">
                <a:latin typeface="Times New Roman"/>
                <a:cs typeface="Times New Roman"/>
              </a:rPr>
              <a:t>and</a:t>
            </a:r>
            <a:r>
              <a:rPr lang="en-US" sz="2000" dirty="0">
                <a:latin typeface="Times New Roman"/>
                <a:cs typeface="Times New Roman"/>
              </a:rPr>
              <a:t> in the pivot row (2nd row) is called </a:t>
            </a:r>
            <a:r>
              <a:rPr lang="en-US" sz="2000" b="1" dirty="0">
                <a:latin typeface="Times New Roman"/>
                <a:cs typeface="Times New Roman"/>
              </a:rPr>
              <a:t>pivot element</a:t>
            </a:r>
            <a:r>
              <a:rPr lang="en-US" sz="2000" dirty="0">
                <a:latin typeface="Times New Roman"/>
                <a:cs typeface="Times New Roman"/>
              </a:rPr>
              <a:t>. In our case, the value is </a:t>
            </a:r>
            <a:r>
              <a:rPr lang="en-US" dirty="0">
                <a:latin typeface="+mn-lt"/>
              </a:rPr>
              <a:t>5</a:t>
            </a:r>
            <a:r>
              <a:rPr lang="en-US" sz="2000" dirty="0">
                <a:latin typeface="Times New Roman"/>
                <a:cs typeface="Times New Roman"/>
              </a:rPr>
              <a:t>.</a:t>
            </a:r>
          </a:p>
          <a:p>
            <a:pPr marL="457200" indent="-355600" eaLnBrk="1" fontAlgn="auto" hangingPunct="1">
              <a:spcBef>
                <a:spcPts val="0"/>
              </a:spcBef>
              <a:spcAft>
                <a:spcPts val="0"/>
              </a:spcAft>
              <a:buSzPts val="2000"/>
              <a:buFont typeface="Arial"/>
              <a:buChar char="•"/>
              <a:defRPr/>
            </a:pPr>
            <a:r>
              <a:rPr lang="en-US" sz="2000" dirty="0">
                <a:latin typeface="Times New Roman"/>
                <a:cs typeface="Times New Roman"/>
              </a:rPr>
              <a:t>The basic variable in the pivot row is called the </a:t>
            </a:r>
            <a:r>
              <a:rPr lang="en-US" sz="2000" b="1" dirty="0">
                <a:latin typeface="Times New Roman"/>
                <a:cs typeface="Times New Roman"/>
              </a:rPr>
              <a:t>leaving variable</a:t>
            </a:r>
            <a:r>
              <a:rPr lang="en-US" sz="2000" dirty="0">
                <a:latin typeface="Times New Roman"/>
                <a:cs typeface="Times New Roman"/>
              </a:rPr>
              <a:t>. So, s2 is the leaving variable. </a:t>
            </a:r>
          </a:p>
          <a:p>
            <a:pPr marL="457200" indent="-355600" eaLnBrk="1" fontAlgn="auto" hangingPunct="1">
              <a:spcBef>
                <a:spcPts val="0"/>
              </a:spcBef>
              <a:spcAft>
                <a:spcPts val="0"/>
              </a:spcAft>
              <a:buSzPts val="2000"/>
              <a:buFont typeface="Arial"/>
              <a:buChar char="•"/>
              <a:defRPr/>
            </a:pPr>
            <a:r>
              <a:rPr lang="en-US" sz="2000" dirty="0">
                <a:latin typeface="Times New Roman"/>
                <a:cs typeface="Times New Roman"/>
              </a:rPr>
              <a:t>The variable in the pivot column is called the entering variable. So, </a:t>
            </a:r>
            <a:r>
              <a:rPr lang="en-US" sz="2000" b="1" dirty="0">
                <a:solidFill>
                  <a:srgbClr val="FF0000"/>
                </a:solidFill>
                <a:latin typeface="Times New Roman"/>
                <a:cs typeface="Times New Roman"/>
              </a:rPr>
              <a:t>x2 is the entering variable</a:t>
            </a:r>
            <a:r>
              <a:rPr lang="en-US" sz="2000" dirty="0">
                <a:latin typeface="Times New Roman"/>
                <a:cs typeface="Times New Roman"/>
              </a:rPr>
              <a:t>.</a:t>
            </a:r>
          </a:p>
          <a:p>
            <a:pPr marL="457200" indent="-355600" eaLnBrk="1" fontAlgn="auto" hangingPunct="1">
              <a:spcBef>
                <a:spcPts val="0"/>
              </a:spcBef>
              <a:spcAft>
                <a:spcPts val="0"/>
              </a:spcAft>
              <a:buSzPts val="2000"/>
              <a:buFont typeface="Arial"/>
              <a:buChar char="•"/>
              <a:defRPr/>
            </a:pPr>
            <a:r>
              <a:rPr lang="en-US" sz="2000" dirty="0">
                <a:latin typeface="Times New Roman"/>
                <a:cs typeface="Times New Roman"/>
              </a:rPr>
              <a:t>In the next step (of revision of the tableau), the entering variable (x2) will become the basic variable, replacing the </a:t>
            </a:r>
            <a:r>
              <a:rPr lang="en-US" sz="2400" b="1" dirty="0">
                <a:solidFill>
                  <a:srgbClr val="FF0000"/>
                </a:solidFill>
                <a:latin typeface="Times New Roman"/>
                <a:cs typeface="Times New Roman"/>
              </a:rPr>
              <a:t>leaving variable (s2)</a:t>
            </a:r>
            <a:r>
              <a:rPr lang="en-US" sz="2000" dirty="0">
                <a:latin typeface="Times New Roman"/>
                <a:cs typeface="Times New Roman"/>
              </a:rPr>
              <a:t>.</a:t>
            </a:r>
          </a:p>
        </p:txBody>
      </p:sp>
      <p:pic>
        <p:nvPicPr>
          <p:cNvPr id="44038" name="Google Shape;196;p32">
            <a:extLst>
              <a:ext uri="{FF2B5EF4-FFF2-40B4-BE49-F238E27FC236}">
                <a16:creationId xmlns:a16="http://schemas.microsoft.com/office/drawing/2014/main" id="{A31B16ED-D5EC-7771-5296-9DC174060E3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Slide Number Placeholder 3">
            <a:extLst>
              <a:ext uri="{FF2B5EF4-FFF2-40B4-BE49-F238E27FC236}">
                <a16:creationId xmlns:a16="http://schemas.microsoft.com/office/drawing/2014/main" id="{04461E6A-7257-657C-7227-7AE9D99FBD99}"/>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B44E1675-DA5F-4049-ACB4-8377D2170440}" type="slidenum">
              <a:rPr lang="en-IN" altLang="en-US" sz="2200" smtClean="0">
                <a:solidFill>
                  <a:schemeClr val="accent1"/>
                </a:solidFill>
              </a:rPr>
              <a:pPr>
                <a:lnSpc>
                  <a:spcPct val="100000"/>
                </a:lnSpc>
                <a:spcBef>
                  <a:spcPct val="0"/>
                </a:spcBef>
                <a:buClrTx/>
                <a:buSzTx/>
                <a:buFontTx/>
                <a:buNone/>
              </a:pPr>
              <a:t>16</a:t>
            </a:fld>
            <a:endParaRPr lang="en-IN" altLang="en-US" sz="2200">
              <a:solidFill>
                <a:schemeClr val="accent1"/>
              </a:solidFill>
            </a:endParaRPr>
          </a:p>
        </p:txBody>
      </p:sp>
      <p:graphicFrame>
        <p:nvGraphicFramePr>
          <p:cNvPr id="7" name="Table 11">
            <a:extLst>
              <a:ext uri="{FF2B5EF4-FFF2-40B4-BE49-F238E27FC236}">
                <a16:creationId xmlns:a16="http://schemas.microsoft.com/office/drawing/2014/main" id="{A87C431F-BEAA-FC7F-F856-9818184E61B7}"/>
              </a:ext>
            </a:extLst>
          </p:cNvPr>
          <p:cNvGraphicFramePr>
            <a:graphicFrameLocks noGrp="1"/>
          </p:cNvGraphicFramePr>
          <p:nvPr/>
        </p:nvGraphicFramePr>
        <p:xfrm>
          <a:off x="1676400" y="966788"/>
          <a:ext cx="9491663" cy="2905125"/>
        </p:xfrm>
        <a:graphic>
          <a:graphicData uri="http://schemas.openxmlformats.org/drawingml/2006/table">
            <a:tbl>
              <a:tblPr firstRow="1" bandRow="1">
                <a:tableStyleId>{2D5ABB26-0587-4C30-8999-92F81FD0307C}</a:tableStyleId>
              </a:tblPr>
              <a:tblGrid>
                <a:gridCol w="957857">
                  <a:extLst>
                    <a:ext uri="{9D8B030D-6E8A-4147-A177-3AD203B41FA5}">
                      <a16:colId xmlns:a16="http://schemas.microsoft.com/office/drawing/2014/main" val="20000"/>
                    </a:ext>
                  </a:extLst>
                </a:gridCol>
                <a:gridCol w="1351032">
                  <a:extLst>
                    <a:ext uri="{9D8B030D-6E8A-4147-A177-3AD203B41FA5}">
                      <a16:colId xmlns:a16="http://schemas.microsoft.com/office/drawing/2014/main" val="20001"/>
                    </a:ext>
                  </a:extLst>
                </a:gridCol>
                <a:gridCol w="855002">
                  <a:extLst>
                    <a:ext uri="{9D8B030D-6E8A-4147-A177-3AD203B41FA5}">
                      <a16:colId xmlns:a16="http://schemas.microsoft.com/office/drawing/2014/main" val="20002"/>
                    </a:ext>
                  </a:extLst>
                </a:gridCol>
                <a:gridCol w="1054629">
                  <a:extLst>
                    <a:ext uri="{9D8B030D-6E8A-4147-A177-3AD203B41FA5}">
                      <a16:colId xmlns:a16="http://schemas.microsoft.com/office/drawing/2014/main" val="20003"/>
                    </a:ext>
                  </a:extLst>
                </a:gridCol>
                <a:gridCol w="1054629">
                  <a:extLst>
                    <a:ext uri="{9D8B030D-6E8A-4147-A177-3AD203B41FA5}">
                      <a16:colId xmlns:a16="http://schemas.microsoft.com/office/drawing/2014/main" val="20004"/>
                    </a:ext>
                  </a:extLst>
                </a:gridCol>
                <a:gridCol w="1054629">
                  <a:extLst>
                    <a:ext uri="{9D8B030D-6E8A-4147-A177-3AD203B41FA5}">
                      <a16:colId xmlns:a16="http://schemas.microsoft.com/office/drawing/2014/main" val="20005"/>
                    </a:ext>
                  </a:extLst>
                </a:gridCol>
                <a:gridCol w="801857">
                  <a:extLst>
                    <a:ext uri="{9D8B030D-6E8A-4147-A177-3AD203B41FA5}">
                      <a16:colId xmlns:a16="http://schemas.microsoft.com/office/drawing/2014/main" val="20006"/>
                    </a:ext>
                  </a:extLst>
                </a:gridCol>
                <a:gridCol w="696636">
                  <a:extLst>
                    <a:ext uri="{9D8B030D-6E8A-4147-A177-3AD203B41FA5}">
                      <a16:colId xmlns:a16="http://schemas.microsoft.com/office/drawing/2014/main" val="20007"/>
                    </a:ext>
                  </a:extLst>
                </a:gridCol>
                <a:gridCol w="1665393">
                  <a:extLst>
                    <a:ext uri="{9D8B030D-6E8A-4147-A177-3AD203B41FA5}">
                      <a16:colId xmlns:a16="http://schemas.microsoft.com/office/drawing/2014/main" val="20008"/>
                    </a:ext>
                  </a:extLst>
                </a:gridCol>
              </a:tblGrid>
              <a:tr h="496283">
                <a:tc>
                  <a:txBody>
                    <a:bodyPr/>
                    <a:lstStyle/>
                    <a:p>
                      <a:pPr lvl="0" algn="ctr">
                        <a:buNone/>
                      </a:pPr>
                      <a:endParaRPr lang="en-US" sz="2400" b="1" dirty="0">
                        <a:latin typeface="Arial"/>
                      </a:endParaRPr>
                    </a:p>
                  </a:txBody>
                  <a:tcPr marL="91420" marR="91420" marT="45738" marB="45738">
                    <a:lnL w="12700">
                      <a:solidFill>
                        <a:schemeClr val="tx1"/>
                      </a:solidFill>
                    </a:lnL>
                    <a:lnB w="12700">
                      <a:solidFill>
                        <a:schemeClr val="tx1"/>
                      </a:solidFill>
                    </a:lnB>
                  </a:tcPr>
                </a:tc>
                <a:tc>
                  <a:txBody>
                    <a:bodyPr/>
                    <a:lstStyle/>
                    <a:p>
                      <a:pPr lvl="0" algn="ctr">
                        <a:buNone/>
                      </a:pPr>
                      <a:r>
                        <a:rPr lang="en-US" sz="2400" b="1" dirty="0">
                          <a:latin typeface="Arial"/>
                        </a:rPr>
                        <a:t>C</a:t>
                      </a:r>
                      <a:r>
                        <a:rPr lang="en-US" sz="2400" b="1" baseline="-25000" dirty="0">
                          <a:latin typeface="Arial"/>
                        </a:rPr>
                        <a:t>j</a:t>
                      </a:r>
                      <a:r>
                        <a:rPr lang="en-US" sz="2400" b="1" dirty="0">
                          <a:latin typeface="Arial"/>
                        </a:rPr>
                        <a:t> -&gt;</a:t>
                      </a:r>
                    </a:p>
                  </a:txBody>
                  <a:tcPr marL="91420" marR="91420" marT="45738" marB="45738">
                    <a:lnR w="12700">
                      <a:solidFill>
                        <a:schemeClr val="tx1"/>
                      </a:solidFill>
                    </a:lnR>
                    <a:lnB w="12700">
                      <a:solidFill>
                        <a:schemeClr val="tx1"/>
                      </a:solidFill>
                    </a:lnB>
                  </a:tcPr>
                </a:tc>
                <a:tc>
                  <a:txBody>
                    <a:bodyPr/>
                    <a:lstStyle/>
                    <a:p>
                      <a:pPr algn="ctr"/>
                      <a:r>
                        <a:rPr lang="en-US" sz="2400" b="1" dirty="0">
                          <a:latin typeface="Arial"/>
                        </a:rPr>
                        <a:t>8</a:t>
                      </a:r>
                    </a:p>
                  </a:txBody>
                  <a:tcPr marL="91420" marR="91420" marT="45738" marB="45738">
                    <a:lnL w="12700">
                      <a:solidFill>
                        <a:schemeClr val="tx1"/>
                      </a:solidFill>
                    </a:lnL>
                    <a:lnB w="12700">
                      <a:solidFill>
                        <a:schemeClr val="tx1"/>
                      </a:solidFill>
                    </a:lnB>
                  </a:tcPr>
                </a:tc>
                <a:tc>
                  <a:txBody>
                    <a:bodyPr/>
                    <a:lstStyle/>
                    <a:p>
                      <a:pPr algn="ctr"/>
                      <a:r>
                        <a:rPr lang="en-US" sz="2400" b="1" dirty="0">
                          <a:latin typeface="Arial"/>
                        </a:rPr>
                        <a:t>10</a:t>
                      </a:r>
                    </a:p>
                  </a:txBody>
                  <a:tcPr marL="91420" marR="91420" marT="45738" marB="45738">
                    <a:lnB w="12700">
                      <a:solidFill>
                        <a:schemeClr val="tx1"/>
                      </a:solidFill>
                    </a:lnB>
                  </a:tcPr>
                </a:tc>
                <a:tc>
                  <a:txBody>
                    <a:bodyPr/>
                    <a:lstStyle/>
                    <a:p>
                      <a:pPr algn="ctr"/>
                      <a:r>
                        <a:rPr lang="en-US" sz="2400" b="1" dirty="0">
                          <a:latin typeface="Arial"/>
                        </a:rPr>
                        <a:t>7</a:t>
                      </a:r>
                    </a:p>
                  </a:txBody>
                  <a:tcPr marL="91420" marR="91420" marT="45738" marB="45738">
                    <a:lnB w="12700">
                      <a:solidFill>
                        <a:schemeClr val="tx1"/>
                      </a:solidFill>
                    </a:lnB>
                  </a:tcPr>
                </a:tc>
                <a:tc>
                  <a:txBody>
                    <a:bodyPr/>
                    <a:lstStyle/>
                    <a:p>
                      <a:pPr algn="ctr"/>
                      <a:r>
                        <a:rPr lang="en-US" sz="2400" b="1" dirty="0">
                          <a:latin typeface="Arial"/>
                        </a:rPr>
                        <a:t>0</a:t>
                      </a:r>
                    </a:p>
                  </a:txBody>
                  <a:tcPr marL="91420" marR="91420" marT="45738" marB="45738">
                    <a:lnB w="12700">
                      <a:solidFill>
                        <a:schemeClr val="tx1"/>
                      </a:solidFill>
                    </a:lnB>
                  </a:tcPr>
                </a:tc>
                <a:tc>
                  <a:txBody>
                    <a:bodyPr/>
                    <a:lstStyle/>
                    <a:p>
                      <a:pPr algn="ctr"/>
                      <a:r>
                        <a:rPr lang="en-US" sz="2400" b="1" dirty="0">
                          <a:latin typeface="Arial"/>
                        </a:rPr>
                        <a:t>0</a:t>
                      </a:r>
                    </a:p>
                  </a:txBody>
                  <a:tcPr marL="91420" marR="91420" marT="45738" marB="45738">
                    <a:lnR w="12700">
                      <a:solidFill>
                        <a:schemeClr val="tx1"/>
                      </a:solidFill>
                    </a:lnR>
                    <a:lnB w="12700">
                      <a:solidFill>
                        <a:schemeClr val="tx1"/>
                      </a:solidFill>
                    </a:lnB>
                  </a:tcPr>
                </a:tc>
                <a:tc>
                  <a:txBody>
                    <a:bodyPr/>
                    <a:lstStyle/>
                    <a:p>
                      <a:pPr algn="ctr"/>
                      <a:endParaRPr lang="en-US" sz="2400" b="1" dirty="0">
                        <a:latin typeface="Arial"/>
                      </a:endParaRPr>
                    </a:p>
                  </a:txBody>
                  <a:tcPr marL="91420" marR="91420" marT="45738" marB="45738">
                    <a:lnL w="12700">
                      <a:solidFill>
                        <a:schemeClr val="tx1"/>
                      </a:solidFill>
                    </a:lnL>
                    <a:lnR w="12700">
                      <a:solidFill>
                        <a:schemeClr val="tx1"/>
                      </a:solidFill>
                    </a:lnR>
                    <a:lnB w="12700">
                      <a:solidFill>
                        <a:schemeClr val="tx1"/>
                      </a:solidFill>
                    </a:lnB>
                  </a:tcPr>
                </a:tc>
                <a:tc>
                  <a:txBody>
                    <a:bodyPr/>
                    <a:lstStyle/>
                    <a:p>
                      <a:pPr lvl="0" algn="ctr">
                        <a:buNone/>
                      </a:pPr>
                      <a:endParaRPr lang="en-US" sz="2400" b="1" dirty="0">
                        <a:latin typeface="Arial"/>
                      </a:endParaRPr>
                    </a:p>
                  </a:txBody>
                  <a:tcPr marL="91420" marR="91420" marT="45738" marB="45738">
                    <a:lnL w="12700">
                      <a:solidFill>
                        <a:schemeClr val="tx1"/>
                      </a:solidFill>
                    </a:lnL>
                    <a:lnB w="12700">
                      <a:solidFill>
                        <a:schemeClr val="tx1"/>
                      </a:solidFill>
                    </a:lnB>
                  </a:tcPr>
                </a:tc>
                <a:extLst>
                  <a:ext uri="{0D108BD9-81ED-4DB2-BD59-A6C34878D82A}">
                    <a16:rowId xmlns:a16="http://schemas.microsoft.com/office/drawing/2014/main" val="10000"/>
                  </a:ext>
                </a:extLst>
              </a:tr>
              <a:tr h="579342">
                <a:tc>
                  <a:txBody>
                    <a:bodyPr/>
                    <a:lstStyle/>
                    <a:p>
                      <a:pPr lvl="0" algn="ctr">
                        <a:buNone/>
                      </a:pPr>
                      <a:r>
                        <a:rPr lang="en-US" sz="2400" b="1" err="1">
                          <a:latin typeface="Arial"/>
                        </a:rPr>
                        <a:t>C</a:t>
                      </a:r>
                      <a:r>
                        <a:rPr lang="en-US" sz="2400" b="1" baseline="-25000" err="1">
                          <a:latin typeface="Arial"/>
                        </a:rPr>
                        <a:t>Bi</a:t>
                      </a:r>
                    </a:p>
                  </a:txBody>
                  <a:tcPr marL="91420" marR="91420" marT="45738" marB="45738">
                    <a:lnL w="12700">
                      <a:solidFill>
                        <a:schemeClr val="tx1"/>
                      </a:solidFill>
                    </a:lnL>
                    <a:lnT w="12700">
                      <a:solidFill>
                        <a:schemeClr val="tx1"/>
                      </a:solidFill>
                    </a:lnT>
                    <a:lnB w="12700">
                      <a:solidFill>
                        <a:schemeClr val="tx1"/>
                      </a:solidFill>
                    </a:lnB>
                  </a:tcPr>
                </a:tc>
                <a:tc>
                  <a:txBody>
                    <a:bodyPr/>
                    <a:lstStyle/>
                    <a:p>
                      <a:pPr lvl="0" algn="ctr">
                        <a:buNone/>
                      </a:pPr>
                      <a:r>
                        <a:rPr lang="en-US" sz="1600" b="1" dirty="0">
                          <a:latin typeface="Arial"/>
                        </a:rPr>
                        <a:t>Basic variables</a:t>
                      </a:r>
                    </a:p>
                  </a:txBody>
                  <a:tcPr marL="91420" marR="91420" marT="45738" marB="45738">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x1</a:t>
                      </a:r>
                      <a:endParaRPr lang="en-US" sz="1800"/>
                    </a:p>
                  </a:txBody>
                  <a:tcPr marL="91420" marR="91420" marT="45738" marB="45738">
                    <a:lnL w="12700">
                      <a:solidFill>
                        <a:schemeClr val="tx1"/>
                      </a:solidFill>
                    </a:lnL>
                    <a:lnT w="12700">
                      <a:solidFill>
                        <a:schemeClr val="tx1"/>
                      </a:solidFill>
                    </a:lnT>
                    <a:lnB w="12700">
                      <a:solidFill>
                        <a:schemeClr val="tx1"/>
                      </a:solidFill>
                    </a:lnB>
                  </a:tcPr>
                </a:tc>
                <a:tc>
                  <a:txBody>
                    <a:bodyPr/>
                    <a:lstStyle/>
                    <a:p>
                      <a:pPr lvl="0" algn="ctr">
                        <a:buNone/>
                      </a:pPr>
                      <a:r>
                        <a:rPr lang="en-US" sz="2400" b="1" dirty="0">
                          <a:latin typeface="Arial"/>
                        </a:rPr>
                        <a:t>x2</a:t>
                      </a:r>
                      <a:endParaRPr lang="en-US" sz="1800"/>
                    </a:p>
                  </a:txBody>
                  <a:tcPr marL="91420" marR="91420" marT="45738" marB="45738">
                    <a:lnT w="12700">
                      <a:solidFill>
                        <a:schemeClr val="tx1"/>
                      </a:solidFill>
                    </a:lnT>
                    <a:lnB w="12700">
                      <a:solidFill>
                        <a:schemeClr val="tx1"/>
                      </a:solidFill>
                    </a:lnB>
                  </a:tcPr>
                </a:tc>
                <a:tc>
                  <a:txBody>
                    <a:bodyPr/>
                    <a:lstStyle/>
                    <a:p>
                      <a:pPr lvl="0" algn="ctr">
                        <a:buNone/>
                      </a:pPr>
                      <a:r>
                        <a:rPr lang="en-US" sz="2400" b="1" dirty="0">
                          <a:latin typeface="Arial"/>
                        </a:rPr>
                        <a:t>x3</a:t>
                      </a:r>
                      <a:endParaRPr lang="en-US" sz="1800"/>
                    </a:p>
                  </a:txBody>
                  <a:tcPr marL="91420" marR="91420" marT="45738" marB="45738">
                    <a:lnT w="12700">
                      <a:solidFill>
                        <a:schemeClr val="tx1"/>
                      </a:solidFill>
                    </a:lnT>
                    <a:lnB w="12700">
                      <a:solidFill>
                        <a:schemeClr val="tx1"/>
                      </a:solidFill>
                    </a:lnB>
                  </a:tcPr>
                </a:tc>
                <a:tc>
                  <a:txBody>
                    <a:bodyPr/>
                    <a:lstStyle/>
                    <a:p>
                      <a:pPr lvl="0" algn="ctr">
                        <a:buNone/>
                      </a:pPr>
                      <a:r>
                        <a:rPr lang="en-US" sz="2400" b="1" dirty="0">
                          <a:latin typeface="Arial"/>
                        </a:rPr>
                        <a:t>s1</a:t>
                      </a:r>
                      <a:endParaRPr lang="en-US" sz="1800"/>
                    </a:p>
                  </a:txBody>
                  <a:tcPr marL="91420" marR="91420" marT="45738" marB="45738">
                    <a:lnT w="12700">
                      <a:solidFill>
                        <a:schemeClr val="tx1"/>
                      </a:solidFill>
                    </a:lnT>
                    <a:lnB w="12700">
                      <a:solidFill>
                        <a:schemeClr val="tx1"/>
                      </a:solidFill>
                    </a:lnB>
                  </a:tcPr>
                </a:tc>
                <a:tc>
                  <a:txBody>
                    <a:bodyPr/>
                    <a:lstStyle/>
                    <a:p>
                      <a:pPr lvl="0" algn="ctr">
                        <a:buNone/>
                      </a:pPr>
                      <a:r>
                        <a:rPr lang="en-US" sz="2400" b="1" dirty="0">
                          <a:latin typeface="Arial"/>
                        </a:rPr>
                        <a:t>s2</a:t>
                      </a:r>
                      <a:endParaRPr lang="en-US" sz="1800"/>
                    </a:p>
                  </a:txBody>
                  <a:tcPr marL="91420" marR="91420" marT="45738" marB="45738">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b</a:t>
                      </a:r>
                      <a:endParaRPr lang="en-US" sz="1800"/>
                    </a:p>
                  </a:txBody>
                  <a:tcPr marL="91420" marR="91420" marT="45738" marB="45738">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ratio</a:t>
                      </a:r>
                    </a:p>
                  </a:txBody>
                  <a:tcPr marL="91420" marR="91420" marT="45738" marB="45738">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457375">
                <a:tc>
                  <a:txBody>
                    <a:bodyPr/>
                    <a:lstStyle/>
                    <a:p>
                      <a:pPr lvl="0" algn="ctr">
                        <a:buNone/>
                      </a:pPr>
                      <a:r>
                        <a:rPr lang="en-US" sz="2400" b="1" dirty="0">
                          <a:latin typeface="Arial"/>
                        </a:rPr>
                        <a:t>0</a:t>
                      </a:r>
                    </a:p>
                  </a:txBody>
                  <a:tcPr marL="91420" marR="91420" marT="45738" marB="45738">
                    <a:lnL w="12700">
                      <a:solidFill>
                        <a:schemeClr val="tx1"/>
                      </a:solidFill>
                    </a:lnL>
                    <a:lnT w="12700">
                      <a:solidFill>
                        <a:schemeClr val="tx1"/>
                      </a:solidFill>
                    </a:lnT>
                  </a:tcPr>
                </a:tc>
                <a:tc>
                  <a:txBody>
                    <a:bodyPr/>
                    <a:lstStyle/>
                    <a:p>
                      <a:pPr lvl="0" algn="ctr">
                        <a:buNone/>
                      </a:pPr>
                      <a:r>
                        <a:rPr lang="en-US" sz="2400" b="1" dirty="0">
                          <a:solidFill>
                            <a:schemeClr val="accent3"/>
                          </a:solidFill>
                          <a:latin typeface="Arial"/>
                        </a:rPr>
                        <a:t>s1</a:t>
                      </a:r>
                    </a:p>
                  </a:txBody>
                  <a:tcPr marL="91420" marR="91420" marT="45738" marB="45738">
                    <a:lnR w="12700">
                      <a:solidFill>
                        <a:schemeClr val="tx1"/>
                      </a:solidFill>
                    </a:lnR>
                    <a:lnT w="12700">
                      <a:solidFill>
                        <a:schemeClr val="tx1"/>
                      </a:solidFill>
                    </a:lnT>
                  </a:tcPr>
                </a:tc>
                <a:tc>
                  <a:txBody>
                    <a:bodyPr/>
                    <a:lstStyle/>
                    <a:p>
                      <a:pPr algn="ctr"/>
                      <a:r>
                        <a:rPr lang="en-US" sz="2400" b="1" dirty="0">
                          <a:latin typeface="Arial"/>
                        </a:rPr>
                        <a:t>1</a:t>
                      </a:r>
                    </a:p>
                  </a:txBody>
                  <a:tcPr marL="91420" marR="91420" marT="45738" marB="45738">
                    <a:lnL w="12700">
                      <a:solidFill>
                        <a:schemeClr val="tx1"/>
                      </a:solidFill>
                    </a:lnL>
                    <a:lnT w="12700">
                      <a:solidFill>
                        <a:schemeClr val="tx1"/>
                      </a:solidFill>
                    </a:lnT>
                  </a:tcPr>
                </a:tc>
                <a:tc>
                  <a:txBody>
                    <a:bodyPr/>
                    <a:lstStyle/>
                    <a:p>
                      <a:pPr algn="ctr"/>
                      <a:r>
                        <a:rPr lang="en-US" sz="2400" b="1" dirty="0">
                          <a:latin typeface="Arial"/>
                        </a:rPr>
                        <a:t>3</a:t>
                      </a:r>
                    </a:p>
                  </a:txBody>
                  <a:tcPr marL="91420" marR="91420" marT="45738" marB="45738">
                    <a:lnT w="12700">
                      <a:solidFill>
                        <a:schemeClr val="tx1"/>
                      </a:solidFill>
                    </a:lnT>
                  </a:tcPr>
                </a:tc>
                <a:tc>
                  <a:txBody>
                    <a:bodyPr/>
                    <a:lstStyle/>
                    <a:p>
                      <a:pPr algn="ctr"/>
                      <a:r>
                        <a:rPr lang="en-US" sz="2400" b="1" dirty="0">
                          <a:latin typeface="Arial"/>
                        </a:rPr>
                        <a:t>2</a:t>
                      </a:r>
                    </a:p>
                  </a:txBody>
                  <a:tcPr marL="91420" marR="91420" marT="45738" marB="45738">
                    <a:lnT w="12700">
                      <a:solidFill>
                        <a:schemeClr val="tx1"/>
                      </a:solidFill>
                    </a:lnT>
                  </a:tcPr>
                </a:tc>
                <a:tc>
                  <a:txBody>
                    <a:bodyPr/>
                    <a:lstStyle/>
                    <a:p>
                      <a:pPr algn="ctr"/>
                      <a:r>
                        <a:rPr lang="en-US" sz="2400" b="1" dirty="0">
                          <a:latin typeface="Arial"/>
                        </a:rPr>
                        <a:t>1</a:t>
                      </a:r>
                    </a:p>
                  </a:txBody>
                  <a:tcPr marL="91420" marR="91420" marT="45738" marB="45738">
                    <a:lnT w="12700">
                      <a:solidFill>
                        <a:schemeClr val="tx1"/>
                      </a:solidFill>
                    </a:lnT>
                  </a:tcPr>
                </a:tc>
                <a:tc>
                  <a:txBody>
                    <a:bodyPr/>
                    <a:lstStyle/>
                    <a:p>
                      <a:pPr algn="ctr"/>
                      <a:r>
                        <a:rPr lang="en-US" sz="2400" b="1" dirty="0">
                          <a:latin typeface="Arial"/>
                        </a:rPr>
                        <a:t>0</a:t>
                      </a:r>
                    </a:p>
                  </a:txBody>
                  <a:tcPr marL="91420" marR="91420" marT="45738" marB="45738">
                    <a:lnR w="12700">
                      <a:solidFill>
                        <a:schemeClr val="tx1"/>
                      </a:solidFill>
                    </a:lnR>
                    <a:lnT w="12700">
                      <a:solidFill>
                        <a:schemeClr val="tx1"/>
                      </a:solidFill>
                    </a:lnT>
                  </a:tcPr>
                </a:tc>
                <a:tc>
                  <a:txBody>
                    <a:bodyPr/>
                    <a:lstStyle/>
                    <a:p>
                      <a:pPr algn="ctr"/>
                      <a:r>
                        <a:rPr lang="en-US" sz="2400" b="1" dirty="0">
                          <a:latin typeface="Arial"/>
                        </a:rPr>
                        <a:t>10</a:t>
                      </a:r>
                    </a:p>
                  </a:txBody>
                  <a:tcPr marL="91420" marR="91420" marT="45738" marB="45738">
                    <a:lnL w="12700">
                      <a:solidFill>
                        <a:schemeClr val="tx1"/>
                      </a:solidFill>
                    </a:lnL>
                    <a:lnR w="12700">
                      <a:solidFill>
                        <a:schemeClr val="tx1"/>
                      </a:solidFill>
                    </a:lnR>
                    <a:lnT w="12700">
                      <a:solidFill>
                        <a:schemeClr val="tx1"/>
                      </a:solidFill>
                    </a:lnT>
                  </a:tcPr>
                </a:tc>
                <a:tc>
                  <a:txBody>
                    <a:bodyPr/>
                    <a:lstStyle/>
                    <a:p>
                      <a:pPr lvl="0" algn="ctr">
                        <a:buNone/>
                      </a:pPr>
                      <a:r>
                        <a:rPr lang="en-US" sz="2400" b="1" dirty="0">
                          <a:latin typeface="Arial"/>
                        </a:rPr>
                        <a:t>10/3=3.33</a:t>
                      </a:r>
                    </a:p>
                  </a:txBody>
                  <a:tcPr marL="91420" marR="91420" marT="45738" marB="45738">
                    <a:lnL w="12700">
                      <a:solidFill>
                        <a:schemeClr val="tx1"/>
                      </a:solidFill>
                    </a:lnL>
                    <a:lnT w="12700">
                      <a:solidFill>
                        <a:schemeClr val="tx1"/>
                      </a:solidFill>
                    </a:lnT>
                  </a:tcPr>
                </a:tc>
                <a:extLst>
                  <a:ext uri="{0D108BD9-81ED-4DB2-BD59-A6C34878D82A}">
                    <a16:rowId xmlns:a16="http://schemas.microsoft.com/office/drawing/2014/main" val="10002"/>
                  </a:ext>
                </a:extLst>
              </a:tr>
              <a:tr h="457375">
                <a:tc>
                  <a:txBody>
                    <a:bodyPr/>
                    <a:lstStyle/>
                    <a:p>
                      <a:pPr lvl="0" algn="ctr">
                        <a:buNone/>
                      </a:pPr>
                      <a:r>
                        <a:rPr lang="en-US" sz="2400" b="1" dirty="0">
                          <a:latin typeface="Arial"/>
                        </a:rPr>
                        <a:t>0</a:t>
                      </a:r>
                    </a:p>
                  </a:txBody>
                  <a:tcPr marL="91420" marR="91420" marT="45738" marB="45738">
                    <a:lnL w="12700">
                      <a:solidFill>
                        <a:schemeClr val="tx1"/>
                      </a:solidFill>
                    </a:lnL>
                    <a:lnB w="12700">
                      <a:solidFill>
                        <a:schemeClr val="tx1"/>
                      </a:solidFill>
                    </a:lnB>
                  </a:tcPr>
                </a:tc>
                <a:tc>
                  <a:txBody>
                    <a:bodyPr/>
                    <a:lstStyle/>
                    <a:p>
                      <a:pPr lvl="0" algn="ctr">
                        <a:buNone/>
                      </a:pPr>
                      <a:r>
                        <a:rPr lang="en-US" sz="2400" b="1" dirty="0">
                          <a:solidFill>
                            <a:schemeClr val="accent3"/>
                          </a:solidFill>
                          <a:latin typeface="Arial"/>
                        </a:rPr>
                        <a:t>s2</a:t>
                      </a:r>
                    </a:p>
                  </a:txBody>
                  <a:tcPr marL="91420" marR="91420" marT="45738" marB="45738">
                    <a:lnR w="12700">
                      <a:solidFill>
                        <a:schemeClr val="tx1"/>
                      </a:solidFill>
                    </a:lnR>
                    <a:lnB w="12700">
                      <a:solidFill>
                        <a:schemeClr val="tx1"/>
                      </a:solidFill>
                    </a:lnB>
                  </a:tcPr>
                </a:tc>
                <a:tc>
                  <a:txBody>
                    <a:bodyPr/>
                    <a:lstStyle/>
                    <a:p>
                      <a:pPr algn="ctr"/>
                      <a:r>
                        <a:rPr lang="en-US" sz="2400" b="1" dirty="0">
                          <a:latin typeface="Arial"/>
                        </a:rPr>
                        <a:t>1</a:t>
                      </a:r>
                    </a:p>
                  </a:txBody>
                  <a:tcPr marL="91420" marR="91420" marT="45738" marB="45738">
                    <a:lnL w="12700">
                      <a:solidFill>
                        <a:schemeClr val="tx1"/>
                      </a:solidFill>
                    </a:lnL>
                    <a:lnB w="12700">
                      <a:solidFill>
                        <a:schemeClr val="tx1"/>
                      </a:solidFill>
                    </a:lnB>
                  </a:tcPr>
                </a:tc>
                <a:tc>
                  <a:txBody>
                    <a:bodyPr/>
                    <a:lstStyle/>
                    <a:p>
                      <a:pPr algn="ctr"/>
                      <a:r>
                        <a:rPr lang="en-US" sz="2400" b="1" dirty="0">
                          <a:latin typeface="Arial"/>
                        </a:rPr>
                        <a:t>5</a:t>
                      </a:r>
                    </a:p>
                  </a:txBody>
                  <a:tcPr marL="91420" marR="91420" marT="45738" marB="45738">
                    <a:lnB w="12700">
                      <a:solidFill>
                        <a:schemeClr val="tx1"/>
                      </a:solidFill>
                    </a:lnB>
                  </a:tcPr>
                </a:tc>
                <a:tc>
                  <a:txBody>
                    <a:bodyPr/>
                    <a:lstStyle/>
                    <a:p>
                      <a:pPr algn="ctr"/>
                      <a:r>
                        <a:rPr lang="en-US" sz="2400" b="1" dirty="0">
                          <a:latin typeface="Arial"/>
                        </a:rPr>
                        <a:t>1</a:t>
                      </a:r>
                    </a:p>
                  </a:txBody>
                  <a:tcPr marL="91420" marR="91420" marT="45738" marB="45738">
                    <a:lnB w="12700">
                      <a:solidFill>
                        <a:schemeClr val="tx1"/>
                      </a:solidFill>
                    </a:lnB>
                  </a:tcPr>
                </a:tc>
                <a:tc>
                  <a:txBody>
                    <a:bodyPr/>
                    <a:lstStyle/>
                    <a:p>
                      <a:pPr algn="ctr"/>
                      <a:r>
                        <a:rPr lang="en-US" sz="2400" b="1" dirty="0">
                          <a:latin typeface="Arial"/>
                        </a:rPr>
                        <a:t>0</a:t>
                      </a:r>
                    </a:p>
                  </a:txBody>
                  <a:tcPr marL="91420" marR="91420" marT="45738" marB="45738">
                    <a:lnB w="12700">
                      <a:solidFill>
                        <a:schemeClr val="tx1"/>
                      </a:solidFill>
                    </a:lnB>
                  </a:tcPr>
                </a:tc>
                <a:tc>
                  <a:txBody>
                    <a:bodyPr/>
                    <a:lstStyle/>
                    <a:p>
                      <a:pPr algn="ctr"/>
                      <a:r>
                        <a:rPr lang="en-US" sz="2400" b="1" dirty="0">
                          <a:latin typeface="Arial"/>
                        </a:rPr>
                        <a:t>1</a:t>
                      </a:r>
                    </a:p>
                  </a:txBody>
                  <a:tcPr marL="91420" marR="91420" marT="45738" marB="45738">
                    <a:lnR w="12700">
                      <a:solidFill>
                        <a:schemeClr val="tx1"/>
                      </a:solidFill>
                    </a:lnR>
                    <a:lnB w="12700">
                      <a:solidFill>
                        <a:schemeClr val="tx1"/>
                      </a:solidFill>
                    </a:lnB>
                  </a:tcPr>
                </a:tc>
                <a:tc>
                  <a:txBody>
                    <a:bodyPr/>
                    <a:lstStyle/>
                    <a:p>
                      <a:pPr algn="ctr"/>
                      <a:r>
                        <a:rPr lang="en-US" sz="2400" b="1" dirty="0">
                          <a:latin typeface="Arial"/>
                        </a:rPr>
                        <a:t>8</a:t>
                      </a:r>
                    </a:p>
                  </a:txBody>
                  <a:tcPr marL="91420" marR="91420" marT="45738" marB="45738">
                    <a:lnL w="12700">
                      <a:solidFill>
                        <a:schemeClr val="tx1"/>
                      </a:solidFill>
                    </a:lnL>
                    <a:lnR w="12700">
                      <a:solidFill>
                        <a:schemeClr val="tx1"/>
                      </a:solidFill>
                    </a:lnR>
                    <a:lnB w="12700">
                      <a:solidFill>
                        <a:schemeClr val="tx1"/>
                      </a:solidFill>
                    </a:lnB>
                  </a:tcPr>
                </a:tc>
                <a:tc>
                  <a:txBody>
                    <a:bodyPr/>
                    <a:lstStyle/>
                    <a:p>
                      <a:pPr lvl="0" algn="ctr">
                        <a:buNone/>
                      </a:pPr>
                      <a:r>
                        <a:rPr lang="en-US" sz="2400" b="1" dirty="0">
                          <a:latin typeface="Arial"/>
                        </a:rPr>
                        <a:t>8/5=1.6</a:t>
                      </a:r>
                    </a:p>
                  </a:txBody>
                  <a:tcPr marL="91420" marR="91420" marT="45738" marB="45738">
                    <a:lnL w="12700">
                      <a:solidFill>
                        <a:schemeClr val="tx1"/>
                      </a:solidFill>
                    </a:lnL>
                    <a:lnB w="12700">
                      <a:solidFill>
                        <a:schemeClr val="tx1"/>
                      </a:solidFill>
                    </a:lnB>
                  </a:tcPr>
                </a:tc>
                <a:extLst>
                  <a:ext uri="{0D108BD9-81ED-4DB2-BD59-A6C34878D82A}">
                    <a16:rowId xmlns:a16="http://schemas.microsoft.com/office/drawing/2014/main" val="10003"/>
                  </a:ext>
                </a:extLst>
              </a:tr>
              <a:tr h="457375">
                <a:tc>
                  <a:txBody>
                    <a:bodyPr/>
                    <a:lstStyle/>
                    <a:p>
                      <a:pPr lvl="0" algn="ctr">
                        <a:buNone/>
                      </a:pPr>
                      <a:endParaRPr lang="en-US" sz="2400" b="1" dirty="0">
                        <a:latin typeface="Arial"/>
                      </a:endParaRPr>
                    </a:p>
                  </a:txBody>
                  <a:tcPr marL="91420" marR="91420" marT="45738" marB="45738">
                    <a:lnL w="12700">
                      <a:solidFill>
                        <a:schemeClr val="tx1"/>
                      </a:solidFill>
                    </a:lnL>
                    <a:lnT w="12700">
                      <a:solidFill>
                        <a:schemeClr val="tx1"/>
                      </a:solidFill>
                    </a:lnT>
                  </a:tcPr>
                </a:tc>
                <a:tc>
                  <a:txBody>
                    <a:bodyPr/>
                    <a:lstStyle/>
                    <a:p>
                      <a:pPr lvl="0" algn="ctr">
                        <a:buNone/>
                      </a:pPr>
                      <a:r>
                        <a:rPr lang="en-US" sz="2400" b="1" dirty="0" err="1">
                          <a:solidFill>
                            <a:schemeClr val="tx1"/>
                          </a:solidFill>
                          <a:latin typeface="Arial"/>
                        </a:rPr>
                        <a:t>z</a:t>
                      </a:r>
                      <a:r>
                        <a:rPr lang="en-US" sz="2400" b="1" baseline="-25000" dirty="0" err="1">
                          <a:solidFill>
                            <a:schemeClr val="tx1"/>
                          </a:solidFill>
                          <a:latin typeface="Arial"/>
                        </a:rPr>
                        <a:t>j</a:t>
                      </a:r>
                    </a:p>
                  </a:txBody>
                  <a:tcPr marL="91420" marR="91420" marT="45738" marB="45738">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0" marR="91420" marT="45738" marB="45738">
                    <a:lnL w="12700">
                      <a:solidFill>
                        <a:schemeClr val="tx1"/>
                      </a:solidFill>
                    </a:lnL>
                    <a:lnT w="12700">
                      <a:solidFill>
                        <a:schemeClr val="tx1"/>
                      </a:solidFill>
                    </a:lnT>
                  </a:tcPr>
                </a:tc>
                <a:tc>
                  <a:txBody>
                    <a:bodyPr/>
                    <a:lstStyle/>
                    <a:p>
                      <a:pPr lvl="0" algn="ctr">
                        <a:buNone/>
                      </a:pPr>
                      <a:r>
                        <a:rPr lang="en-US" sz="2400" b="1" dirty="0">
                          <a:latin typeface="Arial"/>
                        </a:rPr>
                        <a:t>0</a:t>
                      </a:r>
                    </a:p>
                  </a:txBody>
                  <a:tcPr marL="91420" marR="91420" marT="45738" marB="45738">
                    <a:lnT w="12700">
                      <a:solidFill>
                        <a:schemeClr val="tx1"/>
                      </a:solidFill>
                    </a:lnT>
                  </a:tcPr>
                </a:tc>
                <a:tc>
                  <a:txBody>
                    <a:bodyPr/>
                    <a:lstStyle/>
                    <a:p>
                      <a:pPr lvl="0" algn="ctr">
                        <a:buNone/>
                      </a:pPr>
                      <a:r>
                        <a:rPr lang="en-US" sz="2400" b="1" dirty="0">
                          <a:latin typeface="Arial"/>
                        </a:rPr>
                        <a:t>0</a:t>
                      </a:r>
                    </a:p>
                  </a:txBody>
                  <a:tcPr marL="91420" marR="91420" marT="45738" marB="45738">
                    <a:lnT w="12700">
                      <a:solidFill>
                        <a:schemeClr val="tx1"/>
                      </a:solidFill>
                    </a:lnT>
                  </a:tcPr>
                </a:tc>
                <a:tc>
                  <a:txBody>
                    <a:bodyPr/>
                    <a:lstStyle/>
                    <a:p>
                      <a:pPr lvl="0" algn="ctr">
                        <a:buNone/>
                      </a:pPr>
                      <a:r>
                        <a:rPr lang="en-US" sz="2400" b="1" dirty="0">
                          <a:latin typeface="Arial"/>
                        </a:rPr>
                        <a:t>0</a:t>
                      </a:r>
                    </a:p>
                  </a:txBody>
                  <a:tcPr marL="91420" marR="91420" marT="45738" marB="45738">
                    <a:lnT w="12700">
                      <a:solidFill>
                        <a:schemeClr val="tx1"/>
                      </a:solidFill>
                    </a:lnT>
                  </a:tcPr>
                </a:tc>
                <a:tc>
                  <a:txBody>
                    <a:bodyPr/>
                    <a:lstStyle/>
                    <a:p>
                      <a:pPr lvl="0" algn="ctr">
                        <a:buNone/>
                      </a:pPr>
                      <a:r>
                        <a:rPr lang="en-US" sz="2400" b="1" dirty="0">
                          <a:latin typeface="Arial"/>
                        </a:rPr>
                        <a:t>0</a:t>
                      </a:r>
                    </a:p>
                  </a:txBody>
                  <a:tcPr marL="91420" marR="91420" marT="45738" marB="45738">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20" marR="91420" marT="45738" marB="45738">
                    <a:lnL w="12700">
                      <a:solidFill>
                        <a:schemeClr val="tx1"/>
                      </a:solidFill>
                    </a:lnL>
                    <a:lnR w="12700">
                      <a:solidFill>
                        <a:schemeClr val="tx1"/>
                      </a:solidFill>
                    </a:lnR>
                    <a:lnT w="12700">
                      <a:solidFill>
                        <a:schemeClr val="tx1"/>
                      </a:solidFill>
                    </a:lnT>
                  </a:tcPr>
                </a:tc>
                <a:tc>
                  <a:txBody>
                    <a:bodyPr/>
                    <a:lstStyle/>
                    <a:p>
                      <a:pPr lvl="0" algn="ctr">
                        <a:buNone/>
                      </a:pPr>
                      <a:endParaRPr lang="en-US" sz="2400" b="1" dirty="0">
                        <a:latin typeface="Arial"/>
                      </a:endParaRPr>
                    </a:p>
                  </a:txBody>
                  <a:tcPr marL="91420" marR="91420" marT="45738" marB="45738">
                    <a:lnL w="12700">
                      <a:solidFill>
                        <a:schemeClr val="tx1"/>
                      </a:solidFill>
                    </a:lnL>
                    <a:lnT w="12700">
                      <a:solidFill>
                        <a:schemeClr val="tx1"/>
                      </a:solidFill>
                    </a:lnT>
                  </a:tcPr>
                </a:tc>
                <a:extLst>
                  <a:ext uri="{0D108BD9-81ED-4DB2-BD59-A6C34878D82A}">
                    <a16:rowId xmlns:a16="http://schemas.microsoft.com/office/drawing/2014/main" val="10004"/>
                  </a:ext>
                </a:extLst>
              </a:tr>
              <a:tr h="457375">
                <a:tc>
                  <a:txBody>
                    <a:bodyPr/>
                    <a:lstStyle/>
                    <a:p>
                      <a:pPr lvl="0" algn="ctr">
                        <a:buNone/>
                      </a:pPr>
                      <a:endParaRPr lang="en-US" sz="2400" b="1" dirty="0">
                        <a:latin typeface="Arial"/>
                      </a:endParaRPr>
                    </a:p>
                  </a:txBody>
                  <a:tcPr marL="91420" marR="91420" marT="45738" marB="45738">
                    <a:lnL w="12700">
                      <a:solidFill>
                        <a:schemeClr val="tx1"/>
                      </a:solidFill>
                    </a:lnL>
                  </a:tcPr>
                </a:tc>
                <a:tc>
                  <a:txBody>
                    <a:bodyPr/>
                    <a:lstStyle/>
                    <a:p>
                      <a:pPr lvl="0" algn="ctr">
                        <a:buNone/>
                      </a:pPr>
                      <a:r>
                        <a:rPr lang="en-US" sz="2800" b="1" i="0" u="none" strike="noStrike" baseline="-25000" noProof="0" dirty="0">
                          <a:solidFill>
                            <a:srgbClr val="000000"/>
                          </a:solidFill>
                          <a:latin typeface="Arial"/>
                        </a:rPr>
                        <a:t>Cj - </a:t>
                      </a:r>
                      <a:r>
                        <a:rPr lang="en-US" sz="2800" b="1" i="0" u="none" strike="noStrike" baseline="-25000" noProof="0" err="1">
                          <a:solidFill>
                            <a:srgbClr val="000000"/>
                          </a:solidFill>
                          <a:latin typeface="Arial"/>
                        </a:rPr>
                        <a:t>zj</a:t>
                      </a:r>
                      <a:endParaRPr lang="en-US" sz="2800" b="1" i="0" u="none" strike="noStrike" baseline="-25000" noProof="0" err="1">
                        <a:solidFill>
                          <a:schemeClr val="tx1"/>
                        </a:solidFill>
                        <a:latin typeface="Arial"/>
                      </a:endParaRPr>
                    </a:p>
                  </a:txBody>
                  <a:tcPr marL="91420" marR="91420" marT="45738" marB="45738" anchor="ctr">
                    <a:lnR w="12700">
                      <a:solidFill>
                        <a:schemeClr val="tx1"/>
                      </a:solidFill>
                    </a:lnR>
                  </a:tcPr>
                </a:tc>
                <a:tc>
                  <a:txBody>
                    <a:bodyPr/>
                    <a:lstStyle/>
                    <a:p>
                      <a:pPr lvl="0" algn="ctr">
                        <a:buNone/>
                      </a:pPr>
                      <a:r>
                        <a:rPr lang="en-US" sz="2400" b="1" dirty="0">
                          <a:latin typeface="Arial"/>
                        </a:rPr>
                        <a:t>8</a:t>
                      </a:r>
                    </a:p>
                  </a:txBody>
                  <a:tcPr marL="91420" marR="91420" marT="45738" marB="45738">
                    <a:lnL w="12700">
                      <a:solidFill>
                        <a:schemeClr val="tx1"/>
                      </a:solidFill>
                    </a:lnL>
                  </a:tcPr>
                </a:tc>
                <a:tc>
                  <a:txBody>
                    <a:bodyPr/>
                    <a:lstStyle/>
                    <a:p>
                      <a:pPr lvl="0" algn="ctr">
                        <a:buNone/>
                      </a:pPr>
                      <a:r>
                        <a:rPr lang="en-US" sz="2400" b="1" dirty="0">
                          <a:latin typeface="Arial"/>
                        </a:rPr>
                        <a:t>10</a:t>
                      </a:r>
                    </a:p>
                  </a:txBody>
                  <a:tcPr marL="91420" marR="91420" marT="45738" marB="45738"/>
                </a:tc>
                <a:tc>
                  <a:txBody>
                    <a:bodyPr/>
                    <a:lstStyle/>
                    <a:p>
                      <a:pPr lvl="0" algn="ctr">
                        <a:buNone/>
                      </a:pPr>
                      <a:r>
                        <a:rPr lang="en-US" sz="2400" b="1" dirty="0">
                          <a:latin typeface="Arial"/>
                        </a:rPr>
                        <a:t>7</a:t>
                      </a:r>
                    </a:p>
                  </a:txBody>
                  <a:tcPr marL="91420" marR="91420" marT="45738" marB="45738"/>
                </a:tc>
                <a:tc>
                  <a:txBody>
                    <a:bodyPr/>
                    <a:lstStyle/>
                    <a:p>
                      <a:pPr lvl="0" algn="ctr">
                        <a:buNone/>
                      </a:pPr>
                      <a:r>
                        <a:rPr lang="en-US" sz="2400" b="1" dirty="0">
                          <a:latin typeface="Arial"/>
                        </a:rPr>
                        <a:t>0</a:t>
                      </a:r>
                    </a:p>
                  </a:txBody>
                  <a:tcPr marL="91420" marR="91420" marT="45738" marB="45738"/>
                </a:tc>
                <a:tc>
                  <a:txBody>
                    <a:bodyPr/>
                    <a:lstStyle/>
                    <a:p>
                      <a:pPr lvl="0" algn="ctr">
                        <a:buNone/>
                      </a:pPr>
                      <a:r>
                        <a:rPr lang="en-US" sz="2400" b="1" dirty="0">
                          <a:latin typeface="Arial"/>
                        </a:rPr>
                        <a:t>0</a:t>
                      </a:r>
                    </a:p>
                  </a:txBody>
                  <a:tcPr marL="91420" marR="91420" marT="45738" marB="45738"/>
                </a:tc>
                <a:tc>
                  <a:txBody>
                    <a:bodyPr/>
                    <a:lstStyle/>
                    <a:p>
                      <a:pPr lvl="0" algn="ctr">
                        <a:buNone/>
                      </a:pPr>
                      <a:endParaRPr lang="en-US" sz="2400" b="1" dirty="0">
                        <a:latin typeface="Arial"/>
                      </a:endParaRPr>
                    </a:p>
                  </a:txBody>
                  <a:tcPr marL="91420" marR="91420" marT="45738" marB="45738"/>
                </a:tc>
                <a:tc>
                  <a:txBody>
                    <a:bodyPr/>
                    <a:lstStyle/>
                    <a:p>
                      <a:pPr lvl="0" algn="ctr">
                        <a:buNone/>
                      </a:pPr>
                      <a:endParaRPr lang="en-US" sz="2400" b="1" dirty="0">
                        <a:latin typeface="Arial"/>
                      </a:endParaRPr>
                    </a:p>
                  </a:txBody>
                  <a:tcPr marL="91420" marR="91420" marT="45738" marB="45738"/>
                </a:tc>
                <a:extLst>
                  <a:ext uri="{0D108BD9-81ED-4DB2-BD59-A6C34878D82A}">
                    <a16:rowId xmlns:a16="http://schemas.microsoft.com/office/drawing/2014/main" val="10005"/>
                  </a:ext>
                </a:extLst>
              </a:tr>
            </a:tbl>
          </a:graphicData>
        </a:graphic>
      </p:graphicFrame>
      <p:sp>
        <p:nvSpPr>
          <p:cNvPr id="8" name="Rectangle: Rounded Corners 7">
            <a:extLst>
              <a:ext uri="{FF2B5EF4-FFF2-40B4-BE49-F238E27FC236}">
                <a16:creationId xmlns:a16="http://schemas.microsoft.com/office/drawing/2014/main" id="{E2B4EC71-0B7B-BA1B-7028-D32651A6E97B}"/>
              </a:ext>
            </a:extLst>
          </p:cNvPr>
          <p:cNvSpPr/>
          <p:nvPr/>
        </p:nvSpPr>
        <p:spPr>
          <a:xfrm>
            <a:off x="5100638" y="3433763"/>
            <a:ext cx="698500" cy="431800"/>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Oval 8">
            <a:extLst>
              <a:ext uri="{FF2B5EF4-FFF2-40B4-BE49-F238E27FC236}">
                <a16:creationId xmlns:a16="http://schemas.microsoft.com/office/drawing/2014/main" id="{6EBBAC59-2E15-BF92-BC8C-CBE4896FFF3D}"/>
              </a:ext>
            </a:extLst>
          </p:cNvPr>
          <p:cNvSpPr/>
          <p:nvPr/>
        </p:nvSpPr>
        <p:spPr>
          <a:xfrm>
            <a:off x="5159375" y="2063750"/>
            <a:ext cx="457200" cy="838200"/>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9">
            <a:extLst>
              <a:ext uri="{FF2B5EF4-FFF2-40B4-BE49-F238E27FC236}">
                <a16:creationId xmlns:a16="http://schemas.microsoft.com/office/drawing/2014/main" id="{29194B8E-9345-7F9C-C0BC-DAC8BD904077}"/>
              </a:ext>
            </a:extLst>
          </p:cNvPr>
          <p:cNvSpPr/>
          <p:nvPr/>
        </p:nvSpPr>
        <p:spPr>
          <a:xfrm>
            <a:off x="4075113" y="2493963"/>
            <a:ext cx="4741862" cy="520700"/>
          </a:xfrm>
          <a:prstGeom prst="ellipse">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Rounded Corners 3">
            <a:extLst>
              <a:ext uri="{FF2B5EF4-FFF2-40B4-BE49-F238E27FC236}">
                <a16:creationId xmlns:a16="http://schemas.microsoft.com/office/drawing/2014/main" id="{B6DFDDA9-4635-E469-0377-4961CA5F6B0B}"/>
              </a:ext>
            </a:extLst>
          </p:cNvPr>
          <p:cNvSpPr/>
          <p:nvPr/>
        </p:nvSpPr>
        <p:spPr>
          <a:xfrm>
            <a:off x="9782175" y="2538413"/>
            <a:ext cx="1141413" cy="431800"/>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Google Shape;192;p32" descr="KL Deemed to be University Logo">
            <a:extLst>
              <a:ext uri="{FF2B5EF4-FFF2-40B4-BE49-F238E27FC236}">
                <a16:creationId xmlns:a16="http://schemas.microsoft.com/office/drawing/2014/main" id="{F020952C-E2DC-3C4D-0C88-3607CB24023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Google Shape;193;p32">
            <a:extLst>
              <a:ext uri="{FF2B5EF4-FFF2-40B4-BE49-F238E27FC236}">
                <a16:creationId xmlns:a16="http://schemas.microsoft.com/office/drawing/2014/main" id="{83855046-36E7-952C-ABB4-E686E6D7297A}"/>
              </a:ext>
            </a:extLst>
          </p:cNvPr>
          <p:cNvSpPr>
            <a:spLocks noChangeArrowheads="1"/>
          </p:cNvSpPr>
          <p:nvPr/>
        </p:nvSpPr>
        <p:spPr bwMode="auto">
          <a:xfrm>
            <a:off x="2654300" y="112713"/>
            <a:ext cx="7213600"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6: Create a New Tableau via Pivoting</a:t>
            </a:r>
          </a:p>
        </p:txBody>
      </p:sp>
      <p:pic>
        <p:nvPicPr>
          <p:cNvPr id="46084" name="Google Shape;194;p32" descr="KL Deemed to be University Logo">
            <a:extLst>
              <a:ext uri="{FF2B5EF4-FFF2-40B4-BE49-F238E27FC236}">
                <a16:creationId xmlns:a16="http://schemas.microsoft.com/office/drawing/2014/main" id="{E974DC7A-E6BB-A3C8-9161-F3CB7A360F8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 name="Google Shape;195;p32">
            <a:extLst>
              <a:ext uri="{FF2B5EF4-FFF2-40B4-BE49-F238E27FC236}">
                <a16:creationId xmlns:a16="http://schemas.microsoft.com/office/drawing/2014/main" id="{5441C3BA-35CA-AB5C-FD8E-C9522526DBB7}"/>
              </a:ext>
            </a:extLst>
          </p:cNvPr>
          <p:cNvSpPr txBox="1"/>
          <p:nvPr/>
        </p:nvSpPr>
        <p:spPr>
          <a:xfrm>
            <a:off x="330200" y="931863"/>
            <a:ext cx="6932613" cy="1108075"/>
          </a:xfrm>
          <a:prstGeom prst="rect">
            <a:avLst/>
          </a:prstGeom>
          <a:solidFill>
            <a:srgbClr val="FFFFFF"/>
          </a:solidFill>
          <a:ln>
            <a:noFill/>
          </a:ln>
        </p:spPr>
        <p:txBody>
          <a:bodyPr spcFirstLastPara="1" lIns="91425" tIns="91425" rIns="91425" bIns="91425">
            <a:spAutoFit/>
          </a:bodyPr>
          <a:lstStyle/>
          <a:p>
            <a:pPr marL="457200" indent="-355600" eaLnBrk="1" fontAlgn="auto" hangingPunct="1">
              <a:spcBef>
                <a:spcPts val="0"/>
              </a:spcBef>
              <a:spcAft>
                <a:spcPts val="0"/>
              </a:spcAft>
              <a:buSzPts val="2000"/>
              <a:buFont typeface="Arial"/>
              <a:buChar char="•"/>
              <a:defRPr/>
            </a:pPr>
            <a:r>
              <a:rPr lang="en-US" sz="2000" b="1" dirty="0">
                <a:solidFill>
                  <a:srgbClr val="FF00FF"/>
                </a:solidFill>
                <a:latin typeface="+mn-lt"/>
                <a:ea typeface="+mn-lt"/>
                <a:cs typeface="+mn-lt"/>
              </a:rPr>
              <a:t>Pivoting</a:t>
            </a:r>
            <a:r>
              <a:rPr lang="en-US" sz="2000" dirty="0">
                <a:latin typeface="Times New Roman"/>
                <a:cs typeface="Times New Roman"/>
              </a:rPr>
              <a:t> is a process (involving row operations) of </a:t>
            </a:r>
            <a:endParaRPr lang="en-US" sz="2000" dirty="0">
              <a:latin typeface="Gill Sans MT"/>
              <a:cs typeface="Times New Roman"/>
            </a:endParaRPr>
          </a:p>
          <a:p>
            <a:pPr marL="1016000" lvl="1" indent="-457200" eaLnBrk="1" fontAlgn="auto" hangingPunct="1">
              <a:spcBef>
                <a:spcPts val="0"/>
              </a:spcBef>
              <a:spcAft>
                <a:spcPts val="0"/>
              </a:spcAft>
              <a:buSzPts val="2000"/>
              <a:buFontTx/>
              <a:buAutoNum type="alphaLcParenR"/>
              <a:defRPr/>
            </a:pPr>
            <a:r>
              <a:rPr lang="en-US" sz="2000" dirty="0">
                <a:latin typeface="Times New Roman"/>
                <a:cs typeface="Times New Roman"/>
              </a:rPr>
              <a:t>obtaining a 1 in the location of the pivot element, and</a:t>
            </a:r>
            <a:endParaRPr lang="en-US" sz="2000" dirty="0">
              <a:latin typeface="Gill Sans MT"/>
              <a:cs typeface="Times New Roman"/>
            </a:endParaRPr>
          </a:p>
          <a:p>
            <a:pPr marL="1016000" lvl="1" indent="-457200" eaLnBrk="1" fontAlgn="auto" hangingPunct="1">
              <a:spcBef>
                <a:spcPts val="0"/>
              </a:spcBef>
              <a:spcAft>
                <a:spcPts val="0"/>
              </a:spcAft>
              <a:buSzPts val="2000"/>
              <a:buFontTx/>
              <a:buAutoNum type="alphaLcParenR"/>
              <a:defRPr/>
            </a:pPr>
            <a:r>
              <a:rPr lang="en-US" sz="2000" dirty="0">
                <a:latin typeface="Times New Roman"/>
                <a:cs typeface="Times New Roman"/>
              </a:rPr>
              <a:t>making all other entries zeros in that (pivot) column.</a:t>
            </a:r>
            <a:endParaRPr lang="en-US" sz="2000" dirty="0">
              <a:latin typeface="Gill Sans MT"/>
              <a:cs typeface="Times New Roman"/>
            </a:endParaRPr>
          </a:p>
        </p:txBody>
      </p:sp>
      <p:pic>
        <p:nvPicPr>
          <p:cNvPr id="46086" name="Google Shape;196;p32">
            <a:extLst>
              <a:ext uri="{FF2B5EF4-FFF2-40B4-BE49-F238E27FC236}">
                <a16:creationId xmlns:a16="http://schemas.microsoft.com/office/drawing/2014/main" id="{2BC7086E-7E9E-04DC-71A1-351E320FF5CF}"/>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7" name="Slide Number Placeholder 3">
            <a:extLst>
              <a:ext uri="{FF2B5EF4-FFF2-40B4-BE49-F238E27FC236}">
                <a16:creationId xmlns:a16="http://schemas.microsoft.com/office/drawing/2014/main" id="{1B82862C-13B0-4CC3-28D0-EA759314B819}"/>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B24BCF9E-E339-4E27-826C-EECFF73ADDC0}" type="slidenum">
              <a:rPr lang="en-IN" altLang="en-US" sz="2200" smtClean="0">
                <a:solidFill>
                  <a:schemeClr val="accent1"/>
                </a:solidFill>
              </a:rPr>
              <a:pPr>
                <a:lnSpc>
                  <a:spcPct val="100000"/>
                </a:lnSpc>
                <a:spcBef>
                  <a:spcPct val="0"/>
                </a:spcBef>
                <a:buClrTx/>
                <a:buSzTx/>
                <a:buFontTx/>
                <a:buNone/>
              </a:pPr>
              <a:t>17</a:t>
            </a:fld>
            <a:endParaRPr lang="en-IN" altLang="en-US" sz="2200">
              <a:solidFill>
                <a:schemeClr val="accent1"/>
              </a:solidFill>
            </a:endParaRPr>
          </a:p>
        </p:txBody>
      </p:sp>
      <p:sp>
        <p:nvSpPr>
          <p:cNvPr id="46088" name="Google Shape;195;p32">
            <a:extLst>
              <a:ext uri="{FF2B5EF4-FFF2-40B4-BE49-F238E27FC236}">
                <a16:creationId xmlns:a16="http://schemas.microsoft.com/office/drawing/2014/main" id="{F08D50C8-B6EB-4C12-E469-EFDDDA2C93A5}"/>
              </a:ext>
            </a:extLst>
          </p:cNvPr>
          <p:cNvSpPr txBox="1">
            <a:spLocks noChangeArrowheads="1"/>
          </p:cNvSpPr>
          <p:nvPr/>
        </p:nvSpPr>
        <p:spPr bwMode="auto">
          <a:xfrm>
            <a:off x="330200" y="4665663"/>
            <a:ext cx="11050588" cy="1416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101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Pts val="2000"/>
              <a:buFontTx/>
              <a:buNone/>
            </a:pPr>
            <a:r>
              <a:rPr lang="en-US" altLang="en-US">
                <a:latin typeface="Times New Roman" panose="02020603050405020304" pitchFamily="18" charset="0"/>
              </a:rPr>
              <a:t>a) Obtain a 1 in the location of the pivot element:</a:t>
            </a:r>
            <a:endParaRPr lang="en-US" altLang="en-US" sz="1800"/>
          </a:p>
          <a:p>
            <a:pPr eaLnBrk="1" hangingPunct="1">
              <a:lnSpc>
                <a:spcPct val="100000"/>
              </a:lnSpc>
              <a:spcBef>
                <a:spcPct val="0"/>
              </a:spcBef>
              <a:buClrTx/>
              <a:buSzPts val="2000"/>
              <a:buFontTx/>
              <a:buNone/>
            </a:pPr>
            <a:r>
              <a:rPr lang="en-US" altLang="en-US">
                <a:latin typeface="Times New Roman" panose="02020603050405020304" pitchFamily="18" charset="0"/>
                <a:cs typeface="Times New Roman" panose="02020603050405020304" pitchFamily="18" charset="0"/>
              </a:rPr>
              <a:t>The value of the pivot element was 5 in the old tableau. Divide every element of the pivot row (row 2 in our case) by the value of the pivot element, i.e., 5, to obtain a revised pivot row (shown in red colour). Now, the </a:t>
            </a:r>
            <a:r>
              <a:rPr lang="en-US" altLang="en-US">
                <a:solidFill>
                  <a:srgbClr val="FF0000"/>
                </a:solidFill>
                <a:latin typeface="Times New Roman" panose="02020603050405020304" pitchFamily="18" charset="0"/>
                <a:cs typeface="Times New Roman" panose="02020603050405020304" pitchFamily="18" charset="0"/>
              </a:rPr>
              <a:t>revised pivot</a:t>
            </a:r>
            <a:r>
              <a:rPr lang="en-US" altLang="en-US">
                <a:latin typeface="Times New Roman" panose="02020603050405020304" pitchFamily="18" charset="0"/>
                <a:cs typeface="Times New Roman" panose="02020603050405020304" pitchFamily="18" charset="0"/>
              </a:rPr>
              <a:t> has value 1 in the pivot column (x2 column).</a:t>
            </a:r>
          </a:p>
        </p:txBody>
      </p:sp>
      <p:graphicFrame>
        <p:nvGraphicFramePr>
          <p:cNvPr id="5" name="Table 11">
            <a:extLst>
              <a:ext uri="{FF2B5EF4-FFF2-40B4-BE49-F238E27FC236}">
                <a16:creationId xmlns:a16="http://schemas.microsoft.com/office/drawing/2014/main" id="{4DF1D9CB-BB24-4DB9-5A08-CFF410EB7741}"/>
              </a:ext>
            </a:extLst>
          </p:cNvPr>
          <p:cNvGraphicFramePr>
            <a:graphicFrameLocks noGrp="1"/>
          </p:cNvGraphicFramePr>
          <p:nvPr/>
        </p:nvGraphicFramePr>
        <p:xfrm>
          <a:off x="3287713" y="2135188"/>
          <a:ext cx="8642350" cy="2436812"/>
        </p:xfrm>
        <a:graphic>
          <a:graphicData uri="http://schemas.openxmlformats.org/drawingml/2006/table">
            <a:tbl>
              <a:tblPr firstRow="1" bandRow="1">
                <a:tableStyleId>{2D5ABB26-0587-4C30-8999-92F81FD0307C}</a:tableStyleId>
              </a:tblPr>
              <a:tblGrid>
                <a:gridCol w="872147">
                  <a:extLst>
                    <a:ext uri="{9D8B030D-6E8A-4147-A177-3AD203B41FA5}">
                      <a16:colId xmlns:a16="http://schemas.microsoft.com/office/drawing/2014/main" val="20000"/>
                    </a:ext>
                  </a:extLst>
                </a:gridCol>
                <a:gridCol w="1230142">
                  <a:extLst>
                    <a:ext uri="{9D8B030D-6E8A-4147-A177-3AD203B41FA5}">
                      <a16:colId xmlns:a16="http://schemas.microsoft.com/office/drawing/2014/main" val="20001"/>
                    </a:ext>
                  </a:extLst>
                </a:gridCol>
                <a:gridCol w="778497">
                  <a:extLst>
                    <a:ext uri="{9D8B030D-6E8A-4147-A177-3AD203B41FA5}">
                      <a16:colId xmlns:a16="http://schemas.microsoft.com/office/drawing/2014/main" val="20002"/>
                    </a:ext>
                  </a:extLst>
                </a:gridCol>
                <a:gridCol w="960261">
                  <a:extLst>
                    <a:ext uri="{9D8B030D-6E8A-4147-A177-3AD203B41FA5}">
                      <a16:colId xmlns:a16="http://schemas.microsoft.com/office/drawing/2014/main" val="20003"/>
                    </a:ext>
                  </a:extLst>
                </a:gridCol>
                <a:gridCol w="960261">
                  <a:extLst>
                    <a:ext uri="{9D8B030D-6E8A-4147-A177-3AD203B41FA5}">
                      <a16:colId xmlns:a16="http://schemas.microsoft.com/office/drawing/2014/main" val="20004"/>
                    </a:ext>
                  </a:extLst>
                </a:gridCol>
                <a:gridCol w="960261">
                  <a:extLst>
                    <a:ext uri="{9D8B030D-6E8A-4147-A177-3AD203B41FA5}">
                      <a16:colId xmlns:a16="http://schemas.microsoft.com/office/drawing/2014/main" val="20005"/>
                    </a:ext>
                  </a:extLst>
                </a:gridCol>
                <a:gridCol w="960261">
                  <a:extLst>
                    <a:ext uri="{9D8B030D-6E8A-4147-A177-3AD203B41FA5}">
                      <a16:colId xmlns:a16="http://schemas.microsoft.com/office/drawing/2014/main" val="20006"/>
                    </a:ext>
                  </a:extLst>
                </a:gridCol>
                <a:gridCol w="960261">
                  <a:extLst>
                    <a:ext uri="{9D8B030D-6E8A-4147-A177-3AD203B41FA5}">
                      <a16:colId xmlns:a16="http://schemas.microsoft.com/office/drawing/2014/main" val="20007"/>
                    </a:ext>
                  </a:extLst>
                </a:gridCol>
                <a:gridCol w="960261">
                  <a:extLst>
                    <a:ext uri="{9D8B030D-6E8A-4147-A177-3AD203B41FA5}">
                      <a16:colId xmlns:a16="http://schemas.microsoft.com/office/drawing/2014/main" val="20008"/>
                    </a:ext>
                  </a:extLst>
                </a:gridCol>
              </a:tblGrid>
              <a:tr h="496126">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27" marR="91427" marT="45723" marB="45723">
                    <a:lnR w="12700">
                      <a:solidFill>
                        <a:schemeClr val="tx1"/>
                      </a:solidFill>
                    </a:lnR>
                    <a:lnB w="12700">
                      <a:solidFill>
                        <a:schemeClr val="tx1"/>
                      </a:solidFill>
                    </a:lnB>
                  </a:tcPr>
                </a:tc>
                <a:tc>
                  <a:txBody>
                    <a:bodyPr/>
                    <a:lstStyle/>
                    <a:p>
                      <a:pPr algn="ctr"/>
                      <a:r>
                        <a:rPr lang="en-US" sz="1800" b="1" dirty="0">
                          <a:latin typeface="Arial"/>
                        </a:rPr>
                        <a:t>8</a:t>
                      </a:r>
                    </a:p>
                  </a:txBody>
                  <a:tcPr marL="91427" marR="91427" marT="45723" marB="45723">
                    <a:lnL w="12700">
                      <a:solidFill>
                        <a:schemeClr val="tx1"/>
                      </a:solidFill>
                    </a:lnL>
                    <a:lnB w="12700">
                      <a:solidFill>
                        <a:schemeClr val="tx1"/>
                      </a:solidFill>
                    </a:lnB>
                  </a:tcPr>
                </a:tc>
                <a:tc>
                  <a:txBody>
                    <a:bodyPr/>
                    <a:lstStyle/>
                    <a:p>
                      <a:pPr algn="ctr"/>
                      <a:r>
                        <a:rPr lang="en-US" sz="1800" b="1" dirty="0">
                          <a:latin typeface="Arial"/>
                        </a:rPr>
                        <a:t>10</a:t>
                      </a:r>
                    </a:p>
                  </a:txBody>
                  <a:tcPr marL="91427" marR="91427" marT="45723" marB="45723">
                    <a:lnB w="12700">
                      <a:solidFill>
                        <a:schemeClr val="tx1"/>
                      </a:solidFill>
                    </a:lnB>
                  </a:tcPr>
                </a:tc>
                <a:tc>
                  <a:txBody>
                    <a:bodyPr/>
                    <a:lstStyle/>
                    <a:p>
                      <a:pPr algn="ctr"/>
                      <a:r>
                        <a:rPr lang="en-US" sz="1800" b="1" dirty="0">
                          <a:latin typeface="Arial"/>
                        </a:rPr>
                        <a:t>7</a:t>
                      </a:r>
                    </a:p>
                  </a:txBody>
                  <a:tcPr marL="91427" marR="91427" marT="45723" marB="45723">
                    <a:lnB w="12700">
                      <a:solidFill>
                        <a:schemeClr val="tx1"/>
                      </a:solidFill>
                    </a:lnB>
                  </a:tcPr>
                </a:tc>
                <a:tc>
                  <a:txBody>
                    <a:bodyPr/>
                    <a:lstStyle/>
                    <a:p>
                      <a:pPr algn="ctr"/>
                      <a:r>
                        <a:rPr lang="en-US" sz="1800" b="1" dirty="0">
                          <a:latin typeface="Arial"/>
                        </a:rPr>
                        <a:t>0</a:t>
                      </a:r>
                    </a:p>
                  </a:txBody>
                  <a:tcPr marL="91427" marR="91427" marT="45723" marB="45723">
                    <a:lnB w="12700">
                      <a:solidFill>
                        <a:schemeClr val="tx1"/>
                      </a:solidFill>
                    </a:lnB>
                  </a:tcPr>
                </a:tc>
                <a:tc>
                  <a:txBody>
                    <a:bodyPr/>
                    <a:lstStyle/>
                    <a:p>
                      <a:pPr algn="ctr"/>
                      <a:r>
                        <a:rPr lang="en-US" sz="1800" b="1" dirty="0">
                          <a:latin typeface="Arial"/>
                        </a:rPr>
                        <a:t>0</a:t>
                      </a:r>
                    </a:p>
                  </a:txBody>
                  <a:tcPr marL="91427" marR="91427" marT="45723" marB="45723">
                    <a:lnR w="12700">
                      <a:solidFill>
                        <a:schemeClr val="tx1"/>
                      </a:solidFill>
                    </a:lnR>
                    <a:lnB w="12700">
                      <a:solidFill>
                        <a:schemeClr val="tx1"/>
                      </a:solidFill>
                    </a:lnB>
                  </a:tcPr>
                </a:tc>
                <a:tc>
                  <a:txBody>
                    <a:bodyPr/>
                    <a:lstStyle/>
                    <a:p>
                      <a:pPr algn="ctr"/>
                      <a:endParaRPr lang="en-US" sz="1800" b="1" dirty="0">
                        <a:latin typeface="Arial"/>
                      </a:endParaRPr>
                    </a:p>
                  </a:txBody>
                  <a:tcPr marL="91427" marR="91427" marT="45723" marB="4572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extLst>
                  <a:ext uri="{0D108BD9-81ED-4DB2-BD59-A6C34878D82A}">
                    <a16:rowId xmlns:a16="http://schemas.microsoft.com/office/drawing/2014/main" val="10000"/>
                  </a:ext>
                </a:extLst>
              </a:tr>
              <a:tr h="457230">
                <a:tc>
                  <a:txBody>
                    <a:bodyPr/>
                    <a:lstStyle/>
                    <a:p>
                      <a:pPr lvl="0" algn="ctr">
                        <a:buNone/>
                      </a:pPr>
                      <a:r>
                        <a:rPr lang="en-US" sz="1800" b="1" err="1">
                          <a:latin typeface="Arial"/>
                        </a:rPr>
                        <a:t>C</a:t>
                      </a:r>
                      <a:r>
                        <a:rPr lang="en-US" sz="1800" b="1" baseline="-25000" err="1">
                          <a:latin typeface="Arial"/>
                        </a:rPr>
                        <a:t>Bi</a:t>
                      </a:r>
                    </a:p>
                  </a:txBody>
                  <a:tcPr marL="91427" marR="9142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27" marR="9142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27" marR="9142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27" marR="9142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27" marR="91427" marT="45723" marB="45723">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ratio</a:t>
                      </a:r>
                    </a:p>
                  </a:txBody>
                  <a:tcPr marL="91427" marR="91427" marT="45723" marB="45723">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70865">
                <a:tc>
                  <a:txBody>
                    <a:bodyPr/>
                    <a:lstStyle/>
                    <a:p>
                      <a:pPr lvl="0" algn="ctr">
                        <a:buNone/>
                      </a:pPr>
                      <a:r>
                        <a:rPr lang="en-US" sz="1800" b="1" dirty="0">
                          <a:latin typeface="Arial"/>
                        </a:rPr>
                        <a:t>0</a:t>
                      </a:r>
                    </a:p>
                  </a:txBody>
                  <a:tcPr marL="91427" marR="91427" marT="45723" marB="45723">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27" marR="91427" marT="45723" marB="45723">
                    <a:lnR w="12700">
                      <a:solidFill>
                        <a:schemeClr val="tx1"/>
                      </a:solidFill>
                    </a:lnR>
                    <a:lnT w="12700">
                      <a:solidFill>
                        <a:schemeClr val="tx1"/>
                      </a:solidFill>
                    </a:lnT>
                  </a:tcPr>
                </a:tc>
                <a:tc>
                  <a:txBody>
                    <a:bodyPr/>
                    <a:lstStyle/>
                    <a:p>
                      <a:pPr algn="ctr"/>
                      <a:r>
                        <a:rPr lang="en-US" sz="1800" b="1" dirty="0">
                          <a:latin typeface="Arial"/>
                        </a:rPr>
                        <a:t>1</a:t>
                      </a:r>
                    </a:p>
                  </a:txBody>
                  <a:tcPr marL="91427" marR="91427" marT="45723" marB="45723">
                    <a:lnL w="12700">
                      <a:solidFill>
                        <a:schemeClr val="tx1"/>
                      </a:solidFill>
                    </a:lnL>
                    <a:lnT w="12700">
                      <a:solidFill>
                        <a:schemeClr val="tx1"/>
                      </a:solidFill>
                    </a:lnT>
                  </a:tcPr>
                </a:tc>
                <a:tc>
                  <a:txBody>
                    <a:bodyPr/>
                    <a:lstStyle/>
                    <a:p>
                      <a:pPr algn="ctr"/>
                      <a:r>
                        <a:rPr lang="en-US" sz="1800" b="1" dirty="0">
                          <a:latin typeface="Arial"/>
                        </a:rPr>
                        <a:t>3</a:t>
                      </a:r>
                    </a:p>
                  </a:txBody>
                  <a:tcPr marL="91427" marR="91427" marT="45723" marB="45723">
                    <a:lnT w="12700">
                      <a:solidFill>
                        <a:schemeClr val="tx1"/>
                      </a:solidFill>
                    </a:lnT>
                  </a:tcPr>
                </a:tc>
                <a:tc>
                  <a:txBody>
                    <a:bodyPr/>
                    <a:lstStyle/>
                    <a:p>
                      <a:pPr algn="ctr"/>
                      <a:r>
                        <a:rPr lang="en-US" sz="1800" b="1" dirty="0">
                          <a:latin typeface="Arial"/>
                        </a:rPr>
                        <a:t>2</a:t>
                      </a:r>
                    </a:p>
                  </a:txBody>
                  <a:tcPr marL="91427" marR="91427" marT="45723" marB="45723">
                    <a:lnT w="12700">
                      <a:solidFill>
                        <a:schemeClr val="tx1"/>
                      </a:solidFill>
                    </a:lnT>
                  </a:tcPr>
                </a:tc>
                <a:tc>
                  <a:txBody>
                    <a:bodyPr/>
                    <a:lstStyle/>
                    <a:p>
                      <a:pPr algn="ctr"/>
                      <a:r>
                        <a:rPr lang="en-US" sz="1800" b="1" dirty="0">
                          <a:latin typeface="Arial"/>
                        </a:rPr>
                        <a:t>1</a:t>
                      </a:r>
                    </a:p>
                  </a:txBody>
                  <a:tcPr marL="91427" marR="91427" marT="45723" marB="45723">
                    <a:lnT w="12700">
                      <a:solidFill>
                        <a:schemeClr val="tx1"/>
                      </a:solidFill>
                    </a:lnT>
                  </a:tcPr>
                </a:tc>
                <a:tc>
                  <a:txBody>
                    <a:bodyPr/>
                    <a:lstStyle/>
                    <a:p>
                      <a:pPr algn="ctr"/>
                      <a:r>
                        <a:rPr lang="en-US" sz="1800" b="1" dirty="0">
                          <a:latin typeface="Arial"/>
                        </a:rPr>
                        <a:t>0</a:t>
                      </a:r>
                    </a:p>
                  </a:txBody>
                  <a:tcPr marL="91427" marR="91427" marT="45723" marB="45723">
                    <a:lnR w="12700">
                      <a:solidFill>
                        <a:schemeClr val="tx1"/>
                      </a:solidFill>
                    </a:lnR>
                    <a:lnT w="12700">
                      <a:solidFill>
                        <a:schemeClr val="tx1"/>
                      </a:solidFill>
                    </a:lnT>
                  </a:tcPr>
                </a:tc>
                <a:tc>
                  <a:txBody>
                    <a:bodyPr/>
                    <a:lstStyle/>
                    <a:p>
                      <a:pPr algn="ctr"/>
                      <a:r>
                        <a:rPr lang="en-US" sz="1800" b="1" dirty="0">
                          <a:latin typeface="Arial"/>
                        </a:rPr>
                        <a:t>10</a:t>
                      </a:r>
                    </a:p>
                  </a:txBody>
                  <a:tcPr marL="91427" marR="91427" marT="45723" marB="4572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extLst>
                  <a:ext uri="{0D108BD9-81ED-4DB2-BD59-A6C34878D82A}">
                    <a16:rowId xmlns:a16="http://schemas.microsoft.com/office/drawing/2014/main" val="10002"/>
                  </a:ext>
                </a:extLst>
              </a:tr>
              <a:tr h="370865">
                <a:tc>
                  <a:txBody>
                    <a:bodyPr/>
                    <a:lstStyle/>
                    <a:p>
                      <a:pPr lvl="0" algn="ctr">
                        <a:buNone/>
                      </a:pPr>
                      <a:r>
                        <a:rPr lang="en-US" sz="1800" b="1" dirty="0">
                          <a:solidFill>
                            <a:srgbClr val="FF0000"/>
                          </a:solidFill>
                          <a:latin typeface="Arial"/>
                        </a:rPr>
                        <a:t>10</a:t>
                      </a:r>
                    </a:p>
                  </a:txBody>
                  <a:tcPr marL="91427" marR="91427" marT="45723" marB="45723">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x2</a:t>
                      </a:r>
                      <a:endParaRPr lang="en-US" sz="1800">
                        <a:solidFill>
                          <a:srgbClr val="FF0000"/>
                        </a:solidFill>
                      </a:endParaRPr>
                    </a:p>
                  </a:txBody>
                  <a:tcPr marL="91427" marR="91427" marT="45723" marB="45723">
                    <a:lnR w="12700">
                      <a:solidFill>
                        <a:schemeClr val="tx1"/>
                      </a:solidFill>
                    </a:lnR>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L w="12700">
                      <a:solidFill>
                        <a:schemeClr val="tx1"/>
                      </a:solidFill>
                    </a:lnL>
                    <a:lnB w="12700">
                      <a:solidFill>
                        <a:schemeClr val="tx1"/>
                      </a:solidFill>
                    </a:lnB>
                  </a:tcPr>
                </a:tc>
                <a:tc>
                  <a:txBody>
                    <a:bodyPr/>
                    <a:lstStyle/>
                    <a:p>
                      <a:pPr algn="ctr"/>
                      <a:r>
                        <a:rPr lang="en-US" sz="1800" b="1" dirty="0">
                          <a:solidFill>
                            <a:srgbClr val="FF0000"/>
                          </a:solidFill>
                          <a:latin typeface="Arial"/>
                        </a:rPr>
                        <a:t>1</a:t>
                      </a:r>
                    </a:p>
                  </a:txBody>
                  <a:tcPr marL="91427" marR="91427" marT="45723" marB="45723">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B w="12700">
                      <a:solidFill>
                        <a:schemeClr val="tx1"/>
                      </a:solidFill>
                    </a:lnB>
                  </a:tcPr>
                </a:tc>
                <a:tc>
                  <a:txBody>
                    <a:bodyPr/>
                    <a:lstStyle/>
                    <a:p>
                      <a:pPr algn="ctr"/>
                      <a:r>
                        <a:rPr lang="en-US" sz="1800" b="1" dirty="0">
                          <a:solidFill>
                            <a:srgbClr val="FF0000"/>
                          </a:solidFill>
                          <a:latin typeface="Arial"/>
                        </a:rPr>
                        <a:t>0</a:t>
                      </a:r>
                    </a:p>
                  </a:txBody>
                  <a:tcPr marL="91427" marR="91427" marT="45723" marB="45723">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R w="12700">
                      <a:solidFill>
                        <a:schemeClr val="tx1"/>
                      </a:solidFill>
                    </a:lnR>
                    <a:lnB w="12700">
                      <a:solidFill>
                        <a:schemeClr val="tx1"/>
                      </a:solidFill>
                    </a:lnB>
                  </a:tcPr>
                </a:tc>
                <a:tc>
                  <a:txBody>
                    <a:bodyPr/>
                    <a:lstStyle/>
                    <a:p>
                      <a:pPr algn="ctr"/>
                      <a:r>
                        <a:rPr lang="en-US" sz="1800" b="1" dirty="0">
                          <a:solidFill>
                            <a:srgbClr val="FF0000"/>
                          </a:solidFill>
                          <a:latin typeface="Arial"/>
                        </a:rPr>
                        <a:t>8/5</a:t>
                      </a:r>
                    </a:p>
                  </a:txBody>
                  <a:tcPr marL="91427" marR="91427" marT="45723" marB="4572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extLst>
                  <a:ext uri="{0D108BD9-81ED-4DB2-BD59-A6C34878D82A}">
                    <a16:rowId xmlns:a16="http://schemas.microsoft.com/office/drawing/2014/main" val="10003"/>
                  </a:ext>
                </a:extLst>
              </a:tr>
              <a:tr h="370864">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27" marR="91427" marT="45723" marB="45723">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extLst>
                  <a:ext uri="{0D108BD9-81ED-4DB2-BD59-A6C34878D82A}">
                    <a16:rowId xmlns:a16="http://schemas.microsoft.com/office/drawing/2014/main" val="10004"/>
                  </a:ext>
                </a:extLst>
              </a:tr>
              <a:tr h="370863">
                <a:tc>
                  <a:txBody>
                    <a:bodyPr/>
                    <a:lstStyle/>
                    <a:p>
                      <a:pPr lvl="0" algn="ctr">
                        <a:buNone/>
                      </a:pPr>
                      <a:endParaRPr lang="en-US" sz="1800" b="1" dirty="0">
                        <a:latin typeface="Arial"/>
                      </a:endParaRPr>
                    </a:p>
                  </a:txBody>
                  <a:tcPr marL="91427" marR="91427" marT="45723" marB="45723">
                    <a:lnL w="12700">
                      <a:solidFill>
                        <a:schemeClr val="tx1"/>
                      </a:solidFill>
                    </a:lnL>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27" marR="91427" marT="45723" marB="45723" anchor="ctr">
                    <a:lnR w="12700">
                      <a:solidFill>
                        <a:schemeClr val="tx1"/>
                      </a:solidFill>
                    </a:lnR>
                  </a:tcPr>
                </a:tc>
                <a:tc>
                  <a:txBody>
                    <a:bodyPr/>
                    <a:lstStyle/>
                    <a:p>
                      <a:pPr lvl="0" algn="ctr">
                        <a:buNone/>
                      </a:pPr>
                      <a:endParaRPr lang="en-US" sz="1800" b="1" dirty="0">
                        <a:latin typeface="Arial"/>
                      </a:endParaRPr>
                    </a:p>
                  </a:txBody>
                  <a:tcPr marL="91427" marR="91427" marT="45723" marB="45723">
                    <a:lnL w="12700">
                      <a:solidFill>
                        <a:schemeClr val="tx1"/>
                      </a:solidFill>
                    </a:lnL>
                  </a:tcPr>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extLst>
                  <a:ext uri="{0D108BD9-81ED-4DB2-BD59-A6C34878D82A}">
                    <a16:rowId xmlns:a16="http://schemas.microsoft.com/office/drawing/2014/main" val="10005"/>
                  </a:ext>
                </a:extLst>
              </a:tr>
            </a:tbl>
          </a:graphicData>
        </a:graphic>
      </p:graphicFrame>
      <p:sp>
        <p:nvSpPr>
          <p:cNvPr id="46151" name="TextBox 5">
            <a:extLst>
              <a:ext uri="{FF2B5EF4-FFF2-40B4-BE49-F238E27FC236}">
                <a16:creationId xmlns:a16="http://schemas.microsoft.com/office/drawing/2014/main" id="{AF4AC3B4-322D-0230-C2D9-F9D52A5DE99D}"/>
              </a:ext>
            </a:extLst>
          </p:cNvPr>
          <p:cNvSpPr txBox="1">
            <a:spLocks noChangeArrowheads="1"/>
          </p:cNvSpPr>
          <p:nvPr/>
        </p:nvSpPr>
        <p:spPr bwMode="auto">
          <a:xfrm>
            <a:off x="334963" y="3289300"/>
            <a:ext cx="1927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Old tableau with </a:t>
            </a:r>
            <a:r>
              <a:rPr lang="en-US" altLang="en-US" sz="1800">
                <a:solidFill>
                  <a:srgbClr val="FF0000"/>
                </a:solidFill>
              </a:rPr>
              <a:t>revised pivot row</a:t>
            </a:r>
          </a:p>
        </p:txBody>
      </p:sp>
      <p:sp>
        <p:nvSpPr>
          <p:cNvPr id="8" name="Arrow: Right 7">
            <a:extLst>
              <a:ext uri="{FF2B5EF4-FFF2-40B4-BE49-F238E27FC236}">
                <a16:creationId xmlns:a16="http://schemas.microsoft.com/office/drawing/2014/main" id="{7CF08382-3CB1-915D-B369-1E527E5CEDDF}"/>
              </a:ext>
            </a:extLst>
          </p:cNvPr>
          <p:cNvSpPr/>
          <p:nvPr/>
        </p:nvSpPr>
        <p:spPr>
          <a:xfrm>
            <a:off x="2076450" y="3467100"/>
            <a:ext cx="1165225" cy="287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Google Shape;192;p32" descr="KL Deemed to be University Logo">
            <a:extLst>
              <a:ext uri="{FF2B5EF4-FFF2-40B4-BE49-F238E27FC236}">
                <a16:creationId xmlns:a16="http://schemas.microsoft.com/office/drawing/2014/main" id="{B2A01EE0-1879-A70A-CF89-62DFE35F453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1" name="Google Shape;194;p32" descr="KL Deemed to be University Logo">
            <a:extLst>
              <a:ext uri="{FF2B5EF4-FFF2-40B4-BE49-F238E27FC236}">
                <a16:creationId xmlns:a16="http://schemas.microsoft.com/office/drawing/2014/main" id="{7D1636F4-4C52-A563-9B59-1DBF9DDB720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2" name="Google Shape;196;p32">
            <a:extLst>
              <a:ext uri="{FF2B5EF4-FFF2-40B4-BE49-F238E27FC236}">
                <a16:creationId xmlns:a16="http://schemas.microsoft.com/office/drawing/2014/main" id="{5FE92D60-28E1-BB69-C042-657202BD018C}"/>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Slide Number Placeholder 3">
            <a:extLst>
              <a:ext uri="{FF2B5EF4-FFF2-40B4-BE49-F238E27FC236}">
                <a16:creationId xmlns:a16="http://schemas.microsoft.com/office/drawing/2014/main" id="{77DF86B1-B56D-75BF-7AD5-FB613FCE063B}"/>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E6690503-0EF1-4482-A20B-A4C02C92AE6D}" type="slidenum">
              <a:rPr lang="en-IN" altLang="en-US" sz="2200" smtClean="0">
                <a:solidFill>
                  <a:schemeClr val="accent1"/>
                </a:solidFill>
              </a:rPr>
              <a:pPr>
                <a:lnSpc>
                  <a:spcPct val="100000"/>
                </a:lnSpc>
                <a:spcBef>
                  <a:spcPct val="0"/>
                </a:spcBef>
                <a:buClrTx/>
                <a:buSzTx/>
                <a:buFontTx/>
                <a:buNone/>
              </a:pPr>
              <a:t>18</a:t>
            </a:fld>
            <a:endParaRPr lang="en-IN" altLang="en-US" sz="2200">
              <a:solidFill>
                <a:schemeClr val="accent1"/>
              </a:solidFill>
            </a:endParaRPr>
          </a:p>
        </p:txBody>
      </p:sp>
      <p:sp>
        <p:nvSpPr>
          <p:cNvPr id="48134" name="Google Shape;195;p32">
            <a:extLst>
              <a:ext uri="{FF2B5EF4-FFF2-40B4-BE49-F238E27FC236}">
                <a16:creationId xmlns:a16="http://schemas.microsoft.com/office/drawing/2014/main" id="{8FFE9F83-0E04-DD22-9F55-252DECB9E996}"/>
              </a:ext>
            </a:extLst>
          </p:cNvPr>
          <p:cNvSpPr txBox="1">
            <a:spLocks noChangeArrowheads="1"/>
          </p:cNvSpPr>
          <p:nvPr/>
        </p:nvSpPr>
        <p:spPr bwMode="auto">
          <a:xfrm>
            <a:off x="323850" y="3946525"/>
            <a:ext cx="10525125" cy="2032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101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b) Via row operations, make all entries zero in the (pivot) column of all remaining (non-pivot) rows.</a:t>
            </a:r>
          </a:p>
          <a:p>
            <a:pPr eaLnBrk="1" hangingPunct="1">
              <a:lnSpc>
                <a:spcPct val="100000"/>
              </a:lnSpc>
              <a:spcBef>
                <a:spcPct val="0"/>
              </a:spcBef>
              <a:buClrTx/>
              <a:buSzTx/>
              <a:buFontTx/>
              <a:buNone/>
            </a:pPr>
            <a:endParaRPr lang="en-US" altLang="en-US">
              <a:latin typeface="Times New Roman" panose="02020603050405020304" pitchFamily="18" charset="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Let </a:t>
            </a:r>
            <a:r>
              <a:rPr lang="en-US" altLang="en-US" b="1">
                <a:solidFill>
                  <a:srgbClr val="C00000"/>
                </a:solidFill>
                <a:latin typeface="Times New Roman" panose="02020603050405020304" pitchFamily="18" charset="0"/>
                <a:cs typeface="Times New Roman" panose="02020603050405020304" pitchFamily="18" charset="0"/>
              </a:rPr>
              <a:t>n</a:t>
            </a:r>
            <a:r>
              <a:rPr lang="en-US" altLang="en-US">
                <a:latin typeface="Times New Roman" panose="02020603050405020304" pitchFamily="18" charset="0"/>
                <a:cs typeface="Times New Roman" panose="02020603050405020304" pitchFamily="18" charset="0"/>
              </a:rPr>
              <a:t> denote the value in the pivot column of a row. The new row is obtained by the following rule:</a:t>
            </a:r>
            <a:endParaRPr lang="en-US" altLang="en-US" sz="1800"/>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Value in the </a:t>
            </a:r>
            <a:r>
              <a:rPr lang="en-US" altLang="en-US" b="1">
                <a:latin typeface="Times New Roman" panose="02020603050405020304" pitchFamily="18" charset="0"/>
                <a:cs typeface="Times New Roman" panose="02020603050405020304" pitchFamily="18" charset="0"/>
              </a:rPr>
              <a:t>new</a:t>
            </a:r>
            <a:r>
              <a:rPr lang="en-US" altLang="en-US">
                <a:latin typeface="Times New Roman" panose="02020603050405020304" pitchFamily="18" charset="0"/>
                <a:cs typeface="Times New Roman" panose="02020603050405020304" pitchFamily="18" charset="0"/>
              </a:rPr>
              <a:t> row = value in the </a:t>
            </a:r>
            <a:r>
              <a:rPr lang="en-US" altLang="en-US" b="1">
                <a:latin typeface="Times New Roman" panose="02020603050405020304" pitchFamily="18" charset="0"/>
                <a:cs typeface="Times New Roman" panose="02020603050405020304" pitchFamily="18" charset="0"/>
              </a:rPr>
              <a:t>old</a:t>
            </a:r>
            <a:r>
              <a:rPr lang="en-US" altLang="en-US">
                <a:latin typeface="Times New Roman" panose="02020603050405020304" pitchFamily="18" charset="0"/>
                <a:cs typeface="Times New Roman" panose="02020603050405020304" pitchFamily="18" charset="0"/>
              </a:rPr>
              <a:t> row –</a:t>
            </a:r>
            <a:r>
              <a:rPr lang="en-US" altLang="en-US" b="1">
                <a:solidFill>
                  <a:srgbClr val="C00000"/>
                </a:solidFill>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 * value in the </a:t>
            </a:r>
            <a:r>
              <a:rPr lang="en-US" altLang="en-US" b="1">
                <a:latin typeface="Times New Roman" panose="02020603050405020304" pitchFamily="18" charset="0"/>
                <a:cs typeface="Times New Roman" panose="02020603050405020304" pitchFamily="18" charset="0"/>
              </a:rPr>
              <a:t>pivot</a:t>
            </a:r>
            <a:r>
              <a:rPr lang="en-US" altLang="en-US">
                <a:latin typeface="Times New Roman" panose="02020603050405020304" pitchFamily="18" charset="0"/>
                <a:cs typeface="Times New Roman" panose="02020603050405020304" pitchFamily="18" charset="0"/>
              </a:rPr>
              <a:t> row</a:t>
            </a:r>
          </a:p>
          <a:p>
            <a:pPr eaLnBrk="1" hangingPunct="1">
              <a:lnSpc>
                <a:spcPct val="100000"/>
              </a:lnSpc>
              <a:spcBef>
                <a:spcPct val="0"/>
              </a:spcBef>
              <a:buClrTx/>
              <a:buSzTx/>
              <a:buFontTx/>
              <a:buNone/>
            </a:pPr>
            <a:endParaRPr lang="en-US" altLang="en-US">
              <a:latin typeface="Times New Roman" panose="02020603050405020304" pitchFamily="18" charset="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In the next slide, the steps of revising the 1st row is illustrated.</a:t>
            </a:r>
          </a:p>
        </p:txBody>
      </p:sp>
      <p:graphicFrame>
        <p:nvGraphicFramePr>
          <p:cNvPr id="8" name="Table 11">
            <a:extLst>
              <a:ext uri="{FF2B5EF4-FFF2-40B4-BE49-F238E27FC236}">
                <a16:creationId xmlns:a16="http://schemas.microsoft.com/office/drawing/2014/main" id="{0DD4DCCC-F5A8-19AE-7743-D08C32A098EB}"/>
              </a:ext>
            </a:extLst>
          </p:cNvPr>
          <p:cNvGraphicFramePr>
            <a:graphicFrameLocks noGrp="1"/>
          </p:cNvGraphicFramePr>
          <p:nvPr/>
        </p:nvGraphicFramePr>
        <p:xfrm>
          <a:off x="3262313" y="331788"/>
          <a:ext cx="8642350" cy="2436812"/>
        </p:xfrm>
        <a:graphic>
          <a:graphicData uri="http://schemas.openxmlformats.org/drawingml/2006/table">
            <a:tbl>
              <a:tblPr firstRow="1" bandRow="1">
                <a:tableStyleId>{2D5ABB26-0587-4C30-8999-92F81FD0307C}</a:tableStyleId>
              </a:tblPr>
              <a:tblGrid>
                <a:gridCol w="872147">
                  <a:extLst>
                    <a:ext uri="{9D8B030D-6E8A-4147-A177-3AD203B41FA5}">
                      <a16:colId xmlns:a16="http://schemas.microsoft.com/office/drawing/2014/main" val="20000"/>
                    </a:ext>
                  </a:extLst>
                </a:gridCol>
                <a:gridCol w="1230142">
                  <a:extLst>
                    <a:ext uri="{9D8B030D-6E8A-4147-A177-3AD203B41FA5}">
                      <a16:colId xmlns:a16="http://schemas.microsoft.com/office/drawing/2014/main" val="20001"/>
                    </a:ext>
                  </a:extLst>
                </a:gridCol>
                <a:gridCol w="778497">
                  <a:extLst>
                    <a:ext uri="{9D8B030D-6E8A-4147-A177-3AD203B41FA5}">
                      <a16:colId xmlns:a16="http://schemas.microsoft.com/office/drawing/2014/main" val="20002"/>
                    </a:ext>
                  </a:extLst>
                </a:gridCol>
                <a:gridCol w="960261">
                  <a:extLst>
                    <a:ext uri="{9D8B030D-6E8A-4147-A177-3AD203B41FA5}">
                      <a16:colId xmlns:a16="http://schemas.microsoft.com/office/drawing/2014/main" val="20003"/>
                    </a:ext>
                  </a:extLst>
                </a:gridCol>
                <a:gridCol w="960261">
                  <a:extLst>
                    <a:ext uri="{9D8B030D-6E8A-4147-A177-3AD203B41FA5}">
                      <a16:colId xmlns:a16="http://schemas.microsoft.com/office/drawing/2014/main" val="20004"/>
                    </a:ext>
                  </a:extLst>
                </a:gridCol>
                <a:gridCol w="960261">
                  <a:extLst>
                    <a:ext uri="{9D8B030D-6E8A-4147-A177-3AD203B41FA5}">
                      <a16:colId xmlns:a16="http://schemas.microsoft.com/office/drawing/2014/main" val="20005"/>
                    </a:ext>
                  </a:extLst>
                </a:gridCol>
                <a:gridCol w="960261">
                  <a:extLst>
                    <a:ext uri="{9D8B030D-6E8A-4147-A177-3AD203B41FA5}">
                      <a16:colId xmlns:a16="http://schemas.microsoft.com/office/drawing/2014/main" val="20006"/>
                    </a:ext>
                  </a:extLst>
                </a:gridCol>
                <a:gridCol w="960261">
                  <a:extLst>
                    <a:ext uri="{9D8B030D-6E8A-4147-A177-3AD203B41FA5}">
                      <a16:colId xmlns:a16="http://schemas.microsoft.com/office/drawing/2014/main" val="20007"/>
                    </a:ext>
                  </a:extLst>
                </a:gridCol>
                <a:gridCol w="960261">
                  <a:extLst>
                    <a:ext uri="{9D8B030D-6E8A-4147-A177-3AD203B41FA5}">
                      <a16:colId xmlns:a16="http://schemas.microsoft.com/office/drawing/2014/main" val="20008"/>
                    </a:ext>
                  </a:extLst>
                </a:gridCol>
              </a:tblGrid>
              <a:tr h="496126">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27" marR="91427" marT="45723" marB="45723">
                    <a:lnR w="12700">
                      <a:solidFill>
                        <a:schemeClr val="tx1"/>
                      </a:solidFill>
                    </a:lnR>
                    <a:lnB w="12700">
                      <a:solidFill>
                        <a:schemeClr val="tx1"/>
                      </a:solidFill>
                    </a:lnB>
                  </a:tcPr>
                </a:tc>
                <a:tc>
                  <a:txBody>
                    <a:bodyPr/>
                    <a:lstStyle/>
                    <a:p>
                      <a:pPr algn="ctr"/>
                      <a:r>
                        <a:rPr lang="en-US" sz="1800" b="1" dirty="0">
                          <a:latin typeface="Arial"/>
                        </a:rPr>
                        <a:t>8</a:t>
                      </a:r>
                    </a:p>
                  </a:txBody>
                  <a:tcPr marL="91427" marR="91427" marT="45723" marB="45723">
                    <a:lnL w="12700">
                      <a:solidFill>
                        <a:schemeClr val="tx1"/>
                      </a:solidFill>
                    </a:lnL>
                    <a:lnB w="12700">
                      <a:solidFill>
                        <a:schemeClr val="tx1"/>
                      </a:solidFill>
                    </a:lnB>
                  </a:tcPr>
                </a:tc>
                <a:tc>
                  <a:txBody>
                    <a:bodyPr/>
                    <a:lstStyle/>
                    <a:p>
                      <a:pPr algn="ctr"/>
                      <a:r>
                        <a:rPr lang="en-US" sz="1800" b="1" dirty="0">
                          <a:latin typeface="Arial"/>
                        </a:rPr>
                        <a:t>10</a:t>
                      </a:r>
                    </a:p>
                  </a:txBody>
                  <a:tcPr marL="91427" marR="91427" marT="45723" marB="45723">
                    <a:lnB w="12700">
                      <a:solidFill>
                        <a:schemeClr val="tx1"/>
                      </a:solidFill>
                    </a:lnB>
                  </a:tcPr>
                </a:tc>
                <a:tc>
                  <a:txBody>
                    <a:bodyPr/>
                    <a:lstStyle/>
                    <a:p>
                      <a:pPr algn="ctr"/>
                      <a:r>
                        <a:rPr lang="en-US" sz="1800" b="1" dirty="0">
                          <a:latin typeface="Arial"/>
                        </a:rPr>
                        <a:t>7</a:t>
                      </a:r>
                    </a:p>
                  </a:txBody>
                  <a:tcPr marL="91427" marR="91427" marT="45723" marB="45723">
                    <a:lnB w="12700">
                      <a:solidFill>
                        <a:schemeClr val="tx1"/>
                      </a:solidFill>
                    </a:lnB>
                  </a:tcPr>
                </a:tc>
                <a:tc>
                  <a:txBody>
                    <a:bodyPr/>
                    <a:lstStyle/>
                    <a:p>
                      <a:pPr algn="ctr"/>
                      <a:r>
                        <a:rPr lang="en-US" sz="1800" b="1" dirty="0">
                          <a:latin typeface="Arial"/>
                        </a:rPr>
                        <a:t>0</a:t>
                      </a:r>
                    </a:p>
                  </a:txBody>
                  <a:tcPr marL="91427" marR="91427" marT="45723" marB="45723">
                    <a:lnB w="12700">
                      <a:solidFill>
                        <a:schemeClr val="tx1"/>
                      </a:solidFill>
                    </a:lnB>
                  </a:tcPr>
                </a:tc>
                <a:tc>
                  <a:txBody>
                    <a:bodyPr/>
                    <a:lstStyle/>
                    <a:p>
                      <a:pPr algn="ctr"/>
                      <a:r>
                        <a:rPr lang="en-US" sz="1800" b="1" dirty="0">
                          <a:latin typeface="Arial"/>
                        </a:rPr>
                        <a:t>0</a:t>
                      </a:r>
                    </a:p>
                  </a:txBody>
                  <a:tcPr marL="91427" marR="91427" marT="45723" marB="45723">
                    <a:lnR w="12700">
                      <a:solidFill>
                        <a:schemeClr val="tx1"/>
                      </a:solidFill>
                    </a:lnR>
                    <a:lnB w="12700">
                      <a:solidFill>
                        <a:schemeClr val="tx1"/>
                      </a:solidFill>
                    </a:lnB>
                  </a:tcPr>
                </a:tc>
                <a:tc>
                  <a:txBody>
                    <a:bodyPr/>
                    <a:lstStyle/>
                    <a:p>
                      <a:pPr algn="ctr"/>
                      <a:endParaRPr lang="en-US" sz="1800" b="1" dirty="0">
                        <a:latin typeface="Arial"/>
                      </a:endParaRPr>
                    </a:p>
                  </a:txBody>
                  <a:tcPr marL="91427" marR="91427" marT="45723" marB="4572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extLst>
                  <a:ext uri="{0D108BD9-81ED-4DB2-BD59-A6C34878D82A}">
                    <a16:rowId xmlns:a16="http://schemas.microsoft.com/office/drawing/2014/main" val="10000"/>
                  </a:ext>
                </a:extLst>
              </a:tr>
              <a:tr h="457230">
                <a:tc>
                  <a:txBody>
                    <a:bodyPr/>
                    <a:lstStyle/>
                    <a:p>
                      <a:pPr lvl="0" algn="ctr">
                        <a:buNone/>
                      </a:pPr>
                      <a:r>
                        <a:rPr lang="en-US" sz="1800" b="1" err="1">
                          <a:latin typeface="Arial"/>
                        </a:rPr>
                        <a:t>C</a:t>
                      </a:r>
                      <a:r>
                        <a:rPr lang="en-US" sz="1800" b="1" baseline="-25000" err="1">
                          <a:latin typeface="Arial"/>
                        </a:rPr>
                        <a:t>Bi</a:t>
                      </a:r>
                    </a:p>
                  </a:txBody>
                  <a:tcPr marL="91427" marR="9142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27" marR="9142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27" marR="9142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27" marR="9142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27" marR="91427" marT="45723" marB="45723">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ratio</a:t>
                      </a:r>
                    </a:p>
                  </a:txBody>
                  <a:tcPr marL="91427" marR="91427" marT="45723" marB="45723">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70865">
                <a:tc>
                  <a:txBody>
                    <a:bodyPr/>
                    <a:lstStyle/>
                    <a:p>
                      <a:pPr lvl="0" algn="ctr">
                        <a:buNone/>
                      </a:pPr>
                      <a:r>
                        <a:rPr lang="en-US" sz="1800" b="1" dirty="0">
                          <a:latin typeface="Arial"/>
                        </a:rPr>
                        <a:t>0</a:t>
                      </a:r>
                    </a:p>
                  </a:txBody>
                  <a:tcPr marL="91427" marR="91427" marT="45723" marB="45723">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27" marR="91427" marT="45723" marB="45723">
                    <a:lnR w="12700">
                      <a:solidFill>
                        <a:schemeClr val="tx1"/>
                      </a:solidFill>
                    </a:lnR>
                    <a:lnT w="12700">
                      <a:solidFill>
                        <a:schemeClr val="tx1"/>
                      </a:solidFill>
                    </a:lnT>
                  </a:tcPr>
                </a:tc>
                <a:tc>
                  <a:txBody>
                    <a:bodyPr/>
                    <a:lstStyle/>
                    <a:p>
                      <a:pPr algn="ctr"/>
                      <a:r>
                        <a:rPr lang="en-US" sz="1800" b="1" dirty="0">
                          <a:latin typeface="Arial"/>
                        </a:rPr>
                        <a:t>1</a:t>
                      </a:r>
                    </a:p>
                  </a:txBody>
                  <a:tcPr marL="91427" marR="91427" marT="45723" marB="45723">
                    <a:lnL w="12700">
                      <a:solidFill>
                        <a:schemeClr val="tx1"/>
                      </a:solidFill>
                    </a:lnL>
                    <a:lnT w="12700">
                      <a:solidFill>
                        <a:schemeClr val="tx1"/>
                      </a:solidFill>
                    </a:lnT>
                  </a:tcPr>
                </a:tc>
                <a:tc>
                  <a:txBody>
                    <a:bodyPr/>
                    <a:lstStyle/>
                    <a:p>
                      <a:pPr algn="ctr"/>
                      <a:r>
                        <a:rPr lang="en-US" sz="1800" b="1" dirty="0">
                          <a:latin typeface="Arial"/>
                        </a:rPr>
                        <a:t>3</a:t>
                      </a:r>
                    </a:p>
                  </a:txBody>
                  <a:tcPr marL="91427" marR="91427" marT="45723" marB="45723">
                    <a:lnT w="12700">
                      <a:solidFill>
                        <a:schemeClr val="tx1"/>
                      </a:solidFill>
                    </a:lnT>
                  </a:tcPr>
                </a:tc>
                <a:tc>
                  <a:txBody>
                    <a:bodyPr/>
                    <a:lstStyle/>
                    <a:p>
                      <a:pPr algn="ctr"/>
                      <a:r>
                        <a:rPr lang="en-US" sz="1800" b="1" dirty="0">
                          <a:latin typeface="Arial"/>
                        </a:rPr>
                        <a:t>2</a:t>
                      </a:r>
                    </a:p>
                  </a:txBody>
                  <a:tcPr marL="91427" marR="91427" marT="45723" marB="45723">
                    <a:lnT w="12700">
                      <a:solidFill>
                        <a:schemeClr val="tx1"/>
                      </a:solidFill>
                    </a:lnT>
                  </a:tcPr>
                </a:tc>
                <a:tc>
                  <a:txBody>
                    <a:bodyPr/>
                    <a:lstStyle/>
                    <a:p>
                      <a:pPr algn="ctr"/>
                      <a:r>
                        <a:rPr lang="en-US" sz="1800" b="1" dirty="0">
                          <a:latin typeface="Arial"/>
                        </a:rPr>
                        <a:t>1</a:t>
                      </a:r>
                    </a:p>
                  </a:txBody>
                  <a:tcPr marL="91427" marR="91427" marT="45723" marB="45723">
                    <a:lnT w="12700">
                      <a:solidFill>
                        <a:schemeClr val="tx1"/>
                      </a:solidFill>
                    </a:lnT>
                  </a:tcPr>
                </a:tc>
                <a:tc>
                  <a:txBody>
                    <a:bodyPr/>
                    <a:lstStyle/>
                    <a:p>
                      <a:pPr algn="ctr"/>
                      <a:r>
                        <a:rPr lang="en-US" sz="1800" b="1" dirty="0">
                          <a:latin typeface="Arial"/>
                        </a:rPr>
                        <a:t>0</a:t>
                      </a:r>
                    </a:p>
                  </a:txBody>
                  <a:tcPr marL="91427" marR="91427" marT="45723" marB="45723">
                    <a:lnR w="12700">
                      <a:solidFill>
                        <a:schemeClr val="tx1"/>
                      </a:solidFill>
                    </a:lnR>
                    <a:lnT w="12700">
                      <a:solidFill>
                        <a:schemeClr val="tx1"/>
                      </a:solidFill>
                    </a:lnT>
                  </a:tcPr>
                </a:tc>
                <a:tc>
                  <a:txBody>
                    <a:bodyPr/>
                    <a:lstStyle/>
                    <a:p>
                      <a:pPr algn="ctr"/>
                      <a:r>
                        <a:rPr lang="en-US" sz="1800" b="1" dirty="0">
                          <a:latin typeface="Arial"/>
                        </a:rPr>
                        <a:t>10</a:t>
                      </a:r>
                    </a:p>
                  </a:txBody>
                  <a:tcPr marL="91427" marR="91427" marT="45723" marB="4572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extLst>
                  <a:ext uri="{0D108BD9-81ED-4DB2-BD59-A6C34878D82A}">
                    <a16:rowId xmlns:a16="http://schemas.microsoft.com/office/drawing/2014/main" val="10002"/>
                  </a:ext>
                </a:extLst>
              </a:tr>
              <a:tr h="370865">
                <a:tc>
                  <a:txBody>
                    <a:bodyPr/>
                    <a:lstStyle/>
                    <a:p>
                      <a:pPr lvl="0" algn="ctr">
                        <a:buNone/>
                      </a:pPr>
                      <a:r>
                        <a:rPr lang="en-US" sz="1800" b="1" dirty="0">
                          <a:solidFill>
                            <a:srgbClr val="FF0000"/>
                          </a:solidFill>
                          <a:latin typeface="Arial"/>
                        </a:rPr>
                        <a:t>10</a:t>
                      </a:r>
                    </a:p>
                  </a:txBody>
                  <a:tcPr marL="91427" marR="91427" marT="45723" marB="45723">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x2</a:t>
                      </a:r>
                      <a:endParaRPr lang="en-US" sz="1800">
                        <a:solidFill>
                          <a:srgbClr val="FF0000"/>
                        </a:solidFill>
                      </a:endParaRPr>
                    </a:p>
                  </a:txBody>
                  <a:tcPr marL="91427" marR="91427" marT="45723" marB="45723">
                    <a:lnR w="12700">
                      <a:solidFill>
                        <a:schemeClr val="tx1"/>
                      </a:solidFill>
                    </a:lnR>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L w="12700">
                      <a:solidFill>
                        <a:schemeClr val="tx1"/>
                      </a:solidFill>
                    </a:lnL>
                    <a:lnB w="12700">
                      <a:solidFill>
                        <a:schemeClr val="tx1"/>
                      </a:solidFill>
                    </a:lnB>
                  </a:tcPr>
                </a:tc>
                <a:tc>
                  <a:txBody>
                    <a:bodyPr/>
                    <a:lstStyle/>
                    <a:p>
                      <a:pPr algn="ctr"/>
                      <a:r>
                        <a:rPr lang="en-US" sz="1800" b="1" dirty="0">
                          <a:solidFill>
                            <a:srgbClr val="FF0000"/>
                          </a:solidFill>
                          <a:latin typeface="Arial"/>
                        </a:rPr>
                        <a:t>1</a:t>
                      </a:r>
                    </a:p>
                  </a:txBody>
                  <a:tcPr marL="91427" marR="91427" marT="45723" marB="45723">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B w="12700">
                      <a:solidFill>
                        <a:schemeClr val="tx1"/>
                      </a:solidFill>
                    </a:lnB>
                  </a:tcPr>
                </a:tc>
                <a:tc>
                  <a:txBody>
                    <a:bodyPr/>
                    <a:lstStyle/>
                    <a:p>
                      <a:pPr algn="ctr"/>
                      <a:r>
                        <a:rPr lang="en-US" sz="1800" b="1" dirty="0">
                          <a:solidFill>
                            <a:srgbClr val="FF0000"/>
                          </a:solidFill>
                          <a:latin typeface="Arial"/>
                        </a:rPr>
                        <a:t>0</a:t>
                      </a:r>
                    </a:p>
                  </a:txBody>
                  <a:tcPr marL="91427" marR="91427" marT="45723" marB="45723">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R w="12700">
                      <a:solidFill>
                        <a:schemeClr val="tx1"/>
                      </a:solidFill>
                    </a:lnR>
                    <a:lnB w="12700">
                      <a:solidFill>
                        <a:schemeClr val="tx1"/>
                      </a:solidFill>
                    </a:lnB>
                  </a:tcPr>
                </a:tc>
                <a:tc>
                  <a:txBody>
                    <a:bodyPr/>
                    <a:lstStyle/>
                    <a:p>
                      <a:pPr algn="ctr"/>
                      <a:r>
                        <a:rPr lang="en-US" sz="1800" b="1" dirty="0">
                          <a:solidFill>
                            <a:srgbClr val="FF0000"/>
                          </a:solidFill>
                          <a:latin typeface="Arial"/>
                        </a:rPr>
                        <a:t>8/5</a:t>
                      </a:r>
                    </a:p>
                  </a:txBody>
                  <a:tcPr marL="91427" marR="91427" marT="45723" marB="4572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extLst>
                  <a:ext uri="{0D108BD9-81ED-4DB2-BD59-A6C34878D82A}">
                    <a16:rowId xmlns:a16="http://schemas.microsoft.com/office/drawing/2014/main" val="10003"/>
                  </a:ext>
                </a:extLst>
              </a:tr>
              <a:tr h="370864">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27" marR="91427" marT="45723" marB="45723">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extLst>
                  <a:ext uri="{0D108BD9-81ED-4DB2-BD59-A6C34878D82A}">
                    <a16:rowId xmlns:a16="http://schemas.microsoft.com/office/drawing/2014/main" val="10004"/>
                  </a:ext>
                </a:extLst>
              </a:tr>
              <a:tr h="370863">
                <a:tc>
                  <a:txBody>
                    <a:bodyPr/>
                    <a:lstStyle/>
                    <a:p>
                      <a:pPr lvl="0" algn="ctr">
                        <a:buNone/>
                      </a:pPr>
                      <a:endParaRPr lang="en-US" sz="1800" b="1" dirty="0">
                        <a:latin typeface="Arial"/>
                      </a:endParaRPr>
                    </a:p>
                  </a:txBody>
                  <a:tcPr marL="91427" marR="91427" marT="45723" marB="45723">
                    <a:lnL w="12700">
                      <a:solidFill>
                        <a:schemeClr val="tx1"/>
                      </a:solidFill>
                    </a:lnL>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27" marR="91427" marT="45723" marB="45723" anchor="ctr">
                    <a:lnR w="12700">
                      <a:solidFill>
                        <a:schemeClr val="tx1"/>
                      </a:solidFill>
                    </a:lnR>
                  </a:tcPr>
                </a:tc>
                <a:tc>
                  <a:txBody>
                    <a:bodyPr/>
                    <a:lstStyle/>
                    <a:p>
                      <a:pPr lvl="0" algn="ctr">
                        <a:buNone/>
                      </a:pPr>
                      <a:endParaRPr lang="en-US" sz="1800" b="1" dirty="0">
                        <a:latin typeface="Arial"/>
                      </a:endParaRPr>
                    </a:p>
                  </a:txBody>
                  <a:tcPr marL="91427" marR="91427" marT="45723" marB="45723">
                    <a:lnL w="12700">
                      <a:solidFill>
                        <a:schemeClr val="tx1"/>
                      </a:solidFill>
                    </a:lnL>
                  </a:tcPr>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extLst>
                  <a:ext uri="{0D108BD9-81ED-4DB2-BD59-A6C34878D82A}">
                    <a16:rowId xmlns:a16="http://schemas.microsoft.com/office/drawing/2014/main" val="10005"/>
                  </a:ext>
                </a:extLst>
              </a:tr>
            </a:tbl>
          </a:graphicData>
        </a:graphic>
      </p:graphicFrame>
      <p:sp>
        <p:nvSpPr>
          <p:cNvPr id="48197" name="TextBox 9">
            <a:extLst>
              <a:ext uri="{FF2B5EF4-FFF2-40B4-BE49-F238E27FC236}">
                <a16:creationId xmlns:a16="http://schemas.microsoft.com/office/drawing/2014/main" id="{48FA5DFE-23A2-998E-B590-978762BD28AE}"/>
              </a:ext>
            </a:extLst>
          </p:cNvPr>
          <p:cNvSpPr txBox="1">
            <a:spLocks noChangeArrowheads="1"/>
          </p:cNvSpPr>
          <p:nvPr/>
        </p:nvSpPr>
        <p:spPr bwMode="auto">
          <a:xfrm>
            <a:off x="309563" y="1485900"/>
            <a:ext cx="1927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Old tableau with </a:t>
            </a:r>
            <a:r>
              <a:rPr lang="en-US" altLang="en-US" sz="1800">
                <a:solidFill>
                  <a:srgbClr val="FF0000"/>
                </a:solidFill>
              </a:rPr>
              <a:t>revised pivot row</a:t>
            </a:r>
          </a:p>
        </p:txBody>
      </p:sp>
      <p:sp>
        <p:nvSpPr>
          <p:cNvPr id="12" name="Arrow: Right 11">
            <a:extLst>
              <a:ext uri="{FF2B5EF4-FFF2-40B4-BE49-F238E27FC236}">
                <a16:creationId xmlns:a16="http://schemas.microsoft.com/office/drawing/2014/main" id="{4D2A6881-A4A1-4B6D-B3C8-A843D84DE72A}"/>
              </a:ext>
            </a:extLst>
          </p:cNvPr>
          <p:cNvSpPr/>
          <p:nvPr/>
        </p:nvSpPr>
        <p:spPr>
          <a:xfrm>
            <a:off x="2051050" y="1663700"/>
            <a:ext cx="1165225" cy="287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Google Shape;192;p32" descr="KL Deemed to be University Logo">
            <a:extLst>
              <a:ext uri="{FF2B5EF4-FFF2-40B4-BE49-F238E27FC236}">
                <a16:creationId xmlns:a16="http://schemas.microsoft.com/office/drawing/2014/main" id="{5B693C73-FE7C-1802-6933-654BA414EB2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9" name="Google Shape;194;p32" descr="KL Deemed to be University Logo">
            <a:extLst>
              <a:ext uri="{FF2B5EF4-FFF2-40B4-BE49-F238E27FC236}">
                <a16:creationId xmlns:a16="http://schemas.microsoft.com/office/drawing/2014/main" id="{BCB2995B-AB3A-6E50-6211-53B46C4FEBFE}"/>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Google Shape;196;p32">
            <a:extLst>
              <a:ext uri="{FF2B5EF4-FFF2-40B4-BE49-F238E27FC236}">
                <a16:creationId xmlns:a16="http://schemas.microsoft.com/office/drawing/2014/main" id="{85F0374B-0C27-5EE0-A325-8E459F432398}"/>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Slide Number Placeholder 3">
            <a:extLst>
              <a:ext uri="{FF2B5EF4-FFF2-40B4-BE49-F238E27FC236}">
                <a16:creationId xmlns:a16="http://schemas.microsoft.com/office/drawing/2014/main" id="{299A4FF6-3427-FC1F-7701-A57B1812EFD1}"/>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18CA9977-E4FF-4CCE-8BCA-B4173D401CF9}" type="slidenum">
              <a:rPr lang="en-IN" altLang="en-US" sz="2200" smtClean="0">
                <a:solidFill>
                  <a:schemeClr val="accent1"/>
                </a:solidFill>
              </a:rPr>
              <a:pPr>
                <a:lnSpc>
                  <a:spcPct val="100000"/>
                </a:lnSpc>
                <a:spcBef>
                  <a:spcPct val="0"/>
                </a:spcBef>
                <a:buClrTx/>
                <a:buSzTx/>
                <a:buFontTx/>
                <a:buNone/>
              </a:pPr>
              <a:t>19</a:t>
            </a:fld>
            <a:endParaRPr lang="en-IN" altLang="en-US" sz="2200">
              <a:solidFill>
                <a:schemeClr val="accent1"/>
              </a:solidFill>
            </a:endParaRPr>
          </a:p>
        </p:txBody>
      </p:sp>
      <p:sp>
        <p:nvSpPr>
          <p:cNvPr id="50182" name="Google Shape;195;p32">
            <a:extLst>
              <a:ext uri="{FF2B5EF4-FFF2-40B4-BE49-F238E27FC236}">
                <a16:creationId xmlns:a16="http://schemas.microsoft.com/office/drawing/2014/main" id="{8D16236E-3A8D-63CE-0AFB-F0268140842D}"/>
              </a:ext>
            </a:extLst>
          </p:cNvPr>
          <p:cNvSpPr txBox="1">
            <a:spLocks noChangeArrowheads="1"/>
          </p:cNvSpPr>
          <p:nvPr/>
        </p:nvSpPr>
        <p:spPr bwMode="auto">
          <a:xfrm>
            <a:off x="80963" y="3235325"/>
            <a:ext cx="9288462" cy="2647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101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Value in the </a:t>
            </a:r>
            <a:r>
              <a:rPr lang="en-US" altLang="en-US" b="1">
                <a:latin typeface="Times New Roman" panose="02020603050405020304" pitchFamily="18" charset="0"/>
                <a:cs typeface="Times New Roman" panose="02020603050405020304" pitchFamily="18" charset="0"/>
              </a:rPr>
              <a:t>new</a:t>
            </a:r>
            <a:r>
              <a:rPr lang="en-US" altLang="en-US">
                <a:latin typeface="Times New Roman" panose="02020603050405020304" pitchFamily="18" charset="0"/>
                <a:cs typeface="Times New Roman" panose="02020603050405020304" pitchFamily="18" charset="0"/>
              </a:rPr>
              <a:t> row = value in the </a:t>
            </a:r>
            <a:r>
              <a:rPr lang="en-US" altLang="en-US" b="1">
                <a:latin typeface="Times New Roman" panose="02020603050405020304" pitchFamily="18" charset="0"/>
                <a:cs typeface="Times New Roman" panose="02020603050405020304" pitchFamily="18" charset="0"/>
              </a:rPr>
              <a:t>old</a:t>
            </a:r>
            <a:r>
              <a:rPr lang="en-US" altLang="en-US">
                <a:latin typeface="Times New Roman" panose="02020603050405020304" pitchFamily="18" charset="0"/>
                <a:cs typeface="Times New Roman" panose="02020603050405020304" pitchFamily="18" charset="0"/>
              </a:rPr>
              <a:t> row –</a:t>
            </a:r>
            <a:r>
              <a:rPr lang="en-US" altLang="en-US" b="1">
                <a:solidFill>
                  <a:srgbClr val="C00000"/>
                </a:solidFill>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 * value in the </a:t>
            </a:r>
            <a:r>
              <a:rPr lang="en-US" altLang="en-US" b="1">
                <a:latin typeface="Times New Roman" panose="02020603050405020304" pitchFamily="18" charset="0"/>
                <a:cs typeface="Times New Roman" panose="02020603050405020304" pitchFamily="18" charset="0"/>
              </a:rPr>
              <a:t>pivot</a:t>
            </a:r>
            <a:r>
              <a:rPr lang="en-US" altLang="en-US">
                <a:latin typeface="Times New Roman" panose="02020603050405020304" pitchFamily="18" charset="0"/>
                <a:cs typeface="Times New Roman" panose="02020603050405020304" pitchFamily="18" charset="0"/>
              </a:rPr>
              <a:t> row</a:t>
            </a:r>
            <a:endParaRPr lang="en-US" altLang="en-US" sz="1800"/>
          </a:p>
          <a:p>
            <a:pPr eaLnBrk="1" hangingPunct="1">
              <a:lnSpc>
                <a:spcPct val="100000"/>
              </a:lnSpc>
              <a:spcBef>
                <a:spcPct val="0"/>
              </a:spcBef>
              <a:buClrTx/>
              <a:buSzTx/>
              <a:buFontTx/>
              <a:buNone/>
            </a:pPr>
            <a:endParaRPr lang="en-US" altLang="en-US">
              <a:latin typeface="Times New Roman" panose="02020603050405020304" pitchFamily="18" charset="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Let us revise Row 1 using the above formula.</a:t>
            </a:r>
            <a:endParaRPr lang="en-US" altLang="en-US" sz="180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In Row 1 and pivot (x2) column, the value is 3. So, </a:t>
            </a:r>
            <a:r>
              <a:rPr lang="en-US" altLang="en-US" b="1">
                <a:solidFill>
                  <a:srgbClr val="C00000"/>
                </a:solidFill>
                <a:latin typeface="Times New Roman" panose="02020603050405020304" pitchFamily="18" charset="0"/>
                <a:cs typeface="Times New Roman" panose="02020603050405020304" pitchFamily="18" charset="0"/>
              </a:rPr>
              <a:t>n</a:t>
            </a:r>
            <a:r>
              <a:rPr lang="en-US" altLang="en-US">
                <a:latin typeface="Times New Roman" panose="02020603050405020304" pitchFamily="18" charset="0"/>
                <a:cs typeface="Times New Roman" panose="02020603050405020304" pitchFamily="18" charset="0"/>
              </a:rPr>
              <a:t> = 3.</a:t>
            </a:r>
            <a:endParaRPr lang="en-US" altLang="en-US" sz="180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To begin with, let us obtain the new value in column 1 of Row 1.</a:t>
            </a:r>
            <a:endParaRPr lang="en-US" altLang="en-US" sz="1800"/>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In Row 1 and </a:t>
            </a:r>
            <a:r>
              <a:rPr lang="en-US" altLang="en-US" b="1">
                <a:latin typeface="Times New Roman" panose="02020603050405020304" pitchFamily="18" charset="0"/>
                <a:cs typeface="Times New Roman" panose="02020603050405020304" pitchFamily="18" charset="0"/>
              </a:rPr>
              <a:t>1st</a:t>
            </a:r>
            <a:r>
              <a:rPr lang="en-US" altLang="en-US">
                <a:latin typeface="Times New Roman" panose="02020603050405020304" pitchFamily="18" charset="0"/>
                <a:cs typeface="Times New Roman" panose="02020603050405020304" pitchFamily="18" charset="0"/>
              </a:rPr>
              <a:t> column, the value is 1. It's new value will become</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New value = old value –</a:t>
            </a:r>
            <a:r>
              <a:rPr lang="en-US" altLang="en-US" b="1">
                <a:solidFill>
                  <a:srgbClr val="C00000"/>
                </a:solidFill>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 * value in the pivot row of 1st column</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 1 – </a:t>
            </a:r>
            <a:r>
              <a:rPr lang="en-US" altLang="en-US">
                <a:solidFill>
                  <a:srgbClr val="FF0000"/>
                </a:solidFill>
                <a:latin typeface="Times New Roman" panose="02020603050405020304" pitchFamily="18" charset="0"/>
                <a:cs typeface="Times New Roman" panose="02020603050405020304" pitchFamily="18" charset="0"/>
              </a:rPr>
              <a:t>3</a:t>
            </a:r>
            <a:r>
              <a:rPr lang="en-US" altLang="en-US">
                <a:latin typeface="Times New Roman" panose="02020603050405020304" pitchFamily="18" charset="0"/>
                <a:cs typeface="Times New Roman" panose="02020603050405020304" pitchFamily="18" charset="0"/>
              </a:rPr>
              <a:t>*(1/5)          = 2/5</a:t>
            </a:r>
          </a:p>
        </p:txBody>
      </p:sp>
      <p:graphicFrame>
        <p:nvGraphicFramePr>
          <p:cNvPr id="5" name="Table 11">
            <a:extLst>
              <a:ext uri="{FF2B5EF4-FFF2-40B4-BE49-F238E27FC236}">
                <a16:creationId xmlns:a16="http://schemas.microsoft.com/office/drawing/2014/main" id="{97DDF6A5-BE5E-9018-6949-13CC58FC36AC}"/>
              </a:ext>
            </a:extLst>
          </p:cNvPr>
          <p:cNvGraphicFramePr>
            <a:graphicFrameLocks noGrp="1"/>
          </p:cNvGraphicFramePr>
          <p:nvPr/>
        </p:nvGraphicFramePr>
        <p:xfrm>
          <a:off x="3363913" y="128588"/>
          <a:ext cx="8642350" cy="2436812"/>
        </p:xfrm>
        <a:graphic>
          <a:graphicData uri="http://schemas.openxmlformats.org/drawingml/2006/table">
            <a:tbl>
              <a:tblPr firstRow="1" bandRow="1">
                <a:tableStyleId>{2D5ABB26-0587-4C30-8999-92F81FD0307C}</a:tableStyleId>
              </a:tblPr>
              <a:tblGrid>
                <a:gridCol w="872147">
                  <a:extLst>
                    <a:ext uri="{9D8B030D-6E8A-4147-A177-3AD203B41FA5}">
                      <a16:colId xmlns:a16="http://schemas.microsoft.com/office/drawing/2014/main" val="20000"/>
                    </a:ext>
                  </a:extLst>
                </a:gridCol>
                <a:gridCol w="1230142">
                  <a:extLst>
                    <a:ext uri="{9D8B030D-6E8A-4147-A177-3AD203B41FA5}">
                      <a16:colId xmlns:a16="http://schemas.microsoft.com/office/drawing/2014/main" val="20001"/>
                    </a:ext>
                  </a:extLst>
                </a:gridCol>
                <a:gridCol w="778497">
                  <a:extLst>
                    <a:ext uri="{9D8B030D-6E8A-4147-A177-3AD203B41FA5}">
                      <a16:colId xmlns:a16="http://schemas.microsoft.com/office/drawing/2014/main" val="20002"/>
                    </a:ext>
                  </a:extLst>
                </a:gridCol>
                <a:gridCol w="960261">
                  <a:extLst>
                    <a:ext uri="{9D8B030D-6E8A-4147-A177-3AD203B41FA5}">
                      <a16:colId xmlns:a16="http://schemas.microsoft.com/office/drawing/2014/main" val="20003"/>
                    </a:ext>
                  </a:extLst>
                </a:gridCol>
                <a:gridCol w="960261">
                  <a:extLst>
                    <a:ext uri="{9D8B030D-6E8A-4147-A177-3AD203B41FA5}">
                      <a16:colId xmlns:a16="http://schemas.microsoft.com/office/drawing/2014/main" val="20004"/>
                    </a:ext>
                  </a:extLst>
                </a:gridCol>
                <a:gridCol w="960261">
                  <a:extLst>
                    <a:ext uri="{9D8B030D-6E8A-4147-A177-3AD203B41FA5}">
                      <a16:colId xmlns:a16="http://schemas.microsoft.com/office/drawing/2014/main" val="20005"/>
                    </a:ext>
                  </a:extLst>
                </a:gridCol>
                <a:gridCol w="960261">
                  <a:extLst>
                    <a:ext uri="{9D8B030D-6E8A-4147-A177-3AD203B41FA5}">
                      <a16:colId xmlns:a16="http://schemas.microsoft.com/office/drawing/2014/main" val="20006"/>
                    </a:ext>
                  </a:extLst>
                </a:gridCol>
                <a:gridCol w="960261">
                  <a:extLst>
                    <a:ext uri="{9D8B030D-6E8A-4147-A177-3AD203B41FA5}">
                      <a16:colId xmlns:a16="http://schemas.microsoft.com/office/drawing/2014/main" val="20007"/>
                    </a:ext>
                  </a:extLst>
                </a:gridCol>
                <a:gridCol w="960261">
                  <a:extLst>
                    <a:ext uri="{9D8B030D-6E8A-4147-A177-3AD203B41FA5}">
                      <a16:colId xmlns:a16="http://schemas.microsoft.com/office/drawing/2014/main" val="20008"/>
                    </a:ext>
                  </a:extLst>
                </a:gridCol>
              </a:tblGrid>
              <a:tr h="496126">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27" marR="91427" marT="45723" marB="45723">
                    <a:lnR w="12700">
                      <a:solidFill>
                        <a:schemeClr val="tx1"/>
                      </a:solidFill>
                    </a:lnR>
                    <a:lnB w="12700">
                      <a:solidFill>
                        <a:schemeClr val="tx1"/>
                      </a:solidFill>
                    </a:lnB>
                  </a:tcPr>
                </a:tc>
                <a:tc>
                  <a:txBody>
                    <a:bodyPr/>
                    <a:lstStyle/>
                    <a:p>
                      <a:pPr algn="ctr"/>
                      <a:r>
                        <a:rPr lang="en-US" sz="1800" b="1" dirty="0">
                          <a:latin typeface="Arial"/>
                        </a:rPr>
                        <a:t>8</a:t>
                      </a:r>
                    </a:p>
                  </a:txBody>
                  <a:tcPr marL="91427" marR="91427" marT="45723" marB="45723">
                    <a:lnL w="12700">
                      <a:solidFill>
                        <a:schemeClr val="tx1"/>
                      </a:solidFill>
                    </a:lnL>
                    <a:lnB w="12700">
                      <a:solidFill>
                        <a:schemeClr val="tx1"/>
                      </a:solidFill>
                    </a:lnB>
                  </a:tcPr>
                </a:tc>
                <a:tc>
                  <a:txBody>
                    <a:bodyPr/>
                    <a:lstStyle/>
                    <a:p>
                      <a:pPr algn="ctr"/>
                      <a:r>
                        <a:rPr lang="en-US" sz="1800" b="1" dirty="0">
                          <a:latin typeface="Arial"/>
                        </a:rPr>
                        <a:t>10</a:t>
                      </a:r>
                    </a:p>
                  </a:txBody>
                  <a:tcPr marL="91427" marR="91427" marT="45723" marB="45723">
                    <a:lnB w="12700">
                      <a:solidFill>
                        <a:schemeClr val="tx1"/>
                      </a:solidFill>
                    </a:lnB>
                  </a:tcPr>
                </a:tc>
                <a:tc>
                  <a:txBody>
                    <a:bodyPr/>
                    <a:lstStyle/>
                    <a:p>
                      <a:pPr algn="ctr"/>
                      <a:r>
                        <a:rPr lang="en-US" sz="1800" b="1" dirty="0">
                          <a:latin typeface="Arial"/>
                        </a:rPr>
                        <a:t>7</a:t>
                      </a:r>
                    </a:p>
                  </a:txBody>
                  <a:tcPr marL="91427" marR="91427" marT="45723" marB="45723">
                    <a:lnB w="12700">
                      <a:solidFill>
                        <a:schemeClr val="tx1"/>
                      </a:solidFill>
                    </a:lnB>
                  </a:tcPr>
                </a:tc>
                <a:tc>
                  <a:txBody>
                    <a:bodyPr/>
                    <a:lstStyle/>
                    <a:p>
                      <a:pPr algn="ctr"/>
                      <a:r>
                        <a:rPr lang="en-US" sz="1800" b="1" dirty="0">
                          <a:latin typeface="Arial"/>
                        </a:rPr>
                        <a:t>0</a:t>
                      </a:r>
                    </a:p>
                  </a:txBody>
                  <a:tcPr marL="91427" marR="91427" marT="45723" marB="45723">
                    <a:lnB w="12700">
                      <a:solidFill>
                        <a:schemeClr val="tx1"/>
                      </a:solidFill>
                    </a:lnB>
                  </a:tcPr>
                </a:tc>
                <a:tc>
                  <a:txBody>
                    <a:bodyPr/>
                    <a:lstStyle/>
                    <a:p>
                      <a:pPr algn="ctr"/>
                      <a:r>
                        <a:rPr lang="en-US" sz="1800" b="1" dirty="0">
                          <a:latin typeface="Arial"/>
                        </a:rPr>
                        <a:t>0</a:t>
                      </a:r>
                    </a:p>
                  </a:txBody>
                  <a:tcPr marL="91427" marR="91427" marT="45723" marB="45723">
                    <a:lnR w="12700">
                      <a:solidFill>
                        <a:schemeClr val="tx1"/>
                      </a:solidFill>
                    </a:lnR>
                    <a:lnB w="12700">
                      <a:solidFill>
                        <a:schemeClr val="tx1"/>
                      </a:solidFill>
                    </a:lnB>
                  </a:tcPr>
                </a:tc>
                <a:tc>
                  <a:txBody>
                    <a:bodyPr/>
                    <a:lstStyle/>
                    <a:p>
                      <a:pPr algn="ctr"/>
                      <a:endParaRPr lang="en-US" sz="1800" b="1" dirty="0">
                        <a:latin typeface="Arial"/>
                      </a:endParaRPr>
                    </a:p>
                  </a:txBody>
                  <a:tcPr marL="91427" marR="91427" marT="45723" marB="4572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extLst>
                  <a:ext uri="{0D108BD9-81ED-4DB2-BD59-A6C34878D82A}">
                    <a16:rowId xmlns:a16="http://schemas.microsoft.com/office/drawing/2014/main" val="10000"/>
                  </a:ext>
                </a:extLst>
              </a:tr>
              <a:tr h="457230">
                <a:tc>
                  <a:txBody>
                    <a:bodyPr/>
                    <a:lstStyle/>
                    <a:p>
                      <a:pPr lvl="0" algn="ctr">
                        <a:buNone/>
                      </a:pPr>
                      <a:r>
                        <a:rPr lang="en-US" sz="1800" b="1" err="1">
                          <a:latin typeface="Arial"/>
                        </a:rPr>
                        <a:t>C</a:t>
                      </a:r>
                      <a:r>
                        <a:rPr lang="en-US" sz="1800" b="1" baseline="-25000" err="1">
                          <a:latin typeface="Arial"/>
                        </a:rPr>
                        <a:t>Bi</a:t>
                      </a:r>
                    </a:p>
                  </a:txBody>
                  <a:tcPr marL="91427" marR="9142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27" marR="9142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27" marR="9142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27" marR="91427" marT="45723" marB="45723">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27" marR="9142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27" marR="91427" marT="45723" marB="45723">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ratio</a:t>
                      </a:r>
                    </a:p>
                  </a:txBody>
                  <a:tcPr marL="91427" marR="91427" marT="45723" marB="45723">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70865">
                <a:tc>
                  <a:txBody>
                    <a:bodyPr/>
                    <a:lstStyle/>
                    <a:p>
                      <a:pPr lvl="0" algn="ctr">
                        <a:buNone/>
                      </a:pPr>
                      <a:r>
                        <a:rPr lang="en-US" sz="1800" b="1" dirty="0">
                          <a:latin typeface="Arial"/>
                        </a:rPr>
                        <a:t>0</a:t>
                      </a:r>
                    </a:p>
                  </a:txBody>
                  <a:tcPr marL="91427" marR="91427" marT="45723" marB="45723">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27" marR="91427" marT="45723" marB="45723">
                    <a:lnR w="12700">
                      <a:solidFill>
                        <a:schemeClr val="tx1"/>
                      </a:solidFill>
                    </a:lnR>
                    <a:lnT w="12700">
                      <a:solidFill>
                        <a:schemeClr val="tx1"/>
                      </a:solidFill>
                    </a:lnT>
                  </a:tcPr>
                </a:tc>
                <a:tc>
                  <a:txBody>
                    <a:bodyPr/>
                    <a:lstStyle/>
                    <a:p>
                      <a:pPr algn="ctr"/>
                      <a:r>
                        <a:rPr lang="en-US" sz="1800" b="1" dirty="0">
                          <a:latin typeface="Arial"/>
                        </a:rPr>
                        <a:t>1</a:t>
                      </a:r>
                    </a:p>
                  </a:txBody>
                  <a:tcPr marL="91427" marR="91427" marT="45723" marB="45723">
                    <a:lnL w="12700">
                      <a:solidFill>
                        <a:schemeClr val="tx1"/>
                      </a:solidFill>
                    </a:lnL>
                    <a:lnT w="12700">
                      <a:solidFill>
                        <a:schemeClr val="tx1"/>
                      </a:solidFill>
                    </a:lnT>
                  </a:tcPr>
                </a:tc>
                <a:tc>
                  <a:txBody>
                    <a:bodyPr/>
                    <a:lstStyle/>
                    <a:p>
                      <a:pPr algn="ctr"/>
                      <a:r>
                        <a:rPr lang="en-US" sz="1800" b="1" dirty="0">
                          <a:latin typeface="Arial"/>
                        </a:rPr>
                        <a:t>3</a:t>
                      </a:r>
                    </a:p>
                  </a:txBody>
                  <a:tcPr marL="91427" marR="91427" marT="45723" marB="45723">
                    <a:lnT w="12700">
                      <a:solidFill>
                        <a:schemeClr val="tx1"/>
                      </a:solidFill>
                    </a:lnT>
                  </a:tcPr>
                </a:tc>
                <a:tc>
                  <a:txBody>
                    <a:bodyPr/>
                    <a:lstStyle/>
                    <a:p>
                      <a:pPr algn="ctr"/>
                      <a:r>
                        <a:rPr lang="en-US" sz="1800" b="1" dirty="0">
                          <a:latin typeface="Arial"/>
                        </a:rPr>
                        <a:t>2</a:t>
                      </a:r>
                    </a:p>
                  </a:txBody>
                  <a:tcPr marL="91427" marR="91427" marT="45723" marB="45723">
                    <a:lnT w="12700">
                      <a:solidFill>
                        <a:schemeClr val="tx1"/>
                      </a:solidFill>
                    </a:lnT>
                  </a:tcPr>
                </a:tc>
                <a:tc>
                  <a:txBody>
                    <a:bodyPr/>
                    <a:lstStyle/>
                    <a:p>
                      <a:pPr algn="ctr"/>
                      <a:r>
                        <a:rPr lang="en-US" sz="1800" b="1" dirty="0">
                          <a:latin typeface="Arial"/>
                        </a:rPr>
                        <a:t>1</a:t>
                      </a:r>
                    </a:p>
                  </a:txBody>
                  <a:tcPr marL="91427" marR="91427" marT="45723" marB="45723">
                    <a:lnT w="12700">
                      <a:solidFill>
                        <a:schemeClr val="tx1"/>
                      </a:solidFill>
                    </a:lnT>
                  </a:tcPr>
                </a:tc>
                <a:tc>
                  <a:txBody>
                    <a:bodyPr/>
                    <a:lstStyle/>
                    <a:p>
                      <a:pPr algn="ctr"/>
                      <a:r>
                        <a:rPr lang="en-US" sz="1800" b="1" dirty="0">
                          <a:latin typeface="Arial"/>
                        </a:rPr>
                        <a:t>0</a:t>
                      </a:r>
                    </a:p>
                  </a:txBody>
                  <a:tcPr marL="91427" marR="91427" marT="45723" marB="45723">
                    <a:lnR w="12700">
                      <a:solidFill>
                        <a:schemeClr val="tx1"/>
                      </a:solidFill>
                    </a:lnR>
                    <a:lnT w="12700">
                      <a:solidFill>
                        <a:schemeClr val="tx1"/>
                      </a:solidFill>
                    </a:lnT>
                  </a:tcPr>
                </a:tc>
                <a:tc>
                  <a:txBody>
                    <a:bodyPr/>
                    <a:lstStyle/>
                    <a:p>
                      <a:pPr algn="ctr"/>
                      <a:r>
                        <a:rPr lang="en-US" sz="1800" b="1" dirty="0">
                          <a:latin typeface="Arial"/>
                        </a:rPr>
                        <a:t>10</a:t>
                      </a:r>
                    </a:p>
                  </a:txBody>
                  <a:tcPr marL="91427" marR="91427" marT="45723" marB="4572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extLst>
                  <a:ext uri="{0D108BD9-81ED-4DB2-BD59-A6C34878D82A}">
                    <a16:rowId xmlns:a16="http://schemas.microsoft.com/office/drawing/2014/main" val="10002"/>
                  </a:ext>
                </a:extLst>
              </a:tr>
              <a:tr h="370865">
                <a:tc>
                  <a:txBody>
                    <a:bodyPr/>
                    <a:lstStyle/>
                    <a:p>
                      <a:pPr lvl="0" algn="ctr">
                        <a:buNone/>
                      </a:pPr>
                      <a:r>
                        <a:rPr lang="en-US" sz="1800" b="1" dirty="0">
                          <a:solidFill>
                            <a:srgbClr val="FF0000"/>
                          </a:solidFill>
                          <a:latin typeface="Arial"/>
                        </a:rPr>
                        <a:t>10</a:t>
                      </a:r>
                    </a:p>
                  </a:txBody>
                  <a:tcPr marL="91427" marR="91427" marT="45723" marB="45723">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x2</a:t>
                      </a:r>
                      <a:endParaRPr lang="en-US" sz="1800">
                        <a:solidFill>
                          <a:srgbClr val="FF0000"/>
                        </a:solidFill>
                      </a:endParaRPr>
                    </a:p>
                  </a:txBody>
                  <a:tcPr marL="91427" marR="91427" marT="45723" marB="45723">
                    <a:lnR w="12700">
                      <a:solidFill>
                        <a:schemeClr val="tx1"/>
                      </a:solidFill>
                    </a:lnR>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L w="12700">
                      <a:solidFill>
                        <a:schemeClr val="tx1"/>
                      </a:solidFill>
                    </a:lnL>
                    <a:lnB w="12700">
                      <a:solidFill>
                        <a:schemeClr val="tx1"/>
                      </a:solidFill>
                    </a:lnB>
                  </a:tcPr>
                </a:tc>
                <a:tc>
                  <a:txBody>
                    <a:bodyPr/>
                    <a:lstStyle/>
                    <a:p>
                      <a:pPr algn="ctr"/>
                      <a:r>
                        <a:rPr lang="en-US" sz="1800" b="1" dirty="0">
                          <a:solidFill>
                            <a:srgbClr val="FF0000"/>
                          </a:solidFill>
                          <a:latin typeface="Arial"/>
                        </a:rPr>
                        <a:t>1</a:t>
                      </a:r>
                    </a:p>
                  </a:txBody>
                  <a:tcPr marL="91427" marR="91427" marT="45723" marB="45723">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B w="12700">
                      <a:solidFill>
                        <a:schemeClr val="tx1"/>
                      </a:solidFill>
                    </a:lnB>
                  </a:tcPr>
                </a:tc>
                <a:tc>
                  <a:txBody>
                    <a:bodyPr/>
                    <a:lstStyle/>
                    <a:p>
                      <a:pPr algn="ctr"/>
                      <a:r>
                        <a:rPr lang="en-US" sz="1800" b="1" dirty="0">
                          <a:solidFill>
                            <a:srgbClr val="FF0000"/>
                          </a:solidFill>
                          <a:latin typeface="Arial"/>
                        </a:rPr>
                        <a:t>0</a:t>
                      </a:r>
                    </a:p>
                  </a:txBody>
                  <a:tcPr marL="91427" marR="91427" marT="45723" marB="45723">
                    <a:lnB w="12700">
                      <a:solidFill>
                        <a:schemeClr val="tx1"/>
                      </a:solidFill>
                    </a:lnB>
                  </a:tcPr>
                </a:tc>
                <a:tc>
                  <a:txBody>
                    <a:bodyPr/>
                    <a:lstStyle/>
                    <a:p>
                      <a:pPr algn="ctr"/>
                      <a:r>
                        <a:rPr lang="en-US" sz="1800" b="1" dirty="0">
                          <a:solidFill>
                            <a:srgbClr val="FF0000"/>
                          </a:solidFill>
                          <a:latin typeface="Arial"/>
                        </a:rPr>
                        <a:t>1/5</a:t>
                      </a:r>
                    </a:p>
                  </a:txBody>
                  <a:tcPr marL="91427" marR="91427" marT="45723" marB="45723">
                    <a:lnR w="12700">
                      <a:solidFill>
                        <a:schemeClr val="tx1"/>
                      </a:solidFill>
                    </a:lnR>
                    <a:lnB w="12700">
                      <a:solidFill>
                        <a:schemeClr val="tx1"/>
                      </a:solidFill>
                    </a:lnB>
                  </a:tcPr>
                </a:tc>
                <a:tc>
                  <a:txBody>
                    <a:bodyPr/>
                    <a:lstStyle/>
                    <a:p>
                      <a:pPr algn="ctr"/>
                      <a:r>
                        <a:rPr lang="en-US" sz="1800" b="1" dirty="0">
                          <a:solidFill>
                            <a:srgbClr val="FF0000"/>
                          </a:solidFill>
                          <a:latin typeface="Arial"/>
                        </a:rPr>
                        <a:t>8/5</a:t>
                      </a:r>
                    </a:p>
                  </a:txBody>
                  <a:tcPr marL="91427" marR="91427" marT="45723" marB="4572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3" marB="45723">
                    <a:lnL w="12700">
                      <a:solidFill>
                        <a:schemeClr val="tx1"/>
                      </a:solidFill>
                    </a:lnL>
                    <a:lnB w="12700">
                      <a:solidFill>
                        <a:schemeClr val="tx1"/>
                      </a:solidFill>
                    </a:lnB>
                  </a:tcPr>
                </a:tc>
                <a:extLst>
                  <a:ext uri="{0D108BD9-81ED-4DB2-BD59-A6C34878D82A}">
                    <a16:rowId xmlns:a16="http://schemas.microsoft.com/office/drawing/2014/main" val="10003"/>
                  </a:ext>
                </a:extLst>
              </a:tr>
              <a:tr h="370864">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27" marR="91427" marT="45723" marB="45723">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T w="12700">
                      <a:solidFill>
                        <a:schemeClr val="tx1"/>
                      </a:solidFill>
                    </a:lnT>
                  </a:tcPr>
                </a:tc>
                <a:tc>
                  <a:txBody>
                    <a:bodyPr/>
                    <a:lstStyle/>
                    <a:p>
                      <a:pPr lvl="0" algn="ctr">
                        <a:buNone/>
                      </a:pPr>
                      <a:endParaRPr lang="en-US" sz="1800" b="1" dirty="0">
                        <a:latin typeface="Arial"/>
                      </a:endParaRPr>
                    </a:p>
                  </a:txBody>
                  <a:tcPr marL="91427" marR="91427" marT="45723" marB="45723">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3" marB="45723">
                    <a:lnL w="12700">
                      <a:solidFill>
                        <a:schemeClr val="tx1"/>
                      </a:solidFill>
                    </a:lnL>
                    <a:lnT w="12700">
                      <a:solidFill>
                        <a:schemeClr val="tx1"/>
                      </a:solidFill>
                    </a:lnT>
                  </a:tcPr>
                </a:tc>
                <a:extLst>
                  <a:ext uri="{0D108BD9-81ED-4DB2-BD59-A6C34878D82A}">
                    <a16:rowId xmlns:a16="http://schemas.microsoft.com/office/drawing/2014/main" val="10004"/>
                  </a:ext>
                </a:extLst>
              </a:tr>
              <a:tr h="370863">
                <a:tc>
                  <a:txBody>
                    <a:bodyPr/>
                    <a:lstStyle/>
                    <a:p>
                      <a:pPr lvl="0" algn="ctr">
                        <a:buNone/>
                      </a:pPr>
                      <a:endParaRPr lang="en-US" sz="1800" b="1" dirty="0">
                        <a:latin typeface="Arial"/>
                      </a:endParaRPr>
                    </a:p>
                  </a:txBody>
                  <a:tcPr marL="91427" marR="91427" marT="45723" marB="45723">
                    <a:lnL w="12700">
                      <a:solidFill>
                        <a:schemeClr val="tx1"/>
                      </a:solidFill>
                    </a:lnL>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27" marR="91427" marT="45723" marB="45723" anchor="ctr">
                    <a:lnR w="12700">
                      <a:solidFill>
                        <a:schemeClr val="tx1"/>
                      </a:solidFill>
                    </a:lnR>
                  </a:tcPr>
                </a:tc>
                <a:tc>
                  <a:txBody>
                    <a:bodyPr/>
                    <a:lstStyle/>
                    <a:p>
                      <a:pPr lvl="0" algn="ctr">
                        <a:buNone/>
                      </a:pPr>
                      <a:endParaRPr lang="en-US" sz="1800" b="1" dirty="0">
                        <a:latin typeface="Arial"/>
                      </a:endParaRPr>
                    </a:p>
                  </a:txBody>
                  <a:tcPr marL="91427" marR="91427" marT="45723" marB="45723">
                    <a:lnL w="12700">
                      <a:solidFill>
                        <a:schemeClr val="tx1"/>
                      </a:solidFill>
                    </a:lnL>
                  </a:tcPr>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tc>
                  <a:txBody>
                    <a:bodyPr/>
                    <a:lstStyle/>
                    <a:p>
                      <a:pPr lvl="0" algn="ctr">
                        <a:buNone/>
                      </a:pPr>
                      <a:endParaRPr lang="en-US" sz="1800" b="1" dirty="0">
                        <a:latin typeface="Arial"/>
                      </a:endParaRPr>
                    </a:p>
                  </a:txBody>
                  <a:tcPr marL="91427" marR="91427" marT="45723" marB="45723"/>
                </a:tc>
                <a:extLst>
                  <a:ext uri="{0D108BD9-81ED-4DB2-BD59-A6C34878D82A}">
                    <a16:rowId xmlns:a16="http://schemas.microsoft.com/office/drawing/2014/main" val="10005"/>
                  </a:ext>
                </a:extLst>
              </a:tr>
            </a:tbl>
          </a:graphicData>
        </a:graphic>
      </p:graphicFrame>
      <p:sp>
        <p:nvSpPr>
          <p:cNvPr id="50245" name="TextBox 7">
            <a:extLst>
              <a:ext uri="{FF2B5EF4-FFF2-40B4-BE49-F238E27FC236}">
                <a16:creationId xmlns:a16="http://schemas.microsoft.com/office/drawing/2014/main" id="{848703D9-7F24-0876-9CB9-B72D0FAB5134}"/>
              </a:ext>
            </a:extLst>
          </p:cNvPr>
          <p:cNvSpPr txBox="1">
            <a:spLocks noChangeArrowheads="1"/>
          </p:cNvSpPr>
          <p:nvPr/>
        </p:nvSpPr>
        <p:spPr bwMode="auto">
          <a:xfrm>
            <a:off x="411163" y="1282700"/>
            <a:ext cx="1927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Old tableau with </a:t>
            </a:r>
            <a:r>
              <a:rPr lang="en-US" altLang="en-US" sz="1800">
                <a:solidFill>
                  <a:srgbClr val="FF0000"/>
                </a:solidFill>
              </a:rPr>
              <a:t>revised pivot row</a:t>
            </a:r>
          </a:p>
        </p:txBody>
      </p:sp>
      <p:sp>
        <p:nvSpPr>
          <p:cNvPr id="10" name="Arrow: Right 9">
            <a:extLst>
              <a:ext uri="{FF2B5EF4-FFF2-40B4-BE49-F238E27FC236}">
                <a16:creationId xmlns:a16="http://schemas.microsoft.com/office/drawing/2014/main" id="{7FE1C840-91C7-D174-5F05-7C0A0A22544A}"/>
              </a:ext>
            </a:extLst>
          </p:cNvPr>
          <p:cNvSpPr/>
          <p:nvPr/>
        </p:nvSpPr>
        <p:spPr>
          <a:xfrm>
            <a:off x="2152650" y="1460500"/>
            <a:ext cx="1165225" cy="287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Google Shape;192;p32" descr="KL Deemed to be University Logo">
            <a:extLst>
              <a:ext uri="{FF2B5EF4-FFF2-40B4-BE49-F238E27FC236}">
                <a16:creationId xmlns:a16="http://schemas.microsoft.com/office/drawing/2014/main" id="{9B62E5C7-AB67-372E-4F92-A2890ACB1503}"/>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7" name="Google Shape;194;p32" descr="KL Deemed to be University Logo">
            <a:extLst>
              <a:ext uri="{FF2B5EF4-FFF2-40B4-BE49-F238E27FC236}">
                <a16:creationId xmlns:a16="http://schemas.microsoft.com/office/drawing/2014/main" id="{BF5B7145-DA0A-D222-AF99-13F835B1662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8" name="Google Shape;196;p32">
            <a:extLst>
              <a:ext uri="{FF2B5EF4-FFF2-40B4-BE49-F238E27FC236}">
                <a16:creationId xmlns:a16="http://schemas.microsoft.com/office/drawing/2014/main" id="{382C00A2-17D7-947D-C940-BD0C474140B6}"/>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Slide Number Placeholder 3">
            <a:extLst>
              <a:ext uri="{FF2B5EF4-FFF2-40B4-BE49-F238E27FC236}">
                <a16:creationId xmlns:a16="http://schemas.microsoft.com/office/drawing/2014/main" id="{12493875-59DB-411D-4D55-F0864BD448B9}"/>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876BF47B-A9E1-441D-8227-CFCB0C304664}" type="slidenum">
              <a:rPr lang="en-IN" altLang="en-US" sz="2200" smtClean="0">
                <a:solidFill>
                  <a:schemeClr val="accent1"/>
                </a:solidFill>
              </a:rPr>
              <a:pPr>
                <a:lnSpc>
                  <a:spcPct val="100000"/>
                </a:lnSpc>
                <a:spcBef>
                  <a:spcPct val="0"/>
                </a:spcBef>
                <a:buClrTx/>
                <a:buSzTx/>
                <a:buFontTx/>
                <a:buNone/>
              </a:pPr>
              <a:t>20</a:t>
            </a:fld>
            <a:endParaRPr lang="en-IN" altLang="en-US" sz="2200">
              <a:solidFill>
                <a:schemeClr val="accent1"/>
              </a:solidFill>
            </a:endParaRPr>
          </a:p>
        </p:txBody>
      </p:sp>
      <p:sp>
        <p:nvSpPr>
          <p:cNvPr id="52230" name="Google Shape;195;p32">
            <a:extLst>
              <a:ext uri="{FF2B5EF4-FFF2-40B4-BE49-F238E27FC236}">
                <a16:creationId xmlns:a16="http://schemas.microsoft.com/office/drawing/2014/main" id="{3FD5C462-9D66-BC52-E9B8-B7621A0DDC1E}"/>
              </a:ext>
            </a:extLst>
          </p:cNvPr>
          <p:cNvSpPr txBox="1">
            <a:spLocks noChangeArrowheads="1"/>
          </p:cNvSpPr>
          <p:nvPr/>
        </p:nvSpPr>
        <p:spPr bwMode="auto">
          <a:xfrm>
            <a:off x="1588" y="1798638"/>
            <a:ext cx="9442450" cy="26463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101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New row = old row –</a:t>
            </a:r>
            <a:r>
              <a:rPr lang="en-US" altLang="en-US" b="1">
                <a:solidFill>
                  <a:srgbClr val="C00000"/>
                </a:solidFill>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 * pivot row</a:t>
            </a:r>
          </a:p>
          <a:p>
            <a:pPr eaLnBrk="1" hangingPunct="1">
              <a:lnSpc>
                <a:spcPct val="100000"/>
              </a:lnSpc>
              <a:spcBef>
                <a:spcPct val="0"/>
              </a:spcBef>
              <a:buClrTx/>
              <a:buSzTx/>
              <a:buFontTx/>
              <a:buNone/>
            </a:pPr>
            <a:r>
              <a:rPr lang="en-US" altLang="en-US" b="1">
                <a:solidFill>
                  <a:srgbClr val="C00000"/>
                </a:solidFill>
                <a:latin typeface="Times New Roman" panose="02020603050405020304" pitchFamily="18" charset="0"/>
                <a:cs typeface="Times New Roman" panose="02020603050405020304" pitchFamily="18" charset="0"/>
              </a:rPr>
              <a:t>n</a:t>
            </a:r>
            <a:r>
              <a:rPr lang="en-US" altLang="en-US">
                <a:latin typeface="Times New Roman" panose="02020603050405020304" pitchFamily="18" charset="0"/>
                <a:cs typeface="Times New Roman" panose="02020603050405020304" pitchFamily="18" charset="0"/>
              </a:rPr>
              <a:t> = 3 for Row 1.</a:t>
            </a:r>
            <a:endParaRPr lang="en-US" altLang="en-US" sz="180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In Row 1 and 1st column, the value is 1. Its new value will become</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New value = old value –</a:t>
            </a:r>
            <a:r>
              <a:rPr lang="en-US" altLang="en-US" b="1">
                <a:solidFill>
                  <a:srgbClr val="C00000"/>
                </a:solidFill>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 * value in the pivot row of 1st column</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 1 – </a:t>
            </a:r>
            <a:r>
              <a:rPr lang="en-US" altLang="en-US">
                <a:solidFill>
                  <a:srgbClr val="FF0000"/>
                </a:solidFill>
                <a:latin typeface="Times New Roman" panose="02020603050405020304" pitchFamily="18" charset="0"/>
                <a:cs typeface="Times New Roman" panose="02020603050405020304" pitchFamily="18" charset="0"/>
              </a:rPr>
              <a:t>3</a:t>
            </a:r>
            <a:r>
              <a:rPr lang="en-US" altLang="en-US">
                <a:latin typeface="Times New Roman" panose="02020603050405020304" pitchFamily="18" charset="0"/>
                <a:cs typeface="Times New Roman" panose="02020603050405020304" pitchFamily="18" charset="0"/>
              </a:rPr>
              <a:t> * (1/5)          = 2/5</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In Row 1 and </a:t>
            </a:r>
            <a:r>
              <a:rPr lang="en-US" altLang="en-US" b="1">
                <a:latin typeface="Times New Roman" panose="02020603050405020304" pitchFamily="18" charset="0"/>
                <a:cs typeface="Times New Roman" panose="02020603050405020304" pitchFamily="18" charset="0"/>
              </a:rPr>
              <a:t>2nd</a:t>
            </a:r>
            <a:r>
              <a:rPr lang="en-US" altLang="en-US">
                <a:latin typeface="Times New Roman" panose="02020603050405020304" pitchFamily="18" charset="0"/>
                <a:cs typeface="Times New Roman" panose="02020603050405020304" pitchFamily="18" charset="0"/>
              </a:rPr>
              <a:t> column, the value is 3. Its new value will become</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 3 – </a:t>
            </a:r>
            <a:r>
              <a:rPr lang="en-US" altLang="en-US">
                <a:solidFill>
                  <a:srgbClr val="FF0000"/>
                </a:solidFill>
                <a:latin typeface="Times New Roman" panose="02020603050405020304" pitchFamily="18" charset="0"/>
                <a:cs typeface="Times New Roman" panose="02020603050405020304" pitchFamily="18" charset="0"/>
              </a:rPr>
              <a:t>3</a:t>
            </a:r>
            <a:r>
              <a:rPr lang="en-US" altLang="en-US">
                <a:latin typeface="Times New Roman" panose="02020603050405020304" pitchFamily="18" charset="0"/>
                <a:cs typeface="Times New Roman" panose="02020603050405020304" pitchFamily="18" charset="0"/>
              </a:rPr>
              <a:t> * 1                = 0</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Repeat the process for all columns of Row 1. The </a:t>
            </a:r>
            <a:r>
              <a:rPr lang="en-US" altLang="en-US">
                <a:solidFill>
                  <a:srgbClr val="FF0000"/>
                </a:solidFill>
                <a:latin typeface="Times New Roman" panose="02020603050405020304" pitchFamily="18" charset="0"/>
                <a:cs typeface="Times New Roman" panose="02020603050405020304" pitchFamily="18" charset="0"/>
              </a:rPr>
              <a:t>revised Tableau</a:t>
            </a:r>
            <a:r>
              <a:rPr lang="en-US" altLang="en-US">
                <a:latin typeface="Times New Roman" panose="02020603050405020304" pitchFamily="18" charset="0"/>
                <a:cs typeface="Times New Roman" panose="02020603050405020304" pitchFamily="18" charset="0"/>
              </a:rPr>
              <a:t> is shown below:</a:t>
            </a:r>
          </a:p>
        </p:txBody>
      </p:sp>
      <p:graphicFrame>
        <p:nvGraphicFramePr>
          <p:cNvPr id="7" name="Table 11">
            <a:extLst>
              <a:ext uri="{FF2B5EF4-FFF2-40B4-BE49-F238E27FC236}">
                <a16:creationId xmlns:a16="http://schemas.microsoft.com/office/drawing/2014/main" id="{850459E6-22D3-6CC3-E9C9-968DCB6C1027}"/>
              </a:ext>
            </a:extLst>
          </p:cNvPr>
          <p:cNvGraphicFramePr>
            <a:graphicFrameLocks noGrp="1"/>
          </p:cNvGraphicFramePr>
          <p:nvPr/>
        </p:nvGraphicFramePr>
        <p:xfrm>
          <a:off x="3389313" y="-11113"/>
          <a:ext cx="8642350" cy="1695451"/>
        </p:xfrm>
        <a:graphic>
          <a:graphicData uri="http://schemas.openxmlformats.org/drawingml/2006/table">
            <a:tbl>
              <a:tblPr firstRow="1" bandRow="1">
                <a:tableStyleId>{2D5ABB26-0587-4C30-8999-92F81FD0307C}</a:tableStyleId>
              </a:tblPr>
              <a:tblGrid>
                <a:gridCol w="872147">
                  <a:extLst>
                    <a:ext uri="{9D8B030D-6E8A-4147-A177-3AD203B41FA5}">
                      <a16:colId xmlns:a16="http://schemas.microsoft.com/office/drawing/2014/main" val="20000"/>
                    </a:ext>
                  </a:extLst>
                </a:gridCol>
                <a:gridCol w="1230142">
                  <a:extLst>
                    <a:ext uri="{9D8B030D-6E8A-4147-A177-3AD203B41FA5}">
                      <a16:colId xmlns:a16="http://schemas.microsoft.com/office/drawing/2014/main" val="20001"/>
                    </a:ext>
                  </a:extLst>
                </a:gridCol>
                <a:gridCol w="778497">
                  <a:extLst>
                    <a:ext uri="{9D8B030D-6E8A-4147-A177-3AD203B41FA5}">
                      <a16:colId xmlns:a16="http://schemas.microsoft.com/office/drawing/2014/main" val="20002"/>
                    </a:ext>
                  </a:extLst>
                </a:gridCol>
                <a:gridCol w="960261">
                  <a:extLst>
                    <a:ext uri="{9D8B030D-6E8A-4147-A177-3AD203B41FA5}">
                      <a16:colId xmlns:a16="http://schemas.microsoft.com/office/drawing/2014/main" val="20003"/>
                    </a:ext>
                  </a:extLst>
                </a:gridCol>
                <a:gridCol w="960261">
                  <a:extLst>
                    <a:ext uri="{9D8B030D-6E8A-4147-A177-3AD203B41FA5}">
                      <a16:colId xmlns:a16="http://schemas.microsoft.com/office/drawing/2014/main" val="20004"/>
                    </a:ext>
                  </a:extLst>
                </a:gridCol>
                <a:gridCol w="960261">
                  <a:extLst>
                    <a:ext uri="{9D8B030D-6E8A-4147-A177-3AD203B41FA5}">
                      <a16:colId xmlns:a16="http://schemas.microsoft.com/office/drawing/2014/main" val="20005"/>
                    </a:ext>
                  </a:extLst>
                </a:gridCol>
                <a:gridCol w="960261">
                  <a:extLst>
                    <a:ext uri="{9D8B030D-6E8A-4147-A177-3AD203B41FA5}">
                      <a16:colId xmlns:a16="http://schemas.microsoft.com/office/drawing/2014/main" val="20006"/>
                    </a:ext>
                  </a:extLst>
                </a:gridCol>
                <a:gridCol w="960261">
                  <a:extLst>
                    <a:ext uri="{9D8B030D-6E8A-4147-A177-3AD203B41FA5}">
                      <a16:colId xmlns:a16="http://schemas.microsoft.com/office/drawing/2014/main" val="20007"/>
                    </a:ext>
                  </a:extLst>
                </a:gridCol>
                <a:gridCol w="960261">
                  <a:extLst>
                    <a:ext uri="{9D8B030D-6E8A-4147-A177-3AD203B41FA5}">
                      <a16:colId xmlns:a16="http://schemas.microsoft.com/office/drawing/2014/main" val="20008"/>
                    </a:ext>
                  </a:extLst>
                </a:gridCol>
              </a:tblGrid>
              <a:tr h="496233">
                <a:tc>
                  <a:txBody>
                    <a:bodyPr/>
                    <a:lstStyle/>
                    <a:p>
                      <a:pPr lvl="0" algn="ctr">
                        <a:buNone/>
                      </a:pPr>
                      <a:endParaRPr lang="en-US" sz="1800" b="1" dirty="0">
                        <a:latin typeface="Arial"/>
                      </a:endParaRPr>
                    </a:p>
                  </a:txBody>
                  <a:tcPr marL="91427" marR="91427" marT="45733" marB="45733">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27" marR="91427" marT="45733" marB="45733">
                    <a:lnR w="12700">
                      <a:solidFill>
                        <a:schemeClr val="tx1"/>
                      </a:solidFill>
                    </a:lnR>
                    <a:lnB w="12700">
                      <a:solidFill>
                        <a:schemeClr val="tx1"/>
                      </a:solidFill>
                    </a:lnB>
                  </a:tcPr>
                </a:tc>
                <a:tc>
                  <a:txBody>
                    <a:bodyPr/>
                    <a:lstStyle/>
                    <a:p>
                      <a:pPr algn="ctr"/>
                      <a:r>
                        <a:rPr lang="en-US" sz="1800" b="1" dirty="0">
                          <a:latin typeface="Arial"/>
                        </a:rPr>
                        <a:t>8</a:t>
                      </a:r>
                    </a:p>
                  </a:txBody>
                  <a:tcPr marL="91427" marR="91427" marT="45733" marB="45733">
                    <a:lnL w="12700">
                      <a:solidFill>
                        <a:schemeClr val="tx1"/>
                      </a:solidFill>
                    </a:lnL>
                    <a:lnB w="12700">
                      <a:solidFill>
                        <a:schemeClr val="tx1"/>
                      </a:solidFill>
                    </a:lnB>
                  </a:tcPr>
                </a:tc>
                <a:tc>
                  <a:txBody>
                    <a:bodyPr/>
                    <a:lstStyle/>
                    <a:p>
                      <a:pPr algn="ctr"/>
                      <a:r>
                        <a:rPr lang="en-US" sz="1800" b="1" dirty="0">
                          <a:latin typeface="Arial"/>
                        </a:rPr>
                        <a:t>10</a:t>
                      </a:r>
                    </a:p>
                  </a:txBody>
                  <a:tcPr marL="91427" marR="91427" marT="45733" marB="45733">
                    <a:lnB w="12700">
                      <a:solidFill>
                        <a:schemeClr val="tx1"/>
                      </a:solidFill>
                    </a:lnB>
                  </a:tcPr>
                </a:tc>
                <a:tc>
                  <a:txBody>
                    <a:bodyPr/>
                    <a:lstStyle/>
                    <a:p>
                      <a:pPr algn="ctr"/>
                      <a:r>
                        <a:rPr lang="en-US" sz="1800" b="1" dirty="0">
                          <a:latin typeface="Arial"/>
                        </a:rPr>
                        <a:t>7</a:t>
                      </a:r>
                    </a:p>
                  </a:txBody>
                  <a:tcPr marL="91427" marR="91427" marT="45733" marB="45733">
                    <a:lnB w="12700">
                      <a:solidFill>
                        <a:schemeClr val="tx1"/>
                      </a:solidFill>
                    </a:lnB>
                  </a:tcPr>
                </a:tc>
                <a:tc>
                  <a:txBody>
                    <a:bodyPr/>
                    <a:lstStyle/>
                    <a:p>
                      <a:pPr algn="ctr"/>
                      <a:r>
                        <a:rPr lang="en-US" sz="1800" b="1" dirty="0">
                          <a:latin typeface="Arial"/>
                        </a:rPr>
                        <a:t>0</a:t>
                      </a:r>
                    </a:p>
                  </a:txBody>
                  <a:tcPr marL="91427" marR="91427" marT="45733" marB="45733">
                    <a:lnB w="12700">
                      <a:solidFill>
                        <a:schemeClr val="tx1"/>
                      </a:solidFill>
                    </a:lnB>
                  </a:tcPr>
                </a:tc>
                <a:tc>
                  <a:txBody>
                    <a:bodyPr/>
                    <a:lstStyle/>
                    <a:p>
                      <a:pPr algn="ctr"/>
                      <a:r>
                        <a:rPr lang="en-US" sz="1800" b="1" dirty="0">
                          <a:latin typeface="Arial"/>
                        </a:rPr>
                        <a:t>0</a:t>
                      </a:r>
                    </a:p>
                  </a:txBody>
                  <a:tcPr marL="91427" marR="91427" marT="45733" marB="45733">
                    <a:lnR w="12700">
                      <a:solidFill>
                        <a:schemeClr val="tx1"/>
                      </a:solidFill>
                    </a:lnR>
                    <a:lnB w="12700">
                      <a:solidFill>
                        <a:schemeClr val="tx1"/>
                      </a:solidFill>
                    </a:lnB>
                  </a:tcPr>
                </a:tc>
                <a:tc>
                  <a:txBody>
                    <a:bodyPr/>
                    <a:lstStyle/>
                    <a:p>
                      <a:pPr algn="ctr"/>
                      <a:endParaRPr lang="en-US" sz="1800" b="1" dirty="0">
                        <a:latin typeface="Arial"/>
                      </a:endParaRPr>
                    </a:p>
                  </a:txBody>
                  <a:tcPr marL="91427" marR="91427" marT="45733" marB="4573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33" marB="45733">
                    <a:lnL w="12700">
                      <a:solidFill>
                        <a:schemeClr val="tx1"/>
                      </a:solidFill>
                    </a:lnL>
                    <a:lnB w="12700">
                      <a:solidFill>
                        <a:schemeClr val="tx1"/>
                      </a:solidFill>
                    </a:lnB>
                  </a:tcPr>
                </a:tc>
                <a:extLst>
                  <a:ext uri="{0D108BD9-81ED-4DB2-BD59-A6C34878D82A}">
                    <a16:rowId xmlns:a16="http://schemas.microsoft.com/office/drawing/2014/main" val="10000"/>
                  </a:ext>
                </a:extLst>
              </a:tr>
              <a:tr h="457329">
                <a:tc>
                  <a:txBody>
                    <a:bodyPr/>
                    <a:lstStyle/>
                    <a:p>
                      <a:pPr lvl="0" algn="ctr">
                        <a:buNone/>
                      </a:pPr>
                      <a:r>
                        <a:rPr lang="en-US" sz="1800" b="1" err="1">
                          <a:latin typeface="Arial"/>
                        </a:rPr>
                        <a:t>C</a:t>
                      </a:r>
                      <a:r>
                        <a:rPr lang="en-US" sz="1800" b="1" baseline="-25000" err="1">
                          <a:latin typeface="Arial"/>
                        </a:rPr>
                        <a:t>Bi</a:t>
                      </a:r>
                    </a:p>
                  </a:txBody>
                  <a:tcPr marL="91427" marR="91427" marT="45733" marB="45733">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27" marR="91427" marT="45733" marB="4573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27" marR="91427" marT="45733" marB="45733">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27" marR="91427" marT="45733" marB="45733">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27" marR="91427" marT="45733" marB="45733">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27" marR="91427" marT="45733" marB="45733">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27" marR="91427" marT="45733" marB="4573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27" marR="91427" marT="45733" marB="45733">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ratio</a:t>
                      </a:r>
                    </a:p>
                  </a:txBody>
                  <a:tcPr marL="91427" marR="91427" marT="45733" marB="45733">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70945">
                <a:tc>
                  <a:txBody>
                    <a:bodyPr/>
                    <a:lstStyle/>
                    <a:p>
                      <a:pPr lvl="0" algn="ctr">
                        <a:buNone/>
                      </a:pPr>
                      <a:r>
                        <a:rPr lang="en-US" sz="1800" b="1" dirty="0">
                          <a:latin typeface="Arial"/>
                        </a:rPr>
                        <a:t>0</a:t>
                      </a:r>
                    </a:p>
                  </a:txBody>
                  <a:tcPr marL="91427" marR="91427" marT="45733" marB="45733">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27" marR="91427" marT="45733" marB="45733">
                    <a:lnR w="12700">
                      <a:solidFill>
                        <a:schemeClr val="tx1"/>
                      </a:solidFill>
                    </a:lnR>
                    <a:lnT w="12700">
                      <a:solidFill>
                        <a:schemeClr val="tx1"/>
                      </a:solidFill>
                    </a:lnT>
                  </a:tcPr>
                </a:tc>
                <a:tc>
                  <a:txBody>
                    <a:bodyPr/>
                    <a:lstStyle/>
                    <a:p>
                      <a:pPr algn="ctr"/>
                      <a:r>
                        <a:rPr lang="en-US" sz="1800" b="1" dirty="0">
                          <a:latin typeface="Arial"/>
                        </a:rPr>
                        <a:t>1</a:t>
                      </a:r>
                    </a:p>
                  </a:txBody>
                  <a:tcPr marL="91427" marR="91427" marT="45733" marB="45733">
                    <a:lnL w="12700">
                      <a:solidFill>
                        <a:schemeClr val="tx1"/>
                      </a:solidFill>
                    </a:lnL>
                    <a:lnT w="12700">
                      <a:solidFill>
                        <a:schemeClr val="tx1"/>
                      </a:solidFill>
                    </a:lnT>
                  </a:tcPr>
                </a:tc>
                <a:tc>
                  <a:txBody>
                    <a:bodyPr/>
                    <a:lstStyle/>
                    <a:p>
                      <a:pPr algn="ctr"/>
                      <a:r>
                        <a:rPr lang="en-US" sz="1800" b="1" dirty="0">
                          <a:latin typeface="Arial"/>
                        </a:rPr>
                        <a:t>3</a:t>
                      </a:r>
                    </a:p>
                  </a:txBody>
                  <a:tcPr marL="91427" marR="91427" marT="45733" marB="45733">
                    <a:lnT w="12700">
                      <a:solidFill>
                        <a:schemeClr val="tx1"/>
                      </a:solidFill>
                    </a:lnT>
                  </a:tcPr>
                </a:tc>
                <a:tc>
                  <a:txBody>
                    <a:bodyPr/>
                    <a:lstStyle/>
                    <a:p>
                      <a:pPr algn="ctr"/>
                      <a:r>
                        <a:rPr lang="en-US" sz="1800" b="1" dirty="0">
                          <a:latin typeface="Arial"/>
                        </a:rPr>
                        <a:t>2</a:t>
                      </a:r>
                    </a:p>
                  </a:txBody>
                  <a:tcPr marL="91427" marR="91427" marT="45733" marB="45733">
                    <a:lnT w="12700">
                      <a:solidFill>
                        <a:schemeClr val="tx1"/>
                      </a:solidFill>
                    </a:lnT>
                  </a:tcPr>
                </a:tc>
                <a:tc>
                  <a:txBody>
                    <a:bodyPr/>
                    <a:lstStyle/>
                    <a:p>
                      <a:pPr algn="ctr"/>
                      <a:r>
                        <a:rPr lang="en-US" sz="1800" b="1" dirty="0">
                          <a:latin typeface="Arial"/>
                        </a:rPr>
                        <a:t>1</a:t>
                      </a:r>
                    </a:p>
                  </a:txBody>
                  <a:tcPr marL="91427" marR="91427" marT="45733" marB="45733">
                    <a:lnT w="12700">
                      <a:solidFill>
                        <a:schemeClr val="tx1"/>
                      </a:solidFill>
                    </a:lnT>
                  </a:tcPr>
                </a:tc>
                <a:tc>
                  <a:txBody>
                    <a:bodyPr/>
                    <a:lstStyle/>
                    <a:p>
                      <a:pPr algn="ctr"/>
                      <a:r>
                        <a:rPr lang="en-US" sz="1800" b="1" dirty="0">
                          <a:latin typeface="Arial"/>
                        </a:rPr>
                        <a:t>0</a:t>
                      </a:r>
                    </a:p>
                  </a:txBody>
                  <a:tcPr marL="91427" marR="91427" marT="45733" marB="45733">
                    <a:lnR w="12700">
                      <a:solidFill>
                        <a:schemeClr val="tx1"/>
                      </a:solidFill>
                    </a:lnR>
                    <a:lnT w="12700">
                      <a:solidFill>
                        <a:schemeClr val="tx1"/>
                      </a:solidFill>
                    </a:lnT>
                  </a:tcPr>
                </a:tc>
                <a:tc>
                  <a:txBody>
                    <a:bodyPr/>
                    <a:lstStyle/>
                    <a:p>
                      <a:pPr algn="ctr"/>
                      <a:r>
                        <a:rPr lang="en-US" sz="1800" b="1" dirty="0">
                          <a:latin typeface="Arial"/>
                        </a:rPr>
                        <a:t>10</a:t>
                      </a:r>
                    </a:p>
                  </a:txBody>
                  <a:tcPr marL="91427" marR="91427" marT="45733" marB="4573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33" marB="45733">
                    <a:lnL w="12700">
                      <a:solidFill>
                        <a:schemeClr val="tx1"/>
                      </a:solidFill>
                    </a:lnL>
                    <a:lnT w="12700">
                      <a:solidFill>
                        <a:schemeClr val="tx1"/>
                      </a:solidFill>
                    </a:lnT>
                  </a:tcPr>
                </a:tc>
                <a:extLst>
                  <a:ext uri="{0D108BD9-81ED-4DB2-BD59-A6C34878D82A}">
                    <a16:rowId xmlns:a16="http://schemas.microsoft.com/office/drawing/2014/main" val="10002"/>
                  </a:ext>
                </a:extLst>
              </a:tr>
              <a:tr h="370945">
                <a:tc>
                  <a:txBody>
                    <a:bodyPr/>
                    <a:lstStyle/>
                    <a:p>
                      <a:pPr lvl="0" algn="ctr">
                        <a:buNone/>
                      </a:pPr>
                      <a:r>
                        <a:rPr lang="en-US" sz="1800" b="1" dirty="0">
                          <a:solidFill>
                            <a:srgbClr val="FF0000"/>
                          </a:solidFill>
                          <a:latin typeface="Arial"/>
                        </a:rPr>
                        <a:t>10</a:t>
                      </a:r>
                    </a:p>
                  </a:txBody>
                  <a:tcPr marL="91427" marR="91427" marT="45733" marB="45733">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x2</a:t>
                      </a:r>
                      <a:endParaRPr lang="en-US" sz="1800">
                        <a:solidFill>
                          <a:srgbClr val="FF0000"/>
                        </a:solidFill>
                      </a:endParaRPr>
                    </a:p>
                  </a:txBody>
                  <a:tcPr marL="91427" marR="91427" marT="45733" marB="45733">
                    <a:lnR w="12700">
                      <a:solidFill>
                        <a:schemeClr val="tx1"/>
                      </a:solidFill>
                    </a:lnR>
                    <a:lnB w="12700">
                      <a:solidFill>
                        <a:schemeClr val="tx1"/>
                      </a:solidFill>
                    </a:lnB>
                  </a:tcPr>
                </a:tc>
                <a:tc>
                  <a:txBody>
                    <a:bodyPr/>
                    <a:lstStyle/>
                    <a:p>
                      <a:pPr algn="ctr"/>
                      <a:r>
                        <a:rPr lang="en-US" sz="1800" b="1" dirty="0">
                          <a:solidFill>
                            <a:srgbClr val="FF0000"/>
                          </a:solidFill>
                          <a:latin typeface="Arial"/>
                        </a:rPr>
                        <a:t>1/5</a:t>
                      </a:r>
                    </a:p>
                  </a:txBody>
                  <a:tcPr marL="91427" marR="91427" marT="45733" marB="45733">
                    <a:lnL w="12700">
                      <a:solidFill>
                        <a:schemeClr val="tx1"/>
                      </a:solidFill>
                    </a:lnL>
                    <a:lnB w="12700">
                      <a:solidFill>
                        <a:schemeClr val="tx1"/>
                      </a:solidFill>
                    </a:lnB>
                  </a:tcPr>
                </a:tc>
                <a:tc>
                  <a:txBody>
                    <a:bodyPr/>
                    <a:lstStyle/>
                    <a:p>
                      <a:pPr algn="ctr"/>
                      <a:r>
                        <a:rPr lang="en-US" sz="1800" b="1" dirty="0">
                          <a:solidFill>
                            <a:srgbClr val="FF0000"/>
                          </a:solidFill>
                          <a:latin typeface="Arial"/>
                        </a:rPr>
                        <a:t>1</a:t>
                      </a:r>
                    </a:p>
                  </a:txBody>
                  <a:tcPr marL="91427" marR="91427" marT="45733" marB="45733">
                    <a:lnB w="12700">
                      <a:solidFill>
                        <a:schemeClr val="tx1"/>
                      </a:solidFill>
                    </a:lnB>
                  </a:tcPr>
                </a:tc>
                <a:tc>
                  <a:txBody>
                    <a:bodyPr/>
                    <a:lstStyle/>
                    <a:p>
                      <a:pPr algn="ctr"/>
                      <a:r>
                        <a:rPr lang="en-US" sz="1800" b="1" dirty="0">
                          <a:solidFill>
                            <a:srgbClr val="FF0000"/>
                          </a:solidFill>
                          <a:latin typeface="Arial"/>
                        </a:rPr>
                        <a:t>1/5</a:t>
                      </a:r>
                    </a:p>
                  </a:txBody>
                  <a:tcPr marL="91427" marR="91427" marT="45733" marB="45733">
                    <a:lnB w="12700">
                      <a:solidFill>
                        <a:schemeClr val="tx1"/>
                      </a:solidFill>
                    </a:lnB>
                  </a:tcPr>
                </a:tc>
                <a:tc>
                  <a:txBody>
                    <a:bodyPr/>
                    <a:lstStyle/>
                    <a:p>
                      <a:pPr algn="ctr"/>
                      <a:r>
                        <a:rPr lang="en-US" sz="1800" b="1" dirty="0">
                          <a:solidFill>
                            <a:srgbClr val="FF0000"/>
                          </a:solidFill>
                          <a:latin typeface="Arial"/>
                        </a:rPr>
                        <a:t>0</a:t>
                      </a:r>
                    </a:p>
                  </a:txBody>
                  <a:tcPr marL="91427" marR="91427" marT="45733" marB="45733">
                    <a:lnB w="12700">
                      <a:solidFill>
                        <a:schemeClr val="tx1"/>
                      </a:solidFill>
                    </a:lnB>
                  </a:tcPr>
                </a:tc>
                <a:tc>
                  <a:txBody>
                    <a:bodyPr/>
                    <a:lstStyle/>
                    <a:p>
                      <a:pPr algn="ctr"/>
                      <a:r>
                        <a:rPr lang="en-US" sz="1800" b="1" dirty="0">
                          <a:solidFill>
                            <a:srgbClr val="FF0000"/>
                          </a:solidFill>
                          <a:latin typeface="Arial"/>
                        </a:rPr>
                        <a:t>1/5</a:t>
                      </a:r>
                    </a:p>
                  </a:txBody>
                  <a:tcPr marL="91427" marR="91427" marT="45733" marB="45733">
                    <a:lnR w="12700">
                      <a:solidFill>
                        <a:schemeClr val="tx1"/>
                      </a:solidFill>
                    </a:lnR>
                    <a:lnB w="12700">
                      <a:solidFill>
                        <a:schemeClr val="tx1"/>
                      </a:solidFill>
                    </a:lnB>
                  </a:tcPr>
                </a:tc>
                <a:tc>
                  <a:txBody>
                    <a:bodyPr/>
                    <a:lstStyle/>
                    <a:p>
                      <a:pPr algn="ctr"/>
                      <a:r>
                        <a:rPr lang="en-US" sz="1800" b="1" dirty="0">
                          <a:solidFill>
                            <a:srgbClr val="FF0000"/>
                          </a:solidFill>
                          <a:latin typeface="Arial"/>
                        </a:rPr>
                        <a:t>8/5</a:t>
                      </a:r>
                    </a:p>
                  </a:txBody>
                  <a:tcPr marL="91427" marR="91427" marT="45733" marB="4573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33" marB="45733">
                    <a:lnL w="12700">
                      <a:solidFill>
                        <a:schemeClr val="tx1"/>
                      </a:solidFill>
                    </a:lnL>
                    <a:lnB w="12700">
                      <a:solidFill>
                        <a:schemeClr val="tx1"/>
                      </a:solidFill>
                    </a:lnB>
                  </a:tcPr>
                </a:tc>
                <a:extLst>
                  <a:ext uri="{0D108BD9-81ED-4DB2-BD59-A6C34878D82A}">
                    <a16:rowId xmlns:a16="http://schemas.microsoft.com/office/drawing/2014/main" val="10003"/>
                  </a:ext>
                </a:extLst>
              </a:tr>
            </a:tbl>
          </a:graphicData>
        </a:graphic>
      </p:graphicFrame>
      <p:graphicFrame>
        <p:nvGraphicFramePr>
          <p:cNvPr id="11" name="Table 11">
            <a:extLst>
              <a:ext uri="{FF2B5EF4-FFF2-40B4-BE49-F238E27FC236}">
                <a16:creationId xmlns:a16="http://schemas.microsoft.com/office/drawing/2014/main" id="{BFF6B00B-B69C-47B4-0F94-32156632EE8E}"/>
              </a:ext>
            </a:extLst>
          </p:cNvPr>
          <p:cNvGraphicFramePr>
            <a:graphicFrameLocks noGrp="1"/>
          </p:cNvGraphicFramePr>
          <p:nvPr/>
        </p:nvGraphicFramePr>
        <p:xfrm>
          <a:off x="3503613" y="4446588"/>
          <a:ext cx="8642350" cy="1695450"/>
        </p:xfrm>
        <a:graphic>
          <a:graphicData uri="http://schemas.openxmlformats.org/drawingml/2006/table">
            <a:tbl>
              <a:tblPr firstRow="1" bandRow="1">
                <a:tableStyleId>{2D5ABB26-0587-4C30-8999-92F81FD0307C}</a:tableStyleId>
              </a:tblPr>
              <a:tblGrid>
                <a:gridCol w="872147">
                  <a:extLst>
                    <a:ext uri="{9D8B030D-6E8A-4147-A177-3AD203B41FA5}">
                      <a16:colId xmlns:a16="http://schemas.microsoft.com/office/drawing/2014/main" val="20000"/>
                    </a:ext>
                  </a:extLst>
                </a:gridCol>
                <a:gridCol w="1230142">
                  <a:extLst>
                    <a:ext uri="{9D8B030D-6E8A-4147-A177-3AD203B41FA5}">
                      <a16:colId xmlns:a16="http://schemas.microsoft.com/office/drawing/2014/main" val="20001"/>
                    </a:ext>
                  </a:extLst>
                </a:gridCol>
                <a:gridCol w="778497">
                  <a:extLst>
                    <a:ext uri="{9D8B030D-6E8A-4147-A177-3AD203B41FA5}">
                      <a16:colId xmlns:a16="http://schemas.microsoft.com/office/drawing/2014/main" val="20002"/>
                    </a:ext>
                  </a:extLst>
                </a:gridCol>
                <a:gridCol w="960261">
                  <a:extLst>
                    <a:ext uri="{9D8B030D-6E8A-4147-A177-3AD203B41FA5}">
                      <a16:colId xmlns:a16="http://schemas.microsoft.com/office/drawing/2014/main" val="20003"/>
                    </a:ext>
                  </a:extLst>
                </a:gridCol>
                <a:gridCol w="960261">
                  <a:extLst>
                    <a:ext uri="{9D8B030D-6E8A-4147-A177-3AD203B41FA5}">
                      <a16:colId xmlns:a16="http://schemas.microsoft.com/office/drawing/2014/main" val="20004"/>
                    </a:ext>
                  </a:extLst>
                </a:gridCol>
                <a:gridCol w="960261">
                  <a:extLst>
                    <a:ext uri="{9D8B030D-6E8A-4147-A177-3AD203B41FA5}">
                      <a16:colId xmlns:a16="http://schemas.microsoft.com/office/drawing/2014/main" val="20005"/>
                    </a:ext>
                  </a:extLst>
                </a:gridCol>
                <a:gridCol w="960261">
                  <a:extLst>
                    <a:ext uri="{9D8B030D-6E8A-4147-A177-3AD203B41FA5}">
                      <a16:colId xmlns:a16="http://schemas.microsoft.com/office/drawing/2014/main" val="20006"/>
                    </a:ext>
                  </a:extLst>
                </a:gridCol>
                <a:gridCol w="960261">
                  <a:extLst>
                    <a:ext uri="{9D8B030D-6E8A-4147-A177-3AD203B41FA5}">
                      <a16:colId xmlns:a16="http://schemas.microsoft.com/office/drawing/2014/main" val="20007"/>
                    </a:ext>
                  </a:extLst>
                </a:gridCol>
                <a:gridCol w="960261">
                  <a:extLst>
                    <a:ext uri="{9D8B030D-6E8A-4147-A177-3AD203B41FA5}">
                      <a16:colId xmlns:a16="http://schemas.microsoft.com/office/drawing/2014/main" val="20008"/>
                    </a:ext>
                  </a:extLst>
                </a:gridCol>
              </a:tblGrid>
              <a:tr h="496233">
                <a:tc>
                  <a:txBody>
                    <a:bodyPr/>
                    <a:lstStyle/>
                    <a:p>
                      <a:pPr lvl="0" algn="ctr">
                        <a:buNone/>
                      </a:pPr>
                      <a:endParaRPr lang="en-US" sz="1800" b="1" dirty="0">
                        <a:latin typeface="Arial"/>
                      </a:endParaRPr>
                    </a:p>
                  </a:txBody>
                  <a:tcPr marL="91427" marR="91427" marT="45733" marB="45733">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27" marR="91427" marT="45733" marB="45733">
                    <a:lnR w="12700">
                      <a:solidFill>
                        <a:schemeClr val="tx1"/>
                      </a:solidFill>
                    </a:lnR>
                    <a:lnB w="12700">
                      <a:solidFill>
                        <a:schemeClr val="tx1"/>
                      </a:solidFill>
                    </a:lnB>
                  </a:tcPr>
                </a:tc>
                <a:tc>
                  <a:txBody>
                    <a:bodyPr/>
                    <a:lstStyle/>
                    <a:p>
                      <a:pPr algn="ctr"/>
                      <a:r>
                        <a:rPr lang="en-US" sz="1800" b="1" dirty="0">
                          <a:latin typeface="Arial"/>
                        </a:rPr>
                        <a:t>8</a:t>
                      </a:r>
                    </a:p>
                  </a:txBody>
                  <a:tcPr marL="91427" marR="91427" marT="45733" marB="45733">
                    <a:lnL w="12700">
                      <a:solidFill>
                        <a:schemeClr val="tx1"/>
                      </a:solidFill>
                    </a:lnL>
                    <a:lnB w="12700">
                      <a:solidFill>
                        <a:schemeClr val="tx1"/>
                      </a:solidFill>
                    </a:lnB>
                  </a:tcPr>
                </a:tc>
                <a:tc>
                  <a:txBody>
                    <a:bodyPr/>
                    <a:lstStyle/>
                    <a:p>
                      <a:pPr algn="ctr"/>
                      <a:r>
                        <a:rPr lang="en-US" sz="1800" b="1" dirty="0">
                          <a:latin typeface="Arial"/>
                        </a:rPr>
                        <a:t>10</a:t>
                      </a:r>
                    </a:p>
                  </a:txBody>
                  <a:tcPr marL="91427" marR="91427" marT="45733" marB="45733">
                    <a:lnB w="12700">
                      <a:solidFill>
                        <a:schemeClr val="tx1"/>
                      </a:solidFill>
                    </a:lnB>
                  </a:tcPr>
                </a:tc>
                <a:tc>
                  <a:txBody>
                    <a:bodyPr/>
                    <a:lstStyle/>
                    <a:p>
                      <a:pPr algn="ctr"/>
                      <a:r>
                        <a:rPr lang="en-US" sz="1800" b="1" dirty="0">
                          <a:latin typeface="Arial"/>
                        </a:rPr>
                        <a:t>7</a:t>
                      </a:r>
                    </a:p>
                  </a:txBody>
                  <a:tcPr marL="91427" marR="91427" marT="45733" marB="45733">
                    <a:lnB w="12700">
                      <a:solidFill>
                        <a:schemeClr val="tx1"/>
                      </a:solidFill>
                    </a:lnB>
                  </a:tcPr>
                </a:tc>
                <a:tc>
                  <a:txBody>
                    <a:bodyPr/>
                    <a:lstStyle/>
                    <a:p>
                      <a:pPr algn="ctr"/>
                      <a:r>
                        <a:rPr lang="en-US" sz="1800" b="1" dirty="0">
                          <a:latin typeface="Arial"/>
                        </a:rPr>
                        <a:t>0</a:t>
                      </a:r>
                    </a:p>
                  </a:txBody>
                  <a:tcPr marL="91427" marR="91427" marT="45733" marB="45733">
                    <a:lnB w="12700">
                      <a:solidFill>
                        <a:schemeClr val="tx1"/>
                      </a:solidFill>
                    </a:lnB>
                  </a:tcPr>
                </a:tc>
                <a:tc>
                  <a:txBody>
                    <a:bodyPr/>
                    <a:lstStyle/>
                    <a:p>
                      <a:pPr algn="ctr"/>
                      <a:r>
                        <a:rPr lang="en-US" sz="1800" b="1" dirty="0">
                          <a:latin typeface="Arial"/>
                        </a:rPr>
                        <a:t>0</a:t>
                      </a:r>
                    </a:p>
                  </a:txBody>
                  <a:tcPr marL="91427" marR="91427" marT="45733" marB="45733">
                    <a:lnR w="12700">
                      <a:solidFill>
                        <a:schemeClr val="tx1"/>
                      </a:solidFill>
                    </a:lnR>
                    <a:lnB w="12700">
                      <a:solidFill>
                        <a:schemeClr val="tx1"/>
                      </a:solidFill>
                    </a:lnB>
                  </a:tcPr>
                </a:tc>
                <a:tc>
                  <a:txBody>
                    <a:bodyPr/>
                    <a:lstStyle/>
                    <a:p>
                      <a:pPr algn="ctr"/>
                      <a:endParaRPr lang="en-US" sz="1800" b="1" dirty="0">
                        <a:latin typeface="Arial"/>
                      </a:endParaRPr>
                    </a:p>
                  </a:txBody>
                  <a:tcPr marL="91427" marR="91427" marT="45733" marB="4573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33" marB="45733">
                    <a:lnL w="12700">
                      <a:solidFill>
                        <a:schemeClr val="tx1"/>
                      </a:solidFill>
                    </a:lnL>
                    <a:lnB w="12700">
                      <a:solidFill>
                        <a:schemeClr val="tx1"/>
                      </a:solidFill>
                    </a:lnB>
                  </a:tcPr>
                </a:tc>
                <a:extLst>
                  <a:ext uri="{0D108BD9-81ED-4DB2-BD59-A6C34878D82A}">
                    <a16:rowId xmlns:a16="http://schemas.microsoft.com/office/drawing/2014/main" val="10000"/>
                  </a:ext>
                </a:extLst>
              </a:tr>
              <a:tr h="457329">
                <a:tc>
                  <a:txBody>
                    <a:bodyPr/>
                    <a:lstStyle/>
                    <a:p>
                      <a:pPr lvl="0" algn="ctr">
                        <a:buNone/>
                      </a:pPr>
                      <a:r>
                        <a:rPr lang="en-US" sz="1800" b="1" err="1">
                          <a:latin typeface="Arial"/>
                        </a:rPr>
                        <a:t>C</a:t>
                      </a:r>
                      <a:r>
                        <a:rPr lang="en-US" sz="1800" b="1" baseline="-25000" err="1">
                          <a:latin typeface="Arial"/>
                        </a:rPr>
                        <a:t>Bi</a:t>
                      </a:r>
                    </a:p>
                  </a:txBody>
                  <a:tcPr marL="91427" marR="91427" marT="45733" marB="45733">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27" marR="91427" marT="45733" marB="4573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27" marR="91427" marT="45733" marB="45733">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27" marR="91427" marT="45733" marB="45733">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27" marR="91427" marT="45733" marB="45733">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27" marR="91427" marT="45733" marB="45733">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27" marR="91427" marT="45733" marB="4573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27" marR="91427" marT="45733" marB="45733">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ratio</a:t>
                      </a:r>
                    </a:p>
                  </a:txBody>
                  <a:tcPr marL="91427" marR="91427" marT="45733" marB="45733">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70944">
                <a:tc>
                  <a:txBody>
                    <a:bodyPr/>
                    <a:lstStyle/>
                    <a:p>
                      <a:pPr lvl="0" algn="ctr">
                        <a:buNone/>
                      </a:pPr>
                      <a:r>
                        <a:rPr lang="en-US" sz="1800" b="1" dirty="0">
                          <a:latin typeface="Arial"/>
                        </a:rPr>
                        <a:t>0</a:t>
                      </a:r>
                    </a:p>
                  </a:txBody>
                  <a:tcPr marL="91427" marR="91427" marT="45733" marB="45733">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27" marR="91427" marT="45733" marB="45733">
                    <a:lnR w="12700">
                      <a:solidFill>
                        <a:schemeClr val="tx1"/>
                      </a:solidFill>
                    </a:lnR>
                    <a:lnT w="12700">
                      <a:solidFill>
                        <a:schemeClr val="tx1"/>
                      </a:solidFill>
                    </a:lnT>
                  </a:tcPr>
                </a:tc>
                <a:tc>
                  <a:txBody>
                    <a:bodyPr/>
                    <a:lstStyle/>
                    <a:p>
                      <a:pPr algn="ctr"/>
                      <a:r>
                        <a:rPr lang="en-US" sz="1800" b="1" dirty="0">
                          <a:solidFill>
                            <a:srgbClr val="FF0000"/>
                          </a:solidFill>
                          <a:latin typeface="Arial"/>
                        </a:rPr>
                        <a:t>2/5</a:t>
                      </a:r>
                    </a:p>
                  </a:txBody>
                  <a:tcPr marL="91427" marR="91427" marT="45733" marB="45733">
                    <a:lnL w="12700">
                      <a:solidFill>
                        <a:schemeClr val="tx1"/>
                      </a:solidFill>
                    </a:lnL>
                    <a:lnT w="12700">
                      <a:solidFill>
                        <a:schemeClr val="tx1"/>
                      </a:solidFill>
                    </a:lnT>
                  </a:tcPr>
                </a:tc>
                <a:tc>
                  <a:txBody>
                    <a:bodyPr/>
                    <a:lstStyle/>
                    <a:p>
                      <a:pPr algn="ctr"/>
                      <a:r>
                        <a:rPr lang="en-US" sz="1800" b="1" dirty="0">
                          <a:solidFill>
                            <a:srgbClr val="FF0000"/>
                          </a:solidFill>
                          <a:latin typeface="Arial"/>
                        </a:rPr>
                        <a:t>0</a:t>
                      </a:r>
                    </a:p>
                  </a:txBody>
                  <a:tcPr marL="91427" marR="91427" marT="45733" marB="45733">
                    <a:lnT w="12700">
                      <a:solidFill>
                        <a:schemeClr val="tx1"/>
                      </a:solidFill>
                    </a:lnT>
                  </a:tcPr>
                </a:tc>
                <a:tc>
                  <a:txBody>
                    <a:bodyPr/>
                    <a:lstStyle/>
                    <a:p>
                      <a:pPr algn="ctr"/>
                      <a:r>
                        <a:rPr lang="en-US" sz="1800" b="1" dirty="0">
                          <a:solidFill>
                            <a:srgbClr val="FF0000"/>
                          </a:solidFill>
                          <a:latin typeface="Arial"/>
                        </a:rPr>
                        <a:t>7/5</a:t>
                      </a:r>
                    </a:p>
                  </a:txBody>
                  <a:tcPr marL="91427" marR="91427" marT="45733" marB="45733">
                    <a:lnT w="12700">
                      <a:solidFill>
                        <a:schemeClr val="tx1"/>
                      </a:solidFill>
                    </a:lnT>
                  </a:tcPr>
                </a:tc>
                <a:tc>
                  <a:txBody>
                    <a:bodyPr/>
                    <a:lstStyle/>
                    <a:p>
                      <a:pPr algn="ctr"/>
                      <a:r>
                        <a:rPr lang="en-US" sz="1800" b="1" dirty="0">
                          <a:solidFill>
                            <a:srgbClr val="FF0000"/>
                          </a:solidFill>
                          <a:latin typeface="Arial"/>
                        </a:rPr>
                        <a:t>1</a:t>
                      </a:r>
                    </a:p>
                  </a:txBody>
                  <a:tcPr marL="91427" marR="91427" marT="45733" marB="45733">
                    <a:lnT w="12700">
                      <a:solidFill>
                        <a:schemeClr val="tx1"/>
                      </a:solidFill>
                    </a:lnT>
                  </a:tcPr>
                </a:tc>
                <a:tc>
                  <a:txBody>
                    <a:bodyPr/>
                    <a:lstStyle/>
                    <a:p>
                      <a:pPr algn="ctr"/>
                      <a:r>
                        <a:rPr lang="en-US" sz="1800" b="1" dirty="0">
                          <a:solidFill>
                            <a:srgbClr val="FF0000"/>
                          </a:solidFill>
                          <a:latin typeface="Arial"/>
                        </a:rPr>
                        <a:t>-3/5</a:t>
                      </a:r>
                    </a:p>
                  </a:txBody>
                  <a:tcPr marL="91427" marR="91427" marT="45733" marB="45733">
                    <a:lnR w="12700">
                      <a:solidFill>
                        <a:schemeClr val="tx1"/>
                      </a:solidFill>
                    </a:lnR>
                    <a:lnT w="12700">
                      <a:solidFill>
                        <a:schemeClr val="tx1"/>
                      </a:solidFill>
                    </a:lnT>
                  </a:tcPr>
                </a:tc>
                <a:tc>
                  <a:txBody>
                    <a:bodyPr/>
                    <a:lstStyle/>
                    <a:p>
                      <a:pPr algn="ctr"/>
                      <a:r>
                        <a:rPr lang="en-US" sz="1800" b="1" dirty="0">
                          <a:solidFill>
                            <a:srgbClr val="FF0000"/>
                          </a:solidFill>
                          <a:latin typeface="Arial"/>
                        </a:rPr>
                        <a:t>26/5</a:t>
                      </a:r>
                    </a:p>
                  </a:txBody>
                  <a:tcPr marL="91427" marR="91427" marT="45733" marB="45733">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33" marB="45733">
                    <a:lnL w="12700">
                      <a:solidFill>
                        <a:schemeClr val="tx1"/>
                      </a:solidFill>
                    </a:lnL>
                    <a:lnT w="12700">
                      <a:solidFill>
                        <a:schemeClr val="tx1"/>
                      </a:solidFill>
                    </a:lnT>
                  </a:tcPr>
                </a:tc>
                <a:extLst>
                  <a:ext uri="{0D108BD9-81ED-4DB2-BD59-A6C34878D82A}">
                    <a16:rowId xmlns:a16="http://schemas.microsoft.com/office/drawing/2014/main" val="10002"/>
                  </a:ext>
                </a:extLst>
              </a:tr>
              <a:tr h="370944">
                <a:tc>
                  <a:txBody>
                    <a:bodyPr/>
                    <a:lstStyle/>
                    <a:p>
                      <a:pPr lvl="0" algn="ctr">
                        <a:buNone/>
                      </a:pPr>
                      <a:r>
                        <a:rPr lang="en-US" sz="1800" b="1" dirty="0">
                          <a:solidFill>
                            <a:srgbClr val="FF0000"/>
                          </a:solidFill>
                          <a:latin typeface="Arial"/>
                        </a:rPr>
                        <a:t>10</a:t>
                      </a:r>
                    </a:p>
                  </a:txBody>
                  <a:tcPr marL="91427" marR="91427" marT="45733" marB="45733">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x2</a:t>
                      </a:r>
                      <a:endParaRPr lang="en-US" sz="1800">
                        <a:solidFill>
                          <a:srgbClr val="FF0000"/>
                        </a:solidFill>
                      </a:endParaRPr>
                    </a:p>
                  </a:txBody>
                  <a:tcPr marL="91427" marR="91427" marT="45733" marB="45733">
                    <a:lnR w="12700">
                      <a:solidFill>
                        <a:schemeClr val="tx1"/>
                      </a:solidFill>
                    </a:lnR>
                    <a:lnB w="12700">
                      <a:solidFill>
                        <a:schemeClr val="tx1"/>
                      </a:solidFill>
                    </a:lnB>
                  </a:tcPr>
                </a:tc>
                <a:tc>
                  <a:txBody>
                    <a:bodyPr/>
                    <a:lstStyle/>
                    <a:p>
                      <a:pPr algn="ctr"/>
                      <a:r>
                        <a:rPr lang="en-US" sz="1800" b="1" dirty="0">
                          <a:solidFill>
                            <a:srgbClr val="FF0000"/>
                          </a:solidFill>
                          <a:latin typeface="Arial"/>
                        </a:rPr>
                        <a:t>1/5</a:t>
                      </a:r>
                    </a:p>
                  </a:txBody>
                  <a:tcPr marL="91427" marR="91427" marT="45733" marB="45733">
                    <a:lnL w="12700">
                      <a:solidFill>
                        <a:schemeClr val="tx1"/>
                      </a:solidFill>
                    </a:lnL>
                    <a:lnB w="12700">
                      <a:solidFill>
                        <a:schemeClr val="tx1"/>
                      </a:solidFill>
                    </a:lnB>
                  </a:tcPr>
                </a:tc>
                <a:tc>
                  <a:txBody>
                    <a:bodyPr/>
                    <a:lstStyle/>
                    <a:p>
                      <a:pPr algn="ctr"/>
                      <a:r>
                        <a:rPr lang="en-US" sz="1800" b="1" dirty="0">
                          <a:solidFill>
                            <a:srgbClr val="FF0000"/>
                          </a:solidFill>
                          <a:latin typeface="Arial"/>
                        </a:rPr>
                        <a:t>1</a:t>
                      </a:r>
                    </a:p>
                  </a:txBody>
                  <a:tcPr marL="91427" marR="91427" marT="45733" marB="45733">
                    <a:lnB w="12700">
                      <a:solidFill>
                        <a:schemeClr val="tx1"/>
                      </a:solidFill>
                    </a:lnB>
                  </a:tcPr>
                </a:tc>
                <a:tc>
                  <a:txBody>
                    <a:bodyPr/>
                    <a:lstStyle/>
                    <a:p>
                      <a:pPr algn="ctr"/>
                      <a:r>
                        <a:rPr lang="en-US" sz="1800" b="1" dirty="0">
                          <a:solidFill>
                            <a:srgbClr val="FF0000"/>
                          </a:solidFill>
                          <a:latin typeface="Arial"/>
                        </a:rPr>
                        <a:t>1/5</a:t>
                      </a:r>
                    </a:p>
                  </a:txBody>
                  <a:tcPr marL="91427" marR="91427" marT="45733" marB="45733">
                    <a:lnB w="12700">
                      <a:solidFill>
                        <a:schemeClr val="tx1"/>
                      </a:solidFill>
                    </a:lnB>
                  </a:tcPr>
                </a:tc>
                <a:tc>
                  <a:txBody>
                    <a:bodyPr/>
                    <a:lstStyle/>
                    <a:p>
                      <a:pPr algn="ctr"/>
                      <a:r>
                        <a:rPr lang="en-US" sz="1800" b="1" dirty="0">
                          <a:solidFill>
                            <a:srgbClr val="FF0000"/>
                          </a:solidFill>
                          <a:latin typeface="Arial"/>
                        </a:rPr>
                        <a:t>0</a:t>
                      </a:r>
                    </a:p>
                  </a:txBody>
                  <a:tcPr marL="91427" marR="91427" marT="45733" marB="45733">
                    <a:lnB w="12700">
                      <a:solidFill>
                        <a:schemeClr val="tx1"/>
                      </a:solidFill>
                    </a:lnB>
                  </a:tcPr>
                </a:tc>
                <a:tc>
                  <a:txBody>
                    <a:bodyPr/>
                    <a:lstStyle/>
                    <a:p>
                      <a:pPr algn="ctr"/>
                      <a:r>
                        <a:rPr lang="en-US" sz="1800" b="1" dirty="0">
                          <a:solidFill>
                            <a:srgbClr val="FF0000"/>
                          </a:solidFill>
                          <a:latin typeface="Arial"/>
                        </a:rPr>
                        <a:t>1/5</a:t>
                      </a:r>
                    </a:p>
                  </a:txBody>
                  <a:tcPr marL="91427" marR="91427" marT="45733" marB="45733">
                    <a:lnR w="12700">
                      <a:solidFill>
                        <a:schemeClr val="tx1"/>
                      </a:solidFill>
                    </a:lnR>
                    <a:lnB w="12700">
                      <a:solidFill>
                        <a:schemeClr val="tx1"/>
                      </a:solidFill>
                    </a:lnB>
                  </a:tcPr>
                </a:tc>
                <a:tc>
                  <a:txBody>
                    <a:bodyPr/>
                    <a:lstStyle/>
                    <a:p>
                      <a:pPr algn="ctr"/>
                      <a:r>
                        <a:rPr lang="en-US" sz="1800" b="1" dirty="0">
                          <a:solidFill>
                            <a:srgbClr val="FF0000"/>
                          </a:solidFill>
                          <a:latin typeface="Arial"/>
                        </a:rPr>
                        <a:t>8/5</a:t>
                      </a:r>
                    </a:p>
                  </a:txBody>
                  <a:tcPr marL="91427" marR="91427" marT="45733" marB="4573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33" marB="45733">
                    <a:lnL w="12700">
                      <a:solidFill>
                        <a:schemeClr val="tx1"/>
                      </a:solidFill>
                    </a:lnL>
                    <a:lnB w="12700">
                      <a:solidFill>
                        <a:schemeClr val="tx1"/>
                      </a:solid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Google Shape;192;p32" descr="KL Deemed to be University Logo">
            <a:extLst>
              <a:ext uri="{FF2B5EF4-FFF2-40B4-BE49-F238E27FC236}">
                <a16:creationId xmlns:a16="http://schemas.microsoft.com/office/drawing/2014/main" id="{3A8C2243-B3C0-8807-592B-765E98008F7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Google Shape;193;p32">
            <a:extLst>
              <a:ext uri="{FF2B5EF4-FFF2-40B4-BE49-F238E27FC236}">
                <a16:creationId xmlns:a16="http://schemas.microsoft.com/office/drawing/2014/main" id="{FDC7E5F0-31DF-67EF-24EC-F0E7A69F269C}"/>
              </a:ext>
            </a:extLst>
          </p:cNvPr>
          <p:cNvSpPr>
            <a:spLocks noChangeArrowheads="1"/>
          </p:cNvSpPr>
          <p:nvPr/>
        </p:nvSpPr>
        <p:spPr bwMode="auto">
          <a:xfrm>
            <a:off x="3046413" y="112713"/>
            <a:ext cx="5786437"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7: Check for optimality </a:t>
            </a:r>
          </a:p>
        </p:txBody>
      </p:sp>
      <p:pic>
        <p:nvPicPr>
          <p:cNvPr id="54276" name="Google Shape;194;p32" descr="KL Deemed to be University Logo">
            <a:extLst>
              <a:ext uri="{FF2B5EF4-FFF2-40B4-BE49-F238E27FC236}">
                <a16:creationId xmlns:a16="http://schemas.microsoft.com/office/drawing/2014/main" id="{B0DAA4EC-F2E8-9FD3-E7CA-2EFA23C4989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Google Shape;195;p32">
            <a:extLst>
              <a:ext uri="{FF2B5EF4-FFF2-40B4-BE49-F238E27FC236}">
                <a16:creationId xmlns:a16="http://schemas.microsoft.com/office/drawing/2014/main" id="{CE19FF2A-64D7-2829-E0A3-5ACB6E0016F0}"/>
              </a:ext>
            </a:extLst>
          </p:cNvPr>
          <p:cNvSpPr txBox="1">
            <a:spLocks noChangeArrowheads="1"/>
          </p:cNvSpPr>
          <p:nvPr/>
        </p:nvSpPr>
        <p:spPr bwMode="auto">
          <a:xfrm>
            <a:off x="733425" y="3675063"/>
            <a:ext cx="10847388" cy="21240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101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endParaRPr lang="en-US" altLang="en-US" sz="1800">
              <a:ea typeface="Cambria" panose="02040503050406030204" pitchFamily="18" charset="0"/>
              <a:cs typeface="Times New Roman" panose="02020603050405020304" pitchFamily="18" charset="0"/>
            </a:endParaRPr>
          </a:p>
          <a:p>
            <a:pPr eaLnBrk="1" hangingPunct="1">
              <a:lnSpc>
                <a:spcPct val="100000"/>
              </a:lnSpc>
              <a:spcBef>
                <a:spcPct val="0"/>
              </a:spcBef>
              <a:buClrTx/>
              <a:buSzTx/>
            </a:pPr>
            <a:r>
              <a:rPr lang="en-US" altLang="en-US">
                <a:latin typeface="Times New Roman" panose="02020603050405020304" pitchFamily="18" charset="0"/>
                <a:ea typeface="Cambria" panose="02040503050406030204" pitchFamily="18" charset="0"/>
                <a:cs typeface="Times New Roman" panose="02020603050405020304" pitchFamily="18" charset="0"/>
              </a:rPr>
              <a:t>Compute zj using the formula         </a:t>
            </a:r>
            <a:r>
              <a:rPr lang="en-US" altLang="en-US" sz="2800">
                <a:latin typeface="Times New Roman" panose="02020603050405020304" pitchFamily="18" charset="0"/>
                <a:ea typeface="Cambria" panose="02040503050406030204" pitchFamily="18" charset="0"/>
                <a:cs typeface="Times New Roman" panose="02020603050405020304" pitchFamily="18" charset="0"/>
              </a:rPr>
              <a:t>z</a:t>
            </a:r>
            <a:r>
              <a:rPr lang="en-US" altLang="en-US" sz="1900" baseline="-25000">
                <a:latin typeface="Times New Roman" panose="02020603050405020304" pitchFamily="18" charset="0"/>
                <a:ea typeface="Cambria" panose="02040503050406030204" pitchFamily="18" charset="0"/>
                <a:cs typeface="Times New Roman" panose="02020603050405020304" pitchFamily="18" charset="0"/>
              </a:rPr>
              <a:t>j</a:t>
            </a:r>
            <a:r>
              <a:rPr lang="en-US" altLang="en-US" sz="2800">
                <a:latin typeface="Times New Roman" panose="02020603050405020304" pitchFamily="18" charset="0"/>
                <a:ea typeface="Cambria" panose="02040503050406030204" pitchFamily="18" charset="0"/>
                <a:cs typeface="Times New Roman" panose="02020603050405020304" pitchFamily="18" charset="0"/>
              </a:rPr>
              <a:t> = </a:t>
            </a:r>
            <a:r>
              <a:rPr lang="en-US" altLang="en-US" sz="2800">
                <a:ea typeface="Cambria" panose="02040503050406030204" pitchFamily="18" charset="0"/>
                <a:cs typeface="Times New Roman" panose="02020603050405020304" pitchFamily="18" charset="0"/>
              </a:rPr>
              <a:t>Σ</a:t>
            </a:r>
            <a:r>
              <a:rPr lang="en-US" altLang="en-US" sz="1900" baseline="-25000">
                <a:ea typeface="Cambria" panose="02040503050406030204" pitchFamily="18" charset="0"/>
                <a:cs typeface="Times New Roman" panose="02020603050405020304" pitchFamily="18" charset="0"/>
              </a:rPr>
              <a:t>i</a:t>
            </a:r>
            <a:r>
              <a:rPr lang="en-US" altLang="en-US" sz="2800">
                <a:ea typeface="Cambria" panose="02040503050406030204" pitchFamily="18" charset="0"/>
                <a:cs typeface="Times New Roman" panose="02020603050405020304" pitchFamily="18" charset="0"/>
              </a:rPr>
              <a:t> C</a:t>
            </a:r>
            <a:r>
              <a:rPr lang="en-US" altLang="en-US" sz="1900" baseline="-25000">
                <a:ea typeface="Cambria" panose="02040503050406030204" pitchFamily="18" charset="0"/>
                <a:cs typeface="Times New Roman" panose="02020603050405020304" pitchFamily="18" charset="0"/>
              </a:rPr>
              <a:t>Bi</a:t>
            </a:r>
            <a:r>
              <a:rPr lang="en-US" altLang="en-US" sz="2800">
                <a:ea typeface="Cambria" panose="02040503050406030204" pitchFamily="18" charset="0"/>
                <a:cs typeface="Times New Roman" panose="02020603050405020304" pitchFamily="18" charset="0"/>
              </a:rPr>
              <a:t> a</a:t>
            </a:r>
            <a:r>
              <a:rPr lang="en-US" altLang="en-US" sz="1900" baseline="-25000">
                <a:ea typeface="Cambria" panose="02040503050406030204" pitchFamily="18" charset="0"/>
                <a:cs typeface="Times New Roman" panose="02020603050405020304" pitchFamily="18" charset="0"/>
              </a:rPr>
              <a:t>ij</a:t>
            </a:r>
            <a:endParaRPr lang="en-US" altLang="en-US" sz="1900">
              <a:ea typeface="Cambria" panose="02040503050406030204" pitchFamily="18" charset="0"/>
              <a:cs typeface="Times New Roman" panose="02020603050405020304" pitchFamily="18" charset="0"/>
            </a:endParaRPr>
          </a:p>
          <a:p>
            <a:pPr eaLnBrk="1" hangingPunct="1">
              <a:lnSpc>
                <a:spcPct val="100000"/>
              </a:lnSpc>
              <a:spcBef>
                <a:spcPct val="0"/>
              </a:spcBef>
              <a:buClrTx/>
              <a:buSzTx/>
            </a:pPr>
            <a:r>
              <a:rPr lang="en-US" altLang="en-US">
                <a:latin typeface="Times New Roman" panose="02020603050405020304" pitchFamily="18" charset="0"/>
                <a:ea typeface="Cambria" panose="02040503050406030204" pitchFamily="18" charset="0"/>
                <a:cs typeface="Times New Roman" panose="02020603050405020304" pitchFamily="18" charset="0"/>
              </a:rPr>
              <a:t>Compute Cj - zj</a:t>
            </a:r>
          </a:p>
          <a:p>
            <a:pPr eaLnBrk="1" hangingPunct="1">
              <a:lnSpc>
                <a:spcPct val="100000"/>
              </a:lnSpc>
              <a:spcBef>
                <a:spcPct val="0"/>
              </a:spcBef>
              <a:buClrTx/>
              <a:buSzTx/>
            </a:pPr>
            <a:r>
              <a:rPr lang="en-US" altLang="en-US">
                <a:latin typeface="Times New Roman" panose="02020603050405020304" pitchFamily="18" charset="0"/>
                <a:ea typeface="Cambria" panose="02040503050406030204" pitchFamily="18" charset="0"/>
                <a:cs typeface="Times New Roman" panose="02020603050405020304" pitchFamily="18" charset="0"/>
              </a:rPr>
              <a:t>The </a:t>
            </a:r>
            <a:r>
              <a:rPr lang="en-US" altLang="en-US" b="1">
                <a:solidFill>
                  <a:srgbClr val="FF00FF"/>
                </a:solidFill>
                <a:ea typeface="Cambria" panose="02040503050406030204" pitchFamily="18" charset="0"/>
                <a:cs typeface="Times New Roman" panose="02020603050405020304" pitchFamily="18" charset="0"/>
              </a:rPr>
              <a:t>solution is optimum</a:t>
            </a:r>
            <a:r>
              <a:rPr lang="en-US" altLang="en-US" b="1">
                <a:latin typeface="Times New Roman" panose="02020603050405020304" pitchFamily="18" charset="0"/>
                <a:ea typeface="Cambria" panose="02040503050406030204" pitchFamily="18" charset="0"/>
                <a:cs typeface="Times New Roman" panose="02020603050405020304" pitchFamily="18" charset="0"/>
              </a:rPr>
              <a:t> if</a:t>
            </a:r>
            <a:r>
              <a:rPr lang="en-US" altLang="en-US">
                <a:latin typeface="Times New Roman" panose="02020603050405020304" pitchFamily="18" charset="0"/>
                <a:ea typeface="Cambria" panose="02040503050406030204" pitchFamily="18" charset="0"/>
                <a:cs typeface="Times New Roman" panose="02020603050405020304" pitchFamily="18" charset="0"/>
              </a:rPr>
              <a:t> </a:t>
            </a:r>
            <a:r>
              <a:rPr lang="en-US" altLang="en-US" b="1">
                <a:solidFill>
                  <a:srgbClr val="FF0000"/>
                </a:solidFill>
                <a:latin typeface="Times New Roman" panose="02020603050405020304" pitchFamily="18" charset="0"/>
                <a:ea typeface="Cambria" panose="02040503050406030204" pitchFamily="18" charset="0"/>
                <a:cs typeface="Times New Roman" panose="02020603050405020304" pitchFamily="18" charset="0"/>
              </a:rPr>
              <a:t>all</a:t>
            </a:r>
            <a:r>
              <a:rPr lang="en-US" altLang="en-US">
                <a:latin typeface="Times New Roman" panose="02020603050405020304" pitchFamily="18" charset="0"/>
                <a:ea typeface="Cambria" panose="02040503050406030204" pitchFamily="18" charset="0"/>
                <a:cs typeface="Times New Roman" panose="02020603050405020304" pitchFamily="18" charset="0"/>
              </a:rPr>
              <a:t> values in the last row of the tableau are &lt;= zero. </a:t>
            </a:r>
            <a:endParaRPr lang="en-US" altLang="en-US" sz="1800">
              <a:ea typeface="Cambria" panose="02040503050406030204" pitchFamily="18" charset="0"/>
              <a:cs typeface="Times New Roman" panose="02020603050405020304" pitchFamily="18" charset="0"/>
            </a:endParaRPr>
          </a:p>
          <a:p>
            <a:pPr eaLnBrk="1" hangingPunct="1">
              <a:lnSpc>
                <a:spcPct val="100000"/>
              </a:lnSpc>
              <a:spcBef>
                <a:spcPct val="0"/>
              </a:spcBef>
              <a:buClrTx/>
              <a:buSzTx/>
              <a:buFont typeface="Arial,Sans-Serif"/>
              <a:buChar char="•"/>
            </a:pPr>
            <a:r>
              <a:rPr lang="en-US" altLang="en-US">
                <a:latin typeface="Times New Roman" panose="02020603050405020304" pitchFamily="18" charset="0"/>
                <a:ea typeface="Cambria" panose="02040503050406030204" pitchFamily="18" charset="0"/>
                <a:cs typeface="Times New Roman" panose="02020603050405020304" pitchFamily="18" charset="0"/>
              </a:rPr>
              <a:t>In the above tableau, there are 2 positive values of ( Cj – zj ). So, this solution is </a:t>
            </a:r>
            <a:r>
              <a:rPr lang="en-US" altLang="en-US" b="1">
                <a:solidFill>
                  <a:srgbClr val="FF0000"/>
                </a:solidFill>
                <a:latin typeface="Times New Roman" panose="02020603050405020304" pitchFamily="18" charset="0"/>
                <a:ea typeface="Cambria" panose="02040503050406030204" pitchFamily="18" charset="0"/>
                <a:cs typeface="Times New Roman" panose="02020603050405020304" pitchFamily="18" charset="0"/>
              </a:rPr>
              <a:t>NOT optimal</a:t>
            </a:r>
            <a:r>
              <a:rPr lang="en-US" altLang="en-US">
                <a:latin typeface="Times New Roman" panose="02020603050405020304" pitchFamily="18" charset="0"/>
                <a:ea typeface="Cambria" panose="02040503050406030204" pitchFamily="18" charset="0"/>
                <a:cs typeface="Times New Roman" panose="02020603050405020304" pitchFamily="18" charset="0"/>
              </a:rPr>
              <a:t>.</a:t>
            </a:r>
          </a:p>
          <a:p>
            <a:pPr eaLnBrk="1" hangingPunct="1">
              <a:lnSpc>
                <a:spcPct val="100000"/>
              </a:lnSpc>
              <a:spcBef>
                <a:spcPct val="0"/>
              </a:spcBef>
              <a:buClrTx/>
              <a:buSzTx/>
              <a:buFont typeface="Arial,Sans-Serif"/>
              <a:buChar char="•"/>
            </a:pPr>
            <a:r>
              <a:rPr lang="en-US" altLang="en-US">
                <a:latin typeface="Times New Roman" panose="02020603050405020304" pitchFamily="18" charset="0"/>
                <a:ea typeface="Cambria" panose="02040503050406030204" pitchFamily="18" charset="0"/>
                <a:cs typeface="Times New Roman" panose="02020603050405020304" pitchFamily="18" charset="0"/>
              </a:rPr>
              <a:t>So, we will return to step 5 to derive a new tableau.</a:t>
            </a:r>
            <a:endParaRPr lang="en-US" altLang="en-US" sz="1800">
              <a:ea typeface="Cambria" panose="02040503050406030204" pitchFamily="18" charset="0"/>
              <a:cs typeface="Times New Roman" panose="02020603050405020304" pitchFamily="18" charset="0"/>
            </a:endParaRPr>
          </a:p>
        </p:txBody>
      </p:sp>
      <p:pic>
        <p:nvPicPr>
          <p:cNvPr id="54278" name="Google Shape;196;p32">
            <a:extLst>
              <a:ext uri="{FF2B5EF4-FFF2-40B4-BE49-F238E27FC236}">
                <a16:creationId xmlns:a16="http://schemas.microsoft.com/office/drawing/2014/main" id="{99E4AA26-1A8A-D82E-B72D-EDA499A85551}"/>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9" name="Slide Number Placeholder 3">
            <a:extLst>
              <a:ext uri="{FF2B5EF4-FFF2-40B4-BE49-F238E27FC236}">
                <a16:creationId xmlns:a16="http://schemas.microsoft.com/office/drawing/2014/main" id="{C99AFABF-1E5A-6C6F-E131-784C70841C6B}"/>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DE860DED-E585-44BD-A32B-6D5ED67F3E68}" type="slidenum">
              <a:rPr lang="en-IN" altLang="en-US" sz="2200" smtClean="0">
                <a:solidFill>
                  <a:schemeClr val="accent1"/>
                </a:solidFill>
              </a:rPr>
              <a:pPr>
                <a:lnSpc>
                  <a:spcPct val="100000"/>
                </a:lnSpc>
                <a:spcBef>
                  <a:spcPct val="0"/>
                </a:spcBef>
                <a:buClrTx/>
                <a:buSzTx/>
                <a:buFontTx/>
                <a:buNone/>
              </a:pPr>
              <a:t>21</a:t>
            </a:fld>
            <a:endParaRPr lang="en-IN" altLang="en-US" sz="2200">
              <a:solidFill>
                <a:schemeClr val="accent1"/>
              </a:solidFill>
            </a:endParaRPr>
          </a:p>
        </p:txBody>
      </p:sp>
      <p:graphicFrame>
        <p:nvGraphicFramePr>
          <p:cNvPr id="4" name="Table 11">
            <a:extLst>
              <a:ext uri="{FF2B5EF4-FFF2-40B4-BE49-F238E27FC236}">
                <a16:creationId xmlns:a16="http://schemas.microsoft.com/office/drawing/2014/main" id="{BBD339D8-0DDD-1064-DB48-3CA96BCAE0C5}"/>
              </a:ext>
            </a:extLst>
          </p:cNvPr>
          <p:cNvGraphicFramePr>
            <a:graphicFrameLocks noGrp="1"/>
          </p:cNvGraphicFramePr>
          <p:nvPr/>
        </p:nvGraphicFramePr>
        <p:xfrm>
          <a:off x="1839913" y="1093788"/>
          <a:ext cx="8642350" cy="2443162"/>
        </p:xfrm>
        <a:graphic>
          <a:graphicData uri="http://schemas.openxmlformats.org/drawingml/2006/table">
            <a:tbl>
              <a:tblPr firstRow="1" bandRow="1">
                <a:tableStyleId>{2D5ABB26-0587-4C30-8999-92F81FD0307C}</a:tableStyleId>
              </a:tblPr>
              <a:tblGrid>
                <a:gridCol w="872147">
                  <a:extLst>
                    <a:ext uri="{9D8B030D-6E8A-4147-A177-3AD203B41FA5}">
                      <a16:colId xmlns:a16="http://schemas.microsoft.com/office/drawing/2014/main" val="20000"/>
                    </a:ext>
                  </a:extLst>
                </a:gridCol>
                <a:gridCol w="1230142">
                  <a:extLst>
                    <a:ext uri="{9D8B030D-6E8A-4147-A177-3AD203B41FA5}">
                      <a16:colId xmlns:a16="http://schemas.microsoft.com/office/drawing/2014/main" val="20001"/>
                    </a:ext>
                  </a:extLst>
                </a:gridCol>
                <a:gridCol w="778497">
                  <a:extLst>
                    <a:ext uri="{9D8B030D-6E8A-4147-A177-3AD203B41FA5}">
                      <a16:colId xmlns:a16="http://schemas.microsoft.com/office/drawing/2014/main" val="20002"/>
                    </a:ext>
                  </a:extLst>
                </a:gridCol>
                <a:gridCol w="960261">
                  <a:extLst>
                    <a:ext uri="{9D8B030D-6E8A-4147-A177-3AD203B41FA5}">
                      <a16:colId xmlns:a16="http://schemas.microsoft.com/office/drawing/2014/main" val="20003"/>
                    </a:ext>
                  </a:extLst>
                </a:gridCol>
                <a:gridCol w="960261">
                  <a:extLst>
                    <a:ext uri="{9D8B030D-6E8A-4147-A177-3AD203B41FA5}">
                      <a16:colId xmlns:a16="http://schemas.microsoft.com/office/drawing/2014/main" val="20004"/>
                    </a:ext>
                  </a:extLst>
                </a:gridCol>
                <a:gridCol w="960261">
                  <a:extLst>
                    <a:ext uri="{9D8B030D-6E8A-4147-A177-3AD203B41FA5}">
                      <a16:colId xmlns:a16="http://schemas.microsoft.com/office/drawing/2014/main" val="20005"/>
                    </a:ext>
                  </a:extLst>
                </a:gridCol>
                <a:gridCol w="960261">
                  <a:extLst>
                    <a:ext uri="{9D8B030D-6E8A-4147-A177-3AD203B41FA5}">
                      <a16:colId xmlns:a16="http://schemas.microsoft.com/office/drawing/2014/main" val="20006"/>
                    </a:ext>
                  </a:extLst>
                </a:gridCol>
                <a:gridCol w="960261">
                  <a:extLst>
                    <a:ext uri="{9D8B030D-6E8A-4147-A177-3AD203B41FA5}">
                      <a16:colId xmlns:a16="http://schemas.microsoft.com/office/drawing/2014/main" val="20007"/>
                    </a:ext>
                  </a:extLst>
                </a:gridCol>
                <a:gridCol w="960261">
                  <a:extLst>
                    <a:ext uri="{9D8B030D-6E8A-4147-A177-3AD203B41FA5}">
                      <a16:colId xmlns:a16="http://schemas.microsoft.com/office/drawing/2014/main" val="20008"/>
                    </a:ext>
                  </a:extLst>
                </a:gridCol>
              </a:tblGrid>
              <a:tr h="496158">
                <a:tc>
                  <a:txBody>
                    <a:bodyPr/>
                    <a:lstStyle/>
                    <a:p>
                      <a:pPr lvl="0" algn="ctr">
                        <a:buNone/>
                      </a:pPr>
                      <a:endParaRPr lang="en-US" sz="1800" b="1" dirty="0">
                        <a:latin typeface="Arial"/>
                      </a:endParaRPr>
                    </a:p>
                  </a:txBody>
                  <a:tcPr marL="91427" marR="91427" marT="45726" marB="45726">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27" marR="91427" marT="45726" marB="45726">
                    <a:lnR w="12700">
                      <a:solidFill>
                        <a:schemeClr val="tx1"/>
                      </a:solidFill>
                    </a:lnR>
                    <a:lnB w="12700">
                      <a:solidFill>
                        <a:schemeClr val="tx1"/>
                      </a:solidFill>
                    </a:lnB>
                  </a:tcPr>
                </a:tc>
                <a:tc>
                  <a:txBody>
                    <a:bodyPr/>
                    <a:lstStyle/>
                    <a:p>
                      <a:pPr lvl="0" algn="ctr">
                        <a:buNone/>
                      </a:pPr>
                      <a:r>
                        <a:rPr lang="en-US" sz="1800" b="1" dirty="0">
                          <a:latin typeface="Arial"/>
                        </a:rPr>
                        <a:t>8</a:t>
                      </a:r>
                      <a:endParaRPr lang="en-US" sz="1800" b="1" dirty="0">
                        <a:solidFill>
                          <a:srgbClr val="FF0000"/>
                        </a:solidFill>
                        <a:latin typeface="Arial"/>
                      </a:endParaRPr>
                    </a:p>
                  </a:txBody>
                  <a:tcPr marL="91427" marR="91427" marT="45726" marB="45726">
                    <a:lnL w="12700">
                      <a:solidFill>
                        <a:schemeClr val="tx1"/>
                      </a:solidFill>
                    </a:lnL>
                    <a:lnB w="12700">
                      <a:solidFill>
                        <a:schemeClr val="tx1"/>
                      </a:solidFill>
                    </a:lnB>
                  </a:tcPr>
                </a:tc>
                <a:tc>
                  <a:txBody>
                    <a:bodyPr/>
                    <a:lstStyle/>
                    <a:p>
                      <a:pPr lvl="0" algn="ctr">
                        <a:buNone/>
                      </a:pPr>
                      <a:r>
                        <a:rPr lang="en-US" sz="1800" b="1" dirty="0">
                          <a:latin typeface="Arial"/>
                        </a:rPr>
                        <a:t>10</a:t>
                      </a:r>
                      <a:endParaRPr lang="en-US" sz="1800" b="1" dirty="0">
                        <a:solidFill>
                          <a:srgbClr val="FF0000"/>
                        </a:solidFill>
                        <a:latin typeface="Arial"/>
                      </a:endParaRPr>
                    </a:p>
                  </a:txBody>
                  <a:tcPr marL="91427" marR="91427" marT="45726" marB="45726">
                    <a:lnB w="12700">
                      <a:solidFill>
                        <a:schemeClr val="tx1"/>
                      </a:solidFill>
                    </a:lnB>
                  </a:tcPr>
                </a:tc>
                <a:tc>
                  <a:txBody>
                    <a:bodyPr/>
                    <a:lstStyle/>
                    <a:p>
                      <a:pPr lvl="0" algn="ctr">
                        <a:buNone/>
                      </a:pPr>
                      <a:r>
                        <a:rPr lang="en-US" sz="1800" b="1" dirty="0">
                          <a:latin typeface="Arial"/>
                        </a:rPr>
                        <a:t>7</a:t>
                      </a:r>
                      <a:endParaRPr lang="en-US" sz="1800" b="1" dirty="0">
                        <a:solidFill>
                          <a:srgbClr val="FF0000"/>
                        </a:solidFill>
                        <a:latin typeface="Arial"/>
                      </a:endParaRPr>
                    </a:p>
                  </a:txBody>
                  <a:tcPr marL="91427" marR="91427" marT="45726" marB="45726">
                    <a:lnB w="12700">
                      <a:solidFill>
                        <a:schemeClr val="tx1"/>
                      </a:solidFill>
                    </a:lnB>
                  </a:tcPr>
                </a:tc>
                <a:tc>
                  <a:txBody>
                    <a:bodyPr/>
                    <a:lstStyle/>
                    <a:p>
                      <a:pPr lvl="0" algn="ctr">
                        <a:buNone/>
                      </a:pPr>
                      <a:r>
                        <a:rPr lang="en-US" sz="1800" b="1" dirty="0">
                          <a:latin typeface="Arial"/>
                        </a:rPr>
                        <a:t>0</a:t>
                      </a:r>
                    </a:p>
                  </a:txBody>
                  <a:tcPr marL="91427" marR="91427" marT="45726" marB="45726">
                    <a:lnB w="12700">
                      <a:solidFill>
                        <a:schemeClr val="tx1"/>
                      </a:solidFill>
                    </a:lnB>
                  </a:tcPr>
                </a:tc>
                <a:tc>
                  <a:txBody>
                    <a:bodyPr/>
                    <a:lstStyle/>
                    <a:p>
                      <a:pPr lvl="0" algn="ctr">
                        <a:buNone/>
                      </a:pPr>
                      <a:r>
                        <a:rPr lang="en-US" sz="1800" b="1" dirty="0">
                          <a:latin typeface="Arial"/>
                        </a:rPr>
                        <a:t>0</a:t>
                      </a:r>
                      <a:endParaRPr lang="en-US" sz="1800" b="1" dirty="0">
                        <a:solidFill>
                          <a:srgbClr val="FF0000"/>
                        </a:solidFill>
                        <a:latin typeface="Arial"/>
                      </a:endParaRPr>
                    </a:p>
                  </a:txBody>
                  <a:tcPr marL="91427" marR="91427" marT="45726" marB="45726">
                    <a:lnR w="12700">
                      <a:solidFill>
                        <a:schemeClr val="tx1"/>
                      </a:solidFill>
                    </a:lnR>
                    <a:lnB w="12700">
                      <a:solidFill>
                        <a:schemeClr val="tx1"/>
                      </a:solidFill>
                    </a:lnB>
                  </a:tcPr>
                </a:tc>
                <a:tc>
                  <a:txBody>
                    <a:bodyPr/>
                    <a:lstStyle/>
                    <a:p>
                      <a:pPr algn="ctr"/>
                      <a:endParaRPr lang="en-US" sz="1800" b="1" dirty="0">
                        <a:latin typeface="Arial"/>
                      </a:endParaRPr>
                    </a:p>
                  </a:txBody>
                  <a:tcPr marL="91427" marR="91427" marT="45726" marB="45726">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6" marB="45726">
                    <a:lnL w="12700">
                      <a:solidFill>
                        <a:schemeClr val="tx1"/>
                      </a:solidFill>
                    </a:lnL>
                    <a:lnB w="12700">
                      <a:solidFill>
                        <a:schemeClr val="tx1"/>
                      </a:solidFill>
                    </a:lnB>
                  </a:tcPr>
                </a:tc>
                <a:extLst>
                  <a:ext uri="{0D108BD9-81ED-4DB2-BD59-A6C34878D82A}">
                    <a16:rowId xmlns:a16="http://schemas.microsoft.com/office/drawing/2014/main" val="10000"/>
                  </a:ext>
                </a:extLst>
              </a:tr>
              <a:tr h="457260">
                <a:tc>
                  <a:txBody>
                    <a:bodyPr/>
                    <a:lstStyle/>
                    <a:p>
                      <a:pPr lvl="0" algn="ctr">
                        <a:buNone/>
                      </a:pPr>
                      <a:r>
                        <a:rPr lang="en-US" sz="1800" b="1" err="1">
                          <a:latin typeface="Arial"/>
                        </a:rPr>
                        <a:t>C</a:t>
                      </a:r>
                      <a:r>
                        <a:rPr lang="en-US" sz="1800" b="1" baseline="-25000" err="1">
                          <a:latin typeface="Arial"/>
                        </a:rPr>
                        <a:t>Bi</a:t>
                      </a:r>
                    </a:p>
                  </a:txBody>
                  <a:tcPr marL="91427" marR="91427"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27" marR="91427"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27" marR="91427"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27" marR="91427" marT="45726" marB="45726">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27" marR="91427" marT="45726" marB="45726">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27" marR="91427" marT="45726" marB="45726">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27" marR="91427"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27" marR="91427" marT="45726" marB="45726">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ratio</a:t>
                      </a:r>
                    </a:p>
                  </a:txBody>
                  <a:tcPr marL="91427" marR="91427" marT="45726" marB="45726">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77081">
                <a:tc>
                  <a:txBody>
                    <a:bodyPr/>
                    <a:lstStyle/>
                    <a:p>
                      <a:pPr lvl="0" algn="ctr">
                        <a:buNone/>
                      </a:pPr>
                      <a:r>
                        <a:rPr lang="en-US" sz="1800" b="1" dirty="0">
                          <a:latin typeface="Arial"/>
                        </a:rPr>
                        <a:t>0</a:t>
                      </a:r>
                    </a:p>
                  </a:txBody>
                  <a:tcPr marL="91427" marR="91427" marT="45726" marB="45726">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27" marR="91427" marT="45726" marB="45726">
                    <a:lnR w="12700">
                      <a:solidFill>
                        <a:schemeClr val="tx1"/>
                      </a:solidFill>
                    </a:lnR>
                    <a:lnT w="12700">
                      <a:solidFill>
                        <a:schemeClr val="tx1"/>
                      </a:solidFill>
                    </a:lnT>
                  </a:tcPr>
                </a:tc>
                <a:tc>
                  <a:txBody>
                    <a:bodyPr/>
                    <a:lstStyle/>
                    <a:p>
                      <a:pPr algn="ctr"/>
                      <a:r>
                        <a:rPr lang="en-US" sz="1800" b="1" dirty="0">
                          <a:solidFill>
                            <a:schemeClr val="tx1"/>
                          </a:solidFill>
                          <a:latin typeface="Arial"/>
                        </a:rPr>
                        <a:t>2/5</a:t>
                      </a:r>
                    </a:p>
                  </a:txBody>
                  <a:tcPr marL="91427" marR="91427" marT="45726" marB="45726">
                    <a:lnL w="12700">
                      <a:solidFill>
                        <a:schemeClr val="tx1"/>
                      </a:solidFill>
                    </a:lnL>
                    <a:lnT w="12700">
                      <a:solidFill>
                        <a:schemeClr val="tx1"/>
                      </a:solidFill>
                    </a:lnT>
                  </a:tcPr>
                </a:tc>
                <a:tc>
                  <a:txBody>
                    <a:bodyPr/>
                    <a:lstStyle/>
                    <a:p>
                      <a:pPr algn="ctr"/>
                      <a:r>
                        <a:rPr lang="en-US" sz="1800" b="1" dirty="0">
                          <a:solidFill>
                            <a:schemeClr val="tx1"/>
                          </a:solidFill>
                          <a:latin typeface="Arial"/>
                        </a:rPr>
                        <a:t>0</a:t>
                      </a:r>
                    </a:p>
                  </a:txBody>
                  <a:tcPr marL="91427" marR="91427" marT="45726" marB="45726">
                    <a:lnT w="12700">
                      <a:solidFill>
                        <a:schemeClr val="tx1"/>
                      </a:solidFill>
                    </a:lnT>
                  </a:tcPr>
                </a:tc>
                <a:tc>
                  <a:txBody>
                    <a:bodyPr/>
                    <a:lstStyle/>
                    <a:p>
                      <a:pPr algn="ctr"/>
                      <a:r>
                        <a:rPr lang="en-US" sz="1800" b="1" dirty="0">
                          <a:solidFill>
                            <a:schemeClr val="tx1"/>
                          </a:solidFill>
                          <a:latin typeface="Arial"/>
                        </a:rPr>
                        <a:t>7/5</a:t>
                      </a:r>
                    </a:p>
                  </a:txBody>
                  <a:tcPr marL="91427" marR="91427" marT="45726" marB="45726">
                    <a:lnT w="12700">
                      <a:solidFill>
                        <a:schemeClr val="tx1"/>
                      </a:solidFill>
                    </a:lnT>
                  </a:tcPr>
                </a:tc>
                <a:tc>
                  <a:txBody>
                    <a:bodyPr/>
                    <a:lstStyle/>
                    <a:p>
                      <a:pPr algn="ctr"/>
                      <a:r>
                        <a:rPr lang="en-US" sz="1800" b="1" dirty="0">
                          <a:solidFill>
                            <a:schemeClr val="tx1"/>
                          </a:solidFill>
                          <a:latin typeface="Arial"/>
                        </a:rPr>
                        <a:t>1</a:t>
                      </a:r>
                    </a:p>
                  </a:txBody>
                  <a:tcPr marL="91427" marR="91427" marT="45726" marB="45726">
                    <a:lnT w="12700">
                      <a:solidFill>
                        <a:schemeClr val="tx1"/>
                      </a:solidFill>
                    </a:lnT>
                  </a:tcPr>
                </a:tc>
                <a:tc>
                  <a:txBody>
                    <a:bodyPr/>
                    <a:lstStyle/>
                    <a:p>
                      <a:pPr algn="ctr"/>
                      <a:r>
                        <a:rPr lang="en-US" sz="1800" b="1" dirty="0">
                          <a:solidFill>
                            <a:schemeClr val="tx1"/>
                          </a:solidFill>
                          <a:latin typeface="Arial"/>
                        </a:rPr>
                        <a:t>-3/5</a:t>
                      </a:r>
                    </a:p>
                  </a:txBody>
                  <a:tcPr marL="91427" marR="91427" marT="45726" marB="45726">
                    <a:lnR w="12700">
                      <a:solidFill>
                        <a:schemeClr val="tx1"/>
                      </a:solidFill>
                    </a:lnR>
                    <a:lnT w="12700">
                      <a:solidFill>
                        <a:schemeClr val="tx1"/>
                      </a:solidFill>
                    </a:lnT>
                  </a:tcPr>
                </a:tc>
                <a:tc>
                  <a:txBody>
                    <a:bodyPr/>
                    <a:lstStyle/>
                    <a:p>
                      <a:pPr algn="ctr"/>
                      <a:r>
                        <a:rPr lang="en-US" sz="1800" b="1" dirty="0">
                          <a:solidFill>
                            <a:schemeClr val="tx1"/>
                          </a:solidFill>
                          <a:latin typeface="Arial"/>
                        </a:rPr>
                        <a:t>26/5</a:t>
                      </a:r>
                    </a:p>
                  </a:txBody>
                  <a:tcPr marL="91427" marR="91427" marT="45726" marB="45726">
                    <a:lnL w="12700">
                      <a:solidFill>
                        <a:schemeClr val="tx1"/>
                      </a:solidFill>
                    </a:lnL>
                    <a:lnR w="12700">
                      <a:solidFill>
                        <a:schemeClr val="tx1"/>
                      </a:solidFill>
                    </a:lnR>
                    <a:lnT w="12700">
                      <a:solidFill>
                        <a:schemeClr val="tx1"/>
                      </a:solidFill>
                    </a:lnT>
                  </a:tcPr>
                </a:tc>
                <a:tc>
                  <a:txBody>
                    <a:bodyPr/>
                    <a:lstStyle/>
                    <a:p>
                      <a:pPr lvl="0" algn="ctr">
                        <a:buNone/>
                      </a:pPr>
                      <a:endParaRPr lang="en-US" sz="1800" b="1" dirty="0">
                        <a:latin typeface="Arial"/>
                      </a:endParaRPr>
                    </a:p>
                  </a:txBody>
                  <a:tcPr marL="91427" marR="91427" marT="45726" marB="45726">
                    <a:lnL w="12700">
                      <a:solidFill>
                        <a:schemeClr val="tx1"/>
                      </a:solidFill>
                    </a:lnL>
                    <a:lnT w="12700">
                      <a:solidFill>
                        <a:schemeClr val="tx1"/>
                      </a:solidFill>
                    </a:lnT>
                  </a:tcPr>
                </a:tc>
                <a:extLst>
                  <a:ext uri="{0D108BD9-81ED-4DB2-BD59-A6C34878D82A}">
                    <a16:rowId xmlns:a16="http://schemas.microsoft.com/office/drawing/2014/main" val="10002"/>
                  </a:ext>
                </a:extLst>
              </a:tr>
              <a:tr h="370889">
                <a:tc>
                  <a:txBody>
                    <a:bodyPr/>
                    <a:lstStyle/>
                    <a:p>
                      <a:pPr lvl="0" algn="ctr">
                        <a:buNone/>
                      </a:pPr>
                      <a:r>
                        <a:rPr lang="en-US" sz="1800" b="1" dirty="0">
                          <a:solidFill>
                            <a:schemeClr val="tx1"/>
                          </a:solidFill>
                          <a:latin typeface="Arial"/>
                        </a:rPr>
                        <a:t>10</a:t>
                      </a:r>
                    </a:p>
                  </a:txBody>
                  <a:tcPr marL="91427" marR="91427" marT="45726" marB="45726">
                    <a:lnL w="12700">
                      <a:solidFill>
                        <a:schemeClr val="tx1"/>
                      </a:solidFill>
                    </a:lnL>
                    <a:lnB w="12700">
                      <a:solidFill>
                        <a:schemeClr val="tx1"/>
                      </a:solidFill>
                    </a:lnB>
                  </a:tcPr>
                </a:tc>
                <a:tc>
                  <a:txBody>
                    <a:bodyPr/>
                    <a:lstStyle/>
                    <a:p>
                      <a:pPr lvl="0" algn="ctr">
                        <a:buNone/>
                      </a:pPr>
                      <a:r>
                        <a:rPr lang="en-US" sz="1800" b="1" kern="1200" dirty="0">
                          <a:solidFill>
                            <a:schemeClr val="accent3"/>
                          </a:solidFill>
                          <a:latin typeface="Arial"/>
                          <a:ea typeface="+mn-ea"/>
                          <a:cs typeface="+mn-cs"/>
                        </a:rPr>
                        <a:t>x2</a:t>
                      </a:r>
                      <a:endParaRPr lang="en-US" sz="1800" b="1" kern="1200">
                        <a:solidFill>
                          <a:schemeClr val="accent3"/>
                        </a:solidFill>
                        <a:latin typeface="Arial"/>
                        <a:ea typeface="+mn-ea"/>
                        <a:cs typeface="+mn-cs"/>
                      </a:endParaRPr>
                    </a:p>
                  </a:txBody>
                  <a:tcPr marL="91427" marR="91427" marT="45726" marB="45726">
                    <a:lnR w="12700">
                      <a:solidFill>
                        <a:schemeClr val="tx1"/>
                      </a:solidFill>
                    </a:lnR>
                    <a:lnB w="12700">
                      <a:solidFill>
                        <a:schemeClr val="tx1"/>
                      </a:solidFill>
                    </a:lnB>
                  </a:tcPr>
                </a:tc>
                <a:tc>
                  <a:txBody>
                    <a:bodyPr/>
                    <a:lstStyle/>
                    <a:p>
                      <a:pPr algn="ctr"/>
                      <a:r>
                        <a:rPr lang="en-US" sz="1800" b="1" dirty="0">
                          <a:solidFill>
                            <a:schemeClr val="tx1"/>
                          </a:solidFill>
                          <a:latin typeface="Arial"/>
                        </a:rPr>
                        <a:t>1/5</a:t>
                      </a:r>
                    </a:p>
                  </a:txBody>
                  <a:tcPr marL="91427" marR="91427" marT="45726" marB="45726">
                    <a:lnL w="12700">
                      <a:solidFill>
                        <a:schemeClr val="tx1"/>
                      </a:solidFill>
                    </a:lnL>
                    <a:lnB w="12700">
                      <a:solidFill>
                        <a:schemeClr val="tx1"/>
                      </a:solidFill>
                    </a:lnB>
                  </a:tcPr>
                </a:tc>
                <a:tc>
                  <a:txBody>
                    <a:bodyPr/>
                    <a:lstStyle/>
                    <a:p>
                      <a:pPr algn="ctr"/>
                      <a:r>
                        <a:rPr lang="en-US" sz="1800" b="1" dirty="0">
                          <a:solidFill>
                            <a:schemeClr val="tx1"/>
                          </a:solidFill>
                          <a:latin typeface="Arial"/>
                        </a:rPr>
                        <a:t>1</a:t>
                      </a:r>
                    </a:p>
                  </a:txBody>
                  <a:tcPr marL="91427" marR="91427" marT="45726" marB="45726">
                    <a:lnB w="12700">
                      <a:solidFill>
                        <a:schemeClr val="tx1"/>
                      </a:solidFill>
                    </a:lnB>
                  </a:tcPr>
                </a:tc>
                <a:tc>
                  <a:txBody>
                    <a:bodyPr/>
                    <a:lstStyle/>
                    <a:p>
                      <a:pPr algn="ctr"/>
                      <a:r>
                        <a:rPr lang="en-US" sz="1800" b="1" dirty="0">
                          <a:solidFill>
                            <a:schemeClr val="tx1"/>
                          </a:solidFill>
                          <a:latin typeface="Arial"/>
                        </a:rPr>
                        <a:t>1/5</a:t>
                      </a:r>
                    </a:p>
                  </a:txBody>
                  <a:tcPr marL="91427" marR="91427" marT="45726" marB="45726">
                    <a:lnB w="12700">
                      <a:solidFill>
                        <a:schemeClr val="tx1"/>
                      </a:solidFill>
                    </a:lnB>
                  </a:tcPr>
                </a:tc>
                <a:tc>
                  <a:txBody>
                    <a:bodyPr/>
                    <a:lstStyle/>
                    <a:p>
                      <a:pPr algn="ctr"/>
                      <a:r>
                        <a:rPr lang="en-US" sz="1800" b="1" dirty="0">
                          <a:solidFill>
                            <a:schemeClr val="tx1"/>
                          </a:solidFill>
                          <a:latin typeface="Arial"/>
                        </a:rPr>
                        <a:t>0</a:t>
                      </a:r>
                    </a:p>
                  </a:txBody>
                  <a:tcPr marL="91427" marR="91427" marT="45726" marB="45726">
                    <a:lnB w="12700">
                      <a:solidFill>
                        <a:schemeClr val="tx1"/>
                      </a:solidFill>
                    </a:lnB>
                  </a:tcPr>
                </a:tc>
                <a:tc>
                  <a:txBody>
                    <a:bodyPr/>
                    <a:lstStyle/>
                    <a:p>
                      <a:pPr algn="ctr"/>
                      <a:r>
                        <a:rPr lang="en-US" sz="1800" b="1" dirty="0">
                          <a:solidFill>
                            <a:schemeClr val="tx1"/>
                          </a:solidFill>
                          <a:latin typeface="Arial"/>
                        </a:rPr>
                        <a:t>1/5</a:t>
                      </a:r>
                    </a:p>
                  </a:txBody>
                  <a:tcPr marL="91427" marR="91427" marT="45726" marB="45726">
                    <a:lnR w="12700">
                      <a:solidFill>
                        <a:schemeClr val="tx1"/>
                      </a:solidFill>
                    </a:lnR>
                    <a:lnB w="12700">
                      <a:solidFill>
                        <a:schemeClr val="tx1"/>
                      </a:solidFill>
                    </a:lnB>
                  </a:tcPr>
                </a:tc>
                <a:tc>
                  <a:txBody>
                    <a:bodyPr/>
                    <a:lstStyle/>
                    <a:p>
                      <a:pPr algn="ctr"/>
                      <a:r>
                        <a:rPr lang="en-US" sz="1800" b="1" dirty="0">
                          <a:solidFill>
                            <a:schemeClr val="tx1"/>
                          </a:solidFill>
                          <a:latin typeface="Arial"/>
                        </a:rPr>
                        <a:t>8/5</a:t>
                      </a:r>
                    </a:p>
                  </a:txBody>
                  <a:tcPr marL="91427" marR="91427" marT="45726" marB="45726">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27" marR="91427" marT="45726" marB="45726">
                    <a:lnL w="12700">
                      <a:solidFill>
                        <a:schemeClr val="tx1"/>
                      </a:solidFill>
                    </a:lnL>
                  </a:tcPr>
                </a:tc>
                <a:extLst>
                  <a:ext uri="{0D108BD9-81ED-4DB2-BD59-A6C34878D82A}">
                    <a16:rowId xmlns:a16="http://schemas.microsoft.com/office/drawing/2014/main" val="10003"/>
                  </a:ext>
                </a:extLst>
              </a:tr>
              <a:tr h="370888">
                <a:tc>
                  <a:txBody>
                    <a:bodyPr/>
                    <a:lstStyle/>
                    <a:p>
                      <a:pPr lvl="0" algn="ctr">
                        <a:buNone/>
                      </a:pPr>
                      <a:endParaRPr lang="en-US" sz="1800" b="1" dirty="0">
                        <a:solidFill>
                          <a:schemeClr val="tx1"/>
                        </a:solidFill>
                        <a:latin typeface="Arial"/>
                      </a:endParaRPr>
                    </a:p>
                  </a:txBody>
                  <a:tcPr marL="91427" marR="91427" marT="45726" marB="45726">
                    <a:lnL w="12700">
                      <a:solidFill>
                        <a:schemeClr val="tx1"/>
                      </a:solidFill>
                    </a:lnL>
                    <a:lnT w="12700">
                      <a:solidFill>
                        <a:schemeClr val="tx1"/>
                      </a:solidFill>
                    </a:lnT>
                    <a:lnB w="0">
                      <a:noFill/>
                    </a:lnB>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27" marR="91427"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2</a:t>
                      </a:r>
                    </a:p>
                  </a:txBody>
                  <a:tcPr marL="91427" marR="91427" marT="45726" marB="45726">
                    <a:lnL w="12700">
                      <a:solidFill>
                        <a:schemeClr val="tx1"/>
                      </a:solidFill>
                    </a:lnL>
                    <a:lnT w="12700">
                      <a:solidFill>
                        <a:schemeClr val="tx1"/>
                      </a:solidFill>
                    </a:lnT>
                    <a:lnB w="0">
                      <a:noFill/>
                    </a:lnB>
                  </a:tcPr>
                </a:tc>
                <a:tc>
                  <a:txBody>
                    <a:bodyPr/>
                    <a:lstStyle/>
                    <a:p>
                      <a:pPr lvl="0" algn="ctr">
                        <a:buNone/>
                      </a:pPr>
                      <a:r>
                        <a:rPr lang="en-US" sz="1800" b="1" dirty="0">
                          <a:solidFill>
                            <a:schemeClr val="tx1"/>
                          </a:solidFill>
                          <a:latin typeface="Arial"/>
                        </a:rPr>
                        <a:t>10</a:t>
                      </a:r>
                    </a:p>
                  </a:txBody>
                  <a:tcPr marL="91427" marR="91427" marT="45726" marB="45726">
                    <a:lnT w="12700">
                      <a:solidFill>
                        <a:schemeClr val="tx1"/>
                      </a:solidFill>
                    </a:lnT>
                    <a:lnB w="0">
                      <a:noFill/>
                    </a:lnB>
                  </a:tcPr>
                </a:tc>
                <a:tc>
                  <a:txBody>
                    <a:bodyPr/>
                    <a:lstStyle/>
                    <a:p>
                      <a:pPr lvl="0" algn="ctr">
                        <a:buNone/>
                      </a:pPr>
                      <a:r>
                        <a:rPr lang="en-US" sz="1800" b="1" dirty="0">
                          <a:solidFill>
                            <a:schemeClr val="tx1"/>
                          </a:solidFill>
                          <a:latin typeface="Arial"/>
                        </a:rPr>
                        <a:t>2</a:t>
                      </a:r>
                    </a:p>
                  </a:txBody>
                  <a:tcPr marL="91427" marR="91427" marT="45726" marB="45726">
                    <a:lnT w="12700">
                      <a:solidFill>
                        <a:schemeClr val="tx1"/>
                      </a:solidFill>
                    </a:lnT>
                    <a:lnB w="0">
                      <a:noFill/>
                    </a:lnB>
                  </a:tcPr>
                </a:tc>
                <a:tc>
                  <a:txBody>
                    <a:bodyPr/>
                    <a:lstStyle/>
                    <a:p>
                      <a:pPr lvl="0" algn="ctr">
                        <a:buNone/>
                      </a:pPr>
                      <a:r>
                        <a:rPr lang="en-US" sz="1800" b="1" dirty="0">
                          <a:solidFill>
                            <a:schemeClr val="tx1"/>
                          </a:solidFill>
                          <a:latin typeface="Arial"/>
                        </a:rPr>
                        <a:t>0</a:t>
                      </a:r>
                    </a:p>
                  </a:txBody>
                  <a:tcPr marL="91427" marR="91427" marT="45726" marB="45726">
                    <a:lnT w="12700">
                      <a:solidFill>
                        <a:schemeClr val="tx1"/>
                      </a:solidFill>
                    </a:lnT>
                    <a:lnB w="0">
                      <a:noFill/>
                    </a:lnB>
                  </a:tcPr>
                </a:tc>
                <a:tc>
                  <a:txBody>
                    <a:bodyPr/>
                    <a:lstStyle/>
                    <a:p>
                      <a:pPr lvl="0" algn="ctr">
                        <a:buNone/>
                      </a:pPr>
                      <a:r>
                        <a:rPr lang="en-US" sz="1800" b="1" dirty="0">
                          <a:solidFill>
                            <a:schemeClr val="tx1"/>
                          </a:solidFill>
                          <a:latin typeface="Arial"/>
                        </a:rPr>
                        <a:t>2</a:t>
                      </a:r>
                    </a:p>
                  </a:txBody>
                  <a:tcPr marL="91427" marR="91427"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16</a:t>
                      </a:r>
                    </a:p>
                  </a:txBody>
                  <a:tcPr marL="91427" marR="91427" marT="45726" marB="45726">
                    <a:lnL w="12700">
                      <a:solidFill>
                        <a:schemeClr val="tx1"/>
                      </a:solidFill>
                    </a:lnL>
                    <a:lnR w="12700">
                      <a:solidFill>
                        <a:schemeClr val="tx1"/>
                      </a:solidFill>
                    </a:lnR>
                    <a:lnT w="12700">
                      <a:solidFill>
                        <a:schemeClr val="tx1"/>
                      </a:solidFill>
                    </a:lnT>
                    <a:lnB w="0">
                      <a:noFill/>
                    </a:lnB>
                  </a:tcPr>
                </a:tc>
                <a:tc>
                  <a:txBody>
                    <a:bodyPr/>
                    <a:lstStyle/>
                    <a:p>
                      <a:pPr lvl="0" algn="ctr">
                        <a:buNone/>
                      </a:pPr>
                      <a:endParaRPr lang="en-US" sz="1800" b="1" dirty="0">
                        <a:latin typeface="Arial"/>
                      </a:endParaRPr>
                    </a:p>
                  </a:txBody>
                  <a:tcPr marL="91427" marR="91427" marT="45726" marB="45726">
                    <a:lnL w="12700">
                      <a:solidFill>
                        <a:schemeClr val="tx1"/>
                      </a:solidFill>
                    </a:lnL>
                    <a:lnB w="0">
                      <a:noFill/>
                    </a:lnB>
                  </a:tcPr>
                </a:tc>
                <a:extLst>
                  <a:ext uri="{0D108BD9-81ED-4DB2-BD59-A6C34878D82A}">
                    <a16:rowId xmlns:a16="http://schemas.microsoft.com/office/drawing/2014/main" val="10004"/>
                  </a:ext>
                </a:extLst>
              </a:tr>
              <a:tr h="370887">
                <a:tc>
                  <a:txBody>
                    <a:bodyPr/>
                    <a:lstStyle/>
                    <a:p>
                      <a:pPr lvl="0" algn="ctr">
                        <a:buNone/>
                      </a:pPr>
                      <a:endParaRPr lang="en-US" sz="1800" b="1" dirty="0">
                        <a:solidFill>
                          <a:schemeClr val="tx1"/>
                        </a:solidFill>
                        <a:latin typeface="Arial"/>
                      </a:endParaRPr>
                    </a:p>
                  </a:txBody>
                  <a:tcPr marL="91427" marR="91427" marT="45726" marB="45726">
                    <a:lnL w="0">
                      <a:noFill/>
                    </a:lnL>
                    <a:lnR w="0">
                      <a:noFill/>
                    </a:lnR>
                    <a:lnT w="0">
                      <a:noFill/>
                    </a:lnT>
                    <a:lnB w="0">
                      <a:noFill/>
                    </a:lnB>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27" marR="91427" marT="45726" marB="45726">
                    <a:lnL w="0">
                      <a:noFill/>
                    </a:lnL>
                    <a:lnR w="12700">
                      <a:solidFill>
                        <a:schemeClr val="tx1"/>
                      </a:solidFill>
                    </a:lnR>
                    <a:lnT w="0">
                      <a:noFill/>
                    </a:lnT>
                    <a:lnB w="0">
                      <a:noFill/>
                    </a:lnB>
                  </a:tcPr>
                </a:tc>
                <a:tc>
                  <a:txBody>
                    <a:bodyPr/>
                    <a:lstStyle/>
                    <a:p>
                      <a:pPr lvl="0" algn="ctr">
                        <a:buNone/>
                      </a:pPr>
                      <a:r>
                        <a:rPr lang="en-US" sz="1800" b="1" dirty="0">
                          <a:solidFill>
                            <a:schemeClr val="tx1"/>
                          </a:solidFill>
                          <a:latin typeface="Arial"/>
                        </a:rPr>
                        <a:t>6</a:t>
                      </a:r>
                    </a:p>
                  </a:txBody>
                  <a:tcPr marL="91427" marR="91427" marT="45726" marB="45726">
                    <a:lnL w="12700">
                      <a:solidFill>
                        <a:schemeClr val="tx1"/>
                      </a:solidFill>
                    </a:lnL>
                    <a:lnR w="0">
                      <a:noFill/>
                    </a:lnR>
                    <a:lnT w="0">
                      <a:noFill/>
                    </a:lnT>
                    <a:lnB w="0">
                      <a:noFill/>
                    </a:lnB>
                  </a:tcPr>
                </a:tc>
                <a:tc>
                  <a:txBody>
                    <a:bodyPr/>
                    <a:lstStyle/>
                    <a:p>
                      <a:pPr lvl="0" algn="ctr">
                        <a:buNone/>
                      </a:pPr>
                      <a:r>
                        <a:rPr lang="en-US" sz="1800" b="1" dirty="0">
                          <a:solidFill>
                            <a:schemeClr val="tx1"/>
                          </a:solidFill>
                          <a:latin typeface="Arial"/>
                        </a:rPr>
                        <a:t>0</a:t>
                      </a:r>
                    </a:p>
                  </a:txBody>
                  <a:tcPr marL="91427" marR="9142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5</a:t>
                      </a:r>
                    </a:p>
                  </a:txBody>
                  <a:tcPr marL="91427" marR="9142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0</a:t>
                      </a:r>
                    </a:p>
                  </a:txBody>
                  <a:tcPr marL="91427" marR="9142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-2</a:t>
                      </a:r>
                    </a:p>
                  </a:txBody>
                  <a:tcPr marL="91427" marR="91427" marT="45726" marB="45726">
                    <a:lnL w="0">
                      <a:noFill/>
                    </a:lnL>
                    <a:lnR w="0">
                      <a:noFill/>
                    </a:lnR>
                    <a:lnT w="0">
                      <a:noFill/>
                    </a:lnT>
                    <a:lnB w="0">
                      <a:noFill/>
                    </a:lnB>
                  </a:tcPr>
                </a:tc>
                <a:tc>
                  <a:txBody>
                    <a:bodyPr/>
                    <a:lstStyle/>
                    <a:p>
                      <a:pPr lvl="0" algn="ctr">
                        <a:buNone/>
                      </a:pPr>
                      <a:endParaRPr lang="en-US" sz="1800" b="1" dirty="0">
                        <a:solidFill>
                          <a:schemeClr val="tx1"/>
                        </a:solidFill>
                        <a:latin typeface="Arial"/>
                      </a:endParaRPr>
                    </a:p>
                  </a:txBody>
                  <a:tcPr marL="91427" marR="91427" marT="45726" marB="45726">
                    <a:lnL w="0">
                      <a:noFill/>
                    </a:lnL>
                    <a:lnR w="0">
                      <a:noFill/>
                    </a:lnR>
                    <a:lnT w="0">
                      <a:noFill/>
                    </a:lnT>
                    <a:lnB w="0">
                      <a:noFill/>
                    </a:lnB>
                  </a:tcPr>
                </a:tc>
                <a:tc>
                  <a:txBody>
                    <a:bodyPr/>
                    <a:lstStyle/>
                    <a:p>
                      <a:pPr lvl="0" algn="ctr">
                        <a:buNone/>
                      </a:pPr>
                      <a:endParaRPr lang="en-US" sz="1800" b="1" dirty="0">
                        <a:latin typeface="Arial"/>
                      </a:endParaRPr>
                    </a:p>
                  </a:txBody>
                  <a:tcPr marL="91427" marR="91427" marT="45726" marB="45726">
                    <a:lnL w="0">
                      <a:noFill/>
                    </a:lnL>
                    <a:lnR w="0">
                      <a:noFill/>
                    </a:lnR>
                    <a:lnT w="0">
                      <a:noFill/>
                    </a:lnT>
                    <a:lnB w="0">
                      <a:no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Google Shape;192;p32" descr="KL Deemed to be University Logo">
            <a:extLst>
              <a:ext uri="{FF2B5EF4-FFF2-40B4-BE49-F238E27FC236}">
                <a16:creationId xmlns:a16="http://schemas.microsoft.com/office/drawing/2014/main" id="{E5EE0730-A84D-FF45-9051-2FCAE9E3696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Google Shape;193;p32">
            <a:extLst>
              <a:ext uri="{FF2B5EF4-FFF2-40B4-BE49-F238E27FC236}">
                <a16:creationId xmlns:a16="http://schemas.microsoft.com/office/drawing/2014/main" id="{557843E5-9E4F-50CE-C372-628A56495C9F}"/>
              </a:ext>
            </a:extLst>
          </p:cNvPr>
          <p:cNvSpPr>
            <a:spLocks noChangeArrowheads="1"/>
          </p:cNvSpPr>
          <p:nvPr/>
        </p:nvSpPr>
        <p:spPr bwMode="auto">
          <a:xfrm>
            <a:off x="2654300" y="112713"/>
            <a:ext cx="7213600"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5: Identify the new pivot element</a:t>
            </a:r>
          </a:p>
        </p:txBody>
      </p:sp>
      <p:pic>
        <p:nvPicPr>
          <p:cNvPr id="56324" name="Google Shape;194;p32" descr="KL Deemed to be University Logo">
            <a:extLst>
              <a:ext uri="{FF2B5EF4-FFF2-40B4-BE49-F238E27FC236}">
                <a16:creationId xmlns:a16="http://schemas.microsoft.com/office/drawing/2014/main" id="{C4DC881D-9C5D-F7F6-E341-7D64BE2042B7}"/>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5" name="Google Shape;196;p32">
            <a:extLst>
              <a:ext uri="{FF2B5EF4-FFF2-40B4-BE49-F238E27FC236}">
                <a16:creationId xmlns:a16="http://schemas.microsoft.com/office/drawing/2014/main" id="{7F8F490F-7881-1484-EE6F-514F2ADD57C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6" name="Slide Number Placeholder 3">
            <a:extLst>
              <a:ext uri="{FF2B5EF4-FFF2-40B4-BE49-F238E27FC236}">
                <a16:creationId xmlns:a16="http://schemas.microsoft.com/office/drawing/2014/main" id="{AB0D9A80-1ED2-5AA1-57AC-0854F972710D}"/>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0ABA77CF-1720-40DC-851E-4E0D95B18B30}" type="slidenum">
              <a:rPr lang="en-IN" altLang="en-US" sz="2200" smtClean="0">
                <a:solidFill>
                  <a:schemeClr val="accent1"/>
                </a:solidFill>
              </a:rPr>
              <a:pPr>
                <a:lnSpc>
                  <a:spcPct val="100000"/>
                </a:lnSpc>
                <a:spcBef>
                  <a:spcPct val="0"/>
                </a:spcBef>
                <a:buClrTx/>
                <a:buSzTx/>
                <a:buFontTx/>
                <a:buNone/>
              </a:pPr>
              <a:t>22</a:t>
            </a:fld>
            <a:endParaRPr lang="en-IN" altLang="en-US" sz="2200">
              <a:solidFill>
                <a:schemeClr val="accent1"/>
              </a:solidFill>
            </a:endParaRPr>
          </a:p>
        </p:txBody>
      </p:sp>
      <p:sp>
        <p:nvSpPr>
          <p:cNvPr id="56327" name="Google Shape;195;p32">
            <a:extLst>
              <a:ext uri="{FF2B5EF4-FFF2-40B4-BE49-F238E27FC236}">
                <a16:creationId xmlns:a16="http://schemas.microsoft.com/office/drawing/2014/main" id="{033FA6F4-64CA-0342-9AEF-036FEC0E88D1}"/>
              </a:ext>
            </a:extLst>
          </p:cNvPr>
          <p:cNvSpPr txBox="1">
            <a:spLocks noChangeArrowheads="1"/>
          </p:cNvSpPr>
          <p:nvPr/>
        </p:nvSpPr>
        <p:spPr bwMode="auto">
          <a:xfrm>
            <a:off x="457200" y="4252913"/>
            <a:ext cx="10847388" cy="1724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457200" indent="-355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The largest value in the bottom row is 6 So, the first (x1) column is the</a:t>
            </a:r>
            <a:r>
              <a:rPr lang="en-US" altLang="en-US" b="1">
                <a:solidFill>
                  <a:srgbClr val="FFFF00"/>
                </a:solidFill>
              </a:rPr>
              <a:t> pivot column</a:t>
            </a:r>
            <a:r>
              <a:rPr lang="en-US" altLang="en-US">
                <a:solidFill>
                  <a:srgbClr val="FFFF00"/>
                </a:solidFill>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Then we compute the ratios. The smallest ratio is 8 (row 2). So, Row 2 is the</a:t>
            </a:r>
            <a:r>
              <a:rPr lang="en-US" altLang="en-US" b="1">
                <a:solidFill>
                  <a:srgbClr val="FF00FF"/>
                </a:solidFill>
              </a:rPr>
              <a:t> </a:t>
            </a:r>
            <a:r>
              <a:rPr lang="en-US" altLang="en-US" b="1">
                <a:solidFill>
                  <a:srgbClr val="00B050"/>
                </a:solidFill>
              </a:rPr>
              <a:t>pivot row</a:t>
            </a:r>
            <a:r>
              <a:rPr lang="en-US" altLang="en-US">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The </a:t>
            </a:r>
            <a:r>
              <a:rPr lang="en-US" altLang="en-US" b="1">
                <a:solidFill>
                  <a:srgbClr val="FF00FF"/>
                </a:solidFill>
              </a:rPr>
              <a:t>pivot element</a:t>
            </a:r>
            <a:r>
              <a:rPr lang="en-US" altLang="en-US">
                <a:latin typeface="Times New Roman" panose="02020603050405020304" pitchFamily="18" charset="0"/>
                <a:cs typeface="Times New Roman" panose="02020603050405020304" pitchFamily="18" charset="0"/>
              </a:rPr>
              <a:t> is</a:t>
            </a:r>
            <a:r>
              <a:rPr lang="en-US" altLang="en-US" b="1">
                <a:solidFill>
                  <a:srgbClr val="FF00FF"/>
                </a:solidFill>
              </a:rPr>
              <a:t> </a:t>
            </a:r>
            <a:r>
              <a:rPr lang="en-US" altLang="en-US" sz="1800" b="1">
                <a:solidFill>
                  <a:srgbClr val="FF0000"/>
                </a:solidFill>
                <a:latin typeface="Arial" panose="020B0604020202020204" pitchFamily="34" charset="0"/>
                <a:cs typeface="Arial" panose="020B0604020202020204" pitchFamily="34" charset="0"/>
              </a:rPr>
              <a:t>1</a:t>
            </a:r>
            <a:r>
              <a:rPr lang="en-US" altLang="en-US" b="1">
                <a:solidFill>
                  <a:srgbClr val="FF00FF"/>
                </a:solidFill>
                <a:cs typeface="Arial" panose="020B0604020202020204" pitchFamily="34" charset="0"/>
              </a:rPr>
              <a:t>/5</a:t>
            </a:r>
            <a:r>
              <a:rPr lang="en-US" altLang="en-US">
                <a:latin typeface="Times New Roman" panose="02020603050405020304" pitchFamily="18" charset="0"/>
                <a:cs typeface="Times New Roman" panose="02020603050405020304" pitchFamily="18" charset="0"/>
              </a:rPr>
              <a:t>.</a:t>
            </a:r>
            <a:endParaRPr lang="en-US" altLang="en-US" sz="1800">
              <a:latin typeface="Arial" panose="020B0604020202020204" pitchFamily="34" charset="0"/>
              <a:cs typeface="Arial" panose="020B0604020202020204" pitchFamily="34" charset="0"/>
            </a:endParaRPr>
          </a:p>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The variable x1 and x2 are incoming and outcoming variables, respectively. So, x1 will replace x2 as the basic variable.</a:t>
            </a:r>
          </a:p>
        </p:txBody>
      </p:sp>
      <p:graphicFrame>
        <p:nvGraphicFramePr>
          <p:cNvPr id="6" name="Table 11">
            <a:extLst>
              <a:ext uri="{FF2B5EF4-FFF2-40B4-BE49-F238E27FC236}">
                <a16:creationId xmlns:a16="http://schemas.microsoft.com/office/drawing/2014/main" id="{CF6D6C0B-E626-74F7-EEA1-9B9FCF427BA3}"/>
              </a:ext>
            </a:extLst>
          </p:cNvPr>
          <p:cNvGraphicFramePr>
            <a:graphicFrameLocks noGrp="1"/>
          </p:cNvGraphicFramePr>
          <p:nvPr/>
        </p:nvGraphicFramePr>
        <p:xfrm>
          <a:off x="1839913" y="1093788"/>
          <a:ext cx="10058400" cy="2487612"/>
        </p:xfrm>
        <a:graphic>
          <a:graphicData uri="http://schemas.openxmlformats.org/drawingml/2006/table">
            <a:tbl>
              <a:tblPr firstRow="1" bandRow="1">
                <a:tableStyleId>{2D5ABB26-0587-4C30-8999-92F81FD0307C}</a:tableStyleId>
              </a:tblPr>
              <a:tblGrid>
                <a:gridCol w="1015049">
                  <a:extLst>
                    <a:ext uri="{9D8B030D-6E8A-4147-A177-3AD203B41FA5}">
                      <a16:colId xmlns:a16="http://schemas.microsoft.com/office/drawing/2014/main" val="20000"/>
                    </a:ext>
                  </a:extLst>
                </a:gridCol>
                <a:gridCol w="1238770">
                  <a:extLst>
                    <a:ext uri="{9D8B030D-6E8A-4147-A177-3AD203B41FA5}">
                      <a16:colId xmlns:a16="http://schemas.microsoft.com/office/drawing/2014/main" val="20001"/>
                    </a:ext>
                  </a:extLst>
                </a:gridCol>
                <a:gridCol w="1098985">
                  <a:extLst>
                    <a:ext uri="{9D8B030D-6E8A-4147-A177-3AD203B41FA5}">
                      <a16:colId xmlns:a16="http://schemas.microsoft.com/office/drawing/2014/main" val="20002"/>
                    </a:ext>
                  </a:extLst>
                </a:gridCol>
                <a:gridCol w="1117600">
                  <a:extLst>
                    <a:ext uri="{9D8B030D-6E8A-4147-A177-3AD203B41FA5}">
                      <a16:colId xmlns:a16="http://schemas.microsoft.com/office/drawing/2014/main" val="20003"/>
                    </a:ext>
                  </a:extLst>
                </a:gridCol>
                <a:gridCol w="1117600">
                  <a:extLst>
                    <a:ext uri="{9D8B030D-6E8A-4147-A177-3AD203B41FA5}">
                      <a16:colId xmlns:a16="http://schemas.microsoft.com/office/drawing/2014/main" val="20004"/>
                    </a:ext>
                  </a:extLst>
                </a:gridCol>
                <a:gridCol w="1117600">
                  <a:extLst>
                    <a:ext uri="{9D8B030D-6E8A-4147-A177-3AD203B41FA5}">
                      <a16:colId xmlns:a16="http://schemas.microsoft.com/office/drawing/2014/main" val="20005"/>
                    </a:ext>
                  </a:extLst>
                </a:gridCol>
                <a:gridCol w="1117600">
                  <a:extLst>
                    <a:ext uri="{9D8B030D-6E8A-4147-A177-3AD203B41FA5}">
                      <a16:colId xmlns:a16="http://schemas.microsoft.com/office/drawing/2014/main" val="20006"/>
                    </a:ext>
                  </a:extLst>
                </a:gridCol>
                <a:gridCol w="645847">
                  <a:extLst>
                    <a:ext uri="{9D8B030D-6E8A-4147-A177-3AD203B41FA5}">
                      <a16:colId xmlns:a16="http://schemas.microsoft.com/office/drawing/2014/main" val="20007"/>
                    </a:ext>
                  </a:extLst>
                </a:gridCol>
                <a:gridCol w="1589350">
                  <a:extLst>
                    <a:ext uri="{9D8B030D-6E8A-4147-A177-3AD203B41FA5}">
                      <a16:colId xmlns:a16="http://schemas.microsoft.com/office/drawing/2014/main" val="20008"/>
                    </a:ext>
                  </a:extLst>
                </a:gridCol>
              </a:tblGrid>
              <a:tr h="496125">
                <a:tc>
                  <a:txBody>
                    <a:bodyPr/>
                    <a:lstStyle/>
                    <a:p>
                      <a:pPr lvl="0" algn="ctr">
                        <a:buNone/>
                      </a:pPr>
                      <a:endParaRPr lang="en-US" sz="1800" b="1" dirty="0">
                        <a:latin typeface="Arial"/>
                      </a:endParaRPr>
                    </a:p>
                  </a:txBody>
                  <a:tcPr marL="91437" marR="91437" marT="45723" marB="45723">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37" marR="91437" marT="45723" marB="45723">
                    <a:lnR w="12700">
                      <a:solidFill>
                        <a:schemeClr val="tx1"/>
                      </a:solidFill>
                    </a:lnR>
                    <a:lnB w="12700">
                      <a:solidFill>
                        <a:schemeClr val="tx1"/>
                      </a:solidFill>
                    </a:lnB>
                  </a:tcPr>
                </a:tc>
                <a:tc>
                  <a:txBody>
                    <a:bodyPr/>
                    <a:lstStyle/>
                    <a:p>
                      <a:pPr lvl="0" algn="ctr">
                        <a:buNone/>
                      </a:pPr>
                      <a:r>
                        <a:rPr lang="en-US" sz="1800" b="1" dirty="0">
                          <a:latin typeface="Arial"/>
                        </a:rPr>
                        <a:t>8</a:t>
                      </a:r>
                      <a:endParaRPr lang="en-US" sz="1800" b="1" dirty="0">
                        <a:solidFill>
                          <a:srgbClr val="FF0000"/>
                        </a:solidFill>
                        <a:latin typeface="Arial"/>
                      </a:endParaRPr>
                    </a:p>
                  </a:txBody>
                  <a:tcPr marL="91437" marR="91437" marT="45723" marB="45723">
                    <a:lnL w="12700">
                      <a:solidFill>
                        <a:schemeClr val="tx1"/>
                      </a:solidFill>
                    </a:lnL>
                    <a:lnB w="12700">
                      <a:solidFill>
                        <a:schemeClr val="tx1"/>
                      </a:solidFill>
                    </a:lnB>
                  </a:tcPr>
                </a:tc>
                <a:tc>
                  <a:txBody>
                    <a:bodyPr/>
                    <a:lstStyle/>
                    <a:p>
                      <a:pPr lvl="0" algn="ctr">
                        <a:buNone/>
                      </a:pPr>
                      <a:r>
                        <a:rPr lang="en-US" sz="1800" b="1" dirty="0">
                          <a:latin typeface="Arial"/>
                        </a:rPr>
                        <a:t>10</a:t>
                      </a:r>
                      <a:endParaRPr lang="en-US" sz="1800" b="1" dirty="0">
                        <a:solidFill>
                          <a:srgbClr val="FF0000"/>
                        </a:solidFill>
                        <a:latin typeface="Arial"/>
                      </a:endParaRPr>
                    </a:p>
                  </a:txBody>
                  <a:tcPr marL="91437" marR="91437" marT="45723" marB="45723">
                    <a:lnB w="12700">
                      <a:solidFill>
                        <a:schemeClr val="tx1"/>
                      </a:solidFill>
                    </a:lnB>
                  </a:tcPr>
                </a:tc>
                <a:tc>
                  <a:txBody>
                    <a:bodyPr/>
                    <a:lstStyle/>
                    <a:p>
                      <a:pPr lvl="0" algn="ctr">
                        <a:buNone/>
                      </a:pPr>
                      <a:r>
                        <a:rPr lang="en-US" sz="1800" b="1" dirty="0">
                          <a:latin typeface="Arial"/>
                        </a:rPr>
                        <a:t>7</a:t>
                      </a:r>
                      <a:endParaRPr lang="en-US" sz="1800" b="1" dirty="0">
                        <a:solidFill>
                          <a:srgbClr val="FF0000"/>
                        </a:solidFill>
                        <a:latin typeface="Arial"/>
                      </a:endParaRPr>
                    </a:p>
                  </a:txBody>
                  <a:tcPr marL="91437" marR="91437" marT="45723" marB="45723">
                    <a:lnB w="12700">
                      <a:solidFill>
                        <a:schemeClr val="tx1"/>
                      </a:solidFill>
                    </a:lnB>
                  </a:tcPr>
                </a:tc>
                <a:tc>
                  <a:txBody>
                    <a:bodyPr/>
                    <a:lstStyle/>
                    <a:p>
                      <a:pPr lvl="0" algn="ctr">
                        <a:buNone/>
                      </a:pPr>
                      <a:r>
                        <a:rPr lang="en-US" sz="1800" b="1" dirty="0">
                          <a:latin typeface="Arial"/>
                        </a:rPr>
                        <a:t>0</a:t>
                      </a:r>
                    </a:p>
                  </a:txBody>
                  <a:tcPr marL="91437" marR="91437" marT="45723" marB="45723">
                    <a:lnB w="12700">
                      <a:solidFill>
                        <a:schemeClr val="tx1"/>
                      </a:solidFill>
                    </a:lnB>
                  </a:tcPr>
                </a:tc>
                <a:tc>
                  <a:txBody>
                    <a:bodyPr/>
                    <a:lstStyle/>
                    <a:p>
                      <a:pPr lvl="0" algn="ctr">
                        <a:buNone/>
                      </a:pPr>
                      <a:r>
                        <a:rPr lang="en-US" sz="1800" b="1" dirty="0">
                          <a:latin typeface="Arial"/>
                        </a:rPr>
                        <a:t>0</a:t>
                      </a:r>
                      <a:endParaRPr lang="en-US" sz="1800" b="1" dirty="0">
                        <a:solidFill>
                          <a:srgbClr val="FF0000"/>
                        </a:solidFill>
                        <a:latin typeface="Arial"/>
                      </a:endParaRPr>
                    </a:p>
                  </a:txBody>
                  <a:tcPr marL="91437" marR="91437" marT="45723" marB="45723">
                    <a:lnR w="12700">
                      <a:solidFill>
                        <a:schemeClr val="tx1"/>
                      </a:solidFill>
                    </a:lnR>
                    <a:lnB w="12700">
                      <a:solidFill>
                        <a:schemeClr val="tx1"/>
                      </a:solidFill>
                    </a:lnB>
                  </a:tcPr>
                </a:tc>
                <a:tc>
                  <a:txBody>
                    <a:bodyPr/>
                    <a:lstStyle/>
                    <a:p>
                      <a:pPr algn="ctr"/>
                      <a:endParaRPr lang="en-US" sz="1800" b="1" dirty="0">
                        <a:latin typeface="Arial"/>
                      </a:endParaRPr>
                    </a:p>
                  </a:txBody>
                  <a:tcPr marL="91437" marR="91437" marT="45723" marB="45723">
                    <a:lnL w="12700">
                      <a:solidFill>
                        <a:schemeClr val="tx1"/>
                      </a:solidFill>
                    </a:lnL>
                    <a:lnR w="12700">
                      <a:solidFill>
                        <a:schemeClr val="tx1"/>
                      </a:solidFill>
                    </a:lnR>
                    <a:lnB w="12700">
                      <a:solidFill>
                        <a:schemeClr val="tx1"/>
                      </a:solidFill>
                    </a:lnB>
                  </a:tcPr>
                </a:tc>
                <a:tc>
                  <a:txBody>
                    <a:bodyPr/>
                    <a:lstStyle/>
                    <a:p>
                      <a:pPr lvl="0" algn="ctr">
                        <a:buNone/>
                      </a:pPr>
                      <a:endParaRPr lang="en-US" sz="1800" b="1" dirty="0">
                        <a:latin typeface="Arial"/>
                      </a:endParaRPr>
                    </a:p>
                  </a:txBody>
                  <a:tcPr marL="91437" marR="91437" marT="45723" marB="45723">
                    <a:lnL w="12700">
                      <a:solidFill>
                        <a:schemeClr val="tx1"/>
                      </a:solidFill>
                    </a:lnL>
                    <a:lnB w="12700">
                      <a:solidFill>
                        <a:schemeClr val="tx1"/>
                      </a:solidFill>
                    </a:lnB>
                  </a:tcPr>
                </a:tc>
                <a:extLst>
                  <a:ext uri="{0D108BD9-81ED-4DB2-BD59-A6C34878D82A}">
                    <a16:rowId xmlns:a16="http://schemas.microsoft.com/office/drawing/2014/main" val="10000"/>
                  </a:ext>
                </a:extLst>
              </a:tr>
              <a:tr h="457230">
                <a:tc>
                  <a:txBody>
                    <a:bodyPr/>
                    <a:lstStyle/>
                    <a:p>
                      <a:pPr lvl="0" algn="ctr">
                        <a:buNone/>
                      </a:pPr>
                      <a:r>
                        <a:rPr lang="en-US" sz="1800" b="1" err="1">
                          <a:latin typeface="Arial"/>
                        </a:rPr>
                        <a:t>C</a:t>
                      </a:r>
                      <a:r>
                        <a:rPr lang="en-US" sz="1800" b="1" baseline="-25000" err="1">
                          <a:latin typeface="Arial"/>
                        </a:rPr>
                        <a:t>Bi</a:t>
                      </a:r>
                    </a:p>
                  </a:txBody>
                  <a:tcPr marL="91437" marR="9143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37" marR="9143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37" marR="91437" marT="45723" marB="45723">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37" marR="91437" marT="45723" marB="45723">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37" marR="91437" marT="45723" marB="45723">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37" marR="91437" marT="45723" marB="45723">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37" marR="91437" marT="45723" marB="45723">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37" marR="91437" marT="45723" marB="45723">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ratio</a:t>
                      </a:r>
                    </a:p>
                  </a:txBody>
                  <a:tcPr marL="91437" marR="91437" marT="45723" marB="45723">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96266">
                <a:tc>
                  <a:txBody>
                    <a:bodyPr/>
                    <a:lstStyle/>
                    <a:p>
                      <a:pPr lvl="0" algn="ctr">
                        <a:buNone/>
                      </a:pPr>
                      <a:r>
                        <a:rPr lang="en-US" sz="1800" b="1" dirty="0">
                          <a:latin typeface="Arial"/>
                        </a:rPr>
                        <a:t>0</a:t>
                      </a:r>
                    </a:p>
                  </a:txBody>
                  <a:tcPr marL="91437" marR="91437" marT="45723" marB="45723">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37" marR="91437" marT="45723" marB="45723">
                    <a:lnR w="12700">
                      <a:solidFill>
                        <a:schemeClr val="tx1"/>
                      </a:solidFill>
                    </a:lnR>
                    <a:lnT w="12700">
                      <a:solidFill>
                        <a:schemeClr val="tx1"/>
                      </a:solidFill>
                    </a:lnT>
                  </a:tcPr>
                </a:tc>
                <a:tc>
                  <a:txBody>
                    <a:bodyPr/>
                    <a:lstStyle/>
                    <a:p>
                      <a:pPr algn="ctr"/>
                      <a:r>
                        <a:rPr lang="en-US" sz="2000" b="1" kern="1200" dirty="0">
                          <a:solidFill>
                            <a:schemeClr val="tx1"/>
                          </a:solidFill>
                          <a:latin typeface="+mn-lt"/>
                          <a:ea typeface="+mn-ea"/>
                          <a:cs typeface="+mn-cs"/>
                        </a:rPr>
                        <a:t>2/5</a:t>
                      </a:r>
                    </a:p>
                  </a:txBody>
                  <a:tcPr marL="91437" marR="91437" marT="45723" marB="45723">
                    <a:lnL w="12700">
                      <a:solidFill>
                        <a:schemeClr val="tx1"/>
                      </a:solidFill>
                    </a:lnL>
                    <a:lnT w="12700">
                      <a:solidFill>
                        <a:schemeClr val="tx1"/>
                      </a:solidFill>
                    </a:lnT>
                  </a:tcPr>
                </a:tc>
                <a:tc>
                  <a:txBody>
                    <a:bodyPr/>
                    <a:lstStyle/>
                    <a:p>
                      <a:pPr algn="ctr"/>
                      <a:r>
                        <a:rPr lang="en-US" sz="1800" b="1" dirty="0">
                          <a:solidFill>
                            <a:schemeClr val="tx1"/>
                          </a:solidFill>
                          <a:latin typeface="Arial"/>
                        </a:rPr>
                        <a:t>0</a:t>
                      </a:r>
                    </a:p>
                  </a:txBody>
                  <a:tcPr marL="91437" marR="91437" marT="45723" marB="45723">
                    <a:lnT w="12700">
                      <a:solidFill>
                        <a:schemeClr val="tx1"/>
                      </a:solidFill>
                    </a:lnT>
                  </a:tcPr>
                </a:tc>
                <a:tc>
                  <a:txBody>
                    <a:bodyPr/>
                    <a:lstStyle/>
                    <a:p>
                      <a:pPr algn="ctr"/>
                      <a:r>
                        <a:rPr lang="en-US" sz="1800" b="1" dirty="0">
                          <a:solidFill>
                            <a:schemeClr val="tx1"/>
                          </a:solidFill>
                          <a:latin typeface="Arial"/>
                        </a:rPr>
                        <a:t>7/5</a:t>
                      </a:r>
                    </a:p>
                  </a:txBody>
                  <a:tcPr marL="91437" marR="91437" marT="45723" marB="45723">
                    <a:lnT w="12700">
                      <a:solidFill>
                        <a:schemeClr val="tx1"/>
                      </a:solidFill>
                    </a:lnT>
                  </a:tcPr>
                </a:tc>
                <a:tc>
                  <a:txBody>
                    <a:bodyPr/>
                    <a:lstStyle/>
                    <a:p>
                      <a:pPr algn="ctr"/>
                      <a:r>
                        <a:rPr lang="en-US" sz="1800" b="1" dirty="0">
                          <a:solidFill>
                            <a:schemeClr val="tx1"/>
                          </a:solidFill>
                          <a:latin typeface="Arial"/>
                        </a:rPr>
                        <a:t>1</a:t>
                      </a:r>
                    </a:p>
                  </a:txBody>
                  <a:tcPr marL="91437" marR="91437" marT="45723" marB="45723">
                    <a:lnT w="12700">
                      <a:solidFill>
                        <a:schemeClr val="tx1"/>
                      </a:solidFill>
                    </a:lnT>
                  </a:tcPr>
                </a:tc>
                <a:tc>
                  <a:txBody>
                    <a:bodyPr/>
                    <a:lstStyle/>
                    <a:p>
                      <a:pPr algn="ctr"/>
                      <a:r>
                        <a:rPr lang="en-US" sz="1800" b="1" dirty="0">
                          <a:solidFill>
                            <a:schemeClr val="tx1"/>
                          </a:solidFill>
                          <a:latin typeface="Arial"/>
                        </a:rPr>
                        <a:t>-3/5</a:t>
                      </a:r>
                    </a:p>
                  </a:txBody>
                  <a:tcPr marL="91437" marR="91437" marT="45723" marB="45723">
                    <a:lnR w="12700">
                      <a:solidFill>
                        <a:schemeClr val="tx1"/>
                      </a:solidFill>
                    </a:lnR>
                    <a:lnT w="12700">
                      <a:solidFill>
                        <a:schemeClr val="tx1"/>
                      </a:solidFill>
                    </a:lnT>
                  </a:tcPr>
                </a:tc>
                <a:tc>
                  <a:txBody>
                    <a:bodyPr/>
                    <a:lstStyle/>
                    <a:p>
                      <a:pPr algn="ctr"/>
                      <a:r>
                        <a:rPr lang="en-US" sz="1800" b="1" dirty="0">
                          <a:solidFill>
                            <a:schemeClr val="tx1"/>
                          </a:solidFill>
                          <a:latin typeface="Arial"/>
                        </a:rPr>
                        <a:t>26/5</a:t>
                      </a:r>
                    </a:p>
                  </a:txBody>
                  <a:tcPr marL="91437" marR="91437" marT="45723" marB="45723">
                    <a:lnL w="12700">
                      <a:solidFill>
                        <a:schemeClr val="tx1"/>
                      </a:solidFill>
                    </a:lnL>
                    <a:lnR w="12700">
                      <a:solidFill>
                        <a:schemeClr val="tx1"/>
                      </a:solidFill>
                    </a:lnR>
                    <a:lnT w="12700">
                      <a:solidFill>
                        <a:schemeClr val="tx1"/>
                      </a:solidFill>
                    </a:lnT>
                  </a:tcPr>
                </a:tc>
                <a:tc>
                  <a:txBody>
                    <a:bodyPr/>
                    <a:lstStyle/>
                    <a:p>
                      <a:pPr lvl="0" algn="ctr">
                        <a:buNone/>
                      </a:pPr>
                      <a:r>
                        <a:rPr lang="en-US" sz="1600" b="1" dirty="0">
                          <a:latin typeface="Arial"/>
                        </a:rPr>
                        <a:t>(26/5)/(2/5)=13</a:t>
                      </a:r>
                    </a:p>
                  </a:txBody>
                  <a:tcPr marL="91437" marR="91437" marT="45723" marB="45723">
                    <a:lnL w="12700">
                      <a:solidFill>
                        <a:schemeClr val="tx1"/>
                      </a:solidFill>
                    </a:lnL>
                    <a:lnT w="12700">
                      <a:solidFill>
                        <a:schemeClr val="tx1"/>
                      </a:solidFill>
                    </a:lnT>
                  </a:tcPr>
                </a:tc>
                <a:extLst>
                  <a:ext uri="{0D108BD9-81ED-4DB2-BD59-A6C34878D82A}">
                    <a16:rowId xmlns:a16="http://schemas.microsoft.com/office/drawing/2014/main" val="10002"/>
                  </a:ext>
                </a:extLst>
              </a:tr>
              <a:tr h="396266">
                <a:tc>
                  <a:txBody>
                    <a:bodyPr/>
                    <a:lstStyle/>
                    <a:p>
                      <a:pPr lvl="0" algn="ctr">
                        <a:buNone/>
                      </a:pPr>
                      <a:r>
                        <a:rPr lang="en-US" sz="1800" b="1" dirty="0">
                          <a:solidFill>
                            <a:schemeClr val="tx1"/>
                          </a:solidFill>
                          <a:latin typeface="Arial"/>
                        </a:rPr>
                        <a:t>10</a:t>
                      </a:r>
                    </a:p>
                  </a:txBody>
                  <a:tcPr marL="91437" marR="91437" marT="45723" marB="45723">
                    <a:lnL w="12700">
                      <a:solidFill>
                        <a:schemeClr val="tx1"/>
                      </a:solidFill>
                    </a:lnL>
                    <a:lnB w="12700">
                      <a:solidFill>
                        <a:schemeClr val="tx1"/>
                      </a:solidFill>
                    </a:lnB>
                  </a:tcPr>
                </a:tc>
                <a:tc>
                  <a:txBody>
                    <a:bodyPr/>
                    <a:lstStyle/>
                    <a:p>
                      <a:pPr lvl="0" algn="ctr">
                        <a:buNone/>
                      </a:pPr>
                      <a:r>
                        <a:rPr lang="en-US" sz="1800" b="1" kern="1200" dirty="0">
                          <a:solidFill>
                            <a:schemeClr val="accent3"/>
                          </a:solidFill>
                          <a:latin typeface="Arial"/>
                          <a:ea typeface="+mn-ea"/>
                          <a:cs typeface="+mn-cs"/>
                        </a:rPr>
                        <a:t>x2</a:t>
                      </a:r>
                      <a:endParaRPr lang="en-US" sz="1800" b="1" kern="1200">
                        <a:solidFill>
                          <a:schemeClr val="accent3"/>
                        </a:solidFill>
                        <a:latin typeface="Arial"/>
                        <a:ea typeface="+mn-ea"/>
                        <a:cs typeface="+mn-cs"/>
                      </a:endParaRPr>
                    </a:p>
                  </a:txBody>
                  <a:tcPr marL="91437" marR="91437" marT="45723" marB="45723">
                    <a:lnR w="12700">
                      <a:solidFill>
                        <a:schemeClr val="tx1"/>
                      </a:solidFill>
                    </a:lnR>
                    <a:lnB w="12700">
                      <a:solidFill>
                        <a:schemeClr val="tx1"/>
                      </a:solidFill>
                    </a:lnB>
                  </a:tcPr>
                </a:tc>
                <a:tc>
                  <a:txBody>
                    <a:bodyPr/>
                    <a:lstStyle/>
                    <a:p>
                      <a:pPr algn="ctr"/>
                      <a:r>
                        <a:rPr lang="en-US" sz="2000" b="1" kern="1200" dirty="0">
                          <a:solidFill>
                            <a:srgbClr val="FF00FF"/>
                          </a:solidFill>
                          <a:latin typeface="+mn-lt"/>
                          <a:ea typeface="+mn-ea"/>
                          <a:cs typeface="+mn-cs"/>
                        </a:rPr>
                        <a:t>1/5</a:t>
                      </a:r>
                    </a:p>
                  </a:txBody>
                  <a:tcPr marL="91437" marR="91437" marT="45723" marB="45723">
                    <a:lnL w="12700">
                      <a:solidFill>
                        <a:schemeClr val="tx1"/>
                      </a:solidFill>
                    </a:lnL>
                    <a:lnB w="12700">
                      <a:solidFill>
                        <a:schemeClr val="tx1"/>
                      </a:solidFill>
                    </a:lnB>
                  </a:tcPr>
                </a:tc>
                <a:tc>
                  <a:txBody>
                    <a:bodyPr/>
                    <a:lstStyle/>
                    <a:p>
                      <a:pPr algn="ctr"/>
                      <a:r>
                        <a:rPr lang="en-US" sz="1800" b="1" dirty="0">
                          <a:solidFill>
                            <a:schemeClr val="tx1"/>
                          </a:solidFill>
                          <a:latin typeface="Arial"/>
                        </a:rPr>
                        <a:t>1</a:t>
                      </a:r>
                    </a:p>
                  </a:txBody>
                  <a:tcPr marL="91437" marR="91437" marT="45723" marB="45723">
                    <a:lnB w="12700">
                      <a:solidFill>
                        <a:schemeClr val="tx1"/>
                      </a:solidFill>
                    </a:lnB>
                  </a:tcPr>
                </a:tc>
                <a:tc>
                  <a:txBody>
                    <a:bodyPr/>
                    <a:lstStyle/>
                    <a:p>
                      <a:pPr algn="ctr"/>
                      <a:r>
                        <a:rPr lang="en-US" sz="1800" b="1" dirty="0">
                          <a:solidFill>
                            <a:schemeClr val="tx1"/>
                          </a:solidFill>
                          <a:latin typeface="Arial"/>
                        </a:rPr>
                        <a:t>1/5</a:t>
                      </a:r>
                    </a:p>
                  </a:txBody>
                  <a:tcPr marL="91437" marR="91437" marT="45723" marB="45723">
                    <a:lnB w="12700">
                      <a:solidFill>
                        <a:schemeClr val="tx1"/>
                      </a:solidFill>
                    </a:lnB>
                  </a:tcPr>
                </a:tc>
                <a:tc>
                  <a:txBody>
                    <a:bodyPr/>
                    <a:lstStyle/>
                    <a:p>
                      <a:pPr algn="ctr"/>
                      <a:r>
                        <a:rPr lang="en-US" sz="1800" b="1" dirty="0">
                          <a:solidFill>
                            <a:schemeClr val="tx1"/>
                          </a:solidFill>
                          <a:latin typeface="Arial"/>
                        </a:rPr>
                        <a:t>0</a:t>
                      </a:r>
                    </a:p>
                  </a:txBody>
                  <a:tcPr marL="91437" marR="91437" marT="45723" marB="45723">
                    <a:lnB w="12700">
                      <a:solidFill>
                        <a:schemeClr val="tx1"/>
                      </a:solidFill>
                    </a:lnB>
                  </a:tcPr>
                </a:tc>
                <a:tc>
                  <a:txBody>
                    <a:bodyPr/>
                    <a:lstStyle/>
                    <a:p>
                      <a:pPr algn="ctr"/>
                      <a:r>
                        <a:rPr lang="en-US" sz="1800" b="1" dirty="0">
                          <a:solidFill>
                            <a:schemeClr val="tx1"/>
                          </a:solidFill>
                          <a:latin typeface="Arial"/>
                        </a:rPr>
                        <a:t>1/5</a:t>
                      </a:r>
                    </a:p>
                  </a:txBody>
                  <a:tcPr marL="91437" marR="91437" marT="45723" marB="45723">
                    <a:lnR w="12700">
                      <a:solidFill>
                        <a:schemeClr val="tx1"/>
                      </a:solidFill>
                    </a:lnR>
                    <a:lnB w="12700">
                      <a:solidFill>
                        <a:schemeClr val="tx1"/>
                      </a:solidFill>
                    </a:lnB>
                  </a:tcPr>
                </a:tc>
                <a:tc>
                  <a:txBody>
                    <a:bodyPr/>
                    <a:lstStyle/>
                    <a:p>
                      <a:pPr algn="ctr"/>
                      <a:r>
                        <a:rPr lang="en-US" sz="1800" b="1" dirty="0">
                          <a:solidFill>
                            <a:schemeClr val="tx1"/>
                          </a:solidFill>
                          <a:latin typeface="Arial"/>
                        </a:rPr>
                        <a:t>8/5</a:t>
                      </a:r>
                    </a:p>
                  </a:txBody>
                  <a:tcPr marL="91437" marR="91437" marT="45723" marB="45723">
                    <a:lnL w="12700">
                      <a:solidFill>
                        <a:schemeClr val="tx1"/>
                      </a:solidFill>
                    </a:lnL>
                    <a:lnR w="12700">
                      <a:solidFill>
                        <a:schemeClr val="tx1"/>
                      </a:solidFill>
                    </a:lnR>
                    <a:lnB w="12700">
                      <a:solidFill>
                        <a:schemeClr val="tx1"/>
                      </a:solidFill>
                    </a:lnB>
                  </a:tcPr>
                </a:tc>
                <a:tc>
                  <a:txBody>
                    <a:bodyPr/>
                    <a:lstStyle/>
                    <a:p>
                      <a:pPr lvl="0" algn="ctr">
                        <a:buNone/>
                      </a:pPr>
                      <a:r>
                        <a:rPr lang="en-US" sz="1800" b="1" dirty="0">
                          <a:latin typeface="Arial"/>
                        </a:rPr>
                        <a:t>(8/5)/(1/5)=8</a:t>
                      </a:r>
                    </a:p>
                  </a:txBody>
                  <a:tcPr marL="91437" marR="91437" marT="45723" marB="45723">
                    <a:lnL w="12700">
                      <a:solidFill>
                        <a:schemeClr val="tx1"/>
                      </a:solidFill>
                    </a:lnL>
                  </a:tcPr>
                </a:tc>
                <a:extLst>
                  <a:ext uri="{0D108BD9-81ED-4DB2-BD59-A6C34878D82A}">
                    <a16:rowId xmlns:a16="http://schemas.microsoft.com/office/drawing/2014/main" val="10003"/>
                  </a:ext>
                </a:extLst>
              </a:tr>
              <a:tr h="370863">
                <a:tc>
                  <a:txBody>
                    <a:bodyPr/>
                    <a:lstStyle/>
                    <a:p>
                      <a:pPr lvl="0" algn="ctr">
                        <a:buNone/>
                      </a:pPr>
                      <a:endParaRPr lang="en-US" sz="1800" b="1" dirty="0">
                        <a:solidFill>
                          <a:schemeClr val="tx1"/>
                        </a:solidFill>
                        <a:latin typeface="Arial"/>
                      </a:endParaRPr>
                    </a:p>
                  </a:txBody>
                  <a:tcPr marL="91437" marR="91437" marT="45723" marB="45723">
                    <a:lnL w="12700">
                      <a:solidFill>
                        <a:schemeClr val="tx1"/>
                      </a:solidFill>
                    </a:lnL>
                    <a:lnT w="12700">
                      <a:solidFill>
                        <a:schemeClr val="tx1"/>
                      </a:solidFill>
                    </a:lnT>
                    <a:lnB w="0">
                      <a:noFill/>
                    </a:lnB>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37" marR="91437" marT="45723" marB="45723">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2</a:t>
                      </a:r>
                    </a:p>
                  </a:txBody>
                  <a:tcPr marL="91437" marR="91437" marT="45723" marB="45723">
                    <a:lnL w="12700">
                      <a:solidFill>
                        <a:schemeClr val="tx1"/>
                      </a:solidFill>
                    </a:lnL>
                    <a:lnT w="12700">
                      <a:solidFill>
                        <a:schemeClr val="tx1"/>
                      </a:solidFill>
                    </a:lnT>
                    <a:lnB w="0">
                      <a:noFill/>
                    </a:lnB>
                  </a:tcPr>
                </a:tc>
                <a:tc>
                  <a:txBody>
                    <a:bodyPr/>
                    <a:lstStyle/>
                    <a:p>
                      <a:pPr lvl="0" algn="ctr">
                        <a:buNone/>
                      </a:pPr>
                      <a:r>
                        <a:rPr lang="en-US" sz="1800" b="1" dirty="0">
                          <a:solidFill>
                            <a:schemeClr val="tx1"/>
                          </a:solidFill>
                          <a:latin typeface="Arial"/>
                        </a:rPr>
                        <a:t>10</a:t>
                      </a:r>
                    </a:p>
                  </a:txBody>
                  <a:tcPr marL="91437" marR="91437" marT="45723" marB="45723">
                    <a:lnT w="12700">
                      <a:solidFill>
                        <a:schemeClr val="tx1"/>
                      </a:solidFill>
                    </a:lnT>
                    <a:lnB w="0">
                      <a:noFill/>
                    </a:lnB>
                  </a:tcPr>
                </a:tc>
                <a:tc>
                  <a:txBody>
                    <a:bodyPr/>
                    <a:lstStyle/>
                    <a:p>
                      <a:pPr lvl="0" algn="ctr">
                        <a:buNone/>
                      </a:pPr>
                      <a:r>
                        <a:rPr lang="en-US" sz="1800" b="1" dirty="0">
                          <a:solidFill>
                            <a:schemeClr val="tx1"/>
                          </a:solidFill>
                          <a:latin typeface="Arial"/>
                        </a:rPr>
                        <a:t>2</a:t>
                      </a:r>
                    </a:p>
                  </a:txBody>
                  <a:tcPr marL="91437" marR="91437" marT="45723" marB="45723">
                    <a:lnT w="12700">
                      <a:solidFill>
                        <a:schemeClr val="tx1"/>
                      </a:solidFill>
                    </a:lnT>
                    <a:lnB w="0">
                      <a:noFill/>
                    </a:lnB>
                  </a:tcPr>
                </a:tc>
                <a:tc>
                  <a:txBody>
                    <a:bodyPr/>
                    <a:lstStyle/>
                    <a:p>
                      <a:pPr lvl="0" algn="ctr">
                        <a:buNone/>
                      </a:pPr>
                      <a:r>
                        <a:rPr lang="en-US" sz="1800" b="1" dirty="0">
                          <a:solidFill>
                            <a:schemeClr val="tx1"/>
                          </a:solidFill>
                          <a:latin typeface="Arial"/>
                        </a:rPr>
                        <a:t>0</a:t>
                      </a:r>
                    </a:p>
                  </a:txBody>
                  <a:tcPr marL="91437" marR="91437" marT="45723" marB="45723">
                    <a:lnT w="12700">
                      <a:solidFill>
                        <a:schemeClr val="tx1"/>
                      </a:solidFill>
                    </a:lnT>
                    <a:lnB w="0">
                      <a:noFill/>
                    </a:lnB>
                  </a:tcPr>
                </a:tc>
                <a:tc>
                  <a:txBody>
                    <a:bodyPr/>
                    <a:lstStyle/>
                    <a:p>
                      <a:pPr lvl="0" algn="ctr">
                        <a:buNone/>
                      </a:pPr>
                      <a:r>
                        <a:rPr lang="en-US" sz="1800" b="1" dirty="0">
                          <a:solidFill>
                            <a:schemeClr val="tx1"/>
                          </a:solidFill>
                          <a:latin typeface="Arial"/>
                        </a:rPr>
                        <a:t>2</a:t>
                      </a:r>
                    </a:p>
                  </a:txBody>
                  <a:tcPr marL="91437" marR="91437" marT="45723" marB="45723">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16</a:t>
                      </a:r>
                    </a:p>
                  </a:txBody>
                  <a:tcPr marL="91437" marR="91437" marT="45723" marB="45723">
                    <a:lnL w="12700">
                      <a:solidFill>
                        <a:schemeClr val="tx1"/>
                      </a:solidFill>
                    </a:lnL>
                    <a:lnR w="12700">
                      <a:solidFill>
                        <a:schemeClr val="tx1"/>
                      </a:solidFill>
                    </a:lnR>
                    <a:lnT w="12700">
                      <a:solidFill>
                        <a:schemeClr val="tx1"/>
                      </a:solidFill>
                    </a:lnT>
                    <a:lnB w="0">
                      <a:noFill/>
                    </a:lnB>
                  </a:tcPr>
                </a:tc>
                <a:tc>
                  <a:txBody>
                    <a:bodyPr/>
                    <a:lstStyle/>
                    <a:p>
                      <a:pPr lvl="0" algn="ctr">
                        <a:buNone/>
                      </a:pPr>
                      <a:endParaRPr lang="en-US" sz="1800" b="1" dirty="0">
                        <a:latin typeface="Arial"/>
                      </a:endParaRPr>
                    </a:p>
                  </a:txBody>
                  <a:tcPr marL="91437" marR="91437" marT="45723" marB="45723">
                    <a:lnL w="12700">
                      <a:solidFill>
                        <a:schemeClr val="tx1"/>
                      </a:solidFill>
                    </a:lnL>
                    <a:lnB w="0">
                      <a:noFill/>
                    </a:lnB>
                  </a:tcPr>
                </a:tc>
                <a:extLst>
                  <a:ext uri="{0D108BD9-81ED-4DB2-BD59-A6C34878D82A}">
                    <a16:rowId xmlns:a16="http://schemas.microsoft.com/office/drawing/2014/main" val="10004"/>
                  </a:ext>
                </a:extLst>
              </a:tr>
              <a:tr h="370862">
                <a:tc>
                  <a:txBody>
                    <a:bodyPr/>
                    <a:lstStyle/>
                    <a:p>
                      <a:pPr lvl="0" algn="ctr">
                        <a:buNone/>
                      </a:pPr>
                      <a:endParaRPr lang="en-US" sz="1800" b="1" dirty="0">
                        <a:solidFill>
                          <a:schemeClr val="tx1"/>
                        </a:solidFill>
                        <a:latin typeface="Arial"/>
                      </a:endParaRPr>
                    </a:p>
                  </a:txBody>
                  <a:tcPr marL="91437" marR="91437" marT="45723" marB="45723">
                    <a:lnL w="0">
                      <a:noFill/>
                    </a:lnL>
                    <a:lnR w="0">
                      <a:noFill/>
                    </a:lnR>
                    <a:lnT w="0">
                      <a:noFill/>
                    </a:lnT>
                    <a:lnB w="0">
                      <a:noFill/>
                    </a:lnB>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37" marR="91437" marT="45723" marB="45723">
                    <a:lnL w="0">
                      <a:noFill/>
                    </a:lnL>
                    <a:lnR w="12700">
                      <a:solidFill>
                        <a:schemeClr val="tx1"/>
                      </a:solidFill>
                    </a:lnR>
                    <a:lnT w="0">
                      <a:noFill/>
                    </a:lnT>
                    <a:lnB w="0">
                      <a:noFill/>
                    </a:lnB>
                  </a:tcPr>
                </a:tc>
                <a:tc>
                  <a:txBody>
                    <a:bodyPr/>
                    <a:lstStyle/>
                    <a:p>
                      <a:pPr lvl="0" algn="ctr">
                        <a:buNone/>
                      </a:pPr>
                      <a:r>
                        <a:rPr lang="en-US" sz="1800" b="1" dirty="0">
                          <a:solidFill>
                            <a:schemeClr val="tx1"/>
                          </a:solidFill>
                          <a:latin typeface="Arial"/>
                        </a:rPr>
                        <a:t>6</a:t>
                      </a:r>
                    </a:p>
                  </a:txBody>
                  <a:tcPr marL="91437" marR="91437" marT="45723" marB="45723">
                    <a:lnL w="12700">
                      <a:solidFill>
                        <a:schemeClr val="tx1"/>
                      </a:solidFill>
                    </a:lnL>
                    <a:lnR w="0">
                      <a:noFill/>
                    </a:lnR>
                    <a:lnT w="0">
                      <a:noFill/>
                    </a:lnT>
                    <a:lnB w="0">
                      <a:noFill/>
                    </a:lnB>
                  </a:tcPr>
                </a:tc>
                <a:tc>
                  <a:txBody>
                    <a:bodyPr/>
                    <a:lstStyle/>
                    <a:p>
                      <a:pPr lvl="0" algn="ctr">
                        <a:buNone/>
                      </a:pPr>
                      <a:r>
                        <a:rPr lang="en-US" sz="1800" b="1" dirty="0">
                          <a:solidFill>
                            <a:schemeClr val="tx1"/>
                          </a:solidFill>
                          <a:latin typeface="Arial"/>
                        </a:rPr>
                        <a:t>0</a:t>
                      </a:r>
                    </a:p>
                  </a:txBody>
                  <a:tcPr marL="91437" marR="91437" marT="45723" marB="45723">
                    <a:lnL w="0">
                      <a:noFill/>
                    </a:lnL>
                    <a:lnR w="0">
                      <a:noFill/>
                    </a:lnR>
                    <a:lnT w="0">
                      <a:noFill/>
                    </a:lnT>
                    <a:lnB w="0">
                      <a:noFill/>
                    </a:lnB>
                  </a:tcPr>
                </a:tc>
                <a:tc>
                  <a:txBody>
                    <a:bodyPr/>
                    <a:lstStyle/>
                    <a:p>
                      <a:pPr lvl="0" algn="ctr">
                        <a:buNone/>
                      </a:pPr>
                      <a:r>
                        <a:rPr lang="en-US" sz="1800" b="1" dirty="0">
                          <a:solidFill>
                            <a:schemeClr val="tx1"/>
                          </a:solidFill>
                          <a:latin typeface="Arial"/>
                        </a:rPr>
                        <a:t>5</a:t>
                      </a:r>
                    </a:p>
                  </a:txBody>
                  <a:tcPr marL="91437" marR="91437" marT="45723" marB="45723">
                    <a:lnL w="0">
                      <a:noFill/>
                    </a:lnL>
                    <a:lnR w="0">
                      <a:noFill/>
                    </a:lnR>
                    <a:lnT w="0">
                      <a:noFill/>
                    </a:lnT>
                    <a:lnB w="0">
                      <a:noFill/>
                    </a:lnB>
                  </a:tcPr>
                </a:tc>
                <a:tc>
                  <a:txBody>
                    <a:bodyPr/>
                    <a:lstStyle/>
                    <a:p>
                      <a:pPr lvl="0" algn="ctr">
                        <a:buNone/>
                      </a:pPr>
                      <a:r>
                        <a:rPr lang="en-US" sz="1800" b="1" dirty="0">
                          <a:solidFill>
                            <a:schemeClr val="tx1"/>
                          </a:solidFill>
                          <a:latin typeface="Arial"/>
                        </a:rPr>
                        <a:t>0</a:t>
                      </a:r>
                    </a:p>
                  </a:txBody>
                  <a:tcPr marL="91437" marR="91437" marT="45723" marB="45723">
                    <a:lnL w="0">
                      <a:noFill/>
                    </a:lnL>
                    <a:lnR w="0">
                      <a:noFill/>
                    </a:lnR>
                    <a:lnT w="0">
                      <a:noFill/>
                    </a:lnT>
                    <a:lnB w="0">
                      <a:noFill/>
                    </a:lnB>
                  </a:tcPr>
                </a:tc>
                <a:tc>
                  <a:txBody>
                    <a:bodyPr/>
                    <a:lstStyle/>
                    <a:p>
                      <a:pPr lvl="0" algn="ctr">
                        <a:buNone/>
                      </a:pPr>
                      <a:r>
                        <a:rPr lang="en-US" sz="1800" b="1" dirty="0">
                          <a:solidFill>
                            <a:schemeClr val="tx1"/>
                          </a:solidFill>
                          <a:latin typeface="Arial"/>
                        </a:rPr>
                        <a:t>-2</a:t>
                      </a:r>
                    </a:p>
                  </a:txBody>
                  <a:tcPr marL="91437" marR="91437" marT="45723" marB="45723">
                    <a:lnL w="0">
                      <a:noFill/>
                    </a:lnL>
                    <a:lnR w="0">
                      <a:noFill/>
                    </a:lnR>
                    <a:lnT w="0">
                      <a:noFill/>
                    </a:lnT>
                    <a:lnB w="0">
                      <a:noFill/>
                    </a:lnB>
                  </a:tcPr>
                </a:tc>
                <a:tc>
                  <a:txBody>
                    <a:bodyPr/>
                    <a:lstStyle/>
                    <a:p>
                      <a:pPr lvl="0" algn="ctr">
                        <a:buNone/>
                      </a:pPr>
                      <a:endParaRPr lang="en-US" sz="1800" b="1" dirty="0">
                        <a:solidFill>
                          <a:schemeClr val="tx1"/>
                        </a:solidFill>
                        <a:latin typeface="Arial"/>
                      </a:endParaRPr>
                    </a:p>
                  </a:txBody>
                  <a:tcPr marL="91437" marR="91437" marT="45723" marB="45723">
                    <a:lnL w="0">
                      <a:noFill/>
                    </a:lnL>
                    <a:lnR w="0">
                      <a:noFill/>
                    </a:lnR>
                    <a:lnT w="0">
                      <a:noFill/>
                    </a:lnT>
                    <a:lnB w="0">
                      <a:noFill/>
                    </a:lnB>
                  </a:tcPr>
                </a:tc>
                <a:tc>
                  <a:txBody>
                    <a:bodyPr/>
                    <a:lstStyle/>
                    <a:p>
                      <a:pPr lvl="0" algn="ctr">
                        <a:buNone/>
                      </a:pPr>
                      <a:endParaRPr lang="en-US" sz="1800" b="1" dirty="0">
                        <a:latin typeface="Arial"/>
                      </a:endParaRPr>
                    </a:p>
                  </a:txBody>
                  <a:tcPr marL="91437" marR="91437" marT="45723" marB="45723">
                    <a:lnL w="0">
                      <a:noFill/>
                    </a:lnL>
                    <a:lnR w="0">
                      <a:noFill/>
                    </a:lnR>
                    <a:lnT w="0">
                      <a:noFill/>
                    </a:lnT>
                    <a:lnB w="0">
                      <a:noFill/>
                    </a:lnB>
                  </a:tcPr>
                </a:tc>
                <a:extLst>
                  <a:ext uri="{0D108BD9-81ED-4DB2-BD59-A6C34878D82A}">
                    <a16:rowId xmlns:a16="http://schemas.microsoft.com/office/drawing/2014/main" val="10005"/>
                  </a:ext>
                </a:extLst>
              </a:tr>
            </a:tbl>
          </a:graphicData>
        </a:graphic>
      </p:graphicFrame>
      <p:sp>
        <p:nvSpPr>
          <p:cNvPr id="8" name="Oval 7">
            <a:extLst>
              <a:ext uri="{FF2B5EF4-FFF2-40B4-BE49-F238E27FC236}">
                <a16:creationId xmlns:a16="http://schemas.microsoft.com/office/drawing/2014/main" id="{730B7AEF-B42C-66AC-816A-27B47D713471}"/>
              </a:ext>
            </a:extLst>
          </p:cNvPr>
          <p:cNvSpPr/>
          <p:nvPr/>
        </p:nvSpPr>
        <p:spPr>
          <a:xfrm>
            <a:off x="4375150" y="1997075"/>
            <a:ext cx="571500" cy="838200"/>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9">
            <a:extLst>
              <a:ext uri="{FF2B5EF4-FFF2-40B4-BE49-F238E27FC236}">
                <a16:creationId xmlns:a16="http://schemas.microsoft.com/office/drawing/2014/main" id="{76B972FF-43A6-E2D1-96D4-C46C7B5C9C06}"/>
              </a:ext>
            </a:extLst>
          </p:cNvPr>
          <p:cNvSpPr/>
          <p:nvPr/>
        </p:nvSpPr>
        <p:spPr>
          <a:xfrm>
            <a:off x="4024313" y="2362200"/>
            <a:ext cx="5486400" cy="541338"/>
          </a:xfrm>
          <a:prstGeom prst="ellipse">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Google Shape;192;p32" descr="KL Deemed to be University Logo">
            <a:extLst>
              <a:ext uri="{FF2B5EF4-FFF2-40B4-BE49-F238E27FC236}">
                <a16:creationId xmlns:a16="http://schemas.microsoft.com/office/drawing/2014/main" id="{ACCA6B13-B1A7-D80E-B9E4-F5BC4113ED1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1" name="Google Shape;194;p32" descr="KL Deemed to be University Logo">
            <a:extLst>
              <a:ext uri="{FF2B5EF4-FFF2-40B4-BE49-F238E27FC236}">
                <a16:creationId xmlns:a16="http://schemas.microsoft.com/office/drawing/2014/main" id="{BDD34743-462F-2839-A02C-67F421836EB3}"/>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2" name="Google Shape;196;p32">
            <a:extLst>
              <a:ext uri="{FF2B5EF4-FFF2-40B4-BE49-F238E27FC236}">
                <a16:creationId xmlns:a16="http://schemas.microsoft.com/office/drawing/2014/main" id="{42E19D2C-AEE4-1A42-4A74-F3476656D65C}"/>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Slide Number Placeholder 3">
            <a:extLst>
              <a:ext uri="{FF2B5EF4-FFF2-40B4-BE49-F238E27FC236}">
                <a16:creationId xmlns:a16="http://schemas.microsoft.com/office/drawing/2014/main" id="{E7B063FD-58AD-1533-BDC3-A847ED959479}"/>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3A1BF22F-838D-4A80-9365-9626DB00D31D}" type="slidenum">
              <a:rPr lang="en-IN" altLang="en-US" sz="2200" smtClean="0">
                <a:solidFill>
                  <a:schemeClr val="accent1"/>
                </a:solidFill>
              </a:rPr>
              <a:pPr>
                <a:lnSpc>
                  <a:spcPct val="100000"/>
                </a:lnSpc>
                <a:spcBef>
                  <a:spcPct val="0"/>
                </a:spcBef>
                <a:buClrTx/>
                <a:buSzTx/>
                <a:buFontTx/>
                <a:buNone/>
              </a:pPr>
              <a:t>23</a:t>
            </a:fld>
            <a:endParaRPr lang="en-IN" altLang="en-US" sz="2200">
              <a:solidFill>
                <a:schemeClr val="accent1"/>
              </a:solidFill>
            </a:endParaRPr>
          </a:p>
        </p:txBody>
      </p:sp>
      <p:sp>
        <p:nvSpPr>
          <p:cNvPr id="58374" name="Google Shape;195;p32">
            <a:extLst>
              <a:ext uri="{FF2B5EF4-FFF2-40B4-BE49-F238E27FC236}">
                <a16:creationId xmlns:a16="http://schemas.microsoft.com/office/drawing/2014/main" id="{8E80667B-5751-149C-22DA-CE6616FA5575}"/>
              </a:ext>
            </a:extLst>
          </p:cNvPr>
          <p:cNvSpPr txBox="1">
            <a:spLocks noChangeArrowheads="1"/>
          </p:cNvSpPr>
          <p:nvPr/>
        </p:nvSpPr>
        <p:spPr bwMode="auto">
          <a:xfrm>
            <a:off x="0" y="2413000"/>
            <a:ext cx="8234363" cy="11080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101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New row = old row –</a:t>
            </a:r>
            <a:r>
              <a:rPr lang="en-US" altLang="en-US" b="1">
                <a:solidFill>
                  <a:srgbClr val="C00000"/>
                </a:solidFill>
                <a:latin typeface="Times New Roman" panose="02020603050405020304" pitchFamily="18" charset="0"/>
                <a:cs typeface="Times New Roman" panose="02020603050405020304" pitchFamily="18" charset="0"/>
              </a:rPr>
              <a:t> n</a:t>
            </a:r>
            <a:r>
              <a:rPr lang="en-US" altLang="en-US">
                <a:latin typeface="Times New Roman" panose="02020603050405020304" pitchFamily="18" charset="0"/>
                <a:cs typeface="Times New Roman" panose="02020603050405020304" pitchFamily="18" charset="0"/>
              </a:rPr>
              <a:t> * pivot row</a:t>
            </a: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                                                   here </a:t>
            </a:r>
            <a:r>
              <a:rPr lang="en-US" altLang="en-US" b="1">
                <a:solidFill>
                  <a:srgbClr val="C00000"/>
                </a:solidFill>
                <a:latin typeface="Times New Roman" panose="02020603050405020304" pitchFamily="18" charset="0"/>
                <a:cs typeface="Times New Roman" panose="02020603050405020304" pitchFamily="18" charset="0"/>
              </a:rPr>
              <a:t>n=2/5</a:t>
            </a:r>
            <a:endParaRPr lang="en-US" altLang="en-US">
              <a:latin typeface="Times New Roman" panose="02020603050405020304" pitchFamily="18" charset="0"/>
              <a:cs typeface="Times New Roman" panose="02020603050405020304" pitchFamily="18" charset="0"/>
            </a:endParaRPr>
          </a:p>
          <a:p>
            <a:pPr eaLnBrk="1" hangingPunct="1">
              <a:lnSpc>
                <a:spcPct val="100000"/>
              </a:lnSpc>
              <a:spcBef>
                <a:spcPct val="0"/>
              </a:spcBef>
              <a:buClrTx/>
              <a:buSzTx/>
              <a:buFontTx/>
              <a:buNone/>
            </a:pPr>
            <a:r>
              <a:rPr lang="en-US" altLang="en-US">
                <a:latin typeface="Times New Roman" panose="02020603050405020304" pitchFamily="18" charset="0"/>
                <a:cs typeface="Times New Roman" panose="02020603050405020304" pitchFamily="18" charset="0"/>
              </a:rPr>
              <a:t>By carrying out pivoting operations, we get a N</a:t>
            </a:r>
            <a:r>
              <a:rPr lang="en-US" altLang="en-US" b="1">
                <a:latin typeface="Times New Roman" panose="02020603050405020304" pitchFamily="18" charset="0"/>
                <a:cs typeface="Times New Roman" panose="02020603050405020304" pitchFamily="18" charset="0"/>
              </a:rPr>
              <a:t>ew Tableau</a:t>
            </a:r>
            <a:r>
              <a:rPr lang="en-US" altLang="en-US">
                <a:latin typeface="Times New Roman" panose="02020603050405020304" pitchFamily="18" charset="0"/>
                <a:cs typeface="Times New Roman" panose="02020603050405020304" pitchFamily="18" charset="0"/>
              </a:rPr>
              <a:t> as shown below.</a:t>
            </a:r>
            <a:endParaRPr lang="en-US" altLang="en-US" sz="1800"/>
          </a:p>
        </p:txBody>
      </p:sp>
      <p:sp>
        <p:nvSpPr>
          <p:cNvPr id="58375" name="Google Shape;193;p32">
            <a:extLst>
              <a:ext uri="{FF2B5EF4-FFF2-40B4-BE49-F238E27FC236}">
                <a16:creationId xmlns:a16="http://schemas.microsoft.com/office/drawing/2014/main" id="{11ACE864-9B47-A30B-CB73-0C1840656881}"/>
              </a:ext>
            </a:extLst>
          </p:cNvPr>
          <p:cNvSpPr>
            <a:spLocks noChangeArrowheads="1"/>
          </p:cNvSpPr>
          <p:nvPr/>
        </p:nvSpPr>
        <p:spPr bwMode="auto">
          <a:xfrm>
            <a:off x="2654300" y="11113"/>
            <a:ext cx="7213600"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6: Create a New Tableau via Pivoting</a:t>
            </a:r>
          </a:p>
        </p:txBody>
      </p:sp>
      <p:sp>
        <p:nvSpPr>
          <p:cNvPr id="58376" name="TextBox 4">
            <a:extLst>
              <a:ext uri="{FF2B5EF4-FFF2-40B4-BE49-F238E27FC236}">
                <a16:creationId xmlns:a16="http://schemas.microsoft.com/office/drawing/2014/main" id="{EA5418A9-3172-7EB8-81D2-1458F8286358}"/>
              </a:ext>
            </a:extLst>
          </p:cNvPr>
          <p:cNvSpPr txBox="1">
            <a:spLocks noChangeArrowheads="1"/>
          </p:cNvSpPr>
          <p:nvPr/>
        </p:nvSpPr>
        <p:spPr bwMode="auto">
          <a:xfrm>
            <a:off x="1695450" y="1712913"/>
            <a:ext cx="19192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Old tableau after</a:t>
            </a:r>
          </a:p>
          <a:p>
            <a:pPr eaLnBrk="1" hangingPunct="1">
              <a:lnSpc>
                <a:spcPct val="100000"/>
              </a:lnSpc>
              <a:spcBef>
                <a:spcPct val="0"/>
              </a:spcBef>
              <a:buClrTx/>
              <a:buSzTx/>
              <a:buFontTx/>
              <a:buNone/>
            </a:pPr>
            <a:r>
              <a:rPr lang="en-US" altLang="en-US" sz="1800">
                <a:solidFill>
                  <a:srgbClr val="FF0000"/>
                </a:solidFill>
              </a:rPr>
              <a:t>revising pivot row</a:t>
            </a:r>
          </a:p>
        </p:txBody>
      </p:sp>
      <p:graphicFrame>
        <p:nvGraphicFramePr>
          <p:cNvPr id="10" name="Table 11">
            <a:extLst>
              <a:ext uri="{FF2B5EF4-FFF2-40B4-BE49-F238E27FC236}">
                <a16:creationId xmlns:a16="http://schemas.microsoft.com/office/drawing/2014/main" id="{0FD0E827-9E7F-6D06-2810-6022C9F820B5}"/>
              </a:ext>
            </a:extLst>
          </p:cNvPr>
          <p:cNvGraphicFramePr>
            <a:graphicFrameLocks noGrp="1"/>
          </p:cNvGraphicFramePr>
          <p:nvPr/>
        </p:nvGraphicFramePr>
        <p:xfrm>
          <a:off x="3636963" y="3486150"/>
          <a:ext cx="8442325" cy="2468563"/>
        </p:xfrm>
        <a:graphic>
          <a:graphicData uri="http://schemas.openxmlformats.org/drawingml/2006/table">
            <a:tbl>
              <a:tblPr firstRow="1" bandRow="1">
                <a:tableStyleId>{2D5ABB26-0587-4C30-8999-92F81FD0307C}</a:tableStyleId>
              </a:tblPr>
              <a:tblGrid>
                <a:gridCol w="974560">
                  <a:extLst>
                    <a:ext uri="{9D8B030D-6E8A-4147-A177-3AD203B41FA5}">
                      <a16:colId xmlns:a16="http://schemas.microsoft.com/office/drawing/2014/main" val="20000"/>
                    </a:ext>
                  </a:extLst>
                </a:gridCol>
                <a:gridCol w="1189358">
                  <a:extLst>
                    <a:ext uri="{9D8B030D-6E8A-4147-A177-3AD203B41FA5}">
                      <a16:colId xmlns:a16="http://schemas.microsoft.com/office/drawing/2014/main" val="20001"/>
                    </a:ext>
                  </a:extLst>
                </a:gridCol>
                <a:gridCol w="1055148">
                  <a:extLst>
                    <a:ext uri="{9D8B030D-6E8A-4147-A177-3AD203B41FA5}">
                      <a16:colId xmlns:a16="http://schemas.microsoft.com/office/drawing/2014/main" val="20002"/>
                    </a:ext>
                  </a:extLst>
                </a:gridCol>
                <a:gridCol w="1073021">
                  <a:extLst>
                    <a:ext uri="{9D8B030D-6E8A-4147-A177-3AD203B41FA5}">
                      <a16:colId xmlns:a16="http://schemas.microsoft.com/office/drawing/2014/main" val="20003"/>
                    </a:ext>
                  </a:extLst>
                </a:gridCol>
                <a:gridCol w="1073021">
                  <a:extLst>
                    <a:ext uri="{9D8B030D-6E8A-4147-A177-3AD203B41FA5}">
                      <a16:colId xmlns:a16="http://schemas.microsoft.com/office/drawing/2014/main" val="20004"/>
                    </a:ext>
                  </a:extLst>
                </a:gridCol>
                <a:gridCol w="1073021">
                  <a:extLst>
                    <a:ext uri="{9D8B030D-6E8A-4147-A177-3AD203B41FA5}">
                      <a16:colId xmlns:a16="http://schemas.microsoft.com/office/drawing/2014/main" val="20005"/>
                    </a:ext>
                  </a:extLst>
                </a:gridCol>
                <a:gridCol w="1073021">
                  <a:extLst>
                    <a:ext uri="{9D8B030D-6E8A-4147-A177-3AD203B41FA5}">
                      <a16:colId xmlns:a16="http://schemas.microsoft.com/office/drawing/2014/main" val="20006"/>
                    </a:ext>
                  </a:extLst>
                </a:gridCol>
                <a:gridCol w="931175">
                  <a:extLst>
                    <a:ext uri="{9D8B030D-6E8A-4147-A177-3AD203B41FA5}">
                      <a16:colId xmlns:a16="http://schemas.microsoft.com/office/drawing/2014/main" val="20007"/>
                    </a:ext>
                  </a:extLst>
                </a:gridCol>
              </a:tblGrid>
              <a:tr h="496158">
                <a:tc>
                  <a:txBody>
                    <a:bodyPr/>
                    <a:lstStyle/>
                    <a:p>
                      <a:pPr lvl="0" algn="ctr">
                        <a:buNone/>
                      </a:pPr>
                      <a:endParaRPr lang="en-US" sz="1800" b="1" dirty="0">
                        <a:latin typeface="Arial"/>
                      </a:endParaRPr>
                    </a:p>
                  </a:txBody>
                  <a:tcPr marL="91455" marR="91455" marT="45726" marB="45726">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55" marR="91455" marT="45726" marB="45726">
                    <a:lnR w="12700">
                      <a:solidFill>
                        <a:schemeClr val="tx1"/>
                      </a:solidFill>
                    </a:lnR>
                    <a:lnB w="12700">
                      <a:solidFill>
                        <a:schemeClr val="tx1"/>
                      </a:solidFill>
                    </a:lnB>
                  </a:tcPr>
                </a:tc>
                <a:tc>
                  <a:txBody>
                    <a:bodyPr/>
                    <a:lstStyle/>
                    <a:p>
                      <a:pPr lvl="0" algn="ctr">
                        <a:buNone/>
                      </a:pPr>
                      <a:r>
                        <a:rPr lang="en-US" sz="1800" b="1" dirty="0">
                          <a:latin typeface="Arial"/>
                        </a:rPr>
                        <a:t>8</a:t>
                      </a:r>
                      <a:endParaRPr lang="en-US" sz="1800" b="1" dirty="0">
                        <a:solidFill>
                          <a:srgbClr val="FF0000"/>
                        </a:solidFill>
                        <a:latin typeface="Arial"/>
                      </a:endParaRPr>
                    </a:p>
                  </a:txBody>
                  <a:tcPr marL="91455" marR="91455" marT="45726" marB="45726">
                    <a:lnL w="12700">
                      <a:solidFill>
                        <a:schemeClr val="tx1"/>
                      </a:solidFill>
                    </a:lnL>
                    <a:lnB w="12700">
                      <a:solidFill>
                        <a:schemeClr val="tx1"/>
                      </a:solidFill>
                    </a:lnB>
                  </a:tcPr>
                </a:tc>
                <a:tc>
                  <a:txBody>
                    <a:bodyPr/>
                    <a:lstStyle/>
                    <a:p>
                      <a:pPr lvl="0" algn="ctr">
                        <a:buNone/>
                      </a:pPr>
                      <a:r>
                        <a:rPr lang="en-US" sz="1800" b="1" dirty="0">
                          <a:latin typeface="Arial"/>
                        </a:rPr>
                        <a:t>10</a:t>
                      </a:r>
                      <a:endParaRPr lang="en-US" sz="1800" b="1" dirty="0">
                        <a:solidFill>
                          <a:srgbClr val="FF0000"/>
                        </a:solidFill>
                        <a:latin typeface="Arial"/>
                      </a:endParaRPr>
                    </a:p>
                  </a:txBody>
                  <a:tcPr marL="91455" marR="91455" marT="45726" marB="45726">
                    <a:lnB w="12700">
                      <a:solidFill>
                        <a:schemeClr val="tx1"/>
                      </a:solidFill>
                    </a:lnB>
                  </a:tcPr>
                </a:tc>
                <a:tc>
                  <a:txBody>
                    <a:bodyPr/>
                    <a:lstStyle/>
                    <a:p>
                      <a:pPr lvl="0" algn="ctr">
                        <a:buNone/>
                      </a:pPr>
                      <a:r>
                        <a:rPr lang="en-US" sz="1800" b="1" dirty="0">
                          <a:latin typeface="Arial"/>
                        </a:rPr>
                        <a:t>7</a:t>
                      </a:r>
                      <a:endParaRPr lang="en-US" sz="1800" b="1" dirty="0">
                        <a:solidFill>
                          <a:srgbClr val="FF0000"/>
                        </a:solidFill>
                        <a:latin typeface="Arial"/>
                      </a:endParaRPr>
                    </a:p>
                  </a:txBody>
                  <a:tcPr marL="91455" marR="91455" marT="45726" marB="45726">
                    <a:lnB w="12700">
                      <a:solidFill>
                        <a:schemeClr val="tx1"/>
                      </a:solidFill>
                    </a:lnB>
                  </a:tcPr>
                </a:tc>
                <a:tc>
                  <a:txBody>
                    <a:bodyPr/>
                    <a:lstStyle/>
                    <a:p>
                      <a:pPr lvl="0" algn="ctr">
                        <a:buNone/>
                      </a:pPr>
                      <a:r>
                        <a:rPr lang="en-US" sz="1800" b="1" dirty="0">
                          <a:latin typeface="Arial"/>
                        </a:rPr>
                        <a:t>0</a:t>
                      </a:r>
                    </a:p>
                  </a:txBody>
                  <a:tcPr marL="91455" marR="91455" marT="45726" marB="45726">
                    <a:lnB w="12700">
                      <a:solidFill>
                        <a:schemeClr val="tx1"/>
                      </a:solidFill>
                    </a:lnB>
                  </a:tcPr>
                </a:tc>
                <a:tc>
                  <a:txBody>
                    <a:bodyPr/>
                    <a:lstStyle/>
                    <a:p>
                      <a:pPr lvl="0" algn="ctr">
                        <a:buNone/>
                      </a:pPr>
                      <a:r>
                        <a:rPr lang="en-US" sz="1800" b="1" dirty="0">
                          <a:latin typeface="Arial"/>
                        </a:rPr>
                        <a:t>0</a:t>
                      </a:r>
                      <a:endParaRPr lang="en-US" sz="1800" b="1" dirty="0">
                        <a:solidFill>
                          <a:srgbClr val="FF0000"/>
                        </a:solidFill>
                        <a:latin typeface="Arial"/>
                      </a:endParaRPr>
                    </a:p>
                  </a:txBody>
                  <a:tcPr marL="91455" marR="91455" marT="45726" marB="45726">
                    <a:lnR w="12700">
                      <a:solidFill>
                        <a:schemeClr val="tx1"/>
                      </a:solidFill>
                    </a:lnR>
                    <a:lnB w="12700">
                      <a:solidFill>
                        <a:schemeClr val="tx1"/>
                      </a:solidFill>
                    </a:lnB>
                  </a:tcPr>
                </a:tc>
                <a:tc>
                  <a:txBody>
                    <a:bodyPr/>
                    <a:lstStyle/>
                    <a:p>
                      <a:pPr algn="ctr"/>
                      <a:endParaRPr lang="en-US" sz="1800" b="1" dirty="0">
                        <a:latin typeface="Arial"/>
                      </a:endParaRPr>
                    </a:p>
                  </a:txBody>
                  <a:tcPr marL="91455" marR="91455" marT="45726" marB="45726">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0"/>
                  </a:ext>
                </a:extLst>
              </a:tr>
              <a:tr h="457260">
                <a:tc>
                  <a:txBody>
                    <a:bodyPr/>
                    <a:lstStyle/>
                    <a:p>
                      <a:pPr lvl="0" algn="ctr">
                        <a:buNone/>
                      </a:pPr>
                      <a:r>
                        <a:rPr lang="en-US" sz="1800" b="1" err="1">
                          <a:latin typeface="Arial"/>
                        </a:rPr>
                        <a:t>C</a:t>
                      </a:r>
                      <a:r>
                        <a:rPr lang="en-US" sz="1800" b="1" baseline="-25000" err="1">
                          <a:latin typeface="Arial"/>
                        </a:rPr>
                        <a:t>Bi</a:t>
                      </a:r>
                    </a:p>
                  </a:txBody>
                  <a:tcPr marL="91455" marR="91455"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55" marR="91455"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55" marR="91455"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55" marR="91455" marT="45726" marB="45726">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55" marR="91455" marT="45726" marB="45726">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55" marR="91455" marT="45726" marB="45726">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55" marR="91455"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55" marR="91455" marT="45726" marB="45726">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377080">
                <a:tc>
                  <a:txBody>
                    <a:bodyPr/>
                    <a:lstStyle/>
                    <a:p>
                      <a:pPr lvl="0" algn="ctr">
                        <a:buNone/>
                      </a:pPr>
                      <a:r>
                        <a:rPr lang="en-US" sz="1800" b="1" dirty="0">
                          <a:latin typeface="Arial"/>
                        </a:rPr>
                        <a:t>0</a:t>
                      </a:r>
                    </a:p>
                  </a:txBody>
                  <a:tcPr marL="91455" marR="91455" marT="45726" marB="45726">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55" marR="91455" marT="45726" marB="45726">
                    <a:lnR w="12700">
                      <a:solidFill>
                        <a:schemeClr val="tx1"/>
                      </a:solidFill>
                    </a:lnR>
                    <a:lnT w="12700">
                      <a:solidFill>
                        <a:schemeClr val="tx1"/>
                      </a:solidFill>
                    </a:lnT>
                  </a:tcPr>
                </a:tc>
                <a:tc>
                  <a:txBody>
                    <a:bodyPr/>
                    <a:lstStyle/>
                    <a:p>
                      <a:pPr lvl="0" algn="ctr">
                        <a:buNone/>
                      </a:pPr>
                      <a:r>
                        <a:rPr lang="en-US" sz="1800" b="1" kern="1200" dirty="0">
                          <a:solidFill>
                            <a:srgbClr val="FF0000"/>
                          </a:solidFill>
                          <a:latin typeface="Arial"/>
                          <a:ea typeface="+mn-ea"/>
                          <a:cs typeface="+mn-cs"/>
                        </a:rPr>
                        <a:t>0</a:t>
                      </a:r>
                    </a:p>
                  </a:txBody>
                  <a:tcPr marL="91455" marR="91455" marT="45726" marB="45726">
                    <a:lnL w="12700">
                      <a:solidFill>
                        <a:schemeClr val="tx1"/>
                      </a:solidFill>
                    </a:lnL>
                    <a:lnT w="12700">
                      <a:solidFill>
                        <a:schemeClr val="tx1"/>
                      </a:solidFill>
                    </a:lnT>
                  </a:tcPr>
                </a:tc>
                <a:tc>
                  <a:txBody>
                    <a:bodyPr/>
                    <a:lstStyle/>
                    <a:p>
                      <a:pPr lvl="0" algn="ctr">
                        <a:buNone/>
                      </a:pPr>
                      <a:r>
                        <a:rPr lang="en-US" sz="1800" b="1" dirty="0">
                          <a:solidFill>
                            <a:srgbClr val="FF0000"/>
                          </a:solidFill>
                          <a:latin typeface="Arial"/>
                        </a:rPr>
                        <a:t>-2</a:t>
                      </a:r>
                    </a:p>
                  </a:txBody>
                  <a:tcPr marL="91455" marR="91455" marT="45726" marB="45726">
                    <a:lnT w="12700">
                      <a:solidFill>
                        <a:schemeClr val="tx1"/>
                      </a:solidFill>
                    </a:lnT>
                  </a:tcPr>
                </a:tc>
                <a:tc>
                  <a:txBody>
                    <a:bodyPr/>
                    <a:lstStyle/>
                    <a:p>
                      <a:pPr lvl="0" algn="ctr">
                        <a:buNone/>
                      </a:pPr>
                      <a:r>
                        <a:rPr lang="en-US" sz="1800" b="1" dirty="0">
                          <a:solidFill>
                            <a:srgbClr val="FF0000"/>
                          </a:solidFill>
                          <a:latin typeface="Arial"/>
                        </a:rPr>
                        <a:t>-3/5</a:t>
                      </a:r>
                    </a:p>
                  </a:txBody>
                  <a:tcPr marL="91455" marR="91455" marT="45726" marB="45726">
                    <a:lnT w="12700">
                      <a:solidFill>
                        <a:schemeClr val="tx1"/>
                      </a:solidFill>
                    </a:lnT>
                  </a:tcPr>
                </a:tc>
                <a:tc>
                  <a:txBody>
                    <a:bodyPr/>
                    <a:lstStyle/>
                    <a:p>
                      <a:pPr lvl="0" algn="ctr">
                        <a:buNone/>
                      </a:pPr>
                      <a:r>
                        <a:rPr lang="en-US" sz="1800" b="1" dirty="0">
                          <a:solidFill>
                            <a:srgbClr val="FF0000"/>
                          </a:solidFill>
                          <a:latin typeface="Arial"/>
                        </a:rPr>
                        <a:t>1</a:t>
                      </a:r>
                    </a:p>
                  </a:txBody>
                  <a:tcPr marL="91455" marR="91455" marT="45726" marB="45726">
                    <a:lnT w="12700">
                      <a:solidFill>
                        <a:schemeClr val="tx1"/>
                      </a:solidFill>
                    </a:lnT>
                  </a:tcPr>
                </a:tc>
                <a:tc>
                  <a:txBody>
                    <a:bodyPr/>
                    <a:lstStyle/>
                    <a:p>
                      <a:pPr lvl="0" algn="ctr">
                        <a:buNone/>
                      </a:pPr>
                      <a:r>
                        <a:rPr lang="en-US" sz="1800" b="1" dirty="0">
                          <a:solidFill>
                            <a:srgbClr val="FF0000"/>
                          </a:solidFill>
                          <a:latin typeface="Arial"/>
                        </a:rPr>
                        <a:t>-13/5</a:t>
                      </a:r>
                    </a:p>
                  </a:txBody>
                  <a:tcPr marL="91455" marR="91455" marT="45726" marB="45726">
                    <a:lnR w="12700">
                      <a:solidFill>
                        <a:schemeClr val="tx1"/>
                      </a:solidFill>
                    </a:lnR>
                    <a:lnT w="12700">
                      <a:solidFill>
                        <a:schemeClr val="tx1"/>
                      </a:solidFill>
                    </a:lnT>
                  </a:tcPr>
                </a:tc>
                <a:tc>
                  <a:txBody>
                    <a:bodyPr/>
                    <a:lstStyle/>
                    <a:p>
                      <a:pPr lvl="0" algn="ctr">
                        <a:buNone/>
                      </a:pPr>
                      <a:r>
                        <a:rPr lang="en-US" sz="1800" b="1" dirty="0">
                          <a:solidFill>
                            <a:srgbClr val="FF0000"/>
                          </a:solidFill>
                          <a:latin typeface="Arial"/>
                        </a:rPr>
                        <a:t>2</a:t>
                      </a:r>
                    </a:p>
                  </a:txBody>
                  <a:tcPr marL="91455" marR="91455" marT="45726" marB="45726">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2"/>
                  </a:ext>
                </a:extLst>
              </a:tr>
              <a:tr h="396292">
                <a:tc>
                  <a:txBody>
                    <a:bodyPr/>
                    <a:lstStyle/>
                    <a:p>
                      <a:pPr lvl="0" algn="ctr">
                        <a:buNone/>
                      </a:pPr>
                      <a:r>
                        <a:rPr lang="en-US" sz="1800" b="1" dirty="0">
                          <a:solidFill>
                            <a:schemeClr val="tx1"/>
                          </a:solidFill>
                          <a:latin typeface="Arial"/>
                        </a:rPr>
                        <a:t>8</a:t>
                      </a:r>
                    </a:p>
                  </a:txBody>
                  <a:tcPr marL="91455" marR="91455" marT="45726" marB="45726">
                    <a:lnL w="12700">
                      <a:solidFill>
                        <a:schemeClr val="tx1"/>
                      </a:solidFill>
                    </a:lnL>
                    <a:lnB w="12700">
                      <a:solidFill>
                        <a:schemeClr val="tx1"/>
                      </a:solidFill>
                    </a:lnB>
                  </a:tcPr>
                </a:tc>
                <a:tc>
                  <a:txBody>
                    <a:bodyPr/>
                    <a:lstStyle/>
                    <a:p>
                      <a:pPr lvl="0" algn="ctr">
                        <a:buNone/>
                      </a:pPr>
                      <a:r>
                        <a:rPr lang="en-US" sz="1800" b="1" kern="1200" dirty="0">
                          <a:solidFill>
                            <a:schemeClr val="accent3"/>
                          </a:solidFill>
                          <a:latin typeface="Arial"/>
                          <a:ea typeface="+mn-ea"/>
                          <a:cs typeface="+mn-cs"/>
                        </a:rPr>
                        <a:t>x1</a:t>
                      </a:r>
                    </a:p>
                  </a:txBody>
                  <a:tcPr marL="91455" marR="91455" marT="45726" marB="45726">
                    <a:lnR w="12700">
                      <a:solidFill>
                        <a:schemeClr val="tx1"/>
                      </a:solidFill>
                    </a:lnR>
                    <a:lnB w="12700">
                      <a:solidFill>
                        <a:schemeClr val="tx1"/>
                      </a:solidFill>
                    </a:lnB>
                  </a:tcPr>
                </a:tc>
                <a:tc>
                  <a:txBody>
                    <a:bodyPr/>
                    <a:lstStyle/>
                    <a:p>
                      <a:pPr lvl="0" algn="ctr">
                        <a:buNone/>
                      </a:pPr>
                      <a:r>
                        <a:rPr lang="en-US" sz="2000" b="1" kern="1200" dirty="0">
                          <a:solidFill>
                            <a:srgbClr val="FF00FF"/>
                          </a:solidFill>
                          <a:latin typeface="+mn-lt"/>
                          <a:ea typeface="+mn-ea"/>
                          <a:cs typeface="+mn-cs"/>
                        </a:rPr>
                        <a:t>1</a:t>
                      </a:r>
                      <a:endParaRPr lang="en-US" sz="1800" b="1" dirty="0">
                        <a:solidFill>
                          <a:schemeClr val="tx1"/>
                        </a:solidFill>
                        <a:latin typeface="Arial"/>
                      </a:endParaRPr>
                    </a:p>
                  </a:txBody>
                  <a:tcPr marL="91455" marR="91455" marT="45726" marB="45726">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55" marR="91455" marT="45726" marB="45726">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55" marR="91455" marT="45726" marB="45726">
                    <a:lnB w="12700">
                      <a:solidFill>
                        <a:schemeClr val="tx1"/>
                      </a:solidFill>
                    </a:lnB>
                  </a:tcPr>
                </a:tc>
                <a:tc>
                  <a:txBody>
                    <a:bodyPr/>
                    <a:lstStyle/>
                    <a:p>
                      <a:pPr lvl="0" algn="ctr">
                        <a:buNone/>
                      </a:pPr>
                      <a:r>
                        <a:rPr lang="en-US" sz="1800" b="1" dirty="0">
                          <a:solidFill>
                            <a:srgbClr val="FF0000"/>
                          </a:solidFill>
                          <a:latin typeface="Arial"/>
                        </a:rPr>
                        <a:t>0</a:t>
                      </a:r>
                      <a:endParaRPr lang="en-US" sz="1800" b="1" dirty="0">
                        <a:solidFill>
                          <a:schemeClr val="tx1"/>
                        </a:solidFill>
                        <a:latin typeface="Arial"/>
                      </a:endParaRPr>
                    </a:p>
                  </a:txBody>
                  <a:tcPr marL="91455" marR="91455" marT="45726" marB="45726">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55" marR="91455" marT="45726" marB="45726">
                    <a:lnR w="12700">
                      <a:solidFill>
                        <a:schemeClr val="tx1"/>
                      </a:solidFill>
                    </a:lnR>
                    <a:lnB w="12700">
                      <a:solidFill>
                        <a:schemeClr val="tx1"/>
                      </a:solidFill>
                    </a:lnB>
                  </a:tcPr>
                </a:tc>
                <a:tc>
                  <a:txBody>
                    <a:bodyPr/>
                    <a:lstStyle/>
                    <a:p>
                      <a:pPr lvl="0" algn="ctr">
                        <a:buNone/>
                      </a:pPr>
                      <a:r>
                        <a:rPr lang="en-US" sz="1800" b="1" dirty="0">
                          <a:solidFill>
                            <a:srgbClr val="FF0000"/>
                          </a:solidFill>
                          <a:latin typeface="Arial"/>
                        </a:rPr>
                        <a:t>8</a:t>
                      </a:r>
                      <a:endParaRPr lang="en-US" sz="1800" b="1" dirty="0">
                        <a:solidFill>
                          <a:schemeClr val="tx1"/>
                        </a:solidFill>
                        <a:latin typeface="Arial"/>
                      </a:endParaRPr>
                    </a:p>
                  </a:txBody>
                  <a:tcPr marL="91455" marR="91455" marT="45726" marB="45726">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3"/>
                  </a:ext>
                </a:extLst>
              </a:tr>
              <a:tr h="370887">
                <a:tc>
                  <a:txBody>
                    <a:bodyPr/>
                    <a:lstStyle/>
                    <a:p>
                      <a:pPr lvl="0" algn="ctr">
                        <a:buNone/>
                      </a:pPr>
                      <a:endParaRPr lang="en-US" sz="1800" b="1" dirty="0">
                        <a:solidFill>
                          <a:schemeClr val="tx1"/>
                        </a:solidFill>
                        <a:latin typeface="Arial"/>
                      </a:endParaRPr>
                    </a:p>
                  </a:txBody>
                  <a:tcPr marL="91455" marR="91455" marT="45726" marB="45726">
                    <a:lnL w="12700">
                      <a:solidFill>
                        <a:schemeClr val="tx1"/>
                      </a:solidFill>
                    </a:lnL>
                    <a:lnT w="12700">
                      <a:solidFill>
                        <a:schemeClr val="tx1"/>
                      </a:solidFill>
                    </a:lnT>
                    <a:lnB w="0">
                      <a:noFill/>
                    </a:lnB>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55" marR="91455"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8</a:t>
                      </a:r>
                    </a:p>
                  </a:txBody>
                  <a:tcPr marL="91455" marR="91455" marT="45726" marB="45726">
                    <a:lnL w="12700">
                      <a:solidFill>
                        <a:schemeClr val="tx1"/>
                      </a:solidFill>
                    </a:lnL>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55" marR="91455" marT="45726" marB="45726">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55" marR="91455" marT="45726" marB="45726">
                    <a:lnT w="12700">
                      <a:solidFill>
                        <a:schemeClr val="tx1"/>
                      </a:solidFill>
                    </a:lnT>
                    <a:lnB w="0">
                      <a:noFill/>
                    </a:lnB>
                  </a:tcPr>
                </a:tc>
                <a:tc>
                  <a:txBody>
                    <a:bodyPr/>
                    <a:lstStyle/>
                    <a:p>
                      <a:pPr lvl="0" algn="ctr">
                        <a:buNone/>
                      </a:pPr>
                      <a:r>
                        <a:rPr lang="en-US" sz="1800" b="1" dirty="0">
                          <a:solidFill>
                            <a:schemeClr val="tx1"/>
                          </a:solidFill>
                          <a:latin typeface="Arial"/>
                        </a:rPr>
                        <a:t>0</a:t>
                      </a:r>
                    </a:p>
                  </a:txBody>
                  <a:tcPr marL="91455" marR="91455" marT="45726" marB="45726">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55" marR="91455"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64</a:t>
                      </a:r>
                    </a:p>
                  </a:txBody>
                  <a:tcPr marL="91455" marR="91455" marT="45726" marB="45726">
                    <a:lnL w="12700">
                      <a:solidFill>
                        <a:schemeClr val="tx1"/>
                      </a:solidFill>
                    </a:lnL>
                    <a:lnR w="12700">
                      <a:solidFill>
                        <a:schemeClr val="tx1"/>
                      </a:solidFill>
                    </a:lnR>
                    <a:lnT w="12700">
                      <a:solidFill>
                        <a:schemeClr val="tx1"/>
                      </a:solidFill>
                    </a:lnT>
                    <a:lnB w="0">
                      <a:noFill/>
                    </a:lnB>
                  </a:tcPr>
                </a:tc>
                <a:extLst>
                  <a:ext uri="{0D108BD9-81ED-4DB2-BD59-A6C34878D82A}">
                    <a16:rowId xmlns:a16="http://schemas.microsoft.com/office/drawing/2014/main" val="10004"/>
                  </a:ext>
                </a:extLst>
              </a:tr>
              <a:tr h="370886">
                <a:tc>
                  <a:txBody>
                    <a:bodyPr/>
                    <a:lstStyle/>
                    <a:p>
                      <a:pPr lvl="0" algn="ctr">
                        <a:buNone/>
                      </a:pPr>
                      <a:endParaRPr lang="en-US" sz="1800" b="1" dirty="0">
                        <a:solidFill>
                          <a:schemeClr val="tx1"/>
                        </a:solidFill>
                        <a:latin typeface="Arial"/>
                      </a:endParaRPr>
                    </a:p>
                  </a:txBody>
                  <a:tcPr marL="91455" marR="91455" marT="45726" marB="45726">
                    <a:lnL w="0">
                      <a:noFill/>
                    </a:lnL>
                    <a:lnR w="0">
                      <a:noFill/>
                    </a:lnR>
                    <a:lnT w="0">
                      <a:noFill/>
                    </a:lnT>
                    <a:lnB w="0">
                      <a:noFill/>
                    </a:lnB>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55" marR="91455" marT="45726" marB="45726">
                    <a:lnL w="0">
                      <a:noFill/>
                    </a:lnL>
                    <a:lnR w="12700">
                      <a:solidFill>
                        <a:schemeClr val="tx1"/>
                      </a:solidFill>
                    </a:lnR>
                    <a:lnT w="0">
                      <a:noFill/>
                    </a:lnT>
                    <a:lnB w="0">
                      <a:noFill/>
                    </a:lnB>
                  </a:tcPr>
                </a:tc>
                <a:tc>
                  <a:txBody>
                    <a:bodyPr/>
                    <a:lstStyle/>
                    <a:p>
                      <a:pPr lvl="0" algn="ctr">
                        <a:buNone/>
                      </a:pPr>
                      <a:r>
                        <a:rPr lang="en-US" sz="1800" b="1" dirty="0">
                          <a:solidFill>
                            <a:schemeClr val="tx1"/>
                          </a:solidFill>
                          <a:latin typeface="Arial"/>
                        </a:rPr>
                        <a:t>0</a:t>
                      </a:r>
                    </a:p>
                  </a:txBody>
                  <a:tcPr marL="91455" marR="91455" marT="45726" marB="45726">
                    <a:lnL w="12700">
                      <a:solidFill>
                        <a:schemeClr val="tx1"/>
                      </a:solidFill>
                    </a:lnL>
                    <a:lnR w="0">
                      <a:noFill/>
                    </a:lnR>
                    <a:lnT w="0">
                      <a:noFill/>
                    </a:lnT>
                    <a:lnB w="0">
                      <a:noFill/>
                    </a:lnB>
                  </a:tcPr>
                </a:tc>
                <a:tc>
                  <a:txBody>
                    <a:bodyPr/>
                    <a:lstStyle/>
                    <a:p>
                      <a:pPr lvl="0" algn="ctr">
                        <a:buNone/>
                      </a:pPr>
                      <a:r>
                        <a:rPr lang="en-US" sz="1800" b="1" dirty="0">
                          <a:solidFill>
                            <a:schemeClr val="tx1"/>
                          </a:solidFill>
                          <a:latin typeface="Arial"/>
                        </a:rPr>
                        <a:t>-30</a:t>
                      </a:r>
                    </a:p>
                  </a:txBody>
                  <a:tcPr marL="91455" marR="91455"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-33</a:t>
                      </a:r>
                      <a:endParaRPr lang="en-US" sz="1800" dirty="0"/>
                    </a:p>
                  </a:txBody>
                  <a:tcPr marL="91455" marR="91455"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0</a:t>
                      </a:r>
                    </a:p>
                  </a:txBody>
                  <a:tcPr marL="91455" marR="91455"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-40</a:t>
                      </a:r>
                    </a:p>
                  </a:txBody>
                  <a:tcPr marL="91455" marR="91455" marT="45726" marB="45726">
                    <a:lnL w="0">
                      <a:noFill/>
                    </a:lnL>
                    <a:lnR w="0">
                      <a:noFill/>
                    </a:lnR>
                    <a:lnT w="0">
                      <a:noFill/>
                    </a:lnT>
                    <a:lnB w="0">
                      <a:noFill/>
                    </a:lnB>
                  </a:tcPr>
                </a:tc>
                <a:tc>
                  <a:txBody>
                    <a:bodyPr/>
                    <a:lstStyle/>
                    <a:p>
                      <a:pPr lvl="0" algn="ctr">
                        <a:buNone/>
                      </a:pPr>
                      <a:endParaRPr lang="en-US" sz="1800" b="1" dirty="0">
                        <a:solidFill>
                          <a:schemeClr val="tx1"/>
                        </a:solidFill>
                        <a:latin typeface="Arial"/>
                      </a:endParaRPr>
                    </a:p>
                  </a:txBody>
                  <a:tcPr marL="91455" marR="91455" marT="45726" marB="45726">
                    <a:lnL w="0">
                      <a:noFill/>
                    </a:lnL>
                    <a:lnR w="0">
                      <a:noFill/>
                    </a:lnR>
                    <a:lnT w="0">
                      <a:noFill/>
                    </a:lnT>
                    <a:lnB w="0">
                      <a:noFill/>
                    </a:lnB>
                  </a:tcPr>
                </a:tc>
                <a:extLst>
                  <a:ext uri="{0D108BD9-81ED-4DB2-BD59-A6C34878D82A}">
                    <a16:rowId xmlns:a16="http://schemas.microsoft.com/office/drawing/2014/main" val="10005"/>
                  </a:ext>
                </a:extLst>
              </a:tr>
            </a:tbl>
          </a:graphicData>
        </a:graphic>
      </p:graphicFrame>
      <p:graphicFrame>
        <p:nvGraphicFramePr>
          <p:cNvPr id="9" name="Table 11">
            <a:extLst>
              <a:ext uri="{FF2B5EF4-FFF2-40B4-BE49-F238E27FC236}">
                <a16:creationId xmlns:a16="http://schemas.microsoft.com/office/drawing/2014/main" id="{23A303F4-420D-6B64-ABD2-5262B2A20477}"/>
              </a:ext>
            </a:extLst>
          </p:cNvPr>
          <p:cNvGraphicFramePr>
            <a:graphicFrameLocks noGrp="1"/>
          </p:cNvGraphicFramePr>
          <p:nvPr/>
        </p:nvGraphicFramePr>
        <p:xfrm>
          <a:off x="3571875" y="703263"/>
          <a:ext cx="8440738" cy="1744662"/>
        </p:xfrm>
        <a:graphic>
          <a:graphicData uri="http://schemas.openxmlformats.org/drawingml/2006/table">
            <a:tbl>
              <a:tblPr firstRow="1" bandRow="1">
                <a:tableStyleId>{2D5ABB26-0587-4C30-8999-92F81FD0307C}</a:tableStyleId>
              </a:tblPr>
              <a:tblGrid>
                <a:gridCol w="974377">
                  <a:extLst>
                    <a:ext uri="{9D8B030D-6E8A-4147-A177-3AD203B41FA5}">
                      <a16:colId xmlns:a16="http://schemas.microsoft.com/office/drawing/2014/main" val="20000"/>
                    </a:ext>
                  </a:extLst>
                </a:gridCol>
                <a:gridCol w="1189135">
                  <a:extLst>
                    <a:ext uri="{9D8B030D-6E8A-4147-A177-3AD203B41FA5}">
                      <a16:colId xmlns:a16="http://schemas.microsoft.com/office/drawing/2014/main" val="20001"/>
                    </a:ext>
                  </a:extLst>
                </a:gridCol>
                <a:gridCol w="1054951">
                  <a:extLst>
                    <a:ext uri="{9D8B030D-6E8A-4147-A177-3AD203B41FA5}">
                      <a16:colId xmlns:a16="http://schemas.microsoft.com/office/drawing/2014/main" val="20002"/>
                    </a:ext>
                  </a:extLst>
                </a:gridCol>
                <a:gridCol w="1072819">
                  <a:extLst>
                    <a:ext uri="{9D8B030D-6E8A-4147-A177-3AD203B41FA5}">
                      <a16:colId xmlns:a16="http://schemas.microsoft.com/office/drawing/2014/main" val="20003"/>
                    </a:ext>
                  </a:extLst>
                </a:gridCol>
                <a:gridCol w="1072819">
                  <a:extLst>
                    <a:ext uri="{9D8B030D-6E8A-4147-A177-3AD203B41FA5}">
                      <a16:colId xmlns:a16="http://schemas.microsoft.com/office/drawing/2014/main" val="20004"/>
                    </a:ext>
                  </a:extLst>
                </a:gridCol>
                <a:gridCol w="1072819">
                  <a:extLst>
                    <a:ext uri="{9D8B030D-6E8A-4147-A177-3AD203B41FA5}">
                      <a16:colId xmlns:a16="http://schemas.microsoft.com/office/drawing/2014/main" val="20005"/>
                    </a:ext>
                  </a:extLst>
                </a:gridCol>
                <a:gridCol w="1072819">
                  <a:extLst>
                    <a:ext uri="{9D8B030D-6E8A-4147-A177-3AD203B41FA5}">
                      <a16:colId xmlns:a16="http://schemas.microsoft.com/office/drawing/2014/main" val="20006"/>
                    </a:ext>
                  </a:extLst>
                </a:gridCol>
                <a:gridCol w="931000">
                  <a:extLst>
                    <a:ext uri="{9D8B030D-6E8A-4147-A177-3AD203B41FA5}">
                      <a16:colId xmlns:a16="http://schemas.microsoft.com/office/drawing/2014/main" val="20007"/>
                    </a:ext>
                  </a:extLst>
                </a:gridCol>
              </a:tblGrid>
              <a:tr h="495376">
                <a:tc>
                  <a:txBody>
                    <a:bodyPr/>
                    <a:lstStyle/>
                    <a:p>
                      <a:pPr lvl="0" algn="ctr">
                        <a:buNone/>
                      </a:pPr>
                      <a:endParaRPr lang="en-US" sz="1800" b="1" dirty="0">
                        <a:latin typeface="Arial"/>
                      </a:endParaRPr>
                    </a:p>
                  </a:txBody>
                  <a:tcPr marL="91437" marR="91437" marT="45655" marB="45655">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37" marR="91437" marT="45655" marB="45655">
                    <a:lnR w="12700">
                      <a:solidFill>
                        <a:schemeClr val="tx1"/>
                      </a:solidFill>
                    </a:lnR>
                    <a:lnB w="12700">
                      <a:solidFill>
                        <a:schemeClr val="tx1"/>
                      </a:solidFill>
                    </a:lnB>
                  </a:tcPr>
                </a:tc>
                <a:tc>
                  <a:txBody>
                    <a:bodyPr/>
                    <a:lstStyle/>
                    <a:p>
                      <a:pPr lvl="0" algn="ctr">
                        <a:buNone/>
                      </a:pPr>
                      <a:r>
                        <a:rPr lang="en-US" sz="1800" b="1" dirty="0">
                          <a:latin typeface="Arial"/>
                        </a:rPr>
                        <a:t>8</a:t>
                      </a:r>
                      <a:endParaRPr lang="en-US" sz="1800" b="1" dirty="0">
                        <a:solidFill>
                          <a:srgbClr val="FF0000"/>
                        </a:solidFill>
                        <a:latin typeface="Arial"/>
                      </a:endParaRPr>
                    </a:p>
                  </a:txBody>
                  <a:tcPr marL="91437" marR="91437" marT="45655" marB="45655">
                    <a:lnL w="12700">
                      <a:solidFill>
                        <a:schemeClr val="tx1"/>
                      </a:solidFill>
                    </a:lnL>
                    <a:lnB w="12700">
                      <a:solidFill>
                        <a:schemeClr val="tx1"/>
                      </a:solidFill>
                    </a:lnB>
                  </a:tcPr>
                </a:tc>
                <a:tc>
                  <a:txBody>
                    <a:bodyPr/>
                    <a:lstStyle/>
                    <a:p>
                      <a:pPr lvl="0" algn="ctr">
                        <a:buNone/>
                      </a:pPr>
                      <a:r>
                        <a:rPr lang="en-US" sz="1800" b="1" dirty="0">
                          <a:latin typeface="Arial"/>
                        </a:rPr>
                        <a:t>10</a:t>
                      </a:r>
                      <a:endParaRPr lang="en-US" sz="1800" b="1" dirty="0">
                        <a:solidFill>
                          <a:srgbClr val="FF0000"/>
                        </a:solidFill>
                        <a:latin typeface="Arial"/>
                      </a:endParaRPr>
                    </a:p>
                  </a:txBody>
                  <a:tcPr marL="91437" marR="91437" marT="45655" marB="45655">
                    <a:lnB w="12700">
                      <a:solidFill>
                        <a:schemeClr val="tx1"/>
                      </a:solidFill>
                    </a:lnB>
                  </a:tcPr>
                </a:tc>
                <a:tc>
                  <a:txBody>
                    <a:bodyPr/>
                    <a:lstStyle/>
                    <a:p>
                      <a:pPr lvl="0" algn="ctr">
                        <a:buNone/>
                      </a:pPr>
                      <a:r>
                        <a:rPr lang="en-US" sz="1800" b="1" dirty="0">
                          <a:latin typeface="Arial"/>
                        </a:rPr>
                        <a:t>7</a:t>
                      </a:r>
                      <a:endParaRPr lang="en-US" sz="1800" b="1" dirty="0">
                        <a:solidFill>
                          <a:srgbClr val="FF0000"/>
                        </a:solidFill>
                        <a:latin typeface="Arial"/>
                      </a:endParaRPr>
                    </a:p>
                  </a:txBody>
                  <a:tcPr marL="91437" marR="91437" marT="45655" marB="45655">
                    <a:lnB w="12700">
                      <a:solidFill>
                        <a:schemeClr val="tx1"/>
                      </a:solidFill>
                    </a:lnB>
                  </a:tcPr>
                </a:tc>
                <a:tc>
                  <a:txBody>
                    <a:bodyPr/>
                    <a:lstStyle/>
                    <a:p>
                      <a:pPr lvl="0" algn="ctr">
                        <a:buNone/>
                      </a:pPr>
                      <a:r>
                        <a:rPr lang="en-US" sz="1800" b="1" dirty="0">
                          <a:latin typeface="Arial"/>
                        </a:rPr>
                        <a:t>0</a:t>
                      </a:r>
                    </a:p>
                  </a:txBody>
                  <a:tcPr marL="91437" marR="91437" marT="45655" marB="45655">
                    <a:lnB w="12700">
                      <a:solidFill>
                        <a:schemeClr val="tx1"/>
                      </a:solidFill>
                    </a:lnB>
                  </a:tcPr>
                </a:tc>
                <a:tc>
                  <a:txBody>
                    <a:bodyPr/>
                    <a:lstStyle/>
                    <a:p>
                      <a:pPr lvl="0" algn="ctr">
                        <a:buNone/>
                      </a:pPr>
                      <a:r>
                        <a:rPr lang="en-US" sz="1800" b="1" dirty="0">
                          <a:latin typeface="Arial"/>
                        </a:rPr>
                        <a:t>0</a:t>
                      </a:r>
                      <a:endParaRPr lang="en-US" sz="1800" b="1" dirty="0">
                        <a:solidFill>
                          <a:srgbClr val="FF0000"/>
                        </a:solidFill>
                        <a:latin typeface="Arial"/>
                      </a:endParaRPr>
                    </a:p>
                  </a:txBody>
                  <a:tcPr marL="91437" marR="91437" marT="45655" marB="45655">
                    <a:lnR w="12700">
                      <a:solidFill>
                        <a:schemeClr val="tx1"/>
                      </a:solidFill>
                    </a:lnR>
                    <a:lnB w="12700">
                      <a:solidFill>
                        <a:schemeClr val="tx1"/>
                      </a:solidFill>
                    </a:lnB>
                  </a:tcPr>
                </a:tc>
                <a:tc>
                  <a:txBody>
                    <a:bodyPr/>
                    <a:lstStyle/>
                    <a:p>
                      <a:pPr algn="ctr"/>
                      <a:endParaRPr lang="en-US" sz="1800" b="1" dirty="0">
                        <a:latin typeface="Arial"/>
                      </a:endParaRPr>
                    </a:p>
                  </a:txBody>
                  <a:tcPr marL="91437" marR="91437" marT="45655" marB="45655">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0"/>
                  </a:ext>
                </a:extLst>
              </a:tr>
              <a:tr h="457068">
                <a:tc>
                  <a:txBody>
                    <a:bodyPr/>
                    <a:lstStyle/>
                    <a:p>
                      <a:pPr lvl="0" algn="ctr">
                        <a:buNone/>
                      </a:pPr>
                      <a:r>
                        <a:rPr lang="en-US" sz="1800" b="1" err="1">
                          <a:latin typeface="Arial"/>
                        </a:rPr>
                        <a:t>C</a:t>
                      </a:r>
                      <a:r>
                        <a:rPr lang="en-US" sz="1800" b="1" baseline="-25000" err="1">
                          <a:latin typeface="Arial"/>
                        </a:rPr>
                        <a:t>Bi</a:t>
                      </a:r>
                    </a:p>
                  </a:txBody>
                  <a:tcPr marL="91437" marR="91437" marT="45655" marB="45655">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37" marR="91437" marT="45655" marB="45655">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37" marR="91437" marT="45655" marB="45655">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37" marR="91437" marT="45655" marB="45655">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37" marR="91437" marT="45655" marB="45655">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37" marR="91437" marT="45655" marB="45655">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37" marR="91437" marT="45655" marB="45655">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37" marR="91437" marT="45655" marB="45655">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396109">
                <a:tc>
                  <a:txBody>
                    <a:bodyPr/>
                    <a:lstStyle/>
                    <a:p>
                      <a:pPr lvl="0" algn="ctr">
                        <a:buNone/>
                      </a:pPr>
                      <a:r>
                        <a:rPr lang="en-US" sz="1800" b="1" dirty="0">
                          <a:latin typeface="Arial"/>
                        </a:rPr>
                        <a:t>0</a:t>
                      </a:r>
                    </a:p>
                  </a:txBody>
                  <a:tcPr marL="91437" marR="91437" marT="45655" marB="45655">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37" marR="91437" marT="45655" marB="45655">
                    <a:lnR w="12700">
                      <a:solidFill>
                        <a:schemeClr val="tx1"/>
                      </a:solidFill>
                    </a:lnR>
                    <a:lnT w="12700">
                      <a:solidFill>
                        <a:schemeClr val="tx1"/>
                      </a:solidFill>
                    </a:lnT>
                  </a:tcPr>
                </a:tc>
                <a:tc>
                  <a:txBody>
                    <a:bodyPr/>
                    <a:lstStyle/>
                    <a:p>
                      <a:pPr algn="ctr"/>
                      <a:r>
                        <a:rPr lang="en-US" sz="2000" b="1" kern="1200" dirty="0">
                          <a:solidFill>
                            <a:schemeClr val="tx1"/>
                          </a:solidFill>
                          <a:latin typeface="+mn-lt"/>
                          <a:ea typeface="+mn-ea"/>
                          <a:cs typeface="+mn-cs"/>
                        </a:rPr>
                        <a:t>2/5</a:t>
                      </a:r>
                    </a:p>
                  </a:txBody>
                  <a:tcPr marL="91437" marR="91437" marT="45655" marB="45655">
                    <a:lnL w="12700">
                      <a:solidFill>
                        <a:schemeClr val="tx1"/>
                      </a:solidFill>
                    </a:lnL>
                    <a:lnT w="12700">
                      <a:solidFill>
                        <a:schemeClr val="tx1"/>
                      </a:solidFill>
                    </a:lnT>
                  </a:tcPr>
                </a:tc>
                <a:tc>
                  <a:txBody>
                    <a:bodyPr/>
                    <a:lstStyle/>
                    <a:p>
                      <a:pPr algn="ctr"/>
                      <a:r>
                        <a:rPr lang="en-US" sz="1800" b="1" dirty="0">
                          <a:solidFill>
                            <a:schemeClr val="tx1"/>
                          </a:solidFill>
                          <a:latin typeface="Arial"/>
                        </a:rPr>
                        <a:t>0</a:t>
                      </a:r>
                    </a:p>
                  </a:txBody>
                  <a:tcPr marL="91437" marR="91437" marT="45655" marB="45655">
                    <a:lnT w="12700">
                      <a:solidFill>
                        <a:schemeClr val="tx1"/>
                      </a:solidFill>
                    </a:lnT>
                  </a:tcPr>
                </a:tc>
                <a:tc>
                  <a:txBody>
                    <a:bodyPr/>
                    <a:lstStyle/>
                    <a:p>
                      <a:pPr algn="ctr"/>
                      <a:r>
                        <a:rPr lang="en-US" sz="1800" b="1" dirty="0">
                          <a:solidFill>
                            <a:schemeClr val="tx1"/>
                          </a:solidFill>
                          <a:latin typeface="Arial"/>
                        </a:rPr>
                        <a:t>7/5</a:t>
                      </a:r>
                    </a:p>
                  </a:txBody>
                  <a:tcPr marL="91437" marR="91437" marT="45655" marB="45655">
                    <a:lnT w="12700">
                      <a:solidFill>
                        <a:schemeClr val="tx1"/>
                      </a:solidFill>
                    </a:lnT>
                  </a:tcPr>
                </a:tc>
                <a:tc>
                  <a:txBody>
                    <a:bodyPr/>
                    <a:lstStyle/>
                    <a:p>
                      <a:pPr algn="ctr"/>
                      <a:r>
                        <a:rPr lang="en-US" sz="1800" b="1" dirty="0">
                          <a:solidFill>
                            <a:schemeClr val="tx1"/>
                          </a:solidFill>
                          <a:latin typeface="Arial"/>
                        </a:rPr>
                        <a:t>1</a:t>
                      </a:r>
                    </a:p>
                  </a:txBody>
                  <a:tcPr marL="91437" marR="91437" marT="45655" marB="45655">
                    <a:lnT w="12700">
                      <a:solidFill>
                        <a:schemeClr val="tx1"/>
                      </a:solidFill>
                    </a:lnT>
                  </a:tcPr>
                </a:tc>
                <a:tc>
                  <a:txBody>
                    <a:bodyPr/>
                    <a:lstStyle/>
                    <a:p>
                      <a:pPr algn="ctr"/>
                      <a:r>
                        <a:rPr lang="en-US" sz="1800" b="1" dirty="0">
                          <a:solidFill>
                            <a:schemeClr val="tx1"/>
                          </a:solidFill>
                          <a:latin typeface="Arial"/>
                        </a:rPr>
                        <a:t>-3/5</a:t>
                      </a:r>
                    </a:p>
                  </a:txBody>
                  <a:tcPr marL="91437" marR="91437" marT="45655" marB="45655">
                    <a:lnR w="12700">
                      <a:solidFill>
                        <a:schemeClr val="tx1"/>
                      </a:solidFill>
                    </a:lnR>
                    <a:lnT w="12700">
                      <a:solidFill>
                        <a:schemeClr val="tx1"/>
                      </a:solidFill>
                    </a:lnT>
                  </a:tcPr>
                </a:tc>
                <a:tc>
                  <a:txBody>
                    <a:bodyPr/>
                    <a:lstStyle/>
                    <a:p>
                      <a:pPr algn="ctr"/>
                      <a:r>
                        <a:rPr lang="en-US" sz="1800" b="1" dirty="0">
                          <a:solidFill>
                            <a:schemeClr val="tx1"/>
                          </a:solidFill>
                          <a:latin typeface="Arial"/>
                        </a:rPr>
                        <a:t>26/5</a:t>
                      </a:r>
                    </a:p>
                  </a:txBody>
                  <a:tcPr marL="91437" marR="91437" marT="45655" marB="45655">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2"/>
                  </a:ext>
                </a:extLst>
              </a:tr>
              <a:tr h="396109">
                <a:tc>
                  <a:txBody>
                    <a:bodyPr/>
                    <a:lstStyle/>
                    <a:p>
                      <a:pPr lvl="0" algn="ctr">
                        <a:buNone/>
                      </a:pPr>
                      <a:r>
                        <a:rPr lang="en-US" sz="1800" b="1" dirty="0">
                          <a:solidFill>
                            <a:schemeClr val="tx1"/>
                          </a:solidFill>
                          <a:latin typeface="Arial"/>
                        </a:rPr>
                        <a:t>8</a:t>
                      </a:r>
                    </a:p>
                  </a:txBody>
                  <a:tcPr marL="91437" marR="91437" marT="45655" marB="45655">
                    <a:lnL w="12700">
                      <a:solidFill>
                        <a:schemeClr val="tx1"/>
                      </a:solidFill>
                    </a:lnL>
                    <a:lnB w="12700">
                      <a:solidFill>
                        <a:schemeClr val="tx1"/>
                      </a:solidFill>
                    </a:lnB>
                  </a:tcPr>
                </a:tc>
                <a:tc>
                  <a:txBody>
                    <a:bodyPr/>
                    <a:lstStyle/>
                    <a:p>
                      <a:pPr lvl="0" algn="ctr">
                        <a:buNone/>
                      </a:pPr>
                      <a:r>
                        <a:rPr lang="en-US" sz="1800" b="1" kern="1200" dirty="0">
                          <a:solidFill>
                            <a:schemeClr val="accent3"/>
                          </a:solidFill>
                          <a:latin typeface="Arial"/>
                          <a:ea typeface="+mn-ea"/>
                          <a:cs typeface="+mn-cs"/>
                        </a:rPr>
                        <a:t>x1</a:t>
                      </a:r>
                    </a:p>
                  </a:txBody>
                  <a:tcPr marL="91437" marR="91437" marT="45655" marB="45655">
                    <a:lnR w="12700">
                      <a:solidFill>
                        <a:schemeClr val="tx1"/>
                      </a:solidFill>
                    </a:lnR>
                    <a:lnB w="12700">
                      <a:solidFill>
                        <a:schemeClr val="tx1"/>
                      </a:solidFill>
                    </a:lnB>
                  </a:tcPr>
                </a:tc>
                <a:tc>
                  <a:txBody>
                    <a:bodyPr/>
                    <a:lstStyle/>
                    <a:p>
                      <a:pPr algn="ctr"/>
                      <a:r>
                        <a:rPr lang="en-US" sz="2000" b="1" kern="1200" dirty="0">
                          <a:solidFill>
                            <a:srgbClr val="FF00FF"/>
                          </a:solidFill>
                          <a:latin typeface="+mn-lt"/>
                          <a:ea typeface="+mn-ea"/>
                          <a:cs typeface="+mn-cs"/>
                        </a:rPr>
                        <a:t>1</a:t>
                      </a:r>
                    </a:p>
                  </a:txBody>
                  <a:tcPr marL="91437" marR="91437" marT="45655" marB="45655">
                    <a:lnL w="12700">
                      <a:solidFill>
                        <a:schemeClr val="tx1"/>
                      </a:solidFill>
                    </a:lnL>
                    <a:lnB w="12700">
                      <a:solidFill>
                        <a:schemeClr val="tx1"/>
                      </a:solidFill>
                    </a:lnB>
                  </a:tcPr>
                </a:tc>
                <a:tc>
                  <a:txBody>
                    <a:bodyPr/>
                    <a:lstStyle/>
                    <a:p>
                      <a:pPr algn="ctr"/>
                      <a:r>
                        <a:rPr lang="en-US" sz="1800" b="1" dirty="0">
                          <a:solidFill>
                            <a:srgbClr val="FF0000"/>
                          </a:solidFill>
                          <a:latin typeface="Arial"/>
                        </a:rPr>
                        <a:t>5</a:t>
                      </a:r>
                    </a:p>
                  </a:txBody>
                  <a:tcPr marL="91437" marR="91437" marT="45655" marB="45655">
                    <a:lnB w="12700">
                      <a:solidFill>
                        <a:schemeClr val="tx1"/>
                      </a:solidFill>
                    </a:lnB>
                  </a:tcPr>
                </a:tc>
                <a:tc>
                  <a:txBody>
                    <a:bodyPr/>
                    <a:lstStyle/>
                    <a:p>
                      <a:pPr algn="ctr"/>
                      <a:r>
                        <a:rPr lang="en-US" sz="1800" b="1" dirty="0">
                          <a:solidFill>
                            <a:srgbClr val="FF0000"/>
                          </a:solidFill>
                          <a:latin typeface="Arial"/>
                        </a:rPr>
                        <a:t>5</a:t>
                      </a:r>
                    </a:p>
                  </a:txBody>
                  <a:tcPr marL="91437" marR="91437" marT="45655" marB="45655">
                    <a:lnB w="12700">
                      <a:solidFill>
                        <a:schemeClr val="tx1"/>
                      </a:solidFill>
                    </a:lnB>
                  </a:tcPr>
                </a:tc>
                <a:tc>
                  <a:txBody>
                    <a:bodyPr/>
                    <a:lstStyle/>
                    <a:p>
                      <a:pPr algn="ctr"/>
                      <a:r>
                        <a:rPr lang="en-US" sz="1800" b="1" dirty="0">
                          <a:solidFill>
                            <a:srgbClr val="FF0000"/>
                          </a:solidFill>
                          <a:latin typeface="Arial"/>
                        </a:rPr>
                        <a:t>0</a:t>
                      </a:r>
                    </a:p>
                  </a:txBody>
                  <a:tcPr marL="91437" marR="91437" marT="45655" marB="45655">
                    <a:lnB w="12700">
                      <a:solidFill>
                        <a:schemeClr val="tx1"/>
                      </a:solidFill>
                    </a:lnB>
                  </a:tcPr>
                </a:tc>
                <a:tc>
                  <a:txBody>
                    <a:bodyPr/>
                    <a:lstStyle/>
                    <a:p>
                      <a:pPr algn="ctr"/>
                      <a:r>
                        <a:rPr lang="en-US" sz="1800" b="1" dirty="0">
                          <a:solidFill>
                            <a:srgbClr val="FF0000"/>
                          </a:solidFill>
                          <a:latin typeface="Arial"/>
                        </a:rPr>
                        <a:t>5</a:t>
                      </a:r>
                    </a:p>
                  </a:txBody>
                  <a:tcPr marL="91437" marR="91437" marT="45655" marB="45655">
                    <a:lnR w="12700">
                      <a:solidFill>
                        <a:schemeClr val="tx1"/>
                      </a:solidFill>
                    </a:lnR>
                    <a:lnB w="12700">
                      <a:solidFill>
                        <a:schemeClr val="tx1"/>
                      </a:solidFill>
                    </a:lnB>
                  </a:tcPr>
                </a:tc>
                <a:tc>
                  <a:txBody>
                    <a:bodyPr/>
                    <a:lstStyle/>
                    <a:p>
                      <a:pPr algn="ctr"/>
                      <a:r>
                        <a:rPr lang="en-US" sz="1800" b="1" dirty="0">
                          <a:solidFill>
                            <a:srgbClr val="FF0000"/>
                          </a:solidFill>
                          <a:latin typeface="Arial"/>
                        </a:rPr>
                        <a:t>8</a:t>
                      </a:r>
                    </a:p>
                  </a:txBody>
                  <a:tcPr marL="91437" marR="91437" marT="45655" marB="45655">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Google Shape;192;p32" descr="KL Deemed to be University Logo">
            <a:extLst>
              <a:ext uri="{FF2B5EF4-FFF2-40B4-BE49-F238E27FC236}">
                <a16:creationId xmlns:a16="http://schemas.microsoft.com/office/drawing/2014/main" id="{C5F3842E-BDFC-DB09-B216-F0FD8B7C081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Google Shape;193;p32">
            <a:extLst>
              <a:ext uri="{FF2B5EF4-FFF2-40B4-BE49-F238E27FC236}">
                <a16:creationId xmlns:a16="http://schemas.microsoft.com/office/drawing/2014/main" id="{7D946415-478C-23D4-EE5F-7F28AB78676D}"/>
              </a:ext>
            </a:extLst>
          </p:cNvPr>
          <p:cNvSpPr>
            <a:spLocks noChangeArrowheads="1"/>
          </p:cNvSpPr>
          <p:nvPr/>
        </p:nvSpPr>
        <p:spPr bwMode="auto">
          <a:xfrm>
            <a:off x="2654300" y="112713"/>
            <a:ext cx="7213600"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7: Check for optimality</a:t>
            </a:r>
          </a:p>
        </p:txBody>
      </p:sp>
      <p:pic>
        <p:nvPicPr>
          <p:cNvPr id="60420" name="Google Shape;194;p32" descr="KL Deemed to be University Logo">
            <a:extLst>
              <a:ext uri="{FF2B5EF4-FFF2-40B4-BE49-F238E27FC236}">
                <a16:creationId xmlns:a16="http://schemas.microsoft.com/office/drawing/2014/main" id="{CB2B20C9-25AB-4AA2-790B-03EE4030D76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1" name="Google Shape;196;p32">
            <a:extLst>
              <a:ext uri="{FF2B5EF4-FFF2-40B4-BE49-F238E27FC236}">
                <a16:creationId xmlns:a16="http://schemas.microsoft.com/office/drawing/2014/main" id="{9799B882-86C2-A9F1-DA6F-12E6C4A7082F}"/>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Slide Number Placeholder 3">
            <a:extLst>
              <a:ext uri="{FF2B5EF4-FFF2-40B4-BE49-F238E27FC236}">
                <a16:creationId xmlns:a16="http://schemas.microsoft.com/office/drawing/2014/main" id="{5FA7B3FE-5FFC-5595-C235-AA3FAD9E763A}"/>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E0E8417E-F158-479D-ACDE-83AE1A710AD9}" type="slidenum">
              <a:rPr lang="en-IN" altLang="en-US" sz="2200" smtClean="0">
                <a:solidFill>
                  <a:schemeClr val="accent1"/>
                </a:solidFill>
              </a:rPr>
              <a:pPr>
                <a:lnSpc>
                  <a:spcPct val="100000"/>
                </a:lnSpc>
                <a:spcBef>
                  <a:spcPct val="0"/>
                </a:spcBef>
                <a:buClrTx/>
                <a:buSzTx/>
                <a:buFontTx/>
                <a:buNone/>
              </a:pPr>
              <a:t>24</a:t>
            </a:fld>
            <a:endParaRPr lang="en-IN" altLang="en-US" sz="2200">
              <a:solidFill>
                <a:schemeClr val="accent1"/>
              </a:solidFill>
            </a:endParaRPr>
          </a:p>
        </p:txBody>
      </p:sp>
      <p:sp>
        <p:nvSpPr>
          <p:cNvPr id="60423" name="Google Shape;195;p32">
            <a:extLst>
              <a:ext uri="{FF2B5EF4-FFF2-40B4-BE49-F238E27FC236}">
                <a16:creationId xmlns:a16="http://schemas.microsoft.com/office/drawing/2014/main" id="{F91B86C3-A78D-BFBE-8B66-90C960905D7D}"/>
              </a:ext>
            </a:extLst>
          </p:cNvPr>
          <p:cNvSpPr txBox="1">
            <a:spLocks noChangeArrowheads="1"/>
          </p:cNvSpPr>
          <p:nvPr/>
        </p:nvSpPr>
        <p:spPr bwMode="auto">
          <a:xfrm>
            <a:off x="503238" y="4589463"/>
            <a:ext cx="8732837" cy="80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457200" indent="-355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Since all values in the Cj -zj row are &lt;= zero, this is the</a:t>
            </a:r>
            <a:r>
              <a:rPr lang="en-US" altLang="en-US"/>
              <a:t> </a:t>
            </a:r>
            <a:r>
              <a:rPr lang="en-US" altLang="en-US" b="1">
                <a:solidFill>
                  <a:srgbClr val="FF00FF"/>
                </a:solidFill>
              </a:rPr>
              <a:t>optimal solution</a:t>
            </a:r>
            <a:r>
              <a:rPr lang="en-US" altLang="en-US">
                <a:latin typeface="Times New Roman" panose="02020603050405020304" pitchFamily="18" charset="0"/>
                <a:cs typeface="Times New Roman" panose="02020603050405020304" pitchFamily="18" charset="0"/>
              </a:rPr>
              <a:t>.</a:t>
            </a:r>
          </a:p>
          <a:p>
            <a:pPr eaLnBrk="1" hangingPunct="1">
              <a:lnSpc>
                <a:spcPct val="100000"/>
              </a:lnSpc>
              <a:spcBef>
                <a:spcPct val="0"/>
              </a:spcBef>
              <a:buClrTx/>
              <a:buSzPts val="2000"/>
            </a:pPr>
            <a:endParaRPr lang="en-US" altLang="en-US">
              <a:latin typeface="Times New Roman" panose="02020603050405020304" pitchFamily="18" charset="0"/>
              <a:cs typeface="Times New Roman" panose="02020603050405020304" pitchFamily="18" charset="0"/>
            </a:endParaRPr>
          </a:p>
        </p:txBody>
      </p:sp>
      <p:graphicFrame>
        <p:nvGraphicFramePr>
          <p:cNvPr id="8" name="Table 11">
            <a:extLst>
              <a:ext uri="{FF2B5EF4-FFF2-40B4-BE49-F238E27FC236}">
                <a16:creationId xmlns:a16="http://schemas.microsoft.com/office/drawing/2014/main" id="{A5DA4BC3-FAA2-25AF-6274-5274657715BE}"/>
              </a:ext>
            </a:extLst>
          </p:cNvPr>
          <p:cNvGraphicFramePr>
            <a:graphicFrameLocks noGrp="1"/>
          </p:cNvGraphicFramePr>
          <p:nvPr/>
        </p:nvGraphicFramePr>
        <p:xfrm>
          <a:off x="1931988" y="1290638"/>
          <a:ext cx="8440737" cy="2468562"/>
        </p:xfrm>
        <a:graphic>
          <a:graphicData uri="http://schemas.openxmlformats.org/drawingml/2006/table">
            <a:tbl>
              <a:tblPr firstRow="1" bandRow="1">
                <a:tableStyleId>{2D5ABB26-0587-4C30-8999-92F81FD0307C}</a:tableStyleId>
              </a:tblPr>
              <a:tblGrid>
                <a:gridCol w="974377">
                  <a:extLst>
                    <a:ext uri="{9D8B030D-6E8A-4147-A177-3AD203B41FA5}">
                      <a16:colId xmlns:a16="http://schemas.microsoft.com/office/drawing/2014/main" val="20000"/>
                    </a:ext>
                  </a:extLst>
                </a:gridCol>
                <a:gridCol w="1189135">
                  <a:extLst>
                    <a:ext uri="{9D8B030D-6E8A-4147-A177-3AD203B41FA5}">
                      <a16:colId xmlns:a16="http://schemas.microsoft.com/office/drawing/2014/main" val="20001"/>
                    </a:ext>
                  </a:extLst>
                </a:gridCol>
                <a:gridCol w="1054950">
                  <a:extLst>
                    <a:ext uri="{9D8B030D-6E8A-4147-A177-3AD203B41FA5}">
                      <a16:colId xmlns:a16="http://schemas.microsoft.com/office/drawing/2014/main" val="20002"/>
                    </a:ext>
                  </a:extLst>
                </a:gridCol>
                <a:gridCol w="1072819">
                  <a:extLst>
                    <a:ext uri="{9D8B030D-6E8A-4147-A177-3AD203B41FA5}">
                      <a16:colId xmlns:a16="http://schemas.microsoft.com/office/drawing/2014/main" val="20003"/>
                    </a:ext>
                  </a:extLst>
                </a:gridCol>
                <a:gridCol w="1072819">
                  <a:extLst>
                    <a:ext uri="{9D8B030D-6E8A-4147-A177-3AD203B41FA5}">
                      <a16:colId xmlns:a16="http://schemas.microsoft.com/office/drawing/2014/main" val="20004"/>
                    </a:ext>
                  </a:extLst>
                </a:gridCol>
                <a:gridCol w="1072819">
                  <a:extLst>
                    <a:ext uri="{9D8B030D-6E8A-4147-A177-3AD203B41FA5}">
                      <a16:colId xmlns:a16="http://schemas.microsoft.com/office/drawing/2014/main" val="20005"/>
                    </a:ext>
                  </a:extLst>
                </a:gridCol>
                <a:gridCol w="1072819">
                  <a:extLst>
                    <a:ext uri="{9D8B030D-6E8A-4147-A177-3AD203B41FA5}">
                      <a16:colId xmlns:a16="http://schemas.microsoft.com/office/drawing/2014/main" val="20006"/>
                    </a:ext>
                  </a:extLst>
                </a:gridCol>
                <a:gridCol w="931000">
                  <a:extLst>
                    <a:ext uri="{9D8B030D-6E8A-4147-A177-3AD203B41FA5}">
                      <a16:colId xmlns:a16="http://schemas.microsoft.com/office/drawing/2014/main" val="20007"/>
                    </a:ext>
                  </a:extLst>
                </a:gridCol>
              </a:tblGrid>
              <a:tr h="496158">
                <a:tc>
                  <a:txBody>
                    <a:bodyPr/>
                    <a:lstStyle/>
                    <a:p>
                      <a:pPr lvl="0" algn="ctr">
                        <a:buNone/>
                      </a:pPr>
                      <a:endParaRPr lang="en-US" sz="1800" b="1" dirty="0">
                        <a:latin typeface="Arial"/>
                      </a:endParaRPr>
                    </a:p>
                  </a:txBody>
                  <a:tcPr marL="91437" marR="91437" marT="45726" marB="45726">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37" marR="91437" marT="45726" marB="45726">
                    <a:lnR w="12700">
                      <a:solidFill>
                        <a:schemeClr val="tx1"/>
                      </a:solidFill>
                    </a:lnR>
                    <a:lnB w="12700">
                      <a:solidFill>
                        <a:schemeClr val="tx1"/>
                      </a:solidFill>
                    </a:lnB>
                  </a:tcPr>
                </a:tc>
                <a:tc>
                  <a:txBody>
                    <a:bodyPr/>
                    <a:lstStyle/>
                    <a:p>
                      <a:pPr lvl="0" algn="ctr">
                        <a:buNone/>
                      </a:pPr>
                      <a:r>
                        <a:rPr lang="en-US" sz="1800" b="1" dirty="0">
                          <a:latin typeface="Arial"/>
                        </a:rPr>
                        <a:t>8</a:t>
                      </a:r>
                      <a:endParaRPr lang="en-US" sz="1800" b="1" dirty="0">
                        <a:solidFill>
                          <a:srgbClr val="FF0000"/>
                        </a:solidFill>
                        <a:latin typeface="Arial"/>
                      </a:endParaRPr>
                    </a:p>
                  </a:txBody>
                  <a:tcPr marL="91437" marR="91437" marT="45726" marB="45726">
                    <a:lnL w="12700">
                      <a:solidFill>
                        <a:schemeClr val="tx1"/>
                      </a:solidFill>
                    </a:lnL>
                    <a:lnB w="12700">
                      <a:solidFill>
                        <a:schemeClr val="tx1"/>
                      </a:solidFill>
                    </a:lnB>
                  </a:tcPr>
                </a:tc>
                <a:tc>
                  <a:txBody>
                    <a:bodyPr/>
                    <a:lstStyle/>
                    <a:p>
                      <a:pPr lvl="0" algn="ctr">
                        <a:buNone/>
                      </a:pPr>
                      <a:r>
                        <a:rPr lang="en-US" sz="1800" b="1" dirty="0">
                          <a:latin typeface="Arial"/>
                        </a:rPr>
                        <a:t>10</a:t>
                      </a:r>
                      <a:endParaRPr lang="en-US" sz="1800" b="1" dirty="0">
                        <a:solidFill>
                          <a:srgbClr val="FF0000"/>
                        </a:solidFill>
                        <a:latin typeface="Arial"/>
                      </a:endParaRPr>
                    </a:p>
                  </a:txBody>
                  <a:tcPr marL="91437" marR="91437" marT="45726" marB="45726">
                    <a:lnB w="12700">
                      <a:solidFill>
                        <a:schemeClr val="tx1"/>
                      </a:solidFill>
                    </a:lnB>
                  </a:tcPr>
                </a:tc>
                <a:tc>
                  <a:txBody>
                    <a:bodyPr/>
                    <a:lstStyle/>
                    <a:p>
                      <a:pPr lvl="0" algn="ctr">
                        <a:buNone/>
                      </a:pPr>
                      <a:r>
                        <a:rPr lang="en-US" sz="1800" b="1" dirty="0">
                          <a:latin typeface="Arial"/>
                        </a:rPr>
                        <a:t>7</a:t>
                      </a:r>
                      <a:endParaRPr lang="en-US" sz="1800" b="1" dirty="0">
                        <a:solidFill>
                          <a:srgbClr val="FF0000"/>
                        </a:solidFill>
                        <a:latin typeface="Arial"/>
                      </a:endParaRPr>
                    </a:p>
                  </a:txBody>
                  <a:tcPr marL="91437" marR="91437" marT="45726" marB="45726">
                    <a:lnB w="12700">
                      <a:solidFill>
                        <a:schemeClr val="tx1"/>
                      </a:solidFill>
                    </a:lnB>
                  </a:tcPr>
                </a:tc>
                <a:tc>
                  <a:txBody>
                    <a:bodyPr/>
                    <a:lstStyle/>
                    <a:p>
                      <a:pPr lvl="0" algn="ctr">
                        <a:buNone/>
                      </a:pPr>
                      <a:r>
                        <a:rPr lang="en-US" sz="1800" b="1" dirty="0">
                          <a:latin typeface="Arial"/>
                        </a:rPr>
                        <a:t>0</a:t>
                      </a:r>
                    </a:p>
                  </a:txBody>
                  <a:tcPr marL="91437" marR="91437" marT="45726" marB="45726">
                    <a:lnB w="12700">
                      <a:solidFill>
                        <a:schemeClr val="tx1"/>
                      </a:solidFill>
                    </a:lnB>
                  </a:tcPr>
                </a:tc>
                <a:tc>
                  <a:txBody>
                    <a:bodyPr/>
                    <a:lstStyle/>
                    <a:p>
                      <a:pPr lvl="0" algn="ctr">
                        <a:buNone/>
                      </a:pPr>
                      <a:r>
                        <a:rPr lang="en-US" sz="1800" b="1" dirty="0">
                          <a:latin typeface="Arial"/>
                        </a:rPr>
                        <a:t>0</a:t>
                      </a:r>
                      <a:endParaRPr lang="en-US" sz="1800" b="1" dirty="0">
                        <a:solidFill>
                          <a:srgbClr val="FF0000"/>
                        </a:solidFill>
                        <a:latin typeface="Arial"/>
                      </a:endParaRPr>
                    </a:p>
                  </a:txBody>
                  <a:tcPr marL="91437" marR="91437" marT="45726" marB="45726">
                    <a:lnR w="12700">
                      <a:solidFill>
                        <a:schemeClr val="tx1"/>
                      </a:solidFill>
                    </a:lnR>
                    <a:lnB w="12700">
                      <a:solidFill>
                        <a:schemeClr val="tx1"/>
                      </a:solidFill>
                    </a:lnB>
                  </a:tcPr>
                </a:tc>
                <a:tc>
                  <a:txBody>
                    <a:bodyPr/>
                    <a:lstStyle/>
                    <a:p>
                      <a:pPr algn="ctr"/>
                      <a:endParaRPr lang="en-US" sz="1800" b="1" dirty="0">
                        <a:latin typeface="Arial"/>
                      </a:endParaRPr>
                    </a:p>
                  </a:txBody>
                  <a:tcPr marL="91437" marR="91437" marT="45726" marB="45726">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0"/>
                  </a:ext>
                </a:extLst>
              </a:tr>
              <a:tr h="457259">
                <a:tc>
                  <a:txBody>
                    <a:bodyPr/>
                    <a:lstStyle/>
                    <a:p>
                      <a:pPr lvl="0" algn="ctr">
                        <a:buNone/>
                      </a:pPr>
                      <a:r>
                        <a:rPr lang="en-US" sz="1800" b="1" err="1">
                          <a:latin typeface="Arial"/>
                        </a:rPr>
                        <a:t>C</a:t>
                      </a:r>
                      <a:r>
                        <a:rPr lang="en-US" sz="1800" b="1" baseline="-25000" err="1">
                          <a:latin typeface="Arial"/>
                        </a:rPr>
                        <a:t>Bi</a:t>
                      </a:r>
                    </a:p>
                  </a:txBody>
                  <a:tcPr marL="91437" marR="91437"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37" marR="91437"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37" marR="91437"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37" marR="91437" marT="45726" marB="45726">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37" marR="91437" marT="45726" marB="45726">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37" marR="91437" marT="45726" marB="45726">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37" marR="91437"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37" marR="91437" marT="45726" marB="45726">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377080">
                <a:tc>
                  <a:txBody>
                    <a:bodyPr/>
                    <a:lstStyle/>
                    <a:p>
                      <a:pPr lvl="0" algn="ctr">
                        <a:buNone/>
                      </a:pPr>
                      <a:r>
                        <a:rPr lang="en-US" sz="1800" b="1" dirty="0">
                          <a:latin typeface="Arial"/>
                        </a:rPr>
                        <a:t>0</a:t>
                      </a:r>
                    </a:p>
                  </a:txBody>
                  <a:tcPr marL="91437" marR="91437" marT="45726" marB="45726">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37" marR="91437" marT="45726" marB="45726">
                    <a:lnR w="12700">
                      <a:solidFill>
                        <a:schemeClr val="tx1"/>
                      </a:solidFill>
                    </a:lnR>
                    <a:lnT w="12700">
                      <a:solidFill>
                        <a:schemeClr val="tx1"/>
                      </a:solidFill>
                    </a:lnT>
                  </a:tcPr>
                </a:tc>
                <a:tc>
                  <a:txBody>
                    <a:bodyPr/>
                    <a:lstStyle/>
                    <a:p>
                      <a:pPr lvl="0" algn="ctr">
                        <a:buNone/>
                      </a:pPr>
                      <a:r>
                        <a:rPr lang="en-US" sz="1800" b="1" kern="1200" dirty="0">
                          <a:solidFill>
                            <a:srgbClr val="FF0000"/>
                          </a:solidFill>
                          <a:latin typeface="Arial"/>
                          <a:ea typeface="+mn-ea"/>
                          <a:cs typeface="+mn-cs"/>
                        </a:rPr>
                        <a:t>0</a:t>
                      </a:r>
                    </a:p>
                  </a:txBody>
                  <a:tcPr marL="91437" marR="91437" marT="45726" marB="45726">
                    <a:lnL w="12700">
                      <a:solidFill>
                        <a:schemeClr val="tx1"/>
                      </a:solidFill>
                    </a:lnL>
                    <a:lnT w="12700">
                      <a:solidFill>
                        <a:schemeClr val="tx1"/>
                      </a:solidFill>
                    </a:lnT>
                  </a:tcPr>
                </a:tc>
                <a:tc>
                  <a:txBody>
                    <a:bodyPr/>
                    <a:lstStyle/>
                    <a:p>
                      <a:pPr lvl="0" algn="ctr">
                        <a:buNone/>
                      </a:pPr>
                      <a:r>
                        <a:rPr lang="en-US" sz="1800" b="1" dirty="0">
                          <a:solidFill>
                            <a:srgbClr val="FF0000"/>
                          </a:solidFill>
                          <a:latin typeface="Arial"/>
                        </a:rPr>
                        <a:t>-2</a:t>
                      </a:r>
                    </a:p>
                  </a:txBody>
                  <a:tcPr marL="91437" marR="91437" marT="45726" marB="45726">
                    <a:lnT w="12700">
                      <a:solidFill>
                        <a:schemeClr val="tx1"/>
                      </a:solidFill>
                    </a:lnT>
                  </a:tcPr>
                </a:tc>
                <a:tc>
                  <a:txBody>
                    <a:bodyPr/>
                    <a:lstStyle/>
                    <a:p>
                      <a:pPr lvl="0" algn="ctr">
                        <a:buNone/>
                      </a:pPr>
                      <a:r>
                        <a:rPr lang="en-US" sz="1800" b="1" dirty="0">
                          <a:solidFill>
                            <a:srgbClr val="FF0000"/>
                          </a:solidFill>
                          <a:latin typeface="Arial"/>
                        </a:rPr>
                        <a:t>-3/5</a:t>
                      </a:r>
                    </a:p>
                  </a:txBody>
                  <a:tcPr marL="91437" marR="91437" marT="45726" marB="45726">
                    <a:lnT w="12700">
                      <a:solidFill>
                        <a:schemeClr val="tx1"/>
                      </a:solidFill>
                    </a:lnT>
                  </a:tcPr>
                </a:tc>
                <a:tc>
                  <a:txBody>
                    <a:bodyPr/>
                    <a:lstStyle/>
                    <a:p>
                      <a:pPr lvl="0" algn="ctr">
                        <a:buNone/>
                      </a:pPr>
                      <a:r>
                        <a:rPr lang="en-US" sz="1800" b="1" dirty="0">
                          <a:solidFill>
                            <a:srgbClr val="FF0000"/>
                          </a:solidFill>
                          <a:latin typeface="Arial"/>
                        </a:rPr>
                        <a:t>1</a:t>
                      </a:r>
                    </a:p>
                  </a:txBody>
                  <a:tcPr marL="91437" marR="91437" marT="45726" marB="45726">
                    <a:lnT w="12700">
                      <a:solidFill>
                        <a:schemeClr val="tx1"/>
                      </a:solidFill>
                    </a:lnT>
                  </a:tcPr>
                </a:tc>
                <a:tc>
                  <a:txBody>
                    <a:bodyPr/>
                    <a:lstStyle/>
                    <a:p>
                      <a:pPr lvl="0" algn="ctr">
                        <a:buNone/>
                      </a:pPr>
                      <a:r>
                        <a:rPr lang="en-US" sz="1800" b="1" dirty="0">
                          <a:solidFill>
                            <a:srgbClr val="FF0000"/>
                          </a:solidFill>
                          <a:latin typeface="Arial"/>
                        </a:rPr>
                        <a:t>-13/5</a:t>
                      </a:r>
                    </a:p>
                  </a:txBody>
                  <a:tcPr marL="91437" marR="91437" marT="45726" marB="45726">
                    <a:lnR w="12700">
                      <a:solidFill>
                        <a:schemeClr val="tx1"/>
                      </a:solidFill>
                    </a:lnR>
                    <a:lnT w="12700">
                      <a:solidFill>
                        <a:schemeClr val="tx1"/>
                      </a:solidFill>
                    </a:lnT>
                  </a:tcPr>
                </a:tc>
                <a:tc>
                  <a:txBody>
                    <a:bodyPr/>
                    <a:lstStyle/>
                    <a:p>
                      <a:pPr lvl="0" algn="ctr">
                        <a:buNone/>
                      </a:pPr>
                      <a:r>
                        <a:rPr lang="en-US" sz="1800" b="1" dirty="0">
                          <a:solidFill>
                            <a:srgbClr val="FF0000"/>
                          </a:solidFill>
                          <a:latin typeface="Arial"/>
                        </a:rPr>
                        <a:t>2</a:t>
                      </a:r>
                    </a:p>
                  </a:txBody>
                  <a:tcPr marL="91437" marR="91437" marT="45726" marB="45726">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2"/>
                  </a:ext>
                </a:extLst>
              </a:tr>
              <a:tr h="396292">
                <a:tc>
                  <a:txBody>
                    <a:bodyPr/>
                    <a:lstStyle/>
                    <a:p>
                      <a:pPr lvl="0" algn="ctr">
                        <a:buNone/>
                      </a:pPr>
                      <a:r>
                        <a:rPr lang="en-US" sz="1800" b="1" dirty="0">
                          <a:solidFill>
                            <a:schemeClr val="tx1"/>
                          </a:solidFill>
                          <a:latin typeface="Arial"/>
                        </a:rPr>
                        <a:t>8</a:t>
                      </a:r>
                    </a:p>
                  </a:txBody>
                  <a:tcPr marL="91437" marR="91437" marT="45726" marB="45726">
                    <a:lnL w="12700">
                      <a:solidFill>
                        <a:schemeClr val="tx1"/>
                      </a:solidFill>
                    </a:lnL>
                    <a:lnB w="12700">
                      <a:solidFill>
                        <a:schemeClr val="tx1"/>
                      </a:solidFill>
                    </a:lnB>
                  </a:tcPr>
                </a:tc>
                <a:tc>
                  <a:txBody>
                    <a:bodyPr/>
                    <a:lstStyle/>
                    <a:p>
                      <a:pPr lvl="0" algn="ctr">
                        <a:buNone/>
                      </a:pPr>
                      <a:r>
                        <a:rPr lang="en-US" sz="1800" b="1" kern="1200" dirty="0">
                          <a:solidFill>
                            <a:schemeClr val="accent3"/>
                          </a:solidFill>
                          <a:latin typeface="Arial"/>
                          <a:ea typeface="+mn-ea"/>
                          <a:cs typeface="+mn-cs"/>
                        </a:rPr>
                        <a:t>x1</a:t>
                      </a:r>
                    </a:p>
                  </a:txBody>
                  <a:tcPr marL="91437" marR="91437" marT="45726" marB="45726">
                    <a:lnR w="12700">
                      <a:solidFill>
                        <a:schemeClr val="tx1"/>
                      </a:solidFill>
                    </a:lnR>
                    <a:lnB w="12700">
                      <a:solidFill>
                        <a:schemeClr val="tx1"/>
                      </a:solidFill>
                    </a:lnB>
                  </a:tcPr>
                </a:tc>
                <a:tc>
                  <a:txBody>
                    <a:bodyPr/>
                    <a:lstStyle/>
                    <a:p>
                      <a:pPr lvl="0" algn="ctr">
                        <a:buNone/>
                      </a:pPr>
                      <a:r>
                        <a:rPr lang="en-US" sz="2000" b="1" kern="1200" dirty="0">
                          <a:solidFill>
                            <a:srgbClr val="FF00FF"/>
                          </a:solidFill>
                          <a:latin typeface="+mn-lt"/>
                          <a:ea typeface="+mn-ea"/>
                          <a:cs typeface="+mn-cs"/>
                        </a:rPr>
                        <a:t>1</a:t>
                      </a:r>
                      <a:endParaRPr lang="en-US" sz="1800" b="1" dirty="0">
                        <a:solidFill>
                          <a:schemeClr val="tx1"/>
                        </a:solidFill>
                        <a:latin typeface="Arial"/>
                      </a:endParaRPr>
                    </a:p>
                  </a:txBody>
                  <a:tcPr marL="91437" marR="91437" marT="45726" marB="45726">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37" marR="91437" marT="45726" marB="45726">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37" marR="91437" marT="45726" marB="45726">
                    <a:lnB w="12700">
                      <a:solidFill>
                        <a:schemeClr val="tx1"/>
                      </a:solidFill>
                    </a:lnB>
                  </a:tcPr>
                </a:tc>
                <a:tc>
                  <a:txBody>
                    <a:bodyPr/>
                    <a:lstStyle/>
                    <a:p>
                      <a:pPr lvl="0" algn="ctr">
                        <a:buNone/>
                      </a:pPr>
                      <a:r>
                        <a:rPr lang="en-US" sz="1800" b="1" dirty="0">
                          <a:solidFill>
                            <a:srgbClr val="FF0000"/>
                          </a:solidFill>
                          <a:latin typeface="Arial"/>
                        </a:rPr>
                        <a:t>0</a:t>
                      </a:r>
                      <a:endParaRPr lang="en-US" sz="1800" b="1" dirty="0">
                        <a:solidFill>
                          <a:schemeClr val="tx1"/>
                        </a:solidFill>
                        <a:latin typeface="Arial"/>
                      </a:endParaRPr>
                    </a:p>
                  </a:txBody>
                  <a:tcPr marL="91437" marR="91437" marT="45726" marB="45726">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37" marR="91437" marT="45726" marB="45726">
                    <a:lnR w="12700">
                      <a:solidFill>
                        <a:schemeClr val="tx1"/>
                      </a:solidFill>
                    </a:lnR>
                    <a:lnB w="12700">
                      <a:solidFill>
                        <a:schemeClr val="tx1"/>
                      </a:solidFill>
                    </a:lnB>
                  </a:tcPr>
                </a:tc>
                <a:tc>
                  <a:txBody>
                    <a:bodyPr/>
                    <a:lstStyle/>
                    <a:p>
                      <a:pPr lvl="0" algn="ctr">
                        <a:buNone/>
                      </a:pPr>
                      <a:r>
                        <a:rPr lang="en-US" sz="1800" b="1" dirty="0">
                          <a:solidFill>
                            <a:srgbClr val="FF0000"/>
                          </a:solidFill>
                          <a:latin typeface="Arial"/>
                        </a:rPr>
                        <a:t>8</a:t>
                      </a:r>
                      <a:endParaRPr lang="en-US" sz="1800" b="1" dirty="0">
                        <a:solidFill>
                          <a:schemeClr val="tx1"/>
                        </a:solidFill>
                        <a:latin typeface="Arial"/>
                      </a:endParaRPr>
                    </a:p>
                  </a:txBody>
                  <a:tcPr marL="91437" marR="91437" marT="45726" marB="45726">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3"/>
                  </a:ext>
                </a:extLst>
              </a:tr>
              <a:tr h="370887">
                <a:tc>
                  <a:txBody>
                    <a:bodyPr/>
                    <a:lstStyle/>
                    <a:p>
                      <a:pPr lvl="0" algn="ctr">
                        <a:buNone/>
                      </a:pPr>
                      <a:endParaRPr lang="en-US" sz="1800" b="1" dirty="0">
                        <a:solidFill>
                          <a:schemeClr val="tx1"/>
                        </a:solidFill>
                        <a:latin typeface="Arial"/>
                      </a:endParaRPr>
                    </a:p>
                  </a:txBody>
                  <a:tcPr marL="91437" marR="91437" marT="45726" marB="45726">
                    <a:lnL w="12700">
                      <a:solidFill>
                        <a:schemeClr val="tx1"/>
                      </a:solidFill>
                    </a:lnL>
                    <a:lnT w="12700">
                      <a:solidFill>
                        <a:schemeClr val="tx1"/>
                      </a:solidFill>
                    </a:lnT>
                    <a:lnB w="0">
                      <a:noFill/>
                    </a:lnB>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37" marR="91437"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8</a:t>
                      </a:r>
                    </a:p>
                  </a:txBody>
                  <a:tcPr marL="91437" marR="91437" marT="45726" marB="45726">
                    <a:lnL w="12700">
                      <a:solidFill>
                        <a:schemeClr val="tx1"/>
                      </a:solidFill>
                    </a:lnL>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37" marR="91437" marT="45726" marB="45726">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37" marR="91437" marT="45726" marB="45726">
                    <a:lnT w="12700">
                      <a:solidFill>
                        <a:schemeClr val="tx1"/>
                      </a:solidFill>
                    </a:lnT>
                    <a:lnB w="0">
                      <a:noFill/>
                    </a:lnB>
                  </a:tcPr>
                </a:tc>
                <a:tc>
                  <a:txBody>
                    <a:bodyPr/>
                    <a:lstStyle/>
                    <a:p>
                      <a:pPr lvl="0" algn="ctr">
                        <a:buNone/>
                      </a:pPr>
                      <a:r>
                        <a:rPr lang="en-US" sz="1800" b="1" dirty="0">
                          <a:solidFill>
                            <a:schemeClr val="tx1"/>
                          </a:solidFill>
                          <a:latin typeface="Arial"/>
                        </a:rPr>
                        <a:t>0</a:t>
                      </a:r>
                    </a:p>
                  </a:txBody>
                  <a:tcPr marL="91437" marR="91437" marT="45726" marB="45726">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37" marR="91437"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64</a:t>
                      </a:r>
                    </a:p>
                  </a:txBody>
                  <a:tcPr marL="91437" marR="91437" marT="45726" marB="45726">
                    <a:lnL w="12700">
                      <a:solidFill>
                        <a:schemeClr val="tx1"/>
                      </a:solidFill>
                    </a:lnL>
                    <a:lnR w="12700">
                      <a:solidFill>
                        <a:schemeClr val="tx1"/>
                      </a:solidFill>
                    </a:lnR>
                    <a:lnT w="12700">
                      <a:solidFill>
                        <a:schemeClr val="tx1"/>
                      </a:solidFill>
                    </a:lnT>
                    <a:lnB w="0">
                      <a:noFill/>
                    </a:lnB>
                  </a:tcPr>
                </a:tc>
                <a:extLst>
                  <a:ext uri="{0D108BD9-81ED-4DB2-BD59-A6C34878D82A}">
                    <a16:rowId xmlns:a16="http://schemas.microsoft.com/office/drawing/2014/main" val="10004"/>
                  </a:ext>
                </a:extLst>
              </a:tr>
              <a:tr h="370886">
                <a:tc>
                  <a:txBody>
                    <a:bodyPr/>
                    <a:lstStyle/>
                    <a:p>
                      <a:pPr lvl="0" algn="ctr">
                        <a:buNone/>
                      </a:pPr>
                      <a:endParaRPr lang="en-US" sz="1800" b="1" dirty="0">
                        <a:solidFill>
                          <a:schemeClr val="tx1"/>
                        </a:solidFill>
                        <a:latin typeface="Arial"/>
                      </a:endParaRPr>
                    </a:p>
                  </a:txBody>
                  <a:tcPr marL="91437" marR="91437" marT="45726" marB="45726">
                    <a:lnL w="0">
                      <a:noFill/>
                    </a:lnL>
                    <a:lnR w="0">
                      <a:noFill/>
                    </a:lnR>
                    <a:lnT w="0">
                      <a:noFill/>
                    </a:lnT>
                    <a:lnB w="0">
                      <a:noFill/>
                    </a:lnB>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37" marR="91437" marT="45726" marB="45726">
                    <a:lnL w="0">
                      <a:noFill/>
                    </a:lnL>
                    <a:lnR w="12700">
                      <a:solidFill>
                        <a:schemeClr val="tx1"/>
                      </a:solidFill>
                    </a:lnR>
                    <a:lnT w="0">
                      <a:noFill/>
                    </a:lnT>
                    <a:lnB w="0">
                      <a:noFill/>
                    </a:lnB>
                  </a:tcPr>
                </a:tc>
                <a:tc>
                  <a:txBody>
                    <a:bodyPr/>
                    <a:lstStyle/>
                    <a:p>
                      <a:pPr lvl="0" algn="ctr">
                        <a:buNone/>
                      </a:pPr>
                      <a:r>
                        <a:rPr lang="en-US" sz="1800" b="1" dirty="0">
                          <a:solidFill>
                            <a:schemeClr val="tx1"/>
                          </a:solidFill>
                          <a:latin typeface="Arial"/>
                        </a:rPr>
                        <a:t>0</a:t>
                      </a:r>
                    </a:p>
                  </a:txBody>
                  <a:tcPr marL="91437" marR="91437" marT="45726" marB="45726">
                    <a:lnL w="12700">
                      <a:solidFill>
                        <a:schemeClr val="tx1"/>
                      </a:solidFill>
                    </a:lnL>
                    <a:lnR w="0">
                      <a:noFill/>
                    </a:lnR>
                    <a:lnT w="0">
                      <a:noFill/>
                    </a:lnT>
                    <a:lnB w="0">
                      <a:noFill/>
                    </a:lnB>
                  </a:tcPr>
                </a:tc>
                <a:tc>
                  <a:txBody>
                    <a:bodyPr/>
                    <a:lstStyle/>
                    <a:p>
                      <a:pPr lvl="0" algn="ctr">
                        <a:buNone/>
                      </a:pPr>
                      <a:r>
                        <a:rPr lang="en-US" sz="1800" b="1" dirty="0">
                          <a:solidFill>
                            <a:schemeClr val="tx1"/>
                          </a:solidFill>
                          <a:latin typeface="Arial"/>
                        </a:rPr>
                        <a:t>-30</a:t>
                      </a:r>
                    </a:p>
                  </a:txBody>
                  <a:tcPr marL="91437" marR="9143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-33</a:t>
                      </a:r>
                      <a:endParaRPr lang="en-US" sz="1800" dirty="0"/>
                    </a:p>
                  </a:txBody>
                  <a:tcPr marL="91437" marR="9143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0</a:t>
                      </a:r>
                    </a:p>
                  </a:txBody>
                  <a:tcPr marL="91437" marR="9143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-40</a:t>
                      </a:r>
                    </a:p>
                  </a:txBody>
                  <a:tcPr marL="91437" marR="91437" marT="45726" marB="45726">
                    <a:lnL w="0">
                      <a:noFill/>
                    </a:lnL>
                    <a:lnR w="0">
                      <a:noFill/>
                    </a:lnR>
                    <a:lnT w="0">
                      <a:noFill/>
                    </a:lnT>
                    <a:lnB w="0">
                      <a:noFill/>
                    </a:lnB>
                  </a:tcPr>
                </a:tc>
                <a:tc>
                  <a:txBody>
                    <a:bodyPr/>
                    <a:lstStyle/>
                    <a:p>
                      <a:pPr lvl="0" algn="ctr">
                        <a:buNone/>
                      </a:pPr>
                      <a:endParaRPr lang="en-US" sz="1800" b="1" dirty="0">
                        <a:solidFill>
                          <a:schemeClr val="tx1"/>
                        </a:solidFill>
                        <a:latin typeface="Arial"/>
                      </a:endParaRPr>
                    </a:p>
                  </a:txBody>
                  <a:tcPr marL="91437" marR="91437" marT="45726" marB="45726">
                    <a:lnL w="0">
                      <a:noFill/>
                    </a:lnL>
                    <a:lnR w="0">
                      <a:noFill/>
                    </a:lnR>
                    <a:lnT w="0">
                      <a:noFill/>
                    </a:lnT>
                    <a:lnB w="0">
                      <a:no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Google Shape;192;p32" descr="KL Deemed to be University Logo">
            <a:extLst>
              <a:ext uri="{FF2B5EF4-FFF2-40B4-BE49-F238E27FC236}">
                <a16:creationId xmlns:a16="http://schemas.microsoft.com/office/drawing/2014/main" id="{1308BC74-29A2-86CA-3924-5640225814C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Google Shape;193;p32">
            <a:extLst>
              <a:ext uri="{FF2B5EF4-FFF2-40B4-BE49-F238E27FC236}">
                <a16:creationId xmlns:a16="http://schemas.microsoft.com/office/drawing/2014/main" id="{2377331E-FF09-E4F6-87A5-5AFB79636188}"/>
              </a:ext>
            </a:extLst>
          </p:cNvPr>
          <p:cNvSpPr>
            <a:spLocks noChangeArrowheads="1"/>
          </p:cNvSpPr>
          <p:nvPr/>
        </p:nvSpPr>
        <p:spPr bwMode="auto">
          <a:xfrm>
            <a:off x="2654300" y="112713"/>
            <a:ext cx="7213600" cy="579437"/>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Step 8: Identify the optimal values</a:t>
            </a:r>
          </a:p>
        </p:txBody>
      </p:sp>
      <p:pic>
        <p:nvPicPr>
          <p:cNvPr id="62468" name="Google Shape;194;p32" descr="KL Deemed to be University Logo">
            <a:extLst>
              <a:ext uri="{FF2B5EF4-FFF2-40B4-BE49-F238E27FC236}">
                <a16:creationId xmlns:a16="http://schemas.microsoft.com/office/drawing/2014/main" id="{63DCE1AA-A817-75C4-C2AC-12A330AF0C01}"/>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Google Shape;196;p32">
            <a:extLst>
              <a:ext uri="{FF2B5EF4-FFF2-40B4-BE49-F238E27FC236}">
                <a16:creationId xmlns:a16="http://schemas.microsoft.com/office/drawing/2014/main" id="{97A13024-F0F0-9C6E-3468-71B6D1531A4B}"/>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0" name="Slide Number Placeholder 3">
            <a:extLst>
              <a:ext uri="{FF2B5EF4-FFF2-40B4-BE49-F238E27FC236}">
                <a16:creationId xmlns:a16="http://schemas.microsoft.com/office/drawing/2014/main" id="{2BC13BA1-A145-CE55-838A-19D4D46DB419}"/>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4C311289-EFD0-4C43-8934-521EF6569203}" type="slidenum">
              <a:rPr lang="en-IN" altLang="en-US" sz="2200" smtClean="0">
                <a:solidFill>
                  <a:schemeClr val="accent1"/>
                </a:solidFill>
              </a:rPr>
              <a:pPr>
                <a:lnSpc>
                  <a:spcPct val="100000"/>
                </a:lnSpc>
                <a:spcBef>
                  <a:spcPct val="0"/>
                </a:spcBef>
                <a:buClrTx/>
                <a:buSzTx/>
                <a:buFontTx/>
                <a:buNone/>
              </a:pPr>
              <a:t>25</a:t>
            </a:fld>
            <a:endParaRPr lang="en-IN" altLang="en-US" sz="2200">
              <a:solidFill>
                <a:schemeClr val="accent1"/>
              </a:solidFill>
            </a:endParaRPr>
          </a:p>
        </p:txBody>
      </p:sp>
      <p:sp>
        <p:nvSpPr>
          <p:cNvPr id="62471" name="Google Shape;195;p32">
            <a:extLst>
              <a:ext uri="{FF2B5EF4-FFF2-40B4-BE49-F238E27FC236}">
                <a16:creationId xmlns:a16="http://schemas.microsoft.com/office/drawing/2014/main" id="{EB955C9B-A931-86BB-26C1-A1A9CBB7CB3B}"/>
              </a:ext>
            </a:extLst>
          </p:cNvPr>
          <p:cNvSpPr txBox="1">
            <a:spLocks noChangeArrowheads="1"/>
          </p:cNvSpPr>
          <p:nvPr/>
        </p:nvSpPr>
        <p:spPr bwMode="auto">
          <a:xfrm>
            <a:off x="412750" y="4008438"/>
            <a:ext cx="11134725" cy="20304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457200" indent="-355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 typeface="Arial,Sans-Serif"/>
              <a:buChar char="•"/>
            </a:pPr>
            <a:r>
              <a:rPr lang="en-US" altLang="en-US">
                <a:latin typeface="Times New Roman" panose="02020603050405020304" pitchFamily="18" charset="0"/>
                <a:cs typeface="Times New Roman" panose="02020603050405020304" pitchFamily="18" charset="0"/>
              </a:rPr>
              <a:t>Here, the basic variables are x1 and s1. The non-basic variables are x2, x3 and s2.</a:t>
            </a:r>
          </a:p>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The optimal value of a non-basic variable is zero.</a:t>
            </a:r>
          </a:p>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If a variable is basic, the value of b (in the last column) of the row containing 1 is the optimal value.</a:t>
            </a:r>
          </a:p>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The 1 of the basic variable x1 is found in the 2nd row. The value of b in the second row is 8. This is the optimal value of the variable x1. The optimal value of s1 is 2.</a:t>
            </a:r>
          </a:p>
          <a:p>
            <a:pPr eaLnBrk="1" hangingPunct="1">
              <a:lnSpc>
                <a:spcPct val="100000"/>
              </a:lnSpc>
              <a:spcBef>
                <a:spcPct val="0"/>
              </a:spcBef>
              <a:buClrTx/>
              <a:buSzPts val="2000"/>
            </a:pPr>
            <a:r>
              <a:rPr lang="en-US" altLang="en-US">
                <a:latin typeface="Times New Roman" panose="02020603050405020304" pitchFamily="18" charset="0"/>
                <a:cs typeface="Times New Roman" panose="02020603050405020304" pitchFamily="18" charset="0"/>
              </a:rPr>
              <a:t>The optimal objective value is 64 and can be found when x1=8, x2=0, and x3=0.</a:t>
            </a:r>
          </a:p>
        </p:txBody>
      </p:sp>
      <p:graphicFrame>
        <p:nvGraphicFramePr>
          <p:cNvPr id="6" name="Table 11">
            <a:extLst>
              <a:ext uri="{FF2B5EF4-FFF2-40B4-BE49-F238E27FC236}">
                <a16:creationId xmlns:a16="http://schemas.microsoft.com/office/drawing/2014/main" id="{EF938B55-DAAC-49A2-64ED-B6B1C79F3907}"/>
              </a:ext>
            </a:extLst>
          </p:cNvPr>
          <p:cNvGraphicFramePr>
            <a:graphicFrameLocks noGrp="1"/>
          </p:cNvGraphicFramePr>
          <p:nvPr/>
        </p:nvGraphicFramePr>
        <p:xfrm>
          <a:off x="1863725" y="1120775"/>
          <a:ext cx="8440738" cy="2468563"/>
        </p:xfrm>
        <a:graphic>
          <a:graphicData uri="http://schemas.openxmlformats.org/drawingml/2006/table">
            <a:tbl>
              <a:tblPr firstRow="1" bandRow="1">
                <a:tableStyleId>{2D5ABB26-0587-4C30-8999-92F81FD0307C}</a:tableStyleId>
              </a:tblPr>
              <a:tblGrid>
                <a:gridCol w="974377">
                  <a:extLst>
                    <a:ext uri="{9D8B030D-6E8A-4147-A177-3AD203B41FA5}">
                      <a16:colId xmlns:a16="http://schemas.microsoft.com/office/drawing/2014/main" val="20000"/>
                    </a:ext>
                  </a:extLst>
                </a:gridCol>
                <a:gridCol w="1189135">
                  <a:extLst>
                    <a:ext uri="{9D8B030D-6E8A-4147-A177-3AD203B41FA5}">
                      <a16:colId xmlns:a16="http://schemas.microsoft.com/office/drawing/2014/main" val="20001"/>
                    </a:ext>
                  </a:extLst>
                </a:gridCol>
                <a:gridCol w="1054950">
                  <a:extLst>
                    <a:ext uri="{9D8B030D-6E8A-4147-A177-3AD203B41FA5}">
                      <a16:colId xmlns:a16="http://schemas.microsoft.com/office/drawing/2014/main" val="20002"/>
                    </a:ext>
                  </a:extLst>
                </a:gridCol>
                <a:gridCol w="1072819">
                  <a:extLst>
                    <a:ext uri="{9D8B030D-6E8A-4147-A177-3AD203B41FA5}">
                      <a16:colId xmlns:a16="http://schemas.microsoft.com/office/drawing/2014/main" val="20003"/>
                    </a:ext>
                  </a:extLst>
                </a:gridCol>
                <a:gridCol w="1072819">
                  <a:extLst>
                    <a:ext uri="{9D8B030D-6E8A-4147-A177-3AD203B41FA5}">
                      <a16:colId xmlns:a16="http://schemas.microsoft.com/office/drawing/2014/main" val="20004"/>
                    </a:ext>
                  </a:extLst>
                </a:gridCol>
                <a:gridCol w="1072819">
                  <a:extLst>
                    <a:ext uri="{9D8B030D-6E8A-4147-A177-3AD203B41FA5}">
                      <a16:colId xmlns:a16="http://schemas.microsoft.com/office/drawing/2014/main" val="20005"/>
                    </a:ext>
                  </a:extLst>
                </a:gridCol>
                <a:gridCol w="1072819">
                  <a:extLst>
                    <a:ext uri="{9D8B030D-6E8A-4147-A177-3AD203B41FA5}">
                      <a16:colId xmlns:a16="http://schemas.microsoft.com/office/drawing/2014/main" val="20006"/>
                    </a:ext>
                  </a:extLst>
                </a:gridCol>
                <a:gridCol w="931000">
                  <a:extLst>
                    <a:ext uri="{9D8B030D-6E8A-4147-A177-3AD203B41FA5}">
                      <a16:colId xmlns:a16="http://schemas.microsoft.com/office/drawing/2014/main" val="20007"/>
                    </a:ext>
                  </a:extLst>
                </a:gridCol>
              </a:tblGrid>
              <a:tr h="496158">
                <a:tc>
                  <a:txBody>
                    <a:bodyPr/>
                    <a:lstStyle/>
                    <a:p>
                      <a:pPr lvl="0" algn="ctr">
                        <a:buNone/>
                      </a:pPr>
                      <a:endParaRPr lang="en-US" sz="1800" b="1" dirty="0">
                        <a:latin typeface="Arial"/>
                      </a:endParaRPr>
                    </a:p>
                  </a:txBody>
                  <a:tcPr marL="91437" marR="91437" marT="45726" marB="45726">
                    <a:lnL w="12700">
                      <a:solidFill>
                        <a:schemeClr val="tx1"/>
                      </a:solidFill>
                    </a:lnL>
                    <a:lnB w="12700">
                      <a:solidFill>
                        <a:schemeClr val="tx1"/>
                      </a:solidFill>
                    </a:lnB>
                  </a:tcPr>
                </a:tc>
                <a:tc>
                  <a:txBody>
                    <a:bodyPr/>
                    <a:lstStyle/>
                    <a:p>
                      <a:pPr lvl="0" algn="ctr">
                        <a:buNone/>
                      </a:pPr>
                      <a:r>
                        <a:rPr lang="en-US" sz="1800" b="1" dirty="0">
                          <a:latin typeface="Arial"/>
                        </a:rPr>
                        <a:t>C</a:t>
                      </a:r>
                      <a:r>
                        <a:rPr lang="en-US" sz="1800" b="1" baseline="-25000" dirty="0">
                          <a:latin typeface="Arial"/>
                        </a:rPr>
                        <a:t>j</a:t>
                      </a:r>
                      <a:r>
                        <a:rPr lang="en-US" sz="1800" b="1" dirty="0">
                          <a:latin typeface="Arial"/>
                        </a:rPr>
                        <a:t> -&gt;</a:t>
                      </a:r>
                    </a:p>
                  </a:txBody>
                  <a:tcPr marL="91437" marR="91437" marT="45726" marB="45726">
                    <a:lnR w="12700">
                      <a:solidFill>
                        <a:schemeClr val="tx1"/>
                      </a:solidFill>
                    </a:lnR>
                    <a:lnB w="12700">
                      <a:solidFill>
                        <a:schemeClr val="tx1"/>
                      </a:solidFill>
                    </a:lnB>
                  </a:tcPr>
                </a:tc>
                <a:tc>
                  <a:txBody>
                    <a:bodyPr/>
                    <a:lstStyle/>
                    <a:p>
                      <a:pPr lvl="0" algn="ctr">
                        <a:buNone/>
                      </a:pPr>
                      <a:r>
                        <a:rPr lang="en-US" sz="1800" b="1" dirty="0">
                          <a:latin typeface="Arial"/>
                        </a:rPr>
                        <a:t>8</a:t>
                      </a:r>
                      <a:endParaRPr lang="en-US" sz="1800" b="1" dirty="0">
                        <a:solidFill>
                          <a:srgbClr val="FF0000"/>
                        </a:solidFill>
                        <a:latin typeface="Arial"/>
                      </a:endParaRPr>
                    </a:p>
                  </a:txBody>
                  <a:tcPr marL="91437" marR="91437" marT="45726" marB="45726">
                    <a:lnL w="12700">
                      <a:solidFill>
                        <a:schemeClr val="tx1"/>
                      </a:solidFill>
                    </a:lnL>
                    <a:lnB w="12700">
                      <a:solidFill>
                        <a:schemeClr val="tx1"/>
                      </a:solidFill>
                    </a:lnB>
                  </a:tcPr>
                </a:tc>
                <a:tc>
                  <a:txBody>
                    <a:bodyPr/>
                    <a:lstStyle/>
                    <a:p>
                      <a:pPr lvl="0" algn="ctr">
                        <a:buNone/>
                      </a:pPr>
                      <a:r>
                        <a:rPr lang="en-US" sz="1800" b="1" dirty="0">
                          <a:latin typeface="Arial"/>
                        </a:rPr>
                        <a:t>10</a:t>
                      </a:r>
                      <a:endParaRPr lang="en-US" sz="1800" b="1" dirty="0">
                        <a:solidFill>
                          <a:srgbClr val="FF0000"/>
                        </a:solidFill>
                        <a:latin typeface="Arial"/>
                      </a:endParaRPr>
                    </a:p>
                  </a:txBody>
                  <a:tcPr marL="91437" marR="91437" marT="45726" marB="45726">
                    <a:lnB w="12700">
                      <a:solidFill>
                        <a:schemeClr val="tx1"/>
                      </a:solidFill>
                    </a:lnB>
                  </a:tcPr>
                </a:tc>
                <a:tc>
                  <a:txBody>
                    <a:bodyPr/>
                    <a:lstStyle/>
                    <a:p>
                      <a:pPr lvl="0" algn="ctr">
                        <a:buNone/>
                      </a:pPr>
                      <a:r>
                        <a:rPr lang="en-US" sz="1800" b="1" dirty="0">
                          <a:latin typeface="Arial"/>
                        </a:rPr>
                        <a:t>7</a:t>
                      </a:r>
                      <a:endParaRPr lang="en-US" sz="1800" b="1" dirty="0">
                        <a:solidFill>
                          <a:srgbClr val="FF0000"/>
                        </a:solidFill>
                        <a:latin typeface="Arial"/>
                      </a:endParaRPr>
                    </a:p>
                  </a:txBody>
                  <a:tcPr marL="91437" marR="91437" marT="45726" marB="45726">
                    <a:lnB w="12700">
                      <a:solidFill>
                        <a:schemeClr val="tx1"/>
                      </a:solidFill>
                    </a:lnB>
                  </a:tcPr>
                </a:tc>
                <a:tc>
                  <a:txBody>
                    <a:bodyPr/>
                    <a:lstStyle/>
                    <a:p>
                      <a:pPr lvl="0" algn="ctr">
                        <a:buNone/>
                      </a:pPr>
                      <a:r>
                        <a:rPr lang="en-US" sz="1800" b="1" dirty="0">
                          <a:latin typeface="Arial"/>
                        </a:rPr>
                        <a:t>0</a:t>
                      </a:r>
                    </a:p>
                  </a:txBody>
                  <a:tcPr marL="91437" marR="91437" marT="45726" marB="45726">
                    <a:lnB w="12700">
                      <a:solidFill>
                        <a:schemeClr val="tx1"/>
                      </a:solidFill>
                    </a:lnB>
                  </a:tcPr>
                </a:tc>
                <a:tc>
                  <a:txBody>
                    <a:bodyPr/>
                    <a:lstStyle/>
                    <a:p>
                      <a:pPr lvl="0" algn="ctr">
                        <a:buNone/>
                      </a:pPr>
                      <a:r>
                        <a:rPr lang="en-US" sz="1800" b="1" dirty="0">
                          <a:latin typeface="Arial"/>
                        </a:rPr>
                        <a:t>0</a:t>
                      </a:r>
                      <a:endParaRPr lang="en-US" sz="1800" b="1" dirty="0">
                        <a:solidFill>
                          <a:srgbClr val="FF0000"/>
                        </a:solidFill>
                        <a:latin typeface="Arial"/>
                      </a:endParaRPr>
                    </a:p>
                  </a:txBody>
                  <a:tcPr marL="91437" marR="91437" marT="45726" marB="45726">
                    <a:lnR w="12700">
                      <a:solidFill>
                        <a:schemeClr val="tx1"/>
                      </a:solidFill>
                    </a:lnR>
                    <a:lnB w="12700">
                      <a:solidFill>
                        <a:schemeClr val="tx1"/>
                      </a:solidFill>
                    </a:lnB>
                  </a:tcPr>
                </a:tc>
                <a:tc>
                  <a:txBody>
                    <a:bodyPr/>
                    <a:lstStyle/>
                    <a:p>
                      <a:pPr algn="ctr"/>
                      <a:endParaRPr lang="en-US" sz="1800" b="1" dirty="0">
                        <a:latin typeface="Arial"/>
                      </a:endParaRPr>
                    </a:p>
                  </a:txBody>
                  <a:tcPr marL="91437" marR="91437" marT="45726" marB="45726">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0"/>
                  </a:ext>
                </a:extLst>
              </a:tr>
              <a:tr h="457260">
                <a:tc>
                  <a:txBody>
                    <a:bodyPr/>
                    <a:lstStyle/>
                    <a:p>
                      <a:pPr lvl="0" algn="ctr">
                        <a:buNone/>
                      </a:pPr>
                      <a:r>
                        <a:rPr lang="en-US" sz="1800" b="1" err="1">
                          <a:latin typeface="Arial"/>
                        </a:rPr>
                        <a:t>C</a:t>
                      </a:r>
                      <a:r>
                        <a:rPr lang="en-US" sz="1800" b="1" baseline="-25000" err="1">
                          <a:latin typeface="Arial"/>
                        </a:rPr>
                        <a:t>Bi</a:t>
                      </a:r>
                    </a:p>
                  </a:txBody>
                  <a:tcPr marL="91437" marR="91437"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200" b="1" dirty="0">
                          <a:latin typeface="Arial"/>
                        </a:rPr>
                        <a:t>Basic variables</a:t>
                      </a:r>
                    </a:p>
                  </a:txBody>
                  <a:tcPr marL="91437" marR="91437"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x1</a:t>
                      </a:r>
                      <a:endParaRPr lang="en-US" sz="1800"/>
                    </a:p>
                  </a:txBody>
                  <a:tcPr marL="91437" marR="91437" marT="45726" marB="45726">
                    <a:lnL w="12700">
                      <a:solidFill>
                        <a:schemeClr val="tx1"/>
                      </a:solidFill>
                    </a:lnL>
                    <a:lnT w="12700">
                      <a:solidFill>
                        <a:schemeClr val="tx1"/>
                      </a:solidFill>
                    </a:lnT>
                    <a:lnB w="12700">
                      <a:solidFill>
                        <a:schemeClr val="tx1"/>
                      </a:solidFill>
                    </a:lnB>
                  </a:tcPr>
                </a:tc>
                <a:tc>
                  <a:txBody>
                    <a:bodyPr/>
                    <a:lstStyle/>
                    <a:p>
                      <a:pPr lvl="0" algn="ctr">
                        <a:buNone/>
                      </a:pPr>
                      <a:r>
                        <a:rPr lang="en-US" sz="1800" b="1" dirty="0">
                          <a:latin typeface="Arial"/>
                        </a:rPr>
                        <a:t>x2</a:t>
                      </a:r>
                      <a:endParaRPr lang="en-US" sz="1800"/>
                    </a:p>
                  </a:txBody>
                  <a:tcPr marL="91437" marR="91437" marT="45726" marB="45726">
                    <a:lnT w="12700">
                      <a:solidFill>
                        <a:schemeClr val="tx1"/>
                      </a:solidFill>
                    </a:lnT>
                    <a:lnB w="12700">
                      <a:solidFill>
                        <a:schemeClr val="tx1"/>
                      </a:solidFill>
                    </a:lnB>
                  </a:tcPr>
                </a:tc>
                <a:tc>
                  <a:txBody>
                    <a:bodyPr/>
                    <a:lstStyle/>
                    <a:p>
                      <a:pPr lvl="0" algn="ctr">
                        <a:buNone/>
                      </a:pPr>
                      <a:r>
                        <a:rPr lang="en-US" sz="1800" b="1" dirty="0">
                          <a:latin typeface="Arial"/>
                        </a:rPr>
                        <a:t>x3</a:t>
                      </a:r>
                      <a:endParaRPr lang="en-US" sz="1800"/>
                    </a:p>
                  </a:txBody>
                  <a:tcPr marL="91437" marR="91437" marT="45726" marB="45726">
                    <a:lnT w="12700">
                      <a:solidFill>
                        <a:schemeClr val="tx1"/>
                      </a:solidFill>
                    </a:lnT>
                    <a:lnB w="12700">
                      <a:solidFill>
                        <a:schemeClr val="tx1"/>
                      </a:solidFill>
                    </a:lnB>
                  </a:tcPr>
                </a:tc>
                <a:tc>
                  <a:txBody>
                    <a:bodyPr/>
                    <a:lstStyle/>
                    <a:p>
                      <a:pPr lvl="0" algn="ctr">
                        <a:buNone/>
                      </a:pPr>
                      <a:r>
                        <a:rPr lang="en-US" sz="1800" b="1" dirty="0">
                          <a:latin typeface="Arial"/>
                        </a:rPr>
                        <a:t>s1</a:t>
                      </a:r>
                      <a:endParaRPr lang="en-US" sz="1800"/>
                    </a:p>
                  </a:txBody>
                  <a:tcPr marL="91437" marR="91437" marT="45726" marB="45726">
                    <a:lnT w="12700">
                      <a:solidFill>
                        <a:schemeClr val="tx1"/>
                      </a:solidFill>
                    </a:lnT>
                    <a:lnB w="12700">
                      <a:solidFill>
                        <a:schemeClr val="tx1"/>
                      </a:solidFill>
                    </a:lnB>
                  </a:tcPr>
                </a:tc>
                <a:tc>
                  <a:txBody>
                    <a:bodyPr/>
                    <a:lstStyle/>
                    <a:p>
                      <a:pPr lvl="0" algn="ctr">
                        <a:buNone/>
                      </a:pPr>
                      <a:r>
                        <a:rPr lang="en-US" sz="1800" b="1" dirty="0">
                          <a:latin typeface="Arial"/>
                        </a:rPr>
                        <a:t>s2</a:t>
                      </a:r>
                      <a:endParaRPr lang="en-US" sz="1800"/>
                    </a:p>
                  </a:txBody>
                  <a:tcPr marL="91437" marR="91437" marT="45726" marB="45726">
                    <a:lnR w="12700">
                      <a:solidFill>
                        <a:schemeClr val="tx1"/>
                      </a:solidFill>
                    </a:lnR>
                    <a:lnT w="12700">
                      <a:solidFill>
                        <a:schemeClr val="tx1"/>
                      </a:solidFill>
                    </a:lnT>
                    <a:lnB w="12700">
                      <a:solidFill>
                        <a:schemeClr val="tx1"/>
                      </a:solidFill>
                    </a:lnB>
                  </a:tcPr>
                </a:tc>
                <a:tc>
                  <a:txBody>
                    <a:bodyPr/>
                    <a:lstStyle/>
                    <a:p>
                      <a:pPr lvl="0" algn="ctr">
                        <a:buNone/>
                      </a:pPr>
                      <a:r>
                        <a:rPr lang="en-US" sz="1800" b="1" dirty="0">
                          <a:latin typeface="Arial"/>
                        </a:rPr>
                        <a:t>b</a:t>
                      </a:r>
                      <a:endParaRPr lang="en-US" sz="1800"/>
                    </a:p>
                  </a:txBody>
                  <a:tcPr marL="91437" marR="91437" marT="45726" marB="45726">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377080">
                <a:tc>
                  <a:txBody>
                    <a:bodyPr/>
                    <a:lstStyle/>
                    <a:p>
                      <a:pPr lvl="0" algn="ctr">
                        <a:buNone/>
                      </a:pPr>
                      <a:r>
                        <a:rPr lang="en-US" sz="1800" b="1" dirty="0">
                          <a:latin typeface="Arial"/>
                        </a:rPr>
                        <a:t>0</a:t>
                      </a:r>
                    </a:p>
                  </a:txBody>
                  <a:tcPr marL="91437" marR="91437" marT="45726" marB="45726">
                    <a:lnL w="12700">
                      <a:solidFill>
                        <a:schemeClr val="tx1"/>
                      </a:solidFill>
                    </a:lnL>
                    <a:lnT w="12700">
                      <a:solidFill>
                        <a:schemeClr val="tx1"/>
                      </a:solidFill>
                    </a:lnT>
                  </a:tcPr>
                </a:tc>
                <a:tc>
                  <a:txBody>
                    <a:bodyPr/>
                    <a:lstStyle/>
                    <a:p>
                      <a:pPr lvl="0" algn="ctr">
                        <a:buNone/>
                      </a:pPr>
                      <a:r>
                        <a:rPr lang="en-US" sz="1800" b="1" dirty="0">
                          <a:solidFill>
                            <a:schemeClr val="accent3"/>
                          </a:solidFill>
                          <a:latin typeface="Arial"/>
                        </a:rPr>
                        <a:t>s1</a:t>
                      </a:r>
                    </a:p>
                  </a:txBody>
                  <a:tcPr marL="91437" marR="91437" marT="45726" marB="45726">
                    <a:lnR w="12700">
                      <a:solidFill>
                        <a:schemeClr val="tx1"/>
                      </a:solidFill>
                    </a:lnR>
                    <a:lnT w="12700">
                      <a:solidFill>
                        <a:schemeClr val="tx1"/>
                      </a:solidFill>
                    </a:lnT>
                  </a:tcPr>
                </a:tc>
                <a:tc>
                  <a:txBody>
                    <a:bodyPr/>
                    <a:lstStyle/>
                    <a:p>
                      <a:pPr lvl="0" algn="ctr">
                        <a:buNone/>
                      </a:pPr>
                      <a:r>
                        <a:rPr lang="en-US" sz="1800" b="1" kern="1200" dirty="0">
                          <a:solidFill>
                            <a:srgbClr val="FF0000"/>
                          </a:solidFill>
                          <a:latin typeface="Arial"/>
                          <a:ea typeface="+mn-ea"/>
                          <a:cs typeface="+mn-cs"/>
                        </a:rPr>
                        <a:t>0</a:t>
                      </a:r>
                    </a:p>
                  </a:txBody>
                  <a:tcPr marL="91437" marR="91437" marT="45726" marB="45726">
                    <a:lnL w="12700">
                      <a:solidFill>
                        <a:schemeClr val="tx1"/>
                      </a:solidFill>
                    </a:lnL>
                    <a:lnT w="12700">
                      <a:solidFill>
                        <a:schemeClr val="tx1"/>
                      </a:solidFill>
                    </a:lnT>
                  </a:tcPr>
                </a:tc>
                <a:tc>
                  <a:txBody>
                    <a:bodyPr/>
                    <a:lstStyle/>
                    <a:p>
                      <a:pPr lvl="0" algn="ctr">
                        <a:buNone/>
                      </a:pPr>
                      <a:r>
                        <a:rPr lang="en-US" sz="1800" b="1" dirty="0">
                          <a:solidFill>
                            <a:srgbClr val="FF0000"/>
                          </a:solidFill>
                          <a:latin typeface="Arial"/>
                        </a:rPr>
                        <a:t>-2/5</a:t>
                      </a:r>
                    </a:p>
                  </a:txBody>
                  <a:tcPr marL="91437" marR="91437" marT="45726" marB="45726">
                    <a:lnT w="12700">
                      <a:solidFill>
                        <a:schemeClr val="tx1"/>
                      </a:solidFill>
                    </a:lnT>
                  </a:tcPr>
                </a:tc>
                <a:tc>
                  <a:txBody>
                    <a:bodyPr/>
                    <a:lstStyle/>
                    <a:p>
                      <a:pPr lvl="0" algn="ctr">
                        <a:buNone/>
                      </a:pPr>
                      <a:r>
                        <a:rPr lang="en-US" sz="1800" b="1" dirty="0">
                          <a:solidFill>
                            <a:srgbClr val="FF0000"/>
                          </a:solidFill>
                          <a:latin typeface="Arial"/>
                        </a:rPr>
                        <a:t>-3/5</a:t>
                      </a:r>
                    </a:p>
                  </a:txBody>
                  <a:tcPr marL="91437" marR="91437" marT="45726" marB="45726">
                    <a:lnT w="12700">
                      <a:solidFill>
                        <a:schemeClr val="tx1"/>
                      </a:solidFill>
                    </a:lnT>
                  </a:tcPr>
                </a:tc>
                <a:tc>
                  <a:txBody>
                    <a:bodyPr/>
                    <a:lstStyle/>
                    <a:p>
                      <a:pPr lvl="0" algn="ctr">
                        <a:buNone/>
                      </a:pPr>
                      <a:r>
                        <a:rPr lang="en-US" sz="1800" b="1" dirty="0">
                          <a:solidFill>
                            <a:srgbClr val="FF0000"/>
                          </a:solidFill>
                          <a:latin typeface="Arial"/>
                        </a:rPr>
                        <a:t>1</a:t>
                      </a:r>
                    </a:p>
                  </a:txBody>
                  <a:tcPr marL="91437" marR="91437" marT="45726" marB="45726">
                    <a:lnT w="12700">
                      <a:solidFill>
                        <a:schemeClr val="tx1"/>
                      </a:solidFill>
                    </a:lnT>
                  </a:tcPr>
                </a:tc>
                <a:tc>
                  <a:txBody>
                    <a:bodyPr/>
                    <a:lstStyle/>
                    <a:p>
                      <a:pPr lvl="0" algn="ctr">
                        <a:buNone/>
                      </a:pPr>
                      <a:r>
                        <a:rPr lang="en-US" sz="1800" b="1" dirty="0">
                          <a:solidFill>
                            <a:srgbClr val="FF0000"/>
                          </a:solidFill>
                          <a:latin typeface="Arial"/>
                        </a:rPr>
                        <a:t>-13/5</a:t>
                      </a:r>
                    </a:p>
                  </a:txBody>
                  <a:tcPr marL="91437" marR="91437" marT="45726" marB="45726">
                    <a:lnR w="12700">
                      <a:solidFill>
                        <a:schemeClr val="tx1"/>
                      </a:solidFill>
                    </a:lnR>
                    <a:lnT w="12700">
                      <a:solidFill>
                        <a:schemeClr val="tx1"/>
                      </a:solidFill>
                    </a:lnT>
                  </a:tcPr>
                </a:tc>
                <a:tc>
                  <a:txBody>
                    <a:bodyPr/>
                    <a:lstStyle/>
                    <a:p>
                      <a:pPr lvl="0" algn="ctr">
                        <a:buNone/>
                      </a:pPr>
                      <a:r>
                        <a:rPr lang="en-US" sz="1800" b="1" dirty="0">
                          <a:solidFill>
                            <a:srgbClr val="FF0000"/>
                          </a:solidFill>
                          <a:latin typeface="Arial"/>
                        </a:rPr>
                        <a:t>2</a:t>
                      </a:r>
                    </a:p>
                  </a:txBody>
                  <a:tcPr marL="91437" marR="91437" marT="45726" marB="45726">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2"/>
                  </a:ext>
                </a:extLst>
              </a:tr>
              <a:tr h="396292">
                <a:tc>
                  <a:txBody>
                    <a:bodyPr/>
                    <a:lstStyle/>
                    <a:p>
                      <a:pPr lvl="0" algn="ctr">
                        <a:buNone/>
                      </a:pPr>
                      <a:r>
                        <a:rPr lang="en-US" sz="1800" b="1" dirty="0">
                          <a:solidFill>
                            <a:schemeClr val="tx1"/>
                          </a:solidFill>
                          <a:latin typeface="Arial"/>
                        </a:rPr>
                        <a:t>8</a:t>
                      </a:r>
                    </a:p>
                  </a:txBody>
                  <a:tcPr marL="91437" marR="91437" marT="45726" marB="45726">
                    <a:lnL w="12700">
                      <a:solidFill>
                        <a:schemeClr val="tx1"/>
                      </a:solidFill>
                    </a:lnL>
                    <a:lnB w="12700">
                      <a:solidFill>
                        <a:schemeClr val="tx1"/>
                      </a:solidFill>
                    </a:lnB>
                  </a:tcPr>
                </a:tc>
                <a:tc>
                  <a:txBody>
                    <a:bodyPr/>
                    <a:lstStyle/>
                    <a:p>
                      <a:pPr lvl="0" algn="ctr">
                        <a:buNone/>
                      </a:pPr>
                      <a:r>
                        <a:rPr lang="en-US" sz="1800" b="1" kern="1200" dirty="0">
                          <a:solidFill>
                            <a:schemeClr val="accent3"/>
                          </a:solidFill>
                          <a:latin typeface="Arial"/>
                          <a:ea typeface="+mn-ea"/>
                          <a:cs typeface="+mn-cs"/>
                        </a:rPr>
                        <a:t>x1</a:t>
                      </a:r>
                    </a:p>
                  </a:txBody>
                  <a:tcPr marL="91437" marR="91437" marT="45726" marB="45726">
                    <a:lnR w="12700">
                      <a:solidFill>
                        <a:schemeClr val="tx1"/>
                      </a:solidFill>
                    </a:lnR>
                    <a:lnB w="12700">
                      <a:solidFill>
                        <a:schemeClr val="tx1"/>
                      </a:solidFill>
                    </a:lnB>
                  </a:tcPr>
                </a:tc>
                <a:tc>
                  <a:txBody>
                    <a:bodyPr/>
                    <a:lstStyle/>
                    <a:p>
                      <a:pPr lvl="0" algn="ctr">
                        <a:buNone/>
                      </a:pPr>
                      <a:r>
                        <a:rPr lang="en-US" sz="2000" b="1" kern="1200" dirty="0">
                          <a:solidFill>
                            <a:srgbClr val="FF00FF"/>
                          </a:solidFill>
                          <a:latin typeface="+mn-lt"/>
                          <a:ea typeface="+mn-ea"/>
                          <a:cs typeface="+mn-cs"/>
                        </a:rPr>
                        <a:t>1</a:t>
                      </a:r>
                      <a:endParaRPr lang="en-US" sz="1800" b="1" dirty="0">
                        <a:solidFill>
                          <a:schemeClr val="tx1"/>
                        </a:solidFill>
                        <a:latin typeface="Arial"/>
                      </a:endParaRPr>
                    </a:p>
                  </a:txBody>
                  <a:tcPr marL="91437" marR="91437" marT="45726" marB="45726">
                    <a:lnL w="12700">
                      <a:solidFill>
                        <a:schemeClr val="tx1"/>
                      </a:solidFill>
                    </a:lnL>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37" marR="91437" marT="45726" marB="45726">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37" marR="91437" marT="45726" marB="45726">
                    <a:lnB w="12700">
                      <a:solidFill>
                        <a:schemeClr val="tx1"/>
                      </a:solidFill>
                    </a:lnB>
                  </a:tcPr>
                </a:tc>
                <a:tc>
                  <a:txBody>
                    <a:bodyPr/>
                    <a:lstStyle/>
                    <a:p>
                      <a:pPr lvl="0" algn="ctr">
                        <a:buNone/>
                      </a:pPr>
                      <a:r>
                        <a:rPr lang="en-US" sz="1800" b="1" dirty="0">
                          <a:solidFill>
                            <a:srgbClr val="FF0000"/>
                          </a:solidFill>
                          <a:latin typeface="Arial"/>
                        </a:rPr>
                        <a:t>0</a:t>
                      </a:r>
                      <a:endParaRPr lang="en-US" sz="1800" b="1" dirty="0">
                        <a:solidFill>
                          <a:schemeClr val="tx1"/>
                        </a:solidFill>
                        <a:latin typeface="Arial"/>
                      </a:endParaRPr>
                    </a:p>
                  </a:txBody>
                  <a:tcPr marL="91437" marR="91437" marT="45726" marB="45726">
                    <a:lnB w="12700">
                      <a:solidFill>
                        <a:schemeClr val="tx1"/>
                      </a:solidFill>
                    </a:lnB>
                  </a:tcPr>
                </a:tc>
                <a:tc>
                  <a:txBody>
                    <a:bodyPr/>
                    <a:lstStyle/>
                    <a:p>
                      <a:pPr lvl="0" algn="ctr">
                        <a:buNone/>
                      </a:pPr>
                      <a:r>
                        <a:rPr lang="en-US" sz="1800" b="1" dirty="0">
                          <a:solidFill>
                            <a:srgbClr val="FF0000"/>
                          </a:solidFill>
                          <a:latin typeface="Arial"/>
                        </a:rPr>
                        <a:t>5</a:t>
                      </a:r>
                      <a:endParaRPr lang="en-US" sz="1800" b="1" dirty="0">
                        <a:solidFill>
                          <a:schemeClr val="tx1"/>
                        </a:solidFill>
                        <a:latin typeface="Arial"/>
                      </a:endParaRPr>
                    </a:p>
                  </a:txBody>
                  <a:tcPr marL="91437" marR="91437" marT="45726" marB="45726">
                    <a:lnR w="12700">
                      <a:solidFill>
                        <a:schemeClr val="tx1"/>
                      </a:solidFill>
                    </a:lnR>
                    <a:lnB w="12700">
                      <a:solidFill>
                        <a:schemeClr val="tx1"/>
                      </a:solidFill>
                    </a:lnB>
                  </a:tcPr>
                </a:tc>
                <a:tc>
                  <a:txBody>
                    <a:bodyPr/>
                    <a:lstStyle/>
                    <a:p>
                      <a:pPr lvl="0" algn="ctr">
                        <a:buNone/>
                      </a:pPr>
                      <a:r>
                        <a:rPr lang="en-US" sz="1800" b="1" dirty="0">
                          <a:solidFill>
                            <a:srgbClr val="FF0000"/>
                          </a:solidFill>
                          <a:latin typeface="Arial"/>
                        </a:rPr>
                        <a:t>8</a:t>
                      </a:r>
                      <a:endParaRPr lang="en-US" sz="1800" b="1" dirty="0">
                        <a:solidFill>
                          <a:schemeClr val="tx1"/>
                        </a:solidFill>
                        <a:latin typeface="Arial"/>
                      </a:endParaRPr>
                    </a:p>
                  </a:txBody>
                  <a:tcPr marL="91437" marR="91437" marT="45726" marB="45726">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3"/>
                  </a:ext>
                </a:extLst>
              </a:tr>
              <a:tr h="370887">
                <a:tc>
                  <a:txBody>
                    <a:bodyPr/>
                    <a:lstStyle/>
                    <a:p>
                      <a:pPr lvl="0" algn="ctr">
                        <a:buNone/>
                      </a:pPr>
                      <a:endParaRPr lang="en-US" sz="1800" b="1" dirty="0">
                        <a:solidFill>
                          <a:schemeClr val="tx1"/>
                        </a:solidFill>
                        <a:latin typeface="Arial"/>
                      </a:endParaRPr>
                    </a:p>
                  </a:txBody>
                  <a:tcPr marL="91437" marR="91437" marT="45726" marB="45726">
                    <a:lnL w="12700">
                      <a:solidFill>
                        <a:schemeClr val="tx1"/>
                      </a:solidFill>
                    </a:lnL>
                    <a:lnT w="12700">
                      <a:solidFill>
                        <a:schemeClr val="tx1"/>
                      </a:solidFill>
                    </a:lnT>
                    <a:lnB w="0">
                      <a:noFill/>
                    </a:lnB>
                  </a:tcPr>
                </a:tc>
                <a:tc>
                  <a:txBody>
                    <a:bodyPr/>
                    <a:lstStyle/>
                    <a:p>
                      <a:pPr lvl="0" algn="ctr">
                        <a:buNone/>
                      </a:pPr>
                      <a:r>
                        <a:rPr lang="en-US" sz="1800" b="1" err="1">
                          <a:solidFill>
                            <a:schemeClr val="tx1"/>
                          </a:solidFill>
                          <a:latin typeface="Arial"/>
                        </a:rPr>
                        <a:t>z</a:t>
                      </a:r>
                      <a:r>
                        <a:rPr lang="en-US" sz="1800" b="1" baseline="-25000" err="1">
                          <a:solidFill>
                            <a:schemeClr val="tx1"/>
                          </a:solidFill>
                          <a:latin typeface="Arial"/>
                        </a:rPr>
                        <a:t>j</a:t>
                      </a:r>
                    </a:p>
                  </a:txBody>
                  <a:tcPr marL="91437" marR="91437"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8</a:t>
                      </a:r>
                    </a:p>
                  </a:txBody>
                  <a:tcPr marL="91437" marR="91437" marT="45726" marB="45726">
                    <a:lnL w="12700">
                      <a:solidFill>
                        <a:schemeClr val="tx1"/>
                      </a:solidFill>
                    </a:lnL>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37" marR="91437" marT="45726" marB="45726">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37" marR="91437" marT="45726" marB="45726">
                    <a:lnT w="12700">
                      <a:solidFill>
                        <a:schemeClr val="tx1"/>
                      </a:solidFill>
                    </a:lnT>
                    <a:lnB w="0">
                      <a:noFill/>
                    </a:lnB>
                  </a:tcPr>
                </a:tc>
                <a:tc>
                  <a:txBody>
                    <a:bodyPr/>
                    <a:lstStyle/>
                    <a:p>
                      <a:pPr lvl="0" algn="ctr">
                        <a:buNone/>
                      </a:pPr>
                      <a:r>
                        <a:rPr lang="en-US" sz="1800" b="1" dirty="0">
                          <a:solidFill>
                            <a:schemeClr val="tx1"/>
                          </a:solidFill>
                          <a:latin typeface="Arial"/>
                        </a:rPr>
                        <a:t>0</a:t>
                      </a:r>
                    </a:p>
                  </a:txBody>
                  <a:tcPr marL="91437" marR="91437" marT="45726" marB="45726">
                    <a:lnT w="12700">
                      <a:solidFill>
                        <a:schemeClr val="tx1"/>
                      </a:solidFill>
                    </a:lnT>
                    <a:lnB w="0">
                      <a:noFill/>
                    </a:lnB>
                  </a:tcPr>
                </a:tc>
                <a:tc>
                  <a:txBody>
                    <a:bodyPr/>
                    <a:lstStyle/>
                    <a:p>
                      <a:pPr lvl="0" algn="ctr">
                        <a:buNone/>
                      </a:pPr>
                      <a:r>
                        <a:rPr lang="en-US" sz="1800" b="1" dirty="0">
                          <a:solidFill>
                            <a:schemeClr val="tx1"/>
                          </a:solidFill>
                          <a:latin typeface="Arial"/>
                        </a:rPr>
                        <a:t>40</a:t>
                      </a:r>
                    </a:p>
                  </a:txBody>
                  <a:tcPr marL="91437" marR="91437" marT="45726" marB="45726">
                    <a:lnR w="12700">
                      <a:solidFill>
                        <a:schemeClr val="tx1"/>
                      </a:solidFill>
                    </a:lnR>
                    <a:lnT w="12700">
                      <a:solidFill>
                        <a:schemeClr val="tx1"/>
                      </a:solidFill>
                    </a:lnT>
                    <a:lnB w="0">
                      <a:noFill/>
                    </a:lnB>
                  </a:tcPr>
                </a:tc>
                <a:tc>
                  <a:txBody>
                    <a:bodyPr/>
                    <a:lstStyle/>
                    <a:p>
                      <a:pPr lvl="0" algn="ctr">
                        <a:buNone/>
                      </a:pPr>
                      <a:r>
                        <a:rPr lang="en-US" sz="1800" b="1" dirty="0">
                          <a:solidFill>
                            <a:schemeClr val="tx1"/>
                          </a:solidFill>
                          <a:latin typeface="Arial"/>
                        </a:rPr>
                        <a:t>64</a:t>
                      </a:r>
                    </a:p>
                  </a:txBody>
                  <a:tcPr marL="91437" marR="91437" marT="45726" marB="45726">
                    <a:lnL w="12700">
                      <a:solidFill>
                        <a:schemeClr val="tx1"/>
                      </a:solidFill>
                    </a:lnL>
                    <a:lnR w="12700">
                      <a:solidFill>
                        <a:schemeClr val="tx1"/>
                      </a:solidFill>
                    </a:lnR>
                    <a:lnT w="12700">
                      <a:solidFill>
                        <a:schemeClr val="tx1"/>
                      </a:solidFill>
                    </a:lnT>
                    <a:lnB w="0">
                      <a:noFill/>
                    </a:lnB>
                  </a:tcPr>
                </a:tc>
                <a:extLst>
                  <a:ext uri="{0D108BD9-81ED-4DB2-BD59-A6C34878D82A}">
                    <a16:rowId xmlns:a16="http://schemas.microsoft.com/office/drawing/2014/main" val="10004"/>
                  </a:ext>
                </a:extLst>
              </a:tr>
              <a:tr h="370886">
                <a:tc>
                  <a:txBody>
                    <a:bodyPr/>
                    <a:lstStyle/>
                    <a:p>
                      <a:pPr lvl="0" algn="ctr">
                        <a:buNone/>
                      </a:pPr>
                      <a:endParaRPr lang="en-US" sz="1800" b="1" dirty="0">
                        <a:solidFill>
                          <a:schemeClr val="tx1"/>
                        </a:solidFill>
                        <a:latin typeface="Arial"/>
                      </a:endParaRPr>
                    </a:p>
                  </a:txBody>
                  <a:tcPr marL="91437" marR="91437" marT="45726" marB="45726">
                    <a:lnL w="0">
                      <a:noFill/>
                    </a:lnL>
                    <a:lnR w="0">
                      <a:noFill/>
                    </a:lnR>
                    <a:lnT w="0">
                      <a:noFill/>
                    </a:lnT>
                    <a:lnB w="0">
                      <a:noFill/>
                    </a:lnB>
                  </a:tcPr>
                </a:tc>
                <a:tc>
                  <a:txBody>
                    <a:bodyPr/>
                    <a:lstStyle/>
                    <a:p>
                      <a:pPr lvl="0" algn="ctr">
                        <a:buNone/>
                      </a:pPr>
                      <a:r>
                        <a:rPr lang="en-US" sz="2000" b="1" i="0" u="none" strike="noStrike" baseline="-25000" noProof="0" dirty="0">
                          <a:solidFill>
                            <a:srgbClr val="000000"/>
                          </a:solidFill>
                          <a:latin typeface="Arial"/>
                        </a:rPr>
                        <a:t>Cj - </a:t>
                      </a:r>
                      <a:r>
                        <a:rPr lang="en-US" sz="2000" b="1" i="0" u="none" strike="noStrike" baseline="-25000" noProof="0" err="1">
                          <a:solidFill>
                            <a:srgbClr val="000000"/>
                          </a:solidFill>
                          <a:latin typeface="Arial"/>
                        </a:rPr>
                        <a:t>zj</a:t>
                      </a:r>
                      <a:endParaRPr lang="en-US" sz="2000" b="1" i="0" u="none" strike="noStrike" baseline="-25000" noProof="0">
                        <a:solidFill>
                          <a:schemeClr val="tx1"/>
                        </a:solidFill>
                        <a:latin typeface="Arial"/>
                      </a:endParaRPr>
                    </a:p>
                  </a:txBody>
                  <a:tcPr marL="91437" marR="91437" marT="45726" marB="45726">
                    <a:lnL w="0">
                      <a:noFill/>
                    </a:lnL>
                    <a:lnR w="12700">
                      <a:solidFill>
                        <a:schemeClr val="tx1"/>
                      </a:solidFill>
                    </a:lnR>
                    <a:lnT w="0">
                      <a:noFill/>
                    </a:lnT>
                    <a:lnB w="0">
                      <a:noFill/>
                    </a:lnB>
                  </a:tcPr>
                </a:tc>
                <a:tc>
                  <a:txBody>
                    <a:bodyPr/>
                    <a:lstStyle/>
                    <a:p>
                      <a:pPr lvl="0" algn="ctr">
                        <a:buNone/>
                      </a:pPr>
                      <a:r>
                        <a:rPr lang="en-US" sz="1800" b="1" dirty="0">
                          <a:solidFill>
                            <a:schemeClr val="tx1"/>
                          </a:solidFill>
                          <a:latin typeface="Arial"/>
                        </a:rPr>
                        <a:t>0</a:t>
                      </a:r>
                    </a:p>
                  </a:txBody>
                  <a:tcPr marL="91437" marR="91437" marT="45726" marB="45726">
                    <a:lnL w="12700">
                      <a:solidFill>
                        <a:schemeClr val="tx1"/>
                      </a:solidFill>
                    </a:lnL>
                    <a:lnR w="0">
                      <a:noFill/>
                    </a:lnR>
                    <a:lnT w="0">
                      <a:noFill/>
                    </a:lnT>
                    <a:lnB w="0">
                      <a:noFill/>
                    </a:lnB>
                  </a:tcPr>
                </a:tc>
                <a:tc>
                  <a:txBody>
                    <a:bodyPr/>
                    <a:lstStyle/>
                    <a:p>
                      <a:pPr lvl="0" algn="ctr">
                        <a:buNone/>
                      </a:pPr>
                      <a:r>
                        <a:rPr lang="en-US" sz="1800" b="1" dirty="0">
                          <a:solidFill>
                            <a:schemeClr val="tx1"/>
                          </a:solidFill>
                          <a:latin typeface="Arial"/>
                        </a:rPr>
                        <a:t>-30</a:t>
                      </a:r>
                    </a:p>
                  </a:txBody>
                  <a:tcPr marL="91437" marR="9143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-33</a:t>
                      </a:r>
                      <a:endParaRPr lang="en-US" sz="1800" dirty="0"/>
                    </a:p>
                  </a:txBody>
                  <a:tcPr marL="91437" marR="9143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0</a:t>
                      </a:r>
                    </a:p>
                  </a:txBody>
                  <a:tcPr marL="91437" marR="91437" marT="45726" marB="45726">
                    <a:lnL w="0">
                      <a:noFill/>
                    </a:lnL>
                    <a:lnR w="0">
                      <a:noFill/>
                    </a:lnR>
                    <a:lnT w="0">
                      <a:noFill/>
                    </a:lnT>
                    <a:lnB w="0">
                      <a:noFill/>
                    </a:lnB>
                  </a:tcPr>
                </a:tc>
                <a:tc>
                  <a:txBody>
                    <a:bodyPr/>
                    <a:lstStyle/>
                    <a:p>
                      <a:pPr lvl="0" algn="ctr">
                        <a:buNone/>
                      </a:pPr>
                      <a:r>
                        <a:rPr lang="en-US" sz="1800" b="1" dirty="0">
                          <a:solidFill>
                            <a:schemeClr val="tx1"/>
                          </a:solidFill>
                          <a:latin typeface="Arial"/>
                        </a:rPr>
                        <a:t>-40</a:t>
                      </a:r>
                    </a:p>
                  </a:txBody>
                  <a:tcPr marL="91437" marR="91437" marT="45726" marB="45726">
                    <a:lnL w="0">
                      <a:noFill/>
                    </a:lnL>
                    <a:lnR w="0">
                      <a:noFill/>
                    </a:lnR>
                    <a:lnT w="0">
                      <a:noFill/>
                    </a:lnT>
                    <a:lnB w="0">
                      <a:noFill/>
                    </a:lnB>
                  </a:tcPr>
                </a:tc>
                <a:tc>
                  <a:txBody>
                    <a:bodyPr/>
                    <a:lstStyle/>
                    <a:p>
                      <a:pPr lvl="0" algn="ctr">
                        <a:buNone/>
                      </a:pPr>
                      <a:endParaRPr lang="en-US" sz="1800" b="1" dirty="0">
                        <a:solidFill>
                          <a:schemeClr val="tx1"/>
                        </a:solidFill>
                        <a:latin typeface="Arial"/>
                      </a:endParaRPr>
                    </a:p>
                  </a:txBody>
                  <a:tcPr marL="91437" marR="91437" marT="45726" marB="45726">
                    <a:lnL w="0">
                      <a:noFill/>
                    </a:lnL>
                    <a:lnR w="0">
                      <a:noFill/>
                    </a:lnR>
                    <a:lnT w="0">
                      <a:noFill/>
                    </a:lnT>
                    <a:lnB w="0">
                      <a:no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Google Shape;192;p32" descr="KL Deemed to be University Logo">
            <a:extLst>
              <a:ext uri="{FF2B5EF4-FFF2-40B4-BE49-F238E27FC236}">
                <a16:creationId xmlns:a16="http://schemas.microsoft.com/office/drawing/2014/main" id="{D53ABC38-9758-5F38-F08E-F51A8139032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5" name="Google Shape;194;p32" descr="KL Deemed to be University Logo">
            <a:extLst>
              <a:ext uri="{FF2B5EF4-FFF2-40B4-BE49-F238E27FC236}">
                <a16:creationId xmlns:a16="http://schemas.microsoft.com/office/drawing/2014/main" id="{14EBD6D6-0DEF-814C-B235-1BD4EF2327B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6" name="Google Shape;196;p32">
            <a:extLst>
              <a:ext uri="{FF2B5EF4-FFF2-40B4-BE49-F238E27FC236}">
                <a16:creationId xmlns:a16="http://schemas.microsoft.com/office/drawing/2014/main" id="{C03F1C3E-34C9-6911-40E5-CF8567F48E2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Slide Number Placeholder 3">
            <a:extLst>
              <a:ext uri="{FF2B5EF4-FFF2-40B4-BE49-F238E27FC236}">
                <a16:creationId xmlns:a16="http://schemas.microsoft.com/office/drawing/2014/main" id="{23E66B88-7B23-15F1-9604-2AA264AEED24}"/>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69A77791-2815-40E3-938C-251920289B1B}" type="slidenum">
              <a:rPr lang="en-IN" altLang="en-US" sz="2200" smtClean="0">
                <a:solidFill>
                  <a:schemeClr val="accent1"/>
                </a:solidFill>
              </a:rPr>
              <a:pPr>
                <a:lnSpc>
                  <a:spcPct val="100000"/>
                </a:lnSpc>
                <a:spcBef>
                  <a:spcPct val="0"/>
                </a:spcBef>
                <a:buClrTx/>
                <a:buSzTx/>
                <a:buFontTx/>
                <a:buNone/>
              </a:pPr>
              <a:t>26</a:t>
            </a:fld>
            <a:endParaRPr lang="en-IN" altLang="en-US" sz="2200">
              <a:solidFill>
                <a:schemeClr val="accent1"/>
              </a:solidFill>
            </a:endParaRPr>
          </a:p>
        </p:txBody>
      </p:sp>
      <p:sp>
        <p:nvSpPr>
          <p:cNvPr id="64518" name="Google Shape;193;p32">
            <a:extLst>
              <a:ext uri="{FF2B5EF4-FFF2-40B4-BE49-F238E27FC236}">
                <a16:creationId xmlns:a16="http://schemas.microsoft.com/office/drawing/2014/main" id="{11D9F1C4-D307-5E24-F648-6C5FA4A64CE9}"/>
              </a:ext>
            </a:extLst>
          </p:cNvPr>
          <p:cNvSpPr>
            <a:spLocks noChangeArrowheads="1"/>
          </p:cNvSpPr>
          <p:nvPr/>
        </p:nvSpPr>
        <p:spPr bwMode="auto">
          <a:xfrm>
            <a:off x="2330450" y="53975"/>
            <a:ext cx="5788025" cy="579438"/>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Another solved problem</a:t>
            </a:r>
            <a:endParaRPr lang="en-US" altLang="en-US" sz="1800">
              <a:ea typeface="Arial" panose="020B0604020202020204" pitchFamily="34" charset="0"/>
              <a:cs typeface="Calibri" panose="020F0502020204030204" pitchFamily="34" charset="0"/>
            </a:endParaRPr>
          </a:p>
        </p:txBody>
      </p:sp>
      <p:pic>
        <p:nvPicPr>
          <p:cNvPr id="64519" name="Picture 7">
            <a:extLst>
              <a:ext uri="{FF2B5EF4-FFF2-40B4-BE49-F238E27FC236}">
                <a16:creationId xmlns:a16="http://schemas.microsoft.com/office/drawing/2014/main" id="{F603BDAA-4461-A4F3-30C9-7FE4161470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763" y="684213"/>
            <a:ext cx="11022012"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Google Shape;192;p32" descr="KL Deemed to be University Logo">
            <a:extLst>
              <a:ext uri="{FF2B5EF4-FFF2-40B4-BE49-F238E27FC236}">
                <a16:creationId xmlns:a16="http://schemas.microsoft.com/office/drawing/2014/main" id="{49C7CC7C-6153-199A-8988-C3058CFC31D5}"/>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3" name="Google Shape;194;p32" descr="KL Deemed to be University Logo">
            <a:extLst>
              <a:ext uri="{FF2B5EF4-FFF2-40B4-BE49-F238E27FC236}">
                <a16:creationId xmlns:a16="http://schemas.microsoft.com/office/drawing/2014/main" id="{F48A7027-FFEC-30FC-E95B-32FB34964477}"/>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Google Shape;196;p32">
            <a:extLst>
              <a:ext uri="{FF2B5EF4-FFF2-40B4-BE49-F238E27FC236}">
                <a16:creationId xmlns:a16="http://schemas.microsoft.com/office/drawing/2014/main" id="{779D8124-C251-E9C7-C50C-99AC129F4C87}"/>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5" name="Slide Number Placeholder 3">
            <a:extLst>
              <a:ext uri="{FF2B5EF4-FFF2-40B4-BE49-F238E27FC236}">
                <a16:creationId xmlns:a16="http://schemas.microsoft.com/office/drawing/2014/main" id="{FB064645-E0DB-6FD0-2D9E-7FC5E80ECF51}"/>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5F3961DC-EC73-4275-A727-BCEF783F545A}" type="slidenum">
              <a:rPr lang="en-IN" altLang="en-US" sz="2200" smtClean="0">
                <a:solidFill>
                  <a:schemeClr val="accent1"/>
                </a:solidFill>
              </a:rPr>
              <a:pPr>
                <a:lnSpc>
                  <a:spcPct val="100000"/>
                </a:lnSpc>
                <a:spcBef>
                  <a:spcPct val="0"/>
                </a:spcBef>
                <a:buClrTx/>
                <a:buSzTx/>
                <a:buFontTx/>
                <a:buNone/>
              </a:pPr>
              <a:t>27</a:t>
            </a:fld>
            <a:endParaRPr lang="en-IN" altLang="en-US" sz="2200">
              <a:solidFill>
                <a:schemeClr val="accent1"/>
              </a:solidFill>
            </a:endParaRPr>
          </a:p>
        </p:txBody>
      </p:sp>
      <p:sp>
        <p:nvSpPr>
          <p:cNvPr id="66566" name="Google Shape;195;p32">
            <a:extLst>
              <a:ext uri="{FF2B5EF4-FFF2-40B4-BE49-F238E27FC236}">
                <a16:creationId xmlns:a16="http://schemas.microsoft.com/office/drawing/2014/main" id="{12E86E1F-3217-EBB1-FC49-665DFDADBAEF}"/>
              </a:ext>
            </a:extLst>
          </p:cNvPr>
          <p:cNvSpPr txBox="1">
            <a:spLocks noChangeArrowheads="1"/>
          </p:cNvSpPr>
          <p:nvPr/>
        </p:nvSpPr>
        <p:spPr bwMode="auto">
          <a:xfrm>
            <a:off x="1984375" y="600075"/>
            <a:ext cx="5030788" cy="1662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spAutoFit/>
          </a:bodyPr>
          <a:lstStyle>
            <a:lvl1pPr marL="1016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2400">
                <a:latin typeface="Times New Roman" panose="02020603050405020304" pitchFamily="18" charset="0"/>
                <a:cs typeface="Times New Roman" panose="02020603050405020304" pitchFamily="18" charset="0"/>
              </a:rPr>
              <a:t>z = 12x</a:t>
            </a:r>
            <a:r>
              <a:rPr lang="en-US" altLang="en-US" sz="2400" baseline="-25000">
                <a:latin typeface="Times New Roman" panose="02020603050405020304" pitchFamily="18" charset="0"/>
                <a:cs typeface="Times New Roman" panose="02020603050405020304" pitchFamily="18" charset="0"/>
              </a:rPr>
              <a:t>1</a:t>
            </a:r>
            <a:r>
              <a:rPr lang="en-US" altLang="en-US" sz="2400">
                <a:latin typeface="Times New Roman" panose="02020603050405020304" pitchFamily="18" charset="0"/>
                <a:cs typeface="Times New Roman" panose="02020603050405020304" pitchFamily="18" charset="0"/>
              </a:rPr>
              <a:t> + 16x2  + 0s1  + 0s2  </a:t>
            </a:r>
          </a:p>
          <a:p>
            <a:pPr eaLnBrk="1" hangingPunct="1">
              <a:lnSpc>
                <a:spcPct val="100000"/>
              </a:lnSpc>
              <a:spcBef>
                <a:spcPct val="0"/>
              </a:spcBef>
              <a:buClrTx/>
              <a:buSzTx/>
              <a:buFontTx/>
              <a:buNone/>
            </a:pPr>
            <a:r>
              <a:rPr lang="en-US" altLang="en-US" sz="2400">
                <a:latin typeface="Times New Roman" panose="02020603050405020304" pitchFamily="18" charset="0"/>
                <a:cs typeface="Times New Roman" panose="02020603050405020304" pitchFamily="18" charset="0"/>
              </a:rPr>
              <a:t>      10x1 + 20x2  + 1s1  + 0s2  = 120</a:t>
            </a:r>
          </a:p>
          <a:p>
            <a:pPr eaLnBrk="1" hangingPunct="1">
              <a:lnSpc>
                <a:spcPct val="100000"/>
              </a:lnSpc>
              <a:spcBef>
                <a:spcPct val="0"/>
              </a:spcBef>
              <a:buClrTx/>
              <a:buSzTx/>
              <a:buFontTx/>
              <a:buNone/>
            </a:pPr>
            <a:r>
              <a:rPr lang="en-US" altLang="en-US" sz="2400">
                <a:latin typeface="Times New Roman" panose="02020603050405020304" pitchFamily="18" charset="0"/>
                <a:cs typeface="Times New Roman" panose="02020603050405020304" pitchFamily="18" charset="0"/>
              </a:rPr>
              <a:t>       8x1  + 8x2    + 0s1  + 1s2  = 80</a:t>
            </a:r>
          </a:p>
          <a:p>
            <a:pPr eaLnBrk="1" hangingPunct="1">
              <a:lnSpc>
                <a:spcPct val="100000"/>
              </a:lnSpc>
              <a:spcBef>
                <a:spcPct val="0"/>
              </a:spcBef>
              <a:buClrTx/>
              <a:buSzTx/>
              <a:buFontTx/>
              <a:buNone/>
            </a:pPr>
            <a:r>
              <a:rPr lang="en-US" altLang="en-US" sz="2400">
                <a:latin typeface="Times New Roman" panose="02020603050405020304" pitchFamily="18" charset="0"/>
                <a:cs typeface="Times New Roman" panose="02020603050405020304" pitchFamily="18" charset="0"/>
              </a:rPr>
              <a:t>       x1, x2, s1, s2  &gt;=  0</a:t>
            </a:r>
          </a:p>
        </p:txBody>
      </p:sp>
      <p:graphicFrame>
        <p:nvGraphicFramePr>
          <p:cNvPr id="9" name="Table 11">
            <a:extLst>
              <a:ext uri="{FF2B5EF4-FFF2-40B4-BE49-F238E27FC236}">
                <a16:creationId xmlns:a16="http://schemas.microsoft.com/office/drawing/2014/main" id="{3257386B-9054-6961-AD12-0AF151098B0D}"/>
              </a:ext>
            </a:extLst>
          </p:cNvPr>
          <p:cNvGraphicFramePr>
            <a:graphicFrameLocks noGrp="1"/>
          </p:cNvGraphicFramePr>
          <p:nvPr/>
        </p:nvGraphicFramePr>
        <p:xfrm>
          <a:off x="1966913" y="2819400"/>
          <a:ext cx="7875587" cy="3230563"/>
        </p:xfrm>
        <a:graphic>
          <a:graphicData uri="http://schemas.openxmlformats.org/drawingml/2006/table">
            <a:tbl>
              <a:tblPr firstRow="1" bandRow="1">
                <a:tableStyleId>{2D5ABB26-0587-4C30-8999-92F81FD0307C}</a:tableStyleId>
              </a:tblPr>
              <a:tblGrid>
                <a:gridCol w="794964">
                  <a:extLst>
                    <a:ext uri="{9D8B030D-6E8A-4147-A177-3AD203B41FA5}">
                      <a16:colId xmlns:a16="http://schemas.microsoft.com/office/drawing/2014/main" val="20000"/>
                    </a:ext>
                  </a:extLst>
                </a:gridCol>
                <a:gridCol w="1173936">
                  <a:extLst>
                    <a:ext uri="{9D8B030D-6E8A-4147-A177-3AD203B41FA5}">
                      <a16:colId xmlns:a16="http://schemas.microsoft.com/office/drawing/2014/main" val="20001"/>
                    </a:ext>
                  </a:extLst>
                </a:gridCol>
                <a:gridCol w="984448">
                  <a:extLst>
                    <a:ext uri="{9D8B030D-6E8A-4147-A177-3AD203B41FA5}">
                      <a16:colId xmlns:a16="http://schemas.microsoft.com/office/drawing/2014/main" val="20002"/>
                    </a:ext>
                  </a:extLst>
                </a:gridCol>
                <a:gridCol w="984448">
                  <a:extLst>
                    <a:ext uri="{9D8B030D-6E8A-4147-A177-3AD203B41FA5}">
                      <a16:colId xmlns:a16="http://schemas.microsoft.com/office/drawing/2014/main" val="20003"/>
                    </a:ext>
                  </a:extLst>
                </a:gridCol>
                <a:gridCol w="984448">
                  <a:extLst>
                    <a:ext uri="{9D8B030D-6E8A-4147-A177-3AD203B41FA5}">
                      <a16:colId xmlns:a16="http://schemas.microsoft.com/office/drawing/2014/main" val="20004"/>
                    </a:ext>
                  </a:extLst>
                </a:gridCol>
                <a:gridCol w="984448">
                  <a:extLst>
                    <a:ext uri="{9D8B030D-6E8A-4147-A177-3AD203B41FA5}">
                      <a16:colId xmlns:a16="http://schemas.microsoft.com/office/drawing/2014/main" val="20005"/>
                    </a:ext>
                  </a:extLst>
                </a:gridCol>
                <a:gridCol w="852668">
                  <a:extLst>
                    <a:ext uri="{9D8B030D-6E8A-4147-A177-3AD203B41FA5}">
                      <a16:colId xmlns:a16="http://schemas.microsoft.com/office/drawing/2014/main" val="20006"/>
                    </a:ext>
                  </a:extLst>
                </a:gridCol>
                <a:gridCol w="1116228">
                  <a:extLst>
                    <a:ext uri="{9D8B030D-6E8A-4147-A177-3AD203B41FA5}">
                      <a16:colId xmlns:a16="http://schemas.microsoft.com/office/drawing/2014/main" val="20007"/>
                    </a:ext>
                  </a:extLst>
                </a:gridCol>
              </a:tblGrid>
              <a:tr h="457149">
                <a:tc>
                  <a:txBody>
                    <a:bodyPr/>
                    <a:lstStyle/>
                    <a:p>
                      <a:pPr lvl="0" algn="ctr">
                        <a:buNone/>
                      </a:pPr>
                      <a:endParaRPr lang="en-US" sz="2400" b="1" dirty="0">
                        <a:latin typeface="Arial"/>
                      </a:endParaRPr>
                    </a:p>
                  </a:txBody>
                  <a:tcPr marL="91432" marR="91432" marT="45697" marB="45697">
                    <a:lnL w="12700">
                      <a:solidFill>
                        <a:schemeClr val="tx1"/>
                      </a:solidFill>
                    </a:lnL>
                    <a:lnB w="12700">
                      <a:solidFill>
                        <a:schemeClr val="tx1"/>
                      </a:solidFill>
                    </a:lnB>
                  </a:tcPr>
                </a:tc>
                <a:tc>
                  <a:txBody>
                    <a:bodyPr/>
                    <a:lstStyle/>
                    <a:p>
                      <a:pPr lvl="0" algn="ctr">
                        <a:buNone/>
                      </a:pPr>
                      <a:r>
                        <a:rPr lang="en-US" sz="2400" b="1" dirty="0">
                          <a:latin typeface="Arial"/>
                        </a:rPr>
                        <a:t>C</a:t>
                      </a:r>
                      <a:r>
                        <a:rPr lang="en-US" sz="2400" b="1" baseline="-25000" dirty="0">
                          <a:latin typeface="Arial"/>
                        </a:rPr>
                        <a:t>j</a:t>
                      </a:r>
                      <a:r>
                        <a:rPr lang="en-US" sz="2400" b="1" dirty="0">
                          <a:latin typeface="Arial"/>
                        </a:rPr>
                        <a:t> -&gt;</a:t>
                      </a:r>
                    </a:p>
                  </a:txBody>
                  <a:tcPr marL="91432" marR="91432" marT="45697" marB="45697">
                    <a:lnR w="12700">
                      <a:solidFill>
                        <a:schemeClr val="tx1"/>
                      </a:solidFill>
                    </a:lnR>
                    <a:lnB w="12700">
                      <a:solidFill>
                        <a:schemeClr val="tx1"/>
                      </a:solidFill>
                    </a:lnB>
                  </a:tcPr>
                </a:tc>
                <a:tc>
                  <a:txBody>
                    <a:bodyPr/>
                    <a:lstStyle/>
                    <a:p>
                      <a:pPr algn="ctr"/>
                      <a:r>
                        <a:rPr lang="en-US" sz="2400" b="1" dirty="0">
                          <a:latin typeface="Arial"/>
                        </a:rPr>
                        <a:t>12</a:t>
                      </a:r>
                    </a:p>
                  </a:txBody>
                  <a:tcPr marL="91432" marR="91432" marT="45697" marB="45697">
                    <a:lnL w="12700">
                      <a:solidFill>
                        <a:schemeClr val="tx1"/>
                      </a:solidFill>
                    </a:lnL>
                    <a:lnB w="12700">
                      <a:solidFill>
                        <a:schemeClr val="tx1"/>
                      </a:solidFill>
                    </a:lnB>
                  </a:tcPr>
                </a:tc>
                <a:tc>
                  <a:txBody>
                    <a:bodyPr/>
                    <a:lstStyle/>
                    <a:p>
                      <a:pPr algn="ctr"/>
                      <a:r>
                        <a:rPr lang="en-US" sz="2400" b="1" dirty="0">
                          <a:latin typeface="Arial"/>
                        </a:rPr>
                        <a:t>16</a:t>
                      </a:r>
                    </a:p>
                  </a:txBody>
                  <a:tcPr marL="91432" marR="91432" marT="45697" marB="45697">
                    <a:lnB w="12700">
                      <a:solidFill>
                        <a:schemeClr val="tx1"/>
                      </a:solidFill>
                    </a:lnB>
                  </a:tcPr>
                </a:tc>
                <a:tc>
                  <a:txBody>
                    <a:bodyPr/>
                    <a:lstStyle/>
                    <a:p>
                      <a:pPr algn="ctr"/>
                      <a:r>
                        <a:rPr lang="en-US" sz="2400" b="1" dirty="0">
                          <a:latin typeface="Arial"/>
                        </a:rPr>
                        <a:t>0</a:t>
                      </a:r>
                    </a:p>
                  </a:txBody>
                  <a:tcPr marL="91432" marR="91432" marT="45697" marB="45697">
                    <a:lnB w="12700" cap="flat" cmpd="sng" algn="ctr">
                      <a:solidFill>
                        <a:schemeClr val="tx1"/>
                      </a:solidFill>
                      <a:prstDash val="solid"/>
                      <a:round/>
                      <a:headEnd type="none" w="med" len="med"/>
                      <a:tailEnd type="none" w="med" len="med"/>
                    </a:lnB>
                  </a:tcPr>
                </a:tc>
                <a:tc>
                  <a:txBody>
                    <a:bodyPr/>
                    <a:lstStyle/>
                    <a:p>
                      <a:pPr algn="ctr"/>
                      <a:r>
                        <a:rPr lang="en-US" sz="2400" b="1" dirty="0">
                          <a:latin typeface="Arial"/>
                        </a:rPr>
                        <a:t>0</a:t>
                      </a:r>
                    </a:p>
                  </a:txBody>
                  <a:tcPr marL="91432" marR="91432" marT="45697" marB="45697">
                    <a:lnR w="12700">
                      <a:solidFill>
                        <a:schemeClr val="tx1"/>
                      </a:solidFill>
                    </a:lnR>
                    <a:lnB w="12700">
                      <a:solidFill>
                        <a:schemeClr val="tx1"/>
                      </a:solidFill>
                    </a:lnB>
                  </a:tcPr>
                </a:tc>
                <a:tc>
                  <a:txBody>
                    <a:bodyPr/>
                    <a:lstStyle/>
                    <a:p>
                      <a:pPr algn="ctr"/>
                      <a:endParaRPr lang="en-US" sz="2400" b="1" dirty="0">
                        <a:latin typeface="Arial"/>
                      </a:endParaRPr>
                    </a:p>
                  </a:txBody>
                  <a:tcPr marL="91432" marR="91432" marT="45697" marB="45697">
                    <a:lnL w="12700">
                      <a:solidFill>
                        <a:schemeClr val="tx1"/>
                      </a:solidFill>
                    </a:lnL>
                    <a:lnR w="12700">
                      <a:solidFill>
                        <a:schemeClr val="tx1"/>
                      </a:solidFill>
                    </a:lnR>
                    <a:lnB w="12700">
                      <a:solidFill>
                        <a:schemeClr val="tx1"/>
                      </a:solidFill>
                    </a:lnB>
                  </a:tcPr>
                </a:tc>
                <a:tc>
                  <a:txBody>
                    <a:bodyPr/>
                    <a:lstStyle/>
                    <a:p>
                      <a:pPr lvl="0" algn="ctr">
                        <a:buNone/>
                      </a:pPr>
                      <a:endParaRPr lang="en-US" sz="2400" b="1" dirty="0">
                        <a:latin typeface="Arial"/>
                      </a:endParaRPr>
                    </a:p>
                  </a:txBody>
                  <a:tcPr marL="91432" marR="91432" marT="45697" marB="45697">
                    <a:lnL w="12700">
                      <a:solidFill>
                        <a:schemeClr val="tx1"/>
                      </a:solidFill>
                    </a:lnL>
                    <a:lnB w="12700">
                      <a:solidFill>
                        <a:schemeClr val="tx1"/>
                      </a:solidFill>
                    </a:lnB>
                  </a:tcPr>
                </a:tc>
                <a:extLst>
                  <a:ext uri="{0D108BD9-81ED-4DB2-BD59-A6C34878D82A}">
                    <a16:rowId xmlns:a16="http://schemas.microsoft.com/office/drawing/2014/main" val="10000"/>
                  </a:ext>
                </a:extLst>
              </a:tr>
              <a:tr h="579066">
                <a:tc>
                  <a:txBody>
                    <a:bodyPr/>
                    <a:lstStyle/>
                    <a:p>
                      <a:pPr lvl="0" algn="ctr">
                        <a:buNone/>
                      </a:pPr>
                      <a:r>
                        <a:rPr lang="en-US" sz="2400" b="1" err="1">
                          <a:latin typeface="Arial"/>
                        </a:rPr>
                        <a:t>C</a:t>
                      </a:r>
                      <a:r>
                        <a:rPr lang="en-US" sz="2400" b="1" baseline="-25000" err="1">
                          <a:latin typeface="Arial"/>
                        </a:rPr>
                        <a:t>Bi</a:t>
                      </a:r>
                    </a:p>
                  </a:txBody>
                  <a:tcPr marL="91432" marR="91432" marT="45697" marB="45697">
                    <a:lnL w="12700">
                      <a:solidFill>
                        <a:schemeClr val="tx1"/>
                      </a:solidFill>
                    </a:lnL>
                    <a:lnT w="12700">
                      <a:solidFill>
                        <a:schemeClr val="tx1"/>
                      </a:solidFill>
                    </a:lnT>
                    <a:lnB w="12700">
                      <a:solidFill>
                        <a:schemeClr val="tx1"/>
                      </a:solidFill>
                    </a:lnB>
                  </a:tcPr>
                </a:tc>
                <a:tc>
                  <a:txBody>
                    <a:bodyPr/>
                    <a:lstStyle/>
                    <a:p>
                      <a:pPr lvl="0" algn="ctr">
                        <a:buNone/>
                      </a:pPr>
                      <a:r>
                        <a:rPr lang="en-US" sz="1600" b="1" dirty="0">
                          <a:latin typeface="Arial"/>
                        </a:rPr>
                        <a:t>Basic variables</a:t>
                      </a:r>
                    </a:p>
                  </a:txBody>
                  <a:tcPr marL="91432" marR="91432" marT="45697" marB="45697">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x1</a:t>
                      </a:r>
                      <a:endParaRPr lang="en-US" sz="1800"/>
                    </a:p>
                  </a:txBody>
                  <a:tcPr marL="91432" marR="91432" marT="45697" marB="45697">
                    <a:lnL w="12700">
                      <a:solidFill>
                        <a:schemeClr val="tx1"/>
                      </a:solidFill>
                    </a:lnL>
                    <a:lnT w="12700">
                      <a:solidFill>
                        <a:schemeClr val="tx1"/>
                      </a:solidFill>
                    </a:lnT>
                    <a:lnB w="12700">
                      <a:solidFill>
                        <a:schemeClr val="tx1"/>
                      </a:solidFill>
                    </a:lnB>
                  </a:tcPr>
                </a:tc>
                <a:tc>
                  <a:txBody>
                    <a:bodyPr/>
                    <a:lstStyle/>
                    <a:p>
                      <a:pPr lvl="0" algn="ctr">
                        <a:buNone/>
                      </a:pPr>
                      <a:r>
                        <a:rPr lang="en-US" sz="2400" b="1" dirty="0">
                          <a:latin typeface="Arial"/>
                        </a:rPr>
                        <a:t>x2</a:t>
                      </a:r>
                      <a:endParaRPr lang="en-US" sz="1800"/>
                    </a:p>
                  </a:txBody>
                  <a:tcPr marL="91432" marR="91432" marT="45697" marB="45697">
                    <a:lnT w="12700">
                      <a:solidFill>
                        <a:schemeClr val="tx1"/>
                      </a:solidFill>
                    </a:lnT>
                    <a:lnB w="12700">
                      <a:solidFill>
                        <a:schemeClr val="tx1"/>
                      </a:solidFill>
                    </a:lnB>
                  </a:tcPr>
                </a:tc>
                <a:tc>
                  <a:txBody>
                    <a:bodyPr/>
                    <a:lstStyle/>
                    <a:p>
                      <a:pPr lvl="0" algn="ctr">
                        <a:buNone/>
                      </a:pPr>
                      <a:r>
                        <a:rPr lang="en-US" sz="2400" b="1" dirty="0">
                          <a:latin typeface="Arial"/>
                        </a:rPr>
                        <a:t>s1</a:t>
                      </a:r>
                      <a:endParaRPr lang="en-US" sz="1800"/>
                    </a:p>
                  </a:txBody>
                  <a:tcPr marL="91432" marR="91432" marT="45697" marB="4569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2400" b="1" dirty="0">
                          <a:latin typeface="Arial"/>
                        </a:rPr>
                        <a:t>s2</a:t>
                      </a:r>
                      <a:endParaRPr lang="en-US" sz="1800"/>
                    </a:p>
                  </a:txBody>
                  <a:tcPr marL="91432" marR="91432" marT="45697" marB="45697">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b</a:t>
                      </a:r>
                      <a:endParaRPr lang="en-US" sz="1800"/>
                    </a:p>
                  </a:txBody>
                  <a:tcPr marL="91432" marR="91432" marT="45697" marB="45697">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2400" b="1" dirty="0">
                          <a:latin typeface="Arial"/>
                        </a:rPr>
                        <a:t>ratio</a:t>
                      </a:r>
                    </a:p>
                  </a:txBody>
                  <a:tcPr marL="91432" marR="91432" marT="45697" marB="45697">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822902">
                <a:tc>
                  <a:txBody>
                    <a:bodyPr/>
                    <a:lstStyle/>
                    <a:p>
                      <a:pPr lvl="0" algn="ctr">
                        <a:buNone/>
                      </a:pPr>
                      <a:r>
                        <a:rPr lang="en-US" sz="2400" b="1" dirty="0">
                          <a:latin typeface="Arial"/>
                        </a:rPr>
                        <a:t>0</a:t>
                      </a:r>
                    </a:p>
                  </a:txBody>
                  <a:tcPr marL="91432" marR="91432" marT="45697" marB="45697">
                    <a:lnL w="12700">
                      <a:solidFill>
                        <a:schemeClr val="tx1"/>
                      </a:solidFill>
                    </a:lnL>
                    <a:lnT w="12700">
                      <a:solidFill>
                        <a:schemeClr val="tx1"/>
                      </a:solidFill>
                    </a:lnT>
                  </a:tcPr>
                </a:tc>
                <a:tc>
                  <a:txBody>
                    <a:bodyPr/>
                    <a:lstStyle/>
                    <a:p>
                      <a:pPr lvl="0" algn="ctr">
                        <a:buNone/>
                      </a:pPr>
                      <a:r>
                        <a:rPr lang="en-US" sz="2400" b="1" dirty="0">
                          <a:solidFill>
                            <a:schemeClr val="accent3"/>
                          </a:solidFill>
                          <a:latin typeface="Arial"/>
                        </a:rPr>
                        <a:t>s1</a:t>
                      </a:r>
                    </a:p>
                  </a:txBody>
                  <a:tcPr marL="91432" marR="91432" marT="45697" marB="45697">
                    <a:lnR w="12700">
                      <a:solidFill>
                        <a:schemeClr val="tx1"/>
                      </a:solidFill>
                    </a:lnR>
                    <a:lnT w="12700">
                      <a:solidFill>
                        <a:schemeClr val="tx1"/>
                      </a:solidFill>
                    </a:lnT>
                  </a:tcPr>
                </a:tc>
                <a:tc>
                  <a:txBody>
                    <a:bodyPr/>
                    <a:lstStyle/>
                    <a:p>
                      <a:pPr algn="ctr"/>
                      <a:r>
                        <a:rPr lang="en-US" sz="2400" b="1" dirty="0">
                          <a:latin typeface="Arial"/>
                        </a:rPr>
                        <a:t>10</a:t>
                      </a:r>
                    </a:p>
                  </a:txBody>
                  <a:tcPr marL="91432" marR="91432" marT="45697" marB="45697">
                    <a:lnL w="12700">
                      <a:solidFill>
                        <a:schemeClr val="tx1"/>
                      </a:solidFill>
                    </a:lnL>
                    <a:lnT w="12700">
                      <a:solidFill>
                        <a:schemeClr val="tx1"/>
                      </a:solidFill>
                    </a:lnT>
                  </a:tcPr>
                </a:tc>
                <a:tc>
                  <a:txBody>
                    <a:bodyPr/>
                    <a:lstStyle/>
                    <a:p>
                      <a:pPr algn="ctr"/>
                      <a:r>
                        <a:rPr lang="en-US" sz="2400" b="1" dirty="0">
                          <a:latin typeface="Arial"/>
                        </a:rPr>
                        <a:t>20</a:t>
                      </a:r>
                    </a:p>
                  </a:txBody>
                  <a:tcPr marL="91432" marR="91432" marT="45697" marB="45697">
                    <a:lnT w="12700">
                      <a:solidFill>
                        <a:schemeClr val="tx1"/>
                      </a:solidFill>
                    </a:lnT>
                  </a:tcPr>
                </a:tc>
                <a:tc>
                  <a:txBody>
                    <a:bodyPr/>
                    <a:lstStyle/>
                    <a:p>
                      <a:pPr algn="ctr"/>
                      <a:r>
                        <a:rPr lang="en-US" sz="2400" b="1" dirty="0">
                          <a:latin typeface="Arial"/>
                        </a:rPr>
                        <a:t>1</a:t>
                      </a:r>
                    </a:p>
                  </a:txBody>
                  <a:tcPr marL="91432" marR="91432" marT="45697" marB="45697">
                    <a:lnT w="12700" cap="flat" cmpd="sng" algn="ctr">
                      <a:solidFill>
                        <a:schemeClr val="tx1"/>
                      </a:solidFill>
                      <a:prstDash val="solid"/>
                      <a:round/>
                      <a:headEnd type="none" w="med" len="med"/>
                      <a:tailEnd type="none" w="med" len="med"/>
                    </a:lnT>
                  </a:tcPr>
                </a:tc>
                <a:tc>
                  <a:txBody>
                    <a:bodyPr/>
                    <a:lstStyle/>
                    <a:p>
                      <a:pPr algn="ctr"/>
                      <a:r>
                        <a:rPr lang="en-US" sz="2400" b="1" dirty="0">
                          <a:latin typeface="Arial"/>
                        </a:rPr>
                        <a:t>0</a:t>
                      </a:r>
                    </a:p>
                  </a:txBody>
                  <a:tcPr marL="91432" marR="91432" marT="45697" marB="45697">
                    <a:lnR w="12700">
                      <a:solidFill>
                        <a:schemeClr val="tx1"/>
                      </a:solidFill>
                    </a:lnR>
                    <a:lnT w="12700">
                      <a:solidFill>
                        <a:schemeClr val="tx1"/>
                      </a:solidFill>
                    </a:lnT>
                  </a:tcPr>
                </a:tc>
                <a:tc>
                  <a:txBody>
                    <a:bodyPr/>
                    <a:lstStyle/>
                    <a:p>
                      <a:pPr algn="ctr"/>
                      <a:r>
                        <a:rPr lang="en-US" sz="2400" b="1" dirty="0">
                          <a:latin typeface="Arial"/>
                        </a:rPr>
                        <a:t>120</a:t>
                      </a:r>
                    </a:p>
                  </a:txBody>
                  <a:tcPr marL="91432" marR="91432" marT="45697" marB="45697">
                    <a:lnL w="12700">
                      <a:solidFill>
                        <a:schemeClr val="tx1"/>
                      </a:solidFill>
                    </a:lnL>
                    <a:lnR w="12700">
                      <a:solidFill>
                        <a:schemeClr val="tx1"/>
                      </a:solidFill>
                    </a:lnR>
                    <a:lnT w="12700">
                      <a:solidFill>
                        <a:schemeClr val="tx1"/>
                      </a:solidFill>
                    </a:lnT>
                  </a:tcPr>
                </a:tc>
                <a:tc>
                  <a:txBody>
                    <a:bodyPr/>
                    <a:lstStyle/>
                    <a:p>
                      <a:pPr lvl="0" algn="ctr">
                        <a:buNone/>
                      </a:pPr>
                      <a:r>
                        <a:rPr lang="en-US" sz="2400" b="1" dirty="0">
                          <a:latin typeface="Arial"/>
                        </a:rPr>
                        <a:t>120/20</a:t>
                      </a:r>
                    </a:p>
                  </a:txBody>
                  <a:tcPr marL="91432" marR="91432" marT="45697" marB="45697">
                    <a:lnL w="12700">
                      <a:solidFill>
                        <a:schemeClr val="tx1"/>
                      </a:solidFill>
                    </a:lnL>
                    <a:lnT w="12700">
                      <a:solidFill>
                        <a:schemeClr val="tx1"/>
                      </a:solidFill>
                    </a:lnT>
                  </a:tcPr>
                </a:tc>
                <a:extLst>
                  <a:ext uri="{0D108BD9-81ED-4DB2-BD59-A6C34878D82A}">
                    <a16:rowId xmlns:a16="http://schemas.microsoft.com/office/drawing/2014/main" val="10002"/>
                  </a:ext>
                </a:extLst>
              </a:tr>
              <a:tr h="457149">
                <a:tc>
                  <a:txBody>
                    <a:bodyPr/>
                    <a:lstStyle/>
                    <a:p>
                      <a:pPr lvl="0" algn="ctr">
                        <a:buNone/>
                      </a:pPr>
                      <a:r>
                        <a:rPr lang="en-US" sz="2400" b="1" dirty="0">
                          <a:latin typeface="Arial"/>
                        </a:rPr>
                        <a:t>0</a:t>
                      </a:r>
                    </a:p>
                  </a:txBody>
                  <a:tcPr marL="91432" marR="91432" marT="45697" marB="45697">
                    <a:lnL w="12700">
                      <a:solidFill>
                        <a:schemeClr val="tx1"/>
                      </a:solidFill>
                    </a:lnL>
                    <a:lnB w="12700">
                      <a:solidFill>
                        <a:schemeClr val="tx1"/>
                      </a:solidFill>
                    </a:lnB>
                  </a:tcPr>
                </a:tc>
                <a:tc>
                  <a:txBody>
                    <a:bodyPr/>
                    <a:lstStyle/>
                    <a:p>
                      <a:pPr lvl="0" algn="ctr">
                        <a:buNone/>
                      </a:pPr>
                      <a:r>
                        <a:rPr lang="en-US" sz="2400" b="1" dirty="0">
                          <a:solidFill>
                            <a:schemeClr val="accent3"/>
                          </a:solidFill>
                          <a:latin typeface="Arial"/>
                        </a:rPr>
                        <a:t>s2</a:t>
                      </a:r>
                    </a:p>
                  </a:txBody>
                  <a:tcPr marL="91432" marR="91432" marT="45697" marB="45697">
                    <a:lnR w="12700">
                      <a:solidFill>
                        <a:schemeClr val="tx1"/>
                      </a:solidFill>
                    </a:lnR>
                    <a:lnB w="12700">
                      <a:solidFill>
                        <a:schemeClr val="tx1"/>
                      </a:solidFill>
                    </a:lnB>
                  </a:tcPr>
                </a:tc>
                <a:tc>
                  <a:txBody>
                    <a:bodyPr/>
                    <a:lstStyle/>
                    <a:p>
                      <a:pPr algn="ctr"/>
                      <a:r>
                        <a:rPr lang="en-US" sz="2400" b="1" dirty="0">
                          <a:latin typeface="Arial"/>
                        </a:rPr>
                        <a:t>8</a:t>
                      </a:r>
                    </a:p>
                  </a:txBody>
                  <a:tcPr marL="91432" marR="91432" marT="45697" marB="45697">
                    <a:lnL w="12700">
                      <a:solidFill>
                        <a:schemeClr val="tx1"/>
                      </a:solidFill>
                    </a:lnL>
                    <a:lnB w="12700">
                      <a:solidFill>
                        <a:schemeClr val="tx1"/>
                      </a:solidFill>
                    </a:lnB>
                  </a:tcPr>
                </a:tc>
                <a:tc>
                  <a:txBody>
                    <a:bodyPr/>
                    <a:lstStyle/>
                    <a:p>
                      <a:pPr algn="ctr"/>
                      <a:r>
                        <a:rPr lang="en-US" sz="2400" b="1" dirty="0">
                          <a:latin typeface="Arial"/>
                        </a:rPr>
                        <a:t>8</a:t>
                      </a:r>
                    </a:p>
                  </a:txBody>
                  <a:tcPr marL="91432" marR="91432" marT="45697" marB="45697">
                    <a:lnB w="12700">
                      <a:solidFill>
                        <a:schemeClr val="tx1"/>
                      </a:solidFill>
                    </a:lnB>
                  </a:tcPr>
                </a:tc>
                <a:tc>
                  <a:txBody>
                    <a:bodyPr/>
                    <a:lstStyle/>
                    <a:p>
                      <a:pPr algn="ctr"/>
                      <a:r>
                        <a:rPr lang="en-US" sz="2400" b="1" dirty="0">
                          <a:latin typeface="Arial"/>
                        </a:rPr>
                        <a:t>0</a:t>
                      </a:r>
                    </a:p>
                  </a:txBody>
                  <a:tcPr marL="91432" marR="91432" marT="45697" marB="45697">
                    <a:lnB w="12700">
                      <a:solidFill>
                        <a:schemeClr val="tx1"/>
                      </a:solidFill>
                    </a:lnB>
                  </a:tcPr>
                </a:tc>
                <a:tc>
                  <a:txBody>
                    <a:bodyPr/>
                    <a:lstStyle/>
                    <a:p>
                      <a:pPr algn="ctr"/>
                      <a:r>
                        <a:rPr lang="en-US" sz="2400" b="1" dirty="0">
                          <a:latin typeface="Arial"/>
                        </a:rPr>
                        <a:t>1</a:t>
                      </a:r>
                    </a:p>
                  </a:txBody>
                  <a:tcPr marL="91432" marR="91432" marT="45697" marB="45697">
                    <a:lnR w="12700">
                      <a:solidFill>
                        <a:schemeClr val="tx1"/>
                      </a:solidFill>
                    </a:lnR>
                    <a:lnB w="12700">
                      <a:solidFill>
                        <a:schemeClr val="tx1"/>
                      </a:solidFill>
                    </a:lnB>
                  </a:tcPr>
                </a:tc>
                <a:tc>
                  <a:txBody>
                    <a:bodyPr/>
                    <a:lstStyle/>
                    <a:p>
                      <a:pPr algn="ctr"/>
                      <a:r>
                        <a:rPr lang="en-US" sz="2400" b="1" dirty="0">
                          <a:latin typeface="Arial"/>
                        </a:rPr>
                        <a:t>80</a:t>
                      </a:r>
                    </a:p>
                  </a:txBody>
                  <a:tcPr marL="91432" marR="91432" marT="45697" marB="45697">
                    <a:lnL w="12700">
                      <a:solidFill>
                        <a:schemeClr val="tx1"/>
                      </a:solidFill>
                    </a:lnL>
                    <a:lnR w="12700">
                      <a:solidFill>
                        <a:schemeClr val="tx1"/>
                      </a:solidFill>
                    </a:lnR>
                    <a:lnB w="12700">
                      <a:solidFill>
                        <a:schemeClr val="tx1"/>
                      </a:solidFill>
                    </a:lnB>
                  </a:tcPr>
                </a:tc>
                <a:tc>
                  <a:txBody>
                    <a:bodyPr/>
                    <a:lstStyle/>
                    <a:p>
                      <a:pPr lvl="0" algn="ctr">
                        <a:buNone/>
                      </a:pPr>
                      <a:r>
                        <a:rPr lang="en-US" sz="2400" b="1" dirty="0">
                          <a:latin typeface="Arial"/>
                        </a:rPr>
                        <a:t>80/8</a:t>
                      </a:r>
                    </a:p>
                  </a:txBody>
                  <a:tcPr marL="91432" marR="91432" marT="45697" marB="45697">
                    <a:lnL w="12700">
                      <a:solidFill>
                        <a:schemeClr val="tx1"/>
                      </a:solidFill>
                    </a:lnL>
                    <a:lnB w="12700">
                      <a:solidFill>
                        <a:schemeClr val="tx1"/>
                      </a:solidFill>
                    </a:lnB>
                  </a:tcPr>
                </a:tc>
                <a:extLst>
                  <a:ext uri="{0D108BD9-81ED-4DB2-BD59-A6C34878D82A}">
                    <a16:rowId xmlns:a16="http://schemas.microsoft.com/office/drawing/2014/main" val="10003"/>
                  </a:ext>
                </a:extLst>
              </a:tr>
              <a:tr h="457149">
                <a:tc>
                  <a:txBody>
                    <a:bodyPr/>
                    <a:lstStyle/>
                    <a:p>
                      <a:pPr lvl="0" algn="ctr">
                        <a:buNone/>
                      </a:pPr>
                      <a:endParaRPr lang="en-US" sz="2400" b="1" dirty="0">
                        <a:latin typeface="Arial"/>
                      </a:endParaRPr>
                    </a:p>
                  </a:txBody>
                  <a:tcPr marL="91432" marR="91432" marT="45697" marB="45697">
                    <a:lnL w="12700">
                      <a:solidFill>
                        <a:schemeClr val="tx1"/>
                      </a:solidFill>
                    </a:lnL>
                    <a:lnT w="12700">
                      <a:solidFill>
                        <a:schemeClr val="tx1"/>
                      </a:solidFill>
                    </a:lnT>
                  </a:tcPr>
                </a:tc>
                <a:tc>
                  <a:txBody>
                    <a:bodyPr/>
                    <a:lstStyle/>
                    <a:p>
                      <a:pPr lvl="0" algn="ctr">
                        <a:buNone/>
                      </a:pPr>
                      <a:r>
                        <a:rPr lang="en-US" sz="2400" b="0" err="1">
                          <a:solidFill>
                            <a:schemeClr val="tx1"/>
                          </a:solidFill>
                          <a:latin typeface="Arial"/>
                        </a:rPr>
                        <a:t>zj</a:t>
                      </a:r>
                      <a:endParaRPr lang="en-US" sz="2400" b="0" dirty="0" err="1">
                        <a:solidFill>
                          <a:schemeClr val="tx1"/>
                        </a:solidFill>
                        <a:latin typeface="Arial"/>
                      </a:endParaRPr>
                    </a:p>
                  </a:txBody>
                  <a:tcPr marL="91432" marR="91432" marT="45697" marB="45697">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32" marR="91432" marT="45697" marB="45697">
                    <a:lnL w="12700">
                      <a:solidFill>
                        <a:schemeClr val="tx1"/>
                      </a:solidFill>
                    </a:lnL>
                    <a:lnT w="12700">
                      <a:solidFill>
                        <a:schemeClr val="tx1"/>
                      </a:solidFill>
                    </a:lnT>
                  </a:tcPr>
                </a:tc>
                <a:tc>
                  <a:txBody>
                    <a:bodyPr/>
                    <a:lstStyle/>
                    <a:p>
                      <a:pPr lvl="0" algn="ctr">
                        <a:buNone/>
                      </a:pPr>
                      <a:r>
                        <a:rPr lang="en-US" sz="2400" b="1" dirty="0">
                          <a:latin typeface="Arial"/>
                        </a:rPr>
                        <a:t>0</a:t>
                      </a:r>
                    </a:p>
                  </a:txBody>
                  <a:tcPr marL="91432" marR="91432" marT="45697" marB="45697">
                    <a:lnT w="12700">
                      <a:solidFill>
                        <a:schemeClr val="tx1"/>
                      </a:solidFill>
                    </a:lnT>
                  </a:tcPr>
                </a:tc>
                <a:tc>
                  <a:txBody>
                    <a:bodyPr/>
                    <a:lstStyle/>
                    <a:p>
                      <a:pPr lvl="0" algn="ctr">
                        <a:buNone/>
                      </a:pPr>
                      <a:r>
                        <a:rPr lang="en-US" sz="2400" b="1" dirty="0">
                          <a:latin typeface="Arial"/>
                        </a:rPr>
                        <a:t>0</a:t>
                      </a:r>
                    </a:p>
                  </a:txBody>
                  <a:tcPr marL="91432" marR="91432" marT="45697" marB="45697">
                    <a:lnT w="12700">
                      <a:solidFill>
                        <a:schemeClr val="tx1"/>
                      </a:solidFill>
                    </a:lnT>
                  </a:tcPr>
                </a:tc>
                <a:tc>
                  <a:txBody>
                    <a:bodyPr/>
                    <a:lstStyle/>
                    <a:p>
                      <a:pPr lvl="0" algn="ctr">
                        <a:buNone/>
                      </a:pPr>
                      <a:r>
                        <a:rPr lang="en-US" sz="2400" b="1" dirty="0">
                          <a:latin typeface="Arial"/>
                        </a:rPr>
                        <a:t>0</a:t>
                      </a:r>
                    </a:p>
                  </a:txBody>
                  <a:tcPr marL="91432" marR="91432" marT="45697" marB="45697">
                    <a:lnR w="12700">
                      <a:solidFill>
                        <a:schemeClr val="tx1"/>
                      </a:solidFill>
                    </a:lnR>
                    <a:lnT w="12700">
                      <a:solidFill>
                        <a:schemeClr val="tx1"/>
                      </a:solidFill>
                    </a:lnT>
                  </a:tcPr>
                </a:tc>
                <a:tc>
                  <a:txBody>
                    <a:bodyPr/>
                    <a:lstStyle/>
                    <a:p>
                      <a:pPr lvl="0" algn="ctr">
                        <a:buNone/>
                      </a:pPr>
                      <a:r>
                        <a:rPr lang="en-US" sz="2400" b="1" dirty="0">
                          <a:latin typeface="Arial"/>
                        </a:rPr>
                        <a:t>0</a:t>
                      </a:r>
                    </a:p>
                  </a:txBody>
                  <a:tcPr marL="91432" marR="91432" marT="45697" marB="45697">
                    <a:lnL w="12700">
                      <a:solidFill>
                        <a:schemeClr val="tx1"/>
                      </a:solidFill>
                    </a:lnL>
                    <a:lnR w="12700">
                      <a:solidFill>
                        <a:schemeClr val="tx1"/>
                      </a:solidFill>
                    </a:lnR>
                    <a:lnT w="12700">
                      <a:solidFill>
                        <a:schemeClr val="tx1"/>
                      </a:solidFill>
                    </a:lnT>
                  </a:tcPr>
                </a:tc>
                <a:tc>
                  <a:txBody>
                    <a:bodyPr/>
                    <a:lstStyle/>
                    <a:p>
                      <a:pPr lvl="0" algn="ctr">
                        <a:buNone/>
                      </a:pPr>
                      <a:endParaRPr lang="en-US" sz="2400" b="1" dirty="0">
                        <a:latin typeface="Arial"/>
                      </a:endParaRPr>
                    </a:p>
                  </a:txBody>
                  <a:tcPr marL="91432" marR="91432" marT="45697" marB="45697">
                    <a:lnL w="12700">
                      <a:solidFill>
                        <a:schemeClr val="tx1"/>
                      </a:solidFill>
                    </a:lnL>
                    <a:lnT w="12700">
                      <a:solidFill>
                        <a:schemeClr val="tx1"/>
                      </a:solidFill>
                    </a:lnT>
                  </a:tcPr>
                </a:tc>
                <a:extLst>
                  <a:ext uri="{0D108BD9-81ED-4DB2-BD59-A6C34878D82A}">
                    <a16:rowId xmlns:a16="http://schemas.microsoft.com/office/drawing/2014/main" val="10004"/>
                  </a:ext>
                </a:extLst>
              </a:tr>
              <a:tr h="457149">
                <a:tc>
                  <a:txBody>
                    <a:bodyPr/>
                    <a:lstStyle/>
                    <a:p>
                      <a:pPr lvl="0" algn="ctr">
                        <a:buNone/>
                      </a:pPr>
                      <a:endParaRPr lang="en-US" sz="2400" b="1" dirty="0">
                        <a:latin typeface="Arial"/>
                      </a:endParaRPr>
                    </a:p>
                  </a:txBody>
                  <a:tcPr marL="91432" marR="91432" marT="45697" marB="45697">
                    <a:lnL w="12700">
                      <a:solidFill>
                        <a:schemeClr val="tx1"/>
                      </a:solidFill>
                    </a:lnL>
                  </a:tcPr>
                </a:tc>
                <a:tc>
                  <a:txBody>
                    <a:bodyPr/>
                    <a:lstStyle/>
                    <a:p>
                      <a:pPr lvl="0" algn="ctr">
                        <a:buNone/>
                      </a:pPr>
                      <a:r>
                        <a:rPr lang="en-US" sz="2400" b="0" dirty="0">
                          <a:solidFill>
                            <a:schemeClr val="tx1"/>
                          </a:solidFill>
                          <a:latin typeface="Arial"/>
                        </a:rPr>
                        <a:t>Cj - </a:t>
                      </a:r>
                      <a:r>
                        <a:rPr lang="en-US" sz="2400" b="0" err="1">
                          <a:solidFill>
                            <a:schemeClr val="tx1"/>
                          </a:solidFill>
                          <a:latin typeface="Arial"/>
                        </a:rPr>
                        <a:t>zj</a:t>
                      </a:r>
                      <a:endParaRPr lang="en-US" sz="2400" b="0" dirty="0" err="1">
                        <a:solidFill>
                          <a:schemeClr val="tx1"/>
                        </a:solidFill>
                        <a:latin typeface="Arial"/>
                      </a:endParaRPr>
                    </a:p>
                  </a:txBody>
                  <a:tcPr marL="91432" marR="91432" marT="45697" marB="45697">
                    <a:lnR w="12700">
                      <a:solidFill>
                        <a:schemeClr val="tx1"/>
                      </a:solidFill>
                    </a:lnR>
                  </a:tcPr>
                </a:tc>
                <a:tc>
                  <a:txBody>
                    <a:bodyPr/>
                    <a:lstStyle/>
                    <a:p>
                      <a:pPr lvl="0" algn="ctr">
                        <a:buNone/>
                      </a:pPr>
                      <a:r>
                        <a:rPr lang="en-US" sz="2400" b="1" dirty="0">
                          <a:latin typeface="Arial"/>
                        </a:rPr>
                        <a:t>12</a:t>
                      </a:r>
                    </a:p>
                  </a:txBody>
                  <a:tcPr marL="91432" marR="91432" marT="45697" marB="45697">
                    <a:lnL w="12700">
                      <a:solidFill>
                        <a:schemeClr val="tx1"/>
                      </a:solidFill>
                    </a:lnL>
                  </a:tcPr>
                </a:tc>
                <a:tc>
                  <a:txBody>
                    <a:bodyPr/>
                    <a:lstStyle/>
                    <a:p>
                      <a:pPr lvl="0" algn="ctr">
                        <a:buNone/>
                      </a:pPr>
                      <a:r>
                        <a:rPr lang="en-US" sz="2400" b="1" dirty="0">
                          <a:latin typeface="Arial"/>
                        </a:rPr>
                        <a:t>16</a:t>
                      </a:r>
                    </a:p>
                  </a:txBody>
                  <a:tcPr marL="91432" marR="91432" marT="45697" marB="45697"/>
                </a:tc>
                <a:tc>
                  <a:txBody>
                    <a:bodyPr/>
                    <a:lstStyle/>
                    <a:p>
                      <a:pPr lvl="0" algn="ctr">
                        <a:buNone/>
                      </a:pPr>
                      <a:r>
                        <a:rPr lang="en-US" sz="2400" b="1" dirty="0">
                          <a:latin typeface="Arial"/>
                        </a:rPr>
                        <a:t>0</a:t>
                      </a:r>
                    </a:p>
                  </a:txBody>
                  <a:tcPr marL="91432" marR="91432" marT="45697" marB="45697"/>
                </a:tc>
                <a:tc>
                  <a:txBody>
                    <a:bodyPr/>
                    <a:lstStyle/>
                    <a:p>
                      <a:pPr lvl="0" algn="ctr">
                        <a:buNone/>
                      </a:pPr>
                      <a:r>
                        <a:rPr lang="en-US" sz="2400" b="1" dirty="0">
                          <a:latin typeface="Arial"/>
                        </a:rPr>
                        <a:t>0</a:t>
                      </a:r>
                    </a:p>
                  </a:txBody>
                  <a:tcPr marL="91432" marR="91432" marT="45697" marB="45697">
                    <a:lnR w="12700">
                      <a:solidFill>
                        <a:schemeClr val="tx1"/>
                      </a:solidFill>
                    </a:lnR>
                  </a:tcPr>
                </a:tc>
                <a:tc>
                  <a:txBody>
                    <a:bodyPr/>
                    <a:lstStyle/>
                    <a:p>
                      <a:pPr lvl="0" algn="ctr">
                        <a:buNone/>
                      </a:pPr>
                      <a:endParaRPr lang="en-US" sz="2400" b="1" dirty="0">
                        <a:latin typeface="Arial"/>
                      </a:endParaRPr>
                    </a:p>
                  </a:txBody>
                  <a:tcPr marL="91432" marR="91432" marT="45697" marB="45697">
                    <a:lnL w="12700">
                      <a:solidFill>
                        <a:schemeClr val="tx1"/>
                      </a:solidFill>
                    </a:lnL>
                    <a:lnR w="12700">
                      <a:solidFill>
                        <a:schemeClr val="tx1"/>
                      </a:solidFill>
                    </a:lnR>
                  </a:tcPr>
                </a:tc>
                <a:tc>
                  <a:txBody>
                    <a:bodyPr/>
                    <a:lstStyle/>
                    <a:p>
                      <a:pPr lvl="0" algn="ctr">
                        <a:buNone/>
                      </a:pPr>
                      <a:endParaRPr lang="en-US" sz="2400" b="1" dirty="0">
                        <a:latin typeface="Arial"/>
                      </a:endParaRPr>
                    </a:p>
                  </a:txBody>
                  <a:tcPr marL="91432" marR="91432" marT="45697" marB="45697">
                    <a:lnL w="12700">
                      <a:solidFill>
                        <a:schemeClr val="tx1"/>
                      </a:solidFill>
                    </a:lnL>
                  </a:tcPr>
                </a:tc>
                <a:extLst>
                  <a:ext uri="{0D108BD9-81ED-4DB2-BD59-A6C34878D82A}">
                    <a16:rowId xmlns:a16="http://schemas.microsoft.com/office/drawing/2014/main" val="10005"/>
                  </a:ext>
                </a:extLst>
              </a:tr>
            </a:tbl>
          </a:graphicData>
        </a:graphic>
      </p:graphicFrame>
      <p:sp>
        <p:nvSpPr>
          <p:cNvPr id="6" name="Rectangle: Rounded Corners 5">
            <a:extLst>
              <a:ext uri="{FF2B5EF4-FFF2-40B4-BE49-F238E27FC236}">
                <a16:creationId xmlns:a16="http://schemas.microsoft.com/office/drawing/2014/main" id="{E4C13FF7-10BD-FEAD-4AFD-E561BF9664D3}"/>
              </a:ext>
            </a:extLst>
          </p:cNvPr>
          <p:cNvSpPr/>
          <p:nvPr/>
        </p:nvSpPr>
        <p:spPr>
          <a:xfrm>
            <a:off x="5040313" y="5267325"/>
            <a:ext cx="698500" cy="431800"/>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Rounded Corners 6">
            <a:extLst>
              <a:ext uri="{FF2B5EF4-FFF2-40B4-BE49-F238E27FC236}">
                <a16:creationId xmlns:a16="http://schemas.microsoft.com/office/drawing/2014/main" id="{AB2E36DD-8561-7D64-51F5-765BE474F13E}"/>
              </a:ext>
            </a:extLst>
          </p:cNvPr>
          <p:cNvSpPr/>
          <p:nvPr/>
        </p:nvSpPr>
        <p:spPr>
          <a:xfrm>
            <a:off x="8767763" y="3897313"/>
            <a:ext cx="1047750" cy="401637"/>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9">
            <a:extLst>
              <a:ext uri="{FF2B5EF4-FFF2-40B4-BE49-F238E27FC236}">
                <a16:creationId xmlns:a16="http://schemas.microsoft.com/office/drawing/2014/main" id="{828C2457-A3D5-1175-CB94-D1A9BDE14619}"/>
              </a:ext>
            </a:extLst>
          </p:cNvPr>
          <p:cNvSpPr/>
          <p:nvPr/>
        </p:nvSpPr>
        <p:spPr>
          <a:xfrm>
            <a:off x="3819525" y="3825875"/>
            <a:ext cx="4086225" cy="528638"/>
          </a:xfrm>
          <a:prstGeom prst="ellipse">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11">
            <a:extLst>
              <a:ext uri="{FF2B5EF4-FFF2-40B4-BE49-F238E27FC236}">
                <a16:creationId xmlns:a16="http://schemas.microsoft.com/office/drawing/2014/main" id="{89802D1F-D2B2-32FE-3EB9-CC527EBF28B1}"/>
              </a:ext>
            </a:extLst>
          </p:cNvPr>
          <p:cNvSpPr/>
          <p:nvPr/>
        </p:nvSpPr>
        <p:spPr>
          <a:xfrm>
            <a:off x="5099050" y="3841750"/>
            <a:ext cx="571500" cy="1012825"/>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Google Shape;192;p32" descr="KL Deemed to be University Logo">
            <a:extLst>
              <a:ext uri="{FF2B5EF4-FFF2-40B4-BE49-F238E27FC236}">
                <a16:creationId xmlns:a16="http://schemas.microsoft.com/office/drawing/2014/main" id="{2F2312F6-9F9C-660F-4522-7A510CE05580}"/>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1" name="Google Shape;194;p32" descr="KL Deemed to be University Logo">
            <a:extLst>
              <a:ext uri="{FF2B5EF4-FFF2-40B4-BE49-F238E27FC236}">
                <a16:creationId xmlns:a16="http://schemas.microsoft.com/office/drawing/2014/main" id="{8D9ADBD1-7165-8F15-C924-8D25BB3774C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Google Shape;196;p32">
            <a:extLst>
              <a:ext uri="{FF2B5EF4-FFF2-40B4-BE49-F238E27FC236}">
                <a16:creationId xmlns:a16="http://schemas.microsoft.com/office/drawing/2014/main" id="{45E7221F-5183-8A39-8EF5-6E4D4B3DE328}"/>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Slide Number Placeholder 3">
            <a:extLst>
              <a:ext uri="{FF2B5EF4-FFF2-40B4-BE49-F238E27FC236}">
                <a16:creationId xmlns:a16="http://schemas.microsoft.com/office/drawing/2014/main" id="{88C49CC4-FFA5-F14F-EC2B-C49D21353C30}"/>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B867E5A2-090F-4D55-ABA6-9118120E48F4}" type="slidenum">
              <a:rPr lang="en-IN" altLang="en-US" sz="2200" smtClean="0">
                <a:solidFill>
                  <a:schemeClr val="accent1"/>
                </a:solidFill>
              </a:rPr>
              <a:pPr>
                <a:lnSpc>
                  <a:spcPct val="100000"/>
                </a:lnSpc>
                <a:spcBef>
                  <a:spcPct val="0"/>
                </a:spcBef>
                <a:buClrTx/>
                <a:buSzTx/>
                <a:buFontTx/>
                <a:buNone/>
              </a:pPr>
              <a:t>28</a:t>
            </a:fld>
            <a:endParaRPr lang="en-IN" altLang="en-US" sz="2200">
              <a:solidFill>
                <a:schemeClr val="accent1"/>
              </a:solidFill>
            </a:endParaRPr>
          </a:p>
        </p:txBody>
      </p:sp>
      <p:sp>
        <p:nvSpPr>
          <p:cNvPr id="6" name="Rectangle: Rounded Corners 5">
            <a:extLst>
              <a:ext uri="{FF2B5EF4-FFF2-40B4-BE49-F238E27FC236}">
                <a16:creationId xmlns:a16="http://schemas.microsoft.com/office/drawing/2014/main" id="{4ED15574-FCE6-49A4-2A93-648EC31E7388}"/>
              </a:ext>
            </a:extLst>
          </p:cNvPr>
          <p:cNvSpPr/>
          <p:nvPr/>
        </p:nvSpPr>
        <p:spPr>
          <a:xfrm>
            <a:off x="4246563" y="5329238"/>
            <a:ext cx="698500" cy="431800"/>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Rounded Corners 6">
            <a:extLst>
              <a:ext uri="{FF2B5EF4-FFF2-40B4-BE49-F238E27FC236}">
                <a16:creationId xmlns:a16="http://schemas.microsoft.com/office/drawing/2014/main" id="{3C80D9A1-9278-FE60-ACC3-C2E43FA948BA}"/>
              </a:ext>
            </a:extLst>
          </p:cNvPr>
          <p:cNvSpPr/>
          <p:nvPr/>
        </p:nvSpPr>
        <p:spPr>
          <a:xfrm>
            <a:off x="9086850" y="4557713"/>
            <a:ext cx="504825" cy="371475"/>
          </a:xfrm>
          <a:prstGeom prst="round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9">
            <a:extLst>
              <a:ext uri="{FF2B5EF4-FFF2-40B4-BE49-F238E27FC236}">
                <a16:creationId xmlns:a16="http://schemas.microsoft.com/office/drawing/2014/main" id="{93C0AFC4-7940-ED24-9767-1830A428FBDF}"/>
              </a:ext>
            </a:extLst>
          </p:cNvPr>
          <p:cNvSpPr/>
          <p:nvPr/>
        </p:nvSpPr>
        <p:spPr>
          <a:xfrm>
            <a:off x="4097338" y="4484688"/>
            <a:ext cx="4086225" cy="539750"/>
          </a:xfrm>
          <a:prstGeom prst="ellipse">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11">
            <a:extLst>
              <a:ext uri="{FF2B5EF4-FFF2-40B4-BE49-F238E27FC236}">
                <a16:creationId xmlns:a16="http://schemas.microsoft.com/office/drawing/2014/main" id="{64430491-B925-02AD-1FD5-5713854CABEF}"/>
              </a:ext>
            </a:extLst>
          </p:cNvPr>
          <p:cNvSpPr/>
          <p:nvPr/>
        </p:nvSpPr>
        <p:spPr>
          <a:xfrm>
            <a:off x="4306888" y="4151313"/>
            <a:ext cx="571500" cy="817562"/>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aphicFrame>
        <p:nvGraphicFramePr>
          <p:cNvPr id="8" name="Table 11">
            <a:extLst>
              <a:ext uri="{FF2B5EF4-FFF2-40B4-BE49-F238E27FC236}">
                <a16:creationId xmlns:a16="http://schemas.microsoft.com/office/drawing/2014/main" id="{5DBEC411-04A1-B468-84DC-BB28409543FF}"/>
              </a:ext>
            </a:extLst>
          </p:cNvPr>
          <p:cNvGraphicFramePr>
            <a:graphicFrameLocks noGrp="1"/>
          </p:cNvGraphicFramePr>
          <p:nvPr/>
        </p:nvGraphicFramePr>
        <p:xfrm>
          <a:off x="2192338" y="101600"/>
          <a:ext cx="6759575" cy="2498725"/>
        </p:xfrm>
        <a:graphic>
          <a:graphicData uri="http://schemas.openxmlformats.org/drawingml/2006/table">
            <a:tbl>
              <a:tblPr firstRow="1" bandRow="1">
                <a:tableStyleId>{2D5ABB26-0587-4C30-8999-92F81FD0307C}</a:tableStyleId>
              </a:tblPr>
              <a:tblGrid>
                <a:gridCol w="794989">
                  <a:extLst>
                    <a:ext uri="{9D8B030D-6E8A-4147-A177-3AD203B41FA5}">
                      <a16:colId xmlns:a16="http://schemas.microsoft.com/office/drawing/2014/main" val="20000"/>
                    </a:ext>
                  </a:extLst>
                </a:gridCol>
                <a:gridCol w="1173973">
                  <a:extLst>
                    <a:ext uri="{9D8B030D-6E8A-4147-A177-3AD203B41FA5}">
                      <a16:colId xmlns:a16="http://schemas.microsoft.com/office/drawing/2014/main" val="20001"/>
                    </a:ext>
                  </a:extLst>
                </a:gridCol>
                <a:gridCol w="984479">
                  <a:extLst>
                    <a:ext uri="{9D8B030D-6E8A-4147-A177-3AD203B41FA5}">
                      <a16:colId xmlns:a16="http://schemas.microsoft.com/office/drawing/2014/main" val="20002"/>
                    </a:ext>
                  </a:extLst>
                </a:gridCol>
                <a:gridCol w="984479">
                  <a:extLst>
                    <a:ext uri="{9D8B030D-6E8A-4147-A177-3AD203B41FA5}">
                      <a16:colId xmlns:a16="http://schemas.microsoft.com/office/drawing/2014/main" val="20003"/>
                    </a:ext>
                  </a:extLst>
                </a:gridCol>
                <a:gridCol w="984479">
                  <a:extLst>
                    <a:ext uri="{9D8B030D-6E8A-4147-A177-3AD203B41FA5}">
                      <a16:colId xmlns:a16="http://schemas.microsoft.com/office/drawing/2014/main" val="20004"/>
                    </a:ext>
                  </a:extLst>
                </a:gridCol>
                <a:gridCol w="984479">
                  <a:extLst>
                    <a:ext uri="{9D8B030D-6E8A-4147-A177-3AD203B41FA5}">
                      <a16:colId xmlns:a16="http://schemas.microsoft.com/office/drawing/2014/main" val="20005"/>
                    </a:ext>
                  </a:extLst>
                </a:gridCol>
                <a:gridCol w="852696">
                  <a:extLst>
                    <a:ext uri="{9D8B030D-6E8A-4147-A177-3AD203B41FA5}">
                      <a16:colId xmlns:a16="http://schemas.microsoft.com/office/drawing/2014/main" val="20006"/>
                    </a:ext>
                  </a:extLst>
                </a:gridCol>
              </a:tblGrid>
              <a:tr h="396135">
                <a:tc>
                  <a:txBody>
                    <a:bodyPr/>
                    <a:lstStyle/>
                    <a:p>
                      <a:pPr lvl="0" algn="ctr">
                        <a:buNone/>
                      </a:pPr>
                      <a:endParaRPr lang="en-US" sz="2000" b="1" dirty="0">
                        <a:latin typeface="Arial"/>
                      </a:endParaRPr>
                    </a:p>
                  </a:txBody>
                  <a:tcPr marL="91435" marR="91435" marT="45671" marB="45671">
                    <a:lnL w="12700">
                      <a:solidFill>
                        <a:schemeClr val="tx1"/>
                      </a:solidFill>
                    </a:lnL>
                    <a:lnB w="12700">
                      <a:solidFill>
                        <a:schemeClr val="tx1"/>
                      </a:solidFill>
                    </a:lnB>
                  </a:tcPr>
                </a:tc>
                <a:tc>
                  <a:txBody>
                    <a:bodyPr/>
                    <a:lstStyle/>
                    <a:p>
                      <a:pPr lvl="0" algn="ctr">
                        <a:buNone/>
                      </a:pPr>
                      <a:r>
                        <a:rPr lang="en-US" sz="2000" b="1" dirty="0">
                          <a:latin typeface="Arial"/>
                        </a:rPr>
                        <a:t>C</a:t>
                      </a:r>
                      <a:r>
                        <a:rPr lang="en-US" sz="2000" b="1" baseline="-25000" dirty="0">
                          <a:latin typeface="Arial"/>
                        </a:rPr>
                        <a:t>j</a:t>
                      </a:r>
                      <a:r>
                        <a:rPr lang="en-US" sz="2000" b="1" dirty="0">
                          <a:latin typeface="Arial"/>
                        </a:rPr>
                        <a:t> -&gt;</a:t>
                      </a:r>
                    </a:p>
                  </a:txBody>
                  <a:tcPr marL="91435" marR="91435" marT="45671" marB="45671">
                    <a:lnR w="12700">
                      <a:solidFill>
                        <a:schemeClr val="tx1"/>
                      </a:solidFill>
                    </a:lnR>
                    <a:lnB w="12700">
                      <a:solidFill>
                        <a:schemeClr val="tx1"/>
                      </a:solidFill>
                    </a:lnB>
                  </a:tcPr>
                </a:tc>
                <a:tc>
                  <a:txBody>
                    <a:bodyPr/>
                    <a:lstStyle/>
                    <a:p>
                      <a:pPr algn="ctr"/>
                      <a:r>
                        <a:rPr lang="en-US" sz="2000" b="1" dirty="0">
                          <a:latin typeface="Arial"/>
                        </a:rPr>
                        <a:t>12</a:t>
                      </a:r>
                    </a:p>
                  </a:txBody>
                  <a:tcPr marL="91435" marR="91435" marT="45671" marB="45671">
                    <a:lnL w="12700">
                      <a:solidFill>
                        <a:schemeClr val="tx1"/>
                      </a:solidFill>
                    </a:lnL>
                    <a:lnB w="12700">
                      <a:solidFill>
                        <a:schemeClr val="tx1"/>
                      </a:solidFill>
                    </a:lnB>
                  </a:tcPr>
                </a:tc>
                <a:tc>
                  <a:txBody>
                    <a:bodyPr/>
                    <a:lstStyle/>
                    <a:p>
                      <a:pPr algn="ctr"/>
                      <a:r>
                        <a:rPr lang="en-US" sz="2000" b="1" dirty="0">
                          <a:latin typeface="Arial"/>
                        </a:rPr>
                        <a:t>16</a:t>
                      </a:r>
                    </a:p>
                  </a:txBody>
                  <a:tcPr marL="91435" marR="91435" marT="45671" marB="45671">
                    <a:lnB w="12700">
                      <a:solidFill>
                        <a:schemeClr val="tx1"/>
                      </a:solidFill>
                    </a:lnB>
                  </a:tcPr>
                </a:tc>
                <a:tc>
                  <a:txBody>
                    <a:bodyPr/>
                    <a:lstStyle/>
                    <a:p>
                      <a:pPr algn="ctr"/>
                      <a:r>
                        <a:rPr lang="en-US" sz="2000" b="1" dirty="0">
                          <a:latin typeface="Arial"/>
                        </a:rPr>
                        <a:t>0</a:t>
                      </a:r>
                    </a:p>
                  </a:txBody>
                  <a:tcPr marL="91435" marR="91435" marT="45671" marB="45671">
                    <a:lnB w="12700" cap="flat" cmpd="sng" algn="ctr">
                      <a:solidFill>
                        <a:schemeClr val="tx1"/>
                      </a:solidFill>
                      <a:prstDash val="solid"/>
                      <a:round/>
                      <a:headEnd type="none" w="med" len="med"/>
                      <a:tailEnd type="none" w="med" len="med"/>
                    </a:lnB>
                  </a:tcPr>
                </a:tc>
                <a:tc>
                  <a:txBody>
                    <a:bodyPr/>
                    <a:lstStyle/>
                    <a:p>
                      <a:pPr algn="ctr"/>
                      <a:r>
                        <a:rPr lang="en-US" sz="2000" b="1" dirty="0">
                          <a:latin typeface="Arial"/>
                        </a:rPr>
                        <a:t>0</a:t>
                      </a:r>
                    </a:p>
                  </a:txBody>
                  <a:tcPr marL="91435" marR="91435" marT="45671" marB="45671">
                    <a:lnR w="12700">
                      <a:solidFill>
                        <a:schemeClr val="tx1"/>
                      </a:solidFill>
                    </a:lnR>
                    <a:lnB w="12700">
                      <a:solidFill>
                        <a:schemeClr val="tx1"/>
                      </a:solidFill>
                    </a:lnB>
                  </a:tcPr>
                </a:tc>
                <a:tc>
                  <a:txBody>
                    <a:bodyPr/>
                    <a:lstStyle/>
                    <a:p>
                      <a:pPr algn="ctr"/>
                      <a:endParaRPr lang="en-US" sz="2000" b="1" dirty="0">
                        <a:latin typeface="Arial"/>
                      </a:endParaRPr>
                    </a:p>
                  </a:txBody>
                  <a:tcPr marL="91435" marR="91435" marT="45671" marB="45671">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0"/>
                  </a:ext>
                </a:extLst>
              </a:tr>
              <a:tr h="518052">
                <a:tc>
                  <a:txBody>
                    <a:bodyPr/>
                    <a:lstStyle/>
                    <a:p>
                      <a:pPr lvl="0" algn="ctr">
                        <a:buNone/>
                      </a:pPr>
                      <a:r>
                        <a:rPr lang="en-US" sz="2000" b="1" err="1">
                          <a:latin typeface="Arial"/>
                        </a:rPr>
                        <a:t>C</a:t>
                      </a:r>
                      <a:r>
                        <a:rPr lang="en-US" sz="2000" b="1" baseline="-25000" err="1">
                          <a:latin typeface="Arial"/>
                        </a:rPr>
                        <a:t>Bi</a:t>
                      </a:r>
                    </a:p>
                  </a:txBody>
                  <a:tcPr marL="91435" marR="91435" marT="45671" marB="45671">
                    <a:lnL w="12700">
                      <a:solidFill>
                        <a:schemeClr val="tx1"/>
                      </a:solidFill>
                    </a:lnL>
                    <a:lnT w="12700">
                      <a:solidFill>
                        <a:schemeClr val="tx1"/>
                      </a:solidFill>
                    </a:lnT>
                    <a:lnB w="12700">
                      <a:solidFill>
                        <a:schemeClr val="tx1"/>
                      </a:solidFill>
                    </a:lnB>
                  </a:tcPr>
                </a:tc>
                <a:tc>
                  <a:txBody>
                    <a:bodyPr/>
                    <a:lstStyle/>
                    <a:p>
                      <a:pPr lvl="0" algn="ctr">
                        <a:buNone/>
                      </a:pPr>
                      <a:r>
                        <a:rPr lang="en-US" sz="1400" b="1" dirty="0">
                          <a:latin typeface="Arial"/>
                        </a:rPr>
                        <a:t>Basic variables</a:t>
                      </a:r>
                    </a:p>
                  </a:txBody>
                  <a:tcPr marL="91435" marR="91435" marT="45671" marB="45671">
                    <a:lnR w="12700">
                      <a:solidFill>
                        <a:schemeClr val="tx1"/>
                      </a:solidFill>
                    </a:lnR>
                    <a:lnT w="12700">
                      <a:solidFill>
                        <a:schemeClr val="tx1"/>
                      </a:solidFill>
                    </a:lnT>
                    <a:lnB w="12700">
                      <a:solidFill>
                        <a:schemeClr val="tx1"/>
                      </a:solidFill>
                    </a:lnB>
                  </a:tcPr>
                </a:tc>
                <a:tc>
                  <a:txBody>
                    <a:bodyPr/>
                    <a:lstStyle/>
                    <a:p>
                      <a:pPr lvl="0" algn="ctr">
                        <a:buNone/>
                      </a:pPr>
                      <a:r>
                        <a:rPr lang="en-US" sz="2000" b="1" dirty="0">
                          <a:latin typeface="Arial"/>
                        </a:rPr>
                        <a:t>x1</a:t>
                      </a:r>
                      <a:endParaRPr lang="en-US" sz="2000"/>
                    </a:p>
                  </a:txBody>
                  <a:tcPr marL="91435" marR="91435" marT="45671" marB="45671">
                    <a:lnL w="12700">
                      <a:solidFill>
                        <a:schemeClr val="tx1"/>
                      </a:solidFill>
                    </a:lnL>
                    <a:lnT w="12700">
                      <a:solidFill>
                        <a:schemeClr val="tx1"/>
                      </a:solidFill>
                    </a:lnT>
                    <a:lnB w="12700">
                      <a:solidFill>
                        <a:schemeClr val="tx1"/>
                      </a:solidFill>
                    </a:lnB>
                  </a:tcPr>
                </a:tc>
                <a:tc>
                  <a:txBody>
                    <a:bodyPr/>
                    <a:lstStyle/>
                    <a:p>
                      <a:pPr lvl="0" algn="ctr">
                        <a:buNone/>
                      </a:pPr>
                      <a:r>
                        <a:rPr lang="en-US" sz="2000" b="1" dirty="0">
                          <a:latin typeface="Arial"/>
                        </a:rPr>
                        <a:t>x2</a:t>
                      </a:r>
                      <a:endParaRPr lang="en-US" sz="2000"/>
                    </a:p>
                  </a:txBody>
                  <a:tcPr marL="91435" marR="91435" marT="45671" marB="45671">
                    <a:lnT w="12700">
                      <a:solidFill>
                        <a:schemeClr val="tx1"/>
                      </a:solidFill>
                    </a:lnT>
                    <a:lnB w="12700">
                      <a:solidFill>
                        <a:schemeClr val="tx1"/>
                      </a:solidFill>
                    </a:lnB>
                  </a:tcPr>
                </a:tc>
                <a:tc>
                  <a:txBody>
                    <a:bodyPr/>
                    <a:lstStyle/>
                    <a:p>
                      <a:pPr lvl="0" algn="ctr">
                        <a:buNone/>
                      </a:pPr>
                      <a:r>
                        <a:rPr lang="en-US" sz="2000" b="1" dirty="0">
                          <a:latin typeface="Arial"/>
                        </a:rPr>
                        <a:t>s1</a:t>
                      </a:r>
                      <a:endParaRPr lang="en-US" sz="2000"/>
                    </a:p>
                  </a:txBody>
                  <a:tcPr marL="91435" marR="91435" marT="45671" marB="45671">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2000" b="1" dirty="0">
                          <a:latin typeface="Arial"/>
                        </a:rPr>
                        <a:t>s2</a:t>
                      </a:r>
                      <a:endParaRPr lang="en-US" sz="2000"/>
                    </a:p>
                  </a:txBody>
                  <a:tcPr marL="91435" marR="91435" marT="45671" marB="45671">
                    <a:lnR w="12700">
                      <a:solidFill>
                        <a:schemeClr val="tx1"/>
                      </a:solidFill>
                    </a:lnR>
                    <a:lnT w="12700">
                      <a:solidFill>
                        <a:schemeClr val="tx1"/>
                      </a:solidFill>
                    </a:lnT>
                    <a:lnB w="12700">
                      <a:solidFill>
                        <a:schemeClr val="tx1"/>
                      </a:solidFill>
                    </a:lnB>
                  </a:tcPr>
                </a:tc>
                <a:tc>
                  <a:txBody>
                    <a:bodyPr/>
                    <a:lstStyle/>
                    <a:p>
                      <a:pPr lvl="0" algn="ctr">
                        <a:buNone/>
                      </a:pPr>
                      <a:r>
                        <a:rPr lang="en-US" sz="2000" b="1" dirty="0">
                          <a:latin typeface="Arial"/>
                        </a:rPr>
                        <a:t>b</a:t>
                      </a:r>
                      <a:endParaRPr lang="en-US" sz="2000"/>
                    </a:p>
                  </a:txBody>
                  <a:tcPr marL="91435" marR="91435" marT="45671" marB="45671">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396135">
                <a:tc>
                  <a:txBody>
                    <a:bodyPr/>
                    <a:lstStyle/>
                    <a:p>
                      <a:pPr lvl="0" algn="ctr">
                        <a:buNone/>
                      </a:pPr>
                      <a:r>
                        <a:rPr lang="en-US" sz="2000" b="1" dirty="0">
                          <a:latin typeface="Arial"/>
                        </a:rPr>
                        <a:t>16</a:t>
                      </a:r>
                    </a:p>
                  </a:txBody>
                  <a:tcPr marL="91435" marR="91435" marT="45671" marB="45671">
                    <a:lnL w="12700">
                      <a:solidFill>
                        <a:schemeClr val="tx1"/>
                      </a:solidFill>
                    </a:lnL>
                    <a:lnT w="12700">
                      <a:solidFill>
                        <a:schemeClr val="tx1"/>
                      </a:solidFill>
                    </a:lnT>
                  </a:tcPr>
                </a:tc>
                <a:tc>
                  <a:txBody>
                    <a:bodyPr/>
                    <a:lstStyle/>
                    <a:p>
                      <a:pPr lvl="0" algn="ctr">
                        <a:buNone/>
                      </a:pPr>
                      <a:r>
                        <a:rPr lang="en-US" sz="2000" b="1" dirty="0">
                          <a:solidFill>
                            <a:schemeClr val="accent3"/>
                          </a:solidFill>
                          <a:latin typeface="Arial"/>
                        </a:rPr>
                        <a:t>x2</a:t>
                      </a:r>
                    </a:p>
                  </a:txBody>
                  <a:tcPr marL="91435" marR="91435" marT="45671" marB="45671">
                    <a:lnR w="12700">
                      <a:solidFill>
                        <a:schemeClr val="tx1"/>
                      </a:solidFill>
                    </a:lnR>
                    <a:lnT w="12700">
                      <a:solidFill>
                        <a:schemeClr val="tx1"/>
                      </a:solidFill>
                    </a:lnT>
                  </a:tcPr>
                </a:tc>
                <a:tc>
                  <a:txBody>
                    <a:bodyPr/>
                    <a:lstStyle/>
                    <a:p>
                      <a:pPr algn="ctr"/>
                      <a:r>
                        <a:rPr lang="en-US" sz="2000" b="1" dirty="0">
                          <a:latin typeface="Arial"/>
                        </a:rPr>
                        <a:t>1/2</a:t>
                      </a:r>
                    </a:p>
                  </a:txBody>
                  <a:tcPr marL="91435" marR="91435" marT="45671" marB="45671">
                    <a:lnL w="12700">
                      <a:solidFill>
                        <a:schemeClr val="tx1"/>
                      </a:solidFill>
                    </a:lnL>
                    <a:lnT w="12700">
                      <a:solidFill>
                        <a:schemeClr val="tx1"/>
                      </a:solidFill>
                    </a:lnT>
                  </a:tcPr>
                </a:tc>
                <a:tc>
                  <a:txBody>
                    <a:bodyPr/>
                    <a:lstStyle/>
                    <a:p>
                      <a:pPr algn="ctr"/>
                      <a:r>
                        <a:rPr lang="en-US" sz="2000" b="1" dirty="0">
                          <a:latin typeface="Arial"/>
                        </a:rPr>
                        <a:t>1</a:t>
                      </a:r>
                    </a:p>
                  </a:txBody>
                  <a:tcPr marL="91435" marR="91435" marT="45671" marB="45671">
                    <a:lnT w="12700">
                      <a:solidFill>
                        <a:schemeClr val="tx1"/>
                      </a:solidFill>
                    </a:lnT>
                  </a:tcPr>
                </a:tc>
                <a:tc>
                  <a:txBody>
                    <a:bodyPr/>
                    <a:lstStyle/>
                    <a:p>
                      <a:pPr algn="ctr"/>
                      <a:r>
                        <a:rPr lang="en-US" sz="2000" b="1" dirty="0">
                          <a:latin typeface="Arial"/>
                        </a:rPr>
                        <a:t>1/20</a:t>
                      </a:r>
                    </a:p>
                  </a:txBody>
                  <a:tcPr marL="91435" marR="91435" marT="45671" marB="45671">
                    <a:lnT w="12700" cap="flat" cmpd="sng" algn="ctr">
                      <a:solidFill>
                        <a:schemeClr val="tx1"/>
                      </a:solidFill>
                      <a:prstDash val="solid"/>
                      <a:round/>
                      <a:headEnd type="none" w="med" len="med"/>
                      <a:tailEnd type="none" w="med" len="med"/>
                    </a:lnT>
                  </a:tcPr>
                </a:tc>
                <a:tc>
                  <a:txBody>
                    <a:bodyPr/>
                    <a:lstStyle/>
                    <a:p>
                      <a:pPr algn="ctr"/>
                      <a:r>
                        <a:rPr lang="en-US" sz="2000" b="1" dirty="0">
                          <a:latin typeface="Arial"/>
                        </a:rPr>
                        <a:t>0</a:t>
                      </a:r>
                    </a:p>
                  </a:txBody>
                  <a:tcPr marL="91435" marR="91435" marT="45671" marB="45671">
                    <a:lnR w="12700">
                      <a:solidFill>
                        <a:schemeClr val="tx1"/>
                      </a:solidFill>
                    </a:lnR>
                    <a:lnT w="12700">
                      <a:solidFill>
                        <a:schemeClr val="tx1"/>
                      </a:solidFill>
                    </a:lnT>
                  </a:tcPr>
                </a:tc>
                <a:tc>
                  <a:txBody>
                    <a:bodyPr/>
                    <a:lstStyle/>
                    <a:p>
                      <a:pPr algn="ctr"/>
                      <a:r>
                        <a:rPr lang="en-US" sz="2000" b="1" dirty="0">
                          <a:latin typeface="Arial"/>
                        </a:rPr>
                        <a:t>6</a:t>
                      </a:r>
                    </a:p>
                  </a:txBody>
                  <a:tcPr marL="91435" marR="91435" marT="45671" marB="45671">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2"/>
                  </a:ext>
                </a:extLst>
              </a:tr>
              <a:tr h="396135">
                <a:tc>
                  <a:txBody>
                    <a:bodyPr/>
                    <a:lstStyle/>
                    <a:p>
                      <a:pPr lvl="0" algn="ctr">
                        <a:buNone/>
                      </a:pPr>
                      <a:r>
                        <a:rPr lang="en-US" sz="2000" b="1" dirty="0">
                          <a:latin typeface="Arial"/>
                        </a:rPr>
                        <a:t>0</a:t>
                      </a:r>
                    </a:p>
                  </a:txBody>
                  <a:tcPr marL="91435" marR="91435" marT="45671" marB="45671">
                    <a:lnL w="12700">
                      <a:solidFill>
                        <a:schemeClr val="tx1"/>
                      </a:solidFill>
                    </a:lnL>
                    <a:lnB w="12700">
                      <a:solidFill>
                        <a:schemeClr val="tx1"/>
                      </a:solidFill>
                    </a:lnB>
                  </a:tcPr>
                </a:tc>
                <a:tc>
                  <a:txBody>
                    <a:bodyPr/>
                    <a:lstStyle/>
                    <a:p>
                      <a:pPr lvl="0" algn="ctr">
                        <a:buNone/>
                      </a:pPr>
                      <a:r>
                        <a:rPr lang="en-US" sz="2000" b="1" dirty="0">
                          <a:solidFill>
                            <a:schemeClr val="accent3"/>
                          </a:solidFill>
                          <a:latin typeface="Arial"/>
                        </a:rPr>
                        <a:t>s2</a:t>
                      </a:r>
                    </a:p>
                  </a:txBody>
                  <a:tcPr marL="91435" marR="91435" marT="45671" marB="45671">
                    <a:lnR w="12700">
                      <a:solidFill>
                        <a:schemeClr val="tx1"/>
                      </a:solidFill>
                    </a:lnR>
                    <a:lnB w="12700">
                      <a:solidFill>
                        <a:schemeClr val="tx1"/>
                      </a:solidFill>
                    </a:lnB>
                  </a:tcPr>
                </a:tc>
                <a:tc>
                  <a:txBody>
                    <a:bodyPr/>
                    <a:lstStyle/>
                    <a:p>
                      <a:pPr algn="ctr"/>
                      <a:r>
                        <a:rPr lang="en-US" sz="2000" b="1" dirty="0">
                          <a:latin typeface="Arial"/>
                        </a:rPr>
                        <a:t>4</a:t>
                      </a:r>
                    </a:p>
                  </a:txBody>
                  <a:tcPr marL="91435" marR="91435" marT="45671" marB="45671">
                    <a:lnL w="12700">
                      <a:solidFill>
                        <a:schemeClr val="tx1"/>
                      </a:solidFill>
                    </a:lnL>
                    <a:lnB w="12700">
                      <a:solidFill>
                        <a:schemeClr val="tx1"/>
                      </a:solidFill>
                    </a:lnB>
                  </a:tcPr>
                </a:tc>
                <a:tc>
                  <a:txBody>
                    <a:bodyPr/>
                    <a:lstStyle/>
                    <a:p>
                      <a:pPr algn="ctr"/>
                      <a:r>
                        <a:rPr lang="en-US" sz="2000" b="1" dirty="0">
                          <a:latin typeface="Arial"/>
                        </a:rPr>
                        <a:t>0</a:t>
                      </a:r>
                    </a:p>
                  </a:txBody>
                  <a:tcPr marL="91435" marR="91435" marT="45671" marB="45671">
                    <a:lnB w="12700">
                      <a:solidFill>
                        <a:schemeClr val="tx1"/>
                      </a:solidFill>
                    </a:lnB>
                  </a:tcPr>
                </a:tc>
                <a:tc>
                  <a:txBody>
                    <a:bodyPr/>
                    <a:lstStyle/>
                    <a:p>
                      <a:pPr algn="ctr"/>
                      <a:r>
                        <a:rPr lang="en-US" sz="2000" b="1" dirty="0">
                          <a:latin typeface="Arial"/>
                        </a:rPr>
                        <a:t>-2/5</a:t>
                      </a:r>
                    </a:p>
                  </a:txBody>
                  <a:tcPr marL="91435" marR="91435" marT="45671" marB="45671">
                    <a:lnB w="12700">
                      <a:solidFill>
                        <a:schemeClr val="tx1"/>
                      </a:solidFill>
                    </a:lnB>
                  </a:tcPr>
                </a:tc>
                <a:tc>
                  <a:txBody>
                    <a:bodyPr/>
                    <a:lstStyle/>
                    <a:p>
                      <a:pPr algn="ctr"/>
                      <a:r>
                        <a:rPr lang="en-US" sz="2000" b="1" dirty="0">
                          <a:latin typeface="Arial"/>
                        </a:rPr>
                        <a:t>1</a:t>
                      </a:r>
                    </a:p>
                  </a:txBody>
                  <a:tcPr marL="91435" marR="91435" marT="45671" marB="45671">
                    <a:lnR w="12700">
                      <a:solidFill>
                        <a:schemeClr val="tx1"/>
                      </a:solidFill>
                    </a:lnR>
                    <a:lnB w="12700">
                      <a:solidFill>
                        <a:schemeClr val="tx1"/>
                      </a:solidFill>
                    </a:lnB>
                  </a:tcPr>
                </a:tc>
                <a:tc>
                  <a:txBody>
                    <a:bodyPr/>
                    <a:lstStyle/>
                    <a:p>
                      <a:pPr algn="ctr"/>
                      <a:r>
                        <a:rPr lang="en-US" sz="2000" b="1" dirty="0">
                          <a:latin typeface="Arial"/>
                        </a:rPr>
                        <a:t>32</a:t>
                      </a:r>
                    </a:p>
                  </a:txBody>
                  <a:tcPr marL="91435" marR="91435" marT="45671" marB="45671">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3"/>
                  </a:ext>
                </a:extLst>
              </a:tr>
              <a:tr h="396135">
                <a:tc>
                  <a:txBody>
                    <a:bodyPr/>
                    <a:lstStyle/>
                    <a:p>
                      <a:pPr lvl="0" algn="ctr">
                        <a:buNone/>
                      </a:pPr>
                      <a:endParaRPr lang="en-US" sz="2000" b="1" dirty="0">
                        <a:latin typeface="Arial"/>
                      </a:endParaRPr>
                    </a:p>
                  </a:txBody>
                  <a:tcPr marL="91435" marR="91435" marT="45671" marB="45671">
                    <a:lnL w="12700">
                      <a:solidFill>
                        <a:schemeClr val="tx1"/>
                      </a:solidFill>
                    </a:lnL>
                    <a:lnT w="12700">
                      <a:solidFill>
                        <a:schemeClr val="tx1"/>
                      </a:solidFill>
                    </a:lnT>
                  </a:tcPr>
                </a:tc>
                <a:tc>
                  <a:txBody>
                    <a:bodyPr/>
                    <a:lstStyle/>
                    <a:p>
                      <a:pPr lvl="0" algn="ctr">
                        <a:buNone/>
                      </a:pPr>
                      <a:r>
                        <a:rPr lang="en-US" sz="2000" b="0" err="1">
                          <a:solidFill>
                            <a:schemeClr val="tx1"/>
                          </a:solidFill>
                          <a:latin typeface="Arial"/>
                        </a:rPr>
                        <a:t>zj</a:t>
                      </a:r>
                      <a:endParaRPr lang="en-US" sz="2000" b="0">
                        <a:solidFill>
                          <a:schemeClr val="tx1"/>
                        </a:solidFill>
                        <a:latin typeface="Arial"/>
                      </a:endParaRPr>
                    </a:p>
                  </a:txBody>
                  <a:tcPr marL="91435" marR="91435" marT="45671" marB="45671">
                    <a:lnR w="12700">
                      <a:solidFill>
                        <a:schemeClr val="tx1"/>
                      </a:solidFill>
                    </a:lnR>
                    <a:lnT w="12700">
                      <a:solidFill>
                        <a:schemeClr val="tx1"/>
                      </a:solidFill>
                    </a:lnT>
                  </a:tcPr>
                </a:tc>
                <a:tc>
                  <a:txBody>
                    <a:bodyPr/>
                    <a:lstStyle/>
                    <a:p>
                      <a:pPr lvl="0" algn="ctr">
                        <a:buNone/>
                      </a:pPr>
                      <a:r>
                        <a:rPr lang="en-US" sz="2000" b="1" dirty="0">
                          <a:latin typeface="Arial"/>
                        </a:rPr>
                        <a:t>8</a:t>
                      </a:r>
                    </a:p>
                  </a:txBody>
                  <a:tcPr marL="91435" marR="91435" marT="45671" marB="45671">
                    <a:lnL w="12700">
                      <a:solidFill>
                        <a:schemeClr val="tx1"/>
                      </a:solidFill>
                    </a:lnL>
                    <a:lnT w="12700">
                      <a:solidFill>
                        <a:schemeClr val="tx1"/>
                      </a:solidFill>
                    </a:lnT>
                  </a:tcPr>
                </a:tc>
                <a:tc>
                  <a:txBody>
                    <a:bodyPr/>
                    <a:lstStyle/>
                    <a:p>
                      <a:pPr lvl="0" algn="ctr">
                        <a:buNone/>
                      </a:pPr>
                      <a:r>
                        <a:rPr lang="en-US" sz="2000" b="1" dirty="0">
                          <a:latin typeface="Arial"/>
                        </a:rPr>
                        <a:t>16</a:t>
                      </a:r>
                    </a:p>
                  </a:txBody>
                  <a:tcPr marL="91435" marR="91435" marT="45671" marB="45671">
                    <a:lnT w="12700">
                      <a:solidFill>
                        <a:schemeClr val="tx1"/>
                      </a:solidFill>
                    </a:lnT>
                  </a:tcPr>
                </a:tc>
                <a:tc>
                  <a:txBody>
                    <a:bodyPr/>
                    <a:lstStyle/>
                    <a:p>
                      <a:pPr lvl="0" algn="ctr">
                        <a:buNone/>
                      </a:pPr>
                      <a:r>
                        <a:rPr lang="en-US" sz="2000" b="1" dirty="0">
                          <a:latin typeface="Arial"/>
                        </a:rPr>
                        <a:t>4/5</a:t>
                      </a:r>
                    </a:p>
                  </a:txBody>
                  <a:tcPr marL="91435" marR="91435" marT="45671" marB="45671">
                    <a:lnT w="12700">
                      <a:solidFill>
                        <a:schemeClr val="tx1"/>
                      </a:solidFill>
                    </a:lnT>
                  </a:tcPr>
                </a:tc>
                <a:tc>
                  <a:txBody>
                    <a:bodyPr/>
                    <a:lstStyle/>
                    <a:p>
                      <a:pPr lvl="0" algn="ctr">
                        <a:buNone/>
                      </a:pPr>
                      <a:r>
                        <a:rPr lang="en-US" sz="2000" b="1" dirty="0">
                          <a:latin typeface="Arial"/>
                        </a:rPr>
                        <a:t>0</a:t>
                      </a:r>
                    </a:p>
                  </a:txBody>
                  <a:tcPr marL="91435" marR="91435" marT="45671" marB="45671">
                    <a:lnR w="12700">
                      <a:solidFill>
                        <a:schemeClr val="tx1"/>
                      </a:solidFill>
                    </a:lnR>
                    <a:lnT w="12700">
                      <a:solidFill>
                        <a:schemeClr val="tx1"/>
                      </a:solidFill>
                    </a:lnT>
                  </a:tcPr>
                </a:tc>
                <a:tc>
                  <a:txBody>
                    <a:bodyPr/>
                    <a:lstStyle/>
                    <a:p>
                      <a:pPr lvl="0" algn="ctr">
                        <a:buNone/>
                      </a:pPr>
                      <a:r>
                        <a:rPr lang="en-US" sz="2000" b="1" dirty="0">
                          <a:latin typeface="Arial"/>
                        </a:rPr>
                        <a:t>96</a:t>
                      </a:r>
                    </a:p>
                  </a:txBody>
                  <a:tcPr marL="91435" marR="91435" marT="45671" marB="45671">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4"/>
                  </a:ext>
                </a:extLst>
              </a:tr>
              <a:tr h="396135">
                <a:tc>
                  <a:txBody>
                    <a:bodyPr/>
                    <a:lstStyle/>
                    <a:p>
                      <a:pPr lvl="0" algn="ctr">
                        <a:buNone/>
                      </a:pPr>
                      <a:endParaRPr lang="en-US" sz="2000" b="1" dirty="0">
                        <a:latin typeface="Arial"/>
                      </a:endParaRPr>
                    </a:p>
                  </a:txBody>
                  <a:tcPr marL="91435" marR="91435" marT="45671" marB="45671">
                    <a:lnL w="12700">
                      <a:solidFill>
                        <a:schemeClr val="tx1"/>
                      </a:solidFill>
                    </a:lnL>
                  </a:tcPr>
                </a:tc>
                <a:tc>
                  <a:txBody>
                    <a:bodyPr/>
                    <a:lstStyle/>
                    <a:p>
                      <a:pPr lvl="0" algn="ctr">
                        <a:buNone/>
                      </a:pPr>
                      <a:r>
                        <a:rPr lang="en-US" sz="2000" b="0" dirty="0">
                          <a:solidFill>
                            <a:schemeClr val="tx1"/>
                          </a:solidFill>
                          <a:latin typeface="Arial"/>
                        </a:rPr>
                        <a:t>Cj - </a:t>
                      </a:r>
                      <a:r>
                        <a:rPr lang="en-US" sz="2000" b="0" err="1">
                          <a:solidFill>
                            <a:schemeClr val="tx1"/>
                          </a:solidFill>
                          <a:latin typeface="Arial"/>
                        </a:rPr>
                        <a:t>zj</a:t>
                      </a:r>
                      <a:endParaRPr lang="en-US" sz="2000" b="0">
                        <a:solidFill>
                          <a:schemeClr val="tx1"/>
                        </a:solidFill>
                        <a:latin typeface="Arial"/>
                      </a:endParaRPr>
                    </a:p>
                  </a:txBody>
                  <a:tcPr marL="91435" marR="91435" marT="45671" marB="45671">
                    <a:lnR w="12700">
                      <a:solidFill>
                        <a:schemeClr val="tx1"/>
                      </a:solidFill>
                    </a:lnR>
                  </a:tcPr>
                </a:tc>
                <a:tc>
                  <a:txBody>
                    <a:bodyPr/>
                    <a:lstStyle/>
                    <a:p>
                      <a:pPr lvl="0" algn="ctr">
                        <a:buNone/>
                      </a:pPr>
                      <a:r>
                        <a:rPr lang="en-US" sz="2000" b="1" dirty="0">
                          <a:latin typeface="Arial"/>
                        </a:rPr>
                        <a:t>4</a:t>
                      </a:r>
                    </a:p>
                  </a:txBody>
                  <a:tcPr marL="91435" marR="91435" marT="45671" marB="45671">
                    <a:lnL w="12700">
                      <a:solidFill>
                        <a:schemeClr val="tx1"/>
                      </a:solidFill>
                    </a:lnL>
                  </a:tcPr>
                </a:tc>
                <a:tc>
                  <a:txBody>
                    <a:bodyPr/>
                    <a:lstStyle/>
                    <a:p>
                      <a:pPr lvl="0" algn="ctr">
                        <a:buNone/>
                      </a:pPr>
                      <a:r>
                        <a:rPr lang="en-US" sz="2000" b="1" dirty="0">
                          <a:latin typeface="Arial"/>
                        </a:rPr>
                        <a:t>0</a:t>
                      </a:r>
                    </a:p>
                  </a:txBody>
                  <a:tcPr marL="91435" marR="91435" marT="45671" marB="45671"/>
                </a:tc>
                <a:tc>
                  <a:txBody>
                    <a:bodyPr/>
                    <a:lstStyle/>
                    <a:p>
                      <a:pPr lvl="0" algn="ctr">
                        <a:buNone/>
                      </a:pPr>
                      <a:r>
                        <a:rPr lang="en-US" sz="2000" b="1" dirty="0">
                          <a:latin typeface="Arial"/>
                        </a:rPr>
                        <a:t>-4/5</a:t>
                      </a:r>
                    </a:p>
                  </a:txBody>
                  <a:tcPr marL="91435" marR="91435" marT="45671" marB="45671"/>
                </a:tc>
                <a:tc>
                  <a:txBody>
                    <a:bodyPr/>
                    <a:lstStyle/>
                    <a:p>
                      <a:pPr lvl="0" algn="ctr">
                        <a:buNone/>
                      </a:pPr>
                      <a:r>
                        <a:rPr lang="en-US" sz="2000" b="1" dirty="0">
                          <a:latin typeface="Arial"/>
                        </a:rPr>
                        <a:t>0</a:t>
                      </a:r>
                    </a:p>
                  </a:txBody>
                  <a:tcPr marL="91435" marR="91435" marT="45671" marB="45671">
                    <a:lnR w="12700">
                      <a:solidFill>
                        <a:schemeClr val="tx1"/>
                      </a:solidFill>
                    </a:lnR>
                  </a:tcPr>
                </a:tc>
                <a:tc>
                  <a:txBody>
                    <a:bodyPr/>
                    <a:lstStyle/>
                    <a:p>
                      <a:pPr lvl="0" algn="ctr">
                        <a:buNone/>
                      </a:pPr>
                      <a:endParaRPr lang="en-US" sz="2000" b="1" dirty="0">
                        <a:latin typeface="Arial"/>
                      </a:endParaRPr>
                    </a:p>
                  </a:txBody>
                  <a:tcPr marL="91435" marR="91435" marT="45671" marB="45671">
                    <a:lnL w="12700">
                      <a:solidFill>
                        <a:schemeClr val="tx1"/>
                      </a:solidFill>
                    </a:lnL>
                    <a:lnR w="12700">
                      <a:solidFill>
                        <a:schemeClr val="tx1"/>
                      </a:solidFill>
                    </a:lnR>
                  </a:tcPr>
                </a:tc>
                <a:extLst>
                  <a:ext uri="{0D108BD9-81ED-4DB2-BD59-A6C34878D82A}">
                    <a16:rowId xmlns:a16="http://schemas.microsoft.com/office/drawing/2014/main" val="10005"/>
                  </a:ext>
                </a:extLst>
              </a:tr>
            </a:tbl>
          </a:graphicData>
        </a:graphic>
      </p:graphicFrame>
      <p:graphicFrame>
        <p:nvGraphicFramePr>
          <p:cNvPr id="11" name="Table 11">
            <a:extLst>
              <a:ext uri="{FF2B5EF4-FFF2-40B4-BE49-F238E27FC236}">
                <a16:creationId xmlns:a16="http://schemas.microsoft.com/office/drawing/2014/main" id="{FF54027C-C390-ED5A-0D24-1FE03B079266}"/>
              </a:ext>
            </a:extLst>
          </p:cNvPr>
          <p:cNvGraphicFramePr>
            <a:graphicFrameLocks noGrp="1"/>
          </p:cNvGraphicFramePr>
          <p:nvPr/>
        </p:nvGraphicFramePr>
        <p:xfrm>
          <a:off x="2090738" y="3271838"/>
          <a:ext cx="7877175" cy="2498725"/>
        </p:xfrm>
        <a:graphic>
          <a:graphicData uri="http://schemas.openxmlformats.org/drawingml/2006/table">
            <a:tbl>
              <a:tblPr firstRow="1" bandRow="1">
                <a:tableStyleId>{2D5ABB26-0587-4C30-8999-92F81FD0307C}</a:tableStyleId>
              </a:tblPr>
              <a:tblGrid>
                <a:gridCol w="795123">
                  <a:extLst>
                    <a:ext uri="{9D8B030D-6E8A-4147-A177-3AD203B41FA5}">
                      <a16:colId xmlns:a16="http://schemas.microsoft.com/office/drawing/2014/main" val="20000"/>
                    </a:ext>
                  </a:extLst>
                </a:gridCol>
                <a:gridCol w="1174173">
                  <a:extLst>
                    <a:ext uri="{9D8B030D-6E8A-4147-A177-3AD203B41FA5}">
                      <a16:colId xmlns:a16="http://schemas.microsoft.com/office/drawing/2014/main" val="20001"/>
                    </a:ext>
                  </a:extLst>
                </a:gridCol>
                <a:gridCol w="984646">
                  <a:extLst>
                    <a:ext uri="{9D8B030D-6E8A-4147-A177-3AD203B41FA5}">
                      <a16:colId xmlns:a16="http://schemas.microsoft.com/office/drawing/2014/main" val="20002"/>
                    </a:ext>
                  </a:extLst>
                </a:gridCol>
                <a:gridCol w="984646">
                  <a:extLst>
                    <a:ext uri="{9D8B030D-6E8A-4147-A177-3AD203B41FA5}">
                      <a16:colId xmlns:a16="http://schemas.microsoft.com/office/drawing/2014/main" val="20003"/>
                    </a:ext>
                  </a:extLst>
                </a:gridCol>
                <a:gridCol w="984646">
                  <a:extLst>
                    <a:ext uri="{9D8B030D-6E8A-4147-A177-3AD203B41FA5}">
                      <a16:colId xmlns:a16="http://schemas.microsoft.com/office/drawing/2014/main" val="20004"/>
                    </a:ext>
                  </a:extLst>
                </a:gridCol>
                <a:gridCol w="984646">
                  <a:extLst>
                    <a:ext uri="{9D8B030D-6E8A-4147-A177-3AD203B41FA5}">
                      <a16:colId xmlns:a16="http://schemas.microsoft.com/office/drawing/2014/main" val="20005"/>
                    </a:ext>
                  </a:extLst>
                </a:gridCol>
                <a:gridCol w="852841">
                  <a:extLst>
                    <a:ext uri="{9D8B030D-6E8A-4147-A177-3AD203B41FA5}">
                      <a16:colId xmlns:a16="http://schemas.microsoft.com/office/drawing/2014/main" val="20006"/>
                    </a:ext>
                  </a:extLst>
                </a:gridCol>
                <a:gridCol w="1116454">
                  <a:extLst>
                    <a:ext uri="{9D8B030D-6E8A-4147-A177-3AD203B41FA5}">
                      <a16:colId xmlns:a16="http://schemas.microsoft.com/office/drawing/2014/main" val="20007"/>
                    </a:ext>
                  </a:extLst>
                </a:gridCol>
              </a:tblGrid>
              <a:tr h="396135">
                <a:tc>
                  <a:txBody>
                    <a:bodyPr/>
                    <a:lstStyle/>
                    <a:p>
                      <a:pPr lvl="0" algn="ctr">
                        <a:buNone/>
                      </a:pPr>
                      <a:endParaRPr lang="en-US" sz="2000" b="1" dirty="0">
                        <a:latin typeface="Arial"/>
                      </a:endParaRPr>
                    </a:p>
                  </a:txBody>
                  <a:tcPr marL="91450" marR="91450" marT="45671" marB="45671">
                    <a:lnL w="12700">
                      <a:solidFill>
                        <a:schemeClr val="tx1"/>
                      </a:solidFill>
                    </a:lnL>
                    <a:lnB w="12700">
                      <a:solidFill>
                        <a:schemeClr val="tx1"/>
                      </a:solidFill>
                    </a:lnB>
                  </a:tcPr>
                </a:tc>
                <a:tc>
                  <a:txBody>
                    <a:bodyPr/>
                    <a:lstStyle/>
                    <a:p>
                      <a:pPr lvl="0" algn="ctr">
                        <a:buNone/>
                      </a:pPr>
                      <a:r>
                        <a:rPr lang="en-US" sz="2000" b="1" dirty="0">
                          <a:latin typeface="Arial"/>
                        </a:rPr>
                        <a:t>C</a:t>
                      </a:r>
                      <a:r>
                        <a:rPr lang="en-US" sz="2000" b="1" baseline="-25000" dirty="0">
                          <a:latin typeface="Arial"/>
                        </a:rPr>
                        <a:t>j</a:t>
                      </a:r>
                      <a:r>
                        <a:rPr lang="en-US" sz="2000" b="1" dirty="0">
                          <a:latin typeface="Arial"/>
                        </a:rPr>
                        <a:t> -&gt;</a:t>
                      </a:r>
                    </a:p>
                  </a:txBody>
                  <a:tcPr marL="91450" marR="91450" marT="45671" marB="45671">
                    <a:lnR w="12700">
                      <a:solidFill>
                        <a:schemeClr val="tx1"/>
                      </a:solidFill>
                    </a:lnR>
                    <a:lnB w="12700">
                      <a:solidFill>
                        <a:schemeClr val="tx1"/>
                      </a:solidFill>
                    </a:lnB>
                  </a:tcPr>
                </a:tc>
                <a:tc>
                  <a:txBody>
                    <a:bodyPr/>
                    <a:lstStyle/>
                    <a:p>
                      <a:pPr algn="ctr"/>
                      <a:r>
                        <a:rPr lang="en-US" sz="2000" b="1" dirty="0">
                          <a:latin typeface="Arial"/>
                        </a:rPr>
                        <a:t>12</a:t>
                      </a:r>
                    </a:p>
                  </a:txBody>
                  <a:tcPr marL="91450" marR="91450" marT="45671" marB="45671">
                    <a:lnL w="12700">
                      <a:solidFill>
                        <a:schemeClr val="tx1"/>
                      </a:solidFill>
                    </a:lnL>
                    <a:lnB w="12700">
                      <a:solidFill>
                        <a:schemeClr val="tx1"/>
                      </a:solidFill>
                    </a:lnB>
                  </a:tcPr>
                </a:tc>
                <a:tc>
                  <a:txBody>
                    <a:bodyPr/>
                    <a:lstStyle/>
                    <a:p>
                      <a:pPr algn="ctr"/>
                      <a:r>
                        <a:rPr lang="en-US" sz="2000" b="1" dirty="0">
                          <a:latin typeface="Arial"/>
                        </a:rPr>
                        <a:t>16</a:t>
                      </a:r>
                    </a:p>
                  </a:txBody>
                  <a:tcPr marL="91450" marR="91450" marT="45671" marB="45671">
                    <a:lnB w="12700">
                      <a:solidFill>
                        <a:schemeClr val="tx1"/>
                      </a:solidFill>
                    </a:lnB>
                  </a:tcPr>
                </a:tc>
                <a:tc>
                  <a:txBody>
                    <a:bodyPr/>
                    <a:lstStyle/>
                    <a:p>
                      <a:pPr algn="ctr"/>
                      <a:r>
                        <a:rPr lang="en-US" sz="2000" b="1" dirty="0">
                          <a:latin typeface="Arial"/>
                        </a:rPr>
                        <a:t>0</a:t>
                      </a:r>
                    </a:p>
                  </a:txBody>
                  <a:tcPr marL="91450" marR="91450" marT="45671" marB="45671">
                    <a:lnB w="12700" cap="flat" cmpd="sng" algn="ctr">
                      <a:solidFill>
                        <a:schemeClr val="tx1"/>
                      </a:solidFill>
                      <a:prstDash val="solid"/>
                      <a:round/>
                      <a:headEnd type="none" w="med" len="med"/>
                      <a:tailEnd type="none" w="med" len="med"/>
                    </a:lnB>
                  </a:tcPr>
                </a:tc>
                <a:tc>
                  <a:txBody>
                    <a:bodyPr/>
                    <a:lstStyle/>
                    <a:p>
                      <a:pPr algn="ctr"/>
                      <a:r>
                        <a:rPr lang="en-US" sz="2000" b="1" dirty="0">
                          <a:latin typeface="Arial"/>
                        </a:rPr>
                        <a:t>0</a:t>
                      </a:r>
                    </a:p>
                  </a:txBody>
                  <a:tcPr marL="91450" marR="91450" marT="45671" marB="45671">
                    <a:lnR w="12700">
                      <a:solidFill>
                        <a:schemeClr val="tx1"/>
                      </a:solidFill>
                    </a:lnR>
                    <a:lnB w="12700">
                      <a:solidFill>
                        <a:schemeClr val="tx1"/>
                      </a:solidFill>
                    </a:lnB>
                  </a:tcPr>
                </a:tc>
                <a:tc>
                  <a:txBody>
                    <a:bodyPr/>
                    <a:lstStyle/>
                    <a:p>
                      <a:pPr algn="ctr"/>
                      <a:endParaRPr lang="en-US" sz="2000" b="1" dirty="0">
                        <a:latin typeface="Arial"/>
                      </a:endParaRPr>
                    </a:p>
                  </a:txBody>
                  <a:tcPr marL="91450" marR="91450" marT="45671" marB="45671">
                    <a:lnL w="12700">
                      <a:solidFill>
                        <a:schemeClr val="tx1"/>
                      </a:solidFill>
                    </a:lnL>
                    <a:lnR w="12700">
                      <a:solidFill>
                        <a:schemeClr val="tx1"/>
                      </a:solidFill>
                    </a:lnR>
                    <a:lnB w="12700">
                      <a:solidFill>
                        <a:schemeClr val="tx1"/>
                      </a:solidFill>
                    </a:lnB>
                  </a:tcPr>
                </a:tc>
                <a:tc>
                  <a:txBody>
                    <a:bodyPr/>
                    <a:lstStyle/>
                    <a:p>
                      <a:pPr lvl="0" algn="ctr">
                        <a:buNone/>
                      </a:pPr>
                      <a:endParaRPr lang="en-US" sz="2000" b="1" dirty="0">
                        <a:latin typeface="Arial"/>
                      </a:endParaRPr>
                    </a:p>
                  </a:txBody>
                  <a:tcPr marL="91450" marR="91450" marT="45671" marB="45671">
                    <a:lnL w="12700">
                      <a:solidFill>
                        <a:schemeClr val="tx1"/>
                      </a:solidFill>
                    </a:lnL>
                    <a:lnB w="12700">
                      <a:solidFill>
                        <a:schemeClr val="tx1"/>
                      </a:solidFill>
                    </a:lnB>
                  </a:tcPr>
                </a:tc>
                <a:extLst>
                  <a:ext uri="{0D108BD9-81ED-4DB2-BD59-A6C34878D82A}">
                    <a16:rowId xmlns:a16="http://schemas.microsoft.com/office/drawing/2014/main" val="10000"/>
                  </a:ext>
                </a:extLst>
              </a:tr>
              <a:tr h="518052">
                <a:tc>
                  <a:txBody>
                    <a:bodyPr/>
                    <a:lstStyle/>
                    <a:p>
                      <a:pPr lvl="0" algn="ctr">
                        <a:buNone/>
                      </a:pPr>
                      <a:r>
                        <a:rPr lang="en-US" sz="2000" b="1" err="1">
                          <a:latin typeface="Arial"/>
                        </a:rPr>
                        <a:t>C</a:t>
                      </a:r>
                      <a:r>
                        <a:rPr lang="en-US" sz="2000" b="1" baseline="-25000" err="1">
                          <a:latin typeface="Arial"/>
                        </a:rPr>
                        <a:t>Bi</a:t>
                      </a:r>
                    </a:p>
                  </a:txBody>
                  <a:tcPr marL="91450" marR="91450" marT="45671" marB="45671">
                    <a:lnL w="12700">
                      <a:solidFill>
                        <a:schemeClr val="tx1"/>
                      </a:solidFill>
                    </a:lnL>
                    <a:lnT w="12700">
                      <a:solidFill>
                        <a:schemeClr val="tx1"/>
                      </a:solidFill>
                    </a:lnT>
                    <a:lnB w="12700">
                      <a:solidFill>
                        <a:schemeClr val="tx1"/>
                      </a:solidFill>
                    </a:lnB>
                  </a:tcPr>
                </a:tc>
                <a:tc>
                  <a:txBody>
                    <a:bodyPr/>
                    <a:lstStyle/>
                    <a:p>
                      <a:pPr lvl="0" algn="ctr">
                        <a:buNone/>
                      </a:pPr>
                      <a:r>
                        <a:rPr lang="en-US" sz="1400" b="1" dirty="0">
                          <a:latin typeface="Arial"/>
                        </a:rPr>
                        <a:t>Basic variables</a:t>
                      </a:r>
                    </a:p>
                  </a:txBody>
                  <a:tcPr marL="91450" marR="91450" marT="45671" marB="45671">
                    <a:lnR w="12700">
                      <a:solidFill>
                        <a:schemeClr val="tx1"/>
                      </a:solidFill>
                    </a:lnR>
                    <a:lnT w="12700">
                      <a:solidFill>
                        <a:schemeClr val="tx1"/>
                      </a:solidFill>
                    </a:lnT>
                    <a:lnB w="12700">
                      <a:solidFill>
                        <a:schemeClr val="tx1"/>
                      </a:solidFill>
                    </a:lnB>
                  </a:tcPr>
                </a:tc>
                <a:tc>
                  <a:txBody>
                    <a:bodyPr/>
                    <a:lstStyle/>
                    <a:p>
                      <a:pPr lvl="0" algn="ctr">
                        <a:buNone/>
                      </a:pPr>
                      <a:r>
                        <a:rPr lang="en-US" sz="2000" b="1" dirty="0">
                          <a:latin typeface="Arial"/>
                        </a:rPr>
                        <a:t>x1</a:t>
                      </a:r>
                      <a:endParaRPr lang="en-US" sz="2000"/>
                    </a:p>
                  </a:txBody>
                  <a:tcPr marL="91450" marR="91450" marT="45671" marB="45671">
                    <a:lnL w="12700">
                      <a:solidFill>
                        <a:schemeClr val="tx1"/>
                      </a:solidFill>
                    </a:lnL>
                    <a:lnT w="12700">
                      <a:solidFill>
                        <a:schemeClr val="tx1"/>
                      </a:solidFill>
                    </a:lnT>
                    <a:lnB w="12700">
                      <a:solidFill>
                        <a:schemeClr val="tx1"/>
                      </a:solidFill>
                    </a:lnB>
                  </a:tcPr>
                </a:tc>
                <a:tc>
                  <a:txBody>
                    <a:bodyPr/>
                    <a:lstStyle/>
                    <a:p>
                      <a:pPr lvl="0" algn="ctr">
                        <a:buNone/>
                      </a:pPr>
                      <a:r>
                        <a:rPr lang="en-US" sz="2000" b="1" dirty="0">
                          <a:latin typeface="Arial"/>
                        </a:rPr>
                        <a:t>x2</a:t>
                      </a:r>
                      <a:endParaRPr lang="en-US" sz="2000"/>
                    </a:p>
                  </a:txBody>
                  <a:tcPr marL="91450" marR="91450" marT="45671" marB="45671">
                    <a:lnT w="12700">
                      <a:solidFill>
                        <a:schemeClr val="tx1"/>
                      </a:solidFill>
                    </a:lnT>
                    <a:lnB w="12700">
                      <a:solidFill>
                        <a:schemeClr val="tx1"/>
                      </a:solidFill>
                    </a:lnB>
                  </a:tcPr>
                </a:tc>
                <a:tc>
                  <a:txBody>
                    <a:bodyPr/>
                    <a:lstStyle/>
                    <a:p>
                      <a:pPr lvl="0" algn="ctr">
                        <a:buNone/>
                      </a:pPr>
                      <a:r>
                        <a:rPr lang="en-US" sz="2000" b="1" dirty="0">
                          <a:latin typeface="Arial"/>
                        </a:rPr>
                        <a:t>s1</a:t>
                      </a:r>
                      <a:endParaRPr lang="en-US" sz="2000"/>
                    </a:p>
                  </a:txBody>
                  <a:tcPr marL="91450" marR="91450" marT="45671" marB="45671">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2000" b="1" dirty="0">
                          <a:latin typeface="Arial"/>
                        </a:rPr>
                        <a:t>s2</a:t>
                      </a:r>
                      <a:endParaRPr lang="en-US" sz="2000"/>
                    </a:p>
                  </a:txBody>
                  <a:tcPr marL="91450" marR="91450" marT="45671" marB="45671">
                    <a:lnR w="12700">
                      <a:solidFill>
                        <a:schemeClr val="tx1"/>
                      </a:solidFill>
                    </a:lnR>
                    <a:lnT w="12700">
                      <a:solidFill>
                        <a:schemeClr val="tx1"/>
                      </a:solidFill>
                    </a:lnT>
                    <a:lnB w="12700">
                      <a:solidFill>
                        <a:schemeClr val="tx1"/>
                      </a:solidFill>
                    </a:lnB>
                  </a:tcPr>
                </a:tc>
                <a:tc>
                  <a:txBody>
                    <a:bodyPr/>
                    <a:lstStyle/>
                    <a:p>
                      <a:pPr lvl="0" algn="ctr">
                        <a:buNone/>
                      </a:pPr>
                      <a:r>
                        <a:rPr lang="en-US" sz="2000" b="1" dirty="0">
                          <a:latin typeface="Arial"/>
                        </a:rPr>
                        <a:t>b</a:t>
                      </a:r>
                      <a:endParaRPr lang="en-US" sz="2000"/>
                    </a:p>
                  </a:txBody>
                  <a:tcPr marL="91450" marR="91450" marT="45671" marB="45671">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2000" b="1" dirty="0">
                          <a:latin typeface="Arial"/>
                        </a:rPr>
                        <a:t>ratio</a:t>
                      </a:r>
                    </a:p>
                  </a:txBody>
                  <a:tcPr marL="91450" marR="91450" marT="45671" marB="45671">
                    <a:lnL w="12700">
                      <a:solidFill>
                        <a:schemeClr val="tx1"/>
                      </a:solidFill>
                    </a:lnL>
                    <a:lnT w="12700">
                      <a:solidFill>
                        <a:schemeClr val="tx1"/>
                      </a:solidFill>
                    </a:lnT>
                    <a:lnB w="12700">
                      <a:solidFill>
                        <a:schemeClr val="tx1"/>
                      </a:solidFill>
                    </a:lnB>
                  </a:tcPr>
                </a:tc>
                <a:extLst>
                  <a:ext uri="{0D108BD9-81ED-4DB2-BD59-A6C34878D82A}">
                    <a16:rowId xmlns:a16="http://schemas.microsoft.com/office/drawing/2014/main" val="10001"/>
                  </a:ext>
                </a:extLst>
              </a:tr>
              <a:tr h="396135">
                <a:tc>
                  <a:txBody>
                    <a:bodyPr/>
                    <a:lstStyle/>
                    <a:p>
                      <a:pPr lvl="0" algn="ctr">
                        <a:buNone/>
                      </a:pPr>
                      <a:r>
                        <a:rPr lang="en-US" sz="2000" b="1" dirty="0">
                          <a:latin typeface="Arial"/>
                        </a:rPr>
                        <a:t>16</a:t>
                      </a:r>
                    </a:p>
                  </a:txBody>
                  <a:tcPr marL="91450" marR="91450" marT="45671" marB="45671">
                    <a:lnL w="12700">
                      <a:solidFill>
                        <a:schemeClr val="tx1"/>
                      </a:solidFill>
                    </a:lnL>
                    <a:lnT w="12700">
                      <a:solidFill>
                        <a:schemeClr val="tx1"/>
                      </a:solidFill>
                    </a:lnT>
                  </a:tcPr>
                </a:tc>
                <a:tc>
                  <a:txBody>
                    <a:bodyPr/>
                    <a:lstStyle/>
                    <a:p>
                      <a:pPr lvl="0" algn="ctr">
                        <a:buNone/>
                      </a:pPr>
                      <a:r>
                        <a:rPr lang="en-US" sz="2000" b="1" dirty="0">
                          <a:solidFill>
                            <a:schemeClr val="accent3"/>
                          </a:solidFill>
                          <a:latin typeface="Arial"/>
                        </a:rPr>
                        <a:t>x2</a:t>
                      </a:r>
                    </a:p>
                  </a:txBody>
                  <a:tcPr marL="91450" marR="91450" marT="45671" marB="45671">
                    <a:lnR w="12700">
                      <a:solidFill>
                        <a:schemeClr val="tx1"/>
                      </a:solidFill>
                    </a:lnR>
                    <a:lnT w="12700">
                      <a:solidFill>
                        <a:schemeClr val="tx1"/>
                      </a:solidFill>
                    </a:lnT>
                  </a:tcPr>
                </a:tc>
                <a:tc>
                  <a:txBody>
                    <a:bodyPr/>
                    <a:lstStyle/>
                    <a:p>
                      <a:pPr algn="ctr"/>
                      <a:r>
                        <a:rPr lang="en-US" sz="2000" b="1" dirty="0">
                          <a:latin typeface="Arial"/>
                        </a:rPr>
                        <a:t>1/2</a:t>
                      </a:r>
                    </a:p>
                  </a:txBody>
                  <a:tcPr marL="91450" marR="91450" marT="45671" marB="45671">
                    <a:lnL w="12700">
                      <a:solidFill>
                        <a:schemeClr val="tx1"/>
                      </a:solidFill>
                    </a:lnL>
                    <a:lnT w="12700">
                      <a:solidFill>
                        <a:schemeClr val="tx1"/>
                      </a:solidFill>
                    </a:lnT>
                  </a:tcPr>
                </a:tc>
                <a:tc>
                  <a:txBody>
                    <a:bodyPr/>
                    <a:lstStyle/>
                    <a:p>
                      <a:pPr algn="ctr"/>
                      <a:r>
                        <a:rPr lang="en-US" sz="2000" b="1" dirty="0">
                          <a:latin typeface="Arial"/>
                        </a:rPr>
                        <a:t>1</a:t>
                      </a:r>
                    </a:p>
                  </a:txBody>
                  <a:tcPr marL="91450" marR="91450" marT="45671" marB="45671">
                    <a:lnT w="12700">
                      <a:solidFill>
                        <a:schemeClr val="tx1"/>
                      </a:solidFill>
                    </a:lnT>
                  </a:tcPr>
                </a:tc>
                <a:tc>
                  <a:txBody>
                    <a:bodyPr/>
                    <a:lstStyle/>
                    <a:p>
                      <a:pPr algn="ctr"/>
                      <a:r>
                        <a:rPr lang="en-US" sz="2000" b="1" dirty="0">
                          <a:latin typeface="Arial"/>
                        </a:rPr>
                        <a:t>1/20</a:t>
                      </a:r>
                    </a:p>
                  </a:txBody>
                  <a:tcPr marL="91450" marR="91450" marT="45671" marB="45671">
                    <a:lnT w="12700" cap="flat" cmpd="sng" algn="ctr">
                      <a:solidFill>
                        <a:schemeClr val="tx1"/>
                      </a:solidFill>
                      <a:prstDash val="solid"/>
                      <a:round/>
                      <a:headEnd type="none" w="med" len="med"/>
                      <a:tailEnd type="none" w="med" len="med"/>
                    </a:lnT>
                  </a:tcPr>
                </a:tc>
                <a:tc>
                  <a:txBody>
                    <a:bodyPr/>
                    <a:lstStyle/>
                    <a:p>
                      <a:pPr algn="ctr"/>
                      <a:r>
                        <a:rPr lang="en-US" sz="2000" b="1" dirty="0">
                          <a:latin typeface="Arial"/>
                        </a:rPr>
                        <a:t>0</a:t>
                      </a:r>
                    </a:p>
                  </a:txBody>
                  <a:tcPr marL="91450" marR="91450" marT="45671" marB="45671">
                    <a:lnR w="12700">
                      <a:solidFill>
                        <a:schemeClr val="tx1"/>
                      </a:solidFill>
                    </a:lnR>
                    <a:lnT w="12700">
                      <a:solidFill>
                        <a:schemeClr val="tx1"/>
                      </a:solidFill>
                    </a:lnT>
                  </a:tcPr>
                </a:tc>
                <a:tc>
                  <a:txBody>
                    <a:bodyPr/>
                    <a:lstStyle/>
                    <a:p>
                      <a:pPr algn="ctr"/>
                      <a:r>
                        <a:rPr lang="en-US" sz="2000" b="1" dirty="0">
                          <a:latin typeface="Arial"/>
                        </a:rPr>
                        <a:t>6</a:t>
                      </a:r>
                    </a:p>
                  </a:txBody>
                  <a:tcPr marL="91450" marR="91450" marT="45671" marB="45671">
                    <a:lnL w="12700">
                      <a:solidFill>
                        <a:schemeClr val="tx1"/>
                      </a:solidFill>
                    </a:lnL>
                    <a:lnR w="12700">
                      <a:solidFill>
                        <a:schemeClr val="tx1"/>
                      </a:solidFill>
                    </a:lnR>
                    <a:lnT w="12700">
                      <a:solidFill>
                        <a:schemeClr val="tx1"/>
                      </a:solidFill>
                    </a:lnT>
                  </a:tcPr>
                </a:tc>
                <a:tc>
                  <a:txBody>
                    <a:bodyPr/>
                    <a:lstStyle/>
                    <a:p>
                      <a:pPr lvl="0" algn="ctr">
                        <a:buNone/>
                      </a:pPr>
                      <a:r>
                        <a:rPr lang="en-US" sz="2000" b="1" dirty="0">
                          <a:latin typeface="Arial"/>
                        </a:rPr>
                        <a:t>12</a:t>
                      </a:r>
                    </a:p>
                  </a:txBody>
                  <a:tcPr marL="91450" marR="91450" marT="45671" marB="45671">
                    <a:lnL w="12700">
                      <a:solidFill>
                        <a:schemeClr val="tx1"/>
                      </a:solidFill>
                    </a:lnL>
                    <a:lnT w="12700">
                      <a:solidFill>
                        <a:schemeClr val="tx1"/>
                      </a:solidFill>
                    </a:lnT>
                  </a:tcPr>
                </a:tc>
                <a:extLst>
                  <a:ext uri="{0D108BD9-81ED-4DB2-BD59-A6C34878D82A}">
                    <a16:rowId xmlns:a16="http://schemas.microsoft.com/office/drawing/2014/main" val="10002"/>
                  </a:ext>
                </a:extLst>
              </a:tr>
              <a:tr h="396135">
                <a:tc>
                  <a:txBody>
                    <a:bodyPr/>
                    <a:lstStyle/>
                    <a:p>
                      <a:pPr lvl="0" algn="ctr">
                        <a:buNone/>
                      </a:pPr>
                      <a:r>
                        <a:rPr lang="en-US" sz="2000" b="1" dirty="0">
                          <a:latin typeface="Arial"/>
                        </a:rPr>
                        <a:t>0</a:t>
                      </a:r>
                    </a:p>
                  </a:txBody>
                  <a:tcPr marL="91450" marR="91450" marT="45671" marB="45671">
                    <a:lnL w="12700">
                      <a:solidFill>
                        <a:schemeClr val="tx1"/>
                      </a:solidFill>
                    </a:lnL>
                    <a:lnB w="12700">
                      <a:solidFill>
                        <a:schemeClr val="tx1"/>
                      </a:solidFill>
                    </a:lnB>
                  </a:tcPr>
                </a:tc>
                <a:tc>
                  <a:txBody>
                    <a:bodyPr/>
                    <a:lstStyle/>
                    <a:p>
                      <a:pPr lvl="0" algn="ctr">
                        <a:buNone/>
                      </a:pPr>
                      <a:r>
                        <a:rPr lang="en-US" sz="2000" b="1" dirty="0">
                          <a:solidFill>
                            <a:schemeClr val="accent3"/>
                          </a:solidFill>
                          <a:latin typeface="Arial"/>
                        </a:rPr>
                        <a:t>s2</a:t>
                      </a:r>
                    </a:p>
                  </a:txBody>
                  <a:tcPr marL="91450" marR="91450" marT="45671" marB="45671">
                    <a:lnR w="12700">
                      <a:solidFill>
                        <a:schemeClr val="tx1"/>
                      </a:solidFill>
                    </a:lnR>
                    <a:lnB w="12700">
                      <a:solidFill>
                        <a:schemeClr val="tx1"/>
                      </a:solidFill>
                    </a:lnB>
                  </a:tcPr>
                </a:tc>
                <a:tc>
                  <a:txBody>
                    <a:bodyPr/>
                    <a:lstStyle/>
                    <a:p>
                      <a:pPr algn="ctr"/>
                      <a:r>
                        <a:rPr lang="en-US" sz="2000" b="1" dirty="0">
                          <a:latin typeface="Arial"/>
                        </a:rPr>
                        <a:t>4</a:t>
                      </a:r>
                    </a:p>
                  </a:txBody>
                  <a:tcPr marL="91450" marR="91450" marT="45671" marB="45671">
                    <a:lnL w="12700">
                      <a:solidFill>
                        <a:schemeClr val="tx1"/>
                      </a:solidFill>
                    </a:lnL>
                    <a:lnB w="12700">
                      <a:solidFill>
                        <a:schemeClr val="tx1"/>
                      </a:solidFill>
                    </a:lnB>
                  </a:tcPr>
                </a:tc>
                <a:tc>
                  <a:txBody>
                    <a:bodyPr/>
                    <a:lstStyle/>
                    <a:p>
                      <a:pPr algn="ctr"/>
                      <a:r>
                        <a:rPr lang="en-US" sz="2000" b="1" dirty="0">
                          <a:latin typeface="Arial"/>
                        </a:rPr>
                        <a:t>0</a:t>
                      </a:r>
                    </a:p>
                  </a:txBody>
                  <a:tcPr marL="91450" marR="91450" marT="45671" marB="45671">
                    <a:lnB w="12700">
                      <a:solidFill>
                        <a:schemeClr val="tx1"/>
                      </a:solidFill>
                    </a:lnB>
                  </a:tcPr>
                </a:tc>
                <a:tc>
                  <a:txBody>
                    <a:bodyPr/>
                    <a:lstStyle/>
                    <a:p>
                      <a:pPr algn="ctr"/>
                      <a:r>
                        <a:rPr lang="en-US" sz="2000" b="1" dirty="0">
                          <a:latin typeface="Arial"/>
                        </a:rPr>
                        <a:t>-2/5</a:t>
                      </a:r>
                    </a:p>
                  </a:txBody>
                  <a:tcPr marL="91450" marR="91450" marT="45671" marB="45671">
                    <a:lnB w="12700">
                      <a:solidFill>
                        <a:schemeClr val="tx1"/>
                      </a:solidFill>
                    </a:lnB>
                  </a:tcPr>
                </a:tc>
                <a:tc>
                  <a:txBody>
                    <a:bodyPr/>
                    <a:lstStyle/>
                    <a:p>
                      <a:pPr algn="ctr"/>
                      <a:r>
                        <a:rPr lang="en-US" sz="2000" b="1" dirty="0">
                          <a:latin typeface="Arial"/>
                        </a:rPr>
                        <a:t>1</a:t>
                      </a:r>
                    </a:p>
                  </a:txBody>
                  <a:tcPr marL="91450" marR="91450" marT="45671" marB="45671">
                    <a:lnR w="12700">
                      <a:solidFill>
                        <a:schemeClr val="tx1"/>
                      </a:solidFill>
                    </a:lnR>
                    <a:lnB w="12700">
                      <a:solidFill>
                        <a:schemeClr val="tx1"/>
                      </a:solidFill>
                    </a:lnB>
                  </a:tcPr>
                </a:tc>
                <a:tc>
                  <a:txBody>
                    <a:bodyPr/>
                    <a:lstStyle/>
                    <a:p>
                      <a:pPr algn="ctr"/>
                      <a:r>
                        <a:rPr lang="en-US" sz="2000" b="1" dirty="0">
                          <a:latin typeface="Arial"/>
                        </a:rPr>
                        <a:t>32</a:t>
                      </a:r>
                    </a:p>
                  </a:txBody>
                  <a:tcPr marL="91450" marR="91450" marT="45671" marB="45671">
                    <a:lnL w="12700">
                      <a:solidFill>
                        <a:schemeClr val="tx1"/>
                      </a:solidFill>
                    </a:lnL>
                    <a:lnR w="12700">
                      <a:solidFill>
                        <a:schemeClr val="tx1"/>
                      </a:solidFill>
                    </a:lnR>
                    <a:lnB w="12700">
                      <a:solidFill>
                        <a:schemeClr val="tx1"/>
                      </a:solidFill>
                    </a:lnB>
                  </a:tcPr>
                </a:tc>
                <a:tc>
                  <a:txBody>
                    <a:bodyPr/>
                    <a:lstStyle/>
                    <a:p>
                      <a:pPr lvl="0" algn="ctr">
                        <a:buNone/>
                      </a:pPr>
                      <a:r>
                        <a:rPr lang="en-US" sz="2000" b="1" dirty="0">
                          <a:latin typeface="Arial"/>
                        </a:rPr>
                        <a:t>8</a:t>
                      </a:r>
                    </a:p>
                  </a:txBody>
                  <a:tcPr marL="91450" marR="91450" marT="45671" marB="45671">
                    <a:lnL w="12700">
                      <a:solidFill>
                        <a:schemeClr val="tx1"/>
                      </a:solidFill>
                    </a:lnL>
                    <a:lnB w="12700">
                      <a:solidFill>
                        <a:schemeClr val="tx1"/>
                      </a:solidFill>
                    </a:lnB>
                  </a:tcPr>
                </a:tc>
                <a:extLst>
                  <a:ext uri="{0D108BD9-81ED-4DB2-BD59-A6C34878D82A}">
                    <a16:rowId xmlns:a16="http://schemas.microsoft.com/office/drawing/2014/main" val="10003"/>
                  </a:ext>
                </a:extLst>
              </a:tr>
              <a:tr h="396135">
                <a:tc>
                  <a:txBody>
                    <a:bodyPr/>
                    <a:lstStyle/>
                    <a:p>
                      <a:pPr lvl="0" algn="ctr">
                        <a:buNone/>
                      </a:pPr>
                      <a:endParaRPr lang="en-US" sz="2000" b="1" dirty="0">
                        <a:latin typeface="Arial"/>
                      </a:endParaRPr>
                    </a:p>
                  </a:txBody>
                  <a:tcPr marL="91450" marR="91450" marT="45671" marB="45671">
                    <a:lnL w="12700">
                      <a:solidFill>
                        <a:schemeClr val="tx1"/>
                      </a:solidFill>
                    </a:lnL>
                    <a:lnT w="12700">
                      <a:solidFill>
                        <a:schemeClr val="tx1"/>
                      </a:solidFill>
                    </a:lnT>
                  </a:tcPr>
                </a:tc>
                <a:tc>
                  <a:txBody>
                    <a:bodyPr/>
                    <a:lstStyle/>
                    <a:p>
                      <a:pPr lvl="0" algn="ctr">
                        <a:buNone/>
                      </a:pPr>
                      <a:r>
                        <a:rPr lang="en-US" sz="2000" b="0" dirty="0" err="1">
                          <a:solidFill>
                            <a:schemeClr val="tx1"/>
                          </a:solidFill>
                          <a:latin typeface="Arial"/>
                        </a:rPr>
                        <a:t>zj</a:t>
                      </a:r>
                      <a:endParaRPr lang="en-US" sz="2000" b="0" dirty="0">
                        <a:solidFill>
                          <a:schemeClr val="tx1"/>
                        </a:solidFill>
                        <a:latin typeface="Arial"/>
                      </a:endParaRPr>
                    </a:p>
                  </a:txBody>
                  <a:tcPr marL="91450" marR="91450" marT="45671" marB="45671">
                    <a:lnR w="12700">
                      <a:solidFill>
                        <a:schemeClr val="tx1"/>
                      </a:solidFill>
                    </a:lnR>
                    <a:lnT w="12700">
                      <a:solidFill>
                        <a:schemeClr val="tx1"/>
                      </a:solidFill>
                    </a:lnT>
                  </a:tcPr>
                </a:tc>
                <a:tc>
                  <a:txBody>
                    <a:bodyPr/>
                    <a:lstStyle/>
                    <a:p>
                      <a:pPr lvl="0" algn="ctr">
                        <a:buNone/>
                      </a:pPr>
                      <a:r>
                        <a:rPr lang="en-US" sz="2000" b="1" dirty="0">
                          <a:latin typeface="Arial"/>
                        </a:rPr>
                        <a:t>8</a:t>
                      </a:r>
                    </a:p>
                  </a:txBody>
                  <a:tcPr marL="91450" marR="91450" marT="45671" marB="45671">
                    <a:lnL w="12700">
                      <a:solidFill>
                        <a:schemeClr val="tx1"/>
                      </a:solidFill>
                    </a:lnL>
                    <a:lnT w="12700">
                      <a:solidFill>
                        <a:schemeClr val="tx1"/>
                      </a:solidFill>
                    </a:lnT>
                  </a:tcPr>
                </a:tc>
                <a:tc>
                  <a:txBody>
                    <a:bodyPr/>
                    <a:lstStyle/>
                    <a:p>
                      <a:pPr lvl="0" algn="ctr">
                        <a:buNone/>
                      </a:pPr>
                      <a:r>
                        <a:rPr lang="en-US" sz="2000" b="1" dirty="0">
                          <a:latin typeface="Arial"/>
                        </a:rPr>
                        <a:t>16</a:t>
                      </a:r>
                    </a:p>
                  </a:txBody>
                  <a:tcPr marL="91450" marR="91450" marT="45671" marB="45671">
                    <a:lnT w="12700">
                      <a:solidFill>
                        <a:schemeClr val="tx1"/>
                      </a:solidFill>
                    </a:lnT>
                  </a:tcPr>
                </a:tc>
                <a:tc>
                  <a:txBody>
                    <a:bodyPr/>
                    <a:lstStyle/>
                    <a:p>
                      <a:pPr lvl="0" algn="ctr">
                        <a:buNone/>
                      </a:pPr>
                      <a:r>
                        <a:rPr lang="en-US" sz="2000" b="1" dirty="0">
                          <a:latin typeface="Arial"/>
                        </a:rPr>
                        <a:t>4/5</a:t>
                      </a:r>
                    </a:p>
                  </a:txBody>
                  <a:tcPr marL="91450" marR="91450" marT="45671" marB="45671">
                    <a:lnT w="12700">
                      <a:solidFill>
                        <a:schemeClr val="tx1"/>
                      </a:solidFill>
                    </a:lnT>
                  </a:tcPr>
                </a:tc>
                <a:tc>
                  <a:txBody>
                    <a:bodyPr/>
                    <a:lstStyle/>
                    <a:p>
                      <a:pPr lvl="0" algn="ctr">
                        <a:buNone/>
                      </a:pPr>
                      <a:r>
                        <a:rPr lang="en-US" sz="2000" b="1" dirty="0">
                          <a:latin typeface="Arial"/>
                        </a:rPr>
                        <a:t>0</a:t>
                      </a:r>
                    </a:p>
                  </a:txBody>
                  <a:tcPr marL="91450" marR="91450" marT="45671" marB="45671">
                    <a:lnR w="12700">
                      <a:solidFill>
                        <a:schemeClr val="tx1"/>
                      </a:solidFill>
                    </a:lnR>
                    <a:lnT w="12700">
                      <a:solidFill>
                        <a:schemeClr val="tx1"/>
                      </a:solidFill>
                    </a:lnT>
                  </a:tcPr>
                </a:tc>
                <a:tc>
                  <a:txBody>
                    <a:bodyPr/>
                    <a:lstStyle/>
                    <a:p>
                      <a:pPr lvl="0" algn="ctr">
                        <a:buNone/>
                      </a:pPr>
                      <a:r>
                        <a:rPr lang="en-US" sz="2000" b="1" dirty="0">
                          <a:latin typeface="Arial"/>
                        </a:rPr>
                        <a:t>96</a:t>
                      </a:r>
                    </a:p>
                  </a:txBody>
                  <a:tcPr marL="91450" marR="91450" marT="45671" marB="45671">
                    <a:lnL w="12700">
                      <a:solidFill>
                        <a:schemeClr val="tx1"/>
                      </a:solidFill>
                    </a:lnL>
                    <a:lnR w="12700">
                      <a:solidFill>
                        <a:schemeClr val="tx1"/>
                      </a:solidFill>
                    </a:lnR>
                    <a:lnT w="12700">
                      <a:solidFill>
                        <a:schemeClr val="tx1"/>
                      </a:solidFill>
                    </a:lnT>
                  </a:tcPr>
                </a:tc>
                <a:tc>
                  <a:txBody>
                    <a:bodyPr/>
                    <a:lstStyle/>
                    <a:p>
                      <a:pPr lvl="0" algn="ctr">
                        <a:buNone/>
                      </a:pPr>
                      <a:endParaRPr lang="en-US" sz="2000" b="1" dirty="0">
                        <a:latin typeface="Arial"/>
                      </a:endParaRPr>
                    </a:p>
                  </a:txBody>
                  <a:tcPr marL="91450" marR="91450" marT="45671" marB="45671">
                    <a:lnL w="12700">
                      <a:solidFill>
                        <a:schemeClr val="tx1"/>
                      </a:solidFill>
                    </a:lnL>
                    <a:lnT w="12700">
                      <a:solidFill>
                        <a:schemeClr val="tx1"/>
                      </a:solidFill>
                    </a:lnT>
                  </a:tcPr>
                </a:tc>
                <a:extLst>
                  <a:ext uri="{0D108BD9-81ED-4DB2-BD59-A6C34878D82A}">
                    <a16:rowId xmlns:a16="http://schemas.microsoft.com/office/drawing/2014/main" val="10004"/>
                  </a:ext>
                </a:extLst>
              </a:tr>
              <a:tr h="396135">
                <a:tc>
                  <a:txBody>
                    <a:bodyPr/>
                    <a:lstStyle/>
                    <a:p>
                      <a:pPr lvl="0" algn="ctr">
                        <a:buNone/>
                      </a:pPr>
                      <a:endParaRPr lang="en-US" sz="2000" b="1" dirty="0">
                        <a:latin typeface="Arial"/>
                      </a:endParaRPr>
                    </a:p>
                  </a:txBody>
                  <a:tcPr marL="91450" marR="91450" marT="45671" marB="45671">
                    <a:lnL w="12700">
                      <a:solidFill>
                        <a:schemeClr val="tx1"/>
                      </a:solidFill>
                    </a:lnL>
                  </a:tcPr>
                </a:tc>
                <a:tc>
                  <a:txBody>
                    <a:bodyPr/>
                    <a:lstStyle/>
                    <a:p>
                      <a:pPr lvl="0" algn="ctr">
                        <a:buNone/>
                      </a:pPr>
                      <a:r>
                        <a:rPr lang="en-US" sz="2000" b="0" dirty="0">
                          <a:solidFill>
                            <a:schemeClr val="tx1"/>
                          </a:solidFill>
                          <a:latin typeface="Arial"/>
                        </a:rPr>
                        <a:t>Cj - </a:t>
                      </a:r>
                      <a:r>
                        <a:rPr lang="en-US" sz="2000" b="0" dirty="0" err="1">
                          <a:solidFill>
                            <a:schemeClr val="tx1"/>
                          </a:solidFill>
                          <a:latin typeface="Arial"/>
                        </a:rPr>
                        <a:t>zj</a:t>
                      </a:r>
                      <a:endParaRPr lang="en-US" sz="2000" b="0" dirty="0">
                        <a:solidFill>
                          <a:schemeClr val="tx1"/>
                        </a:solidFill>
                        <a:latin typeface="Arial"/>
                      </a:endParaRPr>
                    </a:p>
                  </a:txBody>
                  <a:tcPr marL="91450" marR="91450" marT="45671" marB="45671">
                    <a:lnR w="12700">
                      <a:solidFill>
                        <a:schemeClr val="tx1"/>
                      </a:solidFill>
                    </a:lnR>
                  </a:tcPr>
                </a:tc>
                <a:tc>
                  <a:txBody>
                    <a:bodyPr/>
                    <a:lstStyle/>
                    <a:p>
                      <a:pPr lvl="0" algn="ctr">
                        <a:buNone/>
                      </a:pPr>
                      <a:r>
                        <a:rPr lang="en-US" sz="2000" b="1" dirty="0">
                          <a:latin typeface="Arial"/>
                        </a:rPr>
                        <a:t>4</a:t>
                      </a:r>
                    </a:p>
                  </a:txBody>
                  <a:tcPr marL="91450" marR="91450" marT="45671" marB="45671">
                    <a:lnL w="12700">
                      <a:solidFill>
                        <a:schemeClr val="tx1"/>
                      </a:solidFill>
                    </a:lnL>
                  </a:tcPr>
                </a:tc>
                <a:tc>
                  <a:txBody>
                    <a:bodyPr/>
                    <a:lstStyle/>
                    <a:p>
                      <a:pPr lvl="0" algn="ctr">
                        <a:buNone/>
                      </a:pPr>
                      <a:r>
                        <a:rPr lang="en-US" sz="2000" b="1" dirty="0">
                          <a:latin typeface="Arial"/>
                        </a:rPr>
                        <a:t>0</a:t>
                      </a:r>
                    </a:p>
                  </a:txBody>
                  <a:tcPr marL="91450" marR="91450" marT="45671" marB="45671"/>
                </a:tc>
                <a:tc>
                  <a:txBody>
                    <a:bodyPr/>
                    <a:lstStyle/>
                    <a:p>
                      <a:pPr lvl="0" algn="ctr">
                        <a:buNone/>
                      </a:pPr>
                      <a:r>
                        <a:rPr lang="en-US" sz="2000" b="1" dirty="0">
                          <a:latin typeface="Arial"/>
                        </a:rPr>
                        <a:t>-4/5</a:t>
                      </a:r>
                    </a:p>
                  </a:txBody>
                  <a:tcPr marL="91450" marR="91450" marT="45671" marB="45671"/>
                </a:tc>
                <a:tc>
                  <a:txBody>
                    <a:bodyPr/>
                    <a:lstStyle/>
                    <a:p>
                      <a:pPr lvl="0" algn="ctr">
                        <a:buNone/>
                      </a:pPr>
                      <a:r>
                        <a:rPr lang="en-US" sz="2000" b="1" dirty="0">
                          <a:latin typeface="Arial"/>
                        </a:rPr>
                        <a:t>0</a:t>
                      </a:r>
                    </a:p>
                  </a:txBody>
                  <a:tcPr marL="91450" marR="91450" marT="45671" marB="45671">
                    <a:lnR w="12700">
                      <a:solidFill>
                        <a:schemeClr val="tx1"/>
                      </a:solidFill>
                    </a:lnR>
                  </a:tcPr>
                </a:tc>
                <a:tc>
                  <a:txBody>
                    <a:bodyPr/>
                    <a:lstStyle/>
                    <a:p>
                      <a:pPr lvl="0" algn="ctr">
                        <a:buNone/>
                      </a:pPr>
                      <a:endParaRPr lang="en-US" sz="2000" b="1" dirty="0">
                        <a:latin typeface="Arial"/>
                      </a:endParaRPr>
                    </a:p>
                  </a:txBody>
                  <a:tcPr marL="91450" marR="91450" marT="45671" marB="45671">
                    <a:lnL w="12700">
                      <a:solidFill>
                        <a:schemeClr val="tx1"/>
                      </a:solidFill>
                    </a:lnL>
                    <a:lnR w="12700">
                      <a:solidFill>
                        <a:schemeClr val="tx1"/>
                      </a:solidFill>
                    </a:lnR>
                  </a:tcPr>
                </a:tc>
                <a:tc>
                  <a:txBody>
                    <a:bodyPr/>
                    <a:lstStyle/>
                    <a:p>
                      <a:pPr lvl="0" algn="ctr">
                        <a:buNone/>
                      </a:pPr>
                      <a:endParaRPr lang="en-US" sz="2000" b="1" dirty="0">
                        <a:latin typeface="Arial"/>
                      </a:endParaRPr>
                    </a:p>
                  </a:txBody>
                  <a:tcPr marL="91450" marR="91450" marT="45671" marB="45671">
                    <a:lnL w="12700">
                      <a:solidFill>
                        <a:schemeClr val="tx1"/>
                      </a:solidFill>
                    </a:lnL>
                  </a:tcPr>
                </a:tc>
                <a:extLst>
                  <a:ext uri="{0D108BD9-81ED-4DB2-BD59-A6C34878D82A}">
                    <a16:rowId xmlns:a16="http://schemas.microsoft.com/office/drawing/2014/main" val="10005"/>
                  </a:ext>
                </a:extLst>
              </a:tr>
            </a:tbl>
          </a:graphicData>
        </a:graphic>
      </p:graphicFrame>
      <p:sp>
        <p:nvSpPr>
          <p:cNvPr id="68732" name="TextBox 12">
            <a:extLst>
              <a:ext uri="{FF2B5EF4-FFF2-40B4-BE49-F238E27FC236}">
                <a16:creationId xmlns:a16="http://schemas.microsoft.com/office/drawing/2014/main" id="{5F5BC933-C38E-5C3D-1D36-C048FA893A03}"/>
              </a:ext>
            </a:extLst>
          </p:cNvPr>
          <p:cNvSpPr txBox="1">
            <a:spLocks noChangeArrowheads="1"/>
          </p:cNvSpPr>
          <p:nvPr/>
        </p:nvSpPr>
        <p:spPr bwMode="auto">
          <a:xfrm>
            <a:off x="9731375" y="1825625"/>
            <a:ext cx="2233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Revised tableau</a:t>
            </a:r>
          </a:p>
          <a:p>
            <a:pPr eaLnBrk="1" hangingPunct="1">
              <a:lnSpc>
                <a:spcPct val="100000"/>
              </a:lnSpc>
              <a:spcBef>
                <a:spcPct val="0"/>
              </a:spcBef>
              <a:buClrTx/>
              <a:buSzTx/>
              <a:buFontTx/>
              <a:buNone/>
            </a:pPr>
            <a:r>
              <a:rPr lang="en-US" altLang="en-US" sz="1800"/>
              <a:t>Non-optimal solution</a:t>
            </a:r>
          </a:p>
        </p:txBody>
      </p:sp>
      <p:sp>
        <p:nvSpPr>
          <p:cNvPr id="68733" name="TextBox 2">
            <a:extLst>
              <a:ext uri="{FF2B5EF4-FFF2-40B4-BE49-F238E27FC236}">
                <a16:creationId xmlns:a16="http://schemas.microsoft.com/office/drawing/2014/main" id="{31E65550-EBAF-8294-ECF6-1FF6D3349936}"/>
              </a:ext>
            </a:extLst>
          </p:cNvPr>
          <p:cNvSpPr txBox="1">
            <a:spLocks noChangeArrowheads="1"/>
          </p:cNvSpPr>
          <p:nvPr/>
        </p:nvSpPr>
        <p:spPr bwMode="auto">
          <a:xfrm>
            <a:off x="10225088" y="4600575"/>
            <a:ext cx="1858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Pivot element = 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Google Shape;192;p32" descr="KL Deemed to be University Logo">
            <a:extLst>
              <a:ext uri="{FF2B5EF4-FFF2-40B4-BE49-F238E27FC236}">
                <a16:creationId xmlns:a16="http://schemas.microsoft.com/office/drawing/2014/main" id="{D6F2A6EB-3C5E-380D-2A9E-DB01C4C98307}"/>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59" name="Google Shape;194;p32" descr="KL Deemed to be University Logo">
            <a:extLst>
              <a:ext uri="{FF2B5EF4-FFF2-40B4-BE49-F238E27FC236}">
                <a16:creationId xmlns:a16="http://schemas.microsoft.com/office/drawing/2014/main" id="{A9C3541C-4CD2-2CCF-5895-4C7C2502022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0" name="Google Shape;196;p32">
            <a:extLst>
              <a:ext uri="{FF2B5EF4-FFF2-40B4-BE49-F238E27FC236}">
                <a16:creationId xmlns:a16="http://schemas.microsoft.com/office/drawing/2014/main" id="{510163A1-95C6-D37F-A9CE-6DED8CAC6AE3}"/>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1" name="Slide Number Placeholder 3">
            <a:extLst>
              <a:ext uri="{FF2B5EF4-FFF2-40B4-BE49-F238E27FC236}">
                <a16:creationId xmlns:a16="http://schemas.microsoft.com/office/drawing/2014/main" id="{893C6EFB-4F99-B5A5-A252-582BBB54FB61}"/>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13C9D7A0-5716-46A1-964A-4F46073C78DC}" type="slidenum">
              <a:rPr lang="en-IN" altLang="en-US" sz="2200" smtClean="0">
                <a:solidFill>
                  <a:schemeClr val="accent1"/>
                </a:solidFill>
              </a:rPr>
              <a:pPr>
                <a:lnSpc>
                  <a:spcPct val="100000"/>
                </a:lnSpc>
                <a:spcBef>
                  <a:spcPct val="0"/>
                </a:spcBef>
                <a:buClrTx/>
                <a:buSzTx/>
                <a:buFontTx/>
                <a:buNone/>
              </a:pPr>
              <a:t>29</a:t>
            </a:fld>
            <a:endParaRPr lang="en-IN" altLang="en-US" sz="2200">
              <a:solidFill>
                <a:schemeClr val="accent1"/>
              </a:solidFill>
            </a:endParaRPr>
          </a:p>
        </p:txBody>
      </p:sp>
      <p:sp>
        <p:nvSpPr>
          <p:cNvPr id="70662" name="TextBox 12">
            <a:extLst>
              <a:ext uri="{FF2B5EF4-FFF2-40B4-BE49-F238E27FC236}">
                <a16:creationId xmlns:a16="http://schemas.microsoft.com/office/drawing/2014/main" id="{D212F211-F297-F229-6209-F47B05B2FF88}"/>
              </a:ext>
            </a:extLst>
          </p:cNvPr>
          <p:cNvSpPr txBox="1">
            <a:spLocks noChangeArrowheads="1"/>
          </p:cNvSpPr>
          <p:nvPr/>
        </p:nvSpPr>
        <p:spPr bwMode="auto">
          <a:xfrm>
            <a:off x="9731375" y="1825625"/>
            <a:ext cx="2233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a:t>Revised tableau</a:t>
            </a:r>
          </a:p>
          <a:p>
            <a:pPr eaLnBrk="1" hangingPunct="1">
              <a:lnSpc>
                <a:spcPct val="100000"/>
              </a:lnSpc>
              <a:spcBef>
                <a:spcPct val="0"/>
              </a:spcBef>
              <a:buClrTx/>
              <a:buSzTx/>
              <a:buFontTx/>
              <a:buNone/>
            </a:pPr>
            <a:r>
              <a:rPr lang="en-US" altLang="en-US" sz="1800"/>
              <a:t>Optimal solution</a:t>
            </a:r>
          </a:p>
        </p:txBody>
      </p:sp>
      <p:graphicFrame>
        <p:nvGraphicFramePr>
          <p:cNvPr id="3" name="Table 11">
            <a:extLst>
              <a:ext uri="{FF2B5EF4-FFF2-40B4-BE49-F238E27FC236}">
                <a16:creationId xmlns:a16="http://schemas.microsoft.com/office/drawing/2014/main" id="{740F20AC-7F72-39AE-EB60-F8698582C708}"/>
              </a:ext>
            </a:extLst>
          </p:cNvPr>
          <p:cNvGraphicFramePr>
            <a:graphicFrameLocks noGrp="1"/>
          </p:cNvGraphicFramePr>
          <p:nvPr/>
        </p:nvGraphicFramePr>
        <p:xfrm>
          <a:off x="2079625" y="266700"/>
          <a:ext cx="6759575" cy="2498725"/>
        </p:xfrm>
        <a:graphic>
          <a:graphicData uri="http://schemas.openxmlformats.org/drawingml/2006/table">
            <a:tbl>
              <a:tblPr firstRow="1" bandRow="1">
                <a:tableStyleId>{2D5ABB26-0587-4C30-8999-92F81FD0307C}</a:tableStyleId>
              </a:tblPr>
              <a:tblGrid>
                <a:gridCol w="794989">
                  <a:extLst>
                    <a:ext uri="{9D8B030D-6E8A-4147-A177-3AD203B41FA5}">
                      <a16:colId xmlns:a16="http://schemas.microsoft.com/office/drawing/2014/main" val="20000"/>
                    </a:ext>
                  </a:extLst>
                </a:gridCol>
                <a:gridCol w="1173974">
                  <a:extLst>
                    <a:ext uri="{9D8B030D-6E8A-4147-A177-3AD203B41FA5}">
                      <a16:colId xmlns:a16="http://schemas.microsoft.com/office/drawing/2014/main" val="20001"/>
                    </a:ext>
                  </a:extLst>
                </a:gridCol>
                <a:gridCol w="984479">
                  <a:extLst>
                    <a:ext uri="{9D8B030D-6E8A-4147-A177-3AD203B41FA5}">
                      <a16:colId xmlns:a16="http://schemas.microsoft.com/office/drawing/2014/main" val="20002"/>
                    </a:ext>
                  </a:extLst>
                </a:gridCol>
                <a:gridCol w="984479">
                  <a:extLst>
                    <a:ext uri="{9D8B030D-6E8A-4147-A177-3AD203B41FA5}">
                      <a16:colId xmlns:a16="http://schemas.microsoft.com/office/drawing/2014/main" val="20003"/>
                    </a:ext>
                  </a:extLst>
                </a:gridCol>
                <a:gridCol w="984479">
                  <a:extLst>
                    <a:ext uri="{9D8B030D-6E8A-4147-A177-3AD203B41FA5}">
                      <a16:colId xmlns:a16="http://schemas.microsoft.com/office/drawing/2014/main" val="20004"/>
                    </a:ext>
                  </a:extLst>
                </a:gridCol>
                <a:gridCol w="984479">
                  <a:extLst>
                    <a:ext uri="{9D8B030D-6E8A-4147-A177-3AD203B41FA5}">
                      <a16:colId xmlns:a16="http://schemas.microsoft.com/office/drawing/2014/main" val="20005"/>
                    </a:ext>
                  </a:extLst>
                </a:gridCol>
                <a:gridCol w="852696">
                  <a:extLst>
                    <a:ext uri="{9D8B030D-6E8A-4147-A177-3AD203B41FA5}">
                      <a16:colId xmlns:a16="http://schemas.microsoft.com/office/drawing/2014/main" val="20006"/>
                    </a:ext>
                  </a:extLst>
                </a:gridCol>
              </a:tblGrid>
              <a:tr h="396135">
                <a:tc>
                  <a:txBody>
                    <a:bodyPr/>
                    <a:lstStyle/>
                    <a:p>
                      <a:pPr lvl="0" algn="ctr">
                        <a:buNone/>
                      </a:pPr>
                      <a:endParaRPr lang="en-US" sz="2000" b="1" dirty="0">
                        <a:latin typeface="Arial"/>
                      </a:endParaRPr>
                    </a:p>
                  </a:txBody>
                  <a:tcPr marL="91435" marR="91435" marT="45671" marB="45671">
                    <a:lnL w="12700">
                      <a:solidFill>
                        <a:schemeClr val="tx1"/>
                      </a:solidFill>
                    </a:lnL>
                    <a:lnB w="12700">
                      <a:solidFill>
                        <a:schemeClr val="tx1"/>
                      </a:solidFill>
                    </a:lnB>
                  </a:tcPr>
                </a:tc>
                <a:tc>
                  <a:txBody>
                    <a:bodyPr/>
                    <a:lstStyle/>
                    <a:p>
                      <a:pPr lvl="0" algn="ctr">
                        <a:buNone/>
                      </a:pPr>
                      <a:r>
                        <a:rPr lang="en-US" sz="2000" b="1" dirty="0">
                          <a:latin typeface="Arial"/>
                        </a:rPr>
                        <a:t>C</a:t>
                      </a:r>
                      <a:r>
                        <a:rPr lang="en-US" sz="2000" b="1" baseline="-25000" dirty="0">
                          <a:latin typeface="Arial"/>
                        </a:rPr>
                        <a:t>j</a:t>
                      </a:r>
                      <a:r>
                        <a:rPr lang="en-US" sz="2000" b="1" dirty="0">
                          <a:latin typeface="Arial"/>
                        </a:rPr>
                        <a:t> -&gt;</a:t>
                      </a:r>
                    </a:p>
                  </a:txBody>
                  <a:tcPr marL="91435" marR="91435" marT="45671" marB="45671">
                    <a:lnR w="12700">
                      <a:solidFill>
                        <a:schemeClr val="tx1"/>
                      </a:solidFill>
                    </a:lnR>
                    <a:lnB w="12700">
                      <a:solidFill>
                        <a:schemeClr val="tx1"/>
                      </a:solidFill>
                    </a:lnB>
                  </a:tcPr>
                </a:tc>
                <a:tc>
                  <a:txBody>
                    <a:bodyPr/>
                    <a:lstStyle/>
                    <a:p>
                      <a:pPr algn="ctr"/>
                      <a:r>
                        <a:rPr lang="en-US" sz="2000" b="1" dirty="0">
                          <a:latin typeface="Arial"/>
                        </a:rPr>
                        <a:t>12</a:t>
                      </a:r>
                    </a:p>
                  </a:txBody>
                  <a:tcPr marL="91435" marR="91435" marT="45671" marB="45671">
                    <a:lnL w="12700">
                      <a:solidFill>
                        <a:schemeClr val="tx1"/>
                      </a:solidFill>
                    </a:lnL>
                    <a:lnB w="12700">
                      <a:solidFill>
                        <a:schemeClr val="tx1"/>
                      </a:solidFill>
                    </a:lnB>
                  </a:tcPr>
                </a:tc>
                <a:tc>
                  <a:txBody>
                    <a:bodyPr/>
                    <a:lstStyle/>
                    <a:p>
                      <a:pPr algn="ctr"/>
                      <a:r>
                        <a:rPr lang="en-US" sz="2000" b="1" dirty="0">
                          <a:latin typeface="Arial"/>
                        </a:rPr>
                        <a:t>16</a:t>
                      </a:r>
                    </a:p>
                  </a:txBody>
                  <a:tcPr marL="91435" marR="91435" marT="45671" marB="45671">
                    <a:lnB w="12700">
                      <a:solidFill>
                        <a:schemeClr val="tx1"/>
                      </a:solidFill>
                    </a:lnB>
                  </a:tcPr>
                </a:tc>
                <a:tc>
                  <a:txBody>
                    <a:bodyPr/>
                    <a:lstStyle/>
                    <a:p>
                      <a:pPr algn="ctr"/>
                      <a:r>
                        <a:rPr lang="en-US" sz="2000" b="1" dirty="0">
                          <a:latin typeface="Arial"/>
                        </a:rPr>
                        <a:t>0</a:t>
                      </a:r>
                    </a:p>
                  </a:txBody>
                  <a:tcPr marL="91435" marR="91435" marT="45671" marB="45671">
                    <a:lnB w="12700" cap="flat" cmpd="sng" algn="ctr">
                      <a:solidFill>
                        <a:schemeClr val="tx1"/>
                      </a:solidFill>
                      <a:prstDash val="solid"/>
                      <a:round/>
                      <a:headEnd type="none" w="med" len="med"/>
                      <a:tailEnd type="none" w="med" len="med"/>
                    </a:lnB>
                  </a:tcPr>
                </a:tc>
                <a:tc>
                  <a:txBody>
                    <a:bodyPr/>
                    <a:lstStyle/>
                    <a:p>
                      <a:pPr algn="ctr"/>
                      <a:r>
                        <a:rPr lang="en-US" sz="2000" b="1" dirty="0">
                          <a:latin typeface="Arial"/>
                        </a:rPr>
                        <a:t>0</a:t>
                      </a:r>
                    </a:p>
                  </a:txBody>
                  <a:tcPr marL="91435" marR="91435" marT="45671" marB="45671">
                    <a:lnR w="12700">
                      <a:solidFill>
                        <a:schemeClr val="tx1"/>
                      </a:solidFill>
                    </a:lnR>
                    <a:lnB w="12700">
                      <a:solidFill>
                        <a:schemeClr val="tx1"/>
                      </a:solidFill>
                    </a:lnB>
                  </a:tcPr>
                </a:tc>
                <a:tc>
                  <a:txBody>
                    <a:bodyPr/>
                    <a:lstStyle/>
                    <a:p>
                      <a:pPr algn="ctr"/>
                      <a:endParaRPr lang="en-US" sz="2000" b="1" dirty="0">
                        <a:latin typeface="Arial"/>
                      </a:endParaRPr>
                    </a:p>
                  </a:txBody>
                  <a:tcPr marL="91435" marR="91435" marT="45671" marB="45671">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0"/>
                  </a:ext>
                </a:extLst>
              </a:tr>
              <a:tr h="518052">
                <a:tc>
                  <a:txBody>
                    <a:bodyPr/>
                    <a:lstStyle/>
                    <a:p>
                      <a:pPr lvl="0" algn="ctr">
                        <a:buNone/>
                      </a:pPr>
                      <a:r>
                        <a:rPr lang="en-US" sz="2000" b="1" err="1">
                          <a:latin typeface="Arial"/>
                        </a:rPr>
                        <a:t>C</a:t>
                      </a:r>
                      <a:r>
                        <a:rPr lang="en-US" sz="2000" b="1" baseline="-25000" err="1">
                          <a:latin typeface="Arial"/>
                        </a:rPr>
                        <a:t>Bi</a:t>
                      </a:r>
                    </a:p>
                  </a:txBody>
                  <a:tcPr marL="91435" marR="91435" marT="45671" marB="45671">
                    <a:lnL w="12700">
                      <a:solidFill>
                        <a:schemeClr val="tx1"/>
                      </a:solidFill>
                    </a:lnL>
                    <a:lnT w="12700">
                      <a:solidFill>
                        <a:schemeClr val="tx1"/>
                      </a:solidFill>
                    </a:lnT>
                    <a:lnB w="12700">
                      <a:solidFill>
                        <a:schemeClr val="tx1"/>
                      </a:solidFill>
                    </a:lnB>
                  </a:tcPr>
                </a:tc>
                <a:tc>
                  <a:txBody>
                    <a:bodyPr/>
                    <a:lstStyle/>
                    <a:p>
                      <a:pPr lvl="0" algn="ctr">
                        <a:buNone/>
                      </a:pPr>
                      <a:r>
                        <a:rPr lang="en-US" sz="1400" b="1" dirty="0">
                          <a:latin typeface="Arial"/>
                        </a:rPr>
                        <a:t>Basic variables</a:t>
                      </a:r>
                    </a:p>
                  </a:txBody>
                  <a:tcPr marL="91435" marR="91435" marT="45671" marB="45671">
                    <a:lnR w="12700">
                      <a:solidFill>
                        <a:schemeClr val="tx1"/>
                      </a:solidFill>
                    </a:lnR>
                    <a:lnT w="12700">
                      <a:solidFill>
                        <a:schemeClr val="tx1"/>
                      </a:solidFill>
                    </a:lnT>
                    <a:lnB w="12700">
                      <a:solidFill>
                        <a:schemeClr val="tx1"/>
                      </a:solidFill>
                    </a:lnB>
                  </a:tcPr>
                </a:tc>
                <a:tc>
                  <a:txBody>
                    <a:bodyPr/>
                    <a:lstStyle/>
                    <a:p>
                      <a:pPr lvl="0" algn="ctr">
                        <a:buNone/>
                      </a:pPr>
                      <a:r>
                        <a:rPr lang="en-US" sz="2000" b="1" dirty="0">
                          <a:latin typeface="Arial"/>
                        </a:rPr>
                        <a:t>x1</a:t>
                      </a:r>
                      <a:endParaRPr lang="en-US" sz="2000"/>
                    </a:p>
                  </a:txBody>
                  <a:tcPr marL="91435" marR="91435" marT="45671" marB="45671">
                    <a:lnL w="12700">
                      <a:solidFill>
                        <a:schemeClr val="tx1"/>
                      </a:solidFill>
                    </a:lnL>
                    <a:lnT w="12700">
                      <a:solidFill>
                        <a:schemeClr val="tx1"/>
                      </a:solidFill>
                    </a:lnT>
                    <a:lnB w="12700">
                      <a:solidFill>
                        <a:schemeClr val="tx1"/>
                      </a:solidFill>
                    </a:lnB>
                  </a:tcPr>
                </a:tc>
                <a:tc>
                  <a:txBody>
                    <a:bodyPr/>
                    <a:lstStyle/>
                    <a:p>
                      <a:pPr lvl="0" algn="ctr">
                        <a:buNone/>
                      </a:pPr>
                      <a:r>
                        <a:rPr lang="en-US" sz="2000" b="1" dirty="0">
                          <a:latin typeface="Arial"/>
                        </a:rPr>
                        <a:t>x2</a:t>
                      </a:r>
                      <a:endParaRPr lang="en-US" sz="2000"/>
                    </a:p>
                  </a:txBody>
                  <a:tcPr marL="91435" marR="91435" marT="45671" marB="45671">
                    <a:lnT w="12700">
                      <a:solidFill>
                        <a:schemeClr val="tx1"/>
                      </a:solidFill>
                    </a:lnT>
                    <a:lnB w="12700">
                      <a:solidFill>
                        <a:schemeClr val="tx1"/>
                      </a:solidFill>
                    </a:lnB>
                  </a:tcPr>
                </a:tc>
                <a:tc>
                  <a:txBody>
                    <a:bodyPr/>
                    <a:lstStyle/>
                    <a:p>
                      <a:pPr lvl="0" algn="ctr">
                        <a:buNone/>
                      </a:pPr>
                      <a:r>
                        <a:rPr lang="en-US" sz="2000" b="1" dirty="0">
                          <a:latin typeface="Arial"/>
                        </a:rPr>
                        <a:t>s1</a:t>
                      </a:r>
                      <a:endParaRPr lang="en-US" sz="2000"/>
                    </a:p>
                  </a:txBody>
                  <a:tcPr marL="91435" marR="91435" marT="45671" marB="45671">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en-US" sz="2000" b="1" dirty="0">
                          <a:latin typeface="Arial"/>
                        </a:rPr>
                        <a:t>s2</a:t>
                      </a:r>
                      <a:endParaRPr lang="en-US" sz="2000"/>
                    </a:p>
                  </a:txBody>
                  <a:tcPr marL="91435" marR="91435" marT="45671" marB="45671">
                    <a:lnR w="12700">
                      <a:solidFill>
                        <a:schemeClr val="tx1"/>
                      </a:solidFill>
                    </a:lnR>
                    <a:lnT w="12700">
                      <a:solidFill>
                        <a:schemeClr val="tx1"/>
                      </a:solidFill>
                    </a:lnT>
                    <a:lnB w="12700">
                      <a:solidFill>
                        <a:schemeClr val="tx1"/>
                      </a:solidFill>
                    </a:lnB>
                  </a:tcPr>
                </a:tc>
                <a:tc>
                  <a:txBody>
                    <a:bodyPr/>
                    <a:lstStyle/>
                    <a:p>
                      <a:pPr lvl="0" algn="ctr">
                        <a:buNone/>
                      </a:pPr>
                      <a:r>
                        <a:rPr lang="en-US" sz="2000" b="1" dirty="0">
                          <a:latin typeface="Arial"/>
                        </a:rPr>
                        <a:t>b</a:t>
                      </a:r>
                      <a:endParaRPr lang="en-US" sz="2000"/>
                    </a:p>
                  </a:txBody>
                  <a:tcPr marL="91435" marR="91435" marT="45671" marB="45671">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0001"/>
                  </a:ext>
                </a:extLst>
              </a:tr>
              <a:tr h="396135">
                <a:tc>
                  <a:txBody>
                    <a:bodyPr/>
                    <a:lstStyle/>
                    <a:p>
                      <a:pPr lvl="0" algn="ctr">
                        <a:buNone/>
                      </a:pPr>
                      <a:r>
                        <a:rPr lang="en-US" sz="2000" b="1" dirty="0">
                          <a:latin typeface="Arial"/>
                        </a:rPr>
                        <a:t>16</a:t>
                      </a:r>
                    </a:p>
                  </a:txBody>
                  <a:tcPr marL="91435" marR="91435" marT="45671" marB="45671">
                    <a:lnL w="12700">
                      <a:solidFill>
                        <a:schemeClr val="tx1"/>
                      </a:solidFill>
                    </a:lnL>
                    <a:lnT w="12700">
                      <a:solidFill>
                        <a:schemeClr val="tx1"/>
                      </a:solidFill>
                    </a:lnT>
                  </a:tcPr>
                </a:tc>
                <a:tc>
                  <a:txBody>
                    <a:bodyPr/>
                    <a:lstStyle/>
                    <a:p>
                      <a:pPr lvl="0" algn="ctr">
                        <a:buNone/>
                      </a:pPr>
                      <a:r>
                        <a:rPr lang="en-US" sz="2000" b="1" dirty="0">
                          <a:solidFill>
                            <a:schemeClr val="accent3"/>
                          </a:solidFill>
                          <a:latin typeface="Arial"/>
                        </a:rPr>
                        <a:t>x2</a:t>
                      </a:r>
                      <a:endParaRPr lang="en-US" sz="1800" dirty="0"/>
                    </a:p>
                  </a:txBody>
                  <a:tcPr marL="91435" marR="91435" marT="45671" marB="45671">
                    <a:lnR w="12700">
                      <a:solidFill>
                        <a:schemeClr val="tx1"/>
                      </a:solidFill>
                    </a:lnR>
                    <a:lnT w="12700">
                      <a:solidFill>
                        <a:schemeClr val="tx1"/>
                      </a:solidFill>
                    </a:lnT>
                  </a:tcPr>
                </a:tc>
                <a:tc>
                  <a:txBody>
                    <a:bodyPr/>
                    <a:lstStyle/>
                    <a:p>
                      <a:pPr algn="ctr"/>
                      <a:r>
                        <a:rPr lang="en-US" sz="2000" b="1" dirty="0">
                          <a:latin typeface="Arial"/>
                        </a:rPr>
                        <a:t>0</a:t>
                      </a:r>
                    </a:p>
                  </a:txBody>
                  <a:tcPr marL="91435" marR="91435" marT="45671" marB="45671">
                    <a:lnL w="12700">
                      <a:solidFill>
                        <a:schemeClr val="tx1"/>
                      </a:solidFill>
                    </a:lnL>
                    <a:lnT w="12700">
                      <a:solidFill>
                        <a:schemeClr val="tx1"/>
                      </a:solidFill>
                    </a:lnT>
                  </a:tcPr>
                </a:tc>
                <a:tc>
                  <a:txBody>
                    <a:bodyPr/>
                    <a:lstStyle/>
                    <a:p>
                      <a:pPr algn="ctr"/>
                      <a:r>
                        <a:rPr lang="en-US" sz="2000" b="1" dirty="0">
                          <a:latin typeface="Arial"/>
                        </a:rPr>
                        <a:t>1</a:t>
                      </a:r>
                    </a:p>
                  </a:txBody>
                  <a:tcPr marL="91435" marR="91435" marT="45671" marB="45671">
                    <a:lnT w="12700">
                      <a:solidFill>
                        <a:schemeClr val="tx1"/>
                      </a:solidFill>
                    </a:lnT>
                  </a:tcPr>
                </a:tc>
                <a:tc>
                  <a:txBody>
                    <a:bodyPr/>
                    <a:lstStyle/>
                    <a:p>
                      <a:pPr algn="ctr"/>
                      <a:r>
                        <a:rPr lang="en-US" sz="2000" b="1" dirty="0">
                          <a:latin typeface="Arial"/>
                        </a:rPr>
                        <a:t>1/10</a:t>
                      </a:r>
                      <a:endParaRPr lang="en-US" sz="1800" dirty="0"/>
                    </a:p>
                  </a:txBody>
                  <a:tcPr marL="91435" marR="91435" marT="45671" marB="45671">
                    <a:lnT w="12700" cap="flat" cmpd="sng" algn="ctr">
                      <a:solidFill>
                        <a:schemeClr val="tx1"/>
                      </a:solidFill>
                      <a:prstDash val="solid"/>
                      <a:round/>
                      <a:headEnd type="none" w="med" len="med"/>
                      <a:tailEnd type="none" w="med" len="med"/>
                    </a:lnT>
                  </a:tcPr>
                </a:tc>
                <a:tc>
                  <a:txBody>
                    <a:bodyPr/>
                    <a:lstStyle/>
                    <a:p>
                      <a:pPr algn="ctr"/>
                      <a:r>
                        <a:rPr lang="en-US" sz="2000" b="1" dirty="0">
                          <a:latin typeface="Arial"/>
                        </a:rPr>
                        <a:t>-1/8</a:t>
                      </a:r>
                    </a:p>
                  </a:txBody>
                  <a:tcPr marL="91435" marR="91435" marT="45671" marB="45671">
                    <a:lnR w="12700">
                      <a:solidFill>
                        <a:schemeClr val="tx1"/>
                      </a:solidFill>
                    </a:lnR>
                    <a:lnT w="12700">
                      <a:solidFill>
                        <a:schemeClr val="tx1"/>
                      </a:solidFill>
                    </a:lnT>
                  </a:tcPr>
                </a:tc>
                <a:tc>
                  <a:txBody>
                    <a:bodyPr/>
                    <a:lstStyle/>
                    <a:p>
                      <a:pPr algn="ctr"/>
                      <a:r>
                        <a:rPr lang="en-US" sz="1800" b="1" kern="1200" dirty="0">
                          <a:solidFill>
                            <a:srgbClr val="FF0000"/>
                          </a:solidFill>
                          <a:latin typeface="+mn-lt"/>
                          <a:ea typeface="+mn-ea"/>
                          <a:cs typeface="+mn-cs"/>
                        </a:rPr>
                        <a:t>2</a:t>
                      </a:r>
                    </a:p>
                  </a:txBody>
                  <a:tcPr marL="91435" marR="91435" marT="45671" marB="45671">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2"/>
                  </a:ext>
                </a:extLst>
              </a:tr>
              <a:tr h="396135">
                <a:tc>
                  <a:txBody>
                    <a:bodyPr/>
                    <a:lstStyle/>
                    <a:p>
                      <a:pPr lvl="0" algn="ctr">
                        <a:buNone/>
                      </a:pPr>
                      <a:r>
                        <a:rPr lang="en-US" sz="2000" b="1" dirty="0">
                          <a:latin typeface="Arial"/>
                        </a:rPr>
                        <a:t>12</a:t>
                      </a:r>
                    </a:p>
                  </a:txBody>
                  <a:tcPr marL="91435" marR="91435" marT="45671" marB="45671">
                    <a:lnL w="12700">
                      <a:solidFill>
                        <a:schemeClr val="tx1"/>
                      </a:solidFill>
                    </a:lnL>
                    <a:lnB w="12700">
                      <a:solidFill>
                        <a:schemeClr val="tx1"/>
                      </a:solidFill>
                    </a:lnB>
                  </a:tcPr>
                </a:tc>
                <a:tc>
                  <a:txBody>
                    <a:bodyPr/>
                    <a:lstStyle/>
                    <a:p>
                      <a:pPr lvl="0" algn="ctr">
                        <a:buNone/>
                      </a:pPr>
                      <a:r>
                        <a:rPr lang="en-US" sz="2000" b="1" dirty="0">
                          <a:solidFill>
                            <a:schemeClr val="accent3"/>
                          </a:solidFill>
                          <a:latin typeface="Arial"/>
                        </a:rPr>
                        <a:t>x1</a:t>
                      </a:r>
                    </a:p>
                  </a:txBody>
                  <a:tcPr marL="91435" marR="91435" marT="45671" marB="45671">
                    <a:lnR w="12700">
                      <a:solidFill>
                        <a:schemeClr val="tx1"/>
                      </a:solidFill>
                    </a:lnR>
                    <a:lnB w="12700">
                      <a:solidFill>
                        <a:schemeClr val="tx1"/>
                      </a:solidFill>
                    </a:lnB>
                  </a:tcPr>
                </a:tc>
                <a:tc>
                  <a:txBody>
                    <a:bodyPr/>
                    <a:lstStyle/>
                    <a:p>
                      <a:pPr algn="ctr"/>
                      <a:r>
                        <a:rPr lang="en-US" sz="2000" b="1" dirty="0">
                          <a:latin typeface="Arial"/>
                        </a:rPr>
                        <a:t>1</a:t>
                      </a:r>
                    </a:p>
                  </a:txBody>
                  <a:tcPr marL="91435" marR="91435" marT="45671" marB="45671">
                    <a:lnL w="12700">
                      <a:solidFill>
                        <a:schemeClr val="tx1"/>
                      </a:solidFill>
                    </a:lnL>
                    <a:lnB w="12700">
                      <a:solidFill>
                        <a:schemeClr val="tx1"/>
                      </a:solidFill>
                    </a:lnB>
                  </a:tcPr>
                </a:tc>
                <a:tc>
                  <a:txBody>
                    <a:bodyPr/>
                    <a:lstStyle/>
                    <a:p>
                      <a:pPr algn="ctr"/>
                      <a:r>
                        <a:rPr lang="en-US" sz="2000" b="1" dirty="0">
                          <a:latin typeface="Arial"/>
                        </a:rPr>
                        <a:t>0</a:t>
                      </a:r>
                    </a:p>
                  </a:txBody>
                  <a:tcPr marL="91435" marR="91435" marT="45671" marB="45671">
                    <a:lnB w="12700">
                      <a:solidFill>
                        <a:schemeClr val="tx1"/>
                      </a:solidFill>
                    </a:lnB>
                  </a:tcPr>
                </a:tc>
                <a:tc>
                  <a:txBody>
                    <a:bodyPr/>
                    <a:lstStyle/>
                    <a:p>
                      <a:pPr algn="ctr"/>
                      <a:r>
                        <a:rPr lang="en-US" sz="2000" b="1" dirty="0">
                          <a:latin typeface="Arial"/>
                        </a:rPr>
                        <a:t>-1/10</a:t>
                      </a:r>
                    </a:p>
                  </a:txBody>
                  <a:tcPr marL="91435" marR="91435" marT="45671" marB="45671">
                    <a:lnB w="12700">
                      <a:solidFill>
                        <a:schemeClr val="tx1"/>
                      </a:solidFill>
                    </a:lnB>
                  </a:tcPr>
                </a:tc>
                <a:tc>
                  <a:txBody>
                    <a:bodyPr/>
                    <a:lstStyle/>
                    <a:p>
                      <a:pPr algn="ctr"/>
                      <a:r>
                        <a:rPr lang="en-US" sz="2000" b="1" dirty="0">
                          <a:latin typeface="Arial"/>
                        </a:rPr>
                        <a:t>1/4</a:t>
                      </a:r>
                    </a:p>
                  </a:txBody>
                  <a:tcPr marL="91435" marR="91435" marT="45671" marB="45671">
                    <a:lnR w="12700">
                      <a:solidFill>
                        <a:schemeClr val="tx1"/>
                      </a:solidFill>
                    </a:lnR>
                    <a:lnB w="12700">
                      <a:solidFill>
                        <a:schemeClr val="tx1"/>
                      </a:solidFill>
                    </a:lnB>
                  </a:tcPr>
                </a:tc>
                <a:tc>
                  <a:txBody>
                    <a:bodyPr/>
                    <a:lstStyle/>
                    <a:p>
                      <a:pPr algn="ctr"/>
                      <a:r>
                        <a:rPr lang="en-US" sz="2000" b="1" dirty="0">
                          <a:solidFill>
                            <a:srgbClr val="FF0000"/>
                          </a:solidFill>
                          <a:latin typeface="Arial"/>
                        </a:rPr>
                        <a:t>8</a:t>
                      </a:r>
                    </a:p>
                  </a:txBody>
                  <a:tcPr marL="91435" marR="91435" marT="45671" marB="45671">
                    <a:lnL w="12700">
                      <a:solidFill>
                        <a:schemeClr val="tx1"/>
                      </a:solidFill>
                    </a:lnL>
                    <a:lnR w="12700">
                      <a:solidFill>
                        <a:schemeClr val="tx1"/>
                      </a:solidFill>
                    </a:lnR>
                    <a:lnB w="12700">
                      <a:solidFill>
                        <a:schemeClr val="tx1"/>
                      </a:solidFill>
                    </a:lnB>
                  </a:tcPr>
                </a:tc>
                <a:extLst>
                  <a:ext uri="{0D108BD9-81ED-4DB2-BD59-A6C34878D82A}">
                    <a16:rowId xmlns:a16="http://schemas.microsoft.com/office/drawing/2014/main" val="10003"/>
                  </a:ext>
                </a:extLst>
              </a:tr>
              <a:tr h="396135">
                <a:tc>
                  <a:txBody>
                    <a:bodyPr/>
                    <a:lstStyle/>
                    <a:p>
                      <a:pPr lvl="0" algn="ctr">
                        <a:buNone/>
                      </a:pPr>
                      <a:endParaRPr lang="en-US" sz="2000" b="1" dirty="0">
                        <a:latin typeface="Arial"/>
                      </a:endParaRPr>
                    </a:p>
                  </a:txBody>
                  <a:tcPr marL="91435" marR="91435" marT="45671" marB="45671">
                    <a:lnL w="12700">
                      <a:solidFill>
                        <a:schemeClr val="tx1"/>
                      </a:solidFill>
                    </a:lnL>
                    <a:lnT w="12700">
                      <a:solidFill>
                        <a:schemeClr val="tx1"/>
                      </a:solidFill>
                    </a:lnT>
                  </a:tcPr>
                </a:tc>
                <a:tc>
                  <a:txBody>
                    <a:bodyPr/>
                    <a:lstStyle/>
                    <a:p>
                      <a:pPr lvl="0" algn="ctr">
                        <a:buNone/>
                      </a:pPr>
                      <a:r>
                        <a:rPr lang="en-US" sz="2000" b="0" dirty="0" err="1">
                          <a:solidFill>
                            <a:schemeClr val="tx1"/>
                          </a:solidFill>
                          <a:latin typeface="Arial"/>
                        </a:rPr>
                        <a:t>zj</a:t>
                      </a:r>
                      <a:endParaRPr lang="en-US" sz="2000" b="0" dirty="0">
                        <a:solidFill>
                          <a:schemeClr val="tx1"/>
                        </a:solidFill>
                        <a:latin typeface="Arial"/>
                      </a:endParaRPr>
                    </a:p>
                  </a:txBody>
                  <a:tcPr marL="91435" marR="91435" marT="45671" marB="45671">
                    <a:lnR w="12700">
                      <a:solidFill>
                        <a:schemeClr val="tx1"/>
                      </a:solidFill>
                    </a:lnR>
                    <a:lnT w="12700">
                      <a:solidFill>
                        <a:schemeClr val="tx1"/>
                      </a:solidFill>
                    </a:lnT>
                  </a:tcPr>
                </a:tc>
                <a:tc>
                  <a:txBody>
                    <a:bodyPr/>
                    <a:lstStyle/>
                    <a:p>
                      <a:pPr lvl="0" algn="ctr">
                        <a:buNone/>
                      </a:pPr>
                      <a:r>
                        <a:rPr lang="en-US" sz="2000" b="1" dirty="0">
                          <a:latin typeface="Arial"/>
                        </a:rPr>
                        <a:t>12</a:t>
                      </a:r>
                    </a:p>
                  </a:txBody>
                  <a:tcPr marL="91435" marR="91435" marT="45671" marB="45671">
                    <a:lnL w="12700">
                      <a:solidFill>
                        <a:schemeClr val="tx1"/>
                      </a:solidFill>
                    </a:lnL>
                    <a:lnT w="12700">
                      <a:solidFill>
                        <a:schemeClr val="tx1"/>
                      </a:solidFill>
                    </a:lnT>
                  </a:tcPr>
                </a:tc>
                <a:tc>
                  <a:txBody>
                    <a:bodyPr/>
                    <a:lstStyle/>
                    <a:p>
                      <a:pPr lvl="0" algn="ctr">
                        <a:buNone/>
                      </a:pPr>
                      <a:r>
                        <a:rPr lang="en-US" sz="2000" b="1" dirty="0">
                          <a:latin typeface="Arial"/>
                        </a:rPr>
                        <a:t>16</a:t>
                      </a:r>
                    </a:p>
                  </a:txBody>
                  <a:tcPr marL="91435" marR="91435" marT="45671" marB="45671">
                    <a:lnT w="12700">
                      <a:solidFill>
                        <a:schemeClr val="tx1"/>
                      </a:solidFill>
                    </a:lnT>
                  </a:tcPr>
                </a:tc>
                <a:tc>
                  <a:txBody>
                    <a:bodyPr/>
                    <a:lstStyle/>
                    <a:p>
                      <a:pPr lvl="0" algn="ctr">
                        <a:buNone/>
                      </a:pPr>
                      <a:r>
                        <a:rPr lang="en-US" sz="2000" b="1" dirty="0">
                          <a:latin typeface="Arial"/>
                        </a:rPr>
                        <a:t>4/10</a:t>
                      </a:r>
                    </a:p>
                  </a:txBody>
                  <a:tcPr marL="91435" marR="91435" marT="45671" marB="45671">
                    <a:lnT w="12700">
                      <a:solidFill>
                        <a:schemeClr val="tx1"/>
                      </a:solidFill>
                    </a:lnT>
                  </a:tcPr>
                </a:tc>
                <a:tc>
                  <a:txBody>
                    <a:bodyPr/>
                    <a:lstStyle/>
                    <a:p>
                      <a:pPr lvl="0" algn="ctr">
                        <a:buNone/>
                      </a:pPr>
                      <a:r>
                        <a:rPr lang="en-US" sz="2000" b="1" dirty="0">
                          <a:latin typeface="Arial"/>
                        </a:rPr>
                        <a:t>1</a:t>
                      </a:r>
                    </a:p>
                  </a:txBody>
                  <a:tcPr marL="91435" marR="91435" marT="45671" marB="45671">
                    <a:lnR w="12700">
                      <a:solidFill>
                        <a:schemeClr val="tx1"/>
                      </a:solidFill>
                    </a:lnR>
                    <a:lnT w="12700">
                      <a:solidFill>
                        <a:schemeClr val="tx1"/>
                      </a:solidFill>
                    </a:lnT>
                  </a:tcPr>
                </a:tc>
                <a:tc>
                  <a:txBody>
                    <a:bodyPr/>
                    <a:lstStyle/>
                    <a:p>
                      <a:pPr lvl="0" algn="ctr">
                        <a:buNone/>
                      </a:pPr>
                      <a:r>
                        <a:rPr lang="en-US" sz="2000" b="1" dirty="0">
                          <a:solidFill>
                            <a:srgbClr val="FF0000"/>
                          </a:solidFill>
                          <a:latin typeface="Arial"/>
                        </a:rPr>
                        <a:t>128</a:t>
                      </a:r>
                    </a:p>
                  </a:txBody>
                  <a:tcPr marL="91435" marR="91435" marT="45671" marB="45671">
                    <a:lnL w="12700">
                      <a:solidFill>
                        <a:schemeClr val="tx1"/>
                      </a:solidFill>
                    </a:lnL>
                    <a:lnR w="12700">
                      <a:solidFill>
                        <a:schemeClr val="tx1"/>
                      </a:solidFill>
                    </a:lnR>
                    <a:lnT w="12700">
                      <a:solidFill>
                        <a:schemeClr val="tx1"/>
                      </a:solidFill>
                    </a:lnT>
                  </a:tcPr>
                </a:tc>
                <a:extLst>
                  <a:ext uri="{0D108BD9-81ED-4DB2-BD59-A6C34878D82A}">
                    <a16:rowId xmlns:a16="http://schemas.microsoft.com/office/drawing/2014/main" val="10004"/>
                  </a:ext>
                </a:extLst>
              </a:tr>
              <a:tr h="396135">
                <a:tc>
                  <a:txBody>
                    <a:bodyPr/>
                    <a:lstStyle/>
                    <a:p>
                      <a:pPr lvl="0" algn="ctr">
                        <a:buNone/>
                      </a:pPr>
                      <a:endParaRPr lang="en-US" sz="2000" b="1" dirty="0">
                        <a:latin typeface="Arial"/>
                      </a:endParaRPr>
                    </a:p>
                  </a:txBody>
                  <a:tcPr marL="91435" marR="91435" marT="45671" marB="45671">
                    <a:lnL w="12700">
                      <a:solidFill>
                        <a:schemeClr val="tx1"/>
                      </a:solidFill>
                    </a:lnL>
                  </a:tcPr>
                </a:tc>
                <a:tc>
                  <a:txBody>
                    <a:bodyPr/>
                    <a:lstStyle/>
                    <a:p>
                      <a:pPr lvl="0" algn="ctr">
                        <a:buNone/>
                      </a:pPr>
                      <a:r>
                        <a:rPr lang="en-US" sz="2000" b="0" dirty="0">
                          <a:solidFill>
                            <a:schemeClr val="tx1"/>
                          </a:solidFill>
                          <a:latin typeface="Arial"/>
                        </a:rPr>
                        <a:t>Cj - </a:t>
                      </a:r>
                      <a:r>
                        <a:rPr lang="en-US" sz="2000" b="0" dirty="0" err="1">
                          <a:solidFill>
                            <a:schemeClr val="tx1"/>
                          </a:solidFill>
                          <a:latin typeface="Arial"/>
                        </a:rPr>
                        <a:t>zj</a:t>
                      </a:r>
                      <a:endParaRPr lang="en-US" sz="2000" b="0" dirty="0">
                        <a:solidFill>
                          <a:schemeClr val="tx1"/>
                        </a:solidFill>
                        <a:latin typeface="Arial"/>
                      </a:endParaRPr>
                    </a:p>
                  </a:txBody>
                  <a:tcPr marL="91435" marR="91435" marT="45671" marB="45671">
                    <a:lnR w="12700">
                      <a:solidFill>
                        <a:schemeClr val="tx1"/>
                      </a:solidFill>
                    </a:lnR>
                  </a:tcPr>
                </a:tc>
                <a:tc>
                  <a:txBody>
                    <a:bodyPr/>
                    <a:lstStyle/>
                    <a:p>
                      <a:pPr lvl="0" algn="ctr">
                        <a:buNone/>
                      </a:pPr>
                      <a:r>
                        <a:rPr lang="en-US" sz="2000" b="1" dirty="0">
                          <a:latin typeface="Arial"/>
                        </a:rPr>
                        <a:t>0</a:t>
                      </a:r>
                    </a:p>
                  </a:txBody>
                  <a:tcPr marL="91435" marR="91435" marT="45671" marB="45671">
                    <a:lnL w="12700">
                      <a:solidFill>
                        <a:schemeClr val="tx1"/>
                      </a:solidFill>
                    </a:lnL>
                  </a:tcPr>
                </a:tc>
                <a:tc>
                  <a:txBody>
                    <a:bodyPr/>
                    <a:lstStyle/>
                    <a:p>
                      <a:pPr lvl="0" algn="ctr">
                        <a:buNone/>
                      </a:pPr>
                      <a:r>
                        <a:rPr lang="en-US" sz="2000" b="1" dirty="0">
                          <a:latin typeface="Arial"/>
                        </a:rPr>
                        <a:t>0</a:t>
                      </a:r>
                    </a:p>
                  </a:txBody>
                  <a:tcPr marL="91435" marR="91435" marT="45671" marB="45671"/>
                </a:tc>
                <a:tc>
                  <a:txBody>
                    <a:bodyPr/>
                    <a:lstStyle/>
                    <a:p>
                      <a:pPr lvl="0" algn="ctr">
                        <a:buNone/>
                      </a:pPr>
                      <a:r>
                        <a:rPr lang="en-US" sz="2000" b="1" dirty="0">
                          <a:latin typeface="Arial"/>
                        </a:rPr>
                        <a:t>-4/10</a:t>
                      </a:r>
                    </a:p>
                  </a:txBody>
                  <a:tcPr marL="91435" marR="91435" marT="45671" marB="45671"/>
                </a:tc>
                <a:tc>
                  <a:txBody>
                    <a:bodyPr/>
                    <a:lstStyle/>
                    <a:p>
                      <a:pPr lvl="0" algn="ctr">
                        <a:buNone/>
                      </a:pPr>
                      <a:r>
                        <a:rPr lang="en-US" sz="2000" b="1" dirty="0">
                          <a:latin typeface="Arial"/>
                        </a:rPr>
                        <a:t>-1</a:t>
                      </a:r>
                    </a:p>
                  </a:txBody>
                  <a:tcPr marL="91435" marR="91435" marT="45671" marB="45671">
                    <a:lnR w="12700">
                      <a:solidFill>
                        <a:schemeClr val="tx1"/>
                      </a:solidFill>
                    </a:lnR>
                  </a:tcPr>
                </a:tc>
                <a:tc>
                  <a:txBody>
                    <a:bodyPr/>
                    <a:lstStyle/>
                    <a:p>
                      <a:pPr lvl="0" algn="ctr">
                        <a:buNone/>
                      </a:pPr>
                      <a:endParaRPr lang="en-US" sz="2000" b="1" dirty="0">
                        <a:latin typeface="Arial"/>
                      </a:endParaRPr>
                    </a:p>
                  </a:txBody>
                  <a:tcPr marL="91435" marR="91435" marT="45671" marB="45671">
                    <a:lnL w="12700">
                      <a:solidFill>
                        <a:schemeClr val="tx1"/>
                      </a:solidFill>
                    </a:lnL>
                    <a:lnR w="12700">
                      <a:solidFill>
                        <a:schemeClr val="tx1"/>
                      </a:solidFill>
                    </a:lnR>
                  </a:tcPr>
                </a:tc>
                <a:extLst>
                  <a:ext uri="{0D108BD9-81ED-4DB2-BD59-A6C34878D82A}">
                    <a16:rowId xmlns:a16="http://schemas.microsoft.com/office/drawing/2014/main" val="10005"/>
                  </a:ext>
                </a:extLst>
              </a:tr>
            </a:tbl>
          </a:graphicData>
        </a:graphic>
      </p:graphicFrame>
      <p:sp>
        <p:nvSpPr>
          <p:cNvPr id="70717" name="TextBox 3">
            <a:extLst>
              <a:ext uri="{FF2B5EF4-FFF2-40B4-BE49-F238E27FC236}">
                <a16:creationId xmlns:a16="http://schemas.microsoft.com/office/drawing/2014/main" id="{CCDC53D7-E59C-305F-073C-04B6CBF1EBB2}"/>
              </a:ext>
            </a:extLst>
          </p:cNvPr>
          <p:cNvSpPr txBox="1">
            <a:spLocks noChangeArrowheads="1"/>
          </p:cNvSpPr>
          <p:nvPr/>
        </p:nvSpPr>
        <p:spPr bwMode="auto">
          <a:xfrm>
            <a:off x="4316413" y="3811588"/>
            <a:ext cx="241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eaLnBrk="1" hangingPunct="1">
              <a:lnSpc>
                <a:spcPct val="100000"/>
              </a:lnSpc>
              <a:spcBef>
                <a:spcPct val="0"/>
              </a:spcBef>
              <a:buClrTx/>
              <a:buSzTx/>
              <a:buFontTx/>
              <a:buNone/>
            </a:pPr>
            <a:r>
              <a:rPr lang="en-US" altLang="en-US" sz="1800" b="1"/>
              <a:t>Optimal values are</a:t>
            </a:r>
          </a:p>
          <a:p>
            <a:pPr eaLnBrk="1" hangingPunct="1">
              <a:lnSpc>
                <a:spcPct val="100000"/>
              </a:lnSpc>
              <a:spcBef>
                <a:spcPct val="0"/>
              </a:spcBef>
              <a:buClrTx/>
              <a:buSzTx/>
              <a:buFontTx/>
              <a:buNone/>
            </a:pPr>
            <a:r>
              <a:rPr lang="en-US" altLang="en-US" sz="1800" b="1"/>
              <a:t>z   = </a:t>
            </a:r>
            <a:r>
              <a:rPr lang="en-US" altLang="en-US" sz="1800" b="1">
                <a:solidFill>
                  <a:srgbClr val="FF0000"/>
                </a:solidFill>
              </a:rPr>
              <a:t>128</a:t>
            </a:r>
          </a:p>
          <a:p>
            <a:pPr eaLnBrk="1" hangingPunct="1">
              <a:lnSpc>
                <a:spcPct val="100000"/>
              </a:lnSpc>
              <a:spcBef>
                <a:spcPct val="0"/>
              </a:spcBef>
              <a:buClrTx/>
              <a:buSzTx/>
              <a:buFontTx/>
              <a:buNone/>
            </a:pPr>
            <a:r>
              <a:rPr lang="en-US" altLang="en-US" sz="1800" b="1"/>
              <a:t>x1 = </a:t>
            </a:r>
            <a:r>
              <a:rPr lang="en-US" altLang="en-US" sz="1800" b="1">
                <a:solidFill>
                  <a:srgbClr val="FF0000"/>
                </a:solidFill>
              </a:rPr>
              <a:t>8</a:t>
            </a:r>
          </a:p>
          <a:p>
            <a:pPr eaLnBrk="1" hangingPunct="1">
              <a:lnSpc>
                <a:spcPct val="100000"/>
              </a:lnSpc>
              <a:spcBef>
                <a:spcPct val="0"/>
              </a:spcBef>
              <a:buClrTx/>
              <a:buSzTx/>
              <a:buFontTx/>
              <a:buNone/>
            </a:pPr>
            <a:r>
              <a:rPr lang="en-US" altLang="en-US" sz="1800" b="1"/>
              <a:t>x2 = </a:t>
            </a:r>
            <a:r>
              <a:rPr lang="en-US" altLang="en-US" sz="1800" b="1">
                <a:solidFill>
                  <a:srgbClr val="FF0000"/>
                </a:solidFill>
              </a:rPr>
              <a:t>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Google Shape;192;p32" descr="KL Deemed to be University Logo">
            <a:extLst>
              <a:ext uri="{FF2B5EF4-FFF2-40B4-BE49-F238E27FC236}">
                <a16:creationId xmlns:a16="http://schemas.microsoft.com/office/drawing/2014/main" id="{76ACC002-AA16-49A1-9C22-4194A6240CB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7" name="Google Shape;194;p32" descr="KL Deemed to be University Logo">
            <a:extLst>
              <a:ext uri="{FF2B5EF4-FFF2-40B4-BE49-F238E27FC236}">
                <a16:creationId xmlns:a16="http://schemas.microsoft.com/office/drawing/2014/main" id="{E9D96C02-E228-9883-F990-4BC954D58F2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8" name="Google Shape;196;p32">
            <a:extLst>
              <a:ext uri="{FF2B5EF4-FFF2-40B4-BE49-F238E27FC236}">
                <a16:creationId xmlns:a16="http://schemas.microsoft.com/office/drawing/2014/main" id="{F1C844BD-46E4-B778-9275-9132E64EC26D}"/>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9" name="Slide Number Placeholder 3">
            <a:extLst>
              <a:ext uri="{FF2B5EF4-FFF2-40B4-BE49-F238E27FC236}">
                <a16:creationId xmlns:a16="http://schemas.microsoft.com/office/drawing/2014/main" id="{50DE2D35-D61B-D599-F5E4-2B80C60F2954}"/>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97FEFFAD-28C2-4797-B921-6448375058FF}" type="slidenum">
              <a:rPr lang="en-IN" altLang="en-US" sz="2200" smtClean="0">
                <a:solidFill>
                  <a:schemeClr val="accent1"/>
                </a:solidFill>
              </a:rPr>
              <a:pPr>
                <a:lnSpc>
                  <a:spcPct val="100000"/>
                </a:lnSpc>
                <a:spcBef>
                  <a:spcPct val="0"/>
                </a:spcBef>
                <a:buClrTx/>
                <a:buSzTx/>
                <a:buFontTx/>
                <a:buNone/>
              </a:pPr>
              <a:t>30</a:t>
            </a:fld>
            <a:endParaRPr lang="en-IN" altLang="en-US" sz="2200">
              <a:solidFill>
                <a:schemeClr val="accent1"/>
              </a:solidFill>
            </a:endParaRPr>
          </a:p>
        </p:txBody>
      </p:sp>
      <p:sp>
        <p:nvSpPr>
          <p:cNvPr id="72710" name="Google Shape;193;p32">
            <a:extLst>
              <a:ext uri="{FF2B5EF4-FFF2-40B4-BE49-F238E27FC236}">
                <a16:creationId xmlns:a16="http://schemas.microsoft.com/office/drawing/2014/main" id="{DFA0BC1A-32B7-1AC3-976D-29A2AC53D87A}"/>
              </a:ext>
            </a:extLst>
          </p:cNvPr>
          <p:cNvSpPr>
            <a:spLocks noChangeArrowheads="1"/>
          </p:cNvSpPr>
          <p:nvPr/>
        </p:nvSpPr>
        <p:spPr bwMode="auto">
          <a:xfrm>
            <a:off x="2330450" y="53975"/>
            <a:ext cx="5788025" cy="579438"/>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Another solved problem</a:t>
            </a:r>
            <a:endParaRPr lang="en-US" altLang="en-US" sz="1800">
              <a:ea typeface="Arial" panose="020B0604020202020204" pitchFamily="34" charset="0"/>
              <a:cs typeface="Calibri" panose="020F0502020204030204" pitchFamily="34" charset="0"/>
            </a:endParaRPr>
          </a:p>
        </p:txBody>
      </p:sp>
      <p:sp>
        <p:nvSpPr>
          <p:cNvPr id="2" name="object 19">
            <a:extLst>
              <a:ext uri="{FF2B5EF4-FFF2-40B4-BE49-F238E27FC236}">
                <a16:creationId xmlns:a16="http://schemas.microsoft.com/office/drawing/2014/main" id="{D1939B5E-BF3E-42BB-F295-476C5847E1A6}"/>
              </a:ext>
            </a:extLst>
          </p:cNvPr>
          <p:cNvSpPr txBox="1"/>
          <p:nvPr/>
        </p:nvSpPr>
        <p:spPr>
          <a:xfrm>
            <a:off x="787400" y="1392238"/>
            <a:ext cx="9534525" cy="560387"/>
          </a:xfrm>
          <a:prstGeom prst="rect">
            <a:avLst/>
          </a:prstGeom>
        </p:spPr>
        <p:txBody>
          <a:bodyPr lIns="0" tIns="67310" rIns="0" bIns="0">
            <a:spAutoFit/>
          </a:bodyPr>
          <a:lstStyle/>
          <a:p>
            <a:pPr>
              <a:spcBef>
                <a:spcPts val="1040"/>
              </a:spcBef>
              <a:defRPr/>
            </a:pPr>
            <a:endParaRPr sz="1600" dirty="0">
              <a:latin typeface="Calibri"/>
              <a:cs typeface="Calibri"/>
            </a:endParaRPr>
          </a:p>
          <a:p>
            <a:pPr marL="127000">
              <a:defRPr/>
            </a:pPr>
            <a:endParaRPr sz="1600" dirty="0">
              <a:latin typeface="Cambria Math"/>
              <a:cs typeface="Cambria Math"/>
            </a:endParaRPr>
          </a:p>
        </p:txBody>
      </p:sp>
      <p:sp>
        <p:nvSpPr>
          <p:cNvPr id="72712" name="object 21">
            <a:extLst>
              <a:ext uri="{FF2B5EF4-FFF2-40B4-BE49-F238E27FC236}">
                <a16:creationId xmlns:a16="http://schemas.microsoft.com/office/drawing/2014/main" id="{9316745B-4A39-3FEF-53B5-5047280FD8D9}"/>
              </a:ext>
            </a:extLst>
          </p:cNvPr>
          <p:cNvSpPr txBox="1">
            <a:spLocks noChangeArrowheads="1"/>
          </p:cNvSpPr>
          <p:nvPr/>
        </p:nvSpPr>
        <p:spPr bwMode="auto">
          <a:xfrm>
            <a:off x="4246563" y="81248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sp>
        <p:nvSpPr>
          <p:cNvPr id="72713" name="object 21">
            <a:extLst>
              <a:ext uri="{FF2B5EF4-FFF2-40B4-BE49-F238E27FC236}">
                <a16:creationId xmlns:a16="http://schemas.microsoft.com/office/drawing/2014/main" id="{51BFC2CC-5456-6A16-4456-BE3215B59A15}"/>
              </a:ext>
            </a:extLst>
          </p:cNvPr>
          <p:cNvSpPr txBox="1">
            <a:spLocks noChangeArrowheads="1"/>
          </p:cNvSpPr>
          <p:nvPr/>
        </p:nvSpPr>
        <p:spPr bwMode="auto">
          <a:xfrm>
            <a:off x="4398963" y="82772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pic>
        <p:nvPicPr>
          <p:cNvPr id="72714" name="Picture 9" descr="A math problem with numbers and symbols&#10;&#10;AI-generated content may be incorrect.">
            <a:extLst>
              <a:ext uri="{FF2B5EF4-FFF2-40B4-BE49-F238E27FC236}">
                <a16:creationId xmlns:a16="http://schemas.microsoft.com/office/drawing/2014/main" id="{62773F7D-952D-EACF-60A1-D357D3832E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8875" y="982663"/>
            <a:ext cx="9163050"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Google Shape;192;p32" descr="KL Deemed to be University Logo">
            <a:extLst>
              <a:ext uri="{FF2B5EF4-FFF2-40B4-BE49-F238E27FC236}">
                <a16:creationId xmlns:a16="http://schemas.microsoft.com/office/drawing/2014/main" id="{6B839264-A3FD-CBED-F45F-B2289BA473B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5" name="Google Shape;194;p32" descr="KL Deemed to be University Logo">
            <a:extLst>
              <a:ext uri="{FF2B5EF4-FFF2-40B4-BE49-F238E27FC236}">
                <a16:creationId xmlns:a16="http://schemas.microsoft.com/office/drawing/2014/main" id="{A6F43B1A-C3A7-62A1-F425-D753FED90F8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Google Shape;196;p32">
            <a:extLst>
              <a:ext uri="{FF2B5EF4-FFF2-40B4-BE49-F238E27FC236}">
                <a16:creationId xmlns:a16="http://schemas.microsoft.com/office/drawing/2014/main" id="{EAAD2E9B-1BB5-3ED3-F876-8DCCD09B1651}"/>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Slide Number Placeholder 3">
            <a:extLst>
              <a:ext uri="{FF2B5EF4-FFF2-40B4-BE49-F238E27FC236}">
                <a16:creationId xmlns:a16="http://schemas.microsoft.com/office/drawing/2014/main" id="{40D7D68D-26B7-FAE9-A419-9993E9FF660C}"/>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E38D0AEE-3D6B-4AB7-98FF-AAA5DF79B896}" type="slidenum">
              <a:rPr lang="en-IN" altLang="en-US" sz="2200" smtClean="0">
                <a:solidFill>
                  <a:schemeClr val="accent1"/>
                </a:solidFill>
              </a:rPr>
              <a:pPr>
                <a:lnSpc>
                  <a:spcPct val="100000"/>
                </a:lnSpc>
                <a:spcBef>
                  <a:spcPct val="0"/>
                </a:spcBef>
                <a:buClrTx/>
                <a:buSzTx/>
                <a:buFontTx/>
                <a:buNone/>
              </a:pPr>
              <a:t>31</a:t>
            </a:fld>
            <a:endParaRPr lang="en-IN" altLang="en-US" sz="2200">
              <a:solidFill>
                <a:schemeClr val="accent1"/>
              </a:solidFill>
            </a:endParaRPr>
          </a:p>
        </p:txBody>
      </p:sp>
      <p:sp>
        <p:nvSpPr>
          <p:cNvPr id="74758" name="Google Shape;193;p32">
            <a:extLst>
              <a:ext uri="{FF2B5EF4-FFF2-40B4-BE49-F238E27FC236}">
                <a16:creationId xmlns:a16="http://schemas.microsoft.com/office/drawing/2014/main" id="{1562559B-4CF9-5A78-605E-B1E45B1EAF77}"/>
              </a:ext>
            </a:extLst>
          </p:cNvPr>
          <p:cNvSpPr>
            <a:spLocks noChangeArrowheads="1"/>
          </p:cNvSpPr>
          <p:nvPr/>
        </p:nvSpPr>
        <p:spPr bwMode="auto">
          <a:xfrm>
            <a:off x="2330450" y="53975"/>
            <a:ext cx="5788025" cy="579438"/>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Another solved problem</a:t>
            </a:r>
            <a:endParaRPr lang="en-US" altLang="en-US" sz="1800">
              <a:ea typeface="Arial" panose="020B0604020202020204" pitchFamily="34" charset="0"/>
              <a:cs typeface="Calibri" panose="020F0502020204030204" pitchFamily="34" charset="0"/>
            </a:endParaRPr>
          </a:p>
        </p:txBody>
      </p:sp>
      <p:sp>
        <p:nvSpPr>
          <p:cNvPr id="2" name="object 19">
            <a:extLst>
              <a:ext uri="{FF2B5EF4-FFF2-40B4-BE49-F238E27FC236}">
                <a16:creationId xmlns:a16="http://schemas.microsoft.com/office/drawing/2014/main" id="{AA821D57-96F9-3445-E885-0C52FE04975D}"/>
              </a:ext>
            </a:extLst>
          </p:cNvPr>
          <p:cNvSpPr txBox="1"/>
          <p:nvPr/>
        </p:nvSpPr>
        <p:spPr>
          <a:xfrm>
            <a:off x="787400" y="1392238"/>
            <a:ext cx="9534525" cy="560387"/>
          </a:xfrm>
          <a:prstGeom prst="rect">
            <a:avLst/>
          </a:prstGeom>
        </p:spPr>
        <p:txBody>
          <a:bodyPr lIns="0" tIns="67310" rIns="0" bIns="0">
            <a:spAutoFit/>
          </a:bodyPr>
          <a:lstStyle/>
          <a:p>
            <a:pPr>
              <a:spcBef>
                <a:spcPts val="1040"/>
              </a:spcBef>
              <a:defRPr/>
            </a:pPr>
            <a:endParaRPr sz="1600" dirty="0">
              <a:latin typeface="Calibri"/>
              <a:cs typeface="Calibri"/>
            </a:endParaRPr>
          </a:p>
          <a:p>
            <a:pPr marL="127000">
              <a:defRPr/>
            </a:pPr>
            <a:endParaRPr sz="1600" dirty="0">
              <a:latin typeface="Cambria Math"/>
              <a:cs typeface="Cambria Math"/>
            </a:endParaRPr>
          </a:p>
        </p:txBody>
      </p:sp>
      <p:sp>
        <p:nvSpPr>
          <p:cNvPr id="74760" name="object 21">
            <a:extLst>
              <a:ext uri="{FF2B5EF4-FFF2-40B4-BE49-F238E27FC236}">
                <a16:creationId xmlns:a16="http://schemas.microsoft.com/office/drawing/2014/main" id="{A8BDA0AB-1F0F-29EE-E69D-075115823566}"/>
              </a:ext>
            </a:extLst>
          </p:cNvPr>
          <p:cNvSpPr txBox="1">
            <a:spLocks noChangeArrowheads="1"/>
          </p:cNvSpPr>
          <p:nvPr/>
        </p:nvSpPr>
        <p:spPr bwMode="auto">
          <a:xfrm>
            <a:off x="4246563" y="81248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sp>
        <p:nvSpPr>
          <p:cNvPr id="74761" name="object 21">
            <a:extLst>
              <a:ext uri="{FF2B5EF4-FFF2-40B4-BE49-F238E27FC236}">
                <a16:creationId xmlns:a16="http://schemas.microsoft.com/office/drawing/2014/main" id="{F7EA2F49-638F-1B3D-AA76-8B896E5458F7}"/>
              </a:ext>
            </a:extLst>
          </p:cNvPr>
          <p:cNvSpPr txBox="1">
            <a:spLocks noChangeArrowheads="1"/>
          </p:cNvSpPr>
          <p:nvPr/>
        </p:nvSpPr>
        <p:spPr bwMode="auto">
          <a:xfrm>
            <a:off x="4398963" y="82772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pic>
        <p:nvPicPr>
          <p:cNvPr id="74762" name="Picture 7" descr="A screenshot of a math problem&#10;&#10;AI-generated content may be incorrect.">
            <a:extLst>
              <a:ext uri="{FF2B5EF4-FFF2-40B4-BE49-F238E27FC236}">
                <a16:creationId xmlns:a16="http://schemas.microsoft.com/office/drawing/2014/main" id="{B302586E-2F16-9C48-9BA3-DA1531BB90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0725" y="714375"/>
            <a:ext cx="6615113" cy="536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Google Shape;192;p32" descr="KL Deemed to be University Logo">
            <a:extLst>
              <a:ext uri="{FF2B5EF4-FFF2-40B4-BE49-F238E27FC236}">
                <a16:creationId xmlns:a16="http://schemas.microsoft.com/office/drawing/2014/main" id="{46EE6FCE-5DC9-45B0-F6C0-D6CAE54B0E0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3" name="Google Shape;194;p32" descr="KL Deemed to be University Logo">
            <a:extLst>
              <a:ext uri="{FF2B5EF4-FFF2-40B4-BE49-F238E27FC236}">
                <a16:creationId xmlns:a16="http://schemas.microsoft.com/office/drawing/2014/main" id="{68CBB380-19B5-08CD-E4AD-E1B4538E20F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4" name="Google Shape;196;p32">
            <a:extLst>
              <a:ext uri="{FF2B5EF4-FFF2-40B4-BE49-F238E27FC236}">
                <a16:creationId xmlns:a16="http://schemas.microsoft.com/office/drawing/2014/main" id="{392DFD8A-1F12-F42F-9C7A-4BD8ED99780C}"/>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5" name="Slide Number Placeholder 3">
            <a:extLst>
              <a:ext uri="{FF2B5EF4-FFF2-40B4-BE49-F238E27FC236}">
                <a16:creationId xmlns:a16="http://schemas.microsoft.com/office/drawing/2014/main" id="{05D629A1-8BF2-FFCB-8470-3AE6AEAB18AF}"/>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06933161-17CD-4149-A255-65A8107CC6E5}" type="slidenum">
              <a:rPr lang="en-IN" altLang="en-US" sz="2200" smtClean="0">
                <a:solidFill>
                  <a:schemeClr val="accent1"/>
                </a:solidFill>
              </a:rPr>
              <a:pPr>
                <a:lnSpc>
                  <a:spcPct val="100000"/>
                </a:lnSpc>
                <a:spcBef>
                  <a:spcPct val="0"/>
                </a:spcBef>
                <a:buClrTx/>
                <a:buSzTx/>
                <a:buFontTx/>
                <a:buNone/>
              </a:pPr>
              <a:t>32</a:t>
            </a:fld>
            <a:endParaRPr lang="en-IN" altLang="en-US" sz="2200">
              <a:solidFill>
                <a:schemeClr val="accent1"/>
              </a:solidFill>
            </a:endParaRPr>
          </a:p>
        </p:txBody>
      </p:sp>
      <p:sp>
        <p:nvSpPr>
          <p:cNvPr id="76806" name="Google Shape;193;p32">
            <a:extLst>
              <a:ext uri="{FF2B5EF4-FFF2-40B4-BE49-F238E27FC236}">
                <a16:creationId xmlns:a16="http://schemas.microsoft.com/office/drawing/2014/main" id="{3791DB55-A7A8-49E8-9138-D9D4A6B62845}"/>
              </a:ext>
            </a:extLst>
          </p:cNvPr>
          <p:cNvSpPr>
            <a:spLocks noChangeArrowheads="1"/>
          </p:cNvSpPr>
          <p:nvPr/>
        </p:nvSpPr>
        <p:spPr bwMode="auto">
          <a:xfrm>
            <a:off x="2330450" y="53975"/>
            <a:ext cx="5788025" cy="579438"/>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Another solved problem</a:t>
            </a:r>
            <a:endParaRPr lang="en-US" altLang="en-US" sz="1800">
              <a:ea typeface="Arial" panose="020B0604020202020204" pitchFamily="34" charset="0"/>
              <a:cs typeface="Calibri" panose="020F0502020204030204" pitchFamily="34" charset="0"/>
            </a:endParaRPr>
          </a:p>
        </p:txBody>
      </p:sp>
      <p:sp>
        <p:nvSpPr>
          <p:cNvPr id="2" name="object 19">
            <a:extLst>
              <a:ext uri="{FF2B5EF4-FFF2-40B4-BE49-F238E27FC236}">
                <a16:creationId xmlns:a16="http://schemas.microsoft.com/office/drawing/2014/main" id="{CC2F8B86-227D-AAEA-06BE-2A8AAA2DEC0B}"/>
              </a:ext>
            </a:extLst>
          </p:cNvPr>
          <p:cNvSpPr txBox="1"/>
          <p:nvPr/>
        </p:nvSpPr>
        <p:spPr>
          <a:xfrm>
            <a:off x="787400" y="1392238"/>
            <a:ext cx="9534525" cy="560387"/>
          </a:xfrm>
          <a:prstGeom prst="rect">
            <a:avLst/>
          </a:prstGeom>
        </p:spPr>
        <p:txBody>
          <a:bodyPr lIns="0" tIns="67310" rIns="0" bIns="0">
            <a:spAutoFit/>
          </a:bodyPr>
          <a:lstStyle/>
          <a:p>
            <a:pPr>
              <a:spcBef>
                <a:spcPts val="1040"/>
              </a:spcBef>
              <a:defRPr/>
            </a:pPr>
            <a:endParaRPr sz="1600" dirty="0">
              <a:latin typeface="Calibri"/>
              <a:cs typeface="Calibri"/>
            </a:endParaRPr>
          </a:p>
          <a:p>
            <a:pPr marL="127000">
              <a:defRPr/>
            </a:pPr>
            <a:endParaRPr sz="1600" dirty="0">
              <a:latin typeface="Cambria Math"/>
              <a:cs typeface="Cambria Math"/>
            </a:endParaRPr>
          </a:p>
        </p:txBody>
      </p:sp>
      <p:sp>
        <p:nvSpPr>
          <p:cNvPr id="76808" name="object 21">
            <a:extLst>
              <a:ext uri="{FF2B5EF4-FFF2-40B4-BE49-F238E27FC236}">
                <a16:creationId xmlns:a16="http://schemas.microsoft.com/office/drawing/2014/main" id="{88E8C4E6-829A-81B7-5FED-7D337A0A6FB8}"/>
              </a:ext>
            </a:extLst>
          </p:cNvPr>
          <p:cNvSpPr txBox="1">
            <a:spLocks noChangeArrowheads="1"/>
          </p:cNvSpPr>
          <p:nvPr/>
        </p:nvSpPr>
        <p:spPr bwMode="auto">
          <a:xfrm>
            <a:off x="4246563" y="81248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sp>
        <p:nvSpPr>
          <p:cNvPr id="76809" name="object 21">
            <a:extLst>
              <a:ext uri="{FF2B5EF4-FFF2-40B4-BE49-F238E27FC236}">
                <a16:creationId xmlns:a16="http://schemas.microsoft.com/office/drawing/2014/main" id="{F8147569-E8D3-ABF0-017C-1B24294EDE0D}"/>
              </a:ext>
            </a:extLst>
          </p:cNvPr>
          <p:cNvSpPr txBox="1">
            <a:spLocks noChangeArrowheads="1"/>
          </p:cNvSpPr>
          <p:nvPr/>
        </p:nvSpPr>
        <p:spPr bwMode="auto">
          <a:xfrm>
            <a:off x="4398963" y="82772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pic>
        <p:nvPicPr>
          <p:cNvPr id="76810" name="Picture 3" descr="A screenshot of a math problem&#10;&#10;AI-generated content may be incorrect.">
            <a:extLst>
              <a:ext uri="{FF2B5EF4-FFF2-40B4-BE49-F238E27FC236}">
                <a16:creationId xmlns:a16="http://schemas.microsoft.com/office/drawing/2014/main" id="{112C9D3A-4306-E527-E800-531CB344DE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0075" y="671513"/>
            <a:ext cx="6759575" cy="548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Google Shape;192;p32" descr="KL Deemed to be University Logo">
            <a:extLst>
              <a:ext uri="{FF2B5EF4-FFF2-40B4-BE49-F238E27FC236}">
                <a16:creationId xmlns:a16="http://schemas.microsoft.com/office/drawing/2014/main" id="{1E94DF69-8576-70AE-51BD-AEAC2B5D7E4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1" name="Google Shape;194;p32" descr="KL Deemed to be University Logo">
            <a:extLst>
              <a:ext uri="{FF2B5EF4-FFF2-40B4-BE49-F238E27FC236}">
                <a16:creationId xmlns:a16="http://schemas.microsoft.com/office/drawing/2014/main" id="{18913D6A-C563-4BC6-CFA6-F4859B0BC0A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2" name="Google Shape;196;p32">
            <a:extLst>
              <a:ext uri="{FF2B5EF4-FFF2-40B4-BE49-F238E27FC236}">
                <a16:creationId xmlns:a16="http://schemas.microsoft.com/office/drawing/2014/main" id="{4D834B87-A6FB-72B6-398B-13D219FEDB38}"/>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3" name="Slide Number Placeholder 3">
            <a:extLst>
              <a:ext uri="{FF2B5EF4-FFF2-40B4-BE49-F238E27FC236}">
                <a16:creationId xmlns:a16="http://schemas.microsoft.com/office/drawing/2014/main" id="{3F982C26-40AB-F1BB-0A07-FC3D0AF20A18}"/>
              </a:ext>
            </a:extLst>
          </p:cNvPr>
          <p:cNvSpPr>
            <a:spLocks noGrp="1" noChangeArrowheads="1"/>
          </p:cNvSpPr>
          <p:nvPr>
            <p:ph type="sldNum" sz="quarter" idx="11"/>
          </p:nvPr>
        </p:nvSpPr>
        <p:spPr bwMode="auto">
          <a:xfrm>
            <a:off x="5691188" y="6305550"/>
            <a:ext cx="809625"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274FAB91-06FD-4B72-BE56-4B39D50C946F}" type="slidenum">
              <a:rPr lang="en-IN" altLang="en-US" sz="2200" smtClean="0">
                <a:solidFill>
                  <a:schemeClr val="accent1"/>
                </a:solidFill>
              </a:rPr>
              <a:pPr>
                <a:lnSpc>
                  <a:spcPct val="100000"/>
                </a:lnSpc>
                <a:spcBef>
                  <a:spcPct val="0"/>
                </a:spcBef>
                <a:buClrTx/>
                <a:buSzTx/>
                <a:buFontTx/>
                <a:buNone/>
              </a:pPr>
              <a:t>33</a:t>
            </a:fld>
            <a:endParaRPr lang="en-IN" altLang="en-US" sz="2200">
              <a:solidFill>
                <a:schemeClr val="accent1"/>
              </a:solidFill>
            </a:endParaRPr>
          </a:p>
        </p:txBody>
      </p:sp>
      <p:sp>
        <p:nvSpPr>
          <p:cNvPr id="78854" name="Google Shape;193;p32">
            <a:extLst>
              <a:ext uri="{FF2B5EF4-FFF2-40B4-BE49-F238E27FC236}">
                <a16:creationId xmlns:a16="http://schemas.microsoft.com/office/drawing/2014/main" id="{BDE7DEEE-DBA4-E8D0-0DC7-F2D4DDF20045}"/>
              </a:ext>
            </a:extLst>
          </p:cNvPr>
          <p:cNvSpPr>
            <a:spLocks noChangeArrowheads="1"/>
          </p:cNvSpPr>
          <p:nvPr/>
        </p:nvSpPr>
        <p:spPr bwMode="auto">
          <a:xfrm>
            <a:off x="2330450" y="53975"/>
            <a:ext cx="5788025" cy="579438"/>
          </a:xfrm>
          <a:prstGeom prst="rect">
            <a:avLst/>
          </a:prstGeom>
          <a:solidFill>
            <a:schemeClr val="bg1"/>
          </a:solidFill>
          <a:ln w="25400">
            <a:solidFill>
              <a:schemeClr val="accent2"/>
            </a:solidFill>
            <a:round/>
            <a:headEnd type="none" w="sm" len="sm"/>
            <a:tailEnd type="none" w="sm" len="sm"/>
          </a:ln>
        </p:spPr>
        <p:txBody>
          <a:bodyPr lIns="91425" tIns="45700" rIns="91425" bIns="45700"/>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3200" b="1">
                <a:solidFill>
                  <a:srgbClr val="FF0000"/>
                </a:solidFill>
                <a:latin typeface="Calibri" panose="020F0502020204030204" pitchFamily="34" charset="0"/>
                <a:ea typeface="Arial" panose="020B0604020202020204" pitchFamily="34" charset="0"/>
                <a:cs typeface="Calibri" panose="020F0502020204030204" pitchFamily="34" charset="0"/>
              </a:rPr>
              <a:t>Another solved problem</a:t>
            </a:r>
            <a:endParaRPr lang="en-US" altLang="en-US" sz="1800">
              <a:ea typeface="Arial" panose="020B0604020202020204" pitchFamily="34" charset="0"/>
              <a:cs typeface="Calibri" panose="020F0502020204030204" pitchFamily="34" charset="0"/>
            </a:endParaRPr>
          </a:p>
        </p:txBody>
      </p:sp>
      <p:sp>
        <p:nvSpPr>
          <p:cNvPr id="2" name="object 19">
            <a:extLst>
              <a:ext uri="{FF2B5EF4-FFF2-40B4-BE49-F238E27FC236}">
                <a16:creationId xmlns:a16="http://schemas.microsoft.com/office/drawing/2014/main" id="{CAB6E0DD-6773-AFD4-FC86-1A93EBF27FB3}"/>
              </a:ext>
            </a:extLst>
          </p:cNvPr>
          <p:cNvSpPr txBox="1"/>
          <p:nvPr/>
        </p:nvSpPr>
        <p:spPr>
          <a:xfrm>
            <a:off x="787400" y="1392238"/>
            <a:ext cx="9534525" cy="560387"/>
          </a:xfrm>
          <a:prstGeom prst="rect">
            <a:avLst/>
          </a:prstGeom>
        </p:spPr>
        <p:txBody>
          <a:bodyPr lIns="0" tIns="67310" rIns="0" bIns="0">
            <a:spAutoFit/>
          </a:bodyPr>
          <a:lstStyle/>
          <a:p>
            <a:pPr>
              <a:spcBef>
                <a:spcPts val="1040"/>
              </a:spcBef>
              <a:defRPr/>
            </a:pPr>
            <a:endParaRPr sz="1600" dirty="0">
              <a:latin typeface="Calibri"/>
              <a:cs typeface="Calibri"/>
            </a:endParaRPr>
          </a:p>
          <a:p>
            <a:pPr marL="127000">
              <a:defRPr/>
            </a:pPr>
            <a:endParaRPr sz="1600" dirty="0">
              <a:latin typeface="Cambria Math"/>
              <a:cs typeface="Cambria Math"/>
            </a:endParaRPr>
          </a:p>
        </p:txBody>
      </p:sp>
      <p:sp>
        <p:nvSpPr>
          <p:cNvPr id="78856" name="object 21">
            <a:extLst>
              <a:ext uri="{FF2B5EF4-FFF2-40B4-BE49-F238E27FC236}">
                <a16:creationId xmlns:a16="http://schemas.microsoft.com/office/drawing/2014/main" id="{A6C2B83C-4A48-1ED7-EAE3-84F69203865B}"/>
              </a:ext>
            </a:extLst>
          </p:cNvPr>
          <p:cNvSpPr txBox="1">
            <a:spLocks noChangeArrowheads="1"/>
          </p:cNvSpPr>
          <p:nvPr/>
        </p:nvSpPr>
        <p:spPr bwMode="auto">
          <a:xfrm>
            <a:off x="4246563" y="81248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sp>
        <p:nvSpPr>
          <p:cNvPr id="78857" name="object 21">
            <a:extLst>
              <a:ext uri="{FF2B5EF4-FFF2-40B4-BE49-F238E27FC236}">
                <a16:creationId xmlns:a16="http://schemas.microsoft.com/office/drawing/2014/main" id="{5E498AB3-AE07-70E2-2531-67E3877456F5}"/>
              </a:ext>
            </a:extLst>
          </p:cNvPr>
          <p:cNvSpPr txBox="1">
            <a:spLocks noChangeArrowheads="1"/>
          </p:cNvSpPr>
          <p:nvPr/>
        </p:nvSpPr>
        <p:spPr bwMode="auto">
          <a:xfrm>
            <a:off x="4398963" y="8277225"/>
            <a:ext cx="5286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ts val="100"/>
              </a:spcBef>
              <a:buClrTx/>
              <a:buSzTx/>
              <a:buFontTx/>
              <a:buNone/>
            </a:pPr>
            <a:r>
              <a:rPr lang="en-US" altLang="en-US" sz="1400">
                <a:latin typeface="Cambria Math" panose="02040503050406030204" pitchFamily="18" charset="0"/>
                <a:ea typeface="Cambria Math" panose="02040503050406030204" pitchFamily="18" charset="0"/>
                <a:cs typeface="Cambria Math" panose="02040503050406030204" pitchFamily="18" charset="0"/>
              </a:rPr>
              <a:t>≤ 500</a:t>
            </a:r>
          </a:p>
        </p:txBody>
      </p:sp>
      <p:pic>
        <p:nvPicPr>
          <p:cNvPr id="78858" name="Picture 4" descr="A table with numbers and symbols&#10;&#10;AI-generated content may be incorrect.">
            <a:extLst>
              <a:ext uri="{FF2B5EF4-FFF2-40B4-BE49-F238E27FC236}">
                <a16:creationId xmlns:a16="http://schemas.microsoft.com/office/drawing/2014/main" id="{690FE190-72CF-E4F6-9DB7-CB00672AB9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9038" y="765175"/>
            <a:ext cx="821055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Google Shape;298;p43">
            <a:extLst>
              <a:ext uri="{FF2B5EF4-FFF2-40B4-BE49-F238E27FC236}">
                <a16:creationId xmlns:a16="http://schemas.microsoft.com/office/drawing/2014/main" id="{4E391A92-C4A7-ACFF-15B5-7B259A0D4F06}"/>
              </a:ext>
            </a:extLst>
          </p:cNvPr>
          <p:cNvSpPr/>
          <p:nvPr/>
        </p:nvSpPr>
        <p:spPr>
          <a:xfrm>
            <a:off x="3390900" y="95250"/>
            <a:ext cx="5410200" cy="411163"/>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lIns="90000" tIns="45000" rIns="90000" bIns="45000" anchor="ctr"/>
          <a:lstStyle/>
          <a:p>
            <a:pPr algn="ctr" eaLnBrk="1" fontAlgn="auto" hangingPunct="1">
              <a:spcBef>
                <a:spcPts val="0"/>
              </a:spcBef>
              <a:spcAft>
                <a:spcPts val="0"/>
              </a:spcAft>
              <a:defRPr/>
            </a:pPr>
            <a:r>
              <a:rPr lang="en-US" sz="2400">
                <a:solidFill>
                  <a:srgbClr val="FFFFFF"/>
                </a:solidFill>
                <a:latin typeface="Calibri"/>
                <a:ea typeface="Calibri"/>
                <a:cs typeface="Calibri"/>
                <a:sym typeface="Calibri"/>
              </a:rPr>
              <a:t>SELF-ASSESSMENT QUESTIONS</a:t>
            </a:r>
            <a:endParaRPr sz="2400">
              <a:latin typeface="Arial"/>
              <a:ea typeface="Arial"/>
              <a:cs typeface="Arial"/>
              <a:sym typeface="Arial"/>
            </a:endParaRPr>
          </a:p>
        </p:txBody>
      </p:sp>
      <p:sp>
        <p:nvSpPr>
          <p:cNvPr id="299" name="Google Shape;299;p43">
            <a:extLst>
              <a:ext uri="{FF2B5EF4-FFF2-40B4-BE49-F238E27FC236}">
                <a16:creationId xmlns:a16="http://schemas.microsoft.com/office/drawing/2014/main" id="{DF68F651-5AD5-53CC-C1F4-074025CFCD9D}"/>
              </a:ext>
            </a:extLst>
          </p:cNvPr>
          <p:cNvSpPr/>
          <p:nvPr/>
        </p:nvSpPr>
        <p:spPr>
          <a:xfrm>
            <a:off x="666750" y="625475"/>
            <a:ext cx="10171113" cy="70961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eaLnBrk="1" fontAlgn="auto" hangingPunct="1">
              <a:spcBef>
                <a:spcPts val="0"/>
              </a:spcBef>
              <a:spcAft>
                <a:spcPts val="0"/>
              </a:spcAft>
              <a:defRPr/>
            </a:pPr>
            <a:r>
              <a:rPr lang="en-US" sz="2400" dirty="0">
                <a:solidFill>
                  <a:srgbClr val="000000"/>
                </a:solidFill>
                <a:latin typeface="Calibri"/>
                <a:ea typeface="Arial"/>
                <a:cs typeface="Calibri"/>
                <a:sym typeface="Calibri"/>
              </a:rPr>
              <a:t>A standard form of LP problem is required to satisfy the following condition</a:t>
            </a:r>
            <a:endParaRPr lang="en-US" sz="2400" dirty="0">
              <a:latin typeface="Calibri"/>
              <a:ea typeface="Arial"/>
              <a:cs typeface="Calibri"/>
            </a:endParaRPr>
          </a:p>
        </p:txBody>
      </p:sp>
      <p:sp>
        <p:nvSpPr>
          <p:cNvPr id="300" name="Google Shape;300;p43">
            <a:extLst>
              <a:ext uri="{FF2B5EF4-FFF2-40B4-BE49-F238E27FC236}">
                <a16:creationId xmlns:a16="http://schemas.microsoft.com/office/drawing/2014/main" id="{0024CBB6-5950-388F-3FD4-0762DBE8CE4F}"/>
              </a:ext>
            </a:extLst>
          </p:cNvPr>
          <p:cNvSpPr/>
          <p:nvPr/>
        </p:nvSpPr>
        <p:spPr>
          <a:xfrm>
            <a:off x="963360" y="1453680"/>
            <a:ext cx="5927634" cy="1553471"/>
          </a:xfrm>
          <a:prstGeom prst="roundRect">
            <a:avLst>
              <a:gd name="adj" fmla="val 16667"/>
            </a:avLst>
          </a:prstGeom>
          <a:gradFill>
            <a:gsLst>
              <a:gs pos="0">
                <a:srgbClr val="3864B3"/>
              </a:gs>
              <a:gs pos="100000">
                <a:srgbClr val="2C4F8C"/>
              </a:gs>
            </a:gsLst>
            <a:path path="circle">
              <a:fillToRect l="50000" t="50000" r="50000" b="50000"/>
            </a:path>
            <a:tileRect/>
          </a:gradFill>
          <a:ln>
            <a:noFill/>
          </a:ln>
          <a:effectLst>
            <a:outerShdw blurRad="50800" dist="37674" dir="2700000" algn="tl" rotWithShape="0">
              <a:srgbClr val="BA2532">
                <a:alpha val="40000"/>
              </a:srgbClr>
            </a:outerShdw>
          </a:effectLst>
        </p:spPr>
        <p:txBody>
          <a:bodyPr spcFirstLastPara="1" lIns="90000" tIns="45000" rIns="90000" bIns="45000" anchor="ctr"/>
          <a:lstStyle/>
          <a:p>
            <a:pPr eaLnBrk="1" fontAlgn="auto" hangingPunct="1">
              <a:spcBef>
                <a:spcPts val="0"/>
              </a:spcBef>
              <a:spcAft>
                <a:spcPts val="0"/>
              </a:spcAft>
              <a:defRPr/>
            </a:pPr>
            <a:r>
              <a:rPr lang="en-US" sz="2000" dirty="0">
                <a:solidFill>
                  <a:srgbClr val="FFFFFF"/>
                </a:solidFill>
                <a:latin typeface="Calibri"/>
                <a:ea typeface="Calibri"/>
                <a:cs typeface="Calibri"/>
                <a:sym typeface="Calibri"/>
              </a:rPr>
              <a:t>A) The problem is a maximization problem.</a:t>
            </a:r>
            <a:endParaRPr sz="2000" dirty="0">
              <a:latin typeface="Arial"/>
              <a:ea typeface="Arial"/>
              <a:cs typeface="Arial"/>
              <a:sym typeface="Arial"/>
            </a:endParaRPr>
          </a:p>
          <a:p>
            <a:pPr eaLnBrk="1" fontAlgn="auto" hangingPunct="1">
              <a:spcBef>
                <a:spcPts val="0"/>
              </a:spcBef>
              <a:spcAft>
                <a:spcPts val="0"/>
              </a:spcAft>
              <a:defRPr/>
            </a:pPr>
            <a:r>
              <a:rPr lang="en-US" sz="2000" dirty="0">
                <a:solidFill>
                  <a:srgbClr val="FFFFFF"/>
                </a:solidFill>
                <a:latin typeface="Calibri"/>
                <a:ea typeface="Calibri"/>
                <a:cs typeface="Calibri"/>
                <a:sym typeface="Calibri"/>
              </a:rPr>
              <a:t>B) All constraints should be of &lt;= zero type.</a:t>
            </a:r>
            <a:endParaRPr lang="en-US" sz="2000" dirty="0">
              <a:solidFill>
                <a:srgbClr val="FFFFFF"/>
              </a:solidFill>
              <a:latin typeface="Calibri"/>
              <a:ea typeface="Calibri"/>
              <a:cs typeface="Calibri"/>
            </a:endParaRPr>
          </a:p>
          <a:p>
            <a:pPr eaLnBrk="1" fontAlgn="auto" hangingPunct="1">
              <a:spcBef>
                <a:spcPts val="0"/>
              </a:spcBef>
              <a:spcAft>
                <a:spcPts val="0"/>
              </a:spcAft>
              <a:defRPr/>
            </a:pPr>
            <a:r>
              <a:rPr lang="en-US" sz="2000" dirty="0">
                <a:solidFill>
                  <a:srgbClr val="FFFFFF"/>
                </a:solidFill>
                <a:latin typeface="Calibri"/>
                <a:ea typeface="Calibri"/>
                <a:cs typeface="Calibri"/>
                <a:sym typeface="Calibri"/>
              </a:rPr>
              <a:t>C) All variables should take non-negative values.</a:t>
            </a:r>
            <a:endParaRPr lang="en-US" sz="2000" dirty="0">
              <a:solidFill>
                <a:srgbClr val="FFFFFF"/>
              </a:solidFill>
              <a:latin typeface="Calibri"/>
              <a:ea typeface="Calibri"/>
              <a:cs typeface="Calibri"/>
            </a:endParaRPr>
          </a:p>
          <a:p>
            <a:pPr eaLnBrk="1" fontAlgn="auto" hangingPunct="1">
              <a:spcBef>
                <a:spcPts val="0"/>
              </a:spcBef>
              <a:spcAft>
                <a:spcPts val="0"/>
              </a:spcAft>
              <a:defRPr/>
            </a:pPr>
            <a:r>
              <a:rPr lang="en-US" sz="2000" dirty="0">
                <a:solidFill>
                  <a:srgbClr val="FFFFFF"/>
                </a:solidFill>
                <a:latin typeface="Calibri"/>
                <a:ea typeface="Calibri"/>
                <a:cs typeface="Calibri"/>
                <a:sym typeface="Calibri"/>
              </a:rPr>
              <a:t>D) All of the above</a:t>
            </a:r>
            <a:endParaRPr sz="2000" dirty="0">
              <a:latin typeface="Arial"/>
              <a:ea typeface="Arial"/>
              <a:cs typeface="Arial"/>
              <a:sym typeface="Arial"/>
            </a:endParaRPr>
          </a:p>
        </p:txBody>
      </p:sp>
      <p:sp>
        <p:nvSpPr>
          <p:cNvPr id="301" name="Google Shape;301;p43">
            <a:extLst>
              <a:ext uri="{FF2B5EF4-FFF2-40B4-BE49-F238E27FC236}">
                <a16:creationId xmlns:a16="http://schemas.microsoft.com/office/drawing/2014/main" id="{AED3D609-54EB-1A6B-572A-FA5E225399BF}"/>
              </a:ext>
            </a:extLst>
          </p:cNvPr>
          <p:cNvSpPr/>
          <p:nvPr/>
        </p:nvSpPr>
        <p:spPr>
          <a:xfrm>
            <a:off x="666750" y="3543300"/>
            <a:ext cx="10171113" cy="71120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lIns="91425" tIns="45700" rIns="91425" bIns="45700" anchor="ctr"/>
          <a:lstStyle/>
          <a:p>
            <a:pPr eaLnBrk="1" fontAlgn="auto" hangingPunct="1">
              <a:spcBef>
                <a:spcPts val="0"/>
              </a:spcBef>
              <a:spcAft>
                <a:spcPts val="0"/>
              </a:spcAft>
              <a:defRPr/>
            </a:pPr>
            <a:r>
              <a:rPr lang="en-US" sz="2400" dirty="0">
                <a:solidFill>
                  <a:srgbClr val="000000"/>
                </a:solidFill>
                <a:latin typeface="Calibri"/>
                <a:ea typeface="Calibri"/>
                <a:cs typeface="Calibri"/>
                <a:sym typeface="Calibri"/>
              </a:rPr>
              <a:t>Inequalities can be converted into equality using the following type of variable </a:t>
            </a:r>
            <a:endParaRPr sz="2400" dirty="0">
              <a:latin typeface="Arial"/>
              <a:ea typeface="Arial"/>
              <a:cs typeface="Arial"/>
              <a:sym typeface="Arial"/>
            </a:endParaRPr>
          </a:p>
        </p:txBody>
      </p:sp>
      <p:sp>
        <p:nvSpPr>
          <p:cNvPr id="302" name="Google Shape;302;p43">
            <a:extLst>
              <a:ext uri="{FF2B5EF4-FFF2-40B4-BE49-F238E27FC236}">
                <a16:creationId xmlns:a16="http://schemas.microsoft.com/office/drawing/2014/main" id="{70F2D1DC-3B2E-C11A-C4B9-97F75F3EDFE4}"/>
              </a:ext>
            </a:extLst>
          </p:cNvPr>
          <p:cNvSpPr/>
          <p:nvPr/>
        </p:nvSpPr>
        <p:spPr>
          <a:xfrm>
            <a:off x="850320" y="4501440"/>
            <a:ext cx="4456972" cy="1305471"/>
          </a:xfrm>
          <a:prstGeom prst="roundRect">
            <a:avLst>
              <a:gd name="adj" fmla="val 16667"/>
            </a:avLst>
          </a:prstGeom>
          <a:gradFill>
            <a:gsLst>
              <a:gs pos="0">
                <a:srgbClr val="3864B3"/>
              </a:gs>
              <a:gs pos="100000">
                <a:srgbClr val="2C4F8C"/>
              </a:gs>
            </a:gsLst>
            <a:path path="circle">
              <a:fillToRect l="50000" t="50000" r="50000" b="50000"/>
            </a:path>
            <a:tileRect/>
          </a:gradFill>
          <a:ln>
            <a:noFill/>
          </a:ln>
          <a:effectLst>
            <a:outerShdw blurRad="50800" dist="37674" dir="2700000" algn="tl" rotWithShape="0">
              <a:srgbClr val="BA2532">
                <a:alpha val="40000"/>
              </a:srgbClr>
            </a:outerShdw>
          </a:effectLst>
        </p:spPr>
        <p:txBody>
          <a:bodyPr spcFirstLastPara="1" lIns="90000" tIns="45000" rIns="90000" bIns="45000" anchor="ctr"/>
          <a:lstStyle/>
          <a:p>
            <a:pPr marL="457200" indent="-457200" eaLnBrk="1" fontAlgn="auto" hangingPunct="1">
              <a:spcBef>
                <a:spcPts val="0"/>
              </a:spcBef>
              <a:spcAft>
                <a:spcPts val="0"/>
              </a:spcAft>
              <a:buFontTx/>
              <a:buAutoNum type="alphaUcPeriod"/>
              <a:defRPr/>
            </a:pPr>
            <a:r>
              <a:rPr lang="en-US" sz="2000" dirty="0">
                <a:solidFill>
                  <a:srgbClr val="FFFFFF"/>
                </a:solidFill>
                <a:latin typeface="Calibri"/>
                <a:ea typeface="Calibri"/>
                <a:cs typeface="Calibri"/>
              </a:rPr>
              <a:t>Basic</a:t>
            </a:r>
            <a:endParaRPr lang="en-US" sz="2000" dirty="0">
              <a:solidFill>
                <a:srgbClr val="FFFFFF"/>
              </a:solidFill>
              <a:latin typeface="Calibri"/>
              <a:ea typeface="Calibri"/>
              <a:cs typeface="Calibri"/>
              <a:sym typeface="Calibri"/>
            </a:endParaRPr>
          </a:p>
          <a:p>
            <a:pPr marL="457200" indent="-457200" eaLnBrk="1" fontAlgn="auto" hangingPunct="1">
              <a:spcBef>
                <a:spcPts val="0"/>
              </a:spcBef>
              <a:spcAft>
                <a:spcPts val="0"/>
              </a:spcAft>
              <a:buFontTx/>
              <a:buAutoNum type="alphaUcPeriod"/>
              <a:defRPr/>
            </a:pPr>
            <a:r>
              <a:rPr lang="en-US" sz="2000" dirty="0">
                <a:solidFill>
                  <a:srgbClr val="FFFFFF"/>
                </a:solidFill>
                <a:latin typeface="Calibri"/>
                <a:ea typeface="Arial"/>
                <a:cs typeface="Calibri"/>
              </a:rPr>
              <a:t>Non-basic</a:t>
            </a:r>
            <a:endParaRPr lang="en-US" sz="2000" dirty="0">
              <a:solidFill>
                <a:srgbClr val="FFFFFF"/>
              </a:solidFill>
              <a:latin typeface="Calibri"/>
              <a:ea typeface="Arial"/>
              <a:cs typeface="Calibri"/>
              <a:sym typeface="Calibri"/>
            </a:endParaRPr>
          </a:p>
          <a:p>
            <a:pPr marL="457200" indent="-457200" eaLnBrk="1" fontAlgn="auto" hangingPunct="1">
              <a:spcBef>
                <a:spcPts val="0"/>
              </a:spcBef>
              <a:spcAft>
                <a:spcPts val="0"/>
              </a:spcAft>
              <a:buFontTx/>
              <a:buAutoNum type="alphaUcPeriod"/>
              <a:defRPr/>
            </a:pPr>
            <a:r>
              <a:rPr lang="en-US" sz="2000" dirty="0">
                <a:solidFill>
                  <a:srgbClr val="FFFFFF"/>
                </a:solidFill>
                <a:latin typeface="Calibri"/>
                <a:ea typeface="Arial"/>
                <a:cs typeface="Calibri"/>
              </a:rPr>
              <a:t>Slack</a:t>
            </a:r>
          </a:p>
          <a:p>
            <a:pPr marL="457200" indent="-457200" eaLnBrk="1" fontAlgn="auto" hangingPunct="1">
              <a:spcBef>
                <a:spcPts val="0"/>
              </a:spcBef>
              <a:spcAft>
                <a:spcPts val="0"/>
              </a:spcAft>
              <a:buFontTx/>
              <a:buAutoNum type="alphaUcPeriod"/>
              <a:defRPr/>
            </a:pPr>
            <a:r>
              <a:rPr lang="en-US" sz="2000" dirty="0">
                <a:solidFill>
                  <a:srgbClr val="FFFFFF"/>
                </a:solidFill>
                <a:latin typeface="Calibri"/>
                <a:ea typeface="Arial"/>
                <a:cs typeface="Calibri"/>
                <a:sym typeface="Calibri"/>
              </a:rPr>
              <a:t>Any of the above</a:t>
            </a:r>
            <a:endParaRPr sz="2000" dirty="0">
              <a:latin typeface="Arial"/>
              <a:ea typeface="Arial"/>
              <a:cs typeface="Arial"/>
              <a:sym typeface="Arial"/>
            </a:endParaRPr>
          </a:p>
        </p:txBody>
      </p:sp>
      <p:pic>
        <p:nvPicPr>
          <p:cNvPr id="80907" name="Google Shape;303;p43" descr="KL Deemed to be University Logo">
            <a:extLst>
              <a:ext uri="{FF2B5EF4-FFF2-40B4-BE49-F238E27FC236}">
                <a16:creationId xmlns:a16="http://schemas.microsoft.com/office/drawing/2014/main" id="{80281D4B-1EC3-0102-B98B-8C86765093E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8" name="Google Shape;304;p43">
            <a:extLst>
              <a:ext uri="{FF2B5EF4-FFF2-40B4-BE49-F238E27FC236}">
                <a16:creationId xmlns:a16="http://schemas.microsoft.com/office/drawing/2014/main" id="{35D77870-2838-1BDB-EE6B-C7C931B65694}"/>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9" name="Slide Number Placeholder 3">
            <a:extLst>
              <a:ext uri="{FF2B5EF4-FFF2-40B4-BE49-F238E27FC236}">
                <a16:creationId xmlns:a16="http://schemas.microsoft.com/office/drawing/2014/main" id="{EF322F42-55C7-161B-8B43-BEF63504998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60F99F3F-6BD3-4A8B-9E8D-C1B2BD6270D3}" type="slidenum">
              <a:rPr lang="en-IN" altLang="en-US" sz="2200" smtClean="0">
                <a:solidFill>
                  <a:schemeClr val="accent1"/>
                </a:solidFill>
              </a:rPr>
              <a:pPr>
                <a:lnSpc>
                  <a:spcPct val="100000"/>
                </a:lnSpc>
                <a:spcBef>
                  <a:spcPct val="0"/>
                </a:spcBef>
                <a:buClrTx/>
                <a:buSzTx/>
                <a:buFontTx/>
                <a:buNone/>
              </a:pPr>
              <a:t>34</a:t>
            </a:fld>
            <a:endParaRPr lang="en-IN" altLang="en-US" sz="220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500"/>
                                        <p:tgtEl>
                                          <p:spTgt spid="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00"/>
                                        </p:tgtEl>
                                        <p:attrNameLst>
                                          <p:attrName>style.visibility</p:attrName>
                                        </p:attrNameLst>
                                      </p:cBhvr>
                                      <p:to>
                                        <p:strVal val="visible"/>
                                      </p:to>
                                    </p:set>
                                    <p:animEffect transition="in" filter="fade">
                                      <p:cBhvr>
                                        <p:cTn id="12" dur="500"/>
                                        <p:tgtEl>
                                          <p:spTgt spid="3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02"/>
                                        </p:tgtEl>
                                        <p:attrNameLst>
                                          <p:attrName>style.visibility</p:attrName>
                                        </p:attrNameLst>
                                      </p:cBhvr>
                                      <p:to>
                                        <p:strVal val="visible"/>
                                      </p:to>
                                    </p:set>
                                    <p:animEffect transition="in" filter="fade">
                                      <p:cBhvr>
                                        <p:cTn id="17" dur="500"/>
                                        <p:tgtEl>
                                          <p:spTgt spid="3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99"/>
                                        </p:tgtEl>
                                        <p:attrNameLst>
                                          <p:attrName>style.visibility</p:attrName>
                                        </p:attrNameLst>
                                      </p:cBhvr>
                                      <p:to>
                                        <p:strVal val="visible"/>
                                      </p:to>
                                    </p:set>
                                    <p:animEffect transition="in" filter="fade">
                                      <p:cBhvr>
                                        <p:cTn id="22" dur="500"/>
                                        <p:tgtEl>
                                          <p:spTgt spid="2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301"/>
                                        </p:tgtEl>
                                        <p:attrNameLst>
                                          <p:attrName>style.visibility</p:attrName>
                                        </p:attrNameLst>
                                      </p:cBhvr>
                                      <p:to>
                                        <p:strVal val="visible"/>
                                      </p:to>
                                    </p:set>
                                    <p:animEffect transition="in" filter="fade">
                                      <p:cBhvr>
                                        <p:cTn id="27"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Google Shape;310;p44">
            <a:extLst>
              <a:ext uri="{FF2B5EF4-FFF2-40B4-BE49-F238E27FC236}">
                <a16:creationId xmlns:a16="http://schemas.microsoft.com/office/drawing/2014/main" id="{568F4934-4BED-931F-B289-D303AD9D2121}"/>
              </a:ext>
            </a:extLst>
          </p:cNvPr>
          <p:cNvSpPr/>
          <p:nvPr/>
        </p:nvSpPr>
        <p:spPr>
          <a:xfrm>
            <a:off x="3390900" y="95250"/>
            <a:ext cx="5410200" cy="411163"/>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lIns="90000" tIns="45000" rIns="90000" bIns="45000" anchor="ctr"/>
          <a:lstStyle/>
          <a:p>
            <a:pPr algn="ctr" eaLnBrk="1" fontAlgn="auto" hangingPunct="1">
              <a:spcBef>
                <a:spcPts val="0"/>
              </a:spcBef>
              <a:spcAft>
                <a:spcPts val="0"/>
              </a:spcAft>
              <a:defRPr/>
            </a:pPr>
            <a:r>
              <a:rPr lang="en-US" sz="2400">
                <a:solidFill>
                  <a:srgbClr val="FFFFFF"/>
                </a:solidFill>
                <a:latin typeface="Calibri"/>
                <a:ea typeface="Calibri"/>
                <a:cs typeface="Calibri"/>
                <a:sym typeface="Calibri"/>
              </a:rPr>
              <a:t>TERMINAL QUESTIONS</a:t>
            </a:r>
            <a:endParaRPr sz="2400">
              <a:latin typeface="Arial"/>
              <a:ea typeface="Arial"/>
              <a:cs typeface="Arial"/>
              <a:sym typeface="Arial"/>
            </a:endParaRPr>
          </a:p>
        </p:txBody>
      </p:sp>
      <p:sp>
        <p:nvSpPr>
          <p:cNvPr id="311" name="Google Shape;311;p44">
            <a:extLst>
              <a:ext uri="{FF2B5EF4-FFF2-40B4-BE49-F238E27FC236}">
                <a16:creationId xmlns:a16="http://schemas.microsoft.com/office/drawing/2014/main" id="{C6F61914-833A-7BF5-718A-F5125E0F0317}"/>
              </a:ext>
            </a:extLst>
          </p:cNvPr>
          <p:cNvSpPr/>
          <p:nvPr/>
        </p:nvSpPr>
        <p:spPr>
          <a:xfrm>
            <a:off x="152400" y="750888"/>
            <a:ext cx="11722100" cy="4678362"/>
          </a:xfrm>
          <a:prstGeom prst="rect">
            <a:avLst/>
          </a:prstGeom>
          <a:noFill/>
          <a:ln>
            <a:noFill/>
          </a:ln>
        </p:spPr>
        <p:txBody>
          <a:bodyPr spcFirstLastPara="1" lIns="90000" tIns="45000" rIns="90000" bIns="45000"/>
          <a:lstStyle/>
          <a:p>
            <a:pPr marL="342900" indent="-342265" eaLnBrk="1" fontAlgn="auto" hangingPunct="1">
              <a:lnSpc>
                <a:spcPct val="200000"/>
              </a:lnSpc>
              <a:spcBef>
                <a:spcPts val="0"/>
              </a:spcBef>
              <a:spcAft>
                <a:spcPts val="0"/>
              </a:spcAft>
              <a:buClr>
                <a:srgbClr val="000000"/>
              </a:buClr>
              <a:buSzPts val="2000"/>
              <a:buFont typeface="Noto Sans Symbols"/>
              <a:buAutoNum type="arabicPeriod"/>
              <a:defRPr/>
            </a:pPr>
            <a:r>
              <a:rPr lang="en-US" sz="2000" dirty="0">
                <a:solidFill>
                  <a:srgbClr val="000000"/>
                </a:solidFill>
                <a:latin typeface="Times New Roman"/>
                <a:ea typeface="Times New Roman"/>
                <a:cs typeface="Times New Roman"/>
                <a:sym typeface="Times New Roman"/>
              </a:rPr>
              <a:t>Write the steps of converting a minimization problem to a maximization problem.</a:t>
            </a:r>
            <a:endParaRPr lang="en-US" sz="2000">
              <a:latin typeface="Arial"/>
              <a:ea typeface="Arial"/>
              <a:cs typeface="Arial"/>
            </a:endParaRPr>
          </a:p>
          <a:p>
            <a:pPr marL="342900" indent="-342265" eaLnBrk="1" fontAlgn="auto" hangingPunct="1">
              <a:lnSpc>
                <a:spcPct val="200000"/>
              </a:lnSpc>
              <a:spcBef>
                <a:spcPts val="0"/>
              </a:spcBef>
              <a:spcAft>
                <a:spcPts val="0"/>
              </a:spcAft>
              <a:buClr>
                <a:srgbClr val="000000"/>
              </a:buClr>
              <a:buSzPts val="2000"/>
              <a:buFont typeface="Noto Sans Symbols"/>
              <a:buAutoNum type="arabicPeriod"/>
              <a:defRPr/>
            </a:pPr>
            <a:r>
              <a:rPr lang="en-US" sz="2000" dirty="0">
                <a:solidFill>
                  <a:srgbClr val="000000"/>
                </a:solidFill>
                <a:latin typeface="Times New Roman"/>
                <a:ea typeface="Times New Roman"/>
                <a:cs typeface="Times New Roman"/>
                <a:sym typeface="Times New Roman"/>
              </a:rPr>
              <a:t>List the steps of optimization following the Simplex method.</a:t>
            </a:r>
            <a:endParaRPr sz="2000">
              <a:latin typeface="Arial"/>
              <a:ea typeface="Arial"/>
              <a:cs typeface="Arial"/>
            </a:endParaRPr>
          </a:p>
          <a:p>
            <a:pPr marL="342900" indent="-342265" eaLnBrk="1" fontAlgn="auto" hangingPunct="1">
              <a:lnSpc>
                <a:spcPct val="200000"/>
              </a:lnSpc>
              <a:spcBef>
                <a:spcPts val="0"/>
              </a:spcBef>
              <a:spcAft>
                <a:spcPts val="0"/>
              </a:spcAft>
              <a:buClr>
                <a:srgbClr val="000000"/>
              </a:buClr>
              <a:buSzPts val="2000"/>
              <a:buFont typeface="Noto Sans Symbols"/>
              <a:buAutoNum type="arabicPeriod"/>
              <a:defRPr/>
            </a:pPr>
            <a:r>
              <a:rPr lang="en-US" sz="2000" dirty="0">
                <a:latin typeface="Times New Roman"/>
                <a:ea typeface="Times New Roman"/>
                <a:cs typeface="Times New Roman"/>
                <a:sym typeface="Times New Roman"/>
              </a:rPr>
              <a:t>Define the following terms:</a:t>
            </a:r>
          </a:p>
          <a:p>
            <a:pPr marL="915035" lvl="1" indent="-457200" eaLnBrk="1" fontAlgn="auto" hangingPunct="1">
              <a:lnSpc>
                <a:spcPct val="200000"/>
              </a:lnSpc>
              <a:spcBef>
                <a:spcPts val="0"/>
              </a:spcBef>
              <a:spcAft>
                <a:spcPts val="0"/>
              </a:spcAft>
              <a:buClr>
                <a:srgbClr val="000000"/>
              </a:buClr>
              <a:buSzPts val="2000"/>
              <a:buFontTx/>
              <a:buAutoNum type="alphaLcParenR"/>
              <a:defRPr/>
            </a:pPr>
            <a:r>
              <a:rPr lang="en-US" sz="2000" dirty="0">
                <a:latin typeface="Times New Roman"/>
                <a:ea typeface="Times New Roman"/>
                <a:cs typeface="Times New Roman"/>
                <a:sym typeface="Times New Roman"/>
              </a:rPr>
              <a:t>Pivot element</a:t>
            </a:r>
            <a:endParaRPr lang="en-US" sz="2000">
              <a:latin typeface="Times New Roman"/>
              <a:ea typeface="Times New Roman"/>
              <a:cs typeface="Times New Roman"/>
            </a:endParaRPr>
          </a:p>
          <a:p>
            <a:pPr marL="915035" lvl="1" indent="-457200" eaLnBrk="1" fontAlgn="auto" hangingPunct="1">
              <a:lnSpc>
                <a:spcPct val="200000"/>
              </a:lnSpc>
              <a:spcBef>
                <a:spcPts val="0"/>
              </a:spcBef>
              <a:spcAft>
                <a:spcPts val="0"/>
              </a:spcAft>
              <a:buClr>
                <a:srgbClr val="000000"/>
              </a:buClr>
              <a:buSzPts val="2000"/>
              <a:buFontTx/>
              <a:buAutoNum type="alphaLcParenR"/>
              <a:defRPr/>
            </a:pPr>
            <a:r>
              <a:rPr lang="en-US" sz="2000" dirty="0">
                <a:latin typeface="Times New Roman"/>
                <a:ea typeface="Times New Roman"/>
                <a:cs typeface="Times New Roman"/>
              </a:rPr>
              <a:t>Slack variable</a:t>
            </a:r>
            <a:endParaRPr lang="en-US" sz="2000" dirty="0">
              <a:latin typeface="Times New Roman"/>
              <a:ea typeface="Times New Roman"/>
              <a:cs typeface="Times New Roman"/>
              <a:sym typeface="Times New Roman"/>
            </a:endParaRPr>
          </a:p>
          <a:p>
            <a:pPr marL="915035" lvl="1" indent="-457200" eaLnBrk="1" fontAlgn="auto" hangingPunct="1">
              <a:lnSpc>
                <a:spcPct val="200000"/>
              </a:lnSpc>
              <a:spcBef>
                <a:spcPts val="0"/>
              </a:spcBef>
              <a:spcAft>
                <a:spcPts val="0"/>
              </a:spcAft>
              <a:buClr>
                <a:srgbClr val="000000"/>
              </a:buClr>
              <a:buSzPts val="2000"/>
              <a:buFontTx/>
              <a:buAutoNum type="alphaLcParenR"/>
              <a:defRPr/>
            </a:pPr>
            <a:r>
              <a:rPr lang="en-US" sz="2000" dirty="0">
                <a:latin typeface="Times New Roman"/>
                <a:ea typeface="Times New Roman"/>
                <a:cs typeface="Times New Roman"/>
              </a:rPr>
              <a:t>Basic variable</a:t>
            </a:r>
          </a:p>
          <a:p>
            <a:pPr marL="342900" indent="-342265" eaLnBrk="1" fontAlgn="auto" hangingPunct="1">
              <a:lnSpc>
                <a:spcPct val="200000"/>
              </a:lnSpc>
              <a:spcBef>
                <a:spcPts val="0"/>
              </a:spcBef>
              <a:spcAft>
                <a:spcPts val="0"/>
              </a:spcAft>
              <a:buClr>
                <a:srgbClr val="000000"/>
              </a:buClr>
              <a:buSzPts val="2000"/>
              <a:buFontTx/>
              <a:buAutoNum type="arabicPeriod"/>
              <a:defRPr/>
            </a:pPr>
            <a:r>
              <a:rPr lang="en-US" sz="2000" dirty="0">
                <a:solidFill>
                  <a:srgbClr val="000000"/>
                </a:solidFill>
                <a:latin typeface="Times New Roman"/>
                <a:ea typeface="Arial"/>
                <a:cs typeface="Times New Roman"/>
                <a:sym typeface="Times New Roman"/>
              </a:rPr>
              <a:t>In simplex method, what is the criterion to decide whether the optimality is reached?</a:t>
            </a:r>
            <a:endParaRPr lang="en-US" sz="2000" dirty="0">
              <a:latin typeface="Times New Roman"/>
              <a:ea typeface="Arial"/>
              <a:cs typeface="Times New Roman"/>
            </a:endParaRPr>
          </a:p>
          <a:p>
            <a:pPr eaLnBrk="1" fontAlgn="auto" hangingPunct="1">
              <a:lnSpc>
                <a:spcPct val="200000"/>
              </a:lnSpc>
              <a:spcBef>
                <a:spcPts val="0"/>
              </a:spcBef>
              <a:spcAft>
                <a:spcPts val="0"/>
              </a:spcAft>
              <a:buSzPts val="2000"/>
              <a:defRPr/>
            </a:pPr>
            <a:endParaRPr lang="en-IN" sz="2000" dirty="0">
              <a:solidFill>
                <a:srgbClr val="000000"/>
              </a:solidFill>
              <a:latin typeface="Arial"/>
              <a:ea typeface="Arial"/>
              <a:cs typeface="Arial"/>
            </a:endParaRPr>
          </a:p>
          <a:p>
            <a:pPr eaLnBrk="1" fontAlgn="auto" hangingPunct="1">
              <a:lnSpc>
                <a:spcPct val="200000"/>
              </a:lnSpc>
              <a:spcBef>
                <a:spcPts val="0"/>
              </a:spcBef>
              <a:spcAft>
                <a:spcPts val="0"/>
              </a:spcAft>
              <a:buSzPts val="2000"/>
              <a:defRPr/>
            </a:pPr>
            <a:endParaRPr lang="en-US" dirty="0">
              <a:latin typeface="+mn-lt"/>
            </a:endParaRPr>
          </a:p>
        </p:txBody>
      </p:sp>
      <p:pic>
        <p:nvPicPr>
          <p:cNvPr id="82948" name="Google Shape;312;p44" descr="KL Deemed to be University Logo">
            <a:extLst>
              <a:ext uri="{FF2B5EF4-FFF2-40B4-BE49-F238E27FC236}">
                <a16:creationId xmlns:a16="http://schemas.microsoft.com/office/drawing/2014/main" id="{6D397CB8-4ADD-2AA3-4E30-A74A086B3D2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Google Shape;313;p44">
            <a:extLst>
              <a:ext uri="{FF2B5EF4-FFF2-40B4-BE49-F238E27FC236}">
                <a16:creationId xmlns:a16="http://schemas.microsoft.com/office/drawing/2014/main" id="{AE92D7DE-462F-90F3-A70A-248D1A1D3CC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Slide Number Placeholder 3">
            <a:extLst>
              <a:ext uri="{FF2B5EF4-FFF2-40B4-BE49-F238E27FC236}">
                <a16:creationId xmlns:a16="http://schemas.microsoft.com/office/drawing/2014/main" id="{1E0678C0-BB64-AAF1-BE46-AE455B1BC08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3696FC3C-D815-4906-9794-941AB5397AE5}" type="slidenum">
              <a:rPr lang="en-IN" altLang="en-US" sz="2200" smtClean="0">
                <a:solidFill>
                  <a:schemeClr val="accent1"/>
                </a:solidFill>
              </a:rPr>
              <a:pPr>
                <a:lnSpc>
                  <a:spcPct val="100000"/>
                </a:lnSpc>
                <a:spcBef>
                  <a:spcPct val="0"/>
                </a:spcBef>
                <a:buClrTx/>
                <a:buSzTx/>
                <a:buFontTx/>
                <a:buNone/>
              </a:pPr>
              <a:t>35</a:t>
            </a:fld>
            <a:endParaRPr lang="en-IN" altLang="en-US" sz="220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Google Shape;310;p44">
            <a:extLst>
              <a:ext uri="{FF2B5EF4-FFF2-40B4-BE49-F238E27FC236}">
                <a16:creationId xmlns:a16="http://schemas.microsoft.com/office/drawing/2014/main" id="{BEBDAE2C-1AF2-4EAD-119E-E2B1FC9758D9}"/>
              </a:ext>
            </a:extLst>
          </p:cNvPr>
          <p:cNvSpPr/>
          <p:nvPr/>
        </p:nvSpPr>
        <p:spPr>
          <a:xfrm>
            <a:off x="3390900" y="95250"/>
            <a:ext cx="5410200" cy="411163"/>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lIns="90000" tIns="45000" rIns="90000" bIns="45000" anchor="ctr"/>
          <a:lstStyle/>
          <a:p>
            <a:pPr algn="ctr" eaLnBrk="1" fontAlgn="auto" hangingPunct="1">
              <a:spcBef>
                <a:spcPts val="0"/>
              </a:spcBef>
              <a:spcAft>
                <a:spcPts val="0"/>
              </a:spcAft>
              <a:defRPr/>
            </a:pPr>
            <a:r>
              <a:rPr lang="en-US" sz="2400">
                <a:solidFill>
                  <a:srgbClr val="FFFFFF"/>
                </a:solidFill>
                <a:latin typeface="Calibri"/>
                <a:ea typeface="Calibri"/>
                <a:cs typeface="Calibri"/>
                <a:sym typeface="Calibri"/>
              </a:rPr>
              <a:t>TERMINAL QUESTIONS</a:t>
            </a:r>
            <a:endParaRPr sz="2400">
              <a:latin typeface="Arial"/>
              <a:ea typeface="Arial"/>
              <a:cs typeface="Arial"/>
              <a:sym typeface="Arial"/>
            </a:endParaRPr>
          </a:p>
        </p:txBody>
      </p:sp>
      <p:sp>
        <p:nvSpPr>
          <p:cNvPr id="311" name="Google Shape;311;p44">
            <a:extLst>
              <a:ext uri="{FF2B5EF4-FFF2-40B4-BE49-F238E27FC236}">
                <a16:creationId xmlns:a16="http://schemas.microsoft.com/office/drawing/2014/main" id="{64CB81B5-6238-AF20-6DED-E93048FBBF95}"/>
              </a:ext>
            </a:extLst>
          </p:cNvPr>
          <p:cNvSpPr/>
          <p:nvPr/>
        </p:nvSpPr>
        <p:spPr>
          <a:xfrm>
            <a:off x="152400" y="750888"/>
            <a:ext cx="11722100" cy="4678362"/>
          </a:xfrm>
          <a:prstGeom prst="rect">
            <a:avLst/>
          </a:prstGeom>
          <a:noFill/>
          <a:ln>
            <a:noFill/>
          </a:ln>
        </p:spPr>
        <p:txBody>
          <a:bodyPr spcFirstLastPara="1" lIns="90000" tIns="45000" rIns="90000" bIns="45000"/>
          <a:lstStyle/>
          <a:p>
            <a:pPr lvl="1" eaLnBrk="1" fontAlgn="auto" hangingPunct="1">
              <a:lnSpc>
                <a:spcPct val="200000"/>
              </a:lnSpc>
              <a:spcBef>
                <a:spcPts val="0"/>
              </a:spcBef>
              <a:spcAft>
                <a:spcPts val="0"/>
              </a:spcAft>
              <a:buClr>
                <a:srgbClr val="000000"/>
              </a:buClr>
              <a:buSzPts val="2000"/>
              <a:defRPr/>
            </a:pPr>
            <a:endParaRPr lang="en-US" sz="2000" dirty="0">
              <a:solidFill>
                <a:srgbClr val="000000"/>
              </a:solidFill>
              <a:latin typeface="Times New Roman"/>
              <a:cs typeface="Times New Roman"/>
            </a:endParaRPr>
          </a:p>
          <a:p>
            <a:pPr marL="635" eaLnBrk="1" fontAlgn="auto" hangingPunct="1">
              <a:lnSpc>
                <a:spcPct val="150000"/>
              </a:lnSpc>
              <a:spcBef>
                <a:spcPts val="0"/>
              </a:spcBef>
              <a:spcAft>
                <a:spcPts val="0"/>
              </a:spcAft>
              <a:defRPr/>
            </a:pPr>
            <a:r>
              <a:rPr lang="en-US" sz="2000">
                <a:solidFill>
                  <a:srgbClr val="000000"/>
                </a:solidFill>
                <a:latin typeface="Times New Roman"/>
                <a:cs typeface="Times New Roman"/>
              </a:rPr>
              <a:t>5) Solve the following problem using Simplex method:</a:t>
            </a:r>
            <a:endParaRPr lang="en-US">
              <a:latin typeface="+mn-lt"/>
            </a:endParaRPr>
          </a:p>
          <a:p>
            <a:pPr marL="635" eaLnBrk="1" fontAlgn="auto" hangingPunct="1">
              <a:lnSpc>
                <a:spcPct val="150000"/>
              </a:lnSpc>
              <a:spcBef>
                <a:spcPts val="0"/>
              </a:spcBef>
              <a:spcAft>
                <a:spcPts val="0"/>
              </a:spcAft>
              <a:defRPr/>
            </a:pPr>
            <a:endParaRPr lang="en-US" sz="2000" dirty="0">
              <a:solidFill>
                <a:srgbClr val="000000"/>
              </a:solidFill>
              <a:latin typeface="Times New Roman"/>
              <a:ea typeface="Arial"/>
              <a:cs typeface="Times New Roman"/>
              <a:sym typeface="Times New Roman"/>
            </a:endParaRPr>
          </a:p>
          <a:p>
            <a:pPr marL="635" eaLnBrk="1" fontAlgn="auto" hangingPunct="1">
              <a:lnSpc>
                <a:spcPct val="150000"/>
              </a:lnSpc>
              <a:spcBef>
                <a:spcPts val="0"/>
              </a:spcBef>
              <a:spcAft>
                <a:spcPts val="0"/>
              </a:spcAft>
              <a:buSzPts val="2000"/>
              <a:defRPr/>
            </a:pPr>
            <a:endParaRPr lang="en-US" sz="2000" dirty="0">
              <a:solidFill>
                <a:srgbClr val="000000"/>
              </a:solidFill>
              <a:latin typeface="Times New Roman"/>
              <a:ea typeface="Arial"/>
              <a:cs typeface="Times New Roman"/>
              <a:sym typeface="Times New Roman"/>
            </a:endParaRPr>
          </a:p>
          <a:p>
            <a:pPr marL="635" eaLnBrk="1" fontAlgn="auto" hangingPunct="1">
              <a:lnSpc>
                <a:spcPct val="150000"/>
              </a:lnSpc>
              <a:spcBef>
                <a:spcPts val="0"/>
              </a:spcBef>
              <a:spcAft>
                <a:spcPts val="0"/>
              </a:spcAft>
              <a:buSzPts val="2000"/>
              <a:defRPr/>
            </a:pPr>
            <a:endParaRPr lang="en-US" sz="2000" dirty="0">
              <a:solidFill>
                <a:srgbClr val="000000"/>
              </a:solidFill>
              <a:latin typeface="Times New Roman"/>
              <a:ea typeface="Arial"/>
              <a:cs typeface="Times New Roman"/>
              <a:sym typeface="Times New Roman"/>
            </a:endParaRPr>
          </a:p>
          <a:p>
            <a:pPr marL="635" eaLnBrk="1" fontAlgn="auto" hangingPunct="1">
              <a:lnSpc>
                <a:spcPct val="150000"/>
              </a:lnSpc>
              <a:spcBef>
                <a:spcPts val="0"/>
              </a:spcBef>
              <a:spcAft>
                <a:spcPts val="0"/>
              </a:spcAft>
              <a:buSzPts val="2000"/>
              <a:defRPr/>
            </a:pPr>
            <a:r>
              <a:rPr lang="en-US" sz="2000" dirty="0">
                <a:solidFill>
                  <a:srgbClr val="000000"/>
                </a:solidFill>
                <a:latin typeface="Times New Roman"/>
                <a:ea typeface="Arial"/>
                <a:cs typeface="Times New Roman"/>
                <a:sym typeface="Times New Roman"/>
              </a:rPr>
              <a:t>6) </a:t>
            </a:r>
            <a:r>
              <a:rPr lang="en-US" sz="2000" dirty="0">
                <a:solidFill>
                  <a:srgbClr val="000000"/>
                </a:solidFill>
                <a:latin typeface="Times New Roman"/>
                <a:cs typeface="Times New Roman"/>
                <a:sym typeface="Times New Roman"/>
              </a:rPr>
              <a:t>A farmer has 100 acres of land on which she plans to grow wheat and corn. Each acre of wheat requires 4 hours of labor and $20 of capital, and each acre of corn requires 16 hours of labor and $40 of capital. The farmer has at most 800 hours of labor and $2400 of capital available. If the profit from an acre of wheat is $80 and from an acre of corn is $100, how many acres of each crop should she plant to maximize her profit? Determine using </a:t>
            </a:r>
            <a:r>
              <a:rPr lang="en-US" sz="2000">
                <a:solidFill>
                  <a:srgbClr val="000000"/>
                </a:solidFill>
                <a:latin typeface="Times New Roman"/>
                <a:cs typeface="Times New Roman"/>
                <a:sym typeface="Times New Roman"/>
              </a:rPr>
              <a:t>the Simplex method.</a:t>
            </a:r>
            <a:endParaRPr lang="en-US" sz="2000" dirty="0">
              <a:solidFill>
                <a:srgbClr val="000000"/>
              </a:solidFill>
              <a:latin typeface="Times New Roman"/>
              <a:cs typeface="Times New Roman"/>
            </a:endParaRPr>
          </a:p>
          <a:p>
            <a:pPr eaLnBrk="1" fontAlgn="auto" hangingPunct="1">
              <a:lnSpc>
                <a:spcPct val="200000"/>
              </a:lnSpc>
              <a:spcBef>
                <a:spcPts val="0"/>
              </a:spcBef>
              <a:spcAft>
                <a:spcPts val="0"/>
              </a:spcAft>
              <a:buClr>
                <a:srgbClr val="000000"/>
              </a:buClr>
              <a:buSzPts val="2000"/>
              <a:defRPr/>
            </a:pPr>
            <a:endParaRPr lang="en-IN" sz="2000" dirty="0">
              <a:solidFill>
                <a:srgbClr val="000000"/>
              </a:solidFill>
              <a:latin typeface="Arial"/>
              <a:ea typeface="Arial"/>
              <a:cs typeface="Arial"/>
            </a:endParaRPr>
          </a:p>
          <a:p>
            <a:pPr eaLnBrk="1" fontAlgn="auto" hangingPunct="1">
              <a:lnSpc>
                <a:spcPct val="200000"/>
              </a:lnSpc>
              <a:spcBef>
                <a:spcPts val="0"/>
              </a:spcBef>
              <a:spcAft>
                <a:spcPts val="0"/>
              </a:spcAft>
              <a:buSzPts val="2000"/>
              <a:defRPr/>
            </a:pPr>
            <a:endParaRPr lang="en-IN" sz="2000" dirty="0">
              <a:solidFill>
                <a:srgbClr val="000000"/>
              </a:solidFill>
              <a:latin typeface="Arial"/>
              <a:ea typeface="Arial"/>
              <a:cs typeface="Arial"/>
            </a:endParaRPr>
          </a:p>
        </p:txBody>
      </p:sp>
      <p:pic>
        <p:nvPicPr>
          <p:cNvPr id="84996" name="Google Shape;312;p44" descr="KL Deemed to be University Logo">
            <a:extLst>
              <a:ext uri="{FF2B5EF4-FFF2-40B4-BE49-F238E27FC236}">
                <a16:creationId xmlns:a16="http://schemas.microsoft.com/office/drawing/2014/main" id="{C832156D-B39F-4986-754D-E87DB579024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Google Shape;313;p44">
            <a:extLst>
              <a:ext uri="{FF2B5EF4-FFF2-40B4-BE49-F238E27FC236}">
                <a16:creationId xmlns:a16="http://schemas.microsoft.com/office/drawing/2014/main" id="{7B37AA0F-28E0-3482-00C7-F558AC737346}"/>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8" name="Slide Number Placeholder 3">
            <a:extLst>
              <a:ext uri="{FF2B5EF4-FFF2-40B4-BE49-F238E27FC236}">
                <a16:creationId xmlns:a16="http://schemas.microsoft.com/office/drawing/2014/main" id="{6B67111C-E9A4-472F-7FEB-B4892F48EC0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044F4BF2-6AE2-4280-B5F7-C27FA4EDD9DB}" type="slidenum">
              <a:rPr lang="en-IN" altLang="en-US" sz="2200" smtClean="0">
                <a:solidFill>
                  <a:schemeClr val="accent1"/>
                </a:solidFill>
              </a:rPr>
              <a:pPr>
                <a:lnSpc>
                  <a:spcPct val="100000"/>
                </a:lnSpc>
                <a:spcBef>
                  <a:spcPct val="0"/>
                </a:spcBef>
                <a:buClrTx/>
                <a:buSzTx/>
                <a:buFontTx/>
                <a:buNone/>
              </a:pPr>
              <a:t>36</a:t>
            </a:fld>
            <a:endParaRPr lang="en-IN" altLang="en-US" sz="2200">
              <a:solidFill>
                <a:schemeClr val="accent1"/>
              </a:solidFill>
            </a:endParaRPr>
          </a:p>
        </p:txBody>
      </p:sp>
      <p:pic>
        <p:nvPicPr>
          <p:cNvPr id="84999" name="Picture 4">
            <a:extLst>
              <a:ext uri="{FF2B5EF4-FFF2-40B4-BE49-F238E27FC236}">
                <a16:creationId xmlns:a16="http://schemas.microsoft.com/office/drawing/2014/main" id="{80B267F2-19AC-DC1A-EDA9-8CE7E2EBC1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9438" y="1195388"/>
            <a:ext cx="446405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Google Shape;318;p45">
            <a:extLst>
              <a:ext uri="{FF2B5EF4-FFF2-40B4-BE49-F238E27FC236}">
                <a16:creationId xmlns:a16="http://schemas.microsoft.com/office/drawing/2014/main" id="{AE3F8C60-8770-5D0B-A5F0-E9122E8DD49A}"/>
              </a:ext>
            </a:extLst>
          </p:cNvPr>
          <p:cNvSpPr/>
          <p:nvPr/>
        </p:nvSpPr>
        <p:spPr>
          <a:xfrm>
            <a:off x="2162175" y="93663"/>
            <a:ext cx="7104063" cy="41275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lIns="90000" tIns="45000" rIns="90000" bIns="45000" anchor="ctr"/>
          <a:lstStyle/>
          <a:p>
            <a:pPr algn="ctr" eaLnBrk="1" fontAlgn="auto" hangingPunct="1">
              <a:spcBef>
                <a:spcPts val="0"/>
              </a:spcBef>
              <a:spcAft>
                <a:spcPts val="0"/>
              </a:spcAft>
              <a:defRPr/>
            </a:pPr>
            <a:r>
              <a:rPr lang="en-US" sz="2400">
                <a:solidFill>
                  <a:srgbClr val="FFFFFF"/>
                </a:solidFill>
                <a:latin typeface="Calibri"/>
                <a:ea typeface="Calibri"/>
                <a:cs typeface="Calibri"/>
                <a:sym typeface="Calibri"/>
              </a:rPr>
              <a:t>REFERENCES FOR FURTHER LEARNING OF THE SESSION</a:t>
            </a:r>
            <a:endParaRPr sz="2400">
              <a:latin typeface="Arial"/>
              <a:ea typeface="Arial"/>
              <a:cs typeface="Arial"/>
              <a:sym typeface="Arial"/>
            </a:endParaRPr>
          </a:p>
        </p:txBody>
      </p:sp>
      <p:sp>
        <p:nvSpPr>
          <p:cNvPr id="319" name="Google Shape;319;p45">
            <a:extLst>
              <a:ext uri="{FF2B5EF4-FFF2-40B4-BE49-F238E27FC236}">
                <a16:creationId xmlns:a16="http://schemas.microsoft.com/office/drawing/2014/main" id="{BF14FBCC-720C-7D65-2D3B-D207C081948C}"/>
              </a:ext>
            </a:extLst>
          </p:cNvPr>
          <p:cNvSpPr/>
          <p:nvPr/>
        </p:nvSpPr>
        <p:spPr>
          <a:xfrm>
            <a:off x="900113" y="1166813"/>
            <a:ext cx="10383837" cy="4586287"/>
          </a:xfrm>
          <a:prstGeom prst="rect">
            <a:avLst/>
          </a:prstGeom>
          <a:noFill/>
          <a:ln>
            <a:noFill/>
          </a:ln>
        </p:spPr>
        <p:txBody>
          <a:bodyPr spcFirstLastPara="1" lIns="90000" tIns="45000" rIns="90000" bIns="45000"/>
          <a:lstStyle/>
          <a:p>
            <a:pPr eaLnBrk="1" fontAlgn="auto" hangingPunct="1">
              <a:lnSpc>
                <a:spcPct val="150000"/>
              </a:lnSpc>
              <a:spcBef>
                <a:spcPts val="0"/>
              </a:spcBef>
              <a:spcAft>
                <a:spcPts val="0"/>
              </a:spcAft>
              <a:defRPr/>
            </a:pPr>
            <a:r>
              <a:rPr lang="en-US" b="1" dirty="0">
                <a:solidFill>
                  <a:srgbClr val="000000"/>
                </a:solidFill>
                <a:latin typeface="Calibri"/>
                <a:ea typeface="Calibri"/>
                <a:cs typeface="Calibri"/>
                <a:sym typeface="Calibri"/>
              </a:rPr>
              <a:t>Tutorials on Simplex method:</a:t>
            </a:r>
            <a:endParaRPr lang="en-US" dirty="0">
              <a:latin typeface="Arial"/>
              <a:ea typeface="Arial"/>
              <a:cs typeface="Arial"/>
              <a:sym typeface="Arial"/>
            </a:endParaRPr>
          </a:p>
          <a:p>
            <a:pPr marL="342900" indent="-342900" eaLnBrk="1" hangingPunct="1">
              <a:spcBef>
                <a:spcPts val="0"/>
              </a:spcBef>
              <a:spcAft>
                <a:spcPts val="0"/>
              </a:spcAft>
              <a:buFontTx/>
              <a:buAutoNum type="arabicPeriod"/>
              <a:defRPr/>
            </a:pPr>
            <a:endParaRPr lang="en-US" dirty="0">
              <a:latin typeface="Gill Sans MT"/>
              <a:ea typeface="+mn-lt"/>
              <a:cs typeface="Calibri"/>
            </a:endParaRPr>
          </a:p>
          <a:p>
            <a:pPr marL="342900" indent="-342900" eaLnBrk="1" fontAlgn="auto" hangingPunct="1">
              <a:spcBef>
                <a:spcPts val="0"/>
              </a:spcBef>
              <a:spcAft>
                <a:spcPts val="0"/>
              </a:spcAft>
              <a:buFontTx/>
              <a:buAutoNum type="arabicPeriod"/>
              <a:defRPr/>
            </a:pPr>
            <a:r>
              <a:rPr lang="en-US" dirty="0">
                <a:latin typeface="+mn-lt"/>
                <a:ea typeface="+mn-lt"/>
                <a:cs typeface="+mn-lt"/>
                <a:hlinkClick r:id="rId3"/>
              </a:rPr>
              <a:t>https://math.libretexts.org/Bookshelves/Applied_Mathematics/Applied_Finite_Mathematics_(Sekhon_and_Bloom)/04%3A_Linear_Programming_The_Simplex_Method/4.02%3A_Maximization_By_The_Simplex_Method</a:t>
            </a:r>
            <a:endParaRPr lang="en-US" u="sng">
              <a:latin typeface="+mn-lt"/>
              <a:ea typeface="+mn-lt"/>
              <a:cs typeface="+mn-lt"/>
            </a:endParaRPr>
          </a:p>
          <a:p>
            <a:pPr marL="342900" indent="-342900" eaLnBrk="1" fontAlgn="auto" hangingPunct="1">
              <a:spcBef>
                <a:spcPts val="0"/>
              </a:spcBef>
              <a:spcAft>
                <a:spcPts val="0"/>
              </a:spcAft>
              <a:buFontTx/>
              <a:buAutoNum type="arabicPeriod"/>
              <a:defRPr/>
            </a:pPr>
            <a:r>
              <a:rPr lang="en-US" dirty="0">
                <a:latin typeface="+mn-lt"/>
                <a:ea typeface="+mn-lt"/>
                <a:cs typeface="+mn-lt"/>
                <a:hlinkClick r:id="rId4"/>
              </a:rPr>
              <a:t>http://recursos.pearson.es/castroman/tutor_chaps/ct03.pdf</a:t>
            </a:r>
            <a:endParaRPr lang="en-US" dirty="0">
              <a:latin typeface="+mn-lt"/>
              <a:ea typeface="+mn-lt"/>
              <a:cs typeface="+mn-lt"/>
            </a:endParaRPr>
          </a:p>
          <a:p>
            <a:pPr marL="342900" indent="-342900" eaLnBrk="1" fontAlgn="auto" hangingPunct="1">
              <a:spcBef>
                <a:spcPts val="0"/>
              </a:spcBef>
              <a:spcAft>
                <a:spcPts val="0"/>
              </a:spcAft>
              <a:buFontTx/>
              <a:buAutoNum type="arabicPeriod"/>
              <a:defRPr/>
            </a:pPr>
            <a:r>
              <a:rPr lang="en-US" dirty="0">
                <a:solidFill>
                  <a:srgbClr val="000000"/>
                </a:solidFill>
                <a:latin typeface="Arial"/>
                <a:ea typeface="Calibri"/>
                <a:cs typeface="Arial"/>
                <a:hlinkClick r:id="rId5"/>
              </a:rPr>
              <a:t>https://www.imse.iastate.edu/files/2015/08/Explanation-of-Simplex-Method.docx</a:t>
            </a:r>
            <a:endParaRPr lang="en-US" dirty="0">
              <a:solidFill>
                <a:srgbClr val="000000"/>
              </a:solidFill>
              <a:latin typeface="Gill Sans MT"/>
              <a:ea typeface="Calibri"/>
              <a:cs typeface="Calibri"/>
            </a:endParaRPr>
          </a:p>
          <a:p>
            <a:pPr eaLnBrk="1" fontAlgn="auto" hangingPunct="1">
              <a:spcBef>
                <a:spcPts val="0"/>
              </a:spcBef>
              <a:spcAft>
                <a:spcPts val="0"/>
              </a:spcAft>
              <a:defRPr/>
            </a:pPr>
            <a:endParaRPr lang="en-US" dirty="0">
              <a:solidFill>
                <a:srgbClr val="000000"/>
              </a:solidFill>
              <a:latin typeface="Gill Sans MT"/>
              <a:ea typeface="Calibri"/>
              <a:cs typeface="Calibri"/>
            </a:endParaRPr>
          </a:p>
          <a:p>
            <a:pPr eaLnBrk="1" fontAlgn="auto" hangingPunct="1">
              <a:lnSpc>
                <a:spcPct val="150000"/>
              </a:lnSpc>
              <a:spcBef>
                <a:spcPts val="0"/>
              </a:spcBef>
              <a:spcAft>
                <a:spcPts val="0"/>
              </a:spcAft>
              <a:buClr>
                <a:srgbClr val="000000"/>
              </a:buClr>
              <a:buSzPts val="1800"/>
              <a:defRPr/>
            </a:pPr>
            <a:endParaRPr lang="en-US" dirty="0">
              <a:solidFill>
                <a:srgbClr val="000000"/>
              </a:solidFill>
              <a:latin typeface="Calibri"/>
              <a:ea typeface="Calibri"/>
              <a:cs typeface="Calibri"/>
              <a:sym typeface="Calibri"/>
            </a:endParaRPr>
          </a:p>
          <a:p>
            <a:pPr eaLnBrk="1" fontAlgn="auto" hangingPunct="1">
              <a:lnSpc>
                <a:spcPct val="150000"/>
              </a:lnSpc>
              <a:spcBef>
                <a:spcPts val="0"/>
              </a:spcBef>
              <a:spcAft>
                <a:spcPts val="0"/>
              </a:spcAft>
              <a:defRPr/>
            </a:pPr>
            <a:r>
              <a:rPr lang="en-US" b="1" dirty="0">
                <a:solidFill>
                  <a:srgbClr val="000000"/>
                </a:solidFill>
                <a:latin typeface="Calibri"/>
                <a:ea typeface="Calibri"/>
                <a:cs typeface="Calibri"/>
                <a:sym typeface="Calibri"/>
              </a:rPr>
              <a:t>Web links to videos:</a:t>
            </a:r>
            <a:endParaRPr lang="en-US" dirty="0">
              <a:latin typeface="+mn-lt"/>
            </a:endParaRPr>
          </a:p>
          <a:p>
            <a:pPr marL="342900" indent="-342900" eaLnBrk="1" fontAlgn="auto" hangingPunct="1">
              <a:lnSpc>
                <a:spcPct val="150000"/>
              </a:lnSpc>
              <a:spcBef>
                <a:spcPts val="0"/>
              </a:spcBef>
              <a:spcAft>
                <a:spcPts val="0"/>
              </a:spcAft>
              <a:buFont typeface="Arial"/>
              <a:buChar char="•"/>
              <a:defRPr/>
            </a:pPr>
            <a:r>
              <a:rPr lang="en-US" dirty="0">
                <a:latin typeface="+mn-lt"/>
              </a:rPr>
              <a:t>NPTEL online course, "</a:t>
            </a:r>
            <a:r>
              <a:rPr lang="en-US" b="1" dirty="0">
                <a:solidFill>
                  <a:srgbClr val="0F0F0F"/>
                </a:solidFill>
                <a:latin typeface="+mn-lt"/>
              </a:rPr>
              <a:t>Linear Programming Solutions - Simplex Algorithm</a:t>
            </a:r>
            <a:r>
              <a:rPr lang="en-US" dirty="0">
                <a:latin typeface="+mn-lt"/>
              </a:rPr>
              <a:t>", Prof. G. Srinivasan, IIT </a:t>
            </a:r>
            <a:r>
              <a:rPr lang="en-US" dirty="0">
                <a:latin typeface="+mn-lt"/>
                <a:ea typeface="+mn-lt"/>
                <a:cs typeface="+mn-lt"/>
              </a:rPr>
              <a:t>Madras, </a:t>
            </a:r>
            <a:r>
              <a:rPr lang="en-US" dirty="0">
                <a:latin typeface="+mn-lt"/>
                <a:ea typeface="+mn-lt"/>
                <a:cs typeface="+mn-lt"/>
                <a:hlinkClick r:id="rId6"/>
              </a:rPr>
              <a:t>https://www.youtube.com/watch?v=qxls3cYg8to</a:t>
            </a:r>
            <a:endParaRPr lang="en-US">
              <a:latin typeface="+mn-lt"/>
            </a:endParaRPr>
          </a:p>
        </p:txBody>
      </p:sp>
      <p:pic>
        <p:nvPicPr>
          <p:cNvPr id="87044" name="Google Shape;320;p45" descr="KL Deemed to be University Logo">
            <a:extLst>
              <a:ext uri="{FF2B5EF4-FFF2-40B4-BE49-F238E27FC236}">
                <a16:creationId xmlns:a16="http://schemas.microsoft.com/office/drawing/2014/main" id="{0A5B707E-2C40-0550-95CC-1E8B016AD519}"/>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990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5" name="Google Shape;321;p45">
            <a:extLst>
              <a:ext uri="{FF2B5EF4-FFF2-40B4-BE49-F238E27FC236}">
                <a16:creationId xmlns:a16="http://schemas.microsoft.com/office/drawing/2014/main" id="{B1B7A7D8-2641-07E4-E88D-88BC59C0B561}"/>
              </a:ext>
            </a:extLst>
          </p:cNvPr>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l="11087" t="90948" r="8739" b="2225"/>
          <a:stretch>
            <a:fillRect/>
          </a:stretch>
        </p:blipFill>
        <p:spPr bwMode="auto">
          <a:xfrm>
            <a:off x="685800" y="6334125"/>
            <a:ext cx="10923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Slide Number Placeholder 3">
            <a:extLst>
              <a:ext uri="{FF2B5EF4-FFF2-40B4-BE49-F238E27FC236}">
                <a16:creationId xmlns:a16="http://schemas.microsoft.com/office/drawing/2014/main" id="{2C15721D-51A0-B242-5791-88999E84889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nSpc>
                <a:spcPct val="100000"/>
              </a:lnSpc>
              <a:spcBef>
                <a:spcPct val="0"/>
              </a:spcBef>
              <a:buClrTx/>
              <a:buSzTx/>
              <a:buFontTx/>
              <a:buNone/>
            </a:pPr>
            <a:fld id="{71B711F5-6CFE-4A63-8974-E3AF338A0367}" type="slidenum">
              <a:rPr lang="en-IN" altLang="en-US" sz="2200" smtClean="0">
                <a:solidFill>
                  <a:schemeClr val="accent1"/>
                </a:solidFill>
              </a:rPr>
              <a:pPr>
                <a:lnSpc>
                  <a:spcPct val="100000"/>
                </a:lnSpc>
                <a:spcBef>
                  <a:spcPct val="0"/>
                </a:spcBef>
                <a:buClrTx/>
                <a:buSzTx/>
                <a:buFontTx/>
                <a:buNone/>
              </a:pPr>
              <a:t>37</a:t>
            </a:fld>
            <a:endParaRPr lang="en-IN" altLang="en-US" sz="220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Effect transition="in" filter="fade">
                                      <p:cBhvr>
                                        <p:cTn id="7" dur="500"/>
                                        <p:tgtEl>
                                          <p:spTgt spid="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Template>
  <TotalTime>2093</TotalTime>
  <Words>3830</Words>
  <Application>Microsoft Office PowerPoint</Application>
  <PresentationFormat>Widescreen</PresentationFormat>
  <Paragraphs>1103</Paragraphs>
  <Slides>37</Slides>
  <Notes>36</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Dr.Samudra Vijaya K</dc:creator>
  <cp:lastModifiedBy>k drakshayani</cp:lastModifiedBy>
  <cp:revision>3300</cp:revision>
  <dcterms:created xsi:type="dcterms:W3CDTF">2023-05-06T06:20:36Z</dcterms:created>
  <dcterms:modified xsi:type="dcterms:W3CDTF">2025-08-04T08:30:01Z</dcterms:modified>
</cp:coreProperties>
</file>