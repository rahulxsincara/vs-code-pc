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handoutMasterIdLst>
    <p:handoutMasterId r:id="rId35"/>
  </p:handoutMasterIdLst>
  <p:sldIdLst>
    <p:sldId id="256" r:id="rId2"/>
    <p:sldId id="257" r:id="rId3"/>
    <p:sldId id="261" r:id="rId4"/>
    <p:sldId id="274" r:id="rId5"/>
    <p:sldId id="275" r:id="rId6"/>
    <p:sldId id="258" r:id="rId7"/>
    <p:sldId id="267" r:id="rId8"/>
    <p:sldId id="259" r:id="rId9"/>
    <p:sldId id="265" r:id="rId10"/>
    <p:sldId id="272" r:id="rId11"/>
    <p:sldId id="271" r:id="rId12"/>
    <p:sldId id="273"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B194A6-8B5F-851B-09DB-DC50F8D2E293}" v="4" dt="2025-08-06T11:43:59.1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Murali Krishna" userId="S::pmuralikrishna@kluniversity.in::b4e88df8-02e8-4a4f-88f6-55bdf17a0457" providerId="AD" clId="Web-{E7B194A6-8B5F-851B-09DB-DC50F8D2E293}"/>
    <pc:docChg chg="modSld">
      <pc:chgData name="P Murali Krishna" userId="S::pmuralikrishna@kluniversity.in::b4e88df8-02e8-4a4f-88f6-55bdf17a0457" providerId="AD" clId="Web-{E7B194A6-8B5F-851B-09DB-DC50F8D2E293}" dt="2025-08-06T11:43:57.397" v="2" actId="20577"/>
      <pc:docMkLst>
        <pc:docMk/>
      </pc:docMkLst>
      <pc:sldChg chg="modSp">
        <pc:chgData name="P Murali Krishna" userId="S::pmuralikrishna@kluniversity.in::b4e88df8-02e8-4a4f-88f6-55bdf17a0457" providerId="AD" clId="Web-{E7B194A6-8B5F-851B-09DB-DC50F8D2E293}" dt="2025-08-06T11:43:57.397" v="2" actId="20577"/>
        <pc:sldMkLst>
          <pc:docMk/>
          <pc:sldMk cId="0" sldId="275"/>
        </pc:sldMkLst>
        <pc:spChg chg="mod">
          <ac:chgData name="P Murali Krishna" userId="S::pmuralikrishna@kluniversity.in::b4e88df8-02e8-4a4f-88f6-55bdf17a0457" providerId="AD" clId="Web-{E7B194A6-8B5F-851B-09DB-DC50F8D2E293}" dt="2025-08-06T11:43:57.397" v="2" actId="20577"/>
          <ac:spMkLst>
            <pc:docMk/>
            <pc:sldMk cId="0" sldId="275"/>
            <ac:spMk id="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06-08-2025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06-08-2025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1579" y="13898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304610" y="3721858"/>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528710" y="1248572"/>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520398" y="1315074"/>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537024" y="1290135"/>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9B8D-BF65-4ADD-F76F-77EA72FFCB8F}"/>
              </a:ext>
            </a:extLst>
          </p:cNvPr>
          <p:cNvSpPr>
            <a:spLocks noGrp="1"/>
          </p:cNvSpPr>
          <p:nvPr>
            <p:ph type="ctrTitle"/>
          </p:nvPr>
        </p:nvSpPr>
        <p:spPr>
          <a:xfrm>
            <a:off x="556591" y="1630017"/>
            <a:ext cx="11078817" cy="1798983"/>
          </a:xfrm>
        </p:spPr>
        <p:txBody>
          <a:bodyPr>
            <a:normAutofit/>
          </a:bodyPr>
          <a:lstStyle/>
          <a:p>
            <a:pPr algn="ctr"/>
            <a:r>
              <a:rPr lang="en-US" sz="4000" dirty="0">
                <a:effectLst/>
                <a:latin typeface="Times New Roman" panose="02020603050405020304" pitchFamily="18" charset="0"/>
                <a:ea typeface="Times New Roman" panose="02020603050405020304" pitchFamily="18" charset="0"/>
              </a:rPr>
              <a:t>MATHEMATICAL OPTIMIZATION</a:t>
            </a:r>
            <a:br>
              <a:rPr lang="en-US" sz="4000" dirty="0">
                <a:effectLst/>
                <a:latin typeface="Times New Roman" panose="02020603050405020304" pitchFamily="18" charset="0"/>
                <a:ea typeface="Times New Roman" panose="02020603050405020304" pitchFamily="18" charset="0"/>
              </a:rPr>
            </a:br>
            <a:br>
              <a:rPr lang="en-US" sz="4000" dirty="0">
                <a:effectLst/>
                <a:latin typeface="Times New Roman" panose="02020603050405020304" pitchFamily="18" charset="0"/>
                <a:ea typeface="Times New Roman" panose="02020603050405020304" pitchFamily="18" charset="0"/>
              </a:rPr>
            </a:br>
            <a:endParaRPr lang="en-IN" sz="1300" dirty="0"/>
          </a:p>
        </p:txBody>
      </p:sp>
      <p:sp>
        <p:nvSpPr>
          <p:cNvPr id="3" name="Rectangle 2"/>
          <p:cNvSpPr/>
          <p:nvPr/>
        </p:nvSpPr>
        <p:spPr>
          <a:xfrm>
            <a:off x="3208179" y="4345346"/>
            <a:ext cx="6963188" cy="769441"/>
          </a:xfrm>
          <a:prstGeom prst="rect">
            <a:avLst/>
          </a:prstGeom>
        </p:spPr>
        <p:txBody>
          <a:bodyPr wrap="none">
            <a:spAutoFit/>
          </a:bodyPr>
          <a:lstStyle/>
          <a:p>
            <a:pPr algn="ctr"/>
            <a:r>
              <a:rPr lang="en-US" sz="4400" b="1" dirty="0">
                <a:solidFill>
                  <a:srgbClr val="00B050"/>
                </a:solidFill>
                <a:latin typeface="Times New Roman" panose="02020603050405020304" pitchFamily="18" charset="0"/>
                <a:ea typeface="Times New Roman" panose="02020603050405020304" pitchFamily="18" charset="0"/>
              </a:rPr>
              <a:t>ASSIGNMENT PROBLEM</a:t>
            </a:r>
            <a:endParaRPr lang="en-US" sz="4400" b="1" dirty="0">
              <a:solidFill>
                <a:srgbClr val="00B050"/>
              </a:solidFill>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DC72BD-B354-4B6C-8F72-21FF1BAB5FCA}"/>
              </a:ext>
            </a:extLst>
          </p:cNvPr>
          <p:cNvSpPr>
            <a:spLocks noGrp="1"/>
          </p:cNvSpPr>
          <p:nvPr>
            <p:ph type="sldNum" sz="quarter" idx="12"/>
          </p:nvPr>
        </p:nvSpPr>
        <p:spPr/>
        <p:txBody>
          <a:bodyPr/>
          <a:lstStyle/>
          <a:p>
            <a:fld id="{CBABCCC1-BF11-4F37-963E-1BCD5B23FD72}" type="slidenum">
              <a:rPr lang="en-IN" smtClean="0"/>
              <a:pPr/>
              <a:t>2</a:t>
            </a:fld>
            <a:endParaRPr lang="en-IN"/>
          </a:p>
        </p:txBody>
      </p:sp>
      <p:sp>
        <p:nvSpPr>
          <p:cNvPr id="5" name="Title 4"/>
          <p:cNvSpPr>
            <a:spLocks noGrp="1"/>
          </p:cNvSpPr>
          <p:nvPr>
            <p:ph type="title"/>
          </p:nvPr>
        </p:nvSpPr>
        <p:spPr/>
        <p:txBody>
          <a:bodyPr/>
          <a:lstStyle/>
          <a:p>
            <a:r>
              <a:rPr lang="en-US" dirty="0"/>
              <a:t>What an Assignment problem is?</a:t>
            </a:r>
            <a:br>
              <a:rPr lang="en-US" dirty="0"/>
            </a:br>
            <a:endParaRPr lang="en-US" dirty="0"/>
          </a:p>
        </p:txBody>
      </p:sp>
      <p:sp>
        <p:nvSpPr>
          <p:cNvPr id="6" name="Content Placeholder 5"/>
          <p:cNvSpPr>
            <a:spLocks noGrp="1"/>
          </p:cNvSpPr>
          <p:nvPr>
            <p:ph idx="1"/>
          </p:nvPr>
        </p:nvSpPr>
        <p:spPr>
          <a:xfrm>
            <a:off x="1110343" y="1455576"/>
            <a:ext cx="10263673" cy="4637314"/>
          </a:xfrm>
        </p:spPr>
        <p:txBody>
          <a:bodyPr>
            <a:normAutofit fontScale="85000" lnSpcReduction="20000"/>
          </a:bodyPr>
          <a:lstStyle/>
          <a:p>
            <a:pPr algn="just"/>
            <a:r>
              <a:rPr lang="en-US" sz="3100" dirty="0">
                <a:latin typeface="Times New Roman" pitchFamily="18" charset="0"/>
                <a:cs typeface="Times New Roman" pitchFamily="18" charset="0"/>
              </a:rPr>
              <a:t>The assignment problem is a special type of transportation problem, where the objective is </a:t>
            </a:r>
            <a:r>
              <a:rPr lang="en-US" sz="3100" b="1" dirty="0">
                <a:latin typeface="Times New Roman" pitchFamily="18" charset="0"/>
                <a:cs typeface="Times New Roman" pitchFamily="18" charset="0"/>
              </a:rPr>
              <a:t>to minimize the cost </a:t>
            </a:r>
            <a:r>
              <a:rPr lang="en-US" sz="3100" dirty="0">
                <a:latin typeface="Times New Roman" pitchFamily="18" charset="0"/>
                <a:cs typeface="Times New Roman" pitchFamily="18" charset="0"/>
              </a:rPr>
              <a:t>or </a:t>
            </a:r>
            <a:r>
              <a:rPr lang="en-US" sz="3100" b="1" dirty="0">
                <a:latin typeface="Times New Roman" pitchFamily="18" charset="0"/>
                <a:cs typeface="Times New Roman" pitchFamily="18" charset="0"/>
              </a:rPr>
              <a:t>time of completing the number of jobs by a number of persons</a:t>
            </a:r>
            <a:r>
              <a:rPr lang="en-US" sz="3100" dirty="0">
                <a:latin typeface="Times New Roman" pitchFamily="18" charset="0"/>
                <a:cs typeface="Times New Roman" pitchFamily="18" charset="0"/>
              </a:rPr>
              <a:t>.  </a:t>
            </a:r>
          </a:p>
          <a:p>
            <a:pPr algn="just"/>
            <a:r>
              <a:rPr lang="en-US" sz="3100" dirty="0">
                <a:latin typeface="Times New Roman" pitchFamily="18" charset="0"/>
                <a:cs typeface="Times New Roman" pitchFamily="18" charset="0"/>
              </a:rPr>
              <a:t>When we want to solve a linear programming problem with special characteristic such as a Square Matrix (i.e. No. of destinations are same as no. of sources)</a:t>
            </a:r>
          </a:p>
          <a:p>
            <a:pPr algn="just"/>
            <a:r>
              <a:rPr lang="en-US" sz="3100" dirty="0">
                <a:latin typeface="Times New Roman" pitchFamily="18" charset="0"/>
                <a:cs typeface="Times New Roman" pitchFamily="18" charset="0"/>
              </a:rPr>
              <a:t>When each source (resource facility) can be associated with one and only one job/destination (One job to one machine) </a:t>
            </a:r>
          </a:p>
          <a:p>
            <a:pPr algn="just"/>
            <a:r>
              <a:rPr lang="en-US" sz="3100" dirty="0">
                <a:latin typeface="Times New Roman" pitchFamily="18" charset="0"/>
                <a:cs typeface="Times New Roman" pitchFamily="18" charset="0"/>
              </a:rPr>
              <a:t>Association is to be done in such a way to maximize or minimize the total effectiveness.</a:t>
            </a:r>
          </a:p>
          <a:p>
            <a:endParaRPr lang="en-US" dirty="0"/>
          </a:p>
          <a:p>
            <a:endParaRPr lang="en-US" dirty="0"/>
          </a:p>
        </p:txBody>
      </p:sp>
    </p:spTree>
    <p:extLst>
      <p:ext uri="{BB962C8B-B14F-4D97-AF65-F5344CB8AC3E}">
        <p14:creationId xmlns:p14="http://schemas.microsoft.com/office/powerpoint/2010/main" val="3585479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DC34-1A33-4E87-93AE-9897A1D18622}"/>
              </a:ext>
            </a:extLst>
          </p:cNvPr>
          <p:cNvSpPr>
            <a:spLocks noGrp="1"/>
          </p:cNvSpPr>
          <p:nvPr>
            <p:ph type="title"/>
          </p:nvPr>
        </p:nvSpPr>
        <p:spPr>
          <a:xfrm>
            <a:off x="1451579" y="804520"/>
            <a:ext cx="9603275" cy="587136"/>
          </a:xfrm>
        </p:spPr>
        <p:txBody>
          <a:bodyPr>
            <a:normAutofit fontScale="90000"/>
          </a:bodyPr>
          <a:lstStyle/>
          <a:p>
            <a:r>
              <a:rPr lang="en-US" sz="3100" b="1" dirty="0">
                <a:latin typeface="Times New Roman" pitchFamily="18" charset="0"/>
                <a:cs typeface="Times New Roman" pitchFamily="18" charset="0"/>
              </a:rPr>
              <a:t>Few examples of Assignment problem </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B6B695F1-0268-400A-87EF-8E9F41B69DAE}"/>
              </a:ext>
            </a:extLst>
          </p:cNvPr>
          <p:cNvSpPr>
            <a:spLocks noGrp="1"/>
          </p:cNvSpPr>
          <p:nvPr>
            <p:ph idx="1"/>
          </p:nvPr>
        </p:nvSpPr>
        <p:spPr>
          <a:xfrm>
            <a:off x="1451579" y="1810139"/>
            <a:ext cx="9603275" cy="3312368"/>
          </a:xfrm>
        </p:spPr>
        <p:txBody>
          <a:bodyPr>
            <a:normAutofit/>
          </a:bodyPr>
          <a:lstStyle/>
          <a:p>
            <a:pPr algn="just"/>
            <a:r>
              <a:rPr lang="en-US" sz="2600" dirty="0">
                <a:latin typeface="Times New Roman" pitchFamily="18" charset="0"/>
                <a:cs typeface="Times New Roman" pitchFamily="18" charset="0"/>
              </a:rPr>
              <a:t>Assigning sales man to sales territory </a:t>
            </a:r>
          </a:p>
          <a:p>
            <a:pPr algn="just"/>
            <a:r>
              <a:rPr lang="en-US" sz="2600" dirty="0">
                <a:latin typeface="Times New Roman" pitchFamily="18" charset="0"/>
                <a:cs typeface="Times New Roman" pitchFamily="18" charset="0"/>
              </a:rPr>
              <a:t>Vehicles and drivers to different routes </a:t>
            </a:r>
          </a:p>
          <a:p>
            <a:pPr algn="just"/>
            <a:r>
              <a:rPr lang="en-US" sz="2600" dirty="0">
                <a:latin typeface="Times New Roman" pitchFamily="18" charset="0"/>
                <a:cs typeface="Times New Roman" pitchFamily="18" charset="0"/>
              </a:rPr>
              <a:t>Product to factories</a:t>
            </a:r>
          </a:p>
          <a:p>
            <a:pPr algn="just"/>
            <a:r>
              <a:rPr lang="en-US" sz="2600" dirty="0">
                <a:latin typeface="Times New Roman" pitchFamily="18" charset="0"/>
                <a:cs typeface="Times New Roman" pitchFamily="18" charset="0"/>
              </a:rPr>
              <a:t>Jobs to a machines </a:t>
            </a:r>
          </a:p>
          <a:p>
            <a:pPr algn="just"/>
            <a:r>
              <a:rPr lang="en-US" sz="2600" dirty="0">
                <a:latin typeface="Times New Roman" pitchFamily="18" charset="0"/>
                <a:cs typeface="Times New Roman" pitchFamily="18" charset="0"/>
              </a:rPr>
              <a:t>Research problem to teams</a:t>
            </a:r>
          </a:p>
          <a:p>
            <a:pPr algn="just"/>
            <a:endParaRPr lang="en-US" sz="2800" b="1"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DDC72BD-B354-4B6C-8F72-21FF1BAB5FCA}"/>
              </a:ext>
            </a:extLst>
          </p:cNvPr>
          <p:cNvSpPr>
            <a:spLocks noGrp="1"/>
          </p:cNvSpPr>
          <p:nvPr>
            <p:ph type="sldNum" sz="quarter" idx="12"/>
          </p:nvPr>
        </p:nvSpPr>
        <p:spPr/>
        <p:txBody>
          <a:bodyPr/>
          <a:lstStyle/>
          <a:p>
            <a:fld id="{CBABCCC1-BF11-4F37-963E-1BCD5B23FD72}" type="slidenum">
              <a:rPr lang="en-IN" smtClean="0"/>
              <a:pPr/>
              <a:t>3</a:t>
            </a:fld>
            <a:endParaRPr lang="en-IN"/>
          </a:p>
        </p:txBody>
      </p:sp>
    </p:spTree>
    <p:extLst>
      <p:ext uri="{BB962C8B-B14F-4D97-AF65-F5344CB8AC3E}">
        <p14:creationId xmlns:p14="http://schemas.microsoft.com/office/powerpoint/2010/main" val="281590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latin typeface="Times New Roman" pitchFamily="18" charset="0"/>
                <a:cs typeface="Times New Roman" pitchFamily="18" charset="0"/>
              </a:rPr>
              <a:t>COST MATRIX (or) EFFECTIVE MATRIX</a:t>
            </a:r>
          </a:p>
        </p:txBody>
      </p:sp>
      <p:sp>
        <p:nvSpPr>
          <p:cNvPr id="3" name="Content Placeholder 2"/>
          <p:cNvSpPr>
            <a:spLocks noGrp="1"/>
          </p:cNvSpPr>
          <p:nvPr>
            <p:ph idx="1"/>
          </p:nvPr>
        </p:nvSpPr>
        <p:spPr>
          <a:xfrm>
            <a:off x="1460909" y="1997070"/>
            <a:ext cx="9987752" cy="1072701"/>
          </a:xfrm>
        </p:spPr>
        <p:txBody>
          <a:bodyPr>
            <a:normAutofit/>
          </a:bodyPr>
          <a:lstStyle/>
          <a:p>
            <a:pPr algn="just"/>
            <a:r>
              <a:rPr lang="en-US" sz="2600" dirty="0">
                <a:latin typeface="Times New Roman" pitchFamily="18" charset="0"/>
                <a:cs typeface="Times New Roman" pitchFamily="18" charset="0"/>
              </a:rPr>
              <a:t>The assignment problem can be stated in the form of m X n matrix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
        <p:nvSpPr>
          <p:cNvPr id="8089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0900" name="Rectangle 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80899"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884783" y="2649893"/>
            <a:ext cx="2482850" cy="569167"/>
          </a:xfrm>
          <a:prstGeom prst="rect">
            <a:avLst/>
          </a:prstGeom>
          <a:noFill/>
        </p:spPr>
      </p:pic>
      <p:sp>
        <p:nvSpPr>
          <p:cNvPr id="80901" name="Rectangle 5"/>
          <p:cNvSpPr>
            <a:spLocks noChangeArrowheads="1"/>
          </p:cNvSpPr>
          <p:nvPr/>
        </p:nvSpPr>
        <p:spPr bwMode="auto">
          <a:xfrm>
            <a:off x="0" y="67310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10" name="Rectangle 9"/>
          <p:cNvSpPr/>
          <p:nvPr/>
        </p:nvSpPr>
        <p:spPr>
          <a:xfrm>
            <a:off x="4428903" y="2665836"/>
            <a:ext cx="3092513" cy="492443"/>
          </a:xfrm>
          <a:prstGeom prst="rect">
            <a:avLst/>
          </a:prstGeom>
        </p:spPr>
        <p:txBody>
          <a:bodyPr wrap="none">
            <a:spAutoFit/>
          </a:bodyPr>
          <a:lstStyle/>
          <a:p>
            <a:r>
              <a:rPr lang="en-US" sz="2600" dirty="0">
                <a:latin typeface="Times New Roman" pitchFamily="18" charset="0"/>
                <a:cs typeface="Times New Roman" pitchFamily="18" charset="0"/>
              </a:rPr>
              <a:t>machine </a:t>
            </a:r>
            <a:r>
              <a:rPr lang="en-US" sz="2600" dirty="0" err="1">
                <a:latin typeface="Times New Roman" pitchFamily="18" charset="0"/>
                <a:cs typeface="Times New Roman" pitchFamily="18" charset="0"/>
              </a:rPr>
              <a:t>i</a:t>
            </a:r>
            <a:r>
              <a:rPr lang="en-US" sz="2600" dirty="0">
                <a:latin typeface="Times New Roman" pitchFamily="18" charset="0"/>
                <a:cs typeface="Times New Roman" pitchFamily="18" charset="0"/>
              </a:rPr>
              <a:t> to the job j.</a:t>
            </a:r>
          </a:p>
        </p:txBody>
      </p:sp>
      <p:sp>
        <p:nvSpPr>
          <p:cNvPr id="80903" name="Rectangle 7"/>
          <p:cNvSpPr>
            <a:spLocks noChangeArrowheads="1"/>
          </p:cNvSpPr>
          <p:nvPr/>
        </p:nvSpPr>
        <p:spPr bwMode="auto">
          <a:xfrm>
            <a:off x="5299789" y="3125755"/>
            <a:ext cx="1240970" cy="53860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Calibri" pitchFamily="34" charset="0"/>
                <a:ea typeface="Times New Roman" pitchFamily="18" charset="0"/>
                <a:cs typeface="Times New Roman" pitchFamily="18" charset="0"/>
              </a:rPr>
              <a:t>                                                                                             </a:t>
            </a:r>
            <a:r>
              <a:rPr kumimoji="0" lang="en-US" b="0" i="0" u="none" strike="noStrike" cap="none" normalizeH="0" baseline="0" dirty="0">
                <a:ln>
                  <a:noFill/>
                </a:ln>
                <a:solidFill>
                  <a:schemeClr val="tx1"/>
                </a:solidFill>
                <a:effectLst/>
                <a:latin typeface="Calibri" pitchFamily="34" charset="0"/>
                <a:ea typeface="Times New Roman" pitchFamily="18" charset="0"/>
                <a:cs typeface="Times New Roman" pitchFamily="18" charset="0"/>
              </a:rPr>
              <a:t>Jobs</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p:pic>
        <p:nvPicPr>
          <p:cNvPr id="80902" name="Picture 6"/>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881534" y="3713584"/>
            <a:ext cx="3470988" cy="1436914"/>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8902" y="505938"/>
            <a:ext cx="9603275" cy="1049235"/>
          </a:xfrm>
        </p:spPr>
        <p:txBody>
          <a:bodyPr>
            <a:normAutofit/>
          </a:bodyPr>
          <a:lstStyle/>
          <a:p>
            <a:pPr algn="ctr"/>
            <a:r>
              <a:rPr lang="en-US" sz="2800" b="1" dirty="0">
                <a:latin typeface="Times New Roman" pitchFamily="18" charset="0"/>
                <a:cs typeface="Times New Roman" pitchFamily="18" charset="0"/>
              </a:rPr>
              <a:t>MATHEMATICAL FORMULATION OF </a:t>
            </a:r>
            <a:br>
              <a:rPr lang="en-US" sz="2800" b="1" dirty="0">
                <a:latin typeface="Times New Roman" pitchFamily="18" charset="0"/>
                <a:cs typeface="Times New Roman" pitchFamily="18" charset="0"/>
              </a:rPr>
            </a:br>
            <a:r>
              <a:rPr lang="en-US" sz="2800" b="1" dirty="0">
                <a:latin typeface="Times New Roman" pitchFamily="18" charset="0"/>
                <a:cs typeface="Times New Roman" pitchFamily="18" charset="0"/>
              </a:rPr>
              <a:t>ASSIGNMENT PROBLEM</a:t>
            </a:r>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graphicFrame>
        <p:nvGraphicFramePr>
          <p:cNvPr id="5" name="Table 4"/>
          <p:cNvGraphicFramePr>
            <a:graphicFrameLocks noGrp="1"/>
          </p:cNvGraphicFramePr>
          <p:nvPr/>
        </p:nvGraphicFramePr>
        <p:xfrm>
          <a:off x="2031999" y="2850637"/>
          <a:ext cx="8128002" cy="1935966"/>
        </p:xfrm>
        <a:graphic>
          <a:graphicData uri="http://schemas.openxmlformats.org/drawingml/2006/table">
            <a:tbl>
              <a:tblPr/>
              <a:tblGrid>
                <a:gridCol w="1457650">
                  <a:extLst>
                    <a:ext uri="{9D8B030D-6E8A-4147-A177-3AD203B41FA5}">
                      <a16:colId xmlns:a16="http://schemas.microsoft.com/office/drawing/2014/main" val="20000"/>
                    </a:ext>
                  </a:extLst>
                </a:gridCol>
                <a:gridCol w="1251684">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1</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Job 2</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Job 3</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Job n</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Machine 1</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11</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C</a:t>
                      </a:r>
                      <a:r>
                        <a:rPr lang="en-US" sz="2000" b="1" baseline="-25000" dirty="0">
                          <a:latin typeface="Times New Roman" pitchFamily="18" charset="0"/>
                          <a:ea typeface="Times New Roman"/>
                          <a:cs typeface="Times New Roman" pitchFamily="18" charset="0"/>
                        </a:rPr>
                        <a:t>12</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C</a:t>
                      </a:r>
                      <a:r>
                        <a:rPr lang="en-US" sz="2000" b="1" baseline="-25000" dirty="0">
                          <a:latin typeface="Times New Roman" pitchFamily="18" charset="0"/>
                          <a:ea typeface="Times New Roman"/>
                          <a:cs typeface="Times New Roman" pitchFamily="18" charset="0"/>
                        </a:rPr>
                        <a:t>13</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1n</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Machine 2</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21</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22</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C</a:t>
                      </a:r>
                      <a:r>
                        <a:rPr lang="en-US" sz="2000" b="1" baseline="-25000" dirty="0">
                          <a:latin typeface="Times New Roman" pitchFamily="18" charset="0"/>
                          <a:ea typeface="Times New Roman"/>
                          <a:cs typeface="Times New Roman" pitchFamily="18" charset="0"/>
                        </a:rPr>
                        <a:t>23</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2n</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Machine 3</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31</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32</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33</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C</a:t>
                      </a:r>
                      <a:r>
                        <a:rPr lang="en-US" sz="2000" b="1" baseline="-25000" dirty="0">
                          <a:latin typeface="Times New Roman" pitchFamily="18" charset="0"/>
                          <a:ea typeface="Times New Roman"/>
                          <a:cs typeface="Times New Roman" pitchFamily="18" charset="0"/>
                        </a:rPr>
                        <a:t>3n</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2661">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Machine m</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m1</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m2</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C</a:t>
                      </a:r>
                      <a:r>
                        <a:rPr lang="en-US" sz="2000" b="1" baseline="-25000">
                          <a:latin typeface="Times New Roman" pitchFamily="18" charset="0"/>
                          <a:ea typeface="Times New Roman"/>
                          <a:cs typeface="Times New Roman" pitchFamily="18" charset="0"/>
                        </a:rPr>
                        <a:t>m3</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err="1">
                          <a:latin typeface="Times New Roman" pitchFamily="18" charset="0"/>
                          <a:ea typeface="Times New Roman"/>
                          <a:cs typeface="Times New Roman" pitchFamily="18" charset="0"/>
                        </a:rPr>
                        <a:t>C</a:t>
                      </a:r>
                      <a:r>
                        <a:rPr lang="en-US" sz="2000" b="1" baseline="-25000" dirty="0" err="1">
                          <a:latin typeface="Times New Roman" pitchFamily="18" charset="0"/>
                          <a:ea typeface="Times New Roman"/>
                          <a:cs typeface="Times New Roman" pitchFamily="18" charset="0"/>
                        </a:rPr>
                        <a:t>mn</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itle 1"/>
          <p:cNvSpPr txBox="1">
            <a:spLocks/>
          </p:cNvSpPr>
          <p:nvPr/>
        </p:nvSpPr>
        <p:spPr>
          <a:xfrm>
            <a:off x="1501343" y="1572738"/>
            <a:ext cx="9603275" cy="1049235"/>
          </a:xfrm>
          <a:prstGeom prst="rect">
            <a:avLst/>
          </a:prstGeom>
        </p:spPr>
        <p:txBody>
          <a:bodyPr vert="horz" lIns="91440" tIns="45720" rIns="91440" bIns="45720" rtlCol="0" anchor="t">
            <a:normAutofit lnSpcReduction="10000"/>
          </a:bodyPr>
          <a:lstStyle/>
          <a:p>
            <a:pPr marL="0" marR="0" lvl="0" indent="0" algn="just" defTabSz="914400" rtl="0" eaLnBrk="1" fontAlgn="auto" latinLnBrk="0" hangingPunct="1">
              <a:lnSpc>
                <a:spcPct val="90000"/>
              </a:lnSpc>
              <a:spcBef>
                <a:spcPct val="0"/>
              </a:spcBef>
              <a:spcAft>
                <a:spcPts val="0"/>
              </a:spcAft>
              <a:buClrTx/>
              <a:buSzTx/>
              <a:buFontTx/>
              <a:buNone/>
              <a:tabLst/>
              <a:defRPr/>
            </a:pPr>
            <a:r>
              <a:rPr kumimoji="0" lang="en-US" sz="2600" i="0" u="none" strike="noStrike" kern="1200" spc="0" normalizeH="0" baseline="0" noProof="0" dirty="0">
                <a:ln>
                  <a:noFill/>
                </a:ln>
                <a:effectLst/>
                <a:uLnTx/>
                <a:uFillTx/>
                <a:latin typeface="Times New Roman"/>
                <a:ea typeface="+mj-ea"/>
                <a:cs typeface="Times New Roman"/>
              </a:rPr>
              <a:t>The assignment problem can</a:t>
            </a:r>
            <a:r>
              <a:rPr kumimoji="0" lang="en-US" sz="2600" i="0" u="none" strike="noStrike" kern="1200" spc="0" normalizeH="0" noProof="0" dirty="0">
                <a:ln>
                  <a:noFill/>
                </a:ln>
                <a:effectLst/>
                <a:uLnTx/>
                <a:uFillTx/>
                <a:latin typeface="Times New Roman"/>
                <a:ea typeface="+mj-ea"/>
                <a:cs typeface="Times New Roman"/>
              </a:rPr>
              <a:t> be stated in the form of m X n matrix (</a:t>
            </a:r>
            <a:r>
              <a:rPr kumimoji="0" lang="en-US" sz="2600" i="0" u="none" strike="noStrike" kern="1200" spc="0" normalizeH="0" noProof="0" dirty="0" err="1">
                <a:ln>
                  <a:noFill/>
                </a:ln>
                <a:effectLst/>
                <a:uLnTx/>
                <a:uFillTx/>
                <a:latin typeface="Times New Roman"/>
                <a:ea typeface="+mj-ea"/>
                <a:cs typeface="Times New Roman"/>
              </a:rPr>
              <a:t>Cij</a:t>
            </a:r>
            <a:r>
              <a:rPr kumimoji="0" lang="en-US" sz="2600" i="0" u="none" strike="noStrike" kern="1200" spc="0" normalizeH="0" noProof="0" dirty="0">
                <a:ln>
                  <a:noFill/>
                </a:ln>
                <a:effectLst/>
                <a:uLnTx/>
                <a:uFillTx/>
                <a:latin typeface="Times New Roman"/>
                <a:ea typeface="+mj-ea"/>
                <a:cs typeface="Times New Roman"/>
              </a:rPr>
              <a:t>) called a </a:t>
            </a:r>
            <a:r>
              <a:rPr lang="en-US" sz="2600" dirty="0">
                <a:latin typeface="Times New Roman"/>
                <a:ea typeface="+mj-ea"/>
                <a:cs typeface="Times New Roman"/>
              </a:rPr>
              <a:t>cost</a:t>
            </a:r>
            <a:r>
              <a:rPr kumimoji="0" lang="en-US" sz="2600" i="0" u="none" strike="noStrike" kern="1200" spc="0" normalizeH="0" noProof="0" dirty="0">
                <a:ln>
                  <a:noFill/>
                </a:ln>
                <a:effectLst/>
                <a:uLnTx/>
                <a:uFillTx/>
                <a:latin typeface="Times New Roman"/>
                <a:ea typeface="+mj-ea"/>
                <a:cs typeface="Times New Roman"/>
              </a:rPr>
              <a:t> matrix / Effective matrix, where </a:t>
            </a:r>
            <a:r>
              <a:rPr kumimoji="0" lang="en-US" sz="2600" i="0" u="none" strike="noStrike" kern="1200" spc="0" normalizeH="0" noProof="0" dirty="0" err="1">
                <a:ln>
                  <a:noFill/>
                </a:ln>
                <a:effectLst/>
                <a:uLnTx/>
                <a:uFillTx/>
                <a:latin typeface="Times New Roman"/>
                <a:ea typeface="+mj-ea"/>
                <a:cs typeface="Times New Roman"/>
              </a:rPr>
              <a:t>Cij</a:t>
            </a:r>
            <a:r>
              <a:rPr kumimoji="0" lang="en-US" sz="2600" i="0" u="none" strike="noStrike" kern="1200" spc="0" normalizeH="0" noProof="0" dirty="0">
                <a:ln>
                  <a:noFill/>
                </a:ln>
                <a:effectLst/>
                <a:uLnTx/>
                <a:uFillTx/>
                <a:latin typeface="Times New Roman"/>
                <a:ea typeface="+mj-ea"/>
                <a:cs typeface="Times New Roman"/>
              </a:rPr>
              <a:t> is the cost of assigning </a:t>
            </a:r>
            <a:r>
              <a:rPr lang="en-US" sz="2600" dirty="0">
                <a:latin typeface="Times New Roman"/>
                <a:ea typeface="+mj-ea"/>
                <a:cs typeface="Times New Roman"/>
              </a:rPr>
              <a:t>machine </a:t>
            </a:r>
            <a:r>
              <a:rPr lang="en-US" sz="2600" dirty="0" err="1">
                <a:latin typeface="Times New Roman"/>
                <a:ea typeface="+mj-ea"/>
                <a:cs typeface="Times New Roman"/>
              </a:rPr>
              <a:t>i</a:t>
            </a:r>
            <a:r>
              <a:rPr lang="en-US" sz="2600" dirty="0">
                <a:latin typeface="Times New Roman"/>
                <a:ea typeface="+mj-ea"/>
                <a:cs typeface="Times New Roman"/>
              </a:rPr>
              <a:t> to job j. </a:t>
            </a:r>
            <a:r>
              <a:rPr kumimoji="0" lang="en-US" sz="2600" i="0" u="none" strike="noStrike" kern="1200" spc="0" normalizeH="0" noProof="0" dirty="0">
                <a:ln>
                  <a:noFill/>
                </a:ln>
                <a:effectLst/>
                <a:uLnTx/>
                <a:uFillTx/>
                <a:latin typeface="Times New Roman"/>
                <a:ea typeface="+mj-ea"/>
                <a:cs typeface="Times New Roman"/>
              </a:rPr>
              <a:t> </a:t>
            </a:r>
            <a:endParaRPr kumimoji="0" lang="en-US" sz="2600" i="0" u="none" strike="noStrike" kern="1200" spc="0" normalizeH="0" baseline="0" noProof="0" dirty="0">
              <a:ln>
                <a:noFill/>
              </a:ln>
              <a:effectLst/>
              <a:uLnTx/>
              <a:uFillTx/>
              <a:latin typeface="Times New Roman"/>
              <a:ea typeface="+mj-ea"/>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DC34-1A33-4E87-93AE-9897A1D18622}"/>
              </a:ext>
            </a:extLst>
          </p:cNvPr>
          <p:cNvSpPr>
            <a:spLocks noGrp="1"/>
          </p:cNvSpPr>
          <p:nvPr>
            <p:ph type="title"/>
          </p:nvPr>
        </p:nvSpPr>
        <p:spPr>
          <a:xfrm>
            <a:off x="1451579" y="242596"/>
            <a:ext cx="9987752" cy="1149060"/>
          </a:xfrm>
        </p:spPr>
        <p:txBody>
          <a:bodyPr>
            <a:normAutofit fontScale="90000"/>
          </a:bodyPr>
          <a:lstStyle/>
          <a:p>
            <a:pPr algn="ctr"/>
            <a:r>
              <a:rPr lang="en-US" sz="3100" b="1" dirty="0">
                <a:latin typeface="Times New Roman" pitchFamily="18" charset="0"/>
                <a:cs typeface="Times New Roman" pitchFamily="18" charset="0"/>
              </a:rPr>
              <a:t>The Hungarian method of solving </a:t>
            </a:r>
            <a:br>
              <a:rPr lang="en-US" sz="3100" b="1" dirty="0">
                <a:latin typeface="Times New Roman" pitchFamily="18" charset="0"/>
                <a:cs typeface="Times New Roman" pitchFamily="18" charset="0"/>
              </a:rPr>
            </a:br>
            <a:r>
              <a:rPr lang="en-US" sz="3100" b="1" dirty="0">
                <a:latin typeface="Times New Roman" pitchFamily="18" charset="0"/>
                <a:cs typeface="Times New Roman" pitchFamily="18" charset="0"/>
              </a:rPr>
              <a:t>the Assignment Problem</a:t>
            </a:r>
            <a:br>
              <a:rPr lang="en-US" dirty="0"/>
            </a:br>
            <a:endParaRPr lang="en-IN" dirty="0"/>
          </a:p>
        </p:txBody>
      </p:sp>
      <p:sp>
        <p:nvSpPr>
          <p:cNvPr id="3" name="Content Placeholder 2">
            <a:extLst>
              <a:ext uri="{FF2B5EF4-FFF2-40B4-BE49-F238E27FC236}">
                <a16:creationId xmlns:a16="http://schemas.microsoft.com/office/drawing/2014/main" id="{B6B695F1-0268-400A-87EF-8E9F41B69DAE}"/>
              </a:ext>
            </a:extLst>
          </p:cNvPr>
          <p:cNvSpPr>
            <a:spLocks noGrp="1"/>
          </p:cNvSpPr>
          <p:nvPr>
            <p:ph idx="1"/>
          </p:nvPr>
        </p:nvSpPr>
        <p:spPr>
          <a:xfrm>
            <a:off x="1451579" y="1726162"/>
            <a:ext cx="9603275" cy="4327317"/>
          </a:xfrm>
        </p:spPr>
        <p:txBody>
          <a:bodyPr>
            <a:normAutofit/>
          </a:bodyPr>
          <a:lstStyle/>
          <a:p>
            <a:pPr algn="just">
              <a:buNone/>
            </a:pPr>
            <a:r>
              <a:rPr lang="en-US" sz="2600" dirty="0">
                <a:latin typeface="Times New Roman" pitchFamily="18" charset="0"/>
                <a:cs typeface="Times New Roman" pitchFamily="18" charset="0"/>
              </a:rPr>
              <a:t>Check to see if the number of rows and columns are equal; if they are, the assignment problem is considered to be balanced. Then go to step 1. If it is not balanced, it should be balanced before the algorithm is applied.</a:t>
            </a:r>
          </a:p>
          <a:p>
            <a:pPr algn="just"/>
            <a:r>
              <a:rPr lang="en-US" sz="2600" b="1" dirty="0">
                <a:latin typeface="Times New Roman" pitchFamily="18" charset="0"/>
                <a:cs typeface="Times New Roman" pitchFamily="18" charset="0"/>
              </a:rPr>
              <a:t>Step 1 –</a:t>
            </a:r>
            <a:r>
              <a:rPr lang="en-US" sz="2600" dirty="0">
                <a:latin typeface="Times New Roman" pitchFamily="18" charset="0"/>
                <a:cs typeface="Times New Roman" pitchFamily="18" charset="0"/>
              </a:rPr>
              <a:t> In the given cost matrix, subtract the least cost element of each row from all the entries in that row. Make sure that each row has at least one zero.</a:t>
            </a:r>
          </a:p>
          <a:p>
            <a:pPr algn="just"/>
            <a:endParaRPr lang="en-IN" sz="28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DDC72BD-B354-4B6C-8F72-21FF1BAB5FCA}"/>
              </a:ext>
            </a:extLst>
          </p:cNvPr>
          <p:cNvSpPr>
            <a:spLocks noGrp="1"/>
          </p:cNvSpPr>
          <p:nvPr>
            <p:ph type="sldNum" sz="quarter" idx="12"/>
          </p:nvPr>
        </p:nvSpPr>
        <p:spPr/>
        <p:txBody>
          <a:bodyPr/>
          <a:lstStyle/>
          <a:p>
            <a:fld id="{CBABCCC1-BF11-4F37-963E-1BCD5B23FD72}" type="slidenum">
              <a:rPr lang="en-IN" smtClean="0"/>
              <a:pPr/>
              <a:t>6</a:t>
            </a:fld>
            <a:endParaRPr lang="en-IN"/>
          </a:p>
        </p:txBody>
      </p:sp>
    </p:spTree>
    <p:extLst>
      <p:ext uri="{BB962C8B-B14F-4D97-AF65-F5344CB8AC3E}">
        <p14:creationId xmlns:p14="http://schemas.microsoft.com/office/powerpoint/2010/main" val="1085927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DC34-1A33-4E87-93AE-9897A1D18622}"/>
              </a:ext>
            </a:extLst>
          </p:cNvPr>
          <p:cNvSpPr>
            <a:spLocks noGrp="1"/>
          </p:cNvSpPr>
          <p:nvPr>
            <p:ph type="title"/>
          </p:nvPr>
        </p:nvSpPr>
        <p:spPr>
          <a:xfrm>
            <a:off x="1451579" y="804520"/>
            <a:ext cx="9603275" cy="587136"/>
          </a:xfrm>
        </p:spPr>
        <p:txBody>
          <a:bodyPr>
            <a:normAutofit/>
          </a:bodyPr>
          <a:lstStyle/>
          <a:p>
            <a:r>
              <a:rPr lang="en-US" sz="2800" b="1" dirty="0">
                <a:latin typeface="Times New Roman" pitchFamily="18" charset="0"/>
                <a:cs typeface="Times New Roman" pitchFamily="18" charset="0"/>
              </a:rPr>
              <a:t>CONTINUE……</a:t>
            </a:r>
            <a:endParaRPr lang="en-IN" sz="28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6B695F1-0268-400A-87EF-8E9F41B69DAE}"/>
              </a:ext>
            </a:extLst>
          </p:cNvPr>
          <p:cNvSpPr>
            <a:spLocks noGrp="1"/>
          </p:cNvSpPr>
          <p:nvPr>
            <p:ph idx="1"/>
          </p:nvPr>
        </p:nvSpPr>
        <p:spPr>
          <a:xfrm>
            <a:off x="1451579" y="1391656"/>
            <a:ext cx="9603275" cy="4661824"/>
          </a:xfrm>
        </p:spPr>
        <p:txBody>
          <a:bodyPr>
            <a:normAutofit fontScale="92500"/>
          </a:bodyPr>
          <a:lstStyle/>
          <a:p>
            <a:pPr algn="just"/>
            <a:r>
              <a:rPr lang="en-US" sz="2800" b="1" dirty="0">
                <a:latin typeface="Times New Roman" pitchFamily="18" charset="0"/>
                <a:cs typeface="Times New Roman" pitchFamily="18" charset="0"/>
              </a:rPr>
              <a:t>Step 2 </a:t>
            </a:r>
            <a:r>
              <a:rPr lang="en-US" sz="2800" dirty="0">
                <a:latin typeface="Times New Roman" pitchFamily="18" charset="0"/>
                <a:cs typeface="Times New Roman" pitchFamily="18" charset="0"/>
              </a:rPr>
              <a:t>– In the resultant cost matrix produced in step 1, subtract the least cost element in each column from all the components in that column, ensuring that each column contains at least one zero.</a:t>
            </a:r>
          </a:p>
          <a:p>
            <a:pPr algn="just"/>
            <a:r>
              <a:rPr lang="en-US" sz="2800" b="1" dirty="0">
                <a:latin typeface="Times New Roman" pitchFamily="18" charset="0"/>
                <a:cs typeface="Times New Roman" pitchFamily="18" charset="0"/>
              </a:rPr>
              <a:t>Step 3</a:t>
            </a:r>
            <a:r>
              <a:rPr lang="en-US" sz="2800" dirty="0">
                <a:latin typeface="Times New Roman" pitchFamily="18" charset="0"/>
                <a:cs typeface="Times New Roman" pitchFamily="18" charset="0"/>
              </a:rPr>
              <a:t> – Assign zeros</a:t>
            </a:r>
          </a:p>
          <a:p>
            <a:pPr lvl="0" algn="just"/>
            <a:r>
              <a:rPr lang="en-US" sz="2800" dirty="0">
                <a:latin typeface="Times New Roman" pitchFamily="18" charset="0"/>
                <a:cs typeface="Times New Roman" pitchFamily="18" charset="0"/>
              </a:rPr>
              <a:t>Analyze the rows one by one until you find a row with precisely one unmarked zero. Encircle this lonely unmarked zero and assign it a task. All other zeros in the column of this circular zero should be crossed out because they will not be used in any future assignments. Continue in this manner until you’ve gone through all of the rows.</a:t>
            </a:r>
          </a:p>
          <a:p>
            <a:pPr algn="just"/>
            <a:endParaRPr lang="en-IN" sz="28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DDC72BD-B354-4B6C-8F72-21FF1BAB5FCA}"/>
              </a:ext>
            </a:extLst>
          </p:cNvPr>
          <p:cNvSpPr>
            <a:spLocks noGrp="1"/>
          </p:cNvSpPr>
          <p:nvPr>
            <p:ph type="sldNum" sz="quarter" idx="12"/>
          </p:nvPr>
        </p:nvSpPr>
        <p:spPr/>
        <p:txBody>
          <a:bodyPr/>
          <a:lstStyle/>
          <a:p>
            <a:fld id="{CBABCCC1-BF11-4F37-963E-1BCD5B23FD72}" type="slidenum">
              <a:rPr lang="en-IN" smtClean="0"/>
              <a:pPr/>
              <a:t>7</a:t>
            </a:fld>
            <a:endParaRPr lang="en-IN"/>
          </a:p>
        </p:txBody>
      </p:sp>
    </p:spTree>
    <p:extLst>
      <p:ext uri="{BB962C8B-B14F-4D97-AF65-F5344CB8AC3E}">
        <p14:creationId xmlns:p14="http://schemas.microsoft.com/office/powerpoint/2010/main" val="105501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DC34-1A33-4E87-93AE-9897A1D18622}"/>
              </a:ext>
            </a:extLst>
          </p:cNvPr>
          <p:cNvSpPr>
            <a:spLocks noGrp="1"/>
          </p:cNvSpPr>
          <p:nvPr>
            <p:ph type="title"/>
          </p:nvPr>
        </p:nvSpPr>
        <p:spPr>
          <a:xfrm>
            <a:off x="1451579" y="804520"/>
            <a:ext cx="9603275" cy="587136"/>
          </a:xfrm>
        </p:spPr>
        <p:txBody>
          <a:bodyPr>
            <a:normAutofit/>
          </a:bodyPr>
          <a:lstStyle/>
          <a:p>
            <a:r>
              <a:rPr lang="en-US" sz="2800" b="1" dirty="0">
                <a:latin typeface="Times New Roman" pitchFamily="18" charset="0"/>
                <a:cs typeface="Times New Roman" pitchFamily="18" charset="0"/>
              </a:rPr>
              <a:t>CONTINUE……</a:t>
            </a:r>
            <a:endParaRPr lang="en-IN" sz="28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6B695F1-0268-400A-87EF-8E9F41B69DAE}"/>
              </a:ext>
            </a:extLst>
          </p:cNvPr>
          <p:cNvSpPr>
            <a:spLocks noGrp="1"/>
          </p:cNvSpPr>
          <p:nvPr>
            <p:ph idx="1"/>
          </p:nvPr>
        </p:nvSpPr>
        <p:spPr>
          <a:xfrm>
            <a:off x="1451579" y="1391656"/>
            <a:ext cx="9603275" cy="4661824"/>
          </a:xfrm>
        </p:spPr>
        <p:txBody>
          <a:bodyPr>
            <a:normAutofit/>
          </a:bodyPr>
          <a:lstStyle/>
          <a:p>
            <a:pPr lvl="0"/>
            <a:r>
              <a:rPr lang="en-US" sz="2400" dirty="0"/>
              <a:t>Examine the columns one by one until you find one with precisely one unmarked zero. Encircle this single unmarked zero and cross any other zero in its row to make an assignment to it. Continue until you’ve gone through all of the columns.</a:t>
            </a:r>
          </a:p>
          <a:p>
            <a:r>
              <a:rPr lang="en-US" sz="2400" b="1" dirty="0"/>
              <a:t>Step 4</a:t>
            </a:r>
            <a:r>
              <a:rPr lang="en-US" sz="2400" dirty="0"/>
              <a:t> – Perform the Optimal Test</a:t>
            </a:r>
          </a:p>
          <a:p>
            <a:pPr lvl="0"/>
            <a:r>
              <a:rPr lang="en-US" sz="2400" dirty="0"/>
              <a:t>The present assignment is optimal if each row and column has exactly one encircled zero.</a:t>
            </a:r>
          </a:p>
        </p:txBody>
      </p:sp>
      <p:sp>
        <p:nvSpPr>
          <p:cNvPr id="4" name="Slide Number Placeholder 3">
            <a:extLst>
              <a:ext uri="{FF2B5EF4-FFF2-40B4-BE49-F238E27FC236}">
                <a16:creationId xmlns:a16="http://schemas.microsoft.com/office/drawing/2014/main" id="{CDDC72BD-B354-4B6C-8F72-21FF1BAB5FCA}"/>
              </a:ext>
            </a:extLst>
          </p:cNvPr>
          <p:cNvSpPr>
            <a:spLocks noGrp="1"/>
          </p:cNvSpPr>
          <p:nvPr>
            <p:ph type="sldNum" sz="quarter" idx="12"/>
          </p:nvPr>
        </p:nvSpPr>
        <p:spPr/>
        <p:txBody>
          <a:bodyPr/>
          <a:lstStyle/>
          <a:p>
            <a:fld id="{CBABCCC1-BF11-4F37-963E-1BCD5B23FD72}" type="slidenum">
              <a:rPr lang="en-IN" smtClean="0"/>
              <a:pPr/>
              <a:t>8</a:t>
            </a:fld>
            <a:endParaRPr lang="en-IN"/>
          </a:p>
        </p:txBody>
      </p:sp>
    </p:spTree>
    <p:extLst>
      <p:ext uri="{BB962C8B-B14F-4D97-AF65-F5344CB8AC3E}">
        <p14:creationId xmlns:p14="http://schemas.microsoft.com/office/powerpoint/2010/main" val="58236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DC34-1A33-4E87-93AE-9897A1D18622}"/>
              </a:ext>
            </a:extLst>
          </p:cNvPr>
          <p:cNvSpPr>
            <a:spLocks noGrp="1"/>
          </p:cNvSpPr>
          <p:nvPr>
            <p:ph type="title"/>
          </p:nvPr>
        </p:nvSpPr>
        <p:spPr>
          <a:xfrm>
            <a:off x="1451579" y="804520"/>
            <a:ext cx="9603275" cy="587136"/>
          </a:xfrm>
        </p:spPr>
        <p:txBody>
          <a:bodyPr>
            <a:normAutofit/>
          </a:bodyPr>
          <a:lstStyle/>
          <a:p>
            <a:r>
              <a:rPr lang="en-US" sz="2800" b="1" dirty="0">
                <a:latin typeface="Times New Roman" pitchFamily="18" charset="0"/>
                <a:cs typeface="Times New Roman" pitchFamily="18" charset="0"/>
              </a:rPr>
              <a:t>CONTINUE…..</a:t>
            </a:r>
            <a:endParaRPr lang="en-IN" sz="28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6B695F1-0268-400A-87EF-8E9F41B69DAE}"/>
              </a:ext>
            </a:extLst>
          </p:cNvPr>
          <p:cNvSpPr>
            <a:spLocks noGrp="1"/>
          </p:cNvSpPr>
          <p:nvPr>
            <p:ph idx="1"/>
          </p:nvPr>
        </p:nvSpPr>
        <p:spPr>
          <a:xfrm>
            <a:off x="1451579" y="2155370"/>
            <a:ext cx="9661179" cy="3135087"/>
          </a:xfrm>
        </p:spPr>
        <p:txBody>
          <a:bodyPr>
            <a:normAutofit/>
          </a:bodyPr>
          <a:lstStyle/>
          <a:p>
            <a:pPr lvl="0" algn="just"/>
            <a:r>
              <a:rPr lang="en-US" sz="2600" dirty="0">
                <a:latin typeface="Times New Roman" pitchFamily="18" charset="0"/>
                <a:cs typeface="Times New Roman" pitchFamily="18" charset="0"/>
              </a:rPr>
              <a:t>The present assignment is not optimal if at least one row or column is missing an assignment (i.e., if at least one row or column is missing one encircled zero). Continue to step 5. Subtract the least cost element from all the entries in each column of the final cost matrix created in step 1 and ensure that each column has at least one zero.</a:t>
            </a:r>
          </a:p>
          <a:p>
            <a:pPr algn="just"/>
            <a:endParaRPr lang="en-IN" sz="28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DDC72BD-B354-4B6C-8F72-21FF1BAB5FCA}"/>
              </a:ext>
            </a:extLst>
          </p:cNvPr>
          <p:cNvSpPr>
            <a:spLocks noGrp="1"/>
          </p:cNvSpPr>
          <p:nvPr>
            <p:ph type="sldNum" sz="quarter" idx="12"/>
          </p:nvPr>
        </p:nvSpPr>
        <p:spPr/>
        <p:txBody>
          <a:bodyPr/>
          <a:lstStyle/>
          <a:p>
            <a:fld id="{CBABCCC1-BF11-4F37-963E-1BCD5B23FD72}" type="slidenum">
              <a:rPr lang="en-IN" smtClean="0"/>
              <a:pPr/>
              <a:t>9</a:t>
            </a:fld>
            <a:endParaRPr lang="en-IN"/>
          </a:p>
        </p:txBody>
      </p:sp>
    </p:spTree>
    <p:extLst>
      <p:ext uri="{BB962C8B-B14F-4D97-AF65-F5344CB8AC3E}">
        <p14:creationId xmlns:p14="http://schemas.microsoft.com/office/powerpoint/2010/main" val="3714868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DC34-1A33-4E87-93AE-9897A1D18622}"/>
              </a:ext>
            </a:extLst>
          </p:cNvPr>
          <p:cNvSpPr>
            <a:spLocks noGrp="1"/>
          </p:cNvSpPr>
          <p:nvPr>
            <p:ph type="title"/>
          </p:nvPr>
        </p:nvSpPr>
        <p:spPr>
          <a:xfrm>
            <a:off x="1451579" y="804520"/>
            <a:ext cx="9603275" cy="587136"/>
          </a:xfrm>
        </p:spPr>
        <p:txBody>
          <a:bodyPr>
            <a:normAutofit/>
          </a:bodyPr>
          <a:lstStyle/>
          <a:p>
            <a:r>
              <a:rPr lang="en-US" sz="2800" b="1" dirty="0">
                <a:latin typeface="Times New Roman" pitchFamily="18" charset="0"/>
                <a:cs typeface="Times New Roman" pitchFamily="18" charset="0"/>
              </a:rPr>
              <a:t>CONTINUE……</a:t>
            </a:r>
            <a:endParaRPr lang="en-IN" sz="2800" dirty="0"/>
          </a:p>
        </p:txBody>
      </p:sp>
      <p:sp>
        <p:nvSpPr>
          <p:cNvPr id="3" name="Content Placeholder 2">
            <a:extLst>
              <a:ext uri="{FF2B5EF4-FFF2-40B4-BE49-F238E27FC236}">
                <a16:creationId xmlns:a16="http://schemas.microsoft.com/office/drawing/2014/main" id="{B6B695F1-0268-400A-87EF-8E9F41B69DAE}"/>
              </a:ext>
            </a:extLst>
          </p:cNvPr>
          <p:cNvSpPr>
            <a:spLocks noGrp="1"/>
          </p:cNvSpPr>
          <p:nvPr>
            <p:ph idx="1"/>
          </p:nvPr>
        </p:nvSpPr>
        <p:spPr>
          <a:xfrm>
            <a:off x="1451579" y="1679510"/>
            <a:ext cx="9754485" cy="4373969"/>
          </a:xfrm>
        </p:spPr>
        <p:txBody>
          <a:bodyPr>
            <a:normAutofit fontScale="62500" lnSpcReduction="20000"/>
          </a:bodyPr>
          <a:lstStyle/>
          <a:p>
            <a:pPr algn="just"/>
            <a:r>
              <a:rPr lang="en-US" sz="3400" b="1" dirty="0">
                <a:latin typeface="Times New Roman" pitchFamily="18" charset="0"/>
                <a:cs typeface="Times New Roman" pitchFamily="18" charset="0"/>
              </a:rPr>
              <a:t>Step 5</a:t>
            </a:r>
            <a:r>
              <a:rPr lang="en-US" sz="3400" dirty="0">
                <a:latin typeface="Times New Roman" pitchFamily="18" charset="0"/>
                <a:cs typeface="Times New Roman" pitchFamily="18" charset="0"/>
              </a:rPr>
              <a:t> – Draw the least number of straight lines to cover all of the zeros as follows:</a:t>
            </a:r>
          </a:p>
          <a:p>
            <a:pPr algn="just"/>
            <a:r>
              <a:rPr lang="en-US" sz="3400" dirty="0">
                <a:latin typeface="Times New Roman" pitchFamily="18" charset="0"/>
                <a:cs typeface="Times New Roman" pitchFamily="18" charset="0"/>
              </a:rPr>
              <a:t>(a) Highlight the rows that aren’t assigned.</a:t>
            </a:r>
          </a:p>
          <a:p>
            <a:pPr algn="just"/>
            <a:r>
              <a:rPr lang="en-US" sz="3400" dirty="0">
                <a:latin typeface="Times New Roman" pitchFamily="18" charset="0"/>
                <a:cs typeface="Times New Roman" pitchFamily="18" charset="0"/>
              </a:rPr>
              <a:t>(b) Label the columns with zeros in marked rows (if they haven’t already been marked).</a:t>
            </a:r>
          </a:p>
          <a:p>
            <a:pPr algn="just"/>
            <a:r>
              <a:rPr lang="en-US" sz="3400" dirty="0">
                <a:latin typeface="Times New Roman" pitchFamily="18" charset="0"/>
                <a:cs typeface="Times New Roman" pitchFamily="18" charset="0"/>
              </a:rPr>
              <a:t>(c) Highlight the rows that have assignments in indicated columns (if they haven’t previously been marked).</a:t>
            </a:r>
          </a:p>
          <a:p>
            <a:pPr algn="just"/>
            <a:r>
              <a:rPr lang="en-US" sz="3400" dirty="0">
                <a:latin typeface="Times New Roman" pitchFamily="18" charset="0"/>
                <a:cs typeface="Times New Roman" pitchFamily="18" charset="0"/>
              </a:rPr>
              <a:t>(d) Continue with (b) and (c) until no further marking is needed.</a:t>
            </a:r>
          </a:p>
          <a:p>
            <a:pPr algn="just"/>
            <a:r>
              <a:rPr lang="en-US" sz="3400" dirty="0">
                <a:latin typeface="Times New Roman" pitchFamily="18" charset="0"/>
                <a:cs typeface="Times New Roman" pitchFamily="18" charset="0"/>
              </a:rPr>
              <a:t>(f) Simply draw the lines through all rows and columns that are not marked. If the number of these lines equals the order of the matrix, then the solution is optimal; otherwise, it is not.</a:t>
            </a:r>
          </a:p>
          <a:p>
            <a:pPr algn="just"/>
            <a:endParaRPr lang="en-US" sz="2800" dirty="0">
              <a:latin typeface="Calibri" panose="020F0502020204030204" pitchFamily="34" charset="0"/>
              <a:cs typeface="Calibri" panose="020F0502020204030204" pitchFamily="34" charset="0"/>
            </a:endParaRPr>
          </a:p>
          <a:p>
            <a:pPr algn="just"/>
            <a:endParaRPr lang="en-IN" sz="28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DDC72BD-B354-4B6C-8F72-21FF1BAB5FCA}"/>
              </a:ext>
            </a:extLst>
          </p:cNvPr>
          <p:cNvSpPr>
            <a:spLocks noGrp="1"/>
          </p:cNvSpPr>
          <p:nvPr>
            <p:ph type="sldNum" sz="quarter" idx="12"/>
          </p:nvPr>
        </p:nvSpPr>
        <p:spPr/>
        <p:txBody>
          <a:bodyPr/>
          <a:lstStyle/>
          <a:p>
            <a:fld id="{CBABCCC1-BF11-4F37-963E-1BCD5B23FD72}" type="slidenum">
              <a:rPr lang="en-IN" smtClean="0"/>
              <a:pPr/>
              <a:t>10</a:t>
            </a:fld>
            <a:endParaRPr lang="en-IN"/>
          </a:p>
        </p:txBody>
      </p:sp>
    </p:spTree>
    <p:extLst>
      <p:ext uri="{BB962C8B-B14F-4D97-AF65-F5344CB8AC3E}">
        <p14:creationId xmlns:p14="http://schemas.microsoft.com/office/powerpoint/2010/main" val="1515717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DC34-1A33-4E87-93AE-9897A1D18622}"/>
              </a:ext>
            </a:extLst>
          </p:cNvPr>
          <p:cNvSpPr>
            <a:spLocks noGrp="1"/>
          </p:cNvSpPr>
          <p:nvPr>
            <p:ph type="title"/>
          </p:nvPr>
        </p:nvSpPr>
        <p:spPr>
          <a:xfrm>
            <a:off x="1451579" y="804520"/>
            <a:ext cx="9603275" cy="587136"/>
          </a:xfrm>
        </p:spPr>
        <p:txBody>
          <a:bodyPr>
            <a:normAutofit/>
          </a:bodyPr>
          <a:lstStyle/>
          <a:p>
            <a:r>
              <a:rPr lang="en-US" sz="2800" b="1" dirty="0">
                <a:latin typeface="Times New Roman" pitchFamily="18" charset="0"/>
                <a:cs typeface="Times New Roman" pitchFamily="18" charset="0"/>
              </a:rPr>
              <a:t>CONTINUE…..</a:t>
            </a:r>
            <a:endParaRPr lang="en-IN" sz="2800" dirty="0"/>
          </a:p>
        </p:txBody>
      </p:sp>
      <p:sp>
        <p:nvSpPr>
          <p:cNvPr id="3" name="Content Placeholder 2">
            <a:extLst>
              <a:ext uri="{FF2B5EF4-FFF2-40B4-BE49-F238E27FC236}">
                <a16:creationId xmlns:a16="http://schemas.microsoft.com/office/drawing/2014/main" id="{B6B695F1-0268-400A-87EF-8E9F41B69DAE}"/>
              </a:ext>
            </a:extLst>
          </p:cNvPr>
          <p:cNvSpPr>
            <a:spLocks noGrp="1"/>
          </p:cNvSpPr>
          <p:nvPr>
            <p:ph idx="1"/>
          </p:nvPr>
        </p:nvSpPr>
        <p:spPr>
          <a:xfrm>
            <a:off x="1451580" y="1894114"/>
            <a:ext cx="9670510" cy="3191070"/>
          </a:xfrm>
        </p:spPr>
        <p:txBody>
          <a:bodyPr>
            <a:normAutofit/>
          </a:bodyPr>
          <a:lstStyle/>
          <a:p>
            <a:pPr algn="just"/>
            <a:r>
              <a:rPr lang="en-US" sz="2600" b="1" dirty="0">
                <a:latin typeface="Times New Roman" pitchFamily="18" charset="0"/>
                <a:cs typeface="Times New Roman" pitchFamily="18" charset="0"/>
              </a:rPr>
              <a:t>Step 6</a:t>
            </a:r>
            <a:r>
              <a:rPr lang="en-US" sz="2600" dirty="0">
                <a:latin typeface="Times New Roman" pitchFamily="18" charset="0"/>
                <a:cs typeface="Times New Roman" pitchFamily="18" charset="0"/>
              </a:rPr>
              <a:t> – Find the lowest cost factor that is not covered by the straight lines. Subtract this least-cost component from all the uncovered elements and add it to all the elements that are at the intersection of these straight lines, but leave the rest of the elements alone.</a:t>
            </a:r>
          </a:p>
          <a:p>
            <a:pPr algn="just"/>
            <a:r>
              <a:rPr lang="en-US" sz="2600" b="1" dirty="0">
                <a:latin typeface="Times New Roman" pitchFamily="18" charset="0"/>
                <a:cs typeface="Times New Roman" pitchFamily="18" charset="0"/>
              </a:rPr>
              <a:t>Step 7</a:t>
            </a:r>
            <a:r>
              <a:rPr lang="en-US" sz="2600" dirty="0">
                <a:latin typeface="Times New Roman" pitchFamily="18" charset="0"/>
                <a:cs typeface="Times New Roman" pitchFamily="18" charset="0"/>
              </a:rPr>
              <a:t> – Continue with steps 1 – 6 until you’ve found the highest suitable assignment.</a:t>
            </a:r>
          </a:p>
          <a:p>
            <a:pPr algn="just"/>
            <a:endParaRPr lang="en-IN" sz="28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DDC72BD-B354-4B6C-8F72-21FF1BAB5FCA}"/>
              </a:ext>
            </a:extLst>
          </p:cNvPr>
          <p:cNvSpPr>
            <a:spLocks noGrp="1"/>
          </p:cNvSpPr>
          <p:nvPr>
            <p:ph type="sldNum" sz="quarter" idx="12"/>
          </p:nvPr>
        </p:nvSpPr>
        <p:spPr/>
        <p:txBody>
          <a:bodyPr/>
          <a:lstStyle/>
          <a:p>
            <a:fld id="{CBABCCC1-BF11-4F37-963E-1BCD5B23FD72}" type="slidenum">
              <a:rPr lang="en-IN" smtClean="0"/>
              <a:pPr/>
              <a:t>11</a:t>
            </a:fld>
            <a:endParaRPr lang="en-IN"/>
          </a:p>
        </p:txBody>
      </p:sp>
    </p:spTree>
    <p:extLst>
      <p:ext uri="{BB962C8B-B14F-4D97-AF65-F5344CB8AC3E}">
        <p14:creationId xmlns:p14="http://schemas.microsoft.com/office/powerpoint/2010/main" val="2995966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DC34-1A33-4E87-93AE-9897A1D18622}"/>
              </a:ext>
            </a:extLst>
          </p:cNvPr>
          <p:cNvSpPr>
            <a:spLocks noGrp="1"/>
          </p:cNvSpPr>
          <p:nvPr>
            <p:ph type="title"/>
          </p:nvPr>
        </p:nvSpPr>
        <p:spPr>
          <a:xfrm>
            <a:off x="1451579" y="804520"/>
            <a:ext cx="9603275" cy="587136"/>
          </a:xfrm>
        </p:spPr>
        <p:txBody>
          <a:bodyPr>
            <a:normAutofit/>
          </a:bodyPr>
          <a:lstStyle/>
          <a:p>
            <a:r>
              <a:rPr lang="en-US" sz="2800" b="1" dirty="0">
                <a:latin typeface="Times New Roman" pitchFamily="18" charset="0"/>
                <a:cs typeface="Times New Roman" pitchFamily="18" charset="0"/>
              </a:rPr>
              <a:t>What is Hungarian Method?</a:t>
            </a:r>
            <a:endParaRPr lang="en-US" sz="28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6B695F1-0268-400A-87EF-8E9F41B69DAE}"/>
              </a:ext>
            </a:extLst>
          </p:cNvPr>
          <p:cNvSpPr>
            <a:spLocks noGrp="1"/>
          </p:cNvSpPr>
          <p:nvPr>
            <p:ph idx="1"/>
          </p:nvPr>
        </p:nvSpPr>
        <p:spPr>
          <a:xfrm>
            <a:off x="1451580" y="1726162"/>
            <a:ext cx="9577204" cy="2248679"/>
          </a:xfrm>
        </p:spPr>
        <p:txBody>
          <a:bodyPr>
            <a:normAutofit/>
          </a:bodyPr>
          <a:lstStyle/>
          <a:p>
            <a:pPr algn="just"/>
            <a:r>
              <a:rPr lang="en-US" sz="2800" dirty="0">
                <a:latin typeface="Times New Roman" pitchFamily="18" charset="0"/>
                <a:cs typeface="Times New Roman" pitchFamily="18" charset="0"/>
              </a:rPr>
              <a:t>The Hungarian method is defined as a combinatorial optimization technique that solves the assignment problems in polynomial time and foreshadowed subsequent primal–dual approaches.</a:t>
            </a:r>
          </a:p>
          <a:p>
            <a:pPr algn="just"/>
            <a:endParaRPr lang="en-IN" sz="28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DDC72BD-B354-4B6C-8F72-21FF1BAB5FCA}"/>
              </a:ext>
            </a:extLst>
          </p:cNvPr>
          <p:cNvSpPr>
            <a:spLocks noGrp="1"/>
          </p:cNvSpPr>
          <p:nvPr>
            <p:ph type="sldNum" sz="quarter" idx="12"/>
          </p:nvPr>
        </p:nvSpPr>
        <p:spPr/>
        <p:txBody>
          <a:bodyPr/>
          <a:lstStyle/>
          <a:p>
            <a:fld id="{CBABCCC1-BF11-4F37-963E-1BCD5B23FD72}" type="slidenum">
              <a:rPr lang="en-IN" smtClean="0"/>
              <a:pPr/>
              <a:t>12</a:t>
            </a:fld>
            <a:endParaRPr lang="en-IN"/>
          </a:p>
        </p:txBody>
      </p:sp>
    </p:spTree>
    <p:extLst>
      <p:ext uri="{BB962C8B-B14F-4D97-AF65-F5344CB8AC3E}">
        <p14:creationId xmlns:p14="http://schemas.microsoft.com/office/powerpoint/2010/main" val="4069091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EXAMPLE - 1</a:t>
            </a:r>
          </a:p>
        </p:txBody>
      </p:sp>
      <p:sp>
        <p:nvSpPr>
          <p:cNvPr id="3" name="Content Placeholder 2"/>
          <p:cNvSpPr>
            <a:spLocks noGrp="1"/>
          </p:cNvSpPr>
          <p:nvPr>
            <p:ph idx="1"/>
          </p:nvPr>
        </p:nvSpPr>
        <p:spPr>
          <a:xfrm>
            <a:off x="1451579" y="1567544"/>
            <a:ext cx="9603275" cy="1231640"/>
          </a:xfrm>
        </p:spPr>
        <p:txBody>
          <a:bodyPr>
            <a:normAutofit/>
          </a:bodyPr>
          <a:lstStyle/>
          <a:p>
            <a:pPr algn="just">
              <a:buNone/>
            </a:pPr>
            <a:r>
              <a:rPr lang="en-US" sz="2600" dirty="0">
                <a:latin typeface="Times New Roman" pitchFamily="18" charset="0"/>
                <a:cs typeface="Times New Roman" pitchFamily="18" charset="0"/>
              </a:rPr>
              <a:t>Consider the problem of assignment 5 jobs to 5 persons. The assignment costs are given as follows.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graphicFrame>
        <p:nvGraphicFramePr>
          <p:cNvPr id="5" name="Table 4"/>
          <p:cNvGraphicFramePr>
            <a:graphicFrameLocks noGrp="1"/>
          </p:cNvGraphicFramePr>
          <p:nvPr/>
        </p:nvGraphicFramePr>
        <p:xfrm>
          <a:off x="2031999" y="2850637"/>
          <a:ext cx="8128002" cy="1935966"/>
        </p:xfrm>
        <a:graphic>
          <a:graphicData uri="http://schemas.openxmlformats.org/drawingml/2006/table">
            <a:tbl>
              <a:tblPr/>
              <a:tblGrid>
                <a:gridCol w="1457650">
                  <a:extLst>
                    <a:ext uri="{9D8B030D-6E8A-4147-A177-3AD203B41FA5}">
                      <a16:colId xmlns:a16="http://schemas.microsoft.com/office/drawing/2014/main" val="20000"/>
                    </a:ext>
                  </a:extLst>
                </a:gridCol>
                <a:gridCol w="1251684">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1</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pitchFamily="18" charset="0"/>
                          <a:ea typeface="Times New Roman"/>
                          <a:cs typeface="Times New Roman" pitchFamily="18" charset="0"/>
                        </a:rPr>
                        <a:t>Job 2</a:t>
                      </a:r>
                      <a:endParaRPr lang="en-US" sz="200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3</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Job 4</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5</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A</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B</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C</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Person D</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E</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Rectangle 5"/>
          <p:cNvSpPr/>
          <p:nvPr/>
        </p:nvSpPr>
        <p:spPr>
          <a:xfrm>
            <a:off x="2030963" y="4925304"/>
            <a:ext cx="8102082" cy="492443"/>
          </a:xfrm>
          <a:prstGeom prst="rect">
            <a:avLst/>
          </a:prstGeom>
        </p:spPr>
        <p:txBody>
          <a:bodyPr wrap="square">
            <a:spAutoFit/>
          </a:bodyPr>
          <a:lstStyle/>
          <a:p>
            <a:pPr algn="just">
              <a:buNone/>
            </a:pPr>
            <a:r>
              <a:rPr lang="en-US" sz="2600" dirty="0">
                <a:latin typeface="Times New Roman" pitchFamily="18" charset="0"/>
                <a:cs typeface="Times New Roman" pitchFamily="18" charset="0"/>
              </a:rPr>
              <a:t>Determine the optimal assignment schedule.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SOLUTION</a:t>
            </a:r>
          </a:p>
        </p:txBody>
      </p:sp>
      <p:sp>
        <p:nvSpPr>
          <p:cNvPr id="3" name="Content Placeholder 2"/>
          <p:cNvSpPr>
            <a:spLocks noGrp="1"/>
          </p:cNvSpPr>
          <p:nvPr>
            <p:ph idx="1"/>
          </p:nvPr>
        </p:nvSpPr>
        <p:spPr>
          <a:xfrm>
            <a:off x="1451579" y="2015732"/>
            <a:ext cx="9603275" cy="708807"/>
          </a:xfrm>
        </p:spPr>
        <p:txBody>
          <a:bodyPr>
            <a:normAutofit/>
          </a:bodyPr>
          <a:lstStyle/>
          <a:p>
            <a:pPr>
              <a:buNone/>
            </a:pPr>
            <a:r>
              <a:rPr lang="en-US" sz="2600" dirty="0">
                <a:latin typeface="Times New Roman" pitchFamily="18" charset="0"/>
                <a:cs typeface="Times New Roman" pitchFamily="18" charset="0"/>
              </a:rPr>
              <a:t>The cost matrix of the given assignment problem is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graphicFrame>
        <p:nvGraphicFramePr>
          <p:cNvPr id="5" name="Table 4"/>
          <p:cNvGraphicFramePr>
            <a:graphicFrameLocks noGrp="1"/>
          </p:cNvGraphicFramePr>
          <p:nvPr/>
        </p:nvGraphicFramePr>
        <p:xfrm>
          <a:off x="2031999" y="2850637"/>
          <a:ext cx="8128002" cy="1935966"/>
        </p:xfrm>
        <a:graphic>
          <a:graphicData uri="http://schemas.openxmlformats.org/drawingml/2006/table">
            <a:tbl>
              <a:tblPr/>
              <a:tblGrid>
                <a:gridCol w="1457650">
                  <a:extLst>
                    <a:ext uri="{9D8B030D-6E8A-4147-A177-3AD203B41FA5}">
                      <a16:colId xmlns:a16="http://schemas.microsoft.com/office/drawing/2014/main" val="20000"/>
                    </a:ext>
                  </a:extLst>
                </a:gridCol>
                <a:gridCol w="1251684">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1</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2</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3</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Job 4</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5</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A</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B</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C</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Person D</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E</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Content Placeholder 2"/>
          <p:cNvSpPr txBox="1">
            <a:spLocks/>
          </p:cNvSpPr>
          <p:nvPr/>
        </p:nvSpPr>
        <p:spPr>
          <a:xfrm>
            <a:off x="1128117" y="5172589"/>
            <a:ext cx="9603275" cy="708807"/>
          </a:xfrm>
          <a:prstGeom prst="rect">
            <a:avLst/>
          </a:prstGeom>
        </p:spPr>
        <p:txBody>
          <a:bodyPr vert="horz" lIns="91440" tIns="45720" rIns="91440" bIns="45720" rtlCol="0" anchor="t">
            <a:noAutofit/>
          </a:bodyPr>
          <a:lstStyle/>
          <a:p>
            <a:pPr marL="228600" marR="0" lvl="0" indent="-228600" algn="just" defTabSz="914400" rtl="0" eaLnBrk="1" fontAlgn="auto" latinLnBrk="0" hangingPunct="1">
              <a:lnSpc>
                <a:spcPct val="120000"/>
              </a:lnSpc>
              <a:spcBef>
                <a:spcPts val="1000"/>
              </a:spcBef>
              <a:spcAft>
                <a:spcPts val="0"/>
              </a:spcAft>
              <a:buClr>
                <a:schemeClr val="accent1"/>
              </a:buClr>
              <a:buSzPct val="100000"/>
              <a:buFont typeface="Arial" panose="020B0604020202020204" pitchFamily="34" charset="0"/>
              <a:buNone/>
              <a:tabLst/>
              <a:defRPr/>
            </a:pPr>
            <a:r>
              <a:rPr kumimoji="0" lang="en-US" sz="2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Since the number of rows is equal to number of columns in the cost matrix, the given assignment problem is balanced.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CONTUNUE….</a:t>
            </a:r>
          </a:p>
        </p:txBody>
      </p:sp>
      <p:sp>
        <p:nvSpPr>
          <p:cNvPr id="3" name="Content Placeholder 2"/>
          <p:cNvSpPr>
            <a:spLocks noGrp="1"/>
          </p:cNvSpPr>
          <p:nvPr>
            <p:ph idx="1"/>
          </p:nvPr>
        </p:nvSpPr>
        <p:spPr>
          <a:xfrm>
            <a:off x="1367604" y="1577194"/>
            <a:ext cx="9603275" cy="1613876"/>
          </a:xfrm>
        </p:spPr>
        <p:txBody>
          <a:bodyPr>
            <a:normAutofit/>
          </a:bodyPr>
          <a:lstStyle/>
          <a:p>
            <a:pPr algn="just">
              <a:buNone/>
            </a:pPr>
            <a:r>
              <a:rPr lang="en-US" sz="2600" dirty="0">
                <a:latin typeface="Times New Roman" pitchFamily="18" charset="0"/>
                <a:cs typeface="Times New Roman" pitchFamily="18" charset="0"/>
              </a:rPr>
              <a:t>Step-1: Select the smallest cost element in each row and subtract this from all elements of the corresponding row, we get the reduced matrix.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graphicFrame>
        <p:nvGraphicFramePr>
          <p:cNvPr id="6" name="Table 5"/>
          <p:cNvGraphicFramePr>
            <a:graphicFrameLocks noGrp="1"/>
          </p:cNvGraphicFramePr>
          <p:nvPr/>
        </p:nvGraphicFramePr>
        <p:xfrm>
          <a:off x="2069321" y="3279845"/>
          <a:ext cx="8128002" cy="1935966"/>
        </p:xfrm>
        <a:graphic>
          <a:graphicData uri="http://schemas.openxmlformats.org/drawingml/2006/table">
            <a:tbl>
              <a:tblPr/>
              <a:tblGrid>
                <a:gridCol w="1457650">
                  <a:extLst>
                    <a:ext uri="{9D8B030D-6E8A-4147-A177-3AD203B41FA5}">
                      <a16:colId xmlns:a16="http://schemas.microsoft.com/office/drawing/2014/main" val="20000"/>
                    </a:ext>
                  </a:extLst>
                </a:gridCol>
                <a:gridCol w="1251684">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1</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2</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3</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Job 4</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5</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A</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B</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C</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Person D</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E</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CONTIUNE….</a:t>
            </a:r>
          </a:p>
        </p:txBody>
      </p:sp>
      <p:sp>
        <p:nvSpPr>
          <p:cNvPr id="3" name="Content Placeholder 2"/>
          <p:cNvSpPr>
            <a:spLocks noGrp="1"/>
          </p:cNvSpPr>
          <p:nvPr>
            <p:ph idx="1"/>
          </p:nvPr>
        </p:nvSpPr>
        <p:spPr>
          <a:xfrm>
            <a:off x="1451579" y="1828800"/>
            <a:ext cx="9603275" cy="1259633"/>
          </a:xfrm>
        </p:spPr>
        <p:txBody>
          <a:bodyPr>
            <a:normAutofit fontScale="92500"/>
          </a:bodyPr>
          <a:lstStyle/>
          <a:p>
            <a:pPr algn="just">
              <a:buNone/>
            </a:pPr>
            <a:r>
              <a:rPr lang="en-US" sz="2600" dirty="0">
                <a:latin typeface="Times New Roman" pitchFamily="18" charset="0"/>
                <a:cs typeface="Times New Roman" pitchFamily="18" charset="0"/>
              </a:rPr>
              <a:t>Step-1: Select the smallest cost element in each column and subtract this from all elements of the corresponding column, we get the reduced matrix. </a:t>
            </a:r>
          </a:p>
          <a:p>
            <a:pPr>
              <a:buNone/>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graphicFrame>
        <p:nvGraphicFramePr>
          <p:cNvPr id="5" name="Table 4"/>
          <p:cNvGraphicFramePr>
            <a:graphicFrameLocks noGrp="1"/>
          </p:cNvGraphicFramePr>
          <p:nvPr/>
        </p:nvGraphicFramePr>
        <p:xfrm>
          <a:off x="2022668" y="2981265"/>
          <a:ext cx="8128002" cy="1935966"/>
        </p:xfrm>
        <a:graphic>
          <a:graphicData uri="http://schemas.openxmlformats.org/drawingml/2006/table">
            <a:tbl>
              <a:tblPr/>
              <a:tblGrid>
                <a:gridCol w="1457650">
                  <a:extLst>
                    <a:ext uri="{9D8B030D-6E8A-4147-A177-3AD203B41FA5}">
                      <a16:colId xmlns:a16="http://schemas.microsoft.com/office/drawing/2014/main" val="20000"/>
                    </a:ext>
                  </a:extLst>
                </a:gridCol>
                <a:gridCol w="1251684">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1</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2</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3</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Job 4</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5</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A</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B</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C</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Person D</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E</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Rectangle 5"/>
          <p:cNvSpPr/>
          <p:nvPr/>
        </p:nvSpPr>
        <p:spPr>
          <a:xfrm>
            <a:off x="1946988" y="5216013"/>
            <a:ext cx="8811208" cy="892552"/>
          </a:xfrm>
          <a:prstGeom prst="rect">
            <a:avLst/>
          </a:prstGeom>
        </p:spPr>
        <p:txBody>
          <a:bodyPr wrap="square">
            <a:spAutoFit/>
          </a:bodyPr>
          <a:lstStyle/>
          <a:p>
            <a:pPr algn="just">
              <a:buNone/>
            </a:pPr>
            <a:r>
              <a:rPr lang="en-US" sz="2600" dirty="0">
                <a:latin typeface="Times New Roman" pitchFamily="18" charset="0"/>
                <a:cs typeface="Times New Roman" pitchFamily="18" charset="0"/>
              </a:rPr>
              <a:t>Since each row and each column contains at least one zero, we shall make assignment in the reduced matrix.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latin typeface="Times New Roman" pitchFamily="18" charset="0"/>
                <a:cs typeface="Times New Roman" pitchFamily="18" charset="0"/>
              </a:rPr>
              <a:t>CONTINUE</a:t>
            </a:r>
            <a:r>
              <a:rPr lang="en-US" b="1" dirty="0"/>
              <a:t>….</a:t>
            </a:r>
          </a:p>
        </p:txBody>
      </p:sp>
      <p:sp>
        <p:nvSpPr>
          <p:cNvPr id="3" name="Content Placeholder 2"/>
          <p:cNvSpPr>
            <a:spLocks noGrp="1"/>
          </p:cNvSpPr>
          <p:nvPr>
            <p:ph idx="1"/>
          </p:nvPr>
        </p:nvSpPr>
        <p:spPr>
          <a:xfrm>
            <a:off x="1404926" y="1577193"/>
            <a:ext cx="9603275" cy="4599672"/>
          </a:xfrm>
        </p:spPr>
        <p:txBody>
          <a:bodyPr>
            <a:normAutofit fontScale="92500"/>
          </a:bodyPr>
          <a:lstStyle/>
          <a:p>
            <a:pPr algn="just">
              <a:buNone/>
            </a:pPr>
            <a:r>
              <a:rPr lang="en-US" sz="2600" dirty="0">
                <a:latin typeface="Times New Roman" pitchFamily="18" charset="0"/>
                <a:cs typeface="Times New Roman" pitchFamily="18" charset="0"/>
              </a:rPr>
              <a:t>Step-3: Examine the rows successively until a row with exactly one unmarked zero is found. Since the 2</a:t>
            </a:r>
            <a:r>
              <a:rPr lang="en-US" sz="2600" baseline="30000" dirty="0">
                <a:latin typeface="Times New Roman" pitchFamily="18" charset="0"/>
                <a:cs typeface="Times New Roman" pitchFamily="18" charset="0"/>
              </a:rPr>
              <a:t>nd</a:t>
            </a:r>
            <a:r>
              <a:rPr lang="en-US" sz="2600" dirty="0">
                <a:latin typeface="Times New Roman" pitchFamily="18" charset="0"/>
                <a:cs typeface="Times New Roman" pitchFamily="18" charset="0"/>
              </a:rPr>
              <a:t> row contains a single zero, encircle this zero and cross all other zeros of its column. The 3</a:t>
            </a:r>
            <a:r>
              <a:rPr lang="en-US" sz="2600" baseline="30000" dirty="0">
                <a:latin typeface="Times New Roman" pitchFamily="18" charset="0"/>
                <a:cs typeface="Times New Roman" pitchFamily="18" charset="0"/>
              </a:rPr>
              <a:t>rd</a:t>
            </a:r>
            <a:r>
              <a:rPr lang="en-US" sz="2600" dirty="0">
                <a:latin typeface="Times New Roman" pitchFamily="18" charset="0"/>
                <a:cs typeface="Times New Roman" pitchFamily="18" charset="0"/>
              </a:rPr>
              <a:t> row contains exactly one unmarked zero, so encircle this zero and cross all other zeros of its column. The 4</a:t>
            </a:r>
            <a:r>
              <a:rPr lang="en-US" sz="2600" baseline="30000" dirty="0">
                <a:latin typeface="Times New Roman" pitchFamily="18" charset="0"/>
                <a:cs typeface="Times New Roman" pitchFamily="18" charset="0"/>
              </a:rPr>
              <a:t>th</a:t>
            </a:r>
            <a:r>
              <a:rPr lang="en-US" sz="2600" dirty="0">
                <a:latin typeface="Times New Roman" pitchFamily="18" charset="0"/>
                <a:cs typeface="Times New Roman" pitchFamily="18" charset="0"/>
              </a:rPr>
              <a:t> row contains exactly one unmarked zero, so encircle this zero and cross all other zeros of its column. The 1</a:t>
            </a:r>
            <a:r>
              <a:rPr lang="en-US" sz="2600" baseline="30000" dirty="0">
                <a:latin typeface="Times New Roman" pitchFamily="18" charset="0"/>
                <a:cs typeface="Times New Roman" pitchFamily="18" charset="0"/>
              </a:rPr>
              <a:t>st</a:t>
            </a:r>
            <a:r>
              <a:rPr lang="en-US" sz="2600" dirty="0">
                <a:latin typeface="Times New Roman" pitchFamily="18" charset="0"/>
                <a:cs typeface="Times New Roman" pitchFamily="18" charset="0"/>
              </a:rPr>
              <a:t> row contains exactly one unmarked zero, so encircle this zero all cross all other zeros in its column. Finally the last row contains exactly one unmarked zero, so encircle this zero and cross all other zeros in its column. Likewise examine the columns successively.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496609"/>
            <a:ext cx="9603275" cy="1049235"/>
          </a:xfrm>
        </p:spPr>
        <p:txBody>
          <a:bodyPr>
            <a:normAutofit/>
          </a:bodyPr>
          <a:lstStyle/>
          <a:p>
            <a:r>
              <a:rPr lang="en-US" sz="2800" b="1" dirty="0">
                <a:latin typeface="Times New Roman" pitchFamily="18" charset="0"/>
                <a:cs typeface="Times New Roman" pitchFamily="18" charset="0"/>
              </a:rPr>
              <a:t>CONTINUE…..</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graphicFrame>
        <p:nvGraphicFramePr>
          <p:cNvPr id="5" name="Table 4"/>
          <p:cNvGraphicFramePr>
            <a:graphicFrameLocks noGrp="1"/>
          </p:cNvGraphicFramePr>
          <p:nvPr/>
        </p:nvGraphicFramePr>
        <p:xfrm>
          <a:off x="1481492" y="2626701"/>
          <a:ext cx="8128002" cy="1935966"/>
        </p:xfrm>
        <a:graphic>
          <a:graphicData uri="http://schemas.openxmlformats.org/drawingml/2006/table">
            <a:tbl>
              <a:tblPr/>
              <a:tblGrid>
                <a:gridCol w="1457650">
                  <a:extLst>
                    <a:ext uri="{9D8B030D-6E8A-4147-A177-3AD203B41FA5}">
                      <a16:colId xmlns:a16="http://schemas.microsoft.com/office/drawing/2014/main" val="20000"/>
                    </a:ext>
                  </a:extLst>
                </a:gridCol>
                <a:gridCol w="1251684">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1</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2</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3</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Job 4</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Job 5</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A</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B</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C</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a:latin typeface="Times New Roman" pitchFamily="18" charset="0"/>
                          <a:ea typeface="Times New Roman"/>
                          <a:cs typeface="Times New Roman" pitchFamily="18" charset="0"/>
                        </a:rPr>
                        <a:t>Person D</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2661">
                <a:tc>
                  <a:txBody>
                    <a:bodyPr/>
                    <a:lstStyle/>
                    <a:p>
                      <a:pPr marL="0" marR="0" algn="ctr">
                        <a:lnSpc>
                          <a:spcPct val="115000"/>
                        </a:lnSpc>
                        <a:spcBef>
                          <a:spcPts val="0"/>
                        </a:spcBef>
                        <a:spcAft>
                          <a:spcPts val="0"/>
                        </a:spcAft>
                      </a:pPr>
                      <a:r>
                        <a:rPr lang="en-US" sz="2000" b="1" dirty="0">
                          <a:latin typeface="Times New Roman" pitchFamily="18" charset="0"/>
                          <a:ea typeface="Times New Roman"/>
                          <a:cs typeface="Times New Roman" pitchFamily="18" charset="0"/>
                        </a:rPr>
                        <a:t>Person E</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Rectangle 5"/>
          <p:cNvSpPr/>
          <p:nvPr/>
        </p:nvSpPr>
        <p:spPr>
          <a:xfrm>
            <a:off x="1452465" y="1594276"/>
            <a:ext cx="9408367" cy="892552"/>
          </a:xfrm>
          <a:prstGeom prst="rect">
            <a:avLst/>
          </a:prstGeom>
        </p:spPr>
        <p:txBody>
          <a:bodyPr wrap="square">
            <a:spAutoFit/>
          </a:bodyPr>
          <a:lstStyle/>
          <a:p>
            <a:r>
              <a:rPr lang="en-US" sz="2600" dirty="0">
                <a:latin typeface="Times New Roman" pitchFamily="18" charset="0"/>
                <a:cs typeface="Times New Roman" pitchFamily="18" charset="0"/>
              </a:rPr>
              <a:t>The assignments in rows and columns in the reduced matrix is given by </a:t>
            </a:r>
            <a:endParaRPr lang="en-US" sz="2600" dirty="0"/>
          </a:p>
        </p:txBody>
      </p:sp>
      <p:cxnSp>
        <p:nvCxnSpPr>
          <p:cNvPr id="8" name="Straight Connector 7"/>
          <p:cNvCxnSpPr/>
          <p:nvPr/>
        </p:nvCxnSpPr>
        <p:spPr>
          <a:xfrm>
            <a:off x="6083559" y="3069771"/>
            <a:ext cx="298580" cy="177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0800000" flipV="1">
            <a:off x="6139545" y="3051112"/>
            <a:ext cx="251925" cy="223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464490" y="4114800"/>
            <a:ext cx="261257" cy="167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789437" y="4441371"/>
            <a:ext cx="354563" cy="23326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flipV="1">
            <a:off x="7492483" y="4133461"/>
            <a:ext cx="233265" cy="177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0800000" flipV="1">
            <a:off x="8798767" y="4432041"/>
            <a:ext cx="326572" cy="25192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latin typeface="Times New Roman" pitchFamily="18" charset="0"/>
                <a:cs typeface="Times New Roman" pitchFamily="18" charset="0"/>
              </a:rPr>
              <a:t>CONTINUE</a:t>
            </a:r>
            <a:r>
              <a:rPr lang="en-US" b="1" dirty="0">
                <a:latin typeface="Times New Roman" pitchFamily="18" charset="0"/>
                <a:cs typeface="Times New Roman" pitchFamily="18" charset="0"/>
              </a:rPr>
              <a:t>…..</a:t>
            </a:r>
            <a:endParaRPr lang="en-US" dirty="0"/>
          </a:p>
        </p:txBody>
      </p:sp>
      <p:sp>
        <p:nvSpPr>
          <p:cNvPr id="3" name="Content Placeholder 2"/>
          <p:cNvSpPr>
            <a:spLocks noGrp="1"/>
          </p:cNvSpPr>
          <p:nvPr>
            <p:ph idx="1"/>
          </p:nvPr>
        </p:nvSpPr>
        <p:spPr>
          <a:xfrm>
            <a:off x="1451579" y="2015732"/>
            <a:ext cx="9603275" cy="3937199"/>
          </a:xfrm>
        </p:spPr>
        <p:txBody>
          <a:bodyPr>
            <a:noAutofit/>
          </a:bodyPr>
          <a:lstStyle/>
          <a:p>
            <a:pPr algn="just">
              <a:buNone/>
            </a:pPr>
            <a:r>
              <a:rPr lang="en-US" sz="2600" dirty="0">
                <a:latin typeface="Times New Roman" pitchFamily="18" charset="0"/>
                <a:cs typeface="Times New Roman" pitchFamily="18" charset="0"/>
              </a:rPr>
              <a:t>Step-4: Since each and each column  contains exactly one assignment (i.e., exactly one encircled zero) the current assignment is optimal. </a:t>
            </a:r>
          </a:p>
          <a:p>
            <a:pPr algn="just">
              <a:buNone/>
            </a:pPr>
            <a:endParaRPr lang="en-US" sz="2600" dirty="0">
              <a:latin typeface="Times New Roman" pitchFamily="18" charset="0"/>
              <a:cs typeface="Times New Roman" pitchFamily="18" charset="0"/>
            </a:endParaRPr>
          </a:p>
          <a:p>
            <a:pPr algn="just">
              <a:buNone/>
            </a:pPr>
            <a:r>
              <a:rPr lang="en-US" sz="2600" dirty="0">
                <a:latin typeface="Times New Roman" pitchFamily="18" charset="0"/>
                <a:cs typeface="Times New Roman" pitchFamily="18" charset="0"/>
              </a:rPr>
              <a:t>The assignment schedule is given by A   5, B   1, C   4, D     3, E   2 </a:t>
            </a:r>
          </a:p>
          <a:p>
            <a:pPr algn="just">
              <a:buNone/>
            </a:pPr>
            <a:endParaRPr lang="en-US" sz="2600" dirty="0">
              <a:latin typeface="Times New Roman" pitchFamily="18" charset="0"/>
              <a:cs typeface="Times New Roman" pitchFamily="18" charset="0"/>
            </a:endParaRPr>
          </a:p>
          <a:p>
            <a:pPr algn="just">
              <a:buNone/>
            </a:pPr>
            <a:r>
              <a:rPr lang="en-US" sz="2600" dirty="0">
                <a:latin typeface="Times New Roman" pitchFamily="18" charset="0"/>
                <a:cs typeface="Times New Roman" pitchFamily="18" charset="0"/>
              </a:rPr>
              <a:t>The optimum (minimum) assignment cost = (1 + 0 + 2 + 1 + 5) cost units = 9 units of cost.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cxnSp>
        <p:nvCxnSpPr>
          <p:cNvPr id="6" name="Straight Arrow Connector 5"/>
          <p:cNvCxnSpPr/>
          <p:nvPr/>
        </p:nvCxnSpPr>
        <p:spPr>
          <a:xfrm flipV="1">
            <a:off x="5439746" y="3582955"/>
            <a:ext cx="167952" cy="93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980923" y="3573624"/>
            <a:ext cx="214604" cy="93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6587413" y="3573625"/>
            <a:ext cx="205273" cy="186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7296539" y="3582955"/>
            <a:ext cx="195943" cy="186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7977673" y="3601616"/>
            <a:ext cx="214605" cy="93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EXAMPLE-2</a:t>
            </a:r>
          </a:p>
        </p:txBody>
      </p:sp>
      <p:sp>
        <p:nvSpPr>
          <p:cNvPr id="3" name="Content Placeholder 2"/>
          <p:cNvSpPr>
            <a:spLocks noGrp="1"/>
          </p:cNvSpPr>
          <p:nvPr>
            <p:ph idx="1"/>
          </p:nvPr>
        </p:nvSpPr>
        <p:spPr>
          <a:xfrm>
            <a:off x="1376934" y="1446246"/>
            <a:ext cx="9603275" cy="1315616"/>
          </a:xfrm>
        </p:spPr>
        <p:txBody>
          <a:bodyPr>
            <a:noAutofit/>
          </a:bodyPr>
          <a:lstStyle/>
          <a:p>
            <a:pPr algn="just">
              <a:buNone/>
            </a:pPr>
            <a:r>
              <a:rPr lang="en-US" sz="2600" dirty="0">
                <a:latin typeface="Times New Roman" pitchFamily="18" charset="0"/>
                <a:cs typeface="Times New Roman" pitchFamily="18" charset="0"/>
              </a:rPr>
              <a:t>Four different jobs can be assign 4 different machines. The set up  and take down time costs are assumed to be prohibitively high for change over. The matrix below gives the cost in rupees of processing job </a:t>
            </a:r>
            <a:r>
              <a:rPr lang="en-US" sz="2600" dirty="0" err="1">
                <a:latin typeface="Times New Roman" pitchFamily="18" charset="0"/>
                <a:cs typeface="Times New Roman" pitchFamily="18" charset="0"/>
              </a:rPr>
              <a:t>i</a:t>
            </a:r>
            <a:r>
              <a:rPr lang="en-US" sz="2600" dirty="0">
                <a:latin typeface="Times New Roman" pitchFamily="18" charset="0"/>
                <a:cs typeface="Times New Roman" pitchFamily="18" charset="0"/>
              </a:rPr>
              <a:t> on machine j.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dirty="0"/>
          </a:p>
        </p:txBody>
      </p:sp>
      <p:graphicFrame>
        <p:nvGraphicFramePr>
          <p:cNvPr id="6" name="Table 5"/>
          <p:cNvGraphicFramePr>
            <a:graphicFrameLocks noGrp="1"/>
          </p:cNvGraphicFramePr>
          <p:nvPr/>
        </p:nvGraphicFramePr>
        <p:xfrm>
          <a:off x="2004006" y="3447794"/>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Content Placeholder 2"/>
          <p:cNvSpPr txBox="1">
            <a:spLocks/>
          </p:cNvSpPr>
          <p:nvPr/>
        </p:nvSpPr>
        <p:spPr>
          <a:xfrm>
            <a:off x="1594648" y="5243805"/>
            <a:ext cx="9603275" cy="363894"/>
          </a:xfrm>
          <a:prstGeom prst="rect">
            <a:avLst/>
          </a:prstGeom>
        </p:spPr>
        <p:txBody>
          <a:bodyPr vert="horz" lIns="91440" tIns="45720" rIns="91440" bIns="45720" rtlCol="0" anchor="t">
            <a:noAutofit/>
          </a:bodyPr>
          <a:lstStyle/>
          <a:p>
            <a:pPr algn="just">
              <a:buNone/>
            </a:pPr>
            <a:r>
              <a:rPr lang="en-US" sz="2600" dirty="0">
                <a:latin typeface="Times New Roman" pitchFamily="18" charset="0"/>
                <a:cs typeface="Times New Roman" pitchFamily="18" charset="0"/>
              </a:rPr>
              <a:t>How should the jobs be assigned to various machines so that the total cost is minimized?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576412"/>
          </a:xfrm>
        </p:spPr>
        <p:txBody>
          <a:bodyPr>
            <a:normAutofit/>
          </a:bodyPr>
          <a:lstStyle/>
          <a:p>
            <a:r>
              <a:rPr lang="en-US" sz="2800" b="1" dirty="0">
                <a:latin typeface="Times New Roman" pitchFamily="18" charset="0"/>
                <a:cs typeface="Times New Roman" pitchFamily="18" charset="0"/>
              </a:rPr>
              <a:t>SOLUTION</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21</a:t>
            </a:fld>
            <a:endParaRPr lang="en-IN"/>
          </a:p>
        </p:txBody>
      </p:sp>
      <p:sp>
        <p:nvSpPr>
          <p:cNvPr id="5" name="Rectangle 4"/>
          <p:cNvSpPr/>
          <p:nvPr/>
        </p:nvSpPr>
        <p:spPr>
          <a:xfrm>
            <a:off x="1597148" y="1574154"/>
            <a:ext cx="7035900" cy="492443"/>
          </a:xfrm>
          <a:prstGeom prst="rect">
            <a:avLst/>
          </a:prstGeom>
        </p:spPr>
        <p:txBody>
          <a:bodyPr wrap="none">
            <a:spAutoFit/>
          </a:bodyPr>
          <a:lstStyle/>
          <a:p>
            <a:pPr>
              <a:buNone/>
            </a:pPr>
            <a:r>
              <a:rPr lang="en-US" sz="2600" dirty="0">
                <a:latin typeface="Times New Roman" pitchFamily="18" charset="0"/>
                <a:cs typeface="Times New Roman" pitchFamily="18" charset="0"/>
              </a:rPr>
              <a:t>The cost matrix of the given assignment problem is</a:t>
            </a:r>
          </a:p>
        </p:txBody>
      </p:sp>
      <p:graphicFrame>
        <p:nvGraphicFramePr>
          <p:cNvPr id="6" name="Table 5"/>
          <p:cNvGraphicFramePr>
            <a:graphicFrameLocks noGrp="1"/>
          </p:cNvGraphicFramePr>
          <p:nvPr/>
        </p:nvGraphicFramePr>
        <p:xfrm>
          <a:off x="1948022" y="2216153"/>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Content Placeholder 2"/>
          <p:cNvSpPr txBox="1">
            <a:spLocks/>
          </p:cNvSpPr>
          <p:nvPr/>
        </p:nvSpPr>
        <p:spPr>
          <a:xfrm>
            <a:off x="1547994" y="4276851"/>
            <a:ext cx="9603275" cy="708807"/>
          </a:xfrm>
          <a:prstGeom prst="rect">
            <a:avLst/>
          </a:prstGeom>
        </p:spPr>
        <p:txBody>
          <a:bodyPr vert="horz" lIns="91440" tIns="45720" rIns="91440" bIns="45720" rtlCol="0" anchor="t">
            <a:noAutofit/>
          </a:bodyPr>
          <a:lstStyle/>
          <a:p>
            <a:pPr marL="228600" marR="0" lvl="0" indent="-228600" algn="just" defTabSz="914400" rtl="0" eaLnBrk="1" fontAlgn="auto" latinLnBrk="0" hangingPunct="1">
              <a:lnSpc>
                <a:spcPct val="120000"/>
              </a:lnSpc>
              <a:spcBef>
                <a:spcPts val="1000"/>
              </a:spcBef>
              <a:spcAft>
                <a:spcPts val="0"/>
              </a:spcAft>
              <a:buClr>
                <a:schemeClr val="accent1"/>
              </a:buClr>
              <a:buSzPct val="100000"/>
              <a:buFont typeface="Arial" panose="020B0604020202020204" pitchFamily="34" charset="0"/>
              <a:buNone/>
              <a:tabLst/>
              <a:defRPr/>
            </a:pPr>
            <a:r>
              <a:rPr kumimoji="0" lang="en-US" sz="2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Since the number of rows is equal to number of columns in the cost matrix, the given assignment problem is balanced.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529759"/>
          </a:xfrm>
        </p:spPr>
        <p:txBody>
          <a:bodyPr>
            <a:normAutofit/>
          </a:bodyPr>
          <a:lstStyle/>
          <a:p>
            <a:r>
              <a:rPr lang="en-US" sz="2800" b="1" dirty="0">
                <a:latin typeface="Times New Roman" pitchFamily="18" charset="0"/>
                <a:cs typeface="Times New Roman" pitchFamily="18" charset="0"/>
              </a:rPr>
              <a:t>CONTUNE….</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22</a:t>
            </a:fld>
            <a:endParaRPr lang="en-IN"/>
          </a:p>
        </p:txBody>
      </p:sp>
      <p:sp>
        <p:nvSpPr>
          <p:cNvPr id="5" name="Rectangle 4"/>
          <p:cNvSpPr/>
          <p:nvPr/>
        </p:nvSpPr>
        <p:spPr>
          <a:xfrm>
            <a:off x="1452465" y="1549082"/>
            <a:ext cx="9566988" cy="892552"/>
          </a:xfrm>
          <a:prstGeom prst="rect">
            <a:avLst/>
          </a:prstGeom>
        </p:spPr>
        <p:txBody>
          <a:bodyPr wrap="square">
            <a:spAutoFit/>
          </a:bodyPr>
          <a:lstStyle/>
          <a:p>
            <a:pPr algn="just">
              <a:buNone/>
            </a:pPr>
            <a:r>
              <a:rPr lang="en-US" sz="2600" dirty="0">
                <a:latin typeface="Times New Roman" pitchFamily="18" charset="0"/>
                <a:cs typeface="Times New Roman" pitchFamily="18" charset="0"/>
              </a:rPr>
              <a:t>Step-1: Select the smallest cost element in each row and subtract this from all elements of the corresponding row, we get the reduced matrix. </a:t>
            </a:r>
          </a:p>
        </p:txBody>
      </p:sp>
      <p:graphicFrame>
        <p:nvGraphicFramePr>
          <p:cNvPr id="6" name="Table 5"/>
          <p:cNvGraphicFramePr>
            <a:graphicFrameLocks noGrp="1"/>
          </p:cNvGraphicFramePr>
          <p:nvPr/>
        </p:nvGraphicFramePr>
        <p:xfrm>
          <a:off x="2143965" y="2887957"/>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2248" y="1634944"/>
            <a:ext cx="9603275" cy="1049235"/>
          </a:xfrm>
        </p:spPr>
        <p:txBody>
          <a:bodyPr>
            <a:noAutofit/>
          </a:bodyPr>
          <a:lstStyle/>
          <a:p>
            <a:pPr algn="just"/>
            <a:r>
              <a:rPr lang="en-US" sz="2600" cap="none" dirty="0">
                <a:latin typeface="Times New Roman" pitchFamily="18" charset="0"/>
                <a:cs typeface="Times New Roman" pitchFamily="18" charset="0"/>
              </a:rPr>
              <a:t>Step-1: select the smallest cost element in each column and subtract this from all elements of the corresponding column, we get the reduced matrix.</a:t>
            </a:r>
            <a:endParaRPr lang="en-US" sz="2600" cap="none"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23</a:t>
            </a:fld>
            <a:endParaRPr lang="en-IN"/>
          </a:p>
        </p:txBody>
      </p:sp>
      <p:sp>
        <p:nvSpPr>
          <p:cNvPr id="5" name="Title 1"/>
          <p:cNvSpPr txBox="1">
            <a:spLocks/>
          </p:cNvSpPr>
          <p:nvPr/>
        </p:nvSpPr>
        <p:spPr>
          <a:xfrm>
            <a:off x="1451579" y="804520"/>
            <a:ext cx="9603275" cy="576412"/>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all" spc="0" normalizeH="0" baseline="0" noProof="0">
                <a:ln>
                  <a:noFill/>
                </a:ln>
                <a:solidFill>
                  <a:schemeClr val="tx1"/>
                </a:solidFill>
                <a:effectLst/>
                <a:uLnTx/>
                <a:uFillTx/>
                <a:latin typeface="Times New Roman" pitchFamily="18" charset="0"/>
                <a:ea typeface="+mj-ea"/>
                <a:cs typeface="Times New Roman" pitchFamily="18" charset="0"/>
              </a:rPr>
              <a:t>SOLUTION…</a:t>
            </a:r>
            <a:endParaRPr kumimoji="0" lang="en-US" sz="2800" b="1" i="0" u="none" strike="noStrike" kern="1200" cap="all" spc="0" normalizeH="0" baseline="0" noProof="0" dirty="0">
              <a:ln>
                <a:noFill/>
              </a:ln>
              <a:solidFill>
                <a:schemeClr val="tx1"/>
              </a:solidFill>
              <a:effectLst/>
              <a:uLnTx/>
              <a:uFillTx/>
              <a:latin typeface="Times New Roman" pitchFamily="18" charset="0"/>
              <a:ea typeface="+mj-ea"/>
              <a:cs typeface="Times New Roman" pitchFamily="18" charset="0"/>
            </a:endParaRPr>
          </a:p>
        </p:txBody>
      </p:sp>
      <p:graphicFrame>
        <p:nvGraphicFramePr>
          <p:cNvPr id="6" name="Table 5"/>
          <p:cNvGraphicFramePr>
            <a:graphicFrameLocks noGrp="1"/>
          </p:cNvGraphicFramePr>
          <p:nvPr/>
        </p:nvGraphicFramePr>
        <p:xfrm>
          <a:off x="2143965" y="2887957"/>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Rectangle 6"/>
          <p:cNvSpPr/>
          <p:nvPr/>
        </p:nvSpPr>
        <p:spPr>
          <a:xfrm>
            <a:off x="1685730" y="4758813"/>
            <a:ext cx="9221756" cy="892552"/>
          </a:xfrm>
          <a:prstGeom prst="rect">
            <a:avLst/>
          </a:prstGeom>
        </p:spPr>
        <p:txBody>
          <a:bodyPr wrap="square">
            <a:spAutoFit/>
          </a:bodyPr>
          <a:lstStyle/>
          <a:p>
            <a:pPr algn="just"/>
            <a:r>
              <a:rPr lang="en-US" sz="2600" dirty="0">
                <a:latin typeface="Times New Roman" pitchFamily="18" charset="0"/>
                <a:cs typeface="Times New Roman" pitchFamily="18" charset="0"/>
              </a:rPr>
              <a:t>Since each row and each column contains at least one zero, we shall make the assignment in rows and columns of this reduced matrix.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5555" y="673891"/>
            <a:ext cx="9603275" cy="660387"/>
          </a:xfrm>
        </p:spPr>
        <p:txBody>
          <a:bodyPr/>
          <a:lstStyle/>
          <a:p>
            <a:r>
              <a:rPr lang="en-US" b="1" dirty="0">
                <a:latin typeface="Times New Roman" pitchFamily="18" charset="0"/>
                <a:cs typeface="Times New Roman" pitchFamily="18" charset="0"/>
              </a:rPr>
              <a:t>CONTUNE….</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24</a:t>
            </a:fld>
            <a:endParaRPr lang="en-IN"/>
          </a:p>
        </p:txBody>
      </p:sp>
      <p:sp>
        <p:nvSpPr>
          <p:cNvPr id="5" name="Rectangle 4"/>
          <p:cNvSpPr/>
          <p:nvPr/>
        </p:nvSpPr>
        <p:spPr>
          <a:xfrm>
            <a:off x="1387150" y="1511760"/>
            <a:ext cx="9762931" cy="2492990"/>
          </a:xfrm>
          <a:prstGeom prst="rect">
            <a:avLst/>
          </a:prstGeom>
        </p:spPr>
        <p:txBody>
          <a:bodyPr wrap="square">
            <a:spAutoFit/>
          </a:bodyPr>
          <a:lstStyle/>
          <a:p>
            <a:pPr algn="just"/>
            <a:r>
              <a:rPr lang="en-US" sz="2600" dirty="0">
                <a:latin typeface="Times New Roman" pitchFamily="18" charset="0"/>
                <a:cs typeface="Times New Roman" pitchFamily="18" charset="0"/>
              </a:rPr>
              <a:t>Examine the rows successively until a row with exactly one unmarked zero is found. The first row contains exactly one unmarked zero, encircle this zero and cross other zeros of its column. The fourth row contains exactly one unmarked zero, encircle this zero and cross other zeros of its column. The second row contains exactly one unmarked zero, encircle this zero and cross other zeros of its row. We get  </a:t>
            </a:r>
          </a:p>
        </p:txBody>
      </p:sp>
      <p:graphicFrame>
        <p:nvGraphicFramePr>
          <p:cNvPr id="6" name="Table 5"/>
          <p:cNvGraphicFramePr>
            <a:graphicFrameLocks noGrp="1"/>
          </p:cNvGraphicFramePr>
          <p:nvPr/>
        </p:nvGraphicFramePr>
        <p:xfrm>
          <a:off x="2470536" y="3998300"/>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8" name="Straight Connector 7"/>
          <p:cNvCxnSpPr/>
          <p:nvPr/>
        </p:nvCxnSpPr>
        <p:spPr>
          <a:xfrm>
            <a:off x="7520473" y="4777273"/>
            <a:ext cx="382556" cy="177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478694" y="5187820"/>
            <a:ext cx="457200" cy="1959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flipV="1">
            <a:off x="4460034" y="5150498"/>
            <a:ext cx="419877" cy="1586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flipV="1">
            <a:off x="7567128" y="4777273"/>
            <a:ext cx="298579" cy="17728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520428"/>
          </a:xfrm>
        </p:spPr>
        <p:txBody>
          <a:bodyPr>
            <a:normAutofit fontScale="90000"/>
          </a:bodyPr>
          <a:lstStyle/>
          <a:p>
            <a:r>
              <a:rPr lang="en-US" b="1" dirty="0">
                <a:latin typeface="Times New Roman" pitchFamily="18" charset="0"/>
                <a:cs typeface="Times New Roman" pitchFamily="18" charset="0"/>
              </a:rPr>
              <a:t>CONTUNE….</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25</a:t>
            </a:fld>
            <a:endParaRPr lang="en-IN"/>
          </a:p>
        </p:txBody>
      </p:sp>
      <p:sp>
        <p:nvSpPr>
          <p:cNvPr id="5" name="Rectangle 4"/>
          <p:cNvSpPr/>
          <p:nvPr/>
        </p:nvSpPr>
        <p:spPr>
          <a:xfrm>
            <a:off x="1471127" y="1446446"/>
            <a:ext cx="9221756" cy="1292662"/>
          </a:xfrm>
          <a:prstGeom prst="rect">
            <a:avLst/>
          </a:prstGeom>
        </p:spPr>
        <p:txBody>
          <a:bodyPr wrap="square">
            <a:spAutoFit/>
          </a:bodyPr>
          <a:lstStyle/>
          <a:p>
            <a:pPr algn="just"/>
            <a:r>
              <a:rPr lang="en-US" sz="2600" dirty="0">
                <a:latin typeface="Times New Roman" pitchFamily="18" charset="0"/>
                <a:cs typeface="Times New Roman" pitchFamily="18" charset="0"/>
              </a:rPr>
              <a:t>Since there are some rows and columns without assignment, the current solution is not optimal.  Cover all zeros drawing by a minimum number of straight lines. We get </a:t>
            </a:r>
          </a:p>
        </p:txBody>
      </p:sp>
      <p:graphicFrame>
        <p:nvGraphicFramePr>
          <p:cNvPr id="6" name="Table 5"/>
          <p:cNvGraphicFramePr>
            <a:graphicFrameLocks noGrp="1"/>
          </p:cNvGraphicFramePr>
          <p:nvPr/>
        </p:nvGraphicFramePr>
        <p:xfrm>
          <a:off x="2162625" y="2775989"/>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8" name="Straight Connector 7"/>
          <p:cNvCxnSpPr/>
          <p:nvPr/>
        </p:nvCxnSpPr>
        <p:spPr>
          <a:xfrm rot="16200000" flipH="1">
            <a:off x="3368352" y="3620279"/>
            <a:ext cx="1884784" cy="111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903445" y="3610947"/>
            <a:ext cx="8033657" cy="746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1968759" y="4245429"/>
            <a:ext cx="7819053" cy="102637"/>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1315617" y="4649956"/>
            <a:ext cx="9221756" cy="1446550"/>
          </a:xfrm>
          <a:prstGeom prst="rect">
            <a:avLst/>
          </a:prstGeom>
        </p:spPr>
        <p:txBody>
          <a:bodyPr wrap="square">
            <a:spAutoFit/>
          </a:bodyPr>
          <a:lstStyle/>
          <a:p>
            <a:pPr algn="just"/>
            <a:r>
              <a:rPr lang="en-US" sz="2200" dirty="0">
                <a:latin typeface="Times New Roman" pitchFamily="18" charset="0"/>
                <a:cs typeface="Times New Roman" pitchFamily="18" charset="0"/>
              </a:rPr>
              <a:t>Here 1 is the smallest cost element not covered by these straight lines. Add this to those elements which lie in the intersection of these straight lines, subtract this 1 from all uncovered elements and do not change the remaining elements which lie on the straight line, we get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26</a:t>
            </a:fld>
            <a:endParaRPr lang="en-IN"/>
          </a:p>
        </p:txBody>
      </p:sp>
      <p:graphicFrame>
        <p:nvGraphicFramePr>
          <p:cNvPr id="5" name="Table 4"/>
          <p:cNvGraphicFramePr>
            <a:graphicFrameLocks noGrp="1"/>
          </p:cNvGraphicFramePr>
          <p:nvPr/>
        </p:nvGraphicFramePr>
        <p:xfrm>
          <a:off x="2255933" y="1618994"/>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Rectangle 5"/>
          <p:cNvSpPr/>
          <p:nvPr/>
        </p:nvSpPr>
        <p:spPr>
          <a:xfrm>
            <a:off x="1256522" y="3499181"/>
            <a:ext cx="10052179" cy="892552"/>
          </a:xfrm>
          <a:prstGeom prst="rect">
            <a:avLst/>
          </a:prstGeom>
        </p:spPr>
        <p:txBody>
          <a:bodyPr wrap="square">
            <a:spAutoFit/>
          </a:bodyPr>
          <a:lstStyle/>
          <a:p>
            <a:pPr algn="just"/>
            <a:r>
              <a:rPr lang="en-US" sz="2600" dirty="0">
                <a:latin typeface="Times New Roman" pitchFamily="18" charset="0"/>
                <a:cs typeface="Times New Roman" pitchFamily="18" charset="0"/>
              </a:rPr>
              <a:t>Since each row and column contains at least one zero, we shall mark assignment in the rows and columns of this reduced matrix. We get </a:t>
            </a:r>
          </a:p>
        </p:txBody>
      </p:sp>
      <p:graphicFrame>
        <p:nvGraphicFramePr>
          <p:cNvPr id="7" name="Table 6"/>
          <p:cNvGraphicFramePr>
            <a:graphicFrameLocks noGrp="1"/>
          </p:cNvGraphicFramePr>
          <p:nvPr/>
        </p:nvGraphicFramePr>
        <p:xfrm>
          <a:off x="2137745" y="4355974"/>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9" name="Straight Connector 8"/>
          <p:cNvCxnSpPr/>
          <p:nvPr/>
        </p:nvCxnSpPr>
        <p:spPr>
          <a:xfrm>
            <a:off x="4198776" y="4786604"/>
            <a:ext cx="261257" cy="2239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175241" y="5113176"/>
            <a:ext cx="326571" cy="2146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705461" y="4758612"/>
            <a:ext cx="298580" cy="261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flipV="1">
            <a:off x="4189445" y="4805264"/>
            <a:ext cx="270588" cy="102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flipV="1">
            <a:off x="7212564" y="5103844"/>
            <a:ext cx="261257" cy="2239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0800000" flipV="1">
            <a:off x="8686801" y="4767943"/>
            <a:ext cx="317241" cy="15862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792666" y="727787"/>
            <a:ext cx="9180134" cy="492443"/>
          </a:xfrm>
          <a:prstGeom prst="rect">
            <a:avLst/>
          </a:prstGeom>
        </p:spPr>
        <p:txBody>
          <a:bodyPr wrap="square">
            <a:spAutoFit/>
          </a:bodyPr>
          <a:lstStyle/>
          <a:p>
            <a:r>
              <a:rPr lang="en-US" sz="2600" b="1" dirty="0">
                <a:latin typeface="Times New Roman" pitchFamily="18" charset="0"/>
                <a:cs typeface="Times New Roman" pitchFamily="18" charset="0"/>
              </a:rPr>
              <a:t>CONTUNE….</a:t>
            </a:r>
            <a:endParaRPr 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27</a:t>
            </a:fld>
            <a:endParaRPr lang="en-IN"/>
          </a:p>
        </p:txBody>
      </p:sp>
      <p:sp>
        <p:nvSpPr>
          <p:cNvPr id="5" name="Rectangle 4"/>
          <p:cNvSpPr/>
          <p:nvPr/>
        </p:nvSpPr>
        <p:spPr>
          <a:xfrm>
            <a:off x="1209869" y="1521091"/>
            <a:ext cx="10052179" cy="1292662"/>
          </a:xfrm>
          <a:prstGeom prst="rect">
            <a:avLst/>
          </a:prstGeom>
        </p:spPr>
        <p:txBody>
          <a:bodyPr wrap="square">
            <a:spAutoFit/>
          </a:bodyPr>
          <a:lstStyle/>
          <a:p>
            <a:pPr algn="just"/>
            <a:r>
              <a:rPr lang="en-US" sz="2600" dirty="0">
                <a:latin typeface="Times New Roman" pitchFamily="18" charset="0"/>
                <a:cs typeface="Times New Roman" pitchFamily="18" charset="0"/>
              </a:rPr>
              <a:t>Since there are some rows and columns without assignment, the current assignment is not optimal. Cover all the zeros by drawing a minimum number of straight lines. We get </a:t>
            </a:r>
          </a:p>
        </p:txBody>
      </p:sp>
      <p:graphicFrame>
        <p:nvGraphicFramePr>
          <p:cNvPr id="6" name="Table 5"/>
          <p:cNvGraphicFramePr>
            <a:graphicFrameLocks noGrp="1"/>
          </p:cNvGraphicFramePr>
          <p:nvPr/>
        </p:nvGraphicFramePr>
        <p:xfrm>
          <a:off x="1817394" y="2915949"/>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8" name="Straight Connector 7"/>
          <p:cNvCxnSpPr/>
          <p:nvPr/>
        </p:nvCxnSpPr>
        <p:spPr>
          <a:xfrm rot="16200000" flipH="1">
            <a:off x="2971800" y="3820885"/>
            <a:ext cx="2062065" cy="186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679510" y="3788229"/>
            <a:ext cx="7781731" cy="27991"/>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961053" y="4752593"/>
            <a:ext cx="10052179" cy="1508105"/>
          </a:xfrm>
          <a:prstGeom prst="rect">
            <a:avLst/>
          </a:prstGeom>
        </p:spPr>
        <p:txBody>
          <a:bodyPr wrap="square">
            <a:spAutoFit/>
          </a:bodyPr>
          <a:lstStyle/>
          <a:p>
            <a:pPr algn="just"/>
            <a:r>
              <a:rPr lang="en-US" sz="2300" dirty="0">
                <a:latin typeface="Times New Roman" pitchFamily="18" charset="0"/>
                <a:cs typeface="Times New Roman" pitchFamily="18" charset="0"/>
              </a:rPr>
              <a:t>Here 1 is the smallest cost element not covered by these straight lines. Subtract this 1 from all uncovered elements and add 1 to those elements which lie in the intersection of these straight lines and do not change the remaining elements which lie on the straight line.  We get </a:t>
            </a:r>
          </a:p>
        </p:txBody>
      </p:sp>
      <p:sp>
        <p:nvSpPr>
          <p:cNvPr id="9" name="Rectangle 8"/>
          <p:cNvSpPr/>
          <p:nvPr/>
        </p:nvSpPr>
        <p:spPr>
          <a:xfrm>
            <a:off x="1792666" y="727787"/>
            <a:ext cx="9180134" cy="492443"/>
          </a:xfrm>
          <a:prstGeom prst="rect">
            <a:avLst/>
          </a:prstGeom>
        </p:spPr>
        <p:txBody>
          <a:bodyPr wrap="square">
            <a:spAutoFit/>
          </a:bodyPr>
          <a:lstStyle/>
          <a:p>
            <a:r>
              <a:rPr lang="en-US" sz="2600" b="1" dirty="0">
                <a:latin typeface="Times New Roman" pitchFamily="18" charset="0"/>
                <a:cs typeface="Times New Roman" pitchFamily="18" charset="0"/>
              </a:rPr>
              <a:t>CONTUNE….</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28</a:t>
            </a:fld>
            <a:endParaRPr lang="en-IN"/>
          </a:p>
        </p:txBody>
      </p:sp>
      <p:graphicFrame>
        <p:nvGraphicFramePr>
          <p:cNvPr id="5" name="Table 4"/>
          <p:cNvGraphicFramePr>
            <a:graphicFrameLocks noGrp="1"/>
          </p:cNvGraphicFramePr>
          <p:nvPr/>
        </p:nvGraphicFramePr>
        <p:xfrm>
          <a:off x="2255933" y="1618994"/>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Rectangle 5"/>
          <p:cNvSpPr/>
          <p:nvPr/>
        </p:nvSpPr>
        <p:spPr>
          <a:xfrm>
            <a:off x="1443133" y="3620278"/>
            <a:ext cx="9483013" cy="1292662"/>
          </a:xfrm>
          <a:prstGeom prst="rect">
            <a:avLst/>
          </a:prstGeom>
        </p:spPr>
        <p:txBody>
          <a:bodyPr wrap="square">
            <a:spAutoFit/>
          </a:bodyPr>
          <a:lstStyle/>
          <a:p>
            <a:pPr algn="just"/>
            <a:r>
              <a:rPr lang="en-US" sz="2600" dirty="0">
                <a:latin typeface="Times New Roman" pitchFamily="18" charset="0"/>
                <a:cs typeface="Times New Roman" pitchFamily="18" charset="0"/>
              </a:rPr>
              <a:t>Since each row and each column contains at least one zero, we shall make the assignment in rows and columns of this reduced matrix.  We get</a:t>
            </a:r>
          </a:p>
        </p:txBody>
      </p:sp>
      <p:sp>
        <p:nvSpPr>
          <p:cNvPr id="7" name="Rectangle 6"/>
          <p:cNvSpPr/>
          <p:nvPr/>
        </p:nvSpPr>
        <p:spPr>
          <a:xfrm>
            <a:off x="1792666" y="727787"/>
            <a:ext cx="9180134" cy="492443"/>
          </a:xfrm>
          <a:prstGeom prst="rect">
            <a:avLst/>
          </a:prstGeom>
        </p:spPr>
        <p:txBody>
          <a:bodyPr wrap="square">
            <a:spAutoFit/>
          </a:bodyPr>
          <a:lstStyle/>
          <a:p>
            <a:r>
              <a:rPr lang="en-US" sz="2600" b="1" dirty="0">
                <a:latin typeface="Times New Roman" pitchFamily="18" charset="0"/>
                <a:cs typeface="Times New Roman" pitchFamily="18" charset="0"/>
              </a:rPr>
              <a:t>CONTUNE….</a:t>
            </a:r>
            <a:endParaRPr lang="en-US" sz="2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29</a:t>
            </a:fld>
            <a:endParaRPr lang="en-IN"/>
          </a:p>
        </p:txBody>
      </p:sp>
      <p:graphicFrame>
        <p:nvGraphicFramePr>
          <p:cNvPr id="5" name="Table 4"/>
          <p:cNvGraphicFramePr>
            <a:graphicFrameLocks noGrp="1"/>
          </p:cNvGraphicFramePr>
          <p:nvPr/>
        </p:nvGraphicFramePr>
        <p:xfrm>
          <a:off x="2255933" y="1618994"/>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7" name="Straight Connector 6"/>
          <p:cNvCxnSpPr/>
          <p:nvPr/>
        </p:nvCxnSpPr>
        <p:spPr>
          <a:xfrm>
            <a:off x="4329404" y="2752531"/>
            <a:ext cx="307910" cy="20527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803641" y="2090057"/>
            <a:ext cx="335902" cy="1586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878286" y="3097763"/>
            <a:ext cx="279918" cy="1959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315200" y="2080727"/>
            <a:ext cx="335902" cy="195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352522" y="2407298"/>
            <a:ext cx="307911" cy="1959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315200" y="3116424"/>
            <a:ext cx="354563" cy="186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8808098" y="2024743"/>
            <a:ext cx="317241" cy="2052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0800000" flipV="1">
            <a:off x="4338735" y="2771191"/>
            <a:ext cx="279918" cy="167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0800000" flipV="1">
            <a:off x="5803642" y="2108718"/>
            <a:ext cx="317241" cy="93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0800000" flipV="1">
            <a:off x="5822303" y="3107093"/>
            <a:ext cx="354563" cy="1399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0800000" flipV="1">
            <a:off x="7324532" y="2052735"/>
            <a:ext cx="354563" cy="130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0800000" flipV="1">
            <a:off x="7268548" y="2435289"/>
            <a:ext cx="466531" cy="102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0800000" flipV="1">
            <a:off x="7296539" y="3097762"/>
            <a:ext cx="345232" cy="1586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0800000" flipV="1">
            <a:off x="8770776" y="2052735"/>
            <a:ext cx="401216" cy="158620"/>
          </a:xfrm>
          <a:prstGeom prst="line">
            <a:avLst/>
          </a:prstGeom>
        </p:spPr>
        <p:style>
          <a:lnRef idx="1">
            <a:schemeClr val="accent1"/>
          </a:lnRef>
          <a:fillRef idx="0">
            <a:schemeClr val="accent1"/>
          </a:fillRef>
          <a:effectRef idx="0">
            <a:schemeClr val="accent1"/>
          </a:effectRef>
          <a:fontRef idx="minor">
            <a:schemeClr val="tx1"/>
          </a:fontRef>
        </p:style>
      </p:cxnSp>
      <p:sp>
        <p:nvSpPr>
          <p:cNvPr id="34" name="Content Placeholder 2"/>
          <p:cNvSpPr>
            <a:spLocks noGrp="1"/>
          </p:cNvSpPr>
          <p:nvPr>
            <p:ph idx="1"/>
          </p:nvPr>
        </p:nvSpPr>
        <p:spPr>
          <a:xfrm>
            <a:off x="1180991" y="3443316"/>
            <a:ext cx="10081058" cy="2668235"/>
          </a:xfrm>
        </p:spPr>
        <p:txBody>
          <a:bodyPr>
            <a:noAutofit/>
          </a:bodyPr>
          <a:lstStyle/>
          <a:p>
            <a:pPr algn="just">
              <a:buNone/>
            </a:pPr>
            <a:r>
              <a:rPr lang="en-US" sz="2600" dirty="0">
                <a:latin typeface="Times New Roman" pitchFamily="18" charset="0"/>
                <a:cs typeface="Times New Roman" pitchFamily="18" charset="0"/>
              </a:rPr>
              <a:t>Since each and each column  contains exactly one assignment (i.e., exactly one encircled zero) the current assignment is optimal. </a:t>
            </a:r>
          </a:p>
          <a:p>
            <a:pPr algn="just">
              <a:buNone/>
            </a:pPr>
            <a:r>
              <a:rPr lang="en-US" sz="2600" dirty="0">
                <a:latin typeface="Times New Roman" pitchFamily="18" charset="0"/>
                <a:cs typeface="Times New Roman" pitchFamily="18" charset="0"/>
              </a:rPr>
              <a:t>The assignment schedule is given by J1    M1, J2    M2, J3    M3, J4    M4</a:t>
            </a:r>
          </a:p>
          <a:p>
            <a:pPr algn="just">
              <a:buNone/>
            </a:pPr>
            <a:r>
              <a:rPr lang="en-US" sz="2600" dirty="0">
                <a:latin typeface="Times New Roman" pitchFamily="18" charset="0"/>
                <a:cs typeface="Times New Roman" pitchFamily="18" charset="0"/>
              </a:rPr>
              <a:t>The optimum (minimum) assignment cost = (5 + 5 + 10 + 3) cost units = Rs. 23. </a:t>
            </a:r>
          </a:p>
        </p:txBody>
      </p:sp>
      <p:cxnSp>
        <p:nvCxnSpPr>
          <p:cNvPr id="36" name="Straight Arrow Connector 35"/>
          <p:cNvCxnSpPr/>
          <p:nvPr/>
        </p:nvCxnSpPr>
        <p:spPr>
          <a:xfrm flipV="1">
            <a:off x="6447453" y="4777273"/>
            <a:ext cx="242596" cy="93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7735078" y="4805265"/>
            <a:ext cx="307910" cy="93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9041363" y="4795935"/>
            <a:ext cx="270588" cy="186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0226351" y="4814596"/>
            <a:ext cx="363894" cy="93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1792666" y="727787"/>
            <a:ext cx="9180134" cy="492443"/>
          </a:xfrm>
          <a:prstGeom prst="rect">
            <a:avLst/>
          </a:prstGeom>
        </p:spPr>
        <p:txBody>
          <a:bodyPr wrap="square">
            <a:spAutoFit/>
          </a:bodyPr>
          <a:lstStyle/>
          <a:p>
            <a:r>
              <a:rPr lang="en-US" sz="2600" b="1" dirty="0">
                <a:latin typeface="Times New Roman" pitchFamily="18" charset="0"/>
                <a:cs typeface="Times New Roman" pitchFamily="18" charset="0"/>
              </a:rPr>
              <a:t>CONTUNE….</a:t>
            </a:r>
            <a:endParaRPr lang="en-US" sz="2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595073"/>
          </a:xfrm>
        </p:spPr>
        <p:txBody>
          <a:bodyPr>
            <a:normAutofit/>
          </a:bodyPr>
          <a:lstStyle/>
          <a:p>
            <a:r>
              <a:rPr lang="en-US" sz="2800" b="1" dirty="0">
                <a:latin typeface="Times New Roman" pitchFamily="18" charset="0"/>
                <a:cs typeface="Times New Roman" pitchFamily="18" charset="0"/>
              </a:rPr>
              <a:t>UNBALANCED PROBLEMS</a:t>
            </a:r>
          </a:p>
        </p:txBody>
      </p:sp>
      <p:sp>
        <p:nvSpPr>
          <p:cNvPr id="3" name="Content Placeholder 2"/>
          <p:cNvSpPr>
            <a:spLocks noGrp="1"/>
          </p:cNvSpPr>
          <p:nvPr>
            <p:ph idx="1"/>
          </p:nvPr>
        </p:nvSpPr>
        <p:spPr>
          <a:xfrm>
            <a:off x="1404926" y="1567863"/>
            <a:ext cx="9603275" cy="1520570"/>
          </a:xfrm>
        </p:spPr>
        <p:txBody>
          <a:bodyPr>
            <a:noAutofit/>
          </a:bodyPr>
          <a:lstStyle/>
          <a:p>
            <a:pPr algn="just">
              <a:buNone/>
            </a:pPr>
            <a:r>
              <a:rPr lang="en-US" sz="2600" dirty="0">
                <a:latin typeface="Times New Roman" pitchFamily="18" charset="0"/>
                <a:cs typeface="Times New Roman" pitchFamily="18" charset="0"/>
              </a:rPr>
              <a:t>Problem-1: A company has four machines to do there jobs. Each job can be assigned to one and only machine. The cost of each job on each machine is given in the following table.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30</a:t>
            </a:fld>
            <a:endParaRPr lang="en-IN"/>
          </a:p>
        </p:txBody>
      </p:sp>
      <p:graphicFrame>
        <p:nvGraphicFramePr>
          <p:cNvPr id="5" name="Table 4"/>
          <p:cNvGraphicFramePr>
            <a:graphicFrameLocks noGrp="1"/>
          </p:cNvGraphicFramePr>
          <p:nvPr/>
        </p:nvGraphicFramePr>
        <p:xfrm>
          <a:off x="2153296" y="3158545"/>
          <a:ext cx="7473642" cy="1290644"/>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Rectangle 5"/>
          <p:cNvSpPr/>
          <p:nvPr/>
        </p:nvSpPr>
        <p:spPr>
          <a:xfrm>
            <a:off x="1573762" y="4693499"/>
            <a:ext cx="9576319" cy="492443"/>
          </a:xfrm>
          <a:prstGeom prst="rect">
            <a:avLst/>
          </a:prstGeom>
        </p:spPr>
        <p:txBody>
          <a:bodyPr wrap="square">
            <a:spAutoFit/>
          </a:bodyPr>
          <a:lstStyle/>
          <a:p>
            <a:pPr algn="just">
              <a:buNone/>
            </a:pPr>
            <a:r>
              <a:rPr lang="en-US" sz="2600" dirty="0">
                <a:latin typeface="Times New Roman" pitchFamily="18" charset="0"/>
                <a:cs typeface="Times New Roman" pitchFamily="18" charset="0"/>
              </a:rPr>
              <a:t>What are job assignments which will minimize the cost?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585742"/>
          </a:xfrm>
        </p:spPr>
        <p:txBody>
          <a:bodyPr/>
          <a:lstStyle/>
          <a:p>
            <a:r>
              <a:rPr lang="en-US" dirty="0"/>
              <a:t>SOLUTION</a:t>
            </a:r>
          </a:p>
        </p:txBody>
      </p:sp>
      <p:sp>
        <p:nvSpPr>
          <p:cNvPr id="3" name="Content Placeholder 2"/>
          <p:cNvSpPr>
            <a:spLocks noGrp="1"/>
          </p:cNvSpPr>
          <p:nvPr>
            <p:ph idx="1"/>
          </p:nvPr>
        </p:nvSpPr>
        <p:spPr>
          <a:xfrm>
            <a:off x="1423587" y="1521210"/>
            <a:ext cx="9603275" cy="568848"/>
          </a:xfrm>
        </p:spPr>
        <p:txBody>
          <a:bodyPr>
            <a:normAutofit/>
          </a:bodyPr>
          <a:lstStyle/>
          <a:p>
            <a:pPr>
              <a:buNone/>
            </a:pPr>
            <a:r>
              <a:rPr lang="en-US" sz="2600" dirty="0">
                <a:latin typeface="Times New Roman" pitchFamily="18" charset="0"/>
                <a:cs typeface="Times New Roman" pitchFamily="18" charset="0"/>
              </a:rPr>
              <a:t>The cost matrix of the given assignment problem is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31</a:t>
            </a:fld>
            <a:endParaRPr lang="en-IN"/>
          </a:p>
        </p:txBody>
      </p:sp>
      <p:graphicFrame>
        <p:nvGraphicFramePr>
          <p:cNvPr id="5" name="Table 4"/>
          <p:cNvGraphicFramePr>
            <a:graphicFrameLocks noGrp="1"/>
          </p:cNvGraphicFramePr>
          <p:nvPr/>
        </p:nvGraphicFramePr>
        <p:xfrm>
          <a:off x="1677435" y="2076194"/>
          <a:ext cx="7473642" cy="1290644"/>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Content Placeholder 2"/>
          <p:cNvSpPr txBox="1">
            <a:spLocks/>
          </p:cNvSpPr>
          <p:nvPr/>
        </p:nvSpPr>
        <p:spPr>
          <a:xfrm>
            <a:off x="1193432" y="3689022"/>
            <a:ext cx="9603275" cy="1218880"/>
          </a:xfrm>
          <a:prstGeom prst="rect">
            <a:avLst/>
          </a:prstGeom>
        </p:spPr>
        <p:txBody>
          <a:bodyPr vert="horz" lIns="91440" tIns="45720" rIns="91440" bIns="45720" rtlCol="0" anchor="t">
            <a:noAutofit/>
          </a:bodyPr>
          <a:lstStyle/>
          <a:p>
            <a:pPr marL="228600" marR="0" lvl="0" indent="-228600" algn="just" defTabSz="914400" rtl="0" eaLnBrk="1" fontAlgn="auto" latinLnBrk="0" hangingPunct="1">
              <a:lnSpc>
                <a:spcPct val="120000"/>
              </a:lnSpc>
              <a:spcBef>
                <a:spcPts val="1000"/>
              </a:spcBef>
              <a:spcAft>
                <a:spcPts val="0"/>
              </a:spcAft>
              <a:buClr>
                <a:schemeClr val="accent1"/>
              </a:buClr>
              <a:buSzPct val="100000"/>
              <a:buFont typeface="Arial" panose="020B0604020202020204" pitchFamily="34" charset="0"/>
              <a:buNone/>
              <a:tabLst/>
              <a:defRPr/>
            </a:pPr>
            <a:r>
              <a:rPr kumimoji="0" lang="en-US" sz="2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Since the number of rows is less than the number of columns in the cost matrix, so the given problem is unbalanced</a:t>
            </a:r>
            <a:r>
              <a:rPr kumimoji="0" lang="en-US" sz="2600" b="0" i="0" u="none" strike="noStrike" kern="1200" cap="none" spc="0" normalizeH="0" noProof="0" dirty="0">
                <a:ln>
                  <a:noFill/>
                </a:ln>
                <a:solidFill>
                  <a:schemeClr val="tx1"/>
                </a:solidFill>
                <a:effectLst/>
                <a:uLnTx/>
                <a:uFillTx/>
                <a:latin typeface="Times New Roman" pitchFamily="18" charset="0"/>
                <a:ea typeface="+mn-ea"/>
                <a:cs typeface="Times New Roman" pitchFamily="18" charset="0"/>
              </a:rPr>
              <a:t> one. </a:t>
            </a:r>
            <a:endParaRPr kumimoji="0" lang="en-US" sz="2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623065"/>
          </a:xfrm>
        </p:spPr>
        <p:txBody>
          <a:bodyPr>
            <a:normAutofit/>
          </a:bodyPr>
          <a:lstStyle/>
          <a:p>
            <a:r>
              <a:rPr lang="en-US" sz="2800" b="1" dirty="0">
                <a:latin typeface="Times New Roman" pitchFamily="18" charset="0"/>
                <a:cs typeface="Times New Roman" pitchFamily="18" charset="0"/>
              </a:rPr>
              <a:t>CONTINUE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32</a:t>
            </a:fld>
            <a:endParaRPr lang="en-IN"/>
          </a:p>
        </p:txBody>
      </p:sp>
      <p:sp>
        <p:nvSpPr>
          <p:cNvPr id="5" name="Content Placeholder 2"/>
          <p:cNvSpPr txBox="1">
            <a:spLocks/>
          </p:cNvSpPr>
          <p:nvPr/>
        </p:nvSpPr>
        <p:spPr>
          <a:xfrm>
            <a:off x="997489" y="4668736"/>
            <a:ext cx="9975311" cy="1489468"/>
          </a:xfrm>
          <a:prstGeom prst="rect">
            <a:avLst/>
          </a:prstGeom>
        </p:spPr>
        <p:txBody>
          <a:bodyPr vert="horz" lIns="91440" tIns="45720" rIns="91440" bIns="45720" rtlCol="0" anchor="t">
            <a:noAutofit/>
          </a:bodyPr>
          <a:lstStyle/>
          <a:p>
            <a:pPr marL="228600" marR="0" lvl="0" indent="-228600" algn="just" defTabSz="914400" rtl="0" eaLnBrk="1" fontAlgn="auto" latinLnBrk="0" hangingPunct="1">
              <a:lnSpc>
                <a:spcPct val="120000"/>
              </a:lnSpc>
              <a:spcBef>
                <a:spcPts val="1000"/>
              </a:spcBef>
              <a:spcAft>
                <a:spcPts val="0"/>
              </a:spcAft>
              <a:buClr>
                <a:schemeClr val="accent1"/>
              </a:buClr>
              <a:buSzPct val="100000"/>
              <a:buFont typeface="Arial" panose="020B0604020202020204" pitchFamily="34" charset="0"/>
              <a:buNone/>
              <a:tabLst/>
              <a:defRPr/>
            </a:pPr>
            <a:r>
              <a:rPr kumimoji="0" lang="en-US" sz="2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Followed by this step proceed</a:t>
            </a:r>
            <a:r>
              <a:rPr kumimoji="0" lang="en-US" sz="2600" b="0" i="0" u="none" strike="noStrike" kern="1200" cap="none" spc="0" normalizeH="0" noProof="0" dirty="0">
                <a:ln>
                  <a:noFill/>
                </a:ln>
                <a:solidFill>
                  <a:schemeClr val="tx1"/>
                </a:solidFill>
                <a:effectLst/>
                <a:uLnTx/>
                <a:uFillTx/>
                <a:latin typeface="Times New Roman" pitchFamily="18" charset="0"/>
                <a:ea typeface="+mn-ea"/>
                <a:cs typeface="Times New Roman" pitchFamily="18" charset="0"/>
              </a:rPr>
              <a:t> by Hungarian method. In the same lines if necessary add one column to become unbalanced assignment problem as balanced assignment one</a:t>
            </a:r>
            <a:r>
              <a:rPr lang="en-US" sz="2600" dirty="0">
                <a:latin typeface="Times New Roman" pitchFamily="18" charset="0"/>
                <a:cs typeface="Times New Roman" pitchFamily="18" charset="0"/>
              </a:rPr>
              <a:t>. </a:t>
            </a:r>
            <a:r>
              <a:rPr kumimoji="0" lang="en-US" sz="2600" b="0" i="0" u="none" strike="noStrike" kern="1200" cap="none" spc="0" normalizeH="0" noProof="0" dirty="0">
                <a:ln>
                  <a:noFill/>
                </a:ln>
                <a:solidFill>
                  <a:schemeClr val="tx1"/>
                </a:solidFill>
                <a:effectLst/>
                <a:uLnTx/>
                <a:uFillTx/>
                <a:latin typeface="Times New Roman" pitchFamily="18" charset="0"/>
                <a:ea typeface="+mn-ea"/>
                <a:cs typeface="Times New Roman" pitchFamily="18" charset="0"/>
              </a:rPr>
              <a:t>  </a:t>
            </a:r>
            <a:endParaRPr kumimoji="0" lang="en-US" sz="2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graphicFrame>
        <p:nvGraphicFramePr>
          <p:cNvPr id="7" name="Table 6"/>
          <p:cNvGraphicFramePr>
            <a:graphicFrameLocks noGrp="1"/>
          </p:cNvGraphicFramePr>
          <p:nvPr/>
        </p:nvGraphicFramePr>
        <p:xfrm>
          <a:off x="1929360" y="2831974"/>
          <a:ext cx="7473642" cy="1613305"/>
        </p:xfrm>
        <a:graphic>
          <a:graphicData uri="http://schemas.openxmlformats.org/drawingml/2006/table">
            <a:tbl>
              <a:tblPr/>
              <a:tblGrid>
                <a:gridCol w="1457650">
                  <a:extLst>
                    <a:ext uri="{9D8B030D-6E8A-4147-A177-3AD203B41FA5}">
                      <a16:colId xmlns:a16="http://schemas.microsoft.com/office/drawing/2014/main" val="20000"/>
                    </a:ext>
                  </a:extLst>
                </a:gridCol>
                <a:gridCol w="1503998">
                  <a:extLst>
                    <a:ext uri="{9D8B030D-6E8A-4147-A177-3AD203B41FA5}">
                      <a16:colId xmlns:a16="http://schemas.microsoft.com/office/drawing/2014/main" val="20001"/>
                    </a:ext>
                  </a:extLst>
                </a:gridCol>
                <a:gridCol w="1503998">
                  <a:extLst>
                    <a:ext uri="{9D8B030D-6E8A-4147-A177-3AD203B41FA5}">
                      <a16:colId xmlns:a16="http://schemas.microsoft.com/office/drawing/2014/main" val="20002"/>
                    </a:ext>
                  </a:extLst>
                </a:gridCol>
                <a:gridCol w="1503998">
                  <a:extLst>
                    <a:ext uri="{9D8B030D-6E8A-4147-A177-3AD203B41FA5}">
                      <a16:colId xmlns:a16="http://schemas.microsoft.com/office/drawing/2014/main" val="20003"/>
                    </a:ext>
                  </a:extLst>
                </a:gridCol>
                <a:gridCol w="1503998">
                  <a:extLst>
                    <a:ext uri="{9D8B030D-6E8A-4147-A177-3AD203B41FA5}">
                      <a16:colId xmlns:a16="http://schemas.microsoft.com/office/drawing/2014/main" val="20004"/>
                    </a:ext>
                  </a:extLst>
                </a:gridCol>
              </a:tblGrid>
              <a:tr h="322661">
                <a:tc>
                  <a:txBody>
                    <a:bodyPr/>
                    <a:lstStyle/>
                    <a:p>
                      <a:pPr marL="0" marR="0" algn="ctr">
                        <a:lnSpc>
                          <a:spcPct val="115000"/>
                        </a:lnSpc>
                        <a:spcBef>
                          <a:spcPts val="0"/>
                        </a:spcBef>
                        <a:spcAft>
                          <a:spcPts val="0"/>
                        </a:spcAft>
                      </a:pP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Machine M3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Machine M4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2661">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Job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32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22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2661">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Times New Roman" pitchFamily="18" charset="0"/>
                          <a:ea typeface="Calibri"/>
                          <a:cs typeface="Times New Roman" pitchFamily="18" charset="0"/>
                        </a:rPr>
                        <a:t>Job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Content Placeholder 2"/>
          <p:cNvSpPr txBox="1">
            <a:spLocks/>
          </p:cNvSpPr>
          <p:nvPr/>
        </p:nvSpPr>
        <p:spPr>
          <a:xfrm>
            <a:off x="1485791" y="1648728"/>
            <a:ext cx="9975311" cy="1218880"/>
          </a:xfrm>
          <a:prstGeom prst="rect">
            <a:avLst/>
          </a:prstGeom>
        </p:spPr>
        <p:txBody>
          <a:bodyPr vert="horz" lIns="91440" tIns="45720" rIns="91440" bIns="45720" rtlCol="0" anchor="t">
            <a:noAutofit/>
          </a:bodyPr>
          <a:lstStyle/>
          <a:p>
            <a:pPr marL="228600" marR="0" lvl="0" indent="-228600" algn="just" defTabSz="914400" rtl="0" eaLnBrk="1" fontAlgn="auto" latinLnBrk="0" hangingPunct="1">
              <a:lnSpc>
                <a:spcPct val="120000"/>
              </a:lnSpc>
              <a:spcBef>
                <a:spcPts val="1000"/>
              </a:spcBef>
              <a:spcAft>
                <a:spcPts val="0"/>
              </a:spcAft>
              <a:buClr>
                <a:schemeClr val="accent1"/>
              </a:buClr>
              <a:buSzPct val="100000"/>
              <a:buFont typeface="Arial" panose="020B0604020202020204" pitchFamily="34" charset="0"/>
              <a:buNone/>
              <a:tabLst/>
              <a:defRPr/>
            </a:pPr>
            <a:r>
              <a:rPr kumimoji="0" lang="en-US" sz="2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To make it balanced problem add a dummy row with zero cost</a:t>
            </a:r>
            <a:r>
              <a:rPr kumimoji="0" lang="en-US" sz="2600" b="0" i="0" u="none" strike="noStrike" kern="1200" cap="none" spc="0" normalizeH="0" noProof="0" dirty="0">
                <a:ln>
                  <a:noFill/>
                </a:ln>
                <a:solidFill>
                  <a:schemeClr val="tx1"/>
                </a:solidFill>
                <a:effectLst/>
                <a:uLnTx/>
                <a:uFillTx/>
                <a:latin typeface="Times New Roman" pitchFamily="18" charset="0"/>
                <a:ea typeface="+mn-ea"/>
                <a:cs typeface="Times New Roman" pitchFamily="18" charset="0"/>
              </a:rPr>
              <a:t> elements. The balanced cost matrix is given by </a:t>
            </a:r>
            <a:endParaRPr kumimoji="0" lang="en-US" sz="2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 (1)</Template>
  <TotalTime>26022</TotalTime>
  <Words>2637</Words>
  <Application>Microsoft Office PowerPoint</Application>
  <PresentationFormat>Widescreen</PresentationFormat>
  <Paragraphs>667</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Gallery</vt:lpstr>
      <vt:lpstr>MATHEMATICAL OPTIMIZATION  </vt:lpstr>
      <vt:lpstr>What an Assignment problem is? </vt:lpstr>
      <vt:lpstr>Few examples of Assignment problem  </vt:lpstr>
      <vt:lpstr>COST MATRIX (or) EFFECTIVE MATRIX</vt:lpstr>
      <vt:lpstr>MATHEMATICAL FORMULATION OF  ASSIGNMENT PROBLEM</vt:lpstr>
      <vt:lpstr>The Hungarian method of solving  the Assignment Problem </vt:lpstr>
      <vt:lpstr>CONTINUE……</vt:lpstr>
      <vt:lpstr>CONTINUE……</vt:lpstr>
      <vt:lpstr>CONTINUE…..</vt:lpstr>
      <vt:lpstr>CONTINUE……</vt:lpstr>
      <vt:lpstr>CONTINUE…..</vt:lpstr>
      <vt:lpstr>What is Hungarian Method?</vt:lpstr>
      <vt:lpstr>EXAMPLE - 1</vt:lpstr>
      <vt:lpstr>SOLUTION</vt:lpstr>
      <vt:lpstr>CONTUNUE….</vt:lpstr>
      <vt:lpstr>CONTIUNE….</vt:lpstr>
      <vt:lpstr>CONTINUE….</vt:lpstr>
      <vt:lpstr>CONTINUE…..</vt:lpstr>
      <vt:lpstr>CONTINUE…..</vt:lpstr>
      <vt:lpstr>EXAMPLE-2</vt:lpstr>
      <vt:lpstr>SOLUTION</vt:lpstr>
      <vt:lpstr>CONTUNE….</vt:lpstr>
      <vt:lpstr>Step-1: select the smallest cost element in each column and subtract this from all elements of the corresponding column, we get the reduced matrix.</vt:lpstr>
      <vt:lpstr>CONTUNE….</vt:lpstr>
      <vt:lpstr>CONTUNE….</vt:lpstr>
      <vt:lpstr>PowerPoint Presentation</vt:lpstr>
      <vt:lpstr>PowerPoint Presentation</vt:lpstr>
      <vt:lpstr>PowerPoint Presentation</vt:lpstr>
      <vt:lpstr>PowerPoint Presentation</vt:lpstr>
      <vt:lpstr>UNBALANCED PROBLEMS</vt:lpstr>
      <vt:lpstr>SOLUTION</vt:lpstr>
      <vt:lpstr>CONTINUE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Driven Artificial intelligent systems</dc:title>
  <dc:creator>IMRAN RASHEED</dc:creator>
  <cp:lastModifiedBy>Dr  Lakshmi Ramani Burra</cp:lastModifiedBy>
  <cp:revision>396</cp:revision>
  <dcterms:created xsi:type="dcterms:W3CDTF">2023-06-21T10:47:53Z</dcterms:created>
  <dcterms:modified xsi:type="dcterms:W3CDTF">2025-08-06T11:44:05Z</dcterms:modified>
</cp:coreProperties>
</file>