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89" r:id="rId5"/>
    <p:sldId id="258" r:id="rId6"/>
    <p:sldId id="256" r:id="rId7"/>
    <p:sldId id="260" r:id="rId8"/>
    <p:sldId id="261" r:id="rId9"/>
    <p:sldId id="257" r:id="rId10"/>
    <p:sldId id="259" r:id="rId11"/>
    <p:sldId id="290"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76" y="1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CE0A-FA50-BB3E-D7FF-77E73BCDDC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77BFE7-3AE3-BCC8-4757-F9A4857455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CF5B2B54-131F-D137-C374-1E063775D8FC}"/>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834471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1FE9-50AC-773F-2E78-40969EBBCA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475C5-1569-AEC5-4811-58A5A848C5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1915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7478-7550-A17D-294A-CA648A80BB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E2B20A-62A9-9FEF-9A95-5C507EE9C7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F2769B-04DA-644D-A4EC-9B95BA1E27A9}"/>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5" name="Footer Placeholder 4">
            <a:extLst>
              <a:ext uri="{FF2B5EF4-FFF2-40B4-BE49-F238E27FC236}">
                <a16:creationId xmlns:a16="http://schemas.microsoft.com/office/drawing/2014/main" id="{A14C90D4-6E2F-747C-440A-6FF9250FE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AE5B1-9A0A-7A88-6661-DE91BF964010}"/>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26379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5E658-7FE6-1E8E-2203-0B35155F66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626EE8-D0FE-D53E-8AF9-9CE1FAFB5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2D31B4-099C-F5F0-B7F1-E5615FFCF3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08DC29-1B89-5898-90EB-2BE2FE6F54F4}"/>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6" name="Footer Placeholder 5">
            <a:extLst>
              <a:ext uri="{FF2B5EF4-FFF2-40B4-BE49-F238E27FC236}">
                <a16:creationId xmlns:a16="http://schemas.microsoft.com/office/drawing/2014/main" id="{5C7A11BF-9079-D215-5FD4-B790FC9974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D1A452-A763-AA96-B6E5-302FED3BA443}"/>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99565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23C9A-C14E-5655-65D1-34288AF27F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C0DF55-CA00-0461-11C1-6BDE118F0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A3AE6F-7F07-46CD-851E-82E2FD8923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7D4029-2238-775F-EA55-79C6C5890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2D7415-5084-EA40-4346-FF86E9B7C1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9C71A9-28A6-9967-169A-B6DA808C86F6}"/>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8" name="Footer Placeholder 7">
            <a:extLst>
              <a:ext uri="{FF2B5EF4-FFF2-40B4-BE49-F238E27FC236}">
                <a16:creationId xmlns:a16="http://schemas.microsoft.com/office/drawing/2014/main" id="{663CBB0E-B986-4A78-A35F-43DBD2FDC0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A6822A-1650-D094-2100-782E4531868B}"/>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325040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C3FE-E8F0-7F5F-0EB9-09D0134EAB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8FFC07-05F1-F971-6FDC-5F72114D21DA}"/>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4" name="Footer Placeholder 3">
            <a:extLst>
              <a:ext uri="{FF2B5EF4-FFF2-40B4-BE49-F238E27FC236}">
                <a16:creationId xmlns:a16="http://schemas.microsoft.com/office/drawing/2014/main" id="{7D9C8CB8-54DE-1CB5-189E-F6D31A15E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0DED69-FEEC-E45D-958E-72297B373E74}"/>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672593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E13CEC-949F-7C18-004B-349308069318}"/>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3" name="Footer Placeholder 2">
            <a:extLst>
              <a:ext uri="{FF2B5EF4-FFF2-40B4-BE49-F238E27FC236}">
                <a16:creationId xmlns:a16="http://schemas.microsoft.com/office/drawing/2014/main" id="{7016419B-F52C-5608-9876-AAA5502AB9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E71687-18F9-D1C3-F0EB-126899C44C37}"/>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745392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9CC4-9F71-8783-1B52-C7C11D1C0B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39EF56-9512-054D-0579-E915B2F5E8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ED5FB0-20E1-488E-E3B9-3258804FE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CD19E-50E7-CC49-F67F-020377149314}"/>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6" name="Footer Placeholder 5">
            <a:extLst>
              <a:ext uri="{FF2B5EF4-FFF2-40B4-BE49-F238E27FC236}">
                <a16:creationId xmlns:a16="http://schemas.microsoft.com/office/drawing/2014/main" id="{09B286AC-6181-E008-BC0D-539DC886E7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6F6ADE-30C2-2995-F20A-122DF450444D}"/>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938970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ED00-8D04-34C9-9424-C763F7ABC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3AF6B2-970E-7E1D-21DE-45258D64B4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B7D88-ACF1-EC6F-1316-65562C777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970097-A18B-4D04-DAEE-DD2972F71775}"/>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6" name="Footer Placeholder 5">
            <a:extLst>
              <a:ext uri="{FF2B5EF4-FFF2-40B4-BE49-F238E27FC236}">
                <a16:creationId xmlns:a16="http://schemas.microsoft.com/office/drawing/2014/main" id="{D0B046E1-2B0F-7B30-DAF4-0A1830A635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89EDC2-381B-0D7E-1291-933F04F78864}"/>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22475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E615-C3F0-068F-F469-5F0EF5E524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4F482F-4727-8BC1-66D9-94E1ECF960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DD157-D9A7-A05C-69F6-16E90CBA0760}"/>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5" name="Footer Placeholder 4">
            <a:extLst>
              <a:ext uri="{FF2B5EF4-FFF2-40B4-BE49-F238E27FC236}">
                <a16:creationId xmlns:a16="http://schemas.microsoft.com/office/drawing/2014/main" id="{89614747-E91B-6E8B-6701-6C8BBF11B4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D39EA8-9B65-0AC1-CBEC-9E9812EEE35E}"/>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2779220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FB6CF3-8698-869F-B77A-5A486F6A35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98A139-03FC-3716-053C-BE8F648C47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343E2A-70CF-312E-9DD2-69896B3EC481}"/>
              </a:ext>
            </a:extLst>
          </p:cNvPr>
          <p:cNvSpPr>
            <a:spLocks noGrp="1"/>
          </p:cNvSpPr>
          <p:nvPr>
            <p:ph type="dt" sz="half" idx="10"/>
          </p:nvPr>
        </p:nvSpPr>
        <p:spPr/>
        <p:txBody>
          <a:bodyPr/>
          <a:lstStyle/>
          <a:p>
            <a:fld id="{7C201AFB-E73F-4849-A82B-89E1FDE221F3}" type="datetimeFigureOut">
              <a:rPr lang="en-IN" smtClean="0"/>
              <a:pPr/>
              <a:t>18-09-2025</a:t>
            </a:fld>
            <a:endParaRPr lang="en-IN"/>
          </a:p>
        </p:txBody>
      </p:sp>
      <p:sp>
        <p:nvSpPr>
          <p:cNvPr id="5" name="Footer Placeholder 4">
            <a:extLst>
              <a:ext uri="{FF2B5EF4-FFF2-40B4-BE49-F238E27FC236}">
                <a16:creationId xmlns:a16="http://schemas.microsoft.com/office/drawing/2014/main" id="{03C80636-8AF5-C342-7C55-51601F80B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97AA01-E2EB-281E-716E-497A35B183F3}"/>
              </a:ext>
            </a:extLst>
          </p:cNvPr>
          <p:cNvSpPr>
            <a:spLocks noGrp="1"/>
          </p:cNvSpPr>
          <p:nvPr>
            <p:ph type="sldNum" sz="quarter" idx="12"/>
          </p:nvPr>
        </p:nvSpPr>
        <p:spPr/>
        <p:txBody>
          <a:bodyPr/>
          <a:lstStyle/>
          <a:p>
            <a:fld id="{85AEC020-623B-4BD8-9B68-34BF3E91A5C7}" type="slidenum">
              <a:rPr lang="en-IN" smtClean="0"/>
              <a:pPr/>
              <a:t>‹#›</a:t>
            </a:fld>
            <a:endParaRPr lang="en-IN"/>
          </a:p>
        </p:txBody>
      </p:sp>
    </p:spTree>
    <p:extLst>
      <p:ext uri="{BB962C8B-B14F-4D97-AF65-F5344CB8AC3E}">
        <p14:creationId xmlns:p14="http://schemas.microsoft.com/office/powerpoint/2010/main" val="3933613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826EB-9092-DCAE-7005-BEA1AFAAC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63D286-35BD-7B6F-C5FE-8AD7D359CD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A184A5-09F7-9F0F-65FC-D71DC6782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201AFB-E73F-4849-A82B-89E1FDE221F3}" type="datetimeFigureOut">
              <a:rPr lang="en-IN" smtClean="0"/>
              <a:pPr/>
              <a:t>18-09-2025</a:t>
            </a:fld>
            <a:endParaRPr lang="en-IN"/>
          </a:p>
        </p:txBody>
      </p:sp>
      <p:sp>
        <p:nvSpPr>
          <p:cNvPr id="5" name="Footer Placeholder 4">
            <a:extLst>
              <a:ext uri="{FF2B5EF4-FFF2-40B4-BE49-F238E27FC236}">
                <a16:creationId xmlns:a16="http://schemas.microsoft.com/office/drawing/2014/main" id="{426592EF-3EE1-35CD-2AE2-7B1A89A96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85FF29-6EA6-8CBD-906C-085176670B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AEC020-623B-4BD8-9B68-34BF3E91A5C7}" type="slidenum">
              <a:rPr lang="en-IN" smtClean="0"/>
              <a:pPr/>
              <a:t>‹#›</a:t>
            </a:fld>
            <a:endParaRPr lang="en-IN"/>
          </a:p>
        </p:txBody>
      </p:sp>
    </p:spTree>
    <p:extLst>
      <p:ext uri="{BB962C8B-B14F-4D97-AF65-F5344CB8AC3E}">
        <p14:creationId xmlns:p14="http://schemas.microsoft.com/office/powerpoint/2010/main" val="3996860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370791" y="1627780"/>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566772"/>
            <a:ext cx="9657806" cy="55399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SESSION NO :33</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FF54A1-66AF-155C-E91D-ED06E14B9706}"/>
              </a:ext>
            </a:extLst>
          </p:cNvPr>
          <p:cNvSpPr txBox="1"/>
          <p:nvPr/>
        </p:nvSpPr>
        <p:spPr>
          <a:xfrm>
            <a:off x="656830" y="1278075"/>
            <a:ext cx="6422396" cy="4862870"/>
          </a:xfrm>
          <a:prstGeom prst="rect">
            <a:avLst/>
          </a:prstGeom>
          <a:noFill/>
        </p:spPr>
        <p:txBody>
          <a:bodyPr wrap="square">
            <a:spAutoFit/>
          </a:bodyPr>
          <a:lstStyle/>
          <a:p>
            <a:pPr algn="l" rtl="0" fontAlgn="base">
              <a:lnSpc>
                <a:spcPct val="150000"/>
              </a:lnSpc>
              <a:spcAft>
                <a:spcPts val="750"/>
              </a:spcAft>
              <a:buNone/>
            </a:pPr>
            <a:r>
              <a:rPr lang="en-US" sz="2000" b="1" i="0" dirty="0">
                <a:solidFill>
                  <a:srgbClr val="273239"/>
                </a:solidFill>
                <a:effectLst/>
                <a:latin typeface="Aptos Narrow" panose="020B0004020202020204" pitchFamily="34" charset="0"/>
              </a:rPr>
              <a:t>Gaussian Mixture Model</a:t>
            </a:r>
            <a:r>
              <a:rPr lang="en-US" sz="2000" b="0" i="0" dirty="0">
                <a:solidFill>
                  <a:srgbClr val="273239"/>
                </a:solidFill>
                <a:effectLst/>
                <a:latin typeface="Aptos Narrow" panose="020B0004020202020204" pitchFamily="34" charset="0"/>
              </a:rPr>
              <a:t> is a probabilistic model that assumes all data points are generated from a mixture of several Gaussian distributions with unknown parameters. </a:t>
            </a:r>
          </a:p>
          <a:p>
            <a:pPr algn="l" rtl="0" fontAlgn="base">
              <a:lnSpc>
                <a:spcPct val="150000"/>
              </a:lnSpc>
              <a:spcAft>
                <a:spcPts val="750"/>
              </a:spcAft>
              <a:buNone/>
            </a:pPr>
            <a:r>
              <a:rPr lang="en-US" sz="2000" b="0" i="0" dirty="0">
                <a:solidFill>
                  <a:srgbClr val="273239"/>
                </a:solidFill>
                <a:effectLst/>
                <a:latin typeface="Aptos Narrow" panose="020B0004020202020204" pitchFamily="34" charset="0"/>
              </a:rPr>
              <a:t>Unlike hard clustering methods like K-Means that assigns each data point to one cluster based on the closest centroid which often doesn't align with the complexity of real-world data.</a:t>
            </a:r>
            <a:r>
              <a:rPr lang="en-US" sz="2000" b="1" i="0" dirty="0">
                <a:solidFill>
                  <a:srgbClr val="273239"/>
                </a:solidFill>
                <a:effectLst/>
                <a:latin typeface="Aptos Narrow" panose="020B0004020202020204" pitchFamily="34" charset="0"/>
              </a:rPr>
              <a:t> </a:t>
            </a:r>
          </a:p>
          <a:p>
            <a:pPr algn="l" rtl="0" fontAlgn="base">
              <a:lnSpc>
                <a:spcPct val="150000"/>
              </a:lnSpc>
              <a:spcAft>
                <a:spcPts val="750"/>
              </a:spcAft>
              <a:buNone/>
            </a:pPr>
            <a:r>
              <a:rPr lang="en-US" sz="2000" b="1" i="0" dirty="0">
                <a:solidFill>
                  <a:srgbClr val="273239"/>
                </a:solidFill>
                <a:effectLst/>
                <a:latin typeface="Aptos Narrow" panose="020B0004020202020204" pitchFamily="34" charset="0"/>
              </a:rPr>
              <a:t>“ GMMs perform soft clustering meaning each data point belongs to multiple clusters with certain probabilities</a:t>
            </a:r>
            <a:r>
              <a:rPr lang="en-US" sz="2000" b="0" i="0" dirty="0">
                <a:solidFill>
                  <a:srgbClr val="273239"/>
                </a:solidFill>
                <a:effectLst/>
                <a:latin typeface="Aptos Narrow" panose="020B0004020202020204" pitchFamily="34" charset="0"/>
              </a:rPr>
              <a:t>.” </a:t>
            </a:r>
          </a:p>
          <a:p>
            <a:pPr algn="l" rtl="0" fontAlgn="base">
              <a:spcAft>
                <a:spcPts val="750"/>
              </a:spcAft>
              <a:buNone/>
            </a:pPr>
            <a:endParaRPr lang="en-US" sz="2000" b="0" i="0" dirty="0">
              <a:solidFill>
                <a:srgbClr val="273239"/>
              </a:solidFill>
              <a:effectLst/>
              <a:latin typeface="Aptos Narrow" panose="020B0004020202020204" pitchFamily="34" charset="0"/>
            </a:endParaRPr>
          </a:p>
        </p:txBody>
      </p:sp>
      <p:sp>
        <p:nvSpPr>
          <p:cNvPr id="3" name="TextBox 2">
            <a:extLst>
              <a:ext uri="{FF2B5EF4-FFF2-40B4-BE49-F238E27FC236}">
                <a16:creationId xmlns:a16="http://schemas.microsoft.com/office/drawing/2014/main" id="{02CC2127-6985-0217-4976-3A9A975EA38D}"/>
              </a:ext>
            </a:extLst>
          </p:cNvPr>
          <p:cNvSpPr txBox="1"/>
          <p:nvPr/>
        </p:nvSpPr>
        <p:spPr>
          <a:xfrm>
            <a:off x="3569110" y="523258"/>
            <a:ext cx="4227871" cy="461665"/>
          </a:xfrm>
          <a:prstGeom prst="rect">
            <a:avLst/>
          </a:prstGeom>
          <a:noFill/>
        </p:spPr>
        <p:txBody>
          <a:bodyPr wrap="square">
            <a:spAutoFit/>
          </a:bodyPr>
          <a:lstStyle/>
          <a:p>
            <a:pPr algn="ctr"/>
            <a:r>
              <a:rPr lang="en-US" sz="2400" b="1" i="0" dirty="0">
                <a:solidFill>
                  <a:srgbClr val="C00000"/>
                </a:solidFill>
                <a:effectLst/>
                <a:latin typeface="Aptos Narrow" panose="020B0004020202020204" pitchFamily="34" charset="0"/>
              </a:rPr>
              <a:t>Gaussian Mixture Model</a:t>
            </a:r>
            <a:r>
              <a:rPr lang="en-US" sz="2400" b="0" i="0" dirty="0">
                <a:solidFill>
                  <a:srgbClr val="C00000"/>
                </a:solidFill>
                <a:effectLst/>
                <a:latin typeface="Aptos Narrow" panose="020B0004020202020204" pitchFamily="34" charset="0"/>
              </a:rPr>
              <a:t> </a:t>
            </a:r>
            <a:endParaRPr lang="en-US" sz="2400" dirty="0">
              <a:solidFill>
                <a:srgbClr val="C00000"/>
              </a:solidFill>
              <a:latin typeface="Aptos Narrow" panose="020B0004020202020204" pitchFamily="34" charset="0"/>
            </a:endParaRPr>
          </a:p>
        </p:txBody>
      </p:sp>
      <p:pic>
        <p:nvPicPr>
          <p:cNvPr id="7" name="Picture 6">
            <a:extLst>
              <a:ext uri="{FF2B5EF4-FFF2-40B4-BE49-F238E27FC236}">
                <a16:creationId xmlns:a16="http://schemas.microsoft.com/office/drawing/2014/main" id="{99CE97C7-5941-3E9F-CEEA-57114ACE2FAC}"/>
              </a:ext>
            </a:extLst>
          </p:cNvPr>
          <p:cNvPicPr>
            <a:picLocks noChangeAspect="1"/>
          </p:cNvPicPr>
          <p:nvPr/>
        </p:nvPicPr>
        <p:blipFill>
          <a:blip r:embed="rId2"/>
          <a:stretch>
            <a:fillRect/>
          </a:stretch>
        </p:blipFill>
        <p:spPr>
          <a:xfrm>
            <a:off x="6968035" y="877220"/>
            <a:ext cx="4823878" cy="4801016"/>
          </a:xfrm>
          <a:prstGeom prst="rect">
            <a:avLst/>
          </a:prstGeom>
        </p:spPr>
      </p:pic>
    </p:spTree>
    <p:extLst>
      <p:ext uri="{BB962C8B-B14F-4D97-AF65-F5344CB8AC3E}">
        <p14:creationId xmlns:p14="http://schemas.microsoft.com/office/powerpoint/2010/main" val="43563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5D004B34-1CA0-4E03-CD71-3E5503FF1AF7}"/>
              </a:ext>
            </a:extLst>
          </p:cNvPr>
          <p:cNvGraphicFramePr>
            <a:graphicFrameLocks noGrp="1"/>
          </p:cNvGraphicFramePr>
          <p:nvPr>
            <p:extLst>
              <p:ext uri="{D42A27DB-BD31-4B8C-83A1-F6EECF244321}">
                <p14:modId xmlns:p14="http://schemas.microsoft.com/office/powerpoint/2010/main" val="4101568284"/>
              </p:ext>
            </p:extLst>
          </p:nvPr>
        </p:nvGraphicFramePr>
        <p:xfrm>
          <a:off x="962508" y="1880969"/>
          <a:ext cx="10515600" cy="3115937"/>
        </p:xfrm>
        <a:graphic>
          <a:graphicData uri="http://schemas.openxmlformats.org/drawingml/2006/table">
            <a:tbl>
              <a:tblPr/>
              <a:tblGrid>
                <a:gridCol w="5257800">
                  <a:extLst>
                    <a:ext uri="{9D8B030D-6E8A-4147-A177-3AD203B41FA5}">
                      <a16:colId xmlns:a16="http://schemas.microsoft.com/office/drawing/2014/main" val="1530993929"/>
                    </a:ext>
                  </a:extLst>
                </a:gridCol>
                <a:gridCol w="5257800">
                  <a:extLst>
                    <a:ext uri="{9D8B030D-6E8A-4147-A177-3AD203B41FA5}">
                      <a16:colId xmlns:a16="http://schemas.microsoft.com/office/drawing/2014/main" val="3627574165"/>
                    </a:ext>
                  </a:extLst>
                </a:gridCol>
              </a:tblGrid>
              <a:tr h="479375">
                <a:tc>
                  <a:txBody>
                    <a:bodyPr/>
                    <a:lstStyle/>
                    <a:p>
                      <a:pPr marL="0" indent="0" algn="ctr">
                        <a:buFont typeface="Wingdings" panose="05000000000000000000" pitchFamily="2" charset="2"/>
                        <a:buNone/>
                      </a:pPr>
                      <a:r>
                        <a:rPr lang="en-IN" sz="2400" b="1" dirty="0">
                          <a:latin typeface="Aptos Narrow" panose="020B0004020202020204" pitchFamily="34" charset="0"/>
                        </a:rPr>
                        <a:t>Term</a:t>
                      </a:r>
                    </a:p>
                  </a:txBody>
                  <a:tcPr anchor="ctr">
                    <a:lnL>
                      <a:noFill/>
                    </a:lnL>
                    <a:lnR>
                      <a:noFill/>
                    </a:lnR>
                    <a:lnT>
                      <a:noFill/>
                    </a:lnT>
                    <a:lnB>
                      <a:noFill/>
                    </a:lnB>
                    <a:solidFill>
                      <a:schemeClr val="accent2">
                        <a:lumMod val="60000"/>
                        <a:lumOff val="40000"/>
                      </a:schemeClr>
                    </a:solidFill>
                  </a:tcPr>
                </a:tc>
                <a:tc>
                  <a:txBody>
                    <a:bodyPr/>
                    <a:lstStyle/>
                    <a:p>
                      <a:pPr marL="0" indent="0" algn="ctr">
                        <a:buFont typeface="Wingdings" panose="05000000000000000000" pitchFamily="2" charset="2"/>
                        <a:buNone/>
                      </a:pPr>
                      <a:r>
                        <a:rPr lang="en-IN" sz="2400" b="1" dirty="0">
                          <a:latin typeface="Aptos Narrow" panose="020B0004020202020204" pitchFamily="34" charset="0"/>
                        </a:rPr>
                        <a:t>Description</a:t>
                      </a:r>
                    </a:p>
                  </a:txBody>
                  <a:tcPr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332449501"/>
                  </a:ext>
                </a:extLst>
              </a:tr>
              <a:tr h="838906">
                <a:tc>
                  <a:txBody>
                    <a:bodyPr/>
                    <a:lstStyle/>
                    <a:p>
                      <a:pPr marL="285750" indent="-285750">
                        <a:buFont typeface="Wingdings" panose="05000000000000000000" pitchFamily="2" charset="2"/>
                        <a:buChar char="v"/>
                      </a:pPr>
                      <a:r>
                        <a:rPr lang="en-IN" b="1" dirty="0">
                          <a:latin typeface="Aptos Narrow" panose="020B0004020202020204" pitchFamily="34" charset="0"/>
                        </a:rPr>
                        <a:t>Gaussian (Normal) Distribution</a:t>
                      </a:r>
                      <a:endParaRPr lang="en-IN" dirty="0">
                        <a:latin typeface="Aptos Narrow" panose="020B0004020202020204" pitchFamily="34" charset="0"/>
                      </a:endParaRPr>
                    </a:p>
                  </a:txBody>
                  <a:tcPr anchor="ctr">
                    <a:lnL>
                      <a:noFill/>
                    </a:lnL>
                    <a:lnR>
                      <a:noFill/>
                    </a:lnR>
                    <a:lnT>
                      <a:noFill/>
                    </a:lnT>
                    <a:lnB>
                      <a:noFill/>
                    </a:lnB>
                    <a:solidFill>
                      <a:schemeClr val="accent4">
                        <a:lumMod val="20000"/>
                        <a:lumOff val="80000"/>
                      </a:schemeClr>
                    </a:solidFill>
                  </a:tcPr>
                </a:tc>
                <a:tc>
                  <a:txBody>
                    <a:bodyPr/>
                    <a:lstStyle/>
                    <a:p>
                      <a:pPr marL="285750" indent="-285750">
                        <a:buFont typeface="Wingdings" panose="05000000000000000000" pitchFamily="2" charset="2"/>
                        <a:buChar char="v"/>
                      </a:pPr>
                      <a:r>
                        <a:rPr lang="en-US" dirty="0">
                          <a:latin typeface="Aptos Narrow" panose="020B0004020202020204" pitchFamily="34" charset="0"/>
                        </a:rPr>
                        <a:t>Bell-shaped curve defined by </a:t>
                      </a:r>
                      <a:r>
                        <a:rPr lang="en-US" b="1" dirty="0">
                          <a:latin typeface="Aptos Narrow" panose="020B0004020202020204" pitchFamily="34" charset="0"/>
                        </a:rPr>
                        <a:t>mean (μ)</a:t>
                      </a:r>
                      <a:r>
                        <a:rPr lang="en-US" dirty="0">
                          <a:latin typeface="Aptos Narrow" panose="020B0004020202020204" pitchFamily="34" charset="0"/>
                        </a:rPr>
                        <a:t> and </a:t>
                      </a:r>
                      <a:r>
                        <a:rPr lang="en-US" b="1" dirty="0">
                          <a:latin typeface="Aptos Narrow" panose="020B0004020202020204" pitchFamily="34" charset="0"/>
                        </a:rPr>
                        <a:t>covariance (Σ)</a:t>
                      </a:r>
                      <a:endParaRPr lang="en-US" dirty="0">
                        <a:latin typeface="Aptos Narrow" panose="020B0004020202020204" pitchFamily="34" charset="0"/>
                      </a:endParaRPr>
                    </a:p>
                  </a:txBody>
                  <a:tcPr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116961970"/>
                  </a:ext>
                </a:extLst>
              </a:tr>
              <a:tr h="479375">
                <a:tc>
                  <a:txBody>
                    <a:bodyPr/>
                    <a:lstStyle/>
                    <a:p>
                      <a:pPr marL="285750" indent="-285750">
                        <a:buFont typeface="Wingdings" panose="05000000000000000000" pitchFamily="2" charset="2"/>
                        <a:buChar char="v"/>
                      </a:pPr>
                      <a:r>
                        <a:rPr lang="en-IN" b="1" dirty="0">
                          <a:latin typeface="Aptos Narrow" panose="020B0004020202020204" pitchFamily="34" charset="0"/>
                        </a:rPr>
                        <a:t>Mixture Model</a:t>
                      </a:r>
                      <a:endParaRPr lang="en-IN" dirty="0">
                        <a:latin typeface="Aptos Narrow" panose="020B0004020202020204" pitchFamily="34" charset="0"/>
                      </a:endParaRPr>
                    </a:p>
                  </a:txBody>
                  <a:tcPr anchor="ctr">
                    <a:lnL>
                      <a:noFill/>
                    </a:lnL>
                    <a:lnR>
                      <a:noFill/>
                    </a:lnR>
                    <a:lnT>
                      <a:noFill/>
                    </a:lnT>
                    <a:lnB>
                      <a:noFill/>
                    </a:lnB>
                    <a:solidFill>
                      <a:schemeClr val="accent3">
                        <a:lumMod val="20000"/>
                        <a:lumOff val="80000"/>
                      </a:schemeClr>
                    </a:solidFill>
                  </a:tcPr>
                </a:tc>
                <a:tc>
                  <a:txBody>
                    <a:bodyPr/>
                    <a:lstStyle/>
                    <a:p>
                      <a:pPr marL="285750" indent="-285750">
                        <a:buFont typeface="Wingdings" panose="05000000000000000000" pitchFamily="2" charset="2"/>
                        <a:buChar char="v"/>
                      </a:pPr>
                      <a:r>
                        <a:rPr lang="en-US" dirty="0">
                          <a:latin typeface="Aptos Narrow" panose="020B0004020202020204" pitchFamily="34" charset="0"/>
                        </a:rPr>
                        <a:t>A combination of multiple probability distributions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02572811"/>
                  </a:ext>
                </a:extLst>
              </a:tr>
              <a:tr h="479375">
                <a:tc>
                  <a:txBody>
                    <a:bodyPr/>
                    <a:lstStyle/>
                    <a:p>
                      <a:pPr marL="285750" indent="-285750">
                        <a:buFont typeface="Wingdings" panose="05000000000000000000" pitchFamily="2" charset="2"/>
                        <a:buChar char="v"/>
                      </a:pPr>
                      <a:r>
                        <a:rPr lang="en-IN" b="1" dirty="0">
                          <a:latin typeface="Aptos Narrow" panose="020B0004020202020204" pitchFamily="34" charset="0"/>
                        </a:rPr>
                        <a:t>Components</a:t>
                      </a:r>
                      <a:endParaRPr lang="en-IN" dirty="0">
                        <a:latin typeface="Aptos Narrow" panose="020B0004020202020204" pitchFamily="34" charset="0"/>
                      </a:endParaRPr>
                    </a:p>
                  </a:txBody>
                  <a:tcPr anchor="ctr">
                    <a:lnL>
                      <a:noFill/>
                    </a:lnL>
                    <a:lnR>
                      <a:noFill/>
                    </a:lnR>
                    <a:lnT>
                      <a:noFill/>
                    </a:lnT>
                    <a:lnB>
                      <a:noFill/>
                    </a:lnB>
                    <a:solidFill>
                      <a:schemeClr val="accent2">
                        <a:lumMod val="20000"/>
                        <a:lumOff val="80000"/>
                      </a:schemeClr>
                    </a:solidFill>
                  </a:tcPr>
                </a:tc>
                <a:tc>
                  <a:txBody>
                    <a:bodyPr/>
                    <a:lstStyle/>
                    <a:p>
                      <a:pPr marL="285750" indent="-285750">
                        <a:buFont typeface="Wingdings" panose="05000000000000000000" pitchFamily="2" charset="2"/>
                        <a:buChar char="v"/>
                      </a:pPr>
                      <a:r>
                        <a:rPr lang="en-US" dirty="0">
                          <a:latin typeface="Aptos Narrow" panose="020B0004020202020204" pitchFamily="34" charset="0"/>
                        </a:rPr>
                        <a:t>Each component in GMM is a Gaussian distribution</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496628405"/>
                  </a:ext>
                </a:extLst>
              </a:tr>
              <a:tr h="838906">
                <a:tc>
                  <a:txBody>
                    <a:bodyPr/>
                    <a:lstStyle/>
                    <a:p>
                      <a:pPr marL="285750" indent="-285750">
                        <a:buFont typeface="Wingdings" panose="05000000000000000000" pitchFamily="2" charset="2"/>
                        <a:buChar char="v"/>
                      </a:pPr>
                      <a:r>
                        <a:rPr lang="en-IN" b="1" dirty="0">
                          <a:latin typeface="Aptos Narrow" panose="020B0004020202020204" pitchFamily="34" charset="0"/>
                        </a:rPr>
                        <a:t>Soft Clustering</a:t>
                      </a:r>
                      <a:endParaRPr lang="en-IN" dirty="0">
                        <a:latin typeface="Aptos Narrow" panose="020B0004020202020204" pitchFamily="34" charset="0"/>
                      </a:endParaRPr>
                    </a:p>
                  </a:txBody>
                  <a:tcPr anchor="ctr">
                    <a:lnL>
                      <a:noFill/>
                    </a:lnL>
                    <a:lnR>
                      <a:noFill/>
                    </a:lnR>
                    <a:lnT>
                      <a:noFill/>
                    </a:lnT>
                    <a:lnB>
                      <a:noFill/>
                    </a:lnB>
                    <a:solidFill>
                      <a:schemeClr val="accent5">
                        <a:lumMod val="20000"/>
                        <a:lumOff val="80000"/>
                      </a:schemeClr>
                    </a:solidFill>
                  </a:tcPr>
                </a:tc>
                <a:tc>
                  <a:txBody>
                    <a:bodyPr/>
                    <a:lstStyle/>
                    <a:p>
                      <a:pPr marL="285750" indent="-285750">
                        <a:buFont typeface="Wingdings" panose="05000000000000000000" pitchFamily="2" charset="2"/>
                        <a:buChar char="v"/>
                      </a:pPr>
                      <a:r>
                        <a:rPr lang="en-US" dirty="0">
                          <a:latin typeface="Aptos Narrow" panose="020B0004020202020204" pitchFamily="34" charset="0"/>
                        </a:rPr>
                        <a:t>Each data point has a probability of belonging to each cluster</a:t>
                      </a: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291845309"/>
                  </a:ext>
                </a:extLst>
              </a:tr>
            </a:tbl>
          </a:graphicData>
        </a:graphic>
      </p:graphicFrame>
      <p:sp>
        <p:nvSpPr>
          <p:cNvPr id="3" name="TextBox 2">
            <a:extLst>
              <a:ext uri="{FF2B5EF4-FFF2-40B4-BE49-F238E27FC236}">
                <a16:creationId xmlns:a16="http://schemas.microsoft.com/office/drawing/2014/main" id="{B523F7CC-B30B-4ECD-1B0B-41CF804FB7DA}"/>
              </a:ext>
            </a:extLst>
          </p:cNvPr>
          <p:cNvSpPr txBox="1"/>
          <p:nvPr/>
        </p:nvSpPr>
        <p:spPr>
          <a:xfrm>
            <a:off x="4601497" y="542921"/>
            <a:ext cx="3008671" cy="461665"/>
          </a:xfrm>
          <a:prstGeom prst="rect">
            <a:avLst/>
          </a:prstGeom>
          <a:noFill/>
        </p:spPr>
        <p:txBody>
          <a:bodyPr wrap="square">
            <a:spAutoFit/>
          </a:bodyPr>
          <a:lstStyle/>
          <a:p>
            <a:pPr algn="ctr">
              <a:buNone/>
            </a:pPr>
            <a:r>
              <a:rPr lang="en-IN" sz="2400" b="1" dirty="0">
                <a:solidFill>
                  <a:srgbClr val="C00000"/>
                </a:solidFill>
                <a:latin typeface="Aptos Narrow" panose="020B0004020202020204" pitchFamily="34" charset="0"/>
              </a:rPr>
              <a:t>📌 Key Concepts</a:t>
            </a:r>
          </a:p>
        </p:txBody>
      </p:sp>
    </p:spTree>
    <p:extLst>
      <p:ext uri="{BB962C8B-B14F-4D97-AF65-F5344CB8AC3E}">
        <p14:creationId xmlns:p14="http://schemas.microsoft.com/office/powerpoint/2010/main" val="143765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6A580E-C6AC-B985-8B58-8D4E332E2286}"/>
              </a:ext>
            </a:extLst>
          </p:cNvPr>
          <p:cNvSpPr txBox="1"/>
          <p:nvPr/>
        </p:nvSpPr>
        <p:spPr>
          <a:xfrm>
            <a:off x="550606" y="1034505"/>
            <a:ext cx="11552903" cy="4452501"/>
          </a:xfrm>
          <a:prstGeom prst="rect">
            <a:avLst/>
          </a:prstGeom>
          <a:noFill/>
        </p:spPr>
        <p:txBody>
          <a:bodyPr wrap="square">
            <a:spAutoFit/>
          </a:bodyPr>
          <a:lstStyle/>
          <a:p>
            <a:pPr algn="l" rtl="0" fontAlgn="base">
              <a:spcAft>
                <a:spcPts val="750"/>
              </a:spcAft>
              <a:buNone/>
            </a:pPr>
            <a:r>
              <a:rPr lang="en-US" sz="2400" b="1" dirty="0">
                <a:solidFill>
                  <a:srgbClr val="C00000"/>
                </a:solidFill>
                <a:latin typeface="Aptos Narrow" panose="020B0004020202020204" pitchFamily="34" charset="0"/>
              </a:rPr>
              <a:t>Parameters of GMM</a:t>
            </a:r>
          </a:p>
          <a:p>
            <a:pPr algn="l" rtl="0" fontAlgn="base">
              <a:lnSpc>
                <a:spcPct val="150000"/>
              </a:lnSpc>
              <a:spcAft>
                <a:spcPts val="750"/>
              </a:spcAft>
              <a:buNone/>
            </a:pPr>
            <a:r>
              <a:rPr lang="en-US" sz="2000" b="0" i="0" dirty="0">
                <a:solidFill>
                  <a:srgbClr val="273239"/>
                </a:solidFill>
                <a:effectLst/>
                <a:latin typeface="Aptos Narrow" panose="020B0004020202020204" pitchFamily="34" charset="0"/>
              </a:rPr>
              <a:t>Each Gaussian in the mixture is defined by:</a:t>
            </a:r>
          </a:p>
          <a:p>
            <a:pPr>
              <a:lnSpc>
                <a:spcPct val="150000"/>
              </a:lnSpc>
            </a:pPr>
            <a:r>
              <a:rPr lang="en-US" sz="2000" b="1" i="0" dirty="0">
                <a:solidFill>
                  <a:srgbClr val="0070C0"/>
                </a:solidFill>
                <a:effectLst/>
                <a:latin typeface="Aptos Narrow" panose="020B0004020202020204" pitchFamily="34" charset="0"/>
              </a:rPr>
              <a:t>Mean (μ)</a:t>
            </a:r>
            <a:r>
              <a:rPr lang="en-US" sz="2000" b="0" i="0" dirty="0">
                <a:solidFill>
                  <a:srgbClr val="0070C0"/>
                </a:solidFill>
                <a:effectLst/>
                <a:latin typeface="Aptos Narrow" panose="020B0004020202020204" pitchFamily="34" charset="0"/>
              </a:rPr>
              <a:t>: </a:t>
            </a:r>
          </a:p>
          <a:p>
            <a:pPr marL="285750" indent="-285750">
              <a:lnSpc>
                <a:spcPct val="150000"/>
              </a:lnSpc>
              <a:buFont typeface="Wingdings" panose="05000000000000000000" pitchFamily="2" charset="2"/>
              <a:buChar char="q"/>
            </a:pPr>
            <a:r>
              <a:rPr lang="en-US" dirty="0">
                <a:latin typeface="Aptos Narrow" panose="020B0004020202020204" pitchFamily="34" charset="0"/>
              </a:rPr>
              <a:t>Each Gaussian distribution in the mixture has its own mean, which determines the center of the cluster.</a:t>
            </a:r>
          </a:p>
          <a:p>
            <a:pPr>
              <a:lnSpc>
                <a:spcPct val="150000"/>
              </a:lnSpc>
            </a:pPr>
            <a:r>
              <a:rPr lang="en-US" sz="2000" b="1" i="0" dirty="0">
                <a:solidFill>
                  <a:srgbClr val="0070C0"/>
                </a:solidFill>
                <a:effectLst/>
                <a:latin typeface="Aptos Narrow" panose="020B0004020202020204" pitchFamily="34" charset="0"/>
              </a:rPr>
              <a:t>Covariance (Σ)</a:t>
            </a:r>
            <a:r>
              <a:rPr lang="en-US" sz="2000" b="0" i="0" dirty="0">
                <a:solidFill>
                  <a:srgbClr val="0070C0"/>
                </a:solidFill>
                <a:effectLst/>
                <a:latin typeface="Aptos Narrow" panose="020B0004020202020204" pitchFamily="34" charset="0"/>
              </a:rPr>
              <a:t>: </a:t>
            </a:r>
          </a:p>
          <a:p>
            <a:pPr marL="285750" indent="-285750">
              <a:lnSpc>
                <a:spcPct val="150000"/>
              </a:lnSpc>
              <a:buFont typeface="Wingdings" panose="05000000000000000000" pitchFamily="2" charset="2"/>
              <a:buChar char="q"/>
            </a:pPr>
            <a:r>
              <a:rPr lang="en-US" dirty="0">
                <a:latin typeface="Aptos Narrow" panose="020B0004020202020204" pitchFamily="34" charset="0"/>
              </a:rPr>
              <a:t>This defines the shape and orientation of each Gaussian distribution, allowing for ellipsoidal clusters.</a:t>
            </a:r>
          </a:p>
          <a:p>
            <a:pPr>
              <a:lnSpc>
                <a:spcPct val="150000"/>
              </a:lnSpc>
            </a:pPr>
            <a:r>
              <a:rPr lang="en-US" sz="2000" b="1" i="0" dirty="0">
                <a:solidFill>
                  <a:srgbClr val="0070C0"/>
                </a:solidFill>
                <a:effectLst/>
                <a:latin typeface="Aptos Narrow" panose="020B0004020202020204" pitchFamily="34" charset="0"/>
              </a:rPr>
              <a:t>Mixing coefficient (π)</a:t>
            </a:r>
            <a:r>
              <a:rPr lang="en-US" sz="2000" b="0" i="0" dirty="0">
                <a:solidFill>
                  <a:srgbClr val="0070C0"/>
                </a:solidFill>
                <a:effectLst/>
                <a:latin typeface="Aptos Narrow" panose="020B0004020202020204" pitchFamily="34" charset="0"/>
              </a:rPr>
              <a:t>: </a:t>
            </a:r>
          </a:p>
          <a:p>
            <a:pPr marL="285750" indent="-285750">
              <a:lnSpc>
                <a:spcPct val="150000"/>
              </a:lnSpc>
              <a:buFont typeface="Wingdings" panose="05000000000000000000" pitchFamily="2" charset="2"/>
              <a:buChar char="q"/>
            </a:pPr>
            <a:r>
              <a:rPr lang="en-US" dirty="0">
                <a:latin typeface="Aptos Narrow" panose="020B0004020202020204" pitchFamily="34" charset="0"/>
              </a:rPr>
              <a:t>These are the weights assigned to each Gaussian distribution, indicating the proportion of data belonging to each cluster.</a:t>
            </a:r>
          </a:p>
          <a:p>
            <a:pPr marL="285750" indent="-285750">
              <a:lnSpc>
                <a:spcPct val="150000"/>
              </a:lnSpc>
              <a:buFont typeface="Wingdings" panose="05000000000000000000" pitchFamily="2" charset="2"/>
              <a:buChar char="q"/>
            </a:pPr>
            <a:r>
              <a:rPr lang="en-US" dirty="0">
                <a:latin typeface="Aptos Narrow" panose="020B0004020202020204" pitchFamily="34" charset="0"/>
              </a:rPr>
              <a:t>The sum of all mixing coefficients is 1.</a:t>
            </a:r>
          </a:p>
          <a:p>
            <a:endParaRPr lang="en-IN" sz="1800" dirty="0">
              <a:latin typeface="Aptos Narrow" panose="020B0004020202020204" pitchFamily="34" charset="0"/>
            </a:endParaRPr>
          </a:p>
        </p:txBody>
      </p:sp>
    </p:spTree>
    <p:extLst>
      <p:ext uri="{BB962C8B-B14F-4D97-AF65-F5344CB8AC3E}">
        <p14:creationId xmlns:p14="http://schemas.microsoft.com/office/powerpoint/2010/main" val="972384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E52E4-3D67-9CBF-FB0B-961EA2BDA21E}"/>
              </a:ext>
            </a:extLst>
          </p:cNvPr>
          <p:cNvSpPr txBox="1"/>
          <p:nvPr/>
        </p:nvSpPr>
        <p:spPr>
          <a:xfrm>
            <a:off x="3799112" y="610156"/>
            <a:ext cx="6096000" cy="461665"/>
          </a:xfrm>
          <a:prstGeom prst="rect">
            <a:avLst/>
          </a:prstGeom>
          <a:noFill/>
        </p:spPr>
        <p:txBody>
          <a:bodyPr wrap="square">
            <a:spAutoFit/>
          </a:bodyPr>
          <a:lstStyle/>
          <a:p>
            <a:pPr algn="l" fontAlgn="base">
              <a:buNone/>
            </a:pPr>
            <a:r>
              <a:rPr lang="en-US" sz="2400" b="1" i="0" dirty="0">
                <a:solidFill>
                  <a:srgbClr val="C00000"/>
                </a:solidFill>
                <a:effectLst/>
                <a:latin typeface="Aptos Narrow" panose="020B0004020202020204" pitchFamily="34" charset="0"/>
              </a:rPr>
              <a:t>How Gaussian Mixture Models Work?</a:t>
            </a:r>
          </a:p>
        </p:txBody>
      </p:sp>
      <p:sp>
        <p:nvSpPr>
          <p:cNvPr id="7" name="TextBox 6">
            <a:extLst>
              <a:ext uri="{FF2B5EF4-FFF2-40B4-BE49-F238E27FC236}">
                <a16:creationId xmlns:a16="http://schemas.microsoft.com/office/drawing/2014/main" id="{35852BAD-E7C1-6876-890D-363CDB26D57F}"/>
              </a:ext>
            </a:extLst>
          </p:cNvPr>
          <p:cNvSpPr txBox="1"/>
          <p:nvPr/>
        </p:nvSpPr>
        <p:spPr>
          <a:xfrm>
            <a:off x="446312" y="1388636"/>
            <a:ext cx="11255829" cy="646331"/>
          </a:xfrm>
          <a:prstGeom prst="rect">
            <a:avLst/>
          </a:prstGeom>
          <a:noFill/>
        </p:spPr>
        <p:txBody>
          <a:bodyPr wrap="square">
            <a:spAutoFit/>
          </a:bodyPr>
          <a:lstStyle/>
          <a:p>
            <a:r>
              <a:rPr lang="en-US" b="0" i="0" dirty="0">
                <a:solidFill>
                  <a:srgbClr val="273239"/>
                </a:solidFill>
                <a:effectLst/>
                <a:latin typeface="Aptos Narrow" panose="020B0004020202020204" pitchFamily="34" charset="0"/>
              </a:rPr>
              <a:t>Here</a:t>
            </a:r>
            <a:r>
              <a:rPr lang="en-US" b="1" i="0" dirty="0">
                <a:solidFill>
                  <a:srgbClr val="273239"/>
                </a:solidFill>
                <a:effectLst/>
                <a:latin typeface="Aptos Narrow" panose="020B0004020202020204" pitchFamily="34" charset="0"/>
              </a:rPr>
              <a:t> </a:t>
            </a:r>
            <a:r>
              <a:rPr lang="en-US" b="0" i="0" dirty="0">
                <a:solidFill>
                  <a:srgbClr val="273239"/>
                </a:solidFill>
                <a:effectLst/>
                <a:latin typeface="Aptos Narrow" panose="020B0004020202020204" pitchFamily="34" charset="0"/>
              </a:rPr>
              <a:t>Each cluster is represented by a Gaussian distribution and the data points are assigned probabilities of belonging to different clusters based on their distance from each Gaussian.</a:t>
            </a:r>
            <a:endParaRPr lang="en-IN" dirty="0">
              <a:latin typeface="Aptos Narrow" panose="020B0004020202020204" pitchFamily="34" charset="0"/>
            </a:endParaRPr>
          </a:p>
        </p:txBody>
      </p:sp>
      <p:pic>
        <p:nvPicPr>
          <p:cNvPr id="16" name="Picture 15">
            <a:extLst>
              <a:ext uri="{FF2B5EF4-FFF2-40B4-BE49-F238E27FC236}">
                <a16:creationId xmlns:a16="http://schemas.microsoft.com/office/drawing/2014/main" id="{418FC83C-D502-FFEF-3ED5-BB9E11D208C3}"/>
              </a:ext>
            </a:extLst>
          </p:cNvPr>
          <p:cNvPicPr>
            <a:picLocks noChangeAspect="1"/>
          </p:cNvPicPr>
          <p:nvPr/>
        </p:nvPicPr>
        <p:blipFill>
          <a:blip r:embed="rId2"/>
          <a:stretch>
            <a:fillRect/>
          </a:stretch>
        </p:blipFill>
        <p:spPr>
          <a:xfrm>
            <a:off x="6074226" y="2868559"/>
            <a:ext cx="5573607" cy="2615983"/>
          </a:xfrm>
          <a:prstGeom prst="rect">
            <a:avLst/>
          </a:prstGeom>
        </p:spPr>
      </p:pic>
      <p:pic>
        <p:nvPicPr>
          <p:cNvPr id="18" name="Picture 17">
            <a:extLst>
              <a:ext uri="{FF2B5EF4-FFF2-40B4-BE49-F238E27FC236}">
                <a16:creationId xmlns:a16="http://schemas.microsoft.com/office/drawing/2014/main" id="{9FED412B-3804-32CF-FAEC-56641408F196}"/>
              </a:ext>
            </a:extLst>
          </p:cNvPr>
          <p:cNvPicPr>
            <a:picLocks noChangeAspect="1"/>
          </p:cNvPicPr>
          <p:nvPr/>
        </p:nvPicPr>
        <p:blipFill>
          <a:blip r:embed="rId3"/>
          <a:stretch>
            <a:fillRect/>
          </a:stretch>
        </p:blipFill>
        <p:spPr>
          <a:xfrm>
            <a:off x="544167" y="3838148"/>
            <a:ext cx="5630037" cy="1689011"/>
          </a:xfrm>
          <a:prstGeom prst="rect">
            <a:avLst/>
          </a:prstGeom>
        </p:spPr>
      </p:pic>
      <p:sp>
        <p:nvSpPr>
          <p:cNvPr id="20" name="TextBox 19">
            <a:extLst>
              <a:ext uri="{FF2B5EF4-FFF2-40B4-BE49-F238E27FC236}">
                <a16:creationId xmlns:a16="http://schemas.microsoft.com/office/drawing/2014/main" id="{7728BD81-95F2-2847-AABD-58C695DED925}"/>
              </a:ext>
            </a:extLst>
          </p:cNvPr>
          <p:cNvSpPr txBox="1"/>
          <p:nvPr/>
        </p:nvSpPr>
        <p:spPr>
          <a:xfrm>
            <a:off x="544167" y="2444115"/>
            <a:ext cx="6096000" cy="984885"/>
          </a:xfrm>
          <a:prstGeom prst="rect">
            <a:avLst/>
          </a:prstGeom>
          <a:noFill/>
        </p:spPr>
        <p:txBody>
          <a:bodyPr wrap="square">
            <a:spAutoFit/>
          </a:bodyPr>
          <a:lstStyle/>
          <a:p>
            <a:pPr>
              <a:buNone/>
            </a:pPr>
            <a:r>
              <a:rPr lang="en-IN" sz="2000" b="1" dirty="0">
                <a:latin typeface="Aptos Narrow" panose="020B0004020202020204" pitchFamily="34" charset="0"/>
              </a:rPr>
              <a:t>🧠 Mathematical Formulation</a:t>
            </a:r>
          </a:p>
          <a:p>
            <a:pPr>
              <a:buNone/>
            </a:pPr>
            <a:endParaRPr lang="en-IN" sz="2000" b="1" dirty="0">
              <a:latin typeface="Aptos Narrow" panose="020B0004020202020204" pitchFamily="34" charset="0"/>
            </a:endParaRPr>
          </a:p>
          <a:p>
            <a:pPr>
              <a:buNone/>
            </a:pPr>
            <a:r>
              <a:rPr lang="en-IN" dirty="0">
                <a:latin typeface="Aptos Narrow" panose="020B0004020202020204" pitchFamily="34" charset="0"/>
              </a:rPr>
              <a:t>A GMM models data as:</a:t>
            </a:r>
          </a:p>
        </p:txBody>
      </p:sp>
    </p:spTree>
    <p:extLst>
      <p:ext uri="{BB962C8B-B14F-4D97-AF65-F5344CB8AC3E}">
        <p14:creationId xmlns:p14="http://schemas.microsoft.com/office/powerpoint/2010/main" val="3206080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8FEED3D-1FE2-1FC9-86AA-109CAB5EF66E}"/>
              </a:ext>
            </a:extLst>
          </p:cNvPr>
          <p:cNvSpPr txBox="1"/>
          <p:nvPr/>
        </p:nvSpPr>
        <p:spPr>
          <a:xfrm>
            <a:off x="575362" y="1271999"/>
            <a:ext cx="11478986" cy="4519186"/>
          </a:xfrm>
          <a:prstGeom prst="rect">
            <a:avLst/>
          </a:prstGeom>
          <a:noFill/>
        </p:spPr>
        <p:txBody>
          <a:bodyPr wrap="square">
            <a:spAutoFit/>
          </a:bodyPr>
          <a:lstStyle/>
          <a:p>
            <a:pPr algn="l" rtl="0" fontAlgn="base">
              <a:spcAft>
                <a:spcPts val="750"/>
              </a:spcAft>
              <a:buNone/>
            </a:pPr>
            <a:r>
              <a:rPr lang="en-US" b="0" i="0" dirty="0">
                <a:solidFill>
                  <a:srgbClr val="273239"/>
                </a:solidFill>
                <a:effectLst/>
                <a:latin typeface="Aptos Narrow" panose="020B0004020202020204" pitchFamily="34" charset="0"/>
              </a:rPr>
              <a:t>To fit a Gaussian Mixture Model to the data we use the </a:t>
            </a:r>
            <a:r>
              <a:rPr lang="en-US" b="1" i="0" dirty="0">
                <a:solidFill>
                  <a:srgbClr val="357960"/>
                </a:solidFill>
                <a:effectLst/>
                <a:latin typeface="Aptos Narrow" panose="020B0004020202020204" pitchFamily="34" charset="0"/>
              </a:rPr>
              <a:t>Expectation-Maximization (EM)</a:t>
            </a:r>
            <a:r>
              <a:rPr lang="en-US" b="0" i="0" dirty="0">
                <a:solidFill>
                  <a:srgbClr val="273239"/>
                </a:solidFill>
                <a:effectLst/>
                <a:latin typeface="Aptos Narrow" panose="020B0004020202020204" pitchFamily="34" charset="0"/>
              </a:rPr>
              <a:t> algorithm which is an iterative method that optimize the parameters of the Gaussian distributions like mean, covariance and mixing coefficients. </a:t>
            </a:r>
          </a:p>
          <a:p>
            <a:pPr algn="l" rtl="0" fontAlgn="base">
              <a:spcAft>
                <a:spcPts val="750"/>
              </a:spcAft>
              <a:buNone/>
            </a:pPr>
            <a:r>
              <a:rPr lang="en-US" b="0" i="0" dirty="0">
                <a:solidFill>
                  <a:srgbClr val="273239"/>
                </a:solidFill>
                <a:effectLst/>
                <a:latin typeface="Aptos Narrow" panose="020B0004020202020204" pitchFamily="34" charset="0"/>
              </a:rPr>
              <a:t>It works in two main steps:</a:t>
            </a:r>
          </a:p>
          <a:p>
            <a:pPr marL="285750" indent="-285750" algn="l" fontAlgn="base">
              <a:spcAft>
                <a:spcPts val="1800"/>
              </a:spcAft>
              <a:buFont typeface="Wingdings" panose="05000000000000000000" pitchFamily="2" charset="2"/>
              <a:buChar char="q"/>
            </a:pPr>
            <a:r>
              <a:rPr lang="en-US" b="1" i="0" dirty="0">
                <a:solidFill>
                  <a:srgbClr val="0070C0"/>
                </a:solidFill>
                <a:effectLst/>
                <a:latin typeface="Aptos Narrow" panose="020B0004020202020204" pitchFamily="34" charset="0"/>
              </a:rPr>
              <a:t>Expectation Step (E-step)</a:t>
            </a:r>
            <a:r>
              <a:rPr lang="en-US" b="0" i="0" dirty="0">
                <a:solidFill>
                  <a:srgbClr val="0070C0"/>
                </a:solidFill>
                <a:effectLst/>
                <a:latin typeface="Aptos Narrow" panose="020B0004020202020204" pitchFamily="34" charset="0"/>
              </a:rPr>
              <a:t>: </a:t>
            </a:r>
            <a:r>
              <a:rPr lang="en-US" b="0" i="0" dirty="0">
                <a:solidFill>
                  <a:srgbClr val="273239"/>
                </a:solidFill>
                <a:effectLst/>
                <a:latin typeface="Aptos Narrow" panose="020B0004020202020204" pitchFamily="34" charset="0"/>
              </a:rPr>
              <a:t>In this step the algorithm calculates the probability that each data point belongs to each cluster based on the current parameter estimates (mean, covariance, mixing coefficients).</a:t>
            </a:r>
          </a:p>
          <a:p>
            <a:pPr marL="285750" indent="-285750" algn="l" fontAlgn="base">
              <a:spcAft>
                <a:spcPts val="1800"/>
              </a:spcAft>
              <a:buFont typeface="Wingdings" panose="05000000000000000000" pitchFamily="2" charset="2"/>
              <a:buChar char="q"/>
            </a:pPr>
            <a:r>
              <a:rPr lang="en-US" b="1" i="0" dirty="0">
                <a:solidFill>
                  <a:srgbClr val="0070C0"/>
                </a:solidFill>
                <a:effectLst/>
                <a:latin typeface="Aptos Narrow" panose="020B0004020202020204" pitchFamily="34" charset="0"/>
              </a:rPr>
              <a:t>Maximization Step (M-step)</a:t>
            </a:r>
            <a:r>
              <a:rPr lang="en-US" b="0" i="0" dirty="0">
                <a:solidFill>
                  <a:srgbClr val="0070C0"/>
                </a:solidFill>
                <a:effectLst/>
                <a:latin typeface="Aptos Narrow" panose="020B0004020202020204" pitchFamily="34" charset="0"/>
              </a:rPr>
              <a:t>: </a:t>
            </a:r>
            <a:r>
              <a:rPr lang="en-US" b="0" i="0" dirty="0">
                <a:solidFill>
                  <a:srgbClr val="273239"/>
                </a:solidFill>
                <a:effectLst/>
                <a:latin typeface="Aptos Narrow" panose="020B0004020202020204" pitchFamily="34" charset="0"/>
              </a:rPr>
              <a:t>After estimating the probabilities the algorithm updates the parameters (mean, covariance and mixing coefficients) to better fit the data.</a:t>
            </a:r>
          </a:p>
          <a:p>
            <a:pPr algn="l" rtl="0" fontAlgn="base">
              <a:spcAft>
                <a:spcPts val="750"/>
              </a:spcAft>
            </a:pPr>
            <a:r>
              <a:rPr lang="en-US" b="0" i="0" dirty="0">
                <a:solidFill>
                  <a:srgbClr val="273239"/>
                </a:solidFill>
                <a:effectLst/>
                <a:latin typeface="Aptos Narrow" panose="020B0004020202020204" pitchFamily="34" charset="0"/>
              </a:rPr>
              <a:t>These two steps are repeated until the model converges meaning the parameters no longer change significantly between iterations. </a:t>
            </a:r>
          </a:p>
          <a:p>
            <a:pPr algn="l" rtl="0" fontAlgn="base">
              <a:spcAft>
                <a:spcPts val="750"/>
              </a:spcAft>
            </a:pPr>
            <a:r>
              <a:rPr lang="en-US" b="0" i="0" dirty="0">
                <a:solidFill>
                  <a:srgbClr val="273239"/>
                </a:solidFill>
                <a:effectLst/>
                <a:latin typeface="Aptos Narrow" panose="020B0004020202020204" pitchFamily="34" charset="0"/>
              </a:rPr>
              <a:t>Here’s a simple breakdown of the GMM process:</a:t>
            </a:r>
          </a:p>
          <a:p>
            <a:pPr marL="285750" indent="-285750" algn="l" fontAlgn="base">
              <a:spcAft>
                <a:spcPts val="1800"/>
              </a:spcAft>
              <a:buFont typeface="Wingdings" panose="05000000000000000000" pitchFamily="2" charset="2"/>
              <a:buChar char="q"/>
            </a:pPr>
            <a:r>
              <a:rPr lang="en-US" b="1" i="0" dirty="0">
                <a:solidFill>
                  <a:srgbClr val="273239"/>
                </a:solidFill>
                <a:effectLst/>
                <a:latin typeface="Aptos Narrow" panose="020B0004020202020204" pitchFamily="34" charset="0"/>
              </a:rPr>
              <a:t>Initialization</a:t>
            </a:r>
            <a:r>
              <a:rPr lang="en-US" b="0" i="0" dirty="0">
                <a:solidFill>
                  <a:srgbClr val="273239"/>
                </a:solidFill>
                <a:effectLst/>
                <a:latin typeface="Aptos Narrow" panose="020B0004020202020204" pitchFamily="34" charset="0"/>
              </a:rPr>
              <a:t>: Start with initial guesses for the means, covariances and mixing coefficients of each Gaussian distribution.</a:t>
            </a:r>
          </a:p>
          <a:p>
            <a:pPr marL="285750" indent="-285750" algn="l" fontAlgn="base">
              <a:spcAft>
                <a:spcPts val="1800"/>
              </a:spcAft>
              <a:buFont typeface="Wingdings" panose="05000000000000000000" pitchFamily="2" charset="2"/>
              <a:buChar char="q"/>
            </a:pPr>
            <a:r>
              <a:rPr lang="en-US" b="1" i="0" dirty="0">
                <a:solidFill>
                  <a:srgbClr val="273239"/>
                </a:solidFill>
                <a:effectLst/>
                <a:latin typeface="Aptos Narrow" panose="020B0004020202020204" pitchFamily="34" charset="0"/>
              </a:rPr>
              <a:t>E-step</a:t>
            </a:r>
            <a:r>
              <a:rPr lang="en-US" b="0" i="0" dirty="0">
                <a:solidFill>
                  <a:srgbClr val="273239"/>
                </a:solidFill>
                <a:effectLst/>
                <a:latin typeface="Aptos Narrow" panose="020B0004020202020204" pitchFamily="34" charset="0"/>
              </a:rPr>
              <a:t>: For each data point, calculate the probability of it belonging to each Gaussian distribution (cluster).</a:t>
            </a:r>
          </a:p>
        </p:txBody>
      </p:sp>
      <p:sp>
        <p:nvSpPr>
          <p:cNvPr id="3" name="TextBox 2">
            <a:extLst>
              <a:ext uri="{FF2B5EF4-FFF2-40B4-BE49-F238E27FC236}">
                <a16:creationId xmlns:a16="http://schemas.microsoft.com/office/drawing/2014/main" id="{78F11BFF-E839-6C88-102D-224DA9AC7961}"/>
              </a:ext>
            </a:extLst>
          </p:cNvPr>
          <p:cNvSpPr txBox="1"/>
          <p:nvPr/>
        </p:nvSpPr>
        <p:spPr>
          <a:xfrm>
            <a:off x="3175820" y="523257"/>
            <a:ext cx="6096000" cy="461665"/>
          </a:xfrm>
          <a:prstGeom prst="rect">
            <a:avLst/>
          </a:prstGeom>
          <a:noFill/>
        </p:spPr>
        <p:txBody>
          <a:bodyPr wrap="square">
            <a:spAutoFit/>
          </a:bodyPr>
          <a:lstStyle/>
          <a:p>
            <a:pPr algn="l" fontAlgn="base">
              <a:buNone/>
            </a:pPr>
            <a:r>
              <a:rPr lang="en-US" sz="2400" b="1" i="0" dirty="0">
                <a:solidFill>
                  <a:srgbClr val="C00000"/>
                </a:solidFill>
                <a:effectLst/>
                <a:latin typeface="Aptos Narrow" panose="020B0004020202020204" pitchFamily="34" charset="0"/>
              </a:rPr>
              <a:t>The Expectation-Maximization (EM) Algorithm</a:t>
            </a:r>
          </a:p>
        </p:txBody>
      </p:sp>
    </p:spTree>
    <p:extLst>
      <p:ext uri="{BB962C8B-B14F-4D97-AF65-F5344CB8AC3E}">
        <p14:creationId xmlns:p14="http://schemas.microsoft.com/office/powerpoint/2010/main" val="4027378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5921" y="1277978"/>
            <a:ext cx="11014634" cy="1554272"/>
          </a:xfrm>
          <a:prstGeom prst="rect">
            <a:avLst/>
          </a:prstGeom>
        </p:spPr>
        <p:txBody>
          <a:bodyPr wrap="square">
            <a:spAutoFit/>
          </a:bodyPr>
          <a:lstStyle/>
          <a:p>
            <a:pPr marL="285750" indent="-285750" fontAlgn="base">
              <a:spcAft>
                <a:spcPts val="1800"/>
              </a:spcAft>
              <a:buFont typeface="Wingdings" panose="05000000000000000000" pitchFamily="2" charset="2"/>
              <a:buChar char="q"/>
            </a:pPr>
            <a:r>
              <a:rPr lang="en-US" sz="2000" b="1" dirty="0">
                <a:solidFill>
                  <a:srgbClr val="273239"/>
                </a:solidFill>
                <a:latin typeface="Aptos Narrow" panose="020B0004020202020204" pitchFamily="34" charset="0"/>
              </a:rPr>
              <a:t>M-step</a:t>
            </a:r>
            <a:r>
              <a:rPr lang="en-US" sz="2000" dirty="0">
                <a:solidFill>
                  <a:srgbClr val="273239"/>
                </a:solidFill>
                <a:latin typeface="Aptos Narrow" panose="020B0004020202020204" pitchFamily="34" charset="0"/>
              </a:rPr>
              <a:t>: Update the parameters (means, covariance's, mixing coefficients) using the probabilities calculated in the E-step.</a:t>
            </a:r>
          </a:p>
          <a:p>
            <a:pPr marL="285750" indent="-285750" fontAlgn="base">
              <a:spcAft>
                <a:spcPts val="1800"/>
              </a:spcAft>
              <a:buFont typeface="Wingdings" panose="05000000000000000000" pitchFamily="2" charset="2"/>
              <a:buChar char="q"/>
            </a:pPr>
            <a:r>
              <a:rPr lang="en-US" sz="2000" b="1" dirty="0">
                <a:solidFill>
                  <a:srgbClr val="273239"/>
                </a:solidFill>
                <a:latin typeface="Aptos Narrow" panose="020B0004020202020204" pitchFamily="34" charset="0"/>
              </a:rPr>
              <a:t>Repeat</a:t>
            </a:r>
            <a:r>
              <a:rPr lang="en-US" sz="2000" dirty="0">
                <a:solidFill>
                  <a:srgbClr val="273239"/>
                </a:solidFill>
                <a:latin typeface="Aptos Narrow" panose="020B0004020202020204" pitchFamily="34" charset="0"/>
              </a:rPr>
              <a:t>: Continue alternating between the E-step and M-step until the log-likelihood of the data (a measure of how well the model fits the data) converges.</a:t>
            </a:r>
          </a:p>
        </p:txBody>
      </p:sp>
    </p:spTree>
    <p:extLst>
      <p:ext uri="{BB962C8B-B14F-4D97-AF65-F5344CB8AC3E}">
        <p14:creationId xmlns:p14="http://schemas.microsoft.com/office/powerpoint/2010/main" val="2372283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D7DAA7-B247-4F86-FF6E-B027E4DC0F6A}"/>
              </a:ext>
            </a:extLst>
          </p:cNvPr>
          <p:cNvSpPr txBox="1"/>
          <p:nvPr/>
        </p:nvSpPr>
        <p:spPr>
          <a:xfrm>
            <a:off x="500192" y="901275"/>
            <a:ext cx="11014634" cy="2492990"/>
          </a:xfrm>
          <a:prstGeom prst="rect">
            <a:avLst/>
          </a:prstGeom>
          <a:noFill/>
        </p:spPr>
        <p:txBody>
          <a:bodyPr wrap="square">
            <a:spAutoFit/>
          </a:bodyPr>
          <a:lstStyle/>
          <a:p>
            <a:pPr algn="l" fontAlgn="base">
              <a:buNone/>
            </a:pPr>
            <a:r>
              <a:rPr lang="en-US" b="1" i="0" dirty="0">
                <a:solidFill>
                  <a:srgbClr val="C00000"/>
                </a:solidFill>
                <a:effectLst/>
                <a:latin typeface="Aptos Narrow" panose="020B0004020202020204" pitchFamily="34" charset="0"/>
              </a:rPr>
              <a:t>Advantages of GMM</a:t>
            </a:r>
          </a:p>
          <a:p>
            <a:pPr marL="285750" indent="-285750" algn="l" fontAlgn="base">
              <a:spcAft>
                <a:spcPts val="1800"/>
              </a:spcAft>
              <a:buFont typeface="Wingdings" panose="05000000000000000000" pitchFamily="2" charset="2"/>
              <a:buChar char="ü"/>
            </a:pPr>
            <a:r>
              <a:rPr lang="en-US" b="1" i="0" dirty="0">
                <a:solidFill>
                  <a:srgbClr val="273239"/>
                </a:solidFill>
                <a:effectLst/>
                <a:latin typeface="Aptos Narrow" panose="020B0004020202020204" pitchFamily="34" charset="0"/>
              </a:rPr>
              <a:t>Flexible Cluster Shapes</a:t>
            </a:r>
            <a:r>
              <a:rPr lang="en-US" b="0" i="0" dirty="0">
                <a:solidFill>
                  <a:srgbClr val="273239"/>
                </a:solidFill>
                <a:effectLst/>
                <a:latin typeface="Aptos Narrow" panose="020B0004020202020204" pitchFamily="34" charset="0"/>
              </a:rPr>
              <a:t>: Unlike K-Means which assumes spherical clusters it can model clusters with arbitrary shapes.</a:t>
            </a:r>
          </a:p>
          <a:p>
            <a:pPr marL="285750" indent="-285750" algn="l" fontAlgn="base">
              <a:spcAft>
                <a:spcPts val="1800"/>
              </a:spcAft>
              <a:buFont typeface="Wingdings" panose="05000000000000000000" pitchFamily="2" charset="2"/>
              <a:buChar char="ü"/>
            </a:pPr>
            <a:r>
              <a:rPr lang="en-US" b="1" i="0" dirty="0">
                <a:solidFill>
                  <a:srgbClr val="273239"/>
                </a:solidFill>
                <a:effectLst/>
                <a:latin typeface="Aptos Narrow" panose="020B0004020202020204" pitchFamily="34" charset="0"/>
              </a:rPr>
              <a:t>Soft Assignment</a:t>
            </a:r>
            <a:r>
              <a:rPr lang="en-US" b="0" i="0" dirty="0">
                <a:solidFill>
                  <a:srgbClr val="273239"/>
                </a:solidFill>
                <a:effectLst/>
                <a:latin typeface="Aptos Narrow" panose="020B0004020202020204" pitchFamily="34" charset="0"/>
              </a:rPr>
              <a:t>: GMM assign a probability for each data point to belong to each cluster while K-Means assigns each point to exactly one cluster.</a:t>
            </a:r>
          </a:p>
          <a:p>
            <a:pPr marL="285750" indent="-285750" algn="l" fontAlgn="base">
              <a:spcAft>
                <a:spcPts val="1800"/>
              </a:spcAft>
              <a:buFont typeface="Wingdings" panose="05000000000000000000" pitchFamily="2" charset="2"/>
              <a:buChar char="ü"/>
            </a:pPr>
            <a:r>
              <a:rPr lang="en-US" b="1" i="0" dirty="0">
                <a:solidFill>
                  <a:srgbClr val="273239"/>
                </a:solidFill>
                <a:effectLst/>
                <a:latin typeface="Aptos Narrow" panose="020B0004020202020204" pitchFamily="34" charset="0"/>
              </a:rPr>
              <a:t>Handles Overlapping Data</a:t>
            </a:r>
            <a:r>
              <a:rPr lang="en-US" b="0" i="0" dirty="0">
                <a:solidFill>
                  <a:srgbClr val="273239"/>
                </a:solidFill>
                <a:effectLst/>
                <a:latin typeface="Aptos Narrow" panose="020B0004020202020204" pitchFamily="34" charset="0"/>
              </a:rPr>
              <a:t>: GMM performs well when clusters overlap or have varying densities. Since it uses probability distributions, it can assign a point to multiple clusters with different probabilities</a:t>
            </a:r>
          </a:p>
        </p:txBody>
      </p:sp>
      <p:sp>
        <p:nvSpPr>
          <p:cNvPr id="6" name="TextBox 5">
            <a:extLst>
              <a:ext uri="{FF2B5EF4-FFF2-40B4-BE49-F238E27FC236}">
                <a16:creationId xmlns:a16="http://schemas.microsoft.com/office/drawing/2014/main" id="{96AF0C0E-0EE7-D8A9-36A4-C757165E3F1A}"/>
              </a:ext>
            </a:extLst>
          </p:cNvPr>
          <p:cNvSpPr txBox="1"/>
          <p:nvPr/>
        </p:nvSpPr>
        <p:spPr>
          <a:xfrm>
            <a:off x="500192" y="3517119"/>
            <a:ext cx="11524659" cy="2742289"/>
          </a:xfrm>
          <a:prstGeom prst="rect">
            <a:avLst/>
          </a:prstGeom>
          <a:noFill/>
        </p:spPr>
        <p:txBody>
          <a:bodyPr wrap="square">
            <a:spAutoFit/>
          </a:bodyPr>
          <a:lstStyle/>
          <a:p>
            <a:pPr algn="l" fontAlgn="base"/>
            <a:r>
              <a:rPr lang="en-US" b="1" i="0" dirty="0">
                <a:solidFill>
                  <a:srgbClr val="C00000"/>
                </a:solidFill>
                <a:effectLst/>
                <a:latin typeface="Aptos Narrow" panose="020B0004020202020204" pitchFamily="34" charset="0"/>
              </a:rPr>
              <a:t>Limitations of GMM</a:t>
            </a:r>
          </a:p>
          <a:p>
            <a:pPr marL="285750" indent="-285750" algn="l" fontAlgn="base">
              <a:spcAft>
                <a:spcPts val="1800"/>
              </a:spcAft>
              <a:buFont typeface="Wingdings" panose="05000000000000000000" pitchFamily="2" charset="2"/>
              <a:buChar char="Ø"/>
            </a:pPr>
            <a:r>
              <a:rPr lang="en-US" b="1" i="0" dirty="0">
                <a:solidFill>
                  <a:srgbClr val="273239"/>
                </a:solidFill>
                <a:effectLst/>
                <a:latin typeface="Aptos Narrow" panose="020B0004020202020204" pitchFamily="34" charset="0"/>
              </a:rPr>
              <a:t>Computational Complexity</a:t>
            </a:r>
            <a:r>
              <a:rPr lang="en-US" b="0" i="0" dirty="0">
                <a:solidFill>
                  <a:srgbClr val="273239"/>
                </a:solidFill>
                <a:effectLst/>
                <a:latin typeface="Aptos Narrow" panose="020B0004020202020204" pitchFamily="34" charset="0"/>
              </a:rPr>
              <a:t>: GMM can take a lot of time and computer power especially when working with large datasets. because it uses a step-by-step method to keep improving its guesses about the data.</a:t>
            </a:r>
          </a:p>
          <a:p>
            <a:pPr marL="285750" indent="-285750" algn="l" fontAlgn="base">
              <a:spcAft>
                <a:spcPts val="1800"/>
              </a:spcAft>
              <a:buFont typeface="Wingdings" panose="05000000000000000000" pitchFamily="2" charset="2"/>
              <a:buChar char="Ø"/>
            </a:pPr>
            <a:r>
              <a:rPr lang="en-US" b="1" i="0" dirty="0">
                <a:solidFill>
                  <a:srgbClr val="273239"/>
                </a:solidFill>
                <a:effectLst/>
                <a:latin typeface="Aptos Narrow" panose="020B0004020202020204" pitchFamily="34" charset="0"/>
              </a:rPr>
              <a:t>Choosing the Number of Clusters</a:t>
            </a:r>
            <a:r>
              <a:rPr lang="en-US" b="0" i="0" dirty="0">
                <a:solidFill>
                  <a:srgbClr val="273239"/>
                </a:solidFill>
                <a:effectLst/>
                <a:latin typeface="Aptos Narrow" panose="020B0004020202020204" pitchFamily="34" charset="0"/>
              </a:rPr>
              <a:t>: Just like other clustering methods GMM needs you to decide how many groups you want to split the data into before starting. </a:t>
            </a:r>
          </a:p>
          <a:p>
            <a:pPr marL="285750" indent="-285750" algn="l" fontAlgn="base">
              <a:spcAft>
                <a:spcPts val="1800"/>
              </a:spcAft>
              <a:buFont typeface="Wingdings" panose="05000000000000000000" pitchFamily="2" charset="2"/>
              <a:buChar char="Ø"/>
            </a:pPr>
            <a:r>
              <a:rPr lang="en-US" b="0" i="0" dirty="0">
                <a:solidFill>
                  <a:srgbClr val="273239"/>
                </a:solidFill>
                <a:effectLst/>
                <a:latin typeface="Aptos Narrow" panose="020B0004020202020204" pitchFamily="34" charset="0"/>
              </a:rPr>
              <a:t>But there are more methods like the </a:t>
            </a:r>
            <a:r>
              <a:rPr lang="en-US" b="1" i="0" dirty="0">
                <a:solidFill>
                  <a:srgbClr val="273239"/>
                </a:solidFill>
                <a:effectLst/>
                <a:latin typeface="Aptos Narrow" panose="020B0004020202020204" pitchFamily="34" charset="0"/>
              </a:rPr>
              <a:t>Bayesian Information Criterion (BIC)</a:t>
            </a:r>
            <a:r>
              <a:rPr lang="en-US" b="0" i="0" dirty="0">
                <a:solidFill>
                  <a:srgbClr val="273239"/>
                </a:solidFill>
                <a:effectLst/>
                <a:latin typeface="Aptos Narrow" panose="020B0004020202020204" pitchFamily="34" charset="0"/>
              </a:rPr>
              <a:t> and </a:t>
            </a:r>
            <a:r>
              <a:rPr lang="en-US" b="1" i="0" dirty="0">
                <a:solidFill>
                  <a:srgbClr val="273239"/>
                </a:solidFill>
                <a:effectLst/>
                <a:latin typeface="Aptos Narrow" panose="020B0004020202020204" pitchFamily="34" charset="0"/>
              </a:rPr>
              <a:t>Akaike Information Criterion (AIC)</a:t>
            </a:r>
            <a:r>
              <a:rPr lang="en-US" b="0" i="0" dirty="0">
                <a:solidFill>
                  <a:srgbClr val="273239"/>
                </a:solidFill>
                <a:effectLst/>
                <a:latin typeface="Aptos Narrow" panose="020B0004020202020204" pitchFamily="34" charset="0"/>
              </a:rPr>
              <a:t> can help in selecting the optimal number of clusters based on the data.</a:t>
            </a:r>
          </a:p>
        </p:txBody>
      </p:sp>
    </p:spTree>
    <p:extLst>
      <p:ext uri="{BB962C8B-B14F-4D97-AF65-F5344CB8AC3E}">
        <p14:creationId xmlns:p14="http://schemas.microsoft.com/office/powerpoint/2010/main" val="2585258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849442" y="1120150"/>
            <a:ext cx="10686236" cy="1622047"/>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b="1" i="0" u="none" strike="noStrike" cap="none" normalizeH="0" baseline="0" dirty="0">
                <a:ln>
                  <a:noFill/>
                </a:ln>
                <a:solidFill>
                  <a:srgbClr val="273239"/>
                </a:solidFill>
                <a:effectLst/>
                <a:latin typeface="Aptos Narrow" panose="020B0004020202020204" pitchFamily="34" charset="0"/>
                <a:cs typeface="Arial" pitchFamily="34" charset="0"/>
              </a:rPr>
              <a:t>Hierarchical clustering </a:t>
            </a: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is used to group similar data points together based on their similarity creating a </a:t>
            </a:r>
            <a:r>
              <a:rPr kumimoji="0" lang="en-US" b="1" i="0" u="none" strike="noStrike" cap="none" normalizeH="0" baseline="0" dirty="0">
                <a:ln>
                  <a:noFill/>
                </a:ln>
                <a:solidFill>
                  <a:srgbClr val="273239"/>
                </a:solidFill>
                <a:effectLst/>
                <a:latin typeface="Aptos Narrow" panose="020B0004020202020204" pitchFamily="34" charset="0"/>
                <a:cs typeface="Arial" pitchFamily="34" charset="0"/>
              </a:rPr>
              <a:t>hierarchy or tree-like structure</a:t>
            </a: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 </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The key idea is to begin with each data point as its own separate cluster and then progressively merge or split them based on their similarity. </a:t>
            </a:r>
          </a:p>
        </p:txBody>
      </p:sp>
      <p:sp>
        <p:nvSpPr>
          <p:cNvPr id="5" name="Rectangle 4"/>
          <p:cNvSpPr/>
          <p:nvPr/>
        </p:nvSpPr>
        <p:spPr>
          <a:xfrm>
            <a:off x="849442" y="3314440"/>
            <a:ext cx="6473133"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i="1" dirty="0"/>
              <a:t>Imagine you have four fruits with different weights: an </a:t>
            </a:r>
            <a:r>
              <a:rPr lang="en-US" b="1" i="1" dirty="0"/>
              <a:t>apple (100g)</a:t>
            </a:r>
            <a:r>
              <a:rPr lang="en-US" i="1" dirty="0"/>
              <a:t>, </a:t>
            </a:r>
            <a:r>
              <a:rPr lang="en-US" b="1" i="1" dirty="0"/>
              <a:t>a banana (120g), a cherry (50g) and a grape (30g)</a:t>
            </a:r>
            <a:r>
              <a:rPr lang="en-US" i="1" dirty="0"/>
              <a:t>. Hierarchical clustering starts by treating each </a:t>
            </a:r>
            <a:r>
              <a:rPr lang="en-US" b="1" i="1" dirty="0"/>
              <a:t>fruit as its own group</a:t>
            </a:r>
            <a:r>
              <a:rPr lang="en-US" i="1" dirty="0"/>
              <a:t>. </a:t>
            </a:r>
            <a:endParaRPr lang="en-US" dirty="0"/>
          </a:p>
        </p:txBody>
      </p:sp>
      <p:sp>
        <p:nvSpPr>
          <p:cNvPr id="6" name="Rectangle 5"/>
          <p:cNvSpPr/>
          <p:nvPr/>
        </p:nvSpPr>
        <p:spPr>
          <a:xfrm>
            <a:off x="741287" y="4529152"/>
            <a:ext cx="7507977" cy="1298882"/>
          </a:xfrm>
          <a:prstGeom prst="rect">
            <a:avLst/>
          </a:prstGeom>
        </p:spPr>
        <p:txBody>
          <a:bodyPr wrap="square">
            <a:spAutoFit/>
          </a:bodyPr>
          <a:lstStyle/>
          <a:p>
            <a:pPr fontAlgn="base">
              <a:lnSpc>
                <a:spcPct val="150000"/>
              </a:lnSpc>
              <a:buFont typeface="Wingdings" pitchFamily="2" charset="2"/>
              <a:buChar char="§"/>
            </a:pPr>
            <a:r>
              <a:rPr lang="en-US" dirty="0">
                <a:latin typeface="Aptos Narrow" panose="020B0004020202020204" pitchFamily="34" charset="0"/>
              </a:rPr>
              <a:t>  It then merges the closest groups based on their weights.</a:t>
            </a:r>
          </a:p>
          <a:p>
            <a:pPr fontAlgn="base">
              <a:lnSpc>
                <a:spcPct val="150000"/>
              </a:lnSpc>
              <a:buFont typeface="Wingdings" pitchFamily="2" charset="2"/>
              <a:buChar char="§"/>
            </a:pPr>
            <a:r>
              <a:rPr lang="en-US" dirty="0">
                <a:latin typeface="Aptos Narrow" panose="020B0004020202020204" pitchFamily="34" charset="0"/>
              </a:rPr>
              <a:t>  First the cherry and grape are grouped together because they are the lightest.</a:t>
            </a:r>
          </a:p>
          <a:p>
            <a:pPr fontAlgn="base">
              <a:lnSpc>
                <a:spcPct val="150000"/>
              </a:lnSpc>
              <a:buFont typeface="Wingdings" pitchFamily="2" charset="2"/>
              <a:buChar char="§"/>
            </a:pPr>
            <a:r>
              <a:rPr lang="en-US" dirty="0">
                <a:latin typeface="Aptos Narrow" panose="020B0004020202020204" pitchFamily="34" charset="0"/>
              </a:rPr>
              <a:t>  Next the apple and banana are grouped together.</a:t>
            </a:r>
          </a:p>
        </p:txBody>
      </p:sp>
      <p:pic>
        <p:nvPicPr>
          <p:cNvPr id="8" name="Picture 2"/>
          <p:cNvPicPr>
            <a:picLocks noChangeAspect="1" noChangeArrowheads="1"/>
          </p:cNvPicPr>
          <p:nvPr/>
        </p:nvPicPr>
        <p:blipFill>
          <a:blip r:embed="rId2"/>
          <a:srcRect/>
          <a:stretch>
            <a:fillRect/>
          </a:stretch>
        </p:blipFill>
        <p:spPr bwMode="auto">
          <a:xfrm>
            <a:off x="7990782" y="2852068"/>
            <a:ext cx="4091433" cy="2885781"/>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20B11E66-3D46-C730-BF31-0D3C8DD8EABF}"/>
              </a:ext>
            </a:extLst>
          </p:cNvPr>
          <p:cNvSpPr txBox="1"/>
          <p:nvPr/>
        </p:nvSpPr>
        <p:spPr>
          <a:xfrm>
            <a:off x="4353233" y="392027"/>
            <a:ext cx="3414251" cy="461665"/>
          </a:xfrm>
          <a:prstGeom prst="rect">
            <a:avLst/>
          </a:prstGeom>
          <a:noFill/>
        </p:spPr>
        <p:txBody>
          <a:bodyPr wrap="square">
            <a:spAutoFit/>
          </a:bodyPr>
          <a:lstStyle/>
          <a:p>
            <a:r>
              <a:rPr kumimoji="0" lang="en-US" sz="2400" b="1" i="0" u="none" strike="noStrike" cap="none" normalizeH="0" baseline="0" dirty="0">
                <a:ln>
                  <a:noFill/>
                </a:ln>
                <a:solidFill>
                  <a:srgbClr val="C00000"/>
                </a:solidFill>
                <a:effectLst/>
                <a:latin typeface="Aptos Narrow" panose="020B0004020202020204" pitchFamily="34" charset="0"/>
                <a:cs typeface="Arial" pitchFamily="34" charset="0"/>
              </a:rPr>
              <a:t>Hierarchical clustering</a:t>
            </a:r>
            <a:endParaRPr lang="en-US" sz="2400" dirty="0">
              <a:solidFill>
                <a:srgbClr val="C00000"/>
              </a:solidFill>
              <a:latin typeface="Aptos Narrow" panose="020B0004020202020204" pitchFamily="34" charset="0"/>
            </a:endParaRPr>
          </a:p>
        </p:txBody>
      </p:sp>
      <p:sp>
        <p:nvSpPr>
          <p:cNvPr id="7" name="TextBox 6">
            <a:extLst>
              <a:ext uri="{FF2B5EF4-FFF2-40B4-BE49-F238E27FC236}">
                <a16:creationId xmlns:a16="http://schemas.microsoft.com/office/drawing/2014/main" id="{738B6694-4301-6876-39FF-4E07811B0B3C}"/>
              </a:ext>
            </a:extLst>
          </p:cNvPr>
          <p:cNvSpPr txBox="1"/>
          <p:nvPr/>
        </p:nvSpPr>
        <p:spPr>
          <a:xfrm>
            <a:off x="741288" y="2852069"/>
            <a:ext cx="609600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Let’s understand this with the help of an example</a:t>
            </a:r>
            <a:endParaRPr kumimoji="0" lang="en-US" sz="2800" b="0" i="0" u="none" strike="noStrike" cap="none" normalizeH="0" baseline="0" dirty="0">
              <a:ln>
                <a:noFill/>
              </a:ln>
              <a:solidFill>
                <a:schemeClr val="tx1"/>
              </a:solidFill>
              <a:effectLst/>
              <a:latin typeface="Aptos Narrow" panose="020B0004020202020204" pitchFamily="34" charset="0"/>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9656" y="1142171"/>
            <a:ext cx="11220090" cy="1477328"/>
          </a:xfrm>
          <a:prstGeom prst="rect">
            <a:avLst/>
          </a:prstGeom>
        </p:spPr>
        <p:txBody>
          <a:bodyPr wrap="square">
            <a:spAutoFit/>
          </a:bodyPr>
          <a:lstStyle/>
          <a:p>
            <a:pPr fontAlgn="base"/>
            <a:r>
              <a:rPr lang="en-US" dirty="0">
                <a:latin typeface="Aptos Narrow" panose="020B0004020202020204" pitchFamily="34" charset="0"/>
              </a:rPr>
              <a:t>A </a:t>
            </a:r>
            <a:r>
              <a:rPr lang="en-US" b="1" dirty="0" err="1">
                <a:latin typeface="Aptos Narrow" panose="020B0004020202020204" pitchFamily="34" charset="0"/>
              </a:rPr>
              <a:t>dendrogram</a:t>
            </a:r>
            <a:r>
              <a:rPr lang="en-US" dirty="0">
                <a:latin typeface="Aptos Narrow" panose="020B0004020202020204" pitchFamily="34" charset="0"/>
              </a:rPr>
              <a:t> is like a family tree for clusters. It shows how individual data points or groups of data merge together. The bottom shows each data point as its own group, and as you move up, similar groups are combined. </a:t>
            </a:r>
          </a:p>
          <a:p>
            <a:pPr fontAlgn="base"/>
            <a:endParaRPr lang="en-US" dirty="0">
              <a:latin typeface="Aptos Narrow" panose="020B0004020202020204" pitchFamily="34" charset="0"/>
            </a:endParaRPr>
          </a:p>
          <a:p>
            <a:pPr fontAlgn="base"/>
            <a:r>
              <a:rPr lang="en-US" dirty="0">
                <a:latin typeface="Aptos Narrow" panose="020B0004020202020204" pitchFamily="34" charset="0"/>
              </a:rPr>
              <a:t>The lower the merge point, the more similar the groups are. It helps you see how things are grouped step by step. The working of the </a:t>
            </a:r>
            <a:r>
              <a:rPr lang="en-US" dirty="0" err="1">
                <a:latin typeface="Aptos Narrow" panose="020B0004020202020204" pitchFamily="34" charset="0"/>
              </a:rPr>
              <a:t>dendrogram</a:t>
            </a:r>
            <a:r>
              <a:rPr lang="en-US" dirty="0">
                <a:latin typeface="Aptos Narrow" panose="020B0004020202020204" pitchFamily="34" charset="0"/>
              </a:rPr>
              <a:t> can be explained using the below diagram:</a:t>
            </a:r>
          </a:p>
        </p:txBody>
      </p:sp>
      <p:pic>
        <p:nvPicPr>
          <p:cNvPr id="20482" name="Picture 2" descr="UntitledDiagram7"/>
          <p:cNvPicPr>
            <a:picLocks noChangeAspect="1" noChangeArrowheads="1"/>
          </p:cNvPicPr>
          <p:nvPr/>
        </p:nvPicPr>
        <p:blipFill>
          <a:blip r:embed="rId2"/>
          <a:srcRect/>
          <a:stretch>
            <a:fillRect/>
          </a:stretch>
        </p:blipFill>
        <p:spPr bwMode="auto">
          <a:xfrm>
            <a:off x="3014907" y="3112807"/>
            <a:ext cx="5067300" cy="1685926"/>
          </a:xfrm>
          <a:prstGeom prst="rect">
            <a:avLst/>
          </a:prstGeom>
          <a:noFill/>
        </p:spPr>
      </p:pic>
      <p:sp>
        <p:nvSpPr>
          <p:cNvPr id="6" name="Rectangle 5"/>
          <p:cNvSpPr/>
          <p:nvPr/>
        </p:nvSpPr>
        <p:spPr>
          <a:xfrm>
            <a:off x="855266" y="5043121"/>
            <a:ext cx="10481467" cy="923330"/>
          </a:xfrm>
          <a:prstGeom prst="rect">
            <a:avLst/>
          </a:prstGeom>
        </p:spPr>
        <p:txBody>
          <a:bodyPr wrap="square">
            <a:spAutoFit/>
          </a:bodyPr>
          <a:lstStyle/>
          <a:p>
            <a:r>
              <a:rPr lang="en-US" dirty="0">
                <a:latin typeface="Aptos Narrow" panose="020B0004020202020204" pitchFamily="34" charset="0"/>
              </a:rPr>
              <a:t>In the above image on the left side there are five points labeled P, Q, R, S and T. These represent individual data points that are being clustered. On the right side there’s a </a:t>
            </a:r>
            <a:r>
              <a:rPr lang="en-US" b="1" dirty="0" err="1">
                <a:latin typeface="Aptos Narrow" panose="020B0004020202020204" pitchFamily="34" charset="0"/>
              </a:rPr>
              <a:t>dendrogram</a:t>
            </a:r>
            <a:r>
              <a:rPr lang="en-US" b="1" dirty="0">
                <a:latin typeface="Aptos Narrow" panose="020B0004020202020204" pitchFamily="34" charset="0"/>
              </a:rPr>
              <a:t> </a:t>
            </a:r>
            <a:r>
              <a:rPr lang="en-US" dirty="0">
                <a:latin typeface="Aptos Narrow" panose="020B0004020202020204" pitchFamily="34" charset="0"/>
              </a:rPr>
              <a:t>which show how these points are grouped together step by step.</a:t>
            </a:r>
          </a:p>
        </p:txBody>
      </p:sp>
      <p:sp>
        <p:nvSpPr>
          <p:cNvPr id="3" name="TextBox 2">
            <a:extLst>
              <a:ext uri="{FF2B5EF4-FFF2-40B4-BE49-F238E27FC236}">
                <a16:creationId xmlns:a16="http://schemas.microsoft.com/office/drawing/2014/main" id="{C323E2E4-367A-BB74-7DF4-C1FC52D986B6}"/>
              </a:ext>
            </a:extLst>
          </p:cNvPr>
          <p:cNvSpPr txBox="1"/>
          <p:nvPr/>
        </p:nvSpPr>
        <p:spPr>
          <a:xfrm>
            <a:off x="4621161" y="333243"/>
            <a:ext cx="2025445" cy="461665"/>
          </a:xfrm>
          <a:prstGeom prst="rect">
            <a:avLst/>
          </a:prstGeom>
          <a:noFill/>
        </p:spPr>
        <p:txBody>
          <a:bodyPr wrap="square">
            <a:spAutoFit/>
          </a:bodyPr>
          <a:lstStyle/>
          <a:p>
            <a:r>
              <a:rPr lang="en-US" sz="2400" b="1" dirty="0">
                <a:solidFill>
                  <a:srgbClr val="C00000"/>
                </a:solidFill>
                <a:latin typeface="Aptos Narrow" panose="020B0004020202020204" pitchFamily="34" charset="0"/>
              </a:rPr>
              <a:t>Dendrogram</a:t>
            </a:r>
            <a:endParaRPr lang="en-US" sz="2400" dirty="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11838" y="1152170"/>
            <a:ext cx="11332237" cy="2169825"/>
          </a:xfrm>
          <a:prstGeom prst="rect">
            <a:avLst/>
          </a:prstGeom>
        </p:spPr>
        <p:txBody>
          <a:bodyPr wrap="square">
            <a:spAutoFit/>
          </a:bodyPr>
          <a:lstStyle/>
          <a:p>
            <a:pPr fontAlgn="base">
              <a:lnSpc>
                <a:spcPct val="150000"/>
              </a:lnSpc>
              <a:buFont typeface="Wingdings" pitchFamily="2" charset="2"/>
              <a:buChar char="q"/>
            </a:pPr>
            <a:r>
              <a:rPr lang="en-US" dirty="0">
                <a:latin typeface="Aptos Narrow" panose="020B0004020202020204" pitchFamily="34" charset="0"/>
              </a:rPr>
              <a:t> At the bottom of the </a:t>
            </a:r>
            <a:r>
              <a:rPr lang="en-US" dirty="0" err="1">
                <a:latin typeface="Aptos Narrow" panose="020B0004020202020204" pitchFamily="34" charset="0"/>
              </a:rPr>
              <a:t>dendrogram</a:t>
            </a:r>
            <a:r>
              <a:rPr lang="en-US" dirty="0">
                <a:latin typeface="Aptos Narrow" panose="020B0004020202020204" pitchFamily="34" charset="0"/>
              </a:rPr>
              <a:t> the points P, Q, R, S and T are all separate.</a:t>
            </a:r>
          </a:p>
          <a:p>
            <a:pPr fontAlgn="base">
              <a:lnSpc>
                <a:spcPct val="150000"/>
              </a:lnSpc>
              <a:buFont typeface="Wingdings" pitchFamily="2" charset="2"/>
              <a:buChar char="q"/>
            </a:pPr>
            <a:r>
              <a:rPr lang="en-US" dirty="0">
                <a:latin typeface="Aptos Narrow" panose="020B0004020202020204" pitchFamily="34" charset="0"/>
              </a:rPr>
              <a:t> As you move up, the closest points are merged into a single group.</a:t>
            </a:r>
          </a:p>
          <a:p>
            <a:pPr fontAlgn="base">
              <a:lnSpc>
                <a:spcPct val="150000"/>
              </a:lnSpc>
              <a:buFont typeface="Wingdings" pitchFamily="2" charset="2"/>
              <a:buChar char="q"/>
            </a:pPr>
            <a:r>
              <a:rPr lang="en-US" dirty="0">
                <a:latin typeface="Aptos Narrow" panose="020B0004020202020204" pitchFamily="34" charset="0"/>
              </a:rPr>
              <a:t> The lines connecting the points show how they are progressively merged based on similarity.</a:t>
            </a:r>
          </a:p>
          <a:p>
            <a:pPr fontAlgn="base">
              <a:lnSpc>
                <a:spcPct val="150000"/>
              </a:lnSpc>
              <a:buFont typeface="Wingdings" pitchFamily="2" charset="2"/>
              <a:buChar char="q"/>
            </a:pPr>
            <a:r>
              <a:rPr lang="en-US" dirty="0">
                <a:latin typeface="Aptos Narrow" panose="020B0004020202020204" pitchFamily="34" charset="0"/>
              </a:rPr>
              <a:t> The height at which they are connected shows how similar the points are to each other; the shorter the line the more similar they are</a:t>
            </a:r>
          </a:p>
        </p:txBody>
      </p:sp>
      <p:sp>
        <p:nvSpPr>
          <p:cNvPr id="6" name="Rectangle 5"/>
          <p:cNvSpPr/>
          <p:nvPr/>
        </p:nvSpPr>
        <p:spPr>
          <a:xfrm>
            <a:off x="511838" y="3717174"/>
            <a:ext cx="6096000" cy="369332"/>
          </a:xfrm>
          <a:prstGeom prst="rect">
            <a:avLst/>
          </a:prstGeom>
        </p:spPr>
        <p:txBody>
          <a:bodyPr>
            <a:spAutoFit/>
          </a:bodyPr>
          <a:lstStyle/>
          <a:p>
            <a:pPr fontAlgn="base"/>
            <a:r>
              <a:rPr lang="en-US" b="1" dirty="0">
                <a:latin typeface="Aptos Narrow" panose="020B0004020202020204" pitchFamily="34" charset="0"/>
              </a:rPr>
              <a:t>Types of Hierarchical Clustering</a:t>
            </a:r>
          </a:p>
        </p:txBody>
      </p:sp>
      <p:sp>
        <p:nvSpPr>
          <p:cNvPr id="7" name="Rectangle 6"/>
          <p:cNvSpPr/>
          <p:nvPr/>
        </p:nvSpPr>
        <p:spPr>
          <a:xfrm>
            <a:off x="511838" y="4138125"/>
            <a:ext cx="5230201" cy="1298882"/>
          </a:xfrm>
          <a:prstGeom prst="rect">
            <a:avLst/>
          </a:prstGeom>
        </p:spPr>
        <p:txBody>
          <a:bodyPr wrap="square">
            <a:spAutoFit/>
          </a:bodyPr>
          <a:lstStyle/>
          <a:p>
            <a:pPr fontAlgn="base">
              <a:lnSpc>
                <a:spcPct val="150000"/>
              </a:lnSpc>
            </a:pPr>
            <a:r>
              <a:rPr lang="en-US" dirty="0">
                <a:latin typeface="Aptos Narrow" panose="020B0004020202020204" pitchFamily="34" charset="0"/>
              </a:rPr>
              <a:t>There are two main types of hierarchical clustering.</a:t>
            </a:r>
          </a:p>
          <a:p>
            <a:pPr marL="342900" indent="-342900" fontAlgn="base">
              <a:lnSpc>
                <a:spcPct val="150000"/>
              </a:lnSpc>
              <a:buFont typeface="+mj-lt"/>
              <a:buAutoNum type="arabicPeriod"/>
            </a:pPr>
            <a:r>
              <a:rPr lang="en-US" dirty="0">
                <a:latin typeface="Aptos Narrow" panose="020B0004020202020204" pitchFamily="34" charset="0"/>
              </a:rPr>
              <a:t>Agglomerative Clustering</a:t>
            </a:r>
          </a:p>
          <a:p>
            <a:pPr marL="342900" indent="-342900" fontAlgn="base">
              <a:lnSpc>
                <a:spcPct val="150000"/>
              </a:lnSpc>
              <a:buFont typeface="+mj-lt"/>
              <a:buAutoNum type="arabicPeriod"/>
            </a:pPr>
            <a:r>
              <a:rPr lang="en-US" dirty="0">
                <a:latin typeface="Aptos Narrow" panose="020B0004020202020204" pitchFamily="34" charset="0"/>
              </a:rPr>
              <a:t>Divisive clustering</a:t>
            </a:r>
          </a:p>
        </p:txBody>
      </p:sp>
      <p:sp>
        <p:nvSpPr>
          <p:cNvPr id="22530" name="AutoShape 2" descr="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2" name="AutoShape 4" descr="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4" name="AutoShape 6" descr="https://media.geeksforgeeks.org/wp-content/uploads/20250526124835454679/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6" name="AutoShape 8" descr="https://media.geeksforgeeks.org/wp-content/uploads/20250526124835454679/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2537" name="Picture 9"/>
          <p:cNvPicPr>
            <a:picLocks noChangeAspect="1" noChangeArrowheads="1"/>
          </p:cNvPicPr>
          <p:nvPr/>
        </p:nvPicPr>
        <p:blipFill>
          <a:blip r:embed="rId2"/>
          <a:srcRect/>
          <a:stretch>
            <a:fillRect/>
          </a:stretch>
        </p:blipFill>
        <p:spPr bwMode="auto">
          <a:xfrm>
            <a:off x="5875058" y="3162519"/>
            <a:ext cx="5724435" cy="262196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64271" y="867749"/>
            <a:ext cx="5045432" cy="461665"/>
          </a:xfrm>
          <a:prstGeom prst="rect">
            <a:avLst/>
          </a:prstGeom>
        </p:spPr>
        <p:txBody>
          <a:bodyPr wrap="square">
            <a:spAutoFit/>
          </a:bodyPr>
          <a:lstStyle/>
          <a:p>
            <a:pPr fontAlgn="base"/>
            <a:r>
              <a:rPr lang="en-US" sz="2400" b="1" dirty="0">
                <a:solidFill>
                  <a:srgbClr val="C00000"/>
                </a:solidFill>
                <a:latin typeface="Aptos Narrow" panose="020B0004020202020204" pitchFamily="34" charset="0"/>
              </a:rPr>
              <a:t>Hierarchical Agglomerative Clustering</a:t>
            </a:r>
          </a:p>
        </p:txBody>
      </p:sp>
      <p:sp>
        <p:nvSpPr>
          <p:cNvPr id="5" name="Rectangle 4"/>
          <p:cNvSpPr/>
          <p:nvPr/>
        </p:nvSpPr>
        <p:spPr>
          <a:xfrm>
            <a:off x="520656" y="1835267"/>
            <a:ext cx="5575344" cy="3970318"/>
          </a:xfrm>
          <a:prstGeom prst="rect">
            <a:avLst/>
          </a:prstGeom>
        </p:spPr>
        <p:txBody>
          <a:bodyPr wrap="square">
            <a:spAutoFit/>
          </a:bodyPr>
          <a:lstStyle/>
          <a:p>
            <a:pPr fontAlgn="base"/>
            <a:r>
              <a:rPr lang="en-US" dirty="0">
                <a:latin typeface="Aptos Narrow" panose="020B0004020202020204" pitchFamily="34" charset="0"/>
              </a:rPr>
              <a:t>It is also known as the</a:t>
            </a:r>
            <a:r>
              <a:rPr lang="en-US" b="1" dirty="0">
                <a:latin typeface="Aptos Narrow" panose="020B0004020202020204" pitchFamily="34" charset="0"/>
              </a:rPr>
              <a:t> bottom-up approach</a:t>
            </a:r>
            <a:r>
              <a:rPr lang="en-US" dirty="0">
                <a:latin typeface="Aptos Narrow" panose="020B0004020202020204" pitchFamily="34" charset="0"/>
              </a:rPr>
              <a:t> or </a:t>
            </a:r>
            <a:r>
              <a:rPr lang="en-US" b="1" dirty="0">
                <a:latin typeface="Aptos Narrow" panose="020B0004020202020204" pitchFamily="34" charset="0"/>
              </a:rPr>
              <a:t>hierarchical agglomerative clustering (HAC)</a:t>
            </a:r>
            <a:r>
              <a:rPr lang="en-US" dirty="0">
                <a:latin typeface="Aptos Narrow" panose="020B0004020202020204" pitchFamily="34" charset="0"/>
              </a:rPr>
              <a:t>. Unlike flat clustering hierarchical clustering provides a structured way to group data. </a:t>
            </a:r>
          </a:p>
          <a:p>
            <a:pPr fontAlgn="base"/>
            <a:endParaRPr lang="en-US" dirty="0">
              <a:latin typeface="Aptos Narrow" panose="020B0004020202020204" pitchFamily="34" charset="0"/>
            </a:endParaRPr>
          </a:p>
          <a:p>
            <a:pPr fontAlgn="base"/>
            <a:r>
              <a:rPr lang="en-US" dirty="0">
                <a:latin typeface="Aptos Narrow" panose="020B0004020202020204" pitchFamily="34" charset="0"/>
              </a:rPr>
              <a:t>This clustering algorithm does not require us to </a:t>
            </a:r>
            <a:r>
              <a:rPr lang="en-US" dirty="0" err="1">
                <a:latin typeface="Aptos Narrow" panose="020B0004020202020204" pitchFamily="34" charset="0"/>
              </a:rPr>
              <a:t>prespecify</a:t>
            </a:r>
            <a:r>
              <a:rPr lang="en-US" dirty="0">
                <a:latin typeface="Aptos Narrow" panose="020B0004020202020204" pitchFamily="34" charset="0"/>
              </a:rPr>
              <a:t> the number of clusters. </a:t>
            </a:r>
          </a:p>
          <a:p>
            <a:pPr fontAlgn="base"/>
            <a:endParaRPr lang="en-US" dirty="0">
              <a:latin typeface="Aptos Narrow" panose="020B0004020202020204" pitchFamily="34" charset="0"/>
            </a:endParaRPr>
          </a:p>
          <a:p>
            <a:pPr fontAlgn="base"/>
            <a:r>
              <a:rPr lang="en-US" dirty="0">
                <a:latin typeface="Aptos Narrow" panose="020B0004020202020204" pitchFamily="34" charset="0"/>
              </a:rPr>
              <a:t>Bottom-up algorithms treat each data as a singleton cluster at the outset and then successively agglomerate pairs of clusters until all clusters have been merged into a single cluster that contains all data. </a:t>
            </a:r>
          </a:p>
          <a:p>
            <a:br>
              <a:rPr lang="en-US" dirty="0">
                <a:latin typeface="Aptos Narrow" panose="020B0004020202020204" pitchFamily="34" charset="0"/>
              </a:rPr>
            </a:br>
            <a:endParaRPr lang="en-US" dirty="0">
              <a:latin typeface="Aptos Narrow" panose="020B0004020202020204" pitchFamily="34" charset="0"/>
            </a:endParaRPr>
          </a:p>
        </p:txBody>
      </p:sp>
      <p:pic>
        <p:nvPicPr>
          <p:cNvPr id="2" name="Picture 2" descr="Lightbox"/>
          <p:cNvPicPr>
            <a:picLocks noChangeAspect="1" noChangeArrowheads="1"/>
          </p:cNvPicPr>
          <p:nvPr/>
        </p:nvPicPr>
        <p:blipFill>
          <a:blip r:embed="rId2"/>
          <a:srcRect/>
          <a:stretch>
            <a:fillRect/>
          </a:stretch>
        </p:blipFill>
        <p:spPr bwMode="auto">
          <a:xfrm>
            <a:off x="6244051" y="1835267"/>
            <a:ext cx="5427293" cy="3506608"/>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7335" y="1066844"/>
            <a:ext cx="6096000" cy="400110"/>
          </a:xfrm>
          <a:prstGeom prst="rect">
            <a:avLst/>
          </a:prstGeom>
        </p:spPr>
        <p:txBody>
          <a:bodyPr>
            <a:spAutoFit/>
          </a:bodyPr>
          <a:lstStyle/>
          <a:p>
            <a:pPr fontAlgn="base"/>
            <a:r>
              <a:rPr lang="en-US" sz="2000" b="1" dirty="0">
                <a:solidFill>
                  <a:srgbClr val="C00000"/>
                </a:solidFill>
                <a:latin typeface="Aptos Narrow" panose="020B0004020202020204" pitchFamily="34" charset="0"/>
              </a:rPr>
              <a:t>Workflow for Hierarchical Agglomerative clustering</a:t>
            </a:r>
          </a:p>
        </p:txBody>
      </p:sp>
      <p:sp>
        <p:nvSpPr>
          <p:cNvPr id="5" name="Rectangle 4"/>
          <p:cNvSpPr/>
          <p:nvPr/>
        </p:nvSpPr>
        <p:spPr>
          <a:xfrm>
            <a:off x="588175" y="1328015"/>
            <a:ext cx="11603825" cy="4622869"/>
          </a:xfrm>
          <a:prstGeom prst="rect">
            <a:avLst/>
          </a:prstGeom>
        </p:spPr>
        <p:txBody>
          <a:bodyPr wrap="square">
            <a:spAutoFit/>
          </a:bodyPr>
          <a:lstStyle/>
          <a:p>
            <a:pPr marL="342900" indent="-342900" fontAlgn="base">
              <a:lnSpc>
                <a:spcPct val="150000"/>
              </a:lnSpc>
              <a:buFont typeface="+mj-lt"/>
              <a:buAutoNum type="arabicPeriod"/>
            </a:pPr>
            <a:r>
              <a:rPr lang="en-US" b="1" dirty="0">
                <a:latin typeface="Aptos Narrow" panose="020B0004020202020204" pitchFamily="34" charset="0"/>
              </a:rPr>
              <a:t>Start with individual points</a:t>
            </a:r>
            <a:r>
              <a:rPr lang="en-US" dirty="0">
                <a:latin typeface="Aptos Narrow" panose="020B0004020202020204" pitchFamily="34" charset="0"/>
              </a:rPr>
              <a:t>: Each data point is its own cluster.  For example, if you have 5 data points you start with 5 clusters each containing just one data point.</a:t>
            </a:r>
          </a:p>
          <a:p>
            <a:pPr marL="342900" indent="-342900" fontAlgn="base">
              <a:lnSpc>
                <a:spcPct val="150000"/>
              </a:lnSpc>
              <a:buFont typeface="+mj-lt"/>
              <a:buAutoNum type="arabicPeriod"/>
            </a:pPr>
            <a:r>
              <a:rPr lang="en-US" b="1" dirty="0">
                <a:latin typeface="Aptos Narrow" panose="020B0004020202020204" pitchFamily="34" charset="0"/>
              </a:rPr>
              <a:t>Calculate distances between clusters</a:t>
            </a:r>
            <a:r>
              <a:rPr lang="en-US" dirty="0">
                <a:latin typeface="Aptos Narrow" panose="020B0004020202020204" pitchFamily="34" charset="0"/>
              </a:rPr>
              <a:t>: Calculate the distance between every pair of clusters. Initially since each cluster has one point this is the distance between the two data points.</a:t>
            </a:r>
          </a:p>
          <a:p>
            <a:pPr marL="342900" indent="-342900" fontAlgn="base">
              <a:lnSpc>
                <a:spcPct val="150000"/>
              </a:lnSpc>
              <a:buFont typeface="+mj-lt"/>
              <a:buAutoNum type="arabicPeriod"/>
            </a:pPr>
            <a:r>
              <a:rPr lang="en-US" b="1" dirty="0">
                <a:latin typeface="Aptos Narrow" panose="020B0004020202020204" pitchFamily="34" charset="0"/>
              </a:rPr>
              <a:t>Merge the closest clusters</a:t>
            </a:r>
            <a:r>
              <a:rPr lang="en-US" dirty="0">
                <a:latin typeface="Aptos Narrow" panose="020B0004020202020204" pitchFamily="34" charset="0"/>
              </a:rPr>
              <a:t>: Identify the two clusters with the smallest distance and merge them into a single cluster.</a:t>
            </a:r>
          </a:p>
          <a:p>
            <a:pPr marL="342900" indent="-342900" fontAlgn="base">
              <a:lnSpc>
                <a:spcPct val="150000"/>
              </a:lnSpc>
              <a:buFont typeface="+mj-lt"/>
              <a:buAutoNum type="arabicPeriod"/>
            </a:pPr>
            <a:r>
              <a:rPr lang="en-US" b="1" dirty="0">
                <a:latin typeface="Aptos Narrow" panose="020B0004020202020204" pitchFamily="34" charset="0"/>
              </a:rPr>
              <a:t>Update distance matrix</a:t>
            </a:r>
            <a:r>
              <a:rPr lang="en-US" dirty="0">
                <a:latin typeface="Aptos Narrow" panose="020B0004020202020204" pitchFamily="34" charset="0"/>
              </a:rPr>
              <a:t>: After merging you now have one less cluster. Recalculate the distances between the new cluster and the remaining clusters.</a:t>
            </a:r>
          </a:p>
          <a:p>
            <a:pPr marL="342900" indent="-342900" fontAlgn="base">
              <a:lnSpc>
                <a:spcPct val="150000"/>
              </a:lnSpc>
              <a:buFont typeface="+mj-lt"/>
              <a:buAutoNum type="arabicPeriod"/>
            </a:pPr>
            <a:r>
              <a:rPr lang="en-US" b="1" dirty="0">
                <a:latin typeface="Aptos Narrow" panose="020B0004020202020204" pitchFamily="34" charset="0"/>
              </a:rPr>
              <a:t>Repeat steps 3 and 4</a:t>
            </a:r>
            <a:r>
              <a:rPr lang="en-US" dirty="0">
                <a:latin typeface="Aptos Narrow" panose="020B0004020202020204" pitchFamily="34" charset="0"/>
              </a:rPr>
              <a:t>: Keep merging the closest clusters and updating the distance matrix until you have only one cluster left.</a:t>
            </a:r>
          </a:p>
          <a:p>
            <a:pPr marL="342900" indent="-342900" fontAlgn="base">
              <a:lnSpc>
                <a:spcPct val="150000"/>
              </a:lnSpc>
              <a:buFont typeface="+mj-lt"/>
              <a:buAutoNum type="arabicPeriod"/>
            </a:pPr>
            <a:r>
              <a:rPr lang="en-US" b="1" dirty="0">
                <a:latin typeface="Aptos Narrow" panose="020B0004020202020204" pitchFamily="34" charset="0"/>
              </a:rPr>
              <a:t>Create a </a:t>
            </a:r>
            <a:r>
              <a:rPr lang="en-US" b="1" dirty="0" err="1">
                <a:latin typeface="Aptos Narrow" panose="020B0004020202020204" pitchFamily="34" charset="0"/>
              </a:rPr>
              <a:t>dendrogram</a:t>
            </a:r>
            <a:r>
              <a:rPr lang="en-US" dirty="0">
                <a:latin typeface="Aptos Narrow" panose="020B0004020202020204" pitchFamily="34" charset="0"/>
              </a:rPr>
              <a:t>: As the process continues you can visualize the merging of clusters using a tree-like diagram called a </a:t>
            </a:r>
            <a:r>
              <a:rPr lang="en-US" b="1" dirty="0" err="1">
                <a:latin typeface="Aptos Narrow" panose="020B0004020202020204" pitchFamily="34" charset="0"/>
              </a:rPr>
              <a:t>dendrogram</a:t>
            </a:r>
            <a:r>
              <a:rPr lang="en-US" dirty="0">
                <a:latin typeface="Aptos Narrow" panose="020B0004020202020204" pitchFamily="34" charset="0"/>
              </a:rPr>
              <a:t>. It shows the hierarchy of how clusters are merged.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70635" y="227649"/>
            <a:ext cx="2897081" cy="593047"/>
          </a:xfrm>
          <a:prstGeom prst="rect">
            <a:avLst/>
          </a:prstGeom>
        </p:spPr>
        <p:txBody>
          <a:bodyPr wrap="square">
            <a:spAutoFit/>
          </a:bodyPr>
          <a:lstStyle/>
          <a:p>
            <a:pPr fontAlgn="base">
              <a:lnSpc>
                <a:spcPct val="150000"/>
              </a:lnSpc>
            </a:pPr>
            <a:r>
              <a:rPr lang="en-US" sz="2400" b="1" dirty="0">
                <a:solidFill>
                  <a:srgbClr val="C00000"/>
                </a:solidFill>
                <a:latin typeface="Aptos Narrow" panose="020B0004020202020204" pitchFamily="34" charset="0"/>
              </a:rPr>
              <a:t>Divisive Clustering</a:t>
            </a:r>
          </a:p>
        </p:txBody>
      </p:sp>
      <p:sp>
        <p:nvSpPr>
          <p:cNvPr id="5" name="Rectangle 4"/>
          <p:cNvSpPr/>
          <p:nvPr/>
        </p:nvSpPr>
        <p:spPr>
          <a:xfrm>
            <a:off x="402566" y="995790"/>
            <a:ext cx="11386868" cy="1298882"/>
          </a:xfrm>
          <a:prstGeom prst="rect">
            <a:avLst/>
          </a:prstGeom>
        </p:spPr>
        <p:txBody>
          <a:bodyPr wrap="square">
            <a:spAutoFit/>
          </a:bodyPr>
          <a:lstStyle/>
          <a:p>
            <a:pPr fontAlgn="base">
              <a:lnSpc>
                <a:spcPct val="150000"/>
              </a:lnSpc>
            </a:pPr>
            <a:r>
              <a:rPr lang="en-US" dirty="0">
                <a:latin typeface="Aptos Narrow" panose="020B0004020202020204" pitchFamily="34" charset="0"/>
              </a:rPr>
              <a:t>It is also known as a </a:t>
            </a:r>
            <a:r>
              <a:rPr lang="en-US" b="1" dirty="0">
                <a:latin typeface="Aptos Narrow" panose="020B0004020202020204" pitchFamily="34" charset="0"/>
              </a:rPr>
              <a:t>top-down approach</a:t>
            </a:r>
            <a:r>
              <a:rPr lang="en-US" dirty="0">
                <a:latin typeface="Aptos Narrow" panose="020B0004020202020204" pitchFamily="34" charset="0"/>
              </a:rPr>
              <a:t>. This algorithm also does not require to </a:t>
            </a:r>
            <a:r>
              <a:rPr lang="en-US" dirty="0" err="1">
                <a:latin typeface="Aptos Narrow" panose="020B0004020202020204" pitchFamily="34" charset="0"/>
              </a:rPr>
              <a:t>prespecify</a:t>
            </a:r>
            <a:r>
              <a:rPr lang="en-US" dirty="0">
                <a:latin typeface="Aptos Narrow" panose="020B0004020202020204" pitchFamily="34" charset="0"/>
              </a:rPr>
              <a:t> the number of clusters. Top-down clustering requires a method for splitting a cluster that contains the whole data and proceeds by splitting clusters recursively until individual data have been split into singleton clusters.</a:t>
            </a:r>
          </a:p>
        </p:txBody>
      </p:sp>
      <p:sp>
        <p:nvSpPr>
          <p:cNvPr id="6" name="Rectangle 5"/>
          <p:cNvSpPr/>
          <p:nvPr/>
        </p:nvSpPr>
        <p:spPr>
          <a:xfrm>
            <a:off x="402566" y="2703708"/>
            <a:ext cx="10926792" cy="3376374"/>
          </a:xfrm>
          <a:prstGeom prst="rect">
            <a:avLst/>
          </a:prstGeom>
        </p:spPr>
        <p:txBody>
          <a:bodyPr wrap="square">
            <a:spAutoFit/>
          </a:bodyPr>
          <a:lstStyle/>
          <a:p>
            <a:pPr marL="342900" indent="-342900" fontAlgn="base">
              <a:lnSpc>
                <a:spcPct val="150000"/>
              </a:lnSpc>
              <a:buFont typeface="+mj-lt"/>
              <a:buAutoNum type="arabicPeriod"/>
            </a:pPr>
            <a:r>
              <a:rPr lang="en-US" b="1" dirty="0">
                <a:latin typeface="Aptos Narrow" panose="020B0004020202020204" pitchFamily="34" charset="0"/>
              </a:rPr>
              <a:t>Start with all data points in one cluster</a:t>
            </a:r>
            <a:r>
              <a:rPr lang="en-US" dirty="0">
                <a:latin typeface="Aptos Narrow" panose="020B0004020202020204" pitchFamily="34" charset="0"/>
              </a:rPr>
              <a:t>: Treat the entire dataset as a single large cluster.</a:t>
            </a:r>
          </a:p>
          <a:p>
            <a:pPr marL="342900" indent="-342900" fontAlgn="base">
              <a:lnSpc>
                <a:spcPct val="150000"/>
              </a:lnSpc>
              <a:buFont typeface="+mj-lt"/>
              <a:buAutoNum type="arabicPeriod"/>
            </a:pPr>
            <a:r>
              <a:rPr lang="en-US" b="1" dirty="0">
                <a:latin typeface="Aptos Narrow" panose="020B0004020202020204" pitchFamily="34" charset="0"/>
              </a:rPr>
              <a:t>Split the cluster</a:t>
            </a:r>
            <a:r>
              <a:rPr lang="en-US" dirty="0">
                <a:latin typeface="Aptos Narrow" panose="020B0004020202020204" pitchFamily="34" charset="0"/>
              </a:rPr>
              <a:t>: Divide the cluster into two smaller clusters. The division is typically done by finding the two most dissimilar points in the cluster and using them to separate the data into two parts.</a:t>
            </a:r>
          </a:p>
          <a:p>
            <a:pPr marL="342900" indent="-342900" fontAlgn="base">
              <a:lnSpc>
                <a:spcPct val="150000"/>
              </a:lnSpc>
              <a:buFont typeface="+mj-lt"/>
              <a:buAutoNum type="arabicPeriod"/>
            </a:pPr>
            <a:r>
              <a:rPr lang="en-US" b="1" dirty="0">
                <a:latin typeface="Aptos Narrow" panose="020B0004020202020204" pitchFamily="34" charset="0"/>
              </a:rPr>
              <a:t>Repeat the process</a:t>
            </a:r>
            <a:r>
              <a:rPr lang="en-US" dirty="0">
                <a:latin typeface="Aptos Narrow" panose="020B0004020202020204" pitchFamily="34" charset="0"/>
              </a:rPr>
              <a:t>: For each of the new clusters, repeat the splitting process:</a:t>
            </a:r>
          </a:p>
          <a:p>
            <a:pPr marL="800100" lvl="1" indent="-342900" fontAlgn="base">
              <a:lnSpc>
                <a:spcPct val="150000"/>
              </a:lnSpc>
              <a:buFont typeface="+mj-lt"/>
              <a:buAutoNum type="arabicPeriod"/>
            </a:pPr>
            <a:r>
              <a:rPr lang="en-US" dirty="0">
                <a:latin typeface="Aptos Narrow" panose="020B0004020202020204" pitchFamily="34" charset="0"/>
              </a:rPr>
              <a:t>Choose the cluster with the most dissimilar points.</a:t>
            </a:r>
          </a:p>
          <a:p>
            <a:pPr marL="800100" lvl="1" indent="-342900" fontAlgn="base">
              <a:lnSpc>
                <a:spcPct val="150000"/>
              </a:lnSpc>
              <a:buFont typeface="+mj-lt"/>
              <a:buAutoNum type="arabicPeriod"/>
            </a:pPr>
            <a:r>
              <a:rPr lang="en-US" dirty="0">
                <a:latin typeface="Aptos Narrow" panose="020B0004020202020204" pitchFamily="34" charset="0"/>
              </a:rPr>
              <a:t>Split it again into two smaller clusters.</a:t>
            </a:r>
          </a:p>
          <a:p>
            <a:pPr marL="342900" indent="-342900" fontAlgn="base">
              <a:lnSpc>
                <a:spcPct val="150000"/>
              </a:lnSpc>
              <a:buFont typeface="+mj-lt"/>
              <a:buAutoNum type="arabicPeriod"/>
            </a:pPr>
            <a:r>
              <a:rPr lang="en-US" b="1" dirty="0">
                <a:latin typeface="Aptos Narrow" panose="020B0004020202020204" pitchFamily="34" charset="0"/>
              </a:rPr>
              <a:t>Stop when each data point is in its own cluster</a:t>
            </a:r>
            <a:r>
              <a:rPr lang="en-US" dirty="0">
                <a:latin typeface="Aptos Narrow" panose="020B0004020202020204" pitchFamily="34" charset="0"/>
              </a:rPr>
              <a:t>: Continue this process until every data point is its own cluster, or the stopping condition (such as a predefined number of clusters) is met.</a:t>
            </a:r>
          </a:p>
        </p:txBody>
      </p:sp>
      <p:sp>
        <p:nvSpPr>
          <p:cNvPr id="7" name="Rectangle 6"/>
          <p:cNvSpPr/>
          <p:nvPr/>
        </p:nvSpPr>
        <p:spPr>
          <a:xfrm>
            <a:off x="402566" y="2235823"/>
            <a:ext cx="6096000" cy="467885"/>
          </a:xfrm>
          <a:prstGeom prst="rect">
            <a:avLst/>
          </a:prstGeom>
        </p:spPr>
        <p:txBody>
          <a:bodyPr>
            <a:spAutoFit/>
          </a:bodyPr>
          <a:lstStyle/>
          <a:p>
            <a:pPr fontAlgn="base">
              <a:lnSpc>
                <a:spcPct val="150000"/>
              </a:lnSpc>
            </a:pPr>
            <a:r>
              <a:rPr lang="en-US" b="1" dirty="0">
                <a:solidFill>
                  <a:srgbClr val="C00000"/>
                </a:solidFill>
                <a:latin typeface="Aptos Narrow" panose="020B0004020202020204" pitchFamily="34" charset="0"/>
              </a:rPr>
              <a:t>Workflow for Hierarchical Divisive clustering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ierarchical Divisive clustering - Geeksforgeeks"/>
          <p:cNvPicPr>
            <a:picLocks noChangeAspect="1" noChangeArrowheads="1"/>
          </p:cNvPicPr>
          <p:nvPr/>
        </p:nvPicPr>
        <p:blipFill>
          <a:blip r:embed="rId2"/>
          <a:srcRect/>
          <a:stretch>
            <a:fillRect/>
          </a:stretch>
        </p:blipFill>
        <p:spPr bwMode="auto">
          <a:xfrm>
            <a:off x="942942" y="1610414"/>
            <a:ext cx="5500035" cy="3637171"/>
          </a:xfrm>
          <a:prstGeom prst="rect">
            <a:avLst/>
          </a:prstGeom>
          <a:noFill/>
        </p:spPr>
      </p:pic>
      <p:sp>
        <p:nvSpPr>
          <p:cNvPr id="7" name="Rectangle 6"/>
          <p:cNvSpPr/>
          <p:nvPr/>
        </p:nvSpPr>
        <p:spPr>
          <a:xfrm>
            <a:off x="6442977" y="1840522"/>
            <a:ext cx="4806081" cy="2862322"/>
          </a:xfrm>
          <a:prstGeom prst="rect">
            <a:avLst/>
          </a:prstGeom>
        </p:spPr>
        <p:txBody>
          <a:bodyPr wrap="square">
            <a:spAutoFit/>
          </a:bodyPr>
          <a:lstStyle/>
          <a:p>
            <a:pPr fontAlgn="base"/>
            <a:r>
              <a:rPr lang="en-US" dirty="0">
                <a:latin typeface="Aptos Narrow" panose="020B0004020202020204" pitchFamily="34" charset="0"/>
              </a:rPr>
              <a:t>Hierarchical clustering is widely used unsupervised learning technique that organize data into a tree-like structure allow us to visualize relationships between data points using a </a:t>
            </a:r>
            <a:r>
              <a:rPr lang="en-US" dirty="0" err="1">
                <a:latin typeface="Aptos Narrow" panose="020B0004020202020204" pitchFamily="34" charset="0"/>
              </a:rPr>
              <a:t>dendrogram</a:t>
            </a:r>
            <a:r>
              <a:rPr lang="en-US" dirty="0">
                <a:latin typeface="Aptos Narrow" panose="020B0004020202020204" pitchFamily="34" charset="0"/>
              </a:rPr>
              <a:t>. </a:t>
            </a:r>
          </a:p>
          <a:p>
            <a:pPr fontAlgn="base"/>
            <a:endParaRPr lang="en-US" dirty="0">
              <a:latin typeface="Aptos Narrow" panose="020B0004020202020204" pitchFamily="34" charset="0"/>
            </a:endParaRPr>
          </a:p>
          <a:p>
            <a:pPr fontAlgn="base"/>
            <a:r>
              <a:rPr lang="en-US" dirty="0">
                <a:latin typeface="Aptos Narrow" panose="020B0004020202020204" pitchFamily="34" charset="0"/>
              </a:rPr>
              <a:t>Unlike flat clustering methods it does not require a predefined number of clusters and provides a structured way to explore data similarity.</a:t>
            </a:r>
          </a:p>
          <a:p>
            <a:br>
              <a:rPr lang="en-US" dirty="0">
                <a:latin typeface="Aptos Narrow" panose="020B0004020202020204" pitchFamily="34" charset="0"/>
              </a:rPr>
            </a:br>
            <a:endParaRPr lang="en-US" dirty="0">
              <a:latin typeface="Aptos Narrow" panose="020B00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92233" y="653389"/>
            <a:ext cx="6096000" cy="369332"/>
          </a:xfrm>
          <a:prstGeom prst="rect">
            <a:avLst/>
          </a:prstGeom>
        </p:spPr>
        <p:txBody>
          <a:bodyPr>
            <a:spAutoFit/>
          </a:bodyPr>
          <a:lstStyle/>
          <a:p>
            <a:pPr fontAlgn="base"/>
            <a:r>
              <a:rPr lang="en-US" b="1" dirty="0">
                <a:solidFill>
                  <a:srgbClr val="C00000"/>
                </a:solidFill>
                <a:latin typeface="Aptos Narrow" panose="020B0004020202020204" pitchFamily="34" charset="0"/>
              </a:rPr>
              <a:t>DBSCAN Clustering - Density based clustering</a:t>
            </a:r>
          </a:p>
        </p:txBody>
      </p:sp>
      <p:sp>
        <p:nvSpPr>
          <p:cNvPr id="5" name="Rectangle 4"/>
          <p:cNvSpPr/>
          <p:nvPr/>
        </p:nvSpPr>
        <p:spPr>
          <a:xfrm>
            <a:off x="485962" y="1074815"/>
            <a:ext cx="11297729" cy="2129878"/>
          </a:xfrm>
          <a:prstGeom prst="rect">
            <a:avLst/>
          </a:prstGeom>
        </p:spPr>
        <p:txBody>
          <a:bodyPr wrap="square">
            <a:spAutoFit/>
          </a:bodyPr>
          <a:lstStyle/>
          <a:p>
            <a:pPr fontAlgn="base">
              <a:lnSpc>
                <a:spcPct val="150000"/>
              </a:lnSpc>
            </a:pPr>
            <a:r>
              <a:rPr lang="en-US" dirty="0">
                <a:latin typeface="Aptos Narrow" panose="020B0004020202020204" pitchFamily="34" charset="0"/>
              </a:rPr>
              <a:t>DBSCAN is a density-based clustering algorithm that groups data points that are closely packed together and marks outliers as noise based on their density in the feature space. </a:t>
            </a:r>
          </a:p>
          <a:p>
            <a:pPr fontAlgn="base">
              <a:lnSpc>
                <a:spcPct val="150000"/>
              </a:lnSpc>
            </a:pPr>
            <a:r>
              <a:rPr lang="en-US" dirty="0">
                <a:latin typeface="Aptos Narrow" panose="020B0004020202020204" pitchFamily="34" charset="0"/>
              </a:rPr>
              <a:t>It identifies clusters as dense regions in the data space separated by areas of lower density. </a:t>
            </a:r>
          </a:p>
          <a:p>
            <a:pPr fontAlgn="base">
              <a:lnSpc>
                <a:spcPct val="150000"/>
              </a:lnSpc>
            </a:pPr>
            <a:r>
              <a:rPr lang="en-US" dirty="0">
                <a:latin typeface="Aptos Narrow" panose="020B0004020202020204" pitchFamily="34" charset="0"/>
              </a:rPr>
              <a:t>Unlike K-Means or hierarchical clustering which assumes clusters are compact and spherical, DBSCAN perform well in handling real-world data irregularities such as:</a:t>
            </a:r>
          </a:p>
        </p:txBody>
      </p:sp>
      <p:sp>
        <p:nvSpPr>
          <p:cNvPr id="6" name="Rectangle 5"/>
          <p:cNvSpPr/>
          <p:nvPr/>
        </p:nvSpPr>
        <p:spPr>
          <a:xfrm>
            <a:off x="640517" y="3653308"/>
            <a:ext cx="4957050" cy="1754326"/>
          </a:xfrm>
          <a:prstGeom prst="rect">
            <a:avLst/>
          </a:prstGeom>
        </p:spPr>
        <p:txBody>
          <a:bodyPr wrap="square">
            <a:spAutoFit/>
          </a:bodyPr>
          <a:lstStyle/>
          <a:p>
            <a:pPr marL="342900" indent="-342900" fontAlgn="base">
              <a:buFont typeface="+mj-lt"/>
              <a:buAutoNum type="arabicPeriod"/>
            </a:pPr>
            <a:r>
              <a:rPr lang="en-US" b="1" dirty="0">
                <a:latin typeface="Aptos Narrow" panose="020B0004020202020204" pitchFamily="34" charset="0"/>
              </a:rPr>
              <a:t>Arbitrary-Shaped Clusters</a:t>
            </a:r>
            <a:r>
              <a:rPr lang="en-US" dirty="0">
                <a:latin typeface="Aptos Narrow" panose="020B0004020202020204" pitchFamily="34" charset="0"/>
              </a:rPr>
              <a:t>: Clusters can take any shape not just circular or convex.</a:t>
            </a:r>
          </a:p>
          <a:p>
            <a:pPr marL="342900" indent="-342900" fontAlgn="base"/>
            <a:endParaRPr lang="en-US" dirty="0">
              <a:latin typeface="Aptos Narrow" panose="020B0004020202020204" pitchFamily="34" charset="0"/>
            </a:endParaRPr>
          </a:p>
          <a:p>
            <a:pPr marL="342900" indent="-342900" fontAlgn="base">
              <a:buFont typeface="+mj-lt"/>
              <a:buAutoNum type="arabicPeriod"/>
            </a:pPr>
            <a:r>
              <a:rPr lang="en-US" b="1" dirty="0">
                <a:latin typeface="Aptos Narrow" panose="020B0004020202020204" pitchFamily="34" charset="0"/>
              </a:rPr>
              <a:t>Noise and Outliers</a:t>
            </a:r>
            <a:r>
              <a:rPr lang="en-US" dirty="0">
                <a:latin typeface="Aptos Narrow" panose="020B0004020202020204" pitchFamily="34" charset="0"/>
              </a:rPr>
              <a:t>: It effectively identifies and handles noise points without assigning them to any cluster.</a:t>
            </a:r>
          </a:p>
        </p:txBody>
      </p:sp>
      <p:sp>
        <p:nvSpPr>
          <p:cNvPr id="26626" name="AutoShape 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Aptos Narrow" panose="020B0004020202020204" pitchFamily="34" charset="0"/>
            </a:endParaRPr>
          </a:p>
        </p:txBody>
      </p:sp>
      <p:sp>
        <p:nvSpPr>
          <p:cNvPr id="26628"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Aptos Narrow" panose="020B0004020202020204" pitchFamily="34" charset="0"/>
            </a:endParaRPr>
          </a:p>
        </p:txBody>
      </p:sp>
      <p:sp>
        <p:nvSpPr>
          <p:cNvPr id="26630" name="AutoShape 6" descr="https://media.geeksforgeeks.org/wp-content/uploads/20250129131304142658/Databases.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Aptos Narrow" panose="020B0004020202020204" pitchFamily="34" charset="0"/>
            </a:endParaRPr>
          </a:p>
        </p:txBody>
      </p:sp>
      <p:pic>
        <p:nvPicPr>
          <p:cNvPr id="26631" name="Picture 7"/>
          <p:cNvPicPr>
            <a:picLocks noChangeAspect="1" noChangeArrowheads="1"/>
          </p:cNvPicPr>
          <p:nvPr/>
        </p:nvPicPr>
        <p:blipFill>
          <a:blip r:embed="rId2"/>
          <a:srcRect/>
          <a:stretch>
            <a:fillRect/>
          </a:stretch>
        </p:blipFill>
        <p:spPr bwMode="auto">
          <a:xfrm>
            <a:off x="5715008" y="3187398"/>
            <a:ext cx="5836475" cy="2220236"/>
          </a:xfrm>
          <a:prstGeom prst="rect">
            <a:avLst/>
          </a:prstGeom>
          <a:noFill/>
          <a:ln w="9525">
            <a:noFill/>
            <a:miter lim="800000"/>
            <a:headEnd/>
            <a:tailEnd/>
          </a:ln>
          <a:effectLst/>
        </p:spPr>
      </p:pic>
      <p:sp>
        <p:nvSpPr>
          <p:cNvPr id="11" name="Rectangle 10"/>
          <p:cNvSpPr/>
          <p:nvPr/>
        </p:nvSpPr>
        <p:spPr>
          <a:xfrm>
            <a:off x="6774426" y="5613908"/>
            <a:ext cx="5588209" cy="338554"/>
          </a:xfrm>
          <a:prstGeom prst="rect">
            <a:avLst/>
          </a:prstGeom>
        </p:spPr>
        <p:txBody>
          <a:bodyPr wrap="square">
            <a:spAutoFit/>
          </a:bodyPr>
          <a:lstStyle/>
          <a:p>
            <a:r>
              <a:rPr lang="en-US" sz="1600" dirty="0">
                <a:latin typeface="Aptos Narrow" panose="020B0004020202020204" pitchFamily="34" charset="0"/>
              </a:rPr>
              <a:t>DBSCAN Clustering in ML | Density based clustering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1578" y="1115504"/>
            <a:ext cx="11194396" cy="883383"/>
          </a:xfrm>
          <a:prstGeom prst="rect">
            <a:avLst/>
          </a:prstGeom>
        </p:spPr>
        <p:txBody>
          <a:bodyPr wrap="square">
            <a:spAutoFit/>
          </a:bodyPr>
          <a:lstStyle/>
          <a:p>
            <a:pPr fontAlgn="base">
              <a:lnSpc>
                <a:spcPct val="150000"/>
              </a:lnSpc>
            </a:pPr>
            <a:r>
              <a:rPr lang="en-US" dirty="0">
                <a:latin typeface="Aptos Narrow" panose="020B0004020202020204" pitchFamily="34" charset="0"/>
              </a:rPr>
              <a:t>The figure above shows a data set with clustering algorithms: K-Means and Hierarchical handling compact, spherical clusters with varying noise tolerance while DBSCAN manages arbitrary-shaped clusters and noise handling.</a:t>
            </a:r>
          </a:p>
        </p:txBody>
      </p:sp>
      <p:sp>
        <p:nvSpPr>
          <p:cNvPr id="5" name="Rectangle 4"/>
          <p:cNvSpPr/>
          <p:nvPr/>
        </p:nvSpPr>
        <p:spPr>
          <a:xfrm>
            <a:off x="681578" y="2133143"/>
            <a:ext cx="11194395" cy="3422540"/>
          </a:xfrm>
          <a:prstGeom prst="rect">
            <a:avLst/>
          </a:prstGeom>
        </p:spPr>
        <p:txBody>
          <a:bodyPr wrap="square">
            <a:spAutoFit/>
          </a:bodyPr>
          <a:lstStyle/>
          <a:p>
            <a:pPr algn="ctr" fontAlgn="base">
              <a:lnSpc>
                <a:spcPct val="150000"/>
              </a:lnSpc>
            </a:pPr>
            <a:r>
              <a:rPr lang="en-US" sz="2000" b="1" dirty="0">
                <a:solidFill>
                  <a:srgbClr val="C00000"/>
                </a:solidFill>
                <a:latin typeface="Aptos Narrow" panose="020B0004020202020204" pitchFamily="34" charset="0"/>
              </a:rPr>
              <a:t>Key Parameters in DBSCAN</a:t>
            </a:r>
          </a:p>
          <a:p>
            <a:pPr marL="342900" indent="-342900" fontAlgn="base">
              <a:lnSpc>
                <a:spcPct val="150000"/>
              </a:lnSpc>
              <a:buAutoNum type="arabicPeriod"/>
            </a:pPr>
            <a:r>
              <a:rPr lang="en-US" b="1" dirty="0">
                <a:latin typeface="Aptos Narrow" panose="020B0004020202020204" pitchFamily="34" charset="0"/>
              </a:rPr>
              <a:t>eps</a:t>
            </a:r>
            <a:r>
              <a:rPr lang="en-US" dirty="0">
                <a:latin typeface="Aptos Narrow" panose="020B0004020202020204" pitchFamily="34" charset="0"/>
              </a:rPr>
              <a:t>: This defines the radius of the neighborhood around a data point. If the distance between two points is less than or equal to </a:t>
            </a:r>
            <a:r>
              <a:rPr lang="en-US" dirty="0" err="1">
                <a:latin typeface="Aptos Narrow" panose="020B0004020202020204" pitchFamily="34" charset="0"/>
              </a:rPr>
              <a:t>eps</a:t>
            </a:r>
            <a:r>
              <a:rPr lang="en-US" dirty="0">
                <a:latin typeface="Aptos Narrow" panose="020B0004020202020204" pitchFamily="34" charset="0"/>
              </a:rPr>
              <a:t> they are considered neighbors. A common method to determine </a:t>
            </a:r>
            <a:r>
              <a:rPr lang="en-US" dirty="0" err="1">
                <a:latin typeface="Aptos Narrow" panose="020B0004020202020204" pitchFamily="34" charset="0"/>
              </a:rPr>
              <a:t>eps</a:t>
            </a:r>
            <a:r>
              <a:rPr lang="en-US" dirty="0">
                <a:latin typeface="Aptos Narrow" panose="020B0004020202020204" pitchFamily="34" charset="0"/>
              </a:rPr>
              <a:t> is by analyzing the k-distance graph. Choosing the right eps is important:                                                                                         </a:t>
            </a:r>
          </a:p>
          <a:p>
            <a:pPr marL="800100" lvl="1" indent="-342900" fontAlgn="base">
              <a:lnSpc>
                <a:spcPct val="150000"/>
              </a:lnSpc>
              <a:buAutoNum type="arabicPeriod"/>
            </a:pPr>
            <a:r>
              <a:rPr lang="en-US" dirty="0">
                <a:latin typeface="Aptos Narrow" panose="020B0004020202020204" pitchFamily="34" charset="0"/>
              </a:rPr>
              <a:t>If eps is too small most points will be classified as noise.</a:t>
            </a:r>
          </a:p>
          <a:p>
            <a:pPr marL="800100" lvl="1" indent="-342900" fontAlgn="base">
              <a:lnSpc>
                <a:spcPct val="150000"/>
              </a:lnSpc>
              <a:buAutoNum type="arabicPeriod"/>
            </a:pPr>
            <a:r>
              <a:rPr lang="en-US" dirty="0">
                <a:latin typeface="Aptos Narrow" panose="020B0004020202020204" pitchFamily="34" charset="0"/>
              </a:rPr>
              <a:t>If eps is too large clusters may merge and the algorithm may fail to distinguish between them.</a:t>
            </a:r>
          </a:p>
          <a:p>
            <a:pPr fontAlgn="base">
              <a:lnSpc>
                <a:spcPct val="150000"/>
              </a:lnSpc>
            </a:pPr>
            <a:r>
              <a:rPr lang="en-US" b="1" dirty="0">
                <a:latin typeface="Aptos Narrow" panose="020B0004020202020204" pitchFamily="34" charset="0"/>
              </a:rPr>
              <a:t>2. </a:t>
            </a:r>
            <a:r>
              <a:rPr lang="en-US" b="1" dirty="0" err="1">
                <a:latin typeface="Aptos Narrow" panose="020B0004020202020204" pitchFamily="34" charset="0"/>
              </a:rPr>
              <a:t>MinPts</a:t>
            </a:r>
            <a:r>
              <a:rPr lang="en-US" dirty="0">
                <a:latin typeface="Aptos Narrow" panose="020B0004020202020204" pitchFamily="34" charset="0"/>
              </a:rPr>
              <a:t>: This is the minimum number of points required within the </a:t>
            </a:r>
            <a:r>
              <a:rPr lang="en-US" b="1" dirty="0" err="1">
                <a:latin typeface="Aptos Narrow" panose="020B0004020202020204" pitchFamily="34" charset="0"/>
              </a:rPr>
              <a:t>eps</a:t>
            </a:r>
            <a:r>
              <a:rPr lang="en-US" dirty="0">
                <a:latin typeface="Aptos Narrow" panose="020B0004020202020204" pitchFamily="34" charset="0"/>
              </a:rPr>
              <a:t> radius to form a dense region. A general rule of thumb is to set </a:t>
            </a:r>
            <a:r>
              <a:rPr lang="en-US" dirty="0" err="1">
                <a:latin typeface="Aptos Narrow" panose="020B0004020202020204" pitchFamily="34" charset="0"/>
              </a:rPr>
              <a:t>MinPts</a:t>
            </a:r>
            <a:r>
              <a:rPr lang="en-US" dirty="0">
                <a:latin typeface="Aptos Narrow" panose="020B0004020202020204" pitchFamily="34" charset="0"/>
              </a:rPr>
              <a:t> &gt;= D+1 where </a:t>
            </a:r>
            <a:r>
              <a:rPr lang="en-US" b="1" dirty="0">
                <a:latin typeface="Aptos Narrow" panose="020B0004020202020204" pitchFamily="34" charset="0"/>
              </a:rPr>
              <a:t>D</a:t>
            </a:r>
            <a:r>
              <a:rPr lang="en-US" dirty="0">
                <a:latin typeface="Aptos Narrow" panose="020B0004020202020204" pitchFamily="34" charset="0"/>
              </a:rPr>
              <a:t> is the number of dimensions in the dataset.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58553" y="427425"/>
            <a:ext cx="6096000" cy="400110"/>
          </a:xfrm>
          <a:prstGeom prst="rect">
            <a:avLst/>
          </a:prstGeom>
        </p:spPr>
        <p:txBody>
          <a:bodyPr>
            <a:spAutoFit/>
          </a:bodyPr>
          <a:lstStyle/>
          <a:p>
            <a:pPr algn="ctr" fontAlgn="base"/>
            <a:r>
              <a:rPr lang="en-US" sz="2000" b="1" dirty="0">
                <a:solidFill>
                  <a:srgbClr val="C00000"/>
                </a:solidFill>
                <a:latin typeface="Aptos Narrow" panose="020B0004020202020204" pitchFamily="34" charset="0"/>
              </a:rPr>
              <a:t>How Does DBSCAN Work? </a:t>
            </a:r>
          </a:p>
        </p:txBody>
      </p:sp>
      <p:sp>
        <p:nvSpPr>
          <p:cNvPr id="5" name="Rectangle 4"/>
          <p:cNvSpPr/>
          <p:nvPr/>
        </p:nvSpPr>
        <p:spPr>
          <a:xfrm>
            <a:off x="544946" y="1309361"/>
            <a:ext cx="10331571" cy="2545377"/>
          </a:xfrm>
          <a:prstGeom prst="rect">
            <a:avLst/>
          </a:prstGeom>
        </p:spPr>
        <p:txBody>
          <a:bodyPr wrap="square">
            <a:spAutoFit/>
          </a:bodyPr>
          <a:lstStyle/>
          <a:p>
            <a:pPr fontAlgn="base">
              <a:lnSpc>
                <a:spcPct val="150000"/>
              </a:lnSpc>
            </a:pPr>
            <a:r>
              <a:rPr lang="en-US" dirty="0">
                <a:latin typeface="Aptos Narrow" panose="020B0004020202020204" pitchFamily="34" charset="0"/>
              </a:rPr>
              <a:t>DBSCAN works by categorizing data points into three types:</a:t>
            </a:r>
          </a:p>
          <a:p>
            <a:pPr marL="342900" indent="-342900" fontAlgn="base">
              <a:lnSpc>
                <a:spcPct val="150000"/>
              </a:lnSpc>
              <a:buFont typeface="+mj-lt"/>
              <a:buAutoNum type="arabicPeriod"/>
            </a:pPr>
            <a:r>
              <a:rPr lang="en-US" dirty="0">
                <a:latin typeface="Aptos Narrow" panose="020B0004020202020204" pitchFamily="34" charset="0"/>
              </a:rPr>
              <a:t>Core points which have enough neighbors within a specified radius (</a:t>
            </a:r>
            <a:r>
              <a:rPr lang="en-US" dirty="0" err="1">
                <a:latin typeface="Aptos Narrow" panose="020B0004020202020204" pitchFamily="34" charset="0"/>
              </a:rPr>
              <a:t>eplison</a:t>
            </a:r>
            <a:r>
              <a:rPr lang="en-US" dirty="0">
                <a:latin typeface="Aptos Narrow" panose="020B0004020202020204" pitchFamily="34" charset="0"/>
              </a:rPr>
              <a:t>)</a:t>
            </a:r>
          </a:p>
          <a:p>
            <a:pPr marL="342900" indent="-342900" fontAlgn="base">
              <a:lnSpc>
                <a:spcPct val="150000"/>
              </a:lnSpc>
              <a:buFont typeface="+mj-lt"/>
              <a:buAutoNum type="arabicPeriod"/>
            </a:pPr>
            <a:r>
              <a:rPr lang="en-US" dirty="0">
                <a:latin typeface="Aptos Narrow" panose="020B0004020202020204" pitchFamily="34" charset="0"/>
              </a:rPr>
              <a:t>Border points which are near core points but lack enough neighbors to be core points themselves</a:t>
            </a:r>
          </a:p>
          <a:p>
            <a:pPr marL="342900" indent="-342900" fontAlgn="base">
              <a:lnSpc>
                <a:spcPct val="150000"/>
              </a:lnSpc>
              <a:buFont typeface="+mj-lt"/>
              <a:buAutoNum type="arabicPeriod"/>
            </a:pPr>
            <a:r>
              <a:rPr lang="en-US" dirty="0">
                <a:latin typeface="Aptos Narrow" panose="020B0004020202020204" pitchFamily="34" charset="0"/>
              </a:rPr>
              <a:t>Noise points which do not belong to any cluster.</a:t>
            </a:r>
          </a:p>
          <a:p>
            <a:pPr fontAlgn="base">
              <a:lnSpc>
                <a:spcPct val="150000"/>
              </a:lnSpc>
            </a:pPr>
            <a:r>
              <a:rPr lang="en-US" dirty="0">
                <a:latin typeface="Aptos Narrow" panose="020B0004020202020204" pitchFamily="34" charset="0"/>
              </a:rPr>
              <a:t>By iteratively expanding clusters from core points and connecting density-reachable points, DBSCAN forms clusters without relying on rigid assumptions about their shape or size.</a:t>
            </a:r>
          </a:p>
        </p:txBody>
      </p:sp>
      <p:pic>
        <p:nvPicPr>
          <p:cNvPr id="27650" name="Picture 2" descr="Lightbox"/>
          <p:cNvPicPr>
            <a:picLocks noChangeAspect="1" noChangeArrowheads="1"/>
          </p:cNvPicPr>
          <p:nvPr/>
        </p:nvPicPr>
        <p:blipFill>
          <a:blip r:embed="rId2"/>
          <a:srcRect/>
          <a:stretch>
            <a:fillRect/>
          </a:stretch>
        </p:blipFill>
        <p:spPr bwMode="auto">
          <a:xfrm>
            <a:off x="8461630" y="3404995"/>
            <a:ext cx="2570164" cy="2468789"/>
          </a:xfrm>
          <a:prstGeom prst="rect">
            <a:avLst/>
          </a:prstGeom>
          <a:noFill/>
        </p:spPr>
      </p:pic>
      <p:sp>
        <p:nvSpPr>
          <p:cNvPr id="27651" name="Rectangle 3"/>
          <p:cNvSpPr>
            <a:spLocks noChangeArrowheads="1"/>
          </p:cNvSpPr>
          <p:nvPr/>
        </p:nvSpPr>
        <p:spPr bwMode="auto">
          <a:xfrm>
            <a:off x="629263" y="3328407"/>
            <a:ext cx="12274926" cy="738664"/>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sz="2400" b="0" i="0" u="none" strike="noStrike" cap="none" normalizeH="0" baseline="0" dirty="0">
                <a:ln>
                  <a:noFill/>
                </a:ln>
                <a:solidFill>
                  <a:schemeClr val="tx1"/>
                </a:solidFill>
                <a:effectLst/>
                <a:latin typeface="Aptos Narrow" panose="020B0004020202020204" pitchFamily="34" charset="0"/>
                <a:cs typeface="Arial" pitchFamily="34" charset="0"/>
              </a:rPr>
            </a:br>
            <a:endParaRPr kumimoji="0" lang="en-US" sz="2400" b="0" i="0" u="none" strike="noStrike" cap="none" normalizeH="0" baseline="0" dirty="0">
              <a:ln>
                <a:noFill/>
              </a:ln>
              <a:solidFill>
                <a:schemeClr val="tx1"/>
              </a:solidFill>
              <a:effectLst/>
              <a:latin typeface="Aptos Narrow" panose="020B0004020202020204" pitchFamily="34" charset="0"/>
              <a:cs typeface="Arial" pitchFamily="34" charset="0"/>
            </a:endParaRPr>
          </a:p>
        </p:txBody>
      </p:sp>
      <p:sp>
        <p:nvSpPr>
          <p:cNvPr id="3" name="TextBox 2">
            <a:extLst>
              <a:ext uri="{FF2B5EF4-FFF2-40B4-BE49-F238E27FC236}">
                <a16:creationId xmlns:a16="http://schemas.microsoft.com/office/drawing/2014/main" id="{62B020C1-82B8-87CB-5371-583737A81BF2}"/>
              </a:ext>
            </a:extLst>
          </p:cNvPr>
          <p:cNvSpPr txBox="1"/>
          <p:nvPr/>
        </p:nvSpPr>
        <p:spPr>
          <a:xfrm>
            <a:off x="1317522" y="4263545"/>
            <a:ext cx="644996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ptos Narrow" panose="020B0004020202020204" pitchFamily="34" charset="0"/>
                <a:cs typeface="Arial" pitchFamily="34" charset="0"/>
              </a:rPr>
              <a:t>For most cases a minimum value of </a:t>
            </a:r>
            <a:r>
              <a:rPr kumimoji="0" lang="en-US" sz="1800" b="1" i="0" u="none" strike="noStrike" cap="none" normalizeH="0" baseline="0" dirty="0" err="1">
                <a:ln>
                  <a:noFill/>
                </a:ln>
                <a:solidFill>
                  <a:schemeClr val="tx1"/>
                </a:solidFill>
                <a:effectLst/>
                <a:latin typeface="Aptos Narrow" panose="020B0004020202020204" pitchFamily="34" charset="0"/>
                <a:cs typeface="Arial" pitchFamily="34" charset="0"/>
              </a:rPr>
              <a:t>MinPts</a:t>
            </a:r>
            <a:r>
              <a:rPr kumimoji="0" lang="en-US" sz="1800" b="1" i="0" u="none" strike="noStrike" cap="none" normalizeH="0" baseline="0" dirty="0">
                <a:ln>
                  <a:noFill/>
                </a:ln>
                <a:solidFill>
                  <a:schemeClr val="tx1"/>
                </a:solidFill>
                <a:effectLst/>
                <a:latin typeface="Aptos Narrow" panose="020B0004020202020204" pitchFamily="34" charset="0"/>
                <a:cs typeface="Arial" pitchFamily="34" charset="0"/>
              </a:rPr>
              <a:t> = 3</a:t>
            </a:r>
            <a:r>
              <a:rPr kumimoji="0" lang="en-US" sz="1800" b="0" i="0" u="none" strike="noStrike" cap="none" normalizeH="0" baseline="0" dirty="0">
                <a:ln>
                  <a:noFill/>
                </a:ln>
                <a:solidFill>
                  <a:schemeClr val="tx1"/>
                </a:solidFill>
                <a:effectLst/>
                <a:latin typeface="Aptos Narrow" panose="020B0004020202020204" pitchFamily="34" charset="0"/>
                <a:cs typeface="Arial" pitchFamily="34" charset="0"/>
              </a:rPr>
              <a:t> is recommended.</a:t>
            </a:r>
            <a:endParaRPr kumimoji="0" lang="en-US" sz="1050" b="0" i="0" u="none" strike="noStrike" cap="none" normalizeH="0" baseline="0" dirty="0">
              <a:ln>
                <a:noFill/>
              </a:ln>
              <a:solidFill>
                <a:schemeClr val="tx1"/>
              </a:solidFill>
              <a:effectLst/>
              <a:latin typeface="Aptos Narrow" panose="020B0004020202020204"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3784" y="1268756"/>
            <a:ext cx="11303247" cy="3791872"/>
          </a:xfrm>
          <a:prstGeom prst="rect">
            <a:avLst/>
          </a:prstGeom>
        </p:spPr>
        <p:txBody>
          <a:bodyPr wrap="square">
            <a:spAutoFit/>
          </a:bodyPr>
          <a:lstStyle/>
          <a:p>
            <a:pPr fontAlgn="base">
              <a:lnSpc>
                <a:spcPct val="150000"/>
              </a:lnSpc>
            </a:pPr>
            <a:r>
              <a:rPr lang="en-US" b="1" dirty="0">
                <a:solidFill>
                  <a:srgbClr val="C00000"/>
                </a:solidFill>
                <a:latin typeface="Aptos Narrow" panose="020B0004020202020204" pitchFamily="34" charset="0"/>
              </a:rPr>
              <a:t>Steps in the DBSCAN Algorithm</a:t>
            </a:r>
          </a:p>
          <a:p>
            <a:pPr fontAlgn="base">
              <a:lnSpc>
                <a:spcPct val="150000"/>
              </a:lnSpc>
              <a:buFont typeface="Wingdings" pitchFamily="2" charset="2"/>
              <a:buChar char="q"/>
            </a:pPr>
            <a:r>
              <a:rPr lang="en-US" b="1" dirty="0">
                <a:latin typeface="Aptos Narrow" panose="020B0004020202020204" pitchFamily="34" charset="0"/>
              </a:rPr>
              <a:t> Identify Core Points</a:t>
            </a:r>
            <a:r>
              <a:rPr lang="en-US" dirty="0">
                <a:latin typeface="Aptos Narrow" panose="020B0004020202020204" pitchFamily="34" charset="0"/>
              </a:rPr>
              <a:t>: For each point in the dataset count the number of points within its </a:t>
            </a:r>
            <a:r>
              <a:rPr lang="en-US" dirty="0" err="1">
                <a:latin typeface="Aptos Narrow" panose="020B0004020202020204" pitchFamily="34" charset="0"/>
              </a:rPr>
              <a:t>eps</a:t>
            </a:r>
            <a:r>
              <a:rPr lang="en-US" dirty="0">
                <a:latin typeface="Aptos Narrow" panose="020B0004020202020204" pitchFamily="34" charset="0"/>
              </a:rPr>
              <a:t> neighborhood. If the count meets or exceeds </a:t>
            </a:r>
            <a:r>
              <a:rPr lang="en-US" dirty="0" err="1">
                <a:latin typeface="Aptos Narrow" panose="020B0004020202020204" pitchFamily="34" charset="0"/>
              </a:rPr>
              <a:t>MinPts</a:t>
            </a:r>
            <a:r>
              <a:rPr lang="en-US" dirty="0">
                <a:latin typeface="Aptos Narrow" panose="020B0004020202020204" pitchFamily="34" charset="0"/>
              </a:rPr>
              <a:t> mark the point as a core point.</a:t>
            </a:r>
          </a:p>
          <a:p>
            <a:pPr fontAlgn="base">
              <a:lnSpc>
                <a:spcPct val="150000"/>
              </a:lnSpc>
              <a:buFont typeface="Wingdings" pitchFamily="2" charset="2"/>
              <a:buChar char="q"/>
            </a:pPr>
            <a:r>
              <a:rPr lang="en-US" b="1" dirty="0">
                <a:latin typeface="Aptos Narrow" panose="020B0004020202020204" pitchFamily="34" charset="0"/>
              </a:rPr>
              <a:t> Form Clusters</a:t>
            </a:r>
            <a:r>
              <a:rPr lang="en-US" dirty="0">
                <a:latin typeface="Aptos Narrow" panose="020B0004020202020204" pitchFamily="34" charset="0"/>
              </a:rPr>
              <a:t>: For each core point that is not already assigned to a cluster create a new cluster. Recursively find all density-connected points </a:t>
            </a:r>
            <a:r>
              <a:rPr lang="en-US" dirty="0" err="1">
                <a:latin typeface="Aptos Narrow" panose="020B0004020202020204" pitchFamily="34" charset="0"/>
              </a:rPr>
              <a:t>i.e</a:t>
            </a:r>
            <a:r>
              <a:rPr lang="en-US" dirty="0">
                <a:latin typeface="Aptos Narrow" panose="020B0004020202020204" pitchFamily="34" charset="0"/>
              </a:rPr>
              <a:t> points within the </a:t>
            </a:r>
            <a:r>
              <a:rPr lang="en-US" dirty="0" err="1">
                <a:latin typeface="Aptos Narrow" panose="020B0004020202020204" pitchFamily="34" charset="0"/>
              </a:rPr>
              <a:t>eps</a:t>
            </a:r>
            <a:r>
              <a:rPr lang="en-US" dirty="0">
                <a:latin typeface="Aptos Narrow" panose="020B0004020202020204" pitchFamily="34" charset="0"/>
              </a:rPr>
              <a:t> radius of the core point and add them to the cluster.</a:t>
            </a:r>
          </a:p>
          <a:p>
            <a:pPr fontAlgn="base">
              <a:lnSpc>
                <a:spcPct val="150000"/>
              </a:lnSpc>
              <a:buFont typeface="Wingdings" pitchFamily="2" charset="2"/>
              <a:buChar char="q"/>
            </a:pPr>
            <a:r>
              <a:rPr lang="en-US" b="1" dirty="0">
                <a:latin typeface="Aptos Narrow" panose="020B0004020202020204" pitchFamily="34" charset="0"/>
              </a:rPr>
              <a:t> Density Connectivity</a:t>
            </a:r>
            <a:r>
              <a:rPr lang="en-US" dirty="0">
                <a:latin typeface="Aptos Narrow" panose="020B0004020202020204" pitchFamily="34" charset="0"/>
              </a:rPr>
              <a:t>: Two points a and b are density-connected if there exists a chain of points where each point is within the </a:t>
            </a:r>
            <a:r>
              <a:rPr lang="en-US" dirty="0" err="1">
                <a:latin typeface="Aptos Narrow" panose="020B0004020202020204" pitchFamily="34" charset="0"/>
              </a:rPr>
              <a:t>eps</a:t>
            </a:r>
            <a:r>
              <a:rPr lang="en-US" dirty="0">
                <a:latin typeface="Aptos Narrow" panose="020B0004020202020204" pitchFamily="34" charset="0"/>
              </a:rPr>
              <a:t> radius of the next and at least one point in the chain is a core point. This chaining process ensures that all points in a cluster are connected through a series of dense regions.</a:t>
            </a:r>
          </a:p>
          <a:p>
            <a:pPr fontAlgn="base">
              <a:lnSpc>
                <a:spcPct val="150000"/>
              </a:lnSpc>
              <a:buFont typeface="Wingdings" pitchFamily="2" charset="2"/>
              <a:buChar char="q"/>
            </a:pPr>
            <a:r>
              <a:rPr lang="en-US" b="1" dirty="0">
                <a:latin typeface="Aptos Narrow" panose="020B0004020202020204" pitchFamily="34" charset="0"/>
              </a:rPr>
              <a:t> Label Noise Points</a:t>
            </a:r>
            <a:r>
              <a:rPr lang="en-US" dirty="0">
                <a:latin typeface="Aptos Narrow" panose="020B0004020202020204" pitchFamily="34" charset="0"/>
              </a:rPr>
              <a:t>: After processing all points any point that does not belong to a cluster is labeled as noise.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3123" y="1328213"/>
            <a:ext cx="10788771" cy="1714380"/>
          </a:xfrm>
          <a:prstGeom prst="rect">
            <a:avLst/>
          </a:prstGeom>
        </p:spPr>
        <p:txBody>
          <a:bodyPr wrap="square">
            <a:spAutoFit/>
          </a:bodyPr>
          <a:lstStyle/>
          <a:p>
            <a:pPr>
              <a:lnSpc>
                <a:spcPct val="150000"/>
              </a:lnSpc>
            </a:pPr>
            <a:r>
              <a:rPr lang="en-US" b="1" dirty="0" err="1">
                <a:latin typeface="Aptos Narrow" panose="020B0004020202020204" pitchFamily="34" charset="0"/>
              </a:rPr>
              <a:t>Meanshift</a:t>
            </a:r>
            <a:r>
              <a:rPr lang="en-US" b="1" dirty="0">
                <a:latin typeface="Aptos Narrow" panose="020B0004020202020204" pitchFamily="34" charset="0"/>
              </a:rPr>
              <a:t> </a:t>
            </a:r>
            <a:r>
              <a:rPr lang="en-US" dirty="0">
                <a:latin typeface="Aptos Narrow" panose="020B0004020202020204" pitchFamily="34" charset="0"/>
              </a:rPr>
              <a:t>is falling under the category of a clustering algorithm in contrast of Unsupervised learning that assigns the data points to the clusters iteratively by shifting points towards the mode (mode is the highest density of data points in the region, in the context of the </a:t>
            </a:r>
            <a:r>
              <a:rPr lang="en-US" dirty="0" err="1">
                <a:latin typeface="Aptos Narrow" panose="020B0004020202020204" pitchFamily="34" charset="0"/>
              </a:rPr>
              <a:t>Meanshift</a:t>
            </a:r>
            <a:r>
              <a:rPr lang="en-US" dirty="0">
                <a:latin typeface="Aptos Narrow" panose="020B0004020202020204" pitchFamily="34" charset="0"/>
              </a:rPr>
              <a:t>).</a:t>
            </a:r>
          </a:p>
          <a:p>
            <a:pPr>
              <a:lnSpc>
                <a:spcPct val="150000"/>
              </a:lnSpc>
            </a:pPr>
            <a:r>
              <a:rPr lang="en-US" dirty="0">
                <a:latin typeface="Aptos Narrow" panose="020B0004020202020204" pitchFamily="34" charset="0"/>
              </a:rPr>
              <a:t>Mean-shift algorithm has applications in the field of image processing and computer vision.</a:t>
            </a:r>
          </a:p>
        </p:txBody>
      </p:sp>
      <p:sp>
        <p:nvSpPr>
          <p:cNvPr id="2" name="TextBox 1">
            <a:extLst>
              <a:ext uri="{FF2B5EF4-FFF2-40B4-BE49-F238E27FC236}">
                <a16:creationId xmlns:a16="http://schemas.microsoft.com/office/drawing/2014/main" id="{050E76CB-EBF1-1A96-8C9D-8E33E51CA149}"/>
              </a:ext>
            </a:extLst>
          </p:cNvPr>
          <p:cNvSpPr txBox="1"/>
          <p:nvPr/>
        </p:nvSpPr>
        <p:spPr>
          <a:xfrm>
            <a:off x="613123" y="3815408"/>
            <a:ext cx="11165922" cy="1719702"/>
          </a:xfrm>
          <a:prstGeom prst="rect">
            <a:avLst/>
          </a:prstGeom>
          <a:noFill/>
        </p:spPr>
        <p:txBody>
          <a:bodyPr wrap="square">
            <a:spAutoFit/>
          </a:bodyPr>
          <a:lstStyle/>
          <a:p>
            <a:pPr>
              <a:lnSpc>
                <a:spcPct val="150000"/>
              </a:lnSpc>
            </a:pPr>
            <a:r>
              <a:rPr lang="en-US" b="0" i="0" dirty="0">
                <a:solidFill>
                  <a:srgbClr val="273239"/>
                </a:solidFill>
                <a:effectLst/>
                <a:latin typeface="Aptos Narrow" panose="020B0004020202020204" pitchFamily="34" charset="0"/>
              </a:rPr>
              <a:t>The basic idea behind mean-shift clustering is to shift each data point towards the mode (i.e., the highest density) of the distribution of points within a certain radius. </a:t>
            </a:r>
          </a:p>
          <a:p>
            <a:pPr>
              <a:lnSpc>
                <a:spcPct val="150000"/>
              </a:lnSpc>
            </a:pPr>
            <a:r>
              <a:rPr lang="en-US" b="0" i="0" dirty="0">
                <a:solidFill>
                  <a:srgbClr val="273239"/>
                </a:solidFill>
                <a:effectLst/>
                <a:latin typeface="Aptos Narrow" panose="020B0004020202020204" pitchFamily="34" charset="0"/>
              </a:rPr>
              <a:t>The algorithm iteratively performs these shifts until the points converge to a local maximum of the density function. These local maxima represent the clusters in the data.</a:t>
            </a:r>
            <a:endParaRPr lang="en-US" dirty="0">
              <a:latin typeface="Aptos Narrow" panose="020B0004020202020204" pitchFamily="34" charset="0"/>
            </a:endParaRPr>
          </a:p>
        </p:txBody>
      </p:sp>
      <p:sp>
        <p:nvSpPr>
          <p:cNvPr id="6" name="TextBox 5">
            <a:extLst>
              <a:ext uri="{FF2B5EF4-FFF2-40B4-BE49-F238E27FC236}">
                <a16:creationId xmlns:a16="http://schemas.microsoft.com/office/drawing/2014/main" id="{72C0906A-D327-AF47-97D3-B51BA2A86AA2}"/>
              </a:ext>
            </a:extLst>
          </p:cNvPr>
          <p:cNvSpPr txBox="1"/>
          <p:nvPr/>
        </p:nvSpPr>
        <p:spPr>
          <a:xfrm>
            <a:off x="613123" y="3301549"/>
            <a:ext cx="6096000" cy="369332"/>
          </a:xfrm>
          <a:prstGeom prst="rect">
            <a:avLst/>
          </a:prstGeom>
          <a:noFill/>
        </p:spPr>
        <p:txBody>
          <a:bodyPr wrap="square">
            <a:spAutoFit/>
          </a:bodyPr>
          <a:lstStyle/>
          <a:p>
            <a:r>
              <a:rPr lang="en-US" dirty="0">
                <a:latin typeface="Aptos Narrow" panose="020B0004020202020204" pitchFamily="34" charset="0"/>
              </a:rPr>
              <a:t>As such, it is also known as the </a:t>
            </a:r>
            <a:r>
              <a:rPr lang="en-US" b="1" dirty="0">
                <a:latin typeface="Aptos Narrow" panose="020B0004020202020204" pitchFamily="34" charset="0"/>
              </a:rPr>
              <a:t>Mode-seeking algorithm</a:t>
            </a:r>
            <a:r>
              <a:rPr lang="en-US" dirty="0">
                <a:latin typeface="Aptos Narrow" panose="020B0004020202020204" pitchFamily="34" charset="0"/>
              </a:rPr>
              <a:t>. </a:t>
            </a:r>
          </a:p>
        </p:txBody>
      </p:sp>
      <p:sp>
        <p:nvSpPr>
          <p:cNvPr id="5" name="TextBox 4">
            <a:extLst>
              <a:ext uri="{FF2B5EF4-FFF2-40B4-BE49-F238E27FC236}">
                <a16:creationId xmlns:a16="http://schemas.microsoft.com/office/drawing/2014/main" id="{5247C22C-CA4D-C2A1-9E93-A7F7A2551501}"/>
              </a:ext>
            </a:extLst>
          </p:cNvPr>
          <p:cNvSpPr txBox="1"/>
          <p:nvPr/>
        </p:nvSpPr>
        <p:spPr>
          <a:xfrm>
            <a:off x="4739149" y="506238"/>
            <a:ext cx="1887794" cy="461665"/>
          </a:xfrm>
          <a:prstGeom prst="rect">
            <a:avLst/>
          </a:prstGeom>
          <a:noFill/>
        </p:spPr>
        <p:txBody>
          <a:bodyPr wrap="square">
            <a:spAutoFit/>
          </a:bodyPr>
          <a:lstStyle/>
          <a:p>
            <a:r>
              <a:rPr lang="en-US" sz="2400" b="1" dirty="0" err="1">
                <a:solidFill>
                  <a:srgbClr val="C00000"/>
                </a:solidFill>
                <a:latin typeface="Aptos Narrow" panose="020B0004020202020204" pitchFamily="34" charset="0"/>
              </a:rPr>
              <a:t>Meanshift</a:t>
            </a:r>
            <a:endParaRPr lang="en-US" sz="2400" dirty="0">
              <a:solidFill>
                <a:srgbClr val="C00000"/>
              </a:solidFill>
              <a:latin typeface="Aptos Narrow" panose="020B00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387459-471B-03F0-ABA4-9C763CE5253F}"/>
              </a:ext>
            </a:extLst>
          </p:cNvPr>
          <p:cNvSpPr txBox="1"/>
          <p:nvPr/>
        </p:nvSpPr>
        <p:spPr>
          <a:xfrm>
            <a:off x="614516" y="1233259"/>
            <a:ext cx="11179277" cy="3847207"/>
          </a:xfrm>
          <a:prstGeom prst="rect">
            <a:avLst/>
          </a:prstGeom>
          <a:noFill/>
        </p:spPr>
        <p:txBody>
          <a:bodyPr wrap="square">
            <a:spAutoFit/>
          </a:bodyPr>
          <a:lstStyle/>
          <a:p>
            <a:pPr algn="l">
              <a:spcBef>
                <a:spcPts val="3000"/>
              </a:spcBef>
              <a:spcAft>
                <a:spcPts val="1500"/>
              </a:spcAft>
              <a:buNone/>
            </a:pPr>
            <a:r>
              <a:rPr lang="en-US" b="1" i="0" dirty="0">
                <a:solidFill>
                  <a:srgbClr val="C00000"/>
                </a:solidFill>
                <a:effectLst/>
                <a:latin typeface="Aptos Narrow" panose="020B0004020202020204" pitchFamily="34" charset="0"/>
              </a:rPr>
              <a:t>Mean Shift Steps : </a:t>
            </a:r>
            <a:r>
              <a:rPr lang="en-US" b="0" i="0" dirty="0">
                <a:solidFill>
                  <a:srgbClr val="0A0A23"/>
                </a:solidFill>
                <a:effectLst/>
                <a:latin typeface="Aptos Narrow" panose="020B0004020202020204" pitchFamily="34" charset="0"/>
              </a:rPr>
              <a:t>On a high level, Mean Shift works as follows:</a:t>
            </a:r>
          </a:p>
          <a:p>
            <a:pPr marL="342900" indent="-342900" algn="l">
              <a:spcBef>
                <a:spcPts val="1500"/>
              </a:spcBef>
              <a:spcAft>
                <a:spcPts val="1500"/>
              </a:spcAft>
              <a:buFont typeface="+mj-lt"/>
              <a:buAutoNum type="arabicPeriod"/>
            </a:pPr>
            <a:r>
              <a:rPr lang="en-US" b="0" i="0" dirty="0">
                <a:solidFill>
                  <a:srgbClr val="0A0A23"/>
                </a:solidFill>
                <a:effectLst/>
                <a:latin typeface="Aptos Narrow" panose="020B0004020202020204" pitchFamily="34" charset="0"/>
              </a:rPr>
              <a:t>Create a sliding window/cluster for each data-point</a:t>
            </a:r>
          </a:p>
          <a:p>
            <a:pPr marL="342900" indent="-342900">
              <a:spcBef>
                <a:spcPts val="1500"/>
              </a:spcBef>
              <a:spcAft>
                <a:spcPts val="1500"/>
              </a:spcAft>
              <a:buFont typeface="+mj-lt"/>
              <a:buAutoNum type="arabicPeriod"/>
            </a:pPr>
            <a:r>
              <a:rPr lang="en-US" b="0" i="0" dirty="0">
                <a:solidFill>
                  <a:srgbClr val="0A0A23"/>
                </a:solidFill>
                <a:effectLst/>
                <a:latin typeface="Aptos Narrow" panose="020B0004020202020204" pitchFamily="34" charset="0"/>
              </a:rPr>
              <a:t> Each of the sliding windows is shifted towards higher density regions by shifting their centroid (center of the sliding window) to the data-points' mean within the sliding window. This step will be repeated until no shift yields a higher density (number of points in the sliding window)</a:t>
            </a:r>
            <a:r>
              <a:rPr lang="en-US" dirty="0">
                <a:solidFill>
                  <a:srgbClr val="0A0A23"/>
                </a:solidFill>
                <a:latin typeface="Aptos Narrow" panose="020B0004020202020204" pitchFamily="34" charset="0"/>
              </a:rPr>
              <a:t>. </a:t>
            </a:r>
          </a:p>
          <a:p>
            <a:pPr marL="342900" indent="-342900">
              <a:spcBef>
                <a:spcPts val="1500"/>
              </a:spcBef>
              <a:spcAft>
                <a:spcPts val="1500"/>
              </a:spcAft>
              <a:buFont typeface="+mj-lt"/>
              <a:buAutoNum type="arabicPeriod"/>
            </a:pPr>
            <a:r>
              <a:rPr lang="en-US" dirty="0">
                <a:solidFill>
                  <a:srgbClr val="0A0A23"/>
                </a:solidFill>
                <a:latin typeface="Aptos Narrow" panose="020B0004020202020204" pitchFamily="34" charset="0"/>
              </a:rPr>
              <a:t>Selection of sliding windows by deleting overlapping windows. When multiple sliding windows overlap, the window containing the most points is preserved, and the others are deleted.</a:t>
            </a:r>
          </a:p>
          <a:p>
            <a:pPr marL="342900" indent="-342900">
              <a:spcBef>
                <a:spcPts val="1500"/>
              </a:spcBef>
              <a:spcAft>
                <a:spcPts val="1500"/>
              </a:spcAft>
              <a:buFont typeface="+mj-lt"/>
              <a:buAutoNum type="arabicPeriod"/>
            </a:pPr>
            <a:r>
              <a:rPr lang="en-US" dirty="0">
                <a:solidFill>
                  <a:srgbClr val="0A0A23"/>
                </a:solidFill>
                <a:latin typeface="Aptos Narrow" panose="020B0004020202020204" pitchFamily="34" charset="0"/>
              </a:rPr>
              <a:t>Assigning the data points to the sliding window in which they reside.</a:t>
            </a:r>
          </a:p>
        </p:txBody>
      </p:sp>
    </p:spTree>
    <p:extLst>
      <p:ext uri="{BB962C8B-B14F-4D97-AF65-F5344CB8AC3E}">
        <p14:creationId xmlns:p14="http://schemas.microsoft.com/office/powerpoint/2010/main" val="657868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A95B30-7619-F710-33E0-164F8406B9A8}"/>
              </a:ext>
            </a:extLst>
          </p:cNvPr>
          <p:cNvSpPr txBox="1"/>
          <p:nvPr/>
        </p:nvSpPr>
        <p:spPr>
          <a:xfrm>
            <a:off x="4306528" y="393652"/>
            <a:ext cx="3224982" cy="1246495"/>
          </a:xfrm>
          <a:prstGeom prst="rect">
            <a:avLst/>
          </a:prstGeom>
          <a:noFill/>
        </p:spPr>
        <p:txBody>
          <a:bodyPr wrap="square">
            <a:spAutoFit/>
          </a:bodyPr>
          <a:lstStyle/>
          <a:p>
            <a:pPr algn="l" fontAlgn="base">
              <a:spcBef>
                <a:spcPts val="1800"/>
              </a:spcBef>
              <a:spcAft>
                <a:spcPts val="1800"/>
              </a:spcAft>
              <a:buNone/>
            </a:pPr>
            <a:r>
              <a:rPr lang="en-US" sz="2000" b="1" i="0" dirty="0">
                <a:solidFill>
                  <a:srgbClr val="C00000"/>
                </a:solidFill>
                <a:effectLst/>
                <a:latin typeface="Aptos Narrow" panose="020B0004020202020204" pitchFamily="34" charset="0"/>
              </a:rPr>
              <a:t>Kernel Density Estimation</a:t>
            </a:r>
          </a:p>
          <a:p>
            <a:pPr>
              <a:buNone/>
            </a:pPr>
            <a:br>
              <a:rPr lang="en-US" sz="2000" dirty="0">
                <a:solidFill>
                  <a:srgbClr val="C00000"/>
                </a:solidFill>
                <a:latin typeface="Aptos Narrow" panose="020B0004020202020204" pitchFamily="34" charset="0"/>
              </a:rPr>
            </a:br>
            <a:endParaRPr lang="en-US" sz="2000" dirty="0">
              <a:solidFill>
                <a:srgbClr val="C00000"/>
              </a:solidFill>
              <a:latin typeface="Aptos Narrow" panose="020B0004020202020204" pitchFamily="34" charset="0"/>
            </a:endParaRPr>
          </a:p>
        </p:txBody>
      </p:sp>
      <p:sp>
        <p:nvSpPr>
          <p:cNvPr id="7" name="TextBox 6">
            <a:extLst>
              <a:ext uri="{FF2B5EF4-FFF2-40B4-BE49-F238E27FC236}">
                <a16:creationId xmlns:a16="http://schemas.microsoft.com/office/drawing/2014/main" id="{B2CF3059-7AAF-84B0-99FB-1EABF553B696}"/>
              </a:ext>
            </a:extLst>
          </p:cNvPr>
          <p:cNvSpPr txBox="1"/>
          <p:nvPr/>
        </p:nvSpPr>
        <p:spPr>
          <a:xfrm>
            <a:off x="629265" y="1316981"/>
            <a:ext cx="11336594" cy="646331"/>
          </a:xfrm>
          <a:prstGeom prst="rect">
            <a:avLst/>
          </a:prstGeom>
          <a:noFill/>
        </p:spPr>
        <p:txBody>
          <a:bodyPr wrap="square">
            <a:spAutoFit/>
          </a:bodyPr>
          <a:lstStyle/>
          <a:p>
            <a:r>
              <a:rPr lang="en-US" b="0" i="0" dirty="0">
                <a:solidFill>
                  <a:srgbClr val="273239"/>
                </a:solidFill>
                <a:effectLst/>
                <a:latin typeface="Aptos Narrow" panose="020B0004020202020204" pitchFamily="34" charset="0"/>
              </a:rPr>
              <a:t>The first step when applying mean shift clustering algorithms is representing your data in a mathematical manner this means representing your data as points such as the set below.</a:t>
            </a:r>
            <a:endParaRPr lang="en-US" dirty="0">
              <a:latin typeface="Aptos Narrow" panose="020B0004020202020204" pitchFamily="34" charset="0"/>
            </a:endParaRPr>
          </a:p>
        </p:txBody>
      </p:sp>
      <p:pic>
        <p:nvPicPr>
          <p:cNvPr id="9" name="Picture 8">
            <a:extLst>
              <a:ext uri="{FF2B5EF4-FFF2-40B4-BE49-F238E27FC236}">
                <a16:creationId xmlns:a16="http://schemas.microsoft.com/office/drawing/2014/main" id="{686BC168-FDEC-7AFD-75E6-D5E91D0CB823}"/>
              </a:ext>
            </a:extLst>
          </p:cNvPr>
          <p:cNvPicPr>
            <a:picLocks noChangeAspect="1"/>
          </p:cNvPicPr>
          <p:nvPr/>
        </p:nvPicPr>
        <p:blipFill>
          <a:blip r:embed="rId2"/>
          <a:stretch>
            <a:fillRect/>
          </a:stretch>
        </p:blipFill>
        <p:spPr>
          <a:xfrm>
            <a:off x="5685594" y="2051685"/>
            <a:ext cx="5857477" cy="4162673"/>
          </a:xfrm>
          <a:prstGeom prst="rect">
            <a:avLst/>
          </a:prstGeom>
        </p:spPr>
      </p:pic>
      <p:sp>
        <p:nvSpPr>
          <p:cNvPr id="11" name="TextBox 10">
            <a:extLst>
              <a:ext uri="{FF2B5EF4-FFF2-40B4-BE49-F238E27FC236}">
                <a16:creationId xmlns:a16="http://schemas.microsoft.com/office/drawing/2014/main" id="{5AAB0F1D-98D9-CDA7-5A78-E9B8AD00EFD9}"/>
              </a:ext>
            </a:extLst>
          </p:cNvPr>
          <p:cNvSpPr txBox="1"/>
          <p:nvPr/>
        </p:nvSpPr>
        <p:spPr>
          <a:xfrm>
            <a:off x="648928" y="2198104"/>
            <a:ext cx="4699820" cy="646331"/>
          </a:xfrm>
          <a:prstGeom prst="rect">
            <a:avLst/>
          </a:prstGeom>
          <a:noFill/>
        </p:spPr>
        <p:txBody>
          <a:bodyPr wrap="square">
            <a:spAutoFit/>
          </a:bodyPr>
          <a:lstStyle/>
          <a:p>
            <a:r>
              <a:rPr lang="en-US" b="0" i="0" dirty="0">
                <a:solidFill>
                  <a:srgbClr val="273239"/>
                </a:solidFill>
                <a:effectLst/>
                <a:latin typeface="Aptos Narrow" panose="020B0004020202020204" pitchFamily="34" charset="0"/>
              </a:rPr>
              <a:t>Mean-shift builds upon the concept of</a:t>
            </a:r>
          </a:p>
          <a:p>
            <a:r>
              <a:rPr lang="en-US" b="0" i="0" dirty="0">
                <a:solidFill>
                  <a:srgbClr val="273239"/>
                </a:solidFill>
                <a:effectLst/>
                <a:latin typeface="Aptos Narrow" panose="020B0004020202020204" pitchFamily="34" charset="0"/>
              </a:rPr>
              <a:t>kernel density estimation</a:t>
            </a:r>
            <a:endParaRPr lang="en-US" dirty="0">
              <a:latin typeface="Aptos Narrow" panose="020B0004020202020204" pitchFamily="34" charset="0"/>
            </a:endParaRPr>
          </a:p>
        </p:txBody>
      </p:sp>
      <p:sp>
        <p:nvSpPr>
          <p:cNvPr id="13" name="TextBox 12">
            <a:extLst>
              <a:ext uri="{FF2B5EF4-FFF2-40B4-BE49-F238E27FC236}">
                <a16:creationId xmlns:a16="http://schemas.microsoft.com/office/drawing/2014/main" id="{D990C42B-CDA2-896D-9A65-F9B9595E68BB}"/>
              </a:ext>
            </a:extLst>
          </p:cNvPr>
          <p:cNvSpPr txBox="1"/>
          <p:nvPr/>
        </p:nvSpPr>
        <p:spPr>
          <a:xfrm>
            <a:off x="609601" y="2942755"/>
            <a:ext cx="5171769" cy="1754326"/>
          </a:xfrm>
          <a:prstGeom prst="rect">
            <a:avLst/>
          </a:prstGeom>
          <a:noFill/>
        </p:spPr>
        <p:txBody>
          <a:bodyPr wrap="square">
            <a:spAutoFit/>
          </a:bodyPr>
          <a:lstStyle/>
          <a:p>
            <a:r>
              <a:rPr lang="en-US" dirty="0">
                <a:solidFill>
                  <a:srgbClr val="273239"/>
                </a:solidFill>
                <a:latin typeface="Aptos Narrow" panose="020B0004020202020204" pitchFamily="34" charset="0"/>
              </a:rPr>
              <a:t>kernel density estimation </a:t>
            </a:r>
            <a:r>
              <a:rPr lang="en-US" b="0" i="0" dirty="0">
                <a:solidFill>
                  <a:srgbClr val="273239"/>
                </a:solidFill>
                <a:effectLst/>
                <a:latin typeface="Aptos Narrow" panose="020B0004020202020204" pitchFamily="34" charset="0"/>
              </a:rPr>
              <a:t>(KDE)  is a method to estimate the underlying distribution also called the probability density function for a set of data. </a:t>
            </a:r>
          </a:p>
          <a:p>
            <a:endParaRPr lang="en-US" dirty="0">
              <a:solidFill>
                <a:srgbClr val="273239"/>
              </a:solidFill>
              <a:latin typeface="Aptos Narrow" panose="020B0004020202020204" pitchFamily="34" charset="0"/>
            </a:endParaRPr>
          </a:p>
          <a:p>
            <a:r>
              <a:rPr lang="en-US" b="0" i="0" dirty="0">
                <a:solidFill>
                  <a:srgbClr val="273239"/>
                </a:solidFill>
                <a:effectLst/>
                <a:latin typeface="Aptos Narrow" panose="020B0004020202020204" pitchFamily="34" charset="0"/>
              </a:rPr>
              <a:t>It works by placing a kernel on each point in the data set. </a:t>
            </a:r>
            <a:endParaRPr lang="en-US" dirty="0">
              <a:latin typeface="Aptos Narrow" panose="020B0004020202020204" pitchFamily="34" charset="0"/>
            </a:endParaRPr>
          </a:p>
        </p:txBody>
      </p:sp>
      <p:sp>
        <p:nvSpPr>
          <p:cNvPr id="15" name="TextBox 14">
            <a:extLst>
              <a:ext uri="{FF2B5EF4-FFF2-40B4-BE49-F238E27FC236}">
                <a16:creationId xmlns:a16="http://schemas.microsoft.com/office/drawing/2014/main" id="{FC803F37-7610-19E4-80D5-77898E75BA04}"/>
              </a:ext>
            </a:extLst>
          </p:cNvPr>
          <p:cNvSpPr txBox="1"/>
          <p:nvPr/>
        </p:nvSpPr>
        <p:spPr>
          <a:xfrm>
            <a:off x="589937" y="4775081"/>
            <a:ext cx="5171769" cy="646331"/>
          </a:xfrm>
          <a:prstGeom prst="rect">
            <a:avLst/>
          </a:prstGeom>
          <a:noFill/>
        </p:spPr>
        <p:txBody>
          <a:bodyPr wrap="square">
            <a:spAutoFit/>
          </a:bodyPr>
          <a:lstStyle/>
          <a:p>
            <a:r>
              <a:rPr lang="en-US" b="0" i="0" dirty="0">
                <a:solidFill>
                  <a:srgbClr val="273239"/>
                </a:solidFill>
                <a:effectLst/>
                <a:latin typeface="Aptos Narrow" panose="020B0004020202020204" pitchFamily="34" charset="0"/>
              </a:rPr>
              <a:t>A kernel is a fancy mathematical word for a weighting function generally used in convolution.</a:t>
            </a:r>
            <a:endParaRPr lang="en-US" dirty="0">
              <a:latin typeface="Aptos Narrow" panose="020B0004020202020204" pitchFamily="34" charset="0"/>
            </a:endParaRPr>
          </a:p>
        </p:txBody>
      </p:sp>
    </p:spTree>
    <p:extLst>
      <p:ext uri="{BB962C8B-B14F-4D97-AF65-F5344CB8AC3E}">
        <p14:creationId xmlns:p14="http://schemas.microsoft.com/office/powerpoint/2010/main" val="1648812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05EC360-FECC-AA65-9A13-0E2DE8377B6C}"/>
              </a:ext>
            </a:extLst>
          </p:cNvPr>
          <p:cNvPicPr>
            <a:picLocks noChangeAspect="1"/>
          </p:cNvPicPr>
          <p:nvPr/>
        </p:nvPicPr>
        <p:blipFill>
          <a:blip r:embed="rId2"/>
          <a:stretch>
            <a:fillRect/>
          </a:stretch>
        </p:blipFill>
        <p:spPr>
          <a:xfrm>
            <a:off x="6744929" y="2158701"/>
            <a:ext cx="5030646" cy="3806255"/>
          </a:xfrm>
          <a:prstGeom prst="rect">
            <a:avLst/>
          </a:prstGeom>
        </p:spPr>
      </p:pic>
      <p:sp>
        <p:nvSpPr>
          <p:cNvPr id="5" name="TextBox 4">
            <a:extLst>
              <a:ext uri="{FF2B5EF4-FFF2-40B4-BE49-F238E27FC236}">
                <a16:creationId xmlns:a16="http://schemas.microsoft.com/office/drawing/2014/main" id="{8236F8A2-890B-3FFA-681D-416631AA91BC}"/>
              </a:ext>
            </a:extLst>
          </p:cNvPr>
          <p:cNvSpPr txBox="1"/>
          <p:nvPr/>
        </p:nvSpPr>
        <p:spPr>
          <a:xfrm>
            <a:off x="589936" y="987017"/>
            <a:ext cx="10992465" cy="1477328"/>
          </a:xfrm>
          <a:prstGeom prst="rect">
            <a:avLst/>
          </a:prstGeom>
          <a:noFill/>
        </p:spPr>
        <p:txBody>
          <a:bodyPr wrap="square">
            <a:spAutoFit/>
          </a:bodyPr>
          <a:lstStyle/>
          <a:p>
            <a:r>
              <a:rPr lang="en-US" b="0" i="0" dirty="0">
                <a:solidFill>
                  <a:srgbClr val="273239"/>
                </a:solidFill>
                <a:effectLst/>
                <a:latin typeface="Aptos Narrow" panose="020B0004020202020204" pitchFamily="34" charset="0"/>
              </a:rPr>
              <a:t>There are many different types of kernels, but the most popular one is the Gaussian kernel. Adding up all of the individual kernels generates a probability surface example density function. </a:t>
            </a:r>
          </a:p>
          <a:p>
            <a:endParaRPr lang="en-US" dirty="0">
              <a:solidFill>
                <a:srgbClr val="273239"/>
              </a:solidFill>
              <a:latin typeface="Aptos Narrow" panose="020B0004020202020204" pitchFamily="34" charset="0"/>
            </a:endParaRPr>
          </a:p>
          <a:p>
            <a:r>
              <a:rPr lang="en-US" b="0" i="0" dirty="0">
                <a:solidFill>
                  <a:srgbClr val="273239"/>
                </a:solidFill>
                <a:effectLst/>
                <a:latin typeface="Aptos Narrow" panose="020B0004020202020204" pitchFamily="34" charset="0"/>
              </a:rPr>
              <a:t>Depending on the kernel bandwidth parameter used, the resultant density function will vary. Below is the KDE surface for our points above using a Gaussian kernel with a kernel bandwidth of 2. </a:t>
            </a:r>
            <a:endParaRPr lang="en-US" dirty="0">
              <a:latin typeface="Aptos Narrow" panose="020B0004020202020204" pitchFamily="34" charset="0"/>
            </a:endParaRPr>
          </a:p>
        </p:txBody>
      </p:sp>
      <p:sp>
        <p:nvSpPr>
          <p:cNvPr id="6" name="AutoShape 2">
            <a:extLst>
              <a:ext uri="{FF2B5EF4-FFF2-40B4-BE49-F238E27FC236}">
                <a16:creationId xmlns:a16="http://schemas.microsoft.com/office/drawing/2014/main" id="{B3DF0FEE-F6AC-0D26-FF35-E52D7E4241EB}"/>
              </a:ext>
            </a:extLst>
          </p:cNvPr>
          <p:cNvSpPr>
            <a:spLocks noChangeAspect="1" noChangeArrowheads="1"/>
          </p:cNvSpPr>
          <p:nvPr/>
        </p:nvSpPr>
        <p:spPr bwMode="auto">
          <a:xfrm>
            <a:off x="2969342" y="302342"/>
            <a:ext cx="3279058" cy="32790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Narrow" panose="020B0004020202020204" pitchFamily="34" charset="0"/>
            </a:endParaRPr>
          </a:p>
        </p:txBody>
      </p:sp>
      <p:sp>
        <p:nvSpPr>
          <p:cNvPr id="12" name="TextBox 11">
            <a:extLst>
              <a:ext uri="{FF2B5EF4-FFF2-40B4-BE49-F238E27FC236}">
                <a16:creationId xmlns:a16="http://schemas.microsoft.com/office/drawing/2014/main" id="{19EBCD8E-2A1A-6B05-526C-4B945F0C222C}"/>
              </a:ext>
            </a:extLst>
          </p:cNvPr>
          <p:cNvSpPr txBox="1"/>
          <p:nvPr/>
        </p:nvSpPr>
        <p:spPr>
          <a:xfrm>
            <a:off x="589936" y="2721759"/>
            <a:ext cx="6223819" cy="2031325"/>
          </a:xfrm>
          <a:prstGeom prst="rect">
            <a:avLst/>
          </a:prstGeom>
          <a:noFill/>
        </p:spPr>
        <p:txBody>
          <a:bodyPr wrap="square">
            <a:spAutoFit/>
          </a:bodyPr>
          <a:lstStyle/>
          <a:p>
            <a:r>
              <a:rPr lang="en-US" b="0" i="0" dirty="0">
                <a:solidFill>
                  <a:srgbClr val="0A0A23"/>
                </a:solidFill>
                <a:effectLst/>
                <a:latin typeface="Aptos Narrow" panose="020B0004020202020204" pitchFamily="34" charset="0"/>
              </a:rPr>
              <a:t>Higher density regions correspond to regions with more data-points, and lower density regions correspond to regions with fewer points. </a:t>
            </a:r>
          </a:p>
          <a:p>
            <a:endParaRPr lang="en-US" dirty="0">
              <a:solidFill>
                <a:srgbClr val="0A0A23"/>
              </a:solidFill>
              <a:latin typeface="Aptos Narrow" panose="020B0004020202020204" pitchFamily="34" charset="0"/>
            </a:endParaRPr>
          </a:p>
          <a:p>
            <a:r>
              <a:rPr lang="en-US" b="0" i="0" dirty="0">
                <a:solidFill>
                  <a:srgbClr val="0A0A23"/>
                </a:solidFill>
                <a:effectLst/>
                <a:latin typeface="Aptos Narrow" panose="020B0004020202020204" pitchFamily="34" charset="0"/>
              </a:rPr>
              <a:t>Mean Shift tries to find the high-density regions by continually shifting the sliding window closer to the peak of the region. This is also known as </a:t>
            </a:r>
            <a:r>
              <a:rPr lang="en-US" b="0" i="0" u="none" strike="noStrike" dirty="0">
                <a:solidFill>
                  <a:srgbClr val="1E87F0"/>
                </a:solidFill>
                <a:effectLst/>
                <a:latin typeface="Aptos Narrow" panose="020B0004020202020204" pitchFamily="34" charset="0"/>
              </a:rPr>
              <a:t>hill climbing</a:t>
            </a:r>
            <a:endParaRPr lang="en-US" dirty="0">
              <a:latin typeface="Aptos Narrow" panose="020B0004020202020204" pitchFamily="34" charset="0"/>
            </a:endParaRPr>
          </a:p>
        </p:txBody>
      </p:sp>
    </p:spTree>
    <p:extLst>
      <p:ext uri="{BB962C8B-B14F-4D97-AF65-F5344CB8AC3E}">
        <p14:creationId xmlns:p14="http://schemas.microsoft.com/office/powerpoint/2010/main" val="2227699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84D2C9-B0D1-0F38-D352-798C4A0FC29A}"/>
              </a:ext>
            </a:extLst>
          </p:cNvPr>
          <p:cNvSpPr txBox="1"/>
          <p:nvPr/>
        </p:nvSpPr>
        <p:spPr>
          <a:xfrm>
            <a:off x="3923068" y="493870"/>
            <a:ext cx="6096000" cy="1115690"/>
          </a:xfrm>
          <a:prstGeom prst="rect">
            <a:avLst/>
          </a:prstGeom>
          <a:noFill/>
        </p:spPr>
        <p:txBody>
          <a:bodyPr wrap="square">
            <a:spAutoFit/>
          </a:bodyPr>
          <a:lstStyle/>
          <a:p>
            <a:pPr algn="l">
              <a:spcBef>
                <a:spcPts val="3000"/>
              </a:spcBef>
              <a:spcAft>
                <a:spcPts val="1500"/>
              </a:spcAft>
              <a:buNone/>
            </a:pPr>
            <a:r>
              <a:rPr lang="en-US" b="1" i="0" dirty="0">
                <a:solidFill>
                  <a:srgbClr val="C00000"/>
                </a:solidFill>
                <a:effectLst/>
                <a:latin typeface="Aptos Narrow" panose="020B0004020202020204" pitchFamily="34" charset="0"/>
              </a:rPr>
              <a:t>Choosing the right bandwidth / radius</a:t>
            </a:r>
          </a:p>
          <a:p>
            <a:pPr>
              <a:buNone/>
            </a:pPr>
            <a:br>
              <a:rPr lang="en-US" dirty="0">
                <a:solidFill>
                  <a:srgbClr val="C00000"/>
                </a:solidFill>
                <a:latin typeface="Aptos Narrow" panose="020B0004020202020204" pitchFamily="34" charset="0"/>
              </a:rPr>
            </a:br>
            <a:endParaRPr lang="en-US" dirty="0">
              <a:solidFill>
                <a:srgbClr val="C00000"/>
              </a:solidFill>
              <a:latin typeface="Aptos Narrow" panose="020B0004020202020204" pitchFamily="34" charset="0"/>
            </a:endParaRPr>
          </a:p>
        </p:txBody>
      </p:sp>
      <p:sp>
        <p:nvSpPr>
          <p:cNvPr id="7" name="TextBox 6">
            <a:extLst>
              <a:ext uri="{FF2B5EF4-FFF2-40B4-BE49-F238E27FC236}">
                <a16:creationId xmlns:a16="http://schemas.microsoft.com/office/drawing/2014/main" id="{86853E47-74F6-D827-7061-AB8FD1FE55EA}"/>
              </a:ext>
            </a:extLst>
          </p:cNvPr>
          <p:cNvSpPr txBox="1"/>
          <p:nvPr/>
        </p:nvSpPr>
        <p:spPr>
          <a:xfrm>
            <a:off x="717752" y="1130373"/>
            <a:ext cx="11120285" cy="1200329"/>
          </a:xfrm>
          <a:prstGeom prst="rect">
            <a:avLst/>
          </a:prstGeom>
          <a:noFill/>
        </p:spPr>
        <p:txBody>
          <a:bodyPr wrap="square">
            <a:spAutoFit/>
          </a:bodyPr>
          <a:lstStyle/>
          <a:p>
            <a:r>
              <a:rPr lang="en-US" b="0" i="0" dirty="0">
                <a:solidFill>
                  <a:srgbClr val="0A0A23"/>
                </a:solidFill>
                <a:effectLst/>
                <a:latin typeface="Aptos Narrow" panose="020B0004020202020204" pitchFamily="34" charset="0"/>
              </a:rPr>
              <a:t>Depending on the bandwidth, the resulting clusters can look quite different. As an extreme case, imagine that we choose an extremely small bandwidth. This will result in each point having its own cluster. </a:t>
            </a:r>
          </a:p>
          <a:p>
            <a:endParaRPr lang="en-US" dirty="0">
              <a:solidFill>
                <a:srgbClr val="0A0A23"/>
              </a:solidFill>
              <a:latin typeface="Aptos Narrow" panose="020B0004020202020204" pitchFamily="34" charset="0"/>
            </a:endParaRPr>
          </a:p>
          <a:p>
            <a:r>
              <a:rPr lang="en-US" b="0" i="0" dirty="0">
                <a:solidFill>
                  <a:srgbClr val="0A0A23"/>
                </a:solidFill>
                <a:effectLst/>
                <a:latin typeface="Aptos Narrow" panose="020B0004020202020204" pitchFamily="34" charset="0"/>
              </a:rPr>
              <a:t>On the other hand, if we use a huge bandwidth, there will only be one cluster containing all the data-points.</a:t>
            </a:r>
            <a:endParaRPr lang="en-US" dirty="0">
              <a:latin typeface="Aptos Narrow" panose="020B0004020202020204" pitchFamily="34" charset="0"/>
            </a:endParaRPr>
          </a:p>
        </p:txBody>
      </p:sp>
      <p:sp>
        <p:nvSpPr>
          <p:cNvPr id="9" name="TextBox 8">
            <a:extLst>
              <a:ext uri="{FF2B5EF4-FFF2-40B4-BE49-F238E27FC236}">
                <a16:creationId xmlns:a16="http://schemas.microsoft.com/office/drawing/2014/main" id="{2ACA0467-7177-495E-5A20-7245CEED92D9}"/>
              </a:ext>
            </a:extLst>
          </p:cNvPr>
          <p:cNvSpPr txBox="1"/>
          <p:nvPr/>
        </p:nvSpPr>
        <p:spPr>
          <a:xfrm>
            <a:off x="766912" y="2409360"/>
            <a:ext cx="10913811" cy="1159292"/>
          </a:xfrm>
          <a:prstGeom prst="rect">
            <a:avLst/>
          </a:prstGeom>
          <a:noFill/>
        </p:spPr>
        <p:txBody>
          <a:bodyPr wrap="square">
            <a:spAutoFit/>
          </a:bodyPr>
          <a:lstStyle/>
          <a:p>
            <a:pPr algn="l">
              <a:lnSpc>
                <a:spcPts val="2489"/>
              </a:lnSpc>
              <a:spcBef>
                <a:spcPts val="1500"/>
              </a:spcBef>
              <a:spcAft>
                <a:spcPts val="1500"/>
              </a:spcAft>
              <a:buNone/>
            </a:pPr>
            <a:r>
              <a:rPr lang="en-US" b="0" i="0" dirty="0">
                <a:solidFill>
                  <a:srgbClr val="0A0A23"/>
                </a:solidFill>
                <a:effectLst/>
                <a:latin typeface="Aptos Narrow" panose="020B0004020202020204" pitchFamily="34" charset="0"/>
              </a:rPr>
              <a:t>Below you can see an image of different bandwidth values (not as extreme cases then mentioned above):</a:t>
            </a:r>
          </a:p>
          <a:p>
            <a:pPr>
              <a:buNone/>
            </a:pPr>
            <a:br>
              <a:rPr lang="en-US" dirty="0">
                <a:latin typeface="Aptos Narrow" panose="020B0004020202020204" pitchFamily="34" charset="0"/>
              </a:rPr>
            </a:br>
            <a:endParaRPr lang="en-US" dirty="0">
              <a:latin typeface="Aptos Narrow" panose="020B0004020202020204" pitchFamily="34" charset="0"/>
            </a:endParaRPr>
          </a:p>
        </p:txBody>
      </p:sp>
      <p:pic>
        <p:nvPicPr>
          <p:cNvPr id="11" name="Picture 10">
            <a:extLst>
              <a:ext uri="{FF2B5EF4-FFF2-40B4-BE49-F238E27FC236}">
                <a16:creationId xmlns:a16="http://schemas.microsoft.com/office/drawing/2014/main" id="{B7F1F408-05EA-77BD-24EA-EB31C8FC52E2}"/>
              </a:ext>
            </a:extLst>
          </p:cNvPr>
          <p:cNvPicPr>
            <a:picLocks noChangeAspect="1"/>
          </p:cNvPicPr>
          <p:nvPr/>
        </p:nvPicPr>
        <p:blipFill>
          <a:blip r:embed="rId2"/>
          <a:stretch>
            <a:fillRect/>
          </a:stretch>
        </p:blipFill>
        <p:spPr>
          <a:xfrm>
            <a:off x="1187246" y="2910348"/>
            <a:ext cx="9331703" cy="3110568"/>
          </a:xfrm>
          <a:prstGeom prst="rect">
            <a:avLst/>
          </a:prstGeom>
        </p:spPr>
      </p:pic>
    </p:spTree>
    <p:extLst>
      <p:ext uri="{BB962C8B-B14F-4D97-AF65-F5344CB8AC3E}">
        <p14:creationId xmlns:p14="http://schemas.microsoft.com/office/powerpoint/2010/main" val="333484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ell&#10;&#10;AI-generated content may be incorrect.">
            <a:extLst>
              <a:ext uri="{FF2B5EF4-FFF2-40B4-BE49-F238E27FC236}">
                <a16:creationId xmlns:a16="http://schemas.microsoft.com/office/drawing/2014/main" id="{22420D63-57A6-F112-496B-6BBF84C6F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258" y="256868"/>
            <a:ext cx="7334865" cy="5501149"/>
          </a:xfrm>
          <a:prstGeom prst="rect">
            <a:avLst/>
          </a:prstGeom>
        </p:spPr>
      </p:pic>
    </p:spTree>
    <p:extLst>
      <p:ext uri="{BB962C8B-B14F-4D97-AF65-F5344CB8AC3E}">
        <p14:creationId xmlns:p14="http://schemas.microsoft.com/office/powerpoint/2010/main" val="405229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77AC32-3ABF-A95F-33F5-9CC379735597}"/>
              </a:ext>
            </a:extLst>
          </p:cNvPr>
          <p:cNvSpPr txBox="1"/>
          <p:nvPr/>
        </p:nvSpPr>
        <p:spPr>
          <a:xfrm>
            <a:off x="737418" y="1085668"/>
            <a:ext cx="11307098" cy="4975529"/>
          </a:xfrm>
          <a:prstGeom prst="rect">
            <a:avLst/>
          </a:prstGeom>
          <a:noFill/>
        </p:spPr>
        <p:txBody>
          <a:bodyPr wrap="square">
            <a:spAutoFit/>
          </a:bodyPr>
          <a:lstStyle/>
          <a:p>
            <a:pPr algn="l">
              <a:spcBef>
                <a:spcPts val="3000"/>
              </a:spcBef>
              <a:spcAft>
                <a:spcPts val="1500"/>
              </a:spcAft>
              <a:buNone/>
            </a:pPr>
            <a:r>
              <a:rPr lang="en-US" b="1" i="0" dirty="0">
                <a:solidFill>
                  <a:srgbClr val="C00000"/>
                </a:solidFill>
                <a:effectLst/>
                <a:latin typeface="Aptos Narrow" panose="020B0004020202020204" pitchFamily="34" charset="0"/>
              </a:rPr>
              <a:t>Advantages</a:t>
            </a:r>
          </a:p>
          <a:p>
            <a:pPr algn="l">
              <a:lnSpc>
                <a:spcPts val="2489"/>
              </a:lnSpc>
              <a:spcBef>
                <a:spcPts val="1500"/>
              </a:spcBef>
              <a:spcAft>
                <a:spcPts val="1500"/>
              </a:spcAft>
              <a:buNone/>
            </a:pPr>
            <a:r>
              <a:rPr lang="en-US" b="0" i="0" dirty="0">
                <a:solidFill>
                  <a:srgbClr val="0A0A23"/>
                </a:solidFill>
                <a:effectLst/>
                <a:latin typeface="Aptos Narrow" panose="020B0004020202020204" pitchFamily="34" charset="0"/>
              </a:rPr>
              <a:t>Mean Shift is a simple cluster method that works very well on spherical-shaped data. Furthermore, it automatically selects the number of clusters contrary to other clustering algorithms like </a:t>
            </a:r>
            <a:r>
              <a:rPr lang="en-US" dirty="0" err="1">
                <a:latin typeface="Aptos Narrow" panose="020B0004020202020204" pitchFamily="34" charset="0"/>
              </a:rPr>
              <a:t>KMeans</a:t>
            </a:r>
            <a:r>
              <a:rPr lang="en-US" b="0" i="0" dirty="0">
                <a:effectLst/>
                <a:latin typeface="Aptos Narrow" panose="020B0004020202020204" pitchFamily="34" charset="0"/>
              </a:rPr>
              <a:t>.</a:t>
            </a:r>
          </a:p>
          <a:p>
            <a:pPr algn="l">
              <a:lnSpc>
                <a:spcPts val="2489"/>
              </a:lnSpc>
              <a:spcBef>
                <a:spcPts val="1500"/>
              </a:spcBef>
              <a:spcAft>
                <a:spcPts val="1500"/>
              </a:spcAft>
              <a:buNone/>
            </a:pPr>
            <a:r>
              <a:rPr lang="en-US" b="0" i="0" dirty="0">
                <a:solidFill>
                  <a:srgbClr val="0A0A23"/>
                </a:solidFill>
                <a:effectLst/>
                <a:latin typeface="Aptos Narrow" panose="020B0004020202020204" pitchFamily="34" charset="0"/>
              </a:rPr>
              <a:t> Also, the output of Mean Shift is not dependent on the initialization since, at the start, each point is a cluster.</a:t>
            </a:r>
          </a:p>
          <a:p>
            <a:pPr algn="l">
              <a:spcBef>
                <a:spcPts val="3000"/>
              </a:spcBef>
              <a:spcAft>
                <a:spcPts val="1500"/>
              </a:spcAft>
              <a:buNone/>
            </a:pPr>
            <a:r>
              <a:rPr lang="en-US" b="1" i="0" dirty="0">
                <a:solidFill>
                  <a:srgbClr val="C00000"/>
                </a:solidFill>
                <a:effectLst/>
                <a:latin typeface="Aptos Narrow" panose="020B0004020202020204" pitchFamily="34" charset="0"/>
              </a:rPr>
              <a:t>Drawbacks</a:t>
            </a:r>
          </a:p>
          <a:p>
            <a:pPr algn="l">
              <a:lnSpc>
                <a:spcPts val="2489"/>
              </a:lnSpc>
              <a:spcBef>
                <a:spcPts val="1500"/>
              </a:spcBef>
              <a:spcAft>
                <a:spcPts val="1500"/>
              </a:spcAft>
              <a:buNone/>
            </a:pPr>
            <a:r>
              <a:rPr lang="en-US" b="0" i="0" dirty="0">
                <a:solidFill>
                  <a:srgbClr val="0A0A23"/>
                </a:solidFill>
                <a:effectLst/>
                <a:latin typeface="Aptos Narrow" panose="020B0004020202020204" pitchFamily="34" charset="0"/>
              </a:rPr>
              <a:t>The algorithm is not highly scalable, as it requires multiple nearest neighbor searches during its execution. It has a complexity of O(n^2). Furthermore, manually choosing the bandwidth can be non-trivial, and selecting a wrong value can lead to bad results.</a:t>
            </a:r>
          </a:p>
          <a:p>
            <a:pPr algn="l">
              <a:lnSpc>
                <a:spcPts val="2489"/>
              </a:lnSpc>
              <a:spcBef>
                <a:spcPts val="1500"/>
              </a:spcBef>
              <a:spcAft>
                <a:spcPts val="1500"/>
              </a:spcAft>
              <a:buNone/>
            </a:pPr>
            <a:r>
              <a:rPr lang="en-US" b="0" i="0" dirty="0">
                <a:solidFill>
                  <a:srgbClr val="0A0A23"/>
                </a:solidFill>
                <a:effectLst/>
                <a:latin typeface="Aptos Narrow" panose="020B0004020202020204" pitchFamily="34" charset="0"/>
              </a:rPr>
              <a:t>It also fails to find the correct clusters for some data-sets</a:t>
            </a:r>
            <a:r>
              <a:rPr lang="en-US" dirty="0">
                <a:solidFill>
                  <a:srgbClr val="0A0A23"/>
                </a:solidFill>
                <a:latin typeface="Aptos Narrow" panose="020B0004020202020204" pitchFamily="34" charset="0"/>
              </a:rPr>
              <a:t>.</a:t>
            </a:r>
            <a:endParaRPr lang="en-US" b="0" i="0" dirty="0">
              <a:solidFill>
                <a:srgbClr val="0A0A23"/>
              </a:solidFill>
              <a:effectLst/>
              <a:latin typeface="Aptos Narrow" panose="020B0004020202020204" pitchFamily="34" charset="0"/>
            </a:endParaRPr>
          </a:p>
        </p:txBody>
      </p:sp>
    </p:spTree>
    <p:extLst>
      <p:ext uri="{BB962C8B-B14F-4D97-AF65-F5344CB8AC3E}">
        <p14:creationId xmlns:p14="http://schemas.microsoft.com/office/powerpoint/2010/main" val="438729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E581ED-CBE4-74CC-A911-BD3C65F99DCC}"/>
              </a:ext>
            </a:extLst>
          </p:cNvPr>
          <p:cNvSpPr txBox="1"/>
          <p:nvPr/>
        </p:nvSpPr>
        <p:spPr>
          <a:xfrm>
            <a:off x="4070555" y="378594"/>
            <a:ext cx="3991897" cy="461665"/>
          </a:xfrm>
          <a:prstGeom prst="rect">
            <a:avLst/>
          </a:prstGeom>
          <a:noFill/>
        </p:spPr>
        <p:txBody>
          <a:bodyPr wrap="square">
            <a:spAutoFit/>
          </a:bodyPr>
          <a:lstStyle/>
          <a:p>
            <a:r>
              <a:rPr lang="en-US" sz="2400" dirty="0">
                <a:solidFill>
                  <a:srgbClr val="C00000"/>
                </a:solidFill>
                <a:latin typeface="Aptos Narrow" panose="020B0004020202020204" pitchFamily="34" charset="0"/>
              </a:rPr>
              <a:t>Cluster Validation Metrics</a:t>
            </a:r>
          </a:p>
        </p:txBody>
      </p:sp>
      <p:sp>
        <p:nvSpPr>
          <p:cNvPr id="7" name="TextBox 6">
            <a:extLst>
              <a:ext uri="{FF2B5EF4-FFF2-40B4-BE49-F238E27FC236}">
                <a16:creationId xmlns:a16="http://schemas.microsoft.com/office/drawing/2014/main" id="{31D7523D-FE3E-0BC5-AF27-A95C61C91EB9}"/>
              </a:ext>
            </a:extLst>
          </p:cNvPr>
          <p:cNvSpPr txBox="1"/>
          <p:nvPr/>
        </p:nvSpPr>
        <p:spPr>
          <a:xfrm>
            <a:off x="550606" y="1168792"/>
            <a:ext cx="11120284" cy="1200329"/>
          </a:xfrm>
          <a:prstGeom prst="rect">
            <a:avLst/>
          </a:prstGeom>
          <a:noFill/>
        </p:spPr>
        <p:txBody>
          <a:bodyPr wrap="square">
            <a:spAutoFit/>
          </a:bodyPr>
          <a:lstStyle/>
          <a:p>
            <a:r>
              <a:rPr lang="en-US" b="1" dirty="0">
                <a:latin typeface="Aptos Narrow" panose="020B0004020202020204" pitchFamily="34" charset="0"/>
              </a:rPr>
              <a:t>Cluster validation metrics</a:t>
            </a:r>
            <a:r>
              <a:rPr lang="en-US" dirty="0">
                <a:latin typeface="Aptos Narrow" panose="020B0004020202020204" pitchFamily="34" charset="0"/>
              </a:rPr>
              <a:t> are used to evaluate the </a:t>
            </a:r>
            <a:r>
              <a:rPr lang="en-US" b="1" dirty="0">
                <a:latin typeface="Aptos Narrow" panose="020B0004020202020204" pitchFamily="34" charset="0"/>
              </a:rPr>
              <a:t>quality of clustering results</a:t>
            </a:r>
            <a:r>
              <a:rPr lang="en-US" dirty="0">
                <a:latin typeface="Aptos Narrow" panose="020B0004020202020204" pitchFamily="34" charset="0"/>
              </a:rPr>
              <a:t> in unsupervised learning. </a:t>
            </a:r>
          </a:p>
          <a:p>
            <a:endParaRPr lang="en-US" dirty="0">
              <a:latin typeface="Aptos Narrow" panose="020B0004020202020204" pitchFamily="34" charset="0"/>
            </a:endParaRPr>
          </a:p>
          <a:p>
            <a:r>
              <a:rPr lang="en-US" dirty="0">
                <a:latin typeface="Aptos Narrow" panose="020B0004020202020204" pitchFamily="34" charset="0"/>
              </a:rPr>
              <a:t>These metrics help you determine how well your clustering algorithm (like K-Means, DBSCAN, GMM, etc.) has grouped the data.</a:t>
            </a:r>
          </a:p>
        </p:txBody>
      </p:sp>
      <p:sp>
        <p:nvSpPr>
          <p:cNvPr id="9" name="TextBox 8">
            <a:extLst>
              <a:ext uri="{FF2B5EF4-FFF2-40B4-BE49-F238E27FC236}">
                <a16:creationId xmlns:a16="http://schemas.microsoft.com/office/drawing/2014/main" id="{942B8DD4-CB8D-EB56-6E4D-4EBA8615A6B4}"/>
              </a:ext>
            </a:extLst>
          </p:cNvPr>
          <p:cNvSpPr txBox="1"/>
          <p:nvPr/>
        </p:nvSpPr>
        <p:spPr>
          <a:xfrm>
            <a:off x="550606" y="2358496"/>
            <a:ext cx="6096000" cy="369332"/>
          </a:xfrm>
          <a:prstGeom prst="rect">
            <a:avLst/>
          </a:prstGeom>
          <a:noFill/>
        </p:spPr>
        <p:txBody>
          <a:bodyPr wrap="square">
            <a:spAutoFit/>
          </a:bodyPr>
          <a:lstStyle/>
          <a:p>
            <a:pPr>
              <a:buNone/>
            </a:pPr>
            <a:r>
              <a:rPr lang="en-US" dirty="0">
                <a:latin typeface="Aptos Narrow" panose="020B0004020202020204" pitchFamily="34" charset="0"/>
              </a:rPr>
              <a:t>There are </a:t>
            </a:r>
            <a:r>
              <a:rPr lang="en-US" b="1" dirty="0">
                <a:latin typeface="Aptos Narrow" panose="020B0004020202020204" pitchFamily="34" charset="0"/>
              </a:rPr>
              <a:t>three types</a:t>
            </a:r>
            <a:r>
              <a:rPr lang="en-US" dirty="0">
                <a:latin typeface="Aptos Narrow" panose="020B0004020202020204" pitchFamily="34" charset="0"/>
              </a:rPr>
              <a:t> of cluster validation metrics:</a:t>
            </a:r>
          </a:p>
        </p:txBody>
      </p:sp>
      <p:sp>
        <p:nvSpPr>
          <p:cNvPr id="11" name="TextBox 10">
            <a:extLst>
              <a:ext uri="{FF2B5EF4-FFF2-40B4-BE49-F238E27FC236}">
                <a16:creationId xmlns:a16="http://schemas.microsoft.com/office/drawing/2014/main" id="{32A741D7-386B-8BEF-23E3-C7776297745D}"/>
              </a:ext>
            </a:extLst>
          </p:cNvPr>
          <p:cNvSpPr txBox="1"/>
          <p:nvPr/>
        </p:nvSpPr>
        <p:spPr>
          <a:xfrm>
            <a:off x="550606" y="2866383"/>
            <a:ext cx="6096000" cy="369332"/>
          </a:xfrm>
          <a:prstGeom prst="rect">
            <a:avLst/>
          </a:prstGeom>
          <a:noFill/>
        </p:spPr>
        <p:txBody>
          <a:bodyPr wrap="square">
            <a:spAutoFit/>
          </a:bodyPr>
          <a:lstStyle/>
          <a:p>
            <a:pPr>
              <a:buNone/>
            </a:pPr>
            <a:r>
              <a:rPr lang="en-US" b="1" dirty="0">
                <a:latin typeface="Aptos Narrow" panose="020B0004020202020204" pitchFamily="34" charset="0"/>
              </a:rPr>
              <a:t>1. Internal Validation Metrics</a:t>
            </a:r>
          </a:p>
        </p:txBody>
      </p:sp>
      <p:sp>
        <p:nvSpPr>
          <p:cNvPr id="13" name="TextBox 12">
            <a:extLst>
              <a:ext uri="{FF2B5EF4-FFF2-40B4-BE49-F238E27FC236}">
                <a16:creationId xmlns:a16="http://schemas.microsoft.com/office/drawing/2014/main" id="{A07A31EB-E39A-E3A0-9ACC-8928D6603737}"/>
              </a:ext>
            </a:extLst>
          </p:cNvPr>
          <p:cNvSpPr txBox="1"/>
          <p:nvPr/>
        </p:nvSpPr>
        <p:spPr>
          <a:xfrm>
            <a:off x="550606" y="3253856"/>
            <a:ext cx="6096000" cy="369332"/>
          </a:xfrm>
          <a:prstGeom prst="rect">
            <a:avLst/>
          </a:prstGeom>
          <a:noFill/>
        </p:spPr>
        <p:txBody>
          <a:bodyPr wrap="square">
            <a:spAutoFit/>
          </a:bodyPr>
          <a:lstStyle/>
          <a:p>
            <a:pPr>
              <a:buNone/>
            </a:pPr>
            <a:r>
              <a:rPr lang="en-US" b="1" dirty="0">
                <a:latin typeface="Aptos Narrow" panose="020B0004020202020204" pitchFamily="34" charset="0"/>
              </a:rPr>
              <a:t>2. External Validation Metrics</a:t>
            </a:r>
          </a:p>
        </p:txBody>
      </p:sp>
      <p:sp>
        <p:nvSpPr>
          <p:cNvPr id="15" name="TextBox 14">
            <a:extLst>
              <a:ext uri="{FF2B5EF4-FFF2-40B4-BE49-F238E27FC236}">
                <a16:creationId xmlns:a16="http://schemas.microsoft.com/office/drawing/2014/main" id="{894C3DCA-E995-7D62-9B5F-1D7B818A944A}"/>
              </a:ext>
            </a:extLst>
          </p:cNvPr>
          <p:cNvSpPr txBox="1"/>
          <p:nvPr/>
        </p:nvSpPr>
        <p:spPr>
          <a:xfrm>
            <a:off x="560438" y="3630253"/>
            <a:ext cx="6096000" cy="369332"/>
          </a:xfrm>
          <a:prstGeom prst="rect">
            <a:avLst/>
          </a:prstGeom>
          <a:noFill/>
        </p:spPr>
        <p:txBody>
          <a:bodyPr wrap="square">
            <a:spAutoFit/>
          </a:bodyPr>
          <a:lstStyle/>
          <a:p>
            <a:pPr>
              <a:buNone/>
            </a:pPr>
            <a:r>
              <a:rPr lang="en-US" b="1" dirty="0">
                <a:latin typeface="Aptos Narrow" panose="020B0004020202020204" pitchFamily="34" charset="0"/>
              </a:rPr>
              <a:t>3. Relative Validation</a:t>
            </a:r>
          </a:p>
        </p:txBody>
      </p:sp>
      <p:sp>
        <p:nvSpPr>
          <p:cNvPr id="16" name="TextBox 15">
            <a:extLst>
              <a:ext uri="{FF2B5EF4-FFF2-40B4-BE49-F238E27FC236}">
                <a16:creationId xmlns:a16="http://schemas.microsoft.com/office/drawing/2014/main" id="{03C60972-01B2-4C77-06C6-408FDFE1C81F}"/>
              </a:ext>
            </a:extLst>
          </p:cNvPr>
          <p:cNvSpPr txBox="1"/>
          <p:nvPr/>
        </p:nvSpPr>
        <p:spPr>
          <a:xfrm>
            <a:off x="560438" y="4394123"/>
            <a:ext cx="6096000" cy="369332"/>
          </a:xfrm>
          <a:prstGeom prst="rect">
            <a:avLst/>
          </a:prstGeom>
          <a:noFill/>
        </p:spPr>
        <p:txBody>
          <a:bodyPr wrap="square">
            <a:spAutoFit/>
          </a:bodyPr>
          <a:lstStyle/>
          <a:p>
            <a:r>
              <a:rPr lang="en-US" b="1" dirty="0">
                <a:latin typeface="Aptos Narrow" panose="020B0004020202020204" pitchFamily="34" charset="0"/>
              </a:rPr>
              <a:t>✅ 1. Internal Cluster Validation Metrics</a:t>
            </a:r>
          </a:p>
        </p:txBody>
      </p:sp>
      <p:sp>
        <p:nvSpPr>
          <p:cNvPr id="18" name="TextBox 17">
            <a:extLst>
              <a:ext uri="{FF2B5EF4-FFF2-40B4-BE49-F238E27FC236}">
                <a16:creationId xmlns:a16="http://schemas.microsoft.com/office/drawing/2014/main" id="{C1D7F0AF-D787-018B-0564-8A9D8F5E3612}"/>
              </a:ext>
            </a:extLst>
          </p:cNvPr>
          <p:cNvSpPr txBox="1"/>
          <p:nvPr/>
        </p:nvSpPr>
        <p:spPr>
          <a:xfrm>
            <a:off x="550606" y="4946535"/>
            <a:ext cx="11336594" cy="646331"/>
          </a:xfrm>
          <a:prstGeom prst="rect">
            <a:avLst/>
          </a:prstGeom>
          <a:noFill/>
        </p:spPr>
        <p:txBody>
          <a:bodyPr wrap="square">
            <a:spAutoFit/>
          </a:bodyPr>
          <a:lstStyle/>
          <a:p>
            <a:pPr>
              <a:buNone/>
            </a:pPr>
            <a:r>
              <a:rPr lang="en-US" dirty="0">
                <a:latin typeface="Aptos Narrow" panose="020B0004020202020204" pitchFamily="34" charset="0"/>
              </a:rPr>
              <a:t>These metrics </a:t>
            </a:r>
            <a:r>
              <a:rPr lang="en-US" b="1" dirty="0">
                <a:latin typeface="Aptos Narrow" panose="020B0004020202020204" pitchFamily="34" charset="0"/>
              </a:rPr>
              <a:t>do not require ground-truth labels</a:t>
            </a:r>
            <a:r>
              <a:rPr lang="en-US" dirty="0">
                <a:latin typeface="Aptos Narrow" panose="020B0004020202020204" pitchFamily="34" charset="0"/>
              </a:rPr>
              <a:t> and evaluate how well the clusters are formed </a:t>
            </a:r>
            <a:r>
              <a:rPr lang="en-US" b="1" dirty="0">
                <a:latin typeface="Aptos Narrow" panose="020B0004020202020204" pitchFamily="34" charset="0"/>
              </a:rPr>
              <a:t>based solely on the input data</a:t>
            </a:r>
            <a:r>
              <a:rPr lang="en-US" dirty="0">
                <a:latin typeface="Aptos Narrow" panose="020B0004020202020204" pitchFamily="34" charset="0"/>
              </a:rPr>
              <a:t> and cluster assignments. They're especially useful in unsupervised learning.</a:t>
            </a:r>
          </a:p>
        </p:txBody>
      </p:sp>
    </p:spTree>
    <p:extLst>
      <p:ext uri="{BB962C8B-B14F-4D97-AF65-F5344CB8AC3E}">
        <p14:creationId xmlns:p14="http://schemas.microsoft.com/office/powerpoint/2010/main" val="1721991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383EBC0-4571-B6EE-B1B9-5DCA645CDCD1}"/>
              </a:ext>
            </a:extLst>
          </p:cNvPr>
          <p:cNvPicPr>
            <a:picLocks noChangeAspect="1"/>
          </p:cNvPicPr>
          <p:nvPr/>
        </p:nvPicPr>
        <p:blipFill>
          <a:blip r:embed="rId2"/>
          <a:stretch>
            <a:fillRect/>
          </a:stretch>
        </p:blipFill>
        <p:spPr>
          <a:xfrm>
            <a:off x="1236925" y="2029206"/>
            <a:ext cx="3590996" cy="1030125"/>
          </a:xfrm>
          <a:prstGeom prst="rect">
            <a:avLst/>
          </a:prstGeom>
        </p:spPr>
      </p:pic>
      <p:sp>
        <p:nvSpPr>
          <p:cNvPr id="5" name="TextBox 4">
            <a:extLst>
              <a:ext uri="{FF2B5EF4-FFF2-40B4-BE49-F238E27FC236}">
                <a16:creationId xmlns:a16="http://schemas.microsoft.com/office/drawing/2014/main" id="{BA7F9F81-AABD-545F-78D0-2C0BD974AE46}"/>
              </a:ext>
            </a:extLst>
          </p:cNvPr>
          <p:cNvSpPr txBox="1"/>
          <p:nvPr/>
        </p:nvSpPr>
        <p:spPr>
          <a:xfrm>
            <a:off x="570269" y="1142686"/>
            <a:ext cx="4941815"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1. Silhouette Score</a:t>
            </a:r>
          </a:p>
        </p:txBody>
      </p:sp>
      <p:sp>
        <p:nvSpPr>
          <p:cNvPr id="7" name="TextBox 6">
            <a:extLst>
              <a:ext uri="{FF2B5EF4-FFF2-40B4-BE49-F238E27FC236}">
                <a16:creationId xmlns:a16="http://schemas.microsoft.com/office/drawing/2014/main" id="{8F344DC1-0F19-C48E-12DD-BCD6583D93B1}"/>
              </a:ext>
            </a:extLst>
          </p:cNvPr>
          <p:cNvSpPr txBox="1"/>
          <p:nvPr/>
        </p:nvSpPr>
        <p:spPr>
          <a:xfrm>
            <a:off x="570269" y="1590089"/>
            <a:ext cx="4342254" cy="646331"/>
          </a:xfrm>
          <a:prstGeom prst="rect">
            <a:avLst/>
          </a:prstGeom>
          <a:noFill/>
        </p:spPr>
        <p:txBody>
          <a:bodyPr wrap="square">
            <a:spAutoFit/>
          </a:bodyPr>
          <a:lstStyle/>
          <a:p>
            <a:pPr>
              <a:buNone/>
            </a:pPr>
            <a:r>
              <a:rPr lang="en-US" dirty="0">
                <a:latin typeface="Aptos Narrow" panose="020B0004020202020204" pitchFamily="34" charset="0"/>
              </a:rPr>
              <a:t>Measures </a:t>
            </a:r>
            <a:r>
              <a:rPr lang="en-US" b="1" dirty="0">
                <a:latin typeface="Aptos Narrow" panose="020B0004020202020204" pitchFamily="34" charset="0"/>
              </a:rPr>
              <a:t>how similar</a:t>
            </a:r>
            <a:r>
              <a:rPr lang="en-US" dirty="0">
                <a:latin typeface="Aptos Narrow" panose="020B0004020202020204" pitchFamily="34" charset="0"/>
              </a:rPr>
              <a:t> a sample is to its </a:t>
            </a:r>
            <a:r>
              <a:rPr lang="en-US" b="1" dirty="0">
                <a:latin typeface="Aptos Narrow" panose="020B0004020202020204" pitchFamily="34" charset="0"/>
              </a:rPr>
              <a:t>own cluster</a:t>
            </a:r>
            <a:r>
              <a:rPr lang="en-US" dirty="0">
                <a:latin typeface="Aptos Narrow" panose="020B0004020202020204" pitchFamily="34" charset="0"/>
              </a:rPr>
              <a:t> vs. other clusters.</a:t>
            </a:r>
          </a:p>
        </p:txBody>
      </p:sp>
      <p:sp>
        <p:nvSpPr>
          <p:cNvPr id="11" name="TextBox 10">
            <a:extLst>
              <a:ext uri="{FF2B5EF4-FFF2-40B4-BE49-F238E27FC236}">
                <a16:creationId xmlns:a16="http://schemas.microsoft.com/office/drawing/2014/main" id="{691B163E-1B39-179A-F243-B3C7FDA57C9C}"/>
              </a:ext>
            </a:extLst>
          </p:cNvPr>
          <p:cNvSpPr txBox="1"/>
          <p:nvPr/>
        </p:nvSpPr>
        <p:spPr>
          <a:xfrm>
            <a:off x="598101" y="2390783"/>
            <a:ext cx="1199851"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sp>
        <p:nvSpPr>
          <p:cNvPr id="13" name="TextBox 12">
            <a:extLst>
              <a:ext uri="{FF2B5EF4-FFF2-40B4-BE49-F238E27FC236}">
                <a16:creationId xmlns:a16="http://schemas.microsoft.com/office/drawing/2014/main" id="{BD841FD2-1531-AFFE-E93D-D40A83DE8C3C}"/>
              </a:ext>
            </a:extLst>
          </p:cNvPr>
          <p:cNvSpPr txBox="1"/>
          <p:nvPr/>
        </p:nvSpPr>
        <p:spPr>
          <a:xfrm>
            <a:off x="471946" y="2816878"/>
            <a:ext cx="5514763" cy="1477328"/>
          </a:xfrm>
          <a:prstGeom prst="rect">
            <a:avLst/>
          </a:prstGeom>
          <a:noFill/>
        </p:spPr>
        <p:txBody>
          <a:bodyPr wrap="square">
            <a:spAutoFit/>
          </a:bodyPr>
          <a:lstStyle/>
          <a:p>
            <a:pPr>
              <a:buNone/>
            </a:pPr>
            <a:r>
              <a:rPr lang="en-US" dirty="0">
                <a:latin typeface="Aptos Narrow" panose="020B0004020202020204" pitchFamily="34" charset="0"/>
              </a:rPr>
              <a:t>Where :</a:t>
            </a:r>
          </a:p>
          <a:p>
            <a:pPr marL="285750" indent="-285750">
              <a:buFont typeface="Wingdings" panose="05000000000000000000" pitchFamily="2" charset="2"/>
              <a:buChar char="q"/>
            </a:pPr>
            <a:r>
              <a:rPr lang="en-US" dirty="0">
                <a:latin typeface="Aptos Narrow" panose="020B0004020202020204" pitchFamily="34" charset="0"/>
              </a:rPr>
              <a:t>a(</a:t>
            </a:r>
            <a:r>
              <a:rPr lang="en-US" dirty="0" err="1">
                <a:latin typeface="Aptos Narrow" panose="020B0004020202020204" pitchFamily="34" charset="0"/>
              </a:rPr>
              <a:t>i</a:t>
            </a:r>
            <a:r>
              <a:rPr lang="en-US" dirty="0">
                <a:latin typeface="Aptos Narrow" panose="020B0004020202020204" pitchFamily="34" charset="0"/>
              </a:rPr>
              <a:t>) = mean distance between </a:t>
            </a:r>
            <a:r>
              <a:rPr lang="en-US" dirty="0" err="1">
                <a:latin typeface="Aptos Narrow" panose="020B0004020202020204" pitchFamily="34" charset="0"/>
              </a:rPr>
              <a:t>i</a:t>
            </a:r>
            <a:r>
              <a:rPr lang="en-US" dirty="0">
                <a:latin typeface="Aptos Narrow" panose="020B0004020202020204" pitchFamily="34" charset="0"/>
              </a:rPr>
              <a:t> and other points in the same cluster</a:t>
            </a:r>
          </a:p>
          <a:p>
            <a:pPr marL="285750" indent="-285750">
              <a:buFont typeface="Wingdings" panose="05000000000000000000" pitchFamily="2" charset="2"/>
              <a:buChar char="q"/>
            </a:pPr>
            <a:r>
              <a:rPr lang="en-US" dirty="0">
                <a:latin typeface="Aptos Narrow" panose="020B0004020202020204" pitchFamily="34" charset="0"/>
              </a:rPr>
              <a:t>b(</a:t>
            </a:r>
            <a:r>
              <a:rPr lang="en-US" dirty="0" err="1">
                <a:latin typeface="Aptos Narrow" panose="020B0004020202020204" pitchFamily="34" charset="0"/>
              </a:rPr>
              <a:t>i</a:t>
            </a:r>
            <a:r>
              <a:rPr lang="en-US" dirty="0">
                <a:latin typeface="Aptos Narrow" panose="020B0004020202020204" pitchFamily="34" charset="0"/>
              </a:rPr>
              <a:t>) = mean distance between </a:t>
            </a:r>
            <a:r>
              <a:rPr lang="en-US" dirty="0" err="1">
                <a:latin typeface="Aptos Narrow" panose="020B0004020202020204" pitchFamily="34" charset="0"/>
              </a:rPr>
              <a:t>i</a:t>
            </a:r>
            <a:r>
              <a:rPr lang="en-US" dirty="0">
                <a:latin typeface="Aptos Narrow" panose="020B0004020202020204" pitchFamily="34" charset="0"/>
              </a:rPr>
              <a:t> and points in the </a:t>
            </a:r>
            <a:r>
              <a:rPr lang="en-US" b="1" dirty="0">
                <a:latin typeface="Aptos Narrow" panose="020B0004020202020204" pitchFamily="34" charset="0"/>
              </a:rPr>
              <a:t>nearest</a:t>
            </a:r>
            <a:r>
              <a:rPr lang="en-US" dirty="0">
                <a:latin typeface="Aptos Narrow" panose="020B0004020202020204" pitchFamily="34" charset="0"/>
              </a:rPr>
              <a:t> cluster</a:t>
            </a:r>
          </a:p>
        </p:txBody>
      </p:sp>
      <p:sp>
        <p:nvSpPr>
          <p:cNvPr id="15" name="TextBox 14">
            <a:extLst>
              <a:ext uri="{FF2B5EF4-FFF2-40B4-BE49-F238E27FC236}">
                <a16:creationId xmlns:a16="http://schemas.microsoft.com/office/drawing/2014/main" id="{B576DA26-C11E-59D6-41AC-7FF387FF2D12}"/>
              </a:ext>
            </a:extLst>
          </p:cNvPr>
          <p:cNvSpPr txBox="1"/>
          <p:nvPr/>
        </p:nvSpPr>
        <p:spPr>
          <a:xfrm>
            <a:off x="405368" y="4263120"/>
            <a:ext cx="5622863" cy="1477328"/>
          </a:xfrm>
          <a:prstGeom prst="rect">
            <a:avLst/>
          </a:prstGeom>
          <a:noFill/>
        </p:spPr>
        <p:txBody>
          <a:bodyPr wrap="square">
            <a:spAutoFit/>
          </a:bodyPr>
          <a:lstStyle/>
          <a:p>
            <a:pPr>
              <a:buFont typeface="Arial" panose="020B0604020202020204" pitchFamily="34" charset="0"/>
              <a:buChar char="•"/>
            </a:pPr>
            <a:r>
              <a:rPr lang="en-US" b="1" dirty="0">
                <a:latin typeface="Aptos Narrow" panose="020B0004020202020204" pitchFamily="34" charset="0"/>
              </a:rPr>
              <a:t> Range</a:t>
            </a:r>
            <a:r>
              <a:rPr lang="en-US" dirty="0">
                <a:latin typeface="Aptos Narrow" panose="020B0004020202020204" pitchFamily="34" charset="0"/>
              </a:rPr>
              <a:t>: -1 to +1</a:t>
            </a:r>
          </a:p>
          <a:p>
            <a:pPr marL="742950" lvl="1" indent="-285750">
              <a:buFont typeface="Wingdings" panose="05000000000000000000" pitchFamily="2" charset="2"/>
              <a:buChar char="q"/>
            </a:pPr>
            <a:r>
              <a:rPr lang="en-US" dirty="0">
                <a:latin typeface="Aptos Narrow" panose="020B0004020202020204" pitchFamily="34" charset="0"/>
              </a:rPr>
              <a:t>Close to </a:t>
            </a:r>
            <a:r>
              <a:rPr lang="en-US" b="1" dirty="0">
                <a:latin typeface="Aptos Narrow" panose="020B0004020202020204" pitchFamily="34" charset="0"/>
              </a:rPr>
              <a:t>1</a:t>
            </a:r>
            <a:r>
              <a:rPr lang="en-US" dirty="0">
                <a:latin typeface="Aptos Narrow" panose="020B0004020202020204" pitchFamily="34" charset="0"/>
              </a:rPr>
              <a:t>: well-clustered</a:t>
            </a:r>
          </a:p>
          <a:p>
            <a:pPr marL="742950" lvl="1" indent="-285750">
              <a:buFont typeface="Wingdings" panose="05000000000000000000" pitchFamily="2" charset="2"/>
              <a:buChar char="q"/>
            </a:pPr>
            <a:r>
              <a:rPr lang="en-US" dirty="0">
                <a:latin typeface="Aptos Narrow" panose="020B0004020202020204" pitchFamily="34" charset="0"/>
              </a:rPr>
              <a:t>Around </a:t>
            </a:r>
            <a:r>
              <a:rPr lang="en-US" b="1" dirty="0">
                <a:latin typeface="Aptos Narrow" panose="020B0004020202020204" pitchFamily="34" charset="0"/>
              </a:rPr>
              <a:t>0</a:t>
            </a:r>
            <a:r>
              <a:rPr lang="en-US" dirty="0">
                <a:latin typeface="Aptos Narrow" panose="020B0004020202020204" pitchFamily="34" charset="0"/>
              </a:rPr>
              <a:t>: overlapping clusters</a:t>
            </a:r>
          </a:p>
          <a:p>
            <a:pPr marL="742950" lvl="1" indent="-285750">
              <a:buFont typeface="Wingdings" panose="05000000000000000000" pitchFamily="2" charset="2"/>
              <a:buChar char="q"/>
            </a:pPr>
            <a:r>
              <a:rPr lang="en-US" dirty="0">
                <a:latin typeface="Aptos Narrow" panose="020B0004020202020204" pitchFamily="34" charset="0"/>
              </a:rPr>
              <a:t>Close to </a:t>
            </a:r>
            <a:r>
              <a:rPr lang="en-US" b="1" dirty="0">
                <a:latin typeface="Aptos Narrow" panose="020B0004020202020204" pitchFamily="34" charset="0"/>
              </a:rPr>
              <a:t>-1</a:t>
            </a:r>
            <a:r>
              <a:rPr lang="en-US" dirty="0">
                <a:latin typeface="Aptos Narrow" panose="020B0004020202020204" pitchFamily="34" charset="0"/>
              </a:rPr>
              <a:t>: wrong clustering</a:t>
            </a: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clusters are convex and roughly equal in size.</a:t>
            </a:r>
          </a:p>
        </p:txBody>
      </p:sp>
      <p:sp>
        <p:nvSpPr>
          <p:cNvPr id="16" name="TextBox 15">
            <a:extLst>
              <a:ext uri="{FF2B5EF4-FFF2-40B4-BE49-F238E27FC236}">
                <a16:creationId xmlns:a16="http://schemas.microsoft.com/office/drawing/2014/main" id="{BBCFBB91-10B7-B9AB-7D08-1340E117DD10}"/>
              </a:ext>
            </a:extLst>
          </p:cNvPr>
          <p:cNvSpPr txBox="1"/>
          <p:nvPr/>
        </p:nvSpPr>
        <p:spPr>
          <a:xfrm>
            <a:off x="6451378" y="1064993"/>
            <a:ext cx="5264151"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2. Davies-Bouldin Index (DBI)</a:t>
            </a:r>
          </a:p>
        </p:txBody>
      </p:sp>
      <p:sp>
        <p:nvSpPr>
          <p:cNvPr id="17" name="TextBox 16">
            <a:extLst>
              <a:ext uri="{FF2B5EF4-FFF2-40B4-BE49-F238E27FC236}">
                <a16:creationId xmlns:a16="http://schemas.microsoft.com/office/drawing/2014/main" id="{9A1F4063-E87E-B5D2-8C40-100006137D93}"/>
              </a:ext>
            </a:extLst>
          </p:cNvPr>
          <p:cNvSpPr txBox="1"/>
          <p:nvPr/>
        </p:nvSpPr>
        <p:spPr>
          <a:xfrm>
            <a:off x="6665999" y="1559019"/>
            <a:ext cx="4342254" cy="646331"/>
          </a:xfrm>
          <a:prstGeom prst="rect">
            <a:avLst/>
          </a:prstGeom>
          <a:noFill/>
        </p:spPr>
        <p:txBody>
          <a:bodyPr wrap="square">
            <a:spAutoFit/>
          </a:bodyPr>
          <a:lstStyle/>
          <a:p>
            <a:pPr>
              <a:buNone/>
            </a:pPr>
            <a:r>
              <a:rPr lang="en-US" dirty="0">
                <a:latin typeface="Aptos Narrow" panose="020B0004020202020204" pitchFamily="34" charset="0"/>
              </a:rPr>
              <a:t>Measures </a:t>
            </a:r>
            <a:r>
              <a:rPr lang="en-US" b="1" dirty="0">
                <a:latin typeface="Aptos Narrow" panose="020B0004020202020204" pitchFamily="34" charset="0"/>
              </a:rPr>
              <a:t>average similarity</a:t>
            </a:r>
            <a:r>
              <a:rPr lang="en-US" dirty="0">
                <a:latin typeface="Aptos Narrow" panose="020B0004020202020204" pitchFamily="34" charset="0"/>
              </a:rPr>
              <a:t> between each cluster and the </a:t>
            </a:r>
            <a:r>
              <a:rPr lang="en-US" b="1" dirty="0">
                <a:latin typeface="Aptos Narrow" panose="020B0004020202020204" pitchFamily="34" charset="0"/>
              </a:rPr>
              <a:t>most similar</a:t>
            </a:r>
            <a:r>
              <a:rPr lang="en-US" dirty="0">
                <a:latin typeface="Aptos Narrow" panose="020B0004020202020204" pitchFamily="34" charset="0"/>
              </a:rPr>
              <a:t> one.</a:t>
            </a:r>
          </a:p>
        </p:txBody>
      </p:sp>
      <p:sp>
        <p:nvSpPr>
          <p:cNvPr id="18" name="TextBox 17">
            <a:extLst>
              <a:ext uri="{FF2B5EF4-FFF2-40B4-BE49-F238E27FC236}">
                <a16:creationId xmlns:a16="http://schemas.microsoft.com/office/drawing/2014/main" id="{9E8FDA39-D288-6D9A-EA6B-D0415AEE2E51}"/>
              </a:ext>
            </a:extLst>
          </p:cNvPr>
          <p:cNvSpPr txBox="1"/>
          <p:nvPr/>
        </p:nvSpPr>
        <p:spPr>
          <a:xfrm>
            <a:off x="6751688" y="2433087"/>
            <a:ext cx="6160634"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sp>
        <p:nvSpPr>
          <p:cNvPr id="19" name="TextBox 18">
            <a:extLst>
              <a:ext uri="{FF2B5EF4-FFF2-40B4-BE49-F238E27FC236}">
                <a16:creationId xmlns:a16="http://schemas.microsoft.com/office/drawing/2014/main" id="{E28B37ED-0BC4-F1A1-B6AC-77AF4E1854A7}"/>
              </a:ext>
            </a:extLst>
          </p:cNvPr>
          <p:cNvSpPr txBox="1"/>
          <p:nvPr/>
        </p:nvSpPr>
        <p:spPr>
          <a:xfrm>
            <a:off x="6559303" y="3246289"/>
            <a:ext cx="5514763" cy="2308324"/>
          </a:xfrm>
          <a:prstGeom prst="rect">
            <a:avLst/>
          </a:prstGeom>
          <a:noFill/>
        </p:spPr>
        <p:txBody>
          <a:bodyPr wrap="square">
            <a:spAutoFit/>
          </a:bodyPr>
          <a:lstStyle/>
          <a:p>
            <a:r>
              <a:rPr lang="en-US" dirty="0">
                <a:latin typeface="Aptos Narrow" panose="020B0004020202020204" pitchFamily="34" charset="0"/>
              </a:rPr>
              <a:t>Where :</a:t>
            </a:r>
          </a:p>
          <a:p>
            <a:pPr marL="742950" lvl="1" indent="-285750">
              <a:buFont typeface="Wingdings" panose="05000000000000000000" pitchFamily="2" charset="2"/>
              <a:buChar char="q"/>
            </a:pPr>
            <a:r>
              <a:rPr lang="el-GR" dirty="0">
                <a:latin typeface="Aptos Narrow" panose="020B0004020202020204" pitchFamily="34" charset="0"/>
              </a:rPr>
              <a:t>σ</a:t>
            </a:r>
            <a:r>
              <a:rPr lang="en-US" dirty="0" err="1">
                <a:latin typeface="Aptos Narrow" panose="020B0004020202020204" pitchFamily="34" charset="0"/>
              </a:rPr>
              <a:t>i</a:t>
            </a:r>
            <a:r>
              <a:rPr lang="en-US" dirty="0">
                <a:latin typeface="Aptos Narrow" panose="020B0004020202020204" pitchFamily="34" charset="0"/>
              </a:rPr>
              <a:t>= average distance of cluster i's points to centroid</a:t>
            </a:r>
          </a:p>
          <a:p>
            <a:pPr marL="742950" lvl="1" indent="-285750">
              <a:buFont typeface="Wingdings" panose="05000000000000000000" pitchFamily="2" charset="2"/>
              <a:buChar char="q"/>
            </a:pPr>
            <a:r>
              <a:rPr lang="en-US" dirty="0">
                <a:latin typeface="Aptos Narrow" panose="020B0004020202020204" pitchFamily="34" charset="0"/>
              </a:rPr>
              <a:t>d(</a:t>
            </a:r>
            <a:r>
              <a:rPr lang="en-US" dirty="0" err="1">
                <a:latin typeface="Aptos Narrow" panose="020B0004020202020204" pitchFamily="34" charset="0"/>
              </a:rPr>
              <a:t>ci,cj</a:t>
            </a:r>
            <a:r>
              <a:rPr lang="en-US" dirty="0">
                <a:latin typeface="Aptos Narrow" panose="020B0004020202020204" pitchFamily="34" charset="0"/>
              </a:rPr>
              <a:t>) = distance between centroids of clusters </a:t>
            </a:r>
          </a:p>
          <a:p>
            <a:pPr lvl="1"/>
            <a:r>
              <a:rPr lang="en-US" dirty="0" err="1">
                <a:latin typeface="Aptos Narrow" panose="020B0004020202020204" pitchFamily="34" charset="0"/>
              </a:rPr>
              <a:t>i</a:t>
            </a:r>
            <a:r>
              <a:rPr lang="en-US" dirty="0">
                <a:latin typeface="Aptos Narrow" panose="020B0004020202020204" pitchFamily="34" charset="0"/>
              </a:rPr>
              <a:t> and j</a:t>
            </a:r>
          </a:p>
          <a:p>
            <a:pPr>
              <a:buFont typeface="Arial" panose="020B0604020202020204" pitchFamily="34" charset="0"/>
              <a:buChar char="•"/>
            </a:pPr>
            <a:r>
              <a:rPr lang="en-US" b="1" dirty="0">
                <a:latin typeface="Aptos Narrow" panose="020B0004020202020204" pitchFamily="34" charset="0"/>
              </a:rPr>
              <a:t> Lower is better</a:t>
            </a:r>
            <a:endParaRPr lang="en-US" dirty="0">
              <a:latin typeface="Aptos Narrow" panose="020B0004020202020204" pitchFamily="34" charset="0"/>
            </a:endParaRP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comparing multiple clustering configurations.</a:t>
            </a:r>
          </a:p>
        </p:txBody>
      </p:sp>
      <p:pic>
        <p:nvPicPr>
          <p:cNvPr id="22" name="Picture 21">
            <a:extLst>
              <a:ext uri="{FF2B5EF4-FFF2-40B4-BE49-F238E27FC236}">
                <a16:creationId xmlns:a16="http://schemas.microsoft.com/office/drawing/2014/main" id="{E1119BC2-2684-184A-4FAB-E9EEAE2E3D17}"/>
              </a:ext>
            </a:extLst>
          </p:cNvPr>
          <p:cNvPicPr>
            <a:picLocks noChangeAspect="1"/>
          </p:cNvPicPr>
          <p:nvPr/>
        </p:nvPicPr>
        <p:blipFill>
          <a:blip r:embed="rId3"/>
          <a:stretch>
            <a:fillRect/>
          </a:stretch>
        </p:blipFill>
        <p:spPr>
          <a:xfrm>
            <a:off x="7783371" y="2205350"/>
            <a:ext cx="2935855" cy="940134"/>
          </a:xfrm>
          <a:prstGeom prst="rect">
            <a:avLst/>
          </a:prstGeom>
        </p:spPr>
      </p:pic>
    </p:spTree>
    <p:extLst>
      <p:ext uri="{BB962C8B-B14F-4D97-AF65-F5344CB8AC3E}">
        <p14:creationId xmlns:p14="http://schemas.microsoft.com/office/powerpoint/2010/main" val="3055273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19EE718-EF6B-6A94-92EC-B948C16007A0}"/>
              </a:ext>
            </a:extLst>
          </p:cNvPr>
          <p:cNvPicPr>
            <a:picLocks noChangeAspect="1"/>
          </p:cNvPicPr>
          <p:nvPr/>
        </p:nvPicPr>
        <p:blipFill>
          <a:blip r:embed="rId2"/>
          <a:stretch>
            <a:fillRect/>
          </a:stretch>
        </p:blipFill>
        <p:spPr>
          <a:xfrm>
            <a:off x="7792862" y="1988940"/>
            <a:ext cx="3684027" cy="1071717"/>
          </a:xfrm>
          <a:prstGeom prst="rect">
            <a:avLst/>
          </a:prstGeom>
        </p:spPr>
      </p:pic>
      <p:sp>
        <p:nvSpPr>
          <p:cNvPr id="20" name="TextBox 19">
            <a:extLst>
              <a:ext uri="{FF2B5EF4-FFF2-40B4-BE49-F238E27FC236}">
                <a16:creationId xmlns:a16="http://schemas.microsoft.com/office/drawing/2014/main" id="{EC0FBEFE-952E-0331-04BB-6962FC40A9F3}"/>
              </a:ext>
            </a:extLst>
          </p:cNvPr>
          <p:cNvSpPr txBox="1"/>
          <p:nvPr/>
        </p:nvSpPr>
        <p:spPr>
          <a:xfrm>
            <a:off x="570270" y="1074938"/>
            <a:ext cx="6096000"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3. </a:t>
            </a:r>
            <a:r>
              <a:rPr lang="en-US" b="1" dirty="0" err="1">
                <a:solidFill>
                  <a:srgbClr val="C00000"/>
                </a:solidFill>
                <a:latin typeface="Aptos Narrow" panose="020B0004020202020204" pitchFamily="34" charset="0"/>
              </a:rPr>
              <a:t>Calinski-Harabasz</a:t>
            </a:r>
            <a:r>
              <a:rPr lang="en-US" b="1" dirty="0">
                <a:solidFill>
                  <a:srgbClr val="C00000"/>
                </a:solidFill>
                <a:latin typeface="Aptos Narrow" panose="020B0004020202020204" pitchFamily="34" charset="0"/>
              </a:rPr>
              <a:t> Index (CHI)</a:t>
            </a:r>
          </a:p>
        </p:txBody>
      </p:sp>
      <p:sp>
        <p:nvSpPr>
          <p:cNvPr id="21" name="TextBox 20">
            <a:extLst>
              <a:ext uri="{FF2B5EF4-FFF2-40B4-BE49-F238E27FC236}">
                <a16:creationId xmlns:a16="http://schemas.microsoft.com/office/drawing/2014/main" id="{A82B1263-8B09-E662-E60B-9C72AF7A5E56}"/>
              </a:ext>
            </a:extLst>
          </p:cNvPr>
          <p:cNvSpPr txBox="1"/>
          <p:nvPr/>
        </p:nvSpPr>
        <p:spPr>
          <a:xfrm>
            <a:off x="666343" y="1630582"/>
            <a:ext cx="4957709" cy="646331"/>
          </a:xfrm>
          <a:prstGeom prst="rect">
            <a:avLst/>
          </a:prstGeom>
          <a:noFill/>
        </p:spPr>
        <p:txBody>
          <a:bodyPr wrap="square">
            <a:spAutoFit/>
          </a:bodyPr>
          <a:lstStyle/>
          <a:p>
            <a:pPr>
              <a:buNone/>
            </a:pPr>
            <a:r>
              <a:rPr lang="en-US" dirty="0">
                <a:latin typeface="Aptos Narrow" panose="020B0004020202020204" pitchFamily="34" charset="0"/>
              </a:rPr>
              <a:t>Also called the </a:t>
            </a:r>
            <a:r>
              <a:rPr lang="en-US" b="1" dirty="0">
                <a:latin typeface="Aptos Narrow" panose="020B0004020202020204" pitchFamily="34" charset="0"/>
              </a:rPr>
              <a:t>Variance Ratio Criterion</a:t>
            </a:r>
            <a:r>
              <a:rPr lang="en-US" dirty="0">
                <a:latin typeface="Aptos Narrow" panose="020B0004020202020204" pitchFamily="34" charset="0"/>
              </a:rPr>
              <a:t>. Measures how well-separated and compact the clusters are.</a:t>
            </a:r>
          </a:p>
        </p:txBody>
      </p:sp>
      <p:sp>
        <p:nvSpPr>
          <p:cNvPr id="26" name="TextBox 25">
            <a:extLst>
              <a:ext uri="{FF2B5EF4-FFF2-40B4-BE49-F238E27FC236}">
                <a16:creationId xmlns:a16="http://schemas.microsoft.com/office/drawing/2014/main" id="{4CB41643-858E-65F9-64C6-E8B5D7046F81}"/>
              </a:ext>
            </a:extLst>
          </p:cNvPr>
          <p:cNvSpPr txBox="1"/>
          <p:nvPr/>
        </p:nvSpPr>
        <p:spPr>
          <a:xfrm>
            <a:off x="666343" y="2436997"/>
            <a:ext cx="6096000"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pic>
        <p:nvPicPr>
          <p:cNvPr id="27" name="Picture 26">
            <a:extLst>
              <a:ext uri="{FF2B5EF4-FFF2-40B4-BE49-F238E27FC236}">
                <a16:creationId xmlns:a16="http://schemas.microsoft.com/office/drawing/2014/main" id="{588C25BD-3998-E9F0-2430-586FE2E1DEE0}"/>
              </a:ext>
            </a:extLst>
          </p:cNvPr>
          <p:cNvPicPr>
            <a:picLocks noChangeAspect="1"/>
          </p:cNvPicPr>
          <p:nvPr/>
        </p:nvPicPr>
        <p:blipFill>
          <a:blip r:embed="rId3"/>
          <a:stretch>
            <a:fillRect/>
          </a:stretch>
        </p:blipFill>
        <p:spPr>
          <a:xfrm>
            <a:off x="1736192" y="2238250"/>
            <a:ext cx="3132091" cy="800169"/>
          </a:xfrm>
          <a:prstGeom prst="rect">
            <a:avLst/>
          </a:prstGeom>
        </p:spPr>
      </p:pic>
      <p:sp>
        <p:nvSpPr>
          <p:cNvPr id="28" name="TextBox 27">
            <a:extLst>
              <a:ext uri="{FF2B5EF4-FFF2-40B4-BE49-F238E27FC236}">
                <a16:creationId xmlns:a16="http://schemas.microsoft.com/office/drawing/2014/main" id="{A27B4B30-C08F-C46C-B8D0-840D78758242}"/>
              </a:ext>
            </a:extLst>
          </p:cNvPr>
          <p:cNvSpPr txBox="1"/>
          <p:nvPr/>
        </p:nvSpPr>
        <p:spPr>
          <a:xfrm>
            <a:off x="614133" y="3038419"/>
            <a:ext cx="6094324" cy="2585323"/>
          </a:xfrm>
          <a:prstGeom prst="rect">
            <a:avLst/>
          </a:prstGeom>
          <a:noFill/>
        </p:spPr>
        <p:txBody>
          <a:bodyPr wrap="square">
            <a:spAutoFit/>
          </a:bodyPr>
          <a:lstStyle/>
          <a:p>
            <a:r>
              <a:rPr lang="en-US" dirty="0">
                <a:latin typeface="Aptos Narrow" panose="020B0004020202020204" pitchFamily="34" charset="0"/>
              </a:rPr>
              <a:t>where:</a:t>
            </a:r>
          </a:p>
          <a:p>
            <a:pPr marL="742950" lvl="1" indent="-285750">
              <a:buFont typeface="Wingdings" panose="05000000000000000000" pitchFamily="2" charset="2"/>
              <a:buChar char="q"/>
            </a:pPr>
            <a:r>
              <a:rPr lang="en-US" dirty="0">
                <a:latin typeface="Aptos Narrow" panose="020B0004020202020204" pitchFamily="34" charset="0"/>
              </a:rPr>
              <a:t>Bk    ​: between-cluster dispersion matrix</a:t>
            </a:r>
          </a:p>
          <a:p>
            <a:pPr marL="742950" lvl="1" indent="-285750">
              <a:buFont typeface="Wingdings" panose="05000000000000000000" pitchFamily="2" charset="2"/>
              <a:buChar char="q"/>
            </a:pPr>
            <a:r>
              <a:rPr lang="en-US" dirty="0" err="1">
                <a:latin typeface="Aptos Narrow" panose="020B0004020202020204" pitchFamily="34" charset="0"/>
              </a:rPr>
              <a:t>Wk</a:t>
            </a:r>
            <a:r>
              <a:rPr lang="en-US" dirty="0">
                <a:latin typeface="Aptos Narrow" panose="020B0004020202020204" pitchFamily="34" charset="0"/>
              </a:rPr>
              <a:t>  : within-cluster dispersion matrix</a:t>
            </a:r>
          </a:p>
          <a:p>
            <a:pPr marL="742950" lvl="1" indent="-285750">
              <a:buFont typeface="Wingdings" panose="05000000000000000000" pitchFamily="2" charset="2"/>
              <a:buChar char="q"/>
            </a:pPr>
            <a:r>
              <a:rPr lang="en-US" dirty="0">
                <a:latin typeface="Aptos Narrow" panose="020B0004020202020204" pitchFamily="34" charset="0"/>
              </a:rPr>
              <a:t>N     : number of data points</a:t>
            </a:r>
          </a:p>
          <a:p>
            <a:pPr marL="742950" lvl="1" indent="-285750">
              <a:buFont typeface="Wingdings" panose="05000000000000000000" pitchFamily="2" charset="2"/>
              <a:buChar char="q"/>
            </a:pPr>
            <a:r>
              <a:rPr lang="en-US" dirty="0">
                <a:latin typeface="Aptos Narrow" panose="020B0004020202020204" pitchFamily="34" charset="0"/>
              </a:rPr>
              <a:t>K      : number of clusters</a:t>
            </a:r>
          </a:p>
          <a:p>
            <a:pPr lvl="1"/>
            <a:endParaRPr lang="en-US" dirty="0">
              <a:latin typeface="Aptos Narrow" panose="020B0004020202020204" pitchFamily="34" charset="0"/>
            </a:endParaRPr>
          </a:p>
          <a:p>
            <a:pPr>
              <a:buFont typeface="Arial" panose="020B0604020202020204" pitchFamily="34" charset="0"/>
              <a:buChar char="•"/>
            </a:pPr>
            <a:r>
              <a:rPr lang="en-US" b="1" dirty="0">
                <a:latin typeface="Aptos Narrow" panose="020B0004020202020204" pitchFamily="34" charset="0"/>
              </a:rPr>
              <a:t> Higher is better</a:t>
            </a:r>
            <a:endParaRPr lang="en-US" dirty="0">
              <a:latin typeface="Aptos Narrow" panose="020B0004020202020204" pitchFamily="34" charset="0"/>
            </a:endParaRP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cluster separation and compactness are both important.</a:t>
            </a:r>
          </a:p>
        </p:txBody>
      </p:sp>
      <p:sp>
        <p:nvSpPr>
          <p:cNvPr id="29" name="TextBox 28">
            <a:extLst>
              <a:ext uri="{FF2B5EF4-FFF2-40B4-BE49-F238E27FC236}">
                <a16:creationId xmlns:a16="http://schemas.microsoft.com/office/drawing/2014/main" id="{6EF585BC-8A85-E974-1CAC-C9236D181210}"/>
              </a:ext>
            </a:extLst>
          </p:cNvPr>
          <p:cNvSpPr txBox="1"/>
          <p:nvPr/>
        </p:nvSpPr>
        <p:spPr>
          <a:xfrm>
            <a:off x="6626952" y="974125"/>
            <a:ext cx="5427396" cy="1200329"/>
          </a:xfrm>
          <a:prstGeom prst="rect">
            <a:avLst/>
          </a:prstGeom>
          <a:noFill/>
        </p:spPr>
        <p:txBody>
          <a:bodyPr wrap="square">
            <a:spAutoFit/>
          </a:bodyPr>
          <a:lstStyle/>
          <a:p>
            <a:pPr>
              <a:buNone/>
            </a:pPr>
            <a:r>
              <a:rPr lang="en-US" b="1" dirty="0">
                <a:latin typeface="Aptos Narrow" panose="020B0004020202020204" pitchFamily="34" charset="0"/>
              </a:rPr>
              <a:t>🔹 </a:t>
            </a:r>
            <a:r>
              <a:rPr lang="en-US" b="1" dirty="0">
                <a:solidFill>
                  <a:srgbClr val="C00000"/>
                </a:solidFill>
                <a:latin typeface="Aptos Narrow" panose="020B0004020202020204" pitchFamily="34" charset="0"/>
              </a:rPr>
              <a:t>4. Dunn Index</a:t>
            </a:r>
          </a:p>
          <a:p>
            <a:pPr>
              <a:buNone/>
            </a:pPr>
            <a:endParaRPr lang="en-US" b="1" dirty="0">
              <a:latin typeface="Aptos Narrow" panose="020B0004020202020204" pitchFamily="34" charset="0"/>
            </a:endParaRPr>
          </a:p>
          <a:p>
            <a:pPr>
              <a:buNone/>
            </a:pPr>
            <a:r>
              <a:rPr lang="en-US" dirty="0">
                <a:latin typeface="Aptos Narrow" panose="020B0004020202020204" pitchFamily="34" charset="0"/>
              </a:rPr>
              <a:t>Measures ratio between </a:t>
            </a:r>
            <a:r>
              <a:rPr lang="en-US" b="1" dirty="0">
                <a:latin typeface="Aptos Narrow" panose="020B0004020202020204" pitchFamily="34" charset="0"/>
              </a:rPr>
              <a:t>minimum inter-cluster distance</a:t>
            </a:r>
            <a:r>
              <a:rPr lang="en-US" dirty="0">
                <a:latin typeface="Aptos Narrow" panose="020B0004020202020204" pitchFamily="34" charset="0"/>
              </a:rPr>
              <a:t> and </a:t>
            </a:r>
            <a:r>
              <a:rPr lang="en-US" b="1" dirty="0">
                <a:latin typeface="Aptos Narrow" panose="020B0004020202020204" pitchFamily="34" charset="0"/>
              </a:rPr>
              <a:t>maximum intra-cluster diameter</a:t>
            </a:r>
            <a:r>
              <a:rPr lang="en-US" dirty="0">
                <a:latin typeface="Aptos Narrow" panose="020B0004020202020204" pitchFamily="34" charset="0"/>
              </a:rPr>
              <a:t>.</a:t>
            </a:r>
          </a:p>
        </p:txBody>
      </p:sp>
      <p:sp>
        <p:nvSpPr>
          <p:cNvPr id="30" name="TextBox 29">
            <a:extLst>
              <a:ext uri="{FF2B5EF4-FFF2-40B4-BE49-F238E27FC236}">
                <a16:creationId xmlns:a16="http://schemas.microsoft.com/office/drawing/2014/main" id="{57C4DDD6-78CC-18C1-1405-4B5602AC821C}"/>
              </a:ext>
            </a:extLst>
          </p:cNvPr>
          <p:cNvSpPr txBox="1"/>
          <p:nvPr/>
        </p:nvSpPr>
        <p:spPr>
          <a:xfrm>
            <a:off x="6666270" y="2322954"/>
            <a:ext cx="6096000"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sp>
        <p:nvSpPr>
          <p:cNvPr id="32" name="TextBox 31">
            <a:extLst>
              <a:ext uri="{FF2B5EF4-FFF2-40B4-BE49-F238E27FC236}">
                <a16:creationId xmlns:a16="http://schemas.microsoft.com/office/drawing/2014/main" id="{A487D4E0-26F1-57A7-3081-2A237E7CA29F}"/>
              </a:ext>
            </a:extLst>
          </p:cNvPr>
          <p:cNvSpPr txBox="1"/>
          <p:nvPr/>
        </p:nvSpPr>
        <p:spPr>
          <a:xfrm>
            <a:off x="6762343" y="3167181"/>
            <a:ext cx="4404834" cy="369332"/>
          </a:xfrm>
          <a:prstGeom prst="rect">
            <a:avLst/>
          </a:prstGeom>
          <a:noFill/>
        </p:spPr>
        <p:txBody>
          <a:bodyPr wrap="square">
            <a:spAutoFit/>
          </a:bodyPr>
          <a:lstStyle/>
          <a:p>
            <a:pPr marL="285750" indent="-285750">
              <a:buFont typeface="Wingdings" panose="05000000000000000000" pitchFamily="2" charset="2"/>
              <a:buChar char="q"/>
            </a:pPr>
            <a:r>
              <a:rPr lang="en-US" dirty="0">
                <a:latin typeface="Aptos Narrow" panose="020B0004020202020204" pitchFamily="34" charset="0"/>
              </a:rPr>
              <a:t>d(Ci​,</a:t>
            </a:r>
            <a:r>
              <a:rPr lang="en-US" dirty="0" err="1">
                <a:latin typeface="Aptos Narrow" panose="020B0004020202020204" pitchFamily="34" charset="0"/>
              </a:rPr>
              <a:t>Cj</a:t>
            </a:r>
            <a:r>
              <a:rPr lang="en-US" dirty="0">
                <a:latin typeface="Aptos Narrow" panose="020B0004020202020204" pitchFamily="34" charset="0"/>
              </a:rPr>
              <a:t>​)   : distance between clusters</a:t>
            </a:r>
          </a:p>
        </p:txBody>
      </p:sp>
      <p:sp>
        <p:nvSpPr>
          <p:cNvPr id="33" name="TextBox 32">
            <a:extLst>
              <a:ext uri="{FF2B5EF4-FFF2-40B4-BE49-F238E27FC236}">
                <a16:creationId xmlns:a16="http://schemas.microsoft.com/office/drawing/2014/main" id="{336F6E1D-F7B7-A9D5-CEBC-24A35C3F0A9A}"/>
              </a:ext>
            </a:extLst>
          </p:cNvPr>
          <p:cNvSpPr txBox="1"/>
          <p:nvPr/>
        </p:nvSpPr>
        <p:spPr>
          <a:xfrm>
            <a:off x="6762343" y="3627150"/>
            <a:ext cx="3873892" cy="369332"/>
          </a:xfrm>
          <a:prstGeom prst="rect">
            <a:avLst/>
          </a:prstGeom>
          <a:noFill/>
        </p:spPr>
        <p:txBody>
          <a:bodyPr wrap="square">
            <a:spAutoFit/>
          </a:bodyPr>
          <a:lstStyle/>
          <a:p>
            <a:pPr marL="285750" indent="-285750">
              <a:buFont typeface="Wingdings" panose="05000000000000000000" pitchFamily="2" charset="2"/>
              <a:buChar char="q"/>
            </a:pPr>
            <a:r>
              <a:rPr lang="el-GR" dirty="0">
                <a:latin typeface="Aptos Narrow" panose="020B0004020202020204" pitchFamily="34" charset="0"/>
              </a:rPr>
              <a:t>δ(</a:t>
            </a:r>
            <a:r>
              <a:rPr lang="en-US" dirty="0">
                <a:latin typeface="Aptos Narrow" panose="020B0004020202020204" pitchFamily="34" charset="0"/>
              </a:rPr>
              <a:t>Ck)        : diameter of cluster k</a:t>
            </a:r>
          </a:p>
        </p:txBody>
      </p:sp>
      <p:sp>
        <p:nvSpPr>
          <p:cNvPr id="34" name="TextBox 33">
            <a:extLst>
              <a:ext uri="{FF2B5EF4-FFF2-40B4-BE49-F238E27FC236}">
                <a16:creationId xmlns:a16="http://schemas.microsoft.com/office/drawing/2014/main" id="{909D22B0-6DFA-07BF-94FF-45B88A73AC30}"/>
              </a:ext>
            </a:extLst>
          </p:cNvPr>
          <p:cNvSpPr txBox="1"/>
          <p:nvPr/>
        </p:nvSpPr>
        <p:spPr>
          <a:xfrm>
            <a:off x="6666270" y="4146414"/>
            <a:ext cx="4242496" cy="1200329"/>
          </a:xfrm>
          <a:prstGeom prst="rect">
            <a:avLst/>
          </a:prstGeom>
          <a:noFill/>
        </p:spPr>
        <p:txBody>
          <a:bodyPr wrap="square">
            <a:spAutoFit/>
          </a:bodyPr>
          <a:lstStyle/>
          <a:p>
            <a:pPr>
              <a:buFont typeface="Arial" panose="020B0604020202020204" pitchFamily="34" charset="0"/>
              <a:buChar char="•"/>
            </a:pPr>
            <a:r>
              <a:rPr lang="en-US" b="1" dirty="0">
                <a:latin typeface="Aptos Narrow" panose="020B0004020202020204" pitchFamily="34" charset="0"/>
              </a:rPr>
              <a:t>  Higher is better</a:t>
            </a:r>
          </a:p>
          <a:p>
            <a:pPr>
              <a:buFont typeface="Arial" panose="020B0604020202020204" pitchFamily="34" charset="0"/>
              <a:buChar char="•"/>
            </a:pPr>
            <a:endParaRPr lang="en-US" dirty="0">
              <a:latin typeface="Aptos Narrow" panose="020B0004020202020204" pitchFamily="34" charset="0"/>
            </a:endParaRP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looking for compact and well-separated clusters.</a:t>
            </a:r>
          </a:p>
        </p:txBody>
      </p:sp>
      <p:sp>
        <p:nvSpPr>
          <p:cNvPr id="3" name="TextBox 2">
            <a:extLst>
              <a:ext uri="{FF2B5EF4-FFF2-40B4-BE49-F238E27FC236}">
                <a16:creationId xmlns:a16="http://schemas.microsoft.com/office/drawing/2014/main" id="{C0EF2D48-DF05-E33F-DB15-46B6F07426E1}"/>
              </a:ext>
            </a:extLst>
          </p:cNvPr>
          <p:cNvSpPr txBox="1"/>
          <p:nvPr/>
        </p:nvSpPr>
        <p:spPr>
          <a:xfrm>
            <a:off x="6762343" y="2829825"/>
            <a:ext cx="6381134" cy="369332"/>
          </a:xfrm>
          <a:prstGeom prst="rect">
            <a:avLst/>
          </a:prstGeom>
          <a:noFill/>
        </p:spPr>
        <p:txBody>
          <a:bodyPr wrap="square">
            <a:spAutoFit/>
          </a:bodyPr>
          <a:lstStyle/>
          <a:p>
            <a:r>
              <a:rPr lang="en-US" dirty="0">
                <a:latin typeface="Aptos Narrow" panose="020B0004020202020204" pitchFamily="34" charset="0"/>
              </a:rPr>
              <a:t>where:</a:t>
            </a:r>
          </a:p>
        </p:txBody>
      </p:sp>
    </p:spTree>
    <p:extLst>
      <p:ext uri="{BB962C8B-B14F-4D97-AF65-F5344CB8AC3E}">
        <p14:creationId xmlns:p14="http://schemas.microsoft.com/office/powerpoint/2010/main" val="3893931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2172ABF-D88D-A3C9-20C6-C8713E683921}"/>
              </a:ext>
            </a:extLst>
          </p:cNvPr>
          <p:cNvSpPr txBox="1"/>
          <p:nvPr/>
        </p:nvSpPr>
        <p:spPr>
          <a:xfrm>
            <a:off x="703006" y="1788230"/>
            <a:ext cx="8760542" cy="1298882"/>
          </a:xfrm>
          <a:prstGeom prst="rect">
            <a:avLst/>
          </a:prstGeom>
          <a:noFill/>
        </p:spPr>
        <p:txBody>
          <a:bodyPr wrap="square">
            <a:spAutoFit/>
          </a:bodyPr>
          <a:lstStyle/>
          <a:p>
            <a:pPr>
              <a:lnSpc>
                <a:spcPct val="150000"/>
              </a:lnSpc>
              <a:buNone/>
            </a:pPr>
            <a:r>
              <a:rPr lang="en-US" dirty="0">
                <a:latin typeface="Aptos Narrow" panose="020B0004020202020204" pitchFamily="34" charset="0"/>
              </a:rPr>
              <a:t>Measures the </a:t>
            </a:r>
            <a:r>
              <a:rPr lang="en-US" b="1" dirty="0">
                <a:latin typeface="Aptos Narrow" panose="020B0004020202020204" pitchFamily="34" charset="0"/>
              </a:rPr>
              <a:t>compactness</a:t>
            </a:r>
            <a:r>
              <a:rPr lang="en-US" dirty="0">
                <a:latin typeface="Aptos Narrow" panose="020B0004020202020204" pitchFamily="34" charset="0"/>
              </a:rPr>
              <a:t> of the clusters.</a:t>
            </a:r>
          </a:p>
          <a:p>
            <a:pPr marL="285750" indent="-285750">
              <a:lnSpc>
                <a:spcPct val="150000"/>
              </a:lnSpc>
              <a:buFont typeface="Wingdings" panose="05000000000000000000" pitchFamily="2" charset="2"/>
              <a:buChar char="q"/>
            </a:pPr>
            <a:r>
              <a:rPr lang="en-US" dirty="0">
                <a:latin typeface="Aptos Narrow" panose="020B0004020202020204" pitchFamily="34" charset="0"/>
              </a:rPr>
              <a:t>Often used with the </a:t>
            </a:r>
            <a:r>
              <a:rPr lang="en-US" b="1" dirty="0">
                <a:latin typeface="Aptos Narrow" panose="020B0004020202020204" pitchFamily="34" charset="0"/>
              </a:rPr>
              <a:t>Elbow Method</a:t>
            </a:r>
            <a:r>
              <a:rPr lang="en-US" dirty="0">
                <a:latin typeface="Aptos Narrow" panose="020B0004020202020204" pitchFamily="34" charset="0"/>
              </a:rPr>
              <a:t> to determine the optimal number of clusters.</a:t>
            </a:r>
          </a:p>
          <a:p>
            <a:pPr marL="285750" indent="-285750">
              <a:lnSpc>
                <a:spcPct val="150000"/>
              </a:lnSpc>
              <a:buFont typeface="Wingdings" panose="05000000000000000000" pitchFamily="2" charset="2"/>
              <a:buChar char="q"/>
            </a:pPr>
            <a:r>
              <a:rPr lang="en-US" b="1" dirty="0">
                <a:latin typeface="Aptos Narrow" panose="020B0004020202020204" pitchFamily="34" charset="0"/>
              </a:rPr>
              <a:t>Lower WCSS</a:t>
            </a:r>
            <a:r>
              <a:rPr lang="en-US" dirty="0">
                <a:latin typeface="Aptos Narrow" panose="020B0004020202020204" pitchFamily="34" charset="0"/>
              </a:rPr>
              <a:t> means clusters are more compact.</a:t>
            </a:r>
          </a:p>
        </p:txBody>
      </p:sp>
      <p:sp>
        <p:nvSpPr>
          <p:cNvPr id="18" name="TextBox 17">
            <a:extLst>
              <a:ext uri="{FF2B5EF4-FFF2-40B4-BE49-F238E27FC236}">
                <a16:creationId xmlns:a16="http://schemas.microsoft.com/office/drawing/2014/main" id="{94424940-BBC8-F490-31B7-FDBF87D2BB9C}"/>
              </a:ext>
            </a:extLst>
          </p:cNvPr>
          <p:cNvSpPr txBox="1"/>
          <p:nvPr/>
        </p:nvSpPr>
        <p:spPr>
          <a:xfrm>
            <a:off x="703006" y="3417927"/>
            <a:ext cx="10830234" cy="1477328"/>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2. External Cluster Validation Metrics</a:t>
            </a:r>
          </a:p>
          <a:p>
            <a:pPr>
              <a:buNone/>
            </a:pPr>
            <a:endParaRPr lang="en-US" dirty="0">
              <a:latin typeface="Aptos Narrow" panose="020B0004020202020204" pitchFamily="34" charset="0"/>
            </a:endParaRPr>
          </a:p>
          <a:p>
            <a:pPr>
              <a:buNone/>
            </a:pPr>
            <a:r>
              <a:rPr lang="en-US" dirty="0">
                <a:latin typeface="Aptos Narrow" panose="020B0004020202020204" pitchFamily="34" charset="0"/>
              </a:rPr>
              <a:t>External validation metrics compare the </a:t>
            </a:r>
            <a:r>
              <a:rPr lang="en-US" b="1" dirty="0">
                <a:latin typeface="Aptos Narrow" panose="020B0004020202020204" pitchFamily="34" charset="0"/>
              </a:rPr>
              <a:t>predicted cluster labels</a:t>
            </a:r>
            <a:r>
              <a:rPr lang="en-US" dirty="0">
                <a:latin typeface="Aptos Narrow" panose="020B0004020202020204" pitchFamily="34" charset="0"/>
              </a:rPr>
              <a:t> with </a:t>
            </a:r>
            <a:r>
              <a:rPr lang="en-US" b="1" dirty="0">
                <a:latin typeface="Aptos Narrow" panose="020B0004020202020204" pitchFamily="34" charset="0"/>
              </a:rPr>
              <a:t>true class labels</a:t>
            </a:r>
            <a:r>
              <a:rPr lang="en-US" dirty="0">
                <a:latin typeface="Aptos Narrow" panose="020B0004020202020204" pitchFamily="34" charset="0"/>
              </a:rPr>
              <a:t> (ground truth). </a:t>
            </a:r>
          </a:p>
          <a:p>
            <a:pPr>
              <a:buNone/>
            </a:pPr>
            <a:endParaRPr lang="en-US" dirty="0">
              <a:latin typeface="Aptos Narrow" panose="020B0004020202020204" pitchFamily="34" charset="0"/>
            </a:endParaRPr>
          </a:p>
          <a:p>
            <a:pPr>
              <a:buNone/>
            </a:pPr>
            <a:r>
              <a:rPr lang="en-US" dirty="0">
                <a:latin typeface="Aptos Narrow" panose="020B0004020202020204" pitchFamily="34" charset="0"/>
              </a:rPr>
              <a:t>These are used </a:t>
            </a:r>
            <a:r>
              <a:rPr lang="en-US" b="1" dirty="0">
                <a:latin typeface="Aptos Narrow" panose="020B0004020202020204" pitchFamily="34" charset="0"/>
              </a:rPr>
              <a:t>only when you already know the true labels</a:t>
            </a:r>
            <a:r>
              <a:rPr lang="en-US" dirty="0">
                <a:latin typeface="Aptos Narrow" panose="020B0004020202020204" pitchFamily="34" charset="0"/>
              </a:rPr>
              <a:t>, such as in benchmarking or semi-supervised learning.</a:t>
            </a:r>
          </a:p>
        </p:txBody>
      </p:sp>
      <p:sp>
        <p:nvSpPr>
          <p:cNvPr id="3" name="TextBox 2">
            <a:extLst>
              <a:ext uri="{FF2B5EF4-FFF2-40B4-BE49-F238E27FC236}">
                <a16:creationId xmlns:a16="http://schemas.microsoft.com/office/drawing/2014/main" id="{7C324A50-3A6E-747D-F70D-FCA88D0AADC6}"/>
              </a:ext>
            </a:extLst>
          </p:cNvPr>
          <p:cNvSpPr txBox="1"/>
          <p:nvPr/>
        </p:nvSpPr>
        <p:spPr>
          <a:xfrm>
            <a:off x="580103" y="1224755"/>
            <a:ext cx="6096000" cy="465320"/>
          </a:xfrm>
          <a:prstGeom prst="rect">
            <a:avLst/>
          </a:prstGeom>
          <a:noFill/>
        </p:spPr>
        <p:txBody>
          <a:bodyPr wrap="square">
            <a:spAutoFit/>
          </a:bodyPr>
          <a:lstStyle/>
          <a:p>
            <a:pPr>
              <a:lnSpc>
                <a:spcPct val="150000"/>
              </a:lnSpc>
              <a:buNone/>
            </a:pPr>
            <a:r>
              <a:rPr lang="en-US" b="1" dirty="0">
                <a:solidFill>
                  <a:srgbClr val="C00000"/>
                </a:solidFill>
                <a:latin typeface="Aptos Narrow" panose="020B0004020202020204" pitchFamily="34" charset="0"/>
              </a:rPr>
              <a:t>🔹 5. Within-Cluster Sum of Squares (WCSS)</a:t>
            </a:r>
          </a:p>
        </p:txBody>
      </p:sp>
    </p:spTree>
    <p:extLst>
      <p:ext uri="{BB962C8B-B14F-4D97-AF65-F5344CB8AC3E}">
        <p14:creationId xmlns:p14="http://schemas.microsoft.com/office/powerpoint/2010/main" val="606335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8D9646E7-E3C0-C81F-6875-CDA1E116AE86}"/>
              </a:ext>
            </a:extLst>
          </p:cNvPr>
          <p:cNvPicPr>
            <a:picLocks noChangeAspect="1"/>
          </p:cNvPicPr>
          <p:nvPr/>
        </p:nvPicPr>
        <p:blipFill>
          <a:blip r:embed="rId2"/>
          <a:stretch>
            <a:fillRect/>
          </a:stretch>
        </p:blipFill>
        <p:spPr>
          <a:xfrm>
            <a:off x="7774830" y="2160918"/>
            <a:ext cx="3246401" cy="853514"/>
          </a:xfrm>
          <a:prstGeom prst="rect">
            <a:avLst/>
          </a:prstGeom>
        </p:spPr>
      </p:pic>
      <p:sp>
        <p:nvSpPr>
          <p:cNvPr id="18" name="TextBox 17">
            <a:extLst>
              <a:ext uri="{FF2B5EF4-FFF2-40B4-BE49-F238E27FC236}">
                <a16:creationId xmlns:a16="http://schemas.microsoft.com/office/drawing/2014/main" id="{6D6342DF-0119-5246-C3AF-298F182FD8E6}"/>
              </a:ext>
            </a:extLst>
          </p:cNvPr>
          <p:cNvSpPr txBox="1"/>
          <p:nvPr/>
        </p:nvSpPr>
        <p:spPr>
          <a:xfrm>
            <a:off x="471951" y="1248305"/>
            <a:ext cx="5997677" cy="923330"/>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1. Adjusted Rand Index (ARI)</a:t>
            </a:r>
          </a:p>
          <a:p>
            <a:pPr>
              <a:buNone/>
            </a:pPr>
            <a:r>
              <a:rPr lang="en-US" dirty="0">
                <a:latin typeface="Aptos Narrow" panose="020B0004020202020204" pitchFamily="34" charset="0"/>
              </a:rPr>
              <a:t>Measures the similarity between predicted clusters and ground truth, </a:t>
            </a:r>
            <a:r>
              <a:rPr lang="en-US" b="1" dirty="0">
                <a:latin typeface="Aptos Narrow" panose="020B0004020202020204" pitchFamily="34" charset="0"/>
              </a:rPr>
              <a:t>adjusted for chance</a:t>
            </a:r>
            <a:r>
              <a:rPr lang="en-US" dirty="0">
                <a:latin typeface="Aptos Narrow" panose="020B0004020202020204" pitchFamily="34" charset="0"/>
              </a:rPr>
              <a:t>.</a:t>
            </a:r>
          </a:p>
        </p:txBody>
      </p:sp>
      <p:pic>
        <p:nvPicPr>
          <p:cNvPr id="20" name="Picture 19">
            <a:extLst>
              <a:ext uri="{FF2B5EF4-FFF2-40B4-BE49-F238E27FC236}">
                <a16:creationId xmlns:a16="http://schemas.microsoft.com/office/drawing/2014/main" id="{85A2326C-9F02-D473-F2F8-7FD832EEDB22}"/>
              </a:ext>
            </a:extLst>
          </p:cNvPr>
          <p:cNvPicPr>
            <a:picLocks noChangeAspect="1"/>
          </p:cNvPicPr>
          <p:nvPr/>
        </p:nvPicPr>
        <p:blipFill>
          <a:blip r:embed="rId3"/>
          <a:stretch>
            <a:fillRect/>
          </a:stretch>
        </p:blipFill>
        <p:spPr>
          <a:xfrm>
            <a:off x="1455341" y="2171635"/>
            <a:ext cx="3467400" cy="769687"/>
          </a:xfrm>
          <a:prstGeom prst="rect">
            <a:avLst/>
          </a:prstGeom>
        </p:spPr>
      </p:pic>
      <p:sp>
        <p:nvSpPr>
          <p:cNvPr id="22" name="TextBox 21">
            <a:extLst>
              <a:ext uri="{FF2B5EF4-FFF2-40B4-BE49-F238E27FC236}">
                <a16:creationId xmlns:a16="http://schemas.microsoft.com/office/drawing/2014/main" id="{23434B85-9D3C-3AD2-C84D-7D180C66E350}"/>
              </a:ext>
            </a:extLst>
          </p:cNvPr>
          <p:cNvSpPr txBox="1"/>
          <p:nvPr/>
        </p:nvSpPr>
        <p:spPr>
          <a:xfrm>
            <a:off x="589938" y="2987489"/>
            <a:ext cx="5506062" cy="2308324"/>
          </a:xfrm>
          <a:prstGeom prst="rect">
            <a:avLst/>
          </a:prstGeom>
          <a:noFill/>
        </p:spPr>
        <p:txBody>
          <a:bodyPr wrap="square">
            <a:spAutoFit/>
          </a:bodyPr>
          <a:lstStyle/>
          <a:p>
            <a:pPr>
              <a:buFont typeface="Arial" panose="020B0604020202020204" pitchFamily="34" charset="0"/>
              <a:buChar char="•"/>
            </a:pPr>
            <a:r>
              <a:rPr lang="en-US" b="1" dirty="0">
                <a:latin typeface="Aptos Narrow" panose="020B0004020202020204" pitchFamily="34" charset="0"/>
              </a:rPr>
              <a:t>Range</a:t>
            </a:r>
            <a:r>
              <a:rPr lang="en-US" dirty="0">
                <a:latin typeface="Aptos Narrow" panose="020B0004020202020204" pitchFamily="34" charset="0"/>
              </a:rPr>
              <a:t>: -1 to 1</a:t>
            </a:r>
          </a:p>
          <a:p>
            <a:endParaRPr lang="en-US" dirty="0">
              <a:latin typeface="Aptos Narrow" panose="020B0004020202020204" pitchFamily="34" charset="0"/>
            </a:endParaRPr>
          </a:p>
          <a:p>
            <a:pPr marL="742950" lvl="1" indent="-285750">
              <a:buFont typeface="Wingdings" panose="05000000000000000000" pitchFamily="2" charset="2"/>
              <a:buChar char="q"/>
            </a:pPr>
            <a:r>
              <a:rPr lang="en-US" dirty="0">
                <a:latin typeface="Aptos Narrow" panose="020B0004020202020204" pitchFamily="34" charset="0"/>
              </a:rPr>
              <a:t>1 → Perfect match</a:t>
            </a:r>
          </a:p>
          <a:p>
            <a:pPr marL="742950" lvl="1" indent="-285750">
              <a:buFont typeface="Wingdings" panose="05000000000000000000" pitchFamily="2" charset="2"/>
              <a:buChar char="q"/>
            </a:pPr>
            <a:r>
              <a:rPr lang="en-US" dirty="0">
                <a:latin typeface="Aptos Narrow" panose="020B0004020202020204" pitchFamily="34" charset="0"/>
              </a:rPr>
              <a:t>0 → Random labeling</a:t>
            </a:r>
          </a:p>
          <a:p>
            <a:pPr marL="742950" lvl="1" indent="-285750">
              <a:buFont typeface="Wingdings" panose="05000000000000000000" pitchFamily="2" charset="2"/>
              <a:buChar char="q"/>
            </a:pPr>
            <a:r>
              <a:rPr lang="en-US" dirty="0">
                <a:latin typeface="Aptos Narrow" panose="020B0004020202020204" pitchFamily="34" charset="0"/>
              </a:rPr>
              <a:t>&lt; 0 → Worse than random</a:t>
            </a:r>
          </a:p>
          <a:p>
            <a:pPr>
              <a:buNone/>
            </a:pPr>
            <a:endParaRPr lang="en-US" dirty="0">
              <a:latin typeface="Aptos Narrow" panose="020B0004020202020204" pitchFamily="34" charset="0"/>
            </a:endParaRP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you care about pairwise agreements (e.g., A and B in the same cluster in both true and predicted).</a:t>
            </a:r>
          </a:p>
        </p:txBody>
      </p:sp>
      <p:sp>
        <p:nvSpPr>
          <p:cNvPr id="24" name="TextBox 23">
            <a:extLst>
              <a:ext uri="{FF2B5EF4-FFF2-40B4-BE49-F238E27FC236}">
                <a16:creationId xmlns:a16="http://schemas.microsoft.com/office/drawing/2014/main" id="{2CFA39D6-3D4A-CFE0-EC14-22A8FB84CFAD}"/>
              </a:ext>
            </a:extLst>
          </p:cNvPr>
          <p:cNvSpPr txBox="1"/>
          <p:nvPr/>
        </p:nvSpPr>
        <p:spPr>
          <a:xfrm>
            <a:off x="6676106" y="1214751"/>
            <a:ext cx="6096000"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2. Normalized Mutual Information (NMI)</a:t>
            </a:r>
          </a:p>
        </p:txBody>
      </p:sp>
      <p:sp>
        <p:nvSpPr>
          <p:cNvPr id="26" name="TextBox 25">
            <a:extLst>
              <a:ext uri="{FF2B5EF4-FFF2-40B4-BE49-F238E27FC236}">
                <a16:creationId xmlns:a16="http://schemas.microsoft.com/office/drawing/2014/main" id="{C9762B8D-D978-BB95-BD6D-749F7F26C891}"/>
              </a:ext>
            </a:extLst>
          </p:cNvPr>
          <p:cNvSpPr txBox="1"/>
          <p:nvPr/>
        </p:nvSpPr>
        <p:spPr>
          <a:xfrm>
            <a:off x="6843254" y="1568477"/>
            <a:ext cx="4601496" cy="646331"/>
          </a:xfrm>
          <a:prstGeom prst="rect">
            <a:avLst/>
          </a:prstGeom>
          <a:noFill/>
        </p:spPr>
        <p:txBody>
          <a:bodyPr wrap="square">
            <a:spAutoFit/>
          </a:bodyPr>
          <a:lstStyle/>
          <a:p>
            <a:pPr>
              <a:buNone/>
            </a:pPr>
            <a:r>
              <a:rPr lang="en-US" dirty="0">
                <a:latin typeface="Aptos Narrow" panose="020B0004020202020204" pitchFamily="34" charset="0"/>
              </a:rPr>
              <a:t>Measures the </a:t>
            </a:r>
            <a:r>
              <a:rPr lang="en-US" b="1" dirty="0">
                <a:latin typeface="Aptos Narrow" panose="020B0004020202020204" pitchFamily="34" charset="0"/>
              </a:rPr>
              <a:t>mutual dependence</a:t>
            </a:r>
            <a:r>
              <a:rPr lang="en-US" dirty="0">
                <a:latin typeface="Aptos Narrow" panose="020B0004020202020204" pitchFamily="34" charset="0"/>
              </a:rPr>
              <a:t> between predicted labels and ground truth.</a:t>
            </a:r>
          </a:p>
        </p:txBody>
      </p:sp>
      <p:sp>
        <p:nvSpPr>
          <p:cNvPr id="28" name="TextBox 27">
            <a:extLst>
              <a:ext uri="{FF2B5EF4-FFF2-40B4-BE49-F238E27FC236}">
                <a16:creationId xmlns:a16="http://schemas.microsoft.com/office/drawing/2014/main" id="{0593F299-D41E-E5E7-E731-0E558197A871}"/>
              </a:ext>
            </a:extLst>
          </p:cNvPr>
          <p:cNvSpPr txBox="1"/>
          <p:nvPr/>
        </p:nvSpPr>
        <p:spPr>
          <a:xfrm>
            <a:off x="6843254" y="2399474"/>
            <a:ext cx="6425380"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sp>
        <p:nvSpPr>
          <p:cNvPr id="32" name="TextBox 31">
            <a:extLst>
              <a:ext uri="{FF2B5EF4-FFF2-40B4-BE49-F238E27FC236}">
                <a16:creationId xmlns:a16="http://schemas.microsoft.com/office/drawing/2014/main" id="{82781B5C-BC37-D4BC-4E0A-D2F5D129C688}"/>
              </a:ext>
            </a:extLst>
          </p:cNvPr>
          <p:cNvSpPr txBox="1"/>
          <p:nvPr/>
        </p:nvSpPr>
        <p:spPr>
          <a:xfrm>
            <a:off x="6872750" y="2821808"/>
            <a:ext cx="5230759" cy="3139321"/>
          </a:xfrm>
          <a:prstGeom prst="rect">
            <a:avLst/>
          </a:prstGeom>
          <a:noFill/>
        </p:spPr>
        <p:txBody>
          <a:bodyPr wrap="square">
            <a:spAutoFit/>
          </a:bodyPr>
          <a:lstStyle/>
          <a:p>
            <a:r>
              <a:rPr lang="en-US" dirty="0">
                <a:latin typeface="Aptos Narrow" panose="020B0004020202020204" pitchFamily="34" charset="0"/>
              </a:rPr>
              <a:t>Where:</a:t>
            </a:r>
          </a:p>
          <a:p>
            <a:pPr marL="742950" lvl="1" indent="-285750">
              <a:buFont typeface="Wingdings" panose="05000000000000000000" pitchFamily="2" charset="2"/>
              <a:buChar char="q"/>
            </a:pPr>
            <a:r>
              <a:rPr lang="en-US" dirty="0">
                <a:latin typeface="Aptos Narrow" panose="020B0004020202020204" pitchFamily="34" charset="0"/>
              </a:rPr>
              <a:t>I(U;V)  : mutual information between clustering's</a:t>
            </a:r>
          </a:p>
          <a:p>
            <a:pPr marL="742950" lvl="1" indent="-285750">
              <a:buFont typeface="Wingdings" panose="05000000000000000000" pitchFamily="2" charset="2"/>
              <a:buChar char="q"/>
            </a:pPr>
            <a:r>
              <a:rPr lang="en-US" dirty="0">
                <a:latin typeface="Aptos Narrow" panose="020B0004020202020204" pitchFamily="34" charset="0"/>
              </a:rPr>
              <a:t>H(U),H(V) : entropy of each clustering</a:t>
            </a:r>
          </a:p>
          <a:p>
            <a:pPr lvl="1"/>
            <a:endParaRPr lang="en-US" dirty="0">
              <a:latin typeface="Aptos Narrow" panose="020B0004020202020204" pitchFamily="34" charset="0"/>
            </a:endParaRPr>
          </a:p>
          <a:p>
            <a:pPr>
              <a:buFont typeface="Arial" panose="020B0604020202020204" pitchFamily="34" charset="0"/>
              <a:buChar char="•"/>
            </a:pPr>
            <a:r>
              <a:rPr lang="en-US" b="1" dirty="0">
                <a:latin typeface="Aptos Narrow" panose="020B0004020202020204" pitchFamily="34" charset="0"/>
              </a:rPr>
              <a:t>Range</a:t>
            </a:r>
            <a:r>
              <a:rPr lang="en-US" dirty="0">
                <a:latin typeface="Aptos Narrow" panose="020B0004020202020204" pitchFamily="34" charset="0"/>
              </a:rPr>
              <a:t>: 0 to 1</a:t>
            </a:r>
          </a:p>
          <a:p>
            <a:endParaRPr lang="en-US" dirty="0">
              <a:latin typeface="Aptos Narrow" panose="020B0004020202020204" pitchFamily="34" charset="0"/>
            </a:endParaRPr>
          </a:p>
          <a:p>
            <a:pPr marL="742950" lvl="1" indent="-285750">
              <a:buFont typeface="Wingdings" panose="05000000000000000000" pitchFamily="2" charset="2"/>
              <a:buChar char="q"/>
            </a:pPr>
            <a:r>
              <a:rPr lang="en-US" dirty="0">
                <a:latin typeface="Aptos Narrow" panose="020B0004020202020204" pitchFamily="34" charset="0"/>
              </a:rPr>
              <a:t>1 → perfect match</a:t>
            </a:r>
          </a:p>
          <a:p>
            <a:pPr marL="742950" lvl="1" indent="-285750">
              <a:buFont typeface="Wingdings" panose="05000000000000000000" pitchFamily="2" charset="2"/>
              <a:buChar char="q"/>
            </a:pPr>
            <a:r>
              <a:rPr lang="en-US" dirty="0">
                <a:latin typeface="Aptos Narrow" panose="020B0004020202020204" pitchFamily="34" charset="0"/>
              </a:rPr>
              <a:t>0 → no mutual information</a:t>
            </a: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clusters are of unequal size or not uniformly distributed.</a:t>
            </a:r>
          </a:p>
        </p:txBody>
      </p:sp>
      <p:sp>
        <p:nvSpPr>
          <p:cNvPr id="3" name="TextBox 2">
            <a:extLst>
              <a:ext uri="{FF2B5EF4-FFF2-40B4-BE49-F238E27FC236}">
                <a16:creationId xmlns:a16="http://schemas.microsoft.com/office/drawing/2014/main" id="{92D5F141-A06F-D19B-3B12-62EE60CD0A11}"/>
              </a:ext>
            </a:extLst>
          </p:cNvPr>
          <p:cNvSpPr txBox="1"/>
          <p:nvPr/>
        </p:nvSpPr>
        <p:spPr>
          <a:xfrm>
            <a:off x="471951" y="2376143"/>
            <a:ext cx="6636774" cy="369332"/>
          </a:xfrm>
          <a:prstGeom prst="rect">
            <a:avLst/>
          </a:prstGeom>
          <a:noFill/>
        </p:spPr>
        <p:txBody>
          <a:bodyPr wrap="square">
            <a:spAutoFit/>
          </a:bodyPr>
          <a:lstStyle/>
          <a:p>
            <a:r>
              <a:rPr lang="en-US" b="1" dirty="0">
                <a:latin typeface="Aptos Narrow" panose="020B0004020202020204" pitchFamily="34" charset="0"/>
              </a:rPr>
              <a:t>Formula:</a:t>
            </a:r>
            <a:endParaRPr lang="en-US" dirty="0">
              <a:latin typeface="Aptos Narrow" panose="020B0004020202020204" pitchFamily="34" charset="0"/>
            </a:endParaRPr>
          </a:p>
        </p:txBody>
      </p:sp>
    </p:spTree>
    <p:extLst>
      <p:ext uri="{BB962C8B-B14F-4D97-AF65-F5344CB8AC3E}">
        <p14:creationId xmlns:p14="http://schemas.microsoft.com/office/powerpoint/2010/main" val="3029212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CF042E-F9DB-E863-ED7D-1D5A71063372}"/>
              </a:ext>
            </a:extLst>
          </p:cNvPr>
          <p:cNvSpPr txBox="1"/>
          <p:nvPr/>
        </p:nvSpPr>
        <p:spPr>
          <a:xfrm>
            <a:off x="609602" y="1191851"/>
            <a:ext cx="6096000"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3. Fowlkes–Mallows Index (FMI)</a:t>
            </a:r>
          </a:p>
        </p:txBody>
      </p:sp>
      <p:sp>
        <p:nvSpPr>
          <p:cNvPr id="7" name="TextBox 6">
            <a:extLst>
              <a:ext uri="{FF2B5EF4-FFF2-40B4-BE49-F238E27FC236}">
                <a16:creationId xmlns:a16="http://schemas.microsoft.com/office/drawing/2014/main" id="{D8D4F9B0-B7CA-8176-A2B8-79C6BB27B0B7}"/>
              </a:ext>
            </a:extLst>
          </p:cNvPr>
          <p:cNvSpPr txBox="1"/>
          <p:nvPr/>
        </p:nvSpPr>
        <p:spPr>
          <a:xfrm>
            <a:off x="609602" y="1698483"/>
            <a:ext cx="4630993" cy="646331"/>
          </a:xfrm>
          <a:prstGeom prst="rect">
            <a:avLst/>
          </a:prstGeom>
          <a:noFill/>
        </p:spPr>
        <p:txBody>
          <a:bodyPr wrap="square">
            <a:spAutoFit/>
          </a:bodyPr>
          <a:lstStyle/>
          <a:p>
            <a:pPr>
              <a:buNone/>
            </a:pPr>
            <a:r>
              <a:rPr lang="en-US" dirty="0">
                <a:latin typeface="Aptos Narrow" panose="020B0004020202020204" pitchFamily="34" charset="0"/>
              </a:rPr>
              <a:t>Measures the </a:t>
            </a:r>
            <a:r>
              <a:rPr lang="en-US" b="1" dirty="0">
                <a:latin typeface="Aptos Narrow" panose="020B0004020202020204" pitchFamily="34" charset="0"/>
              </a:rPr>
              <a:t>geometric mean of precision and recall</a:t>
            </a:r>
            <a:r>
              <a:rPr lang="en-US" dirty="0">
                <a:latin typeface="Aptos Narrow" panose="020B0004020202020204" pitchFamily="34" charset="0"/>
              </a:rPr>
              <a:t> for cluster pairs.</a:t>
            </a:r>
          </a:p>
        </p:txBody>
      </p:sp>
      <p:sp>
        <p:nvSpPr>
          <p:cNvPr id="9" name="TextBox 8">
            <a:extLst>
              <a:ext uri="{FF2B5EF4-FFF2-40B4-BE49-F238E27FC236}">
                <a16:creationId xmlns:a16="http://schemas.microsoft.com/office/drawing/2014/main" id="{2EC0B267-7AA9-71F1-F2FE-4DDE97378147}"/>
              </a:ext>
            </a:extLst>
          </p:cNvPr>
          <p:cNvSpPr txBox="1"/>
          <p:nvPr/>
        </p:nvSpPr>
        <p:spPr>
          <a:xfrm>
            <a:off x="609601" y="2570712"/>
            <a:ext cx="6096000" cy="369332"/>
          </a:xfrm>
          <a:prstGeom prst="rect">
            <a:avLst/>
          </a:prstGeom>
          <a:noFill/>
        </p:spPr>
        <p:txBody>
          <a:bodyPr wrap="square">
            <a:spAutoFit/>
          </a:bodyPr>
          <a:lstStyle/>
          <a:p>
            <a:pPr>
              <a:buNone/>
            </a:pPr>
            <a:r>
              <a:rPr lang="en-US" b="1" dirty="0">
                <a:latin typeface="Aptos Narrow" panose="020B0004020202020204" pitchFamily="34" charset="0"/>
              </a:rPr>
              <a:t>Formula</a:t>
            </a:r>
            <a:r>
              <a:rPr lang="en-US" dirty="0">
                <a:latin typeface="Aptos Narrow" panose="020B0004020202020204" pitchFamily="34" charset="0"/>
              </a:rPr>
              <a:t>:</a:t>
            </a:r>
          </a:p>
        </p:txBody>
      </p:sp>
      <p:sp>
        <p:nvSpPr>
          <p:cNvPr id="11" name="TextBox 10">
            <a:extLst>
              <a:ext uri="{FF2B5EF4-FFF2-40B4-BE49-F238E27FC236}">
                <a16:creationId xmlns:a16="http://schemas.microsoft.com/office/drawing/2014/main" id="{E9F68636-553A-62C3-4CF8-93B7BB5C5072}"/>
              </a:ext>
            </a:extLst>
          </p:cNvPr>
          <p:cNvSpPr txBox="1"/>
          <p:nvPr/>
        </p:nvSpPr>
        <p:spPr>
          <a:xfrm>
            <a:off x="609602" y="3167287"/>
            <a:ext cx="5407740" cy="2862322"/>
          </a:xfrm>
          <a:prstGeom prst="rect">
            <a:avLst/>
          </a:prstGeom>
          <a:noFill/>
        </p:spPr>
        <p:txBody>
          <a:bodyPr wrap="square">
            <a:spAutoFit/>
          </a:bodyPr>
          <a:lstStyle/>
          <a:p>
            <a:r>
              <a:rPr lang="en-US" dirty="0">
                <a:latin typeface="Aptos Narrow" panose="020B0004020202020204" pitchFamily="34" charset="0"/>
              </a:rPr>
              <a:t>where:</a:t>
            </a:r>
          </a:p>
          <a:p>
            <a:pPr marL="742950" lvl="1" indent="-285750">
              <a:buFont typeface="Wingdings" panose="05000000000000000000" pitchFamily="2" charset="2"/>
              <a:buChar char="q"/>
            </a:pPr>
            <a:r>
              <a:rPr lang="en-US" dirty="0">
                <a:latin typeface="Aptos Narrow" panose="020B0004020202020204" pitchFamily="34" charset="0"/>
              </a:rPr>
              <a:t>TP = true positives (same cluster in both true</a:t>
            </a:r>
          </a:p>
          <a:p>
            <a:pPr marL="742950" lvl="1" indent="-285750">
              <a:buFont typeface="Wingdings" panose="05000000000000000000" pitchFamily="2" charset="2"/>
              <a:buChar char="q"/>
            </a:pPr>
            <a:r>
              <a:rPr lang="en-US" dirty="0">
                <a:latin typeface="Aptos Narrow" panose="020B0004020202020204" pitchFamily="34" charset="0"/>
              </a:rPr>
              <a:t> and predicted)</a:t>
            </a:r>
          </a:p>
          <a:p>
            <a:pPr marL="742950" lvl="1" indent="-285750">
              <a:buFont typeface="Wingdings" panose="05000000000000000000" pitchFamily="2" charset="2"/>
              <a:buChar char="q"/>
            </a:pPr>
            <a:r>
              <a:rPr lang="en-US" dirty="0">
                <a:latin typeface="Aptos Narrow" panose="020B0004020202020204" pitchFamily="34" charset="0"/>
              </a:rPr>
              <a:t>FP = false positives</a:t>
            </a:r>
          </a:p>
          <a:p>
            <a:pPr marL="742950" lvl="1" indent="-285750">
              <a:buFont typeface="Wingdings" panose="05000000000000000000" pitchFamily="2" charset="2"/>
              <a:buChar char="q"/>
            </a:pPr>
            <a:r>
              <a:rPr lang="en-US" dirty="0">
                <a:latin typeface="Aptos Narrow" panose="020B0004020202020204" pitchFamily="34" charset="0"/>
              </a:rPr>
              <a:t>FN = false negatives</a:t>
            </a:r>
          </a:p>
          <a:p>
            <a:pPr lvl="1"/>
            <a:endParaRPr lang="en-US" dirty="0">
              <a:latin typeface="Aptos Narrow" panose="020B0004020202020204" pitchFamily="34" charset="0"/>
            </a:endParaRPr>
          </a:p>
          <a:p>
            <a:pPr>
              <a:buFont typeface="Arial" panose="020B0604020202020204" pitchFamily="34" charset="0"/>
              <a:buChar char="•"/>
            </a:pPr>
            <a:r>
              <a:rPr lang="en-US" b="1" dirty="0">
                <a:latin typeface="Aptos Narrow" panose="020B0004020202020204" pitchFamily="34" charset="0"/>
              </a:rPr>
              <a:t>Range</a:t>
            </a:r>
            <a:r>
              <a:rPr lang="en-US" dirty="0">
                <a:latin typeface="Aptos Narrow" panose="020B0004020202020204" pitchFamily="34" charset="0"/>
              </a:rPr>
              <a:t>: 0 to 1 (Higher is better)</a:t>
            </a:r>
          </a:p>
          <a:p>
            <a:pPr>
              <a:buFont typeface="Arial" panose="020B0604020202020204" pitchFamily="34" charset="0"/>
              <a:buChar char="•"/>
            </a:pPr>
            <a:endParaRPr lang="en-US" dirty="0">
              <a:latin typeface="Aptos Narrow" panose="020B0004020202020204" pitchFamily="34" charset="0"/>
            </a:endParaRPr>
          </a:p>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you want a balance between precision and recall for clustering.</a:t>
            </a:r>
          </a:p>
        </p:txBody>
      </p:sp>
      <p:pic>
        <p:nvPicPr>
          <p:cNvPr id="13" name="Picture 12">
            <a:extLst>
              <a:ext uri="{FF2B5EF4-FFF2-40B4-BE49-F238E27FC236}">
                <a16:creationId xmlns:a16="http://schemas.microsoft.com/office/drawing/2014/main" id="{26FA5BE5-419D-B019-20C4-A377B3091D09}"/>
              </a:ext>
            </a:extLst>
          </p:cNvPr>
          <p:cNvPicPr>
            <a:picLocks noChangeAspect="1"/>
          </p:cNvPicPr>
          <p:nvPr/>
        </p:nvPicPr>
        <p:blipFill>
          <a:blip r:embed="rId2"/>
          <a:stretch>
            <a:fillRect/>
          </a:stretch>
        </p:blipFill>
        <p:spPr>
          <a:xfrm>
            <a:off x="1701836" y="2256224"/>
            <a:ext cx="2987299" cy="998307"/>
          </a:xfrm>
          <a:prstGeom prst="rect">
            <a:avLst/>
          </a:prstGeom>
        </p:spPr>
      </p:pic>
      <p:sp>
        <p:nvSpPr>
          <p:cNvPr id="15" name="TextBox 14">
            <a:extLst>
              <a:ext uri="{FF2B5EF4-FFF2-40B4-BE49-F238E27FC236}">
                <a16:creationId xmlns:a16="http://schemas.microsoft.com/office/drawing/2014/main" id="{55CEC37F-52DD-F541-1AB5-D4FB1F120982}"/>
              </a:ext>
            </a:extLst>
          </p:cNvPr>
          <p:cNvSpPr txBox="1"/>
          <p:nvPr/>
        </p:nvSpPr>
        <p:spPr>
          <a:xfrm>
            <a:off x="6135331" y="1191851"/>
            <a:ext cx="6096000"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4. Homogeneity, Completeness, and V-Measure</a:t>
            </a:r>
          </a:p>
        </p:txBody>
      </p:sp>
      <p:sp>
        <p:nvSpPr>
          <p:cNvPr id="17" name="TextBox 16">
            <a:extLst>
              <a:ext uri="{FF2B5EF4-FFF2-40B4-BE49-F238E27FC236}">
                <a16:creationId xmlns:a16="http://schemas.microsoft.com/office/drawing/2014/main" id="{BBCB8359-31ED-5F88-8A7D-DF6817BB617E}"/>
              </a:ext>
            </a:extLst>
          </p:cNvPr>
          <p:cNvSpPr txBox="1"/>
          <p:nvPr/>
        </p:nvSpPr>
        <p:spPr>
          <a:xfrm>
            <a:off x="6332829" y="1568518"/>
            <a:ext cx="5692878" cy="1754326"/>
          </a:xfrm>
          <a:prstGeom prst="rect">
            <a:avLst/>
          </a:prstGeom>
          <a:noFill/>
        </p:spPr>
        <p:txBody>
          <a:bodyPr wrap="square">
            <a:spAutoFit/>
          </a:bodyPr>
          <a:lstStyle/>
          <a:p>
            <a:pPr>
              <a:buNone/>
            </a:pPr>
            <a:r>
              <a:rPr lang="en-US" dirty="0">
                <a:latin typeface="Aptos Narrow" panose="020B0004020202020204" pitchFamily="34" charset="0"/>
              </a:rPr>
              <a:t>These three metrics form a </a:t>
            </a:r>
            <a:r>
              <a:rPr lang="en-US" b="1" dirty="0">
                <a:latin typeface="Aptos Narrow" panose="020B0004020202020204" pitchFamily="34" charset="0"/>
              </a:rPr>
              <a:t>composite evaluation</a:t>
            </a:r>
            <a:r>
              <a:rPr lang="en-US" dirty="0">
                <a:latin typeface="Aptos Narrow" panose="020B0004020202020204" pitchFamily="34" charset="0"/>
              </a:rPr>
              <a:t>.</a:t>
            </a:r>
          </a:p>
          <a:p>
            <a:pPr marL="285750" indent="-285750">
              <a:buFont typeface="Wingdings" panose="05000000000000000000" pitchFamily="2" charset="2"/>
              <a:buChar char="v"/>
            </a:pPr>
            <a:r>
              <a:rPr lang="en-US" b="1" dirty="0">
                <a:latin typeface="Aptos Narrow" panose="020B0004020202020204" pitchFamily="34" charset="0"/>
              </a:rPr>
              <a:t>Homogeneity</a:t>
            </a:r>
            <a:r>
              <a:rPr lang="en-US" dirty="0">
                <a:latin typeface="Aptos Narrow" panose="020B0004020202020204" pitchFamily="34" charset="0"/>
              </a:rPr>
              <a:t>: Each cluster contains only members of a single class</a:t>
            </a:r>
          </a:p>
          <a:p>
            <a:pPr marL="285750" indent="-285750">
              <a:buFont typeface="Wingdings" panose="05000000000000000000" pitchFamily="2" charset="2"/>
              <a:buChar char="v"/>
            </a:pPr>
            <a:r>
              <a:rPr lang="en-US" b="1" dirty="0">
                <a:latin typeface="Aptos Narrow" panose="020B0004020202020204" pitchFamily="34" charset="0"/>
              </a:rPr>
              <a:t>Completeness</a:t>
            </a:r>
            <a:r>
              <a:rPr lang="en-US" dirty="0">
                <a:latin typeface="Aptos Narrow" panose="020B0004020202020204" pitchFamily="34" charset="0"/>
              </a:rPr>
              <a:t>: All members of a given class are assigned to the same cluster</a:t>
            </a:r>
          </a:p>
          <a:p>
            <a:pPr marL="285750" indent="-285750">
              <a:buFont typeface="Wingdings" panose="05000000000000000000" pitchFamily="2" charset="2"/>
              <a:buChar char="v"/>
            </a:pPr>
            <a:r>
              <a:rPr lang="en-US" b="1" dirty="0">
                <a:latin typeface="Aptos Narrow" panose="020B0004020202020204" pitchFamily="34" charset="0"/>
              </a:rPr>
              <a:t>V-Measure</a:t>
            </a:r>
            <a:r>
              <a:rPr lang="en-US" dirty="0">
                <a:latin typeface="Aptos Narrow" panose="020B0004020202020204" pitchFamily="34" charset="0"/>
              </a:rPr>
              <a:t>: Harmonic mean of the above two</a:t>
            </a:r>
          </a:p>
        </p:txBody>
      </p:sp>
      <p:pic>
        <p:nvPicPr>
          <p:cNvPr id="19" name="Picture 18">
            <a:extLst>
              <a:ext uri="{FF2B5EF4-FFF2-40B4-BE49-F238E27FC236}">
                <a16:creationId xmlns:a16="http://schemas.microsoft.com/office/drawing/2014/main" id="{C7962977-5EBA-95A9-2409-460F2B6DCC14}"/>
              </a:ext>
            </a:extLst>
          </p:cNvPr>
          <p:cNvPicPr>
            <a:picLocks noChangeAspect="1"/>
          </p:cNvPicPr>
          <p:nvPr/>
        </p:nvPicPr>
        <p:blipFill>
          <a:blip r:embed="rId3"/>
          <a:stretch>
            <a:fillRect/>
          </a:stretch>
        </p:blipFill>
        <p:spPr>
          <a:xfrm>
            <a:off x="6705601" y="3499582"/>
            <a:ext cx="4532823" cy="646331"/>
          </a:xfrm>
          <a:prstGeom prst="rect">
            <a:avLst/>
          </a:prstGeom>
        </p:spPr>
      </p:pic>
      <p:sp>
        <p:nvSpPr>
          <p:cNvPr id="21" name="TextBox 20">
            <a:extLst>
              <a:ext uri="{FF2B5EF4-FFF2-40B4-BE49-F238E27FC236}">
                <a16:creationId xmlns:a16="http://schemas.microsoft.com/office/drawing/2014/main" id="{27DC7E53-651F-F4F9-D450-3EB95D353FD8}"/>
              </a:ext>
            </a:extLst>
          </p:cNvPr>
          <p:cNvSpPr txBox="1"/>
          <p:nvPr/>
        </p:nvSpPr>
        <p:spPr>
          <a:xfrm>
            <a:off x="6450037" y="4275282"/>
            <a:ext cx="5043949" cy="646331"/>
          </a:xfrm>
          <a:prstGeom prst="rect">
            <a:avLst/>
          </a:prstGeom>
          <a:noFill/>
        </p:spPr>
        <p:txBody>
          <a:bodyPr wrap="square">
            <a:spAutoFit/>
          </a:bodyPr>
          <a:lstStyle/>
          <a:p>
            <a:pPr>
              <a:buNone/>
            </a:pPr>
            <a:r>
              <a:rPr lang="en-US" dirty="0">
                <a:latin typeface="Aptos Narrow" panose="020B0004020202020204" pitchFamily="34" charset="0"/>
              </a:rPr>
              <a:t>✔️ </a:t>
            </a:r>
            <a:r>
              <a:rPr lang="en-US" b="1" dirty="0">
                <a:latin typeface="Aptos Narrow" panose="020B0004020202020204" pitchFamily="34" charset="0"/>
              </a:rPr>
              <a:t>Use when</a:t>
            </a:r>
            <a:r>
              <a:rPr lang="en-US" dirty="0">
                <a:latin typeface="Aptos Narrow" panose="020B0004020202020204" pitchFamily="34" charset="0"/>
              </a:rPr>
              <a:t> you want interpretable, class-specific cluster quality.</a:t>
            </a:r>
          </a:p>
        </p:txBody>
      </p:sp>
    </p:spTree>
    <p:extLst>
      <p:ext uri="{BB962C8B-B14F-4D97-AF65-F5344CB8AC3E}">
        <p14:creationId xmlns:p14="http://schemas.microsoft.com/office/powerpoint/2010/main" val="3020063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C6380B-FDC5-6695-FCE3-115C6B5C90B5}"/>
              </a:ext>
            </a:extLst>
          </p:cNvPr>
          <p:cNvSpPr txBox="1"/>
          <p:nvPr/>
        </p:nvSpPr>
        <p:spPr>
          <a:xfrm>
            <a:off x="717754" y="1063388"/>
            <a:ext cx="6096000" cy="369332"/>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3. Relative Cluster Validation Metrics</a:t>
            </a:r>
          </a:p>
        </p:txBody>
      </p:sp>
      <p:sp>
        <p:nvSpPr>
          <p:cNvPr id="7" name="TextBox 6">
            <a:extLst>
              <a:ext uri="{FF2B5EF4-FFF2-40B4-BE49-F238E27FC236}">
                <a16:creationId xmlns:a16="http://schemas.microsoft.com/office/drawing/2014/main" id="{5CA68F67-1319-61D0-5E8D-C26EC3C2B7A6}"/>
              </a:ext>
            </a:extLst>
          </p:cNvPr>
          <p:cNvSpPr txBox="1"/>
          <p:nvPr/>
        </p:nvSpPr>
        <p:spPr>
          <a:xfrm>
            <a:off x="717754" y="1492114"/>
            <a:ext cx="10874477" cy="646331"/>
          </a:xfrm>
          <a:prstGeom prst="rect">
            <a:avLst/>
          </a:prstGeom>
          <a:noFill/>
        </p:spPr>
        <p:txBody>
          <a:bodyPr wrap="square">
            <a:spAutoFit/>
          </a:bodyPr>
          <a:lstStyle/>
          <a:p>
            <a:r>
              <a:rPr lang="en-US" b="1" dirty="0">
                <a:latin typeface="Aptos Narrow" panose="020B0004020202020204" pitchFamily="34" charset="0"/>
              </a:rPr>
              <a:t>Relative validation</a:t>
            </a:r>
            <a:r>
              <a:rPr lang="en-US" dirty="0">
                <a:latin typeface="Aptos Narrow" panose="020B0004020202020204" pitchFamily="34" charset="0"/>
              </a:rPr>
              <a:t> helps you compare clustering results across different configurations (e.g., different numbers of clusters </a:t>
            </a:r>
            <a:r>
              <a:rPr lang="en-US" b="1" dirty="0">
                <a:latin typeface="Aptos Narrow" panose="020B0004020202020204" pitchFamily="34" charset="0"/>
              </a:rPr>
              <a:t>k</a:t>
            </a:r>
            <a:r>
              <a:rPr lang="en-US" dirty="0">
                <a:latin typeface="Aptos Narrow" panose="020B0004020202020204" pitchFamily="34" charset="0"/>
              </a:rPr>
              <a:t>) to choose the </a:t>
            </a:r>
            <a:r>
              <a:rPr lang="en-US" b="1" dirty="0">
                <a:latin typeface="Aptos Narrow" panose="020B0004020202020204" pitchFamily="34" charset="0"/>
              </a:rPr>
              <a:t>optimal number of clusters</a:t>
            </a:r>
            <a:r>
              <a:rPr lang="en-US" dirty="0">
                <a:latin typeface="Aptos Narrow" panose="020B0004020202020204" pitchFamily="34" charset="0"/>
              </a:rPr>
              <a:t>.</a:t>
            </a:r>
          </a:p>
        </p:txBody>
      </p:sp>
      <p:sp>
        <p:nvSpPr>
          <p:cNvPr id="9" name="TextBox 8">
            <a:extLst>
              <a:ext uri="{FF2B5EF4-FFF2-40B4-BE49-F238E27FC236}">
                <a16:creationId xmlns:a16="http://schemas.microsoft.com/office/drawing/2014/main" id="{C1C7FD8B-1DD1-169A-E737-5A1F891EFB47}"/>
              </a:ext>
            </a:extLst>
          </p:cNvPr>
          <p:cNvSpPr txBox="1"/>
          <p:nvPr/>
        </p:nvSpPr>
        <p:spPr>
          <a:xfrm>
            <a:off x="668592" y="2233354"/>
            <a:ext cx="10284543" cy="646331"/>
          </a:xfrm>
          <a:prstGeom prst="rect">
            <a:avLst/>
          </a:prstGeom>
          <a:noFill/>
        </p:spPr>
        <p:txBody>
          <a:bodyPr wrap="square">
            <a:spAutoFit/>
          </a:bodyPr>
          <a:lstStyle/>
          <a:p>
            <a:r>
              <a:rPr lang="en-US" dirty="0">
                <a:latin typeface="Aptos Narrow" panose="020B0004020202020204" pitchFamily="34" charset="0"/>
              </a:rPr>
              <a:t>Unlike internal or external metrics, relative validation doesn't give a score in isolation — it helps you decide </a:t>
            </a:r>
            <a:r>
              <a:rPr lang="en-US" b="1" dirty="0">
                <a:latin typeface="Aptos Narrow" panose="020B0004020202020204" pitchFamily="34" charset="0"/>
              </a:rPr>
              <a:t>"which model is better?"</a:t>
            </a:r>
            <a:endParaRPr lang="en-US" dirty="0">
              <a:latin typeface="Aptos Narrow" panose="020B0004020202020204" pitchFamily="34" charset="0"/>
            </a:endParaRPr>
          </a:p>
        </p:txBody>
      </p:sp>
      <p:sp>
        <p:nvSpPr>
          <p:cNvPr id="11" name="TextBox 10">
            <a:extLst>
              <a:ext uri="{FF2B5EF4-FFF2-40B4-BE49-F238E27FC236}">
                <a16:creationId xmlns:a16="http://schemas.microsoft.com/office/drawing/2014/main" id="{F6869480-B80D-4C52-3F70-8B33F19CE12F}"/>
              </a:ext>
            </a:extLst>
          </p:cNvPr>
          <p:cNvSpPr txBox="1"/>
          <p:nvPr/>
        </p:nvSpPr>
        <p:spPr>
          <a:xfrm>
            <a:off x="619432" y="2879685"/>
            <a:ext cx="6508956" cy="3139321"/>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1. Elbow Method (Using WCSS)</a:t>
            </a:r>
          </a:p>
          <a:p>
            <a:pPr>
              <a:buNone/>
            </a:pPr>
            <a:endParaRPr lang="en-US" b="1" dirty="0">
              <a:latin typeface="Aptos Narrow" panose="020B0004020202020204" pitchFamily="34" charset="0"/>
            </a:endParaRPr>
          </a:p>
          <a:p>
            <a:r>
              <a:rPr lang="en-US" b="1" dirty="0">
                <a:latin typeface="Aptos Narrow" panose="020B0004020202020204" pitchFamily="34" charset="0"/>
              </a:rPr>
              <a:t>WCSS</a:t>
            </a:r>
            <a:r>
              <a:rPr lang="en-US" dirty="0">
                <a:latin typeface="Aptos Narrow" panose="020B0004020202020204" pitchFamily="34" charset="0"/>
              </a:rPr>
              <a:t>: Within-Cluster Sum of Squares</a:t>
            </a:r>
            <a:br>
              <a:rPr lang="en-US" dirty="0">
                <a:latin typeface="Aptos Narrow" panose="020B0004020202020204" pitchFamily="34" charset="0"/>
              </a:rPr>
            </a:br>
            <a:r>
              <a:rPr lang="en-US" dirty="0">
                <a:latin typeface="Aptos Narrow" panose="020B0004020202020204" pitchFamily="34" charset="0"/>
              </a:rPr>
              <a:t>Measures the total variance </a:t>
            </a:r>
            <a:r>
              <a:rPr lang="en-US" b="1" dirty="0">
                <a:latin typeface="Aptos Narrow" panose="020B0004020202020204" pitchFamily="34" charset="0"/>
              </a:rPr>
              <a:t>within</a:t>
            </a:r>
            <a:r>
              <a:rPr lang="en-US" dirty="0">
                <a:latin typeface="Aptos Narrow" panose="020B0004020202020204" pitchFamily="34" charset="0"/>
              </a:rPr>
              <a:t> each cluster.</a:t>
            </a:r>
          </a:p>
          <a:p>
            <a:r>
              <a:rPr lang="en-US" b="1" dirty="0">
                <a:latin typeface="Aptos Narrow" panose="020B0004020202020204" pitchFamily="34" charset="0"/>
              </a:rPr>
              <a:t>Process</a:t>
            </a:r>
            <a:r>
              <a:rPr lang="en-US" dirty="0">
                <a:latin typeface="Aptos Narrow" panose="020B0004020202020204" pitchFamily="34" charset="0"/>
              </a:rPr>
              <a:t>:</a:t>
            </a:r>
          </a:p>
          <a:p>
            <a:pPr marL="742950" lvl="1" indent="-285750">
              <a:buFont typeface="Arial" panose="020B0604020202020204" pitchFamily="34" charset="0"/>
              <a:buChar char="•"/>
            </a:pPr>
            <a:r>
              <a:rPr lang="en-US" dirty="0">
                <a:latin typeface="Aptos Narrow" panose="020B0004020202020204" pitchFamily="34" charset="0"/>
              </a:rPr>
              <a:t>Run K-Means (or similar) for various </a:t>
            </a:r>
            <a:r>
              <a:rPr lang="en-US" dirty="0" err="1">
                <a:latin typeface="Aptos Narrow" panose="020B0004020202020204" pitchFamily="34" charset="0"/>
              </a:rPr>
              <a:t>kkk</a:t>
            </a:r>
            <a:r>
              <a:rPr lang="en-US" dirty="0">
                <a:latin typeface="Aptos Narrow" panose="020B0004020202020204" pitchFamily="34" charset="0"/>
              </a:rPr>
              <a:t> values.</a:t>
            </a:r>
          </a:p>
          <a:p>
            <a:pPr marL="742950" lvl="1" indent="-285750">
              <a:buFont typeface="Arial" panose="020B0604020202020204" pitchFamily="34" charset="0"/>
              <a:buChar char="•"/>
            </a:pPr>
            <a:r>
              <a:rPr lang="en-US" dirty="0">
                <a:latin typeface="Aptos Narrow" panose="020B0004020202020204" pitchFamily="34" charset="0"/>
              </a:rPr>
              <a:t>Plot </a:t>
            </a:r>
            <a:r>
              <a:rPr lang="en-US" dirty="0" err="1">
                <a:latin typeface="Aptos Narrow" panose="020B0004020202020204" pitchFamily="34" charset="0"/>
              </a:rPr>
              <a:t>kkk</a:t>
            </a:r>
            <a:r>
              <a:rPr lang="en-US" dirty="0">
                <a:latin typeface="Aptos Narrow" panose="020B0004020202020204" pitchFamily="34" charset="0"/>
              </a:rPr>
              <a:t> vs. WCSS.</a:t>
            </a:r>
          </a:p>
          <a:p>
            <a:pPr marL="742950" lvl="1" indent="-285750">
              <a:buFont typeface="Arial" panose="020B0604020202020204" pitchFamily="34" charset="0"/>
              <a:buChar char="•"/>
            </a:pPr>
            <a:r>
              <a:rPr lang="en-US" dirty="0">
                <a:latin typeface="Aptos Narrow" panose="020B0004020202020204" pitchFamily="34" charset="0"/>
              </a:rPr>
              <a:t>Look for the "elbow point" where the rate of WCSS reduction slows.</a:t>
            </a:r>
          </a:p>
          <a:p>
            <a:r>
              <a:rPr lang="en-US" b="1" dirty="0">
                <a:latin typeface="Aptos Narrow" panose="020B0004020202020204" pitchFamily="34" charset="0"/>
              </a:rPr>
              <a:t>Goal</a:t>
            </a:r>
            <a:r>
              <a:rPr lang="en-US" dirty="0">
                <a:latin typeface="Aptos Narrow" panose="020B0004020202020204" pitchFamily="34" charset="0"/>
              </a:rPr>
              <a:t>: Find the smallest </a:t>
            </a:r>
            <a:r>
              <a:rPr lang="en-US" dirty="0" err="1">
                <a:latin typeface="Aptos Narrow" panose="020B0004020202020204" pitchFamily="34" charset="0"/>
              </a:rPr>
              <a:t>kkk</a:t>
            </a:r>
            <a:r>
              <a:rPr lang="en-US" dirty="0">
                <a:latin typeface="Aptos Narrow" panose="020B0004020202020204" pitchFamily="34" charset="0"/>
              </a:rPr>
              <a:t> that gives you the most gain in compactness.</a:t>
            </a:r>
          </a:p>
        </p:txBody>
      </p:sp>
      <p:sp>
        <p:nvSpPr>
          <p:cNvPr id="13" name="TextBox 12">
            <a:extLst>
              <a:ext uri="{FF2B5EF4-FFF2-40B4-BE49-F238E27FC236}">
                <a16:creationId xmlns:a16="http://schemas.microsoft.com/office/drawing/2014/main" id="{7D3F6E44-7CEC-1EC0-85F1-EF78DE3DCAAA}"/>
              </a:ext>
            </a:extLst>
          </p:cNvPr>
          <p:cNvSpPr txBox="1"/>
          <p:nvPr/>
        </p:nvSpPr>
        <p:spPr>
          <a:xfrm>
            <a:off x="7216877" y="3429000"/>
            <a:ext cx="4178710" cy="1298882"/>
          </a:xfrm>
          <a:prstGeom prst="rect">
            <a:avLst/>
          </a:prstGeom>
          <a:noFill/>
        </p:spPr>
        <p:txBody>
          <a:bodyPr wrap="square">
            <a:spAutoFit/>
          </a:bodyPr>
          <a:lstStyle/>
          <a:p>
            <a:pPr>
              <a:lnSpc>
                <a:spcPct val="150000"/>
              </a:lnSpc>
              <a:buNone/>
            </a:pPr>
            <a:r>
              <a:rPr lang="en-US" b="1" dirty="0">
                <a:latin typeface="Aptos Narrow" panose="020B0004020202020204" pitchFamily="34" charset="0"/>
              </a:rPr>
              <a:t>✅ Ideal for:</a:t>
            </a:r>
          </a:p>
          <a:p>
            <a:pPr marL="285750" indent="-285750">
              <a:lnSpc>
                <a:spcPct val="150000"/>
              </a:lnSpc>
              <a:buFont typeface="Wingdings" panose="05000000000000000000" pitchFamily="2" charset="2"/>
              <a:buChar char="q"/>
            </a:pPr>
            <a:r>
              <a:rPr lang="en-US" dirty="0">
                <a:latin typeface="Aptos Narrow" panose="020B0004020202020204" pitchFamily="34" charset="0"/>
              </a:rPr>
              <a:t>K-Means clustering</a:t>
            </a:r>
          </a:p>
          <a:p>
            <a:pPr marL="285750" indent="-285750">
              <a:lnSpc>
                <a:spcPct val="150000"/>
              </a:lnSpc>
              <a:buFont typeface="Wingdings" panose="05000000000000000000" pitchFamily="2" charset="2"/>
              <a:buChar char="q"/>
            </a:pPr>
            <a:r>
              <a:rPr lang="en-US" dirty="0">
                <a:latin typeface="Aptos Narrow" panose="020B0004020202020204" pitchFamily="34" charset="0"/>
              </a:rPr>
              <a:t>Well-separated, spherical clusters</a:t>
            </a:r>
          </a:p>
        </p:txBody>
      </p:sp>
    </p:spTree>
    <p:extLst>
      <p:ext uri="{BB962C8B-B14F-4D97-AF65-F5344CB8AC3E}">
        <p14:creationId xmlns:p14="http://schemas.microsoft.com/office/powerpoint/2010/main" val="3896362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2DD19E-B546-F72D-E784-31B804E6FC7F}"/>
              </a:ext>
            </a:extLst>
          </p:cNvPr>
          <p:cNvPicPr>
            <a:picLocks noChangeAspect="1"/>
          </p:cNvPicPr>
          <p:nvPr/>
        </p:nvPicPr>
        <p:blipFill>
          <a:blip r:embed="rId2"/>
          <a:stretch>
            <a:fillRect/>
          </a:stretch>
        </p:blipFill>
        <p:spPr>
          <a:xfrm>
            <a:off x="1582994" y="2259986"/>
            <a:ext cx="6391514" cy="2312014"/>
          </a:xfrm>
          <a:prstGeom prst="rect">
            <a:avLst/>
          </a:prstGeom>
        </p:spPr>
      </p:pic>
      <p:sp>
        <p:nvSpPr>
          <p:cNvPr id="5" name="TextBox 4">
            <a:extLst>
              <a:ext uri="{FF2B5EF4-FFF2-40B4-BE49-F238E27FC236}">
                <a16:creationId xmlns:a16="http://schemas.microsoft.com/office/drawing/2014/main" id="{F32DF07F-EBE8-A507-E26F-6EAE8843272C}"/>
              </a:ext>
            </a:extLst>
          </p:cNvPr>
          <p:cNvSpPr txBox="1"/>
          <p:nvPr/>
        </p:nvSpPr>
        <p:spPr>
          <a:xfrm>
            <a:off x="422787" y="1112479"/>
            <a:ext cx="10186219" cy="4247317"/>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2. Gap Statistic</a:t>
            </a:r>
          </a:p>
          <a:p>
            <a:pPr>
              <a:buNone/>
            </a:pPr>
            <a:r>
              <a:rPr lang="en-US" dirty="0">
                <a:latin typeface="Aptos Narrow" panose="020B0004020202020204" pitchFamily="34" charset="0"/>
              </a:rPr>
              <a:t>  </a:t>
            </a:r>
          </a:p>
          <a:p>
            <a:pPr>
              <a:buNone/>
            </a:pPr>
            <a:r>
              <a:rPr lang="en-US" dirty="0">
                <a:latin typeface="Aptos Narrow" panose="020B0004020202020204" pitchFamily="34" charset="0"/>
              </a:rPr>
              <a:t>Compares the observed WCSS with WCSS expected under </a:t>
            </a:r>
            <a:r>
              <a:rPr lang="en-US" b="1" dirty="0">
                <a:latin typeface="Aptos Narrow" panose="020B0004020202020204" pitchFamily="34" charset="0"/>
              </a:rPr>
              <a:t>random (null) reference distribution</a:t>
            </a:r>
            <a:r>
              <a:rPr lang="en-US" dirty="0">
                <a:latin typeface="Aptos Narrow" panose="020B0004020202020204" pitchFamily="34" charset="0"/>
              </a:rPr>
              <a:t>.</a:t>
            </a:r>
          </a:p>
          <a:p>
            <a:r>
              <a:rPr lang="en-US" b="1" dirty="0">
                <a:latin typeface="Aptos Narrow" panose="020B0004020202020204" pitchFamily="34" charset="0"/>
              </a:rPr>
              <a:t>Formula</a:t>
            </a:r>
            <a:r>
              <a:rPr lang="en-US" dirty="0">
                <a:latin typeface="Aptos Narrow" panose="020B0004020202020204" pitchFamily="34" charset="0"/>
              </a:rPr>
              <a:t>:</a:t>
            </a: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r>
              <a:rPr lang="en-US" dirty="0">
                <a:latin typeface="Aptos Narrow" panose="020B0004020202020204" pitchFamily="34" charset="0"/>
              </a:rPr>
              <a:t>Choose the </a:t>
            </a:r>
            <a:r>
              <a:rPr lang="en-US" b="1" dirty="0">
                <a:latin typeface="Aptos Narrow" panose="020B0004020202020204" pitchFamily="34" charset="0"/>
              </a:rPr>
              <a:t>smallest k</a:t>
            </a:r>
            <a:r>
              <a:rPr lang="en-US" dirty="0">
                <a:latin typeface="Aptos Narrow" panose="020B0004020202020204" pitchFamily="34" charset="0"/>
              </a:rPr>
              <a:t> such that:</a:t>
            </a:r>
          </a:p>
          <a:p>
            <a:pPr>
              <a:buFont typeface="Arial" panose="020B0604020202020204" pitchFamily="34" charset="0"/>
              <a:buChar char="•"/>
            </a:pPr>
            <a:r>
              <a:rPr lang="en-US" dirty="0">
                <a:latin typeface="Aptos Narrow" panose="020B0004020202020204" pitchFamily="34" charset="0"/>
              </a:rPr>
              <a:t>Gap(k)≥Gap(k+1)−sk+1​ where </a:t>
            </a:r>
            <a:r>
              <a:rPr lang="en-US" dirty="0" err="1">
                <a:latin typeface="Aptos Narrow" panose="020B0004020202020204" pitchFamily="34" charset="0"/>
              </a:rPr>
              <a:t>sk</a:t>
            </a:r>
            <a:r>
              <a:rPr lang="en-US" dirty="0">
                <a:latin typeface="Aptos Narrow" panose="020B0004020202020204" pitchFamily="34" charset="0"/>
              </a:rPr>
              <a:t> is the standard deviation.</a:t>
            </a:r>
          </a:p>
        </p:txBody>
      </p:sp>
      <p:sp>
        <p:nvSpPr>
          <p:cNvPr id="3" name="TextBox 2">
            <a:extLst>
              <a:ext uri="{FF2B5EF4-FFF2-40B4-BE49-F238E27FC236}">
                <a16:creationId xmlns:a16="http://schemas.microsoft.com/office/drawing/2014/main" id="{EFB2943A-2B49-F7B5-3BD9-F13E57A7AA0E}"/>
              </a:ext>
            </a:extLst>
          </p:cNvPr>
          <p:cNvSpPr txBox="1"/>
          <p:nvPr/>
        </p:nvSpPr>
        <p:spPr>
          <a:xfrm>
            <a:off x="7718323" y="3429000"/>
            <a:ext cx="6096000" cy="1298882"/>
          </a:xfrm>
          <a:prstGeom prst="rect">
            <a:avLst/>
          </a:prstGeom>
          <a:noFill/>
        </p:spPr>
        <p:txBody>
          <a:bodyPr wrap="square">
            <a:spAutoFit/>
          </a:bodyPr>
          <a:lstStyle/>
          <a:p>
            <a:pPr>
              <a:lnSpc>
                <a:spcPct val="150000"/>
              </a:lnSpc>
              <a:buNone/>
            </a:pPr>
            <a:r>
              <a:rPr lang="en-US" b="1" dirty="0">
                <a:latin typeface="Aptos Narrow" panose="020B0004020202020204" pitchFamily="34" charset="0"/>
              </a:rPr>
              <a:t>✅ Ideal for:</a:t>
            </a:r>
          </a:p>
          <a:p>
            <a:pPr>
              <a:lnSpc>
                <a:spcPct val="150000"/>
              </a:lnSpc>
              <a:buFont typeface="Arial" panose="020B0604020202020204" pitchFamily="34" charset="0"/>
              <a:buChar char="•"/>
            </a:pPr>
            <a:r>
              <a:rPr lang="en-US" dirty="0">
                <a:latin typeface="Aptos Narrow" panose="020B0004020202020204" pitchFamily="34" charset="0"/>
              </a:rPr>
              <a:t>Preventing overfitting in choosing k</a:t>
            </a:r>
          </a:p>
          <a:p>
            <a:pPr>
              <a:lnSpc>
                <a:spcPct val="150000"/>
              </a:lnSpc>
              <a:buFont typeface="Arial" panose="020B0604020202020204" pitchFamily="34" charset="0"/>
              <a:buChar char="•"/>
            </a:pPr>
            <a:r>
              <a:rPr lang="en-US" dirty="0">
                <a:latin typeface="Aptos Narrow" panose="020B0004020202020204" pitchFamily="34" charset="0"/>
              </a:rPr>
              <a:t>Any clustering algorithm</a:t>
            </a:r>
          </a:p>
        </p:txBody>
      </p:sp>
    </p:spTree>
    <p:extLst>
      <p:ext uri="{BB962C8B-B14F-4D97-AF65-F5344CB8AC3E}">
        <p14:creationId xmlns:p14="http://schemas.microsoft.com/office/powerpoint/2010/main" val="1475621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7D50876-35AA-D8C5-5D1A-12BED46058DF}"/>
              </a:ext>
            </a:extLst>
          </p:cNvPr>
          <p:cNvPicPr>
            <a:picLocks noChangeAspect="1"/>
          </p:cNvPicPr>
          <p:nvPr/>
        </p:nvPicPr>
        <p:blipFill>
          <a:blip r:embed="rId2"/>
          <a:stretch>
            <a:fillRect/>
          </a:stretch>
        </p:blipFill>
        <p:spPr>
          <a:xfrm>
            <a:off x="771735" y="1973037"/>
            <a:ext cx="5202052" cy="1455963"/>
          </a:xfrm>
          <a:prstGeom prst="rect">
            <a:avLst/>
          </a:prstGeom>
        </p:spPr>
      </p:pic>
      <p:sp>
        <p:nvSpPr>
          <p:cNvPr id="5" name="TextBox 4">
            <a:extLst>
              <a:ext uri="{FF2B5EF4-FFF2-40B4-BE49-F238E27FC236}">
                <a16:creationId xmlns:a16="http://schemas.microsoft.com/office/drawing/2014/main" id="{F7EE7455-101B-4602-9632-D550BC2A2B8B}"/>
              </a:ext>
            </a:extLst>
          </p:cNvPr>
          <p:cNvSpPr txBox="1"/>
          <p:nvPr/>
        </p:nvSpPr>
        <p:spPr>
          <a:xfrm>
            <a:off x="540774" y="1048316"/>
            <a:ext cx="5663975" cy="5038367"/>
          </a:xfrm>
          <a:prstGeom prst="rect">
            <a:avLst/>
          </a:prstGeom>
          <a:noFill/>
        </p:spPr>
        <p:txBody>
          <a:bodyPr wrap="square">
            <a:spAutoFit/>
          </a:bodyPr>
          <a:lstStyle/>
          <a:p>
            <a:pPr>
              <a:buNone/>
            </a:pPr>
            <a:r>
              <a:rPr lang="en-US" b="1" dirty="0">
                <a:solidFill>
                  <a:srgbClr val="C00000"/>
                </a:solidFill>
                <a:latin typeface="Aptos Narrow" panose="020B0004020202020204" pitchFamily="34" charset="0"/>
              </a:rPr>
              <a:t>🔹 3. Information Criteria (AIC/BIC)</a:t>
            </a:r>
          </a:p>
          <a:p>
            <a:pPr>
              <a:buNone/>
            </a:pPr>
            <a:r>
              <a:rPr lang="en-US" dirty="0">
                <a:latin typeface="Aptos Narrow" panose="020B0004020202020204" pitchFamily="34" charset="0"/>
              </a:rPr>
              <a:t>Used in </a:t>
            </a:r>
            <a:r>
              <a:rPr lang="en-US" b="1" dirty="0">
                <a:latin typeface="Aptos Narrow" panose="020B0004020202020204" pitchFamily="34" charset="0"/>
              </a:rPr>
              <a:t>probabilistic models</a:t>
            </a:r>
            <a:r>
              <a:rPr lang="en-US" dirty="0">
                <a:latin typeface="Aptos Narrow" panose="020B0004020202020204" pitchFamily="34" charset="0"/>
              </a:rPr>
              <a:t> like Gaussian Mixture Models (GMM).</a:t>
            </a: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endParaRPr lang="en-US" dirty="0">
              <a:latin typeface="Aptos Narrow" panose="020B0004020202020204" pitchFamily="34" charset="0"/>
            </a:endParaRPr>
          </a:p>
          <a:p>
            <a:r>
              <a:rPr lang="en-US" dirty="0">
                <a:latin typeface="Aptos Narrow" panose="020B0004020202020204" pitchFamily="34" charset="0"/>
              </a:rPr>
              <a:t>where:</a:t>
            </a:r>
          </a:p>
          <a:p>
            <a:pPr marL="742950" lvl="1" indent="-285750">
              <a:buFont typeface="Arial" panose="020B0604020202020204" pitchFamily="34" charset="0"/>
              <a:buChar char="•"/>
            </a:pPr>
            <a:r>
              <a:rPr lang="en-US" dirty="0">
                <a:latin typeface="Aptos Narrow" panose="020B0004020202020204" pitchFamily="34" charset="0"/>
              </a:rPr>
              <a:t>k = number of parameters</a:t>
            </a:r>
          </a:p>
          <a:p>
            <a:pPr marL="742950" lvl="1" indent="-285750">
              <a:buFont typeface="Arial" panose="020B0604020202020204" pitchFamily="34" charset="0"/>
              <a:buChar char="•"/>
            </a:pPr>
            <a:r>
              <a:rPr lang="en-US" dirty="0">
                <a:latin typeface="Aptos Narrow" panose="020B0004020202020204" pitchFamily="34" charset="0"/>
              </a:rPr>
              <a:t>n = number of data points</a:t>
            </a:r>
          </a:p>
          <a:p>
            <a:pPr marL="742950" lvl="1" indent="-285750">
              <a:buFont typeface="Arial" panose="020B0604020202020204" pitchFamily="34" charset="0"/>
              <a:buChar char="•"/>
            </a:pPr>
            <a:r>
              <a:rPr lang="en-US" dirty="0">
                <a:latin typeface="Aptos Narrow" panose="020B0004020202020204" pitchFamily="34" charset="0"/>
              </a:rPr>
              <a:t>L = likelihood</a:t>
            </a:r>
          </a:p>
          <a:p>
            <a:pPr>
              <a:lnSpc>
                <a:spcPct val="150000"/>
              </a:lnSpc>
              <a:buFont typeface="Arial" panose="020B0604020202020204" pitchFamily="34" charset="0"/>
              <a:buChar char="•"/>
            </a:pPr>
            <a:r>
              <a:rPr lang="en-US" b="1" dirty="0">
                <a:latin typeface="Aptos Narrow" panose="020B0004020202020204" pitchFamily="34" charset="0"/>
              </a:rPr>
              <a:t>Lower values are better</a:t>
            </a:r>
            <a:endParaRPr lang="en-US" dirty="0">
              <a:latin typeface="Aptos Narrow" panose="020B0004020202020204" pitchFamily="34" charset="0"/>
            </a:endParaRPr>
          </a:p>
          <a:p>
            <a:pPr>
              <a:lnSpc>
                <a:spcPct val="150000"/>
              </a:lnSpc>
              <a:buNone/>
            </a:pPr>
            <a:r>
              <a:rPr lang="en-US" b="1" dirty="0">
                <a:latin typeface="Aptos Narrow" panose="020B0004020202020204" pitchFamily="34" charset="0"/>
              </a:rPr>
              <a:t>✅ Ideal for:</a:t>
            </a:r>
          </a:p>
          <a:p>
            <a:pPr>
              <a:lnSpc>
                <a:spcPct val="150000"/>
              </a:lnSpc>
              <a:buFont typeface="Arial" panose="020B0604020202020204" pitchFamily="34" charset="0"/>
              <a:buChar char="•"/>
            </a:pPr>
            <a:r>
              <a:rPr lang="en-US" dirty="0">
                <a:latin typeface="Aptos Narrow" panose="020B0004020202020204" pitchFamily="34" charset="0"/>
              </a:rPr>
              <a:t>Gaussian Mixture Models</a:t>
            </a:r>
          </a:p>
          <a:p>
            <a:pPr>
              <a:lnSpc>
                <a:spcPct val="150000"/>
              </a:lnSpc>
              <a:buFont typeface="Arial" panose="020B0604020202020204" pitchFamily="34" charset="0"/>
              <a:buChar char="•"/>
            </a:pPr>
            <a:r>
              <a:rPr lang="en-US" dirty="0">
                <a:latin typeface="Aptos Narrow" panose="020B0004020202020204" pitchFamily="34" charset="0"/>
              </a:rPr>
              <a:t>Clustering with statistical models</a:t>
            </a:r>
          </a:p>
        </p:txBody>
      </p:sp>
      <p:sp>
        <p:nvSpPr>
          <p:cNvPr id="9" name="TextBox 8">
            <a:extLst>
              <a:ext uri="{FF2B5EF4-FFF2-40B4-BE49-F238E27FC236}">
                <a16:creationId xmlns:a16="http://schemas.microsoft.com/office/drawing/2014/main" id="{AC65D64D-3AA9-8E38-24FD-A1123773BE35}"/>
              </a:ext>
            </a:extLst>
          </p:cNvPr>
          <p:cNvSpPr txBox="1"/>
          <p:nvPr/>
        </p:nvSpPr>
        <p:spPr>
          <a:xfrm>
            <a:off x="7246374" y="1115847"/>
            <a:ext cx="4404852" cy="1714380"/>
          </a:xfrm>
          <a:prstGeom prst="rect">
            <a:avLst/>
          </a:prstGeom>
          <a:noFill/>
        </p:spPr>
        <p:txBody>
          <a:bodyPr wrap="square">
            <a:spAutoFit/>
          </a:bodyPr>
          <a:lstStyle/>
          <a:p>
            <a:pPr>
              <a:lnSpc>
                <a:spcPct val="150000"/>
              </a:lnSpc>
              <a:buNone/>
            </a:pPr>
            <a:r>
              <a:rPr lang="en-US" b="1" dirty="0">
                <a:solidFill>
                  <a:srgbClr val="C00000"/>
                </a:solidFill>
                <a:latin typeface="Aptos Narrow" panose="020B0004020202020204" pitchFamily="34" charset="0"/>
              </a:rPr>
              <a:t>🔹 4. Silhouette Analysis Over k</a:t>
            </a:r>
          </a:p>
          <a:p>
            <a:pPr>
              <a:lnSpc>
                <a:spcPct val="150000"/>
              </a:lnSpc>
              <a:buNone/>
            </a:pPr>
            <a:r>
              <a:rPr lang="en-US" dirty="0">
                <a:latin typeface="Aptos Narrow" panose="020B0004020202020204" pitchFamily="34" charset="0"/>
              </a:rPr>
              <a:t>Silhouette score (internal metric) plotted for different k values to visually inspect the best k.</a:t>
            </a:r>
          </a:p>
          <a:p>
            <a:pPr>
              <a:lnSpc>
                <a:spcPct val="150000"/>
              </a:lnSpc>
              <a:buFont typeface="Arial" panose="020B0604020202020204" pitchFamily="34" charset="0"/>
              <a:buChar char="•"/>
            </a:pPr>
            <a:r>
              <a:rPr lang="en-US" dirty="0">
                <a:latin typeface="Aptos Narrow" panose="020B0004020202020204" pitchFamily="34" charset="0"/>
              </a:rPr>
              <a:t>Choose k with </a:t>
            </a:r>
            <a:r>
              <a:rPr lang="en-US" b="1" dirty="0">
                <a:latin typeface="Aptos Narrow" panose="020B0004020202020204" pitchFamily="34" charset="0"/>
              </a:rPr>
              <a:t>maximum silhouette score</a:t>
            </a:r>
            <a:r>
              <a:rPr lang="en-US" dirty="0">
                <a:latin typeface="Aptos Narrow" panose="020B0004020202020204" pitchFamily="34" charset="0"/>
              </a:rPr>
              <a:t>.</a:t>
            </a:r>
          </a:p>
        </p:txBody>
      </p:sp>
    </p:spTree>
    <p:extLst>
      <p:ext uri="{BB962C8B-B14F-4D97-AF65-F5344CB8AC3E}">
        <p14:creationId xmlns:p14="http://schemas.microsoft.com/office/powerpoint/2010/main" val="2619768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1bb957e-b885-4177-9079-f2bb5b906c9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4D7CBE694DAE4692A19EC900C9F013" ma:contentTypeVersion="10" ma:contentTypeDescription="Create a new document." ma:contentTypeScope="" ma:versionID="ab4d68027a81c98aa00d57033be94e6e">
  <xsd:schema xmlns:xsd="http://www.w3.org/2001/XMLSchema" xmlns:xs="http://www.w3.org/2001/XMLSchema" xmlns:p="http://schemas.microsoft.com/office/2006/metadata/properties" xmlns:ns3="51bb957e-b885-4177-9079-f2bb5b906c91" targetNamespace="http://schemas.microsoft.com/office/2006/metadata/properties" ma:root="true" ma:fieldsID="590d4f606b179ff61acd5ddb806ceaaf" ns3:_="">
    <xsd:import namespace="51bb957e-b885-4177-9079-f2bb5b906c9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bb957e-b885-4177-9079-f2bb5b906c9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956076-AF43-42DF-B297-FAB99CD4E7F4}">
  <ds:schemaRefs>
    <ds:schemaRef ds:uri="51bb957e-b885-4177-9079-f2bb5b906c91"/>
    <ds:schemaRef ds:uri="http://purl.org/dc/dcmitype/"/>
    <ds:schemaRef ds:uri="http://purl.org/dc/elements/1.1/"/>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F2111A3-F6B4-40E2-BF0B-9C8A9959CD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bb957e-b885-4177-9079-f2bb5b906c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94338C-B243-47B2-88FF-3FE134E450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1430</TotalTime>
  <Words>3819</Words>
  <Application>Microsoft Office PowerPoint</Application>
  <PresentationFormat>Widescreen</PresentationFormat>
  <Paragraphs>314</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Aptos Display</vt:lpstr>
      <vt:lpstr>Aptos Narrow</vt:lpstr>
      <vt:lpstr>Arial</vt:lpstr>
      <vt:lpstr>Gill Sans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Kanaparthi Kantha Raju</dc:creator>
  <cp:lastModifiedBy>P Manika Prasuna</cp:lastModifiedBy>
  <cp:revision>54</cp:revision>
  <dcterms:created xsi:type="dcterms:W3CDTF">2025-07-12T10:07:48Z</dcterms:created>
  <dcterms:modified xsi:type="dcterms:W3CDTF">2025-09-18T05:33:32Z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0x010100114D7CBE694DAE4692A19EC900C9F013</vt:lpwstr>
  </property>
</Properties>
</file>