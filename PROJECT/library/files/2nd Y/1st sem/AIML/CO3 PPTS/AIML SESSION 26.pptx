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1" r:id="rId4"/>
    <p:sldId id="266" r:id="rId5"/>
    <p:sldId id="262" r:id="rId6"/>
    <p:sldId id="257" r:id="rId7"/>
    <p:sldId id="259" r:id="rId8"/>
    <p:sldId id="263" r:id="rId9"/>
    <p:sldId id="269" r:id="rId10"/>
    <p:sldId id="272" r:id="rId11"/>
    <p:sldId id="271" r:id="rId12"/>
    <p:sldId id="270" r:id="rId13"/>
    <p:sldId id="275" r:id="rId14"/>
    <p:sldId id="276" r:id="rId15"/>
    <p:sldId id="273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D60C8-7360-4EE7-AF40-AA15F3C2445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3FAB-B115-48D9-97C3-41B022CD7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05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D60C8-7360-4EE7-AF40-AA15F3C2445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3FAB-B115-48D9-97C3-41B022CD7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970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D60C8-7360-4EE7-AF40-AA15F3C2445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3FAB-B115-48D9-97C3-41B022CD7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39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D60C8-7360-4EE7-AF40-AA15F3C2445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3FAB-B115-48D9-97C3-41B022CD7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98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D60C8-7360-4EE7-AF40-AA15F3C2445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3FAB-B115-48D9-97C3-41B022CD7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6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D60C8-7360-4EE7-AF40-AA15F3C2445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3FAB-B115-48D9-97C3-41B022CD7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86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D60C8-7360-4EE7-AF40-AA15F3C2445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3FAB-B115-48D9-97C3-41B022CD7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2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D60C8-7360-4EE7-AF40-AA15F3C2445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3FAB-B115-48D9-97C3-41B022CD7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51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D60C8-7360-4EE7-AF40-AA15F3C2445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3FAB-B115-48D9-97C3-41B022CD7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39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D60C8-7360-4EE7-AF40-AA15F3C2445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3FAB-B115-48D9-97C3-41B022CD7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3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D60C8-7360-4EE7-AF40-AA15F3C2445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E3FAB-B115-48D9-97C3-41B022CD7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D60C8-7360-4EE7-AF40-AA15F3C24456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E3FAB-B115-48D9-97C3-41B022CD71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2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3616037"/>
          </a:xfrm>
        </p:spPr>
        <p:txBody>
          <a:bodyPr>
            <a:normAutofit/>
          </a:bodyPr>
          <a:lstStyle/>
          <a:p>
            <a:r>
              <a:rPr lang="en-US" sz="4000" b="1" cap="all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ARTIFICIAL INTELLIGENCE </a:t>
            </a:r>
            <a:br>
              <a:rPr lang="en-US" sz="4000" b="1" cap="all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</a:br>
            <a:r>
              <a:rPr lang="en-US" sz="4000" b="1" cap="all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&amp; </a:t>
            </a:r>
            <a:br>
              <a:rPr lang="en-US" sz="4000" b="1" cap="all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</a:br>
            <a:r>
              <a:rPr lang="en-US" sz="4000" b="1" cap="all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  <a:t>MACHINE LEARNING</a:t>
            </a:r>
            <a:br>
              <a:rPr lang="en-IN" sz="4000" dirty="0">
                <a:solidFill>
                  <a:schemeClr val="accent2">
                    <a:lumMod val="50000"/>
                  </a:schemeClr>
                </a:solidFill>
                <a:latin typeface="Gill Sans MT" panose="020B0502020104020203" pitchFamily="34" charset="0"/>
              </a:rPr>
            </a:br>
            <a:endParaRPr lang="en-US" sz="4000" dirty="0">
              <a:latin typeface="Gill Sans MT" panose="020B05020201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45672" y="3354634"/>
            <a:ext cx="8922327" cy="1314348"/>
          </a:xfrm>
        </p:spPr>
        <p:txBody>
          <a:bodyPr/>
          <a:lstStyle/>
          <a:p>
            <a:r>
              <a:rPr lang="en-US" sz="3000" b="1" cap="all" dirty="0">
                <a:latin typeface="Gill Sans MT" panose="020B0502020104020203" pitchFamily="34" charset="0"/>
              </a:rPr>
              <a:t>SESSION NO : 26</a:t>
            </a:r>
            <a:endParaRPr lang="en-IN" sz="3000" dirty="0">
              <a:latin typeface="Gill Sans MT" panose="020B0502020104020203" pitchFamily="34" charset="0"/>
            </a:endParaRPr>
          </a:p>
          <a:p>
            <a:endParaRPr lang="en-US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51216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09" y="1"/>
            <a:ext cx="10515600" cy="109116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Overfitting in Decision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816" y="1288472"/>
            <a:ext cx="11927184" cy="5569527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Decision Trees are prone to overfitting, especially when allowed to grow deep without restrictions. </a:t>
            </a:r>
          </a:p>
          <a:p>
            <a:pPr algn="just"/>
            <a:r>
              <a:rPr lang="en-US" sz="2400" dirty="0"/>
              <a:t>This means the tree captures all patterns, including noise and outliers in the training data.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It splits on features that don’t contribute much to predictive power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The tree becomes very large and complex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It fits rare patterns or outliers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Training accuracy becomes 100% (or near), but test accuracy drops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endParaRPr lang="en-US" sz="2400" dirty="0"/>
          </a:p>
        </p:txBody>
      </p:sp>
      <p:grpSp>
        <p:nvGrpSpPr>
          <p:cNvPr id="5" name="Group 4"/>
          <p:cNvGrpSpPr/>
          <p:nvPr/>
        </p:nvGrpSpPr>
        <p:grpSpPr>
          <a:xfrm>
            <a:off x="2843644" y="3888066"/>
            <a:ext cx="6064827" cy="2323293"/>
            <a:chOff x="979488" y="4040188"/>
            <a:chExt cx="7661999" cy="2617433"/>
          </a:xfrm>
        </p:grpSpPr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2286000" y="4572000"/>
              <a:ext cx="0" cy="1524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7" name="Line 5"/>
            <p:cNvSpPr>
              <a:spLocks noChangeShapeType="1"/>
            </p:cNvSpPr>
            <p:nvPr/>
          </p:nvSpPr>
          <p:spPr bwMode="auto">
            <a:xfrm>
              <a:off x="2286000" y="6096000"/>
              <a:ext cx="4038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5611085" y="6103624"/>
              <a:ext cx="3030402" cy="553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2100">
                  <a:solidFill>
                    <a:srgbClr val="0000FF"/>
                  </a:solidFill>
                </a:rPr>
                <a:t>Complexity of tree</a:t>
              </a: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979488" y="4040188"/>
              <a:ext cx="1509389" cy="553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2100" dirty="0">
                  <a:solidFill>
                    <a:srgbClr val="0000FF"/>
                  </a:solidFill>
                </a:rPr>
                <a:t>accuracy</a:t>
              </a: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2286000" y="4495800"/>
              <a:ext cx="3657600" cy="1524000"/>
            </a:xfrm>
            <a:custGeom>
              <a:avLst/>
              <a:gdLst>
                <a:gd name="T0" fmla="*/ 0 w 2304"/>
                <a:gd name="T1" fmla="*/ 960 h 960"/>
                <a:gd name="T2" fmla="*/ 624 w 2304"/>
                <a:gd name="T3" fmla="*/ 192 h 960"/>
                <a:gd name="T4" fmla="*/ 2304 w 2304"/>
                <a:gd name="T5" fmla="*/ 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04" h="960">
                  <a:moveTo>
                    <a:pt x="0" y="960"/>
                  </a:moveTo>
                  <a:cubicBezTo>
                    <a:pt x="120" y="656"/>
                    <a:pt x="240" y="352"/>
                    <a:pt x="624" y="192"/>
                  </a:cubicBezTo>
                  <a:cubicBezTo>
                    <a:pt x="1008" y="32"/>
                    <a:pt x="2024" y="32"/>
                    <a:pt x="2304" y="0"/>
                  </a:cubicBezTo>
                </a:path>
              </a:pathLst>
            </a:custGeom>
            <a:noFill/>
            <a:ln w="19050" cmpd="sng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auto">
            <a:xfrm>
              <a:off x="2286000" y="4654550"/>
              <a:ext cx="3935413" cy="1289050"/>
            </a:xfrm>
            <a:custGeom>
              <a:avLst/>
              <a:gdLst>
                <a:gd name="T0" fmla="*/ 0 w 2479"/>
                <a:gd name="T1" fmla="*/ 812 h 812"/>
                <a:gd name="T2" fmla="*/ 290 w 2479"/>
                <a:gd name="T3" fmla="*/ 302 h 812"/>
                <a:gd name="T4" fmla="*/ 648 w 2479"/>
                <a:gd name="T5" fmla="*/ 100 h 812"/>
                <a:gd name="T6" fmla="*/ 1186 w 2479"/>
                <a:gd name="T7" fmla="*/ 22 h 812"/>
                <a:gd name="T8" fmla="*/ 1638 w 2479"/>
                <a:gd name="T9" fmla="*/ 232 h 812"/>
                <a:gd name="T10" fmla="*/ 2352 w 2479"/>
                <a:gd name="T11" fmla="*/ 428 h 812"/>
                <a:gd name="T12" fmla="*/ 2400 w 2479"/>
                <a:gd name="T13" fmla="*/ 428 h 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79" h="812">
                  <a:moveTo>
                    <a:pt x="0" y="812"/>
                  </a:moveTo>
                  <a:cubicBezTo>
                    <a:pt x="48" y="727"/>
                    <a:pt x="182" y="420"/>
                    <a:pt x="290" y="302"/>
                  </a:cubicBezTo>
                  <a:cubicBezTo>
                    <a:pt x="398" y="184"/>
                    <a:pt x="499" y="147"/>
                    <a:pt x="648" y="100"/>
                  </a:cubicBezTo>
                  <a:cubicBezTo>
                    <a:pt x="797" y="53"/>
                    <a:pt x="1021" y="0"/>
                    <a:pt x="1186" y="22"/>
                  </a:cubicBezTo>
                  <a:cubicBezTo>
                    <a:pt x="1351" y="44"/>
                    <a:pt x="1444" y="164"/>
                    <a:pt x="1638" y="232"/>
                  </a:cubicBezTo>
                  <a:cubicBezTo>
                    <a:pt x="1832" y="300"/>
                    <a:pt x="2225" y="395"/>
                    <a:pt x="2352" y="428"/>
                  </a:cubicBezTo>
                  <a:cubicBezTo>
                    <a:pt x="2479" y="461"/>
                    <a:pt x="2432" y="456"/>
                    <a:pt x="2400" y="428"/>
                  </a:cubicBezTo>
                </a:path>
              </a:pathLst>
            </a:custGeom>
            <a:noFill/>
            <a:ln w="19050" cmpd="sng">
              <a:solidFill>
                <a:srgbClr val="33CC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350"/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6095999" y="5045075"/>
              <a:ext cx="1782968" cy="553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2100">
                  <a:solidFill>
                    <a:srgbClr val="33CC33"/>
                  </a:solidFill>
                </a:rPr>
                <a:t>On testing</a:t>
              </a:r>
              <a:endParaRPr lang="en-US" sz="2100">
                <a:solidFill>
                  <a:srgbClr val="0000FF"/>
                </a:solidFill>
              </a:endParaRP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6019800" y="4268788"/>
              <a:ext cx="1909069" cy="5539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buSzTx/>
                <a:buFontTx/>
                <a:buNone/>
              </a:pPr>
              <a:r>
                <a:rPr lang="en-US" sz="2100">
                  <a:solidFill>
                    <a:srgbClr val="A50021"/>
                  </a:solidFill>
                </a:rPr>
                <a:t>On training</a:t>
              </a:r>
              <a:endParaRPr lang="en-US" sz="2100">
                <a:solidFill>
                  <a:srgbClr val="0000FF"/>
                </a:solidFill>
              </a:endParaRPr>
            </a:p>
          </p:txBody>
        </p:sp>
      </p:grpSp>
      <p:pic>
        <p:nvPicPr>
          <p:cNvPr id="1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441938"/>
            <a:ext cx="12192000" cy="39069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5874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1">
            <a:extLst>
              <a:ext uri="{FF2B5EF4-FFF2-40B4-BE49-F238E27FC236}">
                <a16:creationId xmlns:a16="http://schemas.microsoft.com/office/drawing/2014/main" id="{377AAB7F-33D9-C6BA-4DEC-3E17CF19A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288" y="1844676"/>
            <a:ext cx="8229600" cy="4479925"/>
          </a:xfrm>
        </p:spPr>
        <p:txBody>
          <a:bodyPr/>
          <a:lstStyle/>
          <a:p>
            <a:pPr lvl="1" eaLnBrk="1" hangingPunct="1"/>
            <a:endParaRPr lang="en-US" altLang="hu-H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hu-HU" altLang="hu-HU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Font typeface="Wingdings 2" panose="05020102010507070707" pitchFamily="18" charset="2"/>
              <a:buNone/>
            </a:pPr>
            <a:endParaRPr lang="hu-HU" altLang="hu-H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endParaRPr lang="hu-HU" altLang="hu-H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8" name="Cím 8">
            <a:extLst>
              <a:ext uri="{FF2B5EF4-FFF2-40B4-BE49-F238E27FC236}">
                <a16:creationId xmlns:a16="http://schemas.microsoft.com/office/drawing/2014/main" id="{B845E841-925D-F551-046E-3258B58A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080" y="250029"/>
            <a:ext cx="7062470" cy="566738"/>
          </a:xfrm>
        </p:spPr>
        <p:txBody>
          <a:bodyPr>
            <a:noAutofit/>
          </a:bodyPr>
          <a:lstStyle/>
          <a:p>
            <a:pPr algn="ctr"/>
            <a:r>
              <a:rPr lang="en-US" altLang="hu-HU" sz="4000" b="1" dirty="0">
                <a:solidFill>
                  <a:srgbClr val="C00000"/>
                </a:solidFill>
              </a:rPr>
              <a:t>Overfitting example</a:t>
            </a:r>
            <a:endParaRPr lang="hu-HU" altLang="hu-HU" sz="4000" b="1" dirty="0">
              <a:solidFill>
                <a:srgbClr val="C00000"/>
              </a:solidFill>
            </a:endParaRPr>
          </a:p>
        </p:txBody>
      </p:sp>
      <p:pic>
        <p:nvPicPr>
          <p:cNvPr id="21509" name="Picture 4">
            <a:extLst>
              <a:ext uri="{FF2B5EF4-FFF2-40B4-BE49-F238E27FC236}">
                <a16:creationId xmlns:a16="http://schemas.microsoft.com/office/drawing/2014/main" id="{29E027B1-7886-12C6-8F16-0A8E1F856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5670" y="1014412"/>
            <a:ext cx="7696200" cy="482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6553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Reasons for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Too much variance in the training data</a:t>
            </a:r>
          </a:p>
          <a:p>
            <a:pPr lvl="1"/>
            <a:r>
              <a:rPr lang="en-US" dirty="0"/>
              <a:t>Training data is not a representative sample of the instance space</a:t>
            </a:r>
          </a:p>
          <a:p>
            <a:pPr lvl="1"/>
            <a:r>
              <a:rPr lang="en-US" dirty="0"/>
              <a:t>We split on features that are actually irrelevant</a:t>
            </a:r>
            <a:br>
              <a:rPr lang="en-US" dirty="0"/>
            </a:b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Too much noise in the training data</a:t>
            </a:r>
          </a:p>
          <a:p>
            <a:pPr lvl="1"/>
            <a:r>
              <a:rPr lang="en-US" dirty="0"/>
              <a:t>Noise = some feature values or class labels are incorrect</a:t>
            </a:r>
          </a:p>
          <a:p>
            <a:pPr lvl="1"/>
            <a:r>
              <a:rPr lang="en-US" dirty="0"/>
              <a:t>We learn to predict the noise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sz="2400" dirty="0"/>
              <a:t>In both cases, it is a result of our will to minimize the empirical error when we learn, and the ability to do it 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84068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Decision Tree Pruning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345" y="1825625"/>
            <a:ext cx="11471564" cy="4351338"/>
          </a:xfrm>
        </p:spPr>
        <p:txBody>
          <a:bodyPr/>
          <a:lstStyle/>
          <a:p>
            <a:r>
              <a:rPr lang="en-US" sz="2400" dirty="0"/>
              <a:t>Prune = remove leaves and assign majority label of the parent to all items</a:t>
            </a:r>
          </a:p>
          <a:p>
            <a:r>
              <a:rPr lang="en-US" sz="2400" dirty="0"/>
              <a:t>Prune the children of node s if:</a:t>
            </a:r>
          </a:p>
          <a:p>
            <a:pPr lvl="1"/>
            <a:r>
              <a:rPr lang="en-US" dirty="0"/>
              <a:t>all children are leaves, and</a:t>
            </a:r>
          </a:p>
          <a:p>
            <a:pPr lvl="1"/>
            <a:r>
              <a:rPr lang="en-US" dirty="0"/>
              <a:t>the accuracy on the validation set does not decrease if we assign the most frequent class label to all items at s.</a:t>
            </a:r>
          </a:p>
          <a:p>
            <a:r>
              <a:rPr lang="en-US" sz="2400" dirty="0"/>
              <a:t>Decision Tree Pruning is a technique used in machine learning to reduce the size of a decision tree by removing sections that provide little to no power in classifying instances. </a:t>
            </a:r>
          </a:p>
          <a:p>
            <a:r>
              <a:rPr lang="en-US" sz="2400" dirty="0"/>
              <a:t>Pruning simplifies the tree by removing unnecessary branches, improving performance on test data.</a:t>
            </a:r>
          </a:p>
          <a:p>
            <a:endParaRPr lang="en-US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56562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ontent Placeholder 11">
            <a:extLst>
              <a:ext uri="{FF2B5EF4-FFF2-40B4-BE49-F238E27FC236}">
                <a16:creationId xmlns:a16="http://schemas.microsoft.com/office/drawing/2014/main" id="{4DD3196A-D1D0-3374-A61D-A5E378195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" y="862148"/>
            <a:ext cx="11016343" cy="5009607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move down in the decision tree, fewer and fewer data samples remain in each branch</a:t>
            </a:r>
          </a:p>
          <a:p>
            <a:pPr lvl="1" eaLnBrk="1" hangingPunct="1"/>
            <a:r>
              <a:rPr lang="en-US" alt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make decisions based on fewer and fewer samples, so individual samples have a larger and larger influence </a:t>
            </a:r>
          </a:p>
          <a:p>
            <a:pPr lvl="1" eaLnBrk="1" hangingPunct="1"/>
            <a:r>
              <a:rPr lang="en-US" alt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chance of making a wrong decision due to e.g. a noisy (incorrectly labeled) example increases</a:t>
            </a:r>
          </a:p>
          <a:p>
            <a:pPr eaLnBrk="1" hangingPunct="1"/>
            <a:r>
              <a:rPr lang="en-US" alt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data contains no mistakes (e.g. incorrectly labeled samples), the tree building stops only when a perfect decision tree is build for the training data (training error is 0%)</a:t>
            </a:r>
          </a:p>
          <a:p>
            <a:pPr lvl="1" eaLnBrk="1" hangingPunct="1"/>
            <a:r>
              <a:rPr lang="en-US" alt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tree is likely to be overly complex, with many of the leaves assigned based on only a couple of examples</a:t>
            </a:r>
          </a:p>
          <a:p>
            <a:pPr lvl="1" eaLnBrk="1" hangingPunct="1"/>
            <a:r>
              <a:rPr lang="en-US" altLang="hu-H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quite probably overfit the training data</a:t>
            </a:r>
          </a:p>
          <a:p>
            <a:pPr marL="457200" lvl="1" indent="0" eaLnBrk="1" hangingPunct="1">
              <a:buNone/>
            </a:pPr>
            <a:endParaRPr lang="en-US" altLang="hu-H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hu-HU" altLang="hu-H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Font typeface="Wingdings 2" panose="05020102010507070707" pitchFamily="18" charset="2"/>
              <a:buNone/>
            </a:pPr>
            <a:endParaRPr lang="hu-HU" altLang="hu-H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endParaRPr lang="hu-HU" altLang="hu-H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Cím 8">
            <a:extLst>
              <a:ext uri="{FF2B5EF4-FFF2-40B4-BE49-F238E27FC236}">
                <a16:creationId xmlns:a16="http://schemas.microsoft.com/office/drawing/2014/main" id="{29F6DF59-7E9A-488F-981D-2FB95BDB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549" y="0"/>
            <a:ext cx="6905897" cy="928166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hu-HU" sz="4000" b="1" dirty="0">
                <a:solidFill>
                  <a:srgbClr val="C00000"/>
                </a:solidFill>
              </a:rPr>
              <a:t>The Pruning of decision trees</a:t>
            </a:r>
            <a:endParaRPr lang="hu-HU" altLang="hu-HU" sz="4000" b="1" dirty="0">
              <a:solidFill>
                <a:srgbClr val="C00000"/>
              </a:solidFill>
            </a:endParaRP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83593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ontent Placeholder 11">
            <a:extLst>
              <a:ext uri="{FF2B5EF4-FFF2-40B4-BE49-F238E27FC236}">
                <a16:creationId xmlns:a16="http://schemas.microsoft.com/office/drawing/2014/main" id="{3235DCC1-0493-6EB8-CC36-A5111717C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9288" y="1844676"/>
            <a:ext cx="8229600" cy="4479925"/>
          </a:xfrm>
        </p:spPr>
        <p:txBody>
          <a:bodyPr/>
          <a:lstStyle/>
          <a:p>
            <a:pPr lvl="1" eaLnBrk="1" hangingPunct="1"/>
            <a:endParaRPr lang="en-US" altLang="hu-H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hu-HU" altLang="hu-HU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Font typeface="Wingdings 2" panose="05020102010507070707" pitchFamily="18" charset="2"/>
              <a:buNone/>
            </a:pPr>
            <a:endParaRPr lang="hu-HU" altLang="hu-H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/>
            <a:endParaRPr lang="hu-HU" altLang="hu-H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6" name="Cím 8">
            <a:extLst>
              <a:ext uri="{FF2B5EF4-FFF2-40B4-BE49-F238E27FC236}">
                <a16:creationId xmlns:a16="http://schemas.microsoft.com/office/drawing/2014/main" id="{B8F7191A-4690-0D97-DDF3-073A9B0BC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068" y="153987"/>
            <a:ext cx="8229600" cy="566738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hu-HU" sz="4000" b="1" dirty="0">
                <a:solidFill>
                  <a:srgbClr val="C00000"/>
                </a:solidFill>
              </a:rPr>
              <a:t>Pruning example</a:t>
            </a:r>
            <a:endParaRPr lang="hu-HU" altLang="hu-HU" sz="4000" b="1" dirty="0">
              <a:solidFill>
                <a:srgbClr val="C00000"/>
              </a:solidFill>
            </a:endParaRPr>
          </a:p>
        </p:txBody>
      </p:sp>
      <p:pic>
        <p:nvPicPr>
          <p:cNvPr id="23557" name="Picture 2">
            <a:extLst>
              <a:ext uri="{FF2B5EF4-FFF2-40B4-BE49-F238E27FC236}">
                <a16:creationId xmlns:a16="http://schemas.microsoft.com/office/drawing/2014/main" id="{790EB08C-C4E7-E202-E92F-D3FD28E52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896" y="816768"/>
            <a:ext cx="9359945" cy="5085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93926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80" y="96983"/>
            <a:ext cx="10515600" cy="66501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Avoiding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35" y="886690"/>
            <a:ext cx="11859491" cy="58604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1. </a:t>
            </a:r>
            <a:r>
              <a:rPr lang="en-US" sz="2400" b="1" dirty="0"/>
              <a:t>Pre-pruning (Early Stopping): </a:t>
            </a:r>
            <a:r>
              <a:rPr lang="en-US" sz="2400" dirty="0"/>
              <a:t>Stop growing the tree at some point during construction when it is determined that there is not enough data to make reliable choices.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Criteria may include:</a:t>
            </a:r>
          </a:p>
          <a:p>
            <a:pPr lvl="1"/>
            <a:r>
              <a:rPr lang="en-US" dirty="0"/>
              <a:t>Maximum depth</a:t>
            </a:r>
          </a:p>
          <a:p>
            <a:pPr lvl="1"/>
            <a:r>
              <a:rPr lang="en-US" dirty="0"/>
              <a:t>Minimum number of samples per node</a:t>
            </a:r>
          </a:p>
          <a:p>
            <a:pPr lvl="1"/>
            <a:r>
              <a:rPr lang="en-US" dirty="0"/>
              <a:t>Information gain threshold</a:t>
            </a:r>
          </a:p>
          <a:p>
            <a:r>
              <a:rPr lang="en-IN" sz="2400" b="1" dirty="0"/>
              <a:t>Example</a:t>
            </a:r>
          </a:p>
          <a:p>
            <a:r>
              <a:rPr lang="en-IN" sz="2400" dirty="0"/>
              <a:t>Suppose we’re classifying whether a student </a:t>
            </a:r>
            <a:r>
              <a:rPr lang="en-IN" sz="2400" b="1" dirty="0"/>
              <a:t>passes or fails</a:t>
            </a:r>
            <a:r>
              <a:rPr lang="en-IN" sz="2400" dirty="0"/>
              <a:t> based on:</a:t>
            </a:r>
          </a:p>
          <a:p>
            <a:r>
              <a:rPr lang="en-IN" sz="2400" dirty="0"/>
              <a:t>Hours studied</a:t>
            </a:r>
          </a:p>
          <a:p>
            <a:r>
              <a:rPr lang="en-IN" sz="2400" dirty="0"/>
              <a:t>Attendance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67483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80" y="96983"/>
            <a:ext cx="10515600" cy="66501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Pre-pruning (Early Stopping)</a:t>
            </a:r>
            <a:endParaRPr lang="en-US" sz="40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376096"/>
              </p:ext>
            </p:extLst>
          </p:nvPr>
        </p:nvGraphicFramePr>
        <p:xfrm>
          <a:off x="838200" y="1861707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330990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97652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85063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Attendance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373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435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552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2028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734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420696"/>
                  </a:ext>
                </a:extLst>
              </a:tr>
            </a:tbl>
          </a:graphicData>
        </a:graphic>
      </p:graphicFrame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16207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80" y="96983"/>
            <a:ext cx="10515600" cy="66501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Pre-pruning (Early Stopping)</a:t>
            </a:r>
            <a:endParaRPr lang="en-US" sz="4000" b="1" dirty="0">
              <a:solidFill>
                <a:srgbClr val="C00000"/>
              </a:solidFill>
            </a:endParaRPr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we let the tree grow fully, then it may split on every tiny difference leading to overfitting.</a:t>
            </a:r>
          </a:p>
          <a:p>
            <a:r>
              <a:rPr lang="en-IN" dirty="0"/>
              <a:t>If we set </a:t>
            </a:r>
            <a:r>
              <a:rPr lang="en-IN" b="1" dirty="0" err="1"/>
              <a:t>min_samples_split</a:t>
            </a:r>
            <a:r>
              <a:rPr lang="en-IN" b="1" dirty="0"/>
              <a:t> = 3</a:t>
            </a:r>
            <a:r>
              <a:rPr lang="en-IN" dirty="0"/>
              <a:t>, then the tree stops splitting when a node has &lt; 3 samples.</a:t>
            </a:r>
          </a:p>
          <a:p>
            <a:r>
              <a:rPr lang="en-IN" dirty="0"/>
              <a:t>This prevents small branches like “if hours = 1 → Fail”</a:t>
            </a:r>
          </a:p>
          <a:p>
            <a:r>
              <a:rPr lang="en-IN" dirty="0"/>
              <a:t>Pre-pruning saves computation and avoids deep, complex trees.</a:t>
            </a:r>
          </a:p>
          <a:p>
            <a:r>
              <a:rPr lang="en-IN" dirty="0"/>
              <a:t>But it may stop too early and miss important splits.</a:t>
            </a:r>
          </a:p>
        </p:txBody>
      </p:sp>
    </p:spTree>
    <p:extLst>
      <p:ext uri="{BB962C8B-B14F-4D97-AF65-F5344CB8AC3E}">
        <p14:creationId xmlns:p14="http://schemas.microsoft.com/office/powerpoint/2010/main" val="2344922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80" y="96983"/>
            <a:ext cx="10515600" cy="66501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Avoiding Overfitting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35" y="886690"/>
            <a:ext cx="11859491" cy="58604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2. </a:t>
            </a:r>
            <a:r>
              <a:rPr lang="en-US" sz="2400" b="1" dirty="0"/>
              <a:t>Post-Pruning (Reduced Error Pruning): </a:t>
            </a:r>
            <a:r>
              <a:rPr lang="en-US" sz="2400" dirty="0"/>
              <a:t>Grow the full tree and then remove nodes the </a:t>
            </a:r>
            <a:r>
              <a:rPr lang="en-IN" sz="2400" dirty="0"/>
              <a:t>unnecessary branches.</a:t>
            </a:r>
          </a:p>
          <a:p>
            <a:pPr marL="0" indent="0">
              <a:buNone/>
            </a:pPr>
            <a:r>
              <a:rPr lang="en-IN" sz="2400" dirty="0"/>
              <a:t>Consider validation error, if pruning a branch improves accuracy on validation data, then prune it.</a:t>
            </a:r>
            <a:endParaRPr lang="en-US" sz="24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Common methods:</a:t>
            </a:r>
          </a:p>
          <a:p>
            <a:pPr marL="0" indent="0">
              <a:buNone/>
            </a:pPr>
            <a:endParaRPr lang="en-US" sz="2400" dirty="0"/>
          </a:p>
          <a:p>
            <a:pPr lvl="1"/>
            <a:r>
              <a:rPr lang="en-IN" b="1" dirty="0"/>
              <a:t>Reduced error pruning</a:t>
            </a:r>
            <a:r>
              <a:rPr lang="en-IN" dirty="0"/>
              <a:t>: Replace a subtree with a leaf if it doesn’t reduce validation accuracy.</a:t>
            </a:r>
            <a:endParaRPr lang="en-US" dirty="0"/>
          </a:p>
          <a:p>
            <a:pPr lvl="1"/>
            <a:r>
              <a:rPr lang="en-US" dirty="0"/>
              <a:t>Cost Complexity Pruning (weakest link pruning): Used in Classification and Regression Trees. Removes branches with the least importance using a cost-complexity measure.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91870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80" y="96983"/>
            <a:ext cx="10515600" cy="66501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Post-Pruning (Reduced Error Pruning)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35" y="886690"/>
            <a:ext cx="11859491" cy="58604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Example: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graphicFrame>
        <p:nvGraphicFramePr>
          <p:cNvPr id="6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7728197"/>
              </p:ext>
            </p:extLst>
          </p:nvPr>
        </p:nvGraphicFramePr>
        <p:xfrm>
          <a:off x="838200" y="1622366"/>
          <a:ext cx="10515600" cy="21945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330990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97652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85063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Attendance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0373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435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552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2028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7734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420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371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80" y="96983"/>
            <a:ext cx="10515600" cy="66501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Post-Pruning (Reduced Error Pruning)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35" y="886690"/>
            <a:ext cx="11859491" cy="58604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Example:</a:t>
            </a:r>
          </a:p>
          <a:p>
            <a:pPr marL="0" indent="0">
              <a:buNone/>
            </a:pPr>
            <a:r>
              <a:rPr lang="en-IN" sz="2400" dirty="0"/>
              <a:t> [Hours?]</a:t>
            </a:r>
          </a:p>
          <a:p>
            <a:pPr marL="0" indent="0">
              <a:buNone/>
            </a:pPr>
            <a:r>
              <a:rPr lang="en-IN" sz="2400" dirty="0"/>
              <a:t>              /          \</a:t>
            </a:r>
          </a:p>
          <a:p>
            <a:pPr marL="0" indent="0">
              <a:buNone/>
            </a:pPr>
            <a:r>
              <a:rPr lang="en-IN" sz="2400" dirty="0"/>
              <a:t>        Hours ≤ 2       Hours &gt; 2</a:t>
            </a:r>
          </a:p>
          <a:p>
            <a:pPr marL="0" indent="0">
              <a:buNone/>
            </a:pPr>
            <a:r>
              <a:rPr lang="en-IN" sz="2400" dirty="0"/>
              <a:t>        (Fail)           [Attendance?]</a:t>
            </a:r>
          </a:p>
          <a:p>
            <a:pPr marL="0" indent="0">
              <a:buNone/>
            </a:pPr>
            <a:r>
              <a:rPr lang="en-IN" sz="2400" dirty="0"/>
              <a:t>                           /       \</a:t>
            </a:r>
          </a:p>
          <a:p>
            <a:pPr marL="0" indent="0">
              <a:buNone/>
            </a:pPr>
            <a:r>
              <a:rPr lang="en-IN" sz="2400" dirty="0"/>
              <a:t>                        Low         High</a:t>
            </a:r>
          </a:p>
          <a:p>
            <a:pPr marL="0" indent="0">
              <a:buNone/>
            </a:pPr>
            <a:r>
              <a:rPr lang="en-IN" sz="2400" dirty="0"/>
              <a:t>                        Fail        Pass</a:t>
            </a:r>
          </a:p>
          <a:p>
            <a:pPr marL="0" indent="0">
              <a:buNone/>
            </a:pPr>
            <a:r>
              <a:rPr lang="en-IN" sz="2400" dirty="0"/>
              <a:t>In validation data, splitting on </a:t>
            </a:r>
            <a:r>
              <a:rPr lang="en-IN" sz="2400" b="1" dirty="0"/>
              <a:t>Attendance</a:t>
            </a:r>
            <a:r>
              <a:rPr lang="en-IN" sz="2400" dirty="0"/>
              <a:t> doesn’t really improve accuracy.</a:t>
            </a:r>
          </a:p>
          <a:p>
            <a:pPr marL="0" indent="0">
              <a:buNone/>
            </a:pPr>
            <a:r>
              <a:rPr lang="en-IN" sz="2400" dirty="0"/>
              <a:t>So we prune that branch → making node “Hours &gt; 2”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97074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80" y="96983"/>
            <a:ext cx="10515600" cy="66501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Post-Pruning (Reduced Error Pruning)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35" y="886690"/>
            <a:ext cx="11859491" cy="58604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Pruned Tree: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[Hours?]</a:t>
            </a:r>
          </a:p>
          <a:p>
            <a:pPr marL="0" indent="0">
              <a:buNone/>
            </a:pPr>
            <a:r>
              <a:rPr lang="en-IN" sz="2400" dirty="0"/>
              <a:t>              /          \</a:t>
            </a:r>
          </a:p>
          <a:p>
            <a:pPr marL="0" indent="0">
              <a:buNone/>
            </a:pPr>
            <a:r>
              <a:rPr lang="en-IN" sz="2400" dirty="0"/>
              <a:t>        Hours ≤ 2       Hours &gt; 2</a:t>
            </a:r>
          </a:p>
          <a:p>
            <a:pPr marL="0" indent="0">
              <a:buNone/>
            </a:pPr>
            <a:r>
              <a:rPr lang="en-IN" sz="2400" dirty="0"/>
              <a:t>        (Fail)           (Pass)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Post-pruning usually gives better accuracy</a:t>
            </a:r>
            <a:r>
              <a:rPr lang="en-IN" sz="2400" dirty="0"/>
              <a:t> because the tree is allowed to fully explore splits before cutting back.</a:t>
            </a:r>
          </a:p>
          <a:p>
            <a:pPr marL="0" indent="0">
              <a:buNone/>
            </a:pPr>
            <a:r>
              <a:rPr lang="en-IN" sz="2400" dirty="0"/>
              <a:t>But it is computationally more expensive.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17569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80" y="96983"/>
            <a:ext cx="10515600" cy="665018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  Difference Between Pre- and Post-Pruning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35" y="886690"/>
            <a:ext cx="11859491" cy="586047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2" descr="KL University - Wikipedia">
            <a:extLst>
              <a:ext uri="{FF2B5EF4-FFF2-40B4-BE49-F238E27FC236}">
                <a16:creationId xmlns:a16="http://schemas.microsoft.com/office/drawing/2014/main" id="{C7BC2855-62DF-7C68-2680-6F1BDACC9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85" y="109267"/>
            <a:ext cx="1772524" cy="718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0DF350-8210-F6D1-2201-7DA9FC81E4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6093728"/>
            <a:ext cx="12192000" cy="73890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63957"/>
              </p:ext>
            </p:extLst>
          </p:nvPr>
        </p:nvGraphicFramePr>
        <p:xfrm>
          <a:off x="782780" y="1439486"/>
          <a:ext cx="10515600" cy="3312622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1143154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27565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54791674"/>
                    </a:ext>
                  </a:extLst>
                </a:gridCol>
              </a:tblGrid>
              <a:tr h="509634">
                <a:tc>
                  <a:txBody>
                    <a:bodyPr/>
                    <a:lstStyle/>
                    <a:p>
                      <a:r>
                        <a:rPr lang="en-IN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Pre-pruning (Early Stopping)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Post-pruning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361719"/>
                  </a:ext>
                </a:extLst>
              </a:tr>
              <a:tr h="509634">
                <a:tc>
                  <a:txBody>
                    <a:bodyPr/>
                    <a:lstStyle/>
                    <a:p>
                      <a:r>
                        <a:rPr lang="en-IN"/>
                        <a:t>When applied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During training (while growing tree)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After training (tree is fully grown)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3677111"/>
                  </a:ext>
                </a:extLst>
              </a:tr>
              <a:tr h="891860">
                <a:tc>
                  <a:txBody>
                    <a:bodyPr/>
                    <a:lstStyle/>
                    <a:p>
                      <a:r>
                        <a:rPr lang="en-IN"/>
                        <a:t>Control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sv-SE"/>
                        <a:t>Depth, min samples, min 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Validation accuracy, cost-complexity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4226022"/>
                  </a:ext>
                </a:extLst>
              </a:tr>
              <a:tr h="891860">
                <a:tc>
                  <a:txBody>
                    <a:bodyPr/>
                    <a:lstStyle/>
                    <a:p>
                      <a:r>
                        <a:rPr lang="en-IN"/>
                        <a:t>Pros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Fast, less computation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More accurate, considers global 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95245"/>
                  </a:ext>
                </a:extLst>
              </a:tr>
              <a:tr h="509634">
                <a:tc>
                  <a:txBody>
                    <a:bodyPr/>
                    <a:lstStyle/>
                    <a:p>
                      <a:r>
                        <a:rPr lang="en-IN"/>
                        <a:t>Cons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Risk of underfitting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More expensive to 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4196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050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764" y="2119745"/>
            <a:ext cx="9975272" cy="331123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marL="0" indent="0" algn="ctr">
              <a:buNone/>
            </a:pP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marL="0" indent="0" algn="ctr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marL="0" indent="0" algn="ctr">
              <a:buNone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26606" y="3343511"/>
            <a:ext cx="3235570" cy="10832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14529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872</Words>
  <Application>Microsoft Office PowerPoint</Application>
  <PresentationFormat>Widescreen</PresentationFormat>
  <Paragraphs>150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Calibri Light</vt:lpstr>
      <vt:lpstr>Gill Sans MT</vt:lpstr>
      <vt:lpstr>Poppins</vt:lpstr>
      <vt:lpstr>Times New Roman</vt:lpstr>
      <vt:lpstr>Wingdings</vt:lpstr>
      <vt:lpstr>Wingdings 2</vt:lpstr>
      <vt:lpstr>Office Theme</vt:lpstr>
      <vt:lpstr>ARTIFICIAL INTELLIGENCE  &amp;  MACHINE LEARNING </vt:lpstr>
      <vt:lpstr>Overfitting in Decision Trees</vt:lpstr>
      <vt:lpstr>Overfitting example</vt:lpstr>
      <vt:lpstr>Reasons for Overfitting</vt:lpstr>
      <vt:lpstr>Decision Tree Pruning</vt:lpstr>
      <vt:lpstr>The Pruning of decision trees</vt:lpstr>
      <vt:lpstr>Pruning example</vt:lpstr>
      <vt:lpstr>Avoiding Overfitting</vt:lpstr>
      <vt:lpstr>Pre-pruning (Early Stopping)</vt:lpstr>
      <vt:lpstr>Pre-pruning (Early Stopping)</vt:lpstr>
      <vt:lpstr>Avoiding Overfitting</vt:lpstr>
      <vt:lpstr>Post-Pruning (Reduced Error Pruning)</vt:lpstr>
      <vt:lpstr>Post-Pruning (Reduced Error Pruning)</vt:lpstr>
      <vt:lpstr>Post-Pruning (Reduced Error Pruning)</vt:lpstr>
      <vt:lpstr>  Difference Between Pre- and Post-Pruning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 &amp;  MACHINE LEARNING </dc:title>
  <dc:creator>Saziya Tabbassum</dc:creator>
  <cp:lastModifiedBy>P Manika Prasuna</cp:lastModifiedBy>
  <cp:revision>57</cp:revision>
  <dcterms:created xsi:type="dcterms:W3CDTF">2025-07-04T09:35:44Z</dcterms:created>
  <dcterms:modified xsi:type="dcterms:W3CDTF">2025-09-08T04:08:09Z</dcterms:modified>
</cp:coreProperties>
</file>