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96" r:id="rId3"/>
    <p:sldId id="297" r:id="rId4"/>
    <p:sldId id="258" r:id="rId5"/>
    <p:sldId id="298" r:id="rId6"/>
    <p:sldId id="299" r:id="rId7"/>
    <p:sldId id="279" r:id="rId8"/>
    <p:sldId id="280" r:id="rId9"/>
    <p:sldId id="281" r:id="rId10"/>
    <p:sldId id="300" r:id="rId11"/>
    <p:sldId id="282" r:id="rId12"/>
    <p:sldId id="283" r:id="rId13"/>
    <p:sldId id="284" r:id="rId14"/>
    <p:sldId id="285" r:id="rId15"/>
    <p:sldId id="287" r:id="rId16"/>
    <p:sldId id="288" r:id="rId17"/>
    <p:sldId id="290" r:id="rId18"/>
    <p:sldId id="291" r:id="rId19"/>
    <p:sldId id="292" r:id="rId20"/>
    <p:sldId id="293" r:id="rId21"/>
    <p:sldId id="294" r:id="rId22"/>
    <p:sldId id="301" r:id="rId23"/>
    <p:sldId id="302" r:id="rId24"/>
    <p:sldId id="27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4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6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5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1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36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3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5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9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1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3F2F65-8282-9C7E-CEBC-B3FCF09DF9DC}"/>
              </a:ext>
            </a:extLst>
          </p:cNvPr>
          <p:cNvSpPr txBox="1"/>
          <p:nvPr/>
        </p:nvSpPr>
        <p:spPr>
          <a:xfrm>
            <a:off x="1267097" y="1288145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10671-249C-340E-19B5-2BA72FEB1F0C}"/>
              </a:ext>
            </a:extLst>
          </p:cNvPr>
          <p:cNvSpPr txBox="1"/>
          <p:nvPr/>
        </p:nvSpPr>
        <p:spPr>
          <a:xfrm>
            <a:off x="1267096" y="3566771"/>
            <a:ext cx="10177651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0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SESSION NO : </a:t>
            </a:r>
            <a:r>
              <a:rPr lang="en-US" sz="3000" b="1" cap="all" dirty="0">
                <a:latin typeface="Gill Sans MT"/>
                <a:ea typeface="+mj-ea"/>
                <a:cs typeface="+mj-cs"/>
              </a:rPr>
              <a:t>22</a:t>
            </a:r>
          </a:p>
          <a:p>
            <a:pPr algn="ctr"/>
            <a:endParaRPr lang="en-US" sz="3000" b="1" cap="all" dirty="0">
              <a:latin typeface="Gill Sans MT"/>
              <a:ea typeface="+mj-ea"/>
              <a:cs typeface="+mj-cs"/>
            </a:endParaRPr>
          </a:p>
          <a:p>
            <a:pPr algn="ctr"/>
            <a:r>
              <a:rPr lang="en-US" sz="3200" b="1" dirty="0"/>
              <a:t>Linear Models – Part 1: Linear Regression</a:t>
            </a:r>
            <a:endParaRPr lang="en-US" sz="3200" dirty="0"/>
          </a:p>
          <a:p>
            <a:pPr algn="ctr"/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290" y="0"/>
            <a:ext cx="10515600" cy="103909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  <a:latin typeface="+mn-lt"/>
              </a:rPr>
              <a:t>Regression in Machine Learning</a:t>
            </a:r>
            <a:endParaRPr lang="en-US" sz="32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Regression </a:t>
            </a:r>
            <a:r>
              <a:rPr lang="en-US" sz="2400" dirty="0" smtClean="0"/>
              <a:t>is a supervised learning technique </a:t>
            </a:r>
            <a:r>
              <a:rPr lang="en-US" sz="2400" dirty="0"/>
              <a:t>where the goal is to predict a continuous numerical value based on one or more independent features.</a:t>
            </a:r>
          </a:p>
          <a:p>
            <a:pPr algn="just"/>
            <a:r>
              <a:rPr lang="en-US" sz="2400" dirty="0" smtClean="0"/>
              <a:t>Regression is a fundamental </a:t>
            </a:r>
            <a:r>
              <a:rPr lang="en-US" sz="2400" dirty="0"/>
              <a:t>technique for predicting continuous outcomes based on input features. </a:t>
            </a:r>
            <a:endParaRPr lang="en-US" sz="2400" dirty="0" smtClean="0"/>
          </a:p>
          <a:p>
            <a:pPr algn="just"/>
            <a:r>
              <a:rPr lang="en-US" sz="2400" dirty="0" smtClean="0"/>
              <a:t>It </a:t>
            </a:r>
            <a:r>
              <a:rPr lang="en-US" sz="2400" dirty="0"/>
              <a:t>is used in many real-world applications like price prediction, trend analysis and risk assessment. </a:t>
            </a:r>
            <a:endParaRPr lang="en-US" sz="2400" dirty="0" smtClean="0"/>
          </a:p>
          <a:p>
            <a:pPr algn="just"/>
            <a:r>
              <a:rPr lang="en-US" sz="2400" dirty="0" smtClean="0"/>
              <a:t>With </a:t>
            </a:r>
            <a:r>
              <a:rPr lang="en-US" sz="2400" dirty="0"/>
              <a:t>its simplicity and effectiveness regression is used to understand relationships in data.</a:t>
            </a: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9E32595-ED7C-2B46-4D5D-14FB3E3F8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783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072" y="254288"/>
            <a:ext cx="10515600" cy="618547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n/>
                <a:solidFill>
                  <a:srgbClr val="C00000"/>
                </a:solidFill>
                <a:latin typeface="+mn-lt"/>
                <a:cs typeface="Poppins" panose="00000500000000000000" pitchFamily="2" charset="0"/>
              </a:rPr>
              <a:t>T</a:t>
            </a:r>
            <a:r>
              <a:rPr lang="en-US" sz="3200" b="1" dirty="0" smtClean="0">
                <a:ln/>
                <a:solidFill>
                  <a:srgbClr val="C00000"/>
                </a:solidFill>
                <a:latin typeface="+mn-lt"/>
                <a:cs typeface="Poppins" panose="00000500000000000000" pitchFamily="2" charset="0"/>
              </a:rPr>
              <a:t>ypes </a:t>
            </a:r>
            <a:r>
              <a:rPr lang="en-US" sz="3200" b="1" dirty="0">
                <a:ln/>
                <a:solidFill>
                  <a:srgbClr val="C00000"/>
                </a:solidFill>
                <a:latin typeface="+mn-lt"/>
                <a:cs typeface="Poppins" panose="00000500000000000000" pitchFamily="2" charset="0"/>
              </a:rPr>
              <a:t>of </a:t>
            </a:r>
            <a:r>
              <a:rPr lang="en-US" sz="3200" b="1" dirty="0" smtClean="0">
                <a:ln/>
                <a:solidFill>
                  <a:srgbClr val="C00000"/>
                </a:solidFill>
                <a:latin typeface="+mn-lt"/>
                <a:cs typeface="Poppins" panose="00000500000000000000" pitchFamily="2" charset="0"/>
              </a:rPr>
              <a:t>Regression</a:t>
            </a:r>
            <a:endParaRPr lang="en-IN" sz="3200" dirty="0"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221" y="872835"/>
            <a:ext cx="7693724" cy="5487749"/>
          </a:xfrm>
        </p:spPr>
      </p:pic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9E32595-ED7C-2B46-4D5D-14FB3E3F8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703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78372"/>
            <a:ext cx="12053455" cy="62181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Linear Regression</a:t>
            </a:r>
          </a:p>
          <a:p>
            <a:pPr marL="0" indent="0" algn="ctr">
              <a:buNone/>
            </a:pPr>
            <a:endParaRPr lang="en-US" sz="2400" b="1" dirty="0"/>
          </a:p>
          <a:p>
            <a:pPr algn="just"/>
            <a:r>
              <a:rPr lang="en-US" sz="2400" b="1" dirty="0"/>
              <a:t>Linear regression </a:t>
            </a:r>
            <a:r>
              <a:rPr lang="en-US" sz="2400" dirty="0"/>
              <a:t>– machine learning model that is used to predict the values of output variables based on the value of input variables. </a:t>
            </a:r>
            <a:endParaRPr lang="en-IN" sz="2400" dirty="0"/>
          </a:p>
          <a:p>
            <a:pPr algn="just"/>
            <a:r>
              <a:rPr lang="en-US" sz="2400" dirty="0"/>
              <a:t>It</a:t>
            </a:r>
            <a:r>
              <a:rPr lang="en-US" sz="2400" b="1" dirty="0">
                <a:solidFill>
                  <a:srgbClr val="A81E24"/>
                </a:solidFill>
              </a:rPr>
              <a:t> </a:t>
            </a:r>
            <a:r>
              <a:rPr lang="en-US" sz="2400" dirty="0"/>
              <a:t>predicts the relationship between two variables by assuming they have a straight-line connection.</a:t>
            </a:r>
          </a:p>
          <a:p>
            <a:pPr algn="just"/>
            <a:r>
              <a:rPr lang="en-US" sz="2400" dirty="0"/>
              <a:t>It finds the best line that minimizes the differences between predicted and actual values.</a:t>
            </a:r>
          </a:p>
          <a:p>
            <a:pPr algn="just"/>
            <a:r>
              <a:rPr lang="en-US" sz="2400" dirty="0"/>
              <a:t>Linear regression is a quiet and the simplest statistical regression technique used for predictive analysis in machine learning. </a:t>
            </a:r>
          </a:p>
          <a:p>
            <a:pPr algn="just"/>
            <a:r>
              <a:rPr lang="en-US" sz="2400" dirty="0"/>
              <a:t>Linear regression shows the linear relationship between the </a:t>
            </a:r>
            <a:r>
              <a:rPr lang="en-US" sz="2400" dirty="0" smtClean="0"/>
              <a:t>independent (input) </a:t>
            </a:r>
            <a:r>
              <a:rPr lang="en-US" sz="2400" dirty="0"/>
              <a:t>variable i.e. X-axis and the dependent (output) variable i.e. Y-axis.</a:t>
            </a:r>
            <a:endParaRPr lang="en-IN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883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181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  <a:latin typeface="+mn-lt"/>
              </a:rPr>
              <a:t>Real World Use Cases of Linear Regression</a:t>
            </a:r>
            <a:endParaRPr lang="en-US" sz="32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13507" y="1041023"/>
            <a:ext cx="10737274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 smtClean="0"/>
              <a:t>A straight-line </a:t>
            </a:r>
            <a:r>
              <a:rPr lang="en-US" sz="2400" dirty="0"/>
              <a:t>relationship (linear regression) can be applied between the input (independent variable) and the output (dependent variable</a:t>
            </a:r>
            <a:r>
              <a:rPr lang="en-US" sz="2400" dirty="0" smtClean="0"/>
              <a:t>) for these use cases</a:t>
            </a:r>
            <a:r>
              <a:rPr lang="en-US" sz="2400" dirty="0" smtClean="0"/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Predicting house prices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based on square footage.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Estimating salary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based on years of experience.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Forecasting crop yield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based on rainfall amount.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Predicting weight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based on height.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Estimating fuel consumption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based on distance traveled.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Predicting electricity bill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based on monthly usage (kWh).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Estimating temperature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based on altitude.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Predicting blood pressure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based on age.</a:t>
            </a:r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9E32595-ED7C-2B46-4D5D-14FB3E3F8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180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867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008" y="-1823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  <a:latin typeface="+mn-lt"/>
              </a:rPr>
              <a:t>Steps </a:t>
            </a:r>
            <a:r>
              <a:rPr lang="en-US" sz="3200" b="1" dirty="0" smtClean="0">
                <a:solidFill>
                  <a:srgbClr val="C00000"/>
                </a:solidFill>
                <a:latin typeface="+mn-lt"/>
              </a:rPr>
              <a:t>in </a:t>
            </a:r>
            <a:r>
              <a:rPr lang="en-US" sz="3200" b="1" dirty="0">
                <a:solidFill>
                  <a:srgbClr val="C00000"/>
                </a:solidFill>
                <a:latin typeface="+mn-lt"/>
              </a:rPr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008" y="1143262"/>
            <a:ext cx="11287992" cy="4838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Step 1: </a:t>
            </a:r>
            <a:r>
              <a:rPr lang="en-US" sz="2400" dirty="0" smtClean="0"/>
              <a:t>Find the best fitting line by minimizing prediction error (least squares method)</a:t>
            </a:r>
          </a:p>
          <a:p>
            <a:pPr marL="0" indent="0">
              <a:buNone/>
            </a:pPr>
            <a:r>
              <a:rPr lang="en-US" sz="2400" b="1" dirty="0" smtClean="0"/>
              <a:t>Step 2: </a:t>
            </a:r>
            <a:r>
              <a:rPr lang="en-US" sz="2400" dirty="0" smtClean="0"/>
              <a:t>C</a:t>
            </a:r>
            <a:r>
              <a:rPr lang="en-US" sz="2400" dirty="0" smtClean="0"/>
              <a:t>alculate </a:t>
            </a:r>
            <a:r>
              <a:rPr lang="en-US" sz="2400" dirty="0" smtClean="0"/>
              <a:t>coefficients for variables that minimizes the error in predictions.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236" y="2687782"/>
            <a:ext cx="4665243" cy="3869849"/>
          </a:xfrm>
          <a:prstGeom prst="rect">
            <a:avLst/>
          </a:prstGeom>
        </p:spPr>
      </p:pic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9E32595-ED7C-2B46-4D5D-14FB3E3F8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02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F47A-1C48-19AE-2B37-E6BDFE75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8909" y="-31750"/>
            <a:ext cx="9344891" cy="26438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  <a:latin typeface="+mn-lt"/>
              </a:rPr>
              <a:t/>
            </a:r>
            <a:br>
              <a:rPr lang="en-US" sz="3200" b="1" dirty="0" smtClean="0">
                <a:solidFill>
                  <a:srgbClr val="C00000"/>
                </a:solidFill>
                <a:latin typeface="+mn-lt"/>
              </a:rPr>
            </a:br>
            <a:r>
              <a:rPr lang="en-US" sz="3200" b="1" dirty="0" smtClean="0">
                <a:solidFill>
                  <a:srgbClr val="C00000"/>
                </a:solidFill>
                <a:latin typeface="+mn-lt"/>
              </a:rPr>
              <a:t>Best Fit Line in Linear Regression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1400D-89F0-1878-DF8B-89F76BE99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886"/>
            <a:ext cx="10515600" cy="47356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It is the line that minimizes the difference between the actual data points and the predicted values from the model.</a:t>
            </a:r>
            <a:endParaRPr lang="en-US" sz="2400" b="1" dirty="0" smtClean="0"/>
          </a:p>
          <a:p>
            <a:pPr marL="0" indent="0" algn="just">
              <a:buNone/>
            </a:pPr>
            <a:r>
              <a:rPr lang="en-US" sz="2400" b="1" dirty="0" smtClean="0"/>
              <a:t>1. Goal </a:t>
            </a:r>
            <a:r>
              <a:rPr lang="en-US" sz="2400" b="1" dirty="0"/>
              <a:t>of the Best-Fit Line :</a:t>
            </a:r>
            <a:r>
              <a:rPr lang="en-US" sz="2400" dirty="0"/>
              <a:t>Here Y is called a dependent or target variable and X is called an independent variable also known as the predictor of 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C1400D-89F0-1878-DF8B-89F76BE99EE9}"/>
              </a:ext>
            </a:extLst>
          </p:cNvPr>
          <p:cNvSpPr txBox="1">
            <a:spLocks/>
          </p:cNvSpPr>
          <p:nvPr/>
        </p:nvSpPr>
        <p:spPr>
          <a:xfrm>
            <a:off x="838200" y="2287014"/>
            <a:ext cx="10515600" cy="3374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pic>
        <p:nvPicPr>
          <p:cNvPr id="6" name="Picture 2" descr="Lightbox">
            <a:extLst>
              <a:ext uri="{FF2B5EF4-FFF2-40B4-BE49-F238E27FC236}">
                <a16:creationId xmlns:a16="http://schemas.microsoft.com/office/drawing/2014/main" id="{D275AC49-ADFC-2E84-1BF8-A7C1DB0CC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72" y="2618509"/>
            <a:ext cx="10116686" cy="423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KL University - Wikipedia">
            <a:extLst>
              <a:ext uri="{FF2B5EF4-FFF2-40B4-BE49-F238E27FC236}">
                <a16:creationId xmlns:a16="http://schemas.microsoft.com/office/drawing/2014/main" id="{C9E32595-ED7C-2B46-4D5D-14FB3E3F8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93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BEB63-977E-20FC-331C-846D1355F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262" y="1387098"/>
            <a:ext cx="10515600" cy="5470902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US" sz="2400" b="1" dirty="0"/>
              <a:t>2</a:t>
            </a:r>
            <a:r>
              <a:rPr lang="en-US" sz="2400" b="1" dirty="0" smtClean="0"/>
              <a:t>. Equation </a:t>
            </a:r>
            <a:r>
              <a:rPr lang="en-US" sz="2400" b="1" dirty="0" smtClean="0"/>
              <a:t>of the Best-Fit Line</a:t>
            </a:r>
          </a:p>
          <a:p>
            <a:pPr marL="0" indent="0" algn="just" fontAlgn="base">
              <a:buNone/>
            </a:pPr>
            <a:r>
              <a:rPr lang="en-US" sz="2400" dirty="0" smtClean="0"/>
              <a:t>For </a:t>
            </a:r>
            <a:r>
              <a:rPr lang="en-US" sz="2400" dirty="0"/>
              <a:t>simple linear regression (with one independent variable), the best-fit line is represented by the equation</a:t>
            </a:r>
          </a:p>
          <a:p>
            <a:pPr marL="0" indent="0" algn="just">
              <a:buNone/>
            </a:pPr>
            <a:r>
              <a:rPr lang="en-US" sz="2400" i="1" dirty="0" smtClean="0"/>
              <a:t>		y </a:t>
            </a:r>
            <a:r>
              <a:rPr lang="en-US" sz="2400" dirty="0" smtClean="0"/>
              <a:t>= </a:t>
            </a:r>
            <a:r>
              <a:rPr lang="en-US" sz="2400" i="1" dirty="0" smtClean="0"/>
              <a:t>mx </a:t>
            </a:r>
            <a:r>
              <a:rPr lang="en-US" sz="2400" dirty="0" smtClean="0"/>
              <a:t>+ </a:t>
            </a:r>
            <a:r>
              <a:rPr lang="en-US" sz="2400" i="1" dirty="0" smtClean="0"/>
              <a:t>b</a:t>
            </a:r>
            <a:endParaRPr lang="en-US" sz="2400" i="1" dirty="0"/>
          </a:p>
          <a:p>
            <a:pPr marL="0" indent="0" algn="just" fontAlgn="base">
              <a:buNone/>
            </a:pPr>
            <a:r>
              <a:rPr lang="en-US" sz="2400" b="1" dirty="0"/>
              <a:t>Where:</a:t>
            </a:r>
            <a:endParaRPr lang="en-US" sz="2400" dirty="0"/>
          </a:p>
          <a:p>
            <a:pPr lvl="1" algn="just" fontAlgn="base"/>
            <a:r>
              <a:rPr lang="en-US" b="1" dirty="0"/>
              <a:t>y</a:t>
            </a:r>
            <a:r>
              <a:rPr lang="en-US" dirty="0"/>
              <a:t> is the predicted value (dependent variable)</a:t>
            </a:r>
          </a:p>
          <a:p>
            <a:pPr lvl="1" algn="just" fontAlgn="base"/>
            <a:r>
              <a:rPr lang="en-US" b="1" dirty="0"/>
              <a:t>x</a:t>
            </a:r>
            <a:r>
              <a:rPr lang="en-US" dirty="0"/>
              <a:t> is the input (independent variable)</a:t>
            </a:r>
          </a:p>
          <a:p>
            <a:pPr lvl="1" algn="just" fontAlgn="base"/>
            <a:r>
              <a:rPr lang="en-US" b="1" dirty="0"/>
              <a:t>m</a:t>
            </a:r>
            <a:r>
              <a:rPr lang="en-US" dirty="0"/>
              <a:t> is the slope of the line (how much y changes when x changes)</a:t>
            </a:r>
          </a:p>
          <a:p>
            <a:pPr lvl="1" algn="just" fontAlgn="base"/>
            <a:r>
              <a:rPr lang="en-US" b="1" dirty="0"/>
              <a:t>b</a:t>
            </a:r>
            <a:r>
              <a:rPr lang="en-US" dirty="0"/>
              <a:t> is the intercept (the value of y when x = 0)</a:t>
            </a:r>
          </a:p>
          <a:p>
            <a:pPr marL="0" indent="0" algn="just">
              <a:buNone/>
            </a:pPr>
            <a:endParaRPr lang="en-US" sz="2400" dirty="0" smtClean="0"/>
          </a:p>
          <a:p>
            <a:pPr marL="0" indent="0" algn="just">
              <a:buNone/>
            </a:pPr>
            <a:r>
              <a:rPr lang="en-US" sz="2400" dirty="0" smtClean="0"/>
              <a:t>The </a:t>
            </a:r>
            <a:r>
              <a:rPr lang="en-US" sz="2400" dirty="0"/>
              <a:t>best-fit line will be the one that optimizes the values of m (slope) and b (intercept) so that the predicted y values are as close as possible to the actual data points.</a:t>
            </a:r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1DBCA8BD-354A-4EC1-277E-234FAD1DB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131126" y="193598"/>
            <a:ext cx="71905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Best </a:t>
            </a:r>
            <a:r>
              <a:rPr lang="en-US" sz="3200" b="1" dirty="0">
                <a:solidFill>
                  <a:srgbClr val="C00000"/>
                </a:solidFill>
              </a:rPr>
              <a:t>Fit Line in Linear Regression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2440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8D9C2D-C0F9-0738-5E7A-17D8C8E794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1108" y="1141109"/>
                <a:ext cx="11104418" cy="607962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400" b="1" dirty="0" smtClean="0"/>
                  <a:t>3</a:t>
                </a:r>
                <a:r>
                  <a:rPr lang="en-US" sz="2400" b="1" dirty="0" smtClean="0"/>
                  <a:t>. Minimizing </a:t>
                </a:r>
                <a:r>
                  <a:rPr lang="en-US" sz="2400" b="1" dirty="0" smtClean="0"/>
                  <a:t>the Error: The Least Squares Method</a:t>
                </a:r>
              </a:p>
              <a:p>
                <a:pPr algn="just"/>
                <a:r>
                  <a:rPr lang="en-US" sz="2400" dirty="0" smtClean="0"/>
                  <a:t>To </a:t>
                </a:r>
                <a:r>
                  <a:rPr lang="en-US" sz="2400" dirty="0"/>
                  <a:t>find the best-fit line, we use a method called </a:t>
                </a:r>
                <a:r>
                  <a:rPr lang="en-US" sz="2400" dirty="0" smtClean="0"/>
                  <a:t>Least Squares. </a:t>
                </a:r>
              </a:p>
              <a:p>
                <a:pPr algn="just"/>
                <a:r>
                  <a:rPr lang="en-US" sz="2400" dirty="0" smtClean="0"/>
                  <a:t>To find the residual by minimizing </a:t>
                </a:r>
                <a:r>
                  <a:rPr lang="en-US" sz="2400" dirty="0"/>
                  <a:t>the sum of squared differences between the actual values (data points) and the predicted values from the line. </a:t>
                </a:r>
              </a:p>
              <a:p>
                <a:pPr marL="0" indent="0" algn="just">
                  <a:buNone/>
                </a:pPr>
                <a:r>
                  <a:rPr lang="en-US" sz="2400" dirty="0" smtClean="0"/>
                  <a:t>	</a:t>
                </a:r>
                <a:r>
                  <a:rPr lang="en-US" sz="2400" i="1" dirty="0" smtClean="0"/>
                  <a:t>Residua</a:t>
                </a:r>
                <a:r>
                  <a:rPr lang="en-US" sz="2400" i="1" dirty="0" smtClean="0">
                    <a:effectLst/>
                  </a:rPr>
                  <a:t>l </a:t>
                </a:r>
                <a:r>
                  <a:rPr lang="en-US" sz="2400" i="1" dirty="0" smtClean="0"/>
                  <a:t>=</a:t>
                </a:r>
                <a:r>
                  <a:rPr lang="en-US" sz="2400" i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y-GB" sz="2400" i="1">
                            <a:latin typeface="Cambria Math" panose="02040503050406030204" pitchFamily="18" charset="0"/>
                          </a:rPr>
                          <m:t>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i="1" dirty="0"/>
              </a:p>
              <a:p>
                <a:pPr marL="0" indent="0" algn="just" fontAlgn="base">
                  <a:buNone/>
                </a:pPr>
                <a:r>
                  <a:rPr lang="en-US" sz="2400" dirty="0"/>
                  <a:t>w</a:t>
                </a:r>
                <a:r>
                  <a:rPr lang="en-US" sz="2400" dirty="0" smtClean="0"/>
                  <a:t>here</a:t>
                </a:r>
                <a:r>
                  <a:rPr lang="en-US" sz="2400" dirty="0"/>
                  <a:t>:</a:t>
                </a:r>
              </a:p>
              <a:p>
                <a:pPr lvl="1" algn="just" fontAlgn="base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 is the actual observed value</a:t>
                </a:r>
              </a:p>
              <a:p>
                <a:pPr lvl="1" algn="just" fontAlgn="base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y-GB" i="1">
                            <a:latin typeface="Cambria Math" panose="02040503050406030204" pitchFamily="18" charset="0"/>
                          </a:rPr>
                          <m:t>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 is the predicted value from the line for that </a:t>
                </a:r>
                <a:r>
                  <a:rPr lang="en-US" dirty="0" smtClean="0"/>
                  <a:t>xᵢ</a:t>
                </a:r>
                <a:endParaRPr lang="en-US" dirty="0"/>
              </a:p>
              <a:p>
                <a:pPr lvl="1" algn="just" fontAlgn="base"/>
                <a:r>
                  <a:rPr lang="en-US" dirty="0"/>
                  <a:t>The least squares method minimizes the sum of the squared residuals:</a:t>
                </a:r>
              </a:p>
              <a:p>
                <a:pPr marL="457200" lvl="1" indent="0" algn="just">
                  <a:buNone/>
                </a:pPr>
                <a:r>
                  <a:rPr lang="en-US" i="1" dirty="0" smtClean="0"/>
                  <a:t>	</a:t>
                </a:r>
                <a:endParaRPr lang="en-US" i="1" dirty="0" smtClean="0"/>
              </a:p>
              <a:p>
                <a:pPr marL="457200" lvl="1" indent="0" algn="just">
                  <a:buNone/>
                </a:pPr>
                <a:r>
                  <a:rPr lang="en-US" i="1" dirty="0"/>
                  <a:t>	</a:t>
                </a:r>
                <a:r>
                  <a:rPr lang="en-US" i="1" dirty="0" err="1" smtClean="0"/>
                  <a:t>Sumofsquarederrors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SSE</a:t>
                </a:r>
                <a:r>
                  <a:rPr lang="en-US" dirty="0" smtClean="0"/>
                  <a:t>) = </a:t>
                </a:r>
                <a:r>
                  <a:rPr lang="el-GR" dirty="0" smtClean="0"/>
                  <a:t>Σ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cy-GB" i="1">
                                <a:latin typeface="Cambria Math" panose="02040503050406030204" pitchFamily="18" charset="0"/>
                              </a:rPr>
                              <m:t>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pPr marL="457200" lvl="1" indent="0" algn="just">
                  <a:buNone/>
                </a:pPr>
                <a:endParaRPr lang="en-US" sz="2400" dirty="0" smtClean="0"/>
              </a:p>
              <a:p>
                <a:pPr marL="457200" lvl="1" indent="0" algn="just">
                  <a:buNone/>
                </a:pPr>
                <a:r>
                  <a:rPr lang="en-US" sz="2400" dirty="0" smtClean="0"/>
                  <a:t>It </a:t>
                </a:r>
                <a:r>
                  <a:rPr lang="en-US" sz="2400" dirty="0"/>
                  <a:t>ensures the line is the best fit by making the sum of squared differences between actual data points and predicted points as minimal as possible.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8D9C2D-C0F9-0738-5E7A-17D8C8E79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1108" y="1141109"/>
                <a:ext cx="11104418" cy="6079627"/>
              </a:xfrm>
              <a:blipFill>
                <a:blip r:embed="rId2"/>
                <a:stretch>
                  <a:fillRect l="-823" t="-1403" r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74E051D1-B93A-189D-1C75-EB0F39FBC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81745" y="-108419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sz="3200" b="1" dirty="0">
                <a:solidFill>
                  <a:srgbClr val="C00000"/>
                </a:solidFill>
              </a:rPr>
              <a:t>Best Fit Line in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968529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66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/>
            </a:r>
            <a:br>
              <a:rPr lang="en-US" b="1" dirty="0"/>
            </a:br>
            <a:r>
              <a:rPr lang="en-US" sz="36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Best Fit Line in Linear Regression</a:t>
            </a:r>
            <a:br>
              <a:rPr lang="en-US" sz="36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</a:br>
            <a:endParaRPr lang="en-US" sz="3600" b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4</a:t>
            </a:r>
            <a:r>
              <a:rPr lang="en-US" sz="2400" b="1" dirty="0" smtClean="0"/>
              <a:t>. Interpretation of the Best-Fit Line</a:t>
            </a:r>
          </a:p>
          <a:p>
            <a:r>
              <a:rPr lang="en-US" sz="2400" b="1" dirty="0" smtClean="0"/>
              <a:t>Slope </a:t>
            </a:r>
            <a:r>
              <a:rPr lang="en-US" sz="2400" b="1" dirty="0"/>
              <a:t>(m):</a:t>
            </a:r>
            <a:r>
              <a:rPr lang="en-US" sz="2400" dirty="0"/>
              <a:t> The slope of the best-fit line indicates how much the dependent variable (y) changes with each unit change in the independent variable (x). </a:t>
            </a:r>
            <a:endParaRPr lang="en-US" sz="2400" dirty="0" smtClean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dirty="0" smtClean="0"/>
              <a:t>Example</a:t>
            </a:r>
            <a:r>
              <a:rPr lang="en-US" dirty="0" smtClean="0"/>
              <a:t>: </a:t>
            </a:r>
            <a:r>
              <a:rPr lang="en-US" dirty="0"/>
              <a:t>if the slope is 5, it means that for every 1-unit increase in x, the value of y increases by 5 units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sz="2400" b="1" dirty="0"/>
              <a:t>Intercept (b):</a:t>
            </a:r>
            <a:r>
              <a:rPr lang="en-US" sz="2400" dirty="0"/>
              <a:t> The intercept represents the predicted value of y when x = 0. It’s the point where the line crosses the y-axis.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9E32595-ED7C-2B46-4D5D-14FB3E3F8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180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439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551B0-1313-4681-A86C-0DD76C44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BCDE8-9202-633F-96EE-0BF335B18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782" y="1041609"/>
            <a:ext cx="10515600" cy="53985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 smtClean="0"/>
              <a:t>Hypothesis function:</a:t>
            </a:r>
            <a:r>
              <a:rPr lang="en-US" sz="2400" dirty="0"/>
              <a:t> </a:t>
            </a:r>
            <a:r>
              <a:rPr lang="en-US" sz="2400" dirty="0" smtClean="0"/>
              <a:t>used </a:t>
            </a:r>
            <a:r>
              <a:rPr lang="en-US" sz="2400" dirty="0"/>
              <a:t>to make predictions about the dependent variable based on the independent variables. It represents the relationship between the input features and the target output</a:t>
            </a:r>
            <a:r>
              <a:rPr lang="en-US" sz="2400" dirty="0" smtClean="0"/>
              <a:t>.</a:t>
            </a:r>
          </a:p>
          <a:p>
            <a:pPr marL="0" indent="0" algn="just">
              <a:buNone/>
            </a:pPr>
            <a:endParaRPr lang="en-US" sz="2400" dirty="0" smtClean="0"/>
          </a:p>
          <a:p>
            <a:pPr marL="0" indent="0" algn="just">
              <a:buNone/>
            </a:pPr>
            <a:r>
              <a:rPr lang="en-US" sz="2400" dirty="0" smtClean="0"/>
              <a:t>For </a:t>
            </a:r>
            <a:r>
              <a:rPr lang="en-US" sz="2400" dirty="0"/>
              <a:t>a simple case with one independent variable, the hypothesis function is:</a:t>
            </a:r>
          </a:p>
          <a:p>
            <a:pPr marL="0" indent="0" algn="just">
              <a:buNone/>
            </a:pPr>
            <a:r>
              <a:rPr lang="pt-BR" sz="2400" i="1" dirty="0" smtClean="0"/>
              <a:t>	</a:t>
            </a:r>
            <a:r>
              <a:rPr lang="pt-BR" sz="2400" dirty="0" smtClean="0"/>
              <a:t>h(x</a:t>
            </a:r>
            <a:r>
              <a:rPr lang="pt-BR" sz="2400" dirty="0" smtClean="0"/>
              <a:t>) = </a:t>
            </a:r>
            <a:r>
              <a:rPr lang="en-US" sz="2400" dirty="0"/>
              <a:t>β₀ </a:t>
            </a:r>
            <a:r>
              <a:rPr lang="pt-BR" sz="2400" dirty="0" smtClean="0"/>
              <a:t>+</a:t>
            </a:r>
            <a:r>
              <a:rPr lang="en-US" sz="2400" dirty="0"/>
              <a:t> β₁ </a:t>
            </a:r>
            <a:r>
              <a:rPr lang="pt-BR" sz="2400" dirty="0" smtClean="0"/>
              <a:t>x</a:t>
            </a:r>
            <a:endParaRPr lang="pt-BR" sz="2400" dirty="0"/>
          </a:p>
          <a:p>
            <a:pPr marL="0" indent="0" algn="just" fontAlgn="base">
              <a:buNone/>
            </a:pPr>
            <a:r>
              <a:rPr lang="en-US" sz="2400" dirty="0"/>
              <a:t>w</a:t>
            </a:r>
            <a:r>
              <a:rPr lang="en-US" sz="2400" dirty="0" smtClean="0"/>
              <a:t>here</a:t>
            </a:r>
            <a:r>
              <a:rPr lang="en-US" sz="2400" dirty="0"/>
              <a:t>:</a:t>
            </a:r>
          </a:p>
          <a:p>
            <a:pPr lvl="1" algn="just" fontAlgn="base"/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/>
              <a:t>)(</a:t>
            </a:r>
            <a:r>
              <a:rPr lang="en-US" i="1" dirty="0" smtClean="0"/>
              <a:t>or</a:t>
            </a:r>
            <a:r>
              <a:rPr lang="cy-GB" i="1" dirty="0" smtClean="0"/>
              <a:t>ŷ</a:t>
            </a:r>
            <a:r>
              <a:rPr lang="en-US" dirty="0" smtClean="0"/>
              <a:t>​</a:t>
            </a:r>
            <a:r>
              <a:rPr lang="en-US" dirty="0"/>
              <a:t>) is the predicted value of the dependent variable (y).</a:t>
            </a:r>
          </a:p>
          <a:p>
            <a:pPr lvl="1" algn="just" fontAlgn="base"/>
            <a:r>
              <a:rPr lang="en-US" dirty="0"/>
              <a:t>x </a:t>
            </a:r>
            <a:r>
              <a:rPr lang="en-US" dirty="0" smtClean="0"/>
              <a:t>is </a:t>
            </a:r>
            <a:r>
              <a:rPr lang="en-US" dirty="0"/>
              <a:t>the independent variable.</a:t>
            </a:r>
          </a:p>
          <a:p>
            <a:pPr lvl="1" algn="just" fontAlgn="base"/>
            <a:r>
              <a:rPr lang="en-US" dirty="0"/>
              <a:t>β</a:t>
            </a:r>
            <a:r>
              <a:rPr lang="en-US" dirty="0" smtClean="0"/>
              <a:t>₀</a:t>
            </a:r>
            <a:r>
              <a:rPr lang="en-US" i="1" dirty="0"/>
              <a:t> </a:t>
            </a:r>
            <a:r>
              <a:rPr lang="en-US" dirty="0" smtClean="0"/>
              <a:t>is </a:t>
            </a:r>
            <a:r>
              <a:rPr lang="en-US" dirty="0"/>
              <a:t>the intercept, representing the value of y when x is 0.</a:t>
            </a:r>
          </a:p>
          <a:p>
            <a:pPr lvl="1" algn="just" fontAlgn="base"/>
            <a:r>
              <a:rPr lang="en-US" dirty="0"/>
              <a:t>β</a:t>
            </a:r>
            <a:r>
              <a:rPr lang="en-US" dirty="0" smtClean="0"/>
              <a:t>₁</a:t>
            </a:r>
            <a:r>
              <a:rPr lang="en-US" dirty="0"/>
              <a:t> is the slope, indicating how much y changes for each unit change in x.</a:t>
            </a:r>
          </a:p>
          <a:p>
            <a:pPr marL="457200" lvl="1" indent="0" algn="just">
              <a:buNone/>
            </a:pPr>
            <a:endParaRPr lang="en-US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9440DDBE-D75C-469B-B6DA-D4195EBBB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179643" y="234683"/>
            <a:ext cx="70845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Hypothesis function in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637602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9A4D3-B624-1D25-00A3-34E422A5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F7B93-2F59-D7B9-9F58-66EB93441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262" y="1097027"/>
            <a:ext cx="10515600" cy="53985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For </a:t>
            </a:r>
            <a:r>
              <a:rPr lang="en-US" sz="2400" b="1" dirty="0"/>
              <a:t>multiple linear regression</a:t>
            </a:r>
            <a:r>
              <a:rPr lang="en-US" sz="2400" dirty="0"/>
              <a:t> (with more than one independent variable), the hypothesis function expands to: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 smtClean="0"/>
              <a:t>	h(x</a:t>
            </a:r>
            <a:r>
              <a:rPr lang="en-US" sz="2400" dirty="0"/>
              <a:t>₁</a:t>
            </a:r>
            <a:r>
              <a:rPr lang="en-US" sz="2400" dirty="0" smtClean="0"/>
              <a:t>, x</a:t>
            </a:r>
            <a:r>
              <a:rPr lang="en-US" sz="2400" dirty="0"/>
              <a:t>₂,...,xₖ</a:t>
            </a:r>
            <a:r>
              <a:rPr lang="en-US" sz="2400" dirty="0" smtClean="0"/>
              <a:t>) = </a:t>
            </a:r>
            <a:r>
              <a:rPr lang="el-GR" sz="2400" dirty="0" smtClean="0"/>
              <a:t>β₀</a:t>
            </a:r>
            <a:r>
              <a:rPr lang="en-US" sz="2400" dirty="0" smtClean="0"/>
              <a:t> </a:t>
            </a:r>
            <a:r>
              <a:rPr lang="el-GR" sz="2400" dirty="0" smtClean="0"/>
              <a:t>+</a:t>
            </a:r>
            <a:r>
              <a:rPr lang="en-US" sz="2400" dirty="0" smtClean="0"/>
              <a:t> </a:t>
            </a:r>
            <a:r>
              <a:rPr lang="el-GR" sz="2400" dirty="0" smtClean="0"/>
              <a:t>β</a:t>
            </a:r>
            <a:r>
              <a:rPr lang="el-GR" sz="2400" dirty="0"/>
              <a:t>₁</a:t>
            </a:r>
            <a:r>
              <a:rPr lang="en-US" sz="2400" dirty="0"/>
              <a:t>x</a:t>
            </a:r>
            <a:r>
              <a:rPr lang="en-US" sz="2400" dirty="0" smtClean="0"/>
              <a:t>₁ + </a:t>
            </a:r>
            <a:r>
              <a:rPr lang="el-GR" sz="2400" dirty="0" smtClean="0"/>
              <a:t>β</a:t>
            </a:r>
            <a:r>
              <a:rPr lang="el-GR" sz="2400" dirty="0"/>
              <a:t>₂</a:t>
            </a:r>
            <a:r>
              <a:rPr lang="en-US" sz="2400" dirty="0"/>
              <a:t>x</a:t>
            </a:r>
            <a:r>
              <a:rPr lang="en-US" sz="2400" dirty="0" smtClean="0"/>
              <a:t>₂ + ... + </a:t>
            </a:r>
            <a:r>
              <a:rPr lang="el-GR" sz="2400" dirty="0" smtClean="0"/>
              <a:t>β</a:t>
            </a:r>
            <a:r>
              <a:rPr lang="en-US" sz="2400" dirty="0"/>
              <a:t>ₖxₖ</a:t>
            </a:r>
          </a:p>
          <a:p>
            <a:pPr marL="0" indent="0" algn="just" fontAlgn="base">
              <a:buNone/>
            </a:pPr>
            <a:endParaRPr lang="en-US" sz="2400" b="1" dirty="0"/>
          </a:p>
          <a:p>
            <a:pPr marL="0" indent="0" algn="just" fontAlgn="base">
              <a:buNone/>
            </a:pPr>
            <a:r>
              <a:rPr lang="en-US" sz="2400" dirty="0"/>
              <a:t>w</a:t>
            </a:r>
            <a:r>
              <a:rPr lang="en-US" sz="2400" dirty="0" smtClean="0"/>
              <a:t>here</a:t>
            </a:r>
            <a:r>
              <a:rPr lang="en-US" sz="2400" dirty="0"/>
              <a:t>:</a:t>
            </a:r>
          </a:p>
          <a:p>
            <a:pPr algn="just" fontAlgn="base"/>
            <a:r>
              <a:rPr lang="en-US" sz="2400" dirty="0"/>
              <a:t>x₁</a:t>
            </a:r>
            <a:r>
              <a:rPr lang="en-US" sz="2400" dirty="0" smtClean="0"/>
              <a:t>, x</a:t>
            </a:r>
            <a:r>
              <a:rPr lang="en-US" sz="2400" dirty="0"/>
              <a:t>₂,...,x</a:t>
            </a:r>
            <a:r>
              <a:rPr lang="en-US" sz="2400" dirty="0" smtClean="0"/>
              <a:t>ₖ are </a:t>
            </a:r>
            <a:r>
              <a:rPr lang="en-US" sz="2400" dirty="0"/>
              <a:t>the independent variables.</a:t>
            </a:r>
          </a:p>
          <a:p>
            <a:pPr algn="just" fontAlgn="base"/>
            <a:r>
              <a:rPr lang="en-US" sz="2400" dirty="0"/>
              <a:t>β</a:t>
            </a:r>
            <a:r>
              <a:rPr lang="en-US" sz="2400" dirty="0" smtClean="0"/>
              <a:t>₀</a:t>
            </a:r>
            <a:r>
              <a:rPr lang="en-US" sz="2400" dirty="0"/>
              <a:t> is the intercept.</a:t>
            </a:r>
          </a:p>
          <a:p>
            <a:pPr algn="just" fontAlgn="base"/>
            <a:r>
              <a:rPr lang="en-US" sz="2400" dirty="0"/>
              <a:t>β₁</a:t>
            </a:r>
            <a:r>
              <a:rPr lang="en-US" sz="2400" dirty="0" smtClean="0"/>
              <a:t>, β</a:t>
            </a:r>
            <a:r>
              <a:rPr lang="en-US" sz="2400" dirty="0" smtClean="0"/>
              <a:t>₂</a:t>
            </a:r>
            <a:r>
              <a:rPr lang="en-US" sz="2400" dirty="0" smtClean="0"/>
              <a:t>, ..., β</a:t>
            </a:r>
            <a:r>
              <a:rPr lang="en-US" sz="2400" dirty="0" smtClean="0"/>
              <a:t>ₖ</a:t>
            </a:r>
            <a:r>
              <a:rPr lang="en-US" sz="2400" dirty="0"/>
              <a:t> are the coefficients, representing the influence of each respective independent variable on the predicted output.</a:t>
            </a:r>
          </a:p>
          <a:p>
            <a:pPr algn="just"/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026C0773-A42B-B5D6-8630-B17F1F09C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401317" y="60325"/>
            <a:ext cx="70845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3200" b="1" dirty="0">
                <a:solidFill>
                  <a:srgbClr val="C00000"/>
                </a:solidFill>
              </a:rPr>
              <a:t>Hypothesis function in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36477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F837-C748-6F8E-5851-4621E6464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90CE-E50B-B394-A631-DB3565E0C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212" y="1012994"/>
            <a:ext cx="10515600" cy="5821166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US" sz="2400" b="1" dirty="0" smtClean="0"/>
              <a:t>1. Linearity</a:t>
            </a:r>
            <a:r>
              <a:rPr lang="en-US" sz="2400" dirty="0"/>
              <a:t>: The relationship between inputs (X) and the output (Y) is a straight line</a:t>
            </a:r>
            <a:r>
              <a:rPr lang="en-US" sz="2400" dirty="0" smtClean="0"/>
              <a:t>.</a:t>
            </a:r>
            <a:r>
              <a:rPr lang="en-US" sz="2400" b="1" dirty="0"/>
              <a:t> </a:t>
            </a:r>
            <a:endParaRPr lang="en-US" sz="2400" b="1" dirty="0" smtClean="0"/>
          </a:p>
          <a:p>
            <a:pPr marL="514350" indent="-514350" algn="just" fontAlgn="base">
              <a:buFont typeface="Arial" panose="020B0604020202020204" pitchFamily="34" charset="0"/>
              <a:buAutoNum type="arabicPeriod"/>
            </a:pPr>
            <a:endParaRPr lang="en-US" sz="2400" b="1" dirty="0"/>
          </a:p>
          <a:p>
            <a:pPr marL="514350" indent="-514350" algn="just" fontAlgn="base">
              <a:buFont typeface="Arial" panose="020B0604020202020204" pitchFamily="34" charset="0"/>
              <a:buAutoNum type="arabicPeriod"/>
            </a:pPr>
            <a:endParaRPr lang="en-US" sz="2400" b="1" dirty="0" smtClean="0"/>
          </a:p>
          <a:p>
            <a:pPr marL="514350" indent="-514350" algn="just" fontAlgn="base">
              <a:buFont typeface="Arial" panose="020B0604020202020204" pitchFamily="34" charset="0"/>
              <a:buAutoNum type="arabicPeriod"/>
            </a:pPr>
            <a:endParaRPr lang="en-US" sz="2400" b="1" dirty="0" smtClean="0"/>
          </a:p>
          <a:p>
            <a:pPr marL="0" indent="0" algn="just" fontAlgn="base">
              <a:buNone/>
            </a:pPr>
            <a:endParaRPr lang="en-US" sz="2400" b="1" dirty="0"/>
          </a:p>
          <a:p>
            <a:pPr marL="514350" indent="-514350" algn="just" fontAlgn="base">
              <a:buFont typeface="Arial" panose="020B0604020202020204" pitchFamily="34" charset="0"/>
              <a:buAutoNum type="arabicPeriod"/>
            </a:pPr>
            <a:endParaRPr lang="en-US" sz="2400" b="1" dirty="0" smtClean="0"/>
          </a:p>
          <a:p>
            <a:pPr marL="514350" indent="-514350" algn="just" fontAlgn="base">
              <a:buFont typeface="Arial" panose="020B0604020202020204" pitchFamily="34" charset="0"/>
              <a:buAutoNum type="arabicPeriod"/>
            </a:pPr>
            <a:endParaRPr lang="en-US" sz="2400" b="1" dirty="0"/>
          </a:p>
          <a:p>
            <a:pPr marL="0" indent="0" algn="just" fontAlgn="base">
              <a:buNone/>
            </a:pPr>
            <a:endParaRPr lang="en-US" sz="2400" b="1" dirty="0" smtClean="0"/>
          </a:p>
          <a:p>
            <a:pPr marL="0" indent="0" algn="just" fontAlgn="base">
              <a:buNone/>
            </a:pPr>
            <a:r>
              <a:rPr lang="en-US" sz="2400" b="1" dirty="0" smtClean="0"/>
              <a:t>2</a:t>
            </a:r>
            <a:r>
              <a:rPr lang="en-US" sz="2400" b="1" dirty="0"/>
              <a:t>. Independence of Errors</a:t>
            </a:r>
            <a:r>
              <a:rPr lang="en-US" sz="2400" dirty="0"/>
              <a:t>: The errors in predictions should not affect each other</a:t>
            </a:r>
            <a:r>
              <a:rPr lang="en-US" sz="2400" dirty="0" smtClean="0"/>
              <a:t>.</a:t>
            </a:r>
          </a:p>
          <a:p>
            <a:pPr marL="0" indent="0" algn="just" fontAlgn="base">
              <a:buNone/>
            </a:pPr>
            <a:r>
              <a:rPr lang="en-US" sz="2400" b="1" dirty="0" smtClean="0"/>
              <a:t>3. </a:t>
            </a:r>
            <a:r>
              <a:rPr lang="en-US" sz="2400" b="1" dirty="0"/>
              <a:t>Normality of Errors: </a:t>
            </a:r>
            <a:r>
              <a:rPr lang="en-US" sz="2400" dirty="0"/>
              <a:t>The errors should follow a normal (bell-shaped) distribution</a:t>
            </a:r>
            <a:r>
              <a:rPr lang="en-US" sz="2400" dirty="0" smtClean="0"/>
              <a:t>.</a:t>
            </a:r>
          </a:p>
          <a:p>
            <a:pPr marL="0" indent="0" algn="just" fontAlgn="base">
              <a:buNone/>
            </a:pPr>
            <a:r>
              <a:rPr lang="en-US" sz="2400" b="1" dirty="0" smtClean="0"/>
              <a:t>4</a:t>
            </a:r>
            <a:r>
              <a:rPr lang="en-US" sz="2400" dirty="0" smtClean="0"/>
              <a:t>. </a:t>
            </a:r>
            <a:r>
              <a:rPr lang="en-US" sz="2400" b="1" dirty="0"/>
              <a:t>No </a:t>
            </a:r>
            <a:r>
              <a:rPr lang="en-US" sz="2400" b="1" dirty="0" smtClean="0"/>
              <a:t>Multi-collinearity </a:t>
            </a:r>
            <a:r>
              <a:rPr lang="en-US" sz="2400" b="1" i="1" dirty="0" smtClean="0"/>
              <a:t>(</a:t>
            </a:r>
            <a:r>
              <a:rPr lang="en-US" sz="2400" b="1" dirty="0"/>
              <a:t>for multiple regression)</a:t>
            </a:r>
            <a:r>
              <a:rPr lang="en-US" sz="2400" dirty="0"/>
              <a:t>: Input variables shouldn’t be too closely related to each other.</a:t>
            </a:r>
          </a:p>
          <a:p>
            <a:pPr marL="0" indent="0" algn="just" fontAlgn="base">
              <a:buNone/>
            </a:pPr>
            <a:endParaRPr lang="en-US" sz="2400" dirty="0"/>
          </a:p>
          <a:p>
            <a:pPr marL="0" indent="0" algn="just" fontAlgn="base">
              <a:buNone/>
            </a:pPr>
            <a:endParaRPr lang="en-US" sz="2400" dirty="0"/>
          </a:p>
          <a:p>
            <a:pPr algn="just"/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D3B9C842-1639-C5BB-6139-A7A9D9D33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Lightbox">
            <a:extLst>
              <a:ext uri="{FF2B5EF4-FFF2-40B4-BE49-F238E27FC236}">
                <a16:creationId xmlns:a16="http://schemas.microsoft.com/office/drawing/2014/main" id="{ECD12E33-5017-FB0E-5ABE-B17134720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299" y="1911381"/>
            <a:ext cx="9115425" cy="280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051159" y="60325"/>
            <a:ext cx="65619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3200" b="1" dirty="0">
                <a:solidFill>
                  <a:srgbClr val="C00000"/>
                </a:solidFill>
              </a:rPr>
              <a:t>Assumptions of the Linear Regression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589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29C-554C-CF0C-CC93-1342DAA6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BB056-9C1C-D28B-4E03-784F69D9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6315"/>
            <a:ext cx="12081164" cy="6123358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US" sz="2400" b="1" dirty="0"/>
              <a:t>5</a:t>
            </a:r>
            <a:r>
              <a:rPr lang="en-US" sz="2400" b="1" dirty="0" smtClean="0"/>
              <a:t>. </a:t>
            </a:r>
            <a:r>
              <a:rPr lang="en-US" sz="2400" b="1" dirty="0"/>
              <a:t>Constant Variance (Homoscedasticity): </a:t>
            </a:r>
            <a:r>
              <a:rPr lang="en-US" sz="2400" dirty="0"/>
              <a:t>The errors should have equal spread across all values of the input. If the spread changes (like fans out or shrinks), it's called heteroscedasticity and it's a problem for the model</a:t>
            </a:r>
            <a:r>
              <a:rPr lang="en-US" sz="2400" dirty="0" smtClean="0"/>
              <a:t>.</a:t>
            </a:r>
          </a:p>
          <a:p>
            <a:pPr marL="0" indent="0" algn="just" fontAlgn="base">
              <a:buNone/>
            </a:pPr>
            <a:endParaRPr lang="en-US" sz="2400" dirty="0"/>
          </a:p>
          <a:p>
            <a:pPr marL="0" indent="0" algn="just" fontAlgn="base">
              <a:buNone/>
            </a:pPr>
            <a:endParaRPr lang="en-US" sz="2400" dirty="0" smtClean="0"/>
          </a:p>
          <a:p>
            <a:pPr marL="0" indent="0" algn="just" fontAlgn="base">
              <a:buNone/>
            </a:pPr>
            <a:endParaRPr lang="en-US" sz="2400" dirty="0"/>
          </a:p>
          <a:p>
            <a:pPr marL="0" indent="0" algn="just" fontAlgn="base">
              <a:buNone/>
            </a:pPr>
            <a:endParaRPr lang="en-US" sz="2400" dirty="0" smtClean="0"/>
          </a:p>
          <a:p>
            <a:pPr marL="0" indent="0" algn="just" fontAlgn="base">
              <a:buNone/>
            </a:pPr>
            <a:endParaRPr lang="en-US" sz="2400" dirty="0"/>
          </a:p>
          <a:p>
            <a:pPr marL="0" indent="0" algn="just" fontAlgn="base">
              <a:buNone/>
            </a:pPr>
            <a:endParaRPr lang="en-US" sz="2400" dirty="0" smtClean="0"/>
          </a:p>
          <a:p>
            <a:pPr marL="0" indent="0" algn="just" fontAlgn="base">
              <a:buNone/>
            </a:pPr>
            <a:endParaRPr lang="en-US" sz="2400" dirty="0" smtClean="0"/>
          </a:p>
          <a:p>
            <a:pPr marL="0" indent="0" fontAlgn="base">
              <a:buNone/>
            </a:pPr>
            <a:r>
              <a:rPr lang="en-US" sz="2400" b="1" dirty="0" smtClean="0"/>
              <a:t>6. No </a:t>
            </a:r>
            <a:r>
              <a:rPr lang="en-US" sz="2400" b="1" dirty="0"/>
              <a:t>Autocorrelation</a:t>
            </a:r>
            <a:r>
              <a:rPr lang="en-US" sz="2400" dirty="0"/>
              <a:t>: Errors shouldn't show repeating patterns, especially in time-based data.</a:t>
            </a:r>
          </a:p>
          <a:p>
            <a:pPr marL="0" indent="0" fontAlgn="base">
              <a:buNone/>
            </a:pPr>
            <a:r>
              <a:rPr lang="en-US" sz="2400" b="1" dirty="0"/>
              <a:t>7. Additivity</a:t>
            </a:r>
            <a:r>
              <a:rPr lang="en-US" sz="2400" dirty="0"/>
              <a:t>: The total effect on Y is just the sum of effects from each X, no mixing or interaction between them.'</a:t>
            </a:r>
          </a:p>
          <a:p>
            <a:pPr marL="0" indent="0" algn="just" fontAlgn="base">
              <a:buNone/>
            </a:pPr>
            <a:endParaRPr lang="en-US" sz="2400" dirty="0"/>
          </a:p>
          <a:p>
            <a:pPr algn="just"/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748671D-3F1B-2997-438D-742786D5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Lightbox">
            <a:extLst>
              <a:ext uri="{FF2B5EF4-FFF2-40B4-BE49-F238E27FC236}">
                <a16:creationId xmlns:a16="http://schemas.microsoft.com/office/drawing/2014/main" id="{4A721D6D-3361-F4CA-2895-063485B65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254" y="1850026"/>
            <a:ext cx="5480237" cy="307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759587" y="126961"/>
            <a:ext cx="65619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3200" b="1" dirty="0">
                <a:solidFill>
                  <a:srgbClr val="C00000"/>
                </a:solidFill>
              </a:rPr>
              <a:t>Assumptions of the Linear Regression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516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CF3E2-8858-3CE6-7113-B6D181CF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5BD2DF-4650-2D6A-D921-C3EFAA942B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6262" y="984024"/>
                <a:ext cx="10515600" cy="5384449"/>
              </a:xfrm>
            </p:spPr>
            <p:txBody>
              <a:bodyPr>
                <a:normAutofit/>
              </a:bodyPr>
              <a:lstStyle/>
              <a:p>
                <a:pPr marL="0" indent="0" fontAlgn="base">
                  <a:buNone/>
                </a:pPr>
                <a:r>
                  <a:rPr lang="en-US" sz="2400" b="1" dirty="0" smtClean="0"/>
                  <a:t>1. Simple Linear Regression</a:t>
                </a:r>
              </a:p>
              <a:p>
                <a:pPr marL="0" indent="0" algn="just" fontAlgn="base">
                  <a:buNone/>
                </a:pPr>
                <a:r>
                  <a:rPr lang="en-US" sz="2400" dirty="0" smtClean="0"/>
                  <a:t>Simple </a:t>
                </a:r>
                <a:r>
                  <a:rPr lang="en-US" sz="2400" dirty="0"/>
                  <a:t>linear </a:t>
                </a:r>
                <a:r>
                  <a:rPr lang="en-US" sz="2400" dirty="0" smtClean="0"/>
                  <a:t>regression</a:t>
                </a:r>
                <a:r>
                  <a:rPr lang="en-US" sz="2400" dirty="0" smtClean="0"/>
                  <a:t> </a:t>
                </a:r>
                <a:r>
                  <a:rPr lang="en-US" sz="2400" dirty="0" smtClean="0"/>
                  <a:t>is </a:t>
                </a:r>
                <a:r>
                  <a:rPr lang="en-US" sz="2400" dirty="0"/>
                  <a:t>used when we want to predict a target value (dependent variable) using only one input feature (independent variable). It assumes a straight-line relationship between the two.</a:t>
                </a:r>
              </a:p>
              <a:p>
                <a:pPr marL="0" indent="0" fontAlgn="base">
                  <a:buNone/>
                </a:pPr>
                <a:r>
                  <a:rPr lang="en-US" sz="2400" b="1" dirty="0" smtClean="0"/>
                  <a:t>Formula:		</a:t>
                </a:r>
                <a:r>
                  <a:rPr lang="cy-GB" sz="2400" dirty="0"/>
                  <a:t> </a:t>
                </a:r>
                <a14:m>
                  <m:oMath xmlns:m="http://schemas.openxmlformats.org/officeDocument/2006/math">
                    <m:r>
                      <a:rPr lang="cy-GB" sz="2400" i="1"/>
                      <m:t>ŷ</m:t>
                    </m:r>
                  </m:oMath>
                </a14:m>
                <a:r>
                  <a:rPr lang="en-US" sz="2400" dirty="0" smtClean="0"/>
                  <a:t> ​=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 smtClean="0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400" dirty="0"/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l-GR" sz="2400" dirty="0"/>
                          <m:t>0</m:t>
                        </m:r>
                        <m:r>
                          <a:rPr lang="en-US" sz="2400" b="0" i="1" dirty="0" smtClean="0"/>
                          <m:t> </m:t>
                        </m:r>
                      </m:sub>
                    </m:sSub>
                  </m:oMath>
                </a14:m>
                <a:r>
                  <a:rPr lang="el-GR" sz="2400" dirty="0" smtClean="0"/>
                  <a:t>​+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400" dirty="0"/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sub>
                    </m:sSub>
                  </m:oMath>
                </a14:m>
                <a:r>
                  <a:rPr lang="el-GR" sz="2400" dirty="0" smtClean="0"/>
                  <a:t>​</a:t>
                </a:r>
                <a:r>
                  <a:rPr lang="el-GR" sz="2400" dirty="0" smtClean="0"/>
                  <a:t>​</a:t>
                </a:r>
                <a:r>
                  <a:rPr lang="en-US" sz="2400" dirty="0"/>
                  <a:t>x</a:t>
                </a:r>
                <a:endParaRPr lang="en-US" sz="2400" dirty="0"/>
              </a:p>
              <a:p>
                <a:pPr marL="0" indent="0" fontAlgn="base">
                  <a:buNone/>
                </a:pPr>
                <a:r>
                  <a:rPr lang="en-US" sz="2400" dirty="0"/>
                  <a:t>w</a:t>
                </a:r>
                <a:r>
                  <a:rPr lang="en-US" sz="2400" dirty="0" smtClean="0"/>
                  <a:t>here</a:t>
                </a:r>
                <a:r>
                  <a:rPr lang="en-US" sz="2400" dirty="0"/>
                  <a:t>:</a:t>
                </a:r>
              </a:p>
              <a:p>
                <a:pPr lvl="1" fontAlgn="base"/>
                <a14:m>
                  <m:oMath xmlns:m="http://schemas.openxmlformats.org/officeDocument/2006/math">
                    <m:r>
                      <a:rPr lang="cy-GB" i="1"/>
                      <m:t>ŷ </m:t>
                    </m:r>
                  </m:oMath>
                </a14:m>
                <a:r>
                  <a:rPr lang="en-US" dirty="0" smtClean="0"/>
                  <a:t>​​ </a:t>
                </a:r>
                <a:r>
                  <a:rPr lang="en-US" dirty="0"/>
                  <a:t>is the predicted value</a:t>
                </a:r>
              </a:p>
              <a:p>
                <a:pPr lvl="1" fontAlgn="base"/>
                <a:r>
                  <a:rPr lang="en-US" dirty="0"/>
                  <a:t>x</a:t>
                </a:r>
                <a:r>
                  <a:rPr lang="en-US" i="1" dirty="0" smtClean="0"/>
                  <a:t> </a:t>
                </a:r>
                <a:r>
                  <a:rPr lang="en-US" dirty="0" smtClean="0"/>
                  <a:t>is </a:t>
                </a:r>
                <a:r>
                  <a:rPr lang="en-US" dirty="0"/>
                  <a:t>the input (independent variable)</a:t>
                </a:r>
              </a:p>
              <a:p>
                <a:pPr lvl="1" fontAlgn="base"/>
                <a:r>
                  <a:rPr lang="en-US" dirty="0" smtClean="0"/>
                  <a:t>​</a:t>
                </a:r>
                <a:r>
                  <a:rPr lang="en-US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l-GR" dirty="0"/>
                          <m:t>0</m:t>
                        </m:r>
                        <m:r>
                          <a:rPr lang="en-US" i="1" dirty="0"/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is the intercept (value of </a:t>
                </a:r>
                <a:r>
                  <a:rPr lang="cy-GB" dirty="0"/>
                  <a:t> </a:t>
                </a:r>
                <a14:m>
                  <m:oMath xmlns:m="http://schemas.openxmlformats.org/officeDocument/2006/math">
                    <m:r>
                      <a:rPr lang="cy-GB" i="1"/>
                      <m:t>ŷ </m:t>
                    </m:r>
                  </m:oMath>
                </a14:m>
                <a:r>
                  <a:rPr lang="en-US" dirty="0" smtClean="0"/>
                  <a:t>​​​</a:t>
                </a:r>
                <a:r>
                  <a:rPr lang="en-US" dirty="0"/>
                  <a:t> when x=0)</a:t>
                </a:r>
              </a:p>
              <a:p>
                <a:pPr lvl="1" fontAlgn="base"/>
                <a:r>
                  <a:rPr lang="en-US" dirty="0" smtClean="0"/>
                  <a:t>​​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is the slope or coefficient (how much </a:t>
                </a:r>
                <a:r>
                  <a:rPr lang="cy-GB" dirty="0"/>
                  <a:t> </a:t>
                </a:r>
                <a14:m>
                  <m:oMath xmlns:m="http://schemas.openxmlformats.org/officeDocument/2006/math">
                    <m:r>
                      <a:rPr lang="cy-GB" i="1"/>
                      <m:t>ŷ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changes with one unit of x)</a:t>
                </a:r>
              </a:p>
              <a:p>
                <a:pPr marL="0" indent="0" fontAlgn="base">
                  <a:buNone/>
                </a:pPr>
                <a:r>
                  <a:rPr lang="en-US" sz="2400" b="1" dirty="0"/>
                  <a:t>Example:</a:t>
                </a:r>
              </a:p>
              <a:p>
                <a:pPr fontAlgn="base"/>
                <a:r>
                  <a:rPr lang="en-US" sz="2400" dirty="0"/>
                  <a:t>Predicting a person’s salary (y) based on their years of experience (x).</a:t>
                </a:r>
              </a:p>
              <a:p>
                <a:pPr marL="0" indent="0" algn="just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5BD2DF-4650-2D6A-D921-C3EFAA942B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6262" y="984024"/>
                <a:ext cx="10515600" cy="5384449"/>
              </a:xfrm>
              <a:blipFill>
                <a:blip r:embed="rId2"/>
                <a:stretch>
                  <a:fillRect l="-870" t="-1584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79C55DF7-CA61-D84E-520C-BA3DEF448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804031" y="60325"/>
            <a:ext cx="46800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3200" b="1" dirty="0">
                <a:solidFill>
                  <a:srgbClr val="C00000"/>
                </a:solidFill>
              </a:rPr>
              <a:t>Types of Linear Regression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773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871F-EA2D-F714-515B-87628E58D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F734B7-96C1-1EDC-79DA-F38DAC1A7C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6262" y="1205696"/>
                <a:ext cx="10515600" cy="5216707"/>
              </a:xfrm>
            </p:spPr>
            <p:txBody>
              <a:bodyPr>
                <a:normAutofit/>
              </a:bodyPr>
              <a:lstStyle/>
              <a:p>
                <a:pPr marL="0" indent="0" algn="just" fontAlgn="base">
                  <a:buNone/>
                </a:pPr>
                <a:r>
                  <a:rPr lang="en-US" sz="2400" b="1" dirty="0" smtClean="0"/>
                  <a:t>2. Multiple Linear Regression</a:t>
                </a:r>
              </a:p>
              <a:p>
                <a:pPr marL="0" indent="0" algn="just" fontAlgn="base">
                  <a:buNone/>
                </a:pPr>
                <a:r>
                  <a:rPr lang="en-US" sz="2400" dirty="0"/>
                  <a:t>Multiple linear regression involves more than one independent variable and one dependent variable. The equation for multiple linear regression is:</a:t>
                </a:r>
              </a:p>
              <a:p>
                <a:pPr marL="0" indent="0" algn="just" fontAlgn="base">
                  <a:buNone/>
                </a:pPr>
                <a:r>
                  <a:rPr lang="cy-GB" sz="2400" dirty="0" smtClean="0"/>
                  <a:t>	ŷ</a:t>
                </a:r>
                <a:r>
                  <a:rPr lang="en-US" sz="2400" dirty="0" smtClean="0"/>
                  <a:t> </a:t>
                </a:r>
                <a:r>
                  <a:rPr lang="el-GR" sz="2400" dirty="0" smtClean="0"/>
                  <a:t>​=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400" dirty="0"/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l-GR" sz="2400" dirty="0"/>
                          <m:t>0</m:t>
                        </m:r>
                      </m:sub>
                    </m:sSub>
                    <m:r>
                      <a:rPr lang="en-US" sz="2400" b="0" i="0" smtClean="0"/>
                      <m:t> </m:t>
                    </m:r>
                  </m:oMath>
                </a14:m>
                <a:r>
                  <a:rPr lang="el-GR" sz="2400" dirty="0" smtClean="0"/>
                  <a:t>​+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400" dirty="0"/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sub>
                    </m:sSub>
                    <m:sSub>
                      <m:sSubPr>
                        <m:ctrlPr>
                          <a:rPr lang="el-GR" sz="2400" i="1" dirty="0" smtClean="0"/>
                        </m:ctrlPr>
                      </m:sSubPr>
                      <m:e>
                        <m:r>
                          <a:rPr lang="en-US" sz="2400" b="0" i="1" dirty="0" smtClean="0"/>
                          <m:t>𝑥</m:t>
                        </m:r>
                      </m:e>
                      <m:sub>
                        <m:r>
                          <a:rPr lang="en-US" sz="2400" b="0" i="1" dirty="0" smtClean="0"/>
                          <m:t>1</m:t>
                        </m:r>
                      </m:sub>
                    </m:sSub>
                  </m:oMath>
                </a14:m>
                <a:r>
                  <a:rPr lang="el-GR" sz="2400" dirty="0" smtClean="0"/>
                  <a:t>​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​+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400" dirty="0"/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b="0" i="0" dirty="0" smtClean="0"/>
                          <m:t>2</m:t>
                        </m:r>
                      </m:sub>
                    </m:sSub>
                    <m:sSub>
                      <m:sSubPr>
                        <m:ctrlPr>
                          <a:rPr lang="el-GR" sz="2400" i="1" dirty="0"/>
                        </m:ctrlPr>
                      </m:sSubPr>
                      <m:e>
                        <m:r>
                          <a:rPr lang="en-US" sz="2400" i="1" dirty="0"/>
                          <m:t>𝑥</m:t>
                        </m:r>
                      </m:e>
                      <m:sub>
                        <m:r>
                          <a:rPr lang="en-US" sz="2400" b="0" i="1" dirty="0" smtClean="0"/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​+⋯+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400" dirty="0"/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b="0" i="0" dirty="0" smtClean="0"/>
                          <m:t>n</m:t>
                        </m:r>
                      </m:sub>
                    </m:sSub>
                    <m:sSub>
                      <m:sSubPr>
                        <m:ctrlPr>
                          <a:rPr lang="el-GR" sz="2400" i="1" dirty="0"/>
                        </m:ctrlPr>
                      </m:sSubPr>
                      <m:e>
                        <m:r>
                          <a:rPr lang="en-US" sz="2400" i="1" dirty="0"/>
                          <m:t>𝑥</m:t>
                        </m:r>
                      </m:e>
                      <m:sub>
                        <m:r>
                          <a:rPr lang="en-US" sz="2400" b="0" i="1" dirty="0" smtClean="0"/>
                          <m:t>𝑛</m:t>
                        </m:r>
                      </m:sub>
                    </m:sSub>
                  </m:oMath>
                </a14:m>
                <a:endParaRPr lang="en-US" sz="2400" b="1" dirty="0" smtClean="0"/>
              </a:p>
              <a:p>
                <a:pPr marL="0" indent="0" algn="just" fontAlgn="base">
                  <a:buNone/>
                </a:pPr>
                <a:r>
                  <a:rPr lang="en-US" sz="2400" dirty="0" smtClean="0"/>
                  <a:t>where</a:t>
                </a:r>
                <a:r>
                  <a:rPr lang="en-US" sz="2400" dirty="0"/>
                  <a:t>:</a:t>
                </a:r>
              </a:p>
              <a:p>
                <a:pPr lvl="1" algn="just" fontAlgn="base"/>
                <a:r>
                  <a:rPr lang="cy-GB" dirty="0"/>
                  <a:t>ŷ </a:t>
                </a:r>
                <a:r>
                  <a:rPr lang="en-US" dirty="0" smtClean="0"/>
                  <a:t>​​ </a:t>
                </a:r>
                <a:r>
                  <a:rPr lang="en-US" dirty="0"/>
                  <a:t>is the predicted value</a:t>
                </a:r>
              </a:p>
              <a:p>
                <a:pPr lvl="1" algn="just" fontAlgn="base"/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/>
                        </m:ctrlPr>
                      </m:sSubPr>
                      <m:e>
                        <m:r>
                          <a:rPr lang="en-US" i="1" dirty="0"/>
                          <m:t>𝑥</m:t>
                        </m:r>
                      </m:e>
                      <m:sub>
                        <m:r>
                          <a:rPr lang="en-US" i="1" dirty="0"/>
                          <m:t>1</m:t>
                        </m:r>
                      </m:sub>
                    </m:sSub>
                  </m:oMath>
                </a14:m>
                <a:r>
                  <a:rPr lang="el-GR" dirty="0" smtClean="0"/>
                  <a:t>​</a:t>
                </a:r>
                <a:r>
                  <a:rPr lang="en-US" dirty="0" smtClean="0"/>
                  <a:t>,</a:t>
                </a:r>
                <a:r>
                  <a:rPr lang="el-G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/>
                        </m:ctrlPr>
                      </m:sSubPr>
                      <m:e>
                        <m:r>
                          <a:rPr lang="en-US" i="1" dirty="0"/>
                          <m:t>𝑥</m:t>
                        </m:r>
                      </m:e>
                      <m:sub>
                        <m:r>
                          <a:rPr lang="en-US" i="1" dirty="0"/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/>
                        </m:ctrlPr>
                      </m:sSubPr>
                      <m:e>
                        <m:r>
                          <a:rPr lang="en-US" i="1" dirty="0"/>
                          <m:t>𝑥</m:t>
                        </m:r>
                      </m:e>
                      <m:sub>
                        <m:r>
                          <a:rPr lang="en-US" i="1" dirty="0"/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 smtClean="0"/>
                  <a:t>are </a:t>
                </a:r>
                <a:r>
                  <a:rPr lang="en-US" dirty="0"/>
                  <a:t>the independent variables</a:t>
                </a:r>
              </a:p>
              <a:p>
                <a:pPr lvl="1" algn="just" fontAlgn="base"/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</m:sub>
                    </m:sSub>
                  </m:oMath>
                </a14:m>
                <a:r>
                  <a:rPr lang="en-US" dirty="0" smtClean="0"/>
                  <a:t>​</a:t>
                </a:r>
                <a:r>
                  <a:rPr lang="en-US" dirty="0"/>
                  <a:t> are the coefficients (weights) corresponding to each predictor.</a:t>
                </a:r>
              </a:p>
              <a:p>
                <a:pPr lvl="1" algn="just" fontAlgn="base"/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l-GR" dirty="0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​ is the </a:t>
                </a:r>
                <a:r>
                  <a:rPr lang="en-US" dirty="0" smtClean="0"/>
                  <a:t>intercept.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F734B7-96C1-1EDC-79DA-F38DAC1A7C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6262" y="1205696"/>
                <a:ext cx="10515600" cy="5216707"/>
              </a:xfrm>
              <a:blipFill>
                <a:blip r:embed="rId2"/>
                <a:stretch>
                  <a:fillRect l="-870" t="-1636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0DE1C66-9EBA-38BB-E3F9-12D14258C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804030" y="105096"/>
            <a:ext cx="46800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3200" b="1" dirty="0">
                <a:solidFill>
                  <a:srgbClr val="C00000"/>
                </a:solidFill>
              </a:rPr>
              <a:t>Types of Linear Regression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337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0FFE-F975-10BB-4E37-3CBE7D5AB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CBE2E-6BEB-4D62-07FB-95873CB595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6262" y="1122570"/>
                <a:ext cx="10515600" cy="5216707"/>
              </a:xfrm>
            </p:spPr>
            <p:txBody>
              <a:bodyPr>
                <a:normAutofit/>
              </a:bodyPr>
              <a:lstStyle/>
              <a:p>
                <a:pPr marL="0" indent="0" algn="just" fontAlgn="base">
                  <a:buNone/>
                </a:pPr>
                <a:r>
                  <a:rPr lang="en-US" sz="2400" b="1" dirty="0" smtClean="0"/>
                  <a:t>1</a:t>
                </a:r>
                <a:r>
                  <a:rPr lang="en-US" sz="2400" b="1" dirty="0"/>
                  <a:t>. Mean Square Error (MSE)</a:t>
                </a:r>
              </a:p>
              <a:p>
                <a:pPr algn="just" fontAlgn="base"/>
                <a:r>
                  <a:rPr lang="en-US" sz="2400" dirty="0"/>
                  <a:t>Mean Squared Error (MSE) is an evaluation metric that calculates the average of the squared differences between the actual and predicted values for all the data points. </a:t>
                </a:r>
                <a:endParaRPr lang="en-US" sz="2400" dirty="0" smtClean="0"/>
              </a:p>
              <a:p>
                <a:pPr algn="just" fontAlgn="base"/>
                <a:r>
                  <a:rPr lang="en-US" sz="2400" dirty="0" smtClean="0"/>
                  <a:t>The </a:t>
                </a:r>
                <a:r>
                  <a:rPr lang="en-US" sz="2400" dirty="0"/>
                  <a:t>difference is squared to ensure that negative and positive differences don't cancel each other out.</a:t>
                </a:r>
              </a:p>
              <a:p>
                <a:pPr marL="0" indent="0" algn="just" fontAlgn="base">
                  <a:buNone/>
                </a:pPr>
                <a:r>
                  <a:rPr lang="pt-BR" sz="2400" i="1" dirty="0" smtClean="0"/>
                  <a:t>	</a:t>
                </a:r>
                <a:r>
                  <a:rPr lang="pt-BR" sz="2400" dirty="0" smtClean="0"/>
                  <a:t>MSE</a:t>
                </a:r>
                <a:r>
                  <a:rPr lang="pt-BR" sz="2400" i="1" dirty="0" smtClean="0"/>
                  <a:t> </a:t>
                </a:r>
                <a:r>
                  <a:rPr lang="pt-BR" sz="240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 smtClean="0"/>
                        </m:ctrlPr>
                      </m:fPr>
                      <m:num>
                        <m:r>
                          <a:rPr lang="en-US" sz="2400" b="0" i="1" smtClean="0"/>
                          <m:t>1</m:t>
                        </m:r>
                      </m:num>
                      <m:den>
                        <m:r>
                          <a:rPr lang="en-US" sz="2400" b="0" i="1" smtClean="0"/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sz="2400" i="1" smtClean="0"/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/>
                          <m:t>𝑖</m:t>
                        </m:r>
                        <m:r>
                          <a:rPr lang="en-US" sz="2400" b="0" i="1" smtClean="0"/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smtClean="0"/>
                          <m:t>1</m:t>
                        </m:r>
                      </m:sub>
                      <m:sup>
                        <m:r>
                          <a:rPr lang="en-US" sz="2400" b="0" i="1" smtClean="0"/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b="0" i="1" smtClean="0"/>
                            </m:ctrlPr>
                          </m:sSupPr>
                          <m:e>
                            <m:r>
                              <a:rPr lang="en-US" sz="2400" i="1"/>
                              <m:t>(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𝑦</m:t>
                                </m:r>
                              </m:e>
                              <m:sub>
                                <m:r>
                                  <a:rPr lang="en-US" sz="2400" i="1"/>
                                  <m:t>𝑖</m:t>
                                </m:r>
                              </m:sub>
                            </m:sSub>
                            <m:r>
                              <a:rPr lang="en-US" sz="2400" i="1"/>
                              <m:t>−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cy-GB" sz="2400" i="1"/>
                                  <m:t>ŷ</m:t>
                                </m:r>
                              </m:e>
                              <m:sub>
                                <m:r>
                                  <a:rPr lang="en-US" sz="2400" i="1"/>
                                  <m:t>𝑖</m:t>
                                </m:r>
                              </m:sub>
                            </m:sSub>
                            <m:r>
                              <a:rPr lang="en-US" sz="2400" i="1"/>
                              <m:t>)</m:t>
                            </m:r>
                          </m:e>
                          <m:sup>
                            <m:r>
                              <a:rPr lang="en-US" sz="2400" b="0" i="1" smtClean="0"/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pt-BR" sz="2400" dirty="0"/>
              </a:p>
              <a:p>
                <a:pPr marL="0" indent="0" algn="just" fontAlgn="base">
                  <a:buNone/>
                </a:pPr>
                <a:r>
                  <a:rPr lang="en-US" sz="2400" dirty="0" smtClean="0"/>
                  <a:t>where</a:t>
                </a:r>
                <a:r>
                  <a:rPr lang="en-US" sz="2400" dirty="0" smtClean="0"/>
                  <a:t>,</a:t>
                </a:r>
                <a:endParaRPr lang="en-US" sz="2400" dirty="0"/>
              </a:p>
              <a:p>
                <a:pPr lvl="1" algn="just" fontAlgn="base"/>
                <a:r>
                  <a:rPr lang="en-US" dirty="0"/>
                  <a:t>n</a:t>
                </a:r>
                <a:r>
                  <a:rPr lang="en-US" i="1" dirty="0" smtClean="0"/>
                  <a:t> </a:t>
                </a:r>
                <a:r>
                  <a:rPr lang="en-US" dirty="0" smtClean="0"/>
                  <a:t>is </a:t>
                </a:r>
                <a:r>
                  <a:rPr lang="en-US" dirty="0"/>
                  <a:t>the number of data points.</a:t>
                </a:r>
              </a:p>
              <a:p>
                <a:pPr lvl="1" algn="just" fontAlgn="base"/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𝑖</m:t>
                        </m:r>
                      </m:sub>
                    </m:sSub>
                    <m:r>
                      <a:rPr lang="en-US" b="0" i="1" smtClean="0"/>
                      <m:t> </m:t>
                    </m:r>
                  </m:oMath>
                </a14:m>
                <a:r>
                  <a:rPr lang="en-US" dirty="0" smtClean="0"/>
                  <a:t>​</a:t>
                </a:r>
                <a:r>
                  <a:rPr lang="en-US" dirty="0"/>
                  <a:t>is the actual or observed value for </a:t>
                </a:r>
                <a:r>
                  <a:rPr lang="en-US" dirty="0" smtClean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/>
                        </m:ctrlPr>
                      </m:sSupPr>
                      <m:e>
                        <m:r>
                          <a:rPr lang="en-US" b="0" i="1" smtClean="0"/>
                          <m:t>𝑖</m:t>
                        </m:r>
                      </m:e>
                      <m:sup>
                        <m:r>
                          <a:rPr lang="en-US" b="0" i="1" smtClean="0"/>
                          <m:t>𝑡</m:t>
                        </m:r>
                        <m:r>
                          <a:rPr lang="en-US" b="0" i="1" smtClean="0"/>
                          <m:t>h</m:t>
                        </m:r>
                      </m:sup>
                    </m:sSup>
                  </m:oMath>
                </a14:m>
                <a:r>
                  <a:rPr lang="en-US" dirty="0" smtClean="0"/>
                  <a:t> data </a:t>
                </a:r>
                <a:r>
                  <a:rPr lang="en-US" dirty="0"/>
                  <a:t>point.</a:t>
                </a:r>
              </a:p>
              <a:p>
                <a:pPr lvl="1" algn="just" fontAlgn="base"/>
                <a:r>
                  <a:rPr lang="en-US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cy-GB" i="1"/>
                          <m:t>ŷ</m:t>
                        </m:r>
                      </m:e>
                      <m:sub>
                        <m:r>
                          <a:rPr lang="en-US" i="1"/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is the predicted value for the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𝑖</m:t>
                        </m:r>
                      </m:e>
                      <m:sup>
                        <m:r>
                          <a:rPr lang="en-US" i="1"/>
                          <m:t>𝑡</m:t>
                        </m:r>
                        <m:r>
                          <a:rPr lang="en-US" i="1"/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data </a:t>
                </a:r>
                <a:r>
                  <a:rPr lang="en-US" dirty="0"/>
                  <a:t>point.</a:t>
                </a:r>
              </a:p>
              <a:p>
                <a:pPr algn="just" fontAlgn="base"/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CBE2E-6BEB-4D62-07FB-95873CB595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6262" y="1122570"/>
                <a:ext cx="10515600" cy="5216707"/>
              </a:xfrm>
              <a:blipFill>
                <a:blip r:embed="rId2"/>
                <a:stretch>
                  <a:fillRect l="-870" t="-1636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E145F516-D154-DAA4-E439-7B1A93382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342326" y="193598"/>
            <a:ext cx="70085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3200" b="1" dirty="0">
                <a:solidFill>
                  <a:srgbClr val="C00000"/>
                </a:solidFill>
              </a:rPr>
              <a:t>Evaluation Metrics for Linear Regression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716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AE3F-FDA6-9D8E-F607-46EF4A816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8E90FD-0FB9-584C-2D64-0137F5C8AD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6262" y="907015"/>
                <a:ext cx="10515600" cy="5216707"/>
              </a:xfrm>
            </p:spPr>
            <p:txBody>
              <a:bodyPr>
                <a:normAutofit/>
              </a:bodyPr>
              <a:lstStyle/>
              <a:p>
                <a:pPr marL="0" indent="0" fontAlgn="base">
                  <a:buNone/>
                </a:pPr>
                <a:r>
                  <a:rPr lang="en-US" sz="2400" b="1" dirty="0" smtClean="0"/>
                  <a:t>2. Mean Absolute Error (MAE)</a:t>
                </a:r>
              </a:p>
              <a:p>
                <a:pPr fontAlgn="base"/>
                <a:r>
                  <a:rPr lang="en-US" sz="2400" dirty="0"/>
                  <a:t>Mean Absolute Error is an evaluation metric used to calculate the accuracy of a regression model. </a:t>
                </a:r>
                <a:endParaRPr lang="en-US" sz="2400" dirty="0" smtClean="0"/>
              </a:p>
              <a:p>
                <a:pPr fontAlgn="base"/>
                <a:r>
                  <a:rPr lang="en-US" sz="2400" dirty="0" smtClean="0"/>
                  <a:t>MAE </a:t>
                </a:r>
                <a:r>
                  <a:rPr lang="en-US" sz="2400" dirty="0"/>
                  <a:t>measures the average absolute difference between the predicted values and actual values.</a:t>
                </a:r>
              </a:p>
              <a:p>
                <a:pPr fontAlgn="base"/>
                <a:r>
                  <a:rPr lang="en-US" sz="2400" dirty="0"/>
                  <a:t>Mathematically MAE is expressed as:</a:t>
                </a:r>
              </a:p>
              <a:p>
                <a:pPr marL="0" indent="0" fontAlgn="base">
                  <a:buNone/>
                </a:pPr>
                <a:r>
                  <a:rPr lang="pt-BR" sz="2400" i="1" dirty="0" smtClean="0"/>
                  <a:t>	MAE </a:t>
                </a:r>
                <a:r>
                  <a:rPr lang="pt-BR" sz="240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/>
                        </m:ctrlPr>
                      </m:fPr>
                      <m:num>
                        <m:r>
                          <a:rPr lang="en-US" sz="2400" i="1"/>
                          <m:t>1</m:t>
                        </m:r>
                      </m:num>
                      <m:den>
                        <m:r>
                          <a:rPr lang="en-US" sz="2400" i="1"/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sz="2400" i="1" smtClean="0"/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/>
                          <m:t>𝑖</m:t>
                        </m:r>
                        <m:r>
                          <a:rPr lang="en-US" sz="2400" i="1"/>
                          <m:t>=</m:t>
                        </m:r>
                        <m:r>
                          <a:rPr lang="en-US" sz="2400" i="1"/>
                          <m:t>1</m:t>
                        </m:r>
                      </m:sub>
                      <m:sup>
                        <m:r>
                          <a:rPr lang="en-US" sz="2400" i="1"/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/>
                                </m:ctrlPr>
                              </m:sSubPr>
                              <m:e>
                                <m:r>
                                  <a:rPr lang="en-US" sz="2400" i="1" dirty="0"/>
                                  <m:t>𝑌</m:t>
                                </m:r>
                              </m:e>
                              <m:sub>
                                <m:r>
                                  <a:rPr lang="en-US" sz="2400" i="1" dirty="0"/>
                                  <m:t>𝑖</m:t>
                                </m:r>
                              </m:sub>
                            </m:sSub>
                            <m:r>
                              <a:rPr lang="en-US" sz="2400" i="1" dirty="0"/>
                              <m:t> − </m:t>
                            </m:r>
                            <m:sSub>
                              <m:sSubPr>
                                <m:ctrlPr>
                                  <a:rPr lang="en-US" sz="2400" i="1" dirty="0"/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Ŷ </m:t>
                                </m:r>
                              </m:e>
                              <m:sub>
                                <m:r>
                                  <a:rPr lang="en-US" sz="2400" i="1" dirty="0"/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400" dirty="0" smtClean="0"/>
              </a:p>
              <a:p>
                <a:pPr marL="0" indent="0" fontAlgn="base">
                  <a:buNone/>
                </a:pPr>
                <a:r>
                  <a:rPr lang="en-US" sz="2400" dirty="0" smtClean="0"/>
                  <a:t>where,</a:t>
                </a:r>
                <a:endParaRPr lang="en-US" sz="2400" dirty="0"/>
              </a:p>
              <a:p>
                <a:pPr lvl="1" fontAlgn="base"/>
                <a:r>
                  <a:rPr lang="en-US" dirty="0"/>
                  <a:t>n is the number of observations</a:t>
                </a:r>
              </a:p>
              <a:p>
                <a:pPr lvl="1" fontAlgn="base"/>
                <a:r>
                  <a:rPr lang="en-US" dirty="0"/>
                  <a:t>Y</a:t>
                </a:r>
                <a:r>
                  <a:rPr lang="en-US" baseline="-25000" dirty="0"/>
                  <a:t>i</a:t>
                </a:r>
                <a:r>
                  <a:rPr lang="en-US" dirty="0"/>
                  <a:t> represents the actual values.</a:t>
                </a:r>
              </a:p>
              <a:p>
                <a:pPr lvl="1" fontAlgn="base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/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Ŷ </m:t>
                        </m:r>
                      </m:e>
                      <m:sub>
                        <m:r>
                          <a:rPr lang="en-US" i="1" dirty="0"/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 represents the predicted values</a:t>
                </a:r>
              </a:p>
              <a:p>
                <a:pPr marL="0" indent="0" fontAlgn="base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8E90FD-0FB9-584C-2D64-0137F5C8AD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6262" y="907015"/>
                <a:ext cx="10515600" cy="5216707"/>
              </a:xfrm>
              <a:blipFill>
                <a:blip r:embed="rId2"/>
                <a:stretch>
                  <a:fillRect l="-870" t="-1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1585864F-5DD0-FAA2-B901-D0D2FEAA6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639769" y="60325"/>
            <a:ext cx="70085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3200" b="1" dirty="0">
                <a:solidFill>
                  <a:srgbClr val="C00000"/>
                </a:solidFill>
              </a:rPr>
              <a:t>Evaluation Metrics for Linear Regression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383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5D9F-17BE-CFBB-1B14-21CED23B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DC61E-5805-A6EC-7954-17A0B6ABB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6262" y="1641293"/>
                <a:ext cx="10515600" cy="5216707"/>
              </a:xfrm>
            </p:spPr>
            <p:txBody>
              <a:bodyPr>
                <a:normAutofit/>
              </a:bodyPr>
              <a:lstStyle/>
              <a:p>
                <a:pPr marL="0" indent="0" fontAlgn="base">
                  <a:buNone/>
                </a:pPr>
                <a:r>
                  <a:rPr lang="en-US" sz="2400" b="1" dirty="0" smtClean="0"/>
                  <a:t>3. Root Mean Squared Error (RMSE)</a:t>
                </a:r>
              </a:p>
              <a:p>
                <a:pPr algn="just" fontAlgn="base"/>
                <a:r>
                  <a:rPr lang="en-US" sz="2400" dirty="0"/>
                  <a:t>The square root of the </a:t>
                </a:r>
                <a:r>
                  <a:rPr lang="en-US" sz="2400" dirty="0" smtClean="0"/>
                  <a:t>residuals </a:t>
                </a:r>
                <a:r>
                  <a:rPr lang="en-US" sz="2400" dirty="0"/>
                  <a:t>variance is the Root Mean Squared Error. </a:t>
                </a:r>
                <a:endParaRPr lang="en-US" sz="2400" dirty="0" smtClean="0"/>
              </a:p>
              <a:p>
                <a:pPr algn="just" fontAlgn="base"/>
                <a:r>
                  <a:rPr lang="en-US" sz="2400" dirty="0" smtClean="0"/>
                  <a:t>It </a:t>
                </a:r>
                <a:r>
                  <a:rPr lang="en-US" sz="2400" dirty="0"/>
                  <a:t>describes how well the observed data points match the expected values or the model's absolute fit to the </a:t>
                </a:r>
                <a:r>
                  <a:rPr lang="en-US" sz="2400" dirty="0" err="1" smtClean="0"/>
                  <a:t>data.In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mathematical notation, it can be expressed as:</a:t>
                </a:r>
              </a:p>
              <a:p>
                <a:pPr marL="457200" lvl="1" indent="0" fontAlgn="base">
                  <a:buNone/>
                </a:pPr>
                <a:endParaRPr lang="en-US" dirty="0" smtClean="0"/>
              </a:p>
              <a:p>
                <a:pPr marL="457200" lvl="1" indent="0" fontAlgn="base">
                  <a:buNone/>
                </a:pPr>
                <a:r>
                  <a:rPr lang="en-US" dirty="0" smtClean="0"/>
                  <a:t>RMSE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/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 smtClean="0"/>
                            </m:ctrlPr>
                          </m:fPr>
                          <m:num>
                            <m:r>
                              <a:rPr lang="en-US" b="0" i="1" smtClean="0"/>
                              <m:t>𝑅𝑆𝑆</m:t>
                            </m:r>
                          </m:num>
                          <m:den>
                            <m:r>
                              <a:rPr lang="en-US" b="0" i="1" smtClean="0"/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/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 smtClean="0"/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i="1" smtClean="0"/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/>
                                  <m:t>𝑖</m:t>
                                </m:r>
                                <m:r>
                                  <a:rPr lang="en-US" b="0" i="1" smtClean="0"/>
                                  <m:t>=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b="0" i="1" smtClean="0"/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/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i="1" smtClean="0"/>
                                    </m:ctrlPr>
                                  </m:sSupPr>
                                  <m:e>
                                    <m:r>
                                      <a:rPr lang="en-US" b="0" i="1" smtClean="0"/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/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/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b="0" i="1" smtClean="0"/>
                                          <m:t>𝑎𝑐𝑡𝑢𝑎𝑙</m:t>
                                        </m:r>
                                      </m:sup>
                                    </m:sSubSup>
                                    <m:r>
                                      <a:rPr lang="en-US" b="0" i="1" smtClean="0"/>
                                      <m:t> − 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/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/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b="0" i="1" smtClean="0"/>
                                          <m:t>𝑝𝑟𝑒𝑑𝑖𝑐𝑡𝑒𝑑</m:t>
                                        </m:r>
                                      </m:sup>
                                    </m:sSubSup>
                                    <m:r>
                                      <a:rPr lang="en-US" b="0" i="1" smtClean="0"/>
                                      <m:t>)</m:t>
                                    </m:r>
                                  </m:e>
                                  <m:sup>
                                    <m:r>
                                      <a:rPr lang="en-US" b="0" i="1" smtClean="0"/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b="0" i="1" smtClean="0"/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DC61E-5805-A6EC-7954-17A0B6ABB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6262" y="1641293"/>
                <a:ext cx="10515600" cy="5216707"/>
              </a:xfrm>
              <a:blipFill>
                <a:blip r:embed="rId2"/>
                <a:stretch>
                  <a:fillRect l="-870" t="-1636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F2813B1E-390B-D024-59EB-C18B568A7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356179" y="60325"/>
            <a:ext cx="70085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3200" b="1" dirty="0">
                <a:solidFill>
                  <a:srgbClr val="C00000"/>
                </a:solidFill>
              </a:rPr>
              <a:t>Evaluation Metrics for Linear Regression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337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662E-F2C5-6BF2-1C2F-5909F1780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B2689-87B8-FE6E-2768-E347EA6311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6262" y="1081006"/>
                <a:ext cx="10830457" cy="5216707"/>
              </a:xfrm>
            </p:spPr>
            <p:txBody>
              <a:bodyPr>
                <a:normAutofit/>
              </a:bodyPr>
              <a:lstStyle/>
              <a:p>
                <a:pPr marL="0" indent="0" fontAlgn="base">
                  <a:buNone/>
                </a:pPr>
                <a:r>
                  <a:rPr lang="en-US" sz="2400" b="1" dirty="0" smtClean="0"/>
                  <a:t>4. Coefficient of Determination (R-squared)</a:t>
                </a:r>
              </a:p>
              <a:p>
                <a:pPr fontAlgn="base"/>
                <a:r>
                  <a:rPr lang="en-US" sz="2400" dirty="0"/>
                  <a:t>R-Squared is a statistic that indicates how much variation the developed model can explain or capture. </a:t>
                </a:r>
                <a:endParaRPr lang="en-US" sz="2400" dirty="0" smtClean="0"/>
              </a:p>
              <a:p>
                <a:pPr fontAlgn="base"/>
                <a:r>
                  <a:rPr lang="en-US" sz="2400" dirty="0" smtClean="0"/>
                  <a:t>It </a:t>
                </a:r>
                <a:r>
                  <a:rPr lang="en-US" sz="2400" dirty="0"/>
                  <a:t>is always in the range of 0 to 1. In general, the better the model matches the data, the greater the R-squared </a:t>
                </a:r>
                <a:r>
                  <a:rPr lang="en-US" sz="2400" dirty="0" smtClean="0"/>
                  <a:t>number. In </a:t>
                </a:r>
                <a:r>
                  <a:rPr lang="en-US" sz="2400" dirty="0"/>
                  <a:t>mathematical notation, it can be expressed as</a:t>
                </a:r>
                <a:r>
                  <a:rPr lang="en-US" sz="2400" dirty="0" smtClean="0"/>
                  <a:t>:</a:t>
                </a:r>
              </a:p>
              <a:p>
                <a:pPr marL="0" indent="0" fontAlgn="base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/>
                        </m:ctrlPr>
                      </m:sSupPr>
                      <m:e>
                        <m:r>
                          <a:rPr lang="en-US" sz="2400" b="0" i="1" smtClean="0"/>
                          <m:t>𝑅</m:t>
                        </m:r>
                      </m:e>
                      <m:sup>
                        <m:r>
                          <a:rPr lang="en-US" sz="2400" b="0" i="1" smtClean="0"/>
                          <m:t>2</m:t>
                        </m:r>
                      </m:sup>
                    </m:sSup>
                    <m:r>
                      <a:rPr lang="en-US" sz="2400" b="0" i="1" smtClean="0"/>
                      <m:t>=</m:t>
                    </m:r>
                    <m:r>
                      <a:rPr lang="en-US" sz="2400" b="0" i="1" smtClean="0"/>
                      <m:t>1</m:t>
                    </m:r>
                    <m:r>
                      <a:rPr lang="en-US" sz="2400" b="0" i="1" smtClean="0"/>
                      <m:t> −(</m:t>
                    </m:r>
                    <m:f>
                      <m:fPr>
                        <m:ctrlPr>
                          <a:rPr lang="en-US" sz="2400" b="0" i="1" smtClean="0"/>
                        </m:ctrlPr>
                      </m:fPr>
                      <m:num>
                        <m:r>
                          <a:rPr lang="en-US" sz="2400" b="0" i="1" smtClean="0"/>
                          <m:t>𝑅𝑆𝑆</m:t>
                        </m:r>
                      </m:num>
                      <m:den>
                        <m:r>
                          <a:rPr lang="en-US" sz="2400" b="0" i="1" smtClean="0"/>
                          <m:t>𝑇𝑆𝑆</m:t>
                        </m:r>
                      </m:den>
                    </m:f>
                    <m:r>
                      <a:rPr lang="en-US" sz="2400" b="0" i="1" smtClean="0"/>
                      <m:t>)</m:t>
                    </m:r>
                  </m:oMath>
                </a14:m>
                <a:endParaRPr lang="en-US" sz="2400" dirty="0"/>
              </a:p>
              <a:p>
                <a:pPr marL="0" indent="0" fontAlgn="base">
                  <a:buNone/>
                </a:pPr>
                <a:r>
                  <a:rPr lang="en-US" sz="2400" dirty="0"/>
                  <a:t>w</a:t>
                </a:r>
                <a:r>
                  <a:rPr lang="en-US" sz="2400" dirty="0" smtClean="0"/>
                  <a:t>here, </a:t>
                </a:r>
                <a:r>
                  <a:rPr lang="en-US" sz="2400" dirty="0" smtClean="0"/>
                  <a:t>Residual </a:t>
                </a:r>
                <a:r>
                  <a:rPr lang="en-US" sz="2400" dirty="0"/>
                  <a:t>sum of Squares(RSS</a:t>
                </a:r>
                <a:r>
                  <a:rPr lang="en-US" sz="2400" dirty="0" smtClean="0"/>
                  <a:t>)</a:t>
                </a:r>
              </a:p>
              <a:p>
                <a:pPr marL="0" indent="0" fontAlgn="base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/>
                      <m:t>𝑅𝑆𝑆</m:t>
                    </m:r>
                    <m:r>
                      <a:rPr lang="en-US" sz="2400" b="0" i="1" smtClean="0"/>
                      <m:t>= </m:t>
                    </m:r>
                    <m:nary>
                      <m:naryPr>
                        <m:chr m:val="∑"/>
                        <m:ctrlPr>
                          <a:rPr lang="en-US" sz="2400" b="0" i="1" smtClean="0"/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/>
                          <m:t>𝑖</m:t>
                        </m:r>
                        <m:r>
                          <a:rPr lang="en-US" sz="2400" b="0" i="1" smtClean="0"/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smtClean="0"/>
                          <m:t>1</m:t>
                        </m:r>
                      </m:sub>
                      <m:sup>
                        <m:r>
                          <a:rPr lang="en-US" sz="2400" b="0" i="1" smtClean="0"/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b="0" i="1" smtClean="0"/>
                            </m:ctrlPr>
                          </m:sSupPr>
                          <m:e>
                            <m:r>
                              <a:rPr lang="en-US" sz="2400" b="0" i="1" smtClean="0"/>
                              <m:t>(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𝑦</m:t>
                                </m:r>
                              </m:e>
                              <m:sub>
                                <m:r>
                                  <a:rPr lang="en-US" sz="2400" i="1"/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/>
                              <m:t> −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="0" i="0" smtClean="0"/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2400" b="0" i="0" dirty="0" smtClean="0"/>
                                  <m:t>0</m:t>
                                </m:r>
                              </m:sub>
                            </m:sSub>
                            <m:r>
                              <a:rPr lang="en-US" sz="2400" b="0" i="1" dirty="0" smtClean="0"/>
                              <m:t> −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="0" i="0" smtClean="0"/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="0" i="0" smtClean="0"/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2400" b="0" i="0" dirty="0" smtClean="0"/>
                                  <m:t>i</m:t>
                                </m:r>
                              </m:sub>
                            </m:sSub>
                            <m:r>
                              <a:rPr lang="en-US" sz="2400" b="0" i="1" smtClean="0"/>
                              <m:t>)</m:t>
                            </m:r>
                          </m:e>
                          <m:sup>
                            <m:r>
                              <a:rPr lang="en-US" sz="2400" b="0" i="1" smtClean="0"/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  <a:p>
                <a:pPr marL="0" indent="0" fontAlgn="base">
                  <a:buNone/>
                </a:pPr>
                <a:r>
                  <a:rPr lang="en-US" sz="2400" dirty="0"/>
                  <a:t>Total Sum of Squares (TSS</a:t>
                </a:r>
                <a:r>
                  <a:rPr lang="en-US" sz="2400" dirty="0" smtClean="0"/>
                  <a:t>) is given by</a:t>
                </a:r>
              </a:p>
              <a:p>
                <a:pPr marL="0" indent="0" fontAlgn="base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/>
                      <m:t>𝑇𝑆𝑆</m:t>
                    </m:r>
                    <m:r>
                      <a:rPr lang="en-US" sz="2400" b="0" i="1" smtClean="0"/>
                      <m:t>= </m:t>
                    </m:r>
                    <m:nary>
                      <m:naryPr>
                        <m:chr m:val="∑"/>
                        <m:ctrlPr>
                          <a:rPr lang="en-US" sz="2400" b="0" i="1" smtClean="0"/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/>
                          <m:t>𝑖</m:t>
                        </m:r>
                        <m:r>
                          <a:rPr lang="en-US" sz="2400" b="0" i="1" smtClean="0"/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smtClean="0"/>
                          <m:t>1</m:t>
                        </m:r>
                      </m:sub>
                      <m:sup>
                        <m:r>
                          <a:rPr lang="en-US" sz="2400" b="0" i="1" smtClean="0"/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i="1"/>
                            </m:ctrlPr>
                          </m:sSupPr>
                          <m:e>
                            <m:r>
                              <a:rPr lang="en-US" sz="2400" i="1"/>
                              <m:t>(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𝑦</m:t>
                                </m:r>
                              </m:e>
                              <m:sub>
                                <m:r>
                                  <a:rPr lang="en-US" sz="2400" i="1"/>
                                  <m:t>𝑖</m:t>
                                </m:r>
                              </m:sub>
                            </m:sSub>
                            <m:r>
                              <a:rPr lang="en-US" sz="2400" i="1"/>
                              <m:t>−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ȳ </m:t>
                                </m:r>
                              </m:e>
                              <m:sub>
                                <m:r>
                                  <a:rPr lang="en-US" sz="2400" i="1"/>
                                  <m:t>𝑖</m:t>
                                </m:r>
                              </m:sub>
                            </m:sSub>
                            <m:r>
                              <a:rPr lang="en-US" sz="2400" i="1"/>
                              <m:t>)</m:t>
                            </m:r>
                          </m:e>
                          <m:sup>
                            <m:r>
                              <a:rPr lang="en-US" sz="2400" i="1"/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B2689-87B8-FE6E-2768-E347EA6311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6262" y="1081006"/>
                <a:ext cx="10830457" cy="5216707"/>
              </a:xfrm>
              <a:blipFill>
                <a:blip r:embed="rId2"/>
                <a:stretch>
                  <a:fillRect l="-844" t="-1636" r="-957" b="-2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ABBA86EF-E9D0-B1C7-4247-B1854CE29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300761" y="234683"/>
            <a:ext cx="70085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3200" b="1" dirty="0">
                <a:solidFill>
                  <a:srgbClr val="C00000"/>
                </a:solidFill>
              </a:rPr>
              <a:t>Evaluation Metrics for Linear Regression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256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4F40E-BFFA-B906-90A7-583CABCD7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00060-884B-B0FC-1C9F-DA49A4851C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6262" y="1025587"/>
                <a:ext cx="10830457" cy="5216707"/>
              </a:xfrm>
            </p:spPr>
            <p:txBody>
              <a:bodyPr>
                <a:normAutofit/>
              </a:bodyPr>
              <a:lstStyle/>
              <a:p>
                <a:pPr marL="0" indent="0" fontAlgn="base">
                  <a:buNone/>
                </a:pPr>
                <a:r>
                  <a:rPr lang="en-US" sz="2400" b="1" dirty="0" smtClean="0"/>
                  <a:t>5. Adjusted R-Squared Error</a:t>
                </a:r>
              </a:p>
              <a:p>
                <a:pPr algn="just" fontAlgn="base"/>
                <a:r>
                  <a:rPr lang="en-US" sz="2400" dirty="0"/>
                  <a:t>Adjusted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/>
                        </m:ctrlPr>
                      </m:sSupPr>
                      <m:e>
                        <m:r>
                          <a:rPr lang="en-US" sz="2400" b="0" i="1" smtClean="0"/>
                          <m:t>𝑅</m:t>
                        </m:r>
                      </m:e>
                      <m:sup>
                        <m:r>
                          <a:rPr lang="en-US" sz="2400" b="0" i="1" smtClean="0"/>
                          <m:t>2</m:t>
                        </m:r>
                      </m:sup>
                    </m:sSup>
                  </m:oMath>
                </a14:m>
                <a:r>
                  <a:rPr lang="en-US" sz="2400" dirty="0" smtClean="0"/>
                  <a:t>measures </a:t>
                </a:r>
                <a:r>
                  <a:rPr lang="en-US" sz="2400" dirty="0"/>
                  <a:t>the proportion of variance in the dependent variable that is explained by independent variables in a regression model. </a:t>
                </a:r>
                <a:endParaRPr lang="en-US" sz="2400" dirty="0" smtClean="0"/>
              </a:p>
              <a:p>
                <a:pPr algn="just" fontAlgn="base"/>
                <a:r>
                  <a:rPr lang="en-US" sz="2400" dirty="0" smtClean="0"/>
                  <a:t>Adjusted </a:t>
                </a:r>
                <a:r>
                  <a:rPr lang="en-US" sz="2400" dirty="0"/>
                  <a:t>R-square accounts the number of predictors in the model and penalizes the model for including irrelevant predictors that don't contribute significantly to explain the variance in the dependent </a:t>
                </a:r>
                <a:r>
                  <a:rPr lang="en-US" sz="2400" dirty="0" smtClean="0"/>
                  <a:t>variables. Mathematically</a:t>
                </a:r>
                <a:r>
                  <a:rPr lang="en-US" sz="2400" dirty="0"/>
                  <a:t>, adjusted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/>
                        </m:ctrlPr>
                      </m:sSupPr>
                      <m:e>
                        <m:r>
                          <a:rPr lang="en-US" sz="2400" i="1"/>
                          <m:t>𝑅</m:t>
                        </m:r>
                      </m:e>
                      <m:sup>
                        <m:r>
                          <a:rPr lang="en-US" sz="2400" i="1"/>
                          <m:t>2</m:t>
                        </m:r>
                      </m:sup>
                    </m:sSup>
                  </m:oMath>
                </a14:m>
                <a:r>
                  <a:rPr lang="en-US" sz="2400" dirty="0" smtClean="0"/>
                  <a:t> is </a:t>
                </a:r>
                <a:r>
                  <a:rPr lang="en-US" sz="2400" dirty="0"/>
                  <a:t>expressed as</a:t>
                </a:r>
                <a:r>
                  <a:rPr lang="en-US" sz="2400" dirty="0" smtClean="0"/>
                  <a:t>:</a:t>
                </a:r>
              </a:p>
              <a:p>
                <a:pPr marL="0" indent="0" algn="just" fontAlgn="base">
                  <a:buNone/>
                </a:pPr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/>
                      <m:t>𝐴𝑑𝑗𝑢𝑠𝑡𝑒𝑑</m:t>
                    </m:r>
                    <m:sSup>
                      <m:sSupPr>
                        <m:ctrlPr>
                          <a:rPr lang="en-US" sz="2400" i="1"/>
                        </m:ctrlPr>
                      </m:sSupPr>
                      <m:e>
                        <m:r>
                          <a:rPr lang="en-US" sz="2400" i="1"/>
                          <m:t>𝑅</m:t>
                        </m:r>
                      </m:e>
                      <m:sup>
                        <m:r>
                          <a:rPr lang="en-US" sz="2400" i="1"/>
                          <m:t>2</m:t>
                        </m:r>
                      </m:sup>
                    </m:sSup>
                  </m:oMath>
                </a14:m>
                <a:r>
                  <a:rPr lang="en-US" sz="2400" dirty="0" smtClean="0"/>
                  <a:t> = 1 –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/>
                        </m:ctrlPr>
                      </m:fPr>
                      <m:num>
                        <m:d>
                          <m:dPr>
                            <m:ctrlPr>
                              <a:rPr lang="en-US" sz="2400" b="0" i="1" smtClean="0"/>
                            </m:ctrlPr>
                          </m:dPr>
                          <m:e>
                            <m:r>
                              <a:rPr lang="en-US" sz="2400" b="0" i="1" smtClean="0"/>
                              <m:t>1</m:t>
                            </m:r>
                            <m:r>
                              <a:rPr lang="en-US" sz="2400" b="0" i="1" smtClean="0"/>
                              <m:t> −</m:t>
                            </m:r>
                            <m:sSup>
                              <m:sSupPr>
                                <m:ctrlPr>
                                  <a:rPr lang="en-US" sz="2400" i="1"/>
                                </m:ctrlPr>
                              </m:sSupPr>
                              <m:e>
                                <m:r>
                                  <a:rPr lang="en-US" sz="2400" i="1"/>
                                  <m:t>𝑅</m:t>
                                </m:r>
                              </m:e>
                              <m:sup>
                                <m:r>
                                  <a:rPr lang="en-US" sz="2400" i="1"/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400" b="0" i="1" smtClean="0"/>
                          <m:t>.(</m:t>
                        </m:r>
                        <m:r>
                          <a:rPr lang="en-US" sz="2400" b="0" i="1" smtClean="0"/>
                          <m:t>𝑛</m:t>
                        </m:r>
                        <m:r>
                          <a:rPr lang="en-US" sz="2400" b="0" i="1" smtClean="0"/>
                          <m:t> −</m:t>
                        </m:r>
                        <m:r>
                          <a:rPr lang="en-US" sz="2400" b="0" i="1" smtClean="0"/>
                          <m:t>1</m:t>
                        </m:r>
                        <m:r>
                          <a:rPr lang="en-US" sz="2400" b="0" i="1" smtClean="0"/>
                          <m:t>)</m:t>
                        </m:r>
                      </m:num>
                      <m:den>
                        <m:r>
                          <a:rPr lang="en-US" sz="2400" b="0" i="1" smtClean="0"/>
                          <m:t>𝑛</m:t>
                        </m:r>
                        <m:r>
                          <a:rPr lang="en-US" sz="2400" b="0" i="1" smtClean="0"/>
                          <m:t> −</m:t>
                        </m:r>
                        <m:r>
                          <a:rPr lang="en-US" sz="2400" b="0" i="1" smtClean="0"/>
                          <m:t>𝑘</m:t>
                        </m:r>
                        <m:r>
                          <a:rPr lang="en-US" sz="2400" b="0" i="1" smtClean="0"/>
                          <m:t> −</m:t>
                        </m:r>
                        <m:r>
                          <a:rPr lang="en-US" sz="2400" b="0" i="1" smtClean="0"/>
                          <m:t>1</m:t>
                        </m:r>
                      </m:den>
                    </m:f>
                  </m:oMath>
                </a14:m>
                <a:r>
                  <a:rPr lang="en-US" sz="2400" dirty="0" smtClean="0"/>
                  <a:t>)</a:t>
                </a:r>
                <a:endParaRPr lang="en-US" sz="2400" dirty="0"/>
              </a:p>
              <a:p>
                <a:pPr marL="0" indent="0" fontAlgn="base">
                  <a:buNone/>
                </a:pPr>
                <a:r>
                  <a:rPr lang="en-US" sz="2400" dirty="0" smtClean="0"/>
                  <a:t>wh</a:t>
                </a:r>
                <a:r>
                  <a:rPr lang="en-US" sz="2400" dirty="0" smtClean="0"/>
                  <a:t>ere</a:t>
                </a:r>
                <a:r>
                  <a:rPr lang="en-US" sz="2400" dirty="0"/>
                  <a:t>,</a:t>
                </a:r>
              </a:p>
              <a:p>
                <a:pPr lvl="1" fontAlgn="base"/>
                <a:r>
                  <a:rPr lang="en-US" dirty="0"/>
                  <a:t>n is the number of observations</a:t>
                </a:r>
              </a:p>
              <a:p>
                <a:pPr lvl="1" fontAlgn="base"/>
                <a:r>
                  <a:rPr lang="en-US" dirty="0"/>
                  <a:t>k is the number of predictors in the model</a:t>
                </a:r>
              </a:p>
              <a:p>
                <a:pPr lvl="1" fontAlgn="base"/>
                <a:r>
                  <a:rPr lang="en-US" dirty="0"/>
                  <a:t>R</a:t>
                </a:r>
                <a:r>
                  <a:rPr lang="en-US" baseline="30000" dirty="0"/>
                  <a:t>2 </a:t>
                </a:r>
                <a:r>
                  <a:rPr lang="en-US" dirty="0"/>
                  <a:t>is </a:t>
                </a:r>
                <a:r>
                  <a:rPr lang="en-US" dirty="0" err="1" smtClean="0"/>
                  <a:t>coeeficient</a:t>
                </a:r>
                <a:r>
                  <a:rPr lang="en-US" dirty="0" smtClean="0"/>
                  <a:t> </a:t>
                </a:r>
                <a:r>
                  <a:rPr lang="en-US" dirty="0"/>
                  <a:t>of determination</a:t>
                </a:r>
              </a:p>
              <a:p>
                <a:pPr fontAlgn="base"/>
                <a:endParaRPr lang="en-US" sz="2400" dirty="0"/>
              </a:p>
              <a:p>
                <a:pPr fontAlgn="base"/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00060-884B-B0FC-1C9F-DA49A4851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6262" y="1025587"/>
                <a:ext cx="10830457" cy="5216707"/>
              </a:xfrm>
              <a:blipFill>
                <a:blip r:embed="rId2"/>
                <a:stretch>
                  <a:fillRect l="-844" t="-1636" r="-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F7637829-08C6-21B9-EF71-195254A4D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91708" y="96773"/>
            <a:ext cx="70085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3200" b="1" dirty="0">
                <a:solidFill>
                  <a:srgbClr val="C00000"/>
                </a:solidFill>
              </a:rPr>
              <a:t>Evaluation Metrics for Linear Regression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12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  <a:latin typeface="+mn-lt"/>
              </a:rPr>
              <a:t>Example with Single Independent Variable</a:t>
            </a:r>
            <a:endParaRPr lang="en-US" sz="3200" b="1" dirty="0">
              <a:solidFill>
                <a:srgbClr val="C00000"/>
              </a:solidFill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08364"/>
                <a:ext cx="12039600" cy="57496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 smtClean="0"/>
                  <a:t>Problem: </a:t>
                </a:r>
                <a:r>
                  <a:rPr lang="en-US" sz="2400" dirty="0" smtClean="0"/>
                  <a:t>Predict </a:t>
                </a:r>
                <a:r>
                  <a:rPr lang="en-US" sz="2400" dirty="0"/>
                  <a:t>a student’s exam score (y) from hours studied (x) using simple linear regression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	y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/>
                  <a:t>x</a:t>
                </a:r>
              </a:p>
              <a:p>
                <a:pPr marL="0" indent="0">
                  <a:buNone/>
                </a:pPr>
                <a:r>
                  <a:rPr lang="es-ES" sz="2400" b="1" dirty="0" smtClean="0"/>
                  <a:t>Data: </a:t>
                </a:r>
                <a:r>
                  <a:rPr lang="es-ES" sz="2400" dirty="0" smtClean="0"/>
                  <a:t>(x, y</a:t>
                </a:r>
                <a:r>
                  <a:rPr lang="es-ES" sz="2400" dirty="0"/>
                  <a:t>)={(1,2),(2,3),(3,5),(4,4),(5,6</a:t>
                </a:r>
                <a:r>
                  <a:rPr lang="es-ES" sz="2400" dirty="0" smtClean="0"/>
                  <a:t>)}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Step 1 — Compute the </a:t>
                </a:r>
                <a:r>
                  <a:rPr lang="en-US" sz="2400" b="1" dirty="0" smtClean="0"/>
                  <a:t>means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	</a:t>
                </a:r>
                <a:r>
                  <a:rPr lang="en-US" sz="2400" dirty="0" smtClean="0"/>
                  <a:t>x̄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 smtClean="0"/>
                  <a:t> = 3 , ȳ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2400" b="1" dirty="0" smtClean="0"/>
                  <a:t> </a:t>
                </a:r>
                <a:r>
                  <a:rPr lang="en-US" sz="2400" dirty="0" smtClean="0"/>
                  <a:t>= 4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Step 2 — Compute 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b="1" dirty="0" smtClean="0"/>
              </a:p>
              <a:p>
                <a:pPr marL="0" indent="0">
                  <a:buNone/>
                </a:pPr>
                <a:r>
                  <a:rPr lang="en-US" sz="2400" b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b="1" dirty="0" smtClean="0"/>
                  <a:t> </a:t>
                </a:r>
                <a:r>
                  <a:rPr lang="en-US" sz="240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/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i="1" smtClean="0"/>
                            </m:ctrlPr>
                          </m:naryPr>
                          <m:sub/>
                          <m:sup/>
                          <m:e>
                            <m:r>
                              <a:rPr lang="en-US" sz="2400" b="0" i="1" smtClean="0"/>
                              <m:t>(</m:t>
                            </m:r>
                            <m:sSub>
                              <m:sSubPr>
                                <m:ctrlPr>
                                  <a:rPr lang="en-US" sz="2400" i="1" smtClean="0"/>
                                </m:ctrlPr>
                              </m:sSubPr>
                              <m:e>
                                <m:r>
                                  <a:rPr lang="en-US" sz="2400" b="0" i="1" smtClean="0"/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/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/>
                              <m:t> −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̄</m:t>
                            </m:r>
                            <m:r>
                              <a:rPr lang="en-US" sz="2400" b="0" i="1" smtClean="0"/>
                              <m:t>)(</m:t>
                            </m:r>
                            <m:sSub>
                              <m:sSubPr>
                                <m:ctrlPr>
                                  <a:rPr lang="en-US" sz="2400" i="1" dirty="0"/>
                                </m:ctrlPr>
                              </m:sSubPr>
                              <m:e>
                                <m:r>
                                  <a:rPr lang="en-US" sz="2400" b="0" i="1" dirty="0"/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dirty="0"/>
                                  <m:t>𝑖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400" i="0" smtClean="0"/>
                              <m:t>-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ȳ</m:t>
                            </m:r>
                            <m:r>
                              <a:rPr lang="en-US" sz="2400" b="0" i="1" smtClean="0"/>
                              <m:t>)</m:t>
                            </m:r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sz="2400" i="1" dirty="0"/>
                            </m:ctrlPr>
                          </m:sSup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sz="2400" i="1" dirty="0"/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sz="2400" b="0" i="1" dirty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400" i="1" dirty="0"/>
                                    </m:ctrlPr>
                                  </m:sSubPr>
                                  <m:e>
                                    <m:r>
                                      <a:rPr lang="en-US" sz="2400" b="0" i="1" dirty="0"/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dirty="0"/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dirty="0"/>
                                  <m:t> −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̄</m:t>
                                </m:r>
                                <m:r>
                                  <a:rPr lang="en-US" sz="2400" b="0" i="1" dirty="0"/>
                                  <m:t>)</m:t>
                                </m:r>
                              </m:e>
                            </m:nary>
                          </m:e>
                          <m:sup>
                            <m:r>
                              <a:rPr lang="en-US" sz="2400" b="0" i="1" dirty="0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/>
                        </m:ctrlPr>
                      </m:fPr>
                      <m:num>
                        <m:d>
                          <m:dPr>
                            <m:ctrlPr>
                              <a:rPr lang="en-US" sz="2400" i="1" smtClean="0"/>
                            </m:ctrlPr>
                          </m:dPr>
                          <m:e>
                            <m:r>
                              <a:rPr lang="en-US" sz="2400" b="0" i="1" smtClean="0"/>
                              <m:t>−</m:t>
                            </m:r>
                            <m:r>
                              <a:rPr lang="en-US" sz="2400" b="0" i="1" smtClean="0"/>
                              <m:t>2</m:t>
                            </m:r>
                          </m:e>
                        </m:d>
                        <m:d>
                          <m:dPr>
                            <m:ctrlPr>
                              <a:rPr lang="en-US" sz="2400" i="1" smtClean="0"/>
                            </m:ctrlPr>
                          </m:dPr>
                          <m:e>
                            <m:r>
                              <a:rPr lang="en-US" sz="2400" b="0" i="1" smtClean="0"/>
                              <m:t>−</m:t>
                            </m:r>
                            <m:r>
                              <a:rPr lang="en-US" sz="2400" b="0" i="1" smtClean="0"/>
                              <m:t>2</m:t>
                            </m:r>
                          </m:e>
                        </m:d>
                        <m:r>
                          <a:rPr lang="en-US" sz="2400" b="0" i="1" smtClean="0"/>
                          <m:t>+</m:t>
                        </m:r>
                        <m:d>
                          <m:dPr>
                            <m:ctrlPr>
                              <a:rPr lang="en-US" sz="2400" i="1" smtClean="0"/>
                            </m:ctrlPr>
                          </m:dPr>
                          <m:e>
                            <m:r>
                              <a:rPr lang="en-US" sz="2400" b="0" i="1" smtClean="0"/>
                              <m:t>−</m:t>
                            </m:r>
                            <m:r>
                              <a:rPr lang="en-US" sz="2400" b="0" i="1" smtClean="0"/>
                              <m:t>1</m:t>
                            </m:r>
                          </m:e>
                        </m:d>
                        <m:d>
                          <m:dPr>
                            <m:ctrlPr>
                              <a:rPr lang="en-US" sz="2400" i="1" smtClean="0"/>
                            </m:ctrlPr>
                          </m:dPr>
                          <m:e>
                            <m:r>
                              <a:rPr lang="en-US" sz="2400" b="0" i="1" smtClean="0"/>
                              <m:t>−</m:t>
                            </m:r>
                            <m:r>
                              <a:rPr lang="en-US" sz="2400" b="0" i="1" smtClean="0"/>
                              <m:t>1</m:t>
                            </m:r>
                          </m:e>
                        </m:d>
                        <m:r>
                          <a:rPr lang="en-US" sz="2400" b="0" i="1" smtClean="0"/>
                          <m:t>+</m:t>
                        </m:r>
                        <m:d>
                          <m:dPr>
                            <m:ctrlPr>
                              <a:rPr lang="en-US" sz="2400" i="1" smtClean="0"/>
                            </m:ctrlPr>
                          </m:dPr>
                          <m:e>
                            <m:r>
                              <a:rPr lang="en-US" sz="2400" b="0" i="1" smtClean="0"/>
                              <m:t>0</m:t>
                            </m:r>
                          </m:e>
                        </m:d>
                        <m:d>
                          <m:dPr>
                            <m:ctrlPr>
                              <a:rPr lang="en-US" sz="2400" i="1" smtClean="0"/>
                            </m:ctrlPr>
                          </m:dPr>
                          <m:e>
                            <m:r>
                              <a:rPr lang="en-US" sz="2400" b="0" i="1" smtClean="0"/>
                              <m:t>1</m:t>
                            </m:r>
                          </m:e>
                        </m:d>
                        <m:r>
                          <a:rPr lang="en-US" sz="2400" b="0" i="1" smtClean="0"/>
                          <m:t>+</m:t>
                        </m:r>
                        <m:d>
                          <m:dPr>
                            <m:ctrlPr>
                              <a:rPr lang="en-US" sz="2400" i="1" smtClean="0"/>
                            </m:ctrlPr>
                          </m:dPr>
                          <m:e>
                            <m:r>
                              <a:rPr lang="en-US" sz="2400" b="0" i="1" smtClean="0"/>
                              <m:t>1</m:t>
                            </m:r>
                          </m:e>
                        </m:d>
                        <m:d>
                          <m:dPr>
                            <m:ctrlPr>
                              <a:rPr lang="en-US" sz="2400" i="1" smtClean="0"/>
                            </m:ctrlPr>
                          </m:dPr>
                          <m:e>
                            <m:r>
                              <a:rPr lang="en-US" sz="2400" b="0" i="1" smtClean="0"/>
                              <m:t>0</m:t>
                            </m:r>
                          </m:e>
                        </m:d>
                        <m:r>
                          <a:rPr lang="en-US" sz="2400" b="0" i="1" smtClean="0"/>
                          <m:t>+(</m:t>
                        </m:r>
                        <m:r>
                          <a:rPr lang="en-US" sz="2400" b="0" i="1" smtClean="0"/>
                          <m:t>2</m:t>
                        </m:r>
                        <m:r>
                          <a:rPr lang="en-US" sz="2400" b="0" i="1" smtClean="0"/>
                          <m:t>)(</m:t>
                        </m:r>
                        <m:r>
                          <a:rPr lang="en-US" sz="2400" b="0" i="1" smtClean="0"/>
                          <m:t>2</m:t>
                        </m:r>
                        <m:r>
                          <a:rPr lang="en-US" sz="2400" b="0" i="1" smtClean="0"/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sz="2400" i="1" smtClean="0"/>
                            </m:ctrlPr>
                          </m:sSupPr>
                          <m:e>
                            <m:r>
                              <a:rPr lang="en-US" sz="2400" b="0" i="1" smtClean="0"/>
                              <m:t>(−</m:t>
                            </m:r>
                            <m:r>
                              <a:rPr lang="en-US" sz="2400" b="0" i="1" smtClean="0"/>
                              <m:t>2</m:t>
                            </m:r>
                            <m:r>
                              <a:rPr lang="en-US" sz="2400" b="0" i="1" smtClean="0"/>
                              <m:t>)</m:t>
                            </m:r>
                          </m:e>
                          <m:sup>
                            <m:r>
                              <a:rPr lang="en-US" sz="2400" b="0" i="1" smtClean="0"/>
                              <m:t>2</m:t>
                            </m:r>
                          </m:sup>
                        </m:sSup>
                        <m:r>
                          <a:rPr lang="en-US" sz="2400" b="0" i="1" smtClean="0"/>
                          <m:t>+ </m:t>
                        </m:r>
                        <m:sSup>
                          <m:sSupPr>
                            <m:ctrlPr>
                              <a:rPr lang="en-US" sz="2400" i="1" smtClean="0"/>
                            </m:ctrlPr>
                          </m:sSupPr>
                          <m:e>
                            <m:r>
                              <a:rPr lang="en-US" sz="2400" b="0" i="1" smtClean="0"/>
                              <m:t>(−</m:t>
                            </m:r>
                            <m:r>
                              <a:rPr lang="en-US" sz="2400" b="0" i="1" smtClean="0"/>
                              <m:t>1</m:t>
                            </m:r>
                            <m:r>
                              <a:rPr lang="en-US" sz="2400" b="0" i="1" smtClean="0"/>
                              <m:t>)</m:t>
                            </m:r>
                          </m:e>
                          <m:sup>
                            <m:r>
                              <a:rPr lang="en-US" sz="2400" b="0" i="1" smtClean="0"/>
                              <m:t>2</m:t>
                            </m:r>
                          </m:sup>
                        </m:sSup>
                        <m:r>
                          <a:rPr lang="en-US" sz="2400" b="0" i="1" smtClean="0"/>
                          <m:t>+ </m:t>
                        </m:r>
                        <m:sSup>
                          <m:sSupPr>
                            <m:ctrlPr>
                              <a:rPr lang="en-US" sz="2400" i="1" smtClean="0"/>
                            </m:ctrlPr>
                          </m:sSupPr>
                          <m:e>
                            <m:r>
                              <a:rPr lang="en-US" sz="2400" b="0" i="1" smtClean="0"/>
                              <m:t>0</m:t>
                            </m:r>
                          </m:e>
                          <m:sup>
                            <m:r>
                              <a:rPr lang="en-US" sz="2400" b="0" i="1" smtClean="0"/>
                              <m:t>2</m:t>
                            </m:r>
                          </m:sup>
                        </m:sSup>
                        <m:r>
                          <a:rPr lang="en-US" sz="2400" b="0" i="1" smtClean="0"/>
                          <m:t>+  </m:t>
                        </m:r>
                        <m:sSup>
                          <m:sSupPr>
                            <m:ctrlPr>
                              <a:rPr lang="en-US" sz="2400" i="1" smtClean="0"/>
                            </m:ctrlPr>
                          </m:sSupPr>
                          <m:e>
                            <m:r>
                              <a:rPr lang="en-US" sz="2400" b="0" i="1" smtClean="0"/>
                              <m:t>1</m:t>
                            </m:r>
                          </m:e>
                          <m:sup>
                            <m:r>
                              <a:rPr lang="en-US" sz="2400" b="0" i="1" smtClean="0"/>
                              <m:t>2</m:t>
                            </m:r>
                          </m:sup>
                        </m:sSup>
                        <m:r>
                          <a:rPr lang="en-US" sz="2400" b="0" i="1" smtClean="0"/>
                          <m:t>+ </m:t>
                        </m:r>
                        <m:sSup>
                          <m:sSupPr>
                            <m:ctrlPr>
                              <a:rPr lang="en-US" sz="2400" i="1" smtClean="0"/>
                            </m:ctrlPr>
                          </m:sSupPr>
                          <m:e>
                            <m:r>
                              <a:rPr lang="en-US" sz="2400" b="0" i="1" smtClean="0"/>
                              <m:t>2</m:t>
                            </m:r>
                          </m:e>
                          <m:sup>
                            <m:r>
                              <a:rPr lang="en-US" sz="2400" b="0" i="1" smtClean="0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/>
                        </m:ctrlPr>
                      </m:fPr>
                      <m:num>
                        <m:r>
                          <a:rPr lang="en-US" sz="2400" b="0" i="1" smtClean="0"/>
                          <m:t>9</m:t>
                        </m:r>
                      </m:num>
                      <m:den>
                        <m:r>
                          <a:rPr lang="en-US" sz="2400" b="0" i="1" smtClean="0"/>
                          <m:t>10</m:t>
                        </m:r>
                      </m:den>
                    </m:f>
                    <m:r>
                      <a:rPr lang="en-US" sz="2400" b="0" i="1" smtClean="0"/>
                      <m:t>=</m:t>
                    </m:r>
                    <m:r>
                      <a:rPr lang="en-US" sz="2400" b="0" i="1" smtClean="0"/>
                      <m:t>0</m:t>
                    </m:r>
                    <m:r>
                      <a:rPr lang="en-US" sz="2400" b="0" i="1" smtClean="0"/>
                      <m:t>.</m:t>
                    </m:r>
                    <m:r>
                      <a:rPr lang="en-US" sz="2400" b="0" i="1" smtClean="0"/>
                      <m:t>9</m:t>
                    </m:r>
                  </m:oMath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b="1" dirty="0"/>
                  <a:t>Step 3 — Compute 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sz="2400" b="1" dirty="0" smtClean="0"/>
              </a:p>
              <a:p>
                <a:pPr marL="0" indent="0">
                  <a:buNone/>
                </a:pPr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/>
                        </m:ctrlPr>
                      </m:sSubPr>
                      <m:e>
                        <m:r>
                          <a:rPr lang="en-US" sz="2400" b="0" i="1"/>
                          <m:t>𝑏</m:t>
                        </m:r>
                      </m:e>
                      <m:sub>
                        <m:r>
                          <a:rPr lang="en-US" sz="2400" b="0" i="1"/>
                          <m:t>0</m:t>
                        </m:r>
                      </m:sub>
                    </m:sSub>
                  </m:oMath>
                </a14:m>
                <a:r>
                  <a:rPr lang="en-US" sz="2400" dirty="0" smtClean="0"/>
                  <a:t> = ȳ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/>
                        </m:ctrlPr>
                      </m:sSubPr>
                      <m:e>
                        <m:r>
                          <a:rPr lang="en-US" sz="2400" b="0" i="1"/>
                          <m:t>𝑏</m:t>
                        </m:r>
                      </m:e>
                      <m:sub>
                        <m:r>
                          <a:rPr lang="en-US" sz="2400" b="0" i="1" smtClean="0"/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x</a:t>
                </a:r>
                <a:r>
                  <a:rPr lang="en-US" sz="2400" dirty="0" smtClean="0"/>
                  <a:t>̄ = 4 − 0.9 ⋅ 3 = 1.3</a:t>
                </a:r>
                <a:r>
                  <a:rPr lang="en-US" sz="2400" dirty="0"/>
                  <a:t>	</a:t>
                </a:r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 smtClean="0"/>
                  <a:t>	Fitted line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:r>
                  <a:rPr lang="en-US" sz="2400" dirty="0" smtClean="0"/>
                  <a:t>	</a:t>
                </a:r>
                <a:r>
                  <a:rPr lang="cy-GB" sz="2400" dirty="0" smtClean="0"/>
                  <a:t>ŷ = 1.3 + 0.9x</a:t>
                </a: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08364"/>
                <a:ext cx="12039600" cy="5749636"/>
              </a:xfrm>
              <a:blipFill>
                <a:blip r:embed="rId2"/>
                <a:stretch>
                  <a:fillRect l="-759" t="-1485" b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KL University - Wikipedia">
            <a:extLst>
              <a:ext uri="{FF2B5EF4-FFF2-40B4-BE49-F238E27FC236}">
                <a16:creationId xmlns:a16="http://schemas.microsoft.com/office/drawing/2014/main" id="{F7637829-08C6-21B9-EF71-195254A4D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013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356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  <a:latin typeface="+mn-lt"/>
              </a:rPr>
              <a:t>Example </a:t>
            </a:r>
            <a:r>
              <a:rPr lang="en-US" sz="3200" b="1" dirty="0">
                <a:solidFill>
                  <a:srgbClr val="C00000"/>
                </a:solidFill>
                <a:latin typeface="+mn-lt"/>
              </a:rPr>
              <a:t>with Single Independent Variable</a:t>
            </a:r>
            <a:endParaRPr lang="en-US" sz="3200" b="1" dirty="0">
              <a:solidFill>
                <a:srgbClr val="C00000"/>
              </a:solidFill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4691" y="803564"/>
                <a:ext cx="12067309" cy="60544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 smtClean="0"/>
                  <a:t>Step 4 — Predictions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For each </a:t>
                </a:r>
                <a:r>
                  <a:rPr lang="en-US" sz="2000" dirty="0" smtClean="0"/>
                  <a:t>x</a:t>
                </a:r>
                <a:endParaRPr lang="en-US" sz="2000" dirty="0"/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000" dirty="0" smtClean="0"/>
                  <a:t>x=1</a:t>
                </a:r>
                <a:r>
                  <a:rPr lang="en-US" altLang="en-US" sz="2000" dirty="0"/>
                  <a:t>: 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/>
                      <m:t>Ŷ</m:t>
                    </m:r>
                    <m:r>
                      <a:rPr lang="en-US" sz="2000" b="0" i="1" dirty="0"/>
                      <m:t> </m:t>
                    </m:r>
                    <m:r>
                      <a:rPr lang="en-US" sz="2000" b="0" i="0" dirty="0" smtClean="0"/>
                      <m:t> </m:t>
                    </m:r>
                  </m:oMath>
                </a14:m>
                <a:r>
                  <a:rPr lang="en-US" altLang="en-US" sz="2000" dirty="0" smtClean="0"/>
                  <a:t>= 1.3 + 0.9(1</a:t>
                </a:r>
                <a:r>
                  <a:rPr lang="en-US" altLang="en-US" sz="2000" dirty="0"/>
                  <a:t>)=2.2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000" dirty="0"/>
                  <a:t>x=2: 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/>
                      <m:t>Ŷ</m:t>
                    </m:r>
                    <m:r>
                      <a:rPr lang="en-US" sz="2000" b="0" i="1" dirty="0"/>
                      <m:t> </m:t>
                    </m:r>
                  </m:oMath>
                </a14:m>
                <a:r>
                  <a:rPr lang="en-US" altLang="en-US" sz="2000" dirty="0" smtClean="0"/>
                  <a:t> = 3.1</a:t>
                </a:r>
                <a:endParaRPr lang="en-US" altLang="en-US" sz="2000" dirty="0"/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000" dirty="0" smtClean="0"/>
                  <a:t>x=4</a:t>
                </a:r>
                <a:r>
                  <a:rPr lang="en-US" altLang="en-US" sz="2000" dirty="0"/>
                  <a:t>: 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/>
                      <m:t>Ŷ</m:t>
                    </m:r>
                    <m:r>
                      <a:rPr lang="en-US" sz="2000" b="0" i="1" dirty="0"/>
                      <m:t> </m:t>
                    </m:r>
                  </m:oMath>
                </a14:m>
                <a:r>
                  <a:rPr lang="en-US" altLang="en-US" sz="2000" dirty="0" smtClean="0"/>
                  <a:t>= 4.9</a:t>
                </a:r>
                <a:endParaRPr lang="en-US" altLang="en-US" sz="2000" dirty="0"/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000" dirty="0" smtClean="0"/>
                  <a:t>x=3: 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/>
                      <m:t>Ŷ</m:t>
                    </m:r>
                    <m:r>
                      <a:rPr lang="en-US" sz="2000" b="0" i="1" dirty="0"/>
                      <m:t> </m:t>
                    </m:r>
                  </m:oMath>
                </a14:m>
                <a:r>
                  <a:rPr lang="en-US" altLang="en-US" sz="2000" dirty="0" smtClean="0"/>
                  <a:t> = 4.0</a:t>
                </a:r>
                <a:endParaRPr lang="en-US" altLang="en-US" sz="2000" dirty="0"/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000" dirty="0"/>
                  <a:t>x=5: 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/>
                      <m:t>Ŷ</m:t>
                    </m:r>
                    <m:r>
                      <a:rPr lang="en-US" sz="2000" b="0" i="1" dirty="0"/>
                      <m:t> </m:t>
                    </m:r>
                  </m:oMath>
                </a14:m>
                <a:r>
                  <a:rPr lang="en-US" altLang="en-US" sz="2000" dirty="0" smtClean="0"/>
                  <a:t>= 5.8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2000" dirty="0" smtClean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pt-BR" sz="2000" b="1" dirty="0"/>
                  <a:t>Step 5 </a:t>
                </a:r>
                <a:r>
                  <a:rPr lang="pt-BR" sz="2000" dirty="0"/>
                  <a:t>— Error (MSE) </a:t>
                </a:r>
                <a:r>
                  <a:rPr lang="pt-BR" sz="2000" dirty="0" smtClean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smtClean="0"/>
                        </m:ctrlPr>
                      </m:sSupPr>
                      <m:e>
                        <m:r>
                          <a:rPr lang="en-US" sz="2000" b="0" i="1" smtClean="0"/>
                          <m:t>𝑅</m:t>
                        </m:r>
                      </m:e>
                      <m:sup>
                        <m:r>
                          <a:rPr lang="en-US" sz="2000" b="0" i="1" smtClean="0"/>
                          <m:t>2</m:t>
                        </m:r>
                      </m:sup>
                    </m:sSup>
                  </m:oMath>
                </a14:m>
                <a:endParaRPr lang="en-US" sz="2000" dirty="0" smtClean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pt-BR" sz="2000" i="1" dirty="0"/>
                  <a:t>	</a:t>
                </a:r>
                <a:r>
                  <a:rPr lang="pt-BR" sz="2000" dirty="0"/>
                  <a:t>MSE</a:t>
                </a:r>
                <a:r>
                  <a:rPr lang="pt-BR" sz="2000" i="1" dirty="0"/>
                  <a:t> </a:t>
                </a:r>
                <a:r>
                  <a:rPr lang="pt-BR" sz="2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i="1"/>
                        </m:ctrlPr>
                      </m:fPr>
                      <m:num>
                        <m:r>
                          <a:rPr lang="en-US" sz="2000" i="1"/>
                          <m:t>1</m:t>
                        </m:r>
                      </m:num>
                      <m:den>
                        <m:r>
                          <a:rPr lang="en-US" sz="2000" i="1"/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sz="2000" i="1"/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/>
                          <m:t>𝑖</m:t>
                        </m:r>
                        <m:r>
                          <a:rPr lang="en-US" sz="2000" i="1"/>
                          <m:t>=1</m:t>
                        </m:r>
                      </m:sub>
                      <m:sup>
                        <m:r>
                          <a:rPr lang="en-US" sz="2000" i="1"/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000" i="1"/>
                            </m:ctrlPr>
                          </m:sSupPr>
                          <m:e>
                            <m:r>
                              <a:rPr lang="en-US" sz="2000" i="1"/>
                              <m:t>(</m:t>
                            </m:r>
                            <m:sSub>
                              <m:sSubPr>
                                <m:ctrlPr>
                                  <a:rPr lang="en-US" sz="2000" i="1"/>
                                </m:ctrlPr>
                              </m:sSubPr>
                              <m:e>
                                <m:r>
                                  <a:rPr lang="en-US" sz="2000" i="1"/>
                                  <m:t>𝑦</m:t>
                                </m:r>
                              </m:e>
                              <m:sub>
                                <m:r>
                                  <a:rPr lang="en-US" sz="2000" i="1"/>
                                  <m:t>𝑖</m:t>
                                </m:r>
                              </m:sub>
                            </m:sSub>
                            <m:r>
                              <a:rPr lang="en-US" sz="2000" i="1"/>
                              <m:t>−</m:t>
                            </m:r>
                            <m:sSub>
                              <m:sSubPr>
                                <m:ctrlPr>
                                  <a:rPr lang="en-US" sz="2000" i="1"/>
                                </m:ctrlPr>
                              </m:sSubPr>
                              <m:e>
                                <m:r>
                                  <a:rPr lang="cy-GB" sz="2000" i="1"/>
                                  <m:t>ŷ</m:t>
                                </m:r>
                              </m:e>
                              <m:sub>
                                <m:r>
                                  <a:rPr lang="en-US" sz="2000" i="1"/>
                                  <m:t>𝑖</m:t>
                                </m:r>
                              </m:sub>
                            </m:sSub>
                            <m:r>
                              <a:rPr lang="en-US" sz="2000" i="1"/>
                              <m:t>)</m:t>
                            </m:r>
                          </m:e>
                          <m:sup>
                            <m:r>
                              <a:rPr lang="en-US" sz="2000" i="1"/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pt-BR" sz="20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i="1" smtClean="0"/>
                        </m:ctrlPr>
                      </m:fPr>
                      <m:num>
                        <m:sSup>
                          <m:sSupPr>
                            <m:ctrlPr>
                              <a:rPr lang="pt-BR" sz="2000" i="1" smtClean="0"/>
                            </m:ctrlPr>
                          </m:sSupPr>
                          <m:e>
                            <m:r>
                              <a:rPr lang="en-US" sz="2000" b="0" i="1" smtClean="0"/>
                              <m:t>(−0.2)</m:t>
                            </m:r>
                          </m:e>
                          <m:sup>
                            <m:r>
                              <a:rPr lang="en-US" sz="2000" b="0" i="1" smtClean="0"/>
                              <m:t>2</m:t>
                            </m:r>
                          </m:sup>
                        </m:sSup>
                        <m:r>
                          <a:rPr lang="en-US" sz="2000" b="0" i="1" smtClean="0"/>
                          <m:t>+ </m:t>
                        </m:r>
                        <m:sSup>
                          <m:sSupPr>
                            <m:ctrlPr>
                              <a:rPr lang="en-US" sz="2000" b="0" i="1" smtClean="0"/>
                            </m:ctrlPr>
                          </m:sSupPr>
                          <m:e>
                            <m:r>
                              <a:rPr lang="en-US" sz="2000" b="0" i="1" smtClean="0"/>
                              <m:t>(−0.1)</m:t>
                            </m:r>
                          </m:e>
                          <m:sup>
                            <m:r>
                              <a:rPr lang="en-US" sz="2000" b="0" i="1" smtClean="0"/>
                              <m:t>2</m:t>
                            </m:r>
                          </m:sup>
                        </m:sSup>
                        <m:r>
                          <a:rPr lang="en-US" sz="2000" b="0" i="1" smtClean="0"/>
                          <m:t>+ </m:t>
                        </m:r>
                        <m:sSup>
                          <m:sSupPr>
                            <m:ctrlPr>
                              <a:rPr lang="en-US" sz="2000" b="0" i="1" smtClean="0"/>
                            </m:ctrlPr>
                          </m:sSupPr>
                          <m:e>
                            <m:r>
                              <a:rPr lang="en-US" sz="2000" b="0" i="1" smtClean="0"/>
                              <m:t>(1.0)</m:t>
                            </m:r>
                          </m:e>
                          <m:sup>
                            <m:r>
                              <a:rPr lang="en-US" sz="2000" b="0" i="1" smtClean="0"/>
                              <m:t>2</m:t>
                            </m:r>
                          </m:sup>
                        </m:sSup>
                        <m:r>
                          <a:rPr lang="en-US" sz="2000" b="0" i="1" smtClean="0"/>
                          <m:t>+ </m:t>
                        </m:r>
                        <m:sSup>
                          <m:sSupPr>
                            <m:ctrlPr>
                              <a:rPr lang="en-US" sz="2000" b="0" i="1" smtClean="0"/>
                            </m:ctrlPr>
                          </m:sSupPr>
                          <m:e>
                            <m:r>
                              <a:rPr lang="en-US" sz="2000" b="0" i="1" smtClean="0"/>
                              <m:t>(−0.9)</m:t>
                            </m:r>
                          </m:e>
                          <m:sup>
                            <m:r>
                              <a:rPr lang="en-US" sz="2000" b="0" i="1" smtClean="0"/>
                              <m:t>2</m:t>
                            </m:r>
                          </m:sup>
                        </m:sSup>
                        <m:r>
                          <a:rPr lang="en-US" sz="2000" b="0" i="1" smtClean="0"/>
                          <m:t>+ </m:t>
                        </m:r>
                        <m:sSup>
                          <m:sSupPr>
                            <m:ctrlPr>
                              <a:rPr lang="en-US" sz="2000" b="0" i="1" smtClean="0"/>
                            </m:ctrlPr>
                          </m:sSupPr>
                          <m:e>
                            <m:r>
                              <a:rPr lang="en-US" sz="2000" b="0" i="1" smtClean="0"/>
                              <m:t>0.2</m:t>
                            </m:r>
                          </m:e>
                          <m:sup>
                            <m:r>
                              <a:rPr lang="en-US" sz="2000" b="0" i="1" smtClean="0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/>
                          <m:t>5</m:t>
                        </m:r>
                      </m:den>
                    </m:f>
                  </m:oMath>
                </a14:m>
                <a:r>
                  <a:rPr lang="pt-BR" sz="2000" dirty="0" smtClean="0"/>
                  <a:t> = 0.38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pt-BR" sz="2000" dirty="0"/>
                  <a:t>	</a:t>
                </a:r>
                <a:endParaRPr lang="pt-BR" sz="2000" dirty="0" smtClean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pt-BR" sz="20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/>
                        </m:ctrlPr>
                      </m:sSupPr>
                      <m:e>
                        <m:r>
                          <a:rPr lang="en-US" sz="2000" i="1"/>
                          <m:t>𝑅</m:t>
                        </m:r>
                      </m:e>
                      <m:sup>
                        <m:r>
                          <a:rPr lang="en-US" sz="2000" i="1"/>
                          <m:t>2</m:t>
                        </m:r>
                      </m:sup>
                    </m:sSup>
                  </m:oMath>
                </a14:m>
                <a:r>
                  <a:rPr lang="pt-BR" sz="2000" dirty="0" smtClean="0"/>
                  <a:t> = 1 –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i="1" smtClean="0"/>
                        </m:ctrlPr>
                      </m:fPr>
                      <m:num>
                        <m:r>
                          <a:rPr lang="en-US" sz="2000" b="0" i="1" smtClean="0"/>
                          <m:t>𝑅𝑆𝑆</m:t>
                        </m:r>
                      </m:num>
                      <m:den>
                        <m:r>
                          <a:rPr lang="en-US" sz="2000" b="0" i="1" smtClean="0"/>
                          <m:t>𝑇𝑆𝑆</m:t>
                        </m:r>
                      </m:den>
                    </m:f>
                    <m:r>
                      <a:rPr lang="en-US" sz="2000" b="0" i="1" smtClean="0"/>
                      <m:t>)= </m:t>
                    </m:r>
                  </m:oMath>
                </a14:m>
                <a:r>
                  <a:rPr lang="pt-BR" sz="2000" dirty="0" smtClean="0"/>
                  <a:t>1-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i="1" smtClean="0"/>
                        </m:ctrlPr>
                      </m:fPr>
                      <m:num>
                        <m:r>
                          <a:rPr lang="en-US" sz="2000" b="0" i="1" smtClean="0"/>
                          <m:t>1.90</m:t>
                        </m:r>
                      </m:num>
                      <m:den>
                        <m:r>
                          <a:rPr lang="en-US" sz="2000" b="0" i="1" smtClean="0"/>
                          <m:t>2.35</m:t>
                        </m:r>
                      </m:den>
                    </m:f>
                    <m:r>
                      <a:rPr lang="en-US" sz="2000" b="0" i="1" smtClean="0"/>
                      <m:t>  </m:t>
                    </m:r>
                    <m:r>
                      <a:rPr lang="en-US" sz="2000" b="0" i="1" smtClean="0">
                        <a:ea typeface="Cambria Math" panose="02040503050406030204" pitchFamily="18" charset="0"/>
                      </a:rPr>
                      <m:t>≈0.81</m:t>
                    </m:r>
                  </m:oMath>
                </a14:m>
                <a:endParaRPr lang="pt-BR" sz="2000" dirty="0" smtClean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sz="2000" dirty="0"/>
                  <a:t>Interpretation: about </a:t>
                </a:r>
                <a:r>
                  <a:rPr lang="en-US" sz="2000" b="1" dirty="0"/>
                  <a:t>81%</a:t>
                </a:r>
                <a:r>
                  <a:rPr lang="en-US" sz="2000" dirty="0"/>
                  <a:t> of the variance in score is explained by hours studied; average squared error is </a:t>
                </a:r>
                <a:r>
                  <a:rPr lang="en-US" sz="2000" b="1" dirty="0"/>
                  <a:t>0.38</a:t>
                </a:r>
                <a:r>
                  <a:rPr lang="en-US" sz="2000" dirty="0"/>
                  <a:t> (in squared score units).</a:t>
                </a:r>
                <a:endParaRPr lang="pt-BR" sz="2000" dirty="0"/>
              </a:p>
              <a:p>
                <a:pPr marL="0" indent="0">
                  <a:buNone/>
                </a:pPr>
                <a:r>
                  <a:rPr lang="en-US" sz="2000" b="1" dirty="0"/>
                  <a:t>Step 6 — Use the model</a:t>
                </a:r>
              </a:p>
              <a:p>
                <a:pPr marL="0" indent="0">
                  <a:buNone/>
                </a:pPr>
                <a:r>
                  <a:rPr lang="en-US" sz="2000" dirty="0"/>
                  <a:t>If a student studies </a:t>
                </a:r>
                <a:r>
                  <a:rPr lang="en-US" sz="2000" b="1" dirty="0"/>
                  <a:t>6</a:t>
                </a:r>
                <a:r>
                  <a:rPr lang="en-US" sz="2000" dirty="0"/>
                  <a:t> hours</a:t>
                </a:r>
                <a:r>
                  <a:rPr lang="en-US" sz="2000" dirty="0" smtClean="0"/>
                  <a:t>: </a:t>
                </a:r>
                <a:r>
                  <a:rPr lang="cy-GB" sz="2000" dirty="0"/>
                  <a:t>ŷ = 1.3 + </a:t>
                </a:r>
                <a:r>
                  <a:rPr lang="cy-GB" sz="2000" dirty="0" smtClean="0"/>
                  <a:t>0.9(6) = 6.7</a:t>
                </a:r>
                <a:endParaRPr lang="en-US" sz="2000" dirty="0"/>
              </a:p>
              <a:p>
                <a:endParaRPr lang="en-US" sz="2000" dirty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691" y="803564"/>
                <a:ext cx="12067309" cy="6054435"/>
              </a:xfrm>
              <a:blipFill>
                <a:blip r:embed="rId2"/>
                <a:stretch>
                  <a:fillRect l="-505" t="-1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F7637829-08C6-21B9-EF71-195254A4D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672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9860" y="89473"/>
            <a:ext cx="2704052" cy="815095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70560" y="995681"/>
            <a:ext cx="10708640" cy="5106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sz="8000" dirty="0">
                <a:solidFill>
                  <a:schemeClr val="tx1"/>
                </a:solidFill>
              </a:rPr>
              <a:t>THANK YOU</a:t>
            </a:r>
            <a:endParaRPr lang="en-US" sz="8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424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1143</TotalTime>
  <Words>849</Words>
  <Application>Microsoft Office PowerPoint</Application>
  <PresentationFormat>Widescreen</PresentationFormat>
  <Paragraphs>204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Gill Sans MT</vt:lpstr>
      <vt:lpstr>Poppins</vt:lpstr>
      <vt:lpstr>Wingdings</vt:lpstr>
      <vt:lpstr>Office Theme</vt:lpstr>
      <vt:lpstr>PowerPoint Presentation</vt:lpstr>
      <vt:lpstr>Regression in Machine Learning</vt:lpstr>
      <vt:lpstr>Types of Regression</vt:lpstr>
      <vt:lpstr>PowerPoint Presentation</vt:lpstr>
      <vt:lpstr>Real World Use Cases of Linear Regression</vt:lpstr>
      <vt:lpstr>Steps in linear regression</vt:lpstr>
      <vt:lpstr> Best Fit Line in Linear Regression</vt:lpstr>
      <vt:lpstr>PowerPoint Presentation</vt:lpstr>
      <vt:lpstr>PowerPoint Presentation</vt:lpstr>
      <vt:lpstr> Best Fit Line in Linear Regression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with Single Independent Variable</vt:lpstr>
      <vt:lpstr>Example with Single Independent Variable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 Manika Prasuna</dc:creator>
  <cp:lastModifiedBy>Saziya Tabbassum</cp:lastModifiedBy>
  <cp:revision>329</cp:revision>
  <dcterms:created xsi:type="dcterms:W3CDTF">2025-05-12T05:57:37Z</dcterms:created>
  <dcterms:modified xsi:type="dcterms:W3CDTF">2025-09-03T17:32:45Z</dcterms:modified>
</cp:coreProperties>
</file>