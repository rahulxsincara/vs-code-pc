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78" r:id="rId13"/>
    <p:sldId id="280" r:id="rId14"/>
    <p:sldId id="279" r:id="rId15"/>
    <p:sldId id="281" r:id="rId16"/>
    <p:sldId id="282" r:id="rId17"/>
    <p:sldId id="267" r:id="rId18"/>
    <p:sldId id="272" r:id="rId19"/>
    <p:sldId id="273" r:id="rId20"/>
    <p:sldId id="274" r:id="rId21"/>
    <p:sldId id="275" r:id="rId22"/>
    <p:sldId id="269" r:id="rId23"/>
    <p:sldId id="270" r:id="rId24"/>
    <p:sldId id="283" r:id="rId25"/>
    <p:sldId id="284" r:id="rId26"/>
    <p:sldId id="285" r:id="rId27"/>
    <p:sldId id="27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64" autoAdjust="0"/>
  </p:normalViewPr>
  <p:slideViewPr>
    <p:cSldViewPr snapToGrid="0">
      <p:cViewPr varScale="1">
        <p:scale>
          <a:sx n="81" d="100"/>
          <a:sy n="81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D43E9-2CE6-4F67-B7A4-2A01ABEBE6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1B1F1-345D-4B9A-B3D4-E61B50D32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8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9BD58A1D-36A2-53EE-A257-8F8259D555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1F8042-5899-450B-B3FB-603A561A71BC}" type="slidenum">
              <a:rPr lang="en-US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669C73C-F0FB-ABC3-2A7D-649E8A2BE4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2CB36DD-645C-EE7A-DB43-23835A8E8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302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E711D9CB-5241-CC68-29EE-D5C29B8261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7FF205-4317-45D8-823A-29E391DFA5A1}" type="slidenum">
              <a:rPr lang="en-US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B6B4DE23-1B5C-E8C8-82F9-221AF73303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9515E82-78D7-940A-C355-29E7A2D923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8861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38DDBF-0E07-4870-8D57-22FD1281DC9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90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25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8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0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4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1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4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38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22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65332"/>
            <a:ext cx="284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13536" y="20647"/>
            <a:ext cx="10972800" cy="924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573952" y="1203159"/>
            <a:ext cx="10972800" cy="492106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771" y="945083"/>
            <a:ext cx="11589172" cy="63343"/>
            <a:chOff x="685800" y="1794746"/>
            <a:chExt cx="7772400" cy="1794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 dirty="0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 dirty="0"/>
            </a:p>
          </p:txBody>
        </p:sp>
      </p:grpSp>
    </p:spTree>
    <p:extLst>
      <p:ext uri="{BB962C8B-B14F-4D97-AF65-F5344CB8AC3E}">
        <p14:creationId xmlns:p14="http://schemas.microsoft.com/office/powerpoint/2010/main" val="368158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0726C-779F-44FD-976E-4B51B832509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21B5E-90B2-46CA-B54A-4CF6B1C7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7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.xls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3616037"/>
          </a:xfrm>
        </p:spPr>
        <p:txBody>
          <a:bodyPr>
            <a:normAutofit/>
          </a:bodyPr>
          <a:lstStyle/>
          <a:p>
            <a:r>
              <a:rPr lang="en-US" sz="4000" b="1" cap="all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ARTIFICIAL INTELLIGENCE </a:t>
            </a:r>
            <a:br>
              <a:rPr lang="en-US" sz="4000" b="1" cap="all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</a:br>
            <a:r>
              <a:rPr lang="en-US" sz="4000" b="1" cap="all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&amp; </a:t>
            </a:r>
            <a:br>
              <a:rPr lang="en-US" sz="4000" b="1" cap="all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</a:br>
            <a:r>
              <a:rPr lang="en-US" sz="4000" b="1" cap="all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MACHINE LEARNING</a:t>
            </a:r>
            <a:br>
              <a:rPr lang="en-IN" sz="4000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</a:br>
            <a:endParaRPr lang="en-US" sz="4000" dirty="0">
              <a:latin typeface="Gill Sans MT" panose="020B05020201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5672" y="3354634"/>
            <a:ext cx="8922327" cy="1314348"/>
          </a:xfrm>
        </p:spPr>
        <p:txBody>
          <a:bodyPr/>
          <a:lstStyle/>
          <a:p>
            <a:r>
              <a:rPr lang="en-US" sz="3000" b="1" cap="all" dirty="0">
                <a:latin typeface="Gill Sans MT" panose="020B0502020104020203" pitchFamily="34" charset="0"/>
              </a:rPr>
              <a:t>SESSION NO : 25</a:t>
            </a:r>
            <a:endParaRPr lang="en-IN" sz="3000" dirty="0">
              <a:latin typeface="Gill Sans MT" panose="020B0502020104020203" pitchFamily="34" charset="0"/>
            </a:endParaRPr>
          </a:p>
          <a:p>
            <a:endParaRPr lang="en-US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506197" cy="610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96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559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955963"/>
            <a:ext cx="11069782" cy="4796913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en-US" sz="2400" dirty="0"/>
              <a:t>A decision tree is a supervised learning algorithm used for classification and regression tasks. It has a hierarchical tree structure which consists of a root node, branches, internal nodes and leaf nodes.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/>
              <a:t>It works like a flowchart help to make decisions step by step where: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Root node represents the whole dataset.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Internal nodes represent where decisions are made based on data feature.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Branches represent the flow from one decision to another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Leaf nodes represent final decisions or predictions.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/>
          </a:p>
          <a:p>
            <a:pPr algn="just"/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454727" cy="58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17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559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964" y="1357745"/>
            <a:ext cx="10404764" cy="4395131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en-US" sz="2400" dirty="0"/>
              <a:t>Decision trees are widely used due to their interpretability, flexibility and low preprocessing needs.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/>
              <a:t>A learned decision tree can also be re-represented as a set of if-then rules.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/>
              <a:t>Decision tree learning is one of the most widely used and practical methods for inductive inference.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/>
              <a:t>It is robust to noisy data and capable of learning disjunctive expressions</a:t>
            </a:r>
          </a:p>
          <a:p>
            <a:pPr marL="342900" indent="-342900" algn="just">
              <a:lnSpc>
                <a:spcPct val="150000"/>
              </a:lnSpc>
            </a:pPr>
            <a:endParaRPr lang="en-IN" sz="2400" dirty="0"/>
          </a:p>
          <a:p>
            <a:pPr algn="just"/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440873" cy="58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6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>
            <a:extLst>
              <a:ext uri="{FF2B5EF4-FFF2-40B4-BE49-F238E27FC236}">
                <a16:creationId xmlns:a16="http://schemas.microsoft.com/office/drawing/2014/main" id="{22B589BB-C36B-DFC0-B181-163941425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36525"/>
            <a:ext cx="9144000" cy="609600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b="1" dirty="0">
                <a:solidFill>
                  <a:srgbClr val="C00000"/>
                </a:solidFill>
              </a:rPr>
              <a:t>Algorithm for Decision Tree Induction</a:t>
            </a:r>
          </a:p>
        </p:txBody>
      </p:sp>
      <p:sp>
        <p:nvSpPr>
          <p:cNvPr id="40963" name="Rectangle 1027">
            <a:extLst>
              <a:ext uri="{FF2B5EF4-FFF2-40B4-BE49-F238E27FC236}">
                <a16:creationId xmlns:a16="http://schemas.microsoft.com/office/drawing/2014/main" id="{F70BD9BF-AF75-AF78-392E-6B4DA95BC3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6027" y="689462"/>
            <a:ext cx="11366939" cy="6032013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dirty="0"/>
              <a:t>Basic algorithm (a greedy algorithm)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dirty="0"/>
              <a:t>Tree is constructed in a </a:t>
            </a:r>
            <a:r>
              <a:rPr lang="en-US" altLang="en-US" sz="2200" dirty="0">
                <a:solidFill>
                  <a:schemeClr val="hlink"/>
                </a:solidFill>
              </a:rPr>
              <a:t>top-down recursive divide-and-conquer manner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dirty="0"/>
              <a:t>At start, all the training examples are at the root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dirty="0"/>
              <a:t>Attributes are categorical (if continuous-valued, they are discretized in advance)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dirty="0"/>
              <a:t>Examples are partitioned recursively based on selected attributes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dirty="0"/>
              <a:t>Test attributes are selected on the basis of a heuristic or statistical measure (e.g., </a:t>
            </a:r>
            <a:r>
              <a:rPr lang="en-US" altLang="en-US" sz="2200" dirty="0">
                <a:solidFill>
                  <a:schemeClr val="hlink"/>
                </a:solidFill>
              </a:rPr>
              <a:t>information gain</a:t>
            </a:r>
            <a:r>
              <a:rPr lang="en-US" altLang="en-US" sz="2200" dirty="0"/>
              <a:t>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dirty="0"/>
              <a:t>Conditions for stopping partitioning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dirty="0"/>
              <a:t>All samples for a given node belong to the same class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dirty="0"/>
              <a:t>If no remaining attributes for further partitioning – </a:t>
            </a:r>
            <a:r>
              <a:rPr lang="en-US" altLang="en-US" sz="2200" dirty="0">
                <a:solidFill>
                  <a:schemeClr val="hlink"/>
                </a:solidFill>
              </a:rPr>
              <a:t>majority voting</a:t>
            </a:r>
            <a:r>
              <a:rPr lang="en-US" altLang="en-US" sz="2200" dirty="0"/>
              <a:t> is employed for classifying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dirty="0"/>
              <a:t>There are no samples left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473464" cy="596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45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4">
            <a:extLst>
              <a:ext uri="{FF2B5EF4-FFF2-40B4-BE49-F238E27FC236}">
                <a16:creationId xmlns:a16="http://schemas.microsoft.com/office/drawing/2014/main" id="{C8F817E0-EA11-0D34-F140-9FAB5F71C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72525" y="6477000"/>
            <a:ext cx="19050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BE916D-C833-47B3-8803-D1FD9050CE23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420EAAC-AAF8-734D-C013-5FAB6BF26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3212" y="152400"/>
            <a:ext cx="9094788" cy="856712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C00000"/>
                </a:solidFill>
              </a:rPr>
              <a:t>Decision Tree Induction: An Example</a:t>
            </a:r>
          </a:p>
        </p:txBody>
      </p:sp>
      <p:grpSp>
        <p:nvGrpSpPr>
          <p:cNvPr id="38915" name="Group 63">
            <a:extLst>
              <a:ext uri="{FF2B5EF4-FFF2-40B4-BE49-F238E27FC236}">
                <a16:creationId xmlns:a16="http://schemas.microsoft.com/office/drawing/2014/main" id="{169A30DD-54BE-92F5-62F1-50554F25ADA9}"/>
              </a:ext>
            </a:extLst>
          </p:cNvPr>
          <p:cNvGrpSpPr>
            <a:grpSpLocks/>
          </p:cNvGrpSpPr>
          <p:nvPr/>
        </p:nvGrpSpPr>
        <p:grpSpPr bwMode="auto">
          <a:xfrm>
            <a:off x="1573212" y="2320637"/>
            <a:ext cx="6311900" cy="3814763"/>
            <a:chOff x="766" y="1152"/>
            <a:chExt cx="3976" cy="2403"/>
          </a:xfrm>
        </p:grpSpPr>
        <p:sp>
          <p:nvSpPr>
            <p:cNvPr id="38918" name="Rectangle 3">
              <a:extLst>
                <a:ext uri="{FF2B5EF4-FFF2-40B4-BE49-F238E27FC236}">
                  <a16:creationId xmlns:a16="http://schemas.microsoft.com/office/drawing/2014/main" id="{2654099F-5109-2D77-51FF-28AE39E8F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7" y="1152"/>
              <a:ext cx="475" cy="296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age?</a:t>
              </a:r>
            </a:p>
          </p:txBody>
        </p:sp>
        <p:sp>
          <p:nvSpPr>
            <p:cNvPr id="38919" name="Rectangle 4">
              <a:extLst>
                <a:ext uri="{FF2B5EF4-FFF2-40B4-BE49-F238E27FC236}">
                  <a16:creationId xmlns:a16="http://schemas.microsoft.com/office/drawing/2014/main" id="{9D3898EA-D113-1580-7531-FC4DC686B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1" y="1766"/>
              <a:ext cx="7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overcast</a:t>
              </a:r>
            </a:p>
          </p:txBody>
        </p:sp>
        <p:sp>
          <p:nvSpPr>
            <p:cNvPr id="38920" name="Rectangle 5">
              <a:extLst>
                <a:ext uri="{FF2B5EF4-FFF2-40B4-BE49-F238E27FC236}">
                  <a16:creationId xmlns:a16="http://schemas.microsoft.com/office/drawing/2014/main" id="{FE500DC4-27AC-E2AF-5D88-4749B6922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" y="2342"/>
              <a:ext cx="763" cy="296"/>
            </a:xfrm>
            <a:prstGeom prst="rect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student?</a:t>
              </a:r>
            </a:p>
          </p:txBody>
        </p:sp>
        <p:sp>
          <p:nvSpPr>
            <p:cNvPr id="38921" name="Rectangle 6">
              <a:extLst>
                <a:ext uri="{FF2B5EF4-FFF2-40B4-BE49-F238E27FC236}">
                  <a16:creationId xmlns:a16="http://schemas.microsoft.com/office/drawing/2014/main" id="{622D6199-A2DC-0111-17E1-251D223D9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" y="2342"/>
              <a:ext cx="1140" cy="296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credit rating?</a:t>
              </a:r>
            </a:p>
          </p:txBody>
        </p:sp>
        <p:sp>
          <p:nvSpPr>
            <p:cNvPr id="38922" name="Line 11">
              <a:extLst>
                <a:ext uri="{FF2B5EF4-FFF2-40B4-BE49-F238E27FC236}">
                  <a16:creationId xmlns:a16="http://schemas.microsoft.com/office/drawing/2014/main" id="{6778E99F-DF32-CDAF-DE61-ACBFA20B02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9" y="1462"/>
              <a:ext cx="625" cy="8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23" name="Line 12">
              <a:extLst>
                <a:ext uri="{FF2B5EF4-FFF2-40B4-BE49-F238E27FC236}">
                  <a16:creationId xmlns:a16="http://schemas.microsoft.com/office/drawing/2014/main" id="{4FC74EBE-DB91-E631-8CF1-DAAD06CBD7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2" y="1491"/>
              <a:ext cx="1" cy="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24" name="Line 13">
              <a:extLst>
                <a:ext uri="{FF2B5EF4-FFF2-40B4-BE49-F238E27FC236}">
                  <a16:creationId xmlns:a16="http://schemas.microsoft.com/office/drawing/2014/main" id="{9A6C045B-A5B9-BA79-4C96-8A0A2FC2E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440"/>
              <a:ext cx="1051" cy="8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25" name="Rectangle 14">
              <a:extLst>
                <a:ext uri="{FF2B5EF4-FFF2-40B4-BE49-F238E27FC236}">
                  <a16:creationId xmlns:a16="http://schemas.microsoft.com/office/drawing/2014/main" id="{38232054-D390-2245-3FF1-3071B81E6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3" y="1730"/>
              <a:ext cx="534" cy="2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b="1">
                  <a:latin typeface="Times New Roman" panose="02020603050405020304" pitchFamily="18" charset="0"/>
                </a:rPr>
                <a:t>&lt;=30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8926" name="Rectangle 15">
              <a:extLst>
                <a:ext uri="{FF2B5EF4-FFF2-40B4-BE49-F238E27FC236}">
                  <a16:creationId xmlns:a16="http://schemas.microsoft.com/office/drawing/2014/main" id="{B09D88C5-4EFA-BAA8-FA9E-9F29420DD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" y="1804"/>
              <a:ext cx="421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b="1">
                  <a:latin typeface="Times New Roman" panose="02020603050405020304" pitchFamily="18" charset="0"/>
                </a:rPr>
                <a:t>&gt;40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8927" name="Line 16">
              <a:extLst>
                <a:ext uri="{FF2B5EF4-FFF2-40B4-BE49-F238E27FC236}">
                  <a16:creationId xmlns:a16="http://schemas.microsoft.com/office/drawing/2014/main" id="{EEAFB25D-AE49-BACA-4427-BF945239B8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2640"/>
              <a:ext cx="528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28" name="Line 17">
              <a:extLst>
                <a:ext uri="{FF2B5EF4-FFF2-40B4-BE49-F238E27FC236}">
                  <a16:creationId xmlns:a16="http://schemas.microsoft.com/office/drawing/2014/main" id="{40A8BD03-77A0-CCDC-3998-DD4F90EC0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640"/>
              <a:ext cx="480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29" name="Line 18">
              <a:extLst>
                <a:ext uri="{FF2B5EF4-FFF2-40B4-BE49-F238E27FC236}">
                  <a16:creationId xmlns:a16="http://schemas.microsoft.com/office/drawing/2014/main" id="{4C8A5DAF-7924-0053-A4BF-A581D8F313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2640"/>
              <a:ext cx="48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30" name="Line 19">
              <a:extLst>
                <a:ext uri="{FF2B5EF4-FFF2-40B4-BE49-F238E27FC236}">
                  <a16:creationId xmlns:a16="http://schemas.microsoft.com/office/drawing/2014/main" id="{C50B5A70-6631-320C-A073-C406A353C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640"/>
              <a:ext cx="432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31" name="Line 24">
              <a:extLst>
                <a:ext uri="{FF2B5EF4-FFF2-40B4-BE49-F238E27FC236}">
                  <a16:creationId xmlns:a16="http://schemas.microsoft.com/office/drawing/2014/main" id="{1895DB5B-B3E2-FADA-C68A-68476228B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2029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32" name="Rectangle 25">
              <a:extLst>
                <a:ext uri="{FF2B5EF4-FFF2-40B4-BE49-F238E27FC236}">
                  <a16:creationId xmlns:a16="http://schemas.microsoft.com/office/drawing/2014/main" id="{326C6E16-4E44-2375-D52D-23E97789D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" y="3264"/>
              <a:ext cx="311" cy="29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38933" name="Rectangle 27">
              <a:extLst>
                <a:ext uri="{FF2B5EF4-FFF2-40B4-BE49-F238E27FC236}">
                  <a16:creationId xmlns:a16="http://schemas.microsoft.com/office/drawing/2014/main" id="{162693BD-9A95-FF10-2A17-4C55A21CA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264"/>
              <a:ext cx="376" cy="29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38934" name="Rectangle 28">
              <a:extLst>
                <a:ext uri="{FF2B5EF4-FFF2-40B4-BE49-F238E27FC236}">
                  <a16:creationId xmlns:a16="http://schemas.microsoft.com/office/drawing/2014/main" id="{FF778E04-D690-824C-A61F-1441F2143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" y="3216"/>
              <a:ext cx="376" cy="29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38935" name="Rectangle 29">
              <a:extLst>
                <a:ext uri="{FF2B5EF4-FFF2-40B4-BE49-F238E27FC236}">
                  <a16:creationId xmlns:a16="http://schemas.microsoft.com/office/drawing/2014/main" id="{C6FF5418-4682-922C-7B0C-E7B982C8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5" y="2344"/>
              <a:ext cx="376" cy="29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38936" name="Rectangle 30">
              <a:extLst>
                <a:ext uri="{FF2B5EF4-FFF2-40B4-BE49-F238E27FC236}">
                  <a16:creationId xmlns:a16="http://schemas.microsoft.com/office/drawing/2014/main" id="{54407F68-6A88-70F6-3D89-05C8748A0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824"/>
              <a:ext cx="67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2000" b="1">
                  <a:latin typeface="Times New Roman" panose="02020603050405020304" pitchFamily="18" charset="0"/>
                </a:rPr>
                <a:t>31..40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8937" name="Rectangle 62">
              <a:extLst>
                <a:ext uri="{FF2B5EF4-FFF2-40B4-BE49-F238E27FC236}">
                  <a16:creationId xmlns:a16="http://schemas.microsoft.com/office/drawing/2014/main" id="{184ECBBA-3435-ED49-E971-9296B31518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456844">
              <a:off x="3166" y="3214"/>
              <a:ext cx="311" cy="29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38938" name="Rectangle 9">
              <a:extLst>
                <a:ext uri="{FF2B5EF4-FFF2-40B4-BE49-F238E27FC236}">
                  <a16:creationId xmlns:a16="http://schemas.microsoft.com/office/drawing/2014/main" id="{D8AC0C80-02ED-FB4F-6FAB-C7CB9CA3D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" y="2784"/>
              <a:ext cx="386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fair</a:t>
              </a:r>
            </a:p>
          </p:txBody>
        </p:sp>
        <p:sp>
          <p:nvSpPr>
            <p:cNvPr id="38939" name="Rectangle 10">
              <a:extLst>
                <a:ext uri="{FF2B5EF4-FFF2-40B4-BE49-F238E27FC236}">
                  <a16:creationId xmlns:a16="http://schemas.microsoft.com/office/drawing/2014/main" id="{A9DB758D-4F22-27D9-6521-32B8C2977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2784"/>
              <a:ext cx="815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excellent</a:t>
              </a:r>
            </a:p>
          </p:txBody>
        </p:sp>
        <p:sp>
          <p:nvSpPr>
            <p:cNvPr id="38940" name="Rectangle 8">
              <a:extLst>
                <a:ext uri="{FF2B5EF4-FFF2-40B4-BE49-F238E27FC236}">
                  <a16:creationId xmlns:a16="http://schemas.microsoft.com/office/drawing/2014/main" id="{3E7A5F11-0171-E730-C509-A87A6E723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832"/>
              <a:ext cx="376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38941" name="Rectangle 7">
              <a:extLst>
                <a:ext uri="{FF2B5EF4-FFF2-40B4-BE49-F238E27FC236}">
                  <a16:creationId xmlns:a16="http://schemas.microsoft.com/office/drawing/2014/main" id="{1D313BC2-DB00-44DE-71E2-3E2E62D51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32"/>
              <a:ext cx="432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no</a:t>
              </a:r>
            </a:p>
          </p:txBody>
        </p:sp>
      </p:grpSp>
      <p:graphicFrame>
        <p:nvGraphicFramePr>
          <p:cNvPr id="38916" name="Object 1024">
            <a:extLst>
              <a:ext uri="{FF2B5EF4-FFF2-40B4-BE49-F238E27FC236}">
                <a16:creationId xmlns:a16="http://schemas.microsoft.com/office/drawing/2014/main" id="{3AAC0603-A48D-F9AA-B1D0-56026EAA65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600966"/>
              </p:ext>
            </p:extLst>
          </p:nvPr>
        </p:nvGraphicFramePr>
        <p:xfrm>
          <a:off x="7797800" y="1011238"/>
          <a:ext cx="4043363" cy="382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038673" imgH="4305502" progId="Excel.Sheet.8">
                  <p:embed/>
                </p:oleObj>
              </mc:Choice>
              <mc:Fallback>
                <p:oleObj name="Worksheet" r:id="rId3" imgW="6038673" imgH="4305502" progId="Excel.Sheet.8">
                  <p:embed/>
                  <p:pic>
                    <p:nvPicPr>
                      <p:cNvPr id="38916" name="Object 1024">
                        <a:extLst>
                          <a:ext uri="{FF2B5EF4-FFF2-40B4-BE49-F238E27FC236}">
                            <a16:creationId xmlns:a16="http://schemas.microsoft.com/office/drawing/2014/main" id="{3AAC0603-A48D-F9AA-B1D0-56026EAA65E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800" y="1011238"/>
                        <a:ext cx="4043363" cy="382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Rectangle 1">
            <a:extLst>
              <a:ext uri="{FF2B5EF4-FFF2-40B4-BE49-F238E27FC236}">
                <a16:creationId xmlns:a16="http://schemas.microsoft.com/office/drawing/2014/main" id="{B127DC2F-5481-3915-1D20-9AA65E59B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293" y="1082676"/>
            <a:ext cx="517366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dirty="0">
                <a:latin typeface="+mn-lt"/>
              </a:rPr>
              <a:t>Training data set: </a:t>
            </a:r>
            <a:r>
              <a:rPr lang="en-US" altLang="en-US" dirty="0" err="1">
                <a:latin typeface="+mn-lt"/>
              </a:rPr>
              <a:t>Buys_computer</a:t>
            </a:r>
            <a:endParaRPr lang="en-US" altLang="en-US" dirty="0">
              <a:latin typeface="+mn-lt"/>
            </a:endParaRPr>
          </a:p>
          <a:p>
            <a:pPr eaLnBrk="1" hangingPunct="1"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dirty="0">
                <a:latin typeface="+mn-lt"/>
              </a:rPr>
              <a:t>The data set follows an example of Quinlan’s ID3 (Playing Tennis)</a:t>
            </a:r>
          </a:p>
          <a:p>
            <a:pPr eaLnBrk="1" hangingPunct="1"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dirty="0">
                <a:latin typeface="+mn-lt"/>
              </a:rPr>
              <a:t>Resulting tree:</a:t>
            </a:r>
          </a:p>
        </p:txBody>
      </p:sp>
      <p:pic>
        <p:nvPicPr>
          <p:cNvPr id="31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573212" cy="63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99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9E08163-7312-2685-843F-B2763EE78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4102" y="190500"/>
            <a:ext cx="8610600" cy="533400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b="1" dirty="0">
                <a:solidFill>
                  <a:srgbClr val="C00000"/>
                </a:solidFill>
              </a:rPr>
              <a:t>Splitting Based on Nominal Attributes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FB9DE4F-F8D9-2258-59C3-719B5E150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94250" y="1177699"/>
            <a:ext cx="10284823" cy="4162425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</a:rPr>
              <a:t>Multi-way split: </a:t>
            </a:r>
            <a:r>
              <a:rPr lang="en-US" altLang="en-US" sz="2400" dirty="0"/>
              <a:t>Use as many partitions as distinct values. 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>
                <a:solidFill>
                  <a:srgbClr val="C00000"/>
                </a:solidFill>
              </a:rPr>
              <a:t>Binary split:  </a:t>
            </a:r>
            <a:r>
              <a:rPr lang="en-US" altLang="en-US" sz="2400" dirty="0"/>
              <a:t>Divides values into two subsets. </a:t>
            </a:r>
            <a:br>
              <a:rPr lang="en-US" altLang="en-US" sz="2400" dirty="0"/>
            </a:br>
            <a:r>
              <a:rPr lang="en-US" altLang="en-US" sz="2400" dirty="0"/>
              <a:t>		      Need to find optimal partitioning.</a:t>
            </a:r>
          </a:p>
        </p:txBody>
      </p:sp>
      <p:grpSp>
        <p:nvGrpSpPr>
          <p:cNvPr id="33796" name="Group 4">
            <a:extLst>
              <a:ext uri="{FF2B5EF4-FFF2-40B4-BE49-F238E27FC236}">
                <a16:creationId xmlns:a16="http://schemas.microsoft.com/office/drawing/2014/main" id="{A86B390C-6438-AB9C-14B2-2AB54B9C959C}"/>
              </a:ext>
            </a:extLst>
          </p:cNvPr>
          <p:cNvGrpSpPr>
            <a:grpSpLocks/>
          </p:cNvGrpSpPr>
          <p:nvPr/>
        </p:nvGrpSpPr>
        <p:grpSpPr bwMode="auto">
          <a:xfrm>
            <a:off x="3918541" y="1928427"/>
            <a:ext cx="2752225" cy="1285036"/>
            <a:chOff x="1843" y="1680"/>
            <a:chExt cx="1567" cy="596"/>
          </a:xfrm>
        </p:grpSpPr>
        <p:sp>
          <p:nvSpPr>
            <p:cNvPr id="33797" name="Oval 5">
              <a:extLst>
                <a:ext uri="{FF2B5EF4-FFF2-40B4-BE49-F238E27FC236}">
                  <a16:creationId xmlns:a16="http://schemas.microsoft.com/office/drawing/2014/main" id="{6AD14B12-566B-B7C1-7D7C-F0B22561B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680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dirty="0" err="1">
                  <a:latin typeface="Times New Roman" panose="02020603050405020304" pitchFamily="18" charset="0"/>
                </a:rPr>
                <a:t>CarType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3798" name="Line 6">
              <a:extLst>
                <a:ext uri="{FF2B5EF4-FFF2-40B4-BE49-F238E27FC236}">
                  <a16:creationId xmlns:a16="http://schemas.microsoft.com/office/drawing/2014/main" id="{29B9172B-F57E-663C-4985-CF7B77F3A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968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799" name="Line 7">
              <a:extLst>
                <a:ext uri="{FF2B5EF4-FFF2-40B4-BE49-F238E27FC236}">
                  <a16:creationId xmlns:a16="http://schemas.microsoft.com/office/drawing/2014/main" id="{A8BD2BFA-F43A-3367-65E9-8EA5E254F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00" name="Line 8">
              <a:extLst>
                <a:ext uri="{FF2B5EF4-FFF2-40B4-BE49-F238E27FC236}">
                  <a16:creationId xmlns:a16="http://schemas.microsoft.com/office/drawing/2014/main" id="{CF505194-5853-27DF-DEA6-3C94B6BE4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968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01" name="Text Box 9">
              <a:extLst>
                <a:ext uri="{FF2B5EF4-FFF2-40B4-BE49-F238E27FC236}">
                  <a16:creationId xmlns:a16="http://schemas.microsoft.com/office/drawing/2014/main" id="{B490636C-A00C-D07F-F4F6-BC78867DD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1871"/>
              <a:ext cx="45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Family</a:t>
              </a:r>
            </a:p>
          </p:txBody>
        </p:sp>
        <p:sp>
          <p:nvSpPr>
            <p:cNvPr id="33802" name="Text Box 10">
              <a:extLst>
                <a:ext uri="{FF2B5EF4-FFF2-40B4-BE49-F238E27FC236}">
                  <a16:creationId xmlns:a16="http://schemas.microsoft.com/office/drawing/2014/main" id="{BC459328-44CF-C9EE-03F9-60A432FB8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" y="2063"/>
              <a:ext cx="45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Sports</a:t>
              </a:r>
            </a:p>
          </p:txBody>
        </p:sp>
        <p:sp>
          <p:nvSpPr>
            <p:cNvPr id="33803" name="Text Box 11">
              <a:extLst>
                <a:ext uri="{FF2B5EF4-FFF2-40B4-BE49-F238E27FC236}">
                  <a16:creationId xmlns:a16="http://schemas.microsoft.com/office/drawing/2014/main" id="{50655D8B-6EFC-7A16-C316-092FA07DF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5" y="1871"/>
              <a:ext cx="465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Luxury</a:t>
              </a:r>
            </a:p>
          </p:txBody>
        </p:sp>
      </p:grpSp>
      <p:grpSp>
        <p:nvGrpSpPr>
          <p:cNvPr id="33804" name="Group 12">
            <a:extLst>
              <a:ext uri="{FF2B5EF4-FFF2-40B4-BE49-F238E27FC236}">
                <a16:creationId xmlns:a16="http://schemas.microsoft.com/office/drawing/2014/main" id="{1EB25FB5-4667-BFFB-1230-B3B372FA7891}"/>
              </a:ext>
            </a:extLst>
          </p:cNvPr>
          <p:cNvGrpSpPr>
            <a:grpSpLocks/>
          </p:cNvGrpSpPr>
          <p:nvPr/>
        </p:nvGrpSpPr>
        <p:grpSpPr bwMode="auto">
          <a:xfrm>
            <a:off x="7137861" y="4131760"/>
            <a:ext cx="3167333" cy="1620700"/>
            <a:chOff x="3582" y="3216"/>
            <a:chExt cx="1684" cy="576"/>
          </a:xfrm>
        </p:grpSpPr>
        <p:sp>
          <p:nvSpPr>
            <p:cNvPr id="33805" name="Oval 13">
              <a:extLst>
                <a:ext uri="{FF2B5EF4-FFF2-40B4-BE49-F238E27FC236}">
                  <a16:creationId xmlns:a16="http://schemas.microsoft.com/office/drawing/2014/main" id="{626277E8-D10D-9D85-9EDE-3FA490DFE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>
                  <a:latin typeface="Times New Roman" panose="02020603050405020304" pitchFamily="18" charset="0"/>
                </a:rPr>
                <a:t>CarType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3806" name="Line 14">
              <a:extLst>
                <a:ext uri="{FF2B5EF4-FFF2-40B4-BE49-F238E27FC236}">
                  <a16:creationId xmlns:a16="http://schemas.microsoft.com/office/drawing/2014/main" id="{9B33A882-90FC-8A15-2C8A-2FC19DDDB7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6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07" name="Line 15">
              <a:extLst>
                <a:ext uri="{FF2B5EF4-FFF2-40B4-BE49-F238E27FC236}">
                  <a16:creationId xmlns:a16="http://schemas.microsoft.com/office/drawing/2014/main" id="{BA9E56CC-BEDD-2AEE-B221-FCA39D8C0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4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08" name="Text Box 16">
              <a:extLst>
                <a:ext uri="{FF2B5EF4-FFF2-40B4-BE49-F238E27FC236}">
                  <a16:creationId xmlns:a16="http://schemas.microsoft.com/office/drawing/2014/main" id="{F04D5803-D882-0AF7-1D7F-2CDB9F0AE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2" y="3359"/>
              <a:ext cx="54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{Family, </a:t>
              </a:r>
              <a:br>
                <a:rPr lang="en-US" altLang="en-US" sz="1600"/>
              </a:br>
              <a:r>
                <a:rPr lang="en-US" altLang="en-US" sz="1600"/>
                <a:t>Luxury}</a:t>
              </a:r>
            </a:p>
          </p:txBody>
        </p:sp>
        <p:sp>
          <p:nvSpPr>
            <p:cNvPr id="33809" name="Text Box 17">
              <a:extLst>
                <a:ext uri="{FF2B5EF4-FFF2-40B4-BE49-F238E27FC236}">
                  <a16:creationId xmlns:a16="http://schemas.microsoft.com/office/drawing/2014/main" id="{1E12F180-3E5E-87CD-F2D8-EA7EC6A17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4" y="3455"/>
              <a:ext cx="53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{Sports}</a:t>
              </a:r>
            </a:p>
          </p:txBody>
        </p:sp>
      </p:grpSp>
      <p:grpSp>
        <p:nvGrpSpPr>
          <p:cNvPr id="33810" name="Group 18">
            <a:extLst>
              <a:ext uri="{FF2B5EF4-FFF2-40B4-BE49-F238E27FC236}">
                <a16:creationId xmlns:a16="http://schemas.microsoft.com/office/drawing/2014/main" id="{E0503A89-8979-9B3A-BB9A-4F313CC0E776}"/>
              </a:ext>
            </a:extLst>
          </p:cNvPr>
          <p:cNvGrpSpPr>
            <a:grpSpLocks/>
          </p:cNvGrpSpPr>
          <p:nvPr/>
        </p:nvGrpSpPr>
        <p:grpSpPr bwMode="auto">
          <a:xfrm>
            <a:off x="2161866" y="4121103"/>
            <a:ext cx="2919278" cy="1423851"/>
            <a:chOff x="768" y="3216"/>
            <a:chExt cx="1809" cy="576"/>
          </a:xfrm>
        </p:grpSpPr>
        <p:sp>
          <p:nvSpPr>
            <p:cNvPr id="33811" name="Oval 19">
              <a:extLst>
                <a:ext uri="{FF2B5EF4-FFF2-40B4-BE49-F238E27FC236}">
                  <a16:creationId xmlns:a16="http://schemas.microsoft.com/office/drawing/2014/main" id="{C6BF4B33-7961-9C73-1AB7-9E49BD3A9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>
                  <a:latin typeface="Times New Roman" panose="02020603050405020304" pitchFamily="18" charset="0"/>
                </a:rPr>
                <a:t>CarType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3812" name="Line 20">
              <a:extLst>
                <a:ext uri="{FF2B5EF4-FFF2-40B4-BE49-F238E27FC236}">
                  <a16:creationId xmlns:a16="http://schemas.microsoft.com/office/drawing/2014/main" id="{080A21C5-9FEA-C025-6C63-0442144A5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13" name="Line 21">
              <a:extLst>
                <a:ext uri="{FF2B5EF4-FFF2-40B4-BE49-F238E27FC236}">
                  <a16:creationId xmlns:a16="http://schemas.microsoft.com/office/drawing/2014/main" id="{0E2E92B3-A732-1172-3BEA-F40E7FAEF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14" name="Text Box 22">
              <a:extLst>
                <a:ext uri="{FF2B5EF4-FFF2-40B4-BE49-F238E27FC236}">
                  <a16:creationId xmlns:a16="http://schemas.microsoft.com/office/drawing/2014/main" id="{3EF4720F-8CFF-1F04-E9AF-E7781DF49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360"/>
              <a:ext cx="59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{Sports, Luxury}</a:t>
              </a:r>
            </a:p>
          </p:txBody>
        </p:sp>
        <p:sp>
          <p:nvSpPr>
            <p:cNvPr id="33815" name="Text Box 23">
              <a:extLst>
                <a:ext uri="{FF2B5EF4-FFF2-40B4-BE49-F238E27FC236}">
                  <a16:creationId xmlns:a16="http://schemas.microsoft.com/office/drawing/2014/main" id="{04FBA906-C758-C9B3-8155-FF5C47DB7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3455"/>
              <a:ext cx="535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{Family}</a:t>
              </a:r>
            </a:p>
          </p:txBody>
        </p:sp>
      </p:grpSp>
      <p:sp>
        <p:nvSpPr>
          <p:cNvPr id="33816" name="Text Box 24">
            <a:extLst>
              <a:ext uri="{FF2B5EF4-FFF2-40B4-BE49-F238E27FC236}">
                <a16:creationId xmlns:a16="http://schemas.microsoft.com/office/drawing/2014/main" id="{013B4CE4-91DB-B0C4-805B-6C8E07444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966" y="4679951"/>
            <a:ext cx="60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OR</a:t>
            </a:r>
          </a:p>
        </p:txBody>
      </p:sp>
      <p:pic>
        <p:nvPicPr>
          <p:cNvPr id="2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510145" cy="611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47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136C0F2-673E-D25B-8BD9-589FD8F437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108" y="1143000"/>
            <a:ext cx="10537371" cy="5257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</a:rPr>
              <a:t>Multi-way split: </a:t>
            </a:r>
            <a:r>
              <a:rPr lang="en-US" altLang="en-US" sz="2400" dirty="0"/>
              <a:t>Use as many partitions as distinct values. 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pPr lvl="4"/>
            <a:endParaRPr lang="en-US" altLang="en-US" sz="2400" dirty="0">
              <a:solidFill>
                <a:srgbClr val="FF0000"/>
              </a:solidFill>
            </a:endParaRPr>
          </a:p>
          <a:p>
            <a:r>
              <a:rPr lang="en-US" altLang="en-US" sz="2400" dirty="0">
                <a:solidFill>
                  <a:srgbClr val="C00000"/>
                </a:solidFill>
              </a:rPr>
              <a:t>Binary split: </a:t>
            </a:r>
            <a:r>
              <a:rPr lang="en-US" altLang="en-US" sz="2400" dirty="0"/>
              <a:t>Divides values into two subsets. </a:t>
            </a:r>
            <a:br>
              <a:rPr lang="en-US" altLang="en-US" sz="2400" dirty="0"/>
            </a:br>
            <a:r>
              <a:rPr lang="en-US" altLang="en-US" sz="2400" dirty="0"/>
              <a:t>		  Need to find optimal partitioning.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36BEAEE-B937-96D3-BEDA-12F8385FB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6206" y="45243"/>
            <a:ext cx="8479971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C00000"/>
                </a:solidFill>
              </a:rPr>
              <a:t>Splitting Based on Ordinal Attributes</a:t>
            </a:r>
          </a:p>
        </p:txBody>
      </p:sp>
      <p:grpSp>
        <p:nvGrpSpPr>
          <p:cNvPr id="34820" name="Group 4">
            <a:extLst>
              <a:ext uri="{FF2B5EF4-FFF2-40B4-BE49-F238E27FC236}">
                <a16:creationId xmlns:a16="http://schemas.microsoft.com/office/drawing/2014/main" id="{1BFB67F8-A6E8-B878-0254-AEB7BFC6CB41}"/>
              </a:ext>
            </a:extLst>
          </p:cNvPr>
          <p:cNvGrpSpPr>
            <a:grpSpLocks/>
          </p:cNvGrpSpPr>
          <p:nvPr/>
        </p:nvGrpSpPr>
        <p:grpSpPr bwMode="auto">
          <a:xfrm>
            <a:off x="4481273" y="1735931"/>
            <a:ext cx="2393950" cy="946150"/>
            <a:chOff x="1871" y="1248"/>
            <a:chExt cx="1508" cy="596"/>
          </a:xfrm>
        </p:grpSpPr>
        <p:sp>
          <p:nvSpPr>
            <p:cNvPr id="34821" name="Oval 5">
              <a:extLst>
                <a:ext uri="{FF2B5EF4-FFF2-40B4-BE49-F238E27FC236}">
                  <a16:creationId xmlns:a16="http://schemas.microsoft.com/office/drawing/2014/main" id="{1575097A-8DC7-FA54-7AD0-A62DFF46D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48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>
                  <a:latin typeface="Times New Roman" panose="02020603050405020304" pitchFamily="18" charset="0"/>
                </a:rPr>
                <a:t>Size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822" name="Line 6">
              <a:extLst>
                <a:ext uri="{FF2B5EF4-FFF2-40B4-BE49-F238E27FC236}">
                  <a16:creationId xmlns:a16="http://schemas.microsoft.com/office/drawing/2014/main" id="{D91A853C-E8C6-4473-03A7-88B4B5F629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536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23" name="Line 7">
              <a:extLst>
                <a:ext uri="{FF2B5EF4-FFF2-40B4-BE49-F238E27FC236}">
                  <a16:creationId xmlns:a16="http://schemas.microsoft.com/office/drawing/2014/main" id="{14464C13-FEB3-2EF6-05EC-CF5AEEF05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5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24" name="Line 8">
              <a:extLst>
                <a:ext uri="{FF2B5EF4-FFF2-40B4-BE49-F238E27FC236}">
                  <a16:creationId xmlns:a16="http://schemas.microsoft.com/office/drawing/2014/main" id="{257F013A-2ADD-2577-0FED-E2CA55E42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536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25" name="Text Box 9">
              <a:extLst>
                <a:ext uri="{FF2B5EF4-FFF2-40B4-BE49-F238E27FC236}">
                  <a16:creationId xmlns:a16="http://schemas.microsoft.com/office/drawing/2014/main" id="{6B1C345B-E17B-6AEA-A911-72693012B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1" y="1439"/>
              <a:ext cx="39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Small</a:t>
              </a:r>
            </a:p>
          </p:txBody>
        </p:sp>
        <p:sp>
          <p:nvSpPr>
            <p:cNvPr id="34826" name="Text Box 10">
              <a:extLst>
                <a:ext uri="{FF2B5EF4-FFF2-40B4-BE49-F238E27FC236}">
                  <a16:creationId xmlns:a16="http://schemas.microsoft.com/office/drawing/2014/main" id="{5A8FF239-88BF-BA6A-CED2-19FE0E237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7" y="1632"/>
              <a:ext cx="57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Medium</a:t>
              </a:r>
            </a:p>
          </p:txBody>
        </p:sp>
        <p:sp>
          <p:nvSpPr>
            <p:cNvPr id="34827" name="Text Box 11">
              <a:extLst>
                <a:ext uri="{FF2B5EF4-FFF2-40B4-BE49-F238E27FC236}">
                  <a16:creationId xmlns:a16="http://schemas.microsoft.com/office/drawing/2014/main" id="{7819E700-490D-A7C9-57BA-575E5EE0A3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9" y="1439"/>
              <a:ext cx="40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Large</a:t>
              </a:r>
            </a:p>
          </p:txBody>
        </p:sp>
      </p:grpSp>
      <p:grpSp>
        <p:nvGrpSpPr>
          <p:cNvPr id="34828" name="Group 12">
            <a:extLst>
              <a:ext uri="{FF2B5EF4-FFF2-40B4-BE49-F238E27FC236}">
                <a16:creationId xmlns:a16="http://schemas.microsoft.com/office/drawing/2014/main" id="{7E6A3428-1138-EE78-6F10-24F4FD2DA745}"/>
              </a:ext>
            </a:extLst>
          </p:cNvPr>
          <p:cNvGrpSpPr>
            <a:grpSpLocks/>
          </p:cNvGrpSpPr>
          <p:nvPr/>
        </p:nvGrpSpPr>
        <p:grpSpPr bwMode="auto">
          <a:xfrm>
            <a:off x="7080773" y="3925096"/>
            <a:ext cx="2743200" cy="914400"/>
            <a:chOff x="3513" y="3216"/>
            <a:chExt cx="1728" cy="576"/>
          </a:xfrm>
        </p:grpSpPr>
        <p:sp>
          <p:nvSpPr>
            <p:cNvPr id="34829" name="Oval 13">
              <a:extLst>
                <a:ext uri="{FF2B5EF4-FFF2-40B4-BE49-F238E27FC236}">
                  <a16:creationId xmlns:a16="http://schemas.microsoft.com/office/drawing/2014/main" id="{8649C2D5-7138-0FC3-4011-46D5AC200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dirty="0">
                  <a:latin typeface="Times New Roman" panose="02020603050405020304" pitchFamily="18" charset="0"/>
                </a:rPr>
                <a:t>Size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4830" name="Line 14">
              <a:extLst>
                <a:ext uri="{FF2B5EF4-FFF2-40B4-BE49-F238E27FC236}">
                  <a16:creationId xmlns:a16="http://schemas.microsoft.com/office/drawing/2014/main" id="{9FB4F668-1602-E35A-8FD7-5AF63BEAA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6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31" name="Line 15">
              <a:extLst>
                <a:ext uri="{FF2B5EF4-FFF2-40B4-BE49-F238E27FC236}">
                  <a16:creationId xmlns:a16="http://schemas.microsoft.com/office/drawing/2014/main" id="{4483A660-6134-7FDC-1068-82E09235DB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4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32" name="Text Box 16">
              <a:extLst>
                <a:ext uri="{FF2B5EF4-FFF2-40B4-BE49-F238E27FC236}">
                  <a16:creationId xmlns:a16="http://schemas.microsoft.com/office/drawing/2014/main" id="{F4EB73E6-DAED-CA9D-C79A-67C2F610A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3" y="3360"/>
              <a:ext cx="68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dirty="0"/>
                <a:t>{Medium, </a:t>
              </a:r>
              <a:br>
                <a:rPr lang="en-US" altLang="en-US" sz="1600" dirty="0"/>
              </a:br>
              <a:r>
                <a:rPr lang="en-US" altLang="en-US" sz="1600" dirty="0"/>
                <a:t>Large}</a:t>
              </a:r>
            </a:p>
          </p:txBody>
        </p:sp>
        <p:sp>
          <p:nvSpPr>
            <p:cNvPr id="34833" name="Text Box 17">
              <a:extLst>
                <a:ext uri="{FF2B5EF4-FFF2-40B4-BE49-F238E27FC236}">
                  <a16:creationId xmlns:a16="http://schemas.microsoft.com/office/drawing/2014/main" id="{0CF3E187-41AF-CAFC-4192-32F7689F2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1" y="3455"/>
              <a:ext cx="48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{Small}</a:t>
              </a:r>
            </a:p>
          </p:txBody>
        </p:sp>
      </p:grpSp>
      <p:grpSp>
        <p:nvGrpSpPr>
          <p:cNvPr id="34834" name="Group 18">
            <a:extLst>
              <a:ext uri="{FF2B5EF4-FFF2-40B4-BE49-F238E27FC236}">
                <a16:creationId xmlns:a16="http://schemas.microsoft.com/office/drawing/2014/main" id="{A6B2994E-DAA7-0421-A798-66078C73FA1E}"/>
              </a:ext>
            </a:extLst>
          </p:cNvPr>
          <p:cNvGrpSpPr>
            <a:grpSpLocks/>
          </p:cNvGrpSpPr>
          <p:nvPr/>
        </p:nvGrpSpPr>
        <p:grpSpPr bwMode="auto">
          <a:xfrm>
            <a:off x="1341833" y="4025108"/>
            <a:ext cx="2958774" cy="914400"/>
            <a:chOff x="768" y="3216"/>
            <a:chExt cx="1771" cy="576"/>
          </a:xfrm>
        </p:grpSpPr>
        <p:sp>
          <p:nvSpPr>
            <p:cNvPr id="34835" name="Oval 19">
              <a:extLst>
                <a:ext uri="{FF2B5EF4-FFF2-40B4-BE49-F238E27FC236}">
                  <a16:creationId xmlns:a16="http://schemas.microsoft.com/office/drawing/2014/main" id="{AF3B6F49-73F1-8053-9391-A6454D43D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dirty="0">
                  <a:latin typeface="Times New Roman" panose="02020603050405020304" pitchFamily="18" charset="0"/>
                </a:rPr>
                <a:t>Size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4836" name="Line 20">
              <a:extLst>
                <a:ext uri="{FF2B5EF4-FFF2-40B4-BE49-F238E27FC236}">
                  <a16:creationId xmlns:a16="http://schemas.microsoft.com/office/drawing/2014/main" id="{31B7FF07-A699-394E-D99F-083BC5DCDF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37" name="Line 21">
              <a:extLst>
                <a:ext uri="{FF2B5EF4-FFF2-40B4-BE49-F238E27FC236}">
                  <a16:creationId xmlns:a16="http://schemas.microsoft.com/office/drawing/2014/main" id="{1B46E672-1C25-9BA8-2C18-CE78CFF48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38" name="Text Box 22">
              <a:extLst>
                <a:ext uri="{FF2B5EF4-FFF2-40B4-BE49-F238E27FC236}">
                  <a16:creationId xmlns:a16="http://schemas.microsoft.com/office/drawing/2014/main" id="{12FAE267-8683-5A6A-AF7F-F8145A5C6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360"/>
              <a:ext cx="59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{Small, Medium}</a:t>
              </a:r>
            </a:p>
          </p:txBody>
        </p:sp>
        <p:sp>
          <p:nvSpPr>
            <p:cNvPr id="34839" name="Text Box 23">
              <a:extLst>
                <a:ext uri="{FF2B5EF4-FFF2-40B4-BE49-F238E27FC236}">
                  <a16:creationId xmlns:a16="http://schemas.microsoft.com/office/drawing/2014/main" id="{9B530A0D-E920-C9DF-FCB8-EB58810AD1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" y="3455"/>
              <a:ext cx="45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{Large}</a:t>
              </a:r>
            </a:p>
          </p:txBody>
        </p:sp>
      </p:grpSp>
      <p:sp>
        <p:nvSpPr>
          <p:cNvPr id="34840" name="Text Box 24">
            <a:extLst>
              <a:ext uri="{FF2B5EF4-FFF2-40B4-BE49-F238E27FC236}">
                <a16:creationId xmlns:a16="http://schemas.microsoft.com/office/drawing/2014/main" id="{E465D7A1-F00A-13D7-7D86-B81D1DAB7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9623" y="4161633"/>
            <a:ext cx="60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OR</a:t>
            </a:r>
          </a:p>
        </p:txBody>
      </p:sp>
      <p:grpSp>
        <p:nvGrpSpPr>
          <p:cNvPr id="34841" name="Group 25">
            <a:extLst>
              <a:ext uri="{FF2B5EF4-FFF2-40B4-BE49-F238E27FC236}">
                <a16:creationId xmlns:a16="http://schemas.microsoft.com/office/drawing/2014/main" id="{42021970-ACEF-0422-F0E3-07C6469D5B2F}"/>
              </a:ext>
            </a:extLst>
          </p:cNvPr>
          <p:cNvGrpSpPr>
            <a:grpSpLocks/>
          </p:cNvGrpSpPr>
          <p:nvPr/>
        </p:nvGrpSpPr>
        <p:grpSpPr bwMode="auto">
          <a:xfrm>
            <a:off x="4151073" y="5076033"/>
            <a:ext cx="3101975" cy="914400"/>
            <a:chOff x="768" y="3216"/>
            <a:chExt cx="1856" cy="576"/>
          </a:xfrm>
        </p:grpSpPr>
        <p:sp>
          <p:nvSpPr>
            <p:cNvPr id="34842" name="Oval 26">
              <a:extLst>
                <a:ext uri="{FF2B5EF4-FFF2-40B4-BE49-F238E27FC236}">
                  <a16:creationId xmlns:a16="http://schemas.microsoft.com/office/drawing/2014/main" id="{66C4D775-D4C9-DB71-A67A-E04B530F7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dirty="0">
                  <a:latin typeface="Times New Roman" panose="02020603050405020304" pitchFamily="18" charset="0"/>
                </a:rPr>
                <a:t>Size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4843" name="Line 27">
              <a:extLst>
                <a:ext uri="{FF2B5EF4-FFF2-40B4-BE49-F238E27FC236}">
                  <a16:creationId xmlns:a16="http://schemas.microsoft.com/office/drawing/2014/main" id="{31103804-718F-B34D-CB93-2A8CAE7CC2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44" name="Line 28">
              <a:extLst>
                <a:ext uri="{FF2B5EF4-FFF2-40B4-BE49-F238E27FC236}">
                  <a16:creationId xmlns:a16="http://schemas.microsoft.com/office/drawing/2014/main" id="{D2E4D95D-8597-1147-187A-8AEABCC11D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45" name="Text Box 29">
              <a:extLst>
                <a:ext uri="{FF2B5EF4-FFF2-40B4-BE49-F238E27FC236}">
                  <a16:creationId xmlns:a16="http://schemas.microsoft.com/office/drawing/2014/main" id="{6EF46BE3-2B05-3802-4F8B-0CD04F6AF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360"/>
              <a:ext cx="59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en-US" altLang="en-US" sz="1600" dirty="0"/>
                <a:t>{Small, Large}</a:t>
              </a:r>
            </a:p>
          </p:txBody>
        </p:sp>
        <p:sp>
          <p:nvSpPr>
            <p:cNvPr id="34846" name="Text Box 30">
              <a:extLst>
                <a:ext uri="{FF2B5EF4-FFF2-40B4-BE49-F238E27FC236}">
                  <a16:creationId xmlns:a16="http://schemas.microsoft.com/office/drawing/2014/main" id="{AFD2DF7B-4FA8-4255-DE0D-BFF9ABF54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0" y="3456"/>
              <a:ext cx="6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/>
                <a:t>{Medium}</a:t>
              </a:r>
            </a:p>
          </p:txBody>
        </p:sp>
      </p:grpSp>
      <p:pic>
        <p:nvPicPr>
          <p:cNvPr id="31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524000" cy="617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753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7A3B-494D-CA94-9408-A1F1E9EE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338" y="81756"/>
            <a:ext cx="6802165" cy="911021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C00000"/>
                </a:solidFill>
              </a:rPr>
              <a:t>Choosing the Best Attribute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6151" name="TextBox 8">
            <a:extLst>
              <a:ext uri="{FF2B5EF4-FFF2-40B4-BE49-F238E27FC236}">
                <a16:creationId xmlns:a16="http://schemas.microsoft.com/office/drawing/2014/main" id="{15425EB4-2A45-7BB7-5ADD-618A6EAA7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239" y="4404997"/>
            <a:ext cx="8312331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dirty="0"/>
              <a:t>- Many different frameworks for choosing </a:t>
            </a:r>
            <a:r>
              <a:rPr lang="en-US" altLang="en-US" dirty="0">
                <a:solidFill>
                  <a:srgbClr val="FF0000"/>
                </a:solidFill>
              </a:rPr>
              <a:t>BEST</a:t>
            </a:r>
            <a:r>
              <a:rPr lang="en-US" altLang="en-US" dirty="0"/>
              <a:t> have been proposed! </a:t>
            </a:r>
          </a:p>
          <a:p>
            <a:pPr eaLnBrk="1" hangingPunct="1"/>
            <a:r>
              <a:rPr lang="en-US" altLang="en-US" dirty="0"/>
              <a:t>- We will look at Entropy Gain.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E38EFD-9204-CA68-43E7-6D82D1C6594F}"/>
              </a:ext>
            </a:extLst>
          </p:cNvPr>
          <p:cNvGrpSpPr/>
          <p:nvPr/>
        </p:nvGrpSpPr>
        <p:grpSpPr>
          <a:xfrm>
            <a:off x="1752601" y="1188721"/>
            <a:ext cx="8153399" cy="3074987"/>
            <a:chOff x="1676401" y="1676401"/>
            <a:chExt cx="8153399" cy="3074987"/>
          </a:xfrm>
        </p:grpSpPr>
        <p:graphicFrame>
          <p:nvGraphicFramePr>
            <p:cNvPr id="6146" name="Object 6">
              <a:extLst>
                <a:ext uri="{FF2B5EF4-FFF2-40B4-BE49-F238E27FC236}">
                  <a16:creationId xmlns:a16="http://schemas.microsoft.com/office/drawing/2014/main" id="{35B3010D-2510-E0B4-FAAB-C4A1BC08F1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2600" y="2286000"/>
            <a:ext cx="8077200" cy="2465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0390476" imgH="3172268" progId="Paint.Picture">
                    <p:embed/>
                  </p:oleObj>
                </mc:Choice>
                <mc:Fallback>
                  <p:oleObj name="Bitmap Image" r:id="rId2" imgW="10390476" imgH="3172268" progId="Paint.Picture">
                    <p:embed/>
                    <p:pic>
                      <p:nvPicPr>
                        <p:cNvPr id="6146" name="Object 6">
                          <a:extLst>
                            <a:ext uri="{FF2B5EF4-FFF2-40B4-BE49-F238E27FC236}">
                              <a16:creationId xmlns:a16="http://schemas.microsoft.com/office/drawing/2014/main" id="{35B3010D-2510-E0B4-FAAB-C4A1BC08F1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600" y="2286000"/>
                          <a:ext cx="8077200" cy="2465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2" name="TextBox 9">
              <a:extLst>
                <a:ext uri="{FF2B5EF4-FFF2-40B4-BE49-F238E27FC236}">
                  <a16:creationId xmlns:a16="http://schemas.microsoft.com/office/drawing/2014/main" id="{9BA02C15-08D8-84AB-EACB-C214F9D35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1" y="3276601"/>
              <a:ext cx="1539875" cy="1077913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 dirty="0"/>
                <a:t>Number +</a:t>
              </a:r>
            </a:p>
            <a:p>
              <a:pPr algn="ctr" eaLnBrk="1" hangingPunct="1"/>
              <a:r>
                <a:rPr lang="en-US" altLang="en-US" sz="1600" dirty="0"/>
                <a:t>and – examples</a:t>
              </a:r>
            </a:p>
            <a:p>
              <a:pPr algn="ctr" eaLnBrk="1" hangingPunct="1"/>
              <a:r>
                <a:rPr lang="en-US" altLang="en-US" sz="1600" dirty="0"/>
                <a:t>before and after </a:t>
              </a:r>
            </a:p>
            <a:p>
              <a:pPr algn="ctr" eaLnBrk="1" hangingPunct="1"/>
              <a:r>
                <a:rPr lang="en-US" altLang="en-US" sz="1600" dirty="0"/>
                <a:t>a split.</a:t>
              </a:r>
              <a:endParaRPr lang="en-US" altLang="en-US" sz="18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B0B879A-13AA-F06E-6FA7-3C5B9C80D0F1}"/>
                </a:ext>
              </a:extLst>
            </p:cNvPr>
            <p:cNvCxnSpPr/>
            <p:nvPr/>
          </p:nvCxnSpPr>
          <p:spPr>
            <a:xfrm rot="5400000" flipH="1" flipV="1">
              <a:off x="3200400" y="3276600"/>
              <a:ext cx="609600" cy="457200"/>
            </a:xfrm>
            <a:prstGeom prst="straightConnector1">
              <a:avLst/>
            </a:prstGeom>
            <a:ln w="349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C64C80E-712A-5428-2AC4-F4AFFCF1AAEB}"/>
                </a:ext>
              </a:extLst>
            </p:cNvPr>
            <p:cNvCxnSpPr>
              <a:stCxn id="6152" idx="3"/>
            </p:cNvCxnSpPr>
            <p:nvPr/>
          </p:nvCxnSpPr>
          <p:spPr>
            <a:xfrm>
              <a:off x="3216276" y="3814764"/>
              <a:ext cx="593725" cy="528637"/>
            </a:xfrm>
            <a:prstGeom prst="straightConnector1">
              <a:avLst/>
            </a:prstGeom>
            <a:ln w="349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5" name="TextBox 17">
              <a:extLst>
                <a:ext uri="{FF2B5EF4-FFF2-40B4-BE49-F238E27FC236}">
                  <a16:creationId xmlns:a16="http://schemas.microsoft.com/office/drawing/2014/main" id="{B649DC68-AC2D-2E14-4D5A-BA4BBF2345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1" y="1676401"/>
              <a:ext cx="64103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dirty="0"/>
                <a:t>A1 and A2 are “attributes” (i.e. features or inputs).</a:t>
              </a:r>
            </a:p>
          </p:txBody>
        </p:sp>
      </p:grpSp>
      <p:pic>
        <p:nvPicPr>
          <p:cNvPr id="10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427018" cy="578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85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Decision Tree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5186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Decision tree training is the process of learning the rules and structure of a decision tree model from input data. </a:t>
            </a:r>
          </a:p>
          <a:p>
            <a:pPr algn="just"/>
            <a:r>
              <a:rPr lang="en-US" sz="2400" dirty="0"/>
              <a:t>The goal is to split the data in such a way that we can make accurate predictions based on the features.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rgbClr val="C00000"/>
                </a:solidFill>
              </a:rPr>
              <a:t>Splitting Criteria</a:t>
            </a:r>
            <a:r>
              <a:rPr lang="en-US" altLang="en-US" sz="2400" dirty="0">
                <a:solidFill>
                  <a:srgbClr val="C00000"/>
                </a:solidFill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Entropy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Information Gain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Gain Ratio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36808"/>
            <a:ext cx="1586346" cy="64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340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743"/>
            <a:ext cx="10515600" cy="70167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6182" y="896353"/>
                <a:ext cx="10875818" cy="5218048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It measures uncertainty or impurity in a dataset.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In case of classification entropy indicates how mixed a set of class label is.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For a discrete random variable </a:t>
                </a:r>
                <a:r>
                  <a:rPr lang="en-US" sz="2400" i="1" dirty="0"/>
                  <a:t>Y </a:t>
                </a:r>
                <a:r>
                  <a:rPr lang="en-US" sz="2400" dirty="0"/>
                  <a:t>taking</a:t>
                </a:r>
                <a:r>
                  <a:rPr lang="en-US" sz="2400" i="1" dirty="0"/>
                  <a:t> m </a:t>
                </a:r>
                <a:r>
                  <a:rPr lang="en-US" sz="2400" dirty="0"/>
                  <a:t>distance values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/>
                  <a:t>},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Entropy(Y) =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where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= P(Y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Interpretation </a:t>
                </a:r>
              </a:p>
              <a:p>
                <a:pPr lvl="1"/>
                <a:r>
                  <a:rPr lang="en-US" dirty="0"/>
                  <a:t>Higher entropy =&gt; Higher Uncertainty</a:t>
                </a:r>
              </a:p>
              <a:p>
                <a:pPr lvl="1"/>
                <a:r>
                  <a:rPr lang="en-US" dirty="0"/>
                  <a:t>Lower entropy =&gt; Lower Uncertainty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Conditional Entropy</a:t>
                </a:r>
              </a:p>
              <a:p>
                <a:pPr lvl="1"/>
                <a:r>
                  <a:rPr lang="en-US" dirty="0"/>
                  <a:t>Entropy</a:t>
                </a:r>
                <a:r>
                  <a:rPr lang="en-US" i="1" dirty="0"/>
                  <a:t>(Y|X)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nor/>
                          </m:rPr>
                          <a:rPr lang="en-US" dirty="0"/>
                          <m:t>|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sz="24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6182" y="896353"/>
                <a:ext cx="10875818" cy="5218048"/>
              </a:xfrm>
              <a:blipFill>
                <a:blip r:embed="rId2"/>
                <a:stretch>
                  <a:fillRect l="-785" t="-1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36808"/>
            <a:ext cx="1558637" cy="63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128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909" y="-43941"/>
            <a:ext cx="7710054" cy="77585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51164"/>
                <a:ext cx="12192000" cy="588818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Examples of Entropy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1. Perfectly Pure Dataset</a:t>
                </a:r>
                <a:r>
                  <a:rPr lang="en-US" sz="2000" dirty="0"/>
                  <a:t>: Suppose we have 10 samples, all in one class ("Yes").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𝑌𝑒𝑠</m:t>
                        </m:r>
                      </m:sub>
                    </m:sSub>
                  </m:oMath>
                </a14:m>
                <a:r>
                  <a:rPr lang="en-US" sz="2000" dirty="0"/>
                  <a:t> = 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𝑁𝑜</m:t>
                        </m:r>
                      </m:sub>
                    </m:sSub>
                  </m:oMath>
                </a14:m>
                <a:r>
                  <a:rPr lang="en-US" sz="2000" dirty="0"/>
                  <a:t> = 0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Entropy = -1 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 dirty="0"/>
                  <a:t> – 0.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= 0 (Completely Pure)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2. Perfectly Impure Dataset: </a:t>
                </a:r>
                <a:r>
                  <a:rPr lang="en-US" sz="2000" dirty="0"/>
                  <a:t>Suppose we have 10 samples: 5 "Yes", 5 "No"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𝑌𝑒𝑠</m:t>
                        </m:r>
                      </m:sub>
                    </m:sSub>
                  </m:oMath>
                </a14:m>
                <a:r>
                  <a:rPr lang="en-US" sz="2000" dirty="0"/>
                  <a:t> = 0.5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𝑁𝑜</m:t>
                        </m:r>
                      </m:sub>
                    </m:sSub>
                  </m:oMath>
                </a14:m>
                <a:r>
                  <a:rPr lang="en-US" sz="2000" dirty="0"/>
                  <a:t> = 0.5</a:t>
                </a:r>
              </a:p>
              <a:p>
                <a:pPr lvl="1"/>
                <a:r>
                  <a:rPr lang="en-US" sz="2000" dirty="0"/>
                  <a:t>Entropy = - 0.5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– 0.5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457200" lvl="1" indent="0">
                  <a:buNone/>
                </a:pPr>
                <a:r>
                  <a:rPr lang="en-US" sz="2000" dirty="0"/>
                  <a:t>	            = - 0.5 . (-1) – 0.5 . (-1) = 1 (Maximum uncertainty)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3. Mixed Classes (Unbalanced):</a:t>
                </a:r>
                <a:r>
                  <a:rPr lang="en-US" sz="2000" dirty="0"/>
                  <a:t> Suppose we have 10 samples: 7 "Yes", 3 "No“</a:t>
                </a:r>
              </a:p>
              <a:p>
                <a:pPr lvl="1"/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𝑌𝑒𝑠</m:t>
                        </m:r>
                      </m:sub>
                    </m:sSub>
                  </m:oMath>
                </a14:m>
                <a:r>
                  <a:rPr lang="en-US" sz="2000" dirty="0"/>
                  <a:t> = 0.7</a:t>
                </a:r>
              </a:p>
              <a:p>
                <a:pPr marL="685800" lvl="2"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𝑁𝑜</m:t>
                        </m:r>
                      </m:sub>
                    </m:sSub>
                  </m:oMath>
                </a14:m>
                <a:r>
                  <a:rPr lang="en-US" dirty="0"/>
                  <a:t> = 0.3</a:t>
                </a:r>
              </a:p>
              <a:p>
                <a:pPr marL="685800" lvl="2">
                  <a:spcBef>
                    <a:spcPts val="1000"/>
                  </a:spcBef>
                </a:pPr>
                <a:r>
                  <a:rPr lang="en-US" dirty="0"/>
                  <a:t>Entropy = - 0.7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0.3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dirty="0"/>
              </a:p>
              <a:p>
                <a:pPr marL="457200" lvl="2" indent="0">
                  <a:spcBef>
                    <a:spcPts val="1000"/>
                  </a:spcBef>
                  <a:buNone/>
                </a:pPr>
                <a:r>
                  <a:rPr lang="en-US" dirty="0"/>
                  <a:t>                   = - 0.7 . (-0.514) – 0.3 . (-1.737) = 0.3598 + 0.5211 ≈ 0.881 (moderate impurity)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51164"/>
                <a:ext cx="12192000" cy="5888182"/>
              </a:xfrm>
              <a:blipFill>
                <a:blip r:embed="rId2"/>
                <a:stretch>
                  <a:fillRect l="-750"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36809"/>
            <a:ext cx="1614055" cy="65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162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909" y="-43941"/>
            <a:ext cx="7710054" cy="77585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1164"/>
            <a:ext cx="12192000" cy="5888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Example of Entropy: </a:t>
            </a:r>
            <a:r>
              <a:rPr lang="en-IN" sz="2400" dirty="0"/>
              <a:t>Play Tennis Dataset</a:t>
            </a:r>
          </a:p>
          <a:p>
            <a:pPr marL="0" indent="0">
              <a:buNone/>
            </a:pPr>
            <a:r>
              <a:rPr lang="en-IN" sz="2400" dirty="0"/>
              <a:t>Suppose we want to decide whether to play tennis based on the weather.</a:t>
            </a: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36809"/>
            <a:ext cx="1614055" cy="65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597938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32438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Outlook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Play Tennis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752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346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651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3375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989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891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481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23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182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06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010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909" y="-43941"/>
            <a:ext cx="7710054" cy="77585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1164"/>
            <a:ext cx="12192000" cy="5888182"/>
          </a:xfrm>
        </p:spPr>
        <p:txBody>
          <a:bodyPr>
            <a:normAutofit/>
          </a:bodyPr>
          <a:lstStyle/>
          <a:p>
            <a:endParaRPr lang="en-IN" sz="2000" dirty="0"/>
          </a:p>
          <a:p>
            <a:r>
              <a:rPr lang="en-IN" sz="2000" dirty="0"/>
              <a:t>Total samples = 10</a:t>
            </a:r>
          </a:p>
          <a:p>
            <a:r>
              <a:rPr lang="en-IN" sz="2000" b="1" dirty="0"/>
              <a:t>Yes = 6</a:t>
            </a:r>
            <a:endParaRPr lang="en-IN" sz="2000" dirty="0"/>
          </a:p>
          <a:p>
            <a:r>
              <a:rPr lang="en-IN" sz="2000" b="1" dirty="0"/>
              <a:t>No = 4</a:t>
            </a:r>
            <a:endParaRPr lang="en-IN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36809"/>
            <a:ext cx="1614055" cy="65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36" y="2343149"/>
            <a:ext cx="8659091" cy="317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50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909" y="-43941"/>
            <a:ext cx="7710054" cy="77585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1164"/>
            <a:ext cx="12192000" cy="58881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36809"/>
            <a:ext cx="1614055" cy="65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92" y="1427019"/>
            <a:ext cx="8562108" cy="415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36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909" y="-43941"/>
            <a:ext cx="7710054" cy="77585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1164"/>
            <a:ext cx="12192000" cy="58881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36809"/>
            <a:ext cx="1614055" cy="65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235" y="1427019"/>
            <a:ext cx="7899256" cy="394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72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909" y="-43941"/>
            <a:ext cx="7710054" cy="77585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1164"/>
            <a:ext cx="12192000" cy="58881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IN" sz="2000" dirty="0"/>
              <a:t>So, splitting on </a:t>
            </a:r>
            <a:r>
              <a:rPr lang="en-IN" sz="2000" b="1" dirty="0"/>
              <a:t>Outlook</a:t>
            </a:r>
            <a:r>
              <a:rPr lang="en-IN" sz="2000" dirty="0"/>
              <a:t> gives us an </a:t>
            </a:r>
            <a:r>
              <a:rPr lang="en-IN" sz="2000" b="1" dirty="0"/>
              <a:t>information gain of 0.247</a:t>
            </a:r>
            <a:r>
              <a:rPr lang="en-IN" sz="2000" dirty="0"/>
              <a:t>.</a:t>
            </a:r>
          </a:p>
          <a:p>
            <a:pPr marL="0" indent="0">
              <a:buNone/>
            </a:pPr>
            <a:r>
              <a:rPr lang="en-IN" sz="2000" dirty="0"/>
              <a:t>The feature with the </a:t>
            </a:r>
            <a:r>
              <a:rPr lang="en-IN" sz="2000" b="1" dirty="0"/>
              <a:t>highest gain</a:t>
            </a:r>
            <a:r>
              <a:rPr lang="en-IN" sz="2000" dirty="0"/>
              <a:t> will be chosen for the split.</a:t>
            </a:r>
            <a:endParaRPr lang="en-US" sz="2000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36809"/>
            <a:ext cx="1614055" cy="65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481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613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2508" y="914401"/>
                <a:ext cx="11457709" cy="5195454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sz="2400" dirty="0"/>
                  <a:t>In decision trees, the goal is to split the data on attributes that reduce entropy the most. This is where Information Gain comes in:</a:t>
                </a:r>
              </a:p>
              <a:p>
                <a:pPr lvl="1" algn="just"/>
                <a:r>
                  <a:rPr lang="en-US" dirty="0"/>
                  <a:t>It calculates how much entropy is reduced after a split.</a:t>
                </a:r>
              </a:p>
              <a:p>
                <a:pPr lvl="1" algn="just"/>
                <a:r>
                  <a:rPr lang="en-US" kern="100" dirty="0">
                    <a:ea typeface="Calibri" panose="020F0502020204030204" pitchFamily="34" charset="0"/>
                    <a:cs typeface="Arial" panose="020B0604020202020204" pitchFamily="34" charset="0"/>
                  </a:rPr>
                  <a:t>Information Gain tells us how useful a feature is for splitting data into groups. </a:t>
                </a:r>
              </a:p>
              <a:p>
                <a:pPr lvl="1" algn="just"/>
                <a:r>
                  <a:rPr lang="en-US" kern="100" dirty="0">
                    <a:ea typeface="Calibri" panose="020F0502020204030204" pitchFamily="34" charset="0"/>
                    <a:cs typeface="Arial" panose="020B0604020202020204" pitchFamily="34" charset="0"/>
                  </a:rPr>
                  <a:t>It measures how much the uncertainty decreases after the split. </a:t>
                </a:r>
              </a:p>
              <a:p>
                <a:pPr lvl="1" algn="just"/>
                <a:r>
                  <a:rPr lang="en-US" kern="100" dirty="0">
                    <a:ea typeface="Calibri" panose="020F0502020204030204" pitchFamily="34" charset="0"/>
                    <a:cs typeface="Arial" panose="020B0604020202020204" pitchFamily="34" charset="0"/>
                  </a:rPr>
                  <a:t>The feature with the highest Information Gain is chosen to make the decision</a:t>
                </a:r>
                <a:endParaRPr lang="en-IN" kern="100" dirty="0"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Information Gain = Reduction in Entropy after a dataset is split on an attribute.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i.e., Information Gain(S, A) = Entropy (S)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𝑉𝑎𝑙𝑢𝑒𝑠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lang="en-US" sz="2400" dirty="0"/>
                  <a:t> . Entropy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Where, S: Original data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              A: Evaluating attributes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              Values(A) : All possible values of attribute A</a:t>
                </a:r>
              </a:p>
              <a:p>
                <a:pPr marL="0" indent="0" algn="just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2508" y="914401"/>
                <a:ext cx="11457709" cy="5195454"/>
              </a:xfrm>
              <a:blipFill>
                <a:blip r:embed="rId2"/>
                <a:stretch>
                  <a:fillRect l="-852" t="-2230" r="-7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03"/>
            <a:ext cx="1690255" cy="68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305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099" y="133342"/>
            <a:ext cx="10972800" cy="92480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Information Gain Example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718763"/>
              </p:ext>
            </p:extLst>
          </p:nvPr>
        </p:nvGraphicFramePr>
        <p:xfrm>
          <a:off x="761999" y="1433693"/>
          <a:ext cx="2918921" cy="434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3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14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3784">
                <a:tc>
                  <a:txBody>
                    <a:bodyPr/>
                    <a:lstStyle/>
                    <a:p>
                      <a:pPr algn="ctr"/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baseline="0" dirty="0"/>
                        <a:t> O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H</a:t>
                      </a:r>
                      <a:r>
                        <a:rPr lang="en-US" sz="1900" b="1" baseline="0" dirty="0"/>
                        <a:t> 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W</a:t>
                      </a:r>
                      <a:r>
                        <a:rPr lang="en-US" sz="1900" b="1" baseline="0" dirty="0"/>
                        <a:t> 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Play?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76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3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4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5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6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7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8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9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11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12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13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14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558146" y="1433693"/>
            <a:ext cx="3733562" cy="393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tabLst>
                <a:tab pos="1600160" algn="l"/>
              </a:tabLst>
            </a:pPr>
            <a:r>
              <a:rPr lang="en-US" sz="2000" b="1" dirty="0"/>
              <a:t>O</a:t>
            </a:r>
            <a:r>
              <a:rPr lang="en-US" sz="2000" dirty="0"/>
              <a:t>utlook:	S(</a:t>
            </a:r>
            <a:r>
              <a:rPr lang="en-US" sz="2000" dirty="0" err="1"/>
              <a:t>unny</a:t>
            </a:r>
            <a:r>
              <a:rPr lang="en-US" sz="2000" dirty="0"/>
              <a:t>), </a:t>
            </a:r>
            <a:br>
              <a:rPr lang="en-US" sz="2000" dirty="0"/>
            </a:br>
            <a:r>
              <a:rPr lang="en-US" sz="2000" dirty="0"/>
              <a:t>	O(</a:t>
            </a:r>
            <a:r>
              <a:rPr lang="en-US" sz="2000" dirty="0" err="1"/>
              <a:t>vercast</a:t>
            </a:r>
            <a:r>
              <a:rPr lang="en-US" sz="2000" dirty="0"/>
              <a:t>), </a:t>
            </a:r>
            <a:br>
              <a:rPr lang="en-US" sz="2000" dirty="0"/>
            </a:br>
            <a:r>
              <a:rPr lang="en-US" sz="2000" dirty="0"/>
              <a:t>	R(</a:t>
            </a:r>
            <a:r>
              <a:rPr lang="en-US" sz="2000" dirty="0" err="1"/>
              <a:t>ainy</a:t>
            </a:r>
            <a:r>
              <a:rPr lang="en-US" sz="2000" dirty="0"/>
              <a:t>)</a:t>
            </a:r>
          </a:p>
          <a:p>
            <a:pPr>
              <a:spcBef>
                <a:spcPct val="50000"/>
              </a:spcBef>
              <a:tabLst>
                <a:tab pos="1600160" algn="l"/>
              </a:tabLst>
            </a:pPr>
            <a:r>
              <a:rPr lang="en-US" sz="2000" b="1" dirty="0"/>
              <a:t>T</a:t>
            </a:r>
            <a:r>
              <a:rPr lang="en-US" sz="2000" dirty="0"/>
              <a:t>emperature:	H(</a:t>
            </a:r>
            <a:r>
              <a:rPr lang="en-US" sz="2000" dirty="0" err="1"/>
              <a:t>ot</a:t>
            </a:r>
            <a:r>
              <a:rPr lang="en-US" sz="2000" dirty="0"/>
              <a:t>), 		M(</a:t>
            </a:r>
            <a:r>
              <a:rPr lang="en-US" sz="2000" dirty="0" err="1"/>
              <a:t>edium</a:t>
            </a:r>
            <a:r>
              <a:rPr lang="en-US" sz="2000" dirty="0"/>
              <a:t>), </a:t>
            </a:r>
            <a:br>
              <a:rPr lang="en-US" sz="2000" dirty="0"/>
            </a:br>
            <a:r>
              <a:rPr lang="en-US" sz="2000" dirty="0"/>
              <a:t>	C(</a:t>
            </a:r>
            <a:r>
              <a:rPr lang="en-US" sz="2000" dirty="0" err="1"/>
              <a:t>ool</a:t>
            </a:r>
            <a:r>
              <a:rPr lang="en-US" sz="2000" dirty="0"/>
              <a:t>)</a:t>
            </a:r>
          </a:p>
          <a:p>
            <a:pPr>
              <a:spcBef>
                <a:spcPct val="50000"/>
              </a:spcBef>
              <a:tabLst>
                <a:tab pos="1600160" algn="l"/>
              </a:tabLst>
            </a:pPr>
            <a:r>
              <a:rPr lang="en-US" sz="2000" b="1" dirty="0"/>
              <a:t>H</a:t>
            </a:r>
            <a:r>
              <a:rPr lang="en-US" sz="2000" dirty="0"/>
              <a:t>umidity:	H(</a:t>
            </a:r>
            <a:r>
              <a:rPr lang="en-US" sz="2000" dirty="0" err="1"/>
              <a:t>igh</a:t>
            </a:r>
            <a:r>
              <a:rPr lang="en-US" sz="2000" dirty="0"/>
              <a:t>),</a:t>
            </a:r>
            <a:br>
              <a:rPr lang="en-US" sz="2000" dirty="0"/>
            </a:br>
            <a:r>
              <a:rPr lang="en-US" sz="2000" dirty="0"/>
              <a:t>	N(</a:t>
            </a:r>
            <a:r>
              <a:rPr lang="en-US" sz="2000" dirty="0" err="1"/>
              <a:t>ormal</a:t>
            </a:r>
            <a:r>
              <a:rPr lang="en-US" sz="2000" dirty="0"/>
              <a:t>), </a:t>
            </a:r>
            <a:br>
              <a:rPr lang="en-US" sz="2000" dirty="0"/>
            </a:br>
            <a:r>
              <a:rPr lang="en-US" sz="2000" dirty="0"/>
              <a:t>	L(ow)</a:t>
            </a:r>
          </a:p>
          <a:p>
            <a:pPr>
              <a:spcBef>
                <a:spcPct val="50000"/>
              </a:spcBef>
              <a:tabLst>
                <a:tab pos="1600160" algn="l"/>
              </a:tabLst>
            </a:pPr>
            <a:r>
              <a:rPr lang="en-US" sz="2000" b="1" dirty="0"/>
              <a:t>W</a:t>
            </a:r>
            <a:r>
              <a:rPr lang="en-US" sz="2000" dirty="0"/>
              <a:t>ind:	S(</a:t>
            </a:r>
            <a:r>
              <a:rPr lang="en-US" sz="2000" dirty="0" err="1"/>
              <a:t>trong</a:t>
            </a:r>
            <a:r>
              <a:rPr lang="en-US" sz="2000" dirty="0"/>
              <a:t>), </a:t>
            </a:r>
            <a:br>
              <a:rPr lang="en-US" sz="2000" dirty="0"/>
            </a:br>
            <a:r>
              <a:rPr lang="en-US" sz="2000" dirty="0"/>
              <a:t>	W(</a:t>
            </a:r>
            <a:r>
              <a:rPr lang="en-US" sz="2000" dirty="0" err="1"/>
              <a:t>eak</a:t>
            </a:r>
            <a:r>
              <a:rPr lang="en-US" sz="2000" dirty="0"/>
              <a:t>)</a:t>
            </a:r>
          </a:p>
        </p:txBody>
      </p:sp>
      <p:pic>
        <p:nvPicPr>
          <p:cNvPr id="10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99"/>
            <a:ext cx="1746466" cy="70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391891" y="5394834"/>
            <a:ext cx="7509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Question: Will I Play Today?</a:t>
            </a:r>
          </a:p>
        </p:txBody>
      </p:sp>
    </p:spTree>
    <p:extLst>
      <p:ext uri="{BB962C8B-B14F-4D97-AF65-F5344CB8AC3E}">
        <p14:creationId xmlns:p14="http://schemas.microsoft.com/office/powerpoint/2010/main" val="1194633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Information Gain Example </a:t>
            </a:r>
          </a:p>
        </p:txBody>
      </p:sp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9CD20CB6-A1CB-1A47-9929-9AD7DF329DEA}"/>
              </a:ext>
            </a:extLst>
          </p:cNvPr>
          <p:cNvGraphicFramePr>
            <a:graphicFrameLocks/>
          </p:cNvGraphicFramePr>
          <p:nvPr/>
        </p:nvGraphicFramePr>
        <p:xfrm>
          <a:off x="573618" y="1202267"/>
          <a:ext cx="3301266" cy="462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705">
                <a:tc>
                  <a:txBody>
                    <a:bodyPr/>
                    <a:lstStyle/>
                    <a:p>
                      <a:pPr algn="ctr"/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baseline="0" dirty="0"/>
                        <a:t> O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H</a:t>
                      </a:r>
                      <a:r>
                        <a:rPr lang="en-US" sz="1900" b="1" baseline="0" dirty="0"/>
                        <a:t> 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W</a:t>
                      </a:r>
                      <a:r>
                        <a:rPr lang="en-US" sz="1900" b="1" baseline="0" dirty="0"/>
                        <a:t> 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Play?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3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4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5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6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7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8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9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11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12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13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14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 useBgFill="1"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A78B395-D583-EE41-957A-0DC3A5BEF7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4036" y="1533875"/>
                <a:ext cx="7876027" cy="4983163"/>
              </a:xfrm>
              <a:prstGeom prst="rect">
                <a:avLst/>
              </a:prstGeom>
            </p:spPr>
            <p:txBody>
              <a:bodyPr vert="horz" lIns="121920" tIns="60960" rIns="121920" bIns="6096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Clr>
                    <a:schemeClr val="tx1"/>
                  </a:buClr>
                  <a:buFont typeface="Arial"/>
                  <a:buChar char="•"/>
                  <a:defRPr sz="2800" kern="1200">
                    <a:solidFill>
                      <a:schemeClr val="accent6"/>
                    </a:solidFill>
                    <a:latin typeface="Gill Sans"/>
                    <a:ea typeface="+mn-ea"/>
                    <a:cs typeface="Gill San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Clr>
                    <a:schemeClr val="tx1"/>
                  </a:buClr>
                  <a:buFont typeface="Arial"/>
                  <a:buChar char="–"/>
                  <a:defRPr sz="2400" kern="1200">
                    <a:solidFill>
                      <a:schemeClr val="accent6"/>
                    </a:solidFill>
                    <a:latin typeface="Gill Sans"/>
                    <a:ea typeface="+mn-ea"/>
                    <a:cs typeface="Gill San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Clr>
                    <a:schemeClr val="tx1"/>
                  </a:buClr>
                  <a:buFont typeface="Arial"/>
                  <a:buChar char="•"/>
                  <a:defRPr sz="2000" kern="1200">
                    <a:solidFill>
                      <a:schemeClr val="accent6"/>
                    </a:solidFill>
                    <a:latin typeface="Gill Sans"/>
                    <a:ea typeface="+mn-ea"/>
                    <a:cs typeface="Gill San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Clr>
                    <a:schemeClr val="tx1"/>
                  </a:buClr>
                  <a:buFont typeface="Arial"/>
                  <a:buChar char="–"/>
                  <a:defRPr sz="1800" kern="1200">
                    <a:solidFill>
                      <a:schemeClr val="accent6"/>
                    </a:solidFill>
                    <a:latin typeface="Gill Sans"/>
                    <a:ea typeface="+mn-ea"/>
                    <a:cs typeface="Gill San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Clr>
                    <a:schemeClr val="tx1"/>
                  </a:buClr>
                  <a:buFont typeface="Arial"/>
                  <a:buChar char="»"/>
                  <a:defRPr sz="1800" kern="1200">
                    <a:solidFill>
                      <a:schemeClr val="accent6"/>
                    </a:solidFill>
                    <a:latin typeface="Gill Sans"/>
                    <a:ea typeface="+mn-ea"/>
                    <a:cs typeface="Gill San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667" dirty="0">
                    <a:solidFill>
                      <a:schemeClr val="tx1"/>
                    </a:solidFill>
                  </a:rPr>
                  <a:t>Calculate current entropy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</m:sub>
                    </m:sSub>
                    <m:r>
                      <a:rPr lang="en-US" sz="2667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sz="2667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</m:sub>
                    </m:sSub>
                    <m:r>
                      <a:rPr lang="en-US" sz="2667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sz="2667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667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𝑃𝑙𝑎𝑦</m:t>
                        </m:r>
                      </m:e>
                    </m:d>
                    <m:r>
                      <a:rPr lang="en-US" sz="2667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</m:sub>
                    </m:sSub>
                    <m:func>
                      <m:func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67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67" i="1" baseline="-25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2667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67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67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67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667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</m:sub>
                    </m:sSub>
                    <m:func>
                      <m:func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67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67" i="1" baseline="-25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2667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67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67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67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br>
                  <a:rPr lang="en-US" sz="2667" dirty="0">
                    <a:solidFill>
                      <a:schemeClr val="tx1"/>
                    </a:solidFill>
                  </a:rPr>
                </a:br>
                <a:r>
                  <a:rPr lang="en-US" sz="2667" dirty="0">
                    <a:solidFill>
                      <a:schemeClr val="tx1"/>
                    </a:solidFill>
                  </a:rPr>
                  <a:t>                         </a:t>
                </a:r>
                <a14:m>
                  <m:oMath xmlns:m="http://schemas.openxmlformats.org/officeDocument/2006/math">
                    <m:r>
                      <a:rPr lang="en-US" sz="2667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US" sz="2667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667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sz="2667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US" sz="2667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667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6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lang="en-US" sz="2667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667" dirty="0">
                    <a:solidFill>
                      <a:schemeClr val="tx1"/>
                    </a:solidFill>
                    <a:cs typeface="Helvetica"/>
                    <a:sym typeface="Symbol" pitchFamily="18" charset="2"/>
                  </a:rPr>
                  <a:t>		   		          </a:t>
                </a:r>
                <a:r>
                  <a:rPr lang="en-US" sz="2667" dirty="0">
                    <a:solidFill>
                      <a:schemeClr val="tx1"/>
                    </a:solidFill>
                    <a:cs typeface="Helvetica"/>
                  </a:rPr>
                  <a:t> 0.94</a:t>
                </a:r>
                <a:endParaRPr lang="en-US" sz="2667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 useBgFill="1"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A78B395-D583-EE41-957A-0DC3A5BEF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036" y="1533875"/>
                <a:ext cx="7876027" cy="4983163"/>
              </a:xfrm>
              <a:prstGeom prst="rect">
                <a:avLst/>
              </a:prstGeom>
              <a:blipFill>
                <a:blip r:embed="rId2"/>
                <a:stretch>
                  <a:fillRect l="-1084" t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4" y="20647"/>
            <a:ext cx="1720064" cy="696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08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Example: Information Gain: Outlook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73619" y="1202267"/>
          <a:ext cx="3337479" cy="462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7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9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705">
                <a:tc>
                  <a:txBody>
                    <a:bodyPr/>
                    <a:lstStyle/>
                    <a:p>
                      <a:pPr algn="ctr"/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baseline="0" dirty="0"/>
                        <a:t> O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H</a:t>
                      </a:r>
                      <a:r>
                        <a:rPr lang="en-US" sz="1900" b="1" baseline="0" dirty="0"/>
                        <a:t> 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W</a:t>
                      </a:r>
                      <a:r>
                        <a:rPr lang="en-US" sz="1900" b="1" baseline="0" dirty="0"/>
                        <a:t> 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Play?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3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4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5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6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7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8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9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11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12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13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14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558B3C-CB98-D74D-91ED-7CCF10ED82D1}"/>
                  </a:ext>
                </a:extLst>
              </p:cNvPr>
              <p:cNvSpPr txBox="1"/>
              <p:nvPr/>
            </p:nvSpPr>
            <p:spPr>
              <a:xfrm>
                <a:off x="4341845" y="2085572"/>
                <a:ext cx="7441395" cy="4130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2133" dirty="0">
                    <a:solidFill>
                      <a:srgbClr val="FF9900"/>
                    </a:solidFill>
                  </a:rPr>
                  <a:t>Outlook</a:t>
                </a:r>
                <a:r>
                  <a:rPr lang="en-US" sz="2133" dirty="0"/>
                  <a:t> = sunny: </a:t>
                </a:r>
                <a:br>
                  <a:rPr lang="en-US" sz="2133" dirty="0"/>
                </a:br>
                <a:r>
                  <a:rPr lang="en-US" sz="2133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+ </m:t>
                        </m:r>
                      </m:sub>
                    </m:sSub>
                    <m:r>
                      <a:rPr lang="en-US" sz="2133" b="0" i="1">
                        <a:latin typeface="Cambria Math" panose="02040503050406030204" pitchFamily="18" charset="0"/>
                      </a:rPr>
                      <m:t>=2/5</m:t>
                    </m:r>
                  </m:oMath>
                </a14:m>
                <a:r>
                  <a:rPr lang="en-US" sz="2133" i="1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2133" b="0" i="1">
                        <a:latin typeface="Cambria Math" panose="02040503050406030204" pitchFamily="18" charset="0"/>
                      </a:rPr>
                      <m:t>=3/5</m:t>
                    </m:r>
                  </m:oMath>
                </a14:m>
                <a:r>
                  <a:rPr lang="en-US" sz="2133" i="1" dirty="0"/>
                  <a:t>	</a:t>
                </a:r>
                <a:r>
                  <a:rPr lang="en-US" sz="2133" dirty="0"/>
                  <a:t>Entropy(O = S)</a:t>
                </a:r>
                <a:r>
                  <a:rPr lang="en-US" sz="2133" baseline="-25000" dirty="0"/>
                  <a:t> </a:t>
                </a:r>
                <a:r>
                  <a:rPr lang="en-US" sz="2133" dirty="0"/>
                  <a:t>= 0.971</a:t>
                </a:r>
                <a:br>
                  <a:rPr lang="en-US" sz="2133" i="1" dirty="0"/>
                </a:br>
                <a:r>
                  <a:rPr lang="en-US" sz="2133" dirty="0">
                    <a:solidFill>
                      <a:srgbClr val="FF9900"/>
                    </a:solidFill>
                  </a:rPr>
                  <a:t>Outlook</a:t>
                </a:r>
                <a:r>
                  <a:rPr lang="en-US" sz="2133" dirty="0"/>
                  <a:t> = overcast: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+ </m:t>
                        </m:r>
                      </m:sub>
                    </m:sSub>
                    <m:r>
                      <a:rPr lang="en-US" sz="2133" b="0" i="1">
                        <a:latin typeface="Cambria Math" panose="02040503050406030204" pitchFamily="18" charset="0"/>
                      </a:rPr>
                      <m:t> =4/4</m:t>
                    </m:r>
                  </m:oMath>
                </a14:m>
                <a:r>
                  <a:rPr lang="en-US" sz="2133" i="1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2133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133" i="1" dirty="0"/>
                  <a:t>	       </a:t>
                </a:r>
                <a:r>
                  <a:rPr lang="en-US" sz="2133" dirty="0"/>
                  <a:t>Entropy(O = O)</a:t>
                </a:r>
                <a:r>
                  <a:rPr lang="en-US" sz="2133" baseline="-25000" dirty="0"/>
                  <a:t> </a:t>
                </a:r>
                <a:r>
                  <a:rPr lang="en-US" sz="2133" dirty="0"/>
                  <a:t>= 0</a:t>
                </a:r>
                <a:endParaRPr lang="en-US" sz="2133" i="1" dirty="0"/>
              </a:p>
              <a:p>
                <a:r>
                  <a:rPr lang="en-US" sz="2133" dirty="0">
                    <a:solidFill>
                      <a:srgbClr val="FF9900"/>
                    </a:solidFill>
                  </a:rPr>
                  <a:t>Outlook</a:t>
                </a:r>
                <a:r>
                  <a:rPr lang="en-US" sz="2133" dirty="0"/>
                  <a:t> = rainy: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+ </m:t>
                        </m:r>
                      </m:sub>
                    </m:sSub>
                    <m:r>
                      <a:rPr lang="en-US" sz="2133" b="0" i="1">
                        <a:latin typeface="Cambria Math" panose="02040503050406030204" pitchFamily="18" charset="0"/>
                      </a:rPr>
                      <m:t> =3/5</m:t>
                    </m:r>
                  </m:oMath>
                </a14:m>
                <a:r>
                  <a:rPr lang="en-US" sz="2133" i="1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2133" b="0" i="1">
                        <a:latin typeface="Cambria Math" panose="02040503050406030204" pitchFamily="18" charset="0"/>
                      </a:rPr>
                      <m:t>=2/5</m:t>
                    </m:r>
                  </m:oMath>
                </a14:m>
                <a:r>
                  <a:rPr lang="en-US" sz="2133" i="1" dirty="0"/>
                  <a:t>	</a:t>
                </a:r>
                <a:r>
                  <a:rPr lang="en-US" sz="2133" dirty="0"/>
                  <a:t>Entropy(O = R)</a:t>
                </a:r>
                <a:r>
                  <a:rPr lang="en-US" sz="2133" baseline="-25000" dirty="0"/>
                  <a:t> </a:t>
                </a:r>
                <a:r>
                  <a:rPr lang="en-US" sz="2133" dirty="0"/>
                  <a:t>= 0.971</a:t>
                </a:r>
                <a:br>
                  <a:rPr lang="en-US" sz="2133" dirty="0"/>
                </a:br>
                <a:endParaRPr lang="en-US" sz="2133" dirty="0"/>
              </a:p>
              <a:p>
                <a:r>
                  <a:rPr lang="en-US" sz="2133" dirty="0"/>
                  <a:t>Expected entropy </a:t>
                </a:r>
              </a:p>
              <a:p>
                <a:r>
                  <a:rPr lang="en-US" sz="2133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133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𝑣𝑎𝑙𝑢𝑒𝑠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2133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133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133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𝐸𝑛𝑡𝑟𝑜𝑝𝑦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133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133" dirty="0">
                  <a:solidFill>
                    <a:schemeClr val="tx1"/>
                  </a:solidFill>
                </a:endParaRPr>
              </a:p>
              <a:p>
                <a:r>
                  <a:rPr lang="en-US" sz="2133" dirty="0"/>
                  <a:t>= (5/14)×0.971 + (4/14)×0 + (5/14)×0.971 = 0.694</a:t>
                </a:r>
              </a:p>
              <a:p>
                <a:endParaRPr lang="en-US" sz="2133" dirty="0"/>
              </a:p>
              <a:p>
                <a:r>
                  <a:rPr lang="en-US" sz="2133" dirty="0"/>
                  <a:t>Information gain = 0.940 – 0.694 = 0.246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558B3C-CB98-D74D-91ED-7CCF10ED8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845" y="2085572"/>
                <a:ext cx="7441395" cy="4130233"/>
              </a:xfrm>
              <a:prstGeom prst="rect">
                <a:avLst/>
              </a:prstGeom>
              <a:blipFill>
                <a:blip r:embed="rId2"/>
                <a:stretch>
                  <a:fillRect l="-2211" t="-1917" b="-2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33CA8D3-2349-B24F-A2BC-984AF188BC9F}"/>
                  </a:ext>
                </a:extLst>
              </p:cNvPr>
              <p:cNvSpPr/>
              <p:nvPr/>
            </p:nvSpPr>
            <p:spPr>
              <a:xfrm>
                <a:off x="4130343" y="1043495"/>
                <a:ext cx="7850155" cy="839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𝐼𝑛𝑓𝑜𝑟𝑚𝑎𝑡𝑖𝑜𝑛</m:t>
                      </m:r>
                      <m:r>
                        <a:rPr lang="en-US" sz="1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𝑣𝑎𝑙𝑢𝑒𝑠</m:t>
                          </m:r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𝐸𝑛𝑡𝑟𝑜𝑝𝑦</m:t>
                          </m:r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33CA8D3-2349-B24F-A2BC-984AF188B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43" y="1043495"/>
                <a:ext cx="7850155" cy="8395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617"/>
            <a:ext cx="1662545" cy="67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63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Example: Information Gain: Humidity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73618" y="1202267"/>
          <a:ext cx="3337479" cy="462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7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9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705">
                <a:tc>
                  <a:txBody>
                    <a:bodyPr/>
                    <a:lstStyle/>
                    <a:p>
                      <a:pPr algn="ctr"/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baseline="0" dirty="0"/>
                        <a:t> O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H</a:t>
                      </a:r>
                      <a:r>
                        <a:rPr lang="en-US" sz="1900" b="1" baseline="0" dirty="0"/>
                        <a:t> 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W</a:t>
                      </a:r>
                      <a:r>
                        <a:rPr lang="en-US" sz="1900" b="1" baseline="0" dirty="0"/>
                        <a:t> </a:t>
                      </a:r>
                      <a:endParaRPr lang="en-US" sz="1900" b="1" dirty="0"/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Play?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3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4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5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6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7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8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9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11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12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13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14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M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94C0F5-0A7E-BA45-945E-4DB7554C67DF}"/>
                  </a:ext>
                </a:extLst>
              </p:cNvPr>
              <p:cNvSpPr txBox="1"/>
              <p:nvPr/>
            </p:nvSpPr>
            <p:spPr>
              <a:xfrm>
                <a:off x="4341845" y="2085571"/>
                <a:ext cx="7441395" cy="3473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2133" dirty="0">
                    <a:solidFill>
                      <a:srgbClr val="FF9900"/>
                    </a:solidFill>
                  </a:rPr>
                  <a:t>Humidity</a:t>
                </a:r>
                <a:r>
                  <a:rPr lang="en-US" sz="2133" dirty="0"/>
                  <a:t> = high:</a:t>
                </a:r>
                <a:br>
                  <a:rPr lang="en-US" sz="2133" dirty="0"/>
                </a:br>
                <a:r>
                  <a:rPr lang="en-US" sz="2133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+ </m:t>
                        </m:r>
                      </m:sub>
                    </m:sSub>
                    <m:r>
                      <a:rPr lang="en-US" sz="2133" b="0" i="1">
                        <a:latin typeface="Cambria Math" panose="02040503050406030204" pitchFamily="18" charset="0"/>
                      </a:rPr>
                      <m:t>=3/7</m:t>
                    </m:r>
                  </m:oMath>
                </a14:m>
                <a:r>
                  <a:rPr lang="en-US" sz="2133" i="1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2133" b="0" i="1">
                        <a:latin typeface="Cambria Math" panose="02040503050406030204" pitchFamily="18" charset="0"/>
                      </a:rPr>
                      <m:t>=4/7</m:t>
                    </m:r>
                  </m:oMath>
                </a14:m>
                <a:r>
                  <a:rPr lang="en-US" sz="2133" i="1" dirty="0"/>
                  <a:t>	</a:t>
                </a:r>
                <a:r>
                  <a:rPr lang="en-US" sz="2133" dirty="0"/>
                  <a:t>Entropy(H = H)</a:t>
                </a:r>
                <a:r>
                  <a:rPr lang="en-US" sz="2133" baseline="-25000" dirty="0"/>
                  <a:t> </a:t>
                </a:r>
                <a:r>
                  <a:rPr lang="en-US" sz="2133" dirty="0"/>
                  <a:t>= 0.985</a:t>
                </a:r>
                <a:br>
                  <a:rPr lang="en-US" sz="2133" i="1" dirty="0"/>
                </a:br>
                <a:r>
                  <a:rPr lang="en-US" sz="2133" dirty="0">
                    <a:solidFill>
                      <a:srgbClr val="FF9900"/>
                    </a:solidFill>
                  </a:rPr>
                  <a:t>Humidity</a:t>
                </a:r>
                <a:r>
                  <a:rPr lang="en-US" sz="2133" dirty="0"/>
                  <a:t> = Normal:</a:t>
                </a:r>
                <a:endParaRPr lang="en-US" sz="2133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+ </m:t>
                        </m:r>
                      </m:sub>
                    </m:sSub>
                    <m:r>
                      <a:rPr lang="en-US" sz="2133" b="0" i="1">
                        <a:latin typeface="Cambria Math" panose="02040503050406030204" pitchFamily="18" charset="0"/>
                      </a:rPr>
                      <m:t> =6/7</m:t>
                    </m:r>
                  </m:oMath>
                </a14:m>
                <a:r>
                  <a:rPr lang="en-US" sz="2133" i="1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33" b="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2133" b="0" i="1">
                        <a:latin typeface="Cambria Math" panose="02040503050406030204" pitchFamily="18" charset="0"/>
                      </a:rPr>
                      <m:t>=1/7</m:t>
                    </m:r>
                  </m:oMath>
                </a14:m>
                <a:r>
                  <a:rPr lang="en-US" sz="2133" i="1" dirty="0"/>
                  <a:t>	</a:t>
                </a:r>
                <a:r>
                  <a:rPr lang="en-US" sz="2133" dirty="0"/>
                  <a:t>Entropy(H = N)</a:t>
                </a:r>
                <a:r>
                  <a:rPr lang="en-US" sz="2133" baseline="-25000" dirty="0"/>
                  <a:t> </a:t>
                </a:r>
                <a:r>
                  <a:rPr lang="en-US" sz="2133" dirty="0"/>
                  <a:t>= 0.592</a:t>
                </a:r>
                <a:endParaRPr lang="en-US" sz="2133" i="1" dirty="0"/>
              </a:p>
              <a:p>
                <a:r>
                  <a:rPr lang="en-US" sz="2133" dirty="0">
                    <a:solidFill>
                      <a:srgbClr val="FF9900"/>
                    </a:solidFill>
                  </a:rPr>
                  <a:t> </a:t>
                </a:r>
                <a:endParaRPr lang="en-US" sz="2133" dirty="0"/>
              </a:p>
              <a:p>
                <a:r>
                  <a:rPr lang="en-US" sz="2133" dirty="0"/>
                  <a:t>Expected entropy </a:t>
                </a:r>
              </a:p>
              <a:p>
                <a:r>
                  <a:rPr lang="en-US" sz="2133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133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133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𝑣𝑎𝑙𝑢𝑒𝑠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2133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133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133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𝐸𝑛𝑡𝑟𝑜𝑝𝑦</m:t>
                        </m:r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133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133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2133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133" dirty="0"/>
              </a:p>
              <a:p>
                <a:r>
                  <a:rPr lang="en-US" sz="2133" dirty="0"/>
                  <a:t>= (7/14)×0.985 + (7/14)×0.592 = 0.7785</a:t>
                </a:r>
              </a:p>
              <a:p>
                <a:endParaRPr lang="en-US" sz="2133" dirty="0"/>
              </a:p>
              <a:p>
                <a:r>
                  <a:rPr lang="en-US" sz="2133" dirty="0"/>
                  <a:t>Information gain = 0.940 – 0.694 = 0.246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94C0F5-0A7E-BA45-945E-4DB7554C6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845" y="2085571"/>
                <a:ext cx="7441395" cy="3473771"/>
              </a:xfrm>
              <a:prstGeom prst="rect">
                <a:avLst/>
              </a:prstGeom>
              <a:blipFill>
                <a:blip r:embed="rId3"/>
                <a:stretch>
                  <a:fillRect l="-2211" t="-2281" b="-3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1465D28-180D-5449-A8F4-7E235C648F8A}"/>
                  </a:ext>
                </a:extLst>
              </p:cNvPr>
              <p:cNvSpPr/>
              <p:nvPr/>
            </p:nvSpPr>
            <p:spPr>
              <a:xfrm>
                <a:off x="4130343" y="1043495"/>
                <a:ext cx="7850155" cy="579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Information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𝐺𝑎𝑖𝑛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𝑣𝑎𝑙𝑢𝑒𝑠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𝐸𝑛𝑡𝑟𝑜𝑝𝑦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1465D28-180D-5449-A8F4-7E235C648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43" y="1043495"/>
                <a:ext cx="7850155" cy="579326"/>
              </a:xfrm>
              <a:prstGeom prst="rect">
                <a:avLst/>
              </a:prstGeom>
              <a:blipFill>
                <a:blip r:embed="rId4"/>
                <a:stretch>
                  <a:fillRect l="-855"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3" y="79397"/>
            <a:ext cx="1621775" cy="656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37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>
            <a:extLst>
              <a:ext uri="{FF2B5EF4-FFF2-40B4-BE49-F238E27FC236}">
                <a16:creationId xmlns:a16="http://schemas.microsoft.com/office/drawing/2014/main" id="{1A099386-7526-048D-4FCF-FE9A1934B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06824" y="0"/>
            <a:ext cx="2560320" cy="845285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  <a:ea typeface="新細明體" panose="02020500000000000000" pitchFamily="18" charset="-120"/>
              </a:rPr>
              <a:t>Gain ratio</a:t>
            </a:r>
          </a:p>
        </p:txBody>
      </p:sp>
      <p:sp>
        <p:nvSpPr>
          <p:cNvPr id="235523" name="Rectangle 3">
            <a:extLst>
              <a:ext uri="{FF2B5EF4-FFF2-40B4-BE49-F238E27FC236}">
                <a16:creationId xmlns:a16="http://schemas.microsoft.com/office/drawing/2014/main" id="{615DCE87-6252-19A0-15F0-BDF57F22CD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9808" y="1011283"/>
            <a:ext cx="10945368" cy="463187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400" i="1" dirty="0">
                <a:ea typeface="新細明體" panose="02020500000000000000" pitchFamily="18" charset="-120"/>
              </a:rPr>
              <a:t>Gain ratio</a:t>
            </a:r>
            <a:r>
              <a:rPr lang="en-US" altLang="zh-TW" sz="2400" dirty="0">
                <a:ea typeface="新細明體" panose="02020500000000000000" pitchFamily="18" charset="-120"/>
              </a:rPr>
              <a:t>: a modification of the information gain that reduces its bias on high-branch attributes</a:t>
            </a: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Gain ratio should be </a:t>
            </a:r>
          </a:p>
          <a:p>
            <a:pPr lvl="1">
              <a:lnSpc>
                <a:spcPct val="10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Large when data is evenly spread</a:t>
            </a:r>
          </a:p>
          <a:p>
            <a:pPr lvl="1">
              <a:lnSpc>
                <a:spcPct val="10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Small when all data belong to one branch</a:t>
            </a: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Gain ratio takes number and size of branches into account when choosing an attribute</a:t>
            </a:r>
          </a:p>
          <a:p>
            <a:pPr lvl="1">
              <a:lnSpc>
                <a:spcPct val="10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It corrects the information gain by taking the </a:t>
            </a:r>
            <a:r>
              <a:rPr lang="en-US" altLang="zh-TW" i="1" dirty="0">
                <a:ea typeface="新細明體" panose="02020500000000000000" pitchFamily="18" charset="-120"/>
              </a:rPr>
              <a:t>intrinsic information</a:t>
            </a:r>
            <a:r>
              <a:rPr lang="en-US" altLang="zh-TW" dirty="0">
                <a:ea typeface="新細明體" panose="02020500000000000000" pitchFamily="18" charset="-120"/>
              </a:rPr>
              <a:t> of a split into account (i.e. how much info do we need to tell which branch an instance belongs to)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3" y="79397"/>
            <a:ext cx="1594066" cy="64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11095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549" name="Object 5">
            <a:extLst>
              <a:ext uri="{FF2B5EF4-FFF2-40B4-BE49-F238E27FC236}">
                <a16:creationId xmlns:a16="http://schemas.microsoft.com/office/drawing/2014/main" id="{9395BEFA-D41D-616F-C22F-36B6EC1D5F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2060575"/>
          <a:ext cx="542448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17560" imgH="647640" progId="Equation.3">
                  <p:embed/>
                </p:oleObj>
              </mc:Choice>
              <mc:Fallback>
                <p:oleObj name="Equation" r:id="rId2" imgW="3517560" imgH="647640" progId="Equation.3">
                  <p:embed/>
                  <p:pic>
                    <p:nvPicPr>
                      <p:cNvPr id="236549" name="Object 5">
                        <a:extLst>
                          <a:ext uri="{FF2B5EF4-FFF2-40B4-BE49-F238E27FC236}">
                            <a16:creationId xmlns:a16="http://schemas.microsoft.com/office/drawing/2014/main" id="{9395BEFA-D41D-616F-C22F-36B6EC1D5F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060575"/>
                        <a:ext cx="542448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0" name="Object 6">
            <a:extLst>
              <a:ext uri="{FF2B5EF4-FFF2-40B4-BE49-F238E27FC236}">
                <a16:creationId xmlns:a16="http://schemas.microsoft.com/office/drawing/2014/main" id="{116599DB-6F14-596E-DFFA-2FD371B994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508501"/>
          <a:ext cx="57912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33560" imgH="558720" progId="Equation.3">
                  <p:embed/>
                </p:oleObj>
              </mc:Choice>
              <mc:Fallback>
                <p:oleObj name="Equation" r:id="rId4" imgW="3733560" imgH="558720" progId="Equation.3">
                  <p:embed/>
                  <p:pic>
                    <p:nvPicPr>
                      <p:cNvPr id="236550" name="Object 6">
                        <a:extLst>
                          <a:ext uri="{FF2B5EF4-FFF2-40B4-BE49-F238E27FC236}">
                            <a16:creationId xmlns:a16="http://schemas.microsoft.com/office/drawing/2014/main" id="{116599DB-6F14-596E-DFFA-2FD371B994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08501"/>
                        <a:ext cx="57912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1" name="Rectangle 7">
            <a:extLst>
              <a:ext uri="{FF2B5EF4-FFF2-40B4-BE49-F238E27FC236}">
                <a16:creationId xmlns:a16="http://schemas.microsoft.com/office/drawing/2014/main" id="{0964ABB7-629D-7B89-10FB-1B626A6D9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59964" y="65880"/>
            <a:ext cx="6824472" cy="1325563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  <a:ea typeface="新細明體" panose="02020500000000000000" pitchFamily="18" charset="-120"/>
              </a:rPr>
              <a:t>Gain Ratio and Intrinsic Info.</a:t>
            </a:r>
          </a:p>
        </p:txBody>
      </p:sp>
      <p:sp>
        <p:nvSpPr>
          <p:cNvPr id="236552" name="Rectangle 8">
            <a:extLst>
              <a:ext uri="{FF2B5EF4-FFF2-40B4-BE49-F238E27FC236}">
                <a16:creationId xmlns:a16="http://schemas.microsoft.com/office/drawing/2014/main" id="{93136B8D-23FA-5145-BC50-3DD979275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371600"/>
            <a:ext cx="9729216" cy="3124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Intrinsic information: entropy of distribution of instances into branches </a:t>
            </a:r>
          </a:p>
          <a:p>
            <a:endParaRPr lang="en-US" altLang="zh-TW" sz="2400" i="1" dirty="0">
              <a:ea typeface="新細明體" panose="02020500000000000000" pitchFamily="18" charset="-120"/>
            </a:endParaRPr>
          </a:p>
          <a:p>
            <a:endParaRPr lang="en-US" altLang="zh-TW" sz="2400" i="1" dirty="0">
              <a:ea typeface="新細明體" panose="02020500000000000000" pitchFamily="18" charset="-120"/>
            </a:endParaRPr>
          </a:p>
          <a:p>
            <a:endParaRPr lang="en-US" altLang="zh-TW" sz="2400" i="1" dirty="0">
              <a:ea typeface="新細明體" panose="02020500000000000000" pitchFamily="18" charset="-120"/>
            </a:endParaRPr>
          </a:p>
          <a:p>
            <a:endParaRPr lang="en-US" altLang="zh-TW" sz="2400" i="1" dirty="0">
              <a:ea typeface="新細明體" panose="02020500000000000000" pitchFamily="18" charset="-120"/>
            </a:endParaRPr>
          </a:p>
          <a:p>
            <a:r>
              <a:rPr lang="en-US" altLang="zh-TW" sz="2400" i="1" dirty="0">
                <a:ea typeface="新細明體" panose="02020500000000000000" pitchFamily="18" charset="-120"/>
              </a:rPr>
              <a:t>Gain ratio</a:t>
            </a:r>
            <a:r>
              <a:rPr lang="en-US" altLang="zh-TW" sz="2400" dirty="0">
                <a:ea typeface="新細明體" panose="02020500000000000000" pitchFamily="18" charset="-120"/>
              </a:rPr>
              <a:t> normalizes info gain by:</a:t>
            </a:r>
          </a:p>
          <a:p>
            <a:pPr marL="1371600" lvl="3" indent="0">
              <a:buNone/>
            </a:pPr>
            <a:endParaRPr lang="en-US" altLang="zh-TW" sz="1600" dirty="0">
              <a:ea typeface="新細明體" panose="02020500000000000000" pitchFamily="18" charset="-120"/>
            </a:endParaRPr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3" y="65880"/>
            <a:ext cx="1635630" cy="662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91263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>
            <a:extLst>
              <a:ext uri="{FF2B5EF4-FFF2-40B4-BE49-F238E27FC236}">
                <a16:creationId xmlns:a16="http://schemas.microsoft.com/office/drawing/2014/main" id="{1A099386-7526-048D-4FCF-FE9A1934B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06824" y="0"/>
            <a:ext cx="2560320" cy="845285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  <a:ea typeface="新細明體" panose="02020500000000000000" pitchFamily="18" charset="-120"/>
              </a:rPr>
              <a:t>Gain ratio</a:t>
            </a:r>
          </a:p>
        </p:txBody>
      </p:sp>
      <p:sp>
        <p:nvSpPr>
          <p:cNvPr id="235523" name="Rectangle 3">
            <a:extLst>
              <a:ext uri="{FF2B5EF4-FFF2-40B4-BE49-F238E27FC236}">
                <a16:creationId xmlns:a16="http://schemas.microsoft.com/office/drawing/2014/main" id="{615DCE87-6252-19A0-15F0-BDF57F22CD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9808" y="1011283"/>
            <a:ext cx="10945368" cy="463187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Suppose we have a dataset of </a:t>
            </a:r>
            <a:r>
              <a:rPr lang="en-IN" b="1" dirty="0"/>
              <a:t>10 students</a:t>
            </a:r>
            <a:r>
              <a:rPr lang="en-IN" dirty="0"/>
              <a:t> deciding whether to play cricket, based on </a:t>
            </a:r>
            <a:r>
              <a:rPr lang="en-IN" b="1" dirty="0"/>
              <a:t>Weather (Sunny, Rainy)</a:t>
            </a:r>
            <a:r>
              <a:rPr lang="en-IN" dirty="0"/>
              <a:t>.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3" y="79397"/>
            <a:ext cx="1594066" cy="64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10879"/>
              </p:ext>
            </p:extLst>
          </p:nvPr>
        </p:nvGraphicFramePr>
        <p:xfrm>
          <a:off x="3414331" y="2142014"/>
          <a:ext cx="6905626" cy="4023360"/>
        </p:xfrm>
        <a:graphic>
          <a:graphicData uri="http://schemas.openxmlformats.org/drawingml/2006/table">
            <a:tbl>
              <a:tblPr/>
              <a:tblGrid>
                <a:gridCol w="3452813">
                  <a:extLst>
                    <a:ext uri="{9D8B030D-6E8A-4147-A177-3AD203B41FA5}">
                      <a16:colId xmlns:a16="http://schemas.microsoft.com/office/drawing/2014/main" val="1404346960"/>
                    </a:ext>
                  </a:extLst>
                </a:gridCol>
                <a:gridCol w="3452813">
                  <a:extLst>
                    <a:ext uri="{9D8B030D-6E8A-4147-A177-3AD203B41FA5}">
                      <a16:colId xmlns:a16="http://schemas.microsoft.com/office/drawing/2014/main" val="1959671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Weather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Play?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264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436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556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355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85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750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Rainy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287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Rainy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81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Rainy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19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Rainy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4899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Rainy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743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36297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>
            <a:extLst>
              <a:ext uri="{FF2B5EF4-FFF2-40B4-BE49-F238E27FC236}">
                <a16:creationId xmlns:a16="http://schemas.microsoft.com/office/drawing/2014/main" id="{1A099386-7526-048D-4FCF-FE9A1934B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06824" y="0"/>
            <a:ext cx="2560320" cy="845285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  <a:ea typeface="新細明體" panose="02020500000000000000" pitchFamily="18" charset="-120"/>
              </a:rPr>
              <a:t>Gain ratio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492" y="1131416"/>
            <a:ext cx="9033164" cy="5193184"/>
          </a:xfrm>
          <a:prstGeom prst="rect">
            <a:avLst/>
          </a:prstGeom>
        </p:spPr>
      </p:pic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3" y="79397"/>
            <a:ext cx="1594066" cy="64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78147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>
            <a:extLst>
              <a:ext uri="{FF2B5EF4-FFF2-40B4-BE49-F238E27FC236}">
                <a16:creationId xmlns:a16="http://schemas.microsoft.com/office/drawing/2014/main" id="{1A099386-7526-048D-4FCF-FE9A1934B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06824" y="0"/>
            <a:ext cx="2560320" cy="845285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  <a:ea typeface="新細明體" panose="02020500000000000000" pitchFamily="18" charset="-120"/>
              </a:rPr>
              <a:t>Gain ratio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1200689"/>
            <a:ext cx="8515349" cy="5076286"/>
          </a:xfrm>
          <a:prstGeom prst="rect">
            <a:avLst/>
          </a:prstGeom>
        </p:spPr>
      </p:pic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3" y="79397"/>
            <a:ext cx="1594066" cy="64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87492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764" y="2119745"/>
            <a:ext cx="9975272" cy="331123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marL="0" indent="0" algn="ctr">
              <a:buNone/>
            </a:pP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marL="0" indent="0" algn="ctr">
              <a:buNone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1915" y="364831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642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1870</Words>
  <Application>Microsoft Office PowerPoint</Application>
  <PresentationFormat>Widescreen</PresentationFormat>
  <Paragraphs>619</Paragraphs>
  <Slides>27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新細明體</vt:lpstr>
      <vt:lpstr>Arial</vt:lpstr>
      <vt:lpstr>Calibri</vt:lpstr>
      <vt:lpstr>Calibri Light</vt:lpstr>
      <vt:lpstr>Cambria Math</vt:lpstr>
      <vt:lpstr>Gill Sans MT</vt:lpstr>
      <vt:lpstr>Helvetica</vt:lpstr>
      <vt:lpstr>Poppins</vt:lpstr>
      <vt:lpstr>Times New Roman</vt:lpstr>
      <vt:lpstr>Wingdings</vt:lpstr>
      <vt:lpstr>Office Theme</vt:lpstr>
      <vt:lpstr>Microsoft Excel 97-2003 Worksheet</vt:lpstr>
      <vt:lpstr>Bitmap Image</vt:lpstr>
      <vt:lpstr>Equation</vt:lpstr>
      <vt:lpstr>ARTIFICIAL INTELLIGENCE  &amp;  MACHINE LEARNING </vt:lpstr>
      <vt:lpstr>Decision Tree</vt:lpstr>
      <vt:lpstr>Decision Tree</vt:lpstr>
      <vt:lpstr>Algorithm for Decision Tree Induction</vt:lpstr>
      <vt:lpstr>Decision Tree Induction: An Example</vt:lpstr>
      <vt:lpstr>Splitting Based on Nominal Attributes</vt:lpstr>
      <vt:lpstr>Splitting Based on Ordinal Attributes</vt:lpstr>
      <vt:lpstr>Choosing the Best Attribute</vt:lpstr>
      <vt:lpstr>Decision Tree Training</vt:lpstr>
      <vt:lpstr>Entropy</vt:lpstr>
      <vt:lpstr>Entropy</vt:lpstr>
      <vt:lpstr>Entropy</vt:lpstr>
      <vt:lpstr>Entropy</vt:lpstr>
      <vt:lpstr>Entropy</vt:lpstr>
      <vt:lpstr>Entropy</vt:lpstr>
      <vt:lpstr>Entropy</vt:lpstr>
      <vt:lpstr>Information Gain</vt:lpstr>
      <vt:lpstr>Information Gain Example </vt:lpstr>
      <vt:lpstr>Information Gain Example </vt:lpstr>
      <vt:lpstr>Example: Information Gain: Outlook</vt:lpstr>
      <vt:lpstr>Example: Information Gain: Humidity</vt:lpstr>
      <vt:lpstr>Gain ratio</vt:lpstr>
      <vt:lpstr>Gain Ratio and Intrinsic Info.</vt:lpstr>
      <vt:lpstr>Gain ratio</vt:lpstr>
      <vt:lpstr>Gain ratio</vt:lpstr>
      <vt:lpstr>Gain ratio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 &amp;  MACHINE LEARNING</dc:title>
  <dc:creator>Saziya Tabbassum</dc:creator>
  <cp:lastModifiedBy>P Manika Prasuna</cp:lastModifiedBy>
  <cp:revision>126</cp:revision>
  <dcterms:created xsi:type="dcterms:W3CDTF">2025-07-04T09:29:45Z</dcterms:created>
  <dcterms:modified xsi:type="dcterms:W3CDTF">2025-09-15T10:14:25Z</dcterms:modified>
</cp:coreProperties>
</file>