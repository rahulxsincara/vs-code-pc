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58" r:id="rId4"/>
    <p:sldId id="260" r:id="rId5"/>
    <p:sldId id="259" r:id="rId6"/>
    <p:sldId id="261" r:id="rId7"/>
    <p:sldId id="262" r:id="rId8"/>
    <p:sldId id="263" r:id="rId9"/>
    <p:sldId id="265" r:id="rId10"/>
    <p:sldId id="266" r:id="rId11"/>
    <p:sldId id="264" r:id="rId12"/>
    <p:sldId id="268" r:id="rId13"/>
    <p:sldId id="269" r:id="rId14"/>
    <p:sldId id="267" r:id="rId15"/>
    <p:sldId id="270" r:id="rId16"/>
    <p:sldId id="272"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324" r:id="rId32"/>
    <p:sldId id="332" r:id="rId33"/>
    <p:sldId id="371" r:id="rId34"/>
    <p:sldId id="342" r:id="rId35"/>
    <p:sldId id="344" r:id="rId36"/>
    <p:sldId id="364" r:id="rId37"/>
    <p:sldId id="352" r:id="rId38"/>
    <p:sldId id="370" r:id="rId39"/>
    <p:sldId id="287" r:id="rId40"/>
    <p:sldId id="288" r:id="rId41"/>
    <p:sldId id="290" r:id="rId42"/>
    <p:sldId id="289" r:id="rId43"/>
    <p:sldId id="28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64" autoAdjust="0"/>
  </p:normalViewPr>
  <p:slideViewPr>
    <p:cSldViewPr snapToGrid="0">
      <p:cViewPr>
        <p:scale>
          <a:sx n="70" d="100"/>
          <a:sy n="70" d="100"/>
        </p:scale>
        <p:origin x="5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D43E9-2CE6-4F67-B7A4-2A01ABEBE686}"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21B1F1-345D-4B9A-B3D4-E61B50D32875}" type="slidenum">
              <a:rPr lang="en-US" smtClean="0"/>
              <a:t>‹#›</a:t>
            </a:fld>
            <a:endParaRPr lang="en-US"/>
          </a:p>
        </p:txBody>
      </p:sp>
    </p:spTree>
    <p:extLst>
      <p:ext uri="{BB962C8B-B14F-4D97-AF65-F5344CB8AC3E}">
        <p14:creationId xmlns:p14="http://schemas.microsoft.com/office/powerpoint/2010/main" val="492985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620726C-779F-44FD-976E-4B51B832509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2357325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20726C-779F-44FD-976E-4B51B832509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1503982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620726C-779F-44FD-976E-4B51B832509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812907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620726C-779F-44FD-976E-4B51B832509B}"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2676244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620726C-779F-44FD-976E-4B51B832509B}" type="datetimeFigureOut">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862417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620726C-779F-44FD-976E-4B51B832509B}"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507648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20726C-779F-44FD-976E-4B51B832509B}" type="datetimeFigureOut">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422074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620726C-779F-44FD-976E-4B51B832509B}"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10692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620726C-779F-44FD-976E-4B51B832509B}"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362526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20726C-779F-44FD-976E-4B51B832509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3337338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20726C-779F-44FD-976E-4B51B832509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A21B5E-90B2-46CA-B54A-4CF6B1C7301C}" type="slidenum">
              <a:rPr lang="en-US" smtClean="0"/>
              <a:t>‹#›</a:t>
            </a:fld>
            <a:endParaRPr lang="en-US"/>
          </a:p>
        </p:txBody>
      </p:sp>
    </p:spTree>
    <p:extLst>
      <p:ext uri="{BB962C8B-B14F-4D97-AF65-F5344CB8AC3E}">
        <p14:creationId xmlns:p14="http://schemas.microsoft.com/office/powerpoint/2010/main" val="584922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20726C-779F-44FD-976E-4B51B832509B}" type="datetimeFigureOut">
              <a:rPr lang="en-US" smtClean="0"/>
              <a:t>9/22/2025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A21B5E-90B2-46CA-B54A-4CF6B1C7301C}" type="slidenum">
              <a:rPr lang="en-US" smtClean="0"/>
              <a:t>‹#›</a:t>
            </a:fld>
            <a:endParaRPr lang="en-US"/>
          </a:p>
        </p:txBody>
      </p:sp>
    </p:spTree>
    <p:extLst>
      <p:ext uri="{BB962C8B-B14F-4D97-AF65-F5344CB8AC3E}">
        <p14:creationId xmlns:p14="http://schemas.microsoft.com/office/powerpoint/2010/main" val="1180375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3616037"/>
          </a:xfrm>
        </p:spPr>
        <p:txBody>
          <a:bodyPr>
            <a:normAutofit/>
          </a:bodyPr>
          <a:lstStyle/>
          <a:p>
            <a:r>
              <a:rPr lang="en-US" sz="4000" b="1" cap="all" dirty="0">
                <a:solidFill>
                  <a:schemeClr val="accent2">
                    <a:lumMod val="50000"/>
                  </a:schemeClr>
                </a:solidFill>
                <a:latin typeface="Gill Sans MT" panose="020B0502020104020203" pitchFamily="34" charset="0"/>
              </a:rPr>
              <a:t>ARTIFICIAL INTELLIGENCE </a:t>
            </a:r>
            <a:br>
              <a:rPr lang="en-US" sz="4000" b="1" cap="all" dirty="0">
                <a:solidFill>
                  <a:schemeClr val="accent2">
                    <a:lumMod val="50000"/>
                  </a:schemeClr>
                </a:solidFill>
                <a:latin typeface="Gill Sans MT" panose="020B0502020104020203" pitchFamily="34" charset="0"/>
              </a:rPr>
            </a:br>
            <a:r>
              <a:rPr lang="en-US" sz="4000" b="1" cap="all" dirty="0">
                <a:solidFill>
                  <a:schemeClr val="accent2">
                    <a:lumMod val="50000"/>
                  </a:schemeClr>
                </a:solidFill>
                <a:latin typeface="Gill Sans MT" panose="020B0502020104020203" pitchFamily="34" charset="0"/>
              </a:rPr>
              <a:t>&amp; </a:t>
            </a:r>
            <a:br>
              <a:rPr lang="en-US" sz="4000" b="1" cap="all" dirty="0">
                <a:solidFill>
                  <a:schemeClr val="accent2">
                    <a:lumMod val="50000"/>
                  </a:schemeClr>
                </a:solidFill>
                <a:latin typeface="Gill Sans MT" panose="020B0502020104020203" pitchFamily="34" charset="0"/>
              </a:rPr>
            </a:br>
            <a:r>
              <a:rPr lang="en-US" sz="4000" b="1" cap="all" dirty="0">
                <a:solidFill>
                  <a:schemeClr val="accent2">
                    <a:lumMod val="50000"/>
                  </a:schemeClr>
                </a:solidFill>
                <a:latin typeface="Gill Sans MT" panose="020B0502020104020203" pitchFamily="34" charset="0"/>
              </a:rPr>
              <a:t>MACHINE LEARNING</a:t>
            </a:r>
            <a:br>
              <a:rPr lang="en-IN" sz="4000" dirty="0">
                <a:solidFill>
                  <a:schemeClr val="accent2">
                    <a:lumMod val="50000"/>
                  </a:schemeClr>
                </a:solidFill>
                <a:latin typeface="Gill Sans MT" panose="020B0502020104020203" pitchFamily="34" charset="0"/>
              </a:rPr>
            </a:br>
            <a:endParaRPr lang="en-US" sz="4000" dirty="0">
              <a:latin typeface="Gill Sans MT" panose="020B0502020104020203" pitchFamily="34" charset="0"/>
            </a:endParaRPr>
          </a:p>
        </p:txBody>
      </p:sp>
      <p:sp>
        <p:nvSpPr>
          <p:cNvPr id="3" name="Subtitle 2"/>
          <p:cNvSpPr>
            <a:spLocks noGrp="1"/>
          </p:cNvSpPr>
          <p:nvPr>
            <p:ph type="subTitle" idx="1"/>
          </p:nvPr>
        </p:nvSpPr>
        <p:spPr>
          <a:xfrm>
            <a:off x="1745672" y="3354634"/>
            <a:ext cx="8922327" cy="1314348"/>
          </a:xfrm>
        </p:spPr>
        <p:txBody>
          <a:bodyPr/>
          <a:lstStyle/>
          <a:p>
            <a:r>
              <a:rPr lang="en-US" sz="3000" b="1" cap="all" dirty="0">
                <a:latin typeface="Gill Sans MT" panose="020B0502020104020203" pitchFamily="34" charset="0"/>
              </a:rPr>
              <a:t>SESSION NO : 31</a:t>
            </a:r>
          </a:p>
          <a:p>
            <a:endParaRPr lang="en-IN" sz="3000" dirty="0">
              <a:latin typeface="Gill Sans MT" panose="020B0502020104020203" pitchFamily="34" charset="0"/>
            </a:endParaRPr>
          </a:p>
          <a:p>
            <a:endParaRPr lang="en-US" dirty="0"/>
          </a:p>
        </p:txBody>
      </p:sp>
      <p:pic>
        <p:nvPicPr>
          <p:cNvPr id="4"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85" y="109267"/>
            <a:ext cx="1506197" cy="610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963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DF084898-79D2-B89A-996F-3BA6126D0F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828" y="669058"/>
            <a:ext cx="11604171" cy="5814422"/>
          </a:xfrm>
          <a:prstGeom prst="rect">
            <a:avLst/>
          </a:prstGeom>
        </p:spPr>
      </p:pic>
    </p:spTree>
    <p:extLst>
      <p:ext uri="{BB962C8B-B14F-4D97-AF65-F5344CB8AC3E}">
        <p14:creationId xmlns:p14="http://schemas.microsoft.com/office/powerpoint/2010/main" val="3156172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F23ED-46CF-2CAC-2A13-6F9D29A83EC7}"/>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684ED0FF-48E5-F14E-B133-3EDAACBE4A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DABAD1E-1EB1-A536-3C0F-C989FBDE35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897" y="480905"/>
            <a:ext cx="10737273" cy="5896190"/>
          </a:xfrm>
          <a:prstGeom prst="rect">
            <a:avLst/>
          </a:prstGeom>
        </p:spPr>
      </p:pic>
    </p:spTree>
    <p:extLst>
      <p:ext uri="{BB962C8B-B14F-4D97-AF65-F5344CB8AC3E}">
        <p14:creationId xmlns:p14="http://schemas.microsoft.com/office/powerpoint/2010/main" val="1001037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DA6DC-45E3-9FA6-70C6-254A3168F1DC}"/>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624A027F-4286-2C52-4178-B87C1CE93A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0C0581E-8E53-8D9C-A6E6-9E0C1FFD43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300" y="1081437"/>
            <a:ext cx="11197399" cy="4695126"/>
          </a:xfrm>
          <a:prstGeom prst="rect">
            <a:avLst/>
          </a:prstGeom>
        </p:spPr>
      </p:pic>
    </p:spTree>
    <p:extLst>
      <p:ext uri="{BB962C8B-B14F-4D97-AF65-F5344CB8AC3E}">
        <p14:creationId xmlns:p14="http://schemas.microsoft.com/office/powerpoint/2010/main" val="666348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0D4EB-692D-CFD4-D5FC-B50FEA861A12}"/>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C79864B7-BAE1-F51B-CC65-5A49B630937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090A9F6-CEAD-6B99-95F6-357D2687D2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363" y="829801"/>
            <a:ext cx="10737273" cy="5748645"/>
          </a:xfrm>
          <a:prstGeom prst="rect">
            <a:avLst/>
          </a:prstGeom>
        </p:spPr>
      </p:pic>
    </p:spTree>
    <p:extLst>
      <p:ext uri="{BB962C8B-B14F-4D97-AF65-F5344CB8AC3E}">
        <p14:creationId xmlns:p14="http://schemas.microsoft.com/office/powerpoint/2010/main" val="1968179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92FEE-B142-C79B-D322-5A3DCD19761B}"/>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13294666-1692-4DAA-F999-68DDBF7943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85C9C66-7EE4-E055-7AA5-04AA25F15C17}"/>
              </a:ext>
            </a:extLst>
          </p:cNvPr>
          <p:cNvPicPr>
            <a:picLocks noChangeAspect="1"/>
          </p:cNvPicPr>
          <p:nvPr/>
        </p:nvPicPr>
        <p:blipFill>
          <a:blip r:embed="rId3">
            <a:extLst>
              <a:ext uri="{28A0092B-C50C-407E-A947-70E740481C1C}">
                <a14:useLocalDpi xmlns:a14="http://schemas.microsoft.com/office/drawing/2010/main" val="0"/>
              </a:ext>
            </a:extLst>
          </a:blip>
          <a:srcRect r="2163"/>
          <a:stretch>
            <a:fillRect/>
          </a:stretch>
        </p:blipFill>
        <p:spPr>
          <a:xfrm>
            <a:off x="1632858" y="354979"/>
            <a:ext cx="9633856" cy="6045821"/>
          </a:xfrm>
          <a:prstGeom prst="rect">
            <a:avLst/>
          </a:prstGeom>
        </p:spPr>
      </p:pic>
    </p:spTree>
    <p:extLst>
      <p:ext uri="{BB962C8B-B14F-4D97-AF65-F5344CB8AC3E}">
        <p14:creationId xmlns:p14="http://schemas.microsoft.com/office/powerpoint/2010/main" val="679157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372BE-12AD-3D7B-9CA1-B3EE113B80DB}"/>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4923861E-57B8-2BF1-A1B9-6277D884851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5FA48B9-A72B-8242-AC9D-6AE8C2DD65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9329" y="768222"/>
            <a:ext cx="9895125" cy="5994993"/>
          </a:xfrm>
          <a:prstGeom prst="rect">
            <a:avLst/>
          </a:prstGeom>
        </p:spPr>
      </p:pic>
    </p:spTree>
    <p:extLst>
      <p:ext uri="{BB962C8B-B14F-4D97-AF65-F5344CB8AC3E}">
        <p14:creationId xmlns:p14="http://schemas.microsoft.com/office/powerpoint/2010/main" val="4022837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66F22-B721-4B81-AEA4-39C8A9F2EBB2}"/>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F4FDDF28-1B00-E9EF-3145-6EF9B0C502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1F6091F-2B5B-6809-0FBD-9C64430675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1458" y="1043130"/>
            <a:ext cx="9288260" cy="5662927"/>
          </a:xfrm>
          <a:prstGeom prst="rect">
            <a:avLst/>
          </a:prstGeom>
        </p:spPr>
      </p:pic>
    </p:spTree>
    <p:extLst>
      <p:ext uri="{BB962C8B-B14F-4D97-AF65-F5344CB8AC3E}">
        <p14:creationId xmlns:p14="http://schemas.microsoft.com/office/powerpoint/2010/main" val="572412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6BBC7-133A-4A0E-6699-D0F61DA772D6}"/>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8D3C4ABB-B0DB-EE3C-5285-76D1311BB3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2074F81-3FAA-E50D-C45E-573CDBF30A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0414" y="947391"/>
            <a:ext cx="9831172" cy="4963218"/>
          </a:xfrm>
          <a:prstGeom prst="rect">
            <a:avLst/>
          </a:prstGeom>
        </p:spPr>
      </p:pic>
    </p:spTree>
    <p:extLst>
      <p:ext uri="{BB962C8B-B14F-4D97-AF65-F5344CB8AC3E}">
        <p14:creationId xmlns:p14="http://schemas.microsoft.com/office/powerpoint/2010/main" val="2043589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64981-8F7E-9306-ADA9-F347808D31E0}"/>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E87FFBD3-15C8-F74D-2B99-9543D7C02B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640ABC4-F303-C1E2-3F80-EEC54B22AD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7072" y="390101"/>
            <a:ext cx="9897856" cy="6077798"/>
          </a:xfrm>
          <a:prstGeom prst="rect">
            <a:avLst/>
          </a:prstGeom>
        </p:spPr>
      </p:pic>
    </p:spTree>
    <p:extLst>
      <p:ext uri="{BB962C8B-B14F-4D97-AF65-F5344CB8AC3E}">
        <p14:creationId xmlns:p14="http://schemas.microsoft.com/office/powerpoint/2010/main" val="1335074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CFDD1-3AF2-3590-FB4A-B64A9B02DD95}"/>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1F71AB4F-831F-7719-8970-C3634DAE08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507BBF2-1EAC-876F-749D-B0837B621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308" y="399627"/>
            <a:ext cx="10269383" cy="6058746"/>
          </a:xfrm>
          <a:prstGeom prst="rect">
            <a:avLst/>
          </a:prstGeom>
        </p:spPr>
      </p:pic>
    </p:spTree>
    <p:extLst>
      <p:ext uri="{BB962C8B-B14F-4D97-AF65-F5344CB8AC3E}">
        <p14:creationId xmlns:p14="http://schemas.microsoft.com/office/powerpoint/2010/main" val="1446756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F2F0C-B618-B8E8-3AAA-559B450AA4C5}"/>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3E918A2A-8815-6D0B-5C8B-490F3974FF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13A30D7-1B20-2A4D-29FA-694C1E0750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150" y="223390"/>
            <a:ext cx="10021699" cy="6411220"/>
          </a:xfrm>
          <a:prstGeom prst="rect">
            <a:avLst/>
          </a:prstGeom>
        </p:spPr>
      </p:pic>
    </p:spTree>
    <p:extLst>
      <p:ext uri="{BB962C8B-B14F-4D97-AF65-F5344CB8AC3E}">
        <p14:creationId xmlns:p14="http://schemas.microsoft.com/office/powerpoint/2010/main" val="3627600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8102D-31F9-1B40-3976-015FCD46AC2F}"/>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5011616A-27B6-7BC6-9EA7-7982C7818F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7907AAD-8B83-DF98-1487-633690E49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571" y="780680"/>
            <a:ext cx="10078857" cy="5296639"/>
          </a:xfrm>
          <a:prstGeom prst="rect">
            <a:avLst/>
          </a:prstGeom>
        </p:spPr>
      </p:pic>
    </p:spTree>
    <p:extLst>
      <p:ext uri="{BB962C8B-B14F-4D97-AF65-F5344CB8AC3E}">
        <p14:creationId xmlns:p14="http://schemas.microsoft.com/office/powerpoint/2010/main" val="2937908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86459-824A-E7F3-BEBD-DC88E2950735}"/>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F7ADFB29-D656-5279-13FE-449D87F375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B47F816-C83B-338C-11D4-9F31CA8749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0467" y="628259"/>
            <a:ext cx="9431066" cy="5601482"/>
          </a:xfrm>
          <a:prstGeom prst="rect">
            <a:avLst/>
          </a:prstGeom>
        </p:spPr>
      </p:pic>
    </p:spTree>
    <p:extLst>
      <p:ext uri="{BB962C8B-B14F-4D97-AF65-F5344CB8AC3E}">
        <p14:creationId xmlns:p14="http://schemas.microsoft.com/office/powerpoint/2010/main" val="78801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30E1F-0670-4B56-F399-A516BE89E39B}"/>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BAC02EF1-5C42-FAED-8437-A04FD74BA6E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346E62A-4B9A-3C9C-58D7-94AD0F163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1020" y="0"/>
            <a:ext cx="9069960" cy="6858000"/>
          </a:xfrm>
          <a:prstGeom prst="rect">
            <a:avLst/>
          </a:prstGeom>
        </p:spPr>
      </p:pic>
    </p:spTree>
    <p:extLst>
      <p:ext uri="{BB962C8B-B14F-4D97-AF65-F5344CB8AC3E}">
        <p14:creationId xmlns:p14="http://schemas.microsoft.com/office/powerpoint/2010/main" val="717628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C5265-EE6C-B2C1-6577-FD64BD818F1C}"/>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8EC1278B-80C9-F262-45CD-5C6390C591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E4F4DB6-7AD9-9B67-872B-9A9828FFB7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6177" y="32863"/>
            <a:ext cx="10210780" cy="6792273"/>
          </a:xfrm>
          <a:prstGeom prst="rect">
            <a:avLst/>
          </a:prstGeom>
        </p:spPr>
      </p:pic>
    </p:spTree>
    <p:extLst>
      <p:ext uri="{BB962C8B-B14F-4D97-AF65-F5344CB8AC3E}">
        <p14:creationId xmlns:p14="http://schemas.microsoft.com/office/powerpoint/2010/main" val="1921827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96269-2E09-750D-4949-89867730BF21}"/>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48C1A54A-3333-E24A-1AE3-A689750709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C58ADB0-5C46-52F3-01D2-0332AE1931B7}"/>
              </a:ext>
            </a:extLst>
          </p:cNvPr>
          <p:cNvPicPr>
            <a:picLocks noChangeAspect="1"/>
          </p:cNvPicPr>
          <p:nvPr/>
        </p:nvPicPr>
        <p:blipFill>
          <a:blip r:embed="rId3">
            <a:extLst>
              <a:ext uri="{28A0092B-C50C-407E-A947-70E740481C1C}">
                <a14:useLocalDpi xmlns:a14="http://schemas.microsoft.com/office/drawing/2010/main" val="0"/>
              </a:ext>
            </a:extLst>
          </a:blip>
          <a:srcRect r="5350"/>
          <a:stretch>
            <a:fillRect/>
          </a:stretch>
        </p:blipFill>
        <p:spPr>
          <a:xfrm>
            <a:off x="1271015" y="591520"/>
            <a:ext cx="10049257" cy="6033563"/>
          </a:xfrm>
          <a:prstGeom prst="rect">
            <a:avLst/>
          </a:prstGeom>
        </p:spPr>
      </p:pic>
    </p:spTree>
    <p:extLst>
      <p:ext uri="{BB962C8B-B14F-4D97-AF65-F5344CB8AC3E}">
        <p14:creationId xmlns:p14="http://schemas.microsoft.com/office/powerpoint/2010/main" val="3635531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9A3E8-F573-57F2-9DB8-9A691CE3F6A8}"/>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E25E195C-00FC-971C-419A-FFEA2001A1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9B17A08-C2B4-2C5E-8D24-521D6F3CFD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9335" y="649634"/>
            <a:ext cx="9923751" cy="5823028"/>
          </a:xfrm>
          <a:prstGeom prst="rect">
            <a:avLst/>
          </a:prstGeom>
        </p:spPr>
      </p:pic>
    </p:spTree>
    <p:extLst>
      <p:ext uri="{BB962C8B-B14F-4D97-AF65-F5344CB8AC3E}">
        <p14:creationId xmlns:p14="http://schemas.microsoft.com/office/powerpoint/2010/main" val="3500487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153A2-9BB4-D81C-E4F5-7959798345E6}"/>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8E400690-5515-C362-AC2B-9E687522B36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E7390AB-9F39-C6FE-08EF-FBA15988CF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492" y="1114102"/>
            <a:ext cx="10317015" cy="4629796"/>
          </a:xfrm>
          <a:prstGeom prst="rect">
            <a:avLst/>
          </a:prstGeom>
        </p:spPr>
      </p:pic>
    </p:spTree>
    <p:extLst>
      <p:ext uri="{BB962C8B-B14F-4D97-AF65-F5344CB8AC3E}">
        <p14:creationId xmlns:p14="http://schemas.microsoft.com/office/powerpoint/2010/main" val="2503452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CADC2-27F0-4EEA-E5E5-71B0669DCB24}"/>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4D7757F1-EEA1-CC91-A150-06EABE91BC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9E9015C-E170-9908-EF9B-CD98B18C77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650" y="223390"/>
            <a:ext cx="10926700" cy="6411220"/>
          </a:xfrm>
          <a:prstGeom prst="rect">
            <a:avLst/>
          </a:prstGeom>
        </p:spPr>
      </p:pic>
    </p:spTree>
    <p:extLst>
      <p:ext uri="{BB962C8B-B14F-4D97-AF65-F5344CB8AC3E}">
        <p14:creationId xmlns:p14="http://schemas.microsoft.com/office/powerpoint/2010/main" val="865455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B303-9D0B-4CB3-B036-A79DA4EE434A}"/>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F9426B58-D0A3-8BCE-7ECB-DB755CC890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2DB4B8D-3D6D-AADE-C372-0381C2E8CE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966" y="309127"/>
            <a:ext cx="10336067" cy="6239746"/>
          </a:xfrm>
          <a:prstGeom prst="rect">
            <a:avLst/>
          </a:prstGeom>
        </p:spPr>
      </p:pic>
    </p:spTree>
    <p:extLst>
      <p:ext uri="{BB962C8B-B14F-4D97-AF65-F5344CB8AC3E}">
        <p14:creationId xmlns:p14="http://schemas.microsoft.com/office/powerpoint/2010/main" val="4151577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E7371-FE5F-BBB9-D60C-144E82100A31}"/>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BD44A060-1867-A23F-1645-C521ED6AFE4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4FE7575-A55F-4EDB-2FF9-16D73211DD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782" y="594917"/>
            <a:ext cx="10288436" cy="5668166"/>
          </a:xfrm>
          <a:prstGeom prst="rect">
            <a:avLst/>
          </a:prstGeom>
        </p:spPr>
      </p:pic>
    </p:spTree>
    <p:extLst>
      <p:ext uri="{BB962C8B-B14F-4D97-AF65-F5344CB8AC3E}">
        <p14:creationId xmlns:p14="http://schemas.microsoft.com/office/powerpoint/2010/main" val="413984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555F7-E3B2-15B0-6C5F-B32214C18A16}"/>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4D9F786D-C291-EA34-7F8E-B976F198EE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AA1FD12-7A5A-6776-42D0-B6B772B0A1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387" y="423443"/>
            <a:ext cx="10393225" cy="6011114"/>
          </a:xfrm>
          <a:prstGeom prst="rect">
            <a:avLst/>
          </a:prstGeom>
        </p:spPr>
      </p:pic>
    </p:spTree>
    <p:extLst>
      <p:ext uri="{BB962C8B-B14F-4D97-AF65-F5344CB8AC3E}">
        <p14:creationId xmlns:p14="http://schemas.microsoft.com/office/powerpoint/2010/main" val="3255931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D5BC7-5BBB-9484-ADCA-353919D731E8}"/>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7C5FD834-A27A-4EEF-8E81-29C0AF053E6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F394701-C37D-B888-9617-893549812E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787" y="0"/>
            <a:ext cx="10258425" cy="6858000"/>
          </a:xfrm>
          <a:prstGeom prst="rect">
            <a:avLst/>
          </a:prstGeom>
        </p:spPr>
      </p:pic>
    </p:spTree>
    <p:extLst>
      <p:ext uri="{BB962C8B-B14F-4D97-AF65-F5344CB8AC3E}">
        <p14:creationId xmlns:p14="http://schemas.microsoft.com/office/powerpoint/2010/main" val="2801821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E1AA3-3026-C488-101D-81C7EEF3D5E2}"/>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4D422CA7-8D3C-E2A4-DED8-26FC5B1EC9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80876FE-0794-596E-9111-558F0CB7BF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256" y="213864"/>
            <a:ext cx="9945488" cy="6430272"/>
          </a:xfrm>
          <a:prstGeom prst="rect">
            <a:avLst/>
          </a:prstGeom>
        </p:spPr>
      </p:pic>
    </p:spTree>
    <p:extLst>
      <p:ext uri="{BB962C8B-B14F-4D97-AF65-F5344CB8AC3E}">
        <p14:creationId xmlns:p14="http://schemas.microsoft.com/office/powerpoint/2010/main" val="1274043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EC6DE-43F7-54B7-99B2-2781E4EFCAB5}"/>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0BCF242F-F252-497A-BBFB-8BDD56F8097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4A8ECA8-A800-2A4C-D05C-FFF5DECDB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0861" y="899759"/>
            <a:ext cx="10050278" cy="5058481"/>
          </a:xfrm>
          <a:prstGeom prst="rect">
            <a:avLst/>
          </a:prstGeom>
        </p:spPr>
      </p:pic>
    </p:spTree>
    <p:extLst>
      <p:ext uri="{BB962C8B-B14F-4D97-AF65-F5344CB8AC3E}">
        <p14:creationId xmlns:p14="http://schemas.microsoft.com/office/powerpoint/2010/main" val="1336956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735FB-02AF-4C6D-5723-A90BDF69ADC0}"/>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708E355A-4DA2-4F39-0E8F-A0A241040DA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9F9D8D7-2EC8-EC73-5962-B9A1297311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1196" y="142416"/>
            <a:ext cx="10402752" cy="6573167"/>
          </a:xfrm>
          <a:prstGeom prst="rect">
            <a:avLst/>
          </a:prstGeom>
        </p:spPr>
      </p:pic>
    </p:spTree>
    <p:extLst>
      <p:ext uri="{BB962C8B-B14F-4D97-AF65-F5344CB8AC3E}">
        <p14:creationId xmlns:p14="http://schemas.microsoft.com/office/powerpoint/2010/main" val="3527297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FDBFE-8DE1-44F9-9B1C-0B74DCC9B5AB}"/>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0852F0CD-BEB1-F033-EC10-1F7E0C4C86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46FE826-B28E-5DA8-148A-94D310FFF9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0099" y="1199839"/>
            <a:ext cx="8611802" cy="4458322"/>
          </a:xfrm>
          <a:prstGeom prst="rect">
            <a:avLst/>
          </a:prstGeom>
        </p:spPr>
      </p:pic>
    </p:spTree>
    <p:extLst>
      <p:ext uri="{BB962C8B-B14F-4D97-AF65-F5344CB8AC3E}">
        <p14:creationId xmlns:p14="http://schemas.microsoft.com/office/powerpoint/2010/main" val="3063759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D224F-4B86-97CD-545B-9236B22235AE}"/>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260185D6-C524-38FB-6350-0744A1968A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11D444E-F905-EFC0-5E7B-C24CC41BD9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624" y="532996"/>
            <a:ext cx="10040751" cy="5792008"/>
          </a:xfrm>
          <a:prstGeom prst="rect">
            <a:avLst/>
          </a:prstGeom>
        </p:spPr>
      </p:pic>
    </p:spTree>
    <p:extLst>
      <p:ext uri="{BB962C8B-B14F-4D97-AF65-F5344CB8AC3E}">
        <p14:creationId xmlns:p14="http://schemas.microsoft.com/office/powerpoint/2010/main" val="2556198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ABBFE-CB51-5626-1300-63E81FED6EF7}"/>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4D607163-29E5-4B3D-C869-CCF3F89BA8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188721C-975D-5602-EF66-509803314E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281" y="404390"/>
            <a:ext cx="11193437" cy="6049219"/>
          </a:xfrm>
          <a:prstGeom prst="rect">
            <a:avLst/>
          </a:prstGeom>
        </p:spPr>
      </p:pic>
    </p:spTree>
    <p:extLst>
      <p:ext uri="{BB962C8B-B14F-4D97-AF65-F5344CB8AC3E}">
        <p14:creationId xmlns:p14="http://schemas.microsoft.com/office/powerpoint/2010/main" val="2419962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675632" cy="594995"/>
          </a:xfrm>
        </p:spPr>
        <p:txBody>
          <a:bodyPr>
            <a:normAutofit fontScale="90000"/>
          </a:bodyPr>
          <a:lstStyle/>
          <a:p>
            <a:pPr fontAlgn="base"/>
            <a:r>
              <a:rPr lang="en-IN" dirty="0"/>
              <a:t>Gaussian Processes</a:t>
            </a:r>
            <a:endParaRPr lang="en-US" dirty="0"/>
          </a:p>
        </p:txBody>
      </p:sp>
      <p:sp>
        <p:nvSpPr>
          <p:cNvPr id="3" name="Content Placeholder 2"/>
          <p:cNvSpPr>
            <a:spLocks noGrp="1"/>
          </p:cNvSpPr>
          <p:nvPr>
            <p:ph idx="1"/>
          </p:nvPr>
        </p:nvSpPr>
        <p:spPr>
          <a:xfrm>
            <a:off x="838201" y="1147052"/>
            <a:ext cx="10765536" cy="5902972"/>
          </a:xfrm>
        </p:spPr>
        <p:txBody>
          <a:bodyPr>
            <a:normAutofit fontScale="92500" lnSpcReduction="10000"/>
          </a:bodyPr>
          <a:lstStyle/>
          <a:p>
            <a:pPr algn="just">
              <a:lnSpc>
                <a:spcPct val="150000"/>
              </a:lnSpc>
            </a:pPr>
            <a:r>
              <a:rPr lang="en-US" sz="2400" dirty="0"/>
              <a:t>   A potent machine learning approach that may be used for both regression and classification problems is Gaussian process classification or GPC. </a:t>
            </a:r>
          </a:p>
          <a:p>
            <a:pPr algn="just">
              <a:lnSpc>
                <a:spcPct val="150000"/>
              </a:lnSpc>
            </a:pPr>
            <a:r>
              <a:rPr lang="en-US" sz="2400" dirty="0"/>
              <a:t>It is predicated on the notion of using a probabilistic model that depicts a distribution across functions, known as a Gaussian process. </a:t>
            </a:r>
          </a:p>
          <a:p>
            <a:pPr algn="just">
              <a:lnSpc>
                <a:spcPct val="150000"/>
              </a:lnSpc>
            </a:pPr>
            <a:r>
              <a:rPr lang="en-US" sz="2400" dirty="0"/>
              <a:t>Using this distribution, one may forecast a function's output given a collection of input data.</a:t>
            </a:r>
          </a:p>
          <a:p>
            <a:pPr algn="just">
              <a:lnSpc>
                <a:spcPct val="150000"/>
              </a:lnSpc>
            </a:pPr>
            <a:r>
              <a:rPr lang="en-US" sz="2400" dirty="0"/>
              <a:t>GPC may be used in the classification context to forecast a new data point's class label based on its attributes. </a:t>
            </a:r>
          </a:p>
          <a:p>
            <a:pPr algn="just">
              <a:lnSpc>
                <a:spcPct val="150000"/>
              </a:lnSpc>
            </a:pPr>
            <a:r>
              <a:rPr lang="en-US" sz="2400" dirty="0"/>
              <a:t>This is accomplished by modelling the likelihood of each class label for the data point using the Gaussian process. Next, it is predicted that the class label with the greatest probability is the actual class label.</a:t>
            </a:r>
          </a:p>
          <a:p>
            <a:pPr algn="just">
              <a:lnSpc>
                <a:spcPct val="150000"/>
              </a:lnSpc>
              <a:buNone/>
            </a:pPr>
            <a:endParaRPr lang="en-US"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31</a:t>
            </a:fld>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5267"/>
          </a:xfrm>
        </p:spPr>
        <p:txBody>
          <a:bodyPr>
            <a:normAutofit fontScale="90000"/>
          </a:bodyPr>
          <a:lstStyle/>
          <a:p>
            <a:r>
              <a:rPr lang="en-US" b="1" dirty="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32</a:t>
            </a:fld>
            <a:endParaRPr lang="en-IN"/>
          </a:p>
        </p:txBody>
      </p:sp>
      <p:sp>
        <p:nvSpPr>
          <p:cNvPr id="5" name="Content Placeholder 4"/>
          <p:cNvSpPr>
            <a:spLocks noGrp="1"/>
          </p:cNvSpPr>
          <p:nvPr>
            <p:ph idx="1"/>
          </p:nvPr>
        </p:nvSpPr>
        <p:spPr>
          <a:xfrm>
            <a:off x="685801" y="914399"/>
            <a:ext cx="10369054" cy="5578475"/>
          </a:xfrm>
        </p:spPr>
        <p:txBody>
          <a:bodyPr>
            <a:normAutofit fontScale="92500"/>
          </a:bodyPr>
          <a:lstStyle/>
          <a:p>
            <a:pPr algn="just">
              <a:lnSpc>
                <a:spcPct val="150000"/>
              </a:lnSpc>
            </a:pPr>
            <a:r>
              <a:rPr lang="en-US" sz="2400" b="1" dirty="0"/>
              <a:t>Mean function: </a:t>
            </a:r>
            <a:r>
              <a:rPr lang="en-US" sz="2400" dirty="0"/>
              <a:t>The anticipated value of the GP at any given input is represented by the mean function.</a:t>
            </a:r>
          </a:p>
          <a:p>
            <a:pPr algn="just">
              <a:lnSpc>
                <a:spcPct val="150000"/>
              </a:lnSpc>
            </a:pPr>
            <a:r>
              <a:rPr lang="en-US" sz="2400" b="1" dirty="0"/>
              <a:t>Covariance function: </a:t>
            </a:r>
            <a:r>
              <a:rPr lang="en-US" sz="2400" dirty="0"/>
              <a:t>This function calculates how similar two inputs are to one another. It establishes the degree to which the GP at one input is dependent upon the GP at another.</a:t>
            </a:r>
          </a:p>
          <a:p>
            <a:pPr algn="just">
              <a:lnSpc>
                <a:spcPct val="150000"/>
              </a:lnSpc>
            </a:pPr>
            <a:r>
              <a:rPr lang="en-US" sz="2400" b="1" dirty="0" err="1"/>
              <a:t>Hyperparameters</a:t>
            </a:r>
            <a:r>
              <a:rPr lang="en-US" sz="2400" b="1" dirty="0"/>
              <a:t>:</a:t>
            </a:r>
            <a:r>
              <a:rPr lang="en-US" sz="2400" dirty="0"/>
              <a:t> The covariance function's shape is controlled by these parameters. Usually, a method known as marginal likelihood maximization is used to adjust them.</a:t>
            </a:r>
          </a:p>
          <a:p>
            <a:pPr algn="just">
              <a:lnSpc>
                <a:spcPct val="150000"/>
              </a:lnSpc>
            </a:pPr>
            <a:r>
              <a:rPr lang="en-US" sz="2400" b="1" dirty="0"/>
              <a:t>Marginal likelihood: </a:t>
            </a:r>
            <a:r>
              <a:rPr lang="en-US" sz="2400" dirty="0"/>
              <a:t>A GP model's fit to a particular set of data is measured by the marginal likelihood. It is used to determine the optimal </a:t>
            </a:r>
            <a:r>
              <a:rPr lang="en-US" sz="2400" dirty="0" err="1"/>
              <a:t>hyperparameters</a:t>
            </a:r>
            <a:r>
              <a:rPr lang="en-US" sz="2400" dirty="0"/>
              <a:t> and assess the performance of various models.</a:t>
            </a:r>
          </a:p>
          <a:p>
            <a:pPr>
              <a:lnSpc>
                <a:spcPct val="150000"/>
              </a:lnSpc>
            </a:pP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6AE7F-7FB8-76DD-E0E4-389E8881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6B10E-D448-10C5-3C84-81A3998861D5}"/>
              </a:ext>
            </a:extLst>
          </p:cNvPr>
          <p:cNvSpPr>
            <a:spLocks noGrp="1"/>
          </p:cNvSpPr>
          <p:nvPr>
            <p:ph type="title"/>
          </p:nvPr>
        </p:nvSpPr>
        <p:spPr>
          <a:xfrm>
            <a:off x="838200" y="525429"/>
            <a:ext cx="10515600" cy="365125"/>
          </a:xfrm>
        </p:spPr>
        <p:txBody>
          <a:bodyPr>
            <a:noAutofit/>
          </a:bodyPr>
          <a:lstStyle/>
          <a:p>
            <a:r>
              <a:rPr lang="en-US" sz="3200" b="1" dirty="0"/>
              <a:t>Concepts of Gaussian Process Classification</a:t>
            </a:r>
            <a:br>
              <a:rPr lang="en-US" sz="3200" b="1" dirty="0"/>
            </a:br>
            <a:endParaRPr lang="en-US" sz="3200" b="1" dirty="0"/>
          </a:p>
        </p:txBody>
      </p:sp>
      <p:sp>
        <p:nvSpPr>
          <p:cNvPr id="3" name="Content Placeholder 2">
            <a:extLst>
              <a:ext uri="{FF2B5EF4-FFF2-40B4-BE49-F238E27FC236}">
                <a16:creationId xmlns:a16="http://schemas.microsoft.com/office/drawing/2014/main" id="{CCBEE8A6-85F1-216E-E956-BA5218AAC239}"/>
              </a:ext>
            </a:extLst>
          </p:cNvPr>
          <p:cNvSpPr>
            <a:spLocks noGrp="1"/>
          </p:cNvSpPr>
          <p:nvPr>
            <p:ph idx="1"/>
          </p:nvPr>
        </p:nvSpPr>
        <p:spPr>
          <a:xfrm>
            <a:off x="1451579" y="2015732"/>
            <a:ext cx="9603275" cy="821253"/>
          </a:xfrm>
        </p:spPr>
        <p:txBody>
          <a:bodyPr>
            <a:normAutofit/>
          </a:bodyPr>
          <a:lstStyle/>
          <a:p>
            <a:pPr algn="just"/>
            <a:endParaRPr lang="en-US" dirty="0"/>
          </a:p>
          <a:p>
            <a:pPr algn="just"/>
            <a:endParaRPr lang="en-US" dirty="0"/>
          </a:p>
        </p:txBody>
      </p:sp>
      <p:sp>
        <p:nvSpPr>
          <p:cNvPr id="4" name="Slide Number Placeholder 3">
            <a:extLst>
              <a:ext uri="{FF2B5EF4-FFF2-40B4-BE49-F238E27FC236}">
                <a16:creationId xmlns:a16="http://schemas.microsoft.com/office/drawing/2014/main" id="{EA5830F0-6BAB-F59C-EDE6-5F4645923A8F}"/>
              </a:ext>
            </a:extLst>
          </p:cNvPr>
          <p:cNvSpPr>
            <a:spLocks noGrp="1"/>
          </p:cNvSpPr>
          <p:nvPr>
            <p:ph type="sldNum" sz="quarter" idx="12"/>
          </p:nvPr>
        </p:nvSpPr>
        <p:spPr/>
        <p:txBody>
          <a:bodyPr/>
          <a:lstStyle/>
          <a:p>
            <a:fld id="{CBABCCC1-BF11-4F37-963E-1BCD5B23FD72}" type="slidenum">
              <a:rPr lang="en-IN" smtClean="0"/>
              <a:pPr/>
              <a:t>33</a:t>
            </a:fld>
            <a:endParaRPr lang="en-IN"/>
          </a:p>
        </p:txBody>
      </p:sp>
      <p:sp>
        <p:nvSpPr>
          <p:cNvPr id="8" name="TextBox 7">
            <a:extLst>
              <a:ext uri="{FF2B5EF4-FFF2-40B4-BE49-F238E27FC236}">
                <a16:creationId xmlns:a16="http://schemas.microsoft.com/office/drawing/2014/main" id="{8F4C1A58-E70B-6119-7395-F05433964124}"/>
              </a:ext>
            </a:extLst>
          </p:cNvPr>
          <p:cNvSpPr txBox="1"/>
          <p:nvPr/>
        </p:nvSpPr>
        <p:spPr>
          <a:xfrm>
            <a:off x="731520" y="890554"/>
            <a:ext cx="10728960" cy="3913059"/>
          </a:xfrm>
          <a:prstGeom prst="rect">
            <a:avLst/>
          </a:prstGeom>
          <a:noFill/>
        </p:spPr>
        <p:txBody>
          <a:bodyPr wrap="square" rtlCol="0">
            <a:spAutoFit/>
          </a:bodyPr>
          <a:lstStyle/>
          <a:p>
            <a:pPr algn="just">
              <a:lnSpc>
                <a:spcPct val="150000"/>
              </a:lnSpc>
            </a:pPr>
            <a:r>
              <a:rPr lang="en-US" sz="2400" b="1" dirty="0"/>
              <a:t>Kernel functions</a:t>
            </a:r>
            <a:r>
              <a:rPr lang="en-US" sz="2400" dirty="0"/>
              <a:t>: </a:t>
            </a:r>
          </a:p>
          <a:p>
            <a:pPr algn="just">
              <a:lnSpc>
                <a:spcPct val="150000"/>
              </a:lnSpc>
            </a:pPr>
            <a:r>
              <a:rPr lang="en-US" sz="2400" dirty="0"/>
              <a:t>A kernel function, often referred to as a covariance function, is an essential element that establishes the form of the GP's prior and posterior distributions in the setting of Gaussian processes (GPs). </a:t>
            </a:r>
          </a:p>
          <a:p>
            <a:pPr algn="just">
              <a:lnSpc>
                <a:spcPct val="150000"/>
              </a:lnSpc>
            </a:pPr>
            <a:r>
              <a:rPr lang="en-US" sz="2400" dirty="0"/>
              <a:t>It is vital for capturing the underlying correlations between input characteristics and goal values since it basically assesses how similar two data points are to each other.</a:t>
            </a:r>
          </a:p>
          <a:p>
            <a:pPr algn="just">
              <a:lnSpc>
                <a:spcPct val="150000"/>
              </a:lnSpc>
            </a:pPr>
            <a:endParaRPr lang="en-US" sz="2400" dirty="0"/>
          </a:p>
        </p:txBody>
      </p:sp>
    </p:spTree>
    <p:extLst>
      <p:ext uri="{BB962C8B-B14F-4D97-AF65-F5344CB8AC3E}">
        <p14:creationId xmlns:p14="http://schemas.microsoft.com/office/powerpoint/2010/main" val="1849107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65125"/>
          </a:xfrm>
        </p:spPr>
        <p:txBody>
          <a:bodyPr>
            <a:normAutofit fontScale="90000"/>
          </a:bodyPr>
          <a:lstStyle/>
          <a:p>
            <a:r>
              <a:rPr lang="en-US" sz="2800" b="1" dirty="0"/>
              <a:t>Concepts of Gaussian Process Classification</a:t>
            </a:r>
            <a:br>
              <a:rPr lang="en-US" sz="2800" b="1" dirty="0"/>
            </a:br>
            <a:endParaRPr lang="en-US" sz="2800" b="1" dirty="0"/>
          </a:p>
        </p:txBody>
      </p:sp>
      <p:sp>
        <p:nvSpPr>
          <p:cNvPr id="3" name="Content Placeholder 2"/>
          <p:cNvSpPr>
            <a:spLocks noGrp="1"/>
          </p:cNvSpPr>
          <p:nvPr>
            <p:ph idx="1"/>
          </p:nvPr>
        </p:nvSpPr>
        <p:spPr>
          <a:xfrm>
            <a:off x="1451579" y="2015732"/>
            <a:ext cx="9603275" cy="821253"/>
          </a:xfrm>
        </p:spPr>
        <p:txBody>
          <a:bodyPr>
            <a:normAutofit/>
          </a:bodyPr>
          <a:lstStyle/>
          <a:p>
            <a:pPr algn="just"/>
            <a:endParaRPr lang="en-US" dirty="0"/>
          </a:p>
          <a:p>
            <a:pPr algn="just"/>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34</a:t>
            </a:fld>
            <a:endParaRPr lang="en-IN"/>
          </a:p>
        </p:txBody>
      </p:sp>
      <p:sp>
        <p:nvSpPr>
          <p:cNvPr id="8" name="TextBox 7"/>
          <p:cNvSpPr txBox="1"/>
          <p:nvPr/>
        </p:nvSpPr>
        <p:spPr>
          <a:xfrm>
            <a:off x="838200" y="547687"/>
            <a:ext cx="10728960" cy="5021055"/>
          </a:xfrm>
          <a:prstGeom prst="rect">
            <a:avLst/>
          </a:prstGeom>
          <a:noFill/>
        </p:spPr>
        <p:txBody>
          <a:bodyPr wrap="square" rtlCol="0">
            <a:spAutoFit/>
          </a:bodyPr>
          <a:lstStyle/>
          <a:p>
            <a:pPr algn="just">
              <a:lnSpc>
                <a:spcPct val="150000"/>
              </a:lnSpc>
            </a:pPr>
            <a:r>
              <a:rPr lang="en-US" sz="2400" b="1" dirty="0"/>
              <a:t>Posterior Distribution</a:t>
            </a:r>
            <a:r>
              <a:rPr lang="en-US" sz="2400" dirty="0"/>
              <a:t>: Our updated belief about the underlying function following data observation is represented by the posterior distribution in the Gaussian Process (GP). With the combination of the likelihood of observed data and the prior, which represents initial beliefs, a probability distribution over functions is produced. By offering a more accurate estimate of the true underlying function based on the evidence at hand, the posterior captures the process of reducing uncertainty. Through the incorporation of observed data into the modeling process, it facilitates well-informed decision making.</a:t>
            </a:r>
          </a:p>
          <a:p>
            <a:pPr algn="just">
              <a:lnSpc>
                <a:spcPct val="150000"/>
              </a:lnSpc>
            </a:pP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65125"/>
          </a:xfrm>
        </p:spPr>
        <p:txBody>
          <a:bodyPr>
            <a:normAutofit fontScale="90000"/>
          </a:bodyPr>
          <a:lstStyle/>
          <a:p>
            <a:r>
              <a:rPr lang="en-US" b="1" dirty="0"/>
              <a:t>CONTD..</a:t>
            </a:r>
          </a:p>
        </p:txBody>
      </p:sp>
      <p:sp>
        <p:nvSpPr>
          <p:cNvPr id="3" name="Content Placeholder 2"/>
          <p:cNvSpPr>
            <a:spLocks noGrp="1"/>
          </p:cNvSpPr>
          <p:nvPr>
            <p:ph idx="1"/>
          </p:nvPr>
        </p:nvSpPr>
        <p:spPr>
          <a:xfrm>
            <a:off x="765048" y="936741"/>
            <a:ext cx="10341622" cy="4115436"/>
          </a:xfrm>
        </p:spPr>
        <p:txBody>
          <a:bodyPr>
            <a:noAutofit/>
          </a:bodyPr>
          <a:lstStyle/>
          <a:p>
            <a:pPr algn="just">
              <a:lnSpc>
                <a:spcPct val="150000"/>
              </a:lnSpc>
            </a:pPr>
            <a:r>
              <a:rPr lang="en-US" sz="2400" b="1" dirty="0"/>
              <a:t>Prior Distribution:</a:t>
            </a:r>
            <a:r>
              <a:rPr lang="en-US" sz="2400" dirty="0"/>
              <a:t> The prior distribution in Gaussian Process (GP) describes our presumptions about the underlying function before any data are observed. </a:t>
            </a:r>
          </a:p>
          <a:p>
            <a:pPr algn="just">
              <a:lnSpc>
                <a:spcPct val="150000"/>
              </a:lnSpc>
            </a:pPr>
            <a:r>
              <a:rPr lang="en-US" sz="2400" dirty="0"/>
              <a:t>It defines the potential functions that might be used to characterize the underlying process, acting as a versatile and expressive model. </a:t>
            </a:r>
          </a:p>
          <a:p>
            <a:pPr algn="just">
              <a:lnSpc>
                <a:spcPct val="150000"/>
              </a:lnSpc>
            </a:pPr>
            <a:r>
              <a:rPr lang="en-US" sz="2400" dirty="0"/>
              <a:t>Prior to taking into account actual data, our expectations and presumptions were reflected in the prior selection. </a:t>
            </a:r>
          </a:p>
          <a:p>
            <a:pPr algn="just">
              <a:lnSpc>
                <a:spcPct val="150000"/>
              </a:lnSpc>
            </a:pPr>
            <a:r>
              <a:rPr lang="en-US" sz="2400" dirty="0"/>
              <a:t>Because of its rich prior, the GP is an effective tool for modeling complex and uncertain systems in statistics and machine learning. It can capture a wide range of function behaviors.</a:t>
            </a:r>
          </a:p>
          <a:p>
            <a:pPr>
              <a:lnSpc>
                <a:spcPct val="150000"/>
              </a:lnSpc>
            </a:pPr>
            <a:endParaRPr lang="en-US" sz="2400" b="1" dirty="0">
              <a:solidFill>
                <a:srgbClr val="FF0000"/>
              </a:solidFill>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Gaussian Processes</a:t>
            </a:r>
            <a:r>
              <a:rPr lang="en-US" dirty="0"/>
              <a:t>:</a:t>
            </a:r>
          </a:p>
        </p:txBody>
      </p:sp>
      <p:sp>
        <p:nvSpPr>
          <p:cNvPr id="3" name="Content Placeholder 2"/>
          <p:cNvSpPr>
            <a:spLocks noGrp="1"/>
          </p:cNvSpPr>
          <p:nvPr>
            <p:ph idx="1"/>
          </p:nvPr>
        </p:nvSpPr>
        <p:spPr>
          <a:xfrm>
            <a:off x="1451579" y="1814945"/>
            <a:ext cx="9603275" cy="4316224"/>
          </a:xfrm>
        </p:spPr>
        <p:txBody>
          <a:bodyPr>
            <a:normAutofit/>
          </a:bodyPr>
          <a:lstStyle/>
          <a:p>
            <a:r>
              <a:rPr lang="en-US" sz="2600" b="1" dirty="0"/>
              <a:t>Non-Parametric Nature</a:t>
            </a:r>
            <a:r>
              <a:rPr lang="en-US" sz="2600" dirty="0"/>
              <a:t>: GPs can adjust to the complexity of the data because they do not rely on a set number of model parameters</a:t>
            </a:r>
          </a:p>
          <a:p>
            <a:r>
              <a:rPr lang="en-US" sz="2600" b="1" dirty="0"/>
              <a:t>Probabilistic Predictions</a:t>
            </a:r>
            <a:r>
              <a:rPr lang="en-US" sz="2600" dirty="0"/>
              <a:t>: Predictions from GPs can be quantified because they deliver predictions as probability distributions.</a:t>
            </a:r>
          </a:p>
          <a:p>
            <a:r>
              <a:rPr lang="en-US" sz="2600" b="1" dirty="0"/>
              <a:t>Interpolation and Smoothing</a:t>
            </a:r>
            <a:r>
              <a:rPr lang="en-US" sz="2600" dirty="0"/>
              <a:t>: GPs are useful for noisy or irregularly sampled data because they are good at smoothing noisy data and interpolating between data points.</a:t>
            </a:r>
          </a:p>
          <a:p>
            <a:r>
              <a:rPr lang="en-US" sz="2600" b="1" dirty="0"/>
              <a:t>Marginalization of </a:t>
            </a:r>
            <a:r>
              <a:rPr lang="en-US" sz="2600" b="1" dirty="0" err="1"/>
              <a:t>Hyperparameters</a:t>
            </a:r>
            <a:r>
              <a:rPr lang="en-US" sz="2600" dirty="0"/>
              <a:t>: By eliminating the requirement for explicit </a:t>
            </a:r>
            <a:r>
              <a:rPr lang="en-US" sz="2600" dirty="0" err="1"/>
              <a:t>hyperparameter</a:t>
            </a:r>
            <a:r>
              <a:rPr lang="en-US" sz="2600" dirty="0"/>
              <a:t> tweaking, they marginalize over </a:t>
            </a:r>
            <a:r>
              <a:rPr lang="en-US" sz="2600" dirty="0" err="1"/>
              <a:t>hyperparameters</a:t>
            </a:r>
            <a:r>
              <a:rPr lang="en-US" sz="2600" dirty="0"/>
              <a:t>, making the model simpler.</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36</a:t>
            </a:fld>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calibration and confidence.</a:t>
            </a:r>
            <a:br>
              <a:rPr lang="en-US" b="1" dirty="0"/>
            </a:br>
            <a:endParaRPr lang="en-US" b="1" dirty="0"/>
          </a:p>
        </p:txBody>
      </p:sp>
      <p:sp>
        <p:nvSpPr>
          <p:cNvPr id="3" name="Content Placeholder 2"/>
          <p:cNvSpPr>
            <a:spLocks noGrp="1"/>
          </p:cNvSpPr>
          <p:nvPr>
            <p:ph idx="1"/>
          </p:nvPr>
        </p:nvSpPr>
        <p:spPr>
          <a:xfrm>
            <a:off x="838201" y="1275150"/>
            <a:ext cx="9942334" cy="5006777"/>
          </a:xfrm>
        </p:spPr>
        <p:txBody>
          <a:bodyPr>
            <a:normAutofit fontScale="85000" lnSpcReduction="10000"/>
          </a:bodyPr>
          <a:lstStyle/>
          <a:p>
            <a:pPr algn="just">
              <a:lnSpc>
                <a:spcPct val="150000"/>
              </a:lnSpc>
              <a:buNone/>
            </a:pPr>
            <a:r>
              <a:rPr lang="en-US" sz="2400" dirty="0"/>
              <a:t>    Calibration and confidence refer to a model's ability to accurately represent the true likelihood of its predictions being correct. A well-calibrated model's confidence scores align with its actual performance, meaning a 70% confidence score implies a 70% accuracy rate over many predictions. This is crucial in high-stakes applications, such as medical diagnosis or self-driving cars, because it allows users to trust the model's output and identify potentially problematic predictions that should be reviewed or discarded, ultimately improving safety and reliability.</a:t>
            </a:r>
          </a:p>
          <a:p>
            <a:pPr algn="just">
              <a:lnSpc>
                <a:spcPct val="150000"/>
              </a:lnSpc>
              <a:buNone/>
            </a:pPr>
            <a:r>
              <a:rPr lang="en-US" sz="2400" b="1" dirty="0"/>
              <a:t>What is Calibration?</a:t>
            </a:r>
          </a:p>
          <a:p>
            <a:pPr algn="just">
              <a:lnSpc>
                <a:spcPct val="150000"/>
              </a:lnSpc>
              <a:buNone/>
            </a:pPr>
            <a:r>
              <a:rPr lang="en-US" sz="2400" dirty="0"/>
              <a:t>Matching Probability to Reality: Calibration ensures that the probability a model assigns to a prediction accurately reflects the real-world chance of that prediction being correct.</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37</a:t>
            </a:fld>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sp>
        <p:nvSpPr>
          <p:cNvPr id="3" name="Content Placeholder 2"/>
          <p:cNvSpPr>
            <a:spLocks noGrp="1"/>
          </p:cNvSpPr>
          <p:nvPr>
            <p:ph idx="1"/>
          </p:nvPr>
        </p:nvSpPr>
        <p:spPr>
          <a:xfrm>
            <a:off x="1030955" y="1467091"/>
            <a:ext cx="9603275" cy="5025783"/>
          </a:xfrm>
        </p:spPr>
        <p:txBody>
          <a:bodyPr>
            <a:normAutofit fontScale="92500"/>
          </a:bodyPr>
          <a:lstStyle/>
          <a:p>
            <a:pPr>
              <a:lnSpc>
                <a:spcPct val="150000"/>
              </a:lnSpc>
            </a:pPr>
            <a:r>
              <a:rPr lang="en-US" sz="2400" dirty="0"/>
              <a:t>Trust in Confidence: For a model to be calibrated, its confidence scores should have a real-world meaning based on actual data, not just training data. Example: If a neural network predicts an image is a cat with 80% confidence, a well-calibrated model would be correct about 80% of the time for similar predictions. </a:t>
            </a:r>
          </a:p>
          <a:p>
            <a:pPr>
              <a:lnSpc>
                <a:spcPct val="150000"/>
              </a:lnSpc>
            </a:pPr>
            <a:r>
              <a:rPr lang="en-US" sz="2400" dirty="0"/>
              <a:t>Why is Calibration Important?</a:t>
            </a:r>
          </a:p>
          <a:p>
            <a:pPr>
              <a:lnSpc>
                <a:spcPct val="150000"/>
              </a:lnSpc>
            </a:pPr>
            <a:r>
              <a:rPr lang="en-US" sz="2400" dirty="0"/>
              <a:t>Safety and Reliability: In critical systems like autonomous vehicles or healthcare, accurate confidence scores are vital for avoiding severe errors. </a:t>
            </a:r>
          </a:p>
          <a:p>
            <a:pPr>
              <a:lnSpc>
                <a:spcPct val="150000"/>
              </a:lnSpc>
            </a:pPr>
            <a:r>
              <a:rPr lang="en-US" sz="2400" dirty="0"/>
              <a:t>Identifying Weak Predictions: Calibration allows for the detection and handling of low-quality predictions by associating them with low confidence levels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38</a:t>
            </a:fld>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8C003-131E-240C-0ED1-A3CAF610DC6C}"/>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5DC833B8-45E4-8977-5352-0E26D9B4BD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p:cNvSpPr>
            <a:spLocks noGrp="1"/>
          </p:cNvSpPr>
          <p:nvPr>
            <p:ph type="title"/>
          </p:nvPr>
        </p:nvSpPr>
        <p:spPr>
          <a:xfrm>
            <a:off x="838200" y="365125"/>
            <a:ext cx="2627376" cy="119507"/>
          </a:xfrm>
        </p:spPr>
        <p:txBody>
          <a:bodyPr>
            <a:normAutofit fontScale="90000"/>
          </a:bodyPr>
          <a:lstStyle/>
          <a:p>
            <a:pPr fontAlgn="base"/>
            <a:br>
              <a:rPr lang="en-US" b="1" dirty="0"/>
            </a:br>
            <a:r>
              <a:rPr lang="en-US" dirty="0"/>
              <a:t>CONTD..</a:t>
            </a:r>
            <a:endParaRPr lang="en-US" b="1" dirty="0"/>
          </a:p>
        </p:txBody>
      </p:sp>
      <p:sp>
        <p:nvSpPr>
          <p:cNvPr id="5" name="Slide Number Placeholder 3"/>
          <p:cNvSpPr>
            <a:spLocks noGrp="1"/>
          </p:cNvSpPr>
          <p:nvPr>
            <p:ph type="sldNum" sz="quarter" idx="12"/>
          </p:nvPr>
        </p:nvSpPr>
        <p:spPr>
          <a:xfrm>
            <a:off x="8610600" y="6356350"/>
            <a:ext cx="2743200" cy="365125"/>
          </a:xfrm>
        </p:spPr>
        <p:txBody>
          <a:bodyPr/>
          <a:lstStyle/>
          <a:p>
            <a:fld id="{CBABCCC1-BF11-4F37-963E-1BCD5B23FD72}" type="slidenum">
              <a:rPr lang="en-IN" smtClean="0"/>
              <a:pPr/>
              <a:t>39</a:t>
            </a:fld>
            <a:endParaRPr lang="en-IN"/>
          </a:p>
        </p:txBody>
      </p:sp>
      <p:sp>
        <p:nvSpPr>
          <p:cNvPr id="8" name="Content Placeholder 7"/>
          <p:cNvSpPr>
            <a:spLocks noGrp="1"/>
          </p:cNvSpPr>
          <p:nvPr>
            <p:ph idx="1"/>
          </p:nvPr>
        </p:nvSpPr>
        <p:spPr>
          <a:xfrm>
            <a:off x="838200" y="969264"/>
            <a:ext cx="10600943" cy="5223717"/>
          </a:xfrm>
        </p:spPr>
        <p:txBody>
          <a:bodyPr>
            <a:normAutofit fontScale="92500" lnSpcReduction="10000"/>
          </a:bodyPr>
          <a:lstStyle/>
          <a:p>
            <a:pPr>
              <a:lnSpc>
                <a:spcPct val="150000"/>
              </a:lnSpc>
            </a:pPr>
            <a:r>
              <a:rPr lang="en-US" sz="2400" dirty="0"/>
              <a:t>User Trust: Trusted predictions require well-calibrated confidence scores, which build user trust in the model's output. </a:t>
            </a:r>
          </a:p>
          <a:p>
            <a:pPr>
              <a:lnSpc>
                <a:spcPct val="150000"/>
              </a:lnSpc>
            </a:pPr>
            <a:r>
              <a:rPr lang="en-US" sz="2400" b="1" dirty="0"/>
              <a:t>How Does It Work in Practice?</a:t>
            </a:r>
            <a:endParaRPr lang="en-US" sz="2400" dirty="0"/>
          </a:p>
          <a:p>
            <a:pPr>
              <a:lnSpc>
                <a:spcPct val="150000"/>
              </a:lnSpc>
            </a:pPr>
            <a:r>
              <a:rPr lang="en-US" sz="2400" dirty="0"/>
              <a:t>Monitoring Uncertainty: A drop in confidence from a well-calibrated model can act as a signal to trigger safety mechanisms or prompt human review, such as in a self-driving car recognizing a stop sign. </a:t>
            </a:r>
          </a:p>
          <a:p>
            <a:pPr>
              <a:lnSpc>
                <a:spcPct val="150000"/>
              </a:lnSpc>
            </a:pPr>
            <a:r>
              <a:rPr lang="en-US" sz="2400" dirty="0"/>
              <a:t>Data-Driven Evaluation: Evaluating calibration involves assessing how much confidence scores can be trusted in relation to the model's actual accuracy on real-world data. Beyond Training Data: This process moves beyond just the training or validation data to ensure the model's confidence is reliable in practical, deployed scenarios. </a:t>
            </a:r>
          </a:p>
        </p:txBody>
      </p:sp>
    </p:spTree>
    <p:extLst>
      <p:ext uri="{BB962C8B-B14F-4D97-AF65-F5344CB8AC3E}">
        <p14:creationId xmlns:p14="http://schemas.microsoft.com/office/powerpoint/2010/main" val="2754795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0E0ED-3648-CCB9-0AB6-C0168837BF0D}"/>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AF13A706-3134-F078-5224-EBD36258F4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8656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44C93-62D2-6C28-4378-2BCAF26FCEDF}"/>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F147268B-DC66-9529-BB2E-A641CEE91A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818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4276-5C18-4E25-FE5A-1A16C5F3B0CD}"/>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42AE4486-88D6-0B00-2E69-89D0E48090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9647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FC548-64FE-70A9-3BA0-5AF59899DE27}"/>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5B24D0CD-4986-ECA8-22D8-F9B88486EB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0325"/>
            <a:ext cx="1454727" cy="58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133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733</TotalTime>
  <Words>996</Words>
  <Application>Microsoft Office PowerPoint</Application>
  <PresentationFormat>Widescreen</PresentationFormat>
  <Paragraphs>52</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Gill Sans MT</vt:lpstr>
      <vt:lpstr>Office Theme</vt:lpstr>
      <vt:lpstr>ARTIFICIAL INTELLIGENCE  &amp;  MACHINE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Gaussian Processes</vt:lpstr>
      <vt:lpstr>CONTD..</vt:lpstr>
      <vt:lpstr>Concepts of Gaussian Process Classification </vt:lpstr>
      <vt:lpstr>Concepts of Gaussian Process Classification </vt:lpstr>
      <vt:lpstr>CONTD..</vt:lpstr>
      <vt:lpstr>Characteristics of Gaussian Processes:</vt:lpstr>
      <vt:lpstr>calibration and confidence. </vt:lpstr>
      <vt:lpstr>CONTD…</vt:lpstr>
      <vt:lpstr> CONTD..</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&amp;  MACHINE LEARNING</dc:title>
  <dc:creator>Saziya Tabbassum</dc:creator>
  <cp:lastModifiedBy>P Manika Prasuna</cp:lastModifiedBy>
  <cp:revision>128</cp:revision>
  <dcterms:created xsi:type="dcterms:W3CDTF">2025-07-04T09:29:45Z</dcterms:created>
  <dcterms:modified xsi:type="dcterms:W3CDTF">2025-09-22T18:05:59Z</dcterms:modified>
</cp:coreProperties>
</file>