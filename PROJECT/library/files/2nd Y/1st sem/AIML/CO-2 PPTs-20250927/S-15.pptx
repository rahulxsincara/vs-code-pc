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15"/>
  </p:notesMasterIdLst>
  <p:handoutMasterIdLst>
    <p:handoutMasterId r:id="rId16"/>
  </p:handoutMasterIdLst>
  <p:sldIdLst>
    <p:sldId id="307" r:id="rId2"/>
    <p:sldId id="308" r:id="rId3"/>
    <p:sldId id="309" r:id="rId4"/>
    <p:sldId id="340" r:id="rId5"/>
    <p:sldId id="341" r:id="rId6"/>
    <p:sldId id="343" r:id="rId7"/>
    <p:sldId id="342" r:id="rId8"/>
    <p:sldId id="335" r:id="rId9"/>
    <p:sldId id="336" r:id="rId10"/>
    <p:sldId id="337" r:id="rId11"/>
    <p:sldId id="339" r:id="rId12"/>
    <p:sldId id="33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3528E42-124C-46C8-9EBF-541EDDEF7B43}">
          <p14:sldIdLst>
            <p14:sldId id="307"/>
            <p14:sldId id="308"/>
            <p14:sldId id="309"/>
            <p14:sldId id="340"/>
            <p14:sldId id="341"/>
            <p14:sldId id="343"/>
            <p14:sldId id="342"/>
            <p14:sldId id="335"/>
            <p14:sldId id="336"/>
            <p14:sldId id="337"/>
            <p14:sldId id="339"/>
            <p14:sldId id="338"/>
          </p14:sldIdLst>
        </p14:section>
        <p14:section name="Untitled Section" id="{73835AD6-D901-4033-B40A-B48B24DA2886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ECAA-F680-11CF-3C1E-674E8B91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6F9C6-7CA3-7D15-08EA-92450FF9F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D545B-F4A7-6BB7-0B8A-774C5E9DB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B00D2-6B99-C7C9-3D8A-5E51F8456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86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8E225-35F1-487E-4B4F-CA59C57BD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50454-1F31-5E6B-3082-17C16D450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0AD78-1F68-1C55-33A7-240DD2CFD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7554D-E624-5F3A-90BF-ED2F5BCDB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9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B84B-E7F9-5D7D-72BB-4F3366CDD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B6273-5FFF-A7AF-1995-90AA293F0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85DAB-A927-B8AE-36BB-3067D4EF5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83D15-F5B8-86A8-BB9A-4488F26BD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93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24AF0-ADF2-88D5-47E2-EE3C94E2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A9B01-7B5F-D119-0B87-1E5C7C297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A8C56-5C3F-D99F-486B-A52FADE83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900DA-ACA0-4EFA-4522-1474BD618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89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609D-16D5-5CAC-7D3C-EC9473C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150EB-8023-0BB3-E68C-E7A2FCDF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6765-2034-0547-0AC4-5DC8AA287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C38D-6A34-9193-77CB-46CDE94A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4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A814-7550-0947-AB32-6F5915B8A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44D58-5378-85D2-55FA-86457AF49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2B8C7-B22F-C789-9343-04F5659C9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CD2E7-90DA-CA9A-E4CD-DC95DA475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50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6FFC6-BCB9-A905-DBD1-67D3D68E3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C9838-27DD-5CDB-9387-35587357D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F07C8-6B89-6B22-19CD-8D690D5AA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98925-AA89-396F-D3FD-70065C26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2D759-482F-01C3-CE7B-542EE9AD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095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53F9-707B-9150-B129-6F8EC924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151B2-4D4D-B875-E051-B78AE24C8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DA6F3-C315-ACE2-B85D-88986E3BA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DF3C1-58FA-0159-41CB-7F486FCB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515DE-D133-3E12-C271-B61CD44F3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171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E7704-E398-05FF-54FB-76FEF43EB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8D8EF-E202-736F-9393-808BBF91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69E13-C7B8-2161-6783-5AA48E08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AD449-0016-1F05-E28A-91811972D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5CA24-0CEF-5B1E-78F9-8EA3CCD9D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319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62B86-58EE-EE31-2C4A-7928CA39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6C2CC-9498-6B9F-A965-F055019A48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3EC4A-BD9A-08FB-0AA6-84687246B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C31FD-281C-7891-FB63-2FB24FB39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FA0C8-9173-12D5-0747-35C07D3E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94557-640D-7942-0BBC-89CDB571F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405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9F73-EAC7-287E-58F9-0A1C00CBD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59106-BFB5-64D5-632A-0D3835D13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3F0CD-75E2-BD94-3C02-340FC9F7C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C08E7-A8BD-07C7-BA7D-52E4C6D6A4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AFC3C-6CFA-72C7-B118-9F79ED90AA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247C36-B686-A383-FF50-FC1FDC149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EBB2B-EBF6-F50C-B064-2037BFAD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5A5231-5DD5-8231-C467-428A591D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512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93F2-89F7-29F4-35EE-E7D21555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37B2C-A1B1-547C-814D-7FF8F09CC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8D995-7570-130B-A1DB-878B0003D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B4A4D-7E9A-DCF4-6FE6-3DDBA05A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77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6FD3D4-7DE6-DAF1-A61E-817C21738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A10AB9-F8C5-1E58-3B44-C71C1CED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08F5D-26F3-8C5A-81F4-F50282CBD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046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956E8-0DF1-58B0-DED3-80C007325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78E8E-CCD7-FFC2-0547-67AE96684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CA88C-EF8A-4FEF-FF82-F981CDF69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1EA39-3393-FA66-B28B-A15D7492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A4AE8-F28E-911C-0FA4-88874DE7F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3B4D8-E7B5-2717-9C90-5ABE79ED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2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61ACB-A69F-9058-269B-FF16CBD6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68F4B5-4B16-C2C0-329A-FFE704778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F561B-495D-3649-DD43-440D152AE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26674-5829-7B54-38E8-1EB5705F1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D1937-F2AF-65E8-AECC-B64822A0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695A3-A344-0392-7B78-EE2BEADD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89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9CB3-9487-1BB5-051F-A73EF695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44091-636B-B3AE-4826-024605CCF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A3314-E811-C20A-12C5-4EB366B6D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5D2E-CBCA-21D1-00F3-E8F1FF9F1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FD75E-8BBE-76AB-2F6C-F3B23AFD7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92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5723E4-2706-ABA8-0062-C78D47F44B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856FC-03F0-1D9B-67DF-2A0364ACF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5F646-1C83-E3E4-93CD-3F2F9F91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C770F-1CBF-87B8-130F-08B66A505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7AA04-A04E-A52E-89E8-7247C034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820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273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4A4B3E-9B0B-9323-B0C5-ACF1B599D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5EF16-49B3-C763-536B-64694D564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1FDB4-FE3C-7937-CBE5-09558F76D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63E27-322D-AFC8-B42D-64C58A8A7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7B45A-8543-018F-65B1-CB1046E54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2872135C-834F-E825-4857-F321D32FA4DA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4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-star-a-search-algorithm-eb495fb156bb" TargetMode="External"/><Relationship Id="rId2" Type="http://schemas.openxmlformats.org/officeDocument/2006/relationships/hyperlink" Target="https://www.virtusa.com/digital-themes/heuristic-search-techniqu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ima.eecs.berkeley.edu/slides-pdf/chapter04b.pdf" TargetMode="External"/><Relationship Id="rId5" Type="http://schemas.openxmlformats.org/officeDocument/2006/relationships/hyperlink" Target="http://cgi.di.uoa.gr/~ys02/siteAI2008/local-search-2spp.pdf" TargetMode="External"/><Relationship Id="rId4" Type="http://schemas.openxmlformats.org/officeDocument/2006/relationships/hyperlink" Target="https://www.tutorialandexample.com/local-search-algorithms-and-optimization-proble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76;p16">
            <a:extLst>
              <a:ext uri="{FF2B5EF4-FFF2-40B4-BE49-F238E27FC236}">
                <a16:creationId xmlns:a16="http://schemas.microsoft.com/office/drawing/2014/main" id="{4CAC1B1C-B116-4101-AE65-D4F13352040D}"/>
              </a:ext>
            </a:extLst>
          </p:cNvPr>
          <p:cNvSpPr txBox="1"/>
          <p:nvPr/>
        </p:nvSpPr>
        <p:spPr>
          <a:xfrm>
            <a:off x="2235222" y="715831"/>
            <a:ext cx="8367577" cy="3447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ARTIFICIAL </a:t>
            </a:r>
            <a:r>
              <a:rPr lang="en-IN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INTELLIGENCE &amp; MACHINE LEARNING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IN" sz="3200" b="1" cap="all" dirty="0">
              <a:ln/>
              <a:solidFill>
                <a:srgbClr val="C00000"/>
              </a:solidFill>
              <a:ea typeface="BioRhyme ExtraBold"/>
              <a:cs typeface="Poppins" panose="00000500000000000000" pitchFamily="2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IN" sz="3200" b="1" cap="all" dirty="0">
              <a:ln/>
              <a:solidFill>
                <a:srgbClr val="C00000"/>
              </a:solidFill>
              <a:ea typeface="BioRhyme ExtraBold"/>
              <a:cs typeface="Poppins" panose="00000500000000000000" pitchFamily="2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02060"/>
                </a:solidFill>
                <a:ea typeface="BioRhyme ExtraBold"/>
                <a:cs typeface="Poppins"/>
                <a:sym typeface="BioRhyme ExtraBold"/>
              </a:rPr>
              <a:t>Calculus &amp; Optimization: Convexity, Taylor expansion, Optimization objectives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000" b="1" dirty="0">
              <a:solidFill>
                <a:srgbClr val="002060"/>
              </a:solidFill>
              <a:ea typeface="BioRhyme ExtraBold"/>
              <a:cs typeface="Poppins"/>
              <a:sym typeface="BioRhyme ExtraBold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E5A51E9A-011D-0E80-74FB-7D6363A14F3C}"/>
              </a:ext>
            </a:extLst>
          </p:cNvPr>
          <p:cNvSpPr/>
          <p:nvPr/>
        </p:nvSpPr>
        <p:spPr>
          <a:xfrm>
            <a:off x="5182691" y="4451004"/>
            <a:ext cx="2801467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400" dirty="0">
                <a:solidFill>
                  <a:schemeClr val="lt1"/>
                </a:solidFill>
                <a:ea typeface="Calibri"/>
                <a:cs typeface="Poppins"/>
                <a:sym typeface="Calibri"/>
              </a:rPr>
              <a:t>Session </a:t>
            </a:r>
            <a:r>
              <a:rPr lang="en-US" sz="2400">
                <a:solidFill>
                  <a:schemeClr val="lt1"/>
                </a:solidFill>
                <a:ea typeface="Calibri"/>
                <a:cs typeface="Poppins"/>
                <a:sym typeface="Calibri"/>
              </a:rPr>
              <a:t>– 14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3952240" y="84408"/>
            <a:ext cx="3530708" cy="30007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95362" y="625326"/>
            <a:ext cx="10700084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+mj-lt"/>
                <a:cs typeface="Poppins"/>
              </a:rPr>
              <a:t>To familiarize students with the basic concept of </a:t>
            </a:r>
            <a:r>
              <a:rPr lang="en-US" sz="1600" dirty="0"/>
              <a:t>Convexity,  Taylor expansion, and Optimization.</a:t>
            </a:r>
            <a:endParaRPr lang="en-US" sz="1600" b="0" i="0" dirty="0">
              <a:effectLst/>
              <a:latin typeface="+mj-lt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3484880" y="1807062"/>
            <a:ext cx="4546533" cy="34766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+mj-lt"/>
              </a:rPr>
              <a:t>Explain </a:t>
            </a:r>
            <a:r>
              <a:rPr lang="en-US" sz="1600" dirty="0">
                <a:latin typeface="+mj-lt"/>
              </a:rPr>
              <a:t>Convexity,  Taylor </a:t>
            </a:r>
            <a:r>
              <a:rPr lang="en-US" sz="1600" dirty="0"/>
              <a:t>expansion</a:t>
            </a:r>
            <a:r>
              <a:rPr lang="en-US" sz="1600" dirty="0">
                <a:latin typeface="+mj-lt"/>
              </a:rPr>
              <a:t>, and Optimization.</a:t>
            </a:r>
            <a:endParaRPr lang="en-US" sz="1600" b="0" i="0" dirty="0">
              <a:effectLst/>
              <a:latin typeface="+mj-lt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070731" y="39443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949616" y="4765771"/>
            <a:ext cx="8791575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+mj-lt"/>
                <a:cs typeface="Arial"/>
              </a:rPr>
              <a:t>At the end of this </a:t>
            </a:r>
            <a:r>
              <a:rPr lang="en-US" sz="1600" dirty="0">
                <a:latin typeface="+mj-lt"/>
                <a:cs typeface="Arial"/>
              </a:rPr>
              <a:t>session</a:t>
            </a:r>
            <a:r>
              <a:rPr lang="en-US" sz="1600" b="0" i="0" dirty="0">
                <a:effectLst/>
                <a:latin typeface="+mj-lt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+mj-lt"/>
              </a:rPr>
              <a:t>Define the concepts of </a:t>
            </a:r>
            <a:r>
              <a:rPr lang="en-US" sz="1600" dirty="0"/>
              <a:t>Convexity,  Taylor expansion, and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466036" y="56410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Convexity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C6E30B-0539-886D-9ACE-BD78513558E5}"/>
                  </a:ext>
                </a:extLst>
              </p:cNvPr>
              <p:cNvSpPr txBox="1"/>
              <p:nvPr/>
            </p:nvSpPr>
            <p:spPr>
              <a:xfrm>
                <a:off x="998706" y="1672683"/>
                <a:ext cx="1019458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b="1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nor/>
                      </m:rPr>
                      <a:rPr lang="en-US" dirty="0"/>
                      <m:t>→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is called </a:t>
                </a:r>
                <a:r>
                  <a:rPr lang="en-US" b="1" dirty="0"/>
                  <a:t>convex</a:t>
                </a:r>
                <a:r>
                  <a:rPr lang="en-US" dirty="0"/>
                  <a:t> if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∈ domain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and for all λ∈[0,1], the following inequality holds:</a:t>
                </a:r>
                <a:endParaRPr lang="en-IN" b="1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endParaRPr lang="en-IN" b="1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dirty="0"/>
                      <m:t>λ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+(1−</m:t>
                    </m:r>
                    <m:r>
                      <m:rPr>
                        <m:nor/>
                      </m:rPr>
                      <a:rPr lang="en-US" dirty="0"/>
                      <m:t>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λ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+</a:t>
                </a:r>
                <a:r>
                  <a:rPr lang="en-US" dirty="0"/>
                  <a:t> (1-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λ</m:t>
                    </m:r>
                  </m:oMath>
                </a14:m>
                <a:r>
                  <a:rPr lang="en-US" dirty="0"/>
                  <a:t>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C6E30B-0539-886D-9ACE-BD7851355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06" y="1672683"/>
                <a:ext cx="10194587" cy="1754326"/>
              </a:xfrm>
              <a:prstGeom prst="rect">
                <a:avLst/>
              </a:prstGeom>
              <a:blipFill>
                <a:blip r:embed="rId3"/>
                <a:stretch>
                  <a:fillRect l="-4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5DB7539-752A-FED3-7C0E-3C800FFBA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879" y="3210127"/>
            <a:ext cx="5161477" cy="285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33132-FD95-F322-D2D6-3ED0B5AC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2F0AC5E1-D501-3050-79EE-51D4D6476937}"/>
              </a:ext>
            </a:extLst>
          </p:cNvPr>
          <p:cNvSpPr/>
          <p:nvPr/>
        </p:nvSpPr>
        <p:spPr>
          <a:xfrm>
            <a:off x="2466036" y="56410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Conditions for Convexity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DBC1F1-9F4B-3BD2-D489-40F02F898CAC}"/>
                  </a:ext>
                </a:extLst>
              </p:cNvPr>
              <p:cNvSpPr txBox="1"/>
              <p:nvPr/>
            </p:nvSpPr>
            <p:spPr>
              <a:xfrm>
                <a:off x="998706" y="1672683"/>
                <a:ext cx="10194587" cy="4898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b="1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IN" dirty="0"/>
                  <a:t>A function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 with </a:t>
                </a:r>
                <a:r>
                  <a:rPr lang="en-IN" b="1" dirty="0"/>
                  <a:t>one variable </a:t>
                </a:r>
                <a:r>
                  <a:rPr lang="en-IN" dirty="0"/>
                  <a:t>is convex on an interval if: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N" dirty="0"/>
                  <a:t> for all x in the interval</a:t>
                </a:r>
                <a:endParaRPr lang="en-IN" b="1" dirty="0"/>
              </a:p>
              <a:p>
                <a:r>
                  <a:rPr lang="en-IN" b="1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Therefore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 is convex function. </a:t>
                </a:r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A function f(</a:t>
                </a:r>
                <a:r>
                  <a:rPr lang="en-US" dirty="0" err="1"/>
                  <a:t>x,y</a:t>
                </a:r>
                <a:r>
                  <a:rPr lang="en-US" dirty="0"/>
                  <a:t>) with </a:t>
                </a:r>
                <a:r>
                  <a:rPr lang="en-US" b="1" dirty="0"/>
                  <a:t>two variables </a:t>
                </a:r>
                <a:r>
                  <a:rPr lang="en-US" dirty="0"/>
                  <a:t>is convex if its </a:t>
                </a:r>
                <a:r>
                  <a:rPr lang="en-US" b="1" dirty="0"/>
                  <a:t>Hessian matrix H</a:t>
                </a:r>
                <a:r>
                  <a:rPr lang="en-US" dirty="0"/>
                  <a:t> is </a:t>
                </a:r>
                <a:r>
                  <a:rPr lang="en-US" b="1" dirty="0"/>
                  <a:t>positive semi-definite</a:t>
                </a:r>
                <a:r>
                  <a:rPr lang="en-US" dirty="0"/>
                  <a:t>:</a:t>
                </a:r>
              </a:p>
              <a:p>
                <a:r>
                  <a:rPr lang="en-US" b="1" dirty="0"/>
                  <a:t>i.e., 		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𝐝𝐞𝐭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	</a:t>
                </a:r>
                <a:r>
                  <a:rPr lang="en-US" dirty="0"/>
                  <a:t>(or) The eigen values of H are positive. </a:t>
                </a:r>
                <a:r>
                  <a:rPr lang="en-US" b="1" dirty="0"/>
                  <a:t>	</a:t>
                </a:r>
                <a:r>
                  <a:rPr lang="en-US" dirty="0"/>
                  <a:t>where</a:t>
                </a:r>
                <a:r>
                  <a:rPr lang="en-US" b="1" dirty="0"/>
                  <a:t>		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𝝏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m:rPr>
                                      <m:brk m:alnAt="7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𝝏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𝝏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m:rPr>
                                      <m:brk m:alnAt="7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𝝏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m:rPr>
                                      <m:brk m:alnAt="7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𝝏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m:rPr>
                                      <m:brk m:alnAt="7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𝝏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IN" b="1" dirty="0"/>
              </a:p>
              <a:p>
                <a:r>
                  <a:rPr lang="en-IN" b="1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/>
              </a:p>
              <a:p>
                <a:r>
                  <a:rPr lang="en-IN" dirty="0"/>
                  <a:t>Therefore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 is convex function. 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DBC1F1-9F4B-3BD2-D489-40F02F898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06" y="1672683"/>
                <a:ext cx="10194587" cy="4898713"/>
              </a:xfrm>
              <a:prstGeom prst="rect">
                <a:avLst/>
              </a:prstGeom>
              <a:blipFill>
                <a:blip r:embed="rId3"/>
                <a:stretch>
                  <a:fillRect l="-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9756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06536E-E876-26CF-59D5-80FB65228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C88B0-CA70-6B8E-2774-92E9A148BA3D}"/>
              </a:ext>
            </a:extLst>
          </p:cNvPr>
          <p:cNvSpPr txBox="1"/>
          <p:nvPr/>
        </p:nvSpPr>
        <p:spPr>
          <a:xfrm>
            <a:off x="500634" y="772775"/>
            <a:ext cx="113408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Convexity shows up all over ML because it makes training </a:t>
            </a:r>
            <a:r>
              <a:rPr lang="en-US" b="1" dirty="0"/>
              <a:t>reliable, fast, and globally correct</a:t>
            </a:r>
            <a:r>
              <a:rPr lang="en-US" dirty="0"/>
              <a:t> (when the whole objective is convex).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D6E69-4554-907C-E4A8-C61251F83E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906"/>
          <a:stretch>
            <a:fillRect/>
          </a:stretch>
        </p:blipFill>
        <p:spPr>
          <a:xfrm>
            <a:off x="572242" y="1444752"/>
            <a:ext cx="10985774" cy="447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19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B2D29-5455-01F2-C281-10FDD5FF6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357DD7-D6E2-05A9-52EC-1FDD60C1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3C2A2-93EE-308A-A17C-2512AFCDCE48}"/>
              </a:ext>
            </a:extLst>
          </p:cNvPr>
          <p:cNvSpPr txBox="1"/>
          <p:nvPr/>
        </p:nvSpPr>
        <p:spPr>
          <a:xfrm>
            <a:off x="500634" y="772775"/>
            <a:ext cx="113408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Convexity shows up all over ML because it makes training </a:t>
            </a:r>
            <a:r>
              <a:rPr lang="en-US" b="1" dirty="0"/>
              <a:t>reliable, fast, and globally correct</a:t>
            </a:r>
            <a:r>
              <a:rPr lang="en-US" dirty="0"/>
              <a:t> (when the whole objective is convex).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696326-5644-449A-1BA7-999104655E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098"/>
          <a:stretch>
            <a:fillRect/>
          </a:stretch>
        </p:blipFill>
        <p:spPr>
          <a:xfrm>
            <a:off x="1107952" y="1634836"/>
            <a:ext cx="10419031" cy="445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30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23D2B2-9320-3154-C9F4-B495E834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B88CC0-C17D-44BA-E785-283E5E011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52" y="801804"/>
            <a:ext cx="11180968" cy="469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7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5B992-23B4-9B9F-F822-87760670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4407C978-4D2F-B175-9288-9E6AA65479BE}"/>
              </a:ext>
            </a:extLst>
          </p:cNvPr>
          <p:cNvSpPr/>
          <p:nvPr/>
        </p:nvSpPr>
        <p:spPr>
          <a:xfrm>
            <a:off x="2495219" y="89484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Taylor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295CD7-CB01-67A1-DDF7-1DD14A69AF95}"/>
                  </a:ext>
                </a:extLst>
              </p:cNvPr>
              <p:cNvSpPr txBox="1"/>
              <p:nvPr/>
            </p:nvSpPr>
            <p:spPr>
              <a:xfrm>
                <a:off x="901429" y="1877439"/>
                <a:ext cx="10389141" cy="4880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Definition: </a:t>
                </a:r>
                <a:r>
                  <a:rPr lang="en-US" dirty="0"/>
                  <a:t>Taylor expansion is the representation of a function as an infinite sum of terms derived from its derivatives at a single point.</a:t>
                </a:r>
              </a:p>
              <a:p>
                <a:r>
                  <a:rPr lang="en-US" dirty="0"/>
                  <a:t>For a function f(x) that is infinitely differentiable at a point a, the Taylor series expansion about a is: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…………..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(or)</a:t>
                </a:r>
              </a:p>
              <a:p>
                <a:pPr algn="ctr"/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Purpose: </a:t>
                </a:r>
              </a:p>
              <a:p>
                <a:r>
                  <a:rPr lang="en-US" dirty="0"/>
                  <a:t>Machine learning: Optimization and gradient descent</a:t>
                </a:r>
              </a:p>
              <a:p>
                <a:r>
                  <a:rPr lang="en-US" dirty="0"/>
                  <a:t>Computer Science: Function approximation in algorithms</a:t>
                </a:r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295CD7-CB01-67A1-DDF7-1DD14A69A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29" y="1877439"/>
                <a:ext cx="10389141" cy="4880631"/>
              </a:xfrm>
              <a:prstGeom prst="rect">
                <a:avLst/>
              </a:prstGeom>
              <a:blipFill>
                <a:blip r:embed="rId3"/>
                <a:stretch>
                  <a:fillRect l="-528" t="-7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111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0179-8EB9-EE08-6D4F-7BC56FF5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2F33EF9B-70BE-ADBF-3125-F030D74B294B}"/>
              </a:ext>
            </a:extLst>
          </p:cNvPr>
          <p:cNvSpPr/>
          <p:nvPr/>
        </p:nvSpPr>
        <p:spPr>
          <a:xfrm>
            <a:off x="2563313" y="9629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Taylor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1785B2D-AAE3-84B2-86C1-D85AEDBD1D8C}"/>
                  </a:ext>
                </a:extLst>
              </p:cNvPr>
              <p:cNvSpPr txBox="1"/>
              <p:nvPr/>
            </p:nvSpPr>
            <p:spPr>
              <a:xfrm>
                <a:off x="901429" y="1955260"/>
                <a:ext cx="10389141" cy="5950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Example-1: </a:t>
                </a:r>
                <a:r>
                  <a:rPr lang="en-US" dirty="0"/>
                  <a:t>Taylor expansion of </a:t>
                </a:r>
                <a:r>
                  <a:rPr lang="en-US" b="1" i="1" dirty="0"/>
                  <a:t>sin(x) </a:t>
                </a:r>
                <a:r>
                  <a:rPr lang="en-US" dirty="0"/>
                  <a:t>about a=0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"(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dirty="0"/>
                  <a:t>…………….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…………..</a:t>
                </a:r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r>
                  <a:rPr lang="en-US" dirty="0"/>
                  <a:t>Approximation:  				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…………..</a:t>
                </a:r>
              </a:p>
              <a:p>
                <a:r>
                  <a:rPr lang="en-US" b="1" dirty="0"/>
                  <a:t>Example-2: </a:t>
                </a:r>
                <a:r>
                  <a:rPr lang="en-US" dirty="0"/>
                  <a:t>Taylor 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about a=0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+…,  −∞&lt;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Purpose: </a:t>
                </a:r>
                <a:r>
                  <a:rPr lang="en-US" dirty="0"/>
                  <a:t>Approximate complex functions with polynomials.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1785B2D-AAE3-84B2-86C1-D85AEDBD1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29" y="1955260"/>
                <a:ext cx="10389141" cy="5950347"/>
              </a:xfrm>
              <a:prstGeom prst="rect">
                <a:avLst/>
              </a:prstGeom>
              <a:blipFill>
                <a:blip r:embed="rId3"/>
                <a:stretch>
                  <a:fillRect l="-528" t="-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F65B886-EF78-5A0F-E41B-B9EB265EB406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7429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C354-6DD4-2175-DCCE-77899447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F5EBB254-A95C-CB73-1C9E-71BEA492E678}"/>
              </a:ext>
            </a:extLst>
          </p:cNvPr>
          <p:cNvSpPr/>
          <p:nvPr/>
        </p:nvSpPr>
        <p:spPr>
          <a:xfrm>
            <a:off x="2563313" y="9629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Optimization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FBD24B-C793-9B97-9288-2F055DEFFFB6}"/>
              </a:ext>
            </a:extLst>
          </p:cNvPr>
          <p:cNvSpPr txBox="1"/>
          <p:nvPr/>
        </p:nvSpPr>
        <p:spPr>
          <a:xfrm>
            <a:off x="1212714" y="2101175"/>
            <a:ext cx="10389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Optimization Problem is:  </a:t>
            </a:r>
            <a:r>
              <a:rPr lang="en-US" dirty="0"/>
              <a:t>Find values of the variables that minimize or maximize the objective function while satisfying the constraints.</a:t>
            </a:r>
          </a:p>
          <a:p>
            <a:endParaRPr lang="en-US" dirty="0"/>
          </a:p>
          <a:p>
            <a:r>
              <a:rPr lang="en-US" dirty="0"/>
              <a:t>Optimization problems consist of three basic components.</a:t>
            </a:r>
            <a:endParaRPr lang="en-US" b="1" dirty="0"/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Objective function: </a:t>
            </a:r>
            <a:r>
              <a:rPr lang="en-US" dirty="0"/>
              <a:t>Which we want to minimize or maximize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Variables: </a:t>
            </a:r>
            <a:r>
              <a:rPr lang="en-US" dirty="0"/>
              <a:t> A set of unknown values that affect the value of the objective functions.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Constraints: </a:t>
            </a:r>
            <a:r>
              <a:rPr lang="en-US" dirty="0"/>
              <a:t>A set of conditions that allow the variables to take on certain values but exclude others.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80E92E-0108-64D9-0F3B-5FBF532AE285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018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075-C6EC-89A5-83F0-A8ECFC88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57B0C84-82FC-6CF5-4072-A37550AAF503}"/>
              </a:ext>
            </a:extLst>
          </p:cNvPr>
          <p:cNvSpPr/>
          <p:nvPr/>
        </p:nvSpPr>
        <p:spPr>
          <a:xfrm>
            <a:off x="2563313" y="9629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Optimization 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C52BD-ECA9-DE58-F21E-58EC2C240500}"/>
              </a:ext>
            </a:extLst>
          </p:cNvPr>
          <p:cNvSpPr txBox="1"/>
          <p:nvPr/>
        </p:nvSpPr>
        <p:spPr>
          <a:xfrm>
            <a:off x="901429" y="1955260"/>
            <a:ext cx="103891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Example:</a:t>
            </a:r>
          </a:p>
          <a:p>
            <a:r>
              <a:rPr lang="en-US" dirty="0"/>
              <a:t>A factory produces two products: A and B.</a:t>
            </a:r>
          </a:p>
          <a:p>
            <a:r>
              <a:rPr lang="en-US" dirty="0"/>
              <a:t>- Profit per unit A: $3</a:t>
            </a:r>
          </a:p>
          <a:p>
            <a:r>
              <a:rPr lang="en-US" dirty="0"/>
              <a:t>- Profit per unit B: $5</a:t>
            </a:r>
          </a:p>
          <a:p>
            <a:endParaRPr lang="en-US" dirty="0"/>
          </a:p>
          <a:p>
            <a:r>
              <a:rPr lang="en-US" dirty="0"/>
              <a:t>Each product requires labor and material:</a:t>
            </a:r>
          </a:p>
          <a:p>
            <a:r>
              <a:rPr lang="en-US" dirty="0"/>
              <a:t>	- A: 1 hour labor, 2 units material</a:t>
            </a:r>
          </a:p>
          <a:p>
            <a:r>
              <a:rPr lang="en-US" dirty="0"/>
              <a:t>	- B: 2 hours labor, 1 unit material</a:t>
            </a:r>
          </a:p>
          <a:p>
            <a:r>
              <a:rPr lang="en-US" dirty="0"/>
              <a:t>The factory has:</a:t>
            </a:r>
          </a:p>
          <a:p>
            <a:r>
              <a:rPr lang="en-US" b="1" dirty="0"/>
              <a:t>8 hours of labor</a:t>
            </a:r>
            <a:r>
              <a:rPr lang="en-US" dirty="0"/>
              <a:t> available</a:t>
            </a:r>
          </a:p>
          <a:p>
            <a:r>
              <a:rPr lang="en-US" b="1" dirty="0"/>
              <a:t>6 units of material</a:t>
            </a:r>
            <a:r>
              <a:rPr lang="en-US" dirty="0"/>
              <a:t> available</a:t>
            </a:r>
          </a:p>
          <a:p>
            <a:r>
              <a:rPr lang="en-US" dirty="0"/>
              <a:t>How many units of A and B should be produced to </a:t>
            </a:r>
            <a:r>
              <a:rPr lang="en-US" b="1" dirty="0"/>
              <a:t>maximize profit</a:t>
            </a:r>
            <a:r>
              <a:rPr lang="en-US" dirty="0"/>
              <a:t>?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9A402-AC11-B307-B118-ED55600E9DAC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9389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72B0D-3F5A-3FF8-8F58-83F08D0BE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C61B626C-D695-0C34-D7BF-E5366BE4D8AA}"/>
              </a:ext>
            </a:extLst>
          </p:cNvPr>
          <p:cNvSpPr/>
          <p:nvPr/>
        </p:nvSpPr>
        <p:spPr>
          <a:xfrm>
            <a:off x="2563313" y="9629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Optimization Objectives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4203A5-2B26-37DB-7A38-234E2F8C7863}"/>
                  </a:ext>
                </a:extLst>
              </p:cNvPr>
              <p:cNvSpPr txBox="1"/>
              <p:nvPr/>
            </p:nvSpPr>
            <p:spPr>
              <a:xfrm>
                <a:off x="901429" y="1955260"/>
                <a:ext cx="10389141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Formulation</a:t>
                </a:r>
              </a:p>
              <a:p>
                <a:r>
                  <a:rPr lang="en-US" dirty="0"/>
                  <a:t>Let:</a:t>
                </a:r>
              </a:p>
              <a:p>
                <a:r>
                  <a:rPr lang="en-US" dirty="0"/>
                  <a:t>x = number of units of product A</a:t>
                </a:r>
              </a:p>
              <a:p>
                <a:r>
                  <a:rPr lang="en-US" dirty="0"/>
                  <a:t>y = number of units of product B</a:t>
                </a:r>
              </a:p>
              <a:p>
                <a:endParaRPr lang="en-US" dirty="0"/>
              </a:p>
              <a:p>
                <a:r>
                  <a:rPr lang="en-IN" b="1" dirty="0"/>
                  <a:t>1. Objective Function (to maximize profit):</a:t>
                </a:r>
              </a:p>
              <a:p>
                <a:r>
                  <a:rPr lang="en-IN" dirty="0"/>
                  <a:t>		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	 </a:t>
                </a:r>
              </a:p>
              <a:p>
                <a:r>
                  <a:rPr lang="en-IN" b="1" dirty="0"/>
                  <a:t>2. Variables: 	</a:t>
                </a:r>
                <a:r>
                  <a:rPr lang="en-IN" dirty="0"/>
                  <a:t>x, y</a:t>
                </a:r>
              </a:p>
              <a:p>
                <a:endParaRPr lang="en-IN" dirty="0"/>
              </a:p>
              <a:p>
                <a:r>
                  <a:rPr lang="en-IN" b="1" dirty="0"/>
                  <a:t>3. Subject to Constraints:</a:t>
                </a:r>
              </a:p>
              <a:p>
                <a:r>
                  <a:rPr lang="en-IN" dirty="0"/>
                  <a:t>Labor: 	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≤8</m:t>
                    </m:r>
                  </m:oMath>
                </a14:m>
                <a:r>
                  <a:rPr lang="en-IN" dirty="0"/>
                  <a:t>		</a:t>
                </a:r>
              </a:p>
              <a:p>
                <a:r>
                  <a:rPr lang="en-IN" dirty="0"/>
                  <a:t>Material: 	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≤6</m:t>
                    </m:r>
                  </m:oMath>
                </a14:m>
                <a:r>
                  <a:rPr lang="en-IN" dirty="0"/>
                  <a:t>		</a:t>
                </a:r>
              </a:p>
              <a:p>
                <a:r>
                  <a:rPr lang="en-IN" dirty="0"/>
                  <a:t>Non-negativity: 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IN" dirty="0"/>
                  <a:t>		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4203A5-2B26-37DB-7A38-234E2F8C7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29" y="1955260"/>
                <a:ext cx="10389141" cy="3693319"/>
              </a:xfrm>
              <a:prstGeom prst="rect">
                <a:avLst/>
              </a:prstGeom>
              <a:blipFill>
                <a:blip r:embed="rId3"/>
                <a:stretch>
                  <a:fillRect l="-528" t="-990" b="-16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8428B61-3BC7-0817-AC66-9ADDE78DC927}"/>
              </a:ext>
            </a:extLst>
          </p:cNvPr>
          <p:cNvSpPr txBox="1"/>
          <p:nvPr/>
        </p:nvSpPr>
        <p:spPr>
          <a:xfrm>
            <a:off x="564690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619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0052" y="371659"/>
            <a:ext cx="9603275" cy="399454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Reference Books: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1. Russel and Norvig, ‘Artificial Intelligence’, third edition, Pearson Education, PHI, (2015)</a:t>
            </a:r>
          </a:p>
          <a:p>
            <a:pPr marL="0" indent="0">
              <a:buNone/>
            </a:pPr>
            <a:r>
              <a:rPr lang="en-US" sz="2200" dirty="0"/>
              <a:t>2. Elaine Rich &amp; Kevin Knight, ‘Artificial Intelligence’, 3nd Edition, Tata Mc Graw Hill Edition, Reprint( 2008)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https://www.virtusa.com/digital-themes/heuristic-search-techniques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https://towardsdatascience.com/a-star-a-search-algorithm-eb495fb156bb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2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https://www.tutorialandexample.com/local-search-algorithms-and-optimization-problem/</a:t>
            </a:r>
            <a:endParaRPr lang="en-IN" sz="22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http://cgi.di.uoa.gr/~ys02/siteAI2008/local-search-2spp.pdf</a:t>
            </a:r>
            <a:endParaRPr lang="en-IN" sz="22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2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http://aima.eecs.berkeley.edu/slides-pdf/chapter04b.pdf</a:t>
            </a:r>
            <a:endParaRPr lang="en-IN" sz="22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200" dirty="0"/>
          </a:p>
          <a:p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85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2387</TotalTime>
  <Words>900</Words>
  <Application>Microsoft Office PowerPoint</Application>
  <PresentationFormat>Widescreen</PresentationFormat>
  <Paragraphs>120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BioRhyme ExtraBold</vt:lpstr>
      <vt:lpstr>Calibri</vt:lpstr>
      <vt:lpstr>Calibri Light</vt:lpstr>
      <vt:lpstr>Cambria Math</vt:lpstr>
      <vt:lpstr>Poppins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ARTIFICIAL INTELLIGENT SYSTEMS</dc:title>
  <dc:creator>123</dc:creator>
  <cp:lastModifiedBy>P Manika Prasuna</cp:lastModifiedBy>
  <cp:revision>249</cp:revision>
  <dcterms:created xsi:type="dcterms:W3CDTF">2023-06-21T09:38:51Z</dcterms:created>
  <dcterms:modified xsi:type="dcterms:W3CDTF">2025-08-28T06:43:05Z</dcterms:modified>
</cp:coreProperties>
</file>