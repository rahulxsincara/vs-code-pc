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handoutMasterIdLst>
    <p:handoutMasterId r:id="rId20"/>
  </p:handoutMasterIdLst>
  <p:sldIdLst>
    <p:sldId id="256" r:id="rId2"/>
    <p:sldId id="276" r:id="rId3"/>
    <p:sldId id="277" r:id="rId4"/>
    <p:sldId id="278" r:id="rId5"/>
    <p:sldId id="279" r:id="rId6"/>
    <p:sldId id="280" r:id="rId7"/>
    <p:sldId id="302" r:id="rId8"/>
    <p:sldId id="281" r:id="rId9"/>
    <p:sldId id="303" r:id="rId10"/>
    <p:sldId id="304" r:id="rId11"/>
    <p:sldId id="282" r:id="rId12"/>
    <p:sldId id="283" r:id="rId13"/>
    <p:sldId id="284" r:id="rId14"/>
    <p:sldId id="285" r:id="rId15"/>
    <p:sldId id="286" r:id="rId16"/>
    <p:sldId id="300" r:id="rId17"/>
    <p:sldId id="30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52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544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644F58-5B20-E869-E77C-C0F8B126D4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60BF67-7A8A-CC30-946D-343E6F7B7F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3ACDD-0F07-4DA2-90FB-487D20C5410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28392D-4986-B627-D445-87FF7EC797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4455C3-9724-ECC3-A882-4DB8FAE010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9FF142-8412-46FD-A27C-3EB6E62B083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3594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C30D7-9224-4B97-9E82-8CDBF687CA76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7B08B-E445-45F2-ACFB-8FC9CD79099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525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609D-16D5-5CAC-7D3C-EC9473C9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150EB-8023-0BB3-E68C-E7A2FCDFC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66765-2034-0547-0AC4-5DC8AA287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2C38D-6A34-9193-77CB-46CDE94A9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64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609D-16D5-5CAC-7D3C-EC9473C9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150EB-8023-0BB3-E68C-E7A2FCDFC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66765-2034-0547-0AC4-5DC8AA287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2C38D-6A34-9193-77CB-46CDE94A9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64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609D-16D5-5CAC-7D3C-EC9473C9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150EB-8023-0BB3-E68C-E7A2FCDFC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66765-2034-0547-0AC4-5DC8AA287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2C38D-6A34-9193-77CB-46CDE94A9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64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609D-16D5-5CAC-7D3C-EC9473C9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150EB-8023-0BB3-E68C-E7A2FCDFC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66765-2034-0547-0AC4-5DC8AA287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2C38D-6A34-9193-77CB-46CDE94A9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64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609D-16D5-5CAC-7D3C-EC9473C9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150EB-8023-0BB3-E68C-E7A2FCDFC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66765-2034-0547-0AC4-5DC8AA287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2C38D-6A34-9193-77CB-46CDE94A9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64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609D-16D5-5CAC-7D3C-EC9473C9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150EB-8023-0BB3-E68C-E7A2FCDFC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66765-2034-0547-0AC4-5DC8AA287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2C38D-6A34-9193-77CB-46CDE94A9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64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609D-16D5-5CAC-7D3C-EC9473C9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150EB-8023-0BB3-E68C-E7A2FCDFC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66765-2034-0547-0AC4-5DC8AA287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2C38D-6A34-9193-77CB-46CDE94A9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64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609D-16D5-5CAC-7D3C-EC9473C9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150EB-8023-0BB3-E68C-E7A2FCDFC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66765-2034-0547-0AC4-5DC8AA287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2C38D-6A34-9193-77CB-46CDE94A9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64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609D-16D5-5CAC-7D3C-EC9473C9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150EB-8023-0BB3-E68C-E7A2FCDFC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66765-2034-0547-0AC4-5DC8AA287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2C38D-6A34-9193-77CB-46CDE94A9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64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609D-16D5-5CAC-7D3C-EC9473C9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150EB-8023-0BB3-E68C-E7A2FCDFC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66765-2034-0547-0AC4-5DC8AA287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2C38D-6A34-9193-77CB-46CDE94A9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64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609D-16D5-5CAC-7D3C-EC9473C9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150EB-8023-0BB3-E68C-E7A2FCDFC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66765-2034-0547-0AC4-5DC8AA287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2C38D-6A34-9193-77CB-46CDE94A9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64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609D-16D5-5CAC-7D3C-EC9473C9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150EB-8023-0BB3-E68C-E7A2FCDFC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66765-2034-0547-0AC4-5DC8AA287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2C38D-6A34-9193-77CB-46CDE94A9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64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609D-16D5-5CAC-7D3C-EC9473C9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150EB-8023-0BB3-E68C-E7A2FCDFC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66765-2034-0547-0AC4-5DC8AA287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2C38D-6A34-9193-77CB-46CDE94A9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64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609D-16D5-5CAC-7D3C-EC9473C9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150EB-8023-0BB3-E68C-E7A2FCDFC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66765-2034-0547-0AC4-5DC8AA287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2C38D-6A34-9193-77CB-46CDE94A9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64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48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4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66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55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12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0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1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36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33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55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697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01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3F2F65-8282-9C7E-CEBC-B3FCF09DF9DC}"/>
              </a:ext>
            </a:extLst>
          </p:cNvPr>
          <p:cNvSpPr txBox="1"/>
          <p:nvPr/>
        </p:nvSpPr>
        <p:spPr>
          <a:xfrm>
            <a:off x="1267097" y="1288145"/>
            <a:ext cx="96578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ARTIFICIAL INTELLIGENCE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&amp;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MACHINE LEARNING</a:t>
            </a:r>
            <a:endParaRPr lang="en-IN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010671-249C-340E-19B5-2BA72FEB1F0C}"/>
              </a:ext>
            </a:extLst>
          </p:cNvPr>
          <p:cNvSpPr txBox="1"/>
          <p:nvPr/>
        </p:nvSpPr>
        <p:spPr>
          <a:xfrm>
            <a:off x="971550" y="3566771"/>
            <a:ext cx="10473197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0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+mj-ea"/>
                <a:cs typeface="+mj-cs"/>
              </a:rPr>
              <a:t>SESSION NO : 19</a:t>
            </a:r>
            <a:endParaRPr lang="en-US" sz="3000" b="1" cap="all" dirty="0">
              <a:latin typeface="Gill Sans MT"/>
              <a:ea typeface="+mj-ea"/>
              <a:cs typeface="+mj-cs"/>
            </a:endParaRPr>
          </a:p>
          <a:p>
            <a:pPr algn="ctr"/>
            <a:endParaRPr lang="en-US" sz="3000" b="1" cap="all" dirty="0">
              <a:latin typeface="Gill Sans MT"/>
              <a:ea typeface="+mj-ea"/>
              <a:cs typeface="+mj-cs"/>
            </a:endParaRPr>
          </a:p>
          <a:p>
            <a:pPr algn="ctr"/>
            <a:r>
              <a:rPr lang="en-US" sz="3200" b="1" dirty="0"/>
              <a:t>Variable Types, Scaling (standardization, normalization), encoding (one hot, embeddings).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2075-C6EC-89A5-83F0-A8ECFC88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A57B0C84-82FC-6CF5-4072-A37550AAF503}"/>
              </a:ext>
            </a:extLst>
          </p:cNvPr>
          <p:cNvSpPr/>
          <p:nvPr/>
        </p:nvSpPr>
        <p:spPr>
          <a:xfrm>
            <a:off x="2158584" y="962941"/>
            <a:ext cx="7479395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 The Importance of Data Preprocessing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C52BD-ECA9-DE58-F21E-58EC2C240500}"/>
              </a:ext>
            </a:extLst>
          </p:cNvPr>
          <p:cNvSpPr txBox="1"/>
          <p:nvPr/>
        </p:nvSpPr>
        <p:spPr>
          <a:xfrm>
            <a:off x="1219200" y="1801092"/>
            <a:ext cx="100445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25425">
              <a:buFont typeface="Wingdings" pitchFamily="2" charset="2"/>
              <a:buChar char="§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Raw data is rarely model-ready.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Preprocessing is the essential step of cleaning and transforming raw data into a format that machine learning algorithms can understand effectively.</a:t>
            </a:r>
          </a:p>
          <a:p>
            <a:pPr indent="225425">
              <a:lnSpc>
                <a:spcPct val="150000"/>
              </a:lnSpc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9A402-AC11-B307-B118-ED55600E9DAC}"/>
              </a:ext>
            </a:extLst>
          </p:cNvPr>
          <p:cNvSpPr txBox="1"/>
          <p:nvPr/>
        </p:nvSpPr>
        <p:spPr>
          <a:xfrm>
            <a:off x="564690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1026" name="Picture 2" descr="C:\Users\KUMARESANPC\Documents\fig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6842" y="2535382"/>
            <a:ext cx="4712185" cy="3556722"/>
          </a:xfrm>
          <a:prstGeom prst="rect">
            <a:avLst/>
          </a:prstGeom>
          <a:noFill/>
        </p:spPr>
      </p:pic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389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2075-C6EC-89A5-83F0-A8ECFC88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A57B0C84-82FC-6CF5-4072-A37550AAF503}"/>
              </a:ext>
            </a:extLst>
          </p:cNvPr>
          <p:cNvSpPr/>
          <p:nvPr/>
        </p:nvSpPr>
        <p:spPr>
          <a:xfrm>
            <a:off x="2158584" y="962941"/>
            <a:ext cx="7479395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 The Importance of Data Preprocessing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C52BD-ECA9-DE58-F21E-58EC2C240500}"/>
              </a:ext>
            </a:extLst>
          </p:cNvPr>
          <p:cNvSpPr txBox="1"/>
          <p:nvPr/>
        </p:nvSpPr>
        <p:spPr>
          <a:xfrm>
            <a:off x="901429" y="1738860"/>
            <a:ext cx="1038914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25425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Requirements: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Many algorithms (e.g., SVM, K-Means, Gradient Descent-based models) require scaled data to perform correctly.</a:t>
            </a:r>
          </a:p>
          <a:p>
            <a:pPr indent="225425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Performance: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Improves model convergence speed and accuracy.</a:t>
            </a:r>
          </a:p>
          <a:p>
            <a:pPr indent="225425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Fairness: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Prevents features with larger scales (like salary) from dominating those with smaller scales (like age).</a:t>
            </a:r>
          </a:p>
          <a:p>
            <a:pPr indent="225425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Compatibility: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Algorithms only work with numerical values.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9A402-AC11-B307-B118-ED55600E9DAC}"/>
              </a:ext>
            </a:extLst>
          </p:cNvPr>
          <p:cNvSpPr txBox="1"/>
          <p:nvPr/>
        </p:nvSpPr>
        <p:spPr>
          <a:xfrm>
            <a:off x="564690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389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2075-C6EC-89A5-83F0-A8ECFC88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A57B0C84-82FC-6CF5-4072-A37550AAF503}"/>
              </a:ext>
            </a:extLst>
          </p:cNvPr>
          <p:cNvSpPr/>
          <p:nvPr/>
        </p:nvSpPr>
        <p:spPr>
          <a:xfrm>
            <a:off x="2158584" y="962941"/>
            <a:ext cx="7479395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 </a:t>
            </a:r>
            <a:r>
              <a:rPr lang="en-US" sz="3200" b="1" dirty="0"/>
              <a:t>Know Your Data: Variable Types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C52BD-ECA9-DE58-F21E-58EC2C240500}"/>
              </a:ext>
            </a:extLst>
          </p:cNvPr>
          <p:cNvSpPr txBox="1"/>
          <p:nvPr/>
        </p:nvSpPr>
        <p:spPr>
          <a:xfrm>
            <a:off x="901429" y="1798820"/>
            <a:ext cx="10389141" cy="4865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Categorical vs. Numerical Data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Categorical (Qualitative)</a:t>
            </a:r>
          </a:p>
          <a:p>
            <a:pPr indent="2841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Represents groups or categories.</a:t>
            </a:r>
          </a:p>
          <a:p>
            <a:pPr indent="2841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Nominal: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No order (e.g., Country, Color, Product Type).</a:t>
            </a:r>
          </a:p>
          <a:p>
            <a:pPr indent="2841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Ordinal: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Has a meaningful order (e.g., Education Level, Satisfaction Rating (Low, Med, High)).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Numerical (Quantitative)</a:t>
            </a:r>
          </a:p>
          <a:p>
            <a:pPr indent="2841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Represents measurable quantities.</a:t>
            </a:r>
          </a:p>
          <a:p>
            <a:pPr indent="2841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Discrete: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Countable integers (e.g., Number of Children, Page Views).</a:t>
            </a:r>
          </a:p>
          <a:p>
            <a:pPr indent="2841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Continuous: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Infinite possible values (e.g., Height, Weight, Temperature).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9A402-AC11-B307-B118-ED55600E9DAC}"/>
              </a:ext>
            </a:extLst>
          </p:cNvPr>
          <p:cNvSpPr txBox="1"/>
          <p:nvPr/>
        </p:nvSpPr>
        <p:spPr>
          <a:xfrm>
            <a:off x="564690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050" name="Picture 2" descr="C:\Users\KUMARESANPC\Documents\download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68224" y="1953491"/>
            <a:ext cx="2653933" cy="1727921"/>
          </a:xfrm>
          <a:prstGeom prst="rect">
            <a:avLst/>
          </a:prstGeom>
          <a:noFill/>
        </p:spPr>
      </p:pic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389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2075-C6EC-89A5-83F0-A8ECFC88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A57B0C84-82FC-6CF5-4072-A37550AAF503}"/>
              </a:ext>
            </a:extLst>
          </p:cNvPr>
          <p:cNvSpPr/>
          <p:nvPr/>
        </p:nvSpPr>
        <p:spPr>
          <a:xfrm>
            <a:off x="2203555" y="977932"/>
            <a:ext cx="8079002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 </a:t>
            </a:r>
            <a:r>
              <a:rPr lang="en-US" sz="3200" b="1" dirty="0"/>
              <a:t> Problem: Features on Different Scales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C52BD-ECA9-DE58-F21E-58EC2C240500}"/>
              </a:ext>
            </a:extLst>
          </p:cNvPr>
          <p:cNvSpPr txBox="1"/>
          <p:nvPr/>
        </p:nvSpPr>
        <p:spPr>
          <a:xfrm>
            <a:off x="901429" y="1753850"/>
            <a:ext cx="1038914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The Dominating Feature Problem</a:t>
            </a:r>
          </a:p>
          <a:p>
            <a:pPr indent="284163">
              <a:lnSpc>
                <a:spcPct val="150000"/>
              </a:lnSpc>
              <a:buFont typeface="Courier New" pitchFamily="49" charset="0"/>
              <a:buChar char="o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Algorithms using distance calculations are highly sensitive to feature scales.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K-Nearest Neighbors (KNN)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Feature 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 Age (Range: 20 - 80 years)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Feature 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 Salary (Range: 40,000 - 120,000 USD)</a:t>
            </a:r>
          </a:p>
          <a:p>
            <a:pPr indent="284163">
              <a:lnSpc>
                <a:spcPct val="150000"/>
              </a:lnSpc>
              <a:buFont typeface="Courier New" pitchFamily="49" charset="0"/>
              <a:buChar char="o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The distance between points will be dominated by Salary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making Age almost irrelevant to the model's calculations.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Solution: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Feature Scaling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9A402-AC11-B307-B118-ED55600E9DAC}"/>
              </a:ext>
            </a:extLst>
          </p:cNvPr>
          <p:cNvSpPr txBox="1"/>
          <p:nvPr/>
        </p:nvSpPr>
        <p:spPr>
          <a:xfrm>
            <a:off x="564690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389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2075-C6EC-89A5-83F0-A8ECFC88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A57B0C84-82FC-6CF5-4072-A37550AAF503}"/>
              </a:ext>
            </a:extLst>
          </p:cNvPr>
          <p:cNvSpPr/>
          <p:nvPr/>
        </p:nvSpPr>
        <p:spPr>
          <a:xfrm>
            <a:off x="1364105" y="779489"/>
            <a:ext cx="9743606" cy="101933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 </a:t>
            </a:r>
            <a:r>
              <a:rPr lang="en-US" sz="3200" b="1" dirty="0"/>
              <a:t> Solution: Feature Scaling - Normalization (Min-Max Scaling)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C52BD-ECA9-DE58-F21E-58EC2C240500}"/>
              </a:ext>
            </a:extLst>
          </p:cNvPr>
          <p:cNvSpPr txBox="1"/>
          <p:nvPr/>
        </p:nvSpPr>
        <p:spPr>
          <a:xfrm>
            <a:off x="1191491" y="1828800"/>
            <a:ext cx="10099079" cy="429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Normalization (Min-Max Scaling)</a:t>
            </a:r>
          </a:p>
          <a:p>
            <a:pPr indent="234950"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Rescales features to a fixed range, usually 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[0, 1]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Formula: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X_new = (X -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X_min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) / (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X_max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X_min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Pros:</a:t>
            </a: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166688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Simple to implement.</a:t>
            </a:r>
          </a:p>
          <a:p>
            <a:pPr indent="166688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Preserves the original distribution.</a:t>
            </a:r>
          </a:p>
          <a:p>
            <a:pPr indent="166688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Good for algorithms that don't assume a distribution (e.g., KNN, Neural Networks).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Cons:</a:t>
            </a: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166688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Sensitive to outliers.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A single extreme outlier can compress the rest of the data.</a:t>
            </a:r>
          </a:p>
          <a:p>
            <a:pPr indent="166688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Use when: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You know the data is bounded or you have no major outliers.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9A402-AC11-B307-B118-ED55600E9DAC}"/>
              </a:ext>
            </a:extLst>
          </p:cNvPr>
          <p:cNvSpPr txBox="1"/>
          <p:nvPr/>
        </p:nvSpPr>
        <p:spPr>
          <a:xfrm>
            <a:off x="564690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3074" name="Picture 2" descr="C:\Users\KUMARESANPC\Documents\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16203" y="1947863"/>
            <a:ext cx="2619375" cy="1743075"/>
          </a:xfrm>
          <a:prstGeom prst="rect">
            <a:avLst/>
          </a:prstGeom>
          <a:noFill/>
        </p:spPr>
      </p:pic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389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2075-C6EC-89A5-83F0-A8ECFC88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A57B0C84-82FC-6CF5-4072-A37550AAF503}"/>
              </a:ext>
            </a:extLst>
          </p:cNvPr>
          <p:cNvSpPr/>
          <p:nvPr/>
        </p:nvSpPr>
        <p:spPr>
          <a:xfrm>
            <a:off x="1364105" y="779489"/>
            <a:ext cx="9743606" cy="101933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 </a:t>
            </a:r>
            <a:r>
              <a:rPr lang="en-US" sz="3200" b="1" dirty="0"/>
              <a:t> Solution: Feature Scaling - Normalization (Min-Max Scaling)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C52BD-ECA9-DE58-F21E-58EC2C240500}"/>
              </a:ext>
            </a:extLst>
          </p:cNvPr>
          <p:cNvSpPr txBox="1"/>
          <p:nvPr/>
        </p:nvSpPr>
        <p:spPr>
          <a:xfrm>
            <a:off x="1191491" y="1828799"/>
            <a:ext cx="10099079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Imagine we have a dataset of houses with a '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SqFt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' feature.</a:t>
            </a:r>
          </a:p>
          <a:p>
            <a:pPr>
              <a:buFont typeface="Arial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Original Data: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[1500, 2000, 3500, 1000]</a:t>
            </a:r>
          </a:p>
          <a:p>
            <a:pPr>
              <a:buFont typeface="Arial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Find min(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SqFt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 = 1000</a:t>
            </a:r>
          </a:p>
          <a:p>
            <a:pPr>
              <a:buFont typeface="Arial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Find max(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SqFt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 = 3500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Let's scale the first value, 1500: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(1500 - 1000) / (3500 - 1000) = 500 / 2500 = 0.2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Let's scale all values:</a:t>
            </a:r>
          </a:p>
          <a:p>
            <a:pPr>
              <a:buFont typeface="Arial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1500 -&gt; (1500-1000)/2500 = 0.2</a:t>
            </a:r>
          </a:p>
          <a:p>
            <a:pPr>
              <a:buFont typeface="Arial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2000 -&gt; (2000-1000)/2500 = 0.4</a:t>
            </a:r>
          </a:p>
          <a:p>
            <a:pPr>
              <a:buFont typeface="Arial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3500 -&gt; (3500-1000)/2500 = 1.0</a:t>
            </a:r>
          </a:p>
          <a:p>
            <a:pPr>
              <a:buFont typeface="Arial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1000 -&gt; (1000-1000)/2500 = 0.0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Scaled Data: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[0.2, 0.4, 1.0, 0.0]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data is now on a consistent scale from 0 to 1.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9A402-AC11-B307-B118-ED55600E9DAC}"/>
              </a:ext>
            </a:extLst>
          </p:cNvPr>
          <p:cNvSpPr txBox="1"/>
          <p:nvPr/>
        </p:nvSpPr>
        <p:spPr>
          <a:xfrm>
            <a:off x="564690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389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2075-C6EC-89A5-83F0-A8ECFC88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A57B0C84-82FC-6CF5-4072-A37550AAF503}"/>
              </a:ext>
            </a:extLst>
          </p:cNvPr>
          <p:cNvSpPr/>
          <p:nvPr/>
        </p:nvSpPr>
        <p:spPr>
          <a:xfrm>
            <a:off x="1364105" y="779489"/>
            <a:ext cx="9743606" cy="101933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Solution: Feature Scaling - Standardization (Z-Score Normalization)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C52BD-ECA9-DE58-F21E-58EC2C240500}"/>
              </a:ext>
            </a:extLst>
          </p:cNvPr>
          <p:cNvSpPr txBox="1"/>
          <p:nvPr/>
        </p:nvSpPr>
        <p:spPr>
          <a:xfrm>
            <a:off x="901429" y="1802860"/>
            <a:ext cx="10389141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1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Standardization (Z-Score Normalization)</a:t>
            </a:r>
          </a:p>
          <a:p>
            <a:pPr indent="234950"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Rescales data to have a 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mean of 0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 and a 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standard deviation of 1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en-US" sz="21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Formula:</a:t>
            </a:r>
            <a:br>
              <a:rPr lang="en-US" sz="2100" dirty="0">
                <a:latin typeface="Times New Roman" pitchFamily="18" charset="0"/>
                <a:cs typeface="Times New Roman" pitchFamily="18" charset="0"/>
              </a:rPr>
            </a:b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X_new = (X - μ) / σ</a:t>
            </a:r>
          </a:p>
          <a:p>
            <a:pPr>
              <a:spcBef>
                <a:spcPts val="600"/>
              </a:spcBef>
            </a:pPr>
            <a:r>
              <a:rPr lang="en-US" sz="21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Pros:</a:t>
            </a:r>
            <a:endParaRPr lang="en-US" sz="21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Less sensitive to outliers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 than Min-Max scaling.</a:t>
            </a:r>
          </a:p>
          <a:p>
            <a:pPr indent="2349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Works well for algorithms that assume a Gaussian (normal) distribution (e.g., Linear Regression, Logistic Regression).</a:t>
            </a:r>
          </a:p>
          <a:p>
            <a:pPr>
              <a:spcBef>
                <a:spcPts val="600"/>
              </a:spcBef>
            </a:pPr>
            <a:r>
              <a:rPr lang="en-US" sz="21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Cons:</a:t>
            </a:r>
            <a:endParaRPr lang="en-US" sz="21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349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Does not bound values to a specific range.</a:t>
            </a:r>
          </a:p>
          <a:p>
            <a:pPr indent="2349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Use when: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 The data contains outliers or when the algorithm assumes a normal distribution.</a:t>
            </a:r>
            <a:endParaRPr lang="en-IN" sz="2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9A402-AC11-B307-B118-ED55600E9DAC}"/>
              </a:ext>
            </a:extLst>
          </p:cNvPr>
          <p:cNvSpPr txBox="1"/>
          <p:nvPr/>
        </p:nvSpPr>
        <p:spPr>
          <a:xfrm>
            <a:off x="564690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4098" name="Picture 2" descr="C:\Users\KUMARESANPC\Documents\4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85398" y="2644486"/>
            <a:ext cx="3512237" cy="1373332"/>
          </a:xfrm>
          <a:prstGeom prst="rect">
            <a:avLst/>
          </a:prstGeom>
          <a:noFill/>
        </p:spPr>
      </p:pic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389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2075-C6EC-89A5-83F0-A8ECFC88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A57B0C84-82FC-6CF5-4072-A37550AAF503}"/>
              </a:ext>
            </a:extLst>
          </p:cNvPr>
          <p:cNvSpPr/>
          <p:nvPr/>
        </p:nvSpPr>
        <p:spPr>
          <a:xfrm>
            <a:off x="2053654" y="254833"/>
            <a:ext cx="9248930" cy="629587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Solution: Feature Scaling - Standardization (Z-Score Normalization)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C52BD-ECA9-DE58-F21E-58EC2C240500}"/>
              </a:ext>
            </a:extLst>
          </p:cNvPr>
          <p:cNvSpPr txBox="1"/>
          <p:nvPr/>
        </p:nvSpPr>
        <p:spPr>
          <a:xfrm>
            <a:off x="931409" y="963411"/>
            <a:ext cx="10389141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Example:</a:t>
            </a:r>
            <a:br>
              <a:rPr lang="en-US" dirty="0"/>
            </a:br>
            <a:r>
              <a:rPr lang="en-US" dirty="0"/>
              <a:t>Using the same '</a:t>
            </a:r>
            <a:r>
              <a:rPr lang="en-US" dirty="0" err="1"/>
              <a:t>SqFt</a:t>
            </a:r>
            <a:r>
              <a:rPr lang="en-US" dirty="0"/>
              <a:t>' data: [1500, 2000, 3500, 1000]</a:t>
            </a:r>
          </a:p>
          <a:p>
            <a:r>
              <a:rPr lang="en-US" b="1" dirty="0"/>
              <a:t>Step 1: Calculate the Mean (μ)</a:t>
            </a:r>
            <a:br>
              <a:rPr lang="en-US" dirty="0"/>
            </a:br>
            <a:r>
              <a:rPr lang="en-US" dirty="0"/>
              <a:t>(1500 + 2000 + 3500 + 1000) / 4 = 8000 / 4 = 2000</a:t>
            </a:r>
          </a:p>
          <a:p>
            <a:r>
              <a:rPr lang="en-US" b="1" dirty="0"/>
              <a:t>Step 2: Calculate the Standard Deviation (σ)</a:t>
            </a:r>
            <a:endParaRPr lang="en-US" dirty="0"/>
          </a:p>
          <a:p>
            <a:pPr lvl="1"/>
            <a:r>
              <a:rPr lang="en-US" dirty="0"/>
              <a:t>Find the differences from the mean:</a:t>
            </a:r>
            <a:br>
              <a:rPr lang="en-US" dirty="0"/>
            </a:br>
            <a:r>
              <a:rPr lang="en-US" dirty="0"/>
              <a:t>[1500-2000, 2000-2000, 3500-2000, 1000-2000] = [-500, 0, 1500, -1000]</a:t>
            </a:r>
          </a:p>
          <a:p>
            <a:pPr lvl="1"/>
            <a:r>
              <a:rPr lang="en-US" dirty="0"/>
              <a:t>Square the differences:</a:t>
            </a:r>
            <a:br>
              <a:rPr lang="en-US" dirty="0"/>
            </a:br>
            <a:r>
              <a:rPr lang="en-US" dirty="0"/>
              <a:t>[250000, 0, 2250000, 1000000]</a:t>
            </a:r>
          </a:p>
          <a:p>
            <a:pPr lvl="1"/>
            <a:r>
              <a:rPr lang="en-US" dirty="0"/>
              <a:t>Calculate the mean of these squares (this is the Variance):</a:t>
            </a:r>
            <a:br>
              <a:rPr lang="en-US" dirty="0"/>
            </a:br>
            <a:r>
              <a:rPr lang="en-US" dirty="0"/>
              <a:t>(250000 + 0 + 2250000 + 1000000) / 4 = 3,500,000 / 4 = 875,000</a:t>
            </a:r>
          </a:p>
          <a:p>
            <a:pPr lvl="1"/>
            <a:r>
              <a:rPr lang="en-US" dirty="0"/>
              <a:t>Take the square root of the variance to get σ:</a:t>
            </a:r>
            <a:br>
              <a:rPr lang="en-US" dirty="0"/>
            </a:br>
            <a:r>
              <a:rPr lang="en-US" dirty="0" err="1"/>
              <a:t>sqrt</a:t>
            </a:r>
            <a:r>
              <a:rPr lang="en-US" dirty="0"/>
              <a:t>(875,000) ≈ 935.41</a:t>
            </a:r>
          </a:p>
          <a:p>
            <a:r>
              <a:rPr lang="en-US" b="1" dirty="0"/>
              <a:t>Step 3: Apply the Formula to each value</a:t>
            </a:r>
            <a:endParaRPr lang="en-US" dirty="0"/>
          </a:p>
          <a:p>
            <a:pPr lvl="1"/>
            <a:r>
              <a:rPr lang="en-US" dirty="0"/>
              <a:t>1500: (1500 - 2000) / 935.41 ≈ (-500) / 935.41 ≈ -0.535</a:t>
            </a:r>
          </a:p>
          <a:p>
            <a:pPr lvl="1"/>
            <a:r>
              <a:rPr lang="en-US" dirty="0"/>
              <a:t>2000: (2000 - 2000) / 935.41 = 0 / 935.41 = 0</a:t>
            </a:r>
          </a:p>
          <a:p>
            <a:pPr lvl="1"/>
            <a:r>
              <a:rPr lang="en-US" dirty="0"/>
              <a:t>3500: (3500 - 2000) / 935.41 ≈ 1500 / 935.41 ≈ 1.604</a:t>
            </a:r>
          </a:p>
          <a:p>
            <a:pPr lvl="1"/>
            <a:r>
              <a:rPr lang="en-US" dirty="0"/>
              <a:t>1000: (1000 - 2000) / 935.41 ≈ (-1000) / 935.41 ≈ -1.069</a:t>
            </a:r>
          </a:p>
          <a:p>
            <a:r>
              <a:rPr lang="en-US" b="1" dirty="0"/>
              <a:t>Standardized Data:</a:t>
            </a:r>
            <a:r>
              <a:rPr lang="en-US" dirty="0"/>
              <a:t> [-0.535, 0, 1.604, -1.069]</a:t>
            </a:r>
            <a:br>
              <a:rPr lang="en-US" dirty="0"/>
            </a:br>
            <a:r>
              <a:rPr lang="en-US" dirty="0"/>
              <a:t>The data now has a mean of 0 and a standard deviation of ~1</a:t>
            </a:r>
            <a:endParaRPr lang="en-IN" sz="2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9A402-AC11-B307-B118-ED55600E9DAC}"/>
              </a:ext>
            </a:extLst>
          </p:cNvPr>
          <p:cNvSpPr txBox="1"/>
          <p:nvPr/>
        </p:nvSpPr>
        <p:spPr>
          <a:xfrm>
            <a:off x="564690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389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2075-C6EC-89A5-83F0-A8ECFC88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A57B0C84-82FC-6CF5-4072-A37550AAF503}"/>
              </a:ext>
            </a:extLst>
          </p:cNvPr>
          <p:cNvSpPr/>
          <p:nvPr/>
        </p:nvSpPr>
        <p:spPr>
          <a:xfrm>
            <a:off x="2053654" y="329785"/>
            <a:ext cx="9248930" cy="554636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Comparison Table</a:t>
            </a:r>
          </a:p>
          <a:p>
            <a:pPr algn="ctr"/>
            <a:br>
              <a:rPr lang="en-US" sz="2400" b="1" dirty="0"/>
            </a:br>
            <a:endParaRPr lang="en-US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9A402-AC11-B307-B118-ED55600E9DAC}"/>
              </a:ext>
            </a:extLst>
          </p:cNvPr>
          <p:cNvSpPr txBox="1"/>
          <p:nvPr/>
        </p:nvSpPr>
        <p:spPr>
          <a:xfrm>
            <a:off x="564690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74166" y="1089515"/>
          <a:ext cx="9773586" cy="54027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57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648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Feature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Scaling (Min-Max)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Standardization (Z-Score)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477">
                <a:tc>
                  <a:txBody>
                    <a:bodyPr/>
                    <a:lstStyle/>
                    <a:p>
                      <a:r>
                        <a:rPr lang="en-US" b="1"/>
                        <a:t>Purpose</a:t>
                      </a:r>
                      <a:endParaRPr lang="en-US"/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Changes the </a:t>
                      </a:r>
                      <a:r>
                        <a:rPr lang="en-US" b="1"/>
                        <a:t>range</a:t>
                      </a:r>
                      <a:r>
                        <a:rPr lang="en-US"/>
                        <a:t> of data (e.g., to [0, 1]).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Changes the </a:t>
                      </a:r>
                      <a:r>
                        <a:rPr lang="en-US" b="1" dirty="0"/>
                        <a:t>distribution</a:t>
                      </a:r>
                      <a:r>
                        <a:rPr lang="en-US" dirty="0"/>
                        <a:t> to mean=0, std=1.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228">
                <a:tc>
                  <a:txBody>
                    <a:bodyPr/>
                    <a:lstStyle/>
                    <a:p>
                      <a:r>
                        <a:rPr lang="en-US" b="1"/>
                        <a:t>Formula</a:t>
                      </a:r>
                      <a:endParaRPr lang="en-US"/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(X - X_min) / (X_max - X_min)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(X - </a:t>
                      </a:r>
                      <a:r>
                        <a:rPr lang="el-GR" dirty="0"/>
                        <a:t>μ) / σ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375">
                <a:tc>
                  <a:txBody>
                    <a:bodyPr/>
                    <a:lstStyle/>
                    <a:p>
                      <a:r>
                        <a:rPr lang="en-US" b="1"/>
                        <a:t>Result Range</a:t>
                      </a:r>
                      <a:endParaRPr lang="en-US"/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 predefined range (e.g., [0, 1]).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fixed range. Can be any real number.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375">
                <a:tc>
                  <a:txBody>
                    <a:bodyPr/>
                    <a:lstStyle/>
                    <a:p>
                      <a:r>
                        <a:rPr lang="en-US" b="1"/>
                        <a:t>Affected by Outliers?</a:t>
                      </a:r>
                      <a:endParaRPr lang="en-US"/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Yes</a:t>
                      </a:r>
                      <a:r>
                        <a:rPr lang="en-US"/>
                        <a:t>, heavily. Min/Max are skewed by outliers.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Less</a:t>
                      </a:r>
                      <a:r>
                        <a:rPr lang="en-US" dirty="0"/>
                        <a:t>, as it uses mean/std. More robust.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6976">
                <a:tc>
                  <a:txBody>
                    <a:bodyPr/>
                    <a:lstStyle/>
                    <a:p>
                      <a:r>
                        <a:rPr lang="en-US" b="1"/>
                        <a:t>Use Case</a:t>
                      </a:r>
                      <a:endParaRPr lang="en-US"/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Neural networks requiring input values between 0-1. Algorithms that rely on gradient descent.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Algorithms that assume centered data (e.g., SVM, Linear Regression, PCA). Most common default choice.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4375">
                <a:tc>
                  <a:txBody>
                    <a:bodyPr/>
                    <a:lstStyle/>
                    <a:p>
                      <a:r>
                        <a:rPr lang="en-US" b="1"/>
                        <a:t>Example Algorithms</a:t>
                      </a:r>
                      <a:endParaRPr lang="en-US"/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K-Nearest Neighbors, CNNs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SVMs, Logistic Regression, PCA, LDA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389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2075-C6EC-89A5-83F0-A8ECFC88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A57B0C84-82FC-6CF5-4072-A37550AAF503}"/>
              </a:ext>
            </a:extLst>
          </p:cNvPr>
          <p:cNvSpPr/>
          <p:nvPr/>
        </p:nvSpPr>
        <p:spPr>
          <a:xfrm>
            <a:off x="1424066" y="977932"/>
            <a:ext cx="9653665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Encoding Categorical Variables: The Problem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C52BD-ECA9-DE58-F21E-58EC2C240500}"/>
              </a:ext>
            </a:extLst>
          </p:cNvPr>
          <p:cNvSpPr txBox="1"/>
          <p:nvPr/>
        </p:nvSpPr>
        <p:spPr>
          <a:xfrm>
            <a:off x="1052945" y="1677763"/>
            <a:ext cx="102376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Machines Don't Speak English</a:t>
            </a:r>
          </a:p>
          <a:p>
            <a:pPr indent="2349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Machine learning models are mathematical constructs. They require 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numerical input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We cannot do this: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model.fit([["UK"], ["USA"], ["France"]])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We must convert text labels to numbers. But how?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Incorrect Approach: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Label Encoding (0, 1, 2)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UK=0, USA=1, France=2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Problem: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model might incorrectly assume an 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order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(France &gt; USA &gt; UK), which doesn't exist for nominal data.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9A402-AC11-B307-B118-ED55600E9DAC}"/>
              </a:ext>
            </a:extLst>
          </p:cNvPr>
          <p:cNvSpPr txBox="1"/>
          <p:nvPr/>
        </p:nvSpPr>
        <p:spPr>
          <a:xfrm>
            <a:off x="564690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389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2075-C6EC-89A5-83F0-A8ECFC88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A57B0C84-82FC-6CF5-4072-A37550AAF503}"/>
              </a:ext>
            </a:extLst>
          </p:cNvPr>
          <p:cNvSpPr/>
          <p:nvPr/>
        </p:nvSpPr>
        <p:spPr>
          <a:xfrm>
            <a:off x="1424066" y="977932"/>
            <a:ext cx="9653665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Encoding Solution #1: One-Hot Encoding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C52BD-ECA9-DE58-F21E-58EC2C240500}"/>
              </a:ext>
            </a:extLst>
          </p:cNvPr>
          <p:cNvSpPr txBox="1"/>
          <p:nvPr/>
        </p:nvSpPr>
        <p:spPr>
          <a:xfrm>
            <a:off x="901429" y="1898072"/>
            <a:ext cx="103891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One-Hot Encoding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Creates 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new binary (dummy) columns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for each category.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9A402-AC11-B307-B118-ED55600E9DAC}"/>
              </a:ext>
            </a:extLst>
          </p:cNvPr>
          <p:cNvSpPr txBox="1"/>
          <p:nvPr/>
        </p:nvSpPr>
        <p:spPr>
          <a:xfrm>
            <a:off x="564690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5122" name="Picture 2" descr="C:\Users\KUMARESANPC\Documents\5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69938" y="2693410"/>
            <a:ext cx="6878864" cy="3279131"/>
          </a:xfrm>
          <a:prstGeom prst="rect">
            <a:avLst/>
          </a:prstGeom>
          <a:noFill/>
        </p:spPr>
      </p:pic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389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2075-C6EC-89A5-83F0-A8ECFC88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A57B0C84-82FC-6CF5-4072-A37550AAF503}"/>
              </a:ext>
            </a:extLst>
          </p:cNvPr>
          <p:cNvSpPr/>
          <p:nvPr/>
        </p:nvSpPr>
        <p:spPr>
          <a:xfrm>
            <a:off x="1424066" y="977932"/>
            <a:ext cx="9653665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Encoding Solution #1: One-Hot Encoding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C52BD-ECA9-DE58-F21E-58EC2C240500}"/>
              </a:ext>
            </a:extLst>
          </p:cNvPr>
          <p:cNvSpPr txBox="1"/>
          <p:nvPr/>
        </p:nvSpPr>
        <p:spPr>
          <a:xfrm>
            <a:off x="1191492" y="1898072"/>
            <a:ext cx="9906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Pros:</a:t>
            </a:r>
          </a:p>
          <a:p>
            <a:pPr indent="2349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Prevents false ordinal relationships.</a:t>
            </a:r>
          </a:p>
          <a:p>
            <a:pPr indent="2349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Works well with nominal data.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Cons:</a:t>
            </a:r>
            <a:endParaRPr lang="en-US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349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Curse of Dimensionality: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If a category has many unique values (e.g., Zip Code), it creates many new columns, making the dataset sparse.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9A402-AC11-B307-B118-ED55600E9DAC}"/>
              </a:ext>
            </a:extLst>
          </p:cNvPr>
          <p:cNvSpPr txBox="1"/>
          <p:nvPr/>
        </p:nvSpPr>
        <p:spPr>
          <a:xfrm>
            <a:off x="564690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389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2075-C6EC-89A5-83F0-A8ECFC88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A57B0C84-82FC-6CF5-4072-A37550AAF503}"/>
              </a:ext>
            </a:extLst>
          </p:cNvPr>
          <p:cNvSpPr/>
          <p:nvPr/>
        </p:nvSpPr>
        <p:spPr>
          <a:xfrm>
            <a:off x="1424066" y="1136072"/>
            <a:ext cx="9576443" cy="572807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Encoding Solution #2: Label Encoding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C52BD-ECA9-DE58-F21E-58EC2C240500}"/>
              </a:ext>
            </a:extLst>
          </p:cNvPr>
          <p:cNvSpPr txBox="1"/>
          <p:nvPr/>
        </p:nvSpPr>
        <p:spPr>
          <a:xfrm>
            <a:off x="901429" y="1955260"/>
            <a:ext cx="1038914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Label Encoding</a:t>
            </a:r>
          </a:p>
          <a:p>
            <a:pPr indent="2349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Only use Label Encoding for Ordinal Variables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where the order is meaningful.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Education Level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High School = 0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Bachelor's = 1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Master's = 2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PhD = 3</a:t>
            </a:r>
          </a:p>
          <a:p>
            <a:pPr marL="234950" indent="-2349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Here, the numerical order 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correctly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represents the inherent order of the categories.</a:t>
            </a:r>
          </a:p>
          <a:p>
            <a:pPr marL="234950" indent="-2349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Do NOT use for nominal data.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9A402-AC11-B307-B118-ED55600E9DAC}"/>
              </a:ext>
            </a:extLst>
          </p:cNvPr>
          <p:cNvSpPr txBox="1"/>
          <p:nvPr/>
        </p:nvSpPr>
        <p:spPr>
          <a:xfrm>
            <a:off x="564690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6146" name="Picture 2" descr="C:\Users\KUMARESANPC\Documents\6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4424" y="3326824"/>
            <a:ext cx="3257550" cy="1257300"/>
          </a:xfrm>
          <a:prstGeom prst="rect">
            <a:avLst/>
          </a:prstGeom>
          <a:noFill/>
        </p:spPr>
      </p:pic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389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2075-C6EC-89A5-83F0-A8ECFC88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A57B0C84-82FC-6CF5-4072-A37550AAF503}"/>
              </a:ext>
            </a:extLst>
          </p:cNvPr>
          <p:cNvSpPr/>
          <p:nvPr/>
        </p:nvSpPr>
        <p:spPr>
          <a:xfrm>
            <a:off x="1424066" y="1184222"/>
            <a:ext cx="9653665" cy="524657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Encoding Solution #3: Embeddings (Advanced)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C52BD-ECA9-DE58-F21E-58EC2C240500}"/>
              </a:ext>
            </a:extLst>
          </p:cNvPr>
          <p:cNvSpPr txBox="1"/>
          <p:nvPr/>
        </p:nvSpPr>
        <p:spPr>
          <a:xfrm>
            <a:off x="901429" y="1787236"/>
            <a:ext cx="10389141" cy="445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Embeddings for High-Cardinality Data</a:t>
            </a:r>
          </a:p>
          <a:p>
            <a:pPr indent="2349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An 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advanced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 technique that learns a meaningful, lower-dimensional representation of categories.</a:t>
            </a:r>
          </a:p>
          <a:p>
            <a:pPr indent="2349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Instead of a sparse one-hot vector [0,0,1,0,...,0], an embedding is a dense vector like [0.24, -0.87, 0.19].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Key Benefit: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indent="2349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Similar categories (e.g., "Dog" &amp; "Cat") will have similar vector representations.</a:t>
            </a:r>
          </a:p>
          <a:p>
            <a:pPr indent="2349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Learned automatically by models like Neural Networks during training.</a:t>
            </a:r>
          </a:p>
          <a:p>
            <a:pPr indent="2349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Commonly used in NLP (Word2Vec) and for user/item IDs in recommendation systems.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9A402-AC11-B307-B118-ED55600E9DAC}"/>
              </a:ext>
            </a:extLst>
          </p:cNvPr>
          <p:cNvSpPr txBox="1"/>
          <p:nvPr/>
        </p:nvSpPr>
        <p:spPr>
          <a:xfrm>
            <a:off x="564690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389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4203" y="1858780"/>
            <a:ext cx="10013430" cy="415149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Books: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Book: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Hands-On Machine Learning with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-Learn,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Keras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and TensorFlow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Author: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Aurélien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Géron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Editions: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3rd Edition (2022) is best, but 2nd is also excellent. 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Book: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An Introduction to Statistical Learning with Applications in R or Python 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Authors: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Gareth James, Daniela Witten, Trevor Hastie, Robert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Tibshirani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Book: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The Elements of Statistical Learning (ESL)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Authors: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Trevor Hastie, Robert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Tibshirani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Jerome Friedman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Web Link: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AutoNum type="arabicPeriod"/>
            </a:pPr>
            <a:r>
              <a:rPr lang="en-US" sz="2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http://www.statlearning.com/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A57B0C84-82FC-6CF5-4072-A37550AAF503}"/>
              </a:ext>
            </a:extLst>
          </p:cNvPr>
          <p:cNvSpPr/>
          <p:nvPr/>
        </p:nvSpPr>
        <p:spPr>
          <a:xfrm>
            <a:off x="1424066" y="1184222"/>
            <a:ext cx="9653665" cy="524657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References</a:t>
            </a:r>
            <a:endParaRPr lang="en-US" sz="3000" b="1" dirty="0"/>
          </a:p>
        </p:txBody>
      </p:sp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85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540" y="2558368"/>
            <a:ext cx="9603275" cy="1049235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solidFill>
                  <a:srgbClr val="002060"/>
                </a:solidFill>
              </a:rP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17</a:t>
            </a:fld>
            <a:endParaRPr lang="en-IN"/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1032</TotalTime>
  <Words>1546</Words>
  <Application>Microsoft Office PowerPoint</Application>
  <PresentationFormat>Widescreen</PresentationFormat>
  <Paragraphs>160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Gill Sans MT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 Manika Prasuna</dc:creator>
  <cp:lastModifiedBy>P Manika Prasuna</cp:lastModifiedBy>
  <cp:revision>219</cp:revision>
  <dcterms:created xsi:type="dcterms:W3CDTF">2025-05-12T05:57:37Z</dcterms:created>
  <dcterms:modified xsi:type="dcterms:W3CDTF">2025-08-28T06:33:39Z</dcterms:modified>
</cp:coreProperties>
</file>