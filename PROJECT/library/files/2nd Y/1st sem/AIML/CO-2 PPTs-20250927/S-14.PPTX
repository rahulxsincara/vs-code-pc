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1510" r:id="rId2"/>
    <p:sldId id="1511" r:id="rId3"/>
    <p:sldId id="1527" r:id="rId4"/>
    <p:sldId id="1528" r:id="rId5"/>
    <p:sldId id="1529" r:id="rId6"/>
    <p:sldId id="1530" r:id="rId7"/>
    <p:sldId id="1492" r:id="rId8"/>
    <p:sldId id="1522" r:id="rId9"/>
    <p:sldId id="1523" r:id="rId10"/>
    <p:sldId id="1524" r:id="rId11"/>
    <p:sldId id="1525" r:id="rId12"/>
    <p:sldId id="1512" r:id="rId13"/>
    <p:sldId id="1515" r:id="rId14"/>
    <p:sldId id="1531" r:id="rId15"/>
    <p:sldId id="1532" r:id="rId16"/>
    <p:sldId id="1534" r:id="rId17"/>
    <p:sldId id="1533" r:id="rId18"/>
    <p:sldId id="1535" r:id="rId19"/>
    <p:sldId id="1516" r:id="rId20"/>
    <p:sldId id="1517" r:id="rId21"/>
    <p:sldId id="1518" r:id="rId22"/>
    <p:sldId id="1519" r:id="rId23"/>
    <p:sldId id="152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CD915-8767-40F7-954D-3F7E107AA61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30EC6-6A26-4929-9AE9-1C183424E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4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33A4-5A55-6691-5F71-F0A048B7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C2767E3-4783-AA7C-B756-6B5B2B68E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7F28C-BD0A-4012-B9DC-1028D3739D41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3AA0E4D-0AA5-E376-3088-F90B34FCEB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E486E1B-FC0D-BF90-A1DB-444AEBB9F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06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549" y="2467219"/>
            <a:ext cx="9144000" cy="8610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CC9CA-706E-F867-7CF3-1000A86A13A7}"/>
              </a:ext>
            </a:extLst>
          </p:cNvPr>
          <p:cNvSpPr/>
          <p:nvPr userDrawn="1"/>
        </p:nvSpPr>
        <p:spPr>
          <a:xfrm>
            <a:off x="399011" y="83127"/>
            <a:ext cx="1521229" cy="540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KL University - Wikipedia">
            <a:extLst>
              <a:ext uri="{FF2B5EF4-FFF2-40B4-BE49-F238E27FC236}">
                <a16:creationId xmlns:a16="http://schemas.microsoft.com/office/drawing/2014/main" id="{653AD577-CAC5-E64D-E54F-DE967A4D2E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3047D-5670-B0CC-FFB6-2EF171968F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625601-FD2C-DAA2-5BCD-584DB10F78A5}"/>
              </a:ext>
            </a:extLst>
          </p:cNvPr>
          <p:cNvSpPr/>
          <p:nvPr userDrawn="1"/>
        </p:nvSpPr>
        <p:spPr>
          <a:xfrm>
            <a:off x="2429916" y="305250"/>
            <a:ext cx="770104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ARTIFICILA INTELLIGENCE 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ECDB660B-5DB9-CACA-071E-B3BAF0A3BC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781AE-9EC6-BCCD-1043-91161DB432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53331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81DF2-773C-02ED-CE3E-0D1422B88926}"/>
              </a:ext>
            </a:extLst>
          </p:cNvPr>
          <p:cNvSpPr txBox="1"/>
          <p:nvPr/>
        </p:nvSpPr>
        <p:spPr>
          <a:xfrm>
            <a:off x="1267097" y="3566772"/>
            <a:ext cx="96578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14</a:t>
            </a:r>
          </a:p>
          <a:p>
            <a:pPr algn="ctr"/>
            <a:r>
              <a:rPr lang="en-IN" sz="3000" dirty="0"/>
              <a:t>Derivatives,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10806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FC83-07DA-E96A-B392-54AD99F5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27B6FBE4-E45A-35D5-A8A9-E6817E5F9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D891A-FA16-D43F-B8EE-64BE0EAD26BF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1CBA8-32F2-E644-12A6-D7BD0A572D5F}"/>
              </a:ext>
            </a:extLst>
          </p:cNvPr>
          <p:cNvSpPr txBox="1"/>
          <p:nvPr/>
        </p:nvSpPr>
        <p:spPr>
          <a:xfrm>
            <a:off x="835914" y="1219301"/>
            <a:ext cx="10520172" cy="410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In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mathematics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, the </a:t>
            </a:r>
            <a:r>
              <a:rPr lang="en-US" sz="2400" b="1" i="0" dirty="0">
                <a:effectLst/>
                <a:latin typeface="Arial" panose="020B0604020202020204" pitchFamily="34" charset="0"/>
              </a:rPr>
              <a:t>derivative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is a fundamental tool that quantifies the sensitivity to change of a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function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's output with respect to its input.</a:t>
            </a:r>
          </a:p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 The derivative of a function of a single variable at a chosen input value, when it exists, is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slope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of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tangent line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to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graph of the function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at that point. </a:t>
            </a:r>
          </a:p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The tangent line is the best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linear approximation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of the function near that input value. </a:t>
            </a:r>
          </a:p>
        </p:txBody>
      </p:sp>
    </p:spTree>
    <p:extLst>
      <p:ext uri="{BB962C8B-B14F-4D97-AF65-F5344CB8AC3E}">
        <p14:creationId xmlns:p14="http://schemas.microsoft.com/office/powerpoint/2010/main" val="264034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67DD-B6FD-F92F-8BC5-61C2E835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94B644E-4796-B089-A1C1-C857275290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2D84C-6DCE-5F38-4138-B8ECCF4FD031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6D7A4E-BC51-FC1D-F2A6-BE1F0C0E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5" y="1777502"/>
            <a:ext cx="9064249" cy="3927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4DD1CE-CF21-8B10-03C5-30A601E13122}"/>
              </a:ext>
            </a:extLst>
          </p:cNvPr>
          <p:cNvSpPr txBox="1"/>
          <p:nvPr/>
        </p:nvSpPr>
        <p:spPr>
          <a:xfrm>
            <a:off x="2273245" y="957691"/>
            <a:ext cx="1911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116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BFB3-1386-050E-C454-4609326A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1FDFE17-5AEE-C235-88CD-CA2040F6E0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77737-23AA-04BD-0F06-5114FD0E4EE4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F13D9-B642-5537-B416-AAA1C8180FBB}"/>
              </a:ext>
            </a:extLst>
          </p:cNvPr>
          <p:cNvSpPr txBox="1"/>
          <p:nvPr/>
        </p:nvSpPr>
        <p:spPr>
          <a:xfrm>
            <a:off x="1673336" y="973151"/>
            <a:ext cx="178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9110F-2BB8-A8F0-9173-60F36E24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49" y="1496371"/>
            <a:ext cx="8559933" cy="442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3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0F0F-094B-F64F-44E7-1B69B287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E7206B88-2B81-0B87-2E50-29525E2D9C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218CD-AAF5-78B2-F653-A7A0F409259A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E8A95-3A0E-9225-7201-BBCA843E2019}"/>
              </a:ext>
            </a:extLst>
          </p:cNvPr>
          <p:cNvSpPr txBox="1"/>
          <p:nvPr/>
        </p:nvSpPr>
        <p:spPr>
          <a:xfrm>
            <a:off x="1673336" y="973151"/>
            <a:ext cx="178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23AFC-D80B-D817-EA78-2DA08B9C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6" b="22654"/>
          <a:stretch>
            <a:fillRect/>
          </a:stretch>
        </p:blipFill>
        <p:spPr>
          <a:xfrm>
            <a:off x="1802674" y="1762043"/>
            <a:ext cx="9410757" cy="367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8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1115-EE96-9904-6F95-8E367BCA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67067DAA-1102-CFA4-54CA-9A93E3BDF1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B85EE-7C8F-843E-1B9B-7E9CFFF69B3A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128B5-3A8B-9A4B-E923-1712D40C6390}"/>
              </a:ext>
            </a:extLst>
          </p:cNvPr>
          <p:cNvSpPr txBox="1"/>
          <p:nvPr/>
        </p:nvSpPr>
        <p:spPr>
          <a:xfrm>
            <a:off x="1673335" y="973151"/>
            <a:ext cx="397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Partial Derivatives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E0FB2-FBBC-44E2-9A03-7C7F9B12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46" y="1717388"/>
            <a:ext cx="6914147" cy="47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3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4034-F074-8745-5FEE-31A1F71A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BD9459E8-47F5-BDAE-5A07-22F933218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67E36-743A-12D3-B2AF-C69923EC4EF5}"/>
              </a:ext>
            </a:extLst>
          </p:cNvPr>
          <p:cNvSpPr txBox="1"/>
          <p:nvPr/>
        </p:nvSpPr>
        <p:spPr>
          <a:xfrm>
            <a:off x="535686" y="265194"/>
            <a:ext cx="105201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Rules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3AFBA3-BC0D-39C8-EDFF-2E2A3DD3268B}"/>
                  </a:ext>
                </a:extLst>
              </p:cNvPr>
              <p:cNvSpPr txBox="1"/>
              <p:nvPr/>
            </p:nvSpPr>
            <p:spPr>
              <a:xfrm>
                <a:off x="1199927" y="1410929"/>
                <a:ext cx="10520172" cy="4644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Some basic rules of taking derivatives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Sum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Scaling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not a function of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Product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Quotient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Chain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≝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3AFBA3-BC0D-39C8-EDFF-2E2A3DD3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927" y="1410929"/>
                <a:ext cx="10520172" cy="4644669"/>
              </a:xfrm>
              <a:prstGeom prst="rect">
                <a:avLst/>
              </a:prstGeom>
              <a:blipFill>
                <a:blip r:embed="rId2"/>
                <a:stretch>
                  <a:fillRect l="-1043" b="-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21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3B10-6933-2748-ACAC-D4D62DCE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279"/>
            <a:ext cx="10515600" cy="77190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DDCF-D09D-CC05-6C23-BC4824C15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606"/>
            <a:ext cx="10677144" cy="44601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the context of machine learning, </a:t>
            </a:r>
            <a:r>
              <a:rPr lang="en-US" b="1" dirty="0"/>
              <a:t>optimization</a:t>
            </a:r>
            <a:r>
              <a:rPr lang="en-US" dirty="0"/>
              <a:t> refers to the process of adjusting the parameters of a model to minimize (or maximize) some objective function.</a:t>
            </a:r>
          </a:p>
          <a:p>
            <a:pPr algn="just"/>
            <a:r>
              <a:rPr lang="en-US" dirty="0"/>
              <a:t>There are various optimization algorithms used in machine learning to find the optimal set of parameters. </a:t>
            </a:r>
          </a:p>
          <a:p>
            <a:pPr algn="just"/>
            <a:r>
              <a:rPr lang="en-US" dirty="0"/>
              <a:t>These algorithms are responsible for updating the model parameters iteratively during the training process. </a:t>
            </a:r>
          </a:p>
        </p:txBody>
      </p:sp>
    </p:spTree>
    <p:extLst>
      <p:ext uri="{BB962C8B-B14F-4D97-AF65-F5344CB8AC3E}">
        <p14:creationId xmlns:p14="http://schemas.microsoft.com/office/powerpoint/2010/main" val="10753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68DD4D-3878-BE87-2040-60CEC0FB7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824" y="768096"/>
            <a:ext cx="8284463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1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E2AE-061A-5BA2-B0E3-051D277C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5FD54-18FC-E5C5-38BC-33DAA344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1624457"/>
            <a:ext cx="9963912" cy="412711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“Optimization is the heart of Machine Learning.”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optimization is the process of finding the best set of model parameters that minimize a loss function or maximize an objective function.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Essentially, it's about making a machine learning model as accurate as possible by adjusting its weights and bias based on the training data.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algorithms in machine learning are mathematical techniques used to adjust a model's parameters to minimize errors and improve accuracy. These algorithms help models learn from data by finding the best possible solution through iterative updates.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3388-ED63-76C8-501E-DAF7B929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2283-64CE-7E1D-D392-B7660AF9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Optimization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E1572-9622-6948-C98E-C0B1A4BCD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Simplex Method: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A widely used algorithm for solving linear programming problems</a:t>
            </a:r>
          </a:p>
          <a:p>
            <a:pPr marL="0" indent="0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Example: Minimize transport cost.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Descent:</a:t>
            </a:r>
          </a:p>
          <a:p>
            <a:pPr marL="0" indent="0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Iteratively finds minimum error</a:t>
            </a:r>
            <a:endParaRPr lang="en-US" sz="2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Finds minima of functions by moving step-by-step downhill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16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312D7-092B-1666-C2C4-ECB2F67E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0ABC0501-C4A7-752D-2617-D0B5D43C12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E8C71-6E65-E34D-F940-5CBDD373AF76}"/>
              </a:ext>
            </a:extLst>
          </p:cNvPr>
          <p:cNvSpPr txBox="1"/>
          <p:nvPr/>
        </p:nvSpPr>
        <p:spPr>
          <a:xfrm>
            <a:off x="686440" y="900037"/>
            <a:ext cx="10520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F0EF8-B9CC-325D-D4D0-6429811D5702}"/>
              </a:ext>
            </a:extLst>
          </p:cNvPr>
          <p:cNvSpPr txBox="1"/>
          <p:nvPr/>
        </p:nvSpPr>
        <p:spPr>
          <a:xfrm>
            <a:off x="855218" y="1801544"/>
            <a:ext cx="5829046" cy="335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150000"/>
              </a:lnSpc>
              <a:spcAft>
                <a:spcPts val="750"/>
              </a:spcAft>
            </a:pP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Gradient descent is an optimization algorithm which is commonly-used to train </a:t>
            </a:r>
            <a:r>
              <a:rPr lang="en-US" sz="2400" b="0" i="0" u="none" strike="noStrike" dirty="0">
                <a:effectLst/>
                <a:latin typeface="IBM Plex Sans" panose="020F0502020204030204" pitchFamily="34" charset="0"/>
              </a:rPr>
              <a:t>machine learning</a:t>
            </a:r>
            <a:r>
              <a:rPr lang="en-US" sz="2400" b="0" i="0" dirty="0">
                <a:effectLst/>
                <a:latin typeface="IBM Plex Sans" panose="020F0502020204030204" pitchFamily="34" charset="0"/>
              </a:rPr>
              <a:t> models and </a:t>
            </a:r>
            <a:r>
              <a:rPr lang="en-US" sz="2400" b="0" i="0" u="none" strike="noStrike" dirty="0">
                <a:effectLst/>
                <a:latin typeface="IBM Plex Sans" panose="020F0502020204030204" pitchFamily="34" charset="0"/>
              </a:rPr>
              <a:t>neural networks</a:t>
            </a:r>
            <a:r>
              <a:rPr lang="en-US" sz="2400" b="0" i="0" dirty="0">
                <a:effectLst/>
                <a:latin typeface="IBM Plex Sans" panose="020F0502020204030204" pitchFamily="34" charset="0"/>
              </a:rPr>
              <a:t>. It trains machine learning models 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by minimizing errors between predicted and actual results.</a:t>
            </a:r>
            <a:endParaRPr lang="en-US" sz="24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27F61-1438-1A58-7132-9F3B5B9E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9" y="1801543"/>
            <a:ext cx="4546427" cy="35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85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200B-313A-3C6D-D008-67EDD8E9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8A85-D5E2-50DE-76BC-1AD3393E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718566"/>
            <a:ext cx="10515600" cy="1107059"/>
          </a:xfrm>
        </p:spPr>
        <p:txBody>
          <a:bodyPr>
            <a:normAutofit fontScale="90000"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Necessary for Machine Learning</a:t>
            </a:r>
            <a:br>
              <a:rPr lang="en-US" b="1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5560-44CC-07C2-9728-05282AB8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036"/>
            <a:ext cx="10515600" cy="2781209"/>
          </a:xfrm>
        </p:spPr>
        <p:txBody>
          <a:bodyPr>
            <a:normAutofit/>
          </a:bodyPr>
          <a:lstStyle/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Gradient descent is necessary for optimizing and fine-tuning the parameters of a machine learning model. </a:t>
            </a:r>
          </a:p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Gradient descent aims to minimize a model's </a:t>
            </a:r>
            <a:r>
              <a:rPr lang="en-US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cost or </a:t>
            </a:r>
            <a:r>
              <a:rPr lang="en-US" i="0" u="none" strike="noStrike" dirty="0">
                <a:effectLst/>
                <a:latin typeface="Open Sans" panose="020B0606030504020204" pitchFamily="34" charset="0"/>
              </a:rPr>
              <a:t>loss function.</a:t>
            </a:r>
            <a:endParaRPr lang="en-US" i="0" dirty="0">
              <a:effectLst/>
              <a:latin typeface="Open Sans" panose="020B0606030504020204" pitchFamily="34" charset="0"/>
            </a:endParaRPr>
          </a:p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By reducing the cost function, the model becomes better at making predictions and can generalize better to new data.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42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6D15-89AA-A478-0B38-95771C05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8866C34E-437C-801A-5846-F421CD8FC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31739-D7F1-4809-AA3D-CCF13E4FBC31}"/>
              </a:ext>
            </a:extLst>
          </p:cNvPr>
          <p:cNvSpPr txBox="1"/>
          <p:nvPr/>
        </p:nvSpPr>
        <p:spPr>
          <a:xfrm>
            <a:off x="1204178" y="325824"/>
            <a:ext cx="10520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19DDB-D3F8-F58E-D43D-BACCA789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2"/>
          <a:stretch>
            <a:fillRect/>
          </a:stretch>
        </p:blipFill>
        <p:spPr>
          <a:xfrm>
            <a:off x="2290354" y="1255876"/>
            <a:ext cx="8130026" cy="39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2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34FB-BE86-B892-6263-E5E5924A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DEDAA48-9FF4-5AD6-6DDB-306A13915F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17CFF-3451-BCE1-B3D5-31D76B8ECECE}"/>
              </a:ext>
            </a:extLst>
          </p:cNvPr>
          <p:cNvSpPr txBox="1"/>
          <p:nvPr/>
        </p:nvSpPr>
        <p:spPr>
          <a:xfrm>
            <a:off x="1033673" y="268914"/>
            <a:ext cx="10520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Gradient Descent Example</a:t>
            </a:r>
            <a:endParaRPr lang="en-IN" sz="36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52A29-DA81-B2B8-2B62-0E400E70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2" b="15605"/>
          <a:stretch>
            <a:fillRect/>
          </a:stretch>
        </p:blipFill>
        <p:spPr>
          <a:xfrm>
            <a:off x="2455817" y="1115133"/>
            <a:ext cx="8429971" cy="52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4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4C56-D9AB-2EE7-AEF9-FED6B221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32A31DDB-D174-2109-B042-3C557E4D2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7882C-5027-6F06-E8DE-112428613FDF}"/>
              </a:ext>
            </a:extLst>
          </p:cNvPr>
          <p:cNvSpPr txBox="1"/>
          <p:nvPr/>
        </p:nvSpPr>
        <p:spPr>
          <a:xfrm>
            <a:off x="1033673" y="268914"/>
            <a:ext cx="10520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Gradient Descent Example</a:t>
            </a:r>
            <a:endParaRPr lang="en-IN" sz="36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DF786-A025-6B8F-4EC2-49035DE9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135983"/>
            <a:ext cx="8376749" cy="541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38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C5DB73-BF73-B1A5-337E-78219758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320" y="1973475"/>
            <a:ext cx="10023566" cy="41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1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43B15-9416-8AD3-D381-52120EF0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98" y="1672927"/>
            <a:ext cx="1100291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94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1AF3-CC01-BC41-0F1B-D1674A16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584581"/>
            <a:ext cx="10515600" cy="1856867"/>
          </a:xfrm>
        </p:spPr>
        <p:txBody>
          <a:bodyPr/>
          <a:lstStyle/>
          <a:p>
            <a:r>
              <a:rPr lang="en-IN" b="1" i="0" dirty="0">
                <a:solidFill>
                  <a:srgbClr val="C00000"/>
                </a:solidFill>
                <a:effectLst/>
                <a:latin typeface="Nunito" pitchFamily="2" charset="0"/>
              </a:rPr>
              <a:t>Different Variants of Gradient Descent</a:t>
            </a:r>
            <a:br>
              <a:rPr lang="en-IN" b="1" i="0" dirty="0">
                <a:solidFill>
                  <a:srgbClr val="C00000"/>
                </a:solidFill>
                <a:effectLst/>
                <a:latin typeface="Nunito" pitchFamily="2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0F4E-615A-31BB-A77B-90F2A826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881"/>
            <a:ext cx="10515600" cy="2586445"/>
          </a:xfrm>
        </p:spPr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variants of gradient descent that differ in the way the step size or learning rate is chosen and the way the updates are made.</a:t>
            </a: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Gradient Descent</a:t>
            </a: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 (SGD)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Mini-batch 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459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FEBE-5286-CFAA-A2A3-D58CFC3A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8327-2495-AE4B-E7B7-1946DFBC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i="0" dirty="0">
                <a:solidFill>
                  <a:srgbClr val="FFFFFF"/>
                </a:solidFill>
                <a:effectLst/>
                <a:latin typeface="Source Sans 3"/>
              </a:rPr>
              <a:t> </a:t>
            </a:r>
            <a:endParaRPr lang="en-US" b="1" i="0" dirty="0">
              <a:solidFill>
                <a:srgbClr val="C00000"/>
              </a:solidFill>
              <a:effectLst/>
              <a:latin typeface="Source Sans 3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998F45-0F90-80BC-5BB5-22B6EEC4E694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838200" y="1405001"/>
            <a:ext cx="10515600" cy="4351338"/>
          </a:xfrm>
          <a:prstGeom prst="rect">
            <a:avLst/>
          </a:prstGeom>
          <a:noFill/>
        </p:spPr>
        <p:txBody>
          <a:bodyPr vert="horz" lIns="92075" tIns="46038" rIns="92075" bIns="4603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>
              <a:latin typeface="Tw Cen MT" panose="020B0602020104020603" pitchFamily="34" charset="0"/>
            </a:endParaRPr>
          </a:p>
          <a:p>
            <a:pPr eaLnBrk="1" hangingPunct="1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Batch gradient descent sums the error for each point in a training set, updating the model only after all training examples have been evaluated. This process referred to as a training epoch.</a:t>
            </a:r>
          </a:p>
          <a:p>
            <a:pPr eaLnBrk="1" hangingPunct="1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While this batching provides computation efficiency, it can still have a long processing time for large training datasets as it still needs to store all of the data into memory. </a:t>
            </a:r>
            <a:endParaRPr lang="en-GB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89E12-8739-B073-745A-8C73D4E3CF51}"/>
              </a:ext>
            </a:extLst>
          </p:cNvPr>
          <p:cNvSpPr txBox="1"/>
          <p:nvPr/>
        </p:nvSpPr>
        <p:spPr>
          <a:xfrm>
            <a:off x="566929" y="5212857"/>
            <a:ext cx="935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1B721-AE3C-AA02-E676-EFE0B39678C1}"/>
              </a:ext>
            </a:extLst>
          </p:cNvPr>
          <p:cNvSpPr txBox="1"/>
          <p:nvPr/>
        </p:nvSpPr>
        <p:spPr>
          <a:xfrm>
            <a:off x="3961638" y="843240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Batch 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930026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D46E-B300-884F-D74B-27E9F118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6109-5DE4-AE67-9635-6556580A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i="0" dirty="0">
                <a:solidFill>
                  <a:srgbClr val="C00000"/>
                </a:solidFill>
                <a:effectLst/>
                <a:latin typeface="IBM Plex Sans" panose="020B0503050203000203" pitchFamily="34" charset="0"/>
              </a:rPr>
              <a:t>Stochastic gradient descent</a:t>
            </a:r>
            <a:br>
              <a:rPr lang="en-IN" i="0" dirty="0">
                <a:solidFill>
                  <a:srgbClr val="C00000"/>
                </a:solidFill>
                <a:effectLst/>
                <a:latin typeface="IBM Plex Sans" panose="020B0503050203000203" pitchFamily="34" charset="0"/>
              </a:rPr>
            </a:br>
            <a:endParaRPr lang="en-US" i="0" dirty="0">
              <a:solidFill>
                <a:srgbClr val="C00000"/>
              </a:solidFill>
              <a:effectLst/>
              <a:latin typeface="Source Sans 3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76C3C3-27BB-B298-4545-B1C524F0AEF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649224" y="1405001"/>
            <a:ext cx="10515600" cy="853567"/>
          </a:xfrm>
          <a:prstGeom prst="rect">
            <a:avLst/>
          </a:prstGeom>
          <a:noFill/>
        </p:spPr>
        <p:txBody>
          <a:bodyPr vert="horz" lIns="92075" tIns="46038" rIns="92075" bIns="46038" numCol="2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Stochastic gradient descent (SGD) runs a training epoch for each example within  the dataset and it updates each training example's parameters one at a time. 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69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11A8-D146-3FCA-78D4-6002F550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F78322E0-9DD4-5F8D-F603-7C0028BAA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8AABD-913C-E048-8582-EF1DD2C6733B}"/>
              </a:ext>
            </a:extLst>
          </p:cNvPr>
          <p:cNvSpPr txBox="1"/>
          <p:nvPr/>
        </p:nvSpPr>
        <p:spPr>
          <a:xfrm>
            <a:off x="3120390" y="885182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Mini-batch gradient descent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407E7-DF48-E0A6-0D3A-7E32FFE278AA}"/>
              </a:ext>
            </a:extLst>
          </p:cNvPr>
          <p:cNvSpPr txBox="1"/>
          <p:nvPr/>
        </p:nvSpPr>
        <p:spPr>
          <a:xfrm>
            <a:off x="859536" y="2422482"/>
            <a:ext cx="106893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Mini-batch gradient descent combines concepts from both batch gradient descent and stochastic gradient descent. </a:t>
            </a:r>
          </a:p>
          <a:p>
            <a:endParaRPr lang="en-US" sz="2400" dirty="0">
              <a:solidFill>
                <a:srgbClr val="1616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splits the training dataset into small batch sizes and performs updates on each of those batches. </a:t>
            </a:r>
          </a:p>
          <a:p>
            <a:endParaRPr lang="en-US" sz="2400" b="0" i="0" dirty="0">
              <a:solidFill>
                <a:srgbClr val="16161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approach strikes a balance between the computational efficiency of batch gradient descent and the speed of stochastic gradient descent.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4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80A4-484E-55B5-78C4-C5B48DD0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2313AB5F-1A57-34C9-5680-7EC997E89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20B82A-039A-4A5F-861B-DBFF30FC9E1E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439403A-74BF-6FE4-8EF6-4976506BC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6590"/>
            <a:ext cx="9945189" cy="2646136"/>
          </a:xfrm>
        </p:spPr>
        <p:txBody>
          <a:bodyPr>
            <a:noAutofit/>
          </a:bodyPr>
          <a:lstStyle/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IN" sz="400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spc="-54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4000" spc="15" dirty="0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75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2497</TotalTime>
  <Words>707</Words>
  <Application>Microsoft Office PowerPoint</Application>
  <PresentationFormat>Widescreen</PresentationFormat>
  <Paragraphs>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ＭＳ Ｐゴシック</vt:lpstr>
      <vt:lpstr>Arial</vt:lpstr>
      <vt:lpstr>Calibri</vt:lpstr>
      <vt:lpstr>Calibri Light</vt:lpstr>
      <vt:lpstr>Cambria Math</vt:lpstr>
      <vt:lpstr>Gill Sans MT</vt:lpstr>
      <vt:lpstr>IBM Plex Sans</vt:lpstr>
      <vt:lpstr>Nunito</vt:lpstr>
      <vt:lpstr>Open Sans</vt:lpstr>
      <vt:lpstr>Source Sans 3</vt:lpstr>
      <vt:lpstr>Times New Roman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</vt:lpstr>
      <vt:lpstr>PowerPoint Presentation</vt:lpstr>
      <vt:lpstr>Optimization…</vt:lpstr>
      <vt:lpstr>Optimization Algorithms</vt:lpstr>
      <vt:lpstr>PowerPoint Presentation</vt:lpstr>
      <vt:lpstr>Why Necessary for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Variants of Gradient Descent </vt:lpstr>
      <vt:lpstr> </vt:lpstr>
      <vt:lpstr>Stochastic gradient descent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Manika Prasuna</dc:creator>
  <cp:lastModifiedBy>RAHUL SINCARA</cp:lastModifiedBy>
  <cp:revision>58</cp:revision>
  <dcterms:created xsi:type="dcterms:W3CDTF">2025-05-12T05:57:37Z</dcterms:created>
  <dcterms:modified xsi:type="dcterms:W3CDTF">2025-09-28T16:24:08Z</dcterms:modified>
</cp:coreProperties>
</file>