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2"/>
  </p:notesMasterIdLst>
  <p:sldIdLst>
    <p:sldId id="256" r:id="rId2"/>
    <p:sldId id="1042" r:id="rId3"/>
    <p:sldId id="1041" r:id="rId4"/>
    <p:sldId id="1043" r:id="rId5"/>
    <p:sldId id="1140" r:id="rId6"/>
    <p:sldId id="1148" r:id="rId7"/>
    <p:sldId id="1149" r:id="rId8"/>
    <p:sldId id="1152" r:id="rId9"/>
    <p:sldId id="1168" r:id="rId10"/>
    <p:sldId id="1169" r:id="rId11"/>
    <p:sldId id="1170" r:id="rId12"/>
    <p:sldId id="1150" r:id="rId13"/>
    <p:sldId id="991" r:id="rId14"/>
    <p:sldId id="992" r:id="rId15"/>
    <p:sldId id="1053" r:id="rId16"/>
    <p:sldId id="1153" r:id="rId17"/>
    <p:sldId id="1154" r:id="rId18"/>
    <p:sldId id="1155" r:id="rId19"/>
    <p:sldId id="1151" r:id="rId20"/>
    <p:sldId id="1159" r:id="rId21"/>
    <p:sldId id="1160" r:id="rId22"/>
    <p:sldId id="1161" r:id="rId23"/>
    <p:sldId id="1162" r:id="rId24"/>
    <p:sldId id="1157" r:id="rId25"/>
    <p:sldId id="1165" r:id="rId26"/>
    <p:sldId id="1163" r:id="rId27"/>
    <p:sldId id="1164" r:id="rId28"/>
    <p:sldId id="1044" r:id="rId29"/>
    <p:sldId id="1045" r:id="rId30"/>
    <p:sldId id="1167"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69" d="100"/>
          <a:sy n="69" d="100"/>
        </p:scale>
        <p:origin x="524"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1C6FF-9B63-4140-A499-96F4F4762711}" type="datetimeFigureOut">
              <a:rPr lang="en-IN" smtClean="0"/>
              <a:t>28-08-2025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D28DFA-1E9E-4F95-BE3B-62CC0F693319}" type="slidenum">
              <a:rPr lang="en-IN" smtClean="0"/>
              <a:t>‹#›</a:t>
            </a:fld>
            <a:endParaRPr lang="en-IN"/>
          </a:p>
        </p:txBody>
      </p:sp>
    </p:spTree>
    <p:extLst>
      <p:ext uri="{BB962C8B-B14F-4D97-AF65-F5344CB8AC3E}">
        <p14:creationId xmlns:p14="http://schemas.microsoft.com/office/powerpoint/2010/main" val="680911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AE56A1E7-EE32-F85D-1CAC-3EA6C6E5EA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34D7B81-F364-4A83-B456-4D4E216401A8}" type="slidenum">
              <a:rPr lang="en-US" altLang="en-US" smtClean="0"/>
              <a:pPr>
                <a:spcBef>
                  <a:spcPct val="0"/>
                </a:spcBef>
              </a:pPr>
              <a:t>2</a:t>
            </a:fld>
            <a:endParaRPr lang="en-US" altLang="en-US"/>
          </a:p>
        </p:txBody>
      </p:sp>
      <p:sp>
        <p:nvSpPr>
          <p:cNvPr id="10243" name="Rectangle 2">
            <a:extLst>
              <a:ext uri="{FF2B5EF4-FFF2-40B4-BE49-F238E27FC236}">
                <a16:creationId xmlns:a16="http://schemas.microsoft.com/office/drawing/2014/main" id="{64C6F9D3-652E-10D4-6B74-5FA4E4EF4720}"/>
              </a:ext>
            </a:extLst>
          </p:cNvPr>
          <p:cNvSpPr>
            <a:spLocks noGrp="1" noRot="1" noChangeAspect="1" noChangeArrowheads="1" noTextEdit="1"/>
          </p:cNvSpPr>
          <p:nvPr>
            <p:ph type="sldImg"/>
          </p:nvPr>
        </p:nvSpPr>
        <p:spPr>
          <a:xfrm>
            <a:off x="1196975" y="692150"/>
            <a:ext cx="4618038" cy="3463925"/>
          </a:xfrm>
          <a:ln/>
        </p:spPr>
      </p:sp>
      <p:sp>
        <p:nvSpPr>
          <p:cNvPr id="10244" name="Rectangle 3">
            <a:extLst>
              <a:ext uri="{FF2B5EF4-FFF2-40B4-BE49-F238E27FC236}">
                <a16:creationId xmlns:a16="http://schemas.microsoft.com/office/drawing/2014/main" id="{9FB17768-E6F3-57A6-2232-BE256C84C5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488" tIns="46744" rIns="93488" bIns="46744"/>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76AC574A-8D0A-827A-891B-140B13F755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4894552-55D7-4733-8555-B1B503008CE6}" type="slidenum">
              <a:rPr lang="en-US" altLang="en-US" smtClean="0"/>
              <a:pPr>
                <a:spcBef>
                  <a:spcPct val="0"/>
                </a:spcBef>
              </a:pPr>
              <a:t>3</a:t>
            </a:fld>
            <a:endParaRPr lang="en-US" altLang="en-US"/>
          </a:p>
        </p:txBody>
      </p:sp>
      <p:sp>
        <p:nvSpPr>
          <p:cNvPr id="12291" name="Rectangle 2">
            <a:extLst>
              <a:ext uri="{FF2B5EF4-FFF2-40B4-BE49-F238E27FC236}">
                <a16:creationId xmlns:a16="http://schemas.microsoft.com/office/drawing/2014/main" id="{5A314C84-2D10-69F6-9358-FF2CA1B6398E}"/>
              </a:ext>
            </a:extLst>
          </p:cNvPr>
          <p:cNvSpPr>
            <a:spLocks noGrp="1" noRot="1" noChangeAspect="1" noChangeArrowheads="1" noTextEdit="1"/>
          </p:cNvSpPr>
          <p:nvPr>
            <p:ph type="sldImg"/>
          </p:nvPr>
        </p:nvSpPr>
        <p:spPr>
          <a:xfrm>
            <a:off x="1196975" y="692150"/>
            <a:ext cx="4618038" cy="3463925"/>
          </a:xfrm>
          <a:ln/>
        </p:spPr>
      </p:sp>
      <p:sp>
        <p:nvSpPr>
          <p:cNvPr id="12292" name="Rectangle 3">
            <a:extLst>
              <a:ext uri="{FF2B5EF4-FFF2-40B4-BE49-F238E27FC236}">
                <a16:creationId xmlns:a16="http://schemas.microsoft.com/office/drawing/2014/main" id="{6302FC4D-1DC4-B3E1-C07A-199730FBB9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272DEB56-9565-36C2-3EC6-0BAEC841BD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01D0D2A-C749-48C7-8302-D618EBAFBF9F}" type="slidenum">
              <a:rPr lang="en-US" altLang="en-US" smtClean="0"/>
              <a:pPr>
                <a:spcBef>
                  <a:spcPct val="0"/>
                </a:spcBef>
              </a:pPr>
              <a:t>4</a:t>
            </a:fld>
            <a:endParaRPr lang="en-US" altLang="en-US"/>
          </a:p>
        </p:txBody>
      </p:sp>
      <p:sp>
        <p:nvSpPr>
          <p:cNvPr id="14339" name="Rectangle 2">
            <a:extLst>
              <a:ext uri="{FF2B5EF4-FFF2-40B4-BE49-F238E27FC236}">
                <a16:creationId xmlns:a16="http://schemas.microsoft.com/office/drawing/2014/main" id="{1C852EBF-FE77-CC41-A625-842D433954E9}"/>
              </a:ext>
            </a:extLst>
          </p:cNvPr>
          <p:cNvSpPr>
            <a:spLocks noGrp="1" noRot="1" noChangeAspect="1" noChangeArrowheads="1" noTextEdit="1"/>
          </p:cNvSpPr>
          <p:nvPr>
            <p:ph type="sldImg"/>
          </p:nvPr>
        </p:nvSpPr>
        <p:spPr>
          <a:xfrm>
            <a:off x="1196975" y="692150"/>
            <a:ext cx="4618038" cy="3463925"/>
          </a:xfrm>
          <a:ln/>
        </p:spPr>
      </p:sp>
      <p:sp>
        <p:nvSpPr>
          <p:cNvPr id="14340" name="Rectangle 3">
            <a:extLst>
              <a:ext uri="{FF2B5EF4-FFF2-40B4-BE49-F238E27FC236}">
                <a16:creationId xmlns:a16="http://schemas.microsoft.com/office/drawing/2014/main" id="{F2F38146-9267-0EE5-9F28-A1486DEACF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F1E0267A-D7D2-05AF-BC83-A0965F4192B6}"/>
              </a:ext>
            </a:extLst>
          </p:cNvPr>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EC2D33F9-60F8-464D-B575-0EA208D0A0C1}" type="slidenum">
              <a:rPr lang="en-US" altLang="en-US"/>
              <a:pPr algn="r">
                <a:spcBef>
                  <a:spcPct val="0"/>
                </a:spcBef>
              </a:pPr>
              <a:t>5</a:t>
            </a:fld>
            <a:endParaRPr lang="en-US" altLang="en-US"/>
          </a:p>
        </p:txBody>
      </p:sp>
      <p:sp>
        <p:nvSpPr>
          <p:cNvPr id="16387" name="Rectangle 2">
            <a:extLst>
              <a:ext uri="{FF2B5EF4-FFF2-40B4-BE49-F238E27FC236}">
                <a16:creationId xmlns:a16="http://schemas.microsoft.com/office/drawing/2014/main" id="{797D8AC0-56D5-682D-454A-DDEB5F28AB64}"/>
              </a:ext>
            </a:extLst>
          </p:cNvPr>
          <p:cNvSpPr>
            <a:spLocks noGrp="1" noRot="1" noChangeAspect="1" noChangeArrowheads="1" noTextEdit="1"/>
          </p:cNvSpPr>
          <p:nvPr>
            <p:ph type="sldImg"/>
          </p:nvPr>
        </p:nvSpPr>
        <p:spPr>
          <a:xfrm>
            <a:off x="1196975" y="692150"/>
            <a:ext cx="4618038" cy="3463925"/>
          </a:xfrm>
          <a:ln/>
        </p:spPr>
      </p:sp>
      <p:sp>
        <p:nvSpPr>
          <p:cNvPr id="16388" name="Rectangle 3">
            <a:extLst>
              <a:ext uri="{FF2B5EF4-FFF2-40B4-BE49-F238E27FC236}">
                <a16:creationId xmlns:a16="http://schemas.microsoft.com/office/drawing/2014/main" id="{750F0027-D232-A8D3-8C2E-19E7DCAC39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1C3F7209-A64A-9C2E-6BE9-2C8592A99F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02F07C79-6BD9-4BF1-8DC7-B65FDC5768AF}" type="slidenum">
              <a:rPr lang="en-US" altLang="en-US" sz="1200">
                <a:latin typeface="Times New Roman" panose="02020603050405020304" pitchFamily="18" charset="0"/>
              </a:rPr>
              <a:pPr/>
              <a:t>12</a:t>
            </a:fld>
            <a:endParaRPr lang="en-US" altLang="en-US" sz="1200">
              <a:latin typeface="Times New Roman" panose="02020603050405020304" pitchFamily="18" charset="0"/>
            </a:endParaRPr>
          </a:p>
        </p:txBody>
      </p:sp>
      <p:sp>
        <p:nvSpPr>
          <p:cNvPr id="79875" name="Rectangle 2">
            <a:extLst>
              <a:ext uri="{FF2B5EF4-FFF2-40B4-BE49-F238E27FC236}">
                <a16:creationId xmlns:a16="http://schemas.microsoft.com/office/drawing/2014/main" id="{E059A2FC-2E15-5F2A-4BBE-448B7F8D2DF8}"/>
              </a:ext>
            </a:extLst>
          </p:cNvPr>
          <p:cNvSpPr>
            <a:spLocks noGrp="1" noRot="1" noChangeAspect="1" noChangeArrowheads="1" noTextEdit="1"/>
          </p:cNvSpPr>
          <p:nvPr>
            <p:ph type="sldImg"/>
          </p:nvPr>
        </p:nvSpPr>
        <p:spPr>
          <a:xfrm>
            <a:off x="427038" y="692150"/>
            <a:ext cx="6157912" cy="3463925"/>
          </a:xfrm>
          <a:ln/>
        </p:spPr>
      </p:sp>
      <p:sp>
        <p:nvSpPr>
          <p:cNvPr id="79876" name="Rectangle 3">
            <a:extLst>
              <a:ext uri="{FF2B5EF4-FFF2-40B4-BE49-F238E27FC236}">
                <a16:creationId xmlns:a16="http://schemas.microsoft.com/office/drawing/2014/main" id="{F02E23C7-23A1-B848-96DA-94FCBF54D9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567538F9-2684-E096-3EB4-33508855EC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D59FD29-7DB4-44B0-9E10-74F1CA41A32D}" type="slidenum">
              <a:rPr lang="en-US" altLang="en-US" sz="1200">
                <a:latin typeface="Times New Roman" panose="02020603050405020304" pitchFamily="18" charset="0"/>
              </a:rPr>
              <a:pPr/>
              <a:t>13</a:t>
            </a:fld>
            <a:endParaRPr lang="en-US" altLang="en-US" sz="1200">
              <a:latin typeface="Times New Roman" panose="02020603050405020304" pitchFamily="18" charset="0"/>
            </a:endParaRPr>
          </a:p>
        </p:txBody>
      </p:sp>
      <p:sp>
        <p:nvSpPr>
          <p:cNvPr id="124931" name="Rectangle 2">
            <a:extLst>
              <a:ext uri="{FF2B5EF4-FFF2-40B4-BE49-F238E27FC236}">
                <a16:creationId xmlns:a16="http://schemas.microsoft.com/office/drawing/2014/main" id="{0186A8D4-80AF-0CA3-75A1-4986AC5C6F90}"/>
              </a:ext>
            </a:extLst>
          </p:cNvPr>
          <p:cNvSpPr>
            <a:spLocks noGrp="1" noRot="1" noChangeAspect="1" noChangeArrowheads="1" noTextEdit="1"/>
          </p:cNvSpPr>
          <p:nvPr>
            <p:ph type="sldImg"/>
          </p:nvPr>
        </p:nvSpPr>
        <p:spPr>
          <a:xfrm>
            <a:off x="427038" y="692150"/>
            <a:ext cx="6157912" cy="3463925"/>
          </a:xfrm>
          <a:ln/>
        </p:spPr>
      </p:sp>
      <p:sp>
        <p:nvSpPr>
          <p:cNvPr id="124932" name="Rectangle 3">
            <a:extLst>
              <a:ext uri="{FF2B5EF4-FFF2-40B4-BE49-F238E27FC236}">
                <a16:creationId xmlns:a16="http://schemas.microsoft.com/office/drawing/2014/main" id="{86F9E9AB-B7D5-1E3C-44A6-03A194DE14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9709E1F1-9F77-CF2A-277C-65CA114646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0A2BEBD1-CCF9-4A74-84D5-B55D34EF8B44}" type="slidenum">
              <a:rPr lang="en-US" altLang="en-US" sz="1200">
                <a:latin typeface="Times New Roman" panose="02020603050405020304" pitchFamily="18" charset="0"/>
              </a:rPr>
              <a:pPr/>
              <a:t>14</a:t>
            </a:fld>
            <a:endParaRPr lang="en-US" altLang="en-US" sz="1200">
              <a:latin typeface="Times New Roman" panose="02020603050405020304" pitchFamily="18" charset="0"/>
            </a:endParaRPr>
          </a:p>
        </p:txBody>
      </p:sp>
      <p:sp>
        <p:nvSpPr>
          <p:cNvPr id="125955" name="Rectangle 2">
            <a:extLst>
              <a:ext uri="{FF2B5EF4-FFF2-40B4-BE49-F238E27FC236}">
                <a16:creationId xmlns:a16="http://schemas.microsoft.com/office/drawing/2014/main" id="{EBF5BBD0-72FD-6089-A87A-EBFED59A894D}"/>
              </a:ext>
            </a:extLst>
          </p:cNvPr>
          <p:cNvSpPr>
            <a:spLocks noGrp="1" noRot="1" noChangeAspect="1" noChangeArrowheads="1" noTextEdit="1"/>
          </p:cNvSpPr>
          <p:nvPr>
            <p:ph type="sldImg"/>
          </p:nvPr>
        </p:nvSpPr>
        <p:spPr>
          <a:xfrm>
            <a:off x="427038" y="692150"/>
            <a:ext cx="6157912" cy="3463925"/>
          </a:xfrm>
          <a:ln/>
        </p:spPr>
      </p:sp>
      <p:sp>
        <p:nvSpPr>
          <p:cNvPr id="125956" name="Rectangle 3">
            <a:extLst>
              <a:ext uri="{FF2B5EF4-FFF2-40B4-BE49-F238E27FC236}">
                <a16:creationId xmlns:a16="http://schemas.microsoft.com/office/drawing/2014/main" id="{875024C2-D060-F2F2-7FA2-6868996813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42ECE9F5-AB80-6E3A-73C2-32944FE9AC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4A6FA13-697F-4D1D-B111-4EB47C2A694A}" type="slidenum">
              <a:rPr lang="en-US" altLang="en-US" smtClean="0"/>
              <a:pPr>
                <a:spcBef>
                  <a:spcPct val="0"/>
                </a:spcBef>
              </a:pPr>
              <a:t>15</a:t>
            </a:fld>
            <a:endParaRPr lang="en-US" altLang="en-US"/>
          </a:p>
        </p:txBody>
      </p:sp>
      <p:sp>
        <p:nvSpPr>
          <p:cNvPr id="20483" name="Rectangle 2">
            <a:extLst>
              <a:ext uri="{FF2B5EF4-FFF2-40B4-BE49-F238E27FC236}">
                <a16:creationId xmlns:a16="http://schemas.microsoft.com/office/drawing/2014/main" id="{626E9FBC-9E75-02BF-256C-99E74305A7A0}"/>
              </a:ext>
            </a:extLst>
          </p:cNvPr>
          <p:cNvSpPr>
            <a:spLocks noGrp="1" noRot="1" noChangeAspect="1" noChangeArrowheads="1" noTextEdit="1"/>
          </p:cNvSpPr>
          <p:nvPr>
            <p:ph type="sldImg"/>
          </p:nvPr>
        </p:nvSpPr>
        <p:spPr>
          <a:xfrm>
            <a:off x="427038" y="692150"/>
            <a:ext cx="6157912" cy="3463925"/>
          </a:xfrm>
          <a:ln/>
        </p:spPr>
      </p:sp>
      <p:sp>
        <p:nvSpPr>
          <p:cNvPr id="20484" name="Rectangle 3">
            <a:extLst>
              <a:ext uri="{FF2B5EF4-FFF2-40B4-BE49-F238E27FC236}">
                <a16:creationId xmlns:a16="http://schemas.microsoft.com/office/drawing/2014/main" id="{1E836F66-90B1-B238-189A-4485E1233B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6932E-85E2-4507-3C38-C5956DD8E631}"/>
            </a:ext>
          </a:extLst>
        </p:cNvPr>
        <p:cNvGrpSpPr/>
        <p:nvPr/>
      </p:nvGrpSpPr>
      <p:grpSpPr>
        <a:xfrm>
          <a:off x="0" y="0"/>
          <a:ext cx="0" cy="0"/>
          <a:chOff x="0" y="0"/>
          <a:chExt cx="0" cy="0"/>
        </a:xfrm>
      </p:grpSpPr>
      <p:sp>
        <p:nvSpPr>
          <p:cNvPr id="20482" name="Rectangle 7">
            <a:extLst>
              <a:ext uri="{FF2B5EF4-FFF2-40B4-BE49-F238E27FC236}">
                <a16:creationId xmlns:a16="http://schemas.microsoft.com/office/drawing/2014/main" id="{FC85255B-E055-5EBF-D178-60B6ECE321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4A6FA13-697F-4D1D-B111-4EB47C2A694A}" type="slidenum">
              <a:rPr lang="en-US" altLang="en-US" smtClean="0"/>
              <a:pPr>
                <a:spcBef>
                  <a:spcPct val="0"/>
                </a:spcBef>
              </a:pPr>
              <a:t>16</a:t>
            </a:fld>
            <a:endParaRPr lang="en-US" altLang="en-US"/>
          </a:p>
        </p:txBody>
      </p:sp>
      <p:sp>
        <p:nvSpPr>
          <p:cNvPr id="20483" name="Rectangle 2">
            <a:extLst>
              <a:ext uri="{FF2B5EF4-FFF2-40B4-BE49-F238E27FC236}">
                <a16:creationId xmlns:a16="http://schemas.microsoft.com/office/drawing/2014/main" id="{0F5E31DC-C2ED-F398-307F-F116D3EEAF4B}"/>
              </a:ext>
            </a:extLst>
          </p:cNvPr>
          <p:cNvSpPr>
            <a:spLocks noGrp="1" noRot="1" noChangeAspect="1" noChangeArrowheads="1" noTextEdit="1"/>
          </p:cNvSpPr>
          <p:nvPr>
            <p:ph type="sldImg"/>
          </p:nvPr>
        </p:nvSpPr>
        <p:spPr>
          <a:xfrm>
            <a:off x="427038" y="692150"/>
            <a:ext cx="6157912" cy="3463925"/>
          </a:xfrm>
          <a:ln/>
        </p:spPr>
      </p:sp>
      <p:sp>
        <p:nvSpPr>
          <p:cNvPr id="20484" name="Rectangle 3">
            <a:extLst>
              <a:ext uri="{FF2B5EF4-FFF2-40B4-BE49-F238E27FC236}">
                <a16:creationId xmlns:a16="http://schemas.microsoft.com/office/drawing/2014/main" id="{EF325558-2ABA-CE38-F758-35E8E9CC50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5636666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96CB9-A127-B262-6DB2-FC32E7C437DB}"/>
            </a:ext>
          </a:extLst>
        </p:cNvPr>
        <p:cNvGrpSpPr/>
        <p:nvPr/>
      </p:nvGrpSpPr>
      <p:grpSpPr>
        <a:xfrm>
          <a:off x="0" y="0"/>
          <a:ext cx="0" cy="0"/>
          <a:chOff x="0" y="0"/>
          <a:chExt cx="0" cy="0"/>
        </a:xfrm>
      </p:grpSpPr>
      <p:sp>
        <p:nvSpPr>
          <p:cNvPr id="20482" name="Rectangle 7">
            <a:extLst>
              <a:ext uri="{FF2B5EF4-FFF2-40B4-BE49-F238E27FC236}">
                <a16:creationId xmlns:a16="http://schemas.microsoft.com/office/drawing/2014/main" id="{46835CEA-56C5-5A35-A74D-FAB6D59B04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4A6FA13-697F-4D1D-B111-4EB47C2A694A}" type="slidenum">
              <a:rPr lang="en-US" altLang="en-US" smtClean="0"/>
              <a:pPr>
                <a:spcBef>
                  <a:spcPct val="0"/>
                </a:spcBef>
              </a:pPr>
              <a:t>18</a:t>
            </a:fld>
            <a:endParaRPr lang="en-US" altLang="en-US"/>
          </a:p>
        </p:txBody>
      </p:sp>
      <p:sp>
        <p:nvSpPr>
          <p:cNvPr id="20483" name="Rectangle 2">
            <a:extLst>
              <a:ext uri="{FF2B5EF4-FFF2-40B4-BE49-F238E27FC236}">
                <a16:creationId xmlns:a16="http://schemas.microsoft.com/office/drawing/2014/main" id="{AC4AE4B8-A919-403C-3615-B79126023A91}"/>
              </a:ext>
            </a:extLst>
          </p:cNvPr>
          <p:cNvSpPr>
            <a:spLocks noGrp="1" noRot="1" noChangeAspect="1" noChangeArrowheads="1" noTextEdit="1"/>
          </p:cNvSpPr>
          <p:nvPr>
            <p:ph type="sldImg"/>
          </p:nvPr>
        </p:nvSpPr>
        <p:spPr>
          <a:xfrm>
            <a:off x="427038" y="692150"/>
            <a:ext cx="6157912" cy="3463925"/>
          </a:xfrm>
          <a:ln/>
        </p:spPr>
      </p:sp>
      <p:sp>
        <p:nvSpPr>
          <p:cNvPr id="20484" name="Rectangle 3">
            <a:extLst>
              <a:ext uri="{FF2B5EF4-FFF2-40B4-BE49-F238E27FC236}">
                <a16:creationId xmlns:a16="http://schemas.microsoft.com/office/drawing/2014/main" id="{25BE258C-32F2-09AF-79B6-0140D391F5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2779897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F62C6-2DFF-F784-2A85-4FBFA4083349}"/>
            </a:ext>
          </a:extLst>
        </p:cNvPr>
        <p:cNvGrpSpPr/>
        <p:nvPr/>
      </p:nvGrpSpPr>
      <p:grpSpPr>
        <a:xfrm>
          <a:off x="0" y="0"/>
          <a:ext cx="0" cy="0"/>
          <a:chOff x="0" y="0"/>
          <a:chExt cx="0" cy="0"/>
        </a:xfrm>
      </p:grpSpPr>
      <p:sp>
        <p:nvSpPr>
          <p:cNvPr id="20482" name="Rectangle 7">
            <a:extLst>
              <a:ext uri="{FF2B5EF4-FFF2-40B4-BE49-F238E27FC236}">
                <a16:creationId xmlns:a16="http://schemas.microsoft.com/office/drawing/2014/main" id="{32DF3B3F-E98F-7614-B3CB-EDB74FB00D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4A6FA13-697F-4D1D-B111-4EB47C2A694A}" type="slidenum">
              <a:rPr lang="en-US" altLang="en-US" smtClean="0"/>
              <a:pPr>
                <a:spcBef>
                  <a:spcPct val="0"/>
                </a:spcBef>
              </a:pPr>
              <a:t>20</a:t>
            </a:fld>
            <a:endParaRPr lang="en-US" altLang="en-US"/>
          </a:p>
        </p:txBody>
      </p:sp>
      <p:sp>
        <p:nvSpPr>
          <p:cNvPr id="20483" name="Rectangle 2">
            <a:extLst>
              <a:ext uri="{FF2B5EF4-FFF2-40B4-BE49-F238E27FC236}">
                <a16:creationId xmlns:a16="http://schemas.microsoft.com/office/drawing/2014/main" id="{AC8F5326-AEBA-2856-DE63-DA4576F25B21}"/>
              </a:ext>
            </a:extLst>
          </p:cNvPr>
          <p:cNvSpPr>
            <a:spLocks noGrp="1" noRot="1" noChangeAspect="1" noChangeArrowheads="1" noTextEdit="1"/>
          </p:cNvSpPr>
          <p:nvPr>
            <p:ph type="sldImg"/>
          </p:nvPr>
        </p:nvSpPr>
        <p:spPr>
          <a:xfrm>
            <a:off x="427038" y="692150"/>
            <a:ext cx="6157912" cy="3463925"/>
          </a:xfrm>
          <a:ln/>
        </p:spPr>
      </p:sp>
      <p:sp>
        <p:nvSpPr>
          <p:cNvPr id="20484" name="Rectangle 3">
            <a:extLst>
              <a:ext uri="{FF2B5EF4-FFF2-40B4-BE49-F238E27FC236}">
                <a16:creationId xmlns:a16="http://schemas.microsoft.com/office/drawing/2014/main" id="{C5B20FA8-E9A4-3171-FEBE-E6686A1AD5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255391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59248-8BC5-F126-D0E2-BEA2F8922EA5}"/>
            </a:ext>
          </a:extLst>
        </p:cNvPr>
        <p:cNvGrpSpPr/>
        <p:nvPr/>
      </p:nvGrpSpPr>
      <p:grpSpPr>
        <a:xfrm>
          <a:off x="0" y="0"/>
          <a:ext cx="0" cy="0"/>
          <a:chOff x="0" y="0"/>
          <a:chExt cx="0" cy="0"/>
        </a:xfrm>
      </p:grpSpPr>
      <p:sp>
        <p:nvSpPr>
          <p:cNvPr id="20482" name="Rectangle 7">
            <a:extLst>
              <a:ext uri="{FF2B5EF4-FFF2-40B4-BE49-F238E27FC236}">
                <a16:creationId xmlns:a16="http://schemas.microsoft.com/office/drawing/2014/main" id="{1AA427F6-23AE-6CD1-FFFA-5324D15227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4A6FA13-697F-4D1D-B111-4EB47C2A694A}" type="slidenum">
              <a:rPr lang="en-US" altLang="en-US" smtClean="0"/>
              <a:pPr>
                <a:spcBef>
                  <a:spcPct val="0"/>
                </a:spcBef>
              </a:pPr>
              <a:t>21</a:t>
            </a:fld>
            <a:endParaRPr lang="en-US" altLang="en-US"/>
          </a:p>
        </p:txBody>
      </p:sp>
      <p:sp>
        <p:nvSpPr>
          <p:cNvPr id="20483" name="Rectangle 2">
            <a:extLst>
              <a:ext uri="{FF2B5EF4-FFF2-40B4-BE49-F238E27FC236}">
                <a16:creationId xmlns:a16="http://schemas.microsoft.com/office/drawing/2014/main" id="{A53624E6-01CA-7A98-B720-78A5290406E3}"/>
              </a:ext>
            </a:extLst>
          </p:cNvPr>
          <p:cNvSpPr>
            <a:spLocks noGrp="1" noRot="1" noChangeAspect="1" noChangeArrowheads="1" noTextEdit="1"/>
          </p:cNvSpPr>
          <p:nvPr>
            <p:ph type="sldImg"/>
          </p:nvPr>
        </p:nvSpPr>
        <p:spPr>
          <a:xfrm>
            <a:off x="427038" y="692150"/>
            <a:ext cx="6157912" cy="3463925"/>
          </a:xfrm>
          <a:ln/>
        </p:spPr>
      </p:sp>
      <p:sp>
        <p:nvSpPr>
          <p:cNvPr id="20484" name="Rectangle 3">
            <a:extLst>
              <a:ext uri="{FF2B5EF4-FFF2-40B4-BE49-F238E27FC236}">
                <a16:creationId xmlns:a16="http://schemas.microsoft.com/office/drawing/2014/main" id="{06BC78F8-E6E9-FBAF-32B9-5224CE680F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104467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20796-7C8A-FC40-123E-B10089F6A969}"/>
            </a:ext>
          </a:extLst>
        </p:cNvPr>
        <p:cNvGrpSpPr/>
        <p:nvPr/>
      </p:nvGrpSpPr>
      <p:grpSpPr>
        <a:xfrm>
          <a:off x="0" y="0"/>
          <a:ext cx="0" cy="0"/>
          <a:chOff x="0" y="0"/>
          <a:chExt cx="0" cy="0"/>
        </a:xfrm>
      </p:grpSpPr>
      <p:sp>
        <p:nvSpPr>
          <p:cNvPr id="20482" name="Rectangle 7">
            <a:extLst>
              <a:ext uri="{FF2B5EF4-FFF2-40B4-BE49-F238E27FC236}">
                <a16:creationId xmlns:a16="http://schemas.microsoft.com/office/drawing/2014/main" id="{C97E1DE7-2585-7A15-E868-83AE63537E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4A6FA13-697F-4D1D-B111-4EB47C2A694A}" type="slidenum">
              <a:rPr lang="en-US" altLang="en-US" smtClean="0"/>
              <a:pPr>
                <a:spcBef>
                  <a:spcPct val="0"/>
                </a:spcBef>
              </a:pPr>
              <a:t>22</a:t>
            </a:fld>
            <a:endParaRPr lang="en-US" altLang="en-US"/>
          </a:p>
        </p:txBody>
      </p:sp>
      <p:sp>
        <p:nvSpPr>
          <p:cNvPr id="20483" name="Rectangle 2">
            <a:extLst>
              <a:ext uri="{FF2B5EF4-FFF2-40B4-BE49-F238E27FC236}">
                <a16:creationId xmlns:a16="http://schemas.microsoft.com/office/drawing/2014/main" id="{B6DA709A-FBA5-39F2-41E8-247AE84589FE}"/>
              </a:ext>
            </a:extLst>
          </p:cNvPr>
          <p:cNvSpPr>
            <a:spLocks noGrp="1" noRot="1" noChangeAspect="1" noChangeArrowheads="1" noTextEdit="1"/>
          </p:cNvSpPr>
          <p:nvPr>
            <p:ph type="sldImg"/>
          </p:nvPr>
        </p:nvSpPr>
        <p:spPr>
          <a:xfrm>
            <a:off x="427038" y="692150"/>
            <a:ext cx="6157912" cy="3463925"/>
          </a:xfrm>
          <a:ln/>
        </p:spPr>
      </p:sp>
      <p:sp>
        <p:nvSpPr>
          <p:cNvPr id="20484" name="Rectangle 3">
            <a:extLst>
              <a:ext uri="{FF2B5EF4-FFF2-40B4-BE49-F238E27FC236}">
                <a16:creationId xmlns:a16="http://schemas.microsoft.com/office/drawing/2014/main" id="{A9438058-E6A7-7C8A-5A3B-93975C2C58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6288047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373A7-8598-369A-9DD6-AD2F29B11DED}"/>
            </a:ext>
          </a:extLst>
        </p:cNvPr>
        <p:cNvGrpSpPr/>
        <p:nvPr/>
      </p:nvGrpSpPr>
      <p:grpSpPr>
        <a:xfrm>
          <a:off x="0" y="0"/>
          <a:ext cx="0" cy="0"/>
          <a:chOff x="0" y="0"/>
          <a:chExt cx="0" cy="0"/>
        </a:xfrm>
      </p:grpSpPr>
      <p:sp>
        <p:nvSpPr>
          <p:cNvPr id="20482" name="Rectangle 7">
            <a:extLst>
              <a:ext uri="{FF2B5EF4-FFF2-40B4-BE49-F238E27FC236}">
                <a16:creationId xmlns:a16="http://schemas.microsoft.com/office/drawing/2014/main" id="{4DA56645-E90C-0D18-2361-43A177EF29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4A6FA13-697F-4D1D-B111-4EB47C2A694A}" type="slidenum">
              <a:rPr lang="en-US" altLang="en-US" smtClean="0"/>
              <a:pPr>
                <a:spcBef>
                  <a:spcPct val="0"/>
                </a:spcBef>
              </a:pPr>
              <a:t>23</a:t>
            </a:fld>
            <a:endParaRPr lang="en-US" altLang="en-US"/>
          </a:p>
        </p:txBody>
      </p:sp>
      <p:sp>
        <p:nvSpPr>
          <p:cNvPr id="20483" name="Rectangle 2">
            <a:extLst>
              <a:ext uri="{FF2B5EF4-FFF2-40B4-BE49-F238E27FC236}">
                <a16:creationId xmlns:a16="http://schemas.microsoft.com/office/drawing/2014/main" id="{05CD2BFB-7704-DD2C-7BE3-3FC3C243D4A6}"/>
              </a:ext>
            </a:extLst>
          </p:cNvPr>
          <p:cNvSpPr>
            <a:spLocks noGrp="1" noRot="1" noChangeAspect="1" noChangeArrowheads="1" noTextEdit="1"/>
          </p:cNvSpPr>
          <p:nvPr>
            <p:ph type="sldImg"/>
          </p:nvPr>
        </p:nvSpPr>
        <p:spPr>
          <a:xfrm>
            <a:off x="427038" y="692150"/>
            <a:ext cx="6157912" cy="3463925"/>
          </a:xfrm>
          <a:ln/>
        </p:spPr>
      </p:sp>
      <p:sp>
        <p:nvSpPr>
          <p:cNvPr id="20484" name="Rectangle 3">
            <a:extLst>
              <a:ext uri="{FF2B5EF4-FFF2-40B4-BE49-F238E27FC236}">
                <a16:creationId xmlns:a16="http://schemas.microsoft.com/office/drawing/2014/main" id="{F28C37EB-E1B8-51DF-E43C-5A4A7703ED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9530744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A5EF7-A22B-82A5-15ED-B2B63F5F4678}"/>
            </a:ext>
          </a:extLst>
        </p:cNvPr>
        <p:cNvGrpSpPr/>
        <p:nvPr/>
      </p:nvGrpSpPr>
      <p:grpSpPr>
        <a:xfrm>
          <a:off x="0" y="0"/>
          <a:ext cx="0" cy="0"/>
          <a:chOff x="0" y="0"/>
          <a:chExt cx="0" cy="0"/>
        </a:xfrm>
      </p:grpSpPr>
      <p:sp>
        <p:nvSpPr>
          <p:cNvPr id="20482" name="Rectangle 7">
            <a:extLst>
              <a:ext uri="{FF2B5EF4-FFF2-40B4-BE49-F238E27FC236}">
                <a16:creationId xmlns:a16="http://schemas.microsoft.com/office/drawing/2014/main" id="{A69978C6-8D57-F3A6-7FA9-5DCDA7E678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4A6FA13-697F-4D1D-B111-4EB47C2A694A}" type="slidenum">
              <a:rPr lang="en-US" altLang="en-US" smtClean="0"/>
              <a:pPr>
                <a:spcBef>
                  <a:spcPct val="0"/>
                </a:spcBef>
              </a:pPr>
              <a:t>24</a:t>
            </a:fld>
            <a:endParaRPr lang="en-US" altLang="en-US"/>
          </a:p>
        </p:txBody>
      </p:sp>
      <p:sp>
        <p:nvSpPr>
          <p:cNvPr id="20483" name="Rectangle 2">
            <a:extLst>
              <a:ext uri="{FF2B5EF4-FFF2-40B4-BE49-F238E27FC236}">
                <a16:creationId xmlns:a16="http://schemas.microsoft.com/office/drawing/2014/main" id="{8AA6FA68-08AE-9F6F-F3D8-D99E65FF9C73}"/>
              </a:ext>
            </a:extLst>
          </p:cNvPr>
          <p:cNvSpPr>
            <a:spLocks noGrp="1" noRot="1" noChangeAspect="1" noChangeArrowheads="1" noTextEdit="1"/>
          </p:cNvSpPr>
          <p:nvPr>
            <p:ph type="sldImg"/>
          </p:nvPr>
        </p:nvSpPr>
        <p:spPr>
          <a:xfrm>
            <a:off x="427038" y="692150"/>
            <a:ext cx="6157912" cy="3463925"/>
          </a:xfrm>
          <a:ln/>
        </p:spPr>
      </p:sp>
      <p:sp>
        <p:nvSpPr>
          <p:cNvPr id="20484" name="Rectangle 3">
            <a:extLst>
              <a:ext uri="{FF2B5EF4-FFF2-40B4-BE49-F238E27FC236}">
                <a16:creationId xmlns:a16="http://schemas.microsoft.com/office/drawing/2014/main" id="{2431052C-CA86-869F-8181-11148D880B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226624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30E23-96DC-F74B-B33A-24AACAB33546}"/>
            </a:ext>
          </a:extLst>
        </p:cNvPr>
        <p:cNvGrpSpPr/>
        <p:nvPr/>
      </p:nvGrpSpPr>
      <p:grpSpPr>
        <a:xfrm>
          <a:off x="0" y="0"/>
          <a:ext cx="0" cy="0"/>
          <a:chOff x="0" y="0"/>
          <a:chExt cx="0" cy="0"/>
        </a:xfrm>
      </p:grpSpPr>
      <p:sp>
        <p:nvSpPr>
          <p:cNvPr id="20482" name="Rectangle 7">
            <a:extLst>
              <a:ext uri="{FF2B5EF4-FFF2-40B4-BE49-F238E27FC236}">
                <a16:creationId xmlns:a16="http://schemas.microsoft.com/office/drawing/2014/main" id="{DDF3D3CC-2364-035D-8E6C-ED6F591F0C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4A6FA13-697F-4D1D-B111-4EB47C2A694A}" type="slidenum">
              <a:rPr lang="en-US" altLang="en-US" smtClean="0"/>
              <a:pPr>
                <a:spcBef>
                  <a:spcPct val="0"/>
                </a:spcBef>
              </a:pPr>
              <a:t>25</a:t>
            </a:fld>
            <a:endParaRPr lang="en-US" altLang="en-US"/>
          </a:p>
        </p:txBody>
      </p:sp>
      <p:sp>
        <p:nvSpPr>
          <p:cNvPr id="20483" name="Rectangle 2">
            <a:extLst>
              <a:ext uri="{FF2B5EF4-FFF2-40B4-BE49-F238E27FC236}">
                <a16:creationId xmlns:a16="http://schemas.microsoft.com/office/drawing/2014/main" id="{C3AD6899-25A2-96CE-C90F-0B560748BCFE}"/>
              </a:ext>
            </a:extLst>
          </p:cNvPr>
          <p:cNvSpPr>
            <a:spLocks noGrp="1" noRot="1" noChangeAspect="1" noChangeArrowheads="1" noTextEdit="1"/>
          </p:cNvSpPr>
          <p:nvPr>
            <p:ph type="sldImg"/>
          </p:nvPr>
        </p:nvSpPr>
        <p:spPr>
          <a:xfrm>
            <a:off x="427038" y="692150"/>
            <a:ext cx="6157912" cy="3463925"/>
          </a:xfrm>
          <a:ln/>
        </p:spPr>
      </p:sp>
      <p:sp>
        <p:nvSpPr>
          <p:cNvPr id="20484" name="Rectangle 3">
            <a:extLst>
              <a:ext uri="{FF2B5EF4-FFF2-40B4-BE49-F238E27FC236}">
                <a16:creationId xmlns:a16="http://schemas.microsoft.com/office/drawing/2014/main" id="{2A3B47E6-C005-D8C3-2C61-D932C26E88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0092964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EB2BD-AD1F-9CD3-2A8A-6DD5522463E2}"/>
            </a:ext>
          </a:extLst>
        </p:cNvPr>
        <p:cNvGrpSpPr/>
        <p:nvPr/>
      </p:nvGrpSpPr>
      <p:grpSpPr>
        <a:xfrm>
          <a:off x="0" y="0"/>
          <a:ext cx="0" cy="0"/>
          <a:chOff x="0" y="0"/>
          <a:chExt cx="0" cy="0"/>
        </a:xfrm>
      </p:grpSpPr>
      <p:sp>
        <p:nvSpPr>
          <p:cNvPr id="20482" name="Rectangle 7">
            <a:extLst>
              <a:ext uri="{FF2B5EF4-FFF2-40B4-BE49-F238E27FC236}">
                <a16:creationId xmlns:a16="http://schemas.microsoft.com/office/drawing/2014/main" id="{38B2A55D-F414-43DA-3D81-0E604AC299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4A6FA13-697F-4D1D-B111-4EB47C2A694A}" type="slidenum">
              <a:rPr lang="en-US" altLang="en-US" smtClean="0"/>
              <a:pPr>
                <a:spcBef>
                  <a:spcPct val="0"/>
                </a:spcBef>
              </a:pPr>
              <a:t>26</a:t>
            </a:fld>
            <a:endParaRPr lang="en-US" altLang="en-US"/>
          </a:p>
        </p:txBody>
      </p:sp>
      <p:sp>
        <p:nvSpPr>
          <p:cNvPr id="20483" name="Rectangle 2">
            <a:extLst>
              <a:ext uri="{FF2B5EF4-FFF2-40B4-BE49-F238E27FC236}">
                <a16:creationId xmlns:a16="http://schemas.microsoft.com/office/drawing/2014/main" id="{1E275FCE-73EE-A4CB-CACD-5262E4C354B6}"/>
              </a:ext>
            </a:extLst>
          </p:cNvPr>
          <p:cNvSpPr>
            <a:spLocks noGrp="1" noRot="1" noChangeAspect="1" noChangeArrowheads="1" noTextEdit="1"/>
          </p:cNvSpPr>
          <p:nvPr>
            <p:ph type="sldImg"/>
          </p:nvPr>
        </p:nvSpPr>
        <p:spPr>
          <a:xfrm>
            <a:off x="427038" y="692150"/>
            <a:ext cx="6157912" cy="3463925"/>
          </a:xfrm>
          <a:ln/>
        </p:spPr>
      </p:sp>
      <p:sp>
        <p:nvSpPr>
          <p:cNvPr id="20484" name="Rectangle 3">
            <a:extLst>
              <a:ext uri="{FF2B5EF4-FFF2-40B4-BE49-F238E27FC236}">
                <a16:creationId xmlns:a16="http://schemas.microsoft.com/office/drawing/2014/main" id="{5CCF6FB5-0AA6-86A5-EC09-0075FB44CE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318376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C4B11-ADA6-CFBE-802A-92B56609D546}"/>
            </a:ext>
          </a:extLst>
        </p:cNvPr>
        <p:cNvGrpSpPr/>
        <p:nvPr/>
      </p:nvGrpSpPr>
      <p:grpSpPr>
        <a:xfrm>
          <a:off x="0" y="0"/>
          <a:ext cx="0" cy="0"/>
          <a:chOff x="0" y="0"/>
          <a:chExt cx="0" cy="0"/>
        </a:xfrm>
      </p:grpSpPr>
      <p:sp>
        <p:nvSpPr>
          <p:cNvPr id="20482" name="Rectangle 7">
            <a:extLst>
              <a:ext uri="{FF2B5EF4-FFF2-40B4-BE49-F238E27FC236}">
                <a16:creationId xmlns:a16="http://schemas.microsoft.com/office/drawing/2014/main" id="{CE29FCEA-9366-622E-0DD8-F2608873A5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4A6FA13-697F-4D1D-B111-4EB47C2A694A}" type="slidenum">
              <a:rPr lang="en-US" altLang="en-US" smtClean="0"/>
              <a:pPr>
                <a:spcBef>
                  <a:spcPct val="0"/>
                </a:spcBef>
              </a:pPr>
              <a:t>27</a:t>
            </a:fld>
            <a:endParaRPr lang="en-US" altLang="en-US"/>
          </a:p>
        </p:txBody>
      </p:sp>
      <p:sp>
        <p:nvSpPr>
          <p:cNvPr id="20483" name="Rectangle 2">
            <a:extLst>
              <a:ext uri="{FF2B5EF4-FFF2-40B4-BE49-F238E27FC236}">
                <a16:creationId xmlns:a16="http://schemas.microsoft.com/office/drawing/2014/main" id="{5FB39F81-664D-A6F7-0DDB-6C905BFDDB5D}"/>
              </a:ext>
            </a:extLst>
          </p:cNvPr>
          <p:cNvSpPr>
            <a:spLocks noGrp="1" noRot="1" noChangeAspect="1" noChangeArrowheads="1" noTextEdit="1"/>
          </p:cNvSpPr>
          <p:nvPr>
            <p:ph type="sldImg"/>
          </p:nvPr>
        </p:nvSpPr>
        <p:spPr>
          <a:xfrm>
            <a:off x="427038" y="692150"/>
            <a:ext cx="6157912" cy="3463925"/>
          </a:xfrm>
          <a:ln/>
        </p:spPr>
      </p:sp>
      <p:sp>
        <p:nvSpPr>
          <p:cNvPr id="20484" name="Rectangle 3">
            <a:extLst>
              <a:ext uri="{FF2B5EF4-FFF2-40B4-BE49-F238E27FC236}">
                <a16:creationId xmlns:a16="http://schemas.microsoft.com/office/drawing/2014/main" id="{A2FC172A-3EE5-FCD4-75C5-0900E62DF5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5151585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05569322-F3C0-2407-9538-BBB8E677FC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C2AB38D-6AD5-4549-A77C-F4D47DEB1864}" type="slidenum">
              <a:rPr lang="en-US" altLang="en-US" sz="1200">
                <a:latin typeface="Times New Roman" panose="02020603050405020304" pitchFamily="18" charset="0"/>
              </a:rPr>
              <a:pPr/>
              <a:t>28</a:t>
            </a:fld>
            <a:endParaRPr lang="en-US" altLang="en-US" sz="1200">
              <a:latin typeface="Times New Roman" panose="02020603050405020304" pitchFamily="18" charset="0"/>
            </a:endParaRPr>
          </a:p>
        </p:txBody>
      </p:sp>
      <p:sp>
        <p:nvSpPr>
          <p:cNvPr id="76803" name="Rectangle 2">
            <a:extLst>
              <a:ext uri="{FF2B5EF4-FFF2-40B4-BE49-F238E27FC236}">
                <a16:creationId xmlns:a16="http://schemas.microsoft.com/office/drawing/2014/main" id="{D5D718A3-9589-9DD4-C368-6385FC28CBBC}"/>
              </a:ext>
            </a:extLst>
          </p:cNvPr>
          <p:cNvSpPr>
            <a:spLocks noGrp="1" noRot="1" noChangeAspect="1" noChangeArrowheads="1" noTextEdit="1"/>
          </p:cNvSpPr>
          <p:nvPr>
            <p:ph type="sldImg"/>
          </p:nvPr>
        </p:nvSpPr>
        <p:spPr>
          <a:xfrm>
            <a:off x="427038" y="692150"/>
            <a:ext cx="6157912" cy="3463925"/>
          </a:xfrm>
          <a:ln/>
        </p:spPr>
      </p:sp>
      <p:sp>
        <p:nvSpPr>
          <p:cNvPr id="76804" name="Rectangle 3">
            <a:extLst>
              <a:ext uri="{FF2B5EF4-FFF2-40B4-BE49-F238E27FC236}">
                <a16:creationId xmlns:a16="http://schemas.microsoft.com/office/drawing/2014/main" id="{A381339D-E9AB-DB9C-76E0-00F6E60809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6BCC4F65-5F20-5122-DB79-6D25A75779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1C9F60B8-46FD-43AE-B96C-0C80D7E93F7D}" type="slidenum">
              <a:rPr lang="en-US" altLang="en-US" sz="1200">
                <a:latin typeface="Times New Roman" panose="02020603050405020304" pitchFamily="18" charset="0"/>
              </a:rPr>
              <a:pPr/>
              <a:t>29</a:t>
            </a:fld>
            <a:endParaRPr lang="en-US" altLang="en-US" sz="1200">
              <a:latin typeface="Times New Roman" panose="02020603050405020304" pitchFamily="18" charset="0"/>
            </a:endParaRPr>
          </a:p>
        </p:txBody>
      </p:sp>
      <p:sp>
        <p:nvSpPr>
          <p:cNvPr id="77827" name="Rectangle 2">
            <a:extLst>
              <a:ext uri="{FF2B5EF4-FFF2-40B4-BE49-F238E27FC236}">
                <a16:creationId xmlns:a16="http://schemas.microsoft.com/office/drawing/2014/main" id="{DC4272A7-D362-E76F-0AB9-E15BF4B03032}"/>
              </a:ext>
            </a:extLst>
          </p:cNvPr>
          <p:cNvSpPr>
            <a:spLocks noGrp="1" noRot="1" noChangeAspect="1" noChangeArrowheads="1" noTextEdit="1"/>
          </p:cNvSpPr>
          <p:nvPr>
            <p:ph type="sldImg"/>
          </p:nvPr>
        </p:nvSpPr>
        <p:spPr>
          <a:xfrm>
            <a:off x="427038" y="692150"/>
            <a:ext cx="6157912" cy="3463925"/>
          </a:xfrm>
          <a:ln/>
        </p:spPr>
      </p:sp>
      <p:sp>
        <p:nvSpPr>
          <p:cNvPr id="77828" name="Rectangle 3">
            <a:extLst>
              <a:ext uri="{FF2B5EF4-FFF2-40B4-BE49-F238E27FC236}">
                <a16:creationId xmlns:a16="http://schemas.microsoft.com/office/drawing/2014/main" id="{CED072BD-FCE2-0837-2265-B6FCE10F89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1B50A-AEE3-AE60-7320-0804E8B68C61}"/>
            </a:ext>
          </a:extLst>
        </p:cNvPr>
        <p:cNvGrpSpPr/>
        <p:nvPr/>
      </p:nvGrpSpPr>
      <p:grpSpPr>
        <a:xfrm>
          <a:off x="0" y="0"/>
          <a:ext cx="0" cy="0"/>
          <a:chOff x="0" y="0"/>
          <a:chExt cx="0" cy="0"/>
        </a:xfrm>
      </p:grpSpPr>
      <p:sp>
        <p:nvSpPr>
          <p:cNvPr id="77826" name="Rectangle 7">
            <a:extLst>
              <a:ext uri="{FF2B5EF4-FFF2-40B4-BE49-F238E27FC236}">
                <a16:creationId xmlns:a16="http://schemas.microsoft.com/office/drawing/2014/main" id="{BF3C1CF2-4190-43D0-F797-B2AF0958FC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1C9F60B8-46FD-43AE-B96C-0C80D7E93F7D}" type="slidenum">
              <a:rPr lang="en-US" altLang="en-US" sz="1200">
                <a:latin typeface="Times New Roman" panose="02020603050405020304" pitchFamily="18" charset="0"/>
              </a:rPr>
              <a:pPr/>
              <a:t>30</a:t>
            </a:fld>
            <a:endParaRPr lang="en-US" altLang="en-US" sz="1200">
              <a:latin typeface="Times New Roman" panose="02020603050405020304" pitchFamily="18" charset="0"/>
            </a:endParaRPr>
          </a:p>
        </p:txBody>
      </p:sp>
      <p:sp>
        <p:nvSpPr>
          <p:cNvPr id="77827" name="Rectangle 2">
            <a:extLst>
              <a:ext uri="{FF2B5EF4-FFF2-40B4-BE49-F238E27FC236}">
                <a16:creationId xmlns:a16="http://schemas.microsoft.com/office/drawing/2014/main" id="{EEB48C4E-98E9-8733-428E-8AD254047D19}"/>
              </a:ext>
            </a:extLst>
          </p:cNvPr>
          <p:cNvSpPr>
            <a:spLocks noGrp="1" noRot="1" noChangeAspect="1" noChangeArrowheads="1" noTextEdit="1"/>
          </p:cNvSpPr>
          <p:nvPr>
            <p:ph type="sldImg"/>
          </p:nvPr>
        </p:nvSpPr>
        <p:spPr>
          <a:xfrm>
            <a:off x="427038" y="692150"/>
            <a:ext cx="6157912" cy="3463925"/>
          </a:xfrm>
          <a:ln/>
        </p:spPr>
      </p:sp>
      <p:sp>
        <p:nvSpPr>
          <p:cNvPr id="77828" name="Rectangle 3">
            <a:extLst>
              <a:ext uri="{FF2B5EF4-FFF2-40B4-BE49-F238E27FC236}">
                <a16:creationId xmlns:a16="http://schemas.microsoft.com/office/drawing/2014/main" id="{FC2F755C-4796-7A8F-7E5B-22B71254B2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0525108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pPr/>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pPr/>
              <a:t>‹#›</a:t>
            </a:fld>
            <a:endParaRPr lang="en-IN"/>
          </a:p>
        </p:txBody>
      </p:sp>
      <p:pic>
        <p:nvPicPr>
          <p:cNvPr id="7" name="Picture 2" descr="KL University - Wikipedia">
            <a:extLst>
              <a:ext uri="{FF2B5EF4-FFF2-40B4-BE49-F238E27FC236}">
                <a16:creationId xmlns:a16="http://schemas.microsoft.com/office/drawing/2014/main" id="{33E87579-240A-75BE-6C51-28B42C7FDE2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8482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pPr/>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pPr/>
              <a:t>‹#›</a:t>
            </a:fld>
            <a:endParaRPr lang="en-IN"/>
          </a:p>
        </p:txBody>
      </p:sp>
      <p:pic>
        <p:nvPicPr>
          <p:cNvPr id="7" name="Picture 2" descr="KL University - Wikipedia">
            <a:extLst>
              <a:ext uri="{FF2B5EF4-FFF2-40B4-BE49-F238E27FC236}">
                <a16:creationId xmlns:a16="http://schemas.microsoft.com/office/drawing/2014/main" id="{E2A172C2-828F-4BA8-4C75-094A29AE57A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3346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8A3636-4462-45DC-BB00-FF6375F9F6C0}" type="datetimeFigureOut">
              <a:rPr lang="en-IN" smtClean="0"/>
              <a:pPr/>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pPr/>
              <a:t>‹#›</a:t>
            </a:fld>
            <a:endParaRPr lang="en-IN"/>
          </a:p>
        </p:txBody>
      </p:sp>
      <p:pic>
        <p:nvPicPr>
          <p:cNvPr id="7" name="Picture 2" descr="KL University - Wikipedia">
            <a:extLst>
              <a:ext uri="{FF2B5EF4-FFF2-40B4-BE49-F238E27FC236}">
                <a16:creationId xmlns:a16="http://schemas.microsoft.com/office/drawing/2014/main" id="{93DC526E-087F-9094-33BB-AD23876824F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664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8A3636-4462-45DC-BB00-FF6375F9F6C0}" type="datetimeFigureOut">
              <a:rPr lang="en-IN" smtClean="0"/>
              <a:pPr/>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pPr/>
              <a:t>‹#›</a:t>
            </a:fld>
            <a:endParaRPr lang="en-IN"/>
          </a:p>
        </p:txBody>
      </p:sp>
      <p:pic>
        <p:nvPicPr>
          <p:cNvPr id="8" name="Picture 2" descr="KL University - Wikipedia">
            <a:extLst>
              <a:ext uri="{FF2B5EF4-FFF2-40B4-BE49-F238E27FC236}">
                <a16:creationId xmlns:a16="http://schemas.microsoft.com/office/drawing/2014/main" id="{F468EF76-C44F-B370-1C63-40567B7B6C49}"/>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6558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8A3636-4462-45DC-BB00-FF6375F9F6C0}" type="datetimeFigureOut">
              <a:rPr lang="en-IN" smtClean="0"/>
              <a:pPr/>
              <a:t>28-08-2025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18F3EC4-EDD9-42C1-AC18-D944FC4FABDD}" type="slidenum">
              <a:rPr lang="en-IN" smtClean="0"/>
              <a:pPr/>
              <a:t>‹#›</a:t>
            </a:fld>
            <a:endParaRPr lang="en-IN"/>
          </a:p>
        </p:txBody>
      </p:sp>
      <p:pic>
        <p:nvPicPr>
          <p:cNvPr id="10" name="Picture 2" descr="KL University - Wikipedia">
            <a:extLst>
              <a:ext uri="{FF2B5EF4-FFF2-40B4-BE49-F238E27FC236}">
                <a16:creationId xmlns:a16="http://schemas.microsoft.com/office/drawing/2014/main" id="{4EC51872-32FA-EBC4-E89B-D5647B4B3AF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4128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8A3636-4462-45DC-BB00-FF6375F9F6C0}" type="datetimeFigureOut">
              <a:rPr lang="en-IN" smtClean="0"/>
              <a:pPr/>
              <a:t>28-08-2025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18F3EC4-EDD9-42C1-AC18-D944FC4FABDD}" type="slidenum">
              <a:rPr lang="en-IN" smtClean="0"/>
              <a:pPr/>
              <a:t>‹#›</a:t>
            </a:fld>
            <a:endParaRPr lang="en-IN"/>
          </a:p>
        </p:txBody>
      </p:sp>
    </p:spTree>
    <p:extLst>
      <p:ext uri="{BB962C8B-B14F-4D97-AF65-F5344CB8AC3E}">
        <p14:creationId xmlns:p14="http://schemas.microsoft.com/office/powerpoint/2010/main" val="1577011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8A3636-4462-45DC-BB00-FF6375F9F6C0}" type="datetimeFigureOut">
              <a:rPr lang="en-IN" smtClean="0"/>
              <a:pPr/>
              <a:t>28-08-2025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18F3EC4-EDD9-42C1-AC18-D944FC4FABDD}" type="slidenum">
              <a:rPr lang="en-IN" smtClean="0"/>
              <a:pPr/>
              <a:t>‹#›</a:t>
            </a:fld>
            <a:endParaRPr lang="en-IN"/>
          </a:p>
        </p:txBody>
      </p:sp>
    </p:spTree>
    <p:extLst>
      <p:ext uri="{BB962C8B-B14F-4D97-AF65-F5344CB8AC3E}">
        <p14:creationId xmlns:p14="http://schemas.microsoft.com/office/powerpoint/2010/main" val="373016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8A3636-4462-45DC-BB00-FF6375F9F6C0}" type="datetimeFigureOut">
              <a:rPr lang="en-IN" smtClean="0"/>
              <a:pPr/>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pPr/>
              <a:t>‹#›</a:t>
            </a:fld>
            <a:endParaRPr lang="en-IN"/>
          </a:p>
        </p:txBody>
      </p:sp>
    </p:spTree>
    <p:extLst>
      <p:ext uri="{BB962C8B-B14F-4D97-AF65-F5344CB8AC3E}">
        <p14:creationId xmlns:p14="http://schemas.microsoft.com/office/powerpoint/2010/main" val="2688360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8A3636-4462-45DC-BB00-FF6375F9F6C0}" type="datetimeFigureOut">
              <a:rPr lang="en-IN" smtClean="0"/>
              <a:pPr/>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pPr/>
              <a:t>‹#›</a:t>
            </a:fld>
            <a:endParaRPr lang="en-IN"/>
          </a:p>
        </p:txBody>
      </p:sp>
    </p:spTree>
    <p:extLst>
      <p:ext uri="{BB962C8B-B14F-4D97-AF65-F5344CB8AC3E}">
        <p14:creationId xmlns:p14="http://schemas.microsoft.com/office/powerpoint/2010/main" val="1435331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pPr/>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pPr/>
              <a:t>‹#›</a:t>
            </a:fld>
            <a:endParaRPr lang="en-IN"/>
          </a:p>
        </p:txBody>
      </p:sp>
    </p:spTree>
    <p:extLst>
      <p:ext uri="{BB962C8B-B14F-4D97-AF65-F5344CB8AC3E}">
        <p14:creationId xmlns:p14="http://schemas.microsoft.com/office/powerpoint/2010/main" val="3098556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pPr/>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pPr/>
              <a:t>‹#›</a:t>
            </a:fld>
            <a:endParaRPr lang="en-IN"/>
          </a:p>
        </p:txBody>
      </p:sp>
    </p:spTree>
    <p:extLst>
      <p:ext uri="{BB962C8B-B14F-4D97-AF65-F5344CB8AC3E}">
        <p14:creationId xmlns:p14="http://schemas.microsoft.com/office/powerpoint/2010/main" val="1023697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8A3636-4462-45DC-BB00-FF6375F9F6C0}" type="datetimeFigureOut">
              <a:rPr lang="en-IN" smtClean="0"/>
              <a:pPr/>
              <a:t>28-08-2025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8F3EC4-EDD9-42C1-AC18-D944FC4FABDD}" type="slidenum">
              <a:rPr lang="en-IN" smtClean="0"/>
              <a:pPr/>
              <a:t>‹#›</a:t>
            </a:fld>
            <a:endParaRPr lang="en-IN"/>
          </a:p>
        </p:txBody>
      </p:sp>
    </p:spTree>
    <p:extLst>
      <p:ext uri="{BB962C8B-B14F-4D97-AF65-F5344CB8AC3E}">
        <p14:creationId xmlns:p14="http://schemas.microsoft.com/office/powerpoint/2010/main" val="30530147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dsa/properties-of-fourier-transform/" TargetMode="External"/><Relationship Id="rId2" Type="http://schemas.openxmlformats.org/officeDocument/2006/relationships/hyperlink" Target="https://www.geeksforgeeks.org/dbms/data-preprocessing-in-data-minin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data-analysis/principal-component-analysis-pca/" TargetMode="External"/><Relationship Id="rId2" Type="http://schemas.openxmlformats.org/officeDocument/2006/relationships/hyperlink" Target="https://www.geeksforgeeks.org/machine-learning/auto-encoder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geeksforgeeks.org/data-analysis/types-of-outliers-in-data-mining/"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www.geeksforgeeks.org/machine-learning/z-score-for-outlier-detection-python/"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C7BC2855-62DF-7C68-2680-6F1BDACC9B4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E3F2F65-8282-9C7E-CEBC-B3FCF09DF9DC}"/>
              </a:ext>
            </a:extLst>
          </p:cNvPr>
          <p:cNvSpPr txBox="1"/>
          <p:nvPr/>
        </p:nvSpPr>
        <p:spPr>
          <a:xfrm>
            <a:off x="329609" y="1288145"/>
            <a:ext cx="11738344" cy="1938992"/>
          </a:xfrm>
          <a:prstGeom prst="rect">
            <a:avLst/>
          </a:prstGeom>
          <a:noFill/>
        </p:spPr>
        <p:txBody>
          <a:bodyPr wrap="square">
            <a:spAutoFit/>
          </a:bodyPr>
          <a:lstStyle/>
          <a:p>
            <a:pPr algn="ctr"/>
            <a:r>
              <a:rPr kumimoji="0" lang="en-US" sz="4000" i="0" u="none" strike="noStrike" kern="1200" cap="all" spc="0" normalizeH="0" baseline="0" noProof="0" dirty="0">
                <a:ln>
                  <a:noFill/>
                </a:ln>
                <a:solidFill>
                  <a:srgbClr val="FF0000"/>
                </a:solidFill>
                <a:effectLst/>
                <a:uLnTx/>
                <a:uFillTx/>
                <a:ea typeface="+mj-ea"/>
                <a:cs typeface="+mj-cs"/>
              </a:rPr>
              <a:t>ARTIFICIAL INTELLIGENCE </a:t>
            </a:r>
            <a:br>
              <a:rPr kumimoji="0" lang="en-US" sz="4000" i="0" u="none" strike="noStrike" kern="1200" cap="all" spc="0" normalizeH="0" baseline="0" noProof="0" dirty="0">
                <a:ln>
                  <a:noFill/>
                </a:ln>
                <a:solidFill>
                  <a:srgbClr val="FF0000"/>
                </a:solidFill>
                <a:effectLst/>
                <a:uLnTx/>
                <a:uFillTx/>
                <a:ea typeface="+mj-ea"/>
                <a:cs typeface="+mj-cs"/>
              </a:rPr>
            </a:br>
            <a:r>
              <a:rPr kumimoji="0" lang="en-US" sz="4000" i="0" u="none" strike="noStrike" kern="1200" cap="all" spc="0" normalizeH="0" baseline="0" noProof="0" dirty="0">
                <a:ln>
                  <a:noFill/>
                </a:ln>
                <a:solidFill>
                  <a:srgbClr val="FF0000"/>
                </a:solidFill>
                <a:effectLst/>
                <a:uLnTx/>
                <a:uFillTx/>
                <a:ea typeface="+mj-ea"/>
                <a:cs typeface="+mj-cs"/>
              </a:rPr>
              <a:t>&amp; </a:t>
            </a:r>
            <a:br>
              <a:rPr kumimoji="0" lang="en-US" sz="4000" i="0" u="none" strike="noStrike" kern="1200" cap="all" spc="0" normalizeH="0" baseline="0" noProof="0" dirty="0">
                <a:ln>
                  <a:noFill/>
                </a:ln>
                <a:solidFill>
                  <a:srgbClr val="FF0000"/>
                </a:solidFill>
                <a:effectLst/>
                <a:uLnTx/>
                <a:uFillTx/>
                <a:ea typeface="+mj-ea"/>
                <a:cs typeface="+mj-cs"/>
              </a:rPr>
            </a:br>
            <a:r>
              <a:rPr kumimoji="0" lang="en-US" sz="4000" i="0" u="none" strike="noStrike" kern="1200" cap="all" spc="0" normalizeH="0" baseline="0" noProof="0" dirty="0">
                <a:ln>
                  <a:noFill/>
                </a:ln>
                <a:solidFill>
                  <a:srgbClr val="FF0000"/>
                </a:solidFill>
                <a:effectLst/>
                <a:uLnTx/>
                <a:uFillTx/>
                <a:ea typeface="+mj-ea"/>
                <a:cs typeface="+mj-cs"/>
              </a:rPr>
              <a:t>MACHINE LEARNING</a:t>
            </a:r>
            <a:endParaRPr lang="en-IN" sz="4000" dirty="0">
              <a:solidFill>
                <a:srgbClr val="FF0000"/>
              </a:solidFill>
            </a:endParaRPr>
          </a:p>
        </p:txBody>
      </p:sp>
      <p:sp>
        <p:nvSpPr>
          <p:cNvPr id="2" name="TextBox 1">
            <a:extLst>
              <a:ext uri="{FF2B5EF4-FFF2-40B4-BE49-F238E27FC236}">
                <a16:creationId xmlns:a16="http://schemas.microsoft.com/office/drawing/2014/main" id="{12010671-249C-340E-19B5-2BA72FEB1F0C}"/>
              </a:ext>
            </a:extLst>
          </p:cNvPr>
          <p:cNvSpPr txBox="1"/>
          <p:nvPr/>
        </p:nvSpPr>
        <p:spPr>
          <a:xfrm>
            <a:off x="1267097" y="3566772"/>
            <a:ext cx="9657806" cy="1477328"/>
          </a:xfrm>
          <a:prstGeom prst="rect">
            <a:avLst/>
          </a:prstGeom>
          <a:noFill/>
        </p:spPr>
        <p:txBody>
          <a:bodyPr wrap="square">
            <a:spAutoFit/>
          </a:bodyPr>
          <a:lstStyle/>
          <a:p>
            <a:pPr algn="ctr"/>
            <a:r>
              <a:rPr kumimoji="0" lang="en-US" sz="3000" b="1" i="0" u="none" strike="noStrike" kern="1200" cap="all" spc="0" normalizeH="0" baseline="0" noProof="0" dirty="0">
                <a:ln>
                  <a:noFill/>
                </a:ln>
                <a:effectLst/>
                <a:uLnTx/>
                <a:uFillTx/>
                <a:ea typeface="+mj-ea"/>
                <a:cs typeface="+mj-cs"/>
              </a:rPr>
              <a:t>SESSION NO :</a:t>
            </a:r>
            <a:r>
              <a:rPr lang="en-US" sz="3000" b="1" cap="all" dirty="0">
                <a:cs typeface="Times New Roman" pitchFamily="18" charset="0"/>
              </a:rPr>
              <a:t> 18</a:t>
            </a:r>
          </a:p>
          <a:p>
            <a:pPr algn="ctr"/>
            <a:r>
              <a:rPr lang="en-US" sz="3000" b="1" dirty="0"/>
              <a:t>Noise reduction (FFT), outlier detection, imputation (KNN, centrality).</a:t>
            </a:r>
            <a:endParaRPr lang="en-IN" sz="3000" b="1" dirty="0"/>
          </a:p>
        </p:txBody>
      </p:sp>
    </p:spTree>
    <p:extLst>
      <p:ext uri="{BB962C8B-B14F-4D97-AF65-F5344CB8AC3E}">
        <p14:creationId xmlns:p14="http://schemas.microsoft.com/office/powerpoint/2010/main" val="3988170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061">
            <a:extLst>
              <a:ext uri="{FF2B5EF4-FFF2-40B4-BE49-F238E27FC236}">
                <a16:creationId xmlns:a16="http://schemas.microsoft.com/office/drawing/2014/main" id="{5F2CD66E-4B4F-35E2-AE33-61AD65F44994}"/>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B143C99F-E696-484C-8B60-AF0296039842}" type="slidenum">
              <a:rPr lang="en-US" altLang="en-US" sz="1200"/>
              <a:pPr>
                <a:spcBef>
                  <a:spcPct val="0"/>
                </a:spcBef>
                <a:buClrTx/>
                <a:buSzTx/>
                <a:buFontTx/>
                <a:buNone/>
              </a:pPr>
              <a:t>2</a:t>
            </a:fld>
            <a:endParaRPr lang="en-US" altLang="en-US" sz="1200"/>
          </a:p>
        </p:txBody>
      </p:sp>
      <p:sp>
        <p:nvSpPr>
          <p:cNvPr id="9219" name="Rectangle 2">
            <a:extLst>
              <a:ext uri="{FF2B5EF4-FFF2-40B4-BE49-F238E27FC236}">
                <a16:creationId xmlns:a16="http://schemas.microsoft.com/office/drawing/2014/main" id="{26B54D1A-74FC-1F9B-83B3-9941F6CBCB7F}"/>
              </a:ext>
            </a:extLst>
          </p:cNvPr>
          <p:cNvSpPr>
            <a:spLocks noGrp="1" noChangeArrowheads="1"/>
          </p:cNvSpPr>
          <p:nvPr>
            <p:ph type="title"/>
          </p:nvPr>
        </p:nvSpPr>
        <p:spPr>
          <a:xfrm>
            <a:off x="1828800" y="609600"/>
            <a:ext cx="9144000" cy="685800"/>
          </a:xfrm>
        </p:spPr>
        <p:txBody>
          <a:bodyPr/>
          <a:lstStyle/>
          <a:p>
            <a:pPr eaLnBrk="1" hangingPunct="1"/>
            <a:r>
              <a:rPr lang="en-US" altLang="en-US" sz="3200" dirty="0"/>
              <a:t>Data Quality: Why Preprocess the Data?</a:t>
            </a:r>
            <a:endParaRPr lang="en-US" altLang="en-US" dirty="0"/>
          </a:p>
        </p:txBody>
      </p:sp>
      <p:sp>
        <p:nvSpPr>
          <p:cNvPr id="9220" name="Rectangle 3">
            <a:extLst>
              <a:ext uri="{FF2B5EF4-FFF2-40B4-BE49-F238E27FC236}">
                <a16:creationId xmlns:a16="http://schemas.microsoft.com/office/drawing/2014/main" id="{434B035D-04D8-70ED-9719-934CD4661D88}"/>
              </a:ext>
            </a:extLst>
          </p:cNvPr>
          <p:cNvSpPr>
            <a:spLocks noGrp="1" noChangeArrowheads="1"/>
          </p:cNvSpPr>
          <p:nvPr>
            <p:ph type="body" idx="1"/>
          </p:nvPr>
        </p:nvSpPr>
        <p:spPr>
          <a:xfrm>
            <a:off x="1828800" y="1295400"/>
            <a:ext cx="8382000" cy="4946650"/>
          </a:xfrm>
        </p:spPr>
        <p:txBody>
          <a:bodyPr/>
          <a:lstStyle/>
          <a:p>
            <a:pPr eaLnBrk="1" hangingPunct="1">
              <a:lnSpc>
                <a:spcPct val="140000"/>
              </a:lnSpc>
            </a:pPr>
            <a:r>
              <a:rPr lang="en-US" altLang="en-US" sz="2400"/>
              <a:t>Measures for data quality: A multidimensional view</a:t>
            </a:r>
          </a:p>
          <a:p>
            <a:pPr lvl="1" eaLnBrk="1" hangingPunct="1">
              <a:lnSpc>
                <a:spcPct val="140000"/>
              </a:lnSpc>
            </a:pPr>
            <a:r>
              <a:rPr lang="en-US" altLang="en-US"/>
              <a:t>Accuracy: correct or wrong, accurate or not</a:t>
            </a:r>
          </a:p>
          <a:p>
            <a:pPr lvl="1" eaLnBrk="1" hangingPunct="1">
              <a:lnSpc>
                <a:spcPct val="140000"/>
              </a:lnSpc>
            </a:pPr>
            <a:r>
              <a:rPr lang="en-US" altLang="en-US"/>
              <a:t>Completeness: not recorded, unavailable, …</a:t>
            </a:r>
          </a:p>
          <a:p>
            <a:pPr lvl="1" eaLnBrk="1" hangingPunct="1">
              <a:lnSpc>
                <a:spcPct val="140000"/>
              </a:lnSpc>
            </a:pPr>
            <a:r>
              <a:rPr lang="en-US" altLang="en-US"/>
              <a:t>Consistency: some modified but some not, dangling, …</a:t>
            </a:r>
          </a:p>
          <a:p>
            <a:pPr lvl="1" eaLnBrk="1" hangingPunct="1">
              <a:lnSpc>
                <a:spcPct val="140000"/>
              </a:lnSpc>
            </a:pPr>
            <a:r>
              <a:rPr lang="en-US" altLang="en-US"/>
              <a:t>Timeliness: timely update? </a:t>
            </a:r>
          </a:p>
          <a:p>
            <a:pPr lvl="1" eaLnBrk="1" hangingPunct="1">
              <a:lnSpc>
                <a:spcPct val="140000"/>
              </a:lnSpc>
            </a:pPr>
            <a:r>
              <a:rPr lang="en-US" altLang="en-US"/>
              <a:t>Believability: how trustable the data are correct?</a:t>
            </a:r>
          </a:p>
          <a:p>
            <a:pPr lvl="1" eaLnBrk="1" hangingPunct="1">
              <a:lnSpc>
                <a:spcPct val="140000"/>
              </a:lnSpc>
            </a:pPr>
            <a:r>
              <a:rPr lang="en-US" altLang="en-US"/>
              <a:t>Interpretability: how easily the data can be understood?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061">
            <a:extLst>
              <a:ext uri="{FF2B5EF4-FFF2-40B4-BE49-F238E27FC236}">
                <a16:creationId xmlns:a16="http://schemas.microsoft.com/office/drawing/2014/main" id="{857674D4-03BB-FE51-B615-280383A30E2D}"/>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14227B15-F0EE-46A5-B9B7-E2BCCBAA3227}" type="slidenum">
              <a:rPr lang="en-US" altLang="en-US" sz="1200"/>
              <a:pPr>
                <a:spcBef>
                  <a:spcPct val="0"/>
                </a:spcBef>
                <a:buClrTx/>
                <a:buSzTx/>
                <a:buFontTx/>
                <a:buNone/>
              </a:pPr>
              <a:t>3</a:t>
            </a:fld>
            <a:endParaRPr lang="en-US" altLang="en-US" sz="1200"/>
          </a:p>
        </p:txBody>
      </p:sp>
      <p:sp>
        <p:nvSpPr>
          <p:cNvPr id="11267" name="Rectangle 2">
            <a:extLst>
              <a:ext uri="{FF2B5EF4-FFF2-40B4-BE49-F238E27FC236}">
                <a16:creationId xmlns:a16="http://schemas.microsoft.com/office/drawing/2014/main" id="{E880064E-BCE8-C7EE-42CD-FB0B853E604C}"/>
              </a:ext>
            </a:extLst>
          </p:cNvPr>
          <p:cNvSpPr>
            <a:spLocks noGrp="1" noChangeArrowheads="1"/>
          </p:cNvSpPr>
          <p:nvPr>
            <p:ph type="title"/>
          </p:nvPr>
        </p:nvSpPr>
        <p:spPr>
          <a:xfrm>
            <a:off x="2133600" y="457200"/>
            <a:ext cx="9144000" cy="685800"/>
          </a:xfrm>
        </p:spPr>
        <p:txBody>
          <a:bodyPr/>
          <a:lstStyle/>
          <a:p>
            <a:pPr eaLnBrk="1" hangingPunct="1"/>
            <a:r>
              <a:rPr lang="en-US" altLang="en-US" sz="3200" dirty="0"/>
              <a:t>Major Tasks in Data Preprocessing</a:t>
            </a:r>
          </a:p>
        </p:txBody>
      </p:sp>
      <p:sp>
        <p:nvSpPr>
          <p:cNvPr id="11268" name="Rectangle 3">
            <a:extLst>
              <a:ext uri="{FF2B5EF4-FFF2-40B4-BE49-F238E27FC236}">
                <a16:creationId xmlns:a16="http://schemas.microsoft.com/office/drawing/2014/main" id="{5FA88947-78B0-1617-8AB3-B5D9DC93A2B4}"/>
              </a:ext>
            </a:extLst>
          </p:cNvPr>
          <p:cNvSpPr>
            <a:spLocks noGrp="1" noChangeArrowheads="1"/>
          </p:cNvSpPr>
          <p:nvPr>
            <p:ph type="body" idx="1"/>
          </p:nvPr>
        </p:nvSpPr>
        <p:spPr>
          <a:xfrm>
            <a:off x="1905000" y="1295400"/>
            <a:ext cx="8305800" cy="5105400"/>
          </a:xfrm>
        </p:spPr>
        <p:txBody>
          <a:bodyPr>
            <a:normAutofit lnSpcReduction="10000"/>
          </a:bodyPr>
          <a:lstStyle/>
          <a:p>
            <a:pPr eaLnBrk="1" hangingPunct="1">
              <a:lnSpc>
                <a:spcPct val="120000"/>
              </a:lnSpc>
            </a:pPr>
            <a:r>
              <a:rPr lang="en-US" altLang="en-US" sz="2000" b="1" dirty="0"/>
              <a:t>Data cleaning</a:t>
            </a:r>
          </a:p>
          <a:p>
            <a:pPr lvl="1" eaLnBrk="1" hangingPunct="1">
              <a:lnSpc>
                <a:spcPct val="120000"/>
              </a:lnSpc>
            </a:pPr>
            <a:r>
              <a:rPr lang="en-US" altLang="en-US" sz="2000" dirty="0"/>
              <a:t>Fill in missing values, smooth noisy data, identify or remove outliers, and resolve inconsistencies</a:t>
            </a:r>
          </a:p>
          <a:p>
            <a:pPr eaLnBrk="1" hangingPunct="1">
              <a:lnSpc>
                <a:spcPct val="120000"/>
              </a:lnSpc>
            </a:pPr>
            <a:r>
              <a:rPr lang="en-US" altLang="en-US" sz="2000" b="1" dirty="0"/>
              <a:t>Data integration</a:t>
            </a:r>
          </a:p>
          <a:p>
            <a:pPr lvl="1" eaLnBrk="1" hangingPunct="1">
              <a:lnSpc>
                <a:spcPct val="120000"/>
              </a:lnSpc>
            </a:pPr>
            <a:r>
              <a:rPr lang="en-US" altLang="en-US" sz="2000" dirty="0"/>
              <a:t>Integration of multiple databases, data cubes, or files</a:t>
            </a:r>
          </a:p>
          <a:p>
            <a:pPr eaLnBrk="1" hangingPunct="1">
              <a:lnSpc>
                <a:spcPct val="120000"/>
              </a:lnSpc>
            </a:pPr>
            <a:r>
              <a:rPr lang="en-US" altLang="en-US" sz="2000" b="1" dirty="0"/>
              <a:t>Data reduction</a:t>
            </a:r>
          </a:p>
          <a:p>
            <a:pPr lvl="1" eaLnBrk="1" hangingPunct="1">
              <a:lnSpc>
                <a:spcPct val="120000"/>
              </a:lnSpc>
            </a:pPr>
            <a:r>
              <a:rPr lang="en-US" altLang="en-US" sz="2000" dirty="0"/>
              <a:t>Dimensionality reduction</a:t>
            </a:r>
          </a:p>
          <a:p>
            <a:pPr lvl="1" eaLnBrk="1" hangingPunct="1">
              <a:lnSpc>
                <a:spcPct val="120000"/>
              </a:lnSpc>
            </a:pPr>
            <a:r>
              <a:rPr lang="en-US" altLang="en-US" sz="2000" dirty="0"/>
              <a:t>Numerosity reduction</a:t>
            </a:r>
          </a:p>
          <a:p>
            <a:pPr lvl="1" eaLnBrk="1" hangingPunct="1">
              <a:lnSpc>
                <a:spcPct val="120000"/>
              </a:lnSpc>
            </a:pPr>
            <a:r>
              <a:rPr lang="en-US" altLang="en-US" sz="2000" dirty="0"/>
              <a:t>Data compression</a:t>
            </a:r>
          </a:p>
          <a:p>
            <a:pPr eaLnBrk="1" hangingPunct="1">
              <a:lnSpc>
                <a:spcPct val="120000"/>
              </a:lnSpc>
            </a:pPr>
            <a:r>
              <a:rPr lang="en-US" altLang="en-US" sz="2000" b="1" dirty="0"/>
              <a:t>Data transformation and data discretization</a:t>
            </a:r>
          </a:p>
          <a:p>
            <a:pPr lvl="1" eaLnBrk="1" hangingPunct="1">
              <a:lnSpc>
                <a:spcPct val="120000"/>
              </a:lnSpc>
            </a:pPr>
            <a:r>
              <a:rPr lang="en-US" altLang="en-US" sz="2000" dirty="0"/>
              <a:t>Normalization </a:t>
            </a:r>
          </a:p>
          <a:p>
            <a:pPr lvl="1" eaLnBrk="1" hangingPunct="1">
              <a:lnSpc>
                <a:spcPct val="120000"/>
              </a:lnSpc>
            </a:pPr>
            <a:r>
              <a:rPr lang="en-US" altLang="en-US" sz="2000" dirty="0"/>
              <a:t>Concept hierarchy generation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061">
            <a:extLst>
              <a:ext uri="{FF2B5EF4-FFF2-40B4-BE49-F238E27FC236}">
                <a16:creationId xmlns:a16="http://schemas.microsoft.com/office/drawing/2014/main" id="{891C5C64-F53E-82D3-4AFE-CE4260835993}"/>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399CE30-B42C-443E-89E6-C6953CB772D3}" type="slidenum">
              <a:rPr lang="en-US" altLang="en-US" sz="1200"/>
              <a:pPr>
                <a:spcBef>
                  <a:spcPct val="0"/>
                </a:spcBef>
                <a:buClrTx/>
                <a:buSzTx/>
                <a:buFontTx/>
                <a:buNone/>
              </a:pPr>
              <a:t>4</a:t>
            </a:fld>
            <a:endParaRPr lang="en-US" altLang="en-US" sz="1200"/>
          </a:p>
        </p:txBody>
      </p:sp>
      <p:sp>
        <p:nvSpPr>
          <p:cNvPr id="13315" name="Rectangle 2">
            <a:extLst>
              <a:ext uri="{FF2B5EF4-FFF2-40B4-BE49-F238E27FC236}">
                <a16:creationId xmlns:a16="http://schemas.microsoft.com/office/drawing/2014/main" id="{7065A191-E560-5A0A-0EFF-C86E49BDB46D}"/>
              </a:ext>
            </a:extLst>
          </p:cNvPr>
          <p:cNvSpPr>
            <a:spLocks noGrp="1" noChangeArrowheads="1"/>
          </p:cNvSpPr>
          <p:nvPr>
            <p:ph type="title"/>
          </p:nvPr>
        </p:nvSpPr>
        <p:spPr>
          <a:xfrm>
            <a:off x="3485605" y="164082"/>
            <a:ext cx="3629297" cy="802570"/>
          </a:xfrm>
        </p:spPr>
        <p:txBody>
          <a:bodyPr/>
          <a:lstStyle/>
          <a:p>
            <a:pPr eaLnBrk="1" hangingPunct="1"/>
            <a:r>
              <a:rPr lang="en-US" altLang="en-US" dirty="0">
                <a:solidFill>
                  <a:srgbClr val="170981"/>
                </a:solidFill>
              </a:rPr>
              <a:t>Data Cleaning</a:t>
            </a:r>
          </a:p>
        </p:txBody>
      </p:sp>
      <p:sp>
        <p:nvSpPr>
          <p:cNvPr id="13316" name="Rectangle 3">
            <a:extLst>
              <a:ext uri="{FF2B5EF4-FFF2-40B4-BE49-F238E27FC236}">
                <a16:creationId xmlns:a16="http://schemas.microsoft.com/office/drawing/2014/main" id="{A94D259C-3FFF-28CA-F396-8BB53FA4CE25}"/>
              </a:ext>
            </a:extLst>
          </p:cNvPr>
          <p:cNvSpPr>
            <a:spLocks noGrp="1" noChangeArrowheads="1"/>
          </p:cNvSpPr>
          <p:nvPr>
            <p:ph type="body" idx="1"/>
          </p:nvPr>
        </p:nvSpPr>
        <p:spPr>
          <a:xfrm>
            <a:off x="1839686" y="1097281"/>
            <a:ext cx="8382000" cy="4127864"/>
          </a:xfrm>
        </p:spPr>
        <p:txBody>
          <a:bodyPr>
            <a:normAutofit/>
          </a:bodyPr>
          <a:lstStyle/>
          <a:p>
            <a:pPr eaLnBrk="1" hangingPunct="1">
              <a:lnSpc>
                <a:spcPct val="110000"/>
              </a:lnSpc>
            </a:pPr>
            <a:r>
              <a:rPr lang="en-US" altLang="en-US" sz="2400" dirty="0"/>
              <a:t>Data in the Real World Is Dirty: Lots of potentially incorrect data, e.g., instrument faulty, human or computer error, transmission error</a:t>
            </a:r>
          </a:p>
          <a:p>
            <a:pPr lvl="1" eaLnBrk="1" hangingPunct="1">
              <a:lnSpc>
                <a:spcPct val="120000"/>
              </a:lnSpc>
            </a:pPr>
            <a:r>
              <a:rPr lang="en-US" altLang="en-US" u="sng" dirty="0"/>
              <a:t>incomplete</a:t>
            </a:r>
            <a:r>
              <a:rPr lang="en-US" altLang="en-US" dirty="0"/>
              <a:t>: lacking attribute values, lacking certain attributes of interest, or containing only aggregate data</a:t>
            </a:r>
          </a:p>
          <a:p>
            <a:pPr lvl="2" eaLnBrk="1" hangingPunct="1">
              <a:lnSpc>
                <a:spcPct val="110000"/>
              </a:lnSpc>
            </a:pPr>
            <a:r>
              <a:rPr lang="en-US" altLang="en-US" sz="2400" dirty="0"/>
              <a:t>e.g., </a:t>
            </a:r>
            <a:r>
              <a:rPr lang="en-US" altLang="en-US" sz="2400" i="1" dirty="0"/>
              <a:t>Occupation</a:t>
            </a:r>
            <a:r>
              <a:rPr lang="en-US" altLang="en-US" sz="2400" dirty="0"/>
              <a:t>=“ ” (missing data)</a:t>
            </a:r>
          </a:p>
          <a:p>
            <a:pPr lvl="1" eaLnBrk="1" hangingPunct="1">
              <a:lnSpc>
                <a:spcPct val="110000"/>
              </a:lnSpc>
            </a:pPr>
            <a:r>
              <a:rPr lang="en-US" altLang="en-US" u="sng" dirty="0"/>
              <a:t>noisy</a:t>
            </a:r>
            <a:r>
              <a:rPr lang="en-US" altLang="en-US" dirty="0"/>
              <a:t>: containing noise, errors, or outliers</a:t>
            </a:r>
          </a:p>
          <a:p>
            <a:pPr lvl="2" eaLnBrk="1" hangingPunct="1">
              <a:lnSpc>
                <a:spcPct val="110000"/>
              </a:lnSpc>
            </a:pPr>
            <a:r>
              <a:rPr lang="en-US" altLang="en-US" sz="2400" dirty="0"/>
              <a:t>e.g., </a:t>
            </a:r>
            <a:r>
              <a:rPr lang="en-US" altLang="en-US" sz="2400" i="1" dirty="0"/>
              <a:t>Salary</a:t>
            </a:r>
            <a:r>
              <a:rPr lang="en-US" altLang="en-US" sz="2400" dirty="0"/>
              <a:t>=“</a:t>
            </a:r>
            <a:r>
              <a:rPr lang="en-US" altLang="en-US" sz="2400" dirty="0">
                <a:cs typeface="Tahoma" panose="020B0604030504040204" pitchFamily="34" charset="0"/>
              </a:rPr>
              <a:t>−</a:t>
            </a:r>
            <a:r>
              <a:rPr lang="en-US" altLang="en-US" sz="2400" dirty="0"/>
              <a:t>10” (an error)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061">
            <a:extLst>
              <a:ext uri="{FF2B5EF4-FFF2-40B4-BE49-F238E27FC236}">
                <a16:creationId xmlns:a16="http://schemas.microsoft.com/office/drawing/2014/main" id="{0B825169-44BE-0D25-A7F8-D21C175C9DFC}"/>
              </a:ext>
            </a:extLst>
          </p:cNvPr>
          <p:cNvSpPr txBox="1">
            <a:spLocks noGrp="1" noChangeArrowheads="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r" eaLnBrk="1" hangingPunct="1">
              <a:spcBef>
                <a:spcPct val="0"/>
              </a:spcBef>
              <a:buClrTx/>
              <a:buSzTx/>
              <a:buFontTx/>
              <a:buNone/>
            </a:pPr>
            <a:fld id="{D65CFFC9-C0D6-4ADA-82B8-2E5B33ACCAAF}" type="slidenum">
              <a:rPr lang="en-US" altLang="en-US" sz="1200"/>
              <a:pPr algn="r" eaLnBrk="1" hangingPunct="1">
                <a:spcBef>
                  <a:spcPct val="0"/>
                </a:spcBef>
                <a:buClrTx/>
                <a:buSzTx/>
                <a:buFontTx/>
                <a:buNone/>
              </a:pPr>
              <a:t>5</a:t>
            </a:fld>
            <a:endParaRPr lang="en-US" altLang="en-US" sz="1200"/>
          </a:p>
        </p:txBody>
      </p:sp>
      <p:sp>
        <p:nvSpPr>
          <p:cNvPr id="15363" name="Rectangle 2">
            <a:extLst>
              <a:ext uri="{FF2B5EF4-FFF2-40B4-BE49-F238E27FC236}">
                <a16:creationId xmlns:a16="http://schemas.microsoft.com/office/drawing/2014/main" id="{F9BFDADC-190F-06B6-FFD3-6A3E8216C103}"/>
              </a:ext>
            </a:extLst>
          </p:cNvPr>
          <p:cNvSpPr>
            <a:spLocks noGrp="1" noChangeArrowheads="1"/>
          </p:cNvSpPr>
          <p:nvPr>
            <p:ph type="title" idx="4294967295"/>
          </p:nvPr>
        </p:nvSpPr>
        <p:spPr>
          <a:xfrm>
            <a:off x="3200400" y="228600"/>
            <a:ext cx="5638800" cy="762000"/>
          </a:xfrm>
        </p:spPr>
        <p:txBody>
          <a:bodyPr/>
          <a:lstStyle/>
          <a:p>
            <a:pPr eaLnBrk="1" hangingPunct="1"/>
            <a:r>
              <a:rPr lang="en-US" altLang="en-US">
                <a:solidFill>
                  <a:srgbClr val="170981"/>
                </a:solidFill>
              </a:rPr>
              <a:t>Noisy Data</a:t>
            </a:r>
          </a:p>
        </p:txBody>
      </p:sp>
      <p:sp>
        <p:nvSpPr>
          <p:cNvPr id="15364" name="Rectangle 3">
            <a:extLst>
              <a:ext uri="{FF2B5EF4-FFF2-40B4-BE49-F238E27FC236}">
                <a16:creationId xmlns:a16="http://schemas.microsoft.com/office/drawing/2014/main" id="{8DED0508-22B5-B552-C9CE-435080FDE8D0}"/>
              </a:ext>
            </a:extLst>
          </p:cNvPr>
          <p:cNvSpPr>
            <a:spLocks noGrp="1" noChangeArrowheads="1"/>
          </p:cNvSpPr>
          <p:nvPr>
            <p:ph type="body" idx="4294967295"/>
          </p:nvPr>
        </p:nvSpPr>
        <p:spPr>
          <a:xfrm>
            <a:off x="1828800" y="1371600"/>
            <a:ext cx="8382000" cy="4953000"/>
          </a:xfrm>
        </p:spPr>
        <p:txBody>
          <a:bodyPr/>
          <a:lstStyle/>
          <a:p>
            <a:pPr eaLnBrk="1" hangingPunct="1"/>
            <a:r>
              <a:rPr lang="en-US" altLang="en-US" sz="2400">
                <a:solidFill>
                  <a:schemeClr val="folHlink"/>
                </a:solidFill>
              </a:rPr>
              <a:t>Noise</a:t>
            </a:r>
            <a:r>
              <a:rPr lang="en-US" altLang="en-US" sz="2400"/>
              <a:t>: random error or variance in a measured variable</a:t>
            </a:r>
          </a:p>
          <a:p>
            <a:pPr eaLnBrk="1" hangingPunct="1"/>
            <a:r>
              <a:rPr lang="en-US" altLang="en-US" sz="2400">
                <a:solidFill>
                  <a:schemeClr val="folHlink"/>
                </a:solidFill>
              </a:rPr>
              <a:t>Incorrect attribute values</a:t>
            </a:r>
            <a:r>
              <a:rPr lang="en-US" altLang="en-US" sz="2400"/>
              <a:t> may be due to</a:t>
            </a:r>
          </a:p>
          <a:p>
            <a:pPr lvl="1" eaLnBrk="1" hangingPunct="1"/>
            <a:r>
              <a:rPr lang="en-US" altLang="en-US"/>
              <a:t>faulty data collection instruments</a:t>
            </a:r>
          </a:p>
          <a:p>
            <a:pPr lvl="1" eaLnBrk="1" hangingPunct="1"/>
            <a:r>
              <a:rPr lang="en-US" altLang="en-US"/>
              <a:t>data entry problems</a:t>
            </a:r>
          </a:p>
          <a:p>
            <a:pPr lvl="1" eaLnBrk="1" hangingPunct="1"/>
            <a:r>
              <a:rPr lang="en-US" altLang="en-US"/>
              <a:t>data transmission problems</a:t>
            </a:r>
          </a:p>
          <a:p>
            <a:pPr lvl="1" eaLnBrk="1" hangingPunct="1"/>
            <a:r>
              <a:rPr lang="en-US" altLang="en-US"/>
              <a:t>technology limitation</a:t>
            </a:r>
          </a:p>
          <a:p>
            <a:pPr lvl="1" eaLnBrk="1" hangingPunct="1"/>
            <a:r>
              <a:rPr lang="en-US" altLang="en-US"/>
              <a:t>inconsistency in naming convention </a:t>
            </a:r>
          </a:p>
          <a:p>
            <a:pPr eaLnBrk="1" hangingPunct="1"/>
            <a:r>
              <a:rPr lang="en-US" altLang="en-US" sz="2400">
                <a:solidFill>
                  <a:schemeClr val="folHlink"/>
                </a:solidFill>
              </a:rPr>
              <a:t>Other data problems</a:t>
            </a:r>
            <a:r>
              <a:rPr lang="en-US" altLang="en-US" sz="2400"/>
              <a:t> which require data cleaning</a:t>
            </a:r>
          </a:p>
          <a:p>
            <a:pPr lvl="1" eaLnBrk="1" hangingPunct="1"/>
            <a:r>
              <a:rPr lang="en-US" altLang="en-US"/>
              <a:t>duplicate records</a:t>
            </a:r>
          </a:p>
          <a:p>
            <a:pPr lvl="1" eaLnBrk="1" hangingPunct="1"/>
            <a:r>
              <a:rPr lang="en-US" altLang="en-US"/>
              <a:t>incomplete data</a:t>
            </a:r>
          </a:p>
          <a:p>
            <a:pPr lvl="1" eaLnBrk="1" hangingPunct="1"/>
            <a:r>
              <a:rPr lang="en-US" altLang="en-US"/>
              <a:t>inconsistent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a:extLst>
              <a:ext uri="{FF2B5EF4-FFF2-40B4-BE49-F238E27FC236}">
                <a16:creationId xmlns:a16="http://schemas.microsoft.com/office/drawing/2014/main" id="{7F840C05-A3E0-4356-758E-4B8EC57FCAA7}"/>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F5972D95-E265-4D49-BB22-07C0944078EB}" type="slidenum">
              <a:rPr lang="en-US" altLang="en-US" sz="1200"/>
              <a:pPr/>
              <a:t>6</a:t>
            </a:fld>
            <a:endParaRPr lang="en-US" altLang="en-US" sz="1200"/>
          </a:p>
        </p:txBody>
      </p:sp>
      <p:sp>
        <p:nvSpPr>
          <p:cNvPr id="17411" name="TextBox 5">
            <a:extLst>
              <a:ext uri="{FF2B5EF4-FFF2-40B4-BE49-F238E27FC236}">
                <a16:creationId xmlns:a16="http://schemas.microsoft.com/office/drawing/2014/main" id="{13D5AC99-E8DA-E051-105F-ECA10E706908}"/>
              </a:ext>
            </a:extLst>
          </p:cNvPr>
          <p:cNvSpPr txBox="1">
            <a:spLocks noChangeArrowheads="1"/>
          </p:cNvSpPr>
          <p:nvPr/>
        </p:nvSpPr>
        <p:spPr bwMode="auto">
          <a:xfrm>
            <a:off x="600890" y="1138629"/>
            <a:ext cx="11225349"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just">
              <a:lnSpc>
                <a:spcPct val="150000"/>
              </a:lnSpc>
              <a:spcAft>
                <a:spcPts val="1800"/>
              </a:spcAft>
              <a:buFont typeface="Berlin Sans FB Demi" panose="020E0802020502020306" pitchFamily="34" charset="0"/>
              <a:buAutoNum type="arabicPeriod"/>
            </a:pPr>
            <a:r>
              <a:rPr lang="en-US" altLang="en-US" b="1" dirty="0">
                <a:solidFill>
                  <a:srgbClr val="273239"/>
                </a:solidFill>
                <a:latin typeface="Nunito" pitchFamily="2" charset="0"/>
              </a:rPr>
              <a:t>Feature Noise: </a:t>
            </a:r>
            <a:r>
              <a:rPr lang="en-US" altLang="en-US" dirty="0">
                <a:solidFill>
                  <a:srgbClr val="273239"/>
                </a:solidFill>
                <a:latin typeface="Nunito" pitchFamily="2" charset="0"/>
              </a:rPr>
              <a:t>It refers to superfluous or irrelevant features present in the dataset that might cause confusion and impede the process of learning.</a:t>
            </a:r>
          </a:p>
          <a:p>
            <a:pPr algn="just">
              <a:lnSpc>
                <a:spcPct val="150000"/>
              </a:lnSpc>
              <a:spcAft>
                <a:spcPts val="1800"/>
              </a:spcAft>
              <a:buFont typeface="Berlin Sans FB Demi" panose="020E0802020502020306" pitchFamily="34" charset="0"/>
              <a:buAutoNum type="arabicPeriod" startAt="2"/>
            </a:pPr>
            <a:r>
              <a:rPr lang="en-US" altLang="en-US" b="1" dirty="0">
                <a:solidFill>
                  <a:srgbClr val="273239"/>
                </a:solidFill>
                <a:latin typeface="Nunito" pitchFamily="2" charset="0"/>
              </a:rPr>
              <a:t>Systematic Noise: </a:t>
            </a:r>
            <a:r>
              <a:rPr lang="en-US" altLang="en-US" dirty="0">
                <a:solidFill>
                  <a:srgbClr val="273239"/>
                </a:solidFill>
                <a:latin typeface="Nunito" pitchFamily="2" charset="0"/>
              </a:rPr>
              <a:t>Recurring biases or mistakes in measuring or data collection procedures that cause data to be biased or incorrect.</a:t>
            </a:r>
          </a:p>
          <a:p>
            <a:pPr algn="just">
              <a:lnSpc>
                <a:spcPct val="150000"/>
              </a:lnSpc>
              <a:spcAft>
                <a:spcPts val="1800"/>
              </a:spcAft>
              <a:buFont typeface="Berlin Sans FB Demi" panose="020E0802020502020306" pitchFamily="34" charset="0"/>
              <a:buAutoNum type="arabicPeriod" startAt="3"/>
            </a:pPr>
            <a:r>
              <a:rPr lang="en-US" altLang="en-US" b="1" dirty="0">
                <a:solidFill>
                  <a:srgbClr val="273239"/>
                </a:solidFill>
                <a:latin typeface="Nunito" pitchFamily="2" charset="0"/>
              </a:rPr>
              <a:t>Random Noise: </a:t>
            </a:r>
            <a:r>
              <a:rPr lang="en-US" altLang="en-US" dirty="0">
                <a:solidFill>
                  <a:srgbClr val="273239"/>
                </a:solidFill>
                <a:latin typeface="Nunito" pitchFamily="2" charset="0"/>
              </a:rPr>
              <a:t>Unpredictable fluctuations in data brought on by variables such as measurement errors or ambient circumstances.</a:t>
            </a:r>
          </a:p>
          <a:p>
            <a:pPr algn="just">
              <a:lnSpc>
                <a:spcPct val="150000"/>
              </a:lnSpc>
              <a:spcAft>
                <a:spcPts val="1800"/>
              </a:spcAft>
              <a:buFont typeface="Berlin Sans FB Demi" panose="020E0802020502020306" pitchFamily="34" charset="0"/>
              <a:buAutoNum type="arabicPeriod" startAt="4"/>
            </a:pPr>
            <a:r>
              <a:rPr lang="en-US" altLang="en-US" b="1" dirty="0">
                <a:solidFill>
                  <a:srgbClr val="273239"/>
                </a:solidFill>
                <a:latin typeface="Nunito" pitchFamily="2" charset="0"/>
              </a:rPr>
              <a:t>Background noise:</a:t>
            </a:r>
            <a:r>
              <a:rPr lang="en-US" altLang="en-US" dirty="0">
                <a:solidFill>
                  <a:srgbClr val="273239"/>
                </a:solidFill>
                <a:latin typeface="Nunito" pitchFamily="2" charset="0"/>
              </a:rPr>
              <a:t> It is the information in the data that is unnecessary or irrelevant and could distract the model from the learning job.</a:t>
            </a:r>
          </a:p>
        </p:txBody>
      </p:sp>
      <p:sp>
        <p:nvSpPr>
          <p:cNvPr id="3" name="TextBox 2">
            <a:extLst>
              <a:ext uri="{FF2B5EF4-FFF2-40B4-BE49-F238E27FC236}">
                <a16:creationId xmlns:a16="http://schemas.microsoft.com/office/drawing/2014/main" id="{1E85BBDD-67CD-9DF5-15C1-CC8DBD3612E1}"/>
              </a:ext>
            </a:extLst>
          </p:cNvPr>
          <p:cNvSpPr txBox="1"/>
          <p:nvPr/>
        </p:nvSpPr>
        <p:spPr>
          <a:xfrm>
            <a:off x="2856411" y="337934"/>
            <a:ext cx="7080069" cy="584775"/>
          </a:xfrm>
          <a:prstGeom prst="rect">
            <a:avLst/>
          </a:prstGeom>
          <a:noFill/>
        </p:spPr>
        <p:txBody>
          <a:bodyPr wrap="square">
            <a:spAutoFit/>
          </a:bodyPr>
          <a:lstStyle/>
          <a:p>
            <a:r>
              <a:rPr lang="en-US" altLang="en-US" sz="3200" b="1" dirty="0">
                <a:solidFill>
                  <a:srgbClr val="273239"/>
                </a:solidFill>
                <a:latin typeface="Nunito" pitchFamily="2" charset="0"/>
              </a:rPr>
              <a:t>Types of Noise in Machine Learning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a:extLst>
              <a:ext uri="{FF2B5EF4-FFF2-40B4-BE49-F238E27FC236}">
                <a16:creationId xmlns:a16="http://schemas.microsoft.com/office/drawing/2014/main" id="{AB7EF663-5D02-3B5D-28E3-BDDB6D21344A}"/>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B7AD8955-2A4C-48B6-8FBE-8318BB553F9E}" type="slidenum">
              <a:rPr lang="en-US" altLang="en-US" sz="1200"/>
              <a:pPr/>
              <a:t>7</a:t>
            </a:fld>
            <a:endParaRPr lang="en-US" altLang="en-US" sz="1200"/>
          </a:p>
        </p:txBody>
      </p:sp>
      <p:sp>
        <p:nvSpPr>
          <p:cNvPr id="18435" name="TextBox 5">
            <a:extLst>
              <a:ext uri="{FF2B5EF4-FFF2-40B4-BE49-F238E27FC236}">
                <a16:creationId xmlns:a16="http://schemas.microsoft.com/office/drawing/2014/main" id="{976976F0-9A9E-4FDF-4864-967C0C17DD47}"/>
              </a:ext>
            </a:extLst>
          </p:cNvPr>
          <p:cNvSpPr txBox="1">
            <a:spLocks noChangeArrowheads="1"/>
          </p:cNvSpPr>
          <p:nvPr/>
        </p:nvSpPr>
        <p:spPr bwMode="auto">
          <a:xfrm>
            <a:off x="130629" y="606239"/>
            <a:ext cx="11808822" cy="681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lvl="1" defTabSz="914400">
              <a:lnSpc>
                <a:spcPct val="150000"/>
              </a:lnSpc>
              <a:spcBef>
                <a:spcPts val="500"/>
              </a:spcBef>
            </a:pPr>
            <a:r>
              <a:rPr lang="en-US" altLang="en-US" b="1" dirty="0">
                <a:latin typeface="+mn-lt"/>
                <a:hlinkClick r:id="rId2">
                  <a:extLst>
                    <a:ext uri="{A12FA001-AC4F-418D-AE19-62706E023703}">
                      <ahyp:hlinkClr xmlns:ahyp="http://schemas.microsoft.com/office/drawing/2018/hyperlinkcolor" val="tx"/>
                    </a:ext>
                  </a:extLst>
                </a:hlinkClick>
              </a:rPr>
              <a:t>Data preprocessing:</a:t>
            </a:r>
            <a:r>
              <a:rPr lang="en-US" altLang="en-US" b="1" dirty="0">
                <a:latin typeface="+mn-lt"/>
              </a:rPr>
              <a:t> </a:t>
            </a:r>
            <a:r>
              <a:rPr lang="en-US" altLang="en-US" dirty="0">
                <a:latin typeface="+mn-lt"/>
              </a:rPr>
              <a:t>It consists of data cleaning, normalization, and outlier elimination.</a:t>
            </a:r>
          </a:p>
          <a:p>
            <a:pPr lvl="1" defTabSz="914400">
              <a:lnSpc>
                <a:spcPct val="150000"/>
              </a:lnSpc>
              <a:spcBef>
                <a:spcPts val="500"/>
              </a:spcBef>
            </a:pPr>
            <a:r>
              <a:rPr lang="en-US" altLang="en-US" b="1" dirty="0">
                <a:latin typeface="+mn-lt"/>
                <a:hlinkClick r:id="rId3">
                  <a:extLst>
                    <a:ext uri="{A12FA001-AC4F-418D-AE19-62706E023703}">
                      <ahyp:hlinkClr xmlns:ahyp="http://schemas.microsoft.com/office/drawing/2018/hyperlinkcolor" val="tx"/>
                    </a:ext>
                  </a:extLst>
                </a:hlinkClick>
              </a:rPr>
              <a:t>Fourier Transform</a:t>
            </a:r>
            <a:r>
              <a:rPr lang="en-US" altLang="en-US" b="1" dirty="0">
                <a:latin typeface="+mn-lt"/>
              </a:rPr>
              <a:t>:</a:t>
            </a:r>
          </a:p>
          <a:p>
            <a:pPr lvl="1" defTabSz="914400">
              <a:lnSpc>
                <a:spcPct val="150000"/>
              </a:lnSpc>
              <a:spcBef>
                <a:spcPts val="500"/>
              </a:spcBef>
            </a:pPr>
            <a:r>
              <a:rPr lang="en-US" altLang="en-US" dirty="0">
                <a:latin typeface="+mn-lt"/>
              </a:rPr>
              <a:t>The Fourier Transform is a mathematical technique used to transform signals from the time or spatial domain to the frequency domain. In the context of noise removal, it can help identify and filter out noise by representing the signal as a combination of different frequencies. Relevant frequencies can be retained while noise frequencies can be filtered out.</a:t>
            </a:r>
          </a:p>
          <a:p>
            <a:pPr>
              <a:lnSpc>
                <a:spcPct val="150000"/>
              </a:lnSpc>
            </a:pPr>
            <a:r>
              <a:rPr lang="en-US" altLang="en-US" dirty="0">
                <a:latin typeface="+mn-lt"/>
              </a:rPr>
              <a:t>	</a:t>
            </a:r>
            <a:r>
              <a:rPr lang="en-US" altLang="en-US" b="1" dirty="0">
                <a:latin typeface="+mn-lt"/>
              </a:rPr>
              <a:t>Constructive Learning:</a:t>
            </a:r>
          </a:p>
          <a:p>
            <a:pPr lvl="1" algn="just">
              <a:lnSpc>
                <a:spcPct val="150000"/>
              </a:lnSpc>
            </a:pPr>
            <a:r>
              <a:rPr lang="en-US" altLang="en-US" dirty="0">
                <a:latin typeface="+mn-lt"/>
              </a:rPr>
              <a:t>Constructive learning involves training a machine learning model to distinguish between clean and noisy data instances. This approach typically requires labeled data where the noise level is known. The model learns to classify instances as either clean or noisy, allowing for the removal of noisy data points from the dataset.</a:t>
            </a:r>
          </a:p>
        </p:txBody>
      </p:sp>
      <p:sp>
        <p:nvSpPr>
          <p:cNvPr id="3" name="TextBox 2">
            <a:extLst>
              <a:ext uri="{FF2B5EF4-FFF2-40B4-BE49-F238E27FC236}">
                <a16:creationId xmlns:a16="http://schemas.microsoft.com/office/drawing/2014/main" id="{B77016E5-1B13-9D24-3A9C-F6163B6508ED}"/>
              </a:ext>
            </a:extLst>
          </p:cNvPr>
          <p:cNvSpPr txBox="1"/>
          <p:nvPr/>
        </p:nvSpPr>
        <p:spPr>
          <a:xfrm>
            <a:off x="4162697" y="125968"/>
            <a:ext cx="4624251" cy="584775"/>
          </a:xfrm>
          <a:prstGeom prst="rect">
            <a:avLst/>
          </a:prstGeom>
          <a:noFill/>
        </p:spPr>
        <p:txBody>
          <a:bodyPr wrap="square">
            <a:spAutoFit/>
          </a:bodyPr>
          <a:lstStyle/>
          <a:p>
            <a:r>
              <a:rPr lang="en-US" altLang="en-US" sz="3200" b="1" dirty="0"/>
              <a:t>Ways to Handle Noises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8A985-9BE4-2A4D-365A-62C2061C7251}"/>
            </a:ext>
          </a:extLst>
        </p:cNvPr>
        <p:cNvGrpSpPr/>
        <p:nvPr/>
      </p:nvGrpSpPr>
      <p:grpSpPr>
        <a:xfrm>
          <a:off x="0" y="0"/>
          <a:ext cx="0" cy="0"/>
          <a:chOff x="0" y="0"/>
          <a:chExt cx="0" cy="0"/>
        </a:xfrm>
      </p:grpSpPr>
      <p:sp>
        <p:nvSpPr>
          <p:cNvPr id="18434" name="Slide Number Placeholder 3">
            <a:extLst>
              <a:ext uri="{FF2B5EF4-FFF2-40B4-BE49-F238E27FC236}">
                <a16:creationId xmlns:a16="http://schemas.microsoft.com/office/drawing/2014/main" id="{DD234690-5996-6F99-1BFF-49936C9ABBD4}"/>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B7AD8955-2A4C-48B6-8FBE-8318BB553F9E}" type="slidenum">
              <a:rPr lang="en-US" altLang="en-US" sz="1200"/>
              <a:pPr/>
              <a:t>8</a:t>
            </a:fld>
            <a:endParaRPr lang="en-US" altLang="en-US" sz="1200"/>
          </a:p>
        </p:txBody>
      </p:sp>
      <p:sp>
        <p:nvSpPr>
          <p:cNvPr id="18435" name="TextBox 5">
            <a:extLst>
              <a:ext uri="{FF2B5EF4-FFF2-40B4-BE49-F238E27FC236}">
                <a16:creationId xmlns:a16="http://schemas.microsoft.com/office/drawing/2014/main" id="{0FA19DB1-188C-F7DB-3CFD-8247D81D9AB1}"/>
              </a:ext>
            </a:extLst>
          </p:cNvPr>
          <p:cNvSpPr txBox="1">
            <a:spLocks noChangeArrowheads="1"/>
          </p:cNvSpPr>
          <p:nvPr/>
        </p:nvSpPr>
        <p:spPr bwMode="auto">
          <a:xfrm>
            <a:off x="252549" y="710742"/>
            <a:ext cx="11634651" cy="6683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just">
              <a:lnSpc>
                <a:spcPct val="150000"/>
              </a:lnSpc>
            </a:pPr>
            <a:r>
              <a:rPr lang="en-US" altLang="en-US" dirty="0">
                <a:latin typeface="+mn-lt"/>
                <a:hlinkClick r:id="rId2">
                  <a:extLst>
                    <a:ext uri="{A12FA001-AC4F-418D-AE19-62706E023703}">
                      <ahyp:hlinkClr xmlns:ahyp="http://schemas.microsoft.com/office/drawing/2018/hyperlinkcolor" val="tx"/>
                    </a:ext>
                  </a:extLst>
                </a:hlinkClick>
              </a:rPr>
              <a:t>Autoencoders</a:t>
            </a:r>
            <a:r>
              <a:rPr lang="en-US" altLang="en-US" dirty="0">
                <a:latin typeface="+mn-lt"/>
              </a:rPr>
              <a:t>:</a:t>
            </a:r>
          </a:p>
          <a:p>
            <a:pPr lvl="1" algn="just">
              <a:lnSpc>
                <a:spcPct val="150000"/>
              </a:lnSpc>
            </a:pPr>
            <a:r>
              <a:rPr lang="en-US" altLang="en-US" dirty="0">
                <a:latin typeface="+mn-lt"/>
              </a:rPr>
              <a:t>Autoencoders are neural network architectures that consist of an encoder and a decoder. The encoder compresses the input data into a lower-dimensional representation, while the decoder reconstructs the original data from this representation. Autoencoders can be trained to reconstruct clean signals while effectively filtering out noise during the reconstruction process.</a:t>
            </a:r>
          </a:p>
          <a:p>
            <a:pPr algn="just">
              <a:lnSpc>
                <a:spcPct val="150000"/>
              </a:lnSpc>
            </a:pPr>
            <a:r>
              <a:rPr lang="en-US" altLang="en-US" dirty="0">
                <a:latin typeface="+mn-lt"/>
                <a:hlinkClick r:id="rId3">
                  <a:extLst>
                    <a:ext uri="{A12FA001-AC4F-418D-AE19-62706E023703}">
                      <ahyp:hlinkClr xmlns:ahyp="http://schemas.microsoft.com/office/drawing/2018/hyperlinkcolor" val="tx"/>
                    </a:ext>
                  </a:extLst>
                </a:hlinkClick>
              </a:rPr>
              <a:t>Principal Component Analysis </a:t>
            </a:r>
            <a:r>
              <a:rPr lang="en-US" altLang="en-US" dirty="0">
                <a:latin typeface="+mn-lt"/>
              </a:rPr>
              <a:t>(PCA):</a:t>
            </a:r>
          </a:p>
          <a:p>
            <a:pPr lvl="1" algn="just">
              <a:lnSpc>
                <a:spcPct val="150000"/>
              </a:lnSpc>
            </a:pPr>
            <a:r>
              <a:rPr lang="en-US" altLang="en-US" dirty="0">
                <a:latin typeface="+mn-lt"/>
              </a:rPr>
              <a:t>PCA is a dimensionality reduction technique that identifies the principal components of a dataset, which are orthogonal vectors that capture the maximum variance in the data. By projecting the data onto a reduced set of principal components, PCA can help reduce noise by focusing on the most informative dimensions of the data while discarding noise-related dimensions.</a:t>
            </a:r>
          </a:p>
        </p:txBody>
      </p:sp>
      <p:sp>
        <p:nvSpPr>
          <p:cNvPr id="3" name="TextBox 2">
            <a:extLst>
              <a:ext uri="{FF2B5EF4-FFF2-40B4-BE49-F238E27FC236}">
                <a16:creationId xmlns:a16="http://schemas.microsoft.com/office/drawing/2014/main" id="{856C9DEE-DE38-4398-F333-D286ED7964C5}"/>
              </a:ext>
            </a:extLst>
          </p:cNvPr>
          <p:cNvSpPr txBox="1"/>
          <p:nvPr/>
        </p:nvSpPr>
        <p:spPr>
          <a:xfrm>
            <a:off x="4162697" y="125968"/>
            <a:ext cx="4624251" cy="584775"/>
          </a:xfrm>
          <a:prstGeom prst="rect">
            <a:avLst/>
          </a:prstGeom>
          <a:noFill/>
        </p:spPr>
        <p:txBody>
          <a:bodyPr wrap="square">
            <a:spAutoFit/>
          </a:bodyPr>
          <a:lstStyle/>
          <a:p>
            <a:r>
              <a:rPr lang="en-US" altLang="en-US" sz="3200" b="1" dirty="0"/>
              <a:t>Ways to Handle Noises</a:t>
            </a:r>
          </a:p>
        </p:txBody>
      </p:sp>
    </p:spTree>
    <p:extLst>
      <p:ext uri="{BB962C8B-B14F-4D97-AF65-F5344CB8AC3E}">
        <p14:creationId xmlns:p14="http://schemas.microsoft.com/office/powerpoint/2010/main" val="1962236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77544-F627-BA88-AB4D-0563C35EB819}"/>
            </a:ext>
          </a:extLst>
        </p:cNvPr>
        <p:cNvGrpSpPr/>
        <p:nvPr/>
      </p:nvGrpSpPr>
      <p:grpSpPr>
        <a:xfrm>
          <a:off x="0" y="0"/>
          <a:ext cx="0" cy="0"/>
          <a:chOff x="0" y="0"/>
          <a:chExt cx="0" cy="0"/>
        </a:xfrm>
      </p:grpSpPr>
      <p:sp>
        <p:nvSpPr>
          <p:cNvPr id="18434" name="Slide Number Placeholder 3">
            <a:extLst>
              <a:ext uri="{FF2B5EF4-FFF2-40B4-BE49-F238E27FC236}">
                <a16:creationId xmlns:a16="http://schemas.microsoft.com/office/drawing/2014/main" id="{36081DB7-1260-BB41-6E7B-C1F4BAE5961C}"/>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B7AD8955-2A4C-48B6-8FBE-8318BB553F9E}" type="slidenum">
              <a:rPr lang="en-US" altLang="en-US" sz="1200"/>
              <a:pPr/>
              <a:t>9</a:t>
            </a:fld>
            <a:endParaRPr lang="en-US" altLang="en-US" sz="1200"/>
          </a:p>
        </p:txBody>
      </p:sp>
      <p:sp>
        <p:nvSpPr>
          <p:cNvPr id="18435" name="TextBox 5">
            <a:extLst>
              <a:ext uri="{FF2B5EF4-FFF2-40B4-BE49-F238E27FC236}">
                <a16:creationId xmlns:a16="http://schemas.microsoft.com/office/drawing/2014/main" id="{020872B7-3124-1D7B-BCC2-660117516420}"/>
              </a:ext>
            </a:extLst>
          </p:cNvPr>
          <p:cNvSpPr txBox="1">
            <a:spLocks noChangeArrowheads="1"/>
          </p:cNvSpPr>
          <p:nvPr/>
        </p:nvSpPr>
        <p:spPr bwMode="auto">
          <a:xfrm>
            <a:off x="278674" y="806537"/>
            <a:ext cx="11634651" cy="61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just" fontAlgn="base">
              <a:lnSpc>
                <a:spcPct val="150000"/>
              </a:lnSpc>
            </a:pPr>
            <a:r>
              <a:rPr lang="en-US" b="1" dirty="0">
                <a:latin typeface="+mn-lt"/>
              </a:rPr>
              <a:t>Fast Fourier Transform (FFT)</a:t>
            </a:r>
            <a:r>
              <a:rPr lang="en-US" dirty="0">
                <a:latin typeface="+mn-lt"/>
              </a:rPr>
              <a:t> is a mathematical algorithm widely used in image processing to transform images between the </a:t>
            </a:r>
            <a:r>
              <a:rPr lang="en-US" b="1" dirty="0">
                <a:latin typeface="+mn-lt"/>
              </a:rPr>
              <a:t>spatial domain</a:t>
            </a:r>
            <a:r>
              <a:rPr lang="en-US" dirty="0">
                <a:latin typeface="+mn-lt"/>
              </a:rPr>
              <a:t> and the </a:t>
            </a:r>
            <a:r>
              <a:rPr lang="en-US" b="1" dirty="0">
                <a:latin typeface="+mn-lt"/>
              </a:rPr>
              <a:t>frequency domain</a:t>
            </a:r>
            <a:r>
              <a:rPr lang="en-US" dirty="0">
                <a:latin typeface="+mn-lt"/>
              </a:rPr>
              <a:t>. </a:t>
            </a:r>
          </a:p>
          <a:p>
            <a:pPr algn="just" fontAlgn="base">
              <a:lnSpc>
                <a:spcPct val="150000"/>
              </a:lnSpc>
            </a:pPr>
            <a:r>
              <a:rPr lang="en-US" b="1" dirty="0">
                <a:latin typeface="+mn-lt"/>
              </a:rPr>
              <a:t>Spatial domain: E</a:t>
            </a:r>
            <a:r>
              <a:rPr lang="en-US" dirty="0">
                <a:latin typeface="+mn-lt"/>
              </a:rPr>
              <a:t>ach pixel in image </a:t>
            </a:r>
            <a:r>
              <a:rPr lang="en-US" b="1" dirty="0">
                <a:latin typeface="+mn-lt"/>
              </a:rPr>
              <a:t>has color or brightness value</a:t>
            </a:r>
            <a:r>
              <a:rPr lang="en-US" dirty="0">
                <a:latin typeface="+mn-lt"/>
              </a:rPr>
              <a:t> and together these values form the image you see. This is the </a:t>
            </a:r>
            <a:r>
              <a:rPr lang="en-US" b="1" dirty="0">
                <a:latin typeface="+mn-lt"/>
              </a:rPr>
              <a:t>spatial domain</a:t>
            </a:r>
            <a:r>
              <a:rPr lang="en-US" dirty="0">
                <a:latin typeface="+mn-lt"/>
              </a:rPr>
              <a:t>—the image described by its pixels.</a:t>
            </a:r>
          </a:p>
          <a:p>
            <a:pPr algn="just" fontAlgn="base">
              <a:lnSpc>
                <a:spcPct val="150000"/>
              </a:lnSpc>
            </a:pPr>
            <a:r>
              <a:rPr lang="en-US" b="1" dirty="0">
                <a:latin typeface="+mn-lt"/>
              </a:rPr>
              <a:t>Frequency domain: </a:t>
            </a:r>
            <a:r>
              <a:rPr lang="en-US" dirty="0">
                <a:latin typeface="+mn-lt"/>
              </a:rPr>
              <a:t>Now imagine describing the same image in a different way—not by the pixels directly, but by how patterns of light and dark change across the image. </a:t>
            </a:r>
          </a:p>
          <a:p>
            <a:pPr algn="just" fontAlgn="base">
              <a:lnSpc>
                <a:spcPct val="150000"/>
              </a:lnSpc>
            </a:pPr>
            <a:r>
              <a:rPr lang="en-US" dirty="0">
                <a:latin typeface="+mn-lt"/>
              </a:rPr>
              <a:t>For </a:t>
            </a:r>
            <a:r>
              <a:rPr lang="en-US" dirty="0" err="1">
                <a:latin typeface="+mn-lt"/>
              </a:rPr>
              <a:t>example:</a:t>
            </a:r>
            <a:r>
              <a:rPr lang="en-US" b="1" dirty="0" err="1">
                <a:latin typeface="+mn-lt"/>
              </a:rPr>
              <a:t>Low</a:t>
            </a:r>
            <a:r>
              <a:rPr lang="en-US" b="1" dirty="0">
                <a:latin typeface="+mn-lt"/>
              </a:rPr>
              <a:t> frequencies</a:t>
            </a:r>
            <a:r>
              <a:rPr lang="en-US" dirty="0">
                <a:latin typeface="+mn-lt"/>
              </a:rPr>
              <a:t> represent smooth, gradual changes (like large shapes or blurry areas).</a:t>
            </a:r>
          </a:p>
          <a:p>
            <a:pPr algn="just" fontAlgn="base">
              <a:lnSpc>
                <a:spcPct val="150000"/>
              </a:lnSpc>
            </a:pPr>
            <a:r>
              <a:rPr lang="en-US" b="1" dirty="0">
                <a:latin typeface="+mn-lt"/>
              </a:rPr>
              <a:t>High frequencies</a:t>
            </a:r>
            <a:r>
              <a:rPr lang="en-US" dirty="0">
                <a:latin typeface="+mn-lt"/>
              </a:rPr>
              <a:t> capture sharp changes (like edges or fine details).</a:t>
            </a:r>
          </a:p>
          <a:p>
            <a:pPr algn="just" fontAlgn="base">
              <a:lnSpc>
                <a:spcPct val="150000"/>
              </a:lnSpc>
            </a:pPr>
            <a:r>
              <a:rPr lang="en-US" dirty="0">
                <a:latin typeface="+mn-lt"/>
              </a:rPr>
              <a:t>frequency domain shows how much of these patterns (or frequencies) are present in the image)</a:t>
            </a:r>
          </a:p>
        </p:txBody>
      </p:sp>
      <p:sp>
        <p:nvSpPr>
          <p:cNvPr id="3" name="TextBox 2">
            <a:extLst>
              <a:ext uri="{FF2B5EF4-FFF2-40B4-BE49-F238E27FC236}">
                <a16:creationId xmlns:a16="http://schemas.microsoft.com/office/drawing/2014/main" id="{693DEE00-5D08-3750-319E-1C8B1A1D6EFF}"/>
              </a:ext>
            </a:extLst>
          </p:cNvPr>
          <p:cNvSpPr txBox="1"/>
          <p:nvPr/>
        </p:nvSpPr>
        <p:spPr>
          <a:xfrm>
            <a:off x="4162697" y="125968"/>
            <a:ext cx="4624251" cy="584775"/>
          </a:xfrm>
          <a:prstGeom prst="rect">
            <a:avLst/>
          </a:prstGeom>
          <a:noFill/>
        </p:spPr>
        <p:txBody>
          <a:bodyPr wrap="square">
            <a:spAutoFit/>
          </a:bodyPr>
          <a:lstStyle/>
          <a:p>
            <a:r>
              <a:rPr lang="en-US" altLang="en-US" sz="3200" b="1" dirty="0"/>
              <a:t>Ways to Handle Noises</a:t>
            </a:r>
          </a:p>
        </p:txBody>
      </p:sp>
    </p:spTree>
    <p:extLst>
      <p:ext uri="{BB962C8B-B14F-4D97-AF65-F5344CB8AC3E}">
        <p14:creationId xmlns:p14="http://schemas.microsoft.com/office/powerpoint/2010/main" val="4005098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F63D0-B420-0E4A-BFB3-EA0EF1BF7E64}"/>
            </a:ext>
          </a:extLst>
        </p:cNvPr>
        <p:cNvGrpSpPr/>
        <p:nvPr/>
      </p:nvGrpSpPr>
      <p:grpSpPr>
        <a:xfrm>
          <a:off x="0" y="0"/>
          <a:ext cx="0" cy="0"/>
          <a:chOff x="0" y="0"/>
          <a:chExt cx="0" cy="0"/>
        </a:xfrm>
      </p:grpSpPr>
      <p:sp>
        <p:nvSpPr>
          <p:cNvPr id="18434" name="Slide Number Placeholder 3">
            <a:extLst>
              <a:ext uri="{FF2B5EF4-FFF2-40B4-BE49-F238E27FC236}">
                <a16:creationId xmlns:a16="http://schemas.microsoft.com/office/drawing/2014/main" id="{79ADF930-1F0B-6460-7CED-3CA9E17A90A4}"/>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B7AD8955-2A4C-48B6-8FBE-8318BB553F9E}" type="slidenum">
              <a:rPr lang="en-US" altLang="en-US" sz="1200"/>
              <a:pPr/>
              <a:t>10</a:t>
            </a:fld>
            <a:endParaRPr lang="en-US" altLang="en-US" sz="1200"/>
          </a:p>
        </p:txBody>
      </p:sp>
      <p:sp>
        <p:nvSpPr>
          <p:cNvPr id="18435" name="TextBox 5">
            <a:extLst>
              <a:ext uri="{FF2B5EF4-FFF2-40B4-BE49-F238E27FC236}">
                <a16:creationId xmlns:a16="http://schemas.microsoft.com/office/drawing/2014/main" id="{2A775ED8-7C7F-73C2-8913-6B9761190F59}"/>
              </a:ext>
            </a:extLst>
          </p:cNvPr>
          <p:cNvSpPr txBox="1">
            <a:spLocks noChangeArrowheads="1"/>
          </p:cNvSpPr>
          <p:nvPr/>
        </p:nvSpPr>
        <p:spPr bwMode="auto">
          <a:xfrm>
            <a:off x="252549" y="710742"/>
            <a:ext cx="11634651" cy="5575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fontAlgn="base">
              <a:lnSpc>
                <a:spcPct val="150000"/>
              </a:lnSpc>
            </a:pPr>
            <a:r>
              <a:rPr lang="en-US" b="1" dirty="0">
                <a:latin typeface="+mn-lt"/>
              </a:rPr>
              <a:t>Implementing Fast Fourier Transform in Image Processing</a:t>
            </a:r>
          </a:p>
          <a:p>
            <a:pPr fontAlgn="base">
              <a:lnSpc>
                <a:spcPct val="150000"/>
              </a:lnSpc>
            </a:pPr>
            <a:r>
              <a:rPr lang="en-US" dirty="0">
                <a:latin typeface="+mn-lt"/>
              </a:rPr>
              <a:t>The Fast Fourier Transform (FFT) works in three main steps:</a:t>
            </a:r>
          </a:p>
          <a:p>
            <a:pPr fontAlgn="base">
              <a:lnSpc>
                <a:spcPct val="150000"/>
              </a:lnSpc>
            </a:pPr>
            <a:r>
              <a:rPr lang="en-US" b="1" dirty="0">
                <a:latin typeface="+mn-lt"/>
              </a:rPr>
              <a:t>Forward FFT (Spatial to Frequency Domain):</a:t>
            </a:r>
            <a:r>
              <a:rPr lang="en-US" dirty="0">
                <a:latin typeface="+mn-lt"/>
              </a:rPr>
              <a:t> FFT converts pixel values from the spatial domain into sine and cosine waves, mapping low frequencies to the center and high frequencies to the edges.</a:t>
            </a:r>
          </a:p>
          <a:p>
            <a:pPr fontAlgn="base">
              <a:lnSpc>
                <a:spcPct val="150000"/>
              </a:lnSpc>
            </a:pPr>
            <a:r>
              <a:rPr lang="en-US" b="1" dirty="0">
                <a:latin typeface="+mn-lt"/>
              </a:rPr>
              <a:t>Filtering in the Frequency Domain:</a:t>
            </a:r>
            <a:r>
              <a:rPr lang="en-US" dirty="0">
                <a:latin typeface="+mn-lt"/>
              </a:rPr>
              <a:t> Filters are applied to modify certain frequency ranges for purposes like noise removal (by eliminating high frequencies) or sharpening (by enhancing high frequencies).</a:t>
            </a:r>
          </a:p>
          <a:p>
            <a:pPr fontAlgn="base">
              <a:lnSpc>
                <a:spcPct val="150000"/>
              </a:lnSpc>
            </a:pPr>
            <a:r>
              <a:rPr lang="en-US" b="1" dirty="0">
                <a:latin typeface="+mn-lt"/>
              </a:rPr>
              <a:t>Inverse FFT (Frequency to Spatial Domain):</a:t>
            </a:r>
            <a:r>
              <a:rPr lang="en-US" dirty="0">
                <a:latin typeface="+mn-lt"/>
              </a:rPr>
              <a:t> The modified frequency data is transformed back into the spatial domain, resulting in a processed version of the original image.</a:t>
            </a:r>
          </a:p>
        </p:txBody>
      </p:sp>
      <p:sp>
        <p:nvSpPr>
          <p:cNvPr id="3" name="TextBox 2">
            <a:extLst>
              <a:ext uri="{FF2B5EF4-FFF2-40B4-BE49-F238E27FC236}">
                <a16:creationId xmlns:a16="http://schemas.microsoft.com/office/drawing/2014/main" id="{0940747F-0D0A-08CD-80CB-2876B57612FA}"/>
              </a:ext>
            </a:extLst>
          </p:cNvPr>
          <p:cNvSpPr txBox="1"/>
          <p:nvPr/>
        </p:nvSpPr>
        <p:spPr>
          <a:xfrm>
            <a:off x="4162697" y="125968"/>
            <a:ext cx="4624251" cy="584775"/>
          </a:xfrm>
          <a:prstGeom prst="rect">
            <a:avLst/>
          </a:prstGeom>
          <a:noFill/>
        </p:spPr>
        <p:txBody>
          <a:bodyPr wrap="square">
            <a:spAutoFit/>
          </a:bodyPr>
          <a:lstStyle/>
          <a:p>
            <a:r>
              <a:rPr lang="en-US" altLang="en-US" sz="3200" b="1" dirty="0"/>
              <a:t>Ways to Handle Noises</a:t>
            </a:r>
          </a:p>
        </p:txBody>
      </p:sp>
    </p:spTree>
    <p:extLst>
      <p:ext uri="{BB962C8B-B14F-4D97-AF65-F5344CB8AC3E}">
        <p14:creationId xmlns:p14="http://schemas.microsoft.com/office/powerpoint/2010/main" val="698594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C050A-8F28-8E8C-DA69-6E6F852BD981}"/>
            </a:ext>
          </a:extLst>
        </p:cNvPr>
        <p:cNvGrpSpPr/>
        <p:nvPr/>
      </p:nvGrpSpPr>
      <p:grpSpPr>
        <a:xfrm>
          <a:off x="0" y="0"/>
          <a:ext cx="0" cy="0"/>
          <a:chOff x="0" y="0"/>
          <a:chExt cx="0" cy="0"/>
        </a:xfrm>
      </p:grpSpPr>
      <p:sp>
        <p:nvSpPr>
          <p:cNvPr id="18434" name="Slide Number Placeholder 3">
            <a:extLst>
              <a:ext uri="{FF2B5EF4-FFF2-40B4-BE49-F238E27FC236}">
                <a16:creationId xmlns:a16="http://schemas.microsoft.com/office/drawing/2014/main" id="{EEBDBF2B-4182-9517-971C-6C325294AEF5}"/>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B7AD8955-2A4C-48B6-8FBE-8318BB553F9E}" type="slidenum">
              <a:rPr lang="en-US" altLang="en-US" sz="1200"/>
              <a:pPr/>
              <a:t>11</a:t>
            </a:fld>
            <a:endParaRPr lang="en-US" altLang="en-US" sz="1200"/>
          </a:p>
        </p:txBody>
      </p:sp>
      <p:sp>
        <p:nvSpPr>
          <p:cNvPr id="3" name="TextBox 2">
            <a:extLst>
              <a:ext uri="{FF2B5EF4-FFF2-40B4-BE49-F238E27FC236}">
                <a16:creationId xmlns:a16="http://schemas.microsoft.com/office/drawing/2014/main" id="{7D8960D5-2BA3-31E1-AACF-33DA46AA1554}"/>
              </a:ext>
            </a:extLst>
          </p:cNvPr>
          <p:cNvSpPr txBox="1"/>
          <p:nvPr/>
        </p:nvSpPr>
        <p:spPr>
          <a:xfrm>
            <a:off x="4162697" y="125968"/>
            <a:ext cx="4624251" cy="584775"/>
          </a:xfrm>
          <a:prstGeom prst="rect">
            <a:avLst/>
          </a:prstGeom>
          <a:noFill/>
        </p:spPr>
        <p:txBody>
          <a:bodyPr wrap="square">
            <a:spAutoFit/>
          </a:bodyPr>
          <a:lstStyle/>
          <a:p>
            <a:pPr algn="ctr"/>
            <a:r>
              <a:rPr lang="en-US" altLang="en-US" sz="3200" b="1" dirty="0"/>
              <a:t>FFT</a:t>
            </a:r>
          </a:p>
        </p:txBody>
      </p:sp>
      <p:pic>
        <p:nvPicPr>
          <p:cNvPr id="1026" name="Picture 2" descr="FFT">
            <a:extLst>
              <a:ext uri="{FF2B5EF4-FFF2-40B4-BE49-F238E27FC236}">
                <a16:creationId xmlns:a16="http://schemas.microsoft.com/office/drawing/2014/main" id="{07DDFABE-2A03-C2A5-2F9B-9813C2A1A1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1177" y="1135267"/>
            <a:ext cx="6522720" cy="45756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5381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061">
            <a:extLst>
              <a:ext uri="{FF2B5EF4-FFF2-40B4-BE49-F238E27FC236}">
                <a16:creationId xmlns:a16="http://schemas.microsoft.com/office/drawing/2014/main" id="{140521B1-4166-0EF7-5F5D-E84FF846C98B}"/>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FCE65C71-B869-4113-8EB6-FC0C099ED101}" type="slidenum">
              <a:rPr lang="en-US" altLang="en-US" sz="1200"/>
              <a:pPr eaLnBrk="1" hangingPunct="1"/>
              <a:t>12</a:t>
            </a:fld>
            <a:endParaRPr lang="en-US" altLang="en-US" sz="1200"/>
          </a:p>
        </p:txBody>
      </p:sp>
      <p:sp>
        <p:nvSpPr>
          <p:cNvPr id="14339" name="Rectangle 2">
            <a:extLst>
              <a:ext uri="{FF2B5EF4-FFF2-40B4-BE49-F238E27FC236}">
                <a16:creationId xmlns:a16="http://schemas.microsoft.com/office/drawing/2014/main" id="{90B36CC6-A555-D10A-89A1-EC638E4E352D}"/>
              </a:ext>
            </a:extLst>
          </p:cNvPr>
          <p:cNvSpPr>
            <a:spLocks noGrp="1" noChangeArrowheads="1"/>
          </p:cNvSpPr>
          <p:nvPr>
            <p:ph type="title"/>
          </p:nvPr>
        </p:nvSpPr>
        <p:spPr>
          <a:xfrm>
            <a:off x="1847850" y="304800"/>
            <a:ext cx="8591550" cy="609600"/>
          </a:xfrm>
        </p:spPr>
        <p:txBody>
          <a:bodyPr>
            <a:normAutofit fontScale="90000"/>
          </a:bodyPr>
          <a:lstStyle/>
          <a:p>
            <a:pPr eaLnBrk="1" hangingPunct="1"/>
            <a:r>
              <a:rPr lang="en-US" altLang="en-US"/>
              <a:t>How to Handle Noisy Data?</a:t>
            </a:r>
          </a:p>
        </p:txBody>
      </p:sp>
      <p:sp>
        <p:nvSpPr>
          <p:cNvPr id="14340" name="Rectangle 3">
            <a:extLst>
              <a:ext uri="{FF2B5EF4-FFF2-40B4-BE49-F238E27FC236}">
                <a16:creationId xmlns:a16="http://schemas.microsoft.com/office/drawing/2014/main" id="{333638E6-64D2-EF76-BC39-F3692621A6D1}"/>
              </a:ext>
            </a:extLst>
          </p:cNvPr>
          <p:cNvSpPr>
            <a:spLocks noGrp="1" noChangeArrowheads="1"/>
          </p:cNvSpPr>
          <p:nvPr>
            <p:ph type="body" idx="1"/>
          </p:nvPr>
        </p:nvSpPr>
        <p:spPr>
          <a:xfrm>
            <a:off x="744583" y="1052512"/>
            <a:ext cx="10702834" cy="5486400"/>
          </a:xfrm>
        </p:spPr>
        <p:txBody>
          <a:bodyPr>
            <a:normAutofit fontScale="92500" lnSpcReduction="10000"/>
          </a:bodyPr>
          <a:lstStyle/>
          <a:p>
            <a:pPr eaLnBrk="1" hangingPunct="1">
              <a:lnSpc>
                <a:spcPct val="150000"/>
              </a:lnSpc>
            </a:pPr>
            <a:r>
              <a:rPr lang="en-US" altLang="en-US" sz="2400" dirty="0">
                <a:solidFill>
                  <a:schemeClr val="folHlink"/>
                </a:solidFill>
              </a:rPr>
              <a:t>Binning</a:t>
            </a:r>
          </a:p>
          <a:p>
            <a:pPr lvl="1" eaLnBrk="1" hangingPunct="1">
              <a:lnSpc>
                <a:spcPct val="150000"/>
              </a:lnSpc>
            </a:pPr>
            <a:r>
              <a:rPr lang="en-US" altLang="en-US" dirty="0"/>
              <a:t>first sort data and partition into (equal-frequency) bins</a:t>
            </a:r>
          </a:p>
          <a:p>
            <a:pPr lvl="1" eaLnBrk="1" hangingPunct="1">
              <a:lnSpc>
                <a:spcPct val="150000"/>
              </a:lnSpc>
            </a:pPr>
            <a:r>
              <a:rPr lang="en-US" altLang="en-US" dirty="0"/>
              <a:t>then one can </a:t>
            </a:r>
            <a:r>
              <a:rPr lang="en-US" altLang="en-US" dirty="0">
                <a:solidFill>
                  <a:schemeClr val="hlink"/>
                </a:solidFill>
              </a:rPr>
              <a:t>smooth by bin means,  smooth by bin median, smooth by bin boundaries</a:t>
            </a:r>
            <a:r>
              <a:rPr lang="en-US" altLang="en-US" dirty="0"/>
              <a:t>, etc.</a:t>
            </a:r>
          </a:p>
          <a:p>
            <a:pPr eaLnBrk="1" hangingPunct="1">
              <a:lnSpc>
                <a:spcPct val="150000"/>
              </a:lnSpc>
            </a:pPr>
            <a:r>
              <a:rPr lang="en-US" altLang="en-US" sz="2400" dirty="0">
                <a:solidFill>
                  <a:schemeClr val="folHlink"/>
                </a:solidFill>
              </a:rPr>
              <a:t>Regression</a:t>
            </a:r>
          </a:p>
          <a:p>
            <a:pPr lvl="1" eaLnBrk="1" hangingPunct="1">
              <a:lnSpc>
                <a:spcPct val="150000"/>
              </a:lnSpc>
            </a:pPr>
            <a:r>
              <a:rPr lang="en-US" altLang="en-US" dirty="0"/>
              <a:t>smooth by fitting the data into regression functions</a:t>
            </a:r>
          </a:p>
          <a:p>
            <a:pPr eaLnBrk="1" hangingPunct="1">
              <a:lnSpc>
                <a:spcPct val="150000"/>
              </a:lnSpc>
            </a:pPr>
            <a:r>
              <a:rPr lang="en-US" altLang="en-US" sz="2400" dirty="0">
                <a:solidFill>
                  <a:schemeClr val="folHlink"/>
                </a:solidFill>
              </a:rPr>
              <a:t>Clustering</a:t>
            </a:r>
          </a:p>
          <a:p>
            <a:pPr lvl="1" eaLnBrk="1" hangingPunct="1">
              <a:lnSpc>
                <a:spcPct val="150000"/>
              </a:lnSpc>
            </a:pPr>
            <a:r>
              <a:rPr lang="en-US" altLang="en-US" dirty="0"/>
              <a:t>detect and remove outliers</a:t>
            </a:r>
          </a:p>
          <a:p>
            <a:pPr eaLnBrk="1" hangingPunct="1">
              <a:lnSpc>
                <a:spcPct val="150000"/>
              </a:lnSpc>
            </a:pPr>
            <a:r>
              <a:rPr lang="en-US" altLang="en-US" sz="2400" dirty="0">
                <a:solidFill>
                  <a:schemeClr val="folHlink"/>
                </a:solidFill>
              </a:rPr>
              <a:t>Combined computer and human inspection</a:t>
            </a:r>
          </a:p>
          <a:p>
            <a:pPr lvl="1" eaLnBrk="1" hangingPunct="1">
              <a:lnSpc>
                <a:spcPct val="150000"/>
              </a:lnSpc>
            </a:pPr>
            <a:r>
              <a:rPr lang="en-US" altLang="en-US" dirty="0"/>
              <a:t>detect suspicious values and check by human (e.g., deal with possible outliers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061">
            <a:extLst>
              <a:ext uri="{FF2B5EF4-FFF2-40B4-BE49-F238E27FC236}">
                <a16:creationId xmlns:a16="http://schemas.microsoft.com/office/drawing/2014/main" id="{FD522CF6-326E-2CF6-FA92-DDB925E4B1A2}"/>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2D07C522-2783-44A1-9739-DB6CB71AB675}" type="slidenum">
              <a:rPr lang="en-US" altLang="en-US" sz="1200"/>
              <a:pPr eaLnBrk="1" hangingPunct="1"/>
              <a:t>13</a:t>
            </a:fld>
            <a:endParaRPr lang="en-US" altLang="en-US" sz="1200"/>
          </a:p>
        </p:txBody>
      </p:sp>
      <p:sp>
        <p:nvSpPr>
          <p:cNvPr id="59395" name="Rectangle 2">
            <a:extLst>
              <a:ext uri="{FF2B5EF4-FFF2-40B4-BE49-F238E27FC236}">
                <a16:creationId xmlns:a16="http://schemas.microsoft.com/office/drawing/2014/main" id="{1DC0B485-094F-8307-B625-8003D9E17235}"/>
              </a:ext>
            </a:extLst>
          </p:cNvPr>
          <p:cNvSpPr>
            <a:spLocks noGrp="1" noChangeArrowheads="1"/>
          </p:cNvSpPr>
          <p:nvPr>
            <p:ph type="title"/>
          </p:nvPr>
        </p:nvSpPr>
        <p:spPr>
          <a:xfrm>
            <a:off x="1371600" y="304800"/>
            <a:ext cx="9372600" cy="609600"/>
          </a:xfrm>
        </p:spPr>
        <p:txBody>
          <a:bodyPr/>
          <a:lstStyle/>
          <a:p>
            <a:pPr eaLnBrk="1" hangingPunct="1"/>
            <a:r>
              <a:rPr lang="en-US" altLang="en-US" sz="3200"/>
              <a:t>Simple Discretization: Binning</a:t>
            </a:r>
            <a:endParaRPr lang="en-US" altLang="en-US"/>
          </a:p>
        </p:txBody>
      </p:sp>
      <p:sp>
        <p:nvSpPr>
          <p:cNvPr id="59396" name="Rectangle 3">
            <a:extLst>
              <a:ext uri="{FF2B5EF4-FFF2-40B4-BE49-F238E27FC236}">
                <a16:creationId xmlns:a16="http://schemas.microsoft.com/office/drawing/2014/main" id="{41395E9D-43FD-41C5-E4E5-CB8A081914D4}"/>
              </a:ext>
            </a:extLst>
          </p:cNvPr>
          <p:cNvSpPr>
            <a:spLocks noGrp="1" noChangeArrowheads="1"/>
          </p:cNvSpPr>
          <p:nvPr>
            <p:ph type="body" idx="1"/>
          </p:nvPr>
        </p:nvSpPr>
        <p:spPr>
          <a:xfrm>
            <a:off x="1371599" y="1044575"/>
            <a:ext cx="9252857" cy="5181600"/>
          </a:xfrm>
        </p:spPr>
        <p:txBody>
          <a:bodyPr>
            <a:normAutofit lnSpcReduction="10000"/>
          </a:bodyPr>
          <a:lstStyle/>
          <a:p>
            <a:pPr eaLnBrk="1" hangingPunct="1">
              <a:lnSpc>
                <a:spcPct val="150000"/>
              </a:lnSpc>
            </a:pPr>
            <a:r>
              <a:rPr lang="en-US" altLang="en-US" sz="2000" dirty="0">
                <a:solidFill>
                  <a:schemeClr val="hlink"/>
                </a:solidFill>
              </a:rPr>
              <a:t>Equal-width</a:t>
            </a:r>
            <a:r>
              <a:rPr lang="en-US" altLang="en-US" sz="2000" dirty="0"/>
              <a:t> (distance) partitioning</a:t>
            </a:r>
          </a:p>
          <a:p>
            <a:pPr lvl="1" eaLnBrk="1" hangingPunct="1">
              <a:lnSpc>
                <a:spcPct val="150000"/>
              </a:lnSpc>
              <a:spcBef>
                <a:spcPct val="0"/>
              </a:spcBef>
            </a:pPr>
            <a:r>
              <a:rPr lang="en-US" altLang="en-US" sz="2000" dirty="0"/>
              <a:t>Divides the range into </a:t>
            </a:r>
            <a:r>
              <a:rPr lang="en-US" altLang="en-US" sz="2000" i="1" dirty="0"/>
              <a:t>N</a:t>
            </a:r>
            <a:r>
              <a:rPr lang="en-US" altLang="en-US" sz="2000" dirty="0"/>
              <a:t> intervals of equal size: </a:t>
            </a:r>
            <a:r>
              <a:rPr lang="en-US" altLang="en-US" sz="2000" dirty="0">
                <a:solidFill>
                  <a:srgbClr val="39513E"/>
                </a:solidFill>
              </a:rPr>
              <a:t>uniform grid</a:t>
            </a:r>
            <a:endParaRPr lang="en-US" altLang="en-US" sz="2000" dirty="0">
              <a:solidFill>
                <a:schemeClr val="hlink"/>
              </a:solidFill>
            </a:endParaRPr>
          </a:p>
          <a:p>
            <a:pPr lvl="1" eaLnBrk="1" hangingPunct="1">
              <a:lnSpc>
                <a:spcPct val="150000"/>
              </a:lnSpc>
              <a:spcBef>
                <a:spcPct val="0"/>
              </a:spcBef>
            </a:pPr>
            <a:r>
              <a:rPr lang="en-US" altLang="en-US" sz="2000" dirty="0"/>
              <a:t>if </a:t>
            </a:r>
            <a:r>
              <a:rPr lang="en-US" altLang="en-US" sz="2000" i="1" dirty="0"/>
              <a:t>A</a:t>
            </a:r>
            <a:r>
              <a:rPr lang="en-US" altLang="en-US" sz="2000" dirty="0"/>
              <a:t> and </a:t>
            </a:r>
            <a:r>
              <a:rPr lang="en-US" altLang="en-US" sz="2000" i="1" dirty="0"/>
              <a:t>B</a:t>
            </a:r>
            <a:r>
              <a:rPr lang="en-US" altLang="en-US" sz="2000" dirty="0"/>
              <a:t> are the lowest and highest values of the attribute, the width of intervals will be: </a:t>
            </a:r>
            <a:r>
              <a:rPr lang="en-US" altLang="en-US" sz="2000" i="1" dirty="0"/>
              <a:t>W </a:t>
            </a:r>
            <a:r>
              <a:rPr lang="en-US" altLang="en-US" sz="2000" dirty="0"/>
              <a:t>= (</a:t>
            </a:r>
            <a:r>
              <a:rPr lang="en-US" altLang="en-US" sz="2000" i="1" dirty="0"/>
              <a:t>B </a:t>
            </a:r>
            <a:r>
              <a:rPr lang="en-US" altLang="en-US" sz="2000" dirty="0"/>
              <a:t>–</a:t>
            </a:r>
            <a:r>
              <a:rPr lang="en-US" altLang="en-US" sz="2000" i="1" dirty="0"/>
              <a:t>A</a:t>
            </a:r>
            <a:r>
              <a:rPr lang="en-US" altLang="en-US" sz="2000" dirty="0"/>
              <a:t>)/</a:t>
            </a:r>
            <a:r>
              <a:rPr lang="en-US" altLang="en-US" sz="2000" i="1" dirty="0"/>
              <a:t>N.</a:t>
            </a:r>
            <a:endParaRPr lang="en-US" altLang="en-US" sz="2000" dirty="0"/>
          </a:p>
          <a:p>
            <a:pPr lvl="1" eaLnBrk="1" hangingPunct="1">
              <a:lnSpc>
                <a:spcPct val="150000"/>
              </a:lnSpc>
              <a:spcBef>
                <a:spcPct val="0"/>
              </a:spcBef>
            </a:pPr>
            <a:r>
              <a:rPr lang="en-US" altLang="en-US" sz="2000" dirty="0"/>
              <a:t>The most straightforward, but outliers may dominate presentation</a:t>
            </a:r>
          </a:p>
          <a:p>
            <a:pPr lvl="1" eaLnBrk="1" hangingPunct="1">
              <a:lnSpc>
                <a:spcPct val="150000"/>
              </a:lnSpc>
              <a:spcBef>
                <a:spcPct val="0"/>
              </a:spcBef>
            </a:pPr>
            <a:r>
              <a:rPr lang="en-US" altLang="en-US" sz="2000" dirty="0"/>
              <a:t>Skewed data is not handled well</a:t>
            </a:r>
            <a:endParaRPr lang="en-US" altLang="en-US" sz="2000" i="1" dirty="0"/>
          </a:p>
          <a:p>
            <a:pPr eaLnBrk="1" hangingPunct="1">
              <a:lnSpc>
                <a:spcPct val="150000"/>
              </a:lnSpc>
            </a:pPr>
            <a:r>
              <a:rPr lang="en-US" altLang="en-US" sz="2000" dirty="0">
                <a:solidFill>
                  <a:schemeClr val="hlink"/>
                </a:solidFill>
              </a:rPr>
              <a:t>Equal-depth</a:t>
            </a:r>
            <a:r>
              <a:rPr lang="en-US" altLang="en-US" sz="2000" dirty="0"/>
              <a:t> (frequency) partitioning</a:t>
            </a:r>
          </a:p>
          <a:p>
            <a:pPr lvl="1" eaLnBrk="1" hangingPunct="1">
              <a:lnSpc>
                <a:spcPct val="150000"/>
              </a:lnSpc>
              <a:spcBef>
                <a:spcPct val="0"/>
              </a:spcBef>
            </a:pPr>
            <a:r>
              <a:rPr lang="en-US" altLang="en-US" sz="2000" dirty="0"/>
              <a:t>Divides the range into </a:t>
            </a:r>
            <a:r>
              <a:rPr lang="en-US" altLang="en-US" sz="2000" i="1" dirty="0"/>
              <a:t>N</a:t>
            </a:r>
            <a:r>
              <a:rPr lang="en-US" altLang="en-US" sz="2000" dirty="0"/>
              <a:t> intervals, each containing approximately same number of samples</a:t>
            </a:r>
          </a:p>
          <a:p>
            <a:pPr lvl="1" eaLnBrk="1" hangingPunct="1">
              <a:lnSpc>
                <a:spcPct val="150000"/>
              </a:lnSpc>
              <a:spcBef>
                <a:spcPct val="0"/>
              </a:spcBef>
            </a:pPr>
            <a:r>
              <a:rPr lang="en-US" altLang="en-US" sz="2000" dirty="0"/>
              <a:t>Good data scaling</a:t>
            </a:r>
          </a:p>
          <a:p>
            <a:pPr lvl="1" eaLnBrk="1" hangingPunct="1">
              <a:lnSpc>
                <a:spcPct val="150000"/>
              </a:lnSpc>
              <a:spcBef>
                <a:spcPct val="0"/>
              </a:spcBef>
            </a:pPr>
            <a:r>
              <a:rPr lang="en-US" altLang="en-US" sz="2000" dirty="0"/>
              <a:t>Managing categorical attributes can be tricky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061">
            <a:extLst>
              <a:ext uri="{FF2B5EF4-FFF2-40B4-BE49-F238E27FC236}">
                <a16:creationId xmlns:a16="http://schemas.microsoft.com/office/drawing/2014/main" id="{C2E4886F-30D5-D89C-C170-D14BDD2461BF}"/>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FCE15977-C5A9-4416-AAE6-872239239E06}" type="slidenum">
              <a:rPr lang="en-US" altLang="en-US" sz="1200"/>
              <a:pPr eaLnBrk="1" hangingPunct="1"/>
              <a:t>14</a:t>
            </a:fld>
            <a:endParaRPr lang="en-US" altLang="en-US" sz="1200"/>
          </a:p>
        </p:txBody>
      </p:sp>
      <p:sp>
        <p:nvSpPr>
          <p:cNvPr id="60419" name="Rectangle 2">
            <a:extLst>
              <a:ext uri="{FF2B5EF4-FFF2-40B4-BE49-F238E27FC236}">
                <a16:creationId xmlns:a16="http://schemas.microsoft.com/office/drawing/2014/main" id="{3169AE1C-0061-60FA-946E-EC72AA98C712}"/>
              </a:ext>
            </a:extLst>
          </p:cNvPr>
          <p:cNvSpPr>
            <a:spLocks noGrp="1" noChangeArrowheads="1"/>
          </p:cNvSpPr>
          <p:nvPr>
            <p:ph type="title"/>
          </p:nvPr>
        </p:nvSpPr>
        <p:spPr>
          <a:xfrm>
            <a:off x="1600200" y="304800"/>
            <a:ext cx="9067800" cy="609600"/>
          </a:xfrm>
        </p:spPr>
        <p:txBody>
          <a:bodyPr>
            <a:normAutofit fontScale="90000"/>
          </a:bodyPr>
          <a:lstStyle/>
          <a:p>
            <a:pPr eaLnBrk="1" hangingPunct="1"/>
            <a:r>
              <a:rPr lang="en-US" altLang="en-US"/>
              <a:t>Binning Methods for Data Smoothing</a:t>
            </a:r>
          </a:p>
        </p:txBody>
      </p:sp>
      <p:sp>
        <p:nvSpPr>
          <p:cNvPr id="60420" name="Rectangle 3">
            <a:extLst>
              <a:ext uri="{FF2B5EF4-FFF2-40B4-BE49-F238E27FC236}">
                <a16:creationId xmlns:a16="http://schemas.microsoft.com/office/drawing/2014/main" id="{D1AA8B26-1A90-72DE-3F47-A11A75F0B538}"/>
              </a:ext>
            </a:extLst>
          </p:cNvPr>
          <p:cNvSpPr>
            <a:spLocks noGrp="1" noChangeArrowheads="1"/>
          </p:cNvSpPr>
          <p:nvPr>
            <p:ph type="body" idx="1"/>
          </p:nvPr>
        </p:nvSpPr>
        <p:spPr>
          <a:xfrm>
            <a:off x="1981200" y="1371600"/>
            <a:ext cx="8077200" cy="5029200"/>
          </a:xfrm>
        </p:spPr>
        <p:txBody>
          <a:bodyPr>
            <a:normAutofit lnSpcReduction="10000"/>
          </a:bodyPr>
          <a:lstStyle/>
          <a:p>
            <a:pPr eaLnBrk="1" hangingPunct="1">
              <a:buFont typeface="Wingdings" panose="05000000000000000000" pitchFamily="2" charset="2"/>
              <a:buChar char="q"/>
            </a:pPr>
            <a:r>
              <a:rPr lang="en-US" altLang="en-US" sz="2000"/>
              <a:t>Sorted data for price (in dollars): 4, 8, 9, 15, 21, 21, 24, 25, 26, 28, 29, 34</a:t>
            </a:r>
          </a:p>
          <a:p>
            <a:pPr eaLnBrk="1" hangingPunct="1">
              <a:buFontTx/>
              <a:buNone/>
            </a:pPr>
            <a:r>
              <a:rPr lang="en-US" altLang="en-US" sz="2000"/>
              <a:t>*  Partition into equal-frequency (</a:t>
            </a:r>
            <a:r>
              <a:rPr lang="en-US" altLang="en-US" sz="2000" b="1"/>
              <a:t>equi-depth</a:t>
            </a:r>
            <a:r>
              <a:rPr lang="en-US" altLang="en-US" sz="2000"/>
              <a:t>) bins:</a:t>
            </a:r>
          </a:p>
          <a:p>
            <a:pPr eaLnBrk="1" hangingPunct="1">
              <a:buFontTx/>
              <a:buNone/>
            </a:pPr>
            <a:r>
              <a:rPr lang="en-US" altLang="en-US" sz="2000"/>
              <a:t>      - Bin 1: 4, 8, 9, 15</a:t>
            </a:r>
          </a:p>
          <a:p>
            <a:pPr eaLnBrk="1" hangingPunct="1">
              <a:buFontTx/>
              <a:buNone/>
            </a:pPr>
            <a:r>
              <a:rPr lang="en-US" altLang="en-US" sz="2000"/>
              <a:t>      - Bin 2: 21, 21, 24, 25</a:t>
            </a:r>
          </a:p>
          <a:p>
            <a:pPr eaLnBrk="1" hangingPunct="1">
              <a:buFontTx/>
              <a:buNone/>
            </a:pPr>
            <a:r>
              <a:rPr lang="en-US" altLang="en-US" sz="2000"/>
              <a:t>      - Bin 3: 26, 28, 29, 34</a:t>
            </a:r>
          </a:p>
          <a:p>
            <a:pPr eaLnBrk="1" hangingPunct="1">
              <a:buFontTx/>
              <a:buNone/>
            </a:pPr>
            <a:r>
              <a:rPr lang="en-US" altLang="en-US" sz="2000"/>
              <a:t>*  Smoothing by </a:t>
            </a:r>
            <a:r>
              <a:rPr lang="en-US" altLang="en-US" sz="2000" b="1"/>
              <a:t>bin means</a:t>
            </a:r>
            <a:r>
              <a:rPr lang="en-US" altLang="en-US" sz="2000"/>
              <a:t>:</a:t>
            </a:r>
          </a:p>
          <a:p>
            <a:pPr eaLnBrk="1" hangingPunct="1">
              <a:buFontTx/>
              <a:buNone/>
            </a:pPr>
            <a:r>
              <a:rPr lang="en-US" altLang="en-US" sz="2000"/>
              <a:t>      - Bin 1: 9, 9, 9, 9</a:t>
            </a:r>
          </a:p>
          <a:p>
            <a:pPr eaLnBrk="1" hangingPunct="1">
              <a:buFontTx/>
              <a:buNone/>
            </a:pPr>
            <a:r>
              <a:rPr lang="en-US" altLang="en-US" sz="2000"/>
              <a:t>      - Bin 2: 23, 23, 23, 23</a:t>
            </a:r>
          </a:p>
          <a:p>
            <a:pPr eaLnBrk="1" hangingPunct="1">
              <a:buFontTx/>
              <a:buNone/>
            </a:pPr>
            <a:r>
              <a:rPr lang="en-US" altLang="en-US" sz="2000"/>
              <a:t>      - Bin 3: 29, 29, 29, 29</a:t>
            </a:r>
          </a:p>
          <a:p>
            <a:pPr eaLnBrk="1" hangingPunct="1">
              <a:buFontTx/>
              <a:buNone/>
            </a:pPr>
            <a:r>
              <a:rPr lang="en-US" altLang="en-US" sz="2000"/>
              <a:t>*  Smoothing by </a:t>
            </a:r>
            <a:r>
              <a:rPr lang="en-US" altLang="en-US" sz="2000" b="1"/>
              <a:t>bin boundaries</a:t>
            </a:r>
            <a:r>
              <a:rPr lang="en-US" altLang="en-US" sz="2000"/>
              <a:t>:</a:t>
            </a:r>
          </a:p>
          <a:p>
            <a:pPr eaLnBrk="1" hangingPunct="1">
              <a:buFontTx/>
              <a:buNone/>
            </a:pPr>
            <a:r>
              <a:rPr lang="en-US" altLang="en-US" sz="2000"/>
              <a:t>      - Bin 1: 4, 4, 4, 15</a:t>
            </a:r>
          </a:p>
          <a:p>
            <a:pPr eaLnBrk="1" hangingPunct="1">
              <a:buFontTx/>
              <a:buNone/>
            </a:pPr>
            <a:r>
              <a:rPr lang="en-US" altLang="en-US" sz="2000"/>
              <a:t>      - Bin 2: 21, 21, 25, 25</a:t>
            </a:r>
          </a:p>
          <a:p>
            <a:pPr eaLnBrk="1" hangingPunct="1">
              <a:buFontTx/>
              <a:buNone/>
            </a:pPr>
            <a:r>
              <a:rPr lang="en-US" altLang="en-US" sz="2000"/>
              <a:t>      - Bin 3: 26, 26, 26, 34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061">
            <a:extLst>
              <a:ext uri="{FF2B5EF4-FFF2-40B4-BE49-F238E27FC236}">
                <a16:creationId xmlns:a16="http://schemas.microsoft.com/office/drawing/2014/main" id="{52BDA26D-8003-002E-7FC7-91965A311BC9}"/>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FAD3C6C-E0AC-437E-B7EB-6E2FC5F1050C}" type="slidenum">
              <a:rPr lang="en-US" altLang="en-US" sz="1200"/>
              <a:pPr>
                <a:spcBef>
                  <a:spcPct val="0"/>
                </a:spcBef>
                <a:buClrTx/>
                <a:buSzTx/>
                <a:buFontTx/>
                <a:buNone/>
              </a:pPr>
              <a:t>15</a:t>
            </a:fld>
            <a:endParaRPr lang="en-US" altLang="en-US" sz="1200"/>
          </a:p>
        </p:txBody>
      </p:sp>
      <p:sp>
        <p:nvSpPr>
          <p:cNvPr id="19459" name="Rectangle 2">
            <a:extLst>
              <a:ext uri="{FF2B5EF4-FFF2-40B4-BE49-F238E27FC236}">
                <a16:creationId xmlns:a16="http://schemas.microsoft.com/office/drawing/2014/main" id="{FB8028C5-E43B-320F-3114-033290C66E1E}"/>
              </a:ext>
            </a:extLst>
          </p:cNvPr>
          <p:cNvSpPr>
            <a:spLocks noGrp="1" noChangeArrowheads="1"/>
          </p:cNvSpPr>
          <p:nvPr>
            <p:ph type="title"/>
          </p:nvPr>
        </p:nvSpPr>
        <p:spPr>
          <a:xfrm>
            <a:off x="4390753" y="228600"/>
            <a:ext cx="2227696" cy="609600"/>
          </a:xfrm>
        </p:spPr>
        <p:txBody>
          <a:bodyPr>
            <a:normAutofit fontScale="90000"/>
          </a:bodyPr>
          <a:lstStyle/>
          <a:p>
            <a:pPr lvl="0"/>
            <a:r>
              <a:rPr lang="en-US" altLang="en-US" dirty="0">
                <a:solidFill>
                  <a:srgbClr val="273239"/>
                </a:solidFill>
                <a:latin typeface="Nunito" pitchFamily="2" charset="0"/>
              </a:rPr>
              <a:t>Outliers</a:t>
            </a:r>
          </a:p>
        </p:txBody>
      </p:sp>
      <p:sp>
        <p:nvSpPr>
          <p:cNvPr id="2" name="Content Placeholder 1">
            <a:extLst>
              <a:ext uri="{FF2B5EF4-FFF2-40B4-BE49-F238E27FC236}">
                <a16:creationId xmlns:a16="http://schemas.microsoft.com/office/drawing/2014/main" id="{331809D8-DDA6-FA6D-BDE7-7101887D3DB0}"/>
              </a:ext>
            </a:extLst>
          </p:cNvPr>
          <p:cNvSpPr>
            <a:spLocks noGrp="1"/>
          </p:cNvSpPr>
          <p:nvPr>
            <p:ph idx="1"/>
          </p:nvPr>
        </p:nvSpPr>
        <p:spPr>
          <a:xfrm>
            <a:off x="838200" y="1253331"/>
            <a:ext cx="10515600" cy="4351338"/>
          </a:xfrm>
        </p:spPr>
        <p:txBody>
          <a:bodyPr>
            <a:normAutofit lnSpcReduction="10000"/>
          </a:bodyPr>
          <a:lstStyle/>
          <a:p>
            <a:pPr marL="0" indent="0" algn="just">
              <a:lnSpc>
                <a:spcPct val="150000"/>
              </a:lnSpc>
              <a:spcBef>
                <a:spcPct val="0"/>
              </a:spcBef>
              <a:buNone/>
            </a:pPr>
            <a:r>
              <a:rPr lang="en-US" altLang="en-US" sz="2400" dirty="0">
                <a:hlinkClick r:id="rId3">
                  <a:extLst>
                    <a:ext uri="{A12FA001-AC4F-418D-AE19-62706E023703}">
                      <ahyp:hlinkClr xmlns:ahyp="http://schemas.microsoft.com/office/drawing/2018/hyperlinkcolor" val="tx"/>
                    </a:ext>
                  </a:extLst>
                </a:hlinkClick>
              </a:rPr>
              <a:t>Outliers</a:t>
            </a:r>
            <a:r>
              <a:rPr lang="en-US" altLang="en-US" sz="2400" dirty="0"/>
              <a:t> are data point that is essentially a statistical anomaly, a data point that significantly deviates from other observations in a dataset. Outliers can arise due to measurement errors, natural variation, or rare events, and they can have a disproportionate impact on statistical analyses and machine learning models if not appropriately handled.</a:t>
            </a:r>
          </a:p>
          <a:p>
            <a:pPr marL="0" indent="0" algn="just">
              <a:lnSpc>
                <a:spcPct val="150000"/>
              </a:lnSpc>
              <a:spcBef>
                <a:spcPct val="0"/>
              </a:spcBef>
              <a:buNone/>
            </a:pPr>
            <a:r>
              <a:rPr lang="en-US" altLang="en-US" sz="2400" dirty="0"/>
              <a:t>Example: If you have the following dataset of student test scores:</a:t>
            </a:r>
          </a:p>
          <a:p>
            <a:pPr marL="0" indent="0" algn="just">
              <a:lnSpc>
                <a:spcPct val="150000"/>
              </a:lnSpc>
              <a:spcBef>
                <a:spcPct val="0"/>
              </a:spcBef>
              <a:buNone/>
            </a:pPr>
            <a:r>
              <a:rPr lang="en-US" altLang="en-US" sz="2400" dirty="0"/>
              <a:t>[85, 87, 90, 88, 92, 89, 45]</a:t>
            </a:r>
          </a:p>
          <a:p>
            <a:pPr marL="0" indent="0" algn="just">
              <a:lnSpc>
                <a:spcPct val="150000"/>
              </a:lnSpc>
              <a:spcBef>
                <a:spcPct val="0"/>
              </a:spcBef>
              <a:buNone/>
            </a:pPr>
            <a:r>
              <a:rPr lang="en-US" altLang="en-US" sz="2400" dirty="0"/>
              <a:t>The score 45 is an outlier—it’s much lower than the others.</a:t>
            </a:r>
          </a:p>
          <a:p>
            <a:endParaRPr lang="en-IN" dirty="0"/>
          </a:p>
        </p:txBody>
      </p:sp>
      <p:sp>
        <p:nvSpPr>
          <p:cNvPr id="3" name="Rectangle 5">
            <a:extLst>
              <a:ext uri="{FF2B5EF4-FFF2-40B4-BE49-F238E27FC236}">
                <a16:creationId xmlns:a16="http://schemas.microsoft.com/office/drawing/2014/main" id="{5EEA9325-4494-5B1A-C7F1-65C9B3C05741}"/>
              </a:ext>
            </a:extLst>
          </p:cNvPr>
          <p:cNvSpPr>
            <a:spLocks noChangeArrowheads="1"/>
          </p:cNvSpPr>
          <p:nvPr/>
        </p:nvSpPr>
        <p:spPr bwMode="auto">
          <a:xfrm>
            <a:off x="1524001" y="43934"/>
            <a:ext cx="65" cy="369332"/>
          </a:xfrm>
          <a:prstGeom prst="rect">
            <a:avLst/>
          </a:prstGeom>
          <a:solidFill>
            <a:srgbClr val="FFFFFF"/>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a:defRPr sz="2400">
                <a:solidFill>
                  <a:schemeClr val="tx1"/>
                </a:solidFill>
                <a:latin typeface="Tahoma" panose="020B0604030504040204" pitchFamily="34" charset="0"/>
              </a:defRPr>
            </a:lvl3pPr>
            <a:lvl4pPr>
              <a:defRPr sz="2400">
                <a:solidFill>
                  <a:schemeClr val="tx1"/>
                </a:solidFill>
                <a:latin typeface="Tahoma" panose="020B0604030504040204" pitchFamily="34" charset="0"/>
              </a:defRPr>
            </a:lvl4pPr>
            <a:lvl5pPr>
              <a:defRPr sz="2400">
                <a:solidFill>
                  <a:schemeClr val="tx1"/>
                </a:solidFill>
                <a:latin typeface="Tahoma" panose="020B0604030504040204" pitchFamily="34" charset="0"/>
              </a:defRPr>
            </a:lvl5pPr>
            <a:lvl6pPr eaLnBrk="0" fontAlgn="base" hangingPunct="0">
              <a:spcBef>
                <a:spcPct val="0"/>
              </a:spcBef>
              <a:spcAft>
                <a:spcPct val="0"/>
              </a:spcAft>
              <a:defRPr sz="2400">
                <a:solidFill>
                  <a:schemeClr val="tx1"/>
                </a:solidFill>
                <a:latin typeface="Tahoma" panose="020B0604030504040204" pitchFamily="34" charset="0"/>
              </a:defRPr>
            </a:lvl6pPr>
            <a:lvl7pPr eaLnBrk="0" fontAlgn="base" hangingPunct="0">
              <a:spcBef>
                <a:spcPct val="0"/>
              </a:spcBef>
              <a:spcAft>
                <a:spcPct val="0"/>
              </a:spcAft>
              <a:defRPr sz="2400">
                <a:solidFill>
                  <a:schemeClr val="tx1"/>
                </a:solidFill>
                <a:latin typeface="Tahoma" panose="020B0604030504040204" pitchFamily="34" charset="0"/>
              </a:defRPr>
            </a:lvl7pPr>
            <a:lvl8pPr eaLnBrk="0" fontAlgn="base" hangingPunct="0">
              <a:spcBef>
                <a:spcPct val="0"/>
              </a:spcBef>
              <a:spcAft>
                <a:spcPct val="0"/>
              </a:spcAft>
              <a:defRPr sz="2400">
                <a:solidFill>
                  <a:schemeClr val="tx1"/>
                </a:solidFill>
                <a:latin typeface="Tahoma" panose="020B0604030504040204" pitchFamily="34" charset="0"/>
              </a:defRPr>
            </a:lvl8pPr>
            <a:lvl9pPr eaLnBrk="0" fontAlgn="base" hangingPunct="0">
              <a:spcBef>
                <a:spcPct val="0"/>
              </a:spcBef>
              <a:spcAft>
                <a:spcPct val="0"/>
              </a:spcAft>
              <a:defRPr sz="2400">
                <a:solidFill>
                  <a:schemeClr val="tx1"/>
                </a:solidFill>
                <a:latin typeface="Tahoma" panose="020B0604030504040204" pitchFamily="34" charset="0"/>
              </a:defRPr>
            </a:lvl9pPr>
          </a:lstStyle>
          <a:p>
            <a:pPr defTabSz="914400" eaLnBrk="0" fontAlgn="base" hangingPunct="0">
              <a:spcBef>
                <a:spcPct val="0"/>
              </a:spcBef>
              <a:spcAft>
                <a:spcPct val="0"/>
              </a:spcAft>
            </a:pPr>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83B9A-24F3-4A9A-981B-517B4B3F8FF6}"/>
            </a:ext>
          </a:extLst>
        </p:cNvPr>
        <p:cNvGrpSpPr/>
        <p:nvPr/>
      </p:nvGrpSpPr>
      <p:grpSpPr>
        <a:xfrm>
          <a:off x="0" y="0"/>
          <a:ext cx="0" cy="0"/>
          <a:chOff x="0" y="0"/>
          <a:chExt cx="0" cy="0"/>
        </a:xfrm>
      </p:grpSpPr>
      <p:sp>
        <p:nvSpPr>
          <p:cNvPr id="19458" name="Rectangle 2061">
            <a:extLst>
              <a:ext uri="{FF2B5EF4-FFF2-40B4-BE49-F238E27FC236}">
                <a16:creationId xmlns:a16="http://schemas.microsoft.com/office/drawing/2014/main" id="{F6A3C770-2BBE-4CBA-CE45-5DE5F030E280}"/>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FAD3C6C-E0AC-437E-B7EB-6E2FC5F1050C}" type="slidenum">
              <a:rPr lang="en-US" altLang="en-US" sz="1200"/>
              <a:pPr>
                <a:spcBef>
                  <a:spcPct val="0"/>
                </a:spcBef>
                <a:buClrTx/>
                <a:buSzTx/>
                <a:buFontTx/>
                <a:buNone/>
              </a:pPr>
              <a:t>16</a:t>
            </a:fld>
            <a:endParaRPr lang="en-US" altLang="en-US" sz="1200"/>
          </a:p>
        </p:txBody>
      </p:sp>
      <p:sp>
        <p:nvSpPr>
          <p:cNvPr id="19459" name="Rectangle 2">
            <a:extLst>
              <a:ext uri="{FF2B5EF4-FFF2-40B4-BE49-F238E27FC236}">
                <a16:creationId xmlns:a16="http://schemas.microsoft.com/office/drawing/2014/main" id="{AEC6D59B-9E3B-0C7E-226B-18A193E122AA}"/>
              </a:ext>
            </a:extLst>
          </p:cNvPr>
          <p:cNvSpPr>
            <a:spLocks noGrp="1" noChangeArrowheads="1"/>
          </p:cNvSpPr>
          <p:nvPr>
            <p:ph type="title"/>
          </p:nvPr>
        </p:nvSpPr>
        <p:spPr>
          <a:xfrm>
            <a:off x="4390753" y="228600"/>
            <a:ext cx="2227696" cy="609600"/>
          </a:xfrm>
        </p:spPr>
        <p:txBody>
          <a:bodyPr>
            <a:normAutofit fontScale="90000"/>
          </a:bodyPr>
          <a:lstStyle/>
          <a:p>
            <a:pPr lvl="0"/>
            <a:r>
              <a:rPr lang="en-US" altLang="en-US" dirty="0">
                <a:solidFill>
                  <a:srgbClr val="273239"/>
                </a:solidFill>
                <a:latin typeface="Nunito" pitchFamily="2" charset="0"/>
              </a:rPr>
              <a:t>Outliers</a:t>
            </a:r>
          </a:p>
        </p:txBody>
      </p:sp>
      <p:sp>
        <p:nvSpPr>
          <p:cNvPr id="2" name="Content Placeholder 1">
            <a:extLst>
              <a:ext uri="{FF2B5EF4-FFF2-40B4-BE49-F238E27FC236}">
                <a16:creationId xmlns:a16="http://schemas.microsoft.com/office/drawing/2014/main" id="{BB083DFB-566A-8D92-F572-9563E641A082}"/>
              </a:ext>
            </a:extLst>
          </p:cNvPr>
          <p:cNvSpPr>
            <a:spLocks noGrp="1"/>
          </p:cNvSpPr>
          <p:nvPr>
            <p:ph idx="1"/>
          </p:nvPr>
        </p:nvSpPr>
        <p:spPr>
          <a:xfrm>
            <a:off x="838200" y="1253331"/>
            <a:ext cx="10515600" cy="1411492"/>
          </a:xfrm>
        </p:spPr>
        <p:txBody>
          <a:bodyPr>
            <a:normAutofit fontScale="92500"/>
          </a:bodyPr>
          <a:lstStyle/>
          <a:p>
            <a:pPr fontAlgn="base"/>
            <a:r>
              <a:rPr lang="en-US" b="1" dirty="0"/>
              <a:t>Types of Outliers</a:t>
            </a:r>
          </a:p>
          <a:p>
            <a:pPr fontAlgn="base"/>
            <a:r>
              <a:rPr lang="en-US" dirty="0"/>
              <a:t>Outliers can be classified into various types based on their characteristics:</a:t>
            </a:r>
            <a:br>
              <a:rPr lang="en-US" dirty="0"/>
            </a:br>
            <a:endParaRPr lang="en-IN" dirty="0"/>
          </a:p>
        </p:txBody>
      </p:sp>
      <p:sp>
        <p:nvSpPr>
          <p:cNvPr id="3" name="Rectangle 5">
            <a:extLst>
              <a:ext uri="{FF2B5EF4-FFF2-40B4-BE49-F238E27FC236}">
                <a16:creationId xmlns:a16="http://schemas.microsoft.com/office/drawing/2014/main" id="{A76580DC-C447-C480-3D5A-129E24C9A6D3}"/>
              </a:ext>
            </a:extLst>
          </p:cNvPr>
          <p:cNvSpPr>
            <a:spLocks noChangeArrowheads="1"/>
          </p:cNvSpPr>
          <p:nvPr/>
        </p:nvSpPr>
        <p:spPr bwMode="auto">
          <a:xfrm>
            <a:off x="1524001" y="43934"/>
            <a:ext cx="65" cy="369332"/>
          </a:xfrm>
          <a:prstGeom prst="rect">
            <a:avLst/>
          </a:prstGeom>
          <a:solidFill>
            <a:srgbClr val="FFFFFF"/>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a:defRPr sz="2400">
                <a:solidFill>
                  <a:schemeClr val="tx1"/>
                </a:solidFill>
                <a:latin typeface="Tahoma" panose="020B0604030504040204" pitchFamily="34" charset="0"/>
              </a:defRPr>
            </a:lvl3pPr>
            <a:lvl4pPr>
              <a:defRPr sz="2400">
                <a:solidFill>
                  <a:schemeClr val="tx1"/>
                </a:solidFill>
                <a:latin typeface="Tahoma" panose="020B0604030504040204" pitchFamily="34" charset="0"/>
              </a:defRPr>
            </a:lvl4pPr>
            <a:lvl5pPr>
              <a:defRPr sz="2400">
                <a:solidFill>
                  <a:schemeClr val="tx1"/>
                </a:solidFill>
                <a:latin typeface="Tahoma" panose="020B0604030504040204" pitchFamily="34" charset="0"/>
              </a:defRPr>
            </a:lvl5pPr>
            <a:lvl6pPr eaLnBrk="0" fontAlgn="base" hangingPunct="0">
              <a:spcBef>
                <a:spcPct val="0"/>
              </a:spcBef>
              <a:spcAft>
                <a:spcPct val="0"/>
              </a:spcAft>
              <a:defRPr sz="2400">
                <a:solidFill>
                  <a:schemeClr val="tx1"/>
                </a:solidFill>
                <a:latin typeface="Tahoma" panose="020B0604030504040204" pitchFamily="34" charset="0"/>
              </a:defRPr>
            </a:lvl6pPr>
            <a:lvl7pPr eaLnBrk="0" fontAlgn="base" hangingPunct="0">
              <a:spcBef>
                <a:spcPct val="0"/>
              </a:spcBef>
              <a:spcAft>
                <a:spcPct val="0"/>
              </a:spcAft>
              <a:defRPr sz="2400">
                <a:solidFill>
                  <a:schemeClr val="tx1"/>
                </a:solidFill>
                <a:latin typeface="Tahoma" panose="020B0604030504040204" pitchFamily="34" charset="0"/>
              </a:defRPr>
            </a:lvl7pPr>
            <a:lvl8pPr eaLnBrk="0" fontAlgn="base" hangingPunct="0">
              <a:spcBef>
                <a:spcPct val="0"/>
              </a:spcBef>
              <a:spcAft>
                <a:spcPct val="0"/>
              </a:spcAft>
              <a:defRPr sz="2400">
                <a:solidFill>
                  <a:schemeClr val="tx1"/>
                </a:solidFill>
                <a:latin typeface="Tahoma" panose="020B0604030504040204" pitchFamily="34" charset="0"/>
              </a:defRPr>
            </a:lvl8pPr>
            <a:lvl9pPr eaLnBrk="0" fontAlgn="base" hangingPunct="0">
              <a:spcBef>
                <a:spcPct val="0"/>
              </a:spcBef>
              <a:spcAft>
                <a:spcPct val="0"/>
              </a:spcAft>
              <a:defRPr sz="2400">
                <a:solidFill>
                  <a:schemeClr val="tx1"/>
                </a:solidFill>
                <a:latin typeface="Tahoma" panose="020B0604030504040204" pitchFamily="34" charset="0"/>
              </a:defRPr>
            </a:lvl9pPr>
          </a:lstStyle>
          <a:p>
            <a:pPr defTabSz="914400" eaLnBrk="0" fontAlgn="base" hangingPunct="0">
              <a:spcBef>
                <a:spcPct val="0"/>
              </a:spcBef>
              <a:spcAft>
                <a:spcPct val="0"/>
              </a:spcAft>
            </a:pPr>
            <a:endParaRPr lang="en-US" altLang="en-US" dirty="0"/>
          </a:p>
        </p:txBody>
      </p:sp>
      <p:sp>
        <p:nvSpPr>
          <p:cNvPr id="5" name="TextBox 4">
            <a:extLst>
              <a:ext uri="{FF2B5EF4-FFF2-40B4-BE49-F238E27FC236}">
                <a16:creationId xmlns:a16="http://schemas.microsoft.com/office/drawing/2014/main" id="{E3978E07-4AD4-D712-5A9E-A4E36049A537}"/>
              </a:ext>
            </a:extLst>
          </p:cNvPr>
          <p:cNvSpPr txBox="1"/>
          <p:nvPr/>
        </p:nvSpPr>
        <p:spPr>
          <a:xfrm>
            <a:off x="1175656" y="2531184"/>
            <a:ext cx="10178143" cy="2215991"/>
          </a:xfrm>
          <a:prstGeom prst="rect">
            <a:avLst/>
          </a:prstGeom>
          <a:noFill/>
        </p:spPr>
        <p:txBody>
          <a:bodyPr wrap="square">
            <a:spAutoFit/>
          </a:bodyPr>
          <a:lstStyle/>
          <a:p>
            <a:pPr algn="just" fontAlgn="base">
              <a:spcAft>
                <a:spcPts val="1800"/>
              </a:spcAft>
              <a:buFont typeface="+mj-lt"/>
              <a:buAutoNum type="arabicPeriod"/>
            </a:pPr>
            <a:r>
              <a:rPr lang="en-US" b="1" i="0" dirty="0">
                <a:solidFill>
                  <a:srgbClr val="273239"/>
                </a:solidFill>
                <a:effectLst/>
                <a:latin typeface="Nunito" pitchFamily="2" charset="0"/>
              </a:rPr>
              <a:t>Global Outliers</a:t>
            </a:r>
            <a:r>
              <a:rPr lang="en-US" b="0" i="0" dirty="0">
                <a:solidFill>
                  <a:srgbClr val="273239"/>
                </a:solidFill>
                <a:effectLst/>
                <a:latin typeface="Nunito" pitchFamily="2" charset="0"/>
              </a:rPr>
              <a:t>: Also known as point anomalies, these data points significantly differ from the rest of the dataset.</a:t>
            </a:r>
          </a:p>
          <a:p>
            <a:pPr algn="just" fontAlgn="base">
              <a:spcAft>
                <a:spcPts val="1800"/>
              </a:spcAft>
              <a:buFont typeface="+mj-lt"/>
              <a:buAutoNum type="arabicPeriod" startAt="2"/>
            </a:pPr>
            <a:r>
              <a:rPr lang="en-US" b="1" i="0" dirty="0">
                <a:solidFill>
                  <a:srgbClr val="273239"/>
                </a:solidFill>
                <a:effectLst/>
                <a:latin typeface="Nunito" pitchFamily="2" charset="0"/>
              </a:rPr>
              <a:t>Contextual Outliers</a:t>
            </a:r>
            <a:r>
              <a:rPr lang="en-US" b="0" i="0" dirty="0">
                <a:solidFill>
                  <a:srgbClr val="273239"/>
                </a:solidFill>
                <a:effectLst/>
                <a:latin typeface="Nunito" pitchFamily="2" charset="0"/>
              </a:rPr>
              <a:t>: These are data points that are considered outliers in a specific context. For example, a high temperature may be normal in summer but an outlier in winter.</a:t>
            </a:r>
          </a:p>
          <a:p>
            <a:pPr algn="just" fontAlgn="base">
              <a:spcAft>
                <a:spcPts val="1800"/>
              </a:spcAft>
              <a:buFont typeface="+mj-lt"/>
              <a:buAutoNum type="arabicPeriod" startAt="3"/>
            </a:pPr>
            <a:r>
              <a:rPr lang="en-US" b="1" i="0" dirty="0">
                <a:solidFill>
                  <a:srgbClr val="273239"/>
                </a:solidFill>
                <a:effectLst/>
                <a:latin typeface="Nunito" pitchFamily="2" charset="0"/>
              </a:rPr>
              <a:t>Collective Outliers</a:t>
            </a:r>
            <a:r>
              <a:rPr lang="en-US" b="0" i="0" dirty="0">
                <a:solidFill>
                  <a:srgbClr val="273239"/>
                </a:solidFill>
                <a:effectLst/>
                <a:latin typeface="Nunito" pitchFamily="2" charset="0"/>
              </a:rPr>
              <a:t>: A collection of data points that deviate significantly from the rest of the dataset, even if individual points within the collection are not outliers.</a:t>
            </a:r>
          </a:p>
        </p:txBody>
      </p:sp>
    </p:spTree>
    <p:extLst>
      <p:ext uri="{BB962C8B-B14F-4D97-AF65-F5344CB8AC3E}">
        <p14:creationId xmlns:p14="http://schemas.microsoft.com/office/powerpoint/2010/main" val="3284306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AEE97E8-7138-AD78-70E8-BAC9678A1A9D}"/>
              </a:ext>
            </a:extLst>
          </p:cNvPr>
          <p:cNvPicPr>
            <a:picLocks noChangeAspect="1"/>
          </p:cNvPicPr>
          <p:nvPr/>
        </p:nvPicPr>
        <p:blipFill>
          <a:blip r:embed="rId2"/>
          <a:stretch>
            <a:fillRect/>
          </a:stretch>
        </p:blipFill>
        <p:spPr>
          <a:xfrm>
            <a:off x="2286000" y="1524000"/>
            <a:ext cx="7620000" cy="3810000"/>
          </a:xfrm>
          <a:prstGeom prst="rect">
            <a:avLst/>
          </a:prstGeom>
        </p:spPr>
      </p:pic>
    </p:spTree>
    <p:extLst>
      <p:ext uri="{BB962C8B-B14F-4D97-AF65-F5344CB8AC3E}">
        <p14:creationId xmlns:p14="http://schemas.microsoft.com/office/powerpoint/2010/main" val="1244531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97EE8-890D-B003-F25A-C89F1938E1B9}"/>
            </a:ext>
          </a:extLst>
        </p:cNvPr>
        <p:cNvGrpSpPr/>
        <p:nvPr/>
      </p:nvGrpSpPr>
      <p:grpSpPr>
        <a:xfrm>
          <a:off x="0" y="0"/>
          <a:ext cx="0" cy="0"/>
          <a:chOff x="0" y="0"/>
          <a:chExt cx="0" cy="0"/>
        </a:xfrm>
      </p:grpSpPr>
      <p:sp>
        <p:nvSpPr>
          <p:cNvPr id="19458" name="Rectangle 2061">
            <a:extLst>
              <a:ext uri="{FF2B5EF4-FFF2-40B4-BE49-F238E27FC236}">
                <a16:creationId xmlns:a16="http://schemas.microsoft.com/office/drawing/2014/main" id="{FF1C9C2C-9230-F3B4-CC8F-432295110241}"/>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FAD3C6C-E0AC-437E-B7EB-6E2FC5F1050C}" type="slidenum">
              <a:rPr lang="en-US" altLang="en-US" sz="1200"/>
              <a:pPr>
                <a:spcBef>
                  <a:spcPct val="0"/>
                </a:spcBef>
                <a:buClrTx/>
                <a:buSzTx/>
                <a:buFontTx/>
                <a:buNone/>
              </a:pPr>
              <a:t>18</a:t>
            </a:fld>
            <a:endParaRPr lang="en-US" altLang="en-US" sz="1200"/>
          </a:p>
        </p:txBody>
      </p:sp>
      <p:sp>
        <p:nvSpPr>
          <p:cNvPr id="19459" name="Rectangle 2">
            <a:extLst>
              <a:ext uri="{FF2B5EF4-FFF2-40B4-BE49-F238E27FC236}">
                <a16:creationId xmlns:a16="http://schemas.microsoft.com/office/drawing/2014/main" id="{42396F9F-1C77-1262-12CC-5DC5DDFA967A}"/>
              </a:ext>
            </a:extLst>
          </p:cNvPr>
          <p:cNvSpPr>
            <a:spLocks noGrp="1" noChangeArrowheads="1"/>
          </p:cNvSpPr>
          <p:nvPr>
            <p:ph type="title"/>
          </p:nvPr>
        </p:nvSpPr>
        <p:spPr>
          <a:xfrm>
            <a:off x="4390753" y="228600"/>
            <a:ext cx="2227696" cy="609600"/>
          </a:xfrm>
        </p:spPr>
        <p:txBody>
          <a:bodyPr>
            <a:normAutofit fontScale="90000"/>
          </a:bodyPr>
          <a:lstStyle/>
          <a:p>
            <a:pPr lvl="0"/>
            <a:r>
              <a:rPr lang="en-US" altLang="en-US" dirty="0">
                <a:solidFill>
                  <a:srgbClr val="273239"/>
                </a:solidFill>
                <a:latin typeface="Nunito" pitchFamily="2" charset="0"/>
              </a:rPr>
              <a:t>Outliers</a:t>
            </a:r>
          </a:p>
        </p:txBody>
      </p:sp>
      <p:sp>
        <p:nvSpPr>
          <p:cNvPr id="3" name="Rectangle 5">
            <a:extLst>
              <a:ext uri="{FF2B5EF4-FFF2-40B4-BE49-F238E27FC236}">
                <a16:creationId xmlns:a16="http://schemas.microsoft.com/office/drawing/2014/main" id="{07694816-37C3-0C22-F098-3683F4AACF91}"/>
              </a:ext>
            </a:extLst>
          </p:cNvPr>
          <p:cNvSpPr>
            <a:spLocks noChangeArrowheads="1"/>
          </p:cNvSpPr>
          <p:nvPr/>
        </p:nvSpPr>
        <p:spPr bwMode="auto">
          <a:xfrm>
            <a:off x="1524001" y="43934"/>
            <a:ext cx="65" cy="369332"/>
          </a:xfrm>
          <a:prstGeom prst="rect">
            <a:avLst/>
          </a:prstGeom>
          <a:solidFill>
            <a:srgbClr val="FFFFFF"/>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a:defRPr sz="2400">
                <a:solidFill>
                  <a:schemeClr val="tx1"/>
                </a:solidFill>
                <a:latin typeface="Tahoma" panose="020B0604030504040204" pitchFamily="34" charset="0"/>
              </a:defRPr>
            </a:lvl3pPr>
            <a:lvl4pPr>
              <a:defRPr sz="2400">
                <a:solidFill>
                  <a:schemeClr val="tx1"/>
                </a:solidFill>
                <a:latin typeface="Tahoma" panose="020B0604030504040204" pitchFamily="34" charset="0"/>
              </a:defRPr>
            </a:lvl4pPr>
            <a:lvl5pPr>
              <a:defRPr sz="2400">
                <a:solidFill>
                  <a:schemeClr val="tx1"/>
                </a:solidFill>
                <a:latin typeface="Tahoma" panose="020B0604030504040204" pitchFamily="34" charset="0"/>
              </a:defRPr>
            </a:lvl5pPr>
            <a:lvl6pPr eaLnBrk="0" fontAlgn="base" hangingPunct="0">
              <a:spcBef>
                <a:spcPct val="0"/>
              </a:spcBef>
              <a:spcAft>
                <a:spcPct val="0"/>
              </a:spcAft>
              <a:defRPr sz="2400">
                <a:solidFill>
                  <a:schemeClr val="tx1"/>
                </a:solidFill>
                <a:latin typeface="Tahoma" panose="020B0604030504040204" pitchFamily="34" charset="0"/>
              </a:defRPr>
            </a:lvl6pPr>
            <a:lvl7pPr eaLnBrk="0" fontAlgn="base" hangingPunct="0">
              <a:spcBef>
                <a:spcPct val="0"/>
              </a:spcBef>
              <a:spcAft>
                <a:spcPct val="0"/>
              </a:spcAft>
              <a:defRPr sz="2400">
                <a:solidFill>
                  <a:schemeClr val="tx1"/>
                </a:solidFill>
                <a:latin typeface="Tahoma" panose="020B0604030504040204" pitchFamily="34" charset="0"/>
              </a:defRPr>
            </a:lvl7pPr>
            <a:lvl8pPr eaLnBrk="0" fontAlgn="base" hangingPunct="0">
              <a:spcBef>
                <a:spcPct val="0"/>
              </a:spcBef>
              <a:spcAft>
                <a:spcPct val="0"/>
              </a:spcAft>
              <a:defRPr sz="2400">
                <a:solidFill>
                  <a:schemeClr val="tx1"/>
                </a:solidFill>
                <a:latin typeface="Tahoma" panose="020B0604030504040204" pitchFamily="34" charset="0"/>
              </a:defRPr>
            </a:lvl8pPr>
            <a:lvl9pPr eaLnBrk="0" fontAlgn="base" hangingPunct="0">
              <a:spcBef>
                <a:spcPct val="0"/>
              </a:spcBef>
              <a:spcAft>
                <a:spcPct val="0"/>
              </a:spcAft>
              <a:defRPr sz="2400">
                <a:solidFill>
                  <a:schemeClr val="tx1"/>
                </a:solidFill>
                <a:latin typeface="Tahoma" panose="020B0604030504040204" pitchFamily="34" charset="0"/>
              </a:defRPr>
            </a:lvl9pPr>
          </a:lstStyle>
          <a:p>
            <a:pPr defTabSz="914400" eaLnBrk="0" fontAlgn="base" hangingPunct="0">
              <a:spcBef>
                <a:spcPct val="0"/>
              </a:spcBef>
              <a:spcAft>
                <a:spcPct val="0"/>
              </a:spcAft>
            </a:pPr>
            <a:endParaRPr lang="en-US" altLang="en-US" dirty="0"/>
          </a:p>
        </p:txBody>
      </p:sp>
      <p:sp>
        <p:nvSpPr>
          <p:cNvPr id="5" name="TextBox 4">
            <a:extLst>
              <a:ext uri="{FF2B5EF4-FFF2-40B4-BE49-F238E27FC236}">
                <a16:creationId xmlns:a16="http://schemas.microsoft.com/office/drawing/2014/main" id="{16E1AE9B-C5BA-D27D-C6E5-CCD72B2E43EE}"/>
              </a:ext>
            </a:extLst>
          </p:cNvPr>
          <p:cNvSpPr txBox="1"/>
          <p:nvPr/>
        </p:nvSpPr>
        <p:spPr>
          <a:xfrm>
            <a:off x="928551" y="754635"/>
            <a:ext cx="10178143" cy="6683048"/>
          </a:xfrm>
          <a:prstGeom prst="rect">
            <a:avLst/>
          </a:prstGeom>
          <a:noFill/>
        </p:spPr>
        <p:txBody>
          <a:bodyPr wrap="square">
            <a:spAutoFit/>
          </a:bodyPr>
          <a:lstStyle/>
          <a:p>
            <a:pPr fontAlgn="base">
              <a:lnSpc>
                <a:spcPct val="150000"/>
              </a:lnSpc>
            </a:pPr>
            <a:r>
              <a:rPr lang="en-US" sz="2400" b="1" dirty="0"/>
              <a:t>Standard Deviation Method</a:t>
            </a:r>
          </a:p>
          <a:p>
            <a:pPr fontAlgn="base">
              <a:lnSpc>
                <a:spcPct val="150000"/>
              </a:lnSpc>
            </a:pPr>
            <a:r>
              <a:rPr lang="en-US" sz="2400" dirty="0"/>
              <a:t>Standard Deviation Method is based on the assumption that the data follows a normal distribution. Data points outside of three standard deviations from the mean are considered outliers.</a:t>
            </a:r>
          </a:p>
          <a:p>
            <a:pPr fontAlgn="base">
              <a:lnSpc>
                <a:spcPct val="150000"/>
              </a:lnSpc>
            </a:pPr>
            <a:r>
              <a:rPr lang="en-US" sz="2400" dirty="0"/>
              <a:t>It is commonly used for univariate data analysis where the distribution can be assumed to be approximately normal.</a:t>
            </a:r>
          </a:p>
          <a:p>
            <a:pPr fontAlgn="base">
              <a:lnSpc>
                <a:spcPct val="150000"/>
              </a:lnSpc>
            </a:pPr>
            <a:r>
              <a:rPr lang="en-US" sz="2400" b="1" dirty="0"/>
              <a:t>Step 1:</a:t>
            </a:r>
            <a:r>
              <a:rPr lang="en-US" sz="2400" dirty="0"/>
              <a:t> Calculate the average and standard deviation of the data set, if applicable.</a:t>
            </a:r>
          </a:p>
          <a:p>
            <a:pPr fontAlgn="base">
              <a:lnSpc>
                <a:spcPct val="150000"/>
              </a:lnSpc>
            </a:pPr>
            <a:r>
              <a:rPr lang="en-US" sz="2400" b="1" dirty="0"/>
              <a:t>Step 2:</a:t>
            </a:r>
            <a:r>
              <a:rPr lang="en-US" sz="2400" dirty="0"/>
              <a:t> Define the lower and upper bounds for outliers.</a:t>
            </a:r>
          </a:p>
          <a:p>
            <a:pPr fontAlgn="base">
              <a:lnSpc>
                <a:spcPct val="150000"/>
              </a:lnSpc>
            </a:pPr>
            <a:r>
              <a:rPr lang="en-US" sz="2400" b="1" dirty="0"/>
              <a:t>Step 3: </a:t>
            </a:r>
            <a:r>
              <a:rPr lang="en-US" sz="2400" dirty="0"/>
              <a:t>Identify outliers as data points that fall outside these bounds:</a:t>
            </a:r>
          </a:p>
          <a:p>
            <a:pPr fontAlgn="base">
              <a:lnSpc>
                <a:spcPct val="150000"/>
              </a:lnSpc>
            </a:pPr>
            <a:r>
              <a:rPr lang="en-US" sz="2400" b="1" dirty="0"/>
              <a:t>Example: </a:t>
            </a:r>
            <a:r>
              <a:rPr lang="en-US" sz="2400" dirty="0"/>
              <a:t>Dataset: [1, 2, 2, 3, 1, 3, 10]. Find an outlier using the Standard Deviation Method.</a:t>
            </a:r>
          </a:p>
        </p:txBody>
      </p:sp>
    </p:spTree>
    <p:extLst>
      <p:ext uri="{BB962C8B-B14F-4D97-AF65-F5344CB8AC3E}">
        <p14:creationId xmlns:p14="http://schemas.microsoft.com/office/powerpoint/2010/main" val="1635563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88D644-5DA4-DD2E-4EA5-16AFDCD89906}"/>
              </a:ext>
            </a:extLst>
          </p:cNvPr>
          <p:cNvSpPr>
            <a:spLocks noGrp="1"/>
          </p:cNvSpPr>
          <p:nvPr>
            <p:ph type="sldNum" sz="quarter" idx="12"/>
          </p:nvPr>
        </p:nvSpPr>
        <p:spPr/>
        <p:txBody>
          <a:bodyPr/>
          <a:lstStyle/>
          <a:p>
            <a:pPr>
              <a:defRPr/>
            </a:pPr>
            <a:fld id="{2E256C31-F338-4365-BDEB-8E44A2E1C147}" type="slidenum">
              <a:rPr lang="en-US" altLang="en-US" smtClean="0"/>
              <a:pPr>
                <a:defRPr/>
              </a:pPr>
              <a:t>19</a:t>
            </a:fld>
            <a:endParaRPr lang="en-US" altLang="en-US"/>
          </a:p>
        </p:txBody>
      </p:sp>
      <p:pic>
        <p:nvPicPr>
          <p:cNvPr id="6" name="Picture 5">
            <a:extLst>
              <a:ext uri="{FF2B5EF4-FFF2-40B4-BE49-F238E27FC236}">
                <a16:creationId xmlns:a16="http://schemas.microsoft.com/office/drawing/2014/main" id="{C5F1C7CA-B964-1CA2-075D-6B77F87B88F2}"/>
              </a:ext>
            </a:extLst>
          </p:cNvPr>
          <p:cNvPicPr>
            <a:picLocks noChangeAspect="1"/>
          </p:cNvPicPr>
          <p:nvPr/>
        </p:nvPicPr>
        <p:blipFill>
          <a:blip r:embed="rId2"/>
          <a:stretch>
            <a:fillRect/>
          </a:stretch>
        </p:blipFill>
        <p:spPr>
          <a:xfrm>
            <a:off x="1123406" y="400595"/>
            <a:ext cx="10230393" cy="5651862"/>
          </a:xfrm>
          <a:prstGeom prst="rect">
            <a:avLst/>
          </a:prstGeom>
        </p:spPr>
      </p:pic>
    </p:spTree>
    <p:extLst>
      <p:ext uri="{BB962C8B-B14F-4D97-AF65-F5344CB8AC3E}">
        <p14:creationId xmlns:p14="http://schemas.microsoft.com/office/powerpoint/2010/main" val="22026340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4F6C6-40B3-EFFB-5822-8F24D715D09A}"/>
            </a:ext>
          </a:extLst>
        </p:cNvPr>
        <p:cNvGrpSpPr/>
        <p:nvPr/>
      </p:nvGrpSpPr>
      <p:grpSpPr>
        <a:xfrm>
          <a:off x="0" y="0"/>
          <a:ext cx="0" cy="0"/>
          <a:chOff x="0" y="0"/>
          <a:chExt cx="0" cy="0"/>
        </a:xfrm>
      </p:grpSpPr>
      <p:sp>
        <p:nvSpPr>
          <p:cNvPr id="19458" name="Rectangle 2061">
            <a:extLst>
              <a:ext uri="{FF2B5EF4-FFF2-40B4-BE49-F238E27FC236}">
                <a16:creationId xmlns:a16="http://schemas.microsoft.com/office/drawing/2014/main" id="{9F14C185-54D3-471F-62DC-5FAFB1AE4A92}"/>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FAD3C6C-E0AC-437E-B7EB-6E2FC5F1050C}" type="slidenum">
              <a:rPr lang="en-US" altLang="en-US" sz="1200"/>
              <a:pPr>
                <a:spcBef>
                  <a:spcPct val="0"/>
                </a:spcBef>
                <a:buClrTx/>
                <a:buSzTx/>
                <a:buFontTx/>
                <a:buNone/>
              </a:pPr>
              <a:t>20</a:t>
            </a:fld>
            <a:endParaRPr lang="en-US" altLang="en-US" sz="1200"/>
          </a:p>
        </p:txBody>
      </p:sp>
      <p:sp>
        <p:nvSpPr>
          <p:cNvPr id="19459" name="Rectangle 2">
            <a:extLst>
              <a:ext uri="{FF2B5EF4-FFF2-40B4-BE49-F238E27FC236}">
                <a16:creationId xmlns:a16="http://schemas.microsoft.com/office/drawing/2014/main" id="{EC8A0212-E33C-4002-AC91-F044D4AA4990}"/>
              </a:ext>
            </a:extLst>
          </p:cNvPr>
          <p:cNvSpPr>
            <a:spLocks noGrp="1" noChangeArrowheads="1"/>
          </p:cNvSpPr>
          <p:nvPr>
            <p:ph type="title"/>
          </p:nvPr>
        </p:nvSpPr>
        <p:spPr>
          <a:xfrm>
            <a:off x="3230880" y="136525"/>
            <a:ext cx="4772231" cy="609600"/>
          </a:xfrm>
        </p:spPr>
        <p:txBody>
          <a:bodyPr>
            <a:normAutofit fontScale="90000"/>
          </a:bodyPr>
          <a:lstStyle/>
          <a:p>
            <a:pPr fontAlgn="base">
              <a:lnSpc>
                <a:spcPct val="150000"/>
              </a:lnSpc>
            </a:pPr>
            <a:r>
              <a:rPr lang="en-US" b="1" dirty="0"/>
              <a:t>Z-Score Method</a:t>
            </a:r>
          </a:p>
        </p:txBody>
      </p:sp>
      <p:sp>
        <p:nvSpPr>
          <p:cNvPr id="3" name="Rectangle 5">
            <a:extLst>
              <a:ext uri="{FF2B5EF4-FFF2-40B4-BE49-F238E27FC236}">
                <a16:creationId xmlns:a16="http://schemas.microsoft.com/office/drawing/2014/main" id="{F434FE7C-CA6F-C2DE-BE5E-2B4BE441A7F8}"/>
              </a:ext>
            </a:extLst>
          </p:cNvPr>
          <p:cNvSpPr>
            <a:spLocks noChangeArrowheads="1"/>
          </p:cNvSpPr>
          <p:nvPr/>
        </p:nvSpPr>
        <p:spPr bwMode="auto">
          <a:xfrm>
            <a:off x="1524001" y="43934"/>
            <a:ext cx="65" cy="369332"/>
          </a:xfrm>
          <a:prstGeom prst="rect">
            <a:avLst/>
          </a:prstGeom>
          <a:solidFill>
            <a:srgbClr val="FFFFFF"/>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a:defRPr sz="2400">
                <a:solidFill>
                  <a:schemeClr val="tx1"/>
                </a:solidFill>
                <a:latin typeface="Tahoma" panose="020B0604030504040204" pitchFamily="34" charset="0"/>
              </a:defRPr>
            </a:lvl3pPr>
            <a:lvl4pPr>
              <a:defRPr sz="2400">
                <a:solidFill>
                  <a:schemeClr val="tx1"/>
                </a:solidFill>
                <a:latin typeface="Tahoma" panose="020B0604030504040204" pitchFamily="34" charset="0"/>
              </a:defRPr>
            </a:lvl4pPr>
            <a:lvl5pPr>
              <a:defRPr sz="2400">
                <a:solidFill>
                  <a:schemeClr val="tx1"/>
                </a:solidFill>
                <a:latin typeface="Tahoma" panose="020B0604030504040204" pitchFamily="34" charset="0"/>
              </a:defRPr>
            </a:lvl5pPr>
            <a:lvl6pPr eaLnBrk="0" fontAlgn="base" hangingPunct="0">
              <a:spcBef>
                <a:spcPct val="0"/>
              </a:spcBef>
              <a:spcAft>
                <a:spcPct val="0"/>
              </a:spcAft>
              <a:defRPr sz="2400">
                <a:solidFill>
                  <a:schemeClr val="tx1"/>
                </a:solidFill>
                <a:latin typeface="Tahoma" panose="020B0604030504040204" pitchFamily="34" charset="0"/>
              </a:defRPr>
            </a:lvl6pPr>
            <a:lvl7pPr eaLnBrk="0" fontAlgn="base" hangingPunct="0">
              <a:spcBef>
                <a:spcPct val="0"/>
              </a:spcBef>
              <a:spcAft>
                <a:spcPct val="0"/>
              </a:spcAft>
              <a:defRPr sz="2400">
                <a:solidFill>
                  <a:schemeClr val="tx1"/>
                </a:solidFill>
                <a:latin typeface="Tahoma" panose="020B0604030504040204" pitchFamily="34" charset="0"/>
              </a:defRPr>
            </a:lvl7pPr>
            <a:lvl8pPr eaLnBrk="0" fontAlgn="base" hangingPunct="0">
              <a:spcBef>
                <a:spcPct val="0"/>
              </a:spcBef>
              <a:spcAft>
                <a:spcPct val="0"/>
              </a:spcAft>
              <a:defRPr sz="2400">
                <a:solidFill>
                  <a:schemeClr val="tx1"/>
                </a:solidFill>
                <a:latin typeface="Tahoma" panose="020B0604030504040204" pitchFamily="34" charset="0"/>
              </a:defRPr>
            </a:lvl8pPr>
            <a:lvl9pPr eaLnBrk="0" fontAlgn="base" hangingPunct="0">
              <a:spcBef>
                <a:spcPct val="0"/>
              </a:spcBef>
              <a:spcAft>
                <a:spcPct val="0"/>
              </a:spcAft>
              <a:defRPr sz="2400">
                <a:solidFill>
                  <a:schemeClr val="tx1"/>
                </a:solidFill>
                <a:latin typeface="Tahoma" panose="020B0604030504040204" pitchFamily="34" charset="0"/>
              </a:defRPr>
            </a:lvl9pPr>
          </a:lstStyle>
          <a:p>
            <a:pPr defTabSz="914400" eaLnBrk="0" fontAlgn="base" hangingPunct="0">
              <a:spcBef>
                <a:spcPct val="0"/>
              </a:spcBef>
              <a:spcAft>
                <a:spcPct val="0"/>
              </a:spcAft>
            </a:pPr>
            <a:endParaRPr lang="en-US" altLang="en-US" dirty="0"/>
          </a:p>
        </p:txBody>
      </p:sp>
      <p:sp>
        <p:nvSpPr>
          <p:cNvPr id="5" name="TextBox 4">
            <a:extLst>
              <a:ext uri="{FF2B5EF4-FFF2-40B4-BE49-F238E27FC236}">
                <a16:creationId xmlns:a16="http://schemas.microsoft.com/office/drawing/2014/main" id="{91784D72-816A-D467-1C4D-C210538DDD10}"/>
              </a:ext>
            </a:extLst>
          </p:cNvPr>
          <p:cNvSpPr txBox="1"/>
          <p:nvPr/>
        </p:nvSpPr>
        <p:spPr>
          <a:xfrm>
            <a:off x="722878" y="1015893"/>
            <a:ext cx="11373264" cy="5021055"/>
          </a:xfrm>
          <a:prstGeom prst="rect">
            <a:avLst/>
          </a:prstGeom>
          <a:noFill/>
        </p:spPr>
        <p:txBody>
          <a:bodyPr wrap="square">
            <a:spAutoFit/>
          </a:bodyPr>
          <a:lstStyle/>
          <a:p>
            <a:pPr fontAlgn="base">
              <a:lnSpc>
                <a:spcPct val="150000"/>
              </a:lnSpc>
            </a:pPr>
            <a:r>
              <a:rPr lang="en-US" sz="2400" b="1" dirty="0"/>
              <a:t>Z-Score Method</a:t>
            </a:r>
          </a:p>
          <a:p>
            <a:pPr fontAlgn="base">
              <a:lnSpc>
                <a:spcPct val="150000"/>
              </a:lnSpc>
            </a:pPr>
            <a:r>
              <a:rPr lang="en-US" sz="2400" dirty="0"/>
              <a:t>The </a:t>
            </a:r>
            <a:r>
              <a:rPr lang="en-US" sz="2400" u="sng" dirty="0">
                <a:hlinkClick r:id="rId3"/>
              </a:rPr>
              <a:t>Z-score method</a:t>
            </a:r>
            <a:r>
              <a:rPr lang="en-US" sz="2400" dirty="0"/>
              <a:t> calculates the number of standard deviations each data point is from the mean. A Z-score threshold is set, commonly 3, and any data point with a Z-score exceeding this threshold is considered an outlier. This method assumes a normal distribution and is sensitive to extreme values in small datasets.</a:t>
            </a:r>
          </a:p>
          <a:p>
            <a:pPr fontAlgn="base">
              <a:lnSpc>
                <a:spcPct val="150000"/>
              </a:lnSpc>
            </a:pPr>
            <a:r>
              <a:rPr lang="en-US" sz="2400" b="1" dirty="0"/>
              <a:t>Step 1:</a:t>
            </a:r>
            <a:r>
              <a:rPr lang="en-US" sz="2400" dirty="0"/>
              <a:t> Calculate the mean.</a:t>
            </a:r>
          </a:p>
          <a:p>
            <a:pPr fontAlgn="base">
              <a:lnSpc>
                <a:spcPct val="150000"/>
              </a:lnSpc>
            </a:pPr>
            <a:r>
              <a:rPr lang="en-US" sz="2400" b="1" dirty="0"/>
              <a:t>Step 2: </a:t>
            </a:r>
            <a:r>
              <a:rPr lang="en-US" sz="2400" dirty="0"/>
              <a:t>Compute Standard Deviation</a:t>
            </a:r>
          </a:p>
          <a:p>
            <a:pPr fontAlgn="base">
              <a:lnSpc>
                <a:spcPct val="150000"/>
              </a:lnSpc>
            </a:pPr>
            <a:r>
              <a:rPr lang="en-US" sz="2400" b="1" dirty="0"/>
              <a:t>Step 3</a:t>
            </a:r>
            <a:r>
              <a:rPr lang="en-US" sz="2400" dirty="0"/>
              <a:t>:Calculate z-scores</a:t>
            </a:r>
          </a:p>
          <a:p>
            <a:pPr fontAlgn="base">
              <a:lnSpc>
                <a:spcPct val="150000"/>
              </a:lnSpc>
            </a:pPr>
            <a:r>
              <a:rPr lang="en-US" sz="2400" b="1" dirty="0"/>
              <a:t>Step 4</a:t>
            </a:r>
            <a:r>
              <a:rPr lang="en-US" sz="2400" dirty="0"/>
              <a:t>: Apply Threshold Rule: Mild outlier: |Z| &gt; 2 and Extreme outlier: |Z| &gt; 3</a:t>
            </a:r>
          </a:p>
        </p:txBody>
      </p:sp>
    </p:spTree>
    <p:extLst>
      <p:ext uri="{BB962C8B-B14F-4D97-AF65-F5344CB8AC3E}">
        <p14:creationId xmlns:p14="http://schemas.microsoft.com/office/powerpoint/2010/main" val="42576549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38A98-45EF-B35E-AD2A-0326385C3A03}"/>
            </a:ext>
          </a:extLst>
        </p:cNvPr>
        <p:cNvGrpSpPr/>
        <p:nvPr/>
      </p:nvGrpSpPr>
      <p:grpSpPr>
        <a:xfrm>
          <a:off x="0" y="0"/>
          <a:ext cx="0" cy="0"/>
          <a:chOff x="0" y="0"/>
          <a:chExt cx="0" cy="0"/>
        </a:xfrm>
      </p:grpSpPr>
      <p:sp>
        <p:nvSpPr>
          <p:cNvPr id="19458" name="Rectangle 2061">
            <a:extLst>
              <a:ext uri="{FF2B5EF4-FFF2-40B4-BE49-F238E27FC236}">
                <a16:creationId xmlns:a16="http://schemas.microsoft.com/office/drawing/2014/main" id="{A95FE0EE-2298-0263-BCE2-6AA942CA5624}"/>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FAD3C6C-E0AC-437E-B7EB-6E2FC5F1050C}" type="slidenum">
              <a:rPr lang="en-US" altLang="en-US" sz="1200"/>
              <a:pPr>
                <a:spcBef>
                  <a:spcPct val="0"/>
                </a:spcBef>
                <a:buClrTx/>
                <a:buSzTx/>
                <a:buFontTx/>
                <a:buNone/>
              </a:pPr>
              <a:t>21</a:t>
            </a:fld>
            <a:endParaRPr lang="en-US" altLang="en-US" sz="1200"/>
          </a:p>
        </p:txBody>
      </p:sp>
      <p:sp>
        <p:nvSpPr>
          <p:cNvPr id="3" name="Rectangle 5">
            <a:extLst>
              <a:ext uri="{FF2B5EF4-FFF2-40B4-BE49-F238E27FC236}">
                <a16:creationId xmlns:a16="http://schemas.microsoft.com/office/drawing/2014/main" id="{64C171DA-0805-7BAB-A7A7-18FF5E298252}"/>
              </a:ext>
            </a:extLst>
          </p:cNvPr>
          <p:cNvSpPr>
            <a:spLocks noChangeArrowheads="1"/>
          </p:cNvSpPr>
          <p:nvPr/>
        </p:nvSpPr>
        <p:spPr bwMode="auto">
          <a:xfrm>
            <a:off x="1524001" y="43934"/>
            <a:ext cx="65" cy="369332"/>
          </a:xfrm>
          <a:prstGeom prst="rect">
            <a:avLst/>
          </a:prstGeom>
          <a:solidFill>
            <a:srgbClr val="FFFFFF"/>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a:defRPr sz="2400">
                <a:solidFill>
                  <a:schemeClr val="tx1"/>
                </a:solidFill>
                <a:latin typeface="Tahoma" panose="020B0604030504040204" pitchFamily="34" charset="0"/>
              </a:defRPr>
            </a:lvl3pPr>
            <a:lvl4pPr>
              <a:defRPr sz="2400">
                <a:solidFill>
                  <a:schemeClr val="tx1"/>
                </a:solidFill>
                <a:latin typeface="Tahoma" panose="020B0604030504040204" pitchFamily="34" charset="0"/>
              </a:defRPr>
            </a:lvl4pPr>
            <a:lvl5pPr>
              <a:defRPr sz="2400">
                <a:solidFill>
                  <a:schemeClr val="tx1"/>
                </a:solidFill>
                <a:latin typeface="Tahoma" panose="020B0604030504040204" pitchFamily="34" charset="0"/>
              </a:defRPr>
            </a:lvl5pPr>
            <a:lvl6pPr eaLnBrk="0" fontAlgn="base" hangingPunct="0">
              <a:spcBef>
                <a:spcPct val="0"/>
              </a:spcBef>
              <a:spcAft>
                <a:spcPct val="0"/>
              </a:spcAft>
              <a:defRPr sz="2400">
                <a:solidFill>
                  <a:schemeClr val="tx1"/>
                </a:solidFill>
                <a:latin typeface="Tahoma" panose="020B0604030504040204" pitchFamily="34" charset="0"/>
              </a:defRPr>
            </a:lvl6pPr>
            <a:lvl7pPr eaLnBrk="0" fontAlgn="base" hangingPunct="0">
              <a:spcBef>
                <a:spcPct val="0"/>
              </a:spcBef>
              <a:spcAft>
                <a:spcPct val="0"/>
              </a:spcAft>
              <a:defRPr sz="2400">
                <a:solidFill>
                  <a:schemeClr val="tx1"/>
                </a:solidFill>
                <a:latin typeface="Tahoma" panose="020B0604030504040204" pitchFamily="34" charset="0"/>
              </a:defRPr>
            </a:lvl7pPr>
            <a:lvl8pPr eaLnBrk="0" fontAlgn="base" hangingPunct="0">
              <a:spcBef>
                <a:spcPct val="0"/>
              </a:spcBef>
              <a:spcAft>
                <a:spcPct val="0"/>
              </a:spcAft>
              <a:defRPr sz="2400">
                <a:solidFill>
                  <a:schemeClr val="tx1"/>
                </a:solidFill>
                <a:latin typeface="Tahoma" panose="020B0604030504040204" pitchFamily="34" charset="0"/>
              </a:defRPr>
            </a:lvl8pPr>
            <a:lvl9pPr eaLnBrk="0" fontAlgn="base" hangingPunct="0">
              <a:spcBef>
                <a:spcPct val="0"/>
              </a:spcBef>
              <a:spcAft>
                <a:spcPct val="0"/>
              </a:spcAft>
              <a:defRPr sz="2400">
                <a:solidFill>
                  <a:schemeClr val="tx1"/>
                </a:solidFill>
                <a:latin typeface="Tahoma" panose="020B0604030504040204" pitchFamily="34" charset="0"/>
              </a:defRPr>
            </a:lvl9pPr>
          </a:lstStyle>
          <a:p>
            <a:pPr defTabSz="914400" eaLnBrk="0" fontAlgn="base" hangingPunct="0">
              <a:spcBef>
                <a:spcPct val="0"/>
              </a:spcBef>
              <a:spcAft>
                <a:spcPct val="0"/>
              </a:spcAft>
            </a:pPr>
            <a:endParaRPr lang="en-US" altLang="en-US" dirty="0"/>
          </a:p>
        </p:txBody>
      </p:sp>
      <p:pic>
        <p:nvPicPr>
          <p:cNvPr id="4" name="Picture 3">
            <a:extLst>
              <a:ext uri="{FF2B5EF4-FFF2-40B4-BE49-F238E27FC236}">
                <a16:creationId xmlns:a16="http://schemas.microsoft.com/office/drawing/2014/main" id="{265B7D5C-924B-4722-C6D8-B573F68A1256}"/>
              </a:ext>
            </a:extLst>
          </p:cNvPr>
          <p:cNvPicPr>
            <a:picLocks noChangeAspect="1"/>
          </p:cNvPicPr>
          <p:nvPr/>
        </p:nvPicPr>
        <p:blipFill>
          <a:blip r:embed="rId3"/>
          <a:stretch>
            <a:fillRect/>
          </a:stretch>
        </p:blipFill>
        <p:spPr>
          <a:xfrm>
            <a:off x="1013703" y="1309391"/>
            <a:ext cx="10164594" cy="5320009"/>
          </a:xfrm>
          <a:prstGeom prst="rect">
            <a:avLst/>
          </a:prstGeom>
        </p:spPr>
      </p:pic>
      <p:sp>
        <p:nvSpPr>
          <p:cNvPr id="8" name="Rectangle 2">
            <a:extLst>
              <a:ext uri="{FF2B5EF4-FFF2-40B4-BE49-F238E27FC236}">
                <a16:creationId xmlns:a16="http://schemas.microsoft.com/office/drawing/2014/main" id="{E1886E10-4464-F69D-6378-63D38F8FE60E}"/>
              </a:ext>
            </a:extLst>
          </p:cNvPr>
          <p:cNvSpPr txBox="1">
            <a:spLocks noChangeArrowheads="1"/>
          </p:cNvSpPr>
          <p:nvPr/>
        </p:nvSpPr>
        <p:spPr>
          <a:xfrm>
            <a:off x="4136571" y="413266"/>
            <a:ext cx="4772231" cy="609600"/>
          </a:xfrm>
          <a:prstGeom prst="rect">
            <a:avLst/>
          </a:prstGeom>
        </p:spPr>
        <p:txBody>
          <a:bodyPr vert="horz" lIns="91440" tIns="45720" rIns="91440" bIns="45720" rtlCol="0" anchor="ctr">
            <a:normAutofit fontScale="6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50000"/>
              </a:lnSpc>
            </a:pPr>
            <a:r>
              <a:rPr lang="en-US" b="1" dirty="0"/>
              <a:t>Z-Score Method</a:t>
            </a:r>
          </a:p>
        </p:txBody>
      </p:sp>
    </p:spTree>
    <p:extLst>
      <p:ext uri="{BB962C8B-B14F-4D97-AF65-F5344CB8AC3E}">
        <p14:creationId xmlns:p14="http://schemas.microsoft.com/office/powerpoint/2010/main" val="3231086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7CF99-851D-9B5B-2448-D974E1625E94}"/>
            </a:ext>
          </a:extLst>
        </p:cNvPr>
        <p:cNvGrpSpPr/>
        <p:nvPr/>
      </p:nvGrpSpPr>
      <p:grpSpPr>
        <a:xfrm>
          <a:off x="0" y="0"/>
          <a:ext cx="0" cy="0"/>
          <a:chOff x="0" y="0"/>
          <a:chExt cx="0" cy="0"/>
        </a:xfrm>
      </p:grpSpPr>
      <p:sp>
        <p:nvSpPr>
          <p:cNvPr id="19458" name="Rectangle 2061">
            <a:extLst>
              <a:ext uri="{FF2B5EF4-FFF2-40B4-BE49-F238E27FC236}">
                <a16:creationId xmlns:a16="http://schemas.microsoft.com/office/drawing/2014/main" id="{E130266E-79C0-AFB3-2D27-C29A3EE6FAFA}"/>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FAD3C6C-E0AC-437E-B7EB-6E2FC5F1050C}" type="slidenum">
              <a:rPr lang="en-US" altLang="en-US" sz="1200"/>
              <a:pPr>
                <a:spcBef>
                  <a:spcPct val="0"/>
                </a:spcBef>
                <a:buClrTx/>
                <a:buSzTx/>
                <a:buFontTx/>
                <a:buNone/>
              </a:pPr>
              <a:t>22</a:t>
            </a:fld>
            <a:endParaRPr lang="en-US" altLang="en-US" sz="1200"/>
          </a:p>
        </p:txBody>
      </p:sp>
      <p:sp>
        <p:nvSpPr>
          <p:cNvPr id="19459" name="Rectangle 2">
            <a:extLst>
              <a:ext uri="{FF2B5EF4-FFF2-40B4-BE49-F238E27FC236}">
                <a16:creationId xmlns:a16="http://schemas.microsoft.com/office/drawing/2014/main" id="{A3A0D192-22F5-3D2F-75A1-7DB3F4BE7F76}"/>
              </a:ext>
            </a:extLst>
          </p:cNvPr>
          <p:cNvSpPr>
            <a:spLocks noGrp="1" noChangeArrowheads="1"/>
          </p:cNvSpPr>
          <p:nvPr>
            <p:ph type="title"/>
          </p:nvPr>
        </p:nvSpPr>
        <p:spPr>
          <a:xfrm>
            <a:off x="3230880" y="136525"/>
            <a:ext cx="7654834" cy="276741"/>
          </a:xfrm>
        </p:spPr>
        <p:txBody>
          <a:bodyPr>
            <a:normAutofit fontScale="90000"/>
          </a:bodyPr>
          <a:lstStyle/>
          <a:p>
            <a:r>
              <a:rPr lang="en-US" b="1" dirty="0"/>
              <a:t>Five Number Summary and Box Plot</a:t>
            </a:r>
          </a:p>
        </p:txBody>
      </p:sp>
      <p:sp>
        <p:nvSpPr>
          <p:cNvPr id="3" name="Rectangle 5">
            <a:extLst>
              <a:ext uri="{FF2B5EF4-FFF2-40B4-BE49-F238E27FC236}">
                <a16:creationId xmlns:a16="http://schemas.microsoft.com/office/drawing/2014/main" id="{BF0E3D2B-BFEF-AFF4-6082-169B880065B2}"/>
              </a:ext>
            </a:extLst>
          </p:cNvPr>
          <p:cNvSpPr>
            <a:spLocks noChangeArrowheads="1"/>
          </p:cNvSpPr>
          <p:nvPr/>
        </p:nvSpPr>
        <p:spPr bwMode="auto">
          <a:xfrm>
            <a:off x="1524001" y="43934"/>
            <a:ext cx="65" cy="369332"/>
          </a:xfrm>
          <a:prstGeom prst="rect">
            <a:avLst/>
          </a:prstGeom>
          <a:solidFill>
            <a:srgbClr val="FFFFFF"/>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a:defRPr sz="2400">
                <a:solidFill>
                  <a:schemeClr val="tx1"/>
                </a:solidFill>
                <a:latin typeface="Tahoma" panose="020B0604030504040204" pitchFamily="34" charset="0"/>
              </a:defRPr>
            </a:lvl3pPr>
            <a:lvl4pPr>
              <a:defRPr sz="2400">
                <a:solidFill>
                  <a:schemeClr val="tx1"/>
                </a:solidFill>
                <a:latin typeface="Tahoma" panose="020B0604030504040204" pitchFamily="34" charset="0"/>
              </a:defRPr>
            </a:lvl4pPr>
            <a:lvl5pPr>
              <a:defRPr sz="2400">
                <a:solidFill>
                  <a:schemeClr val="tx1"/>
                </a:solidFill>
                <a:latin typeface="Tahoma" panose="020B0604030504040204" pitchFamily="34" charset="0"/>
              </a:defRPr>
            </a:lvl5pPr>
            <a:lvl6pPr eaLnBrk="0" fontAlgn="base" hangingPunct="0">
              <a:spcBef>
                <a:spcPct val="0"/>
              </a:spcBef>
              <a:spcAft>
                <a:spcPct val="0"/>
              </a:spcAft>
              <a:defRPr sz="2400">
                <a:solidFill>
                  <a:schemeClr val="tx1"/>
                </a:solidFill>
                <a:latin typeface="Tahoma" panose="020B0604030504040204" pitchFamily="34" charset="0"/>
              </a:defRPr>
            </a:lvl6pPr>
            <a:lvl7pPr eaLnBrk="0" fontAlgn="base" hangingPunct="0">
              <a:spcBef>
                <a:spcPct val="0"/>
              </a:spcBef>
              <a:spcAft>
                <a:spcPct val="0"/>
              </a:spcAft>
              <a:defRPr sz="2400">
                <a:solidFill>
                  <a:schemeClr val="tx1"/>
                </a:solidFill>
                <a:latin typeface="Tahoma" panose="020B0604030504040204" pitchFamily="34" charset="0"/>
              </a:defRPr>
            </a:lvl7pPr>
            <a:lvl8pPr eaLnBrk="0" fontAlgn="base" hangingPunct="0">
              <a:spcBef>
                <a:spcPct val="0"/>
              </a:spcBef>
              <a:spcAft>
                <a:spcPct val="0"/>
              </a:spcAft>
              <a:defRPr sz="2400">
                <a:solidFill>
                  <a:schemeClr val="tx1"/>
                </a:solidFill>
                <a:latin typeface="Tahoma" panose="020B0604030504040204" pitchFamily="34" charset="0"/>
              </a:defRPr>
            </a:lvl8pPr>
            <a:lvl9pPr eaLnBrk="0" fontAlgn="base" hangingPunct="0">
              <a:spcBef>
                <a:spcPct val="0"/>
              </a:spcBef>
              <a:spcAft>
                <a:spcPct val="0"/>
              </a:spcAft>
              <a:defRPr sz="2400">
                <a:solidFill>
                  <a:schemeClr val="tx1"/>
                </a:solidFill>
                <a:latin typeface="Tahoma" panose="020B0604030504040204" pitchFamily="34" charset="0"/>
              </a:defRPr>
            </a:lvl9pPr>
          </a:lstStyle>
          <a:p>
            <a:pPr defTabSz="914400" eaLnBrk="0" fontAlgn="base" hangingPunct="0">
              <a:spcBef>
                <a:spcPct val="0"/>
              </a:spcBef>
              <a:spcAft>
                <a:spcPct val="0"/>
              </a:spcAft>
            </a:pPr>
            <a:endParaRPr lang="en-US" altLang="en-US" dirty="0"/>
          </a:p>
        </p:txBody>
      </p:sp>
      <p:sp>
        <p:nvSpPr>
          <p:cNvPr id="5" name="TextBox 4">
            <a:extLst>
              <a:ext uri="{FF2B5EF4-FFF2-40B4-BE49-F238E27FC236}">
                <a16:creationId xmlns:a16="http://schemas.microsoft.com/office/drawing/2014/main" id="{6D237BCE-997E-A286-7156-A6CDACFDF3F2}"/>
              </a:ext>
            </a:extLst>
          </p:cNvPr>
          <p:cNvSpPr txBox="1"/>
          <p:nvPr/>
        </p:nvSpPr>
        <p:spPr>
          <a:xfrm>
            <a:off x="392146" y="746125"/>
            <a:ext cx="11599494" cy="7560211"/>
          </a:xfrm>
          <a:prstGeom prst="rect">
            <a:avLst/>
          </a:prstGeom>
          <a:noFill/>
        </p:spPr>
        <p:txBody>
          <a:bodyPr wrap="square">
            <a:spAutoFit/>
          </a:bodyPr>
          <a:lstStyle/>
          <a:p>
            <a:pPr fontAlgn="base">
              <a:lnSpc>
                <a:spcPct val="150000"/>
              </a:lnSpc>
            </a:pPr>
            <a:r>
              <a:rPr lang="en-US" sz="2200" dirty="0"/>
              <a:t>One of the most popular ways to detect the outliers in a dataset is by using boxplot visualization </a:t>
            </a:r>
          </a:p>
          <a:p>
            <a:pPr lvl="0" defTabSz="914400" eaLnBrk="0" fontAlgn="base" hangingPunct="0">
              <a:lnSpc>
                <a:spcPct val="150000"/>
              </a:lnSpc>
              <a:spcBef>
                <a:spcPct val="0"/>
              </a:spcBef>
              <a:spcAft>
                <a:spcPct val="0"/>
              </a:spcAft>
            </a:pPr>
            <a:r>
              <a:rPr lang="en-US" altLang="en-US" sz="2200" dirty="0">
                <a:solidFill>
                  <a:srgbClr val="242424"/>
                </a:solidFill>
                <a:latin typeface="source-serif-pro"/>
              </a:rPr>
              <a:t>Suppose, we have a distribution and need to detect and remove the outliers.</a:t>
            </a:r>
            <a:endParaRPr lang="en-US" altLang="en-US" sz="2200" dirty="0"/>
          </a:p>
          <a:p>
            <a:pPr lvl="0" defTabSz="914400" eaLnBrk="0" fontAlgn="base" hangingPunct="0">
              <a:lnSpc>
                <a:spcPct val="150000"/>
              </a:lnSpc>
              <a:spcBef>
                <a:spcPct val="0"/>
              </a:spcBef>
              <a:spcAft>
                <a:spcPct val="0"/>
              </a:spcAft>
            </a:pPr>
            <a:r>
              <a:rPr lang="en-US" altLang="en-US" sz="2200" b="1" dirty="0" err="1">
                <a:solidFill>
                  <a:srgbClr val="242424"/>
                </a:solidFill>
                <a:latin typeface="source-code-pro"/>
              </a:rPr>
              <a:t>data_distribution</a:t>
            </a:r>
            <a:r>
              <a:rPr lang="en-US" altLang="en-US" sz="2200" b="1" dirty="0">
                <a:solidFill>
                  <a:srgbClr val="242424"/>
                </a:solidFill>
                <a:latin typeface="source-code-pro"/>
              </a:rPr>
              <a:t> = [1, 2, 2, 2, 3, 3, 4, 5, 5, 5, 6, 6, 6, 6, 7, 8, 8, 9,27]</a:t>
            </a:r>
          </a:p>
          <a:p>
            <a:pPr lvl="0" defTabSz="914400" eaLnBrk="0" fontAlgn="base" hangingPunct="0">
              <a:lnSpc>
                <a:spcPct val="150000"/>
              </a:lnSpc>
              <a:spcBef>
                <a:spcPct val="0"/>
              </a:spcBef>
              <a:spcAft>
                <a:spcPct val="0"/>
              </a:spcAft>
            </a:pPr>
            <a:r>
              <a:rPr lang="en-US" altLang="en-US" sz="2200" dirty="0">
                <a:latin typeface="Arial" panose="020B0604020202020204" pitchFamily="34" charset="0"/>
              </a:rPr>
              <a:t>The 5 number summary which is: minimum, first quartile, median, third quartile, and maximum are as follows :</a:t>
            </a:r>
          </a:p>
          <a:p>
            <a:pPr>
              <a:lnSpc>
                <a:spcPct val="150000"/>
              </a:lnSpc>
            </a:pPr>
            <a:r>
              <a:rPr lang="en-US" sz="2200" b="1" dirty="0"/>
              <a:t>Minimum:</a:t>
            </a:r>
            <a:r>
              <a:rPr lang="en-US" sz="2200" dirty="0"/>
              <a:t> It represents the minimum value of the distribution. In this case, it is 1</a:t>
            </a:r>
          </a:p>
          <a:p>
            <a:pPr>
              <a:lnSpc>
                <a:spcPct val="150000"/>
              </a:lnSpc>
            </a:pPr>
            <a:r>
              <a:rPr lang="en-US" sz="2200" b="1" dirty="0"/>
              <a:t>first quartile: </a:t>
            </a:r>
            <a:r>
              <a:rPr lang="en-US" sz="2200" dirty="0"/>
              <a:t>It is also known as the 25 percentile. A percentile is a value below which a certain percentage of the observations lie. Here, the first quartile is 3 which means 25% of the observations in the distribution lie below the value 3.</a:t>
            </a:r>
          </a:p>
          <a:p>
            <a:pPr>
              <a:lnSpc>
                <a:spcPct val="150000"/>
              </a:lnSpc>
            </a:pPr>
            <a:r>
              <a:rPr lang="en-US" sz="2200" b="1" dirty="0"/>
              <a:t>Median: </a:t>
            </a:r>
            <a:r>
              <a:rPr lang="en-US" sz="2200" dirty="0"/>
              <a:t>A median is a middle number in a sorted list of numbers. In this case, the median is 6.5.</a:t>
            </a:r>
          </a:p>
          <a:p>
            <a:pPr>
              <a:lnSpc>
                <a:spcPct val="150000"/>
              </a:lnSpc>
            </a:pPr>
            <a:r>
              <a:rPr lang="en-US" sz="2200" b="1" dirty="0"/>
              <a:t>third quartile: </a:t>
            </a:r>
            <a:r>
              <a:rPr lang="en-US" sz="2200" dirty="0"/>
              <a:t>It is also known as the 75 percentile. Here, the third quartile is 5 which means 75% of the observations in the distribution lie below the value 5.</a:t>
            </a:r>
          </a:p>
          <a:p>
            <a:pPr>
              <a:lnSpc>
                <a:spcPct val="150000"/>
              </a:lnSpc>
            </a:pPr>
            <a:r>
              <a:rPr lang="en-US" sz="2200" b="1" dirty="0"/>
              <a:t>Maximum:</a:t>
            </a:r>
            <a:r>
              <a:rPr lang="en-US" sz="2200" dirty="0"/>
              <a:t> It represents the maximum value of the distribution. In this case, it is 27</a:t>
            </a:r>
          </a:p>
          <a:p>
            <a:pPr lvl="0" defTabSz="914400" eaLnBrk="0" fontAlgn="base" hangingPunct="0">
              <a:spcBef>
                <a:spcPct val="0"/>
              </a:spcBef>
              <a:spcAft>
                <a:spcPct val="0"/>
              </a:spcAft>
            </a:pPr>
            <a:endParaRPr lang="en-US" altLang="en-US" sz="2400" dirty="0">
              <a:latin typeface="Arial" panose="020B0604020202020204" pitchFamily="34" charset="0"/>
            </a:endParaRPr>
          </a:p>
          <a:p>
            <a:pPr fontAlgn="base">
              <a:lnSpc>
                <a:spcPct val="150000"/>
              </a:lnSpc>
            </a:pPr>
            <a:endParaRPr lang="en-US" sz="2400" dirty="0"/>
          </a:p>
        </p:txBody>
      </p:sp>
      <p:sp>
        <p:nvSpPr>
          <p:cNvPr id="2" name="Rectangle 1">
            <a:extLst>
              <a:ext uri="{FF2B5EF4-FFF2-40B4-BE49-F238E27FC236}">
                <a16:creationId xmlns:a16="http://schemas.microsoft.com/office/drawing/2014/main" id="{88172504-97A3-0F47-7DF9-073A4E184C7E}"/>
              </a:ext>
            </a:extLst>
          </p:cNvPr>
          <p:cNvSpPr>
            <a:spLocks noChangeArrowheads="1"/>
          </p:cNvSpPr>
          <p:nvPr/>
        </p:nvSpPr>
        <p:spPr bwMode="auto">
          <a:xfrm>
            <a:off x="0" y="43934"/>
            <a:ext cx="184731" cy="369332"/>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68195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7A017-C4C6-F8C6-8E91-6B07D70D5A63}"/>
            </a:ext>
          </a:extLst>
        </p:cNvPr>
        <p:cNvGrpSpPr/>
        <p:nvPr/>
      </p:nvGrpSpPr>
      <p:grpSpPr>
        <a:xfrm>
          <a:off x="0" y="0"/>
          <a:ext cx="0" cy="0"/>
          <a:chOff x="0" y="0"/>
          <a:chExt cx="0" cy="0"/>
        </a:xfrm>
      </p:grpSpPr>
      <p:sp>
        <p:nvSpPr>
          <p:cNvPr id="19458" name="Rectangle 2061">
            <a:extLst>
              <a:ext uri="{FF2B5EF4-FFF2-40B4-BE49-F238E27FC236}">
                <a16:creationId xmlns:a16="http://schemas.microsoft.com/office/drawing/2014/main" id="{BEB2C241-C1A2-7D90-B604-DC37C52EC72D}"/>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FAD3C6C-E0AC-437E-B7EB-6E2FC5F1050C}" type="slidenum">
              <a:rPr lang="en-US" altLang="en-US" sz="1200"/>
              <a:pPr>
                <a:spcBef>
                  <a:spcPct val="0"/>
                </a:spcBef>
                <a:buClrTx/>
                <a:buSzTx/>
                <a:buFontTx/>
                <a:buNone/>
              </a:pPr>
              <a:t>23</a:t>
            </a:fld>
            <a:endParaRPr lang="en-US" altLang="en-US" sz="1200"/>
          </a:p>
        </p:txBody>
      </p:sp>
      <p:sp>
        <p:nvSpPr>
          <p:cNvPr id="19459" name="Rectangle 2">
            <a:extLst>
              <a:ext uri="{FF2B5EF4-FFF2-40B4-BE49-F238E27FC236}">
                <a16:creationId xmlns:a16="http://schemas.microsoft.com/office/drawing/2014/main" id="{9E86FED7-F7BF-569A-D2D9-5E6D69F3BD18}"/>
              </a:ext>
            </a:extLst>
          </p:cNvPr>
          <p:cNvSpPr>
            <a:spLocks noGrp="1" noChangeArrowheads="1"/>
          </p:cNvSpPr>
          <p:nvPr>
            <p:ph type="title"/>
          </p:nvPr>
        </p:nvSpPr>
        <p:spPr>
          <a:xfrm>
            <a:off x="3230880" y="136525"/>
            <a:ext cx="7654834" cy="276741"/>
          </a:xfrm>
        </p:spPr>
        <p:txBody>
          <a:bodyPr>
            <a:normAutofit fontScale="90000"/>
          </a:bodyPr>
          <a:lstStyle/>
          <a:p>
            <a:r>
              <a:rPr lang="en-US" b="1" dirty="0"/>
              <a:t>Five Number Summary and Box Plot</a:t>
            </a:r>
          </a:p>
        </p:txBody>
      </p:sp>
      <p:sp>
        <p:nvSpPr>
          <p:cNvPr id="3" name="Rectangle 5">
            <a:extLst>
              <a:ext uri="{FF2B5EF4-FFF2-40B4-BE49-F238E27FC236}">
                <a16:creationId xmlns:a16="http://schemas.microsoft.com/office/drawing/2014/main" id="{D65544F5-AA22-0834-0F31-B193FD468827}"/>
              </a:ext>
            </a:extLst>
          </p:cNvPr>
          <p:cNvSpPr>
            <a:spLocks noChangeArrowheads="1"/>
          </p:cNvSpPr>
          <p:nvPr/>
        </p:nvSpPr>
        <p:spPr bwMode="auto">
          <a:xfrm>
            <a:off x="1524001" y="43934"/>
            <a:ext cx="65" cy="369332"/>
          </a:xfrm>
          <a:prstGeom prst="rect">
            <a:avLst/>
          </a:prstGeom>
          <a:solidFill>
            <a:srgbClr val="FFFFFF"/>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a:defRPr sz="2400">
                <a:solidFill>
                  <a:schemeClr val="tx1"/>
                </a:solidFill>
                <a:latin typeface="Tahoma" panose="020B0604030504040204" pitchFamily="34" charset="0"/>
              </a:defRPr>
            </a:lvl3pPr>
            <a:lvl4pPr>
              <a:defRPr sz="2400">
                <a:solidFill>
                  <a:schemeClr val="tx1"/>
                </a:solidFill>
                <a:latin typeface="Tahoma" panose="020B0604030504040204" pitchFamily="34" charset="0"/>
              </a:defRPr>
            </a:lvl4pPr>
            <a:lvl5pPr>
              <a:defRPr sz="2400">
                <a:solidFill>
                  <a:schemeClr val="tx1"/>
                </a:solidFill>
                <a:latin typeface="Tahoma" panose="020B0604030504040204" pitchFamily="34" charset="0"/>
              </a:defRPr>
            </a:lvl5pPr>
            <a:lvl6pPr eaLnBrk="0" fontAlgn="base" hangingPunct="0">
              <a:spcBef>
                <a:spcPct val="0"/>
              </a:spcBef>
              <a:spcAft>
                <a:spcPct val="0"/>
              </a:spcAft>
              <a:defRPr sz="2400">
                <a:solidFill>
                  <a:schemeClr val="tx1"/>
                </a:solidFill>
                <a:latin typeface="Tahoma" panose="020B0604030504040204" pitchFamily="34" charset="0"/>
              </a:defRPr>
            </a:lvl6pPr>
            <a:lvl7pPr eaLnBrk="0" fontAlgn="base" hangingPunct="0">
              <a:spcBef>
                <a:spcPct val="0"/>
              </a:spcBef>
              <a:spcAft>
                <a:spcPct val="0"/>
              </a:spcAft>
              <a:defRPr sz="2400">
                <a:solidFill>
                  <a:schemeClr val="tx1"/>
                </a:solidFill>
                <a:latin typeface="Tahoma" panose="020B0604030504040204" pitchFamily="34" charset="0"/>
              </a:defRPr>
            </a:lvl7pPr>
            <a:lvl8pPr eaLnBrk="0" fontAlgn="base" hangingPunct="0">
              <a:spcBef>
                <a:spcPct val="0"/>
              </a:spcBef>
              <a:spcAft>
                <a:spcPct val="0"/>
              </a:spcAft>
              <a:defRPr sz="2400">
                <a:solidFill>
                  <a:schemeClr val="tx1"/>
                </a:solidFill>
                <a:latin typeface="Tahoma" panose="020B0604030504040204" pitchFamily="34" charset="0"/>
              </a:defRPr>
            </a:lvl8pPr>
            <a:lvl9pPr eaLnBrk="0" fontAlgn="base" hangingPunct="0">
              <a:spcBef>
                <a:spcPct val="0"/>
              </a:spcBef>
              <a:spcAft>
                <a:spcPct val="0"/>
              </a:spcAft>
              <a:defRPr sz="2400">
                <a:solidFill>
                  <a:schemeClr val="tx1"/>
                </a:solidFill>
                <a:latin typeface="Tahoma" panose="020B0604030504040204" pitchFamily="34" charset="0"/>
              </a:defRPr>
            </a:lvl9pPr>
          </a:lstStyle>
          <a:p>
            <a:pPr defTabSz="914400" eaLnBrk="0" fontAlgn="base" hangingPunct="0">
              <a:spcBef>
                <a:spcPct val="0"/>
              </a:spcBef>
              <a:spcAft>
                <a:spcPct val="0"/>
              </a:spcAft>
            </a:pPr>
            <a:endParaRPr lang="en-US" altLang="en-US" dirty="0"/>
          </a:p>
        </p:txBody>
      </p:sp>
      <p:sp>
        <p:nvSpPr>
          <p:cNvPr id="2" name="Rectangle 1">
            <a:extLst>
              <a:ext uri="{FF2B5EF4-FFF2-40B4-BE49-F238E27FC236}">
                <a16:creationId xmlns:a16="http://schemas.microsoft.com/office/drawing/2014/main" id="{A9135B06-C15A-5E00-0B20-30A7A75E3558}"/>
              </a:ext>
            </a:extLst>
          </p:cNvPr>
          <p:cNvSpPr>
            <a:spLocks noChangeArrowheads="1"/>
          </p:cNvSpPr>
          <p:nvPr/>
        </p:nvSpPr>
        <p:spPr bwMode="auto">
          <a:xfrm>
            <a:off x="0" y="43934"/>
            <a:ext cx="184731" cy="369332"/>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2770EABB-6F99-416D-24F8-85703E4F6A49}"/>
              </a:ext>
            </a:extLst>
          </p:cNvPr>
          <p:cNvPicPr>
            <a:picLocks noChangeAspect="1"/>
          </p:cNvPicPr>
          <p:nvPr/>
        </p:nvPicPr>
        <p:blipFill>
          <a:blip r:embed="rId3"/>
          <a:stretch>
            <a:fillRect/>
          </a:stretch>
        </p:blipFill>
        <p:spPr>
          <a:xfrm>
            <a:off x="375439" y="847364"/>
            <a:ext cx="11441122" cy="5163271"/>
          </a:xfrm>
          <a:prstGeom prst="rect">
            <a:avLst/>
          </a:prstGeom>
        </p:spPr>
      </p:pic>
    </p:spTree>
    <p:extLst>
      <p:ext uri="{BB962C8B-B14F-4D97-AF65-F5344CB8AC3E}">
        <p14:creationId xmlns:p14="http://schemas.microsoft.com/office/powerpoint/2010/main" val="2326566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C016C-0706-1A58-968B-54287094A309}"/>
            </a:ext>
          </a:extLst>
        </p:cNvPr>
        <p:cNvGrpSpPr/>
        <p:nvPr/>
      </p:nvGrpSpPr>
      <p:grpSpPr>
        <a:xfrm>
          <a:off x="0" y="0"/>
          <a:ext cx="0" cy="0"/>
          <a:chOff x="0" y="0"/>
          <a:chExt cx="0" cy="0"/>
        </a:xfrm>
      </p:grpSpPr>
      <p:sp>
        <p:nvSpPr>
          <p:cNvPr id="19458" name="Rectangle 2061">
            <a:extLst>
              <a:ext uri="{FF2B5EF4-FFF2-40B4-BE49-F238E27FC236}">
                <a16:creationId xmlns:a16="http://schemas.microsoft.com/office/drawing/2014/main" id="{0825264F-8676-9C42-F522-F450A36EB3F1}"/>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FAD3C6C-E0AC-437E-B7EB-6E2FC5F1050C}" type="slidenum">
              <a:rPr lang="en-US" altLang="en-US" sz="1200"/>
              <a:pPr>
                <a:spcBef>
                  <a:spcPct val="0"/>
                </a:spcBef>
                <a:buClrTx/>
                <a:buSzTx/>
                <a:buFontTx/>
                <a:buNone/>
              </a:pPr>
              <a:t>24</a:t>
            </a:fld>
            <a:endParaRPr lang="en-US" altLang="en-US" sz="1200"/>
          </a:p>
        </p:txBody>
      </p:sp>
      <p:sp>
        <p:nvSpPr>
          <p:cNvPr id="19459" name="Rectangle 2">
            <a:extLst>
              <a:ext uri="{FF2B5EF4-FFF2-40B4-BE49-F238E27FC236}">
                <a16:creationId xmlns:a16="http://schemas.microsoft.com/office/drawing/2014/main" id="{1AFE7D2F-C76B-1877-E527-67FB59846B25}"/>
              </a:ext>
            </a:extLst>
          </p:cNvPr>
          <p:cNvSpPr>
            <a:spLocks noGrp="1" noChangeArrowheads="1"/>
          </p:cNvSpPr>
          <p:nvPr>
            <p:ph type="title"/>
          </p:nvPr>
        </p:nvSpPr>
        <p:spPr>
          <a:xfrm>
            <a:off x="2403566" y="228600"/>
            <a:ext cx="7602583" cy="609600"/>
          </a:xfrm>
        </p:spPr>
        <p:txBody>
          <a:bodyPr>
            <a:normAutofit fontScale="90000"/>
          </a:bodyPr>
          <a:lstStyle/>
          <a:p>
            <a:pPr lvl="0"/>
            <a:r>
              <a:rPr lang="en-US" dirty="0"/>
              <a:t>The</a:t>
            </a:r>
            <a:r>
              <a:rPr lang="en-US" u="sng" dirty="0"/>
              <a:t> </a:t>
            </a:r>
            <a:r>
              <a:rPr lang="en-US" dirty="0"/>
              <a:t>Interquartile Range (IQR)</a:t>
            </a:r>
            <a:endParaRPr lang="en-US" altLang="en-US" dirty="0">
              <a:solidFill>
                <a:srgbClr val="273239"/>
              </a:solidFill>
              <a:latin typeface="Nunito" pitchFamily="2" charset="0"/>
            </a:endParaRPr>
          </a:p>
        </p:txBody>
      </p:sp>
      <p:sp>
        <p:nvSpPr>
          <p:cNvPr id="3" name="Rectangle 5">
            <a:extLst>
              <a:ext uri="{FF2B5EF4-FFF2-40B4-BE49-F238E27FC236}">
                <a16:creationId xmlns:a16="http://schemas.microsoft.com/office/drawing/2014/main" id="{345DAA8C-BF7C-C08A-C66F-43F0A2A19495}"/>
              </a:ext>
            </a:extLst>
          </p:cNvPr>
          <p:cNvSpPr>
            <a:spLocks noChangeArrowheads="1"/>
          </p:cNvSpPr>
          <p:nvPr/>
        </p:nvSpPr>
        <p:spPr bwMode="auto">
          <a:xfrm>
            <a:off x="1524001" y="43934"/>
            <a:ext cx="65" cy="369332"/>
          </a:xfrm>
          <a:prstGeom prst="rect">
            <a:avLst/>
          </a:prstGeom>
          <a:solidFill>
            <a:srgbClr val="FFFFFF"/>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a:defRPr sz="2400">
                <a:solidFill>
                  <a:schemeClr val="tx1"/>
                </a:solidFill>
                <a:latin typeface="Tahoma" panose="020B0604030504040204" pitchFamily="34" charset="0"/>
              </a:defRPr>
            </a:lvl3pPr>
            <a:lvl4pPr>
              <a:defRPr sz="2400">
                <a:solidFill>
                  <a:schemeClr val="tx1"/>
                </a:solidFill>
                <a:latin typeface="Tahoma" panose="020B0604030504040204" pitchFamily="34" charset="0"/>
              </a:defRPr>
            </a:lvl4pPr>
            <a:lvl5pPr>
              <a:defRPr sz="2400">
                <a:solidFill>
                  <a:schemeClr val="tx1"/>
                </a:solidFill>
                <a:latin typeface="Tahoma" panose="020B0604030504040204" pitchFamily="34" charset="0"/>
              </a:defRPr>
            </a:lvl5pPr>
            <a:lvl6pPr eaLnBrk="0" fontAlgn="base" hangingPunct="0">
              <a:spcBef>
                <a:spcPct val="0"/>
              </a:spcBef>
              <a:spcAft>
                <a:spcPct val="0"/>
              </a:spcAft>
              <a:defRPr sz="2400">
                <a:solidFill>
                  <a:schemeClr val="tx1"/>
                </a:solidFill>
                <a:latin typeface="Tahoma" panose="020B0604030504040204" pitchFamily="34" charset="0"/>
              </a:defRPr>
            </a:lvl6pPr>
            <a:lvl7pPr eaLnBrk="0" fontAlgn="base" hangingPunct="0">
              <a:spcBef>
                <a:spcPct val="0"/>
              </a:spcBef>
              <a:spcAft>
                <a:spcPct val="0"/>
              </a:spcAft>
              <a:defRPr sz="2400">
                <a:solidFill>
                  <a:schemeClr val="tx1"/>
                </a:solidFill>
                <a:latin typeface="Tahoma" panose="020B0604030504040204" pitchFamily="34" charset="0"/>
              </a:defRPr>
            </a:lvl7pPr>
            <a:lvl8pPr eaLnBrk="0" fontAlgn="base" hangingPunct="0">
              <a:spcBef>
                <a:spcPct val="0"/>
              </a:spcBef>
              <a:spcAft>
                <a:spcPct val="0"/>
              </a:spcAft>
              <a:defRPr sz="2400">
                <a:solidFill>
                  <a:schemeClr val="tx1"/>
                </a:solidFill>
                <a:latin typeface="Tahoma" panose="020B0604030504040204" pitchFamily="34" charset="0"/>
              </a:defRPr>
            </a:lvl8pPr>
            <a:lvl9pPr eaLnBrk="0" fontAlgn="base" hangingPunct="0">
              <a:spcBef>
                <a:spcPct val="0"/>
              </a:spcBef>
              <a:spcAft>
                <a:spcPct val="0"/>
              </a:spcAft>
              <a:defRPr sz="2400">
                <a:solidFill>
                  <a:schemeClr val="tx1"/>
                </a:solidFill>
                <a:latin typeface="Tahoma" panose="020B0604030504040204" pitchFamily="34" charset="0"/>
              </a:defRPr>
            </a:lvl9pPr>
          </a:lstStyle>
          <a:p>
            <a:pPr defTabSz="914400" eaLnBrk="0" fontAlgn="base" hangingPunct="0">
              <a:spcBef>
                <a:spcPct val="0"/>
              </a:spcBef>
              <a:spcAft>
                <a:spcPct val="0"/>
              </a:spcAft>
            </a:pPr>
            <a:endParaRPr lang="en-US" altLang="en-US" dirty="0"/>
          </a:p>
        </p:txBody>
      </p:sp>
      <p:sp>
        <p:nvSpPr>
          <p:cNvPr id="5" name="TextBox 4">
            <a:extLst>
              <a:ext uri="{FF2B5EF4-FFF2-40B4-BE49-F238E27FC236}">
                <a16:creationId xmlns:a16="http://schemas.microsoft.com/office/drawing/2014/main" id="{72ED67A5-A502-149C-0061-E46813DBC5B4}"/>
              </a:ext>
            </a:extLst>
          </p:cNvPr>
          <p:cNvSpPr txBox="1"/>
          <p:nvPr/>
        </p:nvSpPr>
        <p:spPr>
          <a:xfrm>
            <a:off x="627083" y="754635"/>
            <a:ext cx="11373264" cy="6129050"/>
          </a:xfrm>
          <a:prstGeom prst="rect">
            <a:avLst/>
          </a:prstGeom>
          <a:noFill/>
        </p:spPr>
        <p:txBody>
          <a:bodyPr wrap="square">
            <a:spAutoFit/>
          </a:bodyPr>
          <a:lstStyle/>
          <a:p>
            <a:pPr fontAlgn="base">
              <a:lnSpc>
                <a:spcPct val="150000"/>
              </a:lnSpc>
            </a:pPr>
            <a:r>
              <a:rPr lang="en-US" sz="2400" dirty="0"/>
              <a:t>The</a:t>
            </a:r>
            <a:r>
              <a:rPr lang="en-US" sz="2400" u="sng" dirty="0"/>
              <a:t> </a:t>
            </a:r>
            <a:r>
              <a:rPr lang="en-US" sz="2400" dirty="0"/>
              <a:t>Interquartile Range (IQR) method focuses on the spread of the middle 50% of data. It calculates the IQR as the difference between the 75th and 25th percentiles of the data and identifies outliers as those points that fall below 1.5 times the IQR below the 25th percentile or above 1.5 times the IQR above the 75th percentile. This method is robust to outliers and does not assume a normal distribution.</a:t>
            </a:r>
          </a:p>
          <a:p>
            <a:pPr fontAlgn="base">
              <a:lnSpc>
                <a:spcPct val="150000"/>
              </a:lnSpc>
            </a:pPr>
            <a:r>
              <a:rPr lang="en-US" sz="2400" b="1" dirty="0"/>
              <a:t>Step 1: </a:t>
            </a:r>
            <a:r>
              <a:rPr lang="en-US" sz="2400" dirty="0"/>
              <a:t>Find Q1(25</a:t>
            </a:r>
            <a:r>
              <a:rPr lang="en-US" sz="2400" baseline="30000" dirty="0"/>
              <a:t>th</a:t>
            </a:r>
            <a:r>
              <a:rPr lang="en-US" sz="2400" dirty="0"/>
              <a:t> percentage) and Q3(75</a:t>
            </a:r>
            <a:r>
              <a:rPr lang="en-US" sz="2400" baseline="30000" dirty="0"/>
              <a:t>th</a:t>
            </a:r>
            <a:r>
              <a:rPr lang="en-US" sz="2400" dirty="0"/>
              <a:t> percentage)</a:t>
            </a:r>
          </a:p>
          <a:p>
            <a:pPr fontAlgn="base">
              <a:lnSpc>
                <a:spcPct val="150000"/>
              </a:lnSpc>
            </a:pPr>
            <a:r>
              <a:rPr lang="en-US" sz="2400" b="1" dirty="0"/>
              <a:t>Step 2:</a:t>
            </a:r>
            <a:r>
              <a:rPr lang="en-US" sz="2400" dirty="0"/>
              <a:t> IQR = Q3 - Q1.</a:t>
            </a:r>
          </a:p>
          <a:p>
            <a:pPr fontAlgn="base">
              <a:lnSpc>
                <a:spcPct val="150000"/>
              </a:lnSpc>
            </a:pPr>
            <a:r>
              <a:rPr lang="en-US" sz="2400" b="1" dirty="0"/>
              <a:t>Step 3: </a:t>
            </a:r>
            <a:r>
              <a:rPr lang="en-US" sz="2400" dirty="0"/>
              <a:t>Find Lower Bound: Q1 - 1.5 × IQR and Upper Bound Lower Bound: Q1 - 1.5 × IQR</a:t>
            </a:r>
          </a:p>
          <a:p>
            <a:pPr fontAlgn="base">
              <a:lnSpc>
                <a:spcPct val="150000"/>
              </a:lnSpc>
            </a:pPr>
            <a:r>
              <a:rPr lang="en-US" sz="2400" dirty="0"/>
              <a:t>It is suitable for datasets with skewed or non-normal distributions. Useful for identifying outliers in datasets where the spread of the middle 50% of the data is more relevant than the mean and standard deviation.</a:t>
            </a:r>
          </a:p>
        </p:txBody>
      </p:sp>
    </p:spTree>
    <p:extLst>
      <p:ext uri="{BB962C8B-B14F-4D97-AF65-F5344CB8AC3E}">
        <p14:creationId xmlns:p14="http://schemas.microsoft.com/office/powerpoint/2010/main" val="996210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2134C-6E4C-B976-ABD6-5B4FCB484EFD}"/>
            </a:ext>
          </a:extLst>
        </p:cNvPr>
        <p:cNvGrpSpPr/>
        <p:nvPr/>
      </p:nvGrpSpPr>
      <p:grpSpPr>
        <a:xfrm>
          <a:off x="0" y="0"/>
          <a:ext cx="0" cy="0"/>
          <a:chOff x="0" y="0"/>
          <a:chExt cx="0" cy="0"/>
        </a:xfrm>
      </p:grpSpPr>
      <p:sp>
        <p:nvSpPr>
          <p:cNvPr id="19458" name="Rectangle 2061">
            <a:extLst>
              <a:ext uri="{FF2B5EF4-FFF2-40B4-BE49-F238E27FC236}">
                <a16:creationId xmlns:a16="http://schemas.microsoft.com/office/drawing/2014/main" id="{9F1ED50F-8F0C-52F2-A2C1-26224198B58C}"/>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FAD3C6C-E0AC-437E-B7EB-6E2FC5F1050C}" type="slidenum">
              <a:rPr lang="en-US" altLang="en-US" sz="1200"/>
              <a:pPr>
                <a:spcBef>
                  <a:spcPct val="0"/>
                </a:spcBef>
                <a:buClrTx/>
                <a:buSzTx/>
                <a:buFontTx/>
                <a:buNone/>
              </a:pPr>
              <a:t>25</a:t>
            </a:fld>
            <a:endParaRPr lang="en-US" altLang="en-US" sz="1200"/>
          </a:p>
        </p:txBody>
      </p:sp>
      <p:sp>
        <p:nvSpPr>
          <p:cNvPr id="19459" name="Rectangle 2">
            <a:extLst>
              <a:ext uri="{FF2B5EF4-FFF2-40B4-BE49-F238E27FC236}">
                <a16:creationId xmlns:a16="http://schemas.microsoft.com/office/drawing/2014/main" id="{88286583-E5E1-F1F5-A38A-A2D3882315CD}"/>
              </a:ext>
            </a:extLst>
          </p:cNvPr>
          <p:cNvSpPr>
            <a:spLocks noGrp="1" noChangeArrowheads="1"/>
          </p:cNvSpPr>
          <p:nvPr>
            <p:ph type="title"/>
          </p:nvPr>
        </p:nvSpPr>
        <p:spPr>
          <a:xfrm>
            <a:off x="3230880" y="136525"/>
            <a:ext cx="7654834" cy="276741"/>
          </a:xfrm>
        </p:spPr>
        <p:txBody>
          <a:bodyPr>
            <a:normAutofit fontScale="90000"/>
          </a:bodyPr>
          <a:lstStyle/>
          <a:p>
            <a:r>
              <a:rPr lang="en-US" b="1" dirty="0"/>
              <a:t>Box Plot</a:t>
            </a:r>
          </a:p>
        </p:txBody>
      </p:sp>
      <p:sp>
        <p:nvSpPr>
          <p:cNvPr id="3" name="Rectangle 5">
            <a:extLst>
              <a:ext uri="{FF2B5EF4-FFF2-40B4-BE49-F238E27FC236}">
                <a16:creationId xmlns:a16="http://schemas.microsoft.com/office/drawing/2014/main" id="{05D559CB-89F2-5362-92A3-1A59915CFFC0}"/>
              </a:ext>
            </a:extLst>
          </p:cNvPr>
          <p:cNvSpPr>
            <a:spLocks noChangeArrowheads="1"/>
          </p:cNvSpPr>
          <p:nvPr/>
        </p:nvSpPr>
        <p:spPr bwMode="auto">
          <a:xfrm>
            <a:off x="1524001" y="43934"/>
            <a:ext cx="65" cy="369332"/>
          </a:xfrm>
          <a:prstGeom prst="rect">
            <a:avLst/>
          </a:prstGeom>
          <a:solidFill>
            <a:srgbClr val="FFFFFF"/>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a:defRPr sz="2400">
                <a:solidFill>
                  <a:schemeClr val="tx1"/>
                </a:solidFill>
                <a:latin typeface="Tahoma" panose="020B0604030504040204" pitchFamily="34" charset="0"/>
              </a:defRPr>
            </a:lvl3pPr>
            <a:lvl4pPr>
              <a:defRPr sz="2400">
                <a:solidFill>
                  <a:schemeClr val="tx1"/>
                </a:solidFill>
                <a:latin typeface="Tahoma" panose="020B0604030504040204" pitchFamily="34" charset="0"/>
              </a:defRPr>
            </a:lvl4pPr>
            <a:lvl5pPr>
              <a:defRPr sz="2400">
                <a:solidFill>
                  <a:schemeClr val="tx1"/>
                </a:solidFill>
                <a:latin typeface="Tahoma" panose="020B0604030504040204" pitchFamily="34" charset="0"/>
              </a:defRPr>
            </a:lvl5pPr>
            <a:lvl6pPr eaLnBrk="0" fontAlgn="base" hangingPunct="0">
              <a:spcBef>
                <a:spcPct val="0"/>
              </a:spcBef>
              <a:spcAft>
                <a:spcPct val="0"/>
              </a:spcAft>
              <a:defRPr sz="2400">
                <a:solidFill>
                  <a:schemeClr val="tx1"/>
                </a:solidFill>
                <a:latin typeface="Tahoma" panose="020B0604030504040204" pitchFamily="34" charset="0"/>
              </a:defRPr>
            </a:lvl6pPr>
            <a:lvl7pPr eaLnBrk="0" fontAlgn="base" hangingPunct="0">
              <a:spcBef>
                <a:spcPct val="0"/>
              </a:spcBef>
              <a:spcAft>
                <a:spcPct val="0"/>
              </a:spcAft>
              <a:defRPr sz="2400">
                <a:solidFill>
                  <a:schemeClr val="tx1"/>
                </a:solidFill>
                <a:latin typeface="Tahoma" panose="020B0604030504040204" pitchFamily="34" charset="0"/>
              </a:defRPr>
            </a:lvl7pPr>
            <a:lvl8pPr eaLnBrk="0" fontAlgn="base" hangingPunct="0">
              <a:spcBef>
                <a:spcPct val="0"/>
              </a:spcBef>
              <a:spcAft>
                <a:spcPct val="0"/>
              </a:spcAft>
              <a:defRPr sz="2400">
                <a:solidFill>
                  <a:schemeClr val="tx1"/>
                </a:solidFill>
                <a:latin typeface="Tahoma" panose="020B0604030504040204" pitchFamily="34" charset="0"/>
              </a:defRPr>
            </a:lvl8pPr>
            <a:lvl9pPr eaLnBrk="0" fontAlgn="base" hangingPunct="0">
              <a:spcBef>
                <a:spcPct val="0"/>
              </a:spcBef>
              <a:spcAft>
                <a:spcPct val="0"/>
              </a:spcAft>
              <a:defRPr sz="2400">
                <a:solidFill>
                  <a:schemeClr val="tx1"/>
                </a:solidFill>
                <a:latin typeface="Tahoma" panose="020B0604030504040204" pitchFamily="34" charset="0"/>
              </a:defRPr>
            </a:lvl9pPr>
          </a:lstStyle>
          <a:p>
            <a:pPr defTabSz="914400" eaLnBrk="0" fontAlgn="base" hangingPunct="0">
              <a:spcBef>
                <a:spcPct val="0"/>
              </a:spcBef>
              <a:spcAft>
                <a:spcPct val="0"/>
              </a:spcAft>
            </a:pPr>
            <a:endParaRPr lang="en-US" altLang="en-US" dirty="0"/>
          </a:p>
        </p:txBody>
      </p:sp>
      <p:sp>
        <p:nvSpPr>
          <p:cNvPr id="2" name="Rectangle 1">
            <a:extLst>
              <a:ext uri="{FF2B5EF4-FFF2-40B4-BE49-F238E27FC236}">
                <a16:creationId xmlns:a16="http://schemas.microsoft.com/office/drawing/2014/main" id="{AD52F327-D07D-5A2B-BD76-C17FD2ECE8E5}"/>
              </a:ext>
            </a:extLst>
          </p:cNvPr>
          <p:cNvSpPr>
            <a:spLocks noChangeArrowheads="1"/>
          </p:cNvSpPr>
          <p:nvPr/>
        </p:nvSpPr>
        <p:spPr bwMode="auto">
          <a:xfrm>
            <a:off x="0" y="43934"/>
            <a:ext cx="184731" cy="369332"/>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9B57AAB2-E443-F0E0-9AEA-37199D9B1748}"/>
              </a:ext>
            </a:extLst>
          </p:cNvPr>
          <p:cNvPicPr>
            <a:picLocks noChangeAspect="1"/>
          </p:cNvPicPr>
          <p:nvPr/>
        </p:nvPicPr>
        <p:blipFill>
          <a:blip r:embed="rId3"/>
          <a:stretch>
            <a:fillRect/>
          </a:stretch>
        </p:blipFill>
        <p:spPr>
          <a:xfrm>
            <a:off x="1524001" y="1227909"/>
            <a:ext cx="9554908" cy="4580708"/>
          </a:xfrm>
          <a:prstGeom prst="rect">
            <a:avLst/>
          </a:prstGeom>
        </p:spPr>
      </p:pic>
    </p:spTree>
    <p:extLst>
      <p:ext uri="{BB962C8B-B14F-4D97-AF65-F5344CB8AC3E}">
        <p14:creationId xmlns:p14="http://schemas.microsoft.com/office/powerpoint/2010/main" val="1979814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23C35-CDA1-0144-EF27-C8BCB0E6E9C2}"/>
            </a:ext>
          </a:extLst>
        </p:cNvPr>
        <p:cNvGrpSpPr/>
        <p:nvPr/>
      </p:nvGrpSpPr>
      <p:grpSpPr>
        <a:xfrm>
          <a:off x="0" y="0"/>
          <a:ext cx="0" cy="0"/>
          <a:chOff x="0" y="0"/>
          <a:chExt cx="0" cy="0"/>
        </a:xfrm>
      </p:grpSpPr>
      <p:sp>
        <p:nvSpPr>
          <p:cNvPr id="19458" name="Rectangle 2061">
            <a:extLst>
              <a:ext uri="{FF2B5EF4-FFF2-40B4-BE49-F238E27FC236}">
                <a16:creationId xmlns:a16="http://schemas.microsoft.com/office/drawing/2014/main" id="{7F2BCA74-D8C3-BD4A-B814-B01C355D6BE5}"/>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FAD3C6C-E0AC-437E-B7EB-6E2FC5F1050C}" type="slidenum">
              <a:rPr lang="en-US" altLang="en-US" sz="1200"/>
              <a:pPr>
                <a:spcBef>
                  <a:spcPct val="0"/>
                </a:spcBef>
                <a:buClrTx/>
                <a:buSzTx/>
                <a:buFontTx/>
                <a:buNone/>
              </a:pPr>
              <a:t>26</a:t>
            </a:fld>
            <a:endParaRPr lang="en-US" altLang="en-US" sz="1200"/>
          </a:p>
        </p:txBody>
      </p:sp>
      <p:sp>
        <p:nvSpPr>
          <p:cNvPr id="19459" name="Rectangle 2">
            <a:extLst>
              <a:ext uri="{FF2B5EF4-FFF2-40B4-BE49-F238E27FC236}">
                <a16:creationId xmlns:a16="http://schemas.microsoft.com/office/drawing/2014/main" id="{A0BE7880-CA48-3636-1FEF-4C73B37B0F0A}"/>
              </a:ext>
            </a:extLst>
          </p:cNvPr>
          <p:cNvSpPr>
            <a:spLocks noGrp="1" noChangeArrowheads="1"/>
          </p:cNvSpPr>
          <p:nvPr>
            <p:ph type="title"/>
          </p:nvPr>
        </p:nvSpPr>
        <p:spPr>
          <a:xfrm>
            <a:off x="3230880" y="136525"/>
            <a:ext cx="7654834" cy="276741"/>
          </a:xfrm>
        </p:spPr>
        <p:txBody>
          <a:bodyPr>
            <a:normAutofit fontScale="90000"/>
          </a:bodyPr>
          <a:lstStyle/>
          <a:p>
            <a:r>
              <a:rPr lang="en-US" b="1" dirty="0"/>
              <a:t>Box Plot</a:t>
            </a:r>
          </a:p>
        </p:txBody>
      </p:sp>
      <p:sp>
        <p:nvSpPr>
          <p:cNvPr id="3" name="Rectangle 5">
            <a:extLst>
              <a:ext uri="{FF2B5EF4-FFF2-40B4-BE49-F238E27FC236}">
                <a16:creationId xmlns:a16="http://schemas.microsoft.com/office/drawing/2014/main" id="{E65ACB4A-E9B6-4A71-7CF0-905301D12A76}"/>
              </a:ext>
            </a:extLst>
          </p:cNvPr>
          <p:cNvSpPr>
            <a:spLocks noChangeArrowheads="1"/>
          </p:cNvSpPr>
          <p:nvPr/>
        </p:nvSpPr>
        <p:spPr bwMode="auto">
          <a:xfrm>
            <a:off x="1524001" y="43934"/>
            <a:ext cx="65" cy="369332"/>
          </a:xfrm>
          <a:prstGeom prst="rect">
            <a:avLst/>
          </a:prstGeom>
          <a:solidFill>
            <a:srgbClr val="FFFFFF"/>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a:defRPr sz="2400">
                <a:solidFill>
                  <a:schemeClr val="tx1"/>
                </a:solidFill>
                <a:latin typeface="Tahoma" panose="020B0604030504040204" pitchFamily="34" charset="0"/>
              </a:defRPr>
            </a:lvl3pPr>
            <a:lvl4pPr>
              <a:defRPr sz="2400">
                <a:solidFill>
                  <a:schemeClr val="tx1"/>
                </a:solidFill>
                <a:latin typeface="Tahoma" panose="020B0604030504040204" pitchFamily="34" charset="0"/>
              </a:defRPr>
            </a:lvl4pPr>
            <a:lvl5pPr>
              <a:defRPr sz="2400">
                <a:solidFill>
                  <a:schemeClr val="tx1"/>
                </a:solidFill>
                <a:latin typeface="Tahoma" panose="020B0604030504040204" pitchFamily="34" charset="0"/>
              </a:defRPr>
            </a:lvl5pPr>
            <a:lvl6pPr eaLnBrk="0" fontAlgn="base" hangingPunct="0">
              <a:spcBef>
                <a:spcPct val="0"/>
              </a:spcBef>
              <a:spcAft>
                <a:spcPct val="0"/>
              </a:spcAft>
              <a:defRPr sz="2400">
                <a:solidFill>
                  <a:schemeClr val="tx1"/>
                </a:solidFill>
                <a:latin typeface="Tahoma" panose="020B0604030504040204" pitchFamily="34" charset="0"/>
              </a:defRPr>
            </a:lvl6pPr>
            <a:lvl7pPr eaLnBrk="0" fontAlgn="base" hangingPunct="0">
              <a:spcBef>
                <a:spcPct val="0"/>
              </a:spcBef>
              <a:spcAft>
                <a:spcPct val="0"/>
              </a:spcAft>
              <a:defRPr sz="2400">
                <a:solidFill>
                  <a:schemeClr val="tx1"/>
                </a:solidFill>
                <a:latin typeface="Tahoma" panose="020B0604030504040204" pitchFamily="34" charset="0"/>
              </a:defRPr>
            </a:lvl7pPr>
            <a:lvl8pPr eaLnBrk="0" fontAlgn="base" hangingPunct="0">
              <a:spcBef>
                <a:spcPct val="0"/>
              </a:spcBef>
              <a:spcAft>
                <a:spcPct val="0"/>
              </a:spcAft>
              <a:defRPr sz="2400">
                <a:solidFill>
                  <a:schemeClr val="tx1"/>
                </a:solidFill>
                <a:latin typeface="Tahoma" panose="020B0604030504040204" pitchFamily="34" charset="0"/>
              </a:defRPr>
            </a:lvl8pPr>
            <a:lvl9pPr eaLnBrk="0" fontAlgn="base" hangingPunct="0">
              <a:spcBef>
                <a:spcPct val="0"/>
              </a:spcBef>
              <a:spcAft>
                <a:spcPct val="0"/>
              </a:spcAft>
              <a:defRPr sz="2400">
                <a:solidFill>
                  <a:schemeClr val="tx1"/>
                </a:solidFill>
                <a:latin typeface="Tahoma" panose="020B0604030504040204" pitchFamily="34" charset="0"/>
              </a:defRPr>
            </a:lvl9pPr>
          </a:lstStyle>
          <a:p>
            <a:pPr defTabSz="914400" eaLnBrk="0" fontAlgn="base" hangingPunct="0">
              <a:spcBef>
                <a:spcPct val="0"/>
              </a:spcBef>
              <a:spcAft>
                <a:spcPct val="0"/>
              </a:spcAft>
            </a:pPr>
            <a:endParaRPr lang="en-US" altLang="en-US" dirty="0"/>
          </a:p>
        </p:txBody>
      </p:sp>
      <p:sp>
        <p:nvSpPr>
          <p:cNvPr id="5" name="TextBox 4">
            <a:extLst>
              <a:ext uri="{FF2B5EF4-FFF2-40B4-BE49-F238E27FC236}">
                <a16:creationId xmlns:a16="http://schemas.microsoft.com/office/drawing/2014/main" id="{EE08E05B-E48C-0B52-A70F-9C20E6D21C14}"/>
              </a:ext>
            </a:extLst>
          </p:cNvPr>
          <p:cNvSpPr txBox="1"/>
          <p:nvPr/>
        </p:nvSpPr>
        <p:spPr>
          <a:xfrm>
            <a:off x="461716" y="855864"/>
            <a:ext cx="11599494" cy="1200329"/>
          </a:xfrm>
          <a:prstGeom prst="rect">
            <a:avLst/>
          </a:prstGeom>
          <a:noFill/>
        </p:spPr>
        <p:txBody>
          <a:bodyPr wrap="square">
            <a:spAutoFit/>
          </a:bodyPr>
          <a:lstStyle/>
          <a:p>
            <a:pPr algn="just"/>
            <a:r>
              <a:rPr lang="en-US" sz="2400" dirty="0"/>
              <a:t>Box Plot is a type of visualization that shows the data from a five-number summary including one of the measures of central tendency. The components of the box plot are shown below :</a:t>
            </a:r>
          </a:p>
        </p:txBody>
      </p:sp>
      <p:sp>
        <p:nvSpPr>
          <p:cNvPr id="2" name="Rectangle 1">
            <a:extLst>
              <a:ext uri="{FF2B5EF4-FFF2-40B4-BE49-F238E27FC236}">
                <a16:creationId xmlns:a16="http://schemas.microsoft.com/office/drawing/2014/main" id="{7FC233DB-F93A-FC66-7F77-FF8892F37E44}"/>
              </a:ext>
            </a:extLst>
          </p:cNvPr>
          <p:cNvSpPr>
            <a:spLocks noChangeArrowheads="1"/>
          </p:cNvSpPr>
          <p:nvPr/>
        </p:nvSpPr>
        <p:spPr bwMode="auto">
          <a:xfrm>
            <a:off x="0" y="43934"/>
            <a:ext cx="184731" cy="369332"/>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A72D189D-C282-D85E-4FE5-A998A47BB638}"/>
              </a:ext>
            </a:extLst>
          </p:cNvPr>
          <p:cNvPicPr>
            <a:picLocks noChangeAspect="1"/>
          </p:cNvPicPr>
          <p:nvPr/>
        </p:nvPicPr>
        <p:blipFill>
          <a:blip r:embed="rId3"/>
          <a:stretch>
            <a:fillRect/>
          </a:stretch>
        </p:blipFill>
        <p:spPr>
          <a:xfrm>
            <a:off x="2719251" y="1584961"/>
            <a:ext cx="8391352" cy="4244640"/>
          </a:xfrm>
          <a:prstGeom prst="rect">
            <a:avLst/>
          </a:prstGeom>
        </p:spPr>
      </p:pic>
    </p:spTree>
    <p:extLst>
      <p:ext uri="{BB962C8B-B14F-4D97-AF65-F5344CB8AC3E}">
        <p14:creationId xmlns:p14="http://schemas.microsoft.com/office/powerpoint/2010/main" val="42197431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40345-D0E9-561A-69B9-7AB4DA2B063C}"/>
            </a:ext>
          </a:extLst>
        </p:cNvPr>
        <p:cNvGrpSpPr/>
        <p:nvPr/>
      </p:nvGrpSpPr>
      <p:grpSpPr>
        <a:xfrm>
          <a:off x="0" y="0"/>
          <a:ext cx="0" cy="0"/>
          <a:chOff x="0" y="0"/>
          <a:chExt cx="0" cy="0"/>
        </a:xfrm>
      </p:grpSpPr>
      <p:sp>
        <p:nvSpPr>
          <p:cNvPr id="19458" name="Rectangle 2061">
            <a:extLst>
              <a:ext uri="{FF2B5EF4-FFF2-40B4-BE49-F238E27FC236}">
                <a16:creationId xmlns:a16="http://schemas.microsoft.com/office/drawing/2014/main" id="{78920EDB-DA71-621A-96BB-5A33925B8959}"/>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FAD3C6C-E0AC-437E-B7EB-6E2FC5F1050C}" type="slidenum">
              <a:rPr lang="en-US" altLang="en-US" sz="1200"/>
              <a:pPr>
                <a:spcBef>
                  <a:spcPct val="0"/>
                </a:spcBef>
                <a:buClrTx/>
                <a:buSzTx/>
                <a:buFontTx/>
                <a:buNone/>
              </a:pPr>
              <a:t>27</a:t>
            </a:fld>
            <a:endParaRPr lang="en-US" altLang="en-US" sz="1200"/>
          </a:p>
        </p:txBody>
      </p:sp>
      <p:sp>
        <p:nvSpPr>
          <p:cNvPr id="19459" name="Rectangle 2">
            <a:extLst>
              <a:ext uri="{FF2B5EF4-FFF2-40B4-BE49-F238E27FC236}">
                <a16:creationId xmlns:a16="http://schemas.microsoft.com/office/drawing/2014/main" id="{BB7EC257-A83F-5E53-76C1-869E95847154}"/>
              </a:ext>
            </a:extLst>
          </p:cNvPr>
          <p:cNvSpPr>
            <a:spLocks noGrp="1" noChangeArrowheads="1"/>
          </p:cNvSpPr>
          <p:nvPr>
            <p:ph type="title"/>
          </p:nvPr>
        </p:nvSpPr>
        <p:spPr>
          <a:xfrm>
            <a:off x="3230880" y="136525"/>
            <a:ext cx="7654834" cy="276741"/>
          </a:xfrm>
        </p:spPr>
        <p:txBody>
          <a:bodyPr>
            <a:normAutofit fontScale="90000"/>
          </a:bodyPr>
          <a:lstStyle/>
          <a:p>
            <a:r>
              <a:rPr lang="en-US" b="1" dirty="0"/>
              <a:t>Box Plot</a:t>
            </a:r>
          </a:p>
        </p:txBody>
      </p:sp>
      <p:sp>
        <p:nvSpPr>
          <p:cNvPr id="3" name="Rectangle 5">
            <a:extLst>
              <a:ext uri="{FF2B5EF4-FFF2-40B4-BE49-F238E27FC236}">
                <a16:creationId xmlns:a16="http://schemas.microsoft.com/office/drawing/2014/main" id="{9506F63C-3C7E-6B36-45CD-60CA29BF9ACE}"/>
              </a:ext>
            </a:extLst>
          </p:cNvPr>
          <p:cNvSpPr>
            <a:spLocks noChangeArrowheads="1"/>
          </p:cNvSpPr>
          <p:nvPr/>
        </p:nvSpPr>
        <p:spPr bwMode="auto">
          <a:xfrm>
            <a:off x="1524001" y="43934"/>
            <a:ext cx="65" cy="369332"/>
          </a:xfrm>
          <a:prstGeom prst="rect">
            <a:avLst/>
          </a:prstGeom>
          <a:solidFill>
            <a:srgbClr val="FFFFFF"/>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a:defRPr sz="2400">
                <a:solidFill>
                  <a:schemeClr val="tx1"/>
                </a:solidFill>
                <a:latin typeface="Tahoma" panose="020B0604030504040204" pitchFamily="34" charset="0"/>
              </a:defRPr>
            </a:lvl3pPr>
            <a:lvl4pPr>
              <a:defRPr sz="2400">
                <a:solidFill>
                  <a:schemeClr val="tx1"/>
                </a:solidFill>
                <a:latin typeface="Tahoma" panose="020B0604030504040204" pitchFamily="34" charset="0"/>
              </a:defRPr>
            </a:lvl4pPr>
            <a:lvl5pPr>
              <a:defRPr sz="2400">
                <a:solidFill>
                  <a:schemeClr val="tx1"/>
                </a:solidFill>
                <a:latin typeface="Tahoma" panose="020B0604030504040204" pitchFamily="34" charset="0"/>
              </a:defRPr>
            </a:lvl5pPr>
            <a:lvl6pPr eaLnBrk="0" fontAlgn="base" hangingPunct="0">
              <a:spcBef>
                <a:spcPct val="0"/>
              </a:spcBef>
              <a:spcAft>
                <a:spcPct val="0"/>
              </a:spcAft>
              <a:defRPr sz="2400">
                <a:solidFill>
                  <a:schemeClr val="tx1"/>
                </a:solidFill>
                <a:latin typeface="Tahoma" panose="020B0604030504040204" pitchFamily="34" charset="0"/>
              </a:defRPr>
            </a:lvl6pPr>
            <a:lvl7pPr eaLnBrk="0" fontAlgn="base" hangingPunct="0">
              <a:spcBef>
                <a:spcPct val="0"/>
              </a:spcBef>
              <a:spcAft>
                <a:spcPct val="0"/>
              </a:spcAft>
              <a:defRPr sz="2400">
                <a:solidFill>
                  <a:schemeClr val="tx1"/>
                </a:solidFill>
                <a:latin typeface="Tahoma" panose="020B0604030504040204" pitchFamily="34" charset="0"/>
              </a:defRPr>
            </a:lvl7pPr>
            <a:lvl8pPr eaLnBrk="0" fontAlgn="base" hangingPunct="0">
              <a:spcBef>
                <a:spcPct val="0"/>
              </a:spcBef>
              <a:spcAft>
                <a:spcPct val="0"/>
              </a:spcAft>
              <a:defRPr sz="2400">
                <a:solidFill>
                  <a:schemeClr val="tx1"/>
                </a:solidFill>
                <a:latin typeface="Tahoma" panose="020B0604030504040204" pitchFamily="34" charset="0"/>
              </a:defRPr>
            </a:lvl8pPr>
            <a:lvl9pPr eaLnBrk="0" fontAlgn="base" hangingPunct="0">
              <a:spcBef>
                <a:spcPct val="0"/>
              </a:spcBef>
              <a:spcAft>
                <a:spcPct val="0"/>
              </a:spcAft>
              <a:defRPr sz="2400">
                <a:solidFill>
                  <a:schemeClr val="tx1"/>
                </a:solidFill>
                <a:latin typeface="Tahoma" panose="020B0604030504040204" pitchFamily="34" charset="0"/>
              </a:defRPr>
            </a:lvl9pPr>
          </a:lstStyle>
          <a:p>
            <a:pPr defTabSz="914400" eaLnBrk="0" fontAlgn="base" hangingPunct="0">
              <a:spcBef>
                <a:spcPct val="0"/>
              </a:spcBef>
              <a:spcAft>
                <a:spcPct val="0"/>
              </a:spcAft>
            </a:pPr>
            <a:endParaRPr lang="en-US" altLang="en-US" dirty="0"/>
          </a:p>
        </p:txBody>
      </p:sp>
      <p:sp>
        <p:nvSpPr>
          <p:cNvPr id="2" name="Rectangle 1">
            <a:extLst>
              <a:ext uri="{FF2B5EF4-FFF2-40B4-BE49-F238E27FC236}">
                <a16:creationId xmlns:a16="http://schemas.microsoft.com/office/drawing/2014/main" id="{FE2881A7-2211-D690-70B3-D604DAC9F761}"/>
              </a:ext>
            </a:extLst>
          </p:cNvPr>
          <p:cNvSpPr>
            <a:spLocks noChangeArrowheads="1"/>
          </p:cNvSpPr>
          <p:nvPr/>
        </p:nvSpPr>
        <p:spPr bwMode="auto">
          <a:xfrm>
            <a:off x="0" y="43934"/>
            <a:ext cx="184731" cy="369332"/>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F63C938C-1E69-21BA-01AF-918864BFA242}"/>
              </a:ext>
            </a:extLst>
          </p:cNvPr>
          <p:cNvPicPr>
            <a:picLocks noChangeAspect="1"/>
          </p:cNvPicPr>
          <p:nvPr/>
        </p:nvPicPr>
        <p:blipFill>
          <a:blip r:embed="rId3"/>
          <a:stretch>
            <a:fillRect/>
          </a:stretch>
        </p:blipFill>
        <p:spPr>
          <a:xfrm>
            <a:off x="2209800" y="924056"/>
            <a:ext cx="6786154" cy="5076515"/>
          </a:xfrm>
          <a:prstGeom prst="rect">
            <a:avLst/>
          </a:prstGeom>
        </p:spPr>
      </p:pic>
    </p:spTree>
    <p:extLst>
      <p:ext uri="{BB962C8B-B14F-4D97-AF65-F5344CB8AC3E}">
        <p14:creationId xmlns:p14="http://schemas.microsoft.com/office/powerpoint/2010/main" val="39585707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061">
            <a:extLst>
              <a:ext uri="{FF2B5EF4-FFF2-40B4-BE49-F238E27FC236}">
                <a16:creationId xmlns:a16="http://schemas.microsoft.com/office/drawing/2014/main" id="{FF614D33-9FF5-B2DA-9AE6-B3D80AE69EDC}"/>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FC4FDC53-F6FC-400C-9E56-BD589D0AA4A0}" type="slidenum">
              <a:rPr lang="en-US" altLang="en-US" sz="1200"/>
              <a:pPr eaLnBrk="1" hangingPunct="1"/>
              <a:t>28</a:t>
            </a:fld>
            <a:endParaRPr lang="en-US" altLang="en-US" sz="1200"/>
          </a:p>
        </p:txBody>
      </p:sp>
      <p:sp>
        <p:nvSpPr>
          <p:cNvPr id="11267" name="Rectangle 2">
            <a:extLst>
              <a:ext uri="{FF2B5EF4-FFF2-40B4-BE49-F238E27FC236}">
                <a16:creationId xmlns:a16="http://schemas.microsoft.com/office/drawing/2014/main" id="{950AFD5B-71A8-8287-F2EF-2427D5E2FEC7}"/>
              </a:ext>
            </a:extLst>
          </p:cNvPr>
          <p:cNvSpPr>
            <a:spLocks noGrp="1" noChangeArrowheads="1"/>
          </p:cNvSpPr>
          <p:nvPr>
            <p:ph type="title"/>
          </p:nvPr>
        </p:nvSpPr>
        <p:spPr>
          <a:xfrm>
            <a:off x="2393950" y="304800"/>
            <a:ext cx="7169150" cy="609600"/>
          </a:xfrm>
        </p:spPr>
        <p:txBody>
          <a:bodyPr>
            <a:normAutofit fontScale="90000"/>
          </a:bodyPr>
          <a:lstStyle/>
          <a:p>
            <a:pPr eaLnBrk="1" hangingPunct="1"/>
            <a:r>
              <a:rPr lang="en-US" altLang="en-US">
                <a:solidFill>
                  <a:srgbClr val="170981"/>
                </a:solidFill>
              </a:rPr>
              <a:t>Incomplete (Missing) Data</a:t>
            </a:r>
          </a:p>
        </p:txBody>
      </p:sp>
      <p:sp>
        <p:nvSpPr>
          <p:cNvPr id="11268" name="Rectangle 3">
            <a:extLst>
              <a:ext uri="{FF2B5EF4-FFF2-40B4-BE49-F238E27FC236}">
                <a16:creationId xmlns:a16="http://schemas.microsoft.com/office/drawing/2014/main" id="{072CC950-71C5-BC02-1D6C-05FB79482ABD}"/>
              </a:ext>
            </a:extLst>
          </p:cNvPr>
          <p:cNvSpPr>
            <a:spLocks noGrp="1" noChangeArrowheads="1"/>
          </p:cNvSpPr>
          <p:nvPr>
            <p:ph type="body" idx="1"/>
          </p:nvPr>
        </p:nvSpPr>
        <p:spPr>
          <a:xfrm>
            <a:off x="1905000" y="1371600"/>
            <a:ext cx="8305800" cy="5105400"/>
          </a:xfrm>
        </p:spPr>
        <p:txBody>
          <a:bodyPr>
            <a:normAutofit lnSpcReduction="10000"/>
          </a:bodyPr>
          <a:lstStyle/>
          <a:p>
            <a:pPr eaLnBrk="1" hangingPunct="1">
              <a:lnSpc>
                <a:spcPct val="110000"/>
              </a:lnSpc>
            </a:pPr>
            <a:r>
              <a:rPr lang="en-US" altLang="en-US" sz="2400" dirty="0"/>
              <a:t>Data is not always available</a:t>
            </a:r>
          </a:p>
          <a:p>
            <a:pPr lvl="1" eaLnBrk="1" hangingPunct="1">
              <a:lnSpc>
                <a:spcPct val="110000"/>
              </a:lnSpc>
            </a:pPr>
            <a:r>
              <a:rPr lang="en-US" altLang="en-US" dirty="0"/>
              <a:t>E.g., many tuples have no recorded value for several attributes, such as customer income in sales data</a:t>
            </a:r>
          </a:p>
          <a:p>
            <a:pPr eaLnBrk="1" hangingPunct="1">
              <a:lnSpc>
                <a:spcPct val="110000"/>
              </a:lnSpc>
            </a:pPr>
            <a:r>
              <a:rPr lang="en-US" altLang="en-US" sz="2400" dirty="0"/>
              <a:t>Missing data may be due to </a:t>
            </a:r>
          </a:p>
          <a:p>
            <a:pPr lvl="1" eaLnBrk="1" hangingPunct="1">
              <a:lnSpc>
                <a:spcPct val="110000"/>
              </a:lnSpc>
            </a:pPr>
            <a:r>
              <a:rPr lang="en-US" altLang="en-US" dirty="0"/>
              <a:t>equipment malfunction</a:t>
            </a:r>
          </a:p>
          <a:p>
            <a:pPr lvl="1" eaLnBrk="1" hangingPunct="1">
              <a:lnSpc>
                <a:spcPct val="110000"/>
              </a:lnSpc>
            </a:pPr>
            <a:r>
              <a:rPr lang="en-US" altLang="en-US" dirty="0"/>
              <a:t>inconsistent with other recorded data and thus deleted</a:t>
            </a:r>
          </a:p>
          <a:p>
            <a:pPr lvl="1" eaLnBrk="1" hangingPunct="1">
              <a:lnSpc>
                <a:spcPct val="110000"/>
              </a:lnSpc>
            </a:pPr>
            <a:r>
              <a:rPr lang="en-US" altLang="en-US" dirty="0"/>
              <a:t>data not entered due to misunderstanding</a:t>
            </a:r>
          </a:p>
          <a:p>
            <a:pPr lvl="1" eaLnBrk="1" hangingPunct="1">
              <a:lnSpc>
                <a:spcPct val="110000"/>
              </a:lnSpc>
            </a:pPr>
            <a:r>
              <a:rPr lang="en-US" altLang="en-US" dirty="0"/>
              <a:t>certain data may not be considered important at the time of entry</a:t>
            </a:r>
          </a:p>
          <a:p>
            <a:pPr lvl="1" eaLnBrk="1" hangingPunct="1">
              <a:lnSpc>
                <a:spcPct val="110000"/>
              </a:lnSpc>
            </a:pPr>
            <a:r>
              <a:rPr lang="en-US" altLang="en-US" dirty="0"/>
              <a:t>not register history or changes of the data</a:t>
            </a:r>
          </a:p>
          <a:p>
            <a:pPr eaLnBrk="1" hangingPunct="1">
              <a:lnSpc>
                <a:spcPct val="110000"/>
              </a:lnSpc>
            </a:pPr>
            <a:r>
              <a:rPr lang="en-US" altLang="en-US" sz="2400" dirty="0"/>
              <a:t>Missing data may need to be inferred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061">
            <a:extLst>
              <a:ext uri="{FF2B5EF4-FFF2-40B4-BE49-F238E27FC236}">
                <a16:creationId xmlns:a16="http://schemas.microsoft.com/office/drawing/2014/main" id="{4743E184-4603-6220-54C1-0865F64714E9}"/>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D802C1C7-643C-4D76-85E4-3DED391A0050}" type="slidenum">
              <a:rPr lang="en-US" altLang="en-US" sz="1200"/>
              <a:pPr eaLnBrk="1" hangingPunct="1"/>
              <a:t>29</a:t>
            </a:fld>
            <a:endParaRPr lang="en-US" altLang="en-US" sz="1200"/>
          </a:p>
        </p:txBody>
      </p:sp>
      <p:sp>
        <p:nvSpPr>
          <p:cNvPr id="12291" name="Rectangle 2">
            <a:extLst>
              <a:ext uri="{FF2B5EF4-FFF2-40B4-BE49-F238E27FC236}">
                <a16:creationId xmlns:a16="http://schemas.microsoft.com/office/drawing/2014/main" id="{2DB937BB-0AD6-B342-6B34-F2F5CB9ACD6C}"/>
              </a:ext>
            </a:extLst>
          </p:cNvPr>
          <p:cNvSpPr>
            <a:spLocks noGrp="1" noChangeArrowheads="1"/>
          </p:cNvSpPr>
          <p:nvPr>
            <p:ph type="title"/>
          </p:nvPr>
        </p:nvSpPr>
        <p:spPr>
          <a:xfrm>
            <a:off x="2286000" y="228600"/>
            <a:ext cx="7543800" cy="762000"/>
          </a:xfrm>
        </p:spPr>
        <p:txBody>
          <a:bodyPr/>
          <a:lstStyle/>
          <a:p>
            <a:pPr eaLnBrk="1" hangingPunct="1"/>
            <a:r>
              <a:rPr lang="en-US" altLang="en-US"/>
              <a:t>How to Handle Missing Data?</a:t>
            </a:r>
          </a:p>
        </p:txBody>
      </p:sp>
      <p:sp>
        <p:nvSpPr>
          <p:cNvPr id="12292" name="Rectangle 3">
            <a:extLst>
              <a:ext uri="{FF2B5EF4-FFF2-40B4-BE49-F238E27FC236}">
                <a16:creationId xmlns:a16="http://schemas.microsoft.com/office/drawing/2014/main" id="{D6D2264D-45E0-71F2-01A0-4B7440F1B937}"/>
              </a:ext>
            </a:extLst>
          </p:cNvPr>
          <p:cNvSpPr>
            <a:spLocks noGrp="1" noChangeArrowheads="1"/>
          </p:cNvSpPr>
          <p:nvPr>
            <p:ph type="body" idx="1"/>
          </p:nvPr>
        </p:nvSpPr>
        <p:spPr>
          <a:xfrm>
            <a:off x="1828800" y="1295400"/>
            <a:ext cx="8534400" cy="5257800"/>
          </a:xfrm>
        </p:spPr>
        <p:txBody>
          <a:bodyPr>
            <a:normAutofit lnSpcReduction="10000"/>
          </a:bodyPr>
          <a:lstStyle/>
          <a:p>
            <a:pPr eaLnBrk="1" hangingPunct="1">
              <a:lnSpc>
                <a:spcPct val="120000"/>
              </a:lnSpc>
            </a:pPr>
            <a:r>
              <a:rPr lang="en-US" altLang="en-US" sz="2400"/>
              <a:t>Ignore the tuple: usually done when class label is missing (when doing classification)—not effective when the % of missing values per attribute varies considerably</a:t>
            </a:r>
          </a:p>
          <a:p>
            <a:pPr eaLnBrk="1" hangingPunct="1">
              <a:lnSpc>
                <a:spcPct val="120000"/>
              </a:lnSpc>
            </a:pPr>
            <a:r>
              <a:rPr lang="en-US" altLang="en-US" sz="2400"/>
              <a:t>Fill in the missing value manually: tedious + infeasible?</a:t>
            </a:r>
          </a:p>
          <a:p>
            <a:pPr eaLnBrk="1" hangingPunct="1">
              <a:lnSpc>
                <a:spcPct val="120000"/>
              </a:lnSpc>
            </a:pPr>
            <a:r>
              <a:rPr lang="en-US" altLang="en-US" sz="2400"/>
              <a:t>Fill in it automatically with</a:t>
            </a:r>
          </a:p>
          <a:p>
            <a:pPr lvl="1" eaLnBrk="1" hangingPunct="1">
              <a:lnSpc>
                <a:spcPct val="120000"/>
              </a:lnSpc>
            </a:pPr>
            <a:r>
              <a:rPr lang="en-US" altLang="en-US"/>
              <a:t>a global constant : e.g., “unknown”, a new class?! </a:t>
            </a:r>
          </a:p>
          <a:p>
            <a:pPr lvl="1" eaLnBrk="1" hangingPunct="1">
              <a:lnSpc>
                <a:spcPct val="120000"/>
              </a:lnSpc>
            </a:pPr>
            <a:r>
              <a:rPr lang="en-US" altLang="en-US"/>
              <a:t>the attribute mean</a:t>
            </a:r>
          </a:p>
          <a:p>
            <a:pPr lvl="1" eaLnBrk="1" hangingPunct="1">
              <a:lnSpc>
                <a:spcPct val="120000"/>
              </a:lnSpc>
            </a:pPr>
            <a:r>
              <a:rPr lang="en-US" altLang="en-US"/>
              <a:t>the attribute mean for all samples belonging to the same class: smarter</a:t>
            </a:r>
          </a:p>
          <a:p>
            <a:pPr lvl="1" eaLnBrk="1" hangingPunct="1">
              <a:lnSpc>
                <a:spcPct val="120000"/>
              </a:lnSpc>
            </a:pPr>
            <a:r>
              <a:rPr lang="en-US" altLang="en-US">
                <a:solidFill>
                  <a:schemeClr val="hlink"/>
                </a:solidFill>
              </a:rPr>
              <a:t>the most probable value: inference-based such as Bayesian formula or decision tree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586B4-ED49-260B-FC88-8D3DFFF3B473}"/>
            </a:ext>
          </a:extLst>
        </p:cNvPr>
        <p:cNvGrpSpPr/>
        <p:nvPr/>
      </p:nvGrpSpPr>
      <p:grpSpPr>
        <a:xfrm>
          <a:off x="0" y="0"/>
          <a:ext cx="0" cy="0"/>
          <a:chOff x="0" y="0"/>
          <a:chExt cx="0" cy="0"/>
        </a:xfrm>
      </p:grpSpPr>
      <p:sp>
        <p:nvSpPr>
          <p:cNvPr id="12290" name="Rectangle 2061">
            <a:extLst>
              <a:ext uri="{FF2B5EF4-FFF2-40B4-BE49-F238E27FC236}">
                <a16:creationId xmlns:a16="http://schemas.microsoft.com/office/drawing/2014/main" id="{59B8E9A2-5567-B282-5AAE-2FE283D3C5AA}"/>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D802C1C7-643C-4D76-85E4-3DED391A0050}" type="slidenum">
              <a:rPr lang="en-US" altLang="en-US" sz="1200"/>
              <a:pPr eaLnBrk="1" hangingPunct="1"/>
              <a:t>30</a:t>
            </a:fld>
            <a:endParaRPr lang="en-US" altLang="en-US" sz="1200"/>
          </a:p>
        </p:txBody>
      </p:sp>
      <p:sp>
        <p:nvSpPr>
          <p:cNvPr id="12291" name="Rectangle 2">
            <a:extLst>
              <a:ext uri="{FF2B5EF4-FFF2-40B4-BE49-F238E27FC236}">
                <a16:creationId xmlns:a16="http://schemas.microsoft.com/office/drawing/2014/main" id="{6D868DCA-04B7-8FC9-4458-B92D47381DFF}"/>
              </a:ext>
            </a:extLst>
          </p:cNvPr>
          <p:cNvSpPr>
            <a:spLocks noGrp="1" noChangeArrowheads="1"/>
          </p:cNvSpPr>
          <p:nvPr>
            <p:ph type="title"/>
          </p:nvPr>
        </p:nvSpPr>
        <p:spPr>
          <a:xfrm>
            <a:off x="2286000" y="228600"/>
            <a:ext cx="7543800" cy="762000"/>
          </a:xfrm>
        </p:spPr>
        <p:txBody>
          <a:bodyPr>
            <a:normAutofit fontScale="90000"/>
          </a:bodyPr>
          <a:lstStyle/>
          <a:p>
            <a:pPr fontAlgn="base"/>
            <a:r>
              <a:rPr lang="en-US" b="1" dirty="0"/>
              <a:t>KNN Imputation of missing values</a:t>
            </a:r>
          </a:p>
        </p:txBody>
      </p:sp>
      <p:sp>
        <p:nvSpPr>
          <p:cNvPr id="12292" name="Rectangle 3">
            <a:extLst>
              <a:ext uri="{FF2B5EF4-FFF2-40B4-BE49-F238E27FC236}">
                <a16:creationId xmlns:a16="http://schemas.microsoft.com/office/drawing/2014/main" id="{BD5B7B19-BAE4-24E7-D509-46A847F9B94E}"/>
              </a:ext>
            </a:extLst>
          </p:cNvPr>
          <p:cNvSpPr>
            <a:spLocks noGrp="1" noChangeArrowheads="1"/>
          </p:cNvSpPr>
          <p:nvPr>
            <p:ph type="body" idx="1"/>
          </p:nvPr>
        </p:nvSpPr>
        <p:spPr>
          <a:xfrm>
            <a:off x="838200" y="1295400"/>
            <a:ext cx="10515600" cy="5257800"/>
          </a:xfrm>
        </p:spPr>
        <p:txBody>
          <a:bodyPr>
            <a:normAutofit/>
          </a:bodyPr>
          <a:lstStyle/>
          <a:p>
            <a:pPr marL="0" lvl="0" indent="0" eaLnBrk="0" fontAlgn="base" hangingPunct="0">
              <a:lnSpc>
                <a:spcPct val="100000"/>
              </a:lnSpc>
              <a:spcBef>
                <a:spcPct val="0"/>
              </a:spcBef>
              <a:spcAft>
                <a:spcPct val="0"/>
              </a:spcAft>
              <a:buNone/>
            </a:pPr>
            <a:r>
              <a:rPr lang="en-US" altLang="en-US" sz="2400" dirty="0">
                <a:solidFill>
                  <a:srgbClr val="242424"/>
                </a:solidFill>
                <a:latin typeface="source-serif-pro"/>
              </a:rPr>
              <a:t>K-Nearest Neighbors (KNN) imputation replaces missing values by finding the ‘K’ most similar data points (neighbors) and averaging their values.</a:t>
            </a:r>
            <a:endParaRPr lang="en-US" altLang="en-US" sz="1050" dirty="0"/>
          </a:p>
          <a:p>
            <a:pPr marL="0" lvl="0" indent="0" eaLnBrk="0" fontAlgn="base" hangingPunct="0">
              <a:lnSpc>
                <a:spcPct val="100000"/>
              </a:lnSpc>
              <a:spcBef>
                <a:spcPct val="0"/>
              </a:spcBef>
              <a:spcAft>
                <a:spcPct val="0"/>
              </a:spcAft>
              <a:buNone/>
            </a:pPr>
            <a:r>
              <a:rPr lang="en-US" altLang="en-US" sz="2400" b="1" dirty="0">
                <a:solidFill>
                  <a:srgbClr val="242424"/>
                </a:solidFill>
                <a:latin typeface="source-serif-pro"/>
              </a:rPr>
              <a:t>Steps:</a:t>
            </a:r>
            <a:endParaRPr lang="en-US" altLang="en-US" sz="1050" dirty="0"/>
          </a:p>
          <a:p>
            <a:pPr marL="0" lvl="0" indent="0" eaLnBrk="0" fontAlgn="base" hangingPunct="0">
              <a:lnSpc>
                <a:spcPct val="100000"/>
              </a:lnSpc>
              <a:spcBef>
                <a:spcPct val="0"/>
              </a:spcBef>
              <a:spcAft>
                <a:spcPct val="0"/>
              </a:spcAft>
              <a:buFontTx/>
              <a:buAutoNum type="arabicPeriod"/>
            </a:pPr>
            <a:r>
              <a:rPr lang="en-US" altLang="en-US" sz="2400" b="1" dirty="0">
                <a:solidFill>
                  <a:srgbClr val="242424"/>
                </a:solidFill>
                <a:latin typeface="source-serif-pro"/>
              </a:rPr>
              <a:t>Standardize the Data</a:t>
            </a:r>
            <a:r>
              <a:rPr lang="en-US" altLang="en-US" sz="2400" dirty="0">
                <a:solidFill>
                  <a:srgbClr val="242424"/>
                </a:solidFill>
                <a:latin typeface="source-serif-pro"/>
              </a:rPr>
              <a:t> — Normalize numerical features to avoid bias due to different scales.</a:t>
            </a:r>
          </a:p>
          <a:p>
            <a:pPr marL="0" lvl="0" indent="0" eaLnBrk="0" fontAlgn="base" hangingPunct="0">
              <a:lnSpc>
                <a:spcPct val="100000"/>
              </a:lnSpc>
              <a:spcBef>
                <a:spcPct val="0"/>
              </a:spcBef>
              <a:spcAft>
                <a:spcPct val="0"/>
              </a:spcAft>
              <a:buFontTx/>
              <a:buAutoNum type="arabicPeriod" startAt="2"/>
            </a:pPr>
            <a:r>
              <a:rPr lang="en-US" altLang="en-US" sz="2400" b="1" dirty="0">
                <a:solidFill>
                  <a:srgbClr val="242424"/>
                </a:solidFill>
                <a:latin typeface="source-serif-pro"/>
              </a:rPr>
              <a:t>Choose K</a:t>
            </a:r>
            <a:r>
              <a:rPr lang="en-US" altLang="en-US" sz="2400" dirty="0">
                <a:solidFill>
                  <a:srgbClr val="242424"/>
                </a:solidFill>
                <a:latin typeface="source-serif-pro"/>
              </a:rPr>
              <a:t> — Select an appropriate number of neighbors (</a:t>
            </a:r>
            <a:r>
              <a:rPr lang="en-US" altLang="en-US" sz="1600" dirty="0">
                <a:solidFill>
                  <a:srgbClr val="242424"/>
                </a:solidFill>
                <a:latin typeface="source-code-pro"/>
              </a:rPr>
              <a:t>K</a:t>
            </a:r>
            <a:r>
              <a:rPr lang="en-US" altLang="en-US" sz="2400" dirty="0">
                <a:solidFill>
                  <a:srgbClr val="242424"/>
                </a:solidFill>
                <a:latin typeface="source-serif-pro"/>
              </a:rPr>
              <a:t>). Common values range from 3 to 10.</a:t>
            </a:r>
          </a:p>
          <a:p>
            <a:pPr marL="0" lvl="0" indent="0" eaLnBrk="0" fontAlgn="base" hangingPunct="0">
              <a:lnSpc>
                <a:spcPct val="100000"/>
              </a:lnSpc>
              <a:spcBef>
                <a:spcPct val="0"/>
              </a:spcBef>
              <a:spcAft>
                <a:spcPct val="0"/>
              </a:spcAft>
              <a:buFontTx/>
              <a:buAutoNum type="arabicPeriod" startAt="3"/>
            </a:pPr>
            <a:r>
              <a:rPr lang="en-US" altLang="en-US" sz="2400" b="1" dirty="0">
                <a:solidFill>
                  <a:srgbClr val="242424"/>
                </a:solidFill>
                <a:latin typeface="source-serif-pro"/>
              </a:rPr>
              <a:t>Compute Distance</a:t>
            </a:r>
            <a:r>
              <a:rPr lang="en-US" altLang="en-US" sz="2400" dirty="0">
                <a:solidFill>
                  <a:srgbClr val="242424"/>
                </a:solidFill>
                <a:latin typeface="source-serif-pro"/>
              </a:rPr>
              <a:t> — Use Euclidean, Manhattan, or other distance metrics to find the nearest neighbors.</a:t>
            </a:r>
          </a:p>
          <a:p>
            <a:pPr marL="0" lvl="0" indent="0" eaLnBrk="0" fontAlgn="base" hangingPunct="0">
              <a:lnSpc>
                <a:spcPct val="100000"/>
              </a:lnSpc>
              <a:spcBef>
                <a:spcPct val="0"/>
              </a:spcBef>
              <a:spcAft>
                <a:spcPct val="0"/>
              </a:spcAft>
              <a:buFontTx/>
              <a:buAutoNum type="arabicPeriod" startAt="4"/>
            </a:pPr>
            <a:r>
              <a:rPr lang="en-US" altLang="en-US" sz="2400" b="1" dirty="0">
                <a:solidFill>
                  <a:srgbClr val="242424"/>
                </a:solidFill>
                <a:latin typeface="source-serif-pro"/>
              </a:rPr>
              <a:t>Impute Missing Values</a:t>
            </a:r>
            <a:r>
              <a:rPr lang="en-US" altLang="en-US" sz="2400" dirty="0">
                <a:solidFill>
                  <a:srgbClr val="242424"/>
                </a:solidFill>
                <a:latin typeface="source-serif-pro"/>
              </a:rPr>
              <a:t> — Replace missing values with the mean (for continuous data) or mode (for categorical data) of the nearest neighbors.</a:t>
            </a:r>
          </a:p>
          <a:p>
            <a:pPr marL="0" lvl="0" indent="0" eaLnBrk="0" fontAlgn="base" hangingPunct="0">
              <a:lnSpc>
                <a:spcPct val="100000"/>
              </a:lnSpc>
              <a:spcBef>
                <a:spcPct val="0"/>
              </a:spcBef>
              <a:spcAft>
                <a:spcPct val="0"/>
              </a:spcAft>
              <a:buFontTx/>
              <a:buAutoNum type="arabicPeriod" startAt="5"/>
            </a:pPr>
            <a:r>
              <a:rPr lang="en-US" altLang="en-US" sz="2400" b="1" dirty="0">
                <a:solidFill>
                  <a:srgbClr val="242424"/>
                </a:solidFill>
                <a:latin typeface="source-serif-pro"/>
              </a:rPr>
              <a:t>Verify Results</a:t>
            </a:r>
            <a:r>
              <a:rPr lang="en-US" altLang="en-US" sz="2400" dirty="0">
                <a:solidFill>
                  <a:srgbClr val="242424"/>
                </a:solidFill>
                <a:latin typeface="source-serif-pro"/>
              </a:rPr>
              <a:t> — Check if the imputed values make sense in the context of the data.</a:t>
            </a:r>
            <a:endParaRPr lang="en-US" altLang="en-US" sz="1050" dirty="0">
              <a:latin typeface="medium-content-sans-serif-font"/>
            </a:endParaRPr>
          </a:p>
          <a:p>
            <a:pPr marL="0" lvl="0" indent="0" eaLnBrk="0" fontAlgn="base" hangingPunct="0">
              <a:lnSpc>
                <a:spcPct val="100000"/>
              </a:lnSpc>
              <a:spcBef>
                <a:spcPct val="0"/>
              </a:spcBef>
              <a:spcAft>
                <a:spcPct val="0"/>
              </a:spcAft>
              <a:buNone/>
            </a:pPr>
            <a:endParaRPr lang="en-US" altLang="en-US" dirty="0">
              <a:latin typeface="Arial" panose="020B0604020202020204" pitchFamily="34" charset="0"/>
            </a:endParaRPr>
          </a:p>
        </p:txBody>
      </p:sp>
      <p:sp>
        <p:nvSpPr>
          <p:cNvPr id="2" name="Rectangle 1">
            <a:extLst>
              <a:ext uri="{FF2B5EF4-FFF2-40B4-BE49-F238E27FC236}">
                <a16:creationId xmlns:a16="http://schemas.microsoft.com/office/drawing/2014/main" id="{495DB3CB-5640-12BB-76AA-01B5AB189B79}"/>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1294797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916</TotalTime>
  <Words>2481</Words>
  <Application>Microsoft Office PowerPoint</Application>
  <PresentationFormat>Widescreen</PresentationFormat>
  <Paragraphs>228</Paragraphs>
  <Slides>30</Slides>
  <Notes>21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30</vt:i4>
      </vt:variant>
    </vt:vector>
  </HeadingPairs>
  <TitlesOfParts>
    <vt:vector size="42" baseType="lpstr">
      <vt:lpstr>Arial</vt:lpstr>
      <vt:lpstr>Berlin Sans FB Demi</vt:lpstr>
      <vt:lpstr>Calibri</vt:lpstr>
      <vt:lpstr>Calibri Light</vt:lpstr>
      <vt:lpstr>medium-content-sans-serif-font</vt:lpstr>
      <vt:lpstr>Nunito</vt:lpstr>
      <vt:lpstr>source-code-pro</vt:lpstr>
      <vt:lpstr>source-serif-pro</vt:lpstr>
      <vt:lpstr>Tahoma</vt:lpstr>
      <vt:lpstr>Times New Roman</vt:lpstr>
      <vt:lpstr>Wingdings</vt:lpstr>
      <vt:lpstr>Office Theme</vt:lpstr>
      <vt:lpstr>PowerPoint Presentation</vt:lpstr>
      <vt:lpstr>Data Quality: Why Preprocess the Data?</vt:lpstr>
      <vt:lpstr>Major Tasks in Data Preprocessing</vt:lpstr>
      <vt:lpstr>Data Cleaning</vt:lpstr>
      <vt:lpstr>Noisy Data</vt:lpstr>
      <vt:lpstr>PowerPoint Presentation</vt:lpstr>
      <vt:lpstr>PowerPoint Presentation</vt:lpstr>
      <vt:lpstr>PowerPoint Presentation</vt:lpstr>
      <vt:lpstr>PowerPoint Presentation</vt:lpstr>
      <vt:lpstr>PowerPoint Presentation</vt:lpstr>
      <vt:lpstr>PowerPoint Presentation</vt:lpstr>
      <vt:lpstr>How to Handle Noisy Data?</vt:lpstr>
      <vt:lpstr>Simple Discretization: Binning</vt:lpstr>
      <vt:lpstr>Binning Methods for Data Smoothing</vt:lpstr>
      <vt:lpstr>Outliers</vt:lpstr>
      <vt:lpstr>Outliers</vt:lpstr>
      <vt:lpstr>PowerPoint Presentation</vt:lpstr>
      <vt:lpstr>Outliers</vt:lpstr>
      <vt:lpstr>PowerPoint Presentation</vt:lpstr>
      <vt:lpstr>Z-Score Method</vt:lpstr>
      <vt:lpstr>PowerPoint Presentation</vt:lpstr>
      <vt:lpstr>Five Number Summary and Box Plot</vt:lpstr>
      <vt:lpstr>Five Number Summary and Box Plot</vt:lpstr>
      <vt:lpstr>The Interquartile Range (IQR)</vt:lpstr>
      <vt:lpstr>Box Plot</vt:lpstr>
      <vt:lpstr>Box Plot</vt:lpstr>
      <vt:lpstr>Box Plot</vt:lpstr>
      <vt:lpstr>Incomplete (Missing) Data</vt:lpstr>
      <vt:lpstr>How to Handle Missing Data?</vt:lpstr>
      <vt:lpstr>KNN Imputation of missing values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 Manika Prasuna</dc:creator>
  <cp:lastModifiedBy>P Manika Prasuna</cp:lastModifiedBy>
  <cp:revision>64</cp:revision>
  <dcterms:created xsi:type="dcterms:W3CDTF">2025-05-12T05:57:37Z</dcterms:created>
  <dcterms:modified xsi:type="dcterms:W3CDTF">2025-08-28T06:34:27Z</dcterms:modified>
</cp:coreProperties>
</file>