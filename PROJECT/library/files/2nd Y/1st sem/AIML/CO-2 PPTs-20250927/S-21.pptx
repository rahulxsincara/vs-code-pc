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6" r:id="rId2"/>
    <p:sldId id="277" r:id="rId3"/>
    <p:sldId id="279" r:id="rId4"/>
    <p:sldId id="286" r:id="rId5"/>
    <p:sldId id="280" r:id="rId6"/>
    <p:sldId id="288" r:id="rId7"/>
    <p:sldId id="281" r:id="rId8"/>
    <p:sldId id="282" r:id="rId9"/>
    <p:sldId id="283" r:id="rId10"/>
    <p:sldId id="287" r:id="rId11"/>
    <p:sldId id="284" r:id="rId12"/>
    <p:sldId id="289" r:id="rId13"/>
    <p:sldId id="290" r:id="rId14"/>
    <p:sldId id="292" r:id="rId15"/>
    <p:sldId id="293" r:id="rId16"/>
    <p:sldId id="294" r:id="rId17"/>
    <p:sldId id="291" r:id="rId18"/>
    <p:sldId id="295" r:id="rId19"/>
    <p:sldId id="296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72034" autoAdjust="0"/>
  </p:normalViewPr>
  <p:slideViewPr>
    <p:cSldViewPr snapToGrid="0">
      <p:cViewPr varScale="1">
        <p:scale>
          <a:sx n="52" d="100"/>
          <a:sy n="52" d="100"/>
        </p:scale>
        <p:origin x="11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151D7-2B90-4CE1-BC31-625FAF2D75C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7DCF7-830B-4670-985F-D018FCA9B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1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7DCF7-830B-4670-985F-D018FCA9B31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861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7DCF7-830B-4670-985F-D018FCA9B31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531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7DCF7-830B-4670-985F-D018FCA9B31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330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7DCF7-830B-4670-985F-D018FCA9B31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245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EA65-A707-C269-A024-F903EF534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D8831-4E82-D353-35FA-C9E7D8A1B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66803-BB4B-E331-9B59-E02C7132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310D-6B66-0C18-ACD9-7F99CAA6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C4730-E47B-53B1-2B1E-36FFF58E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31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1AC9-0C2F-F496-34DE-29456C3F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A586F-E9C7-C588-E6DF-160361875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2A734-1526-6A97-BCEB-83312B4B0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6CAE6-24F1-8BC5-C634-3EDFF7F0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D5C91-2BE5-494D-D5AE-85C15ED3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138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CFAD4-7FCB-4335-6431-72BBC94FC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7FF9B-78BA-C01B-BF41-ADC1C8B2C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F3653-4141-E6B3-D86D-0E0213036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4D32-DF85-D217-0907-D0531CA7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6B5C5-2E7C-C54D-5DD2-01261C5E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23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609A-65A9-47DA-CBDD-9EF210DAA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505DC-AA3F-CF4C-BBA3-C56268C6F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8DF58-9CE8-6AA8-0764-7A742DA78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58FFF-B0CC-A557-700C-E93B0912A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4857D-331A-DFFD-B4D3-340BC57B4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61A43-67F2-5FC7-E838-86291ABA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6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D6FB8-38FE-6C3A-83C4-0E37BB62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D99B8-ABF0-6AD3-2F03-413B85029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33F45-EAEB-4FA8-9B7E-D5D79007C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36AEC3-8240-921E-B781-A02AB57AE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C11AC-16E7-4342-AE02-518505B05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6FC21-D91D-54D0-FE4D-BDC0809A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9278D3-D64F-DAEA-D4B5-BDCB8651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65D082-934F-2C2F-CDFC-DF0F93A4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921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16D8-AF85-4FA1-881E-CF5F7C18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FF827-09B2-DA24-9377-C58F47AE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315AB2-7CFB-F433-17C8-865987BB5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C75292-2865-63C5-B690-A7DF5866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96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53959-A43C-8DEE-E731-CC25653D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A5E507-6049-C2AC-46D5-0E58EC83C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8DCC4-57B9-750D-2462-41158B97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38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8909-1512-8CFB-675F-9FEE0066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A4237-0580-5850-96DE-E923707AA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B1D43-E6FB-07EE-B517-BF3140BEB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95779-5E63-9003-3B25-29F7E5328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8965B-F6C2-64C8-2376-63B34E9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00B82-BFFD-2E60-31B5-CC6BB3D4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8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CF16-CDB7-8994-AAB9-9302D45DD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73AF37-9BB2-6093-CCDB-074F50A2D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30FCC-2228-944E-B640-1C2856E42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445B8-F867-7F41-33C9-CE8D3A57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5DE0B-A7AE-3EBF-7D04-B8CF1F665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E1C3B-FAAF-8B3D-EE41-51BCC82C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01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C6634-862C-DCE5-7F37-1AF30173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416E3-A7F3-AEB1-BCD2-85E0CA219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263E6-65BF-63C8-605E-DE0720A4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20363-D5AB-E201-91E8-704D3735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1850B-F570-FA3C-0066-E296D319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291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5B369F-ED25-F2AC-E96E-7341B7C69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DDFA1-5A2E-1BF9-D01D-89CAE6277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16C66-06DF-30EA-BE83-137D4E942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19795-A50F-37F8-851B-DA4BC8A9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CE33-3E16-457B-B8FF-B3AA3E7E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9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041768-20C5-CB6A-6A6E-B61CCB5B3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227DB-0447-58EE-DCF8-4E1BCF4AE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3D04F-246A-B34F-B8C7-1813DA9A9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B8BE3-46CB-46EB-902D-48D2495ED41D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9017C-CE54-0C54-212E-752AB342F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6E6C3-AAB6-2831-91CB-A6D0FF06F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A1786-5C25-4A40-8E53-F24FF7DAF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94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B2F1F-4A3F-B021-807F-CAAD6128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2607AC33-2B63-C8DA-6D01-04BCED02B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09E71C-53B2-1E44-2A8A-BBD53BBB0208}"/>
              </a:ext>
            </a:extLst>
          </p:cNvPr>
          <p:cNvSpPr txBox="1"/>
          <p:nvPr/>
        </p:nvSpPr>
        <p:spPr>
          <a:xfrm>
            <a:off x="1267097" y="12881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4017CD-686C-2F2C-0058-BCA88FAFB409}"/>
              </a:ext>
            </a:extLst>
          </p:cNvPr>
          <p:cNvSpPr txBox="1"/>
          <p:nvPr/>
        </p:nvSpPr>
        <p:spPr>
          <a:xfrm>
            <a:off x="1267097" y="3566772"/>
            <a:ext cx="96578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NO : </a:t>
            </a:r>
            <a:r>
              <a:rPr lang="en-US" sz="3000" b="1" cap="all" dirty="0">
                <a:latin typeface="Gill Sans MT"/>
                <a:ea typeface="+mj-ea"/>
                <a:cs typeface="+mj-cs"/>
              </a:rPr>
              <a:t>21</a:t>
            </a:r>
            <a:endParaRPr lang="en-IN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BE1EF-905C-3BF5-7B15-D10D57AC0E9B}"/>
              </a:ext>
            </a:extLst>
          </p:cNvPr>
          <p:cNvSpPr txBox="1"/>
          <p:nvPr/>
        </p:nvSpPr>
        <p:spPr>
          <a:xfrm>
            <a:off x="1673524" y="4460405"/>
            <a:ext cx="100353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Under/over fitting, bias-variance tradeoff, cross-validation, train/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val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/test splits, learning/validation curves.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21119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D2B3F-894B-A4BB-5FAB-7EB61AEE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FE054FA4-F0E5-2799-F0EC-A53C640F6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5C00EF-3160-58A8-673D-1D9BEBA0A262}"/>
              </a:ext>
            </a:extLst>
          </p:cNvPr>
          <p:cNvSpPr txBox="1"/>
          <p:nvPr/>
        </p:nvSpPr>
        <p:spPr>
          <a:xfrm>
            <a:off x="1144438" y="1414587"/>
            <a:ext cx="1027693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600" dirty="0"/>
              <a:t>In machine learning, creating a model that performs well is not just about choosing a good algorithm.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600" dirty="0"/>
              <a:t> It also depends on selecting the right features and validating the model properly.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600" dirty="0"/>
              <a:t> In this session, we’ll explore how to avoid underfitting and overfitting, how to balance bias and variance, and how to split data and validate models effectively.</a:t>
            </a:r>
            <a:endParaRPr lang="en-IN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35DCE9-4E0C-A6A2-1954-0CF619C4FACC}"/>
              </a:ext>
            </a:extLst>
          </p:cNvPr>
          <p:cNvSpPr txBox="1"/>
          <p:nvPr/>
        </p:nvSpPr>
        <p:spPr>
          <a:xfrm>
            <a:off x="3232030" y="344960"/>
            <a:ext cx="6837872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Feature Selection &amp; Model Selection – Part 2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182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21D5-F02A-8A24-B48C-DF5EB21C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AC7048B7-F4A4-BE25-5138-47C26E06A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92AD25-EE28-D654-B41E-C9F4C9C12A90}"/>
              </a:ext>
            </a:extLst>
          </p:cNvPr>
          <p:cNvSpPr txBox="1"/>
          <p:nvPr/>
        </p:nvSpPr>
        <p:spPr>
          <a:xfrm>
            <a:off x="1391728" y="1101175"/>
            <a:ext cx="962132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Underfitting</a:t>
            </a:r>
            <a:r>
              <a:rPr lang="en-US" sz="2600" dirty="0"/>
              <a:t> happens when the model is too simple to capture the patterns in the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Poor performance on both training and testing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Common in linear models applied to complex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600" dirty="0"/>
          </a:p>
          <a:p>
            <a:r>
              <a:rPr lang="en-US" sz="2600" b="1" dirty="0"/>
              <a:t>Overfitting</a:t>
            </a:r>
            <a:r>
              <a:rPr lang="en-US" sz="2600" dirty="0"/>
              <a:t> happens when the model is too complex.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It memorizes the training data, including noise and outliers.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Performs well on training data but poorly on new, unseen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 </a:t>
            </a:r>
            <a:r>
              <a:rPr lang="en-US" sz="2600" i="1" dirty="0"/>
              <a:t>Our goal is to build a model that generalizes well – meaning it performs well on both known and unknown data.</a:t>
            </a:r>
            <a:endParaRPr lang="en-US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AEE87A-858C-B872-2111-89A0EF008A9B}"/>
              </a:ext>
            </a:extLst>
          </p:cNvPr>
          <p:cNvSpPr txBox="1"/>
          <p:nvPr/>
        </p:nvSpPr>
        <p:spPr>
          <a:xfrm>
            <a:off x="3692105" y="317327"/>
            <a:ext cx="61075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Underfitting and Overfitting</a:t>
            </a:r>
          </a:p>
        </p:txBody>
      </p:sp>
    </p:spTree>
    <p:extLst>
      <p:ext uri="{BB962C8B-B14F-4D97-AF65-F5344CB8AC3E}">
        <p14:creationId xmlns:p14="http://schemas.microsoft.com/office/powerpoint/2010/main" val="402073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7D4A3-788B-1C80-731F-2205DA6D6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2D963962-7B11-DDCA-5B81-12D0EF5E1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F53045-63EC-61E6-F13F-3259EE1E7E5D}"/>
              </a:ext>
            </a:extLst>
          </p:cNvPr>
          <p:cNvSpPr txBox="1"/>
          <p:nvPr/>
        </p:nvSpPr>
        <p:spPr>
          <a:xfrm>
            <a:off x="3692105" y="317327"/>
            <a:ext cx="61075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Underfitting and Overfitting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286ECE-4DC2-8B37-84BE-EA899E66F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467" y="1482542"/>
            <a:ext cx="9531581" cy="324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2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695B-0F54-4AC7-7246-B4E8013D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7F101903-371A-2940-F17B-CE7E80275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75EC06-EDE9-655C-0621-2C45546DC825}"/>
              </a:ext>
            </a:extLst>
          </p:cNvPr>
          <p:cNvSpPr txBox="1"/>
          <p:nvPr/>
        </p:nvSpPr>
        <p:spPr>
          <a:xfrm>
            <a:off x="1184695" y="1049417"/>
            <a:ext cx="1064668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Bias</a:t>
            </a:r>
            <a:r>
              <a:rPr lang="en-US" sz="2600" dirty="0"/>
              <a:t> is the error due to overly simple assumptions.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High bias models ignore important trends → underfitting.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Variance</a:t>
            </a:r>
            <a:r>
              <a:rPr lang="en-US" sz="2600" dirty="0"/>
              <a:t> is the error due to model sensitivity to small changes in the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High variance models capture noise as if it were signal → overfitting.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600" dirty="0"/>
              <a:t> </a:t>
            </a:r>
            <a:r>
              <a:rPr lang="en-US" sz="2600" i="1" dirty="0"/>
              <a:t>Tradeoff</a:t>
            </a:r>
            <a:r>
              <a:rPr lang="en-US" sz="2600" dirty="0"/>
              <a:t>: A complex model reduces bias but increases variance. A simple model reduces variance but increases bias.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600" dirty="0"/>
              <a:t> </a:t>
            </a:r>
            <a:r>
              <a:rPr lang="en-US" sz="2600" i="1" dirty="0"/>
              <a:t>Goal</a:t>
            </a:r>
            <a:r>
              <a:rPr lang="en-US" sz="2600" dirty="0"/>
              <a:t>: Find the optimal point where both bias and variance are balanced to minimize total error.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1C675-F435-B77F-8FFA-DF125293FAA1}"/>
              </a:ext>
            </a:extLst>
          </p:cNvPr>
          <p:cNvSpPr txBox="1"/>
          <p:nvPr/>
        </p:nvSpPr>
        <p:spPr>
          <a:xfrm>
            <a:off x="4330460" y="253745"/>
            <a:ext cx="35310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Bias-Variance Tradeoff</a:t>
            </a:r>
          </a:p>
        </p:txBody>
      </p:sp>
    </p:spTree>
    <p:extLst>
      <p:ext uri="{BB962C8B-B14F-4D97-AF65-F5344CB8AC3E}">
        <p14:creationId xmlns:p14="http://schemas.microsoft.com/office/powerpoint/2010/main" val="261623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1744-71E3-62D0-908D-7B79ADD1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E7E5493F-8785-6688-2464-10302DD29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20B144-94E3-12C0-6DD6-7DFD2A926B18}"/>
              </a:ext>
            </a:extLst>
          </p:cNvPr>
          <p:cNvSpPr txBox="1"/>
          <p:nvPr/>
        </p:nvSpPr>
        <p:spPr>
          <a:xfrm>
            <a:off x="4330460" y="253745"/>
            <a:ext cx="35310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Bias-Variance Tradeoff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A7A651-42EB-27D8-1148-6FC6344EE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870" y="1066474"/>
            <a:ext cx="6045337" cy="436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10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BF17-94EA-B76F-BC63-2EDCC105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A1218E16-A99A-15F0-B133-0064143BB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6E8B9F-6BA1-B725-8BAA-BBB63BE2F643}"/>
              </a:ext>
            </a:extLst>
          </p:cNvPr>
          <p:cNvSpPr txBox="1"/>
          <p:nvPr/>
        </p:nvSpPr>
        <p:spPr>
          <a:xfrm>
            <a:off x="3807124" y="253043"/>
            <a:ext cx="46007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 </a:t>
            </a:r>
            <a:r>
              <a:rPr lang="en-IN" sz="2800" b="1" dirty="0"/>
              <a:t>Train / Validation / Test Split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43075F-D4EB-7D5E-ADE0-865A9A72C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609" y="2800709"/>
            <a:ext cx="4950070" cy="2483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308223-1F63-9B64-42FE-22CEA24B8B75}"/>
              </a:ext>
            </a:extLst>
          </p:cNvPr>
          <p:cNvSpPr txBox="1"/>
          <p:nvPr/>
        </p:nvSpPr>
        <p:spPr>
          <a:xfrm>
            <a:off x="593651" y="934731"/>
            <a:ext cx="1100469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dirty="0"/>
              <a:t>Training set: Used to teach the model.</a:t>
            </a:r>
          </a:p>
          <a:p>
            <a:endParaRPr lang="en-IN" sz="2600" dirty="0"/>
          </a:p>
          <a:p>
            <a:r>
              <a:rPr lang="en-IN" sz="2600" dirty="0"/>
              <a:t>Validation set: Used to tune hyperparameters and prevent overfitting.</a:t>
            </a:r>
          </a:p>
          <a:p>
            <a:endParaRPr lang="en-IN" sz="2600" dirty="0"/>
          </a:p>
          <a:p>
            <a:r>
              <a:rPr lang="en-IN" sz="2600" dirty="0"/>
              <a:t>Test set: Used to evaluate final model performance on unseen data.</a:t>
            </a:r>
          </a:p>
          <a:p>
            <a:endParaRPr lang="en-IN" sz="2600" dirty="0"/>
          </a:p>
          <a:p>
            <a:r>
              <a:rPr lang="en-IN" sz="2600" dirty="0"/>
              <a:t> </a:t>
            </a:r>
            <a:r>
              <a:rPr lang="en-IN" sz="2600" b="1" dirty="0"/>
              <a:t>Common ratios: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600" dirty="0"/>
              <a:t>70% train, 15% validation, 15% test</a:t>
            </a:r>
          </a:p>
          <a:p>
            <a:endParaRPr lang="en-IN" sz="26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600" dirty="0"/>
              <a:t> 60/20/20 for smaller datasets</a:t>
            </a:r>
          </a:p>
          <a:p>
            <a:endParaRPr lang="en-IN" sz="26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600" dirty="0"/>
              <a:t> Tip: Never test on data the model has already seen.</a:t>
            </a:r>
          </a:p>
        </p:txBody>
      </p:sp>
    </p:spTree>
    <p:extLst>
      <p:ext uri="{BB962C8B-B14F-4D97-AF65-F5344CB8AC3E}">
        <p14:creationId xmlns:p14="http://schemas.microsoft.com/office/powerpoint/2010/main" val="336736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44B55-817A-98B5-4CCC-DE26C6F1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E8974F84-F0DF-D99B-9A1B-B793DA814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1EF0C2-00F4-D7DB-F8D6-E16F62552144}"/>
              </a:ext>
            </a:extLst>
          </p:cNvPr>
          <p:cNvSpPr txBox="1"/>
          <p:nvPr/>
        </p:nvSpPr>
        <p:spPr>
          <a:xfrm>
            <a:off x="4784786" y="304095"/>
            <a:ext cx="31515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 </a:t>
            </a:r>
            <a:r>
              <a:rPr lang="en-IN" sz="2800" b="1" dirty="0"/>
              <a:t>Cross-Validation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8D0F4F-CA79-3021-41A4-5DA6D1578E7D}"/>
              </a:ext>
            </a:extLst>
          </p:cNvPr>
          <p:cNvSpPr txBox="1"/>
          <p:nvPr/>
        </p:nvSpPr>
        <p:spPr>
          <a:xfrm>
            <a:off x="414670" y="1210087"/>
            <a:ext cx="11620982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Cross-validation is a technique used to make better use of limited data and ensure model stability.</a:t>
            </a:r>
          </a:p>
          <a:p>
            <a:endParaRPr lang="en-US" sz="2600" dirty="0"/>
          </a:p>
          <a:p>
            <a:r>
              <a:rPr lang="en-US" sz="2600" b="1" dirty="0"/>
              <a:t>K-Fold Cross-Validation: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Divide data into </a:t>
            </a:r>
            <a:r>
              <a:rPr lang="en-US" sz="2600" i="1" dirty="0"/>
              <a:t>k</a:t>
            </a:r>
            <a:r>
              <a:rPr lang="en-US" sz="2600" dirty="0"/>
              <a:t> parts (folds).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Train the model </a:t>
            </a:r>
            <a:r>
              <a:rPr lang="en-US" sz="2600" i="1" dirty="0"/>
              <a:t>k</a:t>
            </a:r>
            <a:r>
              <a:rPr lang="en-US" sz="2600" dirty="0"/>
              <a:t> times, each time using a different fold as the validation set.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Average the results.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600" b="1" dirty="0"/>
              <a:t>Benefits: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Reduces the impact of a bad data split.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More accurate performance estimation.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702289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89A61-0F24-9352-B013-80B6D4064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0A5B46B8-B2A1-30A5-0E7D-050A0D919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990191-BEBB-E6B9-E0B6-9174FD9164F2}"/>
              </a:ext>
            </a:extLst>
          </p:cNvPr>
          <p:cNvSpPr txBox="1"/>
          <p:nvPr/>
        </p:nvSpPr>
        <p:spPr>
          <a:xfrm>
            <a:off x="340243" y="1295684"/>
            <a:ext cx="1200415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dirty="0"/>
              <a:t>Learning curves show how model performance changes with more training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Training curve</a:t>
            </a:r>
            <a:r>
              <a:rPr lang="en-US" sz="2600" dirty="0"/>
              <a:t>: Error on training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Validation curve</a:t>
            </a:r>
            <a:r>
              <a:rPr lang="en-US" sz="2600" dirty="0"/>
              <a:t>: Error on validation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buNone/>
            </a:pPr>
            <a:r>
              <a:rPr lang="en-US" sz="2600" dirty="0"/>
              <a:t> What curves tell 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High bias</a:t>
            </a:r>
            <a:r>
              <a:rPr lang="en-US" sz="2600" dirty="0"/>
              <a:t>: Both errors are high → add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High variance</a:t>
            </a:r>
            <a:r>
              <a:rPr lang="en-US" sz="2600" dirty="0"/>
              <a:t>: Big gap between training and validation errors → reduce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Good fit</a:t>
            </a:r>
            <a:r>
              <a:rPr lang="en-US" sz="2600" dirty="0"/>
              <a:t>: Curves converge at low error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buNone/>
            </a:pPr>
            <a:r>
              <a:rPr lang="en-US" sz="2600" dirty="0"/>
              <a:t> </a:t>
            </a:r>
            <a:r>
              <a:rPr lang="en-US" sz="2600" i="1" dirty="0"/>
              <a:t>Use learning curves to guide model tuning.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E557E-4961-5DAF-B7FD-3E1AD799235A}"/>
              </a:ext>
            </a:extLst>
          </p:cNvPr>
          <p:cNvSpPr txBox="1"/>
          <p:nvPr/>
        </p:nvSpPr>
        <p:spPr>
          <a:xfrm>
            <a:off x="5074389" y="565705"/>
            <a:ext cx="3431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Learning Curves</a:t>
            </a:r>
          </a:p>
        </p:txBody>
      </p:sp>
    </p:spTree>
    <p:extLst>
      <p:ext uri="{BB962C8B-B14F-4D97-AF65-F5344CB8AC3E}">
        <p14:creationId xmlns:p14="http://schemas.microsoft.com/office/powerpoint/2010/main" val="3509655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FE9A6-45AA-A1E8-2C19-E13C59CA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D9D84BEA-F2D3-36DA-D8DE-C5A793DA8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7E9A59-2300-6B51-977B-B43C9E2D8B27}"/>
              </a:ext>
            </a:extLst>
          </p:cNvPr>
          <p:cNvSpPr txBox="1"/>
          <p:nvPr/>
        </p:nvSpPr>
        <p:spPr>
          <a:xfrm>
            <a:off x="4723581" y="109267"/>
            <a:ext cx="3431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Learning Curves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A1A22-F7E3-9F30-AE4B-C0A9BA082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872" y="827315"/>
            <a:ext cx="7675203" cy="509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12DCB-0323-EE93-7C91-3542353F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1FFE69F3-9CB6-7C6C-A0EC-8AAA3FD34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D72EA5-E370-573D-481D-B99EF3C8969A}"/>
              </a:ext>
            </a:extLst>
          </p:cNvPr>
          <p:cNvSpPr txBox="1"/>
          <p:nvPr/>
        </p:nvSpPr>
        <p:spPr>
          <a:xfrm>
            <a:off x="691115" y="1685283"/>
            <a:ext cx="1118545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Show how performance varies with changes in model parameters (like depth of tree, number of neighbors, etc.)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Helps find the best hyperparameter to prevent underfitting or overfitting.</a:t>
            </a:r>
          </a:p>
          <a:p>
            <a:endParaRPr lang="en-US" sz="2600" dirty="0"/>
          </a:p>
          <a:p>
            <a:r>
              <a:rPr lang="en-US" sz="2600" dirty="0"/>
              <a:t> </a:t>
            </a:r>
            <a:r>
              <a:rPr lang="en-US" sz="2600" b="1" dirty="0"/>
              <a:t>Example:</a:t>
            </a:r>
          </a:p>
          <a:p>
            <a:r>
              <a:rPr lang="en-US" sz="2600" dirty="0"/>
              <a:t>Try different values for a regularization parameter and track validation accuracy to find the sweet spot.</a:t>
            </a:r>
            <a:endParaRPr lang="en-IN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B8679-ABFB-D002-E3D4-4FB45A4FBA27}"/>
              </a:ext>
            </a:extLst>
          </p:cNvPr>
          <p:cNvSpPr txBox="1"/>
          <p:nvPr/>
        </p:nvSpPr>
        <p:spPr>
          <a:xfrm>
            <a:off x="5212612" y="730018"/>
            <a:ext cx="31126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Validation Curves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868764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0CB8C3-303F-312C-BF52-C24CC8FCBC51}"/>
              </a:ext>
            </a:extLst>
          </p:cNvPr>
          <p:cNvSpPr>
            <a:spLocks noGrp="1"/>
          </p:cNvSpPr>
          <p:nvPr/>
        </p:nvSpPr>
        <p:spPr>
          <a:xfrm>
            <a:off x="2753032" y="-11570"/>
            <a:ext cx="745776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sz="2800" b="1" dirty="0">
                <a:latin typeface="+mn-lt"/>
                <a:ea typeface="+mn-ea"/>
                <a:cs typeface="+mn-cs"/>
              </a:rPr>
              <a:t>Student Marks Prediction Project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8824C3-BB6C-7C25-9DA3-1A6C8A9C888B}"/>
              </a:ext>
            </a:extLst>
          </p:cNvPr>
          <p:cNvSpPr>
            <a:spLocks noGrp="1"/>
          </p:cNvSpPr>
          <p:nvPr/>
        </p:nvSpPr>
        <p:spPr>
          <a:xfrm>
            <a:off x="784860" y="1030296"/>
            <a:ext cx="11163300" cy="5131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sz="2800" dirty="0"/>
              <a:t>Inputs: Study hours, Attendance, Mid-term marks, Assignments.</a:t>
            </a:r>
          </a:p>
          <a:p>
            <a:pPr defTabSz="914400"/>
            <a:r>
              <a:rPr sz="2800" dirty="0"/>
              <a:t>Models: Linear Regression, Decision Tree, Random Forest.</a:t>
            </a:r>
          </a:p>
          <a:p>
            <a:pPr defTabSz="914400"/>
            <a:r>
              <a:rPr sz="2800" dirty="0"/>
              <a:t>Steps:</a:t>
            </a:r>
          </a:p>
          <a:p>
            <a:pPr marL="0" indent="0" defTabSz="914400">
              <a:buNone/>
            </a:pPr>
            <a:r>
              <a:rPr sz="2800" dirty="0"/>
              <a:t>1. Split dataset into train/</a:t>
            </a:r>
            <a:r>
              <a:rPr sz="2800" dirty="0" err="1"/>
              <a:t>val</a:t>
            </a:r>
            <a:r>
              <a:rPr sz="2800" dirty="0"/>
              <a:t>/test.</a:t>
            </a:r>
          </a:p>
          <a:p>
            <a:pPr marL="0" indent="0" defTabSz="914400">
              <a:buNone/>
            </a:pPr>
            <a:r>
              <a:rPr sz="2800" dirty="0"/>
              <a:t>2. Use cross-validation.</a:t>
            </a:r>
          </a:p>
          <a:p>
            <a:pPr marL="0" indent="0" defTabSz="914400">
              <a:buNone/>
            </a:pPr>
            <a:r>
              <a:rPr sz="2800" dirty="0"/>
              <a:t>3. Plot learning curve.</a:t>
            </a:r>
          </a:p>
          <a:p>
            <a:pPr marL="0" indent="0" defTabSz="914400">
              <a:buNone/>
            </a:pPr>
            <a:r>
              <a:rPr sz="2800" dirty="0"/>
              <a:t>4. Use validation curve to tune.</a:t>
            </a:r>
          </a:p>
          <a:p>
            <a:pPr marL="0" indent="0" defTabSz="914400">
              <a:buNone/>
            </a:pPr>
            <a:r>
              <a:rPr sz="2800" dirty="0"/>
              <a:t>5. Avoid overfitting with pruning.</a:t>
            </a:r>
          </a:p>
          <a:p>
            <a:pPr marL="0" indent="0" defTabSz="914400">
              <a:buNone/>
            </a:pPr>
            <a:r>
              <a:rPr sz="2800" dirty="0"/>
              <a:t>6. Test on unseen data only.</a:t>
            </a:r>
          </a:p>
          <a:p>
            <a:endParaRPr dirty="0"/>
          </a:p>
        </p:txBody>
      </p:sp>
      <p:pic>
        <p:nvPicPr>
          <p:cNvPr id="7" name="Picture 6" descr="KL University - Wikipedia">
            <a:extLst>
              <a:ext uri="{FF2B5EF4-FFF2-40B4-BE49-F238E27FC236}">
                <a16:creationId xmlns:a16="http://schemas.microsoft.com/office/drawing/2014/main" id="{78E9C73E-6551-90B0-46C2-0CC8474F8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272" y="26384"/>
            <a:ext cx="1317075" cy="53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516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4644E11-7FBF-8E88-6D4B-888F418DD1CC}"/>
              </a:ext>
            </a:extLst>
          </p:cNvPr>
          <p:cNvSpPr>
            <a:spLocks noGrp="1"/>
          </p:cNvSpPr>
          <p:nvPr/>
        </p:nvSpPr>
        <p:spPr>
          <a:xfrm>
            <a:off x="1981199" y="107612"/>
            <a:ext cx="8229600" cy="705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Summary Table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E891765F-D04A-3A6C-55E9-C2AC3CADE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212" y="812785"/>
            <a:ext cx="8477574" cy="5618136"/>
          </a:xfrm>
          <a:prstGeom prst="rect">
            <a:avLst/>
          </a:prstGeom>
        </p:spPr>
      </p:pic>
      <p:pic>
        <p:nvPicPr>
          <p:cNvPr id="7" name="Picture 6" descr="KL University - Wikipedia">
            <a:extLst>
              <a:ext uri="{FF2B5EF4-FFF2-40B4-BE49-F238E27FC236}">
                <a16:creationId xmlns:a16="http://schemas.microsoft.com/office/drawing/2014/main" id="{B2A283FB-20C7-F815-925B-3CDA9DB1E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272" y="26384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59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EADC-2200-E859-AC96-C21C248F2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EB0A431-7E9A-97BD-155F-21C2374341BE}"/>
              </a:ext>
            </a:extLst>
          </p:cNvPr>
          <p:cNvSpPr>
            <a:spLocks noGrp="1"/>
          </p:cNvSpPr>
          <p:nvPr/>
        </p:nvSpPr>
        <p:spPr>
          <a:xfrm>
            <a:off x="1981199" y="2582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Project Description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459D3B-DE74-491A-0B54-5CDEF17A2056}"/>
              </a:ext>
            </a:extLst>
          </p:cNvPr>
          <p:cNvSpPr>
            <a:spLocks noGrp="1"/>
          </p:cNvSpPr>
          <p:nvPr/>
        </p:nvSpPr>
        <p:spPr>
          <a:xfrm>
            <a:off x="1981199" y="158382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dirty="0"/>
              <a:t>- Predict final exam scores based on:</a:t>
            </a:r>
          </a:p>
          <a:p>
            <a:pPr marL="0" indent="0">
              <a:buNone/>
            </a:pPr>
            <a:r>
              <a:rPr sz="2800" dirty="0"/>
              <a:t>- • Study hours</a:t>
            </a:r>
          </a:p>
          <a:p>
            <a:pPr marL="0" indent="0">
              <a:buNone/>
            </a:pPr>
            <a:r>
              <a:rPr sz="2800" dirty="0"/>
              <a:t>- • Attendance</a:t>
            </a:r>
          </a:p>
          <a:p>
            <a:pPr marL="0" indent="0">
              <a:buNone/>
            </a:pPr>
            <a:r>
              <a:rPr sz="2800" dirty="0"/>
              <a:t>- • Midterm marks</a:t>
            </a:r>
          </a:p>
          <a:p>
            <a:pPr marL="0" indent="0">
              <a:buNone/>
            </a:pPr>
            <a:r>
              <a:rPr sz="2800" dirty="0"/>
              <a:t>- • Assignments</a:t>
            </a:r>
          </a:p>
          <a:p>
            <a:r>
              <a:rPr sz="2800" dirty="0"/>
              <a:t> Model: Linear Regression</a:t>
            </a:r>
          </a:p>
          <a:p>
            <a:r>
              <a:rPr sz="2800" dirty="0"/>
              <a:t> Evaluation: Under/Overfitting, Bias-Variance, CV, Learning/Validation Curves</a:t>
            </a:r>
          </a:p>
        </p:txBody>
      </p:sp>
      <p:pic>
        <p:nvPicPr>
          <p:cNvPr id="9" name="Picture 8" descr="KL University - Wikipedia">
            <a:extLst>
              <a:ext uri="{FF2B5EF4-FFF2-40B4-BE49-F238E27FC236}">
                <a16:creationId xmlns:a16="http://schemas.microsoft.com/office/drawing/2014/main" id="{E357ECA3-E702-0657-4793-1A381BA73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272" y="26384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954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FBA91-85F3-B3C8-5852-04F8648C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48C9B-1002-C1F1-531D-BFE5F6BD3F12}"/>
              </a:ext>
            </a:extLst>
          </p:cNvPr>
          <p:cNvSpPr>
            <a:spLocks noGrp="1"/>
          </p:cNvSpPr>
          <p:nvPr/>
        </p:nvSpPr>
        <p:spPr>
          <a:xfrm>
            <a:off x="2209799" y="211405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Student Marks Prediction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6F099-6EEE-4C6A-F908-0C094236BDB9}"/>
              </a:ext>
            </a:extLst>
          </p:cNvPr>
          <p:cNvSpPr>
            <a:spLocks noGrp="1"/>
          </p:cNvSpPr>
          <p:nvPr/>
        </p:nvSpPr>
        <p:spPr>
          <a:xfrm>
            <a:off x="2895599" y="3869826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Feature Selection &amp; Model Selection Concepts with Graphs and Explanations</a:t>
            </a:r>
          </a:p>
        </p:txBody>
      </p:sp>
      <p:pic>
        <p:nvPicPr>
          <p:cNvPr id="5" name="Picture 4" descr="KL University - Wikipedia">
            <a:extLst>
              <a:ext uri="{FF2B5EF4-FFF2-40B4-BE49-F238E27FC236}">
                <a16:creationId xmlns:a16="http://schemas.microsoft.com/office/drawing/2014/main" id="{56FDDDE6-7D7B-DF02-DB9B-7C7568D25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272" y="26384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1749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02E65D-3CBB-E4BF-FC94-4680921255BB}"/>
              </a:ext>
            </a:extLst>
          </p:cNvPr>
          <p:cNvSpPr>
            <a:spLocks noGrp="1"/>
          </p:cNvSpPr>
          <p:nvPr/>
        </p:nvSpPr>
        <p:spPr>
          <a:xfrm>
            <a:off x="1981199" y="5004"/>
            <a:ext cx="8229600" cy="929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Underfitting vs Overfitting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27ADC2-EB32-0394-30ED-78E770E41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19" y="1376604"/>
            <a:ext cx="7315200" cy="4389120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14820620-9BEF-FE15-0BCF-CDD1C9C7AAC2}"/>
              </a:ext>
            </a:extLst>
          </p:cNvPr>
          <p:cNvSpPr txBox="1"/>
          <p:nvPr/>
        </p:nvSpPr>
        <p:spPr>
          <a:xfrm>
            <a:off x="2043192" y="5853429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Degree 1: Too simple (underfit), Degree 2: Balanced fit, Degree 5: Too complex (overfit).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79884A-7B4D-0A05-00B2-3F33D1407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9" y="1102283"/>
            <a:ext cx="9144000" cy="4663441"/>
          </a:xfrm>
          <a:prstGeom prst="rect">
            <a:avLst/>
          </a:prstGeom>
        </p:spPr>
      </p:pic>
      <p:pic>
        <p:nvPicPr>
          <p:cNvPr id="9" name="Picture 8" descr="KL University - Wikipedia">
            <a:extLst>
              <a:ext uri="{FF2B5EF4-FFF2-40B4-BE49-F238E27FC236}">
                <a16:creationId xmlns:a16="http://schemas.microsoft.com/office/drawing/2014/main" id="{44070B14-70D4-083D-1761-C41EC6C26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272" y="47762"/>
            <a:ext cx="1376069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031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C464E-8968-AD73-A560-B39505C2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BE77-FF96-7251-FA6C-D25E322F728E}"/>
              </a:ext>
            </a:extLst>
          </p:cNvPr>
          <p:cNvSpPr>
            <a:spLocks noGrp="1"/>
          </p:cNvSpPr>
          <p:nvPr/>
        </p:nvSpPr>
        <p:spPr>
          <a:xfrm>
            <a:off x="1981199" y="18337"/>
            <a:ext cx="8229600" cy="887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Bias-Variance Tradeoff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1EE58-2445-870D-1BE5-9535E464F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19" y="1363272"/>
            <a:ext cx="7315200" cy="4389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33FAC9-E617-111E-AAD4-AEAB9EE400E6}"/>
              </a:ext>
            </a:extLst>
          </p:cNvPr>
          <p:cNvSpPr txBox="1"/>
          <p:nvPr/>
        </p:nvSpPr>
        <p:spPr>
          <a:xfrm>
            <a:off x="2255519" y="5713646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Low-degree models underfit (high bias); high-degree models overfit (high variance).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7CF617-8BFD-77E8-9258-2037AE24F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9" y="906072"/>
            <a:ext cx="9144000" cy="4389120"/>
          </a:xfrm>
          <a:prstGeom prst="rect">
            <a:avLst/>
          </a:prstGeom>
        </p:spPr>
      </p:pic>
      <p:pic>
        <p:nvPicPr>
          <p:cNvPr id="7" name="Picture 6" descr="KL University - Wikipedia">
            <a:extLst>
              <a:ext uri="{FF2B5EF4-FFF2-40B4-BE49-F238E27FC236}">
                <a16:creationId xmlns:a16="http://schemas.microsoft.com/office/drawing/2014/main" id="{49FA9197-3691-9371-696F-AF46FAF84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272" y="34430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925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3A14-E3F8-CA3C-C4D6-03B00DED7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951745F-155A-29C3-12E1-B706C1C965E4}"/>
              </a:ext>
            </a:extLst>
          </p:cNvPr>
          <p:cNvSpPr>
            <a:spLocks noGrp="1"/>
          </p:cNvSpPr>
          <p:nvPr/>
        </p:nvSpPr>
        <p:spPr>
          <a:xfrm>
            <a:off x="1981199" y="10976"/>
            <a:ext cx="8229600" cy="762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Learning Curve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72BE82-B7AE-6344-FED0-A5900F8C4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19" y="1370634"/>
            <a:ext cx="7315200" cy="4389120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B51B60F8-C7C9-F2A4-706B-0BF0BD287B43}"/>
              </a:ext>
            </a:extLst>
          </p:cNvPr>
          <p:cNvSpPr txBox="1"/>
          <p:nvPr/>
        </p:nvSpPr>
        <p:spPr>
          <a:xfrm>
            <a:off x="1705329" y="5606317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Shows model improvement with more data. Validation RMSE decreases with more training samples.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C2FF9A-9AC6-89F2-29BB-F9473E33A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9" y="863838"/>
            <a:ext cx="9144000" cy="4621595"/>
          </a:xfrm>
          <a:prstGeom prst="rect">
            <a:avLst/>
          </a:prstGeom>
        </p:spPr>
      </p:pic>
      <p:pic>
        <p:nvPicPr>
          <p:cNvPr id="13" name="Picture 12" descr="KL University - Wikipedia">
            <a:extLst>
              <a:ext uri="{FF2B5EF4-FFF2-40B4-BE49-F238E27FC236}">
                <a16:creationId xmlns:a16="http://schemas.microsoft.com/office/drawing/2014/main" id="{7957B0EB-5EBC-AA53-D289-4B6831F00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272" y="41792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748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5D078-04DD-CF06-BE76-BAF340536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1A98-5857-0D13-AF25-876E3048E74F}"/>
              </a:ext>
            </a:extLst>
          </p:cNvPr>
          <p:cNvSpPr>
            <a:spLocks noGrp="1"/>
          </p:cNvSpPr>
          <p:nvPr/>
        </p:nvSpPr>
        <p:spPr>
          <a:xfrm>
            <a:off x="1981199" y="75485"/>
            <a:ext cx="8229600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Validation Curve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33020D-2070-5BC0-2386-16444472E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19" y="1323099"/>
            <a:ext cx="7315200" cy="4389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40D1E4-9D2A-5341-9AFC-676E07425AE0}"/>
              </a:ext>
            </a:extLst>
          </p:cNvPr>
          <p:cNvSpPr txBox="1"/>
          <p:nvPr/>
        </p:nvSpPr>
        <p:spPr>
          <a:xfrm>
            <a:off x="2148581" y="5949343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Validation RMSE vs polynomial degree. Helps find optimal model complexity.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BC00E-1F30-D964-6E9F-0F45D7BEE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9" y="865899"/>
            <a:ext cx="9144000" cy="4572000"/>
          </a:xfrm>
          <a:prstGeom prst="rect">
            <a:avLst/>
          </a:prstGeom>
        </p:spPr>
      </p:pic>
      <p:pic>
        <p:nvPicPr>
          <p:cNvPr id="7" name="Picture 6" descr="KL University - Wikipedia">
            <a:extLst>
              <a:ext uri="{FF2B5EF4-FFF2-40B4-BE49-F238E27FC236}">
                <a16:creationId xmlns:a16="http://schemas.microsoft.com/office/drawing/2014/main" id="{3CDC390A-9079-A7B6-1D26-E2915F09D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272" y="-5743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142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62A2E-BF2C-F849-02BF-B79E50DDA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270CC9A7-41C6-6192-9C96-7BA88A5CA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C3B5C8-48ED-BAEB-BEAE-45109761614C}"/>
              </a:ext>
            </a:extLst>
          </p:cNvPr>
          <p:cNvSpPr txBox="1"/>
          <p:nvPr/>
        </p:nvSpPr>
        <p:spPr>
          <a:xfrm>
            <a:off x="848265" y="1182231"/>
            <a:ext cx="1061049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Avoid underfitting by choosing a model that’s expressive enough.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Avoid overfitting using regularization, simpler models, and validation techniques.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Split your data properly and use cross-validation to evaluate reliability.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Use learning and validation curves to guide decisions.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buNone/>
            </a:pPr>
            <a:r>
              <a:rPr lang="en-US" sz="2600" i="1" dirty="0"/>
              <a:t>*</a:t>
            </a:r>
            <a:r>
              <a:rPr lang="en-US" sz="2600" b="1" i="1" dirty="0"/>
              <a:t>Remember</a:t>
            </a:r>
            <a:r>
              <a:rPr lang="en-US" sz="2600" i="1" dirty="0"/>
              <a:t>: A good model doesn’t just memorize, it learns patterns that generalize!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B15CA-FA53-9541-9C26-F37F112D29AF}"/>
              </a:ext>
            </a:extLst>
          </p:cNvPr>
          <p:cNvSpPr txBox="1"/>
          <p:nvPr/>
        </p:nvSpPr>
        <p:spPr>
          <a:xfrm>
            <a:off x="3755367" y="326278"/>
            <a:ext cx="47962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Conclusion / Key Takeaways</a:t>
            </a:r>
          </a:p>
        </p:txBody>
      </p:sp>
    </p:spTree>
    <p:extLst>
      <p:ext uri="{BB962C8B-B14F-4D97-AF65-F5344CB8AC3E}">
        <p14:creationId xmlns:p14="http://schemas.microsoft.com/office/powerpoint/2010/main" val="1539807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835</Words>
  <Application>Microsoft Office PowerPoint</Application>
  <PresentationFormat>Widescreen</PresentationFormat>
  <Paragraphs>117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</vt:lpstr>
      <vt:lpstr>Calibri</vt:lpstr>
      <vt:lpstr>Calibri Light</vt:lpstr>
      <vt:lpstr>Gill Sans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maneesha vadduri</dc:creator>
  <cp:lastModifiedBy>P Manika Prasuna</cp:lastModifiedBy>
  <cp:revision>6</cp:revision>
  <dcterms:created xsi:type="dcterms:W3CDTF">2025-07-10T10:27:30Z</dcterms:created>
  <dcterms:modified xsi:type="dcterms:W3CDTF">2025-08-28T06:31:10Z</dcterms:modified>
</cp:coreProperties>
</file>