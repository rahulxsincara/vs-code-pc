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2"/>
  </p:notesMasterIdLst>
  <p:handoutMasterIdLst>
    <p:handoutMasterId r:id="rId23"/>
  </p:handoutMasterIdLst>
  <p:sldIdLst>
    <p:sldId id="256" r:id="rId2"/>
    <p:sldId id="286" r:id="rId3"/>
    <p:sldId id="295" r:id="rId4"/>
    <p:sldId id="1137" r:id="rId5"/>
    <p:sldId id="296" r:id="rId6"/>
    <p:sldId id="1125" r:id="rId7"/>
    <p:sldId id="1014" r:id="rId8"/>
    <p:sldId id="1126" r:id="rId9"/>
    <p:sldId id="1127" r:id="rId10"/>
    <p:sldId id="1128" r:id="rId11"/>
    <p:sldId id="1129" r:id="rId12"/>
    <p:sldId id="1130" r:id="rId13"/>
    <p:sldId id="1131" r:id="rId14"/>
    <p:sldId id="1134" r:id="rId15"/>
    <p:sldId id="1132" r:id="rId16"/>
    <p:sldId id="1133" r:id="rId17"/>
    <p:sldId id="1135" r:id="rId18"/>
    <p:sldId id="289" r:id="rId19"/>
    <p:sldId id="1139" r:id="rId20"/>
    <p:sldId id="271"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69" d="100"/>
          <a:sy n="69" d="100"/>
        </p:scale>
        <p:origin x="524" y="44"/>
      </p:cViewPr>
      <p:guideLst/>
    </p:cSldViewPr>
  </p:slideViewPr>
  <p:notesTextViewPr>
    <p:cViewPr>
      <p:scale>
        <a:sx n="1" d="1"/>
        <a:sy n="1" d="1"/>
      </p:scale>
      <p:origin x="0" y="0"/>
    </p:cViewPr>
  </p:notesTextViewPr>
  <p:notesViewPr>
    <p:cSldViewPr snapToGrid="0">
      <p:cViewPr varScale="1">
        <p:scale>
          <a:sx n="58" d="100"/>
          <a:sy n="58" d="100"/>
        </p:scale>
        <p:origin x="2544" y="6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C644F58-5B20-E869-E77C-C0F8B126D4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2860BF67-7A8A-CC30-946D-343E6F7B7F7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BD3ACDD-0F07-4DA2-90FB-487D20C54100}" type="datetimeFigureOut">
              <a:rPr lang="en-IN" smtClean="0"/>
              <a:t>28-08-2025</a:t>
            </a:fld>
            <a:endParaRPr lang="en-IN"/>
          </a:p>
        </p:txBody>
      </p:sp>
      <p:sp>
        <p:nvSpPr>
          <p:cNvPr id="4" name="Footer Placeholder 3">
            <a:extLst>
              <a:ext uri="{FF2B5EF4-FFF2-40B4-BE49-F238E27FC236}">
                <a16:creationId xmlns:a16="http://schemas.microsoft.com/office/drawing/2014/main" id="{8328392D-4986-B627-D445-87FF7EC7979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374455C3-9724-ECC3-A882-4DB8FAE0109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09FF142-8412-46FD-A27C-3EB6E62B083A}" type="slidenum">
              <a:rPr lang="en-IN" smtClean="0"/>
              <a:t>‹#›</a:t>
            </a:fld>
            <a:endParaRPr lang="en-IN"/>
          </a:p>
        </p:txBody>
      </p:sp>
    </p:spTree>
    <p:extLst>
      <p:ext uri="{BB962C8B-B14F-4D97-AF65-F5344CB8AC3E}">
        <p14:creationId xmlns:p14="http://schemas.microsoft.com/office/powerpoint/2010/main" val="22663594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6C30D7-9224-4B97-9E82-8CDBF687CA76}" type="datetimeFigureOut">
              <a:rPr lang="en-IN" smtClean="0"/>
              <a:t>28-08-2025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B08B-E445-45F2-ACFB-8FC9CD790997}" type="slidenum">
              <a:rPr lang="en-IN" smtClean="0"/>
              <a:t>‹#›</a:t>
            </a:fld>
            <a:endParaRPr lang="en-IN"/>
          </a:p>
        </p:txBody>
      </p:sp>
    </p:spTree>
    <p:extLst>
      <p:ext uri="{BB962C8B-B14F-4D97-AF65-F5344CB8AC3E}">
        <p14:creationId xmlns:p14="http://schemas.microsoft.com/office/powerpoint/2010/main" val="22415252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75B64746-946D-0A08-AD0F-D8F6057E164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B13D5947-6724-4D30-B3B5-8A0DFB3FCBC8}" type="slidenum">
              <a:rPr lang="en-US" altLang="en-US">
                <a:latin typeface="Times New Roman" panose="02020603050405020304" pitchFamily="18" charset="0"/>
              </a:rPr>
              <a:pPr/>
              <a:t>6</a:t>
            </a:fld>
            <a:endParaRPr lang="en-US" altLang="en-US">
              <a:latin typeface="Times New Roman" panose="02020603050405020304" pitchFamily="18" charset="0"/>
            </a:endParaRPr>
          </a:p>
        </p:txBody>
      </p:sp>
      <p:sp>
        <p:nvSpPr>
          <p:cNvPr id="98307" name="Rectangle 2">
            <a:extLst>
              <a:ext uri="{FF2B5EF4-FFF2-40B4-BE49-F238E27FC236}">
                <a16:creationId xmlns:a16="http://schemas.microsoft.com/office/drawing/2014/main" id="{6FCBF612-6A2A-9404-B500-0443B18078DE}"/>
              </a:ext>
            </a:extLst>
          </p:cNvPr>
          <p:cNvSpPr>
            <a:spLocks noGrp="1" noRot="1" noChangeAspect="1" noChangeArrowheads="1" noTextEdit="1"/>
          </p:cNvSpPr>
          <p:nvPr>
            <p:ph type="sldImg"/>
          </p:nvPr>
        </p:nvSpPr>
        <p:spPr>
          <a:ln/>
        </p:spPr>
      </p:sp>
      <p:sp>
        <p:nvSpPr>
          <p:cNvPr id="98308" name="Rectangle 3">
            <a:extLst>
              <a:ext uri="{FF2B5EF4-FFF2-40B4-BE49-F238E27FC236}">
                <a16:creationId xmlns:a16="http://schemas.microsoft.com/office/drawing/2014/main" id="{13439CFD-D7F0-9433-B2D7-295AA75937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I : the expected information needed to classify a given sample</a:t>
            </a:r>
          </a:p>
          <a:p>
            <a:r>
              <a:rPr lang="en-US" altLang="en-US"/>
              <a:t>E (entropy) : expected information based on the partitioning into subsets by A</a:t>
            </a:r>
          </a:p>
          <a:p>
            <a:r>
              <a:rPr lang="en-US" altLang="en-US"/>
              <a:t>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99C037E4-FE22-CC18-66EB-506048A5857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0F165B76-B64C-44B4-ACAD-0FF2D9B38C97}" type="slidenum">
              <a:rPr lang="en-US" altLang="en-US">
                <a:latin typeface="Times New Roman" panose="02020603050405020304" pitchFamily="18" charset="0"/>
              </a:rPr>
              <a:pPr/>
              <a:t>7</a:t>
            </a:fld>
            <a:endParaRPr lang="en-US" altLang="en-US">
              <a:latin typeface="Times New Roman" panose="02020603050405020304" pitchFamily="18" charset="0"/>
            </a:endParaRPr>
          </a:p>
        </p:txBody>
      </p:sp>
      <p:sp>
        <p:nvSpPr>
          <p:cNvPr id="99331" name="Rectangle 2">
            <a:extLst>
              <a:ext uri="{FF2B5EF4-FFF2-40B4-BE49-F238E27FC236}">
                <a16:creationId xmlns:a16="http://schemas.microsoft.com/office/drawing/2014/main" id="{70E68629-8115-812F-956D-8199391B7F3A}"/>
              </a:ext>
            </a:extLst>
          </p:cNvPr>
          <p:cNvSpPr>
            <a:spLocks noGrp="1" noRot="1" noChangeAspect="1" noChangeArrowheads="1" noTextEdit="1"/>
          </p:cNvSpPr>
          <p:nvPr>
            <p:ph type="sldImg"/>
          </p:nvPr>
        </p:nvSpPr>
        <p:spPr>
          <a:ln/>
        </p:spPr>
      </p:sp>
      <p:sp>
        <p:nvSpPr>
          <p:cNvPr id="99332" name="Rectangle 3">
            <a:extLst>
              <a:ext uri="{FF2B5EF4-FFF2-40B4-BE49-F238E27FC236}">
                <a16:creationId xmlns:a16="http://schemas.microsoft.com/office/drawing/2014/main" id="{50127C28-2F08-5AC2-0F87-B13CE84E54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38A3636-4462-45DC-BB00-FF6375F9F6C0}" type="datetimeFigureOut">
              <a:rPr lang="en-IN" smtClean="0"/>
              <a:t>28-08-2025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8F3EC4-EDD9-42C1-AC18-D944FC4FABDD}" type="slidenum">
              <a:rPr lang="en-IN" smtClean="0"/>
              <a:t>‹#›</a:t>
            </a:fld>
            <a:endParaRPr lang="en-IN"/>
          </a:p>
        </p:txBody>
      </p:sp>
    </p:spTree>
    <p:extLst>
      <p:ext uri="{BB962C8B-B14F-4D97-AF65-F5344CB8AC3E}">
        <p14:creationId xmlns:p14="http://schemas.microsoft.com/office/powerpoint/2010/main" val="2768482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8A3636-4462-45DC-BB00-FF6375F9F6C0}" type="datetimeFigureOut">
              <a:rPr lang="en-IN" smtClean="0"/>
              <a:t>28-08-2025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8F3EC4-EDD9-42C1-AC18-D944FC4FABDD}" type="slidenum">
              <a:rPr lang="en-IN" smtClean="0"/>
              <a:t>‹#›</a:t>
            </a:fld>
            <a:endParaRPr lang="en-IN"/>
          </a:p>
        </p:txBody>
      </p:sp>
    </p:spTree>
    <p:extLst>
      <p:ext uri="{BB962C8B-B14F-4D97-AF65-F5344CB8AC3E}">
        <p14:creationId xmlns:p14="http://schemas.microsoft.com/office/powerpoint/2010/main" val="38833468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8A3636-4462-45DC-BB00-FF6375F9F6C0}" type="datetimeFigureOut">
              <a:rPr lang="en-IN" smtClean="0"/>
              <a:t>28-08-2025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8F3EC4-EDD9-42C1-AC18-D944FC4FABDD}" type="slidenum">
              <a:rPr lang="en-IN" smtClean="0"/>
              <a:t>‹#›</a:t>
            </a:fld>
            <a:endParaRPr lang="en-IN"/>
          </a:p>
        </p:txBody>
      </p:sp>
    </p:spTree>
    <p:extLst>
      <p:ext uri="{BB962C8B-B14F-4D97-AF65-F5344CB8AC3E}">
        <p14:creationId xmlns:p14="http://schemas.microsoft.com/office/powerpoint/2010/main" val="526664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38A3636-4462-45DC-BB00-FF6375F9F6C0}" type="datetimeFigureOut">
              <a:rPr lang="en-IN" smtClean="0"/>
              <a:t>28-08-2025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8F3EC4-EDD9-42C1-AC18-D944FC4FABDD}" type="slidenum">
              <a:rPr lang="en-IN" smtClean="0"/>
              <a:t>‹#›</a:t>
            </a:fld>
            <a:endParaRPr lang="en-IN"/>
          </a:p>
        </p:txBody>
      </p:sp>
    </p:spTree>
    <p:extLst>
      <p:ext uri="{BB962C8B-B14F-4D97-AF65-F5344CB8AC3E}">
        <p14:creationId xmlns:p14="http://schemas.microsoft.com/office/powerpoint/2010/main" val="1916558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38A3636-4462-45DC-BB00-FF6375F9F6C0}" type="datetimeFigureOut">
              <a:rPr lang="en-IN" smtClean="0"/>
              <a:t>28-08-2025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18F3EC4-EDD9-42C1-AC18-D944FC4FABDD}" type="slidenum">
              <a:rPr lang="en-IN" smtClean="0"/>
              <a:t>‹#›</a:t>
            </a:fld>
            <a:endParaRPr lang="en-IN"/>
          </a:p>
        </p:txBody>
      </p:sp>
    </p:spTree>
    <p:extLst>
      <p:ext uri="{BB962C8B-B14F-4D97-AF65-F5344CB8AC3E}">
        <p14:creationId xmlns:p14="http://schemas.microsoft.com/office/powerpoint/2010/main" val="15441286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38A3636-4462-45DC-BB00-FF6375F9F6C0}" type="datetimeFigureOut">
              <a:rPr lang="en-IN" smtClean="0"/>
              <a:t>28-08-2025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18F3EC4-EDD9-42C1-AC18-D944FC4FABDD}" type="slidenum">
              <a:rPr lang="en-IN" smtClean="0"/>
              <a:t>‹#›</a:t>
            </a:fld>
            <a:endParaRPr lang="en-IN"/>
          </a:p>
        </p:txBody>
      </p:sp>
    </p:spTree>
    <p:extLst>
      <p:ext uri="{BB962C8B-B14F-4D97-AF65-F5344CB8AC3E}">
        <p14:creationId xmlns:p14="http://schemas.microsoft.com/office/powerpoint/2010/main" val="1577011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8A3636-4462-45DC-BB00-FF6375F9F6C0}" type="datetimeFigureOut">
              <a:rPr lang="en-IN" smtClean="0"/>
              <a:t>28-08-2025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18F3EC4-EDD9-42C1-AC18-D944FC4FABDD}" type="slidenum">
              <a:rPr lang="en-IN" smtClean="0"/>
              <a:t>‹#›</a:t>
            </a:fld>
            <a:endParaRPr lang="en-IN"/>
          </a:p>
        </p:txBody>
      </p:sp>
    </p:spTree>
    <p:extLst>
      <p:ext uri="{BB962C8B-B14F-4D97-AF65-F5344CB8AC3E}">
        <p14:creationId xmlns:p14="http://schemas.microsoft.com/office/powerpoint/2010/main" val="373016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38A3636-4462-45DC-BB00-FF6375F9F6C0}" type="datetimeFigureOut">
              <a:rPr lang="en-IN" smtClean="0"/>
              <a:t>28-08-2025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8F3EC4-EDD9-42C1-AC18-D944FC4FABDD}" type="slidenum">
              <a:rPr lang="en-IN" smtClean="0"/>
              <a:t>‹#›</a:t>
            </a:fld>
            <a:endParaRPr lang="en-IN"/>
          </a:p>
        </p:txBody>
      </p:sp>
    </p:spTree>
    <p:extLst>
      <p:ext uri="{BB962C8B-B14F-4D97-AF65-F5344CB8AC3E}">
        <p14:creationId xmlns:p14="http://schemas.microsoft.com/office/powerpoint/2010/main" val="26883604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38A3636-4462-45DC-BB00-FF6375F9F6C0}" type="datetimeFigureOut">
              <a:rPr lang="en-IN" smtClean="0"/>
              <a:t>28-08-2025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8F3EC4-EDD9-42C1-AC18-D944FC4FABDD}" type="slidenum">
              <a:rPr lang="en-IN" smtClean="0"/>
              <a:t>‹#›</a:t>
            </a:fld>
            <a:endParaRPr lang="en-IN"/>
          </a:p>
        </p:txBody>
      </p:sp>
    </p:spTree>
    <p:extLst>
      <p:ext uri="{BB962C8B-B14F-4D97-AF65-F5344CB8AC3E}">
        <p14:creationId xmlns:p14="http://schemas.microsoft.com/office/powerpoint/2010/main" val="1435331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8A3636-4462-45DC-BB00-FF6375F9F6C0}" type="datetimeFigureOut">
              <a:rPr lang="en-IN" smtClean="0"/>
              <a:t>28-08-2025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8F3EC4-EDD9-42C1-AC18-D944FC4FABDD}" type="slidenum">
              <a:rPr lang="en-IN" smtClean="0"/>
              <a:t>‹#›</a:t>
            </a:fld>
            <a:endParaRPr lang="en-IN"/>
          </a:p>
        </p:txBody>
      </p:sp>
    </p:spTree>
    <p:extLst>
      <p:ext uri="{BB962C8B-B14F-4D97-AF65-F5344CB8AC3E}">
        <p14:creationId xmlns:p14="http://schemas.microsoft.com/office/powerpoint/2010/main" val="30985560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8A3636-4462-45DC-BB00-FF6375F9F6C0}" type="datetimeFigureOut">
              <a:rPr lang="en-IN" smtClean="0"/>
              <a:t>28-08-2025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8F3EC4-EDD9-42C1-AC18-D944FC4FABDD}" type="slidenum">
              <a:rPr lang="en-IN" smtClean="0"/>
              <a:t>‹#›</a:t>
            </a:fld>
            <a:endParaRPr lang="en-IN"/>
          </a:p>
        </p:txBody>
      </p:sp>
    </p:spTree>
    <p:extLst>
      <p:ext uri="{BB962C8B-B14F-4D97-AF65-F5344CB8AC3E}">
        <p14:creationId xmlns:p14="http://schemas.microsoft.com/office/powerpoint/2010/main" val="1023697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8A3636-4462-45DC-BB00-FF6375F9F6C0}" type="datetimeFigureOut">
              <a:rPr lang="en-IN" smtClean="0"/>
              <a:t>28-08-2025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8F3EC4-EDD9-42C1-AC18-D944FC4FABDD}" type="slidenum">
              <a:rPr lang="en-IN" smtClean="0"/>
              <a:t>‹#›</a:t>
            </a:fld>
            <a:endParaRPr lang="en-IN"/>
          </a:p>
        </p:txBody>
      </p:sp>
    </p:spTree>
    <p:extLst>
      <p:ext uri="{BB962C8B-B14F-4D97-AF65-F5344CB8AC3E}">
        <p14:creationId xmlns:p14="http://schemas.microsoft.com/office/powerpoint/2010/main" val="305301478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wmf"/><Relationship Id="rId5" Type="http://schemas.openxmlformats.org/officeDocument/2006/relationships/oleObject" Target="../embeddings/oleObject2.bin"/><Relationship Id="rId4" Type="http://schemas.openxmlformats.org/officeDocument/2006/relationships/image" Target="../media/image3.wmf"/></Relationships>
</file>

<file path=ppt/slides/_rels/slide7.xml.rels><?xml version="1.0" encoding="UTF-8" standalone="yes"?>
<Relationships xmlns="http://schemas.openxmlformats.org/package/2006/relationships"><Relationship Id="rId8" Type="http://schemas.openxmlformats.org/officeDocument/2006/relationships/image" Target="../media/image8.wmf"/><Relationship Id="rId13" Type="http://schemas.openxmlformats.org/officeDocument/2006/relationships/oleObject" Target="../embeddings/oleObject9.bin"/><Relationship Id="rId3" Type="http://schemas.openxmlformats.org/officeDocument/2006/relationships/oleObject" Target="../embeddings/oleObject4.bin"/><Relationship Id="rId7" Type="http://schemas.openxmlformats.org/officeDocument/2006/relationships/oleObject" Target="../embeddings/oleObject6.bin"/><Relationship Id="rId12" Type="http://schemas.openxmlformats.org/officeDocument/2006/relationships/image" Target="../media/image10.emf"/><Relationship Id="rId2" Type="http://schemas.openxmlformats.org/officeDocument/2006/relationships/notesSlide" Target="../notesSlides/notesSlide2.xml"/><Relationship Id="rId16" Type="http://schemas.openxmlformats.org/officeDocument/2006/relationships/image" Target="../media/image12.wmf"/><Relationship Id="rId1" Type="http://schemas.openxmlformats.org/officeDocument/2006/relationships/slideLayout" Target="../slideLayouts/slideLayout4.xml"/><Relationship Id="rId6" Type="http://schemas.openxmlformats.org/officeDocument/2006/relationships/image" Target="../media/image7.wmf"/><Relationship Id="rId11" Type="http://schemas.openxmlformats.org/officeDocument/2006/relationships/oleObject" Target="../embeddings/oleObject8.bin"/><Relationship Id="rId5" Type="http://schemas.openxmlformats.org/officeDocument/2006/relationships/oleObject" Target="../embeddings/oleObject5.bin"/><Relationship Id="rId15" Type="http://schemas.openxmlformats.org/officeDocument/2006/relationships/oleObject" Target="../embeddings/oleObject10.bin"/><Relationship Id="rId10" Type="http://schemas.openxmlformats.org/officeDocument/2006/relationships/image" Target="../media/image9.wmf"/><Relationship Id="rId4" Type="http://schemas.openxmlformats.org/officeDocument/2006/relationships/image" Target="../media/image6.emf"/><Relationship Id="rId9" Type="http://schemas.openxmlformats.org/officeDocument/2006/relationships/oleObject" Target="../embeddings/oleObject7.bin"/><Relationship Id="rId14" Type="http://schemas.openxmlformats.org/officeDocument/2006/relationships/image" Target="../media/image11.wmf"/></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KL University - Wikipedia">
            <a:extLst>
              <a:ext uri="{FF2B5EF4-FFF2-40B4-BE49-F238E27FC236}">
                <a16:creationId xmlns:a16="http://schemas.microsoft.com/office/drawing/2014/main" id="{C7BC2855-62DF-7C68-2680-6F1BDACC9B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348" y="109267"/>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E3F2F65-8282-9C7E-CEBC-B3FCF09DF9DC}"/>
              </a:ext>
            </a:extLst>
          </p:cNvPr>
          <p:cNvSpPr txBox="1"/>
          <p:nvPr/>
        </p:nvSpPr>
        <p:spPr>
          <a:xfrm>
            <a:off x="1267097" y="1288145"/>
            <a:ext cx="9657806" cy="1938992"/>
          </a:xfrm>
          <a:prstGeom prst="rect">
            <a:avLst/>
          </a:prstGeom>
          <a:noFill/>
        </p:spPr>
        <p:txBody>
          <a:bodyPr wrap="square">
            <a:spAutoFit/>
          </a:bodyPr>
          <a:lstStyle/>
          <a:p>
            <a:pPr algn="ctr"/>
            <a:r>
              <a:rPr kumimoji="0" lang="en-US" sz="4000" b="1" i="0" u="none" strike="noStrike" kern="1200" cap="all" spc="0" normalizeH="0" baseline="0" noProof="0" dirty="0">
                <a:ln>
                  <a:noFill/>
                </a:ln>
                <a:solidFill>
                  <a:schemeClr val="accent2">
                    <a:lumMod val="50000"/>
                  </a:schemeClr>
                </a:solidFill>
                <a:effectLst/>
                <a:uLnTx/>
                <a:uFillTx/>
                <a:latin typeface="Gill Sans MT"/>
                <a:ea typeface="+mj-ea"/>
                <a:cs typeface="+mj-cs"/>
              </a:rPr>
              <a:t>ARTIFICIAL INTELLIGENCE </a:t>
            </a:r>
            <a:br>
              <a:rPr kumimoji="0" lang="en-US" sz="4000" b="1" i="0" u="none" strike="noStrike" kern="1200" cap="all" spc="0" normalizeH="0" baseline="0" noProof="0" dirty="0">
                <a:ln>
                  <a:noFill/>
                </a:ln>
                <a:solidFill>
                  <a:schemeClr val="accent2">
                    <a:lumMod val="50000"/>
                  </a:schemeClr>
                </a:solidFill>
                <a:effectLst/>
                <a:uLnTx/>
                <a:uFillTx/>
                <a:latin typeface="Gill Sans MT"/>
                <a:ea typeface="+mj-ea"/>
                <a:cs typeface="+mj-cs"/>
              </a:rPr>
            </a:br>
            <a:r>
              <a:rPr kumimoji="0" lang="en-US" sz="4000" b="1" i="0" u="none" strike="noStrike" kern="1200" cap="all" spc="0" normalizeH="0" baseline="0" noProof="0" dirty="0">
                <a:ln>
                  <a:noFill/>
                </a:ln>
                <a:solidFill>
                  <a:schemeClr val="accent2">
                    <a:lumMod val="50000"/>
                  </a:schemeClr>
                </a:solidFill>
                <a:effectLst/>
                <a:uLnTx/>
                <a:uFillTx/>
                <a:latin typeface="Gill Sans MT"/>
                <a:ea typeface="+mj-ea"/>
                <a:cs typeface="+mj-cs"/>
              </a:rPr>
              <a:t>&amp; </a:t>
            </a:r>
            <a:br>
              <a:rPr kumimoji="0" lang="en-US" sz="4000" b="1" i="0" u="none" strike="noStrike" kern="1200" cap="all" spc="0" normalizeH="0" baseline="0" noProof="0" dirty="0">
                <a:ln>
                  <a:noFill/>
                </a:ln>
                <a:solidFill>
                  <a:schemeClr val="accent2">
                    <a:lumMod val="50000"/>
                  </a:schemeClr>
                </a:solidFill>
                <a:effectLst/>
                <a:uLnTx/>
                <a:uFillTx/>
                <a:latin typeface="Gill Sans MT"/>
                <a:ea typeface="+mj-ea"/>
                <a:cs typeface="+mj-cs"/>
              </a:rPr>
            </a:br>
            <a:r>
              <a:rPr kumimoji="0" lang="en-US" sz="4000" b="1" i="0" u="none" strike="noStrike" kern="1200" cap="all" spc="0" normalizeH="0" baseline="0" noProof="0" dirty="0">
                <a:ln>
                  <a:noFill/>
                </a:ln>
                <a:solidFill>
                  <a:schemeClr val="accent2">
                    <a:lumMod val="50000"/>
                  </a:schemeClr>
                </a:solidFill>
                <a:effectLst/>
                <a:uLnTx/>
                <a:uFillTx/>
                <a:latin typeface="Gill Sans MT"/>
                <a:ea typeface="+mj-ea"/>
                <a:cs typeface="+mj-cs"/>
              </a:rPr>
              <a:t>MACHINE LEARNING</a:t>
            </a:r>
            <a:endParaRPr lang="en-IN" sz="4000" dirty="0">
              <a:solidFill>
                <a:schemeClr val="accent2">
                  <a:lumMod val="50000"/>
                </a:schemeClr>
              </a:solidFill>
            </a:endParaRPr>
          </a:p>
        </p:txBody>
      </p:sp>
      <p:sp>
        <p:nvSpPr>
          <p:cNvPr id="2" name="TextBox 1">
            <a:extLst>
              <a:ext uri="{FF2B5EF4-FFF2-40B4-BE49-F238E27FC236}">
                <a16:creationId xmlns:a16="http://schemas.microsoft.com/office/drawing/2014/main" id="{12010671-249C-340E-19B5-2BA72FEB1F0C}"/>
              </a:ext>
            </a:extLst>
          </p:cNvPr>
          <p:cNvSpPr txBox="1"/>
          <p:nvPr/>
        </p:nvSpPr>
        <p:spPr>
          <a:xfrm>
            <a:off x="971550" y="3566771"/>
            <a:ext cx="10473197" cy="2000548"/>
          </a:xfrm>
          <a:prstGeom prst="rect">
            <a:avLst/>
          </a:prstGeom>
          <a:noFill/>
        </p:spPr>
        <p:txBody>
          <a:bodyPr wrap="square">
            <a:spAutoFit/>
          </a:bodyPr>
          <a:lstStyle/>
          <a:p>
            <a:pPr algn="ctr"/>
            <a:r>
              <a:rPr kumimoji="0" lang="en-US" sz="3000" b="1" i="0" u="none" strike="noStrike" kern="1200" cap="all" spc="0" normalizeH="0" baseline="0" noProof="0" dirty="0">
                <a:ln>
                  <a:noFill/>
                </a:ln>
                <a:effectLst/>
                <a:uLnTx/>
                <a:uFillTx/>
                <a:latin typeface="Gill Sans MT"/>
                <a:ea typeface="+mj-ea"/>
                <a:cs typeface="+mj-cs"/>
              </a:rPr>
              <a:t>SESSION NO : </a:t>
            </a:r>
            <a:r>
              <a:rPr lang="en-US" sz="3000" b="1" cap="all" dirty="0">
                <a:latin typeface="Gill Sans MT"/>
                <a:ea typeface="+mj-ea"/>
                <a:cs typeface="+mj-cs"/>
              </a:rPr>
              <a:t>20</a:t>
            </a:r>
          </a:p>
          <a:p>
            <a:pPr algn="ctr"/>
            <a:endParaRPr lang="en-US" sz="3000" b="1" cap="all" dirty="0">
              <a:latin typeface="Gill Sans MT"/>
              <a:ea typeface="+mj-ea"/>
              <a:cs typeface="+mj-cs"/>
            </a:endParaRPr>
          </a:p>
          <a:p>
            <a:pPr algn="ctr"/>
            <a:r>
              <a:rPr lang="en-US" sz="3200" b="1" dirty="0"/>
              <a:t>Feature selection methods (mutual information, information gain, Fisher score).</a:t>
            </a:r>
            <a:endParaRPr lang="en-IN" sz="3000" dirty="0"/>
          </a:p>
        </p:txBody>
      </p:sp>
    </p:spTree>
    <p:extLst>
      <p:ext uri="{BB962C8B-B14F-4D97-AF65-F5344CB8AC3E}">
        <p14:creationId xmlns:p14="http://schemas.microsoft.com/office/powerpoint/2010/main" val="39881704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8529C-554C-CF0C-CC93-1342DAA63CE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5BB056-9C1C-D28B-4E03-784F69D9E980}"/>
              </a:ext>
            </a:extLst>
          </p:cNvPr>
          <p:cNvSpPr>
            <a:spLocks noGrp="1"/>
          </p:cNvSpPr>
          <p:nvPr>
            <p:ph idx="1"/>
          </p:nvPr>
        </p:nvSpPr>
        <p:spPr>
          <a:xfrm>
            <a:off x="597081" y="1105989"/>
            <a:ext cx="10997838" cy="4833256"/>
          </a:xfrm>
        </p:spPr>
        <p:txBody>
          <a:bodyPr>
            <a:normAutofit/>
          </a:bodyPr>
          <a:lstStyle/>
          <a:p>
            <a:pPr algn="just" fontAlgn="base">
              <a:lnSpc>
                <a:spcPct val="150000"/>
              </a:lnSpc>
            </a:pPr>
            <a:r>
              <a:rPr lang="en-US" dirty="0"/>
              <a:t>In data science many times we encounter vast of features present in a dataset. </a:t>
            </a:r>
          </a:p>
          <a:p>
            <a:pPr algn="just" fontAlgn="base">
              <a:lnSpc>
                <a:spcPct val="150000"/>
              </a:lnSpc>
            </a:pPr>
            <a:r>
              <a:rPr lang="en-US" dirty="0"/>
              <a:t>But it is not necessary all features contribute equally in prediction that's where feature selection comes. </a:t>
            </a:r>
          </a:p>
          <a:p>
            <a:pPr algn="just" fontAlgn="base">
              <a:lnSpc>
                <a:spcPct val="150000"/>
              </a:lnSpc>
            </a:pPr>
            <a:r>
              <a:rPr lang="en-US" dirty="0"/>
              <a:t>It involves selecting a subset of relevant features from the original feature set to reduce the feature space while improving the model’s performance by reducing computational power. </a:t>
            </a:r>
          </a:p>
        </p:txBody>
      </p:sp>
      <p:pic>
        <p:nvPicPr>
          <p:cNvPr id="4" name="Picture 2" descr="KL University - Wikipedia">
            <a:extLst>
              <a:ext uri="{FF2B5EF4-FFF2-40B4-BE49-F238E27FC236}">
                <a16:creationId xmlns:a16="http://schemas.microsoft.com/office/drawing/2014/main" id="{8748671D-3F1B-2997-438D-742786D558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325"/>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37F05A7-9F1E-29C8-C931-0119A98850BA}"/>
              </a:ext>
            </a:extLst>
          </p:cNvPr>
          <p:cNvSpPr txBox="1"/>
          <p:nvPr/>
        </p:nvSpPr>
        <p:spPr>
          <a:xfrm>
            <a:off x="3069486" y="419349"/>
            <a:ext cx="6477000" cy="584775"/>
          </a:xfrm>
          <a:prstGeom prst="rect">
            <a:avLst/>
          </a:prstGeom>
          <a:noFill/>
        </p:spPr>
        <p:txBody>
          <a:bodyPr wrap="square">
            <a:spAutoFit/>
          </a:bodyPr>
          <a:lstStyle/>
          <a:p>
            <a:r>
              <a:rPr lang="en-US" sz="3200" b="1" dirty="0"/>
              <a:t>Feature Selection Methods</a:t>
            </a:r>
          </a:p>
        </p:txBody>
      </p:sp>
    </p:spTree>
    <p:extLst>
      <p:ext uri="{BB962C8B-B14F-4D97-AF65-F5344CB8AC3E}">
        <p14:creationId xmlns:p14="http://schemas.microsoft.com/office/powerpoint/2010/main" val="33070113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3C46A-EA56-9F6F-E2F5-862E9CBD3F3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1B2D5A-A94E-11F3-D307-7D856FE9CC87}"/>
              </a:ext>
            </a:extLst>
          </p:cNvPr>
          <p:cNvSpPr>
            <a:spLocks noGrp="1"/>
          </p:cNvSpPr>
          <p:nvPr>
            <p:ph idx="1"/>
          </p:nvPr>
        </p:nvSpPr>
        <p:spPr>
          <a:xfrm>
            <a:off x="597081" y="711736"/>
            <a:ext cx="10997838" cy="4833256"/>
          </a:xfrm>
        </p:spPr>
        <p:txBody>
          <a:bodyPr>
            <a:normAutofit/>
          </a:bodyPr>
          <a:lstStyle/>
          <a:p>
            <a:pPr algn="just" fontAlgn="base">
              <a:lnSpc>
                <a:spcPct val="150000"/>
              </a:lnSpc>
            </a:pPr>
            <a:r>
              <a:rPr lang="en-US" sz="2400" b="1" dirty="0"/>
              <a:t>1. Filter Methods</a:t>
            </a:r>
          </a:p>
          <a:p>
            <a:pPr algn="just" fontAlgn="base">
              <a:lnSpc>
                <a:spcPct val="150000"/>
              </a:lnSpc>
            </a:pPr>
            <a:r>
              <a:rPr lang="en-US" sz="2400" dirty="0"/>
              <a:t>Filter methods evaluate each feature independently with target variable. </a:t>
            </a:r>
          </a:p>
          <a:p>
            <a:pPr algn="just" fontAlgn="base">
              <a:lnSpc>
                <a:spcPct val="150000"/>
              </a:lnSpc>
            </a:pPr>
            <a:r>
              <a:rPr lang="en-US" sz="2400" dirty="0"/>
              <a:t>Feature with high correlation with target variable are selected as it means this feature has some relation and can help us in making predictions. </a:t>
            </a:r>
          </a:p>
          <a:p>
            <a:pPr algn="just" fontAlgn="base">
              <a:lnSpc>
                <a:spcPct val="150000"/>
              </a:lnSpc>
            </a:pPr>
            <a:r>
              <a:rPr lang="en-US" sz="2400" dirty="0"/>
              <a:t>These methods are used in the preprocessing phase to remove irrelevant or redundant features based on statistical tests (correlation) or other criteria.</a:t>
            </a:r>
          </a:p>
        </p:txBody>
      </p:sp>
      <p:pic>
        <p:nvPicPr>
          <p:cNvPr id="4" name="Picture 2" descr="KL University - Wikipedia">
            <a:extLst>
              <a:ext uri="{FF2B5EF4-FFF2-40B4-BE49-F238E27FC236}">
                <a16:creationId xmlns:a16="http://schemas.microsoft.com/office/drawing/2014/main" id="{60808572-0C69-C50B-4270-3408ACEDB1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325"/>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E78A6EC-140D-A7EB-ADCA-2045CD12974E}"/>
              </a:ext>
            </a:extLst>
          </p:cNvPr>
          <p:cNvSpPr txBox="1"/>
          <p:nvPr/>
        </p:nvSpPr>
        <p:spPr>
          <a:xfrm>
            <a:off x="2581806" y="126961"/>
            <a:ext cx="6477000" cy="584775"/>
          </a:xfrm>
          <a:prstGeom prst="rect">
            <a:avLst/>
          </a:prstGeom>
          <a:noFill/>
        </p:spPr>
        <p:txBody>
          <a:bodyPr wrap="square">
            <a:spAutoFit/>
          </a:bodyPr>
          <a:lstStyle/>
          <a:p>
            <a:r>
              <a:rPr lang="en-US" sz="3200" b="1" dirty="0"/>
              <a:t>Feature Selection Methods</a:t>
            </a:r>
          </a:p>
        </p:txBody>
      </p:sp>
    </p:spTree>
    <p:extLst>
      <p:ext uri="{BB962C8B-B14F-4D97-AF65-F5344CB8AC3E}">
        <p14:creationId xmlns:p14="http://schemas.microsoft.com/office/powerpoint/2010/main" val="875360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752FF-D833-5C98-1404-CF561F6EA8CC}"/>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CDE75586-0CB0-026D-7426-036F616DC8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325"/>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CE6F64F-76FB-8CBC-5DB5-A26CAC5840A8}"/>
              </a:ext>
            </a:extLst>
          </p:cNvPr>
          <p:cNvSpPr txBox="1"/>
          <p:nvPr/>
        </p:nvSpPr>
        <p:spPr>
          <a:xfrm>
            <a:off x="2581806" y="126961"/>
            <a:ext cx="6477000" cy="584775"/>
          </a:xfrm>
          <a:prstGeom prst="rect">
            <a:avLst/>
          </a:prstGeom>
          <a:noFill/>
        </p:spPr>
        <p:txBody>
          <a:bodyPr wrap="square">
            <a:spAutoFit/>
          </a:bodyPr>
          <a:lstStyle/>
          <a:p>
            <a:r>
              <a:rPr lang="en-US" sz="3200" b="1" dirty="0"/>
              <a:t>Filter Methods</a:t>
            </a:r>
          </a:p>
        </p:txBody>
      </p:sp>
      <p:pic>
        <p:nvPicPr>
          <p:cNvPr id="6" name="Picture 5">
            <a:extLst>
              <a:ext uri="{FF2B5EF4-FFF2-40B4-BE49-F238E27FC236}">
                <a16:creationId xmlns:a16="http://schemas.microsoft.com/office/drawing/2014/main" id="{7526B27D-8324-D95D-2676-D7EB103DCEB7}"/>
              </a:ext>
            </a:extLst>
          </p:cNvPr>
          <p:cNvPicPr>
            <a:picLocks noChangeAspect="1"/>
          </p:cNvPicPr>
          <p:nvPr/>
        </p:nvPicPr>
        <p:blipFill>
          <a:blip r:embed="rId3"/>
          <a:stretch>
            <a:fillRect/>
          </a:stretch>
        </p:blipFill>
        <p:spPr>
          <a:xfrm>
            <a:off x="2057406" y="1404410"/>
            <a:ext cx="7525800" cy="4421624"/>
          </a:xfrm>
          <a:prstGeom prst="rect">
            <a:avLst/>
          </a:prstGeom>
        </p:spPr>
      </p:pic>
    </p:spTree>
    <p:extLst>
      <p:ext uri="{BB962C8B-B14F-4D97-AF65-F5344CB8AC3E}">
        <p14:creationId xmlns:p14="http://schemas.microsoft.com/office/powerpoint/2010/main" val="24289328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9B5E2-5F32-5831-1A08-361C4B1B4B8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5943A2-D211-2452-F28F-8D01B582B056}"/>
              </a:ext>
            </a:extLst>
          </p:cNvPr>
          <p:cNvSpPr>
            <a:spLocks noGrp="1"/>
          </p:cNvSpPr>
          <p:nvPr>
            <p:ph idx="1"/>
          </p:nvPr>
        </p:nvSpPr>
        <p:spPr>
          <a:xfrm>
            <a:off x="2277835" y="1312817"/>
            <a:ext cx="5951765" cy="4232365"/>
          </a:xfrm>
        </p:spPr>
        <p:txBody>
          <a:bodyPr>
            <a:normAutofit/>
          </a:bodyPr>
          <a:lstStyle/>
          <a:p>
            <a:pPr marL="0" indent="0" fontAlgn="base">
              <a:buNone/>
            </a:pPr>
            <a:r>
              <a:rPr lang="en-US" dirty="0"/>
              <a:t>Some techniques used are:  </a:t>
            </a:r>
          </a:p>
          <a:p>
            <a:pPr fontAlgn="base"/>
            <a:r>
              <a:rPr lang="en-US" b="1" dirty="0"/>
              <a:t>Information Gain</a:t>
            </a:r>
          </a:p>
          <a:p>
            <a:pPr fontAlgn="base"/>
            <a:r>
              <a:rPr lang="en-US" b="1" dirty="0"/>
              <a:t>Chi-square test</a:t>
            </a:r>
          </a:p>
          <a:p>
            <a:pPr fontAlgn="base"/>
            <a:r>
              <a:rPr lang="en-US" b="1" dirty="0"/>
              <a:t>Fisher’s Score</a:t>
            </a:r>
            <a:endParaRPr lang="en-US" dirty="0"/>
          </a:p>
          <a:p>
            <a:pPr fontAlgn="base"/>
            <a:r>
              <a:rPr lang="en-US" b="1" dirty="0"/>
              <a:t>Pearson’s Correlation Coefficient</a:t>
            </a:r>
            <a:endParaRPr lang="en-US" dirty="0"/>
          </a:p>
          <a:p>
            <a:pPr fontAlgn="base"/>
            <a:r>
              <a:rPr lang="en-US" b="1" dirty="0"/>
              <a:t>Variance Threshold</a:t>
            </a:r>
            <a:endParaRPr lang="en-US" dirty="0"/>
          </a:p>
          <a:p>
            <a:pPr fontAlgn="base"/>
            <a:r>
              <a:rPr lang="en-US" b="1" dirty="0"/>
              <a:t>Mean Absolute Difference:</a:t>
            </a:r>
            <a:r>
              <a:rPr lang="en-US" dirty="0"/>
              <a:t> </a:t>
            </a:r>
          </a:p>
          <a:p>
            <a:pPr fontAlgn="base"/>
            <a:r>
              <a:rPr lang="en-US" b="1" dirty="0"/>
              <a:t>Dispersion ratio</a:t>
            </a:r>
            <a:endParaRPr lang="en-US" dirty="0"/>
          </a:p>
        </p:txBody>
      </p:sp>
      <p:pic>
        <p:nvPicPr>
          <p:cNvPr id="4" name="Picture 2" descr="KL University - Wikipedia">
            <a:extLst>
              <a:ext uri="{FF2B5EF4-FFF2-40B4-BE49-F238E27FC236}">
                <a16:creationId xmlns:a16="http://schemas.microsoft.com/office/drawing/2014/main" id="{81CD32AD-D3EC-CAB7-EF88-E70176E4DE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325"/>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3E371B5-9CDD-7F2F-2CB2-C77B6A3706FE}"/>
              </a:ext>
            </a:extLst>
          </p:cNvPr>
          <p:cNvSpPr txBox="1"/>
          <p:nvPr/>
        </p:nvSpPr>
        <p:spPr>
          <a:xfrm>
            <a:off x="2581806" y="126961"/>
            <a:ext cx="6477000" cy="584775"/>
          </a:xfrm>
          <a:prstGeom prst="rect">
            <a:avLst/>
          </a:prstGeom>
          <a:noFill/>
        </p:spPr>
        <p:txBody>
          <a:bodyPr wrap="square">
            <a:spAutoFit/>
          </a:bodyPr>
          <a:lstStyle/>
          <a:p>
            <a:r>
              <a:rPr lang="en-US" sz="3200" b="1" dirty="0"/>
              <a:t>Feature Selection Methods</a:t>
            </a:r>
          </a:p>
        </p:txBody>
      </p:sp>
    </p:spTree>
    <p:extLst>
      <p:ext uri="{BB962C8B-B14F-4D97-AF65-F5344CB8AC3E}">
        <p14:creationId xmlns:p14="http://schemas.microsoft.com/office/powerpoint/2010/main" val="22920868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3">
            <a:extLst>
              <a:ext uri="{FF2B5EF4-FFF2-40B4-BE49-F238E27FC236}">
                <a16:creationId xmlns:a16="http://schemas.microsoft.com/office/drawing/2014/main" id="{16FA251F-E0DF-EE39-27D1-1AE7F9A552D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609DA4B0-CEC3-4AE4-879C-0C609E08E341}" type="slidenum">
              <a:rPr lang="en-US" altLang="en-US"/>
              <a:pPr eaLnBrk="1" hangingPunct="1"/>
              <a:t>6</a:t>
            </a:fld>
            <a:endParaRPr lang="en-US" altLang="en-US"/>
          </a:p>
        </p:txBody>
      </p:sp>
      <p:sp>
        <p:nvSpPr>
          <p:cNvPr id="15363" name="Rectangle 2">
            <a:extLst>
              <a:ext uri="{FF2B5EF4-FFF2-40B4-BE49-F238E27FC236}">
                <a16:creationId xmlns:a16="http://schemas.microsoft.com/office/drawing/2014/main" id="{08BDF966-5FA9-CF52-6507-DD7FEA65D7A7}"/>
              </a:ext>
            </a:extLst>
          </p:cNvPr>
          <p:cNvSpPr>
            <a:spLocks noChangeArrowheads="1"/>
          </p:cNvSpPr>
          <p:nvPr/>
        </p:nvSpPr>
        <p:spPr bwMode="auto">
          <a:xfrm>
            <a:off x="1905000" y="76200"/>
            <a:ext cx="8229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altLang="en-US" sz="3600" b="1" dirty="0">
                <a:solidFill>
                  <a:schemeClr val="tx2"/>
                </a:solidFill>
                <a:latin typeface="Berlin Sans FB Demi" panose="020E0802020502020306" pitchFamily="34" charset="0"/>
              </a:rPr>
              <a:t>Attribute Selection Measure: Information Gain </a:t>
            </a:r>
          </a:p>
        </p:txBody>
      </p:sp>
      <p:sp>
        <p:nvSpPr>
          <p:cNvPr id="15364" name="Rectangle 3">
            <a:extLst>
              <a:ext uri="{FF2B5EF4-FFF2-40B4-BE49-F238E27FC236}">
                <a16:creationId xmlns:a16="http://schemas.microsoft.com/office/drawing/2014/main" id="{9BF38204-C2F1-91E5-3BD5-8B068FFF95EA}"/>
              </a:ext>
            </a:extLst>
          </p:cNvPr>
          <p:cNvSpPr>
            <a:spLocks noChangeArrowheads="1"/>
          </p:cNvSpPr>
          <p:nvPr/>
        </p:nvSpPr>
        <p:spPr bwMode="auto">
          <a:xfrm>
            <a:off x="1828800" y="1524000"/>
            <a:ext cx="84582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lnSpc>
                <a:spcPct val="110000"/>
              </a:lnSpc>
              <a:spcBef>
                <a:spcPct val="20000"/>
              </a:spcBef>
              <a:buClr>
                <a:schemeClr val="folHlink"/>
              </a:buClr>
              <a:buSzPct val="60000"/>
              <a:buFont typeface="Wingdings" panose="05000000000000000000" pitchFamily="2" charset="2"/>
              <a:buChar char="n"/>
            </a:pPr>
            <a:r>
              <a:rPr lang="en-US" altLang="en-US" sz="2400" dirty="0">
                <a:latin typeface="Calibri" panose="020F0502020204030204" pitchFamily="34" charset="0"/>
              </a:rPr>
              <a:t>Select the attribute with the highest information gain</a:t>
            </a:r>
          </a:p>
          <a:p>
            <a:pPr eaLnBrk="1" hangingPunct="1">
              <a:lnSpc>
                <a:spcPct val="110000"/>
              </a:lnSpc>
              <a:spcBef>
                <a:spcPct val="20000"/>
              </a:spcBef>
              <a:buClr>
                <a:schemeClr val="folHlink"/>
              </a:buClr>
              <a:buSzPct val="60000"/>
              <a:buFont typeface="Wingdings" panose="05000000000000000000" pitchFamily="2" charset="2"/>
              <a:buChar char="n"/>
            </a:pPr>
            <a:r>
              <a:rPr lang="en-US" altLang="en-US" sz="2400" dirty="0">
                <a:latin typeface="Calibri" panose="020F0502020204030204" pitchFamily="34" charset="0"/>
              </a:rPr>
              <a:t>Let </a:t>
            </a:r>
            <a:r>
              <a:rPr lang="en-US" altLang="en-US" sz="2400" i="1" dirty="0">
                <a:latin typeface="Calibri" panose="020F0502020204030204" pitchFamily="34" charset="0"/>
              </a:rPr>
              <a:t>p</a:t>
            </a:r>
            <a:r>
              <a:rPr lang="en-US" altLang="en-US" sz="2400" i="1" baseline="-25000" dirty="0">
                <a:latin typeface="Calibri" panose="020F0502020204030204" pitchFamily="34" charset="0"/>
              </a:rPr>
              <a:t>i</a:t>
            </a:r>
            <a:r>
              <a:rPr lang="en-US" altLang="en-US" sz="2400" dirty="0">
                <a:latin typeface="Calibri" panose="020F0502020204030204" pitchFamily="34" charset="0"/>
              </a:rPr>
              <a:t> be the probability that an arbitrary tuple in D belongs to class C</a:t>
            </a:r>
            <a:r>
              <a:rPr lang="en-US" altLang="en-US" sz="2400" baseline="-25000" dirty="0">
                <a:latin typeface="Calibri" panose="020F0502020204030204" pitchFamily="34" charset="0"/>
              </a:rPr>
              <a:t>i</a:t>
            </a:r>
            <a:r>
              <a:rPr lang="en-US" altLang="en-US" sz="2400" dirty="0">
                <a:latin typeface="Calibri" panose="020F0502020204030204" pitchFamily="34" charset="0"/>
              </a:rPr>
              <a:t>, estimated by |C</a:t>
            </a:r>
            <a:r>
              <a:rPr lang="en-US" altLang="en-US" sz="2400" i="1" baseline="-25000" dirty="0">
                <a:latin typeface="Calibri" panose="020F0502020204030204" pitchFamily="34" charset="0"/>
              </a:rPr>
              <a:t>i</a:t>
            </a:r>
            <a:r>
              <a:rPr lang="en-US" altLang="en-US" sz="2400" baseline="-25000" dirty="0">
                <a:latin typeface="Calibri" panose="020F0502020204030204" pitchFamily="34" charset="0"/>
              </a:rPr>
              <a:t>, D</a:t>
            </a:r>
            <a:r>
              <a:rPr lang="en-US" altLang="en-US" sz="2400" dirty="0">
                <a:latin typeface="Calibri" panose="020F0502020204030204" pitchFamily="34" charset="0"/>
              </a:rPr>
              <a:t>|/|D|</a:t>
            </a:r>
          </a:p>
          <a:p>
            <a:pPr eaLnBrk="1" hangingPunct="1">
              <a:lnSpc>
                <a:spcPct val="110000"/>
              </a:lnSpc>
              <a:spcBef>
                <a:spcPct val="20000"/>
              </a:spcBef>
              <a:buClr>
                <a:schemeClr val="folHlink"/>
              </a:buClr>
              <a:buSzPct val="60000"/>
              <a:buFont typeface="Wingdings" panose="05000000000000000000" pitchFamily="2" charset="2"/>
              <a:buChar char="n"/>
            </a:pPr>
            <a:r>
              <a:rPr lang="en-US" altLang="en-US" sz="2400" dirty="0">
                <a:solidFill>
                  <a:schemeClr val="hlink"/>
                </a:solidFill>
                <a:latin typeface="Calibri" panose="020F0502020204030204" pitchFamily="34" charset="0"/>
              </a:rPr>
              <a:t>Expected information</a:t>
            </a:r>
            <a:r>
              <a:rPr lang="en-US" altLang="en-US" sz="2400" dirty="0">
                <a:latin typeface="Calibri" panose="020F0502020204030204" pitchFamily="34" charset="0"/>
              </a:rPr>
              <a:t> (entropy) needed to classify a tuple in D:</a:t>
            </a:r>
          </a:p>
          <a:p>
            <a:pPr eaLnBrk="1" hangingPunct="1">
              <a:lnSpc>
                <a:spcPct val="110000"/>
              </a:lnSpc>
              <a:spcBef>
                <a:spcPct val="20000"/>
              </a:spcBef>
              <a:buClr>
                <a:schemeClr val="folHlink"/>
              </a:buClr>
              <a:buSzPct val="60000"/>
              <a:buFont typeface="Wingdings" panose="05000000000000000000" pitchFamily="2" charset="2"/>
              <a:buChar char="n"/>
            </a:pPr>
            <a:endParaRPr lang="en-US" altLang="en-US" sz="2400" dirty="0">
              <a:latin typeface="Calibri" panose="020F0502020204030204" pitchFamily="34" charset="0"/>
            </a:endParaRPr>
          </a:p>
          <a:p>
            <a:pPr eaLnBrk="1" hangingPunct="1">
              <a:lnSpc>
                <a:spcPct val="110000"/>
              </a:lnSpc>
              <a:spcBef>
                <a:spcPct val="20000"/>
              </a:spcBef>
              <a:buClr>
                <a:schemeClr val="folHlink"/>
              </a:buClr>
              <a:buSzPct val="60000"/>
              <a:buFont typeface="Wingdings" panose="05000000000000000000" pitchFamily="2" charset="2"/>
              <a:buChar char="n"/>
            </a:pPr>
            <a:r>
              <a:rPr lang="en-US" altLang="en-US" sz="2400" dirty="0">
                <a:solidFill>
                  <a:schemeClr val="hlink"/>
                </a:solidFill>
                <a:latin typeface="Calibri" panose="020F0502020204030204" pitchFamily="34" charset="0"/>
              </a:rPr>
              <a:t>Information</a:t>
            </a:r>
            <a:r>
              <a:rPr lang="en-US" altLang="en-US" sz="2400" dirty="0">
                <a:latin typeface="Calibri" panose="020F0502020204030204" pitchFamily="34" charset="0"/>
              </a:rPr>
              <a:t> needed (after using A to split D into v partitions) to classify D:</a:t>
            </a:r>
          </a:p>
          <a:p>
            <a:pPr eaLnBrk="1" hangingPunct="1">
              <a:lnSpc>
                <a:spcPct val="110000"/>
              </a:lnSpc>
              <a:spcBef>
                <a:spcPct val="20000"/>
              </a:spcBef>
              <a:buClr>
                <a:schemeClr val="folHlink"/>
              </a:buClr>
              <a:buSzPct val="60000"/>
              <a:buFont typeface="Wingdings" panose="05000000000000000000" pitchFamily="2" charset="2"/>
              <a:buChar char="n"/>
            </a:pPr>
            <a:endParaRPr lang="en-US" altLang="en-US" sz="2400" dirty="0">
              <a:latin typeface="Calibri" panose="020F0502020204030204" pitchFamily="34" charset="0"/>
            </a:endParaRPr>
          </a:p>
          <a:p>
            <a:pPr eaLnBrk="1" hangingPunct="1">
              <a:lnSpc>
                <a:spcPct val="110000"/>
              </a:lnSpc>
              <a:spcBef>
                <a:spcPct val="20000"/>
              </a:spcBef>
              <a:buClr>
                <a:schemeClr val="folHlink"/>
              </a:buClr>
              <a:buSzPct val="60000"/>
              <a:buFont typeface="Wingdings" panose="05000000000000000000" pitchFamily="2" charset="2"/>
              <a:buChar char="n"/>
            </a:pPr>
            <a:r>
              <a:rPr lang="en-US" altLang="en-US" sz="2400" dirty="0">
                <a:solidFill>
                  <a:schemeClr val="hlink"/>
                </a:solidFill>
                <a:latin typeface="Calibri" panose="020F0502020204030204" pitchFamily="34" charset="0"/>
              </a:rPr>
              <a:t>Information gained</a:t>
            </a:r>
            <a:r>
              <a:rPr lang="en-US" altLang="en-US" sz="2400" dirty="0">
                <a:latin typeface="Calibri" panose="020F0502020204030204" pitchFamily="34" charset="0"/>
              </a:rPr>
              <a:t> by branching on attribute A</a:t>
            </a:r>
          </a:p>
          <a:p>
            <a:pPr eaLnBrk="1" hangingPunct="1">
              <a:lnSpc>
                <a:spcPct val="110000"/>
              </a:lnSpc>
              <a:spcBef>
                <a:spcPct val="20000"/>
              </a:spcBef>
              <a:buClr>
                <a:schemeClr val="folHlink"/>
              </a:buClr>
              <a:buSzPct val="60000"/>
              <a:buFont typeface="Wingdings" panose="05000000000000000000" pitchFamily="2" charset="2"/>
              <a:buChar char="n"/>
            </a:pPr>
            <a:endParaRPr lang="en-US" altLang="en-US" sz="2400" dirty="0">
              <a:latin typeface="Calibri" panose="020F0502020204030204" pitchFamily="34" charset="0"/>
            </a:endParaRPr>
          </a:p>
        </p:txBody>
      </p:sp>
      <p:graphicFrame>
        <p:nvGraphicFramePr>
          <p:cNvPr id="15365" name="Object 4">
            <a:extLst>
              <a:ext uri="{FF2B5EF4-FFF2-40B4-BE49-F238E27FC236}">
                <a16:creationId xmlns:a16="http://schemas.microsoft.com/office/drawing/2014/main" id="{270093BB-9C61-6782-6077-FE5272CFD225}"/>
              </a:ext>
            </a:extLst>
          </p:cNvPr>
          <p:cNvGraphicFramePr>
            <a:graphicFrameLocks noChangeAspect="1"/>
          </p:cNvGraphicFramePr>
          <p:nvPr/>
        </p:nvGraphicFramePr>
        <p:xfrm>
          <a:off x="6054726" y="3200400"/>
          <a:ext cx="3317875" cy="850900"/>
        </p:xfrm>
        <a:graphic>
          <a:graphicData uri="http://schemas.openxmlformats.org/presentationml/2006/ole">
            <mc:AlternateContent xmlns:mc="http://schemas.openxmlformats.org/markup-compatibility/2006">
              <mc:Choice xmlns:v="urn:schemas-microsoft-com:vml" Requires="v">
                <p:oleObj name="Equation" r:id="rId3" imgW="1612900" imgH="431800" progId="Equation.3">
                  <p:embed/>
                </p:oleObj>
              </mc:Choice>
              <mc:Fallback>
                <p:oleObj name="Equation" r:id="rId3" imgW="1612900" imgH="431800" progId="Equation.3">
                  <p:embed/>
                  <p:pic>
                    <p:nvPicPr>
                      <p:cNvPr id="15365" name="Object 4">
                        <a:extLst>
                          <a:ext uri="{FF2B5EF4-FFF2-40B4-BE49-F238E27FC236}">
                            <a16:creationId xmlns:a16="http://schemas.microsoft.com/office/drawing/2014/main" id="{270093BB-9C61-6782-6077-FE5272CFD2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54726" y="3200400"/>
                        <a:ext cx="3317875" cy="850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6" name="Object 5">
            <a:extLst>
              <a:ext uri="{FF2B5EF4-FFF2-40B4-BE49-F238E27FC236}">
                <a16:creationId xmlns:a16="http://schemas.microsoft.com/office/drawing/2014/main" id="{585005EB-1522-900D-D5CE-5985AF0E554E}"/>
              </a:ext>
            </a:extLst>
          </p:cNvPr>
          <p:cNvGraphicFramePr>
            <a:graphicFrameLocks noChangeAspect="1"/>
          </p:cNvGraphicFramePr>
          <p:nvPr/>
        </p:nvGraphicFramePr>
        <p:xfrm>
          <a:off x="5943600" y="4343401"/>
          <a:ext cx="4495800" cy="949325"/>
        </p:xfrm>
        <a:graphic>
          <a:graphicData uri="http://schemas.openxmlformats.org/presentationml/2006/ole">
            <mc:AlternateContent xmlns:mc="http://schemas.openxmlformats.org/markup-compatibility/2006">
              <mc:Choice xmlns:v="urn:schemas-microsoft-com:vml" Requires="v">
                <p:oleObj name="Equation" r:id="rId5" imgW="1892300" imgH="457200" progId="Equation.3">
                  <p:embed/>
                </p:oleObj>
              </mc:Choice>
              <mc:Fallback>
                <p:oleObj name="Equation" r:id="rId5" imgW="1892300" imgH="457200" progId="Equation.3">
                  <p:embed/>
                  <p:pic>
                    <p:nvPicPr>
                      <p:cNvPr id="15366" name="Object 5">
                        <a:extLst>
                          <a:ext uri="{FF2B5EF4-FFF2-40B4-BE49-F238E27FC236}">
                            <a16:creationId xmlns:a16="http://schemas.microsoft.com/office/drawing/2014/main" id="{585005EB-1522-900D-D5CE-5985AF0E554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43600" y="4343401"/>
                        <a:ext cx="4495800" cy="949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7" name="Object 6">
            <a:extLst>
              <a:ext uri="{FF2B5EF4-FFF2-40B4-BE49-F238E27FC236}">
                <a16:creationId xmlns:a16="http://schemas.microsoft.com/office/drawing/2014/main" id="{2B289488-E8E4-C123-F8CA-86D19982E4AA}"/>
              </a:ext>
            </a:extLst>
          </p:cNvPr>
          <p:cNvGraphicFramePr>
            <a:graphicFrameLocks noChangeAspect="1"/>
          </p:cNvGraphicFramePr>
          <p:nvPr/>
        </p:nvGraphicFramePr>
        <p:xfrm>
          <a:off x="5392738" y="5822951"/>
          <a:ext cx="4589462" cy="536575"/>
        </p:xfrm>
        <a:graphic>
          <a:graphicData uri="http://schemas.openxmlformats.org/presentationml/2006/ole">
            <mc:AlternateContent xmlns:mc="http://schemas.openxmlformats.org/markup-compatibility/2006">
              <mc:Choice xmlns:v="urn:schemas-microsoft-com:vml" Requires="v">
                <p:oleObj name="Equation" r:id="rId7" imgW="1790700" imgH="215900" progId="Equation.3">
                  <p:embed/>
                </p:oleObj>
              </mc:Choice>
              <mc:Fallback>
                <p:oleObj name="Equation" r:id="rId7" imgW="1790700" imgH="215900" progId="Equation.3">
                  <p:embed/>
                  <p:pic>
                    <p:nvPicPr>
                      <p:cNvPr id="15367" name="Object 6">
                        <a:extLst>
                          <a:ext uri="{FF2B5EF4-FFF2-40B4-BE49-F238E27FC236}">
                            <a16:creationId xmlns:a16="http://schemas.microsoft.com/office/drawing/2014/main" id="{2B289488-E8E4-C123-F8CA-86D19982E4A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92738" y="5822951"/>
                        <a:ext cx="4589462"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6">
            <a:extLst>
              <a:ext uri="{FF2B5EF4-FFF2-40B4-BE49-F238E27FC236}">
                <a16:creationId xmlns:a16="http://schemas.microsoft.com/office/drawing/2014/main" id="{718CA298-C928-20C9-F645-5ADF82BC406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616E7004-7D91-4A04-8ECF-7EF2EF606650}" type="slidenum">
              <a:rPr lang="en-US" altLang="en-US"/>
              <a:pPr eaLnBrk="1" hangingPunct="1"/>
              <a:t>7</a:t>
            </a:fld>
            <a:endParaRPr lang="en-US" altLang="en-US"/>
          </a:p>
        </p:txBody>
      </p:sp>
      <p:sp>
        <p:nvSpPr>
          <p:cNvPr id="16387" name="Rectangle 2">
            <a:extLst>
              <a:ext uri="{FF2B5EF4-FFF2-40B4-BE49-F238E27FC236}">
                <a16:creationId xmlns:a16="http://schemas.microsoft.com/office/drawing/2014/main" id="{47C4E2D2-11D3-B278-18E3-EB395C4B6BD9}"/>
              </a:ext>
            </a:extLst>
          </p:cNvPr>
          <p:cNvSpPr>
            <a:spLocks noGrp="1" noChangeArrowheads="1"/>
          </p:cNvSpPr>
          <p:nvPr>
            <p:ph type="title"/>
          </p:nvPr>
        </p:nvSpPr>
        <p:spPr>
          <a:xfrm>
            <a:off x="1676400" y="304800"/>
            <a:ext cx="8763000" cy="609600"/>
          </a:xfrm>
        </p:spPr>
        <p:txBody>
          <a:bodyPr>
            <a:normAutofit fontScale="90000"/>
          </a:bodyPr>
          <a:lstStyle/>
          <a:p>
            <a:pPr eaLnBrk="1" hangingPunct="1"/>
            <a:r>
              <a:rPr lang="en-US" altLang="en-US"/>
              <a:t>Attribute Selection: Information Gain</a:t>
            </a:r>
          </a:p>
        </p:txBody>
      </p:sp>
      <p:sp>
        <p:nvSpPr>
          <p:cNvPr id="16388" name="Rectangle 3">
            <a:extLst>
              <a:ext uri="{FF2B5EF4-FFF2-40B4-BE49-F238E27FC236}">
                <a16:creationId xmlns:a16="http://schemas.microsoft.com/office/drawing/2014/main" id="{BB464F4D-6D3F-A23B-035B-DCFA2334D372}"/>
              </a:ext>
            </a:extLst>
          </p:cNvPr>
          <p:cNvSpPr>
            <a:spLocks noGrp="1" noChangeArrowheads="1"/>
          </p:cNvSpPr>
          <p:nvPr>
            <p:ph type="body" sz="half" idx="1"/>
          </p:nvPr>
        </p:nvSpPr>
        <p:spPr>
          <a:xfrm>
            <a:off x="1809750" y="1066800"/>
            <a:ext cx="4152900" cy="1600200"/>
          </a:xfrm>
        </p:spPr>
        <p:txBody>
          <a:bodyPr/>
          <a:lstStyle/>
          <a:p>
            <a:pPr eaLnBrk="1" hangingPunct="1">
              <a:lnSpc>
                <a:spcPct val="80000"/>
              </a:lnSpc>
              <a:spcBef>
                <a:spcPct val="30000"/>
              </a:spcBef>
              <a:buSzPct val="80000"/>
              <a:buFont typeface="Marlett" pitchFamily="2" charset="2"/>
              <a:buChar char="g"/>
            </a:pPr>
            <a:r>
              <a:rPr lang="en-US" altLang="en-US" sz="2000" dirty="0">
                <a:solidFill>
                  <a:srgbClr val="121328"/>
                </a:solidFill>
              </a:rPr>
              <a:t>Class P: </a:t>
            </a:r>
            <a:r>
              <a:rPr lang="en-US" altLang="en-US" sz="2000" dirty="0" err="1">
                <a:solidFill>
                  <a:srgbClr val="121328"/>
                </a:solidFill>
              </a:rPr>
              <a:t>buys_computer</a:t>
            </a:r>
            <a:r>
              <a:rPr lang="en-US" altLang="en-US" sz="2000" dirty="0">
                <a:solidFill>
                  <a:srgbClr val="121328"/>
                </a:solidFill>
              </a:rPr>
              <a:t> = “yes”</a:t>
            </a:r>
          </a:p>
          <a:p>
            <a:pPr eaLnBrk="1" hangingPunct="1">
              <a:lnSpc>
                <a:spcPct val="80000"/>
              </a:lnSpc>
              <a:spcBef>
                <a:spcPct val="30000"/>
              </a:spcBef>
              <a:buSzPct val="80000"/>
              <a:buFont typeface="Marlett" pitchFamily="2" charset="2"/>
              <a:buChar char="g"/>
            </a:pPr>
            <a:r>
              <a:rPr lang="en-US" altLang="en-US" sz="2000" dirty="0">
                <a:solidFill>
                  <a:srgbClr val="121328"/>
                </a:solidFill>
              </a:rPr>
              <a:t>Class N: </a:t>
            </a:r>
            <a:r>
              <a:rPr lang="en-US" altLang="en-US" sz="2000" dirty="0" err="1">
                <a:solidFill>
                  <a:srgbClr val="121328"/>
                </a:solidFill>
              </a:rPr>
              <a:t>buys_computer</a:t>
            </a:r>
            <a:r>
              <a:rPr lang="en-US" altLang="en-US" sz="2000" dirty="0">
                <a:solidFill>
                  <a:srgbClr val="121328"/>
                </a:solidFill>
              </a:rPr>
              <a:t> = “no”</a:t>
            </a:r>
            <a:endParaRPr lang="en-US" altLang="en-US" sz="2000" dirty="0"/>
          </a:p>
        </p:txBody>
      </p:sp>
      <p:sp>
        <p:nvSpPr>
          <p:cNvPr id="16389" name="Rectangle 4">
            <a:extLst>
              <a:ext uri="{FF2B5EF4-FFF2-40B4-BE49-F238E27FC236}">
                <a16:creationId xmlns:a16="http://schemas.microsoft.com/office/drawing/2014/main" id="{B31B88D6-6DD2-DEFC-0BAC-61EAE612FD0A}"/>
              </a:ext>
            </a:extLst>
          </p:cNvPr>
          <p:cNvSpPr>
            <a:spLocks noGrp="1" noChangeArrowheads="1"/>
          </p:cNvSpPr>
          <p:nvPr>
            <p:ph type="body" sz="half" idx="2"/>
          </p:nvPr>
        </p:nvSpPr>
        <p:spPr>
          <a:xfrm>
            <a:off x="6248399" y="2743200"/>
            <a:ext cx="5630091" cy="2209800"/>
          </a:xfrm>
        </p:spPr>
        <p:txBody>
          <a:bodyPr>
            <a:normAutofit/>
          </a:bodyPr>
          <a:lstStyle/>
          <a:p>
            <a:pPr eaLnBrk="1" hangingPunct="1">
              <a:lnSpc>
                <a:spcPct val="130000"/>
              </a:lnSpc>
              <a:buFont typeface="Wingdings" panose="05000000000000000000" pitchFamily="2" charset="2"/>
              <a:buNone/>
            </a:pPr>
            <a:r>
              <a:rPr lang="en-US" altLang="en-US" sz="2000" dirty="0">
                <a:solidFill>
                  <a:srgbClr val="121328"/>
                </a:solidFill>
              </a:rPr>
              <a:t>              means “age &lt;=30” has 5 out of 14 samples, with 2 </a:t>
            </a:r>
            <a:r>
              <a:rPr lang="en-US" altLang="en-US" sz="2000" dirty="0" err="1">
                <a:solidFill>
                  <a:srgbClr val="121328"/>
                </a:solidFill>
              </a:rPr>
              <a:t>yes’es</a:t>
            </a:r>
            <a:r>
              <a:rPr lang="en-US" altLang="en-US" sz="2000" dirty="0">
                <a:solidFill>
                  <a:srgbClr val="121328"/>
                </a:solidFill>
              </a:rPr>
              <a:t>  and 3 no’s.   Hence</a:t>
            </a:r>
            <a:endParaRPr lang="en-US" altLang="en-US" sz="2000" dirty="0"/>
          </a:p>
          <a:p>
            <a:pPr eaLnBrk="1" hangingPunct="1">
              <a:lnSpc>
                <a:spcPct val="90000"/>
              </a:lnSpc>
              <a:buClr>
                <a:schemeClr val="accent1"/>
              </a:buClr>
              <a:buFont typeface="Wingdings 2" panose="05020102010507070707" pitchFamily="18" charset="2"/>
              <a:buNone/>
            </a:pPr>
            <a:endParaRPr lang="en-US" altLang="en-US" sz="2000" dirty="0"/>
          </a:p>
          <a:p>
            <a:pPr eaLnBrk="1" hangingPunct="1">
              <a:lnSpc>
                <a:spcPct val="90000"/>
              </a:lnSpc>
              <a:buClr>
                <a:schemeClr val="accent1"/>
              </a:buClr>
              <a:buFont typeface="Wingdings 2" panose="05020102010507070707" pitchFamily="18" charset="2"/>
              <a:buNone/>
            </a:pPr>
            <a:endParaRPr lang="en-US" altLang="en-US" sz="2000" dirty="0">
              <a:solidFill>
                <a:srgbClr val="121328"/>
              </a:solidFill>
            </a:endParaRPr>
          </a:p>
          <a:p>
            <a:pPr eaLnBrk="1" hangingPunct="1">
              <a:lnSpc>
                <a:spcPct val="90000"/>
              </a:lnSpc>
              <a:buClr>
                <a:schemeClr val="accent1"/>
              </a:buClr>
              <a:buFont typeface="Wingdings 2" panose="05020102010507070707" pitchFamily="18" charset="2"/>
              <a:buNone/>
            </a:pPr>
            <a:r>
              <a:rPr lang="en-US" altLang="en-US" sz="2000" dirty="0">
                <a:solidFill>
                  <a:srgbClr val="121328"/>
                </a:solidFill>
              </a:rPr>
              <a:t>Similarly,</a:t>
            </a:r>
          </a:p>
        </p:txBody>
      </p:sp>
      <p:graphicFrame>
        <p:nvGraphicFramePr>
          <p:cNvPr id="16390" name="Object 5">
            <a:extLst>
              <a:ext uri="{FF2B5EF4-FFF2-40B4-BE49-F238E27FC236}">
                <a16:creationId xmlns:a16="http://schemas.microsoft.com/office/drawing/2014/main" id="{205449D5-FAE6-83E3-6130-7B58D3704B20}"/>
              </a:ext>
            </a:extLst>
          </p:cNvPr>
          <p:cNvGraphicFramePr>
            <a:graphicFrameLocks noChangeAspect="1"/>
          </p:cNvGraphicFramePr>
          <p:nvPr/>
        </p:nvGraphicFramePr>
        <p:xfrm>
          <a:off x="2286000" y="2590801"/>
          <a:ext cx="3354388" cy="1439863"/>
        </p:xfrm>
        <a:graphic>
          <a:graphicData uri="http://schemas.openxmlformats.org/presentationml/2006/ole">
            <mc:AlternateContent xmlns:mc="http://schemas.openxmlformats.org/markup-compatibility/2006">
              <mc:Choice xmlns:v="urn:schemas-microsoft-com:vml" Requires="v">
                <p:oleObj name="Worksheet" r:id="rId3" imgW="3352800" imgH="1438250" progId="Excel.Sheet.8">
                  <p:embed/>
                </p:oleObj>
              </mc:Choice>
              <mc:Fallback>
                <p:oleObj name="Worksheet" r:id="rId3" imgW="3352800" imgH="1438250" progId="Excel.Sheet.8">
                  <p:embed/>
                  <p:pic>
                    <p:nvPicPr>
                      <p:cNvPr id="16390" name="Object 5">
                        <a:extLst>
                          <a:ext uri="{FF2B5EF4-FFF2-40B4-BE49-F238E27FC236}">
                            <a16:creationId xmlns:a16="http://schemas.microsoft.com/office/drawing/2014/main" id="{205449D5-FAE6-83E3-6130-7B58D3704B2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2590801"/>
                        <a:ext cx="3354388" cy="1439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91" name="Object 6">
            <a:extLst>
              <a:ext uri="{FF2B5EF4-FFF2-40B4-BE49-F238E27FC236}">
                <a16:creationId xmlns:a16="http://schemas.microsoft.com/office/drawing/2014/main" id="{79F35CCD-F37D-D048-F0D2-FD0DC895F3EB}"/>
              </a:ext>
            </a:extLst>
          </p:cNvPr>
          <p:cNvGraphicFramePr>
            <a:graphicFrameLocks noChangeAspect="1"/>
          </p:cNvGraphicFramePr>
          <p:nvPr/>
        </p:nvGraphicFramePr>
        <p:xfrm>
          <a:off x="6400800" y="1295400"/>
          <a:ext cx="3754438" cy="1371600"/>
        </p:xfrm>
        <a:graphic>
          <a:graphicData uri="http://schemas.openxmlformats.org/presentationml/2006/ole">
            <mc:AlternateContent xmlns:mc="http://schemas.openxmlformats.org/markup-compatibility/2006">
              <mc:Choice xmlns:v="urn:schemas-microsoft-com:vml" Requires="v">
                <p:oleObj name="Equation" r:id="rId5" imgW="2044700" imgH="812800" progId="Equation.3">
                  <p:embed/>
                </p:oleObj>
              </mc:Choice>
              <mc:Fallback>
                <p:oleObj name="Equation" r:id="rId5" imgW="2044700" imgH="812800" progId="Equation.3">
                  <p:embed/>
                  <p:pic>
                    <p:nvPicPr>
                      <p:cNvPr id="16391" name="Object 6">
                        <a:extLst>
                          <a:ext uri="{FF2B5EF4-FFF2-40B4-BE49-F238E27FC236}">
                            <a16:creationId xmlns:a16="http://schemas.microsoft.com/office/drawing/2014/main" id="{79F35CCD-F37D-D048-F0D2-FD0DC895F3E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00800" y="1295400"/>
                        <a:ext cx="3754438" cy="137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2" name="Object 7">
            <a:extLst>
              <a:ext uri="{FF2B5EF4-FFF2-40B4-BE49-F238E27FC236}">
                <a16:creationId xmlns:a16="http://schemas.microsoft.com/office/drawing/2014/main" id="{C97BD6CA-A398-4310-D53A-63F929F45CCD}"/>
              </a:ext>
            </a:extLst>
          </p:cNvPr>
          <p:cNvGraphicFramePr>
            <a:graphicFrameLocks noChangeAspect="1"/>
          </p:cNvGraphicFramePr>
          <p:nvPr/>
        </p:nvGraphicFramePr>
        <p:xfrm>
          <a:off x="6553200" y="5257800"/>
          <a:ext cx="3594100" cy="1193800"/>
        </p:xfrm>
        <a:graphic>
          <a:graphicData uri="http://schemas.openxmlformats.org/presentationml/2006/ole">
            <mc:AlternateContent xmlns:mc="http://schemas.openxmlformats.org/markup-compatibility/2006">
              <mc:Choice xmlns:v="urn:schemas-microsoft-com:vml" Requires="v">
                <p:oleObj name="Equation" r:id="rId7" imgW="3594100" imgH="1193800" progId="Equation.3">
                  <p:embed/>
                </p:oleObj>
              </mc:Choice>
              <mc:Fallback>
                <p:oleObj name="Equation" r:id="rId7" imgW="3594100" imgH="1193800" progId="Equation.3">
                  <p:embed/>
                  <p:pic>
                    <p:nvPicPr>
                      <p:cNvPr id="16392" name="Object 7">
                        <a:extLst>
                          <a:ext uri="{FF2B5EF4-FFF2-40B4-BE49-F238E27FC236}">
                            <a16:creationId xmlns:a16="http://schemas.microsoft.com/office/drawing/2014/main" id="{C97BD6CA-A398-4310-D53A-63F929F45CC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53200" y="5257800"/>
                        <a:ext cx="3594100" cy="1193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3" name="Object 8">
            <a:extLst>
              <a:ext uri="{FF2B5EF4-FFF2-40B4-BE49-F238E27FC236}">
                <a16:creationId xmlns:a16="http://schemas.microsoft.com/office/drawing/2014/main" id="{1D561C39-A2ED-D03A-3AC6-ABB9D8CAE863}"/>
              </a:ext>
            </a:extLst>
          </p:cNvPr>
          <p:cNvGraphicFramePr>
            <a:graphicFrameLocks noChangeAspect="1"/>
          </p:cNvGraphicFramePr>
          <p:nvPr/>
        </p:nvGraphicFramePr>
        <p:xfrm>
          <a:off x="6248401" y="4114800"/>
          <a:ext cx="4271963" cy="388938"/>
        </p:xfrm>
        <a:graphic>
          <a:graphicData uri="http://schemas.openxmlformats.org/presentationml/2006/ole">
            <mc:AlternateContent xmlns:mc="http://schemas.openxmlformats.org/markup-compatibility/2006">
              <mc:Choice xmlns:v="urn:schemas-microsoft-com:vml" Requires="v">
                <p:oleObj name="Equation" r:id="rId9" imgW="2552700" imgH="241300" progId="Equation.3">
                  <p:embed/>
                </p:oleObj>
              </mc:Choice>
              <mc:Fallback>
                <p:oleObj name="Equation" r:id="rId9" imgW="2552700" imgH="241300" progId="Equation.3">
                  <p:embed/>
                  <p:pic>
                    <p:nvPicPr>
                      <p:cNvPr id="16393" name="Object 8">
                        <a:extLst>
                          <a:ext uri="{FF2B5EF4-FFF2-40B4-BE49-F238E27FC236}">
                            <a16:creationId xmlns:a16="http://schemas.microsoft.com/office/drawing/2014/main" id="{1D561C39-A2ED-D03A-3AC6-ABB9D8CAE86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48401" y="4114800"/>
                        <a:ext cx="4271963" cy="388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4" name="Object 9">
            <a:extLst>
              <a:ext uri="{FF2B5EF4-FFF2-40B4-BE49-F238E27FC236}">
                <a16:creationId xmlns:a16="http://schemas.microsoft.com/office/drawing/2014/main" id="{DA0F920C-53E4-B9D3-DE80-3FC5221CECF4}"/>
              </a:ext>
            </a:extLst>
          </p:cNvPr>
          <p:cNvGraphicFramePr>
            <a:graphicFrameLocks/>
          </p:cNvGraphicFramePr>
          <p:nvPr/>
        </p:nvGraphicFramePr>
        <p:xfrm>
          <a:off x="1676400" y="4114800"/>
          <a:ext cx="4419600" cy="2667000"/>
        </p:xfrm>
        <a:graphic>
          <a:graphicData uri="http://schemas.openxmlformats.org/presentationml/2006/ole">
            <mc:AlternateContent xmlns:mc="http://schemas.openxmlformats.org/markup-compatibility/2006">
              <mc:Choice xmlns:v="urn:schemas-microsoft-com:vml" Requires="v">
                <p:oleObj name="Worksheet" r:id="rId11" imgW="6115431" imgH="4458208" progId="Excel.Sheet.8">
                  <p:embed/>
                </p:oleObj>
              </mc:Choice>
              <mc:Fallback>
                <p:oleObj name="Worksheet" r:id="rId11" imgW="6115431" imgH="4458208" progId="Excel.Sheet.8">
                  <p:embed/>
                  <p:pic>
                    <p:nvPicPr>
                      <p:cNvPr id="16394" name="Object 9">
                        <a:extLst>
                          <a:ext uri="{FF2B5EF4-FFF2-40B4-BE49-F238E27FC236}">
                            <a16:creationId xmlns:a16="http://schemas.microsoft.com/office/drawing/2014/main" id="{DA0F920C-53E4-B9D3-DE80-3FC5221CECF4}"/>
                          </a:ext>
                        </a:extLst>
                      </p:cNvPr>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76400" y="4114800"/>
                        <a:ext cx="4419600"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95" name="Object 10">
            <a:extLst>
              <a:ext uri="{FF2B5EF4-FFF2-40B4-BE49-F238E27FC236}">
                <a16:creationId xmlns:a16="http://schemas.microsoft.com/office/drawing/2014/main" id="{39F33F37-2C7D-A954-FCF1-AB35E0FE25A7}"/>
              </a:ext>
            </a:extLst>
          </p:cNvPr>
          <p:cNvGraphicFramePr>
            <a:graphicFrameLocks noChangeAspect="1"/>
          </p:cNvGraphicFramePr>
          <p:nvPr/>
        </p:nvGraphicFramePr>
        <p:xfrm>
          <a:off x="6019800" y="2743200"/>
          <a:ext cx="1073150" cy="665163"/>
        </p:xfrm>
        <a:graphic>
          <a:graphicData uri="http://schemas.openxmlformats.org/presentationml/2006/ole">
            <mc:AlternateContent xmlns:mc="http://schemas.openxmlformats.org/markup-compatibility/2006">
              <mc:Choice xmlns:v="urn:schemas-microsoft-com:vml" Requires="v">
                <p:oleObj name="Equation" r:id="rId13" imgW="583947" imgH="393529" progId="Equation.3">
                  <p:embed/>
                </p:oleObj>
              </mc:Choice>
              <mc:Fallback>
                <p:oleObj name="Equation" r:id="rId13" imgW="583947" imgH="393529" progId="Equation.3">
                  <p:embed/>
                  <p:pic>
                    <p:nvPicPr>
                      <p:cNvPr id="16395" name="Object 10">
                        <a:extLst>
                          <a:ext uri="{FF2B5EF4-FFF2-40B4-BE49-F238E27FC236}">
                            <a16:creationId xmlns:a16="http://schemas.microsoft.com/office/drawing/2014/main" id="{39F33F37-2C7D-A954-FCF1-AB35E0FE25A7}"/>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019800" y="2743200"/>
                        <a:ext cx="1073150" cy="665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6" name="Object 11">
            <a:extLst>
              <a:ext uri="{FF2B5EF4-FFF2-40B4-BE49-F238E27FC236}">
                <a16:creationId xmlns:a16="http://schemas.microsoft.com/office/drawing/2014/main" id="{DE818B06-79B3-99CF-E9B0-B4FA8973C903}"/>
              </a:ext>
            </a:extLst>
          </p:cNvPr>
          <p:cNvGraphicFramePr>
            <a:graphicFrameLocks noChangeAspect="1"/>
          </p:cNvGraphicFramePr>
          <p:nvPr>
            <p:extLst>
              <p:ext uri="{D42A27DB-BD31-4B8C-83A1-F6EECF244321}">
                <p14:modId xmlns:p14="http://schemas.microsoft.com/office/powerpoint/2010/main" val="3417041821"/>
              </p:ext>
            </p:extLst>
          </p:nvPr>
        </p:nvGraphicFramePr>
        <p:xfrm>
          <a:off x="1295400" y="1957388"/>
          <a:ext cx="4800600" cy="523875"/>
        </p:xfrm>
        <a:graphic>
          <a:graphicData uri="http://schemas.openxmlformats.org/presentationml/2006/ole">
            <mc:AlternateContent xmlns:mc="http://schemas.openxmlformats.org/markup-compatibility/2006">
              <mc:Choice xmlns:v="urn:schemas-microsoft-com:vml" Requires="v">
                <p:oleObj name="Equation" r:id="rId15" imgW="3314700" imgH="393700" progId="Equation.3">
                  <p:embed/>
                </p:oleObj>
              </mc:Choice>
              <mc:Fallback>
                <p:oleObj name="Equation" r:id="rId15" imgW="3314700" imgH="393700" progId="Equation.3">
                  <p:embed/>
                  <p:pic>
                    <p:nvPicPr>
                      <p:cNvPr id="16396" name="Object 11">
                        <a:extLst>
                          <a:ext uri="{FF2B5EF4-FFF2-40B4-BE49-F238E27FC236}">
                            <a16:creationId xmlns:a16="http://schemas.microsoft.com/office/drawing/2014/main" id="{DE818B06-79B3-99CF-E9B0-B4FA8973C903}"/>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95400" y="1957388"/>
                        <a:ext cx="4800600"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A23AE-BD65-4489-8F06-54AB79F8A9D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9787E6-5066-DAB4-B2CF-A19905E6FE1E}"/>
              </a:ext>
            </a:extLst>
          </p:cNvPr>
          <p:cNvSpPr>
            <a:spLocks noGrp="1"/>
          </p:cNvSpPr>
          <p:nvPr>
            <p:ph idx="1"/>
          </p:nvPr>
        </p:nvSpPr>
        <p:spPr>
          <a:xfrm>
            <a:off x="597081" y="711736"/>
            <a:ext cx="10997838" cy="5784858"/>
          </a:xfrm>
        </p:spPr>
        <p:txBody>
          <a:bodyPr>
            <a:normAutofit/>
          </a:bodyPr>
          <a:lstStyle/>
          <a:p>
            <a:pPr algn="just" fontAlgn="base">
              <a:lnSpc>
                <a:spcPct val="150000"/>
              </a:lnSpc>
            </a:pPr>
            <a:r>
              <a:rPr lang="en-US" dirty="0"/>
              <a:t>The Fisher Score is a simple used to select important features for classification tasks. It works by comparing how much a feature varies between different classes versus how much it varies within the same class. Features that show big differences between classes, but are consistent within each class, are considered useful for classification.</a:t>
            </a:r>
            <a:endParaRPr lang="en-US" sz="2400" dirty="0"/>
          </a:p>
        </p:txBody>
      </p:sp>
      <p:pic>
        <p:nvPicPr>
          <p:cNvPr id="4" name="Picture 2" descr="KL University - Wikipedia">
            <a:extLst>
              <a:ext uri="{FF2B5EF4-FFF2-40B4-BE49-F238E27FC236}">
                <a16:creationId xmlns:a16="http://schemas.microsoft.com/office/drawing/2014/main" id="{880269D6-B65D-FDE0-E886-FA27DE75E6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325"/>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8C14619-0536-FB47-EA0C-A8B40EA8634F}"/>
              </a:ext>
            </a:extLst>
          </p:cNvPr>
          <p:cNvSpPr txBox="1"/>
          <p:nvPr/>
        </p:nvSpPr>
        <p:spPr>
          <a:xfrm>
            <a:off x="4210309" y="58593"/>
            <a:ext cx="2669463" cy="584775"/>
          </a:xfrm>
          <a:prstGeom prst="rect">
            <a:avLst/>
          </a:prstGeom>
          <a:noFill/>
        </p:spPr>
        <p:txBody>
          <a:bodyPr wrap="square">
            <a:spAutoFit/>
          </a:bodyPr>
          <a:lstStyle/>
          <a:p>
            <a:r>
              <a:rPr lang="en-US" sz="3200" b="1" dirty="0"/>
              <a:t>Fisher Score</a:t>
            </a:r>
          </a:p>
        </p:txBody>
      </p:sp>
      <p:pic>
        <p:nvPicPr>
          <p:cNvPr id="10" name="Picture 9">
            <a:extLst>
              <a:ext uri="{FF2B5EF4-FFF2-40B4-BE49-F238E27FC236}">
                <a16:creationId xmlns:a16="http://schemas.microsoft.com/office/drawing/2014/main" id="{A98BBE5E-59A3-EAD3-2D9F-EAC998AA70CF}"/>
              </a:ext>
            </a:extLst>
          </p:cNvPr>
          <p:cNvPicPr>
            <a:picLocks noChangeAspect="1"/>
          </p:cNvPicPr>
          <p:nvPr/>
        </p:nvPicPr>
        <p:blipFill>
          <a:blip r:embed="rId3"/>
          <a:stretch>
            <a:fillRect/>
          </a:stretch>
        </p:blipFill>
        <p:spPr>
          <a:xfrm>
            <a:off x="2773908" y="4441806"/>
            <a:ext cx="6487430" cy="1562318"/>
          </a:xfrm>
          <a:prstGeom prst="rect">
            <a:avLst/>
          </a:prstGeom>
        </p:spPr>
      </p:pic>
    </p:spTree>
    <p:extLst>
      <p:ext uri="{BB962C8B-B14F-4D97-AF65-F5344CB8AC3E}">
        <p14:creationId xmlns:p14="http://schemas.microsoft.com/office/powerpoint/2010/main" val="38424763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7E1F6-D237-83F6-5CC6-32700E7E4B4D}"/>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EE013A91-8C5C-564D-29AD-B8BAA62318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325"/>
            <a:ext cx="1772524" cy="71804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5">
            <a:extLst>
              <a:ext uri="{FF2B5EF4-FFF2-40B4-BE49-F238E27FC236}">
                <a16:creationId xmlns:a16="http://schemas.microsoft.com/office/drawing/2014/main" id="{D9E3A764-8980-E12E-C767-B442944A18F0}"/>
              </a:ext>
            </a:extLst>
          </p:cNvPr>
          <p:cNvGraphicFramePr>
            <a:graphicFrameLocks noGrp="1"/>
          </p:cNvGraphicFramePr>
          <p:nvPr>
            <p:extLst>
              <p:ext uri="{D42A27DB-BD31-4B8C-83A1-F6EECF244321}">
                <p14:modId xmlns:p14="http://schemas.microsoft.com/office/powerpoint/2010/main" val="3567420058"/>
              </p:ext>
            </p:extLst>
          </p:nvPr>
        </p:nvGraphicFramePr>
        <p:xfrm>
          <a:off x="562611" y="1036569"/>
          <a:ext cx="4483100" cy="4702383"/>
        </p:xfrm>
        <a:graphic>
          <a:graphicData uri="http://schemas.openxmlformats.org/drawingml/2006/table">
            <a:tbl>
              <a:tblPr/>
              <a:tblGrid>
                <a:gridCol w="1016000">
                  <a:extLst>
                    <a:ext uri="{9D8B030D-6E8A-4147-A177-3AD203B41FA5}">
                      <a16:colId xmlns:a16="http://schemas.microsoft.com/office/drawing/2014/main" val="1958767738"/>
                    </a:ext>
                  </a:extLst>
                </a:gridCol>
                <a:gridCol w="1371600">
                  <a:extLst>
                    <a:ext uri="{9D8B030D-6E8A-4147-A177-3AD203B41FA5}">
                      <a16:colId xmlns:a16="http://schemas.microsoft.com/office/drawing/2014/main" val="1569259097"/>
                    </a:ext>
                  </a:extLst>
                </a:gridCol>
                <a:gridCol w="1371600">
                  <a:extLst>
                    <a:ext uri="{9D8B030D-6E8A-4147-A177-3AD203B41FA5}">
                      <a16:colId xmlns:a16="http://schemas.microsoft.com/office/drawing/2014/main" val="2947885026"/>
                    </a:ext>
                  </a:extLst>
                </a:gridCol>
                <a:gridCol w="723900">
                  <a:extLst>
                    <a:ext uri="{9D8B030D-6E8A-4147-A177-3AD203B41FA5}">
                      <a16:colId xmlns:a16="http://schemas.microsoft.com/office/drawing/2014/main" val="652638214"/>
                    </a:ext>
                  </a:extLst>
                </a:gridCol>
              </a:tblGrid>
              <a:tr h="522487">
                <a:tc>
                  <a:txBody>
                    <a:bodyPr/>
                    <a:lstStyle/>
                    <a:p>
                      <a:pPr algn="ctr" fontAlgn="b">
                        <a:buNone/>
                      </a:pPr>
                      <a:r>
                        <a:rPr lang="en-IN" sz="2400" b="1" i="0" u="none" strike="noStrike">
                          <a:solidFill>
                            <a:srgbClr val="000000"/>
                          </a:solidFill>
                          <a:effectLst/>
                          <a:latin typeface="Calibri" panose="020F0502020204030204" pitchFamily="34" charset="0"/>
                        </a:rPr>
                        <a:t>Sample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Feature_1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Feature_2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Class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39816279"/>
                  </a:ext>
                </a:extLst>
              </a:tr>
              <a:tr h="522487">
                <a:tc>
                  <a:txBody>
                    <a:bodyPr/>
                    <a:lstStyle/>
                    <a:p>
                      <a:pPr algn="ctr" fontAlgn="b">
                        <a:buNone/>
                      </a:pPr>
                      <a:r>
                        <a:rPr lang="en-IN" sz="2400" b="1" i="0" u="none" strike="noStrike">
                          <a:solidFill>
                            <a:srgbClr val="000000"/>
                          </a:solidFill>
                          <a:effectLst/>
                          <a:latin typeface="Calibri" panose="020F0502020204030204" pitchFamily="34" charset="0"/>
                        </a:rPr>
                        <a:t>S1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73191683"/>
                  </a:ext>
                </a:extLst>
              </a:tr>
              <a:tr h="522487">
                <a:tc>
                  <a:txBody>
                    <a:bodyPr/>
                    <a:lstStyle/>
                    <a:p>
                      <a:pPr algn="ctr" fontAlgn="b">
                        <a:buNone/>
                      </a:pPr>
                      <a:r>
                        <a:rPr lang="en-IN" sz="2400" b="1" i="0" u="none" strike="noStrike">
                          <a:solidFill>
                            <a:srgbClr val="000000"/>
                          </a:solidFill>
                          <a:effectLst/>
                          <a:latin typeface="Calibri" panose="020F0502020204030204" pitchFamily="34" charset="0"/>
                        </a:rPr>
                        <a:t>S2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10959143"/>
                  </a:ext>
                </a:extLst>
              </a:tr>
              <a:tr h="522487">
                <a:tc>
                  <a:txBody>
                    <a:bodyPr/>
                    <a:lstStyle/>
                    <a:p>
                      <a:pPr algn="ctr" fontAlgn="b">
                        <a:buNone/>
                      </a:pPr>
                      <a:r>
                        <a:rPr lang="en-IN" sz="2400" b="1" i="0" u="none" strike="noStrike">
                          <a:solidFill>
                            <a:srgbClr val="000000"/>
                          </a:solidFill>
                          <a:effectLst/>
                          <a:latin typeface="Calibri" panose="020F0502020204030204" pitchFamily="34" charset="0"/>
                        </a:rPr>
                        <a:t>S3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11049069"/>
                  </a:ext>
                </a:extLst>
              </a:tr>
              <a:tr h="522487">
                <a:tc>
                  <a:txBody>
                    <a:bodyPr/>
                    <a:lstStyle/>
                    <a:p>
                      <a:pPr algn="ctr" fontAlgn="b">
                        <a:buNone/>
                      </a:pPr>
                      <a:r>
                        <a:rPr lang="en-IN" sz="2400" b="1" i="0" u="none" strike="noStrike">
                          <a:solidFill>
                            <a:srgbClr val="000000"/>
                          </a:solidFill>
                          <a:effectLst/>
                          <a:latin typeface="Calibri" panose="020F0502020204030204" pitchFamily="34" charset="0"/>
                        </a:rPr>
                        <a:t>S4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5258541"/>
                  </a:ext>
                </a:extLst>
              </a:tr>
              <a:tr h="522487">
                <a:tc>
                  <a:txBody>
                    <a:bodyPr/>
                    <a:lstStyle/>
                    <a:p>
                      <a:pPr algn="ctr" fontAlgn="b">
                        <a:buNone/>
                      </a:pPr>
                      <a:r>
                        <a:rPr lang="en-IN" sz="2400" b="1" i="0" u="none" strike="noStrike">
                          <a:solidFill>
                            <a:srgbClr val="000000"/>
                          </a:solidFill>
                          <a:effectLst/>
                          <a:latin typeface="Calibri" panose="020F0502020204030204" pitchFamily="34" charset="0"/>
                        </a:rPr>
                        <a:t>S5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dirty="0">
                          <a:solidFill>
                            <a:srgbClr val="000000"/>
                          </a:solidFill>
                          <a:effectLst/>
                          <a:latin typeface="Calibri" panose="020F0502020204030204" pitchFamily="34" charset="0"/>
                        </a:rPr>
                        <a:t>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09603156"/>
                  </a:ext>
                </a:extLst>
              </a:tr>
              <a:tr h="522487">
                <a:tc>
                  <a:txBody>
                    <a:bodyPr/>
                    <a:lstStyle/>
                    <a:p>
                      <a:pPr algn="ctr" fontAlgn="b">
                        <a:buNone/>
                      </a:pPr>
                      <a:r>
                        <a:rPr lang="en-IN" sz="2400" b="1" i="0" u="none" strike="noStrike">
                          <a:solidFill>
                            <a:srgbClr val="000000"/>
                          </a:solidFill>
                          <a:effectLst/>
                          <a:latin typeface="Calibri" panose="020F0502020204030204" pitchFamily="34" charset="0"/>
                        </a:rPr>
                        <a:t>S6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dirty="0">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9295162"/>
                  </a:ext>
                </a:extLst>
              </a:tr>
              <a:tr h="522487">
                <a:tc>
                  <a:txBody>
                    <a:bodyPr/>
                    <a:lstStyle/>
                    <a:p>
                      <a:pPr algn="ctr" fontAlgn="b">
                        <a:buNone/>
                      </a:pPr>
                      <a:r>
                        <a:rPr lang="en-IN" sz="2400" b="1" i="0" u="none" strike="noStrike">
                          <a:solidFill>
                            <a:srgbClr val="000000"/>
                          </a:solidFill>
                          <a:effectLst/>
                          <a:latin typeface="Calibri" panose="020F0502020204030204" pitchFamily="34" charset="0"/>
                        </a:rPr>
                        <a:t>S7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73008323"/>
                  </a:ext>
                </a:extLst>
              </a:tr>
              <a:tr h="522487">
                <a:tc>
                  <a:txBody>
                    <a:bodyPr/>
                    <a:lstStyle/>
                    <a:p>
                      <a:pPr algn="ctr" fontAlgn="b">
                        <a:buNone/>
                      </a:pPr>
                      <a:r>
                        <a:rPr lang="en-IN" sz="2400" b="1" i="0" u="none" strike="noStrike">
                          <a:solidFill>
                            <a:srgbClr val="000000"/>
                          </a:solidFill>
                          <a:effectLst/>
                          <a:latin typeface="Calibri" panose="020F0502020204030204" pitchFamily="34" charset="0"/>
                        </a:rPr>
                        <a:t>S8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dirty="0">
                          <a:solidFill>
                            <a:srgbClr val="000000"/>
                          </a:solidFill>
                          <a:effectLst/>
                          <a:latin typeface="Calibri" panose="020F0502020204030204" pitchFamily="34" charset="0"/>
                        </a:rPr>
                        <a:t>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53611123"/>
                  </a:ext>
                </a:extLst>
              </a:tr>
            </a:tbl>
          </a:graphicData>
        </a:graphic>
      </p:graphicFrame>
      <p:pic>
        <p:nvPicPr>
          <p:cNvPr id="9" name="Picture 8">
            <a:extLst>
              <a:ext uri="{FF2B5EF4-FFF2-40B4-BE49-F238E27FC236}">
                <a16:creationId xmlns:a16="http://schemas.microsoft.com/office/drawing/2014/main" id="{4E8F08BD-F0FB-D13A-48CC-0A2CE6957C71}"/>
              </a:ext>
            </a:extLst>
          </p:cNvPr>
          <p:cNvPicPr>
            <a:picLocks noChangeAspect="1"/>
          </p:cNvPicPr>
          <p:nvPr/>
        </p:nvPicPr>
        <p:blipFill>
          <a:blip r:embed="rId3"/>
          <a:stretch>
            <a:fillRect/>
          </a:stretch>
        </p:blipFill>
        <p:spPr>
          <a:xfrm>
            <a:off x="5208245" y="1115751"/>
            <a:ext cx="6818291" cy="4401164"/>
          </a:xfrm>
          <a:prstGeom prst="rect">
            <a:avLst/>
          </a:prstGeom>
        </p:spPr>
      </p:pic>
      <p:sp>
        <p:nvSpPr>
          <p:cNvPr id="11" name="TextBox 10">
            <a:extLst>
              <a:ext uri="{FF2B5EF4-FFF2-40B4-BE49-F238E27FC236}">
                <a16:creationId xmlns:a16="http://schemas.microsoft.com/office/drawing/2014/main" id="{D8FA242A-F5BE-DE15-8A31-18F9D8C7AF31}"/>
              </a:ext>
            </a:extLst>
          </p:cNvPr>
          <p:cNvSpPr txBox="1"/>
          <p:nvPr/>
        </p:nvSpPr>
        <p:spPr>
          <a:xfrm>
            <a:off x="5378891" y="654086"/>
            <a:ext cx="6477000" cy="461665"/>
          </a:xfrm>
          <a:prstGeom prst="rect">
            <a:avLst/>
          </a:prstGeom>
          <a:noFill/>
        </p:spPr>
        <p:txBody>
          <a:bodyPr wrap="square">
            <a:spAutoFit/>
          </a:bodyPr>
          <a:lstStyle/>
          <a:p>
            <a:r>
              <a:rPr lang="en-US" sz="2400" b="1" dirty="0"/>
              <a:t>Feature 1</a:t>
            </a:r>
          </a:p>
        </p:txBody>
      </p:sp>
      <p:pic>
        <p:nvPicPr>
          <p:cNvPr id="13" name="Picture 12">
            <a:extLst>
              <a:ext uri="{FF2B5EF4-FFF2-40B4-BE49-F238E27FC236}">
                <a16:creationId xmlns:a16="http://schemas.microsoft.com/office/drawing/2014/main" id="{F7CFF3BB-A0F3-A463-430C-B28982A712B8}"/>
              </a:ext>
            </a:extLst>
          </p:cNvPr>
          <p:cNvPicPr>
            <a:picLocks noChangeAspect="1"/>
          </p:cNvPicPr>
          <p:nvPr/>
        </p:nvPicPr>
        <p:blipFill>
          <a:blip r:embed="rId4"/>
          <a:stretch>
            <a:fillRect/>
          </a:stretch>
        </p:blipFill>
        <p:spPr>
          <a:xfrm>
            <a:off x="5558999" y="5699018"/>
            <a:ext cx="4801270" cy="1009791"/>
          </a:xfrm>
          <a:prstGeom prst="rect">
            <a:avLst/>
          </a:prstGeom>
        </p:spPr>
      </p:pic>
      <p:sp>
        <p:nvSpPr>
          <p:cNvPr id="14" name="TextBox 13">
            <a:extLst>
              <a:ext uri="{FF2B5EF4-FFF2-40B4-BE49-F238E27FC236}">
                <a16:creationId xmlns:a16="http://schemas.microsoft.com/office/drawing/2014/main" id="{45CD4ECC-A413-231B-4B9B-A15F488CECF4}"/>
              </a:ext>
            </a:extLst>
          </p:cNvPr>
          <p:cNvSpPr txBox="1"/>
          <p:nvPr/>
        </p:nvSpPr>
        <p:spPr>
          <a:xfrm>
            <a:off x="4210309" y="58593"/>
            <a:ext cx="2669463" cy="584775"/>
          </a:xfrm>
          <a:prstGeom prst="rect">
            <a:avLst/>
          </a:prstGeom>
          <a:noFill/>
        </p:spPr>
        <p:txBody>
          <a:bodyPr wrap="square">
            <a:spAutoFit/>
          </a:bodyPr>
          <a:lstStyle/>
          <a:p>
            <a:r>
              <a:rPr lang="en-US" sz="3200" b="1" dirty="0"/>
              <a:t>Fisher Score</a:t>
            </a:r>
          </a:p>
        </p:txBody>
      </p:sp>
    </p:spTree>
    <p:extLst>
      <p:ext uri="{BB962C8B-B14F-4D97-AF65-F5344CB8AC3E}">
        <p14:creationId xmlns:p14="http://schemas.microsoft.com/office/powerpoint/2010/main" val="1994792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68979-579D-6FE3-905E-1B24A6E4A22A}"/>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672C5C45-EB2B-7D46-55E7-1F32A22AC8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325"/>
            <a:ext cx="1772524" cy="71804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5">
            <a:extLst>
              <a:ext uri="{FF2B5EF4-FFF2-40B4-BE49-F238E27FC236}">
                <a16:creationId xmlns:a16="http://schemas.microsoft.com/office/drawing/2014/main" id="{12708601-755B-74D2-7E59-3FD007E338A8}"/>
              </a:ext>
            </a:extLst>
          </p:cNvPr>
          <p:cNvGraphicFramePr>
            <a:graphicFrameLocks noGrp="1"/>
          </p:cNvGraphicFramePr>
          <p:nvPr/>
        </p:nvGraphicFramePr>
        <p:xfrm>
          <a:off x="562611" y="1036569"/>
          <a:ext cx="4483100" cy="4702383"/>
        </p:xfrm>
        <a:graphic>
          <a:graphicData uri="http://schemas.openxmlformats.org/drawingml/2006/table">
            <a:tbl>
              <a:tblPr/>
              <a:tblGrid>
                <a:gridCol w="1016000">
                  <a:extLst>
                    <a:ext uri="{9D8B030D-6E8A-4147-A177-3AD203B41FA5}">
                      <a16:colId xmlns:a16="http://schemas.microsoft.com/office/drawing/2014/main" val="1958767738"/>
                    </a:ext>
                  </a:extLst>
                </a:gridCol>
                <a:gridCol w="1371600">
                  <a:extLst>
                    <a:ext uri="{9D8B030D-6E8A-4147-A177-3AD203B41FA5}">
                      <a16:colId xmlns:a16="http://schemas.microsoft.com/office/drawing/2014/main" val="1569259097"/>
                    </a:ext>
                  </a:extLst>
                </a:gridCol>
                <a:gridCol w="1371600">
                  <a:extLst>
                    <a:ext uri="{9D8B030D-6E8A-4147-A177-3AD203B41FA5}">
                      <a16:colId xmlns:a16="http://schemas.microsoft.com/office/drawing/2014/main" val="2947885026"/>
                    </a:ext>
                  </a:extLst>
                </a:gridCol>
                <a:gridCol w="723900">
                  <a:extLst>
                    <a:ext uri="{9D8B030D-6E8A-4147-A177-3AD203B41FA5}">
                      <a16:colId xmlns:a16="http://schemas.microsoft.com/office/drawing/2014/main" val="652638214"/>
                    </a:ext>
                  </a:extLst>
                </a:gridCol>
              </a:tblGrid>
              <a:tr h="522487">
                <a:tc>
                  <a:txBody>
                    <a:bodyPr/>
                    <a:lstStyle/>
                    <a:p>
                      <a:pPr algn="ctr" fontAlgn="b">
                        <a:buNone/>
                      </a:pPr>
                      <a:r>
                        <a:rPr lang="en-IN" sz="2400" b="1" i="0" u="none" strike="noStrike">
                          <a:solidFill>
                            <a:srgbClr val="000000"/>
                          </a:solidFill>
                          <a:effectLst/>
                          <a:latin typeface="Calibri" panose="020F0502020204030204" pitchFamily="34" charset="0"/>
                        </a:rPr>
                        <a:t>Sample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Feature_1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Feature_2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Class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39816279"/>
                  </a:ext>
                </a:extLst>
              </a:tr>
              <a:tr h="522487">
                <a:tc>
                  <a:txBody>
                    <a:bodyPr/>
                    <a:lstStyle/>
                    <a:p>
                      <a:pPr algn="ctr" fontAlgn="b">
                        <a:buNone/>
                      </a:pPr>
                      <a:r>
                        <a:rPr lang="en-IN" sz="2400" b="1" i="0" u="none" strike="noStrike">
                          <a:solidFill>
                            <a:srgbClr val="000000"/>
                          </a:solidFill>
                          <a:effectLst/>
                          <a:latin typeface="Calibri" panose="020F0502020204030204" pitchFamily="34" charset="0"/>
                        </a:rPr>
                        <a:t>S1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73191683"/>
                  </a:ext>
                </a:extLst>
              </a:tr>
              <a:tr h="522487">
                <a:tc>
                  <a:txBody>
                    <a:bodyPr/>
                    <a:lstStyle/>
                    <a:p>
                      <a:pPr algn="ctr" fontAlgn="b">
                        <a:buNone/>
                      </a:pPr>
                      <a:r>
                        <a:rPr lang="en-IN" sz="2400" b="1" i="0" u="none" strike="noStrike">
                          <a:solidFill>
                            <a:srgbClr val="000000"/>
                          </a:solidFill>
                          <a:effectLst/>
                          <a:latin typeface="Calibri" panose="020F0502020204030204" pitchFamily="34" charset="0"/>
                        </a:rPr>
                        <a:t>S2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10959143"/>
                  </a:ext>
                </a:extLst>
              </a:tr>
              <a:tr h="522487">
                <a:tc>
                  <a:txBody>
                    <a:bodyPr/>
                    <a:lstStyle/>
                    <a:p>
                      <a:pPr algn="ctr" fontAlgn="b">
                        <a:buNone/>
                      </a:pPr>
                      <a:r>
                        <a:rPr lang="en-IN" sz="2400" b="1" i="0" u="none" strike="noStrike">
                          <a:solidFill>
                            <a:srgbClr val="000000"/>
                          </a:solidFill>
                          <a:effectLst/>
                          <a:latin typeface="Calibri" panose="020F0502020204030204" pitchFamily="34" charset="0"/>
                        </a:rPr>
                        <a:t>S3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11049069"/>
                  </a:ext>
                </a:extLst>
              </a:tr>
              <a:tr h="522487">
                <a:tc>
                  <a:txBody>
                    <a:bodyPr/>
                    <a:lstStyle/>
                    <a:p>
                      <a:pPr algn="ctr" fontAlgn="b">
                        <a:buNone/>
                      </a:pPr>
                      <a:r>
                        <a:rPr lang="en-IN" sz="2400" b="1" i="0" u="none" strike="noStrike">
                          <a:solidFill>
                            <a:srgbClr val="000000"/>
                          </a:solidFill>
                          <a:effectLst/>
                          <a:latin typeface="Calibri" panose="020F0502020204030204" pitchFamily="34" charset="0"/>
                        </a:rPr>
                        <a:t>S4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5258541"/>
                  </a:ext>
                </a:extLst>
              </a:tr>
              <a:tr h="522487">
                <a:tc>
                  <a:txBody>
                    <a:bodyPr/>
                    <a:lstStyle/>
                    <a:p>
                      <a:pPr algn="ctr" fontAlgn="b">
                        <a:buNone/>
                      </a:pPr>
                      <a:r>
                        <a:rPr lang="en-IN" sz="2400" b="1" i="0" u="none" strike="noStrike">
                          <a:solidFill>
                            <a:srgbClr val="000000"/>
                          </a:solidFill>
                          <a:effectLst/>
                          <a:latin typeface="Calibri" panose="020F0502020204030204" pitchFamily="34" charset="0"/>
                        </a:rPr>
                        <a:t>S5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dirty="0">
                          <a:solidFill>
                            <a:srgbClr val="000000"/>
                          </a:solidFill>
                          <a:effectLst/>
                          <a:latin typeface="Calibri" panose="020F0502020204030204" pitchFamily="34" charset="0"/>
                        </a:rPr>
                        <a:t>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09603156"/>
                  </a:ext>
                </a:extLst>
              </a:tr>
              <a:tr h="522487">
                <a:tc>
                  <a:txBody>
                    <a:bodyPr/>
                    <a:lstStyle/>
                    <a:p>
                      <a:pPr algn="ctr" fontAlgn="b">
                        <a:buNone/>
                      </a:pPr>
                      <a:r>
                        <a:rPr lang="en-IN" sz="2400" b="1" i="0" u="none" strike="noStrike">
                          <a:solidFill>
                            <a:srgbClr val="000000"/>
                          </a:solidFill>
                          <a:effectLst/>
                          <a:latin typeface="Calibri" panose="020F0502020204030204" pitchFamily="34" charset="0"/>
                        </a:rPr>
                        <a:t>S6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dirty="0">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9295162"/>
                  </a:ext>
                </a:extLst>
              </a:tr>
              <a:tr h="522487">
                <a:tc>
                  <a:txBody>
                    <a:bodyPr/>
                    <a:lstStyle/>
                    <a:p>
                      <a:pPr algn="ctr" fontAlgn="b">
                        <a:buNone/>
                      </a:pPr>
                      <a:r>
                        <a:rPr lang="en-IN" sz="2400" b="1" i="0" u="none" strike="noStrike">
                          <a:solidFill>
                            <a:srgbClr val="000000"/>
                          </a:solidFill>
                          <a:effectLst/>
                          <a:latin typeface="Calibri" panose="020F0502020204030204" pitchFamily="34" charset="0"/>
                        </a:rPr>
                        <a:t>S7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73008323"/>
                  </a:ext>
                </a:extLst>
              </a:tr>
              <a:tr h="522487">
                <a:tc>
                  <a:txBody>
                    <a:bodyPr/>
                    <a:lstStyle/>
                    <a:p>
                      <a:pPr algn="ctr" fontAlgn="b">
                        <a:buNone/>
                      </a:pPr>
                      <a:r>
                        <a:rPr lang="en-IN" sz="2400" b="1" i="0" u="none" strike="noStrike">
                          <a:solidFill>
                            <a:srgbClr val="000000"/>
                          </a:solidFill>
                          <a:effectLst/>
                          <a:latin typeface="Calibri" panose="020F0502020204030204" pitchFamily="34" charset="0"/>
                        </a:rPr>
                        <a:t>S8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a:solidFill>
                            <a:srgbClr val="000000"/>
                          </a:solidFill>
                          <a:effectLst/>
                          <a:latin typeface="Calibri" panose="020F0502020204030204" pitchFamily="34" charset="0"/>
                        </a:rPr>
                        <a:t>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2400" b="1" i="0" u="none" strike="noStrike" dirty="0">
                          <a:solidFill>
                            <a:srgbClr val="000000"/>
                          </a:solidFill>
                          <a:effectLst/>
                          <a:latin typeface="Calibri" panose="020F0502020204030204" pitchFamily="34" charset="0"/>
                        </a:rPr>
                        <a:t>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53611123"/>
                  </a:ext>
                </a:extLst>
              </a:tr>
            </a:tbl>
          </a:graphicData>
        </a:graphic>
      </p:graphicFrame>
      <p:sp>
        <p:nvSpPr>
          <p:cNvPr id="11" name="TextBox 10">
            <a:extLst>
              <a:ext uri="{FF2B5EF4-FFF2-40B4-BE49-F238E27FC236}">
                <a16:creationId xmlns:a16="http://schemas.microsoft.com/office/drawing/2014/main" id="{1C369701-6807-710B-CA3E-81DC76439BA7}"/>
              </a:ext>
            </a:extLst>
          </p:cNvPr>
          <p:cNvSpPr txBox="1"/>
          <p:nvPr/>
        </p:nvSpPr>
        <p:spPr>
          <a:xfrm>
            <a:off x="5378891" y="654086"/>
            <a:ext cx="6477000" cy="461665"/>
          </a:xfrm>
          <a:prstGeom prst="rect">
            <a:avLst/>
          </a:prstGeom>
          <a:noFill/>
        </p:spPr>
        <p:txBody>
          <a:bodyPr wrap="square">
            <a:spAutoFit/>
          </a:bodyPr>
          <a:lstStyle/>
          <a:p>
            <a:r>
              <a:rPr lang="en-US" sz="2400" b="1" dirty="0"/>
              <a:t>Feature 2</a:t>
            </a:r>
          </a:p>
        </p:txBody>
      </p:sp>
      <p:pic>
        <p:nvPicPr>
          <p:cNvPr id="3" name="Picture 2">
            <a:extLst>
              <a:ext uri="{FF2B5EF4-FFF2-40B4-BE49-F238E27FC236}">
                <a16:creationId xmlns:a16="http://schemas.microsoft.com/office/drawing/2014/main" id="{EB131ECA-D3E9-94AD-6734-395817F55F7B}"/>
              </a:ext>
            </a:extLst>
          </p:cNvPr>
          <p:cNvPicPr>
            <a:picLocks noChangeAspect="1"/>
          </p:cNvPicPr>
          <p:nvPr/>
        </p:nvPicPr>
        <p:blipFill>
          <a:blip r:embed="rId3"/>
          <a:stretch>
            <a:fillRect/>
          </a:stretch>
        </p:blipFill>
        <p:spPr>
          <a:xfrm>
            <a:off x="5194418" y="1164486"/>
            <a:ext cx="6594256" cy="4034532"/>
          </a:xfrm>
          <a:prstGeom prst="rect">
            <a:avLst/>
          </a:prstGeom>
        </p:spPr>
      </p:pic>
      <p:pic>
        <p:nvPicPr>
          <p:cNvPr id="8" name="Picture 7">
            <a:extLst>
              <a:ext uri="{FF2B5EF4-FFF2-40B4-BE49-F238E27FC236}">
                <a16:creationId xmlns:a16="http://schemas.microsoft.com/office/drawing/2014/main" id="{8F98653B-53AD-2225-6E87-405FF2687B98}"/>
              </a:ext>
            </a:extLst>
          </p:cNvPr>
          <p:cNvPicPr>
            <a:picLocks noChangeAspect="1"/>
          </p:cNvPicPr>
          <p:nvPr/>
        </p:nvPicPr>
        <p:blipFill>
          <a:blip r:embed="rId4"/>
          <a:stretch>
            <a:fillRect/>
          </a:stretch>
        </p:blipFill>
        <p:spPr>
          <a:xfrm>
            <a:off x="5131764" y="5410810"/>
            <a:ext cx="6335009" cy="1000265"/>
          </a:xfrm>
          <a:prstGeom prst="rect">
            <a:avLst/>
          </a:prstGeom>
        </p:spPr>
      </p:pic>
      <p:sp>
        <p:nvSpPr>
          <p:cNvPr id="10" name="TextBox 9">
            <a:extLst>
              <a:ext uri="{FF2B5EF4-FFF2-40B4-BE49-F238E27FC236}">
                <a16:creationId xmlns:a16="http://schemas.microsoft.com/office/drawing/2014/main" id="{E8EE1FFA-253B-923F-48EC-C8EF978BC854}"/>
              </a:ext>
            </a:extLst>
          </p:cNvPr>
          <p:cNvSpPr txBox="1"/>
          <p:nvPr/>
        </p:nvSpPr>
        <p:spPr>
          <a:xfrm>
            <a:off x="4210309" y="58593"/>
            <a:ext cx="2669463" cy="584775"/>
          </a:xfrm>
          <a:prstGeom prst="rect">
            <a:avLst/>
          </a:prstGeom>
          <a:noFill/>
        </p:spPr>
        <p:txBody>
          <a:bodyPr wrap="square">
            <a:spAutoFit/>
          </a:bodyPr>
          <a:lstStyle/>
          <a:p>
            <a:r>
              <a:rPr lang="en-US" sz="3200" b="1" dirty="0"/>
              <a:t>Fisher Score</a:t>
            </a:r>
          </a:p>
        </p:txBody>
      </p:sp>
    </p:spTree>
    <p:extLst>
      <p:ext uri="{BB962C8B-B14F-4D97-AF65-F5344CB8AC3E}">
        <p14:creationId xmlns:p14="http://schemas.microsoft.com/office/powerpoint/2010/main" val="16704196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E2DA9-82DC-E9F9-1EE2-DCD1B5AC3E69}"/>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DCD18204-A1A7-D64D-BF17-97E2C238E1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325"/>
            <a:ext cx="1772524" cy="71804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AA5EC350-EC19-4F3C-9C60-A213B71667AC}"/>
              </a:ext>
            </a:extLst>
          </p:cNvPr>
          <p:cNvPicPr>
            <a:picLocks noChangeAspect="1"/>
          </p:cNvPicPr>
          <p:nvPr/>
        </p:nvPicPr>
        <p:blipFill>
          <a:blip r:embed="rId3"/>
          <a:stretch>
            <a:fillRect/>
          </a:stretch>
        </p:blipFill>
        <p:spPr>
          <a:xfrm>
            <a:off x="1590615" y="1256248"/>
            <a:ext cx="8459381" cy="1419423"/>
          </a:xfrm>
          <a:prstGeom prst="rect">
            <a:avLst/>
          </a:prstGeom>
        </p:spPr>
      </p:pic>
      <p:sp>
        <p:nvSpPr>
          <p:cNvPr id="12" name="TextBox 11">
            <a:extLst>
              <a:ext uri="{FF2B5EF4-FFF2-40B4-BE49-F238E27FC236}">
                <a16:creationId xmlns:a16="http://schemas.microsoft.com/office/drawing/2014/main" id="{FCDA437B-BE96-F0FB-E0F4-9CB5A185C6EB}"/>
              </a:ext>
            </a:extLst>
          </p:cNvPr>
          <p:cNvSpPr txBox="1"/>
          <p:nvPr/>
        </p:nvSpPr>
        <p:spPr>
          <a:xfrm>
            <a:off x="4210309" y="58593"/>
            <a:ext cx="2669463" cy="584775"/>
          </a:xfrm>
          <a:prstGeom prst="rect">
            <a:avLst/>
          </a:prstGeom>
          <a:noFill/>
        </p:spPr>
        <p:txBody>
          <a:bodyPr wrap="square">
            <a:spAutoFit/>
          </a:bodyPr>
          <a:lstStyle/>
          <a:p>
            <a:r>
              <a:rPr lang="en-US" sz="3200" b="1" dirty="0"/>
              <a:t>Fisher Score</a:t>
            </a:r>
          </a:p>
        </p:txBody>
      </p:sp>
    </p:spTree>
    <p:extLst>
      <p:ext uri="{BB962C8B-B14F-4D97-AF65-F5344CB8AC3E}">
        <p14:creationId xmlns:p14="http://schemas.microsoft.com/office/powerpoint/2010/main" val="37877528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4D024-6CA1-58BC-3F5A-45A4BFEE8100}"/>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36282C15-3A8E-1F9E-73F2-32B3342A86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325"/>
            <a:ext cx="1772524" cy="71804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62061145-14AB-A65F-B6AB-81EAEA5B7E7B}"/>
              </a:ext>
            </a:extLst>
          </p:cNvPr>
          <p:cNvPicPr>
            <a:picLocks noChangeAspect="1"/>
          </p:cNvPicPr>
          <p:nvPr/>
        </p:nvPicPr>
        <p:blipFill>
          <a:blip r:embed="rId3"/>
          <a:stretch>
            <a:fillRect/>
          </a:stretch>
        </p:blipFill>
        <p:spPr>
          <a:xfrm>
            <a:off x="2038353" y="1684003"/>
            <a:ext cx="7563906" cy="4134427"/>
          </a:xfrm>
          <a:prstGeom prst="rect">
            <a:avLst/>
          </a:prstGeom>
        </p:spPr>
      </p:pic>
      <p:sp>
        <p:nvSpPr>
          <p:cNvPr id="2" name="TextBox 1">
            <a:extLst>
              <a:ext uri="{FF2B5EF4-FFF2-40B4-BE49-F238E27FC236}">
                <a16:creationId xmlns:a16="http://schemas.microsoft.com/office/drawing/2014/main" id="{19F3430A-C082-3FA8-42BA-54CC01477968}"/>
              </a:ext>
            </a:extLst>
          </p:cNvPr>
          <p:cNvSpPr txBox="1"/>
          <p:nvPr/>
        </p:nvSpPr>
        <p:spPr>
          <a:xfrm>
            <a:off x="2038353" y="905482"/>
            <a:ext cx="3144079" cy="584775"/>
          </a:xfrm>
          <a:prstGeom prst="rect">
            <a:avLst/>
          </a:prstGeom>
          <a:noFill/>
        </p:spPr>
        <p:txBody>
          <a:bodyPr wrap="square">
            <a:spAutoFit/>
          </a:bodyPr>
          <a:lstStyle/>
          <a:p>
            <a:r>
              <a:rPr lang="en-US" sz="3200" b="1" dirty="0"/>
              <a:t>For multi classes</a:t>
            </a:r>
          </a:p>
        </p:txBody>
      </p:sp>
      <p:sp>
        <p:nvSpPr>
          <p:cNvPr id="3" name="TextBox 2">
            <a:extLst>
              <a:ext uri="{FF2B5EF4-FFF2-40B4-BE49-F238E27FC236}">
                <a16:creationId xmlns:a16="http://schemas.microsoft.com/office/drawing/2014/main" id="{1B45D610-E96B-F3DE-54DA-E43A6294D851}"/>
              </a:ext>
            </a:extLst>
          </p:cNvPr>
          <p:cNvSpPr txBox="1"/>
          <p:nvPr/>
        </p:nvSpPr>
        <p:spPr>
          <a:xfrm>
            <a:off x="4210309" y="58593"/>
            <a:ext cx="2669463" cy="584775"/>
          </a:xfrm>
          <a:prstGeom prst="rect">
            <a:avLst/>
          </a:prstGeom>
          <a:noFill/>
        </p:spPr>
        <p:txBody>
          <a:bodyPr wrap="square">
            <a:spAutoFit/>
          </a:bodyPr>
          <a:lstStyle/>
          <a:p>
            <a:r>
              <a:rPr lang="en-US" sz="3200" b="1" dirty="0"/>
              <a:t>Fisher Score</a:t>
            </a:r>
          </a:p>
        </p:txBody>
      </p:sp>
    </p:spTree>
    <p:extLst>
      <p:ext uri="{BB962C8B-B14F-4D97-AF65-F5344CB8AC3E}">
        <p14:creationId xmlns:p14="http://schemas.microsoft.com/office/powerpoint/2010/main" val="16160471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D0BAF-F6D7-CB3F-C6E5-726CFEEAE07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B4E8EF-C545-1B21-459B-5B80CD1773F5}"/>
              </a:ext>
            </a:extLst>
          </p:cNvPr>
          <p:cNvSpPr>
            <a:spLocks noGrp="1"/>
          </p:cNvSpPr>
          <p:nvPr>
            <p:ph idx="1"/>
          </p:nvPr>
        </p:nvSpPr>
        <p:spPr>
          <a:xfrm>
            <a:off x="414201" y="778373"/>
            <a:ext cx="10997838" cy="5784858"/>
          </a:xfrm>
        </p:spPr>
        <p:txBody>
          <a:bodyPr>
            <a:normAutofit/>
          </a:bodyPr>
          <a:lstStyle/>
          <a:p>
            <a:pPr algn="just" fontAlgn="base">
              <a:lnSpc>
                <a:spcPct val="150000"/>
              </a:lnSpc>
            </a:pPr>
            <a:r>
              <a:rPr lang="en-US" dirty="0"/>
              <a:t>Mutual information(MI)between two random variables is a non-negative </a:t>
            </a:r>
            <a:r>
              <a:rPr lang="en-US" dirty="0" err="1"/>
              <a:t>value,which</a:t>
            </a:r>
            <a:r>
              <a:rPr lang="en-US" dirty="0"/>
              <a:t> measures the dependency between the variables .It is equal to zero if and only if two random variables are independent ,and higher values mean higher dependency</a:t>
            </a:r>
          </a:p>
          <a:p>
            <a:pPr algn="just" fontAlgn="base">
              <a:lnSpc>
                <a:spcPct val="150000"/>
              </a:lnSpc>
            </a:pPr>
            <a:r>
              <a:rPr lang="en-US" dirty="0"/>
              <a:t>In short, it is the amount of information one variable gives about the other.</a:t>
            </a:r>
          </a:p>
          <a:p>
            <a:pPr algn="just" fontAlgn="base">
              <a:lnSpc>
                <a:spcPct val="150000"/>
              </a:lnSpc>
            </a:pPr>
            <a:endParaRPr lang="en-US" dirty="0"/>
          </a:p>
        </p:txBody>
      </p:sp>
      <p:pic>
        <p:nvPicPr>
          <p:cNvPr id="4" name="Picture 2" descr="KL University - Wikipedia">
            <a:extLst>
              <a:ext uri="{FF2B5EF4-FFF2-40B4-BE49-F238E27FC236}">
                <a16:creationId xmlns:a16="http://schemas.microsoft.com/office/drawing/2014/main" id="{1DFDF961-1C86-6ACC-49BE-AAA7DC8841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325"/>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0F93149-4813-E557-9669-740B3EF659E2}"/>
              </a:ext>
            </a:extLst>
          </p:cNvPr>
          <p:cNvSpPr txBox="1"/>
          <p:nvPr/>
        </p:nvSpPr>
        <p:spPr>
          <a:xfrm>
            <a:off x="3670378" y="126962"/>
            <a:ext cx="3653531" cy="584775"/>
          </a:xfrm>
          <a:prstGeom prst="rect">
            <a:avLst/>
          </a:prstGeom>
          <a:noFill/>
        </p:spPr>
        <p:txBody>
          <a:bodyPr wrap="square">
            <a:spAutoFit/>
          </a:bodyPr>
          <a:lstStyle/>
          <a:p>
            <a:r>
              <a:rPr lang="en-US" sz="3200" b="1" dirty="0"/>
              <a:t>Mutual Information</a:t>
            </a:r>
          </a:p>
        </p:txBody>
      </p:sp>
      <p:sp>
        <p:nvSpPr>
          <p:cNvPr id="2" name="Rectangle 1">
            <a:extLst>
              <a:ext uri="{FF2B5EF4-FFF2-40B4-BE49-F238E27FC236}">
                <a16:creationId xmlns:a16="http://schemas.microsoft.com/office/drawing/2014/main" id="{13DDCA72-5468-E3D4-10EF-361501D9B0E2}"/>
              </a:ext>
            </a:extLst>
          </p:cNvPr>
          <p:cNvSpPr>
            <a:spLocks noChangeArrowheads="1"/>
          </p:cNvSpPr>
          <p:nvPr/>
        </p:nvSpPr>
        <p:spPr bwMode="auto">
          <a:xfrm>
            <a:off x="0" y="-22875"/>
            <a:ext cx="65" cy="50295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72964" rIns="0" bIns="-49197"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DCE8474E-F677-D7F6-A9DA-D255DF13E75A}"/>
              </a:ext>
            </a:extLst>
          </p:cNvPr>
          <p:cNvPicPr>
            <a:picLocks noChangeAspect="1"/>
          </p:cNvPicPr>
          <p:nvPr/>
        </p:nvPicPr>
        <p:blipFill>
          <a:blip r:embed="rId3"/>
          <a:stretch>
            <a:fillRect/>
          </a:stretch>
        </p:blipFill>
        <p:spPr>
          <a:xfrm>
            <a:off x="3014232" y="4562761"/>
            <a:ext cx="6163535" cy="1209844"/>
          </a:xfrm>
          <a:prstGeom prst="rect">
            <a:avLst/>
          </a:prstGeom>
        </p:spPr>
      </p:pic>
    </p:spTree>
    <p:extLst>
      <p:ext uri="{BB962C8B-B14F-4D97-AF65-F5344CB8AC3E}">
        <p14:creationId xmlns:p14="http://schemas.microsoft.com/office/powerpoint/2010/main" val="14363144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08921-4BB5-90FB-0B0B-8EC40C149C68}"/>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39ACD672-FC57-5B64-0A3D-E805B6F2C7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325"/>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DFE08A8-E3AF-3280-52E2-0663E7196B17}"/>
              </a:ext>
            </a:extLst>
          </p:cNvPr>
          <p:cNvSpPr txBox="1"/>
          <p:nvPr/>
        </p:nvSpPr>
        <p:spPr>
          <a:xfrm>
            <a:off x="3670378" y="126962"/>
            <a:ext cx="3653531" cy="584775"/>
          </a:xfrm>
          <a:prstGeom prst="rect">
            <a:avLst/>
          </a:prstGeom>
          <a:noFill/>
        </p:spPr>
        <p:txBody>
          <a:bodyPr wrap="square">
            <a:spAutoFit/>
          </a:bodyPr>
          <a:lstStyle/>
          <a:p>
            <a:r>
              <a:rPr lang="en-US" sz="3200" b="1" dirty="0"/>
              <a:t>Mutual Information</a:t>
            </a:r>
          </a:p>
        </p:txBody>
      </p:sp>
      <p:sp>
        <p:nvSpPr>
          <p:cNvPr id="2" name="Rectangle 1">
            <a:extLst>
              <a:ext uri="{FF2B5EF4-FFF2-40B4-BE49-F238E27FC236}">
                <a16:creationId xmlns:a16="http://schemas.microsoft.com/office/drawing/2014/main" id="{508D356D-7B1D-5A9B-3E20-C3469DA23BF0}"/>
              </a:ext>
            </a:extLst>
          </p:cNvPr>
          <p:cNvSpPr>
            <a:spLocks noChangeArrowheads="1"/>
          </p:cNvSpPr>
          <p:nvPr/>
        </p:nvSpPr>
        <p:spPr bwMode="auto">
          <a:xfrm>
            <a:off x="0" y="-22875"/>
            <a:ext cx="65" cy="50295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72964" rIns="0" bIns="-49197"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9" name="Table 8">
            <a:extLst>
              <a:ext uri="{FF2B5EF4-FFF2-40B4-BE49-F238E27FC236}">
                <a16:creationId xmlns:a16="http://schemas.microsoft.com/office/drawing/2014/main" id="{419A0C60-4C3B-0D99-E01C-1F75A947DE78}"/>
              </a:ext>
            </a:extLst>
          </p:cNvPr>
          <p:cNvGraphicFramePr>
            <a:graphicFrameLocks noGrp="1"/>
          </p:cNvGraphicFramePr>
          <p:nvPr/>
        </p:nvGraphicFramePr>
        <p:xfrm>
          <a:off x="286624" y="1055891"/>
          <a:ext cx="2971800" cy="3348990"/>
        </p:xfrm>
        <a:graphic>
          <a:graphicData uri="http://schemas.openxmlformats.org/drawingml/2006/table">
            <a:tbl>
              <a:tblPr/>
              <a:tblGrid>
                <a:gridCol w="609600">
                  <a:extLst>
                    <a:ext uri="{9D8B030D-6E8A-4147-A177-3AD203B41FA5}">
                      <a16:colId xmlns:a16="http://schemas.microsoft.com/office/drawing/2014/main" val="1325374638"/>
                    </a:ext>
                  </a:extLst>
                </a:gridCol>
                <a:gridCol w="952500">
                  <a:extLst>
                    <a:ext uri="{9D8B030D-6E8A-4147-A177-3AD203B41FA5}">
                      <a16:colId xmlns:a16="http://schemas.microsoft.com/office/drawing/2014/main" val="4286189373"/>
                    </a:ext>
                  </a:extLst>
                </a:gridCol>
                <a:gridCol w="800100">
                  <a:extLst>
                    <a:ext uri="{9D8B030D-6E8A-4147-A177-3AD203B41FA5}">
                      <a16:colId xmlns:a16="http://schemas.microsoft.com/office/drawing/2014/main" val="129410694"/>
                    </a:ext>
                  </a:extLst>
                </a:gridCol>
                <a:gridCol w="609600">
                  <a:extLst>
                    <a:ext uri="{9D8B030D-6E8A-4147-A177-3AD203B41FA5}">
                      <a16:colId xmlns:a16="http://schemas.microsoft.com/office/drawing/2014/main" val="3308572698"/>
                    </a:ext>
                  </a:extLst>
                </a:gridCol>
              </a:tblGrid>
              <a:tr h="298450">
                <a:tc>
                  <a:txBody>
                    <a:bodyPr/>
                    <a:lstStyle/>
                    <a:p>
                      <a:pPr algn="r" fontAlgn="ctr">
                        <a:buNone/>
                      </a:pPr>
                      <a:r>
                        <a:rPr lang="en-IN" sz="2400" b="1" i="0" u="none" strike="noStrike">
                          <a:solidFill>
                            <a:srgbClr val="000000"/>
                          </a:solidFill>
                          <a:effectLst/>
                          <a:latin typeface="Calibri" panose="020F0502020204030204" pitchFamily="34" charset="0"/>
                        </a:rPr>
                        <a:t>ID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2400" b="1" i="0" u="none" strike="noStrike">
                          <a:solidFill>
                            <a:srgbClr val="000000"/>
                          </a:solidFill>
                          <a:effectLst/>
                          <a:latin typeface="Calibri" panose="020F0502020204030204" pitchFamily="34" charset="0"/>
                        </a:rPr>
                        <a:t>F1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2400" b="1" i="0" u="none" strike="noStrike">
                          <a:solidFill>
                            <a:srgbClr val="000000"/>
                          </a:solidFill>
                          <a:effectLst/>
                          <a:latin typeface="Calibri" panose="020F0502020204030204" pitchFamily="34" charset="0"/>
                        </a:rPr>
                        <a:t>F2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2400" b="1" i="0" u="none" strike="noStrike">
                          <a:solidFill>
                            <a:srgbClr val="000000"/>
                          </a:solidFill>
                          <a:effectLst/>
                          <a:latin typeface="Calibri" panose="020F0502020204030204" pitchFamily="34" charset="0"/>
                        </a:rPr>
                        <a:t>YY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80396623"/>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High</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Pass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90018961"/>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High</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Pass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66958352"/>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High</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Pass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98968048"/>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High</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Fail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83363808"/>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Low</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Fail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29793570"/>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Low</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Fail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83821408"/>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dirty="0">
                          <a:solidFill>
                            <a:srgbClr val="000000"/>
                          </a:solidFill>
                          <a:effectLst/>
                          <a:latin typeface="Calibri" panose="020F0502020204030204" pitchFamily="34" charset="0"/>
                        </a:rPr>
                        <a:t>Low</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dirty="0">
                          <a:solidFill>
                            <a:srgbClr val="000000"/>
                          </a:solidFill>
                          <a:effectLst/>
                          <a:latin typeface="Calibri" panose="020F0502020204030204" pitchFamily="34" charset="0"/>
                        </a:rPr>
                        <a:t>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Fail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54582893"/>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Low</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dirty="0">
                          <a:solidFill>
                            <a:srgbClr val="000000"/>
                          </a:solidFill>
                          <a:effectLst/>
                          <a:latin typeface="Calibri" panose="020F0502020204030204" pitchFamily="34" charset="0"/>
                        </a:rPr>
                        <a:t>Pass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50215284"/>
                  </a:ext>
                </a:extLst>
              </a:tr>
            </a:tbl>
          </a:graphicData>
        </a:graphic>
      </p:graphicFrame>
      <p:pic>
        <p:nvPicPr>
          <p:cNvPr id="11" name="Picture 10">
            <a:extLst>
              <a:ext uri="{FF2B5EF4-FFF2-40B4-BE49-F238E27FC236}">
                <a16:creationId xmlns:a16="http://schemas.microsoft.com/office/drawing/2014/main" id="{77720680-76ED-B9ED-6490-E67CA44F7150}"/>
              </a:ext>
            </a:extLst>
          </p:cNvPr>
          <p:cNvPicPr>
            <a:picLocks noChangeAspect="1"/>
          </p:cNvPicPr>
          <p:nvPr/>
        </p:nvPicPr>
        <p:blipFill>
          <a:blip r:embed="rId3"/>
          <a:stretch>
            <a:fillRect/>
          </a:stretch>
        </p:blipFill>
        <p:spPr>
          <a:xfrm>
            <a:off x="3670378" y="2482629"/>
            <a:ext cx="8230359" cy="1419423"/>
          </a:xfrm>
          <a:prstGeom prst="rect">
            <a:avLst/>
          </a:prstGeom>
        </p:spPr>
      </p:pic>
    </p:spTree>
    <p:extLst>
      <p:ext uri="{BB962C8B-B14F-4D97-AF65-F5344CB8AC3E}">
        <p14:creationId xmlns:p14="http://schemas.microsoft.com/office/powerpoint/2010/main" val="13971208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F68A3-1356-12DA-536C-322314385A38}"/>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BD623C4C-FB6E-DBE7-8EA2-BA5EC2142C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325"/>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3A50F1C-92C5-B448-0F4F-12C72D797B80}"/>
              </a:ext>
            </a:extLst>
          </p:cNvPr>
          <p:cNvSpPr txBox="1"/>
          <p:nvPr/>
        </p:nvSpPr>
        <p:spPr>
          <a:xfrm>
            <a:off x="3670378" y="126962"/>
            <a:ext cx="3653531" cy="584775"/>
          </a:xfrm>
          <a:prstGeom prst="rect">
            <a:avLst/>
          </a:prstGeom>
          <a:noFill/>
        </p:spPr>
        <p:txBody>
          <a:bodyPr wrap="square">
            <a:spAutoFit/>
          </a:bodyPr>
          <a:lstStyle/>
          <a:p>
            <a:r>
              <a:rPr lang="en-US" sz="3200" b="1" dirty="0"/>
              <a:t>Mutual Information</a:t>
            </a:r>
          </a:p>
        </p:txBody>
      </p:sp>
      <p:sp>
        <p:nvSpPr>
          <p:cNvPr id="2" name="Rectangle 1">
            <a:extLst>
              <a:ext uri="{FF2B5EF4-FFF2-40B4-BE49-F238E27FC236}">
                <a16:creationId xmlns:a16="http://schemas.microsoft.com/office/drawing/2014/main" id="{89A0417B-DBA8-8EB0-31DA-2258E800800B}"/>
              </a:ext>
            </a:extLst>
          </p:cNvPr>
          <p:cNvSpPr>
            <a:spLocks noChangeArrowheads="1"/>
          </p:cNvSpPr>
          <p:nvPr/>
        </p:nvSpPr>
        <p:spPr bwMode="auto">
          <a:xfrm>
            <a:off x="0" y="-22875"/>
            <a:ext cx="65" cy="50295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72964" rIns="0" bIns="-49197"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9" name="Table 8">
            <a:extLst>
              <a:ext uri="{FF2B5EF4-FFF2-40B4-BE49-F238E27FC236}">
                <a16:creationId xmlns:a16="http://schemas.microsoft.com/office/drawing/2014/main" id="{CA34A4EB-7A2C-8BC4-60EC-C9E5F6DA3712}"/>
              </a:ext>
            </a:extLst>
          </p:cNvPr>
          <p:cNvGraphicFramePr>
            <a:graphicFrameLocks noGrp="1"/>
          </p:cNvGraphicFramePr>
          <p:nvPr>
            <p:extLst>
              <p:ext uri="{D42A27DB-BD31-4B8C-83A1-F6EECF244321}">
                <p14:modId xmlns:p14="http://schemas.microsoft.com/office/powerpoint/2010/main" val="2459886594"/>
              </p:ext>
            </p:extLst>
          </p:nvPr>
        </p:nvGraphicFramePr>
        <p:xfrm>
          <a:off x="286624" y="1055891"/>
          <a:ext cx="2971800" cy="3348990"/>
        </p:xfrm>
        <a:graphic>
          <a:graphicData uri="http://schemas.openxmlformats.org/drawingml/2006/table">
            <a:tbl>
              <a:tblPr/>
              <a:tblGrid>
                <a:gridCol w="609600">
                  <a:extLst>
                    <a:ext uri="{9D8B030D-6E8A-4147-A177-3AD203B41FA5}">
                      <a16:colId xmlns:a16="http://schemas.microsoft.com/office/drawing/2014/main" val="1325374638"/>
                    </a:ext>
                  </a:extLst>
                </a:gridCol>
                <a:gridCol w="952500">
                  <a:extLst>
                    <a:ext uri="{9D8B030D-6E8A-4147-A177-3AD203B41FA5}">
                      <a16:colId xmlns:a16="http://schemas.microsoft.com/office/drawing/2014/main" val="4286189373"/>
                    </a:ext>
                  </a:extLst>
                </a:gridCol>
                <a:gridCol w="800100">
                  <a:extLst>
                    <a:ext uri="{9D8B030D-6E8A-4147-A177-3AD203B41FA5}">
                      <a16:colId xmlns:a16="http://schemas.microsoft.com/office/drawing/2014/main" val="129410694"/>
                    </a:ext>
                  </a:extLst>
                </a:gridCol>
                <a:gridCol w="609600">
                  <a:extLst>
                    <a:ext uri="{9D8B030D-6E8A-4147-A177-3AD203B41FA5}">
                      <a16:colId xmlns:a16="http://schemas.microsoft.com/office/drawing/2014/main" val="3308572698"/>
                    </a:ext>
                  </a:extLst>
                </a:gridCol>
              </a:tblGrid>
              <a:tr h="298450">
                <a:tc>
                  <a:txBody>
                    <a:bodyPr/>
                    <a:lstStyle/>
                    <a:p>
                      <a:pPr algn="r" fontAlgn="ctr">
                        <a:buNone/>
                      </a:pPr>
                      <a:r>
                        <a:rPr lang="en-IN" sz="2400" b="1" i="0" u="none" strike="noStrike">
                          <a:solidFill>
                            <a:srgbClr val="000000"/>
                          </a:solidFill>
                          <a:effectLst/>
                          <a:latin typeface="Calibri" panose="020F0502020204030204" pitchFamily="34" charset="0"/>
                        </a:rPr>
                        <a:t>ID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2400" b="1" i="0" u="none" strike="noStrike">
                          <a:solidFill>
                            <a:srgbClr val="000000"/>
                          </a:solidFill>
                          <a:effectLst/>
                          <a:latin typeface="Calibri" panose="020F0502020204030204" pitchFamily="34" charset="0"/>
                        </a:rPr>
                        <a:t>F1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2400" b="1" i="0" u="none" strike="noStrike">
                          <a:solidFill>
                            <a:srgbClr val="000000"/>
                          </a:solidFill>
                          <a:effectLst/>
                          <a:latin typeface="Calibri" panose="020F0502020204030204" pitchFamily="34" charset="0"/>
                        </a:rPr>
                        <a:t>F2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2400" b="1" i="0" u="none" strike="noStrike">
                          <a:solidFill>
                            <a:srgbClr val="000000"/>
                          </a:solidFill>
                          <a:effectLst/>
                          <a:latin typeface="Calibri" panose="020F0502020204030204" pitchFamily="34" charset="0"/>
                        </a:rPr>
                        <a:t>YY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80396623"/>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High</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Pass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90018961"/>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High</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Pass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66958352"/>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High</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Pass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98968048"/>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High</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Fail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83363808"/>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Low</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Fail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29793570"/>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Low</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Fail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83821408"/>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dirty="0">
                          <a:solidFill>
                            <a:srgbClr val="000000"/>
                          </a:solidFill>
                          <a:effectLst/>
                          <a:latin typeface="Calibri" panose="020F0502020204030204" pitchFamily="34" charset="0"/>
                        </a:rPr>
                        <a:t>Low</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dirty="0">
                          <a:solidFill>
                            <a:srgbClr val="000000"/>
                          </a:solidFill>
                          <a:effectLst/>
                          <a:latin typeface="Calibri" panose="020F0502020204030204" pitchFamily="34" charset="0"/>
                        </a:rPr>
                        <a:t>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Fail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54582893"/>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Low</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dirty="0">
                          <a:solidFill>
                            <a:srgbClr val="000000"/>
                          </a:solidFill>
                          <a:effectLst/>
                          <a:latin typeface="Calibri" panose="020F0502020204030204" pitchFamily="34" charset="0"/>
                        </a:rPr>
                        <a:t>Pass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50215284"/>
                  </a:ext>
                </a:extLst>
              </a:tr>
            </a:tbl>
          </a:graphicData>
        </a:graphic>
      </p:graphicFrame>
      <p:pic>
        <p:nvPicPr>
          <p:cNvPr id="11" name="Picture 10">
            <a:extLst>
              <a:ext uri="{FF2B5EF4-FFF2-40B4-BE49-F238E27FC236}">
                <a16:creationId xmlns:a16="http://schemas.microsoft.com/office/drawing/2014/main" id="{DA8E16F6-7EEF-4566-E12D-943FC59FC05C}"/>
              </a:ext>
            </a:extLst>
          </p:cNvPr>
          <p:cNvPicPr>
            <a:picLocks noChangeAspect="1"/>
          </p:cNvPicPr>
          <p:nvPr/>
        </p:nvPicPr>
        <p:blipFill>
          <a:blip r:embed="rId3"/>
          <a:stretch>
            <a:fillRect/>
          </a:stretch>
        </p:blipFill>
        <p:spPr>
          <a:xfrm>
            <a:off x="286624" y="5112617"/>
            <a:ext cx="9632439" cy="1419423"/>
          </a:xfrm>
          <a:prstGeom prst="rect">
            <a:avLst/>
          </a:prstGeom>
        </p:spPr>
      </p:pic>
      <p:sp>
        <p:nvSpPr>
          <p:cNvPr id="13" name="TextBox 12">
            <a:extLst>
              <a:ext uri="{FF2B5EF4-FFF2-40B4-BE49-F238E27FC236}">
                <a16:creationId xmlns:a16="http://schemas.microsoft.com/office/drawing/2014/main" id="{4C09303E-712E-92DF-29B1-B663108AC533}"/>
              </a:ext>
            </a:extLst>
          </p:cNvPr>
          <p:cNvSpPr txBox="1"/>
          <p:nvPr/>
        </p:nvSpPr>
        <p:spPr>
          <a:xfrm>
            <a:off x="3670378" y="871225"/>
            <a:ext cx="6096000" cy="461665"/>
          </a:xfrm>
          <a:prstGeom prst="rect">
            <a:avLst/>
          </a:prstGeom>
          <a:noFill/>
        </p:spPr>
        <p:txBody>
          <a:bodyPr wrap="square">
            <a:spAutoFit/>
          </a:bodyPr>
          <a:lstStyle/>
          <a:p>
            <a:r>
              <a:rPr lang="en-US" sz="2400" dirty="0"/>
              <a:t>MI of X1 with YY</a:t>
            </a:r>
            <a:endParaRPr lang="en-IN" sz="2400" dirty="0"/>
          </a:p>
        </p:txBody>
      </p:sp>
      <p:pic>
        <p:nvPicPr>
          <p:cNvPr id="15" name="Picture 14">
            <a:extLst>
              <a:ext uri="{FF2B5EF4-FFF2-40B4-BE49-F238E27FC236}">
                <a16:creationId xmlns:a16="http://schemas.microsoft.com/office/drawing/2014/main" id="{402D08C5-8137-F19F-37BC-87EFD0CCC0BB}"/>
              </a:ext>
            </a:extLst>
          </p:cNvPr>
          <p:cNvPicPr>
            <a:picLocks noChangeAspect="1"/>
          </p:cNvPicPr>
          <p:nvPr/>
        </p:nvPicPr>
        <p:blipFill>
          <a:blip r:embed="rId4"/>
          <a:stretch>
            <a:fillRect/>
          </a:stretch>
        </p:blipFill>
        <p:spPr>
          <a:xfrm>
            <a:off x="3763546" y="1492378"/>
            <a:ext cx="7932065" cy="3620239"/>
          </a:xfrm>
          <a:prstGeom prst="rect">
            <a:avLst/>
          </a:prstGeom>
        </p:spPr>
      </p:pic>
    </p:spTree>
    <p:extLst>
      <p:ext uri="{BB962C8B-B14F-4D97-AF65-F5344CB8AC3E}">
        <p14:creationId xmlns:p14="http://schemas.microsoft.com/office/powerpoint/2010/main" val="33745705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CACF7-1930-D87A-09BC-8F5CB13715D4}"/>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82C117E2-3FB3-D595-4EB8-9528DC9090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325"/>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F51643DF-2E56-FDE1-EC25-5CDF0F07AB81}"/>
              </a:ext>
            </a:extLst>
          </p:cNvPr>
          <p:cNvSpPr txBox="1"/>
          <p:nvPr/>
        </p:nvSpPr>
        <p:spPr>
          <a:xfrm>
            <a:off x="3670378" y="126962"/>
            <a:ext cx="3653531" cy="584775"/>
          </a:xfrm>
          <a:prstGeom prst="rect">
            <a:avLst/>
          </a:prstGeom>
          <a:noFill/>
        </p:spPr>
        <p:txBody>
          <a:bodyPr wrap="square">
            <a:spAutoFit/>
          </a:bodyPr>
          <a:lstStyle/>
          <a:p>
            <a:r>
              <a:rPr lang="en-US" sz="3200" b="1" dirty="0"/>
              <a:t>Mutual Information</a:t>
            </a:r>
          </a:p>
        </p:txBody>
      </p:sp>
      <p:sp>
        <p:nvSpPr>
          <p:cNvPr id="2" name="Rectangle 1">
            <a:extLst>
              <a:ext uri="{FF2B5EF4-FFF2-40B4-BE49-F238E27FC236}">
                <a16:creationId xmlns:a16="http://schemas.microsoft.com/office/drawing/2014/main" id="{7BAC76E5-79F0-734F-A4C6-4029C06D7C63}"/>
              </a:ext>
            </a:extLst>
          </p:cNvPr>
          <p:cNvSpPr>
            <a:spLocks noChangeArrowheads="1"/>
          </p:cNvSpPr>
          <p:nvPr/>
        </p:nvSpPr>
        <p:spPr bwMode="auto">
          <a:xfrm>
            <a:off x="0" y="-22875"/>
            <a:ext cx="65" cy="50295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72964" rIns="0" bIns="-49197"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9" name="Table 8">
            <a:extLst>
              <a:ext uri="{FF2B5EF4-FFF2-40B4-BE49-F238E27FC236}">
                <a16:creationId xmlns:a16="http://schemas.microsoft.com/office/drawing/2014/main" id="{A87B8F98-6D0F-436D-708D-2534681FB436}"/>
              </a:ext>
            </a:extLst>
          </p:cNvPr>
          <p:cNvGraphicFramePr>
            <a:graphicFrameLocks noGrp="1"/>
          </p:cNvGraphicFramePr>
          <p:nvPr/>
        </p:nvGraphicFramePr>
        <p:xfrm>
          <a:off x="286624" y="1055891"/>
          <a:ext cx="2971800" cy="3348990"/>
        </p:xfrm>
        <a:graphic>
          <a:graphicData uri="http://schemas.openxmlformats.org/drawingml/2006/table">
            <a:tbl>
              <a:tblPr/>
              <a:tblGrid>
                <a:gridCol w="609600">
                  <a:extLst>
                    <a:ext uri="{9D8B030D-6E8A-4147-A177-3AD203B41FA5}">
                      <a16:colId xmlns:a16="http://schemas.microsoft.com/office/drawing/2014/main" val="1325374638"/>
                    </a:ext>
                  </a:extLst>
                </a:gridCol>
                <a:gridCol w="952500">
                  <a:extLst>
                    <a:ext uri="{9D8B030D-6E8A-4147-A177-3AD203B41FA5}">
                      <a16:colId xmlns:a16="http://schemas.microsoft.com/office/drawing/2014/main" val="4286189373"/>
                    </a:ext>
                  </a:extLst>
                </a:gridCol>
                <a:gridCol w="800100">
                  <a:extLst>
                    <a:ext uri="{9D8B030D-6E8A-4147-A177-3AD203B41FA5}">
                      <a16:colId xmlns:a16="http://schemas.microsoft.com/office/drawing/2014/main" val="129410694"/>
                    </a:ext>
                  </a:extLst>
                </a:gridCol>
                <a:gridCol w="609600">
                  <a:extLst>
                    <a:ext uri="{9D8B030D-6E8A-4147-A177-3AD203B41FA5}">
                      <a16:colId xmlns:a16="http://schemas.microsoft.com/office/drawing/2014/main" val="3308572698"/>
                    </a:ext>
                  </a:extLst>
                </a:gridCol>
              </a:tblGrid>
              <a:tr h="298450">
                <a:tc>
                  <a:txBody>
                    <a:bodyPr/>
                    <a:lstStyle/>
                    <a:p>
                      <a:pPr algn="r" fontAlgn="ctr">
                        <a:buNone/>
                      </a:pPr>
                      <a:r>
                        <a:rPr lang="en-IN" sz="2400" b="1" i="0" u="none" strike="noStrike">
                          <a:solidFill>
                            <a:srgbClr val="000000"/>
                          </a:solidFill>
                          <a:effectLst/>
                          <a:latin typeface="Calibri" panose="020F0502020204030204" pitchFamily="34" charset="0"/>
                        </a:rPr>
                        <a:t>ID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2400" b="1" i="0" u="none" strike="noStrike">
                          <a:solidFill>
                            <a:srgbClr val="000000"/>
                          </a:solidFill>
                          <a:effectLst/>
                          <a:latin typeface="Calibri" panose="020F0502020204030204" pitchFamily="34" charset="0"/>
                        </a:rPr>
                        <a:t>F1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2400" b="1" i="0" u="none" strike="noStrike">
                          <a:solidFill>
                            <a:srgbClr val="000000"/>
                          </a:solidFill>
                          <a:effectLst/>
                          <a:latin typeface="Calibri" panose="020F0502020204030204" pitchFamily="34" charset="0"/>
                        </a:rPr>
                        <a:t>F2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2400" b="1" i="0" u="none" strike="noStrike">
                          <a:solidFill>
                            <a:srgbClr val="000000"/>
                          </a:solidFill>
                          <a:effectLst/>
                          <a:latin typeface="Calibri" panose="020F0502020204030204" pitchFamily="34" charset="0"/>
                        </a:rPr>
                        <a:t>YY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80396623"/>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High</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Pass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90018961"/>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High</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Pass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66958352"/>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High</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Pass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98968048"/>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High</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Fail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83363808"/>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Low</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Fail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29793570"/>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Low</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Fail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83821408"/>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dirty="0">
                          <a:solidFill>
                            <a:srgbClr val="000000"/>
                          </a:solidFill>
                          <a:effectLst/>
                          <a:latin typeface="Calibri" panose="020F0502020204030204" pitchFamily="34" charset="0"/>
                        </a:rPr>
                        <a:t>Low</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dirty="0">
                          <a:solidFill>
                            <a:srgbClr val="000000"/>
                          </a:solidFill>
                          <a:effectLst/>
                          <a:latin typeface="Calibri" panose="020F0502020204030204" pitchFamily="34" charset="0"/>
                        </a:rPr>
                        <a:t>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Fail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54582893"/>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Low</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dirty="0">
                          <a:solidFill>
                            <a:srgbClr val="000000"/>
                          </a:solidFill>
                          <a:effectLst/>
                          <a:latin typeface="Calibri" panose="020F0502020204030204" pitchFamily="34" charset="0"/>
                        </a:rPr>
                        <a:t>Pass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50215284"/>
                  </a:ext>
                </a:extLst>
              </a:tr>
            </a:tbl>
          </a:graphicData>
        </a:graphic>
      </p:graphicFrame>
      <p:pic>
        <p:nvPicPr>
          <p:cNvPr id="11" name="Picture 10">
            <a:extLst>
              <a:ext uri="{FF2B5EF4-FFF2-40B4-BE49-F238E27FC236}">
                <a16:creationId xmlns:a16="http://schemas.microsoft.com/office/drawing/2014/main" id="{54227211-DA18-3146-6109-69777C564344}"/>
              </a:ext>
            </a:extLst>
          </p:cNvPr>
          <p:cNvPicPr>
            <a:picLocks noChangeAspect="1"/>
          </p:cNvPicPr>
          <p:nvPr/>
        </p:nvPicPr>
        <p:blipFill>
          <a:blip r:embed="rId3"/>
          <a:stretch>
            <a:fillRect/>
          </a:stretch>
        </p:blipFill>
        <p:spPr>
          <a:xfrm>
            <a:off x="286624" y="5112617"/>
            <a:ext cx="9632439" cy="1419423"/>
          </a:xfrm>
          <a:prstGeom prst="rect">
            <a:avLst/>
          </a:prstGeom>
        </p:spPr>
      </p:pic>
      <p:sp>
        <p:nvSpPr>
          <p:cNvPr id="13" name="TextBox 12">
            <a:extLst>
              <a:ext uri="{FF2B5EF4-FFF2-40B4-BE49-F238E27FC236}">
                <a16:creationId xmlns:a16="http://schemas.microsoft.com/office/drawing/2014/main" id="{46666571-5688-7E65-E8A3-8A4C072D55E4}"/>
              </a:ext>
            </a:extLst>
          </p:cNvPr>
          <p:cNvSpPr txBox="1"/>
          <p:nvPr/>
        </p:nvSpPr>
        <p:spPr>
          <a:xfrm>
            <a:off x="3670378" y="871225"/>
            <a:ext cx="6096000" cy="461665"/>
          </a:xfrm>
          <a:prstGeom prst="rect">
            <a:avLst/>
          </a:prstGeom>
          <a:noFill/>
        </p:spPr>
        <p:txBody>
          <a:bodyPr wrap="square">
            <a:spAutoFit/>
          </a:bodyPr>
          <a:lstStyle/>
          <a:p>
            <a:r>
              <a:rPr lang="en-US" sz="2400" dirty="0"/>
              <a:t>MI of X1 with YY</a:t>
            </a:r>
            <a:endParaRPr lang="en-IN" sz="2400" dirty="0"/>
          </a:p>
        </p:txBody>
      </p:sp>
      <p:pic>
        <p:nvPicPr>
          <p:cNvPr id="5" name="Picture 4">
            <a:extLst>
              <a:ext uri="{FF2B5EF4-FFF2-40B4-BE49-F238E27FC236}">
                <a16:creationId xmlns:a16="http://schemas.microsoft.com/office/drawing/2014/main" id="{CFDCCF74-5FA3-E27C-B72E-E9C0E3B3A0BA}"/>
              </a:ext>
            </a:extLst>
          </p:cNvPr>
          <p:cNvPicPr>
            <a:picLocks noChangeAspect="1"/>
          </p:cNvPicPr>
          <p:nvPr/>
        </p:nvPicPr>
        <p:blipFill>
          <a:blip r:embed="rId4"/>
          <a:stretch>
            <a:fillRect/>
          </a:stretch>
        </p:blipFill>
        <p:spPr>
          <a:xfrm>
            <a:off x="3398562" y="1566881"/>
            <a:ext cx="8723770" cy="2924583"/>
          </a:xfrm>
          <a:prstGeom prst="rect">
            <a:avLst/>
          </a:prstGeom>
        </p:spPr>
      </p:pic>
    </p:spTree>
    <p:extLst>
      <p:ext uri="{BB962C8B-B14F-4D97-AF65-F5344CB8AC3E}">
        <p14:creationId xmlns:p14="http://schemas.microsoft.com/office/powerpoint/2010/main" val="27639460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35845-8C8D-EA9C-86AF-C686BAA4E7BD}"/>
            </a:ext>
          </a:extLst>
        </p:cNvPr>
        <p:cNvGrpSpPr/>
        <p:nvPr/>
      </p:nvGrpSpPr>
      <p:grpSpPr>
        <a:xfrm>
          <a:off x="0" y="0"/>
          <a:ext cx="0" cy="0"/>
          <a:chOff x="0" y="0"/>
          <a:chExt cx="0" cy="0"/>
        </a:xfrm>
      </p:grpSpPr>
      <p:pic>
        <p:nvPicPr>
          <p:cNvPr id="4" name="Picture 2" descr="KL University - Wikipedia">
            <a:extLst>
              <a:ext uri="{FF2B5EF4-FFF2-40B4-BE49-F238E27FC236}">
                <a16:creationId xmlns:a16="http://schemas.microsoft.com/office/drawing/2014/main" id="{B43F1707-BF44-6F76-1D71-51DBC03FD4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325"/>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7045004-8D54-9410-E960-0F8D71E81B79}"/>
              </a:ext>
            </a:extLst>
          </p:cNvPr>
          <p:cNvSpPr txBox="1"/>
          <p:nvPr/>
        </p:nvSpPr>
        <p:spPr>
          <a:xfrm>
            <a:off x="3670378" y="126962"/>
            <a:ext cx="3653531" cy="584775"/>
          </a:xfrm>
          <a:prstGeom prst="rect">
            <a:avLst/>
          </a:prstGeom>
          <a:noFill/>
        </p:spPr>
        <p:txBody>
          <a:bodyPr wrap="square">
            <a:spAutoFit/>
          </a:bodyPr>
          <a:lstStyle/>
          <a:p>
            <a:r>
              <a:rPr lang="en-US" sz="3200" b="1" dirty="0"/>
              <a:t>Mutual Information</a:t>
            </a:r>
          </a:p>
        </p:txBody>
      </p:sp>
      <p:sp>
        <p:nvSpPr>
          <p:cNvPr id="2" name="Rectangle 1">
            <a:extLst>
              <a:ext uri="{FF2B5EF4-FFF2-40B4-BE49-F238E27FC236}">
                <a16:creationId xmlns:a16="http://schemas.microsoft.com/office/drawing/2014/main" id="{CDBA9DAC-2057-2047-E073-5EEEDA330335}"/>
              </a:ext>
            </a:extLst>
          </p:cNvPr>
          <p:cNvSpPr>
            <a:spLocks noChangeArrowheads="1"/>
          </p:cNvSpPr>
          <p:nvPr/>
        </p:nvSpPr>
        <p:spPr bwMode="auto">
          <a:xfrm>
            <a:off x="0" y="-22875"/>
            <a:ext cx="65" cy="50295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72964" rIns="0" bIns="-49197"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9" name="Table 8">
            <a:extLst>
              <a:ext uri="{FF2B5EF4-FFF2-40B4-BE49-F238E27FC236}">
                <a16:creationId xmlns:a16="http://schemas.microsoft.com/office/drawing/2014/main" id="{BDC38455-C8D9-A0C7-CE99-6256B311CCBB}"/>
              </a:ext>
            </a:extLst>
          </p:cNvPr>
          <p:cNvGraphicFramePr>
            <a:graphicFrameLocks noGrp="1"/>
          </p:cNvGraphicFramePr>
          <p:nvPr/>
        </p:nvGraphicFramePr>
        <p:xfrm>
          <a:off x="286624" y="1055891"/>
          <a:ext cx="2971800" cy="3348990"/>
        </p:xfrm>
        <a:graphic>
          <a:graphicData uri="http://schemas.openxmlformats.org/drawingml/2006/table">
            <a:tbl>
              <a:tblPr/>
              <a:tblGrid>
                <a:gridCol w="609600">
                  <a:extLst>
                    <a:ext uri="{9D8B030D-6E8A-4147-A177-3AD203B41FA5}">
                      <a16:colId xmlns:a16="http://schemas.microsoft.com/office/drawing/2014/main" val="1325374638"/>
                    </a:ext>
                  </a:extLst>
                </a:gridCol>
                <a:gridCol w="952500">
                  <a:extLst>
                    <a:ext uri="{9D8B030D-6E8A-4147-A177-3AD203B41FA5}">
                      <a16:colId xmlns:a16="http://schemas.microsoft.com/office/drawing/2014/main" val="4286189373"/>
                    </a:ext>
                  </a:extLst>
                </a:gridCol>
                <a:gridCol w="800100">
                  <a:extLst>
                    <a:ext uri="{9D8B030D-6E8A-4147-A177-3AD203B41FA5}">
                      <a16:colId xmlns:a16="http://schemas.microsoft.com/office/drawing/2014/main" val="129410694"/>
                    </a:ext>
                  </a:extLst>
                </a:gridCol>
                <a:gridCol w="609600">
                  <a:extLst>
                    <a:ext uri="{9D8B030D-6E8A-4147-A177-3AD203B41FA5}">
                      <a16:colId xmlns:a16="http://schemas.microsoft.com/office/drawing/2014/main" val="3308572698"/>
                    </a:ext>
                  </a:extLst>
                </a:gridCol>
              </a:tblGrid>
              <a:tr h="298450">
                <a:tc>
                  <a:txBody>
                    <a:bodyPr/>
                    <a:lstStyle/>
                    <a:p>
                      <a:pPr algn="r" fontAlgn="ctr">
                        <a:buNone/>
                      </a:pPr>
                      <a:r>
                        <a:rPr lang="en-IN" sz="2400" b="1" i="0" u="none" strike="noStrike">
                          <a:solidFill>
                            <a:srgbClr val="000000"/>
                          </a:solidFill>
                          <a:effectLst/>
                          <a:latin typeface="Calibri" panose="020F0502020204030204" pitchFamily="34" charset="0"/>
                        </a:rPr>
                        <a:t>ID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2400" b="1" i="0" u="none" strike="noStrike">
                          <a:solidFill>
                            <a:srgbClr val="000000"/>
                          </a:solidFill>
                          <a:effectLst/>
                          <a:latin typeface="Calibri" panose="020F0502020204030204" pitchFamily="34" charset="0"/>
                        </a:rPr>
                        <a:t>F1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2400" b="1" i="0" u="none" strike="noStrike">
                          <a:solidFill>
                            <a:srgbClr val="000000"/>
                          </a:solidFill>
                          <a:effectLst/>
                          <a:latin typeface="Calibri" panose="020F0502020204030204" pitchFamily="34" charset="0"/>
                        </a:rPr>
                        <a:t>F2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2400" b="1" i="0" u="none" strike="noStrike">
                          <a:solidFill>
                            <a:srgbClr val="000000"/>
                          </a:solidFill>
                          <a:effectLst/>
                          <a:latin typeface="Calibri" panose="020F0502020204030204" pitchFamily="34" charset="0"/>
                        </a:rPr>
                        <a:t>YY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80396623"/>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High</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Pass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90018961"/>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High</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Pass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66958352"/>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High</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Pass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98968048"/>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High</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Fail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83363808"/>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Low</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Fail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29793570"/>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Low</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Fail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83821408"/>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dirty="0">
                          <a:solidFill>
                            <a:srgbClr val="000000"/>
                          </a:solidFill>
                          <a:effectLst/>
                          <a:latin typeface="Calibri" panose="020F0502020204030204" pitchFamily="34" charset="0"/>
                        </a:rPr>
                        <a:t>Low</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dirty="0">
                          <a:solidFill>
                            <a:srgbClr val="000000"/>
                          </a:solidFill>
                          <a:effectLst/>
                          <a:latin typeface="Calibri" panose="020F0502020204030204" pitchFamily="34" charset="0"/>
                        </a:rPr>
                        <a:t>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Fail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54582893"/>
                  </a:ext>
                </a:extLst>
              </a:tr>
              <a:tr h="298450">
                <a:tc>
                  <a:txBody>
                    <a:bodyPr/>
                    <a:lstStyle/>
                    <a:p>
                      <a:pPr algn="r" fontAlgn="ctr">
                        <a:buNone/>
                      </a:pPr>
                      <a:r>
                        <a:rPr lang="en-IN" sz="2400" b="0" i="0" u="none" strike="noStrike">
                          <a:solidFill>
                            <a:srgbClr val="000000"/>
                          </a:solidFill>
                          <a:effectLst/>
                          <a:latin typeface="Calibri" panose="020F0502020204030204" pitchFamily="34" charset="0"/>
                        </a:rPr>
                        <a:t>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Low</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a:solidFill>
                            <a:srgbClr val="000000"/>
                          </a:solidFill>
                          <a:effectLst/>
                          <a:latin typeface="Calibri" panose="020F0502020204030204" pitchFamily="34" charset="0"/>
                        </a:rPr>
                        <a:t>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400" b="0" i="0" u="none" strike="noStrike" dirty="0">
                          <a:solidFill>
                            <a:srgbClr val="000000"/>
                          </a:solidFill>
                          <a:effectLst/>
                          <a:latin typeface="Calibri" panose="020F0502020204030204" pitchFamily="34" charset="0"/>
                        </a:rPr>
                        <a:t>Pass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50215284"/>
                  </a:ext>
                </a:extLst>
              </a:tr>
            </a:tbl>
          </a:graphicData>
        </a:graphic>
      </p:graphicFrame>
      <p:sp>
        <p:nvSpPr>
          <p:cNvPr id="13" name="TextBox 12">
            <a:extLst>
              <a:ext uri="{FF2B5EF4-FFF2-40B4-BE49-F238E27FC236}">
                <a16:creationId xmlns:a16="http://schemas.microsoft.com/office/drawing/2014/main" id="{036CB510-3882-79AD-D3F6-3661C932AF66}"/>
              </a:ext>
            </a:extLst>
          </p:cNvPr>
          <p:cNvSpPr txBox="1"/>
          <p:nvPr/>
        </p:nvSpPr>
        <p:spPr>
          <a:xfrm>
            <a:off x="3670378" y="871225"/>
            <a:ext cx="6096000" cy="461665"/>
          </a:xfrm>
          <a:prstGeom prst="rect">
            <a:avLst/>
          </a:prstGeom>
          <a:noFill/>
        </p:spPr>
        <p:txBody>
          <a:bodyPr wrap="square">
            <a:spAutoFit/>
          </a:bodyPr>
          <a:lstStyle/>
          <a:p>
            <a:r>
              <a:rPr lang="en-US" sz="2400" dirty="0"/>
              <a:t>MI of X2 with YY</a:t>
            </a:r>
            <a:endParaRPr lang="en-IN" sz="2400" dirty="0"/>
          </a:p>
        </p:txBody>
      </p:sp>
      <p:pic>
        <p:nvPicPr>
          <p:cNvPr id="6" name="Picture 5">
            <a:extLst>
              <a:ext uri="{FF2B5EF4-FFF2-40B4-BE49-F238E27FC236}">
                <a16:creationId xmlns:a16="http://schemas.microsoft.com/office/drawing/2014/main" id="{38558BE6-DE17-CBA4-B696-32374446A2B5}"/>
              </a:ext>
            </a:extLst>
          </p:cNvPr>
          <p:cNvPicPr>
            <a:picLocks noChangeAspect="1"/>
          </p:cNvPicPr>
          <p:nvPr/>
        </p:nvPicPr>
        <p:blipFill>
          <a:blip r:embed="rId3"/>
          <a:stretch>
            <a:fillRect/>
          </a:stretch>
        </p:blipFill>
        <p:spPr>
          <a:xfrm>
            <a:off x="3569876" y="1419473"/>
            <a:ext cx="7986398" cy="2800741"/>
          </a:xfrm>
          <a:prstGeom prst="rect">
            <a:avLst/>
          </a:prstGeom>
        </p:spPr>
      </p:pic>
      <p:pic>
        <p:nvPicPr>
          <p:cNvPr id="10" name="Picture 9">
            <a:extLst>
              <a:ext uri="{FF2B5EF4-FFF2-40B4-BE49-F238E27FC236}">
                <a16:creationId xmlns:a16="http://schemas.microsoft.com/office/drawing/2014/main" id="{EC870B0E-80C6-3A03-6C14-31297E648B11}"/>
              </a:ext>
            </a:extLst>
          </p:cNvPr>
          <p:cNvPicPr>
            <a:picLocks noChangeAspect="1"/>
          </p:cNvPicPr>
          <p:nvPr/>
        </p:nvPicPr>
        <p:blipFill>
          <a:blip r:embed="rId4"/>
          <a:stretch>
            <a:fillRect/>
          </a:stretch>
        </p:blipFill>
        <p:spPr>
          <a:xfrm>
            <a:off x="478704" y="4491464"/>
            <a:ext cx="7716327" cy="1924319"/>
          </a:xfrm>
          <a:prstGeom prst="rect">
            <a:avLst/>
          </a:prstGeom>
        </p:spPr>
      </p:pic>
    </p:spTree>
    <p:extLst>
      <p:ext uri="{BB962C8B-B14F-4D97-AF65-F5344CB8AC3E}">
        <p14:creationId xmlns:p14="http://schemas.microsoft.com/office/powerpoint/2010/main" val="34973236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8529C-554C-CF0C-CC93-1342DAA63CE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5BB056-9C1C-D28B-4E03-784F69D9E980}"/>
              </a:ext>
            </a:extLst>
          </p:cNvPr>
          <p:cNvSpPr>
            <a:spLocks noGrp="1"/>
          </p:cNvSpPr>
          <p:nvPr>
            <p:ph idx="1"/>
          </p:nvPr>
        </p:nvSpPr>
        <p:spPr>
          <a:xfrm>
            <a:off x="615043" y="1003952"/>
            <a:ext cx="11506200" cy="5147541"/>
          </a:xfrm>
        </p:spPr>
        <p:txBody>
          <a:bodyPr>
            <a:normAutofit/>
          </a:bodyPr>
          <a:lstStyle/>
          <a:p>
            <a:pPr>
              <a:lnSpc>
                <a:spcPct val="150000"/>
              </a:lnSpc>
            </a:pPr>
            <a:r>
              <a:rPr lang="en-US" sz="2400" dirty="0"/>
              <a:t>Wrapper methods are also referred as greedy algorithms that train algorithm. They use different combination of features and compute relation between these subset features and target variable and based on conclusion addition and removal of features are done.</a:t>
            </a:r>
          </a:p>
        </p:txBody>
      </p:sp>
      <p:pic>
        <p:nvPicPr>
          <p:cNvPr id="4" name="Picture 2" descr="KL University - Wikipedia">
            <a:extLst>
              <a:ext uri="{FF2B5EF4-FFF2-40B4-BE49-F238E27FC236}">
                <a16:creationId xmlns:a16="http://schemas.microsoft.com/office/drawing/2014/main" id="{8748671D-3F1B-2997-438D-742786D558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325"/>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37F05A7-9F1E-29C8-C931-0119A98850BA}"/>
              </a:ext>
            </a:extLst>
          </p:cNvPr>
          <p:cNvSpPr txBox="1"/>
          <p:nvPr/>
        </p:nvSpPr>
        <p:spPr>
          <a:xfrm>
            <a:off x="2747269" y="136469"/>
            <a:ext cx="3453234" cy="754694"/>
          </a:xfrm>
          <a:prstGeom prst="rect">
            <a:avLst/>
          </a:prstGeom>
          <a:noFill/>
        </p:spPr>
        <p:txBody>
          <a:bodyPr wrap="square">
            <a:spAutoFit/>
          </a:bodyPr>
          <a:lstStyle/>
          <a:p>
            <a:pPr>
              <a:lnSpc>
                <a:spcPct val="150000"/>
              </a:lnSpc>
            </a:pPr>
            <a:r>
              <a:rPr lang="en-US" sz="3200" dirty="0"/>
              <a:t>Wrapper methods</a:t>
            </a:r>
          </a:p>
        </p:txBody>
      </p:sp>
      <p:pic>
        <p:nvPicPr>
          <p:cNvPr id="8" name="Picture 7">
            <a:extLst>
              <a:ext uri="{FF2B5EF4-FFF2-40B4-BE49-F238E27FC236}">
                <a16:creationId xmlns:a16="http://schemas.microsoft.com/office/drawing/2014/main" id="{9FA9A4EC-7141-CC47-918D-D5FBA8F1C975}"/>
              </a:ext>
            </a:extLst>
          </p:cNvPr>
          <p:cNvPicPr>
            <a:picLocks noChangeAspect="1"/>
          </p:cNvPicPr>
          <p:nvPr/>
        </p:nvPicPr>
        <p:blipFill>
          <a:blip r:embed="rId3"/>
          <a:stretch>
            <a:fillRect/>
          </a:stretch>
        </p:blipFill>
        <p:spPr>
          <a:xfrm>
            <a:off x="2266129" y="2835362"/>
            <a:ext cx="7868748" cy="3677163"/>
          </a:xfrm>
          <a:prstGeom prst="rect">
            <a:avLst/>
          </a:prstGeom>
        </p:spPr>
      </p:pic>
    </p:spTree>
    <p:extLst>
      <p:ext uri="{BB962C8B-B14F-4D97-AF65-F5344CB8AC3E}">
        <p14:creationId xmlns:p14="http://schemas.microsoft.com/office/powerpoint/2010/main" val="20057491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18DA3-04F7-7011-F631-0EE3DA65A2E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003CB0-ABFA-4623-ACB7-302649DC0252}"/>
              </a:ext>
            </a:extLst>
          </p:cNvPr>
          <p:cNvSpPr>
            <a:spLocks noGrp="1"/>
          </p:cNvSpPr>
          <p:nvPr>
            <p:ph idx="1"/>
          </p:nvPr>
        </p:nvSpPr>
        <p:spPr>
          <a:xfrm>
            <a:off x="615043" y="1003952"/>
            <a:ext cx="11506200" cy="5147541"/>
          </a:xfrm>
        </p:spPr>
        <p:txBody>
          <a:bodyPr>
            <a:normAutofit/>
          </a:bodyPr>
          <a:lstStyle/>
          <a:p>
            <a:pPr fontAlgn="base"/>
            <a:r>
              <a:rPr lang="en-US" b="1" dirty="0"/>
              <a:t>Forward selection</a:t>
            </a:r>
            <a:endParaRPr lang="en-US" dirty="0"/>
          </a:p>
          <a:p>
            <a:pPr fontAlgn="base"/>
            <a:r>
              <a:rPr lang="en-US" b="1" dirty="0"/>
              <a:t>Backward elimination</a:t>
            </a:r>
          </a:p>
          <a:p>
            <a:pPr fontAlgn="base"/>
            <a:r>
              <a:rPr lang="en-US" b="1" dirty="0"/>
              <a:t>Recursive elimination</a:t>
            </a:r>
            <a:endParaRPr lang="en-US" sz="2400" dirty="0"/>
          </a:p>
        </p:txBody>
      </p:sp>
      <p:pic>
        <p:nvPicPr>
          <p:cNvPr id="4" name="Picture 2" descr="KL University - Wikipedia">
            <a:extLst>
              <a:ext uri="{FF2B5EF4-FFF2-40B4-BE49-F238E27FC236}">
                <a16:creationId xmlns:a16="http://schemas.microsoft.com/office/drawing/2014/main" id="{70DC1121-6E64-BC2A-C75E-B980BE71C4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325"/>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DA5877F-C5C5-6FB5-ADBB-892751D48B70}"/>
              </a:ext>
            </a:extLst>
          </p:cNvPr>
          <p:cNvSpPr txBox="1"/>
          <p:nvPr/>
        </p:nvSpPr>
        <p:spPr>
          <a:xfrm>
            <a:off x="2747269" y="136469"/>
            <a:ext cx="3453234" cy="754694"/>
          </a:xfrm>
          <a:prstGeom prst="rect">
            <a:avLst/>
          </a:prstGeom>
          <a:noFill/>
        </p:spPr>
        <p:txBody>
          <a:bodyPr wrap="square">
            <a:spAutoFit/>
          </a:bodyPr>
          <a:lstStyle/>
          <a:p>
            <a:pPr>
              <a:lnSpc>
                <a:spcPct val="150000"/>
              </a:lnSpc>
            </a:pPr>
            <a:r>
              <a:rPr lang="en-US" sz="3200" dirty="0"/>
              <a:t>Wrapper methods</a:t>
            </a:r>
          </a:p>
        </p:txBody>
      </p:sp>
      <p:pic>
        <p:nvPicPr>
          <p:cNvPr id="5" name="Picture 4">
            <a:extLst>
              <a:ext uri="{FF2B5EF4-FFF2-40B4-BE49-F238E27FC236}">
                <a16:creationId xmlns:a16="http://schemas.microsoft.com/office/drawing/2014/main" id="{6EFDF6B0-E6CF-6C2A-C776-CA0ABC64C176}"/>
              </a:ext>
            </a:extLst>
          </p:cNvPr>
          <p:cNvPicPr>
            <a:picLocks noChangeAspect="1"/>
          </p:cNvPicPr>
          <p:nvPr/>
        </p:nvPicPr>
        <p:blipFill>
          <a:blip r:embed="rId3"/>
          <a:stretch>
            <a:fillRect/>
          </a:stretch>
        </p:blipFill>
        <p:spPr>
          <a:xfrm>
            <a:off x="269052" y="2579975"/>
            <a:ext cx="5296639" cy="3343742"/>
          </a:xfrm>
          <a:prstGeom prst="rect">
            <a:avLst/>
          </a:prstGeom>
        </p:spPr>
      </p:pic>
      <p:pic>
        <p:nvPicPr>
          <p:cNvPr id="8194" name="Picture 2" descr="RFE Steps | Recursive Feature Elimination">
            <a:extLst>
              <a:ext uri="{FF2B5EF4-FFF2-40B4-BE49-F238E27FC236}">
                <a16:creationId xmlns:a16="http://schemas.microsoft.com/office/drawing/2014/main" id="{99CAD508-FA76-634C-A0C1-59D3FA9BEC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00503" y="2995747"/>
            <a:ext cx="5125750" cy="30033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98294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02239D2-A05D-4A1C-9F06-FBA7FC730E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2" descr="KL Deemed to be University Logo"/>
          <p:cNvPicPr>
            <a:picLocks noChangeAspect="1" noChangeArrowheads="1"/>
          </p:cNvPicPr>
          <p:nvPr/>
        </p:nvPicPr>
        <p:blipFill>
          <a:blip r:embed="rId2"/>
          <a:stretch>
            <a:fillRect/>
          </a:stretch>
        </p:blipFill>
        <p:spPr bwMode="auto">
          <a:xfrm>
            <a:off x="149860" y="89473"/>
            <a:ext cx="2704052" cy="815095"/>
          </a:xfrm>
          <a:prstGeom prst="rect">
            <a:avLst/>
          </a:prstGeom>
          <a:noFill/>
        </p:spPr>
      </p:pic>
      <p:sp>
        <p:nvSpPr>
          <p:cNvPr id="4" name="Content Placeholder 3">
            <a:extLst>
              <a:ext uri="{FF2B5EF4-FFF2-40B4-BE49-F238E27FC236}">
                <a16:creationId xmlns:a16="http://schemas.microsoft.com/office/drawing/2014/main" id="{E792BE84-3448-2348-B352-CD5BC083E5FD}"/>
              </a:ext>
            </a:extLst>
          </p:cNvPr>
          <p:cNvSpPr>
            <a:spLocks noGrp="1"/>
          </p:cNvSpPr>
          <p:nvPr>
            <p:ph idx="4294967295"/>
          </p:nvPr>
        </p:nvSpPr>
        <p:spPr>
          <a:xfrm>
            <a:off x="670560" y="995681"/>
            <a:ext cx="10708640" cy="510667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ormAutofit/>
          </a:bodyPr>
          <a:lstStyle/>
          <a:p>
            <a:pPr marL="0" indent="0" algn="ctr">
              <a:buNone/>
            </a:pPr>
            <a:endParaRPr lang="en-US" sz="2000" dirty="0">
              <a:solidFill>
                <a:schemeClr val="tx1"/>
              </a:solidFill>
            </a:endParaRPr>
          </a:p>
          <a:p>
            <a:pPr marL="0" indent="0" algn="ctr">
              <a:buNone/>
            </a:pPr>
            <a:endParaRPr lang="en-US" sz="2000" dirty="0">
              <a:solidFill>
                <a:schemeClr val="tx1"/>
              </a:solidFill>
            </a:endParaRPr>
          </a:p>
          <a:p>
            <a:pPr marL="0" indent="0" algn="ctr">
              <a:buNone/>
            </a:pPr>
            <a:endParaRPr lang="en-US" sz="2000" dirty="0">
              <a:solidFill>
                <a:schemeClr val="tx1"/>
              </a:solidFill>
            </a:endParaRPr>
          </a:p>
          <a:p>
            <a:pPr marL="0" indent="0" algn="ctr">
              <a:buNone/>
            </a:pPr>
            <a:endParaRPr lang="en-US" sz="2000" dirty="0">
              <a:solidFill>
                <a:schemeClr val="tx1"/>
              </a:solidFill>
              <a:highlight>
                <a:srgbClr val="FFFF00"/>
              </a:highlight>
            </a:endParaRPr>
          </a:p>
          <a:p>
            <a:pPr marL="0" indent="0" algn="ctr">
              <a:buNone/>
            </a:pPr>
            <a:r>
              <a:rPr lang="en-US" sz="8000" dirty="0">
                <a:solidFill>
                  <a:schemeClr val="tx1"/>
                </a:solidFill>
              </a:rPr>
              <a:t>THANK YOU</a:t>
            </a:r>
            <a:endParaRPr lang="en-US" sz="8000" b="1" dirty="0">
              <a:solidFill>
                <a:schemeClr val="tx1"/>
              </a:solidFill>
            </a:endParaRPr>
          </a:p>
          <a:p>
            <a:pPr marL="0" indent="0">
              <a:buNone/>
            </a:pPr>
            <a:endParaRPr lang="en-US" sz="2000" dirty="0">
              <a:solidFill>
                <a:schemeClr val="tx1"/>
              </a:solidFill>
            </a:endParaRPr>
          </a:p>
          <a:p>
            <a:endParaRPr lang="en-US" sz="2000" dirty="0">
              <a:solidFill>
                <a:schemeClr val="tx1"/>
              </a:solidFill>
            </a:endParaRPr>
          </a:p>
        </p:txBody>
      </p:sp>
      <p:pic>
        <p:nvPicPr>
          <p:cNvPr id="3" name="Picture 2">
            <a:extLst>
              <a:ext uri="{FF2B5EF4-FFF2-40B4-BE49-F238E27FC236}">
                <a16:creationId xmlns:a16="http://schemas.microsoft.com/office/drawing/2014/main" id="{FB1CD03D-A828-D475-3BE0-87C569C9C925}"/>
              </a:ext>
            </a:extLst>
          </p:cNvPr>
          <p:cNvPicPr>
            <a:picLocks noChangeAspect="1"/>
          </p:cNvPicPr>
          <p:nvPr/>
        </p:nvPicPr>
        <p:blipFill>
          <a:blip r:embed="rId3">
            <a:extLst>
              <a:ext uri="{BEBA8EAE-BF5A-486C-A8C5-ECC9F3942E4B}">
                <a14:imgProps xmlns:a14="http://schemas.microsoft.com/office/drawing/2010/main">
                  <a14:imgLayer r:embed="rId4">
                    <a14:imgEffect>
                      <a14:saturation sat="400000"/>
                    </a14:imgEffect>
                  </a14:imgLayer>
                </a14:imgProps>
              </a:ext>
            </a:extLst>
          </a:blip>
          <a:stretch>
            <a:fillRect/>
          </a:stretch>
        </p:blipFill>
        <p:spPr>
          <a:xfrm>
            <a:off x="0" y="6316900"/>
            <a:ext cx="12192001" cy="531091"/>
          </a:xfrm>
          <a:prstGeom prst="rect">
            <a:avLst/>
          </a:prstGeom>
          <a:ln>
            <a:solidFill>
              <a:schemeClr val="accent1">
                <a:lumMod val="75000"/>
              </a:schemeClr>
            </a:solidFill>
          </a:ln>
        </p:spPr>
      </p:pic>
    </p:spTree>
    <p:extLst>
      <p:ext uri="{BB962C8B-B14F-4D97-AF65-F5344CB8AC3E}">
        <p14:creationId xmlns:p14="http://schemas.microsoft.com/office/powerpoint/2010/main" val="176342452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1003</TotalTime>
  <Words>772</Words>
  <Application>Microsoft Office PowerPoint</Application>
  <PresentationFormat>Widescreen</PresentationFormat>
  <Paragraphs>291</Paragraphs>
  <Slides>20</Slides>
  <Notes>2</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2</vt:i4>
      </vt:variant>
      <vt:variant>
        <vt:lpstr>Slide Titles</vt:lpstr>
      </vt:variant>
      <vt:variant>
        <vt:i4>20</vt:i4>
      </vt:variant>
    </vt:vector>
  </HeadingPairs>
  <TitlesOfParts>
    <vt:vector size="32" baseType="lpstr">
      <vt:lpstr>Arial</vt:lpstr>
      <vt:lpstr>Berlin Sans FB Demi</vt:lpstr>
      <vt:lpstr>Calibri</vt:lpstr>
      <vt:lpstr>Calibri Light</vt:lpstr>
      <vt:lpstr>Gill Sans MT</vt:lpstr>
      <vt:lpstr>Marlett</vt:lpstr>
      <vt:lpstr>Times New Roman</vt:lpstr>
      <vt:lpstr>Wingdings</vt:lpstr>
      <vt:lpstr>Wingdings 2</vt:lpstr>
      <vt:lpstr>Office Theme</vt:lpstr>
      <vt:lpstr>Equation</vt:lpstr>
      <vt:lpstr>Worksheet</vt:lpstr>
      <vt:lpstr>PowerPoint Presentation</vt:lpstr>
      <vt:lpstr>PowerPoint Presentation</vt:lpstr>
      <vt:lpstr>PowerPoint Presentation</vt:lpstr>
      <vt:lpstr>PowerPoint Presentation</vt:lpstr>
      <vt:lpstr>PowerPoint Presentation</vt:lpstr>
      <vt:lpstr>PowerPoint Presentation</vt:lpstr>
      <vt:lpstr>Attribute Selection: Information Gain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 Manika Prasuna</dc:creator>
  <cp:lastModifiedBy>P Manika Prasuna</cp:lastModifiedBy>
  <cp:revision>206</cp:revision>
  <dcterms:created xsi:type="dcterms:W3CDTF">2025-05-12T05:57:37Z</dcterms:created>
  <dcterms:modified xsi:type="dcterms:W3CDTF">2025-08-28T06:32:07Z</dcterms:modified>
</cp:coreProperties>
</file>