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33"/>
  </p:notesMasterIdLst>
  <p:handoutMasterIdLst>
    <p:handoutMasterId r:id="rId34"/>
  </p:handoutMasterIdLst>
  <p:sldIdLst>
    <p:sldId id="307" r:id="rId2"/>
    <p:sldId id="308" r:id="rId3"/>
    <p:sldId id="309" r:id="rId4"/>
    <p:sldId id="310" r:id="rId5"/>
    <p:sldId id="336" r:id="rId6"/>
    <p:sldId id="311" r:id="rId7"/>
    <p:sldId id="332" r:id="rId8"/>
    <p:sldId id="320" r:id="rId9"/>
    <p:sldId id="321" r:id="rId10"/>
    <p:sldId id="322" r:id="rId11"/>
    <p:sldId id="323" r:id="rId12"/>
    <p:sldId id="324" r:id="rId13"/>
    <p:sldId id="325" r:id="rId14"/>
    <p:sldId id="326" r:id="rId15"/>
    <p:sldId id="327" r:id="rId16"/>
    <p:sldId id="328" r:id="rId17"/>
    <p:sldId id="329" r:id="rId18"/>
    <p:sldId id="330" r:id="rId19"/>
    <p:sldId id="331" r:id="rId20"/>
    <p:sldId id="333" r:id="rId21"/>
    <p:sldId id="337" r:id="rId22"/>
    <p:sldId id="338" r:id="rId23"/>
    <p:sldId id="339" r:id="rId24"/>
    <p:sldId id="340" r:id="rId25"/>
    <p:sldId id="341" r:id="rId26"/>
    <p:sldId id="342" r:id="rId27"/>
    <p:sldId id="344" r:id="rId28"/>
    <p:sldId id="343" r:id="rId29"/>
    <p:sldId id="345" r:id="rId30"/>
    <p:sldId id="346" r:id="rId31"/>
    <p:sldId id="27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528E42-124C-46C8-9EBF-541EDDEF7B43}">
          <p14:sldIdLst>
            <p14:sldId id="307"/>
            <p14:sldId id="308"/>
            <p14:sldId id="309"/>
            <p14:sldId id="310"/>
            <p14:sldId id="336"/>
            <p14:sldId id="311"/>
            <p14:sldId id="332"/>
            <p14:sldId id="320"/>
            <p14:sldId id="321"/>
            <p14:sldId id="322"/>
            <p14:sldId id="323"/>
            <p14:sldId id="324"/>
            <p14:sldId id="325"/>
            <p14:sldId id="326"/>
            <p14:sldId id="327"/>
            <p14:sldId id="328"/>
            <p14:sldId id="329"/>
            <p14:sldId id="330"/>
            <p14:sldId id="331"/>
            <p14:sldId id="333"/>
            <p14:sldId id="337"/>
            <p14:sldId id="338"/>
            <p14:sldId id="339"/>
            <p14:sldId id="340"/>
            <p14:sldId id="341"/>
            <p14:sldId id="342"/>
            <p14:sldId id="344"/>
            <p14:sldId id="343"/>
            <p14:sldId id="345"/>
            <p14:sldId id="346"/>
          </p14:sldIdLst>
        </p14:section>
        <p14:section name="Untitled Section" id="{73835AD6-D901-4033-B40A-B48B24DA2886}">
          <p14:sldIdLst>
            <p14:sldId id="27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91F947-CCD6-954E-D4DE-1B6CBE8CA9EF}" v="1" dt="2024-06-25T05:43:47.0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540"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28-08-2025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28-08-2025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6FFC6-BCB9-A905-DBD1-67D3D68E3F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4C9838-27DD-5CDB-9387-35587357DD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3F07C8-6B89-6B22-19CD-8D690D5AA928}"/>
              </a:ext>
            </a:extLst>
          </p:cNvPr>
          <p:cNvSpPr>
            <a:spLocks noGrp="1"/>
          </p:cNvSpPr>
          <p:nvPr>
            <p:ph type="dt" sz="half" idx="10"/>
          </p:nvPr>
        </p:nvSpPr>
        <p:spPr/>
        <p:txBody>
          <a:bodyPr/>
          <a:lstStyle/>
          <a:p>
            <a:r>
              <a:rPr lang="en-US"/>
              <a:t>&lt;COURSE TITLE&gt;, &lt;TOPIC NAME&gt;</a:t>
            </a:r>
            <a:endParaRPr lang="en-IN"/>
          </a:p>
        </p:txBody>
      </p:sp>
      <p:sp>
        <p:nvSpPr>
          <p:cNvPr id="5" name="Footer Placeholder 4">
            <a:extLst>
              <a:ext uri="{FF2B5EF4-FFF2-40B4-BE49-F238E27FC236}">
                <a16:creationId xmlns:a16="http://schemas.microsoft.com/office/drawing/2014/main" id="{0F898925-AA89-396F-D3FD-70065C26E5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82D759-482F-01C3-CE7B-542EE9ADC82A}"/>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971069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453F9-707B-9150-B129-6F8EC924E6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E151B2-4D4D-B875-E051-B78AE24C8B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0DA6F3-C315-ACE2-B85D-88986E3BA4C7}"/>
              </a:ext>
            </a:extLst>
          </p:cNvPr>
          <p:cNvSpPr>
            <a:spLocks noGrp="1"/>
          </p:cNvSpPr>
          <p:nvPr>
            <p:ph type="dt" sz="half" idx="10"/>
          </p:nvPr>
        </p:nvSpPr>
        <p:spPr/>
        <p:txBody>
          <a:bodyPr/>
          <a:lstStyle/>
          <a:p>
            <a:r>
              <a:rPr lang="en-US"/>
              <a:t>&lt;COURSE TITLE&gt;, &lt;TOPIC NAME&gt;</a:t>
            </a:r>
            <a:endParaRPr lang="en-IN"/>
          </a:p>
        </p:txBody>
      </p:sp>
      <p:sp>
        <p:nvSpPr>
          <p:cNvPr id="5" name="Footer Placeholder 4">
            <a:extLst>
              <a:ext uri="{FF2B5EF4-FFF2-40B4-BE49-F238E27FC236}">
                <a16:creationId xmlns:a16="http://schemas.microsoft.com/office/drawing/2014/main" id="{D42DF3C1-58FA-0159-41CB-7F486FCBF8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C515DE-D133-3E12-C271-B61CD44F38EA}"/>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625706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E7704-E398-05FF-54FB-76FEF43EB4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168D8EF-E202-736F-9393-808BBF910F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B69E13-C7B8-2161-6783-5AA48E0838DF}"/>
              </a:ext>
            </a:extLst>
          </p:cNvPr>
          <p:cNvSpPr>
            <a:spLocks noGrp="1"/>
          </p:cNvSpPr>
          <p:nvPr>
            <p:ph type="dt" sz="half" idx="10"/>
          </p:nvPr>
        </p:nvSpPr>
        <p:spPr/>
        <p:txBody>
          <a:bodyPr/>
          <a:lstStyle/>
          <a:p>
            <a:r>
              <a:rPr lang="en-US"/>
              <a:t>&lt;COURSE TITLE&gt;, &lt;TOPIC NAME&gt;</a:t>
            </a:r>
            <a:endParaRPr lang="en-IN"/>
          </a:p>
        </p:txBody>
      </p:sp>
      <p:sp>
        <p:nvSpPr>
          <p:cNvPr id="5" name="Footer Placeholder 4">
            <a:extLst>
              <a:ext uri="{FF2B5EF4-FFF2-40B4-BE49-F238E27FC236}">
                <a16:creationId xmlns:a16="http://schemas.microsoft.com/office/drawing/2014/main" id="{3DAAD449-0016-1F05-E28A-91811972D4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85CA24-0CEF-5B1E-78F9-8EA3CCD9D425}"/>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563574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62B86-58EE-EE31-2C4A-7928CA3974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26C2CC-9498-6B9F-A965-F055019A48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643EC4A-BD9A-08FB-0AA6-84687246B9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6C31FD-281C-7891-FB63-2FB24FB39AB9}"/>
              </a:ext>
            </a:extLst>
          </p:cNvPr>
          <p:cNvSpPr>
            <a:spLocks noGrp="1"/>
          </p:cNvSpPr>
          <p:nvPr>
            <p:ph type="dt" sz="half" idx="10"/>
          </p:nvPr>
        </p:nvSpPr>
        <p:spPr/>
        <p:txBody>
          <a:bodyPr/>
          <a:lstStyle/>
          <a:p>
            <a:r>
              <a:rPr lang="en-US"/>
              <a:t>&lt;COURSE TITLE&gt;, &lt;TOPIC NAME&gt;</a:t>
            </a:r>
            <a:endParaRPr lang="en-IN"/>
          </a:p>
        </p:txBody>
      </p:sp>
      <p:sp>
        <p:nvSpPr>
          <p:cNvPr id="6" name="Footer Placeholder 5">
            <a:extLst>
              <a:ext uri="{FF2B5EF4-FFF2-40B4-BE49-F238E27FC236}">
                <a16:creationId xmlns:a16="http://schemas.microsoft.com/office/drawing/2014/main" id="{F09FA0C8-9173-12D5-0747-35C07D3E94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94557-640D-7942-0BBC-89CDB571F134}"/>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623540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E9F73-EAC7-287E-58F9-0A1C00CBD30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859106-BFB5-64D5-632A-0D3835D135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A3F0CD-75E2-BD94-3C02-340FC9F7CA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64C08E7-A8BD-07C7-BA7D-52E4C6D6A4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AFC3C-6CFA-72C7-B118-9F79ED90AA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B247C36-B686-A383-FF50-FC1FDC149BED}"/>
              </a:ext>
            </a:extLst>
          </p:cNvPr>
          <p:cNvSpPr>
            <a:spLocks noGrp="1"/>
          </p:cNvSpPr>
          <p:nvPr>
            <p:ph type="dt" sz="half" idx="10"/>
          </p:nvPr>
        </p:nvSpPr>
        <p:spPr/>
        <p:txBody>
          <a:bodyPr/>
          <a:lstStyle/>
          <a:p>
            <a:r>
              <a:rPr lang="en-US"/>
              <a:t>&lt;COURSE TITLE&gt;, &lt;TOPIC NAME&gt;</a:t>
            </a:r>
            <a:endParaRPr lang="en-IN"/>
          </a:p>
        </p:txBody>
      </p:sp>
      <p:sp>
        <p:nvSpPr>
          <p:cNvPr id="8" name="Footer Placeholder 7">
            <a:extLst>
              <a:ext uri="{FF2B5EF4-FFF2-40B4-BE49-F238E27FC236}">
                <a16:creationId xmlns:a16="http://schemas.microsoft.com/office/drawing/2014/main" id="{553EBB2B-EBF6-F50C-B064-2037BFADF7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5A5231-5DD5-8231-C467-428A591D5DD8}"/>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229637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93F2-89F7-29F4-35EE-E7D2155542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1337B2C-A1B1-547C-814D-7FF8F09CC269}"/>
              </a:ext>
            </a:extLst>
          </p:cNvPr>
          <p:cNvSpPr>
            <a:spLocks noGrp="1"/>
          </p:cNvSpPr>
          <p:nvPr>
            <p:ph type="dt" sz="half" idx="10"/>
          </p:nvPr>
        </p:nvSpPr>
        <p:spPr/>
        <p:txBody>
          <a:bodyPr/>
          <a:lstStyle/>
          <a:p>
            <a:r>
              <a:rPr lang="en-US"/>
              <a:t>&lt;COURSE TITLE&gt;, &lt;TOPIC NAME&gt;</a:t>
            </a:r>
            <a:endParaRPr lang="en-IN"/>
          </a:p>
        </p:txBody>
      </p:sp>
      <p:sp>
        <p:nvSpPr>
          <p:cNvPr id="4" name="Footer Placeholder 3">
            <a:extLst>
              <a:ext uri="{FF2B5EF4-FFF2-40B4-BE49-F238E27FC236}">
                <a16:creationId xmlns:a16="http://schemas.microsoft.com/office/drawing/2014/main" id="{D218D995-7570-130B-A1DB-878B0003DB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EB4A4D-7E9A-DCF4-6FE6-3DDBA05A2B87}"/>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870406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6FD3D4-7DE6-DAF1-A61E-817C21738754}"/>
              </a:ext>
            </a:extLst>
          </p:cNvPr>
          <p:cNvSpPr>
            <a:spLocks noGrp="1"/>
          </p:cNvSpPr>
          <p:nvPr>
            <p:ph type="dt" sz="half" idx="10"/>
          </p:nvPr>
        </p:nvSpPr>
        <p:spPr/>
        <p:txBody>
          <a:bodyPr/>
          <a:lstStyle/>
          <a:p>
            <a:r>
              <a:rPr lang="en-US"/>
              <a:t>&lt;COURSE TITLE&gt;, &lt;TOPIC NAME&gt;</a:t>
            </a:r>
            <a:endParaRPr lang="en-IN"/>
          </a:p>
        </p:txBody>
      </p:sp>
      <p:sp>
        <p:nvSpPr>
          <p:cNvPr id="3" name="Footer Placeholder 2">
            <a:extLst>
              <a:ext uri="{FF2B5EF4-FFF2-40B4-BE49-F238E27FC236}">
                <a16:creationId xmlns:a16="http://schemas.microsoft.com/office/drawing/2014/main" id="{8EA10AB9-F8C5-1E58-3B44-C71C1CEDF5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4108F5D-26F3-8C5A-81F4-F50282CBDD1E}"/>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601813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956E8-0DF1-58B0-DED3-80C007325F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B078E8E-CCD7-FFC2-0547-67AE966842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DCA88C-EF8A-4FEF-FF82-F981CDF692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F1EA39-3393-FA66-B28B-A15D74926820}"/>
              </a:ext>
            </a:extLst>
          </p:cNvPr>
          <p:cNvSpPr>
            <a:spLocks noGrp="1"/>
          </p:cNvSpPr>
          <p:nvPr>
            <p:ph type="dt" sz="half" idx="10"/>
          </p:nvPr>
        </p:nvSpPr>
        <p:spPr/>
        <p:txBody>
          <a:bodyPr/>
          <a:lstStyle/>
          <a:p>
            <a:r>
              <a:rPr lang="en-US"/>
              <a:t>&lt;COURSE TITLE&gt;, &lt;TOPIC NAME&gt;</a:t>
            </a:r>
            <a:endParaRPr lang="en-IN"/>
          </a:p>
        </p:txBody>
      </p:sp>
      <p:sp>
        <p:nvSpPr>
          <p:cNvPr id="6" name="Footer Placeholder 5">
            <a:extLst>
              <a:ext uri="{FF2B5EF4-FFF2-40B4-BE49-F238E27FC236}">
                <a16:creationId xmlns:a16="http://schemas.microsoft.com/office/drawing/2014/main" id="{7F3A4AE8-F28E-911C-0FA4-88874DE7FF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13B4D8-E7B5-2717-9C90-5ABE79ED7B6D}"/>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448407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61ACB-A69F-9058-269B-FF16CBD66A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068F4B5-4B16-C2C0-329A-FFE704778F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1F561B-495D-3649-DD43-440D152AE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D26674-5829-7B54-38E8-1EB5705F1065}"/>
              </a:ext>
            </a:extLst>
          </p:cNvPr>
          <p:cNvSpPr>
            <a:spLocks noGrp="1"/>
          </p:cNvSpPr>
          <p:nvPr>
            <p:ph type="dt" sz="half" idx="10"/>
          </p:nvPr>
        </p:nvSpPr>
        <p:spPr/>
        <p:txBody>
          <a:bodyPr/>
          <a:lstStyle/>
          <a:p>
            <a:r>
              <a:rPr lang="en-US"/>
              <a:t>&lt;COURSE TITLE&gt;, &lt;TOPIC NAME&gt;</a:t>
            </a:r>
            <a:endParaRPr lang="en-IN"/>
          </a:p>
        </p:txBody>
      </p:sp>
      <p:sp>
        <p:nvSpPr>
          <p:cNvPr id="6" name="Footer Placeholder 5">
            <a:extLst>
              <a:ext uri="{FF2B5EF4-FFF2-40B4-BE49-F238E27FC236}">
                <a16:creationId xmlns:a16="http://schemas.microsoft.com/office/drawing/2014/main" id="{CC7D1937-F2AF-65E8-AECC-B64822A023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3695A3-A344-0392-7B78-EE2BEADD6A01}"/>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011530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C9CB3-9487-1BB5-051F-A73EF695A1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844091-636B-B3AE-4826-024605CCF4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1A3314-E811-C20A-12C5-4EB366B6DDA4}"/>
              </a:ext>
            </a:extLst>
          </p:cNvPr>
          <p:cNvSpPr>
            <a:spLocks noGrp="1"/>
          </p:cNvSpPr>
          <p:nvPr>
            <p:ph type="dt" sz="half" idx="10"/>
          </p:nvPr>
        </p:nvSpPr>
        <p:spPr/>
        <p:txBody>
          <a:bodyPr/>
          <a:lstStyle/>
          <a:p>
            <a:r>
              <a:rPr lang="en-US"/>
              <a:t>&lt;COURSE TITLE&gt;, &lt;TOPIC NAME&gt;</a:t>
            </a:r>
            <a:endParaRPr lang="en-IN"/>
          </a:p>
        </p:txBody>
      </p:sp>
      <p:sp>
        <p:nvSpPr>
          <p:cNvPr id="5" name="Footer Placeholder 4">
            <a:extLst>
              <a:ext uri="{FF2B5EF4-FFF2-40B4-BE49-F238E27FC236}">
                <a16:creationId xmlns:a16="http://schemas.microsoft.com/office/drawing/2014/main" id="{062A5D2E-CBCA-21D1-00F3-E8F1FF9F18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0FD75E-8BBE-76AB-2F6C-F3B23AFD7D1C}"/>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655675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5723E4-2706-ABA8-0062-C78D47F44B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A856FC-03F0-1D9B-67DF-2A0364ACF7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65F646-1C83-E3E4-93CD-3F2F9F91A0DF}"/>
              </a:ext>
            </a:extLst>
          </p:cNvPr>
          <p:cNvSpPr>
            <a:spLocks noGrp="1"/>
          </p:cNvSpPr>
          <p:nvPr>
            <p:ph type="dt" sz="half" idx="10"/>
          </p:nvPr>
        </p:nvSpPr>
        <p:spPr/>
        <p:txBody>
          <a:bodyPr/>
          <a:lstStyle/>
          <a:p>
            <a:r>
              <a:rPr lang="en-US"/>
              <a:t>&lt;COURSE TITLE&gt;, &lt;TOPIC NAME&gt;</a:t>
            </a:r>
            <a:endParaRPr lang="en-IN"/>
          </a:p>
        </p:txBody>
      </p:sp>
      <p:sp>
        <p:nvSpPr>
          <p:cNvPr id="5" name="Footer Placeholder 4">
            <a:extLst>
              <a:ext uri="{FF2B5EF4-FFF2-40B4-BE49-F238E27FC236}">
                <a16:creationId xmlns:a16="http://schemas.microsoft.com/office/drawing/2014/main" id="{6CAC770F-1CBF-87B8-130F-08B66A5053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D7AA04-A04E-A52E-89E8-7247C0344AE9}"/>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9832583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112685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4A4B3E-9B0B-9323-B0C5-ACF1B599DD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55EF16-49B3-C763-536B-64694D5646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11FDB4-FE3C-7937-CBE5-09558F76D8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&lt;COURSE TITLE&gt;, &lt;TOPIC NAME&gt;</a:t>
            </a:r>
            <a:endParaRPr lang="en-IN"/>
          </a:p>
        </p:txBody>
      </p:sp>
      <p:sp>
        <p:nvSpPr>
          <p:cNvPr id="5" name="Footer Placeholder 4">
            <a:extLst>
              <a:ext uri="{FF2B5EF4-FFF2-40B4-BE49-F238E27FC236}">
                <a16:creationId xmlns:a16="http://schemas.microsoft.com/office/drawing/2014/main" id="{4BA63E27-322D-AFC8-B42D-64C58A8A75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BA7B45A-8543-018F-65B1-CB1046E542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a:p>
        </p:txBody>
      </p:sp>
      <p:pic>
        <p:nvPicPr>
          <p:cNvPr id="7" name="Picture 6" descr="Icon&#10;&#10;Description automatically generated with medium confidence">
            <a:extLst>
              <a:ext uri="{FF2B5EF4-FFF2-40B4-BE49-F238E27FC236}">
                <a16:creationId xmlns:a16="http://schemas.microsoft.com/office/drawing/2014/main" id="{5914DCC2-66AF-4CE2-80D5-8609D24C2B95}"/>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spTree>
    <p:extLst>
      <p:ext uri="{BB962C8B-B14F-4D97-AF65-F5344CB8AC3E}">
        <p14:creationId xmlns:p14="http://schemas.microsoft.com/office/powerpoint/2010/main" val="79713908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hyperlink" Target="https://towardsdatascience.com/a-star-a-search-algorithm-eb495fb156bb" TargetMode="External"/><Relationship Id="rId7" Type="http://schemas.openxmlformats.org/officeDocument/2006/relationships/image" Target="../media/image8.png"/><Relationship Id="rId2" Type="http://schemas.openxmlformats.org/officeDocument/2006/relationships/hyperlink" Target="https://www.virtusa.com/digital-themes/heuristic-search-techniques" TargetMode="External"/><Relationship Id="rId1" Type="http://schemas.openxmlformats.org/officeDocument/2006/relationships/slideLayout" Target="../slideLayouts/slideLayout2.xml"/><Relationship Id="rId6" Type="http://schemas.openxmlformats.org/officeDocument/2006/relationships/hyperlink" Target="http://aima.eecs.berkeley.edu/slides-pdf/chapter04b.pdf" TargetMode="External"/><Relationship Id="rId5" Type="http://schemas.openxmlformats.org/officeDocument/2006/relationships/hyperlink" Target="http://cgi.di.uoa.gr/~ys02/siteAI2008/local-search-2spp.pdf" TargetMode="External"/><Relationship Id="rId4" Type="http://schemas.openxmlformats.org/officeDocument/2006/relationships/hyperlink" Target="https://www.tutorialandexample.com/local-search-algorithms-and-optimization-proble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6;p16">
            <a:extLst>
              <a:ext uri="{FF2B5EF4-FFF2-40B4-BE49-F238E27FC236}">
                <a16:creationId xmlns:a16="http://schemas.microsoft.com/office/drawing/2014/main" id="{4CAC1B1C-B116-4101-AE65-D4F13352040D}"/>
              </a:ext>
            </a:extLst>
          </p:cNvPr>
          <p:cNvSpPr txBox="1"/>
          <p:nvPr/>
        </p:nvSpPr>
        <p:spPr>
          <a:xfrm>
            <a:off x="2189040" y="1306959"/>
            <a:ext cx="8367577" cy="2985392"/>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ARTIFICIAL </a:t>
            </a:r>
            <a:r>
              <a:rPr lang="en-IN" sz="3200" b="1" cap="all" dirty="0">
                <a:ln/>
                <a:solidFill>
                  <a:srgbClr val="C00000"/>
                </a:solidFill>
                <a:cs typeface="Poppins" panose="00000500000000000000" pitchFamily="2" charset="0"/>
              </a:rPr>
              <a:t>INTELLIGENCE &amp; MACHINE LEARNING</a:t>
            </a:r>
          </a:p>
          <a:p>
            <a:pPr marR="0" lvl="0" indent="0" algn="ctr">
              <a:spcBef>
                <a:spcPts val="0"/>
              </a:spcBef>
              <a:spcAft>
                <a:spcPts val="0"/>
              </a:spcAft>
              <a:buNone/>
            </a:pPr>
            <a:endParaRPr lang="en-IN" sz="3200" b="1" cap="all" dirty="0">
              <a:ln/>
              <a:solidFill>
                <a:srgbClr val="C00000"/>
              </a:solidFill>
              <a:ea typeface="BioRhyme ExtraBold"/>
              <a:cs typeface="Poppins" panose="00000500000000000000" pitchFamily="2" charset="0"/>
            </a:endParaRPr>
          </a:p>
          <a:p>
            <a:pPr marR="0" lvl="0" indent="0" algn="ctr">
              <a:spcBef>
                <a:spcPts val="0"/>
              </a:spcBef>
              <a:spcAft>
                <a:spcPts val="0"/>
              </a:spcAft>
              <a:buNone/>
            </a:pPr>
            <a:endParaRPr lang="en-IN" sz="3200" b="1" cap="all" dirty="0">
              <a:ln/>
              <a:solidFill>
                <a:srgbClr val="C00000"/>
              </a:solidFill>
              <a:ea typeface="BioRhyme ExtraBold"/>
              <a:cs typeface="Poppins" panose="00000500000000000000" pitchFamily="2" charset="0"/>
            </a:endParaRPr>
          </a:p>
          <a:p>
            <a:pPr marR="0" lvl="0" indent="0" algn="ctr">
              <a:spcBef>
                <a:spcPts val="0"/>
              </a:spcBef>
              <a:spcAft>
                <a:spcPts val="0"/>
              </a:spcAft>
              <a:buNone/>
            </a:pPr>
            <a:r>
              <a:rPr lang="en-US" sz="3000" b="1" dirty="0">
                <a:solidFill>
                  <a:srgbClr val="002060"/>
                </a:solidFill>
                <a:ea typeface="BioRhyme ExtraBold"/>
                <a:cs typeface="Poppins"/>
                <a:sym typeface="BioRhyme ExtraBold"/>
              </a:rPr>
              <a:t>Probability &amp; Statistics: Distributions, expectation, variance, covariance, </a:t>
            </a:r>
          </a:p>
        </p:txBody>
      </p:sp>
      <p:sp>
        <p:nvSpPr>
          <p:cNvPr id="7" name="Google Shape;502;p17">
            <a:extLst>
              <a:ext uri="{FF2B5EF4-FFF2-40B4-BE49-F238E27FC236}">
                <a16:creationId xmlns:a16="http://schemas.microsoft.com/office/drawing/2014/main" id="{E5A51E9A-011D-0E80-74FB-7D6363A14F3C}"/>
              </a:ext>
            </a:extLst>
          </p:cNvPr>
          <p:cNvSpPr/>
          <p:nvPr/>
        </p:nvSpPr>
        <p:spPr>
          <a:xfrm>
            <a:off x="4850183" y="4977476"/>
            <a:ext cx="2801467"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algn="ctr"/>
            <a:r>
              <a:rPr lang="en-US" sz="2400" dirty="0">
                <a:solidFill>
                  <a:schemeClr val="lt1"/>
                </a:solidFill>
                <a:ea typeface="Calibri"/>
                <a:cs typeface="Poppins"/>
                <a:sym typeface="Calibri"/>
              </a:rPr>
              <a:t>Session – 16</a:t>
            </a:r>
            <a:endParaRPr lang="en-US" sz="2400" dirty="0">
              <a:solidFill>
                <a:schemeClr val="lt1"/>
              </a:solidFill>
              <a:ea typeface="Calibri"/>
              <a:cs typeface="Poppins" panose="00000500000000000000" pitchFamily="2" charset="0"/>
              <a:sym typeface="Calibri"/>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3952240" y="84408"/>
            <a:ext cx="3530708" cy="30007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95362" y="625326"/>
            <a:ext cx="10700084"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mj-lt"/>
                <a:cs typeface="Poppins"/>
              </a:rPr>
              <a:t>To familiarize students with the basic concepts of Probability &amp; Statistics</a:t>
            </a:r>
            <a:r>
              <a:rPr lang="en-US" sz="1600" dirty="0"/>
              <a:t> </a:t>
            </a:r>
            <a:endParaRPr lang="en-US" sz="1600" b="0" i="0" dirty="0">
              <a:effectLst/>
              <a:latin typeface="+mj-lt"/>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3484880" y="1807062"/>
            <a:ext cx="4546533" cy="34766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mj-lt"/>
              </a:rPr>
              <a:t>Explain Expectation</a:t>
            </a:r>
            <a:r>
              <a:rPr lang="en-US" sz="1600" dirty="0">
                <a:latin typeface="+mj-lt"/>
              </a:rPr>
              <a:t>,  Variance, and Co-Variance.</a:t>
            </a:r>
            <a:endParaRPr lang="en-US" sz="1600" b="0" i="0" dirty="0">
              <a:effectLst/>
              <a:latin typeface="+mj-lt"/>
            </a:endParaRPr>
          </a:p>
          <a:p>
            <a:pPr marL="342900" indent="-342900">
              <a:buAutoNum type="arabicPeriod"/>
            </a:pPr>
            <a:r>
              <a:rPr lang="en-US" sz="1600" b="0" i="0" dirty="0">
                <a:effectLst/>
                <a:latin typeface="+mj-lt"/>
              </a:rPr>
              <a:t>Describe </a:t>
            </a:r>
            <a:r>
              <a:rPr lang="en-US" sz="1600" dirty="0">
                <a:latin typeface="+mj-lt"/>
              </a:rPr>
              <a:t>different types of Discrete and Continuous distributions.</a:t>
            </a:r>
            <a:endParaRPr lang="en-US" sz="1600" b="0" i="0" dirty="0">
              <a:effectLst/>
              <a:latin typeface="+mj-lt"/>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070731" y="39443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949616" y="4765771"/>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mj-lt"/>
                <a:cs typeface="Arial"/>
              </a:rPr>
              <a:t>At the end of this </a:t>
            </a:r>
            <a:r>
              <a:rPr lang="en-US" sz="1600" dirty="0">
                <a:latin typeface="+mj-lt"/>
                <a:cs typeface="Arial"/>
              </a:rPr>
              <a:t>session</a:t>
            </a:r>
            <a:r>
              <a:rPr lang="en-US" sz="1600" b="0" i="0" dirty="0">
                <a:effectLst/>
                <a:latin typeface="+mj-lt"/>
                <a:cs typeface="Arial"/>
              </a:rPr>
              <a:t>, you should be able to:</a:t>
            </a:r>
          </a:p>
          <a:p>
            <a:pPr marL="342900" indent="-342900">
              <a:buAutoNum type="arabicPeriod"/>
            </a:pPr>
            <a:r>
              <a:rPr lang="en-US" sz="1600" dirty="0">
                <a:latin typeface="+mj-lt"/>
              </a:rPr>
              <a:t>Define the concepts of </a:t>
            </a:r>
            <a:r>
              <a:rPr lang="en-US" sz="1600" dirty="0"/>
              <a:t>Expectation,  Variance, and covariance.</a:t>
            </a:r>
          </a:p>
          <a:p>
            <a:pPr marL="342900" indent="-342900">
              <a:buAutoNum type="arabicPeriod"/>
            </a:pPr>
            <a:r>
              <a:rPr lang="en-US" sz="1600" dirty="0">
                <a:latin typeface="+mj-lt"/>
              </a:rPr>
              <a:t>Understand different Distributions &amp; Bayes theorem.</a:t>
            </a:r>
            <a:endParaRPr lang="en-US" sz="1600" dirty="0">
              <a:latin typeface="+mj-lt"/>
              <a:cs typeface="Poppins" panose="00000500000000000000" pitchFamily="2" charset="0"/>
            </a:endParaRPr>
          </a:p>
        </p:txBody>
      </p:sp>
      <p:pic>
        <p:nvPicPr>
          <p:cNvPr id="2" name="Picture 2" descr="KL University - Wikipedia">
            <a:extLst>
              <a:ext uri="{FF2B5EF4-FFF2-40B4-BE49-F238E27FC236}">
                <a16:creationId xmlns:a16="http://schemas.microsoft.com/office/drawing/2014/main" id="{B83B9EF4-39FB-9DB3-006C-DCC715435A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34510" cy="621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8607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563313" y="9629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SESSION INTRODUCTION </a:t>
            </a:r>
          </a:p>
        </p:txBody>
      </p:sp>
      <p:sp>
        <p:nvSpPr>
          <p:cNvPr id="53" name="TextBox 52"/>
          <p:cNvSpPr txBox="1"/>
          <p:nvPr/>
        </p:nvSpPr>
        <p:spPr>
          <a:xfrm>
            <a:off x="444558" y="1930451"/>
            <a:ext cx="11517086" cy="2923877"/>
          </a:xfrm>
          <a:prstGeom prst="rect">
            <a:avLst/>
          </a:prstGeom>
          <a:noFill/>
        </p:spPr>
        <p:txBody>
          <a:bodyPr wrap="square" rtlCol="0">
            <a:spAutoFit/>
          </a:bodyPr>
          <a:lstStyle/>
          <a:p>
            <a:pPr algn="just"/>
            <a:r>
              <a:rPr lang="en-US" sz="2400" dirty="0"/>
              <a:t>A probability distribution describes how the values of a random variable are distributed. They are central to understanding randomness, risk, and data variability in fields like statistics, data science, finance, and engineering</a:t>
            </a:r>
            <a:r>
              <a:rPr lang="en-US" sz="3200" dirty="0"/>
              <a:t>.</a:t>
            </a:r>
          </a:p>
          <a:p>
            <a:endParaRPr lang="en-US" sz="3200" dirty="0"/>
          </a:p>
          <a:p>
            <a:r>
              <a:rPr lang="en-US" sz="2400" b="1" dirty="0"/>
              <a:t>Two main types:</a:t>
            </a:r>
          </a:p>
          <a:p>
            <a:pPr marL="457200" indent="-457200">
              <a:buFont typeface="Arial" panose="020B0604020202020204" pitchFamily="34" charset="0"/>
              <a:buChar char="•"/>
            </a:pPr>
            <a:r>
              <a:rPr lang="en-US" sz="2400" dirty="0"/>
              <a:t>  Discrete Distributions</a:t>
            </a:r>
          </a:p>
          <a:p>
            <a:pPr marL="457200" indent="-457200">
              <a:buFont typeface="Arial" panose="020B0604020202020204" pitchFamily="34" charset="0"/>
              <a:buChar char="•"/>
            </a:pPr>
            <a:r>
              <a:rPr lang="en-US" sz="2400" dirty="0"/>
              <a:t>  Continuous Distributions</a:t>
            </a:r>
          </a:p>
        </p:txBody>
      </p:sp>
      <p:pic>
        <p:nvPicPr>
          <p:cNvPr id="2" name="Picture 2" descr="KL University - Wikipedia">
            <a:extLst>
              <a:ext uri="{FF2B5EF4-FFF2-40B4-BE49-F238E27FC236}">
                <a16:creationId xmlns:a16="http://schemas.microsoft.com/office/drawing/2014/main" id="{93AA35BC-ACDB-899F-327A-317436551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052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8215" y="972072"/>
            <a:ext cx="10594082" cy="3785652"/>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pPr algn="just"/>
            <a:r>
              <a:rPr lang="en-US" sz="2400" dirty="0"/>
              <a:t>Choosing the right distribution is key to accurate modeling, predictions, and decision-making.</a:t>
            </a:r>
          </a:p>
          <a:p>
            <a:pPr algn="just"/>
            <a:endParaRPr lang="en-US" sz="2400" dirty="0"/>
          </a:p>
          <a:p>
            <a:pPr algn="just"/>
            <a:r>
              <a:rPr lang="en-US" sz="2400" dirty="0"/>
              <a:t>Misidentifying the distribution (e.g., treating a continuous variable as discrete or vice versa) leads to incorrect analyses and conclusions.</a:t>
            </a:r>
          </a:p>
          <a:p>
            <a:pPr algn="just"/>
            <a:endParaRPr lang="en-US" sz="2400" dirty="0"/>
          </a:p>
          <a:p>
            <a:pPr algn="just"/>
            <a:r>
              <a:rPr lang="en-US" sz="2400" dirty="0"/>
              <a:t>Discrete and continuous distributions have different formulas and properties—knowing which to use ensures statistical rigor and meaningful results</a:t>
            </a:r>
          </a:p>
          <a:p>
            <a:pPr algn="just"/>
            <a:endParaRPr lang="en-US" sz="2400" b="1" dirty="0"/>
          </a:p>
        </p:txBody>
      </p:sp>
      <p:sp>
        <p:nvSpPr>
          <p:cNvPr id="2" name="Rounded Rectangle 17">
            <a:extLst>
              <a:ext uri="{FF2B5EF4-FFF2-40B4-BE49-F238E27FC236}">
                <a16:creationId xmlns:a16="http://schemas.microsoft.com/office/drawing/2014/main" id="{FC71C21E-4F54-BE09-F262-6E250B23104A}"/>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Why This Important?</a:t>
            </a:r>
          </a:p>
        </p:txBody>
      </p:sp>
      <p:pic>
        <p:nvPicPr>
          <p:cNvPr id="4" name="Picture 2" descr="KL University - Wikipedia">
            <a:extLst>
              <a:ext uri="{FF2B5EF4-FFF2-40B4-BE49-F238E27FC236}">
                <a16:creationId xmlns:a16="http://schemas.microsoft.com/office/drawing/2014/main" id="{93EF8A98-685B-6A87-5AE9-2F9959811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D2F75-780A-2FA7-5397-071E10B7CC4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7342B90-B493-0DF3-0A72-F471808EEF9B}"/>
              </a:ext>
            </a:extLst>
          </p:cNvPr>
          <p:cNvSpPr/>
          <p:nvPr/>
        </p:nvSpPr>
        <p:spPr>
          <a:xfrm>
            <a:off x="408215" y="972072"/>
            <a:ext cx="10594082" cy="415498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r>
              <a:rPr lang="en-IN" sz="2400" dirty="0"/>
              <a:t>Defined for countable outcomes</a:t>
            </a:r>
          </a:p>
          <a:p>
            <a:endParaRPr lang="en-IN" sz="2400" b="1" dirty="0"/>
          </a:p>
          <a:p>
            <a:r>
              <a:rPr lang="en-IN" sz="2400" b="1" dirty="0"/>
              <a:t>Types:</a:t>
            </a:r>
          </a:p>
          <a:p>
            <a:pPr marL="457200" indent="-457200">
              <a:buFont typeface="+mj-lt"/>
              <a:buAutoNum type="arabicPeriod"/>
            </a:pPr>
            <a:r>
              <a:rPr lang="en-IN" sz="2400" dirty="0"/>
              <a:t> General Discrete Distribution</a:t>
            </a:r>
          </a:p>
          <a:p>
            <a:pPr marL="457200" indent="-457200">
              <a:buFont typeface="+mj-lt"/>
              <a:buAutoNum type="arabicPeriod"/>
            </a:pPr>
            <a:r>
              <a:rPr lang="en-IN" sz="2400" dirty="0"/>
              <a:t> Bernoulli Distribution</a:t>
            </a:r>
          </a:p>
          <a:p>
            <a:pPr marL="457200" indent="-457200">
              <a:buFont typeface="+mj-lt"/>
              <a:buAutoNum type="arabicPeriod"/>
            </a:pPr>
            <a:r>
              <a:rPr lang="en-IN" sz="2400" dirty="0"/>
              <a:t> Binomial Distribution</a:t>
            </a:r>
          </a:p>
          <a:p>
            <a:pPr marL="457200" indent="-457200">
              <a:buFont typeface="+mj-lt"/>
              <a:buAutoNum type="arabicPeriod"/>
            </a:pPr>
            <a:r>
              <a:rPr lang="en-IN" sz="2400" dirty="0"/>
              <a:t> Hypergeometric Distribution</a:t>
            </a:r>
          </a:p>
          <a:p>
            <a:pPr marL="457200" indent="-457200">
              <a:buFont typeface="+mj-lt"/>
              <a:buAutoNum type="arabicPeriod"/>
            </a:pPr>
            <a:r>
              <a:rPr lang="en-IN" sz="2400" dirty="0"/>
              <a:t> Geometric Distribution</a:t>
            </a:r>
          </a:p>
          <a:p>
            <a:pPr marL="457200" indent="-457200">
              <a:buFont typeface="+mj-lt"/>
              <a:buAutoNum type="arabicPeriod"/>
            </a:pPr>
            <a:r>
              <a:rPr lang="en-IN" sz="2400" dirty="0"/>
              <a:t> Poisson Distribution</a:t>
            </a:r>
          </a:p>
          <a:p>
            <a:pPr algn="just"/>
            <a:endParaRPr lang="en-US" sz="2400" b="1" dirty="0"/>
          </a:p>
        </p:txBody>
      </p:sp>
      <p:sp>
        <p:nvSpPr>
          <p:cNvPr id="2" name="Rounded Rectangle 17">
            <a:extLst>
              <a:ext uri="{FF2B5EF4-FFF2-40B4-BE49-F238E27FC236}">
                <a16:creationId xmlns:a16="http://schemas.microsoft.com/office/drawing/2014/main" id="{EA865A2D-387C-8705-D86F-99F6367B8F81}"/>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Discrete Distributions</a:t>
            </a:r>
          </a:p>
        </p:txBody>
      </p:sp>
      <p:pic>
        <p:nvPicPr>
          <p:cNvPr id="4" name="Picture 2" descr="KL University - Wikipedia">
            <a:extLst>
              <a:ext uri="{FF2B5EF4-FFF2-40B4-BE49-F238E27FC236}">
                <a16:creationId xmlns:a16="http://schemas.microsoft.com/office/drawing/2014/main" id="{CDFEE17F-4AF8-63A0-B502-407ADBDAC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62076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AC2681-42B9-03F3-AB84-04AFB1B79F24}"/>
              </a:ext>
            </a:extLst>
          </p:cNvPr>
          <p:cNvSpPr>
            <a:spLocks noGrp="1"/>
          </p:cNvSpPr>
          <p:nvPr>
            <p:ph type="sldNum" sz="quarter" idx="12"/>
          </p:nvPr>
        </p:nvSpPr>
        <p:spPr/>
        <p:txBody>
          <a:bodyPr/>
          <a:lstStyle/>
          <a:p>
            <a:fld id="{CBABCCC1-BF11-4F37-963E-1BCD5B23FD72}" type="slidenum">
              <a:rPr lang="en-IN" smtClean="0"/>
              <a:pPr/>
              <a:t>6</a:t>
            </a:fld>
            <a:endParaRPr lang="en-IN"/>
          </a:p>
        </p:txBody>
      </p:sp>
      <p:sp>
        <p:nvSpPr>
          <p:cNvPr id="5" name="Rounded Rectangle 17">
            <a:extLst>
              <a:ext uri="{FF2B5EF4-FFF2-40B4-BE49-F238E27FC236}">
                <a16:creationId xmlns:a16="http://schemas.microsoft.com/office/drawing/2014/main" id="{2BA86362-2EF1-5B81-2661-6C4EF3BF988C}"/>
              </a:ext>
            </a:extLst>
          </p:cNvPr>
          <p:cNvSpPr/>
          <p:nvPr/>
        </p:nvSpPr>
        <p:spPr>
          <a:xfrm>
            <a:off x="2300665" y="3743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1. General Discrete Distribution</a:t>
            </a:r>
            <a:endParaRPr lang="en-US"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8150CE7-BDC4-DDBE-2DFA-CCD73BF7989D}"/>
                  </a:ext>
                </a:extLst>
              </p:cNvPr>
              <p:cNvSpPr txBox="1"/>
              <p:nvPr/>
            </p:nvSpPr>
            <p:spPr>
              <a:xfrm>
                <a:off x="1245140" y="1381328"/>
                <a:ext cx="8667345" cy="7328160"/>
              </a:xfrm>
              <a:prstGeom prst="rect">
                <a:avLst/>
              </a:prstGeom>
              <a:noFill/>
            </p:spPr>
            <p:txBody>
              <a:bodyPr wrap="square">
                <a:spAutoFit/>
              </a:bodyPr>
              <a:lstStyle/>
              <a:p>
                <a:r>
                  <a:rPr lang="en-US" b="1" dirty="0"/>
                  <a:t>Definition: </a:t>
                </a:r>
                <a:r>
                  <a:rPr lang="en-US" dirty="0"/>
                  <a:t>Each outcome has equal probability</a:t>
                </a:r>
              </a:p>
              <a:p>
                <a:endParaRPr lang="en-US" b="1" dirty="0"/>
              </a:p>
              <a:p>
                <a:r>
                  <a:rPr lang="en-US" dirty="0"/>
                  <a:t>PMF: p(X = x) = 1/n</a:t>
                </a:r>
              </a:p>
              <a:p>
                <a:endParaRPr lang="en-US" dirty="0"/>
              </a:p>
              <a:p>
                <a:r>
                  <a:rPr lang="en-US" dirty="0"/>
                  <a:t>Mean = </a:t>
                </a:r>
                <a14:m>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𝑥𝑝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nary>
                  </m:oMath>
                </a14:m>
                <a:endParaRPr lang="en-US" dirty="0"/>
              </a:p>
              <a:p>
                <a:endParaRPr lang="en-US" dirty="0"/>
              </a:p>
              <a:p>
                <a:r>
                  <a:rPr lang="en-US" dirty="0"/>
                  <a:t>Variance =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d>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𝑥𝑝</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nary>
                          </m:e>
                          <m:sup>
                            <m:r>
                              <a:rPr lang="en-US" b="0" i="1" smtClean="0">
                                <a:latin typeface="Cambria Math" panose="02040503050406030204" pitchFamily="18" charset="0"/>
                              </a:rPr>
                              <m:t>2</m:t>
                            </m:r>
                          </m:sup>
                        </m:sSup>
                      </m:e>
                    </m:nary>
                  </m:oMath>
                </a14:m>
                <a:endParaRPr lang="en-US" dirty="0"/>
              </a:p>
              <a:p>
                <a:r>
                  <a:rPr lang="en-US" b="1" u="sng" dirty="0"/>
                  <a:t>Properties:</a:t>
                </a:r>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r>
                          <a:rPr lang="en-US" i="1">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𝑏</m:t>
                        </m:r>
                      </m:e>
                    </m:d>
                    <m:r>
                      <a:rPr lang="en-US" i="1">
                        <a:latin typeface="Cambria Math" panose="02040503050406030204" pitchFamily="18" charset="0"/>
                      </a:rPr>
                      <m:t>=</m:t>
                    </m:r>
                    <m:r>
                      <a:rPr lang="en-US" i="1">
                        <a:latin typeface="Cambria Math" panose="02040503050406030204" pitchFamily="18" charset="0"/>
                      </a:rPr>
                      <m:t>𝑎𝐸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𝑏</m:t>
                    </m:r>
                  </m:oMath>
                </a14:m>
                <a:endParaRPr lang="en-US"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𝑏</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𝑎</m:t>
                        </m:r>
                      </m:e>
                      <m:sup>
                        <m:r>
                          <a:rPr lang="en-US" i="1">
                            <a:latin typeface="Cambria Math" panose="02040503050406030204" pitchFamily="18" charset="0"/>
                          </a:rPr>
                          <m:t>2</m:t>
                        </m:r>
                      </m:sup>
                    </m:sSup>
                    <m:r>
                      <a:rPr lang="en-US" b="0" i="1" smtClean="0">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d>
                  </m:oMath>
                </a14:m>
                <a:endParaRPr lang="en-US" dirty="0"/>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r>
                          <a:rPr lang="en-US" i="1">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𝑏</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e>
                    </m:d>
                    <m:r>
                      <a:rPr lang="en-US" i="1">
                        <a:latin typeface="Cambria Math" panose="02040503050406030204" pitchFamily="18" charset="0"/>
                      </a:rPr>
                      <m:t>=</m:t>
                    </m:r>
                    <m:r>
                      <a:rPr lang="en-US" i="1">
                        <a:latin typeface="Cambria Math" panose="02040503050406030204" pitchFamily="18" charset="0"/>
                      </a:rPr>
                      <m:t>𝑎𝐸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𝑏𝐸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e>
                    </m:d>
                  </m:oMath>
                </a14:m>
                <a:endParaRPr lang="en-US"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𝑏</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2</m:t>
                        </m:r>
                      </m:sup>
                    </m:sSup>
                    <m:r>
                      <a:rPr lang="en-US" i="1">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d>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𝑏</m:t>
                        </m:r>
                      </m:e>
                      <m:sup>
                        <m:r>
                          <a:rPr lang="en-US" i="1">
                            <a:latin typeface="Cambria Math" panose="02040503050406030204" pitchFamily="18" charset="0"/>
                          </a:rPr>
                          <m:t>2</m:t>
                        </m:r>
                      </m:sup>
                    </m:sSup>
                    <m:r>
                      <a:rPr lang="en-US" b="0" i="1" smtClean="0">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e>
                    </m:d>
                    <m:r>
                      <a:rPr lang="en-US" b="0" i="1" smtClean="0">
                        <a:latin typeface="Cambria Math" panose="02040503050406030204" pitchFamily="18" charset="0"/>
                      </a:rPr>
                      <m:t>+2</m:t>
                    </m:r>
                    <m:r>
                      <a:rPr lang="en-US" b="0" i="1" smtClean="0">
                        <a:latin typeface="Cambria Math" panose="02040503050406030204" pitchFamily="18" charset="0"/>
                      </a:rPr>
                      <m:t>𝑎𝑏</m:t>
                    </m:r>
                    <m:r>
                      <a:rPr lang="en-US" b="0" i="1" smtClean="0">
                        <a:latin typeface="Cambria Math" panose="02040503050406030204" pitchFamily="18" charset="0"/>
                      </a:rPr>
                      <m:t> </m:t>
                    </m:r>
                    <m:r>
                      <a:rPr lang="en-US" b="0" i="1" smtClean="0">
                        <a:latin typeface="Cambria Math" panose="02040503050406030204" pitchFamily="18" charset="0"/>
                      </a:rPr>
                      <m:t>𝑐𝑜𝑣</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e>
                    </m:d>
                  </m:oMath>
                </a14:m>
                <a:endParaRPr lang="en-US" b="0" dirty="0"/>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𝑐𝑜𝑣</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𝐸</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𝐸</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d>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dirty="0"/>
              </a:p>
              <a:p>
                <a:r>
                  <a:rPr lang="en-US" b="1" dirty="0"/>
                  <a:t>Note: </a:t>
                </a:r>
              </a:p>
              <a:p>
                <a:r>
                  <a:rPr lang="en-US" b="1" dirty="0"/>
                  <a:t>If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𝟏</m:t>
                        </m:r>
                      </m:sub>
                    </m:sSub>
                  </m:oMath>
                </a14:m>
                <a:r>
                  <a:rPr lang="en-US" b="1" dirty="0"/>
                  <a:t> and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smtClean="0">
                            <a:latin typeface="Cambria Math" panose="02040503050406030204" pitchFamily="18" charset="0"/>
                          </a:rPr>
                          <m:t>𝟐</m:t>
                        </m:r>
                      </m:sub>
                    </m:sSub>
                    <m:r>
                      <a:rPr lang="en-US" b="1" i="1" smtClean="0">
                        <a:latin typeface="Cambria Math" panose="02040503050406030204" pitchFamily="18" charset="0"/>
                      </a:rPr>
                      <m:t> </m:t>
                    </m:r>
                    <m:r>
                      <a:rPr lang="en-US" b="1" i="1" smtClean="0">
                        <a:latin typeface="Cambria Math" panose="02040503050406030204" pitchFamily="18" charset="0"/>
                      </a:rPr>
                      <m:t>𝒂𝒓𝒆</m:t>
                    </m:r>
                    <m:r>
                      <a:rPr lang="en-US" b="1" i="1" smtClean="0">
                        <a:latin typeface="Cambria Math" panose="02040503050406030204" pitchFamily="18" charset="0"/>
                      </a:rPr>
                      <m:t> </m:t>
                    </m:r>
                    <m:r>
                      <a:rPr lang="en-US" b="1" i="1" smtClean="0">
                        <a:latin typeface="Cambria Math" panose="02040503050406030204" pitchFamily="18" charset="0"/>
                      </a:rPr>
                      <m:t>𝒊𝒏𝒅𝒆𝒑𝒆𝒏𝒅𝒆𝒏𝒕</m:t>
                    </m:r>
                    <m:r>
                      <a:rPr lang="en-US" b="1" i="1" smtClean="0">
                        <a:latin typeface="Cambria Math" panose="02040503050406030204" pitchFamily="18" charset="0"/>
                      </a:rPr>
                      <m:t> , </m:t>
                    </m:r>
                    <m:r>
                      <a:rPr lang="en-US" b="1" i="1">
                        <a:latin typeface="Cambria Math" panose="02040503050406030204" pitchFamily="18" charset="0"/>
                      </a:rPr>
                      <m:t>𝑬</m:t>
                    </m:r>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𝟏</m:t>
                            </m:r>
                          </m:sub>
                        </m:sSub>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𝟐</m:t>
                            </m:r>
                          </m:sub>
                        </m:sSub>
                      </m:e>
                    </m:d>
                    <m:r>
                      <a:rPr lang="en-US" b="1" i="1" smtClean="0">
                        <a:latin typeface="Cambria Math" panose="02040503050406030204" pitchFamily="18" charset="0"/>
                      </a:rPr>
                      <m:t>=</m:t>
                    </m:r>
                    <m:r>
                      <a:rPr lang="en-US" b="1" i="1">
                        <a:latin typeface="Cambria Math" panose="02040503050406030204" pitchFamily="18" charset="0"/>
                      </a:rPr>
                      <m:t>𝑬</m:t>
                    </m:r>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𝟏</m:t>
                            </m:r>
                          </m:sub>
                        </m:sSub>
                      </m:e>
                    </m:d>
                    <m:r>
                      <a:rPr lang="en-US" b="1" i="1">
                        <a:latin typeface="Cambria Math" panose="02040503050406030204" pitchFamily="18" charset="0"/>
                      </a:rPr>
                      <m:t>𝑬</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𝟐</m:t>
                        </m:r>
                      </m:sub>
                    </m:sSub>
                    <m:r>
                      <a:rPr lang="en-US" b="1" i="1">
                        <a:latin typeface="Cambria Math" panose="02040503050406030204" pitchFamily="18" charset="0"/>
                      </a:rPr>
                      <m:t>)</m:t>
                    </m:r>
                  </m:oMath>
                </a14:m>
                <a:endParaRPr lang="en-US" b="1" dirty="0"/>
              </a:p>
              <a:p>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𝒄𝒐𝒗</m:t>
                      </m:r>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𝟏</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𝟐</m:t>
                              </m:r>
                            </m:sub>
                          </m:sSub>
                        </m:e>
                      </m:d>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US" b="1"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285750" indent="-285750">
                  <a:buFontTx/>
                  <a:buChar char="-"/>
                </a:pPr>
                <a:endParaRPr lang="en-US" dirty="0"/>
              </a:p>
            </p:txBody>
          </p:sp>
        </mc:Choice>
        <mc:Fallback xmlns="">
          <p:sp>
            <p:nvSpPr>
              <p:cNvPr id="6" name="TextBox 5">
                <a:extLst>
                  <a:ext uri="{FF2B5EF4-FFF2-40B4-BE49-F238E27FC236}">
                    <a16:creationId xmlns:a16="http://schemas.microsoft.com/office/drawing/2014/main" id="{98150CE7-BDC4-DDBE-2DFA-CCD73BF7989D}"/>
                  </a:ext>
                </a:extLst>
              </p:cNvPr>
              <p:cNvSpPr txBox="1">
                <a:spLocks noRot="1" noChangeAspect="1" noMove="1" noResize="1" noEditPoints="1" noAdjustHandles="1" noChangeArrowheads="1" noChangeShapeType="1" noTextEdit="1"/>
              </p:cNvSpPr>
              <p:nvPr/>
            </p:nvSpPr>
            <p:spPr>
              <a:xfrm>
                <a:off x="1245140" y="1381328"/>
                <a:ext cx="8667345" cy="7328160"/>
              </a:xfrm>
              <a:prstGeom prst="rect">
                <a:avLst/>
              </a:prstGeom>
              <a:blipFill>
                <a:blip r:embed="rId2"/>
                <a:stretch>
                  <a:fillRect l="-563" t="-499"/>
                </a:stretch>
              </a:blipFill>
            </p:spPr>
            <p:txBody>
              <a:bodyPr/>
              <a:lstStyle/>
              <a:p>
                <a:r>
                  <a:rPr lang="en-IN">
                    <a:noFill/>
                  </a:rPr>
                  <a:t> </a:t>
                </a:r>
              </a:p>
            </p:txBody>
          </p:sp>
        </mc:Fallback>
      </mc:AlternateContent>
      <p:pic>
        <p:nvPicPr>
          <p:cNvPr id="3" name="Picture 2" descr="KL University - Wikipedia">
            <a:extLst>
              <a:ext uri="{FF2B5EF4-FFF2-40B4-BE49-F238E27FC236}">
                <a16:creationId xmlns:a16="http://schemas.microsoft.com/office/drawing/2014/main" id="{31BFF7DE-1D52-F552-3437-956FA6AD0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334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25E5B-846D-04CF-DBAC-6BEE50621E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F45812-32A1-B69D-CD35-D09DA8FB0DCA}"/>
              </a:ext>
            </a:extLst>
          </p:cNvPr>
          <p:cNvSpPr>
            <a:spLocks noGrp="1"/>
          </p:cNvSpPr>
          <p:nvPr>
            <p:ph type="sldNum" sz="quarter" idx="12"/>
          </p:nvPr>
        </p:nvSpPr>
        <p:spPr/>
        <p:txBody>
          <a:bodyPr/>
          <a:lstStyle/>
          <a:p>
            <a:fld id="{CBABCCC1-BF11-4F37-963E-1BCD5B23FD72}" type="slidenum">
              <a:rPr lang="en-IN" smtClean="0"/>
              <a:pPr/>
              <a:t>7</a:t>
            </a:fld>
            <a:endParaRPr lang="en-IN"/>
          </a:p>
        </p:txBody>
      </p:sp>
      <p:sp>
        <p:nvSpPr>
          <p:cNvPr id="5" name="Rounded Rectangle 17">
            <a:extLst>
              <a:ext uri="{FF2B5EF4-FFF2-40B4-BE49-F238E27FC236}">
                <a16:creationId xmlns:a16="http://schemas.microsoft.com/office/drawing/2014/main" id="{8B82E78C-098D-9D05-2221-A186B37C7501}"/>
              </a:ext>
            </a:extLst>
          </p:cNvPr>
          <p:cNvSpPr/>
          <p:nvPr/>
        </p:nvSpPr>
        <p:spPr>
          <a:xfrm>
            <a:off x="2300665" y="3743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1. General Discrete Distribution</a:t>
            </a:r>
            <a:endParaRPr lang="en-US"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75918FA-6ECE-45BF-BFC9-A9231C677A9F}"/>
                  </a:ext>
                </a:extLst>
              </p:cNvPr>
              <p:cNvSpPr txBox="1"/>
              <p:nvPr/>
            </p:nvSpPr>
            <p:spPr>
              <a:xfrm>
                <a:off x="1245140" y="1381328"/>
                <a:ext cx="8667345" cy="4120039"/>
              </a:xfrm>
              <a:prstGeom prst="rect">
                <a:avLst/>
              </a:prstGeom>
              <a:noFill/>
            </p:spPr>
            <p:txBody>
              <a:bodyPr wrap="square">
                <a:spAutoFit/>
              </a:bodyPr>
              <a:lstStyle/>
              <a:p>
                <a:r>
                  <a:rPr lang="en-US" b="1" dirty="0"/>
                  <a:t>Example: </a:t>
                </a:r>
                <a:r>
                  <a:rPr lang="en-US" dirty="0"/>
                  <a:t>Rolling a fair die (1 to 6)</a:t>
                </a:r>
              </a:p>
              <a:p>
                <a:endParaRPr lang="en-US" dirty="0"/>
              </a:p>
              <a:p>
                <a:endParaRPr lang="en-US" dirty="0"/>
              </a:p>
              <a:p>
                <a:endParaRPr lang="en-US" dirty="0"/>
              </a:p>
              <a:p>
                <a:endParaRPr lang="en-US" dirty="0"/>
              </a:p>
              <a:p>
                <a:endParaRPr lang="en-US" dirty="0"/>
              </a:p>
              <a:p>
                <a:endParaRPr lang="en-US" dirty="0"/>
              </a:p>
              <a:p>
                <a:endParaRPr lang="en-US" dirty="0"/>
              </a:p>
              <a:p>
                <a:r>
                  <a:rPr lang="en-US" dirty="0"/>
                  <a:t>p(X = x) = 1/n= 1/6</a:t>
                </a:r>
              </a:p>
              <a:p>
                <a:r>
                  <a:rPr lang="en-US" dirty="0"/>
                  <a:t>Mean = </a:t>
                </a:r>
                <a14:m>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𝑥𝑝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nary>
                  </m:oMath>
                </a14:m>
                <a:r>
                  <a:rPr lang="en-US" dirty="0"/>
                  <a:t>= </a:t>
                </a:r>
                <a14:m>
                  <m:oMath xmlns:m="http://schemas.openxmlformats.org/officeDocument/2006/math">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r>
                      <a:rPr lang="en-US" b="0" i="1" smtClean="0">
                        <a:latin typeface="Cambria Math" panose="02040503050406030204" pitchFamily="18" charset="0"/>
                      </a:rPr>
                      <m:t>+</m:t>
                    </m:r>
                  </m:oMath>
                </a14:m>
                <a:r>
                  <a:rPr lang="en-US" dirty="0"/>
                  <a:t> </a:t>
                </a:r>
                <a14:m>
                  <m:oMath xmlns:m="http://schemas.openxmlformats.org/officeDocument/2006/math">
                    <m:r>
                      <a:rPr lang="en-US" i="1" dirty="0" smtClean="0">
                        <a:latin typeface="Cambria Math" panose="02040503050406030204" pitchFamily="18" charset="0"/>
                      </a:rPr>
                      <m:t>2</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r>
                      <a:rPr lang="en-US" i="1">
                        <a:latin typeface="Cambria Math" panose="02040503050406030204" pitchFamily="18" charset="0"/>
                      </a:rPr>
                      <m:t>+</m:t>
                    </m:r>
                  </m:oMath>
                </a14:m>
                <a:r>
                  <a:rPr lang="en-US" dirty="0"/>
                  <a:t> </a:t>
                </a:r>
                <a14:m>
                  <m:oMath xmlns:m="http://schemas.openxmlformats.org/officeDocument/2006/math">
                    <m:r>
                      <a:rPr lang="en-US" i="1" dirty="0" smtClean="0">
                        <a:latin typeface="Cambria Math" panose="02040503050406030204" pitchFamily="18" charset="0"/>
                      </a:rPr>
                      <m:t>3</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r>
                      <a:rPr lang="en-US" i="1">
                        <a:latin typeface="Cambria Math" panose="02040503050406030204" pitchFamily="18" charset="0"/>
                      </a:rPr>
                      <m:t>+</m:t>
                    </m:r>
                  </m:oMath>
                </a14:m>
                <a:r>
                  <a:rPr lang="en-US" dirty="0"/>
                  <a:t> </a:t>
                </a:r>
                <a14:m>
                  <m:oMath xmlns:m="http://schemas.openxmlformats.org/officeDocument/2006/math">
                    <m:r>
                      <a:rPr lang="en-US" i="1" dirty="0" smtClean="0">
                        <a:latin typeface="Cambria Math" panose="02040503050406030204" pitchFamily="18" charset="0"/>
                      </a:rPr>
                      <m:t>4</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r>
                      <a:rPr lang="en-US" i="1">
                        <a:latin typeface="Cambria Math" panose="02040503050406030204" pitchFamily="18" charset="0"/>
                      </a:rPr>
                      <m:t>+</m:t>
                    </m:r>
                  </m:oMath>
                </a14:m>
                <a:r>
                  <a:rPr lang="en-US" dirty="0"/>
                  <a:t> </a:t>
                </a:r>
                <a14:m>
                  <m:oMath xmlns:m="http://schemas.openxmlformats.org/officeDocument/2006/math">
                    <m:r>
                      <a:rPr lang="en-US" i="1" dirty="0" smtClean="0">
                        <a:latin typeface="Cambria Math" panose="02040503050406030204" pitchFamily="18" charset="0"/>
                      </a:rPr>
                      <m:t>5</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r>
                      <a:rPr lang="en-US" i="1">
                        <a:latin typeface="Cambria Math" panose="02040503050406030204" pitchFamily="18" charset="0"/>
                      </a:rPr>
                      <m:t>+</m:t>
                    </m:r>
                  </m:oMath>
                </a14:m>
                <a:r>
                  <a:rPr lang="en-US" dirty="0"/>
                  <a:t> </a:t>
                </a:r>
                <a14:m>
                  <m:oMath xmlns:m="http://schemas.openxmlformats.org/officeDocument/2006/math">
                    <m:r>
                      <a:rPr lang="en-US" i="1" dirty="0" smtClean="0">
                        <a:latin typeface="Cambria Math" panose="02040503050406030204" pitchFamily="18" charset="0"/>
                      </a:rPr>
                      <m:t>6</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r>
                      <a:rPr lang="en-US" b="0" i="1" smtClean="0">
                        <a:latin typeface="Cambria Math" panose="02040503050406030204" pitchFamily="18" charset="0"/>
                      </a:rPr>
                      <m:t>=3.5</m:t>
                    </m:r>
                  </m:oMath>
                </a14:m>
                <a:endParaRPr lang="en-US" dirty="0"/>
              </a:p>
              <a:p>
                <a:r>
                  <a:rPr lang="en-US" dirty="0"/>
                  <a:t>Variance =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d>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𝑥𝑝</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nary>
                          </m:e>
                          <m:sup>
                            <m:r>
                              <a:rPr lang="en-US" b="0" i="1" smtClean="0">
                                <a:latin typeface="Cambria Math" panose="02040503050406030204" pitchFamily="18" charset="0"/>
                              </a:rPr>
                              <m:t>2</m:t>
                            </m:r>
                          </m:sup>
                        </m:sSup>
                        <m:r>
                          <a:rPr lang="en-US" b="0" i="1" smtClean="0">
                            <a:latin typeface="Cambria Math" panose="02040503050406030204" pitchFamily="18" charset="0"/>
                          </a:rPr>
                          <m:t>=2.917</m:t>
                        </m:r>
                      </m:e>
                    </m:nary>
                  </m:oMath>
                </a14:m>
                <a:endParaRPr lang="en-US" dirty="0"/>
              </a:p>
              <a:p>
                <a:endParaRPr lang="en-US" dirty="0"/>
              </a:p>
              <a:p>
                <a:endParaRPr lang="en-US" dirty="0"/>
              </a:p>
              <a:p>
                <a:pPr marL="285750" indent="-285750">
                  <a:buFontTx/>
                  <a:buChar char="-"/>
                </a:pPr>
                <a:endParaRPr lang="en-US" dirty="0"/>
              </a:p>
            </p:txBody>
          </p:sp>
        </mc:Choice>
        <mc:Fallback xmlns="">
          <p:sp>
            <p:nvSpPr>
              <p:cNvPr id="6" name="TextBox 5">
                <a:extLst>
                  <a:ext uri="{FF2B5EF4-FFF2-40B4-BE49-F238E27FC236}">
                    <a16:creationId xmlns:a16="http://schemas.microsoft.com/office/drawing/2014/main" id="{B75918FA-6ECE-45BF-BFC9-A9231C677A9F}"/>
                  </a:ext>
                </a:extLst>
              </p:cNvPr>
              <p:cNvSpPr txBox="1">
                <a:spLocks noRot="1" noChangeAspect="1" noMove="1" noResize="1" noEditPoints="1" noAdjustHandles="1" noChangeArrowheads="1" noChangeShapeType="1" noTextEdit="1"/>
              </p:cNvSpPr>
              <p:nvPr/>
            </p:nvSpPr>
            <p:spPr>
              <a:xfrm>
                <a:off x="1245140" y="1381328"/>
                <a:ext cx="8667345" cy="4120039"/>
              </a:xfrm>
              <a:prstGeom prst="rect">
                <a:avLst/>
              </a:prstGeom>
              <a:blipFill>
                <a:blip r:embed="rId2"/>
                <a:stretch>
                  <a:fillRect l="-563" t="-88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AA24842-960D-9C64-BFA0-349E92B385D4}"/>
                  </a:ext>
                </a:extLst>
              </p:cNvPr>
              <p:cNvGraphicFramePr>
                <a:graphicFrameLocks noGrp="1"/>
              </p:cNvGraphicFramePr>
              <p:nvPr>
                <p:extLst>
                  <p:ext uri="{D42A27DB-BD31-4B8C-83A1-F6EECF244321}">
                    <p14:modId xmlns:p14="http://schemas.microsoft.com/office/powerpoint/2010/main" val="2027765732"/>
                  </p:ext>
                </p:extLst>
              </p:nvPr>
            </p:nvGraphicFramePr>
            <p:xfrm>
              <a:off x="1383298" y="1893182"/>
              <a:ext cx="8128001" cy="977646"/>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4004267008"/>
                        </a:ext>
                      </a:extLst>
                    </a:gridCol>
                    <a:gridCol w="1161143">
                      <a:extLst>
                        <a:ext uri="{9D8B030D-6E8A-4147-A177-3AD203B41FA5}">
                          <a16:colId xmlns:a16="http://schemas.microsoft.com/office/drawing/2014/main" val="250846552"/>
                        </a:ext>
                      </a:extLst>
                    </a:gridCol>
                    <a:gridCol w="1161143">
                      <a:extLst>
                        <a:ext uri="{9D8B030D-6E8A-4147-A177-3AD203B41FA5}">
                          <a16:colId xmlns:a16="http://schemas.microsoft.com/office/drawing/2014/main" val="3110246841"/>
                        </a:ext>
                      </a:extLst>
                    </a:gridCol>
                    <a:gridCol w="1161143">
                      <a:extLst>
                        <a:ext uri="{9D8B030D-6E8A-4147-A177-3AD203B41FA5}">
                          <a16:colId xmlns:a16="http://schemas.microsoft.com/office/drawing/2014/main" val="2783095670"/>
                        </a:ext>
                      </a:extLst>
                    </a:gridCol>
                    <a:gridCol w="1161143">
                      <a:extLst>
                        <a:ext uri="{9D8B030D-6E8A-4147-A177-3AD203B41FA5}">
                          <a16:colId xmlns:a16="http://schemas.microsoft.com/office/drawing/2014/main" val="485918721"/>
                        </a:ext>
                      </a:extLst>
                    </a:gridCol>
                    <a:gridCol w="1161143">
                      <a:extLst>
                        <a:ext uri="{9D8B030D-6E8A-4147-A177-3AD203B41FA5}">
                          <a16:colId xmlns:a16="http://schemas.microsoft.com/office/drawing/2014/main" val="3166218811"/>
                        </a:ext>
                      </a:extLst>
                    </a:gridCol>
                    <a:gridCol w="1161143">
                      <a:extLst>
                        <a:ext uri="{9D8B030D-6E8A-4147-A177-3AD203B41FA5}">
                          <a16:colId xmlns:a16="http://schemas.microsoft.com/office/drawing/2014/main" val="2549975842"/>
                        </a:ext>
                      </a:extLst>
                    </a:gridCol>
                  </a:tblGrid>
                  <a:tr h="370840">
                    <a:tc>
                      <a:txBody>
                        <a:bodyPr/>
                        <a:lstStyle/>
                        <a:p>
                          <a:pPr algn="ctr"/>
                          <a:r>
                            <a:rPr lang="en-US" dirty="0"/>
                            <a:t>x</a:t>
                          </a:r>
                          <a:endParaRPr lang="en-IN" dirty="0"/>
                        </a:p>
                      </a:txBody>
                      <a:tcPr/>
                    </a:tc>
                    <a:tc>
                      <a:txBody>
                        <a:bodyPr/>
                        <a:lstStyle/>
                        <a:p>
                          <a:pPr algn="ctr"/>
                          <a:r>
                            <a:rPr lang="en-US" dirty="0"/>
                            <a:t>1</a:t>
                          </a:r>
                          <a:endParaRPr lang="en-IN" dirty="0"/>
                        </a:p>
                      </a:txBody>
                      <a:tcPr/>
                    </a:tc>
                    <a:tc>
                      <a:txBody>
                        <a:bodyPr/>
                        <a:lstStyle/>
                        <a:p>
                          <a:pPr algn="ctr"/>
                          <a:r>
                            <a:rPr lang="en-US" dirty="0"/>
                            <a:t>2</a:t>
                          </a:r>
                          <a:endParaRPr lang="en-IN" dirty="0"/>
                        </a:p>
                      </a:txBody>
                      <a:tcPr/>
                    </a:tc>
                    <a:tc>
                      <a:txBody>
                        <a:bodyPr/>
                        <a:lstStyle/>
                        <a:p>
                          <a:pPr algn="ctr"/>
                          <a:r>
                            <a:rPr lang="en-US" dirty="0"/>
                            <a:t>3</a:t>
                          </a:r>
                          <a:endParaRPr lang="en-IN" dirty="0"/>
                        </a:p>
                      </a:txBody>
                      <a:tcPr/>
                    </a:tc>
                    <a:tc>
                      <a:txBody>
                        <a:bodyPr/>
                        <a:lstStyle/>
                        <a:p>
                          <a:pPr algn="ctr"/>
                          <a:r>
                            <a:rPr lang="en-US" dirty="0"/>
                            <a:t>4</a:t>
                          </a:r>
                          <a:endParaRPr lang="en-IN" dirty="0"/>
                        </a:p>
                      </a:txBody>
                      <a:tcPr/>
                    </a:tc>
                    <a:tc>
                      <a:txBody>
                        <a:bodyPr/>
                        <a:lstStyle/>
                        <a:p>
                          <a:pPr algn="ctr"/>
                          <a:r>
                            <a:rPr lang="en-US" dirty="0"/>
                            <a:t>5</a:t>
                          </a:r>
                          <a:endParaRPr lang="en-IN" dirty="0"/>
                        </a:p>
                      </a:txBody>
                      <a:tcPr/>
                    </a:tc>
                    <a:tc>
                      <a:txBody>
                        <a:bodyPr/>
                        <a:lstStyle/>
                        <a:p>
                          <a:pPr algn="ctr"/>
                          <a:r>
                            <a:rPr lang="en-US" dirty="0"/>
                            <a:t>6</a:t>
                          </a:r>
                          <a:endParaRPr lang="en-IN" dirty="0"/>
                        </a:p>
                      </a:txBody>
                      <a:tcPr/>
                    </a:tc>
                    <a:extLst>
                      <a:ext uri="{0D108BD9-81ED-4DB2-BD59-A6C34878D82A}">
                        <a16:rowId xmlns:a16="http://schemas.microsoft.com/office/drawing/2014/main" val="1696211537"/>
                      </a:ext>
                    </a:extLst>
                  </a:tr>
                  <a:tr h="370840">
                    <a:tc>
                      <a:txBody>
                        <a:bodyPr/>
                        <a:lstStyle/>
                        <a:p>
                          <a:pPr algn="ctr"/>
                          <a:r>
                            <a:rPr lang="en-US" dirty="0"/>
                            <a:t>p(x)</a:t>
                          </a:r>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oMath>
                            </m:oMathPara>
                          </a14:m>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oMath>
                            </m:oMathPara>
                          </a14:m>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oMath>
                            </m:oMathPara>
                          </a14:m>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oMath>
                            </m:oMathPara>
                          </a14:m>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oMath>
                            </m:oMathPara>
                          </a14:m>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oMath>
                            </m:oMathPara>
                          </a14:m>
                          <a:endParaRPr lang="en-IN" dirty="0"/>
                        </a:p>
                      </a:txBody>
                      <a:tcPr/>
                    </a:tc>
                    <a:extLst>
                      <a:ext uri="{0D108BD9-81ED-4DB2-BD59-A6C34878D82A}">
                        <a16:rowId xmlns:a16="http://schemas.microsoft.com/office/drawing/2014/main" val="3662381944"/>
                      </a:ext>
                    </a:extLst>
                  </a:tr>
                </a:tbl>
              </a:graphicData>
            </a:graphic>
          </p:graphicFrame>
        </mc:Choice>
        <mc:Fallback xmlns="">
          <p:graphicFrame>
            <p:nvGraphicFramePr>
              <p:cNvPr id="3" name="Table 2">
                <a:extLst>
                  <a:ext uri="{FF2B5EF4-FFF2-40B4-BE49-F238E27FC236}">
                    <a16:creationId xmlns:a16="http://schemas.microsoft.com/office/drawing/2014/main" id="{7AA24842-960D-9C64-BFA0-349E92B385D4}"/>
                  </a:ext>
                </a:extLst>
              </p:cNvPr>
              <p:cNvGraphicFramePr>
                <a:graphicFrameLocks noGrp="1"/>
              </p:cNvGraphicFramePr>
              <p:nvPr>
                <p:extLst>
                  <p:ext uri="{D42A27DB-BD31-4B8C-83A1-F6EECF244321}">
                    <p14:modId xmlns:p14="http://schemas.microsoft.com/office/powerpoint/2010/main" val="2027765732"/>
                  </p:ext>
                </p:extLst>
              </p:nvPr>
            </p:nvGraphicFramePr>
            <p:xfrm>
              <a:off x="1383298" y="1893182"/>
              <a:ext cx="8128001" cy="977646"/>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4004267008"/>
                        </a:ext>
                      </a:extLst>
                    </a:gridCol>
                    <a:gridCol w="1161143">
                      <a:extLst>
                        <a:ext uri="{9D8B030D-6E8A-4147-A177-3AD203B41FA5}">
                          <a16:colId xmlns:a16="http://schemas.microsoft.com/office/drawing/2014/main" val="250846552"/>
                        </a:ext>
                      </a:extLst>
                    </a:gridCol>
                    <a:gridCol w="1161143">
                      <a:extLst>
                        <a:ext uri="{9D8B030D-6E8A-4147-A177-3AD203B41FA5}">
                          <a16:colId xmlns:a16="http://schemas.microsoft.com/office/drawing/2014/main" val="3110246841"/>
                        </a:ext>
                      </a:extLst>
                    </a:gridCol>
                    <a:gridCol w="1161143">
                      <a:extLst>
                        <a:ext uri="{9D8B030D-6E8A-4147-A177-3AD203B41FA5}">
                          <a16:colId xmlns:a16="http://schemas.microsoft.com/office/drawing/2014/main" val="2783095670"/>
                        </a:ext>
                      </a:extLst>
                    </a:gridCol>
                    <a:gridCol w="1161143">
                      <a:extLst>
                        <a:ext uri="{9D8B030D-6E8A-4147-A177-3AD203B41FA5}">
                          <a16:colId xmlns:a16="http://schemas.microsoft.com/office/drawing/2014/main" val="485918721"/>
                        </a:ext>
                      </a:extLst>
                    </a:gridCol>
                    <a:gridCol w="1161143">
                      <a:extLst>
                        <a:ext uri="{9D8B030D-6E8A-4147-A177-3AD203B41FA5}">
                          <a16:colId xmlns:a16="http://schemas.microsoft.com/office/drawing/2014/main" val="3166218811"/>
                        </a:ext>
                      </a:extLst>
                    </a:gridCol>
                    <a:gridCol w="1161143">
                      <a:extLst>
                        <a:ext uri="{9D8B030D-6E8A-4147-A177-3AD203B41FA5}">
                          <a16:colId xmlns:a16="http://schemas.microsoft.com/office/drawing/2014/main" val="2549975842"/>
                        </a:ext>
                      </a:extLst>
                    </a:gridCol>
                  </a:tblGrid>
                  <a:tr h="370840">
                    <a:tc>
                      <a:txBody>
                        <a:bodyPr/>
                        <a:lstStyle/>
                        <a:p>
                          <a:pPr algn="ctr"/>
                          <a:r>
                            <a:rPr lang="en-US" dirty="0"/>
                            <a:t>x</a:t>
                          </a:r>
                          <a:endParaRPr lang="en-IN" dirty="0"/>
                        </a:p>
                      </a:txBody>
                      <a:tcPr/>
                    </a:tc>
                    <a:tc>
                      <a:txBody>
                        <a:bodyPr/>
                        <a:lstStyle/>
                        <a:p>
                          <a:pPr algn="ctr"/>
                          <a:r>
                            <a:rPr lang="en-US" dirty="0"/>
                            <a:t>1</a:t>
                          </a:r>
                          <a:endParaRPr lang="en-IN" dirty="0"/>
                        </a:p>
                      </a:txBody>
                      <a:tcPr/>
                    </a:tc>
                    <a:tc>
                      <a:txBody>
                        <a:bodyPr/>
                        <a:lstStyle/>
                        <a:p>
                          <a:pPr algn="ctr"/>
                          <a:r>
                            <a:rPr lang="en-US" dirty="0"/>
                            <a:t>2</a:t>
                          </a:r>
                          <a:endParaRPr lang="en-IN" dirty="0"/>
                        </a:p>
                      </a:txBody>
                      <a:tcPr/>
                    </a:tc>
                    <a:tc>
                      <a:txBody>
                        <a:bodyPr/>
                        <a:lstStyle/>
                        <a:p>
                          <a:pPr algn="ctr"/>
                          <a:r>
                            <a:rPr lang="en-US" dirty="0"/>
                            <a:t>3</a:t>
                          </a:r>
                          <a:endParaRPr lang="en-IN" dirty="0"/>
                        </a:p>
                      </a:txBody>
                      <a:tcPr/>
                    </a:tc>
                    <a:tc>
                      <a:txBody>
                        <a:bodyPr/>
                        <a:lstStyle/>
                        <a:p>
                          <a:pPr algn="ctr"/>
                          <a:r>
                            <a:rPr lang="en-US" dirty="0"/>
                            <a:t>4</a:t>
                          </a:r>
                          <a:endParaRPr lang="en-IN" dirty="0"/>
                        </a:p>
                      </a:txBody>
                      <a:tcPr/>
                    </a:tc>
                    <a:tc>
                      <a:txBody>
                        <a:bodyPr/>
                        <a:lstStyle/>
                        <a:p>
                          <a:pPr algn="ctr"/>
                          <a:r>
                            <a:rPr lang="en-US" dirty="0"/>
                            <a:t>5</a:t>
                          </a:r>
                          <a:endParaRPr lang="en-IN" dirty="0"/>
                        </a:p>
                      </a:txBody>
                      <a:tcPr/>
                    </a:tc>
                    <a:tc>
                      <a:txBody>
                        <a:bodyPr/>
                        <a:lstStyle/>
                        <a:p>
                          <a:pPr algn="ctr"/>
                          <a:r>
                            <a:rPr lang="en-US" dirty="0"/>
                            <a:t>6</a:t>
                          </a:r>
                          <a:endParaRPr lang="en-IN" dirty="0"/>
                        </a:p>
                      </a:txBody>
                      <a:tcPr/>
                    </a:tc>
                    <a:extLst>
                      <a:ext uri="{0D108BD9-81ED-4DB2-BD59-A6C34878D82A}">
                        <a16:rowId xmlns:a16="http://schemas.microsoft.com/office/drawing/2014/main" val="1696211537"/>
                      </a:ext>
                    </a:extLst>
                  </a:tr>
                  <a:tr h="606806">
                    <a:tc>
                      <a:txBody>
                        <a:bodyPr/>
                        <a:lstStyle/>
                        <a:p>
                          <a:pPr algn="ctr"/>
                          <a:r>
                            <a:rPr lang="en-US" dirty="0"/>
                            <a:t>p(x)</a:t>
                          </a:r>
                          <a:endParaRPr lang="en-IN" dirty="0"/>
                        </a:p>
                      </a:txBody>
                      <a:tcPr/>
                    </a:tc>
                    <a:tc>
                      <a:txBody>
                        <a:bodyPr/>
                        <a:lstStyle/>
                        <a:p>
                          <a:endParaRPr lang="en-US"/>
                        </a:p>
                      </a:txBody>
                      <a:tcPr>
                        <a:blipFill>
                          <a:blip r:embed="rId3"/>
                          <a:stretch>
                            <a:fillRect l="-101053" t="-66000" r="-504211" b="-3000"/>
                          </a:stretch>
                        </a:blipFill>
                      </a:tcPr>
                    </a:tc>
                    <a:tc>
                      <a:txBody>
                        <a:bodyPr/>
                        <a:lstStyle/>
                        <a:p>
                          <a:endParaRPr lang="en-US"/>
                        </a:p>
                      </a:txBody>
                      <a:tcPr>
                        <a:blipFill>
                          <a:blip r:embed="rId3"/>
                          <a:stretch>
                            <a:fillRect l="-200000" t="-66000" r="-401571" b="-3000"/>
                          </a:stretch>
                        </a:blipFill>
                      </a:tcPr>
                    </a:tc>
                    <a:tc>
                      <a:txBody>
                        <a:bodyPr/>
                        <a:lstStyle/>
                        <a:p>
                          <a:endParaRPr lang="en-US"/>
                        </a:p>
                      </a:txBody>
                      <a:tcPr>
                        <a:blipFill>
                          <a:blip r:embed="rId3"/>
                          <a:stretch>
                            <a:fillRect l="-300000" t="-66000" r="-301571" b="-3000"/>
                          </a:stretch>
                        </a:blipFill>
                      </a:tcPr>
                    </a:tc>
                    <a:tc>
                      <a:txBody>
                        <a:bodyPr/>
                        <a:lstStyle/>
                        <a:p>
                          <a:endParaRPr lang="en-US"/>
                        </a:p>
                      </a:txBody>
                      <a:tcPr>
                        <a:blipFill>
                          <a:blip r:embed="rId3"/>
                          <a:stretch>
                            <a:fillRect l="-400000" t="-66000" r="-201571" b="-3000"/>
                          </a:stretch>
                        </a:blipFill>
                      </a:tcPr>
                    </a:tc>
                    <a:tc>
                      <a:txBody>
                        <a:bodyPr/>
                        <a:lstStyle/>
                        <a:p>
                          <a:endParaRPr lang="en-US"/>
                        </a:p>
                      </a:txBody>
                      <a:tcPr>
                        <a:blipFill>
                          <a:blip r:embed="rId3"/>
                          <a:stretch>
                            <a:fillRect l="-502632" t="-66000" r="-102632" b="-3000"/>
                          </a:stretch>
                        </a:blipFill>
                      </a:tcPr>
                    </a:tc>
                    <a:tc>
                      <a:txBody>
                        <a:bodyPr/>
                        <a:lstStyle/>
                        <a:p>
                          <a:endParaRPr lang="en-US"/>
                        </a:p>
                      </a:txBody>
                      <a:tcPr>
                        <a:blipFill>
                          <a:blip r:embed="rId3"/>
                          <a:stretch>
                            <a:fillRect l="-599476" t="-66000" r="-2094" b="-3000"/>
                          </a:stretch>
                        </a:blipFill>
                      </a:tcPr>
                    </a:tc>
                    <a:extLst>
                      <a:ext uri="{0D108BD9-81ED-4DB2-BD59-A6C34878D82A}">
                        <a16:rowId xmlns:a16="http://schemas.microsoft.com/office/drawing/2014/main" val="3662381944"/>
                      </a:ext>
                    </a:extLst>
                  </a:tr>
                </a:tbl>
              </a:graphicData>
            </a:graphic>
          </p:graphicFrame>
        </mc:Fallback>
      </mc:AlternateContent>
      <p:sp>
        <p:nvSpPr>
          <p:cNvPr id="4" name="TextBox 3">
            <a:extLst>
              <a:ext uri="{FF2B5EF4-FFF2-40B4-BE49-F238E27FC236}">
                <a16:creationId xmlns:a16="http://schemas.microsoft.com/office/drawing/2014/main" id="{749B8FBD-11ED-C043-1824-7954754AA18C}"/>
              </a:ext>
            </a:extLst>
          </p:cNvPr>
          <p:cNvSpPr txBox="1"/>
          <p:nvPr/>
        </p:nvSpPr>
        <p:spPr>
          <a:xfrm>
            <a:off x="1383298" y="3059668"/>
            <a:ext cx="7354110" cy="369332"/>
          </a:xfrm>
          <a:prstGeom prst="rect">
            <a:avLst/>
          </a:prstGeom>
          <a:noFill/>
        </p:spPr>
        <p:txBody>
          <a:bodyPr wrap="square" rtlCol="0">
            <a:spAutoFit/>
          </a:bodyPr>
          <a:lstStyle/>
          <a:p>
            <a:r>
              <a:rPr lang="en-US" dirty="0"/>
              <a:t>P(X=1) = P(X=2) = P(X=3) = P(X=4) = P(X=5) = P(X=6) =  1/6</a:t>
            </a:r>
            <a:endParaRPr lang="en-IN" dirty="0"/>
          </a:p>
        </p:txBody>
      </p:sp>
      <p:pic>
        <p:nvPicPr>
          <p:cNvPr id="7" name="Picture 2" descr="KL University - Wikipedia">
            <a:extLst>
              <a:ext uri="{FF2B5EF4-FFF2-40B4-BE49-F238E27FC236}">
                <a16:creationId xmlns:a16="http://schemas.microsoft.com/office/drawing/2014/main" id="{0BFE0D55-4656-EAE2-AAE9-BE8DB11DE1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1367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790F3-E2D4-BE6E-8597-5D607C2156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BA1247-BE7B-BBBA-532E-4CC3D4771640}"/>
              </a:ext>
            </a:extLst>
          </p:cNvPr>
          <p:cNvSpPr>
            <a:spLocks noGrp="1"/>
          </p:cNvSpPr>
          <p:nvPr>
            <p:ph type="sldNum" sz="quarter" idx="12"/>
          </p:nvPr>
        </p:nvSpPr>
        <p:spPr/>
        <p:txBody>
          <a:bodyPr/>
          <a:lstStyle/>
          <a:p>
            <a:fld id="{CBABCCC1-BF11-4F37-963E-1BCD5B23FD72}" type="slidenum">
              <a:rPr lang="en-IN" smtClean="0"/>
              <a:pPr/>
              <a:t>8</a:t>
            </a:fld>
            <a:endParaRPr lang="en-IN"/>
          </a:p>
        </p:txBody>
      </p:sp>
      <p:sp>
        <p:nvSpPr>
          <p:cNvPr id="5" name="Rounded Rectangle 17">
            <a:extLst>
              <a:ext uri="{FF2B5EF4-FFF2-40B4-BE49-F238E27FC236}">
                <a16:creationId xmlns:a16="http://schemas.microsoft.com/office/drawing/2014/main" id="{909CA0ED-5A90-FDCD-5D88-266027CA67CF}"/>
              </a:ext>
            </a:extLst>
          </p:cNvPr>
          <p:cNvSpPr/>
          <p:nvPr/>
        </p:nvSpPr>
        <p:spPr>
          <a:xfrm>
            <a:off x="2300665" y="3743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2. Bernoulli Distribution</a:t>
            </a:r>
            <a:endParaRPr lang="en-US" sz="2400" dirty="0"/>
          </a:p>
        </p:txBody>
      </p:sp>
      <p:sp>
        <p:nvSpPr>
          <p:cNvPr id="6" name="TextBox 5">
            <a:extLst>
              <a:ext uri="{FF2B5EF4-FFF2-40B4-BE49-F238E27FC236}">
                <a16:creationId xmlns:a16="http://schemas.microsoft.com/office/drawing/2014/main" id="{0B259483-58A4-BAF3-A03A-1012056245A5}"/>
              </a:ext>
            </a:extLst>
          </p:cNvPr>
          <p:cNvSpPr txBox="1"/>
          <p:nvPr/>
        </p:nvSpPr>
        <p:spPr>
          <a:xfrm>
            <a:off x="1245140" y="1381328"/>
            <a:ext cx="8667345" cy="2862322"/>
          </a:xfrm>
          <a:prstGeom prst="rect">
            <a:avLst/>
          </a:prstGeom>
          <a:noFill/>
        </p:spPr>
        <p:txBody>
          <a:bodyPr wrap="square">
            <a:spAutoFit/>
          </a:bodyPr>
          <a:lstStyle/>
          <a:p>
            <a:r>
              <a:rPr lang="en-US" b="1" dirty="0"/>
              <a:t> Definition: </a:t>
            </a:r>
            <a:r>
              <a:rPr lang="en-US" dirty="0"/>
              <a:t>One trial with two outcomes (success/failure)</a:t>
            </a:r>
          </a:p>
          <a:p>
            <a:endParaRPr lang="en-US" dirty="0"/>
          </a:p>
          <a:p>
            <a:r>
              <a:rPr lang="en-US" dirty="0"/>
              <a:t> </a:t>
            </a:r>
            <a:r>
              <a:rPr lang="en-US" b="1" dirty="0"/>
              <a:t>PMF: </a:t>
            </a:r>
            <a:r>
              <a:rPr lang="en-US" dirty="0"/>
              <a:t>P(X=1)= p, P(X=0)= 1-p</a:t>
            </a:r>
          </a:p>
          <a:p>
            <a:endParaRPr lang="en-US" dirty="0"/>
          </a:p>
          <a:p>
            <a:r>
              <a:rPr lang="en-US" dirty="0"/>
              <a:t> </a:t>
            </a:r>
            <a:r>
              <a:rPr lang="en-US" b="1" dirty="0"/>
              <a:t>Example: </a:t>
            </a:r>
            <a:r>
              <a:rPr lang="en-US" dirty="0"/>
              <a:t>Tossing a coin once (Head = 1, Tail = 0)</a:t>
            </a:r>
          </a:p>
          <a:p>
            <a:endParaRPr lang="en-US" dirty="0"/>
          </a:p>
          <a:p>
            <a:r>
              <a:rPr lang="en-US" dirty="0"/>
              <a:t>			P(X=Head) = p =  1/2 </a:t>
            </a:r>
          </a:p>
          <a:p>
            <a:r>
              <a:rPr lang="en-US" dirty="0"/>
              <a:t>			P(X= Tail) = 1-p = 1-1/2 = 1/2 </a:t>
            </a:r>
          </a:p>
          <a:p>
            <a:endParaRPr lang="en-US" dirty="0"/>
          </a:p>
          <a:p>
            <a:pPr marL="285750" indent="-285750">
              <a:buFontTx/>
              <a:buChar char="-"/>
            </a:pPr>
            <a:endParaRPr lang="en-US" dirty="0"/>
          </a:p>
        </p:txBody>
      </p:sp>
      <p:pic>
        <p:nvPicPr>
          <p:cNvPr id="3" name="Picture 2" descr="KL University - Wikipedia">
            <a:extLst>
              <a:ext uri="{FF2B5EF4-FFF2-40B4-BE49-F238E27FC236}">
                <a16:creationId xmlns:a16="http://schemas.microsoft.com/office/drawing/2014/main" id="{DDFBB744-BBCE-A498-6463-32AE07E051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90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E0A38-9E3D-FF72-F303-A8546AB78ED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9ADDA6-3F5A-82EC-077D-09C4100F9E63}"/>
              </a:ext>
            </a:extLst>
          </p:cNvPr>
          <p:cNvSpPr>
            <a:spLocks noGrp="1"/>
          </p:cNvSpPr>
          <p:nvPr>
            <p:ph type="sldNum" sz="quarter" idx="12"/>
          </p:nvPr>
        </p:nvSpPr>
        <p:spPr/>
        <p:txBody>
          <a:bodyPr/>
          <a:lstStyle/>
          <a:p>
            <a:fld id="{CBABCCC1-BF11-4F37-963E-1BCD5B23FD72}" type="slidenum">
              <a:rPr lang="en-IN" smtClean="0"/>
              <a:pPr/>
              <a:t>9</a:t>
            </a:fld>
            <a:endParaRPr lang="en-IN"/>
          </a:p>
        </p:txBody>
      </p:sp>
      <p:sp>
        <p:nvSpPr>
          <p:cNvPr id="5" name="Rounded Rectangle 17">
            <a:extLst>
              <a:ext uri="{FF2B5EF4-FFF2-40B4-BE49-F238E27FC236}">
                <a16:creationId xmlns:a16="http://schemas.microsoft.com/office/drawing/2014/main" id="{AC02869A-5130-E235-E7A0-9737321306FE}"/>
              </a:ext>
            </a:extLst>
          </p:cNvPr>
          <p:cNvSpPr/>
          <p:nvPr/>
        </p:nvSpPr>
        <p:spPr>
          <a:xfrm>
            <a:off x="2300665" y="3743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a:p>
            <a:pPr algn="ctr"/>
            <a:r>
              <a:rPr lang="en-IN" sz="2400" dirty="0"/>
              <a:t>3. Binomial Distribution</a:t>
            </a:r>
          </a:p>
          <a:p>
            <a:pPr algn="ctr"/>
            <a:endParaRPr lang="en-US"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A8150CB-4AD0-A607-A206-34248FE96DE4}"/>
                  </a:ext>
                </a:extLst>
              </p:cNvPr>
              <p:cNvSpPr txBox="1"/>
              <p:nvPr/>
            </p:nvSpPr>
            <p:spPr>
              <a:xfrm>
                <a:off x="1245140" y="1381328"/>
                <a:ext cx="8667345" cy="5138458"/>
              </a:xfrm>
              <a:prstGeom prst="rect">
                <a:avLst/>
              </a:prstGeom>
              <a:noFill/>
            </p:spPr>
            <p:txBody>
              <a:bodyPr wrap="square">
                <a:spAutoFit/>
              </a:bodyPr>
              <a:lstStyle/>
              <a:p>
                <a:r>
                  <a:rPr lang="en-US" b="1" dirty="0"/>
                  <a:t> Definition: </a:t>
                </a:r>
                <a:r>
                  <a:rPr lang="en-US" dirty="0"/>
                  <a:t>The </a:t>
                </a:r>
                <a:r>
                  <a:rPr lang="en-IN" dirty="0"/>
                  <a:t>Binomial Distribution occurs when an experiment is performed satisfies the three assumptions of Bernoulli trials, which are</a:t>
                </a:r>
              </a:p>
              <a:p>
                <a:endParaRPr lang="en-IN" dirty="0"/>
              </a:p>
              <a:p>
                <a:pPr marL="342900" indent="-342900">
                  <a:buAutoNum type="arabicPeriod"/>
                </a:pPr>
                <a:r>
                  <a:rPr lang="en-IN" dirty="0"/>
                  <a:t>Only 2 outcomes are possible: success and failure</a:t>
                </a:r>
              </a:p>
              <a:p>
                <a:pPr marL="342900" indent="-342900">
                  <a:buAutoNum type="arabicPeriod"/>
                </a:pPr>
                <a:r>
                  <a:rPr lang="en-IN" dirty="0"/>
                  <a:t>Probability of success (p) and failure (1-p) remain the same from trial to trial.</a:t>
                </a:r>
              </a:p>
              <a:p>
                <a:pPr marL="342900" indent="-342900">
                  <a:buAutoNum type="arabicPeriod"/>
                </a:pPr>
                <a:r>
                  <a:rPr lang="en-IN" dirty="0"/>
                  <a:t>The trials are statistically independent</a:t>
                </a:r>
              </a:p>
              <a:p>
                <a:endParaRPr lang="en-US" dirty="0"/>
              </a:p>
              <a:p>
                <a:r>
                  <a:rPr lang="en-US" dirty="0"/>
                  <a:t> </a:t>
                </a:r>
                <a:r>
                  <a:rPr lang="en-US" b="1" dirty="0"/>
                  <a:t>PMF: </a:t>
                </a:r>
                <a14:m>
                  <m:oMath xmlns:m="http://schemas.openxmlformats.org/officeDocument/2006/math">
                    <m:r>
                      <a:rPr lang="en-US" b="1" i="1" smtClean="0">
                        <a:latin typeface="Cambria Math" panose="02040503050406030204" pitchFamily="18" charset="0"/>
                      </a:rPr>
                      <m:t>𝒑</m:t>
                    </m:r>
                    <m:d>
                      <m:dPr>
                        <m:ctrlPr>
                          <a:rPr lang="en-US" b="1" i="1" smtClean="0">
                            <a:latin typeface="Cambria Math" panose="02040503050406030204" pitchFamily="18" charset="0"/>
                          </a:rPr>
                        </m:ctrlPr>
                      </m:dPr>
                      <m:e>
                        <m:r>
                          <a:rPr lang="en-US" b="1" i="1" smtClean="0">
                            <a:latin typeface="Cambria Math" panose="02040503050406030204" pitchFamily="18" charset="0"/>
                          </a:rPr>
                          <m:t>𝑿</m:t>
                        </m:r>
                        <m:r>
                          <a:rPr lang="en-US" b="1" i="1" smtClean="0">
                            <a:latin typeface="Cambria Math" panose="02040503050406030204" pitchFamily="18" charset="0"/>
                          </a:rPr>
                          <m:t>=</m:t>
                        </m:r>
                        <m:r>
                          <a:rPr lang="en-US" b="1" i="1" smtClean="0">
                            <a:latin typeface="Cambria Math" panose="02040503050406030204" pitchFamily="18" charset="0"/>
                          </a:rPr>
                          <m:t>𝒓</m:t>
                        </m:r>
                      </m:e>
                    </m:d>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𝒏</m:t>
                        </m:r>
                      </m:e>
                      <m:sub>
                        <m:sSub>
                          <m:sSubPr>
                            <m:ctrlPr>
                              <a:rPr lang="en-US" b="1" i="1" smtClean="0">
                                <a:latin typeface="Cambria Math" panose="02040503050406030204" pitchFamily="18" charset="0"/>
                              </a:rPr>
                            </m:ctrlPr>
                          </m:sSubPr>
                          <m:e>
                            <m:r>
                              <a:rPr lang="en-US" b="1" i="1" smtClean="0">
                                <a:latin typeface="Cambria Math" panose="02040503050406030204" pitchFamily="18" charset="0"/>
                              </a:rPr>
                              <m:t>𝒄</m:t>
                            </m:r>
                          </m:e>
                          <m:sub>
                            <m:r>
                              <a:rPr lang="en-US" b="1" i="1" smtClean="0">
                                <a:latin typeface="Cambria Math" panose="02040503050406030204" pitchFamily="18" charset="0"/>
                              </a:rPr>
                              <m:t>𝒓</m:t>
                            </m:r>
                          </m:sub>
                        </m:sSub>
                      </m:sub>
                    </m:sSub>
                    <m:r>
                      <a:rPr lang="en-US" b="1" i="1" smtClean="0">
                        <a:latin typeface="Cambria Math" panose="02040503050406030204" pitchFamily="18" charset="0"/>
                      </a:rPr>
                      <m:t> </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𝒑</m:t>
                        </m:r>
                      </m:e>
                      <m:sup>
                        <m:r>
                          <a:rPr lang="en-US" b="1" i="1" smtClean="0">
                            <a:latin typeface="Cambria Math" panose="02040503050406030204" pitchFamily="18" charset="0"/>
                          </a:rPr>
                          <m:t>𝒓</m:t>
                        </m:r>
                      </m:sup>
                    </m:sSup>
                    <m:r>
                      <a:rPr lang="en-US" b="1" i="1" smtClean="0">
                        <a:latin typeface="Cambria Math" panose="02040503050406030204" pitchFamily="18" charset="0"/>
                      </a:rPr>
                      <m:t> </m:t>
                    </m:r>
                    <m:sSup>
                      <m:sSupPr>
                        <m:ctrlPr>
                          <a:rPr lang="en-US" b="1" i="1" smtClean="0">
                            <a:latin typeface="Cambria Math" panose="02040503050406030204" pitchFamily="18" charset="0"/>
                          </a:rPr>
                        </m:ctrlPr>
                      </m:sSupPr>
                      <m:e>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e>
                      <m:sup>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𝒓</m:t>
                        </m:r>
                      </m:sup>
                    </m:sSup>
                  </m:oMath>
                </a14:m>
                <a:endParaRPr lang="en-US" dirty="0"/>
              </a:p>
              <a:p>
                <a:r>
                  <a:rPr lang="en-US" dirty="0"/>
                  <a:t>      Mean = np</a:t>
                </a:r>
              </a:p>
              <a:p>
                <a:r>
                  <a:rPr lang="en-US" dirty="0"/>
                  <a:t>      Variance = np(1-p)</a:t>
                </a:r>
              </a:p>
              <a:p>
                <a:endParaRPr lang="en-US" dirty="0"/>
              </a:p>
              <a:p>
                <a:r>
                  <a:rPr lang="en-US" dirty="0"/>
                  <a:t> </a:t>
                </a:r>
                <a:r>
                  <a:rPr lang="en-US" b="1" dirty="0"/>
                  <a:t>Example: </a:t>
                </a:r>
                <a:r>
                  <a:rPr lang="en-US" dirty="0"/>
                  <a:t>10 dice are thrown. What is the probability of getting exactly 2 sixes</a:t>
                </a:r>
              </a:p>
              <a:p>
                <a:r>
                  <a:rPr lang="en-US" dirty="0"/>
                  <a:t>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=2</m:t>
                        </m:r>
                      </m:e>
                    </m:d>
                    <m:r>
                      <a:rPr lang="en-US" b="0" i="1" smtClean="0">
                        <a:latin typeface="Cambria Math" panose="02040503050406030204" pitchFamily="18" charset="0"/>
                      </a:rPr>
                      <m:t>=</m:t>
                    </m:r>
                    <m:sSub>
                      <m:sSubPr>
                        <m:ctrlPr>
                          <a:rPr lang="en-US" b="1" i="1">
                            <a:latin typeface="Cambria Math" panose="02040503050406030204" pitchFamily="18" charset="0"/>
                          </a:rPr>
                        </m:ctrlPr>
                      </m:sSubPr>
                      <m:e>
                        <m:r>
                          <a:rPr lang="en-US" b="1" i="1" smtClean="0">
                            <a:latin typeface="Cambria Math" panose="02040503050406030204" pitchFamily="18" charset="0"/>
                          </a:rPr>
                          <m:t>𝟏𝟎</m:t>
                        </m:r>
                      </m:e>
                      <m:sub>
                        <m:sSub>
                          <m:sSubPr>
                            <m:ctrlPr>
                              <a:rPr lang="en-US" b="1" i="1">
                                <a:latin typeface="Cambria Math" panose="02040503050406030204" pitchFamily="18" charset="0"/>
                              </a:rPr>
                            </m:ctrlPr>
                          </m:sSubPr>
                          <m:e>
                            <m:r>
                              <a:rPr lang="en-US" b="1" i="1">
                                <a:latin typeface="Cambria Math" panose="02040503050406030204" pitchFamily="18" charset="0"/>
                              </a:rPr>
                              <m:t>𝒄</m:t>
                            </m:r>
                          </m:e>
                          <m:sub>
                            <m:r>
                              <a:rPr lang="en-US" b="1" i="1" smtClean="0">
                                <a:latin typeface="Cambria Math" panose="02040503050406030204" pitchFamily="18" charset="0"/>
                              </a:rPr>
                              <m:t>𝟐</m:t>
                            </m:r>
                          </m:sub>
                        </m:sSub>
                      </m:sub>
                    </m:sSub>
                    <m:r>
                      <a:rPr lang="en-US" b="1" i="1">
                        <a:latin typeface="Cambria Math" panose="02040503050406030204" pitchFamily="18" charset="0"/>
                      </a:rPr>
                      <m:t> </m:t>
                    </m:r>
                    <m:sSup>
                      <m:sSupPr>
                        <m:ctrlPr>
                          <a:rPr lang="en-US" b="1" i="1">
                            <a:latin typeface="Cambria Math" panose="02040503050406030204" pitchFamily="18" charset="0"/>
                          </a:rPr>
                        </m:ctrlPr>
                      </m:sSupPr>
                      <m:e>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𝟔</m:t>
                        </m:r>
                        <m:r>
                          <a:rPr lang="en-US" b="1" i="1" smtClean="0">
                            <a:latin typeface="Cambria Math" panose="02040503050406030204" pitchFamily="18" charset="0"/>
                          </a:rPr>
                          <m:t>)</m:t>
                        </m:r>
                      </m:e>
                      <m:sup>
                        <m:r>
                          <a:rPr lang="en-US" b="1" i="1" smtClean="0">
                            <a:latin typeface="Cambria Math" panose="02040503050406030204" pitchFamily="18" charset="0"/>
                          </a:rPr>
                          <m:t>𝟐</m:t>
                        </m:r>
                      </m:sup>
                    </m:sSup>
                    <m:r>
                      <a:rPr lang="en-US" b="1" i="1">
                        <a:latin typeface="Cambria Math" panose="02040503050406030204" pitchFamily="18" charset="0"/>
                      </a:rPr>
                      <m:t> </m:t>
                    </m:r>
                    <m:sSup>
                      <m:sSupPr>
                        <m:ctrlPr>
                          <a:rPr lang="en-US" b="1" i="1">
                            <a:latin typeface="Cambria Math" panose="02040503050406030204" pitchFamily="18" charset="0"/>
                          </a:rPr>
                        </m:ctrlPr>
                      </m:sSupPr>
                      <m:e>
                        <m:r>
                          <a:rPr lang="en-US" b="1" i="1">
                            <a:latin typeface="Cambria Math" panose="02040503050406030204" pitchFamily="18" charset="0"/>
                          </a:rPr>
                          <m:t>(</m:t>
                        </m:r>
                        <m:r>
                          <a:rPr lang="en-US" b="1" i="1">
                            <a:latin typeface="Cambria Math" panose="02040503050406030204" pitchFamily="18" charset="0"/>
                          </a:rPr>
                          <m:t>𝟏</m:t>
                        </m:r>
                        <m:r>
                          <a:rPr lang="en-US" b="1" i="1">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𝟔</m:t>
                        </m:r>
                        <m:r>
                          <a:rPr lang="en-US" b="1" i="1">
                            <a:latin typeface="Cambria Math" panose="02040503050406030204" pitchFamily="18" charset="0"/>
                          </a:rPr>
                          <m:t>)</m:t>
                        </m:r>
                      </m:e>
                      <m:sup>
                        <m:r>
                          <a:rPr lang="en-US" b="1" i="1" smtClean="0">
                            <a:latin typeface="Cambria Math" panose="02040503050406030204" pitchFamily="18" charset="0"/>
                          </a:rPr>
                          <m:t>𝟖</m:t>
                        </m:r>
                      </m:sup>
                    </m:sSup>
                  </m:oMath>
                </a14:m>
                <a:r>
                  <a:rPr lang="en-US" dirty="0"/>
                  <a:t> = 0.2907</a:t>
                </a:r>
              </a:p>
              <a:p>
                <a:endParaRPr lang="en-US" b="1" dirty="0"/>
              </a:p>
              <a:p>
                <a:endParaRPr lang="en-US" dirty="0"/>
              </a:p>
              <a:p>
                <a:endParaRPr lang="en-US" dirty="0"/>
              </a:p>
              <a:p>
                <a:r>
                  <a:rPr lang="en-US" dirty="0"/>
                  <a:t>		</a:t>
                </a:r>
              </a:p>
              <a:p>
                <a:pPr marL="285750" indent="-285750">
                  <a:buFontTx/>
                  <a:buChar char="-"/>
                </a:pPr>
                <a:endParaRPr lang="en-US" dirty="0"/>
              </a:p>
            </p:txBody>
          </p:sp>
        </mc:Choice>
        <mc:Fallback xmlns="">
          <p:sp>
            <p:nvSpPr>
              <p:cNvPr id="6" name="TextBox 5">
                <a:extLst>
                  <a:ext uri="{FF2B5EF4-FFF2-40B4-BE49-F238E27FC236}">
                    <a16:creationId xmlns:a16="http://schemas.microsoft.com/office/drawing/2014/main" id="{8A8150CB-4AD0-A607-A206-34248FE96DE4}"/>
                  </a:ext>
                </a:extLst>
              </p:cNvPr>
              <p:cNvSpPr txBox="1">
                <a:spLocks noRot="1" noChangeAspect="1" noMove="1" noResize="1" noEditPoints="1" noAdjustHandles="1" noChangeArrowheads="1" noChangeShapeType="1" noTextEdit="1"/>
              </p:cNvSpPr>
              <p:nvPr/>
            </p:nvSpPr>
            <p:spPr>
              <a:xfrm>
                <a:off x="1245140" y="1381328"/>
                <a:ext cx="8667345" cy="5138458"/>
              </a:xfrm>
              <a:prstGeom prst="rect">
                <a:avLst/>
              </a:prstGeom>
              <a:blipFill>
                <a:blip r:embed="rId2"/>
                <a:stretch>
                  <a:fillRect l="-563" t="-712"/>
                </a:stretch>
              </a:blipFill>
            </p:spPr>
            <p:txBody>
              <a:bodyPr/>
              <a:lstStyle/>
              <a:p>
                <a:r>
                  <a:rPr lang="en-IN">
                    <a:noFill/>
                  </a:rPr>
                  <a:t> </a:t>
                </a:r>
              </a:p>
            </p:txBody>
          </p:sp>
        </mc:Fallback>
      </mc:AlternateContent>
      <p:pic>
        <p:nvPicPr>
          <p:cNvPr id="3" name="Picture 2" descr="KL University - Wikipedia">
            <a:extLst>
              <a:ext uri="{FF2B5EF4-FFF2-40B4-BE49-F238E27FC236}">
                <a16:creationId xmlns:a16="http://schemas.microsoft.com/office/drawing/2014/main" id="{8C9ED272-B7D1-529B-0348-7C3F39FBE7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143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044F4-5FE1-C3CF-1C18-6A54EFD2CFA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05C2B4-0FE3-1DA6-28B3-4D79332DFDE7}"/>
              </a:ext>
            </a:extLst>
          </p:cNvPr>
          <p:cNvSpPr>
            <a:spLocks noGrp="1"/>
          </p:cNvSpPr>
          <p:nvPr>
            <p:ph type="sldNum" sz="quarter" idx="12"/>
          </p:nvPr>
        </p:nvSpPr>
        <p:spPr/>
        <p:txBody>
          <a:bodyPr/>
          <a:lstStyle/>
          <a:p>
            <a:fld id="{CBABCCC1-BF11-4F37-963E-1BCD5B23FD72}" type="slidenum">
              <a:rPr lang="en-IN" smtClean="0"/>
              <a:pPr/>
              <a:t>10</a:t>
            </a:fld>
            <a:endParaRPr lang="en-IN"/>
          </a:p>
        </p:txBody>
      </p:sp>
      <p:sp>
        <p:nvSpPr>
          <p:cNvPr id="5" name="Rounded Rectangle 17">
            <a:extLst>
              <a:ext uri="{FF2B5EF4-FFF2-40B4-BE49-F238E27FC236}">
                <a16:creationId xmlns:a16="http://schemas.microsoft.com/office/drawing/2014/main" id="{CE217672-6EE0-3282-93D1-B163A5A1A571}"/>
              </a:ext>
            </a:extLst>
          </p:cNvPr>
          <p:cNvSpPr/>
          <p:nvPr/>
        </p:nvSpPr>
        <p:spPr>
          <a:xfrm>
            <a:off x="2300665" y="3743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a:p>
            <a:pPr algn="ctr"/>
            <a:r>
              <a:rPr lang="en-IN" sz="2400" dirty="0"/>
              <a:t>4. Hypergeometric Distribution</a:t>
            </a:r>
          </a:p>
          <a:p>
            <a:pPr algn="ctr"/>
            <a:endParaRPr lang="en-US"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F9E88C4-54A9-BB43-47CE-4B72096F00BC}"/>
                  </a:ext>
                </a:extLst>
              </p:cNvPr>
              <p:cNvSpPr txBox="1">
                <a:spLocks/>
              </p:cNvSpPr>
              <p:nvPr/>
            </p:nvSpPr>
            <p:spPr>
              <a:xfrm>
                <a:off x="1245140" y="1381328"/>
                <a:ext cx="8667345" cy="6034985"/>
              </a:xfrm>
              <a:prstGeom prst="rect">
                <a:avLst/>
              </a:prstGeom>
              <a:noFill/>
            </p:spPr>
            <p:txBody>
              <a:bodyPr wrap="square">
                <a:spAutoFit/>
              </a:bodyPr>
              <a:lstStyle/>
              <a:p>
                <a:r>
                  <a:rPr lang="en-US" b="1" dirty="0"/>
                  <a:t> Definition: </a:t>
                </a:r>
                <a:r>
                  <a:rPr lang="en-US" dirty="0"/>
                  <a:t>If the probability changes from trail to trail, one of the assumptions of binomial distribution gets violated and hence binomial distribution cannot be used.</a:t>
                </a:r>
              </a:p>
              <a:p>
                <a:r>
                  <a:rPr lang="en-US" dirty="0"/>
                  <a:t>In such cases hypergeometric distribution is used. This is particularly used in cases of sampling </a:t>
                </a:r>
                <a:r>
                  <a:rPr lang="en-US" dirty="0">
                    <a:highlight>
                      <a:srgbClr val="FFFF00"/>
                    </a:highlight>
                  </a:rPr>
                  <a:t>without replacement </a:t>
                </a:r>
                <a:r>
                  <a:rPr lang="en-US" dirty="0"/>
                  <a:t>from a finite population.</a:t>
                </a:r>
              </a:p>
              <a:p>
                <a:endParaRPr lang="en-US" dirty="0"/>
              </a:p>
              <a:p>
                <a:r>
                  <a:rPr lang="en-US" dirty="0"/>
                  <a:t> </a:t>
                </a:r>
                <a:r>
                  <a:rPr lang="en-US" b="1" dirty="0"/>
                  <a:t>PMF: </a:t>
                </a:r>
                <a14:m>
                  <m:oMath xmlns:m="http://schemas.openxmlformats.org/officeDocument/2006/math">
                    <m:r>
                      <a:rPr lang="en-US" b="1" i="1" smtClean="0">
                        <a:latin typeface="Cambria Math" panose="02040503050406030204" pitchFamily="18" charset="0"/>
                      </a:rPr>
                      <m:t>𝒑</m:t>
                    </m:r>
                    <m:d>
                      <m:dPr>
                        <m:ctrlPr>
                          <a:rPr lang="en-US" b="1" i="1" smtClean="0">
                            <a:latin typeface="Cambria Math" panose="02040503050406030204" pitchFamily="18" charset="0"/>
                          </a:rPr>
                        </m:ctrlPr>
                      </m:dPr>
                      <m:e>
                        <m:r>
                          <a:rPr lang="en-US" b="1" i="1" smtClean="0">
                            <a:latin typeface="Cambria Math" panose="02040503050406030204" pitchFamily="18" charset="0"/>
                          </a:rPr>
                          <m:t>𝑿</m:t>
                        </m:r>
                        <m:r>
                          <a:rPr lang="en-US" b="1" i="1" smtClean="0">
                            <a:latin typeface="Cambria Math" panose="02040503050406030204" pitchFamily="18" charset="0"/>
                          </a:rPr>
                          <m:t>=</m:t>
                        </m:r>
                        <m:r>
                          <a:rPr lang="en-US" b="1" i="1" smtClean="0">
                            <a:latin typeface="Cambria Math" panose="02040503050406030204" pitchFamily="18" charset="0"/>
                          </a:rPr>
                          <m:t>𝒙</m:t>
                        </m:r>
                      </m:e>
                    </m:d>
                    <m:r>
                      <a:rPr lang="en-US" b="1" i="1" smtClean="0">
                        <a:latin typeface="Cambria Math" panose="02040503050406030204" pitchFamily="18" charset="0"/>
                      </a:rPr>
                      <m:t>=</m:t>
                    </m:r>
                  </m:oMath>
                </a14:m>
                <a:r>
                  <a:rPr lang="en-US" dirty="0"/>
                  <a:t> </a:t>
                </a:r>
                <a14:m>
                  <m:oMath xmlns:m="http://schemas.openxmlformats.org/officeDocument/2006/math">
                    <m:f>
                      <m:fPr>
                        <m:ctrlPr>
                          <a:rPr lang="en-US" i="1" dirty="0" smtClean="0">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𝒓</m:t>
                            </m:r>
                          </m:e>
                          <m:sub>
                            <m:sSub>
                              <m:sSubPr>
                                <m:ctrlPr>
                                  <a:rPr lang="en-US" b="1" i="1">
                                    <a:latin typeface="Cambria Math" panose="02040503050406030204" pitchFamily="18" charset="0"/>
                                  </a:rPr>
                                </m:ctrlPr>
                              </m:sSubPr>
                              <m:e>
                                <m:r>
                                  <a:rPr lang="en-US" b="1" i="1">
                                    <a:latin typeface="Cambria Math" panose="02040503050406030204" pitchFamily="18" charset="0"/>
                                  </a:rPr>
                                  <m:t>𝑪</m:t>
                                </m:r>
                              </m:e>
                              <m:sub>
                                <m:r>
                                  <a:rPr lang="en-US" b="1" i="1">
                                    <a:latin typeface="Cambria Math" panose="02040503050406030204" pitchFamily="18" charset="0"/>
                                  </a:rPr>
                                  <m:t>𝒙</m:t>
                                </m:r>
                              </m:sub>
                            </m:sSub>
                          </m:sub>
                        </m:sSub>
                        <m:r>
                          <a:rPr lang="en-US" b="1" i="1">
                            <a:latin typeface="Cambria Math" panose="02040503050406030204" pitchFamily="18" charset="0"/>
                          </a:rPr>
                          <m:t> ∗ </m:t>
                        </m:r>
                        <m:sSub>
                          <m:sSubPr>
                            <m:ctrlPr>
                              <a:rPr lang="en-US" b="1" i="1">
                                <a:latin typeface="Cambria Math" panose="02040503050406030204" pitchFamily="18" charset="0"/>
                              </a:rPr>
                            </m:ctrlPr>
                          </m:sSubPr>
                          <m:e>
                            <m:r>
                              <a:rPr lang="en-US" b="1" i="1">
                                <a:latin typeface="Cambria Math" panose="02040503050406030204" pitchFamily="18" charset="0"/>
                              </a:rPr>
                              <m:t>𝑵</m:t>
                            </m:r>
                            <m:r>
                              <a:rPr lang="en-US" b="1" i="1">
                                <a:latin typeface="Cambria Math" panose="02040503050406030204" pitchFamily="18" charset="0"/>
                              </a:rPr>
                              <m:t>−</m:t>
                            </m:r>
                            <m:r>
                              <a:rPr lang="en-US" b="1" i="1">
                                <a:latin typeface="Cambria Math" panose="02040503050406030204" pitchFamily="18" charset="0"/>
                              </a:rPr>
                              <m:t>𝒓</m:t>
                            </m:r>
                          </m:e>
                          <m:sub>
                            <m:sSub>
                              <m:sSubPr>
                                <m:ctrlPr>
                                  <a:rPr lang="en-US" b="1" i="1">
                                    <a:latin typeface="Cambria Math" panose="02040503050406030204" pitchFamily="18" charset="0"/>
                                  </a:rPr>
                                </m:ctrlPr>
                              </m:sSubPr>
                              <m:e>
                                <m:r>
                                  <a:rPr lang="en-US" b="1" i="1">
                                    <a:latin typeface="Cambria Math" panose="02040503050406030204" pitchFamily="18" charset="0"/>
                                  </a:rPr>
                                  <m:t>𝑪</m:t>
                                </m:r>
                              </m:e>
                              <m:sub>
                                <m:r>
                                  <a:rPr lang="en-US" b="1" i="1">
                                    <a:latin typeface="Cambria Math" panose="02040503050406030204" pitchFamily="18" charset="0"/>
                                  </a:rPr>
                                  <m:t>𝒏</m:t>
                                </m:r>
                                <m:r>
                                  <a:rPr lang="en-US" b="1" i="1">
                                    <a:latin typeface="Cambria Math" panose="02040503050406030204" pitchFamily="18" charset="0"/>
                                  </a:rPr>
                                  <m:t>−</m:t>
                                </m:r>
                                <m:r>
                                  <a:rPr lang="en-US" b="1" i="1">
                                    <a:latin typeface="Cambria Math" panose="02040503050406030204" pitchFamily="18" charset="0"/>
                                  </a:rPr>
                                  <m:t>𝒙</m:t>
                                </m:r>
                              </m:sub>
                            </m:sSub>
                          </m:sub>
                        </m:sSub>
                      </m:num>
                      <m:den>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𝑁</m:t>
                            </m:r>
                          </m:e>
                          <m:sub>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𝐶</m:t>
                                </m:r>
                              </m:e>
                              <m:sub>
                                <m:r>
                                  <a:rPr lang="en-US" b="0" i="1" dirty="0" smtClean="0">
                                    <a:latin typeface="Cambria Math" panose="02040503050406030204" pitchFamily="18" charset="0"/>
                                  </a:rPr>
                                  <m:t>𝑛</m:t>
                                </m:r>
                              </m:sub>
                            </m:sSub>
                          </m:sub>
                        </m:sSub>
                      </m:den>
                    </m:f>
                  </m:oMath>
                </a14:m>
                <a:r>
                  <a:rPr lang="en-US" dirty="0"/>
                  <a:t>		    N = 10</a:t>
                </a:r>
              </a:p>
              <a:p>
                <a:r>
                  <a:rPr lang="en-US" dirty="0"/>
                  <a:t> </a:t>
                </a:r>
                <a14:m>
                  <m:oMath xmlns:m="http://schemas.openxmlformats.org/officeDocument/2006/math">
                    <m:r>
                      <a:rPr lang="en-US" b="0" i="0" smtClean="0">
                        <a:latin typeface="Cambria Math" panose="02040503050406030204" pitchFamily="18" charset="0"/>
                      </a:rPr>
                      <m:t>            </m:t>
                    </m:r>
                    <m:r>
                      <a:rPr lang="en-US" b="1" i="1">
                        <a:latin typeface="Cambria Math" panose="02040503050406030204" pitchFamily="18" charset="0"/>
                      </a:rPr>
                      <m:t>𝒑</m:t>
                    </m:r>
                    <m:d>
                      <m:dPr>
                        <m:ctrlPr>
                          <a:rPr lang="en-US" b="1" i="1">
                            <a:latin typeface="Cambria Math" panose="02040503050406030204" pitchFamily="18" charset="0"/>
                          </a:rPr>
                        </m:ctrlPr>
                      </m:dPr>
                      <m:e>
                        <m:r>
                          <a:rPr lang="en-US" b="1" i="1">
                            <a:latin typeface="Cambria Math" panose="02040503050406030204" pitchFamily="18" charset="0"/>
                          </a:rPr>
                          <m:t>𝑿</m:t>
                        </m:r>
                        <m:r>
                          <a:rPr lang="en-US" b="1" i="1">
                            <a:latin typeface="Cambria Math" panose="02040503050406030204" pitchFamily="18" charset="0"/>
                          </a:rPr>
                          <m:t>=</m:t>
                        </m:r>
                        <m:r>
                          <a:rPr lang="en-US" b="1" i="1" smtClean="0">
                            <a:latin typeface="Cambria Math" panose="02040503050406030204" pitchFamily="18" charset="0"/>
                          </a:rPr>
                          <m:t>𝟏</m:t>
                        </m:r>
                      </m:e>
                    </m:d>
                  </m:oMath>
                </a14:m>
                <a:r>
                  <a:rPr lang="en-US" dirty="0"/>
                  <a:t> = </a:t>
                </a:r>
                <a14:m>
                  <m:oMath xmlns:m="http://schemas.openxmlformats.org/officeDocument/2006/math">
                    <m:f>
                      <m:fPr>
                        <m:ctrlPr>
                          <a:rPr lang="en-US" i="1" dirty="0">
                            <a:latin typeface="Cambria Math" panose="02040503050406030204" pitchFamily="18" charset="0"/>
                          </a:rPr>
                        </m:ctrlPr>
                      </m:fPr>
                      <m:num>
                        <m:sSub>
                          <m:sSubPr>
                            <m:ctrlPr>
                              <a:rPr lang="en-US" b="1" i="1">
                                <a:latin typeface="Cambria Math" panose="02040503050406030204" pitchFamily="18" charset="0"/>
                              </a:rPr>
                            </m:ctrlPr>
                          </m:sSubPr>
                          <m:e>
                            <m:r>
                              <a:rPr lang="en-US" b="1" i="1" smtClean="0">
                                <a:latin typeface="Cambria Math" panose="02040503050406030204" pitchFamily="18" charset="0"/>
                              </a:rPr>
                              <m:t>𝟔</m:t>
                            </m:r>
                          </m:e>
                          <m:sub>
                            <m:sSub>
                              <m:sSubPr>
                                <m:ctrlPr>
                                  <a:rPr lang="en-US" b="1" i="1" smtClean="0">
                                    <a:latin typeface="Cambria Math" panose="02040503050406030204" pitchFamily="18" charset="0"/>
                                  </a:rPr>
                                </m:ctrlPr>
                              </m:sSubPr>
                              <m:e>
                                <m:r>
                                  <a:rPr lang="en-US" b="1" i="1">
                                    <a:latin typeface="Cambria Math" panose="02040503050406030204" pitchFamily="18" charset="0"/>
                                  </a:rPr>
                                  <m:t>𝑪</m:t>
                                </m:r>
                              </m:e>
                              <m:sub>
                                <m:r>
                                  <a:rPr lang="en-US" b="1" i="1" smtClean="0">
                                    <a:latin typeface="Cambria Math" panose="02040503050406030204" pitchFamily="18" charset="0"/>
                                  </a:rPr>
                                  <m:t>𝟏</m:t>
                                </m:r>
                              </m:sub>
                            </m:sSub>
                          </m:sub>
                        </m:sSub>
                        <m:r>
                          <a:rPr lang="en-US" b="1" i="1">
                            <a:latin typeface="Cambria Math" panose="02040503050406030204" pitchFamily="18" charset="0"/>
                          </a:rPr>
                          <m:t> ∗ </m:t>
                        </m:r>
                        <m:sSub>
                          <m:sSubPr>
                            <m:ctrlPr>
                              <a:rPr lang="en-US" b="1" i="1">
                                <a:latin typeface="Cambria Math" panose="02040503050406030204" pitchFamily="18" charset="0"/>
                              </a:rPr>
                            </m:ctrlPr>
                          </m:sSubPr>
                          <m:e>
                            <m:r>
                              <a:rPr lang="en-US" b="1" i="1" smtClean="0">
                                <a:latin typeface="Cambria Math" panose="02040503050406030204" pitchFamily="18" charset="0"/>
                              </a:rPr>
                              <m:t>𝟒</m:t>
                            </m:r>
                          </m:e>
                          <m:sub>
                            <m:sSub>
                              <m:sSubPr>
                                <m:ctrlPr>
                                  <a:rPr lang="en-US" b="1" i="1">
                                    <a:latin typeface="Cambria Math" panose="02040503050406030204" pitchFamily="18" charset="0"/>
                                  </a:rPr>
                                </m:ctrlPr>
                              </m:sSubPr>
                              <m:e>
                                <m:r>
                                  <a:rPr lang="en-US" b="1" i="1">
                                    <a:latin typeface="Cambria Math" panose="02040503050406030204" pitchFamily="18" charset="0"/>
                                  </a:rPr>
                                  <m:t>𝑪</m:t>
                                </m:r>
                              </m:e>
                              <m:sub>
                                <m:r>
                                  <a:rPr lang="en-US" b="1" i="1" smtClean="0">
                                    <a:latin typeface="Cambria Math" panose="02040503050406030204" pitchFamily="18" charset="0"/>
                                  </a:rPr>
                                  <m:t>𝟐</m:t>
                                </m:r>
                              </m:sub>
                            </m:sSub>
                          </m:sub>
                        </m:sSub>
                      </m:num>
                      <m:den>
                        <m:sSub>
                          <m:sSubPr>
                            <m:ctrlPr>
                              <a:rPr lang="en-US" i="1" dirty="0">
                                <a:latin typeface="Cambria Math" panose="02040503050406030204" pitchFamily="18" charset="0"/>
                              </a:rPr>
                            </m:ctrlPr>
                          </m:sSubPr>
                          <m:e>
                            <m:r>
                              <a:rPr lang="en-US" b="0" i="1" dirty="0" smtClean="0">
                                <a:latin typeface="Cambria Math" panose="02040503050406030204" pitchFamily="18" charset="0"/>
                              </a:rPr>
                              <m:t>10</m:t>
                            </m:r>
                          </m:e>
                          <m:sub>
                            <m:sSub>
                              <m:sSubPr>
                                <m:ctrlPr>
                                  <a:rPr lang="en-US" i="1" dirty="0">
                                    <a:latin typeface="Cambria Math" panose="02040503050406030204" pitchFamily="18" charset="0"/>
                                  </a:rPr>
                                </m:ctrlPr>
                              </m:sSubPr>
                              <m:e>
                                <m:r>
                                  <a:rPr lang="en-US" i="1" dirty="0">
                                    <a:latin typeface="Cambria Math" panose="02040503050406030204" pitchFamily="18" charset="0"/>
                                  </a:rPr>
                                  <m:t>𝐶</m:t>
                                </m:r>
                              </m:e>
                              <m:sub>
                                <m:r>
                                  <a:rPr lang="en-US" b="0" i="1" dirty="0" smtClean="0">
                                    <a:latin typeface="Cambria Math" panose="02040503050406030204" pitchFamily="18" charset="0"/>
                                  </a:rPr>
                                  <m:t>3</m:t>
                                </m:r>
                              </m:sub>
                            </m:sSub>
                          </m:sub>
                        </m:sSub>
                      </m:den>
                    </m:f>
                  </m:oMath>
                </a14:m>
                <a:r>
                  <a:rPr lang="en-US" dirty="0"/>
                  <a:t> = 0.3	</a:t>
                </a:r>
              </a:p>
              <a:p>
                <a:r>
                  <a:rPr lang="en-US" dirty="0"/>
                  <a:t>							r= 6 D		 N-r = 4 ND</a:t>
                </a:r>
              </a:p>
              <a:p>
                <a:endParaRPr lang="en-US" dirty="0"/>
              </a:p>
              <a:p>
                <a:r>
                  <a:rPr lang="en-US" dirty="0"/>
                  <a:t>								     n=3</a:t>
                </a:r>
              </a:p>
              <a:p>
                <a:r>
                  <a:rPr lang="en-US" dirty="0"/>
                  <a:t>						</a:t>
                </a:r>
              </a:p>
              <a:p>
                <a:r>
                  <a:rPr lang="en-US" dirty="0"/>
                  <a:t>							x=1D	 n-x = 2 ND</a:t>
                </a:r>
              </a:p>
              <a:p>
                <a:r>
                  <a:rPr lang="en-US" b="1" dirty="0"/>
                  <a:t>Example: </a:t>
                </a:r>
              </a:p>
              <a:p>
                <a:pPr algn="just"/>
                <a:r>
                  <a:rPr lang="en-US" dirty="0"/>
                  <a:t>There are 10 markers on a table, of which 6 are defective and 4 are not defective. If 3 are randomly taken from above lot, what is the probability that exactly 1 of markers is defective.</a:t>
                </a:r>
              </a:p>
              <a:p>
                <a:endParaRPr lang="en-US" dirty="0"/>
              </a:p>
              <a:p>
                <a:endParaRPr lang="en-US" dirty="0"/>
              </a:p>
              <a:p>
                <a:r>
                  <a:rPr lang="en-US" dirty="0"/>
                  <a:t>		</a:t>
                </a:r>
              </a:p>
              <a:p>
                <a:pPr marL="285750" indent="-285750">
                  <a:buFontTx/>
                  <a:buChar char="-"/>
                </a:pPr>
                <a:endParaRPr lang="en-US" dirty="0"/>
              </a:p>
            </p:txBody>
          </p:sp>
        </mc:Choice>
        <mc:Fallback xmlns="">
          <p:sp>
            <p:nvSpPr>
              <p:cNvPr id="6" name="TextBox 5">
                <a:extLst>
                  <a:ext uri="{FF2B5EF4-FFF2-40B4-BE49-F238E27FC236}">
                    <a16:creationId xmlns:a16="http://schemas.microsoft.com/office/drawing/2014/main" id="{3F9E88C4-54A9-BB43-47CE-4B72096F00BC}"/>
                  </a:ext>
                </a:extLst>
              </p:cNvPr>
              <p:cNvSpPr txBox="1">
                <a:spLocks noRot="1" noChangeAspect="1" noMove="1" noResize="1" noEditPoints="1" noAdjustHandles="1" noChangeArrowheads="1" noChangeShapeType="1" noTextEdit="1"/>
              </p:cNvSpPr>
              <p:nvPr/>
            </p:nvSpPr>
            <p:spPr>
              <a:xfrm>
                <a:off x="1245140" y="1381328"/>
                <a:ext cx="8667345" cy="6034985"/>
              </a:xfrm>
              <a:prstGeom prst="rect">
                <a:avLst/>
              </a:prstGeom>
              <a:blipFill>
                <a:blip r:embed="rId2"/>
                <a:stretch>
                  <a:fillRect l="-563" t="-606" r="-633"/>
                </a:stretch>
              </a:blipFill>
            </p:spPr>
            <p:txBody>
              <a:bodyPr/>
              <a:lstStyle/>
              <a:p>
                <a:r>
                  <a:rPr lang="en-IN">
                    <a:noFill/>
                  </a:rPr>
                  <a:t> </a:t>
                </a:r>
              </a:p>
            </p:txBody>
          </p:sp>
        </mc:Fallback>
      </mc:AlternateContent>
      <p:cxnSp>
        <p:nvCxnSpPr>
          <p:cNvPr id="8" name="Straight Connector 7">
            <a:extLst>
              <a:ext uri="{FF2B5EF4-FFF2-40B4-BE49-F238E27FC236}">
                <a16:creationId xmlns:a16="http://schemas.microsoft.com/office/drawing/2014/main" id="{B01280AC-597F-C003-6D48-6E10AC8B69DD}"/>
              </a:ext>
            </a:extLst>
          </p:cNvPr>
          <p:cNvCxnSpPr>
            <a:cxnSpLocks/>
          </p:cNvCxnSpPr>
          <p:nvPr/>
        </p:nvCxnSpPr>
        <p:spPr>
          <a:xfrm flipH="1">
            <a:off x="4815191" y="3122578"/>
            <a:ext cx="588524" cy="622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8D15305-7DCD-9C63-91BA-F5B30CF82923}"/>
              </a:ext>
            </a:extLst>
          </p:cNvPr>
          <p:cNvCxnSpPr>
            <a:cxnSpLocks/>
          </p:cNvCxnSpPr>
          <p:nvPr/>
        </p:nvCxnSpPr>
        <p:spPr>
          <a:xfrm>
            <a:off x="5690490" y="3122578"/>
            <a:ext cx="512323" cy="6128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9CB450E-8D80-00F2-C789-15FFD065B243}"/>
              </a:ext>
            </a:extLst>
          </p:cNvPr>
          <p:cNvCxnSpPr>
            <a:cxnSpLocks/>
          </p:cNvCxnSpPr>
          <p:nvPr/>
        </p:nvCxnSpPr>
        <p:spPr>
          <a:xfrm>
            <a:off x="5525311" y="3171217"/>
            <a:ext cx="0" cy="11478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E8B7BD8-A33D-2A32-F05C-5B623E49B6DD}"/>
              </a:ext>
            </a:extLst>
          </p:cNvPr>
          <p:cNvCxnSpPr>
            <a:cxnSpLocks/>
          </p:cNvCxnSpPr>
          <p:nvPr/>
        </p:nvCxnSpPr>
        <p:spPr>
          <a:xfrm flipH="1">
            <a:off x="4958674" y="4542817"/>
            <a:ext cx="301558" cy="3501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670D89D-9EC4-72C1-17D0-FEF55B0FD75A}"/>
              </a:ext>
            </a:extLst>
          </p:cNvPr>
          <p:cNvCxnSpPr>
            <a:cxnSpLocks/>
          </p:cNvCxnSpPr>
          <p:nvPr/>
        </p:nvCxnSpPr>
        <p:spPr>
          <a:xfrm>
            <a:off x="5690489" y="4542817"/>
            <a:ext cx="512324" cy="350196"/>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descr="KL University - Wikipedia">
            <a:extLst>
              <a:ext uri="{FF2B5EF4-FFF2-40B4-BE49-F238E27FC236}">
                <a16:creationId xmlns:a16="http://schemas.microsoft.com/office/drawing/2014/main" id="{1068B69A-E29A-FF14-3E62-E062AAA29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632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AF401-847E-6553-A417-B2E4AEA297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456C51-5935-2131-2F3F-AAF01A53048C}"/>
              </a:ext>
            </a:extLst>
          </p:cNvPr>
          <p:cNvSpPr>
            <a:spLocks noGrp="1"/>
          </p:cNvSpPr>
          <p:nvPr>
            <p:ph type="sldNum" sz="quarter" idx="12"/>
          </p:nvPr>
        </p:nvSpPr>
        <p:spPr/>
        <p:txBody>
          <a:bodyPr/>
          <a:lstStyle/>
          <a:p>
            <a:fld id="{CBABCCC1-BF11-4F37-963E-1BCD5B23FD72}" type="slidenum">
              <a:rPr lang="en-IN" smtClean="0"/>
              <a:pPr/>
              <a:t>11</a:t>
            </a:fld>
            <a:endParaRPr lang="en-IN"/>
          </a:p>
        </p:txBody>
      </p:sp>
      <p:sp>
        <p:nvSpPr>
          <p:cNvPr id="5" name="Rounded Rectangle 17">
            <a:extLst>
              <a:ext uri="{FF2B5EF4-FFF2-40B4-BE49-F238E27FC236}">
                <a16:creationId xmlns:a16="http://schemas.microsoft.com/office/drawing/2014/main" id="{DEA11CEC-89E8-DFDF-B402-4E7EFDE7F827}"/>
              </a:ext>
            </a:extLst>
          </p:cNvPr>
          <p:cNvSpPr/>
          <p:nvPr/>
        </p:nvSpPr>
        <p:spPr>
          <a:xfrm>
            <a:off x="2300665" y="3743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a:p>
            <a:pPr algn="ctr"/>
            <a:r>
              <a:rPr lang="en-IN" sz="2400" dirty="0"/>
              <a:t>5. Geometric Distribution</a:t>
            </a:r>
          </a:p>
          <a:p>
            <a:pPr algn="ctr"/>
            <a:endParaRPr lang="en-US"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FF1C9D5-2B97-4BBB-BC8A-EC70D1D252BA}"/>
                  </a:ext>
                </a:extLst>
              </p:cNvPr>
              <p:cNvSpPr txBox="1">
                <a:spLocks/>
              </p:cNvSpPr>
              <p:nvPr/>
            </p:nvSpPr>
            <p:spPr>
              <a:xfrm>
                <a:off x="1245140" y="972766"/>
                <a:ext cx="8920264" cy="6077626"/>
              </a:xfrm>
              <a:prstGeom prst="rect">
                <a:avLst/>
              </a:prstGeom>
              <a:noFill/>
            </p:spPr>
            <p:txBody>
              <a:bodyPr wrap="square">
                <a:spAutoFit/>
              </a:bodyPr>
              <a:lstStyle/>
              <a:p>
                <a:pPr algn="just"/>
                <a:r>
                  <a:rPr lang="en-US" b="1" dirty="0"/>
                  <a:t>Definition: </a:t>
                </a:r>
                <a:r>
                  <a:rPr lang="en-US" dirty="0"/>
                  <a:t>Consider repeated trials of a Bernoulli experiment with probability </a:t>
                </a:r>
                <a:r>
                  <a:rPr lang="en-US" b="1" dirty="0"/>
                  <a:t>p</a:t>
                </a:r>
                <a:r>
                  <a:rPr lang="en-US" dirty="0"/>
                  <a:t> of success and </a:t>
                </a:r>
                <a:r>
                  <a:rPr lang="en-US" b="1" dirty="0"/>
                  <a:t>q = 1-p  </a:t>
                </a:r>
                <a:r>
                  <a:rPr lang="en-US" dirty="0"/>
                  <a:t>of failure. Let </a:t>
                </a:r>
                <a:r>
                  <a:rPr lang="en-US" b="1" dirty="0"/>
                  <a:t>x</a:t>
                </a:r>
                <a:r>
                  <a:rPr lang="en-US" dirty="0"/>
                  <a:t> denote the number of times Bernoulli experiment must be repeated until finally obtaining a success. The distribution of random variable </a:t>
                </a:r>
                <a:r>
                  <a:rPr lang="en-US" b="1" dirty="0"/>
                  <a:t>x</a:t>
                </a:r>
                <a:r>
                  <a:rPr lang="en-US" dirty="0"/>
                  <a:t> is given as follows.</a:t>
                </a:r>
              </a:p>
              <a:p>
                <a:pPr algn="just"/>
                <a:endParaRPr lang="en-US" dirty="0"/>
              </a:p>
              <a:p>
                <a:pPr algn="just"/>
                <a:endParaRPr lang="en-US" dirty="0"/>
              </a:p>
              <a:p>
                <a:r>
                  <a:rPr lang="en-US" b="1" dirty="0"/>
                  <a:t> </a:t>
                </a:r>
              </a:p>
              <a:p>
                <a:endParaRPr lang="en-US" dirty="0"/>
              </a:p>
              <a:p>
                <a:r>
                  <a:rPr lang="en-US" dirty="0"/>
                  <a:t>The experiment will be repeated </a:t>
                </a:r>
                <a:r>
                  <a:rPr lang="en-US" b="1" dirty="0"/>
                  <a:t>k</a:t>
                </a:r>
                <a:r>
                  <a:rPr lang="en-US" dirty="0"/>
                  <a:t> times only in the case that there is a sequence of </a:t>
                </a:r>
                <a:r>
                  <a:rPr lang="en-US" b="1" dirty="0"/>
                  <a:t>k-1</a:t>
                </a:r>
                <a:r>
                  <a:rPr lang="en-US" dirty="0"/>
                  <a:t> failures followed by a success.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 </m:t>
                      </m:r>
                      <m:sSup>
                        <m:sSupPr>
                          <m:ctrlPr>
                            <a:rPr lang="en-IN" i="1">
                              <a:latin typeface="Cambria Math" panose="02040503050406030204" pitchFamily="18" charset="0"/>
                            </a:rPr>
                          </m:ctrlPr>
                        </m:sSupPr>
                        <m:e>
                          <m:r>
                            <a:rPr lang="en-US" i="1">
                              <a:latin typeface="Cambria Math" panose="02040503050406030204" pitchFamily="18" charset="0"/>
                            </a:rPr>
                            <m:t>𝑞</m:t>
                          </m:r>
                        </m:e>
                        <m:sup>
                          <m:r>
                            <a:rPr lang="en-US" b="0" i="1" smtClean="0">
                              <a:latin typeface="Cambria Math" panose="02040503050406030204" pitchFamily="18" charset="0"/>
                            </a:rPr>
                            <m:t>𝑘</m:t>
                          </m:r>
                          <m:r>
                            <a:rPr lang="en-US" b="0" i="1" smtClean="0">
                              <a:latin typeface="Cambria Math" panose="02040503050406030204" pitchFamily="18" charset="0"/>
                            </a:rPr>
                            <m:t>−1</m:t>
                          </m:r>
                        </m:sup>
                      </m:sSup>
                      <m:r>
                        <a:rPr lang="en-US" i="1">
                          <a:latin typeface="Cambria Math" panose="02040503050406030204" pitchFamily="18" charset="0"/>
                        </a:rPr>
                        <m:t>𝑝</m:t>
                      </m:r>
                    </m:oMath>
                  </m:oMathPara>
                </a14:m>
                <a:endParaRPr lang="en-US" dirty="0"/>
              </a:p>
              <a:p>
                <a:r>
                  <a:rPr lang="en-US" b="1" dirty="0"/>
                  <a:t>Example: </a:t>
                </a:r>
                <a:r>
                  <a:rPr lang="en-US" dirty="0"/>
                  <a:t>Suppose the probability that team A wins each game in a tournament is 60 percent.  A plays until it loses.</a:t>
                </a:r>
              </a:p>
              <a:p>
                <a:r>
                  <a:rPr lang="en-US" dirty="0"/>
                  <a:t>a). Find the expected number of games that A plays = </a:t>
                </a:r>
                <a14:m>
                  <m:oMath xmlns:m="http://schemas.openxmlformats.org/officeDocument/2006/math">
                    <m:r>
                      <a:rPr lang="en-US" b="1" i="1" smtClean="0">
                        <a:latin typeface="Cambria Math" panose="02040503050406030204" pitchFamily="18" charset="0"/>
                      </a:rPr>
                      <m:t>𝑬</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 </m:t>
                    </m:r>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r>
                          <a:rPr lang="en-US" b="1" i="1" smtClean="0">
                            <a:latin typeface="Cambria Math" panose="02040503050406030204" pitchFamily="18" charset="0"/>
                          </a:rPr>
                          <m:t>𝒑</m:t>
                        </m:r>
                      </m:den>
                    </m:f>
                  </m:oMath>
                </a14:m>
                <a:r>
                  <a:rPr lang="en-US" b="1" dirty="0"/>
                  <a:t> </a:t>
                </a:r>
                <a14:m>
                  <m:oMath xmlns:m="http://schemas.openxmlformats.org/officeDocument/2006/math">
                    <m:r>
                      <a:rPr lang="en-US" b="1" i="1">
                        <a:latin typeface="Cambria Math" panose="02040503050406030204" pitchFamily="18" charset="0"/>
                      </a:rPr>
                      <m:t>= </m:t>
                    </m:r>
                    <m:f>
                      <m:fPr>
                        <m:ctrlPr>
                          <a:rPr lang="en-US" b="1" i="1">
                            <a:latin typeface="Cambria Math" panose="02040503050406030204" pitchFamily="18" charset="0"/>
                          </a:rPr>
                        </m:ctrlPr>
                      </m:fPr>
                      <m:num>
                        <m:r>
                          <a:rPr lang="en-US" b="1" i="1">
                            <a:latin typeface="Cambria Math" panose="02040503050406030204" pitchFamily="18" charset="0"/>
                          </a:rPr>
                          <m:t>𝟏</m:t>
                        </m:r>
                      </m:num>
                      <m:den>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m:t>
                        </m:r>
                      </m:den>
                    </m:f>
                    <m:r>
                      <a:rPr lang="en-US" b="1" i="1" smtClean="0">
                        <a:latin typeface="Cambria Math" panose="02040503050406030204" pitchFamily="18" charset="0"/>
                      </a:rPr>
                      <m:t>=</m:t>
                    </m:r>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𝟓</m:t>
                    </m:r>
                  </m:oMath>
                </a14:m>
                <a:r>
                  <a:rPr lang="en-US" b="1" dirty="0"/>
                  <a:t> </a:t>
                </a:r>
              </a:p>
              <a:p>
                <a:r>
                  <a:rPr lang="en-US" dirty="0"/>
                  <a:t>b). Find the probability P that A plays in at least 4 games = </a:t>
                </a:r>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𝒙</m:t>
                        </m:r>
                        <m:r>
                          <a:rPr lang="en-US" b="1" i="1">
                            <a:latin typeface="Cambria Math" panose="02040503050406030204" pitchFamily="18" charset="0"/>
                          </a:rPr>
                          <m:t>&gt;</m:t>
                        </m:r>
                        <m:r>
                          <a:rPr lang="en-US" b="1" i="1">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𝟑</m:t>
                        </m:r>
                      </m:e>
                    </m:d>
                    <m:r>
                      <a:rPr lang="en-US" b="1" i="1">
                        <a:latin typeface="Cambria Math" panose="02040503050406030204" pitchFamily="18" charset="0"/>
                      </a:rPr>
                      <m:t>= </m:t>
                    </m:r>
                    <m:sSup>
                      <m:sSupPr>
                        <m:ctrlPr>
                          <a:rPr lang="en-US" b="1" i="1">
                            <a:latin typeface="Cambria Math" panose="02040503050406030204" pitchFamily="18" charset="0"/>
                          </a:rPr>
                        </m:ctrlPr>
                      </m:sSupPr>
                      <m:e>
                        <m:r>
                          <a:rPr lang="en-US" b="1" i="1">
                            <a:latin typeface="Cambria Math" panose="02040503050406030204" pitchFamily="18" charset="0"/>
                          </a:rPr>
                          <m:t>𝒒</m:t>
                        </m:r>
                      </m:e>
                      <m:sup>
                        <m:r>
                          <a:rPr lang="en-US" b="1" i="1">
                            <a:latin typeface="Cambria Math" panose="02040503050406030204" pitchFamily="18" charset="0"/>
                          </a:rPr>
                          <m:t>𝒓</m:t>
                        </m:r>
                      </m:sup>
                    </m:sSup>
                  </m:oMath>
                </a14:m>
                <a:r>
                  <a:rPr lang="en-US" b="1" i="1" dirty="0">
                    <a:latin typeface="Cambria Math" panose="02040503050406030204" pitchFamily="18" charset="0"/>
                  </a:rPr>
                  <a:t> </a:t>
                </a:r>
                <a14:m>
                  <m:oMath xmlns:m="http://schemas.openxmlformats.org/officeDocument/2006/math">
                    <m:r>
                      <a:rPr lang="en-US" b="1" i="1">
                        <a:latin typeface="Cambria Math" panose="02040503050406030204" pitchFamily="18" charset="0"/>
                      </a:rPr>
                      <m:t>= </m:t>
                    </m:r>
                    <m:sSup>
                      <m:sSupPr>
                        <m:ctrlPr>
                          <a:rPr lang="en-US" b="1" i="1">
                            <a:latin typeface="Cambria Math" panose="02040503050406030204" pitchFamily="18" charset="0"/>
                          </a:rPr>
                        </m:ctrlPr>
                      </m:sSupPr>
                      <m:e>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𝟔</m:t>
                        </m:r>
                        <m:r>
                          <a:rPr lang="en-US" b="1" i="1" smtClean="0">
                            <a:latin typeface="Cambria Math" panose="02040503050406030204" pitchFamily="18" charset="0"/>
                          </a:rPr>
                          <m:t>)</m:t>
                        </m:r>
                      </m:e>
                      <m:sup>
                        <m:r>
                          <a:rPr lang="en-US" b="1" i="1" smtClean="0">
                            <a:latin typeface="Cambria Math" panose="02040503050406030204" pitchFamily="18" charset="0"/>
                          </a:rPr>
                          <m:t>𝟑</m:t>
                        </m:r>
                      </m:sup>
                    </m:sSup>
                  </m:oMath>
                </a14:m>
                <a:endParaRPr lang="en-US" b="1" i="1" dirty="0">
                  <a:latin typeface="Cambria Math" panose="02040503050406030204" pitchFamily="18" charset="0"/>
                </a:endParaRPr>
              </a:p>
              <a:p>
                <a:endParaRPr lang="en-US" b="1" i="1" dirty="0"/>
              </a:p>
              <a:p>
                <a:pPr marL="342900" indent="-342900">
                  <a:buAutoNum type="arabicPeriod"/>
                </a:pPr>
                <a:endParaRPr lang="en-US" b="1" i="1" dirty="0"/>
              </a:p>
              <a:p>
                <a:endParaRPr lang="en-US" dirty="0"/>
              </a:p>
              <a:p>
                <a:endParaRPr lang="en-US" dirty="0"/>
              </a:p>
              <a:p>
                <a:r>
                  <a:rPr lang="en-US" dirty="0"/>
                  <a:t>		</a:t>
                </a:r>
              </a:p>
              <a:p>
                <a:pPr marL="285750" indent="-285750">
                  <a:buFontTx/>
                  <a:buChar char="-"/>
                </a:pPr>
                <a:endParaRPr lang="en-US" dirty="0"/>
              </a:p>
            </p:txBody>
          </p:sp>
        </mc:Choice>
        <mc:Fallback xmlns="">
          <p:sp>
            <p:nvSpPr>
              <p:cNvPr id="6" name="TextBox 5">
                <a:extLst>
                  <a:ext uri="{FF2B5EF4-FFF2-40B4-BE49-F238E27FC236}">
                    <a16:creationId xmlns:a16="http://schemas.microsoft.com/office/drawing/2014/main" id="{5FF1C9D5-2B97-4BBB-BC8A-EC70D1D252BA}"/>
                  </a:ext>
                </a:extLst>
              </p:cNvPr>
              <p:cNvSpPr txBox="1">
                <a:spLocks noRot="1" noChangeAspect="1" noMove="1" noResize="1" noEditPoints="1" noAdjustHandles="1" noChangeArrowheads="1" noChangeShapeType="1" noTextEdit="1"/>
              </p:cNvSpPr>
              <p:nvPr/>
            </p:nvSpPr>
            <p:spPr>
              <a:xfrm>
                <a:off x="1245140" y="972766"/>
                <a:ext cx="8920264" cy="6077626"/>
              </a:xfrm>
              <a:prstGeom prst="rect">
                <a:avLst/>
              </a:prstGeom>
              <a:blipFill>
                <a:blip r:embed="rId2"/>
                <a:stretch>
                  <a:fillRect l="-546" t="-602" r="-15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F150B156-44DD-73E5-17E9-D9A217223EF5}"/>
                  </a:ext>
                </a:extLst>
              </p:cNvPr>
              <p:cNvGraphicFramePr>
                <a:graphicFrameLocks noGrp="1"/>
              </p:cNvGraphicFramePr>
              <p:nvPr>
                <p:extLst>
                  <p:ext uri="{D42A27DB-BD31-4B8C-83A1-F6EECF244321}">
                    <p14:modId xmlns:p14="http://schemas.microsoft.com/office/powerpoint/2010/main" val="311502582"/>
                  </p:ext>
                </p:extLst>
              </p:nvPr>
            </p:nvGraphicFramePr>
            <p:xfrm>
              <a:off x="1626489" y="2178815"/>
              <a:ext cx="8128001" cy="74168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13985585"/>
                        </a:ext>
                      </a:extLst>
                    </a:gridCol>
                    <a:gridCol w="1161143">
                      <a:extLst>
                        <a:ext uri="{9D8B030D-6E8A-4147-A177-3AD203B41FA5}">
                          <a16:colId xmlns:a16="http://schemas.microsoft.com/office/drawing/2014/main" val="412324326"/>
                        </a:ext>
                      </a:extLst>
                    </a:gridCol>
                    <a:gridCol w="1161143">
                      <a:extLst>
                        <a:ext uri="{9D8B030D-6E8A-4147-A177-3AD203B41FA5}">
                          <a16:colId xmlns:a16="http://schemas.microsoft.com/office/drawing/2014/main" val="4167379342"/>
                        </a:ext>
                      </a:extLst>
                    </a:gridCol>
                    <a:gridCol w="1161143">
                      <a:extLst>
                        <a:ext uri="{9D8B030D-6E8A-4147-A177-3AD203B41FA5}">
                          <a16:colId xmlns:a16="http://schemas.microsoft.com/office/drawing/2014/main" val="3319429297"/>
                        </a:ext>
                      </a:extLst>
                    </a:gridCol>
                    <a:gridCol w="1161143">
                      <a:extLst>
                        <a:ext uri="{9D8B030D-6E8A-4147-A177-3AD203B41FA5}">
                          <a16:colId xmlns:a16="http://schemas.microsoft.com/office/drawing/2014/main" val="23553"/>
                        </a:ext>
                      </a:extLst>
                    </a:gridCol>
                    <a:gridCol w="1161143">
                      <a:extLst>
                        <a:ext uri="{9D8B030D-6E8A-4147-A177-3AD203B41FA5}">
                          <a16:colId xmlns:a16="http://schemas.microsoft.com/office/drawing/2014/main" val="2101066588"/>
                        </a:ext>
                      </a:extLst>
                    </a:gridCol>
                    <a:gridCol w="1161143">
                      <a:extLst>
                        <a:ext uri="{9D8B030D-6E8A-4147-A177-3AD203B41FA5}">
                          <a16:colId xmlns:a16="http://schemas.microsoft.com/office/drawing/2014/main" val="2738303292"/>
                        </a:ext>
                      </a:extLst>
                    </a:gridCol>
                  </a:tblGrid>
                  <a:tr h="370840">
                    <a:tc>
                      <a:txBody>
                        <a:bodyPr/>
                        <a:lstStyle/>
                        <a:p>
                          <a:pPr algn="ctr"/>
                          <a:r>
                            <a:rPr lang="en-US" dirty="0"/>
                            <a:t>k</a:t>
                          </a:r>
                          <a:endParaRPr lang="en-IN" dirty="0"/>
                        </a:p>
                      </a:txBody>
                      <a:tcPr/>
                    </a:tc>
                    <a:tc>
                      <a:txBody>
                        <a:bodyPr/>
                        <a:lstStyle/>
                        <a:p>
                          <a:pPr algn="ctr"/>
                          <a:r>
                            <a:rPr lang="en-US" dirty="0"/>
                            <a:t>1</a:t>
                          </a:r>
                          <a:endParaRPr lang="en-IN" dirty="0"/>
                        </a:p>
                      </a:txBody>
                      <a:tcPr/>
                    </a:tc>
                    <a:tc>
                      <a:txBody>
                        <a:bodyPr/>
                        <a:lstStyle/>
                        <a:p>
                          <a:pPr algn="ctr"/>
                          <a:r>
                            <a:rPr lang="en-US" dirty="0"/>
                            <a:t>2</a:t>
                          </a:r>
                          <a:endParaRPr lang="en-IN" dirty="0"/>
                        </a:p>
                      </a:txBody>
                      <a:tcPr/>
                    </a:tc>
                    <a:tc>
                      <a:txBody>
                        <a:bodyPr/>
                        <a:lstStyle/>
                        <a:p>
                          <a:pPr algn="ctr"/>
                          <a:r>
                            <a:rPr lang="en-US" dirty="0"/>
                            <a:t>3</a:t>
                          </a:r>
                          <a:endParaRPr lang="en-IN" dirty="0"/>
                        </a:p>
                      </a:txBody>
                      <a:tcPr/>
                    </a:tc>
                    <a:tc>
                      <a:txBody>
                        <a:bodyPr/>
                        <a:lstStyle/>
                        <a:p>
                          <a:pPr algn="ctr"/>
                          <a:r>
                            <a:rPr lang="en-US" dirty="0"/>
                            <a:t>4</a:t>
                          </a:r>
                          <a:endParaRPr lang="en-IN" dirty="0"/>
                        </a:p>
                      </a:txBody>
                      <a:tcPr/>
                    </a:tc>
                    <a:tc>
                      <a:txBody>
                        <a:bodyPr/>
                        <a:lstStyle/>
                        <a:p>
                          <a:pPr algn="ctr"/>
                          <a:r>
                            <a:rPr lang="en-US" dirty="0"/>
                            <a:t>5</a:t>
                          </a:r>
                          <a:endParaRPr lang="en-IN" dirty="0"/>
                        </a:p>
                      </a:txBody>
                      <a:tcPr/>
                    </a:tc>
                    <a:tc>
                      <a:txBody>
                        <a:bodyPr/>
                        <a:lstStyle/>
                        <a:p>
                          <a:pPr algn="ctr"/>
                          <a:r>
                            <a:rPr lang="en-US" dirty="0"/>
                            <a:t>…….</a:t>
                          </a:r>
                          <a:endParaRPr lang="en-IN" dirty="0"/>
                        </a:p>
                      </a:txBody>
                      <a:tcPr/>
                    </a:tc>
                    <a:extLst>
                      <a:ext uri="{0D108BD9-81ED-4DB2-BD59-A6C34878D82A}">
                        <a16:rowId xmlns:a16="http://schemas.microsoft.com/office/drawing/2014/main" val="1620941227"/>
                      </a:ext>
                    </a:extLst>
                  </a:tr>
                  <a:tr h="370840">
                    <a:tc>
                      <a:txBody>
                        <a:bodyPr/>
                        <a:lstStyle/>
                        <a:p>
                          <a:pPr algn="ctr"/>
                          <a:r>
                            <a:rPr lang="en-US" dirty="0"/>
                            <a:t>P(k)</a:t>
                          </a:r>
                          <a:endParaRPr lang="en-IN" dirty="0"/>
                        </a:p>
                      </a:txBody>
                      <a:tcPr/>
                    </a:tc>
                    <a:tc>
                      <a:txBody>
                        <a:bodyPr/>
                        <a:lstStyle/>
                        <a:p>
                          <a:pPr algn="ctr"/>
                          <a:r>
                            <a:rPr lang="en-US" dirty="0"/>
                            <a:t>p</a:t>
                          </a:r>
                          <a:endParaRPr lang="en-IN" dirty="0"/>
                        </a:p>
                      </a:txBody>
                      <a:tcPr/>
                    </a:tc>
                    <a:tc>
                      <a:txBody>
                        <a:bodyPr/>
                        <a:lstStyle/>
                        <a:p>
                          <a:pPr algn="ctr"/>
                          <a:r>
                            <a:rPr lang="en-US" dirty="0" err="1"/>
                            <a:t>qp</a:t>
                          </a:r>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IN" i="1" smtClean="0">
                                        <a:latin typeface="Cambria Math" panose="02040503050406030204" pitchFamily="18" charset="0"/>
                                      </a:rPr>
                                    </m:ctrlPr>
                                  </m:sSupPr>
                                  <m:e>
                                    <m:r>
                                      <a:rPr lang="en-US" b="0" i="1" smtClean="0">
                                        <a:latin typeface="Cambria Math" panose="02040503050406030204" pitchFamily="18" charset="0"/>
                                      </a:rPr>
                                      <m:t>𝑞</m:t>
                                    </m:r>
                                  </m:e>
                                  <m:sup>
                                    <m:r>
                                      <a:rPr lang="en-US" b="0" i="1" smtClean="0">
                                        <a:latin typeface="Cambria Math" panose="02040503050406030204" pitchFamily="18" charset="0"/>
                                      </a:rPr>
                                      <m:t>2</m:t>
                                    </m:r>
                                  </m:sup>
                                </m:sSup>
                                <m:r>
                                  <a:rPr lang="en-US" b="0" i="1" smtClean="0">
                                    <a:latin typeface="Cambria Math" panose="02040503050406030204" pitchFamily="18" charset="0"/>
                                  </a:rPr>
                                  <m:t>𝑝</m:t>
                                </m:r>
                              </m:oMath>
                            </m:oMathPara>
                          </a14:m>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IN" i="1" smtClean="0">
                                        <a:latin typeface="Cambria Math" panose="02040503050406030204" pitchFamily="18" charset="0"/>
                                      </a:rPr>
                                    </m:ctrlPr>
                                  </m:sSupPr>
                                  <m:e>
                                    <m:r>
                                      <a:rPr lang="en-US" b="0" i="1" smtClean="0">
                                        <a:latin typeface="Cambria Math" panose="02040503050406030204" pitchFamily="18" charset="0"/>
                                      </a:rPr>
                                      <m:t>𝑞</m:t>
                                    </m:r>
                                  </m:e>
                                  <m:sup>
                                    <m:r>
                                      <a:rPr lang="en-US" b="0" i="1" smtClean="0">
                                        <a:latin typeface="Cambria Math" panose="02040503050406030204" pitchFamily="18" charset="0"/>
                                      </a:rPr>
                                      <m:t>3</m:t>
                                    </m:r>
                                  </m:sup>
                                </m:sSup>
                                <m:r>
                                  <a:rPr lang="en-US" b="0" i="1" smtClean="0">
                                    <a:latin typeface="Cambria Math" panose="02040503050406030204" pitchFamily="18" charset="0"/>
                                  </a:rPr>
                                  <m:t>𝑝</m:t>
                                </m:r>
                              </m:oMath>
                            </m:oMathPara>
                          </a14:m>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IN" i="1" smtClean="0">
                                        <a:latin typeface="Cambria Math" panose="02040503050406030204" pitchFamily="18" charset="0"/>
                                      </a:rPr>
                                    </m:ctrlPr>
                                  </m:sSupPr>
                                  <m:e>
                                    <m:r>
                                      <a:rPr lang="en-US" b="0" i="1" smtClean="0">
                                        <a:latin typeface="Cambria Math" panose="02040503050406030204" pitchFamily="18" charset="0"/>
                                      </a:rPr>
                                      <m:t>𝑞</m:t>
                                    </m:r>
                                  </m:e>
                                  <m:sup>
                                    <m:r>
                                      <a:rPr lang="en-US" b="0" i="1" smtClean="0">
                                        <a:latin typeface="Cambria Math" panose="02040503050406030204" pitchFamily="18" charset="0"/>
                                      </a:rPr>
                                      <m:t>4</m:t>
                                    </m:r>
                                  </m:sup>
                                </m:sSup>
                                <m:r>
                                  <a:rPr lang="en-US" b="0" i="1" smtClean="0">
                                    <a:latin typeface="Cambria Math" panose="02040503050406030204" pitchFamily="18" charset="0"/>
                                  </a:rPr>
                                  <m:t>𝑝</m:t>
                                </m:r>
                              </m:oMath>
                            </m:oMathPara>
                          </a14:m>
                          <a:endParaRPr lang="en-IN" dirty="0"/>
                        </a:p>
                      </a:txBody>
                      <a:tcPr/>
                    </a:tc>
                    <a:tc>
                      <a:txBody>
                        <a:bodyPr/>
                        <a:lstStyle/>
                        <a:p>
                          <a:pPr algn="ctr"/>
                          <a:r>
                            <a:rPr lang="en-US" dirty="0"/>
                            <a:t>…….</a:t>
                          </a:r>
                          <a:endParaRPr lang="en-IN" dirty="0"/>
                        </a:p>
                      </a:txBody>
                      <a:tcPr/>
                    </a:tc>
                    <a:extLst>
                      <a:ext uri="{0D108BD9-81ED-4DB2-BD59-A6C34878D82A}">
                        <a16:rowId xmlns:a16="http://schemas.microsoft.com/office/drawing/2014/main" val="1544152621"/>
                      </a:ext>
                    </a:extLst>
                  </a:tr>
                </a:tbl>
              </a:graphicData>
            </a:graphic>
          </p:graphicFrame>
        </mc:Choice>
        <mc:Fallback xmlns="">
          <p:graphicFrame>
            <p:nvGraphicFramePr>
              <p:cNvPr id="3" name="Table 2">
                <a:extLst>
                  <a:ext uri="{FF2B5EF4-FFF2-40B4-BE49-F238E27FC236}">
                    <a16:creationId xmlns:a16="http://schemas.microsoft.com/office/drawing/2014/main" id="{F150B156-44DD-73E5-17E9-D9A217223EF5}"/>
                  </a:ext>
                </a:extLst>
              </p:cNvPr>
              <p:cNvGraphicFramePr>
                <a:graphicFrameLocks noGrp="1"/>
              </p:cNvGraphicFramePr>
              <p:nvPr>
                <p:extLst>
                  <p:ext uri="{D42A27DB-BD31-4B8C-83A1-F6EECF244321}">
                    <p14:modId xmlns:p14="http://schemas.microsoft.com/office/powerpoint/2010/main" val="311502582"/>
                  </p:ext>
                </p:extLst>
              </p:nvPr>
            </p:nvGraphicFramePr>
            <p:xfrm>
              <a:off x="1626489" y="2178815"/>
              <a:ext cx="8128001" cy="74168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13985585"/>
                        </a:ext>
                      </a:extLst>
                    </a:gridCol>
                    <a:gridCol w="1161143">
                      <a:extLst>
                        <a:ext uri="{9D8B030D-6E8A-4147-A177-3AD203B41FA5}">
                          <a16:colId xmlns:a16="http://schemas.microsoft.com/office/drawing/2014/main" val="412324326"/>
                        </a:ext>
                      </a:extLst>
                    </a:gridCol>
                    <a:gridCol w="1161143">
                      <a:extLst>
                        <a:ext uri="{9D8B030D-6E8A-4147-A177-3AD203B41FA5}">
                          <a16:colId xmlns:a16="http://schemas.microsoft.com/office/drawing/2014/main" val="4167379342"/>
                        </a:ext>
                      </a:extLst>
                    </a:gridCol>
                    <a:gridCol w="1161143">
                      <a:extLst>
                        <a:ext uri="{9D8B030D-6E8A-4147-A177-3AD203B41FA5}">
                          <a16:colId xmlns:a16="http://schemas.microsoft.com/office/drawing/2014/main" val="3319429297"/>
                        </a:ext>
                      </a:extLst>
                    </a:gridCol>
                    <a:gridCol w="1161143">
                      <a:extLst>
                        <a:ext uri="{9D8B030D-6E8A-4147-A177-3AD203B41FA5}">
                          <a16:colId xmlns:a16="http://schemas.microsoft.com/office/drawing/2014/main" val="23553"/>
                        </a:ext>
                      </a:extLst>
                    </a:gridCol>
                    <a:gridCol w="1161143">
                      <a:extLst>
                        <a:ext uri="{9D8B030D-6E8A-4147-A177-3AD203B41FA5}">
                          <a16:colId xmlns:a16="http://schemas.microsoft.com/office/drawing/2014/main" val="2101066588"/>
                        </a:ext>
                      </a:extLst>
                    </a:gridCol>
                    <a:gridCol w="1161143">
                      <a:extLst>
                        <a:ext uri="{9D8B030D-6E8A-4147-A177-3AD203B41FA5}">
                          <a16:colId xmlns:a16="http://schemas.microsoft.com/office/drawing/2014/main" val="2738303292"/>
                        </a:ext>
                      </a:extLst>
                    </a:gridCol>
                  </a:tblGrid>
                  <a:tr h="370840">
                    <a:tc>
                      <a:txBody>
                        <a:bodyPr/>
                        <a:lstStyle/>
                        <a:p>
                          <a:pPr algn="ctr"/>
                          <a:r>
                            <a:rPr lang="en-US" dirty="0"/>
                            <a:t>k</a:t>
                          </a:r>
                          <a:endParaRPr lang="en-IN" dirty="0"/>
                        </a:p>
                      </a:txBody>
                      <a:tcPr/>
                    </a:tc>
                    <a:tc>
                      <a:txBody>
                        <a:bodyPr/>
                        <a:lstStyle/>
                        <a:p>
                          <a:pPr algn="ctr"/>
                          <a:r>
                            <a:rPr lang="en-US" dirty="0"/>
                            <a:t>1</a:t>
                          </a:r>
                          <a:endParaRPr lang="en-IN" dirty="0"/>
                        </a:p>
                      </a:txBody>
                      <a:tcPr/>
                    </a:tc>
                    <a:tc>
                      <a:txBody>
                        <a:bodyPr/>
                        <a:lstStyle/>
                        <a:p>
                          <a:pPr algn="ctr"/>
                          <a:r>
                            <a:rPr lang="en-US" dirty="0"/>
                            <a:t>2</a:t>
                          </a:r>
                          <a:endParaRPr lang="en-IN" dirty="0"/>
                        </a:p>
                      </a:txBody>
                      <a:tcPr/>
                    </a:tc>
                    <a:tc>
                      <a:txBody>
                        <a:bodyPr/>
                        <a:lstStyle/>
                        <a:p>
                          <a:pPr algn="ctr"/>
                          <a:r>
                            <a:rPr lang="en-US" dirty="0"/>
                            <a:t>3</a:t>
                          </a:r>
                          <a:endParaRPr lang="en-IN" dirty="0"/>
                        </a:p>
                      </a:txBody>
                      <a:tcPr/>
                    </a:tc>
                    <a:tc>
                      <a:txBody>
                        <a:bodyPr/>
                        <a:lstStyle/>
                        <a:p>
                          <a:pPr algn="ctr"/>
                          <a:r>
                            <a:rPr lang="en-US" dirty="0"/>
                            <a:t>4</a:t>
                          </a:r>
                          <a:endParaRPr lang="en-IN" dirty="0"/>
                        </a:p>
                      </a:txBody>
                      <a:tcPr/>
                    </a:tc>
                    <a:tc>
                      <a:txBody>
                        <a:bodyPr/>
                        <a:lstStyle/>
                        <a:p>
                          <a:pPr algn="ctr"/>
                          <a:r>
                            <a:rPr lang="en-US" dirty="0"/>
                            <a:t>5</a:t>
                          </a:r>
                          <a:endParaRPr lang="en-IN" dirty="0"/>
                        </a:p>
                      </a:txBody>
                      <a:tcPr/>
                    </a:tc>
                    <a:tc>
                      <a:txBody>
                        <a:bodyPr/>
                        <a:lstStyle/>
                        <a:p>
                          <a:pPr algn="ctr"/>
                          <a:r>
                            <a:rPr lang="en-US" dirty="0"/>
                            <a:t>…….</a:t>
                          </a:r>
                          <a:endParaRPr lang="en-IN" dirty="0"/>
                        </a:p>
                      </a:txBody>
                      <a:tcPr/>
                    </a:tc>
                    <a:extLst>
                      <a:ext uri="{0D108BD9-81ED-4DB2-BD59-A6C34878D82A}">
                        <a16:rowId xmlns:a16="http://schemas.microsoft.com/office/drawing/2014/main" val="1620941227"/>
                      </a:ext>
                    </a:extLst>
                  </a:tr>
                  <a:tr h="370840">
                    <a:tc>
                      <a:txBody>
                        <a:bodyPr/>
                        <a:lstStyle/>
                        <a:p>
                          <a:pPr algn="ctr"/>
                          <a:r>
                            <a:rPr lang="en-US" dirty="0"/>
                            <a:t>P(k)</a:t>
                          </a:r>
                          <a:endParaRPr lang="en-IN" dirty="0"/>
                        </a:p>
                      </a:txBody>
                      <a:tcPr/>
                    </a:tc>
                    <a:tc>
                      <a:txBody>
                        <a:bodyPr/>
                        <a:lstStyle/>
                        <a:p>
                          <a:pPr algn="ctr"/>
                          <a:r>
                            <a:rPr lang="en-US" dirty="0"/>
                            <a:t>p</a:t>
                          </a:r>
                          <a:endParaRPr lang="en-IN" dirty="0"/>
                        </a:p>
                      </a:txBody>
                      <a:tcPr/>
                    </a:tc>
                    <a:tc>
                      <a:txBody>
                        <a:bodyPr/>
                        <a:lstStyle/>
                        <a:p>
                          <a:pPr algn="ctr"/>
                          <a:r>
                            <a:rPr lang="en-US" dirty="0" err="1"/>
                            <a:t>qp</a:t>
                          </a:r>
                          <a:endParaRPr lang="en-IN" dirty="0"/>
                        </a:p>
                      </a:txBody>
                      <a:tcPr/>
                    </a:tc>
                    <a:tc>
                      <a:txBody>
                        <a:bodyPr/>
                        <a:lstStyle/>
                        <a:p>
                          <a:endParaRPr lang="en-US"/>
                        </a:p>
                      </a:txBody>
                      <a:tcPr>
                        <a:blipFill>
                          <a:blip r:embed="rId3"/>
                          <a:stretch>
                            <a:fillRect l="-300000" t="-109836" r="-301571" b="-22951"/>
                          </a:stretch>
                        </a:blipFill>
                      </a:tcPr>
                    </a:tc>
                    <a:tc>
                      <a:txBody>
                        <a:bodyPr/>
                        <a:lstStyle/>
                        <a:p>
                          <a:endParaRPr lang="en-US"/>
                        </a:p>
                      </a:txBody>
                      <a:tcPr>
                        <a:blipFill>
                          <a:blip r:embed="rId3"/>
                          <a:stretch>
                            <a:fillRect l="-400000" t="-109836" r="-201571" b="-22951"/>
                          </a:stretch>
                        </a:blipFill>
                      </a:tcPr>
                    </a:tc>
                    <a:tc>
                      <a:txBody>
                        <a:bodyPr/>
                        <a:lstStyle/>
                        <a:p>
                          <a:endParaRPr lang="en-US"/>
                        </a:p>
                      </a:txBody>
                      <a:tcPr>
                        <a:blipFill>
                          <a:blip r:embed="rId3"/>
                          <a:stretch>
                            <a:fillRect l="-502632" t="-109836" r="-102632" b="-22951"/>
                          </a:stretch>
                        </a:blipFill>
                      </a:tcPr>
                    </a:tc>
                    <a:tc>
                      <a:txBody>
                        <a:bodyPr/>
                        <a:lstStyle/>
                        <a:p>
                          <a:pPr algn="ctr"/>
                          <a:r>
                            <a:rPr lang="en-US" dirty="0"/>
                            <a:t>…….</a:t>
                          </a:r>
                          <a:endParaRPr lang="en-IN" dirty="0"/>
                        </a:p>
                      </a:txBody>
                      <a:tcPr/>
                    </a:tc>
                    <a:extLst>
                      <a:ext uri="{0D108BD9-81ED-4DB2-BD59-A6C34878D82A}">
                        <a16:rowId xmlns:a16="http://schemas.microsoft.com/office/drawing/2014/main" val="1544152621"/>
                      </a:ext>
                    </a:extLst>
                  </a:tr>
                </a:tbl>
              </a:graphicData>
            </a:graphic>
          </p:graphicFrame>
        </mc:Fallback>
      </mc:AlternateContent>
      <p:pic>
        <p:nvPicPr>
          <p:cNvPr id="4" name="Picture 2" descr="KL University - Wikipedia">
            <a:extLst>
              <a:ext uri="{FF2B5EF4-FFF2-40B4-BE49-F238E27FC236}">
                <a16:creationId xmlns:a16="http://schemas.microsoft.com/office/drawing/2014/main" id="{6D5AF564-39BF-ED89-818E-4A9E1C6FA6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0"/>
            <a:ext cx="1387366" cy="562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7839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5C237-AD24-8EF6-B816-D3ED5678CB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E4FE8F-8EED-2CE1-E393-488A1215B14A}"/>
              </a:ext>
            </a:extLst>
          </p:cNvPr>
          <p:cNvSpPr>
            <a:spLocks noGrp="1"/>
          </p:cNvSpPr>
          <p:nvPr>
            <p:ph type="sldNum" sz="quarter" idx="12"/>
          </p:nvPr>
        </p:nvSpPr>
        <p:spPr/>
        <p:txBody>
          <a:bodyPr/>
          <a:lstStyle/>
          <a:p>
            <a:fld id="{CBABCCC1-BF11-4F37-963E-1BCD5B23FD72}" type="slidenum">
              <a:rPr lang="en-IN" smtClean="0"/>
              <a:pPr/>
              <a:t>12</a:t>
            </a:fld>
            <a:endParaRPr lang="en-IN"/>
          </a:p>
        </p:txBody>
      </p:sp>
      <p:sp>
        <p:nvSpPr>
          <p:cNvPr id="5" name="Rounded Rectangle 17">
            <a:extLst>
              <a:ext uri="{FF2B5EF4-FFF2-40B4-BE49-F238E27FC236}">
                <a16:creationId xmlns:a16="http://schemas.microsoft.com/office/drawing/2014/main" id="{745A84CF-4AB9-8ABC-96CC-F86F975E2594}"/>
              </a:ext>
            </a:extLst>
          </p:cNvPr>
          <p:cNvSpPr/>
          <p:nvPr/>
        </p:nvSpPr>
        <p:spPr>
          <a:xfrm>
            <a:off x="2300665" y="3743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a:p>
            <a:pPr algn="ctr"/>
            <a:r>
              <a:rPr lang="en-IN" sz="2400" dirty="0"/>
              <a:t>6. </a:t>
            </a:r>
            <a:r>
              <a:rPr lang="en-IN" sz="2400" dirty="0" err="1"/>
              <a:t>Poission</a:t>
            </a:r>
            <a:r>
              <a:rPr lang="en-IN" sz="2400" dirty="0"/>
              <a:t> Distribution</a:t>
            </a:r>
          </a:p>
          <a:p>
            <a:pPr algn="ctr"/>
            <a:endParaRPr lang="en-US"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A65920C-92D6-BF43-B415-EF11142768CF}"/>
                  </a:ext>
                </a:extLst>
              </p:cNvPr>
              <p:cNvSpPr txBox="1">
                <a:spLocks/>
              </p:cNvSpPr>
              <p:nvPr/>
            </p:nvSpPr>
            <p:spPr>
              <a:xfrm>
                <a:off x="1245140" y="972766"/>
                <a:ext cx="8920264" cy="6562566"/>
              </a:xfrm>
              <a:prstGeom prst="rect">
                <a:avLst/>
              </a:prstGeom>
              <a:noFill/>
            </p:spPr>
            <p:txBody>
              <a:bodyPr wrap="square">
                <a:spAutoFit/>
              </a:bodyPr>
              <a:lstStyle/>
              <a:p>
                <a:pPr algn="just"/>
                <a:r>
                  <a:rPr lang="en-US" b="1" dirty="0"/>
                  <a:t>Definition:  </a:t>
                </a:r>
                <a:r>
                  <a:rPr lang="en-US" dirty="0"/>
                  <a:t>A random variable X, taking on one of the values 0, 1, 2, …. Is said to be a </a:t>
                </a:r>
                <a:r>
                  <a:rPr lang="en-US" dirty="0" err="1"/>
                  <a:t>Possion</a:t>
                </a:r>
                <a:r>
                  <a:rPr lang="en-US" dirty="0"/>
                  <a:t> random variable with parameter </a:t>
                </a:r>
                <a:r>
                  <a:rPr lang="en-US" dirty="0">
                    <a:latin typeface="Cambria Math" panose="02040503050406030204" pitchFamily="18" charset="0"/>
                    <a:ea typeface="Cambria Math" panose="02040503050406030204" pitchFamily="18" charset="0"/>
                  </a:rPr>
                  <a:t>⋋ if for some  </a:t>
                </a:r>
                <a14:m>
                  <m:oMath xmlns:m="http://schemas.openxmlformats.org/officeDocument/2006/math">
                    <m:r>
                      <a:rPr lang="en-US" b="0" i="1" smtClean="0">
                        <a:latin typeface="Cambria Math" panose="02040503050406030204" pitchFamily="18" charset="0"/>
                        <a:ea typeface="Cambria Math" panose="02040503050406030204" pitchFamily="18" charset="0"/>
                      </a:rPr>
                      <m:t>⋋&gt;0,</m:t>
                    </m:r>
                  </m:oMath>
                </a14:m>
                <a:endParaRPr lang="en-US" dirty="0">
                  <a:latin typeface="Cambria Math" panose="02040503050406030204" pitchFamily="18" charset="0"/>
                  <a:ea typeface="Cambria Math" panose="02040503050406030204" pitchFamily="18" charset="0"/>
                </a:endParaRPr>
              </a:p>
              <a:p>
                <a:pPr algn="just"/>
                <a:endParaRPr lang="en-US" dirty="0"/>
              </a:p>
              <a:p>
                <a:pPr algn="just"/>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rPr>
                                <m:t>𝑥</m:t>
                              </m:r>
                            </m:sup>
                          </m:sSup>
                        </m:num>
                        <m:den>
                          <m:r>
                            <a:rPr lang="en-US" b="0" i="1" smtClean="0">
                              <a:latin typeface="Cambria Math" panose="02040503050406030204" pitchFamily="18" charset="0"/>
                            </a:rPr>
                            <m:t>𝑥</m:t>
                          </m:r>
                          <m:r>
                            <a:rPr lang="en-US" b="0" i="1" smtClean="0">
                              <a:latin typeface="Cambria Math" panose="02040503050406030204" pitchFamily="18" charset="0"/>
                            </a:rPr>
                            <m:t>!</m:t>
                          </m:r>
                        </m:den>
                      </m:f>
                    </m:oMath>
                  </m:oMathPara>
                </a14:m>
                <a:endParaRPr lang="en-US" dirty="0"/>
              </a:p>
              <a:p>
                <a:pPr algn="just"/>
                <a:r>
                  <a:rPr lang="en-US" dirty="0"/>
                  <a:t>For </a:t>
                </a:r>
                <a:r>
                  <a:rPr lang="en-US" dirty="0" err="1"/>
                  <a:t>Possion</a:t>
                </a:r>
                <a:r>
                  <a:rPr lang="en-US" dirty="0"/>
                  <a:t> distribution: </a:t>
                </a:r>
              </a:p>
              <a:p>
                <a:pPr algn="just"/>
                <a:r>
                  <a:rPr lang="en-US" dirty="0"/>
                  <a:t> 						Mean = </a:t>
                </a:r>
                <a14:m>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a14:m>
                <a:r>
                  <a:rPr lang="en-US" dirty="0"/>
                  <a:t> = </a:t>
                </a:r>
                <a14:m>
                  <m:oMath xmlns:m="http://schemas.openxmlformats.org/officeDocument/2006/math">
                    <m:r>
                      <m:rPr>
                        <m:sty m:val="p"/>
                      </m:rPr>
                      <a:rPr lang="el-GR" i="1" smtClean="0">
                        <a:latin typeface="Cambria Math" panose="02040503050406030204" pitchFamily="18" charset="0"/>
                      </a:rPr>
                      <m:t>α</m:t>
                    </m:r>
                    <m:r>
                      <a:rPr lang="el-GR" i="1" smtClean="0">
                        <a:latin typeface="Cambria Math" panose="02040503050406030204" pitchFamily="18" charset="0"/>
                      </a:rPr>
                      <m:t>△</m:t>
                    </m:r>
                    <m:r>
                      <a:rPr lang="en-US" b="0" i="1" smtClean="0">
                        <a:latin typeface="Cambria Math" panose="02040503050406030204" pitchFamily="18" charset="0"/>
                      </a:rPr>
                      <m:t>𝑡</m:t>
                    </m:r>
                  </m:oMath>
                </a14:m>
                <a:r>
                  <a:rPr lang="en-US" dirty="0"/>
                  <a:t> = Variance =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dirty="0"/>
              </a:p>
              <a:p>
                <a:pPr algn="just"/>
                <a:r>
                  <a:rPr lang="en-US" dirty="0"/>
                  <a:t> </a:t>
                </a:r>
              </a:p>
              <a:p>
                <a:r>
                  <a:rPr lang="en-US" b="1" dirty="0"/>
                  <a:t>Example:</a:t>
                </a:r>
                <a:r>
                  <a:rPr lang="en-US" dirty="0"/>
                  <a:t> A certain airport receives on an average of 4 aircrafts per hour. What is the probability that no aircraft lands in a particular 2 </a:t>
                </a:r>
                <a:r>
                  <a:rPr lang="en-US" dirty="0" err="1"/>
                  <a:t>hr</a:t>
                </a:r>
                <a:r>
                  <a:rPr lang="en-US" dirty="0"/>
                  <a:t> period.</a:t>
                </a:r>
                <a:endParaRPr lang="en-US" i="1" dirty="0">
                  <a:latin typeface="Cambria Math" panose="02040503050406030204" pitchFamily="18" charset="0"/>
                </a:endParaRPr>
              </a:p>
              <a:p>
                <a:endParaRPr lang="en-US" b="1" i="1" dirty="0"/>
              </a:p>
              <a:p>
                <a:r>
                  <a:rPr lang="en-US" b="1" i="1" dirty="0"/>
                  <a:t>Ans: </a:t>
                </a:r>
                <a14:m>
                  <m:oMath xmlns:m="http://schemas.openxmlformats.org/officeDocument/2006/math">
                    <m:r>
                      <m:rPr>
                        <m:sty m:val="p"/>
                      </m:rPr>
                      <a:rPr lang="el-GR" b="1" i="1" smtClean="0">
                        <a:latin typeface="Cambria Math" panose="02040503050406030204" pitchFamily="18" charset="0"/>
                      </a:rPr>
                      <m:t>α</m:t>
                    </m:r>
                    <m:r>
                      <a:rPr lang="en-US" b="1" i="1" smtClean="0">
                        <a:latin typeface="Cambria Math" panose="02040503050406030204" pitchFamily="18" charset="0"/>
                      </a:rPr>
                      <m:t>=</m:t>
                    </m:r>
                    <m:r>
                      <m:rPr>
                        <m:sty m:val="p"/>
                      </m:rPr>
                      <a:rPr lang="en-US" b="0" i="0" smtClean="0">
                        <a:latin typeface="Cambria Math" panose="02040503050406030204" pitchFamily="18" charset="0"/>
                      </a:rPr>
                      <m:t>rate</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occurrence</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event</m:t>
                    </m:r>
                    <m:r>
                      <a:rPr lang="en-US" b="0" i="0" smtClean="0">
                        <a:latin typeface="Cambria Math" panose="02040503050406030204" pitchFamily="18" charset="0"/>
                      </a:rPr>
                      <m:t> </m:t>
                    </m:r>
                    <m:r>
                      <m:rPr>
                        <m:sty m:val="p"/>
                      </m:rPr>
                      <a:rPr lang="en-US" b="0" i="0" smtClean="0">
                        <a:latin typeface="Cambria Math" panose="02040503050406030204" pitchFamily="18" charset="0"/>
                      </a:rPr>
                      <m:t>per</m:t>
                    </m:r>
                    <m:r>
                      <a:rPr lang="en-US" b="0" i="0" smtClean="0">
                        <a:latin typeface="Cambria Math" panose="02040503050406030204" pitchFamily="18" charset="0"/>
                      </a:rPr>
                      <m:t> </m:t>
                    </m:r>
                    <m:r>
                      <m:rPr>
                        <m:sty m:val="p"/>
                      </m:rPr>
                      <a:rPr lang="en-US" b="0" i="0" smtClean="0">
                        <a:latin typeface="Cambria Math" panose="02040503050406030204" pitchFamily="18" charset="0"/>
                      </a:rPr>
                      <m:t>unit</m:t>
                    </m:r>
                    <m:r>
                      <a:rPr lang="en-US" b="0" i="0" smtClean="0">
                        <a:latin typeface="Cambria Math" panose="02040503050406030204" pitchFamily="18" charset="0"/>
                      </a:rPr>
                      <m:t> </m:t>
                    </m:r>
                    <m:r>
                      <m:rPr>
                        <m:sty m:val="p"/>
                      </m:rPr>
                      <a:rPr lang="en-US" b="0" i="0" smtClean="0">
                        <a:latin typeface="Cambria Math" panose="02040503050406030204" pitchFamily="18" charset="0"/>
                      </a:rPr>
                      <m:t>time</m:t>
                    </m:r>
                    <m:r>
                      <a:rPr lang="en-US" b="1" i="1" smtClean="0">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𝟒</m:t>
                        </m:r>
                      </m:num>
                      <m:den>
                        <m:r>
                          <a:rPr lang="en-US" b="1" i="1" smtClean="0">
                            <a:latin typeface="Cambria Math" panose="02040503050406030204" pitchFamily="18" charset="0"/>
                          </a:rPr>
                          <m:t>𝒉𝒓</m:t>
                        </m:r>
                      </m:den>
                    </m:f>
                  </m:oMath>
                </a14:m>
                <a:endParaRPr lang="en-US" b="1" i="1" dirty="0"/>
              </a:p>
              <a:p>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 </a:t>
                </a:r>
                <a14:m>
                  <m:oMath xmlns:m="http://schemas.openxmlformats.org/officeDocument/2006/math">
                    <m:r>
                      <m:rPr>
                        <m:sty m:val="p"/>
                      </m:rPr>
                      <a:rPr lang="el-GR" i="1">
                        <a:latin typeface="Cambria Math" panose="02040503050406030204" pitchFamily="18" charset="0"/>
                      </a:rPr>
                      <m:t>α</m:t>
                    </m:r>
                    <m:r>
                      <a:rPr lang="el-GR" i="1">
                        <a:latin typeface="Cambria Math" panose="02040503050406030204" pitchFamily="18" charset="0"/>
                      </a:rPr>
                      <m:t>△</m:t>
                    </m:r>
                    <m:r>
                      <a:rPr lang="en-US" i="1">
                        <a:latin typeface="Cambria Math" panose="02040503050406030204" pitchFamily="18" charset="0"/>
                      </a:rPr>
                      <m:t>𝑡</m:t>
                    </m:r>
                  </m:oMath>
                </a14:m>
                <a:r>
                  <a:rPr lang="en-US" dirty="0"/>
                  <a:t> = avg. no of occurrence of event in specified observation period = 4*2 = 8</a:t>
                </a:r>
              </a:p>
              <a:p>
                <a:r>
                  <a:rPr lang="en-US" dirty="0"/>
                  <a:t>Now we wish that no aircraft should land for 2 hrs. i.e. x = 0</a:t>
                </a:r>
              </a:p>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=0</m:t>
                        </m:r>
                      </m:e>
                    </m:d>
                    <m:r>
                      <a:rPr lang="en-US" b="0" i="1" smtClean="0">
                        <a:latin typeface="Cambria Math" panose="02040503050406030204" pitchFamily="18" charset="0"/>
                      </a:rPr>
                      <m:t>= </m:t>
                    </m:r>
                    <m:r>
                      <a:rPr lang="en-US" i="1">
                        <a:latin typeface="Cambria Math" panose="02040503050406030204" pitchFamily="18" charset="0"/>
                      </a:rPr>
                      <m:t> </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m:t>
                            </m:r>
                          </m:sup>
                        </m:sSup>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rPr>
                              <m:t>𝑥</m:t>
                            </m:r>
                          </m:sup>
                        </m:sSup>
                      </m:num>
                      <m:den>
                        <m:r>
                          <a:rPr lang="en-US" i="1" smtClean="0">
                            <a:latin typeface="Cambria Math" panose="02040503050406030204" pitchFamily="18" charset="0"/>
                          </a:rPr>
                          <m:t>𝑥</m:t>
                        </m:r>
                        <m:r>
                          <a:rPr lang="en-US" i="1">
                            <a:latin typeface="Cambria Math" panose="02040503050406030204" pitchFamily="18" charset="0"/>
                          </a:rPr>
                          <m:t>!</m:t>
                        </m:r>
                      </m:den>
                    </m:f>
                  </m:oMath>
                </a14:m>
                <a:r>
                  <a:rPr lang="en-US" dirty="0"/>
                  <a:t> = </a:t>
                </a:r>
                <a14:m>
                  <m:oMath xmlns:m="http://schemas.openxmlformats.org/officeDocument/2006/math">
                    <m:r>
                      <a:rPr lang="en-US" i="1">
                        <a:latin typeface="Cambria Math" panose="02040503050406030204" pitchFamily="18" charset="0"/>
                      </a:rPr>
                      <m:t> </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8</m:t>
                            </m:r>
                          </m:sup>
                        </m:sSup>
                        <m:sSup>
                          <m:sSupPr>
                            <m:ctrlPr>
                              <a:rPr lang="en-US" i="1">
                                <a:latin typeface="Cambria Math" panose="02040503050406030204" pitchFamily="18" charset="0"/>
                              </a:rPr>
                            </m:ctrlPr>
                          </m:sSupPr>
                          <m:e>
                            <m:r>
                              <a:rPr lang="en-US" b="0" i="1" smtClean="0">
                                <a:latin typeface="Cambria Math" panose="02040503050406030204" pitchFamily="18" charset="0"/>
                              </a:rPr>
                              <m:t>8</m:t>
                            </m:r>
                          </m:e>
                          <m:sup>
                            <m:r>
                              <a:rPr lang="en-US" b="0" i="1" smtClean="0">
                                <a:latin typeface="Cambria Math" panose="02040503050406030204" pitchFamily="18" charset="0"/>
                                <a:ea typeface="Cambria Math" panose="02040503050406030204" pitchFamily="18" charset="0"/>
                              </a:rPr>
                              <m:t>0</m:t>
                            </m:r>
                          </m:sup>
                        </m:sSup>
                      </m:num>
                      <m:den>
                        <m:r>
                          <a:rPr lang="en-US" b="0" i="1" smtClean="0">
                            <a:latin typeface="Cambria Math" panose="02040503050406030204" pitchFamily="18" charset="0"/>
                          </a:rPr>
                          <m:t>0</m:t>
                        </m:r>
                        <m:r>
                          <a:rPr lang="en-US" i="1">
                            <a:latin typeface="Cambria Math" panose="02040503050406030204" pitchFamily="18" charset="0"/>
                          </a:rPr>
                          <m:t>!</m:t>
                        </m:r>
                      </m:den>
                    </m:f>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−8</m:t>
                        </m:r>
                      </m:sup>
                    </m:sSup>
                  </m:oMath>
                </a14:m>
                <a:endParaRPr lang="en-US" dirty="0"/>
              </a:p>
              <a:p>
                <a:endParaRPr lang="en-US" b="1" i="1" dirty="0"/>
              </a:p>
              <a:p>
                <a:r>
                  <a:rPr lang="en-US" b="1" i="1" dirty="0"/>
                  <a:t>	</a:t>
                </a:r>
              </a:p>
              <a:p>
                <a:pPr marL="342900" indent="-342900">
                  <a:buAutoNum type="arabicPeriod"/>
                </a:pPr>
                <a:endParaRPr lang="en-US" b="1" i="1" dirty="0"/>
              </a:p>
              <a:p>
                <a:endParaRPr lang="en-US" dirty="0"/>
              </a:p>
              <a:p>
                <a:endParaRPr lang="en-US" dirty="0"/>
              </a:p>
              <a:p>
                <a:r>
                  <a:rPr lang="en-US" dirty="0"/>
                  <a:t>		</a:t>
                </a:r>
              </a:p>
              <a:p>
                <a:pPr marL="285750" indent="-285750">
                  <a:buFontTx/>
                  <a:buChar char="-"/>
                </a:pPr>
                <a:endParaRPr lang="en-US" dirty="0"/>
              </a:p>
            </p:txBody>
          </p:sp>
        </mc:Choice>
        <mc:Fallback xmlns="">
          <p:sp>
            <p:nvSpPr>
              <p:cNvPr id="6" name="TextBox 5">
                <a:extLst>
                  <a:ext uri="{FF2B5EF4-FFF2-40B4-BE49-F238E27FC236}">
                    <a16:creationId xmlns:a16="http://schemas.microsoft.com/office/drawing/2014/main" id="{9A65920C-92D6-BF43-B415-EF11142768CF}"/>
                  </a:ext>
                </a:extLst>
              </p:cNvPr>
              <p:cNvSpPr txBox="1">
                <a:spLocks noRot="1" noChangeAspect="1" noMove="1" noResize="1" noEditPoints="1" noAdjustHandles="1" noChangeArrowheads="1" noChangeShapeType="1" noTextEdit="1"/>
              </p:cNvSpPr>
              <p:nvPr/>
            </p:nvSpPr>
            <p:spPr>
              <a:xfrm>
                <a:off x="1245140" y="972766"/>
                <a:ext cx="8920264" cy="6562566"/>
              </a:xfrm>
              <a:prstGeom prst="rect">
                <a:avLst/>
              </a:prstGeom>
              <a:blipFill>
                <a:blip r:embed="rId2"/>
                <a:stretch>
                  <a:fillRect l="-546" t="-558" r="-546"/>
                </a:stretch>
              </a:blipFill>
            </p:spPr>
            <p:txBody>
              <a:bodyPr/>
              <a:lstStyle/>
              <a:p>
                <a:r>
                  <a:rPr lang="en-IN">
                    <a:noFill/>
                  </a:rPr>
                  <a:t> </a:t>
                </a:r>
              </a:p>
            </p:txBody>
          </p:sp>
        </mc:Fallback>
      </mc:AlternateContent>
      <p:pic>
        <p:nvPicPr>
          <p:cNvPr id="3" name="Picture 2" descr="KL University - Wikipedia">
            <a:extLst>
              <a:ext uri="{FF2B5EF4-FFF2-40B4-BE49-F238E27FC236}">
                <a16:creationId xmlns:a16="http://schemas.microsoft.com/office/drawing/2014/main" id="{934ACFD8-9651-EBAF-0050-3F3F2819A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6855" cy="557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822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95FA4-5D49-CA58-FEFD-DBD3267D4A5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4A6D946-05C7-A3C2-BD02-891AF78AB0BD}"/>
              </a:ext>
            </a:extLst>
          </p:cNvPr>
          <p:cNvSpPr/>
          <p:nvPr/>
        </p:nvSpPr>
        <p:spPr>
          <a:xfrm>
            <a:off x="408215" y="972072"/>
            <a:ext cx="10594082" cy="3416320"/>
          </a:xfrm>
          <a:prstGeom prst="rect">
            <a:avLst/>
          </a:prstGeom>
        </p:spPr>
        <p:txBody>
          <a:bodyPr wrap="square">
            <a:spAutoFit/>
          </a:bodyPr>
          <a:lstStyle/>
          <a:p>
            <a:endParaRPr lang="en-IN" sz="2400" b="1" dirty="0"/>
          </a:p>
          <a:p>
            <a:r>
              <a:rPr lang="en-IN" sz="2400" b="1" dirty="0"/>
              <a:t>Types:</a:t>
            </a:r>
          </a:p>
          <a:p>
            <a:pPr marL="457200" indent="-457200">
              <a:buFont typeface="+mj-lt"/>
              <a:buAutoNum type="arabicPeriod"/>
            </a:pPr>
            <a:r>
              <a:rPr lang="en-IN" sz="2400" dirty="0"/>
              <a:t> General </a:t>
            </a:r>
            <a:r>
              <a:rPr lang="en-US" sz="2400" dirty="0"/>
              <a:t>Continuous</a:t>
            </a:r>
            <a:r>
              <a:rPr lang="en-IN" sz="2400" dirty="0"/>
              <a:t> Distribution</a:t>
            </a:r>
          </a:p>
          <a:p>
            <a:pPr marL="457200" indent="-457200">
              <a:buFont typeface="+mj-lt"/>
              <a:buAutoNum type="arabicPeriod"/>
            </a:pPr>
            <a:r>
              <a:rPr lang="en-IN" sz="2400" dirty="0"/>
              <a:t> Uniform Distribution</a:t>
            </a:r>
          </a:p>
          <a:p>
            <a:pPr marL="457200" indent="-457200">
              <a:buFont typeface="+mj-lt"/>
              <a:buAutoNum type="arabicPeriod"/>
            </a:pPr>
            <a:r>
              <a:rPr lang="en-IN" sz="2400" dirty="0"/>
              <a:t> Exponential Distribution</a:t>
            </a:r>
          </a:p>
          <a:p>
            <a:pPr marL="457200" indent="-457200">
              <a:buFont typeface="+mj-lt"/>
              <a:buAutoNum type="arabicPeriod"/>
            </a:pPr>
            <a:r>
              <a:rPr lang="en-IN" sz="2400" dirty="0"/>
              <a:t> Normal Distribution</a:t>
            </a:r>
          </a:p>
          <a:p>
            <a:pPr marL="457200" indent="-457200">
              <a:buFont typeface="+mj-lt"/>
              <a:buAutoNum type="arabicPeriod"/>
            </a:pPr>
            <a:r>
              <a:rPr lang="en-IN" sz="2400" dirty="0"/>
              <a:t> Standard Normal Distribution</a:t>
            </a:r>
          </a:p>
          <a:p>
            <a:pPr marL="457200" indent="-457200">
              <a:buFont typeface="+mj-lt"/>
              <a:buAutoNum type="arabicPeriod"/>
            </a:pPr>
            <a:endParaRPr lang="en-IN" sz="2400" dirty="0"/>
          </a:p>
          <a:p>
            <a:pPr algn="just"/>
            <a:endParaRPr lang="en-US" sz="2400" b="1" dirty="0"/>
          </a:p>
        </p:txBody>
      </p:sp>
      <p:sp>
        <p:nvSpPr>
          <p:cNvPr id="2" name="Rounded Rectangle 17">
            <a:extLst>
              <a:ext uri="{FF2B5EF4-FFF2-40B4-BE49-F238E27FC236}">
                <a16:creationId xmlns:a16="http://schemas.microsoft.com/office/drawing/2014/main" id="{DE207180-ABFD-BBDA-A9ED-FA8A359C9DD4}"/>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Continuous Distributions</a:t>
            </a:r>
          </a:p>
        </p:txBody>
      </p:sp>
      <p:pic>
        <p:nvPicPr>
          <p:cNvPr id="4" name="Picture 2" descr="KL University - Wikipedia">
            <a:extLst>
              <a:ext uri="{FF2B5EF4-FFF2-40B4-BE49-F238E27FC236}">
                <a16:creationId xmlns:a16="http://schemas.microsoft.com/office/drawing/2014/main" id="{E6FFE7DD-000A-50DF-B1E6-B3668A7B5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6286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FDF31-2619-DF04-A5C6-B27559FC5DB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81608048-340A-F01B-A27C-77F0ECAB1961}"/>
                  </a:ext>
                </a:extLst>
              </p:cNvPr>
              <p:cNvSpPr/>
              <p:nvPr/>
            </p:nvSpPr>
            <p:spPr>
              <a:xfrm>
                <a:off x="408215" y="972072"/>
                <a:ext cx="10594082" cy="471353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pPr algn="just"/>
                <a:r>
                  <a:rPr lang="en-IN" sz="2400" dirty="0"/>
                  <a:t>Let X be a continuous variable. A continuous distribution of X can be defined by a probability density function f(x) which is such a function such that</a:t>
                </a:r>
              </a:p>
              <a:p>
                <a:endParaRPr lang="en-IN" sz="2400" dirty="0"/>
              </a:p>
              <a:p>
                <a:pPr marL="457200" indent="-457200">
                  <a:buFont typeface="Arial" panose="020B0604020202020204" pitchFamily="34" charset="0"/>
                  <a:buChar char="•"/>
                </a:pPr>
                <a:r>
                  <a:rPr lang="en-IN" sz="2400" dirty="0"/>
                  <a:t>Probability density function = </a:t>
                </a:r>
                <a14:m>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𝑑𝐹</m:t>
                        </m:r>
                      </m:num>
                      <m:den>
                        <m:r>
                          <a:rPr lang="en-US" sz="2400" i="1">
                            <a:latin typeface="Cambria Math" panose="02040503050406030204" pitchFamily="18" charset="0"/>
                          </a:rPr>
                          <m:t>𝑑𝑥</m:t>
                        </m:r>
                      </m:den>
                    </m:f>
                  </m:oMath>
                </a14:m>
                <a:endParaRPr lang="en-IN" sz="2400" dirty="0"/>
              </a:p>
              <a:p>
                <a:pPr marL="457200" indent="-457200">
                  <a:buFont typeface="Arial" panose="020B0604020202020204" pitchFamily="34" charset="0"/>
                  <a:buChar char="•"/>
                </a:pPr>
                <a:r>
                  <a:rPr lang="en-IN" sz="2400" dirty="0"/>
                  <a:t>Cumulative Probability = </a:t>
                </a:r>
                <a14:m>
                  <m:oMath xmlns:m="http://schemas.openxmlformats.org/officeDocument/2006/math">
                    <m:r>
                      <a:rPr lang="en-US" sz="2400" b="0" i="1" smtClean="0">
                        <a:latin typeface="Cambria Math" panose="02040503050406030204" pitchFamily="18" charset="0"/>
                      </a:rPr>
                      <m:t>𝐹</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rPr>
                      <m:t>=</m:t>
                    </m:r>
                    <m:r>
                      <a:rPr lang="en-US" sz="2400" i="1">
                        <a:latin typeface="Cambria Math" panose="02040503050406030204" pitchFamily="18" charset="0"/>
                      </a:rPr>
                      <m:t> </m:t>
                    </m:r>
                    <m:nary>
                      <m:naryPr>
                        <m:limLoc m:val="undOvr"/>
                        <m:ctrlPr>
                          <a:rPr lang="en-US" sz="2400" i="1">
                            <a:latin typeface="Cambria Math" panose="02040503050406030204" pitchFamily="18" charset="0"/>
                          </a:rPr>
                        </m:ctrlPr>
                      </m:naryPr>
                      <m:sub>
                        <m:r>
                          <m:rPr>
                            <m:brk m:alnAt="24"/>
                          </m:rP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ub>
                      <m:sup>
                        <m:r>
                          <a:rPr lang="en-US" sz="2400" b="0" i="1" smtClean="0">
                            <a:latin typeface="Cambria Math" panose="02040503050406030204" pitchFamily="18" charset="0"/>
                            <a:ea typeface="Cambria Math" panose="02040503050406030204" pitchFamily="18" charset="0"/>
                          </a:rPr>
                          <m:t>𝑥</m:t>
                        </m:r>
                      </m:sup>
                      <m:e>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𝑑𝑥</m:t>
                        </m:r>
                      </m:e>
                    </m:nary>
                  </m:oMath>
                </a14:m>
                <a:endParaRPr lang="en-IN" sz="2400" dirty="0"/>
              </a:p>
              <a:p>
                <a:pPr marL="457200" indent="-457200">
                  <a:buFont typeface="Arial" panose="020B0604020202020204" pitchFamily="34" charset="0"/>
                  <a:buChar char="•"/>
                </a:pPr>
                <a:r>
                  <a:rPr lang="en-IN" sz="2400" dirty="0"/>
                  <a:t> Mean = Expected value = </a:t>
                </a:r>
                <a14:m>
                  <m:oMath xmlns:m="http://schemas.openxmlformats.org/officeDocument/2006/math">
                    <m:r>
                      <a:rPr lang="en-US" sz="2400" i="1">
                        <a:latin typeface="Cambria Math" panose="02040503050406030204" pitchFamily="18" charset="0"/>
                      </a:rPr>
                      <m:t>𝐸</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µ</m:t>
                        </m:r>
                      </m:e>
                      <m:sub>
                        <m:r>
                          <a:rPr lang="en-US" sz="2400" i="1">
                            <a:latin typeface="Cambria Math" panose="02040503050406030204" pitchFamily="18" charset="0"/>
                          </a:rPr>
                          <m:t>𝑥</m:t>
                        </m:r>
                      </m:sub>
                    </m:sSub>
                    <m:r>
                      <a:rPr lang="en-US" sz="2400" i="1">
                        <a:latin typeface="Cambria Math" panose="02040503050406030204" pitchFamily="18" charset="0"/>
                      </a:rPr>
                      <m:t>=  </m:t>
                    </m:r>
                    <m:nary>
                      <m:naryPr>
                        <m:limLoc m:val="undOvr"/>
                        <m:ctrlPr>
                          <a:rPr lang="en-US" sz="2400" i="1">
                            <a:latin typeface="Cambria Math" panose="02040503050406030204" pitchFamily="18" charset="0"/>
                          </a:rPr>
                        </m:ctrlPr>
                      </m:naryPr>
                      <m:sub>
                        <m:r>
                          <m:rPr>
                            <m:brk m:alnAt="24"/>
                          </m:rP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ub>
                      <m:sup>
                        <m:r>
                          <a:rPr lang="en-US" sz="2400" i="1">
                            <a:latin typeface="Cambria Math" panose="02040503050406030204" pitchFamily="18" charset="0"/>
                            <a:ea typeface="Cambria Math" panose="02040503050406030204" pitchFamily="18" charset="0"/>
                          </a:rPr>
                          <m:t>∞</m:t>
                        </m:r>
                      </m:sup>
                      <m:e>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𝑑𝑥</m:t>
                        </m:r>
                      </m:e>
                    </m:nary>
                  </m:oMath>
                </a14:m>
                <a:endParaRPr lang="en-US" sz="2400" dirty="0"/>
              </a:p>
              <a:p>
                <a:pPr marL="457200" indent="-457200">
                  <a:buFont typeface="Arial" panose="020B0604020202020204" pitchFamily="34" charset="0"/>
                  <a:buChar char="•"/>
                </a:pPr>
                <a:r>
                  <a:rPr lang="en-IN" sz="2400" dirty="0"/>
                  <a:t>Variance= </a:t>
                </a:r>
                <a14:m>
                  <m:oMath xmlns:m="http://schemas.openxmlformats.org/officeDocument/2006/math">
                    <m:r>
                      <a:rPr lang="en-US" sz="2400" i="1">
                        <a:latin typeface="Cambria Math" panose="02040503050406030204" pitchFamily="18" charset="0"/>
                      </a:rPr>
                      <m:t>𝑉</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oMath>
                </a14:m>
                <a:r>
                  <a:rPr lang="en-IN" sz="2400" dirty="0"/>
                  <a:t> </a:t>
                </a:r>
                <a14:m>
                  <m:oMath xmlns:m="http://schemas.openxmlformats.org/officeDocument/2006/math">
                    <m:r>
                      <a:rPr lang="en-US" sz="2400" i="1">
                        <a:latin typeface="Cambria Math" panose="02040503050406030204" pitchFamily="18" charset="0"/>
                      </a:rPr>
                      <m:t>𝐸</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e>
                    </m:d>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m:t>
                        </m:r>
                        <m:r>
                          <a:rPr lang="en-US" sz="2400" i="1">
                            <a:latin typeface="Cambria Math" panose="02040503050406030204" pitchFamily="18" charset="0"/>
                          </a:rPr>
                          <m:t>𝐸</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e>
                      <m:sup>
                        <m:r>
                          <a:rPr lang="en-US" sz="2400" i="1">
                            <a:latin typeface="Cambria Math" panose="02040503050406030204" pitchFamily="18" charset="0"/>
                          </a:rPr>
                          <m:t>2</m:t>
                        </m:r>
                      </m:sup>
                    </m:sSup>
                    <m:r>
                      <a:rPr lang="en-US" sz="2400" i="1">
                        <a:latin typeface="Cambria Math" panose="02040503050406030204" pitchFamily="18" charset="0"/>
                      </a:rPr>
                      <m:t>=</m:t>
                    </m:r>
                  </m:oMath>
                </a14:m>
                <a:r>
                  <a:rPr lang="en-IN" sz="2400" dirty="0"/>
                  <a:t> </a:t>
                </a:r>
                <a14:m>
                  <m:oMath xmlns:m="http://schemas.openxmlformats.org/officeDocument/2006/math">
                    <m:nary>
                      <m:naryPr>
                        <m:limLoc m:val="undOvr"/>
                        <m:ctrlPr>
                          <a:rPr lang="en-US" sz="2400" i="1">
                            <a:latin typeface="Cambria Math" panose="02040503050406030204" pitchFamily="18" charset="0"/>
                          </a:rPr>
                        </m:ctrlPr>
                      </m:naryPr>
                      <m:sub>
                        <m:r>
                          <m:rPr>
                            <m:brk m:alnAt="24"/>
                          </m:rP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ub>
                      <m:sup>
                        <m:r>
                          <a:rPr lang="en-US" sz="2400" i="1">
                            <a:latin typeface="Cambria Math" panose="02040503050406030204" pitchFamily="18" charset="0"/>
                            <a:ea typeface="Cambria Math" panose="02040503050406030204" pitchFamily="18" charset="0"/>
                          </a:rPr>
                          <m:t>∞</m:t>
                        </m:r>
                      </m:sup>
                      <m:e>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𝑑𝑥</m:t>
                        </m:r>
                      </m:e>
                    </m:nary>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m:t>
                        </m:r>
                        <m:nary>
                          <m:naryPr>
                            <m:limLoc m:val="undOvr"/>
                            <m:ctrlPr>
                              <a:rPr lang="en-US" sz="2400" i="1">
                                <a:latin typeface="Cambria Math" panose="02040503050406030204" pitchFamily="18" charset="0"/>
                              </a:rPr>
                            </m:ctrlPr>
                          </m:naryPr>
                          <m:sub>
                            <m:r>
                              <m:rPr>
                                <m:brk m:alnAt="24"/>
                              </m:rP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ub>
                          <m:sup>
                            <m:r>
                              <a:rPr lang="en-US" sz="2400" i="1">
                                <a:latin typeface="Cambria Math" panose="02040503050406030204" pitchFamily="18" charset="0"/>
                                <a:ea typeface="Cambria Math" panose="02040503050406030204" pitchFamily="18" charset="0"/>
                              </a:rPr>
                              <m:t>∞</m:t>
                            </m:r>
                          </m:sup>
                          <m:e>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𝑑𝑥</m:t>
                            </m:r>
                          </m:e>
                        </m:nary>
                        <m:r>
                          <a:rPr lang="en-US" sz="2400" i="1">
                            <a:latin typeface="Cambria Math" panose="02040503050406030204" pitchFamily="18" charset="0"/>
                          </a:rPr>
                          <m:t>]</m:t>
                        </m:r>
                      </m:e>
                      <m:sup>
                        <m:r>
                          <a:rPr lang="en-US" sz="2400" i="1">
                            <a:latin typeface="Cambria Math" panose="02040503050406030204" pitchFamily="18" charset="0"/>
                          </a:rPr>
                          <m:t>2</m:t>
                        </m:r>
                      </m:sup>
                    </m:sSup>
                  </m:oMath>
                </a14:m>
                <a:endParaRPr lang="en-IN" sz="2400" dirty="0"/>
              </a:p>
              <a:p>
                <a:pPr marL="457200" indent="-457200">
                  <a:buFont typeface="Arial" panose="020B0604020202020204" pitchFamily="34" charset="0"/>
                  <a:buChar char="•"/>
                </a:pPr>
                <a14:m>
                  <m:oMath xmlns:m="http://schemas.openxmlformats.org/officeDocument/2006/math">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𝑋</m:t>
                        </m:r>
                        <m:r>
                          <a:rPr lang="en-US" sz="2400" i="1">
                            <a:latin typeface="Cambria Math" panose="02040503050406030204" pitchFamily="18" charset="0"/>
                            <a:ea typeface="Cambria Math" panose="02040503050406030204" pitchFamily="18" charset="0"/>
                          </a:rPr>
                          <m:t>≤∞</m:t>
                        </m:r>
                      </m:e>
                    </m:d>
                    <m:r>
                      <a:rPr lang="en-US" sz="2400" i="1">
                        <a:latin typeface="Cambria Math" panose="02040503050406030204" pitchFamily="18" charset="0"/>
                      </a:rPr>
                      <m:t>= </m:t>
                    </m:r>
                    <m:nary>
                      <m:naryPr>
                        <m:limLoc m:val="undOvr"/>
                        <m:ctrlPr>
                          <a:rPr lang="en-US" sz="2400" i="1">
                            <a:latin typeface="Cambria Math" panose="02040503050406030204" pitchFamily="18" charset="0"/>
                          </a:rPr>
                        </m:ctrlPr>
                      </m:naryPr>
                      <m:sub>
                        <m:r>
                          <m:rPr>
                            <m:brk m:alnAt="24"/>
                          </m:rP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ub>
                      <m:sup>
                        <m:r>
                          <a:rPr lang="en-US" sz="2400" i="1">
                            <a:latin typeface="Cambria Math" panose="02040503050406030204" pitchFamily="18" charset="0"/>
                            <a:ea typeface="Cambria Math" panose="02040503050406030204" pitchFamily="18" charset="0"/>
                          </a:rPr>
                          <m:t>∞</m:t>
                        </m:r>
                      </m:sup>
                      <m:e>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𝑑𝑥</m:t>
                        </m:r>
                        <m:r>
                          <a:rPr lang="en-US" sz="2400" i="1">
                            <a:latin typeface="Cambria Math" panose="02040503050406030204" pitchFamily="18" charset="0"/>
                          </a:rPr>
                          <m:t>=1</m:t>
                        </m:r>
                      </m:e>
                    </m:nary>
                  </m:oMath>
                </a14:m>
                <a:endParaRPr lang="en-IN" sz="2400" dirty="0"/>
              </a:p>
              <a:p>
                <a:pPr marL="457200" indent="-457200">
                  <a:buFont typeface="Arial" panose="020B0604020202020204" pitchFamily="34" charset="0"/>
                  <a:buChar char="•"/>
                </a:pPr>
                <a:endParaRPr lang="en-IN" sz="2400" dirty="0"/>
              </a:p>
              <a:p>
                <a:pPr algn="just"/>
                <a:endParaRPr lang="en-US" sz="2400" b="1" dirty="0"/>
              </a:p>
            </p:txBody>
          </p:sp>
        </mc:Choice>
        <mc:Fallback xmlns="">
          <p:sp>
            <p:nvSpPr>
              <p:cNvPr id="3" name="Rectangle 2">
                <a:extLst>
                  <a:ext uri="{FF2B5EF4-FFF2-40B4-BE49-F238E27FC236}">
                    <a16:creationId xmlns:a16="http://schemas.microsoft.com/office/drawing/2014/main" id="{81608048-340A-F01B-A27C-77F0ECAB1961}"/>
                  </a:ext>
                </a:extLst>
              </p:cNvPr>
              <p:cNvSpPr>
                <a:spLocks noRot="1" noChangeAspect="1" noMove="1" noResize="1" noEditPoints="1" noAdjustHandles="1" noChangeArrowheads="1" noChangeShapeType="1" noTextEdit="1"/>
              </p:cNvSpPr>
              <p:nvPr/>
            </p:nvSpPr>
            <p:spPr>
              <a:xfrm>
                <a:off x="408215" y="972072"/>
                <a:ext cx="10594082" cy="4713534"/>
              </a:xfrm>
              <a:prstGeom prst="rect">
                <a:avLst/>
              </a:prstGeom>
              <a:blipFill>
                <a:blip r:embed="rId2"/>
                <a:stretch>
                  <a:fillRect l="-921" r="-863"/>
                </a:stretch>
              </a:blipFill>
            </p:spPr>
            <p:txBody>
              <a:bodyPr/>
              <a:lstStyle/>
              <a:p>
                <a:r>
                  <a:rPr lang="en-IN">
                    <a:noFill/>
                  </a:rPr>
                  <a:t> </a:t>
                </a:r>
              </a:p>
            </p:txBody>
          </p:sp>
        </mc:Fallback>
      </mc:AlternateContent>
      <p:sp>
        <p:nvSpPr>
          <p:cNvPr id="2" name="Rounded Rectangle 17">
            <a:extLst>
              <a:ext uri="{FF2B5EF4-FFF2-40B4-BE49-F238E27FC236}">
                <a16:creationId xmlns:a16="http://schemas.microsoft.com/office/drawing/2014/main" id="{E4DE5418-AF3F-1FEC-E286-9DD0E94357E5}"/>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1. General </a:t>
            </a:r>
            <a:r>
              <a:rPr lang="en-US" sz="2400" dirty="0"/>
              <a:t>Continuous Distributions</a:t>
            </a:r>
          </a:p>
        </p:txBody>
      </p:sp>
      <p:pic>
        <p:nvPicPr>
          <p:cNvPr id="4" name="Picture 2" descr="KL University - Wikipedia">
            <a:extLst>
              <a:ext uri="{FF2B5EF4-FFF2-40B4-BE49-F238E27FC236}">
                <a16:creationId xmlns:a16="http://schemas.microsoft.com/office/drawing/2014/main" id="{B0E39140-4556-143A-877F-8574403019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0600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E32F-ED17-3E02-9E41-F3038709141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74435D6B-911D-20F5-466E-83D09A19E1B3}"/>
                  </a:ext>
                </a:extLst>
              </p:cNvPr>
              <p:cNvSpPr/>
              <p:nvPr/>
            </p:nvSpPr>
            <p:spPr>
              <a:xfrm>
                <a:off x="408215" y="972072"/>
                <a:ext cx="10594082" cy="4013535"/>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r>
                  <a:rPr lang="en-IN" sz="2400" b="1" dirty="0"/>
                  <a:t>Example:  </a:t>
                </a:r>
                <a:r>
                  <a:rPr lang="en-IN" sz="2400" dirty="0"/>
                  <a:t>A continuous random variable X has a probability density function </a:t>
                </a:r>
              </a:p>
              <a:p>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m:t>
                        </m:r>
                        <m:r>
                          <a:rPr lang="en-US" sz="2400" b="0" i="1" smtClean="0">
                            <a:latin typeface="Cambria Math" panose="02040503050406030204" pitchFamily="18" charset="0"/>
                          </a:rPr>
                          <m:t>𝑥</m:t>
                        </m:r>
                      </m:sup>
                    </m:sSup>
                    <m:r>
                      <a:rPr lang="en-US" sz="2400" b="0" i="0" smtClean="0">
                        <a:latin typeface="Cambria Math" panose="02040503050406030204" pitchFamily="18" charset="0"/>
                      </a:rPr>
                      <m:t>,  0&lt;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&lt;</m:t>
                    </m:r>
                    <m:r>
                      <a:rPr lang="en-US" sz="2400" i="1">
                        <a:latin typeface="Cambria Math" panose="02040503050406030204" pitchFamily="18" charset="0"/>
                        <a:ea typeface="Cambria Math" panose="02040503050406030204" pitchFamily="18" charset="0"/>
                      </a:rPr>
                      <m:t>∞</m:t>
                    </m:r>
                  </m:oMath>
                </a14:m>
                <a:r>
                  <a:rPr lang="en-IN" sz="2400" dirty="0"/>
                  <a:t>.  Then </a:t>
                </a:r>
                <a14:m>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𝑋</m:t>
                    </m:r>
                    <m:r>
                      <a:rPr lang="en-US" sz="2400" b="0" i="1" smtClean="0">
                        <a:latin typeface="Cambria Math" panose="02040503050406030204" pitchFamily="18" charset="0"/>
                      </a:rPr>
                      <m:t>&gt;1]</m:t>
                    </m:r>
                  </m:oMath>
                </a14:m>
                <a:r>
                  <a:rPr lang="en-IN" sz="2400" dirty="0"/>
                  <a:t> is</a:t>
                </a:r>
              </a:p>
              <a:p>
                <a:endParaRPr lang="en-IN" sz="2400" dirty="0"/>
              </a:p>
              <a:p>
                <a:r>
                  <a:rPr lang="en-IN" sz="2400" b="1" dirty="0"/>
                  <a:t>Ans: </a:t>
                </a:r>
              </a:p>
              <a:p>
                <a14:m>
                  <m:oMath xmlns:m="http://schemas.openxmlformats.org/officeDocument/2006/math">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b="0" i="1" smtClean="0">
                            <a:latin typeface="Cambria Math" panose="02040503050406030204" pitchFamily="18" charset="0"/>
                          </a:rPr>
                          <m:t>&gt;1</m:t>
                        </m:r>
                      </m:e>
                    </m:d>
                    <m:r>
                      <a:rPr lang="en-US" sz="2400" i="1">
                        <a:latin typeface="Cambria Math" panose="02040503050406030204" pitchFamily="18" charset="0"/>
                      </a:rPr>
                      <m:t>=</m:t>
                    </m:r>
                    <m:r>
                      <a:rPr lang="en-US" sz="2400" b="0" i="1" smtClean="0">
                        <a:latin typeface="Cambria Math" panose="02040503050406030204" pitchFamily="18" charset="0"/>
                      </a:rPr>
                      <m:t>1−</m:t>
                    </m:r>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ea typeface="Cambria Math" panose="02040503050406030204" pitchFamily="18" charset="0"/>
                          </a:rPr>
                          <m:t>≤1</m:t>
                        </m:r>
                      </m:e>
                    </m:d>
                    <m:r>
                      <a:rPr lang="en-US" sz="2400" b="0" i="1" smtClean="0">
                        <a:latin typeface="Cambria Math" panose="02040503050406030204" pitchFamily="18" charset="0"/>
                      </a:rPr>
                      <m:t>=1−</m:t>
                    </m:r>
                    <m:nary>
                      <m:naryPr>
                        <m:limLoc m:val="undOvr"/>
                        <m:ctrlPr>
                          <a:rPr lang="en-US" sz="2400" i="1">
                            <a:latin typeface="Cambria Math" panose="02040503050406030204" pitchFamily="18" charset="0"/>
                          </a:rPr>
                        </m:ctrlPr>
                      </m:naryPr>
                      <m:sub>
                        <m:r>
                          <m:rPr>
                            <m:brk m:alnAt="24"/>
                          </m:rP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ub>
                      <m:sup>
                        <m:r>
                          <a:rPr lang="en-US" sz="2400" b="0" i="1" smtClean="0">
                            <a:latin typeface="Cambria Math" panose="02040503050406030204" pitchFamily="18" charset="0"/>
                            <a:ea typeface="Cambria Math" panose="02040503050406030204" pitchFamily="18" charset="0"/>
                          </a:rPr>
                          <m:t>1</m:t>
                        </m:r>
                      </m:sup>
                      <m:e>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𝑑𝑥</m:t>
                        </m:r>
                      </m:e>
                    </m:nary>
                  </m:oMath>
                </a14:m>
                <a:r>
                  <a:rPr lang="en-IN" sz="2400" dirty="0"/>
                  <a:t> = </a:t>
                </a:r>
                <a14:m>
                  <m:oMath xmlns:m="http://schemas.openxmlformats.org/officeDocument/2006/math">
                    <m:r>
                      <a:rPr lang="en-US" sz="2400" b="0" i="0" smtClean="0">
                        <a:latin typeface="Cambria Math" panose="02040503050406030204" pitchFamily="18" charset="0"/>
                      </a:rPr>
                      <m:t>1−</m:t>
                    </m:r>
                    <m:nary>
                      <m:naryPr>
                        <m:limLoc m:val="undOvr"/>
                        <m:ctrlPr>
                          <a:rPr lang="en-US" sz="2400" i="1">
                            <a:latin typeface="Cambria Math" panose="02040503050406030204" pitchFamily="18" charset="0"/>
                          </a:rPr>
                        </m:ctrlPr>
                      </m:naryPr>
                      <m:sub>
                        <m:r>
                          <m:rPr>
                            <m:brk m:alnAt="24"/>
                          </m:rP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ub>
                      <m:sup>
                        <m:r>
                          <a:rPr lang="en-US" sz="2400" i="1">
                            <a:latin typeface="Cambria Math" panose="02040503050406030204" pitchFamily="18" charset="0"/>
                            <a:ea typeface="Cambria Math" panose="02040503050406030204" pitchFamily="18" charset="0"/>
                          </a:rPr>
                          <m:t>1</m:t>
                        </m:r>
                      </m:sup>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𝑥</m:t>
                            </m:r>
                          </m:sup>
                        </m:sSup>
                        <m:r>
                          <a:rPr lang="en-US" sz="2400" i="1">
                            <a:latin typeface="Cambria Math" panose="02040503050406030204" pitchFamily="18" charset="0"/>
                          </a:rPr>
                          <m:t>𝑑𝑥</m:t>
                        </m:r>
                      </m:e>
                    </m:nary>
                  </m:oMath>
                </a14:m>
                <a:r>
                  <a:rPr lang="en-IN" sz="2400" dirty="0"/>
                  <a:t> </a:t>
                </a:r>
              </a:p>
              <a:p>
                <a14:m>
                  <m:oMath xmlns:m="http://schemas.openxmlformats.org/officeDocument/2006/math">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&gt;1</m:t>
                        </m:r>
                      </m:e>
                    </m:d>
                    <m:r>
                      <a:rPr lang="en-US" sz="2400" i="1">
                        <a:latin typeface="Cambria Math" panose="02040503050406030204" pitchFamily="18" charset="0"/>
                      </a:rPr>
                      <m:t>=</m:t>
                    </m:r>
                  </m:oMath>
                </a14:m>
                <a:r>
                  <a:rPr lang="en-IN" sz="2400" dirty="0"/>
                  <a:t> </a:t>
                </a:r>
                <a14:m>
                  <m:oMath xmlns:m="http://schemas.openxmlformats.org/officeDocument/2006/math">
                    <m:nary>
                      <m:naryPr>
                        <m:limLoc m:val="undOvr"/>
                        <m:ctrlPr>
                          <a:rPr lang="en-US" sz="2400" i="1">
                            <a:latin typeface="Cambria Math" panose="02040503050406030204" pitchFamily="18" charset="0"/>
                          </a:rPr>
                        </m:ctrlPr>
                      </m:naryPr>
                      <m:sub>
                        <m:r>
                          <m:rPr>
                            <m:brk m:alnAt="24"/>
                          </m:rPr>
                          <a:rPr lang="en-US" sz="2400" b="0" i="1" smtClean="0">
                            <a:latin typeface="Cambria Math" panose="02040503050406030204" pitchFamily="18" charset="0"/>
                          </a:rPr>
                          <m:t>1</m:t>
                        </m:r>
                      </m:sub>
                      <m:sup>
                        <m:r>
                          <a:rPr lang="en-US" sz="2400" i="1">
                            <a:latin typeface="Cambria Math" panose="02040503050406030204" pitchFamily="18" charset="0"/>
                            <a:ea typeface="Cambria Math" panose="02040503050406030204" pitchFamily="18" charset="0"/>
                          </a:rPr>
                          <m:t>∞</m:t>
                        </m:r>
                      </m:sup>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𝑥</m:t>
                            </m:r>
                          </m:sup>
                        </m:sSup>
                        <m:r>
                          <a:rPr lang="en-US" sz="2400" i="1">
                            <a:latin typeface="Cambria Math" panose="02040503050406030204" pitchFamily="18" charset="0"/>
                          </a:rPr>
                          <m:t>𝑑𝑥</m:t>
                        </m:r>
                      </m:e>
                    </m:nary>
                    <m:r>
                      <a:rPr lang="en-US" sz="2400" b="0" i="0"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b="0" i="1" smtClean="0">
                            <a:latin typeface="Cambria Math" panose="02040503050406030204" pitchFamily="18" charset="0"/>
                          </a:rPr>
                          <m:t>1</m:t>
                        </m:r>
                      </m:sup>
                    </m:sSup>
                    <m:r>
                      <a:rPr lang="en-US" sz="2400" b="0" i="1" smtClean="0">
                        <a:latin typeface="Cambria Math" panose="02040503050406030204" pitchFamily="18" charset="0"/>
                      </a:rPr>
                      <m:t>=0.368</m:t>
                    </m:r>
                  </m:oMath>
                </a14:m>
                <a:endParaRPr lang="en-IN" sz="2400"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mc:Choice>
        <mc:Fallback xmlns="">
          <p:sp>
            <p:nvSpPr>
              <p:cNvPr id="3" name="Rectangle 2">
                <a:extLst>
                  <a:ext uri="{FF2B5EF4-FFF2-40B4-BE49-F238E27FC236}">
                    <a16:creationId xmlns:a16="http://schemas.microsoft.com/office/drawing/2014/main" id="{74435D6B-911D-20F5-466E-83D09A19E1B3}"/>
                  </a:ext>
                </a:extLst>
              </p:cNvPr>
              <p:cNvSpPr>
                <a:spLocks noRot="1" noChangeAspect="1" noMove="1" noResize="1" noEditPoints="1" noAdjustHandles="1" noChangeArrowheads="1" noChangeShapeType="1" noTextEdit="1"/>
              </p:cNvSpPr>
              <p:nvPr/>
            </p:nvSpPr>
            <p:spPr>
              <a:xfrm>
                <a:off x="408215" y="972072"/>
                <a:ext cx="10594082" cy="4013535"/>
              </a:xfrm>
              <a:prstGeom prst="rect">
                <a:avLst/>
              </a:prstGeom>
              <a:blipFill>
                <a:blip r:embed="rId2"/>
                <a:stretch>
                  <a:fillRect l="-921"/>
                </a:stretch>
              </a:blipFill>
            </p:spPr>
            <p:txBody>
              <a:bodyPr/>
              <a:lstStyle/>
              <a:p>
                <a:r>
                  <a:rPr lang="en-IN">
                    <a:noFill/>
                  </a:rPr>
                  <a:t> </a:t>
                </a:r>
              </a:p>
            </p:txBody>
          </p:sp>
        </mc:Fallback>
      </mc:AlternateContent>
      <p:sp>
        <p:nvSpPr>
          <p:cNvPr id="2" name="Rounded Rectangle 17">
            <a:extLst>
              <a:ext uri="{FF2B5EF4-FFF2-40B4-BE49-F238E27FC236}">
                <a16:creationId xmlns:a16="http://schemas.microsoft.com/office/drawing/2014/main" id="{0B59E451-A651-16DB-B85B-92A900EC6C8E}"/>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1. General </a:t>
            </a:r>
            <a:r>
              <a:rPr lang="en-US" sz="2400" dirty="0"/>
              <a:t>Continuous Distributions (</a:t>
            </a:r>
            <a:r>
              <a:rPr lang="en-US" sz="2400" dirty="0" err="1"/>
              <a:t>Cont</a:t>
            </a:r>
            <a:r>
              <a:rPr lang="en-US" sz="2400" dirty="0"/>
              <a:t>…)</a:t>
            </a:r>
          </a:p>
        </p:txBody>
      </p:sp>
      <p:pic>
        <p:nvPicPr>
          <p:cNvPr id="4" name="Picture 2" descr="KL University - Wikipedia">
            <a:extLst>
              <a:ext uri="{FF2B5EF4-FFF2-40B4-BE49-F238E27FC236}">
                <a16:creationId xmlns:a16="http://schemas.microsoft.com/office/drawing/2014/main" id="{4ED47187-2FF9-C008-79BC-03E8DF839A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2187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9C5D2-7C55-4706-20A4-438351FF561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0B77DE7C-F0BE-1AB5-97F7-607A5B51C8B0}"/>
                  </a:ext>
                </a:extLst>
              </p:cNvPr>
              <p:cNvSpPr/>
              <p:nvPr/>
            </p:nvSpPr>
            <p:spPr>
              <a:xfrm>
                <a:off x="408215" y="972072"/>
                <a:ext cx="10594082" cy="6334555"/>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r>
                  <a:rPr lang="en-IN" sz="2400" b="1" dirty="0"/>
                  <a:t>Example:  </a:t>
                </a:r>
                <a:r>
                  <a:rPr lang="en-IN" sz="2400" dirty="0"/>
                  <a:t>If X is uniformly distributed over (0,10). Calculate the probability that</a:t>
                </a:r>
              </a:p>
              <a:p>
                <a:pPr marL="457200" indent="-457200">
                  <a:buAutoNum type="alphaLcParenBoth"/>
                </a:pPr>
                <a:endParaRPr lang="en-IN" sz="2400" dirty="0"/>
              </a:p>
              <a:p>
                <a:pPr marL="457200" indent="-457200">
                  <a:buFont typeface="Arial" panose="020B0604020202020204" pitchFamily="34" charset="0"/>
                  <a:buChar char="•"/>
                </a:pPr>
                <a:r>
                  <a:rPr lang="en-IN" sz="2400" dirty="0"/>
                  <a:t>Probability density function= f(x) = </a:t>
                </a:r>
                <a14:m>
                  <m:oMath xmlns:m="http://schemas.openxmlformats.org/officeDocument/2006/math">
                    <m:f>
                      <m:fPr>
                        <m:ctrlPr>
                          <a:rPr lang="en-IN"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𝑏</m:t>
                        </m:r>
                        <m:r>
                          <a:rPr lang="en-US" sz="2400" i="1">
                            <a:latin typeface="Cambria Math" panose="02040503050406030204" pitchFamily="18" charset="0"/>
                          </a:rPr>
                          <m:t>−</m:t>
                        </m:r>
                        <m:r>
                          <a:rPr lang="en-US" sz="2400" i="1">
                            <a:latin typeface="Cambria Math" panose="02040503050406030204" pitchFamily="18" charset="0"/>
                          </a:rPr>
                          <m:t>𝑎</m:t>
                        </m:r>
                      </m:den>
                    </m:f>
                  </m:oMath>
                </a14:m>
                <a:r>
                  <a:rPr lang="en-IN" sz="2400" dirty="0"/>
                  <a:t> = </a:t>
                </a:r>
                <a14:m>
                  <m:oMath xmlns:m="http://schemas.openxmlformats.org/officeDocument/2006/math">
                    <m:f>
                      <m:fPr>
                        <m:ctrlPr>
                          <a:rPr lang="en-IN"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10−0</m:t>
                        </m:r>
                      </m:den>
                    </m:f>
                    <m:r>
                      <a:rPr lang="en-US" sz="2400" i="1">
                        <a:latin typeface="Cambria Math" panose="02040503050406030204" pitchFamily="18" charset="0"/>
                      </a:rPr>
                      <m:t>=0.1</m:t>
                    </m:r>
                  </m:oMath>
                </a14:m>
                <a:r>
                  <a:rPr lang="en-IN" sz="2400" dirty="0"/>
                  <a:t> </a:t>
                </a:r>
              </a:p>
              <a:p>
                <a:pPr marL="457200" indent="-457200">
                  <a:buFont typeface="Arial" panose="020B0604020202020204" pitchFamily="34" charset="0"/>
                  <a:buChar char="•"/>
                </a:pPr>
                <a:r>
                  <a:rPr lang="en-IN" sz="2400" dirty="0"/>
                  <a:t>Cumulative Distribution function = </a:t>
                </a:r>
                <a14:m>
                  <m:oMath xmlns:m="http://schemas.openxmlformats.org/officeDocument/2006/math">
                    <m:r>
                      <m:rPr>
                        <m:sty m:val="p"/>
                      </m:rPr>
                      <a:rPr lang="en-US" sz="2400">
                        <a:latin typeface="Cambria Math" panose="02040503050406030204" pitchFamily="18" charset="0"/>
                      </a:rPr>
                      <m:t>F</m:t>
                    </m:r>
                    <m:d>
                      <m:dPr>
                        <m:ctrlPr>
                          <a:rPr lang="en-US" sz="2400" i="1">
                            <a:latin typeface="Cambria Math" panose="02040503050406030204" pitchFamily="18" charset="0"/>
                          </a:rPr>
                        </m:ctrlPr>
                      </m:dPr>
                      <m:e>
                        <m:r>
                          <m:rPr>
                            <m:sty m:val="p"/>
                          </m:rPr>
                          <a:rPr lang="en-US" sz="2400">
                            <a:latin typeface="Cambria Math" panose="02040503050406030204" pitchFamily="18" charset="0"/>
                          </a:rPr>
                          <m:t>x</m:t>
                        </m:r>
                      </m:e>
                    </m:d>
                    <m:r>
                      <a:rPr lang="en-US" sz="2400">
                        <a:latin typeface="Cambria Math" panose="02040503050406030204" pitchFamily="18" charset="0"/>
                      </a:rPr>
                      <m:t>=</m:t>
                    </m:r>
                    <m:f>
                      <m:fPr>
                        <m:ctrlPr>
                          <a:rPr lang="en-IN" sz="2400" i="1">
                            <a:latin typeface="Cambria Math" panose="02040503050406030204" pitchFamily="18" charset="0"/>
                          </a:rPr>
                        </m:ctrlPr>
                      </m:fPr>
                      <m:num>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𝑎</m:t>
                        </m:r>
                      </m:num>
                      <m:den>
                        <m:r>
                          <a:rPr lang="en-US" sz="2400" i="1">
                            <a:latin typeface="Cambria Math" panose="02040503050406030204" pitchFamily="18" charset="0"/>
                          </a:rPr>
                          <m:t>𝑏</m:t>
                        </m:r>
                        <m:r>
                          <a:rPr lang="en-US" sz="2400" i="1">
                            <a:latin typeface="Cambria Math" panose="02040503050406030204" pitchFamily="18" charset="0"/>
                          </a:rPr>
                          <m:t>−</m:t>
                        </m:r>
                        <m:r>
                          <a:rPr lang="en-US" sz="2400" i="1">
                            <a:latin typeface="Cambria Math" panose="02040503050406030204" pitchFamily="18" charset="0"/>
                          </a:rPr>
                          <m:t>𝑎</m:t>
                        </m:r>
                      </m:den>
                    </m:f>
                  </m:oMath>
                </a14:m>
                <a:r>
                  <a:rPr lang="en-IN" sz="2400" dirty="0"/>
                  <a:t> = </a:t>
                </a:r>
                <a14:m>
                  <m:oMath xmlns:m="http://schemas.openxmlformats.org/officeDocument/2006/math">
                    <m:f>
                      <m:fPr>
                        <m:ctrlPr>
                          <a:rPr lang="en-IN" sz="2400" i="1">
                            <a:latin typeface="Cambria Math" panose="02040503050406030204" pitchFamily="18" charset="0"/>
                          </a:rPr>
                        </m:ctrlPr>
                      </m:fPr>
                      <m:num>
                        <m:r>
                          <a:rPr lang="en-US" sz="2400" i="1">
                            <a:latin typeface="Cambria Math" panose="02040503050406030204" pitchFamily="18" charset="0"/>
                          </a:rPr>
                          <m:t>𝑥</m:t>
                        </m:r>
                        <m:r>
                          <a:rPr lang="en-US" sz="2400" i="1">
                            <a:latin typeface="Cambria Math" panose="02040503050406030204" pitchFamily="18" charset="0"/>
                          </a:rPr>
                          <m:t>−0</m:t>
                        </m:r>
                      </m:num>
                      <m:den>
                        <m:r>
                          <a:rPr lang="en-US" sz="2400" i="1">
                            <a:latin typeface="Cambria Math" panose="02040503050406030204" pitchFamily="18" charset="0"/>
                          </a:rPr>
                          <m:t>10−0</m:t>
                        </m:r>
                      </m:den>
                    </m:f>
                  </m:oMath>
                </a14:m>
                <a:r>
                  <a:rPr lang="en-IN" sz="2400" dirty="0"/>
                  <a:t> =</a:t>
                </a:r>
                <a:r>
                  <a:rPr lang="en-US" sz="2400" dirty="0"/>
                  <a:t> </a:t>
                </a:r>
                <a14:m>
                  <m:oMath xmlns:m="http://schemas.openxmlformats.org/officeDocument/2006/math">
                    <m:r>
                      <a:rPr lang="en-US" sz="2400">
                        <a:latin typeface="Cambria Math" panose="02040503050406030204" pitchFamily="18" charset="0"/>
                      </a:rPr>
                      <m:t>0.1</m:t>
                    </m:r>
                    <m:r>
                      <a:rPr lang="en-US" sz="2400" i="1">
                        <a:latin typeface="Cambria Math" panose="02040503050406030204" pitchFamily="18" charset="0"/>
                      </a:rPr>
                      <m:t>𝑥</m:t>
                    </m:r>
                  </m:oMath>
                </a14:m>
                <a:endParaRPr lang="en-IN" sz="2400" i="1" dirty="0"/>
              </a:p>
              <a:p>
                <a:pPr marL="457200" indent="-457200">
                  <a:buFont typeface="Arial" panose="020B0604020202020204" pitchFamily="34" charset="0"/>
                  <a:buChar char="•"/>
                </a:pPr>
                <a:r>
                  <a:rPr lang="en-IN" sz="2400" dirty="0"/>
                  <a:t>Mean = </a:t>
                </a:r>
                <a14:m>
                  <m:oMath xmlns:m="http://schemas.openxmlformats.org/officeDocument/2006/math">
                    <m:r>
                      <a:rPr lang="en-US" sz="2400" i="1">
                        <a:latin typeface="Cambria Math" panose="02040503050406030204" pitchFamily="18" charset="0"/>
                      </a:rPr>
                      <m:t>𝐸</m:t>
                    </m:r>
                    <m:d>
                      <m:dPr>
                        <m:ctrlPr>
                          <a:rPr lang="en-US" sz="2400" i="1">
                            <a:latin typeface="Cambria Math" panose="02040503050406030204" pitchFamily="18" charset="0"/>
                          </a:rPr>
                        </m:ctrlPr>
                      </m:dPr>
                      <m:e>
                        <m:r>
                          <a:rPr lang="en-US" sz="2400" i="1">
                            <a:latin typeface="Cambria Math" panose="02040503050406030204" pitchFamily="18" charset="0"/>
                          </a:rPr>
                          <m:t>𝑋</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𝑏</m:t>
                        </m:r>
                        <m:r>
                          <a:rPr lang="en-US" sz="2400" i="1">
                            <a:latin typeface="Cambria Math" panose="02040503050406030204" pitchFamily="18" charset="0"/>
                          </a:rPr>
                          <m:t>+</m:t>
                        </m:r>
                        <m:r>
                          <a:rPr lang="en-US" sz="2400" i="1">
                            <a:latin typeface="Cambria Math" panose="02040503050406030204" pitchFamily="18" charset="0"/>
                          </a:rPr>
                          <m:t>𝑎</m:t>
                        </m:r>
                      </m:num>
                      <m:den>
                        <m:r>
                          <a:rPr lang="en-US" sz="2400" i="1">
                            <a:latin typeface="Cambria Math" panose="02040503050406030204" pitchFamily="18" charset="0"/>
                          </a:rPr>
                          <m:t>2</m:t>
                        </m:r>
                      </m:den>
                    </m:f>
                  </m:oMath>
                </a14:m>
                <a:r>
                  <a:rPr lang="en-IN" sz="2400" dirty="0"/>
                  <a:t> </a:t>
                </a:r>
                <a14:m>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10+0</m:t>
                        </m:r>
                      </m:num>
                      <m:den>
                        <m:r>
                          <a:rPr lang="en-US" sz="2400" i="1">
                            <a:latin typeface="Cambria Math" panose="02040503050406030204" pitchFamily="18" charset="0"/>
                          </a:rPr>
                          <m:t>2</m:t>
                        </m:r>
                      </m:den>
                    </m:f>
                    <m:r>
                      <a:rPr lang="en-US" sz="2400" i="1">
                        <a:latin typeface="Cambria Math" panose="02040503050406030204" pitchFamily="18" charset="0"/>
                      </a:rPr>
                      <m:t>=5</m:t>
                    </m:r>
                  </m:oMath>
                </a14:m>
                <a:endParaRPr lang="en-US" sz="2400" b="0" dirty="0"/>
              </a:p>
              <a:p>
                <a:pPr marL="457200" indent="-457200">
                  <a:buFont typeface="Arial" panose="020B0604020202020204" pitchFamily="34" charset="0"/>
                  <a:buChar char="•"/>
                </a:pPr>
                <a:r>
                  <a:rPr lang="en-US" sz="2400" b="0" dirty="0"/>
                  <a:t>Variance = </a:t>
                </a:r>
                <a14:m>
                  <m:oMath xmlns:m="http://schemas.openxmlformats.org/officeDocument/2006/math">
                    <m:r>
                      <a:rPr lang="en-US" sz="2400" b="0" i="1" smtClean="0">
                        <a:latin typeface="Cambria Math" panose="02040503050406030204" pitchFamily="18" charset="0"/>
                      </a:rPr>
                      <m:t>𝑉</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r>
                      <a:rPr lang="en-US" sz="2400" b="0" i="1" smtClean="0">
                        <a:latin typeface="Cambria Math" panose="02040503050406030204" pitchFamily="18" charset="0"/>
                      </a:rPr>
                      <m:t>= </m:t>
                    </m:r>
                    <m:f>
                      <m:fPr>
                        <m:ctrlPr>
                          <a:rPr lang="en-US" sz="2400" i="1" smtClean="0">
                            <a:latin typeface="Cambria Math" panose="02040503050406030204" pitchFamily="18" charset="0"/>
                          </a:rPr>
                        </m:ctrlPr>
                      </m:fPr>
                      <m:num>
                        <m:sSup>
                          <m:sSupPr>
                            <m:ctrlPr>
                              <a:rPr lang="en-US" sz="2400" i="1" smtClean="0">
                                <a:latin typeface="Cambria Math" panose="02040503050406030204" pitchFamily="18" charset="0"/>
                              </a:rPr>
                            </m:ctrlPr>
                          </m:sSupPr>
                          <m:e>
                            <m:r>
                              <a:rPr lang="en-US" sz="2400" i="1">
                                <a:latin typeface="Cambria Math" panose="02040503050406030204" pitchFamily="18" charset="0"/>
                              </a:rPr>
                              <m:t>(</m:t>
                            </m:r>
                            <m:r>
                              <a:rPr lang="en-US" sz="2400" i="1">
                                <a:latin typeface="Cambria Math" panose="02040503050406030204" pitchFamily="18" charset="0"/>
                              </a:rPr>
                              <m:t>𝑏</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e>
                          <m:sup>
                            <m:r>
                              <a:rPr lang="en-US" sz="2400" b="0" i="1" smtClean="0">
                                <a:latin typeface="Cambria Math" panose="02040503050406030204" pitchFamily="18" charset="0"/>
                              </a:rPr>
                              <m:t>2</m:t>
                            </m:r>
                          </m:sup>
                        </m:sSup>
                      </m:num>
                      <m:den>
                        <m:r>
                          <a:rPr lang="en-US" sz="2400" b="0" i="1" smtClean="0">
                            <a:latin typeface="Cambria Math" panose="02040503050406030204" pitchFamily="18" charset="0"/>
                          </a:rPr>
                          <m:t>1</m:t>
                        </m:r>
                        <m:r>
                          <a:rPr lang="en-US" sz="2400" i="1">
                            <a:latin typeface="Cambria Math" panose="02040503050406030204" pitchFamily="18" charset="0"/>
                          </a:rPr>
                          <m:t>2</m:t>
                        </m:r>
                      </m:den>
                    </m:f>
                  </m:oMath>
                </a14:m>
                <a:r>
                  <a:rPr lang="en-US" sz="2400" b="0" dirty="0"/>
                  <a:t> = </a:t>
                </a:r>
                <a14:m>
                  <m:oMath xmlns:m="http://schemas.openxmlformats.org/officeDocument/2006/math">
                    <m:r>
                      <a:rPr lang="en-US" sz="2400" i="1">
                        <a:latin typeface="Cambria Math" panose="02040503050406030204" pitchFamily="18" charset="0"/>
                      </a:rPr>
                      <m:t> </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m:t>
                            </m:r>
                            <m:r>
                              <a:rPr lang="en-US" sz="2400" b="0" i="1" smtClean="0">
                                <a:latin typeface="Cambria Math" panose="02040503050406030204" pitchFamily="18" charset="0"/>
                              </a:rPr>
                              <m:t>10</m:t>
                            </m:r>
                            <m:r>
                              <a:rPr lang="en-US" sz="2400" i="1">
                                <a:latin typeface="Cambria Math" panose="02040503050406030204" pitchFamily="18" charset="0"/>
                              </a:rPr>
                              <m:t>−</m:t>
                            </m:r>
                            <m:r>
                              <a:rPr lang="en-US" sz="2400" b="0" i="1" smtClean="0">
                                <a:latin typeface="Cambria Math" panose="02040503050406030204" pitchFamily="18" charset="0"/>
                              </a:rPr>
                              <m:t>0</m:t>
                            </m:r>
                            <m:r>
                              <a:rPr lang="en-US" sz="2400" i="1">
                                <a:latin typeface="Cambria Math" panose="02040503050406030204" pitchFamily="18" charset="0"/>
                              </a:rPr>
                              <m:t>)</m:t>
                            </m:r>
                          </m:e>
                          <m:sup>
                            <m:r>
                              <a:rPr lang="en-US" sz="2400" i="1">
                                <a:latin typeface="Cambria Math" panose="02040503050406030204" pitchFamily="18" charset="0"/>
                              </a:rPr>
                              <m:t>2</m:t>
                            </m:r>
                          </m:sup>
                        </m:sSup>
                      </m:num>
                      <m:den>
                        <m:r>
                          <a:rPr lang="en-US" sz="2400" i="1">
                            <a:latin typeface="Cambria Math" panose="02040503050406030204" pitchFamily="18" charset="0"/>
                          </a:rPr>
                          <m:t>12</m:t>
                        </m:r>
                      </m:den>
                    </m:f>
                    <m:r>
                      <a:rPr lang="en-US" sz="2400" b="0" i="0" smtClean="0">
                        <a:latin typeface="Cambria Math" panose="02040503050406030204" pitchFamily="18" charset="0"/>
                      </a:rPr>
                      <m:t>=100/12</m:t>
                    </m:r>
                  </m:oMath>
                </a14:m>
                <a:endParaRPr lang="en-IN" sz="2400" dirty="0"/>
              </a:p>
              <a:p>
                <a:pPr marL="457200" indent="-457200">
                  <a:buFont typeface="Arial" panose="020B0604020202020204" pitchFamily="34" charset="0"/>
                  <a:buChar char="•"/>
                </a:pPr>
                <a:r>
                  <a:rPr lang="en-IN" sz="2400" dirty="0"/>
                  <a:t>X&lt;3 = </a:t>
                </a:r>
                <a14:m>
                  <m:oMath xmlns:m="http://schemas.openxmlformats.org/officeDocument/2006/math">
                    <m:nary>
                      <m:naryPr>
                        <m:ctrlPr>
                          <a:rPr lang="en-IN" sz="2400" i="1" smtClean="0">
                            <a:latin typeface="Cambria Math" panose="02040503050406030204" pitchFamily="18" charset="0"/>
                          </a:rPr>
                        </m:ctrlPr>
                      </m:naryPr>
                      <m:sub>
                        <m:r>
                          <m:rPr>
                            <m:brk m:alnAt="23"/>
                          </m:rPr>
                          <a:rPr lang="en-US" sz="2400" b="0" i="1" smtClean="0">
                            <a:latin typeface="Cambria Math" panose="02040503050406030204" pitchFamily="18" charset="0"/>
                          </a:rPr>
                          <m:t>0</m:t>
                        </m:r>
                      </m:sub>
                      <m:sup>
                        <m:r>
                          <a:rPr lang="en-US" sz="2400" b="0" i="1" smtClean="0">
                            <a:latin typeface="Cambria Math" panose="02040503050406030204" pitchFamily="18" charset="0"/>
                          </a:rPr>
                          <m:t>3</m:t>
                        </m:r>
                      </m:sup>
                      <m:e>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𝑑𝑥</m:t>
                        </m:r>
                        <m:r>
                          <a:rPr lang="en-US" sz="2400" b="0" i="1" smtClean="0">
                            <a:latin typeface="Cambria Math" panose="02040503050406030204" pitchFamily="18" charset="0"/>
                          </a:rPr>
                          <m:t>=</m:t>
                        </m:r>
                      </m:e>
                    </m:nary>
                  </m:oMath>
                </a14:m>
                <a:r>
                  <a:rPr lang="en-IN" sz="2400" dirty="0"/>
                  <a:t> </a:t>
                </a:r>
                <a14:m>
                  <m:oMath xmlns:m="http://schemas.openxmlformats.org/officeDocument/2006/math">
                    <m:nary>
                      <m:naryPr>
                        <m:ctrlPr>
                          <a:rPr lang="en-IN" sz="2400" i="1">
                            <a:latin typeface="Cambria Math" panose="02040503050406030204" pitchFamily="18" charset="0"/>
                          </a:rPr>
                        </m:ctrlPr>
                      </m:naryPr>
                      <m:sub>
                        <m:r>
                          <m:rPr>
                            <m:brk m:alnAt="23"/>
                          </m:rPr>
                          <a:rPr lang="en-US" sz="2400" i="1">
                            <a:latin typeface="Cambria Math" panose="02040503050406030204" pitchFamily="18" charset="0"/>
                          </a:rPr>
                          <m:t>0</m:t>
                        </m:r>
                      </m:sub>
                      <m:sup>
                        <m:r>
                          <a:rPr lang="en-US" sz="2400" i="1">
                            <a:latin typeface="Cambria Math" panose="02040503050406030204" pitchFamily="18" charset="0"/>
                          </a:rPr>
                          <m:t>3</m:t>
                        </m:r>
                      </m:sup>
                      <m:e>
                        <m:r>
                          <a:rPr lang="en-US" sz="2400" b="0" i="1" smtClean="0">
                            <a:latin typeface="Cambria Math" panose="02040503050406030204" pitchFamily="18" charset="0"/>
                          </a:rPr>
                          <m:t>0.1 </m:t>
                        </m:r>
                        <m:r>
                          <a:rPr lang="en-US" sz="2400" i="1">
                            <a:latin typeface="Cambria Math" panose="02040503050406030204" pitchFamily="18" charset="0"/>
                          </a:rPr>
                          <m:t>𝑑𝑥</m:t>
                        </m:r>
                        <m:r>
                          <a:rPr lang="en-US" sz="2400" i="1">
                            <a:latin typeface="Cambria Math" panose="02040503050406030204" pitchFamily="18" charset="0"/>
                          </a:rPr>
                          <m:t>=</m:t>
                        </m:r>
                      </m:e>
                    </m:nary>
                  </m:oMath>
                </a14:m>
                <a:r>
                  <a:rPr lang="en-IN" sz="2400" dirty="0"/>
                  <a:t> 0.3</a:t>
                </a:r>
              </a:p>
              <a:p>
                <a:pPr marL="457200" indent="-457200">
                  <a:buFont typeface="Arial" panose="020B0604020202020204" pitchFamily="34" charset="0"/>
                  <a:buChar char="•"/>
                </a:pPr>
                <a:r>
                  <a:rPr lang="en-IN" sz="2400" dirty="0"/>
                  <a:t>X&gt;6 = </a:t>
                </a:r>
                <a14:m>
                  <m:oMath xmlns:m="http://schemas.openxmlformats.org/officeDocument/2006/math">
                    <m:nary>
                      <m:naryPr>
                        <m:ctrlPr>
                          <a:rPr lang="en-IN" sz="2400" i="1">
                            <a:latin typeface="Cambria Math" panose="02040503050406030204" pitchFamily="18" charset="0"/>
                          </a:rPr>
                        </m:ctrlPr>
                      </m:naryPr>
                      <m:sub>
                        <m:r>
                          <a:rPr lang="en-US" sz="2400" b="0" i="1" smtClean="0">
                            <a:latin typeface="Cambria Math" panose="02040503050406030204" pitchFamily="18" charset="0"/>
                          </a:rPr>
                          <m:t>6</m:t>
                        </m:r>
                      </m:sub>
                      <m:sup>
                        <m:r>
                          <a:rPr lang="en-US" sz="2400" b="0" i="1" smtClean="0">
                            <a:latin typeface="Cambria Math" panose="02040503050406030204" pitchFamily="18" charset="0"/>
                          </a:rPr>
                          <m:t>10</m:t>
                        </m:r>
                      </m:sup>
                      <m:e>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𝑑𝑥</m:t>
                        </m:r>
                        <m:r>
                          <a:rPr lang="en-US" sz="2400" i="1">
                            <a:latin typeface="Cambria Math" panose="02040503050406030204" pitchFamily="18" charset="0"/>
                          </a:rPr>
                          <m:t>=</m:t>
                        </m:r>
                      </m:e>
                    </m:nary>
                    <m:nary>
                      <m:naryPr>
                        <m:ctrlPr>
                          <a:rPr lang="en-IN" sz="2400" i="1">
                            <a:latin typeface="Cambria Math" panose="02040503050406030204" pitchFamily="18" charset="0"/>
                          </a:rPr>
                        </m:ctrlPr>
                      </m:naryPr>
                      <m:sub>
                        <m:r>
                          <a:rPr lang="en-US" sz="2400" i="1">
                            <a:latin typeface="Cambria Math" panose="02040503050406030204" pitchFamily="18" charset="0"/>
                          </a:rPr>
                          <m:t>6</m:t>
                        </m:r>
                      </m:sub>
                      <m:sup>
                        <m:r>
                          <a:rPr lang="en-US" sz="2400" i="1">
                            <a:latin typeface="Cambria Math" panose="02040503050406030204" pitchFamily="18" charset="0"/>
                          </a:rPr>
                          <m:t>10</m:t>
                        </m:r>
                      </m:sup>
                      <m:e>
                        <m:r>
                          <a:rPr lang="en-US" sz="2400" b="0" i="1" smtClean="0">
                            <a:latin typeface="Cambria Math" panose="02040503050406030204" pitchFamily="18" charset="0"/>
                          </a:rPr>
                          <m:t>0.1 </m:t>
                        </m:r>
                        <m:r>
                          <a:rPr lang="en-US" sz="2400" i="1">
                            <a:latin typeface="Cambria Math" panose="02040503050406030204" pitchFamily="18" charset="0"/>
                          </a:rPr>
                          <m:t>𝑑𝑥</m:t>
                        </m:r>
                        <m:r>
                          <a:rPr lang="en-US" sz="2400" i="1">
                            <a:latin typeface="Cambria Math" panose="02040503050406030204" pitchFamily="18" charset="0"/>
                          </a:rPr>
                          <m:t>=</m:t>
                        </m:r>
                      </m:e>
                    </m:nary>
                  </m:oMath>
                </a14:m>
                <a:r>
                  <a:rPr lang="en-IN" sz="2400" dirty="0"/>
                  <a:t>0.4</a:t>
                </a:r>
              </a:p>
              <a:p>
                <a:pPr marL="457200" indent="-457200">
                  <a:buFont typeface="Arial" panose="020B0604020202020204" pitchFamily="34" charset="0"/>
                  <a:buChar char="•"/>
                </a:pPr>
                <a:r>
                  <a:rPr lang="en-IN" sz="2400" dirty="0"/>
                  <a:t>3&lt;X&lt;8 = </a:t>
                </a:r>
                <a14:m>
                  <m:oMath xmlns:m="http://schemas.openxmlformats.org/officeDocument/2006/math">
                    <m:nary>
                      <m:naryPr>
                        <m:ctrlPr>
                          <a:rPr lang="en-IN" sz="2400" i="1">
                            <a:latin typeface="Cambria Math" panose="02040503050406030204" pitchFamily="18" charset="0"/>
                          </a:rPr>
                        </m:ctrlPr>
                      </m:naryPr>
                      <m:sub>
                        <m:r>
                          <a:rPr lang="en-US" sz="2400" b="0" i="1" smtClean="0">
                            <a:latin typeface="Cambria Math" panose="02040503050406030204" pitchFamily="18" charset="0"/>
                          </a:rPr>
                          <m:t>3</m:t>
                        </m:r>
                      </m:sub>
                      <m:sup>
                        <m:r>
                          <a:rPr lang="en-US" sz="2400" b="0" i="1" smtClean="0">
                            <a:latin typeface="Cambria Math" panose="02040503050406030204" pitchFamily="18" charset="0"/>
                          </a:rPr>
                          <m:t>8</m:t>
                        </m:r>
                      </m:sup>
                      <m:e>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𝑑𝑥</m:t>
                        </m:r>
                        <m:r>
                          <a:rPr lang="en-US" sz="2400" i="1">
                            <a:latin typeface="Cambria Math" panose="02040503050406030204" pitchFamily="18" charset="0"/>
                          </a:rPr>
                          <m:t>=</m:t>
                        </m:r>
                      </m:e>
                    </m:nary>
                    <m:nary>
                      <m:naryPr>
                        <m:ctrlPr>
                          <a:rPr lang="en-IN" sz="2400" i="1">
                            <a:latin typeface="Cambria Math" panose="02040503050406030204" pitchFamily="18" charset="0"/>
                          </a:rPr>
                        </m:ctrlPr>
                      </m:naryPr>
                      <m:sub>
                        <m:r>
                          <a:rPr lang="en-US" sz="2400" b="0" i="1" smtClean="0">
                            <a:latin typeface="Cambria Math" panose="02040503050406030204" pitchFamily="18" charset="0"/>
                          </a:rPr>
                          <m:t>3</m:t>
                        </m:r>
                      </m:sub>
                      <m:sup>
                        <m:r>
                          <a:rPr lang="en-US" sz="2400" b="0" i="1" smtClean="0">
                            <a:latin typeface="Cambria Math" panose="02040503050406030204" pitchFamily="18" charset="0"/>
                          </a:rPr>
                          <m:t>8</m:t>
                        </m:r>
                      </m:sup>
                      <m:e>
                        <m:r>
                          <a:rPr lang="en-US" sz="2400" i="1">
                            <a:latin typeface="Cambria Math" panose="02040503050406030204" pitchFamily="18" charset="0"/>
                          </a:rPr>
                          <m:t>0.1 </m:t>
                        </m:r>
                        <m:r>
                          <a:rPr lang="en-US" sz="2400" i="1">
                            <a:latin typeface="Cambria Math" panose="02040503050406030204" pitchFamily="18" charset="0"/>
                          </a:rPr>
                          <m:t>𝑑𝑥</m:t>
                        </m:r>
                        <m:r>
                          <a:rPr lang="en-US" sz="2400" i="1">
                            <a:latin typeface="Cambria Math" panose="02040503050406030204" pitchFamily="18" charset="0"/>
                          </a:rPr>
                          <m:t>=</m:t>
                        </m:r>
                      </m:e>
                    </m:nary>
                  </m:oMath>
                </a14:m>
                <a:r>
                  <a:rPr lang="en-IN" sz="2400" dirty="0"/>
                  <a:t>0.5</a:t>
                </a:r>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mc:Choice>
        <mc:Fallback xmlns="">
          <p:sp>
            <p:nvSpPr>
              <p:cNvPr id="3" name="Rectangle 2">
                <a:extLst>
                  <a:ext uri="{FF2B5EF4-FFF2-40B4-BE49-F238E27FC236}">
                    <a16:creationId xmlns:a16="http://schemas.microsoft.com/office/drawing/2014/main" id="{0B77DE7C-F0BE-1AB5-97F7-607A5B51C8B0}"/>
                  </a:ext>
                </a:extLst>
              </p:cNvPr>
              <p:cNvSpPr>
                <a:spLocks noRot="1" noChangeAspect="1" noMove="1" noResize="1" noEditPoints="1" noAdjustHandles="1" noChangeArrowheads="1" noChangeShapeType="1" noTextEdit="1"/>
              </p:cNvSpPr>
              <p:nvPr/>
            </p:nvSpPr>
            <p:spPr>
              <a:xfrm>
                <a:off x="408215" y="972072"/>
                <a:ext cx="10594082" cy="6334555"/>
              </a:xfrm>
              <a:prstGeom prst="rect">
                <a:avLst/>
              </a:prstGeom>
              <a:blipFill>
                <a:blip r:embed="rId2"/>
                <a:stretch>
                  <a:fillRect l="-921"/>
                </a:stretch>
              </a:blipFill>
            </p:spPr>
            <p:txBody>
              <a:bodyPr/>
              <a:lstStyle/>
              <a:p>
                <a:r>
                  <a:rPr lang="en-IN">
                    <a:noFill/>
                  </a:rPr>
                  <a:t> </a:t>
                </a:r>
              </a:p>
            </p:txBody>
          </p:sp>
        </mc:Fallback>
      </mc:AlternateContent>
      <p:sp>
        <p:nvSpPr>
          <p:cNvPr id="2" name="Rounded Rectangle 17">
            <a:extLst>
              <a:ext uri="{FF2B5EF4-FFF2-40B4-BE49-F238E27FC236}">
                <a16:creationId xmlns:a16="http://schemas.microsoft.com/office/drawing/2014/main" id="{31795AAB-C0BA-2CAF-078F-DBD50958E2E1}"/>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2. Uniform</a:t>
            </a:r>
            <a:r>
              <a:rPr lang="en-US" sz="2400" dirty="0"/>
              <a:t> Distributions</a:t>
            </a:r>
          </a:p>
        </p:txBody>
      </p:sp>
      <p:pic>
        <p:nvPicPr>
          <p:cNvPr id="5" name="Picture 4">
            <a:extLst>
              <a:ext uri="{FF2B5EF4-FFF2-40B4-BE49-F238E27FC236}">
                <a16:creationId xmlns:a16="http://schemas.microsoft.com/office/drawing/2014/main" id="{0C4D7879-EE8F-836E-C217-C7EFCF5ABDD0}"/>
              </a:ext>
            </a:extLst>
          </p:cNvPr>
          <p:cNvPicPr>
            <a:picLocks noChangeAspect="1"/>
          </p:cNvPicPr>
          <p:nvPr/>
        </p:nvPicPr>
        <p:blipFill>
          <a:blip r:embed="rId3"/>
          <a:stretch>
            <a:fillRect/>
          </a:stretch>
        </p:blipFill>
        <p:spPr>
          <a:xfrm>
            <a:off x="9162138" y="1869108"/>
            <a:ext cx="2466975" cy="2400300"/>
          </a:xfrm>
          <a:prstGeom prst="rect">
            <a:avLst/>
          </a:prstGeom>
        </p:spPr>
      </p:pic>
      <p:pic>
        <p:nvPicPr>
          <p:cNvPr id="4" name="Picture 2" descr="KL University - Wikipedia">
            <a:extLst>
              <a:ext uri="{FF2B5EF4-FFF2-40B4-BE49-F238E27FC236}">
                <a16:creationId xmlns:a16="http://schemas.microsoft.com/office/drawing/2014/main" id="{59C9ACAE-57D9-4CD4-70EA-42C8205B97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8871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FB785-CEF0-E469-092E-761E955ADD3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9B15A16-FE21-B53B-023A-069CAE10B33E}"/>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589449CB-502D-27A7-25CA-DC2C45FF7726}"/>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3. Exponential</a:t>
            </a:r>
            <a:r>
              <a:rPr lang="en-US" sz="2400" dirty="0"/>
              <a:t> Distributions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2B5FC94-E315-F36F-B89E-A7A4AE31FB89}"/>
                  </a:ext>
                </a:extLst>
              </p:cNvPr>
              <p:cNvSpPr txBox="1"/>
              <p:nvPr/>
            </p:nvSpPr>
            <p:spPr>
              <a:xfrm>
                <a:off x="1468876" y="1799617"/>
                <a:ext cx="10525328" cy="4025910"/>
              </a:xfrm>
              <a:prstGeom prst="rect">
                <a:avLst/>
              </a:prstGeom>
              <a:noFill/>
            </p:spPr>
            <p:txBody>
              <a:bodyPr wrap="square" rtlCol="0">
                <a:spAutoFit/>
              </a:bodyPr>
              <a:lstStyle/>
              <a:p>
                <a:pPr marL="285750" indent="-285750">
                  <a:buFont typeface="Arial" panose="020B0604020202020204" pitchFamily="34" charset="0"/>
                  <a:buChar char="•"/>
                </a:pPr>
                <a:r>
                  <a:rPr lang="en-US" dirty="0"/>
                  <a:t>Probability Density function =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i="1">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≥0</m:t>
                            </m:r>
                          </m:e>
                          <m:e>
                            <m:r>
                              <a:rPr lang="en-US" b="0" i="1" smtClean="0">
                                <a:latin typeface="Cambria Math" panose="02040503050406030204" pitchFamily="18" charset="0"/>
                              </a:rPr>
                              <m:t>0,             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&lt;0</m:t>
                            </m:r>
                          </m:e>
                        </m:eqArr>
                      </m:e>
                    </m:d>
                  </m:oMath>
                </a14:m>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Cumulative Distribution function =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rPr>
                          <m:t>𝑎</m:t>
                        </m:r>
                      </m:sup>
                      <m:e>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sup>
                        </m:sSup>
                        <m:r>
                          <a:rPr lang="en-US" b="0" i="1" smtClean="0">
                            <a:latin typeface="Cambria Math" panose="02040503050406030204" pitchFamily="18" charset="0"/>
                            <a:ea typeface="Cambria Math" panose="02040503050406030204" pitchFamily="18" charset="0"/>
                          </a:rPr>
                          <m:t>𝑑𝑥</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d>
                              <m:dPr>
                                <m:ctrlPr>
                                  <a:rPr lang="en-US" b="0" i="1" smtClean="0">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sup>
                                </m:sSup>
                              </m:e>
                            </m:d>
                          </m:e>
                          <m:sub>
                            <m: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𝑎</m:t>
                            </m:r>
                          </m:sup>
                        </m:sSubSup>
                        <m:r>
                          <a:rPr lang="en-US" b="0" i="1" smtClean="0">
                            <a:latin typeface="Cambria Math" panose="02040503050406030204" pitchFamily="18" charset="0"/>
                            <a:ea typeface="Cambria Math" panose="02040503050406030204" pitchFamily="18" charset="0"/>
                          </a:rPr>
                          <m:t>=1−</m:t>
                        </m:r>
                      </m:e>
                    </m:nary>
                  </m:oMath>
                </a14:m>
                <a:r>
                  <a:rPr lang="en-US" dirty="0">
                    <a:ea typeface="Cambria Math" panose="02040503050406030204" pitchFamily="18" charset="0"/>
                  </a:rPr>
                  <a:t>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sup>
                    </m:sSup>
                  </m:oMath>
                </a14:m>
                <a:r>
                  <a:rPr lang="en-IN" dirty="0"/>
                  <a:t>,   a</a:t>
                </a:r>
                <a14:m>
                  <m:oMath xmlns:m="http://schemas.openxmlformats.org/officeDocument/2006/math">
                    <m:r>
                      <a:rPr lang="en-I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Mean = </a:t>
                </a:r>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m:t>
                        </m:r>
                      </m:den>
                    </m:f>
                  </m:oMath>
                </a14:m>
                <a:endParaRPr lang="en-IN" sz="2000" dirty="0"/>
              </a:p>
              <a:p>
                <a:pPr marL="285750" indent="-285750">
                  <a:buFont typeface="Arial" panose="020B0604020202020204" pitchFamily="34" charset="0"/>
                  <a:buChar char="•"/>
                </a:pPr>
                <a:r>
                  <a:rPr lang="en-IN" dirty="0"/>
                  <a:t>Variance = </a:t>
                </a:r>
                <a14:m>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p>
                          <m:sSupPr>
                            <m:ctrlPr>
                              <a:rPr lang="en-US" sz="2000" b="0" i="1" smtClean="0">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m:t>
                            </m:r>
                          </m:e>
                          <m:sup>
                            <m:r>
                              <a:rPr lang="en-US" sz="2000" b="0" i="1" smtClean="0">
                                <a:latin typeface="Cambria Math" panose="02040503050406030204" pitchFamily="18" charset="0"/>
                              </a:rPr>
                              <m:t>2</m:t>
                            </m:r>
                          </m:sup>
                        </m:sSup>
                      </m:den>
                    </m:f>
                  </m:oMath>
                </a14:m>
                <a:endParaRPr lang="en-IN" sz="2000" dirty="0"/>
              </a:p>
              <a:p>
                <a:r>
                  <a:rPr lang="en-IN" sz="2000" b="1" dirty="0"/>
                  <a:t>Example: </a:t>
                </a:r>
                <a:r>
                  <a:rPr lang="en-IN" sz="2000" dirty="0"/>
                  <a:t>Suppose that the length of a phone call in minutes is an exponential random variable with parameter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=0.1. </m:t>
                    </m:r>
                  </m:oMath>
                </a14:m>
                <a:r>
                  <a:rPr lang="en-IN" sz="2000" dirty="0"/>
                  <a:t>If someone arrives immediately ahead of you at a public telephone booth, find the probability that you will have to wait,</a:t>
                </a:r>
              </a:p>
              <a:p>
                <a:r>
                  <a:rPr lang="en-IN" sz="2000" dirty="0"/>
                  <a:t>(a). More than 10 minutes =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ea typeface="Cambria Math" panose="02040503050406030204" pitchFamily="18" charset="0"/>
                          </a:rPr>
                          <m:t>&gt;10</m:t>
                        </m:r>
                      </m:e>
                    </m:d>
                    <m:r>
                      <a:rPr lang="en-US" sz="2000" b="0" i="1" smtClean="0">
                        <a:latin typeface="Cambria Math" panose="02040503050406030204" pitchFamily="18" charset="0"/>
                      </a:rPr>
                      <m:t>=1−</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ea typeface="Cambria Math" panose="02040503050406030204" pitchFamily="18" charset="0"/>
                          </a:rPr>
                          <m:t>≤10</m:t>
                        </m:r>
                      </m:e>
                    </m:d>
                    <m:r>
                      <a:rPr lang="en-US" sz="2000" b="0" i="1" smtClean="0">
                        <a:latin typeface="Cambria Math" panose="02040503050406030204" pitchFamily="18" charset="0"/>
                      </a:rPr>
                      <m:t>=1−</m:t>
                    </m:r>
                    <m:r>
                      <a:rPr lang="en-US" sz="2000" b="0" i="1" smtClean="0">
                        <a:latin typeface="Cambria Math" panose="02040503050406030204" pitchFamily="18" charset="0"/>
                      </a:rPr>
                      <m:t>𝐹</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m:t>
                        </m:r>
                      </m:e>
                    </m:d>
                    <m:r>
                      <a:rPr lang="en-US" sz="2000" b="0" i="1" smtClean="0">
                        <a:latin typeface="Cambria Math" panose="02040503050406030204" pitchFamily="18" charset="0"/>
                      </a:rPr>
                      <m:t>=1−(1−</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𝑒</m:t>
                        </m:r>
                      </m:e>
                      <m:sup>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10</m:t>
                        </m:r>
                      </m:sup>
                    </m:sSup>
                    <m:r>
                      <a:rPr lang="en-US" sz="2000" b="0" i="1" smtClean="0">
                        <a:latin typeface="Cambria Math" panose="02040503050406030204" pitchFamily="18" charset="0"/>
                      </a:rPr>
                      <m:t>)</m:t>
                    </m:r>
                  </m:oMath>
                </a14:m>
                <a:r>
                  <a:rPr lang="en-IN" sz="2000" dirty="0"/>
                  <a:t>=0.368</a:t>
                </a:r>
              </a:p>
              <a:p>
                <a:r>
                  <a:rPr lang="en-IN" sz="2000" dirty="0"/>
                  <a:t>(b). Between 10 and 20 minute =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10&lt;</m:t>
                        </m:r>
                        <m:r>
                          <a:rPr lang="en-US" sz="2000" i="1">
                            <a:latin typeface="Cambria Math" panose="02040503050406030204" pitchFamily="18" charset="0"/>
                          </a:rPr>
                          <m:t>𝑋</m:t>
                        </m:r>
                        <m:r>
                          <a:rPr lang="en-US" sz="2000" b="0" i="1" smtClean="0">
                            <a:latin typeface="Cambria Math" panose="02040503050406030204" pitchFamily="18" charset="0"/>
                          </a:rPr>
                          <m:t>&lt;2</m:t>
                        </m:r>
                        <m:r>
                          <a:rPr lang="en-US" sz="2000" i="1">
                            <a:latin typeface="Cambria Math" panose="02040503050406030204" pitchFamily="18" charset="0"/>
                            <a:ea typeface="Cambria Math" panose="02040503050406030204" pitchFamily="18" charset="0"/>
                          </a:rPr>
                          <m:t>0</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𝐹</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20</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𝐹</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10</m:t>
                        </m:r>
                      </m:e>
                    </m:d>
                    <m:r>
                      <a:rPr lang="en-US" sz="2000" b="0" i="1" smtClean="0">
                        <a:latin typeface="Cambria Math" panose="02040503050406030204" pitchFamily="18" charset="0"/>
                        <a:ea typeface="Cambria Math" panose="02040503050406030204" pitchFamily="18" charset="0"/>
                      </a:rPr>
                      <m:t>=0.233</m:t>
                    </m:r>
                  </m:oMath>
                </a14:m>
                <a:endParaRPr lang="en-IN" sz="2000" dirty="0"/>
              </a:p>
            </p:txBody>
          </p:sp>
        </mc:Choice>
        <mc:Fallback xmlns="">
          <p:sp>
            <p:nvSpPr>
              <p:cNvPr id="4" name="TextBox 3">
                <a:extLst>
                  <a:ext uri="{FF2B5EF4-FFF2-40B4-BE49-F238E27FC236}">
                    <a16:creationId xmlns:a16="http://schemas.microsoft.com/office/drawing/2014/main" id="{B2B5FC94-E315-F36F-B89E-A7A4AE31FB89}"/>
                  </a:ext>
                </a:extLst>
              </p:cNvPr>
              <p:cNvSpPr txBox="1">
                <a:spLocks noRot="1" noChangeAspect="1" noMove="1" noResize="1" noEditPoints="1" noAdjustHandles="1" noChangeArrowheads="1" noChangeShapeType="1" noTextEdit="1"/>
              </p:cNvSpPr>
              <p:nvPr/>
            </p:nvSpPr>
            <p:spPr>
              <a:xfrm>
                <a:off x="1468876" y="1799617"/>
                <a:ext cx="10525328" cy="4025910"/>
              </a:xfrm>
              <a:prstGeom prst="rect">
                <a:avLst/>
              </a:prstGeom>
              <a:blipFill>
                <a:blip r:embed="rId2"/>
                <a:stretch>
                  <a:fillRect l="-637" r="-869" b="-1664"/>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74C0D42C-D5BF-9D43-2EAB-94098AD6828E}"/>
              </a:ext>
            </a:extLst>
          </p:cNvPr>
          <p:cNvPicPr>
            <a:picLocks noChangeAspect="1"/>
          </p:cNvPicPr>
          <p:nvPr/>
        </p:nvPicPr>
        <p:blipFill>
          <a:blip r:embed="rId3"/>
          <a:stretch>
            <a:fillRect/>
          </a:stretch>
        </p:blipFill>
        <p:spPr>
          <a:xfrm>
            <a:off x="8050418" y="1108953"/>
            <a:ext cx="2661282" cy="1596769"/>
          </a:xfrm>
          <a:prstGeom prst="rect">
            <a:avLst/>
          </a:prstGeom>
        </p:spPr>
      </p:pic>
      <p:pic>
        <p:nvPicPr>
          <p:cNvPr id="5" name="Picture 2" descr="KL University - Wikipedia">
            <a:extLst>
              <a:ext uri="{FF2B5EF4-FFF2-40B4-BE49-F238E27FC236}">
                <a16:creationId xmlns:a16="http://schemas.microsoft.com/office/drawing/2014/main" id="{43635E58-33A7-D444-3B84-5C8139C864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8911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3BABD-5E11-E945-B747-EAA5E0DD7B5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7C717D1-1395-0E48-19C1-142582E59C0D}"/>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mc:AlternateContent xmlns:mc="http://schemas.openxmlformats.org/markup-compatibility/2006" xmlns:a14="http://schemas.microsoft.com/office/drawing/2010/main">
        <mc:Choice Requires="a14">
          <p:sp>
            <p:nvSpPr>
              <p:cNvPr id="2" name="Rounded Rectangle 17">
                <a:extLst>
                  <a:ext uri="{FF2B5EF4-FFF2-40B4-BE49-F238E27FC236}">
                    <a16:creationId xmlns:a16="http://schemas.microsoft.com/office/drawing/2014/main" id="{FC864CDC-3C66-5D01-D0E4-A48E47FEA035}"/>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4. Normal</a:t>
                </a:r>
                <a:r>
                  <a:rPr lang="en-US" sz="2400" dirty="0"/>
                  <a:t> Distributions </a:t>
                </a:r>
                <a14:m>
                  <m:oMath xmlns:m="http://schemas.openxmlformats.org/officeDocument/2006/math">
                    <m:r>
                      <a:rPr lang="en-US" sz="2400" b="0" i="0" smtClean="0">
                        <a:latin typeface="Cambria Math" panose="02040503050406030204" pitchFamily="18" charset="0"/>
                      </a:rPr>
                      <m:t>[</m:t>
                    </m:r>
                    <m:r>
                      <a:rPr lang="en-US" sz="2400" b="0" i="1" smtClean="0">
                        <a:latin typeface="Cambria Math" panose="02040503050406030204" pitchFamily="18" charset="0"/>
                      </a:rPr>
                      <m:t>𝑁</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𝜇</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𝜎</m:t>
                        </m:r>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rPr>
                      <m:t>)]</m:t>
                    </m:r>
                  </m:oMath>
                </a14:m>
                <a:endParaRPr lang="en-US" sz="2400" dirty="0"/>
              </a:p>
            </p:txBody>
          </p:sp>
        </mc:Choice>
        <mc:Fallback xmlns="">
          <p:sp>
            <p:nvSpPr>
              <p:cNvPr id="2" name="Rounded Rectangle 17">
                <a:extLst>
                  <a:ext uri="{FF2B5EF4-FFF2-40B4-BE49-F238E27FC236}">
                    <a16:creationId xmlns:a16="http://schemas.microsoft.com/office/drawing/2014/main" id="{FC864CDC-3C66-5D01-D0E4-A48E47FEA035}"/>
                  </a:ext>
                </a:extLst>
              </p:cNvPr>
              <p:cNvSpPr>
                <a:spLocks noRot="1" noChangeAspect="1" noMove="1" noResize="1" noEditPoints="1" noAdjustHandles="1" noChangeArrowheads="1" noChangeShapeType="1" noTextEdit="1"/>
              </p:cNvSpPr>
              <p:nvPr/>
            </p:nvSpPr>
            <p:spPr>
              <a:xfrm>
                <a:off x="2631406" y="364613"/>
                <a:ext cx="6969794" cy="607459"/>
              </a:xfrm>
              <a:prstGeom prst="roundRect">
                <a:avLst/>
              </a:prstGeom>
              <a:blipFill>
                <a:blip r:embed="rId2"/>
                <a:stretch>
                  <a:fillRect/>
                </a:stretch>
              </a:blipFill>
              <a:ln>
                <a:noFill/>
              </a:ln>
              <a:effectLst>
                <a:outerShdw blurRad="50800" dist="38100" dir="2700000" algn="tl" rotWithShape="0">
                  <a:srgbClr val="BA2532">
                    <a:alpha val="40000"/>
                  </a:srgbClr>
                </a:outerShdw>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FD77E4-8AD4-FC12-21F2-899656A43684}"/>
                  </a:ext>
                </a:extLst>
              </p:cNvPr>
              <p:cNvSpPr txBox="1"/>
              <p:nvPr/>
            </p:nvSpPr>
            <p:spPr>
              <a:xfrm>
                <a:off x="1468876" y="1799617"/>
                <a:ext cx="10525328" cy="2212465"/>
              </a:xfrm>
              <a:prstGeom prst="rect">
                <a:avLst/>
              </a:prstGeom>
              <a:noFill/>
            </p:spPr>
            <p:txBody>
              <a:bodyPr wrap="square" rtlCol="0">
                <a:spAutoFit/>
              </a:bodyPr>
              <a:lstStyle/>
              <a:p>
                <a:pPr marL="285750" indent="-285750">
                  <a:buFont typeface="Arial" panose="020B0604020202020204" pitchFamily="34" charset="0"/>
                  <a:buChar char="•"/>
                </a:pPr>
                <a:r>
                  <a:rPr lang="en-US" dirty="0"/>
                  <a:t>Probability Density function =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oMath>
                </a14:m>
                <a:r>
                  <a:rPr lang="en-IN" dirty="0"/>
                  <a:t> </a:t>
                </a:r>
                <a14:m>
                  <m:oMath xmlns:m="http://schemas.openxmlformats.org/officeDocument/2006/math">
                    <m:f>
                      <m:fPr>
                        <m:ctrlPr>
                          <a:rPr lang="en-IN" i="1" dirty="0" smtClean="0">
                            <a:latin typeface="Cambria Math" panose="02040503050406030204" pitchFamily="18" charset="0"/>
                          </a:rPr>
                        </m:ctrlPr>
                      </m:fPr>
                      <m:num>
                        <m:r>
                          <a:rPr lang="en-US" b="0" i="1" dirty="0" smtClean="0">
                            <a:latin typeface="Cambria Math" panose="02040503050406030204" pitchFamily="18" charset="0"/>
                          </a:rPr>
                          <m:t>1</m:t>
                        </m:r>
                      </m:num>
                      <m:den>
                        <m:rad>
                          <m:radPr>
                            <m:degHide m:val="on"/>
                            <m:ctrlPr>
                              <a:rPr lang="en-IN" i="1" dirty="0" smtClean="0">
                                <a:latin typeface="Cambria Math" panose="02040503050406030204" pitchFamily="18" charset="0"/>
                              </a:rPr>
                            </m:ctrlPr>
                          </m:radPr>
                          <m:deg/>
                          <m:e>
                            <m:r>
                              <a:rPr lang="en-US" i="1" dirty="0">
                                <a:latin typeface="Cambria Math" panose="02040503050406030204" pitchFamily="18" charset="0"/>
                              </a:rPr>
                              <m:t>2</m:t>
                            </m:r>
                            <m:r>
                              <a:rPr lang="en-US" i="1" dirty="0">
                                <a:latin typeface="Cambria Math" panose="02040503050406030204" pitchFamily="18" charset="0"/>
                                <a:ea typeface="Cambria Math" panose="02040503050406030204" pitchFamily="18" charset="0"/>
                              </a:rPr>
                              <m:t>𝜋</m:t>
                            </m:r>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𝜎</m:t>
                                </m:r>
                              </m:e>
                              <m:sup>
                                <m:r>
                                  <a:rPr lang="en-US" i="1" dirty="0">
                                    <a:latin typeface="Cambria Math" panose="02040503050406030204" pitchFamily="18" charset="0"/>
                                    <a:ea typeface="Cambria Math" panose="02040503050406030204" pitchFamily="18" charset="0"/>
                                  </a:rPr>
                                  <m:t>2</m:t>
                                </m:r>
                              </m:sup>
                            </m:sSup>
                          </m:e>
                        </m:rad>
                      </m:den>
                    </m:f>
                    <m:r>
                      <a:rPr lang="en-US" b="0" i="1" dirty="0" smtClean="0">
                        <a:latin typeface="Cambria Math" panose="02040503050406030204" pitchFamily="18" charset="0"/>
                      </a:rPr>
                      <m:t> </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𝑒</m:t>
                        </m:r>
                      </m:e>
                      <m:sup>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𝜇</m:t>
                                </m:r>
                                <m:r>
                                  <a:rPr lang="en-US" i="1" dirty="0">
                                    <a:latin typeface="Cambria Math" panose="02040503050406030204" pitchFamily="18" charset="0"/>
                                  </a:rPr>
                                  <m:t>)</m:t>
                                </m:r>
                              </m:e>
                              <m:sup>
                                <m:r>
                                  <a:rPr lang="en-US" b="0" i="1" dirty="0" smtClean="0">
                                    <a:latin typeface="Cambria Math" panose="02040503050406030204" pitchFamily="18" charset="0"/>
                                  </a:rPr>
                                  <m:t>2</m:t>
                                </m:r>
                              </m:sup>
                            </m:sSup>
                          </m:num>
                          <m:den>
                            <m:r>
                              <a:rPr lang="en-US" b="0" i="1" dirty="0" smtClean="0">
                                <a:latin typeface="Cambria Math" panose="02040503050406030204" pitchFamily="18" charset="0"/>
                              </a:rPr>
                              <m:t>2</m:t>
                            </m:r>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𝜎</m:t>
                                </m:r>
                              </m:e>
                              <m:sup>
                                <m:r>
                                  <a:rPr lang="en-US" i="1" dirty="0">
                                    <a:latin typeface="Cambria Math" panose="02040503050406030204" pitchFamily="18" charset="0"/>
                                    <a:ea typeface="Cambria Math" panose="02040503050406030204" pitchFamily="18" charset="0"/>
                                  </a:rPr>
                                  <m:t>2</m:t>
                                </m:r>
                              </m:sup>
                            </m:sSup>
                          </m:den>
                        </m:f>
                      </m:sup>
                    </m:sSup>
                    <m:r>
                      <a:rPr lang="en-US" b="0" i="1" dirty="0"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&lt;∞</m:t>
                    </m:r>
                  </m:oMath>
                </a14:m>
                <a:endParaRPr lang="en-IN" dirty="0"/>
              </a:p>
              <a:p>
                <a:pPr marL="285750" indent="-285750">
                  <a:buFont typeface="Arial" panose="020B0604020202020204" pitchFamily="34" charset="0"/>
                  <a:buChar char="•"/>
                </a:pPr>
                <a:r>
                  <a:rPr lang="en-IN" dirty="0"/>
                  <a:t>Cumulative Distribution function =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=1−</m:t>
                    </m:r>
                    <m:r>
                      <a:rPr lang="en-US" b="0" i="1" smtClean="0">
                        <a:latin typeface="Cambria Math" panose="02040503050406030204" pitchFamily="18" charset="0"/>
                      </a:rPr>
                      <m:t>𝑄</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num>
                      <m:den>
                        <m:r>
                          <a:rPr lang="en-US" b="0" i="1" smtClean="0">
                            <a:latin typeface="Cambria Math" panose="02040503050406030204" pitchFamily="18" charset="0"/>
                            <a:ea typeface="Cambria Math" panose="02040503050406030204" pitchFamily="18" charset="0"/>
                          </a:rPr>
                          <m:t>𝜎</m:t>
                        </m:r>
                      </m:den>
                    </m:f>
                    <m:r>
                      <a:rPr lang="en-US" b="0" i="1" smtClean="0">
                        <a:latin typeface="Cambria Math" panose="02040503050406030204" pitchFamily="18" charset="0"/>
                      </a:rPr>
                      <m:t>)</m:t>
                    </m:r>
                  </m:oMath>
                </a14:m>
                <a:endParaRPr lang="en-IN" dirty="0"/>
              </a:p>
              <a:p>
                <a:pPr marL="285750" indent="-285750">
                  <a:buFont typeface="Arial" panose="020B0604020202020204" pitchFamily="34" charset="0"/>
                  <a:buChar char="•"/>
                </a:pPr>
                <a:r>
                  <a:rPr lang="en-IN" dirty="0"/>
                  <a:t>Mean = </a:t>
                </a:r>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m:t>
                    </m:r>
                  </m:oMath>
                </a14:m>
                <a:r>
                  <a:rPr lang="en-IN" sz="2000" dirty="0"/>
                  <a:t> </a:t>
                </a:r>
                <a14:m>
                  <m:oMath xmlns:m="http://schemas.openxmlformats.org/officeDocument/2006/math">
                    <m:r>
                      <a:rPr lang="en-US" sz="2000" i="1">
                        <a:latin typeface="Cambria Math" panose="02040503050406030204" pitchFamily="18" charset="0"/>
                        <a:ea typeface="Cambria Math" panose="02040503050406030204" pitchFamily="18" charset="0"/>
                      </a:rPr>
                      <m:t>𝜇</m:t>
                    </m:r>
                  </m:oMath>
                </a14:m>
                <a:endParaRPr lang="en-IN" sz="2000" dirty="0"/>
              </a:p>
              <a:p>
                <a:pPr marL="285750" indent="-285750">
                  <a:buFont typeface="Arial" panose="020B0604020202020204" pitchFamily="34" charset="0"/>
                  <a:buChar char="•"/>
                </a:pPr>
                <a:r>
                  <a:rPr lang="en-IN" dirty="0"/>
                  <a:t>Variance = </a:t>
                </a:r>
                <a14:m>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m:t>
                    </m:r>
                    <m:sSup>
                      <m:sSupPr>
                        <m:ctrlPr>
                          <a:rPr lang="en-US" sz="2000" i="1" dirty="0">
                            <a:latin typeface="Cambria Math" panose="02040503050406030204" pitchFamily="18" charset="0"/>
                            <a:ea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𝜎</m:t>
                        </m:r>
                      </m:e>
                      <m:sup>
                        <m:r>
                          <a:rPr lang="en-US" sz="2000" i="1" dirty="0">
                            <a:latin typeface="Cambria Math" panose="02040503050406030204" pitchFamily="18" charset="0"/>
                            <a:ea typeface="Cambria Math" panose="02040503050406030204" pitchFamily="18" charset="0"/>
                          </a:rPr>
                          <m:t>2</m:t>
                        </m:r>
                      </m:sup>
                    </m:sSup>
                  </m:oMath>
                </a14:m>
                <a:endParaRPr lang="en-IN" sz="2000" dirty="0"/>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endParaRPr lang="en-IN" sz="2000" dirty="0"/>
              </a:p>
            </p:txBody>
          </p:sp>
        </mc:Choice>
        <mc:Fallback xmlns="">
          <p:sp>
            <p:nvSpPr>
              <p:cNvPr id="4" name="TextBox 3">
                <a:extLst>
                  <a:ext uri="{FF2B5EF4-FFF2-40B4-BE49-F238E27FC236}">
                    <a16:creationId xmlns:a16="http://schemas.microsoft.com/office/drawing/2014/main" id="{08FD77E4-8AD4-FC12-21F2-899656A43684}"/>
                  </a:ext>
                </a:extLst>
              </p:cNvPr>
              <p:cNvSpPr txBox="1">
                <a:spLocks noRot="1" noChangeAspect="1" noMove="1" noResize="1" noEditPoints="1" noAdjustHandles="1" noChangeArrowheads="1" noChangeShapeType="1" noTextEdit="1"/>
              </p:cNvSpPr>
              <p:nvPr/>
            </p:nvSpPr>
            <p:spPr>
              <a:xfrm>
                <a:off x="1468876" y="1799617"/>
                <a:ext cx="10525328" cy="2212465"/>
              </a:xfrm>
              <a:prstGeom prst="rect">
                <a:avLst/>
              </a:prstGeom>
              <a:blipFill>
                <a:blip r:embed="rId3"/>
                <a:stretch>
                  <a:fillRect l="-405"/>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38B921F5-3B1B-8E2A-133B-0491FBC21C6C}"/>
              </a:ext>
            </a:extLst>
          </p:cNvPr>
          <p:cNvPicPr>
            <a:picLocks noChangeAspect="1"/>
          </p:cNvPicPr>
          <p:nvPr/>
        </p:nvPicPr>
        <p:blipFill>
          <a:blip r:embed="rId4"/>
          <a:stretch>
            <a:fillRect/>
          </a:stretch>
        </p:blipFill>
        <p:spPr>
          <a:xfrm>
            <a:off x="7324928" y="2889116"/>
            <a:ext cx="4310014" cy="2953136"/>
          </a:xfrm>
          <a:prstGeom prst="rect">
            <a:avLst/>
          </a:prstGeom>
        </p:spPr>
      </p:pic>
      <p:pic>
        <p:nvPicPr>
          <p:cNvPr id="5" name="Picture 2" descr="KL University - Wikipedia">
            <a:extLst>
              <a:ext uri="{FF2B5EF4-FFF2-40B4-BE49-F238E27FC236}">
                <a16:creationId xmlns:a16="http://schemas.microsoft.com/office/drawing/2014/main" id="{8F356073-457F-70C1-C8E2-8AF5B6328E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3804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54F67-8AA2-B29B-9C82-52575E4DFF6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F46D509-BCC7-ED70-D98A-5509709CA346}"/>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mc:AlternateContent xmlns:mc="http://schemas.openxmlformats.org/markup-compatibility/2006" xmlns:a14="http://schemas.microsoft.com/office/drawing/2010/main">
        <mc:Choice Requires="a14">
          <p:sp>
            <p:nvSpPr>
              <p:cNvPr id="2" name="Rounded Rectangle 17">
                <a:extLst>
                  <a:ext uri="{FF2B5EF4-FFF2-40B4-BE49-F238E27FC236}">
                    <a16:creationId xmlns:a16="http://schemas.microsoft.com/office/drawing/2014/main" id="{96B55035-F45D-FB72-772E-3EC6934EE2DA}"/>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5. Standard Normal</a:t>
                </a:r>
                <a:r>
                  <a:rPr lang="en-US" sz="2400" dirty="0"/>
                  <a:t> Distributions </a:t>
                </a:r>
                <a14:m>
                  <m:oMath xmlns:m="http://schemas.openxmlformats.org/officeDocument/2006/math">
                    <m:r>
                      <a:rPr lang="en-US" sz="2400" b="0" i="0" smtClean="0">
                        <a:latin typeface="Cambria Math" panose="02040503050406030204" pitchFamily="18" charset="0"/>
                      </a:rPr>
                      <m:t>[</m:t>
                    </m:r>
                    <m:r>
                      <a:rPr lang="en-US" sz="2400" b="0" i="1" smtClean="0">
                        <a:latin typeface="Cambria Math" panose="02040503050406030204" pitchFamily="18" charset="0"/>
                      </a:rPr>
                      <m:t>𝑁</m:t>
                    </m:r>
                    <m:r>
                      <a:rPr lang="en-US" sz="2400" b="0" i="1" smtClean="0">
                        <a:latin typeface="Cambria Math" panose="02040503050406030204" pitchFamily="18" charset="0"/>
                      </a:rPr>
                      <m:t>(0,1)]</m:t>
                    </m:r>
                  </m:oMath>
                </a14:m>
                <a:endParaRPr lang="en-US" sz="2400" dirty="0"/>
              </a:p>
            </p:txBody>
          </p:sp>
        </mc:Choice>
        <mc:Fallback xmlns="">
          <p:sp>
            <p:nvSpPr>
              <p:cNvPr id="2" name="Rounded Rectangle 17">
                <a:extLst>
                  <a:ext uri="{FF2B5EF4-FFF2-40B4-BE49-F238E27FC236}">
                    <a16:creationId xmlns:a16="http://schemas.microsoft.com/office/drawing/2014/main" id="{96B55035-F45D-FB72-772E-3EC6934EE2DA}"/>
                  </a:ext>
                </a:extLst>
              </p:cNvPr>
              <p:cNvSpPr>
                <a:spLocks noRot="1" noChangeAspect="1" noMove="1" noResize="1" noEditPoints="1" noAdjustHandles="1" noChangeArrowheads="1" noChangeShapeType="1" noTextEdit="1"/>
              </p:cNvSpPr>
              <p:nvPr/>
            </p:nvSpPr>
            <p:spPr>
              <a:xfrm>
                <a:off x="2631406" y="364613"/>
                <a:ext cx="6969794" cy="607459"/>
              </a:xfrm>
              <a:prstGeom prst="roundRect">
                <a:avLst/>
              </a:prstGeom>
              <a:blipFill>
                <a:blip r:embed="rId2"/>
                <a:stretch>
                  <a:fillRect/>
                </a:stretch>
              </a:blipFill>
              <a:ln>
                <a:noFill/>
              </a:ln>
              <a:effectLst>
                <a:outerShdw blurRad="50800" dist="38100" dir="2700000" algn="tl" rotWithShape="0">
                  <a:srgbClr val="BA2532">
                    <a:alpha val="40000"/>
                  </a:srgbClr>
                </a:outerShdw>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CF0A6CF-35E4-B7B9-6503-929193233834}"/>
                  </a:ext>
                </a:extLst>
              </p:cNvPr>
              <p:cNvSpPr txBox="1"/>
              <p:nvPr/>
            </p:nvSpPr>
            <p:spPr>
              <a:xfrm>
                <a:off x="1468876" y="1799617"/>
                <a:ext cx="10525328" cy="2112310"/>
              </a:xfrm>
              <a:prstGeom prst="rect">
                <a:avLst/>
              </a:prstGeom>
              <a:noFill/>
            </p:spPr>
            <p:txBody>
              <a:bodyPr wrap="square" rtlCol="0">
                <a:spAutoFit/>
              </a:bodyPr>
              <a:lstStyle/>
              <a:p>
                <a:pPr marL="285750" indent="-285750">
                  <a:buFont typeface="Arial" panose="020B0604020202020204" pitchFamily="34" charset="0"/>
                  <a:buChar char="•"/>
                </a:pPr>
                <a:r>
                  <a:rPr lang="en-US" dirty="0"/>
                  <a:t>Probability Density function =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oMath>
                </a14:m>
                <a:r>
                  <a:rPr lang="en-IN" dirty="0"/>
                  <a:t> </a:t>
                </a:r>
                <a14:m>
                  <m:oMath xmlns:m="http://schemas.openxmlformats.org/officeDocument/2006/math">
                    <m:f>
                      <m:fPr>
                        <m:ctrlPr>
                          <a:rPr lang="en-IN" i="1" dirty="0" smtClean="0">
                            <a:latin typeface="Cambria Math" panose="02040503050406030204" pitchFamily="18" charset="0"/>
                          </a:rPr>
                        </m:ctrlPr>
                      </m:fPr>
                      <m:num>
                        <m:r>
                          <a:rPr lang="en-US" b="0" i="1" dirty="0" smtClean="0">
                            <a:latin typeface="Cambria Math" panose="02040503050406030204" pitchFamily="18" charset="0"/>
                          </a:rPr>
                          <m:t>1</m:t>
                        </m:r>
                      </m:num>
                      <m:den>
                        <m:rad>
                          <m:radPr>
                            <m:degHide m:val="on"/>
                            <m:ctrlPr>
                              <a:rPr lang="en-IN" i="1" dirty="0" smtClean="0">
                                <a:latin typeface="Cambria Math" panose="02040503050406030204" pitchFamily="18" charset="0"/>
                              </a:rPr>
                            </m:ctrlPr>
                          </m:radPr>
                          <m:deg/>
                          <m:e>
                            <m:r>
                              <a:rPr lang="en-US" i="1" dirty="0">
                                <a:latin typeface="Cambria Math" panose="02040503050406030204" pitchFamily="18" charset="0"/>
                              </a:rPr>
                              <m:t>2</m:t>
                            </m:r>
                            <m:r>
                              <a:rPr lang="en-US" i="1" dirty="0">
                                <a:latin typeface="Cambria Math" panose="02040503050406030204" pitchFamily="18" charset="0"/>
                                <a:ea typeface="Cambria Math" panose="02040503050406030204" pitchFamily="18" charset="0"/>
                              </a:rPr>
                              <m:t>𝜋</m:t>
                            </m:r>
                          </m:e>
                        </m:rad>
                      </m:den>
                    </m:f>
                    <m:r>
                      <a:rPr lang="en-US" b="0" i="1" dirty="0" smtClean="0">
                        <a:latin typeface="Cambria Math" panose="02040503050406030204" pitchFamily="18" charset="0"/>
                      </a:rPr>
                      <m:t> </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𝑒</m:t>
                        </m:r>
                      </m:e>
                      <m:sup>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i="1" dirty="0">
                                    <a:latin typeface="Cambria Math" panose="02040503050406030204" pitchFamily="18" charset="0"/>
                                  </a:rPr>
                                  <m:t>𝑥</m:t>
                                </m:r>
                              </m:e>
                              <m:sup>
                                <m:r>
                                  <a:rPr lang="en-US" b="0" i="1" dirty="0" smtClean="0">
                                    <a:latin typeface="Cambria Math" panose="02040503050406030204" pitchFamily="18" charset="0"/>
                                  </a:rPr>
                                  <m:t>2</m:t>
                                </m:r>
                              </m:sup>
                            </m:sSup>
                          </m:num>
                          <m:den>
                            <m:r>
                              <a:rPr lang="en-US" b="0" i="1" dirty="0" smtClean="0">
                                <a:latin typeface="Cambria Math" panose="02040503050406030204" pitchFamily="18" charset="0"/>
                              </a:rPr>
                              <m:t>2</m:t>
                            </m:r>
                          </m:den>
                        </m:f>
                      </m:sup>
                    </m:sSup>
                    <m:r>
                      <a:rPr lang="en-US" b="0" i="1" dirty="0"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&lt;∞</m:t>
                    </m:r>
                  </m:oMath>
                </a14:m>
                <a:endParaRPr lang="en-IN" dirty="0"/>
              </a:p>
              <a:p>
                <a:pPr marL="285750" indent="-285750">
                  <a:buFont typeface="Arial" panose="020B0604020202020204" pitchFamily="34" charset="0"/>
                  <a:buChar char="•"/>
                </a:pPr>
                <a:r>
                  <a:rPr lang="en-IN" dirty="0"/>
                  <a:t>Cumulative Distribution function =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=1−</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IN" dirty="0"/>
              </a:p>
              <a:p>
                <a:pPr marL="285750" indent="-285750">
                  <a:buFont typeface="Arial" panose="020B0604020202020204" pitchFamily="34" charset="0"/>
                  <a:buChar char="•"/>
                </a:pPr>
                <a:r>
                  <a:rPr lang="en-IN" dirty="0"/>
                  <a:t>Mean = </a:t>
                </a:r>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m:t>
                    </m:r>
                  </m:oMath>
                </a14:m>
                <a:r>
                  <a:rPr lang="en-IN" sz="2000" dirty="0"/>
                  <a:t> </a:t>
                </a:r>
                <a14:m>
                  <m:oMath xmlns:m="http://schemas.openxmlformats.org/officeDocument/2006/math">
                    <m:r>
                      <a:rPr lang="en-US" sz="2000" i="1">
                        <a:latin typeface="Cambria Math" panose="02040503050406030204" pitchFamily="18" charset="0"/>
                        <a:ea typeface="Cambria Math" panose="02040503050406030204" pitchFamily="18" charset="0"/>
                      </a:rPr>
                      <m:t>𝜇</m:t>
                    </m:r>
                  </m:oMath>
                </a14:m>
                <a:r>
                  <a:rPr lang="en-IN" sz="2000" dirty="0"/>
                  <a:t> = 0</a:t>
                </a:r>
              </a:p>
              <a:p>
                <a:pPr marL="285750" indent="-285750">
                  <a:buFont typeface="Arial" panose="020B0604020202020204" pitchFamily="34" charset="0"/>
                  <a:buChar char="•"/>
                </a:pPr>
                <a:r>
                  <a:rPr lang="en-IN" dirty="0"/>
                  <a:t>Variance = </a:t>
                </a:r>
                <a14:m>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m:t>
                    </m:r>
                    <m:sSup>
                      <m:sSupPr>
                        <m:ctrlPr>
                          <a:rPr lang="en-US" sz="2000" i="1" dirty="0">
                            <a:latin typeface="Cambria Math" panose="02040503050406030204" pitchFamily="18" charset="0"/>
                            <a:ea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𝜎</m:t>
                        </m:r>
                      </m:e>
                      <m:sup>
                        <m:r>
                          <a:rPr lang="en-US" sz="2000" i="1" dirty="0">
                            <a:latin typeface="Cambria Math" panose="02040503050406030204" pitchFamily="18" charset="0"/>
                            <a:ea typeface="Cambria Math" panose="02040503050406030204" pitchFamily="18" charset="0"/>
                          </a:rPr>
                          <m:t>2</m:t>
                        </m:r>
                      </m:sup>
                    </m:sSup>
                  </m:oMath>
                </a14:m>
                <a:r>
                  <a:rPr lang="en-IN" sz="2000" dirty="0"/>
                  <a:t> = 1</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endParaRPr lang="en-IN" sz="2000" dirty="0"/>
              </a:p>
            </p:txBody>
          </p:sp>
        </mc:Choice>
        <mc:Fallback xmlns="">
          <p:sp>
            <p:nvSpPr>
              <p:cNvPr id="4" name="TextBox 3">
                <a:extLst>
                  <a:ext uri="{FF2B5EF4-FFF2-40B4-BE49-F238E27FC236}">
                    <a16:creationId xmlns:a16="http://schemas.microsoft.com/office/drawing/2014/main" id="{ACF0A6CF-35E4-B7B9-6503-929193233834}"/>
                  </a:ext>
                </a:extLst>
              </p:cNvPr>
              <p:cNvSpPr txBox="1">
                <a:spLocks noRot="1" noChangeAspect="1" noMove="1" noResize="1" noEditPoints="1" noAdjustHandles="1" noChangeArrowheads="1" noChangeShapeType="1" noTextEdit="1"/>
              </p:cNvSpPr>
              <p:nvPr/>
            </p:nvSpPr>
            <p:spPr>
              <a:xfrm>
                <a:off x="1468876" y="1799617"/>
                <a:ext cx="10525328" cy="2112310"/>
              </a:xfrm>
              <a:prstGeom prst="rect">
                <a:avLst/>
              </a:prstGeom>
              <a:blipFill>
                <a:blip r:embed="rId3"/>
                <a:stretch>
                  <a:fillRect l="-405"/>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41ECD8D0-749C-E351-6014-0D1828B9AD6E}"/>
              </a:ext>
            </a:extLst>
          </p:cNvPr>
          <p:cNvPicPr>
            <a:picLocks noChangeAspect="1"/>
          </p:cNvPicPr>
          <p:nvPr/>
        </p:nvPicPr>
        <p:blipFill>
          <a:blip r:embed="rId4"/>
          <a:stretch>
            <a:fillRect/>
          </a:stretch>
        </p:blipFill>
        <p:spPr>
          <a:xfrm>
            <a:off x="6616362" y="3103123"/>
            <a:ext cx="5167423" cy="2866147"/>
          </a:xfrm>
          <a:prstGeom prst="rect">
            <a:avLst/>
          </a:prstGeom>
        </p:spPr>
      </p:pic>
      <p:pic>
        <p:nvPicPr>
          <p:cNvPr id="5" name="Picture 2" descr="KL University - Wikipedia">
            <a:extLst>
              <a:ext uri="{FF2B5EF4-FFF2-40B4-BE49-F238E27FC236}">
                <a16:creationId xmlns:a16="http://schemas.microsoft.com/office/drawing/2014/main" id="{62DD86A0-9CAC-ECA7-C1B3-D75434D7F7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4696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ADE4B-2AB3-FD19-5C8E-CF2C589FCBF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3C221B4-1C0B-7408-5E92-6C074421035A}"/>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A96C82BC-596F-3E9A-CB2E-9B8BF89203CC}"/>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Applications</a:t>
            </a:r>
          </a:p>
        </p:txBody>
      </p:sp>
      <p:sp>
        <p:nvSpPr>
          <p:cNvPr id="4" name="TextBox 3">
            <a:extLst>
              <a:ext uri="{FF2B5EF4-FFF2-40B4-BE49-F238E27FC236}">
                <a16:creationId xmlns:a16="http://schemas.microsoft.com/office/drawing/2014/main" id="{1A21CF2F-D56E-3608-2AEB-58AE1773D043}"/>
              </a:ext>
            </a:extLst>
          </p:cNvPr>
          <p:cNvSpPr txBox="1"/>
          <p:nvPr/>
        </p:nvSpPr>
        <p:spPr>
          <a:xfrm>
            <a:off x="960876" y="1382286"/>
            <a:ext cx="10525328" cy="4093428"/>
          </a:xfrm>
          <a:prstGeom prst="rect">
            <a:avLst/>
          </a:prstGeom>
          <a:noFill/>
        </p:spPr>
        <p:txBody>
          <a:bodyPr wrap="square" rtlCol="0">
            <a:spAutoFit/>
          </a:bodyPr>
          <a:lstStyle/>
          <a:p>
            <a:r>
              <a:rPr lang="en-US" sz="2000" b="1" dirty="0"/>
              <a:t>Finance</a:t>
            </a:r>
            <a:r>
              <a:rPr lang="en-US" sz="2000" dirty="0"/>
              <a:t>: </a:t>
            </a:r>
          </a:p>
          <a:p>
            <a:r>
              <a:rPr lang="en-US" sz="2000" dirty="0"/>
              <a:t>Discrete distributions are used for event counts like defaults, while continuous distributions model returns or risk (e.g., normal distribution for asset returns).</a:t>
            </a:r>
          </a:p>
          <a:p>
            <a:r>
              <a:rPr lang="en-US" sz="2000" b="1" dirty="0"/>
              <a:t>Healthcare</a:t>
            </a:r>
            <a:r>
              <a:rPr lang="en-US" sz="2000" dirty="0"/>
              <a:t>: </a:t>
            </a:r>
          </a:p>
          <a:p>
            <a:r>
              <a:rPr lang="en-US" sz="2000" dirty="0"/>
              <a:t>Discrete: Number of new disease cases. Continuous: Time until recovery or length of hospital stay.</a:t>
            </a:r>
          </a:p>
          <a:p>
            <a:r>
              <a:rPr lang="en-US" sz="2000" b="1" dirty="0"/>
              <a:t>Survey Analysis</a:t>
            </a:r>
            <a:r>
              <a:rPr lang="en-US" sz="2000" dirty="0"/>
              <a:t>: </a:t>
            </a:r>
          </a:p>
          <a:p>
            <a:r>
              <a:rPr lang="en-US" sz="2000" dirty="0"/>
              <a:t>Discrete: Multiple-choice responses (e.g., “yes”, “no”, “maybe”). Continuous: Data like income, age, measured on a scale.</a:t>
            </a:r>
          </a:p>
          <a:p>
            <a:r>
              <a:rPr lang="en-US" sz="2000" b="1" dirty="0"/>
              <a:t>Engineering</a:t>
            </a:r>
            <a:r>
              <a:rPr lang="en-US" sz="2000" dirty="0"/>
              <a:t>: </a:t>
            </a:r>
          </a:p>
          <a:p>
            <a:r>
              <a:rPr lang="en-US" sz="2000" dirty="0"/>
              <a:t>Discrete: Counting number of product failures. Continuous: Measuring surface finish quality or tensile strength of materials.</a:t>
            </a:r>
          </a:p>
          <a:p>
            <a:r>
              <a:rPr lang="en-US" sz="2000" dirty="0"/>
              <a:t>Marketing: Discrete: Purchases per customer. Continuous: Time spent viewing a product page</a:t>
            </a:r>
          </a:p>
          <a:p>
            <a:endParaRPr lang="en-IN" sz="2000" dirty="0"/>
          </a:p>
        </p:txBody>
      </p:sp>
      <p:pic>
        <p:nvPicPr>
          <p:cNvPr id="5" name="Picture 2" descr="KL University - Wikipedia">
            <a:extLst>
              <a:ext uri="{FF2B5EF4-FFF2-40B4-BE49-F238E27FC236}">
                <a16:creationId xmlns:a16="http://schemas.microsoft.com/office/drawing/2014/main" id="{2C0DBE0B-CE3E-E121-74FB-8AA4DD45F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667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B657E-8F02-20E1-8F30-EE853DB0CD5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DF235F1-9D98-25EC-9CC9-25F48EA74BFD}"/>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D199D65F-A919-88A4-5F8E-D0016BE9245E}"/>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Expectation</a:t>
            </a:r>
          </a:p>
        </p:txBody>
      </p:sp>
      <p:sp>
        <p:nvSpPr>
          <p:cNvPr id="4" name="TextBox 3">
            <a:extLst>
              <a:ext uri="{FF2B5EF4-FFF2-40B4-BE49-F238E27FC236}">
                <a16:creationId xmlns:a16="http://schemas.microsoft.com/office/drawing/2014/main" id="{426A250B-655D-B388-C3A7-045C5599F223}"/>
              </a:ext>
            </a:extLst>
          </p:cNvPr>
          <p:cNvSpPr txBox="1"/>
          <p:nvPr/>
        </p:nvSpPr>
        <p:spPr>
          <a:xfrm>
            <a:off x="960876" y="1382286"/>
            <a:ext cx="10525328" cy="3785652"/>
          </a:xfrm>
          <a:prstGeom prst="rect">
            <a:avLst/>
          </a:prstGeom>
          <a:noFill/>
        </p:spPr>
        <p:txBody>
          <a:bodyPr wrap="square" rtlCol="0">
            <a:spAutoFit/>
          </a:bodyPr>
          <a:lstStyle/>
          <a:p>
            <a:pPr algn="just"/>
            <a:r>
              <a:rPr lang="en-US" sz="2000" b="1" dirty="0"/>
              <a:t>Expectation</a:t>
            </a:r>
            <a:r>
              <a:rPr lang="en-US" sz="2000" dirty="0"/>
              <a:t> (or expected value) in probability and statistics refers to the long-run average outcome of a random variable over many repetitions of an experiment. It tells us what value we "expect" to see on average.</a:t>
            </a:r>
          </a:p>
          <a:p>
            <a:pPr algn="just"/>
            <a:endParaRPr lang="en-US" sz="2000" dirty="0"/>
          </a:p>
          <a:p>
            <a:pPr algn="just"/>
            <a:r>
              <a:rPr lang="en-US" sz="2000" dirty="0"/>
              <a:t>For a discrete random variable X, the expectation is calculated by multiplying each possible value by its probability and summing these products:</a:t>
            </a:r>
          </a:p>
          <a:p>
            <a:endParaRPr lang="en-IN" sz="2000" dirty="0"/>
          </a:p>
          <a:p>
            <a:endParaRPr lang="en-IN" sz="2000" dirty="0"/>
          </a:p>
          <a:p>
            <a:endParaRPr lang="en-IN" sz="2000" dirty="0"/>
          </a:p>
          <a:p>
            <a:endParaRPr lang="en-US" sz="2000" dirty="0"/>
          </a:p>
          <a:p>
            <a:endParaRPr lang="en-US" sz="2000" dirty="0"/>
          </a:p>
          <a:p>
            <a:r>
              <a:rPr lang="en-US" sz="2000" dirty="0"/>
              <a:t>For a continuous random variable, we integrate over all possible values</a:t>
            </a:r>
            <a:endParaRPr lang="en-IN" sz="2000" dirty="0"/>
          </a:p>
        </p:txBody>
      </p:sp>
      <p:pic>
        <p:nvPicPr>
          <p:cNvPr id="5" name="Picture 2" descr="KL University - Wikipedia">
            <a:extLst>
              <a:ext uri="{FF2B5EF4-FFF2-40B4-BE49-F238E27FC236}">
                <a16:creationId xmlns:a16="http://schemas.microsoft.com/office/drawing/2014/main" id="{FDDBC393-243A-359E-B6FE-304C9F3589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BA9997E-C10E-97B8-A4CA-574D8C559A35}"/>
              </a:ext>
            </a:extLst>
          </p:cNvPr>
          <p:cNvPicPr>
            <a:picLocks noChangeAspect="1"/>
          </p:cNvPicPr>
          <p:nvPr/>
        </p:nvPicPr>
        <p:blipFill>
          <a:blip r:embed="rId3"/>
          <a:stretch>
            <a:fillRect/>
          </a:stretch>
        </p:blipFill>
        <p:spPr>
          <a:xfrm>
            <a:off x="4324779" y="3352425"/>
            <a:ext cx="2953162" cy="676369"/>
          </a:xfrm>
          <a:prstGeom prst="rect">
            <a:avLst/>
          </a:prstGeom>
        </p:spPr>
      </p:pic>
    </p:spTree>
    <p:extLst>
      <p:ext uri="{BB962C8B-B14F-4D97-AF65-F5344CB8AC3E}">
        <p14:creationId xmlns:p14="http://schemas.microsoft.com/office/powerpoint/2010/main" val="15760863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D8C42-68B4-DF43-04B2-11463F70D9F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98F2504-731C-F740-1C96-FE0DA2A5BEA8}"/>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4E738CD7-1D3F-2880-83C5-C59249203510}"/>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Expectation</a:t>
            </a:r>
          </a:p>
        </p:txBody>
      </p:sp>
      <p:sp>
        <p:nvSpPr>
          <p:cNvPr id="4" name="TextBox 3">
            <a:extLst>
              <a:ext uri="{FF2B5EF4-FFF2-40B4-BE49-F238E27FC236}">
                <a16:creationId xmlns:a16="http://schemas.microsoft.com/office/drawing/2014/main" id="{E7B0685C-A46F-0131-4CAD-8347F789D4B8}"/>
              </a:ext>
            </a:extLst>
          </p:cNvPr>
          <p:cNvSpPr txBox="1"/>
          <p:nvPr/>
        </p:nvSpPr>
        <p:spPr>
          <a:xfrm>
            <a:off x="1418076" y="1334544"/>
            <a:ext cx="10525328" cy="4708981"/>
          </a:xfrm>
          <a:prstGeom prst="rect">
            <a:avLst/>
          </a:prstGeom>
          <a:noFill/>
        </p:spPr>
        <p:txBody>
          <a:bodyPr wrap="square" rtlCol="0">
            <a:spAutoFit/>
          </a:bodyPr>
          <a:lstStyle/>
          <a:p>
            <a:pPr algn="just"/>
            <a:r>
              <a:rPr lang="en-US" sz="2000" b="1" dirty="0"/>
              <a:t>Example:</a:t>
            </a:r>
          </a:p>
          <a:p>
            <a:r>
              <a:rPr lang="en-US" sz="2000" dirty="0"/>
              <a:t>Rolling a Fair 6-Sided Die</a:t>
            </a:r>
            <a:br>
              <a:rPr lang="en-US" sz="2000" dirty="0"/>
            </a:br>
            <a:r>
              <a:rPr lang="en-US" sz="2000" dirty="0"/>
              <a:t>Each face (1–6) has a probability of 1/6.</a:t>
            </a:r>
          </a:p>
          <a:p>
            <a:endParaRPr lang="en-US" sz="2000" dirty="0"/>
          </a:p>
          <a:p>
            <a:r>
              <a:rPr lang="en-US" sz="2000" dirty="0"/>
              <a:t>Expectation calculation:</a:t>
            </a:r>
          </a:p>
          <a:p>
            <a:endParaRPr lang="en-IN" sz="2000" dirty="0"/>
          </a:p>
          <a:p>
            <a:endParaRPr lang="en-IN" sz="2000" dirty="0"/>
          </a:p>
          <a:p>
            <a:endParaRPr lang="en-US" sz="2000" dirty="0"/>
          </a:p>
          <a:p>
            <a:endParaRPr lang="en-US" sz="2000" dirty="0"/>
          </a:p>
          <a:p>
            <a:r>
              <a:rPr lang="en-US" sz="2000" dirty="0"/>
              <a:t>So, the expected value from rolling a fair die is 3.5. If you roll the die a very large number of times, the average result will approach 3.5.</a:t>
            </a:r>
          </a:p>
          <a:p>
            <a:endParaRPr lang="en-US" sz="2000" dirty="0"/>
          </a:p>
          <a:p>
            <a:r>
              <a:rPr lang="en-US" sz="2000" b="1" dirty="0"/>
              <a:t>Summary:</a:t>
            </a:r>
          </a:p>
          <a:p>
            <a:r>
              <a:rPr lang="en-US" sz="2000" dirty="0"/>
              <a:t>Expectation provides a powerful way to predict average outcomes, guiding decisions in contexts from finance to games, insurance, science, and everyday situations.</a:t>
            </a:r>
            <a:endParaRPr lang="en-IN" sz="2000" dirty="0"/>
          </a:p>
        </p:txBody>
      </p:sp>
      <p:pic>
        <p:nvPicPr>
          <p:cNvPr id="5" name="Picture 2" descr="KL University - Wikipedia">
            <a:extLst>
              <a:ext uri="{FF2B5EF4-FFF2-40B4-BE49-F238E27FC236}">
                <a16:creationId xmlns:a16="http://schemas.microsoft.com/office/drawing/2014/main" id="{9CDA9D9F-9D91-08F0-A6C1-A84E9CA54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37FB74A-4042-BEF1-216F-9D5E16DF764C}"/>
              </a:ext>
            </a:extLst>
          </p:cNvPr>
          <p:cNvPicPr>
            <a:picLocks noChangeAspect="1"/>
          </p:cNvPicPr>
          <p:nvPr/>
        </p:nvPicPr>
        <p:blipFill>
          <a:blip r:embed="rId3"/>
          <a:stretch>
            <a:fillRect/>
          </a:stretch>
        </p:blipFill>
        <p:spPr>
          <a:xfrm>
            <a:off x="2466468" y="3090815"/>
            <a:ext cx="7259063" cy="676369"/>
          </a:xfrm>
          <a:prstGeom prst="rect">
            <a:avLst/>
          </a:prstGeom>
        </p:spPr>
      </p:pic>
    </p:spTree>
    <p:extLst>
      <p:ext uri="{BB962C8B-B14F-4D97-AF65-F5344CB8AC3E}">
        <p14:creationId xmlns:p14="http://schemas.microsoft.com/office/powerpoint/2010/main" val="37449196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2C7C9-84F4-7E92-7696-A9BA6D3ADFF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FB6B61F-53B9-4B72-091A-A244802EC11C}"/>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68BE22AC-DA3B-F5A2-213E-EFCE3FE0B4F0}"/>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Expectation- Continuous</a:t>
            </a:r>
          </a:p>
        </p:txBody>
      </p:sp>
      <p:sp>
        <p:nvSpPr>
          <p:cNvPr id="4" name="TextBox 3">
            <a:extLst>
              <a:ext uri="{FF2B5EF4-FFF2-40B4-BE49-F238E27FC236}">
                <a16:creationId xmlns:a16="http://schemas.microsoft.com/office/drawing/2014/main" id="{32368E4D-6528-18DD-6412-1096F4D4D0E4}"/>
              </a:ext>
            </a:extLst>
          </p:cNvPr>
          <p:cNvSpPr txBox="1"/>
          <p:nvPr/>
        </p:nvSpPr>
        <p:spPr>
          <a:xfrm>
            <a:off x="1418076" y="1334544"/>
            <a:ext cx="10525328" cy="3170099"/>
          </a:xfrm>
          <a:prstGeom prst="rect">
            <a:avLst/>
          </a:prstGeom>
          <a:noFill/>
        </p:spPr>
        <p:txBody>
          <a:bodyPr wrap="square" rtlCol="0">
            <a:spAutoFit/>
          </a:bodyPr>
          <a:lstStyle/>
          <a:p>
            <a:pPr algn="just"/>
            <a:r>
              <a:rPr lang="en-US" sz="2000" dirty="0"/>
              <a:t>The expectation (expected value) of a continuous random variable is calculated using integration rather than summation.</a:t>
            </a:r>
          </a:p>
          <a:p>
            <a:pPr algn="just"/>
            <a:r>
              <a:rPr lang="en-US" sz="2000" dirty="0"/>
              <a:t>If X is a continuous random variable with probability density function (pdf) f(x), then its expectation is:</a:t>
            </a:r>
          </a:p>
          <a:p>
            <a:pPr algn="just"/>
            <a:endParaRPr lang="en-US" sz="2000" dirty="0"/>
          </a:p>
          <a:p>
            <a:pPr algn="just"/>
            <a:endParaRPr lang="en-US" sz="2000" dirty="0"/>
          </a:p>
          <a:p>
            <a:pPr algn="just"/>
            <a:r>
              <a:rPr lang="en-US" sz="2000" dirty="0"/>
              <a:t>This formula works just like the discrete case, but instead of adding up the products of values and probabilities, you integrate the product of each possible value and its density over the entire range of X</a:t>
            </a:r>
            <a:r>
              <a:rPr lang="en-US" sz="2000" i="1" dirty="0"/>
              <a:t>.</a:t>
            </a:r>
          </a:p>
          <a:p>
            <a:pPr algn="just"/>
            <a:endParaRPr lang="en-US" sz="2000" dirty="0"/>
          </a:p>
        </p:txBody>
      </p:sp>
      <p:pic>
        <p:nvPicPr>
          <p:cNvPr id="5" name="Picture 2" descr="KL University - Wikipedia">
            <a:extLst>
              <a:ext uri="{FF2B5EF4-FFF2-40B4-BE49-F238E27FC236}">
                <a16:creationId xmlns:a16="http://schemas.microsoft.com/office/drawing/2014/main" id="{180669AA-4DB5-42BA-DA4D-9C4F409EE3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2C553A6-3E1A-FE99-54F7-62517D4A1C13}"/>
              </a:ext>
            </a:extLst>
          </p:cNvPr>
          <p:cNvPicPr>
            <a:picLocks noChangeAspect="1"/>
          </p:cNvPicPr>
          <p:nvPr/>
        </p:nvPicPr>
        <p:blipFill>
          <a:blip r:embed="rId3"/>
          <a:stretch>
            <a:fillRect/>
          </a:stretch>
        </p:blipFill>
        <p:spPr>
          <a:xfrm>
            <a:off x="4649920" y="2369030"/>
            <a:ext cx="2648320" cy="600159"/>
          </a:xfrm>
          <a:prstGeom prst="rect">
            <a:avLst/>
          </a:prstGeom>
        </p:spPr>
      </p:pic>
    </p:spTree>
    <p:extLst>
      <p:ext uri="{BB962C8B-B14F-4D97-AF65-F5344CB8AC3E}">
        <p14:creationId xmlns:p14="http://schemas.microsoft.com/office/powerpoint/2010/main" val="16441103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52939-FBC1-2F5D-B624-A797409E18E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D1C21EC-E7B3-3689-BB12-3C124D05ACCB}"/>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5F3946FE-ED0D-8EFE-61D5-358808802EBD}"/>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Expectation- Continuous</a:t>
            </a:r>
          </a:p>
        </p:txBody>
      </p:sp>
      <p:sp>
        <p:nvSpPr>
          <p:cNvPr id="4" name="TextBox 3">
            <a:extLst>
              <a:ext uri="{FF2B5EF4-FFF2-40B4-BE49-F238E27FC236}">
                <a16:creationId xmlns:a16="http://schemas.microsoft.com/office/drawing/2014/main" id="{9D919DDF-EB09-20D7-92CB-957F796A95FC}"/>
              </a:ext>
            </a:extLst>
          </p:cNvPr>
          <p:cNvSpPr txBox="1"/>
          <p:nvPr/>
        </p:nvSpPr>
        <p:spPr>
          <a:xfrm>
            <a:off x="1418076" y="1334544"/>
            <a:ext cx="10525328" cy="3939540"/>
          </a:xfrm>
          <a:prstGeom prst="rect">
            <a:avLst/>
          </a:prstGeom>
          <a:noFill/>
        </p:spPr>
        <p:txBody>
          <a:bodyPr wrap="square" rtlCol="0">
            <a:spAutoFit/>
          </a:bodyPr>
          <a:lstStyle/>
          <a:p>
            <a:pPr algn="just"/>
            <a:r>
              <a:rPr lang="en-US" sz="2000" b="1" dirty="0"/>
              <a:t>Example: </a:t>
            </a:r>
          </a:p>
          <a:p>
            <a:pPr algn="just"/>
            <a:r>
              <a:rPr lang="en-US" sz="2000" dirty="0"/>
              <a:t>The expectation (expected value) of a continuous random variable is calculated using integration rather than summation.</a:t>
            </a:r>
          </a:p>
          <a:p>
            <a:pPr algn="just"/>
            <a:endParaRPr lang="en-US" sz="2000" dirty="0"/>
          </a:p>
          <a:p>
            <a:pPr algn="just"/>
            <a:endParaRPr lang="en-US" sz="2000"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sz="2000" dirty="0"/>
              <a:t>In practical terms, expectation tells us the average value of the random variable if the process is repeated many times.</a:t>
            </a:r>
          </a:p>
          <a:p>
            <a:pPr algn="just"/>
            <a:endParaRPr lang="en-US" sz="2000" dirty="0"/>
          </a:p>
        </p:txBody>
      </p:sp>
      <p:pic>
        <p:nvPicPr>
          <p:cNvPr id="5" name="Picture 2" descr="KL University - Wikipedia">
            <a:extLst>
              <a:ext uri="{FF2B5EF4-FFF2-40B4-BE49-F238E27FC236}">
                <a16:creationId xmlns:a16="http://schemas.microsoft.com/office/drawing/2014/main" id="{C0E1325F-EB1E-1C6F-A0B4-0F6D402DEC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E44FC68-1DC4-8E59-EE0E-809F363EC23C}"/>
              </a:ext>
            </a:extLst>
          </p:cNvPr>
          <p:cNvPicPr>
            <a:picLocks noChangeAspect="1"/>
          </p:cNvPicPr>
          <p:nvPr/>
        </p:nvPicPr>
        <p:blipFill>
          <a:blip r:embed="rId3"/>
          <a:stretch>
            <a:fillRect/>
          </a:stretch>
        </p:blipFill>
        <p:spPr>
          <a:xfrm>
            <a:off x="1966336" y="2480656"/>
            <a:ext cx="8259328" cy="1162212"/>
          </a:xfrm>
          <a:prstGeom prst="rect">
            <a:avLst/>
          </a:prstGeom>
        </p:spPr>
      </p:pic>
    </p:spTree>
    <p:extLst>
      <p:ext uri="{BB962C8B-B14F-4D97-AF65-F5344CB8AC3E}">
        <p14:creationId xmlns:p14="http://schemas.microsoft.com/office/powerpoint/2010/main" val="158796761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75CCA-ECEA-E44F-FC3B-25E07C87651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0F4308E-9456-AB37-0B9D-045561125E3D}"/>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D4B258A5-C3D0-2545-32FA-E1FDDAC35824}"/>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Variance</a:t>
            </a:r>
          </a:p>
        </p:txBody>
      </p:sp>
      <p:sp>
        <p:nvSpPr>
          <p:cNvPr id="4" name="TextBox 3">
            <a:extLst>
              <a:ext uri="{FF2B5EF4-FFF2-40B4-BE49-F238E27FC236}">
                <a16:creationId xmlns:a16="http://schemas.microsoft.com/office/drawing/2014/main" id="{DC0E5519-7497-D0B6-1D06-2D98D38F9C4A}"/>
              </a:ext>
            </a:extLst>
          </p:cNvPr>
          <p:cNvSpPr txBox="1"/>
          <p:nvPr/>
        </p:nvSpPr>
        <p:spPr>
          <a:xfrm>
            <a:off x="1418076" y="1334544"/>
            <a:ext cx="10525328" cy="2400657"/>
          </a:xfrm>
          <a:prstGeom prst="rect">
            <a:avLst/>
          </a:prstGeom>
          <a:noFill/>
        </p:spPr>
        <p:txBody>
          <a:bodyPr wrap="square" rtlCol="0">
            <a:spAutoFit/>
          </a:bodyPr>
          <a:lstStyle/>
          <a:p>
            <a:pPr algn="just"/>
            <a:endParaRPr lang="en-US" sz="2000" dirty="0"/>
          </a:p>
          <a:p>
            <a:pPr algn="just"/>
            <a:endParaRPr lang="en-US" sz="2000"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sz="2000" dirty="0"/>
          </a:p>
        </p:txBody>
      </p:sp>
      <p:pic>
        <p:nvPicPr>
          <p:cNvPr id="5" name="Picture 2" descr="KL University - Wikipedia">
            <a:extLst>
              <a:ext uri="{FF2B5EF4-FFF2-40B4-BE49-F238E27FC236}">
                <a16:creationId xmlns:a16="http://schemas.microsoft.com/office/drawing/2014/main" id="{32499E2D-E529-29C2-99B1-99B6B45DC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36A42C7-1414-EC80-CED5-ED7F71A591F7}"/>
              </a:ext>
            </a:extLst>
          </p:cNvPr>
          <p:cNvPicPr>
            <a:picLocks noChangeAspect="1"/>
          </p:cNvPicPr>
          <p:nvPr/>
        </p:nvPicPr>
        <p:blipFill>
          <a:blip r:embed="rId3"/>
          <a:stretch>
            <a:fillRect/>
          </a:stretch>
        </p:blipFill>
        <p:spPr>
          <a:xfrm>
            <a:off x="1237280" y="1681988"/>
            <a:ext cx="9765017" cy="3196816"/>
          </a:xfrm>
          <a:prstGeom prst="rect">
            <a:avLst/>
          </a:prstGeom>
        </p:spPr>
      </p:pic>
    </p:spTree>
    <p:extLst>
      <p:ext uri="{BB962C8B-B14F-4D97-AF65-F5344CB8AC3E}">
        <p14:creationId xmlns:p14="http://schemas.microsoft.com/office/powerpoint/2010/main" val="72166079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D2C15-ED38-9233-01EC-5B254F28193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C6FDCEC-246D-9CD3-B96A-EBD4B09D2037}"/>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757EDFC5-08C4-FCFD-7549-283358A4ABB4}"/>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Variance</a:t>
            </a:r>
          </a:p>
        </p:txBody>
      </p:sp>
      <p:sp>
        <p:nvSpPr>
          <p:cNvPr id="4" name="TextBox 3">
            <a:extLst>
              <a:ext uri="{FF2B5EF4-FFF2-40B4-BE49-F238E27FC236}">
                <a16:creationId xmlns:a16="http://schemas.microsoft.com/office/drawing/2014/main" id="{E7EFAAE2-6CD1-59B2-25DD-62B79C816938}"/>
              </a:ext>
            </a:extLst>
          </p:cNvPr>
          <p:cNvSpPr txBox="1"/>
          <p:nvPr/>
        </p:nvSpPr>
        <p:spPr>
          <a:xfrm>
            <a:off x="1418076" y="1334544"/>
            <a:ext cx="10525328" cy="3170099"/>
          </a:xfrm>
          <a:prstGeom prst="rect">
            <a:avLst/>
          </a:prstGeom>
          <a:noFill/>
        </p:spPr>
        <p:txBody>
          <a:bodyPr wrap="square" rtlCol="0">
            <a:spAutoFit/>
          </a:bodyPr>
          <a:lstStyle/>
          <a:p>
            <a:pPr algn="just"/>
            <a:endParaRPr lang="en-US" sz="2000" dirty="0"/>
          </a:p>
          <a:p>
            <a:pPr algn="just"/>
            <a:r>
              <a:rPr lang="en-US" sz="2000" dirty="0"/>
              <a:t>Example: </a:t>
            </a:r>
          </a:p>
          <a:p>
            <a:pPr algn="just"/>
            <a:r>
              <a:rPr lang="en-US" sz="2000" dirty="0"/>
              <a:t>Consider rolling a fair six-sided die. The mean μ=3.5</a:t>
            </a:r>
            <a:r>
              <a:rPr lang="en-US" sz="2000" i="1" dirty="0"/>
              <a:t>μ</a:t>
            </a:r>
            <a:r>
              <a:rPr lang="en-US" sz="2000" dirty="0"/>
              <a:t>=3.5. The variance is calculated as: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r>
              <a:rPr lang="en-US" sz="2000" dirty="0"/>
              <a:t>This shows how the results fluctuate around the average value 3.5</a:t>
            </a:r>
          </a:p>
          <a:p>
            <a:pPr algn="just"/>
            <a:endParaRPr lang="en-US" sz="2000" dirty="0"/>
          </a:p>
        </p:txBody>
      </p:sp>
      <p:pic>
        <p:nvPicPr>
          <p:cNvPr id="5" name="Picture 2" descr="KL University - Wikipedia">
            <a:extLst>
              <a:ext uri="{FF2B5EF4-FFF2-40B4-BE49-F238E27FC236}">
                <a16:creationId xmlns:a16="http://schemas.microsoft.com/office/drawing/2014/main" id="{A0102A3C-6029-BD44-8DA9-075EC619D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B245CA1-2AF0-2E5B-D285-40F290D994EB}"/>
              </a:ext>
            </a:extLst>
          </p:cNvPr>
          <p:cNvPicPr>
            <a:picLocks noChangeAspect="1"/>
          </p:cNvPicPr>
          <p:nvPr/>
        </p:nvPicPr>
        <p:blipFill>
          <a:blip r:embed="rId3"/>
          <a:stretch>
            <a:fillRect/>
          </a:stretch>
        </p:blipFill>
        <p:spPr>
          <a:xfrm>
            <a:off x="2571093" y="2752631"/>
            <a:ext cx="6268325" cy="676369"/>
          </a:xfrm>
          <a:prstGeom prst="rect">
            <a:avLst/>
          </a:prstGeom>
        </p:spPr>
      </p:pic>
    </p:spTree>
    <p:extLst>
      <p:ext uri="{BB962C8B-B14F-4D97-AF65-F5344CB8AC3E}">
        <p14:creationId xmlns:p14="http://schemas.microsoft.com/office/powerpoint/2010/main" val="42613637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365EA-7341-323B-86A4-4D9C1E94454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F759581-EC58-7396-636C-310B98430F8D}"/>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0652735D-626E-0172-42BA-5424461490AD}"/>
              </a:ext>
            </a:extLst>
          </p:cNvPr>
          <p:cNvSpPr/>
          <p:nvPr/>
        </p:nvSpPr>
        <p:spPr>
          <a:xfrm>
            <a:off x="2529806" y="96146"/>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Calculation of  Variance and Covariance</a:t>
            </a:r>
          </a:p>
        </p:txBody>
      </p:sp>
      <p:pic>
        <p:nvPicPr>
          <p:cNvPr id="5" name="Picture 2" descr="KL University - Wikipedia">
            <a:extLst>
              <a:ext uri="{FF2B5EF4-FFF2-40B4-BE49-F238E27FC236}">
                <a16:creationId xmlns:a16="http://schemas.microsoft.com/office/drawing/2014/main" id="{8B79A066-9109-1976-BFC4-2969A150AF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B85D09E0-EAA9-2F1E-3B5A-8E4E642B0A33}"/>
              </a:ext>
            </a:extLst>
          </p:cNvPr>
          <p:cNvPicPr>
            <a:picLocks noChangeAspect="1"/>
          </p:cNvPicPr>
          <p:nvPr/>
        </p:nvPicPr>
        <p:blipFill>
          <a:blip r:embed="rId3"/>
          <a:stretch>
            <a:fillRect/>
          </a:stretch>
        </p:blipFill>
        <p:spPr>
          <a:xfrm>
            <a:off x="1133279" y="1832865"/>
            <a:ext cx="9640645" cy="1810003"/>
          </a:xfrm>
          <a:prstGeom prst="rect">
            <a:avLst/>
          </a:prstGeom>
        </p:spPr>
      </p:pic>
    </p:spTree>
    <p:extLst>
      <p:ext uri="{BB962C8B-B14F-4D97-AF65-F5344CB8AC3E}">
        <p14:creationId xmlns:p14="http://schemas.microsoft.com/office/powerpoint/2010/main" val="39591006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24076-BE59-10F8-E874-AA2C3AE4F88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DB23C61-4899-CE31-DFF0-C85D29FDF3CC}"/>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3EC941AA-9717-2A56-858B-0E4AFEF9B522}"/>
              </a:ext>
            </a:extLst>
          </p:cNvPr>
          <p:cNvSpPr/>
          <p:nvPr/>
        </p:nvSpPr>
        <p:spPr>
          <a:xfrm>
            <a:off x="2631406" y="364613"/>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Covariance</a:t>
            </a:r>
          </a:p>
        </p:txBody>
      </p:sp>
      <p:sp>
        <p:nvSpPr>
          <p:cNvPr id="4" name="TextBox 3">
            <a:extLst>
              <a:ext uri="{FF2B5EF4-FFF2-40B4-BE49-F238E27FC236}">
                <a16:creationId xmlns:a16="http://schemas.microsoft.com/office/drawing/2014/main" id="{E645962B-98D7-5FC1-FD4B-5145BA3503EF}"/>
              </a:ext>
            </a:extLst>
          </p:cNvPr>
          <p:cNvSpPr txBox="1"/>
          <p:nvPr/>
        </p:nvSpPr>
        <p:spPr>
          <a:xfrm>
            <a:off x="1418076" y="1334544"/>
            <a:ext cx="10525328" cy="5324535"/>
          </a:xfrm>
          <a:prstGeom prst="rect">
            <a:avLst/>
          </a:prstGeom>
          <a:noFill/>
        </p:spPr>
        <p:txBody>
          <a:bodyPr wrap="square" rtlCol="0">
            <a:spAutoFit/>
          </a:bodyPr>
          <a:lstStyle/>
          <a:p>
            <a:pPr algn="just"/>
            <a:r>
              <a:rPr lang="en-US" sz="2000" dirty="0"/>
              <a:t>Covariance measures how two random variables vary together. It indicates whether increases in one variable tend to be accompanied by increases or decreases in the other. </a:t>
            </a:r>
          </a:p>
          <a:p>
            <a:pPr algn="just"/>
            <a:endParaRPr lang="en-US" sz="2000" dirty="0"/>
          </a:p>
          <a:p>
            <a:r>
              <a:rPr lang="en-IN" sz="2000" dirty="0"/>
              <a:t>For two random variables X and Y with means E(X) and E(Y), </a:t>
            </a:r>
          </a:p>
          <a:p>
            <a:r>
              <a:rPr lang="en-IN" sz="2000" dirty="0"/>
              <a:t>covariance is:</a:t>
            </a:r>
          </a:p>
          <a:p>
            <a:endParaRPr lang="en-IN" sz="2000" dirty="0"/>
          </a:p>
          <a:p>
            <a:endParaRPr lang="en-IN" sz="2000" dirty="0"/>
          </a:p>
          <a:p>
            <a:endParaRPr lang="en-IN" sz="2000" b="1" dirty="0"/>
          </a:p>
          <a:p>
            <a:r>
              <a:rPr lang="en-IN" sz="2000" b="1" dirty="0"/>
              <a:t>Positive covariance </a:t>
            </a:r>
            <a:r>
              <a:rPr lang="en-IN" sz="2000" dirty="0"/>
              <a:t>means the variables tend to increase or decrease together.</a:t>
            </a:r>
          </a:p>
          <a:p>
            <a:r>
              <a:rPr lang="en-IN" sz="2000" b="1" dirty="0"/>
              <a:t>Negative covaria</a:t>
            </a:r>
            <a:r>
              <a:rPr lang="en-IN" sz="2000" dirty="0"/>
              <a:t>nce means when one increases, the other tends to decrease.</a:t>
            </a:r>
          </a:p>
          <a:p>
            <a:r>
              <a:rPr lang="en-IN" sz="2000" b="1" dirty="0"/>
              <a:t>Zero covariance </a:t>
            </a:r>
            <a:r>
              <a:rPr lang="en-IN" sz="2000" dirty="0"/>
              <a:t>means no linear relationship.</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p:txBody>
      </p:sp>
      <p:pic>
        <p:nvPicPr>
          <p:cNvPr id="5" name="Picture 2" descr="KL University - Wikipedia">
            <a:extLst>
              <a:ext uri="{FF2B5EF4-FFF2-40B4-BE49-F238E27FC236}">
                <a16:creationId xmlns:a16="http://schemas.microsoft.com/office/drawing/2014/main" id="{825E89AA-4B41-C6F1-D91F-640F0B58AF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740B103-BB2F-0985-1965-7663F98876F5}"/>
              </a:ext>
            </a:extLst>
          </p:cNvPr>
          <p:cNvPicPr>
            <a:picLocks noChangeAspect="1"/>
          </p:cNvPicPr>
          <p:nvPr/>
        </p:nvPicPr>
        <p:blipFill>
          <a:blip r:embed="rId3"/>
          <a:stretch>
            <a:fillRect/>
          </a:stretch>
        </p:blipFill>
        <p:spPr>
          <a:xfrm>
            <a:off x="2351540" y="2914578"/>
            <a:ext cx="7163800" cy="514422"/>
          </a:xfrm>
          <a:prstGeom prst="rect">
            <a:avLst/>
          </a:prstGeom>
        </p:spPr>
      </p:pic>
    </p:spTree>
    <p:extLst>
      <p:ext uri="{BB962C8B-B14F-4D97-AF65-F5344CB8AC3E}">
        <p14:creationId xmlns:p14="http://schemas.microsoft.com/office/powerpoint/2010/main" val="34451710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2331-9C1F-FDE1-AD3C-3EAF35C3F72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E8209D2-3CFF-3567-0964-02B566DCA9CB}"/>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13A6DC21-B1EA-F6E0-BF3B-A8DEAF04A59E}"/>
              </a:ext>
            </a:extLst>
          </p:cNvPr>
          <p:cNvSpPr/>
          <p:nvPr/>
        </p:nvSpPr>
        <p:spPr>
          <a:xfrm>
            <a:off x="2529806" y="96146"/>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 of Variance</a:t>
            </a:r>
          </a:p>
        </p:txBody>
      </p:sp>
      <p:sp>
        <p:nvSpPr>
          <p:cNvPr id="4" name="TextBox 3">
            <a:extLst>
              <a:ext uri="{FF2B5EF4-FFF2-40B4-BE49-F238E27FC236}">
                <a16:creationId xmlns:a16="http://schemas.microsoft.com/office/drawing/2014/main" id="{A2C5090C-3694-33EA-67BE-7B2A2A6CB1A3}"/>
              </a:ext>
            </a:extLst>
          </p:cNvPr>
          <p:cNvSpPr txBox="1"/>
          <p:nvPr/>
        </p:nvSpPr>
        <p:spPr>
          <a:xfrm>
            <a:off x="1418076" y="1334544"/>
            <a:ext cx="10525328" cy="707886"/>
          </a:xfrm>
          <a:prstGeom prst="rect">
            <a:avLst/>
          </a:prstGeom>
          <a:noFill/>
        </p:spPr>
        <p:txBody>
          <a:bodyPr wrap="square" rtlCol="0">
            <a:spAutoFit/>
          </a:bodyPr>
          <a:lstStyle/>
          <a:p>
            <a:pPr algn="just"/>
            <a:endParaRPr lang="en-US" sz="2000" dirty="0"/>
          </a:p>
          <a:p>
            <a:pPr algn="just"/>
            <a:endParaRPr lang="en-US" sz="2000" dirty="0"/>
          </a:p>
        </p:txBody>
      </p:sp>
      <p:pic>
        <p:nvPicPr>
          <p:cNvPr id="5" name="Picture 2" descr="KL University - Wikipedia">
            <a:extLst>
              <a:ext uri="{FF2B5EF4-FFF2-40B4-BE49-F238E27FC236}">
                <a16:creationId xmlns:a16="http://schemas.microsoft.com/office/drawing/2014/main" id="{4500AF96-024B-11E7-0C0C-04738635DC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D67D6CB-6082-79DF-4C2A-D0BD2619D73F}"/>
              </a:ext>
            </a:extLst>
          </p:cNvPr>
          <p:cNvPicPr>
            <a:picLocks noChangeAspect="1"/>
          </p:cNvPicPr>
          <p:nvPr/>
        </p:nvPicPr>
        <p:blipFill>
          <a:blip r:embed="rId3"/>
          <a:stretch>
            <a:fillRect/>
          </a:stretch>
        </p:blipFill>
        <p:spPr>
          <a:xfrm>
            <a:off x="808887" y="1280812"/>
            <a:ext cx="10574226" cy="4296375"/>
          </a:xfrm>
          <a:prstGeom prst="rect">
            <a:avLst/>
          </a:prstGeom>
        </p:spPr>
      </p:pic>
    </p:spTree>
    <p:extLst>
      <p:ext uri="{BB962C8B-B14F-4D97-AF65-F5344CB8AC3E}">
        <p14:creationId xmlns:p14="http://schemas.microsoft.com/office/powerpoint/2010/main" val="22277974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BDFF1-6D4F-B0F6-49BE-254C8DD9A33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C6BB6E0-AB30-75C4-9956-A63374B34A76}"/>
              </a:ext>
            </a:extLst>
          </p:cNvPr>
          <p:cNvSpPr/>
          <p:nvPr/>
        </p:nvSpPr>
        <p:spPr>
          <a:xfrm>
            <a:off x="408215" y="972072"/>
            <a:ext cx="10594082" cy="2308324"/>
          </a:xfrm>
          <a:prstGeom prst="rect">
            <a:avLst/>
          </a:prstGeom>
        </p:spPr>
        <p:txBody>
          <a:bodyPr wrap="square">
            <a:spAutoFit/>
          </a:bodyPr>
          <a:lstStyle/>
          <a:p>
            <a:pPr algn="just"/>
            <a:endParaRPr lang="en-IN" sz="2400" b="0" i="0" u="none" strike="noStrike" baseline="0" dirty="0">
              <a:solidFill>
                <a:srgbClr val="000000"/>
              </a:solidFill>
              <a:latin typeface="Garamond" panose="02020404030301010803" pitchFamily="18" charset="0"/>
            </a:endParaRPr>
          </a:p>
          <a:p>
            <a:endParaRPr lang="en-IN" sz="2400" dirty="0"/>
          </a:p>
          <a:p>
            <a:endParaRPr lang="en-IN" sz="2400" b="1" dirty="0"/>
          </a:p>
          <a:p>
            <a:pPr marL="457200" indent="-457200">
              <a:buFont typeface="Arial" panose="020B0604020202020204" pitchFamily="34" charset="0"/>
              <a:buChar char="•"/>
            </a:pPr>
            <a:endParaRPr lang="en-IN" sz="2400" dirty="0"/>
          </a:p>
          <a:p>
            <a:endParaRPr lang="en-IN" sz="2400" dirty="0"/>
          </a:p>
          <a:p>
            <a:pPr algn="just"/>
            <a:endParaRPr lang="en-US" sz="2400" b="1" dirty="0"/>
          </a:p>
        </p:txBody>
      </p:sp>
      <p:sp>
        <p:nvSpPr>
          <p:cNvPr id="2" name="Rounded Rectangle 17">
            <a:extLst>
              <a:ext uri="{FF2B5EF4-FFF2-40B4-BE49-F238E27FC236}">
                <a16:creationId xmlns:a16="http://schemas.microsoft.com/office/drawing/2014/main" id="{04ECEF48-2CF4-3232-CDA5-D65B9C5904CA}"/>
              </a:ext>
            </a:extLst>
          </p:cNvPr>
          <p:cNvSpPr/>
          <p:nvPr/>
        </p:nvSpPr>
        <p:spPr>
          <a:xfrm>
            <a:off x="2529806" y="96146"/>
            <a:ext cx="6969794" cy="60745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 of  Covariance</a:t>
            </a:r>
          </a:p>
        </p:txBody>
      </p:sp>
      <p:sp>
        <p:nvSpPr>
          <p:cNvPr id="4" name="TextBox 3">
            <a:extLst>
              <a:ext uri="{FF2B5EF4-FFF2-40B4-BE49-F238E27FC236}">
                <a16:creationId xmlns:a16="http://schemas.microsoft.com/office/drawing/2014/main" id="{B6128B2A-0BA3-993A-AA6F-E5791E409F93}"/>
              </a:ext>
            </a:extLst>
          </p:cNvPr>
          <p:cNvSpPr txBox="1"/>
          <p:nvPr/>
        </p:nvSpPr>
        <p:spPr>
          <a:xfrm>
            <a:off x="920236" y="934666"/>
            <a:ext cx="10525328" cy="707886"/>
          </a:xfrm>
          <a:prstGeom prst="rect">
            <a:avLst/>
          </a:prstGeom>
          <a:noFill/>
        </p:spPr>
        <p:txBody>
          <a:bodyPr wrap="square" rtlCol="0">
            <a:spAutoFit/>
          </a:bodyPr>
          <a:lstStyle/>
          <a:p>
            <a:pPr algn="just"/>
            <a:endParaRPr lang="en-US" sz="2000" dirty="0"/>
          </a:p>
          <a:p>
            <a:pPr algn="just"/>
            <a:endParaRPr lang="en-US" sz="2000" dirty="0"/>
          </a:p>
        </p:txBody>
      </p:sp>
      <p:pic>
        <p:nvPicPr>
          <p:cNvPr id="5" name="Picture 2" descr="KL University - Wikipedia">
            <a:extLst>
              <a:ext uri="{FF2B5EF4-FFF2-40B4-BE49-F238E27FC236}">
                <a16:creationId xmlns:a16="http://schemas.microsoft.com/office/drawing/2014/main" id="{41DB6574-659F-DBC6-01C0-C93DEFD082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71CAB14-B422-44D5-81E8-B66779835D17}"/>
              </a:ext>
            </a:extLst>
          </p:cNvPr>
          <p:cNvPicPr>
            <a:picLocks noChangeAspect="1"/>
          </p:cNvPicPr>
          <p:nvPr/>
        </p:nvPicPr>
        <p:blipFill>
          <a:blip r:embed="rId3"/>
          <a:stretch>
            <a:fillRect/>
          </a:stretch>
        </p:blipFill>
        <p:spPr>
          <a:xfrm>
            <a:off x="884933" y="835717"/>
            <a:ext cx="9640645" cy="2872684"/>
          </a:xfrm>
          <a:prstGeom prst="rect">
            <a:avLst/>
          </a:prstGeom>
        </p:spPr>
      </p:pic>
      <p:pic>
        <p:nvPicPr>
          <p:cNvPr id="10" name="Picture 9">
            <a:extLst>
              <a:ext uri="{FF2B5EF4-FFF2-40B4-BE49-F238E27FC236}">
                <a16:creationId xmlns:a16="http://schemas.microsoft.com/office/drawing/2014/main" id="{A19194B8-B247-AD15-2AA7-843080B0974D}"/>
              </a:ext>
            </a:extLst>
          </p:cNvPr>
          <p:cNvPicPr>
            <a:picLocks noChangeAspect="1"/>
          </p:cNvPicPr>
          <p:nvPr/>
        </p:nvPicPr>
        <p:blipFill>
          <a:blip r:embed="rId4"/>
          <a:stretch>
            <a:fillRect/>
          </a:stretch>
        </p:blipFill>
        <p:spPr>
          <a:xfrm>
            <a:off x="884933" y="3713959"/>
            <a:ext cx="9605342" cy="2308324"/>
          </a:xfrm>
          <a:prstGeom prst="rect">
            <a:avLst/>
          </a:prstGeom>
        </p:spPr>
      </p:pic>
    </p:spTree>
    <p:extLst>
      <p:ext uri="{BB962C8B-B14F-4D97-AF65-F5344CB8AC3E}">
        <p14:creationId xmlns:p14="http://schemas.microsoft.com/office/powerpoint/2010/main" val="38576998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579" y="609600"/>
            <a:ext cx="10269366" cy="5400675"/>
          </a:xfrm>
        </p:spPr>
        <p:txBody>
          <a:bodyPr>
            <a:noAutofit/>
          </a:bodyPr>
          <a:lstStyle/>
          <a:p>
            <a:pPr marL="0" indent="0">
              <a:lnSpc>
                <a:spcPct val="150000"/>
              </a:lnSpc>
              <a:buNone/>
            </a:pPr>
            <a:r>
              <a:rPr lang="en-US" sz="2200" b="1" dirty="0"/>
              <a:t>Reference Books:</a:t>
            </a:r>
            <a:endParaRPr lang="en-US" sz="2200" dirty="0"/>
          </a:p>
          <a:p>
            <a:pPr marL="0" indent="0">
              <a:buNone/>
            </a:pPr>
            <a:r>
              <a:rPr lang="en-US" sz="2200" dirty="0"/>
              <a:t>1. Russel and Norvig, ‘Artificial Intelligence’, third edition, Pearson Education, PHI, (2015)</a:t>
            </a:r>
          </a:p>
          <a:p>
            <a:pPr marL="0" indent="0">
              <a:buNone/>
            </a:pPr>
            <a:r>
              <a:rPr lang="en-US" sz="2200" dirty="0"/>
              <a:t>2. Elaine Rich &amp; Kevin Knight, ‘Artificial Intelligence’, 3nd Edition, Tata Mc Graw Hill Edition, Reprint( 2008)</a:t>
            </a:r>
          </a:p>
          <a:p>
            <a:pPr marL="0" indent="0">
              <a:lnSpc>
                <a:spcPct val="150000"/>
              </a:lnSpc>
              <a:buNone/>
            </a:pPr>
            <a:r>
              <a:rPr lang="en-US" sz="2200" b="1" dirty="0"/>
              <a:t>Sites and Web links:</a:t>
            </a:r>
          </a:p>
          <a:p>
            <a:pPr marL="342900" indent="-342900">
              <a:lnSpc>
                <a:spcPct val="150000"/>
              </a:lnSpc>
              <a:buAutoNum type="arabicPeriod"/>
            </a:pPr>
            <a:r>
              <a:rPr lang="en-US" sz="2200" dirty="0">
                <a:hlinkClick r:id="rId2">
                  <a:extLst>
                    <a:ext uri="{A12FA001-AC4F-418D-AE19-62706E023703}">
                      <ahyp:hlinkClr xmlns:ahyp="http://schemas.microsoft.com/office/drawing/2018/hyperlinkcolor" val="tx"/>
                    </a:ext>
                  </a:extLst>
                </a:hlinkClick>
              </a:rPr>
              <a:t>https://www.virtusa.com/digital-themes/heuristic-search-techniques</a:t>
            </a:r>
            <a:endParaRPr lang="en-US" sz="2200" dirty="0"/>
          </a:p>
          <a:p>
            <a:pPr marL="342900" indent="-342900">
              <a:lnSpc>
                <a:spcPct val="150000"/>
              </a:lnSpc>
              <a:buAutoNum type="arabicPeriod"/>
            </a:pPr>
            <a:r>
              <a:rPr lang="en-US" sz="2200" dirty="0">
                <a:hlinkClick r:id="rId3">
                  <a:extLst>
                    <a:ext uri="{A12FA001-AC4F-418D-AE19-62706E023703}">
                      <ahyp:hlinkClr xmlns:ahyp="http://schemas.microsoft.com/office/drawing/2018/hyperlinkcolor" val="tx"/>
                    </a:ext>
                  </a:extLst>
                </a:hlinkClick>
              </a:rPr>
              <a:t>https://towardsdatascience.com/a-star-a-search-algorithm-eb495fb156bb</a:t>
            </a:r>
            <a:endParaRPr lang="en-US" sz="2200" dirty="0"/>
          </a:p>
          <a:p>
            <a:pPr marL="342900" indent="-342900">
              <a:lnSpc>
                <a:spcPct val="150000"/>
              </a:lnSpc>
              <a:buAutoNum type="arabicPeriod"/>
            </a:pPr>
            <a:r>
              <a:rPr lang="en-IN" sz="2200" dirty="0">
                <a:hlinkClick r:id="rId4">
                  <a:extLst>
                    <a:ext uri="{A12FA001-AC4F-418D-AE19-62706E023703}">
                      <ahyp:hlinkClr xmlns:ahyp="http://schemas.microsoft.com/office/drawing/2018/hyperlinkcolor" val="tx"/>
                    </a:ext>
                  </a:extLst>
                </a:hlinkClick>
              </a:rPr>
              <a:t>https://www.tutorialandexample.com/local-search-algorithms-and-optimization-problem/</a:t>
            </a:r>
            <a:endParaRPr lang="en-IN" sz="2200" dirty="0"/>
          </a:p>
          <a:p>
            <a:pPr marL="342900" indent="-342900">
              <a:lnSpc>
                <a:spcPct val="150000"/>
              </a:lnSpc>
              <a:buAutoNum type="arabicPeriod"/>
            </a:pPr>
            <a:r>
              <a:rPr lang="en-IN" sz="2200" dirty="0">
                <a:hlinkClick r:id="rId5">
                  <a:extLst>
                    <a:ext uri="{A12FA001-AC4F-418D-AE19-62706E023703}">
                      <ahyp:hlinkClr xmlns:ahyp="http://schemas.microsoft.com/office/drawing/2018/hyperlinkcolor" val="tx"/>
                    </a:ext>
                  </a:extLst>
                </a:hlinkClick>
              </a:rPr>
              <a:t>http://cgi.di.uoa.gr/~ys02/siteAI2008/local-search-2spp.pdf</a:t>
            </a:r>
            <a:endParaRPr lang="en-IN" sz="2200" dirty="0"/>
          </a:p>
          <a:p>
            <a:pPr marL="342900" indent="-342900">
              <a:lnSpc>
                <a:spcPct val="150000"/>
              </a:lnSpc>
              <a:buAutoNum type="arabicPeriod"/>
            </a:pPr>
            <a:r>
              <a:rPr lang="en-IN" sz="2200" dirty="0">
                <a:hlinkClick r:id="rId6">
                  <a:extLst>
                    <a:ext uri="{A12FA001-AC4F-418D-AE19-62706E023703}">
                      <ahyp:hlinkClr xmlns:ahyp="http://schemas.microsoft.com/office/drawing/2018/hyperlinkcolor" val="tx"/>
                    </a:ext>
                  </a:extLst>
                </a:hlinkClick>
              </a:rPr>
              <a:t>http://aima.eecs.berkeley.edu/slides-pdf/chapter04b.pdf</a:t>
            </a:r>
            <a:endParaRPr lang="en-IN" sz="2200" dirty="0"/>
          </a:p>
          <a:p>
            <a:pPr marL="342900" indent="-342900">
              <a:lnSpc>
                <a:spcPct val="150000"/>
              </a:lnSpc>
              <a:buAutoNum type="arabicPeriod"/>
            </a:pPr>
            <a:endParaRPr lang="en-US" sz="1400" dirty="0"/>
          </a:p>
          <a:p>
            <a:endParaRPr lang="en-US" sz="14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31</a:t>
            </a:fld>
            <a:endParaRPr lang="en-IN"/>
          </a:p>
        </p:txBody>
      </p:sp>
      <p:pic>
        <p:nvPicPr>
          <p:cNvPr id="2" name="Picture 2" descr="KL University - Wikipedia">
            <a:extLst>
              <a:ext uri="{FF2B5EF4-FFF2-40B4-BE49-F238E27FC236}">
                <a16:creationId xmlns:a16="http://schemas.microsoft.com/office/drawing/2014/main" id="{17D4E8E1-C92E-D39E-D7C9-7AECB3827B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0481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085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2376</TotalTime>
  <Words>2345</Words>
  <Application>Microsoft Office PowerPoint</Application>
  <PresentationFormat>Widescreen</PresentationFormat>
  <Paragraphs>405</Paragraphs>
  <Slides>31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BioRhyme ExtraBold</vt:lpstr>
      <vt:lpstr>Calibri</vt:lpstr>
      <vt:lpstr>Calibri Light</vt:lpstr>
      <vt:lpstr>Cambria Math</vt:lpstr>
      <vt:lpstr>Garamond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DRIVEN ARTIFICIAL INTELLIGENT SYSTEMS</dc:title>
  <dc:creator>123</dc:creator>
  <cp:lastModifiedBy>P Manika Prasuna</cp:lastModifiedBy>
  <cp:revision>240</cp:revision>
  <dcterms:created xsi:type="dcterms:W3CDTF">2023-06-21T09:38:51Z</dcterms:created>
  <dcterms:modified xsi:type="dcterms:W3CDTF">2025-08-28T06:39:09Z</dcterms:modified>
</cp:coreProperties>
</file>