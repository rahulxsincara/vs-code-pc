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wdp" ContentType="image/vnd.ms-photo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slides/slide33.xml" ContentType="application/vnd.openxmlformats-officedocument.presentationml.slide+xml"/>
  <Override PartName="/ppt/slides/slide34.xml" ContentType="application/vnd.openxmlformats-officedocument.presentationml.slide+xml"/>
  <Override PartName="/ppt/slides/slide35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72" r:id="rId1"/>
  </p:sldMasterIdLst>
  <p:notesMasterIdLst>
    <p:notesMasterId r:id="rId37"/>
  </p:notesMasterIdLst>
  <p:sldIdLst>
    <p:sldId id="1496" r:id="rId2"/>
    <p:sldId id="1493" r:id="rId3"/>
    <p:sldId id="1494" r:id="rId4"/>
    <p:sldId id="1497" r:id="rId5"/>
    <p:sldId id="1498" r:id="rId6"/>
    <p:sldId id="1499" r:id="rId7"/>
    <p:sldId id="1501" r:id="rId8"/>
    <p:sldId id="1500" r:id="rId9"/>
    <p:sldId id="1502" r:id="rId10"/>
    <p:sldId id="1484" r:id="rId11"/>
    <p:sldId id="1503" r:id="rId12"/>
    <p:sldId id="1504" r:id="rId13"/>
    <p:sldId id="1505" r:id="rId14"/>
    <p:sldId id="1506" r:id="rId15"/>
    <p:sldId id="1507" r:id="rId16"/>
    <p:sldId id="1508" r:id="rId17"/>
    <p:sldId id="1509" r:id="rId18"/>
    <p:sldId id="1510" r:id="rId19"/>
    <p:sldId id="1492" r:id="rId20"/>
    <p:sldId id="1517" r:id="rId21"/>
    <p:sldId id="1518" r:id="rId22"/>
    <p:sldId id="1523" r:id="rId23"/>
    <p:sldId id="1513" r:id="rId24"/>
    <p:sldId id="1516" r:id="rId25"/>
    <p:sldId id="1514" r:id="rId26"/>
    <p:sldId id="1515" r:id="rId27"/>
    <p:sldId id="1519" r:id="rId28"/>
    <p:sldId id="1520" r:id="rId29"/>
    <p:sldId id="1495" r:id="rId30"/>
    <p:sldId id="1521" r:id="rId31"/>
    <p:sldId id="1524" r:id="rId32"/>
    <p:sldId id="1522" r:id="rId33"/>
    <p:sldId id="1525" r:id="rId34"/>
    <p:sldId id="1474" r:id="rId35"/>
    <p:sldId id="424" r:id="rId36"/>
  </p:sldIdLst>
  <p:sldSz cx="12192000" cy="6858000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4995" autoAdjust="0"/>
    <p:restoredTop sz="94660"/>
  </p:normalViewPr>
  <p:slideViewPr>
    <p:cSldViewPr snapToGrid="0">
      <p:cViewPr varScale="1">
        <p:scale>
          <a:sx n="69" d="100"/>
          <a:sy n="69" d="100"/>
        </p:scale>
        <p:origin x="564" y="44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slide" Target="slides/slide25.xml"/><Relationship Id="rId39" Type="http://schemas.openxmlformats.org/officeDocument/2006/relationships/viewProps" Target="viewProps.xml"/><Relationship Id="rId21" Type="http://schemas.openxmlformats.org/officeDocument/2006/relationships/slide" Target="slides/slide20.xml"/><Relationship Id="rId34" Type="http://schemas.openxmlformats.org/officeDocument/2006/relationships/slide" Target="slides/slide33.xml"/><Relationship Id="rId7" Type="http://schemas.openxmlformats.org/officeDocument/2006/relationships/slide" Target="slides/slide6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29" Type="http://schemas.openxmlformats.org/officeDocument/2006/relationships/slide" Target="slides/slide28.xml"/><Relationship Id="rId41" Type="http://schemas.openxmlformats.org/officeDocument/2006/relationships/tableStyles" Target="tableStyle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slide" Target="slides/slide23.xml"/><Relationship Id="rId32" Type="http://schemas.openxmlformats.org/officeDocument/2006/relationships/slide" Target="slides/slide31.xml"/><Relationship Id="rId37" Type="http://schemas.openxmlformats.org/officeDocument/2006/relationships/notesMaster" Target="notesMasters/notesMaster1.xml"/><Relationship Id="rId40" Type="http://schemas.openxmlformats.org/officeDocument/2006/relationships/theme" Target="theme/theme1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slide" Target="slides/slide27.xml"/><Relationship Id="rId36" Type="http://schemas.openxmlformats.org/officeDocument/2006/relationships/slide" Target="slides/slide35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31" Type="http://schemas.openxmlformats.org/officeDocument/2006/relationships/slide" Target="slides/slide30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slide" Target="slides/slide26.xml"/><Relationship Id="rId30" Type="http://schemas.openxmlformats.org/officeDocument/2006/relationships/slide" Target="slides/slide29.xml"/><Relationship Id="rId35" Type="http://schemas.openxmlformats.org/officeDocument/2006/relationships/slide" Target="slides/slide34.xml"/><Relationship Id="rId8" Type="http://schemas.openxmlformats.org/officeDocument/2006/relationships/slide" Target="slides/slide7.xml"/><Relationship Id="rId3" Type="http://schemas.openxmlformats.org/officeDocument/2006/relationships/slide" Target="slides/slide2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slide" Target="slides/slide24.xml"/><Relationship Id="rId33" Type="http://schemas.openxmlformats.org/officeDocument/2006/relationships/slide" Target="slides/slide32.xml"/><Relationship Id="rId38" Type="http://schemas.openxmlformats.org/officeDocument/2006/relationships/presProps" Target="presProp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IN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FB9CD915-8767-40F7-954D-3F7E107AA614}" type="datetimeFigureOut">
              <a:rPr lang="en-IN" smtClean="0"/>
              <a:t>28-08-2025</a:t>
            </a:fld>
            <a:endParaRPr lang="en-IN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IN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IN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FA230EC6-6A26-4929-9AE9-1C183424E88C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4054743902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slideLayouts/_rels/slideLayout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Relationship Id="rId4" Type="http://schemas.microsoft.com/office/2007/relationships/hdphoto" Target="../media/hdphoto1.wdp"/></Relationships>
</file>

<file path=ppt/slideLayouts/_rels/slideLayout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bg>
      <p:bgRef idx="1002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414549" y="2467219"/>
            <a:ext cx="9144000" cy="861061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 dirty="0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38A3636-4462-45DC-BB00-FF6375F9F6C0}" type="datetimeFigureOut">
              <a:rPr lang="en-IN" smtClean="0"/>
              <a:t>28-08-2025</a:t>
            </a:fld>
            <a:endParaRPr lang="en-I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18F3EC4-EDD9-42C1-AC18-D944FC4FABDD}" type="slidenum">
              <a:rPr lang="en-IN" smtClean="0"/>
              <a:t>‹#›</a:t>
            </a:fld>
            <a:endParaRPr lang="en-IN"/>
          </a:p>
        </p:txBody>
      </p:sp>
      <p:sp>
        <p:nvSpPr>
          <p:cNvPr id="7" name="Rectangle 6">
            <a:extLst>
              <a:ext uri="{FF2B5EF4-FFF2-40B4-BE49-F238E27FC236}">
                <a16:creationId xmlns:a16="http://schemas.microsoft.com/office/drawing/2014/main" id="{39BCC9CA-706E-F867-7CF3-1000A86A13A7}"/>
              </a:ext>
            </a:extLst>
          </p:cNvPr>
          <p:cNvSpPr/>
          <p:nvPr userDrawn="1"/>
        </p:nvSpPr>
        <p:spPr>
          <a:xfrm>
            <a:off x="399011" y="83127"/>
            <a:ext cx="1521229" cy="540328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 dirty="0"/>
          </a:p>
        </p:txBody>
      </p:sp>
      <p:pic>
        <p:nvPicPr>
          <p:cNvPr id="9" name="Picture 2" descr="KL University - Wikipedia">
            <a:extLst>
              <a:ext uri="{FF2B5EF4-FFF2-40B4-BE49-F238E27FC236}">
                <a16:creationId xmlns:a16="http://schemas.microsoft.com/office/drawing/2014/main" id="{653AD577-CAC5-E64D-E54F-DE967A4D2EF0}"/>
              </a:ext>
            </a:extLst>
          </p:cNvPr>
          <p:cNvPicPr>
            <a:picLocks noChangeAspect="1" noChangeArrowheads="1"/>
          </p:cNvPicPr>
          <p:nvPr userDrawn="1"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57694" y="155501"/>
            <a:ext cx="2030905" cy="822718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10" name="Picture 9">
            <a:extLst>
              <a:ext uri="{FF2B5EF4-FFF2-40B4-BE49-F238E27FC236}">
                <a16:creationId xmlns:a16="http://schemas.microsoft.com/office/drawing/2014/main" id="{D0D3047D-5670-B0CC-FFB6-2EF171968FD5}"/>
              </a:ext>
            </a:extLst>
          </p:cNvPr>
          <p:cNvPicPr>
            <a:picLocks noChangeAspect="1"/>
          </p:cNvPicPr>
          <p:nvPr userDrawn="1"/>
        </p:nvPicPr>
        <p:blipFill>
          <a:blip r:embed="rId3">
            <a:extLst>
              <a:ext uri="{BEBA8EAE-BF5A-486C-A8C5-ECC9F3942E4B}">
                <a14:imgProps xmlns:a14="http://schemas.microsoft.com/office/drawing/2010/main">
                  <a14:imgLayer r:embed="rId4">
                    <a14:imgEffect>
                      <a14:saturation sat="400000"/>
                    </a14:imgEffect>
                  </a14:imgLayer>
                </a14:imgProps>
              </a:ext>
            </a:extLst>
          </a:blip>
          <a:stretch>
            <a:fillRect/>
          </a:stretch>
        </p:blipFill>
        <p:spPr>
          <a:xfrm>
            <a:off x="1" y="6119091"/>
            <a:ext cx="12192000" cy="738909"/>
          </a:xfrm>
          <a:prstGeom prst="rect">
            <a:avLst/>
          </a:prstGeom>
          <a:ln>
            <a:solidFill>
              <a:schemeClr val="accent1">
                <a:lumMod val="75000"/>
              </a:schemeClr>
            </a:solidFill>
          </a:ln>
        </p:spPr>
      </p:pic>
      <p:sp>
        <p:nvSpPr>
          <p:cNvPr id="11" name="Rectangle 10">
            <a:extLst>
              <a:ext uri="{FF2B5EF4-FFF2-40B4-BE49-F238E27FC236}">
                <a16:creationId xmlns:a16="http://schemas.microsoft.com/office/drawing/2014/main" id="{56625601-FD2C-DAA2-5BCD-584DB10F78A5}"/>
              </a:ext>
            </a:extLst>
          </p:cNvPr>
          <p:cNvSpPr/>
          <p:nvPr userDrawn="1"/>
        </p:nvSpPr>
        <p:spPr>
          <a:xfrm>
            <a:off x="2429916" y="305250"/>
            <a:ext cx="7701042" cy="523220"/>
          </a:xfrm>
          <a:prstGeom prst="rect">
            <a:avLst/>
          </a:prstGeom>
          <a:noFill/>
        </p:spPr>
        <p:txBody>
          <a:bodyPr wrap="square" lIns="91440" tIns="45720" rIns="91440" bIns="45720">
            <a:spAutoFit/>
          </a:bodyPr>
          <a:lstStyle/>
          <a:p>
            <a:pPr algn="ctr"/>
            <a:r>
              <a:rPr lang="en-US" sz="2800" b="0" cap="none" spc="0" dirty="0">
                <a:ln w="0"/>
                <a:solidFill>
                  <a:schemeClr val="tx1"/>
                </a:solidFill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</a:rPr>
              <a:t>ARTIFICILA INTELLIGENCE  MACHINE LEARNING</a:t>
            </a:r>
          </a:p>
        </p:txBody>
      </p:sp>
    </p:spTree>
    <p:extLst>
      <p:ext uri="{BB962C8B-B14F-4D97-AF65-F5344CB8AC3E}">
        <p14:creationId xmlns:p14="http://schemas.microsoft.com/office/powerpoint/2010/main" val="2768482653"/>
      </p:ext>
    </p:extLst>
  </p:cSld>
  <p:clrMapOvr>
    <a:overrideClrMapping bg1="lt1" tx1="dk1" bg2="lt2" tx2="dk2" accent1="accent1" accent2="accent2" accent3="accent3" accent4="accent4" accent5="accent5" accent6="accent6" hlink="hlink" folHlink="folHlink"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>
            <a:lvl1pPr algn="ctr">
              <a:defRPr sz="4000" b="1"/>
            </a:lvl1pPr>
          </a:lstStyle>
          <a:p>
            <a:r>
              <a:rPr lang="en-US" dirty="0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38A3636-4462-45DC-BB00-FF6375F9F6C0}" type="datetimeFigureOut">
              <a:rPr lang="en-IN" smtClean="0"/>
              <a:t>28-08-2025</a:t>
            </a:fld>
            <a:endParaRPr lang="en-I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18F3EC4-EDD9-42C1-AC18-D944FC4FABDD}" type="slidenum">
              <a:rPr lang="en-IN" smtClean="0"/>
              <a:t>‹#›</a:t>
            </a:fld>
            <a:endParaRPr lang="en-IN"/>
          </a:p>
        </p:txBody>
      </p:sp>
      <p:pic>
        <p:nvPicPr>
          <p:cNvPr id="7" name="Picture 2" descr="KL University - Wikipedia">
            <a:extLst>
              <a:ext uri="{FF2B5EF4-FFF2-40B4-BE49-F238E27FC236}">
                <a16:creationId xmlns:a16="http://schemas.microsoft.com/office/drawing/2014/main" id="{ECDB660B-5DB9-CACA-071E-B3BAF0A3BC55}"/>
              </a:ext>
            </a:extLst>
          </p:cNvPr>
          <p:cNvPicPr>
            <a:picLocks noChangeAspect="1" noChangeArrowheads="1"/>
          </p:cNvPicPr>
          <p:nvPr userDrawn="1"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57694" y="155501"/>
            <a:ext cx="2030905" cy="822718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3883346854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38A3636-4462-45DC-BB00-FF6375F9F6C0}" type="datetimeFigureOut">
              <a:rPr lang="en-IN" smtClean="0"/>
              <a:t>28-08-2025</a:t>
            </a:fld>
            <a:endParaRPr lang="en-I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18F3EC4-EDD9-42C1-AC18-D944FC4FABDD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526664453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38A3636-4462-45DC-BB00-FF6375F9F6C0}" type="datetimeFigureOut">
              <a:rPr lang="en-IN" smtClean="0"/>
              <a:t>28-08-2025</a:t>
            </a:fld>
            <a:endParaRPr lang="en-IN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18F3EC4-EDD9-42C1-AC18-D944FC4FABDD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916558160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38A3636-4462-45DC-BB00-FF6375F9F6C0}" type="datetimeFigureOut">
              <a:rPr lang="en-IN" smtClean="0"/>
              <a:t>28-08-2025</a:t>
            </a:fld>
            <a:endParaRPr lang="en-IN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18F3EC4-EDD9-42C1-AC18-D944FC4FABDD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544128607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38A3636-4462-45DC-BB00-FF6375F9F6C0}" type="datetimeFigureOut">
              <a:rPr lang="en-IN" smtClean="0"/>
              <a:t>28-08-2025</a:t>
            </a:fld>
            <a:endParaRPr lang="en-IN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18F3EC4-EDD9-42C1-AC18-D944FC4FABDD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577011735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38A3636-4462-45DC-BB00-FF6375F9F6C0}" type="datetimeFigureOut">
              <a:rPr lang="en-IN" smtClean="0"/>
              <a:t>28-08-2025</a:t>
            </a:fld>
            <a:endParaRPr lang="en-IN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18F3EC4-EDD9-42C1-AC18-D944FC4FABDD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73016979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38A3636-4462-45DC-BB00-FF6375F9F6C0}" type="datetimeFigureOut">
              <a:rPr lang="en-IN" smtClean="0"/>
              <a:t>28-08-2025</a:t>
            </a:fld>
            <a:endParaRPr lang="en-IN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18F3EC4-EDD9-42C1-AC18-D944FC4FABDD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68836040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 anchor="t"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38A3636-4462-45DC-BB00-FF6375F9F6C0}" type="datetimeFigureOut">
              <a:rPr lang="en-IN" smtClean="0"/>
              <a:t>28-08-2025</a:t>
            </a:fld>
            <a:endParaRPr lang="en-IN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18F3EC4-EDD9-42C1-AC18-D944FC4FABDD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435331012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38A3636-4462-45DC-BB00-FF6375F9F6C0}" type="datetimeFigureOut">
              <a:rPr lang="en-IN" smtClean="0"/>
              <a:t>28-08-2025</a:t>
            </a:fld>
            <a:endParaRPr lang="en-I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18F3EC4-EDD9-42C1-AC18-D944FC4FABDD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098556013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38A3636-4462-45DC-BB00-FF6375F9F6C0}" type="datetimeFigureOut">
              <a:rPr lang="en-IN" smtClean="0"/>
              <a:t>28-08-2025</a:t>
            </a:fld>
            <a:endParaRPr lang="en-I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18F3EC4-EDD9-42C1-AC18-D944FC4FABDD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023697164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738A3636-4462-45DC-BB00-FF6375F9F6C0}" type="datetimeFigureOut">
              <a:rPr lang="en-IN" smtClean="0"/>
              <a:t>28-08-2025</a:t>
            </a:fld>
            <a:endParaRPr lang="en-I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IN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018F3EC4-EDD9-42C1-AC18-D944FC4FABDD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053014785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73" r:id="rId1"/>
    <p:sldLayoutId id="2147483674" r:id="rId2"/>
    <p:sldLayoutId id="2147483675" r:id="rId3"/>
    <p:sldLayoutId id="2147483676" r:id="rId4"/>
    <p:sldLayoutId id="2147483677" r:id="rId5"/>
    <p:sldLayoutId id="2147483678" r:id="rId6"/>
    <p:sldLayoutId id="2147483679" r:id="rId7"/>
    <p:sldLayoutId id="2147483680" r:id="rId8"/>
    <p:sldLayoutId id="2147483681" r:id="rId9"/>
    <p:sldLayoutId id="2147483682" r:id="rId10"/>
    <p:sldLayoutId id="2147483683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png"/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9.png"/><Relationship Id="rId2" Type="http://schemas.openxmlformats.org/officeDocument/2006/relationships/image" Target="../media/image8.png"/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11.png"/><Relationship Id="rId2" Type="http://schemas.openxmlformats.org/officeDocument/2006/relationships/image" Target="../media/image10.png"/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13.png"/><Relationship Id="rId2" Type="http://schemas.openxmlformats.org/officeDocument/2006/relationships/image" Target="../media/image12.png"/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15.png"/><Relationship Id="rId2" Type="http://schemas.openxmlformats.org/officeDocument/2006/relationships/image" Target="../media/image14.png"/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7.png"/><Relationship Id="rId2" Type="http://schemas.openxmlformats.org/officeDocument/2006/relationships/image" Target="../media/image16.png"/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8.png"/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8.xml.rels><?xml version="1.0" encoding="UTF-8" standalone="yes"?>
<Relationships xmlns="http://schemas.openxmlformats.org/package/2006/relationships"><Relationship Id="rId2" Type="http://schemas.openxmlformats.org/officeDocument/2006/relationships/image" Target="../media/image19.png"/><Relationship Id="rId1" Type="http://schemas.openxmlformats.org/officeDocument/2006/relationships/slideLayout" Target="../slideLayouts/slideLayout2.xml"/></Relationships>
</file>

<file path=ppt/slides/_rels/slide19.xml.rels><?xml version="1.0" encoding="UTF-8" standalone="yes"?>
<Relationships xmlns="http://schemas.openxmlformats.org/package/2006/relationships"><Relationship Id="rId2" Type="http://schemas.openxmlformats.org/officeDocument/2006/relationships/image" Target="../media/image90.png"/><Relationship Id="rId1" Type="http://schemas.openxmlformats.org/officeDocument/2006/relationships/slideLayout" Target="../slideLayouts/slideLayout2.xml"/></Relationships>
</file>

<file path=ppt/slides/_rels/slide20.xml.rels><?xml version="1.0" encoding="UTF-8" standalone="yes"?>
<Relationships xmlns="http://schemas.openxmlformats.org/package/2006/relationships"><Relationship Id="rId2" Type="http://schemas.openxmlformats.org/officeDocument/2006/relationships/image" Target="../media/image100.png"/><Relationship Id="rId1" Type="http://schemas.openxmlformats.org/officeDocument/2006/relationships/slideLayout" Target="../slideLayouts/slideLayout2.xml"/></Relationships>
</file>

<file path=ppt/slides/_rels/slide2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10.png"/><Relationship Id="rId1" Type="http://schemas.openxmlformats.org/officeDocument/2006/relationships/slideLayout" Target="../slideLayouts/slideLayout2.xml"/></Relationships>
</file>

<file path=ppt/slides/_rels/slide2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4.xml.rels><?xml version="1.0" encoding="UTF-8" standalone="yes"?>
<Relationships xmlns="http://schemas.openxmlformats.org/package/2006/relationships"><Relationship Id="rId2" Type="http://schemas.openxmlformats.org/officeDocument/2006/relationships/image" Target="../media/image20.png"/><Relationship Id="rId1" Type="http://schemas.openxmlformats.org/officeDocument/2006/relationships/slideLayout" Target="../slideLayouts/slideLayout2.xml"/></Relationships>
</file>

<file path=ppt/slides/_rels/slide25.xml.rels><?xml version="1.0" encoding="UTF-8" standalone="yes"?>
<Relationships xmlns="http://schemas.openxmlformats.org/package/2006/relationships"><Relationship Id="rId3" Type="http://schemas.openxmlformats.org/officeDocument/2006/relationships/image" Target="../media/image22.png"/><Relationship Id="rId2" Type="http://schemas.openxmlformats.org/officeDocument/2006/relationships/image" Target="../media/image21.png"/><Relationship Id="rId1" Type="http://schemas.openxmlformats.org/officeDocument/2006/relationships/slideLayout" Target="../slideLayouts/slideLayout2.xml"/></Relationships>
</file>

<file path=ppt/slides/_rels/slide2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8.xml.rels><?xml version="1.0" encoding="UTF-8" standalone="yes"?>
<Relationships xmlns="http://schemas.openxmlformats.org/package/2006/relationships"><Relationship Id="rId2" Type="http://schemas.openxmlformats.org/officeDocument/2006/relationships/image" Target="../media/image23.png"/><Relationship Id="rId1" Type="http://schemas.openxmlformats.org/officeDocument/2006/relationships/slideLayout" Target="../slideLayouts/slideLayout2.xml"/></Relationships>
</file>

<file path=ppt/slides/_rels/slide29.xml.rels><?xml version="1.0" encoding="UTF-8" standalone="yes"?>
<Relationships xmlns="http://schemas.openxmlformats.org/package/2006/relationships"><Relationship Id="rId2" Type="http://schemas.openxmlformats.org/officeDocument/2006/relationships/image" Target="../media/image24.png"/><Relationship Id="rId1" Type="http://schemas.openxmlformats.org/officeDocument/2006/relationships/slideLayout" Target="../slideLayouts/slideLayout2.xml"/></Relationships>
</file>

<file path=ppt/slides/_rels/slide30.xml.rels><?xml version="1.0" encoding="UTF-8" standalone="yes"?>
<Relationships xmlns="http://schemas.openxmlformats.org/package/2006/relationships"><Relationship Id="rId2" Type="http://schemas.openxmlformats.org/officeDocument/2006/relationships/image" Target="../media/image25.png"/><Relationship Id="rId1" Type="http://schemas.openxmlformats.org/officeDocument/2006/relationships/slideLayout" Target="../slideLayouts/slideLayout2.xml"/></Relationships>
</file>

<file path=ppt/slides/_rels/slide31.xml.rels><?xml version="1.0" encoding="UTF-8" standalone="yes"?>
<Relationships xmlns="http://schemas.openxmlformats.org/package/2006/relationships"><Relationship Id="rId2" Type="http://schemas.openxmlformats.org/officeDocument/2006/relationships/image" Target="../media/image26.png"/><Relationship Id="rId1" Type="http://schemas.openxmlformats.org/officeDocument/2006/relationships/slideLayout" Target="../slideLayouts/slideLayout2.xml"/></Relationships>
</file>

<file path=ppt/slides/_rels/slide32.xml.rels><?xml version="1.0" encoding="UTF-8" standalone="yes"?>
<Relationships xmlns="http://schemas.openxmlformats.org/package/2006/relationships"><Relationship Id="rId2" Type="http://schemas.openxmlformats.org/officeDocument/2006/relationships/image" Target="../media/image27.png"/><Relationship Id="rId1" Type="http://schemas.openxmlformats.org/officeDocument/2006/relationships/slideLayout" Target="../slideLayouts/slideLayout2.xml"/></Relationships>
</file>

<file path=ppt/slides/_rels/slide33.xml.rels><?xml version="1.0" encoding="UTF-8" standalone="yes"?>
<Relationships xmlns="http://schemas.openxmlformats.org/package/2006/relationships"><Relationship Id="rId2" Type="http://schemas.openxmlformats.org/officeDocument/2006/relationships/image" Target="../media/image28.png"/><Relationship Id="rId1" Type="http://schemas.openxmlformats.org/officeDocument/2006/relationships/slideLayout" Target="../slideLayouts/slideLayout2.xml"/></Relationships>
</file>

<file path=ppt/slides/_rels/slide3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A7D781AE-9EC6-BCCD-1043-91161DB43217}"/>
              </a:ext>
            </a:extLst>
          </p:cNvPr>
          <p:cNvSpPr txBox="1">
            <a:spLocks noGrp="1"/>
          </p:cNvSpPr>
          <p:nvPr>
            <p:ph idx="1"/>
          </p:nvPr>
        </p:nvSpPr>
        <p:spPr>
          <a:xfrm>
            <a:off x="838200" y="1253331"/>
            <a:ext cx="10515600" cy="175432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indent="0" algn="ctr">
              <a:buNone/>
            </a:pPr>
            <a:r>
              <a:rPr kumimoji="0" lang="en-US" sz="4000" b="1" i="0" u="none" strike="noStrike" kern="1200" cap="all" spc="0" normalizeH="0" baseline="0" noProof="0" dirty="0">
                <a:ln>
                  <a:noFill/>
                </a:ln>
                <a:solidFill>
                  <a:srgbClr val="C00000"/>
                </a:solidFill>
                <a:effectLst/>
                <a:uLnTx/>
                <a:uFillTx/>
                <a:latin typeface="Gill Sans MT"/>
                <a:ea typeface="+mj-ea"/>
                <a:cs typeface="+mj-cs"/>
              </a:rPr>
              <a:t>ARTIFICIAL INTELLIGENCE </a:t>
            </a:r>
            <a:br>
              <a:rPr kumimoji="0" lang="en-US" sz="4000" b="1" i="0" u="none" strike="noStrike" kern="1200" cap="all" spc="0" normalizeH="0" baseline="0" noProof="0" dirty="0">
                <a:ln>
                  <a:noFill/>
                </a:ln>
                <a:solidFill>
                  <a:srgbClr val="C00000"/>
                </a:solidFill>
                <a:effectLst/>
                <a:uLnTx/>
                <a:uFillTx/>
                <a:latin typeface="Gill Sans MT"/>
                <a:ea typeface="+mj-ea"/>
                <a:cs typeface="+mj-cs"/>
              </a:rPr>
            </a:br>
            <a:r>
              <a:rPr kumimoji="0" lang="en-US" sz="4000" b="1" i="0" u="none" strike="noStrike" kern="1200" cap="all" spc="0" normalizeH="0" baseline="0" noProof="0" dirty="0">
                <a:ln>
                  <a:noFill/>
                </a:ln>
                <a:solidFill>
                  <a:srgbClr val="C00000"/>
                </a:solidFill>
                <a:effectLst/>
                <a:uLnTx/>
                <a:uFillTx/>
                <a:latin typeface="Gill Sans MT"/>
                <a:ea typeface="+mj-ea"/>
                <a:cs typeface="+mj-cs"/>
              </a:rPr>
              <a:t>&amp; </a:t>
            </a:r>
            <a:br>
              <a:rPr kumimoji="0" lang="en-US" sz="4000" b="1" i="0" u="none" strike="noStrike" kern="1200" cap="all" spc="0" normalizeH="0" baseline="0" noProof="0" dirty="0">
                <a:ln>
                  <a:noFill/>
                </a:ln>
                <a:solidFill>
                  <a:srgbClr val="C00000"/>
                </a:solidFill>
                <a:effectLst/>
                <a:uLnTx/>
                <a:uFillTx/>
                <a:latin typeface="Gill Sans MT"/>
                <a:ea typeface="+mj-ea"/>
                <a:cs typeface="+mj-cs"/>
              </a:rPr>
            </a:br>
            <a:r>
              <a:rPr kumimoji="0" lang="en-US" sz="4000" b="1" i="0" u="none" strike="noStrike" kern="1200" cap="all" spc="0" normalizeH="0" baseline="0" noProof="0" dirty="0">
                <a:ln>
                  <a:noFill/>
                </a:ln>
                <a:solidFill>
                  <a:srgbClr val="C00000"/>
                </a:solidFill>
                <a:effectLst/>
                <a:uLnTx/>
                <a:uFillTx/>
                <a:latin typeface="Gill Sans MT"/>
                <a:ea typeface="+mj-ea"/>
                <a:cs typeface="+mj-cs"/>
              </a:rPr>
              <a:t>MACHINE LEARNING</a:t>
            </a:r>
            <a:endParaRPr lang="en-IN" sz="4000" dirty="0">
              <a:solidFill>
                <a:srgbClr val="C00000"/>
              </a:solidFill>
            </a:endParaRP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41781DF2-773C-02ED-CE3E-0D1422B88926}"/>
              </a:ext>
            </a:extLst>
          </p:cNvPr>
          <p:cNvSpPr txBox="1"/>
          <p:nvPr/>
        </p:nvSpPr>
        <p:spPr>
          <a:xfrm>
            <a:off x="1267097" y="3566772"/>
            <a:ext cx="9657806" cy="19389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kumimoji="0" lang="en-US" sz="3000" b="1" i="0" u="none" strike="noStrike" kern="1200" cap="all" spc="0" normalizeH="0" baseline="0" noProof="0" dirty="0">
                <a:ln>
                  <a:noFill/>
                </a:ln>
                <a:effectLst/>
                <a:uLnTx/>
                <a:uFillTx/>
                <a:latin typeface="Gill Sans MT"/>
                <a:ea typeface="+mj-ea"/>
                <a:cs typeface="+mj-cs"/>
              </a:rPr>
              <a:t>SESSION NO :</a:t>
            </a:r>
            <a:r>
              <a:rPr lang="en-US" sz="3000" b="1" cap="all" dirty="0">
                <a:latin typeface="Gill Sans MT"/>
                <a:ea typeface="+mj-ea"/>
                <a:cs typeface="+mj-cs"/>
              </a:rPr>
              <a:t>13</a:t>
            </a:r>
          </a:p>
          <a:p>
            <a:pPr algn="ctr"/>
            <a:r>
              <a:rPr lang="en-IN" sz="3000" dirty="0"/>
              <a:t>Linear Algebra</a:t>
            </a:r>
          </a:p>
          <a:p>
            <a:pPr algn="ctr"/>
            <a:r>
              <a:rPr lang="en-IN" sz="3000" dirty="0"/>
              <a:t>Vectors, matrices, matrix operations, </a:t>
            </a:r>
            <a:r>
              <a:rPr lang="en-IN" sz="3000" dirty="0" err="1"/>
              <a:t>eigendecomposition</a:t>
            </a:r>
            <a:r>
              <a:rPr lang="en-IN" sz="3000"/>
              <a:t>, SVD</a:t>
            </a:r>
            <a:endParaRPr lang="en-IN" sz="3000" dirty="0"/>
          </a:p>
        </p:txBody>
      </p:sp>
    </p:spTree>
    <p:extLst>
      <p:ext uri="{BB962C8B-B14F-4D97-AF65-F5344CB8AC3E}">
        <p14:creationId xmlns:p14="http://schemas.microsoft.com/office/powerpoint/2010/main" val="348750003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F6CDFC83-07DA-E96A-B392-54AD99F5C8F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AutoShape 4" descr="Lightbox">
            <a:extLst>
              <a:ext uri="{FF2B5EF4-FFF2-40B4-BE49-F238E27FC236}">
                <a16:creationId xmlns:a16="http://schemas.microsoft.com/office/drawing/2014/main" id="{27B6FBE4-E45A-35D5-A8A9-E6817E5F9285}"/>
              </a:ext>
            </a:extLst>
          </p:cNvPr>
          <p:cNvSpPr>
            <a:spLocks noChangeAspect="1" noChangeArrowheads="1"/>
          </p:cNvSpPr>
          <p:nvPr/>
        </p:nvSpPr>
        <p:spPr bwMode="auto">
          <a:xfrm>
            <a:off x="3453384" y="2039112"/>
            <a:ext cx="4684776" cy="4684776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IN"/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D6FD891A-FA16-D43F-B8EE-64BE0EAD26BF}"/>
              </a:ext>
            </a:extLst>
          </p:cNvPr>
          <p:cNvSpPr txBox="1"/>
          <p:nvPr/>
        </p:nvSpPr>
        <p:spPr>
          <a:xfrm>
            <a:off x="835914" y="769740"/>
            <a:ext cx="10520172" cy="70788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en-IN" sz="4000" b="1" i="0" dirty="0">
                <a:solidFill>
                  <a:srgbClr val="C00000"/>
                </a:solidFill>
                <a:effectLst/>
                <a:latin typeface="+mj-lt"/>
                <a:cs typeface="Arial" panose="020B0604020202020204" pitchFamily="34" charset="0"/>
              </a:rPr>
              <a:t>Definition of a vector</a:t>
            </a:r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F7E1CBA8-32F2-E644-12A6-D7BD0A572D5F}"/>
              </a:ext>
            </a:extLst>
          </p:cNvPr>
          <p:cNvSpPr txBox="1"/>
          <p:nvPr/>
        </p:nvSpPr>
        <p:spPr>
          <a:xfrm>
            <a:off x="740664" y="1702885"/>
            <a:ext cx="10520172" cy="120032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just" rtl="0" fontAlgn="base">
              <a:spcAft>
                <a:spcPts val="750"/>
              </a:spcAft>
            </a:pPr>
            <a:r>
              <a:rPr lang="en-US" sz="2400" b="0" i="0" dirty="0">
                <a:solidFill>
                  <a:srgbClr val="222222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A vector is an object that has both a </a:t>
            </a:r>
            <a:r>
              <a:rPr lang="en-US" sz="2400" b="0" i="0" u="none" strike="noStrike" dirty="0">
                <a:solidFill>
                  <a:srgbClr val="000070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magnitude</a:t>
            </a:r>
            <a:r>
              <a:rPr lang="en-US" sz="2400" b="0" i="0" dirty="0">
                <a:solidFill>
                  <a:srgbClr val="222222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 and a direction. Geometrically, a vector as a directed line segment, whose length is the magnitude of the vector and with an arrow indicating the direction. </a:t>
            </a:r>
            <a:endParaRPr lang="en-US" sz="2400" b="0" i="0" dirty="0">
              <a:effectLst/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pic>
        <p:nvPicPr>
          <p:cNvPr id="3" name="Picture 2">
            <a:extLst>
              <a:ext uri="{FF2B5EF4-FFF2-40B4-BE49-F238E27FC236}">
                <a16:creationId xmlns:a16="http://schemas.microsoft.com/office/drawing/2014/main" id="{4AC7EDD0-2F66-0A05-30D4-02F5A2A4D1AB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60191" y="3319272"/>
            <a:ext cx="3493521" cy="2106048"/>
          </a:xfrm>
          <a:prstGeom prst="rect">
            <a:avLst/>
          </a:prstGeom>
        </p:spPr>
      </p:pic>
      <p:sp>
        <p:nvSpPr>
          <p:cNvPr id="5" name="TextBox 4">
            <a:extLst>
              <a:ext uri="{FF2B5EF4-FFF2-40B4-BE49-F238E27FC236}">
                <a16:creationId xmlns:a16="http://schemas.microsoft.com/office/drawing/2014/main" id="{843B0F5C-5879-EF49-E74A-1FBC6BF75E74}"/>
              </a:ext>
            </a:extLst>
          </p:cNvPr>
          <p:cNvSpPr txBox="1"/>
          <p:nvPr/>
        </p:nvSpPr>
        <p:spPr>
          <a:xfrm>
            <a:off x="5250942" y="3343917"/>
            <a:ext cx="5880867" cy="19389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2400" dirty="0">
                <a:latin typeface="Arial" panose="020B0604020202020204" pitchFamily="34" charset="0"/>
                <a:cs typeface="Arial" panose="020B0604020202020204" pitchFamily="34" charset="0"/>
              </a:rPr>
              <a:t>Example: → If you walk 3 km east, the vector is (3,0).
If you walk 4 km north, the vector is (0,4).
The total distance = √(3²+4²)=5 km (Pythagoras).</a:t>
            </a:r>
            <a:endParaRPr lang="en-IN" sz="2400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4028434359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1E5E3202-42D8-070D-9454-8DEDB84156A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AutoShape 4" descr="Lightbox">
            <a:extLst>
              <a:ext uri="{FF2B5EF4-FFF2-40B4-BE49-F238E27FC236}">
                <a16:creationId xmlns:a16="http://schemas.microsoft.com/office/drawing/2014/main" id="{F382DE63-F05B-EBBF-CA4E-0D509B8580E5}"/>
              </a:ext>
            </a:extLst>
          </p:cNvPr>
          <p:cNvSpPr>
            <a:spLocks noChangeAspect="1" noChangeArrowheads="1"/>
          </p:cNvSpPr>
          <p:nvPr/>
        </p:nvSpPr>
        <p:spPr bwMode="auto">
          <a:xfrm>
            <a:off x="566928" y="1106424"/>
            <a:ext cx="10735056" cy="704088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pPr algn="ctr"/>
            <a:r>
              <a:rPr lang="en-IN" b="1" dirty="0">
                <a:solidFill>
                  <a:srgbClr val="C0000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n-IN" sz="4000" b="1" dirty="0">
                <a:solidFill>
                  <a:srgbClr val="C00000"/>
                </a:solidFill>
                <a:latin typeface="+mj-lt"/>
                <a:cs typeface="Arial" panose="020B0604020202020204" pitchFamily="34" charset="0"/>
              </a:rPr>
              <a:t>Vector operations</a:t>
            </a:r>
          </a:p>
        </p:txBody>
      </p:sp>
      <p:pic>
        <p:nvPicPr>
          <p:cNvPr id="3" name="Picture 2">
            <a:extLst>
              <a:ext uri="{FF2B5EF4-FFF2-40B4-BE49-F238E27FC236}">
                <a16:creationId xmlns:a16="http://schemas.microsoft.com/office/drawing/2014/main" id="{A238F52C-9BDF-7F69-27E9-84EDBF265CB4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918520" y="2395728"/>
            <a:ext cx="6521386" cy="2066543"/>
          </a:xfrm>
          <a:prstGeom prst="rect">
            <a:avLst/>
          </a:prstGeom>
        </p:spPr>
      </p:pic>
      <p:sp>
        <p:nvSpPr>
          <p:cNvPr id="4" name="TextBox 3">
            <a:extLst>
              <a:ext uri="{FF2B5EF4-FFF2-40B4-BE49-F238E27FC236}">
                <a16:creationId xmlns:a16="http://schemas.microsoft.com/office/drawing/2014/main" id="{F248DA16-CB79-2320-376E-ABAC2617D8E2}"/>
              </a:ext>
            </a:extLst>
          </p:cNvPr>
          <p:cNvSpPr txBox="1"/>
          <p:nvPr/>
        </p:nvSpPr>
        <p:spPr>
          <a:xfrm>
            <a:off x="752094" y="2235137"/>
            <a:ext cx="3829050" cy="230832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IN" sz="2400" dirty="0">
                <a:latin typeface="Arial" panose="020B0604020202020204" pitchFamily="34" charset="0"/>
                <a:cs typeface="Arial" panose="020B0604020202020204" pitchFamily="34" charset="0"/>
              </a:rPr>
              <a:t>Example:
Vector A = (2,3), Vector B = (1,4)
A + B = (2+1, 3+4) = (3,7)
A - B = (2-1, 3-4) = (1,-1)</a:t>
            </a:r>
          </a:p>
        </p:txBody>
      </p:sp>
    </p:spTree>
    <p:extLst>
      <p:ext uri="{BB962C8B-B14F-4D97-AF65-F5344CB8AC3E}">
        <p14:creationId xmlns:p14="http://schemas.microsoft.com/office/powerpoint/2010/main" val="636566098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64C0DC8-A170-FB6F-0E22-07B71004CE4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>
                <a:solidFill>
                  <a:srgbClr val="FF0000"/>
                </a:solidFill>
              </a:rPr>
              <a:t>What is Matrix?</a:t>
            </a:r>
            <a:endParaRPr lang="en-IN" dirty="0">
              <a:solidFill>
                <a:srgbClr val="FF0000"/>
              </a:solidFill>
            </a:endParaRP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1B797258-9E9F-DF8F-FF2A-072F04C9A7B0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755904" y="1450721"/>
            <a:ext cx="10515600" cy="4351338"/>
          </a:xfrm>
        </p:spPr>
        <p:txBody>
          <a:bodyPr/>
          <a:lstStyle/>
          <a:p>
            <a:r>
              <a:rPr lang="en-US" dirty="0"/>
              <a:t>In mathematics, a matrix is a </a:t>
            </a:r>
            <a:r>
              <a:rPr lang="en-US" b="1" dirty="0">
                <a:solidFill>
                  <a:schemeClr val="accent1">
                    <a:lumMod val="75000"/>
                  </a:schemeClr>
                </a:solidFill>
              </a:rPr>
              <a:t>rectangular array </a:t>
            </a:r>
            <a:r>
              <a:rPr lang="en-US" dirty="0"/>
              <a:t>of numbers, symbols, or expressions, arranged in rows and columns. </a:t>
            </a:r>
          </a:p>
          <a:p>
            <a:r>
              <a:rPr lang="en-US" dirty="0"/>
              <a:t>These elements are often called entries or elements of the matrix.</a:t>
            </a:r>
          </a:p>
          <a:p>
            <a:r>
              <a:rPr lang="en-US" dirty="0"/>
              <a:t> Matrices are fundamental in various mathematical fields like linear algebra, and they can represent linear transformations, systems of equations, and more.</a:t>
            </a:r>
          </a:p>
          <a:p>
            <a:endParaRPr lang="en-IN" dirty="0"/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8C729CBE-0D5C-F97C-5A9A-C86A3E775DA1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443641" y="4457524"/>
            <a:ext cx="5453471" cy="143121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795765961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C36E630-4931-0F8F-4055-A23DE79B64B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>
                <a:solidFill>
                  <a:srgbClr val="C00000"/>
                </a:solidFill>
              </a:rPr>
              <a:t>Types of Matrix</a:t>
            </a:r>
            <a:endParaRPr lang="en-IN" dirty="0">
              <a:solidFill>
                <a:srgbClr val="C00000"/>
              </a:solidFill>
            </a:endParaRPr>
          </a:p>
        </p:txBody>
      </p:sp>
      <p:pic>
        <p:nvPicPr>
          <p:cNvPr id="7" name="Content Placeholder 6">
            <a:extLst>
              <a:ext uri="{FF2B5EF4-FFF2-40B4-BE49-F238E27FC236}">
                <a16:creationId xmlns:a16="http://schemas.microsoft.com/office/drawing/2014/main" id="{BD42C423-9C9E-AAEC-0F92-180F616A5469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6400800" y="1615314"/>
            <a:ext cx="5344461" cy="4145478"/>
          </a:xfrm>
          <a:prstGeom prst="rect">
            <a:avLst/>
          </a:prstGeom>
        </p:spPr>
      </p:pic>
      <p:pic>
        <p:nvPicPr>
          <p:cNvPr id="5" name="Picture 4">
            <a:extLst>
              <a:ext uri="{FF2B5EF4-FFF2-40B4-BE49-F238E27FC236}">
                <a16:creationId xmlns:a16="http://schemas.microsoft.com/office/drawing/2014/main" id="{563DEC46-50E4-4F57-F8E6-EDAA631366A5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38785" y="1615314"/>
            <a:ext cx="5253435" cy="414547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866728281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CF34D1E-043A-309C-EF45-C6EA7436D55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N" dirty="0">
                <a:solidFill>
                  <a:srgbClr val="C00000"/>
                </a:solidFill>
              </a:rPr>
              <a:t>Matrix Operation: Addition</a:t>
            </a:r>
            <a:endParaRPr lang="en-IN" dirty="0"/>
          </a:p>
        </p:txBody>
      </p:sp>
      <p:pic>
        <p:nvPicPr>
          <p:cNvPr id="7" name="Content Placeholder 6">
            <a:extLst>
              <a:ext uri="{FF2B5EF4-FFF2-40B4-BE49-F238E27FC236}">
                <a16:creationId xmlns:a16="http://schemas.microsoft.com/office/drawing/2014/main" id="{BC72892A-4E06-03A5-3C7D-E8F0A6076449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1612258" y="1350077"/>
            <a:ext cx="8555869" cy="2252659"/>
          </a:xfrm>
          <a:prstGeom prst="rect">
            <a:avLst/>
          </a:prstGeom>
        </p:spPr>
      </p:pic>
      <p:pic>
        <p:nvPicPr>
          <p:cNvPr id="9" name="Picture 8">
            <a:extLst>
              <a:ext uri="{FF2B5EF4-FFF2-40B4-BE49-F238E27FC236}">
                <a16:creationId xmlns:a16="http://schemas.microsoft.com/office/drawing/2014/main" id="{6CCC59CA-4943-C7C4-0553-AFC9E3A7EA34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612258" y="3950049"/>
            <a:ext cx="8438756" cy="197526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670501106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F436E2F-C8CD-F53A-41A0-4A3A44EFE1E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N" dirty="0">
                <a:solidFill>
                  <a:srgbClr val="C00000"/>
                </a:solidFill>
              </a:rPr>
              <a:t>Matrix Operation: Subtraction</a:t>
            </a:r>
            <a:endParaRPr lang="en-IN" dirty="0"/>
          </a:p>
        </p:txBody>
      </p:sp>
      <p:pic>
        <p:nvPicPr>
          <p:cNvPr id="5" name="Content Placeholder 4">
            <a:extLst>
              <a:ext uri="{FF2B5EF4-FFF2-40B4-BE49-F238E27FC236}">
                <a16:creationId xmlns:a16="http://schemas.microsoft.com/office/drawing/2014/main" id="{3957EFC3-D269-267F-4771-367F94F206C4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1071900" y="1408176"/>
            <a:ext cx="9754596" cy="2103120"/>
          </a:xfrm>
          <a:prstGeom prst="rect">
            <a:avLst/>
          </a:prstGeom>
        </p:spPr>
      </p:pic>
      <p:pic>
        <p:nvPicPr>
          <p:cNvPr id="7" name="Picture 6">
            <a:extLst>
              <a:ext uri="{FF2B5EF4-FFF2-40B4-BE49-F238E27FC236}">
                <a16:creationId xmlns:a16="http://schemas.microsoft.com/office/drawing/2014/main" id="{5432E12D-C947-AD7C-F850-725FAA6A6476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013084" y="3989168"/>
            <a:ext cx="8165832" cy="175326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111514136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3764236-09AF-ACCD-6327-12AEEBE0547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N" dirty="0">
                <a:solidFill>
                  <a:srgbClr val="C00000"/>
                </a:solidFill>
              </a:rPr>
              <a:t>Matrix Operation: Multiplication</a:t>
            </a:r>
            <a:endParaRPr lang="en-IN" dirty="0"/>
          </a:p>
        </p:txBody>
      </p:sp>
      <p:pic>
        <p:nvPicPr>
          <p:cNvPr id="7" name="Content Placeholder 6">
            <a:extLst>
              <a:ext uri="{FF2B5EF4-FFF2-40B4-BE49-F238E27FC236}">
                <a16:creationId xmlns:a16="http://schemas.microsoft.com/office/drawing/2014/main" id="{DAB3981C-AEB8-D34B-D942-84CCAF9CBDB8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1331976" y="1508760"/>
            <a:ext cx="9061381" cy="1734873"/>
          </a:xfrm>
          <a:prstGeom prst="rect">
            <a:avLst/>
          </a:prstGeom>
        </p:spPr>
      </p:pic>
      <p:pic>
        <p:nvPicPr>
          <p:cNvPr id="9" name="Picture 8">
            <a:extLst>
              <a:ext uri="{FF2B5EF4-FFF2-40B4-BE49-F238E27FC236}">
                <a16:creationId xmlns:a16="http://schemas.microsoft.com/office/drawing/2014/main" id="{ACCBEF40-968A-CA69-58D5-FE37C046ADBD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104900" y="3949891"/>
            <a:ext cx="10110215" cy="153619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312729782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192BD16-98C4-2F37-868B-A9D82CFD870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>
                <a:solidFill>
                  <a:srgbClr val="C00000"/>
                </a:solidFill>
              </a:rPr>
              <a:t>Transpose of a Matrix</a:t>
            </a:r>
            <a:endParaRPr lang="en-IN" dirty="0">
              <a:solidFill>
                <a:srgbClr val="C00000"/>
              </a:solidFill>
            </a:endParaRPr>
          </a:p>
        </p:txBody>
      </p:sp>
      <p:pic>
        <p:nvPicPr>
          <p:cNvPr id="5" name="Content Placeholder 4">
            <a:extLst>
              <a:ext uri="{FF2B5EF4-FFF2-40B4-BE49-F238E27FC236}">
                <a16:creationId xmlns:a16="http://schemas.microsoft.com/office/drawing/2014/main" id="{10B2F794-B757-AE86-59EF-CBED09179215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2548896" y="1370824"/>
            <a:ext cx="6346183" cy="1965269"/>
          </a:xfrm>
          <a:prstGeom prst="rect">
            <a:avLst/>
          </a:prstGeom>
        </p:spPr>
      </p:pic>
      <p:pic>
        <p:nvPicPr>
          <p:cNvPr id="7" name="Picture 6">
            <a:extLst>
              <a:ext uri="{FF2B5EF4-FFF2-40B4-BE49-F238E27FC236}">
                <a16:creationId xmlns:a16="http://schemas.microsoft.com/office/drawing/2014/main" id="{3D402EEC-E36B-1866-2E91-97AA54AFF35F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307912" y="4122652"/>
            <a:ext cx="4994840" cy="162892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580560225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D795B37B-F9DA-1278-8FC0-18B39A17950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Content Placeholder 4">
            <a:extLst>
              <a:ext uri="{FF2B5EF4-FFF2-40B4-BE49-F238E27FC236}">
                <a16:creationId xmlns:a16="http://schemas.microsoft.com/office/drawing/2014/main" id="{136009E0-44DD-3297-DC9B-FE9B3285745C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2883891"/>
            <a:ext cx="5727192" cy="3293071"/>
          </a:xfrm>
        </p:spPr>
        <p:txBody>
          <a:bodyPr>
            <a:normAutofit/>
          </a:bodyPr>
          <a:lstStyle/>
          <a:p>
            <a:pPr algn="just"/>
            <a:r>
              <a:rPr sz="2400" dirty="0">
                <a:latin typeface="Arial" panose="020B0604020202020204" pitchFamily="34" charset="0"/>
                <a:cs typeface="Arial" panose="020B0604020202020204" pitchFamily="34" charset="0"/>
              </a:rPr>
              <a:t>Transpose means flip rows &amp; columns.
A = [[1,2],[3,4]]
Aᵀ = [[1,3],[2,4]]</a:t>
            </a:r>
            <a:endParaRPr lang="en-IN" sz="2400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975B5B16-DBD3-FBCD-A5D3-AC891CD19723}"/>
              </a:ext>
            </a:extLst>
          </p:cNvPr>
          <p:cNvSpPr txBox="1"/>
          <p:nvPr/>
        </p:nvSpPr>
        <p:spPr>
          <a:xfrm>
            <a:off x="137160" y="1807335"/>
            <a:ext cx="5879592" cy="5232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en-IN" sz="2800" b="1" dirty="0">
                <a:solidFill>
                  <a:srgbClr val="C00000"/>
                </a:solidFill>
              </a:rPr>
              <a:t>Transpose of Matrix</a:t>
            </a: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C8F7A140-CBA9-9C9A-8315-1341E420E6FB}"/>
              </a:ext>
            </a:extLst>
          </p:cNvPr>
          <p:cNvSpPr txBox="1"/>
          <p:nvPr/>
        </p:nvSpPr>
        <p:spPr>
          <a:xfrm>
            <a:off x="6464808" y="2087764"/>
            <a:ext cx="4550664" cy="5232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en-IN" sz="2800" b="1" dirty="0">
                <a:solidFill>
                  <a:srgbClr val="C00000"/>
                </a:solidFill>
              </a:rPr>
              <a:t>Inverse of Matrix</a:t>
            </a: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42C05546-C793-697E-D8D0-71B5C7D618A0}"/>
              </a:ext>
            </a:extLst>
          </p:cNvPr>
          <p:cNvSpPr txBox="1"/>
          <p:nvPr/>
        </p:nvSpPr>
        <p:spPr>
          <a:xfrm>
            <a:off x="6887718" y="2883891"/>
            <a:ext cx="4661154" cy="230832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2400" dirty="0">
                <a:latin typeface="Arial" panose="020B0604020202020204" pitchFamily="34" charset="0"/>
                <a:cs typeface="Arial" panose="020B0604020202020204" pitchFamily="34" charset="0"/>
              </a:rPr>
              <a:t>For A = [[1,2],[3,4]]</a:t>
            </a:r>
          </a:p>
          <a:p>
            <a:r>
              <a:rPr lang="en-US" sz="2400" dirty="0">
                <a:latin typeface="Arial" panose="020B0604020202020204" pitchFamily="34" charset="0"/>
                <a:cs typeface="Arial" panose="020B0604020202020204" pitchFamily="34" charset="0"/>
              </a:rPr>
              <a:t>
Inverse A⁻¹ = (1/(1*4-2*3)) * [[4,-2],[-3,1]]</a:t>
            </a:r>
          </a:p>
          <a:p>
            <a:r>
              <a:rPr lang="en-US" sz="2400" dirty="0">
                <a:latin typeface="Arial" panose="020B0604020202020204" pitchFamily="34" charset="0"/>
                <a:cs typeface="Arial" panose="020B0604020202020204" pitchFamily="34" charset="0"/>
              </a:rPr>
              <a:t>
= [[-2,1],[1.5,-0.5]]</a:t>
            </a:r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2834A52F-76B6-5B0F-CAC4-3A20293EF2B7}"/>
              </a:ext>
            </a:extLst>
          </p:cNvPr>
          <p:cNvSpPr txBox="1"/>
          <p:nvPr/>
        </p:nvSpPr>
        <p:spPr>
          <a:xfrm>
            <a:off x="1194816" y="546113"/>
            <a:ext cx="10177272" cy="70788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en-IN" sz="4000" b="1" dirty="0">
                <a:solidFill>
                  <a:srgbClr val="C00000"/>
                </a:solidFill>
                <a:latin typeface="+mj-lt"/>
                <a:cs typeface="Arial" panose="020B0604020202020204" pitchFamily="34" charset="0"/>
              </a:rPr>
              <a:t>Matrix Operations</a:t>
            </a:r>
            <a:endParaRPr lang="en-IN" sz="4000" b="1" dirty="0">
              <a:latin typeface="+mj-lt"/>
              <a:cs typeface="Arial" panose="020B0604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27282752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B6F09CC-14AA-716E-BBC8-F9D81F1C568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N" dirty="0">
                <a:solidFill>
                  <a:srgbClr val="C00000"/>
                </a:solidFill>
                <a:cs typeface="Arial" panose="020B0604020202020204" pitchFamily="34" charset="0"/>
              </a:rPr>
              <a:t>Properties of Matrix Addition &amp; Matrix Multiplication</a:t>
            </a:r>
            <a:endParaRPr lang="en-IN" dirty="0"/>
          </a:p>
        </p:txBody>
      </p:sp>
      <p:pic>
        <p:nvPicPr>
          <p:cNvPr id="6" name="Content Placeholder 5">
            <a:extLst>
              <a:ext uri="{FF2B5EF4-FFF2-40B4-BE49-F238E27FC236}">
                <a16:creationId xmlns:a16="http://schemas.microsoft.com/office/drawing/2014/main" id="{6AC28D97-B6E2-5D17-1A5B-42864F847853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838200" y="1817210"/>
            <a:ext cx="5688556" cy="4080670"/>
          </a:xfrm>
          <a:prstGeom prst="rect">
            <a:avLst/>
          </a:prstGeom>
        </p:spPr>
      </p:pic>
      <p:pic>
        <p:nvPicPr>
          <p:cNvPr id="8" name="Picture 7">
            <a:extLst>
              <a:ext uri="{FF2B5EF4-FFF2-40B4-BE49-F238E27FC236}">
                <a16:creationId xmlns:a16="http://schemas.microsoft.com/office/drawing/2014/main" id="{31E97055-3ECA-25CA-EC5A-1E3044238EFF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702552" y="2251924"/>
            <a:ext cx="5194387" cy="280470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623606374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AFDE2E8-4314-32C7-9954-4EF2AA91DEE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N" dirty="0">
                <a:solidFill>
                  <a:srgbClr val="C00000"/>
                </a:solidFill>
              </a:rPr>
              <a:t>Eigenvalues and Eigenvectors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29FBDFDE-6EB7-8415-0852-057B515E10BD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96822" y="1690688"/>
            <a:ext cx="10515600" cy="4351338"/>
          </a:xfrm>
        </p:spPr>
        <p:txBody>
          <a:bodyPr/>
          <a:lstStyle/>
          <a:p>
            <a:r>
              <a:rPr lang="en-US" dirty="0"/>
              <a:t>Eigenvalues and eigenvectors are fundamental concepts in linear algebra, used in various applications such as matrix diagonalization, stability analysis and data analysis (e.g., PCA). </a:t>
            </a:r>
          </a:p>
          <a:p>
            <a:r>
              <a:rPr lang="en-US" dirty="0"/>
              <a:t>They are associated with a square matrix and provide insights into its properties.</a:t>
            </a:r>
          </a:p>
          <a:p>
            <a:endParaRPr lang="en-IN" dirty="0"/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C4503B7B-21B4-AD35-0720-F8FA8300CFA8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355848" y="3981388"/>
            <a:ext cx="4817260" cy="159878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091678084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CDD636F-A2AA-11CB-68C5-1B8BD7A3ADB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>
                <a:solidFill>
                  <a:srgbClr val="C00000"/>
                </a:solidFill>
              </a:rPr>
              <a:t>Eigen Decomposition of a Matrix</a:t>
            </a:r>
            <a:endParaRPr lang="en-IN" dirty="0">
              <a:solidFill>
                <a:srgbClr val="C00000"/>
              </a:solidFill>
            </a:endParaRP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79939BC2-6296-8B5D-20D9-2897304D3126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Eigen decomposition is a method used in linear algebra to break down a square matrix into simpler components called eigenvalues and eigenvectors. </a:t>
            </a:r>
          </a:p>
          <a:p>
            <a:r>
              <a:rPr lang="en-US" dirty="0"/>
              <a:t>This process helps us understand how a matrix behaves and how it transforms data.</a:t>
            </a:r>
          </a:p>
          <a:p>
            <a:r>
              <a:rPr lang="en-US" i="1" dirty="0"/>
              <a:t>For Example - Eigen decomposition is particularly useful in fields like Physics, Machine learning, and Computer graphics, as it simplifies complex calculations.</a:t>
            </a:r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555683983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57F8520-DA3D-C3A4-51B9-F025ACF83E7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>
                <a:solidFill>
                  <a:srgbClr val="C00000"/>
                </a:solidFill>
              </a:rPr>
              <a:t>Fundamental Theory of Eigen Decomposition</a:t>
            </a:r>
            <a:endParaRPr lang="en-IN" dirty="0">
              <a:solidFill>
                <a:srgbClr val="C00000"/>
              </a:solidFill>
            </a:endParaRP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6AB8FC17-2A32-D8B2-0A94-E03C5FF6E55F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1690688"/>
            <a:ext cx="10515600" cy="4351338"/>
          </a:xfrm>
        </p:spPr>
        <p:txBody>
          <a:bodyPr/>
          <a:lstStyle/>
          <a:p>
            <a:r>
              <a:rPr lang="en-IN" dirty="0"/>
              <a:t>Eigen decomposition separates a matrix into its eigenvalues and eigenvectors. </a:t>
            </a:r>
          </a:p>
          <a:p>
            <a:r>
              <a:rPr lang="en-IN" dirty="0"/>
              <a:t>Mathematically, for a square matrix A, if there exists a scalar </a:t>
            </a:r>
            <a:r>
              <a:rPr lang="el-GR" dirty="0"/>
              <a:t>λ (</a:t>
            </a:r>
            <a:r>
              <a:rPr lang="en-IN" dirty="0"/>
              <a:t>eigenvalue) and a non-zero vector v (eigenvector) such that:</a:t>
            </a:r>
          </a:p>
          <a:p>
            <a:r>
              <a:rPr lang="en-IN" b="1" i="1" dirty="0">
                <a:solidFill>
                  <a:srgbClr val="C00000"/>
                </a:solidFill>
              </a:rPr>
              <a:t>                 Av = </a:t>
            </a:r>
            <a:r>
              <a:rPr lang="el-GR" b="1" i="1" dirty="0">
                <a:solidFill>
                  <a:srgbClr val="C00000"/>
                </a:solidFill>
              </a:rPr>
              <a:t>λ</a:t>
            </a:r>
            <a:r>
              <a:rPr lang="en-IN" b="1" i="1" dirty="0">
                <a:solidFill>
                  <a:srgbClr val="C00000"/>
                </a:solidFill>
              </a:rPr>
              <a:t>v</a:t>
            </a:r>
          </a:p>
          <a:p>
            <a:pPr fontAlgn="base"/>
            <a:r>
              <a:rPr lang="en-US" sz="2400" dirty="0"/>
              <a:t>Where:</a:t>
            </a:r>
          </a:p>
          <a:p>
            <a:pPr lvl="1" fontAlgn="base"/>
            <a:r>
              <a:rPr lang="en-US" dirty="0"/>
              <a:t>A is the matrix.</a:t>
            </a:r>
          </a:p>
          <a:p>
            <a:pPr lvl="1" fontAlgn="base"/>
            <a:r>
              <a:rPr lang="en-US" dirty="0"/>
              <a:t>λ is the eigenvalue.</a:t>
            </a:r>
          </a:p>
          <a:p>
            <a:pPr lvl="1" fontAlgn="base"/>
            <a:r>
              <a:rPr lang="en-US" dirty="0"/>
              <a:t>v is the eigenvector.</a:t>
            </a:r>
          </a:p>
          <a:p>
            <a:endParaRPr lang="en-IN" sz="2400" b="1" i="1" dirty="0">
              <a:solidFill>
                <a:srgbClr val="C00000"/>
              </a:solidFill>
            </a:endParaRPr>
          </a:p>
          <a:p>
            <a:endParaRPr lang="en-IN" b="1" dirty="0">
              <a:solidFill>
                <a:srgbClr val="C00000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2958540526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24EFC0D-E603-E918-0D2E-FB88062D9FA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>
                <a:solidFill>
                  <a:srgbClr val="C00000"/>
                </a:solidFill>
              </a:rPr>
              <a:t>Fundamental Theory of Eigen Decomposition…</a:t>
            </a:r>
            <a:endParaRPr lang="en-IN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41E69776-3A68-422D-87BD-DC09D8247A33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Then, the matrix A can then be represented as:</a:t>
            </a:r>
          </a:p>
          <a:p>
            <a:pPr algn="ctr"/>
            <a:r>
              <a:rPr lang="en-IN" b="1" i="1" dirty="0">
                <a:solidFill>
                  <a:srgbClr val="C00000"/>
                </a:solidFill>
              </a:rPr>
              <a:t>A=V</a:t>
            </a:r>
            <a:r>
              <a:rPr lang="el-GR" b="1" i="1" dirty="0">
                <a:solidFill>
                  <a:srgbClr val="C00000"/>
                </a:solidFill>
              </a:rPr>
              <a:t>Λ</a:t>
            </a:r>
            <a:r>
              <a:rPr lang="en-IN" b="1" i="1" dirty="0">
                <a:solidFill>
                  <a:srgbClr val="C00000"/>
                </a:solidFill>
              </a:rPr>
              <a:t>V</a:t>
            </a:r>
            <a:r>
              <a:rPr lang="en-IN" b="1" i="1" baseline="30000" dirty="0">
                <a:solidFill>
                  <a:srgbClr val="C00000"/>
                </a:solidFill>
              </a:rPr>
              <a:t>-1</a:t>
            </a:r>
          </a:p>
          <a:p>
            <a:pPr fontAlgn="base"/>
            <a:r>
              <a:rPr lang="en-US" dirty="0"/>
              <a:t>Where:</a:t>
            </a:r>
          </a:p>
          <a:p>
            <a:pPr lvl="1" fontAlgn="base"/>
            <a:r>
              <a:rPr lang="en-US" sz="2800" dirty="0"/>
              <a:t>V is the matrix of eigenvectors.</a:t>
            </a:r>
          </a:p>
          <a:p>
            <a:pPr lvl="1" fontAlgn="base"/>
            <a:r>
              <a:rPr lang="en-US" sz="2800" dirty="0"/>
              <a:t>Λ is the diagonal matrix of eigenvalues.</a:t>
            </a:r>
          </a:p>
          <a:p>
            <a:pPr lvl="1" fontAlgn="base"/>
            <a:r>
              <a:rPr lang="en-US" sz="2800" dirty="0"/>
              <a:t>V</a:t>
            </a:r>
            <a:r>
              <a:rPr lang="en-US" sz="2800" baseline="30000" dirty="0"/>
              <a:t>-1</a:t>
            </a:r>
            <a:r>
              <a:rPr lang="en-US" sz="2800" dirty="0"/>
              <a:t> is the inverse of the matrix.</a:t>
            </a:r>
          </a:p>
          <a:p>
            <a:pPr fontAlgn="base"/>
            <a:r>
              <a:rPr lang="en-US" dirty="0"/>
              <a:t>This decomposition is significant because it transforms matrix operations into simpler, scalar operations involving eigenvalues, making computations easier.</a:t>
            </a:r>
          </a:p>
          <a:p>
            <a:endParaRPr lang="en-IN" b="1" dirty="0">
              <a:solidFill>
                <a:srgbClr val="C00000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984585072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8BACE16-5CFF-9520-EDB7-A00A0201982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>
                <a:solidFill>
                  <a:srgbClr val="C00000"/>
                </a:solidFill>
              </a:rPr>
              <a:t>How to Perform Eigen decomposition?</a:t>
            </a:r>
            <a:endParaRPr lang="en-IN" dirty="0">
              <a:solidFill>
                <a:srgbClr val="C00000"/>
              </a:solidFill>
            </a:endParaRP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EBA914D9-F4EB-8EE7-BDAF-5EE6ACD88C3B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r>
              <a:rPr lang="en-US" b="1" dirty="0"/>
              <a:t>Step 1: Find the </a:t>
            </a:r>
            <a:r>
              <a:rPr lang="en-US" b="1" u="sng" dirty="0"/>
              <a:t>Eigenvalues</a:t>
            </a:r>
            <a:r>
              <a:rPr lang="en-US" b="1" dirty="0"/>
              <a:t>:</a:t>
            </a:r>
            <a:endParaRPr lang="en-US" dirty="0"/>
          </a:p>
          <a:p>
            <a:pPr lvl="1"/>
            <a:r>
              <a:rPr lang="en-US" dirty="0"/>
              <a:t>Solve the characteristic equation:</a:t>
            </a:r>
          </a:p>
          <a:p>
            <a:pPr lvl="1"/>
            <a:r>
              <a:rPr lang="en-US" dirty="0"/>
              <a:t>det (A−</a:t>
            </a:r>
            <a:r>
              <a:rPr lang="en-US" dirty="0" err="1"/>
              <a:t>λI</a:t>
            </a:r>
            <a:r>
              <a:rPr lang="en-US" dirty="0"/>
              <a:t>=0</a:t>
            </a:r>
            <a:endParaRPr lang="en-IN" dirty="0"/>
          </a:p>
          <a:p>
            <a:pPr lvl="1"/>
            <a:r>
              <a:rPr lang="en-US" dirty="0"/>
              <a:t>Here, A is the square matrix, λ is the eigenvalue, and I is the identity matrix of the same dimension as A.</a:t>
            </a:r>
          </a:p>
          <a:p>
            <a:r>
              <a:rPr lang="en-US" b="1" dirty="0"/>
              <a:t>Step 2: Find the Eigenvectors:</a:t>
            </a:r>
          </a:p>
          <a:p>
            <a:r>
              <a:rPr lang="en-US" sz="2400" dirty="0"/>
              <a:t>For each eigenvalue λ, substitute it back into the equation:</a:t>
            </a:r>
          </a:p>
          <a:p>
            <a:r>
              <a:rPr lang="en-US" sz="2400" dirty="0"/>
              <a:t>(A−</a:t>
            </a:r>
            <a:r>
              <a:rPr lang="en-US" sz="2400" dirty="0" err="1"/>
              <a:t>λI</a:t>
            </a:r>
            <a:r>
              <a:rPr lang="en-US" sz="2400" dirty="0"/>
              <a:t>)v=0</a:t>
            </a:r>
          </a:p>
          <a:p>
            <a:r>
              <a:rPr lang="en-US" sz="2400" dirty="0"/>
              <a:t>This represents a system of linear equations where v is the eigenvector corresponding to the eigenvalue λ.</a:t>
            </a:r>
          </a:p>
        </p:txBody>
      </p:sp>
    </p:spTree>
    <p:extLst>
      <p:ext uri="{BB962C8B-B14F-4D97-AF65-F5344CB8AC3E}">
        <p14:creationId xmlns:p14="http://schemas.microsoft.com/office/powerpoint/2010/main" val="3800640083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A09092E-964D-5CCE-9122-2BB80722718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>
                <a:solidFill>
                  <a:srgbClr val="C00000"/>
                </a:solidFill>
              </a:rPr>
              <a:t>How to Perform Eigen decomposition?...</a:t>
            </a:r>
            <a:endParaRPr lang="en-IN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0EA611D7-741F-6B39-5992-5D6B996EF631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r>
              <a:rPr lang="en-US" b="1" dirty="0"/>
              <a:t>Step 3: Construct the Eigenvector Matrix V:</a:t>
            </a:r>
          </a:p>
          <a:p>
            <a:r>
              <a:rPr lang="en-US" dirty="0"/>
              <a:t>Place all the eigenvectors as columns in the matrix V. If there are n distinct eigenvalues, V will be an </a:t>
            </a:r>
            <a:r>
              <a:rPr lang="en-US" dirty="0" err="1"/>
              <a:t>n×n</a:t>
            </a:r>
            <a:r>
              <a:rPr lang="en-US" dirty="0"/>
              <a:t> matrix..</a:t>
            </a:r>
          </a:p>
          <a:p>
            <a:r>
              <a:rPr lang="en-US" b="1" dirty="0"/>
              <a:t>Step 4 Form the Diagonal Matrix Λ:</a:t>
            </a:r>
          </a:p>
          <a:p>
            <a:r>
              <a:rPr lang="en-US" dirty="0"/>
              <a:t>Construct a diagonal matrix Λ by placing the eigenvalues on its diagonal:</a:t>
            </a:r>
          </a:p>
          <a:p>
            <a:r>
              <a:rPr lang="en-US" b="1" dirty="0"/>
              <a:t>Step 5: Calculate the Inverse of V:</a:t>
            </a:r>
          </a:p>
          <a:p>
            <a:r>
              <a:rPr lang="en-US" dirty="0"/>
              <a:t>Find V-1, the inverse of the eigenvector matrix V, if the matrix is invertible.</a:t>
            </a:r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1833753625"/>
      </p:ext>
    </p:extLst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0B63699-F6B8-5F15-2855-92B8EC4F3FF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N" dirty="0">
                <a:solidFill>
                  <a:srgbClr val="C00000"/>
                </a:solidFill>
              </a:rPr>
              <a:t>Example of Eigen Decomposition</a:t>
            </a:r>
          </a:p>
        </p:txBody>
      </p:sp>
      <p:pic>
        <p:nvPicPr>
          <p:cNvPr id="5" name="Content Placeholder 4">
            <a:extLst>
              <a:ext uri="{FF2B5EF4-FFF2-40B4-BE49-F238E27FC236}">
                <a16:creationId xmlns:a16="http://schemas.microsoft.com/office/drawing/2014/main" id="{F178FCE8-1284-91DD-DA3F-198F920CD056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1352394" y="1690687"/>
            <a:ext cx="1802286" cy="906293"/>
          </a:xfrm>
          <a:prstGeom prst="rect">
            <a:avLst/>
          </a:prstGeom>
        </p:spPr>
      </p:pic>
      <p:sp>
        <p:nvSpPr>
          <p:cNvPr id="7" name="TextBox 6">
            <a:extLst>
              <a:ext uri="{FF2B5EF4-FFF2-40B4-BE49-F238E27FC236}">
                <a16:creationId xmlns:a16="http://schemas.microsoft.com/office/drawing/2014/main" id="{9AF7603D-AB32-9B89-D719-3B43B71F19CE}"/>
              </a:ext>
            </a:extLst>
          </p:cNvPr>
          <p:cNvSpPr txBox="1"/>
          <p:nvPr/>
        </p:nvSpPr>
        <p:spPr>
          <a:xfrm>
            <a:off x="1026414" y="2732270"/>
            <a:ext cx="7477506" cy="46166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2400" b="0" i="0" dirty="0">
                <a:solidFill>
                  <a:srgbClr val="273239"/>
                </a:solidFill>
                <a:effectLst/>
                <a:latin typeface="Nunito" pitchFamily="2" charset="0"/>
              </a:rPr>
              <a:t>Find the eigenvalues by solving det(A - </a:t>
            </a:r>
            <a:r>
              <a:rPr lang="en-US" sz="2400" b="0" i="0" dirty="0" err="1">
                <a:solidFill>
                  <a:srgbClr val="273239"/>
                </a:solidFill>
                <a:effectLst/>
                <a:latin typeface="Nunito" pitchFamily="2" charset="0"/>
              </a:rPr>
              <a:t>λI</a:t>
            </a:r>
            <a:r>
              <a:rPr lang="en-US" sz="2400" b="0" i="0" dirty="0">
                <a:solidFill>
                  <a:srgbClr val="273239"/>
                </a:solidFill>
                <a:effectLst/>
                <a:latin typeface="Nunito" pitchFamily="2" charset="0"/>
              </a:rPr>
              <a:t>) = 0</a:t>
            </a:r>
            <a:endParaRPr lang="en-IN" sz="2400" dirty="0"/>
          </a:p>
        </p:txBody>
      </p:sp>
    </p:spTree>
    <p:extLst>
      <p:ext uri="{BB962C8B-B14F-4D97-AF65-F5344CB8AC3E}">
        <p14:creationId xmlns:p14="http://schemas.microsoft.com/office/powerpoint/2010/main" val="2519140966"/>
      </p:ext>
    </p:extLst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35F330CA-ED01-ABCA-76CF-37712A9221B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361A53D-963C-FAFE-E216-BD0B9D16A96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088771"/>
          </a:xfrm>
        </p:spPr>
        <p:txBody>
          <a:bodyPr/>
          <a:lstStyle/>
          <a:p>
            <a:pPr fontAlgn="base"/>
            <a:r>
              <a:rPr lang="en-IN" b="1" i="0" dirty="0">
                <a:solidFill>
                  <a:srgbClr val="FF0000"/>
                </a:solidFill>
                <a:effectLst/>
                <a:latin typeface="Nunito" pitchFamily="2" charset="0"/>
              </a:rPr>
              <a:t>Eigen decomposition (</a:t>
            </a:r>
            <a:r>
              <a:rPr lang="en-IN" b="1" i="0" dirty="0" err="1">
                <a:solidFill>
                  <a:srgbClr val="FF0000"/>
                </a:solidFill>
                <a:effectLst/>
                <a:latin typeface="Nunito" pitchFamily="2" charset="0"/>
              </a:rPr>
              <a:t>Cont</a:t>
            </a:r>
            <a:r>
              <a:rPr lang="en-IN" b="1" i="0" dirty="0">
                <a:solidFill>
                  <a:srgbClr val="FF0000"/>
                </a:solidFill>
                <a:effectLst/>
                <a:latin typeface="Nunito" pitchFamily="2" charset="0"/>
              </a:rPr>
              <a:t>…I)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4" name="Rectangle 3">
                <a:extLst>
                  <a:ext uri="{FF2B5EF4-FFF2-40B4-BE49-F238E27FC236}">
                    <a16:creationId xmlns:a16="http://schemas.microsoft.com/office/drawing/2014/main" id="{640592D1-E09A-0CBD-3614-AF39C3E876A1}"/>
                  </a:ext>
                </a:extLst>
              </p:cNvPr>
              <p:cNvSpPr>
                <a:spLocks noGrp="1" noChangeArrowheads="1"/>
              </p:cNvSpPr>
              <p:nvPr>
                <p:ph idx="1"/>
              </p:nvPr>
            </p:nvSpPr>
            <p:spPr>
              <a:xfrm>
                <a:off x="838200" y="1453896"/>
                <a:ext cx="10515600" cy="4535425"/>
              </a:xfrm>
            </p:spPr>
            <p:txBody>
              <a:bodyPr>
                <a:noAutofit/>
              </a:bodyPr>
              <a:lstStyle/>
              <a:p>
                <a:pPr marL="0" indent="0">
                  <a:buNone/>
                </a:pPr>
                <a:r>
                  <a:rPr lang="en-US" sz="2400" b="1" dirty="0">
                    <a:latin typeface="Arial" panose="020B0604020202020204" pitchFamily="34" charset="0"/>
                    <a:cs typeface="Arial" panose="020B0604020202020204" pitchFamily="34" charset="0"/>
                  </a:rPr>
                  <a:t>Example:</a:t>
                </a:r>
                <a:r>
                  <a:rPr lang="en-US" sz="2400" dirty="0"/>
                  <a:t> 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US" sz="2400" b="0" i="0" smtClean="0">
                        <a:latin typeface="Cambria Math" panose="02040503050406030204" pitchFamily="18" charset="0"/>
                      </a:rPr>
                      <m:t>Let</m:t>
                    </m:r>
                    <m:r>
                      <a:rPr lang="en-US" sz="2400" b="0" i="0" smtClean="0">
                        <a:latin typeface="Cambria Math" panose="02040503050406030204" pitchFamily="18" charset="0"/>
                      </a:rPr>
                      <m:t> </m:t>
                    </m:r>
                    <m:r>
                      <m:rPr>
                        <m:sty m:val="p"/>
                      </m:rPr>
                      <a:rPr lang="en-US" sz="2400" b="0" i="0" smtClean="0">
                        <a:latin typeface="Cambria Math" panose="02040503050406030204" pitchFamily="18" charset="0"/>
                      </a:rPr>
                      <m:t>Matrix</m:t>
                    </m:r>
                    <m:r>
                      <a:rPr lang="en-US" sz="2400" b="0" i="0" smtClean="0">
                        <a:latin typeface="Cambria Math" panose="02040503050406030204" pitchFamily="18" charset="0"/>
                      </a:rPr>
                      <m:t>  </m:t>
                    </m:r>
                    <m:r>
                      <m:rPr>
                        <m:sty m:val="p"/>
                      </m:rPr>
                      <a:rPr lang="en-US" sz="2400" b="0" i="0" smtClean="0">
                        <a:latin typeface="Cambria Math" panose="02040503050406030204" pitchFamily="18" charset="0"/>
                      </a:rPr>
                      <m:t>A</m:t>
                    </m:r>
                    <m:r>
                      <a:rPr lang="en-US" sz="2400" b="0" i="0" smtClean="0">
                        <a:latin typeface="Cambria Math" panose="02040503050406030204" pitchFamily="18" charset="0"/>
                      </a:rPr>
                      <m:t>= </m:t>
                    </m:r>
                    <m:d>
                      <m:dPr>
                        <m:begChr m:val="["/>
                        <m:endChr m:val="]"/>
                        <m:ctrlPr>
                          <a:rPr lang="en-US" sz="2400" i="1" smtClean="0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m>
                          <m:mPr>
                            <m:mcs>
                              <m:mc>
                                <m:mcPr>
                                  <m:count m:val="2"/>
                                  <m:mcJc m:val="center"/>
                                </m:mcPr>
                              </m:mc>
                            </m:mcs>
                            <m:ctrlPr>
                              <a:rPr lang="en-US" sz="2400" i="1" smtClean="0">
                                <a:latin typeface="Cambria Math" panose="02040503050406030204" pitchFamily="18" charset="0"/>
                              </a:rPr>
                            </m:ctrlPr>
                          </m:mPr>
                          <m:mr>
                            <m:e>
                              <m:r>
                                <m:rPr>
                                  <m:brk m:alnAt="7"/>
                                </m:rPr>
                                <a:rPr lang="en-US" sz="2400" b="0" i="1" smtClean="0">
                                  <a:latin typeface="Cambria Math" panose="02040503050406030204" pitchFamily="18" charset="0"/>
                                </a:rPr>
                                <m:t>4</m:t>
                              </m:r>
                            </m:e>
                            <m:e>
                              <m:r>
                                <a:rPr lang="en-US" sz="2400" b="0" i="1" smtClean="0">
                                  <a:latin typeface="Cambria Math" panose="02040503050406030204" pitchFamily="18" charset="0"/>
                                </a:rPr>
                                <m:t>1</m:t>
                              </m:r>
                            </m:e>
                          </m:mr>
                          <m:mr>
                            <m:e>
                              <m:r>
                                <a:rPr lang="en-US" sz="2400" b="0" i="1" smtClean="0">
                                  <a:latin typeface="Cambria Math" panose="02040503050406030204" pitchFamily="18" charset="0"/>
                                </a:rPr>
                                <m:t>2</m:t>
                              </m:r>
                            </m:e>
                            <m:e>
                              <m:r>
                                <a:rPr lang="en-US" sz="2400" b="0" i="1" smtClean="0">
                                  <a:latin typeface="Cambria Math" panose="02040503050406030204" pitchFamily="18" charset="0"/>
                                </a:rPr>
                                <m:t>3</m:t>
                              </m:r>
                            </m:e>
                          </m:mr>
                        </m:m>
                      </m:e>
                    </m:d>
                    <m:r>
                      <a:rPr lang="en-US" sz="2400" b="0" i="0" smtClean="0">
                        <a:latin typeface="Cambria Math" panose="02040503050406030204" pitchFamily="18" charset="0"/>
                      </a:rPr>
                      <m:t>.  </m:t>
                    </m:r>
                  </m:oMath>
                </a14:m>
                <a:r>
                  <a:rPr lang="en-US" sz="2400" dirty="0"/>
                  <a:t> Find eigenvalues and eigenvectors of A using Eigen decomposition.</a:t>
                </a:r>
              </a:p>
              <a:p>
                <a:pPr marL="0" indent="0">
                  <a:buNone/>
                </a:pPr>
                <a:r>
                  <a:rPr lang="en-US" sz="2400" b="1" dirty="0">
                    <a:latin typeface="Arial" panose="020B0604020202020204" pitchFamily="34" charset="0"/>
                    <a:cs typeface="Arial" panose="020B0604020202020204" pitchFamily="34" charset="0"/>
                  </a:rPr>
                  <a:t>Step 1: Find the Eigenvalues:</a:t>
                </a:r>
                <a:endParaRPr lang="en-US" sz="2400" dirty="0">
                  <a:latin typeface="Arial" panose="020B0604020202020204" pitchFamily="34" charset="0"/>
                  <a:cs typeface="Arial" panose="020B0604020202020204" pitchFamily="34" charset="0"/>
                </a:endParaRPr>
              </a:p>
              <a:p>
                <a:pPr marL="0" indent="0">
                  <a:buNone/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d>
                        <m:dPr>
                          <m:ctrlPr>
                            <a:rPr lang="en-US" sz="2400" b="0" i="1" smtClean="0">
                              <a:latin typeface="Cambria Math" panose="02040503050406030204" pitchFamily="18" charset="0"/>
                              <a:cs typeface="Arial" panose="020B0604020202020204" pitchFamily="34" charset="0"/>
                            </a:rPr>
                          </m:ctrlPr>
                        </m:dPr>
                        <m:e>
                          <m:r>
                            <a:rPr lang="en-US" sz="2400" b="0" i="1" smtClean="0">
                              <a:latin typeface="Cambria Math" panose="02040503050406030204" pitchFamily="18" charset="0"/>
                              <a:cs typeface="Arial" panose="020B0604020202020204" pitchFamily="34" charset="0"/>
                            </a:rPr>
                            <m:t>𝐴</m:t>
                          </m:r>
                          <m:r>
                            <a:rPr lang="en-US" sz="2400" b="0" i="1" smtClean="0">
                              <a:latin typeface="Cambria Math" panose="02040503050406030204" pitchFamily="18" charset="0"/>
                              <a:cs typeface="Arial" panose="020B0604020202020204" pitchFamily="34" charset="0"/>
                            </a:rPr>
                            <m:t>−⋋</m:t>
                          </m:r>
                          <m:r>
                            <a:rPr lang="en-US" sz="2400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𝐼</m:t>
                          </m:r>
                        </m:e>
                      </m:d>
                      <m:r>
                        <a:rPr lang="en-US" sz="2400" b="0" i="1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=0</m:t>
                      </m:r>
                    </m:oMath>
                  </m:oMathPara>
                </a14:m>
                <a:endParaRPr lang="en-US" sz="2400" b="0" i="0" dirty="0">
                  <a:latin typeface="Cambria Math" panose="02040503050406030204" pitchFamily="18" charset="0"/>
                  <a:ea typeface="Cambria Math" panose="02040503050406030204" pitchFamily="18" charset="0"/>
                </a:endParaRPr>
              </a:p>
              <a:p>
                <a:pPr marL="0" indent="0">
                  <a:buNone/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sz="2400" b="0" i="0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 </m:t>
                      </m:r>
                      <m:d>
                        <m:dPr>
                          <m:begChr m:val="|"/>
                          <m:endChr m:val="|"/>
                          <m:ctrlPr>
                            <a:rPr lang="en-US" sz="2400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</m:ctrlPr>
                        </m:dPr>
                        <m:e>
                          <m:m>
                            <m:mPr>
                              <m:mcs>
                                <m:mc>
                                  <m:mcPr>
                                    <m:count m:val="2"/>
                                    <m:mcJc m:val="center"/>
                                  </m:mcPr>
                                </m:mc>
                              </m:mcs>
                              <m:ctrlPr>
                                <a:rPr lang="en-US" sz="2400" b="0" i="1" smtClean="0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</m:ctrlPr>
                            </m:mPr>
                            <m:mr>
                              <m:e>
                                <m:r>
                                  <m:rPr>
                                    <m:brk m:alnAt="7"/>
                                  </m:rPr>
                                  <a:rPr lang="en-US" sz="2400" b="0" i="1" smtClean="0">
                                    <a:latin typeface="Cambria Math" panose="02040503050406030204" pitchFamily="18" charset="0"/>
                                    <a:ea typeface="Cambria Math" panose="02040503050406030204" pitchFamily="18" charset="0"/>
                                  </a:rPr>
                                  <m:t>4</m:t>
                                </m:r>
                                <m:r>
                                  <a:rPr lang="en-US" sz="2400" b="0" i="1" smtClean="0">
                                    <a:latin typeface="Cambria Math" panose="02040503050406030204" pitchFamily="18" charset="0"/>
                                    <a:ea typeface="Cambria Math" panose="02040503050406030204" pitchFamily="18" charset="0"/>
                                  </a:rPr>
                                  <m:t>−</m:t>
                                </m:r>
                                <m:r>
                                  <a:rPr lang="en-US" sz="2400" i="1">
                                    <a:latin typeface="Cambria Math" panose="02040503050406030204" pitchFamily="18" charset="0"/>
                                    <a:ea typeface="Cambria Math" panose="02040503050406030204" pitchFamily="18" charset="0"/>
                                  </a:rPr>
                                  <m:t>⋋</m:t>
                                </m:r>
                              </m:e>
                              <m:e>
                                <m:r>
                                  <a:rPr lang="en-US" sz="2400" b="0" i="1" smtClean="0">
                                    <a:latin typeface="Cambria Math" panose="02040503050406030204" pitchFamily="18" charset="0"/>
                                    <a:ea typeface="Cambria Math" panose="02040503050406030204" pitchFamily="18" charset="0"/>
                                  </a:rPr>
                                  <m:t>1−</m:t>
                                </m:r>
                                <m:r>
                                  <a:rPr lang="en-US" sz="2400" i="1">
                                    <a:latin typeface="Cambria Math" panose="02040503050406030204" pitchFamily="18" charset="0"/>
                                    <a:ea typeface="Cambria Math" panose="02040503050406030204" pitchFamily="18" charset="0"/>
                                  </a:rPr>
                                  <m:t>⋋</m:t>
                                </m:r>
                              </m:e>
                            </m:mr>
                            <m:mr>
                              <m:e>
                                <m:r>
                                  <a:rPr lang="en-US" sz="2400" b="0" i="1" smtClean="0">
                                    <a:latin typeface="Cambria Math" panose="02040503050406030204" pitchFamily="18" charset="0"/>
                                    <a:ea typeface="Cambria Math" panose="02040503050406030204" pitchFamily="18" charset="0"/>
                                  </a:rPr>
                                  <m:t>2−</m:t>
                                </m:r>
                                <m:r>
                                  <a:rPr lang="en-US" sz="2400" i="1">
                                    <a:latin typeface="Cambria Math" panose="02040503050406030204" pitchFamily="18" charset="0"/>
                                    <a:ea typeface="Cambria Math" panose="02040503050406030204" pitchFamily="18" charset="0"/>
                                  </a:rPr>
                                  <m:t>⋋</m:t>
                                </m:r>
                              </m:e>
                              <m:e>
                                <m:r>
                                  <a:rPr lang="en-US" sz="2400" b="0" i="1" smtClean="0">
                                    <a:latin typeface="Cambria Math" panose="02040503050406030204" pitchFamily="18" charset="0"/>
                                    <a:ea typeface="Cambria Math" panose="02040503050406030204" pitchFamily="18" charset="0"/>
                                  </a:rPr>
                                  <m:t>3−</m:t>
                                </m:r>
                                <m:r>
                                  <a:rPr lang="en-US" sz="2400" i="1">
                                    <a:latin typeface="Cambria Math" panose="02040503050406030204" pitchFamily="18" charset="0"/>
                                    <a:ea typeface="Cambria Math" panose="02040503050406030204" pitchFamily="18" charset="0"/>
                                  </a:rPr>
                                  <m:t>⋋</m:t>
                                </m:r>
                              </m:e>
                            </m:mr>
                          </m:m>
                        </m:e>
                      </m:d>
                      <m:r>
                        <a:rPr lang="en-US" sz="2400" b="0" i="1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=0;</m:t>
                      </m:r>
                    </m:oMath>
                  </m:oMathPara>
                </a14:m>
                <a:endParaRPr lang="en-US" sz="2400" b="0" i="1" dirty="0">
                  <a:latin typeface="Cambria Math" panose="02040503050406030204" pitchFamily="18" charset="0"/>
                  <a:ea typeface="Cambria Math" panose="02040503050406030204" pitchFamily="18" charset="0"/>
                </a:endParaRPr>
              </a:p>
              <a:p>
                <a:pPr marL="0" indent="0">
                  <a:buNone/>
                </a:pPr>
                <a:endParaRPr lang="en-US" sz="2400" b="0" i="1" dirty="0">
                  <a:latin typeface="Cambria Math" panose="02040503050406030204" pitchFamily="18" charset="0"/>
                  <a:ea typeface="Cambria Math" panose="02040503050406030204" pitchFamily="18" charset="0"/>
                </a:endParaRPr>
              </a:p>
              <a:p>
                <a:pPr marL="0" indent="0">
                  <a:buNone/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d>
                        <m:dPr>
                          <m:ctrlPr>
                            <a:rPr lang="en-US" sz="2400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en-US" sz="2400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4−</m:t>
                          </m:r>
                          <m:r>
                            <a:rPr lang="en-US" sz="2400" i="1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⋋</m:t>
                          </m:r>
                        </m:e>
                      </m:d>
                      <m:r>
                        <a:rPr lang="en-US" sz="2400" b="0" i="1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∗</m:t>
                      </m:r>
                      <m:d>
                        <m:dPr>
                          <m:ctrlPr>
                            <a:rPr lang="en-US" sz="2400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en-US" sz="2400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3−</m:t>
                          </m:r>
                          <m:r>
                            <a:rPr lang="en-US" sz="2400" i="1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⋋</m:t>
                          </m:r>
                        </m:e>
                      </m:d>
                      <m:r>
                        <a:rPr lang="en-US" sz="2400" b="0" i="1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−2=0;</m:t>
                      </m:r>
                    </m:oMath>
                  </m:oMathPara>
                </a14:m>
                <a:endParaRPr lang="en-US" sz="2400" b="0" dirty="0">
                  <a:latin typeface="Arial" panose="020B0604020202020204" pitchFamily="34" charset="0"/>
                  <a:ea typeface="Cambria Math" panose="02040503050406030204" pitchFamily="18" charset="0"/>
                </a:endParaRPr>
              </a:p>
              <a:p>
                <a:pPr marL="0" indent="0">
                  <a:buNone/>
                </a:pPr>
                <a:endParaRPr lang="en-US" sz="2400" b="0" i="1" dirty="0">
                  <a:latin typeface="Cambria Math" panose="02040503050406030204" pitchFamily="18" charset="0"/>
                  <a:ea typeface="Cambria Math" panose="02040503050406030204" pitchFamily="18" charset="0"/>
                </a:endParaRPr>
              </a:p>
              <a:p>
                <a:pPr marL="0" indent="0">
                  <a:buNone/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p>
                        <m:sSupPr>
                          <m:ctrlPr>
                            <a:rPr lang="en-US" sz="2400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</m:ctrlPr>
                        </m:sSupPr>
                        <m:e>
                          <m:r>
                            <a:rPr lang="en-US" sz="2400" i="1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⋋</m:t>
                          </m:r>
                        </m:e>
                        <m:sup>
                          <m:r>
                            <a:rPr lang="en-US" sz="2400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2</m:t>
                          </m:r>
                        </m:sup>
                      </m:sSup>
                      <m:r>
                        <a:rPr lang="en-US" sz="2400" b="0" i="1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−7</m:t>
                      </m:r>
                      <m:r>
                        <a:rPr lang="en-US" sz="2400" i="1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⋋</m:t>
                      </m:r>
                      <m:r>
                        <a:rPr lang="en-US" sz="2400" b="0" i="1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+10=0;</m:t>
                      </m:r>
                    </m:oMath>
                  </m:oMathPara>
                </a14:m>
                <a:endParaRPr lang="en-US" sz="2400" b="0" dirty="0">
                  <a:latin typeface="Arial" panose="020B0604020202020204" pitchFamily="34" charset="0"/>
                  <a:ea typeface="Cambria Math" panose="02040503050406030204" pitchFamily="18" charset="0"/>
                </a:endParaRPr>
              </a:p>
              <a:p>
                <a:pPr marL="0" indent="0">
                  <a:buNone/>
                </a:pPr>
                <a:r>
                  <a:rPr lang="en-US" sz="2400" dirty="0">
                    <a:latin typeface="Arial" panose="020B0604020202020204" pitchFamily="34" charset="0"/>
                    <a:ea typeface="Cambria Math" panose="02040503050406030204" pitchFamily="18" charset="0"/>
                  </a:rPr>
                  <a:t>Eigen values are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sz="2400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sz="2400" i="1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⋋</m:t>
                        </m:r>
                      </m:e>
                      <m:sub>
                        <m:r>
                          <a:rPr lang="en-US" sz="2400" b="0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1</m:t>
                        </m:r>
                      </m:sub>
                    </m:sSub>
                  </m:oMath>
                </a14:m>
                <a:r>
                  <a:rPr lang="en-US" sz="2400" b="0" dirty="0">
                    <a:latin typeface="Arial" panose="020B0604020202020204" pitchFamily="34" charset="0"/>
                    <a:ea typeface="Cambria Math" panose="02040503050406030204" pitchFamily="18" charset="0"/>
                  </a:rPr>
                  <a:t>=5,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sz="2400" i="1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sz="2400" i="1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⋋</m:t>
                        </m:r>
                      </m:e>
                      <m:sub>
                        <m:r>
                          <a:rPr lang="en-US" sz="2400" b="0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2</m:t>
                        </m:r>
                      </m:sub>
                    </m:sSub>
                  </m:oMath>
                </a14:m>
                <a:r>
                  <a:rPr lang="en-US" sz="2400" dirty="0">
                    <a:latin typeface="Arial" panose="020B0604020202020204" pitchFamily="34" charset="0"/>
                    <a:ea typeface="Cambria Math" panose="02040503050406030204" pitchFamily="18" charset="0"/>
                  </a:rPr>
                  <a:t>=</a:t>
                </a:r>
                <a:r>
                  <a:rPr lang="en-US" sz="2400" b="0" dirty="0">
                    <a:latin typeface="Arial" panose="020B0604020202020204" pitchFamily="34" charset="0"/>
                    <a:ea typeface="Cambria Math" panose="02040503050406030204" pitchFamily="18" charset="0"/>
                  </a:rPr>
                  <a:t> 2</a:t>
                </a:r>
              </a:p>
              <a:p>
                <a:pPr marL="0" indent="0">
                  <a:buNone/>
                </a:pPr>
                <a:endParaRPr lang="en-US" sz="2400" dirty="0">
                  <a:latin typeface="Arial" panose="020B0604020202020204" pitchFamily="34" charset="0"/>
                  <a:cs typeface="Arial" panose="020B0604020202020204" pitchFamily="34" charset="0"/>
                </a:endParaRPr>
              </a:p>
            </p:txBody>
          </p:sp>
        </mc:Choice>
        <mc:Fallback xmlns="">
          <p:sp>
            <p:nvSpPr>
              <p:cNvPr id="4" name="Rectangle 3">
                <a:extLst>
                  <a:ext uri="{FF2B5EF4-FFF2-40B4-BE49-F238E27FC236}">
                    <a16:creationId xmlns:a16="http://schemas.microsoft.com/office/drawing/2014/main" id="{640592D1-E09A-0CBD-3614-AF39C3E876A1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xfrm>
                <a:off x="838200" y="1453896"/>
                <a:ext cx="10515600" cy="4535425"/>
              </a:xfrm>
              <a:blipFill>
                <a:blip r:embed="rId2"/>
                <a:stretch>
                  <a:fillRect l="-928"/>
                </a:stretch>
              </a:blipFill>
            </p:spPr>
            <p:txBody>
              <a:bodyPr/>
              <a:lstStyle/>
              <a:p>
                <a:r>
                  <a:rPr lang="en-IN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2136531855"/>
      </p:ext>
    </p:extLst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C747FBE0-35B4-6B77-FBBF-CF9044D1DA5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E0CE1B8-C3CB-AD6F-A8CA-1B693BA893F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088771"/>
          </a:xfrm>
        </p:spPr>
        <p:txBody>
          <a:bodyPr/>
          <a:lstStyle/>
          <a:p>
            <a:pPr fontAlgn="base"/>
            <a:r>
              <a:rPr lang="en-IN" b="1" i="0" dirty="0">
                <a:solidFill>
                  <a:srgbClr val="FF0000"/>
                </a:solidFill>
                <a:effectLst/>
                <a:latin typeface="Nunito" pitchFamily="2" charset="0"/>
              </a:rPr>
              <a:t>Eigen decomposition (</a:t>
            </a:r>
            <a:r>
              <a:rPr lang="en-IN" b="1" i="0" dirty="0" err="1">
                <a:solidFill>
                  <a:srgbClr val="FF0000"/>
                </a:solidFill>
                <a:effectLst/>
                <a:latin typeface="Nunito" pitchFamily="2" charset="0"/>
              </a:rPr>
              <a:t>Cont</a:t>
            </a:r>
            <a:r>
              <a:rPr lang="en-IN" b="1" i="0" dirty="0">
                <a:solidFill>
                  <a:srgbClr val="FF0000"/>
                </a:solidFill>
                <a:effectLst/>
                <a:latin typeface="Nunito" pitchFamily="2" charset="0"/>
              </a:rPr>
              <a:t>…II)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4" name="Rectangle 3">
                <a:extLst>
                  <a:ext uri="{FF2B5EF4-FFF2-40B4-BE49-F238E27FC236}">
                    <a16:creationId xmlns:a16="http://schemas.microsoft.com/office/drawing/2014/main" id="{BB85C75A-1657-3AEC-F78B-BFA4EDF5377D}"/>
                  </a:ext>
                </a:extLst>
              </p:cNvPr>
              <p:cNvSpPr>
                <a:spLocks noGrp="1" noChangeArrowheads="1"/>
              </p:cNvSpPr>
              <p:nvPr>
                <p:ph idx="1"/>
              </p:nvPr>
            </p:nvSpPr>
            <p:spPr>
              <a:xfrm>
                <a:off x="838200" y="1132883"/>
                <a:ext cx="10786353" cy="5122002"/>
              </a:xfrm>
            </p:spPr>
            <p:txBody>
              <a:bodyPr>
                <a:noAutofit/>
              </a:bodyPr>
              <a:lstStyle/>
              <a:p>
                <a:pPr marL="0" indent="0">
                  <a:buNone/>
                </a:pPr>
                <a:r>
                  <a:rPr lang="en-US" sz="2400" b="1" dirty="0">
                    <a:latin typeface="Arial" panose="020B0604020202020204" pitchFamily="34" charset="0"/>
                    <a:cs typeface="Arial" panose="020B0604020202020204" pitchFamily="34" charset="0"/>
                  </a:rPr>
                  <a:t>Step 2: Find the Eigenvectors:</a:t>
                </a:r>
              </a:p>
              <a:p>
                <a:pPr marL="0" indent="0">
                  <a:buNone/>
                </a:pPr>
                <a:r>
                  <a:rPr lang="en-US" sz="2400" dirty="0">
                    <a:latin typeface="Arial" panose="020B0604020202020204" pitchFamily="34" charset="0"/>
                    <a:cs typeface="Arial" panose="020B0604020202020204" pitchFamily="34" charset="0"/>
                  </a:rPr>
                  <a:t>Eigen vector for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sz="2400" i="1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sz="2400" b="0" i="1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⋋</m:t>
                        </m:r>
                      </m:e>
                      <m:sub>
                        <m:r>
                          <a:rPr lang="en-US" sz="2400" b="0" i="1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1</m:t>
                        </m:r>
                      </m:sub>
                    </m:sSub>
                  </m:oMath>
                </a14:m>
                <a:r>
                  <a:rPr lang="en-US" sz="2400" dirty="0">
                    <a:latin typeface="Arial" panose="020B0604020202020204" pitchFamily="34" charset="0"/>
                    <a:ea typeface="Cambria Math" panose="02040503050406030204" pitchFamily="18" charset="0"/>
                  </a:rPr>
                  <a:t>=5:</a:t>
                </a:r>
                <a:endParaRPr lang="en-US" sz="2400" dirty="0">
                  <a:latin typeface="Arial" panose="020B0604020202020204" pitchFamily="34" charset="0"/>
                  <a:cs typeface="Arial" panose="020B0604020202020204" pitchFamily="34" charset="0"/>
                </a:endParaRPr>
              </a:p>
              <a:p>
                <a:pPr marL="0" indent="0">
                  <a:buNone/>
                </a:pPr>
                <a14:m>
                  <m:oMath xmlns:m="http://schemas.openxmlformats.org/officeDocument/2006/math">
                    <m:d>
                      <m:dPr>
                        <m:ctrlPr>
                          <a:rPr lang="en-US" sz="2400" b="0" i="1" smtClean="0">
                            <a:latin typeface="Cambria Math" panose="02040503050406030204" pitchFamily="18" charset="0"/>
                            <a:cs typeface="Arial" panose="020B0604020202020204" pitchFamily="34" charset="0"/>
                          </a:rPr>
                        </m:ctrlPr>
                      </m:dPr>
                      <m:e>
                        <m:r>
                          <a:rPr lang="en-US" sz="2400" b="0" i="1" smtClean="0">
                            <a:latin typeface="Cambria Math" panose="02040503050406030204" pitchFamily="18" charset="0"/>
                            <a:cs typeface="Arial" panose="020B0604020202020204" pitchFamily="34" charset="0"/>
                          </a:rPr>
                          <m:t>𝐴</m:t>
                        </m:r>
                        <m:r>
                          <a:rPr lang="en-US" sz="2400" b="0" i="1" smtClean="0">
                            <a:latin typeface="Cambria Math" panose="02040503050406030204" pitchFamily="18" charset="0"/>
                            <a:cs typeface="Arial" panose="020B0604020202020204" pitchFamily="34" charset="0"/>
                          </a:rPr>
                          <m:t>−5</m:t>
                        </m:r>
                        <m:r>
                          <a:rPr lang="en-US" sz="2400" b="0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𝐼</m:t>
                        </m:r>
                      </m:e>
                    </m:d>
                    <m:r>
                      <a:rPr lang="en-US" sz="2400" b="0" i="1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𝑣</m:t>
                    </m:r>
                    <m:r>
                      <a:rPr lang="en-US" sz="2400" b="0" i="1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=0;→</m:t>
                    </m:r>
                  </m:oMath>
                </a14:m>
                <a:r>
                  <a:rPr lang="en-US" sz="2400" b="0" i="0" dirty="0">
                    <a:latin typeface="Cambria Math" panose="02040503050406030204" pitchFamily="18" charset="0"/>
                    <a:ea typeface="Cambria Math" panose="02040503050406030204" pitchFamily="18" charset="0"/>
                  </a:rPr>
                  <a:t> </a:t>
                </a:r>
                <a14:m>
                  <m:oMath xmlns:m="http://schemas.openxmlformats.org/officeDocument/2006/math">
                    <m:d>
                      <m:dPr>
                        <m:begChr m:val="["/>
                        <m:endChr m:val="]"/>
                        <m:ctrlPr>
                          <a:rPr lang="en-US" sz="2400" i="1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</m:ctrlPr>
                      </m:dPr>
                      <m:e>
                        <m:m>
                          <m:mPr>
                            <m:mcs>
                              <m:mc>
                                <m:mcPr>
                                  <m:count m:val="2"/>
                                  <m:mcJc m:val="center"/>
                                </m:mcPr>
                              </m:mc>
                            </m:mcs>
                            <m:ctrlPr>
                              <a:rPr lang="en-US" sz="2400" i="1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</m:ctrlPr>
                          </m:mPr>
                          <m:mr>
                            <m:e>
                              <m:r>
                                <m:rPr>
                                  <m:brk m:alnAt="7"/>
                                </m:rPr>
                                <a:rPr lang="en-US" sz="2400" i="1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−</m:t>
                              </m:r>
                              <m:r>
                                <a:rPr lang="en-US" sz="2400" i="1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1</m:t>
                              </m:r>
                            </m:e>
                            <m:e>
                              <m:r>
                                <a:rPr lang="en-US" sz="2400" i="1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1</m:t>
                              </m:r>
                            </m:e>
                          </m:mr>
                          <m:mr>
                            <m:e>
                              <m:r>
                                <a:rPr lang="en-US" sz="2400" i="1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2</m:t>
                              </m:r>
                            </m:e>
                            <m:e>
                              <m:r>
                                <a:rPr lang="en-US" sz="2400" i="1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−2</m:t>
                              </m:r>
                            </m:e>
                          </m:mr>
                        </m:m>
                      </m:e>
                    </m:d>
                    <m:d>
                      <m:dPr>
                        <m:begChr m:val="["/>
                        <m:endChr m:val="]"/>
                        <m:ctrlPr>
                          <a:rPr lang="en-US" sz="2400" i="1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</m:ctrlPr>
                      </m:dPr>
                      <m:e>
                        <m:m>
                          <m:mPr>
                            <m:mcs>
                              <m:mc>
                                <m:mcPr>
                                  <m:count m:val="1"/>
                                  <m:mcJc m:val="center"/>
                                </m:mcPr>
                              </m:mc>
                            </m:mcs>
                            <m:ctrlPr>
                              <a:rPr lang="en-US" sz="2400" i="1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</m:ctrlPr>
                          </m:mPr>
                          <m:mr>
                            <m:e>
                              <m:r>
                                <m:rPr>
                                  <m:brk m:alnAt="7"/>
                                </m:rPr>
                                <a:rPr lang="en-US" sz="2400" i="1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𝑥</m:t>
                              </m:r>
                            </m:e>
                          </m:mr>
                          <m:mr>
                            <m:e>
                              <m:r>
                                <a:rPr lang="en-US" sz="2400" i="1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𝑦</m:t>
                              </m:r>
                            </m:e>
                          </m:mr>
                        </m:m>
                      </m:e>
                    </m:d>
                    <m:r>
                      <a:rPr lang="en-US" sz="2400" i="1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=0;</m:t>
                    </m:r>
                  </m:oMath>
                </a14:m>
                <a:r>
                  <a:rPr lang="en-US" sz="2400" i="1" dirty="0">
                    <a:latin typeface="Cambria Math" panose="02040503050406030204" pitchFamily="18" charset="0"/>
                    <a:ea typeface="Cambria Math" panose="02040503050406030204" pitchFamily="18" charset="0"/>
                  </a:rPr>
                  <a:t> </a:t>
                </a:r>
                <a14:m>
                  <m:oMath xmlns:m="http://schemas.openxmlformats.org/officeDocument/2006/math">
                    <m:r>
                      <a:rPr lang="en-US" sz="2400" i="1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→</m:t>
                    </m:r>
                  </m:oMath>
                </a14:m>
                <a:r>
                  <a:rPr lang="en-US" sz="2400" i="1" dirty="0">
                    <a:latin typeface="Cambria Math" panose="02040503050406030204" pitchFamily="18" charset="0"/>
                    <a:ea typeface="Cambria Math" panose="02040503050406030204" pitchFamily="18" charset="0"/>
                  </a:rPr>
                  <a:t> </a:t>
                </a:r>
                <a14:m>
                  <m:oMath xmlns:m="http://schemas.openxmlformats.org/officeDocument/2006/math">
                    <m:r>
                      <a:rPr lang="en-US" sz="2400" i="1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𝑥</m:t>
                    </m:r>
                    <m:r>
                      <a:rPr lang="en-US" sz="2400" i="1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=</m:t>
                    </m:r>
                    <m:r>
                      <a:rPr lang="en-US" sz="2400" i="1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𝑦</m:t>
                    </m:r>
                    <m:r>
                      <a:rPr lang="en-US" sz="2400" i="1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;</m:t>
                    </m:r>
                  </m:oMath>
                </a14:m>
                <a:endParaRPr lang="en-US" sz="2400" i="1" dirty="0">
                  <a:latin typeface="Cambria Math" panose="02040503050406030204" pitchFamily="18" charset="0"/>
                  <a:ea typeface="Cambria Math" panose="02040503050406030204" pitchFamily="18" charset="0"/>
                </a:endParaRPr>
              </a:p>
              <a:p>
                <a:pPr marL="0" indent="0">
                  <a:buNone/>
                </a:pPr>
                <a:r>
                  <a:rPr lang="en-US" sz="2400" dirty="0">
                    <a:latin typeface="Arial" panose="020B0604020202020204" pitchFamily="34" charset="0"/>
                    <a:ea typeface="Cambria Math" panose="02040503050406030204" pitchFamily="18" charset="0"/>
                  </a:rPr>
                  <a:t>Therefore Eigen vector for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sz="2400" i="1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sz="2400" i="1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⋋</m:t>
                        </m:r>
                      </m:e>
                      <m:sub>
                        <m:r>
                          <a:rPr lang="en-US" sz="2400" i="1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1</m:t>
                        </m:r>
                      </m:sub>
                    </m:sSub>
                  </m:oMath>
                </a14:m>
                <a:r>
                  <a:rPr lang="en-US" sz="2400" dirty="0">
                    <a:latin typeface="Arial" panose="020B0604020202020204" pitchFamily="34" charset="0"/>
                    <a:ea typeface="Cambria Math" panose="02040503050406030204" pitchFamily="18" charset="0"/>
                  </a:rPr>
                  <a:t>=5 is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sz="2400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sz="2400" b="0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𝑣</m:t>
                        </m:r>
                      </m:e>
                      <m:sub>
                        <m:r>
                          <a:rPr lang="en-US" sz="2400" b="0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1</m:t>
                        </m:r>
                      </m:sub>
                    </m:sSub>
                    <m:r>
                      <a:rPr lang="en-US" sz="2400" b="0" i="1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=</m:t>
                    </m:r>
                    <m:d>
                      <m:dPr>
                        <m:begChr m:val="["/>
                        <m:endChr m:val="]"/>
                        <m:ctrlPr>
                          <a:rPr lang="en-US" sz="2400" b="0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</m:ctrlPr>
                      </m:dPr>
                      <m:e>
                        <m:m>
                          <m:mPr>
                            <m:mcs>
                              <m:mc>
                                <m:mcPr>
                                  <m:count m:val="1"/>
                                  <m:mcJc m:val="center"/>
                                </m:mcPr>
                              </m:mc>
                            </m:mcs>
                            <m:ctrlPr>
                              <a:rPr lang="en-US" sz="2400" b="0" i="1" smtClean="0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</m:ctrlPr>
                          </m:mPr>
                          <m:mr>
                            <m:e>
                              <m:r>
                                <m:rPr>
                                  <m:brk m:alnAt="7"/>
                                </m:rPr>
                                <a:rPr lang="en-US" sz="2400" b="0" i="1" smtClean="0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1</m:t>
                              </m:r>
                            </m:e>
                          </m:mr>
                          <m:mr>
                            <m:e>
                              <m:r>
                                <a:rPr lang="en-US" sz="2400" b="0" i="1" smtClean="0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1</m:t>
                              </m:r>
                            </m:e>
                          </m:mr>
                        </m:m>
                      </m:e>
                    </m:d>
                  </m:oMath>
                </a14:m>
                <a:endParaRPr lang="en-US" sz="2400" dirty="0">
                  <a:latin typeface="Arial" panose="020B0604020202020204" pitchFamily="34" charset="0"/>
                  <a:cs typeface="Arial" panose="020B0604020202020204" pitchFamily="34" charset="0"/>
                </a:endParaRPr>
              </a:p>
              <a:p>
                <a:pPr marL="0" indent="0">
                  <a:buNone/>
                </a:pPr>
                <a:endParaRPr lang="en-US" sz="2400" dirty="0">
                  <a:latin typeface="Arial" panose="020B0604020202020204" pitchFamily="34" charset="0"/>
                  <a:cs typeface="Arial" panose="020B0604020202020204" pitchFamily="34" charset="0"/>
                </a:endParaRPr>
              </a:p>
              <a:p>
                <a:pPr marL="0" indent="0">
                  <a:buNone/>
                </a:pPr>
                <a:r>
                  <a:rPr lang="en-US" sz="2400" dirty="0">
                    <a:latin typeface="Arial" panose="020B0604020202020204" pitchFamily="34" charset="0"/>
                    <a:cs typeface="Arial" panose="020B0604020202020204" pitchFamily="34" charset="0"/>
                  </a:rPr>
                  <a:t>Eigen vector for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sz="2400" i="1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sz="2400" i="1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⋋</m:t>
                        </m:r>
                      </m:e>
                      <m:sub>
                        <m:r>
                          <a:rPr lang="en-US" sz="2400" b="0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2</m:t>
                        </m:r>
                      </m:sub>
                    </m:sSub>
                  </m:oMath>
                </a14:m>
                <a:r>
                  <a:rPr lang="en-US" sz="2400" dirty="0">
                    <a:latin typeface="Arial" panose="020B0604020202020204" pitchFamily="34" charset="0"/>
                    <a:ea typeface="Cambria Math" panose="02040503050406030204" pitchFamily="18" charset="0"/>
                  </a:rPr>
                  <a:t>=2:</a:t>
                </a:r>
                <a:endParaRPr lang="en-US" sz="2400" dirty="0">
                  <a:latin typeface="Arial" panose="020B0604020202020204" pitchFamily="34" charset="0"/>
                  <a:cs typeface="Arial" panose="020B0604020202020204" pitchFamily="34" charset="0"/>
                </a:endParaRPr>
              </a:p>
              <a:p>
                <a:pPr marL="0" indent="0">
                  <a:buNone/>
                </a:pPr>
                <a14:m>
                  <m:oMath xmlns:m="http://schemas.openxmlformats.org/officeDocument/2006/math">
                    <m:d>
                      <m:dPr>
                        <m:ctrlPr>
                          <a:rPr lang="en-US" sz="2400" i="1">
                            <a:latin typeface="Cambria Math" panose="02040503050406030204" pitchFamily="18" charset="0"/>
                            <a:cs typeface="Arial" panose="020B0604020202020204" pitchFamily="34" charset="0"/>
                          </a:rPr>
                        </m:ctrlPr>
                      </m:dPr>
                      <m:e>
                        <m:r>
                          <a:rPr lang="en-US" sz="2400" i="1">
                            <a:latin typeface="Cambria Math" panose="02040503050406030204" pitchFamily="18" charset="0"/>
                            <a:cs typeface="Arial" panose="020B0604020202020204" pitchFamily="34" charset="0"/>
                          </a:rPr>
                          <m:t>𝐴</m:t>
                        </m:r>
                        <m:r>
                          <a:rPr lang="en-US" sz="2400" i="1">
                            <a:latin typeface="Cambria Math" panose="02040503050406030204" pitchFamily="18" charset="0"/>
                            <a:cs typeface="Arial" panose="020B0604020202020204" pitchFamily="34" charset="0"/>
                          </a:rPr>
                          <m:t>−2</m:t>
                        </m:r>
                        <m:r>
                          <a:rPr lang="en-US" sz="2400" i="1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𝐼</m:t>
                        </m:r>
                      </m:e>
                    </m:d>
                    <m:r>
                      <a:rPr lang="en-US" sz="2400" i="1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𝑣</m:t>
                    </m:r>
                    <m:r>
                      <a:rPr lang="en-US" sz="2400" i="1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=0; →</m:t>
                    </m:r>
                    <m:d>
                      <m:dPr>
                        <m:begChr m:val="["/>
                        <m:endChr m:val="]"/>
                        <m:ctrlPr>
                          <a:rPr lang="en-US" sz="2400" b="0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</m:ctrlPr>
                      </m:dPr>
                      <m:e>
                        <m:m>
                          <m:mPr>
                            <m:mcs>
                              <m:mc>
                                <m:mcPr>
                                  <m:count m:val="2"/>
                                  <m:mcJc m:val="center"/>
                                </m:mcPr>
                              </m:mc>
                            </m:mcs>
                            <m:ctrlPr>
                              <a:rPr lang="en-US" sz="2400" b="0" i="1" smtClean="0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</m:ctrlPr>
                          </m:mPr>
                          <m:mr>
                            <m:e>
                              <m:r>
                                <m:rPr>
                                  <m:brk m:alnAt="7"/>
                                </m:rPr>
                                <a:rPr lang="en-US" sz="2400" b="0" i="1" smtClean="0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2</m:t>
                              </m:r>
                            </m:e>
                            <m:e>
                              <m:r>
                                <a:rPr lang="en-US" sz="2400" b="0" i="1" smtClean="0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1</m:t>
                              </m:r>
                            </m:e>
                          </m:mr>
                          <m:mr>
                            <m:e>
                              <m:r>
                                <a:rPr lang="en-US" sz="2400" b="0" i="1" smtClean="0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2</m:t>
                              </m:r>
                            </m:e>
                            <m:e>
                              <m:r>
                                <a:rPr lang="en-US" sz="2400" b="0" i="1" smtClean="0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1</m:t>
                              </m:r>
                            </m:e>
                          </m:mr>
                        </m:m>
                      </m:e>
                    </m:d>
                    <m:d>
                      <m:dPr>
                        <m:begChr m:val="["/>
                        <m:endChr m:val="]"/>
                        <m:ctrlPr>
                          <a:rPr lang="en-US" sz="2400" i="1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</m:ctrlPr>
                      </m:dPr>
                      <m:e>
                        <m:m>
                          <m:mPr>
                            <m:mcs>
                              <m:mc>
                                <m:mcPr>
                                  <m:count m:val="1"/>
                                  <m:mcJc m:val="center"/>
                                </m:mcPr>
                              </m:mc>
                            </m:mcs>
                            <m:ctrlPr>
                              <a:rPr lang="en-US" sz="2400" i="1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</m:ctrlPr>
                          </m:mPr>
                          <m:mr>
                            <m:e>
                              <m:r>
                                <m:rPr>
                                  <m:brk m:alnAt="7"/>
                                </m:rPr>
                                <a:rPr lang="en-US" sz="2400" i="1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𝑥</m:t>
                              </m:r>
                            </m:e>
                          </m:mr>
                          <m:mr>
                            <m:e>
                              <m:r>
                                <a:rPr lang="en-US" sz="2400" i="1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𝑦</m:t>
                              </m:r>
                            </m:e>
                          </m:mr>
                        </m:m>
                      </m:e>
                    </m:d>
                    <m:r>
                      <a:rPr lang="en-US" sz="2400" b="0" i="1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=0;</m:t>
                    </m:r>
                    <m:r>
                      <a:rPr lang="en-US" sz="2400" i="1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→</m:t>
                    </m:r>
                  </m:oMath>
                </a14:m>
                <a:r>
                  <a:rPr lang="en-US" sz="2400" dirty="0">
                    <a:latin typeface="Cambria Math" panose="02040503050406030204" pitchFamily="18" charset="0"/>
                    <a:ea typeface="Cambria Math" panose="02040503050406030204" pitchFamily="18" charset="0"/>
                  </a:rPr>
                  <a:t> </a:t>
                </a:r>
                <a14:m>
                  <m:oMath xmlns:m="http://schemas.openxmlformats.org/officeDocument/2006/math">
                    <m:r>
                      <a:rPr lang="en-US" sz="2400" i="1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𝑦</m:t>
                    </m:r>
                    <m:r>
                      <a:rPr lang="en-US" sz="2400" i="1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=−2</m:t>
                    </m:r>
                    <m:r>
                      <a:rPr lang="en-US" sz="2400" i="1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𝑥</m:t>
                    </m:r>
                    <m:r>
                      <a:rPr lang="en-US" sz="2400" i="1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,</m:t>
                    </m:r>
                  </m:oMath>
                </a14:m>
                <a:endParaRPr lang="en-US" sz="2400" dirty="0">
                  <a:latin typeface="Cambria Math" panose="02040503050406030204" pitchFamily="18" charset="0"/>
                  <a:ea typeface="Cambria Math" panose="02040503050406030204" pitchFamily="18" charset="0"/>
                </a:endParaRPr>
              </a:p>
              <a:p>
                <a:pPr marL="0" indent="0">
                  <a:buNone/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sz="2400" b="0" i="1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 </m:t>
                      </m:r>
                    </m:oMath>
                  </m:oMathPara>
                </a14:m>
                <a:endParaRPr lang="en-US" sz="2400" b="0" dirty="0">
                  <a:latin typeface="Cambria Math" panose="02040503050406030204" pitchFamily="18" charset="0"/>
                  <a:ea typeface="Cambria Math" panose="02040503050406030204" pitchFamily="18" charset="0"/>
                </a:endParaRPr>
              </a:p>
              <a:p>
                <a:pPr marL="0" indent="0">
                  <a:buNone/>
                </a:pPr>
                <a:r>
                  <a:rPr lang="en-US" sz="2400" dirty="0">
                    <a:latin typeface="Arial" panose="020B0604020202020204" pitchFamily="34" charset="0"/>
                    <a:ea typeface="Cambria Math" panose="02040503050406030204" pitchFamily="18" charset="0"/>
                  </a:rPr>
                  <a:t>There fore Eigen vector for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sz="2400" i="1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sz="2400" i="1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⋋</m:t>
                        </m:r>
                      </m:e>
                      <m:sub>
                        <m:r>
                          <a:rPr lang="en-US" sz="2400" b="0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2</m:t>
                        </m:r>
                      </m:sub>
                    </m:sSub>
                  </m:oMath>
                </a14:m>
                <a:r>
                  <a:rPr lang="en-US" sz="2400" dirty="0">
                    <a:latin typeface="Arial" panose="020B0604020202020204" pitchFamily="34" charset="0"/>
                    <a:ea typeface="Cambria Math" panose="02040503050406030204" pitchFamily="18" charset="0"/>
                  </a:rPr>
                  <a:t>=2 is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sz="2400" i="1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sz="2400" i="1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𝑣</m:t>
                        </m:r>
                      </m:e>
                      <m:sub>
                        <m:r>
                          <a:rPr lang="en-US" sz="2400" b="0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2</m:t>
                        </m:r>
                      </m:sub>
                    </m:sSub>
                    <m:r>
                      <a:rPr lang="en-US" sz="2400" i="1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=</m:t>
                    </m:r>
                    <m:d>
                      <m:dPr>
                        <m:begChr m:val="["/>
                        <m:endChr m:val="]"/>
                        <m:ctrlPr>
                          <a:rPr lang="en-US" sz="2400" i="1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</m:ctrlPr>
                      </m:dPr>
                      <m:e>
                        <m:m>
                          <m:mPr>
                            <m:mcs>
                              <m:mc>
                                <m:mcPr>
                                  <m:count m:val="1"/>
                                  <m:mcJc m:val="center"/>
                                </m:mcPr>
                              </m:mc>
                            </m:mcs>
                            <m:ctrlPr>
                              <a:rPr lang="en-US" sz="2400" i="1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</m:ctrlPr>
                          </m:mPr>
                          <m:mr>
                            <m:e>
                              <m:r>
                                <m:rPr>
                                  <m:brk m:alnAt="7"/>
                                </m:rPr>
                                <a:rPr lang="en-US" sz="2400" i="1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1</m:t>
                              </m:r>
                            </m:e>
                          </m:mr>
                          <m:mr>
                            <m:e>
                              <m:r>
                                <a:rPr lang="en-US" sz="2400" b="0" i="1" smtClean="0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−2</m:t>
                              </m:r>
                            </m:e>
                          </m:mr>
                        </m:m>
                      </m:e>
                    </m:d>
                  </m:oMath>
                </a14:m>
                <a:endParaRPr lang="en-US" sz="2400" b="0" dirty="0">
                  <a:latin typeface="Cambria Math" panose="02040503050406030204" pitchFamily="18" charset="0"/>
                  <a:ea typeface="Cambria Math" panose="02040503050406030204" pitchFamily="18" charset="0"/>
                </a:endParaRPr>
              </a:p>
              <a:p>
                <a:pPr marL="0" indent="0">
                  <a:buNone/>
                </a:pPr>
                <a:endParaRPr lang="en-US" sz="2400" dirty="0">
                  <a:latin typeface="Cambria Math" panose="02040503050406030204" pitchFamily="18" charset="0"/>
                  <a:ea typeface="Cambria Math" panose="02040503050406030204" pitchFamily="18" charset="0"/>
                </a:endParaRPr>
              </a:p>
              <a:p>
                <a:pPr marL="0" indent="0">
                  <a:buNone/>
                </a:pPr>
                <a:endParaRPr lang="en-US" sz="2400" dirty="0">
                  <a:latin typeface="Arial" panose="020B0604020202020204" pitchFamily="34" charset="0"/>
                  <a:cs typeface="Arial" panose="020B0604020202020204" pitchFamily="34" charset="0"/>
                </a:endParaRPr>
              </a:p>
              <a:p>
                <a:pPr marL="0" indent="0">
                  <a:buNone/>
                </a:pPr>
                <a:endParaRPr lang="en-US" sz="2400" b="0" dirty="0">
                  <a:latin typeface="Arial" panose="020B0604020202020204" pitchFamily="34" charset="0"/>
                  <a:ea typeface="Cambria Math" panose="02040503050406030204" pitchFamily="18" charset="0"/>
                </a:endParaRPr>
              </a:p>
              <a:p>
                <a:pPr marL="0" indent="0">
                  <a:buNone/>
                </a:pPr>
                <a:endParaRPr lang="en-US" sz="2400" b="0" i="1" dirty="0">
                  <a:latin typeface="Cambria Math" panose="02040503050406030204" pitchFamily="18" charset="0"/>
                  <a:ea typeface="Cambria Math" panose="02040503050406030204" pitchFamily="18" charset="0"/>
                </a:endParaRPr>
              </a:p>
              <a:p>
                <a:pPr marL="0" indent="0">
                  <a:buNone/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p>
                        <m:sSupPr>
                          <m:ctrlPr>
                            <a:rPr lang="en-US" sz="2400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</m:ctrlPr>
                        </m:sSupPr>
                        <m:e>
                          <m:r>
                            <a:rPr lang="en-US" sz="2400" i="1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⋋</m:t>
                          </m:r>
                        </m:e>
                        <m:sup>
                          <m:r>
                            <a:rPr lang="en-US" sz="2400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2</m:t>
                          </m:r>
                        </m:sup>
                      </m:sSup>
                      <m:r>
                        <a:rPr lang="en-US" sz="2400" b="0" i="1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−7</m:t>
                      </m:r>
                      <m:r>
                        <a:rPr lang="en-US" sz="2400" i="1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⋋</m:t>
                      </m:r>
                      <m:r>
                        <a:rPr lang="en-US" sz="2400" b="0" i="1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+10=0;</m:t>
                      </m:r>
                    </m:oMath>
                  </m:oMathPara>
                </a14:m>
                <a:endParaRPr lang="en-US" sz="2400" b="0" dirty="0">
                  <a:latin typeface="Arial" panose="020B0604020202020204" pitchFamily="34" charset="0"/>
                  <a:ea typeface="Cambria Math" panose="02040503050406030204" pitchFamily="18" charset="0"/>
                </a:endParaRPr>
              </a:p>
              <a:p>
                <a:pPr marL="0" indent="0">
                  <a:buNone/>
                </a:pPr>
                <a:r>
                  <a:rPr lang="en-US" sz="2400" dirty="0">
                    <a:latin typeface="Arial" panose="020B0604020202020204" pitchFamily="34" charset="0"/>
                    <a:ea typeface="Cambria Math" panose="02040503050406030204" pitchFamily="18" charset="0"/>
                  </a:rPr>
                  <a:t>Eigen values are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sz="2400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sz="2400" i="1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⋋</m:t>
                        </m:r>
                      </m:e>
                      <m:sub>
                        <m:r>
                          <a:rPr lang="en-US" sz="2400" b="0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1</m:t>
                        </m:r>
                      </m:sub>
                    </m:sSub>
                  </m:oMath>
                </a14:m>
                <a:r>
                  <a:rPr lang="en-US" sz="2400" b="0" dirty="0">
                    <a:latin typeface="Arial" panose="020B0604020202020204" pitchFamily="34" charset="0"/>
                    <a:ea typeface="Cambria Math" panose="02040503050406030204" pitchFamily="18" charset="0"/>
                  </a:rPr>
                  <a:t>=5,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sz="2400" i="1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sz="2400" i="1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⋋</m:t>
                        </m:r>
                      </m:e>
                      <m:sub>
                        <m:r>
                          <a:rPr lang="en-US" sz="2400" b="0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2</m:t>
                        </m:r>
                      </m:sub>
                    </m:sSub>
                  </m:oMath>
                </a14:m>
                <a:r>
                  <a:rPr lang="en-US" sz="2400" dirty="0">
                    <a:latin typeface="Arial" panose="020B0604020202020204" pitchFamily="34" charset="0"/>
                    <a:ea typeface="Cambria Math" panose="02040503050406030204" pitchFamily="18" charset="0"/>
                  </a:rPr>
                  <a:t>=</a:t>
                </a:r>
                <a:r>
                  <a:rPr lang="en-US" sz="2400" b="0" dirty="0">
                    <a:latin typeface="Arial" panose="020B0604020202020204" pitchFamily="34" charset="0"/>
                    <a:ea typeface="Cambria Math" panose="02040503050406030204" pitchFamily="18" charset="0"/>
                  </a:rPr>
                  <a:t> 2</a:t>
                </a:r>
              </a:p>
              <a:p>
                <a:pPr marL="0" indent="0">
                  <a:buNone/>
                </a:pPr>
                <a:endParaRPr lang="en-US" sz="2400" dirty="0">
                  <a:latin typeface="Arial" panose="020B0604020202020204" pitchFamily="34" charset="0"/>
                  <a:cs typeface="Arial" panose="020B0604020202020204" pitchFamily="34" charset="0"/>
                </a:endParaRPr>
              </a:p>
            </p:txBody>
          </p:sp>
        </mc:Choice>
        <mc:Fallback xmlns="">
          <p:sp>
            <p:nvSpPr>
              <p:cNvPr id="4" name="Rectangle 3">
                <a:extLst>
                  <a:ext uri="{FF2B5EF4-FFF2-40B4-BE49-F238E27FC236}">
                    <a16:creationId xmlns:a16="http://schemas.microsoft.com/office/drawing/2014/main" id="{BB85C75A-1657-3AEC-F78B-BFA4EDF5377D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xfrm>
                <a:off x="838200" y="1132883"/>
                <a:ext cx="10786353" cy="5122002"/>
              </a:xfrm>
              <a:blipFill>
                <a:blip r:embed="rId2"/>
                <a:stretch>
                  <a:fillRect l="-904" t="-1548" b="-47976"/>
                </a:stretch>
              </a:blipFill>
            </p:spPr>
            <p:txBody>
              <a:bodyPr/>
              <a:lstStyle/>
              <a:p>
                <a:r>
                  <a:rPr lang="en-IN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3377487949"/>
      </p:ext>
    </p:extLst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FD2CC49F-AC2E-5F8E-56D9-60F90CBFEC6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B174256-3D71-F6C9-D271-D53AA1ABFB1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088771"/>
          </a:xfrm>
        </p:spPr>
        <p:txBody>
          <a:bodyPr/>
          <a:lstStyle/>
          <a:p>
            <a:pPr fontAlgn="base"/>
            <a:r>
              <a:rPr lang="en-IN" b="1" i="0" dirty="0">
                <a:solidFill>
                  <a:srgbClr val="FF0000"/>
                </a:solidFill>
                <a:effectLst/>
                <a:latin typeface="Nunito" pitchFamily="2" charset="0"/>
              </a:rPr>
              <a:t>Eigen decomposition (</a:t>
            </a:r>
            <a:r>
              <a:rPr lang="en-IN" b="1" i="0" dirty="0" err="1">
                <a:solidFill>
                  <a:srgbClr val="FF0000"/>
                </a:solidFill>
                <a:effectLst/>
                <a:latin typeface="Nunito" pitchFamily="2" charset="0"/>
              </a:rPr>
              <a:t>Cont</a:t>
            </a:r>
            <a:r>
              <a:rPr lang="en-IN" b="1" i="0" dirty="0">
                <a:solidFill>
                  <a:srgbClr val="FF0000"/>
                </a:solidFill>
                <a:effectLst/>
                <a:latin typeface="Nunito" pitchFamily="2" charset="0"/>
              </a:rPr>
              <a:t>…III)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4" name="Rectangle 3">
                <a:extLst>
                  <a:ext uri="{FF2B5EF4-FFF2-40B4-BE49-F238E27FC236}">
                    <a16:creationId xmlns:a16="http://schemas.microsoft.com/office/drawing/2014/main" id="{2E5A571E-8916-10BF-8455-10A25D31CFA0}"/>
                  </a:ext>
                </a:extLst>
              </p:cNvPr>
              <p:cNvSpPr>
                <a:spLocks noGrp="1" noChangeArrowheads="1"/>
              </p:cNvSpPr>
              <p:nvPr>
                <p:ph idx="1"/>
              </p:nvPr>
            </p:nvSpPr>
            <p:spPr>
              <a:xfrm>
                <a:off x="838200" y="1132883"/>
                <a:ext cx="10786353" cy="5122002"/>
              </a:xfrm>
            </p:spPr>
            <p:txBody>
              <a:bodyPr>
                <a:noAutofit/>
              </a:bodyPr>
              <a:lstStyle/>
              <a:p>
                <a:pPr marL="0" indent="0">
                  <a:buNone/>
                </a:pPr>
                <a:r>
                  <a:rPr lang="en-US" sz="2400" b="1" dirty="0">
                    <a:latin typeface="Arial" panose="020B0604020202020204" pitchFamily="34" charset="0"/>
                    <a:cs typeface="Arial" panose="020B0604020202020204" pitchFamily="34" charset="0"/>
                  </a:rPr>
                  <a:t>Step 3: Construct the Eigenvector Matrix V:</a:t>
                </a:r>
                <a:endParaRPr lang="en-US" sz="2400" dirty="0">
                  <a:latin typeface="Arial" panose="020B0604020202020204" pitchFamily="34" charset="0"/>
                  <a:cs typeface="Arial" panose="020B0604020202020204" pitchFamily="34" charset="0"/>
                </a:endParaRPr>
              </a:p>
              <a:p>
                <a:pPr marL="0" indent="0">
                  <a:buNone/>
                </a:pPr>
                <a:r>
                  <a:rPr lang="en-US" sz="2400" dirty="0">
                    <a:latin typeface="Arial" panose="020B0604020202020204" pitchFamily="34" charset="0"/>
                    <a:cs typeface="Arial" panose="020B0604020202020204" pitchFamily="34" charset="0"/>
                  </a:rPr>
                  <a:t>Eigen Matrix </a:t>
                </a:r>
                <a14:m>
                  <m:oMath xmlns:m="http://schemas.openxmlformats.org/officeDocument/2006/math">
                    <m:r>
                      <a:rPr lang="en-US" sz="2400" b="0" i="1" smtClean="0">
                        <a:latin typeface="Cambria Math" panose="02040503050406030204" pitchFamily="18" charset="0"/>
                        <a:cs typeface="Arial" panose="020B0604020202020204" pitchFamily="34" charset="0"/>
                      </a:rPr>
                      <m:t>𝑉</m:t>
                    </m:r>
                    <m:r>
                      <a:rPr lang="en-US" sz="2400" b="0" i="1" smtClean="0">
                        <a:latin typeface="Cambria Math" panose="02040503050406030204" pitchFamily="18" charset="0"/>
                        <a:cs typeface="Arial" panose="020B0604020202020204" pitchFamily="34" charset="0"/>
                      </a:rPr>
                      <m:t>=</m:t>
                    </m:r>
                    <m:d>
                      <m:dPr>
                        <m:begChr m:val="["/>
                        <m:endChr m:val="]"/>
                        <m:ctrlPr>
                          <a:rPr lang="en-US" sz="2400" b="0" i="1" smtClean="0">
                            <a:latin typeface="Cambria Math" panose="02040503050406030204" pitchFamily="18" charset="0"/>
                            <a:cs typeface="Arial" panose="020B0604020202020204" pitchFamily="34" charset="0"/>
                          </a:rPr>
                        </m:ctrlPr>
                      </m:dPr>
                      <m:e>
                        <m:m>
                          <m:mPr>
                            <m:mcs>
                              <m:mc>
                                <m:mcPr>
                                  <m:count m:val="2"/>
                                  <m:mcJc m:val="center"/>
                                </m:mcPr>
                              </m:mc>
                            </m:mcs>
                            <m:ctrlPr>
                              <a:rPr lang="en-US" sz="2400" b="0" i="1" smtClean="0">
                                <a:latin typeface="Cambria Math" panose="02040503050406030204" pitchFamily="18" charset="0"/>
                                <a:cs typeface="Arial" panose="020B0604020202020204" pitchFamily="34" charset="0"/>
                              </a:rPr>
                            </m:ctrlPr>
                          </m:mPr>
                          <m:mr>
                            <m:e>
                              <m:sSub>
                                <m:sSubPr>
                                  <m:ctrlPr>
                                    <a:rPr lang="en-US" sz="2400" b="0" i="1" smtClean="0">
                                      <a:latin typeface="Cambria Math" panose="02040503050406030204" pitchFamily="18" charset="0"/>
                                      <a:cs typeface="Arial" panose="020B0604020202020204" pitchFamily="34" charset="0"/>
                                    </a:rPr>
                                  </m:ctrlPr>
                                </m:sSubPr>
                                <m:e>
                                  <m:r>
                                    <a:rPr lang="en-US" sz="2400" b="0" i="1" smtClean="0">
                                      <a:latin typeface="Cambria Math" panose="02040503050406030204" pitchFamily="18" charset="0"/>
                                      <a:cs typeface="Arial" panose="020B0604020202020204" pitchFamily="34" charset="0"/>
                                    </a:rPr>
                                    <m:t>𝑣</m:t>
                                  </m:r>
                                </m:e>
                                <m:sub>
                                  <m:r>
                                    <a:rPr lang="en-US" sz="2400" b="0" i="1" smtClean="0">
                                      <a:latin typeface="Cambria Math" panose="02040503050406030204" pitchFamily="18" charset="0"/>
                                      <a:cs typeface="Arial" panose="020B0604020202020204" pitchFamily="34" charset="0"/>
                                    </a:rPr>
                                    <m:t>1</m:t>
                                  </m:r>
                                </m:sub>
                              </m:sSub>
                            </m:e>
                            <m:e>
                              <m:sSub>
                                <m:sSubPr>
                                  <m:ctrlPr>
                                    <a:rPr lang="en-US" sz="2400" b="0" i="1" smtClean="0">
                                      <a:latin typeface="Cambria Math" panose="02040503050406030204" pitchFamily="18" charset="0"/>
                                      <a:cs typeface="Arial" panose="020B0604020202020204" pitchFamily="34" charset="0"/>
                                    </a:rPr>
                                  </m:ctrlPr>
                                </m:sSubPr>
                                <m:e>
                                  <m:r>
                                    <a:rPr lang="en-US" sz="2400" b="0" i="1" smtClean="0">
                                      <a:latin typeface="Cambria Math" panose="02040503050406030204" pitchFamily="18" charset="0"/>
                                      <a:cs typeface="Arial" panose="020B0604020202020204" pitchFamily="34" charset="0"/>
                                    </a:rPr>
                                    <m:t>𝑣</m:t>
                                  </m:r>
                                </m:e>
                                <m:sub>
                                  <m:r>
                                    <a:rPr lang="en-US" sz="2400" b="0" i="1" smtClean="0">
                                      <a:latin typeface="Cambria Math" panose="02040503050406030204" pitchFamily="18" charset="0"/>
                                      <a:cs typeface="Arial" panose="020B0604020202020204" pitchFamily="34" charset="0"/>
                                    </a:rPr>
                                    <m:t>2</m:t>
                                  </m:r>
                                </m:sub>
                              </m:sSub>
                            </m:e>
                          </m:mr>
                        </m:m>
                      </m:e>
                    </m:d>
                    <m:r>
                      <a:rPr lang="en-US" sz="2400" b="0" i="1" smtClean="0">
                        <a:latin typeface="Cambria Math" panose="02040503050406030204" pitchFamily="18" charset="0"/>
                        <a:cs typeface="Arial" panose="020B0604020202020204" pitchFamily="34" charset="0"/>
                      </a:rPr>
                      <m:t>=</m:t>
                    </m:r>
                    <m:d>
                      <m:dPr>
                        <m:begChr m:val="["/>
                        <m:endChr m:val="]"/>
                        <m:ctrlPr>
                          <a:rPr lang="en-US" sz="2400" b="0" i="1" smtClean="0">
                            <a:latin typeface="Cambria Math" panose="02040503050406030204" pitchFamily="18" charset="0"/>
                            <a:cs typeface="Arial" panose="020B0604020202020204" pitchFamily="34" charset="0"/>
                          </a:rPr>
                        </m:ctrlPr>
                      </m:dPr>
                      <m:e>
                        <m:m>
                          <m:mPr>
                            <m:mcs>
                              <m:mc>
                                <m:mcPr>
                                  <m:count m:val="2"/>
                                  <m:mcJc m:val="center"/>
                                </m:mcPr>
                              </m:mc>
                            </m:mcs>
                            <m:ctrlPr>
                              <a:rPr lang="en-US" sz="2400" b="0" i="1" smtClean="0">
                                <a:latin typeface="Cambria Math" panose="02040503050406030204" pitchFamily="18" charset="0"/>
                                <a:cs typeface="Arial" panose="020B0604020202020204" pitchFamily="34" charset="0"/>
                              </a:rPr>
                            </m:ctrlPr>
                          </m:mPr>
                          <m:mr>
                            <m:e>
                              <m:r>
                                <m:rPr>
                                  <m:brk m:alnAt="7"/>
                                </m:rPr>
                                <a:rPr lang="en-US" sz="2400" b="0" i="1" smtClean="0">
                                  <a:latin typeface="Cambria Math" panose="02040503050406030204" pitchFamily="18" charset="0"/>
                                  <a:cs typeface="Arial" panose="020B0604020202020204" pitchFamily="34" charset="0"/>
                                </a:rPr>
                                <m:t>1</m:t>
                              </m:r>
                            </m:e>
                            <m:e>
                              <m:r>
                                <a:rPr lang="en-US" sz="2400" b="0" i="1" smtClean="0">
                                  <a:latin typeface="Cambria Math" panose="02040503050406030204" pitchFamily="18" charset="0"/>
                                  <a:cs typeface="Arial" panose="020B0604020202020204" pitchFamily="34" charset="0"/>
                                </a:rPr>
                                <m:t>1</m:t>
                              </m:r>
                            </m:e>
                          </m:mr>
                          <m:mr>
                            <m:e>
                              <m:r>
                                <a:rPr lang="en-US" sz="2400" b="0" i="1" smtClean="0">
                                  <a:latin typeface="Cambria Math" panose="02040503050406030204" pitchFamily="18" charset="0"/>
                                  <a:cs typeface="Arial" panose="020B0604020202020204" pitchFamily="34" charset="0"/>
                                </a:rPr>
                                <m:t>1</m:t>
                              </m:r>
                            </m:e>
                            <m:e>
                              <m:r>
                                <a:rPr lang="en-US" sz="2400" b="0" i="1" smtClean="0">
                                  <a:latin typeface="Cambria Math" panose="02040503050406030204" pitchFamily="18" charset="0"/>
                                  <a:cs typeface="Arial" panose="020B0604020202020204" pitchFamily="34" charset="0"/>
                                </a:rPr>
                                <m:t>−2</m:t>
                              </m:r>
                            </m:e>
                          </m:mr>
                        </m:m>
                      </m:e>
                    </m:d>
                  </m:oMath>
                </a14:m>
                <a:endParaRPr lang="en-US" sz="2400" dirty="0">
                  <a:latin typeface="Arial" panose="020B0604020202020204" pitchFamily="34" charset="0"/>
                  <a:cs typeface="Arial" panose="020B0604020202020204" pitchFamily="34" charset="0"/>
                </a:endParaRPr>
              </a:p>
              <a:p>
                <a:pPr marL="0" indent="0">
                  <a:buNone/>
                </a:pPr>
                <a:r>
                  <a:rPr lang="en-US" sz="2400" b="1" dirty="0">
                    <a:latin typeface="Arial" panose="020B0604020202020204" pitchFamily="34" charset="0"/>
                    <a:cs typeface="Arial" panose="020B0604020202020204" pitchFamily="34" charset="0"/>
                  </a:rPr>
                  <a:t>Step 4 Form the Diagonal Matrix Λ:</a:t>
                </a:r>
              </a:p>
              <a:p>
                <a:pPr marL="0" indent="0">
                  <a:buNone/>
                </a:pPr>
                <a:r>
                  <a:rPr lang="en-US" sz="2400" dirty="0">
                    <a:latin typeface="Arial" panose="020B0604020202020204" pitchFamily="34" charset="0"/>
                    <a:cs typeface="Arial" panose="020B0604020202020204" pitchFamily="34" charset="0"/>
                  </a:rPr>
                  <a:t>Diagonal Matrix Λ=</a:t>
                </a:r>
                <a14:m>
                  <m:oMath xmlns:m="http://schemas.openxmlformats.org/officeDocument/2006/math">
                    <m:d>
                      <m:dPr>
                        <m:begChr m:val="["/>
                        <m:endChr m:val="]"/>
                        <m:ctrlPr>
                          <a:rPr lang="en-US" sz="2400" i="1" smtClean="0">
                            <a:latin typeface="Cambria Math" panose="02040503050406030204" pitchFamily="18" charset="0"/>
                            <a:cs typeface="Arial" panose="020B0604020202020204" pitchFamily="34" charset="0"/>
                          </a:rPr>
                        </m:ctrlPr>
                      </m:dPr>
                      <m:e>
                        <m:m>
                          <m:mPr>
                            <m:mcs>
                              <m:mc>
                                <m:mcPr>
                                  <m:count m:val="2"/>
                                  <m:mcJc m:val="center"/>
                                </m:mcPr>
                              </m:mc>
                            </m:mcs>
                            <m:ctrlPr>
                              <a:rPr lang="en-US" sz="2400" i="1" smtClean="0">
                                <a:latin typeface="Cambria Math" panose="02040503050406030204" pitchFamily="18" charset="0"/>
                                <a:cs typeface="Arial" panose="020B0604020202020204" pitchFamily="34" charset="0"/>
                              </a:rPr>
                            </m:ctrlPr>
                          </m:mPr>
                          <m:mr>
                            <m:e>
                              <m:r>
                                <m:rPr>
                                  <m:brk m:alnAt="7"/>
                                </m:rPr>
                                <a:rPr lang="en-US" sz="2400" b="0" i="1" smtClean="0">
                                  <a:latin typeface="Cambria Math" panose="02040503050406030204" pitchFamily="18" charset="0"/>
                                  <a:cs typeface="Arial" panose="020B0604020202020204" pitchFamily="34" charset="0"/>
                                </a:rPr>
                                <m:t>5</m:t>
                              </m:r>
                            </m:e>
                            <m:e>
                              <m:r>
                                <a:rPr lang="en-US" sz="2400" b="0" i="1" smtClean="0">
                                  <a:latin typeface="Cambria Math" panose="02040503050406030204" pitchFamily="18" charset="0"/>
                                  <a:cs typeface="Arial" panose="020B0604020202020204" pitchFamily="34" charset="0"/>
                                </a:rPr>
                                <m:t>0</m:t>
                              </m:r>
                            </m:e>
                          </m:mr>
                          <m:mr>
                            <m:e>
                              <m:r>
                                <a:rPr lang="en-US" sz="2400" b="0" i="1" smtClean="0">
                                  <a:latin typeface="Cambria Math" panose="02040503050406030204" pitchFamily="18" charset="0"/>
                                  <a:cs typeface="Arial" panose="020B0604020202020204" pitchFamily="34" charset="0"/>
                                </a:rPr>
                                <m:t>0</m:t>
                              </m:r>
                            </m:e>
                            <m:e>
                              <m:r>
                                <a:rPr lang="en-US" sz="2400" b="0" i="1" smtClean="0">
                                  <a:latin typeface="Cambria Math" panose="02040503050406030204" pitchFamily="18" charset="0"/>
                                  <a:cs typeface="Arial" panose="020B0604020202020204" pitchFamily="34" charset="0"/>
                                </a:rPr>
                                <m:t>2</m:t>
                              </m:r>
                            </m:e>
                          </m:mr>
                        </m:m>
                      </m:e>
                    </m:d>
                  </m:oMath>
                </a14:m>
                <a:endParaRPr lang="en-US" sz="2400" dirty="0">
                  <a:latin typeface="Arial" panose="020B0604020202020204" pitchFamily="34" charset="0"/>
                  <a:cs typeface="Arial" panose="020B0604020202020204" pitchFamily="34" charset="0"/>
                </a:endParaRPr>
              </a:p>
              <a:p>
                <a:pPr marL="0" indent="0">
                  <a:buNone/>
                </a:pPr>
                <a:r>
                  <a:rPr lang="en-US" sz="2400" b="1" dirty="0">
                    <a:latin typeface="Arial" panose="020B0604020202020204" pitchFamily="34" charset="0"/>
                    <a:cs typeface="Arial" panose="020B0604020202020204" pitchFamily="34" charset="0"/>
                  </a:rPr>
                  <a:t>Step 5: Calculate the Inverse of V:</a:t>
                </a:r>
                <a:endParaRPr lang="en-US" sz="2400" dirty="0">
                  <a:latin typeface="Arial" panose="020B0604020202020204" pitchFamily="34" charset="0"/>
                  <a:cs typeface="Arial" panose="020B0604020202020204" pitchFamily="34" charset="0"/>
                </a:endParaRPr>
              </a:p>
              <a:p>
                <a:pPr marL="0" indent="0">
                  <a:buNone/>
                </a:pPr>
                <a:r>
                  <a:rPr lang="en-US" sz="2400" dirty="0">
                    <a:latin typeface="Arial" panose="020B0604020202020204" pitchFamily="34" charset="0"/>
                    <a:cs typeface="Arial" panose="020B0604020202020204" pitchFamily="34" charset="0"/>
                  </a:rPr>
                  <a:t>Inverse of V = </a:t>
                </a:r>
                <a14:m>
                  <m:oMath xmlns:m="http://schemas.openxmlformats.org/officeDocument/2006/math">
                    <m:sSup>
                      <m:sSupPr>
                        <m:ctrlPr>
                          <a:rPr lang="en-US" sz="2400" i="1" smtClean="0">
                            <a:latin typeface="Cambria Math" panose="02040503050406030204" pitchFamily="18" charset="0"/>
                            <a:cs typeface="Arial" panose="020B0604020202020204" pitchFamily="34" charset="0"/>
                          </a:rPr>
                        </m:ctrlPr>
                      </m:sSupPr>
                      <m:e>
                        <m:r>
                          <a:rPr lang="en-US" sz="2400" b="0" i="1" smtClean="0">
                            <a:latin typeface="Cambria Math" panose="02040503050406030204" pitchFamily="18" charset="0"/>
                            <a:cs typeface="Arial" panose="020B0604020202020204" pitchFamily="34" charset="0"/>
                          </a:rPr>
                          <m:t>𝑉</m:t>
                        </m:r>
                      </m:e>
                      <m:sup>
                        <m:r>
                          <a:rPr lang="en-US" sz="2400" b="0" i="1" smtClean="0">
                            <a:latin typeface="Cambria Math" panose="02040503050406030204" pitchFamily="18" charset="0"/>
                            <a:cs typeface="Arial" panose="020B0604020202020204" pitchFamily="34" charset="0"/>
                          </a:rPr>
                          <m:t>−1</m:t>
                        </m:r>
                      </m:sup>
                    </m:sSup>
                    <m:r>
                      <a:rPr lang="en-US" sz="2400" b="0" i="1" smtClean="0">
                        <a:latin typeface="Cambria Math" panose="02040503050406030204" pitchFamily="18" charset="0"/>
                        <a:cs typeface="Arial" panose="020B0604020202020204" pitchFamily="34" charset="0"/>
                      </a:rPr>
                      <m:t>=</m:t>
                    </m:r>
                    <m:f>
                      <m:fPr>
                        <m:ctrlPr>
                          <a:rPr lang="en-US" sz="2400" b="0" i="1" smtClean="0">
                            <a:latin typeface="Cambria Math" panose="02040503050406030204" pitchFamily="18" charset="0"/>
                            <a:cs typeface="Arial" panose="020B0604020202020204" pitchFamily="34" charset="0"/>
                          </a:rPr>
                        </m:ctrlPr>
                      </m:fPr>
                      <m:num>
                        <m:r>
                          <a:rPr lang="en-US" sz="2400" b="0" i="1" smtClean="0">
                            <a:latin typeface="Cambria Math" panose="02040503050406030204" pitchFamily="18" charset="0"/>
                            <a:cs typeface="Arial" panose="020B0604020202020204" pitchFamily="34" charset="0"/>
                          </a:rPr>
                          <m:t>1</m:t>
                        </m:r>
                      </m:num>
                      <m:den>
                        <m:r>
                          <a:rPr lang="en-US" sz="2400" b="0" i="1" smtClean="0">
                            <a:latin typeface="Cambria Math" panose="02040503050406030204" pitchFamily="18" charset="0"/>
                            <a:cs typeface="Arial" panose="020B0604020202020204" pitchFamily="34" charset="0"/>
                          </a:rPr>
                          <m:t>3</m:t>
                        </m:r>
                      </m:den>
                    </m:f>
                    <m:d>
                      <m:dPr>
                        <m:begChr m:val="["/>
                        <m:endChr m:val="]"/>
                        <m:ctrlPr>
                          <a:rPr lang="en-US" sz="2400" b="0" i="1" smtClean="0">
                            <a:latin typeface="Cambria Math" panose="02040503050406030204" pitchFamily="18" charset="0"/>
                            <a:cs typeface="Arial" panose="020B0604020202020204" pitchFamily="34" charset="0"/>
                          </a:rPr>
                        </m:ctrlPr>
                      </m:dPr>
                      <m:e>
                        <m:m>
                          <m:mPr>
                            <m:mcs>
                              <m:mc>
                                <m:mcPr>
                                  <m:count m:val="2"/>
                                  <m:mcJc m:val="center"/>
                                </m:mcPr>
                              </m:mc>
                            </m:mcs>
                            <m:ctrlPr>
                              <a:rPr lang="en-US" sz="2400" b="0" i="1" smtClean="0">
                                <a:latin typeface="Cambria Math" panose="02040503050406030204" pitchFamily="18" charset="0"/>
                                <a:cs typeface="Arial" panose="020B0604020202020204" pitchFamily="34" charset="0"/>
                              </a:rPr>
                            </m:ctrlPr>
                          </m:mPr>
                          <m:mr>
                            <m:e>
                              <m:r>
                                <m:rPr>
                                  <m:brk m:alnAt="7"/>
                                </m:rPr>
                                <a:rPr lang="en-US" sz="2400" b="0" i="1" smtClean="0">
                                  <a:latin typeface="Cambria Math" panose="02040503050406030204" pitchFamily="18" charset="0"/>
                                  <a:cs typeface="Arial" panose="020B0604020202020204" pitchFamily="34" charset="0"/>
                                </a:rPr>
                                <m:t>2</m:t>
                              </m:r>
                            </m:e>
                            <m:e>
                              <m:r>
                                <a:rPr lang="en-US" sz="2400" b="0" i="1" smtClean="0">
                                  <a:latin typeface="Cambria Math" panose="02040503050406030204" pitchFamily="18" charset="0"/>
                                  <a:cs typeface="Arial" panose="020B0604020202020204" pitchFamily="34" charset="0"/>
                                </a:rPr>
                                <m:t>1</m:t>
                              </m:r>
                            </m:e>
                          </m:mr>
                          <m:mr>
                            <m:e>
                              <m:r>
                                <a:rPr lang="en-US" sz="2400" b="0" i="1" smtClean="0">
                                  <a:latin typeface="Cambria Math" panose="02040503050406030204" pitchFamily="18" charset="0"/>
                                  <a:cs typeface="Arial" panose="020B0604020202020204" pitchFamily="34" charset="0"/>
                                </a:rPr>
                                <m:t>1</m:t>
                              </m:r>
                            </m:e>
                            <m:e>
                              <m:r>
                                <a:rPr lang="en-US" sz="2400" b="0" i="1" smtClean="0">
                                  <a:latin typeface="Cambria Math" panose="02040503050406030204" pitchFamily="18" charset="0"/>
                                  <a:cs typeface="Arial" panose="020B0604020202020204" pitchFamily="34" charset="0"/>
                                </a:rPr>
                                <m:t>−1</m:t>
                              </m:r>
                            </m:e>
                          </m:mr>
                        </m:m>
                      </m:e>
                    </m:d>
                  </m:oMath>
                </a14:m>
                <a:endParaRPr lang="en-US" sz="2400" dirty="0">
                  <a:latin typeface="Arial" panose="020B0604020202020204" pitchFamily="34" charset="0"/>
                  <a:cs typeface="Arial" panose="020B0604020202020204" pitchFamily="34" charset="0"/>
                </a:endParaRPr>
              </a:p>
              <a:p>
                <a:pPr marL="0" indent="0">
                  <a:buNone/>
                </a:pPr>
                <a:r>
                  <a:rPr lang="en-US" sz="2400" b="1" dirty="0">
                    <a:latin typeface="Arial" panose="020B0604020202020204" pitchFamily="34" charset="0"/>
                    <a:cs typeface="Arial" panose="020B0604020202020204" pitchFamily="34" charset="0"/>
                  </a:rPr>
                  <a:t>Conclusion: </a:t>
                </a:r>
                <a14:m>
                  <m:oMath xmlns:m="http://schemas.openxmlformats.org/officeDocument/2006/math">
                    <m:r>
                      <a:rPr lang="en-US" sz="2400" b="0" i="1" smtClean="0">
                        <a:latin typeface="Cambria Math" panose="02040503050406030204" pitchFamily="18" charset="0"/>
                        <a:cs typeface="Arial" panose="020B0604020202020204" pitchFamily="34" charset="0"/>
                      </a:rPr>
                      <m:t>𝐴</m:t>
                    </m:r>
                    <m:r>
                      <a:rPr lang="en-US" sz="2400" b="0" i="1" smtClean="0">
                        <a:latin typeface="Cambria Math" panose="02040503050406030204" pitchFamily="18" charset="0"/>
                        <a:cs typeface="Arial" panose="020B0604020202020204" pitchFamily="34" charset="0"/>
                      </a:rPr>
                      <m:t>=</m:t>
                    </m:r>
                    <m:r>
                      <a:rPr lang="en-US" sz="2400" b="0" i="1" smtClean="0">
                        <a:latin typeface="Cambria Math" panose="02040503050406030204" pitchFamily="18" charset="0"/>
                        <a:cs typeface="Arial" panose="020B0604020202020204" pitchFamily="34" charset="0"/>
                      </a:rPr>
                      <m:t>𝑉</m:t>
                    </m:r>
                    <m:sSup>
                      <m:sSupPr>
                        <m:ctrlPr>
                          <a:rPr lang="en-US" sz="2400" b="0" i="1" smtClean="0">
                            <a:latin typeface="Cambria Math" panose="02040503050406030204" pitchFamily="18" charset="0"/>
                            <a:cs typeface="Arial" panose="020B0604020202020204" pitchFamily="34" charset="0"/>
                          </a:rPr>
                        </m:ctrlPr>
                      </m:sSupPr>
                      <m:e>
                        <m:r>
                          <m:rPr>
                            <m:nor/>
                          </m:rPr>
                          <a:rPr lang="en-US" sz="2400" dirty="0">
                            <a:latin typeface="Arial" panose="020B0604020202020204" pitchFamily="34" charset="0"/>
                            <a:cs typeface="Arial" panose="020B0604020202020204" pitchFamily="34" charset="0"/>
                          </a:rPr>
                          <m:t>Λ</m:t>
                        </m:r>
                        <m:r>
                          <a:rPr lang="en-US" sz="2400" b="0" i="1" smtClean="0">
                            <a:latin typeface="Cambria Math" panose="02040503050406030204" pitchFamily="18" charset="0"/>
                            <a:cs typeface="Arial" panose="020B0604020202020204" pitchFamily="34" charset="0"/>
                          </a:rPr>
                          <m:t>𝑉</m:t>
                        </m:r>
                      </m:e>
                      <m:sup>
                        <m:r>
                          <a:rPr lang="en-US" sz="2400" b="0" i="1" smtClean="0">
                            <a:latin typeface="Cambria Math" panose="02040503050406030204" pitchFamily="18" charset="0"/>
                            <a:cs typeface="Arial" panose="020B0604020202020204" pitchFamily="34" charset="0"/>
                          </a:rPr>
                          <m:t>−1</m:t>
                        </m:r>
                      </m:sup>
                    </m:sSup>
                  </m:oMath>
                </a14:m>
                <a:endParaRPr lang="en-US" sz="2400" b="0" i="1" dirty="0">
                  <a:latin typeface="Cambria Math" panose="02040503050406030204" pitchFamily="18" charset="0"/>
                  <a:cs typeface="Arial" panose="020B0604020202020204" pitchFamily="34" charset="0"/>
                </a:endParaRPr>
              </a:p>
              <a:p>
                <a:pPr marL="0" indent="0">
                  <a:buNone/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d>
                        <m:dPr>
                          <m:begChr m:val="["/>
                          <m:endChr m:val="]"/>
                          <m:ctrlPr>
                            <a:rPr lang="en-US" sz="2400" i="1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m>
                            <m:mPr>
                              <m:mcs>
                                <m:mc>
                                  <m:mcPr>
                                    <m:count m:val="2"/>
                                    <m:mcJc m:val="center"/>
                                  </m:mcPr>
                                </m:mc>
                              </m:mcs>
                              <m:ctrlPr>
                                <a:rPr lang="en-US" sz="2400" i="1">
                                  <a:latin typeface="Cambria Math" panose="02040503050406030204" pitchFamily="18" charset="0"/>
                                </a:rPr>
                              </m:ctrlPr>
                            </m:mPr>
                            <m:mr>
                              <m:e>
                                <m:r>
                                  <m:rPr>
                                    <m:brk m:alnAt="7"/>
                                  </m:rPr>
                                  <a:rPr lang="en-US" sz="2400" i="1">
                                    <a:latin typeface="Cambria Math" panose="02040503050406030204" pitchFamily="18" charset="0"/>
                                  </a:rPr>
                                  <m:t>4</m:t>
                                </m:r>
                              </m:e>
                              <m:e>
                                <m:r>
                                  <a:rPr lang="en-US" sz="2400" i="1">
                                    <a:latin typeface="Cambria Math" panose="02040503050406030204" pitchFamily="18" charset="0"/>
                                  </a:rPr>
                                  <m:t>1</m:t>
                                </m:r>
                              </m:e>
                            </m:mr>
                            <m:mr>
                              <m:e>
                                <m:r>
                                  <a:rPr lang="en-US" sz="2400" i="1">
                                    <a:latin typeface="Cambria Math" panose="02040503050406030204" pitchFamily="18" charset="0"/>
                                  </a:rPr>
                                  <m:t>2</m:t>
                                </m:r>
                              </m:e>
                              <m:e>
                                <m:r>
                                  <a:rPr lang="en-US" sz="2400" i="1">
                                    <a:latin typeface="Cambria Math" panose="02040503050406030204" pitchFamily="18" charset="0"/>
                                  </a:rPr>
                                  <m:t>3</m:t>
                                </m:r>
                              </m:e>
                            </m:mr>
                          </m:m>
                        </m:e>
                      </m:d>
                      <m:r>
                        <a:rPr lang="en-US" sz="2400" b="0" i="1" smtClean="0">
                          <a:latin typeface="Cambria Math" panose="02040503050406030204" pitchFamily="18" charset="0"/>
                        </a:rPr>
                        <m:t>=</m:t>
                      </m:r>
                      <m:d>
                        <m:dPr>
                          <m:begChr m:val="["/>
                          <m:endChr m:val="]"/>
                          <m:ctrlPr>
                            <a:rPr lang="en-US" sz="2400" i="1">
                              <a:latin typeface="Cambria Math" panose="02040503050406030204" pitchFamily="18" charset="0"/>
                              <a:cs typeface="Arial" panose="020B0604020202020204" pitchFamily="34" charset="0"/>
                            </a:rPr>
                          </m:ctrlPr>
                        </m:dPr>
                        <m:e>
                          <m:m>
                            <m:mPr>
                              <m:mcs>
                                <m:mc>
                                  <m:mcPr>
                                    <m:count m:val="2"/>
                                    <m:mcJc m:val="center"/>
                                  </m:mcPr>
                                </m:mc>
                              </m:mcs>
                              <m:ctrlPr>
                                <a:rPr lang="en-US" sz="2400" i="1">
                                  <a:latin typeface="Cambria Math" panose="02040503050406030204" pitchFamily="18" charset="0"/>
                                  <a:cs typeface="Arial" panose="020B0604020202020204" pitchFamily="34" charset="0"/>
                                </a:rPr>
                              </m:ctrlPr>
                            </m:mPr>
                            <m:mr>
                              <m:e>
                                <m:r>
                                  <m:rPr>
                                    <m:brk m:alnAt="7"/>
                                  </m:rPr>
                                  <a:rPr lang="en-US" sz="2400" i="1">
                                    <a:latin typeface="Cambria Math" panose="02040503050406030204" pitchFamily="18" charset="0"/>
                                    <a:cs typeface="Arial" panose="020B0604020202020204" pitchFamily="34" charset="0"/>
                                  </a:rPr>
                                  <m:t>1</m:t>
                                </m:r>
                              </m:e>
                              <m:e>
                                <m:r>
                                  <a:rPr lang="en-US" sz="2400" i="1">
                                    <a:latin typeface="Cambria Math" panose="02040503050406030204" pitchFamily="18" charset="0"/>
                                    <a:cs typeface="Arial" panose="020B0604020202020204" pitchFamily="34" charset="0"/>
                                  </a:rPr>
                                  <m:t>1</m:t>
                                </m:r>
                              </m:e>
                            </m:mr>
                            <m:mr>
                              <m:e>
                                <m:r>
                                  <a:rPr lang="en-US" sz="2400" i="1">
                                    <a:latin typeface="Cambria Math" panose="02040503050406030204" pitchFamily="18" charset="0"/>
                                    <a:cs typeface="Arial" panose="020B0604020202020204" pitchFamily="34" charset="0"/>
                                  </a:rPr>
                                  <m:t>1</m:t>
                                </m:r>
                              </m:e>
                              <m:e>
                                <m:r>
                                  <a:rPr lang="en-US" sz="2400" i="1">
                                    <a:latin typeface="Cambria Math" panose="02040503050406030204" pitchFamily="18" charset="0"/>
                                    <a:cs typeface="Arial" panose="020B0604020202020204" pitchFamily="34" charset="0"/>
                                  </a:rPr>
                                  <m:t>−2</m:t>
                                </m:r>
                              </m:e>
                            </m:mr>
                          </m:m>
                        </m:e>
                      </m:d>
                      <m:r>
                        <a:rPr lang="en-US" sz="2400" b="0" i="1" smtClean="0">
                          <a:latin typeface="Cambria Math" panose="02040503050406030204" pitchFamily="18" charset="0"/>
                          <a:cs typeface="Arial" panose="020B0604020202020204" pitchFamily="34" charset="0"/>
                        </a:rPr>
                        <m:t>∗</m:t>
                      </m:r>
                      <m:d>
                        <m:dPr>
                          <m:begChr m:val="["/>
                          <m:endChr m:val="]"/>
                          <m:ctrlPr>
                            <a:rPr lang="en-US" sz="2400" i="1">
                              <a:latin typeface="Cambria Math" panose="02040503050406030204" pitchFamily="18" charset="0"/>
                              <a:cs typeface="Arial" panose="020B0604020202020204" pitchFamily="34" charset="0"/>
                            </a:rPr>
                          </m:ctrlPr>
                        </m:dPr>
                        <m:e>
                          <m:m>
                            <m:mPr>
                              <m:mcs>
                                <m:mc>
                                  <m:mcPr>
                                    <m:count m:val="2"/>
                                    <m:mcJc m:val="center"/>
                                  </m:mcPr>
                                </m:mc>
                              </m:mcs>
                              <m:ctrlPr>
                                <a:rPr lang="en-US" sz="2400" i="1">
                                  <a:latin typeface="Cambria Math" panose="02040503050406030204" pitchFamily="18" charset="0"/>
                                  <a:cs typeface="Arial" panose="020B0604020202020204" pitchFamily="34" charset="0"/>
                                </a:rPr>
                              </m:ctrlPr>
                            </m:mPr>
                            <m:mr>
                              <m:e>
                                <m:r>
                                  <m:rPr>
                                    <m:brk m:alnAt="7"/>
                                  </m:rPr>
                                  <a:rPr lang="en-US" sz="2400" i="1">
                                    <a:latin typeface="Cambria Math" panose="02040503050406030204" pitchFamily="18" charset="0"/>
                                    <a:cs typeface="Arial" panose="020B0604020202020204" pitchFamily="34" charset="0"/>
                                  </a:rPr>
                                  <m:t>5</m:t>
                                </m:r>
                              </m:e>
                              <m:e>
                                <m:r>
                                  <a:rPr lang="en-US" sz="2400" i="1">
                                    <a:latin typeface="Cambria Math" panose="02040503050406030204" pitchFamily="18" charset="0"/>
                                    <a:cs typeface="Arial" panose="020B0604020202020204" pitchFamily="34" charset="0"/>
                                  </a:rPr>
                                  <m:t>0</m:t>
                                </m:r>
                              </m:e>
                            </m:mr>
                            <m:mr>
                              <m:e>
                                <m:r>
                                  <a:rPr lang="en-US" sz="2400" i="1">
                                    <a:latin typeface="Cambria Math" panose="02040503050406030204" pitchFamily="18" charset="0"/>
                                    <a:cs typeface="Arial" panose="020B0604020202020204" pitchFamily="34" charset="0"/>
                                  </a:rPr>
                                  <m:t>0</m:t>
                                </m:r>
                              </m:e>
                              <m:e>
                                <m:r>
                                  <a:rPr lang="en-US" sz="2400" i="1">
                                    <a:latin typeface="Cambria Math" panose="02040503050406030204" pitchFamily="18" charset="0"/>
                                    <a:cs typeface="Arial" panose="020B0604020202020204" pitchFamily="34" charset="0"/>
                                  </a:rPr>
                                  <m:t>2</m:t>
                                </m:r>
                              </m:e>
                            </m:mr>
                          </m:m>
                        </m:e>
                      </m:d>
                      <m:r>
                        <a:rPr lang="en-US" sz="2400" b="0" i="1" smtClean="0">
                          <a:latin typeface="Cambria Math" panose="02040503050406030204" pitchFamily="18" charset="0"/>
                          <a:cs typeface="Arial" panose="020B0604020202020204" pitchFamily="34" charset="0"/>
                        </a:rPr>
                        <m:t>∗</m:t>
                      </m:r>
                      <m:f>
                        <m:fPr>
                          <m:ctrlPr>
                            <a:rPr lang="en-US" sz="2400" i="1">
                              <a:latin typeface="Cambria Math" panose="02040503050406030204" pitchFamily="18" charset="0"/>
                              <a:cs typeface="Arial" panose="020B0604020202020204" pitchFamily="34" charset="0"/>
                            </a:rPr>
                          </m:ctrlPr>
                        </m:fPr>
                        <m:num>
                          <m:r>
                            <a:rPr lang="en-US" sz="2400" i="1">
                              <a:latin typeface="Cambria Math" panose="02040503050406030204" pitchFamily="18" charset="0"/>
                              <a:cs typeface="Arial" panose="020B0604020202020204" pitchFamily="34" charset="0"/>
                            </a:rPr>
                            <m:t>1</m:t>
                          </m:r>
                        </m:num>
                        <m:den>
                          <m:r>
                            <a:rPr lang="en-US" sz="2400" i="1">
                              <a:latin typeface="Cambria Math" panose="02040503050406030204" pitchFamily="18" charset="0"/>
                              <a:cs typeface="Arial" panose="020B0604020202020204" pitchFamily="34" charset="0"/>
                            </a:rPr>
                            <m:t>3</m:t>
                          </m:r>
                        </m:den>
                      </m:f>
                      <m:d>
                        <m:dPr>
                          <m:begChr m:val="["/>
                          <m:endChr m:val="]"/>
                          <m:ctrlPr>
                            <a:rPr lang="en-US" sz="2400" i="1">
                              <a:latin typeface="Cambria Math" panose="02040503050406030204" pitchFamily="18" charset="0"/>
                              <a:cs typeface="Arial" panose="020B0604020202020204" pitchFamily="34" charset="0"/>
                            </a:rPr>
                          </m:ctrlPr>
                        </m:dPr>
                        <m:e>
                          <m:m>
                            <m:mPr>
                              <m:mcs>
                                <m:mc>
                                  <m:mcPr>
                                    <m:count m:val="2"/>
                                    <m:mcJc m:val="center"/>
                                  </m:mcPr>
                                </m:mc>
                              </m:mcs>
                              <m:ctrlPr>
                                <a:rPr lang="en-US" sz="2400" i="1">
                                  <a:latin typeface="Cambria Math" panose="02040503050406030204" pitchFamily="18" charset="0"/>
                                  <a:cs typeface="Arial" panose="020B0604020202020204" pitchFamily="34" charset="0"/>
                                </a:rPr>
                              </m:ctrlPr>
                            </m:mPr>
                            <m:mr>
                              <m:e>
                                <m:r>
                                  <m:rPr>
                                    <m:brk m:alnAt="7"/>
                                  </m:rPr>
                                  <a:rPr lang="en-US" sz="2400" i="1">
                                    <a:latin typeface="Cambria Math" panose="02040503050406030204" pitchFamily="18" charset="0"/>
                                    <a:cs typeface="Arial" panose="020B0604020202020204" pitchFamily="34" charset="0"/>
                                  </a:rPr>
                                  <m:t>2</m:t>
                                </m:r>
                              </m:e>
                              <m:e>
                                <m:r>
                                  <a:rPr lang="en-US" sz="2400" i="1">
                                    <a:latin typeface="Cambria Math" panose="02040503050406030204" pitchFamily="18" charset="0"/>
                                    <a:cs typeface="Arial" panose="020B0604020202020204" pitchFamily="34" charset="0"/>
                                  </a:rPr>
                                  <m:t>1</m:t>
                                </m:r>
                              </m:e>
                            </m:mr>
                            <m:mr>
                              <m:e>
                                <m:r>
                                  <a:rPr lang="en-US" sz="2400" i="1">
                                    <a:latin typeface="Cambria Math" panose="02040503050406030204" pitchFamily="18" charset="0"/>
                                    <a:cs typeface="Arial" panose="020B0604020202020204" pitchFamily="34" charset="0"/>
                                  </a:rPr>
                                  <m:t>1</m:t>
                                </m:r>
                              </m:e>
                              <m:e>
                                <m:r>
                                  <a:rPr lang="en-US" sz="2400" i="1">
                                    <a:latin typeface="Cambria Math" panose="02040503050406030204" pitchFamily="18" charset="0"/>
                                    <a:cs typeface="Arial" panose="020B0604020202020204" pitchFamily="34" charset="0"/>
                                  </a:rPr>
                                  <m:t>−1</m:t>
                                </m:r>
                              </m:e>
                            </m:mr>
                          </m:m>
                        </m:e>
                      </m:d>
                    </m:oMath>
                  </m:oMathPara>
                </a14:m>
                <a:endParaRPr lang="en-US" sz="2400" dirty="0">
                  <a:latin typeface="Arial" panose="020B0604020202020204" pitchFamily="34" charset="0"/>
                  <a:cs typeface="Arial" panose="020B0604020202020204" pitchFamily="34" charset="0"/>
                </a:endParaRPr>
              </a:p>
              <a:p>
                <a:pPr marL="0" indent="0">
                  <a:buNone/>
                </a:pPr>
                <a:r>
                  <a:rPr lang="en-US" sz="2400" dirty="0">
                    <a:latin typeface="Arial" panose="020B0604020202020204" pitchFamily="34" charset="0"/>
                    <a:cs typeface="Arial" panose="020B0604020202020204" pitchFamily="34" charset="0"/>
                  </a:rPr>
                  <a:t>Hence verified.</a:t>
                </a:r>
              </a:p>
              <a:p>
                <a:pPr marL="0" indent="0">
                  <a:buNone/>
                </a:pPr>
                <a:endParaRPr lang="en-US" sz="2400" dirty="0">
                  <a:latin typeface="Arial" panose="020B0604020202020204" pitchFamily="34" charset="0"/>
                  <a:cs typeface="Arial" panose="020B0604020202020204" pitchFamily="34" charset="0"/>
                </a:endParaRPr>
              </a:p>
              <a:p>
                <a:pPr marL="0" indent="0">
                  <a:buNone/>
                </a:pPr>
                <a:endParaRPr lang="en-US" sz="2400" b="0" dirty="0">
                  <a:latin typeface="Cambria Math" panose="02040503050406030204" pitchFamily="18" charset="0"/>
                  <a:ea typeface="Cambria Math" panose="02040503050406030204" pitchFamily="18" charset="0"/>
                </a:endParaRPr>
              </a:p>
              <a:p>
                <a:pPr marL="0" indent="0">
                  <a:buNone/>
                </a:pPr>
                <a:endParaRPr lang="en-US" sz="2400" dirty="0">
                  <a:latin typeface="Cambria Math" panose="02040503050406030204" pitchFamily="18" charset="0"/>
                  <a:ea typeface="Cambria Math" panose="02040503050406030204" pitchFamily="18" charset="0"/>
                </a:endParaRPr>
              </a:p>
              <a:p>
                <a:pPr marL="0" indent="0">
                  <a:buNone/>
                </a:pPr>
                <a:endParaRPr lang="en-US" sz="2400" dirty="0">
                  <a:latin typeface="Arial" panose="020B0604020202020204" pitchFamily="34" charset="0"/>
                  <a:cs typeface="Arial" panose="020B0604020202020204" pitchFamily="34" charset="0"/>
                </a:endParaRPr>
              </a:p>
              <a:p>
                <a:pPr marL="0" indent="0">
                  <a:buNone/>
                </a:pPr>
                <a:endParaRPr lang="en-US" sz="2400" b="0" dirty="0">
                  <a:latin typeface="Arial" panose="020B0604020202020204" pitchFamily="34" charset="0"/>
                  <a:ea typeface="Cambria Math" panose="02040503050406030204" pitchFamily="18" charset="0"/>
                </a:endParaRPr>
              </a:p>
              <a:p>
                <a:pPr marL="0" indent="0">
                  <a:buNone/>
                </a:pPr>
                <a:endParaRPr lang="en-US" sz="2400" b="0" i="1" dirty="0">
                  <a:latin typeface="Cambria Math" panose="02040503050406030204" pitchFamily="18" charset="0"/>
                  <a:ea typeface="Cambria Math" panose="02040503050406030204" pitchFamily="18" charset="0"/>
                </a:endParaRPr>
              </a:p>
              <a:p>
                <a:pPr marL="0" indent="0">
                  <a:buNone/>
                </a:pPr>
                <a:endParaRPr lang="en-US" sz="2400" dirty="0">
                  <a:latin typeface="Arial" panose="020B0604020202020204" pitchFamily="34" charset="0"/>
                  <a:cs typeface="Arial" panose="020B0604020202020204" pitchFamily="34" charset="0"/>
                </a:endParaRPr>
              </a:p>
            </p:txBody>
          </p:sp>
        </mc:Choice>
        <mc:Fallback xmlns="">
          <p:sp>
            <p:nvSpPr>
              <p:cNvPr id="4" name="Rectangle 3">
                <a:extLst>
                  <a:ext uri="{FF2B5EF4-FFF2-40B4-BE49-F238E27FC236}">
                    <a16:creationId xmlns:a16="http://schemas.microsoft.com/office/drawing/2014/main" id="{2E5A571E-8916-10BF-8455-10A25D31CFA0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xfrm>
                <a:off x="838200" y="1132883"/>
                <a:ext cx="10786353" cy="5122002"/>
              </a:xfrm>
              <a:blipFill>
                <a:blip r:embed="rId2"/>
                <a:stretch>
                  <a:fillRect l="-904" t="-1548"/>
                </a:stretch>
              </a:blipFill>
            </p:spPr>
            <p:txBody>
              <a:bodyPr/>
              <a:lstStyle/>
              <a:p>
                <a:r>
                  <a:rPr lang="en-IN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879329088"/>
      </p:ext>
    </p:extLst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266" name="Rectangle 2">
            <a:extLst>
              <a:ext uri="{FF2B5EF4-FFF2-40B4-BE49-F238E27FC236}">
                <a16:creationId xmlns:a16="http://schemas.microsoft.com/office/drawing/2014/main" id="{88FBA2BA-848A-777E-D00A-75643C52C29B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>
          <a:xfrm>
            <a:off x="2350008" y="404813"/>
            <a:ext cx="9262872" cy="762000"/>
          </a:xfrm>
        </p:spPr>
        <p:txBody>
          <a:bodyPr>
            <a:noAutofit/>
          </a:bodyPr>
          <a:lstStyle/>
          <a:p>
            <a:pPr algn="l" fontAlgn="base"/>
            <a:r>
              <a:rPr lang="en-US" sz="3200" b="1" i="0" dirty="0">
                <a:solidFill>
                  <a:srgbClr val="C00000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Applications of Singular Value Decomposition                (SVD)</a:t>
            </a:r>
          </a:p>
        </p:txBody>
      </p:sp>
      <p:sp>
        <p:nvSpPr>
          <p:cNvPr id="3" name="Slide Number Placeholder 2">
            <a:extLst>
              <a:ext uri="{FF2B5EF4-FFF2-40B4-BE49-F238E27FC236}">
                <a16:creationId xmlns:a16="http://schemas.microsoft.com/office/drawing/2014/main" id="{84972FC0-7FBD-F3C8-426A-D2ADF18BAEC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BABCCC1-BF11-4F37-963E-1BCD5B23FD72}" type="slidenum">
              <a:rPr lang="en-IN" smtClean="0"/>
              <a:t>22</a:t>
            </a:fld>
            <a:endParaRPr lang="en-IN"/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8EB4C270-35C4-CCEF-83E8-2AA8BF6CB7A8}"/>
              </a:ext>
            </a:extLst>
          </p:cNvPr>
          <p:cNvSpPr txBox="1"/>
          <p:nvPr/>
        </p:nvSpPr>
        <p:spPr>
          <a:xfrm>
            <a:off x="1005840" y="1565595"/>
            <a:ext cx="10347960" cy="46610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50000"/>
              </a:lnSpc>
              <a:spcAft>
                <a:spcPts val="375"/>
              </a:spcAft>
              <a:buFont typeface="Arial" panose="020B0604020202020204" pitchFamily="34" charset="0"/>
              <a:buChar char="•"/>
            </a:pPr>
            <a:r>
              <a:rPr lang="en-US" sz="2400" b="0" i="0" dirty="0">
                <a:solidFill>
                  <a:srgbClr val="444444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SVD has some fascinating algebraic characteristics and conveys relevant geometrical and theoretical insights regarding linear transformations.</a:t>
            </a:r>
          </a:p>
          <a:p>
            <a:pPr algn="l">
              <a:lnSpc>
                <a:spcPct val="150000"/>
              </a:lnSpc>
              <a:spcAft>
                <a:spcPts val="375"/>
              </a:spcAft>
              <a:buFont typeface="Arial" panose="020B0604020202020204" pitchFamily="34" charset="0"/>
              <a:buChar char="•"/>
            </a:pPr>
            <a:r>
              <a:rPr lang="en-US" sz="2400" b="0" i="0" dirty="0">
                <a:solidFill>
                  <a:srgbClr val="444444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SVD has some critical applications in data science too.</a:t>
            </a:r>
          </a:p>
          <a:p>
            <a:pPr algn="l">
              <a:lnSpc>
                <a:spcPct val="150000"/>
              </a:lnSpc>
              <a:spcAft>
                <a:spcPts val="375"/>
              </a:spcAft>
              <a:buFont typeface="Arial" panose="020B0604020202020204" pitchFamily="34" charset="0"/>
              <a:buChar char="•"/>
            </a:pPr>
            <a:r>
              <a:rPr lang="en-US" sz="2400" b="0" i="0" dirty="0">
                <a:solidFill>
                  <a:srgbClr val="444444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Mathematical applications of the SVD involve calculating the matrix approximation, rank of a matrix and so on.</a:t>
            </a:r>
          </a:p>
          <a:p>
            <a:pPr algn="l">
              <a:lnSpc>
                <a:spcPct val="150000"/>
              </a:lnSpc>
              <a:spcAft>
                <a:spcPts val="375"/>
              </a:spcAft>
              <a:buFont typeface="Arial" panose="020B0604020202020204" pitchFamily="34" charset="0"/>
              <a:buChar char="•"/>
            </a:pPr>
            <a:r>
              <a:rPr lang="en-US" sz="2400" b="0" i="0" dirty="0">
                <a:solidFill>
                  <a:srgbClr val="444444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The SVD is also greatly useful in science and engineering.</a:t>
            </a:r>
          </a:p>
          <a:p>
            <a:pPr algn="l">
              <a:lnSpc>
                <a:spcPct val="150000"/>
              </a:lnSpc>
              <a:spcAft>
                <a:spcPts val="375"/>
              </a:spcAft>
              <a:buFont typeface="Arial" panose="020B0604020202020204" pitchFamily="34" charset="0"/>
              <a:buChar char="•"/>
            </a:pPr>
            <a:r>
              <a:rPr lang="en-US" sz="2400" b="0" i="0" dirty="0">
                <a:solidFill>
                  <a:srgbClr val="444444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It has some applications of statistics, for example, least-squares fitting of data and process control.</a:t>
            </a:r>
          </a:p>
        </p:txBody>
      </p:sp>
    </p:spTree>
    <p:extLst>
      <p:ext uri="{BB962C8B-B14F-4D97-AF65-F5344CB8AC3E}">
        <p14:creationId xmlns:p14="http://schemas.microsoft.com/office/powerpoint/2010/main" val="3576166471"/>
      </p:ext>
    </p:extLst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1B0B1F1-AE8C-553E-30C5-DEB9B432550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>
                <a:solidFill>
                  <a:srgbClr val="C00000"/>
                </a:solidFill>
              </a:rPr>
              <a:t>Singular Value Decomposition</a:t>
            </a:r>
            <a:endParaRPr lang="en-IN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072988F0-98D3-97FF-2C15-B37D2E4D1626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r>
              <a:rPr lang="en-US" dirty="0"/>
              <a:t>Singular Value Decomposition (SVD) is a powerful matrix factorization technique in linear algebra. </a:t>
            </a:r>
          </a:p>
          <a:p>
            <a:r>
              <a:rPr lang="en-US" dirty="0"/>
              <a:t>It decomposes a matrix into three other matrices, revealing important information about the original matrix's structure and properties.</a:t>
            </a:r>
          </a:p>
          <a:p>
            <a:pPr fontAlgn="base"/>
            <a:r>
              <a:rPr lang="en-US" dirty="0"/>
              <a:t>SVD helps you split that table into </a:t>
            </a:r>
            <a:r>
              <a:rPr lang="en-US" b="1" i="1" dirty="0">
                <a:solidFill>
                  <a:srgbClr val="C00000"/>
                </a:solidFill>
              </a:rPr>
              <a:t>three</a:t>
            </a:r>
            <a:r>
              <a:rPr lang="en-US" dirty="0"/>
              <a:t> parts:</a:t>
            </a:r>
          </a:p>
          <a:p>
            <a:pPr lvl="1" fontAlgn="base"/>
            <a:r>
              <a:rPr lang="en-US" b="1" dirty="0"/>
              <a:t>U</a:t>
            </a:r>
            <a:r>
              <a:rPr lang="en-US" dirty="0"/>
              <a:t>: This part tells you about the people (like their general preferences).</a:t>
            </a:r>
          </a:p>
          <a:p>
            <a:pPr lvl="1" fontAlgn="base"/>
            <a:r>
              <a:rPr lang="en-US" b="1" dirty="0"/>
              <a:t>Σ</a:t>
            </a:r>
            <a:r>
              <a:rPr lang="en-US" dirty="0"/>
              <a:t>: This part shows how important each factor is (how much each rating matters).</a:t>
            </a:r>
          </a:p>
          <a:p>
            <a:pPr lvl="1" fontAlgn="base"/>
            <a:r>
              <a:rPr lang="en-US" b="1" dirty="0"/>
              <a:t>Vᵀ</a:t>
            </a:r>
            <a:r>
              <a:rPr lang="en-US" dirty="0"/>
              <a:t>: This part tells you about the products (how similar they are to each other)</a:t>
            </a:r>
          </a:p>
          <a:p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33167543"/>
      </p:ext>
    </p:extLst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B7C2648-8A16-16EF-D62E-0D024F2BF82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>
                <a:solidFill>
                  <a:srgbClr val="C00000"/>
                </a:solidFill>
              </a:rPr>
              <a:t>Singular Value Decomposition…</a:t>
            </a:r>
            <a:endParaRPr lang="en-IN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025FF939-0C39-6B50-FF83-2B58ABACD4AB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SVD deals with decomposing a matrix into a product of 3 matrices as shown:</a:t>
            </a:r>
          </a:p>
          <a:p>
            <a:endParaRPr lang="en-US" dirty="0"/>
          </a:p>
          <a:p>
            <a:r>
              <a:rPr lang="en-US" dirty="0"/>
              <a:t>If the dimensions of A are m x n:</a:t>
            </a:r>
          </a:p>
          <a:p>
            <a:pPr lvl="1"/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U is an m x m matrix of Left Singular Vectors</a:t>
            </a:r>
          </a:p>
          <a:p>
            <a:pPr lvl="1"/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S is an m x n rectangular diagonal matrix of Singular Values arranged in decreasing order</a:t>
            </a:r>
          </a:p>
          <a:p>
            <a:pPr lvl="1"/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V is an n x n matrix of Right Singular Vectors</a:t>
            </a:r>
          </a:p>
          <a:p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The decomposition allows us to express our </a:t>
            </a:r>
            <a:r>
              <a:rPr lang="en-US" sz="2400" b="1" i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original matrix as a linear combination of low-rank matrices</a:t>
            </a:r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.</a:t>
            </a:r>
            <a:endParaRPr lang="en-IN" sz="24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20FBF0EF-985E-5433-F91A-BA0E178862A0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955798" y="2542603"/>
            <a:ext cx="2019300" cy="65722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73246403"/>
      </p:ext>
    </p:extLst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4CC4135-7666-DDB9-86A8-AD054DC5FDD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515175"/>
            <a:ext cx="10515600" cy="1325563"/>
          </a:xfrm>
        </p:spPr>
        <p:txBody>
          <a:bodyPr/>
          <a:lstStyle/>
          <a:p>
            <a:r>
              <a:rPr lang="en-US" dirty="0">
                <a:solidFill>
                  <a:srgbClr val="C00000"/>
                </a:solidFill>
              </a:rPr>
              <a:t>How to perform Singular Value Decomposition</a:t>
            </a:r>
            <a:endParaRPr lang="en-IN" dirty="0">
              <a:solidFill>
                <a:srgbClr val="C00000"/>
              </a:solidFill>
            </a:endParaRP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8738E2BF-8BD9-C64C-7F08-45398CF85C6E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IN" b="1" dirty="0"/>
              <a:t>Step 1: </a:t>
            </a:r>
            <a:r>
              <a:rPr lang="en-IN" dirty="0"/>
              <a:t>Compute</a:t>
            </a:r>
            <a:r>
              <a:rPr lang="en-IN" b="1" dirty="0"/>
              <a:t> </a:t>
            </a:r>
            <a:endParaRPr lang="en-IN" i="1" dirty="0"/>
          </a:p>
          <a:p>
            <a:r>
              <a:rPr lang="en-US" b="1" dirty="0"/>
              <a:t>Step 2: </a:t>
            </a:r>
            <a:r>
              <a:rPr lang="en-US" dirty="0"/>
              <a:t>Find the Eigenvalues of </a:t>
            </a:r>
            <a:endParaRPr lang="en-US" i="1" dirty="0"/>
          </a:p>
          <a:p>
            <a:r>
              <a:rPr lang="en-US" b="1" dirty="0"/>
              <a:t>Step 3: </a:t>
            </a:r>
            <a:r>
              <a:rPr lang="en-US" dirty="0"/>
              <a:t>Find the Right Singular Vectors</a:t>
            </a:r>
          </a:p>
          <a:p>
            <a:r>
              <a:rPr lang="en-US" b="1" dirty="0"/>
              <a:t>Step 4: </a:t>
            </a:r>
            <a:r>
              <a:rPr lang="en-US" dirty="0"/>
              <a:t>Compute the Left Singular Vectors (Matrix U)</a:t>
            </a:r>
          </a:p>
          <a:p>
            <a:r>
              <a:rPr lang="en-US" b="1" dirty="0"/>
              <a:t>Step 5: </a:t>
            </a:r>
            <a:r>
              <a:rPr lang="en-US" dirty="0"/>
              <a:t>Final SVD Equation</a:t>
            </a:r>
          </a:p>
          <a:p>
            <a:endParaRPr lang="en-IN" dirty="0"/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FA64348D-7C82-FAFF-3E68-1791A93253C0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696322" y="1840738"/>
            <a:ext cx="618898" cy="399542"/>
          </a:xfrm>
          <a:prstGeom prst="rect">
            <a:avLst/>
          </a:prstGeom>
        </p:spPr>
      </p:pic>
      <p:pic>
        <p:nvPicPr>
          <p:cNvPr id="7" name="Picture 6">
            <a:extLst>
              <a:ext uri="{FF2B5EF4-FFF2-40B4-BE49-F238E27FC236}">
                <a16:creationId xmlns:a16="http://schemas.microsoft.com/office/drawing/2014/main" id="{BD15F0F8-9321-5BAF-6FB0-86C160108D09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756059" y="2322576"/>
            <a:ext cx="590779" cy="381389"/>
          </a:xfrm>
          <a:prstGeom prst="rect">
            <a:avLst/>
          </a:prstGeom>
        </p:spPr>
      </p:pic>
      <p:pic>
        <p:nvPicPr>
          <p:cNvPr id="9" name="Picture 8">
            <a:extLst>
              <a:ext uri="{FF2B5EF4-FFF2-40B4-BE49-F238E27FC236}">
                <a16:creationId xmlns:a16="http://schemas.microsoft.com/office/drawing/2014/main" id="{86342668-4BBD-7680-7D41-9C5CA493ABB0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784196" y="2898648"/>
            <a:ext cx="2390936" cy="34747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564362282"/>
      </p:ext>
    </p:extLst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045FD7F-C7EC-5891-1EFB-1A6FC04157C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>
                <a:solidFill>
                  <a:srgbClr val="C00000"/>
                </a:solidFill>
              </a:rPr>
              <a:t>Applications of SVD</a:t>
            </a:r>
            <a:br>
              <a:rPr lang="en-US" dirty="0">
                <a:solidFill>
                  <a:srgbClr val="C00000"/>
                </a:solidFill>
              </a:rPr>
            </a:br>
            <a:endParaRPr lang="en-IN" dirty="0">
              <a:solidFill>
                <a:srgbClr val="C00000"/>
              </a:solidFill>
            </a:endParaRP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D682F0B4-64AE-C6EE-F568-ECC8159C0778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fontAlgn="base"/>
            <a:r>
              <a:rPr lang="en-US" b="1" dirty="0"/>
              <a:t>Digital Signal Processing</a:t>
            </a:r>
            <a:r>
              <a:rPr lang="en-US" dirty="0"/>
              <a:t>: SVD can be used to analyze signals and filter noise.</a:t>
            </a:r>
          </a:p>
          <a:p>
            <a:pPr fontAlgn="base"/>
            <a:r>
              <a:rPr lang="en-US" b="1" dirty="0"/>
              <a:t>Image Processing</a:t>
            </a:r>
            <a:r>
              <a:rPr lang="en-US" dirty="0"/>
              <a:t>: SVD is used for image compression and denoising. It helps in reducing the dimensionality of image data by preserving the most significant singular values and discarding the rest.</a:t>
            </a:r>
          </a:p>
          <a:p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41416336"/>
      </p:ext>
    </p:extLst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6995D81-768E-5950-B9D5-BCD71667453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287998" y="271735"/>
            <a:ext cx="10515600" cy="945643"/>
          </a:xfrm>
        </p:spPr>
        <p:txBody>
          <a:bodyPr>
            <a:normAutofit fontScale="90000"/>
          </a:bodyPr>
          <a:lstStyle/>
          <a:p>
            <a:r>
              <a:rPr lang="en-IN" b="1" i="0" dirty="0">
                <a:solidFill>
                  <a:srgbClr val="FFFFFF"/>
                </a:solidFill>
                <a:effectLst/>
                <a:latin typeface="Source Sans 3"/>
              </a:rPr>
              <a:t>Singular Value Decomposition (SVD)</a:t>
            </a:r>
            <a:br>
              <a:rPr lang="en-IN" b="1" i="0" dirty="0">
                <a:solidFill>
                  <a:srgbClr val="FFFFFF"/>
                </a:solidFill>
                <a:effectLst/>
                <a:latin typeface="Source Sans 3"/>
              </a:rPr>
            </a:br>
            <a:r>
              <a:rPr lang="en-IN" b="1" i="0" dirty="0">
                <a:solidFill>
                  <a:srgbClr val="FFFFFF"/>
                </a:solidFill>
                <a:effectLst/>
                <a:latin typeface="Source Sans 3"/>
              </a:rPr>
              <a:t>Sing Singular Value Decomposition (SVD)</a:t>
            </a:r>
            <a:br>
              <a:rPr lang="en-IN" b="1" i="0" dirty="0">
                <a:solidFill>
                  <a:srgbClr val="FFFFFF"/>
                </a:solidFill>
                <a:effectLst/>
                <a:latin typeface="Source Sans 3"/>
              </a:rPr>
            </a:br>
            <a:r>
              <a:rPr lang="en-IN" b="1" i="0" dirty="0">
                <a:solidFill>
                  <a:srgbClr val="FF0000"/>
                </a:solidFill>
                <a:effectLst/>
                <a:latin typeface="Source Sans 3"/>
              </a:rPr>
              <a:t>Singular Value Decomposition (SVD)</a:t>
            </a:r>
            <a:br>
              <a:rPr lang="en-IN" b="1" i="0" dirty="0">
                <a:solidFill>
                  <a:srgbClr val="FF0000"/>
                </a:solidFill>
                <a:effectLst/>
                <a:latin typeface="Source Sans 3"/>
              </a:rPr>
            </a:br>
            <a:br>
              <a:rPr lang="en-US" b="1" dirty="0">
                <a:solidFill>
                  <a:srgbClr val="FF0000"/>
                </a:solidFill>
              </a:rPr>
            </a:br>
            <a:endParaRPr lang="en-IN" dirty="0">
              <a:solidFill>
                <a:srgbClr val="FF0000"/>
              </a:solidFill>
            </a:endParaRP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F2F457AF-A4AD-EABE-D3ED-16A3F170D400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487680" y="1085396"/>
            <a:ext cx="11791406" cy="4351338"/>
          </a:xfrm>
        </p:spPr>
        <p:txBody>
          <a:bodyPr>
            <a:noAutofit/>
          </a:bodyPr>
          <a:lstStyle/>
          <a:p>
            <a:pPr algn="l" rtl="0" fontAlgn="base">
              <a:lnSpc>
                <a:spcPct val="170000"/>
              </a:lnSpc>
              <a:spcAft>
                <a:spcPts val="750"/>
              </a:spcAft>
            </a:pPr>
            <a:r>
              <a:rPr lang="en-US" sz="2400" b="0" i="0" dirty="0">
                <a:effectLst/>
                <a:latin typeface="Nunito" pitchFamily="2" charset="0"/>
              </a:rPr>
              <a:t>Singular Value Decomposition (SVD) is a factorization method in linear algebra that decomposes a matrix into three other matrices, providing a way to represent data in terms of its singular values.</a:t>
            </a:r>
          </a:p>
          <a:p>
            <a:pPr algn="l" rtl="0" fontAlgn="base">
              <a:lnSpc>
                <a:spcPct val="170000"/>
              </a:lnSpc>
              <a:spcAft>
                <a:spcPts val="750"/>
              </a:spcAft>
            </a:pPr>
            <a:r>
              <a:rPr lang="en-US" sz="2400" b="0" i="0" dirty="0">
                <a:effectLst/>
                <a:latin typeface="Nunito" pitchFamily="2" charset="0"/>
              </a:rPr>
              <a:t>SVD helps you split that table into three parts:</a:t>
            </a:r>
          </a:p>
          <a:p>
            <a:pPr algn="l" fontAlgn="base">
              <a:lnSpc>
                <a:spcPct val="170000"/>
              </a:lnSpc>
              <a:spcAft>
                <a:spcPts val="1800"/>
              </a:spcAft>
              <a:buFont typeface="Arial" panose="020B0604020202020204" pitchFamily="34" charset="0"/>
              <a:buChar char="•"/>
            </a:pPr>
            <a:r>
              <a:rPr lang="en-US" sz="2400" b="1" i="0" dirty="0">
                <a:effectLst/>
                <a:latin typeface="Nunito" pitchFamily="2" charset="0"/>
              </a:rPr>
              <a:t>U</a:t>
            </a:r>
            <a:r>
              <a:rPr lang="en-US" sz="2400" b="0" i="0" dirty="0">
                <a:effectLst/>
                <a:latin typeface="Nunito" pitchFamily="2" charset="0"/>
              </a:rPr>
              <a:t>: This part tells you about the people (like their general preferences).</a:t>
            </a:r>
          </a:p>
          <a:p>
            <a:pPr algn="l" fontAlgn="base">
              <a:lnSpc>
                <a:spcPct val="170000"/>
              </a:lnSpc>
              <a:spcAft>
                <a:spcPts val="1800"/>
              </a:spcAft>
              <a:buFont typeface="Arial" panose="020B0604020202020204" pitchFamily="34" charset="0"/>
              <a:buChar char="•"/>
            </a:pPr>
            <a:r>
              <a:rPr lang="en-US" sz="2400" b="1" i="0" dirty="0">
                <a:effectLst/>
                <a:latin typeface="Nunito" pitchFamily="2" charset="0"/>
              </a:rPr>
              <a:t>Σ</a:t>
            </a:r>
            <a:r>
              <a:rPr lang="en-US" sz="2400" b="0" i="0" dirty="0">
                <a:effectLst/>
                <a:latin typeface="Nunito" pitchFamily="2" charset="0"/>
              </a:rPr>
              <a:t>: This part shows how important each factor is (how much each rating matters).</a:t>
            </a:r>
          </a:p>
          <a:p>
            <a:pPr algn="l" fontAlgn="base">
              <a:lnSpc>
                <a:spcPct val="170000"/>
              </a:lnSpc>
              <a:spcAft>
                <a:spcPts val="1800"/>
              </a:spcAft>
              <a:buFont typeface="Arial" panose="020B0604020202020204" pitchFamily="34" charset="0"/>
              <a:buChar char="•"/>
            </a:pPr>
            <a:r>
              <a:rPr lang="en-US" sz="2400" b="1" i="0" dirty="0">
                <a:effectLst/>
                <a:latin typeface="Nunito" pitchFamily="2" charset="0"/>
              </a:rPr>
              <a:t>Vᵀ</a:t>
            </a:r>
            <a:r>
              <a:rPr lang="en-US" sz="2400" b="0" i="0" dirty="0">
                <a:effectLst/>
                <a:latin typeface="Nunito" pitchFamily="2" charset="0"/>
              </a:rPr>
              <a:t>: This part tells you about the products (how similar they are to each other)</a:t>
            </a:r>
            <a:r>
              <a:rPr lang="en-US" sz="2400" b="0" i="0" dirty="0">
                <a:solidFill>
                  <a:srgbClr val="FFFFFF"/>
                </a:solidFill>
                <a:effectLst/>
                <a:latin typeface="Nunito" pitchFamily="2" charset="0"/>
              </a:rPr>
              <a:t>s with help of an </a:t>
            </a:r>
          </a:p>
          <a:p>
            <a:pPr>
              <a:lnSpc>
                <a:spcPct val="170000"/>
              </a:lnSpc>
            </a:pPr>
            <a:endParaRPr lang="en-IN" sz="2400" dirty="0"/>
          </a:p>
        </p:txBody>
      </p:sp>
    </p:spTree>
    <p:extLst>
      <p:ext uri="{BB962C8B-B14F-4D97-AF65-F5344CB8AC3E}">
        <p14:creationId xmlns:p14="http://schemas.microsoft.com/office/powerpoint/2010/main" val="2039769525"/>
      </p:ext>
    </p:extLst>
  </p:cSld>
  <p:clrMapOvr>
    <a:masterClrMapping/>
  </p:clrMapOvr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09C35581-004C-7CE0-138B-BD6341AFB92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D74F82E-8790-00DA-4383-EA90633D989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03115" y="681037"/>
            <a:ext cx="9593288" cy="770646"/>
          </a:xfrm>
        </p:spPr>
        <p:txBody>
          <a:bodyPr>
            <a:normAutofit fontScale="90000"/>
          </a:bodyPr>
          <a:lstStyle/>
          <a:p>
            <a:r>
              <a:rPr lang="en-IN" b="1" i="0" dirty="0">
                <a:solidFill>
                  <a:srgbClr val="FFFFFF"/>
                </a:solidFill>
                <a:effectLst/>
                <a:latin typeface="Source Sans 3"/>
              </a:rPr>
              <a:t>Singular Value Decomposition (SVD)</a:t>
            </a:r>
            <a:br>
              <a:rPr lang="en-IN" b="1" i="0" dirty="0">
                <a:solidFill>
                  <a:srgbClr val="FFFFFF"/>
                </a:solidFill>
                <a:effectLst/>
                <a:latin typeface="Source Sans 3"/>
              </a:rPr>
            </a:br>
            <a:r>
              <a:rPr lang="en-IN" b="1" i="0" dirty="0">
                <a:solidFill>
                  <a:srgbClr val="FFFFFF"/>
                </a:solidFill>
                <a:effectLst/>
                <a:latin typeface="Source Sans 3"/>
              </a:rPr>
              <a:t>Sing Singular Value Decomposition (SVD)</a:t>
            </a:r>
            <a:br>
              <a:rPr lang="en-IN" b="1" i="0" dirty="0">
                <a:solidFill>
                  <a:srgbClr val="FFFFFF"/>
                </a:solidFill>
                <a:effectLst/>
                <a:latin typeface="Source Sans 3"/>
              </a:rPr>
            </a:br>
            <a:r>
              <a:rPr lang="en-IN" b="1" i="0" dirty="0">
                <a:solidFill>
                  <a:srgbClr val="FFFFFF"/>
                </a:solidFill>
                <a:effectLst/>
                <a:latin typeface="Source Sans 3"/>
              </a:rPr>
              <a:t>Steps </a:t>
            </a:r>
            <a:r>
              <a:rPr lang="en-IN" b="1" i="0" dirty="0" err="1">
                <a:solidFill>
                  <a:srgbClr val="FF0000"/>
                </a:solidFill>
                <a:effectLst/>
                <a:latin typeface="Source Sans 3"/>
              </a:rPr>
              <a:t>Steps</a:t>
            </a:r>
            <a:r>
              <a:rPr lang="en-IN" b="1" i="0" dirty="0">
                <a:solidFill>
                  <a:srgbClr val="FF0000"/>
                </a:solidFill>
                <a:effectLst/>
                <a:latin typeface="Source Sans 3"/>
              </a:rPr>
              <a:t> for Singular Value Decomposition (SVD)</a:t>
            </a:r>
            <a:br>
              <a:rPr lang="en-IN" b="1" i="0" dirty="0">
                <a:solidFill>
                  <a:srgbClr val="FF0000"/>
                </a:solidFill>
                <a:effectLst/>
                <a:latin typeface="Source Sans 3"/>
              </a:rPr>
            </a:br>
            <a:br>
              <a:rPr lang="en-US" b="1" dirty="0">
                <a:solidFill>
                  <a:srgbClr val="FF0000"/>
                </a:solidFill>
              </a:rPr>
            </a:br>
            <a:endParaRPr lang="en-IN" dirty="0">
              <a:solidFill>
                <a:srgbClr val="FF0000"/>
              </a:solidFill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" name="Content Placeholder 2">
                <a:extLst>
                  <a:ext uri="{FF2B5EF4-FFF2-40B4-BE49-F238E27FC236}">
                    <a16:creationId xmlns:a16="http://schemas.microsoft.com/office/drawing/2014/main" id="{A9F62DBB-6F91-8D1A-57E7-AAC4CDB24A26}"/>
                  </a:ext>
                </a:extLst>
              </p:cNvPr>
              <p:cNvSpPr>
                <a:spLocks noGrp="1"/>
              </p:cNvSpPr>
              <p:nvPr>
                <p:ph idx="1"/>
              </p:nvPr>
            </p:nvSpPr>
            <p:spPr/>
            <p:txBody>
              <a:bodyPr>
                <a:normAutofit/>
              </a:bodyPr>
              <a:lstStyle/>
              <a:p>
                <a:pPr marL="0" indent="0" fontAlgn="base">
                  <a:spcAft>
                    <a:spcPts val="750"/>
                  </a:spcAft>
                  <a:buNone/>
                </a:pPr>
                <a:r>
                  <a:rPr lang="en-US" b="1" dirty="0">
                    <a:latin typeface="Nunito" pitchFamily="2" charset="0"/>
                  </a:rPr>
                  <a:t>Step1: </a:t>
                </a:r>
                <a:r>
                  <a:rPr lang="en-US" dirty="0">
                    <a:latin typeface="Nunito" pitchFamily="2" charset="0"/>
                  </a:rPr>
                  <a:t>Find the Eigen values of </a:t>
                </a:r>
                <a14:m>
                  <m:oMath xmlns:m="http://schemas.openxmlformats.org/officeDocument/2006/math">
                    <m:sSup>
                      <m:sSupPr>
                        <m:ctrlPr>
                          <a:rPr lang="en-US" i="1">
                            <a:latin typeface="Cambria Math" panose="02040503050406030204" pitchFamily="18" charset="0"/>
                          </a:rPr>
                        </m:ctrlPr>
                      </m:sSupPr>
                      <m:e>
                        <m:r>
                          <a:rPr lang="en-US" i="1">
                            <a:latin typeface="Cambria Math" panose="02040503050406030204" pitchFamily="18" charset="0"/>
                          </a:rPr>
                          <m:t>𝐴</m:t>
                        </m:r>
                      </m:e>
                      <m:sup>
                        <m:r>
                          <a:rPr lang="en-US" i="1">
                            <a:latin typeface="Cambria Math" panose="02040503050406030204" pitchFamily="18" charset="0"/>
                          </a:rPr>
                          <m:t>𝑇</m:t>
                        </m:r>
                      </m:sup>
                    </m:sSup>
                    <m:r>
                      <a:rPr lang="en-US" i="1">
                        <a:latin typeface="Cambria Math" panose="02040503050406030204" pitchFamily="18" charset="0"/>
                      </a:rPr>
                      <m:t>𝐴</m:t>
                    </m:r>
                  </m:oMath>
                </a14:m>
                <a:endParaRPr lang="en-US" dirty="0">
                  <a:latin typeface="Nunito" pitchFamily="2" charset="0"/>
                </a:endParaRPr>
              </a:p>
              <a:p>
                <a:pPr marL="0" indent="0" fontAlgn="base">
                  <a:spcAft>
                    <a:spcPts val="750"/>
                  </a:spcAft>
                  <a:buNone/>
                </a:pPr>
                <a:r>
                  <a:rPr lang="en-US" b="1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Step2: </a:t>
                </a:r>
                <a:r>
                  <a:rPr lang="en-US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Find the Eigen vectors of </a:t>
                </a:r>
                <a14:m>
                  <m:oMath xmlns:m="http://schemas.openxmlformats.org/officeDocument/2006/math">
                    <m:sSup>
                      <m:sSupPr>
                        <m:ctrlPr>
                          <a:rPr lang="en-US" i="1">
                            <a:latin typeface="Cambria Math" panose="02040503050406030204" pitchFamily="18" charset="0"/>
                          </a:rPr>
                        </m:ctrlPr>
                      </m:sSupPr>
                      <m:e>
                        <m:r>
                          <a:rPr lang="en-US" i="1">
                            <a:latin typeface="Cambria Math" panose="02040503050406030204" pitchFamily="18" charset="0"/>
                          </a:rPr>
                          <m:t>𝐴</m:t>
                        </m:r>
                      </m:e>
                      <m:sup>
                        <m:r>
                          <a:rPr lang="en-US" i="1">
                            <a:latin typeface="Cambria Math" panose="02040503050406030204" pitchFamily="18" charset="0"/>
                          </a:rPr>
                          <m:t>𝑇</m:t>
                        </m:r>
                      </m:sup>
                    </m:sSup>
                    <m:r>
                      <a:rPr lang="en-US" i="1">
                        <a:latin typeface="Cambria Math" panose="02040503050406030204" pitchFamily="18" charset="0"/>
                      </a:rPr>
                      <m:t>𝐴</m:t>
                    </m:r>
                  </m:oMath>
                </a14:m>
                <a:r>
                  <a:rPr lang="en-US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 &amp; </a:t>
                </a:r>
                <a:r>
                  <a:rPr lang="en-US" dirty="0"/>
                  <a:t>Right singular vectors (transpose of orthogonal matrix V)</a:t>
                </a:r>
                <a:endParaRPr lang="en-US" dirty="0">
                  <a:latin typeface="Times New Roman" panose="02020603050405020304" pitchFamily="18" charset="0"/>
                  <a:cs typeface="Times New Roman" panose="02020603050405020304" pitchFamily="18" charset="0"/>
                </a:endParaRPr>
              </a:p>
              <a:p>
                <a:pPr marL="0" indent="0" fontAlgn="base">
                  <a:spcAft>
                    <a:spcPts val="1800"/>
                  </a:spcAft>
                  <a:buNone/>
                </a:pPr>
                <a:r>
                  <a:rPr lang="en-US" b="1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Step3: </a:t>
                </a:r>
                <a:r>
                  <a:rPr lang="en-US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Find the </a:t>
                </a:r>
                <a:r>
                  <a:rPr lang="en-US" dirty="0"/>
                  <a:t>Left singular vectors (orthogonal </a:t>
                </a:r>
                <a:r>
                  <a:rPr lang="en-US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matrix) U</a:t>
                </a:r>
                <a:r>
                  <a:rPr lang="en-US" dirty="0">
                    <a:cs typeface="Times New Roman" panose="02020603050405020304" pitchFamily="18" charset="0"/>
                  </a:rPr>
                  <a:t> </a:t>
                </a:r>
                <a14:m>
                  <m:oMath xmlns:m="http://schemas.openxmlformats.org/officeDocument/2006/math">
                    <m:r>
                      <a:rPr lang="en-US">
                        <a:latin typeface="Cambria Math" panose="02040503050406030204" pitchFamily="18" charset="0"/>
                        <a:cs typeface="Times New Roman" panose="02020603050405020304" pitchFamily="18" charset="0"/>
                      </a:rPr>
                      <m:t>=</m:t>
                    </m:r>
                    <m:d>
                      <m:dPr>
                        <m:begChr m:val="["/>
                        <m:endChr m:val="]"/>
                        <m:ctrlPr>
                          <a:rPr lang="en-US" i="1">
                            <a:latin typeface="Cambria Math" panose="02040503050406030204" pitchFamily="18" charset="0"/>
                            <a:cs typeface="Times New Roman" panose="02020603050405020304" pitchFamily="18" charset="0"/>
                          </a:rPr>
                        </m:ctrlPr>
                      </m:dPr>
                      <m:e>
                        <m:m>
                          <m:mPr>
                            <m:mcs>
                              <m:mc>
                                <m:mcPr>
                                  <m:count m:val="2"/>
                                  <m:mcJc m:val="center"/>
                                </m:mcPr>
                              </m:mc>
                            </m:mcs>
                            <m:ctrlPr>
                              <a:rPr lang="en-US" i="1">
                                <a:latin typeface="Cambria Math" panose="02040503050406030204" pitchFamily="18" charset="0"/>
                                <a:cs typeface="Times New Roman" panose="02020603050405020304" pitchFamily="18" charset="0"/>
                              </a:rPr>
                            </m:ctrlPr>
                          </m:mPr>
                          <m:mr>
                            <m:e>
                              <m:sSub>
                                <m:sSubPr>
                                  <m:ctrlPr>
                                    <a:rPr lang="en-US" i="1">
                                      <a:latin typeface="Cambria Math" panose="02040503050406030204" pitchFamily="18" charset="0"/>
                                      <a:cs typeface="Times New Roman" panose="02020603050405020304" pitchFamily="18" charset="0"/>
                                    </a:rPr>
                                  </m:ctrlPr>
                                </m:sSubPr>
                                <m:e>
                                  <m:r>
                                    <a:rPr lang="en-US" i="1">
                                      <a:latin typeface="Cambria Math" panose="02040503050406030204" pitchFamily="18" charset="0"/>
                                      <a:cs typeface="Times New Roman" panose="02020603050405020304" pitchFamily="18" charset="0"/>
                                    </a:rPr>
                                    <m:t>𝑢</m:t>
                                  </m:r>
                                </m:e>
                                <m:sub>
                                  <m:r>
                                    <a:rPr lang="en-US" i="1">
                                      <a:latin typeface="Cambria Math" panose="02040503050406030204" pitchFamily="18" charset="0"/>
                                      <a:cs typeface="Times New Roman" panose="02020603050405020304" pitchFamily="18" charset="0"/>
                                    </a:rPr>
                                    <m:t>1</m:t>
                                  </m:r>
                                </m:sub>
                              </m:sSub>
                            </m:e>
                            <m:e>
                              <m:sSub>
                                <m:sSubPr>
                                  <m:ctrlPr>
                                    <a:rPr lang="en-US" i="1">
                                      <a:latin typeface="Cambria Math" panose="02040503050406030204" pitchFamily="18" charset="0"/>
                                      <a:cs typeface="Times New Roman" panose="02020603050405020304" pitchFamily="18" charset="0"/>
                                    </a:rPr>
                                  </m:ctrlPr>
                                </m:sSubPr>
                                <m:e>
                                  <m:r>
                                    <a:rPr lang="en-US" i="1">
                                      <a:latin typeface="Cambria Math" panose="02040503050406030204" pitchFamily="18" charset="0"/>
                                      <a:cs typeface="Times New Roman" panose="02020603050405020304" pitchFamily="18" charset="0"/>
                                    </a:rPr>
                                    <m:t>𝑢</m:t>
                                  </m:r>
                                </m:e>
                                <m:sub>
                                  <m:r>
                                    <a:rPr lang="en-US" i="1">
                                      <a:latin typeface="Cambria Math" panose="02040503050406030204" pitchFamily="18" charset="0"/>
                                      <a:cs typeface="Times New Roman" panose="02020603050405020304" pitchFamily="18" charset="0"/>
                                    </a:rPr>
                                    <m:t>2</m:t>
                                  </m:r>
                                </m:sub>
                              </m:sSub>
                            </m:e>
                          </m:mr>
                        </m:m>
                      </m:e>
                    </m:d>
                  </m:oMath>
                </a14:m>
                <a:endParaRPr lang="en-US" dirty="0">
                  <a:cs typeface="Times New Roman" panose="02020603050405020304" pitchFamily="18" charset="0"/>
                </a:endParaRPr>
              </a:p>
              <a:p>
                <a:pPr marL="0" indent="0" fontAlgn="base">
                  <a:spcAft>
                    <a:spcPts val="750"/>
                  </a:spcAft>
                  <a:buNone/>
                </a:pPr>
                <a:r>
                  <a:rPr lang="en-US" b="1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Step4: </a:t>
                </a:r>
                <a:r>
                  <a:rPr lang="en-US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Find the </a:t>
                </a:r>
                <a:r>
                  <a:rPr lang="en-US" dirty="0"/>
                  <a:t>Diagonal matrix with singular values (non-negative real numbers)</a:t>
                </a:r>
                <a:r>
                  <a:rPr lang="en-US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 </a:t>
                </a:r>
                <a:r>
                  <a:rPr lang="en-US" b="1" dirty="0">
                    <a:latin typeface="GreekC" panose="00000400000000000000" pitchFamily="2" charset="0"/>
                    <a:cs typeface="GreekC" panose="00000400000000000000" pitchFamily="2" charset="0"/>
                  </a:rPr>
                  <a:t>S </a:t>
                </a:r>
              </a:p>
              <a:p>
                <a:pPr marL="0" indent="0" fontAlgn="base">
                  <a:spcAft>
                    <a:spcPts val="750"/>
                  </a:spcAft>
                  <a:buNone/>
                </a:pPr>
                <a:r>
                  <a:rPr lang="en-US" b="1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Step5: </a:t>
                </a:r>
                <a:r>
                  <a:rPr lang="en-US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Verify </a:t>
                </a:r>
                <a14:m>
                  <m:oMath xmlns:m="http://schemas.openxmlformats.org/officeDocument/2006/math">
                    <m:r>
                      <a:rPr lang="en-US" b="0" i="1">
                        <a:latin typeface="Cambria Math" panose="02040503050406030204" pitchFamily="18" charset="0"/>
                        <a:cs typeface="Times New Roman" panose="02020603050405020304" pitchFamily="18" charset="0"/>
                      </a:rPr>
                      <m:t>𝐴</m:t>
                    </m:r>
                    <m:r>
                      <a:rPr lang="en-US" b="0" i="1">
                        <a:latin typeface="Cambria Math" panose="02040503050406030204" pitchFamily="18" charset="0"/>
                        <a:cs typeface="Times New Roman" panose="02020603050405020304" pitchFamily="18" charset="0"/>
                      </a:rPr>
                      <m:t>=</m:t>
                    </m:r>
                    <m:r>
                      <a:rPr lang="en-US" b="0" i="1">
                        <a:latin typeface="Cambria Math" panose="02040503050406030204" pitchFamily="18" charset="0"/>
                        <a:cs typeface="Times New Roman" panose="02020603050405020304" pitchFamily="18" charset="0"/>
                      </a:rPr>
                      <m:t>𝑈</m:t>
                    </m:r>
                    <m:r>
                      <m:rPr>
                        <m:nor/>
                      </m:rPr>
                      <a:rPr lang="en-US" dirty="0">
                        <a:latin typeface="GreekC" panose="00000400000000000000" pitchFamily="2" charset="0"/>
                        <a:cs typeface="GreekC" panose="00000400000000000000" pitchFamily="2" charset="0"/>
                      </a:rPr>
                      <m:t>S</m:t>
                    </m:r>
                    <m:sSup>
                      <m:sSupPr>
                        <m:ctrlPr>
                          <a:rPr lang="en-US" i="1" dirty="0">
                            <a:latin typeface="Cambria Math" panose="02040503050406030204" pitchFamily="18" charset="0"/>
                            <a:cs typeface="GreekC" panose="00000400000000000000" pitchFamily="2" charset="0"/>
                          </a:rPr>
                        </m:ctrlPr>
                      </m:sSupPr>
                      <m:e>
                        <m:r>
                          <a:rPr lang="en-US" b="0" i="1" dirty="0">
                            <a:latin typeface="Cambria Math" panose="02040503050406030204" pitchFamily="18" charset="0"/>
                            <a:cs typeface="GreekC" panose="00000400000000000000" pitchFamily="2" charset="0"/>
                          </a:rPr>
                          <m:t>𝑉</m:t>
                        </m:r>
                      </m:e>
                      <m:sup>
                        <m:r>
                          <a:rPr lang="en-US" b="0" i="1" dirty="0">
                            <a:latin typeface="Cambria Math" panose="02040503050406030204" pitchFamily="18" charset="0"/>
                            <a:cs typeface="GreekC" panose="00000400000000000000" pitchFamily="2" charset="0"/>
                          </a:rPr>
                          <m:t>𝑇</m:t>
                        </m:r>
                      </m:sup>
                    </m:sSup>
                  </m:oMath>
                </a14:m>
                <a:endParaRPr lang="en-US" dirty="0">
                  <a:latin typeface="Times New Roman" panose="02020603050405020304" pitchFamily="18" charset="0"/>
                  <a:cs typeface="Times New Roman" panose="02020603050405020304" pitchFamily="18" charset="0"/>
                </a:endParaRPr>
              </a:p>
              <a:p>
                <a:endParaRPr lang="en-IN" dirty="0"/>
              </a:p>
            </p:txBody>
          </p:sp>
        </mc:Choice>
        <mc:Fallback xmlns="">
          <p:sp>
            <p:nvSpPr>
              <p:cNvPr id="3" name="Content Placeholder 2">
                <a:extLst>
                  <a:ext uri="{FF2B5EF4-FFF2-40B4-BE49-F238E27FC236}">
                    <a16:creationId xmlns:a16="http://schemas.microsoft.com/office/drawing/2014/main" id="{A9F62DBB-6F91-8D1A-57E7-AAC4CDB24A26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blipFill>
                <a:blip r:embed="rId2"/>
                <a:stretch>
                  <a:fillRect l="-1217" t="-2101" r="-986"/>
                </a:stretch>
              </a:blipFill>
            </p:spPr>
            <p:txBody>
              <a:bodyPr/>
              <a:lstStyle/>
              <a:p>
                <a:r>
                  <a:rPr lang="en-IN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941016201"/>
      </p:ext>
    </p:extLst>
  </p:cSld>
  <p:clrMapOvr>
    <a:masterClrMapping/>
  </p:clrMapOvr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CD35957E-55EA-32B1-3E1A-790C9C8B2EB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9DF123C-EFD6-1252-EAAE-ABC603D952A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2598202" y="0"/>
            <a:ext cx="8755598" cy="945643"/>
          </a:xfrm>
        </p:spPr>
        <p:txBody>
          <a:bodyPr>
            <a:normAutofit fontScale="90000"/>
          </a:bodyPr>
          <a:lstStyle/>
          <a:p>
            <a:r>
              <a:rPr lang="en-IN" b="1" i="0" dirty="0">
                <a:solidFill>
                  <a:srgbClr val="FFFFFF"/>
                </a:solidFill>
                <a:effectLst/>
                <a:latin typeface="Source Sans 3"/>
              </a:rPr>
              <a:t>Singular Value Decomposition (SVD)</a:t>
            </a:r>
            <a:br>
              <a:rPr lang="en-IN" b="1" i="0" dirty="0">
                <a:solidFill>
                  <a:srgbClr val="FFFFFF"/>
                </a:solidFill>
                <a:effectLst/>
                <a:latin typeface="Source Sans 3"/>
              </a:rPr>
            </a:br>
            <a:r>
              <a:rPr lang="en-IN" b="1" i="0" dirty="0">
                <a:solidFill>
                  <a:srgbClr val="FFFFFF"/>
                </a:solidFill>
                <a:effectLst/>
                <a:latin typeface="Source Sans 3"/>
              </a:rPr>
              <a:t>Sing Singular Value Decomposition (SVD)</a:t>
            </a:r>
            <a:br>
              <a:rPr lang="en-IN" b="1" i="0" dirty="0">
                <a:solidFill>
                  <a:srgbClr val="FFFFFF"/>
                </a:solidFill>
                <a:effectLst/>
                <a:latin typeface="Source Sans 3"/>
              </a:rPr>
            </a:br>
            <a:r>
              <a:rPr lang="en-IN" b="1" i="0" dirty="0">
                <a:solidFill>
                  <a:srgbClr val="FF0000"/>
                </a:solidFill>
                <a:effectLst/>
                <a:latin typeface="Source Sans 3"/>
              </a:rPr>
              <a:t>Singular Value Decomposition (SVD) (</a:t>
            </a:r>
            <a:r>
              <a:rPr lang="en-IN" b="1" i="0" dirty="0" err="1">
                <a:solidFill>
                  <a:srgbClr val="FF0000"/>
                </a:solidFill>
                <a:effectLst/>
                <a:latin typeface="Source Sans 3"/>
              </a:rPr>
              <a:t>Cont..I</a:t>
            </a:r>
            <a:r>
              <a:rPr lang="en-IN" b="1" i="0" dirty="0">
                <a:solidFill>
                  <a:srgbClr val="FF0000"/>
                </a:solidFill>
                <a:effectLst/>
                <a:latin typeface="Source Sans 3"/>
              </a:rPr>
              <a:t>)</a:t>
            </a:r>
            <a:br>
              <a:rPr lang="en-IN" b="1" i="0" dirty="0">
                <a:solidFill>
                  <a:srgbClr val="FF0000"/>
                </a:solidFill>
                <a:effectLst/>
                <a:latin typeface="Source Sans 3"/>
              </a:rPr>
            </a:br>
            <a:br>
              <a:rPr lang="en-US" b="1" dirty="0">
                <a:solidFill>
                  <a:srgbClr val="FF0000"/>
                </a:solidFill>
              </a:rPr>
            </a:br>
            <a:endParaRPr lang="en-IN" dirty="0">
              <a:solidFill>
                <a:srgbClr val="FF0000"/>
              </a:solidFill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" name="Content Placeholder 2">
                <a:extLst>
                  <a:ext uri="{FF2B5EF4-FFF2-40B4-BE49-F238E27FC236}">
                    <a16:creationId xmlns:a16="http://schemas.microsoft.com/office/drawing/2014/main" id="{51CE595D-317B-DB49-B0FD-E2D1AF7ADCAE}"/>
                  </a:ext>
                </a:extLst>
              </p:cNvPr>
              <p:cNvSpPr>
                <a:spLocks noGrp="1"/>
              </p:cNvSpPr>
              <p:nvPr>
                <p:ph idx="1"/>
              </p:nvPr>
            </p:nvSpPr>
            <p:spPr>
              <a:xfrm>
                <a:off x="758757" y="1400783"/>
                <a:ext cx="10595043" cy="4776180"/>
              </a:xfrm>
            </p:spPr>
            <p:txBody>
              <a:bodyPr>
                <a:normAutofit/>
              </a:bodyPr>
              <a:lstStyle/>
              <a:p>
                <a:pPr marL="0" indent="0" algn="l" rtl="0" fontAlgn="base">
                  <a:spcAft>
                    <a:spcPts val="750"/>
                  </a:spcAft>
                  <a:buNone/>
                </a:pPr>
                <a:r>
                  <a:rPr lang="en-US" sz="2400" b="1" i="0" dirty="0">
                    <a:effectLst/>
                    <a:latin typeface="Nunito" pitchFamily="2" charset="0"/>
                  </a:rPr>
                  <a:t>Example:  Find the SVD of a matrix </a:t>
                </a:r>
                <a14:m>
                  <m:oMath xmlns:m="http://schemas.openxmlformats.org/officeDocument/2006/math">
                    <m:r>
                      <a:rPr lang="en-US" sz="2400" b="1" i="1" smtClean="0">
                        <a:effectLst/>
                        <a:latin typeface="Cambria Math" panose="02040503050406030204" pitchFamily="18" charset="0"/>
                      </a:rPr>
                      <m:t>𝑨</m:t>
                    </m:r>
                    <m:r>
                      <a:rPr lang="en-US" sz="2400" b="1" i="1" smtClean="0">
                        <a:effectLst/>
                        <a:latin typeface="Cambria Math" panose="02040503050406030204" pitchFamily="18" charset="0"/>
                      </a:rPr>
                      <m:t>=</m:t>
                    </m:r>
                    <m:d>
                      <m:dPr>
                        <m:begChr m:val="["/>
                        <m:endChr m:val="]"/>
                        <m:ctrlPr>
                          <a:rPr lang="en-US" sz="2400" b="1" i="1" smtClean="0">
                            <a:effectLst/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m>
                          <m:mPr>
                            <m:mcs>
                              <m:mc>
                                <m:mcPr>
                                  <m:count m:val="2"/>
                                  <m:mcJc m:val="center"/>
                                </m:mcPr>
                              </m:mc>
                            </m:mcs>
                            <m:ctrlPr>
                              <a:rPr lang="en-US" sz="2400" b="1" i="1" smtClean="0">
                                <a:effectLst/>
                                <a:latin typeface="Cambria Math" panose="02040503050406030204" pitchFamily="18" charset="0"/>
                              </a:rPr>
                            </m:ctrlPr>
                          </m:mPr>
                          <m:mr>
                            <m:e>
                              <m:r>
                                <m:rPr>
                                  <m:brk m:alnAt="7"/>
                                </m:rPr>
                                <a:rPr lang="en-US" sz="2400" b="1" i="1" smtClean="0">
                                  <a:effectLst/>
                                  <a:latin typeface="Cambria Math" panose="02040503050406030204" pitchFamily="18" charset="0"/>
                                </a:rPr>
                                <m:t>−</m:t>
                              </m:r>
                              <m:r>
                                <a:rPr lang="en-US" sz="2400" b="1" i="1" smtClean="0">
                                  <a:effectLst/>
                                  <a:latin typeface="Cambria Math" panose="02040503050406030204" pitchFamily="18" charset="0"/>
                                </a:rPr>
                                <m:t>𝟒</m:t>
                              </m:r>
                            </m:e>
                            <m:e>
                              <m:r>
                                <a:rPr lang="en-US" sz="2400" b="1" i="1" smtClean="0">
                                  <a:effectLst/>
                                  <a:latin typeface="Cambria Math" panose="02040503050406030204" pitchFamily="18" charset="0"/>
                                </a:rPr>
                                <m:t>−</m:t>
                              </m:r>
                              <m:r>
                                <a:rPr lang="en-US" sz="2400" b="1" i="1" smtClean="0">
                                  <a:effectLst/>
                                  <a:latin typeface="Cambria Math" panose="02040503050406030204" pitchFamily="18" charset="0"/>
                                </a:rPr>
                                <m:t>𝟕</m:t>
                              </m:r>
                            </m:e>
                          </m:mr>
                          <m:mr>
                            <m:e>
                              <m:r>
                                <a:rPr lang="en-US" sz="2400" b="1" i="1" smtClean="0">
                                  <a:effectLst/>
                                  <a:latin typeface="Cambria Math" panose="02040503050406030204" pitchFamily="18" charset="0"/>
                                </a:rPr>
                                <m:t>𝟏</m:t>
                              </m:r>
                            </m:e>
                            <m:e>
                              <m:r>
                                <a:rPr lang="en-US" sz="2400" b="1" i="1" smtClean="0">
                                  <a:effectLst/>
                                  <a:latin typeface="Cambria Math" panose="02040503050406030204" pitchFamily="18" charset="0"/>
                                </a:rPr>
                                <m:t>𝟒</m:t>
                              </m:r>
                            </m:e>
                          </m:mr>
                        </m:m>
                      </m:e>
                    </m:d>
                  </m:oMath>
                </a14:m>
                <a:endParaRPr lang="en-US" sz="2400" b="0" i="0" dirty="0">
                  <a:effectLst/>
                  <a:latin typeface="Nunito" pitchFamily="2" charset="0"/>
                </a:endParaRPr>
              </a:p>
              <a:p>
                <a:pPr marL="0" indent="0" algn="l" fontAlgn="base">
                  <a:spcAft>
                    <a:spcPts val="1800"/>
                  </a:spcAft>
                  <a:buNone/>
                </a:pPr>
                <a:r>
                  <a:rPr lang="en-US" sz="2400" b="1" i="0" dirty="0">
                    <a:effectLst/>
                    <a:latin typeface="Nunito" pitchFamily="2" charset="0"/>
                  </a:rPr>
                  <a:t>Step1: </a:t>
                </a:r>
                <a:r>
                  <a:rPr lang="en-US" sz="2400" b="0" i="0" dirty="0">
                    <a:effectLst/>
                    <a:latin typeface="Nunito" pitchFamily="2" charset="0"/>
                  </a:rPr>
                  <a:t>Find the Eigen values of </a:t>
                </a:r>
                <a14:m>
                  <m:oMath xmlns:m="http://schemas.openxmlformats.org/officeDocument/2006/math">
                    <m:sSup>
                      <m:sSupPr>
                        <m:ctrlPr>
                          <a:rPr lang="en-US" sz="2400" b="0" i="1" smtClean="0">
                            <a:effectLst/>
                            <a:latin typeface="Cambria Math" panose="02040503050406030204" pitchFamily="18" charset="0"/>
                          </a:rPr>
                        </m:ctrlPr>
                      </m:sSupPr>
                      <m:e>
                        <m:r>
                          <a:rPr lang="en-US" sz="2400" b="0" i="1" smtClean="0">
                            <a:effectLst/>
                            <a:latin typeface="Cambria Math" panose="02040503050406030204" pitchFamily="18" charset="0"/>
                          </a:rPr>
                          <m:t>𝐴</m:t>
                        </m:r>
                      </m:e>
                      <m:sup>
                        <m:r>
                          <a:rPr lang="en-US" sz="2400" b="0" i="1" smtClean="0">
                            <a:effectLst/>
                            <a:latin typeface="Cambria Math" panose="02040503050406030204" pitchFamily="18" charset="0"/>
                          </a:rPr>
                          <m:t>𝑇</m:t>
                        </m:r>
                      </m:sup>
                    </m:sSup>
                    <m:r>
                      <a:rPr lang="en-US" sz="2400" b="0" i="1" smtClean="0">
                        <a:effectLst/>
                        <a:latin typeface="Cambria Math" panose="02040503050406030204" pitchFamily="18" charset="0"/>
                      </a:rPr>
                      <m:t>𝐴</m:t>
                    </m:r>
                  </m:oMath>
                </a14:m>
                <a:endParaRPr lang="en-US" sz="2400" b="0" i="0" dirty="0">
                  <a:effectLst/>
                  <a:latin typeface="Nunito" pitchFamily="2" charset="0"/>
                </a:endParaRPr>
              </a:p>
              <a:p>
                <a:pPr marL="0" indent="0" fontAlgn="base">
                  <a:spcAft>
                    <a:spcPts val="1800"/>
                  </a:spcAft>
                  <a:buNone/>
                </a:pPr>
                <a14:m>
                  <m:oMath xmlns:m="http://schemas.openxmlformats.org/officeDocument/2006/math">
                    <m:sSup>
                      <m:sSupPr>
                        <m:ctrlPr>
                          <a:rPr lang="en-US" sz="2400" i="1">
                            <a:latin typeface="Cambria Math" panose="02040503050406030204" pitchFamily="18" charset="0"/>
                          </a:rPr>
                        </m:ctrlPr>
                      </m:sSupPr>
                      <m:e>
                        <m:r>
                          <a:rPr lang="en-US" sz="2400" i="1">
                            <a:latin typeface="Cambria Math" panose="02040503050406030204" pitchFamily="18" charset="0"/>
                          </a:rPr>
                          <m:t>𝐴</m:t>
                        </m:r>
                      </m:e>
                      <m:sup>
                        <m:r>
                          <a:rPr lang="en-US" sz="2400" i="1">
                            <a:latin typeface="Cambria Math" panose="02040503050406030204" pitchFamily="18" charset="0"/>
                          </a:rPr>
                          <m:t>𝑇</m:t>
                        </m:r>
                      </m:sup>
                    </m:sSup>
                    <m:r>
                      <a:rPr lang="en-US" sz="2400" i="1">
                        <a:latin typeface="Cambria Math" panose="02040503050406030204" pitchFamily="18" charset="0"/>
                      </a:rPr>
                      <m:t>𝐴</m:t>
                    </m:r>
                    <m:r>
                      <a:rPr lang="en-US" sz="2400" b="0" i="1" smtClean="0">
                        <a:latin typeface="Cambria Math" panose="02040503050406030204" pitchFamily="18" charset="0"/>
                      </a:rPr>
                      <m:t>=</m:t>
                    </m:r>
                    <m:d>
                      <m:dPr>
                        <m:begChr m:val="["/>
                        <m:endChr m:val="]"/>
                        <m:ctrlPr>
                          <a:rPr lang="en-US" sz="2400" i="1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m>
                          <m:mPr>
                            <m:mcs>
                              <m:mc>
                                <m:mcPr>
                                  <m:count m:val="2"/>
                                  <m:mcJc m:val="center"/>
                                </m:mcPr>
                              </m:mc>
                            </m:mcs>
                            <m:ctrlPr>
                              <a:rPr lang="en-US" sz="2400" i="1">
                                <a:latin typeface="Cambria Math" panose="02040503050406030204" pitchFamily="18" charset="0"/>
                              </a:rPr>
                            </m:ctrlPr>
                          </m:mPr>
                          <m:mr>
                            <m:e>
                              <m:r>
                                <m:rPr>
                                  <m:brk m:alnAt="7"/>
                                </m:rPr>
                                <a:rPr lang="en-US" sz="2400" b="0" i="1">
                                  <a:latin typeface="Cambria Math" panose="02040503050406030204" pitchFamily="18" charset="0"/>
                                </a:rPr>
                                <m:t>−</m:t>
                              </m:r>
                              <m:r>
                                <a:rPr lang="en-US" sz="2400" b="0" i="1">
                                  <a:latin typeface="Cambria Math" panose="02040503050406030204" pitchFamily="18" charset="0"/>
                                </a:rPr>
                                <m:t>4</m:t>
                              </m:r>
                            </m:e>
                            <m:e>
                              <m:r>
                                <a:rPr lang="en-US" sz="2400" b="0" i="1" smtClean="0">
                                  <a:latin typeface="Cambria Math" panose="02040503050406030204" pitchFamily="18" charset="0"/>
                                </a:rPr>
                                <m:t>1</m:t>
                              </m:r>
                            </m:e>
                          </m:mr>
                          <m:mr>
                            <m:e>
                              <m:r>
                                <a:rPr lang="en-US" sz="2400" b="0" i="1" smtClean="0">
                                  <a:latin typeface="Cambria Math" panose="02040503050406030204" pitchFamily="18" charset="0"/>
                                </a:rPr>
                                <m:t>−7</m:t>
                              </m:r>
                            </m:e>
                            <m:e>
                              <m:r>
                                <a:rPr lang="en-US" sz="2400" b="0" i="1">
                                  <a:latin typeface="Cambria Math" panose="02040503050406030204" pitchFamily="18" charset="0"/>
                                </a:rPr>
                                <m:t>4</m:t>
                              </m:r>
                            </m:e>
                          </m:mr>
                        </m:m>
                      </m:e>
                    </m:d>
                  </m:oMath>
                </a14:m>
                <a:r>
                  <a:rPr lang="en-US" sz="2400" dirty="0"/>
                  <a:t> *</a:t>
                </a:r>
                <a14:m>
                  <m:oMath xmlns:m="http://schemas.openxmlformats.org/officeDocument/2006/math">
                    <m:d>
                      <m:dPr>
                        <m:begChr m:val="["/>
                        <m:endChr m:val="]"/>
                        <m:ctrlPr>
                          <a:rPr lang="en-US" sz="2400" i="1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m>
                          <m:mPr>
                            <m:mcs>
                              <m:mc>
                                <m:mcPr>
                                  <m:count m:val="2"/>
                                  <m:mcJc m:val="center"/>
                                </m:mcPr>
                              </m:mc>
                            </m:mcs>
                            <m:ctrlPr>
                              <a:rPr lang="en-US" sz="2400" i="1">
                                <a:latin typeface="Cambria Math" panose="02040503050406030204" pitchFamily="18" charset="0"/>
                              </a:rPr>
                            </m:ctrlPr>
                          </m:mPr>
                          <m:mr>
                            <m:e>
                              <m:r>
                                <m:rPr>
                                  <m:brk m:alnAt="7"/>
                                </m:rPr>
                                <a:rPr lang="en-US" sz="2400" b="0" i="1">
                                  <a:latin typeface="Cambria Math" panose="02040503050406030204" pitchFamily="18" charset="0"/>
                                </a:rPr>
                                <m:t>−</m:t>
                              </m:r>
                              <m:r>
                                <a:rPr lang="en-US" sz="2400" b="0" i="1">
                                  <a:latin typeface="Cambria Math" panose="02040503050406030204" pitchFamily="18" charset="0"/>
                                </a:rPr>
                                <m:t>4</m:t>
                              </m:r>
                            </m:e>
                            <m:e>
                              <m:r>
                                <a:rPr lang="en-US" sz="2400" b="0" i="1">
                                  <a:latin typeface="Cambria Math" panose="02040503050406030204" pitchFamily="18" charset="0"/>
                                </a:rPr>
                                <m:t>−7</m:t>
                              </m:r>
                            </m:e>
                          </m:mr>
                          <m:mr>
                            <m:e>
                              <m:r>
                                <a:rPr lang="en-US" sz="2400" b="0" i="1">
                                  <a:latin typeface="Cambria Math" panose="02040503050406030204" pitchFamily="18" charset="0"/>
                                </a:rPr>
                                <m:t>1</m:t>
                              </m:r>
                            </m:e>
                            <m:e>
                              <m:r>
                                <a:rPr lang="en-US" sz="2400" b="0" i="1">
                                  <a:latin typeface="Cambria Math" panose="02040503050406030204" pitchFamily="18" charset="0"/>
                                </a:rPr>
                                <m:t>4</m:t>
                              </m:r>
                            </m:e>
                          </m:mr>
                        </m:m>
                      </m:e>
                    </m:d>
                    <m:r>
                      <a:rPr lang="en-US" sz="2400" b="0" i="1" smtClean="0">
                        <a:latin typeface="Cambria Math" panose="02040503050406030204" pitchFamily="18" charset="0"/>
                      </a:rPr>
                      <m:t>=</m:t>
                    </m:r>
                    <m:d>
                      <m:dPr>
                        <m:begChr m:val="["/>
                        <m:endChr m:val="]"/>
                        <m:ctrlPr>
                          <a:rPr lang="en-US" sz="2400" i="1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m>
                          <m:mPr>
                            <m:mcs>
                              <m:mc>
                                <m:mcPr>
                                  <m:count m:val="2"/>
                                  <m:mcJc m:val="center"/>
                                </m:mcPr>
                              </m:mc>
                            </m:mcs>
                            <m:ctrlPr>
                              <a:rPr lang="en-US" sz="2400" i="1">
                                <a:latin typeface="Cambria Math" panose="02040503050406030204" pitchFamily="18" charset="0"/>
                              </a:rPr>
                            </m:ctrlPr>
                          </m:mPr>
                          <m:mr>
                            <m:e>
                              <m:r>
                                <m:rPr>
                                  <m:brk m:alnAt="7"/>
                                </m:rPr>
                                <a:rPr lang="en-US" sz="2400" b="0" i="1" smtClean="0">
                                  <a:latin typeface="Cambria Math" panose="02040503050406030204" pitchFamily="18" charset="0"/>
                                </a:rPr>
                                <m:t>1</m:t>
                              </m:r>
                              <m:r>
                                <a:rPr lang="en-US" sz="2400" b="0" i="1" smtClean="0">
                                  <a:latin typeface="Cambria Math" panose="02040503050406030204" pitchFamily="18" charset="0"/>
                                </a:rPr>
                                <m:t>7</m:t>
                              </m:r>
                            </m:e>
                            <m:e>
                              <m:r>
                                <a:rPr lang="en-US" sz="2400" b="0" i="1" smtClean="0">
                                  <a:latin typeface="Cambria Math" panose="02040503050406030204" pitchFamily="18" charset="0"/>
                                </a:rPr>
                                <m:t>32</m:t>
                              </m:r>
                            </m:e>
                          </m:mr>
                          <m:mr>
                            <m:e>
                              <m:r>
                                <a:rPr lang="en-US" sz="2400" b="0" i="1" smtClean="0">
                                  <a:latin typeface="Cambria Math" panose="02040503050406030204" pitchFamily="18" charset="0"/>
                                </a:rPr>
                                <m:t>32</m:t>
                              </m:r>
                            </m:e>
                            <m:e>
                              <m:r>
                                <a:rPr lang="en-US" sz="2400" b="0" i="1" smtClean="0">
                                  <a:latin typeface="Cambria Math" panose="02040503050406030204" pitchFamily="18" charset="0"/>
                                </a:rPr>
                                <m:t>65</m:t>
                              </m:r>
                            </m:e>
                          </m:mr>
                        </m:m>
                      </m:e>
                    </m:d>
                  </m:oMath>
                </a14:m>
                <a:endParaRPr lang="en-US" sz="2400" i="0" dirty="0">
                  <a:effectLst/>
                  <a:latin typeface="Nunito" pitchFamily="2" charset="0"/>
                </a:endParaRPr>
              </a:p>
              <a:p>
                <a:pPr marL="0" indent="0" fontAlgn="base">
                  <a:spcAft>
                    <a:spcPts val="1800"/>
                  </a:spcAft>
                  <a:buNone/>
                </a:pPr>
                <a:r>
                  <a:rPr lang="en-US" sz="2400" dirty="0">
                    <a:latin typeface="Nunito" pitchFamily="2" charset="0"/>
                  </a:rPr>
                  <a:t>Eigen values of </a:t>
                </a:r>
                <a14:m>
                  <m:oMath xmlns:m="http://schemas.openxmlformats.org/officeDocument/2006/math">
                    <m:sSup>
                      <m:sSupPr>
                        <m:ctrlPr>
                          <a:rPr lang="en-US" sz="2400" i="1">
                            <a:latin typeface="Cambria Math" panose="02040503050406030204" pitchFamily="18" charset="0"/>
                          </a:rPr>
                        </m:ctrlPr>
                      </m:sSupPr>
                      <m:e>
                        <m:r>
                          <a:rPr lang="en-US" sz="2400" i="1">
                            <a:latin typeface="Cambria Math" panose="02040503050406030204" pitchFamily="18" charset="0"/>
                          </a:rPr>
                          <m:t>𝐴</m:t>
                        </m:r>
                      </m:e>
                      <m:sup>
                        <m:r>
                          <a:rPr lang="en-US" sz="2400" i="1">
                            <a:latin typeface="Cambria Math" panose="02040503050406030204" pitchFamily="18" charset="0"/>
                          </a:rPr>
                          <m:t>𝑇</m:t>
                        </m:r>
                      </m:sup>
                    </m:sSup>
                    <m:r>
                      <a:rPr lang="en-US" sz="2400" i="1">
                        <a:latin typeface="Cambria Math" panose="02040503050406030204" pitchFamily="18" charset="0"/>
                      </a:rPr>
                      <m:t>𝐴</m:t>
                    </m:r>
                  </m:oMath>
                </a14:m>
                <a:r>
                  <a:rPr lang="en-US" sz="2400" dirty="0">
                    <a:latin typeface="Nunito" pitchFamily="2" charset="0"/>
                  </a:rPr>
                  <a:t> = </a:t>
                </a:r>
                <a14:m>
                  <m:oMath xmlns:m="http://schemas.openxmlformats.org/officeDocument/2006/math">
                    <m:d>
                      <m:dPr>
                        <m:begChr m:val="|"/>
                        <m:endChr m:val="|"/>
                        <m:ctrlPr>
                          <a:rPr lang="en-US" sz="2400" i="1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m>
                          <m:mPr>
                            <m:mcs>
                              <m:mc>
                                <m:mcPr>
                                  <m:count m:val="2"/>
                                  <m:mcJc m:val="center"/>
                                </m:mcPr>
                              </m:mc>
                            </m:mcs>
                            <m:ctrlPr>
                              <a:rPr lang="en-US" sz="2400" i="1">
                                <a:latin typeface="Cambria Math" panose="02040503050406030204" pitchFamily="18" charset="0"/>
                              </a:rPr>
                            </m:ctrlPr>
                          </m:mPr>
                          <m:mr>
                            <m:e>
                              <m:r>
                                <m:rPr>
                                  <m:brk m:alnAt="7"/>
                                </m:rPr>
                                <a:rPr lang="en-US" sz="2400" i="1">
                                  <a:latin typeface="Cambria Math" panose="02040503050406030204" pitchFamily="18" charset="0"/>
                                </a:rPr>
                                <m:t>1</m:t>
                              </m:r>
                              <m:r>
                                <a:rPr lang="en-US" sz="2400" i="1">
                                  <a:latin typeface="Cambria Math" panose="02040503050406030204" pitchFamily="18" charset="0"/>
                                </a:rPr>
                                <m:t>7−</m:t>
                              </m:r>
                              <m:r>
                                <a:rPr lang="en-US" sz="2400" i="1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⋋</m:t>
                              </m:r>
                            </m:e>
                            <m:e>
                              <m:r>
                                <a:rPr lang="en-US" sz="2400" i="1">
                                  <a:latin typeface="Cambria Math" panose="02040503050406030204" pitchFamily="18" charset="0"/>
                                </a:rPr>
                                <m:t>32</m:t>
                              </m:r>
                            </m:e>
                          </m:mr>
                          <m:mr>
                            <m:e>
                              <m:r>
                                <a:rPr lang="en-US" sz="2400" i="1">
                                  <a:latin typeface="Cambria Math" panose="02040503050406030204" pitchFamily="18" charset="0"/>
                                </a:rPr>
                                <m:t>32</m:t>
                              </m:r>
                            </m:e>
                            <m:e>
                              <m:r>
                                <a:rPr lang="en-US" sz="2400" i="1">
                                  <a:latin typeface="Cambria Math" panose="02040503050406030204" pitchFamily="18" charset="0"/>
                                </a:rPr>
                                <m:t>16−</m:t>
                              </m:r>
                              <m:r>
                                <a:rPr lang="en-US" sz="2400" i="1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⋋</m:t>
                              </m:r>
                            </m:e>
                          </m:mr>
                        </m:m>
                      </m:e>
                    </m:d>
                    <m:r>
                      <a:rPr lang="en-US" sz="2400" i="1">
                        <a:latin typeface="Cambria Math" panose="02040503050406030204" pitchFamily="18" charset="0"/>
                      </a:rPr>
                      <m:t>=0</m:t>
                    </m:r>
                  </m:oMath>
                </a14:m>
                <a:endParaRPr lang="en-US" sz="2400" dirty="0">
                  <a:latin typeface="Nunito" pitchFamily="2" charset="0"/>
                </a:endParaRPr>
              </a:p>
              <a:p>
                <a:pPr marL="0" indent="0" fontAlgn="base">
                  <a:spcAft>
                    <a:spcPts val="1800"/>
                  </a:spcAft>
                  <a:buNone/>
                </a:pPr>
                <a:r>
                  <a:rPr lang="en-US" sz="2400" dirty="0">
                    <a:latin typeface="Nunito" pitchFamily="2" charset="0"/>
                  </a:rPr>
                  <a:t>Eigen values of </a:t>
                </a:r>
                <a14:m>
                  <m:oMath xmlns:m="http://schemas.openxmlformats.org/officeDocument/2006/math">
                    <m:sSup>
                      <m:sSupPr>
                        <m:ctrlPr>
                          <a:rPr lang="en-US" sz="2400" i="1">
                            <a:latin typeface="Cambria Math" panose="02040503050406030204" pitchFamily="18" charset="0"/>
                          </a:rPr>
                        </m:ctrlPr>
                      </m:sSupPr>
                      <m:e>
                        <m:r>
                          <a:rPr lang="en-US" sz="2400" i="1">
                            <a:latin typeface="Cambria Math" panose="02040503050406030204" pitchFamily="18" charset="0"/>
                          </a:rPr>
                          <m:t>𝐴</m:t>
                        </m:r>
                      </m:e>
                      <m:sup>
                        <m:r>
                          <a:rPr lang="en-US" sz="2400" i="1">
                            <a:latin typeface="Cambria Math" panose="02040503050406030204" pitchFamily="18" charset="0"/>
                          </a:rPr>
                          <m:t>𝑇</m:t>
                        </m:r>
                      </m:sup>
                    </m:sSup>
                    <m:r>
                      <a:rPr lang="en-US" sz="2400" i="1">
                        <a:latin typeface="Cambria Math" panose="02040503050406030204" pitchFamily="18" charset="0"/>
                      </a:rPr>
                      <m:t>𝐴</m:t>
                    </m:r>
                  </m:oMath>
                </a14:m>
                <a:r>
                  <a:rPr lang="en-US" sz="2400" dirty="0">
                    <a:latin typeface="Nunito" pitchFamily="2" charset="0"/>
                  </a:rPr>
                  <a:t> are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sz="2400" i="1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sz="2400" i="1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⋋</m:t>
                        </m:r>
                      </m:e>
                      <m:sub>
                        <m:r>
                          <a:rPr lang="en-US" sz="2400" b="0" i="1" smtClean="0">
                            <a:latin typeface="Cambria Math" panose="02040503050406030204" pitchFamily="18" charset="0"/>
                          </a:rPr>
                          <m:t>1</m:t>
                        </m:r>
                      </m:sub>
                    </m:sSub>
                    <m:r>
                      <a:rPr lang="en-US" sz="2400" b="0" i="1" smtClean="0">
                        <a:latin typeface="Cambria Math" panose="02040503050406030204" pitchFamily="18" charset="0"/>
                      </a:rPr>
                      <m:t>=</m:t>
                    </m:r>
                  </m:oMath>
                </a14:m>
                <a:r>
                  <a:rPr lang="en-US" sz="2400" dirty="0">
                    <a:latin typeface="Nunito" pitchFamily="2" charset="0"/>
                  </a:rPr>
                  <a:t>81,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sz="2400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sz="2400" i="1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⋋</m:t>
                        </m:r>
                      </m:e>
                      <m:sub>
                        <m:r>
                          <a:rPr lang="en-US" sz="2400" b="0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2</m:t>
                        </m:r>
                      </m:sub>
                    </m:sSub>
                    <m:r>
                      <a:rPr lang="en-US" sz="2400" i="1">
                        <a:latin typeface="Cambria Math" panose="02040503050406030204" pitchFamily="18" charset="0"/>
                      </a:rPr>
                      <m:t>=</m:t>
                    </m:r>
                  </m:oMath>
                </a14:m>
                <a:r>
                  <a:rPr lang="en-US" sz="2400" dirty="0">
                    <a:latin typeface="Nunito" pitchFamily="2" charset="0"/>
                  </a:rPr>
                  <a:t>1 </a:t>
                </a:r>
              </a:p>
              <a:p>
                <a:endParaRPr lang="en-IN" sz="2400" dirty="0"/>
              </a:p>
            </p:txBody>
          </p:sp>
        </mc:Choice>
        <mc:Fallback xmlns="">
          <p:sp>
            <p:nvSpPr>
              <p:cNvPr id="3" name="Content Placeholder 2">
                <a:extLst>
                  <a:ext uri="{FF2B5EF4-FFF2-40B4-BE49-F238E27FC236}">
                    <a16:creationId xmlns:a16="http://schemas.microsoft.com/office/drawing/2014/main" id="{51CE595D-317B-DB49-B0FD-E2D1AF7ADCAE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xfrm>
                <a:off x="758757" y="1400783"/>
                <a:ext cx="10595043" cy="4776180"/>
              </a:xfrm>
              <a:blipFill>
                <a:blip r:embed="rId2"/>
                <a:stretch>
                  <a:fillRect l="-863"/>
                </a:stretch>
              </a:blipFill>
            </p:spPr>
            <p:txBody>
              <a:bodyPr/>
              <a:lstStyle/>
              <a:p>
                <a:r>
                  <a:rPr lang="en-IN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2914190130"/>
      </p:ext>
    </p:extLst>
  </p:cSld>
  <p:clrMapOvr>
    <a:masterClrMapping/>
  </p:clrMapOvr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49710920-C884-1A27-DAD3-888C0A1047D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DE07E2C-B796-3584-9BED-CEF06500B50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974714" y="165370"/>
            <a:ext cx="9048539" cy="858195"/>
          </a:xfrm>
        </p:spPr>
        <p:txBody>
          <a:bodyPr>
            <a:normAutofit fontScale="90000"/>
          </a:bodyPr>
          <a:lstStyle/>
          <a:p>
            <a:r>
              <a:rPr lang="en-IN" b="1" i="0" dirty="0">
                <a:solidFill>
                  <a:srgbClr val="FFFFFF"/>
                </a:solidFill>
                <a:effectLst/>
                <a:latin typeface="Source Sans 3"/>
              </a:rPr>
              <a:t>Singular Value Decomposition (SVD)</a:t>
            </a:r>
            <a:br>
              <a:rPr lang="en-IN" b="1" i="0" dirty="0">
                <a:solidFill>
                  <a:srgbClr val="FFFFFF"/>
                </a:solidFill>
                <a:effectLst/>
                <a:latin typeface="Source Sans 3"/>
              </a:rPr>
            </a:br>
            <a:r>
              <a:rPr lang="en-IN" b="1" i="0" dirty="0">
                <a:solidFill>
                  <a:srgbClr val="FFFFFF"/>
                </a:solidFill>
                <a:effectLst/>
                <a:latin typeface="Source Sans 3"/>
              </a:rPr>
              <a:t>Sing Singular Value Decomposition (SVD)</a:t>
            </a:r>
            <a:br>
              <a:rPr lang="en-IN" b="1" i="0" dirty="0">
                <a:solidFill>
                  <a:srgbClr val="FFFFFF"/>
                </a:solidFill>
                <a:effectLst/>
                <a:latin typeface="Source Sans 3"/>
              </a:rPr>
            </a:br>
            <a:r>
              <a:rPr lang="en-IN" b="1" i="0" dirty="0">
                <a:solidFill>
                  <a:srgbClr val="FF0000"/>
                </a:solidFill>
                <a:effectLst/>
                <a:latin typeface="Source Sans 3"/>
              </a:rPr>
              <a:t>Singular Value Decomposition (SVD) (</a:t>
            </a:r>
            <a:r>
              <a:rPr lang="en-IN" b="1" i="0" dirty="0" err="1">
                <a:solidFill>
                  <a:srgbClr val="FF0000"/>
                </a:solidFill>
                <a:effectLst/>
                <a:latin typeface="Source Sans 3"/>
              </a:rPr>
              <a:t>Cont</a:t>
            </a:r>
            <a:r>
              <a:rPr lang="en-IN" b="1" i="0" dirty="0">
                <a:solidFill>
                  <a:srgbClr val="FF0000"/>
                </a:solidFill>
                <a:effectLst/>
                <a:latin typeface="Source Sans 3"/>
              </a:rPr>
              <a:t>..II)</a:t>
            </a:r>
            <a:br>
              <a:rPr lang="en-IN" b="1" i="0" dirty="0">
                <a:solidFill>
                  <a:srgbClr val="FF0000"/>
                </a:solidFill>
                <a:effectLst/>
                <a:latin typeface="Source Sans 3"/>
              </a:rPr>
            </a:br>
            <a:br>
              <a:rPr lang="en-US" b="1" dirty="0">
                <a:solidFill>
                  <a:srgbClr val="FF0000"/>
                </a:solidFill>
              </a:rPr>
            </a:br>
            <a:endParaRPr lang="en-IN" dirty="0">
              <a:solidFill>
                <a:srgbClr val="FF0000"/>
              </a:solidFill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" name="Content Placeholder 2">
                <a:extLst>
                  <a:ext uri="{FF2B5EF4-FFF2-40B4-BE49-F238E27FC236}">
                    <a16:creationId xmlns:a16="http://schemas.microsoft.com/office/drawing/2014/main" id="{8C560889-6E44-8227-B308-32AD90AED1A4}"/>
                  </a:ext>
                </a:extLst>
              </p:cNvPr>
              <p:cNvSpPr>
                <a:spLocks noGrp="1"/>
              </p:cNvSpPr>
              <p:nvPr>
                <p:ph idx="1"/>
              </p:nvPr>
            </p:nvSpPr>
            <p:spPr>
              <a:xfrm>
                <a:off x="1168747" y="1753140"/>
                <a:ext cx="10474613" cy="2327226"/>
              </a:xfrm>
            </p:spPr>
            <p:txBody>
              <a:bodyPr>
                <a:noAutofit/>
              </a:bodyPr>
              <a:lstStyle/>
              <a:p>
                <a:pPr marL="0" indent="0" fontAlgn="base">
                  <a:spcAft>
                    <a:spcPts val="1800"/>
                  </a:spcAft>
                  <a:buNone/>
                </a:pPr>
                <a:r>
                  <a:rPr lang="en-US" sz="2400" b="1" i="0" dirty="0">
                    <a:effectLst/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Step2: </a:t>
                </a:r>
                <a:r>
                  <a:rPr lang="en-US" sz="2400" b="0" i="0" dirty="0">
                    <a:effectLst/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Find the Eigen vectors of </a:t>
                </a:r>
                <a14:m>
                  <m:oMath xmlns:m="http://schemas.openxmlformats.org/officeDocument/2006/math">
                    <m:sSup>
                      <m:sSupPr>
                        <m:ctrlPr>
                          <a:rPr lang="en-US" sz="2400" b="0" i="1" smtClean="0">
                            <a:effectLst/>
                            <a:latin typeface="Cambria Math" panose="02040503050406030204" pitchFamily="18" charset="0"/>
                          </a:rPr>
                        </m:ctrlPr>
                      </m:sSupPr>
                      <m:e>
                        <m:r>
                          <a:rPr lang="en-US" sz="2400" b="0" i="1" smtClean="0">
                            <a:effectLst/>
                            <a:latin typeface="Cambria Math" panose="02040503050406030204" pitchFamily="18" charset="0"/>
                          </a:rPr>
                          <m:t>𝐴</m:t>
                        </m:r>
                      </m:e>
                      <m:sup>
                        <m:r>
                          <a:rPr lang="en-US" sz="2400" b="0" i="1" smtClean="0">
                            <a:effectLst/>
                            <a:latin typeface="Cambria Math" panose="02040503050406030204" pitchFamily="18" charset="0"/>
                          </a:rPr>
                          <m:t>𝑇</m:t>
                        </m:r>
                      </m:sup>
                    </m:sSup>
                    <m:r>
                      <a:rPr lang="en-US" sz="2400" b="0" i="1" smtClean="0">
                        <a:effectLst/>
                        <a:latin typeface="Cambria Math" panose="02040503050406030204" pitchFamily="18" charset="0"/>
                      </a:rPr>
                      <m:t>𝐴</m:t>
                    </m:r>
                  </m:oMath>
                </a14:m>
                <a:r>
                  <a:rPr lang="en-US" sz="2400" b="0" i="0" dirty="0">
                    <a:effectLst/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 &amp; </a:t>
                </a:r>
                <a:r>
                  <a:rPr lang="en-US" sz="2400" dirty="0"/>
                  <a:t>Right singular vectors (transpose of orthogonal matrix V)</a:t>
                </a:r>
                <a:endParaRPr lang="en-US" sz="2400" b="0" i="0" dirty="0">
                  <a:effectLst/>
                  <a:latin typeface="Times New Roman" panose="02020603050405020304" pitchFamily="18" charset="0"/>
                  <a:cs typeface="Times New Roman" panose="02020603050405020304" pitchFamily="18" charset="0"/>
                </a:endParaRPr>
              </a:p>
              <a:p>
                <a:pPr marL="0" indent="0" fontAlgn="base">
                  <a:spcAft>
                    <a:spcPts val="1800"/>
                  </a:spcAft>
                  <a:buNone/>
                </a:pPr>
                <a:r>
                  <a:rPr lang="en-US" sz="2400" b="0" i="0" dirty="0">
                    <a:effectLst/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Eigen vector for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sz="2400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sz="2400" i="1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⋋</m:t>
                        </m:r>
                      </m:e>
                      <m:sub>
                        <m:r>
                          <a:rPr lang="en-US" sz="2400" i="1">
                            <a:latin typeface="Cambria Math" panose="02040503050406030204" pitchFamily="18" charset="0"/>
                          </a:rPr>
                          <m:t>1</m:t>
                        </m:r>
                      </m:sub>
                    </m:sSub>
                    <m:r>
                      <a:rPr lang="en-US" sz="2400" i="1">
                        <a:latin typeface="Cambria Math" panose="02040503050406030204" pitchFamily="18" charset="0"/>
                      </a:rPr>
                      <m:t>=</m:t>
                    </m:r>
                  </m:oMath>
                </a14:m>
                <a:r>
                  <a:rPr lang="en-US" sz="2400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81 is:   </a:t>
                </a:r>
                <a14:m>
                  <m:oMath xmlns:m="http://schemas.openxmlformats.org/officeDocument/2006/math">
                    <m:d>
                      <m:dPr>
                        <m:begChr m:val="["/>
                        <m:endChr m:val="]"/>
                        <m:ctrlPr>
                          <a:rPr lang="en-US" sz="2400" i="1" smtClean="0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m>
                          <m:mPr>
                            <m:mcs>
                              <m:mc>
                                <m:mcPr>
                                  <m:count m:val="2"/>
                                  <m:mcJc m:val="center"/>
                                </m:mcPr>
                              </m:mc>
                            </m:mcs>
                            <m:ctrlPr>
                              <a:rPr lang="en-US" sz="2400" i="1">
                                <a:latin typeface="Cambria Math" panose="02040503050406030204" pitchFamily="18" charset="0"/>
                              </a:rPr>
                            </m:ctrlPr>
                          </m:mPr>
                          <m:mr>
                            <m:e>
                              <m:r>
                                <m:rPr>
                                  <m:brk m:alnAt="7"/>
                                </m:rPr>
                                <a:rPr lang="en-US" sz="2400" i="1">
                                  <a:latin typeface="Cambria Math" panose="02040503050406030204" pitchFamily="18" charset="0"/>
                                </a:rPr>
                                <m:t>1</m:t>
                              </m:r>
                              <m:r>
                                <a:rPr lang="en-US" sz="2400" i="1">
                                  <a:latin typeface="Cambria Math" panose="02040503050406030204" pitchFamily="18" charset="0"/>
                                </a:rPr>
                                <m:t>7</m:t>
                              </m:r>
                              <m:r>
                                <a:rPr lang="en-US" sz="2400" b="0" i="1" smtClean="0">
                                  <a:latin typeface="Cambria Math" panose="02040503050406030204" pitchFamily="18" charset="0"/>
                                </a:rPr>
                                <m:t>−</m:t>
                              </m:r>
                              <m:r>
                                <a:rPr lang="en-US" sz="2400" i="1">
                                  <a:solidFill>
                                    <a:prstClr val="black"/>
                                  </a:solidFill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⋋</m:t>
                              </m:r>
                            </m:e>
                            <m:e>
                              <m:r>
                                <a:rPr lang="en-US" sz="2400" i="1">
                                  <a:latin typeface="Cambria Math" panose="02040503050406030204" pitchFamily="18" charset="0"/>
                                </a:rPr>
                                <m:t>32</m:t>
                              </m:r>
                            </m:e>
                          </m:mr>
                          <m:mr>
                            <m:e>
                              <m:r>
                                <a:rPr lang="en-US" sz="2400" i="1">
                                  <a:latin typeface="Cambria Math" panose="02040503050406030204" pitchFamily="18" charset="0"/>
                                </a:rPr>
                                <m:t>32</m:t>
                              </m:r>
                            </m:e>
                            <m:e>
                              <m:r>
                                <a:rPr lang="en-US" sz="2400" i="1">
                                  <a:latin typeface="Cambria Math" panose="02040503050406030204" pitchFamily="18" charset="0"/>
                                </a:rPr>
                                <m:t>65</m:t>
                              </m:r>
                              <m:r>
                                <a:rPr lang="en-US" sz="2400" b="0" i="1" smtClean="0">
                                  <a:latin typeface="Cambria Math" panose="02040503050406030204" pitchFamily="18" charset="0"/>
                                </a:rPr>
                                <m:t>−</m:t>
                              </m:r>
                              <m:r>
                                <a:rPr lang="en-US" sz="2400" i="1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⋋</m:t>
                              </m:r>
                            </m:e>
                          </m:mr>
                        </m:m>
                      </m:e>
                    </m:d>
                    <m:d>
                      <m:dPr>
                        <m:begChr m:val="["/>
                        <m:endChr m:val="]"/>
                        <m:ctrlPr>
                          <a:rPr lang="en-US" sz="2400" i="1" smtClean="0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m>
                          <m:mPr>
                            <m:mcs>
                              <m:mc>
                                <m:mcPr>
                                  <m:count m:val="1"/>
                                  <m:mcJc m:val="center"/>
                                </m:mcPr>
                              </m:mc>
                            </m:mcs>
                            <m:ctrlPr>
                              <a:rPr lang="en-US" sz="2400" i="1" smtClean="0">
                                <a:latin typeface="Cambria Math" panose="02040503050406030204" pitchFamily="18" charset="0"/>
                              </a:rPr>
                            </m:ctrlPr>
                          </m:mPr>
                          <m:mr>
                            <m:e>
                              <m:sSub>
                                <m:sSubPr>
                                  <m:ctrlPr>
                                    <a:rPr lang="en-US" sz="2400" i="1" smtClean="0">
                                      <a:latin typeface="Cambria Math" panose="02040503050406030204" pitchFamily="18" charset="0"/>
                                    </a:rPr>
                                  </m:ctrlPr>
                                </m:sSubPr>
                                <m:e>
                                  <m:r>
                                    <a:rPr lang="en-US" sz="2400" b="0" i="1" smtClean="0">
                                      <a:latin typeface="Cambria Math" panose="02040503050406030204" pitchFamily="18" charset="0"/>
                                    </a:rPr>
                                    <m:t>𝑥</m:t>
                                  </m:r>
                                </m:e>
                                <m:sub>
                                  <m:r>
                                    <a:rPr lang="en-US" sz="2400" b="0" i="1" smtClean="0">
                                      <a:latin typeface="Cambria Math" panose="02040503050406030204" pitchFamily="18" charset="0"/>
                                    </a:rPr>
                                    <m:t>1</m:t>
                                  </m:r>
                                </m:sub>
                              </m:sSub>
                            </m:e>
                          </m:mr>
                          <m:mr>
                            <m:e>
                              <m:sSub>
                                <m:sSubPr>
                                  <m:ctrlPr>
                                    <a:rPr lang="en-US" sz="2400" i="1" smtClean="0">
                                      <a:latin typeface="Cambria Math" panose="02040503050406030204" pitchFamily="18" charset="0"/>
                                    </a:rPr>
                                  </m:ctrlPr>
                                </m:sSubPr>
                                <m:e>
                                  <m:r>
                                    <a:rPr lang="en-US" sz="2400" b="0" i="1" smtClean="0">
                                      <a:latin typeface="Cambria Math" panose="02040503050406030204" pitchFamily="18" charset="0"/>
                                    </a:rPr>
                                    <m:t>𝑥</m:t>
                                  </m:r>
                                </m:e>
                                <m:sub>
                                  <m:r>
                                    <a:rPr lang="en-US" sz="2400" b="0" i="1" smtClean="0">
                                      <a:latin typeface="Cambria Math" panose="02040503050406030204" pitchFamily="18" charset="0"/>
                                    </a:rPr>
                                    <m:t>2</m:t>
                                  </m:r>
                                </m:sub>
                              </m:sSub>
                            </m:e>
                          </m:mr>
                        </m:m>
                      </m:e>
                    </m:d>
                    <m:r>
                      <a:rPr lang="en-US" sz="2400" b="0" i="1" smtClean="0">
                        <a:latin typeface="Cambria Math" panose="02040503050406030204" pitchFamily="18" charset="0"/>
                      </a:rPr>
                      <m:t>=0</m:t>
                    </m:r>
                    <m:r>
                      <a:rPr lang="en-US" sz="2400" b="0" i="0" smtClean="0">
                        <a:latin typeface="Cambria Math" panose="02040503050406030204" pitchFamily="18" charset="0"/>
                      </a:rPr>
                      <m:t> </m:t>
                    </m:r>
                    <m:r>
                      <a:rPr lang="en-US" sz="2400" b="0" i="1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→</m:t>
                    </m:r>
                    <m:d>
                      <m:dPr>
                        <m:begChr m:val="["/>
                        <m:endChr m:val="]"/>
                        <m:ctrlPr>
                          <a:rPr lang="en-US" sz="2400" i="1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m>
                          <m:mPr>
                            <m:mcs>
                              <m:mc>
                                <m:mcPr>
                                  <m:count m:val="2"/>
                                  <m:mcJc m:val="center"/>
                                </m:mcPr>
                              </m:mc>
                            </m:mcs>
                            <m:ctrlPr>
                              <a:rPr lang="en-US" sz="2400" i="1">
                                <a:latin typeface="Cambria Math" panose="02040503050406030204" pitchFamily="18" charset="0"/>
                              </a:rPr>
                            </m:ctrlPr>
                          </m:mPr>
                          <m:mr>
                            <m:e>
                              <m:r>
                                <m:rPr>
                                  <m:brk m:alnAt="7"/>
                                </m:rPr>
                                <a:rPr lang="en-US" sz="2400" b="0" i="1" smtClean="0">
                                  <a:latin typeface="Cambria Math" panose="02040503050406030204" pitchFamily="18" charset="0"/>
                                </a:rPr>
                                <m:t>−</m:t>
                              </m:r>
                              <m:r>
                                <a:rPr lang="en-US" sz="2400" b="0" i="1" smtClean="0">
                                  <a:latin typeface="Cambria Math" panose="02040503050406030204" pitchFamily="18" charset="0"/>
                                </a:rPr>
                                <m:t>64</m:t>
                              </m:r>
                            </m:e>
                            <m:e>
                              <m:r>
                                <a:rPr lang="en-US" sz="2400" i="1">
                                  <a:latin typeface="Cambria Math" panose="02040503050406030204" pitchFamily="18" charset="0"/>
                                </a:rPr>
                                <m:t>32</m:t>
                              </m:r>
                            </m:e>
                          </m:mr>
                          <m:mr>
                            <m:e>
                              <m:r>
                                <a:rPr lang="en-US" sz="2400" i="1">
                                  <a:latin typeface="Cambria Math" panose="02040503050406030204" pitchFamily="18" charset="0"/>
                                </a:rPr>
                                <m:t>32</m:t>
                              </m:r>
                            </m:e>
                            <m:e>
                              <m:r>
                                <a:rPr lang="en-US" sz="2400" b="0" i="1" smtClean="0">
                                  <a:latin typeface="Cambria Math" panose="02040503050406030204" pitchFamily="18" charset="0"/>
                                </a:rPr>
                                <m:t>1</m:t>
                              </m:r>
                              <m:r>
                                <a:rPr lang="en-US" sz="2400" i="1">
                                  <a:latin typeface="Cambria Math" panose="02040503050406030204" pitchFamily="18" charset="0"/>
                                </a:rPr>
                                <m:t>6</m:t>
                              </m:r>
                            </m:e>
                          </m:mr>
                        </m:m>
                      </m:e>
                    </m:d>
                    <m:d>
                      <m:dPr>
                        <m:begChr m:val="["/>
                        <m:endChr m:val="]"/>
                        <m:ctrlPr>
                          <a:rPr lang="en-US" sz="2400" i="1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m>
                          <m:mPr>
                            <m:mcs>
                              <m:mc>
                                <m:mcPr>
                                  <m:count m:val="1"/>
                                  <m:mcJc m:val="center"/>
                                </m:mcPr>
                              </m:mc>
                            </m:mcs>
                            <m:ctrlPr>
                              <a:rPr lang="en-US" sz="2400" i="1">
                                <a:latin typeface="Cambria Math" panose="02040503050406030204" pitchFamily="18" charset="0"/>
                              </a:rPr>
                            </m:ctrlPr>
                          </m:mPr>
                          <m:mr>
                            <m:e>
                              <m:sSub>
                                <m:sSubPr>
                                  <m:ctrlPr>
                                    <a:rPr lang="en-US" sz="2400" i="1">
                                      <a:latin typeface="Cambria Math" panose="02040503050406030204" pitchFamily="18" charset="0"/>
                                    </a:rPr>
                                  </m:ctrlPr>
                                </m:sSubPr>
                                <m:e>
                                  <m:r>
                                    <a:rPr lang="en-US" sz="2400" i="1">
                                      <a:latin typeface="Cambria Math" panose="02040503050406030204" pitchFamily="18" charset="0"/>
                                    </a:rPr>
                                    <m:t>𝑥</m:t>
                                  </m:r>
                                </m:e>
                                <m:sub>
                                  <m:r>
                                    <a:rPr lang="en-US" sz="2400" i="1">
                                      <a:latin typeface="Cambria Math" panose="02040503050406030204" pitchFamily="18" charset="0"/>
                                    </a:rPr>
                                    <m:t>1</m:t>
                                  </m:r>
                                </m:sub>
                              </m:sSub>
                            </m:e>
                          </m:mr>
                          <m:mr>
                            <m:e>
                              <m:sSub>
                                <m:sSubPr>
                                  <m:ctrlPr>
                                    <a:rPr lang="en-US" sz="2400" i="1">
                                      <a:latin typeface="Cambria Math" panose="02040503050406030204" pitchFamily="18" charset="0"/>
                                    </a:rPr>
                                  </m:ctrlPr>
                                </m:sSubPr>
                                <m:e>
                                  <m:r>
                                    <a:rPr lang="en-US" sz="2400" i="1">
                                      <a:latin typeface="Cambria Math" panose="02040503050406030204" pitchFamily="18" charset="0"/>
                                    </a:rPr>
                                    <m:t>𝑥</m:t>
                                  </m:r>
                                </m:e>
                                <m:sub>
                                  <m:r>
                                    <a:rPr lang="en-US" sz="2400" i="1">
                                      <a:latin typeface="Cambria Math" panose="02040503050406030204" pitchFamily="18" charset="0"/>
                                    </a:rPr>
                                    <m:t>2</m:t>
                                  </m:r>
                                </m:sub>
                              </m:sSub>
                            </m:e>
                          </m:mr>
                        </m:m>
                      </m:e>
                    </m:d>
                    <m:r>
                      <a:rPr lang="en-US" sz="2400" i="1">
                        <a:latin typeface="Cambria Math" panose="02040503050406030204" pitchFamily="18" charset="0"/>
                      </a:rPr>
                      <m:t>=0</m:t>
                    </m:r>
                  </m:oMath>
                </a14:m>
                <a:endParaRPr lang="en-US" sz="2400" b="0" i="0" dirty="0">
                  <a:effectLst/>
                  <a:latin typeface="Times New Roman" panose="02020603050405020304" pitchFamily="18" charset="0"/>
                  <a:cs typeface="Times New Roman" panose="02020603050405020304" pitchFamily="18" charset="0"/>
                </a:endParaRPr>
              </a:p>
              <a:p>
                <a:pPr marL="0" indent="0" fontAlgn="base">
                  <a:spcAft>
                    <a:spcPts val="1800"/>
                  </a:spcAft>
                  <a:buNone/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sz="2400" b="0" i="1" smtClean="0">
                          <a:latin typeface="Cambria Math" panose="02040503050406030204" pitchFamily="18" charset="0"/>
                        </a:rPr>
                        <m:t>2</m:t>
                      </m:r>
                      <m:sSub>
                        <m:sSubPr>
                          <m:ctrlPr>
                            <a:rPr lang="en-US" sz="2400" i="1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sz="2400" i="1">
                              <a:latin typeface="Cambria Math" panose="02040503050406030204" pitchFamily="18" charset="0"/>
                            </a:rPr>
                            <m:t>𝑥</m:t>
                          </m:r>
                        </m:e>
                        <m:sub>
                          <m:r>
                            <a:rPr lang="en-US" sz="2400" i="1">
                              <a:latin typeface="Cambria Math" panose="02040503050406030204" pitchFamily="18" charset="0"/>
                            </a:rPr>
                            <m:t>1</m:t>
                          </m:r>
                        </m:sub>
                      </m:sSub>
                      <m:r>
                        <a:rPr lang="en-US" sz="2400" b="0" i="1" smtClean="0">
                          <a:latin typeface="Cambria Math" panose="02040503050406030204" pitchFamily="18" charset="0"/>
                        </a:rPr>
                        <m:t>=</m:t>
                      </m:r>
                      <m:sSub>
                        <m:sSubPr>
                          <m:ctrlPr>
                            <a:rPr lang="en-US" sz="2400" i="1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sz="2400" i="1">
                              <a:latin typeface="Cambria Math" panose="02040503050406030204" pitchFamily="18" charset="0"/>
                            </a:rPr>
                            <m:t>𝑥</m:t>
                          </m:r>
                        </m:e>
                        <m:sub>
                          <m:r>
                            <a:rPr lang="en-US" sz="2400" b="0" i="1" smtClean="0">
                              <a:latin typeface="Cambria Math" panose="02040503050406030204" pitchFamily="18" charset="0"/>
                            </a:rPr>
                            <m:t>2</m:t>
                          </m:r>
                        </m:sub>
                      </m:sSub>
                    </m:oMath>
                  </m:oMathPara>
                </a14:m>
                <a:endParaRPr lang="en-US" sz="2400" dirty="0">
                  <a:latin typeface="Times New Roman" panose="02020603050405020304" pitchFamily="18" charset="0"/>
                  <a:cs typeface="Times New Roman" panose="02020603050405020304" pitchFamily="18" charset="0"/>
                </a:endParaRPr>
              </a:p>
              <a:p>
                <a:pPr marL="0" indent="0" fontAlgn="base">
                  <a:spcAft>
                    <a:spcPts val="1800"/>
                  </a:spcAft>
                  <a:buNone/>
                </a:pPr>
                <a:r>
                  <a:rPr lang="en-US" sz="2400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Therefore Eigen vector for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sz="2400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sz="2400" i="1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⋋</m:t>
                        </m:r>
                      </m:e>
                      <m:sub>
                        <m:r>
                          <a:rPr lang="en-US" sz="2400" i="1">
                            <a:latin typeface="Cambria Math" panose="02040503050406030204" pitchFamily="18" charset="0"/>
                          </a:rPr>
                          <m:t>1</m:t>
                        </m:r>
                      </m:sub>
                    </m:sSub>
                    <m:r>
                      <a:rPr lang="en-US" sz="2400" i="1">
                        <a:latin typeface="Cambria Math" panose="02040503050406030204" pitchFamily="18" charset="0"/>
                      </a:rPr>
                      <m:t>=</m:t>
                    </m:r>
                  </m:oMath>
                </a14:m>
                <a:r>
                  <a:rPr lang="en-US" sz="2400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81 is: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sz="2400" i="1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sz="2400" b="0" i="1" smtClean="0">
                            <a:latin typeface="Cambria Math" panose="02040503050406030204" pitchFamily="18" charset="0"/>
                          </a:rPr>
                          <m:t>𝑣</m:t>
                        </m:r>
                      </m:e>
                      <m:sub>
                        <m:r>
                          <a:rPr lang="en-US" sz="2400" b="0" i="1" smtClean="0">
                            <a:latin typeface="Cambria Math" panose="02040503050406030204" pitchFamily="18" charset="0"/>
                          </a:rPr>
                          <m:t>1</m:t>
                        </m:r>
                      </m:sub>
                    </m:sSub>
                    <m:r>
                      <a:rPr lang="en-US" sz="2400" b="0" i="1" smtClean="0">
                        <a:latin typeface="Cambria Math" panose="02040503050406030204" pitchFamily="18" charset="0"/>
                      </a:rPr>
                      <m:t>=</m:t>
                    </m:r>
                    <m:f>
                      <m:fPr>
                        <m:ctrlPr>
                          <a:rPr lang="en-US" sz="2400" i="1" smtClean="0"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US" sz="2400" b="0" i="1" smtClean="0">
                            <a:latin typeface="Cambria Math" panose="02040503050406030204" pitchFamily="18" charset="0"/>
                          </a:rPr>
                          <m:t>1</m:t>
                        </m:r>
                      </m:num>
                      <m:den>
                        <m:rad>
                          <m:radPr>
                            <m:degHide m:val="on"/>
                            <m:ctrlPr>
                              <a:rPr lang="en-US" sz="2400" i="1" smtClean="0">
                                <a:latin typeface="Cambria Math" panose="02040503050406030204" pitchFamily="18" charset="0"/>
                              </a:rPr>
                            </m:ctrlPr>
                          </m:radPr>
                          <m:deg/>
                          <m:e>
                            <m:r>
                              <a:rPr lang="en-US" sz="2400" b="0" i="1" smtClean="0">
                                <a:latin typeface="Cambria Math" panose="02040503050406030204" pitchFamily="18" charset="0"/>
                              </a:rPr>
                              <m:t>5</m:t>
                            </m:r>
                          </m:e>
                        </m:rad>
                      </m:den>
                    </m:f>
                    <m:d>
                      <m:dPr>
                        <m:begChr m:val="["/>
                        <m:endChr m:val="]"/>
                        <m:ctrlPr>
                          <a:rPr lang="en-US" sz="2400" i="1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m>
                          <m:mPr>
                            <m:mcs>
                              <m:mc>
                                <m:mcPr>
                                  <m:count m:val="1"/>
                                  <m:mcJc m:val="center"/>
                                </m:mcPr>
                              </m:mc>
                            </m:mcs>
                            <m:ctrlPr>
                              <a:rPr lang="en-US" sz="2400" i="1">
                                <a:latin typeface="Cambria Math" panose="02040503050406030204" pitchFamily="18" charset="0"/>
                              </a:rPr>
                            </m:ctrlPr>
                          </m:mPr>
                          <m:mr>
                            <m:e>
                              <m:r>
                                <m:rPr>
                                  <m:brk m:alnAt="7"/>
                                </m:rPr>
                                <a:rPr lang="en-US" sz="2400" b="0" i="1" smtClean="0">
                                  <a:latin typeface="Cambria Math" panose="02040503050406030204" pitchFamily="18" charset="0"/>
                                </a:rPr>
                                <m:t>1</m:t>
                              </m:r>
                            </m:e>
                          </m:mr>
                          <m:mr>
                            <m:e>
                              <m:r>
                                <a:rPr lang="en-US" sz="2400" b="0" i="1" smtClean="0">
                                  <a:latin typeface="Cambria Math" panose="02040503050406030204" pitchFamily="18" charset="0"/>
                                </a:rPr>
                                <m:t>2</m:t>
                              </m:r>
                            </m:e>
                          </m:mr>
                        </m:m>
                      </m:e>
                    </m:d>
                  </m:oMath>
                </a14:m>
                <a:endParaRPr lang="en-US" sz="2400" dirty="0">
                  <a:latin typeface="Times New Roman" panose="02020603050405020304" pitchFamily="18" charset="0"/>
                  <a:cs typeface="Times New Roman" panose="02020603050405020304" pitchFamily="18" charset="0"/>
                </a:endParaRPr>
              </a:p>
              <a:p>
                <a:pPr marL="0" indent="0" fontAlgn="base">
                  <a:spcAft>
                    <a:spcPts val="1800"/>
                  </a:spcAft>
                  <a:buNone/>
                </a:pPr>
                <a:endParaRPr lang="en-US" sz="2400" b="0" dirty="0">
                  <a:latin typeface="Times New Roman" panose="02020603050405020304" pitchFamily="18" charset="0"/>
                  <a:cs typeface="Times New Roman" panose="02020603050405020304" pitchFamily="18" charset="0"/>
                </a:endParaRPr>
              </a:p>
              <a:p>
                <a:pPr marL="0" indent="0" fontAlgn="base">
                  <a:spcAft>
                    <a:spcPts val="1800"/>
                  </a:spcAft>
                  <a:buNone/>
                </a:pPr>
                <a:endParaRPr lang="en-US" sz="2400" i="0" dirty="0">
                  <a:effectLst/>
                  <a:latin typeface="Times New Roman" panose="02020603050405020304" pitchFamily="18" charset="0"/>
                  <a:cs typeface="Times New Roman" panose="02020603050405020304" pitchFamily="18" charset="0"/>
                </a:endParaRPr>
              </a:p>
              <a:p>
                <a:pPr algn="l" rtl="0" fontAlgn="base">
                  <a:spcAft>
                    <a:spcPts val="750"/>
                  </a:spcAft>
                </a:pPr>
                <a:r>
                  <a:rPr lang="en-US" sz="2400" b="0" i="0" dirty="0">
                    <a:solidFill>
                      <a:srgbClr val="FFFFFF"/>
                    </a:solidFill>
                    <a:effectLst/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this with help of an </a:t>
                </a:r>
              </a:p>
              <a:p>
                <a:endParaRPr lang="en-IN" sz="2400" dirty="0">
                  <a:latin typeface="Times New Roman" panose="02020603050405020304" pitchFamily="18" charset="0"/>
                  <a:cs typeface="Times New Roman" panose="02020603050405020304" pitchFamily="18" charset="0"/>
                </a:endParaRPr>
              </a:p>
            </p:txBody>
          </p:sp>
        </mc:Choice>
        <mc:Fallback xmlns="">
          <p:sp>
            <p:nvSpPr>
              <p:cNvPr id="3" name="Content Placeholder 2">
                <a:extLst>
                  <a:ext uri="{FF2B5EF4-FFF2-40B4-BE49-F238E27FC236}">
                    <a16:creationId xmlns:a16="http://schemas.microsoft.com/office/drawing/2014/main" id="{8C560889-6E44-8227-B308-32AD90AED1A4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xfrm>
                <a:off x="1168747" y="1753140"/>
                <a:ext cx="10474613" cy="2327226"/>
              </a:xfrm>
              <a:blipFill>
                <a:blip r:embed="rId2"/>
                <a:stretch>
                  <a:fillRect l="-931" t="-3937" b="-130184"/>
                </a:stretch>
              </a:blipFill>
            </p:spPr>
            <p:txBody>
              <a:bodyPr/>
              <a:lstStyle/>
              <a:p>
                <a:r>
                  <a:rPr lang="en-IN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129679730"/>
      </p:ext>
    </p:extLst>
  </p:cSld>
  <p:clrMapOvr>
    <a:masterClrMapping/>
  </p:clrMapOvr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4937240F-8DE1-133F-F660-C3A2D7ED66D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5F4484C-846D-D560-6695-1DC7B500A8E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974714" y="165370"/>
            <a:ext cx="9048539" cy="858195"/>
          </a:xfrm>
        </p:spPr>
        <p:txBody>
          <a:bodyPr>
            <a:normAutofit fontScale="90000"/>
          </a:bodyPr>
          <a:lstStyle/>
          <a:p>
            <a:r>
              <a:rPr lang="en-IN" b="1" i="0" dirty="0">
                <a:solidFill>
                  <a:srgbClr val="FFFFFF"/>
                </a:solidFill>
                <a:effectLst/>
                <a:latin typeface="Source Sans 3"/>
              </a:rPr>
              <a:t>Singular Value Decomposition (SVD)</a:t>
            </a:r>
            <a:br>
              <a:rPr lang="en-IN" b="1" i="0" dirty="0">
                <a:solidFill>
                  <a:srgbClr val="FFFFFF"/>
                </a:solidFill>
                <a:effectLst/>
                <a:latin typeface="Source Sans 3"/>
              </a:rPr>
            </a:br>
            <a:r>
              <a:rPr lang="en-IN" b="1" i="0" dirty="0">
                <a:solidFill>
                  <a:srgbClr val="FFFFFF"/>
                </a:solidFill>
                <a:effectLst/>
                <a:latin typeface="Source Sans 3"/>
              </a:rPr>
              <a:t>Sing Singular Value Decomposition (SVD)</a:t>
            </a:r>
            <a:br>
              <a:rPr lang="en-IN" b="1" i="0" dirty="0">
                <a:solidFill>
                  <a:srgbClr val="FFFFFF"/>
                </a:solidFill>
                <a:effectLst/>
                <a:latin typeface="Source Sans 3"/>
              </a:rPr>
            </a:br>
            <a:r>
              <a:rPr lang="en-IN" b="1" i="0" dirty="0">
                <a:solidFill>
                  <a:srgbClr val="FF0000"/>
                </a:solidFill>
                <a:effectLst/>
                <a:latin typeface="Source Sans 3"/>
              </a:rPr>
              <a:t>Singular Value Decomposition (SVD) (</a:t>
            </a:r>
            <a:r>
              <a:rPr lang="en-IN" b="1" i="0" dirty="0" err="1">
                <a:solidFill>
                  <a:srgbClr val="FF0000"/>
                </a:solidFill>
                <a:effectLst/>
                <a:latin typeface="Source Sans 3"/>
              </a:rPr>
              <a:t>Cont</a:t>
            </a:r>
            <a:r>
              <a:rPr lang="en-IN" b="1" i="0" dirty="0">
                <a:solidFill>
                  <a:srgbClr val="FF0000"/>
                </a:solidFill>
                <a:effectLst/>
                <a:latin typeface="Source Sans 3"/>
              </a:rPr>
              <a:t>..II)</a:t>
            </a:r>
            <a:br>
              <a:rPr lang="en-IN" b="1" i="0" dirty="0">
                <a:solidFill>
                  <a:srgbClr val="FF0000"/>
                </a:solidFill>
                <a:effectLst/>
                <a:latin typeface="Source Sans 3"/>
              </a:rPr>
            </a:br>
            <a:br>
              <a:rPr lang="en-US" b="1" dirty="0">
                <a:solidFill>
                  <a:srgbClr val="FF0000"/>
                </a:solidFill>
              </a:rPr>
            </a:br>
            <a:endParaRPr lang="en-IN" dirty="0">
              <a:solidFill>
                <a:srgbClr val="FF0000"/>
              </a:solidFill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" name="Content Placeholder 2">
                <a:extLst>
                  <a:ext uri="{FF2B5EF4-FFF2-40B4-BE49-F238E27FC236}">
                    <a16:creationId xmlns:a16="http://schemas.microsoft.com/office/drawing/2014/main" id="{6CD61C90-2A61-722D-2A80-B38CDB8C113F}"/>
                  </a:ext>
                </a:extLst>
              </p:cNvPr>
              <p:cNvSpPr>
                <a:spLocks noGrp="1"/>
              </p:cNvSpPr>
              <p:nvPr>
                <p:ph idx="1"/>
              </p:nvPr>
            </p:nvSpPr>
            <p:spPr>
              <a:xfrm>
                <a:off x="828877" y="2297025"/>
                <a:ext cx="10534245" cy="1273489"/>
              </a:xfrm>
            </p:spPr>
            <p:txBody>
              <a:bodyPr>
                <a:noAutofit/>
              </a:bodyPr>
              <a:lstStyle/>
              <a:p>
                <a:pPr marL="0" indent="0" fontAlgn="base">
                  <a:spcAft>
                    <a:spcPts val="1800"/>
                  </a:spcAft>
                  <a:buNone/>
                </a:pPr>
                <a:r>
                  <a:rPr lang="en-US" sz="2400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Therefore Eigen vector for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sz="2400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sz="2400" i="1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⋋</m:t>
                        </m:r>
                      </m:e>
                      <m:sub>
                        <m:r>
                          <a:rPr lang="en-US" sz="2400" b="0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2</m:t>
                        </m:r>
                      </m:sub>
                    </m:sSub>
                    <m:r>
                      <a:rPr lang="en-US" sz="2400" i="1">
                        <a:latin typeface="Cambria Math" panose="02040503050406030204" pitchFamily="18" charset="0"/>
                      </a:rPr>
                      <m:t>=</m:t>
                    </m:r>
                  </m:oMath>
                </a14:m>
                <a:r>
                  <a:rPr lang="en-US" sz="2400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1 is: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sz="2400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sz="2400" i="1">
                            <a:latin typeface="Cambria Math" panose="02040503050406030204" pitchFamily="18" charset="0"/>
                          </a:rPr>
                          <m:t>𝑣</m:t>
                        </m:r>
                      </m:e>
                      <m:sub>
                        <m:r>
                          <a:rPr lang="en-US" sz="2400" b="0" i="1" smtClean="0">
                            <a:latin typeface="Cambria Math" panose="02040503050406030204" pitchFamily="18" charset="0"/>
                          </a:rPr>
                          <m:t>2</m:t>
                        </m:r>
                      </m:sub>
                    </m:sSub>
                    <m:r>
                      <a:rPr lang="en-US" sz="2400" i="1">
                        <a:latin typeface="Cambria Math" panose="02040503050406030204" pitchFamily="18" charset="0"/>
                      </a:rPr>
                      <m:t>=</m:t>
                    </m:r>
                    <m:f>
                      <m:fPr>
                        <m:ctrlPr>
                          <a:rPr lang="en-US" sz="2400" i="1"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US" sz="2400" i="1">
                            <a:latin typeface="Cambria Math" panose="02040503050406030204" pitchFamily="18" charset="0"/>
                          </a:rPr>
                          <m:t>1</m:t>
                        </m:r>
                      </m:num>
                      <m:den>
                        <m:rad>
                          <m:radPr>
                            <m:degHide m:val="on"/>
                            <m:ctrlPr>
                              <a:rPr lang="en-US" sz="2400" i="1">
                                <a:latin typeface="Cambria Math" panose="02040503050406030204" pitchFamily="18" charset="0"/>
                              </a:rPr>
                            </m:ctrlPr>
                          </m:radPr>
                          <m:deg/>
                          <m:e>
                            <m:r>
                              <a:rPr lang="en-US" sz="2400" i="1">
                                <a:latin typeface="Cambria Math" panose="02040503050406030204" pitchFamily="18" charset="0"/>
                              </a:rPr>
                              <m:t>5</m:t>
                            </m:r>
                          </m:e>
                        </m:rad>
                      </m:den>
                    </m:f>
                    <m:d>
                      <m:dPr>
                        <m:begChr m:val="["/>
                        <m:endChr m:val="]"/>
                        <m:ctrlPr>
                          <a:rPr lang="en-US" sz="2400" i="1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m>
                          <m:mPr>
                            <m:mcs>
                              <m:mc>
                                <m:mcPr>
                                  <m:count m:val="1"/>
                                  <m:mcJc m:val="center"/>
                                </m:mcPr>
                              </m:mc>
                            </m:mcs>
                            <m:ctrlPr>
                              <a:rPr lang="en-US" sz="2400" i="1">
                                <a:latin typeface="Cambria Math" panose="02040503050406030204" pitchFamily="18" charset="0"/>
                              </a:rPr>
                            </m:ctrlPr>
                          </m:mPr>
                          <m:mr>
                            <m:e>
                              <m:r>
                                <m:rPr>
                                  <m:brk m:alnAt="7"/>
                                </m:rPr>
                                <a:rPr lang="en-US" sz="2400" b="0" i="1" smtClean="0">
                                  <a:latin typeface="Cambria Math" panose="02040503050406030204" pitchFamily="18" charset="0"/>
                                </a:rPr>
                                <m:t>−</m:t>
                              </m:r>
                              <m:r>
                                <a:rPr lang="en-US" sz="2400" b="0" i="1" smtClean="0">
                                  <a:latin typeface="Cambria Math" panose="02040503050406030204" pitchFamily="18" charset="0"/>
                                </a:rPr>
                                <m:t>2</m:t>
                              </m:r>
                            </m:e>
                          </m:mr>
                          <m:mr>
                            <m:e>
                              <m:r>
                                <a:rPr lang="en-US" sz="2400" b="0" i="1" smtClean="0">
                                  <a:latin typeface="Cambria Math" panose="02040503050406030204" pitchFamily="18" charset="0"/>
                                </a:rPr>
                                <m:t>1</m:t>
                              </m:r>
                            </m:e>
                          </m:mr>
                        </m:m>
                      </m:e>
                    </m:d>
                  </m:oMath>
                </a14:m>
                <a:endParaRPr lang="en-US" sz="2400" dirty="0">
                  <a:latin typeface="Times New Roman" panose="02020603050405020304" pitchFamily="18" charset="0"/>
                  <a:cs typeface="Times New Roman" panose="02020603050405020304" pitchFamily="18" charset="0"/>
                </a:endParaRPr>
              </a:p>
              <a:p>
                <a:pPr marL="0" indent="0" fontAlgn="base">
                  <a:spcAft>
                    <a:spcPts val="1800"/>
                  </a:spcAft>
                  <a:buNone/>
                </a:pPr>
                <a:r>
                  <a:rPr lang="en-US" sz="2400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Therefore the Eigen Matrix of </a:t>
                </a:r>
                <a14:m>
                  <m:oMath xmlns:m="http://schemas.openxmlformats.org/officeDocument/2006/math">
                    <m:sSup>
                      <m:sSupPr>
                        <m:ctrlPr>
                          <a:rPr lang="en-US" sz="2400" i="1">
                            <a:latin typeface="Cambria Math" panose="02040503050406030204" pitchFamily="18" charset="0"/>
                          </a:rPr>
                        </m:ctrlPr>
                      </m:sSupPr>
                      <m:e>
                        <m:r>
                          <a:rPr lang="en-US" sz="2400" i="1">
                            <a:latin typeface="Cambria Math" panose="02040503050406030204" pitchFamily="18" charset="0"/>
                          </a:rPr>
                          <m:t>𝐴</m:t>
                        </m:r>
                      </m:e>
                      <m:sup>
                        <m:r>
                          <a:rPr lang="en-US" sz="2400" i="1">
                            <a:latin typeface="Cambria Math" panose="02040503050406030204" pitchFamily="18" charset="0"/>
                          </a:rPr>
                          <m:t>𝑇</m:t>
                        </m:r>
                      </m:sup>
                    </m:sSup>
                    <m:r>
                      <a:rPr lang="en-US" sz="2400" i="1">
                        <a:latin typeface="Cambria Math" panose="02040503050406030204" pitchFamily="18" charset="0"/>
                      </a:rPr>
                      <m:t>𝐴</m:t>
                    </m:r>
                  </m:oMath>
                </a14:m>
                <a:r>
                  <a:rPr lang="en-US" sz="2400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 = 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US" sz="2400" b="0" i="0" smtClean="0">
                        <a:latin typeface="Cambria Math" panose="02040503050406030204" pitchFamily="18" charset="0"/>
                        <a:cs typeface="Times New Roman" panose="02020603050405020304" pitchFamily="18" charset="0"/>
                      </a:rPr>
                      <m:t>V</m:t>
                    </m:r>
                    <m:r>
                      <a:rPr lang="en-US" sz="2400" b="0" i="0" smtClean="0">
                        <a:latin typeface="Cambria Math" panose="02040503050406030204" pitchFamily="18" charset="0"/>
                        <a:cs typeface="Times New Roman" panose="02020603050405020304" pitchFamily="18" charset="0"/>
                      </a:rPr>
                      <m:t>=</m:t>
                    </m:r>
                    <m:d>
                      <m:dPr>
                        <m:begChr m:val="["/>
                        <m:endChr m:val="]"/>
                        <m:ctrlPr>
                          <a:rPr lang="en-US" sz="2400" i="1" smtClean="0">
                            <a:latin typeface="Cambria Math" panose="02040503050406030204" pitchFamily="18" charset="0"/>
                            <a:cs typeface="Times New Roman" panose="02020603050405020304" pitchFamily="18" charset="0"/>
                          </a:rPr>
                        </m:ctrlPr>
                      </m:dPr>
                      <m:e>
                        <m:m>
                          <m:mPr>
                            <m:mcs>
                              <m:mc>
                                <m:mcPr>
                                  <m:count m:val="2"/>
                                  <m:mcJc m:val="center"/>
                                </m:mcPr>
                              </m:mc>
                            </m:mcs>
                            <m:ctrlPr>
                              <a:rPr lang="en-US" sz="2400" i="1" smtClean="0">
                                <a:latin typeface="Cambria Math" panose="02040503050406030204" pitchFamily="18" charset="0"/>
                                <a:cs typeface="Times New Roman" panose="02020603050405020304" pitchFamily="18" charset="0"/>
                              </a:rPr>
                            </m:ctrlPr>
                          </m:mPr>
                          <m:mr>
                            <m:e>
                              <m:sSub>
                                <m:sSubPr>
                                  <m:ctrlPr>
                                    <a:rPr lang="en-US" sz="2400" i="1" smtClean="0">
                                      <a:latin typeface="Cambria Math" panose="02040503050406030204" pitchFamily="18" charset="0"/>
                                      <a:cs typeface="Times New Roman" panose="02020603050405020304" pitchFamily="18" charset="0"/>
                                    </a:rPr>
                                  </m:ctrlPr>
                                </m:sSubPr>
                                <m:e>
                                  <m:r>
                                    <a:rPr lang="en-US" sz="2400" b="0" i="1" smtClean="0">
                                      <a:latin typeface="Cambria Math" panose="02040503050406030204" pitchFamily="18" charset="0"/>
                                      <a:cs typeface="Times New Roman" panose="02020603050405020304" pitchFamily="18" charset="0"/>
                                    </a:rPr>
                                    <m:t>𝑣</m:t>
                                  </m:r>
                                </m:e>
                                <m:sub>
                                  <m:r>
                                    <a:rPr lang="en-US" sz="2400" b="0" i="1" smtClean="0">
                                      <a:latin typeface="Cambria Math" panose="02040503050406030204" pitchFamily="18" charset="0"/>
                                      <a:cs typeface="Times New Roman" panose="02020603050405020304" pitchFamily="18" charset="0"/>
                                    </a:rPr>
                                    <m:t>1</m:t>
                                  </m:r>
                                </m:sub>
                              </m:sSub>
                            </m:e>
                            <m:e>
                              <m:sSub>
                                <m:sSubPr>
                                  <m:ctrlPr>
                                    <a:rPr lang="en-US" sz="2400" i="1" smtClean="0">
                                      <a:latin typeface="Cambria Math" panose="02040503050406030204" pitchFamily="18" charset="0"/>
                                      <a:cs typeface="Times New Roman" panose="02020603050405020304" pitchFamily="18" charset="0"/>
                                    </a:rPr>
                                  </m:ctrlPr>
                                </m:sSubPr>
                                <m:e>
                                  <m:r>
                                    <a:rPr lang="en-US" sz="2400" b="0" i="1" smtClean="0">
                                      <a:latin typeface="Cambria Math" panose="02040503050406030204" pitchFamily="18" charset="0"/>
                                      <a:cs typeface="Times New Roman" panose="02020603050405020304" pitchFamily="18" charset="0"/>
                                    </a:rPr>
                                    <m:t>𝑣</m:t>
                                  </m:r>
                                </m:e>
                                <m:sub>
                                  <m:r>
                                    <a:rPr lang="en-US" sz="2400" b="0" i="1" smtClean="0">
                                      <a:latin typeface="Cambria Math" panose="02040503050406030204" pitchFamily="18" charset="0"/>
                                      <a:cs typeface="Times New Roman" panose="02020603050405020304" pitchFamily="18" charset="0"/>
                                    </a:rPr>
                                    <m:t>2</m:t>
                                  </m:r>
                                </m:sub>
                              </m:sSub>
                            </m:e>
                          </m:mr>
                        </m:m>
                      </m:e>
                    </m:d>
                    <m:r>
                      <a:rPr lang="en-US" sz="2400" b="0" i="1" smtClean="0">
                        <a:latin typeface="Cambria Math" panose="02040503050406030204" pitchFamily="18" charset="0"/>
                        <a:cs typeface="Times New Roman" panose="02020603050405020304" pitchFamily="18" charset="0"/>
                      </a:rPr>
                      <m:t>=</m:t>
                    </m:r>
                    <m:f>
                      <m:fPr>
                        <m:ctrlPr>
                          <a:rPr lang="en-US" sz="2400" b="0" i="1" smtClean="0">
                            <a:latin typeface="Cambria Math" panose="02040503050406030204" pitchFamily="18" charset="0"/>
                            <a:cs typeface="Times New Roman" panose="02020603050405020304" pitchFamily="18" charset="0"/>
                          </a:rPr>
                        </m:ctrlPr>
                      </m:fPr>
                      <m:num>
                        <m:r>
                          <a:rPr lang="en-US" sz="2400" b="0" i="1" smtClean="0">
                            <a:latin typeface="Cambria Math" panose="02040503050406030204" pitchFamily="18" charset="0"/>
                            <a:cs typeface="Times New Roman" panose="02020603050405020304" pitchFamily="18" charset="0"/>
                          </a:rPr>
                          <m:t>1</m:t>
                        </m:r>
                      </m:num>
                      <m:den>
                        <m:rad>
                          <m:radPr>
                            <m:degHide m:val="on"/>
                            <m:ctrlPr>
                              <a:rPr lang="en-US" sz="2400" b="0" i="1" smtClean="0">
                                <a:latin typeface="Cambria Math" panose="02040503050406030204" pitchFamily="18" charset="0"/>
                                <a:cs typeface="Times New Roman" panose="02020603050405020304" pitchFamily="18" charset="0"/>
                              </a:rPr>
                            </m:ctrlPr>
                          </m:radPr>
                          <m:deg/>
                          <m:e>
                            <m:r>
                              <a:rPr lang="en-US" sz="2400" b="0" i="1" smtClean="0">
                                <a:latin typeface="Cambria Math" panose="02040503050406030204" pitchFamily="18" charset="0"/>
                                <a:cs typeface="Times New Roman" panose="02020603050405020304" pitchFamily="18" charset="0"/>
                              </a:rPr>
                              <m:t>5</m:t>
                            </m:r>
                          </m:e>
                        </m:rad>
                      </m:den>
                    </m:f>
                    <m:d>
                      <m:dPr>
                        <m:begChr m:val="["/>
                        <m:endChr m:val="]"/>
                        <m:ctrlPr>
                          <a:rPr lang="en-US" sz="2400" b="0" i="1" smtClean="0">
                            <a:latin typeface="Cambria Math" panose="02040503050406030204" pitchFamily="18" charset="0"/>
                            <a:cs typeface="Times New Roman" panose="02020603050405020304" pitchFamily="18" charset="0"/>
                          </a:rPr>
                        </m:ctrlPr>
                      </m:dPr>
                      <m:e>
                        <m:m>
                          <m:mPr>
                            <m:mcs>
                              <m:mc>
                                <m:mcPr>
                                  <m:count m:val="2"/>
                                  <m:mcJc m:val="center"/>
                                </m:mcPr>
                              </m:mc>
                            </m:mcs>
                            <m:ctrlPr>
                              <a:rPr lang="en-US" sz="2400" b="0" i="1" smtClean="0">
                                <a:latin typeface="Cambria Math" panose="02040503050406030204" pitchFamily="18" charset="0"/>
                                <a:cs typeface="Times New Roman" panose="02020603050405020304" pitchFamily="18" charset="0"/>
                              </a:rPr>
                            </m:ctrlPr>
                          </m:mPr>
                          <m:mr>
                            <m:e>
                              <m:r>
                                <m:rPr>
                                  <m:brk m:alnAt="7"/>
                                </m:rPr>
                                <a:rPr lang="en-US" sz="2400" b="0" i="1" smtClean="0">
                                  <a:latin typeface="Cambria Math" panose="02040503050406030204" pitchFamily="18" charset="0"/>
                                  <a:cs typeface="Times New Roman" panose="02020603050405020304" pitchFamily="18" charset="0"/>
                                </a:rPr>
                                <m:t>1</m:t>
                              </m:r>
                            </m:e>
                            <m:e>
                              <m:r>
                                <a:rPr lang="en-US" sz="2400" b="0" i="1" smtClean="0">
                                  <a:latin typeface="Cambria Math" panose="02040503050406030204" pitchFamily="18" charset="0"/>
                                  <a:cs typeface="Times New Roman" panose="02020603050405020304" pitchFamily="18" charset="0"/>
                                </a:rPr>
                                <m:t>−2</m:t>
                              </m:r>
                            </m:e>
                          </m:mr>
                          <m:mr>
                            <m:e>
                              <m:r>
                                <a:rPr lang="en-US" sz="2400" b="0" i="1" smtClean="0">
                                  <a:latin typeface="Cambria Math" panose="02040503050406030204" pitchFamily="18" charset="0"/>
                                  <a:cs typeface="Times New Roman" panose="02020603050405020304" pitchFamily="18" charset="0"/>
                                </a:rPr>
                                <m:t>2</m:t>
                              </m:r>
                            </m:e>
                            <m:e>
                              <m:r>
                                <a:rPr lang="en-US" sz="2400" b="0" i="1" smtClean="0">
                                  <a:latin typeface="Cambria Math" panose="02040503050406030204" pitchFamily="18" charset="0"/>
                                  <a:cs typeface="Times New Roman" panose="02020603050405020304" pitchFamily="18" charset="0"/>
                                </a:rPr>
                                <m:t>1</m:t>
                              </m:r>
                            </m:e>
                          </m:mr>
                        </m:m>
                      </m:e>
                    </m:d>
                    <m:r>
                      <a:rPr lang="en-US" sz="2400" b="0" i="0" smtClean="0">
                        <a:latin typeface="Cambria Math" panose="02040503050406030204" pitchFamily="18" charset="0"/>
                        <a:cs typeface="Times New Roman" panose="02020603050405020304" pitchFamily="18" charset="0"/>
                      </a:rPr>
                      <m:t>⇒</m:t>
                    </m:r>
                    <m:sSup>
                      <m:sSupPr>
                        <m:ctrlPr>
                          <a:rPr lang="en-US" sz="2400" b="0" i="1" smtClean="0">
                            <a:latin typeface="Cambria Math" panose="02040503050406030204" pitchFamily="18" charset="0"/>
                            <a:cs typeface="Times New Roman" panose="02020603050405020304" pitchFamily="18" charset="0"/>
                          </a:rPr>
                        </m:ctrlPr>
                      </m:sSupPr>
                      <m:e>
                        <m:r>
                          <a:rPr lang="en-US" sz="2400" b="0" i="1" smtClean="0">
                            <a:latin typeface="Cambria Math" panose="02040503050406030204" pitchFamily="18" charset="0"/>
                            <a:cs typeface="Times New Roman" panose="02020603050405020304" pitchFamily="18" charset="0"/>
                          </a:rPr>
                          <m:t>𝑉</m:t>
                        </m:r>
                      </m:e>
                      <m:sup>
                        <m:r>
                          <a:rPr lang="en-US" sz="2400" b="0" i="1" smtClean="0">
                            <a:latin typeface="Cambria Math" panose="02040503050406030204" pitchFamily="18" charset="0"/>
                            <a:cs typeface="Times New Roman" panose="02020603050405020304" pitchFamily="18" charset="0"/>
                          </a:rPr>
                          <m:t>𝑇</m:t>
                        </m:r>
                      </m:sup>
                    </m:sSup>
                    <m:r>
                      <a:rPr lang="en-US" sz="2400" b="0" i="1" smtClean="0">
                        <a:latin typeface="Cambria Math" panose="02040503050406030204" pitchFamily="18" charset="0"/>
                        <a:cs typeface="Times New Roman" panose="02020603050405020304" pitchFamily="18" charset="0"/>
                      </a:rPr>
                      <m:t>=</m:t>
                    </m:r>
                    <m:f>
                      <m:fPr>
                        <m:ctrlPr>
                          <a:rPr lang="en-US" sz="2400" i="1">
                            <a:latin typeface="Cambria Math" panose="02040503050406030204" pitchFamily="18" charset="0"/>
                            <a:cs typeface="Times New Roman" panose="02020603050405020304" pitchFamily="18" charset="0"/>
                          </a:rPr>
                        </m:ctrlPr>
                      </m:fPr>
                      <m:num>
                        <m:r>
                          <a:rPr lang="en-US" sz="2400" i="1">
                            <a:latin typeface="Cambria Math" panose="02040503050406030204" pitchFamily="18" charset="0"/>
                            <a:cs typeface="Times New Roman" panose="02020603050405020304" pitchFamily="18" charset="0"/>
                          </a:rPr>
                          <m:t>1</m:t>
                        </m:r>
                      </m:num>
                      <m:den>
                        <m:rad>
                          <m:radPr>
                            <m:degHide m:val="on"/>
                            <m:ctrlPr>
                              <a:rPr lang="en-US" sz="2400" i="1">
                                <a:latin typeface="Cambria Math" panose="02040503050406030204" pitchFamily="18" charset="0"/>
                                <a:cs typeface="Times New Roman" panose="02020603050405020304" pitchFamily="18" charset="0"/>
                              </a:rPr>
                            </m:ctrlPr>
                          </m:radPr>
                          <m:deg/>
                          <m:e>
                            <m:r>
                              <a:rPr lang="en-US" sz="2400" i="1">
                                <a:latin typeface="Cambria Math" panose="02040503050406030204" pitchFamily="18" charset="0"/>
                                <a:cs typeface="Times New Roman" panose="02020603050405020304" pitchFamily="18" charset="0"/>
                              </a:rPr>
                              <m:t>5</m:t>
                            </m:r>
                          </m:e>
                        </m:rad>
                      </m:den>
                    </m:f>
                    <m:d>
                      <m:dPr>
                        <m:begChr m:val="["/>
                        <m:endChr m:val="]"/>
                        <m:ctrlPr>
                          <a:rPr lang="en-US" sz="2400" i="1">
                            <a:latin typeface="Cambria Math" panose="02040503050406030204" pitchFamily="18" charset="0"/>
                            <a:cs typeface="Times New Roman" panose="02020603050405020304" pitchFamily="18" charset="0"/>
                          </a:rPr>
                        </m:ctrlPr>
                      </m:dPr>
                      <m:e>
                        <m:m>
                          <m:mPr>
                            <m:mcs>
                              <m:mc>
                                <m:mcPr>
                                  <m:count m:val="2"/>
                                  <m:mcJc m:val="center"/>
                                </m:mcPr>
                              </m:mc>
                            </m:mcs>
                            <m:ctrlPr>
                              <a:rPr lang="en-US" sz="2400" i="1">
                                <a:latin typeface="Cambria Math" panose="02040503050406030204" pitchFamily="18" charset="0"/>
                                <a:cs typeface="Times New Roman" panose="02020603050405020304" pitchFamily="18" charset="0"/>
                              </a:rPr>
                            </m:ctrlPr>
                          </m:mPr>
                          <m:mr>
                            <m:e>
                              <m:r>
                                <m:rPr>
                                  <m:brk m:alnAt="7"/>
                                </m:rPr>
                                <a:rPr lang="en-US" sz="2400" i="1">
                                  <a:latin typeface="Cambria Math" panose="02040503050406030204" pitchFamily="18" charset="0"/>
                                  <a:cs typeface="Times New Roman" panose="02020603050405020304" pitchFamily="18" charset="0"/>
                                </a:rPr>
                                <m:t>1</m:t>
                              </m:r>
                            </m:e>
                            <m:e>
                              <m:r>
                                <a:rPr lang="en-US" sz="2400" i="1">
                                  <a:latin typeface="Cambria Math" panose="02040503050406030204" pitchFamily="18" charset="0"/>
                                  <a:cs typeface="Times New Roman" panose="02020603050405020304" pitchFamily="18" charset="0"/>
                                </a:rPr>
                                <m:t>2</m:t>
                              </m:r>
                            </m:e>
                          </m:mr>
                          <m:mr>
                            <m:e>
                              <m:r>
                                <a:rPr lang="en-US" sz="2400" b="0" i="1" smtClean="0">
                                  <a:latin typeface="Cambria Math" panose="02040503050406030204" pitchFamily="18" charset="0"/>
                                  <a:cs typeface="Times New Roman" panose="02020603050405020304" pitchFamily="18" charset="0"/>
                                </a:rPr>
                                <m:t>−</m:t>
                              </m:r>
                              <m:r>
                                <a:rPr lang="en-US" sz="2400" i="1">
                                  <a:latin typeface="Cambria Math" panose="02040503050406030204" pitchFamily="18" charset="0"/>
                                  <a:cs typeface="Times New Roman" panose="02020603050405020304" pitchFamily="18" charset="0"/>
                                </a:rPr>
                                <m:t>2</m:t>
                              </m:r>
                            </m:e>
                            <m:e>
                              <m:r>
                                <a:rPr lang="en-US" sz="2400" i="1">
                                  <a:latin typeface="Cambria Math" panose="02040503050406030204" pitchFamily="18" charset="0"/>
                                  <a:cs typeface="Times New Roman" panose="02020603050405020304" pitchFamily="18" charset="0"/>
                                </a:rPr>
                                <m:t>1</m:t>
                              </m:r>
                            </m:e>
                          </m:mr>
                        </m:m>
                      </m:e>
                    </m:d>
                  </m:oMath>
                </a14:m>
                <a:endParaRPr lang="en-US" sz="2400" dirty="0">
                  <a:latin typeface="Times New Roman" panose="02020603050405020304" pitchFamily="18" charset="0"/>
                  <a:cs typeface="Times New Roman" panose="02020603050405020304" pitchFamily="18" charset="0"/>
                </a:endParaRPr>
              </a:p>
              <a:p>
                <a:pPr marL="0" indent="0" fontAlgn="base">
                  <a:spcAft>
                    <a:spcPts val="1800"/>
                  </a:spcAft>
                  <a:buNone/>
                </a:pPr>
                <a:endParaRPr lang="en-US" sz="2400" dirty="0">
                  <a:latin typeface="Times New Roman" panose="02020603050405020304" pitchFamily="18" charset="0"/>
                  <a:cs typeface="Times New Roman" panose="02020603050405020304" pitchFamily="18" charset="0"/>
                </a:endParaRPr>
              </a:p>
              <a:p>
                <a:pPr marL="0" indent="0" fontAlgn="base">
                  <a:spcAft>
                    <a:spcPts val="1800"/>
                  </a:spcAft>
                  <a:buNone/>
                </a:pPr>
                <a:endParaRPr lang="en-US" sz="2400" dirty="0">
                  <a:latin typeface="Times New Roman" panose="02020603050405020304" pitchFamily="18" charset="0"/>
                  <a:cs typeface="Times New Roman" panose="02020603050405020304" pitchFamily="18" charset="0"/>
                </a:endParaRPr>
              </a:p>
              <a:p>
                <a:pPr marL="0" indent="0" fontAlgn="base">
                  <a:spcAft>
                    <a:spcPts val="1800"/>
                  </a:spcAft>
                  <a:buNone/>
                </a:pPr>
                <a:endParaRPr lang="en-US" sz="2400" dirty="0">
                  <a:latin typeface="Times New Roman" panose="02020603050405020304" pitchFamily="18" charset="0"/>
                  <a:cs typeface="Times New Roman" panose="02020603050405020304" pitchFamily="18" charset="0"/>
                </a:endParaRPr>
              </a:p>
              <a:p>
                <a:pPr marL="0" indent="0" fontAlgn="base">
                  <a:spcAft>
                    <a:spcPts val="1800"/>
                  </a:spcAft>
                  <a:buNone/>
                </a:pPr>
                <a:endParaRPr lang="en-US" sz="2400" dirty="0">
                  <a:latin typeface="Times New Roman" panose="02020603050405020304" pitchFamily="18" charset="0"/>
                  <a:cs typeface="Times New Roman" panose="02020603050405020304" pitchFamily="18" charset="0"/>
                </a:endParaRPr>
              </a:p>
              <a:p>
                <a:pPr marL="0" indent="0" fontAlgn="base">
                  <a:spcAft>
                    <a:spcPts val="1800"/>
                  </a:spcAft>
                  <a:buNone/>
                </a:pPr>
                <a:endParaRPr lang="en-US" sz="2400" b="0" dirty="0">
                  <a:latin typeface="Times New Roman" panose="02020603050405020304" pitchFamily="18" charset="0"/>
                  <a:cs typeface="Times New Roman" panose="02020603050405020304" pitchFamily="18" charset="0"/>
                </a:endParaRPr>
              </a:p>
              <a:p>
                <a:pPr marL="0" indent="0" fontAlgn="base">
                  <a:spcAft>
                    <a:spcPts val="1800"/>
                  </a:spcAft>
                  <a:buNone/>
                </a:pPr>
                <a:endParaRPr lang="en-US" sz="2400" i="0" dirty="0">
                  <a:effectLst/>
                  <a:latin typeface="Times New Roman" panose="02020603050405020304" pitchFamily="18" charset="0"/>
                  <a:cs typeface="Times New Roman" panose="02020603050405020304" pitchFamily="18" charset="0"/>
                </a:endParaRPr>
              </a:p>
              <a:p>
                <a:pPr algn="l" rtl="0" fontAlgn="base">
                  <a:spcAft>
                    <a:spcPts val="750"/>
                  </a:spcAft>
                </a:pPr>
                <a:r>
                  <a:rPr lang="en-US" sz="2400" b="0" i="0" dirty="0">
                    <a:solidFill>
                      <a:srgbClr val="FFFFFF"/>
                    </a:solidFill>
                    <a:effectLst/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this with help of an </a:t>
                </a:r>
              </a:p>
              <a:p>
                <a:endParaRPr lang="en-IN" sz="2400" dirty="0">
                  <a:latin typeface="Times New Roman" panose="02020603050405020304" pitchFamily="18" charset="0"/>
                  <a:cs typeface="Times New Roman" panose="02020603050405020304" pitchFamily="18" charset="0"/>
                </a:endParaRPr>
              </a:p>
            </p:txBody>
          </p:sp>
        </mc:Choice>
        <mc:Fallback xmlns="">
          <p:sp>
            <p:nvSpPr>
              <p:cNvPr id="3" name="Content Placeholder 2">
                <a:extLst>
                  <a:ext uri="{FF2B5EF4-FFF2-40B4-BE49-F238E27FC236}">
                    <a16:creationId xmlns:a16="http://schemas.microsoft.com/office/drawing/2014/main" id="{6CD61C90-2A61-722D-2A80-B38CDB8C113F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xfrm>
                <a:off x="828877" y="2297025"/>
                <a:ext cx="10534245" cy="1273489"/>
              </a:xfrm>
              <a:blipFill>
                <a:blip r:embed="rId2"/>
                <a:stretch>
                  <a:fillRect l="-926" b="-451196"/>
                </a:stretch>
              </a:blipFill>
            </p:spPr>
            <p:txBody>
              <a:bodyPr/>
              <a:lstStyle/>
              <a:p>
                <a:r>
                  <a:rPr lang="en-IN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2531014364"/>
      </p:ext>
    </p:extLst>
  </p:cSld>
  <p:clrMapOvr>
    <a:masterClrMapping/>
  </p:clrMapOvr>
</p:sld>
</file>

<file path=ppt/slides/slide3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DBC095C2-8247-007E-D559-6098A7D6F16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FBDD3B4-93CC-D5A7-5B00-0441741F3C0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974714" y="165370"/>
            <a:ext cx="9048539" cy="858195"/>
          </a:xfrm>
        </p:spPr>
        <p:txBody>
          <a:bodyPr>
            <a:normAutofit fontScale="90000"/>
          </a:bodyPr>
          <a:lstStyle/>
          <a:p>
            <a:r>
              <a:rPr lang="en-IN" b="1" i="0" dirty="0">
                <a:solidFill>
                  <a:srgbClr val="FFFFFF"/>
                </a:solidFill>
                <a:effectLst/>
                <a:latin typeface="Source Sans 3"/>
              </a:rPr>
              <a:t>Singular Value Decomposition (SVD)</a:t>
            </a:r>
            <a:br>
              <a:rPr lang="en-IN" b="1" i="0" dirty="0">
                <a:solidFill>
                  <a:srgbClr val="FFFFFF"/>
                </a:solidFill>
                <a:effectLst/>
                <a:latin typeface="Source Sans 3"/>
              </a:rPr>
            </a:br>
            <a:r>
              <a:rPr lang="en-IN" b="1" i="0" dirty="0">
                <a:solidFill>
                  <a:srgbClr val="FFFFFF"/>
                </a:solidFill>
                <a:effectLst/>
                <a:latin typeface="Source Sans 3"/>
              </a:rPr>
              <a:t>Sing Singular Value Decomposition (SVD)</a:t>
            </a:r>
            <a:br>
              <a:rPr lang="en-IN" b="1" i="0" dirty="0">
                <a:solidFill>
                  <a:srgbClr val="FFFFFF"/>
                </a:solidFill>
                <a:effectLst/>
                <a:latin typeface="Source Sans 3"/>
              </a:rPr>
            </a:br>
            <a:r>
              <a:rPr lang="en-IN" b="1" i="0" dirty="0">
                <a:solidFill>
                  <a:srgbClr val="FF0000"/>
                </a:solidFill>
                <a:effectLst/>
                <a:latin typeface="Source Sans 3"/>
              </a:rPr>
              <a:t>Singular Value Decomposition (SVD) (</a:t>
            </a:r>
            <a:r>
              <a:rPr lang="en-IN" b="1" i="0" dirty="0" err="1">
                <a:solidFill>
                  <a:srgbClr val="FF0000"/>
                </a:solidFill>
                <a:effectLst/>
                <a:latin typeface="Source Sans 3"/>
              </a:rPr>
              <a:t>Cont</a:t>
            </a:r>
            <a:r>
              <a:rPr lang="en-IN" b="1" i="0" dirty="0">
                <a:solidFill>
                  <a:srgbClr val="FF0000"/>
                </a:solidFill>
                <a:effectLst/>
                <a:latin typeface="Source Sans 3"/>
              </a:rPr>
              <a:t>..III)</a:t>
            </a:r>
            <a:br>
              <a:rPr lang="en-IN" b="1" i="0" dirty="0">
                <a:solidFill>
                  <a:srgbClr val="FF0000"/>
                </a:solidFill>
                <a:effectLst/>
                <a:latin typeface="Source Sans 3"/>
              </a:rPr>
            </a:br>
            <a:br>
              <a:rPr lang="en-US" b="1" dirty="0">
                <a:solidFill>
                  <a:srgbClr val="FF0000"/>
                </a:solidFill>
              </a:rPr>
            </a:br>
            <a:endParaRPr lang="en-IN" dirty="0">
              <a:solidFill>
                <a:srgbClr val="FF0000"/>
              </a:solidFill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" name="Content Placeholder 2">
                <a:extLst>
                  <a:ext uri="{FF2B5EF4-FFF2-40B4-BE49-F238E27FC236}">
                    <a16:creationId xmlns:a16="http://schemas.microsoft.com/office/drawing/2014/main" id="{F6D5BCE6-694F-32AC-6655-DD66D6C59AFA}"/>
                  </a:ext>
                </a:extLst>
              </p:cNvPr>
              <p:cNvSpPr>
                <a:spLocks noGrp="1"/>
              </p:cNvSpPr>
              <p:nvPr>
                <p:ph idx="1"/>
              </p:nvPr>
            </p:nvSpPr>
            <p:spPr>
              <a:xfrm>
                <a:off x="798478" y="894945"/>
                <a:ext cx="10534245" cy="5029200"/>
              </a:xfrm>
            </p:spPr>
            <p:txBody>
              <a:bodyPr>
                <a:noAutofit/>
              </a:bodyPr>
              <a:lstStyle/>
              <a:p>
                <a:pPr marL="0" indent="0" fontAlgn="base">
                  <a:spcAft>
                    <a:spcPts val="1800"/>
                  </a:spcAft>
                  <a:buNone/>
                </a:pPr>
                <a:r>
                  <a:rPr lang="en-US" sz="2400" b="1" i="0" dirty="0">
                    <a:effectLst/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Step3: </a:t>
                </a:r>
                <a:r>
                  <a:rPr lang="en-US" sz="2400" b="0" i="0" dirty="0">
                    <a:effectLst/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Find the </a:t>
                </a:r>
                <a:r>
                  <a:rPr lang="en-US" sz="2400" dirty="0"/>
                  <a:t>Left singular vectors (orthogonal </a:t>
                </a:r>
                <a:r>
                  <a:rPr lang="en-US" sz="2400" b="0" i="0" dirty="0">
                    <a:effectLst/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matrix) U</a:t>
                </a:r>
                <a:r>
                  <a:rPr lang="en-US" sz="2400" dirty="0">
                    <a:cs typeface="Times New Roman" panose="02020603050405020304" pitchFamily="18" charset="0"/>
                  </a:rPr>
                  <a:t> </a:t>
                </a:r>
                <a14:m>
                  <m:oMath xmlns:m="http://schemas.openxmlformats.org/officeDocument/2006/math">
                    <m:r>
                      <a:rPr lang="en-US" sz="2400">
                        <a:latin typeface="Cambria Math" panose="02040503050406030204" pitchFamily="18" charset="0"/>
                        <a:cs typeface="Times New Roman" panose="02020603050405020304" pitchFamily="18" charset="0"/>
                      </a:rPr>
                      <m:t>=</m:t>
                    </m:r>
                    <m:d>
                      <m:dPr>
                        <m:begChr m:val="["/>
                        <m:endChr m:val="]"/>
                        <m:ctrlPr>
                          <a:rPr lang="en-US" sz="2400" i="1">
                            <a:latin typeface="Cambria Math" panose="02040503050406030204" pitchFamily="18" charset="0"/>
                            <a:cs typeface="Times New Roman" panose="02020603050405020304" pitchFamily="18" charset="0"/>
                          </a:rPr>
                        </m:ctrlPr>
                      </m:dPr>
                      <m:e>
                        <m:m>
                          <m:mPr>
                            <m:mcs>
                              <m:mc>
                                <m:mcPr>
                                  <m:count m:val="2"/>
                                  <m:mcJc m:val="center"/>
                                </m:mcPr>
                              </m:mc>
                            </m:mcs>
                            <m:ctrlPr>
                              <a:rPr lang="en-US" sz="2400" i="1">
                                <a:latin typeface="Cambria Math" panose="02040503050406030204" pitchFamily="18" charset="0"/>
                                <a:cs typeface="Times New Roman" panose="02020603050405020304" pitchFamily="18" charset="0"/>
                              </a:rPr>
                            </m:ctrlPr>
                          </m:mPr>
                          <m:mr>
                            <m:e>
                              <m:sSub>
                                <m:sSubPr>
                                  <m:ctrlPr>
                                    <a:rPr lang="en-US" sz="2400" i="1">
                                      <a:latin typeface="Cambria Math" panose="02040503050406030204" pitchFamily="18" charset="0"/>
                                      <a:cs typeface="Times New Roman" panose="02020603050405020304" pitchFamily="18" charset="0"/>
                                    </a:rPr>
                                  </m:ctrlPr>
                                </m:sSubPr>
                                <m:e>
                                  <m:r>
                                    <a:rPr lang="en-US" sz="2400" i="1">
                                      <a:latin typeface="Cambria Math" panose="02040503050406030204" pitchFamily="18" charset="0"/>
                                      <a:cs typeface="Times New Roman" panose="02020603050405020304" pitchFamily="18" charset="0"/>
                                    </a:rPr>
                                    <m:t>𝑢</m:t>
                                  </m:r>
                                </m:e>
                                <m:sub>
                                  <m:r>
                                    <a:rPr lang="en-US" sz="2400" i="1">
                                      <a:latin typeface="Cambria Math" panose="02040503050406030204" pitchFamily="18" charset="0"/>
                                      <a:cs typeface="Times New Roman" panose="02020603050405020304" pitchFamily="18" charset="0"/>
                                    </a:rPr>
                                    <m:t>1</m:t>
                                  </m:r>
                                </m:sub>
                              </m:sSub>
                            </m:e>
                            <m:e>
                              <m:sSub>
                                <m:sSubPr>
                                  <m:ctrlPr>
                                    <a:rPr lang="en-US" sz="2400" i="1">
                                      <a:latin typeface="Cambria Math" panose="02040503050406030204" pitchFamily="18" charset="0"/>
                                      <a:cs typeface="Times New Roman" panose="02020603050405020304" pitchFamily="18" charset="0"/>
                                    </a:rPr>
                                  </m:ctrlPr>
                                </m:sSubPr>
                                <m:e>
                                  <m:r>
                                    <a:rPr lang="en-US" sz="2400" i="1">
                                      <a:latin typeface="Cambria Math" panose="02040503050406030204" pitchFamily="18" charset="0"/>
                                      <a:cs typeface="Times New Roman" panose="02020603050405020304" pitchFamily="18" charset="0"/>
                                    </a:rPr>
                                    <m:t>𝑢</m:t>
                                  </m:r>
                                </m:e>
                                <m:sub>
                                  <m:r>
                                    <a:rPr lang="en-US" sz="2400" i="1">
                                      <a:latin typeface="Cambria Math" panose="02040503050406030204" pitchFamily="18" charset="0"/>
                                      <a:cs typeface="Times New Roman" panose="02020603050405020304" pitchFamily="18" charset="0"/>
                                    </a:rPr>
                                    <m:t>2</m:t>
                                  </m:r>
                                </m:sub>
                              </m:sSub>
                            </m:e>
                          </m:mr>
                        </m:m>
                      </m:e>
                    </m:d>
                  </m:oMath>
                </a14:m>
                <a:endParaRPr lang="en-US" sz="2400" dirty="0">
                  <a:cs typeface="Times New Roman" panose="02020603050405020304" pitchFamily="18" charset="0"/>
                </a:endParaRPr>
              </a:p>
              <a:p>
                <a:pPr marL="0" indent="0" fontAlgn="base">
                  <a:spcAft>
                    <a:spcPts val="1800"/>
                  </a:spcAft>
                  <a:buNone/>
                </a:pPr>
                <a:r>
                  <a:rPr lang="en-US" sz="2400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We know that,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sz="2400" b="0" i="1" smtClean="0">
                            <a:effectLst/>
                            <a:latin typeface="Cambria Math" panose="02040503050406030204" pitchFamily="18" charset="0"/>
                            <a:cs typeface="Times New Roman" panose="02020603050405020304" pitchFamily="18" charset="0"/>
                          </a:rPr>
                        </m:ctrlPr>
                      </m:sSubPr>
                      <m:e>
                        <m:r>
                          <a:rPr lang="en-US" sz="2400" b="0" i="1" smtClean="0">
                            <a:effectLst/>
                            <a:latin typeface="Cambria Math" panose="02040503050406030204" pitchFamily="18" charset="0"/>
                            <a:cs typeface="Times New Roman" panose="02020603050405020304" pitchFamily="18" charset="0"/>
                          </a:rPr>
                          <m:t>𝑢</m:t>
                        </m:r>
                      </m:e>
                      <m:sub>
                        <m:r>
                          <a:rPr lang="en-US" sz="2400" b="0" i="1" smtClean="0">
                            <a:effectLst/>
                            <a:latin typeface="Cambria Math" panose="02040503050406030204" pitchFamily="18" charset="0"/>
                            <a:cs typeface="Times New Roman" panose="02020603050405020304" pitchFamily="18" charset="0"/>
                          </a:rPr>
                          <m:t>𝑖</m:t>
                        </m:r>
                      </m:sub>
                    </m:sSub>
                    <m:r>
                      <a:rPr lang="en-US" sz="2400" b="0" i="1" smtClean="0">
                        <a:effectLst/>
                        <a:latin typeface="Cambria Math" panose="02040503050406030204" pitchFamily="18" charset="0"/>
                        <a:cs typeface="Times New Roman" panose="02020603050405020304" pitchFamily="18" charset="0"/>
                      </a:rPr>
                      <m:t>=</m:t>
                    </m:r>
                    <m:f>
                      <m:fPr>
                        <m:ctrlPr>
                          <a:rPr lang="en-US" sz="2400" b="0" i="1" smtClean="0">
                            <a:effectLst/>
                            <a:latin typeface="Cambria Math" panose="02040503050406030204" pitchFamily="18" charset="0"/>
                            <a:cs typeface="Times New Roman" panose="02020603050405020304" pitchFamily="18" charset="0"/>
                          </a:rPr>
                        </m:ctrlPr>
                      </m:fPr>
                      <m:num>
                        <m:r>
                          <a:rPr lang="en-US" sz="2400" b="0" i="1" smtClean="0">
                            <a:effectLst/>
                            <a:latin typeface="Cambria Math" panose="02040503050406030204" pitchFamily="18" charset="0"/>
                            <a:cs typeface="Times New Roman" panose="02020603050405020304" pitchFamily="18" charset="0"/>
                          </a:rPr>
                          <m:t>𝐴</m:t>
                        </m:r>
                        <m:sSub>
                          <m:sSubPr>
                            <m:ctrlPr>
                              <a:rPr lang="en-US" sz="2400" b="0" i="1" smtClean="0">
                                <a:effectLst/>
                                <a:latin typeface="Cambria Math" panose="02040503050406030204" pitchFamily="18" charset="0"/>
                                <a:cs typeface="Times New Roman" panose="02020603050405020304" pitchFamily="18" charset="0"/>
                              </a:rPr>
                            </m:ctrlPr>
                          </m:sSubPr>
                          <m:e>
                            <m:r>
                              <a:rPr lang="en-US" sz="2400" b="0" i="1" smtClean="0">
                                <a:effectLst/>
                                <a:latin typeface="Cambria Math" panose="02040503050406030204" pitchFamily="18" charset="0"/>
                                <a:cs typeface="Times New Roman" panose="02020603050405020304" pitchFamily="18" charset="0"/>
                              </a:rPr>
                              <m:t>𝑣</m:t>
                            </m:r>
                          </m:e>
                          <m:sub>
                            <m:r>
                              <a:rPr lang="en-US" sz="2400" b="0" i="1" smtClean="0">
                                <a:effectLst/>
                                <a:latin typeface="Cambria Math" panose="02040503050406030204" pitchFamily="18" charset="0"/>
                                <a:cs typeface="Times New Roman" panose="02020603050405020304" pitchFamily="18" charset="0"/>
                              </a:rPr>
                              <m:t>𝑖</m:t>
                            </m:r>
                          </m:sub>
                        </m:sSub>
                      </m:num>
                      <m:den>
                        <m:sSub>
                          <m:sSubPr>
                            <m:ctrlPr>
                              <a:rPr lang="en-US" sz="2400" b="0" i="1" smtClean="0">
                                <a:effectLst/>
                                <a:latin typeface="Cambria Math" panose="02040503050406030204" pitchFamily="18" charset="0"/>
                                <a:cs typeface="Times New Roman" panose="02020603050405020304" pitchFamily="18" charset="0"/>
                              </a:rPr>
                            </m:ctrlPr>
                          </m:sSubPr>
                          <m:e>
                            <m:r>
                              <a:rPr lang="en-US" sz="2400" b="0" i="1" smtClean="0">
                                <a:effectLst/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  <a:cs typeface="Times New Roman" panose="02020603050405020304" pitchFamily="18" charset="0"/>
                              </a:rPr>
                              <m:t>𝜎</m:t>
                            </m:r>
                          </m:e>
                          <m:sub>
                            <m:r>
                              <a:rPr lang="en-US" sz="2400" b="0" i="1" smtClean="0">
                                <a:effectLst/>
                                <a:latin typeface="Cambria Math" panose="02040503050406030204" pitchFamily="18" charset="0"/>
                                <a:cs typeface="Times New Roman" panose="02020603050405020304" pitchFamily="18" charset="0"/>
                              </a:rPr>
                              <m:t>𝑖</m:t>
                            </m:r>
                          </m:sub>
                        </m:sSub>
                      </m:den>
                    </m:f>
                  </m:oMath>
                </a14:m>
                <a:r>
                  <a:rPr lang="en-US" sz="2400" b="0" i="0" dirty="0">
                    <a:effectLst/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;  </a:t>
                </a:r>
                <a:r>
                  <a:rPr lang="en-US" sz="2400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where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sz="2400" i="1">
                            <a:latin typeface="Cambria Math" panose="02040503050406030204" pitchFamily="18" charset="0"/>
                            <a:cs typeface="Times New Roman" panose="02020603050405020304" pitchFamily="18" charset="0"/>
                          </a:rPr>
                        </m:ctrlPr>
                      </m:sSubPr>
                      <m:e>
                        <m:r>
                          <a:rPr lang="en-US" sz="2400" i="1">
                            <a:latin typeface="Cambria Math" panose="02040503050406030204" pitchFamily="18" charset="0"/>
                            <a:ea typeface="Cambria Math" panose="02040503050406030204" pitchFamily="18" charset="0"/>
                            <a:cs typeface="Times New Roman" panose="02020603050405020304" pitchFamily="18" charset="0"/>
                          </a:rPr>
                          <m:t>𝜎</m:t>
                        </m:r>
                      </m:e>
                      <m:sub>
                        <m:r>
                          <a:rPr lang="en-US" sz="2400" i="1">
                            <a:latin typeface="Cambria Math" panose="02040503050406030204" pitchFamily="18" charset="0"/>
                            <a:cs typeface="Times New Roman" panose="02020603050405020304" pitchFamily="18" charset="0"/>
                          </a:rPr>
                          <m:t>𝑖</m:t>
                        </m:r>
                      </m:sub>
                    </m:sSub>
                  </m:oMath>
                </a14:m>
                <a:r>
                  <a:rPr lang="en-US" sz="2400" b="0" i="0" dirty="0">
                    <a:effectLst/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 =</a:t>
                </a:r>
                <a14:m>
                  <m:oMath xmlns:m="http://schemas.openxmlformats.org/officeDocument/2006/math">
                    <m:rad>
                      <m:radPr>
                        <m:degHide m:val="on"/>
                        <m:ctrlPr>
                          <a:rPr lang="en-US" sz="2400" b="0" i="1" dirty="0" smtClean="0">
                            <a:effectLst/>
                            <a:latin typeface="Cambria Math" panose="02040503050406030204" pitchFamily="18" charset="0"/>
                            <a:cs typeface="Times New Roman" panose="02020603050405020304" pitchFamily="18" charset="0"/>
                          </a:rPr>
                        </m:ctrlPr>
                      </m:radPr>
                      <m:deg/>
                      <m:e>
                        <m:sSub>
                          <m:sSubPr>
                            <m:ctrlPr>
                              <a:rPr lang="en-US" sz="2400" i="1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sz="2400" i="1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  <m:t>⋋</m:t>
                            </m:r>
                          </m:e>
                          <m:sub>
                            <m:r>
                              <a:rPr lang="en-US" sz="2400" b="0" i="1" smtClean="0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  <m:t>𝑖</m:t>
                            </m:r>
                          </m:sub>
                        </m:sSub>
                      </m:e>
                    </m:rad>
                  </m:oMath>
                </a14:m>
                <a:endParaRPr lang="en-US" sz="2400" b="0" i="0" dirty="0">
                  <a:effectLst/>
                  <a:latin typeface="Times New Roman" panose="02020603050405020304" pitchFamily="18" charset="0"/>
                  <a:cs typeface="Times New Roman" panose="02020603050405020304" pitchFamily="18" charset="0"/>
                </a:endParaRPr>
              </a:p>
              <a:p>
                <a:pPr marL="0" indent="0" fontAlgn="base">
                  <a:spcAft>
                    <a:spcPts val="1800"/>
                  </a:spcAft>
                  <a:buNone/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US" sz="2400" i="1">
                              <a:latin typeface="Cambria Math" panose="02040503050406030204" pitchFamily="18" charset="0"/>
                              <a:cs typeface="Times New Roman" panose="02020603050405020304" pitchFamily="18" charset="0"/>
                            </a:rPr>
                          </m:ctrlPr>
                        </m:sSubPr>
                        <m:e>
                          <m:r>
                            <a:rPr lang="en-US" sz="2400" i="1">
                              <a:latin typeface="Cambria Math" panose="02040503050406030204" pitchFamily="18" charset="0"/>
                              <a:cs typeface="Times New Roman" panose="02020603050405020304" pitchFamily="18" charset="0"/>
                            </a:rPr>
                            <m:t>𝑢</m:t>
                          </m:r>
                        </m:e>
                        <m:sub>
                          <m:r>
                            <a:rPr lang="en-US" sz="2400" b="0" i="1" smtClean="0">
                              <a:latin typeface="Cambria Math" panose="02040503050406030204" pitchFamily="18" charset="0"/>
                              <a:cs typeface="Times New Roman" panose="02020603050405020304" pitchFamily="18" charset="0"/>
                            </a:rPr>
                            <m:t>1</m:t>
                          </m:r>
                        </m:sub>
                      </m:sSub>
                      <m:r>
                        <a:rPr lang="en-US" sz="2400" i="1">
                          <a:latin typeface="Cambria Math" panose="02040503050406030204" pitchFamily="18" charset="0"/>
                          <a:cs typeface="Times New Roman" panose="02020603050405020304" pitchFamily="18" charset="0"/>
                        </a:rPr>
                        <m:t>=</m:t>
                      </m:r>
                      <m:f>
                        <m:fPr>
                          <m:ctrlPr>
                            <a:rPr lang="en-US" sz="2400" i="1">
                              <a:latin typeface="Cambria Math" panose="02040503050406030204" pitchFamily="18" charset="0"/>
                              <a:cs typeface="Times New Roman" panose="02020603050405020304" pitchFamily="18" charset="0"/>
                            </a:rPr>
                          </m:ctrlPr>
                        </m:fPr>
                        <m:num>
                          <m:r>
                            <a:rPr lang="en-US" sz="2400" i="1">
                              <a:latin typeface="Cambria Math" panose="02040503050406030204" pitchFamily="18" charset="0"/>
                              <a:cs typeface="Times New Roman" panose="02020603050405020304" pitchFamily="18" charset="0"/>
                            </a:rPr>
                            <m:t>𝐴</m:t>
                          </m:r>
                          <m:sSub>
                            <m:sSubPr>
                              <m:ctrlPr>
                                <a:rPr lang="en-US" sz="2400" i="1">
                                  <a:latin typeface="Cambria Math" panose="02040503050406030204" pitchFamily="18" charset="0"/>
                                  <a:cs typeface="Times New Roman" panose="02020603050405020304" pitchFamily="18" charset="0"/>
                                </a:rPr>
                              </m:ctrlPr>
                            </m:sSubPr>
                            <m:e>
                              <m:r>
                                <a:rPr lang="en-US" sz="2400" i="1">
                                  <a:latin typeface="Cambria Math" panose="02040503050406030204" pitchFamily="18" charset="0"/>
                                  <a:cs typeface="Times New Roman" panose="02020603050405020304" pitchFamily="18" charset="0"/>
                                </a:rPr>
                                <m:t>𝑣</m:t>
                              </m:r>
                            </m:e>
                            <m:sub>
                              <m:r>
                                <a:rPr lang="en-US" sz="2400" b="0" i="1" smtClean="0">
                                  <a:latin typeface="Cambria Math" panose="02040503050406030204" pitchFamily="18" charset="0"/>
                                  <a:cs typeface="Times New Roman" panose="02020603050405020304" pitchFamily="18" charset="0"/>
                                </a:rPr>
                                <m:t>1</m:t>
                              </m:r>
                            </m:sub>
                          </m:sSub>
                        </m:num>
                        <m:den>
                          <m:sSub>
                            <m:sSubPr>
                              <m:ctrlPr>
                                <a:rPr lang="en-US" sz="2400" i="1">
                                  <a:latin typeface="Cambria Math" panose="02040503050406030204" pitchFamily="18" charset="0"/>
                                  <a:cs typeface="Times New Roman" panose="02020603050405020304" pitchFamily="18" charset="0"/>
                                </a:rPr>
                              </m:ctrlPr>
                            </m:sSubPr>
                            <m:e>
                              <m:r>
                                <a:rPr lang="en-US" sz="2400" i="1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  <a:cs typeface="Times New Roman" panose="02020603050405020304" pitchFamily="18" charset="0"/>
                                </a:rPr>
                                <m:t>𝜎</m:t>
                              </m:r>
                            </m:e>
                            <m:sub>
                              <m:r>
                                <a:rPr lang="en-US" sz="2400" b="0" i="1" smtClean="0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  <a:cs typeface="Times New Roman" panose="02020603050405020304" pitchFamily="18" charset="0"/>
                                </a:rPr>
                                <m:t>1</m:t>
                              </m:r>
                            </m:sub>
                          </m:sSub>
                        </m:den>
                      </m:f>
                      <m:r>
                        <a:rPr lang="en-US" sz="2400" b="0" i="1" smtClean="0">
                          <a:latin typeface="Cambria Math" panose="02040503050406030204" pitchFamily="18" charset="0"/>
                          <a:cs typeface="Times New Roman" panose="02020603050405020304" pitchFamily="18" charset="0"/>
                        </a:rPr>
                        <m:t>=</m:t>
                      </m:r>
                      <m:d>
                        <m:dPr>
                          <m:begChr m:val="["/>
                          <m:endChr m:val="]"/>
                          <m:ctrlPr>
                            <a:rPr lang="en-US" sz="2400" i="1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m>
                            <m:mPr>
                              <m:mcs>
                                <m:mc>
                                  <m:mcPr>
                                    <m:count m:val="2"/>
                                    <m:mcJc m:val="center"/>
                                  </m:mcPr>
                                </m:mc>
                              </m:mcs>
                              <m:ctrlPr>
                                <a:rPr lang="en-US" sz="2400" i="1">
                                  <a:latin typeface="Cambria Math" panose="02040503050406030204" pitchFamily="18" charset="0"/>
                                </a:rPr>
                              </m:ctrlPr>
                            </m:mPr>
                            <m:mr>
                              <m:e>
                                <m:r>
                                  <m:rPr>
                                    <m:brk m:alnAt="7"/>
                                  </m:rPr>
                                  <a:rPr lang="en-US" sz="2400" i="1">
                                    <a:latin typeface="Cambria Math" panose="02040503050406030204" pitchFamily="18" charset="0"/>
                                  </a:rPr>
                                  <m:t>−</m:t>
                                </m:r>
                                <m:r>
                                  <a:rPr lang="en-US" sz="2400" i="1">
                                    <a:latin typeface="Cambria Math" panose="02040503050406030204" pitchFamily="18" charset="0"/>
                                  </a:rPr>
                                  <m:t>4</m:t>
                                </m:r>
                              </m:e>
                              <m:e>
                                <m:r>
                                  <a:rPr lang="en-US" sz="2400" i="1">
                                    <a:latin typeface="Cambria Math" panose="02040503050406030204" pitchFamily="18" charset="0"/>
                                  </a:rPr>
                                  <m:t>−7</m:t>
                                </m:r>
                              </m:e>
                            </m:mr>
                            <m:mr>
                              <m:e>
                                <m:r>
                                  <a:rPr lang="en-US" sz="2400" i="1">
                                    <a:latin typeface="Cambria Math" panose="02040503050406030204" pitchFamily="18" charset="0"/>
                                  </a:rPr>
                                  <m:t>1</m:t>
                                </m:r>
                              </m:e>
                              <m:e>
                                <m:r>
                                  <a:rPr lang="en-US" sz="2400" i="1">
                                    <a:latin typeface="Cambria Math" panose="02040503050406030204" pitchFamily="18" charset="0"/>
                                  </a:rPr>
                                  <m:t>4</m:t>
                                </m:r>
                              </m:e>
                            </m:mr>
                          </m:m>
                        </m:e>
                      </m:d>
                      <m:r>
                        <a:rPr lang="en-US" sz="2400" b="0" i="1" smtClean="0">
                          <a:latin typeface="Cambria Math" panose="02040503050406030204" pitchFamily="18" charset="0"/>
                        </a:rPr>
                        <m:t>∗</m:t>
                      </m:r>
                      <m:f>
                        <m:fPr>
                          <m:ctrlPr>
                            <a:rPr lang="en-US" sz="2400" i="1"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r>
                            <a:rPr lang="en-US" sz="2400" i="1">
                              <a:latin typeface="Cambria Math" panose="02040503050406030204" pitchFamily="18" charset="0"/>
                            </a:rPr>
                            <m:t>1</m:t>
                          </m:r>
                        </m:num>
                        <m:den>
                          <m:rad>
                            <m:radPr>
                              <m:degHide m:val="on"/>
                              <m:ctrlPr>
                                <a:rPr lang="en-US" sz="2400" i="1">
                                  <a:latin typeface="Cambria Math" panose="02040503050406030204" pitchFamily="18" charset="0"/>
                                </a:rPr>
                              </m:ctrlPr>
                            </m:radPr>
                            <m:deg/>
                            <m:e>
                              <m:r>
                                <a:rPr lang="en-US" sz="2400" i="1">
                                  <a:latin typeface="Cambria Math" panose="02040503050406030204" pitchFamily="18" charset="0"/>
                                </a:rPr>
                                <m:t>5</m:t>
                              </m:r>
                            </m:e>
                          </m:rad>
                        </m:den>
                      </m:f>
                      <m:d>
                        <m:dPr>
                          <m:begChr m:val="["/>
                          <m:endChr m:val="]"/>
                          <m:ctrlPr>
                            <a:rPr lang="en-US" sz="2400" i="1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m>
                            <m:mPr>
                              <m:mcs>
                                <m:mc>
                                  <m:mcPr>
                                    <m:count m:val="1"/>
                                    <m:mcJc m:val="center"/>
                                  </m:mcPr>
                                </m:mc>
                              </m:mcs>
                              <m:ctrlPr>
                                <a:rPr lang="en-US" sz="2400" i="1">
                                  <a:latin typeface="Cambria Math" panose="02040503050406030204" pitchFamily="18" charset="0"/>
                                </a:rPr>
                              </m:ctrlPr>
                            </m:mPr>
                            <m:mr>
                              <m:e>
                                <m:r>
                                  <m:rPr>
                                    <m:brk m:alnAt="7"/>
                                  </m:rPr>
                                  <a:rPr lang="en-US" sz="2400" i="1">
                                    <a:latin typeface="Cambria Math" panose="02040503050406030204" pitchFamily="18" charset="0"/>
                                  </a:rPr>
                                  <m:t>1</m:t>
                                </m:r>
                              </m:e>
                            </m:mr>
                            <m:mr>
                              <m:e>
                                <m:r>
                                  <a:rPr lang="en-US" sz="2400" i="1">
                                    <a:latin typeface="Cambria Math" panose="02040503050406030204" pitchFamily="18" charset="0"/>
                                  </a:rPr>
                                  <m:t>2</m:t>
                                </m:r>
                              </m:e>
                            </m:mr>
                          </m:m>
                        </m:e>
                      </m:d>
                      <m:r>
                        <a:rPr lang="en-US" sz="2400" b="0" i="1" smtClean="0">
                          <a:latin typeface="Cambria Math" panose="02040503050406030204" pitchFamily="18" charset="0"/>
                        </a:rPr>
                        <m:t>∗</m:t>
                      </m:r>
                      <m:f>
                        <m:fPr>
                          <m:ctrlPr>
                            <a:rPr lang="en-US" sz="2400" b="0" i="1" smtClean="0"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r>
                            <a:rPr lang="en-US" sz="2400" b="0" i="1" smtClean="0">
                              <a:latin typeface="Cambria Math" panose="02040503050406030204" pitchFamily="18" charset="0"/>
                            </a:rPr>
                            <m:t>1</m:t>
                          </m:r>
                        </m:num>
                        <m:den>
                          <m:r>
                            <a:rPr lang="en-US" sz="2400" b="0" i="1" smtClean="0">
                              <a:latin typeface="Cambria Math" panose="02040503050406030204" pitchFamily="18" charset="0"/>
                            </a:rPr>
                            <m:t>9</m:t>
                          </m:r>
                        </m:den>
                      </m:f>
                      <m:r>
                        <a:rPr lang="en-US" sz="2400" b="0" i="1" smtClean="0">
                          <a:latin typeface="Cambria Math" panose="02040503050406030204" pitchFamily="18" charset="0"/>
                        </a:rPr>
                        <m:t>=</m:t>
                      </m:r>
                      <m:f>
                        <m:fPr>
                          <m:ctrlPr>
                            <a:rPr lang="en-US" sz="2400" i="1"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r>
                            <a:rPr lang="en-US" sz="2400" i="1">
                              <a:latin typeface="Cambria Math" panose="02040503050406030204" pitchFamily="18" charset="0"/>
                            </a:rPr>
                            <m:t>1</m:t>
                          </m:r>
                        </m:num>
                        <m:den>
                          <m:rad>
                            <m:radPr>
                              <m:degHide m:val="on"/>
                              <m:ctrlPr>
                                <a:rPr lang="en-US" sz="2400" i="1">
                                  <a:latin typeface="Cambria Math" panose="02040503050406030204" pitchFamily="18" charset="0"/>
                                </a:rPr>
                              </m:ctrlPr>
                            </m:radPr>
                            <m:deg/>
                            <m:e>
                              <m:r>
                                <a:rPr lang="en-US" sz="2400" i="1">
                                  <a:latin typeface="Cambria Math" panose="02040503050406030204" pitchFamily="18" charset="0"/>
                                </a:rPr>
                                <m:t>5</m:t>
                              </m:r>
                            </m:e>
                          </m:rad>
                        </m:den>
                      </m:f>
                      <m:d>
                        <m:dPr>
                          <m:begChr m:val="["/>
                          <m:endChr m:val="]"/>
                          <m:ctrlPr>
                            <a:rPr lang="en-US" sz="2400" i="1" smtClean="0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m>
                            <m:mPr>
                              <m:mcs>
                                <m:mc>
                                  <m:mcPr>
                                    <m:count m:val="1"/>
                                    <m:mcJc m:val="center"/>
                                  </m:mcPr>
                                </m:mc>
                              </m:mcs>
                              <m:ctrlPr>
                                <a:rPr lang="en-US" sz="2400" i="1" smtClean="0">
                                  <a:latin typeface="Cambria Math" panose="02040503050406030204" pitchFamily="18" charset="0"/>
                                </a:rPr>
                              </m:ctrlPr>
                            </m:mPr>
                            <m:mr>
                              <m:e>
                                <m:r>
                                  <m:rPr>
                                    <m:brk m:alnAt="7"/>
                                  </m:rPr>
                                  <a:rPr lang="en-US" sz="2400" b="0" i="1" smtClean="0">
                                    <a:latin typeface="Cambria Math" panose="02040503050406030204" pitchFamily="18" charset="0"/>
                                  </a:rPr>
                                  <m:t>−</m:t>
                                </m:r>
                                <m:r>
                                  <a:rPr lang="en-US" sz="2400" b="0" i="1" smtClean="0">
                                    <a:latin typeface="Cambria Math" panose="02040503050406030204" pitchFamily="18" charset="0"/>
                                  </a:rPr>
                                  <m:t>2</m:t>
                                </m:r>
                              </m:e>
                            </m:mr>
                            <m:mr>
                              <m:e>
                                <m:r>
                                  <a:rPr lang="en-US" sz="2400" b="0" i="1" smtClean="0">
                                    <a:latin typeface="Cambria Math" panose="02040503050406030204" pitchFamily="18" charset="0"/>
                                  </a:rPr>
                                  <m:t>1</m:t>
                                </m:r>
                              </m:e>
                            </m:mr>
                          </m:m>
                        </m:e>
                      </m:d>
                    </m:oMath>
                  </m:oMathPara>
                </a14:m>
                <a:endParaRPr lang="en-US" sz="2400" b="0" i="0" dirty="0">
                  <a:effectLst/>
                  <a:latin typeface="Times New Roman" panose="02020603050405020304" pitchFamily="18" charset="0"/>
                  <a:cs typeface="Times New Roman" panose="02020603050405020304" pitchFamily="18" charset="0"/>
                </a:endParaRPr>
              </a:p>
              <a:p>
                <a:pPr marL="0" indent="0" fontAlgn="base">
                  <a:spcAft>
                    <a:spcPts val="1800"/>
                  </a:spcAft>
                  <a:buNone/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US" sz="2400" i="1">
                              <a:latin typeface="Cambria Math" panose="02040503050406030204" pitchFamily="18" charset="0"/>
                              <a:cs typeface="Times New Roman" panose="02020603050405020304" pitchFamily="18" charset="0"/>
                            </a:rPr>
                          </m:ctrlPr>
                        </m:sSubPr>
                        <m:e>
                          <m:r>
                            <a:rPr lang="en-US" sz="2400" i="1">
                              <a:latin typeface="Cambria Math" panose="02040503050406030204" pitchFamily="18" charset="0"/>
                              <a:cs typeface="Times New Roman" panose="02020603050405020304" pitchFamily="18" charset="0"/>
                            </a:rPr>
                            <m:t>𝑢</m:t>
                          </m:r>
                        </m:e>
                        <m:sub>
                          <m:r>
                            <a:rPr lang="en-US" sz="2400" b="0" i="1" smtClean="0">
                              <a:latin typeface="Cambria Math" panose="02040503050406030204" pitchFamily="18" charset="0"/>
                              <a:cs typeface="Times New Roman" panose="02020603050405020304" pitchFamily="18" charset="0"/>
                            </a:rPr>
                            <m:t>2</m:t>
                          </m:r>
                        </m:sub>
                      </m:sSub>
                      <m:r>
                        <a:rPr lang="en-US" sz="2400" i="1">
                          <a:latin typeface="Cambria Math" panose="02040503050406030204" pitchFamily="18" charset="0"/>
                          <a:cs typeface="Times New Roman" panose="02020603050405020304" pitchFamily="18" charset="0"/>
                        </a:rPr>
                        <m:t>=</m:t>
                      </m:r>
                      <m:f>
                        <m:fPr>
                          <m:ctrlPr>
                            <a:rPr lang="en-US" sz="2400" i="1">
                              <a:latin typeface="Cambria Math" panose="02040503050406030204" pitchFamily="18" charset="0"/>
                              <a:cs typeface="Times New Roman" panose="02020603050405020304" pitchFamily="18" charset="0"/>
                            </a:rPr>
                          </m:ctrlPr>
                        </m:fPr>
                        <m:num>
                          <m:r>
                            <a:rPr lang="en-US" sz="2400" i="1">
                              <a:latin typeface="Cambria Math" panose="02040503050406030204" pitchFamily="18" charset="0"/>
                              <a:cs typeface="Times New Roman" panose="02020603050405020304" pitchFamily="18" charset="0"/>
                            </a:rPr>
                            <m:t>𝐴</m:t>
                          </m:r>
                          <m:sSub>
                            <m:sSubPr>
                              <m:ctrlPr>
                                <a:rPr lang="en-US" sz="2400" i="1">
                                  <a:latin typeface="Cambria Math" panose="02040503050406030204" pitchFamily="18" charset="0"/>
                                  <a:cs typeface="Times New Roman" panose="02020603050405020304" pitchFamily="18" charset="0"/>
                                </a:rPr>
                              </m:ctrlPr>
                            </m:sSubPr>
                            <m:e>
                              <m:r>
                                <a:rPr lang="en-US" sz="2400" i="1">
                                  <a:latin typeface="Cambria Math" panose="02040503050406030204" pitchFamily="18" charset="0"/>
                                  <a:cs typeface="Times New Roman" panose="02020603050405020304" pitchFamily="18" charset="0"/>
                                </a:rPr>
                                <m:t>𝑣</m:t>
                              </m:r>
                            </m:e>
                            <m:sub>
                              <m:r>
                                <a:rPr lang="en-US" sz="2400" b="0" i="1" smtClean="0">
                                  <a:latin typeface="Cambria Math" panose="02040503050406030204" pitchFamily="18" charset="0"/>
                                  <a:cs typeface="Times New Roman" panose="02020603050405020304" pitchFamily="18" charset="0"/>
                                </a:rPr>
                                <m:t>2</m:t>
                              </m:r>
                            </m:sub>
                          </m:sSub>
                        </m:num>
                        <m:den>
                          <m:sSub>
                            <m:sSubPr>
                              <m:ctrlPr>
                                <a:rPr lang="en-US" sz="2400" i="1">
                                  <a:latin typeface="Cambria Math" panose="02040503050406030204" pitchFamily="18" charset="0"/>
                                  <a:cs typeface="Times New Roman" panose="02020603050405020304" pitchFamily="18" charset="0"/>
                                </a:rPr>
                              </m:ctrlPr>
                            </m:sSubPr>
                            <m:e>
                              <m:r>
                                <a:rPr lang="en-US" sz="2400" i="1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  <a:cs typeface="Times New Roman" panose="02020603050405020304" pitchFamily="18" charset="0"/>
                                </a:rPr>
                                <m:t>𝜎</m:t>
                              </m:r>
                            </m:e>
                            <m:sub>
                              <m:r>
                                <a:rPr lang="en-US" sz="2400" b="0" i="1" smtClean="0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  <a:cs typeface="Times New Roman" panose="02020603050405020304" pitchFamily="18" charset="0"/>
                                </a:rPr>
                                <m:t>2</m:t>
                              </m:r>
                            </m:sub>
                          </m:sSub>
                        </m:den>
                      </m:f>
                      <m:r>
                        <a:rPr lang="en-US" sz="2400" i="1">
                          <a:latin typeface="Cambria Math" panose="02040503050406030204" pitchFamily="18" charset="0"/>
                          <a:cs typeface="Times New Roman" panose="02020603050405020304" pitchFamily="18" charset="0"/>
                        </a:rPr>
                        <m:t>=</m:t>
                      </m:r>
                      <m:d>
                        <m:dPr>
                          <m:begChr m:val="["/>
                          <m:endChr m:val="]"/>
                          <m:ctrlPr>
                            <a:rPr lang="en-US" sz="2400" i="1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m>
                            <m:mPr>
                              <m:mcs>
                                <m:mc>
                                  <m:mcPr>
                                    <m:count m:val="2"/>
                                    <m:mcJc m:val="center"/>
                                  </m:mcPr>
                                </m:mc>
                              </m:mcs>
                              <m:ctrlPr>
                                <a:rPr lang="en-US" sz="2400" i="1">
                                  <a:latin typeface="Cambria Math" panose="02040503050406030204" pitchFamily="18" charset="0"/>
                                </a:rPr>
                              </m:ctrlPr>
                            </m:mPr>
                            <m:mr>
                              <m:e>
                                <m:r>
                                  <m:rPr>
                                    <m:brk m:alnAt="7"/>
                                  </m:rPr>
                                  <a:rPr lang="en-US" sz="2400" i="1">
                                    <a:latin typeface="Cambria Math" panose="02040503050406030204" pitchFamily="18" charset="0"/>
                                  </a:rPr>
                                  <m:t>−</m:t>
                                </m:r>
                                <m:r>
                                  <a:rPr lang="en-US" sz="2400" i="1">
                                    <a:latin typeface="Cambria Math" panose="02040503050406030204" pitchFamily="18" charset="0"/>
                                  </a:rPr>
                                  <m:t>4</m:t>
                                </m:r>
                              </m:e>
                              <m:e>
                                <m:r>
                                  <a:rPr lang="en-US" sz="2400" i="1">
                                    <a:latin typeface="Cambria Math" panose="02040503050406030204" pitchFamily="18" charset="0"/>
                                  </a:rPr>
                                  <m:t>−7</m:t>
                                </m:r>
                              </m:e>
                            </m:mr>
                            <m:mr>
                              <m:e>
                                <m:r>
                                  <a:rPr lang="en-US" sz="2400" i="1">
                                    <a:latin typeface="Cambria Math" panose="02040503050406030204" pitchFamily="18" charset="0"/>
                                  </a:rPr>
                                  <m:t>1</m:t>
                                </m:r>
                              </m:e>
                              <m:e>
                                <m:r>
                                  <a:rPr lang="en-US" sz="2400" i="1">
                                    <a:latin typeface="Cambria Math" panose="02040503050406030204" pitchFamily="18" charset="0"/>
                                  </a:rPr>
                                  <m:t>4</m:t>
                                </m:r>
                              </m:e>
                            </m:mr>
                          </m:m>
                        </m:e>
                      </m:d>
                      <m:r>
                        <a:rPr lang="en-US" sz="2400" i="1">
                          <a:latin typeface="Cambria Math" panose="02040503050406030204" pitchFamily="18" charset="0"/>
                        </a:rPr>
                        <m:t>∗</m:t>
                      </m:r>
                      <m:f>
                        <m:fPr>
                          <m:ctrlPr>
                            <a:rPr lang="en-US" sz="2400" i="1"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r>
                            <a:rPr lang="en-US" sz="2400" i="1">
                              <a:latin typeface="Cambria Math" panose="02040503050406030204" pitchFamily="18" charset="0"/>
                            </a:rPr>
                            <m:t>1</m:t>
                          </m:r>
                        </m:num>
                        <m:den>
                          <m:rad>
                            <m:radPr>
                              <m:degHide m:val="on"/>
                              <m:ctrlPr>
                                <a:rPr lang="en-US" sz="2400" i="1">
                                  <a:latin typeface="Cambria Math" panose="02040503050406030204" pitchFamily="18" charset="0"/>
                                </a:rPr>
                              </m:ctrlPr>
                            </m:radPr>
                            <m:deg/>
                            <m:e>
                              <m:r>
                                <a:rPr lang="en-US" sz="2400" i="1">
                                  <a:latin typeface="Cambria Math" panose="02040503050406030204" pitchFamily="18" charset="0"/>
                                </a:rPr>
                                <m:t>5</m:t>
                              </m:r>
                            </m:e>
                          </m:rad>
                        </m:den>
                      </m:f>
                      <m:d>
                        <m:dPr>
                          <m:begChr m:val="["/>
                          <m:endChr m:val="]"/>
                          <m:ctrlPr>
                            <a:rPr lang="en-US" sz="2400" i="1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m>
                            <m:mPr>
                              <m:mcs>
                                <m:mc>
                                  <m:mcPr>
                                    <m:count m:val="1"/>
                                    <m:mcJc m:val="center"/>
                                  </m:mcPr>
                                </m:mc>
                              </m:mcs>
                              <m:ctrlPr>
                                <a:rPr lang="en-US" sz="2400" i="1">
                                  <a:latin typeface="Cambria Math" panose="02040503050406030204" pitchFamily="18" charset="0"/>
                                </a:rPr>
                              </m:ctrlPr>
                            </m:mPr>
                            <m:mr>
                              <m:e>
                                <m:r>
                                  <m:rPr>
                                    <m:brk m:alnAt="7"/>
                                  </m:rPr>
                                  <a:rPr lang="en-US" sz="2400" b="0" i="1" smtClean="0">
                                    <a:latin typeface="Cambria Math" panose="02040503050406030204" pitchFamily="18" charset="0"/>
                                  </a:rPr>
                                  <m:t>−</m:t>
                                </m:r>
                                <m:r>
                                  <a:rPr lang="en-US" sz="2400" b="0" i="1" smtClean="0">
                                    <a:latin typeface="Cambria Math" panose="02040503050406030204" pitchFamily="18" charset="0"/>
                                  </a:rPr>
                                  <m:t>2</m:t>
                                </m:r>
                              </m:e>
                            </m:mr>
                            <m:mr>
                              <m:e>
                                <m:r>
                                  <a:rPr lang="en-US" sz="2400" b="0" i="1" smtClean="0">
                                    <a:latin typeface="Cambria Math" panose="02040503050406030204" pitchFamily="18" charset="0"/>
                                  </a:rPr>
                                  <m:t>1</m:t>
                                </m:r>
                              </m:e>
                            </m:mr>
                          </m:m>
                        </m:e>
                      </m:d>
                      <m:r>
                        <a:rPr lang="en-US" sz="2400" i="1">
                          <a:latin typeface="Cambria Math" panose="02040503050406030204" pitchFamily="18" charset="0"/>
                        </a:rPr>
                        <m:t>∗</m:t>
                      </m:r>
                      <m:f>
                        <m:fPr>
                          <m:ctrlPr>
                            <a:rPr lang="en-US" sz="2400" i="1"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r>
                            <a:rPr lang="en-US" sz="2400" i="1">
                              <a:latin typeface="Cambria Math" panose="02040503050406030204" pitchFamily="18" charset="0"/>
                            </a:rPr>
                            <m:t>1</m:t>
                          </m:r>
                        </m:num>
                        <m:den>
                          <m:r>
                            <a:rPr lang="en-US" sz="2400" b="0" i="1" smtClean="0">
                              <a:latin typeface="Cambria Math" panose="02040503050406030204" pitchFamily="18" charset="0"/>
                            </a:rPr>
                            <m:t>1</m:t>
                          </m:r>
                        </m:den>
                      </m:f>
                      <m:r>
                        <a:rPr lang="en-US" sz="2400" i="1">
                          <a:latin typeface="Cambria Math" panose="02040503050406030204" pitchFamily="18" charset="0"/>
                        </a:rPr>
                        <m:t>=</m:t>
                      </m:r>
                      <m:f>
                        <m:fPr>
                          <m:ctrlPr>
                            <a:rPr lang="en-US" sz="2400" i="1"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r>
                            <a:rPr lang="en-US" sz="2400" i="1">
                              <a:latin typeface="Cambria Math" panose="02040503050406030204" pitchFamily="18" charset="0"/>
                            </a:rPr>
                            <m:t>1</m:t>
                          </m:r>
                        </m:num>
                        <m:den>
                          <m:rad>
                            <m:radPr>
                              <m:degHide m:val="on"/>
                              <m:ctrlPr>
                                <a:rPr lang="en-US" sz="2400" i="1">
                                  <a:latin typeface="Cambria Math" panose="02040503050406030204" pitchFamily="18" charset="0"/>
                                </a:rPr>
                              </m:ctrlPr>
                            </m:radPr>
                            <m:deg/>
                            <m:e>
                              <m:r>
                                <a:rPr lang="en-US" sz="2400" i="1">
                                  <a:latin typeface="Cambria Math" panose="02040503050406030204" pitchFamily="18" charset="0"/>
                                </a:rPr>
                                <m:t>5</m:t>
                              </m:r>
                            </m:e>
                          </m:rad>
                        </m:den>
                      </m:f>
                      <m:d>
                        <m:dPr>
                          <m:begChr m:val="["/>
                          <m:endChr m:val="]"/>
                          <m:ctrlPr>
                            <a:rPr lang="en-US" sz="2400" i="1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m>
                            <m:mPr>
                              <m:mcs>
                                <m:mc>
                                  <m:mcPr>
                                    <m:count m:val="1"/>
                                    <m:mcJc m:val="center"/>
                                  </m:mcPr>
                                </m:mc>
                              </m:mcs>
                              <m:ctrlPr>
                                <a:rPr lang="en-US" sz="2400" i="1">
                                  <a:latin typeface="Cambria Math" panose="02040503050406030204" pitchFamily="18" charset="0"/>
                                </a:rPr>
                              </m:ctrlPr>
                            </m:mPr>
                            <m:mr>
                              <m:e>
                                <m:r>
                                  <m:rPr>
                                    <m:brk m:alnAt="7"/>
                                  </m:rPr>
                                  <a:rPr lang="en-US" sz="2400" b="0" i="1" smtClean="0">
                                    <a:latin typeface="Cambria Math" panose="02040503050406030204" pitchFamily="18" charset="0"/>
                                  </a:rPr>
                                  <m:t>1</m:t>
                                </m:r>
                              </m:e>
                            </m:mr>
                            <m:mr>
                              <m:e>
                                <m:r>
                                  <a:rPr lang="en-US" sz="2400" b="0" i="1" smtClean="0">
                                    <a:latin typeface="Cambria Math" panose="02040503050406030204" pitchFamily="18" charset="0"/>
                                  </a:rPr>
                                  <m:t>2</m:t>
                                </m:r>
                              </m:e>
                            </m:mr>
                          </m:m>
                        </m:e>
                      </m:d>
                    </m:oMath>
                  </m:oMathPara>
                </a14:m>
                <a:endParaRPr lang="en-US" sz="2400" b="0" i="0" dirty="0">
                  <a:effectLst/>
                  <a:latin typeface="Times New Roman" panose="02020603050405020304" pitchFamily="18" charset="0"/>
                  <a:cs typeface="Times New Roman" panose="02020603050405020304" pitchFamily="18" charset="0"/>
                </a:endParaRPr>
              </a:p>
              <a:p>
                <a:pPr marL="0" indent="0" fontAlgn="base">
                  <a:spcAft>
                    <a:spcPts val="1800"/>
                  </a:spcAft>
                  <a:buNone/>
                </a:pPr>
                <a:r>
                  <a:rPr lang="en-US" sz="2400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Therefore the matrix= 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US" sz="2400" dirty="0" smtClean="0">
                        <a:latin typeface="Cambria Math" panose="02040503050406030204" pitchFamily="18" charset="0"/>
                        <a:cs typeface="Times New Roman" panose="02020603050405020304" pitchFamily="18" charset="0"/>
                      </a:rPr>
                      <m:t>U</m:t>
                    </m:r>
                    <m:r>
                      <a:rPr lang="en-US" sz="2400">
                        <a:latin typeface="Cambria Math" panose="02040503050406030204" pitchFamily="18" charset="0"/>
                        <a:cs typeface="Times New Roman" panose="02020603050405020304" pitchFamily="18" charset="0"/>
                      </a:rPr>
                      <m:t>=</m:t>
                    </m:r>
                    <m:d>
                      <m:dPr>
                        <m:begChr m:val="["/>
                        <m:endChr m:val="]"/>
                        <m:ctrlPr>
                          <a:rPr lang="en-US" sz="2400" i="1">
                            <a:latin typeface="Cambria Math" panose="02040503050406030204" pitchFamily="18" charset="0"/>
                            <a:cs typeface="Times New Roman" panose="02020603050405020304" pitchFamily="18" charset="0"/>
                          </a:rPr>
                        </m:ctrlPr>
                      </m:dPr>
                      <m:e>
                        <m:m>
                          <m:mPr>
                            <m:mcs>
                              <m:mc>
                                <m:mcPr>
                                  <m:count m:val="2"/>
                                  <m:mcJc m:val="center"/>
                                </m:mcPr>
                              </m:mc>
                            </m:mcs>
                            <m:ctrlPr>
                              <a:rPr lang="en-US" sz="2400" i="1">
                                <a:latin typeface="Cambria Math" panose="02040503050406030204" pitchFamily="18" charset="0"/>
                                <a:cs typeface="Times New Roman" panose="02020603050405020304" pitchFamily="18" charset="0"/>
                              </a:rPr>
                            </m:ctrlPr>
                          </m:mPr>
                          <m:mr>
                            <m:e>
                              <m:sSub>
                                <m:sSubPr>
                                  <m:ctrlPr>
                                    <a:rPr lang="en-US" sz="2400" i="1">
                                      <a:latin typeface="Cambria Math" panose="02040503050406030204" pitchFamily="18" charset="0"/>
                                      <a:cs typeface="Times New Roman" panose="02020603050405020304" pitchFamily="18" charset="0"/>
                                    </a:rPr>
                                  </m:ctrlPr>
                                </m:sSubPr>
                                <m:e>
                                  <m:r>
                                    <a:rPr lang="en-US" sz="2400" b="0" i="1" smtClean="0">
                                      <a:latin typeface="Cambria Math" panose="02040503050406030204" pitchFamily="18" charset="0"/>
                                      <a:cs typeface="Times New Roman" panose="02020603050405020304" pitchFamily="18" charset="0"/>
                                    </a:rPr>
                                    <m:t>𝑢</m:t>
                                  </m:r>
                                </m:e>
                                <m:sub>
                                  <m:r>
                                    <a:rPr lang="en-US" sz="2400" i="1">
                                      <a:latin typeface="Cambria Math" panose="02040503050406030204" pitchFamily="18" charset="0"/>
                                      <a:cs typeface="Times New Roman" panose="02020603050405020304" pitchFamily="18" charset="0"/>
                                    </a:rPr>
                                    <m:t>1</m:t>
                                  </m:r>
                                </m:sub>
                              </m:sSub>
                            </m:e>
                            <m:e>
                              <m:sSub>
                                <m:sSubPr>
                                  <m:ctrlPr>
                                    <a:rPr lang="en-US" sz="2400" i="1">
                                      <a:latin typeface="Cambria Math" panose="02040503050406030204" pitchFamily="18" charset="0"/>
                                      <a:cs typeface="Times New Roman" panose="02020603050405020304" pitchFamily="18" charset="0"/>
                                    </a:rPr>
                                  </m:ctrlPr>
                                </m:sSubPr>
                                <m:e>
                                  <m:r>
                                    <a:rPr lang="en-US" sz="2400" b="0" i="1" smtClean="0">
                                      <a:latin typeface="Cambria Math" panose="02040503050406030204" pitchFamily="18" charset="0"/>
                                      <a:cs typeface="Times New Roman" panose="02020603050405020304" pitchFamily="18" charset="0"/>
                                    </a:rPr>
                                    <m:t>𝑢</m:t>
                                  </m:r>
                                </m:e>
                                <m:sub>
                                  <m:r>
                                    <a:rPr lang="en-US" sz="2400" i="1">
                                      <a:latin typeface="Cambria Math" panose="02040503050406030204" pitchFamily="18" charset="0"/>
                                      <a:cs typeface="Times New Roman" panose="02020603050405020304" pitchFamily="18" charset="0"/>
                                    </a:rPr>
                                    <m:t>2</m:t>
                                  </m:r>
                                </m:sub>
                              </m:sSub>
                            </m:e>
                          </m:mr>
                        </m:m>
                      </m:e>
                    </m:d>
                    <m:r>
                      <a:rPr lang="en-US" sz="2400" i="1">
                        <a:latin typeface="Cambria Math" panose="02040503050406030204" pitchFamily="18" charset="0"/>
                        <a:cs typeface="Times New Roman" panose="02020603050405020304" pitchFamily="18" charset="0"/>
                      </a:rPr>
                      <m:t>=</m:t>
                    </m:r>
                    <m:f>
                      <m:fPr>
                        <m:ctrlPr>
                          <a:rPr lang="en-US" sz="2400" i="1">
                            <a:latin typeface="Cambria Math" panose="02040503050406030204" pitchFamily="18" charset="0"/>
                            <a:cs typeface="Times New Roman" panose="02020603050405020304" pitchFamily="18" charset="0"/>
                          </a:rPr>
                        </m:ctrlPr>
                      </m:fPr>
                      <m:num>
                        <m:r>
                          <a:rPr lang="en-US" sz="2400" i="1">
                            <a:latin typeface="Cambria Math" panose="02040503050406030204" pitchFamily="18" charset="0"/>
                            <a:cs typeface="Times New Roman" panose="02020603050405020304" pitchFamily="18" charset="0"/>
                          </a:rPr>
                          <m:t>1</m:t>
                        </m:r>
                      </m:num>
                      <m:den>
                        <m:rad>
                          <m:radPr>
                            <m:degHide m:val="on"/>
                            <m:ctrlPr>
                              <a:rPr lang="en-US" sz="2400" i="1">
                                <a:latin typeface="Cambria Math" panose="02040503050406030204" pitchFamily="18" charset="0"/>
                                <a:cs typeface="Times New Roman" panose="02020603050405020304" pitchFamily="18" charset="0"/>
                              </a:rPr>
                            </m:ctrlPr>
                          </m:radPr>
                          <m:deg/>
                          <m:e>
                            <m:r>
                              <a:rPr lang="en-US" sz="2400" i="1">
                                <a:latin typeface="Cambria Math" panose="02040503050406030204" pitchFamily="18" charset="0"/>
                                <a:cs typeface="Times New Roman" panose="02020603050405020304" pitchFamily="18" charset="0"/>
                              </a:rPr>
                              <m:t>5</m:t>
                            </m:r>
                          </m:e>
                        </m:rad>
                      </m:den>
                    </m:f>
                    <m:d>
                      <m:dPr>
                        <m:begChr m:val="["/>
                        <m:endChr m:val="]"/>
                        <m:ctrlPr>
                          <a:rPr lang="en-US" sz="2400" i="1">
                            <a:latin typeface="Cambria Math" panose="02040503050406030204" pitchFamily="18" charset="0"/>
                            <a:cs typeface="Times New Roman" panose="02020603050405020304" pitchFamily="18" charset="0"/>
                          </a:rPr>
                        </m:ctrlPr>
                      </m:dPr>
                      <m:e>
                        <m:m>
                          <m:mPr>
                            <m:mcs>
                              <m:mc>
                                <m:mcPr>
                                  <m:count m:val="2"/>
                                  <m:mcJc m:val="center"/>
                                </m:mcPr>
                              </m:mc>
                            </m:mcs>
                            <m:ctrlPr>
                              <a:rPr lang="en-US" sz="2400" i="1">
                                <a:latin typeface="Cambria Math" panose="02040503050406030204" pitchFamily="18" charset="0"/>
                                <a:cs typeface="Times New Roman" panose="02020603050405020304" pitchFamily="18" charset="0"/>
                              </a:rPr>
                            </m:ctrlPr>
                          </m:mPr>
                          <m:mr>
                            <m:e>
                              <m:r>
                                <m:rPr>
                                  <m:brk m:alnAt="7"/>
                                </m:rPr>
                                <a:rPr lang="en-US" sz="2400" b="0" i="1" smtClean="0">
                                  <a:latin typeface="Cambria Math" panose="02040503050406030204" pitchFamily="18" charset="0"/>
                                  <a:cs typeface="Times New Roman" panose="02020603050405020304" pitchFamily="18" charset="0"/>
                                </a:rPr>
                                <m:t>−</m:t>
                              </m:r>
                              <m:r>
                                <a:rPr lang="en-US" sz="2400" b="0" i="1" smtClean="0">
                                  <a:latin typeface="Cambria Math" panose="02040503050406030204" pitchFamily="18" charset="0"/>
                                  <a:cs typeface="Times New Roman" panose="02020603050405020304" pitchFamily="18" charset="0"/>
                                </a:rPr>
                                <m:t>2</m:t>
                              </m:r>
                            </m:e>
                            <m:e>
                              <m:r>
                                <a:rPr lang="en-US" sz="2400" b="0" i="1" smtClean="0">
                                  <a:latin typeface="Cambria Math" panose="02040503050406030204" pitchFamily="18" charset="0"/>
                                  <a:cs typeface="Times New Roman" panose="02020603050405020304" pitchFamily="18" charset="0"/>
                                </a:rPr>
                                <m:t>1</m:t>
                              </m:r>
                            </m:e>
                          </m:mr>
                          <m:mr>
                            <m:e>
                              <m:r>
                                <a:rPr lang="en-US" sz="2400" b="0" i="1" smtClean="0">
                                  <a:latin typeface="Cambria Math" panose="02040503050406030204" pitchFamily="18" charset="0"/>
                                  <a:cs typeface="Times New Roman" panose="02020603050405020304" pitchFamily="18" charset="0"/>
                                </a:rPr>
                                <m:t>1</m:t>
                              </m:r>
                            </m:e>
                            <m:e>
                              <m:r>
                                <a:rPr lang="en-US" sz="2400" b="0" i="1" smtClean="0">
                                  <a:latin typeface="Cambria Math" panose="02040503050406030204" pitchFamily="18" charset="0"/>
                                  <a:cs typeface="Times New Roman" panose="02020603050405020304" pitchFamily="18" charset="0"/>
                                </a:rPr>
                                <m:t>2</m:t>
                              </m:r>
                            </m:e>
                          </m:mr>
                        </m:m>
                      </m:e>
                    </m:d>
                  </m:oMath>
                </a14:m>
                <a:endParaRPr lang="en-US" sz="2400" b="0" i="0" dirty="0">
                  <a:effectLst/>
                  <a:latin typeface="Times New Roman" panose="02020603050405020304" pitchFamily="18" charset="0"/>
                  <a:cs typeface="Times New Roman" panose="02020603050405020304" pitchFamily="18" charset="0"/>
                </a:endParaRPr>
              </a:p>
            </p:txBody>
          </p:sp>
        </mc:Choice>
        <mc:Fallback xmlns="">
          <p:sp>
            <p:nvSpPr>
              <p:cNvPr id="3" name="Content Placeholder 2">
                <a:extLst>
                  <a:ext uri="{FF2B5EF4-FFF2-40B4-BE49-F238E27FC236}">
                    <a16:creationId xmlns:a16="http://schemas.microsoft.com/office/drawing/2014/main" id="{F6D5BCE6-694F-32AC-6655-DD66D6C59AFA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xfrm>
                <a:off x="798478" y="894945"/>
                <a:ext cx="10534245" cy="5029200"/>
              </a:xfrm>
              <a:blipFill>
                <a:blip r:embed="rId2"/>
                <a:stretch>
                  <a:fillRect l="-926" t="-1818"/>
                </a:stretch>
              </a:blipFill>
            </p:spPr>
            <p:txBody>
              <a:bodyPr/>
              <a:lstStyle/>
              <a:p>
                <a:r>
                  <a:rPr lang="en-IN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3097372107"/>
      </p:ext>
    </p:extLst>
  </p:cSld>
  <p:clrMapOvr>
    <a:masterClrMapping/>
  </p:clrMapOvr>
</p:sld>
</file>

<file path=ppt/slides/slide3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944FA048-3E5D-BE8A-B4F7-3291EBE5FB6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1F0A4ED-F3D1-4BCE-E54E-3C5E5F7FC04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974714" y="165370"/>
            <a:ext cx="9048539" cy="858195"/>
          </a:xfrm>
        </p:spPr>
        <p:txBody>
          <a:bodyPr>
            <a:normAutofit fontScale="90000"/>
          </a:bodyPr>
          <a:lstStyle/>
          <a:p>
            <a:r>
              <a:rPr lang="en-IN" b="1" i="0" dirty="0">
                <a:solidFill>
                  <a:srgbClr val="FFFFFF"/>
                </a:solidFill>
                <a:effectLst/>
                <a:latin typeface="Source Sans 3"/>
              </a:rPr>
              <a:t>Singular Value Decomposition (SVD)</a:t>
            </a:r>
            <a:br>
              <a:rPr lang="en-IN" b="1" i="0" dirty="0">
                <a:solidFill>
                  <a:srgbClr val="FFFFFF"/>
                </a:solidFill>
                <a:effectLst/>
                <a:latin typeface="Source Sans 3"/>
              </a:rPr>
            </a:br>
            <a:r>
              <a:rPr lang="en-IN" b="1" i="0" dirty="0">
                <a:solidFill>
                  <a:srgbClr val="FFFFFF"/>
                </a:solidFill>
                <a:effectLst/>
                <a:latin typeface="Source Sans 3"/>
              </a:rPr>
              <a:t>Sing Singular Value Decomposition (SVD)</a:t>
            </a:r>
            <a:br>
              <a:rPr lang="en-IN" b="1" i="0" dirty="0">
                <a:solidFill>
                  <a:srgbClr val="FFFFFF"/>
                </a:solidFill>
                <a:effectLst/>
                <a:latin typeface="Source Sans 3"/>
              </a:rPr>
            </a:br>
            <a:r>
              <a:rPr lang="en-IN" b="1" i="0" dirty="0">
                <a:solidFill>
                  <a:srgbClr val="FF0000"/>
                </a:solidFill>
                <a:effectLst/>
                <a:latin typeface="Source Sans 3"/>
              </a:rPr>
              <a:t>Singular Value Decomposition (SVD) (</a:t>
            </a:r>
            <a:r>
              <a:rPr lang="en-IN" b="1" i="0" dirty="0" err="1">
                <a:solidFill>
                  <a:srgbClr val="FF0000"/>
                </a:solidFill>
                <a:effectLst/>
                <a:latin typeface="Source Sans 3"/>
              </a:rPr>
              <a:t>Cont</a:t>
            </a:r>
            <a:r>
              <a:rPr lang="en-IN" b="1" i="0" dirty="0">
                <a:solidFill>
                  <a:srgbClr val="FF0000"/>
                </a:solidFill>
                <a:effectLst/>
                <a:latin typeface="Source Sans 3"/>
              </a:rPr>
              <a:t>..III)</a:t>
            </a:r>
            <a:br>
              <a:rPr lang="en-IN" b="1" i="0" dirty="0">
                <a:solidFill>
                  <a:srgbClr val="FF0000"/>
                </a:solidFill>
                <a:effectLst/>
                <a:latin typeface="Source Sans 3"/>
              </a:rPr>
            </a:br>
            <a:br>
              <a:rPr lang="en-US" b="1" dirty="0">
                <a:solidFill>
                  <a:srgbClr val="FF0000"/>
                </a:solidFill>
              </a:rPr>
            </a:br>
            <a:endParaRPr lang="en-IN" dirty="0">
              <a:solidFill>
                <a:srgbClr val="FF0000"/>
              </a:solidFill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" name="Content Placeholder 2">
                <a:extLst>
                  <a:ext uri="{FF2B5EF4-FFF2-40B4-BE49-F238E27FC236}">
                    <a16:creationId xmlns:a16="http://schemas.microsoft.com/office/drawing/2014/main" id="{B6856952-8174-77D9-EF3F-FC4E519B7120}"/>
                  </a:ext>
                </a:extLst>
              </p:cNvPr>
              <p:cNvSpPr>
                <a:spLocks noGrp="1"/>
              </p:cNvSpPr>
              <p:nvPr>
                <p:ph idx="1"/>
              </p:nvPr>
            </p:nvSpPr>
            <p:spPr>
              <a:xfrm>
                <a:off x="798478" y="894945"/>
                <a:ext cx="10534245" cy="5029200"/>
              </a:xfrm>
            </p:spPr>
            <p:txBody>
              <a:bodyPr>
                <a:noAutofit/>
              </a:bodyPr>
              <a:lstStyle/>
              <a:p>
                <a:pPr marL="0" indent="0" fontAlgn="base">
                  <a:spcAft>
                    <a:spcPts val="1800"/>
                  </a:spcAft>
                  <a:buNone/>
                </a:pPr>
                <a:endParaRPr lang="en-US" sz="2400" b="0" i="0" dirty="0">
                  <a:effectLst/>
                  <a:latin typeface="Times New Roman" panose="02020603050405020304" pitchFamily="18" charset="0"/>
                  <a:cs typeface="Times New Roman" panose="02020603050405020304" pitchFamily="18" charset="0"/>
                </a:endParaRPr>
              </a:p>
              <a:p>
                <a:pPr marL="0" indent="0" fontAlgn="base">
                  <a:spcAft>
                    <a:spcPts val="1800"/>
                  </a:spcAft>
                  <a:buNone/>
                </a:pPr>
                <a:r>
                  <a:rPr lang="en-US" sz="2400" b="1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Step4: </a:t>
                </a:r>
                <a:r>
                  <a:rPr lang="en-US" sz="2400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Find the </a:t>
                </a:r>
                <a:r>
                  <a:rPr lang="en-US" sz="2400" dirty="0"/>
                  <a:t>Diagonal matrix with singular values (non-negative real numbers)</a:t>
                </a:r>
                <a:r>
                  <a:rPr lang="en-US" sz="2400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 </a:t>
                </a:r>
              </a:p>
              <a:p>
                <a:pPr marL="0" indent="0" fontAlgn="base">
                  <a:spcAft>
                    <a:spcPts val="1800"/>
                  </a:spcAft>
                  <a:buNone/>
                </a:pPr>
                <a:r>
                  <a:rPr lang="en-US" sz="2400" b="1" dirty="0">
                    <a:latin typeface="GreekC" panose="00000400000000000000" pitchFamily="2" charset="0"/>
                    <a:cs typeface="GreekC" panose="00000400000000000000" pitchFamily="2" charset="0"/>
                  </a:rPr>
                  <a:t>S =</a:t>
                </a:r>
                <a14:m>
                  <m:oMath xmlns:m="http://schemas.openxmlformats.org/officeDocument/2006/math">
                    <m:d>
                      <m:dPr>
                        <m:begChr m:val="["/>
                        <m:endChr m:val="]"/>
                        <m:ctrlPr>
                          <a:rPr lang="en-US" sz="2400" i="1">
                            <a:latin typeface="Cambria Math" panose="02040503050406030204" pitchFamily="18" charset="0"/>
                            <a:cs typeface="Times New Roman" panose="02020603050405020304" pitchFamily="18" charset="0"/>
                          </a:rPr>
                        </m:ctrlPr>
                      </m:dPr>
                      <m:e>
                        <m:m>
                          <m:mPr>
                            <m:mcs>
                              <m:mc>
                                <m:mcPr>
                                  <m:count m:val="2"/>
                                  <m:mcJc m:val="center"/>
                                </m:mcPr>
                              </m:mc>
                            </m:mcs>
                            <m:ctrlPr>
                              <a:rPr lang="en-US" sz="2400" i="1">
                                <a:latin typeface="Cambria Math" panose="02040503050406030204" pitchFamily="18" charset="0"/>
                                <a:cs typeface="Times New Roman" panose="02020603050405020304" pitchFamily="18" charset="0"/>
                              </a:rPr>
                            </m:ctrlPr>
                          </m:mPr>
                          <m:mr>
                            <m:e>
                              <m:rad>
                                <m:radPr>
                                  <m:degHide m:val="on"/>
                                  <m:ctrlPr>
                                    <a:rPr lang="en-US" sz="2400" i="1" dirty="0">
                                      <a:latin typeface="Cambria Math" panose="02040503050406030204" pitchFamily="18" charset="0"/>
                                      <a:cs typeface="Times New Roman" panose="02020603050405020304" pitchFamily="18" charset="0"/>
                                    </a:rPr>
                                  </m:ctrlPr>
                                </m:radPr>
                                <m:deg/>
                                <m:e>
                                  <m:sSub>
                                    <m:sSubPr>
                                      <m:ctrlPr>
                                        <a:rPr lang="en-US" sz="2400" i="1">
                                          <a:latin typeface="Cambria Math" panose="02040503050406030204" pitchFamily="18" charset="0"/>
                                        </a:rPr>
                                      </m:ctrlPr>
                                    </m:sSubPr>
                                    <m:e>
                                      <m:r>
                                        <a:rPr lang="en-US" sz="2400" i="1">
                                          <a:latin typeface="Cambria Math" panose="02040503050406030204" pitchFamily="18" charset="0"/>
                                          <a:ea typeface="Cambria Math" panose="02040503050406030204" pitchFamily="18" charset="0"/>
                                        </a:rPr>
                                        <m:t>⋋</m:t>
                                      </m:r>
                                    </m:e>
                                    <m:sub>
                                      <m:r>
                                        <a:rPr lang="en-US" sz="2400" b="0" i="1" smtClean="0">
                                          <a:latin typeface="Cambria Math" panose="02040503050406030204" pitchFamily="18" charset="0"/>
                                          <a:ea typeface="Cambria Math" panose="02040503050406030204" pitchFamily="18" charset="0"/>
                                        </a:rPr>
                                        <m:t>1</m:t>
                                      </m:r>
                                    </m:sub>
                                  </m:sSub>
                                </m:e>
                              </m:rad>
                            </m:e>
                            <m:e>
                              <m:r>
                                <a:rPr lang="en-US" sz="2400" i="1">
                                  <a:latin typeface="Cambria Math" panose="02040503050406030204" pitchFamily="18" charset="0"/>
                                  <a:cs typeface="Times New Roman" panose="02020603050405020304" pitchFamily="18" charset="0"/>
                                </a:rPr>
                                <m:t>0</m:t>
                              </m:r>
                            </m:e>
                          </m:mr>
                          <m:mr>
                            <m:e>
                              <m:r>
                                <a:rPr lang="en-US" sz="2400" i="1">
                                  <a:latin typeface="Cambria Math" panose="02040503050406030204" pitchFamily="18" charset="0"/>
                                  <a:cs typeface="Times New Roman" panose="02020603050405020304" pitchFamily="18" charset="0"/>
                                </a:rPr>
                                <m:t>0</m:t>
                              </m:r>
                            </m:e>
                            <m:e>
                              <m:rad>
                                <m:radPr>
                                  <m:degHide m:val="on"/>
                                  <m:ctrlPr>
                                    <a:rPr lang="en-US" sz="2400" i="1" dirty="0">
                                      <a:latin typeface="Cambria Math" panose="02040503050406030204" pitchFamily="18" charset="0"/>
                                      <a:cs typeface="Times New Roman" panose="02020603050405020304" pitchFamily="18" charset="0"/>
                                    </a:rPr>
                                  </m:ctrlPr>
                                </m:radPr>
                                <m:deg/>
                                <m:e>
                                  <m:sSub>
                                    <m:sSubPr>
                                      <m:ctrlPr>
                                        <a:rPr lang="en-US" sz="2400" i="1">
                                          <a:latin typeface="Cambria Math" panose="02040503050406030204" pitchFamily="18" charset="0"/>
                                        </a:rPr>
                                      </m:ctrlPr>
                                    </m:sSubPr>
                                    <m:e>
                                      <m:r>
                                        <a:rPr lang="en-US" sz="2400" i="1">
                                          <a:latin typeface="Cambria Math" panose="02040503050406030204" pitchFamily="18" charset="0"/>
                                          <a:ea typeface="Cambria Math" panose="02040503050406030204" pitchFamily="18" charset="0"/>
                                        </a:rPr>
                                        <m:t>⋋</m:t>
                                      </m:r>
                                    </m:e>
                                    <m:sub>
                                      <m:r>
                                        <a:rPr lang="en-US" sz="2400" b="0" i="1" smtClean="0">
                                          <a:latin typeface="Cambria Math" panose="02040503050406030204" pitchFamily="18" charset="0"/>
                                          <a:ea typeface="Cambria Math" panose="02040503050406030204" pitchFamily="18" charset="0"/>
                                        </a:rPr>
                                        <m:t>2</m:t>
                                      </m:r>
                                    </m:sub>
                                  </m:sSub>
                                </m:e>
                              </m:rad>
                            </m:e>
                          </m:mr>
                        </m:m>
                      </m:e>
                    </m:d>
                    <m:r>
                      <a:rPr lang="en-US" sz="2400" b="0" i="1" smtClean="0">
                        <a:latin typeface="Cambria Math" panose="02040503050406030204" pitchFamily="18" charset="0"/>
                        <a:cs typeface="Times New Roman" panose="02020603050405020304" pitchFamily="18" charset="0"/>
                      </a:rPr>
                      <m:t>=</m:t>
                    </m:r>
                    <m:d>
                      <m:dPr>
                        <m:begChr m:val="["/>
                        <m:endChr m:val="]"/>
                        <m:ctrlPr>
                          <a:rPr lang="en-US" sz="2400" i="1">
                            <a:latin typeface="Cambria Math" panose="02040503050406030204" pitchFamily="18" charset="0"/>
                            <a:cs typeface="Times New Roman" panose="02020603050405020304" pitchFamily="18" charset="0"/>
                          </a:rPr>
                        </m:ctrlPr>
                      </m:dPr>
                      <m:e>
                        <m:m>
                          <m:mPr>
                            <m:mcs>
                              <m:mc>
                                <m:mcPr>
                                  <m:count m:val="2"/>
                                  <m:mcJc m:val="center"/>
                                </m:mcPr>
                              </m:mc>
                            </m:mcs>
                            <m:ctrlPr>
                              <a:rPr lang="en-US" sz="2400" i="1">
                                <a:latin typeface="Cambria Math" panose="02040503050406030204" pitchFamily="18" charset="0"/>
                                <a:cs typeface="Times New Roman" panose="02020603050405020304" pitchFamily="18" charset="0"/>
                              </a:rPr>
                            </m:ctrlPr>
                          </m:mPr>
                          <m:mr>
                            <m:e>
                              <m:r>
                                <m:rPr>
                                  <m:brk m:alnAt="7"/>
                                </m:rPr>
                                <a:rPr lang="en-US" sz="2400" b="0" i="1" smtClean="0">
                                  <a:latin typeface="Cambria Math" panose="02040503050406030204" pitchFamily="18" charset="0"/>
                                  <a:cs typeface="Times New Roman" panose="02020603050405020304" pitchFamily="18" charset="0"/>
                                </a:rPr>
                                <m:t>9</m:t>
                              </m:r>
                            </m:e>
                            <m:e>
                              <m:r>
                                <a:rPr lang="en-US" sz="2400" b="0" i="1" smtClean="0">
                                  <a:latin typeface="Cambria Math" panose="02040503050406030204" pitchFamily="18" charset="0"/>
                                  <a:cs typeface="Times New Roman" panose="02020603050405020304" pitchFamily="18" charset="0"/>
                                </a:rPr>
                                <m:t>0</m:t>
                              </m:r>
                            </m:e>
                          </m:mr>
                          <m:mr>
                            <m:e>
                              <m:r>
                                <a:rPr lang="en-US" sz="2400" b="0" i="1" smtClean="0">
                                  <a:latin typeface="Cambria Math" panose="02040503050406030204" pitchFamily="18" charset="0"/>
                                  <a:cs typeface="Times New Roman" panose="02020603050405020304" pitchFamily="18" charset="0"/>
                                </a:rPr>
                                <m:t>0</m:t>
                              </m:r>
                            </m:e>
                            <m:e>
                              <m:r>
                                <a:rPr lang="en-US" sz="2400" b="0" i="1" smtClean="0">
                                  <a:latin typeface="Cambria Math" panose="02040503050406030204" pitchFamily="18" charset="0"/>
                                  <a:cs typeface="Times New Roman" panose="02020603050405020304" pitchFamily="18" charset="0"/>
                                </a:rPr>
                                <m:t>1</m:t>
                              </m:r>
                            </m:e>
                          </m:mr>
                        </m:m>
                      </m:e>
                    </m:d>
                  </m:oMath>
                </a14:m>
                <a:r>
                  <a:rPr lang="en-US" sz="2400" b="1" dirty="0">
                    <a:latin typeface="GreekC" panose="00000400000000000000" pitchFamily="2" charset="0"/>
                    <a:cs typeface="GreekC" panose="00000400000000000000" pitchFamily="2" charset="0"/>
                  </a:rPr>
                  <a:t> </a:t>
                </a:r>
              </a:p>
              <a:p>
                <a:pPr marL="0" indent="0" fontAlgn="base">
                  <a:spcAft>
                    <a:spcPts val="1800"/>
                  </a:spcAft>
                  <a:buNone/>
                </a:pPr>
                <a:r>
                  <a:rPr lang="en-US" sz="2400" b="1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Step5: Verify </a:t>
                </a:r>
                <a14:m>
                  <m:oMath xmlns:m="http://schemas.openxmlformats.org/officeDocument/2006/math">
                    <m:r>
                      <a:rPr lang="en-US" sz="2400" b="1" i="1" smtClean="0">
                        <a:latin typeface="Cambria Math" panose="02040503050406030204" pitchFamily="18" charset="0"/>
                        <a:cs typeface="Times New Roman" panose="02020603050405020304" pitchFamily="18" charset="0"/>
                      </a:rPr>
                      <m:t>𝑨</m:t>
                    </m:r>
                    <m:r>
                      <a:rPr lang="en-US" sz="2400" b="1" i="1" smtClean="0">
                        <a:latin typeface="Cambria Math" panose="02040503050406030204" pitchFamily="18" charset="0"/>
                        <a:cs typeface="Times New Roman" panose="02020603050405020304" pitchFamily="18" charset="0"/>
                      </a:rPr>
                      <m:t>=</m:t>
                    </m:r>
                    <m:r>
                      <a:rPr lang="en-US" sz="2400" b="1" i="1" smtClean="0">
                        <a:latin typeface="Cambria Math" panose="02040503050406030204" pitchFamily="18" charset="0"/>
                        <a:cs typeface="Times New Roman" panose="02020603050405020304" pitchFamily="18" charset="0"/>
                      </a:rPr>
                      <m:t>𝑼</m:t>
                    </m:r>
                    <m:r>
                      <m:rPr>
                        <m:nor/>
                      </m:rPr>
                      <a:rPr lang="en-US" sz="2400" b="1" dirty="0">
                        <a:latin typeface="GreekC" panose="00000400000000000000" pitchFamily="2" charset="0"/>
                        <a:cs typeface="GreekC" panose="00000400000000000000" pitchFamily="2" charset="0"/>
                      </a:rPr>
                      <m:t>S</m:t>
                    </m:r>
                    <m:sSup>
                      <m:sSupPr>
                        <m:ctrlPr>
                          <a:rPr lang="en-US" sz="2400" b="1" i="1" dirty="0" smtClean="0">
                            <a:latin typeface="Cambria Math" panose="02040503050406030204" pitchFamily="18" charset="0"/>
                            <a:cs typeface="GreekC" panose="00000400000000000000" pitchFamily="2" charset="0"/>
                          </a:rPr>
                        </m:ctrlPr>
                      </m:sSupPr>
                      <m:e>
                        <m:r>
                          <a:rPr lang="en-US" sz="2400" b="1" i="1" dirty="0" smtClean="0">
                            <a:latin typeface="Cambria Math" panose="02040503050406030204" pitchFamily="18" charset="0"/>
                            <a:cs typeface="GreekC" panose="00000400000000000000" pitchFamily="2" charset="0"/>
                          </a:rPr>
                          <m:t>𝑽</m:t>
                        </m:r>
                      </m:e>
                      <m:sup>
                        <m:r>
                          <a:rPr lang="en-US" sz="2400" b="1" i="1" dirty="0" smtClean="0">
                            <a:latin typeface="Cambria Math" panose="02040503050406030204" pitchFamily="18" charset="0"/>
                            <a:cs typeface="GreekC" panose="00000400000000000000" pitchFamily="2" charset="0"/>
                          </a:rPr>
                          <m:t>𝑻</m:t>
                        </m:r>
                      </m:sup>
                    </m:sSup>
                  </m:oMath>
                </a14:m>
                <a:r>
                  <a:rPr lang="en-US" sz="2400" b="1" i="0" dirty="0">
                    <a:effectLst/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 =&gt; </a:t>
                </a:r>
                <a14:m>
                  <m:oMath xmlns:m="http://schemas.openxmlformats.org/officeDocument/2006/math">
                    <m:d>
                      <m:dPr>
                        <m:begChr m:val="["/>
                        <m:endChr m:val="]"/>
                        <m:ctrlPr>
                          <a:rPr lang="en-US" sz="2400" i="1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m>
                          <m:mPr>
                            <m:mcs>
                              <m:mc>
                                <m:mcPr>
                                  <m:count m:val="2"/>
                                  <m:mcJc m:val="center"/>
                                </m:mcPr>
                              </m:mc>
                            </m:mcs>
                            <m:ctrlPr>
                              <a:rPr lang="en-US" sz="2400" i="1">
                                <a:latin typeface="Cambria Math" panose="02040503050406030204" pitchFamily="18" charset="0"/>
                              </a:rPr>
                            </m:ctrlPr>
                          </m:mPr>
                          <m:mr>
                            <m:e>
                              <m:r>
                                <m:rPr>
                                  <m:brk m:alnAt="7"/>
                                </m:rPr>
                                <a:rPr lang="en-US" sz="2400" i="1">
                                  <a:latin typeface="Cambria Math" panose="02040503050406030204" pitchFamily="18" charset="0"/>
                                </a:rPr>
                                <m:t>−</m:t>
                              </m:r>
                              <m:r>
                                <a:rPr lang="en-US" sz="2400" i="1">
                                  <a:latin typeface="Cambria Math" panose="02040503050406030204" pitchFamily="18" charset="0"/>
                                </a:rPr>
                                <m:t>4</m:t>
                              </m:r>
                            </m:e>
                            <m:e>
                              <m:r>
                                <a:rPr lang="en-US" sz="2400" i="1">
                                  <a:latin typeface="Cambria Math" panose="02040503050406030204" pitchFamily="18" charset="0"/>
                                </a:rPr>
                                <m:t>−7</m:t>
                              </m:r>
                            </m:e>
                          </m:mr>
                          <m:mr>
                            <m:e>
                              <m:r>
                                <a:rPr lang="en-US" sz="2400" i="1">
                                  <a:latin typeface="Cambria Math" panose="02040503050406030204" pitchFamily="18" charset="0"/>
                                </a:rPr>
                                <m:t>1</m:t>
                              </m:r>
                            </m:e>
                            <m:e>
                              <m:r>
                                <a:rPr lang="en-US" sz="2400" i="1">
                                  <a:latin typeface="Cambria Math" panose="02040503050406030204" pitchFamily="18" charset="0"/>
                                </a:rPr>
                                <m:t>4</m:t>
                              </m:r>
                            </m:e>
                          </m:mr>
                        </m:m>
                      </m:e>
                    </m:d>
                    <m:r>
                      <a:rPr lang="en-US" sz="2400" b="0" i="1" smtClean="0">
                        <a:latin typeface="Cambria Math" panose="02040503050406030204" pitchFamily="18" charset="0"/>
                      </a:rPr>
                      <m:t>=</m:t>
                    </m:r>
                  </m:oMath>
                </a14:m>
                <a:r>
                  <a:rPr lang="en-US" sz="2400" b="1" i="0" dirty="0">
                    <a:effectLst/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  </a:t>
                </a:r>
                <a14:m>
                  <m:oMath xmlns:m="http://schemas.openxmlformats.org/officeDocument/2006/math">
                    <m:f>
                      <m:fPr>
                        <m:ctrlPr>
                          <a:rPr lang="en-US" sz="2400" i="1">
                            <a:latin typeface="Cambria Math" panose="02040503050406030204" pitchFamily="18" charset="0"/>
                            <a:cs typeface="Times New Roman" panose="02020603050405020304" pitchFamily="18" charset="0"/>
                          </a:rPr>
                        </m:ctrlPr>
                      </m:fPr>
                      <m:num>
                        <m:r>
                          <a:rPr lang="en-US" sz="2400" i="1">
                            <a:latin typeface="Cambria Math" panose="02040503050406030204" pitchFamily="18" charset="0"/>
                            <a:cs typeface="Times New Roman" panose="02020603050405020304" pitchFamily="18" charset="0"/>
                          </a:rPr>
                          <m:t>1</m:t>
                        </m:r>
                      </m:num>
                      <m:den>
                        <m:rad>
                          <m:radPr>
                            <m:degHide m:val="on"/>
                            <m:ctrlPr>
                              <a:rPr lang="en-US" sz="2400" i="1">
                                <a:latin typeface="Cambria Math" panose="02040503050406030204" pitchFamily="18" charset="0"/>
                                <a:cs typeface="Times New Roman" panose="02020603050405020304" pitchFamily="18" charset="0"/>
                              </a:rPr>
                            </m:ctrlPr>
                          </m:radPr>
                          <m:deg/>
                          <m:e>
                            <m:r>
                              <a:rPr lang="en-US" sz="2400" i="1">
                                <a:latin typeface="Cambria Math" panose="02040503050406030204" pitchFamily="18" charset="0"/>
                                <a:cs typeface="Times New Roman" panose="02020603050405020304" pitchFamily="18" charset="0"/>
                              </a:rPr>
                              <m:t>5</m:t>
                            </m:r>
                          </m:e>
                        </m:rad>
                      </m:den>
                    </m:f>
                    <m:d>
                      <m:dPr>
                        <m:begChr m:val="["/>
                        <m:endChr m:val="]"/>
                        <m:ctrlPr>
                          <a:rPr lang="en-US" sz="2400" i="1">
                            <a:latin typeface="Cambria Math" panose="02040503050406030204" pitchFamily="18" charset="0"/>
                            <a:cs typeface="Times New Roman" panose="02020603050405020304" pitchFamily="18" charset="0"/>
                          </a:rPr>
                        </m:ctrlPr>
                      </m:dPr>
                      <m:e>
                        <m:m>
                          <m:mPr>
                            <m:mcs>
                              <m:mc>
                                <m:mcPr>
                                  <m:count m:val="2"/>
                                  <m:mcJc m:val="center"/>
                                </m:mcPr>
                              </m:mc>
                            </m:mcs>
                            <m:ctrlPr>
                              <a:rPr lang="en-US" sz="2400" i="1">
                                <a:latin typeface="Cambria Math" panose="02040503050406030204" pitchFamily="18" charset="0"/>
                                <a:cs typeface="Times New Roman" panose="02020603050405020304" pitchFamily="18" charset="0"/>
                              </a:rPr>
                            </m:ctrlPr>
                          </m:mPr>
                          <m:mr>
                            <m:e>
                              <m:r>
                                <m:rPr>
                                  <m:brk m:alnAt="7"/>
                                </m:rPr>
                                <a:rPr lang="en-US" sz="2400" i="1">
                                  <a:latin typeface="Cambria Math" panose="02040503050406030204" pitchFamily="18" charset="0"/>
                                  <a:cs typeface="Times New Roman" panose="02020603050405020304" pitchFamily="18" charset="0"/>
                                </a:rPr>
                                <m:t>−</m:t>
                              </m:r>
                              <m:r>
                                <a:rPr lang="en-US" sz="2400" i="1">
                                  <a:latin typeface="Cambria Math" panose="02040503050406030204" pitchFamily="18" charset="0"/>
                                  <a:cs typeface="Times New Roman" panose="02020603050405020304" pitchFamily="18" charset="0"/>
                                </a:rPr>
                                <m:t>2</m:t>
                              </m:r>
                            </m:e>
                            <m:e>
                              <m:r>
                                <a:rPr lang="en-US" sz="2400" i="1">
                                  <a:latin typeface="Cambria Math" panose="02040503050406030204" pitchFamily="18" charset="0"/>
                                  <a:cs typeface="Times New Roman" panose="02020603050405020304" pitchFamily="18" charset="0"/>
                                </a:rPr>
                                <m:t>1</m:t>
                              </m:r>
                            </m:e>
                          </m:mr>
                          <m:mr>
                            <m:e>
                              <m:r>
                                <a:rPr lang="en-US" sz="2400" i="1">
                                  <a:latin typeface="Cambria Math" panose="02040503050406030204" pitchFamily="18" charset="0"/>
                                  <a:cs typeface="Times New Roman" panose="02020603050405020304" pitchFamily="18" charset="0"/>
                                </a:rPr>
                                <m:t>1</m:t>
                              </m:r>
                            </m:e>
                            <m:e>
                              <m:r>
                                <a:rPr lang="en-US" sz="2400" i="1">
                                  <a:latin typeface="Cambria Math" panose="02040503050406030204" pitchFamily="18" charset="0"/>
                                  <a:cs typeface="Times New Roman" panose="02020603050405020304" pitchFamily="18" charset="0"/>
                                </a:rPr>
                                <m:t>2</m:t>
                              </m:r>
                            </m:e>
                          </m:mr>
                        </m:m>
                      </m:e>
                    </m:d>
                    <m:r>
                      <a:rPr lang="en-US" sz="2400" b="0" i="1" smtClean="0">
                        <a:latin typeface="Cambria Math" panose="02040503050406030204" pitchFamily="18" charset="0"/>
                        <a:cs typeface="Times New Roman" panose="02020603050405020304" pitchFamily="18" charset="0"/>
                      </a:rPr>
                      <m:t>∗</m:t>
                    </m:r>
                    <m:d>
                      <m:dPr>
                        <m:begChr m:val="["/>
                        <m:endChr m:val="]"/>
                        <m:ctrlPr>
                          <a:rPr lang="en-US" sz="2400" i="1">
                            <a:latin typeface="Cambria Math" panose="02040503050406030204" pitchFamily="18" charset="0"/>
                            <a:cs typeface="Times New Roman" panose="02020603050405020304" pitchFamily="18" charset="0"/>
                          </a:rPr>
                        </m:ctrlPr>
                      </m:dPr>
                      <m:e>
                        <m:m>
                          <m:mPr>
                            <m:mcs>
                              <m:mc>
                                <m:mcPr>
                                  <m:count m:val="2"/>
                                  <m:mcJc m:val="center"/>
                                </m:mcPr>
                              </m:mc>
                            </m:mcs>
                            <m:ctrlPr>
                              <a:rPr lang="en-US" sz="2400" i="1">
                                <a:latin typeface="Cambria Math" panose="02040503050406030204" pitchFamily="18" charset="0"/>
                                <a:cs typeface="Times New Roman" panose="02020603050405020304" pitchFamily="18" charset="0"/>
                              </a:rPr>
                            </m:ctrlPr>
                          </m:mPr>
                          <m:mr>
                            <m:e>
                              <m:r>
                                <m:rPr>
                                  <m:brk m:alnAt="7"/>
                                </m:rPr>
                                <a:rPr lang="en-US" sz="2400" i="1">
                                  <a:latin typeface="Cambria Math" panose="02040503050406030204" pitchFamily="18" charset="0"/>
                                  <a:cs typeface="Times New Roman" panose="02020603050405020304" pitchFamily="18" charset="0"/>
                                </a:rPr>
                                <m:t>9</m:t>
                              </m:r>
                            </m:e>
                            <m:e>
                              <m:r>
                                <a:rPr lang="en-US" sz="2400" i="1">
                                  <a:latin typeface="Cambria Math" panose="02040503050406030204" pitchFamily="18" charset="0"/>
                                  <a:cs typeface="Times New Roman" panose="02020603050405020304" pitchFamily="18" charset="0"/>
                                </a:rPr>
                                <m:t>0</m:t>
                              </m:r>
                            </m:e>
                          </m:mr>
                          <m:mr>
                            <m:e>
                              <m:r>
                                <a:rPr lang="en-US" sz="2400" i="1">
                                  <a:latin typeface="Cambria Math" panose="02040503050406030204" pitchFamily="18" charset="0"/>
                                  <a:cs typeface="Times New Roman" panose="02020603050405020304" pitchFamily="18" charset="0"/>
                                </a:rPr>
                                <m:t>0</m:t>
                              </m:r>
                            </m:e>
                            <m:e>
                              <m:r>
                                <a:rPr lang="en-US" sz="2400" i="1">
                                  <a:latin typeface="Cambria Math" panose="02040503050406030204" pitchFamily="18" charset="0"/>
                                  <a:cs typeface="Times New Roman" panose="02020603050405020304" pitchFamily="18" charset="0"/>
                                </a:rPr>
                                <m:t>1</m:t>
                              </m:r>
                            </m:e>
                          </m:mr>
                        </m:m>
                      </m:e>
                    </m:d>
                    <m:r>
                      <a:rPr lang="en-US" sz="2400" b="0" i="1" smtClean="0">
                        <a:latin typeface="Cambria Math" panose="02040503050406030204" pitchFamily="18" charset="0"/>
                        <a:cs typeface="Times New Roman" panose="02020603050405020304" pitchFamily="18" charset="0"/>
                      </a:rPr>
                      <m:t>∗</m:t>
                    </m:r>
                    <m:f>
                      <m:fPr>
                        <m:ctrlPr>
                          <a:rPr lang="en-US" sz="2400" i="1">
                            <a:latin typeface="Cambria Math" panose="02040503050406030204" pitchFamily="18" charset="0"/>
                            <a:cs typeface="Times New Roman" panose="02020603050405020304" pitchFamily="18" charset="0"/>
                          </a:rPr>
                        </m:ctrlPr>
                      </m:fPr>
                      <m:num>
                        <m:r>
                          <a:rPr lang="en-US" sz="2400" i="1">
                            <a:latin typeface="Cambria Math" panose="02040503050406030204" pitchFamily="18" charset="0"/>
                            <a:cs typeface="Times New Roman" panose="02020603050405020304" pitchFamily="18" charset="0"/>
                          </a:rPr>
                          <m:t>1</m:t>
                        </m:r>
                      </m:num>
                      <m:den>
                        <m:rad>
                          <m:radPr>
                            <m:degHide m:val="on"/>
                            <m:ctrlPr>
                              <a:rPr lang="en-US" sz="2400" i="1">
                                <a:latin typeface="Cambria Math" panose="02040503050406030204" pitchFamily="18" charset="0"/>
                                <a:cs typeface="Times New Roman" panose="02020603050405020304" pitchFamily="18" charset="0"/>
                              </a:rPr>
                            </m:ctrlPr>
                          </m:radPr>
                          <m:deg/>
                          <m:e>
                            <m:r>
                              <a:rPr lang="en-US" sz="2400" i="1">
                                <a:latin typeface="Cambria Math" panose="02040503050406030204" pitchFamily="18" charset="0"/>
                                <a:cs typeface="Times New Roman" panose="02020603050405020304" pitchFamily="18" charset="0"/>
                              </a:rPr>
                              <m:t>5</m:t>
                            </m:r>
                          </m:e>
                        </m:rad>
                      </m:den>
                    </m:f>
                    <m:d>
                      <m:dPr>
                        <m:begChr m:val="["/>
                        <m:endChr m:val="]"/>
                        <m:ctrlPr>
                          <a:rPr lang="en-US" sz="2400" i="1">
                            <a:latin typeface="Cambria Math" panose="02040503050406030204" pitchFamily="18" charset="0"/>
                            <a:cs typeface="Times New Roman" panose="02020603050405020304" pitchFamily="18" charset="0"/>
                          </a:rPr>
                        </m:ctrlPr>
                      </m:dPr>
                      <m:e>
                        <m:m>
                          <m:mPr>
                            <m:mcs>
                              <m:mc>
                                <m:mcPr>
                                  <m:count m:val="2"/>
                                  <m:mcJc m:val="center"/>
                                </m:mcPr>
                              </m:mc>
                            </m:mcs>
                            <m:ctrlPr>
                              <a:rPr lang="en-US" sz="2400" i="1">
                                <a:latin typeface="Cambria Math" panose="02040503050406030204" pitchFamily="18" charset="0"/>
                                <a:cs typeface="Times New Roman" panose="02020603050405020304" pitchFamily="18" charset="0"/>
                              </a:rPr>
                            </m:ctrlPr>
                          </m:mPr>
                          <m:mr>
                            <m:e>
                              <m:r>
                                <m:rPr>
                                  <m:brk m:alnAt="7"/>
                                </m:rPr>
                                <a:rPr lang="en-US" sz="2400" i="1">
                                  <a:latin typeface="Cambria Math" panose="02040503050406030204" pitchFamily="18" charset="0"/>
                                  <a:cs typeface="Times New Roman" panose="02020603050405020304" pitchFamily="18" charset="0"/>
                                </a:rPr>
                                <m:t>1</m:t>
                              </m:r>
                            </m:e>
                            <m:e>
                              <m:r>
                                <a:rPr lang="en-US" sz="2400" b="0" i="1" smtClean="0">
                                  <a:latin typeface="Cambria Math" panose="02040503050406030204" pitchFamily="18" charset="0"/>
                                  <a:cs typeface="Times New Roman" panose="02020603050405020304" pitchFamily="18" charset="0"/>
                                </a:rPr>
                                <m:t>2</m:t>
                              </m:r>
                            </m:e>
                          </m:mr>
                          <m:mr>
                            <m:e>
                              <m:r>
                                <a:rPr lang="en-US" sz="2400" b="0" i="1" smtClean="0">
                                  <a:latin typeface="Cambria Math" panose="02040503050406030204" pitchFamily="18" charset="0"/>
                                  <a:cs typeface="Times New Roman" panose="02020603050405020304" pitchFamily="18" charset="0"/>
                                </a:rPr>
                                <m:t>−2</m:t>
                              </m:r>
                            </m:e>
                            <m:e>
                              <m:r>
                                <a:rPr lang="en-US" sz="2400" i="1">
                                  <a:latin typeface="Cambria Math" panose="02040503050406030204" pitchFamily="18" charset="0"/>
                                  <a:cs typeface="Times New Roman" panose="02020603050405020304" pitchFamily="18" charset="0"/>
                                </a:rPr>
                                <m:t>1</m:t>
                              </m:r>
                            </m:e>
                          </m:mr>
                        </m:m>
                      </m:e>
                    </m:d>
                    <m:r>
                      <a:rPr lang="en-US" sz="2400" b="0" i="1" smtClean="0">
                        <a:latin typeface="Cambria Math" panose="02040503050406030204" pitchFamily="18" charset="0"/>
                        <a:cs typeface="Times New Roman" panose="02020603050405020304" pitchFamily="18" charset="0"/>
                      </a:rPr>
                      <m:t>=</m:t>
                    </m:r>
                    <m:d>
                      <m:dPr>
                        <m:begChr m:val="["/>
                        <m:endChr m:val="]"/>
                        <m:ctrlPr>
                          <a:rPr lang="en-US" sz="2400" i="1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m>
                          <m:mPr>
                            <m:mcs>
                              <m:mc>
                                <m:mcPr>
                                  <m:count m:val="2"/>
                                  <m:mcJc m:val="center"/>
                                </m:mcPr>
                              </m:mc>
                            </m:mcs>
                            <m:ctrlPr>
                              <a:rPr lang="en-US" sz="2400" i="1">
                                <a:latin typeface="Cambria Math" panose="02040503050406030204" pitchFamily="18" charset="0"/>
                              </a:rPr>
                            </m:ctrlPr>
                          </m:mPr>
                          <m:mr>
                            <m:e>
                              <m:r>
                                <m:rPr>
                                  <m:brk m:alnAt="7"/>
                                </m:rPr>
                                <a:rPr lang="en-US" sz="2400" i="1">
                                  <a:latin typeface="Cambria Math" panose="02040503050406030204" pitchFamily="18" charset="0"/>
                                </a:rPr>
                                <m:t>−</m:t>
                              </m:r>
                              <m:r>
                                <a:rPr lang="en-US" sz="2400" i="1">
                                  <a:latin typeface="Cambria Math" panose="02040503050406030204" pitchFamily="18" charset="0"/>
                                </a:rPr>
                                <m:t>4</m:t>
                              </m:r>
                            </m:e>
                            <m:e>
                              <m:r>
                                <a:rPr lang="en-US" sz="2400" i="1">
                                  <a:latin typeface="Cambria Math" panose="02040503050406030204" pitchFamily="18" charset="0"/>
                                </a:rPr>
                                <m:t>−7</m:t>
                              </m:r>
                            </m:e>
                          </m:mr>
                          <m:mr>
                            <m:e>
                              <m:r>
                                <a:rPr lang="en-US" sz="2400" i="1">
                                  <a:latin typeface="Cambria Math" panose="02040503050406030204" pitchFamily="18" charset="0"/>
                                </a:rPr>
                                <m:t>1</m:t>
                              </m:r>
                            </m:e>
                            <m:e>
                              <m:r>
                                <a:rPr lang="en-US" sz="2400" i="1">
                                  <a:latin typeface="Cambria Math" panose="02040503050406030204" pitchFamily="18" charset="0"/>
                                </a:rPr>
                                <m:t>4</m:t>
                              </m:r>
                            </m:e>
                          </m:mr>
                        </m:m>
                      </m:e>
                    </m:d>
                  </m:oMath>
                </a14:m>
                <a:endParaRPr lang="en-US" sz="2400" b="1" i="0" dirty="0">
                  <a:effectLst/>
                  <a:latin typeface="Times New Roman" panose="02020603050405020304" pitchFamily="18" charset="0"/>
                  <a:cs typeface="Times New Roman" panose="02020603050405020304" pitchFamily="18" charset="0"/>
                </a:endParaRPr>
              </a:p>
              <a:p>
                <a:endParaRPr lang="en-IN" sz="2400" dirty="0">
                  <a:latin typeface="Times New Roman" panose="02020603050405020304" pitchFamily="18" charset="0"/>
                  <a:cs typeface="Times New Roman" panose="02020603050405020304" pitchFamily="18" charset="0"/>
                </a:endParaRPr>
              </a:p>
            </p:txBody>
          </p:sp>
        </mc:Choice>
        <mc:Fallback xmlns="">
          <p:sp>
            <p:nvSpPr>
              <p:cNvPr id="3" name="Content Placeholder 2">
                <a:extLst>
                  <a:ext uri="{FF2B5EF4-FFF2-40B4-BE49-F238E27FC236}">
                    <a16:creationId xmlns:a16="http://schemas.microsoft.com/office/drawing/2014/main" id="{B6856952-8174-77D9-EF3F-FC4E519B7120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xfrm>
                <a:off x="798478" y="894945"/>
                <a:ext cx="10534245" cy="5029200"/>
              </a:xfrm>
              <a:blipFill>
                <a:blip r:embed="rId2"/>
                <a:stretch>
                  <a:fillRect l="-926"/>
                </a:stretch>
              </a:blipFill>
            </p:spPr>
            <p:txBody>
              <a:bodyPr/>
              <a:lstStyle/>
              <a:p>
                <a:r>
                  <a:rPr lang="en-IN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3107361534"/>
      </p:ext>
    </p:extLst>
  </p:cSld>
  <p:clrMapOvr>
    <a:masterClrMapping/>
  </p:clrMapOvr>
</p:sld>
</file>

<file path=ppt/slides/slide3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6995D81-768E-5950-B9D5-BCD71667453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139952" y="681037"/>
            <a:ext cx="10515600" cy="945643"/>
          </a:xfrm>
        </p:spPr>
        <p:txBody>
          <a:bodyPr>
            <a:normAutofit/>
          </a:bodyPr>
          <a:lstStyle/>
          <a:p>
            <a:r>
              <a:rPr dirty="0">
                <a:solidFill>
                  <a:srgbClr val="C00000"/>
                </a:solidFill>
              </a:rPr>
              <a:t>Summary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F2F457AF-A4AD-EABE-D3ED-16A3F170D400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pPr algn="l" rtl="0" fontAlgn="base">
              <a:spcAft>
                <a:spcPts val="750"/>
              </a:spcAft>
            </a:pPr>
            <a:r>
              <a:rPr sz="2400" dirty="0">
                <a:latin typeface="+mj-lt"/>
              </a:rPr>
              <a:t>We learned:</a:t>
            </a:r>
            <a:endParaRPr lang="en-US" sz="2400" dirty="0">
              <a:latin typeface="+mj-lt"/>
            </a:endParaRPr>
          </a:p>
          <a:p>
            <a:pPr marL="0" indent="0" algn="l" rtl="0" fontAlgn="base">
              <a:spcAft>
                <a:spcPts val="750"/>
              </a:spcAft>
              <a:buNone/>
            </a:pPr>
            <a:r>
              <a:rPr sz="2400" dirty="0">
                <a:latin typeface="+mj-lt"/>
              </a:rPr>
              <a:t>- Vectors &amp; operations
- Matrices &amp; properties
- Eigen decomposition
- SVD and applications
All with simple examples</a:t>
            </a:r>
          </a:p>
        </p:txBody>
      </p:sp>
    </p:spTree>
    <p:extLst>
      <p:ext uri="{BB962C8B-B14F-4D97-AF65-F5344CB8AC3E}">
        <p14:creationId xmlns:p14="http://schemas.microsoft.com/office/powerpoint/2010/main" val="2609995480"/>
      </p:ext>
    </p:extLst>
  </p:cSld>
  <p:clrMapOvr>
    <a:masterClrMapping/>
  </p:clrMapOvr>
</p:sld>
</file>

<file path=ppt/slides/slide3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266" name="Rectangle 2">
            <a:extLst>
              <a:ext uri="{FF2B5EF4-FFF2-40B4-BE49-F238E27FC236}">
                <a16:creationId xmlns:a16="http://schemas.microsoft.com/office/drawing/2014/main" id="{88FBA2BA-848A-777E-D00A-75643C52C29B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>
          <a:xfrm>
            <a:off x="1271016" y="1255205"/>
            <a:ext cx="9262872" cy="762000"/>
          </a:xfrm>
        </p:spPr>
        <p:txBody>
          <a:bodyPr>
            <a:noAutofit/>
          </a:bodyPr>
          <a:lstStyle/>
          <a:p>
            <a:r>
              <a:rPr dirty="0"/>
              <a:t>Thank You</a:t>
            </a:r>
          </a:p>
        </p:txBody>
      </p:sp>
      <p:sp>
        <p:nvSpPr>
          <p:cNvPr id="3" name="Slide Number Placeholder 2">
            <a:extLst>
              <a:ext uri="{FF2B5EF4-FFF2-40B4-BE49-F238E27FC236}">
                <a16:creationId xmlns:a16="http://schemas.microsoft.com/office/drawing/2014/main" id="{84972FC0-7FBD-F3C8-426A-D2ADF18BAEC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r>
              <a:rPr sz="2000"/>
              <a:t>Any Questions?
🙂</a:t>
            </a:r>
            <a:endParaRPr lang="en-IN"/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8EB4C270-35C4-CCEF-83E8-2AA8BF6CB7A8}"/>
              </a:ext>
            </a:extLst>
          </p:cNvPr>
          <p:cNvSpPr txBox="1"/>
          <p:nvPr/>
        </p:nvSpPr>
        <p:spPr>
          <a:xfrm>
            <a:off x="1005840" y="1765892"/>
            <a:ext cx="10347960" cy="32521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375"/>
              </a:spcAft>
              <a:buFont typeface="Arial" panose="020B0604020202020204" pitchFamily="34" charset="0"/>
              <a:buChar char="•"/>
            </a:pPr>
            <a:endParaRPr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Custom 1">
      <a:dk1>
        <a:sysClr val="windowText" lastClr="000000"/>
      </a:dk1>
      <a:lt1>
        <a:srgbClr val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 Them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 Them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2013 - 2022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Office 2013 - 2022 Theme</Template>
  <TotalTime>1335</TotalTime>
  <Words>2005</Words>
  <Application>Microsoft Office PowerPoint</Application>
  <PresentationFormat>Widescreen</PresentationFormat>
  <Paragraphs>191</Paragraphs>
  <Slides>35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9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35</vt:i4>
      </vt:variant>
    </vt:vector>
  </HeadingPairs>
  <TitlesOfParts>
    <vt:vector size="45" baseType="lpstr">
      <vt:lpstr>Arial</vt:lpstr>
      <vt:lpstr>Calibri</vt:lpstr>
      <vt:lpstr>Calibri Light</vt:lpstr>
      <vt:lpstr>Cambria Math</vt:lpstr>
      <vt:lpstr>Gill Sans MT</vt:lpstr>
      <vt:lpstr>GreekC</vt:lpstr>
      <vt:lpstr>Nunito</vt:lpstr>
      <vt:lpstr>Source Sans 3</vt:lpstr>
      <vt:lpstr>Times New Roman</vt:lpstr>
      <vt:lpstr>Office Theme</vt:lpstr>
      <vt:lpstr>PowerPoint Presentation</vt:lpstr>
      <vt:lpstr>PowerPoint Presentation</vt:lpstr>
      <vt:lpstr>PowerPoint Presentation</vt:lpstr>
      <vt:lpstr>What is Matrix?</vt:lpstr>
      <vt:lpstr>Types of Matrix</vt:lpstr>
      <vt:lpstr>Matrix Operation: Addition</vt:lpstr>
      <vt:lpstr>Matrix Operation: Subtraction</vt:lpstr>
      <vt:lpstr>Matrix Operation: Multiplication</vt:lpstr>
      <vt:lpstr>Transpose of a Matrix</vt:lpstr>
      <vt:lpstr>PowerPoint Presentation</vt:lpstr>
      <vt:lpstr>Properties of Matrix Addition &amp; Matrix Multiplication</vt:lpstr>
      <vt:lpstr>Eigenvalues and Eigenvectors</vt:lpstr>
      <vt:lpstr>Eigen Decomposition of a Matrix</vt:lpstr>
      <vt:lpstr>Fundamental Theory of Eigen Decomposition</vt:lpstr>
      <vt:lpstr>Fundamental Theory of Eigen Decomposition…</vt:lpstr>
      <vt:lpstr>How to Perform Eigen decomposition?</vt:lpstr>
      <vt:lpstr>How to Perform Eigen decomposition?...</vt:lpstr>
      <vt:lpstr>Example of Eigen Decomposition</vt:lpstr>
      <vt:lpstr>Eigen decomposition (Cont…I)</vt:lpstr>
      <vt:lpstr>Eigen decomposition (Cont…II)</vt:lpstr>
      <vt:lpstr>Eigen decomposition (Cont…III)</vt:lpstr>
      <vt:lpstr>Applications of Singular Value Decomposition                (SVD)</vt:lpstr>
      <vt:lpstr>Singular Value Decomposition</vt:lpstr>
      <vt:lpstr>Singular Value Decomposition…</vt:lpstr>
      <vt:lpstr>How to perform Singular Value Decomposition</vt:lpstr>
      <vt:lpstr>Applications of SVD </vt:lpstr>
      <vt:lpstr>Singular Value Decomposition (SVD) Sing Singular Value Decomposition (SVD) Singular Value Decomposition (SVD)  </vt:lpstr>
      <vt:lpstr>Singular Value Decomposition (SVD) Sing Singular Value Decomposition (SVD) Steps Steps for Singular Value Decomposition (SVD)  </vt:lpstr>
      <vt:lpstr>Singular Value Decomposition (SVD) Sing Singular Value Decomposition (SVD) Singular Value Decomposition (SVD) (Cont..I)  </vt:lpstr>
      <vt:lpstr>Singular Value Decomposition (SVD) Sing Singular Value Decomposition (SVD) Singular Value Decomposition (SVD) (Cont..II)  </vt:lpstr>
      <vt:lpstr>Singular Value Decomposition (SVD) Sing Singular Value Decomposition (SVD) Singular Value Decomposition (SVD) (Cont..II)  </vt:lpstr>
      <vt:lpstr>Singular Value Decomposition (SVD) Sing Singular Value Decomposition (SVD) Singular Value Decomposition (SVD) (Cont..III)  </vt:lpstr>
      <vt:lpstr>Singular Value Decomposition (SVD) Sing Singular Value Decomposition (SVD) Singular Value Decomposition (SVD) (Cont..III)  </vt:lpstr>
      <vt:lpstr>Summary</vt:lpstr>
      <vt:lpstr>Thank You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P Manika Prasuna</dc:creator>
  <cp:lastModifiedBy>P Manika Prasuna</cp:lastModifiedBy>
  <cp:revision>51</cp:revision>
  <dcterms:created xsi:type="dcterms:W3CDTF">2025-05-12T05:57:37Z</dcterms:created>
  <dcterms:modified xsi:type="dcterms:W3CDTF">2025-08-28T06:44:26Z</dcterms:modified>
</cp:coreProperties>
</file>