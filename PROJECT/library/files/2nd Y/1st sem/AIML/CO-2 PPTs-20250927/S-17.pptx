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13"/>
  </p:handoutMasterIdLst>
  <p:sldIdLst>
    <p:sldId id="256" r:id="rId2"/>
    <p:sldId id="286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87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544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644F58-5B20-E869-E77C-C0F8B126D4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60BF67-7A8A-CC30-946D-343E6F7B7F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3ACDD-0F07-4DA2-90FB-487D20C5410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8392D-4986-B627-D445-87FF7EC797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455C3-9724-ECC3-A882-4DB8FAE010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FF142-8412-46FD-A27C-3EB6E62B08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59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48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66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5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12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0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36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3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5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9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01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3F2F65-8282-9C7E-CEBC-B3FCF09DF9DC}"/>
              </a:ext>
            </a:extLst>
          </p:cNvPr>
          <p:cNvSpPr txBox="1"/>
          <p:nvPr/>
        </p:nvSpPr>
        <p:spPr>
          <a:xfrm>
            <a:off x="1267097" y="1288145"/>
            <a:ext cx="9657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10671-249C-340E-19B5-2BA72FEB1F0C}"/>
              </a:ext>
            </a:extLst>
          </p:cNvPr>
          <p:cNvSpPr txBox="1"/>
          <p:nvPr/>
        </p:nvSpPr>
        <p:spPr>
          <a:xfrm>
            <a:off x="971550" y="3566771"/>
            <a:ext cx="10473197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0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SESSION NO : 17</a:t>
            </a:r>
            <a:endParaRPr lang="en-US" sz="3000" b="1" cap="all" dirty="0">
              <a:latin typeface="Gill Sans MT"/>
              <a:ea typeface="+mj-ea"/>
              <a:cs typeface="+mj-cs"/>
            </a:endParaRPr>
          </a:p>
          <a:p>
            <a:pPr algn="ctr"/>
            <a:endParaRPr lang="en-US" sz="3000" b="1" cap="all" dirty="0">
              <a:latin typeface="Gill Sans MT"/>
              <a:ea typeface="+mj-ea"/>
              <a:cs typeface="+mj-cs"/>
            </a:endParaRPr>
          </a:p>
          <a:p>
            <a:pPr algn="ctr"/>
            <a:r>
              <a:rPr lang="en-US" sz="3200" b="1" dirty="0"/>
              <a:t>Probability &amp; Statistics</a:t>
            </a:r>
          </a:p>
          <a:p>
            <a:pPr algn="ctr"/>
            <a:r>
              <a:rPr lang="en-IN" sz="3000" dirty="0"/>
              <a:t>(</a:t>
            </a:r>
            <a:r>
              <a:rPr lang="en-US" sz="3000" dirty="0"/>
              <a:t>Bayes’ theorem and ML relevance</a:t>
            </a:r>
            <a:r>
              <a:rPr lang="en-IN" sz="3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29C-554C-CF0C-CC93-1342DAA6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BB056-9C1C-D28B-4E03-784F69D9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854573"/>
            <a:ext cx="11506200" cy="5147541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dirty="0"/>
              <a:t>Bayes’ Theorem helps us update the probability of a hypothesis based on new evidence.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sz="2400" dirty="0"/>
              <a:t>It connects: Prior Probability (What we believed before)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sz="2400" dirty="0"/>
              <a:t>Likelihood (How likely the evidence is)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sz="2400" dirty="0"/>
              <a:t>Posterior Probability (What we believe after seeing the evidence)</a:t>
            </a:r>
            <a:endParaRPr lang="en-US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748671D-3F1B-2997-438D-742786D5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7F05A7-9F1E-29C8-C931-0119A98850BA}"/>
              </a:ext>
            </a:extLst>
          </p:cNvPr>
          <p:cNvSpPr txBox="1"/>
          <p:nvPr/>
        </p:nvSpPr>
        <p:spPr>
          <a:xfrm>
            <a:off x="1841577" y="247899"/>
            <a:ext cx="6477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Bayes’ Theorem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D67E34-8AF6-25E5-CD6A-44049EDE6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09850" y="2595058"/>
            <a:ext cx="6019800" cy="342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11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29C-554C-CF0C-CC93-1342DAA6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BB056-9C1C-D28B-4E03-784F69D9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854573"/>
            <a:ext cx="11506200" cy="5147541"/>
          </a:xfrm>
        </p:spPr>
        <p:txBody>
          <a:bodyPr>
            <a:normAutofit/>
          </a:bodyPr>
          <a:lstStyle/>
          <a:p>
            <a:r>
              <a:rPr lang="en-US" sz="2400" b="1" dirty="0"/>
              <a:t>Example (Spam Filter using Bayes)</a:t>
            </a:r>
          </a:p>
          <a:p>
            <a:r>
              <a:rPr lang="en-US" sz="2400" dirty="0"/>
              <a:t>Suppose we want to detect if an email is spam based on the word “Free”.</a:t>
            </a:r>
          </a:p>
          <a:p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748671D-3F1B-2997-438D-742786D5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7F05A7-9F1E-29C8-C931-0119A98850BA}"/>
              </a:ext>
            </a:extLst>
          </p:cNvPr>
          <p:cNvSpPr txBox="1"/>
          <p:nvPr/>
        </p:nvSpPr>
        <p:spPr>
          <a:xfrm>
            <a:off x="1841577" y="247899"/>
            <a:ext cx="6477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Bayes’ Theorem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335" y="1903445"/>
            <a:ext cx="9032032" cy="376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41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29C-554C-CF0C-CC93-1342DAA6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BB056-9C1C-D28B-4E03-784F69D9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43" y="1003952"/>
            <a:ext cx="11506200" cy="5147541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748671D-3F1B-2997-438D-742786D5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7F05A7-9F1E-29C8-C931-0119A98850BA}"/>
              </a:ext>
            </a:extLst>
          </p:cNvPr>
          <p:cNvSpPr txBox="1"/>
          <p:nvPr/>
        </p:nvSpPr>
        <p:spPr>
          <a:xfrm>
            <a:off x="1841577" y="247899"/>
            <a:ext cx="6477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Bayes’ Theorem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76" y="949651"/>
            <a:ext cx="10954138" cy="505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49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29C-554C-CF0C-CC93-1342DAA6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BB056-9C1C-D28B-4E03-784F69D9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43" y="1003952"/>
            <a:ext cx="11506200" cy="5147541"/>
          </a:xfrm>
        </p:spPr>
        <p:txBody>
          <a:bodyPr>
            <a:normAutofit/>
          </a:bodyPr>
          <a:lstStyle/>
          <a:p>
            <a:r>
              <a:rPr lang="en-US" sz="2400" dirty="0"/>
              <a:t>Bayes’ theorem is fundamental in ML because it provides a </a:t>
            </a:r>
            <a:r>
              <a:rPr lang="en-US" sz="2400" b="1" dirty="0"/>
              <a:t>mathematical framework for reasoning under uncertainty.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748671D-3F1B-2997-438D-742786D5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7F05A7-9F1E-29C8-C931-0119A98850BA}"/>
              </a:ext>
            </a:extLst>
          </p:cNvPr>
          <p:cNvSpPr txBox="1"/>
          <p:nvPr/>
        </p:nvSpPr>
        <p:spPr>
          <a:xfrm>
            <a:off x="1850908" y="193598"/>
            <a:ext cx="96164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Machine Learning Relevance of Bayes’ Theorem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77" y="1819469"/>
            <a:ext cx="10300995" cy="429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8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29C-554C-CF0C-CC93-1342DAA6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BB056-9C1C-D28B-4E03-784F69D9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015" y="1078597"/>
            <a:ext cx="11506200" cy="5147541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748671D-3F1B-2997-438D-742786D5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7F05A7-9F1E-29C8-C931-0119A98850BA}"/>
              </a:ext>
            </a:extLst>
          </p:cNvPr>
          <p:cNvSpPr txBox="1"/>
          <p:nvPr/>
        </p:nvSpPr>
        <p:spPr>
          <a:xfrm>
            <a:off x="1850908" y="193598"/>
            <a:ext cx="96164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Machine Learning Relevance of Bayes’ Theorem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57" y="1078596"/>
            <a:ext cx="10478278" cy="493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14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29C-554C-CF0C-CC93-1342DAA6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689" y="1017037"/>
            <a:ext cx="9339943" cy="4488023"/>
          </a:xfrm>
          <a:prstGeom prst="rect">
            <a:avLst/>
          </a:prstGeom>
        </p:spPr>
      </p:pic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748671D-3F1B-2997-438D-742786D5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7F05A7-9F1E-29C8-C931-0119A98850BA}"/>
              </a:ext>
            </a:extLst>
          </p:cNvPr>
          <p:cNvSpPr txBox="1"/>
          <p:nvPr/>
        </p:nvSpPr>
        <p:spPr>
          <a:xfrm>
            <a:off x="1850908" y="193598"/>
            <a:ext cx="96164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Machine Learning Relevance of Bayes’ Theorem</a:t>
            </a:r>
          </a:p>
        </p:txBody>
      </p:sp>
    </p:spTree>
    <p:extLst>
      <p:ext uri="{BB962C8B-B14F-4D97-AF65-F5344CB8AC3E}">
        <p14:creationId xmlns:p14="http://schemas.microsoft.com/office/powerpoint/2010/main" val="102621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29C-554C-CF0C-CC93-1342DAA6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748671D-3F1B-2997-438D-742786D5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7F05A7-9F1E-29C8-C931-0119A98850BA}"/>
              </a:ext>
            </a:extLst>
          </p:cNvPr>
          <p:cNvSpPr txBox="1"/>
          <p:nvPr/>
        </p:nvSpPr>
        <p:spPr>
          <a:xfrm>
            <a:off x="1850908" y="193598"/>
            <a:ext cx="96164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Machine Learning Relevance of Bayes’ Theorem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3265" y="886407"/>
            <a:ext cx="11234057" cy="531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60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29C-554C-CF0C-CC93-1342DAA6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748671D-3F1B-2997-438D-742786D5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7F05A7-9F1E-29C8-C931-0119A98850BA}"/>
              </a:ext>
            </a:extLst>
          </p:cNvPr>
          <p:cNvSpPr txBox="1"/>
          <p:nvPr/>
        </p:nvSpPr>
        <p:spPr>
          <a:xfrm>
            <a:off x="1850908" y="193598"/>
            <a:ext cx="96164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Machine Learning Relevance of Bayes’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2392"/>
            <a:ext cx="10515600" cy="5234571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Bayes’ theorem in ML is important because :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dirty="0"/>
              <a:t>Enables </a:t>
            </a:r>
            <a:r>
              <a:rPr lang="en-US" b="1" dirty="0"/>
              <a:t>probabilistic classification</a:t>
            </a:r>
            <a:r>
              <a:rPr lang="en-US" dirty="0"/>
              <a:t> (Naïve Bayes).</a:t>
            </a:r>
          </a:p>
          <a:p>
            <a:r>
              <a:rPr lang="en-US" dirty="0"/>
              <a:t>Supports </a:t>
            </a:r>
            <a:r>
              <a:rPr lang="en-US" b="1" dirty="0"/>
              <a:t>parameter learning and inference</a:t>
            </a:r>
            <a:r>
              <a:rPr lang="en-US" dirty="0"/>
              <a:t>.</a:t>
            </a:r>
          </a:p>
          <a:p>
            <a:r>
              <a:rPr lang="en-US" dirty="0"/>
              <a:t>Justifies </a:t>
            </a:r>
            <a:r>
              <a:rPr lang="en-US" b="1" dirty="0"/>
              <a:t>regularization as prior knowledge</a:t>
            </a:r>
            <a:r>
              <a:rPr lang="en-US" dirty="0"/>
              <a:t>.</a:t>
            </a:r>
          </a:p>
          <a:p>
            <a:r>
              <a:rPr lang="en-US" dirty="0"/>
              <a:t>Provides </a:t>
            </a:r>
            <a:r>
              <a:rPr lang="en-US" b="1" dirty="0"/>
              <a:t>uncertainty estimation</a:t>
            </a:r>
            <a:r>
              <a:rPr lang="en-US" dirty="0"/>
              <a:t> for safe and interpretable AI.</a:t>
            </a:r>
          </a:p>
          <a:p>
            <a:r>
              <a:rPr lang="en-US" dirty="0"/>
              <a:t>Powers </a:t>
            </a:r>
            <a:r>
              <a:rPr lang="en-US" b="1" dirty="0"/>
              <a:t>graphical models</a:t>
            </a:r>
            <a:r>
              <a:rPr lang="en-US" dirty="0"/>
              <a:t> for structured prediction.</a:t>
            </a:r>
          </a:p>
        </p:txBody>
      </p:sp>
    </p:spTree>
    <p:extLst>
      <p:ext uri="{BB962C8B-B14F-4D97-AF65-F5344CB8AC3E}">
        <p14:creationId xmlns:p14="http://schemas.microsoft.com/office/powerpoint/2010/main" val="1325566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29C-554C-CF0C-CC93-1342DAA6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748671D-3F1B-2997-438D-742786D5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8D547-6B32-590D-95A6-AA57109C0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2524" y="600074"/>
            <a:ext cx="9295641" cy="530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88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9860" y="89473"/>
            <a:ext cx="2704052" cy="815095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70560" y="995681"/>
            <a:ext cx="10708640" cy="5106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US" sz="8000" dirty="0">
                <a:solidFill>
                  <a:schemeClr val="tx1"/>
                </a:solidFill>
              </a:rPr>
              <a:t>THANK YOU</a:t>
            </a:r>
            <a:endParaRPr lang="en-US" sz="8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1CD03D-A828-D475-3BE0-87C569C9C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316900"/>
            <a:ext cx="12192001" cy="53109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63424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925</TotalTime>
  <Words>200</Words>
  <Application>Microsoft Office PowerPoint</Application>
  <PresentationFormat>Widescreen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Gill Sans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 Manika Prasuna</dc:creator>
  <cp:lastModifiedBy>P Manika Prasuna</cp:lastModifiedBy>
  <cp:revision>205</cp:revision>
  <dcterms:created xsi:type="dcterms:W3CDTF">2025-05-12T05:57:37Z</dcterms:created>
  <dcterms:modified xsi:type="dcterms:W3CDTF">2025-08-28T06:35:16Z</dcterms:modified>
</cp:coreProperties>
</file>