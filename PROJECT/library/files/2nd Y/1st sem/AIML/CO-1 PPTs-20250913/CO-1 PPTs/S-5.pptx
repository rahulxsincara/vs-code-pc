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1"/>
  </p:notesMasterIdLst>
  <p:handoutMasterIdLst>
    <p:handoutMasterId r:id="rId32"/>
  </p:handoutMasterIdLst>
  <p:sldIdLst>
    <p:sldId id="256" r:id="rId2"/>
    <p:sldId id="360" r:id="rId3"/>
    <p:sldId id="370" r:id="rId4"/>
    <p:sldId id="371" r:id="rId5"/>
    <p:sldId id="361" r:id="rId6"/>
    <p:sldId id="419" r:id="rId7"/>
    <p:sldId id="373" r:id="rId8"/>
    <p:sldId id="374" r:id="rId9"/>
    <p:sldId id="389" r:id="rId10"/>
    <p:sldId id="420" r:id="rId11"/>
    <p:sldId id="421" r:id="rId12"/>
    <p:sldId id="422" r:id="rId13"/>
    <p:sldId id="423" r:id="rId14"/>
    <p:sldId id="429" r:id="rId15"/>
    <p:sldId id="392" r:id="rId16"/>
    <p:sldId id="424" r:id="rId17"/>
    <p:sldId id="425" r:id="rId18"/>
    <p:sldId id="426" r:id="rId19"/>
    <p:sldId id="405" r:id="rId20"/>
    <p:sldId id="407" r:id="rId21"/>
    <p:sldId id="363" r:id="rId22"/>
    <p:sldId id="292" r:id="rId23"/>
    <p:sldId id="293" r:id="rId24"/>
    <p:sldId id="433" r:id="rId25"/>
    <p:sldId id="386" r:id="rId26"/>
    <p:sldId id="387" r:id="rId27"/>
    <p:sldId id="397" r:id="rId28"/>
    <p:sldId id="399" r:id="rId29"/>
    <p:sldId id="400"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73" d="100"/>
          <a:sy n="73" d="100"/>
        </p:scale>
        <p:origin x="364" y="44"/>
      </p:cViewPr>
      <p:guideLst/>
    </p:cSldViewPr>
  </p:slideViewPr>
  <p:notesTextViewPr>
    <p:cViewPr>
      <p:scale>
        <a:sx n="1" d="1"/>
        <a:sy n="1" d="1"/>
      </p:scale>
      <p:origin x="0" y="0"/>
    </p:cViewPr>
  </p:notesTextViewPr>
  <p:notesViewPr>
    <p:cSldViewPr snapToGrid="0">
      <p:cViewPr varScale="1">
        <p:scale>
          <a:sx n="58" d="100"/>
          <a:sy n="58" d="100"/>
        </p:scale>
        <p:origin x="2544" y="6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331F814-EEE2-2E1A-87EE-A3D0371E432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330AB1A5-09F2-5990-F455-AF752880486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5EA6385-E322-499C-825E-697C29A64B9E}" type="datetimeFigureOut">
              <a:rPr lang="en-IN" smtClean="0"/>
              <a:t>18-08-2025</a:t>
            </a:fld>
            <a:endParaRPr lang="en-IN"/>
          </a:p>
        </p:txBody>
      </p:sp>
      <p:sp>
        <p:nvSpPr>
          <p:cNvPr id="4" name="Footer Placeholder 3">
            <a:extLst>
              <a:ext uri="{FF2B5EF4-FFF2-40B4-BE49-F238E27FC236}">
                <a16:creationId xmlns:a16="http://schemas.microsoft.com/office/drawing/2014/main" id="{27B4FF5D-6FBB-03CC-FA56-C94E1291587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80766618-C69F-0633-45B4-574DE4F61C8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210EC58-897F-41F0-B2CD-19798BED6EE5}" type="slidenum">
              <a:rPr lang="en-IN" smtClean="0"/>
              <a:t>‹#›</a:t>
            </a:fld>
            <a:endParaRPr lang="en-IN"/>
          </a:p>
        </p:txBody>
      </p:sp>
    </p:spTree>
    <p:extLst>
      <p:ext uri="{BB962C8B-B14F-4D97-AF65-F5344CB8AC3E}">
        <p14:creationId xmlns:p14="http://schemas.microsoft.com/office/powerpoint/2010/main" val="340278201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8F9B9D1-A434-4F22-9A04-441CAB3BDF4C}" type="datetimeFigureOut">
              <a:rPr lang="en-IN" smtClean="0"/>
              <a:t>18-08-2025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947F1D9-39A7-4809-86BB-2572172347BF}" type="slidenum">
              <a:rPr lang="en-IN" smtClean="0"/>
              <a:t>‹#›</a:t>
            </a:fld>
            <a:endParaRPr lang="en-IN"/>
          </a:p>
        </p:txBody>
      </p:sp>
    </p:spTree>
    <p:extLst>
      <p:ext uri="{BB962C8B-B14F-4D97-AF65-F5344CB8AC3E}">
        <p14:creationId xmlns:p14="http://schemas.microsoft.com/office/powerpoint/2010/main" val="2329934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38A3636-4462-45DC-BB00-FF6375F9F6C0}" type="datetimeFigureOut">
              <a:rPr lang="en-IN" smtClean="0"/>
              <a:t>18-08-2025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18F3EC4-EDD9-42C1-AC18-D944FC4FABDD}" type="slidenum">
              <a:rPr lang="en-IN" smtClean="0"/>
              <a:t>‹#›</a:t>
            </a:fld>
            <a:endParaRPr lang="en-IN"/>
          </a:p>
        </p:txBody>
      </p:sp>
      <p:pic>
        <p:nvPicPr>
          <p:cNvPr id="7" name="Picture 2" descr="KL University - Wikipedia">
            <a:extLst>
              <a:ext uri="{FF2B5EF4-FFF2-40B4-BE49-F238E27FC236}">
                <a16:creationId xmlns:a16="http://schemas.microsoft.com/office/drawing/2014/main" id="{94F0B4F9-9E82-7700-956A-F1E8CAE743F0}"/>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56348" y="109267"/>
            <a:ext cx="1772524" cy="7180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684826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8A3636-4462-45DC-BB00-FF6375F9F6C0}" type="datetimeFigureOut">
              <a:rPr lang="en-IN" smtClean="0"/>
              <a:t>18-08-2025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18F3EC4-EDD9-42C1-AC18-D944FC4FABDD}" type="slidenum">
              <a:rPr lang="en-IN" smtClean="0"/>
              <a:t>‹#›</a:t>
            </a:fld>
            <a:endParaRPr lang="en-IN"/>
          </a:p>
        </p:txBody>
      </p:sp>
      <p:pic>
        <p:nvPicPr>
          <p:cNvPr id="7" name="Picture 2" descr="KL University - Wikipedia">
            <a:extLst>
              <a:ext uri="{FF2B5EF4-FFF2-40B4-BE49-F238E27FC236}">
                <a16:creationId xmlns:a16="http://schemas.microsoft.com/office/drawing/2014/main" id="{3A703811-92C5-07CD-7A3B-9362DE6523A3}"/>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56348" y="109267"/>
            <a:ext cx="1772524" cy="7180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33468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38A3636-4462-45DC-BB00-FF6375F9F6C0}" type="datetimeFigureOut">
              <a:rPr lang="en-IN" smtClean="0"/>
              <a:t>18-08-2025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18F3EC4-EDD9-42C1-AC18-D944FC4FABDD}" type="slidenum">
              <a:rPr lang="en-IN" smtClean="0"/>
              <a:t>‹#›</a:t>
            </a:fld>
            <a:endParaRPr lang="en-IN"/>
          </a:p>
        </p:txBody>
      </p:sp>
      <p:pic>
        <p:nvPicPr>
          <p:cNvPr id="7" name="Picture 2" descr="KL University - Wikipedia">
            <a:extLst>
              <a:ext uri="{FF2B5EF4-FFF2-40B4-BE49-F238E27FC236}">
                <a16:creationId xmlns:a16="http://schemas.microsoft.com/office/drawing/2014/main" id="{AAADA7E7-EC03-2B0B-C9A3-4D5ED34EB4E6}"/>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56348" y="109267"/>
            <a:ext cx="1772524" cy="7180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66644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38A3636-4462-45DC-BB00-FF6375F9F6C0}" type="datetimeFigureOut">
              <a:rPr lang="en-IN" smtClean="0"/>
              <a:t>18-08-2025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18F3EC4-EDD9-42C1-AC18-D944FC4FABDD}" type="slidenum">
              <a:rPr lang="en-IN" smtClean="0"/>
              <a:t>‹#›</a:t>
            </a:fld>
            <a:endParaRPr lang="en-IN"/>
          </a:p>
        </p:txBody>
      </p:sp>
      <p:pic>
        <p:nvPicPr>
          <p:cNvPr id="8" name="Picture 2" descr="KL University - Wikipedia">
            <a:extLst>
              <a:ext uri="{FF2B5EF4-FFF2-40B4-BE49-F238E27FC236}">
                <a16:creationId xmlns:a16="http://schemas.microsoft.com/office/drawing/2014/main" id="{97B4ED67-4E8B-C036-303C-F07BF40D4509}"/>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56348" y="109267"/>
            <a:ext cx="1772524" cy="7180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6558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38A3636-4462-45DC-BB00-FF6375F9F6C0}" type="datetimeFigureOut">
              <a:rPr lang="en-IN" smtClean="0"/>
              <a:t>18-08-2025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18F3EC4-EDD9-42C1-AC18-D944FC4FABDD}" type="slidenum">
              <a:rPr lang="en-IN" smtClean="0"/>
              <a:t>‹#›</a:t>
            </a:fld>
            <a:endParaRPr lang="en-IN"/>
          </a:p>
        </p:txBody>
      </p:sp>
      <p:pic>
        <p:nvPicPr>
          <p:cNvPr id="10" name="Picture 2" descr="KL University - Wikipedia">
            <a:extLst>
              <a:ext uri="{FF2B5EF4-FFF2-40B4-BE49-F238E27FC236}">
                <a16:creationId xmlns:a16="http://schemas.microsoft.com/office/drawing/2014/main" id="{AD71A47D-4D76-37F5-EBD4-8655F7ECFD10}"/>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56348" y="109267"/>
            <a:ext cx="1772524" cy="7180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441286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38A3636-4462-45DC-BB00-FF6375F9F6C0}" type="datetimeFigureOut">
              <a:rPr lang="en-IN" smtClean="0"/>
              <a:t>18-08-2025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18F3EC4-EDD9-42C1-AC18-D944FC4FABDD}" type="slidenum">
              <a:rPr lang="en-IN" smtClean="0"/>
              <a:t>‹#›</a:t>
            </a:fld>
            <a:endParaRPr lang="en-IN"/>
          </a:p>
        </p:txBody>
      </p:sp>
      <p:pic>
        <p:nvPicPr>
          <p:cNvPr id="6" name="Picture 2" descr="KL University - Wikipedia">
            <a:extLst>
              <a:ext uri="{FF2B5EF4-FFF2-40B4-BE49-F238E27FC236}">
                <a16:creationId xmlns:a16="http://schemas.microsoft.com/office/drawing/2014/main" id="{3F97442F-A173-88E9-5636-32BB5D2262A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56348" y="109267"/>
            <a:ext cx="1772524" cy="7180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770117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38A3636-4462-45DC-BB00-FF6375F9F6C0}" type="datetimeFigureOut">
              <a:rPr lang="en-IN" smtClean="0"/>
              <a:t>18-08-2025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18F3EC4-EDD9-42C1-AC18-D944FC4FABDD}" type="slidenum">
              <a:rPr lang="en-IN" smtClean="0"/>
              <a:t>‹#›</a:t>
            </a:fld>
            <a:endParaRPr lang="en-IN"/>
          </a:p>
        </p:txBody>
      </p:sp>
    </p:spTree>
    <p:extLst>
      <p:ext uri="{BB962C8B-B14F-4D97-AF65-F5344CB8AC3E}">
        <p14:creationId xmlns:p14="http://schemas.microsoft.com/office/powerpoint/2010/main" val="3730169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38A3636-4462-45DC-BB00-FF6375F9F6C0}" type="datetimeFigureOut">
              <a:rPr lang="en-IN" smtClean="0"/>
              <a:t>18-08-2025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18F3EC4-EDD9-42C1-AC18-D944FC4FABDD}" type="slidenum">
              <a:rPr lang="en-IN" smtClean="0"/>
              <a:t>‹#›</a:t>
            </a:fld>
            <a:endParaRPr lang="en-IN"/>
          </a:p>
        </p:txBody>
      </p:sp>
    </p:spTree>
    <p:extLst>
      <p:ext uri="{BB962C8B-B14F-4D97-AF65-F5344CB8AC3E}">
        <p14:creationId xmlns:p14="http://schemas.microsoft.com/office/powerpoint/2010/main" val="26883604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38A3636-4462-45DC-BB00-FF6375F9F6C0}" type="datetimeFigureOut">
              <a:rPr lang="en-IN" smtClean="0"/>
              <a:t>18-08-2025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18F3EC4-EDD9-42C1-AC18-D944FC4FABDD}" type="slidenum">
              <a:rPr lang="en-IN" smtClean="0"/>
              <a:t>‹#›</a:t>
            </a:fld>
            <a:endParaRPr lang="en-IN"/>
          </a:p>
        </p:txBody>
      </p:sp>
    </p:spTree>
    <p:extLst>
      <p:ext uri="{BB962C8B-B14F-4D97-AF65-F5344CB8AC3E}">
        <p14:creationId xmlns:p14="http://schemas.microsoft.com/office/powerpoint/2010/main" val="14353310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8A3636-4462-45DC-BB00-FF6375F9F6C0}" type="datetimeFigureOut">
              <a:rPr lang="en-IN" smtClean="0"/>
              <a:t>18-08-2025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18F3EC4-EDD9-42C1-AC18-D944FC4FABDD}" type="slidenum">
              <a:rPr lang="en-IN" smtClean="0"/>
              <a:t>‹#›</a:t>
            </a:fld>
            <a:endParaRPr lang="en-IN"/>
          </a:p>
        </p:txBody>
      </p:sp>
    </p:spTree>
    <p:extLst>
      <p:ext uri="{BB962C8B-B14F-4D97-AF65-F5344CB8AC3E}">
        <p14:creationId xmlns:p14="http://schemas.microsoft.com/office/powerpoint/2010/main" val="30985560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8A3636-4462-45DC-BB00-FF6375F9F6C0}" type="datetimeFigureOut">
              <a:rPr lang="en-IN" smtClean="0"/>
              <a:t>18-08-2025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18F3EC4-EDD9-42C1-AC18-D944FC4FABDD}" type="slidenum">
              <a:rPr lang="en-IN" smtClean="0"/>
              <a:t>‹#›</a:t>
            </a:fld>
            <a:endParaRPr lang="en-IN"/>
          </a:p>
        </p:txBody>
      </p:sp>
    </p:spTree>
    <p:extLst>
      <p:ext uri="{BB962C8B-B14F-4D97-AF65-F5344CB8AC3E}">
        <p14:creationId xmlns:p14="http://schemas.microsoft.com/office/powerpoint/2010/main" val="10236971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38A3636-4462-45DC-BB00-FF6375F9F6C0}" type="datetimeFigureOut">
              <a:rPr lang="en-IN" smtClean="0"/>
              <a:t>18-08-2025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8F3EC4-EDD9-42C1-AC18-D944FC4FABDD}" type="slidenum">
              <a:rPr lang="en-IN" smtClean="0"/>
              <a:t>‹#›</a:t>
            </a:fld>
            <a:endParaRPr lang="en-IN"/>
          </a:p>
        </p:txBody>
      </p:sp>
    </p:spTree>
    <p:extLst>
      <p:ext uri="{BB962C8B-B14F-4D97-AF65-F5344CB8AC3E}">
        <p14:creationId xmlns:p14="http://schemas.microsoft.com/office/powerpoint/2010/main" val="305301478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KL University - Wikipedia">
            <a:extLst>
              <a:ext uri="{FF2B5EF4-FFF2-40B4-BE49-F238E27FC236}">
                <a16:creationId xmlns:a16="http://schemas.microsoft.com/office/drawing/2014/main" id="{C7BC2855-62DF-7C68-2680-6F1BDACC9B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6348" y="109267"/>
            <a:ext cx="1772524" cy="718048"/>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7E3F2F65-8282-9C7E-CEBC-B3FCF09DF9DC}"/>
              </a:ext>
            </a:extLst>
          </p:cNvPr>
          <p:cNvSpPr txBox="1"/>
          <p:nvPr/>
        </p:nvSpPr>
        <p:spPr>
          <a:xfrm>
            <a:off x="1267097" y="1288145"/>
            <a:ext cx="9657806" cy="1938992"/>
          </a:xfrm>
          <a:prstGeom prst="rect">
            <a:avLst/>
          </a:prstGeom>
          <a:noFill/>
        </p:spPr>
        <p:txBody>
          <a:bodyPr wrap="square">
            <a:spAutoFit/>
          </a:bodyPr>
          <a:lstStyle/>
          <a:p>
            <a:pPr algn="ctr"/>
            <a:r>
              <a:rPr kumimoji="0" lang="en-US" sz="4000" b="1" i="0" u="none" strike="noStrike" kern="1200" cap="all" spc="0" normalizeH="0" baseline="0" noProof="0" dirty="0">
                <a:ln>
                  <a:noFill/>
                </a:ln>
                <a:solidFill>
                  <a:schemeClr val="accent2">
                    <a:lumMod val="50000"/>
                  </a:schemeClr>
                </a:solidFill>
                <a:effectLst/>
                <a:uLnTx/>
                <a:uFillTx/>
                <a:latin typeface="Gill Sans MT"/>
                <a:ea typeface="+mj-ea"/>
                <a:cs typeface="+mj-cs"/>
              </a:rPr>
              <a:t>ARTIFICIAL INTELLIGENCE </a:t>
            </a:r>
            <a:br>
              <a:rPr kumimoji="0" lang="en-US" sz="4000" b="1" i="0" u="none" strike="noStrike" kern="1200" cap="all" spc="0" normalizeH="0" baseline="0" noProof="0" dirty="0">
                <a:ln>
                  <a:noFill/>
                </a:ln>
                <a:solidFill>
                  <a:schemeClr val="accent2">
                    <a:lumMod val="50000"/>
                  </a:schemeClr>
                </a:solidFill>
                <a:effectLst/>
                <a:uLnTx/>
                <a:uFillTx/>
                <a:latin typeface="Gill Sans MT"/>
                <a:ea typeface="+mj-ea"/>
                <a:cs typeface="+mj-cs"/>
              </a:rPr>
            </a:br>
            <a:r>
              <a:rPr kumimoji="0" lang="en-US" sz="4000" b="1" i="0" u="none" strike="noStrike" kern="1200" cap="all" spc="0" normalizeH="0" baseline="0" noProof="0" dirty="0">
                <a:ln>
                  <a:noFill/>
                </a:ln>
                <a:solidFill>
                  <a:schemeClr val="accent2">
                    <a:lumMod val="50000"/>
                  </a:schemeClr>
                </a:solidFill>
                <a:effectLst/>
                <a:uLnTx/>
                <a:uFillTx/>
                <a:latin typeface="Gill Sans MT"/>
                <a:ea typeface="+mj-ea"/>
                <a:cs typeface="+mj-cs"/>
              </a:rPr>
              <a:t>&amp; </a:t>
            </a:r>
            <a:br>
              <a:rPr kumimoji="0" lang="en-US" sz="4000" b="1" i="0" u="none" strike="noStrike" kern="1200" cap="all" spc="0" normalizeH="0" baseline="0" noProof="0" dirty="0">
                <a:ln>
                  <a:noFill/>
                </a:ln>
                <a:solidFill>
                  <a:schemeClr val="accent2">
                    <a:lumMod val="50000"/>
                  </a:schemeClr>
                </a:solidFill>
                <a:effectLst/>
                <a:uLnTx/>
                <a:uFillTx/>
                <a:latin typeface="Gill Sans MT"/>
                <a:ea typeface="+mj-ea"/>
                <a:cs typeface="+mj-cs"/>
              </a:rPr>
            </a:br>
            <a:r>
              <a:rPr kumimoji="0" lang="en-US" sz="4000" b="1" i="0" u="none" strike="noStrike" kern="1200" cap="all" spc="0" normalizeH="0" baseline="0" noProof="0" dirty="0">
                <a:ln>
                  <a:noFill/>
                </a:ln>
                <a:solidFill>
                  <a:schemeClr val="accent2">
                    <a:lumMod val="50000"/>
                  </a:schemeClr>
                </a:solidFill>
                <a:effectLst/>
                <a:uLnTx/>
                <a:uFillTx/>
                <a:latin typeface="Gill Sans MT"/>
                <a:ea typeface="+mj-ea"/>
                <a:cs typeface="+mj-cs"/>
              </a:rPr>
              <a:t>MACHINE LEARNING</a:t>
            </a:r>
            <a:endParaRPr lang="en-IN" sz="4000" dirty="0">
              <a:solidFill>
                <a:schemeClr val="accent2">
                  <a:lumMod val="50000"/>
                </a:schemeClr>
              </a:solidFill>
            </a:endParaRPr>
          </a:p>
        </p:txBody>
      </p:sp>
      <p:sp>
        <p:nvSpPr>
          <p:cNvPr id="2" name="TextBox 1">
            <a:extLst>
              <a:ext uri="{FF2B5EF4-FFF2-40B4-BE49-F238E27FC236}">
                <a16:creationId xmlns:a16="http://schemas.microsoft.com/office/drawing/2014/main" id="{12010671-249C-340E-19B5-2BA72FEB1F0C}"/>
              </a:ext>
            </a:extLst>
          </p:cNvPr>
          <p:cNvSpPr txBox="1"/>
          <p:nvPr/>
        </p:nvSpPr>
        <p:spPr>
          <a:xfrm>
            <a:off x="1267097" y="3621975"/>
            <a:ext cx="9657806" cy="1477328"/>
          </a:xfrm>
          <a:prstGeom prst="rect">
            <a:avLst/>
          </a:prstGeom>
          <a:noFill/>
        </p:spPr>
        <p:txBody>
          <a:bodyPr wrap="square">
            <a:spAutoFit/>
          </a:bodyPr>
          <a:lstStyle/>
          <a:p>
            <a:pPr algn="ctr"/>
            <a:r>
              <a:rPr kumimoji="0" lang="en-US" sz="3000" b="1" i="0" u="none" strike="noStrike" kern="1200" cap="all" spc="0" normalizeH="0" baseline="0" noProof="0" dirty="0">
                <a:ln>
                  <a:noFill/>
                </a:ln>
                <a:effectLst/>
                <a:uLnTx/>
                <a:uFillTx/>
                <a:latin typeface="Gill Sans MT"/>
                <a:ea typeface="+mj-ea"/>
                <a:cs typeface="+mj-cs"/>
              </a:rPr>
              <a:t>Lab SESSION NO : </a:t>
            </a:r>
            <a:r>
              <a:rPr lang="en-US" sz="3000" b="1" cap="all" dirty="0">
                <a:latin typeface="Gill Sans MT"/>
                <a:ea typeface="+mj-ea"/>
                <a:cs typeface="+mj-cs"/>
              </a:rPr>
              <a:t>5</a:t>
            </a:r>
          </a:p>
          <a:p>
            <a:pPr algn="ctr"/>
            <a:r>
              <a:rPr lang="en-US" sz="3000" dirty="0"/>
              <a:t>Classical Search – Uninformed Search (Part 1)</a:t>
            </a:r>
          </a:p>
          <a:p>
            <a:pPr algn="ctr"/>
            <a:r>
              <a:rPr lang="en-US" sz="3000" dirty="0"/>
              <a:t>BFS, DFS.</a:t>
            </a:r>
            <a:endParaRPr lang="en-IN" sz="3000" dirty="0"/>
          </a:p>
        </p:txBody>
      </p:sp>
    </p:spTree>
    <p:extLst>
      <p:ext uri="{BB962C8B-B14F-4D97-AF65-F5344CB8AC3E}">
        <p14:creationId xmlns:p14="http://schemas.microsoft.com/office/powerpoint/2010/main" val="39881704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581891" y="171886"/>
            <a:ext cx="9820638" cy="714806"/>
          </a:xfrm>
        </p:spPr>
        <p:txBody>
          <a:bodyPr/>
          <a:lstStyle/>
          <a:p>
            <a:pPr algn="ctr"/>
            <a:r>
              <a:rPr lang="en-US" sz="3600" b="1" dirty="0">
                <a:solidFill>
                  <a:srgbClr val="C00000"/>
                </a:solidFill>
              </a:rPr>
              <a:t>Objectives</a:t>
            </a:r>
            <a:endParaRPr lang="en-US" sz="3600" dirty="0">
              <a:solidFill>
                <a:srgbClr val="C00000"/>
              </a:solidFill>
            </a:endParaRPr>
          </a:p>
        </p:txBody>
      </p:sp>
      <p:sp>
        <p:nvSpPr>
          <p:cNvPr id="3" name="Date Placeholder 2"/>
          <p:cNvSpPr>
            <a:spLocks noGrp="1"/>
          </p:cNvSpPr>
          <p:nvPr>
            <p:ph type="dt" sz="half" idx="10"/>
          </p:nvPr>
        </p:nvSpPr>
        <p:spPr/>
        <p:txBody>
          <a:bodyPr/>
          <a:lstStyle/>
          <a:p>
            <a:fld id="{9FE2D161-B892-479D-A003-8FCF4A49FB71}" type="datetime1">
              <a:rPr lang="en-US" smtClean="0"/>
              <a:pPr/>
              <a:t>8/18/2025</a:t>
            </a:fld>
            <a:endParaRPr lang="en-US" dirty="0"/>
          </a:p>
        </p:txBody>
      </p:sp>
      <p:sp>
        <p:nvSpPr>
          <p:cNvPr id="4" name="Footer Placeholder 3"/>
          <p:cNvSpPr>
            <a:spLocks noGrp="1"/>
          </p:cNvSpPr>
          <p:nvPr>
            <p:ph type="ftr" sz="quarter" idx="11"/>
          </p:nvPr>
        </p:nvSpPr>
        <p:spPr>
          <a:xfrm>
            <a:off x="4038600" y="6356350"/>
            <a:ext cx="4114800" cy="365125"/>
          </a:xfrm>
          <a:prstGeom prst="rect">
            <a:avLst/>
          </a:prstGeom>
        </p:spPr>
        <p:txBody>
          <a:bodyPr vert="horz" lIns="91440" tIns="45720" rIns="91440" bIns="45720" rtlCol="0" anchor="ctr"/>
          <a:lstStyle>
            <a:defPPr>
              <a:defRPr lang="en-US"/>
            </a:defPPr>
            <a:lvl1pPr algn="ctr" rtl="0" eaLnBrk="1" fontAlgn="auto" hangingPunct="1">
              <a:spcBef>
                <a:spcPts val="0"/>
              </a:spcBef>
              <a:spcAft>
                <a:spcPts val="0"/>
              </a:spcAft>
              <a:defRPr sz="1200" kern="1200" smtClean="0">
                <a:solidFill>
                  <a:schemeClr val="tx1">
                    <a:tint val="75000"/>
                  </a:schemeClr>
                </a:solidFill>
                <a:latin typeface="+mn-lt"/>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r>
              <a:rPr lang="en-US"/>
              <a:t>Deep learning</a:t>
            </a:r>
          </a:p>
        </p:txBody>
      </p:sp>
      <p:sp>
        <p:nvSpPr>
          <p:cNvPr id="5" name="Slide Number Placeholder 4"/>
          <p:cNvSpPr>
            <a:spLocks noGrp="1"/>
          </p:cNvSpPr>
          <p:nvPr>
            <p:ph type="sldNum" sz="quarter" idx="12"/>
          </p:nvPr>
        </p:nvSpPr>
        <p:spPr/>
        <p:txBody>
          <a:bodyPr/>
          <a:lstStyle/>
          <a:p>
            <a:fld id="{943DE3D9-547B-48C8-AECD-0F5196EAB393}" type="slidenum">
              <a:rPr lang="en-US" smtClean="0"/>
              <a:pPr/>
              <a:t>2</a:t>
            </a:fld>
            <a:endParaRPr lang="en-US"/>
          </a:p>
        </p:txBody>
      </p:sp>
      <p:sp>
        <p:nvSpPr>
          <p:cNvPr id="6" name="Rectangle 5"/>
          <p:cNvSpPr/>
          <p:nvPr/>
        </p:nvSpPr>
        <p:spPr>
          <a:xfrm>
            <a:off x="1477107" y="1148863"/>
            <a:ext cx="9530861" cy="4893647"/>
          </a:xfrm>
          <a:prstGeom prst="rect">
            <a:avLst/>
          </a:prstGeom>
        </p:spPr>
        <p:txBody>
          <a:bodyPr wrap="square">
            <a:spAutoFit/>
          </a:bodyPr>
          <a:lstStyle/>
          <a:p>
            <a:pPr marL="342900" indent="-342900"/>
            <a:r>
              <a:rPr lang="en-US" dirty="0"/>
              <a:t>1. </a:t>
            </a:r>
            <a:r>
              <a:rPr lang="en-US" sz="2600" dirty="0"/>
              <a:t>Introduce the concept of classical search techniques in Artificial Intelligence.</a:t>
            </a:r>
          </a:p>
          <a:p>
            <a:pPr marL="342900" indent="-342900">
              <a:buAutoNum type="arabicPeriod"/>
            </a:pPr>
            <a:endParaRPr lang="en-US" sz="2600" dirty="0"/>
          </a:p>
          <a:p>
            <a:r>
              <a:rPr lang="en-US" sz="2600" dirty="0"/>
              <a:t>2. Present the characteristics and limitations of uninformed search strategies.</a:t>
            </a:r>
          </a:p>
          <a:p>
            <a:endParaRPr lang="en-US" sz="2600" dirty="0"/>
          </a:p>
          <a:p>
            <a:r>
              <a:rPr lang="en-US" sz="2600" dirty="0"/>
              <a:t>3. Explore the working principles of Breadth-First Search (BFS), Depth-First Search (DFS), Uniform Cost Search (UCS), and Iterative Deepening Search (IDS).</a:t>
            </a:r>
          </a:p>
          <a:p>
            <a:endParaRPr lang="en-US" sz="2600" dirty="0"/>
          </a:p>
          <a:p>
            <a:r>
              <a:rPr lang="en-US" sz="2600" dirty="0"/>
              <a:t>4. Demonstrate each search method through graph-based or tree-based problem scenarios.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3F2D49-72C0-1B82-1E85-AFF7E41005D6}"/>
              </a:ext>
            </a:extLst>
          </p:cNvPr>
          <p:cNvSpPr>
            <a:spLocks noGrp="1"/>
          </p:cNvSpPr>
          <p:nvPr>
            <p:ph type="title"/>
          </p:nvPr>
        </p:nvSpPr>
        <p:spPr>
          <a:xfrm>
            <a:off x="1451579" y="228207"/>
            <a:ext cx="9603275" cy="460077"/>
          </a:xfrm>
        </p:spPr>
        <p:txBody>
          <a:bodyPr>
            <a:normAutofit fontScale="90000"/>
          </a:bodyPr>
          <a:lstStyle/>
          <a:p>
            <a:pPr algn="ctr">
              <a:buNone/>
            </a:pPr>
            <a:r>
              <a:rPr lang="en-US" b="1" dirty="0">
                <a:solidFill>
                  <a:srgbClr val="FF0000"/>
                </a:solidFill>
                <a:latin typeface="Arial Black" panose="020B0A04020102020204" pitchFamily="34" charset="0"/>
              </a:rPr>
              <a:t>Essence of search</a:t>
            </a:r>
            <a:endParaRPr lang="en-US" sz="3200" b="1" dirty="0">
              <a:solidFill>
                <a:srgbClr val="FF0000"/>
              </a:solidFill>
              <a:latin typeface="Arial Black" panose="020B0A04020102020204" pitchFamily="34" charset="0"/>
              <a:cs typeface="Times New Roman" pitchFamily="18" charset="0"/>
            </a:endParaRPr>
          </a:p>
        </p:txBody>
      </p:sp>
      <p:sp>
        <p:nvSpPr>
          <p:cNvPr id="3" name="Content Placeholder 2">
            <a:extLst>
              <a:ext uri="{FF2B5EF4-FFF2-40B4-BE49-F238E27FC236}">
                <a16:creationId xmlns:a16="http://schemas.microsoft.com/office/drawing/2014/main" id="{C060374C-4D2D-9F29-FA7E-6E07DB865FE9}"/>
              </a:ext>
            </a:extLst>
          </p:cNvPr>
          <p:cNvSpPr>
            <a:spLocks noGrp="1"/>
          </p:cNvSpPr>
          <p:nvPr>
            <p:ph idx="1"/>
          </p:nvPr>
        </p:nvSpPr>
        <p:spPr>
          <a:xfrm>
            <a:off x="643986" y="1094253"/>
            <a:ext cx="11218460" cy="4036515"/>
          </a:xfrm>
        </p:spPr>
        <p:txBody>
          <a:bodyPr>
            <a:normAutofit fontScale="92500" lnSpcReduction="20000"/>
          </a:bodyPr>
          <a:lstStyle/>
          <a:p>
            <a:pPr algn="just">
              <a:lnSpc>
                <a:spcPct val="160000"/>
              </a:lnSpc>
              <a:spcBef>
                <a:spcPts val="0"/>
              </a:spcBef>
            </a:pPr>
            <a:r>
              <a:rPr lang="en-US" sz="2800" dirty="0">
                <a:latin typeface="Times New Roman" panose="02020603050405020304" pitchFamily="18" charset="0"/>
                <a:cs typeface="Times New Roman" panose="02020603050405020304" pitchFamily="18" charset="0"/>
              </a:rPr>
              <a:t>The essence of search in artificial intelligence (AI) revolves around systematically exploring a problem space to find a solution.</a:t>
            </a:r>
          </a:p>
          <a:p>
            <a:pPr algn="just">
              <a:lnSpc>
                <a:spcPct val="160000"/>
              </a:lnSpc>
              <a:spcBef>
                <a:spcPts val="0"/>
              </a:spcBef>
            </a:pPr>
            <a:r>
              <a:rPr lang="en-US" sz="2800" dirty="0">
                <a:latin typeface="Times New Roman" panose="02020603050405020304" pitchFamily="18" charset="0"/>
                <a:cs typeface="Times New Roman" panose="02020603050405020304" pitchFamily="18" charset="0"/>
              </a:rPr>
              <a:t>There are a finite number of states in a route-finding problem (20) – One for each city</a:t>
            </a:r>
          </a:p>
          <a:p>
            <a:pPr algn="just">
              <a:lnSpc>
                <a:spcPct val="160000"/>
              </a:lnSpc>
              <a:spcBef>
                <a:spcPts val="0"/>
              </a:spcBef>
            </a:pPr>
            <a:r>
              <a:rPr lang="en-US" sz="2800" dirty="0">
                <a:latin typeface="Times New Roman" panose="02020603050405020304" pitchFamily="18" charset="0"/>
                <a:cs typeface="Times New Roman" panose="02020603050405020304" pitchFamily="18" charset="0"/>
              </a:rPr>
              <a:t>There are an infinite number of paths in the state space</a:t>
            </a:r>
          </a:p>
          <a:p>
            <a:pPr algn="just">
              <a:lnSpc>
                <a:spcPct val="160000"/>
              </a:lnSpc>
              <a:spcBef>
                <a:spcPts val="0"/>
              </a:spcBef>
            </a:pPr>
            <a:r>
              <a:rPr lang="en-US" sz="2800" dirty="0">
                <a:latin typeface="Times New Roman" panose="02020603050405020304" pitchFamily="18" charset="0"/>
                <a:cs typeface="Times New Roman" panose="02020603050405020304" pitchFamily="18" charset="0"/>
              </a:rPr>
              <a:t>There can be loops in the paths which need to be avoided</a:t>
            </a:r>
          </a:p>
          <a:p>
            <a:pPr algn="just">
              <a:lnSpc>
                <a:spcPct val="160000"/>
              </a:lnSpc>
              <a:spcBef>
                <a:spcPts val="0"/>
              </a:spcBef>
            </a:pPr>
            <a:r>
              <a:rPr lang="en-US" sz="2800" dirty="0">
                <a:latin typeface="Times New Roman" panose="02020603050405020304" pitchFamily="18" charset="0"/>
                <a:cs typeface="Times New Roman" panose="02020603050405020304" pitchFamily="18" charset="0"/>
              </a:rPr>
              <a:t>A tree node is a search path, which means there are an infinite number of nodes</a:t>
            </a:r>
            <a:endParaRPr lang="en-IN" sz="5400" dirty="0">
              <a:latin typeface="Arial Black" panose="020B0A04020102020204" pitchFamily="34" charset="0"/>
            </a:endParaRPr>
          </a:p>
        </p:txBody>
      </p:sp>
      <p:sp>
        <p:nvSpPr>
          <p:cNvPr id="5" name="Date Placeholder 4"/>
          <p:cNvSpPr>
            <a:spLocks noGrp="1"/>
          </p:cNvSpPr>
          <p:nvPr>
            <p:ph type="dt" sz="half" idx="10"/>
          </p:nvPr>
        </p:nvSpPr>
        <p:spPr/>
        <p:txBody>
          <a:bodyPr/>
          <a:lstStyle/>
          <a:p>
            <a:fld id="{06D2E317-5E11-42B5-A226-7F0D8571D1AF}" type="datetime1">
              <a:rPr lang="en-US" smtClean="0"/>
              <a:t>8/18/2025</a:t>
            </a:fld>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t>3</a:t>
            </a:fld>
            <a:endParaRPr lang="en-IN"/>
          </a:p>
        </p:txBody>
      </p:sp>
    </p:spTree>
    <p:extLst>
      <p:ext uri="{BB962C8B-B14F-4D97-AF65-F5344CB8AC3E}">
        <p14:creationId xmlns:p14="http://schemas.microsoft.com/office/powerpoint/2010/main" val="1142128345"/>
      </p:ext>
    </p:extLst>
  </p:cSld>
  <p:clrMapOvr>
    <a:masterClrMapping/>
  </p:clrMapOvr>
  <mc:AlternateContent xmlns:mc="http://schemas.openxmlformats.org/markup-compatibility/2006" xmlns:p14="http://schemas.microsoft.com/office/powerpoint/2010/main">
    <mc:Choice Requires="p14">
      <p:transition spd="slow" p14:dur="2000" advTm="64810"/>
    </mc:Choice>
    <mc:Fallback xmlns="">
      <p:transition spd="slow" advTm="6481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3F2D49-72C0-1B82-1E85-AFF7E41005D6}"/>
              </a:ext>
            </a:extLst>
          </p:cNvPr>
          <p:cNvSpPr>
            <a:spLocks noGrp="1"/>
          </p:cNvSpPr>
          <p:nvPr>
            <p:ph type="title"/>
          </p:nvPr>
        </p:nvSpPr>
        <p:spPr/>
        <p:txBody>
          <a:bodyPr>
            <a:normAutofit/>
          </a:bodyPr>
          <a:lstStyle/>
          <a:p>
            <a:pPr algn="ctr">
              <a:buNone/>
            </a:pPr>
            <a:r>
              <a:rPr lang="en-IN" dirty="0">
                <a:latin typeface="Arial Black" panose="020B0A04020102020204" pitchFamily="34" charset="0"/>
              </a:rPr>
              <a:t>Process for searching</a:t>
            </a:r>
            <a:endParaRPr lang="en-US" sz="3200" b="1" dirty="0">
              <a:latin typeface="Arial Black" panose="020B0A04020102020204" pitchFamily="34" charset="0"/>
              <a:cs typeface="Times New Roman" pitchFamily="18" charset="0"/>
            </a:endParaRPr>
          </a:p>
        </p:txBody>
      </p:sp>
      <p:pic>
        <p:nvPicPr>
          <p:cNvPr id="7" name="Picture 2">
            <a:extLst>
              <a:ext uri="{FF2B5EF4-FFF2-40B4-BE49-F238E27FC236}">
                <a16:creationId xmlns:a16="http://schemas.microsoft.com/office/drawing/2014/main" id="{22C504FD-1B1F-0E20-4622-69021CCD8DF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79427" y="1853753"/>
            <a:ext cx="6905767" cy="41997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Date Placeholder 2"/>
          <p:cNvSpPr>
            <a:spLocks noGrp="1"/>
          </p:cNvSpPr>
          <p:nvPr>
            <p:ph type="dt" sz="half" idx="10"/>
          </p:nvPr>
        </p:nvSpPr>
        <p:spPr/>
        <p:txBody>
          <a:bodyPr/>
          <a:lstStyle/>
          <a:p>
            <a:fld id="{40C3DC4A-9D38-4945-8C48-BEE79883F307}" type="datetime1">
              <a:rPr lang="en-US" smtClean="0"/>
              <a:t>8/18/2025</a:t>
            </a:fld>
            <a:endParaRPr lang="en-IN" dirty="0"/>
          </a:p>
        </p:txBody>
      </p:sp>
      <p:sp>
        <p:nvSpPr>
          <p:cNvPr id="5" name="Slide Number Placeholder 4"/>
          <p:cNvSpPr>
            <a:spLocks noGrp="1"/>
          </p:cNvSpPr>
          <p:nvPr>
            <p:ph type="sldNum" sz="quarter" idx="12"/>
          </p:nvPr>
        </p:nvSpPr>
        <p:spPr/>
        <p:txBody>
          <a:bodyPr/>
          <a:lstStyle/>
          <a:p>
            <a:fld id="{CBABCCC1-BF11-4F37-963E-1BCD5B23FD72}" type="slidenum">
              <a:rPr lang="en-IN" smtClean="0"/>
              <a:t>4</a:t>
            </a:fld>
            <a:endParaRPr lang="en-IN"/>
          </a:p>
        </p:txBody>
      </p:sp>
    </p:spTree>
    <p:extLst>
      <p:ext uri="{BB962C8B-B14F-4D97-AF65-F5344CB8AC3E}">
        <p14:creationId xmlns:p14="http://schemas.microsoft.com/office/powerpoint/2010/main" val="878032494"/>
      </p:ext>
    </p:extLst>
  </p:cSld>
  <p:clrMapOvr>
    <a:masterClrMapping/>
  </p:clrMapOvr>
  <mc:AlternateContent xmlns:mc="http://schemas.openxmlformats.org/markup-compatibility/2006" xmlns:p14="http://schemas.microsoft.com/office/powerpoint/2010/main">
    <mc:Choice Requires="p14">
      <p:transition spd="slow" p14:dur="2000" advTm="27739"/>
    </mc:Choice>
    <mc:Fallback xmlns="">
      <p:transition spd="slow" advTm="27739"/>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6577" y="334350"/>
            <a:ext cx="5501640" cy="728096"/>
          </a:xfrm>
        </p:spPr>
        <p:txBody>
          <a:bodyPr>
            <a:normAutofit/>
          </a:bodyPr>
          <a:lstStyle/>
          <a:p>
            <a:r>
              <a:rPr lang="en-US" b="1" dirty="0"/>
              <a:t>Search Algorithms in AI</a:t>
            </a:r>
          </a:p>
        </p:txBody>
      </p:sp>
      <p:sp>
        <p:nvSpPr>
          <p:cNvPr id="3" name="Content Placeholder 2"/>
          <p:cNvSpPr>
            <a:spLocks noGrp="1"/>
          </p:cNvSpPr>
          <p:nvPr>
            <p:ph idx="1"/>
          </p:nvPr>
        </p:nvSpPr>
        <p:spPr>
          <a:xfrm>
            <a:off x="757646" y="1144875"/>
            <a:ext cx="11321143" cy="5576600"/>
          </a:xfrm>
        </p:spPr>
        <p:txBody>
          <a:bodyPr>
            <a:normAutofit fontScale="85000" lnSpcReduction="20000"/>
          </a:bodyPr>
          <a:lstStyle/>
          <a:p>
            <a:pPr algn="just">
              <a:lnSpc>
                <a:spcPct val="220000"/>
              </a:lnSpc>
              <a:buNone/>
            </a:pPr>
            <a:r>
              <a:rPr lang="en-US" sz="2400" b="1" i="1" dirty="0"/>
              <a:t>Artificial Intelligence </a:t>
            </a:r>
            <a:r>
              <a:rPr lang="en-US" sz="2400" dirty="0"/>
              <a:t>is the study of building agents that act rationally. Most of the time, these agents perform some kind of search algorithm in the background in order to achieve their tasks. </a:t>
            </a:r>
          </a:p>
          <a:p>
            <a:pPr>
              <a:lnSpc>
                <a:spcPct val="220000"/>
              </a:lnSpc>
            </a:pPr>
            <a:r>
              <a:rPr lang="en-US" dirty="0"/>
              <a:t>A search problem consists of: </a:t>
            </a:r>
            <a:br>
              <a:rPr lang="en-US" dirty="0"/>
            </a:br>
            <a:r>
              <a:rPr lang="en-US" b="1" dirty="0"/>
              <a:t>A State Space. </a:t>
            </a:r>
            <a:r>
              <a:rPr lang="en-US" dirty="0"/>
              <a:t>Set of all possible states where you can be.</a:t>
            </a:r>
          </a:p>
          <a:p>
            <a:pPr>
              <a:lnSpc>
                <a:spcPct val="220000"/>
              </a:lnSpc>
            </a:pPr>
            <a:r>
              <a:rPr lang="en-US" b="1" dirty="0"/>
              <a:t>A Start State. </a:t>
            </a:r>
            <a:r>
              <a:rPr lang="en-US" dirty="0"/>
              <a:t>The state from where the search begins.</a:t>
            </a:r>
          </a:p>
          <a:p>
            <a:pPr>
              <a:lnSpc>
                <a:spcPct val="220000"/>
              </a:lnSpc>
            </a:pPr>
            <a:r>
              <a:rPr lang="en-US" b="1" dirty="0"/>
              <a:t>A Goal State. </a:t>
            </a:r>
            <a:r>
              <a:rPr lang="en-US" dirty="0"/>
              <a:t>A function that looks at the current state returns whether or not it is the goal state.</a:t>
            </a:r>
          </a:p>
          <a:p>
            <a:pPr>
              <a:lnSpc>
                <a:spcPct val="220000"/>
              </a:lnSpc>
              <a:buNone/>
            </a:pPr>
            <a:endParaRPr lang="en-US" dirty="0"/>
          </a:p>
          <a:p>
            <a:pPr>
              <a:lnSpc>
                <a:spcPct val="220000"/>
              </a:lnSpc>
            </a:pPr>
            <a:endParaRPr lang="en-US" dirty="0"/>
          </a:p>
          <a:p>
            <a:pPr>
              <a:lnSpc>
                <a:spcPct val="220000"/>
              </a:lnSpc>
            </a:pPr>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5</a:t>
            </a:fld>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37476" y="136524"/>
            <a:ext cx="11262935" cy="6721475"/>
          </a:xfrm>
        </p:spPr>
        <p:txBody>
          <a:bodyPr>
            <a:normAutofit fontScale="92500" lnSpcReduction="10000"/>
          </a:bodyPr>
          <a:lstStyle/>
          <a:p>
            <a:pPr>
              <a:buNone/>
            </a:pPr>
            <a:r>
              <a:rPr lang="en-US" b="1" dirty="0"/>
              <a:t>CONTD..</a:t>
            </a:r>
          </a:p>
          <a:p>
            <a:pPr>
              <a:buNone/>
            </a:pPr>
            <a:endParaRPr lang="en-US" b="1" dirty="0"/>
          </a:p>
          <a:p>
            <a:pPr algn="just">
              <a:lnSpc>
                <a:spcPct val="150000"/>
              </a:lnSpc>
            </a:pPr>
            <a:r>
              <a:rPr lang="en-US" dirty="0"/>
              <a:t>The </a:t>
            </a:r>
            <a:r>
              <a:rPr lang="en-US" b="1" dirty="0"/>
              <a:t>Solution </a:t>
            </a:r>
            <a:r>
              <a:rPr lang="en-US" dirty="0"/>
              <a:t>to a search problem is a sequence of actions, called the </a:t>
            </a:r>
            <a:r>
              <a:rPr lang="en-US" b="1" dirty="0"/>
              <a:t>plan </a:t>
            </a:r>
            <a:r>
              <a:rPr lang="en-US" dirty="0"/>
              <a:t>that transforms the start state to the goal state. This plan is achieved through search algorithms.</a:t>
            </a:r>
          </a:p>
          <a:p>
            <a:pPr algn="just">
              <a:lnSpc>
                <a:spcPct val="150000"/>
              </a:lnSpc>
            </a:pPr>
            <a:r>
              <a:rPr lang="en-US" b="1" dirty="0"/>
              <a:t>Types of search algorithms: </a:t>
            </a:r>
          </a:p>
          <a:p>
            <a:pPr algn="just">
              <a:lnSpc>
                <a:spcPct val="150000"/>
              </a:lnSpc>
            </a:pPr>
            <a:r>
              <a:rPr lang="en-US" dirty="0"/>
              <a:t>There are far too many powerful search algorithms out there to fit in a single article. Instead, this article will discuss </a:t>
            </a:r>
            <a:r>
              <a:rPr lang="en-US" i="1" dirty="0"/>
              <a:t>six </a:t>
            </a:r>
            <a:r>
              <a:rPr lang="en-US" dirty="0"/>
              <a:t>of the fundamental search algorithms, divided into </a:t>
            </a:r>
            <a:r>
              <a:rPr lang="en-US" i="1" dirty="0"/>
              <a:t>two </a:t>
            </a:r>
            <a:r>
              <a:rPr lang="en-US" dirty="0"/>
              <a:t>categories.</a:t>
            </a:r>
          </a:p>
          <a:p>
            <a:pPr algn="just">
              <a:lnSpc>
                <a:spcPct val="150000"/>
              </a:lnSpc>
              <a:buNone/>
            </a:pPr>
            <a:r>
              <a:rPr lang="en-US" dirty="0">
                <a:latin typeface="Times New Roman" pitchFamily="18" charset="0"/>
                <a:cs typeface="Times New Roman" pitchFamily="18" charset="0"/>
              </a:rPr>
              <a:t>   1. Uninformed Search</a:t>
            </a:r>
          </a:p>
          <a:p>
            <a:pPr algn="just">
              <a:lnSpc>
                <a:spcPct val="150000"/>
              </a:lnSpc>
              <a:buNone/>
            </a:pPr>
            <a:r>
              <a:rPr lang="en-US" dirty="0">
                <a:latin typeface="Times New Roman" pitchFamily="18" charset="0"/>
                <a:cs typeface="Times New Roman" pitchFamily="18" charset="0"/>
              </a:rPr>
              <a:t>   2. Informed Search</a:t>
            </a:r>
          </a:p>
        </p:txBody>
      </p:sp>
      <p:sp>
        <p:nvSpPr>
          <p:cNvPr id="4" name="Slide Number Placeholder 3"/>
          <p:cNvSpPr>
            <a:spLocks noGrp="1"/>
          </p:cNvSpPr>
          <p:nvPr>
            <p:ph type="sldNum" sz="quarter" idx="12"/>
          </p:nvPr>
        </p:nvSpPr>
        <p:spPr/>
        <p:txBody>
          <a:bodyPr/>
          <a:lstStyle/>
          <a:p>
            <a:fld id="{CBABCCC1-BF11-4F37-963E-1BCD5B23FD72}" type="slidenum">
              <a:rPr lang="en-IN" smtClean="0"/>
              <a:pPr/>
              <a:t>6</a:t>
            </a:fld>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3F2D49-72C0-1B82-1E85-AFF7E41005D6}"/>
              </a:ext>
            </a:extLst>
          </p:cNvPr>
          <p:cNvSpPr>
            <a:spLocks noGrp="1"/>
          </p:cNvSpPr>
          <p:nvPr>
            <p:ph type="title"/>
          </p:nvPr>
        </p:nvSpPr>
        <p:spPr>
          <a:xfrm>
            <a:off x="1419367" y="1187355"/>
            <a:ext cx="9744502" cy="666399"/>
          </a:xfrm>
        </p:spPr>
        <p:txBody>
          <a:bodyPr>
            <a:normAutofit/>
          </a:bodyPr>
          <a:lstStyle/>
          <a:p>
            <a:pPr algn="ctr">
              <a:buNone/>
            </a:pPr>
            <a:r>
              <a:rPr lang="en-US" sz="2800" b="1" dirty="0">
                <a:latin typeface="Arial Black" panose="020B0A04020102020204" pitchFamily="34" charset="0"/>
                <a:cs typeface="Times New Roman" pitchFamily="18" charset="0"/>
              </a:rPr>
              <a:t>Measuring problem-solving performance</a:t>
            </a:r>
          </a:p>
        </p:txBody>
      </p:sp>
      <p:sp>
        <p:nvSpPr>
          <p:cNvPr id="5" name="TextBox 4">
            <a:extLst>
              <a:ext uri="{FF2B5EF4-FFF2-40B4-BE49-F238E27FC236}">
                <a16:creationId xmlns:a16="http://schemas.microsoft.com/office/drawing/2014/main" id="{E15225E7-10CE-A5A5-E0D6-8CBBDDB2D8B0}"/>
              </a:ext>
            </a:extLst>
          </p:cNvPr>
          <p:cNvSpPr txBox="1"/>
          <p:nvPr/>
        </p:nvSpPr>
        <p:spPr>
          <a:xfrm>
            <a:off x="1028131" y="1853754"/>
            <a:ext cx="10810430" cy="3892861"/>
          </a:xfrm>
          <a:prstGeom prst="rect">
            <a:avLst/>
          </a:prstGeom>
          <a:noFill/>
        </p:spPr>
        <p:txBody>
          <a:bodyPr wrap="square">
            <a:spAutoFit/>
          </a:bodyPr>
          <a:lstStyle/>
          <a:p>
            <a:pPr marL="457200" marR="0" lvl="0" indent="-457200" algn="just"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8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Completeness: </a:t>
            </a:r>
            <a:r>
              <a:rPr kumimoji="0" lang="en-US" sz="2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Is the algorithm guaranteed to find a solution when there is one? </a:t>
            </a:r>
          </a:p>
          <a:p>
            <a:pPr marL="457200" marR="0" lvl="0" indent="-457200" algn="just"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8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Optimality: </a:t>
            </a:r>
            <a:r>
              <a:rPr kumimoji="0" lang="en-US" sz="2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Does the strategy find the optimal solution</a:t>
            </a:r>
          </a:p>
          <a:p>
            <a:pPr marL="457200" marR="0" lvl="0" indent="-457200" algn="just"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8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Time complexity: </a:t>
            </a:r>
            <a:r>
              <a:rPr kumimoji="0" lang="en-US" sz="2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How long does it take to find a solution? </a:t>
            </a:r>
          </a:p>
          <a:p>
            <a:pPr marL="457200" marR="0" lvl="0" indent="-457200" algn="just"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8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Space complexity: </a:t>
            </a:r>
            <a:r>
              <a:rPr kumimoji="0" lang="en-US" sz="2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How much memory is needed to perform the search? </a:t>
            </a:r>
          </a:p>
        </p:txBody>
      </p:sp>
      <p:sp>
        <p:nvSpPr>
          <p:cNvPr id="3" name="Date Placeholder 2"/>
          <p:cNvSpPr>
            <a:spLocks noGrp="1"/>
          </p:cNvSpPr>
          <p:nvPr>
            <p:ph type="dt" sz="half" idx="10"/>
          </p:nvPr>
        </p:nvSpPr>
        <p:spPr/>
        <p:txBody>
          <a:bodyPr/>
          <a:lstStyle/>
          <a:p>
            <a:fld id="{9D0C09E9-4E53-4FD3-A0E5-C1AE8A37A081}" type="datetime1">
              <a:rPr lang="en-US" smtClean="0"/>
              <a:t>8/18/2025</a:t>
            </a:fld>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t>7</a:t>
            </a:fld>
            <a:endParaRPr lang="en-IN"/>
          </a:p>
        </p:txBody>
      </p:sp>
    </p:spTree>
    <p:extLst>
      <p:ext uri="{BB962C8B-B14F-4D97-AF65-F5344CB8AC3E}">
        <p14:creationId xmlns:p14="http://schemas.microsoft.com/office/powerpoint/2010/main" val="1834127588"/>
      </p:ext>
    </p:extLst>
  </p:cSld>
  <p:clrMapOvr>
    <a:masterClrMapping/>
  </p:clrMapOvr>
  <mc:AlternateContent xmlns:mc="http://schemas.openxmlformats.org/markup-compatibility/2006" xmlns:p14="http://schemas.microsoft.com/office/powerpoint/2010/main">
    <mc:Choice Requires="p14">
      <p:transition spd="slow" p14:dur="2000" advTm="86113"/>
    </mc:Choice>
    <mc:Fallback xmlns="">
      <p:transition spd="slow" advTm="86113"/>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3F2D49-72C0-1B82-1E85-AFF7E41005D6}"/>
              </a:ext>
            </a:extLst>
          </p:cNvPr>
          <p:cNvSpPr>
            <a:spLocks noGrp="1"/>
          </p:cNvSpPr>
          <p:nvPr>
            <p:ph type="title"/>
          </p:nvPr>
        </p:nvSpPr>
        <p:spPr>
          <a:xfrm>
            <a:off x="1282891" y="1155351"/>
            <a:ext cx="9771964" cy="698403"/>
          </a:xfrm>
        </p:spPr>
        <p:txBody>
          <a:bodyPr>
            <a:normAutofit/>
          </a:bodyPr>
          <a:lstStyle/>
          <a:p>
            <a:pPr algn="ctr">
              <a:buNone/>
            </a:pPr>
            <a:r>
              <a:rPr lang="en-US" sz="2800" b="1" dirty="0">
                <a:latin typeface="Arial Black" panose="020B0A04020102020204" pitchFamily="34" charset="0"/>
                <a:cs typeface="Times New Roman" pitchFamily="18" charset="0"/>
              </a:rPr>
              <a:t>Measuring problem-solving performance</a:t>
            </a:r>
          </a:p>
        </p:txBody>
      </p:sp>
      <p:sp>
        <p:nvSpPr>
          <p:cNvPr id="5" name="TextBox 4">
            <a:extLst>
              <a:ext uri="{FF2B5EF4-FFF2-40B4-BE49-F238E27FC236}">
                <a16:creationId xmlns:a16="http://schemas.microsoft.com/office/drawing/2014/main" id="{E15225E7-10CE-A5A5-E0D6-8CBBDDB2D8B0}"/>
              </a:ext>
            </a:extLst>
          </p:cNvPr>
          <p:cNvSpPr txBox="1"/>
          <p:nvPr/>
        </p:nvSpPr>
        <p:spPr>
          <a:xfrm>
            <a:off x="955343" y="1853754"/>
            <a:ext cx="10883218" cy="4539191"/>
          </a:xfrm>
          <a:prstGeom prst="rect">
            <a:avLst/>
          </a:prstGeom>
          <a:noFill/>
        </p:spPr>
        <p:txBody>
          <a:bodyPr wrap="square">
            <a:spAutoFit/>
          </a:bodyPr>
          <a:lstStyle/>
          <a:p>
            <a:pPr marL="457200" marR="0" lvl="0" indent="-457200" algn="just"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8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Path cost: </a:t>
            </a:r>
            <a:r>
              <a:rPr kumimoji="0" lang="en-US" sz="2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How much does it cost? </a:t>
            </a:r>
          </a:p>
          <a:p>
            <a:pPr marL="457200" marR="0" lvl="0" indent="-457200" algn="just"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8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Search space size: </a:t>
            </a:r>
            <a:r>
              <a:rPr kumimoji="0" lang="en-US" sz="2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How many states does it involve</a:t>
            </a:r>
          </a:p>
          <a:p>
            <a:pPr marL="457200" marR="0" lvl="0" indent="-457200" algn="just"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8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Number of states explored: </a:t>
            </a:r>
            <a:r>
              <a:rPr kumimoji="0" lang="en-US" sz="2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Explain the extent of the search effort</a:t>
            </a:r>
          </a:p>
          <a:p>
            <a:pPr marL="457200" marR="0" lvl="0" indent="-457200" algn="just"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8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Heuristic Evaluation: </a:t>
            </a:r>
            <a:r>
              <a:rPr kumimoji="0" lang="en-US" sz="2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Effectiveness of heuristics? </a:t>
            </a:r>
          </a:p>
          <a:p>
            <a:pPr marL="457200" marR="0" lvl="0" indent="-45720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8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Search Path Length: </a:t>
            </a:r>
            <a:r>
              <a:rPr kumimoji="0" lang="en-US" sz="2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Number of steps or actions involved in generating the solution? </a:t>
            </a:r>
          </a:p>
          <a:p>
            <a:pPr marL="457200" marR="0" lvl="0" indent="-45720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8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Search Depth or Breadth: </a:t>
            </a:r>
            <a:r>
              <a:rPr kumimoji="0" lang="en-US" sz="2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The largest breadth and depth of the search</a:t>
            </a:r>
          </a:p>
          <a:p>
            <a:pPr marL="457200" marR="0" lvl="0" indent="-457200" algn="just"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endParaRPr kumimoji="0" lang="en-US" sz="2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3" name="Date Placeholder 2"/>
          <p:cNvSpPr>
            <a:spLocks noGrp="1"/>
          </p:cNvSpPr>
          <p:nvPr>
            <p:ph type="dt" sz="half" idx="10"/>
          </p:nvPr>
        </p:nvSpPr>
        <p:spPr/>
        <p:txBody>
          <a:bodyPr/>
          <a:lstStyle/>
          <a:p>
            <a:fld id="{DE245422-15BE-4D25-B839-9076E51A93FF}" type="datetime1">
              <a:rPr lang="en-US" smtClean="0"/>
              <a:t>8/18/2025</a:t>
            </a:fld>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t>8</a:t>
            </a:fld>
            <a:endParaRPr lang="en-IN"/>
          </a:p>
        </p:txBody>
      </p:sp>
    </p:spTree>
    <p:extLst>
      <p:ext uri="{BB962C8B-B14F-4D97-AF65-F5344CB8AC3E}">
        <p14:creationId xmlns:p14="http://schemas.microsoft.com/office/powerpoint/2010/main" val="1838280106"/>
      </p:ext>
    </p:extLst>
  </p:cSld>
  <p:clrMapOvr>
    <a:masterClrMapping/>
  </p:clrMapOvr>
  <mc:AlternateContent xmlns:mc="http://schemas.openxmlformats.org/markup-compatibility/2006" xmlns:p14="http://schemas.microsoft.com/office/powerpoint/2010/main">
    <mc:Choice Requires="p14">
      <p:transition spd="slow" p14:dur="2000" advTm="42650"/>
    </mc:Choice>
    <mc:Fallback xmlns="">
      <p:transition spd="slow" advTm="4265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CONTD..</a:t>
            </a:r>
            <a:endParaRPr lang="en-IN"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9</a:t>
            </a:fld>
            <a:endParaRPr lang="en-IN" dirty="0"/>
          </a:p>
        </p:txBody>
      </p:sp>
      <p:pic>
        <p:nvPicPr>
          <p:cNvPr id="1026" name="Picture 2"/>
          <p:cNvPicPr>
            <a:picLocks noGrp="1" noChangeAspect="1" noChangeArrowheads="1"/>
          </p:cNvPicPr>
          <p:nvPr>
            <p:ph idx="1"/>
          </p:nvPr>
        </p:nvPicPr>
        <p:blipFill>
          <a:blip r:embed="rId2" cstate="print"/>
          <a:srcRect/>
          <a:stretch>
            <a:fillRect/>
          </a:stretch>
        </p:blipFill>
        <p:spPr bwMode="auto">
          <a:xfrm>
            <a:off x="1266092" y="1852246"/>
            <a:ext cx="9812216" cy="4173415"/>
          </a:xfrm>
          <a:prstGeom prst="rect">
            <a:avLst/>
          </a:prstGeom>
          <a:noFill/>
          <a:ln w="9525">
            <a:noFill/>
            <a:miter lim="800000"/>
            <a:headEnd/>
            <a:tailEnd/>
          </a:ln>
        </p:spPr>
      </p:pic>
    </p:spTree>
    <p:extLst>
      <p:ext uri="{BB962C8B-B14F-4D97-AF65-F5344CB8AC3E}">
        <p14:creationId xmlns:p14="http://schemas.microsoft.com/office/powerpoint/2010/main" val="24113230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30629"/>
            <a:ext cx="10515600" cy="1325563"/>
          </a:xfrm>
        </p:spPr>
        <p:txBody>
          <a:bodyPr>
            <a:normAutofit/>
          </a:bodyPr>
          <a:lstStyle/>
          <a:p>
            <a:r>
              <a:rPr lang="en-US" sz="3200" dirty="0"/>
              <a:t>Uninformed Search Algorithms: </a:t>
            </a:r>
          </a:p>
        </p:txBody>
      </p:sp>
      <p:sp>
        <p:nvSpPr>
          <p:cNvPr id="3" name="Content Placeholder 2"/>
          <p:cNvSpPr>
            <a:spLocks noGrp="1"/>
          </p:cNvSpPr>
          <p:nvPr>
            <p:ph idx="1"/>
          </p:nvPr>
        </p:nvSpPr>
        <p:spPr>
          <a:xfrm>
            <a:off x="252550" y="787457"/>
            <a:ext cx="11547564" cy="6484200"/>
          </a:xfrm>
        </p:spPr>
        <p:txBody>
          <a:bodyPr>
            <a:normAutofit fontScale="77500" lnSpcReduction="20000"/>
          </a:bodyPr>
          <a:lstStyle/>
          <a:p>
            <a:pPr algn="just">
              <a:lnSpc>
                <a:spcPct val="150000"/>
              </a:lnSpc>
            </a:pPr>
            <a:r>
              <a:rPr lang="en-US" sz="3400" dirty="0"/>
              <a:t> The search algorithms </a:t>
            </a:r>
            <a:r>
              <a:rPr lang="en-US" sz="3400" b="1" dirty="0">
                <a:solidFill>
                  <a:srgbClr val="C00000"/>
                </a:solidFill>
              </a:rPr>
              <a:t>have no additional information on the goal node </a:t>
            </a:r>
            <a:r>
              <a:rPr lang="en-US" sz="3400" dirty="0"/>
              <a:t>other than the one provided in the problem definition. </a:t>
            </a:r>
          </a:p>
          <a:p>
            <a:pPr algn="just">
              <a:lnSpc>
                <a:spcPct val="150000"/>
              </a:lnSpc>
            </a:pPr>
            <a:r>
              <a:rPr lang="en-US" sz="3100" dirty="0"/>
              <a:t>The plans to reach the goal state from the start state differ only </a:t>
            </a:r>
            <a:r>
              <a:rPr lang="en-US" sz="3400" b="1" dirty="0">
                <a:solidFill>
                  <a:srgbClr val="C00000"/>
                </a:solidFill>
              </a:rPr>
              <a:t>by the order and/or length of actions. </a:t>
            </a:r>
          </a:p>
          <a:p>
            <a:pPr algn="just">
              <a:lnSpc>
                <a:spcPct val="150000"/>
              </a:lnSpc>
            </a:pPr>
            <a:r>
              <a:rPr lang="en-US" sz="3100" dirty="0"/>
              <a:t>Uninformed search is also called </a:t>
            </a:r>
            <a:r>
              <a:rPr lang="en-US" sz="3400" b="1" dirty="0">
                <a:solidFill>
                  <a:srgbClr val="C00000"/>
                </a:solidFill>
              </a:rPr>
              <a:t>Blind search. </a:t>
            </a:r>
          </a:p>
          <a:p>
            <a:pPr algn="just">
              <a:lnSpc>
                <a:spcPct val="150000"/>
              </a:lnSpc>
            </a:pPr>
            <a:r>
              <a:rPr lang="en-US" sz="3100" dirty="0"/>
              <a:t>These algorithms can only </a:t>
            </a:r>
            <a:r>
              <a:rPr lang="en-US" sz="3400" b="1" dirty="0">
                <a:solidFill>
                  <a:srgbClr val="C00000"/>
                </a:solidFill>
              </a:rPr>
              <a:t>generate the successors and differentiate between the goal state and non goal state.</a:t>
            </a:r>
          </a:p>
          <a:p>
            <a:pPr algn="just">
              <a:lnSpc>
                <a:spcPct val="150000"/>
              </a:lnSpc>
            </a:pPr>
            <a:r>
              <a:rPr lang="en-US" sz="3100" dirty="0"/>
              <a:t>uninformed search is often </a:t>
            </a:r>
            <a:r>
              <a:rPr lang="en-US" sz="3400" b="1" dirty="0">
                <a:solidFill>
                  <a:srgbClr val="C00000"/>
                </a:solidFill>
              </a:rPr>
              <a:t>used when the solution space is large</a:t>
            </a:r>
            <a:r>
              <a:rPr lang="en-US" sz="3100" dirty="0"/>
              <a:t>, </a:t>
            </a:r>
          </a:p>
          <a:p>
            <a:pPr algn="just">
              <a:lnSpc>
                <a:spcPct val="150000"/>
              </a:lnSpc>
            </a:pPr>
            <a:r>
              <a:rPr lang="en-US" sz="3100" dirty="0"/>
              <a:t>uninformed search algorithms play an </a:t>
            </a:r>
            <a:r>
              <a:rPr lang="en-US" sz="3400" b="1" dirty="0">
                <a:solidFill>
                  <a:srgbClr val="C00000"/>
                </a:solidFill>
              </a:rPr>
              <a:t>important role in solving fundamental AI tasks, especially when no prior knowledge about the solution is available.</a:t>
            </a:r>
          </a:p>
          <a:p>
            <a:pPr>
              <a:buNone/>
            </a:pPr>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10</a:t>
            </a:fld>
            <a:endParaRPr lang="en-I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42871" y="464569"/>
            <a:ext cx="9603275" cy="4302369"/>
          </a:xfrm>
        </p:spPr>
        <p:txBody>
          <a:bodyPr>
            <a:normAutofit lnSpcReduction="10000"/>
          </a:bodyPr>
          <a:lstStyle/>
          <a:p>
            <a:pPr>
              <a:lnSpc>
                <a:spcPct val="150000"/>
              </a:lnSpc>
              <a:buNone/>
            </a:pPr>
            <a:r>
              <a:rPr lang="en-US" dirty="0"/>
              <a:t>The following uninformed search algorithms are discussed in this section.</a:t>
            </a:r>
          </a:p>
          <a:p>
            <a:pPr>
              <a:lnSpc>
                <a:spcPct val="150000"/>
              </a:lnSpc>
            </a:pPr>
            <a:r>
              <a:rPr lang="en-US" dirty="0"/>
              <a:t>Depth First Search</a:t>
            </a:r>
          </a:p>
          <a:p>
            <a:pPr>
              <a:lnSpc>
                <a:spcPct val="150000"/>
              </a:lnSpc>
            </a:pPr>
            <a:r>
              <a:rPr lang="en-US" dirty="0"/>
              <a:t>Breadth First Search</a:t>
            </a:r>
          </a:p>
          <a:p>
            <a:pPr>
              <a:lnSpc>
                <a:spcPct val="150000"/>
              </a:lnSpc>
            </a:pPr>
            <a:r>
              <a:rPr lang="en-US" dirty="0"/>
              <a:t>Uniform Cost Search</a:t>
            </a:r>
          </a:p>
          <a:p>
            <a:pPr>
              <a:lnSpc>
                <a:spcPct val="150000"/>
              </a:lnSpc>
            </a:pPr>
            <a:r>
              <a:rPr lang="en-US" dirty="0"/>
              <a:t>Iterative Deepening Search (IDS)</a:t>
            </a:r>
          </a:p>
          <a:p>
            <a:pPr>
              <a:buNone/>
            </a:pPr>
            <a:endParaRPr lang="en-US" dirty="0"/>
          </a:p>
          <a:p>
            <a:pPr>
              <a:buNone/>
            </a:pPr>
            <a:endParaRPr lang="en-US" dirty="0"/>
          </a:p>
          <a:p>
            <a:endParaRPr lang="en-US" dirty="0"/>
          </a:p>
          <a:p>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11</a:t>
            </a:fld>
            <a:endParaRPr lang="en-I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CONTD..</a:t>
            </a:r>
          </a:p>
        </p:txBody>
      </p:sp>
      <p:sp>
        <p:nvSpPr>
          <p:cNvPr id="3" name="Content Placeholder 2"/>
          <p:cNvSpPr>
            <a:spLocks noGrp="1"/>
          </p:cNvSpPr>
          <p:nvPr>
            <p:ph idx="1"/>
          </p:nvPr>
        </p:nvSpPr>
        <p:spPr/>
        <p:txBody>
          <a:bodyPr/>
          <a:lstStyle/>
          <a:p>
            <a:pPr>
              <a:buNone/>
            </a:pPr>
            <a:r>
              <a:rPr lang="en-US" b="1" dirty="0"/>
              <a:t>Each of these algorithms will have: </a:t>
            </a:r>
          </a:p>
          <a:p>
            <a:r>
              <a:rPr lang="en-US" dirty="0"/>
              <a:t>A problem </a:t>
            </a:r>
            <a:r>
              <a:rPr lang="en-US" b="1" dirty="0"/>
              <a:t>graph, </a:t>
            </a:r>
            <a:r>
              <a:rPr lang="en-US" dirty="0"/>
              <a:t>containing the start node S and the goal node G.</a:t>
            </a:r>
          </a:p>
          <a:p>
            <a:r>
              <a:rPr lang="en-US" dirty="0"/>
              <a:t>A </a:t>
            </a:r>
            <a:r>
              <a:rPr lang="en-US" b="1" dirty="0"/>
              <a:t>strategy, </a:t>
            </a:r>
            <a:r>
              <a:rPr lang="en-US" dirty="0"/>
              <a:t>describing the manner in which the graph will be traversed to get to G.</a:t>
            </a:r>
          </a:p>
          <a:p>
            <a:r>
              <a:rPr lang="en-US" dirty="0"/>
              <a:t>A </a:t>
            </a:r>
            <a:r>
              <a:rPr lang="en-US" b="1" dirty="0"/>
              <a:t>fringe, </a:t>
            </a:r>
            <a:r>
              <a:rPr lang="en-US" dirty="0"/>
              <a:t>which is a data structure used to store all the possible states (nodes) that you can go from the current states.</a:t>
            </a:r>
          </a:p>
          <a:p>
            <a:r>
              <a:rPr lang="en-US" dirty="0"/>
              <a:t>A </a:t>
            </a:r>
            <a:r>
              <a:rPr lang="en-US" b="1" dirty="0"/>
              <a:t>tree, </a:t>
            </a:r>
            <a:r>
              <a:rPr lang="en-US" dirty="0"/>
              <a:t>that results while traversing to the goal node.</a:t>
            </a:r>
          </a:p>
          <a:p>
            <a:r>
              <a:rPr lang="en-US" dirty="0"/>
              <a:t>A solution </a:t>
            </a:r>
            <a:r>
              <a:rPr lang="en-US" b="1" dirty="0"/>
              <a:t>plan, </a:t>
            </a:r>
            <a:r>
              <a:rPr lang="en-US" dirty="0"/>
              <a:t>which the sequence of nodes from S to G.</a:t>
            </a:r>
          </a:p>
        </p:txBody>
      </p:sp>
      <p:sp>
        <p:nvSpPr>
          <p:cNvPr id="4" name="Slide Number Placeholder 3"/>
          <p:cNvSpPr>
            <a:spLocks noGrp="1"/>
          </p:cNvSpPr>
          <p:nvPr>
            <p:ph type="sldNum" sz="quarter" idx="12"/>
          </p:nvPr>
        </p:nvSpPr>
        <p:spPr/>
        <p:txBody>
          <a:bodyPr/>
          <a:lstStyle/>
          <a:p>
            <a:fld id="{CBABCCC1-BF11-4F37-963E-1BCD5B23FD72}" type="slidenum">
              <a:rPr lang="en-IN" smtClean="0"/>
              <a:pPr/>
              <a:t>12</a:t>
            </a:fld>
            <a:endParaRPr lang="en-IN"/>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10194" y="816243"/>
            <a:ext cx="9603275" cy="1049235"/>
          </a:xfrm>
        </p:spPr>
        <p:txBody>
          <a:bodyPr>
            <a:normAutofit fontScale="90000"/>
          </a:bodyPr>
          <a:lstStyle/>
          <a:p>
            <a:r>
              <a:rPr lang="en-US" b="1" dirty="0"/>
              <a:t>Depth-First Search (DFS)</a:t>
            </a:r>
            <a:br>
              <a:rPr lang="en-US" b="1" dirty="0"/>
            </a:br>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13</a:t>
            </a:fld>
            <a:endParaRPr lang="en-IN"/>
          </a:p>
        </p:txBody>
      </p:sp>
      <p:pic>
        <p:nvPicPr>
          <p:cNvPr id="8" name="Content Placeholder 7">
            <a:extLst>
              <a:ext uri="{FF2B5EF4-FFF2-40B4-BE49-F238E27FC236}">
                <a16:creationId xmlns:a16="http://schemas.microsoft.com/office/drawing/2014/main" id="{23D91213-0F0A-0FB0-7680-53AA9DCFC0C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920331" y="1825625"/>
            <a:ext cx="4351338" cy="4351338"/>
          </a:xfr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6645EA-B456-5593-2829-44734C59DCE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9922D53-8A39-B072-F65C-46C8CCC90E0F}"/>
              </a:ext>
            </a:extLst>
          </p:cNvPr>
          <p:cNvSpPr>
            <a:spLocks noGrp="1"/>
          </p:cNvSpPr>
          <p:nvPr>
            <p:ph idx="1"/>
          </p:nvPr>
        </p:nvSpPr>
        <p:spPr/>
        <p:txBody>
          <a:bodyPr/>
          <a:lstStyle/>
          <a:p>
            <a:endParaRPr lang="en-IN"/>
          </a:p>
        </p:txBody>
      </p:sp>
      <p:pic>
        <p:nvPicPr>
          <p:cNvPr id="1026" name="Picture 2" descr="Uninformed Search Algorithms DFS">
            <a:extLst>
              <a:ext uri="{FF2B5EF4-FFF2-40B4-BE49-F238E27FC236}">
                <a16:creationId xmlns:a16="http://schemas.microsoft.com/office/drawing/2014/main" id="{10F8F8C6-504D-5F43-960C-3FA4212E9C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00500" y="1285875"/>
            <a:ext cx="4191000" cy="4286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55624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1579" y="687288"/>
            <a:ext cx="9603275" cy="1049235"/>
          </a:xfrm>
        </p:spPr>
        <p:txBody>
          <a:bodyPr>
            <a:normAutofit fontScale="90000"/>
          </a:bodyPr>
          <a:lstStyle/>
          <a:p>
            <a:r>
              <a:rPr lang="en-US" dirty="0"/>
              <a:t>CONTD..</a:t>
            </a:r>
            <a:br>
              <a:rPr lang="en-US" dirty="0"/>
            </a:br>
            <a:r>
              <a:rPr lang="en-US" b="1" dirty="0"/>
              <a:t> Algorithm </a:t>
            </a:r>
            <a:r>
              <a:rPr lang="en-US" b="1" dirty="0" err="1"/>
              <a:t>Pseudocode</a:t>
            </a:r>
            <a:r>
              <a:rPr lang="en-US" b="1" dirty="0"/>
              <a:t>: </a:t>
            </a:r>
            <a:br>
              <a:rPr lang="en-US" dirty="0"/>
            </a:br>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15</a:t>
            </a:fld>
            <a:endParaRPr lang="en-IN"/>
          </a:p>
        </p:txBody>
      </p:sp>
      <p:sp>
        <p:nvSpPr>
          <p:cNvPr id="5" name="Content Placeholder 4"/>
          <p:cNvSpPr>
            <a:spLocks noGrp="1"/>
          </p:cNvSpPr>
          <p:nvPr>
            <p:ph idx="1"/>
          </p:nvPr>
        </p:nvSpPr>
        <p:spPr>
          <a:xfrm>
            <a:off x="1451579" y="2015732"/>
            <a:ext cx="9603275" cy="4056822"/>
          </a:xfrm>
        </p:spPr>
        <p:txBody>
          <a:bodyPr>
            <a:normAutofit fontScale="92500" lnSpcReduction="10000"/>
          </a:bodyPr>
          <a:lstStyle/>
          <a:p>
            <a:r>
              <a:rPr lang="en-US" dirty="0"/>
              <a:t>1. Initialize an empty stack and push the root node onto it. </a:t>
            </a:r>
          </a:p>
          <a:p>
            <a:r>
              <a:rPr lang="en-US" dirty="0"/>
              <a:t>2. While the stack is not empty:     </a:t>
            </a:r>
          </a:p>
          <a:p>
            <a:pPr>
              <a:buNone/>
            </a:pPr>
            <a:r>
              <a:rPr lang="en-US" dirty="0"/>
              <a:t>     a. Pop the top node.     </a:t>
            </a:r>
          </a:p>
          <a:p>
            <a:pPr>
              <a:buNone/>
            </a:pPr>
            <a:r>
              <a:rPr lang="en-US" dirty="0"/>
              <a:t>     b. If this node is the goal, return the solution.    </a:t>
            </a:r>
          </a:p>
          <a:p>
            <a:pPr>
              <a:buNone/>
            </a:pPr>
            <a:r>
              <a:rPr lang="en-US" dirty="0"/>
              <a:t>     c. Else, push all unvisited neighboring nodes onto the stack. </a:t>
            </a:r>
          </a:p>
          <a:p>
            <a:r>
              <a:rPr lang="en-US" dirty="0"/>
              <a:t>3. Repeat the process until the goal is found or the stack is empty.</a:t>
            </a:r>
          </a:p>
          <a:p>
            <a:pPr>
              <a:buNone/>
            </a:pPr>
            <a:r>
              <a:rPr lang="en-US" b="1" dirty="0"/>
              <a:t>Example</a:t>
            </a:r>
            <a:endParaRPr lang="en-US" dirty="0"/>
          </a:p>
          <a:p>
            <a:pPr>
              <a:buNone/>
            </a:pPr>
            <a:r>
              <a:rPr lang="en-US" dirty="0"/>
              <a:t>Traversing a binary tree</a:t>
            </a:r>
          </a:p>
          <a:p>
            <a:r>
              <a:rPr lang="en-US" dirty="0"/>
              <a:t>Consider the following binary tree:</a:t>
            </a:r>
          </a:p>
          <a:p>
            <a:pPr>
              <a:buNone/>
            </a:pP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0788" y="190954"/>
            <a:ext cx="6457989" cy="764980"/>
          </a:xfrm>
        </p:spPr>
        <p:txBody>
          <a:bodyPr>
            <a:normAutofit/>
          </a:bodyPr>
          <a:lstStyle/>
          <a:p>
            <a:r>
              <a:rPr lang="en-US" dirty="0"/>
              <a:t>Time and space complexity </a:t>
            </a:r>
            <a:endParaRPr lang="en-IN" dirty="0"/>
          </a:p>
        </p:txBody>
      </p:sp>
      <p:sp>
        <p:nvSpPr>
          <p:cNvPr id="3" name="Content Placeholder 2"/>
          <p:cNvSpPr>
            <a:spLocks noGrp="1"/>
          </p:cNvSpPr>
          <p:nvPr>
            <p:ph idx="1"/>
          </p:nvPr>
        </p:nvSpPr>
        <p:spPr>
          <a:xfrm>
            <a:off x="614313" y="955934"/>
            <a:ext cx="10963373" cy="4315406"/>
          </a:xfrm>
        </p:spPr>
        <p:txBody>
          <a:bodyPr>
            <a:noAutofit/>
          </a:bodyPr>
          <a:lstStyle/>
          <a:p>
            <a:r>
              <a:rPr lang="en-US" sz="2400" b="1" dirty="0"/>
              <a:t>Time Complexity:</a:t>
            </a:r>
            <a:endParaRPr lang="en-US" sz="2400" dirty="0"/>
          </a:p>
          <a:p>
            <a:r>
              <a:rPr lang="en-US" sz="2400" dirty="0"/>
              <a:t>In the worst-case scenario, DFS has a time complexity of </a:t>
            </a:r>
            <a:r>
              <a:rPr lang="en-US" sz="2400" b="1" dirty="0">
                <a:solidFill>
                  <a:srgbClr val="C00000"/>
                </a:solidFill>
              </a:rPr>
              <a:t>O(∣V∣+∣E∣)</a:t>
            </a:r>
            <a:r>
              <a:rPr lang="en-US" sz="2400" dirty="0"/>
              <a:t>, where |V| is the number of vertices in the graph or tree and |E| is the number of edges. </a:t>
            </a:r>
          </a:p>
          <a:p>
            <a:r>
              <a:rPr lang="en-US" sz="2400" dirty="0"/>
              <a:t>This is because DFS visits every vertex and edge once. </a:t>
            </a:r>
          </a:p>
          <a:p>
            <a:r>
              <a:rPr lang="en-US" sz="2400" dirty="0"/>
              <a:t>However, the time complexity can be reduced to </a:t>
            </a:r>
            <a:r>
              <a:rPr lang="en-US" sz="2400" b="1" dirty="0">
                <a:solidFill>
                  <a:srgbClr val="C00000"/>
                </a:solidFill>
              </a:rPr>
              <a:t>O(∣V∣) if the graph or tree is a simple connected graph.</a:t>
            </a:r>
          </a:p>
          <a:p>
            <a:r>
              <a:rPr lang="en-US" sz="2400" b="1" dirty="0"/>
              <a:t>Space Complexity:</a:t>
            </a:r>
            <a:br>
              <a:rPr lang="en-US" sz="2400" dirty="0"/>
            </a:br>
            <a:r>
              <a:rPr lang="en-US" sz="2400" dirty="0"/>
              <a:t>The space complexity of DFS is </a:t>
            </a:r>
            <a:r>
              <a:rPr lang="en-US" sz="2400" b="1" dirty="0">
                <a:solidFill>
                  <a:srgbClr val="C00000"/>
                </a:solidFill>
              </a:rPr>
              <a:t>proportional to the tree's height or the graph's maximum depth. </a:t>
            </a:r>
          </a:p>
          <a:p>
            <a:r>
              <a:rPr lang="en-US" sz="2400" dirty="0"/>
              <a:t>In the worst-case scenario, where the tree or graph is very deep and has no branches, the space complexity of DFS </a:t>
            </a:r>
            <a:r>
              <a:rPr lang="en-US" sz="2400" b="1" dirty="0">
                <a:solidFill>
                  <a:srgbClr val="C00000"/>
                </a:solidFill>
              </a:rPr>
              <a:t>is O(h</a:t>
            </a:r>
            <a:r>
              <a:rPr lang="en-US" sz="2400" dirty="0"/>
              <a:t>) where h is the tree's height. </a:t>
            </a:r>
          </a:p>
          <a:p>
            <a:r>
              <a:rPr lang="en-US" sz="2400" dirty="0"/>
              <a:t>This is because DFS uses a recursive function call stack to keep track of the current path being traversed.</a:t>
            </a:r>
          </a:p>
          <a:p>
            <a:pPr marL="347980" marR="214629" indent="-335915">
              <a:lnSpc>
                <a:spcPts val="3030"/>
              </a:lnSpc>
              <a:spcBef>
                <a:spcPts val="475"/>
              </a:spcBef>
              <a:tabLst>
                <a:tab pos="347980" algn="l"/>
                <a:tab pos="348615" algn="l"/>
              </a:tabLst>
            </a:pPr>
            <a:endParaRPr lang="en-US" sz="2400" dirty="0">
              <a:cs typeface="Times New Roman"/>
            </a:endParaRPr>
          </a:p>
          <a:p>
            <a:pPr marL="347980" marR="214629" indent="-335915">
              <a:lnSpc>
                <a:spcPts val="3030"/>
              </a:lnSpc>
              <a:spcBef>
                <a:spcPts val="475"/>
              </a:spcBef>
              <a:tabLst>
                <a:tab pos="347980" algn="l"/>
                <a:tab pos="348615" algn="l"/>
              </a:tabLst>
            </a:pPr>
            <a:endParaRPr lang="en-US" sz="2400" dirty="0">
              <a:cs typeface="Times New Roman"/>
            </a:endParaRPr>
          </a:p>
          <a:p>
            <a:pPr marL="347980" marR="214629" indent="-335915">
              <a:lnSpc>
                <a:spcPts val="3030"/>
              </a:lnSpc>
              <a:spcBef>
                <a:spcPts val="475"/>
              </a:spcBef>
              <a:tabLst>
                <a:tab pos="347980" algn="l"/>
                <a:tab pos="348615" algn="l"/>
              </a:tabLst>
            </a:pPr>
            <a:endParaRPr lang="en-US" sz="2400" dirty="0">
              <a:cs typeface="Times New Roman"/>
            </a:endParaRPr>
          </a:p>
          <a:p>
            <a:pPr marL="347980" marR="214629" indent="-335915">
              <a:lnSpc>
                <a:spcPts val="3030"/>
              </a:lnSpc>
              <a:spcBef>
                <a:spcPts val="475"/>
              </a:spcBef>
              <a:tabLst>
                <a:tab pos="347980" algn="l"/>
                <a:tab pos="348615" algn="l"/>
              </a:tabLst>
            </a:pPr>
            <a:endParaRPr lang="en-US" sz="2400" dirty="0">
              <a:cs typeface="Times New Roman"/>
            </a:endParaRPr>
          </a:p>
          <a:p>
            <a:endParaRPr lang="en-IN" sz="2400"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16</a:t>
            </a:fld>
            <a:endParaRPr lang="en-IN"/>
          </a:p>
        </p:txBody>
      </p:sp>
    </p:spTree>
    <p:extLst>
      <p:ext uri="{BB962C8B-B14F-4D97-AF65-F5344CB8AC3E}">
        <p14:creationId xmlns:p14="http://schemas.microsoft.com/office/powerpoint/2010/main" val="29875453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Advantages</a:t>
            </a:r>
            <a:br>
              <a:rPr lang="en-US" dirty="0"/>
            </a:br>
            <a:endParaRPr lang="en-US" dirty="0"/>
          </a:p>
        </p:txBody>
      </p:sp>
      <p:sp>
        <p:nvSpPr>
          <p:cNvPr id="3" name="Content Placeholder 2"/>
          <p:cNvSpPr>
            <a:spLocks noGrp="1"/>
          </p:cNvSpPr>
          <p:nvPr>
            <p:ph idx="1"/>
          </p:nvPr>
        </p:nvSpPr>
        <p:spPr>
          <a:xfrm>
            <a:off x="681446" y="1128939"/>
            <a:ext cx="10515600" cy="5925003"/>
          </a:xfrm>
        </p:spPr>
        <p:txBody>
          <a:bodyPr>
            <a:normAutofit fontScale="70000" lnSpcReduction="20000"/>
          </a:bodyPr>
          <a:lstStyle/>
          <a:p>
            <a:pPr>
              <a:lnSpc>
                <a:spcPct val="170000"/>
              </a:lnSpc>
            </a:pPr>
            <a:r>
              <a:rPr lang="en-US" b="1" dirty="0">
                <a:solidFill>
                  <a:srgbClr val="C00000"/>
                </a:solidFill>
              </a:rPr>
              <a:t>Memory efficiency:</a:t>
            </a:r>
            <a:br>
              <a:rPr lang="en-US" dirty="0"/>
            </a:br>
            <a:r>
              <a:rPr lang="en-US" dirty="0"/>
              <a:t>DFS uses less memory than breadth-first search because it only needs to keep track of a single path at a time.</a:t>
            </a:r>
          </a:p>
          <a:p>
            <a:pPr>
              <a:lnSpc>
                <a:spcPct val="170000"/>
              </a:lnSpc>
            </a:pPr>
            <a:r>
              <a:rPr lang="en-US" sz="2900" b="1" dirty="0">
                <a:solidFill>
                  <a:srgbClr val="C00000"/>
                </a:solidFill>
              </a:rPr>
              <a:t>Finds a solution quickly:</a:t>
            </a:r>
            <a:br>
              <a:rPr lang="en-US" dirty="0"/>
            </a:br>
            <a:r>
              <a:rPr lang="en-US" dirty="0"/>
              <a:t>If the solution to a problem is located deep in a tree, DFS can quickly reach it by exploring one path until it reaches the solution.</a:t>
            </a:r>
          </a:p>
          <a:p>
            <a:pPr>
              <a:lnSpc>
                <a:spcPct val="170000"/>
              </a:lnSpc>
            </a:pPr>
            <a:r>
              <a:rPr lang="en-US" sz="2900" b="1" dirty="0">
                <a:solidFill>
                  <a:srgbClr val="C00000"/>
                </a:solidFill>
              </a:rPr>
              <a:t>Easy to implement:</a:t>
            </a:r>
            <a:br>
              <a:rPr lang="en-US" dirty="0"/>
            </a:br>
            <a:r>
              <a:rPr lang="en-US" dirty="0"/>
              <a:t>DFS is a simple algorithm to understand and implement, especially when using recursion.</a:t>
            </a:r>
          </a:p>
          <a:p>
            <a:pPr>
              <a:lnSpc>
                <a:spcPct val="170000"/>
              </a:lnSpc>
            </a:pPr>
            <a:r>
              <a:rPr lang="en-US" sz="2900" b="1" dirty="0">
                <a:solidFill>
                  <a:srgbClr val="C00000"/>
                </a:solidFill>
              </a:rPr>
              <a:t>Can be used for certain types of problems:</a:t>
            </a:r>
            <a:br>
              <a:rPr lang="en-US" sz="2900" b="1" dirty="0">
                <a:solidFill>
                  <a:srgbClr val="C00000"/>
                </a:solidFill>
              </a:rPr>
            </a:br>
            <a:r>
              <a:rPr lang="en-US" dirty="0"/>
              <a:t>DFS is particularly useful for problems that involve searching for a path, such as maze-solving or finding the shortest path between two nodes in a graph</a:t>
            </a:r>
          </a:p>
        </p:txBody>
      </p:sp>
      <p:sp>
        <p:nvSpPr>
          <p:cNvPr id="4" name="Slide Number Placeholder 3"/>
          <p:cNvSpPr>
            <a:spLocks noGrp="1"/>
          </p:cNvSpPr>
          <p:nvPr>
            <p:ph type="sldNum" sz="quarter" idx="12"/>
          </p:nvPr>
        </p:nvSpPr>
        <p:spPr/>
        <p:txBody>
          <a:bodyPr/>
          <a:lstStyle/>
          <a:p>
            <a:fld id="{CBABCCC1-BF11-4F37-963E-1BCD5B23FD72}" type="slidenum">
              <a:rPr lang="en-IN" smtClean="0"/>
              <a:pPr/>
              <a:t>17</a:t>
            </a:fld>
            <a:endParaRPr lang="en-IN"/>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Disadvantages</a:t>
            </a:r>
            <a:br>
              <a:rPr lang="en-US" dirty="0"/>
            </a:br>
            <a:endParaRPr lang="en-US" dirty="0"/>
          </a:p>
        </p:txBody>
      </p:sp>
      <p:sp>
        <p:nvSpPr>
          <p:cNvPr id="3" name="Content Placeholder 2"/>
          <p:cNvSpPr>
            <a:spLocks noGrp="1"/>
          </p:cNvSpPr>
          <p:nvPr>
            <p:ph idx="1"/>
          </p:nvPr>
        </p:nvSpPr>
        <p:spPr/>
        <p:txBody>
          <a:bodyPr>
            <a:normAutofit/>
          </a:bodyPr>
          <a:lstStyle/>
          <a:p>
            <a:r>
              <a:rPr lang="en-US" b="1" dirty="0">
                <a:solidFill>
                  <a:srgbClr val="C00000"/>
                </a:solidFill>
              </a:rPr>
              <a:t>Can get stuck in infinite loops:</a:t>
            </a:r>
            <a:br>
              <a:rPr lang="en-US" b="1" dirty="0">
                <a:solidFill>
                  <a:srgbClr val="C00000"/>
                </a:solidFill>
              </a:rPr>
            </a:br>
            <a:r>
              <a:rPr lang="en-US" dirty="0"/>
              <a:t>DFS can get stuck in an infinite loop if there are cycles in the graph or tree. This can be avoided by keeping track of visited nodes.</a:t>
            </a:r>
          </a:p>
          <a:p>
            <a:r>
              <a:rPr lang="en-US" b="1" dirty="0">
                <a:solidFill>
                  <a:srgbClr val="C00000"/>
                </a:solidFill>
              </a:rPr>
              <a:t>May not find the optimal solution:</a:t>
            </a:r>
            <a:br>
              <a:rPr lang="en-US" b="1" dirty="0">
                <a:solidFill>
                  <a:srgbClr val="C00000"/>
                </a:solidFill>
              </a:rPr>
            </a:br>
            <a:r>
              <a:rPr lang="en-US" dirty="0"/>
              <a:t>DFS only sometimes finds the shortest path to a solution. It may find a suboptimal path before finding the shortest one.</a:t>
            </a:r>
          </a:p>
          <a:p>
            <a:r>
              <a:rPr lang="en-US" b="1" dirty="0">
                <a:solidFill>
                  <a:srgbClr val="C00000"/>
                </a:solidFill>
              </a:rPr>
              <a:t>Can take a long time:</a:t>
            </a:r>
            <a:br>
              <a:rPr lang="en-US" b="1" dirty="0">
                <a:solidFill>
                  <a:srgbClr val="C00000"/>
                </a:solidFill>
              </a:rPr>
            </a:br>
            <a:r>
              <a:rPr lang="en-US" dirty="0"/>
              <a:t>In some cases, DFS may take a long time to find a solution, especially if the solution is located far from the starting node.</a:t>
            </a:r>
          </a:p>
          <a:p>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18</a:t>
            </a:fld>
            <a:endParaRPr lang="en-IN"/>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49869"/>
          </a:xfrm>
        </p:spPr>
        <p:txBody>
          <a:bodyPr/>
          <a:lstStyle/>
          <a:p>
            <a:r>
              <a:rPr lang="en-IN" dirty="0"/>
              <a:t> </a:t>
            </a:r>
            <a:r>
              <a:rPr lang="en-US" b="1" dirty="0"/>
              <a:t>Breadth-First Search (BFS)</a:t>
            </a:r>
            <a:endParaRPr lang="en-IN" dirty="0"/>
          </a:p>
        </p:txBody>
      </p:sp>
      <p:sp>
        <p:nvSpPr>
          <p:cNvPr id="3" name="Content Placeholder 2"/>
          <p:cNvSpPr>
            <a:spLocks noGrp="1"/>
          </p:cNvSpPr>
          <p:nvPr>
            <p:ph idx="1"/>
          </p:nvPr>
        </p:nvSpPr>
        <p:spPr>
          <a:xfrm>
            <a:off x="548640" y="1252429"/>
            <a:ext cx="11382103" cy="5240445"/>
          </a:xfrm>
        </p:spPr>
        <p:txBody>
          <a:bodyPr>
            <a:normAutofit lnSpcReduction="10000"/>
          </a:bodyPr>
          <a:lstStyle/>
          <a:p>
            <a:pPr algn="just">
              <a:lnSpc>
                <a:spcPct val="150000"/>
              </a:lnSpc>
            </a:pPr>
            <a:r>
              <a:rPr lang="en-US" sz="2400" dirty="0"/>
              <a:t>Breadth-First Search (BFS) is one of the simplest uninformed search algorithms. </a:t>
            </a:r>
          </a:p>
          <a:p>
            <a:pPr algn="just">
              <a:lnSpc>
                <a:spcPct val="150000"/>
              </a:lnSpc>
            </a:pPr>
            <a:r>
              <a:rPr lang="en-US" sz="2400" dirty="0"/>
              <a:t>It explores nodes level by level, starting from the root of the search tree and expanding all nodes at the present depth before moving on to nodes at the next depth level. </a:t>
            </a:r>
          </a:p>
          <a:p>
            <a:pPr algn="just">
              <a:lnSpc>
                <a:spcPct val="150000"/>
              </a:lnSpc>
            </a:pPr>
            <a:r>
              <a:rPr lang="en-US" sz="2400" dirty="0"/>
              <a:t>BFS is particularly useful in scenarios where the goal is located close to the starting point, as it guarantees that the shortest path in an unweighted graph will be found.</a:t>
            </a:r>
          </a:p>
          <a:p>
            <a:pPr algn="just">
              <a:lnSpc>
                <a:spcPct val="150000"/>
              </a:lnSpc>
            </a:pPr>
            <a:r>
              <a:rPr lang="en-US" sz="2400" dirty="0"/>
              <a:t>BFS can be implemented using a </a:t>
            </a:r>
            <a:r>
              <a:rPr lang="en-US" sz="2400" b="1" dirty="0"/>
              <a:t>queue</a:t>
            </a:r>
            <a:r>
              <a:rPr lang="en-US" sz="2400" dirty="0"/>
              <a:t> data structure, where nodes are added to the back of the queue as they are encountered and removed from the front when they are expanded. The algorithm proceeds by exploring all neighboring nodes of a given node, adding them to the queue, and repeating the process until the goal is reached.</a:t>
            </a:r>
          </a:p>
          <a:p>
            <a:pPr marL="347980" indent="-335280" algn="just">
              <a:lnSpc>
                <a:spcPct val="150000"/>
              </a:lnSpc>
              <a:tabLst>
                <a:tab pos="347345" algn="l"/>
                <a:tab pos="347980" algn="l"/>
              </a:tabLst>
            </a:pPr>
            <a:endParaRPr lang="en-IN" sz="2400" dirty="0">
              <a:latin typeface="+mj-lt"/>
              <a:cs typeface="Times New Roman"/>
            </a:endParaRPr>
          </a:p>
        </p:txBody>
      </p:sp>
      <p:sp>
        <p:nvSpPr>
          <p:cNvPr id="4" name="Slide Number Placeholder 3"/>
          <p:cNvSpPr>
            <a:spLocks noGrp="1"/>
          </p:cNvSpPr>
          <p:nvPr>
            <p:ph type="sldNum" sz="quarter" idx="12"/>
          </p:nvPr>
        </p:nvSpPr>
        <p:spPr/>
        <p:txBody>
          <a:bodyPr/>
          <a:lstStyle/>
          <a:p>
            <a:fld id="{CBABCCC1-BF11-4F37-963E-1BCD5B23FD72}" type="slidenum">
              <a:rPr lang="en-IN" smtClean="0"/>
              <a:pPr/>
              <a:t>19</a:t>
            </a:fld>
            <a:endParaRPr lang="en-IN"/>
          </a:p>
        </p:txBody>
      </p:sp>
    </p:spTree>
    <p:extLst>
      <p:ext uri="{BB962C8B-B14F-4D97-AF65-F5344CB8AC3E}">
        <p14:creationId xmlns:p14="http://schemas.microsoft.com/office/powerpoint/2010/main" val="23286815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CONTD..</a:t>
            </a:r>
            <a:br>
              <a:rPr lang="en-IN" dirty="0"/>
            </a:br>
            <a:r>
              <a:rPr lang="en-US" b="1" dirty="0"/>
              <a:t>Algorithm </a:t>
            </a:r>
            <a:r>
              <a:rPr lang="en-US" b="1" dirty="0" err="1"/>
              <a:t>Pseudocode</a:t>
            </a:r>
            <a:r>
              <a:rPr lang="en-US" b="1" dirty="0"/>
              <a:t>: </a:t>
            </a:r>
            <a:br>
              <a:rPr lang="en-US" dirty="0"/>
            </a:br>
            <a:endParaRPr lang="en-IN"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20</a:t>
            </a:fld>
            <a:endParaRPr lang="en-IN"/>
          </a:p>
        </p:txBody>
      </p:sp>
      <p:sp>
        <p:nvSpPr>
          <p:cNvPr id="6" name="Rectangle 5"/>
          <p:cNvSpPr/>
          <p:nvPr/>
        </p:nvSpPr>
        <p:spPr>
          <a:xfrm>
            <a:off x="1524000" y="1969478"/>
            <a:ext cx="7620000" cy="5386090"/>
          </a:xfrm>
          <a:prstGeom prst="rect">
            <a:avLst/>
          </a:prstGeom>
        </p:spPr>
        <p:txBody>
          <a:bodyPr wrap="square">
            <a:spAutoFit/>
          </a:bodyPr>
          <a:lstStyle/>
          <a:p>
            <a:pPr marL="342900" indent="-342900">
              <a:buAutoNum type="arabicPeriod"/>
            </a:pPr>
            <a:r>
              <a:rPr lang="en-US" sz="2000" dirty="0"/>
              <a:t>Initialize an empty queue and </a:t>
            </a:r>
            <a:r>
              <a:rPr lang="en-US" sz="2000" dirty="0" err="1"/>
              <a:t>enqueue</a:t>
            </a:r>
            <a:r>
              <a:rPr lang="en-US" sz="2000" dirty="0"/>
              <a:t> the root node. </a:t>
            </a:r>
          </a:p>
          <a:p>
            <a:pPr marL="342900" indent="-342900">
              <a:buAutoNum type="arabicPeriod"/>
            </a:pPr>
            <a:endParaRPr lang="en-US" sz="2400" dirty="0"/>
          </a:p>
          <a:p>
            <a:pPr marL="342900" indent="-342900">
              <a:buAutoNum type="arabicPeriod"/>
            </a:pPr>
            <a:r>
              <a:rPr lang="en-US" sz="2000" dirty="0"/>
              <a:t>While the queue is not empty:    </a:t>
            </a:r>
          </a:p>
          <a:p>
            <a:pPr marL="342900" indent="-342900"/>
            <a:r>
              <a:rPr lang="en-US" sz="2000" dirty="0"/>
              <a:t>      a. </a:t>
            </a:r>
            <a:r>
              <a:rPr lang="en-US" sz="2000" dirty="0" err="1"/>
              <a:t>Dequeue</a:t>
            </a:r>
            <a:r>
              <a:rPr lang="en-US" sz="2000" dirty="0"/>
              <a:t> the front node.     </a:t>
            </a:r>
          </a:p>
          <a:p>
            <a:pPr marL="342900" indent="-342900"/>
            <a:r>
              <a:rPr lang="en-US" sz="2000" dirty="0"/>
              <a:t>      b. If this node is the goal, return the solution.     </a:t>
            </a:r>
          </a:p>
          <a:p>
            <a:pPr marL="342900" indent="-342900"/>
            <a:r>
              <a:rPr lang="en-US" sz="2000" dirty="0"/>
              <a:t>      c. Else, </a:t>
            </a:r>
            <a:r>
              <a:rPr lang="en-US" sz="2000" dirty="0" err="1"/>
              <a:t>enqueue</a:t>
            </a:r>
            <a:r>
              <a:rPr lang="en-US" sz="2000" dirty="0"/>
              <a:t> all unvisited neighboring nodes. </a:t>
            </a:r>
          </a:p>
          <a:p>
            <a:pPr marL="342900" indent="-342900"/>
            <a:endParaRPr lang="en-US" sz="2000" dirty="0"/>
          </a:p>
          <a:p>
            <a:pPr marL="342900" indent="-342900"/>
            <a:r>
              <a:rPr lang="en-US" sz="2000" dirty="0"/>
              <a:t>3. Repeat the process until the goal is found or the queue is empty.</a:t>
            </a:r>
          </a:p>
          <a:p>
            <a:pPr marL="342900" indent="-342900">
              <a:buAutoNum type="arabicPeriod"/>
            </a:pPr>
            <a:endParaRPr lang="en-US" dirty="0"/>
          </a:p>
          <a:p>
            <a:pPr marL="342900" indent="-342900">
              <a:buAutoNum type="arabicPeriod"/>
            </a:pPr>
            <a:endParaRPr lang="en-US" dirty="0"/>
          </a:p>
          <a:p>
            <a:pPr marL="342900" indent="-342900">
              <a:buAutoNum type="arabicPeriod"/>
            </a:pPr>
            <a:endParaRPr lang="en-US" dirty="0"/>
          </a:p>
          <a:p>
            <a:pPr marL="342900" indent="-342900">
              <a:buAutoNum type="arabicPeriod"/>
            </a:pPr>
            <a:endParaRPr lang="en-US" dirty="0"/>
          </a:p>
          <a:p>
            <a:pPr marL="342900" indent="-342900">
              <a:buAutoNum type="arabicPeriod"/>
            </a:pPr>
            <a:endParaRPr lang="en-US" dirty="0"/>
          </a:p>
          <a:p>
            <a:pPr marL="342900" indent="-342900">
              <a:buAutoNum type="arabicPeriod"/>
            </a:pPr>
            <a:endParaRPr lang="en-US" dirty="0"/>
          </a:p>
          <a:p>
            <a:pPr marL="342900" indent="-342900">
              <a:buAutoNum type="arabicPeriod"/>
            </a:pPr>
            <a:endParaRPr lang="en-US" dirty="0"/>
          </a:p>
          <a:p>
            <a:pPr marL="342900" indent="-342900">
              <a:buAutoNum type="arabicPeriod"/>
            </a:pPr>
            <a:endParaRPr lang="en-US" dirty="0"/>
          </a:p>
          <a:p>
            <a:pPr marL="342900" indent="-342900">
              <a:buAutoNum type="arabicPeriod"/>
            </a:pPr>
            <a:endParaRPr lang="en-US" dirty="0"/>
          </a:p>
          <a:p>
            <a:pPr marL="342900" indent="-342900">
              <a:buAutoNum type="arabicPeriod"/>
            </a:pPr>
            <a:endParaRPr lang="en-US" dirty="0"/>
          </a:p>
        </p:txBody>
      </p:sp>
    </p:spTree>
    <p:extLst>
      <p:ext uri="{BB962C8B-B14F-4D97-AF65-F5344CB8AC3E}">
        <p14:creationId xmlns:p14="http://schemas.microsoft.com/office/powerpoint/2010/main" val="13062638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CONTD..</a:t>
            </a:r>
          </a:p>
        </p:txBody>
      </p:sp>
      <p:sp>
        <p:nvSpPr>
          <p:cNvPr id="4" name="Slide Number Placeholder 3"/>
          <p:cNvSpPr>
            <a:spLocks noGrp="1"/>
          </p:cNvSpPr>
          <p:nvPr>
            <p:ph type="sldNum" sz="quarter" idx="12"/>
          </p:nvPr>
        </p:nvSpPr>
        <p:spPr/>
        <p:txBody>
          <a:bodyPr/>
          <a:lstStyle/>
          <a:p>
            <a:fld id="{CBABCCC1-BF11-4F37-963E-1BCD5B23FD72}" type="slidenum">
              <a:rPr lang="en-IN" smtClean="0"/>
              <a:pPr/>
              <a:t>21</a:t>
            </a:fld>
            <a:endParaRPr lang="en-IN"/>
          </a:p>
        </p:txBody>
      </p:sp>
      <p:pic>
        <p:nvPicPr>
          <p:cNvPr id="26625" name="Picture 1"/>
          <p:cNvPicPr>
            <a:picLocks noGrp="1" noChangeAspect="1" noChangeArrowheads="1"/>
          </p:cNvPicPr>
          <p:nvPr>
            <p:ph idx="1"/>
          </p:nvPr>
        </p:nvPicPr>
        <p:blipFill>
          <a:blip r:embed="rId2" cstate="print"/>
          <a:srcRect/>
          <a:stretch>
            <a:fillRect/>
          </a:stretch>
        </p:blipFill>
        <p:spPr bwMode="auto">
          <a:xfrm>
            <a:off x="1570892" y="1946031"/>
            <a:ext cx="9143999" cy="4126523"/>
          </a:xfrm>
          <a:prstGeom prst="rect">
            <a:avLst/>
          </a:prstGeom>
          <a:noFill/>
          <a:ln w="9525">
            <a:noFill/>
            <a:miter lim="800000"/>
            <a:headEnd/>
            <a:tailEnd/>
          </a:ln>
        </p:spPr>
      </p:pic>
    </p:spTree>
    <p:extLst>
      <p:ext uri="{BB962C8B-B14F-4D97-AF65-F5344CB8AC3E}">
        <p14:creationId xmlns:p14="http://schemas.microsoft.com/office/powerpoint/2010/main" val="29624236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nter image description here">
            <a:extLst>
              <a:ext uri="{FF2B5EF4-FFF2-40B4-BE49-F238E27FC236}">
                <a16:creationId xmlns:a16="http://schemas.microsoft.com/office/drawing/2014/main" id="{55261034-364F-46A3-BC99-5755669FEBD8}"/>
              </a:ext>
            </a:extLst>
          </p:cNvPr>
          <p:cNvPicPr>
            <a:picLocks noChangeAspect="1" noChangeArrowheads="1"/>
          </p:cNvPicPr>
          <p:nvPr/>
        </p:nvPicPr>
        <p:blipFill rotWithShape="1">
          <a:blip r:embed="rId2">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rcRect b="35053"/>
          <a:stretch>
            <a:fillRect/>
          </a:stretch>
        </p:blipFill>
        <p:spPr bwMode="auto">
          <a:xfrm>
            <a:off x="1354974" y="120534"/>
            <a:ext cx="9127282" cy="6616931"/>
          </a:xfrm>
          <a:prstGeom prst="rect">
            <a:avLst/>
          </a:prstGeom>
          <a:ln w="3175" cap="sq" cmpd="thickThin">
            <a:solidFill>
              <a:srgbClr val="000000"/>
            </a:solidFill>
            <a:prstDash val="solid"/>
            <a:miter lim="800000"/>
          </a:ln>
          <a:effectLst>
            <a:innerShdw blurRad="76200">
              <a:srgbClr val="000000"/>
            </a:inn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306143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BD60A7-50B3-0895-5F0A-6F9D6D51BD10}"/>
            </a:ext>
          </a:extLst>
        </p:cNvPr>
        <p:cNvGrpSpPr/>
        <p:nvPr/>
      </p:nvGrpSpPr>
      <p:grpSpPr>
        <a:xfrm>
          <a:off x="0" y="0"/>
          <a:ext cx="0" cy="0"/>
          <a:chOff x="0" y="0"/>
          <a:chExt cx="0" cy="0"/>
        </a:xfrm>
      </p:grpSpPr>
      <p:pic>
        <p:nvPicPr>
          <p:cNvPr id="1026" name="Picture 2" descr="enter image description here">
            <a:extLst>
              <a:ext uri="{FF2B5EF4-FFF2-40B4-BE49-F238E27FC236}">
                <a16:creationId xmlns:a16="http://schemas.microsoft.com/office/drawing/2014/main" id="{51BEE11C-0F98-A5E5-0D21-CAB1D22A65C8}"/>
              </a:ext>
            </a:extLst>
          </p:cNvPr>
          <p:cNvPicPr>
            <a:picLocks noChangeAspect="1" noChangeArrowheads="1"/>
          </p:cNvPicPr>
          <p:nvPr/>
        </p:nvPicPr>
        <p:blipFill rotWithShape="1">
          <a:blip r:embed="rId2">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rcRect t="63273"/>
          <a:stretch>
            <a:fillRect/>
          </a:stretch>
        </p:blipFill>
        <p:spPr bwMode="auto">
          <a:xfrm>
            <a:off x="1688367" y="1088967"/>
            <a:ext cx="9280777" cy="4680065"/>
          </a:xfrm>
          <a:prstGeom prst="rect">
            <a:avLst/>
          </a:prstGeom>
          <a:ln w="3175" cap="sq" cmpd="thickThin">
            <a:solidFill>
              <a:srgbClr val="000000"/>
            </a:solidFill>
            <a:prstDash val="solid"/>
            <a:miter lim="800000"/>
          </a:ln>
          <a:effectLst>
            <a:innerShdw blurRad="76200">
              <a:srgbClr val="000000"/>
            </a:inn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571073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57AC8D-C62D-48A6-1B9A-AEA8F8E6FDF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1962A66-DE9F-E57C-6172-748825BE12AA}"/>
              </a:ext>
            </a:extLst>
          </p:cNvPr>
          <p:cNvSpPr>
            <a:spLocks noGrp="1"/>
          </p:cNvSpPr>
          <p:nvPr>
            <p:ph idx="1"/>
          </p:nvPr>
        </p:nvSpPr>
        <p:spPr/>
        <p:txBody>
          <a:bodyPr/>
          <a:lstStyle/>
          <a:p>
            <a:endParaRPr lang="en-IN"/>
          </a:p>
        </p:txBody>
      </p:sp>
      <p:pic>
        <p:nvPicPr>
          <p:cNvPr id="2050" name="Picture 2" descr="Uninformed Search Algorithms BFS">
            <a:extLst>
              <a:ext uri="{FF2B5EF4-FFF2-40B4-BE49-F238E27FC236}">
                <a16:creationId xmlns:a16="http://schemas.microsoft.com/office/drawing/2014/main" id="{7981CD7C-1909-0F15-F28F-178BF803F9C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14775" y="1285875"/>
            <a:ext cx="4362450" cy="4286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11255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501254" y="1189789"/>
            <a:ext cx="8611737" cy="1005083"/>
          </a:xfrm>
          <a:prstGeom prst="rect">
            <a:avLst/>
          </a:prstGeom>
        </p:spPr>
        <p:txBody>
          <a:bodyPr wrap="square">
            <a:spAutoFit/>
          </a:bodyPr>
          <a:lstStyle/>
          <a:p>
            <a:pPr>
              <a:lnSpc>
                <a:spcPct val="107000"/>
              </a:lnSpc>
              <a:spcAft>
                <a:spcPts val="800"/>
              </a:spcAft>
            </a:pPr>
            <a:r>
              <a:rPr lang="en-IN" sz="1100" dirty="0">
                <a:latin typeface="Calibri" panose="020F0502020204030204" pitchFamily="34" charset="0"/>
                <a:ea typeface="Calibri" panose="020F0502020204030204" pitchFamily="34" charset="0"/>
                <a:cs typeface="Times New Roman" panose="02020603050405020304" pitchFamily="18" charset="0"/>
              </a:rPr>
              <a:t>. </a:t>
            </a:r>
            <a:r>
              <a:rPr lang="en-IN" sz="3200" b="1" dirty="0">
                <a:solidFill>
                  <a:srgbClr val="FF0000"/>
                </a:solidFill>
                <a:latin typeface="Gill Sans MT (Body)"/>
                <a:ea typeface="Calibri" panose="020F0502020204030204" pitchFamily="34" charset="0"/>
                <a:cs typeface="Times New Roman" panose="02020603050405020304" pitchFamily="18" charset="0"/>
              </a:rPr>
              <a:t>Breadth-first Search</a:t>
            </a:r>
            <a:endParaRPr lang="en-IN" sz="2000" b="1" dirty="0">
              <a:solidFill>
                <a:srgbClr val="FF0000"/>
              </a:solidFill>
              <a:latin typeface="Gill Sans MT (Body)"/>
              <a:ea typeface="Calibri" panose="020F0502020204030204" pitchFamily="34" charset="0"/>
              <a:cs typeface="Times New Roman" panose="02020603050405020304" pitchFamily="18" charset="0"/>
            </a:endParaRPr>
          </a:p>
          <a:p>
            <a:pPr marL="342900" indent="-342900">
              <a:lnSpc>
                <a:spcPct val="107000"/>
              </a:lnSpc>
              <a:spcAft>
                <a:spcPts val="800"/>
              </a:spcAft>
              <a:buSzPts val="1000"/>
              <a:buFont typeface="Courier New" panose="02070309020205020404" pitchFamily="49" charset="0"/>
              <a:buChar char="o"/>
              <a:tabLst>
                <a:tab pos="457200" algn="l"/>
              </a:tabLst>
            </a:pPr>
            <a:endParaRPr lang="en-IN" dirty="0">
              <a:solidFill>
                <a:srgbClr val="C0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CBABCCC1-BF11-4F37-963E-1BCD5B23FD72}" type="slidenum">
              <a:rPr lang="en-IN" smtClean="0"/>
              <a:t>25</a:t>
            </a:fld>
            <a:endParaRPr lang="en-IN"/>
          </a:p>
        </p:txBody>
      </p:sp>
      <p:pic>
        <p:nvPicPr>
          <p:cNvPr id="2" name="Picture 1"/>
          <p:cNvPicPr>
            <a:picLocks noChangeAspect="1"/>
          </p:cNvPicPr>
          <p:nvPr/>
        </p:nvPicPr>
        <p:blipFill rotWithShape="1">
          <a:blip r:embed="rId2"/>
          <a:srcRect t="13050"/>
          <a:stretch/>
        </p:blipFill>
        <p:spPr>
          <a:xfrm>
            <a:off x="2819401" y="2197292"/>
            <a:ext cx="6629399" cy="3577988"/>
          </a:xfrm>
          <a:prstGeom prst="rect">
            <a:avLst/>
          </a:prstGeom>
        </p:spPr>
      </p:pic>
    </p:spTree>
    <p:extLst>
      <p:ext uri="{BB962C8B-B14F-4D97-AF65-F5344CB8AC3E}">
        <p14:creationId xmlns:p14="http://schemas.microsoft.com/office/powerpoint/2010/main" val="221196299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501254" y="1189789"/>
            <a:ext cx="8611737" cy="1005083"/>
          </a:xfrm>
          <a:prstGeom prst="rect">
            <a:avLst/>
          </a:prstGeom>
        </p:spPr>
        <p:txBody>
          <a:bodyPr wrap="square">
            <a:spAutoFit/>
          </a:bodyPr>
          <a:lstStyle/>
          <a:p>
            <a:pPr>
              <a:lnSpc>
                <a:spcPct val="107000"/>
              </a:lnSpc>
              <a:spcAft>
                <a:spcPts val="800"/>
              </a:spcAft>
            </a:pPr>
            <a:r>
              <a:rPr lang="en-IN" sz="1100" dirty="0">
                <a:latin typeface="Calibri" panose="020F0502020204030204" pitchFamily="34" charset="0"/>
                <a:ea typeface="Calibri" panose="020F0502020204030204" pitchFamily="34" charset="0"/>
                <a:cs typeface="Times New Roman" panose="02020603050405020304" pitchFamily="18" charset="0"/>
              </a:rPr>
              <a:t>. </a:t>
            </a:r>
            <a:r>
              <a:rPr lang="en-IN" sz="3200" b="1" dirty="0">
                <a:solidFill>
                  <a:srgbClr val="FF0000"/>
                </a:solidFill>
                <a:latin typeface="Gill Sans MT (Body)"/>
                <a:ea typeface="Calibri" panose="020F0502020204030204" pitchFamily="34" charset="0"/>
                <a:cs typeface="Times New Roman" panose="02020603050405020304" pitchFamily="18" charset="0"/>
              </a:rPr>
              <a:t>Breadth-first Search</a:t>
            </a:r>
            <a:endParaRPr lang="en-IN" sz="2000" b="1" dirty="0">
              <a:solidFill>
                <a:srgbClr val="FF0000"/>
              </a:solidFill>
              <a:latin typeface="Gill Sans MT (Body)"/>
              <a:ea typeface="Calibri" panose="020F0502020204030204" pitchFamily="34" charset="0"/>
              <a:cs typeface="Times New Roman" panose="02020603050405020304" pitchFamily="18" charset="0"/>
            </a:endParaRPr>
          </a:p>
          <a:p>
            <a:pPr marL="342900" indent="-342900">
              <a:lnSpc>
                <a:spcPct val="107000"/>
              </a:lnSpc>
              <a:spcAft>
                <a:spcPts val="800"/>
              </a:spcAft>
              <a:buSzPts val="1000"/>
              <a:buFont typeface="Courier New" panose="02070309020205020404" pitchFamily="49" charset="0"/>
              <a:buChar char="o"/>
              <a:tabLst>
                <a:tab pos="457200" algn="l"/>
              </a:tabLst>
            </a:pPr>
            <a:endParaRPr lang="en-IN" dirty="0">
              <a:solidFill>
                <a:srgbClr val="C0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CBABCCC1-BF11-4F37-963E-1BCD5B23FD72}" type="slidenum">
              <a:rPr lang="en-IN" smtClean="0"/>
              <a:t>26</a:t>
            </a:fld>
            <a:endParaRPr lang="en-IN"/>
          </a:p>
        </p:txBody>
      </p:sp>
      <p:sp>
        <p:nvSpPr>
          <p:cNvPr id="5" name="TextBox 4">
            <a:extLst>
              <a:ext uri="{FF2B5EF4-FFF2-40B4-BE49-F238E27FC236}">
                <a16:creationId xmlns:a16="http://schemas.microsoft.com/office/drawing/2014/main" id="{CF155755-9413-C8AF-C84E-240B9E0C0C03}"/>
              </a:ext>
            </a:extLst>
          </p:cNvPr>
          <p:cNvSpPr txBox="1"/>
          <p:nvPr/>
        </p:nvSpPr>
        <p:spPr>
          <a:xfrm>
            <a:off x="1417718" y="2002769"/>
            <a:ext cx="10774282" cy="4306307"/>
          </a:xfrm>
          <a:prstGeom prst="rect">
            <a:avLst/>
          </a:prstGeom>
          <a:noFill/>
        </p:spPr>
        <p:txBody>
          <a:bodyPr wrap="square">
            <a:spAutoFit/>
          </a:bodyPr>
          <a:lstStyle/>
          <a:p>
            <a:pPr>
              <a:lnSpc>
                <a:spcPct val="107000"/>
              </a:lnSpc>
              <a:spcAft>
                <a:spcPts val="800"/>
              </a:spcAft>
            </a:pPr>
            <a:r>
              <a:rPr lang="en-IN" sz="2200" b="1"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Time Complexity:</a:t>
            </a:r>
            <a:r>
              <a:rPr lang="en-IN" sz="22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 </a:t>
            </a:r>
          </a:p>
          <a:p>
            <a:pPr>
              <a:lnSpc>
                <a:spcPct val="107000"/>
              </a:lnSpc>
              <a:spcAft>
                <a:spcPts val="800"/>
              </a:spcAft>
            </a:pPr>
            <a:r>
              <a:rPr lang="en-IN" sz="2200" dirty="0">
                <a:latin typeface="Times New Roman" panose="02020603050405020304" pitchFamily="18" charset="0"/>
                <a:ea typeface="Calibri" panose="020F0502020204030204" pitchFamily="34" charset="0"/>
                <a:cs typeface="Times New Roman" panose="02020603050405020304" pitchFamily="18" charset="0"/>
              </a:rPr>
              <a:t>Time Complexity of BFS algorithm can be obtained by the number of nodes traversed in BFS until the shallowest Node. Where the d= depth of shallowest solution and b is a node at every state.     </a:t>
            </a:r>
            <a:r>
              <a:rPr lang="en-IN" sz="2200" b="1" dirty="0">
                <a:latin typeface="Times New Roman" panose="02020603050405020304" pitchFamily="18" charset="0"/>
                <a:ea typeface="Calibri" panose="020F0502020204030204" pitchFamily="34" charset="0"/>
                <a:cs typeface="Times New Roman" panose="02020603050405020304" pitchFamily="18" charset="0"/>
              </a:rPr>
              <a:t>T (b) = 1+b</a:t>
            </a:r>
            <a:r>
              <a:rPr lang="en-IN" sz="2200" b="1" baseline="30000" dirty="0">
                <a:latin typeface="Times New Roman" panose="02020603050405020304" pitchFamily="18" charset="0"/>
                <a:ea typeface="Calibri" panose="020F0502020204030204" pitchFamily="34" charset="0"/>
                <a:cs typeface="Times New Roman" panose="02020603050405020304" pitchFamily="18" charset="0"/>
              </a:rPr>
              <a:t>2</a:t>
            </a:r>
            <a:r>
              <a:rPr lang="en-IN" sz="2200" b="1" dirty="0">
                <a:latin typeface="Times New Roman" panose="02020603050405020304" pitchFamily="18" charset="0"/>
                <a:ea typeface="Calibri" panose="020F0502020204030204" pitchFamily="34" charset="0"/>
                <a:cs typeface="Times New Roman" panose="02020603050405020304" pitchFamily="18" charset="0"/>
              </a:rPr>
              <a:t>+b</a:t>
            </a:r>
            <a:r>
              <a:rPr lang="en-IN" sz="2200" b="1" baseline="30000" dirty="0">
                <a:latin typeface="Times New Roman" panose="02020603050405020304" pitchFamily="18" charset="0"/>
                <a:ea typeface="Calibri" panose="020F0502020204030204" pitchFamily="34" charset="0"/>
                <a:cs typeface="Times New Roman" panose="02020603050405020304" pitchFamily="18" charset="0"/>
              </a:rPr>
              <a:t>3</a:t>
            </a:r>
            <a:r>
              <a:rPr lang="en-IN" sz="2200" b="1" dirty="0">
                <a:latin typeface="Times New Roman" panose="02020603050405020304" pitchFamily="18" charset="0"/>
                <a:ea typeface="Calibri" panose="020F0502020204030204" pitchFamily="34" charset="0"/>
                <a:cs typeface="Times New Roman" panose="02020603050405020304" pitchFamily="18" charset="0"/>
              </a:rPr>
              <a:t>+.......+ b</a:t>
            </a:r>
            <a:r>
              <a:rPr lang="en-IN" sz="2200" b="1" baseline="30000" dirty="0">
                <a:latin typeface="Times New Roman" panose="02020603050405020304" pitchFamily="18" charset="0"/>
                <a:ea typeface="Calibri" panose="020F0502020204030204" pitchFamily="34" charset="0"/>
                <a:cs typeface="Times New Roman" panose="02020603050405020304" pitchFamily="18" charset="0"/>
              </a:rPr>
              <a:t>d</a:t>
            </a:r>
            <a:r>
              <a:rPr lang="en-IN" sz="2200" b="1" dirty="0">
                <a:latin typeface="Times New Roman" panose="02020603050405020304" pitchFamily="18" charset="0"/>
                <a:ea typeface="Calibri" panose="020F0502020204030204" pitchFamily="34" charset="0"/>
                <a:cs typeface="Times New Roman" panose="02020603050405020304" pitchFamily="18" charset="0"/>
              </a:rPr>
              <a:t>= O (b</a:t>
            </a:r>
            <a:r>
              <a:rPr lang="en-IN" sz="2200" b="1" baseline="30000" dirty="0">
                <a:latin typeface="Times New Roman" panose="02020603050405020304" pitchFamily="18" charset="0"/>
                <a:ea typeface="Calibri" panose="020F0502020204030204" pitchFamily="34" charset="0"/>
                <a:cs typeface="Times New Roman" panose="02020603050405020304" pitchFamily="18" charset="0"/>
              </a:rPr>
              <a:t>d</a:t>
            </a:r>
            <a:r>
              <a:rPr lang="en-IN" sz="2200" b="1" dirty="0">
                <a:latin typeface="Times New Roman" panose="02020603050405020304" pitchFamily="18" charset="0"/>
                <a:ea typeface="Calibri" panose="020F0502020204030204" pitchFamily="34" charset="0"/>
                <a:cs typeface="Times New Roman" panose="02020603050405020304" pitchFamily="18" charset="0"/>
              </a:rPr>
              <a:t>)</a:t>
            </a:r>
          </a:p>
          <a:p>
            <a:pPr>
              <a:lnSpc>
                <a:spcPct val="107000"/>
              </a:lnSpc>
              <a:spcAft>
                <a:spcPts val="800"/>
              </a:spcAft>
            </a:pPr>
            <a:r>
              <a:rPr lang="en-IN" sz="2200" b="1"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Space Complexity:</a:t>
            </a:r>
            <a:r>
              <a:rPr lang="en-IN" sz="22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 </a:t>
            </a:r>
          </a:p>
          <a:p>
            <a:pPr>
              <a:lnSpc>
                <a:spcPct val="107000"/>
              </a:lnSpc>
              <a:spcAft>
                <a:spcPts val="800"/>
              </a:spcAft>
            </a:pPr>
            <a:r>
              <a:rPr lang="en-IN" sz="2200" dirty="0">
                <a:latin typeface="Times New Roman" panose="02020603050405020304" pitchFamily="18" charset="0"/>
                <a:ea typeface="Calibri" panose="020F0502020204030204" pitchFamily="34" charset="0"/>
                <a:cs typeface="Times New Roman" panose="02020603050405020304" pitchFamily="18" charset="0"/>
              </a:rPr>
              <a:t>Space complexity of BFS algorithm is given by the Memory size of frontier which is O(b</a:t>
            </a:r>
            <a:r>
              <a:rPr lang="en-IN" sz="2200" baseline="30000" dirty="0">
                <a:latin typeface="Times New Roman" panose="02020603050405020304" pitchFamily="18" charset="0"/>
                <a:ea typeface="Calibri" panose="020F0502020204030204" pitchFamily="34" charset="0"/>
                <a:cs typeface="Times New Roman" panose="02020603050405020304" pitchFamily="18" charset="0"/>
              </a:rPr>
              <a:t>d</a:t>
            </a:r>
            <a:r>
              <a:rPr lang="en-IN" sz="2200" dirty="0">
                <a:latin typeface="Times New Roman" panose="02020603050405020304" pitchFamily="18" charset="0"/>
                <a:ea typeface="Calibri" panose="020F0502020204030204" pitchFamily="34" charset="0"/>
                <a:cs typeface="Times New Roman" panose="02020603050405020304" pitchFamily="18" charset="0"/>
              </a:rPr>
              <a:t>).</a:t>
            </a:r>
          </a:p>
          <a:p>
            <a:pPr>
              <a:lnSpc>
                <a:spcPct val="107000"/>
              </a:lnSpc>
              <a:spcAft>
                <a:spcPts val="800"/>
              </a:spcAft>
            </a:pPr>
            <a:r>
              <a:rPr lang="en-IN" sz="2200" b="1"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Completeness:</a:t>
            </a:r>
            <a:r>
              <a:rPr lang="en-IN" sz="22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 </a:t>
            </a:r>
          </a:p>
          <a:p>
            <a:pPr>
              <a:lnSpc>
                <a:spcPct val="107000"/>
              </a:lnSpc>
              <a:spcAft>
                <a:spcPts val="800"/>
              </a:spcAft>
            </a:pPr>
            <a:r>
              <a:rPr lang="en-IN" sz="2200" dirty="0">
                <a:latin typeface="Times New Roman" panose="02020603050405020304" pitchFamily="18" charset="0"/>
                <a:ea typeface="Calibri" panose="020F0502020204030204" pitchFamily="34" charset="0"/>
                <a:cs typeface="Times New Roman" panose="02020603050405020304" pitchFamily="18" charset="0"/>
              </a:rPr>
              <a:t>BFS is complete, which means if the shallowest goal node is at some finite depth, then BFS will find a solution.</a:t>
            </a:r>
          </a:p>
          <a:p>
            <a:pPr>
              <a:lnSpc>
                <a:spcPct val="107000"/>
              </a:lnSpc>
              <a:spcAft>
                <a:spcPts val="800"/>
              </a:spcAft>
            </a:pPr>
            <a:r>
              <a:rPr lang="en-IN" sz="2200" b="1"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Optimality:</a:t>
            </a:r>
            <a:r>
              <a:rPr lang="en-IN" sz="2200" dirty="0">
                <a:latin typeface="Times New Roman" panose="02020603050405020304" pitchFamily="18" charset="0"/>
                <a:ea typeface="Calibri" panose="020F0502020204030204" pitchFamily="34" charset="0"/>
                <a:cs typeface="Times New Roman" panose="02020603050405020304" pitchFamily="18" charset="0"/>
              </a:rPr>
              <a:t> BFS is optimal if path cost is a non-decreasing function of the depth of the node.</a:t>
            </a:r>
          </a:p>
        </p:txBody>
      </p:sp>
    </p:spTree>
    <p:extLst>
      <p:ext uri="{BB962C8B-B14F-4D97-AF65-F5344CB8AC3E}">
        <p14:creationId xmlns:p14="http://schemas.microsoft.com/office/powerpoint/2010/main" val="1461707983"/>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501254" y="1189789"/>
            <a:ext cx="8611737" cy="1005083"/>
          </a:xfrm>
          <a:prstGeom prst="rect">
            <a:avLst/>
          </a:prstGeom>
        </p:spPr>
        <p:txBody>
          <a:bodyPr wrap="square">
            <a:spAutoFit/>
          </a:bodyPr>
          <a:lstStyle/>
          <a:p>
            <a:pPr>
              <a:lnSpc>
                <a:spcPct val="107000"/>
              </a:lnSpc>
              <a:spcAft>
                <a:spcPts val="800"/>
              </a:spcAft>
            </a:pPr>
            <a:r>
              <a:rPr lang="en-IN" sz="3200" b="1" dirty="0">
                <a:solidFill>
                  <a:srgbClr val="FF0000"/>
                </a:solidFill>
                <a:latin typeface="Gill Sans MT (Body)"/>
                <a:ea typeface="Calibri" panose="020F0502020204030204" pitchFamily="34" charset="0"/>
                <a:cs typeface="Times New Roman" panose="02020603050405020304" pitchFamily="18" charset="0"/>
              </a:rPr>
              <a:t>Bidirectional Search</a:t>
            </a:r>
            <a:endParaRPr lang="en-IN" sz="2000" b="1" dirty="0">
              <a:solidFill>
                <a:srgbClr val="FF0000"/>
              </a:solidFill>
              <a:latin typeface="Gill Sans MT (Body)"/>
              <a:ea typeface="Calibri" panose="020F0502020204030204" pitchFamily="34" charset="0"/>
              <a:cs typeface="Times New Roman" panose="02020603050405020304" pitchFamily="18" charset="0"/>
            </a:endParaRPr>
          </a:p>
          <a:p>
            <a:pPr marL="342900" indent="-342900">
              <a:lnSpc>
                <a:spcPct val="107000"/>
              </a:lnSpc>
              <a:spcAft>
                <a:spcPts val="800"/>
              </a:spcAft>
              <a:buSzPts val="1000"/>
              <a:buFont typeface="Courier New" panose="02070309020205020404" pitchFamily="49" charset="0"/>
              <a:buChar char="o"/>
              <a:tabLst>
                <a:tab pos="457200" algn="l"/>
              </a:tabLst>
            </a:pPr>
            <a:endParaRPr lang="en-IN" dirty="0">
              <a:solidFill>
                <a:srgbClr val="C0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CBABCCC1-BF11-4F37-963E-1BCD5B23FD72}" type="slidenum">
              <a:rPr lang="en-IN" smtClean="0"/>
              <a:t>27</a:t>
            </a:fld>
            <a:endParaRPr lang="en-IN"/>
          </a:p>
        </p:txBody>
      </p:sp>
      <p:sp>
        <p:nvSpPr>
          <p:cNvPr id="6" name="TextBox 5">
            <a:extLst>
              <a:ext uri="{FF2B5EF4-FFF2-40B4-BE49-F238E27FC236}">
                <a16:creationId xmlns:a16="http://schemas.microsoft.com/office/drawing/2014/main" id="{79DEB0AB-FE5F-7312-730E-397D39420DC8}"/>
              </a:ext>
            </a:extLst>
          </p:cNvPr>
          <p:cNvSpPr txBox="1"/>
          <p:nvPr/>
        </p:nvSpPr>
        <p:spPr>
          <a:xfrm>
            <a:off x="1405720" y="2065949"/>
            <a:ext cx="10044752" cy="2795958"/>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Bidirectional Search is an algorithm that simultaneously </a:t>
            </a:r>
            <a:r>
              <a:rPr lang="en-US" sz="2400" i="1" dirty="0">
                <a:solidFill>
                  <a:srgbClr val="FF0000"/>
                </a:solidFill>
                <a:latin typeface="Times New Roman" panose="02020603050405020304" pitchFamily="18" charset="0"/>
                <a:cs typeface="Times New Roman" panose="02020603050405020304" pitchFamily="18" charset="0"/>
              </a:rPr>
              <a:t>searches forward from the initial state and backward from the goal state </a:t>
            </a:r>
            <a:r>
              <a:rPr lang="en-US" sz="2400" dirty="0">
                <a:latin typeface="Times New Roman" panose="02020603050405020304" pitchFamily="18" charset="0"/>
                <a:cs typeface="Times New Roman" panose="02020603050405020304" pitchFamily="18" charset="0"/>
              </a:rPr>
              <a:t>until the two searches meet. </a:t>
            </a:r>
          </a:p>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This method can significantly reduce the search time, as each search only needs to explore half the depth of the search space.</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14377114"/>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501254" y="1189789"/>
            <a:ext cx="8611737" cy="1005083"/>
          </a:xfrm>
          <a:prstGeom prst="rect">
            <a:avLst/>
          </a:prstGeom>
        </p:spPr>
        <p:txBody>
          <a:bodyPr wrap="square">
            <a:spAutoFit/>
          </a:bodyPr>
          <a:lstStyle/>
          <a:p>
            <a:pPr>
              <a:lnSpc>
                <a:spcPct val="107000"/>
              </a:lnSpc>
              <a:spcAft>
                <a:spcPts val="800"/>
              </a:spcAft>
            </a:pPr>
            <a:r>
              <a:rPr lang="en-IN" sz="3200" b="1" dirty="0">
                <a:solidFill>
                  <a:srgbClr val="FF0000"/>
                </a:solidFill>
                <a:latin typeface="Gill Sans MT (Body)"/>
                <a:ea typeface="Calibri" panose="020F0502020204030204" pitchFamily="34" charset="0"/>
                <a:cs typeface="Times New Roman" panose="02020603050405020304" pitchFamily="18" charset="0"/>
              </a:rPr>
              <a:t>Bidirectional Search</a:t>
            </a:r>
            <a:endParaRPr lang="en-IN" sz="2000" b="1" dirty="0">
              <a:solidFill>
                <a:srgbClr val="FF0000"/>
              </a:solidFill>
              <a:latin typeface="Gill Sans MT (Body)"/>
              <a:ea typeface="Calibri" panose="020F0502020204030204" pitchFamily="34" charset="0"/>
              <a:cs typeface="Times New Roman" panose="02020603050405020304" pitchFamily="18" charset="0"/>
            </a:endParaRPr>
          </a:p>
          <a:p>
            <a:pPr marL="342900" indent="-342900">
              <a:lnSpc>
                <a:spcPct val="107000"/>
              </a:lnSpc>
              <a:spcAft>
                <a:spcPts val="800"/>
              </a:spcAft>
              <a:buSzPts val="1000"/>
              <a:buFont typeface="Courier New" panose="02070309020205020404" pitchFamily="49" charset="0"/>
              <a:buChar char="o"/>
              <a:tabLst>
                <a:tab pos="457200" algn="l"/>
              </a:tabLst>
            </a:pPr>
            <a:endParaRPr lang="en-IN" dirty="0">
              <a:solidFill>
                <a:srgbClr val="C0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CBABCCC1-BF11-4F37-963E-1BCD5B23FD72}" type="slidenum">
              <a:rPr lang="en-IN" smtClean="0"/>
              <a:t>28</a:t>
            </a:fld>
            <a:endParaRPr lang="en-IN"/>
          </a:p>
        </p:txBody>
      </p:sp>
      <p:sp>
        <p:nvSpPr>
          <p:cNvPr id="8" name="TextBox 7">
            <a:extLst>
              <a:ext uri="{FF2B5EF4-FFF2-40B4-BE49-F238E27FC236}">
                <a16:creationId xmlns:a16="http://schemas.microsoft.com/office/drawing/2014/main" id="{2FE60203-88F4-F564-7DAD-E2FBF7F43C56}"/>
              </a:ext>
            </a:extLst>
          </p:cNvPr>
          <p:cNvSpPr txBox="1"/>
          <p:nvPr/>
        </p:nvSpPr>
        <p:spPr>
          <a:xfrm>
            <a:off x="1501254" y="1772543"/>
            <a:ext cx="10126639" cy="4457952"/>
          </a:xfrm>
          <a:prstGeom prst="rect">
            <a:avLst/>
          </a:prstGeom>
          <a:noFill/>
        </p:spPr>
        <p:txBody>
          <a:bodyPr wrap="square">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Completeness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Bidirectional search is complete if both searches use an algorithm like BFS.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Optimality</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Bidirectional search is optimal if both searches use BFS and all step costs are equal.</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Time Complexity</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O(b^(d/2)), </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where b is the branching factor and d is the depth of the solution</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This is exponentially faster than O(</a:t>
            </a: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b^d</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Space Complexity</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O(b^(d/2)), as it needs to store the nodes at the frontier of both searches. </a:t>
            </a:r>
          </a:p>
        </p:txBody>
      </p:sp>
    </p:spTree>
    <p:extLst>
      <p:ext uri="{BB962C8B-B14F-4D97-AF65-F5344CB8AC3E}">
        <p14:creationId xmlns:p14="http://schemas.microsoft.com/office/powerpoint/2010/main" val="3590798841"/>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501254" y="1189789"/>
            <a:ext cx="8611737" cy="1005083"/>
          </a:xfrm>
          <a:prstGeom prst="rect">
            <a:avLst/>
          </a:prstGeom>
        </p:spPr>
        <p:txBody>
          <a:bodyPr wrap="square">
            <a:spAutoFit/>
          </a:bodyPr>
          <a:lstStyle/>
          <a:p>
            <a:pPr>
              <a:lnSpc>
                <a:spcPct val="107000"/>
              </a:lnSpc>
              <a:spcAft>
                <a:spcPts val="800"/>
              </a:spcAft>
            </a:pPr>
            <a:r>
              <a:rPr lang="en-IN" sz="3200" b="1" dirty="0">
                <a:solidFill>
                  <a:srgbClr val="FF0000"/>
                </a:solidFill>
                <a:latin typeface="Gill Sans MT (Body)"/>
                <a:ea typeface="Calibri" panose="020F0502020204030204" pitchFamily="34" charset="0"/>
                <a:cs typeface="Times New Roman" panose="02020603050405020304" pitchFamily="18" charset="0"/>
              </a:rPr>
              <a:t>Bidirectional Search</a:t>
            </a:r>
            <a:endParaRPr lang="en-IN" sz="2000" b="1" dirty="0">
              <a:solidFill>
                <a:srgbClr val="FF0000"/>
              </a:solidFill>
              <a:latin typeface="Gill Sans MT (Body)"/>
              <a:ea typeface="Calibri" panose="020F0502020204030204" pitchFamily="34" charset="0"/>
              <a:cs typeface="Times New Roman" panose="02020603050405020304" pitchFamily="18" charset="0"/>
            </a:endParaRPr>
          </a:p>
          <a:p>
            <a:pPr marL="342900" indent="-342900">
              <a:lnSpc>
                <a:spcPct val="107000"/>
              </a:lnSpc>
              <a:spcAft>
                <a:spcPts val="800"/>
              </a:spcAft>
              <a:buSzPts val="1000"/>
              <a:buFont typeface="Courier New" panose="02070309020205020404" pitchFamily="49" charset="0"/>
              <a:buChar char="o"/>
              <a:tabLst>
                <a:tab pos="457200" algn="l"/>
              </a:tabLst>
            </a:pPr>
            <a:endParaRPr lang="en-IN" dirty="0">
              <a:solidFill>
                <a:srgbClr val="C0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CBABCCC1-BF11-4F37-963E-1BCD5B23FD72}" type="slidenum">
              <a:rPr lang="en-IN" smtClean="0"/>
              <a:t>29</a:t>
            </a:fld>
            <a:endParaRPr lang="en-IN"/>
          </a:p>
        </p:txBody>
      </p:sp>
      <p:pic>
        <p:nvPicPr>
          <p:cNvPr id="6" name="Picture 5" descr="Uninformed Search Algorithms"/>
          <p:cNvPicPr/>
          <p:nvPr/>
        </p:nvPicPr>
        <p:blipFill rotWithShape="1">
          <a:blip r:embed="rId2">
            <a:extLst>
              <a:ext uri="{28A0092B-C50C-407E-A947-70E740481C1C}">
                <a14:useLocalDpi xmlns:a14="http://schemas.microsoft.com/office/drawing/2010/main" val="0"/>
              </a:ext>
            </a:extLst>
          </a:blip>
          <a:srcRect l="5953" t="10122" r="7376" b="4719"/>
          <a:stretch/>
        </p:blipFill>
        <p:spPr bwMode="auto">
          <a:xfrm>
            <a:off x="2770496" y="2248249"/>
            <a:ext cx="6516379" cy="3781076"/>
          </a:xfrm>
          <a:prstGeom prst="rect">
            <a:avLst/>
          </a:prstGeom>
          <a:noFill/>
          <a:ln>
            <a:noFill/>
          </a:ln>
        </p:spPr>
      </p:pic>
    </p:spTree>
    <p:extLst>
      <p:ext uri="{BB962C8B-B14F-4D97-AF65-F5344CB8AC3E}">
        <p14:creationId xmlns:p14="http://schemas.microsoft.com/office/powerpoint/2010/main" val="3440608633"/>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511</TotalTime>
  <Words>1740</Words>
  <Application>Microsoft Office PowerPoint</Application>
  <PresentationFormat>Widescreen</PresentationFormat>
  <Paragraphs>168</Paragraphs>
  <Slides>29</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29</vt:i4>
      </vt:variant>
    </vt:vector>
  </HeadingPairs>
  <TitlesOfParts>
    <vt:vector size="38" baseType="lpstr">
      <vt:lpstr>Arial</vt:lpstr>
      <vt:lpstr>Arial Black</vt:lpstr>
      <vt:lpstr>Calibri</vt:lpstr>
      <vt:lpstr>Calibri Light</vt:lpstr>
      <vt:lpstr>Courier New</vt:lpstr>
      <vt:lpstr>Gill Sans MT</vt:lpstr>
      <vt:lpstr>Gill Sans MT (Body)</vt:lpstr>
      <vt:lpstr>Times New Roman</vt:lpstr>
      <vt:lpstr>Office Theme</vt:lpstr>
      <vt:lpstr>PowerPoint Presentation</vt:lpstr>
      <vt:lpstr>Objectives</vt:lpstr>
      <vt:lpstr>Essence of search</vt:lpstr>
      <vt:lpstr>Process for searching</vt:lpstr>
      <vt:lpstr>Search Algorithms in AI</vt:lpstr>
      <vt:lpstr>PowerPoint Presentation</vt:lpstr>
      <vt:lpstr>Measuring problem-solving performance</vt:lpstr>
      <vt:lpstr>Measuring problem-solving performance</vt:lpstr>
      <vt:lpstr>CONTD..</vt:lpstr>
      <vt:lpstr>Uninformed Search Algorithms: </vt:lpstr>
      <vt:lpstr>PowerPoint Presentation</vt:lpstr>
      <vt:lpstr>CONTD..</vt:lpstr>
      <vt:lpstr>Depth-First Search (DFS) </vt:lpstr>
      <vt:lpstr>PowerPoint Presentation</vt:lpstr>
      <vt:lpstr>CONTD..  Algorithm Pseudocode:  </vt:lpstr>
      <vt:lpstr>Time and space complexity </vt:lpstr>
      <vt:lpstr>Advantages </vt:lpstr>
      <vt:lpstr>Disadvantages </vt:lpstr>
      <vt:lpstr> Breadth-First Search (BFS)</vt:lpstr>
      <vt:lpstr>CONTD.. Algorithm Pseudocode:  </vt:lpstr>
      <vt:lpstr>CONTD..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 Manika Prasuna</dc:creator>
  <cp:lastModifiedBy>P Manika Prasuna</cp:lastModifiedBy>
  <cp:revision>32</cp:revision>
  <dcterms:created xsi:type="dcterms:W3CDTF">2025-05-12T05:57:37Z</dcterms:created>
  <dcterms:modified xsi:type="dcterms:W3CDTF">2025-08-18T06:20:16Z</dcterms:modified>
</cp:coreProperties>
</file>