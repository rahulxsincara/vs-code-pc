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4" r:id="rId2"/>
    <p:sldId id="324" r:id="rId3"/>
    <p:sldId id="332" r:id="rId4"/>
    <p:sldId id="342" r:id="rId5"/>
    <p:sldId id="343" r:id="rId6"/>
    <p:sldId id="344" r:id="rId7"/>
    <p:sldId id="358" r:id="rId8"/>
    <p:sldId id="345" r:id="rId9"/>
    <p:sldId id="346" r:id="rId10"/>
    <p:sldId id="347" r:id="rId11"/>
    <p:sldId id="348" r:id="rId12"/>
    <p:sldId id="349" r:id="rId13"/>
    <p:sldId id="350" r:id="rId14"/>
    <p:sldId id="333" r:id="rId15"/>
    <p:sldId id="334" r:id="rId16"/>
    <p:sldId id="351" r:id="rId17"/>
    <p:sldId id="300" r:id="rId18"/>
    <p:sldId id="284" r:id="rId19"/>
    <p:sldId id="323" r:id="rId20"/>
    <p:sldId id="28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3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B34D2-A636-4C17-8987-D684C5E88F2A}"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60177-A36F-4BE9-B761-CDDC41C50796}" type="slidenum">
              <a:rPr lang="en-IN" smtClean="0"/>
              <a:t>‹#›</a:t>
            </a:fld>
            <a:endParaRPr lang="en-IN"/>
          </a:p>
        </p:txBody>
      </p:sp>
    </p:spTree>
    <p:extLst>
      <p:ext uri="{BB962C8B-B14F-4D97-AF65-F5344CB8AC3E}">
        <p14:creationId xmlns:p14="http://schemas.microsoft.com/office/powerpoint/2010/main" val="3425456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19</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4CF674-8B13-461D-8194-7DA1354BCB29}"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86868B-4366-4D54-86E3-EB74796ECCE6}" type="slidenum">
              <a:rPr lang="en-US" smtClean="0"/>
              <a:t>‹#›</a:t>
            </a:fld>
            <a:endParaRPr lang="en-US"/>
          </a:p>
        </p:txBody>
      </p:sp>
      <p:pic>
        <p:nvPicPr>
          <p:cNvPr id="7" name="Picture 2" descr="KL University - Wikipedia">
            <a:extLst>
              <a:ext uri="{FF2B5EF4-FFF2-40B4-BE49-F238E27FC236}">
                <a16:creationId xmlns:a16="http://schemas.microsoft.com/office/drawing/2014/main" id="{F7306417-10B8-10CD-D1EC-D26B22372D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776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4CF674-8B13-461D-8194-7DA1354BCB29}"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86868B-4366-4D54-86E3-EB74796ECCE6}" type="slidenum">
              <a:rPr lang="en-US" smtClean="0"/>
              <a:t>‹#›</a:t>
            </a:fld>
            <a:endParaRPr lang="en-US"/>
          </a:p>
        </p:txBody>
      </p:sp>
      <p:pic>
        <p:nvPicPr>
          <p:cNvPr id="7" name="Picture 2" descr="KL University - Wikipedia">
            <a:extLst>
              <a:ext uri="{FF2B5EF4-FFF2-40B4-BE49-F238E27FC236}">
                <a16:creationId xmlns:a16="http://schemas.microsoft.com/office/drawing/2014/main" id="{5C9AC99A-4661-BFD4-BEA7-54DDFD8A16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821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4CF674-8B13-461D-8194-7DA1354BCB29}"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86868B-4366-4D54-86E3-EB74796ECCE6}" type="slidenum">
              <a:rPr lang="en-US" smtClean="0"/>
              <a:t>‹#›</a:t>
            </a:fld>
            <a:endParaRPr lang="en-US"/>
          </a:p>
        </p:txBody>
      </p:sp>
      <p:pic>
        <p:nvPicPr>
          <p:cNvPr id="7" name="Picture 2" descr="KL University - Wikipedia">
            <a:extLst>
              <a:ext uri="{FF2B5EF4-FFF2-40B4-BE49-F238E27FC236}">
                <a16:creationId xmlns:a16="http://schemas.microsoft.com/office/drawing/2014/main" id="{A8C81B3A-86A4-4FD4-FAA1-DD16F863F2B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26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4CF674-8B13-461D-8194-7DA1354BCB29}"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86868B-4366-4D54-86E3-EB74796ECCE6}" type="slidenum">
              <a:rPr lang="en-US" smtClean="0"/>
              <a:t>‹#›</a:t>
            </a:fld>
            <a:endParaRPr lang="en-US"/>
          </a:p>
        </p:txBody>
      </p:sp>
      <p:pic>
        <p:nvPicPr>
          <p:cNvPr id="8" name="Picture 2" descr="KL University - Wikipedia">
            <a:extLst>
              <a:ext uri="{FF2B5EF4-FFF2-40B4-BE49-F238E27FC236}">
                <a16:creationId xmlns:a16="http://schemas.microsoft.com/office/drawing/2014/main" id="{EA28492C-4D42-A8B6-F86A-7BF51BF23EF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97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4CF674-8B13-461D-8194-7DA1354BCB29}"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86868B-4366-4D54-86E3-EB74796ECCE6}" type="slidenum">
              <a:rPr lang="en-US" smtClean="0"/>
              <a:t>‹#›</a:t>
            </a:fld>
            <a:endParaRPr lang="en-US"/>
          </a:p>
        </p:txBody>
      </p:sp>
      <p:pic>
        <p:nvPicPr>
          <p:cNvPr id="10" name="Picture 2" descr="KL University - Wikipedia">
            <a:extLst>
              <a:ext uri="{FF2B5EF4-FFF2-40B4-BE49-F238E27FC236}">
                <a16:creationId xmlns:a16="http://schemas.microsoft.com/office/drawing/2014/main" id="{70B6582A-1D52-BCF7-CDAC-2C12E87F99B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20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4CF674-8B13-461D-8194-7DA1354BCB29}"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86868B-4366-4D54-86E3-EB74796ECCE6}" type="slidenum">
              <a:rPr lang="en-US" smtClean="0"/>
              <a:t>‹#›</a:t>
            </a:fld>
            <a:endParaRPr lang="en-US"/>
          </a:p>
        </p:txBody>
      </p:sp>
      <p:pic>
        <p:nvPicPr>
          <p:cNvPr id="6" name="Picture 2" descr="KL University - Wikipedia">
            <a:extLst>
              <a:ext uri="{FF2B5EF4-FFF2-40B4-BE49-F238E27FC236}">
                <a16:creationId xmlns:a16="http://schemas.microsoft.com/office/drawing/2014/main" id="{2F47370A-AB21-9DD2-BDAB-3471003518A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302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4CF674-8B13-461D-8194-7DA1354BCB29}"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86868B-4366-4D54-86E3-EB74796ECCE6}" type="slidenum">
              <a:rPr lang="en-US" smtClean="0"/>
              <a:t>‹#›</a:t>
            </a:fld>
            <a:endParaRPr lang="en-US"/>
          </a:p>
        </p:txBody>
      </p:sp>
      <p:pic>
        <p:nvPicPr>
          <p:cNvPr id="5" name="Picture 2" descr="KL University - Wikipedia">
            <a:extLst>
              <a:ext uri="{FF2B5EF4-FFF2-40B4-BE49-F238E27FC236}">
                <a16:creationId xmlns:a16="http://schemas.microsoft.com/office/drawing/2014/main" id="{E617EE0A-F537-848E-A2E0-C4B65C328B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078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CF674-8B13-461D-8194-7DA1354BCB29}"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86868B-4366-4D54-86E3-EB74796ECCE6}" type="slidenum">
              <a:rPr lang="en-US" smtClean="0"/>
              <a:t>‹#›</a:t>
            </a:fld>
            <a:endParaRPr lang="en-US"/>
          </a:p>
        </p:txBody>
      </p:sp>
      <p:pic>
        <p:nvPicPr>
          <p:cNvPr id="8" name="Picture 2" descr="KL University - Wikipedia">
            <a:extLst>
              <a:ext uri="{FF2B5EF4-FFF2-40B4-BE49-F238E27FC236}">
                <a16:creationId xmlns:a16="http://schemas.microsoft.com/office/drawing/2014/main" id="{CCA7C4FF-DF05-35EC-FF5C-BE5C3CF93E9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71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CF674-8B13-461D-8194-7DA1354BCB29}"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86868B-4366-4D54-86E3-EB74796ECCE6}" type="slidenum">
              <a:rPr lang="en-US" smtClean="0"/>
              <a:t>‹#›</a:t>
            </a:fld>
            <a:endParaRPr lang="en-US"/>
          </a:p>
        </p:txBody>
      </p:sp>
      <p:pic>
        <p:nvPicPr>
          <p:cNvPr id="8" name="Picture 2" descr="KL University - Wikipedia">
            <a:extLst>
              <a:ext uri="{FF2B5EF4-FFF2-40B4-BE49-F238E27FC236}">
                <a16:creationId xmlns:a16="http://schemas.microsoft.com/office/drawing/2014/main" id="{388E3BE9-151B-E7A8-F891-0DAD4C667E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453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4CF674-8B13-461D-8194-7DA1354BCB29}"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86868B-4366-4D54-86E3-EB74796ECCE6}" type="slidenum">
              <a:rPr lang="en-US" smtClean="0"/>
              <a:t>‹#›</a:t>
            </a:fld>
            <a:endParaRPr lang="en-US"/>
          </a:p>
        </p:txBody>
      </p:sp>
      <p:pic>
        <p:nvPicPr>
          <p:cNvPr id="7" name="Picture 2" descr="KL University - Wikipedia">
            <a:extLst>
              <a:ext uri="{FF2B5EF4-FFF2-40B4-BE49-F238E27FC236}">
                <a16:creationId xmlns:a16="http://schemas.microsoft.com/office/drawing/2014/main" id="{9AB71A13-3C59-CFF1-B17B-B751A230FD3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350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4CF674-8B13-461D-8194-7DA1354BCB29}"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86868B-4366-4D54-86E3-EB74796ECCE6}" type="slidenum">
              <a:rPr lang="en-US" smtClean="0"/>
              <a:t>‹#›</a:t>
            </a:fld>
            <a:endParaRPr lang="en-US"/>
          </a:p>
        </p:txBody>
      </p:sp>
    </p:spTree>
    <p:extLst>
      <p:ext uri="{BB962C8B-B14F-4D97-AF65-F5344CB8AC3E}">
        <p14:creationId xmlns:p14="http://schemas.microsoft.com/office/powerpoint/2010/main" val="1840034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4CF674-8B13-461D-8194-7DA1354BCB29}" type="datetimeFigureOut">
              <a:rPr lang="en-US" smtClean="0"/>
              <a:t>8/18/2025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86868B-4366-4D54-86E3-EB74796ECCE6}" type="slidenum">
              <a:rPr lang="en-US" smtClean="0"/>
              <a:t>‹#›</a:t>
            </a:fld>
            <a:endParaRPr lang="en-US"/>
          </a:p>
        </p:txBody>
      </p:sp>
    </p:spTree>
    <p:extLst>
      <p:ext uri="{BB962C8B-B14F-4D97-AF65-F5344CB8AC3E}">
        <p14:creationId xmlns:p14="http://schemas.microsoft.com/office/powerpoint/2010/main" val="4027885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udo.a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0"/>
            <a:ext cx="1707286" cy="86042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267097" y="1288145"/>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621975"/>
            <a:ext cx="9657806" cy="1938992"/>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Lab SESSION NO : 12</a:t>
            </a:r>
            <a:endParaRPr lang="en-US" sz="3000" b="1" cap="all" dirty="0">
              <a:latin typeface="Gill Sans MT"/>
              <a:ea typeface="+mj-ea"/>
              <a:cs typeface="+mj-cs"/>
            </a:endParaRPr>
          </a:p>
          <a:p>
            <a:pPr algn="ctr"/>
            <a:r>
              <a:rPr lang="en-US" sz="3000" dirty="0"/>
              <a:t> AI Applications</a:t>
            </a:r>
          </a:p>
          <a:p>
            <a:pPr algn="ctr"/>
            <a:r>
              <a:rPr lang="en-US" sz="3000" dirty="0"/>
              <a:t>Applications in robotics, logistics, expert systems + CO1 revision.</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823" y="-79011"/>
            <a:ext cx="10589623" cy="1325563"/>
          </a:xfrm>
        </p:spPr>
        <p:txBody>
          <a:bodyPr>
            <a:normAutofit fontScale="90000"/>
          </a:bodyPr>
          <a:lstStyle/>
          <a:p>
            <a:pPr algn="ctr" fontAlgn="base"/>
            <a:r>
              <a:rPr lang="en-US" b="1" dirty="0"/>
              <a:t>AI Applications:</a:t>
            </a:r>
            <a:r>
              <a:rPr lang="en-US" dirty="0"/>
              <a:t> </a:t>
            </a:r>
            <a:br>
              <a:rPr lang="en-US" dirty="0"/>
            </a:br>
            <a:r>
              <a:rPr lang="en-US" dirty="0"/>
              <a:t>Search in robotics, logistics, games, expert systems</a:t>
            </a:r>
          </a:p>
        </p:txBody>
      </p:sp>
      <p:sp>
        <p:nvSpPr>
          <p:cNvPr id="3" name="Content Placeholder 2"/>
          <p:cNvSpPr>
            <a:spLocks noGrp="1"/>
          </p:cNvSpPr>
          <p:nvPr>
            <p:ph idx="1"/>
          </p:nvPr>
        </p:nvSpPr>
        <p:spPr>
          <a:xfrm>
            <a:off x="313508" y="1246552"/>
            <a:ext cx="11564983" cy="3082834"/>
          </a:xfrm>
        </p:spPr>
        <p:txBody>
          <a:bodyPr>
            <a:noAutofit/>
          </a:bodyPr>
          <a:lstStyle/>
          <a:p>
            <a:pPr algn="just">
              <a:lnSpc>
                <a:spcPct val="160000"/>
              </a:lnSpc>
            </a:pPr>
            <a:r>
              <a:rPr lang="en-US" sz="2400" dirty="0"/>
              <a:t>  Artificial Intelligence (AI) applications are transforming various sectors, including </a:t>
            </a:r>
            <a:r>
              <a:rPr lang="en-US" sz="2400" b="1" dirty="0"/>
              <a:t>robotics, logistics, games, and expert systems, by enhancing efficiency, enabling automation, and improving decision-making</a:t>
            </a:r>
            <a:r>
              <a:rPr lang="en-US" sz="2400" dirty="0"/>
              <a:t>. </a:t>
            </a:r>
          </a:p>
          <a:p>
            <a:pPr algn="just">
              <a:lnSpc>
                <a:spcPct val="160000"/>
              </a:lnSpc>
            </a:pPr>
            <a:r>
              <a:rPr lang="en-US" sz="2400" dirty="0"/>
              <a:t>In </a:t>
            </a:r>
            <a:r>
              <a:rPr lang="en-US" sz="2400" b="1" dirty="0"/>
              <a:t>robotics</a:t>
            </a:r>
            <a:r>
              <a:rPr lang="en-US" sz="2400" dirty="0"/>
              <a:t>, AI empowers robots with enhanced perception through visual systems for </a:t>
            </a:r>
            <a:r>
              <a:rPr lang="en-US" sz="2400" b="1" dirty="0"/>
              <a:t>object recognition and scene analysis, leading to advanced autonomous vehicles, manufacturing robots, and healthcare devices</a:t>
            </a:r>
            <a:r>
              <a:rPr lang="en-US" sz="2400" dirty="0"/>
              <a:t>. </a:t>
            </a:r>
          </a:p>
          <a:p>
            <a:pPr algn="just">
              <a:lnSpc>
                <a:spcPct val="160000"/>
              </a:lnSpc>
            </a:pPr>
            <a:r>
              <a:rPr lang="en-US" sz="2400" dirty="0"/>
              <a:t>In </a:t>
            </a:r>
            <a:r>
              <a:rPr lang="en-US" sz="2400" b="1" dirty="0"/>
              <a:t>logistics</a:t>
            </a:r>
            <a:r>
              <a:rPr lang="en-US" sz="2400" dirty="0"/>
              <a:t>, AI optimizes operations, from </a:t>
            </a:r>
            <a:r>
              <a:rPr lang="en-US" sz="2400" b="1" dirty="0"/>
              <a:t>route planning and inventory management to supply chain synchronization</a:t>
            </a:r>
            <a:r>
              <a:rPr lang="en-US" sz="2400" dirty="0"/>
              <a:t> and last-mile delivery automation through autonomous vehicles and drones.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241087" y="1763183"/>
            <a:ext cx="11506776" cy="4174053"/>
          </a:xfrm>
        </p:spPr>
        <p:txBody>
          <a:bodyPr>
            <a:normAutofit/>
          </a:bodyPr>
          <a:lstStyle/>
          <a:p>
            <a:pPr algn="just">
              <a:lnSpc>
                <a:spcPct val="150000"/>
              </a:lnSpc>
            </a:pPr>
            <a:r>
              <a:rPr lang="en-US" sz="2400" dirty="0"/>
              <a:t>In </a:t>
            </a:r>
            <a:r>
              <a:rPr lang="en-US" sz="2400" b="1" dirty="0"/>
              <a:t>games</a:t>
            </a:r>
            <a:r>
              <a:rPr lang="en-US" sz="2400" dirty="0"/>
              <a:t>, AI </a:t>
            </a:r>
            <a:r>
              <a:rPr lang="en-US" sz="2400" b="1" dirty="0"/>
              <a:t>creates responsive and adaptive experiences, </a:t>
            </a:r>
            <a:r>
              <a:rPr lang="en-US" sz="2400" dirty="0"/>
              <a:t>primarily through intelligent non-player characters (NPCs) that exhibit human-like behavior. </a:t>
            </a:r>
          </a:p>
          <a:p>
            <a:pPr algn="just">
              <a:lnSpc>
                <a:spcPct val="150000"/>
              </a:lnSpc>
            </a:pPr>
            <a:r>
              <a:rPr lang="en-US" sz="2400" b="1" dirty="0"/>
              <a:t>Expert systems </a:t>
            </a:r>
            <a:r>
              <a:rPr lang="en-US" sz="2400" dirty="0"/>
              <a:t>in AI, relying </a:t>
            </a:r>
            <a:r>
              <a:rPr lang="en-US" sz="2400" b="1" dirty="0"/>
              <a:t>on data and rules, provide consistent and unbiased recommendations, automating tasks, saving time, and reducing costs </a:t>
            </a:r>
            <a:r>
              <a:rPr lang="en-US" sz="2400" dirty="0"/>
              <a:t>in various domains</a:t>
            </a:r>
            <a:r>
              <a:rPr lang="en-US" sz="2400" b="1" dirty="0"/>
              <a:t>.</a:t>
            </a:r>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3943" y="0"/>
            <a:ext cx="4315097" cy="496389"/>
          </a:xfrm>
        </p:spPr>
        <p:txBody>
          <a:bodyPr>
            <a:normAutofit fontScale="90000"/>
          </a:bodyPr>
          <a:lstStyle/>
          <a:p>
            <a:r>
              <a:rPr lang="en-US" b="1" dirty="0"/>
              <a:t>Search in Robotics</a:t>
            </a:r>
          </a:p>
        </p:txBody>
      </p:sp>
      <p:sp>
        <p:nvSpPr>
          <p:cNvPr id="3" name="Content Placeholder 2"/>
          <p:cNvSpPr>
            <a:spLocks noGrp="1"/>
          </p:cNvSpPr>
          <p:nvPr>
            <p:ph idx="1"/>
          </p:nvPr>
        </p:nvSpPr>
        <p:spPr>
          <a:xfrm>
            <a:off x="448492" y="940526"/>
            <a:ext cx="10984522" cy="4162330"/>
          </a:xfrm>
        </p:spPr>
        <p:txBody>
          <a:bodyPr>
            <a:noAutofit/>
          </a:bodyPr>
          <a:lstStyle/>
          <a:p>
            <a:pPr algn="just">
              <a:lnSpc>
                <a:spcPct val="150000"/>
              </a:lnSpc>
            </a:pPr>
            <a:r>
              <a:rPr lang="en-US" sz="2400" b="1" dirty="0"/>
              <a:t>AI is significantly enhancing robotics by enabling robots to perceive, navigate, learn, and interact with their environments and humans more autonomously and effectively across various industries. Key applications include autonomous navigation and object manipulation, industrial automation and manufacturing, healthcare robotics, logistics and warehousing, and service robotics. </a:t>
            </a:r>
          </a:p>
          <a:p>
            <a:pPr algn="just">
              <a:lnSpc>
                <a:spcPct val="150000"/>
              </a:lnSpc>
            </a:pPr>
            <a:r>
              <a:rPr lang="en-US" sz="2400" b="1" dirty="0"/>
              <a:t>Core AI Applications in Robotics:</a:t>
            </a:r>
          </a:p>
          <a:p>
            <a:pPr algn="just">
              <a:lnSpc>
                <a:spcPct val="150000"/>
              </a:lnSpc>
            </a:pPr>
            <a:r>
              <a:rPr lang="en-US" sz="2400" b="1" dirty="0"/>
              <a:t>Perception and Navigation: </a:t>
            </a:r>
          </a:p>
          <a:p>
            <a:pPr algn="just">
              <a:lnSpc>
                <a:spcPct val="150000"/>
              </a:lnSpc>
            </a:pPr>
            <a:r>
              <a:rPr lang="en-US" sz="2400" b="1" dirty="0"/>
              <a:t>AI, particularly computer vision and machine learning, allows robots to interpret sensory data (from cameras, LIDAR, ultrasonic sensors) to understand their surroundings, create maps, identify obstacles, and plan safe, efficient paths for movement and operation in complex and potentially unstructured environments. </a:t>
            </a:r>
          </a:p>
          <a:p>
            <a:pPr>
              <a:lnSpc>
                <a:spcPct val="150000"/>
              </a:lnSpc>
            </a:pPr>
            <a:endParaRPr lang="en-US"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8623" y="9079"/>
            <a:ext cx="2227217" cy="706029"/>
          </a:xfrm>
        </p:spPr>
        <p:txBody>
          <a:bodyPr/>
          <a:lstStyle/>
          <a:p>
            <a:r>
              <a:rPr lang="en-US" b="1" dirty="0"/>
              <a:t>CONTD..</a:t>
            </a:r>
          </a:p>
        </p:txBody>
      </p:sp>
      <p:sp>
        <p:nvSpPr>
          <p:cNvPr id="3" name="Content Placeholder 2"/>
          <p:cNvSpPr>
            <a:spLocks noGrp="1"/>
          </p:cNvSpPr>
          <p:nvPr>
            <p:ph idx="1"/>
          </p:nvPr>
        </p:nvSpPr>
        <p:spPr>
          <a:xfrm>
            <a:off x="562708" y="1101332"/>
            <a:ext cx="11066584" cy="5255018"/>
          </a:xfrm>
        </p:spPr>
        <p:txBody>
          <a:bodyPr>
            <a:normAutofit fontScale="92500"/>
          </a:bodyPr>
          <a:lstStyle/>
          <a:p>
            <a:pPr>
              <a:lnSpc>
                <a:spcPct val="150000"/>
              </a:lnSpc>
            </a:pPr>
            <a:r>
              <a:rPr lang="en-US" b="1" dirty="0"/>
              <a:t>Object Detection and Manipulation:</a:t>
            </a:r>
            <a:r>
              <a:rPr lang="en-US" dirty="0"/>
              <a:t> </a:t>
            </a:r>
          </a:p>
          <a:p>
            <a:pPr>
              <a:lnSpc>
                <a:spcPct val="150000"/>
              </a:lnSpc>
            </a:pPr>
            <a:r>
              <a:rPr lang="en-US" dirty="0"/>
              <a:t>AI-powered robots can recognize, classify, and precisely manipulate objects based on visual feedback, crucial for tasks like assembly, picking, and packing. </a:t>
            </a:r>
          </a:p>
          <a:p>
            <a:pPr>
              <a:lnSpc>
                <a:spcPct val="150000"/>
              </a:lnSpc>
            </a:pPr>
            <a:r>
              <a:rPr lang="en-US" b="1" dirty="0"/>
              <a:t>Human-Robot Interaction (HRI):</a:t>
            </a:r>
            <a:r>
              <a:rPr lang="en-US" dirty="0"/>
              <a:t> </a:t>
            </a:r>
          </a:p>
          <a:p>
            <a:pPr>
              <a:lnSpc>
                <a:spcPct val="150000"/>
              </a:lnSpc>
            </a:pPr>
            <a:r>
              <a:rPr lang="en-US" dirty="0"/>
              <a:t>AI enables robots to interact more naturally with humans through capabilities like facial and emotion recognition, speech recognition, people tracking, and even fall detection, enhancing their role as collaborative tools and service providers.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3142" y="1020242"/>
            <a:ext cx="2449454" cy="257927"/>
          </a:xfrm>
        </p:spPr>
        <p:txBody>
          <a:bodyPr>
            <a:normAutofit fontScale="90000"/>
          </a:bodyPr>
          <a:lstStyle/>
          <a:p>
            <a:r>
              <a:rPr lang="en-US" b="1" dirty="0"/>
              <a:t>CONTD..</a:t>
            </a:r>
            <a:br>
              <a:rPr lang="en-US" b="1" dirty="0"/>
            </a:br>
            <a:br>
              <a:rPr lang="en-US" b="1" dirty="0"/>
            </a:br>
            <a:endParaRPr lang="en-US" dirty="0"/>
          </a:p>
        </p:txBody>
      </p:sp>
      <p:sp>
        <p:nvSpPr>
          <p:cNvPr id="3" name="Content Placeholder 2"/>
          <p:cNvSpPr>
            <a:spLocks noGrp="1"/>
          </p:cNvSpPr>
          <p:nvPr>
            <p:ph idx="1"/>
          </p:nvPr>
        </p:nvSpPr>
        <p:spPr>
          <a:xfrm>
            <a:off x="575101" y="1581311"/>
            <a:ext cx="10902461" cy="1962443"/>
          </a:xfrm>
        </p:spPr>
        <p:txBody>
          <a:bodyPr>
            <a:normAutofit/>
          </a:bodyPr>
          <a:lstStyle/>
          <a:p>
            <a:r>
              <a:rPr lang="en-US" b="1" dirty="0"/>
              <a:t>Decision-Making and Learning:</a:t>
            </a:r>
            <a:r>
              <a:rPr lang="en-US" dirty="0"/>
              <a:t> </a:t>
            </a:r>
          </a:p>
          <a:p>
            <a:pPr algn="just"/>
            <a:r>
              <a:rPr lang="en-US" dirty="0"/>
              <a:t>AI, especially machine learning and reinforcement learning, allows robots to learn from experience, adapt to changing situations, and make real-time decisions, increasing their autonomy and efficiency.</a:t>
            </a: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3194" y="251915"/>
            <a:ext cx="8053251" cy="775698"/>
          </a:xfrm>
        </p:spPr>
        <p:txBody>
          <a:bodyPr/>
          <a:lstStyle/>
          <a:p>
            <a:pPr marL="457200" indent="-457200"/>
            <a:r>
              <a:rPr lang="en-US" b="1" dirty="0"/>
              <a:t>AI Applications:</a:t>
            </a:r>
            <a:r>
              <a:rPr lang="en-US" dirty="0"/>
              <a:t> Search in logistics:</a:t>
            </a:r>
          </a:p>
        </p:txBody>
      </p:sp>
      <p:sp>
        <p:nvSpPr>
          <p:cNvPr id="3" name="Content Placeholder 2"/>
          <p:cNvSpPr>
            <a:spLocks noGrp="1"/>
          </p:cNvSpPr>
          <p:nvPr>
            <p:ph idx="1"/>
          </p:nvPr>
        </p:nvSpPr>
        <p:spPr>
          <a:xfrm>
            <a:off x="705396" y="1230923"/>
            <a:ext cx="11268890" cy="5375161"/>
          </a:xfrm>
        </p:spPr>
        <p:txBody>
          <a:bodyPr>
            <a:normAutofit fontScale="92500"/>
          </a:bodyPr>
          <a:lstStyle/>
          <a:p>
            <a:pPr algn="just">
              <a:lnSpc>
                <a:spcPct val="160000"/>
              </a:lnSpc>
            </a:pPr>
            <a:r>
              <a:rPr lang="en-US" sz="2100" dirty="0"/>
              <a:t>Artificial Intelligence (AI) is revolutionizing the logistics industry by enhancing efficiency, reducing costs, and improving customer satisfaction across various applications, including route optimization, inventory management, demand forecasting, warehouse automation, and predictive maintenance. </a:t>
            </a:r>
          </a:p>
          <a:p>
            <a:pPr algn="just">
              <a:lnSpc>
                <a:spcPct val="160000"/>
              </a:lnSpc>
            </a:pPr>
            <a:r>
              <a:rPr lang="en-US" sz="2100" dirty="0"/>
              <a:t>Key Applications of AI in Logistics: </a:t>
            </a:r>
          </a:p>
          <a:p>
            <a:pPr algn="just">
              <a:lnSpc>
                <a:spcPct val="160000"/>
              </a:lnSpc>
            </a:pPr>
            <a:r>
              <a:rPr lang="en-US" sz="2100" b="1" dirty="0"/>
              <a:t>Route Optimization and Last-Mile Planning:</a:t>
            </a:r>
            <a:r>
              <a:rPr lang="en-US" sz="2100" dirty="0"/>
              <a:t> </a:t>
            </a:r>
          </a:p>
          <a:p>
            <a:pPr algn="just">
              <a:lnSpc>
                <a:spcPct val="160000"/>
              </a:lnSpc>
            </a:pPr>
            <a:r>
              <a:rPr lang="en-US" sz="2100" dirty="0"/>
              <a:t>AI algorithms analyze real-time data like traffic, weather, and delivery locations to determine the most efficient routes, minimizing travel time and fuel consumption, especially for last-mile deliveries. </a:t>
            </a:r>
          </a:p>
          <a:p>
            <a:pPr algn="just">
              <a:lnSpc>
                <a:spcPct val="160000"/>
              </a:lnSpc>
            </a:pPr>
            <a:r>
              <a:rPr lang="en-US" sz="2100" b="1" dirty="0"/>
              <a:t>Demand Forecasting and Inventory Management:</a:t>
            </a:r>
            <a:r>
              <a:rPr lang="en-US" sz="2100" dirty="0"/>
              <a:t> </a:t>
            </a:r>
          </a:p>
          <a:p>
            <a:pPr algn="just">
              <a:lnSpc>
                <a:spcPct val="160000"/>
              </a:lnSpc>
            </a:pPr>
            <a:r>
              <a:rPr lang="en-US" sz="2100" dirty="0"/>
              <a:t>AI predicts consumer demand by analyzing historical sales data, market trends, and external factors, enabling optimized stock levels, reducing overstocking and </a:t>
            </a:r>
            <a:r>
              <a:rPr lang="en-US" sz="2100" dirty="0" err="1"/>
              <a:t>stockouts</a:t>
            </a:r>
            <a:r>
              <a:rPr lang="en-US" sz="2100" dirty="0"/>
              <a:t>, and minimizing storage costs. </a:t>
            </a:r>
          </a:p>
          <a:p>
            <a:pPr algn="just">
              <a:lnSpc>
                <a:spcPct val="160000"/>
              </a:lnSpc>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1180" y="589545"/>
            <a:ext cx="3372970" cy="342272"/>
          </a:xfrm>
        </p:spPr>
        <p:txBody>
          <a:bodyPr>
            <a:normAutofit fontScale="90000"/>
          </a:bodyPr>
          <a:lstStyle/>
          <a:p>
            <a:r>
              <a:rPr lang="en-US" dirty="0"/>
              <a:t>CONTD..</a:t>
            </a:r>
            <a:br>
              <a:rPr lang="en-US" b="1" dirty="0"/>
            </a:br>
            <a:endParaRPr lang="en-US" dirty="0"/>
          </a:p>
        </p:txBody>
      </p:sp>
      <p:sp>
        <p:nvSpPr>
          <p:cNvPr id="3" name="Content Placeholder 2"/>
          <p:cNvSpPr>
            <a:spLocks noGrp="1"/>
          </p:cNvSpPr>
          <p:nvPr>
            <p:ph idx="1"/>
          </p:nvPr>
        </p:nvSpPr>
        <p:spPr>
          <a:xfrm>
            <a:off x="714104" y="1016893"/>
            <a:ext cx="10911840" cy="5704581"/>
          </a:xfrm>
        </p:spPr>
        <p:txBody>
          <a:bodyPr>
            <a:normAutofit fontScale="77500" lnSpcReduction="20000"/>
          </a:bodyPr>
          <a:lstStyle/>
          <a:p>
            <a:pPr>
              <a:lnSpc>
                <a:spcPct val="160000"/>
              </a:lnSpc>
            </a:pPr>
            <a:r>
              <a:rPr lang="en-US" b="1" dirty="0"/>
              <a:t>Warehouse Automation:</a:t>
            </a:r>
            <a:r>
              <a:rPr lang="en-US" dirty="0"/>
              <a:t> </a:t>
            </a:r>
          </a:p>
          <a:p>
            <a:pPr algn="just">
              <a:lnSpc>
                <a:spcPct val="160000"/>
              </a:lnSpc>
            </a:pPr>
            <a:r>
              <a:rPr lang="en-US" dirty="0"/>
              <a:t>AI-powered robots and systems automate repetitive tasks like picking, packing, and sorting within warehouses, leading to increased speed and accuracy, and optimized warehouse layouts. </a:t>
            </a:r>
          </a:p>
          <a:p>
            <a:pPr algn="just">
              <a:lnSpc>
                <a:spcPct val="160000"/>
              </a:lnSpc>
            </a:pPr>
            <a:r>
              <a:rPr lang="en-US" b="1" dirty="0"/>
              <a:t>Predictive Maintenance:</a:t>
            </a:r>
            <a:r>
              <a:rPr lang="en-US" dirty="0"/>
              <a:t> </a:t>
            </a:r>
          </a:p>
          <a:p>
            <a:pPr algn="just">
              <a:lnSpc>
                <a:spcPct val="160000"/>
              </a:lnSpc>
            </a:pPr>
            <a:r>
              <a:rPr lang="en-US" dirty="0"/>
              <a:t>AI analyzes sensor data from fleet vehicles and equipment to predict potential maintenance needs, preventing breakdowns and minimizing downtime. </a:t>
            </a:r>
          </a:p>
          <a:p>
            <a:pPr algn="just">
              <a:lnSpc>
                <a:spcPct val="160000"/>
              </a:lnSpc>
            </a:pPr>
            <a:r>
              <a:rPr lang="en-US" b="1" dirty="0"/>
              <a:t>Supply Chain Visibility and Transparency:</a:t>
            </a:r>
            <a:r>
              <a:rPr lang="en-US" dirty="0"/>
              <a:t> </a:t>
            </a:r>
          </a:p>
          <a:p>
            <a:pPr algn="just">
              <a:lnSpc>
                <a:spcPct val="160000"/>
              </a:lnSpc>
            </a:pPr>
            <a:r>
              <a:rPr lang="en-US" dirty="0"/>
              <a:t>AI provides real-time tracking of shipments, enhances data accuracy, and offers insights into potential disruptions, allowing for proactive management. </a:t>
            </a:r>
          </a:p>
          <a:p>
            <a:pPr>
              <a:lnSpc>
                <a:spcPct val="160000"/>
              </a:lnSpc>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532" y="0"/>
            <a:ext cx="2174966" cy="810532"/>
          </a:xfrm>
        </p:spPr>
        <p:txBody>
          <a:bodyPr/>
          <a:lstStyle/>
          <a:p>
            <a:r>
              <a:rPr lang="en-US" b="1" dirty="0"/>
              <a:t>CONTD..</a:t>
            </a:r>
          </a:p>
        </p:txBody>
      </p:sp>
      <p:sp>
        <p:nvSpPr>
          <p:cNvPr id="3" name="Content Placeholder 2"/>
          <p:cNvSpPr>
            <a:spLocks noGrp="1"/>
          </p:cNvSpPr>
          <p:nvPr>
            <p:ph idx="1"/>
          </p:nvPr>
        </p:nvSpPr>
        <p:spPr>
          <a:xfrm>
            <a:off x="920357" y="1092624"/>
            <a:ext cx="10783964" cy="5534599"/>
          </a:xfrm>
        </p:spPr>
        <p:txBody>
          <a:bodyPr>
            <a:normAutofit/>
          </a:bodyPr>
          <a:lstStyle/>
          <a:p>
            <a:pPr>
              <a:lnSpc>
                <a:spcPct val="150000"/>
              </a:lnSpc>
            </a:pPr>
            <a:r>
              <a:rPr lang="en-US" b="1" dirty="0"/>
              <a:t>Customer Service:</a:t>
            </a:r>
            <a:r>
              <a:rPr lang="en-US" dirty="0"/>
              <a:t> </a:t>
            </a:r>
          </a:p>
          <a:p>
            <a:pPr>
              <a:lnSpc>
                <a:spcPct val="150000"/>
              </a:lnSpc>
            </a:pPr>
            <a:r>
              <a:rPr lang="en-US" dirty="0"/>
              <a:t>AI-powered </a:t>
            </a:r>
            <a:r>
              <a:rPr lang="en-US" dirty="0" err="1"/>
              <a:t>chatbots</a:t>
            </a:r>
            <a:r>
              <a:rPr lang="en-US" dirty="0"/>
              <a:t> and virtual assistants handle customer inquiries and provide personalized services, improving customer experience and reducing workload on support teams. </a:t>
            </a:r>
          </a:p>
          <a:p>
            <a:pPr>
              <a:lnSpc>
                <a:spcPct val="150000"/>
              </a:lnSpc>
            </a:pPr>
            <a:r>
              <a:rPr lang="en-US" b="1" dirty="0"/>
              <a:t>Fraud Detection:</a:t>
            </a:r>
            <a:r>
              <a:rPr lang="en-US" dirty="0"/>
              <a:t> </a:t>
            </a:r>
          </a:p>
          <a:p>
            <a:pPr>
              <a:lnSpc>
                <a:spcPct val="150000"/>
              </a:lnSpc>
            </a:pPr>
            <a:r>
              <a:rPr lang="en-US" dirty="0"/>
              <a:t>AI models analyze transactions and logistics processes to identify suspicious patterns and prevent fraudulent activities.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520" y="110940"/>
            <a:ext cx="6006737" cy="812169"/>
          </a:xfrm>
        </p:spPr>
        <p:txBody>
          <a:bodyPr/>
          <a:lstStyle/>
          <a:p>
            <a:r>
              <a:rPr lang="en-US" b="1" dirty="0"/>
              <a:t>AI Applications:</a:t>
            </a:r>
            <a:r>
              <a:rPr lang="en-US" dirty="0"/>
              <a:t> games</a:t>
            </a:r>
            <a:endParaRPr lang="en-US" b="1" dirty="0"/>
          </a:p>
        </p:txBody>
      </p:sp>
      <p:sp>
        <p:nvSpPr>
          <p:cNvPr id="3" name="Content Placeholder 2"/>
          <p:cNvSpPr>
            <a:spLocks noGrp="1"/>
          </p:cNvSpPr>
          <p:nvPr>
            <p:ph idx="1"/>
          </p:nvPr>
        </p:nvSpPr>
        <p:spPr>
          <a:xfrm>
            <a:off x="531224" y="1051801"/>
            <a:ext cx="11443062" cy="6489822"/>
          </a:xfrm>
        </p:spPr>
        <p:txBody>
          <a:bodyPr>
            <a:normAutofit fontScale="77500" lnSpcReduction="20000"/>
          </a:bodyPr>
          <a:lstStyle/>
          <a:p>
            <a:pPr algn="just">
              <a:lnSpc>
                <a:spcPct val="170000"/>
              </a:lnSpc>
            </a:pPr>
            <a:r>
              <a:rPr lang="en-US" dirty="0"/>
              <a:t>AI is fundamentally transforming the gaming industry by enhancing </a:t>
            </a:r>
            <a:r>
              <a:rPr lang="en-US" dirty="0" err="1"/>
              <a:t>gameplay</a:t>
            </a:r>
            <a:r>
              <a:rPr lang="en-US" dirty="0"/>
              <a:t>, realism, and user experience through applications in character behavior, procedural content generation, adaptive difficulty, and personalized experiences, while also improving game development processes through AI-powered search and debugging tools. Search algorithms, particularly adversarial search techniques like </a:t>
            </a:r>
            <a:r>
              <a:rPr lang="en-US" dirty="0" err="1"/>
              <a:t>Minimax</a:t>
            </a:r>
            <a:r>
              <a:rPr lang="en-US" dirty="0"/>
              <a:t>, are crucial for AI game playing, enabling systematic exploration of moves and outcomes to determine optimal strategies. </a:t>
            </a:r>
          </a:p>
          <a:p>
            <a:pPr algn="just">
              <a:lnSpc>
                <a:spcPct val="170000"/>
              </a:lnSpc>
            </a:pPr>
            <a:r>
              <a:rPr lang="en-US" dirty="0"/>
              <a:t>Key AI Applications in Games: </a:t>
            </a:r>
          </a:p>
          <a:p>
            <a:pPr algn="just">
              <a:lnSpc>
                <a:spcPct val="170000"/>
              </a:lnSpc>
            </a:pPr>
            <a:r>
              <a:rPr lang="en-US" b="1" dirty="0"/>
              <a:t>Enhanced </a:t>
            </a:r>
            <a:r>
              <a:rPr lang="en-US" b="1" dirty="0" err="1"/>
              <a:t>Gameplay</a:t>
            </a:r>
            <a:r>
              <a:rPr lang="en-US" b="1" dirty="0"/>
              <a:t> &amp; NPCs:</a:t>
            </a:r>
            <a:r>
              <a:rPr lang="en-US" dirty="0"/>
              <a:t> </a:t>
            </a:r>
          </a:p>
          <a:p>
            <a:pPr algn="just">
              <a:lnSpc>
                <a:spcPct val="170000"/>
              </a:lnSpc>
            </a:pPr>
            <a:r>
              <a:rPr lang="en-US" dirty="0"/>
              <a:t>AI creates more intelligent and responsive Non-Player Characters (NPCs) with human-like behaviors and decision-making capabilities, making games more challenging and engaging. </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063" y="136526"/>
            <a:ext cx="2401388" cy="762760"/>
          </a:xfrm>
        </p:spPr>
        <p:txBody>
          <a:bodyPr>
            <a:normAutofit/>
          </a:bodyPr>
          <a:lstStyle/>
          <a:p>
            <a:r>
              <a:rPr lang="en-US" b="1" dirty="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
        <p:nvSpPr>
          <p:cNvPr id="6" name="Content Placeholder 5"/>
          <p:cNvSpPr>
            <a:spLocks noGrp="1"/>
          </p:cNvSpPr>
          <p:nvPr>
            <p:ph idx="1"/>
          </p:nvPr>
        </p:nvSpPr>
        <p:spPr>
          <a:xfrm>
            <a:off x="287383" y="981634"/>
            <a:ext cx="11521440" cy="5678879"/>
          </a:xfrm>
        </p:spPr>
        <p:txBody>
          <a:bodyPr>
            <a:normAutofit fontScale="77500" lnSpcReduction="20000"/>
          </a:bodyPr>
          <a:lstStyle/>
          <a:p>
            <a:pPr>
              <a:lnSpc>
                <a:spcPct val="160000"/>
              </a:lnSpc>
            </a:pPr>
            <a:r>
              <a:rPr lang="en-US" b="1" dirty="0"/>
              <a:t>Procedural Content Generation:</a:t>
            </a:r>
            <a:r>
              <a:rPr lang="en-US" dirty="0"/>
              <a:t> </a:t>
            </a:r>
          </a:p>
          <a:p>
            <a:pPr algn="just">
              <a:lnSpc>
                <a:spcPct val="160000"/>
              </a:lnSpc>
            </a:pPr>
            <a:r>
              <a:rPr lang="en-US" dirty="0"/>
              <a:t>AI generates dynamic and diverse game content, including levels, maps, and challenges, offering new and exciting experiences for players. </a:t>
            </a:r>
          </a:p>
          <a:p>
            <a:pPr algn="just">
              <a:lnSpc>
                <a:spcPct val="160000"/>
              </a:lnSpc>
            </a:pPr>
            <a:r>
              <a:rPr lang="en-US" b="1" dirty="0"/>
              <a:t>Adaptive Difficulty &amp; Personalization:</a:t>
            </a:r>
            <a:r>
              <a:rPr lang="en-US" dirty="0"/>
              <a:t> </a:t>
            </a:r>
          </a:p>
          <a:p>
            <a:pPr algn="just">
              <a:lnSpc>
                <a:spcPct val="160000"/>
              </a:lnSpc>
            </a:pPr>
            <a:r>
              <a:rPr lang="en-US" dirty="0"/>
              <a:t>AI can dynamically adjust game difficulty based on player performance and tailor the gaming experience to individual preferences and play styles through personalized quests, dialogues, and content. </a:t>
            </a:r>
          </a:p>
          <a:p>
            <a:pPr algn="just">
              <a:lnSpc>
                <a:spcPct val="160000"/>
              </a:lnSpc>
            </a:pPr>
            <a:r>
              <a:rPr lang="en-US" b="1" dirty="0"/>
              <a:t>Improved Realism &amp; Immersion:</a:t>
            </a:r>
            <a:r>
              <a:rPr lang="en-US" dirty="0"/>
              <a:t> </a:t>
            </a:r>
          </a:p>
          <a:p>
            <a:pPr algn="just">
              <a:lnSpc>
                <a:spcPct val="160000"/>
              </a:lnSpc>
            </a:pPr>
            <a:r>
              <a:rPr lang="en-US" dirty="0"/>
              <a:t>AI contributes to realistic environments, characters, and physics, enhancing immersion, especially in VR/AR games, where AI-driven elements react to player actions.</a:t>
            </a:r>
          </a:p>
          <a:p>
            <a:pPr>
              <a:lnSpc>
                <a:spcPct val="160000"/>
              </a:lnSpc>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4749" y="382543"/>
            <a:ext cx="1913709" cy="365126"/>
          </a:xfrm>
        </p:spPr>
        <p:txBody>
          <a:bodyPr>
            <a:normAutofit fontScale="90000"/>
          </a:bodyPr>
          <a:lstStyle/>
          <a:p>
            <a:r>
              <a:rPr lang="en-US" b="1" dirty="0"/>
              <a:t>CONTD..</a:t>
            </a:r>
            <a:br>
              <a:rPr lang="en-US" b="1" dirty="0"/>
            </a:b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
        <p:nvSpPr>
          <p:cNvPr id="5" name="Content Placeholder 4"/>
          <p:cNvSpPr>
            <a:spLocks noGrp="1"/>
          </p:cNvSpPr>
          <p:nvPr>
            <p:ph idx="1"/>
          </p:nvPr>
        </p:nvSpPr>
        <p:spPr>
          <a:xfrm>
            <a:off x="424594" y="866797"/>
            <a:ext cx="11342812" cy="5991203"/>
          </a:xfrm>
        </p:spPr>
        <p:txBody>
          <a:bodyPr>
            <a:normAutofit fontScale="92500" lnSpcReduction="10000"/>
          </a:bodyPr>
          <a:lstStyle/>
          <a:p>
            <a:pPr>
              <a:lnSpc>
                <a:spcPct val="160000"/>
              </a:lnSpc>
            </a:pPr>
            <a:r>
              <a:rPr lang="en-US" b="1" dirty="0"/>
              <a:t>Game Development &amp; Testing:</a:t>
            </a:r>
            <a:r>
              <a:rPr lang="en-US" dirty="0"/>
              <a:t> </a:t>
            </a:r>
          </a:p>
          <a:p>
            <a:pPr algn="just">
              <a:lnSpc>
                <a:spcPct val="160000"/>
              </a:lnSpc>
            </a:pPr>
            <a:r>
              <a:rPr lang="en-US" dirty="0"/>
              <a:t>AI assists in game development by aiding in game testing, debugging, and optimization, and even through tools like </a:t>
            </a:r>
            <a:r>
              <a:rPr lang="en-US" dirty="0">
                <a:hlinkClick r:id="rId2"/>
              </a:rPr>
              <a:t>Ludo.ai</a:t>
            </a:r>
            <a:r>
              <a:rPr lang="en-US" dirty="0"/>
              <a:t> that help in ideation, asset generation, and code generation. </a:t>
            </a:r>
          </a:p>
          <a:p>
            <a:pPr algn="just">
              <a:lnSpc>
                <a:spcPct val="160000"/>
              </a:lnSpc>
            </a:pPr>
            <a:r>
              <a:rPr lang="en-US" b="1" dirty="0"/>
              <a:t>Search Algorithms in Game Playing:</a:t>
            </a:r>
            <a:r>
              <a:rPr lang="en-US" dirty="0"/>
              <a:t> </a:t>
            </a:r>
          </a:p>
          <a:p>
            <a:pPr algn="just">
              <a:lnSpc>
                <a:spcPct val="160000"/>
              </a:lnSpc>
            </a:pPr>
            <a:r>
              <a:rPr lang="en-US" b="1" dirty="0" err="1"/>
              <a:t>Minimax</a:t>
            </a:r>
            <a:r>
              <a:rPr lang="en-US" b="1" dirty="0"/>
              <a:t> Algorithm:</a:t>
            </a:r>
            <a:r>
              <a:rPr lang="en-US" dirty="0"/>
              <a:t> A common search technique for two-player games, which evaluates game states and predicts opponent moves to find optimal strategies. </a:t>
            </a:r>
          </a:p>
          <a:p>
            <a:pPr algn="just">
              <a:lnSpc>
                <a:spcPct val="160000"/>
              </a:lnSpc>
            </a:pPr>
            <a:r>
              <a:rPr lang="en-US" b="1" dirty="0"/>
              <a:t>Adversarial Search:</a:t>
            </a:r>
            <a:r>
              <a:rPr lang="en-US" dirty="0"/>
              <a:t> A broader concept used in competitive AI environments to anticipate opponent actions and develop strategic responses. </a:t>
            </a:r>
          </a:p>
          <a:p>
            <a:pPr>
              <a:lnSpc>
                <a:spcPct val="160000"/>
              </a:lnSpc>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3897" y="177891"/>
            <a:ext cx="6888480" cy="584109"/>
          </a:xfrm>
        </p:spPr>
        <p:txBody>
          <a:bodyPr>
            <a:normAutofit fontScale="90000"/>
          </a:bodyPr>
          <a:lstStyle/>
          <a:p>
            <a:r>
              <a:rPr lang="en-US" dirty="0"/>
              <a:t>AI Applications: Expert systems</a:t>
            </a:r>
          </a:p>
        </p:txBody>
      </p:sp>
      <p:sp>
        <p:nvSpPr>
          <p:cNvPr id="3" name="Content Placeholder 2"/>
          <p:cNvSpPr>
            <a:spLocks noGrp="1"/>
          </p:cNvSpPr>
          <p:nvPr>
            <p:ph idx="1"/>
          </p:nvPr>
        </p:nvSpPr>
        <p:spPr>
          <a:xfrm>
            <a:off x="458802" y="905691"/>
            <a:ext cx="11733198" cy="5952309"/>
          </a:xfrm>
        </p:spPr>
        <p:txBody>
          <a:bodyPr>
            <a:normAutofit lnSpcReduction="10000"/>
          </a:bodyPr>
          <a:lstStyle/>
          <a:p>
            <a:pPr algn="just">
              <a:lnSpc>
                <a:spcPct val="150000"/>
              </a:lnSpc>
            </a:pPr>
            <a:r>
              <a:rPr lang="en-US" sz="2400" dirty="0"/>
              <a:t>Expert systems, a key application of Artificial Intelligence (AI), </a:t>
            </a:r>
          </a:p>
          <a:p>
            <a:pPr algn="just">
              <a:lnSpc>
                <a:spcPct val="150000"/>
              </a:lnSpc>
            </a:pPr>
            <a:r>
              <a:rPr lang="en-US" sz="2400" dirty="0"/>
              <a:t>are widely used across various industries to replicate human reasoning and solve complex problems through a knowledge-based approach. </a:t>
            </a:r>
          </a:p>
          <a:p>
            <a:pPr algn="just">
              <a:lnSpc>
                <a:spcPct val="150000"/>
              </a:lnSpc>
            </a:pPr>
            <a:r>
              <a:rPr lang="en-US" sz="2400" dirty="0"/>
              <a:t>These systems excel in specific domains like </a:t>
            </a:r>
          </a:p>
          <a:p>
            <a:pPr lvl="1" algn="just">
              <a:lnSpc>
                <a:spcPct val="150000"/>
              </a:lnSpc>
            </a:pPr>
            <a:r>
              <a:rPr lang="en-US" sz="2000" dirty="0"/>
              <a:t>medical diagnosis and </a:t>
            </a:r>
          </a:p>
          <a:p>
            <a:pPr lvl="1" algn="just">
              <a:lnSpc>
                <a:spcPct val="150000"/>
              </a:lnSpc>
            </a:pPr>
            <a:r>
              <a:rPr lang="en-US" sz="2000" dirty="0"/>
              <a:t>treatment recommendations, </a:t>
            </a:r>
          </a:p>
          <a:p>
            <a:pPr lvl="1" algn="just">
              <a:lnSpc>
                <a:spcPct val="150000"/>
              </a:lnSpc>
            </a:pPr>
            <a:r>
              <a:rPr lang="en-US" sz="2000" dirty="0"/>
              <a:t>financial risk assessment and </a:t>
            </a:r>
          </a:p>
          <a:p>
            <a:pPr lvl="1" algn="just">
              <a:lnSpc>
                <a:spcPct val="150000"/>
              </a:lnSpc>
            </a:pPr>
            <a:r>
              <a:rPr lang="en-US" sz="2000" dirty="0"/>
              <a:t>fraud detection, </a:t>
            </a:r>
          </a:p>
          <a:p>
            <a:pPr lvl="1" algn="just">
              <a:lnSpc>
                <a:spcPct val="150000"/>
              </a:lnSpc>
            </a:pPr>
            <a:r>
              <a:rPr lang="en-US" sz="2000" dirty="0"/>
              <a:t>manufacturing process control and </a:t>
            </a:r>
          </a:p>
          <a:p>
            <a:pPr lvl="1" algn="just">
              <a:lnSpc>
                <a:spcPct val="150000"/>
              </a:lnSpc>
            </a:pPr>
            <a:r>
              <a:rPr lang="en-US" sz="2000" dirty="0"/>
              <a:t>quality assurance, and troubleshooting and </a:t>
            </a:r>
          </a:p>
          <a:p>
            <a:pPr lvl="1" algn="just">
              <a:lnSpc>
                <a:spcPct val="150000"/>
              </a:lnSpc>
            </a:pPr>
            <a:r>
              <a:rPr lang="en-US" sz="2000" dirty="0"/>
              <a:t>fault finding in various systems.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1466" y="237383"/>
            <a:ext cx="7467004" cy="711852"/>
          </a:xfrm>
        </p:spPr>
        <p:txBody>
          <a:bodyPr/>
          <a:lstStyle/>
          <a:p>
            <a:r>
              <a:rPr lang="en-US" dirty="0"/>
              <a:t>Applications of Expert Systems: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
        <p:nvSpPr>
          <p:cNvPr id="5" name="Content Placeholder 4"/>
          <p:cNvSpPr>
            <a:spLocks noGrp="1"/>
          </p:cNvSpPr>
          <p:nvPr>
            <p:ph idx="1"/>
          </p:nvPr>
        </p:nvSpPr>
        <p:spPr>
          <a:xfrm>
            <a:off x="496389" y="1110041"/>
            <a:ext cx="11425645" cy="6274828"/>
          </a:xfrm>
        </p:spPr>
        <p:txBody>
          <a:bodyPr>
            <a:normAutofit fontScale="77500" lnSpcReduction="20000"/>
          </a:bodyPr>
          <a:lstStyle/>
          <a:p>
            <a:pPr>
              <a:lnSpc>
                <a:spcPct val="170000"/>
              </a:lnSpc>
            </a:pPr>
            <a:r>
              <a:rPr lang="en-US" b="1" dirty="0"/>
              <a:t>Medical Domain:</a:t>
            </a:r>
            <a:r>
              <a:rPr lang="en-US" dirty="0"/>
              <a:t> </a:t>
            </a:r>
          </a:p>
          <a:p>
            <a:pPr algn="just">
              <a:lnSpc>
                <a:spcPct val="170000"/>
              </a:lnSpc>
            </a:pPr>
            <a:r>
              <a:rPr lang="en-US" dirty="0"/>
              <a:t>Expert systems assist in diagnosing diseases and recommending treatment plans by analyzing patient data and medical knowledge, as seen in systems like IBM's Watson Health. </a:t>
            </a:r>
          </a:p>
          <a:p>
            <a:pPr algn="just">
              <a:lnSpc>
                <a:spcPct val="170000"/>
              </a:lnSpc>
            </a:pPr>
            <a:r>
              <a:rPr lang="en-US" b="1" dirty="0"/>
              <a:t>Monitoring and Process Control:</a:t>
            </a:r>
            <a:r>
              <a:rPr lang="en-US" dirty="0"/>
              <a:t> </a:t>
            </a:r>
          </a:p>
          <a:p>
            <a:pPr algn="just">
              <a:lnSpc>
                <a:spcPct val="170000"/>
              </a:lnSpc>
            </a:pPr>
            <a:r>
              <a:rPr lang="en-US" dirty="0"/>
              <a:t>They continuously monitor data and compare it against observed systems, and can also control physical processes based on this monitoring, such as in power plants or industrial automation. </a:t>
            </a:r>
          </a:p>
          <a:p>
            <a:pPr algn="just">
              <a:lnSpc>
                <a:spcPct val="170000"/>
              </a:lnSpc>
            </a:pPr>
            <a:r>
              <a:rPr lang="en-US" b="1" dirty="0"/>
              <a:t>Knowledge Domain and Troubleshooting:</a:t>
            </a:r>
            <a:r>
              <a:rPr lang="en-US" dirty="0"/>
              <a:t> </a:t>
            </a:r>
          </a:p>
          <a:p>
            <a:pPr algn="just">
              <a:lnSpc>
                <a:spcPct val="170000"/>
              </a:lnSpc>
            </a:pPr>
            <a:r>
              <a:rPr lang="en-US" dirty="0"/>
              <a:t>Expert systems are used for fault diagnosis in complex systems like vehicles or computers, finding issues and providing potential solutions.</a:t>
            </a:r>
          </a:p>
          <a:p>
            <a:pPr>
              <a:lnSpc>
                <a:spcPct val="170000"/>
              </a:lnSpc>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525" y="110942"/>
            <a:ext cx="2096589" cy="873128"/>
          </a:xfrm>
        </p:spPr>
        <p:txBody>
          <a:bodyPr/>
          <a:lstStyle/>
          <a:p>
            <a:r>
              <a:rPr lang="en-US" dirty="0"/>
              <a:t>CONTD..</a:t>
            </a:r>
          </a:p>
        </p:txBody>
      </p:sp>
      <p:sp>
        <p:nvSpPr>
          <p:cNvPr id="3" name="Content Placeholder 2"/>
          <p:cNvSpPr>
            <a:spLocks noGrp="1"/>
          </p:cNvSpPr>
          <p:nvPr>
            <p:ph idx="1"/>
          </p:nvPr>
        </p:nvSpPr>
        <p:spPr>
          <a:xfrm>
            <a:off x="627017" y="1162292"/>
            <a:ext cx="11164389" cy="5421388"/>
          </a:xfrm>
        </p:spPr>
        <p:txBody>
          <a:bodyPr>
            <a:normAutofit lnSpcReduction="10000"/>
          </a:bodyPr>
          <a:lstStyle/>
          <a:p>
            <a:pPr>
              <a:lnSpc>
                <a:spcPct val="150000"/>
              </a:lnSpc>
            </a:pPr>
            <a:r>
              <a:rPr lang="en-US" sz="2400" b="1" dirty="0"/>
              <a:t>Finance:</a:t>
            </a:r>
            <a:r>
              <a:rPr lang="en-US" sz="2400" dirty="0"/>
              <a:t> </a:t>
            </a:r>
          </a:p>
          <a:p>
            <a:pPr algn="just">
              <a:lnSpc>
                <a:spcPct val="150000"/>
              </a:lnSpc>
            </a:pPr>
            <a:r>
              <a:rPr lang="en-US" sz="2400" dirty="0"/>
              <a:t>In finance, they aid in risk assessment, fraud detection, and providing investment advice. </a:t>
            </a:r>
          </a:p>
          <a:p>
            <a:pPr algn="just">
              <a:lnSpc>
                <a:spcPct val="150000"/>
              </a:lnSpc>
            </a:pPr>
            <a:r>
              <a:rPr lang="en-US" sz="2400" b="1" dirty="0"/>
              <a:t>Manufacturing:</a:t>
            </a:r>
            <a:r>
              <a:rPr lang="en-US" sz="2400" dirty="0"/>
              <a:t> </a:t>
            </a:r>
          </a:p>
          <a:p>
            <a:pPr algn="just">
              <a:lnSpc>
                <a:spcPct val="150000"/>
              </a:lnSpc>
            </a:pPr>
            <a:r>
              <a:rPr lang="en-US" sz="2400" dirty="0"/>
              <a:t>They are applied for quality control, process optimization, and predictive maintenance in production environments. </a:t>
            </a:r>
          </a:p>
          <a:p>
            <a:pPr algn="just">
              <a:lnSpc>
                <a:spcPct val="150000"/>
              </a:lnSpc>
            </a:pPr>
            <a:r>
              <a:rPr lang="en-US" sz="2400" b="1" dirty="0"/>
              <a:t>Customer Support:</a:t>
            </a:r>
            <a:r>
              <a:rPr lang="en-US" sz="2400" dirty="0"/>
              <a:t> </a:t>
            </a:r>
          </a:p>
          <a:p>
            <a:pPr algn="just">
              <a:lnSpc>
                <a:spcPct val="150000"/>
              </a:lnSpc>
            </a:pPr>
            <a:r>
              <a:rPr lang="en-US" sz="2400" dirty="0"/>
              <a:t>Automated troubleshooting and customer assistance are also areas where expert systems find application</a:t>
            </a:r>
          </a:p>
          <a:p>
            <a:pPr>
              <a:lnSpc>
                <a:spcPct val="150000"/>
              </a:lnSpc>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0875" y="147411"/>
            <a:ext cx="2114006" cy="610235"/>
          </a:xfrm>
        </p:spPr>
        <p:txBody>
          <a:bodyPr>
            <a:normAutofit fontScale="90000"/>
          </a:bodyPr>
          <a:lstStyle/>
          <a:p>
            <a:r>
              <a:rPr lang="en-US" dirty="0"/>
              <a:t>CONTD..</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
        <p:nvSpPr>
          <p:cNvPr id="5" name="Content Placeholder 4"/>
          <p:cNvSpPr>
            <a:spLocks noGrp="1"/>
          </p:cNvSpPr>
          <p:nvPr>
            <p:ph idx="1"/>
          </p:nvPr>
        </p:nvSpPr>
        <p:spPr>
          <a:xfrm>
            <a:off x="550817" y="1111522"/>
            <a:ext cx="11048999" cy="4351338"/>
          </a:xfrm>
        </p:spPr>
        <p:txBody>
          <a:bodyPr>
            <a:normAutofit/>
          </a:bodyPr>
          <a:lstStyle/>
          <a:p>
            <a:pPr algn="just">
              <a:lnSpc>
                <a:spcPct val="150000"/>
              </a:lnSpc>
            </a:pPr>
            <a:r>
              <a:rPr lang="en-US" dirty="0"/>
              <a:t>Expert systems leverage techniques like forward chaining (reasoning from available data to a conclusion) and backward chaining (working backward from a goal to find supporting evidence) to make decisions. </a:t>
            </a:r>
          </a:p>
          <a:p>
            <a:pPr algn="just">
              <a:lnSpc>
                <a:spcPct val="150000"/>
              </a:lnSpc>
            </a:pPr>
            <a:r>
              <a:rPr lang="en-US" dirty="0"/>
              <a:t>They are particularly valuable in scenarios where precise and explainable decisions are required, differentiating them from machine learning approaches that often rely on larger datasets and are less transparent. </a:t>
            </a:r>
          </a:p>
          <a:p>
            <a:pPr algn="just">
              <a:lnSpc>
                <a:spcPct val="150000"/>
              </a:lnSpc>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
        <p:nvSpPr>
          <p:cNvPr id="5"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2000" dirty="0"/>
              <a:t>1. Which type of search is most commonly used in path planning for mobile robots?</a:t>
            </a:r>
            <a:endParaRPr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7" name="Rounded Rectangle 17"/>
          <p:cNvSpPr/>
          <p:nvPr/>
        </p:nvSpPr>
        <p:spPr>
          <a:xfrm>
            <a:off x="1230922" y="1925151"/>
            <a:ext cx="69986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b="0" i="0" dirty="0">
                <a:solidFill>
                  <a:schemeClr val="bg1"/>
                </a:solidFill>
                <a:effectLst/>
                <a:latin typeface="Arial" panose="020B0604020202020204" pitchFamily="34" charset="0"/>
              </a:rPr>
              <a:t>(a) </a:t>
            </a:r>
            <a:r>
              <a:rPr lang="en-US" sz="1600" dirty="0"/>
              <a:t>Depth First Search</a:t>
            </a:r>
            <a:endParaRPr lang="en-US" sz="1600" b="1" i="0" dirty="0">
              <a:solidFill>
                <a:schemeClr val="bg1"/>
              </a:solidFill>
              <a:effectLst/>
              <a:latin typeface="var(--body-font-family)"/>
            </a:endParaRPr>
          </a:p>
          <a:p>
            <a:pPr>
              <a:lnSpc>
                <a:spcPct val="150000"/>
              </a:lnSpc>
            </a:pPr>
            <a:r>
              <a:rPr lang="en-US" sz="1600" b="1" i="0" dirty="0">
                <a:solidFill>
                  <a:schemeClr val="bg1"/>
                </a:solidFill>
                <a:effectLst/>
                <a:latin typeface="Arial" panose="020B0604020202020204" pitchFamily="34" charset="0"/>
              </a:rPr>
              <a:t>(b)</a:t>
            </a:r>
            <a:r>
              <a:rPr lang="en-US" sz="1600" dirty="0"/>
              <a:t> Breadth First Search</a:t>
            </a:r>
            <a:endParaRPr lang="en-US" sz="1600" b="1" i="0" dirty="0">
              <a:solidFill>
                <a:srgbClr val="00B050"/>
              </a:solidFill>
              <a:effectLst/>
              <a:latin typeface="var(--body-font-family)"/>
            </a:endParaRPr>
          </a:p>
          <a:p>
            <a:pPr>
              <a:lnSpc>
                <a:spcPct val="150000"/>
              </a:lnSpc>
            </a:pPr>
            <a:r>
              <a:rPr lang="en-US" sz="1600" b="1" i="0" dirty="0">
                <a:solidFill>
                  <a:schemeClr val="bg1"/>
                </a:solidFill>
                <a:effectLst/>
                <a:latin typeface="Arial" panose="020B0604020202020204" pitchFamily="34" charset="0"/>
              </a:rPr>
              <a:t>(c) </a:t>
            </a:r>
            <a:r>
              <a:rPr lang="en-US" sz="1600" dirty="0">
                <a:solidFill>
                  <a:srgbClr val="00B050"/>
                </a:solidFill>
              </a:rPr>
              <a:t>A* Search</a:t>
            </a:r>
            <a:endParaRPr lang="en-US" sz="1600" b="1" i="0" dirty="0">
              <a:solidFill>
                <a:srgbClr val="00B050"/>
              </a:solidFill>
              <a:effectLst/>
              <a:latin typeface="var(--body-font-family)"/>
            </a:endParaRPr>
          </a:p>
          <a:p>
            <a:pPr>
              <a:lnSpc>
                <a:spcPct val="150000"/>
              </a:lnSpc>
            </a:pPr>
            <a:r>
              <a:rPr lang="en-US" sz="1600" b="1" i="0" dirty="0">
                <a:solidFill>
                  <a:schemeClr val="bg1"/>
                </a:solidFill>
                <a:effectLst/>
                <a:latin typeface="Arial" panose="020B0604020202020204" pitchFamily="34" charset="0"/>
              </a:rPr>
              <a:t>(d)</a:t>
            </a:r>
            <a:r>
              <a:rPr lang="en-US" sz="1600" dirty="0"/>
              <a:t> Hill Climbing</a:t>
            </a:r>
            <a:endParaRPr lang="en-US" sz="1600" b="1" i="0" dirty="0">
              <a:solidFill>
                <a:schemeClr val="bg1"/>
              </a:solidFill>
              <a:effectLst/>
              <a:latin typeface="var(--body-font-family)"/>
            </a:endParaRPr>
          </a:p>
        </p:txBody>
      </p:sp>
      <p:sp>
        <p:nvSpPr>
          <p:cNvPr id="8" name="Google Shape;502;p17"/>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dirty="0"/>
              <a:t>In logistics, what is the major goal of search-based AI techniques?</a:t>
            </a:r>
            <a:endParaRPr lang="en-US"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0" name="Rounded Rectangle 17"/>
          <p:cNvSpPr/>
          <p:nvPr/>
        </p:nvSpPr>
        <p:spPr>
          <a:xfrm>
            <a:off x="1302972" y="4455249"/>
            <a:ext cx="62659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b="0" i="0" dirty="0">
                <a:solidFill>
                  <a:schemeClr val="bg1"/>
                </a:solidFill>
                <a:effectLst/>
                <a:latin typeface="Arial" panose="020B0604020202020204" pitchFamily="34" charset="0"/>
              </a:rPr>
              <a:t>(a) </a:t>
            </a:r>
            <a:r>
              <a:rPr lang="en-US" sz="1600" dirty="0"/>
              <a:t>Sentiment analysis</a:t>
            </a:r>
            <a:endParaRPr lang="en-US" sz="1600" b="0" i="0" dirty="0">
              <a:solidFill>
                <a:schemeClr val="bg1"/>
              </a:solidFill>
              <a:effectLst/>
              <a:latin typeface="var(--body-font-family)"/>
            </a:endParaRPr>
          </a:p>
          <a:p>
            <a:pPr>
              <a:lnSpc>
                <a:spcPct val="150000"/>
              </a:lnSpc>
            </a:pPr>
            <a:r>
              <a:rPr lang="en-US" sz="1600" b="0" i="0" dirty="0">
                <a:solidFill>
                  <a:schemeClr val="bg1"/>
                </a:solidFill>
                <a:effectLst/>
                <a:latin typeface="Arial" panose="020B0604020202020204" pitchFamily="34" charset="0"/>
              </a:rPr>
              <a:t>(</a:t>
            </a:r>
            <a:r>
              <a:rPr lang="en-US" sz="1600" b="0" i="0" dirty="0">
                <a:solidFill>
                  <a:srgbClr val="00B050"/>
                </a:solidFill>
                <a:effectLst/>
                <a:latin typeface="Arial" panose="020B0604020202020204" pitchFamily="34" charset="0"/>
              </a:rPr>
              <a:t>b)</a:t>
            </a:r>
            <a:r>
              <a:rPr lang="en-US" sz="1600" dirty="0">
                <a:solidFill>
                  <a:srgbClr val="00B050"/>
                </a:solidFill>
              </a:rPr>
              <a:t>Path optimization and cost minimization</a:t>
            </a:r>
            <a:endParaRPr lang="en-US" sz="1600" b="0" i="0" dirty="0">
              <a:solidFill>
                <a:srgbClr val="00B050"/>
              </a:solidFill>
              <a:effectLst/>
              <a:latin typeface="var(--body-font-family)"/>
            </a:endParaRPr>
          </a:p>
          <a:p>
            <a:pPr>
              <a:lnSpc>
                <a:spcPct val="150000"/>
              </a:lnSpc>
            </a:pPr>
            <a:r>
              <a:rPr lang="en-US" sz="1600" b="0" i="0" dirty="0">
                <a:solidFill>
                  <a:schemeClr val="bg1"/>
                </a:solidFill>
                <a:effectLst/>
                <a:latin typeface="Arial" panose="020B0604020202020204" pitchFamily="34" charset="0"/>
              </a:rPr>
              <a:t>(c) </a:t>
            </a:r>
            <a:r>
              <a:rPr lang="en-US" sz="1600" dirty="0"/>
              <a:t>Object classification</a:t>
            </a:r>
            <a:endParaRPr lang="en-US" sz="1600" b="0" i="0" dirty="0">
              <a:solidFill>
                <a:srgbClr val="00B050"/>
              </a:solidFill>
              <a:effectLst/>
              <a:latin typeface="var(--body-font-family)"/>
            </a:endParaRPr>
          </a:p>
          <a:p>
            <a:pPr>
              <a:lnSpc>
                <a:spcPct val="150000"/>
              </a:lnSpc>
            </a:pPr>
            <a:r>
              <a:rPr lang="en-US" sz="1600" b="0" i="0" dirty="0">
                <a:solidFill>
                  <a:schemeClr val="bg1"/>
                </a:solidFill>
                <a:effectLst/>
                <a:latin typeface="Arial" panose="020B0604020202020204" pitchFamily="34" charset="0"/>
              </a:rPr>
              <a:t>(d) </a:t>
            </a:r>
            <a:r>
              <a:rPr lang="en-US" sz="1600" dirty="0"/>
              <a:t>Knowledge representation</a:t>
            </a:r>
            <a:endParaRPr lang="en-US" sz="1600" b="0" i="0" dirty="0">
              <a:solidFill>
                <a:srgbClr val="00B050"/>
              </a:solidFill>
              <a:effectLst/>
              <a:latin typeface="var(--body-font-famil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panose="020F0502020204030204"/>
                <a:ea typeface="DejaVu Sans"/>
              </a:rPr>
              <a:t>TERMINAL QUESTIONS</a:t>
            </a:r>
            <a:endParaRPr lang="en-IN" sz="3200" b="0" strike="noStrike" spc="-1">
              <a:latin typeface="Arial" panose="020B0604020202020204"/>
            </a:endParaRPr>
          </a:p>
        </p:txBody>
      </p:sp>
      <p:sp>
        <p:nvSpPr>
          <p:cNvPr id="282" name="TextBox 8"/>
          <p:cNvSpPr/>
          <p:nvPr/>
        </p:nvSpPr>
        <p:spPr>
          <a:xfrm>
            <a:off x="1537920" y="2211120"/>
            <a:ext cx="9573480" cy="34764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457200" indent="-457200">
              <a:buFontTx/>
              <a:buAutoNum type="arabicPeriod"/>
            </a:pPr>
            <a:r>
              <a:rPr lang="en-US" sz="2000" dirty="0"/>
              <a:t>What is the role of A* search in robotics navigation?</a:t>
            </a:r>
          </a:p>
          <a:p>
            <a:pPr marL="457200" indent="-457200">
              <a:buAutoNum type="arabicPeriod"/>
            </a:pPr>
            <a:endParaRPr lang="en-US" sz="2000" dirty="0"/>
          </a:p>
          <a:p>
            <a:r>
              <a:rPr lang="en-US" sz="2000" dirty="0"/>
              <a:t>2. How does AI optimize vehicle routing in logistics?</a:t>
            </a:r>
          </a:p>
          <a:p>
            <a:endParaRPr lang="en-US" sz="2000" dirty="0"/>
          </a:p>
          <a:p>
            <a:pPr marL="342900" indent="-342900"/>
            <a:r>
              <a:rPr lang="en-US" sz="2000" dirty="0"/>
              <a:t>3. Explain how search strategies like Alpha-Beta pruning are applied in AI-based games.</a:t>
            </a:r>
          </a:p>
          <a:p>
            <a:pPr marL="342900" indent="-342900"/>
            <a:endParaRPr lang="en-US" sz="2000" dirty="0">
              <a:solidFill>
                <a:schemeClr val="tx1"/>
              </a:solidFill>
            </a:endParaRPr>
          </a:p>
          <a:p>
            <a:pPr marL="342900" indent="-342900"/>
            <a:endParaRPr lang="en-US" sz="2000" dirty="0">
              <a:solidFill>
                <a:schemeClr val="tx1"/>
              </a:solidFill>
            </a:endParaRPr>
          </a:p>
          <a:p>
            <a:endParaRPr lang="en-US" sz="2000" dirty="0"/>
          </a:p>
          <a:p>
            <a:pPr marL="342900" indent="-342900">
              <a:buAutoNum type="arabicPeriod"/>
            </a:pPr>
            <a:endParaRPr lang="en-US" sz="2000" dirty="0">
              <a:solidFill>
                <a:schemeClr val="tx1"/>
              </a:solidFill>
            </a:endParaRPr>
          </a:p>
          <a:p>
            <a:pPr>
              <a:lnSpc>
                <a:spcPct val="200000"/>
              </a:lnSpc>
              <a:buNone/>
            </a:pPr>
            <a:endParaRPr lang="en-IN" sz="2000" b="0" strike="noStrike" spc="-1" dirty="0">
              <a:latin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19</a:t>
            </a:fld>
            <a:endParaRPr lang="en-US"/>
          </a:p>
        </p:txBody>
      </p:sp>
      <p:sp>
        <p:nvSpPr>
          <p:cNvPr id="12" name="Text Placeholder 11"/>
          <p:cNvSpPr>
            <a:spLocks noGrp="1"/>
          </p:cNvSpPr>
          <p:nvPr>
            <p:ph idx="4294967295"/>
          </p:nvPr>
        </p:nvSpPr>
        <p:spPr>
          <a:xfrm>
            <a:off x="0" y="1825625"/>
            <a:ext cx="10515600" cy="4351338"/>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endParaRPr lang="en-US" dirty="0"/>
          </a:p>
        </p:txBody>
      </p:sp>
      <p:sp>
        <p:nvSpPr>
          <p:cNvPr id="2" name="Rounded Rectangle 17"/>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120876" y="1915318"/>
            <a:ext cx="10707329" cy="2585323"/>
          </a:xfrm>
          <a:prstGeom prst="rect">
            <a:avLst/>
          </a:prstGeom>
          <a:noFill/>
        </p:spPr>
        <p:txBody>
          <a:bodyPr wrap="square" rtlCol="0">
            <a:spAutoFit/>
          </a:bodyPr>
          <a:lstStyle/>
          <a:p>
            <a:pPr>
              <a:lnSpc>
                <a:spcPct val="150000"/>
              </a:lnSpc>
            </a:pPr>
            <a:r>
              <a:rPr lang="en-US" b="1" dirty="0"/>
              <a:t> Books:</a:t>
            </a:r>
          </a:p>
          <a:p>
            <a:r>
              <a:rPr lang="en-US" dirty="0"/>
              <a:t>1. </a:t>
            </a:r>
            <a:r>
              <a:rPr lang="en-US" b="1" dirty="0"/>
              <a:t>Stuart Russell &amp; Peter </a:t>
            </a:r>
            <a:r>
              <a:rPr lang="en-US" b="1" dirty="0" err="1"/>
              <a:t>Norvig</a:t>
            </a:r>
            <a:r>
              <a:rPr lang="en-US" dirty="0"/>
              <a:t>,</a:t>
            </a:r>
            <a:br>
              <a:rPr lang="en-US" dirty="0"/>
            </a:br>
            <a:r>
              <a:rPr lang="en-US" i="1" dirty="0"/>
              <a:t>Artificial Intelligence: A Modern Approach</a:t>
            </a:r>
            <a:r>
              <a:rPr lang="en-US" dirty="0"/>
              <a:t> (4th Edition), Pearson Education, 2021.</a:t>
            </a:r>
          </a:p>
          <a:p>
            <a:r>
              <a:rPr lang="en-US" dirty="0"/>
              <a:t>2. </a:t>
            </a:r>
            <a:r>
              <a:rPr lang="en-US" b="1" dirty="0"/>
              <a:t>Elaine Rich, Kevin Knight, </a:t>
            </a:r>
            <a:r>
              <a:rPr lang="en-US" b="1" dirty="0" err="1"/>
              <a:t>Shivashankar</a:t>
            </a:r>
            <a:r>
              <a:rPr lang="en-US" b="1" dirty="0"/>
              <a:t> B. Nair</a:t>
            </a:r>
            <a:r>
              <a:rPr lang="en-US" dirty="0"/>
              <a:t>,</a:t>
            </a:r>
            <a:br>
              <a:rPr lang="en-US" dirty="0"/>
            </a:br>
            <a:r>
              <a:rPr lang="en-US" i="1" dirty="0"/>
              <a:t>Artificial Intelligence</a:t>
            </a:r>
            <a:r>
              <a:rPr lang="en-US" dirty="0"/>
              <a:t>, 3rd Edition, McGraw Hill, 2009.</a:t>
            </a:r>
          </a:p>
          <a:p>
            <a:pPr marL="342900" indent="-342900">
              <a:lnSpc>
                <a:spcPct val="150000"/>
              </a:lnSpc>
            </a:pPr>
            <a:r>
              <a:rPr lang="en-US" b="1" dirty="0"/>
              <a:t>Web references:</a:t>
            </a:r>
          </a:p>
          <a:p>
            <a:r>
              <a:rPr lang="fr-FR" b="1" dirty="0"/>
              <a:t>1. </a:t>
            </a:r>
            <a:r>
              <a:rPr lang="en-US" dirty="0"/>
              <a:t>NPTEL Online Course: </a:t>
            </a:r>
            <a:r>
              <a:rPr lang="en-US" i="1" dirty="0"/>
              <a:t>Artificial Intelligence</a:t>
            </a:r>
            <a:r>
              <a:rPr lang="en-US" dirty="0"/>
              <a:t> – IIT Madras (https://nptel.ac.in/courses/106106126)</a:t>
            </a:r>
          </a:p>
          <a:p>
            <a:r>
              <a:rPr lang="en-US" dirty="0"/>
              <a:t>2. MIT </a:t>
            </a:r>
            <a:r>
              <a:rPr lang="en-US" dirty="0" err="1"/>
              <a:t>OpenCourseWare</a:t>
            </a:r>
            <a:r>
              <a:rPr lang="en-US" dirty="0"/>
              <a:t>: </a:t>
            </a:r>
            <a:r>
              <a:rPr lang="en-US" i="1" dirty="0"/>
              <a:t>6.034 Artificial Intelligence</a:t>
            </a:r>
            <a:r>
              <a:rPr lang="en-US" dirty="0"/>
              <a:t> (https://ocw.mit.edu)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AI &amp; ML</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1543</Words>
  <Application>Microsoft Office PowerPoint</Application>
  <PresentationFormat>Widescreen</PresentationFormat>
  <Paragraphs>144</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Gill Sans MT</vt:lpstr>
      <vt:lpstr>Poppins</vt:lpstr>
      <vt:lpstr>var(--body-font-family)</vt:lpstr>
      <vt:lpstr>Office Theme</vt:lpstr>
      <vt:lpstr>PowerPoint Presentation</vt:lpstr>
      <vt:lpstr>AI Applications:  Search in robotics, logistics, games, expert systems</vt:lpstr>
      <vt:lpstr>CONTD..</vt:lpstr>
      <vt:lpstr>Search in Robotics</vt:lpstr>
      <vt:lpstr>CONTD..</vt:lpstr>
      <vt:lpstr>CONTD..  </vt:lpstr>
      <vt:lpstr>AI Applications: Search in logistics:</vt:lpstr>
      <vt:lpstr>CONTD.. </vt:lpstr>
      <vt:lpstr>CONTD..</vt:lpstr>
      <vt:lpstr>AI Applications: games</vt:lpstr>
      <vt:lpstr>CONTD..</vt:lpstr>
      <vt:lpstr>CONTD.. </vt:lpstr>
      <vt:lpstr>AI Applications: Expert systems</vt:lpstr>
      <vt:lpstr>Applications of Expert Systems:</vt:lpstr>
      <vt:lpstr>CONTD..</vt:lpstr>
      <vt:lpstr>CONTD..</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123</dc:creator>
  <cp:lastModifiedBy>P Manika Prasuna</cp:lastModifiedBy>
  <cp:revision>42</cp:revision>
  <dcterms:created xsi:type="dcterms:W3CDTF">2025-08-12T15:45:27Z</dcterms:created>
  <dcterms:modified xsi:type="dcterms:W3CDTF">2025-08-18T07:35:44Z</dcterms:modified>
</cp:coreProperties>
</file>