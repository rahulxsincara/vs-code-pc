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5"/>
  </p:notesMasterIdLst>
  <p:sldIdLst>
    <p:sldId id="256" r:id="rId2"/>
    <p:sldId id="304" r:id="rId3"/>
    <p:sldId id="332" r:id="rId4"/>
    <p:sldId id="305" r:id="rId5"/>
    <p:sldId id="335" r:id="rId6"/>
    <p:sldId id="308" r:id="rId7"/>
    <p:sldId id="336" r:id="rId8"/>
    <p:sldId id="271" r:id="rId9"/>
    <p:sldId id="337" r:id="rId10"/>
    <p:sldId id="334" r:id="rId11"/>
    <p:sldId id="333" r:id="rId12"/>
    <p:sldId id="339" r:id="rId13"/>
    <p:sldId id="331" r:id="rId14"/>
    <p:sldId id="309" r:id="rId15"/>
    <p:sldId id="312" r:id="rId16"/>
    <p:sldId id="313" r:id="rId17"/>
    <p:sldId id="310" r:id="rId18"/>
    <p:sldId id="311" r:id="rId19"/>
    <p:sldId id="314" r:id="rId20"/>
    <p:sldId id="315" r:id="rId21"/>
    <p:sldId id="316" r:id="rId22"/>
    <p:sldId id="317" r:id="rId23"/>
    <p:sldId id="318" r:id="rId24"/>
    <p:sldId id="340" r:id="rId25"/>
    <p:sldId id="341" r:id="rId26"/>
    <p:sldId id="319" r:id="rId27"/>
    <p:sldId id="342" r:id="rId28"/>
    <p:sldId id="320" r:id="rId29"/>
    <p:sldId id="343" r:id="rId30"/>
    <p:sldId id="323" r:id="rId31"/>
    <p:sldId id="324" r:id="rId32"/>
    <p:sldId id="325" r:id="rId33"/>
    <p:sldId id="344" r:id="rId34"/>
    <p:sldId id="345" r:id="rId35"/>
    <p:sldId id="346" r:id="rId36"/>
    <p:sldId id="347" r:id="rId37"/>
    <p:sldId id="348" r:id="rId38"/>
    <p:sldId id="326" r:id="rId39"/>
    <p:sldId id="327" r:id="rId40"/>
    <p:sldId id="330" r:id="rId41"/>
    <p:sldId id="328" r:id="rId42"/>
    <p:sldId id="329" r:id="rId43"/>
    <p:sldId id="34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CD915-8767-40F7-954D-3F7E107AA614}"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30EC6-6A26-4929-9AE9-1C183424E88C}" type="slidenum">
              <a:rPr lang="en-IN" smtClean="0"/>
              <a:t>‹#›</a:t>
            </a:fld>
            <a:endParaRPr lang="en-IN"/>
          </a:p>
        </p:txBody>
      </p:sp>
    </p:spTree>
    <p:extLst>
      <p:ext uri="{BB962C8B-B14F-4D97-AF65-F5344CB8AC3E}">
        <p14:creationId xmlns:p14="http://schemas.microsoft.com/office/powerpoint/2010/main" val="4054743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A230EC6-6A26-4929-9AE9-1C183424E88C}" type="slidenum">
              <a:rPr lang="en-IN" smtClean="0"/>
              <a:t>30</a:t>
            </a:fld>
            <a:endParaRPr lang="en-IN"/>
          </a:p>
        </p:txBody>
      </p:sp>
    </p:spTree>
    <p:extLst>
      <p:ext uri="{BB962C8B-B14F-4D97-AF65-F5344CB8AC3E}">
        <p14:creationId xmlns:p14="http://schemas.microsoft.com/office/powerpoint/2010/main" val="7428747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414549" y="2467219"/>
            <a:ext cx="9144000" cy="861061"/>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
        <p:nvSpPr>
          <p:cNvPr id="7" name="Rectangle 6">
            <a:extLst>
              <a:ext uri="{FF2B5EF4-FFF2-40B4-BE49-F238E27FC236}">
                <a16:creationId xmlns:a16="http://schemas.microsoft.com/office/drawing/2014/main" id="{39BCC9CA-706E-F867-7CF3-1000A86A13A7}"/>
              </a:ext>
            </a:extLst>
          </p:cNvPr>
          <p:cNvSpPr/>
          <p:nvPr userDrawn="1"/>
        </p:nvSpPr>
        <p:spPr>
          <a:xfrm>
            <a:off x="399011" y="83127"/>
            <a:ext cx="1521229" cy="540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2" descr="KL University - Wikipedia">
            <a:extLst>
              <a:ext uri="{FF2B5EF4-FFF2-40B4-BE49-F238E27FC236}">
                <a16:creationId xmlns:a16="http://schemas.microsoft.com/office/drawing/2014/main" id="{653AD577-CAC5-E64D-E54F-DE967A4D2EF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7694" y="155501"/>
            <a:ext cx="2030905" cy="82271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56625601-FD2C-DAA2-5BCD-584DB10F78A5}"/>
              </a:ext>
            </a:extLst>
          </p:cNvPr>
          <p:cNvSpPr/>
          <p:nvPr userDrawn="1"/>
        </p:nvSpPr>
        <p:spPr>
          <a:xfrm>
            <a:off x="2429916" y="305250"/>
            <a:ext cx="7701042" cy="523220"/>
          </a:xfrm>
          <a:prstGeom prst="rect">
            <a:avLst/>
          </a:prstGeom>
          <a:noFill/>
        </p:spPr>
        <p:txBody>
          <a:bodyPr wrap="squar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ARTIFICILA INTELLIGENCE  MACHINE LEARNING</a:t>
            </a:r>
          </a:p>
        </p:txBody>
      </p:sp>
    </p:spTree>
    <p:extLst>
      <p:ext uri="{BB962C8B-B14F-4D97-AF65-F5344CB8AC3E}">
        <p14:creationId xmlns:p14="http://schemas.microsoft.com/office/powerpoint/2010/main" val="276848265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pic>
        <p:nvPicPr>
          <p:cNvPr id="7" name="Picture 2" descr="KL University - Wikipedia">
            <a:extLst>
              <a:ext uri="{FF2B5EF4-FFF2-40B4-BE49-F238E27FC236}">
                <a16:creationId xmlns:a16="http://schemas.microsoft.com/office/drawing/2014/main" id="{ECDB660B-5DB9-CACA-071E-B3BAF0A3BC5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7694" y="155501"/>
            <a:ext cx="2030905" cy="822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t>18-08-2025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t>18-08-2025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t>18-08-2025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t>18-08-2025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370791" y="1627780"/>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566772"/>
            <a:ext cx="9657806" cy="147732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SESSION NO :3</a:t>
            </a:r>
          </a:p>
          <a:p>
            <a:pPr algn="ctr"/>
            <a:r>
              <a:rPr lang="en-IN" sz="3000" dirty="0"/>
              <a:t>Intelligent Agents &amp; PEAS framework</a:t>
            </a:r>
          </a:p>
          <a:p>
            <a:pPr algn="ctr"/>
            <a:r>
              <a:rPr lang="en-IN" sz="3000"/>
              <a:t>Rational agents, agent environments, PEAS examples.</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Agent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dirty="0"/>
          </a:p>
        </p:txBody>
      </p:sp>
      <p:sp>
        <p:nvSpPr>
          <p:cNvPr id="6" name="Rectangle 2">
            <a:extLst>
              <a:ext uri="{FF2B5EF4-FFF2-40B4-BE49-F238E27FC236}">
                <a16:creationId xmlns:a16="http://schemas.microsoft.com/office/drawing/2014/main" id="{BEB5E04B-B842-93B9-4DCA-98083E0952E0}"/>
              </a:ext>
            </a:extLst>
          </p:cNvPr>
          <p:cNvSpPr>
            <a:spLocks noGrp="1" noChangeArrowheads="1"/>
          </p:cNvSpPr>
          <p:nvPr>
            <p:ph idx="1"/>
          </p:nvPr>
        </p:nvSpPr>
        <p:spPr bwMode="auto">
          <a:xfrm>
            <a:off x="940526" y="1258907"/>
            <a:ext cx="10413274" cy="305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2500" b="1" i="0" u="none" strike="noStrike" cap="none" normalizeH="0" baseline="0" dirty="0">
                <a:ln>
                  <a:noFill/>
                </a:ln>
                <a:solidFill>
                  <a:schemeClr val="tx1"/>
                </a:solidFill>
                <a:effectLst/>
                <a:latin typeface="Arial" panose="020B0604020202020204" pitchFamily="34" charset="0"/>
              </a:rPr>
              <a:t>What’s an Agent?</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Arial" panose="020B0604020202020204" pitchFamily="34" charset="0"/>
              </a:rPr>
              <a:t>An </a:t>
            </a:r>
            <a:r>
              <a:rPr kumimoji="0" lang="en-US" altLang="en-US" sz="2500" b="0" i="1" u="none" strike="noStrike" cap="none" normalizeH="0" baseline="0" dirty="0">
                <a:ln>
                  <a:noFill/>
                </a:ln>
                <a:solidFill>
                  <a:schemeClr val="tx1"/>
                </a:solidFill>
                <a:effectLst/>
                <a:latin typeface="Arial" panose="020B0604020202020204" pitchFamily="34" charset="0"/>
              </a:rPr>
              <a:t>agent</a:t>
            </a:r>
            <a:r>
              <a:rPr kumimoji="0" lang="en-US" altLang="en-US" sz="2500" b="0" i="0" u="none" strike="noStrike" cap="none" normalizeH="0" baseline="0" dirty="0">
                <a:ln>
                  <a:noFill/>
                </a:ln>
                <a:solidFill>
                  <a:schemeClr val="tx1"/>
                </a:solidFill>
                <a:effectLst/>
                <a:latin typeface="Arial" panose="020B0604020202020204" pitchFamily="34" charset="0"/>
              </a:rPr>
              <a:t> is anything that </a:t>
            </a:r>
            <a:r>
              <a:rPr kumimoji="0" lang="en-US" altLang="en-US" sz="2500" b="1" i="0" u="none" strike="noStrike" cap="none" normalizeH="0" baseline="0" dirty="0">
                <a:ln>
                  <a:noFill/>
                </a:ln>
                <a:solidFill>
                  <a:srgbClr val="C00000"/>
                </a:solidFill>
                <a:effectLst/>
                <a:latin typeface="Arial" panose="020B0604020202020204" pitchFamily="34" charset="0"/>
              </a:rPr>
              <a:t>perceives its environment </a:t>
            </a:r>
            <a:r>
              <a:rPr kumimoji="0" lang="en-US" altLang="en-US" sz="2500" b="0" i="0" u="none" strike="noStrike" cap="none" normalizeH="0" baseline="0" dirty="0">
                <a:ln>
                  <a:noFill/>
                </a:ln>
                <a:solidFill>
                  <a:schemeClr val="tx1"/>
                </a:solidFill>
                <a:effectLst/>
                <a:latin typeface="Arial" panose="020B0604020202020204" pitchFamily="34" charset="0"/>
              </a:rPr>
              <a:t>and </a:t>
            </a:r>
            <a:r>
              <a:rPr lang="en-US" altLang="en-US" sz="2500" b="1" dirty="0">
                <a:solidFill>
                  <a:srgbClr val="C00000"/>
                </a:solidFill>
                <a:latin typeface="Arial" panose="020B0604020202020204" pitchFamily="34" charset="0"/>
              </a:rPr>
              <a:t>acts upon </a:t>
            </a:r>
            <a:r>
              <a:rPr kumimoji="0" lang="en-US" altLang="en-US" sz="2500" b="0" i="0" u="none" strike="noStrike" cap="none" normalizeH="0" baseline="0" dirty="0">
                <a:ln>
                  <a:noFill/>
                </a:ln>
                <a:solidFill>
                  <a:schemeClr val="tx1"/>
                </a:solidFill>
                <a:effectLst/>
                <a:latin typeface="Arial" panose="020B0604020202020204" pitchFamily="34" charset="0"/>
              </a:rPr>
              <a:t>it.</a:t>
            </a:r>
          </a:p>
          <a:p>
            <a:pPr marL="0" marR="0" lvl="0" indent="0" algn="just" defTabSz="914400" rtl="0" eaLnBrk="0" fontAlgn="base" latinLnBrk="0" hangingPunct="0">
              <a:lnSpc>
                <a:spcPct val="200000"/>
              </a:lnSpc>
              <a:spcBef>
                <a:spcPct val="0"/>
              </a:spcBef>
              <a:spcAft>
                <a:spcPct val="0"/>
              </a:spcAft>
              <a:buClrTx/>
              <a:buSzTx/>
              <a:buFontTx/>
              <a:buNone/>
              <a:tabLst/>
            </a:pPr>
            <a:r>
              <a:rPr lang="en-US" altLang="en-US" sz="2500" b="1" dirty="0">
                <a:solidFill>
                  <a:srgbClr val="C00000"/>
                </a:solidFill>
                <a:latin typeface="Arial" panose="020B0604020202020204" pitchFamily="34" charset="0"/>
              </a:rPr>
              <a:t>Not all agents are intelligent </a:t>
            </a:r>
            <a:r>
              <a:rPr kumimoji="0" lang="en-US" altLang="en-US" sz="2500" b="0" i="0" u="none" strike="noStrike" cap="none" normalizeH="0" baseline="0" dirty="0">
                <a:ln>
                  <a:noFill/>
                </a:ln>
                <a:solidFill>
                  <a:schemeClr val="tx1"/>
                </a:solidFill>
                <a:effectLst/>
                <a:latin typeface="Arial" panose="020B0604020202020204" pitchFamily="34" charset="0"/>
              </a:rPr>
              <a:t>— some follow fixed rules or blindly respond to input.</a:t>
            </a:r>
          </a:p>
        </p:txBody>
      </p:sp>
    </p:spTree>
    <p:extLst>
      <p:ext uri="{BB962C8B-B14F-4D97-AF65-F5344CB8AC3E}">
        <p14:creationId xmlns:p14="http://schemas.microsoft.com/office/powerpoint/2010/main" val="2411323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2C021-761B-40BF-004A-7CB6DAB96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AD1A4-D730-01E6-9B45-D9249CEB7FA1}"/>
              </a:ext>
            </a:extLst>
          </p:cNvPr>
          <p:cNvSpPr>
            <a:spLocks noGrp="1"/>
          </p:cNvSpPr>
          <p:nvPr>
            <p:ph type="title"/>
          </p:nvPr>
        </p:nvSpPr>
        <p:spPr>
          <a:xfrm>
            <a:off x="838200" y="-200886"/>
            <a:ext cx="10515600" cy="1325563"/>
          </a:xfrm>
        </p:spPr>
        <p:txBody>
          <a:bodyPr/>
          <a:lstStyle/>
          <a:p>
            <a:r>
              <a:rPr lang="en-US" dirty="0"/>
              <a:t> Agent</a:t>
            </a:r>
            <a:endParaRPr lang="en-IN" dirty="0"/>
          </a:p>
        </p:txBody>
      </p:sp>
      <p:sp>
        <p:nvSpPr>
          <p:cNvPr id="4" name="Slide Number Placeholder 3">
            <a:extLst>
              <a:ext uri="{FF2B5EF4-FFF2-40B4-BE49-F238E27FC236}">
                <a16:creationId xmlns:a16="http://schemas.microsoft.com/office/drawing/2014/main" id="{7F90B974-1816-5D37-892D-B40DC6BCAA69}"/>
              </a:ext>
            </a:extLst>
          </p:cNvPr>
          <p:cNvSpPr>
            <a:spLocks noGrp="1"/>
          </p:cNvSpPr>
          <p:nvPr>
            <p:ph type="sldNum" sz="quarter" idx="12"/>
          </p:nvPr>
        </p:nvSpPr>
        <p:spPr/>
        <p:txBody>
          <a:bodyPr/>
          <a:lstStyle/>
          <a:p>
            <a:fld id="{CBABCCC1-BF11-4F37-963E-1BCD5B23FD72}" type="slidenum">
              <a:rPr lang="en-IN" smtClean="0"/>
              <a:pPr/>
              <a:t>3</a:t>
            </a:fld>
            <a:endParaRPr lang="en-IN" dirty="0"/>
          </a:p>
        </p:txBody>
      </p:sp>
      <p:graphicFrame>
        <p:nvGraphicFramePr>
          <p:cNvPr id="3" name="Table 2">
            <a:extLst>
              <a:ext uri="{FF2B5EF4-FFF2-40B4-BE49-F238E27FC236}">
                <a16:creationId xmlns:a16="http://schemas.microsoft.com/office/drawing/2014/main" id="{8618C5B9-928D-4070-4D2F-0BE1DAAF7242}"/>
              </a:ext>
            </a:extLst>
          </p:cNvPr>
          <p:cNvGraphicFramePr>
            <a:graphicFrameLocks noGrp="1"/>
          </p:cNvGraphicFramePr>
          <p:nvPr>
            <p:extLst>
              <p:ext uri="{D42A27DB-BD31-4B8C-83A1-F6EECF244321}">
                <p14:modId xmlns:p14="http://schemas.microsoft.com/office/powerpoint/2010/main" val="1966046365"/>
              </p:ext>
            </p:extLst>
          </p:nvPr>
        </p:nvGraphicFramePr>
        <p:xfrm>
          <a:off x="838200" y="748938"/>
          <a:ext cx="11170924" cy="5190308"/>
        </p:xfrm>
        <a:graphic>
          <a:graphicData uri="http://schemas.openxmlformats.org/drawingml/2006/table">
            <a:tbl>
              <a:tblPr/>
              <a:tblGrid>
                <a:gridCol w="2792731">
                  <a:extLst>
                    <a:ext uri="{9D8B030D-6E8A-4147-A177-3AD203B41FA5}">
                      <a16:colId xmlns:a16="http://schemas.microsoft.com/office/drawing/2014/main" val="641382470"/>
                    </a:ext>
                  </a:extLst>
                </a:gridCol>
                <a:gridCol w="2792731">
                  <a:extLst>
                    <a:ext uri="{9D8B030D-6E8A-4147-A177-3AD203B41FA5}">
                      <a16:colId xmlns:a16="http://schemas.microsoft.com/office/drawing/2014/main" val="794682034"/>
                    </a:ext>
                  </a:extLst>
                </a:gridCol>
                <a:gridCol w="2792731">
                  <a:extLst>
                    <a:ext uri="{9D8B030D-6E8A-4147-A177-3AD203B41FA5}">
                      <a16:colId xmlns:a16="http://schemas.microsoft.com/office/drawing/2014/main" val="1277435301"/>
                    </a:ext>
                  </a:extLst>
                </a:gridCol>
                <a:gridCol w="2792731">
                  <a:extLst>
                    <a:ext uri="{9D8B030D-6E8A-4147-A177-3AD203B41FA5}">
                      <a16:colId xmlns:a16="http://schemas.microsoft.com/office/drawing/2014/main" val="2406004656"/>
                    </a:ext>
                  </a:extLst>
                </a:gridCol>
              </a:tblGrid>
              <a:tr h="834157">
                <a:tc>
                  <a:txBody>
                    <a:bodyPr/>
                    <a:lstStyle/>
                    <a:p>
                      <a:pPr>
                        <a:buNone/>
                      </a:pPr>
                      <a:r>
                        <a:rPr lang="en-IN" sz="2400" b="1" dirty="0"/>
                        <a:t>Agent</a:t>
                      </a:r>
                      <a:endParaRPr lang="en-IN" sz="2400" dirty="0"/>
                    </a:p>
                  </a:txBody>
                  <a:tcPr anchor="ctr">
                    <a:lnL>
                      <a:noFill/>
                    </a:lnL>
                    <a:lnR>
                      <a:noFill/>
                    </a:lnR>
                    <a:lnT>
                      <a:noFill/>
                    </a:lnT>
                    <a:lnB>
                      <a:noFill/>
                    </a:lnB>
                    <a:noFill/>
                  </a:tcPr>
                </a:tc>
                <a:tc>
                  <a:txBody>
                    <a:bodyPr/>
                    <a:lstStyle/>
                    <a:p>
                      <a:pPr>
                        <a:buNone/>
                      </a:pPr>
                      <a:r>
                        <a:rPr lang="en-IN" sz="2400" b="1"/>
                        <a:t>Perceives (Sensors)</a:t>
                      </a:r>
                      <a:endParaRPr lang="en-IN" sz="2400"/>
                    </a:p>
                  </a:txBody>
                  <a:tcPr anchor="ctr">
                    <a:lnL>
                      <a:noFill/>
                    </a:lnL>
                    <a:lnR>
                      <a:noFill/>
                    </a:lnR>
                    <a:lnT>
                      <a:noFill/>
                    </a:lnT>
                    <a:lnB>
                      <a:noFill/>
                    </a:lnB>
                    <a:noFill/>
                  </a:tcPr>
                </a:tc>
                <a:tc>
                  <a:txBody>
                    <a:bodyPr/>
                    <a:lstStyle/>
                    <a:p>
                      <a:pPr>
                        <a:buNone/>
                      </a:pPr>
                      <a:r>
                        <a:rPr lang="en-IN" sz="2400" b="1" dirty="0"/>
                        <a:t>Acts (Actuators)</a:t>
                      </a:r>
                      <a:endParaRPr lang="en-IN" sz="2400" dirty="0"/>
                    </a:p>
                  </a:txBody>
                  <a:tcPr anchor="ctr">
                    <a:lnL>
                      <a:noFill/>
                    </a:lnL>
                    <a:lnR>
                      <a:noFill/>
                    </a:lnR>
                    <a:lnT>
                      <a:noFill/>
                    </a:lnT>
                    <a:lnB>
                      <a:noFill/>
                    </a:lnB>
                    <a:noFill/>
                  </a:tcPr>
                </a:tc>
                <a:tc>
                  <a:txBody>
                    <a:bodyPr/>
                    <a:lstStyle/>
                    <a:p>
                      <a:pPr>
                        <a:buNone/>
                      </a:pPr>
                      <a:r>
                        <a:rPr lang="en-IN" sz="2400" b="1"/>
                        <a:t>Why it’s not intelligent</a:t>
                      </a:r>
                      <a:endParaRPr lang="en-IN" sz="2400"/>
                    </a:p>
                  </a:txBody>
                  <a:tcPr anchor="ctr">
                    <a:lnL>
                      <a:noFill/>
                    </a:lnL>
                    <a:lnR>
                      <a:noFill/>
                    </a:lnR>
                    <a:lnT>
                      <a:noFill/>
                    </a:lnT>
                    <a:lnB>
                      <a:noFill/>
                    </a:lnB>
                    <a:noFill/>
                  </a:tcPr>
                </a:tc>
                <a:extLst>
                  <a:ext uri="{0D108BD9-81ED-4DB2-BD59-A6C34878D82A}">
                    <a16:rowId xmlns:a16="http://schemas.microsoft.com/office/drawing/2014/main" val="3902280205"/>
                  </a:ext>
                </a:extLst>
              </a:tr>
              <a:tr h="1575629">
                <a:tc>
                  <a:txBody>
                    <a:bodyPr/>
                    <a:lstStyle/>
                    <a:p>
                      <a:pPr>
                        <a:buNone/>
                      </a:pPr>
                      <a:r>
                        <a:rPr lang="en-IN" sz="2400" dirty="0"/>
                        <a:t>🔘 </a:t>
                      </a:r>
                      <a:r>
                        <a:rPr lang="en-IN" sz="2400" b="1" dirty="0"/>
                        <a:t>Thermostat</a:t>
                      </a:r>
                      <a:endParaRPr lang="en-IN" sz="2400" dirty="0"/>
                    </a:p>
                  </a:txBody>
                  <a:tcPr anchor="ctr">
                    <a:lnL>
                      <a:noFill/>
                    </a:lnL>
                    <a:lnR>
                      <a:noFill/>
                    </a:lnR>
                    <a:lnT>
                      <a:noFill/>
                    </a:lnT>
                    <a:lnB>
                      <a:noFill/>
                    </a:lnB>
                    <a:noFill/>
                  </a:tcPr>
                </a:tc>
                <a:tc>
                  <a:txBody>
                    <a:bodyPr/>
                    <a:lstStyle/>
                    <a:p>
                      <a:pPr>
                        <a:buNone/>
                      </a:pPr>
                      <a:r>
                        <a:rPr lang="en-IN" sz="2400"/>
                        <a:t>Room temperature sensor</a:t>
                      </a:r>
                    </a:p>
                  </a:txBody>
                  <a:tcPr anchor="ctr">
                    <a:lnL>
                      <a:noFill/>
                    </a:lnL>
                    <a:lnR>
                      <a:noFill/>
                    </a:lnR>
                    <a:lnT>
                      <a:noFill/>
                    </a:lnT>
                    <a:lnB>
                      <a:noFill/>
                    </a:lnB>
                    <a:noFill/>
                  </a:tcPr>
                </a:tc>
                <a:tc>
                  <a:txBody>
                    <a:bodyPr/>
                    <a:lstStyle/>
                    <a:p>
                      <a:pPr>
                        <a:buNone/>
                      </a:pPr>
                      <a:r>
                        <a:rPr lang="en-US" sz="2400"/>
                        <a:t>Switches heating/cooling ON or OFF</a:t>
                      </a:r>
                    </a:p>
                  </a:txBody>
                  <a:tcPr anchor="ctr">
                    <a:lnL>
                      <a:noFill/>
                    </a:lnL>
                    <a:lnR>
                      <a:noFill/>
                    </a:lnR>
                    <a:lnT>
                      <a:noFill/>
                    </a:lnT>
                    <a:lnB>
                      <a:noFill/>
                    </a:lnB>
                    <a:noFill/>
                  </a:tcPr>
                </a:tc>
                <a:tc>
                  <a:txBody>
                    <a:bodyPr/>
                    <a:lstStyle/>
                    <a:p>
                      <a:pPr>
                        <a:buNone/>
                      </a:pPr>
                      <a:r>
                        <a:rPr lang="en-US" sz="2400"/>
                        <a:t>Simple condition-action rule. No learning or reasoning.</a:t>
                      </a:r>
                    </a:p>
                  </a:txBody>
                  <a:tcPr anchor="ctr">
                    <a:lnL>
                      <a:noFill/>
                    </a:lnL>
                    <a:lnR>
                      <a:noFill/>
                    </a:lnR>
                    <a:lnT>
                      <a:noFill/>
                    </a:lnT>
                    <a:lnB>
                      <a:noFill/>
                    </a:lnB>
                    <a:noFill/>
                  </a:tcPr>
                </a:tc>
                <a:extLst>
                  <a:ext uri="{0D108BD9-81ED-4DB2-BD59-A6C34878D82A}">
                    <a16:rowId xmlns:a16="http://schemas.microsoft.com/office/drawing/2014/main" val="484945852"/>
                  </a:ext>
                </a:extLst>
              </a:tr>
              <a:tr h="1204893">
                <a:tc>
                  <a:txBody>
                    <a:bodyPr/>
                    <a:lstStyle/>
                    <a:p>
                      <a:pPr>
                        <a:buNone/>
                      </a:pPr>
                      <a:r>
                        <a:rPr lang="en-IN" sz="2400"/>
                        <a:t>🧹 </a:t>
                      </a:r>
                      <a:r>
                        <a:rPr lang="en-IN" sz="2400" b="1"/>
                        <a:t>Basic Vacuum Cleaner</a:t>
                      </a:r>
                      <a:endParaRPr lang="en-IN" sz="2400"/>
                    </a:p>
                  </a:txBody>
                  <a:tcPr anchor="ctr">
                    <a:lnL>
                      <a:noFill/>
                    </a:lnL>
                    <a:lnR>
                      <a:noFill/>
                    </a:lnR>
                    <a:lnT>
                      <a:noFill/>
                    </a:lnT>
                    <a:lnB>
                      <a:noFill/>
                    </a:lnB>
                    <a:noFill/>
                  </a:tcPr>
                </a:tc>
                <a:tc>
                  <a:txBody>
                    <a:bodyPr/>
                    <a:lstStyle/>
                    <a:p>
                      <a:pPr>
                        <a:buNone/>
                      </a:pPr>
                      <a:r>
                        <a:rPr lang="en-IN" sz="2400" dirty="0"/>
                        <a:t>Physical bump sensors</a:t>
                      </a:r>
                    </a:p>
                  </a:txBody>
                  <a:tcPr anchor="ctr">
                    <a:lnL>
                      <a:noFill/>
                    </a:lnL>
                    <a:lnR>
                      <a:noFill/>
                    </a:lnR>
                    <a:lnT>
                      <a:noFill/>
                    </a:lnT>
                    <a:lnB>
                      <a:noFill/>
                    </a:lnB>
                    <a:noFill/>
                  </a:tcPr>
                </a:tc>
                <a:tc>
                  <a:txBody>
                    <a:bodyPr/>
                    <a:lstStyle/>
                    <a:p>
                      <a:pPr>
                        <a:buNone/>
                      </a:pPr>
                      <a:r>
                        <a:rPr lang="en-US" sz="2400"/>
                        <a:t>Motor for suction and movement</a:t>
                      </a:r>
                    </a:p>
                  </a:txBody>
                  <a:tcPr anchor="ctr">
                    <a:lnL>
                      <a:noFill/>
                    </a:lnL>
                    <a:lnR>
                      <a:noFill/>
                    </a:lnR>
                    <a:lnT>
                      <a:noFill/>
                    </a:lnT>
                    <a:lnB>
                      <a:noFill/>
                    </a:lnB>
                    <a:noFill/>
                  </a:tcPr>
                </a:tc>
                <a:tc>
                  <a:txBody>
                    <a:bodyPr/>
                    <a:lstStyle/>
                    <a:p>
                      <a:pPr>
                        <a:buNone/>
                      </a:pPr>
                      <a:r>
                        <a:rPr lang="en-US" sz="2400" dirty="0"/>
                        <a:t>Randomly moves; no environment understanding.</a:t>
                      </a:r>
                    </a:p>
                  </a:txBody>
                  <a:tcPr anchor="ctr">
                    <a:lnL>
                      <a:noFill/>
                    </a:lnL>
                    <a:lnR>
                      <a:noFill/>
                    </a:lnR>
                    <a:lnT>
                      <a:noFill/>
                    </a:lnT>
                    <a:lnB>
                      <a:noFill/>
                    </a:lnB>
                    <a:noFill/>
                  </a:tcPr>
                </a:tc>
                <a:extLst>
                  <a:ext uri="{0D108BD9-81ED-4DB2-BD59-A6C34878D82A}">
                    <a16:rowId xmlns:a16="http://schemas.microsoft.com/office/drawing/2014/main" val="3549932503"/>
                  </a:ext>
                </a:extLst>
              </a:tr>
              <a:tr h="1575629">
                <a:tc>
                  <a:txBody>
                    <a:bodyPr/>
                    <a:lstStyle/>
                    <a:p>
                      <a:pPr>
                        <a:buNone/>
                      </a:pPr>
                      <a:r>
                        <a:rPr lang="en-IN" sz="2400"/>
                        <a:t>🧭 </a:t>
                      </a:r>
                      <a:r>
                        <a:rPr lang="en-IN" sz="2400" b="1"/>
                        <a:t>Automatic Street Light</a:t>
                      </a:r>
                      <a:endParaRPr lang="en-IN" sz="2400"/>
                    </a:p>
                  </a:txBody>
                  <a:tcPr anchor="ctr">
                    <a:lnL>
                      <a:noFill/>
                    </a:lnL>
                    <a:lnR>
                      <a:noFill/>
                    </a:lnR>
                    <a:lnT>
                      <a:noFill/>
                    </a:lnT>
                    <a:lnB>
                      <a:noFill/>
                    </a:lnB>
                    <a:noFill/>
                  </a:tcPr>
                </a:tc>
                <a:tc>
                  <a:txBody>
                    <a:bodyPr/>
                    <a:lstStyle/>
                    <a:p>
                      <a:pPr>
                        <a:buNone/>
                      </a:pPr>
                      <a:r>
                        <a:rPr lang="en-IN" sz="2400"/>
                        <a:t>Light sensor</a:t>
                      </a:r>
                    </a:p>
                  </a:txBody>
                  <a:tcPr anchor="ctr">
                    <a:lnL>
                      <a:noFill/>
                    </a:lnL>
                    <a:lnR>
                      <a:noFill/>
                    </a:lnR>
                    <a:lnT>
                      <a:noFill/>
                    </a:lnT>
                    <a:lnB>
                      <a:noFill/>
                    </a:lnB>
                    <a:noFill/>
                  </a:tcPr>
                </a:tc>
                <a:tc>
                  <a:txBody>
                    <a:bodyPr/>
                    <a:lstStyle/>
                    <a:p>
                      <a:pPr>
                        <a:buNone/>
                      </a:pPr>
                      <a:r>
                        <a:rPr lang="en-IN" sz="2400" dirty="0"/>
                        <a:t>Turns light ON/OFF</a:t>
                      </a:r>
                    </a:p>
                  </a:txBody>
                  <a:tcPr anchor="ctr">
                    <a:lnL>
                      <a:noFill/>
                    </a:lnL>
                    <a:lnR>
                      <a:noFill/>
                    </a:lnR>
                    <a:lnT>
                      <a:noFill/>
                    </a:lnT>
                    <a:lnB>
                      <a:noFill/>
                    </a:lnB>
                    <a:noFill/>
                  </a:tcPr>
                </a:tc>
                <a:tc>
                  <a:txBody>
                    <a:bodyPr/>
                    <a:lstStyle/>
                    <a:p>
                      <a:pPr>
                        <a:buNone/>
                      </a:pPr>
                      <a:r>
                        <a:rPr lang="en-US" sz="2400" dirty="0"/>
                        <a:t>Doesn’t adapt or optimize. Just responds to brightness.</a:t>
                      </a:r>
                    </a:p>
                  </a:txBody>
                  <a:tcPr anchor="ctr">
                    <a:lnL>
                      <a:noFill/>
                    </a:lnL>
                    <a:lnR>
                      <a:noFill/>
                    </a:lnR>
                    <a:lnT>
                      <a:noFill/>
                    </a:lnT>
                    <a:lnB>
                      <a:noFill/>
                    </a:lnB>
                    <a:noFill/>
                  </a:tcPr>
                </a:tc>
                <a:extLst>
                  <a:ext uri="{0D108BD9-81ED-4DB2-BD59-A6C34878D82A}">
                    <a16:rowId xmlns:a16="http://schemas.microsoft.com/office/drawing/2014/main" val="518588423"/>
                  </a:ext>
                </a:extLst>
              </a:tr>
            </a:tbl>
          </a:graphicData>
        </a:graphic>
      </p:graphicFrame>
    </p:spTree>
    <p:extLst>
      <p:ext uri="{BB962C8B-B14F-4D97-AF65-F5344CB8AC3E}">
        <p14:creationId xmlns:p14="http://schemas.microsoft.com/office/powerpoint/2010/main" val="3595688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537" y="-142162"/>
            <a:ext cx="8401594" cy="1027269"/>
          </a:xfrm>
        </p:spPr>
        <p:txBody>
          <a:bodyPr/>
          <a:lstStyle/>
          <a:p>
            <a:r>
              <a:rPr lang="en-US" dirty="0"/>
              <a:t>Agents</a:t>
            </a:r>
            <a:endParaRPr lang="en-IN" dirty="0"/>
          </a:p>
        </p:txBody>
      </p:sp>
      <p:sp>
        <p:nvSpPr>
          <p:cNvPr id="3" name="Content Placeholder 2"/>
          <p:cNvSpPr>
            <a:spLocks noGrp="1"/>
          </p:cNvSpPr>
          <p:nvPr>
            <p:ph idx="1"/>
          </p:nvPr>
        </p:nvSpPr>
        <p:spPr>
          <a:xfrm>
            <a:off x="1700350" y="885107"/>
            <a:ext cx="8157754" cy="2254007"/>
          </a:xfrm>
        </p:spPr>
        <p:txBody>
          <a:bodyPr>
            <a:normAutofit/>
          </a:bodyPr>
          <a:lstStyle/>
          <a:p>
            <a:pPr marL="350520" indent="-338455">
              <a:lnSpc>
                <a:spcPct val="100000"/>
              </a:lnSpc>
              <a:spcBef>
                <a:spcPts val="480"/>
              </a:spcBef>
              <a:tabLst>
                <a:tab pos="350520" algn="l"/>
                <a:tab pos="351155" algn="l"/>
              </a:tabLst>
            </a:pPr>
            <a:r>
              <a:rPr lang="en-US" sz="2400" dirty="0"/>
              <a:t>An agent is anything that can be viewed as:</a:t>
            </a:r>
          </a:p>
          <a:p>
            <a:pPr marL="751840" lvl="1" indent="-281940">
              <a:lnSpc>
                <a:spcPct val="100000"/>
              </a:lnSpc>
              <a:spcBef>
                <a:spcPts val="325"/>
              </a:spcBef>
              <a:buClr>
                <a:srgbClr val="000000"/>
              </a:buClr>
              <a:buChar char="–"/>
              <a:tabLst>
                <a:tab pos="751205" algn="l"/>
                <a:tab pos="751840" algn="l"/>
              </a:tabLst>
            </a:pPr>
            <a:r>
              <a:rPr lang="en-US" sz="2500" b="1" dirty="0">
                <a:solidFill>
                  <a:srgbClr val="C00000"/>
                </a:solidFill>
                <a:latin typeface="Arial" panose="020B0604020202020204" pitchFamily="34" charset="0"/>
              </a:rPr>
              <a:t>perceiving its environment </a:t>
            </a:r>
            <a:r>
              <a:rPr lang="en-US" sz="2400" dirty="0"/>
              <a:t>through sensors and</a:t>
            </a:r>
          </a:p>
          <a:p>
            <a:pPr marL="751840" lvl="1" indent="-281940">
              <a:lnSpc>
                <a:spcPct val="100000"/>
              </a:lnSpc>
              <a:spcBef>
                <a:spcPts val="315"/>
              </a:spcBef>
              <a:buClr>
                <a:srgbClr val="000000"/>
              </a:buClr>
              <a:buChar char="–"/>
              <a:tabLst>
                <a:tab pos="751205" algn="l"/>
                <a:tab pos="751840" algn="l"/>
              </a:tabLst>
            </a:pPr>
            <a:r>
              <a:rPr lang="en-US" sz="2500" b="1" dirty="0">
                <a:solidFill>
                  <a:srgbClr val="C00000"/>
                </a:solidFill>
                <a:latin typeface="Arial" panose="020B0604020202020204" pitchFamily="34" charset="0"/>
              </a:rPr>
              <a:t>acting upon that environment </a:t>
            </a:r>
            <a:r>
              <a:rPr lang="en-US" sz="2400" dirty="0"/>
              <a:t>through actuators</a:t>
            </a:r>
          </a:p>
          <a:p>
            <a:pPr marL="751840" marR="5080" lvl="1" indent="-281940">
              <a:lnSpc>
                <a:spcPts val="2590"/>
              </a:lnSpc>
              <a:spcBef>
                <a:spcPts val="640"/>
              </a:spcBef>
              <a:buChar char="–"/>
              <a:tabLst>
                <a:tab pos="751205" algn="l"/>
                <a:tab pos="751840" algn="l"/>
              </a:tabLst>
            </a:pPr>
            <a:r>
              <a:rPr lang="en-US" sz="2400" dirty="0"/>
              <a:t>Assumption: Every agent can perceive its own actions (but not  always the effects)</a:t>
            </a:r>
          </a:p>
          <a:p>
            <a:endParaRPr lang="en-IN"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
        <p:nvSpPr>
          <p:cNvPr id="5" name="object 5"/>
          <p:cNvSpPr/>
          <p:nvPr/>
        </p:nvSpPr>
        <p:spPr>
          <a:xfrm>
            <a:off x="2442204" y="3429000"/>
            <a:ext cx="6323056" cy="2543893"/>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71069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4F79B-3C77-D080-ABFC-E7BFA807C4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C01454-35A3-A626-5701-0C5BABA1B803}"/>
              </a:ext>
            </a:extLst>
          </p:cNvPr>
          <p:cNvSpPr>
            <a:spLocks noGrp="1"/>
          </p:cNvSpPr>
          <p:nvPr>
            <p:ph idx="1"/>
          </p:nvPr>
        </p:nvSpPr>
        <p:spPr/>
        <p:txBody>
          <a:bodyPr/>
          <a:lstStyle/>
          <a:p>
            <a:endParaRPr lang="en-IN" dirty="0"/>
          </a:p>
        </p:txBody>
      </p:sp>
      <p:pic>
        <p:nvPicPr>
          <p:cNvPr id="5122" name="Picture 2" descr="1: An agent interacting with its environment by making observations with its sensors and by executing actions with its actuators according to decisions based on the agent's knowledge and goals, based on [42, 83]. ">
            <a:extLst>
              <a:ext uri="{FF2B5EF4-FFF2-40B4-BE49-F238E27FC236}">
                <a16:creationId xmlns:a16="http://schemas.microsoft.com/office/drawing/2014/main" id="{DA620A6D-63C8-BCC1-5A20-D2630CEEC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504950"/>
            <a:ext cx="8096250"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05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Agent Terminologies</a:t>
            </a:r>
          </a:p>
        </p:txBody>
      </p:sp>
      <p:sp>
        <p:nvSpPr>
          <p:cNvPr id="3" name="Content Placeholder 2"/>
          <p:cNvSpPr>
            <a:spLocks noGrp="1"/>
          </p:cNvSpPr>
          <p:nvPr>
            <p:ph idx="1"/>
          </p:nvPr>
        </p:nvSpPr>
        <p:spPr>
          <a:xfrm>
            <a:off x="1828800" y="1690688"/>
            <a:ext cx="9525000" cy="2598329"/>
          </a:xfrm>
        </p:spPr>
        <p:txBody>
          <a:bodyPr>
            <a:noAutofit/>
          </a:bodyPr>
          <a:lstStyle/>
          <a:p>
            <a:pPr>
              <a:lnSpc>
                <a:spcPct val="150000"/>
              </a:lnSpc>
            </a:pPr>
            <a:r>
              <a:rPr lang="en-IN" sz="2500" b="1" dirty="0">
                <a:solidFill>
                  <a:srgbClr val="C00000"/>
                </a:solidFill>
                <a:latin typeface="Arial" panose="020B0604020202020204" pitchFamily="34" charset="0"/>
              </a:rPr>
              <a:t>Percept</a:t>
            </a:r>
            <a:r>
              <a:rPr lang="en-IN" sz="2400" dirty="0"/>
              <a:t> – input sensed at a moment</a:t>
            </a:r>
          </a:p>
          <a:p>
            <a:pPr>
              <a:lnSpc>
                <a:spcPct val="150000"/>
              </a:lnSpc>
            </a:pPr>
            <a:r>
              <a:rPr lang="en-IN" sz="2500" b="1" dirty="0">
                <a:solidFill>
                  <a:srgbClr val="C00000"/>
                </a:solidFill>
                <a:latin typeface="Arial" panose="020B0604020202020204" pitchFamily="34" charset="0"/>
              </a:rPr>
              <a:t>Percept Sequence </a:t>
            </a:r>
            <a:r>
              <a:rPr lang="en-IN" sz="2400" dirty="0"/>
              <a:t>– full history of </a:t>
            </a:r>
            <a:r>
              <a:rPr lang="en-IN" sz="2400" dirty="0" err="1"/>
              <a:t>percepts</a:t>
            </a:r>
            <a:endParaRPr lang="en-IN" sz="2400" dirty="0"/>
          </a:p>
          <a:p>
            <a:pPr>
              <a:lnSpc>
                <a:spcPct val="150000"/>
              </a:lnSpc>
            </a:pPr>
            <a:r>
              <a:rPr lang="en-IN" sz="2500" b="1" dirty="0">
                <a:solidFill>
                  <a:srgbClr val="C00000"/>
                </a:solidFill>
                <a:latin typeface="Arial" panose="020B0604020202020204" pitchFamily="34" charset="0"/>
              </a:rPr>
              <a:t>Agent Function</a:t>
            </a:r>
            <a:r>
              <a:rPr lang="en-IN" sz="2400" dirty="0"/>
              <a:t> – Maps percept sequence → action</a:t>
            </a:r>
          </a:p>
          <a:p>
            <a:pPr>
              <a:lnSpc>
                <a:spcPct val="150000"/>
              </a:lnSpc>
            </a:pPr>
            <a:r>
              <a:rPr lang="en-IN" sz="2500" b="1" dirty="0">
                <a:solidFill>
                  <a:srgbClr val="C00000"/>
                </a:solidFill>
                <a:latin typeface="Arial" panose="020B0604020202020204" pitchFamily="34" charset="0"/>
              </a:rPr>
              <a:t>Agent Program </a:t>
            </a:r>
            <a:r>
              <a:rPr lang="en-IN" sz="2400" dirty="0"/>
              <a:t>– Concrete implementation (code) of agent function</a:t>
            </a:r>
          </a:p>
          <a:p>
            <a:pPr>
              <a:lnSpc>
                <a:spcPct val="150000"/>
              </a:lnSpc>
            </a:pPr>
            <a:r>
              <a:rPr lang="en-IN" sz="2500" b="1" dirty="0">
                <a:solidFill>
                  <a:srgbClr val="C00000"/>
                </a:solidFill>
                <a:latin typeface="Arial" panose="020B0604020202020204" pitchFamily="34" charset="0"/>
              </a:rPr>
              <a:t>Agent = Agent Program + Architecture</a:t>
            </a: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extLst>
      <p:ext uri="{BB962C8B-B14F-4D97-AF65-F5344CB8AC3E}">
        <p14:creationId xmlns:p14="http://schemas.microsoft.com/office/powerpoint/2010/main" val="255363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5B29-A8DC-DFFB-32CA-B242EF042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AF7E2-5B10-9D40-5F55-BE159F6B638F}"/>
              </a:ext>
            </a:extLst>
          </p:cNvPr>
          <p:cNvSpPr>
            <a:spLocks noGrp="1"/>
          </p:cNvSpPr>
          <p:nvPr>
            <p:ph type="title"/>
          </p:nvPr>
        </p:nvSpPr>
        <p:spPr/>
        <p:txBody>
          <a:bodyPr/>
          <a:lstStyle/>
          <a:p>
            <a:r>
              <a:rPr lang="en-US" dirty="0"/>
              <a:t>Agent function</a:t>
            </a:r>
            <a:endParaRPr lang="en-IN" dirty="0"/>
          </a:p>
        </p:txBody>
      </p:sp>
      <p:sp>
        <p:nvSpPr>
          <p:cNvPr id="3" name="Content Placeholder 2">
            <a:extLst>
              <a:ext uri="{FF2B5EF4-FFF2-40B4-BE49-F238E27FC236}">
                <a16:creationId xmlns:a16="http://schemas.microsoft.com/office/drawing/2014/main" id="{4DEF161D-8B06-62EE-A3F8-C0F7EBD41B8F}"/>
              </a:ext>
            </a:extLst>
          </p:cNvPr>
          <p:cNvSpPr>
            <a:spLocks noGrp="1"/>
          </p:cNvSpPr>
          <p:nvPr>
            <p:ph idx="1"/>
          </p:nvPr>
        </p:nvSpPr>
        <p:spPr>
          <a:xfrm>
            <a:off x="759823" y="1337945"/>
            <a:ext cx="10515600" cy="4351338"/>
          </a:xfrm>
        </p:spPr>
        <p:txBody>
          <a:bodyPr>
            <a:noAutofit/>
          </a:bodyPr>
          <a:lstStyle/>
          <a:p>
            <a:pPr algn="just">
              <a:lnSpc>
                <a:spcPct val="150000"/>
              </a:lnSpc>
              <a:defRPr/>
            </a:pPr>
            <a:r>
              <a:rPr lang="en-GB" sz="2400" dirty="0"/>
              <a:t>A </a:t>
            </a:r>
            <a:r>
              <a:rPr lang="en-GB" sz="2500" b="1" dirty="0">
                <a:solidFill>
                  <a:srgbClr val="C00000"/>
                </a:solidFill>
                <a:latin typeface="Arial" panose="020B0604020202020204" pitchFamily="34" charset="0"/>
              </a:rPr>
              <a:t>mathematical formula </a:t>
            </a:r>
            <a:r>
              <a:rPr lang="en-GB" sz="2400" dirty="0"/>
              <a:t>called the </a:t>
            </a:r>
            <a:r>
              <a:rPr lang="en-GB" sz="2400" b="1" i="1" dirty="0"/>
              <a:t>agent function </a:t>
            </a:r>
            <a:r>
              <a:rPr lang="en-GB" sz="2400" dirty="0"/>
              <a:t>converts a series of observations into actions.</a:t>
            </a:r>
          </a:p>
          <a:p>
            <a:pPr algn="just">
              <a:lnSpc>
                <a:spcPct val="150000"/>
              </a:lnSpc>
              <a:defRPr/>
            </a:pPr>
            <a:r>
              <a:rPr lang="en-US" sz="2500" b="1" dirty="0">
                <a:solidFill>
                  <a:srgbClr val="C00000"/>
                </a:solidFill>
                <a:latin typeface="Arial" panose="020B0604020202020204" pitchFamily="34" charset="0"/>
              </a:rPr>
              <a:t>The function is implemented </a:t>
            </a:r>
            <a:r>
              <a:rPr lang="en-US" sz="2400" dirty="0"/>
              <a:t>as the </a:t>
            </a:r>
            <a:r>
              <a:rPr lang="en-US" sz="2500" b="1" dirty="0">
                <a:solidFill>
                  <a:srgbClr val="C00000"/>
                </a:solidFill>
                <a:latin typeface="Arial" panose="020B0604020202020204" pitchFamily="34" charset="0"/>
              </a:rPr>
              <a:t>agent program</a:t>
            </a:r>
            <a:r>
              <a:rPr lang="en-US" sz="2400" dirty="0"/>
              <a:t>.</a:t>
            </a:r>
          </a:p>
          <a:p>
            <a:pPr algn="just">
              <a:lnSpc>
                <a:spcPct val="150000"/>
              </a:lnSpc>
              <a:defRPr/>
            </a:pPr>
            <a:r>
              <a:rPr lang="en-GB" sz="2400" dirty="0"/>
              <a:t>Actuator refers to the component of an agent that performs an action.</a:t>
            </a:r>
            <a:endParaRPr lang="en-US" sz="2400" dirty="0"/>
          </a:p>
          <a:p>
            <a:pPr algn="just">
              <a:lnSpc>
                <a:spcPct val="150000"/>
              </a:lnSpc>
              <a:defRPr/>
            </a:pPr>
            <a:r>
              <a:rPr lang="en-US" sz="2500" b="1" dirty="0">
                <a:solidFill>
                  <a:srgbClr val="C00000"/>
                </a:solidFill>
                <a:latin typeface="Arial" panose="020B0604020202020204" pitchFamily="34" charset="0"/>
              </a:rPr>
              <a:t>environment </a:t>
            </a:r>
            <a:r>
              <a:rPr lang="en-US" sz="2500" b="1" dirty="0">
                <a:solidFill>
                  <a:srgbClr val="C00000"/>
                </a:solidFill>
                <a:latin typeface="Arial" panose="020B0604020202020204" pitchFamily="34" charset="0"/>
                <a:sym typeface="Symbol" pitchFamily="18" charset="2"/>
              </a:rPr>
              <a:t></a:t>
            </a:r>
            <a:r>
              <a:rPr lang="en-US" sz="2500" b="1" dirty="0">
                <a:solidFill>
                  <a:srgbClr val="C00000"/>
                </a:solidFill>
                <a:latin typeface="Arial" panose="020B0604020202020204" pitchFamily="34" charset="0"/>
              </a:rPr>
              <a:t> sensors </a:t>
            </a:r>
            <a:r>
              <a:rPr lang="en-US" sz="2500" b="1" dirty="0">
                <a:solidFill>
                  <a:srgbClr val="C00000"/>
                </a:solidFill>
                <a:latin typeface="Arial" panose="020B0604020202020204" pitchFamily="34" charset="0"/>
                <a:sym typeface="Symbol" pitchFamily="18" charset="2"/>
              </a:rPr>
              <a:t></a:t>
            </a:r>
            <a:r>
              <a:rPr lang="en-US" sz="2500" b="1" dirty="0">
                <a:solidFill>
                  <a:srgbClr val="C00000"/>
                </a:solidFill>
                <a:latin typeface="Arial" panose="020B0604020202020204" pitchFamily="34" charset="0"/>
              </a:rPr>
              <a:t> agent function </a:t>
            </a:r>
            <a:r>
              <a:rPr lang="en-US" sz="2500" b="1" dirty="0">
                <a:solidFill>
                  <a:srgbClr val="C00000"/>
                </a:solidFill>
                <a:latin typeface="Arial" panose="020B0604020202020204" pitchFamily="34" charset="0"/>
                <a:sym typeface="Symbol" pitchFamily="18" charset="2"/>
              </a:rPr>
              <a:t></a:t>
            </a:r>
            <a:r>
              <a:rPr lang="en-US" sz="2500" b="1" dirty="0">
                <a:solidFill>
                  <a:srgbClr val="C00000"/>
                </a:solidFill>
                <a:latin typeface="Arial" panose="020B0604020202020204" pitchFamily="34" charset="0"/>
              </a:rPr>
              <a:t> actuators </a:t>
            </a:r>
            <a:r>
              <a:rPr lang="en-US" sz="2500" b="1" dirty="0">
                <a:solidFill>
                  <a:srgbClr val="C00000"/>
                </a:solidFill>
                <a:latin typeface="Arial" panose="020B0604020202020204" pitchFamily="34" charset="0"/>
                <a:sym typeface="Symbol" pitchFamily="18" charset="2"/>
              </a:rPr>
              <a:t></a:t>
            </a:r>
            <a:r>
              <a:rPr lang="en-US" sz="2500" b="1" dirty="0">
                <a:solidFill>
                  <a:srgbClr val="C00000"/>
                </a:solidFill>
                <a:latin typeface="Arial" panose="020B0604020202020204" pitchFamily="34" charset="0"/>
              </a:rPr>
              <a:t> environment</a:t>
            </a:r>
          </a:p>
          <a:p>
            <a:pPr algn="just">
              <a:lnSpc>
                <a:spcPct val="150000"/>
              </a:lnSpc>
            </a:pPr>
            <a:endParaRPr lang="en-IN" sz="2400" dirty="0"/>
          </a:p>
        </p:txBody>
      </p:sp>
      <p:sp>
        <p:nvSpPr>
          <p:cNvPr id="4" name="Slide Number Placeholder 3">
            <a:extLst>
              <a:ext uri="{FF2B5EF4-FFF2-40B4-BE49-F238E27FC236}">
                <a16:creationId xmlns:a16="http://schemas.microsoft.com/office/drawing/2014/main" id="{770C877D-4442-B05C-BC4A-507FCA9591E8}"/>
              </a:ext>
            </a:extLst>
          </p:cNvPr>
          <p:cNvSpPr>
            <a:spLocks noGrp="1"/>
          </p:cNvSpPr>
          <p:nvPr>
            <p:ph type="sldNum" sz="quarter" idx="12"/>
          </p:nvPr>
        </p:nvSpPr>
        <p:spPr/>
        <p:txBody>
          <a:bodyPr/>
          <a:lstStyle/>
          <a:p>
            <a:fld id="{CBABCCC1-BF11-4F37-963E-1BCD5B23FD72}" type="slidenum">
              <a:rPr lang="en-IN" smtClean="0"/>
              <a:pPr/>
              <a:t>7</a:t>
            </a:fld>
            <a:endParaRPr lang="en-IN"/>
          </a:p>
        </p:txBody>
      </p:sp>
    </p:spTree>
    <p:extLst>
      <p:ext uri="{BB962C8B-B14F-4D97-AF65-F5344CB8AC3E}">
        <p14:creationId xmlns:p14="http://schemas.microsoft.com/office/powerpoint/2010/main" val="3658150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6E7AD94-95FB-2B5B-B5BB-723A3680D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389" y="258248"/>
            <a:ext cx="4415245" cy="5486591"/>
          </a:xfrm>
          <a:prstGeom prst="rect">
            <a:avLst/>
          </a:prstGeom>
          <a:ln w="127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070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552EB-EBE2-6D02-DCA9-00E6841AEF6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B8A8BB2-D746-CA5B-A350-3430334A29CC}"/>
              </a:ext>
            </a:extLst>
          </p:cNvPr>
          <p:cNvGraphicFramePr>
            <a:graphicFrameLocks noGrp="1"/>
          </p:cNvGraphicFramePr>
          <p:nvPr>
            <p:ph idx="1"/>
            <p:extLst>
              <p:ext uri="{D42A27DB-BD31-4B8C-83A1-F6EECF244321}">
                <p14:modId xmlns:p14="http://schemas.microsoft.com/office/powerpoint/2010/main" val="4227065028"/>
              </p:ext>
            </p:extLst>
          </p:nvPr>
        </p:nvGraphicFramePr>
        <p:xfrm>
          <a:off x="1151709" y="1690688"/>
          <a:ext cx="10515600" cy="2926080"/>
        </p:xfrm>
        <a:graphic>
          <a:graphicData uri="http://schemas.openxmlformats.org/drawingml/2006/table">
            <a:tbl>
              <a:tblPr/>
              <a:tblGrid>
                <a:gridCol w="5257800">
                  <a:extLst>
                    <a:ext uri="{9D8B030D-6E8A-4147-A177-3AD203B41FA5}">
                      <a16:colId xmlns:a16="http://schemas.microsoft.com/office/drawing/2014/main" val="2072897488"/>
                    </a:ext>
                  </a:extLst>
                </a:gridCol>
                <a:gridCol w="5257800">
                  <a:extLst>
                    <a:ext uri="{9D8B030D-6E8A-4147-A177-3AD203B41FA5}">
                      <a16:colId xmlns:a16="http://schemas.microsoft.com/office/drawing/2014/main" val="662402595"/>
                    </a:ext>
                  </a:extLst>
                </a:gridCol>
              </a:tblGrid>
              <a:tr h="731520">
                <a:tc>
                  <a:txBody>
                    <a:bodyPr/>
                    <a:lstStyle/>
                    <a:p>
                      <a:pPr>
                        <a:buNone/>
                      </a:pPr>
                      <a:r>
                        <a:rPr lang="en-IN" sz="2800" b="1"/>
                        <a:t>Agent Function</a:t>
                      </a:r>
                      <a:endParaRPr lang="en-IN" sz="2800"/>
                    </a:p>
                  </a:txBody>
                  <a:tcPr anchor="ctr">
                    <a:lnL>
                      <a:noFill/>
                    </a:lnL>
                    <a:lnR>
                      <a:noFill/>
                    </a:lnR>
                    <a:lnT>
                      <a:noFill/>
                    </a:lnT>
                    <a:lnB>
                      <a:noFill/>
                    </a:lnB>
                    <a:noFill/>
                  </a:tcPr>
                </a:tc>
                <a:tc>
                  <a:txBody>
                    <a:bodyPr/>
                    <a:lstStyle/>
                    <a:p>
                      <a:pPr>
                        <a:buNone/>
                      </a:pPr>
                      <a:r>
                        <a:rPr lang="en-IN" sz="2800" b="1"/>
                        <a:t>Agent Program</a:t>
                      </a:r>
                      <a:endParaRPr lang="en-IN" sz="2800"/>
                    </a:p>
                  </a:txBody>
                  <a:tcPr anchor="ctr">
                    <a:lnL>
                      <a:noFill/>
                    </a:lnL>
                    <a:lnR>
                      <a:noFill/>
                    </a:lnR>
                    <a:lnT>
                      <a:noFill/>
                    </a:lnT>
                    <a:lnB>
                      <a:noFill/>
                    </a:lnB>
                    <a:noFill/>
                  </a:tcPr>
                </a:tc>
                <a:extLst>
                  <a:ext uri="{0D108BD9-81ED-4DB2-BD59-A6C34878D82A}">
                    <a16:rowId xmlns:a16="http://schemas.microsoft.com/office/drawing/2014/main" val="1514663390"/>
                  </a:ext>
                </a:extLst>
              </a:tr>
              <a:tr h="731520">
                <a:tc>
                  <a:txBody>
                    <a:bodyPr/>
                    <a:lstStyle/>
                    <a:p>
                      <a:pPr>
                        <a:buNone/>
                      </a:pPr>
                      <a:r>
                        <a:rPr lang="en-IN" sz="2800" dirty="0"/>
                        <a:t>Theoretical</a:t>
                      </a:r>
                    </a:p>
                  </a:txBody>
                  <a:tcPr anchor="ctr">
                    <a:lnL>
                      <a:noFill/>
                    </a:lnL>
                    <a:lnR>
                      <a:noFill/>
                    </a:lnR>
                    <a:lnT>
                      <a:noFill/>
                    </a:lnT>
                    <a:lnB>
                      <a:noFill/>
                    </a:lnB>
                    <a:noFill/>
                  </a:tcPr>
                </a:tc>
                <a:tc>
                  <a:txBody>
                    <a:bodyPr/>
                    <a:lstStyle/>
                    <a:p>
                      <a:pPr>
                        <a:buNone/>
                      </a:pPr>
                      <a:r>
                        <a:rPr lang="en-IN" sz="2800"/>
                        <a:t>Practical</a:t>
                      </a:r>
                    </a:p>
                  </a:txBody>
                  <a:tcPr anchor="ctr">
                    <a:lnL>
                      <a:noFill/>
                    </a:lnL>
                    <a:lnR>
                      <a:noFill/>
                    </a:lnR>
                    <a:lnT>
                      <a:noFill/>
                    </a:lnT>
                    <a:lnB>
                      <a:noFill/>
                    </a:lnB>
                    <a:noFill/>
                  </a:tcPr>
                </a:tc>
                <a:extLst>
                  <a:ext uri="{0D108BD9-81ED-4DB2-BD59-A6C34878D82A}">
                    <a16:rowId xmlns:a16="http://schemas.microsoft.com/office/drawing/2014/main" val="1463880944"/>
                  </a:ext>
                </a:extLst>
              </a:tr>
              <a:tr h="731520">
                <a:tc>
                  <a:txBody>
                    <a:bodyPr/>
                    <a:lstStyle/>
                    <a:p>
                      <a:pPr>
                        <a:buNone/>
                      </a:pPr>
                      <a:r>
                        <a:rPr lang="en-IN" sz="2800"/>
                        <a:t>Mathematical mapping</a:t>
                      </a:r>
                    </a:p>
                  </a:txBody>
                  <a:tcPr anchor="ctr">
                    <a:lnL>
                      <a:noFill/>
                    </a:lnL>
                    <a:lnR>
                      <a:noFill/>
                    </a:lnR>
                    <a:lnT>
                      <a:noFill/>
                    </a:lnT>
                    <a:lnB>
                      <a:noFill/>
                    </a:lnB>
                    <a:noFill/>
                  </a:tcPr>
                </a:tc>
                <a:tc>
                  <a:txBody>
                    <a:bodyPr/>
                    <a:lstStyle/>
                    <a:p>
                      <a:pPr>
                        <a:buNone/>
                      </a:pPr>
                      <a:r>
                        <a:rPr lang="en-IN" sz="2800"/>
                        <a:t>Actual software</a:t>
                      </a:r>
                    </a:p>
                  </a:txBody>
                  <a:tcPr anchor="ctr">
                    <a:lnL>
                      <a:noFill/>
                    </a:lnL>
                    <a:lnR>
                      <a:noFill/>
                    </a:lnR>
                    <a:lnT>
                      <a:noFill/>
                    </a:lnT>
                    <a:lnB>
                      <a:noFill/>
                    </a:lnB>
                    <a:noFill/>
                  </a:tcPr>
                </a:tc>
                <a:extLst>
                  <a:ext uri="{0D108BD9-81ED-4DB2-BD59-A6C34878D82A}">
                    <a16:rowId xmlns:a16="http://schemas.microsoft.com/office/drawing/2014/main" val="800307116"/>
                  </a:ext>
                </a:extLst>
              </a:tr>
              <a:tr h="731520">
                <a:tc>
                  <a:txBody>
                    <a:bodyPr/>
                    <a:lstStyle/>
                    <a:p>
                      <a:pPr>
                        <a:buNone/>
                      </a:pPr>
                      <a:r>
                        <a:rPr lang="en-US" sz="2800" dirty="0"/>
                        <a:t>Based on all percept sequences</a:t>
                      </a:r>
                    </a:p>
                  </a:txBody>
                  <a:tcPr anchor="ctr">
                    <a:lnL>
                      <a:noFill/>
                    </a:lnL>
                    <a:lnR>
                      <a:noFill/>
                    </a:lnR>
                    <a:lnT>
                      <a:noFill/>
                    </a:lnT>
                    <a:lnB>
                      <a:noFill/>
                    </a:lnB>
                    <a:noFill/>
                  </a:tcPr>
                </a:tc>
                <a:tc>
                  <a:txBody>
                    <a:bodyPr/>
                    <a:lstStyle/>
                    <a:p>
                      <a:pPr>
                        <a:buNone/>
                      </a:pPr>
                      <a:r>
                        <a:rPr lang="en-IN" sz="2800" dirty="0"/>
                        <a:t>Based on current percept</a:t>
                      </a:r>
                    </a:p>
                  </a:txBody>
                  <a:tcPr anchor="ctr">
                    <a:lnL>
                      <a:noFill/>
                    </a:lnL>
                    <a:lnR>
                      <a:noFill/>
                    </a:lnR>
                    <a:lnT>
                      <a:noFill/>
                    </a:lnT>
                    <a:lnB>
                      <a:noFill/>
                    </a:lnB>
                    <a:noFill/>
                  </a:tcPr>
                </a:tc>
                <a:extLst>
                  <a:ext uri="{0D108BD9-81ED-4DB2-BD59-A6C34878D82A}">
                    <a16:rowId xmlns:a16="http://schemas.microsoft.com/office/drawing/2014/main" val="669027670"/>
                  </a:ext>
                </a:extLst>
              </a:tr>
            </a:tbl>
          </a:graphicData>
        </a:graphic>
      </p:graphicFrame>
    </p:spTree>
    <p:extLst>
      <p:ext uri="{BB962C8B-B14F-4D97-AF65-F5344CB8AC3E}">
        <p14:creationId xmlns:p14="http://schemas.microsoft.com/office/powerpoint/2010/main" val="4128111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2EC40-058A-67CA-516E-1B61FB098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DCB54-7249-2399-DCFD-8AEE94BAA231}"/>
              </a:ext>
            </a:extLst>
          </p:cNvPr>
          <p:cNvSpPr>
            <a:spLocks noGrp="1"/>
          </p:cNvSpPr>
          <p:nvPr>
            <p:ph type="title"/>
          </p:nvPr>
        </p:nvSpPr>
        <p:spPr/>
        <p:txBody>
          <a:bodyPr/>
          <a:lstStyle/>
          <a:p>
            <a:r>
              <a:rPr lang="en-US" dirty="0"/>
              <a:t> Intelligent Agent</a:t>
            </a:r>
            <a:endParaRPr lang="en-IN" dirty="0"/>
          </a:p>
        </p:txBody>
      </p:sp>
      <p:sp>
        <p:nvSpPr>
          <p:cNvPr id="4" name="Slide Number Placeholder 3">
            <a:extLst>
              <a:ext uri="{FF2B5EF4-FFF2-40B4-BE49-F238E27FC236}">
                <a16:creationId xmlns:a16="http://schemas.microsoft.com/office/drawing/2014/main" id="{00F6E522-05F3-583C-A13E-F035C1AB2D08}"/>
              </a:ext>
            </a:extLst>
          </p:cNvPr>
          <p:cNvSpPr>
            <a:spLocks noGrp="1"/>
          </p:cNvSpPr>
          <p:nvPr>
            <p:ph type="sldNum" sz="quarter" idx="12"/>
          </p:nvPr>
        </p:nvSpPr>
        <p:spPr/>
        <p:txBody>
          <a:bodyPr/>
          <a:lstStyle/>
          <a:p>
            <a:fld id="{CBABCCC1-BF11-4F37-963E-1BCD5B23FD72}" type="slidenum">
              <a:rPr lang="en-IN" smtClean="0"/>
              <a:pPr/>
              <a:t>10</a:t>
            </a:fld>
            <a:endParaRPr lang="en-IN" dirty="0"/>
          </a:p>
        </p:txBody>
      </p:sp>
      <p:sp>
        <p:nvSpPr>
          <p:cNvPr id="6" name="Rectangle 2">
            <a:extLst>
              <a:ext uri="{FF2B5EF4-FFF2-40B4-BE49-F238E27FC236}">
                <a16:creationId xmlns:a16="http://schemas.microsoft.com/office/drawing/2014/main" id="{98BCB3C1-7D26-E5BF-1401-0817E5D0E7A7}"/>
              </a:ext>
            </a:extLst>
          </p:cNvPr>
          <p:cNvSpPr>
            <a:spLocks noGrp="1" noChangeArrowheads="1"/>
          </p:cNvSpPr>
          <p:nvPr>
            <p:ph idx="1"/>
          </p:nvPr>
        </p:nvSpPr>
        <p:spPr bwMode="auto">
          <a:xfrm>
            <a:off x="889363" y="1934250"/>
            <a:ext cx="10413274" cy="1752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500" b="1" dirty="0">
                <a:solidFill>
                  <a:srgbClr val="C00000"/>
                </a:solidFill>
                <a:latin typeface="Arial" panose="020B0604020202020204" pitchFamily="34" charset="0"/>
              </a:rPr>
              <a:t> Intelligent Agents</a:t>
            </a:r>
            <a:r>
              <a:rPr kumimoji="0" lang="en-US" altLang="en-US"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Arial" panose="020B0604020202020204" pitchFamily="34" charset="0"/>
              </a:rPr>
              <a:t>An intelligent agent is one that </a:t>
            </a:r>
            <a:r>
              <a:rPr lang="en-US" altLang="en-US" sz="2500" b="1" dirty="0">
                <a:solidFill>
                  <a:srgbClr val="C00000"/>
                </a:solidFill>
                <a:latin typeface="Arial" panose="020B0604020202020204" pitchFamily="34" charset="0"/>
              </a:rPr>
              <a:t>chooses the best action </a:t>
            </a:r>
            <a:r>
              <a:rPr kumimoji="0" lang="en-US" altLang="en-US" sz="2500" b="0" i="0" u="none" strike="noStrike" cap="none" normalizeH="0" baseline="0" dirty="0">
                <a:ln>
                  <a:noFill/>
                </a:ln>
                <a:solidFill>
                  <a:schemeClr val="tx1"/>
                </a:solidFill>
                <a:effectLst/>
                <a:latin typeface="Arial" panose="020B0604020202020204" pitchFamily="34" charset="0"/>
              </a:rPr>
              <a:t>to </a:t>
            </a:r>
            <a:r>
              <a:rPr lang="en-US" altLang="en-US" sz="2500" b="1" dirty="0">
                <a:solidFill>
                  <a:srgbClr val="C00000"/>
                </a:solidFill>
                <a:latin typeface="Arial" panose="020B0604020202020204" pitchFamily="34" charset="0"/>
              </a:rPr>
              <a:t>achieve goals based</a:t>
            </a:r>
            <a:r>
              <a:rPr kumimoji="0" lang="en-US" altLang="en-US" sz="2500" b="0" i="0" u="none" strike="noStrike" cap="none" normalizeH="0" baseline="0" dirty="0">
                <a:ln>
                  <a:noFill/>
                </a:ln>
                <a:solidFill>
                  <a:schemeClr val="tx1"/>
                </a:solidFill>
                <a:effectLst/>
                <a:latin typeface="Arial" panose="020B0604020202020204" pitchFamily="34" charset="0"/>
              </a:rPr>
              <a:t> on percepts, knowledge, and learning.</a:t>
            </a:r>
          </a:p>
        </p:txBody>
      </p:sp>
    </p:spTree>
    <p:extLst>
      <p:ext uri="{BB962C8B-B14F-4D97-AF65-F5344CB8AC3E}">
        <p14:creationId xmlns:p14="http://schemas.microsoft.com/office/powerpoint/2010/main" val="1680788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42A8E2E9-1C3B-298D-7EF0-DACB945040B5}"/>
              </a:ext>
            </a:extLst>
          </p:cNvPr>
          <p:cNvGraphicFramePr>
            <a:graphicFrameLocks noGrp="1"/>
          </p:cNvGraphicFramePr>
          <p:nvPr>
            <p:ph idx="1"/>
            <p:extLst>
              <p:ext uri="{D42A27DB-BD31-4B8C-83A1-F6EECF244321}">
                <p14:modId xmlns:p14="http://schemas.microsoft.com/office/powerpoint/2010/main" val="130403682"/>
              </p:ext>
            </p:extLst>
          </p:nvPr>
        </p:nvGraphicFramePr>
        <p:xfrm>
          <a:off x="2133600" y="800554"/>
          <a:ext cx="8353698" cy="4989189"/>
        </p:xfrm>
        <a:graphic>
          <a:graphicData uri="http://schemas.openxmlformats.org/drawingml/2006/table">
            <a:tbl>
              <a:tblPr/>
              <a:tblGrid>
                <a:gridCol w="2784566">
                  <a:extLst>
                    <a:ext uri="{9D8B030D-6E8A-4147-A177-3AD203B41FA5}">
                      <a16:colId xmlns:a16="http://schemas.microsoft.com/office/drawing/2014/main" val="3049908416"/>
                    </a:ext>
                  </a:extLst>
                </a:gridCol>
                <a:gridCol w="2784566">
                  <a:extLst>
                    <a:ext uri="{9D8B030D-6E8A-4147-A177-3AD203B41FA5}">
                      <a16:colId xmlns:a16="http://schemas.microsoft.com/office/drawing/2014/main" val="2871705450"/>
                    </a:ext>
                  </a:extLst>
                </a:gridCol>
                <a:gridCol w="2784566">
                  <a:extLst>
                    <a:ext uri="{9D8B030D-6E8A-4147-A177-3AD203B41FA5}">
                      <a16:colId xmlns:a16="http://schemas.microsoft.com/office/drawing/2014/main" val="3922300427"/>
                    </a:ext>
                  </a:extLst>
                </a:gridCol>
              </a:tblGrid>
              <a:tr h="300092">
                <a:tc>
                  <a:txBody>
                    <a:bodyPr/>
                    <a:lstStyle/>
                    <a:p>
                      <a:pPr>
                        <a:buNone/>
                      </a:pPr>
                      <a:r>
                        <a:rPr lang="en-IN" sz="2000" b="1"/>
                        <a:t>Intelligent Agent</a:t>
                      </a:r>
                      <a:endParaRPr lang="en-IN" sz="2000"/>
                    </a:p>
                  </a:txBody>
                  <a:tcPr marL="75023" marR="75023" marT="37512" marB="37512" anchor="ctr">
                    <a:lnL>
                      <a:noFill/>
                    </a:lnL>
                    <a:lnR>
                      <a:noFill/>
                    </a:lnR>
                    <a:lnT>
                      <a:noFill/>
                    </a:lnT>
                    <a:lnB>
                      <a:noFill/>
                    </a:lnB>
                    <a:noFill/>
                  </a:tcPr>
                </a:tc>
                <a:tc>
                  <a:txBody>
                    <a:bodyPr/>
                    <a:lstStyle/>
                    <a:p>
                      <a:pPr>
                        <a:buNone/>
                      </a:pPr>
                      <a:r>
                        <a:rPr lang="en-IN" sz="2000" b="1"/>
                        <a:t>Perceives</a:t>
                      </a:r>
                      <a:endParaRPr lang="en-IN" sz="2000"/>
                    </a:p>
                  </a:txBody>
                  <a:tcPr marL="75023" marR="75023" marT="37512" marB="37512" anchor="ctr">
                    <a:lnL>
                      <a:noFill/>
                    </a:lnL>
                    <a:lnR>
                      <a:noFill/>
                    </a:lnR>
                    <a:lnT>
                      <a:noFill/>
                    </a:lnT>
                    <a:lnB>
                      <a:noFill/>
                    </a:lnB>
                    <a:noFill/>
                  </a:tcPr>
                </a:tc>
                <a:tc>
                  <a:txBody>
                    <a:bodyPr/>
                    <a:lstStyle/>
                    <a:p>
                      <a:pPr>
                        <a:buNone/>
                      </a:pPr>
                      <a:r>
                        <a:rPr lang="en-IN" sz="2000" b="1"/>
                        <a:t>Acts</a:t>
                      </a:r>
                      <a:endParaRPr lang="en-IN" sz="2000"/>
                    </a:p>
                  </a:txBody>
                  <a:tcPr marL="75023" marR="75023" marT="37512" marB="37512" anchor="ctr">
                    <a:lnL>
                      <a:noFill/>
                    </a:lnL>
                    <a:lnR>
                      <a:noFill/>
                    </a:lnR>
                    <a:lnT>
                      <a:noFill/>
                    </a:lnT>
                    <a:lnB>
                      <a:noFill/>
                    </a:lnB>
                    <a:noFill/>
                  </a:tcPr>
                </a:tc>
                <a:extLst>
                  <a:ext uri="{0D108BD9-81ED-4DB2-BD59-A6C34878D82A}">
                    <a16:rowId xmlns:a16="http://schemas.microsoft.com/office/drawing/2014/main" val="2761274724"/>
                  </a:ext>
                </a:extLst>
              </a:tr>
              <a:tr h="750231">
                <a:tc>
                  <a:txBody>
                    <a:bodyPr/>
                    <a:lstStyle/>
                    <a:p>
                      <a:pPr>
                        <a:buNone/>
                      </a:pPr>
                      <a:r>
                        <a:rPr lang="en-US" sz="2000"/>
                        <a:t>🚗 </a:t>
                      </a:r>
                      <a:r>
                        <a:rPr lang="en-US" sz="2000" b="1"/>
                        <a:t>Self-Driving Car (e.g., Tesla)</a:t>
                      </a:r>
                      <a:endParaRPr lang="en-US" sz="2000"/>
                    </a:p>
                  </a:txBody>
                  <a:tcPr marL="75023" marR="75023" marT="37512" marB="37512" anchor="ctr">
                    <a:lnL>
                      <a:noFill/>
                    </a:lnL>
                    <a:lnR>
                      <a:noFill/>
                    </a:lnR>
                    <a:lnT>
                      <a:noFill/>
                    </a:lnT>
                    <a:lnB>
                      <a:noFill/>
                    </a:lnB>
                    <a:noFill/>
                  </a:tcPr>
                </a:tc>
                <a:tc>
                  <a:txBody>
                    <a:bodyPr/>
                    <a:lstStyle/>
                    <a:p>
                      <a:pPr>
                        <a:buNone/>
                      </a:pPr>
                      <a:r>
                        <a:rPr lang="en-IN" sz="2000" dirty="0"/>
                        <a:t>Cameras, radar, GPS, LIDAR</a:t>
                      </a:r>
                    </a:p>
                  </a:txBody>
                  <a:tcPr marL="75023" marR="75023" marT="37512" marB="37512" anchor="ctr">
                    <a:lnL>
                      <a:noFill/>
                    </a:lnL>
                    <a:lnR>
                      <a:noFill/>
                    </a:lnR>
                    <a:lnT>
                      <a:noFill/>
                    </a:lnT>
                    <a:lnB>
                      <a:noFill/>
                    </a:lnB>
                    <a:noFill/>
                  </a:tcPr>
                </a:tc>
                <a:tc>
                  <a:txBody>
                    <a:bodyPr/>
                    <a:lstStyle/>
                    <a:p>
                      <a:pPr>
                        <a:buNone/>
                      </a:pPr>
                      <a:r>
                        <a:rPr lang="en-IN" sz="2000"/>
                        <a:t>Steering, braking, accelerating</a:t>
                      </a:r>
                    </a:p>
                  </a:txBody>
                  <a:tcPr marL="75023" marR="75023" marT="37512" marB="37512" anchor="ctr">
                    <a:lnL>
                      <a:noFill/>
                    </a:lnL>
                    <a:lnR>
                      <a:noFill/>
                    </a:lnR>
                    <a:lnT>
                      <a:noFill/>
                    </a:lnT>
                    <a:lnB>
                      <a:noFill/>
                    </a:lnB>
                    <a:noFill/>
                  </a:tcPr>
                </a:tc>
                <a:extLst>
                  <a:ext uri="{0D108BD9-81ED-4DB2-BD59-A6C34878D82A}">
                    <a16:rowId xmlns:a16="http://schemas.microsoft.com/office/drawing/2014/main" val="1161708874"/>
                  </a:ext>
                </a:extLst>
              </a:tr>
              <a:tr h="750231">
                <a:tc>
                  <a:txBody>
                    <a:bodyPr/>
                    <a:lstStyle/>
                    <a:p>
                      <a:pPr>
                        <a:buNone/>
                      </a:pPr>
                      <a:r>
                        <a:rPr lang="en-IN" sz="2000"/>
                        <a:t>🤖 </a:t>
                      </a:r>
                      <a:r>
                        <a:rPr lang="en-IN" sz="2000" b="1"/>
                        <a:t>Smart Vacuum (e.g., Roomba)</a:t>
                      </a:r>
                      <a:endParaRPr lang="en-IN" sz="2000"/>
                    </a:p>
                  </a:txBody>
                  <a:tcPr marL="75023" marR="75023" marT="37512" marB="37512" anchor="ctr">
                    <a:lnL>
                      <a:noFill/>
                    </a:lnL>
                    <a:lnR>
                      <a:noFill/>
                    </a:lnR>
                    <a:lnT>
                      <a:noFill/>
                    </a:lnT>
                    <a:lnB>
                      <a:noFill/>
                    </a:lnB>
                    <a:noFill/>
                  </a:tcPr>
                </a:tc>
                <a:tc>
                  <a:txBody>
                    <a:bodyPr/>
                    <a:lstStyle/>
                    <a:p>
                      <a:pPr>
                        <a:buNone/>
                      </a:pPr>
                      <a:r>
                        <a:rPr lang="it-IT" sz="2000"/>
                        <a:t>Camera, dirt sensor, wall sensors</a:t>
                      </a:r>
                    </a:p>
                  </a:txBody>
                  <a:tcPr marL="75023" marR="75023" marT="37512" marB="37512" anchor="ctr">
                    <a:lnL>
                      <a:noFill/>
                    </a:lnL>
                    <a:lnR>
                      <a:noFill/>
                    </a:lnR>
                    <a:lnT>
                      <a:noFill/>
                    </a:lnT>
                    <a:lnB>
                      <a:noFill/>
                    </a:lnB>
                    <a:noFill/>
                  </a:tcPr>
                </a:tc>
                <a:tc>
                  <a:txBody>
                    <a:bodyPr/>
                    <a:lstStyle/>
                    <a:p>
                      <a:pPr>
                        <a:buNone/>
                      </a:pPr>
                      <a:r>
                        <a:rPr lang="fr-FR" sz="2000" dirty="0" err="1"/>
                        <a:t>Navigates</a:t>
                      </a:r>
                      <a:r>
                        <a:rPr lang="fr-FR" sz="2000" dirty="0"/>
                        <a:t>, </a:t>
                      </a:r>
                      <a:r>
                        <a:rPr lang="fr-FR" sz="2000" dirty="0" err="1"/>
                        <a:t>sucks</a:t>
                      </a:r>
                      <a:r>
                        <a:rPr lang="fr-FR" sz="2000" dirty="0"/>
                        <a:t> </a:t>
                      </a:r>
                      <a:r>
                        <a:rPr lang="fr-FR" sz="2000" dirty="0" err="1"/>
                        <a:t>dirt</a:t>
                      </a:r>
                      <a:r>
                        <a:rPr lang="fr-FR" sz="2000" dirty="0"/>
                        <a:t>, </a:t>
                      </a:r>
                      <a:r>
                        <a:rPr lang="fr-FR" sz="2000" dirty="0" err="1"/>
                        <a:t>avoids</a:t>
                      </a:r>
                      <a:r>
                        <a:rPr lang="fr-FR" sz="2000" dirty="0"/>
                        <a:t> obstacles</a:t>
                      </a:r>
                    </a:p>
                  </a:txBody>
                  <a:tcPr marL="75023" marR="75023" marT="37512" marB="37512" anchor="ctr">
                    <a:lnL>
                      <a:noFill/>
                    </a:lnL>
                    <a:lnR>
                      <a:noFill/>
                    </a:lnR>
                    <a:lnT>
                      <a:noFill/>
                    </a:lnT>
                    <a:lnB>
                      <a:noFill/>
                    </a:lnB>
                    <a:noFill/>
                  </a:tcPr>
                </a:tc>
                <a:extLst>
                  <a:ext uri="{0D108BD9-81ED-4DB2-BD59-A6C34878D82A}">
                    <a16:rowId xmlns:a16="http://schemas.microsoft.com/office/drawing/2014/main" val="3337816251"/>
                  </a:ext>
                </a:extLst>
              </a:tr>
              <a:tr h="525161">
                <a:tc>
                  <a:txBody>
                    <a:bodyPr/>
                    <a:lstStyle/>
                    <a:p>
                      <a:pPr>
                        <a:buNone/>
                      </a:pPr>
                      <a:r>
                        <a:rPr lang="en-IN" sz="2000"/>
                        <a:t>🎯 </a:t>
                      </a:r>
                      <a:r>
                        <a:rPr lang="en-IN" sz="2000" b="1"/>
                        <a:t>Spam Filter (e.g., Gmail)</a:t>
                      </a:r>
                      <a:endParaRPr lang="en-IN" sz="2000"/>
                    </a:p>
                  </a:txBody>
                  <a:tcPr marL="75023" marR="75023" marT="37512" marB="37512" anchor="ctr">
                    <a:lnL>
                      <a:noFill/>
                    </a:lnL>
                    <a:lnR>
                      <a:noFill/>
                    </a:lnR>
                    <a:lnT>
                      <a:noFill/>
                    </a:lnT>
                    <a:lnB>
                      <a:noFill/>
                    </a:lnB>
                    <a:noFill/>
                  </a:tcPr>
                </a:tc>
                <a:tc>
                  <a:txBody>
                    <a:bodyPr/>
                    <a:lstStyle/>
                    <a:p>
                      <a:pPr>
                        <a:buNone/>
                      </a:pPr>
                      <a:r>
                        <a:rPr lang="en-IN" sz="2000" dirty="0"/>
                        <a:t>Email content, sender history</a:t>
                      </a:r>
                    </a:p>
                  </a:txBody>
                  <a:tcPr marL="75023" marR="75023" marT="37512" marB="37512" anchor="ctr">
                    <a:lnL>
                      <a:noFill/>
                    </a:lnL>
                    <a:lnR>
                      <a:noFill/>
                    </a:lnR>
                    <a:lnT>
                      <a:noFill/>
                    </a:lnT>
                    <a:lnB>
                      <a:noFill/>
                    </a:lnB>
                    <a:noFill/>
                  </a:tcPr>
                </a:tc>
                <a:tc>
                  <a:txBody>
                    <a:bodyPr/>
                    <a:lstStyle/>
                    <a:p>
                      <a:pPr>
                        <a:buNone/>
                      </a:pPr>
                      <a:r>
                        <a:rPr lang="en-US" sz="2000"/>
                        <a:t>Moves email to inbox or spam</a:t>
                      </a:r>
                    </a:p>
                  </a:txBody>
                  <a:tcPr marL="75023" marR="75023" marT="37512" marB="37512" anchor="ctr">
                    <a:lnL>
                      <a:noFill/>
                    </a:lnL>
                    <a:lnR>
                      <a:noFill/>
                    </a:lnR>
                    <a:lnT>
                      <a:noFill/>
                    </a:lnT>
                    <a:lnB>
                      <a:noFill/>
                    </a:lnB>
                    <a:noFill/>
                  </a:tcPr>
                </a:tc>
                <a:extLst>
                  <a:ext uri="{0D108BD9-81ED-4DB2-BD59-A6C34878D82A}">
                    <a16:rowId xmlns:a16="http://schemas.microsoft.com/office/drawing/2014/main" val="1715241568"/>
                  </a:ext>
                </a:extLst>
              </a:tr>
              <a:tr h="750231">
                <a:tc>
                  <a:txBody>
                    <a:bodyPr/>
                    <a:lstStyle/>
                    <a:p>
                      <a:pPr>
                        <a:buNone/>
                      </a:pPr>
                      <a:r>
                        <a:rPr lang="en-IN" sz="2000"/>
                        <a:t>🧠 </a:t>
                      </a:r>
                      <a:r>
                        <a:rPr lang="en-IN" sz="2000" b="1"/>
                        <a:t>Google Assistant / Alexa</a:t>
                      </a:r>
                      <a:endParaRPr lang="en-IN" sz="2000"/>
                    </a:p>
                  </a:txBody>
                  <a:tcPr marL="75023" marR="75023" marT="37512" marB="37512" anchor="ctr">
                    <a:lnL>
                      <a:noFill/>
                    </a:lnL>
                    <a:lnR>
                      <a:noFill/>
                    </a:lnR>
                    <a:lnT>
                      <a:noFill/>
                    </a:lnT>
                    <a:lnB>
                      <a:noFill/>
                    </a:lnB>
                    <a:noFill/>
                  </a:tcPr>
                </a:tc>
                <a:tc>
                  <a:txBody>
                    <a:bodyPr/>
                    <a:lstStyle/>
                    <a:p>
                      <a:pPr>
                        <a:buNone/>
                      </a:pPr>
                      <a:r>
                        <a:rPr lang="en-IN" sz="2000" dirty="0"/>
                        <a:t>Voice input, device context</a:t>
                      </a:r>
                    </a:p>
                  </a:txBody>
                  <a:tcPr marL="75023" marR="75023" marT="37512" marB="37512" anchor="ctr">
                    <a:lnL>
                      <a:noFill/>
                    </a:lnL>
                    <a:lnR>
                      <a:noFill/>
                    </a:lnR>
                    <a:lnT>
                      <a:noFill/>
                    </a:lnT>
                    <a:lnB>
                      <a:noFill/>
                    </a:lnB>
                    <a:noFill/>
                  </a:tcPr>
                </a:tc>
                <a:tc>
                  <a:txBody>
                    <a:bodyPr/>
                    <a:lstStyle/>
                    <a:p>
                      <a:pPr>
                        <a:buNone/>
                      </a:pPr>
                      <a:r>
                        <a:rPr lang="en-US" sz="2000"/>
                        <a:t>Plays music, sets reminders, answers questions</a:t>
                      </a:r>
                    </a:p>
                  </a:txBody>
                  <a:tcPr marL="75023" marR="75023" marT="37512" marB="37512" anchor="ctr">
                    <a:lnL>
                      <a:noFill/>
                    </a:lnL>
                    <a:lnR>
                      <a:noFill/>
                    </a:lnR>
                    <a:lnT>
                      <a:noFill/>
                    </a:lnT>
                    <a:lnB>
                      <a:noFill/>
                    </a:lnB>
                    <a:noFill/>
                  </a:tcPr>
                </a:tc>
                <a:extLst>
                  <a:ext uri="{0D108BD9-81ED-4DB2-BD59-A6C34878D82A}">
                    <a16:rowId xmlns:a16="http://schemas.microsoft.com/office/drawing/2014/main" val="3394326387"/>
                  </a:ext>
                </a:extLst>
              </a:tr>
              <a:tr h="750231">
                <a:tc>
                  <a:txBody>
                    <a:bodyPr/>
                    <a:lstStyle/>
                    <a:p>
                      <a:pPr>
                        <a:buNone/>
                      </a:pPr>
                      <a:r>
                        <a:rPr lang="en-IN" sz="2000"/>
                        <a:t>🍔 </a:t>
                      </a:r>
                      <a:r>
                        <a:rPr lang="en-IN" sz="2000" b="1"/>
                        <a:t>Zomato/Swiggy Recommender</a:t>
                      </a:r>
                      <a:endParaRPr lang="en-IN" sz="2000"/>
                    </a:p>
                  </a:txBody>
                  <a:tcPr marL="75023" marR="75023" marT="37512" marB="37512" anchor="ctr">
                    <a:lnL>
                      <a:noFill/>
                    </a:lnL>
                    <a:lnR>
                      <a:noFill/>
                    </a:lnR>
                    <a:lnT>
                      <a:noFill/>
                    </a:lnT>
                    <a:lnB>
                      <a:noFill/>
                    </a:lnB>
                    <a:noFill/>
                  </a:tcPr>
                </a:tc>
                <a:tc>
                  <a:txBody>
                    <a:bodyPr/>
                    <a:lstStyle/>
                    <a:p>
                      <a:pPr>
                        <a:buNone/>
                      </a:pPr>
                      <a:r>
                        <a:rPr lang="en-US" sz="2000" dirty="0"/>
                        <a:t>User preferences, time of day, location</a:t>
                      </a:r>
                    </a:p>
                  </a:txBody>
                  <a:tcPr marL="75023" marR="75023" marT="37512" marB="37512" anchor="ctr">
                    <a:lnL>
                      <a:noFill/>
                    </a:lnL>
                    <a:lnR>
                      <a:noFill/>
                    </a:lnR>
                    <a:lnT>
                      <a:noFill/>
                    </a:lnT>
                    <a:lnB>
                      <a:noFill/>
                    </a:lnB>
                    <a:noFill/>
                  </a:tcPr>
                </a:tc>
                <a:tc>
                  <a:txBody>
                    <a:bodyPr/>
                    <a:lstStyle/>
                    <a:p>
                      <a:pPr>
                        <a:buNone/>
                      </a:pPr>
                      <a:r>
                        <a:rPr lang="en-IN" sz="2000"/>
                        <a:t>Suggests food/restaurants</a:t>
                      </a:r>
                    </a:p>
                  </a:txBody>
                  <a:tcPr marL="75023" marR="75023" marT="37512" marB="37512" anchor="ctr">
                    <a:lnL>
                      <a:noFill/>
                    </a:lnL>
                    <a:lnR>
                      <a:noFill/>
                    </a:lnR>
                    <a:lnT>
                      <a:noFill/>
                    </a:lnT>
                    <a:lnB>
                      <a:noFill/>
                    </a:lnB>
                    <a:noFill/>
                  </a:tcPr>
                </a:tc>
                <a:extLst>
                  <a:ext uri="{0D108BD9-81ED-4DB2-BD59-A6C34878D82A}">
                    <a16:rowId xmlns:a16="http://schemas.microsoft.com/office/drawing/2014/main" val="2443260142"/>
                  </a:ext>
                </a:extLst>
              </a:tr>
              <a:tr h="525161">
                <a:tc>
                  <a:txBody>
                    <a:bodyPr/>
                    <a:lstStyle/>
                    <a:p>
                      <a:pPr>
                        <a:buNone/>
                      </a:pPr>
                      <a:r>
                        <a:rPr lang="en-IN" sz="2000"/>
                        <a:t>🛍️ </a:t>
                      </a:r>
                      <a:r>
                        <a:rPr lang="en-IN" sz="2000" b="1"/>
                        <a:t>Amazon Product Recommendation Bot</a:t>
                      </a:r>
                      <a:endParaRPr lang="en-IN" sz="2000"/>
                    </a:p>
                  </a:txBody>
                  <a:tcPr marL="75023" marR="75023" marT="37512" marB="37512" anchor="ctr">
                    <a:lnL>
                      <a:noFill/>
                    </a:lnL>
                    <a:lnR>
                      <a:noFill/>
                    </a:lnR>
                    <a:lnT>
                      <a:noFill/>
                    </a:lnT>
                    <a:lnB>
                      <a:noFill/>
                    </a:lnB>
                    <a:noFill/>
                  </a:tcPr>
                </a:tc>
                <a:tc>
                  <a:txBody>
                    <a:bodyPr/>
                    <a:lstStyle/>
                    <a:p>
                      <a:pPr>
                        <a:buNone/>
                      </a:pPr>
                      <a:r>
                        <a:rPr lang="en-IN" sz="2000"/>
                        <a:t>Browsing history, purchases, ratings</a:t>
                      </a:r>
                    </a:p>
                  </a:txBody>
                  <a:tcPr marL="75023" marR="75023" marT="37512" marB="37512" anchor="ctr">
                    <a:lnL>
                      <a:noFill/>
                    </a:lnL>
                    <a:lnR>
                      <a:noFill/>
                    </a:lnR>
                    <a:lnT>
                      <a:noFill/>
                    </a:lnT>
                    <a:lnB>
                      <a:noFill/>
                    </a:lnB>
                    <a:noFill/>
                  </a:tcPr>
                </a:tc>
                <a:tc>
                  <a:txBody>
                    <a:bodyPr/>
                    <a:lstStyle/>
                    <a:p>
                      <a:pPr>
                        <a:buNone/>
                      </a:pPr>
                      <a:r>
                        <a:rPr lang="en-IN" sz="2000" dirty="0"/>
                        <a:t>Recommends relevant products</a:t>
                      </a:r>
                    </a:p>
                  </a:txBody>
                  <a:tcPr marL="75023" marR="75023" marT="37512" marB="37512" anchor="ctr">
                    <a:lnL>
                      <a:noFill/>
                    </a:lnL>
                    <a:lnR>
                      <a:noFill/>
                    </a:lnR>
                    <a:lnT>
                      <a:noFill/>
                    </a:lnT>
                    <a:lnB>
                      <a:noFill/>
                    </a:lnB>
                    <a:noFill/>
                  </a:tcPr>
                </a:tc>
                <a:extLst>
                  <a:ext uri="{0D108BD9-81ED-4DB2-BD59-A6C34878D82A}">
                    <a16:rowId xmlns:a16="http://schemas.microsoft.com/office/drawing/2014/main" val="2080956692"/>
                  </a:ext>
                </a:extLst>
              </a:tr>
            </a:tbl>
          </a:graphicData>
        </a:graphic>
      </p:graphicFrame>
    </p:spTree>
    <p:extLst>
      <p:ext uri="{BB962C8B-B14F-4D97-AF65-F5344CB8AC3E}">
        <p14:creationId xmlns:p14="http://schemas.microsoft.com/office/powerpoint/2010/main" val="328989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D3D61-9F9F-1E67-CF97-0FDD2CA694D0}"/>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44C20BEC-98E4-8D01-376B-C515E4ABCD01}"/>
              </a:ext>
            </a:extLst>
          </p:cNvPr>
          <p:cNvGraphicFramePr>
            <a:graphicFrameLocks noGrp="1"/>
          </p:cNvGraphicFramePr>
          <p:nvPr>
            <p:ph idx="1"/>
          </p:nvPr>
        </p:nvGraphicFramePr>
        <p:xfrm>
          <a:off x="600891" y="365125"/>
          <a:ext cx="11138264" cy="5706768"/>
        </p:xfrm>
        <a:graphic>
          <a:graphicData uri="http://schemas.openxmlformats.org/drawingml/2006/table">
            <a:tbl>
              <a:tblPr/>
              <a:tblGrid>
                <a:gridCol w="2784566">
                  <a:extLst>
                    <a:ext uri="{9D8B030D-6E8A-4147-A177-3AD203B41FA5}">
                      <a16:colId xmlns:a16="http://schemas.microsoft.com/office/drawing/2014/main" val="3049908416"/>
                    </a:ext>
                  </a:extLst>
                </a:gridCol>
                <a:gridCol w="2784566">
                  <a:extLst>
                    <a:ext uri="{9D8B030D-6E8A-4147-A177-3AD203B41FA5}">
                      <a16:colId xmlns:a16="http://schemas.microsoft.com/office/drawing/2014/main" val="2871705450"/>
                    </a:ext>
                  </a:extLst>
                </a:gridCol>
                <a:gridCol w="2784566">
                  <a:extLst>
                    <a:ext uri="{9D8B030D-6E8A-4147-A177-3AD203B41FA5}">
                      <a16:colId xmlns:a16="http://schemas.microsoft.com/office/drawing/2014/main" val="3922300427"/>
                    </a:ext>
                  </a:extLst>
                </a:gridCol>
                <a:gridCol w="2784566">
                  <a:extLst>
                    <a:ext uri="{9D8B030D-6E8A-4147-A177-3AD203B41FA5}">
                      <a16:colId xmlns:a16="http://schemas.microsoft.com/office/drawing/2014/main" val="2766460898"/>
                    </a:ext>
                  </a:extLst>
                </a:gridCol>
              </a:tblGrid>
              <a:tr h="300092">
                <a:tc>
                  <a:txBody>
                    <a:bodyPr/>
                    <a:lstStyle/>
                    <a:p>
                      <a:pPr>
                        <a:buNone/>
                      </a:pPr>
                      <a:r>
                        <a:rPr lang="en-IN" sz="2000" b="1"/>
                        <a:t>Intelligent Agent</a:t>
                      </a:r>
                      <a:endParaRPr lang="en-IN" sz="2000"/>
                    </a:p>
                  </a:txBody>
                  <a:tcPr marL="75023" marR="75023" marT="37512" marB="37512" anchor="ctr">
                    <a:lnL>
                      <a:noFill/>
                    </a:lnL>
                    <a:lnR>
                      <a:noFill/>
                    </a:lnR>
                    <a:lnT>
                      <a:noFill/>
                    </a:lnT>
                    <a:lnB>
                      <a:noFill/>
                    </a:lnB>
                    <a:noFill/>
                  </a:tcPr>
                </a:tc>
                <a:tc>
                  <a:txBody>
                    <a:bodyPr/>
                    <a:lstStyle/>
                    <a:p>
                      <a:pPr>
                        <a:buNone/>
                      </a:pPr>
                      <a:r>
                        <a:rPr lang="en-IN" sz="2000" b="1"/>
                        <a:t>Perceives</a:t>
                      </a:r>
                      <a:endParaRPr lang="en-IN" sz="2000"/>
                    </a:p>
                  </a:txBody>
                  <a:tcPr marL="75023" marR="75023" marT="37512" marB="37512" anchor="ctr">
                    <a:lnL>
                      <a:noFill/>
                    </a:lnL>
                    <a:lnR>
                      <a:noFill/>
                    </a:lnR>
                    <a:lnT>
                      <a:noFill/>
                    </a:lnT>
                    <a:lnB>
                      <a:noFill/>
                    </a:lnB>
                    <a:noFill/>
                  </a:tcPr>
                </a:tc>
                <a:tc>
                  <a:txBody>
                    <a:bodyPr/>
                    <a:lstStyle/>
                    <a:p>
                      <a:pPr>
                        <a:buNone/>
                      </a:pPr>
                      <a:r>
                        <a:rPr lang="en-IN" sz="2000" b="1"/>
                        <a:t>Acts</a:t>
                      </a:r>
                      <a:endParaRPr lang="en-IN" sz="2000"/>
                    </a:p>
                  </a:txBody>
                  <a:tcPr marL="75023" marR="75023" marT="37512" marB="37512" anchor="ctr">
                    <a:lnL>
                      <a:noFill/>
                    </a:lnL>
                    <a:lnR>
                      <a:noFill/>
                    </a:lnR>
                    <a:lnT>
                      <a:noFill/>
                    </a:lnT>
                    <a:lnB>
                      <a:noFill/>
                    </a:lnB>
                    <a:noFill/>
                  </a:tcPr>
                </a:tc>
                <a:tc>
                  <a:txBody>
                    <a:bodyPr/>
                    <a:lstStyle/>
                    <a:p>
                      <a:pPr>
                        <a:buNone/>
                      </a:pPr>
                      <a:r>
                        <a:rPr lang="en-IN" sz="2000" b="1"/>
                        <a:t>Why it's intelligent</a:t>
                      </a:r>
                      <a:endParaRPr lang="en-IN" sz="2000"/>
                    </a:p>
                  </a:txBody>
                  <a:tcPr marL="75023" marR="75023" marT="37512" marB="37512" anchor="ctr">
                    <a:lnL>
                      <a:noFill/>
                    </a:lnL>
                    <a:lnR>
                      <a:noFill/>
                    </a:lnR>
                    <a:lnT>
                      <a:noFill/>
                    </a:lnT>
                    <a:lnB>
                      <a:noFill/>
                    </a:lnB>
                    <a:noFill/>
                  </a:tcPr>
                </a:tc>
                <a:extLst>
                  <a:ext uri="{0D108BD9-81ED-4DB2-BD59-A6C34878D82A}">
                    <a16:rowId xmlns:a16="http://schemas.microsoft.com/office/drawing/2014/main" val="2761274724"/>
                  </a:ext>
                </a:extLst>
              </a:tr>
              <a:tr h="750231">
                <a:tc>
                  <a:txBody>
                    <a:bodyPr/>
                    <a:lstStyle/>
                    <a:p>
                      <a:pPr>
                        <a:buNone/>
                      </a:pPr>
                      <a:r>
                        <a:rPr lang="en-US" sz="2000"/>
                        <a:t>🚗 </a:t>
                      </a:r>
                      <a:r>
                        <a:rPr lang="en-US" sz="2000" b="1"/>
                        <a:t>Self-Driving Car (e.g., Tesla)</a:t>
                      </a:r>
                      <a:endParaRPr lang="en-US" sz="2000"/>
                    </a:p>
                  </a:txBody>
                  <a:tcPr marL="75023" marR="75023" marT="37512" marB="37512" anchor="ctr">
                    <a:lnL>
                      <a:noFill/>
                    </a:lnL>
                    <a:lnR>
                      <a:noFill/>
                    </a:lnR>
                    <a:lnT>
                      <a:noFill/>
                    </a:lnT>
                    <a:lnB>
                      <a:noFill/>
                    </a:lnB>
                    <a:noFill/>
                  </a:tcPr>
                </a:tc>
                <a:tc>
                  <a:txBody>
                    <a:bodyPr/>
                    <a:lstStyle/>
                    <a:p>
                      <a:pPr>
                        <a:buNone/>
                      </a:pPr>
                      <a:r>
                        <a:rPr lang="en-IN" sz="2000"/>
                        <a:t>Cameras, radar, GPS, LIDAR</a:t>
                      </a:r>
                    </a:p>
                  </a:txBody>
                  <a:tcPr marL="75023" marR="75023" marT="37512" marB="37512" anchor="ctr">
                    <a:lnL>
                      <a:noFill/>
                    </a:lnL>
                    <a:lnR>
                      <a:noFill/>
                    </a:lnR>
                    <a:lnT>
                      <a:noFill/>
                    </a:lnT>
                    <a:lnB>
                      <a:noFill/>
                    </a:lnB>
                    <a:noFill/>
                  </a:tcPr>
                </a:tc>
                <a:tc>
                  <a:txBody>
                    <a:bodyPr/>
                    <a:lstStyle/>
                    <a:p>
                      <a:pPr>
                        <a:buNone/>
                      </a:pPr>
                      <a:r>
                        <a:rPr lang="en-IN" sz="2000"/>
                        <a:t>Steering, braking, accelerating</a:t>
                      </a:r>
                    </a:p>
                  </a:txBody>
                  <a:tcPr marL="75023" marR="75023" marT="37512" marB="37512" anchor="ctr">
                    <a:lnL>
                      <a:noFill/>
                    </a:lnL>
                    <a:lnR>
                      <a:noFill/>
                    </a:lnR>
                    <a:lnT>
                      <a:noFill/>
                    </a:lnT>
                    <a:lnB>
                      <a:noFill/>
                    </a:lnB>
                    <a:noFill/>
                  </a:tcPr>
                </a:tc>
                <a:tc>
                  <a:txBody>
                    <a:bodyPr/>
                    <a:lstStyle/>
                    <a:p>
                      <a:pPr>
                        <a:buNone/>
                      </a:pPr>
                      <a:r>
                        <a:rPr lang="en-IN" sz="2000" dirty="0" err="1"/>
                        <a:t>Analyzes</a:t>
                      </a:r>
                      <a:r>
                        <a:rPr lang="en-IN" sz="2000" dirty="0"/>
                        <a:t> traffic, predicts pedestrian movement, optimizes routes.</a:t>
                      </a:r>
                    </a:p>
                  </a:txBody>
                  <a:tcPr marL="75023" marR="75023" marT="37512" marB="37512" anchor="ctr">
                    <a:lnL>
                      <a:noFill/>
                    </a:lnL>
                    <a:lnR>
                      <a:noFill/>
                    </a:lnR>
                    <a:lnT>
                      <a:noFill/>
                    </a:lnT>
                    <a:lnB>
                      <a:noFill/>
                    </a:lnB>
                    <a:noFill/>
                  </a:tcPr>
                </a:tc>
                <a:extLst>
                  <a:ext uri="{0D108BD9-81ED-4DB2-BD59-A6C34878D82A}">
                    <a16:rowId xmlns:a16="http://schemas.microsoft.com/office/drawing/2014/main" val="1161708874"/>
                  </a:ext>
                </a:extLst>
              </a:tr>
              <a:tr h="750231">
                <a:tc>
                  <a:txBody>
                    <a:bodyPr/>
                    <a:lstStyle/>
                    <a:p>
                      <a:pPr>
                        <a:buNone/>
                      </a:pPr>
                      <a:r>
                        <a:rPr lang="en-IN" sz="2000"/>
                        <a:t>🤖 </a:t>
                      </a:r>
                      <a:r>
                        <a:rPr lang="en-IN" sz="2000" b="1"/>
                        <a:t>Smart Vacuum (e.g., Roomba)</a:t>
                      </a:r>
                      <a:endParaRPr lang="en-IN" sz="2000"/>
                    </a:p>
                  </a:txBody>
                  <a:tcPr marL="75023" marR="75023" marT="37512" marB="37512" anchor="ctr">
                    <a:lnL>
                      <a:noFill/>
                    </a:lnL>
                    <a:lnR>
                      <a:noFill/>
                    </a:lnR>
                    <a:lnT>
                      <a:noFill/>
                    </a:lnT>
                    <a:lnB>
                      <a:noFill/>
                    </a:lnB>
                    <a:noFill/>
                  </a:tcPr>
                </a:tc>
                <a:tc>
                  <a:txBody>
                    <a:bodyPr/>
                    <a:lstStyle/>
                    <a:p>
                      <a:pPr>
                        <a:buNone/>
                      </a:pPr>
                      <a:r>
                        <a:rPr lang="it-IT" sz="2000"/>
                        <a:t>Camera, dirt sensor, wall sensors</a:t>
                      </a:r>
                    </a:p>
                  </a:txBody>
                  <a:tcPr marL="75023" marR="75023" marT="37512" marB="37512" anchor="ctr">
                    <a:lnL>
                      <a:noFill/>
                    </a:lnL>
                    <a:lnR>
                      <a:noFill/>
                    </a:lnR>
                    <a:lnT>
                      <a:noFill/>
                    </a:lnT>
                    <a:lnB>
                      <a:noFill/>
                    </a:lnB>
                    <a:noFill/>
                  </a:tcPr>
                </a:tc>
                <a:tc>
                  <a:txBody>
                    <a:bodyPr/>
                    <a:lstStyle/>
                    <a:p>
                      <a:pPr>
                        <a:buNone/>
                      </a:pPr>
                      <a:r>
                        <a:rPr lang="fr-FR" sz="2000" dirty="0" err="1"/>
                        <a:t>Navigates</a:t>
                      </a:r>
                      <a:r>
                        <a:rPr lang="fr-FR" sz="2000" dirty="0"/>
                        <a:t>, </a:t>
                      </a:r>
                      <a:r>
                        <a:rPr lang="fr-FR" sz="2000" dirty="0" err="1"/>
                        <a:t>sucks</a:t>
                      </a:r>
                      <a:r>
                        <a:rPr lang="fr-FR" sz="2000" dirty="0"/>
                        <a:t> </a:t>
                      </a:r>
                      <a:r>
                        <a:rPr lang="fr-FR" sz="2000" dirty="0" err="1"/>
                        <a:t>dirt</a:t>
                      </a:r>
                      <a:r>
                        <a:rPr lang="fr-FR" sz="2000" dirty="0"/>
                        <a:t>, </a:t>
                      </a:r>
                      <a:r>
                        <a:rPr lang="fr-FR" sz="2000" dirty="0" err="1"/>
                        <a:t>avoids</a:t>
                      </a:r>
                      <a:r>
                        <a:rPr lang="fr-FR" sz="2000" dirty="0"/>
                        <a:t> obstacles</a:t>
                      </a:r>
                    </a:p>
                  </a:txBody>
                  <a:tcPr marL="75023" marR="75023" marT="37512" marB="37512" anchor="ctr">
                    <a:lnL>
                      <a:noFill/>
                    </a:lnL>
                    <a:lnR>
                      <a:noFill/>
                    </a:lnR>
                    <a:lnT>
                      <a:noFill/>
                    </a:lnT>
                    <a:lnB>
                      <a:noFill/>
                    </a:lnB>
                    <a:noFill/>
                  </a:tcPr>
                </a:tc>
                <a:tc>
                  <a:txBody>
                    <a:bodyPr/>
                    <a:lstStyle/>
                    <a:p>
                      <a:pPr>
                        <a:buNone/>
                      </a:pPr>
                      <a:r>
                        <a:rPr lang="en-US" sz="2000"/>
                        <a:t>Remembers layout, avoids falls, learns high-dirt areas.</a:t>
                      </a:r>
                    </a:p>
                  </a:txBody>
                  <a:tcPr marL="75023" marR="75023" marT="37512" marB="37512" anchor="ctr">
                    <a:lnL>
                      <a:noFill/>
                    </a:lnL>
                    <a:lnR>
                      <a:noFill/>
                    </a:lnR>
                    <a:lnT>
                      <a:noFill/>
                    </a:lnT>
                    <a:lnB>
                      <a:noFill/>
                    </a:lnB>
                    <a:noFill/>
                  </a:tcPr>
                </a:tc>
                <a:extLst>
                  <a:ext uri="{0D108BD9-81ED-4DB2-BD59-A6C34878D82A}">
                    <a16:rowId xmlns:a16="http://schemas.microsoft.com/office/drawing/2014/main" val="3337816251"/>
                  </a:ext>
                </a:extLst>
              </a:tr>
              <a:tr h="525161">
                <a:tc>
                  <a:txBody>
                    <a:bodyPr/>
                    <a:lstStyle/>
                    <a:p>
                      <a:pPr>
                        <a:buNone/>
                      </a:pPr>
                      <a:r>
                        <a:rPr lang="en-IN" sz="2000"/>
                        <a:t>🎯 </a:t>
                      </a:r>
                      <a:r>
                        <a:rPr lang="en-IN" sz="2000" b="1"/>
                        <a:t>Spam Filter (e.g., Gmail)</a:t>
                      </a:r>
                      <a:endParaRPr lang="en-IN" sz="2000"/>
                    </a:p>
                  </a:txBody>
                  <a:tcPr marL="75023" marR="75023" marT="37512" marB="37512" anchor="ctr">
                    <a:lnL>
                      <a:noFill/>
                    </a:lnL>
                    <a:lnR>
                      <a:noFill/>
                    </a:lnR>
                    <a:lnT>
                      <a:noFill/>
                    </a:lnT>
                    <a:lnB>
                      <a:noFill/>
                    </a:lnB>
                    <a:noFill/>
                  </a:tcPr>
                </a:tc>
                <a:tc>
                  <a:txBody>
                    <a:bodyPr/>
                    <a:lstStyle/>
                    <a:p>
                      <a:pPr>
                        <a:buNone/>
                      </a:pPr>
                      <a:r>
                        <a:rPr lang="en-IN" sz="2000" dirty="0"/>
                        <a:t>Email content, sender history</a:t>
                      </a:r>
                    </a:p>
                  </a:txBody>
                  <a:tcPr marL="75023" marR="75023" marT="37512" marB="37512" anchor="ctr">
                    <a:lnL>
                      <a:noFill/>
                    </a:lnL>
                    <a:lnR>
                      <a:noFill/>
                    </a:lnR>
                    <a:lnT>
                      <a:noFill/>
                    </a:lnT>
                    <a:lnB>
                      <a:noFill/>
                    </a:lnB>
                    <a:noFill/>
                  </a:tcPr>
                </a:tc>
                <a:tc>
                  <a:txBody>
                    <a:bodyPr/>
                    <a:lstStyle/>
                    <a:p>
                      <a:pPr>
                        <a:buNone/>
                      </a:pPr>
                      <a:r>
                        <a:rPr lang="en-US" sz="2000"/>
                        <a:t>Moves email to inbox or spam</a:t>
                      </a:r>
                    </a:p>
                  </a:txBody>
                  <a:tcPr marL="75023" marR="75023" marT="37512" marB="37512" anchor="ctr">
                    <a:lnL>
                      <a:noFill/>
                    </a:lnL>
                    <a:lnR>
                      <a:noFill/>
                    </a:lnR>
                    <a:lnT>
                      <a:noFill/>
                    </a:lnT>
                    <a:lnB>
                      <a:noFill/>
                    </a:lnB>
                    <a:noFill/>
                  </a:tcPr>
                </a:tc>
                <a:tc>
                  <a:txBody>
                    <a:bodyPr/>
                    <a:lstStyle/>
                    <a:p>
                      <a:pPr>
                        <a:buNone/>
                      </a:pPr>
                      <a:r>
                        <a:rPr lang="en-US" sz="2000"/>
                        <a:t>Learns over time, adapts to new spam tactics.</a:t>
                      </a:r>
                    </a:p>
                  </a:txBody>
                  <a:tcPr marL="75023" marR="75023" marT="37512" marB="37512" anchor="ctr">
                    <a:lnL>
                      <a:noFill/>
                    </a:lnL>
                    <a:lnR>
                      <a:noFill/>
                    </a:lnR>
                    <a:lnT>
                      <a:noFill/>
                    </a:lnT>
                    <a:lnB>
                      <a:noFill/>
                    </a:lnB>
                    <a:noFill/>
                  </a:tcPr>
                </a:tc>
                <a:extLst>
                  <a:ext uri="{0D108BD9-81ED-4DB2-BD59-A6C34878D82A}">
                    <a16:rowId xmlns:a16="http://schemas.microsoft.com/office/drawing/2014/main" val="1715241568"/>
                  </a:ext>
                </a:extLst>
              </a:tr>
              <a:tr h="750231">
                <a:tc>
                  <a:txBody>
                    <a:bodyPr/>
                    <a:lstStyle/>
                    <a:p>
                      <a:pPr>
                        <a:buNone/>
                      </a:pPr>
                      <a:r>
                        <a:rPr lang="en-IN" sz="2000"/>
                        <a:t>🧠 </a:t>
                      </a:r>
                      <a:r>
                        <a:rPr lang="en-IN" sz="2000" b="1"/>
                        <a:t>Google Assistant / Alexa</a:t>
                      </a:r>
                      <a:endParaRPr lang="en-IN" sz="2000"/>
                    </a:p>
                  </a:txBody>
                  <a:tcPr marL="75023" marR="75023" marT="37512" marB="37512" anchor="ctr">
                    <a:lnL>
                      <a:noFill/>
                    </a:lnL>
                    <a:lnR>
                      <a:noFill/>
                    </a:lnR>
                    <a:lnT>
                      <a:noFill/>
                    </a:lnT>
                    <a:lnB>
                      <a:noFill/>
                    </a:lnB>
                    <a:noFill/>
                  </a:tcPr>
                </a:tc>
                <a:tc>
                  <a:txBody>
                    <a:bodyPr/>
                    <a:lstStyle/>
                    <a:p>
                      <a:pPr>
                        <a:buNone/>
                      </a:pPr>
                      <a:r>
                        <a:rPr lang="en-IN" sz="2000" dirty="0"/>
                        <a:t>Voice input, device context</a:t>
                      </a:r>
                    </a:p>
                  </a:txBody>
                  <a:tcPr marL="75023" marR="75023" marT="37512" marB="37512" anchor="ctr">
                    <a:lnL>
                      <a:noFill/>
                    </a:lnL>
                    <a:lnR>
                      <a:noFill/>
                    </a:lnR>
                    <a:lnT>
                      <a:noFill/>
                    </a:lnT>
                    <a:lnB>
                      <a:noFill/>
                    </a:lnB>
                    <a:noFill/>
                  </a:tcPr>
                </a:tc>
                <a:tc>
                  <a:txBody>
                    <a:bodyPr/>
                    <a:lstStyle/>
                    <a:p>
                      <a:pPr>
                        <a:buNone/>
                      </a:pPr>
                      <a:r>
                        <a:rPr lang="en-US" sz="2000"/>
                        <a:t>Plays music, sets reminders, answers questions</a:t>
                      </a:r>
                    </a:p>
                  </a:txBody>
                  <a:tcPr marL="75023" marR="75023" marT="37512" marB="37512" anchor="ctr">
                    <a:lnL>
                      <a:noFill/>
                    </a:lnL>
                    <a:lnR>
                      <a:noFill/>
                    </a:lnR>
                    <a:lnT>
                      <a:noFill/>
                    </a:lnT>
                    <a:lnB>
                      <a:noFill/>
                    </a:lnB>
                    <a:noFill/>
                  </a:tcPr>
                </a:tc>
                <a:tc>
                  <a:txBody>
                    <a:bodyPr/>
                    <a:lstStyle/>
                    <a:p>
                      <a:pPr>
                        <a:buNone/>
                      </a:pPr>
                      <a:r>
                        <a:rPr lang="en-US" sz="2000"/>
                        <a:t>Understands natural language, personalizes experience.</a:t>
                      </a:r>
                    </a:p>
                  </a:txBody>
                  <a:tcPr marL="75023" marR="75023" marT="37512" marB="37512" anchor="ctr">
                    <a:lnL>
                      <a:noFill/>
                    </a:lnL>
                    <a:lnR>
                      <a:noFill/>
                    </a:lnR>
                    <a:lnT>
                      <a:noFill/>
                    </a:lnT>
                    <a:lnB>
                      <a:noFill/>
                    </a:lnB>
                    <a:noFill/>
                  </a:tcPr>
                </a:tc>
                <a:extLst>
                  <a:ext uri="{0D108BD9-81ED-4DB2-BD59-A6C34878D82A}">
                    <a16:rowId xmlns:a16="http://schemas.microsoft.com/office/drawing/2014/main" val="3394326387"/>
                  </a:ext>
                </a:extLst>
              </a:tr>
              <a:tr h="750231">
                <a:tc>
                  <a:txBody>
                    <a:bodyPr/>
                    <a:lstStyle/>
                    <a:p>
                      <a:pPr>
                        <a:buNone/>
                      </a:pPr>
                      <a:r>
                        <a:rPr lang="en-IN" sz="2000"/>
                        <a:t>🍔 </a:t>
                      </a:r>
                      <a:r>
                        <a:rPr lang="en-IN" sz="2000" b="1"/>
                        <a:t>Zomato/Swiggy Recommender</a:t>
                      </a:r>
                      <a:endParaRPr lang="en-IN" sz="2000"/>
                    </a:p>
                  </a:txBody>
                  <a:tcPr marL="75023" marR="75023" marT="37512" marB="37512" anchor="ctr">
                    <a:lnL>
                      <a:noFill/>
                    </a:lnL>
                    <a:lnR>
                      <a:noFill/>
                    </a:lnR>
                    <a:lnT>
                      <a:noFill/>
                    </a:lnT>
                    <a:lnB>
                      <a:noFill/>
                    </a:lnB>
                    <a:noFill/>
                  </a:tcPr>
                </a:tc>
                <a:tc>
                  <a:txBody>
                    <a:bodyPr/>
                    <a:lstStyle/>
                    <a:p>
                      <a:pPr>
                        <a:buNone/>
                      </a:pPr>
                      <a:r>
                        <a:rPr lang="en-US" sz="2000" dirty="0"/>
                        <a:t>User preferences, time of day, location</a:t>
                      </a:r>
                    </a:p>
                  </a:txBody>
                  <a:tcPr marL="75023" marR="75023" marT="37512" marB="37512" anchor="ctr">
                    <a:lnL>
                      <a:noFill/>
                    </a:lnL>
                    <a:lnR>
                      <a:noFill/>
                    </a:lnR>
                    <a:lnT>
                      <a:noFill/>
                    </a:lnT>
                    <a:lnB>
                      <a:noFill/>
                    </a:lnB>
                    <a:noFill/>
                  </a:tcPr>
                </a:tc>
                <a:tc>
                  <a:txBody>
                    <a:bodyPr/>
                    <a:lstStyle/>
                    <a:p>
                      <a:pPr>
                        <a:buNone/>
                      </a:pPr>
                      <a:r>
                        <a:rPr lang="en-IN" sz="2000"/>
                        <a:t>Suggests food/restaurants</a:t>
                      </a:r>
                    </a:p>
                  </a:txBody>
                  <a:tcPr marL="75023" marR="75023" marT="37512" marB="37512" anchor="ctr">
                    <a:lnL>
                      <a:noFill/>
                    </a:lnL>
                    <a:lnR>
                      <a:noFill/>
                    </a:lnR>
                    <a:lnT>
                      <a:noFill/>
                    </a:lnT>
                    <a:lnB>
                      <a:noFill/>
                    </a:lnB>
                    <a:noFill/>
                  </a:tcPr>
                </a:tc>
                <a:tc>
                  <a:txBody>
                    <a:bodyPr/>
                    <a:lstStyle/>
                    <a:p>
                      <a:pPr>
                        <a:buNone/>
                      </a:pPr>
                      <a:r>
                        <a:rPr lang="en-US" sz="2000"/>
                        <a:t>Learns from user behavior, adapts to context.</a:t>
                      </a:r>
                    </a:p>
                  </a:txBody>
                  <a:tcPr marL="75023" marR="75023" marT="37512" marB="37512" anchor="ctr">
                    <a:lnL>
                      <a:noFill/>
                    </a:lnL>
                    <a:lnR>
                      <a:noFill/>
                    </a:lnR>
                    <a:lnT>
                      <a:noFill/>
                    </a:lnT>
                    <a:lnB>
                      <a:noFill/>
                    </a:lnB>
                    <a:noFill/>
                  </a:tcPr>
                </a:tc>
                <a:extLst>
                  <a:ext uri="{0D108BD9-81ED-4DB2-BD59-A6C34878D82A}">
                    <a16:rowId xmlns:a16="http://schemas.microsoft.com/office/drawing/2014/main" val="2443260142"/>
                  </a:ext>
                </a:extLst>
              </a:tr>
              <a:tr h="525161">
                <a:tc>
                  <a:txBody>
                    <a:bodyPr/>
                    <a:lstStyle/>
                    <a:p>
                      <a:pPr>
                        <a:buNone/>
                      </a:pPr>
                      <a:r>
                        <a:rPr lang="en-IN" sz="2000"/>
                        <a:t>🛍️ </a:t>
                      </a:r>
                      <a:r>
                        <a:rPr lang="en-IN" sz="2000" b="1"/>
                        <a:t>Amazon Product Recommendation Bot</a:t>
                      </a:r>
                      <a:endParaRPr lang="en-IN" sz="2000"/>
                    </a:p>
                  </a:txBody>
                  <a:tcPr marL="75023" marR="75023" marT="37512" marB="37512" anchor="ctr">
                    <a:lnL>
                      <a:noFill/>
                    </a:lnL>
                    <a:lnR>
                      <a:noFill/>
                    </a:lnR>
                    <a:lnT>
                      <a:noFill/>
                    </a:lnT>
                    <a:lnB>
                      <a:noFill/>
                    </a:lnB>
                    <a:noFill/>
                  </a:tcPr>
                </a:tc>
                <a:tc>
                  <a:txBody>
                    <a:bodyPr/>
                    <a:lstStyle/>
                    <a:p>
                      <a:pPr>
                        <a:buNone/>
                      </a:pPr>
                      <a:r>
                        <a:rPr lang="en-IN" sz="2000"/>
                        <a:t>Browsing history, purchases, ratings</a:t>
                      </a:r>
                    </a:p>
                  </a:txBody>
                  <a:tcPr marL="75023" marR="75023" marT="37512" marB="37512" anchor="ctr">
                    <a:lnL>
                      <a:noFill/>
                    </a:lnL>
                    <a:lnR>
                      <a:noFill/>
                    </a:lnR>
                    <a:lnT>
                      <a:noFill/>
                    </a:lnT>
                    <a:lnB>
                      <a:noFill/>
                    </a:lnB>
                    <a:noFill/>
                  </a:tcPr>
                </a:tc>
                <a:tc>
                  <a:txBody>
                    <a:bodyPr/>
                    <a:lstStyle/>
                    <a:p>
                      <a:pPr>
                        <a:buNone/>
                      </a:pPr>
                      <a:r>
                        <a:rPr lang="en-IN" sz="2000"/>
                        <a:t>Recommends relevant products</a:t>
                      </a:r>
                    </a:p>
                  </a:txBody>
                  <a:tcPr marL="75023" marR="75023" marT="37512" marB="37512" anchor="ctr">
                    <a:lnL>
                      <a:noFill/>
                    </a:lnL>
                    <a:lnR>
                      <a:noFill/>
                    </a:lnR>
                    <a:lnT>
                      <a:noFill/>
                    </a:lnT>
                    <a:lnB>
                      <a:noFill/>
                    </a:lnB>
                    <a:noFill/>
                  </a:tcPr>
                </a:tc>
                <a:tc>
                  <a:txBody>
                    <a:bodyPr/>
                    <a:lstStyle/>
                    <a:p>
                      <a:pPr>
                        <a:buNone/>
                      </a:pPr>
                      <a:r>
                        <a:rPr lang="en-US" sz="2000" dirty="0"/>
                        <a:t>Learns user preferences, updates in real time.</a:t>
                      </a:r>
                    </a:p>
                  </a:txBody>
                  <a:tcPr marL="75023" marR="75023" marT="37512" marB="37512" anchor="ctr">
                    <a:lnL>
                      <a:noFill/>
                    </a:lnL>
                    <a:lnR>
                      <a:noFill/>
                    </a:lnR>
                    <a:lnT>
                      <a:noFill/>
                    </a:lnT>
                    <a:lnB>
                      <a:noFill/>
                    </a:lnB>
                    <a:noFill/>
                  </a:tcPr>
                </a:tc>
                <a:extLst>
                  <a:ext uri="{0D108BD9-81ED-4DB2-BD59-A6C34878D82A}">
                    <a16:rowId xmlns:a16="http://schemas.microsoft.com/office/drawing/2014/main" val="2080956692"/>
                  </a:ext>
                </a:extLst>
              </a:tr>
            </a:tbl>
          </a:graphicData>
        </a:graphic>
      </p:graphicFrame>
    </p:spTree>
    <p:extLst>
      <p:ext uri="{BB962C8B-B14F-4D97-AF65-F5344CB8AC3E}">
        <p14:creationId xmlns:p14="http://schemas.microsoft.com/office/powerpoint/2010/main" val="2260814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5FDF2-430F-55F3-E750-1816E2ED8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76E42-427F-2873-1217-B6E62FCB2900}"/>
              </a:ext>
            </a:extLst>
          </p:cNvPr>
          <p:cNvSpPr>
            <a:spLocks noGrp="1"/>
          </p:cNvSpPr>
          <p:nvPr>
            <p:ph type="title"/>
          </p:nvPr>
        </p:nvSpPr>
        <p:spPr/>
        <p:txBody>
          <a:bodyPr/>
          <a:lstStyle/>
          <a:p>
            <a:r>
              <a:rPr lang="en-US" dirty="0"/>
              <a:t>Intelligent Agent</a:t>
            </a:r>
            <a:endParaRPr lang="en-IN" dirty="0"/>
          </a:p>
        </p:txBody>
      </p:sp>
      <p:sp>
        <p:nvSpPr>
          <p:cNvPr id="3" name="Content Placeholder 2">
            <a:extLst>
              <a:ext uri="{FF2B5EF4-FFF2-40B4-BE49-F238E27FC236}">
                <a16:creationId xmlns:a16="http://schemas.microsoft.com/office/drawing/2014/main" id="{583E0211-ED1E-B223-1864-1F4FC76E7704}"/>
              </a:ext>
            </a:extLst>
          </p:cNvPr>
          <p:cNvSpPr>
            <a:spLocks noGrp="1"/>
          </p:cNvSpPr>
          <p:nvPr>
            <p:ph idx="1"/>
          </p:nvPr>
        </p:nvSpPr>
        <p:spPr>
          <a:xfrm>
            <a:off x="838200" y="1825625"/>
            <a:ext cx="10515600" cy="4216956"/>
          </a:xfrm>
        </p:spPr>
        <p:txBody>
          <a:bodyPr>
            <a:normAutofit/>
          </a:bodyPr>
          <a:lstStyle/>
          <a:p>
            <a:pPr algn="just">
              <a:defRPr/>
            </a:pPr>
            <a:r>
              <a:rPr lang="en-US" sz="2400" i="1" dirty="0">
                <a:solidFill>
                  <a:srgbClr val="FF0000"/>
                </a:solidFill>
              </a:rPr>
              <a:t>Agent</a:t>
            </a:r>
            <a:r>
              <a:rPr lang="en-US" sz="2400" dirty="0"/>
              <a:t>: </a:t>
            </a:r>
            <a:r>
              <a:rPr lang="en-GB" sz="2400" u="sng" dirty="0"/>
              <a:t>element in a system or environment that can trigger action</a:t>
            </a:r>
            <a:r>
              <a:rPr lang="en-US" sz="2400" dirty="0"/>
              <a:t>.</a:t>
            </a:r>
          </a:p>
          <a:p>
            <a:pPr algn="just">
              <a:defRPr/>
            </a:pPr>
            <a:r>
              <a:rPr lang="en-GB" sz="2400" dirty="0"/>
              <a:t>When deciding what to do, an agent makes decisions based on how they perceive their surroundings.</a:t>
            </a:r>
          </a:p>
          <a:p>
            <a:pPr algn="just">
              <a:defRPr/>
            </a:pPr>
            <a:r>
              <a:rPr lang="en-US" sz="2400" dirty="0"/>
              <a:t>The perception capability is usually called a </a:t>
            </a:r>
            <a:r>
              <a:rPr lang="en-US" sz="2400" i="1" dirty="0">
                <a:solidFill>
                  <a:srgbClr val="FF0000"/>
                </a:solidFill>
              </a:rPr>
              <a:t>sensor</a:t>
            </a:r>
            <a:r>
              <a:rPr lang="en-US" sz="2400" dirty="0"/>
              <a:t>.</a:t>
            </a:r>
          </a:p>
          <a:p>
            <a:pPr algn="just">
              <a:defRPr/>
            </a:pPr>
            <a:r>
              <a:rPr lang="en-GB" sz="2400" dirty="0"/>
              <a:t>The most recent perception or the full history (percept sequence) may influence the actions.</a:t>
            </a:r>
            <a:endParaRPr lang="en-US" sz="2400" dirty="0"/>
          </a:p>
          <a:p>
            <a:pPr algn="just"/>
            <a:endParaRPr lang="en-IN" sz="2400" dirty="0"/>
          </a:p>
        </p:txBody>
      </p:sp>
      <p:sp>
        <p:nvSpPr>
          <p:cNvPr id="4" name="Slide Number Placeholder 3">
            <a:extLst>
              <a:ext uri="{FF2B5EF4-FFF2-40B4-BE49-F238E27FC236}">
                <a16:creationId xmlns:a16="http://schemas.microsoft.com/office/drawing/2014/main" id="{8551BD71-A929-67FF-94FA-ECD103736811}"/>
              </a:ext>
            </a:extLst>
          </p:cNvPr>
          <p:cNvSpPr>
            <a:spLocks noGrp="1"/>
          </p:cNvSpPr>
          <p:nvPr>
            <p:ph type="sldNum" sz="quarter" idx="12"/>
          </p:nvPr>
        </p:nvSpPr>
        <p:spPr/>
        <p:txBody>
          <a:bodyPr/>
          <a:lstStyle/>
          <a:p>
            <a:fld id="{CBABCCC1-BF11-4F37-963E-1BCD5B23FD72}" type="slidenum">
              <a:rPr lang="en-IN" smtClean="0"/>
              <a:pPr/>
              <a:t>13</a:t>
            </a:fld>
            <a:endParaRPr lang="en-IN" dirty="0"/>
          </a:p>
        </p:txBody>
      </p:sp>
    </p:spTree>
    <p:extLst>
      <p:ext uri="{BB962C8B-B14F-4D97-AF65-F5344CB8AC3E}">
        <p14:creationId xmlns:p14="http://schemas.microsoft.com/office/powerpoint/2010/main" val="4289419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995" y="-252413"/>
            <a:ext cx="10515600" cy="1325563"/>
          </a:xfrm>
        </p:spPr>
        <p:txBody>
          <a:bodyPr/>
          <a:lstStyle/>
          <a:p>
            <a:r>
              <a:rPr lang="en-US" dirty="0"/>
              <a:t>Rational agent</a:t>
            </a:r>
            <a:endParaRPr lang="en-IN" dirty="0"/>
          </a:p>
        </p:txBody>
      </p:sp>
      <p:sp>
        <p:nvSpPr>
          <p:cNvPr id="3" name="Content Placeholder 2"/>
          <p:cNvSpPr>
            <a:spLocks noGrp="1"/>
          </p:cNvSpPr>
          <p:nvPr>
            <p:ph idx="1"/>
          </p:nvPr>
        </p:nvSpPr>
        <p:spPr>
          <a:xfrm>
            <a:off x="838200" y="1477282"/>
            <a:ext cx="10515600" cy="4351338"/>
          </a:xfrm>
        </p:spPr>
        <p:txBody>
          <a:bodyPr>
            <a:normAutofit/>
          </a:bodyPr>
          <a:lstStyle/>
          <a:p>
            <a:pPr algn="just">
              <a:defRPr/>
            </a:pPr>
            <a:r>
              <a:rPr lang="en-GB" sz="2400" dirty="0"/>
              <a:t>A </a:t>
            </a:r>
            <a:r>
              <a:rPr lang="en-GB" sz="2700" b="1" dirty="0">
                <a:solidFill>
                  <a:srgbClr val="C00000"/>
                </a:solidFill>
                <a:latin typeface="Arial" panose="020B0604020202020204" pitchFamily="34" charset="0"/>
              </a:rPr>
              <a:t>rational agent is</a:t>
            </a:r>
            <a:r>
              <a:rPr lang="en-GB" sz="2400" dirty="0"/>
              <a:t> one </a:t>
            </a:r>
            <a:r>
              <a:rPr lang="en-GB" sz="2400" i="1" dirty="0"/>
              <a:t>who can make the </a:t>
            </a:r>
            <a:r>
              <a:rPr lang="en-GB" sz="2700" b="1" dirty="0">
                <a:solidFill>
                  <a:srgbClr val="C00000"/>
                </a:solidFill>
                <a:latin typeface="Arial" panose="020B0604020202020204" pitchFamily="34" charset="0"/>
              </a:rPr>
              <a:t>best choice in any circumstance</a:t>
            </a:r>
            <a:r>
              <a:rPr lang="en-GB" sz="2400" u="sng" dirty="0"/>
              <a:t>.</a:t>
            </a:r>
          </a:p>
          <a:p>
            <a:r>
              <a:rPr lang="en-US" b="1" dirty="0"/>
              <a:t>Rational Agent</a:t>
            </a:r>
          </a:p>
          <a:p>
            <a:r>
              <a:rPr lang="en-US" dirty="0"/>
              <a:t>Maximizes </a:t>
            </a:r>
            <a:r>
              <a:rPr lang="en-US" b="1" dirty="0"/>
              <a:t>expected performance</a:t>
            </a:r>
            <a:endParaRPr lang="en-US" dirty="0"/>
          </a:p>
          <a:p>
            <a:r>
              <a:rPr lang="en-US" dirty="0"/>
              <a:t>Considers:</a:t>
            </a:r>
          </a:p>
          <a:p>
            <a:pPr lvl="1"/>
            <a:r>
              <a:rPr lang="en-US" dirty="0"/>
              <a:t>Performance measure</a:t>
            </a:r>
          </a:p>
          <a:p>
            <a:pPr lvl="1"/>
            <a:r>
              <a:rPr lang="en-US" dirty="0"/>
              <a:t>Percepts so far</a:t>
            </a:r>
          </a:p>
          <a:p>
            <a:pPr lvl="1"/>
            <a:r>
              <a:rPr lang="en-US" dirty="0"/>
              <a:t>Prior knowledge</a:t>
            </a:r>
          </a:p>
          <a:p>
            <a:pPr lvl="1"/>
            <a:r>
              <a:rPr lang="en-US" dirty="0"/>
              <a:t>Available actions</a:t>
            </a:r>
          </a:p>
          <a:p>
            <a:pPr algn="just"/>
            <a:endParaRPr lang="en-IN"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extLst>
      <p:ext uri="{BB962C8B-B14F-4D97-AF65-F5344CB8AC3E}">
        <p14:creationId xmlns:p14="http://schemas.microsoft.com/office/powerpoint/2010/main" val="30113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577" y="-89363"/>
            <a:ext cx="10515600" cy="1325563"/>
          </a:xfrm>
        </p:spPr>
        <p:txBody>
          <a:bodyPr/>
          <a:lstStyle/>
          <a:p>
            <a:r>
              <a:rPr lang="en-US" dirty="0" err="1"/>
              <a:t>Vaccum</a:t>
            </a:r>
            <a:r>
              <a:rPr lang="en-US" dirty="0"/>
              <a:t> cleaner agent</a:t>
            </a:r>
            <a:endParaRPr lang="en-IN" dirty="0"/>
          </a:p>
        </p:txBody>
      </p:sp>
      <p:sp>
        <p:nvSpPr>
          <p:cNvPr id="3" name="Content Placeholder 2"/>
          <p:cNvSpPr>
            <a:spLocks noGrp="1"/>
          </p:cNvSpPr>
          <p:nvPr>
            <p:ph idx="1"/>
          </p:nvPr>
        </p:nvSpPr>
        <p:spPr>
          <a:xfrm>
            <a:off x="320511" y="1001486"/>
            <a:ext cx="11481848" cy="5042854"/>
          </a:xfrm>
        </p:spPr>
        <p:txBody>
          <a:bodyPr>
            <a:noAutofit/>
          </a:bodyPr>
          <a:lstStyle/>
          <a:p>
            <a:pPr marL="347980" indent="-335280" algn="just">
              <a:lnSpc>
                <a:spcPct val="100000"/>
              </a:lnSpc>
              <a:spcBef>
                <a:spcPts val="254"/>
              </a:spcBef>
              <a:tabLst>
                <a:tab pos="347345" algn="l"/>
                <a:tab pos="347980" algn="l"/>
              </a:tabLst>
            </a:pPr>
            <a:r>
              <a:rPr lang="en-US" sz="2400" dirty="0"/>
              <a:t>Let’s assume the following</a:t>
            </a:r>
          </a:p>
          <a:p>
            <a:pPr marL="805180" lvl="1" indent="-335280" algn="just">
              <a:lnSpc>
                <a:spcPct val="100000"/>
              </a:lnSpc>
              <a:spcBef>
                <a:spcPts val="254"/>
              </a:spcBef>
              <a:tabLst>
                <a:tab pos="347345" algn="l"/>
                <a:tab pos="347980" algn="l"/>
              </a:tabLst>
            </a:pPr>
            <a:r>
              <a:rPr lang="en-US" sz="2000" dirty="0"/>
              <a:t>The performance measure awards one point for each clean square</a:t>
            </a:r>
          </a:p>
          <a:p>
            <a:pPr marL="805180" lvl="1" indent="-335280" algn="just">
              <a:lnSpc>
                <a:spcPct val="100000"/>
              </a:lnSpc>
              <a:spcBef>
                <a:spcPts val="254"/>
              </a:spcBef>
              <a:tabLst>
                <a:tab pos="347345" algn="l"/>
                <a:tab pos="347980" algn="l"/>
              </a:tabLst>
            </a:pPr>
            <a:r>
              <a:rPr lang="en-US" dirty="0"/>
              <a:t>at each time step, over a lifetime of 1000 time steps</a:t>
            </a:r>
          </a:p>
          <a:p>
            <a:pPr marL="805180" lvl="1" indent="-335280" algn="just">
              <a:lnSpc>
                <a:spcPct val="100000"/>
              </a:lnSpc>
              <a:spcBef>
                <a:spcPts val="254"/>
              </a:spcBef>
              <a:tabLst>
                <a:tab pos="347345" algn="l"/>
                <a:tab pos="347980" algn="l"/>
              </a:tabLst>
            </a:pPr>
            <a:r>
              <a:rPr lang="en-US" dirty="0"/>
              <a:t>The geography of the environment is known a priori but the dirt  distribution and the initial location of the agent are not. Clean squares stay clean and the sucking cleans the current square. The  Left and Right actions move the agent left and right except when  this would take the agent outside the environment, in which case  the agent remains where it is</a:t>
            </a:r>
          </a:p>
          <a:p>
            <a:pPr marL="805180" lvl="1" indent="-335280" algn="just">
              <a:lnSpc>
                <a:spcPct val="100000"/>
              </a:lnSpc>
              <a:spcBef>
                <a:spcPts val="254"/>
              </a:spcBef>
              <a:tabLst>
                <a:tab pos="347345" algn="l"/>
                <a:tab pos="347980" algn="l"/>
              </a:tabLst>
            </a:pPr>
            <a:r>
              <a:rPr lang="en-US" dirty="0"/>
              <a:t>The only available actions are Left, Right, Suck and </a:t>
            </a:r>
            <a:r>
              <a:rPr lang="en-US" dirty="0" err="1"/>
              <a:t>NoOp</a:t>
            </a:r>
            <a:endParaRPr lang="en-US" dirty="0"/>
          </a:p>
          <a:p>
            <a:pPr marL="805180" lvl="1" indent="-335280" algn="just">
              <a:lnSpc>
                <a:spcPct val="100000"/>
              </a:lnSpc>
              <a:spcBef>
                <a:spcPts val="254"/>
              </a:spcBef>
              <a:tabLst>
                <a:tab pos="347345" algn="l"/>
                <a:tab pos="347980" algn="l"/>
              </a:tabLst>
            </a:pPr>
            <a:r>
              <a:rPr lang="en-US" dirty="0"/>
              <a:t>The agent correctly perceives its location and whether that location contains dirt</a:t>
            </a:r>
            <a:endParaRPr lang="en-US" sz="1800" dirty="0"/>
          </a:p>
          <a:p>
            <a:pPr marL="347980" marR="814069" indent="-335280" algn="just">
              <a:lnSpc>
                <a:spcPts val="2300"/>
              </a:lnSpc>
              <a:spcBef>
                <a:spcPts val="665"/>
              </a:spcBef>
              <a:tabLst>
                <a:tab pos="347345" algn="l"/>
                <a:tab pos="347980" algn="l"/>
              </a:tabLst>
            </a:pPr>
            <a:r>
              <a:rPr lang="en-US" sz="2400" dirty="0"/>
              <a:t>Under these circumstances the agent is </a:t>
            </a:r>
            <a:r>
              <a:rPr lang="en-US" sz="2400" b="1" dirty="0"/>
              <a:t>rational</a:t>
            </a:r>
            <a:r>
              <a:rPr lang="en-US" sz="2400" dirty="0"/>
              <a:t>: its  expected performance is at least as high as any other  agent’s</a:t>
            </a:r>
          </a:p>
          <a:p>
            <a:pPr algn="just"/>
            <a:endParaRPr lang="en-IN" sz="1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extLst>
      <p:ext uri="{BB962C8B-B14F-4D97-AF65-F5344CB8AC3E}">
        <p14:creationId xmlns:p14="http://schemas.microsoft.com/office/powerpoint/2010/main" val="52694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Vaccum</a:t>
            </a:r>
            <a:r>
              <a:rPr lang="en-US" dirty="0"/>
              <a:t> cleaner agent</a:t>
            </a:r>
            <a:endParaRPr lang="en-IN" dirty="0"/>
          </a:p>
        </p:txBody>
      </p:sp>
      <p:sp>
        <p:nvSpPr>
          <p:cNvPr id="3" name="Content Placeholder 2"/>
          <p:cNvSpPr>
            <a:spLocks noGrp="1"/>
          </p:cNvSpPr>
          <p:nvPr>
            <p:ph idx="1"/>
          </p:nvPr>
        </p:nvSpPr>
        <p:spPr>
          <a:xfrm>
            <a:off x="650359" y="1531694"/>
            <a:ext cx="10360149" cy="4153322"/>
          </a:xfrm>
        </p:spPr>
        <p:txBody>
          <a:bodyPr>
            <a:normAutofit/>
          </a:bodyPr>
          <a:lstStyle/>
          <a:p>
            <a:pPr marL="347980" indent="-335280" algn="just">
              <a:lnSpc>
                <a:spcPct val="100000"/>
              </a:lnSpc>
              <a:spcBef>
                <a:spcPts val="540"/>
              </a:spcBef>
              <a:tabLst>
                <a:tab pos="347345" algn="l"/>
                <a:tab pos="347980" algn="l"/>
              </a:tabLst>
            </a:pPr>
            <a:r>
              <a:rPr lang="en-US" sz="2400" spc="-5" dirty="0">
                <a:cs typeface="Times New Roman"/>
              </a:rPr>
              <a:t>Same </a:t>
            </a:r>
            <a:r>
              <a:rPr lang="en-US" sz="2400" dirty="0">
                <a:cs typeface="Times New Roman"/>
              </a:rPr>
              <a:t>agent would be </a:t>
            </a:r>
            <a:r>
              <a:rPr lang="en-US" sz="2400" b="1" dirty="0">
                <a:cs typeface="Times New Roman"/>
              </a:rPr>
              <a:t>irrational</a:t>
            </a:r>
            <a:r>
              <a:rPr lang="en-US" sz="2400" dirty="0">
                <a:cs typeface="Times New Roman"/>
              </a:rPr>
              <a:t> under </a:t>
            </a:r>
            <a:r>
              <a:rPr lang="en-US" sz="2400" spc="-10" dirty="0">
                <a:cs typeface="Times New Roman"/>
              </a:rPr>
              <a:t>different</a:t>
            </a:r>
            <a:r>
              <a:rPr lang="en-US" sz="2400" spc="-80" dirty="0">
                <a:cs typeface="Times New Roman"/>
              </a:rPr>
              <a:t> </a:t>
            </a:r>
            <a:r>
              <a:rPr lang="en-US" sz="2400" spc="-5" dirty="0">
                <a:cs typeface="Times New Roman"/>
              </a:rPr>
              <a:t>circumstances</a:t>
            </a:r>
            <a:r>
              <a:rPr lang="en-US" sz="2800" spc="-5" dirty="0">
                <a:cs typeface="Times New Roman"/>
              </a:rPr>
              <a:t>:</a:t>
            </a:r>
          </a:p>
          <a:p>
            <a:pPr marL="805180" lvl="1" indent="-335280" algn="just">
              <a:lnSpc>
                <a:spcPct val="100000"/>
              </a:lnSpc>
              <a:spcBef>
                <a:spcPts val="540"/>
              </a:spcBef>
              <a:tabLst>
                <a:tab pos="347345" algn="l"/>
                <a:tab pos="347980" algn="l"/>
              </a:tabLst>
            </a:pPr>
            <a:r>
              <a:rPr lang="en-US" sz="2400" dirty="0">
                <a:cs typeface="Times New Roman"/>
              </a:rPr>
              <a:t>Once all dirt is cleaned up it will oscillate needlessly back and forth.</a:t>
            </a:r>
          </a:p>
          <a:p>
            <a:pPr marL="805180" lvl="1" indent="-335280" algn="just">
              <a:lnSpc>
                <a:spcPct val="100000"/>
              </a:lnSpc>
              <a:spcBef>
                <a:spcPts val="540"/>
              </a:spcBef>
              <a:tabLst>
                <a:tab pos="347345" algn="l"/>
                <a:tab pos="347980" algn="l"/>
              </a:tabLst>
            </a:pPr>
            <a:r>
              <a:rPr lang="en-US" sz="2400" dirty="0">
                <a:cs typeface="Times New Roman"/>
              </a:rPr>
              <a:t>If the </a:t>
            </a:r>
            <a:r>
              <a:rPr lang="en-US" sz="2400" spc="-5" dirty="0">
                <a:cs typeface="Times New Roman"/>
              </a:rPr>
              <a:t>performance measure </a:t>
            </a:r>
            <a:r>
              <a:rPr lang="en-US" sz="2400" dirty="0">
                <a:cs typeface="Times New Roman"/>
              </a:rPr>
              <a:t>includes a penalty of </a:t>
            </a:r>
            <a:r>
              <a:rPr lang="en-US" sz="2400" spc="5" dirty="0">
                <a:cs typeface="Times New Roman"/>
              </a:rPr>
              <a:t>one </a:t>
            </a:r>
            <a:r>
              <a:rPr lang="en-US" sz="2400" dirty="0">
                <a:cs typeface="Times New Roman"/>
              </a:rPr>
              <a:t>point for</a:t>
            </a:r>
            <a:r>
              <a:rPr lang="en-US" sz="2400" spc="-175" dirty="0">
                <a:cs typeface="Times New Roman"/>
              </a:rPr>
              <a:t> </a:t>
            </a:r>
            <a:r>
              <a:rPr lang="en-US" sz="2400" dirty="0">
                <a:cs typeface="Times New Roman"/>
              </a:rPr>
              <a:t>each  </a:t>
            </a:r>
            <a:r>
              <a:rPr lang="en-US" sz="2400" spc="-5" dirty="0">
                <a:cs typeface="Times New Roman"/>
              </a:rPr>
              <a:t>movement </a:t>
            </a:r>
            <a:r>
              <a:rPr lang="en-US" sz="2400" dirty="0">
                <a:cs typeface="Times New Roman"/>
              </a:rPr>
              <a:t>left or right, the agent will fare</a:t>
            </a:r>
            <a:r>
              <a:rPr lang="en-US" sz="2400" spc="-150" dirty="0">
                <a:cs typeface="Times New Roman"/>
              </a:rPr>
              <a:t> </a:t>
            </a:r>
            <a:r>
              <a:rPr lang="en-US" sz="2400" spc="-20" dirty="0">
                <a:cs typeface="Times New Roman"/>
              </a:rPr>
              <a:t>poorly.</a:t>
            </a:r>
            <a:endParaRPr lang="en-US" sz="2400" dirty="0">
              <a:cs typeface="Times New Roman"/>
            </a:endParaRPr>
          </a:p>
          <a:p>
            <a:pPr marL="805180" lvl="1" indent="-335280" algn="just">
              <a:lnSpc>
                <a:spcPct val="100000"/>
              </a:lnSpc>
              <a:spcBef>
                <a:spcPts val="540"/>
              </a:spcBef>
              <a:tabLst>
                <a:tab pos="347345" algn="l"/>
                <a:tab pos="347980" algn="l"/>
              </a:tabLst>
            </a:pPr>
            <a:r>
              <a:rPr lang="en-US" sz="2400" dirty="0">
                <a:cs typeface="Times New Roman"/>
              </a:rPr>
              <a:t>A </a:t>
            </a:r>
            <a:r>
              <a:rPr lang="en-US" sz="2400" spc="-5" dirty="0">
                <a:cs typeface="Times New Roman"/>
              </a:rPr>
              <a:t>better </a:t>
            </a:r>
            <a:r>
              <a:rPr lang="en-US" sz="2400" dirty="0">
                <a:cs typeface="Times New Roman"/>
              </a:rPr>
              <a:t>agent for this case would do nothing once it is sure that </a:t>
            </a:r>
            <a:r>
              <a:rPr lang="en-US" sz="2400" spc="-5" dirty="0">
                <a:cs typeface="Times New Roman"/>
              </a:rPr>
              <a:t>all</a:t>
            </a:r>
            <a:r>
              <a:rPr lang="en-US" sz="2400" spc="-340" dirty="0">
                <a:cs typeface="Times New Roman"/>
              </a:rPr>
              <a:t> </a:t>
            </a:r>
            <a:r>
              <a:rPr lang="en-US" sz="2400" dirty="0">
                <a:cs typeface="Times New Roman"/>
              </a:rPr>
              <a:t>the squares are clean.</a:t>
            </a:r>
          </a:p>
          <a:p>
            <a:pPr marL="748665" algn="just">
              <a:lnSpc>
                <a:spcPts val="2280"/>
              </a:lnSpc>
            </a:pPr>
            <a:r>
              <a:rPr lang="en-US" sz="2400" dirty="0">
                <a:cs typeface="Times New Roman"/>
              </a:rPr>
              <a:t>If the </a:t>
            </a:r>
            <a:r>
              <a:rPr lang="en-US" sz="2400" spc="-5" dirty="0">
                <a:cs typeface="Times New Roman"/>
              </a:rPr>
              <a:t>clean </a:t>
            </a:r>
            <a:r>
              <a:rPr lang="en-US" sz="2400" dirty="0">
                <a:cs typeface="Times New Roman"/>
              </a:rPr>
              <a:t>squares can </a:t>
            </a:r>
            <a:r>
              <a:rPr lang="en-US" sz="2400" spc="-5" dirty="0">
                <a:cs typeface="Times New Roman"/>
              </a:rPr>
              <a:t>become </a:t>
            </a:r>
            <a:r>
              <a:rPr lang="en-US" sz="2400" dirty="0">
                <a:cs typeface="Times New Roman"/>
              </a:rPr>
              <a:t>dirty again, the agent should</a:t>
            </a:r>
            <a:r>
              <a:rPr lang="en-US" sz="2400" spc="-155" dirty="0">
                <a:cs typeface="Times New Roman"/>
              </a:rPr>
              <a:t> </a:t>
            </a:r>
            <a:r>
              <a:rPr lang="en-US" sz="2400" dirty="0">
                <a:cs typeface="Times New Roman"/>
              </a:rPr>
              <a:t>occasionally check and </a:t>
            </a:r>
            <a:r>
              <a:rPr lang="en-US" sz="2400" spc="-5" dirty="0">
                <a:cs typeface="Times New Roman"/>
              </a:rPr>
              <a:t>clean </a:t>
            </a:r>
            <a:r>
              <a:rPr lang="en-US" sz="2400" dirty="0">
                <a:cs typeface="Times New Roman"/>
              </a:rPr>
              <a:t>them if</a:t>
            </a:r>
            <a:r>
              <a:rPr lang="en-US" sz="2400" spc="-65" dirty="0">
                <a:cs typeface="Times New Roman"/>
              </a:rPr>
              <a:t> </a:t>
            </a:r>
            <a:r>
              <a:rPr lang="en-US" sz="2400" dirty="0">
                <a:cs typeface="Times New Roman"/>
              </a:rPr>
              <a:t>needed.</a:t>
            </a:r>
          </a:p>
          <a:p>
            <a:pPr marL="748665" algn="just">
              <a:lnSpc>
                <a:spcPts val="2280"/>
              </a:lnSpc>
            </a:pPr>
            <a:r>
              <a:rPr lang="en-US" sz="2400" dirty="0">
                <a:cs typeface="Times New Roman"/>
              </a:rPr>
              <a:t>If the geography of the environment is </a:t>
            </a:r>
            <a:r>
              <a:rPr lang="en-US" sz="2400" spc="5" dirty="0">
                <a:cs typeface="Times New Roman"/>
              </a:rPr>
              <a:t>unknown </a:t>
            </a:r>
            <a:r>
              <a:rPr lang="en-US" sz="2400" dirty="0">
                <a:cs typeface="Times New Roman"/>
              </a:rPr>
              <a:t>the agent will need</a:t>
            </a:r>
            <a:r>
              <a:rPr lang="en-US" sz="2400" spc="-270" dirty="0">
                <a:cs typeface="Times New Roman"/>
              </a:rPr>
              <a:t> </a:t>
            </a:r>
            <a:r>
              <a:rPr lang="en-US" sz="2400" dirty="0">
                <a:cs typeface="Times New Roman"/>
              </a:rPr>
              <a:t>to explore</a:t>
            </a:r>
            <a:r>
              <a:rPr lang="en-US" sz="2400" spc="-35" dirty="0">
                <a:cs typeface="Times New Roman"/>
              </a:rPr>
              <a:t> </a:t>
            </a:r>
            <a:r>
              <a:rPr lang="en-US" sz="2400" dirty="0">
                <a:cs typeface="Times New Roman"/>
              </a:rPr>
              <a:t>it</a:t>
            </a:r>
            <a:r>
              <a:rPr lang="en-US" sz="2400" spc="-25" dirty="0">
                <a:cs typeface="Times New Roman"/>
              </a:rPr>
              <a:t> </a:t>
            </a:r>
            <a:r>
              <a:rPr lang="en-US" sz="2400" dirty="0">
                <a:cs typeface="Times New Roman"/>
              </a:rPr>
              <a:t>rather</a:t>
            </a:r>
            <a:r>
              <a:rPr lang="en-US" sz="2400" spc="-35" dirty="0">
                <a:cs typeface="Times New Roman"/>
              </a:rPr>
              <a:t> </a:t>
            </a:r>
            <a:r>
              <a:rPr lang="en-US" sz="2400" dirty="0">
                <a:cs typeface="Times New Roman"/>
              </a:rPr>
              <a:t>than</a:t>
            </a:r>
            <a:r>
              <a:rPr lang="en-US" sz="2400" spc="-20" dirty="0">
                <a:cs typeface="Times New Roman"/>
              </a:rPr>
              <a:t> </a:t>
            </a:r>
            <a:r>
              <a:rPr lang="en-US" sz="2400" spc="-5" dirty="0">
                <a:cs typeface="Times New Roman"/>
              </a:rPr>
              <a:t>stick</a:t>
            </a:r>
            <a:r>
              <a:rPr lang="en-US" sz="2400" spc="-15" dirty="0">
                <a:cs typeface="Times New Roman"/>
              </a:rPr>
              <a:t> </a:t>
            </a:r>
            <a:r>
              <a:rPr lang="en-US" sz="2400" dirty="0">
                <a:cs typeface="Times New Roman"/>
              </a:rPr>
              <a:t>to</a:t>
            </a:r>
            <a:r>
              <a:rPr lang="en-US" sz="2400" spc="-10" dirty="0">
                <a:cs typeface="Times New Roman"/>
              </a:rPr>
              <a:t> </a:t>
            </a:r>
            <a:r>
              <a:rPr lang="en-US" sz="2400" dirty="0">
                <a:cs typeface="Times New Roman"/>
              </a:rPr>
              <a:t>squares</a:t>
            </a:r>
            <a:r>
              <a:rPr lang="en-US" sz="2400" spc="-145" dirty="0">
                <a:cs typeface="Times New Roman"/>
              </a:rPr>
              <a:t> </a:t>
            </a:r>
            <a:r>
              <a:rPr lang="en-US" sz="2400" dirty="0">
                <a:cs typeface="Times New Roman"/>
              </a:rPr>
              <a:t>A</a:t>
            </a:r>
            <a:r>
              <a:rPr lang="en-US" sz="2400" spc="-114" dirty="0">
                <a:cs typeface="Times New Roman"/>
              </a:rPr>
              <a:t> </a:t>
            </a:r>
            <a:r>
              <a:rPr lang="en-US" sz="2400" dirty="0">
                <a:cs typeface="Times New Roman"/>
              </a:rPr>
              <a:t>and</a:t>
            </a:r>
            <a:r>
              <a:rPr lang="en-US" sz="2400" spc="-20" dirty="0">
                <a:cs typeface="Times New Roman"/>
              </a:rPr>
              <a:t> </a:t>
            </a:r>
            <a:r>
              <a:rPr lang="en-US" sz="2400" dirty="0">
                <a:cs typeface="Times New Roman"/>
              </a:rPr>
              <a:t>B</a:t>
            </a:r>
          </a:p>
          <a:p>
            <a:pPr algn="just"/>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Tree>
    <p:extLst>
      <p:ext uri="{BB962C8B-B14F-4D97-AF65-F5344CB8AC3E}">
        <p14:creationId xmlns:p14="http://schemas.microsoft.com/office/powerpoint/2010/main" val="4058239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 types</a:t>
            </a:r>
            <a:endParaRPr lang="en-IN" dirty="0"/>
          </a:p>
        </p:txBody>
      </p:sp>
      <p:sp>
        <p:nvSpPr>
          <p:cNvPr id="3" name="Content Placeholder 2"/>
          <p:cNvSpPr>
            <a:spLocks noGrp="1"/>
          </p:cNvSpPr>
          <p:nvPr>
            <p:ph idx="1"/>
          </p:nvPr>
        </p:nvSpPr>
        <p:spPr>
          <a:xfrm>
            <a:off x="838200" y="1454837"/>
            <a:ext cx="10515600" cy="4150969"/>
          </a:xfrm>
        </p:spPr>
        <p:txBody>
          <a:bodyPr>
            <a:noAutofit/>
          </a:bodyPr>
          <a:lstStyle/>
          <a:p>
            <a:pPr marL="347980" indent="-335280">
              <a:lnSpc>
                <a:spcPct val="100000"/>
              </a:lnSpc>
              <a:spcBef>
                <a:spcPts val="5"/>
              </a:spcBef>
              <a:tabLst>
                <a:tab pos="347345" algn="l"/>
                <a:tab pos="347980" algn="l"/>
              </a:tabLst>
            </a:pPr>
            <a:r>
              <a:rPr lang="en-US" sz="2400" dirty="0">
                <a:latin typeface="+mj-lt"/>
              </a:rPr>
              <a:t>Four basic types in order of increasing generality:</a:t>
            </a:r>
          </a:p>
          <a:p>
            <a:pPr marL="347980" marR="214629" indent="-335280">
              <a:lnSpc>
                <a:spcPts val="3020"/>
              </a:lnSpc>
              <a:spcBef>
                <a:spcPts val="480"/>
              </a:spcBef>
              <a:tabLst>
                <a:tab pos="347345" algn="l"/>
                <a:tab pos="347980" algn="l"/>
              </a:tabLst>
            </a:pPr>
            <a:r>
              <a:rPr lang="en-US" sz="2400" dirty="0">
                <a:latin typeface="+mj-lt"/>
              </a:rPr>
              <a:t>Rather than a table how we can produce rational  behavior from a small amount of code</a:t>
            </a:r>
          </a:p>
          <a:p>
            <a:pPr marL="347980" marR="214629" indent="-335280">
              <a:lnSpc>
                <a:spcPts val="3020"/>
              </a:lnSpc>
              <a:spcBef>
                <a:spcPts val="480"/>
              </a:spcBef>
              <a:tabLst>
                <a:tab pos="347345" algn="l"/>
                <a:tab pos="347980" algn="l"/>
              </a:tabLst>
            </a:pPr>
            <a:endParaRPr lang="en-US" sz="2400" dirty="0">
              <a:latin typeface="+mj-lt"/>
            </a:endParaRPr>
          </a:p>
          <a:p>
            <a:pPr marL="805180" marR="214629" lvl="1" indent="-335280">
              <a:lnSpc>
                <a:spcPts val="3020"/>
              </a:lnSpc>
              <a:spcBef>
                <a:spcPts val="480"/>
              </a:spcBef>
              <a:tabLst>
                <a:tab pos="347345" algn="l"/>
                <a:tab pos="347980" algn="l"/>
              </a:tabLst>
            </a:pPr>
            <a:r>
              <a:rPr lang="en-US" sz="2700" b="1" dirty="0">
                <a:solidFill>
                  <a:srgbClr val="C00000"/>
                </a:solidFill>
                <a:latin typeface="Arial" panose="020B0604020202020204" pitchFamily="34" charset="0"/>
              </a:rPr>
              <a:t>Simple reflex agents</a:t>
            </a:r>
          </a:p>
          <a:p>
            <a:pPr marL="805180" marR="214629" lvl="1" indent="-335280">
              <a:lnSpc>
                <a:spcPts val="3020"/>
              </a:lnSpc>
              <a:spcBef>
                <a:spcPts val="480"/>
              </a:spcBef>
              <a:tabLst>
                <a:tab pos="347345" algn="l"/>
                <a:tab pos="347980" algn="l"/>
              </a:tabLst>
            </a:pPr>
            <a:r>
              <a:rPr lang="en-US" sz="2700" b="1" dirty="0">
                <a:solidFill>
                  <a:srgbClr val="C00000"/>
                </a:solidFill>
                <a:latin typeface="Arial" panose="020B0604020202020204" pitchFamily="34" charset="0"/>
              </a:rPr>
              <a:t>Model-based reflex agents</a:t>
            </a:r>
          </a:p>
          <a:p>
            <a:pPr marL="805180" marR="214629" lvl="1" indent="-335280">
              <a:lnSpc>
                <a:spcPts val="3020"/>
              </a:lnSpc>
              <a:spcBef>
                <a:spcPts val="480"/>
              </a:spcBef>
              <a:tabLst>
                <a:tab pos="347345" algn="l"/>
                <a:tab pos="347980" algn="l"/>
              </a:tabLst>
            </a:pPr>
            <a:r>
              <a:rPr lang="en-US" sz="2700" b="1" dirty="0">
                <a:solidFill>
                  <a:srgbClr val="C00000"/>
                </a:solidFill>
                <a:latin typeface="Arial" panose="020B0604020202020204" pitchFamily="34" charset="0"/>
              </a:rPr>
              <a:t>Goal-based agents</a:t>
            </a:r>
          </a:p>
          <a:p>
            <a:pPr marL="805180" marR="214629" lvl="1" indent="-335280">
              <a:lnSpc>
                <a:spcPts val="3020"/>
              </a:lnSpc>
              <a:spcBef>
                <a:spcPts val="480"/>
              </a:spcBef>
              <a:tabLst>
                <a:tab pos="347345" algn="l"/>
                <a:tab pos="347980" algn="l"/>
              </a:tabLst>
            </a:pPr>
            <a:r>
              <a:rPr lang="en-US" sz="2700" b="1" dirty="0">
                <a:solidFill>
                  <a:srgbClr val="C00000"/>
                </a:solidFill>
                <a:latin typeface="Arial" panose="020B0604020202020204" pitchFamily="34" charset="0"/>
              </a:rPr>
              <a:t>Utility-based agents</a:t>
            </a:r>
          </a:p>
          <a:p>
            <a:endParaRPr lang="en-IN" sz="2400" dirty="0">
              <a:latin typeface="+mj-lt"/>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extLst>
      <p:ext uri="{BB962C8B-B14F-4D97-AF65-F5344CB8AC3E}">
        <p14:creationId xmlns:p14="http://schemas.microsoft.com/office/powerpoint/2010/main" val="373753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93"/>
            <a:ext cx="10515600" cy="1325563"/>
          </a:xfrm>
        </p:spPr>
        <p:txBody>
          <a:bodyPr/>
          <a:lstStyle/>
          <a:p>
            <a:r>
              <a:rPr lang="en-US" dirty="0"/>
              <a:t>Example:  </a:t>
            </a:r>
            <a:r>
              <a:rPr lang="en-US" dirty="0" err="1"/>
              <a:t>vaccum</a:t>
            </a:r>
            <a:r>
              <a:rPr lang="en-US" dirty="0"/>
              <a:t>-agent</a:t>
            </a:r>
            <a:endParaRPr lang="en-IN" dirty="0"/>
          </a:p>
        </p:txBody>
      </p:sp>
      <p:sp>
        <p:nvSpPr>
          <p:cNvPr id="3" name="Content Placeholder 2"/>
          <p:cNvSpPr>
            <a:spLocks noGrp="1"/>
          </p:cNvSpPr>
          <p:nvPr>
            <p:ph idx="1"/>
          </p:nvPr>
        </p:nvSpPr>
        <p:spPr>
          <a:xfrm>
            <a:off x="1137146" y="1352456"/>
            <a:ext cx="10389126" cy="4315325"/>
          </a:xfrm>
        </p:spPr>
        <p:txBody>
          <a:bodyPr>
            <a:noAutofit/>
          </a:bodyPr>
          <a:lstStyle/>
          <a:p>
            <a:pPr marL="347980" indent="-335915">
              <a:lnSpc>
                <a:spcPts val="2990"/>
              </a:lnSpc>
              <a:spcBef>
                <a:spcPts val="95"/>
              </a:spcBef>
              <a:buFont typeface="Times New Roman"/>
              <a:buChar char="•"/>
              <a:tabLst>
                <a:tab pos="347980" algn="l"/>
                <a:tab pos="348615" algn="l"/>
              </a:tabLst>
            </a:pPr>
            <a:r>
              <a:rPr lang="en-US" sz="2400" b="1" spc="-15" dirty="0">
                <a:latin typeface="Gill Sans MT (Body)"/>
                <a:cs typeface="Times New Roman"/>
              </a:rPr>
              <a:t>Percepts:</a:t>
            </a:r>
            <a:endParaRPr lang="en-US" sz="2400" dirty="0">
              <a:latin typeface="Gill Sans MT (Body)"/>
              <a:cs typeface="Times New Roman"/>
            </a:endParaRPr>
          </a:p>
          <a:p>
            <a:pPr marL="805180" lvl="1" indent="-335915">
              <a:lnSpc>
                <a:spcPts val="2990"/>
              </a:lnSpc>
              <a:spcBef>
                <a:spcPts val="95"/>
              </a:spcBef>
              <a:buFont typeface="Times New Roman"/>
              <a:buChar char="•"/>
              <a:tabLst>
                <a:tab pos="347980" algn="l"/>
                <a:tab pos="348615" algn="l"/>
              </a:tabLst>
            </a:pPr>
            <a:r>
              <a:rPr lang="en-US" sz="2000" spc="-5" dirty="0">
                <a:latin typeface="Gill Sans MT (Body)"/>
                <a:cs typeface="Times New Roman"/>
              </a:rPr>
              <a:t>Location and</a:t>
            </a:r>
            <a:r>
              <a:rPr lang="en-US" sz="2000" spc="-50" dirty="0">
                <a:latin typeface="Gill Sans MT (Body)"/>
                <a:cs typeface="Times New Roman"/>
              </a:rPr>
              <a:t> </a:t>
            </a:r>
            <a:r>
              <a:rPr lang="en-US" sz="2000" spc="-5" dirty="0">
                <a:latin typeface="Gill Sans MT (Body)"/>
                <a:cs typeface="Times New Roman"/>
              </a:rPr>
              <a:t>status,  e.g., </a:t>
            </a:r>
            <a:r>
              <a:rPr lang="en-US" sz="2000" spc="-5" dirty="0">
                <a:solidFill>
                  <a:srgbClr val="3333CC"/>
                </a:solidFill>
                <a:latin typeface="Gill Sans MT (Body)"/>
                <a:cs typeface="Times New Roman"/>
              </a:rPr>
              <a:t>[</a:t>
            </a:r>
            <a:r>
              <a:rPr lang="en-US" sz="2000" spc="-5" dirty="0" err="1">
                <a:solidFill>
                  <a:srgbClr val="3333CC"/>
                </a:solidFill>
                <a:latin typeface="Gill Sans MT (Body)"/>
                <a:cs typeface="Times New Roman"/>
              </a:rPr>
              <a:t>A,Dirty</a:t>
            </a:r>
            <a:r>
              <a:rPr lang="en-US" sz="2000" spc="-5" dirty="0">
                <a:solidFill>
                  <a:srgbClr val="3333CC"/>
                </a:solidFill>
                <a:latin typeface="Gill Sans MT (Body)"/>
                <a:cs typeface="Times New Roman"/>
              </a:rPr>
              <a:t>]</a:t>
            </a:r>
            <a:endParaRPr lang="en-US" sz="2000" dirty="0">
              <a:latin typeface="Gill Sans MT (Body)"/>
              <a:cs typeface="Times New Roman"/>
            </a:endParaRPr>
          </a:p>
          <a:p>
            <a:pPr marL="347980" indent="-335915">
              <a:lnSpc>
                <a:spcPts val="2950"/>
              </a:lnSpc>
              <a:buFont typeface="Times New Roman"/>
              <a:buChar char="•"/>
              <a:tabLst>
                <a:tab pos="347980" algn="l"/>
                <a:tab pos="348615" algn="l"/>
              </a:tabLst>
            </a:pPr>
            <a:r>
              <a:rPr lang="en-US" sz="2400" b="1" spc="-5" dirty="0">
                <a:latin typeface="Gill Sans MT (Body)"/>
                <a:cs typeface="Times New Roman"/>
              </a:rPr>
              <a:t>Actions:</a:t>
            </a:r>
            <a:endParaRPr lang="en-US" sz="2400" dirty="0">
              <a:latin typeface="Gill Sans MT (Body)"/>
              <a:cs typeface="Times New Roman"/>
            </a:endParaRPr>
          </a:p>
          <a:p>
            <a:pPr marL="805180" lvl="1" indent="-335915">
              <a:lnSpc>
                <a:spcPts val="2950"/>
              </a:lnSpc>
              <a:buFont typeface="Times New Roman"/>
              <a:buChar char="•"/>
              <a:tabLst>
                <a:tab pos="347980" algn="l"/>
                <a:tab pos="348615" algn="l"/>
              </a:tabLst>
            </a:pPr>
            <a:r>
              <a:rPr lang="en-US" sz="2000" spc="-5" dirty="0">
                <a:solidFill>
                  <a:srgbClr val="FF0000"/>
                </a:solidFill>
                <a:latin typeface="Gill Sans MT (Body)"/>
                <a:cs typeface="Times New Roman"/>
              </a:rPr>
              <a:t>Left, Right, Suck,</a:t>
            </a:r>
            <a:r>
              <a:rPr lang="en-US" sz="2000" spc="5" dirty="0">
                <a:solidFill>
                  <a:srgbClr val="FF0000"/>
                </a:solidFill>
                <a:latin typeface="Gill Sans MT (Body)"/>
                <a:cs typeface="Times New Roman"/>
              </a:rPr>
              <a:t> </a:t>
            </a:r>
            <a:r>
              <a:rPr lang="en-US" sz="2000" spc="-10" dirty="0" err="1">
                <a:solidFill>
                  <a:srgbClr val="FF0000"/>
                </a:solidFill>
                <a:latin typeface="Gill Sans MT (Body)"/>
                <a:cs typeface="Times New Roman"/>
              </a:rPr>
              <a:t>NoOp</a:t>
            </a:r>
            <a:endParaRPr lang="en-US" sz="2000" dirty="0">
              <a:latin typeface="Gill Sans MT (Body)"/>
              <a:cs typeface="Times New Roman"/>
            </a:endParaRPr>
          </a:p>
          <a:p>
            <a:pPr>
              <a:lnSpc>
                <a:spcPct val="100000"/>
              </a:lnSpc>
              <a:spcBef>
                <a:spcPts val="50"/>
              </a:spcBef>
            </a:pPr>
            <a:endParaRPr lang="en-US" sz="2400" dirty="0">
              <a:latin typeface="Gill Sans MT (Body)"/>
              <a:cs typeface="Times New Roman"/>
            </a:endParaRPr>
          </a:p>
          <a:p>
            <a:pPr marL="12700">
              <a:lnSpc>
                <a:spcPts val="3340"/>
              </a:lnSpc>
            </a:pPr>
            <a:r>
              <a:rPr lang="en-US" sz="2400" b="1" dirty="0">
                <a:latin typeface="Gill Sans MT (Body)"/>
                <a:cs typeface="Times New Roman"/>
              </a:rPr>
              <a:t>function </a:t>
            </a:r>
            <a:r>
              <a:rPr lang="en-US" sz="2400" b="1" spc="-15" dirty="0">
                <a:latin typeface="Gill Sans MT (Body)"/>
                <a:cs typeface="Times New Roman"/>
              </a:rPr>
              <a:t>Vacuum-Agent</a:t>
            </a:r>
            <a:r>
              <a:rPr lang="en-US" sz="2400" spc="-15" dirty="0">
                <a:latin typeface="Gill Sans MT (Body)"/>
                <a:cs typeface="Times New Roman"/>
              </a:rPr>
              <a:t>(</a:t>
            </a:r>
            <a:r>
              <a:rPr lang="en-US" sz="2400" spc="-15" dirty="0">
                <a:solidFill>
                  <a:srgbClr val="3333CC"/>
                </a:solidFill>
                <a:latin typeface="Gill Sans MT (Body)"/>
                <a:cs typeface="Times New Roman"/>
              </a:rPr>
              <a:t>[</a:t>
            </a:r>
            <a:r>
              <a:rPr lang="en-US" sz="2400" spc="-15" dirty="0" err="1">
                <a:solidFill>
                  <a:srgbClr val="3333CC"/>
                </a:solidFill>
                <a:latin typeface="Gill Sans MT (Body)"/>
                <a:cs typeface="Times New Roman"/>
              </a:rPr>
              <a:t>location,status</a:t>
            </a:r>
            <a:r>
              <a:rPr lang="en-US" sz="2400" spc="-15" dirty="0">
                <a:solidFill>
                  <a:srgbClr val="3333CC"/>
                </a:solidFill>
                <a:latin typeface="Gill Sans MT (Body)"/>
                <a:cs typeface="Times New Roman"/>
              </a:rPr>
              <a:t>]</a:t>
            </a:r>
            <a:r>
              <a:rPr lang="en-US" sz="2400" spc="-15" dirty="0">
                <a:latin typeface="Gill Sans MT (Body)"/>
                <a:cs typeface="Times New Roman"/>
              </a:rPr>
              <a:t>) </a:t>
            </a:r>
            <a:r>
              <a:rPr lang="en-US" sz="2400" spc="-5" dirty="0">
                <a:latin typeface="Gill Sans MT (Body)"/>
                <a:cs typeface="Times New Roman"/>
              </a:rPr>
              <a:t>returns an</a:t>
            </a:r>
            <a:r>
              <a:rPr lang="en-US" sz="2400" spc="120" dirty="0">
                <a:latin typeface="Gill Sans MT (Body)"/>
                <a:cs typeface="Times New Roman"/>
              </a:rPr>
              <a:t> </a:t>
            </a:r>
            <a:r>
              <a:rPr lang="en-US" sz="2400" spc="-5" dirty="0">
                <a:solidFill>
                  <a:srgbClr val="FF0000"/>
                </a:solidFill>
                <a:latin typeface="Gill Sans MT (Body)"/>
                <a:cs typeface="Times New Roman"/>
              </a:rPr>
              <a:t>action</a:t>
            </a:r>
            <a:endParaRPr lang="en-US" sz="2400" dirty="0">
              <a:latin typeface="Gill Sans MT (Body)"/>
              <a:cs typeface="Times New Roman"/>
            </a:endParaRPr>
          </a:p>
          <a:p>
            <a:pPr marL="469900" lvl="1">
              <a:lnSpc>
                <a:spcPts val="3340"/>
              </a:lnSpc>
            </a:pPr>
            <a:r>
              <a:rPr lang="en-US" sz="2000" i="1" spc="-5" dirty="0">
                <a:latin typeface="Gill Sans MT (Body)"/>
                <a:cs typeface="Times New Roman"/>
              </a:rPr>
              <a:t>if </a:t>
            </a:r>
            <a:r>
              <a:rPr lang="en-US" sz="2000" spc="-5" dirty="0">
                <a:solidFill>
                  <a:srgbClr val="3333CC"/>
                </a:solidFill>
                <a:latin typeface="Gill Sans MT (Body)"/>
                <a:cs typeface="Times New Roman"/>
              </a:rPr>
              <a:t>status = Dirty </a:t>
            </a:r>
            <a:r>
              <a:rPr lang="en-US" sz="2000" i="1" spc="-5" dirty="0">
                <a:latin typeface="Gill Sans MT (Body)"/>
                <a:cs typeface="Times New Roman"/>
              </a:rPr>
              <a:t>then </a:t>
            </a:r>
            <a:r>
              <a:rPr lang="en-US" sz="2000" dirty="0">
                <a:latin typeface="Gill Sans MT (Body)"/>
                <a:cs typeface="Times New Roman"/>
              </a:rPr>
              <a:t>return</a:t>
            </a:r>
            <a:r>
              <a:rPr lang="en-US" sz="2000" spc="-10" dirty="0">
                <a:latin typeface="Gill Sans MT (Body)"/>
                <a:cs typeface="Times New Roman"/>
              </a:rPr>
              <a:t> </a:t>
            </a:r>
            <a:r>
              <a:rPr lang="en-US" sz="2000" spc="-5" dirty="0">
                <a:solidFill>
                  <a:srgbClr val="FF0000"/>
                </a:solidFill>
                <a:latin typeface="Gill Sans MT (Body)"/>
                <a:cs typeface="Times New Roman"/>
              </a:rPr>
              <a:t>Suck</a:t>
            </a:r>
            <a:endParaRPr lang="en-US" sz="2000" dirty="0">
              <a:latin typeface="Gill Sans MT (Body)"/>
              <a:cs typeface="Times New Roman"/>
            </a:endParaRPr>
          </a:p>
          <a:p>
            <a:pPr marL="469900" lvl="1">
              <a:lnSpc>
                <a:spcPts val="3340"/>
              </a:lnSpc>
            </a:pPr>
            <a:r>
              <a:rPr lang="en-US" sz="2000" i="1" spc="-5" dirty="0">
                <a:latin typeface="Gill Sans MT (Body)"/>
                <a:cs typeface="Times New Roman"/>
              </a:rPr>
              <a:t>else if </a:t>
            </a:r>
            <a:r>
              <a:rPr lang="en-US" sz="2000" spc="-5" dirty="0">
                <a:solidFill>
                  <a:srgbClr val="3333CC"/>
                </a:solidFill>
                <a:latin typeface="Gill Sans MT (Body)"/>
                <a:cs typeface="Times New Roman"/>
              </a:rPr>
              <a:t>location = A </a:t>
            </a:r>
            <a:r>
              <a:rPr lang="en-US" sz="2000" i="1" spc="-5" dirty="0">
                <a:latin typeface="Gill Sans MT (Body)"/>
                <a:cs typeface="Times New Roman"/>
              </a:rPr>
              <a:t>then </a:t>
            </a:r>
            <a:r>
              <a:rPr lang="en-US" sz="2000" dirty="0">
                <a:latin typeface="Gill Sans MT (Body)"/>
                <a:cs typeface="Times New Roman"/>
              </a:rPr>
              <a:t>return</a:t>
            </a:r>
            <a:r>
              <a:rPr lang="en-US" sz="2000" spc="-320" dirty="0">
                <a:latin typeface="Gill Sans MT (Body)"/>
                <a:cs typeface="Times New Roman"/>
              </a:rPr>
              <a:t> </a:t>
            </a:r>
            <a:r>
              <a:rPr lang="en-US" sz="2000" spc="-5" dirty="0">
                <a:solidFill>
                  <a:srgbClr val="FF0000"/>
                </a:solidFill>
                <a:latin typeface="Gill Sans MT (Body)"/>
                <a:cs typeface="Times New Roman"/>
              </a:rPr>
              <a:t>Right</a:t>
            </a:r>
            <a:endParaRPr lang="en-US" sz="2000" dirty="0">
              <a:latin typeface="Gill Sans MT (Body)"/>
              <a:cs typeface="Times New Roman"/>
            </a:endParaRPr>
          </a:p>
          <a:p>
            <a:pPr marL="469900" lvl="1">
              <a:lnSpc>
                <a:spcPts val="3340"/>
              </a:lnSpc>
            </a:pPr>
            <a:r>
              <a:rPr lang="en-US" sz="2000" i="1" spc="-5" dirty="0">
                <a:latin typeface="Gill Sans MT (Body)"/>
                <a:cs typeface="Times New Roman"/>
              </a:rPr>
              <a:t>else if </a:t>
            </a:r>
            <a:r>
              <a:rPr lang="en-US" sz="2000" spc="-5" dirty="0">
                <a:solidFill>
                  <a:srgbClr val="3333CC"/>
                </a:solidFill>
                <a:latin typeface="Gill Sans MT (Body)"/>
                <a:cs typeface="Times New Roman"/>
              </a:rPr>
              <a:t>location = B </a:t>
            </a:r>
            <a:r>
              <a:rPr lang="en-US" sz="2000" i="1" spc="-5" dirty="0">
                <a:latin typeface="Gill Sans MT (Body)"/>
                <a:cs typeface="Times New Roman"/>
              </a:rPr>
              <a:t>then </a:t>
            </a:r>
            <a:r>
              <a:rPr lang="en-US" sz="2000" dirty="0">
                <a:latin typeface="Gill Sans MT (Body)"/>
                <a:cs typeface="Times New Roman"/>
              </a:rPr>
              <a:t>return</a:t>
            </a:r>
            <a:r>
              <a:rPr lang="en-US" sz="2000" spc="-25" dirty="0">
                <a:latin typeface="Gill Sans MT (Body)"/>
                <a:cs typeface="Times New Roman"/>
              </a:rPr>
              <a:t> </a:t>
            </a:r>
            <a:r>
              <a:rPr lang="en-US" sz="2000" spc="-5" dirty="0">
                <a:solidFill>
                  <a:srgbClr val="FF0000"/>
                </a:solidFill>
                <a:latin typeface="Gill Sans MT (Body)"/>
                <a:cs typeface="Times New Roman"/>
              </a:rPr>
              <a:t>Left</a:t>
            </a:r>
            <a:endParaRPr lang="en-US" sz="2000" dirty="0">
              <a:latin typeface="Gill Sans MT (Body)"/>
              <a:cs typeface="Times New Roman"/>
            </a:endParaRPr>
          </a:p>
          <a:p>
            <a:endParaRPr lang="en-IN" sz="2400" dirty="0">
              <a:latin typeface="Gill Sans MT (Body)"/>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
        <p:nvSpPr>
          <p:cNvPr id="5" name="object 5"/>
          <p:cNvSpPr/>
          <p:nvPr/>
        </p:nvSpPr>
        <p:spPr>
          <a:xfrm>
            <a:off x="5911555" y="1573945"/>
            <a:ext cx="5143299" cy="1936173"/>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819330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5343" y="95795"/>
            <a:ext cx="4813663" cy="661851"/>
          </a:xfrm>
        </p:spPr>
        <p:txBody>
          <a:bodyPr/>
          <a:lstStyle/>
          <a:p>
            <a:r>
              <a:rPr lang="en-IN" dirty="0"/>
              <a:t>Simple reflex</a:t>
            </a:r>
            <a:r>
              <a:rPr lang="en-IN" spc="-95" dirty="0"/>
              <a:t> </a:t>
            </a:r>
            <a:r>
              <a:rPr lang="en-IN" dirty="0"/>
              <a:t>agents</a:t>
            </a:r>
          </a:p>
        </p:txBody>
      </p:sp>
      <p:sp>
        <p:nvSpPr>
          <p:cNvPr id="3" name="Content Placeholder 2"/>
          <p:cNvSpPr>
            <a:spLocks noGrp="1"/>
          </p:cNvSpPr>
          <p:nvPr>
            <p:ph idx="1"/>
          </p:nvPr>
        </p:nvSpPr>
        <p:spPr>
          <a:xfrm>
            <a:off x="1149921" y="1001486"/>
            <a:ext cx="9603275" cy="4683836"/>
          </a:xfrm>
        </p:spPr>
        <p:txBody>
          <a:bodyPr>
            <a:normAutofit/>
          </a:bodyPr>
          <a:lstStyle/>
          <a:p>
            <a:pPr marL="347980" marR="5080" indent="-335280">
              <a:lnSpc>
                <a:spcPts val="2890"/>
              </a:lnSpc>
              <a:spcBef>
                <a:spcPts val="580"/>
              </a:spcBef>
              <a:tabLst>
                <a:tab pos="347345" algn="l"/>
                <a:tab pos="347980" algn="l"/>
              </a:tabLst>
            </a:pPr>
            <a:r>
              <a:rPr lang="en-US" sz="2600" dirty="0">
                <a:cs typeface="Times New Roman"/>
              </a:rPr>
              <a:t>Select actions on the basis of the current percept ignoring  the rest of the percept history</a:t>
            </a:r>
          </a:p>
          <a:p>
            <a:pPr marL="347980" indent="-335280">
              <a:lnSpc>
                <a:spcPct val="100000"/>
              </a:lnSpc>
              <a:tabLst>
                <a:tab pos="347345" algn="l"/>
                <a:tab pos="347980" algn="l"/>
              </a:tabLst>
            </a:pPr>
            <a:r>
              <a:rPr lang="en-US" sz="2600" dirty="0">
                <a:cs typeface="Times New Roman"/>
              </a:rPr>
              <a:t>Example: simple reflex vacuum cleaner agent</a:t>
            </a:r>
          </a:p>
          <a:p>
            <a:pPr marL="347980" indent="-335280">
              <a:lnSpc>
                <a:spcPct val="100000"/>
              </a:lnSpc>
              <a:tabLst>
                <a:tab pos="347345" algn="l"/>
                <a:tab pos="347980" algn="l"/>
              </a:tabLst>
            </a:pPr>
            <a:endParaRPr lang="en-US" sz="2600" dirty="0">
              <a:cs typeface="Times New Roman"/>
            </a:endParaRPr>
          </a:p>
          <a:p>
            <a:pPr marL="347980" indent="-335280">
              <a:lnSpc>
                <a:spcPct val="100000"/>
              </a:lnSpc>
              <a:tabLst>
                <a:tab pos="347345" algn="l"/>
                <a:tab pos="347980" algn="l"/>
              </a:tabLst>
            </a:pPr>
            <a:endParaRPr lang="en-US" sz="2600" dirty="0">
              <a:cs typeface="Times New Roman"/>
            </a:endParaRPr>
          </a:p>
          <a:p>
            <a:pPr marL="347980" indent="-335280">
              <a:lnSpc>
                <a:spcPct val="100000"/>
              </a:lnSpc>
              <a:tabLst>
                <a:tab pos="347345" algn="l"/>
                <a:tab pos="347980" algn="l"/>
              </a:tabLst>
            </a:pPr>
            <a:endParaRPr lang="en-US" sz="2600" dirty="0">
              <a:cs typeface="Times New Roman"/>
            </a:endParaRPr>
          </a:p>
          <a:p>
            <a:pPr marL="347980" indent="-335280">
              <a:lnSpc>
                <a:spcPct val="100000"/>
              </a:lnSpc>
              <a:tabLst>
                <a:tab pos="347345" algn="l"/>
                <a:tab pos="347980" algn="l"/>
              </a:tabLst>
            </a:pPr>
            <a:endParaRPr lang="en-US" sz="2600" dirty="0">
              <a:cs typeface="Times New Roman"/>
            </a:endParaRPr>
          </a:p>
          <a:p>
            <a:pPr marL="347980" indent="-335280">
              <a:lnSpc>
                <a:spcPct val="100000"/>
              </a:lnSpc>
              <a:spcBef>
                <a:spcPts val="325"/>
              </a:spcBef>
              <a:buClr>
                <a:srgbClr val="000000"/>
              </a:buClr>
              <a:buFont typeface="Times New Roman"/>
              <a:buChar char="•"/>
              <a:tabLst>
                <a:tab pos="347345" algn="l"/>
                <a:tab pos="347980" algn="l"/>
              </a:tabLst>
            </a:pPr>
            <a:r>
              <a:rPr lang="en-US" sz="2600" b="1" dirty="0">
                <a:solidFill>
                  <a:srgbClr val="FF0000"/>
                </a:solidFill>
                <a:cs typeface="Times New Roman"/>
              </a:rPr>
              <a:t>Condition-action-rule</a:t>
            </a:r>
            <a:endParaRPr lang="en-US" sz="2600" dirty="0">
              <a:cs typeface="Times New Roman"/>
            </a:endParaRPr>
          </a:p>
          <a:p>
            <a:pPr marL="347980" indent="-335280">
              <a:lnSpc>
                <a:spcPct val="100000"/>
              </a:lnSpc>
              <a:spcBef>
                <a:spcPts val="229"/>
              </a:spcBef>
              <a:tabLst>
                <a:tab pos="347345" algn="l"/>
                <a:tab pos="347980" algn="l"/>
              </a:tabLst>
            </a:pPr>
            <a:r>
              <a:rPr lang="en-US" sz="2600" spc="-5" dirty="0">
                <a:cs typeface="Times New Roman"/>
              </a:rPr>
              <a:t>Example: </a:t>
            </a:r>
            <a:r>
              <a:rPr lang="en-US" sz="2600" b="1" spc="-5" dirty="0">
                <a:cs typeface="Times New Roman"/>
              </a:rPr>
              <a:t>if </a:t>
            </a:r>
            <a:r>
              <a:rPr lang="en-US" sz="2600" i="1" spc="-15" dirty="0">
                <a:cs typeface="Times New Roman"/>
              </a:rPr>
              <a:t>car-in-front-is-breaking </a:t>
            </a:r>
            <a:r>
              <a:rPr lang="en-US" sz="2600" b="1" spc="-5" dirty="0">
                <a:cs typeface="Times New Roman"/>
              </a:rPr>
              <a:t>then</a:t>
            </a:r>
            <a:r>
              <a:rPr lang="en-US" sz="2600" b="1" spc="65" dirty="0">
                <a:cs typeface="Times New Roman"/>
              </a:rPr>
              <a:t> </a:t>
            </a:r>
            <a:r>
              <a:rPr lang="en-US" sz="2600" i="1" spc="-10" dirty="0">
                <a:cs typeface="Times New Roman"/>
              </a:rPr>
              <a:t>initiate-breaking</a:t>
            </a:r>
            <a:endParaRPr lang="en-US" sz="2400" dirty="0">
              <a:cs typeface="Times New Roman"/>
            </a:endParaRPr>
          </a:p>
          <a:p>
            <a:pPr marL="347980" indent="-335280">
              <a:lnSpc>
                <a:spcPct val="100000"/>
              </a:lnSpc>
              <a:tabLst>
                <a:tab pos="347345" algn="l"/>
                <a:tab pos="347980" algn="l"/>
              </a:tabLst>
            </a:pPr>
            <a:endParaRPr lang="en-IN" sz="2400" dirty="0">
              <a:latin typeface="+mj-lt"/>
              <a:cs typeface="Times New Roman"/>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
        <p:nvSpPr>
          <p:cNvPr id="5" name="object 4"/>
          <p:cNvSpPr txBox="1"/>
          <p:nvPr/>
        </p:nvSpPr>
        <p:spPr>
          <a:xfrm>
            <a:off x="3228390" y="2813447"/>
            <a:ext cx="5579389" cy="1231106"/>
          </a:xfrm>
          <a:prstGeom prst="rect">
            <a:avLst/>
          </a:prstGeom>
          <a:ln w="9905">
            <a:solidFill>
              <a:srgbClr val="000000"/>
            </a:solidFill>
          </a:ln>
        </p:spPr>
        <p:txBody>
          <a:bodyPr vert="horz" wrap="square" lIns="0" tIns="0" rIns="0" bIns="0" rtlCol="0">
            <a:spAutoFit/>
          </a:bodyPr>
          <a:lstStyle/>
          <a:p>
            <a:pPr marL="24765">
              <a:lnSpc>
                <a:spcPts val="1950"/>
              </a:lnSpc>
            </a:pPr>
            <a:r>
              <a:rPr sz="1800" b="1" spc="-5" dirty="0">
                <a:latin typeface="Times New Roman"/>
                <a:cs typeface="Times New Roman"/>
              </a:rPr>
              <a:t>function </a:t>
            </a:r>
            <a:r>
              <a:rPr sz="1800" spc="-10" dirty="0">
                <a:latin typeface="Times New Roman"/>
                <a:cs typeface="Times New Roman"/>
              </a:rPr>
              <a:t>REFLEX-VACUUM-AGENT([</a:t>
            </a:r>
            <a:r>
              <a:rPr sz="1800" i="1" spc="-10" dirty="0">
                <a:latin typeface="Times New Roman"/>
                <a:cs typeface="Times New Roman"/>
              </a:rPr>
              <a:t>location,status</a:t>
            </a:r>
            <a:r>
              <a:rPr sz="1800" spc="-10" dirty="0">
                <a:latin typeface="Times New Roman"/>
                <a:cs typeface="Times New Roman"/>
              </a:rPr>
              <a:t>]) </a:t>
            </a:r>
            <a:r>
              <a:rPr sz="1800" b="1" spc="-10" dirty="0">
                <a:latin typeface="Times New Roman"/>
                <a:cs typeface="Times New Roman"/>
              </a:rPr>
              <a:t>returns </a:t>
            </a:r>
            <a:r>
              <a:rPr sz="1800" dirty="0">
                <a:latin typeface="Times New Roman"/>
                <a:cs typeface="Times New Roman"/>
              </a:rPr>
              <a:t>an</a:t>
            </a:r>
            <a:r>
              <a:rPr sz="1800" spc="35" dirty="0">
                <a:latin typeface="Times New Roman"/>
                <a:cs typeface="Times New Roman"/>
              </a:rPr>
              <a:t> </a:t>
            </a:r>
            <a:r>
              <a:rPr sz="1800" dirty="0">
                <a:latin typeface="Times New Roman"/>
                <a:cs typeface="Times New Roman"/>
              </a:rPr>
              <a:t>action</a:t>
            </a:r>
          </a:p>
          <a:p>
            <a:pPr marL="24765">
              <a:lnSpc>
                <a:spcPts val="1775"/>
              </a:lnSpc>
            </a:pPr>
            <a:r>
              <a:rPr sz="1800" b="1" dirty="0">
                <a:latin typeface="Times New Roman"/>
                <a:cs typeface="Times New Roman"/>
              </a:rPr>
              <a:t>if </a:t>
            </a:r>
            <a:r>
              <a:rPr sz="1800" i="1" spc="-5" dirty="0">
                <a:latin typeface="Times New Roman"/>
                <a:cs typeface="Times New Roman"/>
              </a:rPr>
              <a:t>status </a:t>
            </a:r>
            <a:r>
              <a:rPr sz="1800" i="1" dirty="0">
                <a:latin typeface="Times New Roman"/>
                <a:cs typeface="Times New Roman"/>
              </a:rPr>
              <a:t>= </a:t>
            </a:r>
            <a:r>
              <a:rPr sz="1800" i="1" spc="-5" dirty="0">
                <a:latin typeface="Times New Roman"/>
                <a:cs typeface="Times New Roman"/>
              </a:rPr>
              <a:t>Dirty </a:t>
            </a:r>
            <a:r>
              <a:rPr sz="1800" dirty="0">
                <a:latin typeface="Times New Roman"/>
                <a:cs typeface="Times New Roman"/>
              </a:rPr>
              <a:t>then return</a:t>
            </a:r>
            <a:r>
              <a:rPr sz="1800" spc="-15" dirty="0">
                <a:latin typeface="Times New Roman"/>
                <a:cs typeface="Times New Roman"/>
              </a:rPr>
              <a:t> </a:t>
            </a:r>
            <a:r>
              <a:rPr sz="1800" spc="-5" dirty="0">
                <a:latin typeface="Times New Roman"/>
                <a:cs typeface="Times New Roman"/>
              </a:rPr>
              <a:t>Suck</a:t>
            </a:r>
            <a:endParaRPr sz="1800" dirty="0">
              <a:latin typeface="Times New Roman"/>
              <a:cs typeface="Times New Roman"/>
            </a:endParaRPr>
          </a:p>
          <a:p>
            <a:pPr marL="24765">
              <a:lnSpc>
                <a:spcPts val="1770"/>
              </a:lnSpc>
            </a:pPr>
            <a:r>
              <a:rPr sz="1800" b="1" dirty="0">
                <a:latin typeface="Times New Roman"/>
                <a:cs typeface="Times New Roman"/>
              </a:rPr>
              <a:t>else if </a:t>
            </a:r>
            <a:r>
              <a:rPr sz="1800" i="1" dirty="0">
                <a:latin typeface="Times New Roman"/>
                <a:cs typeface="Times New Roman"/>
              </a:rPr>
              <a:t>location = A </a:t>
            </a:r>
            <a:r>
              <a:rPr sz="1800" b="1" spc="-5" dirty="0">
                <a:latin typeface="Times New Roman"/>
                <a:cs typeface="Times New Roman"/>
              </a:rPr>
              <a:t>then return</a:t>
            </a:r>
            <a:r>
              <a:rPr sz="1800" b="1" spc="-75" dirty="0">
                <a:latin typeface="Times New Roman"/>
                <a:cs typeface="Times New Roman"/>
              </a:rPr>
              <a:t> </a:t>
            </a:r>
            <a:r>
              <a:rPr sz="1800" i="1" dirty="0">
                <a:latin typeface="Times New Roman"/>
                <a:cs typeface="Times New Roman"/>
              </a:rPr>
              <a:t>Right</a:t>
            </a:r>
            <a:endParaRPr sz="1800" dirty="0">
              <a:latin typeface="Times New Roman"/>
              <a:cs typeface="Times New Roman"/>
            </a:endParaRPr>
          </a:p>
          <a:p>
            <a:pPr marL="24765">
              <a:lnSpc>
                <a:spcPts val="1960"/>
              </a:lnSpc>
            </a:pPr>
            <a:r>
              <a:rPr sz="1800" b="1" dirty="0">
                <a:latin typeface="Times New Roman"/>
                <a:cs typeface="Times New Roman"/>
              </a:rPr>
              <a:t>else if </a:t>
            </a:r>
            <a:r>
              <a:rPr sz="1800" i="1" dirty="0">
                <a:latin typeface="Times New Roman"/>
                <a:cs typeface="Times New Roman"/>
              </a:rPr>
              <a:t>location = B </a:t>
            </a:r>
            <a:r>
              <a:rPr sz="1800" b="1" spc="-5" dirty="0">
                <a:latin typeface="Times New Roman"/>
                <a:cs typeface="Times New Roman"/>
              </a:rPr>
              <a:t>then return</a:t>
            </a:r>
            <a:r>
              <a:rPr sz="1800" b="1" spc="-35" dirty="0">
                <a:latin typeface="Times New Roman"/>
                <a:cs typeface="Times New Roman"/>
              </a:rPr>
              <a:t> </a:t>
            </a:r>
            <a:r>
              <a:rPr sz="1800" dirty="0">
                <a:latin typeface="Times New Roman"/>
                <a:cs typeface="Times New Roman"/>
              </a:rPr>
              <a:t>Left</a:t>
            </a:r>
          </a:p>
        </p:txBody>
      </p:sp>
    </p:spTree>
    <p:extLst>
      <p:ext uri="{BB962C8B-B14F-4D97-AF65-F5344CB8AC3E}">
        <p14:creationId xmlns:p14="http://schemas.microsoft.com/office/powerpoint/2010/main" val="232868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8169" y="410278"/>
            <a:ext cx="4822371" cy="662486"/>
          </a:xfrm>
        </p:spPr>
        <p:txBody>
          <a:bodyPr/>
          <a:lstStyle/>
          <a:p>
            <a:r>
              <a:rPr lang="en-IN" dirty="0"/>
              <a:t>Simple reflex</a:t>
            </a:r>
            <a:r>
              <a:rPr lang="en-IN" spc="-95" dirty="0"/>
              <a:t> </a:t>
            </a:r>
            <a:r>
              <a:rPr lang="en-IN" dirty="0"/>
              <a:t>agents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pic>
        <p:nvPicPr>
          <p:cNvPr id="1026" name="Picture 2">
            <a:extLst>
              <a:ext uri="{FF2B5EF4-FFF2-40B4-BE49-F238E27FC236}">
                <a16:creationId xmlns:a16="http://schemas.microsoft.com/office/drawing/2014/main" id="{D1991322-8797-BC95-6719-D4E1FB2D0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177" y="1585345"/>
            <a:ext cx="5676357" cy="3927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263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Simple reflex</a:t>
            </a:r>
            <a:r>
              <a:rPr lang="en-IN" spc="-95" dirty="0"/>
              <a:t> </a:t>
            </a:r>
            <a:r>
              <a:rPr lang="en-IN" dirty="0"/>
              <a:t>agents</a:t>
            </a:r>
          </a:p>
        </p:txBody>
      </p:sp>
      <p:sp>
        <p:nvSpPr>
          <p:cNvPr id="3" name="Content Placeholder 2"/>
          <p:cNvSpPr>
            <a:spLocks noGrp="1"/>
          </p:cNvSpPr>
          <p:nvPr>
            <p:ph idx="1"/>
          </p:nvPr>
        </p:nvSpPr>
        <p:spPr>
          <a:xfrm>
            <a:off x="735291" y="1839209"/>
            <a:ext cx="10963373" cy="4126586"/>
          </a:xfrm>
        </p:spPr>
        <p:txBody>
          <a:bodyPr>
            <a:noAutofit/>
          </a:bodyPr>
          <a:lstStyle/>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gn="just">
              <a:lnSpc>
                <a:spcPts val="3030"/>
              </a:lnSpc>
              <a:spcBef>
                <a:spcPts val="475"/>
              </a:spcBef>
              <a:tabLst>
                <a:tab pos="347980" algn="l"/>
                <a:tab pos="348615" algn="l"/>
              </a:tabLst>
            </a:pPr>
            <a:r>
              <a:rPr lang="en-US" sz="2400" dirty="0">
                <a:cs typeface="Times New Roman"/>
              </a:rPr>
              <a:t>Simple-reflex agents are simple, but they turn out  to be of very </a:t>
            </a:r>
            <a:r>
              <a:rPr lang="en-US" sz="2400" u="sng" dirty="0">
                <a:cs typeface="Times New Roman"/>
              </a:rPr>
              <a:t>limited intelligence</a:t>
            </a:r>
          </a:p>
          <a:p>
            <a:pPr marL="347980" marR="255270" indent="-335915" algn="just">
              <a:lnSpc>
                <a:spcPts val="3030"/>
              </a:lnSpc>
              <a:spcBef>
                <a:spcPts val="695"/>
              </a:spcBef>
              <a:tabLst>
                <a:tab pos="347980" algn="l"/>
                <a:tab pos="348615" algn="l"/>
              </a:tabLst>
            </a:pPr>
            <a:r>
              <a:rPr lang="en-US" sz="2400" dirty="0">
                <a:cs typeface="Times New Roman"/>
              </a:rPr>
              <a:t>The agent will </a:t>
            </a:r>
            <a:r>
              <a:rPr lang="en-US" sz="2400" u="sng" dirty="0">
                <a:cs typeface="Times New Roman"/>
              </a:rPr>
              <a:t>work only if the correct decision  can be made on the basis of the current percept </a:t>
            </a:r>
            <a:r>
              <a:rPr lang="en-US" sz="2400" dirty="0">
                <a:cs typeface="Times New Roman"/>
              </a:rPr>
              <a:t>–  that is only if the environment is fully observable</a:t>
            </a:r>
          </a:p>
          <a:p>
            <a:pPr marL="347980" marR="5080" indent="-335915" algn="just">
              <a:lnSpc>
                <a:spcPts val="3020"/>
              </a:lnSpc>
              <a:spcBef>
                <a:spcPts val="690"/>
              </a:spcBef>
              <a:tabLst>
                <a:tab pos="347980" algn="l"/>
                <a:tab pos="348615" algn="l"/>
              </a:tabLst>
            </a:pPr>
            <a:r>
              <a:rPr lang="en-US" sz="2400" u="sng" dirty="0">
                <a:cs typeface="Times New Roman"/>
              </a:rPr>
              <a:t>Infinite loops are often unavoidable </a:t>
            </a:r>
            <a:r>
              <a:rPr lang="en-US" sz="2400" dirty="0">
                <a:cs typeface="Times New Roman"/>
              </a:rPr>
              <a:t>– escape could  be possible by randomizing</a:t>
            </a:r>
          </a:p>
          <a:p>
            <a:endParaRPr lang="en-IN"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
        <p:nvSpPr>
          <p:cNvPr id="5" name="object 5"/>
          <p:cNvSpPr txBox="1"/>
          <p:nvPr/>
        </p:nvSpPr>
        <p:spPr>
          <a:xfrm>
            <a:off x="2459016" y="1619806"/>
            <a:ext cx="7273967" cy="1702004"/>
          </a:xfrm>
          <a:prstGeom prst="rect">
            <a:avLst/>
          </a:prstGeom>
          <a:ln w="9778">
            <a:solidFill>
              <a:srgbClr val="000000"/>
            </a:solidFill>
          </a:ln>
        </p:spPr>
        <p:txBody>
          <a:bodyPr vert="horz" wrap="square" lIns="0" tIns="0" rIns="0" bIns="0" rtlCol="0">
            <a:spAutoFit/>
          </a:bodyPr>
          <a:lstStyle/>
          <a:p>
            <a:pPr marL="24765">
              <a:lnSpc>
                <a:spcPts val="1660"/>
              </a:lnSpc>
            </a:pPr>
            <a:endParaRPr lang="en-US" sz="2000" b="1" spc="-5" dirty="0">
              <a:latin typeface="Times New Roman"/>
              <a:cs typeface="Times New Roman"/>
            </a:endParaRPr>
          </a:p>
          <a:p>
            <a:pPr marL="24765">
              <a:lnSpc>
                <a:spcPts val="1660"/>
              </a:lnSpc>
            </a:pPr>
            <a:r>
              <a:rPr sz="2000" b="1" spc="-5" dirty="0">
                <a:latin typeface="Times New Roman"/>
                <a:cs typeface="Times New Roman"/>
              </a:rPr>
              <a:t>function </a:t>
            </a:r>
            <a:r>
              <a:rPr sz="2000" spc="-5" dirty="0">
                <a:latin typeface="Times New Roman"/>
                <a:cs typeface="Times New Roman"/>
              </a:rPr>
              <a:t>SIMPLE-REFLEX-AGENT(</a:t>
            </a:r>
            <a:r>
              <a:rPr sz="2000" i="1" spc="-5" dirty="0">
                <a:latin typeface="Times New Roman"/>
                <a:cs typeface="Times New Roman"/>
              </a:rPr>
              <a:t>percept</a:t>
            </a:r>
            <a:r>
              <a:rPr sz="2000" spc="-5" dirty="0">
                <a:latin typeface="Times New Roman"/>
                <a:cs typeface="Times New Roman"/>
              </a:rPr>
              <a:t>) </a:t>
            </a:r>
            <a:r>
              <a:rPr sz="2000" b="1" spc="-10" dirty="0">
                <a:latin typeface="Times New Roman"/>
                <a:cs typeface="Times New Roman"/>
              </a:rPr>
              <a:t>returns </a:t>
            </a:r>
            <a:r>
              <a:rPr sz="2000" dirty="0">
                <a:latin typeface="Times New Roman"/>
                <a:cs typeface="Times New Roman"/>
              </a:rPr>
              <a:t>an</a:t>
            </a:r>
            <a:r>
              <a:rPr sz="2000" spc="15" dirty="0">
                <a:latin typeface="Times New Roman"/>
                <a:cs typeface="Times New Roman"/>
              </a:rPr>
              <a:t> </a:t>
            </a:r>
            <a:r>
              <a:rPr sz="2000" dirty="0">
                <a:latin typeface="Times New Roman"/>
                <a:cs typeface="Times New Roman"/>
              </a:rPr>
              <a:t>action</a:t>
            </a:r>
          </a:p>
          <a:p>
            <a:pPr marL="24765" marR="2875280" algn="ctr">
              <a:lnSpc>
                <a:spcPct val="82000"/>
              </a:lnSpc>
              <a:spcBef>
                <a:spcPts val="195"/>
              </a:spcBef>
            </a:pPr>
            <a:r>
              <a:rPr sz="2000" b="1" spc="-5" dirty="0">
                <a:latin typeface="Times New Roman"/>
                <a:cs typeface="Times New Roman"/>
              </a:rPr>
              <a:t>static: </a:t>
            </a:r>
            <a:r>
              <a:rPr sz="2000" i="1" spc="-5" dirty="0">
                <a:latin typeface="Times New Roman"/>
                <a:cs typeface="Times New Roman"/>
              </a:rPr>
              <a:t>rules, </a:t>
            </a:r>
            <a:r>
              <a:rPr sz="2000" spc="-5" dirty="0">
                <a:latin typeface="Times New Roman"/>
                <a:cs typeface="Times New Roman"/>
              </a:rPr>
              <a:t>a set </a:t>
            </a:r>
            <a:r>
              <a:rPr sz="2000" dirty="0">
                <a:latin typeface="Times New Roman"/>
                <a:cs typeface="Times New Roman"/>
              </a:rPr>
              <a:t>if condition-action rules  </a:t>
            </a:r>
            <a:r>
              <a:rPr sz="2000" i="1" spc="-5" dirty="0">
                <a:latin typeface="Times New Roman"/>
                <a:cs typeface="Times New Roman"/>
              </a:rPr>
              <a:t>state </a:t>
            </a:r>
            <a:r>
              <a:rPr sz="2000" spc="-5" dirty="0">
                <a:latin typeface="Times New Roman"/>
                <a:cs typeface="Times New Roman"/>
              </a:rPr>
              <a:t>&lt;-- INTERPRET_INPUT(</a:t>
            </a:r>
            <a:r>
              <a:rPr sz="2000" i="1" spc="-5" dirty="0">
                <a:latin typeface="Times New Roman"/>
                <a:cs typeface="Times New Roman"/>
              </a:rPr>
              <a:t>percept</a:t>
            </a:r>
            <a:r>
              <a:rPr sz="2000" spc="-5" dirty="0">
                <a:latin typeface="Times New Roman"/>
                <a:cs typeface="Times New Roman"/>
              </a:rPr>
              <a:t>)  </a:t>
            </a:r>
            <a:r>
              <a:rPr sz="2000" i="1" spc="-5" dirty="0">
                <a:latin typeface="Times New Roman"/>
                <a:cs typeface="Times New Roman"/>
              </a:rPr>
              <a:t>rule </a:t>
            </a:r>
            <a:r>
              <a:rPr sz="2000" spc="-5" dirty="0">
                <a:latin typeface="Times New Roman"/>
                <a:cs typeface="Times New Roman"/>
              </a:rPr>
              <a:t>&lt;-- </a:t>
            </a:r>
            <a:r>
              <a:rPr sz="2000" spc="-15" dirty="0">
                <a:latin typeface="Times New Roman"/>
                <a:cs typeface="Times New Roman"/>
              </a:rPr>
              <a:t>RULE_MATCH(</a:t>
            </a:r>
            <a:r>
              <a:rPr sz="2000" i="1" spc="-15" dirty="0">
                <a:latin typeface="Times New Roman"/>
                <a:cs typeface="Times New Roman"/>
              </a:rPr>
              <a:t>state, </a:t>
            </a:r>
            <a:r>
              <a:rPr sz="2000" i="1" dirty="0">
                <a:latin typeface="Times New Roman"/>
                <a:cs typeface="Times New Roman"/>
              </a:rPr>
              <a:t>rules</a:t>
            </a:r>
            <a:r>
              <a:rPr sz="2000" dirty="0">
                <a:latin typeface="Times New Roman"/>
                <a:cs typeface="Times New Roman"/>
              </a:rPr>
              <a:t>)  </a:t>
            </a:r>
            <a:r>
              <a:rPr sz="2000" i="1" dirty="0">
                <a:latin typeface="Times New Roman"/>
                <a:cs typeface="Times New Roman"/>
              </a:rPr>
              <a:t>action </a:t>
            </a:r>
            <a:r>
              <a:rPr sz="2000" spc="-5" dirty="0">
                <a:latin typeface="Times New Roman"/>
                <a:cs typeface="Times New Roman"/>
              </a:rPr>
              <a:t>&lt;</a:t>
            </a:r>
            <a:r>
              <a:rPr sz="1800" spc="-5" dirty="0">
                <a:latin typeface="Times New Roman"/>
                <a:cs typeface="Times New Roman"/>
              </a:rPr>
              <a:t>--</a:t>
            </a:r>
            <a:r>
              <a:rPr sz="1800" spc="-30" dirty="0">
                <a:latin typeface="Times New Roman"/>
                <a:cs typeface="Times New Roman"/>
              </a:rPr>
              <a:t> </a:t>
            </a:r>
            <a:r>
              <a:rPr sz="1800" spc="-5" dirty="0">
                <a:latin typeface="Times New Roman"/>
                <a:cs typeface="Times New Roman"/>
              </a:rPr>
              <a:t>RULE_ACTION[</a:t>
            </a:r>
            <a:r>
              <a:rPr sz="1800" i="1" spc="-5" dirty="0">
                <a:latin typeface="Times New Roman"/>
                <a:cs typeface="Times New Roman"/>
              </a:rPr>
              <a:t>rule</a:t>
            </a:r>
            <a:r>
              <a:rPr sz="1800" spc="-5" dirty="0">
                <a:latin typeface="Times New Roman"/>
                <a:cs typeface="Times New Roman"/>
              </a:rPr>
              <a:t>]</a:t>
            </a:r>
            <a:endParaRPr sz="1800" dirty="0">
              <a:latin typeface="Times New Roman"/>
              <a:cs typeface="Times New Roman"/>
            </a:endParaRPr>
          </a:p>
          <a:p>
            <a:pPr marL="24765">
              <a:lnSpc>
                <a:spcPts val="1764"/>
              </a:lnSpc>
            </a:pPr>
            <a:r>
              <a:rPr sz="1800" b="1" spc="-10" dirty="0">
                <a:latin typeface="Times New Roman"/>
                <a:cs typeface="Times New Roman"/>
              </a:rPr>
              <a:t>return</a:t>
            </a:r>
            <a:r>
              <a:rPr sz="1800" b="1" spc="-15" dirty="0">
                <a:latin typeface="Times New Roman"/>
                <a:cs typeface="Times New Roman"/>
              </a:rPr>
              <a:t> </a:t>
            </a:r>
            <a:r>
              <a:rPr sz="1800" i="1" dirty="0">
                <a:latin typeface="Times New Roman"/>
                <a:cs typeface="Times New Roman"/>
              </a:rPr>
              <a:t>action</a:t>
            </a:r>
            <a:endParaRPr sz="1800" dirty="0">
              <a:latin typeface="Times New Roman"/>
              <a:cs typeface="Times New Roman"/>
            </a:endParaRPr>
          </a:p>
        </p:txBody>
      </p:sp>
    </p:spTree>
    <p:extLst>
      <p:ext uri="{BB962C8B-B14F-4D97-AF65-F5344CB8AC3E}">
        <p14:creationId xmlns:p14="http://schemas.microsoft.com/office/powerpoint/2010/main" val="298754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Model-based reflex</a:t>
            </a:r>
            <a:r>
              <a:rPr lang="en-IN" spc="-80" dirty="0"/>
              <a:t> </a:t>
            </a:r>
            <a:r>
              <a:rPr lang="en-IN" dirty="0"/>
              <a:t>agents</a:t>
            </a:r>
          </a:p>
        </p:txBody>
      </p:sp>
      <p:sp>
        <p:nvSpPr>
          <p:cNvPr id="3" name="Content Placeholder 2"/>
          <p:cNvSpPr>
            <a:spLocks noGrp="1"/>
          </p:cNvSpPr>
          <p:nvPr>
            <p:ph idx="1"/>
          </p:nvPr>
        </p:nvSpPr>
        <p:spPr>
          <a:xfrm>
            <a:off x="900587" y="2076705"/>
            <a:ext cx="10216654" cy="2460461"/>
          </a:xfrm>
        </p:spPr>
        <p:txBody>
          <a:bodyPr>
            <a:noAutofit/>
          </a:bodyPr>
          <a:lstStyle/>
          <a:p>
            <a:pPr marL="347980" indent="-335915" algn="just">
              <a:lnSpc>
                <a:spcPct val="100000"/>
              </a:lnSpc>
              <a:spcBef>
                <a:spcPts val="505"/>
              </a:spcBef>
              <a:tabLst>
                <a:tab pos="348615" algn="l"/>
              </a:tabLst>
            </a:pPr>
            <a:r>
              <a:rPr lang="en-US" dirty="0"/>
              <a:t>It’s the </a:t>
            </a:r>
            <a:r>
              <a:rPr lang="en-US" sz="2700" b="1" dirty="0">
                <a:solidFill>
                  <a:srgbClr val="C00000"/>
                </a:solidFill>
                <a:latin typeface="Arial" panose="020B0604020202020204" pitchFamily="34" charset="0"/>
              </a:rPr>
              <a:t>more advanced version of the simple reflex agent </a:t>
            </a:r>
            <a:r>
              <a:rPr lang="en-US" dirty="0"/>
              <a:t>it works by </a:t>
            </a:r>
            <a:r>
              <a:rPr lang="en-US" sz="2700" b="1" dirty="0">
                <a:solidFill>
                  <a:srgbClr val="C00000"/>
                </a:solidFill>
                <a:latin typeface="Arial" panose="020B0604020202020204" pitchFamily="34" charset="0"/>
              </a:rPr>
              <a:t>finding a rule which is suitable for the current situation</a:t>
            </a:r>
            <a:r>
              <a:rPr lang="en-US" dirty="0"/>
              <a:t>.</a:t>
            </a:r>
          </a:p>
          <a:p>
            <a:pPr marL="347980" indent="-335915" algn="just">
              <a:lnSpc>
                <a:spcPct val="100000"/>
              </a:lnSpc>
              <a:spcBef>
                <a:spcPts val="505"/>
              </a:spcBef>
              <a:tabLst>
                <a:tab pos="348615" algn="l"/>
              </a:tabLst>
            </a:pPr>
            <a:r>
              <a:rPr lang="en-US" dirty="0"/>
              <a:t>It is given a model of the environment, as it can work depending on the previous situation too, it can use the model to work on a </a:t>
            </a:r>
            <a:r>
              <a:rPr lang="en-US" sz="2700" b="1" dirty="0">
                <a:solidFill>
                  <a:srgbClr val="C00000"/>
                </a:solidFill>
                <a:latin typeface="Arial" panose="020B0604020202020204" pitchFamily="34" charset="0"/>
              </a:rPr>
              <a:t>partially observable environment</a:t>
            </a:r>
            <a:r>
              <a:rPr lang="en-US" dirty="0"/>
              <a:t>. </a:t>
            </a:r>
            <a:endParaRPr lang="en-US" sz="2400" spc="-5" dirty="0">
              <a:cs typeface="Times New Roman"/>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Tree>
    <p:extLst>
      <p:ext uri="{BB962C8B-B14F-4D97-AF65-F5344CB8AC3E}">
        <p14:creationId xmlns:p14="http://schemas.microsoft.com/office/powerpoint/2010/main" val="2962423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0811" y="136525"/>
            <a:ext cx="5477692" cy="619849"/>
          </a:xfrm>
        </p:spPr>
        <p:txBody>
          <a:bodyPr>
            <a:normAutofit fontScale="90000"/>
          </a:bodyPr>
          <a:lstStyle/>
          <a:p>
            <a:r>
              <a:rPr lang="en-IN" dirty="0"/>
              <a:t>Model-based reflex</a:t>
            </a:r>
            <a:r>
              <a:rPr lang="en-IN" spc="-80" dirty="0"/>
              <a:t> </a:t>
            </a:r>
            <a:r>
              <a:rPr lang="en-IN" dirty="0"/>
              <a:t>agents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pic>
        <p:nvPicPr>
          <p:cNvPr id="2050" name="Picture 2">
            <a:extLst>
              <a:ext uri="{FF2B5EF4-FFF2-40B4-BE49-F238E27FC236}">
                <a16:creationId xmlns:a16="http://schemas.microsoft.com/office/drawing/2014/main" id="{9750141A-E445-2730-C944-A9619C44B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9925" y="635726"/>
            <a:ext cx="7463012" cy="532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803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B6926-48A0-BE31-0C93-717873E42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027CC-3FD1-4B81-70E7-A7A39500D98F}"/>
              </a:ext>
            </a:extLst>
          </p:cNvPr>
          <p:cNvSpPr>
            <a:spLocks noGrp="1"/>
          </p:cNvSpPr>
          <p:nvPr>
            <p:ph type="title"/>
          </p:nvPr>
        </p:nvSpPr>
        <p:spPr>
          <a:xfrm>
            <a:off x="838200" y="-161131"/>
            <a:ext cx="10515600" cy="805566"/>
          </a:xfrm>
        </p:spPr>
        <p:txBody>
          <a:bodyPr/>
          <a:lstStyle/>
          <a:p>
            <a:r>
              <a:rPr lang="en-US" dirty="0"/>
              <a:t>Goal-driven agents</a:t>
            </a:r>
            <a:endParaRPr lang="en-IN" dirty="0"/>
          </a:p>
        </p:txBody>
      </p:sp>
      <p:sp>
        <p:nvSpPr>
          <p:cNvPr id="3" name="Content Placeholder 2">
            <a:extLst>
              <a:ext uri="{FF2B5EF4-FFF2-40B4-BE49-F238E27FC236}">
                <a16:creationId xmlns:a16="http://schemas.microsoft.com/office/drawing/2014/main" id="{4F29385D-C40A-1162-7F78-52FC630070D9}"/>
              </a:ext>
            </a:extLst>
          </p:cNvPr>
          <p:cNvSpPr>
            <a:spLocks noGrp="1"/>
          </p:cNvSpPr>
          <p:nvPr>
            <p:ph idx="1"/>
          </p:nvPr>
        </p:nvSpPr>
        <p:spPr>
          <a:xfrm>
            <a:off x="838200" y="758281"/>
            <a:ext cx="10515600" cy="2020389"/>
          </a:xfrm>
        </p:spPr>
        <p:txBody>
          <a:bodyPr>
            <a:noAutofit/>
          </a:bodyPr>
          <a:lstStyle/>
          <a:p>
            <a:pPr algn="just">
              <a:lnSpc>
                <a:spcPct val="150000"/>
              </a:lnSpc>
            </a:pPr>
            <a:r>
              <a:rPr lang="en-US" dirty="0"/>
              <a:t>These kinds of agents work on </a:t>
            </a:r>
            <a:r>
              <a:rPr lang="en-US" b="1" dirty="0">
                <a:solidFill>
                  <a:srgbClr val="C00000"/>
                </a:solidFill>
              </a:rPr>
              <a:t>certain goals </a:t>
            </a:r>
            <a:r>
              <a:rPr lang="en-US" dirty="0"/>
              <a:t>in order to minimize the time reaching it. It helps the model to accelerate things as here the model can simulate and choose what situation will be best to decrease the end time for reaching the goal. The knowledge that supports its decisions is represented explicitly and can be modified, which makes these agents more flexible. They usually require search and planning. The goal-based agent’s behavior can easily be changed.</a:t>
            </a:r>
          </a:p>
          <a:p>
            <a:pPr algn="just">
              <a:lnSpc>
                <a:spcPct val="150000"/>
              </a:lnSpc>
              <a:defRPr/>
            </a:pPr>
            <a:r>
              <a:rPr lang="en-GB" sz="2400" dirty="0"/>
              <a:t>.</a:t>
            </a:r>
            <a:endParaRPr lang="en-IN" sz="2400" dirty="0"/>
          </a:p>
        </p:txBody>
      </p:sp>
      <p:sp>
        <p:nvSpPr>
          <p:cNvPr id="4" name="Slide Number Placeholder 3">
            <a:extLst>
              <a:ext uri="{FF2B5EF4-FFF2-40B4-BE49-F238E27FC236}">
                <a16:creationId xmlns:a16="http://schemas.microsoft.com/office/drawing/2014/main" id="{B4FAE43A-1905-8895-D093-84A4418F7901}"/>
              </a:ext>
            </a:extLst>
          </p:cNvPr>
          <p:cNvSpPr>
            <a:spLocks noGrp="1"/>
          </p:cNvSpPr>
          <p:nvPr>
            <p:ph type="sldNum" sz="quarter" idx="12"/>
          </p:nvPr>
        </p:nvSpPr>
        <p:spPr/>
        <p:txBody>
          <a:bodyPr/>
          <a:lstStyle/>
          <a:p>
            <a:fld id="{CBABCCC1-BF11-4F37-963E-1BCD5B23FD72}" type="slidenum">
              <a:rPr lang="en-IN" smtClean="0"/>
              <a:pPr/>
              <a:t>24</a:t>
            </a:fld>
            <a:endParaRPr lang="en-IN"/>
          </a:p>
        </p:txBody>
      </p:sp>
    </p:spTree>
    <p:extLst>
      <p:ext uri="{BB962C8B-B14F-4D97-AF65-F5344CB8AC3E}">
        <p14:creationId xmlns:p14="http://schemas.microsoft.com/office/powerpoint/2010/main" val="4081005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C7403-3BB4-E09A-125D-2D2933232A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55D39F-95BD-6C43-003A-CFD8B7C81BE4}"/>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BE390399-D444-9492-2726-D55C5795E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1358" y="299628"/>
            <a:ext cx="7883837" cy="5099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18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2388"/>
            <a:ext cx="10515600" cy="628649"/>
          </a:xfrm>
        </p:spPr>
        <p:txBody>
          <a:bodyPr>
            <a:normAutofit fontScale="90000"/>
          </a:bodyPr>
          <a:lstStyle/>
          <a:p>
            <a:endParaRPr lang="en-IN" dirty="0"/>
          </a:p>
        </p:txBody>
      </p:sp>
      <p:sp>
        <p:nvSpPr>
          <p:cNvPr id="3" name="Content Placeholder 2"/>
          <p:cNvSpPr>
            <a:spLocks noGrp="1"/>
          </p:cNvSpPr>
          <p:nvPr>
            <p:ph idx="1"/>
          </p:nvPr>
        </p:nvSpPr>
        <p:spPr>
          <a:xfrm>
            <a:off x="942703" y="1119935"/>
            <a:ext cx="10515600" cy="4618129"/>
          </a:xfrm>
        </p:spPr>
        <p:txBody>
          <a:bodyPr>
            <a:noAutofit/>
          </a:bodyPr>
          <a:lstStyle/>
          <a:p>
            <a:r>
              <a:rPr lang="en-US" sz="2400" i="1" dirty="0">
                <a:solidFill>
                  <a:srgbClr val="FF0000"/>
                </a:solidFill>
              </a:rPr>
              <a:t>Utility-based agents</a:t>
            </a:r>
            <a:r>
              <a:rPr lang="en-US" sz="2400" dirty="0"/>
              <a:t>: </a:t>
            </a:r>
            <a:r>
              <a:rPr lang="en-US" dirty="0"/>
              <a:t>For these </a:t>
            </a:r>
            <a:r>
              <a:rPr lang="en-US" b="1" dirty="0"/>
              <a:t>types of agents in Ai, </a:t>
            </a:r>
            <a:r>
              <a:rPr lang="en-US" dirty="0"/>
              <a:t>the end goal for the Ai works as a foundation. For example, in a smart temperature control system here if the goal is keeping the temperature at 24 degrees centigrade, once it is reached it will stop cooling any further and when the temperature rises it will get started automatically. For the utility-based AI agent, there are multiple possible alternatives like for example,</a:t>
            </a:r>
          </a:p>
          <a:p>
            <a:r>
              <a:rPr lang="en-US" dirty="0"/>
              <a:t>Another place where a utility-based AI agent is used is a GPS system were reaching the destination is not enough it needs to be quick and convenient. Here the Utility-Based Ai agent will take these decisions keeping convenience in mind.</a:t>
            </a:r>
          </a:p>
          <a:p>
            <a:endParaRPr lang="en-IN"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26</a:t>
            </a:fld>
            <a:endParaRPr lang="en-IN"/>
          </a:p>
        </p:txBody>
      </p:sp>
    </p:spTree>
    <p:extLst>
      <p:ext uri="{BB962C8B-B14F-4D97-AF65-F5344CB8AC3E}">
        <p14:creationId xmlns:p14="http://schemas.microsoft.com/office/powerpoint/2010/main" val="276636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274A-FC97-1903-7F49-DF0BF7CD1A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772584-FCA4-65B8-7054-E2D5A7C47350}"/>
              </a:ext>
            </a:extLst>
          </p:cNvPr>
          <p:cNvSpPr>
            <a:spLocks noGrp="1"/>
          </p:cNvSpPr>
          <p:nvPr>
            <p:ph idx="1"/>
          </p:nvPr>
        </p:nvSpPr>
        <p:spPr/>
        <p:txBody>
          <a:bodyPr/>
          <a:lstStyle/>
          <a:p>
            <a:endParaRPr lang="en-IN"/>
          </a:p>
        </p:txBody>
      </p:sp>
      <p:pic>
        <p:nvPicPr>
          <p:cNvPr id="4098" name="Picture 2">
            <a:extLst>
              <a:ext uri="{FF2B5EF4-FFF2-40B4-BE49-F238E27FC236}">
                <a16:creationId xmlns:a16="http://schemas.microsoft.com/office/drawing/2014/main" id="{ACAC2901-5CA5-519F-D7E3-93A239407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651" y="257969"/>
            <a:ext cx="7236532" cy="4732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095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dirty="0"/>
              <a:t>Learning agents</a:t>
            </a:r>
            <a:endParaRPr lang="en-IN" dirty="0"/>
          </a:p>
        </p:txBody>
      </p:sp>
      <p:sp>
        <p:nvSpPr>
          <p:cNvPr id="3" name="Content Placeholder 2"/>
          <p:cNvSpPr>
            <a:spLocks noGrp="1"/>
          </p:cNvSpPr>
          <p:nvPr>
            <p:ph idx="1"/>
          </p:nvPr>
        </p:nvSpPr>
        <p:spPr/>
        <p:txBody>
          <a:bodyPr>
            <a:noAutofit/>
          </a:bodyPr>
          <a:lstStyle/>
          <a:p>
            <a:pPr>
              <a:defRPr/>
            </a:pPr>
            <a:r>
              <a:rPr lang="en-GB" sz="2800" dirty="0"/>
              <a:t>Agents with the capacity to learn new skills through observations and acts.</a:t>
            </a:r>
          </a:p>
          <a:p>
            <a:pPr>
              <a:defRPr/>
            </a:pPr>
            <a:r>
              <a:rPr lang="en-US" sz="2800" dirty="0"/>
              <a:t>Components: </a:t>
            </a:r>
          </a:p>
          <a:p>
            <a:pPr lvl="1">
              <a:defRPr/>
            </a:pPr>
            <a:r>
              <a:rPr lang="en-GB" sz="2400" dirty="0"/>
              <a:t>Learning component (modifies the performance component)</a:t>
            </a:r>
          </a:p>
          <a:p>
            <a:pPr lvl="1">
              <a:defRPr/>
            </a:pPr>
            <a:r>
              <a:rPr lang="en-GB" sz="2400" dirty="0"/>
              <a:t>aspect of performance (selects actions)</a:t>
            </a:r>
          </a:p>
          <a:p>
            <a:pPr lvl="1">
              <a:defRPr/>
            </a:pPr>
            <a:r>
              <a:rPr lang="en-GB" sz="2400" dirty="0"/>
              <a:t>exploration element (problem generator) and </a:t>
            </a:r>
          </a:p>
          <a:p>
            <a:pPr lvl="1">
              <a:defRPr/>
            </a:pPr>
            <a:r>
              <a:rPr lang="en-GB" sz="2400" dirty="0"/>
              <a:t>feedback element (critic).</a:t>
            </a:r>
            <a:endParaRPr lang="en-US" sz="2400" dirty="0"/>
          </a:p>
          <a:p>
            <a:endParaRPr lang="en-IN" sz="2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28</a:t>
            </a:fld>
            <a:endParaRPr lang="en-IN"/>
          </a:p>
        </p:txBody>
      </p:sp>
    </p:spTree>
    <p:extLst>
      <p:ext uri="{BB962C8B-B14F-4D97-AF65-F5344CB8AC3E}">
        <p14:creationId xmlns:p14="http://schemas.microsoft.com/office/powerpoint/2010/main" val="1210684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2597F-28EB-D966-1392-A7C911E432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134C67-06DD-BB08-BCF4-6F10E2AC2994}"/>
              </a:ext>
            </a:extLst>
          </p:cNvPr>
          <p:cNvSpPr>
            <a:spLocks noGrp="1"/>
          </p:cNvSpPr>
          <p:nvPr>
            <p:ph idx="1"/>
          </p:nvPr>
        </p:nvSpPr>
        <p:spPr/>
        <p:txBody>
          <a:bodyPr/>
          <a:lstStyle/>
          <a:p>
            <a:endParaRPr lang="en-IN"/>
          </a:p>
        </p:txBody>
      </p:sp>
      <p:pic>
        <p:nvPicPr>
          <p:cNvPr id="6146" name="Picture 2">
            <a:extLst>
              <a:ext uri="{FF2B5EF4-FFF2-40B4-BE49-F238E27FC236}">
                <a16:creationId xmlns:a16="http://schemas.microsoft.com/office/drawing/2014/main" id="{825D686E-A4FB-BB4D-38A2-6870DB53E3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64" y="365125"/>
            <a:ext cx="7376196" cy="5296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961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3EA1-B601-42A5-94F5-CD1447496698}"/>
              </a:ext>
            </a:extLst>
          </p:cNvPr>
          <p:cNvSpPr>
            <a:spLocks noGrp="1"/>
          </p:cNvSpPr>
          <p:nvPr>
            <p:ph type="title"/>
          </p:nvPr>
        </p:nvSpPr>
        <p:spPr/>
        <p:txBody>
          <a:bodyPr/>
          <a:lstStyle/>
          <a:p>
            <a:r>
              <a:rPr lang="en-IN" b="1" i="0" dirty="0">
                <a:solidFill>
                  <a:srgbClr val="273239"/>
                </a:solidFill>
                <a:effectLst/>
                <a:latin typeface="Nunito"/>
              </a:rPr>
              <a:t>PEAS Representation in AI</a:t>
            </a:r>
            <a:endParaRPr lang="en-IN" b="0" dirty="0"/>
          </a:p>
        </p:txBody>
      </p:sp>
      <p:sp>
        <p:nvSpPr>
          <p:cNvPr id="3" name="Content Placeholder 2">
            <a:extLst>
              <a:ext uri="{FF2B5EF4-FFF2-40B4-BE49-F238E27FC236}">
                <a16:creationId xmlns:a16="http://schemas.microsoft.com/office/drawing/2014/main" id="{FC30B813-CA95-419D-847D-880A2FFDFD34}"/>
              </a:ext>
            </a:extLst>
          </p:cNvPr>
          <p:cNvSpPr>
            <a:spLocks noGrp="1"/>
          </p:cNvSpPr>
          <p:nvPr>
            <p:ph idx="1"/>
          </p:nvPr>
        </p:nvSpPr>
        <p:spPr>
          <a:xfrm>
            <a:off x="838200" y="1410845"/>
            <a:ext cx="10515600" cy="4351338"/>
          </a:xfrm>
        </p:spPr>
        <p:txBody>
          <a:bodyPr>
            <a:normAutofit fontScale="92500"/>
          </a:bodyPr>
          <a:lstStyle/>
          <a:p>
            <a:pPr algn="l" rtl="0" fontAlgn="base"/>
            <a:r>
              <a:rPr lang="en-US" sz="2400" b="0" i="0" dirty="0">
                <a:effectLst/>
                <a:latin typeface="Nunito"/>
              </a:rPr>
              <a:t>PEAS is a framework used to specify the structure of an intelligent agent in AI. </a:t>
            </a:r>
          </a:p>
          <a:p>
            <a:pPr algn="l" rtl="0" fontAlgn="base"/>
            <a:r>
              <a:rPr lang="en-US" sz="2400" b="0" i="0" dirty="0">
                <a:effectLst/>
                <a:latin typeface="Nunito"/>
              </a:rPr>
              <a:t>It breaks down the agent's interaction with the environment into four key components:</a:t>
            </a:r>
          </a:p>
          <a:p>
            <a:pPr lvl="1" fontAlgn="base">
              <a:buFont typeface="+mj-lt"/>
              <a:buAutoNum type="arabicPeriod"/>
            </a:pPr>
            <a:r>
              <a:rPr lang="en-US" b="1" i="0" dirty="0">
                <a:effectLst/>
                <a:latin typeface="Nunito"/>
              </a:rPr>
              <a:t>Performance Measure</a:t>
            </a:r>
            <a:r>
              <a:rPr lang="en-US" b="0" i="0" dirty="0">
                <a:effectLst/>
                <a:latin typeface="Nunito"/>
              </a:rPr>
              <a:t>: The criteria that define the success of the agent's actions.</a:t>
            </a:r>
          </a:p>
          <a:p>
            <a:pPr lvl="1" fontAlgn="base">
              <a:buFont typeface="+mj-lt"/>
              <a:buAutoNum type="arabicPeriod"/>
            </a:pPr>
            <a:r>
              <a:rPr lang="en-US" b="1" i="0" dirty="0">
                <a:effectLst/>
                <a:latin typeface="Nunito"/>
              </a:rPr>
              <a:t>Environment</a:t>
            </a:r>
            <a:r>
              <a:rPr lang="en-US" b="0" i="0" dirty="0">
                <a:effectLst/>
                <a:latin typeface="Nunito"/>
              </a:rPr>
              <a:t>: The surroundings or the context in which the agent operates.</a:t>
            </a:r>
          </a:p>
          <a:p>
            <a:pPr lvl="1" fontAlgn="base">
              <a:buFont typeface="+mj-lt"/>
              <a:buAutoNum type="arabicPeriod"/>
            </a:pPr>
            <a:r>
              <a:rPr lang="en-US" b="1" i="0" dirty="0">
                <a:effectLst/>
                <a:latin typeface="Nunito"/>
              </a:rPr>
              <a:t>Actuators</a:t>
            </a:r>
            <a:r>
              <a:rPr lang="en-US" b="0" i="0" dirty="0">
                <a:effectLst/>
                <a:latin typeface="Nunito"/>
              </a:rPr>
              <a:t>: The mechanisms through which the agent interacts with the environment.</a:t>
            </a:r>
          </a:p>
          <a:p>
            <a:pPr lvl="1" fontAlgn="base">
              <a:buFont typeface="+mj-lt"/>
              <a:buAutoNum type="arabicPeriod"/>
            </a:pPr>
            <a:r>
              <a:rPr lang="en-US" b="1" i="0" dirty="0">
                <a:effectLst/>
                <a:latin typeface="Nunito"/>
              </a:rPr>
              <a:t>Sensors</a:t>
            </a:r>
            <a:r>
              <a:rPr lang="en-US" b="0" i="0" dirty="0">
                <a:effectLst/>
                <a:latin typeface="Nunito"/>
              </a:rPr>
              <a:t>: The tools the agent uses to perceive its environment.</a:t>
            </a:r>
            <a:r>
              <a:rPr lang="en-US" b="0" i="0" dirty="0">
                <a:solidFill>
                  <a:srgbClr val="273239"/>
                </a:solidFill>
                <a:effectLst/>
                <a:latin typeface="Nunito"/>
              </a:rPr>
              <a:t> </a:t>
            </a:r>
          </a:p>
          <a:p>
            <a:pPr fontAlgn="base"/>
            <a:r>
              <a:rPr lang="en-US" sz="2400" b="0" i="0" dirty="0">
                <a:solidFill>
                  <a:srgbClr val="273239"/>
                </a:solidFill>
                <a:effectLst/>
                <a:latin typeface="Nunito"/>
              </a:rPr>
              <a:t>By defining these elements, PEAS provides a clear outline for designing and evaluating intelligent systems, ensuring they are equipped to perform their tasks effectively.</a:t>
            </a:r>
            <a:endParaRPr lang="en-IN" sz="2400" b="0" i="0" dirty="0">
              <a:effectLst/>
              <a:latin typeface="Nunito"/>
            </a:endParaRPr>
          </a:p>
          <a:p>
            <a:pPr marL="457200" lvl="1" indent="0" fontAlgn="base">
              <a:buNone/>
            </a:pPr>
            <a:endParaRPr lang="en-US" b="0" i="0" dirty="0">
              <a:effectLst/>
              <a:latin typeface="Nunito"/>
            </a:endParaRPr>
          </a:p>
        </p:txBody>
      </p:sp>
    </p:spTree>
    <p:extLst>
      <p:ext uri="{BB962C8B-B14F-4D97-AF65-F5344CB8AC3E}">
        <p14:creationId xmlns:p14="http://schemas.microsoft.com/office/powerpoint/2010/main" val="214945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002E-92F5-4010-A27C-5689F6688018}"/>
              </a:ext>
            </a:extLst>
          </p:cNvPr>
          <p:cNvSpPr>
            <a:spLocks noGrp="1"/>
          </p:cNvSpPr>
          <p:nvPr>
            <p:ph type="title"/>
          </p:nvPr>
        </p:nvSpPr>
        <p:spPr/>
        <p:txBody>
          <a:bodyPr/>
          <a:lstStyle/>
          <a:p>
            <a:r>
              <a:rPr lang="en-IN" b="1" i="0" dirty="0">
                <a:solidFill>
                  <a:srgbClr val="273239"/>
                </a:solidFill>
                <a:effectLst/>
                <a:latin typeface="Nunito"/>
              </a:rPr>
              <a:t>P: Performance Measure</a:t>
            </a:r>
            <a:endParaRPr lang="en-IN" dirty="0"/>
          </a:p>
        </p:txBody>
      </p:sp>
      <p:sp>
        <p:nvSpPr>
          <p:cNvPr id="3" name="Content Placeholder 2">
            <a:extLst>
              <a:ext uri="{FF2B5EF4-FFF2-40B4-BE49-F238E27FC236}">
                <a16:creationId xmlns:a16="http://schemas.microsoft.com/office/drawing/2014/main" id="{C8A41F7B-B60A-4D75-B6BB-45CF8B4BBA6C}"/>
              </a:ext>
            </a:extLst>
          </p:cNvPr>
          <p:cNvSpPr>
            <a:spLocks noGrp="1"/>
          </p:cNvSpPr>
          <p:nvPr>
            <p:ph idx="1"/>
          </p:nvPr>
        </p:nvSpPr>
        <p:spPr/>
        <p:txBody>
          <a:bodyPr>
            <a:normAutofit/>
          </a:bodyPr>
          <a:lstStyle/>
          <a:p>
            <a:pPr algn="just"/>
            <a:r>
              <a:rPr lang="en-US" sz="2400" b="0" i="1" dirty="0">
                <a:solidFill>
                  <a:srgbClr val="273239"/>
                </a:solidFill>
                <a:effectLst/>
                <a:latin typeface="Nunito"/>
              </a:rPr>
              <a:t>Performance measure is the unit to define the success of an agent. Performance varies with agents based on their different precepts.</a:t>
            </a:r>
          </a:p>
          <a:p>
            <a:pPr algn="just" rtl="0" fontAlgn="base"/>
            <a:r>
              <a:rPr lang="en-US" sz="2400" b="0" i="0" dirty="0">
                <a:solidFill>
                  <a:srgbClr val="273239"/>
                </a:solidFill>
                <a:effectLst/>
                <a:latin typeface="Nunito"/>
              </a:rPr>
              <a:t>Performance measure is a quantitative measure that evaluates the outcomes of an agent's actions against a predefined goal. The performance measure is crucial because it guides the agent's decision-making process, ensuring that it acts in a way that maximizes its success.</a:t>
            </a:r>
          </a:p>
          <a:p>
            <a:pPr algn="just" rtl="0" fontAlgn="base"/>
            <a:r>
              <a:rPr lang="en-US" sz="2400" b="0" i="0" dirty="0">
                <a:solidFill>
                  <a:srgbClr val="273239"/>
                </a:solidFill>
                <a:effectLst/>
                <a:latin typeface="Nunito"/>
              </a:rPr>
              <a:t>For example, in a self-driving car, the performance measure could include criteria such as safety (avoiding accidents), efficiency (minimizing travel time), and comfort (ensuring a smooth ride). The car's AI will aim to optimize these factors through its actions.</a:t>
            </a:r>
          </a:p>
          <a:p>
            <a:endParaRPr lang="en-IN" dirty="0"/>
          </a:p>
        </p:txBody>
      </p:sp>
    </p:spTree>
    <p:extLst>
      <p:ext uri="{BB962C8B-B14F-4D97-AF65-F5344CB8AC3E}">
        <p14:creationId xmlns:p14="http://schemas.microsoft.com/office/powerpoint/2010/main" val="16859311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A337-AED7-4A80-8152-633C9633C221}"/>
              </a:ext>
            </a:extLst>
          </p:cNvPr>
          <p:cNvSpPr>
            <a:spLocks noGrp="1"/>
          </p:cNvSpPr>
          <p:nvPr>
            <p:ph type="title"/>
          </p:nvPr>
        </p:nvSpPr>
        <p:spPr>
          <a:xfrm>
            <a:off x="899160" y="66428"/>
            <a:ext cx="10515600" cy="795721"/>
          </a:xfrm>
        </p:spPr>
        <p:txBody>
          <a:bodyPr/>
          <a:lstStyle/>
          <a:p>
            <a:r>
              <a:rPr lang="en-IN" b="1" i="0" dirty="0">
                <a:solidFill>
                  <a:srgbClr val="273239"/>
                </a:solidFill>
                <a:effectLst/>
                <a:latin typeface="Nunito"/>
              </a:rPr>
              <a:t>E: Environment</a:t>
            </a:r>
            <a:endParaRPr lang="en-IN" dirty="0"/>
          </a:p>
        </p:txBody>
      </p:sp>
      <p:sp>
        <p:nvSpPr>
          <p:cNvPr id="3" name="Content Placeholder 2">
            <a:extLst>
              <a:ext uri="{FF2B5EF4-FFF2-40B4-BE49-F238E27FC236}">
                <a16:creationId xmlns:a16="http://schemas.microsoft.com/office/drawing/2014/main" id="{882DAA46-4397-4555-81A6-C21EB21F21F7}"/>
              </a:ext>
            </a:extLst>
          </p:cNvPr>
          <p:cNvSpPr>
            <a:spLocks noGrp="1"/>
          </p:cNvSpPr>
          <p:nvPr>
            <p:ph idx="1"/>
          </p:nvPr>
        </p:nvSpPr>
        <p:spPr>
          <a:xfrm>
            <a:off x="838200" y="783771"/>
            <a:ext cx="10515600" cy="5709103"/>
          </a:xfrm>
        </p:spPr>
        <p:txBody>
          <a:bodyPr>
            <a:normAutofit/>
          </a:bodyPr>
          <a:lstStyle/>
          <a:p>
            <a:r>
              <a:rPr lang="en-US" sz="4400" dirty="0"/>
              <a:t>There are 5 major types of environments: </a:t>
            </a:r>
          </a:p>
          <a:p>
            <a:pPr lvl="1"/>
            <a:r>
              <a:rPr lang="en-US" sz="4400" dirty="0"/>
              <a:t>Fully Observable &amp; Partially Observable</a:t>
            </a:r>
          </a:p>
          <a:p>
            <a:pPr lvl="1"/>
            <a:r>
              <a:rPr lang="en-US" sz="4400" dirty="0"/>
              <a:t>Episodic &amp; Sequential</a:t>
            </a:r>
          </a:p>
          <a:p>
            <a:pPr lvl="1"/>
            <a:r>
              <a:rPr lang="en-US" sz="4400" dirty="0"/>
              <a:t>Static &amp; Dynamic</a:t>
            </a:r>
          </a:p>
          <a:p>
            <a:pPr lvl="1"/>
            <a:r>
              <a:rPr lang="en-US" sz="4400" dirty="0"/>
              <a:t>Discrete &amp; Continuous</a:t>
            </a:r>
          </a:p>
          <a:p>
            <a:pPr lvl="1"/>
            <a:r>
              <a:rPr lang="en-US" sz="4400" dirty="0"/>
              <a:t>Deterministic &amp; Stochastic</a:t>
            </a:r>
          </a:p>
        </p:txBody>
      </p:sp>
    </p:spTree>
    <p:extLst>
      <p:ext uri="{BB962C8B-B14F-4D97-AF65-F5344CB8AC3E}">
        <p14:creationId xmlns:p14="http://schemas.microsoft.com/office/powerpoint/2010/main" val="3117289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C0A95AA-6AFC-1212-B6E3-4674D65D6F77}"/>
              </a:ext>
            </a:extLst>
          </p:cNvPr>
          <p:cNvGraphicFramePr>
            <a:graphicFrameLocks noGrp="1"/>
          </p:cNvGraphicFramePr>
          <p:nvPr>
            <p:ph idx="1"/>
            <p:extLst>
              <p:ext uri="{D42A27DB-BD31-4B8C-83A1-F6EECF244321}">
                <p14:modId xmlns:p14="http://schemas.microsoft.com/office/powerpoint/2010/main" val="2506052390"/>
              </p:ext>
            </p:extLst>
          </p:nvPr>
        </p:nvGraphicFramePr>
        <p:xfrm>
          <a:off x="838200" y="870856"/>
          <a:ext cx="10058400" cy="2499360"/>
        </p:xfrm>
        <a:graphic>
          <a:graphicData uri="http://schemas.openxmlformats.org/drawingml/2006/table">
            <a:tbl>
              <a:tblPr/>
              <a:tblGrid>
                <a:gridCol w="5029200">
                  <a:extLst>
                    <a:ext uri="{9D8B030D-6E8A-4147-A177-3AD203B41FA5}">
                      <a16:colId xmlns:a16="http://schemas.microsoft.com/office/drawing/2014/main" val="1883399545"/>
                    </a:ext>
                  </a:extLst>
                </a:gridCol>
                <a:gridCol w="5029200">
                  <a:extLst>
                    <a:ext uri="{9D8B030D-6E8A-4147-A177-3AD203B41FA5}">
                      <a16:colId xmlns:a16="http://schemas.microsoft.com/office/drawing/2014/main" val="1221244986"/>
                    </a:ext>
                  </a:extLst>
                </a:gridCol>
              </a:tblGrid>
              <a:tr h="0">
                <a:tc>
                  <a:txBody>
                    <a:bodyPr/>
                    <a:lstStyle/>
                    <a:p>
                      <a:pPr>
                        <a:buNone/>
                      </a:pPr>
                      <a:r>
                        <a:rPr lang="en-IN" sz="2800" b="1" dirty="0"/>
                        <a:t>Fully Observable</a:t>
                      </a:r>
                      <a:endParaRPr lang="en-IN" sz="2800" dirty="0"/>
                    </a:p>
                  </a:txBody>
                  <a:tcPr anchor="ctr">
                    <a:lnL>
                      <a:noFill/>
                    </a:lnL>
                    <a:lnR>
                      <a:noFill/>
                    </a:lnR>
                    <a:lnT>
                      <a:noFill/>
                    </a:lnT>
                    <a:lnB>
                      <a:noFill/>
                    </a:lnB>
                    <a:noFill/>
                  </a:tcPr>
                </a:tc>
                <a:tc>
                  <a:txBody>
                    <a:bodyPr/>
                    <a:lstStyle/>
                    <a:p>
                      <a:pPr>
                        <a:buNone/>
                      </a:pPr>
                      <a:r>
                        <a:rPr lang="en-IN" sz="2800" b="1" dirty="0"/>
                        <a:t>Partially Observable</a:t>
                      </a:r>
                      <a:endParaRPr lang="en-IN" sz="2800" dirty="0"/>
                    </a:p>
                  </a:txBody>
                  <a:tcPr anchor="ctr">
                    <a:lnL>
                      <a:noFill/>
                    </a:lnL>
                    <a:lnR>
                      <a:noFill/>
                    </a:lnR>
                    <a:lnT>
                      <a:noFill/>
                    </a:lnT>
                    <a:lnB>
                      <a:noFill/>
                    </a:lnB>
                    <a:noFill/>
                  </a:tcPr>
                </a:tc>
                <a:extLst>
                  <a:ext uri="{0D108BD9-81ED-4DB2-BD59-A6C34878D82A}">
                    <a16:rowId xmlns:a16="http://schemas.microsoft.com/office/drawing/2014/main" val="3611854047"/>
                  </a:ext>
                </a:extLst>
              </a:tr>
              <a:tr h="0">
                <a:tc>
                  <a:txBody>
                    <a:bodyPr/>
                    <a:lstStyle/>
                    <a:p>
                      <a:pPr>
                        <a:buNone/>
                      </a:pPr>
                      <a:r>
                        <a:rPr lang="en-US" sz="2800" dirty="0"/>
                        <a:t>Agent has access to the </a:t>
                      </a:r>
                      <a:r>
                        <a:rPr lang="en-US" sz="2800" b="1" dirty="0"/>
                        <a:t>entire state</a:t>
                      </a:r>
                      <a:r>
                        <a:rPr lang="en-US" sz="2800" dirty="0"/>
                        <a:t> of the environment</a:t>
                      </a:r>
                    </a:p>
                  </a:txBody>
                  <a:tcPr anchor="ctr">
                    <a:lnL>
                      <a:noFill/>
                    </a:lnL>
                    <a:lnR>
                      <a:noFill/>
                    </a:lnR>
                    <a:lnT>
                      <a:noFill/>
                    </a:lnT>
                    <a:lnB>
                      <a:noFill/>
                    </a:lnB>
                    <a:noFill/>
                  </a:tcPr>
                </a:tc>
                <a:tc>
                  <a:txBody>
                    <a:bodyPr/>
                    <a:lstStyle/>
                    <a:p>
                      <a:pPr>
                        <a:buNone/>
                      </a:pPr>
                      <a:r>
                        <a:rPr lang="en-US" sz="2800" dirty="0"/>
                        <a:t>Agent has </a:t>
                      </a:r>
                      <a:r>
                        <a:rPr lang="en-US" sz="2800" b="1" dirty="0"/>
                        <a:t>limited or noisy view</a:t>
                      </a:r>
                      <a:r>
                        <a:rPr lang="en-US" sz="2800" dirty="0"/>
                        <a:t> of the environment</a:t>
                      </a:r>
                    </a:p>
                  </a:txBody>
                  <a:tcPr anchor="ctr">
                    <a:lnL>
                      <a:noFill/>
                    </a:lnL>
                    <a:lnR>
                      <a:noFill/>
                    </a:lnR>
                    <a:lnT>
                      <a:noFill/>
                    </a:lnT>
                    <a:lnB>
                      <a:noFill/>
                    </a:lnB>
                    <a:noFill/>
                  </a:tcPr>
                </a:tc>
                <a:extLst>
                  <a:ext uri="{0D108BD9-81ED-4DB2-BD59-A6C34878D82A}">
                    <a16:rowId xmlns:a16="http://schemas.microsoft.com/office/drawing/2014/main" val="2038357158"/>
                  </a:ext>
                </a:extLst>
              </a:tr>
              <a:tr h="0">
                <a:tc>
                  <a:txBody>
                    <a:bodyPr/>
                    <a:lstStyle/>
                    <a:p>
                      <a:pPr>
                        <a:buNone/>
                      </a:pPr>
                      <a:r>
                        <a:rPr lang="en-IN" sz="2800" dirty="0"/>
                        <a:t>No need for memory</a:t>
                      </a:r>
                    </a:p>
                  </a:txBody>
                  <a:tcPr anchor="ctr">
                    <a:lnL>
                      <a:noFill/>
                    </a:lnL>
                    <a:lnR>
                      <a:noFill/>
                    </a:lnR>
                    <a:lnT>
                      <a:noFill/>
                    </a:lnT>
                    <a:lnB>
                      <a:noFill/>
                    </a:lnB>
                    <a:noFill/>
                  </a:tcPr>
                </a:tc>
                <a:tc>
                  <a:txBody>
                    <a:bodyPr/>
                    <a:lstStyle/>
                    <a:p>
                      <a:pPr>
                        <a:buNone/>
                      </a:pPr>
                      <a:r>
                        <a:rPr lang="en-IN" sz="2800"/>
                        <a:t>Needs memory or inference</a:t>
                      </a:r>
                    </a:p>
                  </a:txBody>
                  <a:tcPr anchor="ctr">
                    <a:lnL>
                      <a:noFill/>
                    </a:lnL>
                    <a:lnR>
                      <a:noFill/>
                    </a:lnR>
                    <a:lnT>
                      <a:noFill/>
                    </a:lnT>
                    <a:lnB>
                      <a:noFill/>
                    </a:lnB>
                    <a:noFill/>
                  </a:tcPr>
                </a:tc>
                <a:extLst>
                  <a:ext uri="{0D108BD9-81ED-4DB2-BD59-A6C34878D82A}">
                    <a16:rowId xmlns:a16="http://schemas.microsoft.com/office/drawing/2014/main" val="1548761763"/>
                  </a:ext>
                </a:extLst>
              </a:tr>
              <a:tr h="0">
                <a:tc>
                  <a:txBody>
                    <a:bodyPr/>
                    <a:lstStyle/>
                    <a:p>
                      <a:pPr>
                        <a:buNone/>
                      </a:pPr>
                      <a:r>
                        <a:rPr lang="en-IN" sz="2800" dirty="0"/>
                        <a:t>Simpler to design agents</a:t>
                      </a:r>
                    </a:p>
                  </a:txBody>
                  <a:tcPr anchor="ctr">
                    <a:lnL>
                      <a:noFill/>
                    </a:lnL>
                    <a:lnR>
                      <a:noFill/>
                    </a:lnR>
                    <a:lnT>
                      <a:noFill/>
                    </a:lnT>
                    <a:lnB>
                      <a:noFill/>
                    </a:lnB>
                    <a:noFill/>
                  </a:tcPr>
                </a:tc>
                <a:tc>
                  <a:txBody>
                    <a:bodyPr/>
                    <a:lstStyle/>
                    <a:p>
                      <a:pPr>
                        <a:buNone/>
                      </a:pPr>
                      <a:r>
                        <a:rPr lang="en-IN" sz="2800" dirty="0"/>
                        <a:t>Complex, needs models</a:t>
                      </a:r>
                    </a:p>
                  </a:txBody>
                  <a:tcPr anchor="ctr">
                    <a:lnL>
                      <a:noFill/>
                    </a:lnL>
                    <a:lnR>
                      <a:noFill/>
                    </a:lnR>
                    <a:lnT>
                      <a:noFill/>
                    </a:lnT>
                    <a:lnB>
                      <a:noFill/>
                    </a:lnB>
                    <a:noFill/>
                  </a:tcPr>
                </a:tc>
                <a:extLst>
                  <a:ext uri="{0D108BD9-81ED-4DB2-BD59-A6C34878D82A}">
                    <a16:rowId xmlns:a16="http://schemas.microsoft.com/office/drawing/2014/main" val="1052654962"/>
                  </a:ext>
                </a:extLst>
              </a:tr>
            </a:tbl>
          </a:graphicData>
        </a:graphic>
      </p:graphicFrame>
      <p:sp>
        <p:nvSpPr>
          <p:cNvPr id="6" name="TextBox 5">
            <a:extLst>
              <a:ext uri="{FF2B5EF4-FFF2-40B4-BE49-F238E27FC236}">
                <a16:creationId xmlns:a16="http://schemas.microsoft.com/office/drawing/2014/main" id="{2FFD38D5-18D6-2077-4DD9-695CC337F508}"/>
              </a:ext>
            </a:extLst>
          </p:cNvPr>
          <p:cNvSpPr txBox="1"/>
          <p:nvPr/>
        </p:nvSpPr>
        <p:spPr>
          <a:xfrm>
            <a:off x="1027611" y="3571241"/>
            <a:ext cx="9353005" cy="1815882"/>
          </a:xfrm>
          <a:prstGeom prst="rect">
            <a:avLst/>
          </a:prstGeom>
          <a:noFill/>
        </p:spPr>
        <p:txBody>
          <a:bodyPr wrap="square">
            <a:spAutoFit/>
          </a:bodyPr>
          <a:lstStyle/>
          <a:p>
            <a:pPr>
              <a:buNone/>
            </a:pPr>
            <a:r>
              <a:rPr lang="en-US" sz="2800" b="1" dirty="0" err="1"/>
              <a:t>xamples</a:t>
            </a:r>
            <a:r>
              <a:rPr lang="en-US" sz="2800" b="1" dirty="0"/>
              <a:t>:</a:t>
            </a:r>
            <a:endParaRPr lang="en-US" sz="2800" dirty="0"/>
          </a:p>
          <a:p>
            <a:pPr>
              <a:buFont typeface="Arial" panose="020B0604020202020204" pitchFamily="34" charset="0"/>
              <a:buChar char="•"/>
            </a:pPr>
            <a:r>
              <a:rPr lang="en-US" sz="2800" dirty="0"/>
              <a:t>🎲 </a:t>
            </a:r>
            <a:r>
              <a:rPr lang="en-US" sz="2800" i="1" dirty="0"/>
              <a:t>Chess Game</a:t>
            </a:r>
            <a:r>
              <a:rPr lang="en-US" sz="2800" dirty="0"/>
              <a:t> (fully observable: board is visible)</a:t>
            </a:r>
          </a:p>
          <a:p>
            <a:pPr>
              <a:buFont typeface="Arial" panose="020B0604020202020204" pitchFamily="34" charset="0"/>
              <a:buChar char="•"/>
            </a:pPr>
            <a:r>
              <a:rPr lang="en-US" sz="2800" dirty="0"/>
              <a:t>🚗 </a:t>
            </a:r>
            <a:r>
              <a:rPr lang="en-US" sz="2800" i="1" dirty="0"/>
              <a:t>Driving in traffic</a:t>
            </a:r>
            <a:r>
              <a:rPr lang="en-US" sz="2800" dirty="0"/>
              <a:t> (partially observable: can't see behind buildings)</a:t>
            </a:r>
          </a:p>
        </p:txBody>
      </p:sp>
    </p:spTree>
    <p:extLst>
      <p:ext uri="{BB962C8B-B14F-4D97-AF65-F5344CB8AC3E}">
        <p14:creationId xmlns:p14="http://schemas.microsoft.com/office/powerpoint/2010/main" val="2060984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0326-A313-BD74-57B9-44A2C6D4355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C24A0BF9-4006-CEC0-E984-2D881CDF50FA}"/>
              </a:ext>
            </a:extLst>
          </p:cNvPr>
          <p:cNvGraphicFramePr>
            <a:graphicFrameLocks noGrp="1"/>
          </p:cNvGraphicFramePr>
          <p:nvPr>
            <p:ph idx="1"/>
            <p:extLst>
              <p:ext uri="{D42A27DB-BD31-4B8C-83A1-F6EECF244321}">
                <p14:modId xmlns:p14="http://schemas.microsoft.com/office/powerpoint/2010/main" val="728773937"/>
              </p:ext>
            </p:extLst>
          </p:nvPr>
        </p:nvGraphicFramePr>
        <p:xfrm>
          <a:off x="838200" y="1208020"/>
          <a:ext cx="10515600" cy="2499360"/>
        </p:xfrm>
        <a:graphic>
          <a:graphicData uri="http://schemas.openxmlformats.org/drawingml/2006/table">
            <a:tbl>
              <a:tblPr/>
              <a:tblGrid>
                <a:gridCol w="5257800">
                  <a:extLst>
                    <a:ext uri="{9D8B030D-6E8A-4147-A177-3AD203B41FA5}">
                      <a16:colId xmlns:a16="http://schemas.microsoft.com/office/drawing/2014/main" val="4153361693"/>
                    </a:ext>
                  </a:extLst>
                </a:gridCol>
                <a:gridCol w="5257800">
                  <a:extLst>
                    <a:ext uri="{9D8B030D-6E8A-4147-A177-3AD203B41FA5}">
                      <a16:colId xmlns:a16="http://schemas.microsoft.com/office/drawing/2014/main" val="499686650"/>
                    </a:ext>
                  </a:extLst>
                </a:gridCol>
              </a:tblGrid>
              <a:tr h="0">
                <a:tc>
                  <a:txBody>
                    <a:bodyPr/>
                    <a:lstStyle/>
                    <a:p>
                      <a:pPr marL="0" algn="l" defTabSz="914400" rtl="0" eaLnBrk="1" latinLnBrk="0" hangingPunct="1">
                        <a:buNone/>
                      </a:pPr>
                      <a:r>
                        <a:rPr lang="en-IN" sz="2800" b="1" kern="1200" dirty="0">
                          <a:solidFill>
                            <a:schemeClr val="tx1"/>
                          </a:solidFill>
                          <a:latin typeface="+mn-lt"/>
                          <a:ea typeface="+mn-ea"/>
                          <a:cs typeface="+mn-cs"/>
                        </a:rPr>
                        <a:t>Episodic</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Sequential</a:t>
                      </a:r>
                    </a:p>
                  </a:txBody>
                  <a:tcPr anchor="ctr">
                    <a:lnL>
                      <a:noFill/>
                    </a:lnL>
                    <a:lnR>
                      <a:noFill/>
                    </a:lnR>
                    <a:lnT>
                      <a:noFill/>
                    </a:lnT>
                    <a:lnB>
                      <a:noFill/>
                    </a:lnB>
                    <a:noFill/>
                  </a:tcPr>
                </a:tc>
                <a:extLst>
                  <a:ext uri="{0D108BD9-81ED-4DB2-BD59-A6C34878D82A}">
                    <a16:rowId xmlns:a16="http://schemas.microsoft.com/office/drawing/2014/main" val="1452974310"/>
                  </a:ext>
                </a:extLst>
              </a:tr>
              <a:tr h="0">
                <a:tc>
                  <a:txBody>
                    <a:bodyPr/>
                    <a:lstStyle/>
                    <a:p>
                      <a:pPr marL="0" algn="l" defTabSz="914400" rtl="0" eaLnBrk="1" latinLnBrk="0" hangingPunct="1">
                        <a:buNone/>
                      </a:pPr>
                      <a:r>
                        <a:rPr lang="en-US" sz="2800" b="1" kern="1200" dirty="0">
                          <a:solidFill>
                            <a:schemeClr val="tx1"/>
                          </a:solidFill>
                          <a:latin typeface="+mn-lt"/>
                          <a:ea typeface="+mn-ea"/>
                          <a:cs typeface="+mn-cs"/>
                        </a:rPr>
                        <a:t>Agent’s experience is divided into independent episodes</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Current decision affects future decisions</a:t>
                      </a:r>
                    </a:p>
                  </a:txBody>
                  <a:tcPr anchor="ctr">
                    <a:lnL>
                      <a:noFill/>
                    </a:lnL>
                    <a:lnR>
                      <a:noFill/>
                    </a:lnR>
                    <a:lnT>
                      <a:noFill/>
                    </a:lnT>
                    <a:lnB>
                      <a:noFill/>
                    </a:lnB>
                    <a:noFill/>
                  </a:tcPr>
                </a:tc>
                <a:extLst>
                  <a:ext uri="{0D108BD9-81ED-4DB2-BD59-A6C34878D82A}">
                    <a16:rowId xmlns:a16="http://schemas.microsoft.com/office/drawing/2014/main" val="3669383597"/>
                  </a:ext>
                </a:extLst>
              </a:tr>
              <a:tr h="0">
                <a:tc>
                  <a:txBody>
                    <a:bodyPr/>
                    <a:lstStyle/>
                    <a:p>
                      <a:pPr marL="0" algn="l" defTabSz="914400" rtl="0" eaLnBrk="1" latinLnBrk="0" hangingPunct="1">
                        <a:buNone/>
                      </a:pPr>
                      <a:r>
                        <a:rPr lang="en-US" sz="2800" b="1" kern="1200" dirty="0">
                          <a:solidFill>
                            <a:schemeClr val="tx1"/>
                          </a:solidFill>
                          <a:latin typeface="+mn-lt"/>
                          <a:ea typeface="+mn-ea"/>
                          <a:cs typeface="+mn-cs"/>
                        </a:rPr>
                        <a:t>No need to remember past</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Needs memory and planning</a:t>
                      </a:r>
                    </a:p>
                  </a:txBody>
                  <a:tcPr anchor="ctr">
                    <a:lnL>
                      <a:noFill/>
                    </a:lnL>
                    <a:lnR>
                      <a:noFill/>
                    </a:lnR>
                    <a:lnT>
                      <a:noFill/>
                    </a:lnT>
                    <a:lnB>
                      <a:noFill/>
                    </a:lnB>
                    <a:noFill/>
                  </a:tcPr>
                </a:tc>
                <a:extLst>
                  <a:ext uri="{0D108BD9-81ED-4DB2-BD59-A6C34878D82A}">
                    <a16:rowId xmlns:a16="http://schemas.microsoft.com/office/drawing/2014/main" val="3296756289"/>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Easier to solve</a:t>
                      </a: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More complex</a:t>
                      </a:r>
                    </a:p>
                  </a:txBody>
                  <a:tcPr anchor="ctr">
                    <a:lnL>
                      <a:noFill/>
                    </a:lnL>
                    <a:lnR>
                      <a:noFill/>
                    </a:lnR>
                    <a:lnT>
                      <a:noFill/>
                    </a:lnT>
                    <a:lnB>
                      <a:noFill/>
                    </a:lnB>
                    <a:noFill/>
                  </a:tcPr>
                </a:tc>
                <a:extLst>
                  <a:ext uri="{0D108BD9-81ED-4DB2-BD59-A6C34878D82A}">
                    <a16:rowId xmlns:a16="http://schemas.microsoft.com/office/drawing/2014/main" val="173234987"/>
                  </a:ext>
                </a:extLst>
              </a:tr>
            </a:tbl>
          </a:graphicData>
        </a:graphic>
      </p:graphicFrame>
      <p:sp>
        <p:nvSpPr>
          <p:cNvPr id="6" name="TextBox 5">
            <a:extLst>
              <a:ext uri="{FF2B5EF4-FFF2-40B4-BE49-F238E27FC236}">
                <a16:creationId xmlns:a16="http://schemas.microsoft.com/office/drawing/2014/main" id="{BDA35CFF-713B-0648-BF75-BCB475708DDA}"/>
              </a:ext>
            </a:extLst>
          </p:cNvPr>
          <p:cNvSpPr txBox="1"/>
          <p:nvPr/>
        </p:nvSpPr>
        <p:spPr>
          <a:xfrm>
            <a:off x="1271452" y="3953580"/>
            <a:ext cx="8943702" cy="1200329"/>
          </a:xfrm>
          <a:prstGeom prst="rect">
            <a:avLst/>
          </a:prstGeom>
          <a:noFill/>
        </p:spPr>
        <p:txBody>
          <a:bodyPr wrap="square">
            <a:spAutoFit/>
          </a:bodyPr>
          <a:lstStyle/>
          <a:p>
            <a:pPr>
              <a:buNone/>
            </a:pPr>
            <a:r>
              <a:rPr lang="en-US" sz="2400" b="1" dirty="0"/>
              <a:t>Examples:</a:t>
            </a:r>
            <a:endParaRPr lang="en-US" sz="2400" dirty="0"/>
          </a:p>
          <a:p>
            <a:pPr>
              <a:buFont typeface="Arial" panose="020B0604020202020204" pitchFamily="34" charset="0"/>
              <a:buChar char="•"/>
            </a:pPr>
            <a:r>
              <a:rPr lang="en-US" sz="2400" dirty="0"/>
              <a:t>📸 </a:t>
            </a:r>
            <a:r>
              <a:rPr lang="en-US" sz="2400" i="1" dirty="0"/>
              <a:t>Image classification</a:t>
            </a:r>
            <a:r>
              <a:rPr lang="en-US" sz="2400" dirty="0"/>
              <a:t> (each image = separate task)</a:t>
            </a:r>
          </a:p>
          <a:p>
            <a:pPr>
              <a:buFont typeface="Arial" panose="020B0604020202020204" pitchFamily="34" charset="0"/>
              <a:buChar char="•"/>
            </a:pPr>
            <a:r>
              <a:rPr lang="en-US" sz="2400" dirty="0"/>
              <a:t>🏎️ </a:t>
            </a:r>
            <a:r>
              <a:rPr lang="en-US" sz="2400" i="1" dirty="0"/>
              <a:t>Self-driving car</a:t>
            </a:r>
            <a:r>
              <a:rPr lang="en-US" sz="2400" dirty="0"/>
              <a:t> (one turn affects the next)</a:t>
            </a:r>
          </a:p>
        </p:txBody>
      </p:sp>
    </p:spTree>
    <p:extLst>
      <p:ext uri="{BB962C8B-B14F-4D97-AF65-F5344CB8AC3E}">
        <p14:creationId xmlns:p14="http://schemas.microsoft.com/office/powerpoint/2010/main" val="3172580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4EDB4-EE5B-ACAC-C694-5BEE74C87D1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3AEA029D-18E6-04F5-075B-648549967636}"/>
              </a:ext>
            </a:extLst>
          </p:cNvPr>
          <p:cNvGraphicFramePr>
            <a:graphicFrameLocks noGrp="1"/>
          </p:cNvGraphicFramePr>
          <p:nvPr>
            <p:ph idx="1"/>
            <p:extLst>
              <p:ext uri="{D42A27DB-BD31-4B8C-83A1-F6EECF244321}">
                <p14:modId xmlns:p14="http://schemas.microsoft.com/office/powerpoint/2010/main" val="3965918657"/>
              </p:ext>
            </p:extLst>
          </p:nvPr>
        </p:nvGraphicFramePr>
        <p:xfrm>
          <a:off x="838200" y="1338648"/>
          <a:ext cx="10515600" cy="2499360"/>
        </p:xfrm>
        <a:graphic>
          <a:graphicData uri="http://schemas.openxmlformats.org/drawingml/2006/table">
            <a:tbl>
              <a:tblPr/>
              <a:tblGrid>
                <a:gridCol w="5257800">
                  <a:extLst>
                    <a:ext uri="{9D8B030D-6E8A-4147-A177-3AD203B41FA5}">
                      <a16:colId xmlns:a16="http://schemas.microsoft.com/office/drawing/2014/main" val="2689728883"/>
                    </a:ext>
                  </a:extLst>
                </a:gridCol>
                <a:gridCol w="5257800">
                  <a:extLst>
                    <a:ext uri="{9D8B030D-6E8A-4147-A177-3AD203B41FA5}">
                      <a16:colId xmlns:a16="http://schemas.microsoft.com/office/drawing/2014/main" val="774820100"/>
                    </a:ext>
                  </a:extLst>
                </a:gridCol>
              </a:tblGrid>
              <a:tr h="0">
                <a:tc>
                  <a:txBody>
                    <a:bodyPr/>
                    <a:lstStyle/>
                    <a:p>
                      <a:pPr marL="0" algn="l" defTabSz="914400" rtl="0" eaLnBrk="1" latinLnBrk="0" hangingPunct="1">
                        <a:buNone/>
                      </a:pPr>
                      <a:r>
                        <a:rPr lang="en-IN" sz="2800" b="1" kern="1200" dirty="0">
                          <a:solidFill>
                            <a:schemeClr val="tx1"/>
                          </a:solidFill>
                          <a:latin typeface="+mn-lt"/>
                          <a:ea typeface="+mn-ea"/>
                          <a:cs typeface="+mn-cs"/>
                        </a:rPr>
                        <a:t>Static</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Dynamic</a:t>
                      </a:r>
                    </a:p>
                  </a:txBody>
                  <a:tcPr anchor="ctr">
                    <a:lnL>
                      <a:noFill/>
                    </a:lnL>
                    <a:lnR>
                      <a:noFill/>
                    </a:lnR>
                    <a:lnT>
                      <a:noFill/>
                    </a:lnT>
                    <a:lnB>
                      <a:noFill/>
                    </a:lnB>
                    <a:noFill/>
                  </a:tcPr>
                </a:tc>
                <a:extLst>
                  <a:ext uri="{0D108BD9-81ED-4DB2-BD59-A6C34878D82A}">
                    <a16:rowId xmlns:a16="http://schemas.microsoft.com/office/drawing/2014/main" val="3677161568"/>
                  </a:ext>
                </a:extLst>
              </a:tr>
              <a:tr h="0">
                <a:tc>
                  <a:txBody>
                    <a:bodyPr/>
                    <a:lstStyle/>
                    <a:p>
                      <a:pPr marL="0" algn="l" defTabSz="914400" rtl="0" eaLnBrk="1" latinLnBrk="0" hangingPunct="1">
                        <a:buNone/>
                      </a:pPr>
                      <a:r>
                        <a:rPr lang="en-US" sz="2800" b="1" kern="1200" dirty="0">
                          <a:solidFill>
                            <a:schemeClr val="tx1"/>
                          </a:solidFill>
                          <a:latin typeface="+mn-lt"/>
                          <a:ea typeface="+mn-ea"/>
                          <a:cs typeface="+mn-cs"/>
                        </a:rPr>
                        <a:t>Environment does not change while the agent is deciding</a:t>
                      </a:r>
                    </a:p>
                  </a:txBody>
                  <a:tcPr anchor="ctr">
                    <a:lnL>
                      <a:noFill/>
                    </a:lnL>
                    <a:lnR>
                      <a:noFill/>
                    </a:lnR>
                    <a:lnT>
                      <a:noFill/>
                    </a:lnT>
                    <a:lnB>
                      <a:noFill/>
                    </a:lnB>
                    <a:noFill/>
                  </a:tcPr>
                </a:tc>
                <a:tc>
                  <a:txBody>
                    <a:bodyPr/>
                    <a:lstStyle/>
                    <a:p>
                      <a:pPr marL="0" algn="l" defTabSz="914400" rtl="0" eaLnBrk="1" latinLnBrk="0" hangingPunct="1">
                        <a:buNone/>
                      </a:pPr>
                      <a:r>
                        <a:rPr lang="en-US" sz="2800" b="1" kern="1200">
                          <a:solidFill>
                            <a:schemeClr val="tx1"/>
                          </a:solidFill>
                          <a:latin typeface="+mn-lt"/>
                          <a:ea typeface="+mn-ea"/>
                          <a:cs typeface="+mn-cs"/>
                        </a:rPr>
                        <a:t>Environment changes over time, even if agent is doing nothing</a:t>
                      </a:r>
                    </a:p>
                  </a:txBody>
                  <a:tcPr anchor="ctr">
                    <a:lnL>
                      <a:noFill/>
                    </a:lnL>
                    <a:lnR>
                      <a:noFill/>
                    </a:lnR>
                    <a:lnT>
                      <a:noFill/>
                    </a:lnT>
                    <a:lnB>
                      <a:noFill/>
                    </a:lnB>
                    <a:noFill/>
                  </a:tcPr>
                </a:tc>
                <a:extLst>
                  <a:ext uri="{0D108BD9-81ED-4DB2-BD59-A6C34878D82A}">
                    <a16:rowId xmlns:a16="http://schemas.microsoft.com/office/drawing/2014/main" val="360997573"/>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Time doesn’t matter much</a:t>
                      </a: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Timing is critical</a:t>
                      </a:r>
                    </a:p>
                  </a:txBody>
                  <a:tcPr anchor="ctr">
                    <a:lnL>
                      <a:noFill/>
                    </a:lnL>
                    <a:lnR>
                      <a:noFill/>
                    </a:lnR>
                    <a:lnT>
                      <a:noFill/>
                    </a:lnT>
                    <a:lnB>
                      <a:noFill/>
                    </a:lnB>
                    <a:noFill/>
                  </a:tcPr>
                </a:tc>
                <a:extLst>
                  <a:ext uri="{0D108BD9-81ED-4DB2-BD59-A6C34878D82A}">
                    <a16:rowId xmlns:a16="http://schemas.microsoft.com/office/drawing/2014/main" val="4209056900"/>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Easy to </a:t>
                      </a:r>
                      <a:r>
                        <a:rPr lang="en-IN" sz="2800" b="1" kern="1200" dirty="0" err="1">
                          <a:solidFill>
                            <a:schemeClr val="tx1"/>
                          </a:solidFill>
                          <a:latin typeface="+mn-lt"/>
                          <a:ea typeface="+mn-ea"/>
                          <a:cs typeface="+mn-cs"/>
                        </a:rPr>
                        <a:t>analyze</a:t>
                      </a:r>
                      <a:endParaRPr lang="en-IN" sz="2800" b="1" kern="1200" dirty="0">
                        <a:solidFill>
                          <a:schemeClr val="tx1"/>
                        </a:solidFill>
                        <a:latin typeface="+mn-lt"/>
                        <a:ea typeface="+mn-ea"/>
                        <a:cs typeface="+mn-cs"/>
                      </a:endParaRP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Harder to predict outcomes</a:t>
                      </a:r>
                    </a:p>
                  </a:txBody>
                  <a:tcPr anchor="ctr">
                    <a:lnL>
                      <a:noFill/>
                    </a:lnL>
                    <a:lnR>
                      <a:noFill/>
                    </a:lnR>
                    <a:lnT>
                      <a:noFill/>
                    </a:lnT>
                    <a:lnB>
                      <a:noFill/>
                    </a:lnB>
                    <a:noFill/>
                  </a:tcPr>
                </a:tc>
                <a:extLst>
                  <a:ext uri="{0D108BD9-81ED-4DB2-BD59-A6C34878D82A}">
                    <a16:rowId xmlns:a16="http://schemas.microsoft.com/office/drawing/2014/main" val="2434634182"/>
                  </a:ext>
                </a:extLst>
              </a:tr>
            </a:tbl>
          </a:graphicData>
        </a:graphic>
      </p:graphicFrame>
      <p:sp>
        <p:nvSpPr>
          <p:cNvPr id="6" name="TextBox 5">
            <a:extLst>
              <a:ext uri="{FF2B5EF4-FFF2-40B4-BE49-F238E27FC236}">
                <a16:creationId xmlns:a16="http://schemas.microsoft.com/office/drawing/2014/main" id="{70562F92-B4A6-46E4-9D82-97F575D34540}"/>
              </a:ext>
            </a:extLst>
          </p:cNvPr>
          <p:cNvSpPr txBox="1"/>
          <p:nvPr/>
        </p:nvSpPr>
        <p:spPr>
          <a:xfrm>
            <a:off x="1375955" y="4101626"/>
            <a:ext cx="7959634" cy="1200329"/>
          </a:xfrm>
          <a:prstGeom prst="rect">
            <a:avLst/>
          </a:prstGeom>
          <a:noFill/>
        </p:spPr>
        <p:txBody>
          <a:bodyPr wrap="square">
            <a:spAutoFit/>
          </a:bodyPr>
          <a:lstStyle/>
          <a:p>
            <a:pPr>
              <a:buNone/>
            </a:pPr>
            <a:r>
              <a:rPr lang="en-IN" sz="2400" b="1" dirty="0"/>
              <a:t>Examples:</a:t>
            </a:r>
            <a:endParaRPr lang="en-IN" sz="2400" dirty="0"/>
          </a:p>
          <a:p>
            <a:pPr>
              <a:buFont typeface="Arial" panose="020B0604020202020204" pitchFamily="34" charset="0"/>
              <a:buChar char="•"/>
            </a:pPr>
            <a:r>
              <a:rPr lang="en-IN" sz="2400" dirty="0"/>
              <a:t>📃 </a:t>
            </a:r>
            <a:r>
              <a:rPr lang="en-IN" sz="2400" i="1" dirty="0"/>
              <a:t>Sudoku puzzle</a:t>
            </a:r>
            <a:r>
              <a:rPr lang="en-IN" sz="2400" dirty="0"/>
              <a:t> (static)</a:t>
            </a:r>
          </a:p>
          <a:p>
            <a:pPr>
              <a:buFont typeface="Arial" panose="020B0604020202020204" pitchFamily="34" charset="0"/>
              <a:buChar char="•"/>
            </a:pPr>
            <a:r>
              <a:rPr lang="en-IN" sz="2400" dirty="0"/>
              <a:t>🎮 </a:t>
            </a:r>
            <a:r>
              <a:rPr lang="en-IN" sz="2400" i="1" dirty="0"/>
              <a:t>Real-time video games</a:t>
            </a:r>
            <a:r>
              <a:rPr lang="en-IN" sz="2400" dirty="0"/>
              <a:t> (dynamic)</a:t>
            </a:r>
          </a:p>
        </p:txBody>
      </p:sp>
    </p:spTree>
    <p:extLst>
      <p:ext uri="{BB962C8B-B14F-4D97-AF65-F5344CB8AC3E}">
        <p14:creationId xmlns:p14="http://schemas.microsoft.com/office/powerpoint/2010/main" val="2205938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2B710-AE19-C62F-2741-27C987E468D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513927D-4F79-CDC6-2F1E-8050697C0B5B}"/>
              </a:ext>
            </a:extLst>
          </p:cNvPr>
          <p:cNvGraphicFramePr>
            <a:graphicFrameLocks noGrp="1"/>
          </p:cNvGraphicFramePr>
          <p:nvPr>
            <p:ph idx="1"/>
            <p:extLst>
              <p:ext uri="{D42A27DB-BD31-4B8C-83A1-F6EECF244321}">
                <p14:modId xmlns:p14="http://schemas.microsoft.com/office/powerpoint/2010/main" val="907297276"/>
              </p:ext>
            </p:extLst>
          </p:nvPr>
        </p:nvGraphicFramePr>
        <p:xfrm>
          <a:off x="838200" y="1136174"/>
          <a:ext cx="10515600" cy="2499360"/>
        </p:xfrm>
        <a:graphic>
          <a:graphicData uri="http://schemas.openxmlformats.org/drawingml/2006/table">
            <a:tbl>
              <a:tblPr/>
              <a:tblGrid>
                <a:gridCol w="5257800">
                  <a:extLst>
                    <a:ext uri="{9D8B030D-6E8A-4147-A177-3AD203B41FA5}">
                      <a16:colId xmlns:a16="http://schemas.microsoft.com/office/drawing/2014/main" val="3689824375"/>
                    </a:ext>
                  </a:extLst>
                </a:gridCol>
                <a:gridCol w="5257800">
                  <a:extLst>
                    <a:ext uri="{9D8B030D-6E8A-4147-A177-3AD203B41FA5}">
                      <a16:colId xmlns:a16="http://schemas.microsoft.com/office/drawing/2014/main" val="1724933061"/>
                    </a:ext>
                  </a:extLst>
                </a:gridCol>
              </a:tblGrid>
              <a:tr h="0">
                <a:tc>
                  <a:txBody>
                    <a:bodyPr/>
                    <a:lstStyle/>
                    <a:p>
                      <a:pPr marL="0" algn="l" defTabSz="914400" rtl="0" eaLnBrk="1" latinLnBrk="0" hangingPunct="1">
                        <a:buNone/>
                      </a:pPr>
                      <a:r>
                        <a:rPr lang="en-IN" sz="2800" b="1" kern="1200" dirty="0">
                          <a:solidFill>
                            <a:schemeClr val="tx1"/>
                          </a:solidFill>
                          <a:latin typeface="+mn-lt"/>
                          <a:ea typeface="+mn-ea"/>
                          <a:cs typeface="+mn-cs"/>
                        </a:rPr>
                        <a:t>Discrete</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Continuous</a:t>
                      </a:r>
                    </a:p>
                  </a:txBody>
                  <a:tcPr anchor="ctr">
                    <a:lnL>
                      <a:noFill/>
                    </a:lnL>
                    <a:lnR>
                      <a:noFill/>
                    </a:lnR>
                    <a:lnT>
                      <a:noFill/>
                    </a:lnT>
                    <a:lnB>
                      <a:noFill/>
                    </a:lnB>
                    <a:noFill/>
                  </a:tcPr>
                </a:tc>
                <a:extLst>
                  <a:ext uri="{0D108BD9-81ED-4DB2-BD59-A6C34878D82A}">
                    <a16:rowId xmlns:a16="http://schemas.microsoft.com/office/drawing/2014/main" val="3236927527"/>
                  </a:ext>
                </a:extLst>
              </a:tr>
              <a:tr h="0">
                <a:tc>
                  <a:txBody>
                    <a:bodyPr/>
                    <a:lstStyle/>
                    <a:p>
                      <a:pPr marL="0" algn="l" defTabSz="914400" rtl="0" eaLnBrk="1" latinLnBrk="0" hangingPunct="1">
                        <a:buNone/>
                      </a:pPr>
                      <a:r>
                        <a:rPr lang="en-US" sz="2800" b="1" kern="1200" dirty="0">
                          <a:solidFill>
                            <a:schemeClr val="tx1"/>
                          </a:solidFill>
                          <a:latin typeface="+mn-lt"/>
                          <a:ea typeface="+mn-ea"/>
                          <a:cs typeface="+mn-cs"/>
                        </a:rPr>
                        <a:t>Limited number of actions/percepts</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Infinite or uncountable actions/percepts</a:t>
                      </a:r>
                    </a:p>
                  </a:txBody>
                  <a:tcPr anchor="ctr">
                    <a:lnL>
                      <a:noFill/>
                    </a:lnL>
                    <a:lnR>
                      <a:noFill/>
                    </a:lnR>
                    <a:lnT>
                      <a:noFill/>
                    </a:lnT>
                    <a:lnB>
                      <a:noFill/>
                    </a:lnB>
                    <a:noFill/>
                  </a:tcPr>
                </a:tc>
                <a:extLst>
                  <a:ext uri="{0D108BD9-81ED-4DB2-BD59-A6C34878D82A}">
                    <a16:rowId xmlns:a16="http://schemas.microsoft.com/office/drawing/2014/main" val="3119104757"/>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Easy to model</a:t>
                      </a: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Needs calculus or approximations</a:t>
                      </a:r>
                    </a:p>
                  </a:txBody>
                  <a:tcPr anchor="ctr">
                    <a:lnL>
                      <a:noFill/>
                    </a:lnL>
                    <a:lnR>
                      <a:noFill/>
                    </a:lnR>
                    <a:lnT>
                      <a:noFill/>
                    </a:lnT>
                    <a:lnB>
                      <a:noFill/>
                    </a:lnB>
                    <a:noFill/>
                  </a:tcPr>
                </a:tc>
                <a:extLst>
                  <a:ext uri="{0D108BD9-81ED-4DB2-BD59-A6C34878D82A}">
                    <a16:rowId xmlns:a16="http://schemas.microsoft.com/office/drawing/2014/main" val="3417805692"/>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Usually symbolic</a:t>
                      </a:r>
                    </a:p>
                  </a:txBody>
                  <a:tcPr anchor="ctr">
                    <a:lnL>
                      <a:noFill/>
                    </a:lnL>
                    <a:lnR>
                      <a:noFill/>
                    </a:lnR>
                    <a:lnT>
                      <a:noFill/>
                    </a:lnT>
                    <a:lnB>
                      <a:noFill/>
                    </a:lnB>
                    <a:noFill/>
                  </a:tcPr>
                </a:tc>
                <a:tc>
                  <a:txBody>
                    <a:bodyPr/>
                    <a:lstStyle/>
                    <a:p>
                      <a:pPr marL="0" algn="l" defTabSz="914400" rtl="0" eaLnBrk="1" latinLnBrk="0" hangingPunct="1">
                        <a:buNone/>
                      </a:pPr>
                      <a:r>
                        <a:rPr lang="en-US" sz="2800" b="1" kern="1200" dirty="0">
                          <a:solidFill>
                            <a:schemeClr val="tx1"/>
                          </a:solidFill>
                          <a:latin typeface="+mn-lt"/>
                          <a:ea typeface="+mn-ea"/>
                          <a:cs typeface="+mn-cs"/>
                        </a:rPr>
                        <a:t>Usually numeric or sensory data</a:t>
                      </a:r>
                    </a:p>
                  </a:txBody>
                  <a:tcPr anchor="ctr">
                    <a:lnL>
                      <a:noFill/>
                    </a:lnL>
                    <a:lnR>
                      <a:noFill/>
                    </a:lnR>
                    <a:lnT>
                      <a:noFill/>
                    </a:lnT>
                    <a:lnB>
                      <a:noFill/>
                    </a:lnB>
                    <a:noFill/>
                  </a:tcPr>
                </a:tc>
                <a:extLst>
                  <a:ext uri="{0D108BD9-81ED-4DB2-BD59-A6C34878D82A}">
                    <a16:rowId xmlns:a16="http://schemas.microsoft.com/office/drawing/2014/main" val="3953753138"/>
                  </a:ext>
                </a:extLst>
              </a:tr>
            </a:tbl>
          </a:graphicData>
        </a:graphic>
      </p:graphicFrame>
      <p:sp>
        <p:nvSpPr>
          <p:cNvPr id="6" name="TextBox 5">
            <a:extLst>
              <a:ext uri="{FF2B5EF4-FFF2-40B4-BE49-F238E27FC236}">
                <a16:creationId xmlns:a16="http://schemas.microsoft.com/office/drawing/2014/main" id="{5E664A25-FD6D-FC74-F3A5-D08757A65C6E}"/>
              </a:ext>
            </a:extLst>
          </p:cNvPr>
          <p:cNvSpPr txBox="1"/>
          <p:nvPr/>
        </p:nvSpPr>
        <p:spPr>
          <a:xfrm>
            <a:off x="1497874" y="3806418"/>
            <a:ext cx="8133805" cy="1569660"/>
          </a:xfrm>
          <a:prstGeom prst="rect">
            <a:avLst/>
          </a:prstGeom>
          <a:noFill/>
        </p:spPr>
        <p:txBody>
          <a:bodyPr wrap="square">
            <a:spAutoFit/>
          </a:bodyPr>
          <a:lstStyle/>
          <a:p>
            <a:pPr>
              <a:buNone/>
            </a:pPr>
            <a:r>
              <a:rPr lang="en-US" sz="2400" b="1" dirty="0"/>
              <a:t>Examples:</a:t>
            </a:r>
            <a:endParaRPr lang="en-US" sz="2400" dirty="0"/>
          </a:p>
          <a:p>
            <a:pPr>
              <a:buFont typeface="Arial" panose="020B0604020202020204" pitchFamily="34" charset="0"/>
              <a:buChar char="•"/>
            </a:pPr>
            <a:r>
              <a:rPr lang="en-US" sz="2400" dirty="0"/>
              <a:t>♟️ </a:t>
            </a:r>
            <a:r>
              <a:rPr lang="en-US" sz="2400" i="1" dirty="0"/>
              <a:t>Chess</a:t>
            </a:r>
            <a:r>
              <a:rPr lang="en-US" sz="2400" dirty="0"/>
              <a:t> (discrete: fixed moves)</a:t>
            </a:r>
          </a:p>
          <a:p>
            <a:pPr>
              <a:buFont typeface="Arial" panose="020B0604020202020204" pitchFamily="34" charset="0"/>
              <a:buChar char="•"/>
            </a:pPr>
            <a:r>
              <a:rPr lang="en-US" sz="2400" dirty="0"/>
              <a:t>🚗 </a:t>
            </a:r>
            <a:r>
              <a:rPr lang="en-US" sz="2400" i="1" dirty="0"/>
              <a:t>Robot Navigation</a:t>
            </a:r>
            <a:r>
              <a:rPr lang="en-US" sz="2400" dirty="0"/>
              <a:t> (continuous: smooth movement, speed, angles)</a:t>
            </a:r>
          </a:p>
        </p:txBody>
      </p:sp>
    </p:spTree>
    <p:extLst>
      <p:ext uri="{BB962C8B-B14F-4D97-AF65-F5344CB8AC3E}">
        <p14:creationId xmlns:p14="http://schemas.microsoft.com/office/powerpoint/2010/main" val="251498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B728A-FCFD-64E6-7027-11747B61BF4C}"/>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86A324EC-0A6C-E060-90AE-8D2553531A86}"/>
              </a:ext>
            </a:extLst>
          </p:cNvPr>
          <p:cNvGraphicFramePr>
            <a:graphicFrameLocks noGrp="1"/>
          </p:cNvGraphicFramePr>
          <p:nvPr>
            <p:ph idx="1"/>
            <p:extLst>
              <p:ext uri="{D42A27DB-BD31-4B8C-83A1-F6EECF244321}">
                <p14:modId xmlns:p14="http://schemas.microsoft.com/office/powerpoint/2010/main" val="2090934320"/>
              </p:ext>
            </p:extLst>
          </p:nvPr>
        </p:nvGraphicFramePr>
        <p:xfrm>
          <a:off x="603069" y="1153591"/>
          <a:ext cx="10515600" cy="2926080"/>
        </p:xfrm>
        <a:graphic>
          <a:graphicData uri="http://schemas.openxmlformats.org/drawingml/2006/table">
            <a:tbl>
              <a:tblPr/>
              <a:tblGrid>
                <a:gridCol w="5257800">
                  <a:extLst>
                    <a:ext uri="{9D8B030D-6E8A-4147-A177-3AD203B41FA5}">
                      <a16:colId xmlns:a16="http://schemas.microsoft.com/office/drawing/2014/main" val="410715271"/>
                    </a:ext>
                  </a:extLst>
                </a:gridCol>
                <a:gridCol w="5257800">
                  <a:extLst>
                    <a:ext uri="{9D8B030D-6E8A-4147-A177-3AD203B41FA5}">
                      <a16:colId xmlns:a16="http://schemas.microsoft.com/office/drawing/2014/main" val="4068925233"/>
                    </a:ext>
                  </a:extLst>
                </a:gridCol>
              </a:tblGrid>
              <a:tr h="0">
                <a:tc>
                  <a:txBody>
                    <a:bodyPr/>
                    <a:lstStyle/>
                    <a:p>
                      <a:pPr marL="0" algn="l" defTabSz="914400" rtl="0" eaLnBrk="1" latinLnBrk="0" hangingPunct="1">
                        <a:buNone/>
                      </a:pPr>
                      <a:r>
                        <a:rPr lang="en-IN" sz="2800" b="1" kern="1200" dirty="0">
                          <a:solidFill>
                            <a:schemeClr val="tx1"/>
                          </a:solidFill>
                          <a:latin typeface="+mn-lt"/>
                          <a:ea typeface="+mn-ea"/>
                          <a:cs typeface="+mn-cs"/>
                        </a:rPr>
                        <a:t>Deterministic</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Stochastic</a:t>
                      </a:r>
                    </a:p>
                  </a:txBody>
                  <a:tcPr anchor="ctr">
                    <a:lnL>
                      <a:noFill/>
                    </a:lnL>
                    <a:lnR>
                      <a:noFill/>
                    </a:lnR>
                    <a:lnT>
                      <a:noFill/>
                    </a:lnT>
                    <a:lnB>
                      <a:noFill/>
                    </a:lnB>
                    <a:noFill/>
                  </a:tcPr>
                </a:tc>
                <a:extLst>
                  <a:ext uri="{0D108BD9-81ED-4DB2-BD59-A6C34878D82A}">
                    <a16:rowId xmlns:a16="http://schemas.microsoft.com/office/drawing/2014/main" val="3262769623"/>
                  </a:ext>
                </a:extLst>
              </a:tr>
              <a:tr h="0">
                <a:tc>
                  <a:txBody>
                    <a:bodyPr/>
                    <a:lstStyle/>
                    <a:p>
                      <a:pPr marL="0" algn="l" defTabSz="914400" rtl="0" eaLnBrk="1" latinLnBrk="0" hangingPunct="1">
                        <a:buNone/>
                      </a:pPr>
                      <a:r>
                        <a:rPr lang="en-US" sz="2800" b="1" kern="1200" dirty="0">
                          <a:solidFill>
                            <a:schemeClr val="tx1"/>
                          </a:solidFill>
                          <a:latin typeface="+mn-lt"/>
                          <a:ea typeface="+mn-ea"/>
                          <a:cs typeface="+mn-cs"/>
                        </a:rPr>
                        <a:t>Next state is completely predictable</a:t>
                      </a:r>
                    </a:p>
                  </a:txBody>
                  <a:tcPr anchor="ctr">
                    <a:lnL>
                      <a:noFill/>
                    </a:lnL>
                    <a:lnR>
                      <a:noFill/>
                    </a:lnR>
                    <a:lnT>
                      <a:noFill/>
                    </a:lnT>
                    <a:lnB>
                      <a:noFill/>
                    </a:lnB>
                    <a:noFill/>
                  </a:tcPr>
                </a:tc>
                <a:tc>
                  <a:txBody>
                    <a:bodyPr/>
                    <a:lstStyle/>
                    <a:p>
                      <a:pPr marL="0" algn="l" defTabSz="914400" rtl="0" eaLnBrk="1" latinLnBrk="0" hangingPunct="1">
                        <a:buNone/>
                      </a:pPr>
                      <a:r>
                        <a:rPr lang="en-IN" sz="2800" b="1" kern="1200">
                          <a:solidFill>
                            <a:schemeClr val="tx1"/>
                          </a:solidFill>
                          <a:latin typeface="+mn-lt"/>
                          <a:ea typeface="+mn-ea"/>
                          <a:cs typeface="+mn-cs"/>
                        </a:rPr>
                        <a:t>Has randomness or uncertainty</a:t>
                      </a:r>
                    </a:p>
                  </a:txBody>
                  <a:tcPr anchor="ctr">
                    <a:lnL>
                      <a:noFill/>
                    </a:lnL>
                    <a:lnR>
                      <a:noFill/>
                    </a:lnR>
                    <a:lnT>
                      <a:noFill/>
                    </a:lnT>
                    <a:lnB>
                      <a:noFill/>
                    </a:lnB>
                    <a:noFill/>
                  </a:tcPr>
                </a:tc>
                <a:extLst>
                  <a:ext uri="{0D108BD9-81ED-4DB2-BD59-A6C34878D82A}">
                    <a16:rowId xmlns:a16="http://schemas.microsoft.com/office/drawing/2014/main" val="1399686099"/>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Same action → same result</a:t>
                      </a: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Same action → different possible outcomes</a:t>
                      </a:r>
                    </a:p>
                  </a:txBody>
                  <a:tcPr anchor="ctr">
                    <a:lnL>
                      <a:noFill/>
                    </a:lnL>
                    <a:lnR>
                      <a:noFill/>
                    </a:lnR>
                    <a:lnT>
                      <a:noFill/>
                    </a:lnT>
                    <a:lnB>
                      <a:noFill/>
                    </a:lnB>
                    <a:noFill/>
                  </a:tcPr>
                </a:tc>
                <a:extLst>
                  <a:ext uri="{0D108BD9-81ED-4DB2-BD59-A6C34878D82A}">
                    <a16:rowId xmlns:a16="http://schemas.microsoft.com/office/drawing/2014/main" val="4229054806"/>
                  </a:ext>
                </a:extLst>
              </a:tr>
              <a:tr h="0">
                <a:tc>
                  <a:txBody>
                    <a:bodyPr/>
                    <a:lstStyle/>
                    <a:p>
                      <a:pPr marL="0" algn="l" defTabSz="914400" rtl="0" eaLnBrk="1" latinLnBrk="0" hangingPunct="1">
                        <a:buNone/>
                      </a:pPr>
                      <a:r>
                        <a:rPr lang="en-IN" sz="2800" b="1" kern="1200" dirty="0">
                          <a:solidFill>
                            <a:schemeClr val="tx1"/>
                          </a:solidFill>
                          <a:latin typeface="+mn-lt"/>
                          <a:ea typeface="+mn-ea"/>
                          <a:cs typeface="+mn-cs"/>
                        </a:rPr>
                        <a:t>Less learning needed</a:t>
                      </a:r>
                    </a:p>
                  </a:txBody>
                  <a:tcPr anchor="ctr">
                    <a:lnL>
                      <a:noFill/>
                    </a:lnL>
                    <a:lnR>
                      <a:noFill/>
                    </a:lnR>
                    <a:lnT>
                      <a:noFill/>
                    </a:lnT>
                    <a:lnB>
                      <a:noFill/>
                    </a:lnB>
                    <a:noFill/>
                  </a:tcPr>
                </a:tc>
                <a:tc>
                  <a:txBody>
                    <a:bodyPr/>
                    <a:lstStyle/>
                    <a:p>
                      <a:pPr marL="0" algn="l" defTabSz="914400" rtl="0" eaLnBrk="1" latinLnBrk="0" hangingPunct="1">
                        <a:buNone/>
                      </a:pPr>
                      <a:r>
                        <a:rPr lang="en-IN" sz="2800" b="1" kern="1200" dirty="0">
                          <a:solidFill>
                            <a:schemeClr val="tx1"/>
                          </a:solidFill>
                          <a:latin typeface="+mn-lt"/>
                          <a:ea typeface="+mn-ea"/>
                          <a:cs typeface="+mn-cs"/>
                        </a:rPr>
                        <a:t>Requires probabilities, learning</a:t>
                      </a:r>
                    </a:p>
                  </a:txBody>
                  <a:tcPr anchor="ctr">
                    <a:lnL>
                      <a:noFill/>
                    </a:lnL>
                    <a:lnR>
                      <a:noFill/>
                    </a:lnR>
                    <a:lnT>
                      <a:noFill/>
                    </a:lnT>
                    <a:lnB>
                      <a:noFill/>
                    </a:lnB>
                    <a:noFill/>
                  </a:tcPr>
                </a:tc>
                <a:extLst>
                  <a:ext uri="{0D108BD9-81ED-4DB2-BD59-A6C34878D82A}">
                    <a16:rowId xmlns:a16="http://schemas.microsoft.com/office/drawing/2014/main" val="4123528215"/>
                  </a:ext>
                </a:extLst>
              </a:tr>
            </a:tbl>
          </a:graphicData>
        </a:graphic>
      </p:graphicFrame>
      <p:sp>
        <p:nvSpPr>
          <p:cNvPr id="6" name="TextBox 5">
            <a:extLst>
              <a:ext uri="{FF2B5EF4-FFF2-40B4-BE49-F238E27FC236}">
                <a16:creationId xmlns:a16="http://schemas.microsoft.com/office/drawing/2014/main" id="{917D928D-036F-DA80-F559-EA0F6D43FF84}"/>
              </a:ext>
            </a:extLst>
          </p:cNvPr>
          <p:cNvSpPr txBox="1"/>
          <p:nvPr/>
        </p:nvSpPr>
        <p:spPr>
          <a:xfrm>
            <a:off x="1358536" y="4415180"/>
            <a:ext cx="9309463" cy="1200329"/>
          </a:xfrm>
          <a:prstGeom prst="rect">
            <a:avLst/>
          </a:prstGeom>
          <a:noFill/>
        </p:spPr>
        <p:txBody>
          <a:bodyPr wrap="square">
            <a:spAutoFit/>
          </a:bodyPr>
          <a:lstStyle/>
          <a:p>
            <a:pPr>
              <a:buNone/>
            </a:pPr>
            <a:r>
              <a:rPr lang="en-US" sz="2400" b="1" dirty="0"/>
              <a:t>Examples:</a:t>
            </a:r>
            <a:endParaRPr lang="en-US" sz="2400" dirty="0"/>
          </a:p>
          <a:p>
            <a:pPr>
              <a:buFont typeface="Arial" panose="020B0604020202020204" pitchFamily="34" charset="0"/>
              <a:buChar char="•"/>
            </a:pPr>
            <a:r>
              <a:rPr lang="en-US" sz="2400" dirty="0"/>
              <a:t>🧮 </a:t>
            </a:r>
            <a:r>
              <a:rPr lang="en-US" sz="2400" i="1" dirty="0"/>
              <a:t>Math solver</a:t>
            </a:r>
            <a:r>
              <a:rPr lang="en-US" sz="2400" dirty="0"/>
              <a:t> (deterministic)</a:t>
            </a:r>
          </a:p>
          <a:p>
            <a:pPr>
              <a:buFont typeface="Arial" panose="020B0604020202020204" pitchFamily="34" charset="0"/>
              <a:buChar char="•"/>
            </a:pPr>
            <a:r>
              <a:rPr lang="en-US" sz="2400" dirty="0"/>
              <a:t>🎲 </a:t>
            </a:r>
            <a:r>
              <a:rPr lang="en-US" sz="2400" i="1" dirty="0"/>
              <a:t>Rolling a die</a:t>
            </a:r>
            <a:r>
              <a:rPr lang="en-US" sz="2400" dirty="0"/>
              <a:t> or </a:t>
            </a:r>
            <a:r>
              <a:rPr lang="en-US" sz="2400" i="1" dirty="0"/>
              <a:t>weather prediction</a:t>
            </a:r>
            <a:r>
              <a:rPr lang="en-US" sz="2400" dirty="0"/>
              <a:t> (stochastic)</a:t>
            </a:r>
          </a:p>
        </p:txBody>
      </p:sp>
    </p:spTree>
    <p:extLst>
      <p:ext uri="{BB962C8B-B14F-4D97-AF65-F5344CB8AC3E}">
        <p14:creationId xmlns:p14="http://schemas.microsoft.com/office/powerpoint/2010/main" val="17703045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A05E-AA74-441F-8AED-88971E36C082}"/>
              </a:ext>
            </a:extLst>
          </p:cNvPr>
          <p:cNvSpPr>
            <a:spLocks noGrp="1"/>
          </p:cNvSpPr>
          <p:nvPr>
            <p:ph type="title"/>
          </p:nvPr>
        </p:nvSpPr>
        <p:spPr/>
        <p:txBody>
          <a:bodyPr/>
          <a:lstStyle/>
          <a:p>
            <a:r>
              <a:rPr lang="en-IN" b="1" i="0" dirty="0">
                <a:solidFill>
                  <a:srgbClr val="273239"/>
                </a:solidFill>
                <a:effectLst/>
                <a:latin typeface="Nunito"/>
              </a:rPr>
              <a:t>A: Actuators</a:t>
            </a:r>
            <a:endParaRPr lang="en-IN" dirty="0"/>
          </a:p>
        </p:txBody>
      </p:sp>
      <p:sp>
        <p:nvSpPr>
          <p:cNvPr id="3" name="Content Placeholder 2">
            <a:extLst>
              <a:ext uri="{FF2B5EF4-FFF2-40B4-BE49-F238E27FC236}">
                <a16:creationId xmlns:a16="http://schemas.microsoft.com/office/drawing/2014/main" id="{16767A4F-820F-4A75-A4CD-1258933EFA40}"/>
              </a:ext>
            </a:extLst>
          </p:cNvPr>
          <p:cNvSpPr>
            <a:spLocks noGrp="1"/>
          </p:cNvSpPr>
          <p:nvPr>
            <p:ph idx="1"/>
          </p:nvPr>
        </p:nvSpPr>
        <p:spPr>
          <a:xfrm>
            <a:off x="838200" y="1542820"/>
            <a:ext cx="10515600" cy="4351338"/>
          </a:xfrm>
        </p:spPr>
        <p:txBody>
          <a:bodyPr>
            <a:normAutofit/>
          </a:bodyPr>
          <a:lstStyle/>
          <a:p>
            <a:r>
              <a:rPr lang="en-US" dirty="0"/>
              <a:t>An actuator is a part of the agent that delivers the output of action to the environment.</a:t>
            </a:r>
          </a:p>
          <a:p>
            <a:r>
              <a:rPr lang="en-US" dirty="0"/>
              <a:t>They are responsible for executing the actions decided by the agent based on its perceptions and decisions. In essence, actuators are the "hands and feet" of the agent, enabling it to carry out tasks.</a:t>
            </a:r>
          </a:p>
          <a:p>
            <a:r>
              <a:rPr lang="en-US" dirty="0"/>
              <a:t>The actuators for a smart thermostat include the heating system, cooling system, and fans, which it controls to adjust the room temperature and maintain the desired comfort level.</a:t>
            </a:r>
          </a:p>
          <a:p>
            <a:r>
              <a:rPr lang="en-US" dirty="0"/>
              <a:t>The design and choice of actuators are crucial because they directly affect the agent's ability to perform its functions in the environment.</a:t>
            </a:r>
            <a:endParaRPr lang="en-IN" dirty="0"/>
          </a:p>
        </p:txBody>
      </p:sp>
    </p:spTree>
    <p:extLst>
      <p:ext uri="{BB962C8B-B14F-4D97-AF65-F5344CB8AC3E}">
        <p14:creationId xmlns:p14="http://schemas.microsoft.com/office/powerpoint/2010/main" val="2851632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C468C-2ABA-4BBC-925C-9ED03A3B762C}"/>
              </a:ext>
            </a:extLst>
          </p:cNvPr>
          <p:cNvSpPr>
            <a:spLocks noGrp="1"/>
          </p:cNvSpPr>
          <p:nvPr>
            <p:ph type="title"/>
          </p:nvPr>
        </p:nvSpPr>
        <p:spPr/>
        <p:txBody>
          <a:bodyPr/>
          <a:lstStyle/>
          <a:p>
            <a:r>
              <a:rPr lang="en-IN" b="1" i="0" dirty="0">
                <a:solidFill>
                  <a:srgbClr val="273239"/>
                </a:solidFill>
                <a:effectLst/>
                <a:latin typeface="Nunito"/>
              </a:rPr>
              <a:t>S: Sensors</a:t>
            </a:r>
            <a:endParaRPr lang="en-IN" dirty="0"/>
          </a:p>
        </p:txBody>
      </p:sp>
      <p:sp>
        <p:nvSpPr>
          <p:cNvPr id="3" name="Content Placeholder 2">
            <a:extLst>
              <a:ext uri="{FF2B5EF4-FFF2-40B4-BE49-F238E27FC236}">
                <a16:creationId xmlns:a16="http://schemas.microsoft.com/office/drawing/2014/main" id="{08BDE35B-4817-4EE5-B199-7BBE4E7E5494}"/>
              </a:ext>
            </a:extLst>
          </p:cNvPr>
          <p:cNvSpPr>
            <a:spLocks noGrp="1"/>
          </p:cNvSpPr>
          <p:nvPr>
            <p:ph idx="1"/>
          </p:nvPr>
        </p:nvSpPr>
        <p:spPr>
          <a:xfrm>
            <a:off x="772212" y="1495685"/>
            <a:ext cx="10794476" cy="4594029"/>
          </a:xfrm>
        </p:spPr>
        <p:txBody>
          <a:bodyPr>
            <a:normAutofit lnSpcReduction="10000"/>
          </a:bodyPr>
          <a:lstStyle/>
          <a:p>
            <a:r>
              <a:rPr lang="en-US" dirty="0"/>
              <a:t>Sensors are the receptive parts of an agent that takes in the input for the agent.</a:t>
            </a:r>
          </a:p>
          <a:p>
            <a:r>
              <a:rPr lang="en-US" dirty="0"/>
              <a:t>Sensors collect data from the environment, which is then processed by the agent to make informed decisions. Sensors are the "eyes and ears" of the agent, providing it with the necessary information to act intelligently.</a:t>
            </a:r>
          </a:p>
          <a:p>
            <a:r>
              <a:rPr lang="en-US" dirty="0"/>
              <a:t>The sensors for a smart thermostat include temperature sensors to measure the current room temperature, humidity sensors to detect moisture levels, and motion sensors to determine if people are present in the house.</a:t>
            </a:r>
          </a:p>
          <a:p>
            <a:r>
              <a:rPr lang="en-US" dirty="0"/>
              <a:t>The quality and variety of sensors used in an AI system greatly influence its ability to perceive and understand its environment.</a:t>
            </a:r>
            <a:endParaRPr lang="en-IN" dirty="0"/>
          </a:p>
        </p:txBody>
      </p:sp>
    </p:spTree>
    <p:extLst>
      <p:ext uri="{BB962C8B-B14F-4D97-AF65-F5344CB8AC3E}">
        <p14:creationId xmlns:p14="http://schemas.microsoft.com/office/powerpoint/2010/main" val="3017911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FF698-9CA3-4852-93E8-711A441180EA}"/>
              </a:ext>
            </a:extLst>
          </p:cNvPr>
          <p:cNvSpPr>
            <a:spLocks noGrp="1"/>
          </p:cNvSpPr>
          <p:nvPr>
            <p:ph type="title"/>
          </p:nvPr>
        </p:nvSpPr>
        <p:spPr/>
        <p:txBody>
          <a:bodyPr/>
          <a:lstStyle/>
          <a:p>
            <a:r>
              <a:rPr lang="en-US" b="1" i="0" dirty="0">
                <a:solidFill>
                  <a:srgbClr val="000000"/>
                </a:solidFill>
                <a:effectLst/>
                <a:latin typeface="Raleway"/>
              </a:rPr>
              <a:t>Examples of PEAS in AI</a:t>
            </a:r>
            <a:endParaRPr lang="en-IN" dirty="0"/>
          </a:p>
        </p:txBody>
      </p:sp>
      <p:sp>
        <p:nvSpPr>
          <p:cNvPr id="3" name="Content Placeholder 2">
            <a:extLst>
              <a:ext uri="{FF2B5EF4-FFF2-40B4-BE49-F238E27FC236}">
                <a16:creationId xmlns:a16="http://schemas.microsoft.com/office/drawing/2014/main" id="{65CF92CE-E6EC-43DE-B54F-BE795BB78141}"/>
              </a:ext>
            </a:extLst>
          </p:cNvPr>
          <p:cNvSpPr>
            <a:spLocks noGrp="1"/>
          </p:cNvSpPr>
          <p:nvPr>
            <p:ph idx="1"/>
          </p:nvPr>
        </p:nvSpPr>
        <p:spPr/>
        <p:txBody>
          <a:bodyPr/>
          <a:lstStyle/>
          <a:p>
            <a:r>
              <a:rPr lang="en-IN" i="0" dirty="0">
                <a:solidFill>
                  <a:srgbClr val="000000"/>
                </a:solidFill>
                <a:effectLst/>
                <a:latin typeface="Raleway"/>
              </a:rPr>
              <a:t>Autonomous Vehicles</a:t>
            </a:r>
          </a:p>
          <a:p>
            <a:r>
              <a:rPr lang="en-IN" i="0" dirty="0">
                <a:solidFill>
                  <a:srgbClr val="000000"/>
                </a:solidFill>
                <a:effectLst/>
                <a:latin typeface="Raleway"/>
              </a:rPr>
              <a:t>Robotic Vacuum </a:t>
            </a:r>
            <a:r>
              <a:rPr lang="en-IN" i="0" dirty="0" err="1">
                <a:solidFill>
                  <a:srgbClr val="000000"/>
                </a:solidFill>
                <a:effectLst/>
                <a:latin typeface="Raleway"/>
              </a:rPr>
              <a:t>Cleanerss</a:t>
            </a:r>
            <a:endParaRPr lang="en-IN" i="0" dirty="0">
              <a:solidFill>
                <a:srgbClr val="000000"/>
              </a:solidFill>
              <a:effectLst/>
              <a:latin typeface="Raleway"/>
            </a:endParaRPr>
          </a:p>
          <a:p>
            <a:r>
              <a:rPr lang="en-IN" i="0" dirty="0">
                <a:solidFill>
                  <a:srgbClr val="000000"/>
                </a:solidFill>
                <a:effectLst/>
                <a:latin typeface="Raleway"/>
              </a:rPr>
              <a:t>Game-Playing AI</a:t>
            </a:r>
          </a:p>
          <a:p>
            <a:endParaRPr lang="en-IN" dirty="0"/>
          </a:p>
        </p:txBody>
      </p:sp>
    </p:spTree>
    <p:extLst>
      <p:ext uri="{BB962C8B-B14F-4D97-AF65-F5344CB8AC3E}">
        <p14:creationId xmlns:p14="http://schemas.microsoft.com/office/powerpoint/2010/main" val="1092290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B752-1F6F-48D7-AA75-178B85C7B388}"/>
              </a:ext>
            </a:extLst>
          </p:cNvPr>
          <p:cNvSpPr>
            <a:spLocks noGrp="1"/>
          </p:cNvSpPr>
          <p:nvPr>
            <p:ph type="title"/>
          </p:nvPr>
        </p:nvSpPr>
        <p:spPr/>
        <p:txBody>
          <a:bodyPr/>
          <a:lstStyle/>
          <a:p>
            <a:r>
              <a:rPr lang="en-US" b="1" i="0" dirty="0">
                <a:solidFill>
                  <a:srgbClr val="273239"/>
                </a:solidFill>
                <a:effectLst/>
                <a:latin typeface="Nunito"/>
              </a:rPr>
              <a:t>Advantages of PEAS in AI</a:t>
            </a:r>
            <a:endParaRPr lang="en-IN" dirty="0"/>
          </a:p>
        </p:txBody>
      </p:sp>
      <p:sp>
        <p:nvSpPr>
          <p:cNvPr id="3" name="Content Placeholder 2">
            <a:extLst>
              <a:ext uri="{FF2B5EF4-FFF2-40B4-BE49-F238E27FC236}">
                <a16:creationId xmlns:a16="http://schemas.microsoft.com/office/drawing/2014/main" id="{3CCE4010-9C6C-41B0-8975-6EDCAC88CC6D}"/>
              </a:ext>
            </a:extLst>
          </p:cNvPr>
          <p:cNvSpPr>
            <a:spLocks noGrp="1"/>
          </p:cNvSpPr>
          <p:nvPr>
            <p:ph idx="1"/>
          </p:nvPr>
        </p:nvSpPr>
        <p:spPr/>
        <p:txBody>
          <a:bodyPr/>
          <a:lstStyle/>
          <a:p>
            <a:pPr algn="l" fontAlgn="base">
              <a:buFont typeface="+mj-lt"/>
              <a:buAutoNum type="arabicPeriod"/>
            </a:pPr>
            <a:r>
              <a:rPr lang="en-US" b="1" i="0" dirty="0">
                <a:solidFill>
                  <a:srgbClr val="273239"/>
                </a:solidFill>
                <a:effectLst/>
                <a:latin typeface="Nunito"/>
              </a:rPr>
              <a:t>Structured Design</a:t>
            </a:r>
            <a:r>
              <a:rPr lang="en-US" b="0" i="0" dirty="0">
                <a:solidFill>
                  <a:srgbClr val="273239"/>
                </a:solidFill>
                <a:effectLst/>
                <a:latin typeface="Nunito"/>
              </a:rPr>
              <a:t>: Provides a clear framework for designing intelligent agents by breaking down their components.</a:t>
            </a:r>
          </a:p>
          <a:p>
            <a:pPr algn="l" fontAlgn="base">
              <a:buFont typeface="+mj-lt"/>
              <a:buAutoNum type="arabicPeriod" startAt="2"/>
            </a:pPr>
            <a:r>
              <a:rPr lang="en-US" b="1" i="0" dirty="0">
                <a:solidFill>
                  <a:srgbClr val="273239"/>
                </a:solidFill>
                <a:effectLst/>
                <a:latin typeface="Nunito"/>
              </a:rPr>
              <a:t>Versatility</a:t>
            </a:r>
            <a:r>
              <a:rPr lang="en-US" b="0" i="0" dirty="0">
                <a:solidFill>
                  <a:srgbClr val="273239"/>
                </a:solidFill>
                <a:effectLst/>
                <a:latin typeface="Nunito"/>
              </a:rPr>
              <a:t>: Applicable to various AI systems, from simple bots to complex autonomous agents.</a:t>
            </a:r>
          </a:p>
          <a:p>
            <a:pPr algn="l" fontAlgn="base">
              <a:buFont typeface="+mj-lt"/>
              <a:buAutoNum type="arabicPeriod" startAt="3"/>
            </a:pPr>
            <a:r>
              <a:rPr lang="en-US" b="1" i="0" dirty="0">
                <a:solidFill>
                  <a:srgbClr val="273239"/>
                </a:solidFill>
                <a:effectLst/>
                <a:latin typeface="Nunito"/>
              </a:rPr>
              <a:t>Goal-Oriented</a:t>
            </a:r>
            <a:r>
              <a:rPr lang="en-US" b="0" i="0" dirty="0">
                <a:solidFill>
                  <a:srgbClr val="273239"/>
                </a:solidFill>
                <a:effectLst/>
                <a:latin typeface="Nunito"/>
              </a:rPr>
              <a:t>: Ensures that agents are designed with specific, measurable objectives, leading to better performance.</a:t>
            </a:r>
          </a:p>
          <a:p>
            <a:pPr algn="l" fontAlgn="base">
              <a:buFont typeface="+mj-lt"/>
              <a:buAutoNum type="arabicPeriod" startAt="4"/>
            </a:pPr>
            <a:r>
              <a:rPr lang="en-US" b="1" i="0" dirty="0">
                <a:solidFill>
                  <a:srgbClr val="273239"/>
                </a:solidFill>
                <a:effectLst/>
                <a:latin typeface="Nunito"/>
              </a:rPr>
              <a:t>Systematic Development</a:t>
            </a:r>
            <a:r>
              <a:rPr lang="en-US" b="0" i="0" dirty="0">
                <a:solidFill>
                  <a:srgbClr val="273239"/>
                </a:solidFill>
                <a:effectLst/>
                <a:latin typeface="Nunito"/>
              </a:rPr>
              <a:t>: Facilitates organized planning and development, making the process more efficient.</a:t>
            </a:r>
          </a:p>
          <a:p>
            <a:endParaRPr lang="en-IN" dirty="0"/>
          </a:p>
        </p:txBody>
      </p:sp>
    </p:spTree>
    <p:extLst>
      <p:ext uri="{BB962C8B-B14F-4D97-AF65-F5344CB8AC3E}">
        <p14:creationId xmlns:p14="http://schemas.microsoft.com/office/powerpoint/2010/main" val="1978999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38B9E-34D9-4A58-88C2-BB72EC3A6E7F}"/>
              </a:ext>
            </a:extLst>
          </p:cNvPr>
          <p:cNvSpPr>
            <a:spLocks noGrp="1"/>
          </p:cNvSpPr>
          <p:nvPr>
            <p:ph type="title"/>
          </p:nvPr>
        </p:nvSpPr>
        <p:spPr/>
        <p:txBody>
          <a:bodyPr/>
          <a:lstStyle/>
          <a:p>
            <a:r>
              <a:rPr lang="en-US" b="1" i="0" dirty="0">
                <a:solidFill>
                  <a:srgbClr val="273239"/>
                </a:solidFill>
                <a:effectLst/>
                <a:latin typeface="Nunito"/>
              </a:rPr>
              <a:t>Disadvantages of PEAS in AI</a:t>
            </a:r>
            <a:endParaRPr lang="en-IN" dirty="0"/>
          </a:p>
        </p:txBody>
      </p:sp>
      <p:sp>
        <p:nvSpPr>
          <p:cNvPr id="3" name="Content Placeholder 2">
            <a:extLst>
              <a:ext uri="{FF2B5EF4-FFF2-40B4-BE49-F238E27FC236}">
                <a16:creationId xmlns:a16="http://schemas.microsoft.com/office/drawing/2014/main" id="{921D8A53-B14D-4019-A8D7-8A3B33E16846}"/>
              </a:ext>
            </a:extLst>
          </p:cNvPr>
          <p:cNvSpPr>
            <a:spLocks noGrp="1"/>
          </p:cNvSpPr>
          <p:nvPr>
            <p:ph idx="1"/>
          </p:nvPr>
        </p:nvSpPr>
        <p:spPr>
          <a:xfrm>
            <a:off x="838200" y="1690688"/>
            <a:ext cx="10515600" cy="4351338"/>
          </a:xfrm>
        </p:spPr>
        <p:txBody>
          <a:bodyPr/>
          <a:lstStyle/>
          <a:p>
            <a:pPr algn="l" fontAlgn="base">
              <a:buFont typeface="+mj-lt"/>
              <a:buAutoNum type="arabicPeriod"/>
            </a:pPr>
            <a:r>
              <a:rPr lang="en-US" b="1" i="0" dirty="0">
                <a:solidFill>
                  <a:srgbClr val="273239"/>
                </a:solidFill>
                <a:effectLst/>
                <a:latin typeface="Nunito"/>
              </a:rPr>
              <a:t>Complexity</a:t>
            </a:r>
            <a:r>
              <a:rPr lang="en-US" b="0" i="0" dirty="0">
                <a:solidFill>
                  <a:srgbClr val="273239"/>
                </a:solidFill>
                <a:effectLst/>
                <a:latin typeface="Nunito"/>
              </a:rPr>
              <a:t>: Can be complex to implement in dynamic environments with many variables.</a:t>
            </a:r>
          </a:p>
          <a:p>
            <a:pPr algn="l" fontAlgn="base">
              <a:buFont typeface="+mj-lt"/>
              <a:buAutoNum type="arabicPeriod" startAt="2"/>
            </a:pPr>
            <a:r>
              <a:rPr lang="en-US" b="1" i="0" dirty="0">
                <a:solidFill>
                  <a:srgbClr val="273239"/>
                </a:solidFill>
                <a:effectLst/>
                <a:latin typeface="Nunito"/>
              </a:rPr>
              <a:t>Over-Simplification</a:t>
            </a:r>
            <a:r>
              <a:rPr lang="en-US" b="0" i="0" dirty="0">
                <a:solidFill>
                  <a:srgbClr val="273239"/>
                </a:solidFill>
                <a:effectLst/>
                <a:latin typeface="Nunito"/>
              </a:rPr>
              <a:t>: Might oversimplify real-world scenarios, leading to gaps in agent behavior.</a:t>
            </a:r>
          </a:p>
          <a:p>
            <a:pPr algn="l" fontAlgn="base">
              <a:buFont typeface="+mj-lt"/>
              <a:buAutoNum type="arabicPeriod" startAt="3"/>
            </a:pPr>
            <a:r>
              <a:rPr lang="en-US" b="1" i="0" dirty="0">
                <a:solidFill>
                  <a:srgbClr val="273239"/>
                </a:solidFill>
                <a:effectLst/>
                <a:latin typeface="Nunito"/>
              </a:rPr>
              <a:t>Resource-Intensive</a:t>
            </a:r>
            <a:r>
              <a:rPr lang="en-US" b="0" i="0" dirty="0">
                <a:solidFill>
                  <a:srgbClr val="273239"/>
                </a:solidFill>
                <a:effectLst/>
                <a:latin typeface="Nunito"/>
              </a:rPr>
              <a:t>: Requires significant resources to accurately define and implement each PEAS component.</a:t>
            </a:r>
          </a:p>
          <a:p>
            <a:pPr algn="l" fontAlgn="base">
              <a:buFont typeface="+mj-lt"/>
              <a:buAutoNum type="arabicPeriod" startAt="4"/>
            </a:pPr>
            <a:r>
              <a:rPr lang="en-US" b="1" i="0" dirty="0">
                <a:solidFill>
                  <a:srgbClr val="273239"/>
                </a:solidFill>
                <a:effectLst/>
                <a:latin typeface="Nunito"/>
              </a:rPr>
              <a:t>Limited Adaptability</a:t>
            </a:r>
            <a:r>
              <a:rPr lang="en-US" b="0" i="0" dirty="0">
                <a:solidFill>
                  <a:srgbClr val="273239"/>
                </a:solidFill>
                <a:effectLst/>
                <a:latin typeface="Nunito"/>
              </a:rPr>
              <a:t>: May struggle to adapt to unexpected changes if not designed with enough flexibility.</a:t>
            </a:r>
          </a:p>
          <a:p>
            <a:endParaRPr lang="en-IN" dirty="0"/>
          </a:p>
        </p:txBody>
      </p:sp>
    </p:spTree>
    <p:extLst>
      <p:ext uri="{BB962C8B-B14F-4D97-AF65-F5344CB8AC3E}">
        <p14:creationId xmlns:p14="http://schemas.microsoft.com/office/powerpoint/2010/main" val="2171870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5127-09A9-410E-534F-B446A674FF8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C4568D3-057E-590B-0AF5-5F9D9044DBB2}"/>
              </a:ext>
            </a:extLst>
          </p:cNvPr>
          <p:cNvGraphicFramePr>
            <a:graphicFrameLocks noGrp="1"/>
          </p:cNvGraphicFramePr>
          <p:nvPr>
            <p:ph idx="1"/>
          </p:nvPr>
        </p:nvGraphicFramePr>
        <p:xfrm>
          <a:off x="838200" y="2434114"/>
          <a:ext cx="10515600" cy="3134360"/>
        </p:xfrm>
        <a:graphic>
          <a:graphicData uri="http://schemas.openxmlformats.org/drawingml/2006/table">
            <a:tbl>
              <a:tblPr/>
              <a:tblGrid>
                <a:gridCol w="2103120">
                  <a:extLst>
                    <a:ext uri="{9D8B030D-6E8A-4147-A177-3AD203B41FA5}">
                      <a16:colId xmlns:a16="http://schemas.microsoft.com/office/drawing/2014/main" val="901308922"/>
                    </a:ext>
                  </a:extLst>
                </a:gridCol>
                <a:gridCol w="2103120">
                  <a:extLst>
                    <a:ext uri="{9D8B030D-6E8A-4147-A177-3AD203B41FA5}">
                      <a16:colId xmlns:a16="http://schemas.microsoft.com/office/drawing/2014/main" val="776157403"/>
                    </a:ext>
                  </a:extLst>
                </a:gridCol>
                <a:gridCol w="2103120">
                  <a:extLst>
                    <a:ext uri="{9D8B030D-6E8A-4147-A177-3AD203B41FA5}">
                      <a16:colId xmlns:a16="http://schemas.microsoft.com/office/drawing/2014/main" val="890183278"/>
                    </a:ext>
                  </a:extLst>
                </a:gridCol>
                <a:gridCol w="2103120">
                  <a:extLst>
                    <a:ext uri="{9D8B030D-6E8A-4147-A177-3AD203B41FA5}">
                      <a16:colId xmlns:a16="http://schemas.microsoft.com/office/drawing/2014/main" val="1577689031"/>
                    </a:ext>
                  </a:extLst>
                </a:gridCol>
                <a:gridCol w="2103120">
                  <a:extLst>
                    <a:ext uri="{9D8B030D-6E8A-4147-A177-3AD203B41FA5}">
                      <a16:colId xmlns:a16="http://schemas.microsoft.com/office/drawing/2014/main" val="3410824873"/>
                    </a:ext>
                  </a:extLst>
                </a:gridCol>
              </a:tblGrid>
              <a:tr h="0">
                <a:tc>
                  <a:txBody>
                    <a:bodyPr/>
                    <a:lstStyle/>
                    <a:p>
                      <a:pPr algn="ctr" fontAlgn="base">
                        <a:buNone/>
                      </a:pPr>
                      <a:r>
                        <a:rPr lang="en-IN" sz="1400" b="1">
                          <a:effectLst/>
                        </a:rPr>
                        <a:t>Agent</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IN" sz="1400" b="1">
                          <a:effectLst/>
                        </a:rPr>
                        <a:t>Performance Measure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IN" sz="1400" b="1">
                          <a:effectLst/>
                        </a:rPr>
                        <a:t>Environment</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IN" sz="1400" b="1">
                          <a:effectLst/>
                        </a:rPr>
                        <a:t>Actuator</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IN" sz="1400" b="1">
                          <a:effectLst/>
                        </a:rPr>
                        <a:t>Sensor</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398477770"/>
                  </a:ext>
                </a:extLst>
              </a:tr>
              <a:tr h="0">
                <a:tc>
                  <a:txBody>
                    <a:bodyPr/>
                    <a:lstStyle/>
                    <a:p>
                      <a:pPr algn="ctr" fontAlgn="ctr">
                        <a:buNone/>
                      </a:pPr>
                      <a:r>
                        <a:rPr lang="en-IN" sz="1250" b="0">
                          <a:effectLst/>
                        </a:rPr>
                        <a:t>Hospital Management System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Patient's health, Admission process, Payment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Hospital, Doctors, Patients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Prescription, Diagnosis, Scan report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Symptoms, Patient's response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33212464"/>
                  </a:ext>
                </a:extLst>
              </a:tr>
              <a:tr h="0">
                <a:tc>
                  <a:txBody>
                    <a:bodyPr/>
                    <a:lstStyle/>
                    <a:p>
                      <a:pPr algn="ctr" fontAlgn="ctr">
                        <a:buNone/>
                      </a:pPr>
                      <a:r>
                        <a:rPr lang="en-IN" sz="1250" b="0">
                          <a:effectLst/>
                        </a:rPr>
                        <a:t>Automated Car Drive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The comfortable trip, Safety, Maximum Distance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Roads, Traffic, Vehicles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Steering wheel, Accelerator, Brake, Mirror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Camera, GPS, Odometer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99244472"/>
                  </a:ext>
                </a:extLst>
              </a:tr>
              <a:tr h="0">
                <a:tc>
                  <a:txBody>
                    <a:bodyPr/>
                    <a:lstStyle/>
                    <a:p>
                      <a:pPr algn="ctr" fontAlgn="ctr">
                        <a:buNone/>
                      </a:pPr>
                      <a:r>
                        <a:rPr lang="en-IN" sz="1250" b="0">
                          <a:effectLst/>
                        </a:rPr>
                        <a:t>Subject Tutoring</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Maximize scores, Improvement is students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Classroom, Desk, Chair, Board, Staff, Students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Smart displays, Corrections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Eyes, Ears, Notebooks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66407693"/>
                  </a:ext>
                </a:extLst>
              </a:tr>
              <a:tr h="0">
                <a:tc>
                  <a:txBody>
                    <a:bodyPr/>
                    <a:lstStyle/>
                    <a:p>
                      <a:pPr algn="ctr" fontAlgn="ctr">
                        <a:buNone/>
                      </a:pPr>
                      <a:r>
                        <a:rPr lang="en-IN" sz="1250" b="0">
                          <a:effectLst/>
                        </a:rPr>
                        <a:t>Part-picking robot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Percentage of parts in correct bins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Conveyor belt with parts; bins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Jointed arms and hand</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Camera, joint angle sensors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40131281"/>
                  </a:ext>
                </a:extLst>
              </a:tr>
              <a:tr h="0">
                <a:tc>
                  <a:txBody>
                    <a:bodyPr/>
                    <a:lstStyle/>
                    <a:p>
                      <a:pPr algn="ctr" fontAlgn="ctr">
                        <a:buNone/>
                      </a:pPr>
                      <a:r>
                        <a:rPr lang="en-IN" sz="1250" b="0">
                          <a:effectLst/>
                        </a:rPr>
                        <a:t>Satellite image analysis system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Correct image categorization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Downlink from orbiting satellite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a:effectLst/>
                        </a:rPr>
                        <a:t>Display categorization of scene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IN" sz="1250" b="0" dirty="0" err="1">
                          <a:effectLst/>
                        </a:rPr>
                        <a:t>Color</a:t>
                      </a:r>
                      <a:r>
                        <a:rPr lang="en-IN" sz="1250" b="0" dirty="0">
                          <a:effectLst/>
                        </a:rPr>
                        <a:t> pixel arrays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51639993"/>
                  </a:ext>
                </a:extLst>
              </a:tr>
            </a:tbl>
          </a:graphicData>
        </a:graphic>
      </p:graphicFrame>
    </p:spTree>
    <p:extLst>
      <p:ext uri="{BB962C8B-B14F-4D97-AF65-F5344CB8AC3E}">
        <p14:creationId xmlns:p14="http://schemas.microsoft.com/office/powerpoint/2010/main" val="33010888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1402</TotalTime>
  <Words>2596</Words>
  <Application>Microsoft Office PowerPoint</Application>
  <PresentationFormat>Widescreen</PresentationFormat>
  <Paragraphs>339</Paragraphs>
  <Slides>43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Calibri Light</vt:lpstr>
      <vt:lpstr>Gill Sans MT</vt:lpstr>
      <vt:lpstr>Gill Sans MT (Body)</vt:lpstr>
      <vt:lpstr>Nunito</vt:lpstr>
      <vt:lpstr>Raleway</vt:lpstr>
      <vt:lpstr>Times New Roman</vt:lpstr>
      <vt:lpstr>Office Theme</vt:lpstr>
      <vt:lpstr>PowerPoint Presentation</vt:lpstr>
      <vt:lpstr> Agent</vt:lpstr>
      <vt:lpstr> Agent</vt:lpstr>
      <vt:lpstr>Agents</vt:lpstr>
      <vt:lpstr>PowerPoint Presentation</vt:lpstr>
      <vt:lpstr>Agent Terminologies</vt:lpstr>
      <vt:lpstr>Agent function</vt:lpstr>
      <vt:lpstr>PowerPoint Presentation</vt:lpstr>
      <vt:lpstr>PowerPoint Presentation</vt:lpstr>
      <vt:lpstr> Intelligent Agent</vt:lpstr>
      <vt:lpstr>PowerPoint Presentation</vt:lpstr>
      <vt:lpstr>PowerPoint Presentation</vt:lpstr>
      <vt:lpstr>Intelligent Agent</vt:lpstr>
      <vt:lpstr>Rational agent</vt:lpstr>
      <vt:lpstr>Vaccum cleaner agent</vt:lpstr>
      <vt:lpstr>Vaccum cleaner agent</vt:lpstr>
      <vt:lpstr>Agent types</vt:lpstr>
      <vt:lpstr>Example:  vaccum-agent</vt:lpstr>
      <vt:lpstr>Simple reflex agents</vt:lpstr>
      <vt:lpstr>Simple reflex agents</vt:lpstr>
      <vt:lpstr>Simple reflex agents</vt:lpstr>
      <vt:lpstr>Model-based reflex agents</vt:lpstr>
      <vt:lpstr>Model-based reflex agents</vt:lpstr>
      <vt:lpstr>Goal-driven agents</vt:lpstr>
      <vt:lpstr>PowerPoint Presentation</vt:lpstr>
      <vt:lpstr>PowerPoint Presentation</vt:lpstr>
      <vt:lpstr>PowerPoint Presentation</vt:lpstr>
      <vt:lpstr>Learning agents</vt:lpstr>
      <vt:lpstr>PowerPoint Presentation</vt:lpstr>
      <vt:lpstr>PEAS Representation in AI</vt:lpstr>
      <vt:lpstr>P: Performance Measure</vt:lpstr>
      <vt:lpstr>E: Environment</vt:lpstr>
      <vt:lpstr>PowerPoint Presentation</vt:lpstr>
      <vt:lpstr>PowerPoint Presentation</vt:lpstr>
      <vt:lpstr>PowerPoint Presentation</vt:lpstr>
      <vt:lpstr>PowerPoint Presentation</vt:lpstr>
      <vt:lpstr>PowerPoint Presentation</vt:lpstr>
      <vt:lpstr>A: Actuators</vt:lpstr>
      <vt:lpstr>S: Sensors</vt:lpstr>
      <vt:lpstr>Examples of PEAS in AI</vt:lpstr>
      <vt:lpstr>Advantages of PEAS in AI</vt:lpstr>
      <vt:lpstr>Disadvantages of PEAS in AI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P Manika Prasuna</cp:lastModifiedBy>
  <cp:revision>23</cp:revision>
  <dcterms:created xsi:type="dcterms:W3CDTF">2025-05-12T05:57:37Z</dcterms:created>
  <dcterms:modified xsi:type="dcterms:W3CDTF">2025-08-18T07:50:34Z</dcterms:modified>
</cp:coreProperties>
</file>