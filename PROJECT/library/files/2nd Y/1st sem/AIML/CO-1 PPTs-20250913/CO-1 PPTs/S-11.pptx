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56" r:id="rId3"/>
    <p:sldId id="257" r:id="rId4"/>
    <p:sldId id="258" r:id="rId5"/>
    <p:sldId id="259" r:id="rId6"/>
    <p:sldId id="273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3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CF674-8B13-461D-8194-7DA1354BCB29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6868B-4366-4D54-86E3-EB74796ECCE6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 descr="KL University - Wikipedia">
            <a:extLst>
              <a:ext uri="{FF2B5EF4-FFF2-40B4-BE49-F238E27FC236}">
                <a16:creationId xmlns:a16="http://schemas.microsoft.com/office/drawing/2014/main" id="{F7306417-10B8-10CD-D1EC-D26B22372D3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0"/>
            <a:ext cx="1707286" cy="860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0776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CF674-8B13-461D-8194-7DA1354BCB29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6868B-4366-4D54-86E3-EB74796ECCE6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 descr="KL University - Wikipedia">
            <a:extLst>
              <a:ext uri="{FF2B5EF4-FFF2-40B4-BE49-F238E27FC236}">
                <a16:creationId xmlns:a16="http://schemas.microsoft.com/office/drawing/2014/main" id="{5C9AC99A-4661-BFD4-BEA7-54DDFD8A16E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0"/>
            <a:ext cx="1707286" cy="860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1821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CF674-8B13-461D-8194-7DA1354BCB29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6868B-4366-4D54-86E3-EB74796ECCE6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 descr="KL University - Wikipedia">
            <a:extLst>
              <a:ext uri="{FF2B5EF4-FFF2-40B4-BE49-F238E27FC236}">
                <a16:creationId xmlns:a16="http://schemas.microsoft.com/office/drawing/2014/main" id="{A8C81B3A-86A4-4FD4-FAA1-DD16F863F2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0"/>
            <a:ext cx="1707286" cy="860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5260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CF674-8B13-461D-8194-7DA1354BCB29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6868B-4366-4D54-86E3-EB74796ECCE6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 descr="KL University - Wikipedia">
            <a:extLst>
              <a:ext uri="{FF2B5EF4-FFF2-40B4-BE49-F238E27FC236}">
                <a16:creationId xmlns:a16="http://schemas.microsoft.com/office/drawing/2014/main" id="{EA28492C-4D42-A8B6-F86A-7BF51BF23EF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0"/>
            <a:ext cx="1707286" cy="860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1972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CF674-8B13-461D-8194-7DA1354BCB29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6868B-4366-4D54-86E3-EB74796ECCE6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2" descr="KL University - Wikipedia">
            <a:extLst>
              <a:ext uri="{FF2B5EF4-FFF2-40B4-BE49-F238E27FC236}">
                <a16:creationId xmlns:a16="http://schemas.microsoft.com/office/drawing/2014/main" id="{70B6582A-1D52-BCF7-CDAC-2C12E87F99B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0"/>
            <a:ext cx="1707286" cy="860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0206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CF674-8B13-461D-8194-7DA1354BCB29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6868B-4366-4D54-86E3-EB74796ECCE6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2" descr="KL University - Wikipedia">
            <a:extLst>
              <a:ext uri="{FF2B5EF4-FFF2-40B4-BE49-F238E27FC236}">
                <a16:creationId xmlns:a16="http://schemas.microsoft.com/office/drawing/2014/main" id="{2F47370A-AB21-9DD2-BDAB-3471003518A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0"/>
            <a:ext cx="1707286" cy="860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3302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CF674-8B13-461D-8194-7DA1354BCB29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6868B-4366-4D54-86E3-EB74796ECCE6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2" descr="KL University - Wikipedia">
            <a:extLst>
              <a:ext uri="{FF2B5EF4-FFF2-40B4-BE49-F238E27FC236}">
                <a16:creationId xmlns:a16="http://schemas.microsoft.com/office/drawing/2014/main" id="{E617EE0A-F537-848E-A2E0-C4B65C328B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0"/>
            <a:ext cx="1707286" cy="860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8078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CF674-8B13-461D-8194-7DA1354BCB29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6868B-4366-4D54-86E3-EB74796ECCE6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 descr="KL University - Wikipedia">
            <a:extLst>
              <a:ext uri="{FF2B5EF4-FFF2-40B4-BE49-F238E27FC236}">
                <a16:creationId xmlns:a16="http://schemas.microsoft.com/office/drawing/2014/main" id="{CCA7C4FF-DF05-35EC-FF5C-BE5C3CF93E9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0"/>
            <a:ext cx="1707286" cy="860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2716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CF674-8B13-461D-8194-7DA1354BCB29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6868B-4366-4D54-86E3-EB74796ECCE6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 descr="KL University - Wikipedia">
            <a:extLst>
              <a:ext uri="{FF2B5EF4-FFF2-40B4-BE49-F238E27FC236}">
                <a16:creationId xmlns:a16="http://schemas.microsoft.com/office/drawing/2014/main" id="{388E3BE9-151B-E7A8-F891-0DAD4C667E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0"/>
            <a:ext cx="1707286" cy="860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9453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CF674-8B13-461D-8194-7DA1354BCB29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6868B-4366-4D54-86E3-EB74796ECCE6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 descr="KL University - Wikipedia">
            <a:extLst>
              <a:ext uri="{FF2B5EF4-FFF2-40B4-BE49-F238E27FC236}">
                <a16:creationId xmlns:a16="http://schemas.microsoft.com/office/drawing/2014/main" id="{9AB71A13-3C59-CFF1-B17B-B751A230FD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0"/>
            <a:ext cx="1707286" cy="860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9350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CF674-8B13-461D-8194-7DA1354BCB29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6868B-4366-4D54-86E3-EB74796EC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034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4CF674-8B13-461D-8194-7DA1354BCB29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6868B-4366-4D54-86E3-EB74796EC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885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348" y="0"/>
            <a:ext cx="1707286" cy="860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3F2F65-8282-9C7E-CEBC-B3FCF09DF9DC}"/>
              </a:ext>
            </a:extLst>
          </p:cNvPr>
          <p:cNvSpPr txBox="1"/>
          <p:nvPr/>
        </p:nvSpPr>
        <p:spPr>
          <a:xfrm>
            <a:off x="1267097" y="1288145"/>
            <a:ext cx="965780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  <a:t>ARTIFICIAL INTELLIGENCE </a:t>
            </a:r>
            <a:b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</a:br>
            <a: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  <a:t>&amp; </a:t>
            </a:r>
            <a:b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</a:br>
            <a:r>
              <a:rPr kumimoji="0" lang="en-US" sz="4000" b="1" i="0" u="none" strike="noStrike" kern="1200" cap="all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Gill Sans MT"/>
                <a:ea typeface="+mj-ea"/>
                <a:cs typeface="+mj-cs"/>
              </a:rPr>
              <a:t>MACHINE LEARNING</a:t>
            </a:r>
            <a:endParaRPr lang="en-IN" sz="40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010671-249C-340E-19B5-2BA72FEB1F0C}"/>
              </a:ext>
            </a:extLst>
          </p:cNvPr>
          <p:cNvSpPr txBox="1"/>
          <p:nvPr/>
        </p:nvSpPr>
        <p:spPr>
          <a:xfrm>
            <a:off x="1267097" y="3621975"/>
            <a:ext cx="965780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3000" b="1" i="0" u="none" strike="noStrike" kern="1200" cap="all" spc="0" normalizeH="0" baseline="0" noProof="0" dirty="0">
                <a:ln>
                  <a:noFill/>
                </a:ln>
                <a:effectLst/>
                <a:uLnTx/>
                <a:uFillTx/>
                <a:latin typeface="Gill Sans MT"/>
                <a:ea typeface="+mj-ea"/>
                <a:cs typeface="+mj-cs"/>
              </a:rPr>
              <a:t>Lab SESSION NO : 11</a:t>
            </a:r>
            <a:endParaRPr lang="en-US" sz="3000" b="1" cap="all" dirty="0">
              <a:latin typeface="Gill Sans MT"/>
              <a:ea typeface="+mj-ea"/>
              <a:cs typeface="+mj-cs"/>
            </a:endParaRPr>
          </a:p>
          <a:p>
            <a:pPr algn="ctr"/>
            <a:r>
              <a:rPr lang="en-US" sz="3000" dirty="0"/>
              <a:t>Minimax algorithm, alpha-</a:t>
            </a:r>
            <a:r>
              <a:rPr lang="en-US" sz="3000" dirty="0" err="1"/>
              <a:t>betapruning</a:t>
            </a:r>
            <a:r>
              <a:rPr lang="en-US" sz="3000" dirty="0"/>
              <a:t>, applications in games.</a:t>
            </a:r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val="3988170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28048" y="395785"/>
            <a:ext cx="10508776" cy="6250675"/>
          </a:xfrm>
        </p:spPr>
        <p:txBody>
          <a:bodyPr>
            <a:normAutofit/>
          </a:bodyPr>
          <a:lstStyle/>
          <a:p>
            <a:pPr fontAlgn="base"/>
            <a:r>
              <a:rPr lang="en-IN" sz="2800" b="1" dirty="0"/>
              <a:t>         Variable Ordering, Game Playing: Minimax, alpha-beta pruning</a:t>
            </a:r>
          </a:p>
          <a:p>
            <a:pPr fontAlgn="base"/>
            <a:endParaRPr lang="en-US" sz="2800" b="1" dirty="0"/>
          </a:p>
          <a:p>
            <a:pPr algn="just"/>
            <a:r>
              <a:rPr lang="en-US" b="1" dirty="0"/>
              <a:t>1. Variable Ordering (in Constraint Satisfaction Problems — CSPs)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In </a:t>
            </a:r>
            <a:r>
              <a:rPr lang="en-US" b="1" dirty="0"/>
              <a:t>CSPs</a:t>
            </a:r>
            <a:r>
              <a:rPr lang="en-US" dirty="0"/>
              <a:t>, variable ordering is the strategy of deciding </a:t>
            </a:r>
            <a:r>
              <a:rPr lang="en-US" b="1" dirty="0"/>
              <a:t>which variable to assign first</a:t>
            </a:r>
            <a:r>
              <a:rPr lang="en-US" dirty="0"/>
              <a:t> when solving the problem.</a:t>
            </a:r>
            <a:br>
              <a:rPr lang="en-US" dirty="0"/>
            </a:br>
            <a:r>
              <a:rPr lang="en-US" b="1" dirty="0"/>
              <a:t>The idea: Reduces search time</a:t>
            </a:r>
            <a:r>
              <a:rPr lang="en-US" dirty="0"/>
              <a:t> by making better decisions early.</a:t>
            </a:r>
          </a:p>
          <a:p>
            <a:pPr algn="l"/>
            <a:r>
              <a:rPr lang="en-US" b="1" dirty="0"/>
              <a:t>Common Heuristics: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/>
              <a:t>Minimum Remaining Values (MRV)</a:t>
            </a:r>
            <a:r>
              <a:rPr lang="en-US" dirty="0"/>
              <a:t> → Pick the variable with the fewest legal values left.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/>
              <a:t>Degree Heuristic</a:t>
            </a:r>
            <a:r>
              <a:rPr lang="en-US" dirty="0"/>
              <a:t> → Pick the variable involved in the largest number of constraints with other unassigned variables.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/>
              <a:t>Least Constraining Value (LCV)</a:t>
            </a:r>
            <a:r>
              <a:rPr lang="en-US" dirty="0"/>
              <a:t> → When assigning a value, choose the one that rules out the fewest options for others.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/>
              <a:t>Example</a:t>
            </a:r>
            <a:r>
              <a:rPr lang="en-US" dirty="0"/>
              <a:t>: In Sudoku, you start with the most constrained empty cell (fewest possible numbers) so you prune the search faster.</a:t>
            </a:r>
          </a:p>
        </p:txBody>
      </p:sp>
    </p:spTree>
    <p:extLst>
      <p:ext uri="{BB962C8B-B14F-4D97-AF65-F5344CB8AC3E}">
        <p14:creationId xmlns:p14="http://schemas.microsoft.com/office/powerpoint/2010/main" val="111483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5465" y="908680"/>
            <a:ext cx="10508776" cy="6373505"/>
          </a:xfrm>
        </p:spPr>
        <p:txBody>
          <a:bodyPr>
            <a:normAutofit/>
          </a:bodyPr>
          <a:lstStyle/>
          <a:p>
            <a:pPr algn="just"/>
            <a:r>
              <a:rPr lang="en-US" b="1" dirty="0"/>
              <a:t>2. Game Playing — Minimax Algorithm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Used in </a:t>
            </a:r>
            <a:r>
              <a:rPr lang="en-US" b="1" dirty="0"/>
              <a:t>two-player turn-based games</a:t>
            </a:r>
            <a:r>
              <a:rPr lang="en-US" dirty="0"/>
              <a:t> (like Chess, Tic-Tac-Toe, Checkers).</a:t>
            </a:r>
            <a:br>
              <a:rPr lang="en-US" dirty="0"/>
            </a:br>
            <a:r>
              <a:rPr lang="en-US" dirty="0"/>
              <a:t>Players are: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dirty="0"/>
              <a:t>MAX</a:t>
            </a:r>
            <a:r>
              <a:rPr lang="en-US" dirty="0"/>
              <a:t> → tries to maximize the score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dirty="0"/>
              <a:t>MIN</a:t>
            </a:r>
            <a:r>
              <a:rPr lang="en-US" dirty="0"/>
              <a:t> → tries to minimize the score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The algorithm explores all possible moves until a terminal state (win/loss/draw) and </a:t>
            </a:r>
            <a:r>
              <a:rPr lang="en-US" b="1" dirty="0"/>
              <a:t>back-propagates</a:t>
            </a:r>
            <a:r>
              <a:rPr lang="en-US" dirty="0"/>
              <a:t> scores to decide the optimal move.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dirty="0"/>
              <a:t>Steps: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Generate the game tree up to a depth.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Evaluate terminal states with a heuristic score.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MAX chooses the highest value; MIN chooses the lowest.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Back up these values to decide the root’s best move.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dirty="0"/>
              <a:t>Example</a:t>
            </a:r>
            <a:r>
              <a:rPr lang="en-US" dirty="0"/>
              <a:t>: In Tic-Tac-Toe, if MAX can win in 2 moves, it chooses that path even if MIN tries to block.</a:t>
            </a:r>
          </a:p>
        </p:txBody>
      </p:sp>
    </p:spTree>
    <p:extLst>
      <p:ext uri="{BB962C8B-B14F-4D97-AF65-F5344CB8AC3E}">
        <p14:creationId xmlns:p14="http://schemas.microsoft.com/office/powerpoint/2010/main" val="4277488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41612" y="1009415"/>
            <a:ext cx="10508776" cy="5365260"/>
          </a:xfrm>
        </p:spPr>
        <p:txBody>
          <a:bodyPr>
            <a:normAutofit/>
          </a:bodyPr>
          <a:lstStyle/>
          <a:p>
            <a:pPr algn="just"/>
            <a:r>
              <a:rPr lang="en-US" b="1" dirty="0"/>
              <a:t>3. Alpha-Beta Pruning (Optimized Minimax)</a:t>
            </a:r>
          </a:p>
          <a:p>
            <a:pPr algn="just"/>
            <a:endParaRPr lang="en-US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search optimization</a:t>
            </a:r>
            <a:r>
              <a:rPr lang="en-US" dirty="0"/>
              <a:t> for Minimax that </a:t>
            </a:r>
            <a:r>
              <a:rPr lang="en-US" b="1" dirty="0"/>
              <a:t>skips branches</a:t>
            </a:r>
            <a:r>
              <a:rPr lang="en-US" dirty="0"/>
              <a:t> that won’t affect the final decision.</a:t>
            </a:r>
            <a:br>
              <a:rPr lang="en-US" dirty="0"/>
            </a:br>
            <a:r>
              <a:rPr lang="en-US" dirty="0"/>
              <a:t>This reduces the number of nodes explored, making search faster.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/>
              <a:t>Key Idea: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/>
              <a:t>α (alpha)</a:t>
            </a:r>
            <a:r>
              <a:rPr lang="en-US" dirty="0"/>
              <a:t> → Best value MAX can guarantee so far.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/>
              <a:t>β (beta)</a:t>
            </a:r>
            <a:r>
              <a:rPr lang="en-US" dirty="0"/>
              <a:t> → Best value MIN can guarantee so far.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If at any point </a:t>
            </a:r>
            <a:r>
              <a:rPr lang="en-US" b="1" dirty="0"/>
              <a:t>α ≥ β</a:t>
            </a:r>
            <a:r>
              <a:rPr lang="en-US" dirty="0"/>
              <a:t>, stop exploring that branch (prune).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/>
              <a:t>Example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If MIN already has a move that will give it ≤ 3, and MAX is exploring a branch that will give it ≥ 4, then MIN will never allow that branch — so we skip evaluating it.</a:t>
            </a:r>
          </a:p>
        </p:txBody>
      </p:sp>
    </p:spTree>
    <p:extLst>
      <p:ext uri="{BB962C8B-B14F-4D97-AF65-F5344CB8AC3E}">
        <p14:creationId xmlns:p14="http://schemas.microsoft.com/office/powerpoint/2010/main" val="2167219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1294" y="1061665"/>
            <a:ext cx="10508776" cy="5347843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Min-Max Algorithm</a:t>
            </a:r>
            <a:r>
              <a:rPr lang="en-US" dirty="0"/>
              <a:t> – A decision-making method for two-player games.</a:t>
            </a:r>
          </a:p>
          <a:p>
            <a:pPr algn="l"/>
            <a:r>
              <a:rPr lang="en-US" b="1" dirty="0"/>
              <a:t>Players:</a:t>
            </a: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/>
              <a:t>MAX</a:t>
            </a:r>
            <a:r>
              <a:rPr lang="en-US" dirty="0"/>
              <a:t> → tries to get the highest score.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/>
              <a:t>MIN</a:t>
            </a:r>
            <a:r>
              <a:rPr lang="en-US" dirty="0"/>
              <a:t> → tries to force the lowest score for MAX.</a:t>
            </a:r>
          </a:p>
          <a:p>
            <a:pPr algn="l"/>
            <a:r>
              <a:rPr lang="en-US" b="1" dirty="0"/>
              <a:t>Steps:</a:t>
            </a:r>
            <a:endParaRPr lang="en-US" dirty="0"/>
          </a:p>
          <a:p>
            <a:pPr marL="457200" indent="-457200" algn="l">
              <a:buFont typeface="+mj-lt"/>
              <a:buAutoNum type="arabicPeriod"/>
            </a:pPr>
            <a:r>
              <a:rPr lang="en-US" b="1" dirty="0"/>
              <a:t>Generate Game Tree</a:t>
            </a:r>
            <a:r>
              <a:rPr lang="en-US" dirty="0"/>
              <a:t> – Show all possible moves from the current position.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b="1" dirty="0"/>
              <a:t>Evaluate Terminal States</a:t>
            </a:r>
            <a:r>
              <a:rPr lang="en-US" dirty="0"/>
              <a:t> – Assign scores (win/lose/draw).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b="1" dirty="0"/>
              <a:t>Back propagate Values</a:t>
            </a:r>
            <a:r>
              <a:rPr lang="en-US" dirty="0"/>
              <a:t> –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dirty="0"/>
              <a:t>MAX picks the </a:t>
            </a:r>
            <a:r>
              <a:rPr lang="en-US" b="1" dirty="0"/>
              <a:t>maximum</a:t>
            </a:r>
            <a:r>
              <a:rPr lang="en-US" dirty="0"/>
              <a:t> from its children.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US" dirty="0"/>
              <a:t>MIN picks the </a:t>
            </a:r>
            <a:r>
              <a:rPr lang="en-US" b="1" dirty="0"/>
              <a:t>minimum</a:t>
            </a:r>
            <a:r>
              <a:rPr lang="en-US" dirty="0"/>
              <a:t> from its children.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b="1" dirty="0"/>
              <a:t>Choose Optimal Move</a:t>
            </a:r>
            <a:r>
              <a:rPr lang="en-US" dirty="0"/>
              <a:t> – At the root, MAX takes the move with the best score.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/>
              <a:t>Key Idea:</a:t>
            </a:r>
            <a:r>
              <a:rPr lang="en-US" dirty="0"/>
              <a:t> Each player assumes the opponent plays </a:t>
            </a:r>
            <a:r>
              <a:rPr lang="en-US" b="1" dirty="0"/>
              <a:t>perfectly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14496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75411" y="235781"/>
            <a:ext cx="6999514" cy="615514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Game Playing: </a:t>
            </a:r>
            <a:r>
              <a:rPr lang="en-IN" b="1" dirty="0" err="1"/>
              <a:t>Minimax</a:t>
            </a:r>
            <a:r>
              <a:rPr lang="en-IN" b="1" dirty="0"/>
              <a:t> algorithm: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def</a:t>
            </a:r>
            <a:r>
              <a:rPr lang="en-US" dirty="0"/>
              <a:t> </a:t>
            </a:r>
            <a:r>
              <a:rPr lang="en-US" dirty="0" err="1"/>
              <a:t>minmax</a:t>
            </a:r>
            <a:r>
              <a:rPr lang="en-US" dirty="0"/>
              <a:t>(state, depth, </a:t>
            </a:r>
            <a:r>
              <a:rPr lang="en-US" dirty="0" err="1"/>
              <a:t>maximizing_player</a:t>
            </a:r>
            <a:r>
              <a:rPr lang="en-US" dirty="0"/>
              <a:t>):</a:t>
            </a:r>
          </a:p>
          <a:p>
            <a:pPr marL="0" indent="0">
              <a:buNone/>
            </a:pPr>
            <a:r>
              <a:rPr lang="en-US" dirty="0"/>
              <a:t>    if </a:t>
            </a:r>
            <a:r>
              <a:rPr lang="en-US" dirty="0" err="1"/>
              <a:t>is_terminal</a:t>
            </a:r>
            <a:r>
              <a:rPr lang="en-US" dirty="0"/>
              <a:t>(state) or depth == 0:</a:t>
            </a:r>
          </a:p>
          <a:p>
            <a:pPr marL="0" indent="0">
              <a:buNone/>
            </a:pPr>
            <a:r>
              <a:rPr lang="en-US" dirty="0"/>
              <a:t>        return utility(state)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r>
              <a:rPr lang="en-US" dirty="0"/>
              <a:t>    if </a:t>
            </a:r>
            <a:r>
              <a:rPr lang="en-US" dirty="0" err="1"/>
              <a:t>maximizing_player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max_eval</a:t>
            </a:r>
            <a:r>
              <a:rPr lang="en-US" dirty="0"/>
              <a:t> = -infinity</a:t>
            </a:r>
          </a:p>
          <a:p>
            <a:pPr marL="0" indent="0">
              <a:buNone/>
            </a:pPr>
            <a:r>
              <a:rPr lang="en-US" dirty="0"/>
              <a:t>        for action in actions(state):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eval</a:t>
            </a:r>
            <a:r>
              <a:rPr lang="en-US" dirty="0"/>
              <a:t> = </a:t>
            </a:r>
            <a:r>
              <a:rPr lang="en-US" dirty="0" err="1"/>
              <a:t>minmax</a:t>
            </a:r>
            <a:r>
              <a:rPr lang="en-US" dirty="0"/>
              <a:t>(result(state, action), depth - 1, False)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max_eval</a:t>
            </a:r>
            <a:r>
              <a:rPr lang="en-US" dirty="0"/>
              <a:t> = max(</a:t>
            </a:r>
            <a:r>
              <a:rPr lang="en-US" dirty="0" err="1"/>
              <a:t>max_eval</a:t>
            </a:r>
            <a:r>
              <a:rPr lang="en-US" dirty="0"/>
              <a:t>, </a:t>
            </a:r>
            <a:r>
              <a:rPr lang="en-US" dirty="0" err="1"/>
              <a:t>eval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    return </a:t>
            </a:r>
            <a:r>
              <a:rPr lang="en-US" dirty="0" err="1"/>
              <a:t>max_eval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else: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min_eval</a:t>
            </a:r>
            <a:r>
              <a:rPr lang="en-US" dirty="0"/>
              <a:t> = infinity</a:t>
            </a:r>
          </a:p>
          <a:p>
            <a:pPr marL="0" indent="0">
              <a:buNone/>
            </a:pPr>
            <a:r>
              <a:rPr lang="en-US" dirty="0"/>
              <a:t>        for action in actions(state):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eval</a:t>
            </a:r>
            <a:r>
              <a:rPr lang="en-US" dirty="0"/>
              <a:t> = </a:t>
            </a:r>
            <a:r>
              <a:rPr lang="en-US" dirty="0" err="1"/>
              <a:t>minmax</a:t>
            </a:r>
            <a:r>
              <a:rPr lang="en-US" dirty="0"/>
              <a:t>(result(state, action), depth - 1, True)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min_eval</a:t>
            </a:r>
            <a:r>
              <a:rPr lang="en-US" dirty="0"/>
              <a:t> = min(</a:t>
            </a:r>
            <a:r>
              <a:rPr lang="en-US" dirty="0" err="1"/>
              <a:t>min_eval</a:t>
            </a:r>
            <a:r>
              <a:rPr lang="en-US" dirty="0"/>
              <a:t>, </a:t>
            </a:r>
            <a:r>
              <a:rPr lang="en-US" dirty="0" err="1"/>
              <a:t>eval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    return </a:t>
            </a:r>
            <a:r>
              <a:rPr lang="en-US" dirty="0" err="1"/>
              <a:t>min_eval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1772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8009" y="407053"/>
            <a:ext cx="10508776" cy="6359857"/>
          </a:xfrm>
        </p:spPr>
        <p:txBody>
          <a:bodyPr>
            <a:normAutofit/>
          </a:bodyPr>
          <a:lstStyle/>
          <a:p>
            <a:r>
              <a:rPr lang="en-US" dirty="0"/>
              <a:t>Figure 1: Before backing-up of values   </a:t>
            </a:r>
          </a:p>
        </p:txBody>
      </p:sp>
      <p:pic>
        <p:nvPicPr>
          <p:cNvPr id="1026" name="Picture 2" descr="Lightbo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6346" y="1160060"/>
            <a:ext cx="7942997" cy="4026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3662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9432" y="327546"/>
            <a:ext cx="11341290" cy="6359857"/>
          </a:xfrm>
        </p:spPr>
        <p:txBody>
          <a:bodyPr>
            <a:normAutofit/>
          </a:bodyPr>
          <a:lstStyle/>
          <a:p>
            <a:r>
              <a:rPr lang="en-US" dirty="0"/>
              <a:t>Figure 2: After backing-up of values We assume that PLAYER1 will start the game</a:t>
            </a:r>
          </a:p>
        </p:txBody>
      </p:sp>
      <p:pic>
        <p:nvPicPr>
          <p:cNvPr id="2050" name="Picture 2" descr="Lightbo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5594" y="1624084"/>
            <a:ext cx="9608024" cy="4653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93877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3511" y="817826"/>
            <a:ext cx="10508776" cy="5530723"/>
          </a:xfrm>
        </p:spPr>
        <p:txBody>
          <a:bodyPr>
            <a:normAutofit lnSpcReduction="10000"/>
          </a:bodyPr>
          <a:lstStyle/>
          <a:p>
            <a:pPr algn="l"/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/>
              <a:t>Game start </a:t>
            </a:r>
            <a:r>
              <a:rPr lang="en-US" dirty="0"/>
              <a:t>– PLAYER1 begins the game.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/>
              <a:t>Game tree depth </a:t>
            </a:r>
            <a:r>
              <a:rPr lang="en-US" dirty="0"/>
              <a:t>– The algorithm builds a 4-level game tree showing possible moves.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/>
              <a:t>Leaf values </a:t>
            </a:r>
            <a:r>
              <a:rPr lang="en-US" dirty="0"/>
              <a:t>– Nodes H, I, J, K, L, M, N, O get their scores from the STATICEVALUATION function.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/>
              <a:t>Level 3 (Max level) </a:t>
            </a:r>
            <a:r>
              <a:rPr lang="en-US" dirty="0"/>
              <a:t>– Each node here picks the maximum value from its child nodes (PLAYER1’s turn).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/>
              <a:t>Level 2 (Min level) </a:t>
            </a:r>
            <a:r>
              <a:rPr lang="en-US" dirty="0"/>
              <a:t>– Each node here picks the minimum value from its child nodes (opponent’s turn).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/>
              <a:t>Value at root (A) </a:t>
            </a:r>
            <a:r>
              <a:rPr lang="en-US" dirty="0"/>
              <a:t>– After backing up values through the tree, node A gets the score 23.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/>
              <a:t>Best move </a:t>
            </a:r>
            <a:r>
              <a:rPr lang="en-US" dirty="0"/>
              <a:t>– Since 23 is highest via move C, PLAYER1 should choose C to maximize winning chances.</a:t>
            </a:r>
          </a:p>
        </p:txBody>
      </p:sp>
    </p:spTree>
    <p:extLst>
      <p:ext uri="{BB962C8B-B14F-4D97-AF65-F5344CB8AC3E}">
        <p14:creationId xmlns:p14="http://schemas.microsoft.com/office/powerpoint/2010/main" val="3567661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9326" y="2429064"/>
            <a:ext cx="10508776" cy="6359857"/>
          </a:xfrm>
        </p:spPr>
        <p:txBody>
          <a:bodyPr>
            <a:normAutofit/>
          </a:bodyPr>
          <a:lstStyle/>
          <a:p>
            <a:r>
              <a:rPr lang="en-US" b="1" dirty="0"/>
              <a:t>Working of Alpha-beta Pruning</a:t>
            </a:r>
          </a:p>
          <a:p>
            <a:endParaRPr lang="en-US" dirty="0"/>
          </a:p>
        </p:txBody>
      </p:sp>
      <p:pic>
        <p:nvPicPr>
          <p:cNvPr id="4098" name="Picture 2" descr="Game tree with initial alpha = -∞ and beta = +∞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9326" y="657969"/>
            <a:ext cx="9753600" cy="569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1516166" y="396359"/>
            <a:ext cx="30320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800" b="1" dirty="0"/>
              <a:t>alpha-beta pruning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409585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Node B showing MIN calculation; beta updated to 3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076" y="479947"/>
            <a:ext cx="9753600" cy="540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8194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Node E showing MAX calculation; alpha updated to 5, right branch pruned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214" y="179648"/>
            <a:ext cx="9753600" cy="569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44729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Node F updates alpha to 3; evaluates children, node value is 1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3873" y="343422"/>
            <a:ext cx="9753600" cy="569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92440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Node C prunes subtree G as alpha &gt; beta; returns value 1 to node A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7521" y="275183"/>
            <a:ext cx="9753600" cy="569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64054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Final game tree with pruned branches and optimal value of 3 for the maximizer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1169" y="627797"/>
            <a:ext cx="9753600" cy="569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7011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5763" y="1301704"/>
            <a:ext cx="10508776" cy="4254592"/>
          </a:xfrm>
        </p:spPr>
        <p:txBody>
          <a:bodyPr>
            <a:normAutofit/>
          </a:bodyPr>
          <a:lstStyle/>
          <a:p>
            <a:pPr marL="342900" indent="-342900" algn="just" fontAlgn="base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just" fontAlgn="base">
              <a:buFont typeface="Arial" panose="020B0604020202020204" pitchFamily="34" charset="0"/>
              <a:buChar char="•"/>
            </a:pPr>
            <a:r>
              <a:rPr lang="en-US" dirty="0"/>
              <a:t>A = root (MAX)</a:t>
            </a:r>
          </a:p>
          <a:p>
            <a:pPr marL="342900" indent="-342900" algn="just" fontAlgn="base">
              <a:buFont typeface="Arial" panose="020B0604020202020204" pitchFamily="34" charset="0"/>
              <a:buChar char="•"/>
            </a:pPr>
            <a:r>
              <a:rPr lang="en-US" dirty="0"/>
              <a:t>B, C = children of A (MIN)</a:t>
            </a:r>
          </a:p>
          <a:p>
            <a:pPr marL="342900" indent="-342900" algn="just" fontAlgn="base">
              <a:buFont typeface="Arial" panose="020B0604020202020204" pitchFamily="34" charset="0"/>
              <a:buChar char="•"/>
            </a:pPr>
            <a:r>
              <a:rPr lang="en-US" dirty="0"/>
              <a:t>D, E = children of B (MAX)</a:t>
            </a:r>
          </a:p>
          <a:p>
            <a:pPr marL="342900" indent="-342900" algn="just" fontAlgn="base">
              <a:buFont typeface="Arial" panose="020B0604020202020204" pitchFamily="34" charset="0"/>
              <a:buChar char="•"/>
            </a:pPr>
            <a:r>
              <a:rPr lang="en-US" dirty="0"/>
              <a:t>F, G = children of C (MAX)</a:t>
            </a:r>
          </a:p>
          <a:p>
            <a:pPr marL="342900" indent="-342900" algn="just" fontAlgn="base">
              <a:buFont typeface="Arial" panose="020B0604020202020204" pitchFamily="34" charset="0"/>
              <a:buChar char="•"/>
            </a:pPr>
            <a:r>
              <a:rPr lang="en-US" dirty="0"/>
              <a:t>Leaves: 2, 3, 5, 9, 0, 1, 7, 5 (terminal values)</a:t>
            </a:r>
          </a:p>
          <a:p>
            <a:pPr marL="342900" indent="-342900" algn="just" fontAlgn="base">
              <a:buFont typeface="Arial" panose="020B0604020202020204" pitchFamily="34" charset="0"/>
              <a:buChar char="•"/>
            </a:pPr>
            <a:r>
              <a:rPr lang="en-US" dirty="0"/>
              <a:t>α = best (highest) for MAX so far; </a:t>
            </a:r>
          </a:p>
          <a:p>
            <a:pPr marL="342900" indent="-342900" algn="just" fontAlgn="base">
              <a:buFont typeface="Arial" panose="020B0604020202020204" pitchFamily="34" charset="0"/>
              <a:buChar char="•"/>
            </a:pPr>
            <a:r>
              <a:rPr lang="en-US" dirty="0"/>
              <a:t>β = best (lowest) for MIN so far.</a:t>
            </a:r>
          </a:p>
          <a:p>
            <a:pPr marL="342900" indent="-342900" algn="just" fontAlgn="base">
              <a:buFont typeface="Arial" panose="020B0604020202020204" pitchFamily="34" charset="0"/>
              <a:buChar char="•"/>
            </a:pPr>
            <a:r>
              <a:rPr lang="en-US" dirty="0"/>
              <a:t>Pruned branches marked (pruned).</a:t>
            </a:r>
          </a:p>
        </p:txBody>
      </p:sp>
    </p:spTree>
    <p:extLst>
      <p:ext uri="{BB962C8B-B14F-4D97-AF65-F5344CB8AC3E}">
        <p14:creationId xmlns:p14="http://schemas.microsoft.com/office/powerpoint/2010/main" val="39970474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837509" y="-752694"/>
            <a:ext cx="9434892" cy="77559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Step-by-step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Initialize at root A:</a:t>
            </a:r>
            <a:b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α = −∞, β = +∞. A is a 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MAX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node.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Go to A → B (MIN).</a:t>
            </a:r>
            <a:b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Pass down α = −∞, β = +∞.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Visit B → D (MAX).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D’s leaves: 2, then 3.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MAX at D: max(2,3) = 3.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So 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 = 3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Return 3 to B.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Back at B (MIN):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 updates β = min(+∞, 3) = 3.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For B’s next child E we pass α = −∞, β = 3 (note β = 3 is now an upper bound MIN can force).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Visit B → E (MAX).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E’s left leaf = 5 → E’s α becomes max(−∞, 5) = 5.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Compare E’s α (5) with B’s β (3). Since 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α (5) ≥ β (3)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E’s other child (9) is pruned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— MIN above already has a cheaper option (3), so exploring E further cannot make MIN prefer E.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So 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 = 5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(right child 9 not evaluated).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Finish at B: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 has values {D=3, E=5} → B = min(3,5) = 3.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Return 3 to A. Now 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 updates α = max(−∞, 3) = 3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26971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62083" y="1161735"/>
            <a:ext cx="10467833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6. Go to A → C (MIN)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with α = 3, β = +∞.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7. Visit C → F (MAX).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F’s leaves 0 then 1 → F = max(0,1) = 1.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Return 1 to C. Now 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 updates β = min(+∞, 1) = 1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8. Prune at C: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At this point A’s α is 3 (MAX already can guarantee 3). At C we have β = 1. Since 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α (3) ≥ β (1)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the remaining child of C (node 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with leaves 7 and 5) 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is pruned 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— no need to evaluate G’s 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subtree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because MIN will prefer the smaller value 1 and cannot make C’s value &gt;= 3.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So 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 (7,5) not evaluated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9. Finish at A: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C’s value = 1 (from F). A has {B=3, C=1} → A = max(3,1) = 3.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Best action for MAX: go to B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(value 3). Final result = 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3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35503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9130" y="242247"/>
            <a:ext cx="10197737" cy="637350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(MAX)  </a:t>
            </a:r>
            <a:r>
              <a:rPr lang="el-GR" dirty="0"/>
              <a:t>α </a:t>
            </a:r>
            <a:r>
              <a:rPr lang="en-US" dirty="0"/>
              <a:t>start = -∞</a:t>
            </a:r>
          </a:p>
          <a:p>
            <a:r>
              <a:rPr lang="en-US" dirty="0"/>
              <a:t>├─ B (MIN)           ← evaluated</a:t>
            </a:r>
          </a:p>
          <a:p>
            <a:r>
              <a:rPr lang="en-US" dirty="0"/>
              <a:t>│  ├─ D (MAX) -&gt; leaves: 2, 3   =&gt; D = 3</a:t>
            </a:r>
          </a:p>
          <a:p>
            <a:r>
              <a:rPr lang="en-US" dirty="0"/>
              <a:t>│  └─ E (MAX) -&gt; leaves: 5, 9   =&gt; E = 5   (9 pruned)</a:t>
            </a:r>
          </a:p>
          <a:p>
            <a:r>
              <a:rPr lang="en-US" dirty="0"/>
              <a:t>└─ C (MIN)           ← evaluated</a:t>
            </a:r>
          </a:p>
          <a:p>
            <a:r>
              <a:rPr lang="en-US" dirty="0"/>
              <a:t>   ├─ F (MAX) -&gt; leaves: 0, 1   =&gt; F = 1</a:t>
            </a:r>
          </a:p>
          <a:p>
            <a:r>
              <a:rPr lang="en-US" dirty="0"/>
              <a:t>   └─ G (MAX) -&gt; leaves: 7, 5   =&gt; (pruned entirely)</a:t>
            </a:r>
          </a:p>
          <a:p>
            <a:pPr marL="0" indent="0">
              <a:buNone/>
            </a:pPr>
            <a:r>
              <a:rPr lang="en-US" b="1" dirty="0"/>
              <a:t>Pruned leaves: </a:t>
            </a:r>
            <a:r>
              <a:rPr lang="en-US" dirty="0"/>
              <a:t>the 9 under E and both 7 and 5 under G.</a:t>
            </a:r>
          </a:p>
          <a:p>
            <a:pPr marL="0" indent="0">
              <a:buNone/>
            </a:pPr>
            <a:r>
              <a:rPr lang="en-US" b="1" dirty="0"/>
              <a:t>Key takeaways</a:t>
            </a:r>
          </a:p>
          <a:p>
            <a:pPr algn="just"/>
            <a:r>
              <a:rPr lang="en-US" dirty="0"/>
              <a:t>α/β track best guarantees for MAX and MIN as you search.</a:t>
            </a:r>
          </a:p>
          <a:p>
            <a:pPr algn="just"/>
            <a:r>
              <a:rPr lang="en-US" dirty="0"/>
              <a:t>When α ≥ β at any point, prune: further exploration there can’t change the final decision.</a:t>
            </a:r>
          </a:p>
          <a:p>
            <a:pPr algn="just"/>
            <a:r>
              <a:rPr lang="en-US" dirty="0"/>
              <a:t>Pruning saves evaluation of whole sub trees (faster search), while keeping the final answer exact (no approximation).</a:t>
            </a:r>
          </a:p>
        </p:txBody>
      </p:sp>
    </p:spTree>
    <p:extLst>
      <p:ext uri="{BB962C8B-B14F-4D97-AF65-F5344CB8AC3E}">
        <p14:creationId xmlns:p14="http://schemas.microsoft.com/office/powerpoint/2010/main" val="29113782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1541</Words>
  <Application>Microsoft Office PowerPoint</Application>
  <PresentationFormat>Widescreen</PresentationFormat>
  <Paragraphs>123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Gill Sans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123</dc:creator>
  <cp:lastModifiedBy>P Manika Prasuna</cp:lastModifiedBy>
  <cp:revision>40</cp:revision>
  <dcterms:created xsi:type="dcterms:W3CDTF">2025-08-12T15:45:27Z</dcterms:created>
  <dcterms:modified xsi:type="dcterms:W3CDTF">2025-08-18T06:50:18Z</dcterms:modified>
</cp:coreProperties>
</file>