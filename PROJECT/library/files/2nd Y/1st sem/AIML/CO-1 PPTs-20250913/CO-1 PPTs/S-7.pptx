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93" r:id="rId3"/>
    <p:sldId id="276" r:id="rId4"/>
    <p:sldId id="278" r:id="rId5"/>
    <p:sldId id="301" r:id="rId6"/>
    <p:sldId id="260" r:id="rId7"/>
    <p:sldId id="282" r:id="rId8"/>
    <p:sldId id="285" r:id="rId9"/>
    <p:sldId id="283" r:id="rId10"/>
    <p:sldId id="284" r:id="rId11"/>
    <p:sldId id="279" r:id="rId12"/>
    <p:sldId id="286" r:id="rId13"/>
    <p:sldId id="261" r:id="rId14"/>
    <p:sldId id="272" r:id="rId15"/>
    <p:sldId id="302" r:id="rId16"/>
    <p:sldId id="287" r:id="rId17"/>
    <p:sldId id="291" r:id="rId18"/>
    <p:sldId id="292" r:id="rId19"/>
    <p:sldId id="303" r:id="rId20"/>
    <p:sldId id="305" r:id="rId21"/>
    <p:sldId id="306" r:id="rId22"/>
    <p:sldId id="307" r:id="rId23"/>
    <p:sldId id="304" r:id="rId24"/>
    <p:sldId id="297" r:id="rId25"/>
    <p:sldId id="308" r:id="rId26"/>
    <p:sldId id="309" r:id="rId27"/>
    <p:sldId id="295" r:id="rId28"/>
    <p:sldId id="270" r:id="rId29"/>
    <p:sldId id="294" r:id="rId30"/>
    <p:sldId id="27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276848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38833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5266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9165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54412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5770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37301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26883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4353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309855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pPr/>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extLst>
      <p:ext uri="{BB962C8B-B14F-4D97-AF65-F5344CB8AC3E}">
        <p14:creationId xmlns:p14="http://schemas.microsoft.com/office/powerpoint/2010/main" val="102369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pPr/>
              <a:t>18-08-2025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pPr/>
              <a:t>‹#›</a:t>
            </a:fld>
            <a:endParaRPr lang="en-IN"/>
          </a:p>
        </p:txBody>
      </p:sp>
    </p:spTree>
    <p:extLst>
      <p:ext uri="{BB962C8B-B14F-4D97-AF65-F5344CB8AC3E}">
        <p14:creationId xmlns:p14="http://schemas.microsoft.com/office/powerpoint/2010/main" val="3053014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www.geeksforgeeks.org/introduction-hill-climbing-artificial-intelligence/" TargetMode="External"/><Relationship Id="rId4" Type="http://schemas.openxmlformats.org/officeDocument/2006/relationships/hyperlink" Target="https://www.geeksforgeeks.org/greedy-best-first-search-algorithm/"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8" Type="http://schemas.openxmlformats.org/officeDocument/2006/relationships/hyperlink" Target="https://www.coursera.org/learn/search-methods-for-ai" TargetMode="External"/><Relationship Id="rId3" Type="http://schemas.openxmlformats.org/officeDocument/2006/relationships/image" Target="../media/image12.png"/><Relationship Id="rId7" Type="http://schemas.openxmlformats.org/officeDocument/2006/relationships/hyperlink" Target="https://cs50.harvard.edu/ai/2020/"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www.khanacademy.org/computing/computer-science/algorithms/graph-representation/a/graph-representation" TargetMode="External"/><Relationship Id="rId5" Type="http://schemas.openxmlformats.org/officeDocument/2006/relationships/hyperlink" Target="https://github.com/aimacode/aima-python" TargetMode="Externa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329609" y="1288145"/>
            <a:ext cx="11738344" cy="1938992"/>
          </a:xfrm>
          <a:prstGeom prst="rect">
            <a:avLst/>
          </a:prstGeom>
          <a:noFill/>
        </p:spPr>
        <p:txBody>
          <a:bodyPr wrap="square">
            <a:spAutoFit/>
          </a:bodyPr>
          <a:lstStyle/>
          <a:p>
            <a:pPr algn="ctr"/>
            <a:r>
              <a:rPr kumimoji="0" lang="en-US" sz="4000" i="0" u="none" strike="noStrike" kern="1200" cap="all" spc="0" normalizeH="0" baseline="0" noProof="0" dirty="0">
                <a:ln>
                  <a:noFill/>
                </a:ln>
                <a:solidFill>
                  <a:srgbClr val="FF0000"/>
                </a:solidFill>
                <a:effectLst/>
                <a:uLnTx/>
                <a:uFillTx/>
                <a:ea typeface="+mj-ea"/>
                <a:cs typeface="+mj-cs"/>
              </a:rPr>
              <a:t>ARTIFICIAL INTELLIGENCE </a:t>
            </a:r>
            <a:br>
              <a:rPr kumimoji="0" lang="en-US" sz="4000" i="0" u="none" strike="noStrike" kern="1200" cap="all" spc="0" normalizeH="0" baseline="0" noProof="0" dirty="0">
                <a:ln>
                  <a:noFill/>
                </a:ln>
                <a:solidFill>
                  <a:srgbClr val="FF0000"/>
                </a:solidFill>
                <a:effectLst/>
                <a:uLnTx/>
                <a:uFillTx/>
                <a:ea typeface="+mj-ea"/>
                <a:cs typeface="+mj-cs"/>
              </a:rPr>
            </a:br>
            <a:r>
              <a:rPr kumimoji="0" lang="en-US" sz="4000" i="0" u="none" strike="noStrike" kern="1200" cap="all" spc="0" normalizeH="0" baseline="0" noProof="0" dirty="0">
                <a:ln>
                  <a:noFill/>
                </a:ln>
                <a:solidFill>
                  <a:srgbClr val="FF0000"/>
                </a:solidFill>
                <a:effectLst/>
                <a:uLnTx/>
                <a:uFillTx/>
                <a:ea typeface="+mj-ea"/>
                <a:cs typeface="+mj-cs"/>
              </a:rPr>
              <a:t>&amp; </a:t>
            </a:r>
            <a:br>
              <a:rPr kumimoji="0" lang="en-US" sz="4000" i="0" u="none" strike="noStrike" kern="1200" cap="all" spc="0" normalizeH="0" baseline="0" noProof="0" dirty="0">
                <a:ln>
                  <a:noFill/>
                </a:ln>
                <a:solidFill>
                  <a:srgbClr val="FF0000"/>
                </a:solidFill>
                <a:effectLst/>
                <a:uLnTx/>
                <a:uFillTx/>
                <a:ea typeface="+mj-ea"/>
                <a:cs typeface="+mj-cs"/>
              </a:rPr>
            </a:br>
            <a:r>
              <a:rPr kumimoji="0" lang="en-US" sz="4000" i="0" u="none" strike="noStrike" kern="1200" cap="all" spc="0" normalizeH="0" baseline="0" noProof="0" dirty="0">
                <a:ln>
                  <a:noFill/>
                </a:ln>
                <a:solidFill>
                  <a:srgbClr val="FF0000"/>
                </a:solidFill>
                <a:effectLst/>
                <a:uLnTx/>
                <a:uFillTx/>
                <a:ea typeface="+mj-ea"/>
                <a:cs typeface="+mj-cs"/>
              </a:rPr>
              <a:t>MACHINE LEARNING</a:t>
            </a:r>
            <a:endParaRPr lang="en-IN" sz="4000" dirty="0">
              <a:solidFill>
                <a:srgbClr val="FF0000"/>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566772"/>
            <a:ext cx="9657806" cy="147732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ea typeface="+mj-ea"/>
                <a:cs typeface="+mj-cs"/>
              </a:rPr>
              <a:t>SESSION NO :</a:t>
            </a:r>
            <a:r>
              <a:rPr lang="en-US" sz="3000" b="1" cap="all" dirty="0">
                <a:cs typeface="Times New Roman" pitchFamily="18" charset="0"/>
              </a:rPr>
              <a:t> 7</a:t>
            </a:r>
          </a:p>
          <a:p>
            <a:pPr algn="ctr"/>
            <a:r>
              <a:rPr lang="en-US" sz="3000" b="1" dirty="0"/>
              <a:t>Classical Search – Informed Search</a:t>
            </a:r>
          </a:p>
          <a:p>
            <a:pPr algn="ctr"/>
            <a:r>
              <a:rPr lang="en-US" sz="3000" b="1" dirty="0"/>
              <a:t>Greedy, A*, admissible/consistent heuristics.</a:t>
            </a:r>
            <a:endParaRPr lang="en-IN" sz="3000" b="1"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6B702-BBF5-76EB-C12B-89ACA575A4D0}"/>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521BF42A-9120-506F-FDB7-880DAB6FC2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41413A4-AFF8-FEFF-40B5-2191E6A17CE9}"/>
              </a:ext>
            </a:extLst>
          </p:cNvPr>
          <p:cNvSpPr/>
          <p:nvPr/>
        </p:nvSpPr>
        <p:spPr>
          <a:xfrm>
            <a:off x="2489798" y="1109867"/>
            <a:ext cx="5792054" cy="378565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t>Uninformed vs. Informed Search</a:t>
            </a:r>
          </a:p>
          <a:p>
            <a:pPr marL="342900" indent="-342900">
              <a:lnSpc>
                <a:spcPct val="150000"/>
              </a:lnSpc>
              <a:buFont typeface="Arial" panose="020B0604020202020204" pitchFamily="34" charset="0"/>
              <a:buChar char="•"/>
            </a:pPr>
            <a:r>
              <a:rPr lang="en-US" sz="2400" dirty="0"/>
              <a:t>Greedy Best-First Search</a:t>
            </a:r>
          </a:p>
          <a:p>
            <a:pPr marL="342900" indent="-342900">
              <a:lnSpc>
                <a:spcPct val="150000"/>
              </a:lnSpc>
              <a:buFont typeface="Arial" panose="020B0604020202020204" pitchFamily="34" charset="0"/>
              <a:buChar char="•"/>
            </a:pPr>
            <a:r>
              <a:rPr lang="en-US" sz="2400" dirty="0"/>
              <a:t>A* Search Algorithm</a:t>
            </a:r>
          </a:p>
          <a:p>
            <a:pPr marL="342900" indent="-342900">
              <a:lnSpc>
                <a:spcPct val="150000"/>
              </a:lnSpc>
              <a:buFont typeface="Arial" panose="020B0604020202020204" pitchFamily="34" charset="0"/>
              <a:buChar char="•"/>
            </a:pPr>
            <a:r>
              <a:rPr lang="en-US" sz="2400" dirty="0"/>
              <a:t>Heuristic Functions</a:t>
            </a:r>
          </a:p>
          <a:p>
            <a:pPr marL="342900" indent="-342900">
              <a:lnSpc>
                <a:spcPct val="150000"/>
              </a:lnSpc>
              <a:buFont typeface="Arial" panose="020B0604020202020204" pitchFamily="34" charset="0"/>
              <a:buChar char="•"/>
            </a:pPr>
            <a:r>
              <a:rPr lang="en-US" sz="2400" dirty="0"/>
              <a:t>Admissibility &amp; Consistency</a:t>
            </a:r>
          </a:p>
          <a:p>
            <a:pPr marL="342900" indent="-342900">
              <a:lnSpc>
                <a:spcPct val="150000"/>
              </a:lnSpc>
              <a:buFont typeface="Arial" panose="020B0604020202020204" pitchFamily="34" charset="0"/>
              <a:buChar char="•"/>
            </a:pPr>
            <a:r>
              <a:rPr lang="en-US" sz="2400" dirty="0"/>
              <a:t>Comparison and Use Cases</a:t>
            </a:r>
          </a:p>
          <a:p>
            <a:endParaRPr lang="en-US" sz="2400" dirty="0"/>
          </a:p>
        </p:txBody>
      </p:sp>
      <p:sp>
        <p:nvSpPr>
          <p:cNvPr id="10" name="Rectangle 9">
            <a:extLst>
              <a:ext uri="{FF2B5EF4-FFF2-40B4-BE49-F238E27FC236}">
                <a16:creationId xmlns:a16="http://schemas.microsoft.com/office/drawing/2014/main" id="{83EFEE9E-7840-0974-A31B-B52FFFA28DB0}"/>
              </a:ext>
            </a:extLst>
          </p:cNvPr>
          <p:cNvSpPr/>
          <p:nvPr/>
        </p:nvSpPr>
        <p:spPr>
          <a:xfrm>
            <a:off x="4180114" y="-3819"/>
            <a:ext cx="4390741" cy="646331"/>
          </a:xfrm>
          <a:prstGeom prst="rect">
            <a:avLst/>
          </a:prstGeom>
        </p:spPr>
        <p:txBody>
          <a:bodyPr wrap="square">
            <a:spAutoFit/>
          </a:bodyPr>
          <a:lstStyle/>
          <a:p>
            <a:pPr algn="ctr"/>
            <a:r>
              <a:rPr lang="en-IN" sz="3600" dirty="0">
                <a:solidFill>
                  <a:srgbClr val="FF0000"/>
                </a:solidFill>
              </a:rPr>
              <a:t>Overview</a:t>
            </a:r>
            <a:endParaRPr lang="en-US" sz="3600" b="1" cap="all" dirty="0">
              <a:solidFill>
                <a:srgbClr val="0070C0"/>
              </a:solidFill>
              <a:latin typeface="Gill Sans MT"/>
            </a:endParaRPr>
          </a:p>
        </p:txBody>
      </p:sp>
    </p:spTree>
    <p:extLst>
      <p:ext uri="{BB962C8B-B14F-4D97-AF65-F5344CB8AC3E}">
        <p14:creationId xmlns:p14="http://schemas.microsoft.com/office/powerpoint/2010/main" val="881392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3FD68-5812-3029-A5FE-DCADBE2D2165}"/>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775185ED-6E49-150D-5AC1-04F9BC27BF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5C85B85-B4E8-6DA1-20C7-6B63802BCBB8}"/>
              </a:ext>
            </a:extLst>
          </p:cNvPr>
          <p:cNvSpPr/>
          <p:nvPr/>
        </p:nvSpPr>
        <p:spPr>
          <a:xfrm>
            <a:off x="704540" y="1236932"/>
            <a:ext cx="10807908" cy="1015663"/>
          </a:xfrm>
          <a:prstGeom prst="rect">
            <a:avLst/>
          </a:prstGeom>
        </p:spPr>
        <p:txBody>
          <a:bodyPr wrap="square">
            <a:spAutoFit/>
          </a:bodyPr>
          <a:lstStyle/>
          <a:p>
            <a:pPr marL="342900" indent="-342900">
              <a:lnSpc>
                <a:spcPct val="150000"/>
              </a:lnSpc>
              <a:buFont typeface="Arial" panose="020B0604020202020204" pitchFamily="34" charset="0"/>
              <a:buChar char="•"/>
            </a:pPr>
            <a:endParaRPr lang="en-US" sz="2400" dirty="0"/>
          </a:p>
          <a:p>
            <a:endParaRPr lang="en-US" sz="2400" dirty="0"/>
          </a:p>
        </p:txBody>
      </p:sp>
      <p:sp>
        <p:nvSpPr>
          <p:cNvPr id="10" name="Rectangle 9">
            <a:extLst>
              <a:ext uri="{FF2B5EF4-FFF2-40B4-BE49-F238E27FC236}">
                <a16:creationId xmlns:a16="http://schemas.microsoft.com/office/drawing/2014/main" id="{7EB8227F-D26C-33B1-F8BF-99A2141C2321}"/>
              </a:ext>
            </a:extLst>
          </p:cNvPr>
          <p:cNvSpPr/>
          <p:nvPr/>
        </p:nvSpPr>
        <p:spPr>
          <a:xfrm>
            <a:off x="2780959" y="-169407"/>
            <a:ext cx="6655070" cy="834909"/>
          </a:xfrm>
          <a:prstGeom prst="rect">
            <a:avLst/>
          </a:prstGeom>
        </p:spPr>
        <p:txBody>
          <a:bodyPr wrap="square">
            <a:spAutoFit/>
          </a:bodyPr>
          <a:lstStyle/>
          <a:p>
            <a:pPr>
              <a:lnSpc>
                <a:spcPct val="150000"/>
              </a:lnSpc>
            </a:pPr>
            <a:r>
              <a:rPr lang="en-US" sz="3600" dirty="0">
                <a:solidFill>
                  <a:srgbClr val="FF0000"/>
                </a:solidFill>
              </a:rPr>
              <a:t>Uninformed vs. Informed Search</a:t>
            </a:r>
            <a:endParaRPr lang="en-US" sz="3600" b="1" cap="all" dirty="0">
              <a:solidFill>
                <a:srgbClr val="0070C0"/>
              </a:solidFill>
              <a:latin typeface="Gill Sans MT"/>
            </a:endParaRPr>
          </a:p>
        </p:txBody>
      </p:sp>
      <p:sp>
        <p:nvSpPr>
          <p:cNvPr id="3" name="Rectangle 2">
            <a:extLst>
              <a:ext uri="{FF2B5EF4-FFF2-40B4-BE49-F238E27FC236}">
                <a16:creationId xmlns:a16="http://schemas.microsoft.com/office/drawing/2014/main" id="{1EA05072-2820-4FB9-A9C2-F4CCC171842B}"/>
              </a:ext>
            </a:extLst>
          </p:cNvPr>
          <p:cNvSpPr>
            <a:spLocks noChangeArrowheads="1"/>
          </p:cNvSpPr>
          <p:nvPr/>
        </p:nvSpPr>
        <p:spPr bwMode="auto">
          <a:xfrm>
            <a:off x="617633" y="642660"/>
            <a:ext cx="12000412" cy="557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effectLst/>
              </a:rPr>
              <a:t>Uninformed Search (Blind Search):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Does </a:t>
            </a:r>
            <a:r>
              <a:rPr kumimoji="0" lang="en-US" altLang="en-US" sz="2400" b="1" i="0" u="none" strike="noStrike" cap="none" normalizeH="0" baseline="0" dirty="0">
                <a:ln>
                  <a:noFill/>
                </a:ln>
                <a:solidFill>
                  <a:schemeClr val="tx1"/>
                </a:solidFill>
                <a:effectLst/>
              </a:rPr>
              <a:t>not use any domain-specific knowledge</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Only uses the information available in the problem definition (e.g., initial state, goal test).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Examples: </a:t>
            </a:r>
            <a:r>
              <a:rPr kumimoji="0" lang="en-US" altLang="en-US" sz="2400" b="1" i="0" u="none" strike="noStrike" cap="none" normalizeH="0" baseline="0" dirty="0">
                <a:ln>
                  <a:noFill/>
                </a:ln>
                <a:solidFill>
                  <a:schemeClr val="tx1"/>
                </a:solidFill>
                <a:effectLst/>
              </a:rPr>
              <a:t>Breadth-First Search (BFS)</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Depth-First Search (DFS)</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Uniform Cost Search (UCS)</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Often explores many irrelevant paths → </a:t>
            </a:r>
            <a:r>
              <a:rPr kumimoji="0" lang="en-US" altLang="en-US" sz="2400" b="1" i="0" u="none" strike="noStrike" cap="none" normalizeH="0" baseline="0" dirty="0">
                <a:ln>
                  <a:noFill/>
                </a:ln>
                <a:solidFill>
                  <a:schemeClr val="tx1"/>
                </a:solidFill>
                <a:effectLst/>
              </a:rPr>
              <a:t>inefficient</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effectLst/>
              </a:rPr>
              <a:t>Informed Search (Heuristic Search):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Utilizes </a:t>
            </a:r>
            <a:r>
              <a:rPr kumimoji="0" lang="en-US" altLang="en-US" sz="2400" b="1" i="0" u="none" strike="noStrike" cap="none" normalizeH="0" baseline="0" dirty="0">
                <a:ln>
                  <a:noFill/>
                </a:ln>
                <a:solidFill>
                  <a:schemeClr val="tx1"/>
                </a:solidFill>
                <a:effectLst/>
              </a:rPr>
              <a:t>problem-specific knowledge</a:t>
            </a:r>
            <a:r>
              <a:rPr kumimoji="0" lang="en-US" altLang="en-US" sz="2400" b="0" i="0" u="none" strike="noStrike" cap="none" normalizeH="0" baseline="0" dirty="0">
                <a:ln>
                  <a:noFill/>
                </a:ln>
                <a:solidFill>
                  <a:schemeClr val="tx1"/>
                </a:solidFill>
                <a:effectLst/>
              </a:rPr>
              <a:t> (heuristics) to guide the search.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More </a:t>
            </a:r>
            <a:r>
              <a:rPr kumimoji="0" lang="en-US" altLang="en-US" sz="2400" b="1" i="0" u="none" strike="noStrike" cap="none" normalizeH="0" baseline="0" dirty="0">
                <a:ln>
                  <a:noFill/>
                </a:ln>
                <a:solidFill>
                  <a:schemeClr val="tx1"/>
                </a:solidFill>
                <a:effectLst/>
              </a:rPr>
              <a:t>efficient</a:t>
            </a:r>
            <a:r>
              <a:rPr kumimoji="0" lang="en-US" altLang="en-US" sz="2400" b="0" i="0" u="none" strike="noStrike" cap="none" normalizeH="0" baseline="0" dirty="0">
                <a:ln>
                  <a:noFill/>
                </a:ln>
                <a:solidFill>
                  <a:schemeClr val="tx1"/>
                </a:solidFill>
                <a:effectLst/>
              </a:rPr>
              <a:t> by focusing on promising paths.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Examples: </a:t>
            </a:r>
            <a:r>
              <a:rPr kumimoji="0" lang="en-US" altLang="en-US" sz="2400" b="1" i="0" u="none" strike="noStrike" cap="none" normalizeH="0" baseline="0" dirty="0">
                <a:ln>
                  <a:noFill/>
                </a:ln>
                <a:solidFill>
                  <a:schemeClr val="tx1"/>
                </a:solidFill>
                <a:effectLst/>
              </a:rPr>
              <a:t>Greedy Best-First Search</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A*</a:t>
            </a:r>
            <a:r>
              <a:rPr kumimoji="0" lang="en-US" altLang="en-US" sz="2400" b="0" i="0" u="none" strike="noStrike" cap="none" normalizeH="0" baseline="0" dirty="0">
                <a:ln>
                  <a:noFill/>
                </a:ln>
                <a:solidFill>
                  <a:schemeClr val="tx1"/>
                </a:solidFill>
                <a:effectLst/>
              </a:rPr>
              <a:t> Search.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Requires a good </a:t>
            </a:r>
            <a:r>
              <a:rPr kumimoji="0" lang="en-US" altLang="en-US" sz="2400" b="1" i="0" u="none" strike="noStrike" cap="none" normalizeH="0" baseline="0" dirty="0">
                <a:ln>
                  <a:noFill/>
                </a:ln>
                <a:solidFill>
                  <a:schemeClr val="tx1"/>
                </a:solidFill>
                <a:effectLst/>
              </a:rPr>
              <a:t>heuristic function</a:t>
            </a:r>
            <a:r>
              <a:rPr kumimoji="0" lang="en-US" altLang="en-US" sz="2400" b="0" i="0" u="none" strike="noStrike" cap="none" normalizeH="0" baseline="0" dirty="0">
                <a:ln>
                  <a:noFill/>
                </a:ln>
                <a:solidFill>
                  <a:schemeClr val="tx1"/>
                </a:solidFill>
                <a:effectLst/>
              </a:rPr>
              <a:t> h(n) for effectiveness.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1496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AE2F7-0248-2863-5760-CEF506D3874A}"/>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256A5E50-5723-B2E4-72AD-AC4CA7E5E2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385D00B-7AE6-4B8E-9D7D-B5321A0445EE}"/>
              </a:ext>
            </a:extLst>
          </p:cNvPr>
          <p:cNvSpPr/>
          <p:nvPr/>
        </p:nvSpPr>
        <p:spPr>
          <a:xfrm>
            <a:off x="704540" y="1236932"/>
            <a:ext cx="10807908" cy="1015663"/>
          </a:xfrm>
          <a:prstGeom prst="rect">
            <a:avLst/>
          </a:prstGeom>
        </p:spPr>
        <p:txBody>
          <a:bodyPr wrap="square">
            <a:spAutoFit/>
          </a:bodyPr>
          <a:lstStyle/>
          <a:p>
            <a:pPr marL="342900" indent="-342900">
              <a:lnSpc>
                <a:spcPct val="150000"/>
              </a:lnSpc>
              <a:buFont typeface="Arial" panose="020B0604020202020204" pitchFamily="34" charset="0"/>
              <a:buChar char="•"/>
            </a:pPr>
            <a:endParaRPr lang="en-US" sz="2400" dirty="0"/>
          </a:p>
          <a:p>
            <a:endParaRPr lang="en-US" sz="2400" dirty="0"/>
          </a:p>
        </p:txBody>
      </p:sp>
      <p:sp>
        <p:nvSpPr>
          <p:cNvPr id="10" name="Rectangle 9">
            <a:extLst>
              <a:ext uri="{FF2B5EF4-FFF2-40B4-BE49-F238E27FC236}">
                <a16:creationId xmlns:a16="http://schemas.microsoft.com/office/drawing/2014/main" id="{4F393534-1A66-2C32-CCB2-7C34F1325347}"/>
              </a:ext>
            </a:extLst>
          </p:cNvPr>
          <p:cNvSpPr/>
          <p:nvPr/>
        </p:nvSpPr>
        <p:spPr>
          <a:xfrm>
            <a:off x="2314758" y="0"/>
            <a:ext cx="7814931" cy="646331"/>
          </a:xfrm>
          <a:prstGeom prst="rect">
            <a:avLst/>
          </a:prstGeom>
        </p:spPr>
        <p:txBody>
          <a:bodyPr wrap="square">
            <a:spAutoFit/>
          </a:bodyPr>
          <a:lstStyle/>
          <a:p>
            <a:pPr algn="ctr"/>
            <a:r>
              <a:rPr lang="en-IN" sz="3600" dirty="0">
                <a:solidFill>
                  <a:srgbClr val="FF0000"/>
                </a:solidFill>
              </a:rPr>
              <a:t>Comparison Table</a:t>
            </a:r>
            <a:endParaRPr lang="en-US" sz="3600" b="1" cap="all" dirty="0">
              <a:solidFill>
                <a:srgbClr val="0070C0"/>
              </a:solidFill>
              <a:latin typeface="Gill Sans MT"/>
            </a:endParaRPr>
          </a:p>
        </p:txBody>
      </p:sp>
      <p:graphicFrame>
        <p:nvGraphicFramePr>
          <p:cNvPr id="7" name="Table 6">
            <a:extLst>
              <a:ext uri="{FF2B5EF4-FFF2-40B4-BE49-F238E27FC236}">
                <a16:creationId xmlns:a16="http://schemas.microsoft.com/office/drawing/2014/main" id="{6F025DA5-7363-62F0-8783-E8BC791CA30D}"/>
              </a:ext>
            </a:extLst>
          </p:cNvPr>
          <p:cNvGraphicFramePr>
            <a:graphicFrameLocks noGrp="1"/>
          </p:cNvGraphicFramePr>
          <p:nvPr>
            <p:extLst>
              <p:ext uri="{D42A27DB-BD31-4B8C-83A1-F6EECF244321}">
                <p14:modId xmlns:p14="http://schemas.microsoft.com/office/powerpoint/2010/main" val="2204518432"/>
              </p:ext>
            </p:extLst>
          </p:nvPr>
        </p:nvGraphicFramePr>
        <p:xfrm>
          <a:off x="1227908" y="965699"/>
          <a:ext cx="10138386" cy="4600154"/>
        </p:xfrm>
        <a:graphic>
          <a:graphicData uri="http://schemas.openxmlformats.org/drawingml/2006/table">
            <a:tbl>
              <a:tblPr>
                <a:tableStyleId>{5940675A-B579-460E-94D1-54222C63F5DA}</a:tableStyleId>
              </a:tblPr>
              <a:tblGrid>
                <a:gridCol w="3379462">
                  <a:extLst>
                    <a:ext uri="{9D8B030D-6E8A-4147-A177-3AD203B41FA5}">
                      <a16:colId xmlns:a16="http://schemas.microsoft.com/office/drawing/2014/main" val="1614178370"/>
                    </a:ext>
                  </a:extLst>
                </a:gridCol>
                <a:gridCol w="3379462">
                  <a:extLst>
                    <a:ext uri="{9D8B030D-6E8A-4147-A177-3AD203B41FA5}">
                      <a16:colId xmlns:a16="http://schemas.microsoft.com/office/drawing/2014/main" val="3417830185"/>
                    </a:ext>
                  </a:extLst>
                </a:gridCol>
                <a:gridCol w="3379462">
                  <a:extLst>
                    <a:ext uri="{9D8B030D-6E8A-4147-A177-3AD203B41FA5}">
                      <a16:colId xmlns:a16="http://schemas.microsoft.com/office/drawing/2014/main" val="182916379"/>
                    </a:ext>
                  </a:extLst>
                </a:gridCol>
              </a:tblGrid>
              <a:tr h="1249422">
                <a:tc>
                  <a:txBody>
                    <a:bodyPr/>
                    <a:lstStyle/>
                    <a:p>
                      <a:pPr>
                        <a:buNone/>
                      </a:pPr>
                      <a:r>
                        <a:rPr lang="en-IN" sz="2800" dirty="0">
                          <a:solidFill>
                            <a:srgbClr val="00B050"/>
                          </a:solidFill>
                        </a:rPr>
                        <a:t>Feature</a:t>
                      </a:r>
                    </a:p>
                  </a:txBody>
                  <a:tcPr anchor="ctr"/>
                </a:tc>
                <a:tc>
                  <a:txBody>
                    <a:bodyPr/>
                    <a:lstStyle/>
                    <a:p>
                      <a:pPr>
                        <a:buNone/>
                      </a:pPr>
                      <a:r>
                        <a:rPr lang="en-IN" sz="2800" dirty="0">
                          <a:solidFill>
                            <a:srgbClr val="00B050"/>
                          </a:solidFill>
                        </a:rPr>
                        <a:t>Uninformed Search</a:t>
                      </a:r>
                    </a:p>
                  </a:txBody>
                  <a:tcPr anchor="ctr"/>
                </a:tc>
                <a:tc>
                  <a:txBody>
                    <a:bodyPr/>
                    <a:lstStyle/>
                    <a:p>
                      <a:pPr>
                        <a:buNone/>
                      </a:pPr>
                      <a:r>
                        <a:rPr lang="en-IN" sz="2800" dirty="0">
                          <a:solidFill>
                            <a:srgbClr val="00B050"/>
                          </a:solidFill>
                        </a:rPr>
                        <a:t>Informed Search</a:t>
                      </a:r>
                    </a:p>
                  </a:txBody>
                  <a:tcPr anchor="ctr"/>
                </a:tc>
                <a:extLst>
                  <a:ext uri="{0D108BD9-81ED-4DB2-BD59-A6C34878D82A}">
                    <a16:rowId xmlns:a16="http://schemas.microsoft.com/office/drawing/2014/main" val="51075509"/>
                  </a:ext>
                </a:extLst>
              </a:tr>
              <a:tr h="852902">
                <a:tc>
                  <a:txBody>
                    <a:bodyPr/>
                    <a:lstStyle/>
                    <a:p>
                      <a:pPr>
                        <a:buNone/>
                      </a:pPr>
                      <a:r>
                        <a:rPr lang="en-IN" sz="2800" dirty="0"/>
                        <a:t>Knowledge Used</a:t>
                      </a:r>
                    </a:p>
                  </a:txBody>
                  <a:tcPr anchor="ctr"/>
                </a:tc>
                <a:tc>
                  <a:txBody>
                    <a:bodyPr/>
                    <a:lstStyle/>
                    <a:p>
                      <a:pPr>
                        <a:buNone/>
                      </a:pPr>
                      <a:r>
                        <a:rPr lang="en-IN" sz="2800" dirty="0"/>
                        <a:t>None (Blind)</a:t>
                      </a:r>
                    </a:p>
                  </a:txBody>
                  <a:tcPr anchor="ctr"/>
                </a:tc>
                <a:tc>
                  <a:txBody>
                    <a:bodyPr/>
                    <a:lstStyle/>
                    <a:p>
                      <a:pPr>
                        <a:buNone/>
                      </a:pPr>
                      <a:r>
                        <a:rPr lang="en-IN" sz="2800"/>
                        <a:t>Heuristic/Extra knowledge</a:t>
                      </a:r>
                    </a:p>
                  </a:txBody>
                  <a:tcPr anchor="ctr"/>
                </a:tc>
                <a:extLst>
                  <a:ext uri="{0D108BD9-81ED-4DB2-BD59-A6C34878D82A}">
                    <a16:rowId xmlns:a16="http://schemas.microsoft.com/office/drawing/2014/main" val="3060685464"/>
                  </a:ext>
                </a:extLst>
              </a:tr>
              <a:tr h="852902">
                <a:tc>
                  <a:txBody>
                    <a:bodyPr/>
                    <a:lstStyle/>
                    <a:p>
                      <a:pPr>
                        <a:buNone/>
                      </a:pPr>
                      <a:r>
                        <a:rPr lang="en-IN" sz="2800" dirty="0"/>
                        <a:t>Speed &amp; Efficiency</a:t>
                      </a:r>
                    </a:p>
                  </a:txBody>
                  <a:tcPr anchor="ctr"/>
                </a:tc>
                <a:tc>
                  <a:txBody>
                    <a:bodyPr/>
                    <a:lstStyle/>
                    <a:p>
                      <a:pPr>
                        <a:buNone/>
                      </a:pPr>
                      <a:r>
                        <a:rPr lang="en-IN" sz="2800"/>
                        <a:t>Slower</a:t>
                      </a:r>
                    </a:p>
                  </a:txBody>
                  <a:tcPr anchor="ctr"/>
                </a:tc>
                <a:tc>
                  <a:txBody>
                    <a:bodyPr/>
                    <a:lstStyle/>
                    <a:p>
                      <a:pPr>
                        <a:buNone/>
                      </a:pPr>
                      <a:r>
                        <a:rPr lang="en-IN" sz="2800"/>
                        <a:t>Faster (with good heuristics)</a:t>
                      </a:r>
                    </a:p>
                  </a:txBody>
                  <a:tcPr anchor="ctr"/>
                </a:tc>
                <a:extLst>
                  <a:ext uri="{0D108BD9-81ED-4DB2-BD59-A6C34878D82A}">
                    <a16:rowId xmlns:a16="http://schemas.microsoft.com/office/drawing/2014/main" val="542624536"/>
                  </a:ext>
                </a:extLst>
              </a:tr>
              <a:tr h="730486">
                <a:tc>
                  <a:txBody>
                    <a:bodyPr/>
                    <a:lstStyle/>
                    <a:p>
                      <a:pPr>
                        <a:buNone/>
                      </a:pPr>
                      <a:r>
                        <a:rPr lang="en-IN" sz="2800"/>
                        <a:t>Examples</a:t>
                      </a:r>
                    </a:p>
                  </a:txBody>
                  <a:tcPr anchor="ctr"/>
                </a:tc>
                <a:tc>
                  <a:txBody>
                    <a:bodyPr/>
                    <a:lstStyle/>
                    <a:p>
                      <a:pPr>
                        <a:buNone/>
                      </a:pPr>
                      <a:r>
                        <a:rPr lang="en-IN" sz="2800"/>
                        <a:t>BFS, DFS, UCS</a:t>
                      </a:r>
                    </a:p>
                  </a:txBody>
                  <a:tcPr anchor="ctr"/>
                </a:tc>
                <a:tc>
                  <a:txBody>
                    <a:bodyPr/>
                    <a:lstStyle/>
                    <a:p>
                      <a:pPr>
                        <a:buNone/>
                      </a:pPr>
                      <a:r>
                        <a:rPr lang="en-IN" sz="2800"/>
                        <a:t>Greedy, A*</a:t>
                      </a:r>
                    </a:p>
                  </a:txBody>
                  <a:tcPr anchor="ctr"/>
                </a:tc>
                <a:extLst>
                  <a:ext uri="{0D108BD9-81ED-4DB2-BD59-A6C34878D82A}">
                    <a16:rowId xmlns:a16="http://schemas.microsoft.com/office/drawing/2014/main" val="994187138"/>
                  </a:ext>
                </a:extLst>
              </a:tr>
              <a:tr h="730486">
                <a:tc>
                  <a:txBody>
                    <a:bodyPr/>
                    <a:lstStyle/>
                    <a:p>
                      <a:pPr>
                        <a:buNone/>
                      </a:pPr>
                      <a:r>
                        <a:rPr lang="en-IN" sz="2800" dirty="0"/>
                        <a:t>Goal Direction</a:t>
                      </a:r>
                    </a:p>
                  </a:txBody>
                  <a:tcPr anchor="ctr"/>
                </a:tc>
                <a:tc>
                  <a:txBody>
                    <a:bodyPr/>
                    <a:lstStyle/>
                    <a:p>
                      <a:pPr>
                        <a:buNone/>
                      </a:pPr>
                      <a:r>
                        <a:rPr lang="en-IN" sz="2800"/>
                        <a:t>No</a:t>
                      </a:r>
                    </a:p>
                  </a:txBody>
                  <a:tcPr anchor="ctr"/>
                </a:tc>
                <a:tc>
                  <a:txBody>
                    <a:bodyPr/>
                    <a:lstStyle/>
                    <a:p>
                      <a:pPr>
                        <a:buNone/>
                      </a:pPr>
                      <a:r>
                        <a:rPr lang="en-IN" sz="2800" dirty="0"/>
                        <a:t>Yes</a:t>
                      </a:r>
                    </a:p>
                  </a:txBody>
                  <a:tcPr anchor="ctr"/>
                </a:tc>
                <a:extLst>
                  <a:ext uri="{0D108BD9-81ED-4DB2-BD59-A6C34878D82A}">
                    <a16:rowId xmlns:a16="http://schemas.microsoft.com/office/drawing/2014/main" val="496100575"/>
                  </a:ext>
                </a:extLst>
              </a:tr>
            </a:tbl>
          </a:graphicData>
        </a:graphic>
      </p:graphicFrame>
    </p:spTree>
    <p:extLst>
      <p:ext uri="{BB962C8B-B14F-4D97-AF65-F5344CB8AC3E}">
        <p14:creationId xmlns:p14="http://schemas.microsoft.com/office/powerpoint/2010/main" val="1060460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AF9CB-0EC0-FACC-8080-5436F932AEC8}"/>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3241D443-3B60-DD13-E5FF-501C77B0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EEC38E7-66F7-12EE-2147-B4B4D023576D}"/>
              </a:ext>
            </a:extLst>
          </p:cNvPr>
          <p:cNvSpPr/>
          <p:nvPr/>
        </p:nvSpPr>
        <p:spPr>
          <a:xfrm>
            <a:off x="871932" y="1304307"/>
            <a:ext cx="10807908" cy="335906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t>Classical Search</a:t>
            </a:r>
            <a:r>
              <a:rPr lang="en-US" sz="2400" dirty="0"/>
              <a:t> algorithms operate without any domain-specific knowledge.</a:t>
            </a:r>
          </a:p>
          <a:p>
            <a:pPr marL="342900" indent="-342900">
              <a:lnSpc>
                <a:spcPct val="150000"/>
              </a:lnSpc>
              <a:buFont typeface="Arial" panose="020B0604020202020204" pitchFamily="34" charset="0"/>
              <a:buChar char="•"/>
            </a:pPr>
            <a:r>
              <a:rPr lang="en-US" sz="2400" dirty="0"/>
              <a:t> They include uninformed strategies such as Breadth-First Search, Depth-First Search, and Uniform Cost Search.</a:t>
            </a:r>
          </a:p>
          <a:p>
            <a:pPr marL="342900" indent="-342900">
              <a:lnSpc>
                <a:spcPct val="150000"/>
              </a:lnSpc>
              <a:buFont typeface="Arial" panose="020B0604020202020204" pitchFamily="34" charset="0"/>
              <a:buChar char="•"/>
            </a:pPr>
            <a:r>
              <a:rPr lang="en-US" sz="2400" dirty="0"/>
              <a:t> These methods explore the search space blindly and can be inefficient for large or complex problems.</a:t>
            </a:r>
          </a:p>
          <a:p>
            <a:pPr>
              <a:lnSpc>
                <a:spcPct val="150000"/>
              </a:lnSpc>
            </a:pPr>
            <a:endParaRPr lang="en-US" sz="2400" dirty="0"/>
          </a:p>
        </p:txBody>
      </p:sp>
      <p:sp>
        <p:nvSpPr>
          <p:cNvPr id="10" name="Rectangle 9">
            <a:extLst>
              <a:ext uri="{FF2B5EF4-FFF2-40B4-BE49-F238E27FC236}">
                <a16:creationId xmlns:a16="http://schemas.microsoft.com/office/drawing/2014/main" id="{B0E6C1F6-2C4F-6490-9689-576BED23B44B}"/>
              </a:ext>
            </a:extLst>
          </p:cNvPr>
          <p:cNvSpPr/>
          <p:nvPr/>
        </p:nvSpPr>
        <p:spPr>
          <a:xfrm>
            <a:off x="3639844" y="-8527"/>
            <a:ext cx="5272084" cy="646331"/>
          </a:xfrm>
          <a:prstGeom prst="rect">
            <a:avLst/>
          </a:prstGeom>
        </p:spPr>
        <p:txBody>
          <a:bodyPr wrap="none">
            <a:spAutoFit/>
          </a:bodyPr>
          <a:lstStyle/>
          <a:p>
            <a:pPr algn="ctr"/>
            <a:r>
              <a:rPr lang="en-IN" sz="3600" dirty="0">
                <a:solidFill>
                  <a:srgbClr val="FF0000"/>
                </a:solidFill>
              </a:rPr>
              <a:t>Classical Search – Informed</a:t>
            </a:r>
            <a:endParaRPr lang="en-US" sz="3600" b="1" cap="all" dirty="0">
              <a:solidFill>
                <a:srgbClr val="FF0000"/>
              </a:solidFill>
              <a:latin typeface="Gill Sans MT"/>
            </a:endParaRPr>
          </a:p>
        </p:txBody>
      </p:sp>
    </p:spTree>
    <p:extLst>
      <p:ext uri="{BB962C8B-B14F-4D97-AF65-F5344CB8AC3E}">
        <p14:creationId xmlns:p14="http://schemas.microsoft.com/office/powerpoint/2010/main" val="378911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92046" y="746958"/>
            <a:ext cx="10807908" cy="557505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t>Informed Search</a:t>
            </a:r>
            <a:r>
              <a:rPr lang="en-US" sz="2400" dirty="0"/>
              <a:t> (also known as heuristic search) uses problem-specific knowledge to find solutions more efficiently. By incorporating </a:t>
            </a:r>
            <a:r>
              <a:rPr lang="en-US" sz="2400" b="1" dirty="0"/>
              <a:t>heuristics</a:t>
            </a:r>
            <a:r>
              <a:rPr lang="en-US" sz="2400" dirty="0"/>
              <a:t>—estimates of the cost from a given state to the goal—these algorithms significantly reduce the number of explored nodes.</a:t>
            </a:r>
          </a:p>
          <a:p>
            <a:pPr>
              <a:lnSpc>
                <a:spcPct val="150000"/>
              </a:lnSpc>
            </a:pPr>
            <a:r>
              <a:rPr lang="en-US" sz="2400" dirty="0"/>
              <a:t>Two important informed search strategies are:</a:t>
            </a:r>
          </a:p>
          <a:p>
            <a:pPr marL="457200" indent="-457200">
              <a:lnSpc>
                <a:spcPct val="150000"/>
              </a:lnSpc>
              <a:buFont typeface="+mj-lt"/>
              <a:buAutoNum type="arabicPeriod"/>
            </a:pPr>
            <a:r>
              <a:rPr lang="en-US" sz="2400" b="1" dirty="0"/>
              <a:t>	Greedy Best-First Search</a:t>
            </a:r>
            <a:r>
              <a:rPr lang="en-US" sz="2400" dirty="0"/>
              <a:t>, which uses heuristics to expand the node that 	appears closest to the goal.</a:t>
            </a:r>
          </a:p>
          <a:p>
            <a:pPr marL="457200" indent="-457200">
              <a:lnSpc>
                <a:spcPct val="150000"/>
              </a:lnSpc>
              <a:buFont typeface="+mj-lt"/>
              <a:buAutoNum type="arabicPeriod"/>
            </a:pPr>
            <a:r>
              <a:rPr lang="en-US" sz="2400" b="1" dirty="0"/>
              <a:t>	A*</a:t>
            </a:r>
            <a:r>
              <a:rPr lang="en-US" sz="2400" dirty="0"/>
              <a:t> Search, which combines the cost so far and the heuristic estimate to make 	balanced decisions.</a:t>
            </a:r>
          </a:p>
          <a:p>
            <a:pPr>
              <a:lnSpc>
                <a:spcPct val="150000"/>
              </a:lnSpc>
            </a:pPr>
            <a:endParaRPr lang="en-US" sz="2400" dirty="0"/>
          </a:p>
        </p:txBody>
      </p:sp>
      <p:sp>
        <p:nvSpPr>
          <p:cNvPr id="10" name="Rectangle 9"/>
          <p:cNvSpPr/>
          <p:nvPr/>
        </p:nvSpPr>
        <p:spPr>
          <a:xfrm>
            <a:off x="3639844" y="-8527"/>
            <a:ext cx="5272084" cy="646331"/>
          </a:xfrm>
          <a:prstGeom prst="rect">
            <a:avLst/>
          </a:prstGeom>
        </p:spPr>
        <p:txBody>
          <a:bodyPr wrap="none">
            <a:spAutoFit/>
          </a:bodyPr>
          <a:lstStyle/>
          <a:p>
            <a:pPr algn="ctr"/>
            <a:r>
              <a:rPr lang="en-IN" sz="3600" dirty="0">
                <a:solidFill>
                  <a:srgbClr val="FF0000"/>
                </a:solidFill>
              </a:rPr>
              <a:t>Classical Search – Informed</a:t>
            </a:r>
            <a:endParaRPr lang="en-US" sz="3600" b="1" cap="all" dirty="0">
              <a:solidFill>
                <a:srgbClr val="FF0000"/>
              </a:solidFill>
              <a:latin typeface="Gill Sans MT"/>
            </a:endParaRPr>
          </a:p>
        </p:txBody>
      </p:sp>
    </p:spTree>
    <p:extLst>
      <p:ext uri="{BB962C8B-B14F-4D97-AF65-F5344CB8AC3E}">
        <p14:creationId xmlns:p14="http://schemas.microsoft.com/office/powerpoint/2010/main" val="398817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56791-04F1-0CC3-E82D-69FA44BD0B1A}"/>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6791A5BD-A65A-1B09-22A0-845E8A38EB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471D1F2-8440-31C8-81E7-6019077A8686}"/>
              </a:ext>
            </a:extLst>
          </p:cNvPr>
          <p:cNvSpPr/>
          <p:nvPr/>
        </p:nvSpPr>
        <p:spPr>
          <a:xfrm>
            <a:off x="704540" y="1236932"/>
            <a:ext cx="10807908" cy="1015663"/>
          </a:xfrm>
          <a:prstGeom prst="rect">
            <a:avLst/>
          </a:prstGeom>
        </p:spPr>
        <p:txBody>
          <a:bodyPr wrap="square">
            <a:spAutoFit/>
          </a:bodyPr>
          <a:lstStyle/>
          <a:p>
            <a:pPr marL="342900" indent="-342900">
              <a:lnSpc>
                <a:spcPct val="150000"/>
              </a:lnSpc>
              <a:buFont typeface="Arial" panose="020B0604020202020204" pitchFamily="34" charset="0"/>
              <a:buChar char="•"/>
            </a:pPr>
            <a:endParaRPr lang="en-US" sz="2400" dirty="0"/>
          </a:p>
          <a:p>
            <a:endParaRPr lang="en-US" sz="2400" dirty="0"/>
          </a:p>
        </p:txBody>
      </p:sp>
      <p:sp>
        <p:nvSpPr>
          <p:cNvPr id="10" name="Rectangle 9">
            <a:extLst>
              <a:ext uri="{FF2B5EF4-FFF2-40B4-BE49-F238E27FC236}">
                <a16:creationId xmlns:a16="http://schemas.microsoft.com/office/drawing/2014/main" id="{42956C5E-110C-3D79-DF40-1A3EF26597E3}"/>
              </a:ext>
            </a:extLst>
          </p:cNvPr>
          <p:cNvSpPr/>
          <p:nvPr/>
        </p:nvSpPr>
        <p:spPr>
          <a:xfrm>
            <a:off x="2663101" y="-32270"/>
            <a:ext cx="7814931" cy="834909"/>
          </a:xfrm>
          <a:prstGeom prst="rect">
            <a:avLst/>
          </a:prstGeom>
        </p:spPr>
        <p:txBody>
          <a:bodyPr wrap="square">
            <a:spAutoFit/>
          </a:bodyPr>
          <a:lstStyle/>
          <a:p>
            <a:pPr>
              <a:lnSpc>
                <a:spcPct val="150000"/>
              </a:lnSpc>
            </a:pPr>
            <a:r>
              <a:rPr lang="en-US" sz="3600" dirty="0">
                <a:solidFill>
                  <a:srgbClr val="FF0000"/>
                </a:solidFill>
              </a:rPr>
              <a:t>Greedy Best-First Search</a:t>
            </a:r>
            <a:endParaRPr lang="en-US" sz="3600" b="1" cap="all" dirty="0">
              <a:solidFill>
                <a:srgbClr val="0070C0"/>
              </a:solidFill>
              <a:latin typeface="Gill Sans MT"/>
            </a:endParaRPr>
          </a:p>
        </p:txBody>
      </p:sp>
      <p:sp>
        <p:nvSpPr>
          <p:cNvPr id="7" name="TextBox 6">
            <a:extLst>
              <a:ext uri="{FF2B5EF4-FFF2-40B4-BE49-F238E27FC236}">
                <a16:creationId xmlns:a16="http://schemas.microsoft.com/office/drawing/2014/main" id="{4D75B620-004C-FA7C-6080-20997761515F}"/>
              </a:ext>
            </a:extLst>
          </p:cNvPr>
          <p:cNvSpPr txBox="1"/>
          <p:nvPr/>
        </p:nvSpPr>
        <p:spPr>
          <a:xfrm>
            <a:off x="1160417" y="856357"/>
            <a:ext cx="10807907" cy="6001643"/>
          </a:xfrm>
          <a:prstGeom prst="rect">
            <a:avLst/>
          </a:prstGeom>
          <a:noFill/>
        </p:spPr>
        <p:txBody>
          <a:bodyPr wrap="square">
            <a:spAutoFit/>
          </a:bodyPr>
          <a:lstStyle/>
          <a:p>
            <a:pPr marL="342900" indent="-342900" fontAlgn="base">
              <a:buFont typeface="Arial" panose="020B0604020202020204" pitchFamily="34" charset="0"/>
              <a:buChar char="•"/>
            </a:pPr>
            <a:r>
              <a:rPr lang="en-US" sz="2400" dirty="0"/>
              <a:t>Greedy Best-First Search works by evaluating the cost of each possible path and then expanding the path with the lowest cost. </a:t>
            </a:r>
          </a:p>
          <a:p>
            <a:pPr fontAlgn="base"/>
            <a:endParaRPr lang="en-US" sz="2400" dirty="0"/>
          </a:p>
          <a:p>
            <a:pPr marL="342900" indent="-342900" fontAlgn="base">
              <a:buFont typeface="Arial" panose="020B0604020202020204" pitchFamily="34" charset="0"/>
              <a:buChar char="•"/>
            </a:pPr>
            <a:r>
              <a:rPr lang="en-US" sz="2400" dirty="0"/>
              <a:t>This process is repeated until the goal is reached.</a:t>
            </a:r>
          </a:p>
          <a:p>
            <a:pPr fontAlgn="base"/>
            <a:endParaRPr lang="en-US" sz="2400" dirty="0"/>
          </a:p>
          <a:p>
            <a:pPr marL="342900" indent="-342900" fontAlgn="base">
              <a:buFont typeface="Arial" panose="020B0604020202020204" pitchFamily="34" charset="0"/>
              <a:buChar char="•"/>
            </a:pPr>
            <a:r>
              <a:rPr lang="en-US" sz="2400" dirty="0"/>
              <a:t>The algorithm uses a heuristic function to determine which path is the most promising. </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The heuristic function takes into account the cost of the current path and the estimated cost of the remaining paths. </a:t>
            </a:r>
          </a:p>
          <a:p>
            <a:pPr fontAlgn="base"/>
            <a:endParaRPr lang="en-US" sz="2400" dirty="0"/>
          </a:p>
          <a:p>
            <a:pPr marL="342900" indent="-342900" fontAlgn="base">
              <a:buFont typeface="Arial" panose="020B0604020202020204" pitchFamily="34" charset="0"/>
              <a:buChar char="•"/>
            </a:pPr>
            <a:r>
              <a:rPr lang="en-US" sz="2400" dirty="0"/>
              <a:t>If the cost of the current path is lower than the estimated cost of the remaining paths, then the current path is chosen. This process is repeated until the goal is reached.</a:t>
            </a:r>
          </a:p>
          <a:p>
            <a:br>
              <a:rPr lang="en-US" sz="2400" dirty="0"/>
            </a:br>
            <a:endParaRPr lang="en-IN" sz="2400" dirty="0"/>
          </a:p>
        </p:txBody>
      </p:sp>
    </p:spTree>
    <p:extLst>
      <p:ext uri="{BB962C8B-B14F-4D97-AF65-F5344CB8AC3E}">
        <p14:creationId xmlns:p14="http://schemas.microsoft.com/office/powerpoint/2010/main" val="2349038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0EFD4-276A-5098-83CB-DC8926E2E950}"/>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F2392A5F-33C2-E2EF-456C-4CCEBDF72E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30DE80B-8ADA-4FE9-A0D3-4996293B93E2}"/>
              </a:ext>
            </a:extLst>
          </p:cNvPr>
          <p:cNvSpPr/>
          <p:nvPr/>
        </p:nvSpPr>
        <p:spPr>
          <a:xfrm>
            <a:off x="418012" y="945109"/>
            <a:ext cx="11773988" cy="5262979"/>
          </a:xfrm>
          <a:prstGeom prst="rect">
            <a:avLst/>
          </a:prstGeom>
        </p:spPr>
        <p:txBody>
          <a:bodyPr wrap="square">
            <a:spAutoFit/>
          </a:bodyPr>
          <a:lstStyle/>
          <a:p>
            <a:pPr fontAlgn="base"/>
            <a:r>
              <a:rPr lang="en-US" sz="2400" dirty="0"/>
              <a:t>Here is a simplified step-by-step breakdown of the Greedy Best-First Search algorithm:</a:t>
            </a:r>
          </a:p>
          <a:p>
            <a:pPr marL="342900" indent="-342900" fontAlgn="base">
              <a:buFont typeface="+mj-lt"/>
              <a:buAutoNum type="arabicPeriod"/>
            </a:pPr>
            <a:r>
              <a:rPr lang="en-US" sz="2400" b="1" dirty="0"/>
              <a:t>Initialize:</a:t>
            </a:r>
            <a:r>
              <a:rPr lang="en-US" sz="2400" dirty="0"/>
              <a:t> Start from an initial node (often the root or starting point). Add this node to a priority queue.</a:t>
            </a:r>
          </a:p>
          <a:p>
            <a:pPr marL="342900" indent="-342900" fontAlgn="base">
              <a:buFont typeface="+mj-lt"/>
              <a:buAutoNum type="arabicPeriod"/>
            </a:pPr>
            <a:r>
              <a:rPr lang="en-US" sz="2400" b="1" dirty="0"/>
              <a:t>Expand Nodes:</a:t>
            </a:r>
            <a:r>
              <a:rPr lang="en-US" sz="2400" dirty="0"/>
              <a:t> Evaluate all neighboring nodes of the current node. Assign each node a value based on a heuristic function, typically representing the estimated distance to the goal.</a:t>
            </a:r>
          </a:p>
          <a:p>
            <a:pPr marL="342900" indent="-342900" fontAlgn="base">
              <a:buFont typeface="+mj-lt"/>
              <a:buAutoNum type="arabicPeriod"/>
            </a:pPr>
            <a:r>
              <a:rPr lang="en-US" sz="2400" b="1" dirty="0"/>
              <a:t>Select Best Node:</a:t>
            </a:r>
            <a:r>
              <a:rPr lang="en-US" sz="2400" dirty="0"/>
              <a:t> From the priority queue, select the node with the lowest heuristic value (the node that appears closest to the goal).</a:t>
            </a:r>
          </a:p>
          <a:p>
            <a:pPr marL="342900" indent="-342900" fontAlgn="base">
              <a:buFont typeface="+mj-lt"/>
              <a:buAutoNum type="arabicPeriod"/>
            </a:pPr>
            <a:endParaRPr lang="en-US" sz="2400" dirty="0"/>
          </a:p>
          <a:p>
            <a:pPr marL="342900" indent="-342900" fontAlgn="base">
              <a:buFont typeface="+mj-lt"/>
              <a:buAutoNum type="arabicPeriod"/>
            </a:pPr>
            <a:r>
              <a:rPr lang="en-US" sz="2400" b="1" dirty="0"/>
              <a:t>Goal Check:</a:t>
            </a:r>
            <a:r>
              <a:rPr lang="en-US" sz="2400" dirty="0"/>
              <a:t> If the selected node is the goal, terminate the search.</a:t>
            </a:r>
          </a:p>
          <a:p>
            <a:pPr marL="342900" indent="-342900" fontAlgn="base">
              <a:buFont typeface="+mj-lt"/>
              <a:buAutoNum type="arabicPeriod"/>
            </a:pPr>
            <a:endParaRPr lang="en-US" sz="2400" dirty="0"/>
          </a:p>
          <a:p>
            <a:pPr marL="342900" indent="-342900" fontAlgn="base">
              <a:buFont typeface="+mj-lt"/>
              <a:buAutoNum type="arabicPeriod"/>
            </a:pPr>
            <a:r>
              <a:rPr lang="en-US" sz="2400" b="1" dirty="0"/>
              <a:t>Continue:</a:t>
            </a:r>
            <a:r>
              <a:rPr lang="en-US" sz="2400" dirty="0"/>
              <a:t> If not, repeat steps 2 to 4 for the next node until the goal is reached or the queue is empty.</a:t>
            </a:r>
          </a:p>
          <a:p>
            <a:endParaRPr lang="en-US" sz="2400" dirty="0"/>
          </a:p>
        </p:txBody>
      </p:sp>
      <p:sp>
        <p:nvSpPr>
          <p:cNvPr id="10" name="Rectangle 9">
            <a:extLst>
              <a:ext uri="{FF2B5EF4-FFF2-40B4-BE49-F238E27FC236}">
                <a16:creationId xmlns:a16="http://schemas.microsoft.com/office/drawing/2014/main" id="{B9F25DC4-73C6-BAFA-99A7-03FEA7B650EF}"/>
              </a:ext>
            </a:extLst>
          </p:cNvPr>
          <p:cNvSpPr/>
          <p:nvPr/>
        </p:nvSpPr>
        <p:spPr>
          <a:xfrm>
            <a:off x="1626781" y="-8527"/>
            <a:ext cx="9766643" cy="646331"/>
          </a:xfrm>
          <a:prstGeom prst="rect">
            <a:avLst/>
          </a:prstGeom>
        </p:spPr>
        <p:txBody>
          <a:bodyPr wrap="square">
            <a:spAutoFit/>
          </a:bodyPr>
          <a:lstStyle/>
          <a:p>
            <a:pPr fontAlgn="base"/>
            <a:r>
              <a:rPr lang="en-US" sz="3600" dirty="0">
                <a:solidFill>
                  <a:srgbClr val="FF0000"/>
                </a:solidFill>
              </a:rPr>
              <a:t>Steps of Greedy Best-First Search Algorithm</a:t>
            </a:r>
            <a:endParaRPr lang="en-US" sz="3600" b="1" cap="all" dirty="0">
              <a:solidFill>
                <a:srgbClr val="0070C0"/>
              </a:solidFill>
              <a:latin typeface="Gill Sans MT"/>
            </a:endParaRPr>
          </a:p>
        </p:txBody>
      </p:sp>
    </p:spTree>
    <p:extLst>
      <p:ext uri="{BB962C8B-B14F-4D97-AF65-F5344CB8AC3E}">
        <p14:creationId xmlns:p14="http://schemas.microsoft.com/office/powerpoint/2010/main" val="295399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F9A4-1188-4C3A-5D14-9E4A771831EC}"/>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55695E99-8E3B-A416-BA39-5215201428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204854A-BB08-9236-AFC9-AF6727C04C70}"/>
              </a:ext>
            </a:extLst>
          </p:cNvPr>
          <p:cNvSpPr/>
          <p:nvPr/>
        </p:nvSpPr>
        <p:spPr>
          <a:xfrm>
            <a:off x="704540" y="1236932"/>
            <a:ext cx="10807908" cy="1015663"/>
          </a:xfrm>
          <a:prstGeom prst="rect">
            <a:avLst/>
          </a:prstGeom>
        </p:spPr>
        <p:txBody>
          <a:bodyPr wrap="square">
            <a:spAutoFit/>
          </a:bodyPr>
          <a:lstStyle/>
          <a:p>
            <a:pPr fontAlgn="base"/>
            <a:r>
              <a:rPr lang="en-US" b="1" dirty="0">
                <a:solidFill>
                  <a:srgbClr val="FF0000"/>
                </a:solidFill>
              </a:rPr>
              <a:t>An example of the best-first search algorithm is below graph, suppose we have to find the path from A to G</a:t>
            </a:r>
          </a:p>
          <a:p>
            <a:pPr fontAlgn="base"/>
            <a:endParaRPr lang="en-US" b="1" dirty="0"/>
          </a:p>
          <a:p>
            <a:endParaRPr lang="en-US" sz="2400" dirty="0"/>
          </a:p>
        </p:txBody>
      </p:sp>
      <p:sp>
        <p:nvSpPr>
          <p:cNvPr id="2" name="AutoShape 2" descr="1st">
            <a:extLst>
              <a:ext uri="{FF2B5EF4-FFF2-40B4-BE49-F238E27FC236}">
                <a16:creationId xmlns:a16="http://schemas.microsoft.com/office/drawing/2014/main" id="{F072ED2D-1DD6-D078-ECCD-D837E1C6D70B}"/>
              </a:ext>
            </a:extLst>
          </p:cNvPr>
          <p:cNvSpPr>
            <a:spLocks noChangeAspect="1" noChangeArrowheads="1"/>
          </p:cNvSpPr>
          <p:nvPr/>
        </p:nvSpPr>
        <p:spPr bwMode="auto">
          <a:xfrm>
            <a:off x="2190307" y="3276600"/>
            <a:ext cx="4058093"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1st">
            <a:extLst>
              <a:ext uri="{FF2B5EF4-FFF2-40B4-BE49-F238E27FC236}">
                <a16:creationId xmlns:a16="http://schemas.microsoft.com/office/drawing/2014/main" id="{4B1D0408-153E-49BB-99DA-85C1D7849DB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descr="A diagram of a network&#10;&#10;AI-generated content may be incorrect.">
            <a:extLst>
              <a:ext uri="{FF2B5EF4-FFF2-40B4-BE49-F238E27FC236}">
                <a16:creationId xmlns:a16="http://schemas.microsoft.com/office/drawing/2014/main" id="{A9D152C1-6212-EE80-91CC-A287D1BE1E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0819" y="2190306"/>
            <a:ext cx="7970874" cy="3928785"/>
          </a:xfrm>
          <a:prstGeom prst="rect">
            <a:avLst/>
          </a:prstGeom>
        </p:spPr>
      </p:pic>
    </p:spTree>
    <p:extLst>
      <p:ext uri="{BB962C8B-B14F-4D97-AF65-F5344CB8AC3E}">
        <p14:creationId xmlns:p14="http://schemas.microsoft.com/office/powerpoint/2010/main" val="95899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6667F-A8DD-1D2F-B29D-214D6CB3F4A6}"/>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5810C933-C93D-1E21-4961-CD3E9CF971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310A0C1-0496-9F6F-9C63-8AAD271173B6}"/>
              </a:ext>
            </a:extLst>
          </p:cNvPr>
          <p:cNvSpPr/>
          <p:nvPr/>
        </p:nvSpPr>
        <p:spPr>
          <a:xfrm>
            <a:off x="704540" y="1236932"/>
            <a:ext cx="10807908" cy="1015663"/>
          </a:xfrm>
          <a:prstGeom prst="rect">
            <a:avLst/>
          </a:prstGeom>
        </p:spPr>
        <p:txBody>
          <a:bodyPr wrap="square">
            <a:spAutoFit/>
          </a:bodyPr>
          <a:lstStyle/>
          <a:p>
            <a:pPr marL="342900" indent="-342900">
              <a:lnSpc>
                <a:spcPct val="150000"/>
              </a:lnSpc>
              <a:buFont typeface="Arial" panose="020B0604020202020204" pitchFamily="34" charset="0"/>
              <a:buChar char="•"/>
            </a:pPr>
            <a:endParaRPr lang="en-US" sz="2400" dirty="0"/>
          </a:p>
          <a:p>
            <a:endParaRPr lang="en-US" sz="2400" dirty="0"/>
          </a:p>
        </p:txBody>
      </p:sp>
      <p:sp>
        <p:nvSpPr>
          <p:cNvPr id="10" name="Rectangle 9">
            <a:extLst>
              <a:ext uri="{FF2B5EF4-FFF2-40B4-BE49-F238E27FC236}">
                <a16:creationId xmlns:a16="http://schemas.microsoft.com/office/drawing/2014/main" id="{07C6D036-A808-5DFD-F76B-524D878FE0A0}"/>
              </a:ext>
            </a:extLst>
          </p:cNvPr>
          <p:cNvSpPr/>
          <p:nvPr/>
        </p:nvSpPr>
        <p:spPr>
          <a:xfrm>
            <a:off x="1626781" y="-8527"/>
            <a:ext cx="7814931" cy="2492990"/>
          </a:xfrm>
          <a:prstGeom prst="rect">
            <a:avLst/>
          </a:prstGeom>
        </p:spPr>
        <p:txBody>
          <a:bodyPr wrap="square">
            <a:spAutoFit/>
          </a:bodyPr>
          <a:lstStyle/>
          <a:p>
            <a:pPr algn="ctr"/>
            <a:endParaRPr lang="en-IN" sz="4000" dirty="0"/>
          </a:p>
          <a:p>
            <a:pPr algn="ctr"/>
            <a:r>
              <a:rPr lang="en-IN" sz="3600" dirty="0">
                <a:solidFill>
                  <a:srgbClr val="FF0000"/>
                </a:solidFill>
              </a:rPr>
              <a:t>Contd</a:t>
            </a:r>
            <a:r>
              <a:rPr lang="en-IN" sz="4000" dirty="0"/>
              <a:t>..</a:t>
            </a:r>
          </a:p>
          <a:p>
            <a:pPr algn="ctr"/>
            <a:endParaRPr lang="en-IN" sz="4000" b="1" cap="all" dirty="0">
              <a:solidFill>
                <a:srgbClr val="0070C0"/>
              </a:solidFill>
              <a:latin typeface="Gill Sans MT"/>
            </a:endParaRPr>
          </a:p>
          <a:p>
            <a:pPr algn="ctr"/>
            <a:endParaRPr lang="en-US" sz="3600" b="1" cap="all" dirty="0">
              <a:solidFill>
                <a:srgbClr val="0070C0"/>
              </a:solidFill>
              <a:latin typeface="Gill Sans MT"/>
            </a:endParaRPr>
          </a:p>
        </p:txBody>
      </p:sp>
      <p:pic>
        <p:nvPicPr>
          <p:cNvPr id="4" name="Picture 3" descr="A diagram of a network&#10;&#10;AI-generated content may be incorrect.">
            <a:extLst>
              <a:ext uri="{FF2B5EF4-FFF2-40B4-BE49-F238E27FC236}">
                <a16:creationId xmlns:a16="http://schemas.microsoft.com/office/drawing/2014/main" id="{4EBCD0DC-D2B1-775C-5656-55A81E278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8088" y="1669312"/>
            <a:ext cx="9755823" cy="4198643"/>
          </a:xfrm>
          <a:prstGeom prst="rect">
            <a:avLst/>
          </a:prstGeom>
        </p:spPr>
      </p:pic>
    </p:spTree>
    <p:extLst>
      <p:ext uri="{BB962C8B-B14F-4D97-AF65-F5344CB8AC3E}">
        <p14:creationId xmlns:p14="http://schemas.microsoft.com/office/powerpoint/2010/main" val="1726620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F707-9952-6E2C-5EF3-001869B9D126}"/>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227D5157-B0AB-FF34-5F14-541B61FA2B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3DC62D8-1943-DE29-81BD-667AC86C0278}"/>
              </a:ext>
            </a:extLst>
          </p:cNvPr>
          <p:cNvSpPr/>
          <p:nvPr/>
        </p:nvSpPr>
        <p:spPr>
          <a:xfrm>
            <a:off x="704540" y="1236932"/>
            <a:ext cx="10807908" cy="1015663"/>
          </a:xfrm>
          <a:prstGeom prst="rect">
            <a:avLst/>
          </a:prstGeom>
        </p:spPr>
        <p:txBody>
          <a:bodyPr wrap="square">
            <a:spAutoFit/>
          </a:bodyPr>
          <a:lstStyle/>
          <a:p>
            <a:pPr marL="342900" indent="-342900">
              <a:lnSpc>
                <a:spcPct val="150000"/>
              </a:lnSpc>
              <a:buFont typeface="Arial" panose="020B0604020202020204" pitchFamily="34" charset="0"/>
              <a:buChar char="•"/>
            </a:pPr>
            <a:endParaRPr lang="en-US" sz="2400" dirty="0"/>
          </a:p>
          <a:p>
            <a:endParaRPr lang="en-US" sz="2400" dirty="0"/>
          </a:p>
        </p:txBody>
      </p:sp>
      <p:sp>
        <p:nvSpPr>
          <p:cNvPr id="10" name="Rectangle 9">
            <a:extLst>
              <a:ext uri="{FF2B5EF4-FFF2-40B4-BE49-F238E27FC236}">
                <a16:creationId xmlns:a16="http://schemas.microsoft.com/office/drawing/2014/main" id="{D0860672-C3E5-2F93-AC95-0C13B6A9818F}"/>
              </a:ext>
            </a:extLst>
          </p:cNvPr>
          <p:cNvSpPr/>
          <p:nvPr/>
        </p:nvSpPr>
        <p:spPr>
          <a:xfrm>
            <a:off x="1626781" y="-8527"/>
            <a:ext cx="7814931" cy="2492990"/>
          </a:xfrm>
          <a:prstGeom prst="rect">
            <a:avLst/>
          </a:prstGeom>
        </p:spPr>
        <p:txBody>
          <a:bodyPr wrap="square">
            <a:spAutoFit/>
          </a:bodyPr>
          <a:lstStyle/>
          <a:p>
            <a:pPr algn="ctr"/>
            <a:endParaRPr lang="en-IN" sz="4000" dirty="0"/>
          </a:p>
          <a:p>
            <a:pPr algn="ctr"/>
            <a:r>
              <a:rPr lang="en-IN" sz="3600" dirty="0">
                <a:solidFill>
                  <a:srgbClr val="FF0000"/>
                </a:solidFill>
              </a:rPr>
              <a:t>Contd..</a:t>
            </a:r>
          </a:p>
          <a:p>
            <a:pPr algn="ctr"/>
            <a:endParaRPr lang="en-IN" sz="4000" b="1" cap="all" dirty="0">
              <a:solidFill>
                <a:srgbClr val="0070C0"/>
              </a:solidFill>
              <a:latin typeface="Gill Sans MT"/>
            </a:endParaRPr>
          </a:p>
          <a:p>
            <a:pPr algn="ctr"/>
            <a:endParaRPr lang="en-US" sz="3600" b="1" cap="all" dirty="0">
              <a:solidFill>
                <a:srgbClr val="0070C0"/>
              </a:solidFill>
              <a:latin typeface="Gill Sans MT"/>
            </a:endParaRPr>
          </a:p>
        </p:txBody>
      </p:sp>
      <p:pic>
        <p:nvPicPr>
          <p:cNvPr id="3" name="Picture 2" descr="A diagram of a network&#10;&#10;AI-generated content may be incorrect.">
            <a:extLst>
              <a:ext uri="{FF2B5EF4-FFF2-40B4-BE49-F238E27FC236}">
                <a16:creationId xmlns:a16="http://schemas.microsoft.com/office/drawing/2014/main" id="{698415F4-32D0-6610-EC57-235AD63FF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8088" y="1944303"/>
            <a:ext cx="9755823" cy="4174788"/>
          </a:xfrm>
          <a:prstGeom prst="rect">
            <a:avLst/>
          </a:prstGeom>
        </p:spPr>
      </p:pic>
    </p:spTree>
    <p:extLst>
      <p:ext uri="{BB962C8B-B14F-4D97-AF65-F5344CB8AC3E}">
        <p14:creationId xmlns:p14="http://schemas.microsoft.com/office/powerpoint/2010/main" val="3486596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BEA3-9F78-3EE0-84D4-F0DBAD81D436}"/>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FE0615D1-CEF6-68F0-E5EA-951E0541EB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D0B7BE9B-635B-3F81-3E96-CCDE4BABF7CF}"/>
              </a:ext>
            </a:extLst>
          </p:cNvPr>
          <p:cNvSpPr/>
          <p:nvPr/>
        </p:nvSpPr>
        <p:spPr>
          <a:xfrm>
            <a:off x="704540" y="1236932"/>
            <a:ext cx="10807908" cy="1015663"/>
          </a:xfrm>
          <a:prstGeom prst="rect">
            <a:avLst/>
          </a:prstGeom>
        </p:spPr>
        <p:txBody>
          <a:bodyPr wrap="square">
            <a:spAutoFit/>
          </a:bodyPr>
          <a:lstStyle/>
          <a:p>
            <a:pPr marL="342900" indent="-342900">
              <a:lnSpc>
                <a:spcPct val="150000"/>
              </a:lnSpc>
              <a:buFont typeface="Arial" panose="020B0604020202020204" pitchFamily="34" charset="0"/>
              <a:buChar char="•"/>
            </a:pPr>
            <a:endParaRPr lang="en-US" sz="2400" dirty="0"/>
          </a:p>
          <a:p>
            <a:endParaRPr lang="en-US" sz="2400" dirty="0"/>
          </a:p>
        </p:txBody>
      </p:sp>
      <p:sp>
        <p:nvSpPr>
          <p:cNvPr id="10" name="Rectangle 9">
            <a:extLst>
              <a:ext uri="{FF2B5EF4-FFF2-40B4-BE49-F238E27FC236}">
                <a16:creationId xmlns:a16="http://schemas.microsoft.com/office/drawing/2014/main" id="{AC1A9744-745F-A4CA-AC90-E1916F0AF300}"/>
              </a:ext>
            </a:extLst>
          </p:cNvPr>
          <p:cNvSpPr/>
          <p:nvPr/>
        </p:nvSpPr>
        <p:spPr>
          <a:xfrm>
            <a:off x="1626781" y="-8527"/>
            <a:ext cx="7814931" cy="2492990"/>
          </a:xfrm>
          <a:prstGeom prst="rect">
            <a:avLst/>
          </a:prstGeom>
        </p:spPr>
        <p:txBody>
          <a:bodyPr wrap="square">
            <a:spAutoFit/>
          </a:bodyPr>
          <a:lstStyle/>
          <a:p>
            <a:pPr algn="ctr"/>
            <a:endParaRPr lang="en-IN" sz="4000" dirty="0"/>
          </a:p>
          <a:p>
            <a:pPr algn="ctr"/>
            <a:r>
              <a:rPr lang="en-IN" sz="3600" dirty="0">
                <a:solidFill>
                  <a:srgbClr val="FF0000"/>
                </a:solidFill>
              </a:rPr>
              <a:t>Contd</a:t>
            </a:r>
            <a:r>
              <a:rPr lang="en-IN" sz="4000" dirty="0"/>
              <a:t>..</a:t>
            </a:r>
          </a:p>
          <a:p>
            <a:pPr algn="ctr"/>
            <a:endParaRPr lang="en-IN" sz="4000" b="1" cap="all" dirty="0">
              <a:solidFill>
                <a:srgbClr val="0070C0"/>
              </a:solidFill>
              <a:latin typeface="Gill Sans MT"/>
            </a:endParaRPr>
          </a:p>
          <a:p>
            <a:pPr algn="ctr"/>
            <a:endParaRPr lang="en-US" sz="3600" b="1" cap="all" dirty="0">
              <a:solidFill>
                <a:srgbClr val="0070C0"/>
              </a:solidFill>
              <a:latin typeface="Gill Sans MT"/>
            </a:endParaRPr>
          </a:p>
        </p:txBody>
      </p:sp>
      <p:pic>
        <p:nvPicPr>
          <p:cNvPr id="3" name="Picture 2" descr="A diagram of a network&#10;&#10;AI-generated content may be incorrect.">
            <a:extLst>
              <a:ext uri="{FF2B5EF4-FFF2-40B4-BE49-F238E27FC236}">
                <a16:creationId xmlns:a16="http://schemas.microsoft.com/office/drawing/2014/main" id="{DB0F6528-8684-4742-1C9E-EF5CB8C52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8088" y="1886552"/>
            <a:ext cx="9755823" cy="4232539"/>
          </a:xfrm>
          <a:prstGeom prst="rect">
            <a:avLst/>
          </a:prstGeom>
        </p:spPr>
      </p:pic>
    </p:spTree>
    <p:extLst>
      <p:ext uri="{BB962C8B-B14F-4D97-AF65-F5344CB8AC3E}">
        <p14:creationId xmlns:p14="http://schemas.microsoft.com/office/powerpoint/2010/main" val="3439256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21992" y="141373"/>
            <a:ext cx="7557275" cy="1077218"/>
          </a:xfrm>
          <a:prstGeom prst="rect">
            <a:avLst/>
          </a:prstGeom>
        </p:spPr>
        <p:txBody>
          <a:bodyPr wrap="square">
            <a:spAutoFit/>
          </a:bodyPr>
          <a:lstStyle/>
          <a:p>
            <a:pPr fontAlgn="base"/>
            <a:endParaRPr lang="en-US" sz="2800" b="1" dirty="0"/>
          </a:p>
          <a:p>
            <a:pPr fontAlgn="base"/>
            <a:r>
              <a:rPr lang="en-US" sz="3600" dirty="0">
                <a:solidFill>
                  <a:srgbClr val="FF0000"/>
                </a:solidFill>
              </a:rPr>
              <a:t>Advantages of Greedy Best-First Search</a:t>
            </a:r>
          </a:p>
        </p:txBody>
      </p:sp>
      <p:sp>
        <p:nvSpPr>
          <p:cNvPr id="14337" name="Rectangle 1"/>
          <p:cNvSpPr>
            <a:spLocks noChangeArrowheads="1"/>
          </p:cNvSpPr>
          <p:nvPr/>
        </p:nvSpPr>
        <p:spPr bwMode="auto">
          <a:xfrm>
            <a:off x="389748" y="1190269"/>
            <a:ext cx="8415924" cy="46198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85750" indent="-285750" fontAlgn="base">
              <a:lnSpc>
                <a:spcPct val="150000"/>
              </a:lnSpc>
              <a:buFont typeface="Arial" panose="020B0604020202020204" pitchFamily="34" charset="0"/>
              <a:buChar char="•"/>
            </a:pPr>
            <a:r>
              <a:rPr lang="en-US" b="1" dirty="0"/>
              <a:t>Simple and Easy to Implement: </a:t>
            </a:r>
            <a:r>
              <a:rPr lang="en-US" dirty="0"/>
              <a:t>Greedy Best-First Search is a relatively straightforward algorithm, making it easy to implement.</a:t>
            </a:r>
          </a:p>
          <a:p>
            <a:pPr marL="285750" indent="-285750" fontAlgn="base">
              <a:lnSpc>
                <a:spcPct val="150000"/>
              </a:lnSpc>
              <a:buFont typeface="Arial" panose="020B0604020202020204" pitchFamily="34" charset="0"/>
              <a:buChar char="•"/>
            </a:pPr>
            <a:r>
              <a:rPr lang="en-US" b="1" dirty="0"/>
              <a:t>Fast and Efficient: </a:t>
            </a:r>
            <a:r>
              <a:rPr lang="en-US" dirty="0"/>
              <a:t>Greedy Best-First Search is a very fast algorithm, making it ideal for applications where speed is essential.</a:t>
            </a:r>
          </a:p>
          <a:p>
            <a:pPr marL="285750" indent="-285750" fontAlgn="base">
              <a:lnSpc>
                <a:spcPct val="150000"/>
              </a:lnSpc>
              <a:buFont typeface="Arial" panose="020B0604020202020204" pitchFamily="34" charset="0"/>
              <a:buChar char="•"/>
            </a:pPr>
            <a:r>
              <a:rPr lang="en-US" b="1" dirty="0"/>
              <a:t>Low Memory Requirements:</a:t>
            </a:r>
            <a:r>
              <a:rPr lang="en-US" dirty="0"/>
              <a:t> Greedy Best-First Search requires only a small amount of memory, making it suitable for applications with limited memory.</a:t>
            </a:r>
          </a:p>
          <a:p>
            <a:pPr marL="285750" indent="-285750" fontAlgn="base">
              <a:lnSpc>
                <a:spcPct val="150000"/>
              </a:lnSpc>
              <a:buFont typeface="Arial" panose="020B0604020202020204" pitchFamily="34" charset="0"/>
              <a:buChar char="•"/>
            </a:pPr>
            <a:r>
              <a:rPr lang="en-US" b="1" dirty="0"/>
              <a:t>Flexible: </a:t>
            </a:r>
            <a:r>
              <a:rPr lang="en-US" dirty="0"/>
              <a:t>Greedy Best-First Search can be adapted to different types of problems and can be easily extended to more complex problems.</a:t>
            </a:r>
          </a:p>
          <a:p>
            <a:pPr marL="285750" indent="-285750" fontAlgn="base">
              <a:lnSpc>
                <a:spcPct val="150000"/>
              </a:lnSpc>
              <a:buFont typeface="Arial" panose="020B0604020202020204" pitchFamily="34" charset="0"/>
              <a:buChar char="•"/>
            </a:pPr>
            <a:r>
              <a:rPr lang="en-US" b="1" dirty="0"/>
              <a:t>Efficiency: </a:t>
            </a:r>
            <a:r>
              <a:rPr lang="en-US" dirty="0"/>
              <a:t>If the heuristic function used in Greedy Best-First Search is good to estimate, how close a node is to the solution, this algorithm can be a very efficient and find a solution quickly, even in large search spaces.</a:t>
            </a:r>
          </a:p>
        </p:txBody>
      </p:sp>
      <p:sp>
        <p:nvSpPr>
          <p:cNvPr id="14339" name="AutoShape 3" descr="https://lh3.googleusercontent.com/gg-dl/AJfQ9KRFeQoKnkcadzVvMb9VKPA_Q6FutQulPf187Yzk-sApiXJOF8QnzNoolJRVqvSrL6-4Uq4w2a_NX_vv7I2eFPBVob0lfOUIubgPJsxUywW06DKXmSPJxurQf_qxNoxxymDe5_VRR-kwxKG-Fn87LOtjKrWVonwu3LRYgAmhQ2aMhK_L1w=s1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4341" name="AutoShape 5" descr="https://lh3.googleusercontent.com/gg-dl/AJfQ9KRFeQoKnkcadzVvMb9VKPA_Q6FutQulPf187Yzk-sApiXJOF8QnzNoolJRVqvSrL6-4Uq4w2a_NX_vv7I2eFPBVob0lfOUIubgPJsxUywW06DKXmSPJxurQf_qxNoxxymDe5_VRR-kwxKG-Fn87LOtjKrWVonwu3LRYgAmhQ2aMhK_L1w=s1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988170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29608" y="-155888"/>
            <a:ext cx="4110164" cy="837473"/>
          </a:xfrm>
          <a:prstGeom prst="rect">
            <a:avLst/>
          </a:prstGeom>
        </p:spPr>
        <p:txBody>
          <a:bodyPr wrap="none">
            <a:spAutoFit/>
          </a:bodyPr>
          <a:lstStyle/>
          <a:p>
            <a:pPr>
              <a:lnSpc>
                <a:spcPct val="150000"/>
              </a:lnSpc>
            </a:pPr>
            <a:r>
              <a:rPr lang="en-IN" sz="3600" dirty="0">
                <a:solidFill>
                  <a:srgbClr val="FF0000"/>
                </a:solidFill>
              </a:rPr>
              <a:t> </a:t>
            </a:r>
            <a:r>
              <a:rPr lang="en-US" sz="3600" dirty="0">
                <a:solidFill>
                  <a:srgbClr val="FF0000"/>
                </a:solidFill>
              </a:rPr>
              <a:t>A* Search Algorithm</a:t>
            </a:r>
          </a:p>
        </p:txBody>
      </p:sp>
      <p:sp>
        <p:nvSpPr>
          <p:cNvPr id="13313" name="Rectangle 1"/>
          <p:cNvSpPr>
            <a:spLocks noChangeArrowheads="1"/>
          </p:cNvSpPr>
          <p:nvPr/>
        </p:nvSpPr>
        <p:spPr bwMode="auto">
          <a:xfrm>
            <a:off x="824456" y="652413"/>
            <a:ext cx="10687986" cy="61290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400" b="1" dirty="0"/>
              <a:t>Definition:</a:t>
            </a:r>
          </a:p>
          <a:p>
            <a:pPr marL="342900" indent="-342900">
              <a:lnSpc>
                <a:spcPct val="150000"/>
              </a:lnSpc>
              <a:buFont typeface="Arial" panose="020B0604020202020204" pitchFamily="34" charset="0"/>
              <a:buChar char="•"/>
            </a:pPr>
            <a:r>
              <a:rPr lang="en-US" sz="2400" dirty="0"/>
              <a:t>A* is a </a:t>
            </a:r>
            <a:r>
              <a:rPr lang="en-US" sz="2400" b="1" dirty="0"/>
              <a:t>best-first search algorithm</a:t>
            </a:r>
            <a:r>
              <a:rPr lang="en-US" sz="2400" dirty="0"/>
              <a:t> that finds the shortest path from a start node to a goal node using both the actual cost and a heuristic estimate.</a:t>
            </a:r>
          </a:p>
          <a:p>
            <a:pPr marL="285750" indent="-285750">
              <a:lnSpc>
                <a:spcPct val="150000"/>
              </a:lnSpc>
              <a:buFont typeface="Arial" panose="020B0604020202020204" pitchFamily="34" charset="0"/>
              <a:buChar char="•"/>
            </a:pPr>
            <a:r>
              <a:rPr lang="en-US" sz="2400" dirty="0"/>
              <a:t>The A* (A-star) algorithm is a powerful and versatile search method used in computer science to find the most efficient path between nodes in a graph. </a:t>
            </a:r>
          </a:p>
          <a:p>
            <a:pPr marL="285750" indent="-285750">
              <a:lnSpc>
                <a:spcPct val="150000"/>
              </a:lnSpc>
              <a:buFont typeface="Arial" panose="020B0604020202020204" pitchFamily="34" charset="0"/>
              <a:buChar char="•"/>
            </a:pPr>
            <a:r>
              <a:rPr lang="en-US" sz="2400" dirty="0"/>
              <a:t>Widely used in a variety of applications ranging from pathfinding in video games to network routing and AI, A* remains a foundational technique in the field of algorithms and artificial intelligence.</a:t>
            </a:r>
          </a:p>
          <a:p>
            <a:pPr lvl="0" defTabSz="914400" eaLnBrk="0" fontAlgn="base" hangingPunct="0">
              <a:lnSpc>
                <a:spcPct val="150000"/>
              </a:lnSpc>
              <a:spcBef>
                <a:spcPct val="0"/>
              </a:spcBef>
              <a:spcAft>
                <a:spcPct val="0"/>
              </a:spcAft>
              <a:buFontTx/>
              <a:buChar char="•"/>
            </a:pPr>
            <a:endParaRPr lang="en-US" altLang="en-US" sz="2400" dirty="0">
              <a:latin typeface="Arial" panose="020B0604020202020204" pitchFamily="34" charset="0"/>
            </a:endParaRPr>
          </a:p>
          <a:p>
            <a:pPr>
              <a:lnSpc>
                <a:spcPct val="150000"/>
              </a:lnSpc>
            </a:pPr>
            <a:endParaRPr lang="en-US" sz="2400" dirty="0"/>
          </a:p>
          <a:p>
            <a:pPr>
              <a:lnSpc>
                <a:spcPct val="150000"/>
              </a:lnSpc>
            </a:pPr>
            <a:endParaRPr lang="en-US" sz="2400" dirty="0"/>
          </a:p>
        </p:txBody>
      </p:sp>
    </p:spTree>
    <p:extLst>
      <p:ext uri="{BB962C8B-B14F-4D97-AF65-F5344CB8AC3E}">
        <p14:creationId xmlns:p14="http://schemas.microsoft.com/office/powerpoint/2010/main" val="3988170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31145-CEA0-B818-7D81-273799002D13}"/>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3C425A0B-06DF-F36B-BA1E-90163FFCA2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CA698F6-2DDF-9A29-502A-431ADE45F884}"/>
              </a:ext>
            </a:extLst>
          </p:cNvPr>
          <p:cNvSpPr/>
          <p:nvPr/>
        </p:nvSpPr>
        <p:spPr>
          <a:xfrm>
            <a:off x="3429608" y="-155888"/>
            <a:ext cx="4110164" cy="837473"/>
          </a:xfrm>
          <a:prstGeom prst="rect">
            <a:avLst/>
          </a:prstGeom>
        </p:spPr>
        <p:txBody>
          <a:bodyPr wrap="none">
            <a:spAutoFit/>
          </a:bodyPr>
          <a:lstStyle/>
          <a:p>
            <a:pPr>
              <a:lnSpc>
                <a:spcPct val="150000"/>
              </a:lnSpc>
            </a:pPr>
            <a:r>
              <a:rPr lang="en-IN" sz="3600" dirty="0">
                <a:solidFill>
                  <a:srgbClr val="FF0000"/>
                </a:solidFill>
              </a:rPr>
              <a:t> </a:t>
            </a:r>
            <a:r>
              <a:rPr lang="en-US" sz="3600" dirty="0">
                <a:solidFill>
                  <a:srgbClr val="FF0000"/>
                </a:solidFill>
              </a:rPr>
              <a:t>A* Search Algorithm</a:t>
            </a:r>
          </a:p>
        </p:txBody>
      </p:sp>
      <p:sp>
        <p:nvSpPr>
          <p:cNvPr id="13313" name="Rectangle 1">
            <a:extLst>
              <a:ext uri="{FF2B5EF4-FFF2-40B4-BE49-F238E27FC236}">
                <a16:creationId xmlns:a16="http://schemas.microsoft.com/office/drawing/2014/main" id="{DEC2B032-5DBD-5415-3FBD-E328AFA6CE87}"/>
              </a:ext>
            </a:extLst>
          </p:cNvPr>
          <p:cNvSpPr>
            <a:spLocks noChangeArrowheads="1"/>
          </p:cNvSpPr>
          <p:nvPr/>
        </p:nvSpPr>
        <p:spPr bwMode="auto">
          <a:xfrm>
            <a:off x="824456" y="1483410"/>
            <a:ext cx="10687986" cy="4467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Arial" panose="020B0604020202020204" pitchFamily="34" charset="0"/>
              <a:buChar char="•"/>
            </a:pPr>
            <a:r>
              <a:rPr lang="en-US" sz="2400" dirty="0"/>
              <a:t>Formula:</a:t>
            </a:r>
          </a:p>
          <a:p>
            <a:pPr lvl="0" defTabSz="914400" eaLnBrk="0" fontAlgn="base" hangingPunct="0">
              <a:lnSpc>
                <a:spcPct val="150000"/>
              </a:lnSpc>
              <a:spcBef>
                <a:spcPct val="0"/>
              </a:spcBef>
              <a:spcAft>
                <a:spcPct val="0"/>
              </a:spcAft>
            </a:pPr>
            <a:r>
              <a:rPr lang="en-US" altLang="en-US" sz="2400" dirty="0">
                <a:latin typeface="Arial" panose="020B0604020202020204" pitchFamily="34" charset="0"/>
              </a:rPr>
              <a:t>	f(n)=g(n)+h(n) </a:t>
            </a:r>
          </a:p>
          <a:p>
            <a:pPr lvl="0" defTabSz="914400" eaLnBrk="0" fontAlgn="base" hangingPunct="0">
              <a:lnSpc>
                <a:spcPct val="150000"/>
              </a:lnSpc>
              <a:spcBef>
                <a:spcPct val="0"/>
              </a:spcBef>
              <a:spcAft>
                <a:spcPct val="0"/>
              </a:spcAft>
              <a:buFontTx/>
              <a:buChar char="•"/>
            </a:pPr>
            <a:r>
              <a:rPr lang="en-US" altLang="en-US" sz="2400" b="1" dirty="0">
                <a:latin typeface="Arial" panose="020B0604020202020204" pitchFamily="34" charset="0"/>
              </a:rPr>
              <a:t>g(n)</a:t>
            </a:r>
            <a:r>
              <a:rPr lang="en-US" altLang="en-US" sz="2400" dirty="0">
                <a:latin typeface="Arial" panose="020B0604020202020204" pitchFamily="34" charset="0"/>
              </a:rPr>
              <a:t> = Cost from the start node to the current node </a:t>
            </a:r>
            <a:r>
              <a:rPr lang="en-US" altLang="en-US" sz="2400" dirty="0">
                <a:latin typeface="Arial Unicode MS"/>
              </a:rPr>
              <a:t>n</a:t>
            </a:r>
            <a:endParaRPr lang="en-US" altLang="en-US" sz="2400" dirty="0"/>
          </a:p>
          <a:p>
            <a:pPr lvl="0" defTabSz="914400" eaLnBrk="0" fontAlgn="base" hangingPunct="0">
              <a:lnSpc>
                <a:spcPct val="150000"/>
              </a:lnSpc>
              <a:spcBef>
                <a:spcPct val="0"/>
              </a:spcBef>
              <a:spcAft>
                <a:spcPct val="0"/>
              </a:spcAft>
              <a:buFontTx/>
              <a:buChar char="•"/>
            </a:pPr>
            <a:r>
              <a:rPr lang="en-US" altLang="en-US" sz="2400" b="1" dirty="0">
                <a:latin typeface="Arial" panose="020B0604020202020204" pitchFamily="34" charset="0"/>
              </a:rPr>
              <a:t>h(n)</a:t>
            </a:r>
            <a:r>
              <a:rPr lang="en-US" altLang="en-US" sz="2400" dirty="0">
                <a:latin typeface="Arial" panose="020B0604020202020204" pitchFamily="34" charset="0"/>
              </a:rPr>
              <a:t> = Heuristic estimate of the cost from </a:t>
            </a:r>
            <a:r>
              <a:rPr lang="en-US" altLang="en-US" sz="2400" dirty="0">
                <a:latin typeface="Arial Unicode MS"/>
              </a:rPr>
              <a:t>n</a:t>
            </a:r>
            <a:r>
              <a:rPr lang="en-US" altLang="en-US" sz="2400" dirty="0"/>
              <a:t> to the goal</a:t>
            </a:r>
            <a:endParaRPr lang="en-US" altLang="en-US" sz="2400" dirty="0">
              <a:latin typeface="Arial" panose="020B0604020202020204" pitchFamily="34" charset="0"/>
            </a:endParaRPr>
          </a:p>
          <a:p>
            <a:pPr lvl="0" defTabSz="914400" eaLnBrk="0" fontAlgn="base" hangingPunct="0">
              <a:lnSpc>
                <a:spcPct val="150000"/>
              </a:lnSpc>
              <a:spcBef>
                <a:spcPct val="0"/>
              </a:spcBef>
              <a:spcAft>
                <a:spcPct val="0"/>
              </a:spcAft>
              <a:buFontTx/>
              <a:buChar char="•"/>
            </a:pPr>
            <a:r>
              <a:rPr lang="en-US" altLang="en-US" sz="2400" b="1" dirty="0">
                <a:latin typeface="Arial" panose="020B0604020202020204" pitchFamily="34" charset="0"/>
              </a:rPr>
              <a:t>f(n)</a:t>
            </a:r>
            <a:r>
              <a:rPr lang="en-US" altLang="en-US" sz="2400" dirty="0">
                <a:latin typeface="Arial" panose="020B0604020202020204" pitchFamily="34" charset="0"/>
              </a:rPr>
              <a:t> = Estimated total cost of the path through </a:t>
            </a:r>
            <a:r>
              <a:rPr lang="en-US" altLang="en-US" sz="2400" dirty="0">
                <a:latin typeface="Arial Unicode MS"/>
              </a:rPr>
              <a:t>n</a:t>
            </a:r>
            <a:endParaRPr lang="en-US" altLang="en-US" sz="2400" dirty="0"/>
          </a:p>
          <a:p>
            <a:pPr lvl="0" defTabSz="914400" eaLnBrk="0" fontAlgn="base" hangingPunct="0">
              <a:lnSpc>
                <a:spcPct val="150000"/>
              </a:lnSpc>
              <a:spcBef>
                <a:spcPct val="0"/>
              </a:spcBef>
              <a:spcAft>
                <a:spcPct val="0"/>
              </a:spcAft>
              <a:buFontTx/>
              <a:buChar char="•"/>
            </a:pPr>
            <a:endParaRPr lang="en-US" altLang="en-US" sz="2400" dirty="0">
              <a:latin typeface="Arial" panose="020B0604020202020204" pitchFamily="34" charset="0"/>
            </a:endParaRPr>
          </a:p>
          <a:p>
            <a:pPr>
              <a:lnSpc>
                <a:spcPct val="150000"/>
              </a:lnSpc>
            </a:pPr>
            <a:endParaRPr lang="en-US" sz="2400" dirty="0"/>
          </a:p>
          <a:p>
            <a:pPr>
              <a:lnSpc>
                <a:spcPct val="150000"/>
              </a:lnSpc>
            </a:pPr>
            <a:endParaRPr lang="en-US" sz="2400" dirty="0"/>
          </a:p>
        </p:txBody>
      </p:sp>
    </p:spTree>
    <p:extLst>
      <p:ext uri="{BB962C8B-B14F-4D97-AF65-F5344CB8AC3E}">
        <p14:creationId xmlns:p14="http://schemas.microsoft.com/office/powerpoint/2010/main" val="1446275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2ED24-D408-91B5-BB40-51572D0651BB}"/>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601FC0-A0E9-5869-C1BB-C6A9920403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A75598D-4FE3-201A-AC2C-29B1F8B009E9}"/>
              </a:ext>
            </a:extLst>
          </p:cNvPr>
          <p:cNvSpPr/>
          <p:nvPr/>
        </p:nvSpPr>
        <p:spPr>
          <a:xfrm>
            <a:off x="1626780" y="637804"/>
            <a:ext cx="10408871" cy="2677656"/>
          </a:xfrm>
          <a:prstGeom prst="rect">
            <a:avLst/>
          </a:prstGeom>
        </p:spPr>
        <p:txBody>
          <a:bodyPr wrap="square">
            <a:spAutoFit/>
          </a:bodyPr>
          <a:lstStyle/>
          <a:p>
            <a:pPr marL="285750" indent="-285750">
              <a:buFont typeface="Arial" panose="020B0604020202020204" pitchFamily="34" charset="0"/>
              <a:buChar char="•"/>
            </a:pPr>
            <a:r>
              <a:rPr lang="en-US" b="1" dirty="0"/>
              <a:t>Nodes</a:t>
            </a:r>
            <a:r>
              <a:rPr lang="en-US" dirty="0"/>
              <a:t>: Points in your graph (like intersections on a map)</a:t>
            </a:r>
          </a:p>
          <a:p>
            <a:pPr marL="285750" indent="-285750">
              <a:buFont typeface="Arial" panose="020B0604020202020204" pitchFamily="34" charset="0"/>
              <a:buChar char="•"/>
            </a:pPr>
            <a:r>
              <a:rPr lang="en-US" b="1" dirty="0"/>
              <a:t>Edges</a:t>
            </a:r>
            <a:r>
              <a:rPr lang="en-US" dirty="0"/>
              <a:t>: Connections between nodes (like roads connecting intersections)</a:t>
            </a:r>
          </a:p>
          <a:p>
            <a:pPr marL="285750" indent="-285750">
              <a:buFont typeface="Arial" panose="020B0604020202020204" pitchFamily="34" charset="0"/>
              <a:buChar char="•"/>
            </a:pPr>
            <a:r>
              <a:rPr lang="en-US" b="1" dirty="0"/>
              <a:t>Path Cost</a:t>
            </a:r>
            <a:r>
              <a:rPr lang="en-US" dirty="0"/>
              <a:t>: The actual cost of moving from one node to another</a:t>
            </a:r>
          </a:p>
          <a:p>
            <a:pPr marL="285750" indent="-285750">
              <a:buFont typeface="Arial" panose="020B0604020202020204" pitchFamily="34" charset="0"/>
              <a:buChar char="•"/>
            </a:pPr>
            <a:r>
              <a:rPr lang="en-US" b="1" dirty="0"/>
              <a:t>Heuristic</a:t>
            </a:r>
            <a:r>
              <a:rPr lang="en-US" dirty="0"/>
              <a:t>: An estimated cost from any node to the goal</a:t>
            </a:r>
          </a:p>
          <a:p>
            <a:pPr marL="285750" indent="-285750">
              <a:buFont typeface="Arial" panose="020B0604020202020204" pitchFamily="34" charset="0"/>
              <a:buChar char="•"/>
            </a:pPr>
            <a:r>
              <a:rPr lang="en-US" b="1" dirty="0"/>
              <a:t>Search Space</a:t>
            </a:r>
            <a:r>
              <a:rPr lang="en-US" dirty="0"/>
              <a:t>: The collection of all possible paths to explore</a:t>
            </a:r>
          </a:p>
          <a:p>
            <a:endParaRPr lang="en-US" sz="2400" dirty="0"/>
          </a:p>
          <a:p>
            <a:r>
              <a:rPr lang="en-US" dirty="0"/>
              <a:t>The A* algorithm's efficiency comes from its smart evaluation of paths using three key components: g(n), h(n), and f(n). These components work together to guide the search process toward the most promising paths.</a:t>
            </a:r>
            <a:endParaRPr lang="en-US" sz="2400" dirty="0"/>
          </a:p>
        </p:txBody>
      </p:sp>
      <p:sp>
        <p:nvSpPr>
          <p:cNvPr id="10" name="Rectangle 9">
            <a:extLst>
              <a:ext uri="{FF2B5EF4-FFF2-40B4-BE49-F238E27FC236}">
                <a16:creationId xmlns:a16="http://schemas.microsoft.com/office/drawing/2014/main" id="{84156078-C2F6-EC5A-CA57-6FC9B15662B0}"/>
              </a:ext>
            </a:extLst>
          </p:cNvPr>
          <p:cNvSpPr/>
          <p:nvPr/>
        </p:nvSpPr>
        <p:spPr>
          <a:xfrm>
            <a:off x="1626781" y="-8527"/>
            <a:ext cx="7814931" cy="646331"/>
          </a:xfrm>
          <a:prstGeom prst="rect">
            <a:avLst/>
          </a:prstGeom>
        </p:spPr>
        <p:txBody>
          <a:bodyPr wrap="square">
            <a:spAutoFit/>
          </a:bodyPr>
          <a:lstStyle/>
          <a:p>
            <a:pPr algn="ctr"/>
            <a:r>
              <a:rPr lang="en-US" sz="3600" b="1" dirty="0">
                <a:solidFill>
                  <a:srgbClr val="FF0000"/>
                </a:solidFill>
              </a:rPr>
              <a:t>Key Concepts in A* Search</a:t>
            </a:r>
            <a:endParaRPr lang="en-US" sz="3600" b="1" cap="all" dirty="0">
              <a:solidFill>
                <a:srgbClr val="0070C0"/>
              </a:solidFill>
              <a:latin typeface="Gill Sans MT"/>
            </a:endParaRPr>
          </a:p>
        </p:txBody>
      </p:sp>
      <p:pic>
        <p:nvPicPr>
          <p:cNvPr id="5" name="Picture 4" descr="A diagram of a current&#10;&#10;AI-generated content may be incorrect.">
            <a:extLst>
              <a:ext uri="{FF2B5EF4-FFF2-40B4-BE49-F238E27FC236}">
                <a16:creationId xmlns:a16="http://schemas.microsoft.com/office/drawing/2014/main" id="{2011910C-9BD9-E234-B42E-0DF85D4DB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80" y="3315460"/>
            <a:ext cx="9692640" cy="2112170"/>
          </a:xfrm>
          <a:prstGeom prst="rect">
            <a:avLst/>
          </a:prstGeom>
        </p:spPr>
      </p:pic>
    </p:spTree>
    <p:extLst>
      <p:ext uri="{BB962C8B-B14F-4D97-AF65-F5344CB8AC3E}">
        <p14:creationId xmlns:p14="http://schemas.microsoft.com/office/powerpoint/2010/main" val="2300772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D4AE5-6A67-E0BC-2AD2-5B1E880E0E8B}"/>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B208A717-31B1-3380-4964-6B7D3A8CF2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077F8B5-C1FC-9AB1-3D42-1E6C7DFABAC9}"/>
              </a:ext>
            </a:extLst>
          </p:cNvPr>
          <p:cNvSpPr/>
          <p:nvPr/>
        </p:nvSpPr>
        <p:spPr>
          <a:xfrm>
            <a:off x="791626" y="824177"/>
            <a:ext cx="10807908" cy="5298053"/>
          </a:xfrm>
          <a:prstGeom prst="rect">
            <a:avLst/>
          </a:prstGeom>
        </p:spPr>
        <p:txBody>
          <a:bodyPr wrap="square">
            <a:spAutoFit/>
          </a:bodyPr>
          <a:lstStyle/>
          <a:p>
            <a:pPr marL="342900" indent="-342900">
              <a:lnSpc>
                <a:spcPct val="150000"/>
              </a:lnSpc>
              <a:buFont typeface="Arial" panose="020B0604020202020204" pitchFamily="34" charset="0"/>
              <a:buChar char="•"/>
            </a:pPr>
            <a:r>
              <a:rPr lang="en-US" dirty="0"/>
              <a:t>Heuristic functions are strategies or methods that guide the search process in AI algorithms by providing estimates of the most promising path to a solution. They are often used in scenarios where finding an exact solution is computationally infeasible.</a:t>
            </a:r>
            <a:endParaRPr lang="en-US" sz="2400" dirty="0"/>
          </a:p>
          <a:p>
            <a:pPr marL="342900" indent="-342900">
              <a:lnSpc>
                <a:spcPct val="150000"/>
              </a:lnSpc>
              <a:buFont typeface="Arial" panose="020B0604020202020204" pitchFamily="34" charset="0"/>
              <a:buChar char="•"/>
            </a:pPr>
            <a:r>
              <a:rPr lang="en-US" dirty="0"/>
              <a:t>Heuristic functions play a critical role in artificial intelligence (AI), particularly in search algorithms used for problem-solving. These functions estimate the cost to reach the goal from a given state, helping to make informed decisions that optimize the search process. These techniques help find the most efficient path from a starting point to a goal, making them essential for applications such as navigation systems, game playing, and optimization problems.</a:t>
            </a:r>
          </a:p>
          <a:p>
            <a:r>
              <a:rPr lang="en-US" b="1" dirty="0"/>
              <a:t>Example:</a:t>
            </a:r>
            <a:endParaRPr lang="en-US" dirty="0"/>
          </a:p>
          <a:p>
            <a:r>
              <a:rPr lang="en-US" dirty="0"/>
              <a:t>Consider a GPS navigation system. The straight-line distance between two points acts as a heuristic, estimating the travel cost while ignoring obstacles like traffic or road closures.</a:t>
            </a:r>
          </a:p>
          <a:p>
            <a:r>
              <a:rPr lang="en-US" dirty="0"/>
              <a:t>Heuristic functions are the backbone of informed search strategies, enabling faster and more effective problem-solving in AI.</a:t>
            </a:r>
          </a:p>
          <a:p>
            <a:pPr marL="342900" indent="-342900">
              <a:lnSpc>
                <a:spcPct val="150000"/>
              </a:lnSpc>
              <a:buFont typeface="Arial" panose="020B0604020202020204" pitchFamily="34" charset="0"/>
              <a:buChar char="•"/>
            </a:pPr>
            <a:endParaRPr lang="en-US" sz="2400" dirty="0"/>
          </a:p>
        </p:txBody>
      </p:sp>
      <p:sp>
        <p:nvSpPr>
          <p:cNvPr id="10" name="Rectangle 9">
            <a:extLst>
              <a:ext uri="{FF2B5EF4-FFF2-40B4-BE49-F238E27FC236}">
                <a16:creationId xmlns:a16="http://schemas.microsoft.com/office/drawing/2014/main" id="{8FB36E67-6B64-551D-A653-28DEE52883DF}"/>
              </a:ext>
            </a:extLst>
          </p:cNvPr>
          <p:cNvSpPr/>
          <p:nvPr/>
        </p:nvSpPr>
        <p:spPr>
          <a:xfrm>
            <a:off x="3412039" y="-69487"/>
            <a:ext cx="4721768" cy="646331"/>
          </a:xfrm>
          <a:prstGeom prst="rect">
            <a:avLst/>
          </a:prstGeom>
        </p:spPr>
        <p:txBody>
          <a:bodyPr wrap="square">
            <a:spAutoFit/>
          </a:bodyPr>
          <a:lstStyle/>
          <a:p>
            <a:pPr fontAlgn="base"/>
            <a:r>
              <a:rPr lang="en-IN" sz="3600" dirty="0">
                <a:solidFill>
                  <a:srgbClr val="FF0000"/>
                </a:solidFill>
              </a:rPr>
              <a:t>Heuristic Function In AI</a:t>
            </a:r>
            <a:endParaRPr lang="en-US" sz="3600" b="1" cap="all" dirty="0">
              <a:solidFill>
                <a:srgbClr val="0070C0"/>
              </a:solidFill>
              <a:latin typeface="Gill Sans MT"/>
            </a:endParaRPr>
          </a:p>
        </p:txBody>
      </p:sp>
    </p:spTree>
    <p:extLst>
      <p:ext uri="{BB962C8B-B14F-4D97-AF65-F5344CB8AC3E}">
        <p14:creationId xmlns:p14="http://schemas.microsoft.com/office/powerpoint/2010/main" val="3546809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F268A-2E36-A5DB-2F84-E5D87D43CB98}"/>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BF10155A-846F-D2FB-4316-67A0581D39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D7F1D849-E433-719D-6C4C-2E1869B14281}"/>
              </a:ext>
            </a:extLst>
          </p:cNvPr>
          <p:cNvSpPr/>
          <p:nvPr/>
        </p:nvSpPr>
        <p:spPr>
          <a:xfrm>
            <a:off x="704540" y="1236932"/>
            <a:ext cx="10807908" cy="4893647"/>
          </a:xfrm>
          <a:prstGeom prst="rect">
            <a:avLst/>
          </a:prstGeom>
        </p:spPr>
        <p:txBody>
          <a:bodyPr wrap="square">
            <a:spAutoFit/>
          </a:bodyPr>
          <a:lstStyle/>
          <a:p>
            <a:pPr fontAlgn="base"/>
            <a:r>
              <a:rPr lang="en-US" b="1" dirty="0"/>
              <a:t>Heuristic Search Algorithm in AI</a:t>
            </a:r>
          </a:p>
          <a:p>
            <a:pPr fontAlgn="base"/>
            <a:r>
              <a:rPr lang="en-US" dirty="0"/>
              <a:t>Heuristic search algorithms leverage heuristic functions to make more intelligent decisions during the search process. Some common heuristic search algorithms include:</a:t>
            </a:r>
          </a:p>
          <a:p>
            <a:pPr marL="285750" indent="-285750" fontAlgn="base">
              <a:buFont typeface="Arial" panose="020B0604020202020204" pitchFamily="34" charset="0"/>
              <a:buChar char="•"/>
            </a:pPr>
            <a:r>
              <a:rPr lang="en-US" b="1" dirty="0"/>
              <a:t>A* Algorithm</a:t>
            </a:r>
          </a:p>
          <a:p>
            <a:pPr fontAlgn="base"/>
            <a:r>
              <a:rPr lang="en-US" dirty="0"/>
              <a:t>		The</a:t>
            </a:r>
            <a:r>
              <a:rPr lang="en-US" u="sng" dirty="0">
                <a:hlinkClick r:id="rId3"/>
              </a:rPr>
              <a:t> A* algorithm</a:t>
            </a:r>
            <a:r>
              <a:rPr lang="en-US" dirty="0"/>
              <a:t> is one of the most widely used heuristic search algorithms. It uses both the actual cost 		from the start node to the current node (g(n)) and the estimated cost from the current node to the goal 		(h(n)). The total estimated cost (f(n)) is the sum of these two values:</a:t>
            </a:r>
          </a:p>
          <a:p>
            <a:pPr fontAlgn="base"/>
            <a:r>
              <a:rPr lang="en-US" dirty="0"/>
              <a:t>		f(n)=g(n)+h(n)</a:t>
            </a:r>
            <a:r>
              <a:rPr lang="en-US" i="1" dirty="0"/>
              <a:t>f</a:t>
            </a:r>
            <a:r>
              <a:rPr lang="en-US" dirty="0"/>
              <a:t>(</a:t>
            </a:r>
            <a:r>
              <a:rPr lang="en-US" i="1" dirty="0"/>
              <a:t>n</a:t>
            </a:r>
            <a:r>
              <a:rPr lang="en-US" dirty="0"/>
              <a:t>)=</a:t>
            </a:r>
            <a:r>
              <a:rPr lang="en-US" i="1" dirty="0"/>
              <a:t>g</a:t>
            </a:r>
            <a:r>
              <a:rPr lang="en-US" dirty="0"/>
              <a:t>(</a:t>
            </a:r>
            <a:r>
              <a:rPr lang="en-US" i="1" dirty="0"/>
              <a:t>n</a:t>
            </a:r>
            <a:r>
              <a:rPr lang="en-US" dirty="0"/>
              <a:t>)+</a:t>
            </a:r>
            <a:r>
              <a:rPr lang="en-US" i="1" dirty="0"/>
              <a:t>h</a:t>
            </a:r>
            <a:r>
              <a:rPr lang="en-US" dirty="0"/>
              <a:t>(</a:t>
            </a:r>
            <a:r>
              <a:rPr lang="en-US" i="1" dirty="0"/>
              <a:t>n</a:t>
            </a:r>
            <a:r>
              <a:rPr lang="en-US" dirty="0"/>
              <a:t>)</a:t>
            </a:r>
          </a:p>
          <a:p>
            <a:pPr marL="285750" indent="-285750" fontAlgn="base">
              <a:buFont typeface="Arial" panose="020B0604020202020204" pitchFamily="34" charset="0"/>
              <a:buChar char="•"/>
            </a:pPr>
            <a:r>
              <a:rPr lang="en-US" b="1" dirty="0"/>
              <a:t>Greedy Best-First Search</a:t>
            </a:r>
          </a:p>
          <a:p>
            <a:pPr fontAlgn="base"/>
            <a:r>
              <a:rPr lang="en-US" dirty="0"/>
              <a:t>		The </a:t>
            </a:r>
            <a:r>
              <a:rPr lang="en-US" u="sng" dirty="0">
                <a:hlinkClick r:id="rId4"/>
              </a:rPr>
              <a:t>Greedy Best-First Search</a:t>
            </a:r>
            <a:r>
              <a:rPr lang="en-US" dirty="0"/>
              <a:t> algorithm selects the path that appears to be the most promising based on 		the heuristic function alone. It prioritizes nodes with the lowest heuristic cost (h(n)), but it does not 			necessarily guarantee the shortest path to the goal.</a:t>
            </a:r>
          </a:p>
          <a:p>
            <a:pPr marL="285750" indent="-285750" fontAlgn="base">
              <a:buFont typeface="Arial" panose="020B0604020202020204" pitchFamily="34" charset="0"/>
              <a:buChar char="•"/>
            </a:pPr>
            <a:r>
              <a:rPr lang="en-US" b="1" dirty="0"/>
              <a:t>Hill-Climbing Algorithm</a:t>
            </a:r>
          </a:p>
          <a:p>
            <a:pPr fontAlgn="base"/>
            <a:r>
              <a:rPr lang="en-US" dirty="0"/>
              <a:t>		The </a:t>
            </a:r>
            <a:r>
              <a:rPr lang="en-US" u="sng" dirty="0">
                <a:hlinkClick r:id="rId5"/>
              </a:rPr>
              <a:t>Hill-Climbing algorithm</a:t>
            </a:r>
            <a:r>
              <a:rPr lang="en-US" dirty="0"/>
              <a:t> is a local search algorithm that continuously moves towards the neighbor 			with the lowest heuristic cost. It resembles climbing uphill towards the goal but can get stuck in local 			optima.</a:t>
            </a:r>
          </a:p>
          <a:p>
            <a:endParaRPr lang="en-US" sz="2400" dirty="0"/>
          </a:p>
        </p:txBody>
      </p:sp>
      <p:sp>
        <p:nvSpPr>
          <p:cNvPr id="10" name="Rectangle 9">
            <a:extLst>
              <a:ext uri="{FF2B5EF4-FFF2-40B4-BE49-F238E27FC236}">
                <a16:creationId xmlns:a16="http://schemas.microsoft.com/office/drawing/2014/main" id="{3A0A8569-5184-7C99-4412-7B5929C17067}"/>
              </a:ext>
            </a:extLst>
          </p:cNvPr>
          <p:cNvSpPr/>
          <p:nvPr/>
        </p:nvSpPr>
        <p:spPr>
          <a:xfrm>
            <a:off x="1626781" y="-8527"/>
            <a:ext cx="7814931" cy="1877437"/>
          </a:xfrm>
          <a:prstGeom prst="rect">
            <a:avLst/>
          </a:prstGeom>
        </p:spPr>
        <p:txBody>
          <a:bodyPr wrap="square">
            <a:spAutoFit/>
          </a:bodyPr>
          <a:lstStyle/>
          <a:p>
            <a:pPr algn="ctr"/>
            <a:endParaRPr lang="en-IN" sz="4000" dirty="0"/>
          </a:p>
          <a:p>
            <a:pPr algn="ctr"/>
            <a:r>
              <a:rPr lang="en-IN" sz="3600" dirty="0">
                <a:solidFill>
                  <a:srgbClr val="FF0000"/>
                </a:solidFill>
              </a:rPr>
              <a:t>Contd..</a:t>
            </a:r>
            <a:endParaRPr lang="en-IN" sz="3600" b="1" cap="all" dirty="0">
              <a:solidFill>
                <a:srgbClr val="FF0000"/>
              </a:solidFill>
              <a:latin typeface="Gill Sans MT"/>
            </a:endParaRPr>
          </a:p>
          <a:p>
            <a:pPr algn="ctr"/>
            <a:endParaRPr lang="en-US" sz="3600" b="1" cap="all" dirty="0">
              <a:solidFill>
                <a:srgbClr val="0070C0"/>
              </a:solidFill>
              <a:latin typeface="Gill Sans MT"/>
            </a:endParaRPr>
          </a:p>
        </p:txBody>
      </p:sp>
    </p:spTree>
    <p:extLst>
      <p:ext uri="{BB962C8B-B14F-4D97-AF65-F5344CB8AC3E}">
        <p14:creationId xmlns:p14="http://schemas.microsoft.com/office/powerpoint/2010/main" val="86643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163F1A-DD32-F007-50C0-40B54E70D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4926" y="212697"/>
            <a:ext cx="8386354" cy="6359958"/>
          </a:xfrm>
          <a:prstGeom prst="rect">
            <a:avLst/>
          </a:prstGeom>
        </p:spPr>
      </p:pic>
    </p:spTree>
    <p:extLst>
      <p:ext uri="{BB962C8B-B14F-4D97-AF65-F5344CB8AC3E}">
        <p14:creationId xmlns:p14="http://schemas.microsoft.com/office/powerpoint/2010/main" val="1283611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41671-2A87-3157-4819-DD86302E13F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D20668A-185E-0BF2-219D-480DAEABD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446" y="-120827"/>
            <a:ext cx="8725988" cy="6481128"/>
          </a:xfrm>
          <a:prstGeom prst="rect">
            <a:avLst/>
          </a:prstGeom>
        </p:spPr>
      </p:pic>
    </p:spTree>
    <p:extLst>
      <p:ext uri="{BB962C8B-B14F-4D97-AF65-F5344CB8AC3E}">
        <p14:creationId xmlns:p14="http://schemas.microsoft.com/office/powerpoint/2010/main" val="3913922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8759-3E8F-FADB-35A2-72E4B693FE0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80AB6DA-A31E-3B5C-0D8B-2C31E3372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823" y="-211680"/>
            <a:ext cx="9048206" cy="6737246"/>
          </a:xfrm>
          <a:prstGeom prst="rect">
            <a:avLst/>
          </a:prstGeom>
        </p:spPr>
      </p:pic>
    </p:spTree>
    <p:extLst>
      <p:ext uri="{BB962C8B-B14F-4D97-AF65-F5344CB8AC3E}">
        <p14:creationId xmlns:p14="http://schemas.microsoft.com/office/powerpoint/2010/main" val="4217031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5789-3F05-0B5A-3C47-3312B3BB92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135ABC9-9E4E-EEB3-A293-C0E8C25F4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463" y="-27411"/>
            <a:ext cx="8447313" cy="6373989"/>
          </a:xfrm>
          <a:prstGeom prst="rect">
            <a:avLst/>
          </a:prstGeom>
        </p:spPr>
      </p:pic>
    </p:spTree>
    <p:extLst>
      <p:ext uri="{BB962C8B-B14F-4D97-AF65-F5344CB8AC3E}">
        <p14:creationId xmlns:p14="http://schemas.microsoft.com/office/powerpoint/2010/main" val="2580439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C2C13E-8314-3270-4C9D-78E6D72CC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0" y="37620"/>
            <a:ext cx="8543178" cy="6694106"/>
          </a:xfrm>
          <a:prstGeom prst="rect">
            <a:avLst/>
          </a:prstGeom>
        </p:spPr>
      </p:pic>
    </p:spTree>
    <p:extLst>
      <p:ext uri="{BB962C8B-B14F-4D97-AF65-F5344CB8AC3E}">
        <p14:creationId xmlns:p14="http://schemas.microsoft.com/office/powerpoint/2010/main" val="1546154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64741-5DE1-A13F-8765-B1B1D00CB5FB}"/>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A8CC4341-F24B-D07F-0A0D-82732A2B9F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30F280D-49BB-7682-163D-068C9F48517A}"/>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10" name="Rectangle 9">
            <a:extLst>
              <a:ext uri="{FF2B5EF4-FFF2-40B4-BE49-F238E27FC236}">
                <a16:creationId xmlns:a16="http://schemas.microsoft.com/office/drawing/2014/main" id="{4AA691D0-23AA-2550-2E65-67D0B592352F}"/>
              </a:ext>
            </a:extLst>
          </p:cNvPr>
          <p:cNvSpPr/>
          <p:nvPr/>
        </p:nvSpPr>
        <p:spPr>
          <a:xfrm>
            <a:off x="3020153" y="-147865"/>
            <a:ext cx="7814931" cy="834909"/>
          </a:xfrm>
          <a:prstGeom prst="rect">
            <a:avLst/>
          </a:prstGeom>
        </p:spPr>
        <p:txBody>
          <a:bodyPr wrap="square">
            <a:spAutoFit/>
          </a:bodyPr>
          <a:lstStyle/>
          <a:p>
            <a:pPr>
              <a:lnSpc>
                <a:spcPct val="150000"/>
              </a:lnSpc>
            </a:pPr>
            <a:r>
              <a:rPr lang="en-US" sz="3600" dirty="0">
                <a:solidFill>
                  <a:srgbClr val="FF0000"/>
                </a:solidFill>
              </a:rPr>
              <a:t>Admissibility &amp; Consistency</a:t>
            </a:r>
            <a:endParaRPr lang="en-US" sz="3600" b="1" cap="all" dirty="0">
              <a:solidFill>
                <a:srgbClr val="0070C0"/>
              </a:solidFill>
              <a:latin typeface="Gill Sans MT"/>
            </a:endParaRPr>
          </a:p>
        </p:txBody>
      </p:sp>
      <p:sp>
        <p:nvSpPr>
          <p:cNvPr id="2" name="Rectangle 1">
            <a:extLst>
              <a:ext uri="{FF2B5EF4-FFF2-40B4-BE49-F238E27FC236}">
                <a16:creationId xmlns:a16="http://schemas.microsoft.com/office/drawing/2014/main" id="{AAD48345-61E9-3477-5755-914110F6A5AE}"/>
              </a:ext>
            </a:extLst>
          </p:cNvPr>
          <p:cNvSpPr>
            <a:spLocks noChangeArrowheads="1"/>
          </p:cNvSpPr>
          <p:nvPr/>
        </p:nvSpPr>
        <p:spPr bwMode="auto">
          <a:xfrm>
            <a:off x="938108" y="1094743"/>
            <a:ext cx="1049005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What is a Heuristic?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A </a:t>
            </a:r>
            <a:r>
              <a:rPr kumimoji="0" lang="en-US" altLang="en-US" sz="2400" b="1" i="0" u="none" strike="noStrike" cap="none" normalizeH="0" baseline="0" dirty="0">
                <a:ln>
                  <a:noFill/>
                </a:ln>
                <a:solidFill>
                  <a:schemeClr val="tx1"/>
                </a:solidFill>
                <a:effectLst/>
                <a:latin typeface="Arial" panose="020B0604020202020204" pitchFamily="34" charset="0"/>
              </a:rPr>
              <a:t>heuristic</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Unicode MS"/>
              </a:rPr>
              <a:t>h(n)</a:t>
            </a:r>
            <a:r>
              <a:rPr kumimoji="0" lang="en-US" altLang="en-US" sz="2400" b="0" i="0" u="none" strike="noStrike" cap="none" normalizeH="0" baseline="0" dirty="0">
                <a:ln>
                  <a:noFill/>
                </a:ln>
                <a:solidFill>
                  <a:schemeClr val="tx1"/>
                </a:solidFill>
                <a:effectLst/>
              </a:rPr>
              <a:t>) is an estimate of the </a:t>
            </a:r>
            <a:r>
              <a:rPr kumimoji="0" lang="en-US" altLang="en-US" sz="2400" b="1" i="0" u="none" strike="noStrike" cap="none" normalizeH="0" baseline="0" dirty="0">
                <a:ln>
                  <a:noFill/>
                </a:ln>
                <a:solidFill>
                  <a:schemeClr val="tx1"/>
                </a:solidFill>
                <a:effectLst/>
                <a:latin typeface="Arial" panose="020B0604020202020204" pitchFamily="34" charset="0"/>
              </a:rPr>
              <a:t>cost from node </a:t>
            </a:r>
            <a:r>
              <a:rPr kumimoji="0" lang="en-US" altLang="en-US" sz="2400" b="1" i="0" u="none" strike="noStrike" cap="none" normalizeH="0" baseline="0" dirty="0">
                <a:ln>
                  <a:noFill/>
                </a:ln>
                <a:solidFill>
                  <a:schemeClr val="tx1"/>
                </a:solidFill>
                <a:effectLst/>
                <a:latin typeface="Arial Unicode MS"/>
              </a:rPr>
              <a:t>n</a:t>
            </a:r>
            <a:r>
              <a:rPr kumimoji="0" lang="en-US" altLang="en-US" sz="2400" b="1" i="0" u="none" strike="noStrike" cap="none" normalizeH="0" baseline="0" dirty="0">
                <a:ln>
                  <a:noFill/>
                </a:ln>
                <a:solidFill>
                  <a:schemeClr val="tx1"/>
                </a:solidFill>
                <a:effectLst/>
              </a:rPr>
              <a:t> to the goal</a:t>
            </a:r>
            <a:r>
              <a:rPr kumimoji="0" lang="en-US" altLang="en-US" sz="2400" b="0" i="0" u="none" strike="noStrike" cap="none" normalizeH="0" baseline="0" dirty="0">
                <a:ln>
                  <a:noFill/>
                </a:ln>
                <a:solidFill>
                  <a:schemeClr val="tx1"/>
                </a:solidFill>
                <a:effectLst/>
                <a:latin typeface="Arial" panose="020B0604020202020204" pitchFamily="34" charset="0"/>
              </a:rPr>
              <a: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Used in algorithms like A*, Greedy BFS, etc., to guide the search efficiently.</a:t>
            </a:r>
          </a:p>
          <a:p>
            <a:pPr>
              <a:buNone/>
            </a:pPr>
            <a:r>
              <a:rPr lang="en-US" sz="2400" b="1" dirty="0"/>
              <a:t>Admissible Heuristic</a:t>
            </a:r>
          </a:p>
          <a:p>
            <a:r>
              <a:rPr lang="en-US" sz="2400" dirty="0"/>
              <a:t>A heuristic is </a:t>
            </a:r>
            <a:r>
              <a:rPr lang="en-US" sz="2400" b="1" dirty="0"/>
              <a:t>admissible</a:t>
            </a:r>
            <a:r>
              <a:rPr lang="en-US" sz="2400" dirty="0"/>
              <a:t> if it </a:t>
            </a:r>
            <a:r>
              <a:rPr lang="en-US" sz="2400" b="1" dirty="0"/>
              <a:t>never overestimates</a:t>
            </a:r>
            <a:r>
              <a:rPr lang="en-US" sz="2400" dirty="0"/>
              <a:t> the actual cost to reach the goal.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CDB44BE8-F9F6-9A28-7315-97ED2B76495A}"/>
              </a:ext>
            </a:extLst>
          </p:cNvPr>
          <p:cNvPicPr>
            <a:picLocks noChangeAspect="1"/>
          </p:cNvPicPr>
          <p:nvPr/>
        </p:nvPicPr>
        <p:blipFill>
          <a:blip r:embed="rId5"/>
          <a:stretch>
            <a:fillRect/>
          </a:stretch>
        </p:blipFill>
        <p:spPr>
          <a:xfrm>
            <a:off x="1727791" y="3278373"/>
            <a:ext cx="8440328" cy="1886213"/>
          </a:xfrm>
          <a:prstGeom prst="rect">
            <a:avLst/>
          </a:prstGeom>
        </p:spPr>
      </p:pic>
    </p:spTree>
    <p:extLst>
      <p:ext uri="{BB962C8B-B14F-4D97-AF65-F5344CB8AC3E}">
        <p14:creationId xmlns:p14="http://schemas.microsoft.com/office/powerpoint/2010/main" val="3753643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B7E0C0-96FE-B5FE-CAD7-B57B8A6CB5E2}"/>
              </a:ext>
            </a:extLst>
          </p:cNvPr>
          <p:cNvPicPr>
            <a:picLocks noChangeAspect="1"/>
          </p:cNvPicPr>
          <p:nvPr/>
        </p:nvPicPr>
        <p:blipFill>
          <a:blip r:embed="rId2"/>
          <a:stretch>
            <a:fillRect/>
          </a:stretch>
        </p:blipFill>
        <p:spPr>
          <a:xfrm>
            <a:off x="2029977" y="930430"/>
            <a:ext cx="7923920" cy="3249683"/>
          </a:xfrm>
          <a:prstGeom prst="rect">
            <a:avLst/>
          </a:prstGeom>
        </p:spPr>
      </p:pic>
    </p:spTree>
    <p:extLst>
      <p:ext uri="{BB962C8B-B14F-4D97-AF65-F5344CB8AC3E}">
        <p14:creationId xmlns:p14="http://schemas.microsoft.com/office/powerpoint/2010/main" val="1236845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AD8FB7-2F2C-AA83-E8A5-4E783DD7633C}"/>
              </a:ext>
            </a:extLst>
          </p:cNvPr>
          <p:cNvSpPr txBox="1"/>
          <p:nvPr/>
        </p:nvSpPr>
        <p:spPr>
          <a:xfrm>
            <a:off x="1830978" y="661740"/>
            <a:ext cx="8242662" cy="2251065"/>
          </a:xfrm>
          <a:prstGeom prst="rect">
            <a:avLst/>
          </a:prstGeom>
          <a:noFill/>
        </p:spPr>
        <p:txBody>
          <a:bodyPr wrap="square">
            <a:spAutoFit/>
          </a:bodyPr>
          <a:lstStyle/>
          <a:p>
            <a:pPr>
              <a:lnSpc>
                <a:spcPct val="150000"/>
              </a:lnSpc>
            </a:pPr>
            <a:r>
              <a:rPr lang="en-US" sz="2400" dirty="0"/>
              <a:t>Consistent Heuristic (Monotonic)A heuristic is consistent if the estimated cost from node n to goal is always less than or equal to the cost of getting to a neighbor plus the estimate from that neighbor.</a:t>
            </a:r>
            <a:endParaRPr lang="en-IN" sz="2400" dirty="0"/>
          </a:p>
        </p:txBody>
      </p:sp>
      <p:pic>
        <p:nvPicPr>
          <p:cNvPr id="6" name="Picture 5">
            <a:extLst>
              <a:ext uri="{FF2B5EF4-FFF2-40B4-BE49-F238E27FC236}">
                <a16:creationId xmlns:a16="http://schemas.microsoft.com/office/drawing/2014/main" id="{9B315DB6-59D5-8CA6-DF91-F9FA845B067F}"/>
              </a:ext>
            </a:extLst>
          </p:cNvPr>
          <p:cNvPicPr>
            <a:picLocks noChangeAspect="1"/>
          </p:cNvPicPr>
          <p:nvPr/>
        </p:nvPicPr>
        <p:blipFill>
          <a:blip r:embed="rId2"/>
          <a:stretch>
            <a:fillRect/>
          </a:stretch>
        </p:blipFill>
        <p:spPr>
          <a:xfrm>
            <a:off x="2295653" y="3429000"/>
            <a:ext cx="5963482" cy="2172003"/>
          </a:xfrm>
          <a:prstGeom prst="rect">
            <a:avLst/>
          </a:prstGeom>
        </p:spPr>
      </p:pic>
    </p:spTree>
    <p:extLst>
      <p:ext uri="{BB962C8B-B14F-4D97-AF65-F5344CB8AC3E}">
        <p14:creationId xmlns:p14="http://schemas.microsoft.com/office/powerpoint/2010/main" val="2268893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97341-FF2C-9B2C-1A36-34C11CCE6C9E}"/>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FD8D025D-D20B-FFC7-1A5F-A5FE8664AA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B1CB785-4234-5627-D4BB-AC35F9F148A0}"/>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10" name="Rectangle 9">
            <a:extLst>
              <a:ext uri="{FF2B5EF4-FFF2-40B4-BE49-F238E27FC236}">
                <a16:creationId xmlns:a16="http://schemas.microsoft.com/office/drawing/2014/main" id="{97F9F4CA-BC42-26E3-4E06-8A0BAB3C4FEE}"/>
              </a:ext>
            </a:extLst>
          </p:cNvPr>
          <p:cNvSpPr/>
          <p:nvPr/>
        </p:nvSpPr>
        <p:spPr>
          <a:xfrm>
            <a:off x="1626781" y="-8527"/>
            <a:ext cx="7814931" cy="1877437"/>
          </a:xfrm>
          <a:prstGeom prst="rect">
            <a:avLst/>
          </a:prstGeom>
        </p:spPr>
        <p:txBody>
          <a:bodyPr wrap="square">
            <a:spAutoFit/>
          </a:bodyPr>
          <a:lstStyle/>
          <a:p>
            <a:pPr algn="ctr"/>
            <a:endParaRPr lang="en-IN" sz="4000" dirty="0"/>
          </a:p>
          <a:p>
            <a:pPr algn="ctr"/>
            <a:r>
              <a:rPr lang="en-IN" sz="4000" dirty="0"/>
              <a:t>Comparison of Search Algorithms</a:t>
            </a:r>
            <a:endParaRPr lang="en-IN" sz="4000" b="1" cap="all" dirty="0">
              <a:solidFill>
                <a:srgbClr val="0070C0"/>
              </a:solidFill>
              <a:latin typeface="Gill Sans MT"/>
            </a:endParaRPr>
          </a:p>
          <a:p>
            <a:pPr algn="ctr"/>
            <a:endParaRPr lang="en-US" sz="3600" b="1" cap="all" dirty="0">
              <a:solidFill>
                <a:srgbClr val="0070C0"/>
              </a:solidFill>
              <a:latin typeface="Gill Sans MT"/>
            </a:endParaRPr>
          </a:p>
        </p:txBody>
      </p:sp>
      <p:sp>
        <p:nvSpPr>
          <p:cNvPr id="17" name="Rectangle 1">
            <a:extLst>
              <a:ext uri="{FF2B5EF4-FFF2-40B4-BE49-F238E27FC236}">
                <a16:creationId xmlns:a16="http://schemas.microsoft.com/office/drawing/2014/main" id="{4DFE15E0-0AA4-5D15-7841-23E718A507B5}"/>
              </a:ext>
            </a:extLst>
          </p:cNvPr>
          <p:cNvSpPr>
            <a:spLocks noChangeArrowheads="1"/>
          </p:cNvSpPr>
          <p:nvPr/>
        </p:nvSpPr>
        <p:spPr bwMode="auto">
          <a:xfrm>
            <a:off x="1626781" y="-685871"/>
            <a:ext cx="9400032"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Key Differences at a Glance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BFS</a:t>
            </a:r>
            <a:r>
              <a:rPr kumimoji="0" lang="en-US" altLang="en-US" sz="2400" b="0" i="0" u="none" strike="noStrike" cap="none" normalizeH="0" baseline="0" dirty="0">
                <a:ln>
                  <a:noFill/>
                </a:ln>
                <a:solidFill>
                  <a:schemeClr val="tx1"/>
                </a:solidFill>
                <a:effectLst/>
              </a:rPr>
              <a:t>: Level-wise expansion. Optimal for unit cost. Not scalable to large problems.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DFS</a:t>
            </a:r>
            <a:r>
              <a:rPr kumimoji="0" lang="en-US" altLang="en-US" sz="2400" b="0" i="0" u="none" strike="noStrike" cap="none" normalizeH="0" baseline="0" dirty="0">
                <a:ln>
                  <a:noFill/>
                </a:ln>
                <a:solidFill>
                  <a:schemeClr val="tx1"/>
                </a:solidFill>
                <a:effectLst/>
              </a:rPr>
              <a:t>: Fast and memory-efficient but risks getting stuck in deep branches.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UCS</a:t>
            </a:r>
            <a:r>
              <a:rPr kumimoji="0" lang="en-US" altLang="en-US" sz="2400" b="0" i="0" u="none" strike="noStrike" cap="none" normalizeH="0" baseline="0" dirty="0">
                <a:ln>
                  <a:noFill/>
                </a:ln>
                <a:solidFill>
                  <a:schemeClr val="tx1"/>
                </a:solidFill>
                <a:effectLst/>
              </a:rPr>
              <a:t>: Expands cheapest path. Optimal, but like BFS, can be slow.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Greedy BFS</a:t>
            </a:r>
            <a:r>
              <a:rPr kumimoji="0" lang="en-US" altLang="en-US" sz="2400" b="0" i="0" u="none" strike="noStrike" cap="none" normalizeH="0" baseline="0" dirty="0">
                <a:ln>
                  <a:noFill/>
                </a:ln>
                <a:solidFill>
                  <a:schemeClr val="tx1"/>
                </a:solidFill>
                <a:effectLst/>
              </a:rPr>
              <a:t>: Only follows heuristic h(n). Very fast, but not guaranteed optimal.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A*</a:t>
            </a:r>
            <a:r>
              <a:rPr kumimoji="0" lang="en-US" altLang="en-US" sz="2400" b="0" i="0" u="none" strike="noStrike" cap="none" normalizeH="0" baseline="0" dirty="0">
                <a:ln>
                  <a:noFill/>
                </a:ln>
                <a:solidFill>
                  <a:schemeClr val="tx1"/>
                </a:solidFill>
                <a:effectLst/>
              </a:rPr>
              <a:t>: Combines cost-so-far (g(n)) and heuristic estimate (h(n)). Best choice if heuristic is good.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6932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B0DF350-8210-F6D1-2201-7DA9FC81E4D5}"/>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6" name="Rectangle 5"/>
          <p:cNvSpPr/>
          <p:nvPr/>
        </p:nvSpPr>
        <p:spPr>
          <a:xfrm>
            <a:off x="3412410" y="381213"/>
            <a:ext cx="5987622" cy="646331"/>
          </a:xfrm>
          <a:prstGeom prst="rect">
            <a:avLst/>
          </a:prstGeom>
        </p:spPr>
        <p:txBody>
          <a:bodyPr wrap="square">
            <a:spAutoFit/>
          </a:bodyPr>
          <a:lstStyle/>
          <a:p>
            <a:pPr lvl="0" algn="ctr" defTabSz="914400">
              <a:lnSpc>
                <a:spcPct val="90000"/>
              </a:lnSpc>
              <a:spcBef>
                <a:spcPct val="0"/>
              </a:spcBef>
              <a:defRPr/>
            </a:pPr>
            <a:r>
              <a:rPr lang="en-US" sz="4000" dirty="0"/>
              <a:t>Self 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389028" y="1303390"/>
            <a:ext cx="10018487"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2000" b="1" dirty="0"/>
              <a:t>1. Which of the following is an uninformed search algorithm?</a:t>
            </a:r>
          </a:p>
        </p:txBody>
      </p:sp>
      <p:sp>
        <p:nvSpPr>
          <p:cNvPr id="8" name="Rounded Rectangle 17">
            <a:extLst>
              <a:ext uri="{FF2B5EF4-FFF2-40B4-BE49-F238E27FC236}">
                <a16:creationId xmlns:a16="http://schemas.microsoft.com/office/drawing/2014/main" id="{5D8B791C-9B35-CF16-C192-D202E0DB9A60}"/>
              </a:ext>
            </a:extLst>
          </p:cNvPr>
          <p:cNvSpPr/>
          <p:nvPr/>
        </p:nvSpPr>
        <p:spPr>
          <a:xfrm>
            <a:off x="1445809" y="2094773"/>
            <a:ext cx="5038070" cy="149308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A. A* Search</a:t>
            </a:r>
            <a:br>
              <a:rPr lang="en-US" sz="2000" dirty="0"/>
            </a:br>
            <a:r>
              <a:rPr lang="en-US" sz="2000" dirty="0"/>
              <a:t>B. Greedy Best-First Search</a:t>
            </a:r>
            <a:br>
              <a:rPr lang="en-US" sz="2000" dirty="0"/>
            </a:br>
            <a:r>
              <a:rPr lang="en-US" sz="2000" dirty="0"/>
              <a:t>C. Breadth-First Search</a:t>
            </a:r>
            <a:br>
              <a:rPr lang="en-US" sz="2000" dirty="0"/>
            </a:br>
            <a:r>
              <a:rPr lang="en-US" sz="2000" dirty="0"/>
              <a:t>D. Hill Climbing</a:t>
            </a:r>
            <a:endParaRPr lang="en-US" sz="2000" dirty="0">
              <a:latin typeface="Arial" panose="020B0604020202020204" pitchFamily="34" charset="0"/>
            </a:endParaRPr>
          </a:p>
        </p:txBody>
      </p:sp>
      <p:sp>
        <p:nvSpPr>
          <p:cNvPr id="10" name="Google Shape;502;p17">
            <a:extLst>
              <a:ext uri="{FF2B5EF4-FFF2-40B4-BE49-F238E27FC236}">
                <a16:creationId xmlns:a16="http://schemas.microsoft.com/office/drawing/2014/main" id="{BB41B87C-BE5F-4BF2-531D-57DC21D1A451}"/>
              </a:ext>
            </a:extLst>
          </p:cNvPr>
          <p:cNvSpPr/>
          <p:nvPr/>
        </p:nvSpPr>
        <p:spPr>
          <a:xfrm>
            <a:off x="1410826" y="3726279"/>
            <a:ext cx="10056649" cy="51594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lgn="just">
              <a:buFont typeface="+mj-lt"/>
              <a:buAutoNum type="arabicPeriod" startAt="2"/>
            </a:pPr>
            <a:r>
              <a:rPr lang="en-US" sz="2000" dirty="0"/>
              <a:t>The function used in A algorithm is:</a:t>
            </a:r>
            <a:endParaRPr sz="2000" b="1"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7E00138C-2256-5D01-E821-A57ADA3BBCB0}"/>
              </a:ext>
            </a:extLst>
          </p:cNvPr>
          <p:cNvSpPr/>
          <p:nvPr/>
        </p:nvSpPr>
        <p:spPr>
          <a:xfrm>
            <a:off x="1454047" y="4332160"/>
            <a:ext cx="9968458" cy="151400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2000" dirty="0"/>
              <a:t>A. f(n)=h(n)f(n) = h(n)f(n)=h(n)</a:t>
            </a:r>
            <a:br>
              <a:rPr lang="pt-BR" sz="2000" dirty="0"/>
            </a:br>
            <a:r>
              <a:rPr lang="pt-BR" sz="2000" dirty="0"/>
              <a:t>B. f(n)=g(n)f(n) = g(n)f(n)=g(n)</a:t>
            </a:r>
            <a:br>
              <a:rPr lang="pt-BR" sz="2000" dirty="0"/>
            </a:br>
            <a:r>
              <a:rPr lang="pt-BR" sz="2000" dirty="0"/>
              <a:t>C. f(n)=g(n)+h(n)f(n) = g(n) + h(n)f(n)=g(n)+h(n)</a:t>
            </a:r>
            <a:br>
              <a:rPr lang="pt-BR" sz="2000" dirty="0"/>
            </a:br>
            <a:r>
              <a:rPr lang="pt-BR" sz="2000" dirty="0"/>
              <a:t>D. f(n)=h(n)−g(n)f(n) = h(n) - g(n)f(n)=h(n)−g(n)</a:t>
            </a:r>
            <a:endParaRPr lang="en-US" sz="2000" dirty="0"/>
          </a:p>
        </p:txBody>
      </p:sp>
    </p:spTree>
    <p:extLst>
      <p:ext uri="{BB962C8B-B14F-4D97-AF65-F5344CB8AC3E}">
        <p14:creationId xmlns:p14="http://schemas.microsoft.com/office/powerpoint/2010/main" val="3988170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D11FC-E110-8D19-434B-3684B0BA32B1}"/>
            </a:ext>
          </a:extLst>
        </p:cNvPr>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2335CF47-9B3D-A3BE-C04B-57774C3616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09446D1-F06B-F264-E7EC-99261A690FC2}"/>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6" name="Rectangle 5">
            <a:extLst>
              <a:ext uri="{FF2B5EF4-FFF2-40B4-BE49-F238E27FC236}">
                <a16:creationId xmlns:a16="http://schemas.microsoft.com/office/drawing/2014/main" id="{0EC4F681-DA1E-089C-0939-1703635EBEFF}"/>
              </a:ext>
            </a:extLst>
          </p:cNvPr>
          <p:cNvSpPr/>
          <p:nvPr/>
        </p:nvSpPr>
        <p:spPr>
          <a:xfrm>
            <a:off x="3412410" y="381213"/>
            <a:ext cx="5987622" cy="646331"/>
          </a:xfrm>
          <a:prstGeom prst="rect">
            <a:avLst/>
          </a:prstGeom>
        </p:spPr>
        <p:txBody>
          <a:bodyPr wrap="square">
            <a:spAutoFit/>
          </a:bodyPr>
          <a:lstStyle/>
          <a:p>
            <a:pPr lvl="0" algn="ctr" defTabSz="914400">
              <a:lnSpc>
                <a:spcPct val="90000"/>
              </a:lnSpc>
              <a:spcBef>
                <a:spcPct val="0"/>
              </a:spcBef>
              <a:defRPr/>
            </a:pPr>
            <a:r>
              <a:rPr lang="en-US" sz="4000" dirty="0"/>
              <a:t>Self Assessment Questions</a:t>
            </a:r>
          </a:p>
        </p:txBody>
      </p:sp>
      <p:sp>
        <p:nvSpPr>
          <p:cNvPr id="7" name="Google Shape;502;p17">
            <a:extLst>
              <a:ext uri="{FF2B5EF4-FFF2-40B4-BE49-F238E27FC236}">
                <a16:creationId xmlns:a16="http://schemas.microsoft.com/office/drawing/2014/main" id="{D7E341B4-86C8-C7C6-20CD-8C2B3F69739B}"/>
              </a:ext>
            </a:extLst>
          </p:cNvPr>
          <p:cNvSpPr/>
          <p:nvPr/>
        </p:nvSpPr>
        <p:spPr>
          <a:xfrm>
            <a:off x="1389028" y="1303390"/>
            <a:ext cx="10018487"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2000" b="1" dirty="0"/>
              <a:t>3. </a:t>
            </a:r>
            <a:r>
              <a:rPr lang="en-US" sz="2000" dirty="0"/>
              <a:t>A heuristic is said to be admissible if it</a:t>
            </a:r>
            <a:r>
              <a:rPr lang="en-US" sz="2000" b="1" dirty="0"/>
              <a:t> of the following is an uninformed search algorithm?</a:t>
            </a:r>
          </a:p>
        </p:txBody>
      </p:sp>
      <p:sp>
        <p:nvSpPr>
          <p:cNvPr id="8" name="Rounded Rectangle 17">
            <a:extLst>
              <a:ext uri="{FF2B5EF4-FFF2-40B4-BE49-F238E27FC236}">
                <a16:creationId xmlns:a16="http://schemas.microsoft.com/office/drawing/2014/main" id="{76BB6150-0042-752C-2C10-B3DC08150A74}"/>
              </a:ext>
            </a:extLst>
          </p:cNvPr>
          <p:cNvSpPr/>
          <p:nvPr/>
        </p:nvSpPr>
        <p:spPr>
          <a:xfrm>
            <a:off x="1445809" y="2094773"/>
            <a:ext cx="5038070" cy="149308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A. Always overestimates the cost</a:t>
            </a:r>
            <a:br>
              <a:rPr lang="en-US" sz="2000" dirty="0"/>
            </a:br>
            <a:r>
              <a:rPr lang="en-US" sz="2000" dirty="0"/>
              <a:t>B. Uses past cost only</a:t>
            </a:r>
            <a:br>
              <a:rPr lang="en-US" sz="2000" dirty="0"/>
            </a:br>
            <a:r>
              <a:rPr lang="en-US" sz="2000" dirty="0"/>
              <a:t>C. Never overestimates the cost</a:t>
            </a:r>
            <a:br>
              <a:rPr lang="en-US" sz="2000" dirty="0"/>
            </a:br>
            <a:r>
              <a:rPr lang="en-US" sz="2000" dirty="0"/>
              <a:t>D. Uses random values</a:t>
            </a:r>
            <a:endParaRPr lang="en-US" sz="2000" dirty="0">
              <a:latin typeface="Arial" panose="020B0604020202020204" pitchFamily="34" charset="0"/>
            </a:endParaRPr>
          </a:p>
        </p:txBody>
      </p:sp>
      <p:sp>
        <p:nvSpPr>
          <p:cNvPr id="10" name="Google Shape;502;p17">
            <a:extLst>
              <a:ext uri="{FF2B5EF4-FFF2-40B4-BE49-F238E27FC236}">
                <a16:creationId xmlns:a16="http://schemas.microsoft.com/office/drawing/2014/main" id="{8139C9E4-AFD6-9E06-3E3D-153A6E4D471B}"/>
              </a:ext>
            </a:extLst>
          </p:cNvPr>
          <p:cNvSpPr/>
          <p:nvPr/>
        </p:nvSpPr>
        <p:spPr>
          <a:xfrm>
            <a:off x="1410826" y="3726279"/>
            <a:ext cx="10056649" cy="51594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lgn="just"/>
            <a:r>
              <a:rPr lang="en-US" sz="2000" dirty="0"/>
              <a:t>4. Which of the following is not guaranteed to find the optimal solution?</a:t>
            </a:r>
            <a:endParaRPr sz="2000" b="1"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60138B90-9EDC-E811-9192-0150E75757AA}"/>
              </a:ext>
            </a:extLst>
          </p:cNvPr>
          <p:cNvSpPr/>
          <p:nvPr/>
        </p:nvSpPr>
        <p:spPr>
          <a:xfrm>
            <a:off x="1454047" y="4332160"/>
            <a:ext cx="9968458" cy="151400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A. A*</a:t>
            </a:r>
            <a:br>
              <a:rPr lang="en-US" sz="2000" dirty="0"/>
            </a:br>
            <a:r>
              <a:rPr lang="en-US" sz="2000" dirty="0"/>
              <a:t>B. Uniform Cost Search</a:t>
            </a:r>
            <a:br>
              <a:rPr lang="en-US" sz="2000" dirty="0"/>
            </a:br>
            <a:r>
              <a:rPr lang="en-US" sz="2000" dirty="0"/>
              <a:t>C. Greedy Best-First Search</a:t>
            </a:r>
            <a:br>
              <a:rPr lang="en-US" sz="2000" dirty="0"/>
            </a:br>
            <a:r>
              <a:rPr lang="en-US" sz="2000" dirty="0"/>
              <a:t>D. Breadth-First Search (unit cost)</a:t>
            </a:r>
          </a:p>
        </p:txBody>
      </p:sp>
    </p:spTree>
    <p:extLst>
      <p:ext uri="{BB962C8B-B14F-4D97-AF65-F5344CB8AC3E}">
        <p14:creationId xmlns:p14="http://schemas.microsoft.com/office/powerpoint/2010/main" val="2937272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B0DF350-8210-F6D1-2201-7DA9FC81E4D5}"/>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6" name="Rectangle 5"/>
          <p:cNvSpPr/>
          <p:nvPr/>
        </p:nvSpPr>
        <p:spPr>
          <a:xfrm>
            <a:off x="3159771" y="336243"/>
            <a:ext cx="7131632" cy="590931"/>
          </a:xfrm>
          <a:prstGeom prst="rect">
            <a:avLst/>
          </a:prstGeom>
        </p:spPr>
        <p:txBody>
          <a:bodyPr wrap="none">
            <a:spAutoFit/>
          </a:bodyPr>
          <a:lstStyle/>
          <a:p>
            <a:pPr lvl="0" algn="ctr" defTabSz="914400">
              <a:lnSpc>
                <a:spcPct val="90000"/>
              </a:lnSpc>
              <a:spcBef>
                <a:spcPct val="0"/>
              </a:spcBef>
              <a:defRPr/>
            </a:pPr>
            <a:r>
              <a:rPr lang="en-US" sz="3600" b="1" dirty="0">
                <a:solidFill>
                  <a:srgbClr val="C00000"/>
                </a:solidFill>
                <a:latin typeface="Gill Sans MT"/>
              </a:rPr>
              <a:t>Reference Books And Web Links</a:t>
            </a:r>
            <a:endParaRPr lang="en-IN" sz="3600" b="1" dirty="0">
              <a:solidFill>
                <a:srgbClr val="C00000"/>
              </a:solidFill>
              <a:latin typeface="Gill Sans MT"/>
            </a:endParaRPr>
          </a:p>
        </p:txBody>
      </p:sp>
      <p:sp>
        <p:nvSpPr>
          <p:cNvPr id="7" name="TextBox 6"/>
          <p:cNvSpPr txBox="1"/>
          <p:nvPr/>
        </p:nvSpPr>
        <p:spPr>
          <a:xfrm>
            <a:off x="909661" y="3078558"/>
            <a:ext cx="10737695" cy="2897396"/>
          </a:xfrm>
          <a:prstGeom prst="rect">
            <a:avLst/>
          </a:prstGeom>
          <a:noFill/>
        </p:spPr>
        <p:txBody>
          <a:bodyPr wrap="square" rtlCol="0">
            <a:spAutoFit/>
          </a:bodyPr>
          <a:lstStyle/>
          <a:p>
            <a:pPr>
              <a:lnSpc>
                <a:spcPct val="150000"/>
              </a:lnSpc>
            </a:pPr>
            <a:r>
              <a:rPr lang="en-US" sz="2800" b="1" dirty="0">
                <a:solidFill>
                  <a:srgbClr val="C00000"/>
                </a:solidFill>
              </a:rPr>
              <a:t>Web links:</a:t>
            </a:r>
          </a:p>
          <a:p>
            <a:pPr marL="285750" indent="-285750">
              <a:lnSpc>
                <a:spcPct val="150000"/>
              </a:lnSpc>
              <a:buFont typeface="Arial" panose="020B0604020202020204" pitchFamily="34" charset="0"/>
              <a:buChar char="•"/>
            </a:pPr>
            <a:r>
              <a:rPr lang="en-IN" b="1" dirty="0">
                <a:hlinkClick r:id="rId5"/>
              </a:rPr>
              <a:t>AIMA Python Repository (by Norvig)</a:t>
            </a:r>
            <a:endParaRPr lang="en-IN" dirty="0"/>
          </a:p>
          <a:p>
            <a:pPr marL="285750" indent="-285750">
              <a:lnSpc>
                <a:spcPct val="150000"/>
              </a:lnSpc>
              <a:buFont typeface="Arial" panose="020B0604020202020204" pitchFamily="34" charset="0"/>
              <a:buChar char="•"/>
            </a:pPr>
            <a:r>
              <a:rPr lang="en-IN" b="1" dirty="0">
                <a:hlinkClick r:id="rId6"/>
              </a:rPr>
              <a:t>Khan Academy – Graph Search Algorithms</a:t>
            </a:r>
            <a:endParaRPr lang="en-IN" dirty="0"/>
          </a:p>
          <a:p>
            <a:pPr marL="285750" indent="-285750">
              <a:lnSpc>
                <a:spcPct val="150000"/>
              </a:lnSpc>
              <a:buFont typeface="Arial" panose="020B0604020202020204" pitchFamily="34" charset="0"/>
              <a:buChar char="•"/>
            </a:pPr>
            <a:r>
              <a:rPr lang="en-IN" b="1" dirty="0">
                <a:hlinkClick r:id="rId7"/>
              </a:rPr>
              <a:t>CS50 AI (Harvard </a:t>
            </a:r>
            <a:r>
              <a:rPr lang="en-IN" b="1" dirty="0" err="1">
                <a:hlinkClick r:id="rId7"/>
              </a:rPr>
              <a:t>OpenCourseWare</a:t>
            </a:r>
            <a:r>
              <a:rPr lang="en-IN" b="1" dirty="0">
                <a:hlinkClick r:id="rId7"/>
              </a:rPr>
              <a:t>)</a:t>
            </a:r>
            <a:endParaRPr lang="en-IN" dirty="0"/>
          </a:p>
          <a:p>
            <a:pPr marL="285750" indent="-285750">
              <a:lnSpc>
                <a:spcPct val="150000"/>
              </a:lnSpc>
              <a:buFont typeface="Arial" panose="020B0604020202020204" pitchFamily="34" charset="0"/>
              <a:buChar char="•"/>
            </a:pPr>
            <a:r>
              <a:rPr lang="en-IN" b="1" dirty="0">
                <a:hlinkClick r:id="rId8"/>
              </a:rPr>
              <a:t>Coursera – Artificial Intelligence Search Methods</a:t>
            </a:r>
            <a:endParaRPr lang="en-IN" dirty="0"/>
          </a:p>
          <a:p>
            <a:pPr>
              <a:lnSpc>
                <a:spcPct val="150000"/>
              </a:lnSpc>
            </a:pPr>
            <a:endParaRPr lang="en-US" sz="2400" dirty="0"/>
          </a:p>
        </p:txBody>
      </p:sp>
      <p:sp>
        <p:nvSpPr>
          <p:cNvPr id="8" name="Rectangle 7"/>
          <p:cNvSpPr/>
          <p:nvPr/>
        </p:nvSpPr>
        <p:spPr>
          <a:xfrm>
            <a:off x="832108" y="1505195"/>
            <a:ext cx="10972799" cy="2492990"/>
          </a:xfrm>
          <a:prstGeom prst="rect">
            <a:avLst/>
          </a:prstGeom>
        </p:spPr>
        <p:txBody>
          <a:bodyPr wrap="square">
            <a:spAutoFit/>
          </a:bodyPr>
          <a:lstStyle/>
          <a:p>
            <a:pPr lvl="0" defTabSz="914400" fontAlgn="base">
              <a:spcBef>
                <a:spcPct val="0"/>
              </a:spcBef>
              <a:spcAft>
                <a:spcPct val="0"/>
              </a:spcAft>
            </a:pPr>
            <a:r>
              <a:rPr lang="en-US" sz="2400" b="1" dirty="0">
                <a:solidFill>
                  <a:srgbClr val="0070C0"/>
                </a:solidFill>
                <a:latin typeface="Arial" pitchFamily="34" charset="0"/>
                <a:ea typeface="Times New Roman" pitchFamily="18" charset="0"/>
                <a:cs typeface="Arial" pitchFamily="34" charset="0"/>
              </a:rPr>
              <a:t>Text Books:</a:t>
            </a:r>
          </a:p>
          <a:p>
            <a:pPr lvl="0" defTabSz="914400" fontAlgn="base">
              <a:spcBef>
                <a:spcPct val="0"/>
              </a:spcBef>
              <a:spcAft>
                <a:spcPct val="0"/>
              </a:spcAft>
            </a:pPr>
            <a:endParaRPr lang="en-US" sz="2400" b="1" dirty="0">
              <a:solidFill>
                <a:srgbClr val="0070C0"/>
              </a:solidFill>
              <a:latin typeface="Arial" pitchFamily="34" charset="0"/>
              <a:ea typeface="Times New Roman" pitchFamily="18" charset="0"/>
              <a:cs typeface="Arial" pitchFamily="34" charset="0"/>
            </a:endParaRPr>
          </a:p>
          <a:p>
            <a:pPr marL="342900" indent="-342900">
              <a:buAutoNum type="arabicPeriod"/>
            </a:pPr>
            <a:r>
              <a:rPr lang="en-US" b="1" dirty="0"/>
              <a:t>Artificial Intelligence: A Modern Approach,</a:t>
            </a:r>
            <a:r>
              <a:rPr lang="en-US" dirty="0"/>
              <a:t> Stuart Russell &amp; Peter Norvig, 4th Edition (2021), Pearson.</a:t>
            </a:r>
          </a:p>
          <a:p>
            <a:pPr marL="342900" indent="-342900">
              <a:buAutoNum type="arabicPeriod" startAt="2"/>
            </a:pPr>
            <a:r>
              <a:rPr lang="en-US" b="1" dirty="0"/>
              <a:t>Introduction to Artificial Intelligence,</a:t>
            </a:r>
            <a:r>
              <a:rPr lang="en-US" dirty="0"/>
              <a:t> Wolfgang Ertel, 2nd Edition (Springer).</a:t>
            </a:r>
          </a:p>
          <a:p>
            <a:pPr marL="342900" indent="-342900">
              <a:buFontTx/>
              <a:buAutoNum type="arabicPeriod" startAt="2"/>
            </a:pPr>
            <a:r>
              <a:rPr lang="en-US" b="1" dirty="0">
                <a:ea typeface="Times New Roman" pitchFamily="18" charset="0"/>
                <a:cs typeface="Arial" pitchFamily="34" charset="0"/>
              </a:rPr>
              <a:t>Elaine Rich &amp; Kevin Knight, ‘Artificial Intelligence’, 3nd Edition, Tata McGraw Hill Edition, Reprint (2008)</a:t>
            </a:r>
            <a:endParaRPr lang="en-US" b="1" dirty="0">
              <a:cs typeface="Arial" pitchFamily="34" charset="0"/>
            </a:endParaRPr>
          </a:p>
          <a:p>
            <a:endParaRPr lang="en-US" dirty="0"/>
          </a:p>
          <a:p>
            <a:pPr marL="342900" indent="-342900">
              <a:buAutoNum type="arabicPeriod" startAt="2"/>
            </a:pPr>
            <a:endParaRPr lang="en-US" dirty="0"/>
          </a:p>
          <a:p>
            <a:pPr marL="342900" indent="-342900">
              <a:buAutoNum type="arabicPeriod"/>
            </a:pPr>
            <a:endParaRPr lang="en-US" dirty="0"/>
          </a:p>
        </p:txBody>
      </p:sp>
    </p:spTree>
    <p:extLst>
      <p:ext uri="{BB962C8B-B14F-4D97-AF65-F5344CB8AC3E}">
        <p14:creationId xmlns:p14="http://schemas.microsoft.com/office/powerpoint/2010/main" val="39881704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683</TotalTime>
  <Words>2005</Words>
  <Application>Microsoft Office PowerPoint</Application>
  <PresentationFormat>Widescreen</PresentationFormat>
  <Paragraphs>161</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Arial Unicode MS</vt:lpstr>
      <vt:lpstr>Calibri</vt:lpstr>
      <vt:lpstr>Calibri Light</vt:lpstr>
      <vt:lpstr>Gill Sans MT</vt:lpstr>
      <vt:lpstr>Poppins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 Manika Prasuna</dc:creator>
  <cp:lastModifiedBy>P Manika Prasuna</cp:lastModifiedBy>
  <cp:revision>57</cp:revision>
  <dcterms:created xsi:type="dcterms:W3CDTF">2025-05-12T05:57:37Z</dcterms:created>
  <dcterms:modified xsi:type="dcterms:W3CDTF">2025-08-18T07:49:19Z</dcterms:modified>
</cp:coreProperties>
</file>