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59"/>
  </p:notesMasterIdLst>
  <p:handoutMasterIdLst>
    <p:handoutMasterId r:id="rId60"/>
  </p:handoutMasterIdLst>
  <p:sldIdLst>
    <p:sldId id="256" r:id="rId2"/>
    <p:sldId id="323" r:id="rId3"/>
    <p:sldId id="324" r:id="rId4"/>
    <p:sldId id="257" r:id="rId5"/>
    <p:sldId id="258" r:id="rId6"/>
    <p:sldId id="259" r:id="rId7"/>
    <p:sldId id="260" r:id="rId8"/>
    <p:sldId id="278" r:id="rId9"/>
    <p:sldId id="262" r:id="rId10"/>
    <p:sldId id="277" r:id="rId11"/>
    <p:sldId id="280" r:id="rId12"/>
    <p:sldId id="265" r:id="rId13"/>
    <p:sldId id="266" r:id="rId14"/>
    <p:sldId id="284" r:id="rId15"/>
    <p:sldId id="326" r:id="rId16"/>
    <p:sldId id="327" r:id="rId17"/>
    <p:sldId id="267" r:id="rId18"/>
    <p:sldId id="283" r:id="rId19"/>
    <p:sldId id="282" r:id="rId20"/>
    <p:sldId id="268" r:id="rId21"/>
    <p:sldId id="269" r:id="rId22"/>
    <p:sldId id="261" r:id="rId23"/>
    <p:sldId id="311" r:id="rId24"/>
    <p:sldId id="316" r:id="rId25"/>
    <p:sldId id="317" r:id="rId26"/>
    <p:sldId id="318" r:id="rId27"/>
    <p:sldId id="270" r:id="rId28"/>
    <p:sldId id="312" r:id="rId29"/>
    <p:sldId id="271" r:id="rId30"/>
    <p:sldId id="272" r:id="rId31"/>
    <p:sldId id="273" r:id="rId32"/>
    <p:sldId id="274" r:id="rId33"/>
    <p:sldId id="275" r:id="rId34"/>
    <p:sldId id="319" r:id="rId35"/>
    <p:sldId id="276" r:id="rId36"/>
    <p:sldId id="320" r:id="rId37"/>
    <p:sldId id="321" r:id="rId38"/>
    <p:sldId id="322" r:id="rId39"/>
    <p:sldId id="279" r:id="rId40"/>
    <p:sldId id="288" r:id="rId41"/>
    <p:sldId id="289" r:id="rId42"/>
    <p:sldId id="281" r:id="rId43"/>
    <p:sldId id="290" r:id="rId44"/>
    <p:sldId id="291" r:id="rId45"/>
    <p:sldId id="293" r:id="rId46"/>
    <p:sldId id="294" r:id="rId47"/>
    <p:sldId id="263" r:id="rId48"/>
    <p:sldId id="295" r:id="rId49"/>
    <p:sldId id="296" r:id="rId50"/>
    <p:sldId id="297" r:id="rId51"/>
    <p:sldId id="298" r:id="rId52"/>
    <p:sldId id="299" r:id="rId53"/>
    <p:sldId id="300" r:id="rId54"/>
    <p:sldId id="301" r:id="rId55"/>
    <p:sldId id="302" r:id="rId56"/>
    <p:sldId id="303" r:id="rId57"/>
    <p:sldId id="325" r:id="rId5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660"/>
  </p:normalViewPr>
  <p:slideViewPr>
    <p:cSldViewPr snapToGrid="0">
      <p:cViewPr varScale="1">
        <p:scale>
          <a:sx n="73" d="100"/>
          <a:sy n="73" d="100"/>
        </p:scale>
        <p:origin x="404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CDB74D4-5E76-4C47-E7AA-61E2C648C8D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962EDA-0A3B-5C3A-C8DF-7672C339CF9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5D750-AD1D-4C03-A026-1768137CC901}" type="datetimeFigureOut">
              <a:rPr lang="en-IN" smtClean="0"/>
              <a:pPr/>
              <a:t>28-08-2025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C80489-5F61-FA08-A147-AE43BE9C499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D387C-1469-6716-E148-98BDCB6976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566E6-FD90-4AE7-9488-620D46A968B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391555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6BB4A-8EA9-40D4-95BF-21E04B247614}" type="datetimeFigureOut">
              <a:rPr lang="en-IN" smtClean="0"/>
              <a:pPr/>
              <a:t>28-08-2025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BDDA1-7BB7-447A-97DE-AE5425C8F2A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00788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pPr/>
              <a:t>28-08-2025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7" name="Picture 2" descr="KL University - Wikipedia">
            <a:extLst>
              <a:ext uri="{FF2B5EF4-FFF2-40B4-BE49-F238E27FC236}">
                <a16:creationId xmlns:a16="http://schemas.microsoft.com/office/drawing/2014/main" id="{04A3CD9C-3D70-9FC9-28EC-3F3D4EC5152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732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pPr/>
              <a:t>28-08-2025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7" name="Picture 2" descr="KL University - Wikipedia">
            <a:extLst>
              <a:ext uri="{FF2B5EF4-FFF2-40B4-BE49-F238E27FC236}">
                <a16:creationId xmlns:a16="http://schemas.microsoft.com/office/drawing/2014/main" id="{3FC2123A-B16B-5129-3E57-6241A6A4364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1876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pPr/>
              <a:t>28-08-2025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7" name="Picture 2" descr="KL University - Wikipedia">
            <a:extLst>
              <a:ext uri="{FF2B5EF4-FFF2-40B4-BE49-F238E27FC236}">
                <a16:creationId xmlns:a16="http://schemas.microsoft.com/office/drawing/2014/main" id="{0F45CF72-4219-CC01-FA40-1073AED443F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5785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pPr/>
              <a:t>28-08-2025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2" descr="KL University - Wikipedia">
            <a:extLst>
              <a:ext uri="{FF2B5EF4-FFF2-40B4-BE49-F238E27FC236}">
                <a16:creationId xmlns:a16="http://schemas.microsoft.com/office/drawing/2014/main" id="{4A57BCBE-DC18-86A0-06E4-F4E570BB255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5482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pPr/>
              <a:t>28-08-2025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10" name="Picture 2" descr="KL University - Wikipedia">
            <a:extLst>
              <a:ext uri="{FF2B5EF4-FFF2-40B4-BE49-F238E27FC236}">
                <a16:creationId xmlns:a16="http://schemas.microsoft.com/office/drawing/2014/main" id="{BB1B0170-B977-B57E-16D1-DD0290E0F6B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3675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pPr/>
              <a:t>28-08-2025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6" name="Picture 2" descr="KL University - Wikipedia">
            <a:extLst>
              <a:ext uri="{FF2B5EF4-FFF2-40B4-BE49-F238E27FC236}">
                <a16:creationId xmlns:a16="http://schemas.microsoft.com/office/drawing/2014/main" id="{69E79A79-BB59-1722-F273-DA144B5DDB2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5094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pPr/>
              <a:t>28-08-2025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5" name="Picture 2" descr="KL University - Wikipedia">
            <a:extLst>
              <a:ext uri="{FF2B5EF4-FFF2-40B4-BE49-F238E27FC236}">
                <a16:creationId xmlns:a16="http://schemas.microsoft.com/office/drawing/2014/main" id="{1A12B863-0EEB-93BE-1098-7459C6E7D7C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2578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pPr/>
              <a:t>28-08-2025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2" descr="KL University - Wikipedia">
            <a:extLst>
              <a:ext uri="{FF2B5EF4-FFF2-40B4-BE49-F238E27FC236}">
                <a16:creationId xmlns:a16="http://schemas.microsoft.com/office/drawing/2014/main" id="{E8497BBE-2A4D-51EE-5689-5A0E8F38001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8471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pPr/>
              <a:t>28-08-2025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2" descr="KL University - Wikipedia">
            <a:extLst>
              <a:ext uri="{FF2B5EF4-FFF2-40B4-BE49-F238E27FC236}">
                <a16:creationId xmlns:a16="http://schemas.microsoft.com/office/drawing/2014/main" id="{491C5395-91E6-0138-CB24-D023E3D8D2B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5286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pPr/>
              <a:t>28-08-2025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7" name="Picture 2" descr="KL University - Wikipedia">
            <a:extLst>
              <a:ext uri="{FF2B5EF4-FFF2-40B4-BE49-F238E27FC236}">
                <a16:creationId xmlns:a16="http://schemas.microsoft.com/office/drawing/2014/main" id="{C2FFB412-4214-E84C-5ED0-361A41C39FE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185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pPr/>
              <a:t>28-08-2025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7" name="Picture 2" descr="KL University - Wikipedia">
            <a:extLst>
              <a:ext uri="{FF2B5EF4-FFF2-40B4-BE49-F238E27FC236}">
                <a16:creationId xmlns:a16="http://schemas.microsoft.com/office/drawing/2014/main" id="{9063B2B1-0708-1577-456A-AE234F87D8A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1488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8A3636-4462-45DC-BB00-FF6375F9F6C0}" type="datetimeFigureOut">
              <a:rPr lang="en-IN" smtClean="0"/>
              <a:pPr/>
              <a:t>28-08-2025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8F3EC4-EDD9-42C1-AC18-D944FC4FABD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1138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https://www.google.com/search?client=firefox-b-e&amp;cs=0&amp;sca_esv=c8be1566c129d7a0&amp;sxsrf=AE3TifMAkkobAlKWjWqfNQ4HBjl4LIv1UQ%3A1755846277168&amp;q=SEND+%2B+MORE+%3D+MONEY&amp;sa=X&amp;ved=2ahUKEwiolt-M7Z2PAxU7yDgGHU7nN44QxccNegQIDBAB&amp;mstk=AUtExfDjEyD3Z1bIBSHt9Xj6nntc6yFHcN-2Fhd8x5sbV-b0ZjzgLydODW9FkQneQ4O_JQzUWqRDoyB0hjGJPQ49-G9C5bMC7mz9eFQcfUK3pOwAbp8-cFxfd68SGGGZHcGoa8gNntYoekc1DGh3Pvw82L_PwbQXD9CNDAcfhvaRwSkZCMU&amp;csui=3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F640656-3048-2A08-BF39-81705306F7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72542" y="3626998"/>
            <a:ext cx="5246915" cy="1110465"/>
          </a:xfrm>
        </p:spPr>
        <p:txBody>
          <a:bodyPr vert="horz" lIns="91440" tIns="91440" rIns="91440" bIns="91440" rtlCol="0" anchor="t">
            <a:no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Constrained Satisfaction</a:t>
            </a:r>
          </a:p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NO :9&amp;10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7520F70F-03BE-9E07-FD47-607CBE492538}"/>
              </a:ext>
            </a:extLst>
          </p:cNvPr>
          <p:cNvSpPr txBox="1">
            <a:spLocks/>
          </p:cNvSpPr>
          <p:nvPr/>
        </p:nvSpPr>
        <p:spPr>
          <a:xfrm>
            <a:off x="838200" y="1253331"/>
            <a:ext cx="10515600" cy="175432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cap="all">
                <a:solidFill>
                  <a:srgbClr val="C00000"/>
                </a:solidFill>
                <a:latin typeface="Gill Sans MT"/>
                <a:ea typeface="+mj-ea"/>
                <a:cs typeface="+mj-cs"/>
              </a:rPr>
              <a:t>ARTIFICIAL INTELLIGENCE </a:t>
            </a:r>
            <a:br>
              <a:rPr lang="en-US" sz="4000" b="1" cap="all">
                <a:solidFill>
                  <a:srgbClr val="C00000"/>
                </a:solidFill>
                <a:latin typeface="Gill Sans MT"/>
                <a:ea typeface="+mj-ea"/>
                <a:cs typeface="+mj-cs"/>
              </a:rPr>
            </a:br>
            <a:r>
              <a:rPr lang="en-US" sz="4000" b="1" cap="all">
                <a:solidFill>
                  <a:srgbClr val="C00000"/>
                </a:solidFill>
                <a:latin typeface="Gill Sans MT"/>
                <a:ea typeface="+mj-ea"/>
                <a:cs typeface="+mj-cs"/>
              </a:rPr>
              <a:t>&amp; </a:t>
            </a:r>
            <a:br>
              <a:rPr lang="en-US" sz="4000" b="1" cap="all">
                <a:solidFill>
                  <a:srgbClr val="C00000"/>
                </a:solidFill>
                <a:latin typeface="Gill Sans MT"/>
                <a:ea typeface="+mj-ea"/>
                <a:cs typeface="+mj-cs"/>
              </a:rPr>
            </a:br>
            <a:r>
              <a:rPr lang="en-US" sz="4000" b="1" cap="all">
                <a:solidFill>
                  <a:srgbClr val="C00000"/>
                </a:solidFill>
                <a:latin typeface="Gill Sans MT"/>
                <a:ea typeface="+mj-ea"/>
                <a:cs typeface="+mj-cs"/>
              </a:rPr>
              <a:t>MACHINE LEARNING</a:t>
            </a:r>
            <a:endParaRPr lang="en-IN" sz="4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3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B7E4-98CE-0FA8-0A73-3E5899659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L University - Wikipedia">
            <a:extLst>
              <a:ext uri="{FF2B5EF4-FFF2-40B4-BE49-F238E27FC236}">
                <a16:creationId xmlns:a16="http://schemas.microsoft.com/office/drawing/2014/main" id="{3BC8DCB8-AB94-7DD8-452F-A9B650C6F8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3E20F5B-BF69-04A4-CE53-A1D16FC525C6}"/>
              </a:ext>
            </a:extLst>
          </p:cNvPr>
          <p:cNvSpPr txBox="1"/>
          <p:nvPr/>
        </p:nvSpPr>
        <p:spPr>
          <a:xfrm>
            <a:off x="2394856" y="66039"/>
            <a:ext cx="869768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Constraint Satisfaction Problems (CSPs</a:t>
            </a:r>
            <a:r>
              <a:rPr lang="en-IN" sz="4000" b="1" dirty="0">
                <a:solidFill>
                  <a:srgbClr val="FF0000"/>
                </a:solidFill>
                <a:latin typeface="Calibri" panose="020F0502020204030204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897D08-144F-E37B-A1B7-2FCD0991AF30}"/>
              </a:ext>
            </a:extLst>
          </p:cNvPr>
          <p:cNvSpPr txBox="1"/>
          <p:nvPr/>
        </p:nvSpPr>
        <p:spPr>
          <a:xfrm>
            <a:off x="817420" y="1215243"/>
            <a:ext cx="10861962" cy="4970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INTRODUCTION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What is a CSP?</a:t>
            </a:r>
            <a:endParaRPr kumimoji="0" lang="en-IN" sz="22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Constraint Satisfaction Problem (CSP)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is a mathematical model used to represent problems where the goal is to assign values to a set of variables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while satisfying a set of constraints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CSPs are widely used in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Artificial Intelligence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Operations Research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and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Computer Science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to solve problems like scheduling, planning, and puzzle solving.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9434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20FF1-7480-0141-406F-E87BA5783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L University - Wikipedia">
            <a:extLst>
              <a:ext uri="{FF2B5EF4-FFF2-40B4-BE49-F238E27FC236}">
                <a16:creationId xmlns:a16="http://schemas.microsoft.com/office/drawing/2014/main" id="{56B6D326-EC9C-22BD-2180-3E0B2DF6B6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E13A441-D7E8-F861-77F1-281FF8A76565}"/>
              </a:ext>
            </a:extLst>
          </p:cNvPr>
          <p:cNvSpPr txBox="1"/>
          <p:nvPr/>
        </p:nvSpPr>
        <p:spPr>
          <a:xfrm>
            <a:off x="2383970" y="109267"/>
            <a:ext cx="8850087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Components in the constraint satisfaction problem </a:t>
            </a:r>
            <a:endParaRPr kumimoji="0" lang="en-IN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15F1C4-2FC2-28BE-82DD-84461BE22608}"/>
              </a:ext>
            </a:extLst>
          </p:cNvPr>
          <p:cNvSpPr txBox="1"/>
          <p:nvPr/>
        </p:nvSpPr>
        <p:spPr>
          <a:xfrm>
            <a:off x="720437" y="1169317"/>
            <a:ext cx="10751125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There are mainly THREE basic components in the constraint satisfaction problem: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Variables: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things that need to be determined are variables. Variables in a CSP are the objects that must have values assigned to them in order to satisfy a particular set of constraints. Boolean, integer, and categorical variables are just a few examples of the various types of variables, for instance, could stand in for the many puzzle cells that need to be filled with numbers in a sudoku puzzle.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Domains: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range of potential values that a variable can have is represented by domains. Depending on the issue, a domain may be finite or limitless. For instance, in Sudoku, the set of numbers from 1 to 9 can serve as the domain of a variable representing a problem cell.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Constraints: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guidelines that control how variables relate to one another are known as constraints. Constraints in a CSP define the ranges of possible values for variables. Unary constraints, binary constraints, and higher-order constraints are only a few examples of the various sorts of constraints. For instance, in a sudoku problem, the restrictions might be that each row, column, and 3×3 box can only have one instance of each number from 1 to 9. </a:t>
            </a:r>
            <a:endParaRPr kumimoji="0" lang="en-US" sz="2000" b="1" i="0" u="none" strike="noStrike" kern="1200" cap="none" spc="0" normalizeH="0" baseline="0" noProof="0" dirty="0">
              <a:ln w="22225">
                <a:solidFill>
                  <a:srgbClr val="ED7D31"/>
                </a:solidFill>
                <a:prstDash val="solid"/>
              </a:ln>
              <a:solidFill>
                <a:srgbClr val="FF9933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1770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E9B76-E339-C084-9708-E81E8F01F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2172" y="308901"/>
            <a:ext cx="7794171" cy="546518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 satisfaction problems (CSP</a:t>
            </a:r>
            <a:r>
              <a:rPr lang="en-US" sz="3200" b="1" dirty="0">
                <a:latin typeface="Arial Black" panose="020B0A04020102020204" pitchFamily="34" charset="0"/>
                <a:cs typeface="Times New Roman" pitchFamily="18" charset="0"/>
              </a:rPr>
              <a:t>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5CBB4-33B5-158C-8C32-821715B57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018" y="1120545"/>
            <a:ext cx="10861963" cy="5428554"/>
          </a:xfrm>
        </p:spPr>
        <p:txBody>
          <a:bodyPr>
            <a:normAutofit fontScale="85000" lnSpcReduction="10000"/>
          </a:bodyPr>
          <a:lstStyle/>
          <a:p>
            <a:pPr marL="539750" indent="-539750" algn="just">
              <a:lnSpc>
                <a:spcPct val="16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problem described by imposing constraints on the variables related to a problem is called Constraint Satisfaction Problem (CSP).</a:t>
            </a:r>
          </a:p>
          <a:p>
            <a:pPr marL="539750" indent="-539750" algn="just">
              <a:lnSpc>
                <a:spcPct val="16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constraint satisfaction problem consists of three components X, D, and C</a:t>
            </a:r>
          </a:p>
          <a:p>
            <a:pPr marL="0" indent="0" algn="just">
              <a:lnSpc>
                <a:spcPct val="16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433513" lvl="2" indent="-519113" algn="just">
              <a:lnSpc>
                <a:spcPct val="160000"/>
              </a:lnSpc>
              <a:buFont typeface="Wingdings" panose="05000000000000000000" pitchFamily="2" charset="2"/>
              <a:buChar char="q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is a set of variables, {X</a:t>
            </a:r>
            <a:r>
              <a:rPr lang="en-US" sz="2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.,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,}.</a:t>
            </a:r>
          </a:p>
          <a:p>
            <a:pPr marL="1433513" lvl="2" indent="-519113" algn="just">
              <a:lnSpc>
                <a:spcPct val="160000"/>
              </a:lnSpc>
              <a:buFont typeface="Wingdings" panose="05000000000000000000" pitchFamily="2" charset="2"/>
              <a:buChar char="q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is a set of domains, {D</a:t>
            </a:r>
            <a:r>
              <a:rPr lang="en-US" sz="2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, D</a:t>
            </a:r>
            <a:r>
              <a:rPr lang="en-US" sz="2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one for each variable.</a:t>
            </a:r>
          </a:p>
          <a:p>
            <a:pPr marL="1433513" lvl="2" indent="-519113" algn="just">
              <a:lnSpc>
                <a:spcPct val="160000"/>
              </a:lnSpc>
              <a:buFont typeface="Wingdings" panose="05000000000000000000" pitchFamily="2" charset="2"/>
              <a:buChar char="q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is a set of constraints that specify allowable combinations of values. </a:t>
            </a:r>
          </a:p>
          <a:p>
            <a:pPr marL="1433513" lvl="2" indent="-519113" algn="just">
              <a:lnSpc>
                <a:spcPct val="160000"/>
              </a:lnSpc>
              <a:buFont typeface="Wingdings" panose="05000000000000000000" pitchFamily="2" charset="2"/>
              <a:buChar char="q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domain D</a:t>
            </a:r>
            <a:r>
              <a:rPr lang="en-US" sz="2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consists of a set of allowable values {v1,v2,…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for variable X.</a:t>
            </a:r>
          </a:p>
          <a:p>
            <a:pPr marL="1433513" lvl="2" indent="-519113" algn="just">
              <a:lnSpc>
                <a:spcPct val="160000"/>
              </a:lnSpc>
              <a:buFont typeface="Wingdings" panose="05000000000000000000" pitchFamily="2" charset="2"/>
              <a:buChar char="q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constraint C</a:t>
            </a:r>
            <a:r>
              <a:rPr lang="en-US" sz="2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consists of a tuple of variables participating in the constraint.</a:t>
            </a:r>
          </a:p>
          <a:p>
            <a:pPr marL="1433513" lvl="2" indent="-519113" algn="just">
              <a:lnSpc>
                <a:spcPct val="160000"/>
              </a:lnSpc>
              <a:buFont typeface="Wingdings" panose="05000000000000000000" pitchFamily="2" charset="2"/>
              <a:buChar char="q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constraint is a relation defining the values that variables can take on.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8E96B9-80FF-F518-E90A-77EAA1A6C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BABCCC1-BF11-4F37-963E-1BCD5B23FD72}" type="slidenum">
              <a:rPr lang="en-IN" smtClean="0"/>
              <a:pPr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2656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E9B76-E339-C084-9708-E81E8F01F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7153" y="230908"/>
            <a:ext cx="9603275" cy="55631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CSP: Map-Coloring PROBLEM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5CBB4-33B5-158C-8C32-821715B57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6731" y="1162293"/>
            <a:ext cx="10137069" cy="2147706"/>
          </a:xfrm>
        </p:spPr>
        <p:txBody>
          <a:bodyPr>
            <a:normAutofit/>
          </a:bodyPr>
          <a:lstStyle/>
          <a:p>
            <a:pPr marL="539750" indent="-539750" algn="just" eaLnBrk="1" hangingPunct="1">
              <a:lnSpc>
                <a:spcPct val="8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WA, NT, Q, NSW, V, SA, 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39750" indent="-539750" algn="just" eaLnBrk="1" hangingPunct="1">
              <a:lnSpc>
                <a:spcPct val="8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{red, green, blue}</a:t>
            </a:r>
          </a:p>
          <a:p>
            <a:pPr marL="539750" indent="-539750" algn="just" eaLnBrk="1" hangingPunct="1">
              <a:lnSpc>
                <a:spcPct val="8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Constraints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adjacent regions must have different colors
e.g., WA ≠ NT, or (WA, NT) in {(red, green),(red, blue),(green, red), (green, blue),(blue, red),(blue, green)}.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8E96B9-80FF-F518-E90A-77EAA1A6C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BABCCC1-BF11-4F37-963E-1BCD5B23FD72}" type="slidenum">
              <a:rPr lang="en-IN" smtClean="0"/>
              <a:pPr/>
              <a:t>5</a:t>
            </a:fld>
            <a:endParaRPr lang="en-IN"/>
          </a:p>
        </p:txBody>
      </p:sp>
      <p:pic>
        <p:nvPicPr>
          <p:cNvPr id="5" name="Picture 3" descr="australia">
            <a:extLst>
              <a:ext uri="{FF2B5EF4-FFF2-40B4-BE49-F238E27FC236}">
                <a16:creationId xmlns:a16="http://schemas.microsoft.com/office/drawing/2014/main" id="{BD812F1D-8F92-8300-E625-2DCBF79498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2973" y="3548002"/>
            <a:ext cx="4947384" cy="2730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59219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E9B76-E339-C084-9708-E81E8F01F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0168" y="362964"/>
            <a:ext cx="9603275" cy="55631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CSP: Map-Coloring PROBLEM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5CBB4-33B5-158C-8C32-821715B57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2025" y="1179711"/>
            <a:ext cx="9961418" cy="2147706"/>
          </a:xfrm>
        </p:spPr>
        <p:txBody>
          <a:bodyPr>
            <a:normAutofit/>
          </a:bodyPr>
          <a:lstStyle/>
          <a:p>
            <a:pPr marL="447675" indent="-447675" eaLnBrk="1" hangingPunct="1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consistent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assignments (WA = red, NT = green, Q = red, NSW = green, V = red, SA = blue, T = green.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8E96B9-80FF-F518-E90A-77EAA1A6C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BABCCC1-BF11-4F37-963E-1BCD5B23FD72}" type="slidenum">
              <a:rPr lang="en-IN" smtClean="0"/>
              <a:pPr/>
              <a:t>6</a:t>
            </a:fld>
            <a:endParaRPr lang="en-IN"/>
          </a:p>
        </p:txBody>
      </p:sp>
      <p:pic>
        <p:nvPicPr>
          <p:cNvPr id="6" name="Picture 2" descr="australia-solution">
            <a:extLst>
              <a:ext uri="{FF2B5EF4-FFF2-40B4-BE49-F238E27FC236}">
                <a16:creationId xmlns:a16="http://schemas.microsoft.com/office/drawing/2014/main" id="{2B19A71A-12B9-9DD9-ABBA-81A2693630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3703" y="2037807"/>
            <a:ext cx="9858103" cy="4589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90477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E9B76-E339-C084-9708-E81E8F01F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3711" y="251083"/>
            <a:ext cx="9603275" cy="55631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Representing Constraints as a  graph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5CBB4-33B5-158C-8C32-821715B57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0865" y="1215061"/>
            <a:ext cx="9885646" cy="831716"/>
          </a:xfrm>
        </p:spPr>
        <p:txBody>
          <a:bodyPr>
            <a:normAutofit/>
          </a:bodyPr>
          <a:lstStyle/>
          <a:p>
            <a:pPr marL="622300" indent="-622300" eaLnBrk="1" hangingPunct="1">
              <a:buNone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Constraint graph: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nodes are variables, arcs/edges are constraints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8E96B9-80FF-F518-E90A-77EAA1A6C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BABCCC1-BF11-4F37-963E-1BCD5B23FD72}" type="slidenum">
              <a:rPr lang="en-IN" smtClean="0"/>
              <a:pPr/>
              <a:t>7</a:t>
            </a:fld>
            <a:endParaRPr lang="en-IN"/>
          </a:p>
        </p:txBody>
      </p:sp>
      <p:pic>
        <p:nvPicPr>
          <p:cNvPr id="5" name="Picture 4" descr="australia-csp">
            <a:extLst>
              <a:ext uri="{FF2B5EF4-FFF2-40B4-BE49-F238E27FC236}">
                <a16:creationId xmlns:a16="http://schemas.microsoft.com/office/drawing/2014/main" id="{EBDFFEB2-6D7F-E89D-6AF7-2313769E62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96" r="6217"/>
          <a:stretch>
            <a:fillRect/>
          </a:stretch>
        </p:blipFill>
        <p:spPr bwMode="auto">
          <a:xfrm>
            <a:off x="1943711" y="2172097"/>
            <a:ext cx="8009847" cy="2944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4312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90B47-4056-D52D-D5EC-D6DE43A7C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675" y="1209914"/>
            <a:ext cx="11692647" cy="50871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Variable used in A CSP problem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187394-FC98-86C4-01DB-B9B806953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BABCCC1-BF11-4F37-963E-1BCD5B23FD72}" type="slidenum">
              <a:rPr lang="en-IN" smtClean="0"/>
              <a:pPr/>
              <a:t>8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49D5F5-2652-C373-1BDF-9689996472A4}"/>
              </a:ext>
            </a:extLst>
          </p:cNvPr>
          <p:cNvSpPr txBox="1"/>
          <p:nvPr/>
        </p:nvSpPr>
        <p:spPr>
          <a:xfrm>
            <a:off x="2050473" y="2049294"/>
            <a:ext cx="5680364" cy="142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 algn="just" eaLnBrk="1" hangingPunct="1">
              <a:buFont typeface="+mj-lt"/>
              <a:buAutoNum type="arabicParenR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Discrete Variables</a:t>
            </a:r>
          </a:p>
          <a:p>
            <a:pPr marL="742950" indent="-742950" algn="just" eaLnBrk="1" hangingPunct="1">
              <a:buFont typeface="+mj-lt"/>
              <a:buAutoNum type="arabicParenR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Variable </a:t>
            </a:r>
          </a:p>
          <a:p>
            <a:pPr marL="800100" lvl="1" indent="-342900" algn="just">
              <a:lnSpc>
                <a:spcPct val="90000"/>
              </a:lnSpc>
              <a:buFont typeface="+mj-lt"/>
              <a:buAutoNum type="arabicParenR"/>
            </a:pPr>
            <a:endParaRPr lang="en-US" sz="1600" dirty="0">
              <a:latin typeface="Arial Black" panose="020B0A04020102020204" pitchFamily="34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6979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90B47-4056-D52D-D5EC-D6DE43A7C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362" y="183986"/>
            <a:ext cx="9730348" cy="50871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Discreet VARIABLES in CSP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187394-FC98-86C4-01DB-B9B806953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BABCCC1-BF11-4F37-963E-1BCD5B23FD72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49D5F5-2652-C373-1BDF-9689996472A4}"/>
              </a:ext>
            </a:extLst>
          </p:cNvPr>
          <p:cNvSpPr txBox="1"/>
          <p:nvPr/>
        </p:nvSpPr>
        <p:spPr>
          <a:xfrm>
            <a:off x="332509" y="1855330"/>
            <a:ext cx="11360727" cy="456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363" indent="-360363" algn="just"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2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Discrete variables with Finite Domains (Color Graphing, 8 Queen)</a:t>
            </a:r>
          </a:p>
          <a:p>
            <a:pPr marL="0" indent="0" algn="just" eaLnBrk="1" hangingPunct="1">
              <a:lnSpc>
                <a:spcPct val="90000"/>
              </a:lnSpc>
              <a:buNone/>
            </a:pPr>
            <a:endParaRPr lang="en-US" sz="140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8038" lvl="1" indent="-350838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domain size of any variable is d, then the possible number of complete assignments will be O(d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where n is the number of variables</a:t>
            </a:r>
          </a:p>
          <a:p>
            <a:pPr marL="808038" lvl="1" indent="-350838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Finite domains include Boolean values</a:t>
            </a:r>
          </a:p>
          <a:p>
            <a:pPr marL="457200" lvl="1" indent="0" algn="just">
              <a:lnSpc>
                <a:spcPct val="9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363" indent="-360363" algn="just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2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Discrete Variables with Infinite Domains </a:t>
            </a:r>
          </a:p>
          <a:p>
            <a:pPr marL="0" indent="0" algn="just">
              <a:spcBef>
                <a:spcPts val="0"/>
              </a:spcBef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5350" lvl="1" indent="-43815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Infinite domains are represented in terms of Integers and Strings</a:t>
            </a:r>
          </a:p>
          <a:p>
            <a:pPr marL="895350" lvl="1" indent="-43815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number of values that can be assigned to a variable could be infinite      </a:t>
            </a:r>
          </a:p>
          <a:p>
            <a:pPr marL="895350" lvl="1" indent="-43815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not possible to define constraints by considering all possible combinations of the values</a:t>
            </a:r>
          </a:p>
          <a:p>
            <a:pPr lvl="1" algn="just">
              <a:lnSpc>
                <a:spcPct val="9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5899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90B47-4056-D52D-D5EC-D6DE43A7C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675" y="1209914"/>
            <a:ext cx="11692647" cy="50871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variables in CSP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187394-FC98-86C4-01DB-B9B806953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BABCCC1-BF11-4F37-963E-1BCD5B23FD72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10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49D5F5-2652-C373-1BDF-9689996472A4}"/>
              </a:ext>
            </a:extLst>
          </p:cNvPr>
          <p:cNvSpPr txBox="1"/>
          <p:nvPr/>
        </p:nvSpPr>
        <p:spPr>
          <a:xfrm>
            <a:off x="498780" y="2007734"/>
            <a:ext cx="11374582" cy="2813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>
              <a:lnSpc>
                <a:spcPct val="9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7675" indent="-447675" algn="just">
              <a:lnSpc>
                <a:spcPct val="90000"/>
              </a:lnSpc>
            </a:pPr>
            <a:r>
              <a:rPr lang="en-US" sz="28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	Continuous Variables involve continuous domain </a:t>
            </a:r>
          </a:p>
          <a:p>
            <a:pPr algn="just">
              <a:lnSpc>
                <a:spcPct val="90000"/>
              </a:lnSpc>
            </a:pPr>
            <a:endParaRPr 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39800" lvl="1" indent="-539750" algn="just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frequently appears in many types of problems, especially in the field of operations research</a:t>
            </a:r>
          </a:p>
          <a:p>
            <a:pPr marL="939800" lvl="1" indent="-539750" algn="just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programming problems fall under the category of Continuous domain where  the </a:t>
            </a:r>
            <a:r>
              <a:rPr lang="en-US" sz="2800" b="1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constraints</a:t>
            </a:r>
            <a:r>
              <a:rPr lang="en-US" sz="2800" dirty="0">
                <a:solidFill>
                  <a:srgbClr val="FF0000"/>
                </a:solidFill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are expressed using linear in-equalities</a:t>
            </a:r>
          </a:p>
        </p:txBody>
      </p:sp>
    </p:spTree>
    <p:extLst>
      <p:ext uri="{BB962C8B-B14F-4D97-AF65-F5344CB8AC3E}">
        <p14:creationId xmlns:p14="http://schemas.microsoft.com/office/powerpoint/2010/main" val="2666746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90B47-4056-D52D-D5EC-D6DE43A7C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675" y="1209914"/>
            <a:ext cx="11692647" cy="50871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Language of constraints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187394-FC98-86C4-01DB-B9B806953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BABCCC1-BF11-4F37-963E-1BCD5B23FD72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49D5F5-2652-C373-1BDF-9689996472A4}"/>
              </a:ext>
            </a:extLst>
          </p:cNvPr>
          <p:cNvSpPr txBox="1"/>
          <p:nvPr/>
        </p:nvSpPr>
        <p:spPr>
          <a:xfrm>
            <a:off x="1427018" y="1896894"/>
            <a:ext cx="968432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constraint can be defined using a language must be used to define the constraints </a:t>
            </a:r>
          </a:p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The job1, which can be taken after 5 days, must precede Job3, which can be represented using constraint language such as </a:t>
            </a:r>
          </a:p>
          <a:p>
            <a:pPr algn="just"/>
            <a:endParaRPr lang="en-US" sz="2800" dirty="0">
              <a:highlight>
                <a:srgbClr val="00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800" dirty="0">
              <a:highlight>
                <a:srgbClr val="00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8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StartJob</a:t>
            </a:r>
            <a:r>
              <a:rPr lang="en-US" sz="2800" baseline="-250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+ 5 &lt;= job3</a:t>
            </a:r>
            <a:endParaRPr lang="en-US" sz="2800" baseline="-25000" dirty="0">
              <a:highlight>
                <a:srgbClr val="00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1921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90B47-4056-D52D-D5EC-D6DE43A7C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675" y="1209914"/>
            <a:ext cx="11692647" cy="508715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constraints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187394-FC98-86C4-01DB-B9B806953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BABCCC1-BF11-4F37-963E-1BCD5B23FD72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12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49D5F5-2652-C373-1BDF-9689996472A4}"/>
              </a:ext>
            </a:extLst>
          </p:cNvPr>
          <p:cNvSpPr txBox="1"/>
          <p:nvPr/>
        </p:nvSpPr>
        <p:spPr>
          <a:xfrm>
            <a:off x="1011382" y="1896894"/>
            <a:ext cx="10474036" cy="4367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39750" indent="-539750" algn="just"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IN" sz="24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Linear Constraints: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combination of Variables expressed in Mathematical expressions (Linear Equations, Linear Inequalities, Logical Expressions)</a:t>
            </a:r>
          </a:p>
          <a:p>
            <a:pPr marL="539750" indent="-539750" algn="just"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IN" sz="24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Non-Linear Constraints: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(Polynomial, Exponential, Trigonometric and Logarithmic )</a:t>
            </a:r>
          </a:p>
          <a:p>
            <a:pPr marL="539750" indent="-539750" algn="just"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IN" sz="24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Absolute Constraints: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 are imposed on the variables using either absolute values or inequalities</a:t>
            </a:r>
          </a:p>
          <a:p>
            <a:pPr marL="539750" indent="-539750" algn="just">
              <a:buFont typeface="Wingdings" panose="05000000000000000000" pitchFamily="2" charset="2"/>
              <a:buChar char="q"/>
            </a:pPr>
            <a:r>
              <a:rPr lang="en-IN" sz="24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Preference Constraints: 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Constrained imposed based on the user preferences (Ex. In a university timetabling problem, Prof. X might prefer teaching in the morning, whereas Prof. Y prefers teaching in the afternoon).</a:t>
            </a:r>
          </a:p>
          <a:p>
            <a:pPr marL="0" indent="0" algn="just">
              <a:lnSpc>
                <a:spcPct val="90000"/>
              </a:lnSpc>
              <a:buNone/>
            </a:pPr>
            <a:endParaRPr lang="en-US" sz="2800" baseline="-2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23729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90B47-4056-D52D-D5EC-D6DE43A7C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675" y="1209914"/>
            <a:ext cx="11692647" cy="508715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of constraints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187394-FC98-86C4-01DB-B9B806953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BABCCC1-BF11-4F37-963E-1BCD5B23FD72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13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49D5F5-2652-C373-1BDF-9689996472A4}"/>
              </a:ext>
            </a:extLst>
          </p:cNvPr>
          <p:cNvSpPr txBox="1"/>
          <p:nvPr/>
        </p:nvSpPr>
        <p:spPr>
          <a:xfrm>
            <a:off x="1149927" y="1896894"/>
            <a:ext cx="10016838" cy="2936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95350" indent="-712788" defTabSz="1250950" eaLnBrk="1" hangingPunct="1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Unary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constraints involve a single variable(SA ≠ green)</a:t>
            </a:r>
          </a:p>
          <a:p>
            <a:pPr marL="1039812" lvl="3" indent="0" defTabSz="125095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5350" indent="-712788" defTabSz="1250950" eaLnBrk="1" hangingPunct="1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constraints involve pairs of variables (SA ≠ WA)</a:t>
            </a:r>
          </a:p>
          <a:p>
            <a:pPr marL="1039812" lvl="3" indent="0" defTabSz="125095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5350" indent="-712788" defTabSz="1250950" eaLnBrk="1" hangingPunct="1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Higher-order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constraints involve 3 or more variables        (crypt arithmetic column constraints</a:t>
            </a:r>
          </a:p>
          <a:p>
            <a:pPr marL="0" indent="0" algn="just">
              <a:lnSpc>
                <a:spcPct val="90000"/>
              </a:lnSpc>
              <a:buNone/>
            </a:pPr>
            <a:endParaRPr lang="en-US" sz="2800" baseline="-2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75383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90B47-4056-D52D-D5EC-D6DE43A7C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06230"/>
            <a:ext cx="12081753" cy="56420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Example Application implemented using CSP</a:t>
            </a:r>
            <a:endParaRPr lang="en-IN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187394-FC98-86C4-01DB-B9B806953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BABCCC1-BF11-4F37-963E-1BCD5B23FD72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14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6E4660-0AC9-7BF1-6DEB-01420E7C949E}"/>
              </a:ext>
            </a:extLst>
          </p:cNvPr>
          <p:cNvSpPr txBox="1"/>
          <p:nvPr/>
        </p:nvSpPr>
        <p:spPr>
          <a:xfrm>
            <a:off x="914399" y="2136019"/>
            <a:ext cx="10141527" cy="293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IN" sz="3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Solve cryptographic arithmetic puzzles using Constraint Satisfaction Problem (CSP) techniques. </a:t>
            </a:r>
          </a:p>
          <a:p>
            <a:pPr marL="457200" indent="-4572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IN" sz="3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classic example is the SEND + MORE = MONEY puzzle, where each letter represents a unique digit (0-9). </a:t>
            </a:r>
          </a:p>
          <a:p>
            <a:pPr marL="457200" indent="-4572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IN" sz="3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Solve this puzzle using CSP concepts.</a:t>
            </a:r>
          </a:p>
        </p:txBody>
      </p:sp>
    </p:spTree>
    <p:extLst>
      <p:ext uri="{BB962C8B-B14F-4D97-AF65-F5344CB8AC3E}">
        <p14:creationId xmlns:p14="http://schemas.microsoft.com/office/powerpoint/2010/main" val="20704993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90B47-4056-D52D-D5EC-D6DE43A7C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26" y="1292727"/>
            <a:ext cx="11692647" cy="508715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Cryptographic Arithmetic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187394-FC98-86C4-01DB-B9B806953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BABCCC1-BF11-4F37-963E-1BCD5B23FD72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15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18642" y="1859151"/>
            <a:ext cx="889463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400" dirty="0"/>
              <a:t>The </a:t>
            </a:r>
            <a:r>
              <a:rPr lang="en-IN" sz="2400" dirty="0">
                <a:hlinkClick r:id="rId2"/>
              </a:rPr>
              <a:t>SEND + MORE = MONEY</a:t>
            </a:r>
            <a:r>
              <a:rPr lang="en-IN" sz="2400" dirty="0"/>
              <a:t>, is a classic crypt arithmetic puzzle where each letter represents a unique digit to make the equation true. The problem is solved using logic and constraints, such as no leading zeros and carry-overs in addition. </a:t>
            </a:r>
          </a:p>
          <a:p>
            <a:pPr algn="just"/>
            <a:endParaRPr lang="en-IN" sz="2400" dirty="0"/>
          </a:p>
          <a:p>
            <a:pPr algn="just"/>
            <a:r>
              <a:rPr lang="en-IN" sz="2400" dirty="0"/>
              <a:t>The goal is to assign digits 0-9 to the letters S, E, N, D, M, O, R, and Y.</a:t>
            </a:r>
          </a:p>
          <a:p>
            <a:pPr algn="just"/>
            <a:endParaRPr lang="en-IN" sz="2400" dirty="0"/>
          </a:p>
          <a:p>
            <a:pPr algn="just"/>
            <a:r>
              <a:rPr lang="en-IN" sz="2400" dirty="0"/>
              <a:t>Resulting in the solution S=9, E=5, N=6, D=7, M=1, O=0, R=8, and Y=2.</a:t>
            </a:r>
          </a:p>
        </p:txBody>
      </p:sp>
      <p:pic>
        <p:nvPicPr>
          <p:cNvPr id="1026" name="Picture 2" descr="Solving the SEND + MORE = MONEY Cryptarithmetic Puzzle ..."/>
          <p:cNvPicPr>
            <a:picLocks noChangeAspect="1" noChangeArrowheads="1"/>
          </p:cNvPicPr>
          <p:nvPr/>
        </p:nvPicPr>
        <p:blipFill>
          <a:blip r:embed="rId3" cstate="print"/>
          <a:srcRect l="17510" t="21386" r="21118" b="7891"/>
          <a:stretch>
            <a:fillRect/>
          </a:stretch>
        </p:blipFill>
        <p:spPr bwMode="auto">
          <a:xfrm>
            <a:off x="9282546" y="1898073"/>
            <a:ext cx="2701636" cy="30479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845860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90B47-4056-D52D-D5EC-D6DE43A7C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26" y="1292727"/>
            <a:ext cx="11692647" cy="508715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Cryptographic Arithmetic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187394-FC98-86C4-01DB-B9B806953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BABCCC1-BF11-4F37-963E-1BCD5B23FD72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16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993" name="Rectangle 1"/>
          <p:cNvSpPr>
            <a:spLocks noChangeArrowheads="1"/>
          </p:cNvSpPr>
          <p:nvPr/>
        </p:nvSpPr>
        <p:spPr bwMode="auto">
          <a:xfrm>
            <a:off x="498763" y="824524"/>
            <a:ext cx="11194473" cy="575542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charset="0"/>
                <a:cs typeface="Arial" charset="0"/>
              </a:rPr>
              <a:t>Understanding the Puzzle and Constraints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Crypt arithmetic: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This is a type of puzzle where words are treated as numbers, and the letters stand for digits.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Unique Digits: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Each letter must be assigned a different digit from 0 to 9.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No Leading Zeros: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The first letter of a number (like S in SEND and M in MORE) cannot be 0, as this would create a number with fewer digits than intended.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The Equation: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The puzzle is: SEND + MORE = MONEY.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Steps to Solve (Example)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Start with the Most Significant Digits: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Because MONEY has five digits and SEND and MORE have four, there must be a carry from the thousands column to form MONEY. This means M must be 1, as M is the only digit that can result in a 5-digit number when added to S.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Deduce from the Sum: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If M = 1, then in the leftmost column, S + 1 (or S + 1 + 1 if there was a carry from the previous column) must result in O. Since S and M must be different, and the sum must be greater than 10 to produce a carry into the MONEY column, we can infer S = 9 to create a carry, making M = 1 and O = 0.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sz="1600" b="1" dirty="0">
              <a:latin typeface="Arial" charset="0"/>
              <a:cs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Work Backwards and Solve Systematically: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Column 1: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D + E = Y + 10 (since there's a carry).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Column 2</a:t>
            </a:r>
            <a:r>
              <a:rPr kumimoji="0" lang="en-US" sz="16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: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N + R + carry(1) = E + 10 (if there's a carry) or N + R = E + 10 (if no carry).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Column 3: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E + O + carry = N (or E + O = N if no carry).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Column 4: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S + M + carry = O + 10.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Column 5: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M = M. </a:t>
            </a:r>
          </a:p>
        </p:txBody>
      </p:sp>
    </p:spTree>
    <p:extLst>
      <p:ext uri="{BB962C8B-B14F-4D97-AF65-F5344CB8AC3E}">
        <p14:creationId xmlns:p14="http://schemas.microsoft.com/office/powerpoint/2010/main" val="37845860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90B47-4056-D52D-D5EC-D6DE43A7C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26" y="1292727"/>
            <a:ext cx="11692647" cy="508715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Cryptographic Arithmetic Problem-2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187394-FC98-86C4-01DB-B9B806953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BABCCC1-BF11-4F37-963E-1BCD5B23FD72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17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513C39-98C9-26C6-A7C4-21FCE77314B1}"/>
              </a:ext>
            </a:extLst>
          </p:cNvPr>
          <p:cNvSpPr txBox="1"/>
          <p:nvPr/>
        </p:nvSpPr>
        <p:spPr>
          <a:xfrm>
            <a:off x="1399308" y="2076463"/>
            <a:ext cx="98090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Letter stands for a distinct digit. The aim is to find a substitution of digits for letters such that the resulting sum is arithmetically correct with the added restriction that no leading zeros are allowed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687C0D4F-9C95-9063-B7BD-A0AD5A431F3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77" t="31242" r="18115" b="7551"/>
          <a:stretch>
            <a:fillRect/>
          </a:stretch>
        </p:blipFill>
        <p:spPr>
          <a:xfrm>
            <a:off x="3574464" y="3643239"/>
            <a:ext cx="4779827" cy="2425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5860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90B47-4056-D52D-D5EC-D6DE43A7C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26" y="903290"/>
            <a:ext cx="11692647" cy="508715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latin typeface="Arial Black" panose="020B0A04020102020204" pitchFamily="34" charset="0"/>
              </a:rPr>
              <a:t>Constraint GRAPH</a:t>
            </a:r>
            <a:br>
              <a:rPr lang="en-IN" dirty="0">
                <a:latin typeface="Arial Black" panose="020B0A04020102020204" pitchFamily="34" charset="0"/>
              </a:rPr>
            </a:br>
            <a:r>
              <a:rPr lang="en-IN" dirty="0">
                <a:latin typeface="Arial Black" panose="020B0A04020102020204" pitchFamily="34" charset="0"/>
              </a:rPr>
              <a:t>Cryptographic Arithmetic Problem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187394-FC98-86C4-01DB-B9B806953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BABCCC1-BF11-4F37-963E-1BCD5B23FD72}" type="slidenum">
              <a:rPr lang="en-IN" smtClean="0"/>
              <a:pPr/>
              <a:t>18</a:t>
            </a:fld>
            <a:endParaRPr lang="en-IN" dirty="0"/>
          </a:p>
        </p:txBody>
      </p:sp>
      <p:pic>
        <p:nvPicPr>
          <p:cNvPr id="8" name="Picture 7" descr="A diagram of a network&#10;&#10;Description automatically generated">
            <a:extLst>
              <a:ext uri="{FF2B5EF4-FFF2-40B4-BE49-F238E27FC236}">
                <a16:creationId xmlns:a16="http://schemas.microsoft.com/office/drawing/2014/main" id="{EACC4044-6356-CB66-6613-ECE29F49DC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128" y="1995948"/>
            <a:ext cx="10677937" cy="3864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7200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90B47-4056-D52D-D5EC-D6DE43A7C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26" y="903290"/>
            <a:ext cx="11692647" cy="508715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Constraints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Cryptographic Arithmetic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187394-FC98-86C4-01DB-B9B806953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BABCCC1-BF11-4F37-963E-1BCD5B23FD72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19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6E4660-0AC9-7BF1-6DEB-01420E7C949E}"/>
              </a:ext>
            </a:extLst>
          </p:cNvPr>
          <p:cNvSpPr txBox="1"/>
          <p:nvPr/>
        </p:nvSpPr>
        <p:spPr>
          <a:xfrm>
            <a:off x="1169421" y="5556291"/>
            <a:ext cx="4538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 Constraints: F ≠ U and –F ≠ T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1629CB3E-2D6B-B6DE-E880-4BF8CC438F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64" r="8502" b="-1504"/>
          <a:stretch>
            <a:fillRect/>
          </a:stretch>
        </p:blipFill>
        <p:spPr bwMode="auto">
          <a:xfrm>
            <a:off x="4862946" y="3756578"/>
            <a:ext cx="5017259" cy="12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B513C39-98C9-26C6-A7C4-21FCE77314B1}"/>
              </a:ext>
            </a:extLst>
          </p:cNvPr>
          <p:cNvSpPr txBox="1"/>
          <p:nvPr/>
        </p:nvSpPr>
        <p:spPr>
          <a:xfrm>
            <a:off x="1011382" y="2086942"/>
            <a:ext cx="9864438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constraint Graph shows all diff constraints as well as column addition constraints. Each Square Box is a Constraint connected to the variables that it constrains.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 F,  T, U, W, R, O</a:t>
            </a: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95818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90B47-4056-D52D-D5EC-D6DE43A7C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61648"/>
            <a:ext cx="12081753" cy="581007"/>
          </a:xfrm>
        </p:spPr>
        <p:txBody>
          <a:bodyPr>
            <a:noAutofit/>
          </a:bodyPr>
          <a:lstStyle/>
          <a:p>
            <a:pPr algn="ctr"/>
            <a:r>
              <a:rPr lang="en-US" sz="36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applications requiring  CSP searches</a:t>
            </a:r>
            <a:endParaRPr lang="en-IN" sz="36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187394-FC98-86C4-01DB-B9B806953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BABCCC1-BF11-4F37-963E-1BCD5B23FD72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20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6E4660-0AC9-7BF1-6DEB-01420E7C949E}"/>
              </a:ext>
            </a:extLst>
          </p:cNvPr>
          <p:cNvSpPr txBox="1"/>
          <p:nvPr/>
        </p:nvSpPr>
        <p:spPr>
          <a:xfrm>
            <a:off x="1953784" y="2177583"/>
            <a:ext cx="9102143" cy="2160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2300" indent="-534988" eaLnBrk="1" hangingPunct="1">
              <a:lnSpc>
                <a:spcPct val="8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Assignment problems (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e.g., who teaches what class)</a:t>
            </a:r>
          </a:p>
          <a:p>
            <a:pPr marL="622300" lvl="1" indent="-534988" eaLnBrk="1" hangingPunct="1">
              <a:lnSpc>
                <a:spcPct val="80000"/>
              </a:lnSpc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2300" indent="-534988" eaLnBrk="1" hangingPunct="1">
              <a:lnSpc>
                <a:spcPct val="8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Timetabling problems(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e.g., which class is offered when and where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?)</a:t>
            </a:r>
          </a:p>
          <a:p>
            <a:pPr marL="622300" lvl="1" indent="-534988" eaLnBrk="1" hangingPunct="1">
              <a:lnSpc>
                <a:spcPct val="80000"/>
              </a:lnSpc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2300" indent="-534988" eaLnBrk="1" hangingPunct="1">
              <a:lnSpc>
                <a:spcPct val="8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Transportation Scheduling</a:t>
            </a:r>
          </a:p>
          <a:p>
            <a:pPr marL="622300" indent="-534988" eaLnBrk="1" hangingPunct="1">
              <a:lnSpc>
                <a:spcPct val="80000"/>
              </a:lnSpc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2300" indent="-534988" eaLnBrk="1" hangingPunct="1">
              <a:lnSpc>
                <a:spcPct val="8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Factory Scheduling</a:t>
            </a:r>
          </a:p>
        </p:txBody>
      </p:sp>
    </p:spTree>
    <p:extLst>
      <p:ext uri="{BB962C8B-B14F-4D97-AF65-F5344CB8AC3E}">
        <p14:creationId xmlns:p14="http://schemas.microsoft.com/office/powerpoint/2010/main" val="14454501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90B47-4056-D52D-D5EC-D6DE43A7C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675" y="1209914"/>
            <a:ext cx="11692647" cy="508715"/>
          </a:xfrm>
        </p:spPr>
        <p:txBody>
          <a:bodyPr>
            <a:noAutofit/>
          </a:bodyPr>
          <a:lstStyle/>
          <a:p>
            <a:pPr algn="ctr"/>
            <a:r>
              <a:rPr lang="en-US" sz="3600" b="1" cap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 search formulation</a:t>
            </a:r>
            <a:endParaRPr lang="en-IN" sz="3600" cap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187394-FC98-86C4-01DB-B9B806953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BABCCC1-BF11-4F37-963E-1BCD5B23FD72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6E4660-0AC9-7BF1-6DEB-01420E7C949E}"/>
              </a:ext>
            </a:extLst>
          </p:cNvPr>
          <p:cNvSpPr txBox="1"/>
          <p:nvPr/>
        </p:nvSpPr>
        <p:spPr>
          <a:xfrm>
            <a:off x="859295" y="1908073"/>
            <a:ext cx="10501432" cy="4130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1000" indent="-381000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States are defined by the values assigned.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
</a:t>
            </a:r>
            <a:endParaRPr lang="en-US" sz="2400" dirty="0">
              <a:solidFill>
                <a:schemeClr val="accent2"/>
              </a:solidFill>
              <a:highlight>
                <a:srgbClr val="00FFFF"/>
              </a:highlight>
              <a:latin typeface="Times New Roman" panose="02020603050405020304" pitchFamily="18" charset="0"/>
              <a:cs typeface="Times New Roman" pitchFamily="18" charset="0"/>
            </a:endParaRPr>
          </a:p>
          <a:p>
            <a:pPr marL="539750" indent="-539750">
              <a:buFont typeface="Wingdings" panose="05000000000000000000" pitchFamily="2" charset="2"/>
              <a:buChar char="q"/>
            </a:pPr>
            <a:r>
              <a:rPr lang="en-US" sz="24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Initial state: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empty assignment { }</a:t>
            </a:r>
          </a:p>
          <a:p>
            <a:pPr marL="539750" indent="-539750" algn="just">
              <a:buFont typeface="Wingdings" panose="05000000000000000000" pitchFamily="2" charset="2"/>
              <a:buChar char="q"/>
            </a:pPr>
            <a:r>
              <a:rPr lang="en-US" sz="2400" b="1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Successor function: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 a value to an unassigned variable that does not conflict with the current assignment. Fail if no legal assignments exist</a:t>
            </a:r>
          </a:p>
          <a:p>
            <a:pPr marL="539750" indent="-539750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 Test: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current assignment is complete 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1000" indent="-381000">
              <a:lnSpc>
                <a:spcPct val="80000"/>
              </a:lnSpc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the same for all CSPs</a:t>
            </a:r>
          </a:p>
          <a:p>
            <a:pPr marL="0" indent="0">
              <a:lnSpc>
                <a:spcPct val="80000"/>
              </a:lnSpc>
              <a:buNone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1000" indent="-381000">
              <a:buFontTx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solution appears at depth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variables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depth-first search</a:t>
            </a:r>
          </a:p>
          <a:p>
            <a:pPr marL="381000" indent="-381000">
              <a:buFontTx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is irrelevant, so we can also use complete-state formulation</a:t>
            </a:r>
          </a:p>
          <a:p>
            <a:pPr marL="381000" indent="-381000">
              <a:buFontTx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= (n - l )d at depth l</a:t>
            </a:r>
          </a:p>
        </p:txBody>
      </p:sp>
    </p:spTree>
    <p:extLst>
      <p:ext uri="{BB962C8B-B14F-4D97-AF65-F5344CB8AC3E}">
        <p14:creationId xmlns:p14="http://schemas.microsoft.com/office/powerpoint/2010/main" val="19703898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90B47-4056-D52D-D5EC-D6DE43A7C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675" y="1209914"/>
            <a:ext cx="11692647" cy="508715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of CSP based Search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187394-FC98-86C4-01DB-B9B806953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BABCCC1-BF11-4F37-963E-1BCD5B23FD72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22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C44135-6680-D235-FDA3-CEACA7278CC2}"/>
              </a:ext>
            </a:extLst>
          </p:cNvPr>
          <p:cNvSpPr txBox="1"/>
          <p:nvPr/>
        </p:nvSpPr>
        <p:spPr>
          <a:xfrm>
            <a:off x="790020" y="1840364"/>
            <a:ext cx="10778544" cy="4267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5475" indent="-625475" algn="just">
              <a:buFont typeface="Wingdings" panose="05000000000000000000" pitchFamily="2" charset="2"/>
              <a:buChar char="q"/>
            </a:pPr>
            <a:endParaRPr lang="en-IN" sz="2900" b="1" baseline="30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5475" indent="-625475" algn="just">
              <a:buFont typeface="Wingdings" panose="05000000000000000000" pitchFamily="2" charset="2"/>
              <a:buChar char="q"/>
            </a:pPr>
            <a:r>
              <a:rPr lang="en-IN" sz="36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 state: </a:t>
            </a:r>
            <a:r>
              <a:rPr lang="en-IN" sz="3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empty assignment in which all variables are unassigned.</a:t>
            </a:r>
          </a:p>
          <a:p>
            <a:pPr marL="625475" indent="-625475" algn="just">
              <a:buFont typeface="Wingdings" panose="05000000000000000000" pitchFamily="2" charset="2"/>
              <a:buChar char="q"/>
            </a:pPr>
            <a:r>
              <a:rPr lang="en-IN" sz="36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Successor function:</a:t>
            </a:r>
            <a:r>
              <a:rPr lang="en-IN" sz="36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value can be assigned to any unassigned variable, if it does not conflict with a previously assigned value</a:t>
            </a:r>
          </a:p>
          <a:p>
            <a:pPr marL="625475" indent="-625475" algn="just">
              <a:buFont typeface="Wingdings" panose="05000000000000000000" pitchFamily="2" charset="2"/>
              <a:buChar char="q"/>
            </a:pPr>
            <a:r>
              <a:rPr lang="en-IN" sz="36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 test:</a:t>
            </a:r>
            <a:r>
              <a:rPr lang="en-IN" sz="36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current assignment is complete.</a:t>
            </a:r>
          </a:p>
          <a:p>
            <a:pPr marL="625475" indent="-625475" algn="just">
              <a:buFont typeface="Wingdings" panose="05000000000000000000" pitchFamily="2" charset="2"/>
              <a:buChar char="q"/>
            </a:pPr>
            <a:r>
              <a:rPr lang="en-IN" sz="36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 cost:</a:t>
            </a:r>
            <a:r>
              <a:rPr lang="en-IN" sz="36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constant cost of 1 for every step.</a:t>
            </a:r>
          </a:p>
          <a:p>
            <a:pPr marL="625475" indent="-625475" algn="just">
              <a:buFont typeface="Wingdings" panose="05000000000000000000" pitchFamily="2" charset="2"/>
              <a:buChar char="q"/>
            </a:pPr>
            <a:r>
              <a:rPr lang="en-IN" sz="3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observations</a:t>
            </a:r>
          </a:p>
          <a:p>
            <a:pPr marL="1425575" lvl="2" indent="-625475" algn="just">
              <a:buFont typeface="Wingdings" panose="05000000000000000000" pitchFamily="2" charset="2"/>
              <a:buChar char="q"/>
            </a:pPr>
            <a:r>
              <a:rPr lang="en-IN" sz="3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Search is complete</a:t>
            </a:r>
          </a:p>
          <a:p>
            <a:pPr marL="1425575" lvl="2" indent="-625475" algn="just">
              <a:buFont typeface="Wingdings" panose="05000000000000000000" pitchFamily="2" charset="2"/>
              <a:buChar char="q"/>
            </a:pPr>
            <a:r>
              <a:rPr lang="en-IN" sz="3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 Appears at a depth n where n is the number of variables existing in the problem</a:t>
            </a:r>
          </a:p>
          <a:p>
            <a:pPr marL="1425575" lvl="2" indent="-625475" algn="just">
              <a:buFont typeface="Wingdings" panose="05000000000000000000" pitchFamily="2" charset="2"/>
              <a:buChar char="q"/>
            </a:pPr>
            <a:r>
              <a:rPr lang="en-IN" sz="3600" baseline="300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Depth First Search Algorithms </a:t>
            </a:r>
            <a:r>
              <a:rPr lang="en-IN" sz="3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best suited for solving the CSP 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0305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842F2-823F-AA92-D895-F2D6C37FC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1" y="1190938"/>
            <a:ext cx="10140454" cy="662816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CSP Search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8B469-9D2A-F372-7119-71A6FCC11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1957" y="2140424"/>
            <a:ext cx="5045413" cy="1544886"/>
          </a:xfrm>
        </p:spPr>
        <p:txBody>
          <a:bodyPr>
            <a:normAutofit/>
          </a:bodyPr>
          <a:lstStyle/>
          <a:p>
            <a:pPr marL="808038" indent="-808038">
              <a:buFont typeface="Wingdings" panose="05000000000000000000" pitchFamily="2" charset="2"/>
              <a:buChar char="q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 Checking</a:t>
            </a:r>
          </a:p>
          <a:p>
            <a:pPr marL="808038" indent="-808038">
              <a:buFont typeface="Wingdings" panose="05000000000000000000" pitchFamily="2" charset="2"/>
              <a:buChar char="q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Backward Tracking</a:t>
            </a:r>
          </a:p>
          <a:p>
            <a:pPr marL="0" indent="0">
              <a:buNone/>
            </a:pP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A88726-6C64-6D82-5150-9A9B35BCD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BABCCC1-BF11-4F37-963E-1BCD5B23FD72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23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95248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305B5-E762-3D5C-738A-BE6784112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106" y="1190938"/>
            <a:ext cx="11429999" cy="662816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 Checking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652FC-B13A-8EE5-121C-B7C694052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137" y="1891037"/>
            <a:ext cx="11151730" cy="4151604"/>
          </a:xfrm>
        </p:spPr>
        <p:txBody>
          <a:bodyPr>
            <a:normAutofit fontScale="25000" lnSpcReduction="20000"/>
          </a:bodyPr>
          <a:lstStyle/>
          <a:p>
            <a:pPr marL="360363" indent="-360363">
              <a:spcBef>
                <a:spcPts val="0"/>
              </a:spcBef>
              <a:buNone/>
            </a:pPr>
            <a:r>
              <a:rPr lang="en-US" sz="9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1. Initialize:</a:t>
            </a:r>
          </a:p>
          <a:p>
            <a:pPr marL="0" indent="0">
              <a:spcBef>
                <a:spcPts val="0"/>
              </a:spcBef>
              <a:buNone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with the initial assignment of variables and their domains.</a:t>
            </a:r>
          </a:p>
          <a:p>
            <a:pPr lvl="2"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Create an empty set to store the list of constrained variables.</a:t>
            </a:r>
          </a:p>
          <a:p>
            <a:pPr marL="0" indent="0">
              <a:spcBef>
                <a:spcPts val="0"/>
              </a:spcBef>
              <a:buNone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44725" indent="-2244725" algn="just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sz="9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Select Variable:  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a variable to assign a value to. This can be based on heuristics like Minimum Remaining Values (MRV) or Degree Heuristic.</a:t>
            </a:r>
          </a:p>
          <a:p>
            <a:pPr marL="2244725" indent="-2244725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9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3.Select Value:          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a value from the domain of the selected variable. This can be based on heuristics like Least  Constraining Value (LCV).</a:t>
            </a:r>
          </a:p>
          <a:p>
            <a:pPr marL="2244725" indent="-2244725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9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4. Assign Value:         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 the selected value to the selected variable.</a:t>
            </a:r>
          </a:p>
          <a:p>
            <a:pPr marL="2244725" indent="-2244725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</a:t>
            </a:r>
            <a:r>
              <a:rPr lang="en-US" sz="9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Update Domain:  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unassigned variable adjacent to the variable just assigned, remove the selected value from their domains.</a:t>
            </a:r>
          </a:p>
          <a:p>
            <a:pPr marL="1789113" indent="-1789113">
              <a:spcBef>
                <a:spcPts val="0"/>
              </a:spcBef>
              <a:buNone/>
            </a:pPr>
            <a:endParaRPr lang="en-US" sz="8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BB8FC8-C633-1CAA-D3BB-196746BB2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BABCCC1-BF11-4F37-963E-1BCD5B23FD72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24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4263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305B5-E762-3D5C-738A-BE6784112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0635" y="1247865"/>
            <a:ext cx="6773694" cy="511663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 Checking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652FC-B13A-8EE5-121C-B7C694052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073" y="1849472"/>
            <a:ext cx="11291454" cy="4357359"/>
          </a:xfrm>
        </p:spPr>
        <p:txBody>
          <a:bodyPr>
            <a:normAutofit fontScale="25000" lnSpcReduction="20000"/>
          </a:bodyPr>
          <a:lstStyle/>
          <a:p>
            <a:pPr marL="3671888" indent="-3671888" algn="just">
              <a:spcBef>
                <a:spcPts val="600"/>
              </a:spcBef>
              <a:buNone/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  </a:t>
            </a:r>
            <a:r>
              <a:rPr lang="en-US" sz="88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Check Domain Emptiness:   </a:t>
            </a: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any domain becomes empty, backtrack to the previous variable and try a different value.</a:t>
            </a:r>
          </a:p>
          <a:p>
            <a:pPr marL="3671888" indent="-3671888" algn="just">
              <a:spcBef>
                <a:spcPts val="600"/>
              </a:spcBef>
              <a:buNone/>
            </a:pP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   </a:t>
            </a:r>
            <a:r>
              <a:rPr lang="en-US" sz="88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Check for Solution:              </a:t>
            </a: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all variables are assigned values and all constraints are satisfied, you have found a solution.</a:t>
            </a:r>
          </a:p>
          <a:p>
            <a:pPr marL="3671888" indent="-3671888" algn="just">
              <a:spcBef>
                <a:spcPts val="600"/>
              </a:spcBef>
              <a:buNone/>
            </a:pP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  </a:t>
            </a:r>
            <a:r>
              <a:rPr lang="en-US" sz="88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Recursive Step:                    </a:t>
            </a: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not all variables are assigned, recursively repeat steps 2-7 for the next variable.</a:t>
            </a:r>
          </a:p>
          <a:p>
            <a:pPr marL="3671888" indent="-3671888" algn="just">
              <a:spcBef>
                <a:spcPts val="600"/>
              </a:spcBef>
              <a:buNone/>
            </a:pP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  </a:t>
            </a:r>
            <a:r>
              <a:rPr lang="en-US" sz="88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Backtrack:                           </a:t>
            </a: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reach a point where no value can be assigned to the current variable, backtrack to the previous variable and try a different value.</a:t>
            </a:r>
          </a:p>
          <a:p>
            <a:pPr marL="3671888" indent="-3671888" algn="just">
              <a:spcBef>
                <a:spcPts val="600"/>
              </a:spcBef>
              <a:buNone/>
            </a:pP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 </a:t>
            </a:r>
            <a:r>
              <a:rPr lang="en-US" sz="88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Return Solution or Failure</a:t>
            </a: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If a solution is found, return it. If you reach a point where all possible assignments have been tried and none succeed, report failure.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BB8FC8-C633-1CAA-D3BB-196746BB2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BABCCC1-BF11-4F37-963E-1BCD5B23FD72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25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64575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305B5-E762-3D5C-738A-BE6784112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4997" y="1220156"/>
            <a:ext cx="7466421" cy="539372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 Checking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652FC-B13A-8EE5-121C-B7C694052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7927" y="2015732"/>
            <a:ext cx="10903528" cy="4190515"/>
          </a:xfrm>
        </p:spPr>
        <p:txBody>
          <a:bodyPr>
            <a:normAutofit fontScale="47500" lnSpcReduction="20000"/>
          </a:bodyPr>
          <a:lstStyle/>
          <a:p>
            <a:pPr marL="4484688" indent="-4484688" algn="just">
              <a:spcBef>
                <a:spcPts val="0"/>
              </a:spcBef>
              <a:buNone/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 </a:t>
            </a:r>
            <a:r>
              <a:rPr lang="en-US" sz="80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Undo Assignments:  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backtracking, undo the assignment of the current variable, and restore the domains of variables that were updated.</a:t>
            </a:r>
          </a:p>
          <a:p>
            <a:pPr marL="0" indent="0">
              <a:spcBef>
                <a:spcPts val="0"/>
              </a:spcBef>
              <a:buNone/>
            </a:pP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124325" indent="-4124325" algn="just">
              <a:spcBef>
                <a:spcPts val="0"/>
              </a:spcBef>
              <a:buNone/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 </a:t>
            </a:r>
            <a:r>
              <a:rPr lang="en-US" sz="80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Continue Search: 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 the search process until a solution is found or all possible assignments have been tried.</a:t>
            </a:r>
          </a:p>
          <a:p>
            <a:pPr marL="0" indent="0">
              <a:spcBef>
                <a:spcPts val="0"/>
              </a:spcBef>
              <a:buNone/>
            </a:pP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BB8FC8-C633-1CAA-D3BB-196746BB2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BABCCC1-BF11-4F37-963E-1BCD5B23FD72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57950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90B47-4056-D52D-D5EC-D6DE43A7C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91565"/>
            <a:ext cx="12191999" cy="84314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Solving the CSP problems 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Forward checking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187394-FC98-86C4-01DB-B9B806953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BABCCC1-BF11-4F37-963E-1BCD5B23FD72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27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6E4660-0AC9-7BF1-6DEB-01420E7C949E}"/>
              </a:ext>
            </a:extLst>
          </p:cNvPr>
          <p:cNvSpPr txBox="1"/>
          <p:nvPr/>
        </p:nvSpPr>
        <p:spPr>
          <a:xfrm>
            <a:off x="1496291" y="1886868"/>
            <a:ext cx="95734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en-US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Idea</a:t>
            </a:r>
          </a:p>
          <a:p>
            <a:pPr marL="0" indent="0" eaLnBrk="1" hangingPunct="1">
              <a:buNone/>
            </a:pP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1" hangingPunct="1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track of remaining legal values for unassigned variables. Terminate the search when any variable has no legal values.</a:t>
            </a:r>
          </a:p>
        </p:txBody>
      </p:sp>
      <p:pic>
        <p:nvPicPr>
          <p:cNvPr id="3" name="Picture 4" descr="forward-checking-progress1c">
            <a:extLst>
              <a:ext uri="{FF2B5EF4-FFF2-40B4-BE49-F238E27FC236}">
                <a16:creationId xmlns:a16="http://schemas.microsoft.com/office/drawing/2014/main" id="{E7B328A5-1276-E8A8-8389-6433B58921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109" y="3461887"/>
            <a:ext cx="10377055" cy="2255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373339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E9B76-E339-C084-9708-E81E8F01F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9871" y="1311072"/>
            <a:ext cx="9603275" cy="55631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Arial Black" panose="020B0A04020102020204" pitchFamily="34" charset="0"/>
                <a:cs typeface="Times New Roman" pitchFamily="18" charset="0"/>
              </a:rPr>
              <a:t>Representing Constraints as a  graph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5CBB4-33B5-158C-8C32-821715B57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885" y="1921212"/>
            <a:ext cx="12033115" cy="831716"/>
          </a:xfrm>
        </p:spPr>
        <p:txBody>
          <a:bodyPr>
            <a:normAutofit/>
          </a:bodyPr>
          <a:lstStyle/>
          <a:p>
            <a:pPr marL="622300" indent="-622300" eaLnBrk="1" hangingPunct="1">
              <a:buNone/>
            </a:pPr>
            <a:r>
              <a:rPr lang="en-US" sz="2400" dirty="0">
                <a:solidFill>
                  <a:srgbClr val="FF0000"/>
                </a:solidFill>
                <a:latin typeface="Arial Black" panose="020B0A04020102020204" pitchFamily="34" charset="0"/>
                <a:cs typeface="Times New Roman" pitchFamily="18" charset="0"/>
              </a:rPr>
              <a:t>Constraint graph:</a:t>
            </a:r>
            <a:r>
              <a:rPr lang="en-US" sz="2400" dirty="0">
                <a:latin typeface="Arial Black" panose="020B0A04020102020204" pitchFamily="34" charset="0"/>
                <a:cs typeface="Times New Roman" pitchFamily="18" charset="0"/>
              </a:rPr>
              <a:t> nodes are variables, arcs/edges are constraints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8E96B9-80FF-F518-E90A-77EAA1A6C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BABCCC1-BF11-4F37-963E-1BCD5B23FD72}" type="slidenum">
              <a:rPr lang="en-IN" smtClean="0"/>
              <a:pPr/>
              <a:t>28</a:t>
            </a:fld>
            <a:endParaRPr lang="en-IN"/>
          </a:p>
        </p:txBody>
      </p:sp>
      <p:pic>
        <p:nvPicPr>
          <p:cNvPr id="5" name="Picture 4" descr="australia-csp">
            <a:extLst>
              <a:ext uri="{FF2B5EF4-FFF2-40B4-BE49-F238E27FC236}">
                <a16:creationId xmlns:a16="http://schemas.microsoft.com/office/drawing/2014/main" id="{EBDFFEB2-6D7F-E89D-6AF7-2313769E62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26" r="5642"/>
          <a:stretch>
            <a:fillRect/>
          </a:stretch>
        </p:blipFill>
        <p:spPr bwMode="auto">
          <a:xfrm>
            <a:off x="1288473" y="2426733"/>
            <a:ext cx="9822872" cy="3596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15341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90B47-4056-D52D-D5EC-D6DE43A7C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675" y="875490"/>
            <a:ext cx="11692647" cy="84314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Solving the problems through Forward checking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187394-FC98-86C4-01DB-B9B806953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BABCCC1-BF11-4F37-963E-1BCD5B23FD72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29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6E4660-0AC9-7BF1-6DEB-01420E7C949E}"/>
              </a:ext>
            </a:extLst>
          </p:cNvPr>
          <p:cNvSpPr txBox="1"/>
          <p:nvPr/>
        </p:nvSpPr>
        <p:spPr>
          <a:xfrm>
            <a:off x="249675" y="1886868"/>
            <a:ext cx="118320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en-US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 eaLnBrk="1" hangingPunct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track of remaining legal values for unassigned variables</a:t>
            </a:r>
          </a:p>
          <a:p>
            <a:pPr lvl="1" eaLnBrk="1" hangingPunct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Terminate search when any variable has no legal values</a:t>
            </a:r>
          </a:p>
        </p:txBody>
      </p:sp>
      <p:pic>
        <p:nvPicPr>
          <p:cNvPr id="6" name="Picture 4" descr="forward-checking-progress2c">
            <a:extLst>
              <a:ext uri="{FF2B5EF4-FFF2-40B4-BE49-F238E27FC236}">
                <a16:creationId xmlns:a16="http://schemas.microsoft.com/office/drawing/2014/main" id="{F5D6930E-E2AA-995D-FB30-C5C0340F95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14" y="3076874"/>
            <a:ext cx="11441807" cy="31987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976528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90B47-4056-D52D-D5EC-D6DE43A7C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675" y="875490"/>
            <a:ext cx="11692647" cy="84314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Solving the problems through Forward checking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187394-FC98-86C4-01DB-B9B806953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BABCCC1-BF11-4F37-963E-1BCD5B23FD72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30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6E4660-0AC9-7BF1-6DEB-01420E7C949E}"/>
              </a:ext>
            </a:extLst>
          </p:cNvPr>
          <p:cNvSpPr txBox="1"/>
          <p:nvPr/>
        </p:nvSpPr>
        <p:spPr>
          <a:xfrm>
            <a:off x="1399640" y="1886868"/>
            <a:ext cx="97255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en-US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 eaLnBrk="1" hangingPunct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track of remaining legal values for unassigned variables</a:t>
            </a:r>
          </a:p>
          <a:p>
            <a:pPr lvl="1" eaLnBrk="1" hangingPunct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Terminate search when any variable has no legal values</a:t>
            </a:r>
          </a:p>
        </p:txBody>
      </p:sp>
      <p:pic>
        <p:nvPicPr>
          <p:cNvPr id="3" name="Picture 4" descr="forward-checking-progress3c">
            <a:extLst>
              <a:ext uri="{FF2B5EF4-FFF2-40B4-BE49-F238E27FC236}">
                <a16:creationId xmlns:a16="http://schemas.microsoft.com/office/drawing/2014/main" id="{EE39C3C3-3B8E-8986-18F5-B687B51EC9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09" y="3193372"/>
            <a:ext cx="10953550" cy="2775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490502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90B47-4056-D52D-D5EC-D6DE43A7C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675" y="875490"/>
            <a:ext cx="11692647" cy="84314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Solving the problems through Forward checking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187394-FC98-86C4-01DB-B9B806953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BABCCC1-BF11-4F37-963E-1BCD5B23FD72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6E4660-0AC9-7BF1-6DEB-01420E7C949E}"/>
              </a:ext>
            </a:extLst>
          </p:cNvPr>
          <p:cNvSpPr txBox="1"/>
          <p:nvPr/>
        </p:nvSpPr>
        <p:spPr>
          <a:xfrm>
            <a:off x="249675" y="1886868"/>
            <a:ext cx="118320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en-US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 eaLnBrk="1" hangingPunct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track of remaining legal values for unassigned variables</a:t>
            </a:r>
          </a:p>
          <a:p>
            <a:pPr lvl="1" eaLnBrk="1" hangingPunct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Terminate search when any variable has no legal values</a:t>
            </a:r>
          </a:p>
        </p:txBody>
      </p:sp>
      <p:pic>
        <p:nvPicPr>
          <p:cNvPr id="6" name="Picture 4" descr="forward-checking-progress4c">
            <a:extLst>
              <a:ext uri="{FF2B5EF4-FFF2-40B4-BE49-F238E27FC236}">
                <a16:creationId xmlns:a16="http://schemas.microsoft.com/office/drawing/2014/main" id="{6D21D89D-D8D0-DF25-DE7D-5295735660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273" y="3057626"/>
            <a:ext cx="10924672" cy="3333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80939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90B47-4056-D52D-D5EC-D6DE43A7C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675" y="875490"/>
            <a:ext cx="11692647" cy="84314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Solving the problems through Forward checking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187394-FC98-86C4-01DB-B9B806953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BABCCC1-BF11-4F37-963E-1BCD5B23FD72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32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6E4660-0AC9-7BF1-6DEB-01420E7C949E}"/>
              </a:ext>
            </a:extLst>
          </p:cNvPr>
          <p:cNvSpPr txBox="1"/>
          <p:nvPr/>
        </p:nvSpPr>
        <p:spPr>
          <a:xfrm>
            <a:off x="886691" y="1886868"/>
            <a:ext cx="1014152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534988" indent="-534988" algn="just" eaLnBrk="1" hangingPunct="1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 checking propagates information from assigned to unassigned variables, but doesn't provide early detection for all failures:</a:t>
            </a:r>
          </a:p>
          <a:p>
            <a:pPr marL="534988" indent="-534988" eaLnBrk="1" hangingPunct="1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NT and SA cannot both be blue!</a:t>
            </a:r>
          </a:p>
          <a:p>
            <a:pPr marL="534988" indent="-534988" eaLnBrk="1" hangingPunct="1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Constraint propagation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algorithms repeatedly enforce constraints locally</a:t>
            </a:r>
          </a:p>
        </p:txBody>
      </p:sp>
      <p:pic>
        <p:nvPicPr>
          <p:cNvPr id="3" name="Picture 4" descr="forward-checking-progress3c">
            <a:extLst>
              <a:ext uri="{FF2B5EF4-FFF2-40B4-BE49-F238E27FC236}">
                <a16:creationId xmlns:a16="http://schemas.microsoft.com/office/drawing/2014/main" id="{98AD4DA6-61C1-1A53-B875-E3670534CC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035" y="3622937"/>
            <a:ext cx="11055626" cy="2407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81701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2145C-EF0F-0D9F-895F-3D419304C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191" y="1371600"/>
            <a:ext cx="11819107" cy="48215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 propagation</a:t>
            </a:r>
            <a:b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70B69-71E1-7AD0-2057-1E372C23C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835" y="1752487"/>
            <a:ext cx="11368097" cy="3966779"/>
          </a:xfrm>
        </p:spPr>
        <p:txBody>
          <a:bodyPr>
            <a:noAutofit/>
          </a:bodyPr>
          <a:lstStyle/>
          <a:p>
            <a:pPr marL="539750" indent="-539750" algn="just"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regular state-space search, an algorithm can do searching.</a:t>
            </a:r>
          </a:p>
          <a:p>
            <a:pPr marL="539750" indent="-539750" algn="just"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CSPs, an algorithm can choose a new variable value from several possibilities while searching </a:t>
            </a:r>
          </a:p>
          <a:p>
            <a:pPr marL="539750" indent="-539750" algn="just"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CSP, “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constraint propagation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can also be made while doing the search.</a:t>
            </a:r>
          </a:p>
          <a:p>
            <a:pPr marL="539750" indent="-539750" algn="just"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Constraint Propagation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means using the constraints to reduce the number of legal values for a variable, which can reduce the legal values for another variable, and so on. </a:t>
            </a:r>
          </a:p>
          <a:p>
            <a:pPr marL="539750" indent="-539750" algn="just"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Constraint propagation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be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intertwined with the search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it may be done as a preprocessing step, before the search starts</a:t>
            </a:r>
          </a:p>
          <a:p>
            <a:pPr marL="539750" indent="-539750" algn="just"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Sometimes preprocessing can solve the whole problem itself without the necessity of employing the search.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3ECDA2-64D9-A01A-9D63-F934608C8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BABCCC1-BF11-4F37-963E-1BCD5B23FD72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33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09300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DF2145C-EF0F-0D9F-895F-3D419304C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71600"/>
            <a:ext cx="9603275" cy="48215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  consistency</a:t>
            </a:r>
            <a:b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40982-67CE-CA0D-99F7-4E5C50B35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0873" y="2015732"/>
            <a:ext cx="9753600" cy="3450613"/>
          </a:xfrm>
        </p:spPr>
        <p:txBody>
          <a:bodyPr>
            <a:normAutofit/>
          </a:bodyPr>
          <a:lstStyle/>
          <a:p>
            <a:pPr marL="622300" indent="-622300" algn="just">
              <a:buFont typeface="Wingdings" panose="05000000000000000000" pitchFamily="2" charset="2"/>
              <a:buChar char="q"/>
            </a:pPr>
            <a:r>
              <a:rPr lang="en-US" sz="320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Local consistency is a property in Constraint Satisfaction Problems (CSPs) that characterizes the level of constraint propagation achieved during the search process. </a:t>
            </a:r>
          </a:p>
          <a:p>
            <a:pPr marL="622300" indent="-622300" algn="just">
              <a:buFont typeface="Wingdings" panose="05000000000000000000" pitchFamily="2" charset="2"/>
              <a:buChar char="q"/>
            </a:pPr>
            <a:r>
              <a:rPr lang="en-US" sz="320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refers to the extent to which the constraints in a CSP have been enforced among neighboring variables. 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5918EE-CC56-E1BA-EE72-1A47A83D6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BABCCC1-BF11-4F37-963E-1BCD5B23FD72}" type="slidenum">
              <a:rPr lang="en-IN" smtClean="0"/>
              <a:pPr/>
              <a:t>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5401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2145C-EF0F-0D9F-895F-3D419304C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71600"/>
            <a:ext cx="9603275" cy="48215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  consistency</a:t>
            </a:r>
            <a:b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70B69-71E1-7AD0-2057-1E372C23C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5067" y="2071151"/>
            <a:ext cx="8541770" cy="2971904"/>
          </a:xfrm>
        </p:spPr>
        <p:txBody>
          <a:bodyPr>
            <a:normAutofit/>
          </a:bodyPr>
          <a:lstStyle/>
          <a:p>
            <a:pPr marL="539750" indent="-53975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different types of local consistency.</a:t>
            </a:r>
          </a:p>
          <a:p>
            <a:pPr marL="1433513" lvl="2" indent="-519113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consistency</a:t>
            </a:r>
          </a:p>
          <a:p>
            <a:pPr marL="1433513" lvl="2" indent="-519113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 consistency</a:t>
            </a:r>
          </a:p>
          <a:p>
            <a:pPr marL="1433513" lvl="2" indent="-519113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consistency</a:t>
            </a:r>
          </a:p>
          <a:p>
            <a:pPr marL="1433513" lvl="2" indent="-519113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K-consistency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3ECDA2-64D9-A01A-9D63-F934608C8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BABCCC1-BF11-4F37-963E-1BCD5B23FD72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35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51007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2145C-EF0F-0D9F-895F-3D419304C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71600"/>
            <a:ext cx="9603275" cy="482154"/>
          </a:xfrm>
        </p:spPr>
        <p:txBody>
          <a:bodyPr>
            <a:noAutofit/>
          </a:bodyPr>
          <a:lstStyle/>
          <a:p>
            <a:pPr algn="ctr"/>
            <a:r>
              <a:rPr lang="en-US" sz="29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 consistency</a:t>
            </a:r>
            <a:br>
              <a:rPr lang="en-US" sz="29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9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70B69-71E1-7AD0-2057-1E372C23C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8473" y="2015732"/>
            <a:ext cx="9822872" cy="3966779"/>
          </a:xfrm>
        </p:spPr>
        <p:txBody>
          <a:bodyPr>
            <a:normAutofit/>
          </a:bodyPr>
          <a:lstStyle/>
          <a:p>
            <a:pPr marL="539750" indent="-539750" algn="just">
              <a:buFont typeface="Wingdings" panose="05000000000000000000" pitchFamily="2" charset="2"/>
              <a:buChar char="q"/>
            </a:pPr>
            <a:r>
              <a:rPr lang="en-US" sz="280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is the simplest form of consistency. </a:t>
            </a:r>
          </a:p>
          <a:p>
            <a:pPr marL="539750" indent="-539750" algn="just">
              <a:buFont typeface="Wingdings" panose="05000000000000000000" pitchFamily="2" charset="2"/>
              <a:buChar char="q"/>
            </a:pPr>
            <a:r>
              <a:rPr lang="en-US" sz="280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involves ensuring that each variable in the CSP satisfies its individual unary constraints (constraints that involve only one variable). </a:t>
            </a:r>
          </a:p>
          <a:p>
            <a:pPr marL="539750" indent="-539750" algn="just">
              <a:buFont typeface="Wingdings" panose="05000000000000000000" pitchFamily="2" charset="2"/>
              <a:buChar char="q"/>
            </a:pPr>
            <a:r>
              <a:rPr lang="en-US" sz="280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if a variable x has a unary constraint x &gt; 3, then the domain of x would be reduced to values greater than 3.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3ECDA2-64D9-A01A-9D63-F934608C8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BABCCC1-BF11-4F37-963E-1BCD5B23FD72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20088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2145C-EF0F-0D9F-895F-3D419304C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71600"/>
            <a:ext cx="9603275" cy="48215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  </a:t>
            </a: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consistency</a:t>
            </a:r>
            <a:b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70B69-71E1-7AD0-2057-1E372C23C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7745" y="2015732"/>
            <a:ext cx="9781310" cy="3966779"/>
          </a:xfrm>
        </p:spPr>
        <p:txBody>
          <a:bodyPr>
            <a:noAutofit/>
          </a:bodyPr>
          <a:lstStyle/>
          <a:p>
            <a:pPr marL="539750" indent="-539750" algn="just">
              <a:buFont typeface="Wingdings" panose="05000000000000000000" pitchFamily="2" charset="2"/>
              <a:buChar char="q"/>
            </a:pPr>
            <a:r>
              <a:rPr lang="en-US" sz="280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Arc Consistency extends node consistency by considering binary constraints (constraints that involve two variables). </a:t>
            </a:r>
          </a:p>
          <a:p>
            <a:pPr marL="539750" indent="-539750" algn="just">
              <a:buFont typeface="Wingdings" panose="05000000000000000000" pitchFamily="2" charset="2"/>
              <a:buChar char="q"/>
            </a:pPr>
            <a:r>
              <a:rPr lang="en-US" sz="280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ensures that for every pair of variables (x, y) and for every value in the domain of x, there is at least one value in the domain of y that satisfies the binary constraint. If not, the inconsistent value is removed from the domain of x. </a:t>
            </a:r>
          </a:p>
          <a:p>
            <a:pPr marL="539750" indent="-539750" algn="just">
              <a:buFont typeface="Wingdings" panose="05000000000000000000" pitchFamily="2" charset="2"/>
              <a:buChar char="q"/>
            </a:pPr>
            <a:r>
              <a:rPr lang="en-US" sz="280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AC-3 is a widely used algorithm for enforcing arc consistency.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3ECDA2-64D9-A01A-9D63-F934608C8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BABCCC1-BF11-4F37-963E-1BCD5B23FD72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37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96255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2145C-EF0F-0D9F-895F-3D419304C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71600"/>
            <a:ext cx="9603275" cy="48215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 consistency</a:t>
            </a:r>
            <a:b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70B69-71E1-7AD0-2057-1E372C23C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8581" y="2015732"/>
            <a:ext cx="9712037" cy="3966779"/>
          </a:xfrm>
        </p:spPr>
        <p:txBody>
          <a:bodyPr>
            <a:normAutofit/>
          </a:bodyPr>
          <a:lstStyle/>
          <a:p>
            <a:pPr marL="539750" indent="-539750" algn="just">
              <a:buFont typeface="Wingdings" panose="05000000000000000000" pitchFamily="2" charset="2"/>
              <a:buChar char="q"/>
            </a:pPr>
            <a:r>
              <a:rPr lang="en-US" sz="320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Path consistency is a stronger form of consistency that extends arc consistency. </a:t>
            </a:r>
          </a:p>
          <a:p>
            <a:pPr marL="539750" indent="-539750" algn="just">
              <a:buFont typeface="Wingdings" panose="05000000000000000000" pitchFamily="2" charset="2"/>
              <a:buChar char="q"/>
            </a:pPr>
            <a:r>
              <a:rPr lang="en-US" sz="320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enforces constraints over longer paths in the constraint graph.</a:t>
            </a:r>
          </a:p>
          <a:p>
            <a:pPr marL="539750" indent="-539750" algn="just">
              <a:buFont typeface="Wingdings" panose="05000000000000000000" pitchFamily="2" charset="2"/>
              <a:buChar char="q"/>
            </a:pPr>
            <a:r>
              <a:rPr lang="en-US" sz="320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It checks for consistent values along chains of variables connected by binary constraints. </a:t>
            </a:r>
          </a:p>
          <a:p>
            <a:pPr marL="539750" indent="-539750" algn="just">
              <a:buFont typeface="Wingdings" panose="05000000000000000000" pitchFamily="2" charset="2"/>
              <a:buChar char="q"/>
            </a:pPr>
            <a:r>
              <a:rPr lang="en-US" sz="320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helps in propagating constraints more effectively.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3ECDA2-64D9-A01A-9D63-F934608C8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BABCCC1-BF11-4F37-963E-1BCD5B23FD72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38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94623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AE0DE-EC04-0BC2-58A4-1EF7DEEBA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13234"/>
            <a:ext cx="9603275" cy="540520"/>
          </a:xfrm>
        </p:spPr>
        <p:txBody>
          <a:bodyPr>
            <a:normAutofit/>
          </a:bodyPr>
          <a:lstStyle/>
          <a:p>
            <a:pPr algn="ctr"/>
            <a:r>
              <a:rPr lang="en-US" sz="29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- </a:t>
            </a:r>
            <a:r>
              <a:rPr lang="en-IN" sz="29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Backtracking in CSP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88BD3-EFB3-4194-D82C-859FC2C611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1" y="2015732"/>
            <a:ext cx="9809018" cy="4132149"/>
          </a:xfrm>
        </p:spPr>
        <p:txBody>
          <a:bodyPr>
            <a:normAutofit/>
          </a:bodyPr>
          <a:lstStyle/>
          <a:p>
            <a:pPr marL="539750" indent="-539750" algn="just"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IN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Backtracking is a fundamental algorithmic technique for solving Constraint Satisfaction Problems (CSPs). </a:t>
            </a:r>
          </a:p>
          <a:p>
            <a:pPr marL="539750" indent="-539750" algn="just">
              <a:spcBef>
                <a:spcPts val="0"/>
              </a:spcBef>
              <a:buNone/>
            </a:pPr>
            <a:endParaRPr lang="en-IN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39750" indent="-539750" algn="just"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IN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systematically </a:t>
            </a:r>
            <a:r>
              <a:rPr lang="en-IN" sz="2800" dirty="0">
                <a:effectLst/>
                <a:highlight>
                  <a:srgbClr val="00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explores </a:t>
            </a:r>
            <a:r>
              <a:rPr lang="en-IN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search space of </a:t>
            </a:r>
            <a:r>
              <a:rPr lang="en-IN" sz="2800" dirty="0">
                <a:effectLst/>
                <a:highlight>
                  <a:srgbClr val="00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possible assignments to variables</a:t>
            </a:r>
            <a:r>
              <a:rPr lang="en-IN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while </a:t>
            </a:r>
            <a:r>
              <a:rPr lang="en-IN" sz="2800" dirty="0">
                <a:effectLst/>
                <a:highlight>
                  <a:srgbClr val="00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using constraints to prune branches </a:t>
            </a:r>
            <a:r>
              <a:rPr lang="en-IN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unlikely to lead to a solution. 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B15A81-A9E8-FCEF-3420-694A1245E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BABCCC1-BF11-4F37-963E-1BCD5B23FD72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39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59873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D5AE0DE-EC04-0BC2-58A4-1EF7DEEBA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13234"/>
            <a:ext cx="9603275" cy="540520"/>
          </a:xfrm>
        </p:spPr>
        <p:txBody>
          <a:bodyPr>
            <a:normAutofit/>
          </a:bodyPr>
          <a:lstStyle/>
          <a:p>
            <a:pPr algn="ctr"/>
            <a:r>
              <a:rPr lang="en-US" sz="29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- </a:t>
            </a:r>
            <a:r>
              <a:rPr lang="en-IN" sz="29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Backtracking in CSP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88BD3-EFB3-4194-D82C-859FC2C611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0764" y="2015732"/>
            <a:ext cx="9878291" cy="4132149"/>
          </a:xfrm>
        </p:spPr>
        <p:txBody>
          <a:bodyPr>
            <a:normAutofit fontScale="70000" lnSpcReduction="20000"/>
          </a:bodyPr>
          <a:lstStyle/>
          <a:p>
            <a:pPr marL="539750" indent="-539750" algn="just"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term backtracking search is used for a 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Depth-First-Search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chooses values for one variable at a time and </a:t>
            </a:r>
            <a:r>
              <a:rPr lang="en-US" sz="36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backtracks when a variable has no legal values left to assign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39750" indent="-539750" algn="just"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9750" indent="-539750" algn="just"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unassigned variable is chosen, and then all values in that variable's domain are tried to find a solution.</a:t>
            </a:r>
          </a:p>
          <a:p>
            <a:pPr marL="539750" indent="-539750" algn="just"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9750" indent="-539750" algn="just"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an inconsistency is detected, then BACKTRACK returns failure, causing the previous call to try another value</a:t>
            </a:r>
          </a:p>
          <a:p>
            <a:pPr marL="539750" indent="-539750" algn="just"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9750" indent="-539750" algn="just"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Backtracking considers assignments to a single variable at each node</a:t>
            </a:r>
          </a:p>
          <a:p>
            <a:pPr marL="539750" indent="-539750" algn="just">
              <a:spcBef>
                <a:spcPts val="0"/>
              </a:spcBef>
              <a:buNone/>
            </a:pP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9750" indent="-539750" algn="just" eaLnBrk="1" hangingPunct="1"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sz="36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Depth-first search for CSPs with single-variable assignments is called </a:t>
            </a:r>
            <a:r>
              <a:rPr lang="en-US" sz="3600" dirty="0">
                <a:solidFill>
                  <a:schemeClr val="accent2"/>
                </a:solidFill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backtracking</a:t>
            </a:r>
            <a:r>
              <a:rPr lang="en-US" sz="36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search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B15A81-A9E8-FCEF-3420-694A1245E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BABCCC1-BF11-4F37-963E-1BCD5B23FD72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40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3652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AE0DE-EC04-0BC2-58A4-1EF7DEEBA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099" y="1185006"/>
            <a:ext cx="12016901" cy="540520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by STEP procedure – Backtracking  algorithm</a:t>
            </a:r>
            <a:endParaRPr lang="en-IN" sz="2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88BD3-EFB3-4194-D82C-859FC2C611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327" y="2015732"/>
            <a:ext cx="9892146" cy="4132149"/>
          </a:xfrm>
        </p:spPr>
        <p:txBody>
          <a:bodyPr>
            <a:noAutofit/>
          </a:bodyPr>
          <a:lstStyle/>
          <a:p>
            <a:pPr marL="534988" indent="-534988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47675" algn="l"/>
              </a:tabLst>
            </a:pPr>
            <a:r>
              <a:rPr lang="en-IN" sz="2400" kern="100" dirty="0">
                <a:effectLst/>
                <a:highlight>
                  <a:srgbClr val="00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Initialization:</a:t>
            </a:r>
            <a:r>
              <a:rPr lang="en-IN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Start with an initial assignment of values to variables. </a:t>
            </a: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If some variables are already assigned, this could be an empty or partial assignment</a:t>
            </a:r>
            <a:r>
              <a:rPr lang="en-IN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534988" indent="-534988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sz="2400" kern="100" dirty="0">
                <a:effectLst/>
                <a:highlight>
                  <a:srgbClr val="00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Select Unassigned Variable</a:t>
            </a: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 Choose an unassigned variable from the variables that still need to be assigned a value. </a:t>
            </a:r>
          </a:p>
          <a:p>
            <a:pPr marL="534988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choice of a variable can be based on various heuristics, like the most constrained variable or the variable with the fewest legal values.</a:t>
            </a:r>
          </a:p>
          <a:p>
            <a:pPr marL="534988" indent="-534988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 </a:t>
            </a:r>
            <a:r>
              <a:rPr lang="en-IN" sz="2400" kern="100" dirty="0">
                <a:effectLst/>
                <a:highlight>
                  <a:srgbClr val="00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Order Domain Values: </a:t>
            </a: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Order the selected variable’s domain values. The order can be based on heuristics, like the least constraining value that rules out the fewest choices for other variables.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B15A81-A9E8-FCEF-3420-694A1245E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BABCCC1-BF11-4F37-963E-1BCD5B23FD72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41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6611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AE0DE-EC04-0BC2-58A4-1EF7DEEBA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869" y="1331954"/>
            <a:ext cx="11955290" cy="54052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by STEP procedure – Backtracking  algorithm</a:t>
            </a:r>
            <a:b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88BD3-EFB3-4194-D82C-859FC2C611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728" y="1849472"/>
            <a:ext cx="10931236" cy="4357364"/>
          </a:xfrm>
        </p:spPr>
        <p:txBody>
          <a:bodyPr>
            <a:no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</a:t>
            </a:r>
            <a:r>
              <a:rPr lang="en-IN" sz="2400" kern="100" dirty="0">
                <a:effectLst/>
                <a:highlight>
                  <a:srgbClr val="00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Value Assignment</a:t>
            </a: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457200" lvl="1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 each value in the domain of the selected variable:</a:t>
            </a:r>
          </a:p>
          <a:p>
            <a:pPr marL="1343025" lvl="2" indent="-428625">
              <a:lnSpc>
                <a:spcPct val="107000"/>
              </a:lnSpc>
              <a:spcAft>
                <a:spcPts val="800"/>
              </a:spcAft>
              <a:buFont typeface="+mj-lt"/>
              <a:buAutoNum type="romanLcPeriod"/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Assign the value to the variable.</a:t>
            </a:r>
          </a:p>
          <a:p>
            <a:pPr marL="1343025" lvl="2" indent="-428625">
              <a:lnSpc>
                <a:spcPct val="107000"/>
              </a:lnSpc>
              <a:spcAft>
                <a:spcPts val="800"/>
              </a:spcAft>
              <a:buFont typeface="+mj-lt"/>
              <a:buAutoNum type="romanLcPeriod"/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Check if the assignment violates any constraints with the already assigned variables. If a constraint is violated, backtrack to step 2.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5. </a:t>
            </a:r>
            <a:r>
              <a:rPr lang="en-IN" sz="2400" kern="100" dirty="0">
                <a:effectLst/>
                <a:highlight>
                  <a:srgbClr val="00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Constraint Propagation:</a:t>
            </a:r>
          </a:p>
          <a:p>
            <a:pPr marL="360363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After assigning a value, apply constraint propagation techniques. This could involve revising the domains of other variables based on the newly assigned variable and the constraints. Common techniques include arc consistency and domain reduction.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B15A81-A9E8-FCEF-3420-694A1245E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BABCCC1-BF11-4F37-963E-1BCD5B23FD72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42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81043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D5AE0DE-EC04-0BC2-58A4-1EF7DEEBA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869" y="1331954"/>
            <a:ext cx="11955290" cy="54052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by STEP procedure – Backtracking  algorithm</a:t>
            </a:r>
            <a:b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88BD3-EFB3-4194-D82C-859FC2C611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7637" y="2015732"/>
            <a:ext cx="9947564" cy="4132149"/>
          </a:xfrm>
        </p:spPr>
        <p:txBody>
          <a:bodyPr>
            <a:normAutofit fontScale="25000" lnSpcReduction="20000"/>
          </a:bodyPr>
          <a:lstStyle/>
          <a:p>
            <a:pPr marL="534988" indent="-534988">
              <a:lnSpc>
                <a:spcPct val="107000"/>
              </a:lnSpc>
              <a:spcAft>
                <a:spcPts val="800"/>
              </a:spcAft>
              <a:buFont typeface="+mj-lt"/>
              <a:buAutoNum type="arabicPeriod" startAt="6"/>
            </a:pPr>
            <a:r>
              <a:rPr lang="en-IN" sz="9600" b="1" kern="100" dirty="0">
                <a:effectLst/>
                <a:highlight>
                  <a:srgbClr val="00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Recursive Step or Backtrack</a:t>
            </a:r>
            <a:r>
              <a:rPr lang="en-IN" sz="9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1371600" indent="-652463" algn="just">
              <a:lnSpc>
                <a:spcPct val="107000"/>
              </a:lnSpc>
              <a:spcAft>
                <a:spcPts val="800"/>
              </a:spcAft>
              <a:buFont typeface="+mj-lt"/>
              <a:buAutoNum type="alphaLcParenR"/>
            </a:pPr>
            <a:r>
              <a:rPr lang="en-IN" sz="9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If no inconsistency is found after assigning a value and applying constraint propagation, proceed recursively to the next variable and repeat steps 2 to 5.</a:t>
            </a:r>
          </a:p>
          <a:p>
            <a:pPr marL="1371600" indent="-652463" algn="just">
              <a:lnSpc>
                <a:spcPct val="107000"/>
              </a:lnSpc>
              <a:spcAft>
                <a:spcPts val="800"/>
              </a:spcAft>
              <a:buFont typeface="+mj-lt"/>
              <a:buAutoNum type="alphaLcParenR"/>
            </a:pPr>
            <a:r>
              <a:rPr lang="en-IN" sz="9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If a variable's domain becomes empty (no valid choices left) due to the assignment, backtrack to the previous variable and undo the assignment (backtrack step).</a:t>
            </a:r>
          </a:p>
          <a:p>
            <a:pPr marL="360363" indent="-360363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9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7. </a:t>
            </a:r>
            <a:r>
              <a:rPr lang="en-IN" sz="9600" b="1" kern="100" dirty="0">
                <a:effectLst/>
                <a:highlight>
                  <a:srgbClr val="00FFFF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Solution Found:</a:t>
            </a:r>
            <a:r>
              <a:rPr lang="en-IN" sz="9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9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solution has been found if all variables are assigned values and all constraints are satisfied</a:t>
            </a:r>
            <a:r>
              <a:rPr lang="en-IN" sz="9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Return the assignment.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9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B15A81-A9E8-FCEF-3420-694A1245E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BABCCC1-BF11-4F37-963E-1BCD5B23FD72}" type="slidenum">
              <a:rPr lang="en-IN" smtClean="0"/>
              <a:pPr/>
              <a:t>43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7119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D5AE0DE-EC04-0BC2-58A4-1EF7DEEBA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869" y="1331954"/>
            <a:ext cx="11955290" cy="54052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by STEP procedure – Backtracking  algorithm</a:t>
            </a:r>
            <a:b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88BD3-EFB3-4194-D82C-859FC2C611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3782" y="2015733"/>
            <a:ext cx="9975273" cy="2682728"/>
          </a:xfrm>
        </p:spPr>
        <p:txBody>
          <a:bodyPr>
            <a:normAutofit/>
          </a:bodyPr>
          <a:lstStyle/>
          <a:p>
            <a:pPr marL="622300" indent="-62230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</a:t>
            </a:r>
            <a:r>
              <a:rPr lang="en-IN" sz="2400" kern="100" dirty="0">
                <a:effectLst/>
                <a:highlight>
                  <a:srgbClr val="00FFFF"/>
                </a:highlight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 </a:t>
            </a:r>
            <a:r>
              <a:rPr lang="en-IN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Backtrack: If the search reaches a dead-end (all values for a variable have been tried, and none lead to a solution), backtrack to the previous variable, undo its assignment, and continue the search from there.</a:t>
            </a:r>
          </a:p>
          <a:p>
            <a:pPr marL="534988" indent="-534988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9. Termination: Continue until a solution is found or all possible assignments have been explored.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B15A81-A9E8-FCEF-3420-694A1245E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BABCCC1-BF11-4F37-963E-1BCD5B23FD72}" type="slidenum">
              <a:rPr lang="en-IN" smtClean="0"/>
              <a:pPr/>
              <a:t>44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280635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63197-255C-6157-CEE6-27671480F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190938"/>
            <a:ext cx="9603275" cy="66281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Arial Black" panose="020B0A04020102020204" pitchFamily="34" charset="0"/>
                <a:cs typeface="Times New Roman" pitchFamily="18" charset="0"/>
              </a:rPr>
              <a:t>Backtracking example – Color Graph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788CD3-1728-2453-7316-23A4972A2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BABCCC1-BF11-4F37-963E-1BCD5B23FD72}" type="slidenum">
              <a:rPr lang="en-IN" smtClean="0"/>
              <a:pPr/>
              <a:t>45</a:t>
            </a:fld>
            <a:endParaRPr lang="en-IN"/>
          </a:p>
        </p:txBody>
      </p:sp>
      <p:pic>
        <p:nvPicPr>
          <p:cNvPr id="3" name="Picture 3" descr="backtrack-progress1c">
            <a:extLst>
              <a:ext uri="{FF2B5EF4-FFF2-40B4-BE49-F238E27FC236}">
                <a16:creationId xmlns:a16="http://schemas.microsoft.com/office/drawing/2014/main" id="{D2F539E0-9869-EFBC-AD5C-7157C7418C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139013"/>
            <a:ext cx="9615055" cy="392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56382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63197-255C-6157-CEE6-27671480F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190938"/>
            <a:ext cx="9603275" cy="66281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Arial Black" panose="020B0A04020102020204" pitchFamily="34" charset="0"/>
                <a:cs typeface="Times New Roman" pitchFamily="18" charset="0"/>
              </a:rPr>
              <a:t>Backtracking example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788CD3-1728-2453-7316-23A4972A2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BABCCC1-BF11-4F37-963E-1BCD5B23FD72}" type="slidenum">
              <a:rPr lang="en-IN" smtClean="0"/>
              <a:pPr/>
              <a:t>46</a:t>
            </a:fld>
            <a:endParaRPr lang="en-IN"/>
          </a:p>
        </p:txBody>
      </p:sp>
      <p:pic>
        <p:nvPicPr>
          <p:cNvPr id="5" name="Picture 2" descr="backtrack-progress2c">
            <a:extLst>
              <a:ext uri="{FF2B5EF4-FFF2-40B4-BE49-F238E27FC236}">
                <a16:creationId xmlns:a16="http://schemas.microsoft.com/office/drawing/2014/main" id="{D9E6FE0A-E337-090C-2C59-930B725DC1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873" y="2119745"/>
            <a:ext cx="9684328" cy="3976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9322657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63197-255C-6157-CEE6-27671480F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190938"/>
            <a:ext cx="9603275" cy="66281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Arial Black" panose="020B0A04020102020204" pitchFamily="34" charset="0"/>
                <a:cs typeface="Times New Roman" pitchFamily="18" charset="0"/>
              </a:rPr>
              <a:t>Backtracking example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788CD3-1728-2453-7316-23A4972A2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BABCCC1-BF11-4F37-963E-1BCD5B23FD72}" type="slidenum">
              <a:rPr lang="en-IN" smtClean="0"/>
              <a:pPr/>
              <a:t>47</a:t>
            </a:fld>
            <a:endParaRPr lang="en-IN"/>
          </a:p>
        </p:txBody>
      </p:sp>
      <p:pic>
        <p:nvPicPr>
          <p:cNvPr id="3" name="Picture 3" descr="backtrack-progress3c">
            <a:extLst>
              <a:ext uri="{FF2B5EF4-FFF2-40B4-BE49-F238E27FC236}">
                <a16:creationId xmlns:a16="http://schemas.microsoft.com/office/drawing/2014/main" id="{AF3B83C9-2D05-A8F3-4C9D-C8ED21829B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3164" y="2047561"/>
            <a:ext cx="9781309" cy="4034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5396622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63197-255C-6157-CEE6-27671480F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190938"/>
            <a:ext cx="9603275" cy="66281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Arial Black" panose="020B0A04020102020204" pitchFamily="34" charset="0"/>
                <a:cs typeface="Times New Roman" pitchFamily="18" charset="0"/>
              </a:rPr>
              <a:t>Backtracking example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788CD3-1728-2453-7316-23A4972A2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BABCCC1-BF11-4F37-963E-1BCD5B23FD72}" type="slidenum">
              <a:rPr lang="en-IN" smtClean="0"/>
              <a:pPr/>
              <a:t>48</a:t>
            </a:fld>
            <a:endParaRPr lang="en-IN"/>
          </a:p>
        </p:txBody>
      </p:sp>
      <p:pic>
        <p:nvPicPr>
          <p:cNvPr id="5" name="Picture 3" descr="backtrack-progress4c">
            <a:extLst>
              <a:ext uri="{FF2B5EF4-FFF2-40B4-BE49-F238E27FC236}">
                <a16:creationId xmlns:a16="http://schemas.microsoft.com/office/drawing/2014/main" id="{76305A23-E60C-E91A-B0E7-65D9ABDCD7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9314" y="1899280"/>
            <a:ext cx="9906000" cy="4196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4603896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DCA7B-0371-C00C-DD30-1CAECE67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84051"/>
            <a:ext cx="9603275" cy="56970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Improving backtracking efficiency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3771A3-CBEA-4FBC-4911-9A92AE971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BABCCC1-BF11-4F37-963E-1BCD5B23FD72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49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E8087E-6CF2-E9F8-41D6-D0003D2CD1E3}"/>
              </a:ext>
            </a:extLst>
          </p:cNvPr>
          <p:cNvSpPr txBox="1"/>
          <p:nvPr/>
        </p:nvSpPr>
        <p:spPr>
          <a:xfrm>
            <a:off x="1440873" y="2036911"/>
            <a:ext cx="9767454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65225" indent="-1165225" eaLnBrk="1" hangingPunct="1"/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General-purpose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methods can give huge gains in speed: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0" eaLnBrk="1" hangingPunct="1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09750" lvl="3" indent="-642938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2062163" algn="l"/>
              </a:tabLs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variable should be assigned next?</a:t>
            </a:r>
          </a:p>
          <a:p>
            <a:pPr marL="1809750" lvl="3" indent="-642938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2062163" algn="l"/>
              </a:tabLs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what order should its values be tried?</a:t>
            </a:r>
          </a:p>
          <a:p>
            <a:pPr marL="1809750" lvl="3" indent="-642938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2062163" algn="l"/>
              </a:tabLs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we detect inevitable failure early?</a:t>
            </a:r>
          </a:p>
        </p:txBody>
      </p:sp>
    </p:spTree>
    <p:extLst>
      <p:ext uri="{BB962C8B-B14F-4D97-AF65-F5344CB8AC3E}">
        <p14:creationId xmlns:p14="http://schemas.microsoft.com/office/powerpoint/2010/main" val="182913693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879E9-8E94-E306-3AE0-11D563A09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93779"/>
            <a:ext cx="9603275" cy="559975"/>
          </a:xfrm>
        </p:spPr>
        <p:txBody>
          <a:bodyPr>
            <a:norm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Remaining Value Heuristics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7ADD4-E985-114E-A801-34969ED42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327" y="1976821"/>
            <a:ext cx="9961418" cy="4073783"/>
          </a:xfrm>
        </p:spPr>
        <p:txBody>
          <a:bodyPr>
            <a:noAutofit/>
          </a:bodyPr>
          <a:lstStyle/>
          <a:p>
            <a:pPr marL="452438" indent="-452438" algn="just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default, the SELECT-UNASSIGNED-VARIABLE  function selects the next unassigned variable in the order given by the list  </a:t>
            </a:r>
          </a:p>
          <a:p>
            <a:pPr marL="452438" indent="-452438" algn="just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static variable ordering seldom results in the most efficient search. </a:t>
            </a:r>
          </a:p>
          <a:p>
            <a:pPr marL="452438" indent="-452438" algn="just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after the assignments for  WA =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NT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green,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only one possible value for SA, so it makes sense to assign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blue to SA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rather than to Q. </a:t>
            </a:r>
          </a:p>
          <a:p>
            <a:pPr marL="452438" indent="-452438" algn="just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fact, after SA is assigned, the choices for Q, NSW, and V are all forced. </a:t>
            </a:r>
          </a:p>
          <a:p>
            <a:pPr marL="452438" indent="-452438" algn="just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intuitive idea of </a:t>
            </a:r>
            <a:r>
              <a:rPr lang="en-IN" sz="2400" dirty="0">
                <a:solidFill>
                  <a:srgbClr val="FF0000"/>
                </a:solidFill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choosing the variable with the fewest "legal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values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called the </a:t>
            </a:r>
            <a:r>
              <a:rPr lang="en-IN" sz="2400" b="1" dirty="0">
                <a:solidFill>
                  <a:srgbClr val="FF0000"/>
                </a:solidFill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remaining values (MRV) </a:t>
            </a:r>
            <a:r>
              <a:rPr lang="en-IN" sz="2400" dirty="0">
                <a:solidFill>
                  <a:srgbClr val="FF0000"/>
                </a:solidFill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heuristic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60E825-AA45-BC82-EB4A-387BB1A2A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BABCCC1-BF11-4F37-963E-1BCD5B23FD72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50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767218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879E9-8E94-E306-3AE0-11D563A09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93779"/>
            <a:ext cx="9603275" cy="559975"/>
          </a:xfrm>
        </p:spPr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Remaining Value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7ADD4-E985-114E-A801-34969ED42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3891" y="1976822"/>
            <a:ext cx="10002982" cy="3287906"/>
          </a:xfrm>
        </p:spPr>
        <p:txBody>
          <a:bodyPr>
            <a:noAutofit/>
          </a:bodyPr>
          <a:lstStyle/>
          <a:p>
            <a:pPr marL="452438" indent="-452438"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also has been called the "</a:t>
            </a:r>
            <a:r>
              <a:rPr lang="en-IN" sz="24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most constrained variable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or "</a:t>
            </a:r>
            <a:r>
              <a:rPr lang="en-IN" sz="24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fail-first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heuristic because it picks a variable that is most likely to cause a failure soon, thereby pruning the search tree.</a:t>
            </a:r>
          </a:p>
          <a:p>
            <a:pPr marL="452438" indent="-452438"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there is a variable X with zero legal values remaining,  the  MRV  heuristic will select  X, and failure will be </a:t>
            </a:r>
            <a:r>
              <a:rPr lang="en-IN" sz="3200" cap="all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detected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immediately.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60E825-AA45-BC82-EB4A-387BB1A2A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BABCCC1-BF11-4F37-963E-1BCD5B23FD72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51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612206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879E9-8E94-E306-3AE0-11D563A09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676" y="1254986"/>
            <a:ext cx="11488366" cy="559975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 ORDERING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7ADD4-E985-114E-A801-34969ED42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2109" y="1792458"/>
            <a:ext cx="10307782" cy="4073783"/>
          </a:xfrm>
        </p:spPr>
        <p:txBody>
          <a:bodyPr>
            <a:noAutofit/>
          </a:bodyPr>
          <a:lstStyle/>
          <a:p>
            <a:pPr marL="539750" indent="-539750" algn="just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Ordering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constraint satisfaction problems (CSPs) refers to the strategy used to decide the order in which variables are assigned values during search. Choosing a good ordering can significantly improve efficiency.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9750" indent="-539750" algn="just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MRV (Minimum Remaining Values )heuristic doesn't help choose the first region to colour in Australia because, initially, every region has three legal colours. </a:t>
            </a:r>
          </a:p>
          <a:p>
            <a:pPr marL="539750" indent="-539750" algn="just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case,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degree heuristic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comes in handy. It attempts to reduce the branching factor on future choices by </a:t>
            </a:r>
            <a:r>
              <a:rPr lang="en-IN" sz="24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selecting the variable involved in the largest number of constraints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other unassigned variables.  </a:t>
            </a:r>
          </a:p>
          <a:p>
            <a:pPr marL="539750" indent="-539750" algn="just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is the variable with the highest degree, 5; the other variables have degrees 2 or 3, except for T, which has 0</a:t>
            </a:r>
            <a:r>
              <a:rPr lang="en-IN" sz="2400" dirty="0">
                <a:latin typeface="Arial Black" panose="020B0A04020102020204" pitchFamily="34" charset="0"/>
              </a:rPr>
              <a:t>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60E825-AA45-BC82-EB4A-387BB1A2A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BABCCC1-BF11-4F37-963E-1BCD5B23FD72}" type="slidenum">
              <a:rPr lang="en-IN" smtClean="0"/>
              <a:pPr/>
              <a:t>52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59322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879E9-8E94-E306-3AE0-11D563A09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71" y="1293779"/>
            <a:ext cx="11488366" cy="559975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Selecting Variables with Highest Degree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7ADD4-E985-114E-A801-34969ED42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9091" y="1976821"/>
            <a:ext cx="10266218" cy="4073783"/>
          </a:xfrm>
        </p:spPr>
        <p:txBody>
          <a:bodyPr>
            <a:noAutofit/>
          </a:bodyPr>
          <a:lstStyle/>
          <a:p>
            <a:pPr marL="539750" indent="-53975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fact, once SA is chosen, applying the degree heuristic solves the problem without any false steps-you can choose any consistent colour at each choice point and still arrive at a solution with no backtracking</a:t>
            </a:r>
          </a:p>
          <a:p>
            <a:pPr marL="539750" indent="-53975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9750" indent="-53975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minimum remaining values heuristic is usually a more powerful guide, but the degree heuristic can be useful as a tie-breaker.</a:t>
            </a:r>
          </a:p>
          <a:p>
            <a:pPr marL="539750" indent="-53975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9750" indent="-53975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a variable has been selected, the algorithm must decide on the order in which to examine its values.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60E825-AA45-BC82-EB4A-387BB1A2A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BABCCC1-BF11-4F37-963E-1BCD5B23FD72}" type="slidenum">
              <a:rPr lang="en-IN" smtClean="0"/>
              <a:pPr/>
              <a:t>53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875734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BC879E9-8E94-E306-3AE0-11D563A09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71" y="1293779"/>
            <a:ext cx="11488366" cy="559975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Selecting Variables with Highest Degree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7ADD4-E985-114E-A801-34969ED42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1491" y="1853754"/>
            <a:ext cx="10030691" cy="4437385"/>
          </a:xfrm>
        </p:spPr>
        <p:txBody>
          <a:bodyPr>
            <a:noAutofit/>
          </a:bodyPr>
          <a:lstStyle/>
          <a:p>
            <a:pPr marL="539750" indent="-539750" algn="just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minimum remaining values heuristic is usually a more powerful guide, but the highest degree heuristic can be useful as a tie-breaker.</a:t>
            </a:r>
          </a:p>
          <a:p>
            <a:pPr marL="539750" indent="-539750" algn="just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a variable has been selected, the algorithm must decide how to examine its values. </a:t>
            </a:r>
          </a:p>
          <a:p>
            <a:pPr marL="539750" indent="-539750" algn="just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this,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least-constraining-value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heuristic can be effective in some cases. It prefers the value that rules out the fewest choices for the neighbouring variables in the constraint graph. </a:t>
            </a:r>
          </a:p>
          <a:p>
            <a:pPr marL="539750" indent="-539750" algn="just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suppose we have generated the partial assignment with WA = red and NT = green, and our next choice is for Q. Blue would be a bad choice because it eliminates the last legal value left for Q's neighbour, SA.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60E825-AA45-BC82-EB4A-387BB1A2A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BABCCC1-BF11-4F37-963E-1BCD5B23FD72}" type="slidenum">
              <a:rPr lang="en-IN" smtClean="0"/>
              <a:pPr/>
              <a:t>54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91552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BC879E9-8E94-E306-3AE0-11D563A09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071" y="1293779"/>
            <a:ext cx="11488366" cy="559975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Selecting Variables with Highest Degree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7ADD4-E985-114E-A801-34969ED42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0036" y="1976821"/>
            <a:ext cx="9822873" cy="4073783"/>
          </a:xfrm>
        </p:spPr>
        <p:txBody>
          <a:bodyPr>
            <a:noAutofit/>
          </a:bodyPr>
          <a:lstStyle/>
          <a:p>
            <a:pPr marL="539750" indent="-53975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least-constraining-value heuristic, therefore, prefers red to blue. 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9750" indent="-53975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general, the heuristic is trying to leave the maximum flexibility for subsequent variable assignments. Of course, if we are trying to find all the solutions to a problem, not just the first one, then the ordering does not matter because we have to consider every value anyway. The same holds if there are no solutions to the problem.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60E825-AA45-BC82-EB4A-387BB1A2A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BABCCC1-BF11-4F37-963E-1BCD5B23FD72}" type="slidenum">
              <a:rPr lang="en-IN" smtClean="0"/>
              <a:pPr/>
              <a:t>55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215546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879E9-8E94-E306-3AE0-11D563A09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8909" y="362948"/>
            <a:ext cx="3914965" cy="55997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CSP Summary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7ADD4-E985-114E-A801-34969ED42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6039" y="1523975"/>
            <a:ext cx="9684328" cy="4073783"/>
          </a:xfrm>
        </p:spPr>
        <p:txBody>
          <a:bodyPr>
            <a:noAutofit/>
          </a:bodyPr>
          <a:lstStyle/>
          <a:p>
            <a:pPr marL="539750" indent="-539750" algn="just" eaLnBrk="1" hangingPunct="1">
              <a:lnSpc>
                <a:spcPct val="80000"/>
              </a:lnSpc>
              <a:buNone/>
            </a:pP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CSPs are a special kind of problem</a:t>
            </a:r>
          </a:p>
          <a:p>
            <a:pPr marL="1454150" lvl="3" indent="-539750" algn="just">
              <a:lnSpc>
                <a:spcPct val="8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States defined by values of a fixed set of variables</a:t>
            </a:r>
          </a:p>
          <a:p>
            <a:pPr marL="1454150" lvl="3" indent="-539750" algn="just">
              <a:lnSpc>
                <a:spcPct val="8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Goal test defined by constraints on variable values</a:t>
            </a:r>
          </a:p>
          <a:p>
            <a:pPr marL="539750" indent="-539750" algn="just" eaLnBrk="1" hangingPunct="1">
              <a:lnSpc>
                <a:spcPct val="8000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Backtracking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depth-first search with one variable assigned per node</a:t>
            </a:r>
          </a:p>
          <a:p>
            <a:pPr marL="539750" indent="-539750" algn="just" eaLnBrk="1" hangingPunct="1">
              <a:lnSpc>
                <a:spcPct val="8000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 ordering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value selection heuristics help significantly</a:t>
            </a:r>
          </a:p>
          <a:p>
            <a:pPr marL="539750" indent="-539750" algn="just" eaLnBrk="1" hangingPunct="1">
              <a:lnSpc>
                <a:spcPct val="8000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Forward checking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assignments that guarantee later failure</a:t>
            </a:r>
          </a:p>
          <a:p>
            <a:pPr marL="3311525" indent="-3311525" algn="just" eaLnBrk="1" hangingPunct="1">
              <a:lnSpc>
                <a:spcPct val="8000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Constraint propagation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(e.g., arc consistency) does additional work to constrain values and detect inconsistencies</a:t>
            </a:r>
          </a:p>
          <a:p>
            <a:pPr marL="539750" indent="-539750" algn="just" eaLnBrk="1" hangingPunct="1">
              <a:lnSpc>
                <a:spcPct val="80000"/>
              </a:lnSpc>
              <a:spcAft>
                <a:spcPts val="80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Iterative min-conflicts is usually effective in practice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IN" sz="2400" dirty="0">
              <a:latin typeface="Arial Black" panose="020B0A040201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60E825-AA45-BC82-EB4A-387BB1A2A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BABCCC1-BF11-4F37-963E-1BCD5B23FD72}" type="slidenum">
              <a:rPr lang="en-IN" smtClean="0"/>
              <a:pPr/>
              <a:t>56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97119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932DC-2BCF-14E5-CAEB-ECD195000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744741" cy="34506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5500" i="1" dirty="0">
                <a:solidFill>
                  <a:srgbClr val="92D050"/>
                </a:solidFill>
              </a:rPr>
              <a:t>THANK YOU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87F848-76DE-D68C-9549-137DEF184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CBABCCC1-BF11-4F37-963E-1BCD5B23FD72}" type="slidenum">
              <a:rPr lang="en-IN" smtClean="0"/>
              <a:pPr/>
              <a:t>57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5092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621</TotalTime>
  <Words>3943</Words>
  <Application>Microsoft Office PowerPoint</Application>
  <PresentationFormat>Widescreen</PresentationFormat>
  <Paragraphs>360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5" baseType="lpstr">
      <vt:lpstr>Arial</vt:lpstr>
      <vt:lpstr>Arial Black</vt:lpstr>
      <vt:lpstr>Calibri</vt:lpstr>
      <vt:lpstr>Calibri Light</vt:lpstr>
      <vt:lpstr>Gill Sans MT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Constraint satisfaction problems (CSP)</vt:lpstr>
      <vt:lpstr>Example CSP: Map-Coloring PROBLEM</vt:lpstr>
      <vt:lpstr>Example CSP: Map-Coloring PROBLEM</vt:lpstr>
      <vt:lpstr>Representing Constraints as a  graph</vt:lpstr>
      <vt:lpstr>Types of Variable used in A CSP problem</vt:lpstr>
      <vt:lpstr>Discreet VARIABLES in CSP</vt:lpstr>
      <vt:lpstr>Continuous variables in CSP</vt:lpstr>
      <vt:lpstr>Language of constraints</vt:lpstr>
      <vt:lpstr>Types of constraints</vt:lpstr>
      <vt:lpstr>Classification of constraints</vt:lpstr>
      <vt:lpstr>Example Application implemented using CSP</vt:lpstr>
      <vt:lpstr>Cryptographic Arithmetic Problem</vt:lpstr>
      <vt:lpstr>Cryptographic Arithmetic Problem</vt:lpstr>
      <vt:lpstr>Cryptographic Arithmetic Problem-2</vt:lpstr>
      <vt:lpstr>Constraint GRAPH Cryptographic Arithmetic Problem</vt:lpstr>
      <vt:lpstr>Identifying Constraints Cryptographic Arithmetic Problem</vt:lpstr>
      <vt:lpstr>Real-world applications requiring  CSP searches</vt:lpstr>
      <vt:lpstr>Standard search formulation</vt:lpstr>
      <vt:lpstr>Components of CSP based Search </vt:lpstr>
      <vt:lpstr>CSP Search Algorithms</vt:lpstr>
      <vt:lpstr>Forward Checking Algorithm</vt:lpstr>
      <vt:lpstr>Forward Checking Algorithm</vt:lpstr>
      <vt:lpstr>Forward Checking Algorithm</vt:lpstr>
      <vt:lpstr>Solving the CSP problems  through Forward checking</vt:lpstr>
      <vt:lpstr>Representing Constraints as a  graph</vt:lpstr>
      <vt:lpstr>Solving the problems through Forward checking</vt:lpstr>
      <vt:lpstr>Solving the problems through Forward checking</vt:lpstr>
      <vt:lpstr>Solving the problems through Forward checking</vt:lpstr>
      <vt:lpstr>Solving the problems through Forward checking</vt:lpstr>
      <vt:lpstr>Constraint propagation </vt:lpstr>
      <vt:lpstr>Local  consistency </vt:lpstr>
      <vt:lpstr>Local  consistency </vt:lpstr>
      <vt:lpstr>NODE consistency </vt:lpstr>
      <vt:lpstr>ARC  consistency </vt:lpstr>
      <vt:lpstr>Path consistency </vt:lpstr>
      <vt:lpstr>Introduction - Backtracking in CSP</vt:lpstr>
      <vt:lpstr>Introduction - Backtracking in CSP</vt:lpstr>
      <vt:lpstr>Step by STEP procedure – Backtracking  algorithm</vt:lpstr>
      <vt:lpstr>Step by STEP procedure – Backtracking  algorithm </vt:lpstr>
      <vt:lpstr>Step by STEP procedure – Backtracking  algorithm </vt:lpstr>
      <vt:lpstr>Step by STEP procedure – Backtracking  algorithm </vt:lpstr>
      <vt:lpstr>Backtracking example – Color Graph</vt:lpstr>
      <vt:lpstr>Backtracking example</vt:lpstr>
      <vt:lpstr>Backtracking example</vt:lpstr>
      <vt:lpstr>Backtracking example</vt:lpstr>
      <vt:lpstr>Improving backtracking efficiency</vt:lpstr>
      <vt:lpstr>Minimum Remaining Value Heuristics</vt:lpstr>
      <vt:lpstr>Minimum Remaining Value</vt:lpstr>
      <vt:lpstr>Variables ORDERING</vt:lpstr>
      <vt:lpstr>Selecting Variables with Highest Degree</vt:lpstr>
      <vt:lpstr>Selecting Variables with Highest Degree</vt:lpstr>
      <vt:lpstr>Selecting Variables with Highest Degree</vt:lpstr>
      <vt:lpstr>CSP 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 Sastry JKR</dc:creator>
  <cp:lastModifiedBy>P Manika Prasuna</cp:lastModifiedBy>
  <cp:revision>62</cp:revision>
  <dcterms:created xsi:type="dcterms:W3CDTF">2023-05-06T07:38:17Z</dcterms:created>
  <dcterms:modified xsi:type="dcterms:W3CDTF">2025-08-28T05:53:51Z</dcterms:modified>
</cp:coreProperties>
</file>