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0" r:id="rId3"/>
    <p:sldId id="281" r:id="rId4"/>
    <p:sldId id="282" r:id="rId5"/>
    <p:sldId id="283" r:id="rId6"/>
    <p:sldId id="260" r:id="rId7"/>
    <p:sldId id="284" r:id="rId8"/>
    <p:sldId id="285" r:id="rId9"/>
    <p:sldId id="286" r:id="rId10"/>
    <p:sldId id="287" r:id="rId11"/>
    <p:sldId id="273" r:id="rId12"/>
    <p:sldId id="289" r:id="rId13"/>
    <p:sldId id="29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gents-artificial-intelligence/" TargetMode="External"/><Relationship Id="rId7" Type="http://schemas.openxmlformats.org/officeDocument/2006/relationships/hyperlink" Target="https://www.section.io/engineering-education/turing-test-in-a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turing-test-artificial-intelligence/" TargetMode="External"/><Relationship Id="rId5" Type="http://schemas.openxmlformats.org/officeDocument/2006/relationships/hyperlink" Target="https://www.javatpoint.com/turing-test-in-ai" TargetMode="External"/><Relationship Id="rId4" Type="http://schemas.openxmlformats.org/officeDocument/2006/relationships/hyperlink" Target="https://www.simplilearn.com/what-is-intelligent-agent-in-ai-types-function-artic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0671-249C-340E-19B5-2BA72FEB1F0C}"/>
              </a:ext>
            </a:extLst>
          </p:cNvPr>
          <p:cNvSpPr txBox="1"/>
          <p:nvPr/>
        </p:nvSpPr>
        <p:spPr>
          <a:xfrm>
            <a:off x="1267097" y="3566772"/>
            <a:ext cx="96578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</a:t>
            </a:r>
            <a:r>
              <a:rPr lang="en-US" sz="3000" b="1" cap="all" dirty="0">
                <a:latin typeface="Times New Roman" pitchFamily="18" charset="0"/>
                <a:cs typeface="Times New Roman" pitchFamily="18" charset="0"/>
              </a:rPr>
              <a:t> 2</a:t>
            </a:r>
            <a:endParaRPr lang="en-IN" sz="3000" dirty="0"/>
          </a:p>
        </p:txBody>
      </p:sp>
      <p:sp>
        <p:nvSpPr>
          <p:cNvPr id="6" name="Rectangle 5"/>
          <p:cNvSpPr/>
          <p:nvPr/>
        </p:nvSpPr>
        <p:spPr>
          <a:xfrm>
            <a:off x="1618938" y="4406391"/>
            <a:ext cx="100883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cap="all" dirty="0">
                <a:solidFill>
                  <a:srgbClr val="C00000"/>
                </a:solidFill>
                <a:latin typeface="Gill Sans MT"/>
              </a:rPr>
              <a:t>Symbolic  AI,  sub symbolic  AI, machine learning, rise of data-driven AI</a:t>
            </a:r>
            <a:endParaRPr lang="en-US" b="1" cap="all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88F7-6819-437D-A42A-347F5615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64B722C6-A5CD-E50F-464E-7870399F9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A57D3A-2945-6ADB-866F-ADD7A9B1FB3A}"/>
              </a:ext>
            </a:extLst>
          </p:cNvPr>
          <p:cNvSpPr/>
          <p:nvPr/>
        </p:nvSpPr>
        <p:spPr>
          <a:xfrm>
            <a:off x="3685985" y="66424"/>
            <a:ext cx="50898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 err="1">
                <a:solidFill>
                  <a:srgbClr val="C00000"/>
                </a:solidFill>
                <a:latin typeface="Gill Sans MT"/>
              </a:rPr>
              <a:t>SUBSymbolic</a:t>
            </a:r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  AI 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4097" name="Rectangle 1">
            <a:extLst>
              <a:ext uri="{FF2B5EF4-FFF2-40B4-BE49-F238E27FC236}">
                <a16:creationId xmlns:a16="http://schemas.microsoft.com/office/drawing/2014/main" id="{21213AED-1CD3-A378-C3AC-DF1785509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515" y="827315"/>
            <a:ext cx="11452484" cy="5575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Subsymbolic</a:t>
            </a:r>
            <a:r>
              <a:rPr lang="en-US" sz="2400" b="1" dirty="0"/>
              <a:t> AI (Connectionist AI)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What is </a:t>
            </a:r>
            <a:r>
              <a:rPr lang="en-US" sz="2400" b="1" dirty="0" err="1"/>
              <a:t>Subsymbolic</a:t>
            </a:r>
            <a:r>
              <a:rPr lang="en-US" sz="2400" b="1" dirty="0"/>
              <a:t> AI?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AI that </a:t>
            </a:r>
            <a:r>
              <a:rPr lang="en-US" sz="2400" b="1" dirty="0"/>
              <a:t>learns from data without explicit symbolic rules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Inspired by the </a:t>
            </a:r>
            <a:r>
              <a:rPr lang="en-US" sz="2400" b="1" dirty="0"/>
              <a:t>structure and function of the human brain</a:t>
            </a:r>
            <a:r>
              <a:rPr lang="en-US" sz="2400" dirty="0"/>
              <a:t>, using interconnected units like neurons.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How </a:t>
            </a:r>
            <a:r>
              <a:rPr lang="en-US" sz="2400" b="1" dirty="0" err="1"/>
              <a:t>Subsymbolic</a:t>
            </a:r>
            <a:r>
              <a:rPr lang="en-US" sz="2400" b="1" dirty="0"/>
              <a:t> AI Works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Systems </a:t>
            </a:r>
            <a:r>
              <a:rPr lang="en-US" sz="2400" b="1" dirty="0"/>
              <a:t>learn patterns and relationships directly from large datasets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Uses </a:t>
            </a:r>
            <a:r>
              <a:rPr lang="en-US" sz="2400" b="1" dirty="0"/>
              <a:t>numerical methods and statistical models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Knowledge is </a:t>
            </a:r>
            <a:r>
              <a:rPr lang="en-US" sz="2400" b="1" dirty="0"/>
              <a:t>distributed across the network’s connections</a:t>
            </a:r>
            <a:r>
              <a:rPr lang="en-US" sz="2400" dirty="0"/>
              <a:t> (not stored as explicit rules).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585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220F-0271-7B29-F2D3-A51F2B27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3D268744-5656-35B5-A87B-4724F4247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7" name="Rectangle 1">
            <a:extLst>
              <a:ext uri="{FF2B5EF4-FFF2-40B4-BE49-F238E27FC236}">
                <a16:creationId xmlns:a16="http://schemas.microsoft.com/office/drawing/2014/main" id="{61594323-B1EF-DE70-5D83-422D51923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84" y="1032970"/>
            <a:ext cx="11452484" cy="4467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Strengths of </a:t>
            </a:r>
            <a:r>
              <a:rPr lang="en-US" sz="2400" b="1" dirty="0" err="1"/>
              <a:t>Subsymbolic</a:t>
            </a:r>
            <a:r>
              <a:rPr lang="en-US" sz="2400" b="1" dirty="0"/>
              <a:t> AI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✅ </a:t>
            </a:r>
            <a:r>
              <a:rPr lang="en-US" sz="2400" b="1" dirty="0"/>
              <a:t>Pattern Recognition:</a:t>
            </a:r>
            <a:br>
              <a:rPr lang="en-US" sz="2400" dirty="0"/>
            </a:br>
            <a:r>
              <a:rPr lang="en-US" sz="2400" dirty="0"/>
              <a:t>Excellent at identifying </a:t>
            </a:r>
            <a:r>
              <a:rPr lang="en-US" sz="2400" b="1" dirty="0"/>
              <a:t>complex patterns in large, noisy, and unstructured data</a:t>
            </a:r>
            <a:br>
              <a:rPr lang="en-US" sz="2400" dirty="0"/>
            </a:br>
            <a:r>
              <a:rPr lang="en-US" sz="2400" dirty="0"/>
              <a:t>➡️ </a:t>
            </a:r>
            <a:r>
              <a:rPr lang="en-US" sz="2400" i="1" dirty="0"/>
              <a:t>(Examples: Images, Speech)</a:t>
            </a:r>
            <a:endParaRPr lang="en-US" sz="2400" dirty="0"/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✅ </a:t>
            </a:r>
            <a:r>
              <a:rPr lang="en-US" sz="2400" b="1" dirty="0"/>
              <a:t>Adaptability / Flexibility:</a:t>
            </a:r>
            <a:br>
              <a:rPr lang="en-US" sz="2400" dirty="0"/>
            </a:br>
            <a:r>
              <a:rPr lang="en-US" sz="2400" dirty="0"/>
              <a:t>Can </a:t>
            </a:r>
            <a:r>
              <a:rPr lang="en-US" sz="2400" b="1" dirty="0"/>
              <a:t>adapt to new data and situations</a:t>
            </a:r>
            <a:r>
              <a:rPr lang="en-US" sz="2400" dirty="0"/>
              <a:t> without reprogramming.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✅ </a:t>
            </a:r>
            <a:r>
              <a:rPr lang="en-US" sz="2400" b="1" dirty="0"/>
              <a:t>Scalability:</a:t>
            </a:r>
            <a:br>
              <a:rPr lang="en-US" sz="2400" dirty="0"/>
            </a:br>
            <a:r>
              <a:rPr lang="en-US" sz="2400" dirty="0"/>
              <a:t>Performs well with </a:t>
            </a:r>
            <a:r>
              <a:rPr lang="en-US" sz="2400" b="1" dirty="0"/>
              <a:t>Big Data</a:t>
            </a:r>
            <a:r>
              <a:rPr lang="en-US" sz="2400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3CCAC7-2CB0-D59D-4353-AF71420C2953}"/>
              </a:ext>
            </a:extLst>
          </p:cNvPr>
          <p:cNvSpPr/>
          <p:nvPr/>
        </p:nvSpPr>
        <p:spPr>
          <a:xfrm>
            <a:off x="3685985" y="66424"/>
            <a:ext cx="50898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 err="1">
                <a:solidFill>
                  <a:srgbClr val="C00000"/>
                </a:solidFill>
                <a:latin typeface="Gill Sans MT"/>
              </a:rPr>
              <a:t>SUBSymbolic</a:t>
            </a:r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  AI 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229543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D7FB-C779-6BAE-1AC7-A6319202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DC014CF7-32F0-5F54-B31E-38F540CF9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7" name="Rectangle 1">
            <a:extLst>
              <a:ext uri="{FF2B5EF4-FFF2-40B4-BE49-F238E27FC236}">
                <a16:creationId xmlns:a16="http://schemas.microsoft.com/office/drawing/2014/main" id="{C2696A07-A641-86D0-C5A1-8F431E0E9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84" y="1309970"/>
            <a:ext cx="11452484" cy="391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Weaknesses of </a:t>
            </a:r>
            <a:r>
              <a:rPr lang="en-US" sz="2400" b="1" dirty="0" err="1"/>
              <a:t>Subsymbolic</a:t>
            </a:r>
            <a:r>
              <a:rPr lang="en-US" sz="2400" b="1" dirty="0"/>
              <a:t> AI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⚠️ </a:t>
            </a:r>
            <a:r>
              <a:rPr lang="en-US" sz="2400" b="1" dirty="0"/>
              <a:t>Black Box Problem:</a:t>
            </a:r>
            <a:br>
              <a:rPr lang="en-US" sz="2400" dirty="0"/>
            </a:br>
            <a:r>
              <a:rPr lang="en-US" sz="2400" dirty="0"/>
              <a:t>Often lacks </a:t>
            </a:r>
            <a:r>
              <a:rPr lang="en-US" sz="2400" b="1" dirty="0"/>
              <a:t>transparency</a:t>
            </a:r>
            <a:r>
              <a:rPr lang="en-US" sz="2400" dirty="0"/>
              <a:t> – hard to understand </a:t>
            </a:r>
            <a:r>
              <a:rPr lang="en-US" sz="2400" b="1" dirty="0"/>
              <a:t>how decisions are made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⚠️ </a:t>
            </a:r>
            <a:r>
              <a:rPr lang="en-US" sz="2400" b="1" dirty="0"/>
              <a:t>Requires Large Datasets:</a:t>
            </a:r>
            <a:br>
              <a:rPr lang="en-US" sz="2400" dirty="0"/>
            </a:br>
            <a:r>
              <a:rPr lang="en-US" sz="2400" dirty="0"/>
              <a:t>Needs </a:t>
            </a:r>
            <a:r>
              <a:rPr lang="en-US" sz="2400" b="1" dirty="0"/>
              <a:t>vast amounts of data</a:t>
            </a:r>
            <a:r>
              <a:rPr lang="en-US" sz="2400" dirty="0"/>
              <a:t> for effective training.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⚠️ </a:t>
            </a:r>
            <a:r>
              <a:rPr lang="en-US" sz="2400" b="1" dirty="0"/>
              <a:t>Computationally Intensive:</a:t>
            </a:r>
            <a:br>
              <a:rPr lang="en-US" sz="2400" dirty="0"/>
            </a:br>
            <a:r>
              <a:rPr lang="en-US" sz="2400" dirty="0"/>
              <a:t>Training requires </a:t>
            </a:r>
            <a:r>
              <a:rPr lang="en-US" sz="2400" b="1" dirty="0"/>
              <a:t>significant computational resources</a:t>
            </a:r>
            <a:r>
              <a:rPr lang="en-US" sz="24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5E32E4-D132-A354-F6EF-FF852D25D06D}"/>
              </a:ext>
            </a:extLst>
          </p:cNvPr>
          <p:cNvSpPr/>
          <p:nvPr/>
        </p:nvSpPr>
        <p:spPr>
          <a:xfrm>
            <a:off x="3685985" y="66424"/>
            <a:ext cx="50898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 err="1">
                <a:solidFill>
                  <a:srgbClr val="C00000"/>
                </a:solidFill>
                <a:latin typeface="Gill Sans MT"/>
              </a:rPr>
              <a:t>SUBSymbolic</a:t>
            </a:r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  AI 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7780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893A-5360-881E-FBB0-A193E636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31E42B5B-6E93-1B6A-1551-6F321A614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7" name="Rectangle 1">
            <a:extLst>
              <a:ext uri="{FF2B5EF4-FFF2-40B4-BE49-F238E27FC236}">
                <a16:creationId xmlns:a16="http://schemas.microsoft.com/office/drawing/2014/main" id="{47756D57-0890-AC85-6C93-B7803B5B6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84" y="1032973"/>
            <a:ext cx="11452484" cy="4467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Examples of </a:t>
            </a:r>
            <a:r>
              <a:rPr lang="en-US" sz="2400" b="1" dirty="0" err="1"/>
              <a:t>Subsymbolic</a:t>
            </a:r>
            <a:r>
              <a:rPr lang="en-US" sz="2400" b="1" dirty="0"/>
              <a:t> AI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Neural Networks</a:t>
            </a:r>
            <a:r>
              <a:rPr lang="en-US" sz="2400" dirty="0"/>
              <a:t> (including Deep Learning)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Machine Learning models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➡️ </a:t>
            </a:r>
            <a:r>
              <a:rPr lang="en-US" sz="2400" i="1" dirty="0"/>
              <a:t>Examples: Image recognition, Natural Language Processing, Predictive Analytics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Simple Analogy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🔷 </a:t>
            </a:r>
            <a:r>
              <a:rPr lang="en-US" sz="2400" dirty="0" err="1"/>
              <a:t>Subsymbolic</a:t>
            </a:r>
            <a:r>
              <a:rPr lang="en-US" sz="2400" dirty="0"/>
              <a:t> AI is like </a:t>
            </a:r>
            <a:r>
              <a:rPr lang="en-US" sz="2400" b="1" dirty="0"/>
              <a:t>learning to </a:t>
            </a:r>
            <a:r>
              <a:rPr lang="en-US" sz="2400" b="1" dirty="0" err="1"/>
              <a:t>recognise</a:t>
            </a:r>
            <a:r>
              <a:rPr lang="en-US" sz="2400" b="1" dirty="0"/>
              <a:t> faces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➡️ You </a:t>
            </a:r>
            <a:r>
              <a:rPr lang="en-US" sz="2400" b="1" dirty="0"/>
              <a:t>don’t </a:t>
            </a:r>
            <a:r>
              <a:rPr lang="en-US" sz="2400" b="1" dirty="0" err="1"/>
              <a:t>memorise</a:t>
            </a:r>
            <a:r>
              <a:rPr lang="en-US" sz="2400" b="1" dirty="0"/>
              <a:t> rules about nose or eye shapes</a:t>
            </a:r>
            <a:r>
              <a:rPr lang="en-US" sz="2400" dirty="0"/>
              <a:t>, but learn from </a:t>
            </a:r>
            <a:r>
              <a:rPr lang="en-US" sz="2400" b="1" dirty="0"/>
              <a:t>many examples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E27088-2209-A205-82BD-22E85A0DB81D}"/>
              </a:ext>
            </a:extLst>
          </p:cNvPr>
          <p:cNvSpPr/>
          <p:nvPr/>
        </p:nvSpPr>
        <p:spPr>
          <a:xfrm>
            <a:off x="3685985" y="66424"/>
            <a:ext cx="50898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 err="1">
                <a:solidFill>
                  <a:srgbClr val="C00000"/>
                </a:solidFill>
                <a:latin typeface="Gill Sans MT"/>
              </a:rPr>
              <a:t>SUBSymbolic</a:t>
            </a:r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  AI </a:t>
            </a:r>
            <a:endParaRPr lang="en-US" sz="4000" b="1" cap="all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39860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762072" y="381213"/>
            <a:ext cx="68490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Rise of Data-Driven AI 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654" y="1084080"/>
            <a:ext cx="11407517" cy="5575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🔷 </a:t>
            </a:r>
            <a:r>
              <a:rPr lang="en-US" sz="2400" b="1" dirty="0"/>
              <a:t>Shift from Rules to Learning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Earlier AI (Symbolic AI):</a:t>
            </a:r>
            <a:br>
              <a:rPr lang="en-US" sz="2400" dirty="0"/>
            </a:br>
            <a:r>
              <a:rPr lang="en-US" sz="2400" dirty="0"/>
              <a:t>Relied on </a:t>
            </a:r>
            <a:r>
              <a:rPr lang="en-US" sz="2400" b="1" dirty="0"/>
              <a:t>explicit programming</a:t>
            </a:r>
            <a:r>
              <a:rPr lang="en-US" sz="2400" dirty="0"/>
              <a:t> with rules and logic written by humans.</a:t>
            </a:r>
            <a:br>
              <a:rPr lang="en-US" sz="2400" dirty="0"/>
            </a:br>
            <a:r>
              <a:rPr lang="en-US" sz="2400" dirty="0"/>
              <a:t>➡️ Example: Expert systems with </a:t>
            </a:r>
            <a:r>
              <a:rPr lang="en-US" sz="2400" b="1" dirty="0"/>
              <a:t>if-then rules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Modern AI:</a:t>
            </a:r>
            <a:br>
              <a:rPr lang="en-US" sz="2400" dirty="0"/>
            </a:br>
            <a:r>
              <a:rPr lang="en-US" sz="2400" dirty="0"/>
              <a:t>Evolved to </a:t>
            </a:r>
            <a:r>
              <a:rPr lang="en-US" sz="2400" b="1" dirty="0"/>
              <a:t>systems that learn from data automatically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➡️ Uses </a:t>
            </a:r>
            <a:r>
              <a:rPr lang="en-US" sz="2400" b="1" dirty="0"/>
              <a:t>Machine Learning</a:t>
            </a:r>
            <a:r>
              <a:rPr lang="en-US" sz="2400" dirty="0"/>
              <a:t> to find patterns without predefined rules.</a:t>
            </a:r>
          </a:p>
          <a:p>
            <a:r>
              <a:rPr lang="en-US" sz="2400" dirty="0"/>
              <a:t>🔷 </a:t>
            </a:r>
            <a:r>
              <a:rPr lang="en-US" sz="2400" b="1" dirty="0"/>
              <a:t>Why this shift happened?</a:t>
            </a:r>
            <a:endParaRPr lang="en-US" sz="2400" dirty="0"/>
          </a:p>
          <a:p>
            <a:r>
              <a:rPr lang="en-US" sz="2400" dirty="0"/>
              <a:t>✅ Because it is </a:t>
            </a:r>
            <a:r>
              <a:rPr lang="en-US" sz="2400" b="1" dirty="0"/>
              <a:t>impossible to write rules for everything in the real world</a:t>
            </a:r>
            <a:r>
              <a:rPr lang="en-US" sz="2400" dirty="0"/>
              <a:t> (e.g. </a:t>
            </a:r>
            <a:r>
              <a:rPr lang="en-US" sz="2400" dirty="0" err="1"/>
              <a:t>recognising</a:t>
            </a:r>
            <a:r>
              <a:rPr lang="en-US" sz="2400" dirty="0"/>
              <a:t> millions of images or understanding natural language with all its variations).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BF514-2323-4CFF-B859-3C2D09BC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67C70AAC-AFEE-134A-B63A-DF02E71C5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F6D027-0E9A-546B-5ED4-CB0CA9CB7981}"/>
              </a:ext>
            </a:extLst>
          </p:cNvPr>
          <p:cNvSpPr/>
          <p:nvPr/>
        </p:nvSpPr>
        <p:spPr>
          <a:xfrm>
            <a:off x="2762072" y="381213"/>
            <a:ext cx="68490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Rise of Data-Driven AI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6DA5C-D4EB-7E6B-ADD7-9DCFD5482154}"/>
              </a:ext>
            </a:extLst>
          </p:cNvPr>
          <p:cNvSpPr/>
          <p:nvPr/>
        </p:nvSpPr>
        <p:spPr>
          <a:xfrm>
            <a:off x="524654" y="1084080"/>
            <a:ext cx="11407517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Powered by Machine Learning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🔷 </a:t>
            </a:r>
            <a:r>
              <a:rPr lang="en-US" sz="2400" b="1" dirty="0"/>
              <a:t>Machine Learning (ML):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Uses </a:t>
            </a:r>
            <a:r>
              <a:rPr lang="en-US" sz="2400" b="1" dirty="0"/>
              <a:t>algorithms that learn from data</a:t>
            </a:r>
            <a:r>
              <a:rPr lang="en-US" sz="2400" dirty="0"/>
              <a:t> to make predictions or decisions.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Deep Learning:</a:t>
            </a:r>
            <a:br>
              <a:rPr lang="en-US" sz="2400" dirty="0"/>
            </a:br>
            <a:r>
              <a:rPr lang="en-US" sz="2400" dirty="0"/>
              <a:t>A subset of ML using </a:t>
            </a:r>
            <a:r>
              <a:rPr lang="en-US" sz="2400" b="1" dirty="0"/>
              <a:t>deep neural networks</a:t>
            </a:r>
            <a:r>
              <a:rPr lang="en-US" sz="2400" dirty="0"/>
              <a:t> that can learn complex patterns like </a:t>
            </a:r>
            <a:r>
              <a:rPr lang="en-US" sz="2400" b="1" dirty="0"/>
              <a:t>faces, speech, and languages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➡️ </a:t>
            </a:r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Face recognition on phones, speech-to-text apps.</a:t>
            </a:r>
          </a:p>
        </p:txBody>
      </p:sp>
    </p:spTree>
    <p:extLst>
      <p:ext uri="{BB962C8B-B14F-4D97-AF65-F5344CB8AC3E}">
        <p14:creationId xmlns:p14="http://schemas.microsoft.com/office/powerpoint/2010/main" val="2307864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6C28-BA14-F752-551F-01EE90CB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F21B84DD-D4BD-0BB2-E1EE-798BA6B41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1FEE51-C39C-3E4C-D838-2FCE54A23A4F}"/>
              </a:ext>
            </a:extLst>
          </p:cNvPr>
          <p:cNvSpPr/>
          <p:nvPr/>
        </p:nvSpPr>
        <p:spPr>
          <a:xfrm>
            <a:off x="2762072" y="381213"/>
            <a:ext cx="68490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Rise of Data-Driven AI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350354-419B-F522-ECCC-F630AB5DF8F5}"/>
              </a:ext>
            </a:extLst>
          </p:cNvPr>
          <p:cNvSpPr/>
          <p:nvPr/>
        </p:nvSpPr>
        <p:spPr>
          <a:xfrm>
            <a:off x="524654" y="1084080"/>
            <a:ext cx="11407517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Key Enablers of Data-Driven AI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✅ </a:t>
            </a:r>
            <a:r>
              <a:rPr lang="en-US" sz="2400" b="1" dirty="0"/>
              <a:t>Big Data: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Today, we generate </a:t>
            </a:r>
            <a:r>
              <a:rPr lang="en-US" sz="2400" b="1" dirty="0"/>
              <a:t>huge amounts of digital data</a:t>
            </a:r>
            <a:r>
              <a:rPr lang="en-US" sz="2400" dirty="0"/>
              <a:t> (photos, videos, texts, transactions).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data is </a:t>
            </a:r>
            <a:r>
              <a:rPr lang="en-US" sz="2400" b="1" dirty="0"/>
              <a:t>fuel for ML models</a:t>
            </a:r>
            <a:r>
              <a:rPr lang="en-US" sz="2400" dirty="0"/>
              <a:t> to learn effectively.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✅ </a:t>
            </a:r>
            <a:r>
              <a:rPr lang="en-US" sz="2400" b="1" dirty="0"/>
              <a:t>Compute Power: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Powerful GPUs and cloud computing resources</a:t>
            </a:r>
            <a:r>
              <a:rPr lang="en-US" sz="2400" dirty="0"/>
              <a:t> allow training large models faster.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✅ </a:t>
            </a:r>
            <a:r>
              <a:rPr lang="en-US" sz="2400" b="1" dirty="0"/>
              <a:t>Advanced Algorithms: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Continuous research leads to </a:t>
            </a:r>
            <a:r>
              <a:rPr lang="en-US" sz="2400" b="1" dirty="0"/>
              <a:t>smarter and more efficient ways to learn</a:t>
            </a:r>
            <a:r>
              <a:rPr lang="en-US" sz="2400" dirty="0"/>
              <a:t> from data (e.g. better neural network architectures, optimization methods).</a:t>
            </a:r>
          </a:p>
        </p:txBody>
      </p:sp>
    </p:spTree>
    <p:extLst>
      <p:ext uri="{BB962C8B-B14F-4D97-AF65-F5344CB8AC3E}">
        <p14:creationId xmlns:p14="http://schemas.microsoft.com/office/powerpoint/2010/main" val="327013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084C5-9230-4ADA-E3BC-B73105C6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DCFD353C-80A6-DB58-E541-57ECBC687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766FCDF-728D-9232-B400-D864982FDF25}"/>
              </a:ext>
            </a:extLst>
          </p:cNvPr>
          <p:cNvSpPr/>
          <p:nvPr/>
        </p:nvSpPr>
        <p:spPr>
          <a:xfrm>
            <a:off x="2875283" y="-106131"/>
            <a:ext cx="68490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Rise of Data-Driven AI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B3D9CB-F90F-B343-D6B6-E041EF247C8B}"/>
              </a:ext>
            </a:extLst>
          </p:cNvPr>
          <p:cNvSpPr/>
          <p:nvPr/>
        </p:nvSpPr>
        <p:spPr>
          <a:xfrm>
            <a:off x="628135" y="685677"/>
            <a:ext cx="11407517" cy="5575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Impact of Data-Driven AI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💡 </a:t>
            </a:r>
            <a:r>
              <a:rPr lang="en-US" sz="2400" b="1" dirty="0"/>
              <a:t>How it is transforming the world: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✅ </a:t>
            </a:r>
            <a:r>
              <a:rPr lang="en-US" sz="2400" b="1" dirty="0"/>
              <a:t>Image Recognition:</a:t>
            </a:r>
            <a:br>
              <a:rPr lang="en-US" sz="2400" dirty="0"/>
            </a:br>
            <a:r>
              <a:rPr lang="en-US" sz="2400" dirty="0"/>
              <a:t>AI can identify objects, people, and scenes in photos and videos.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✅ </a:t>
            </a:r>
            <a:r>
              <a:rPr lang="en-US" sz="2400" b="1" dirty="0"/>
              <a:t>Natural Language Processing (NLP):</a:t>
            </a:r>
            <a:br>
              <a:rPr lang="en-US" sz="2400" dirty="0"/>
            </a:br>
            <a:r>
              <a:rPr lang="en-US" sz="2400" dirty="0"/>
              <a:t>Understanding and generating human language (e.g. chatbots, translators).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✅ </a:t>
            </a:r>
            <a:r>
              <a:rPr lang="en-US" sz="2400" b="1" dirty="0"/>
              <a:t>Personalized Recommendations:</a:t>
            </a:r>
            <a:br>
              <a:rPr lang="en-US" sz="2400" dirty="0"/>
            </a:br>
            <a:r>
              <a:rPr lang="en-US" sz="2400" dirty="0"/>
              <a:t>Platforms like </a:t>
            </a:r>
            <a:r>
              <a:rPr lang="en-US" sz="2400" b="1" dirty="0"/>
              <a:t>Netflix and Amazon</a:t>
            </a:r>
            <a:r>
              <a:rPr lang="en-US" sz="2400" dirty="0"/>
              <a:t> suggest movies or products you may like.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✅ </a:t>
            </a:r>
            <a:r>
              <a:rPr lang="en-US" sz="2400" b="1" dirty="0"/>
              <a:t>Autonomous Systems:</a:t>
            </a:r>
            <a:br>
              <a:rPr lang="en-US" sz="2400" dirty="0"/>
            </a:br>
            <a:r>
              <a:rPr lang="en-US" sz="2400" dirty="0"/>
              <a:t>Self-driving cars, drones, and robotics.</a:t>
            </a:r>
          </a:p>
        </p:txBody>
      </p:sp>
    </p:spTree>
    <p:extLst>
      <p:ext uri="{BB962C8B-B14F-4D97-AF65-F5344CB8AC3E}">
        <p14:creationId xmlns:p14="http://schemas.microsoft.com/office/powerpoint/2010/main" val="428663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D9CCF-B4DC-8C89-E3C1-042AADAF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E9E5FDB9-1C37-04FF-8588-B9E0E8231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14DE6D9-9C52-3F3F-E057-2E2F2F2F1F99}"/>
              </a:ext>
            </a:extLst>
          </p:cNvPr>
          <p:cNvSpPr/>
          <p:nvPr/>
        </p:nvSpPr>
        <p:spPr>
          <a:xfrm>
            <a:off x="2875283" y="-106131"/>
            <a:ext cx="68490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Rise of Data-Driven AI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4D8408-5165-C48E-B6BA-1266A6D3DA23}"/>
              </a:ext>
            </a:extLst>
          </p:cNvPr>
          <p:cNvSpPr/>
          <p:nvPr/>
        </p:nvSpPr>
        <p:spPr>
          <a:xfrm>
            <a:off x="628135" y="685677"/>
            <a:ext cx="11407517" cy="3356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dirty="0"/>
              <a:t>🔷 </a:t>
            </a:r>
            <a:r>
              <a:rPr lang="en-US" sz="2400" b="1" dirty="0"/>
              <a:t>AI Today: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Observes:</a:t>
            </a:r>
            <a:r>
              <a:rPr lang="en-US" sz="2400" dirty="0"/>
              <a:t> Collects massive real-world data.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Learns:</a:t>
            </a:r>
            <a:r>
              <a:rPr lang="en-US" sz="2400" dirty="0"/>
              <a:t> Finds patterns and relationships in data.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Improves:</a:t>
            </a:r>
            <a:r>
              <a:rPr lang="en-US" sz="2400" dirty="0"/>
              <a:t> Continuously enhances its performance over time.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✅ This shift makes AI </a:t>
            </a:r>
            <a:r>
              <a:rPr lang="en-US" sz="2400" b="1" dirty="0"/>
              <a:t>more powerful, adaptable, and closer to human-like learning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0930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307289" y="381213"/>
            <a:ext cx="57586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656" y="1219469"/>
            <a:ext cx="1121264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000" dirty="0"/>
              <a:t>Machine Learning is a Subset of Artificial Intelligence, It is about the construction and study of systems that can learn from data. </a:t>
            </a:r>
          </a:p>
          <a:p>
            <a:pPr algn="just"/>
            <a:endParaRPr lang="en-US" sz="1600" dirty="0"/>
          </a:p>
          <a:p>
            <a:pPr algn="just"/>
            <a:r>
              <a:rPr lang="en-US" sz="3000" dirty="0"/>
              <a:t>Machine Learning can empower computers to learn and behave more intelligently.</a:t>
            </a:r>
          </a:p>
          <a:p>
            <a:pPr algn="just"/>
            <a:endParaRPr lang="en-US" sz="1600" dirty="0"/>
          </a:p>
          <a:p>
            <a:pPr algn="just"/>
            <a:r>
              <a:rPr lang="en-US" sz="3000" dirty="0"/>
              <a:t>Machine learning explore algorithms/build model, Learn from data, Use the model for prediction, decision making and Problem Solving. 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323468" y="4631959"/>
            <a:ext cx="7255240" cy="1484026"/>
            <a:chOff x="93389" y="1941416"/>
            <a:chExt cx="11831911" cy="4211617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9953E1F-B40B-6E19-7E48-D3D124F95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89" y="2736014"/>
              <a:ext cx="1245940" cy="213247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E0D9CC-2D13-7E13-876B-C3BB722A8197}"/>
                </a:ext>
              </a:extLst>
            </p:cNvPr>
            <p:cNvSpPr txBox="1"/>
            <p:nvPr/>
          </p:nvSpPr>
          <p:spPr>
            <a:xfrm>
              <a:off x="1571011" y="3370168"/>
              <a:ext cx="486413" cy="16595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200" b="1" i="0" u="none" strike="noStrike" baseline="0" dirty="0">
                  <a:solidFill>
                    <a:srgbClr val="000000"/>
                  </a:solidFill>
                  <a:latin typeface="Bookman Old Style" panose="02050604050505020204" pitchFamily="18" charset="0"/>
                </a:rPr>
                <a:t>+</a:t>
              </a:r>
              <a:endParaRPr lang="en-IN" sz="3200" dirty="0">
                <a:latin typeface="Bookman Old Style" panose="02050604050505020204" pitchFamily="18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1BA55E6-DBA6-AD0F-15D8-CACF4EB94764}"/>
                </a:ext>
              </a:extLst>
            </p:cNvPr>
            <p:cNvGrpSpPr/>
            <p:nvPr/>
          </p:nvGrpSpPr>
          <p:grpSpPr>
            <a:xfrm>
              <a:off x="2357580" y="1977326"/>
              <a:ext cx="1549831" cy="4042475"/>
              <a:chOff x="2374900" y="2134029"/>
              <a:chExt cx="1549831" cy="4042475"/>
            </a:xfrm>
          </p:grpSpPr>
          <p:sp>
            <p:nvSpPr>
              <p:cNvPr id="39" name="Rectangle: Rounded Corners 28">
                <a:extLst>
                  <a:ext uri="{FF2B5EF4-FFF2-40B4-BE49-F238E27FC236}">
                    <a16:creationId xmlns:a16="http://schemas.microsoft.com/office/drawing/2014/main" id="{A2FA6593-7F7C-4E43-8B6A-AFBC700D4E93}"/>
                  </a:ext>
                </a:extLst>
              </p:cNvPr>
              <p:cNvSpPr/>
              <p:nvPr/>
            </p:nvSpPr>
            <p:spPr>
              <a:xfrm>
                <a:off x="2374900" y="2134029"/>
                <a:ext cx="1549831" cy="4042475"/>
              </a:xfrm>
              <a:prstGeom prst="roundRect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63969807-4607-6EEC-2AED-B5DE5C7491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88671" y="2300636"/>
                <a:ext cx="1067502" cy="745412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5C05933D-8ADD-E885-D7A1-2BF70B61A5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88670" y="3269281"/>
                <a:ext cx="1071958" cy="673089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21BA2668-CF59-B0EF-C594-55DEFC164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688670" y="5219928"/>
                <a:ext cx="1071958" cy="691900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013122CA-DBDF-234D-5BCA-05A7065D4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693127" y="4064861"/>
                <a:ext cx="1067501" cy="922626"/>
              </a:xfrm>
              <a:prstGeom prst="rect">
                <a:avLst/>
              </a:prstGeom>
            </p:spPr>
          </p:pic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089BD38-0B0E-6837-2399-27A399701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33714" y="2947206"/>
              <a:ext cx="1815940" cy="181594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ABF400F-FF66-861D-7D38-2D7FB1250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09157" y="1941416"/>
              <a:ext cx="1389887" cy="13716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075270E-EEEF-BBDD-27F1-057234AE8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25057" y="3363002"/>
              <a:ext cx="1389887" cy="1389887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A584641-CF3C-8679-88DD-0C2D468CE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88866" y="4763146"/>
              <a:ext cx="1389887" cy="1389887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199A875-A3D4-C3E2-16BF-4BA9CA277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09193" y="2521741"/>
              <a:ext cx="1716107" cy="2449605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F447E0-743F-B8EE-CC9B-17DED2127823}"/>
                </a:ext>
              </a:extLst>
            </p:cNvPr>
            <p:cNvSpPr txBox="1"/>
            <p:nvPr/>
          </p:nvSpPr>
          <p:spPr>
            <a:xfrm>
              <a:off x="4168562" y="3428999"/>
              <a:ext cx="486413" cy="16595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200" b="1" i="0" u="none" strike="noStrike" baseline="0" dirty="0">
                  <a:solidFill>
                    <a:srgbClr val="000000"/>
                  </a:solidFill>
                  <a:latin typeface="Bookman Old Style" panose="02050604050505020204" pitchFamily="18" charset="0"/>
                </a:rPr>
                <a:t>+</a:t>
              </a:r>
              <a:endParaRPr lang="en-IN" sz="3200" dirty="0">
                <a:latin typeface="Bookman Old Style" panose="020506040505050202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7158C47-03BE-B526-582F-C8F98CC1438D}"/>
                </a:ext>
              </a:extLst>
            </p:cNvPr>
            <p:cNvSpPr txBox="1"/>
            <p:nvPr/>
          </p:nvSpPr>
          <p:spPr>
            <a:xfrm>
              <a:off x="7027162" y="3428999"/>
              <a:ext cx="486413" cy="16595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200" b="1" i="0" u="none" strike="noStrike" baseline="0" dirty="0">
                  <a:solidFill>
                    <a:srgbClr val="000000"/>
                  </a:solidFill>
                  <a:latin typeface="Bookman Old Style" panose="02050604050505020204" pitchFamily="18" charset="0"/>
                </a:rPr>
                <a:t>+</a:t>
              </a:r>
              <a:endParaRPr lang="en-IN" sz="3200" dirty="0">
                <a:latin typeface="Bookman Old Style" panose="020506040505050202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B9EEAA-F375-0AF2-66E1-D48B26B9FF18}"/>
                </a:ext>
              </a:extLst>
            </p:cNvPr>
            <p:cNvSpPr txBox="1"/>
            <p:nvPr/>
          </p:nvSpPr>
          <p:spPr>
            <a:xfrm>
              <a:off x="9511991" y="3428999"/>
              <a:ext cx="486413" cy="16595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200" b="1" i="0" u="none" strike="noStrike" baseline="0" dirty="0">
                  <a:solidFill>
                    <a:srgbClr val="000000"/>
                  </a:solidFill>
                  <a:latin typeface="Bookman Old Style" panose="02050604050505020204" pitchFamily="18" charset="0"/>
                </a:rPr>
                <a:t>=</a:t>
              </a:r>
              <a:endParaRPr lang="en-IN" sz="3200" dirty="0">
                <a:latin typeface="Bookman Old Style" panose="02050604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5B7F1-D466-846D-5560-47D315817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34872DA7-5CB3-AAB6-26C5-03B102A77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4ECB755-24A4-78CE-D2C9-64FEA1264C61}"/>
              </a:ext>
            </a:extLst>
          </p:cNvPr>
          <p:cNvSpPr/>
          <p:nvPr/>
        </p:nvSpPr>
        <p:spPr>
          <a:xfrm>
            <a:off x="3324706" y="63479"/>
            <a:ext cx="57586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MACHINE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724AE6-7760-4274-676E-19261599E5D2}"/>
              </a:ext>
            </a:extLst>
          </p:cNvPr>
          <p:cNvSpPr/>
          <p:nvPr/>
        </p:nvSpPr>
        <p:spPr>
          <a:xfrm>
            <a:off x="1198591" y="544039"/>
            <a:ext cx="11212642" cy="5575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Types of Machine Learning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Supervised Learning: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Learn from </a:t>
            </a:r>
            <a:r>
              <a:rPr lang="en-US" sz="2400" b="1" dirty="0"/>
              <a:t>labelled data</a:t>
            </a:r>
            <a:r>
              <a:rPr lang="en-US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Example: Predicting house prices based on area.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Unsupervised Learning: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Learn from </a:t>
            </a:r>
            <a:r>
              <a:rPr lang="en-US" sz="2400" b="1" dirty="0" err="1"/>
              <a:t>unlabelled</a:t>
            </a:r>
            <a:r>
              <a:rPr lang="en-US" sz="2400" b="1" dirty="0"/>
              <a:t> data</a:t>
            </a:r>
            <a:r>
              <a:rPr lang="en-US" sz="2400" dirty="0"/>
              <a:t>, finding hidden patterns.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Example: Customer segmentation in marketing.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Reinforcement Learning: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Learning by </a:t>
            </a:r>
            <a:r>
              <a:rPr lang="en-US" sz="2400" b="1" dirty="0"/>
              <a:t>trial and error</a:t>
            </a:r>
            <a:r>
              <a:rPr lang="en-US" sz="2400" dirty="0"/>
              <a:t> with rewards and punishments.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Example: Training robots or game-playing agents.</a:t>
            </a:r>
          </a:p>
        </p:txBody>
      </p:sp>
    </p:spTree>
    <p:extLst>
      <p:ext uri="{BB962C8B-B14F-4D97-AF65-F5344CB8AC3E}">
        <p14:creationId xmlns:p14="http://schemas.microsoft.com/office/powerpoint/2010/main" val="3609141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18A9-DFC0-7A4F-DC51-9CA4AB4BE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5B1E9DD0-7AC2-FA50-8E47-4D673B910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FC1E4F-F86D-2124-1AE2-41B41B56FAC1}"/>
              </a:ext>
            </a:extLst>
          </p:cNvPr>
          <p:cNvSpPr/>
          <p:nvPr/>
        </p:nvSpPr>
        <p:spPr>
          <a:xfrm>
            <a:off x="3324706" y="63479"/>
            <a:ext cx="57586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4000" b="1" cap="all" dirty="0">
                <a:solidFill>
                  <a:srgbClr val="C00000"/>
                </a:solidFill>
                <a:latin typeface="Gill Sans MT"/>
              </a:rPr>
              <a:t>MACHINE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24964D-50B3-F4C3-2A2E-93B4B91F7DB8}"/>
              </a:ext>
            </a:extLst>
          </p:cNvPr>
          <p:cNvSpPr/>
          <p:nvPr/>
        </p:nvSpPr>
        <p:spPr>
          <a:xfrm>
            <a:off x="1928872" y="1467148"/>
            <a:ext cx="11212642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Steps in a Machine Learning Process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Problem definition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Data collection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Data preprocessing &amp; cleaning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Model selection and training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Model evaluation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1972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809050" y="336243"/>
            <a:ext cx="98330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b="1" cap="all" dirty="0">
                <a:solidFill>
                  <a:srgbClr val="C00000"/>
                </a:solidFill>
                <a:latin typeface="Gill Sans MT"/>
              </a:rPr>
              <a:t>Reference books and web links</a:t>
            </a:r>
            <a:endParaRPr lang="en-IN" sz="4000" b="1" cap="all" dirty="0">
              <a:solidFill>
                <a:srgbClr val="C00000"/>
              </a:solidFill>
              <a:latin typeface="Gill Sans M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9661" y="3078558"/>
            <a:ext cx="107376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</a:rPr>
              <a:t>Web links: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3"/>
              </a:rPr>
              <a:t>https://www.geeksforgeeks.org/agents-artificial-intelligence/</a:t>
            </a:r>
            <a:endParaRPr lang="en-IN" sz="2400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https://www.simplilearn.com/what-is-intelligent-agent-in-ai-types-function-article</a:t>
            </a:r>
            <a:endParaRPr lang="en-IN" sz="2400" b="1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https://www.javatpoint.com/turing-test-in-ai</a:t>
            </a:r>
            <a:endParaRPr lang="en-IN" sz="2400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https://www.geeksforgeeks.org/turing-test-artificial-intelligence/</a:t>
            </a:r>
            <a:endParaRPr lang="en-IN" sz="2400" dirty="0"/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https://www.section.io/engineering-education/turing-test-in-ai/</a:t>
            </a:r>
            <a:endParaRPr lang="en-IN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832108" y="1505195"/>
            <a:ext cx="1097279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70C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Text Books: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Russel</a:t>
            </a:r>
            <a:r>
              <a:rPr lang="en-US" dirty="0">
                <a:latin typeface="Arial" pitchFamily="34" charset="0"/>
                <a:ea typeface="Times New Roman" pitchFamily="18" charset="0"/>
                <a:cs typeface="Arial" pitchFamily="34" charset="0"/>
              </a:rPr>
              <a:t> and </a:t>
            </a:r>
            <a:r>
              <a:rPr lang="en-US" dirty="0" err="1">
                <a:latin typeface="Arial" pitchFamily="34" charset="0"/>
                <a:ea typeface="Times New Roman" pitchFamily="18" charset="0"/>
                <a:cs typeface="Arial" pitchFamily="34" charset="0"/>
              </a:rPr>
              <a:t>Norvig</a:t>
            </a:r>
            <a:r>
              <a:rPr lang="en-US" dirty="0">
                <a:latin typeface="Arial" pitchFamily="34" charset="0"/>
                <a:ea typeface="Times New Roman" pitchFamily="18" charset="0"/>
                <a:cs typeface="Arial" pitchFamily="34" charset="0"/>
              </a:rPr>
              <a:t>, ‘Artificial Intelligence’, third edition, Pearson Education, PHI, (2015)</a:t>
            </a:r>
            <a:endParaRPr lang="en-US" sz="1100" dirty="0">
              <a:latin typeface="Arial" pitchFamily="34" charset="0"/>
              <a:cs typeface="Arial" pitchFamily="34" charset="0"/>
            </a:endParaRP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en-US" dirty="0">
                <a:latin typeface="Arial" pitchFamily="34" charset="0"/>
                <a:ea typeface="Times New Roman" pitchFamily="18" charset="0"/>
                <a:cs typeface="Arial" pitchFamily="34" charset="0"/>
              </a:rPr>
              <a:t>Elaine Rich &amp; Kevin Knight, ‘Artificial Intelligence’, 3nd Edition, Tata McGraw Hill Edition, Reprint (2008)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369</TotalTime>
  <Words>910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Bookman Old Style</vt:lpstr>
      <vt:lpstr>Calibri</vt:lpstr>
      <vt:lpstr>Calibri Light</vt:lpstr>
      <vt:lpstr>Gill Sans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 Manika Prasuna</dc:creator>
  <cp:lastModifiedBy>P Manika Prasuna</cp:lastModifiedBy>
  <cp:revision>37</cp:revision>
  <dcterms:created xsi:type="dcterms:W3CDTF">2025-05-12T05:57:37Z</dcterms:created>
  <dcterms:modified xsi:type="dcterms:W3CDTF">2025-08-18T05:14:40Z</dcterms:modified>
</cp:coreProperties>
</file>