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73" r:id="rId5"/>
    <p:sldId id="256" r:id="rId6"/>
    <p:sldId id="257" r:id="rId7"/>
    <p:sldId id="266" r:id="rId8"/>
    <p:sldId id="267" r:id="rId9"/>
    <p:sldId id="268" r:id="rId10"/>
    <p:sldId id="269" r:id="rId11"/>
    <p:sldId id="270" r:id="rId12"/>
    <p:sldId id="271" r:id="rId13"/>
    <p:sldId id="258" r:id="rId14"/>
    <p:sldId id="259" r:id="rId15"/>
    <p:sldId id="260" r:id="rId16"/>
    <p:sldId id="261" r:id="rId17"/>
    <p:sldId id="262" r:id="rId18"/>
    <p:sldId id="265" r:id="rId19"/>
    <p:sldId id="263" r:id="rId20"/>
    <p:sldId id="272" r:id="rId21"/>
    <p:sldId id="264"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3" d="100"/>
          <a:sy n="73" d="100"/>
        </p:scale>
        <p:origin x="3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57C15825-9754-4D96-B9E4-69293BA02ACF}"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DAE03D-B92F-478D-B010-0912797838E2}" type="slidenum">
              <a:rPr lang="en-US" smtClean="0"/>
              <a:t>‹#›</a:t>
            </a:fld>
            <a:endParaRPr lang="en-US"/>
          </a:p>
        </p:txBody>
      </p:sp>
    </p:spTree>
    <p:extLst>
      <p:ext uri="{BB962C8B-B14F-4D97-AF65-F5344CB8AC3E}">
        <p14:creationId xmlns:p14="http://schemas.microsoft.com/office/powerpoint/2010/main" val="162023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C15825-9754-4D96-B9E4-69293BA02ACF}"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DAE03D-B92F-478D-B010-0912797838E2}" type="slidenum">
              <a:rPr lang="en-US" smtClean="0"/>
              <a:t>‹#›</a:t>
            </a:fld>
            <a:endParaRPr lang="en-US"/>
          </a:p>
        </p:txBody>
      </p:sp>
    </p:spTree>
    <p:extLst>
      <p:ext uri="{BB962C8B-B14F-4D97-AF65-F5344CB8AC3E}">
        <p14:creationId xmlns:p14="http://schemas.microsoft.com/office/powerpoint/2010/main" val="41966148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C15825-9754-4D96-B9E4-69293BA02ACF}"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DAE03D-B92F-478D-B010-0912797838E2}" type="slidenum">
              <a:rPr lang="en-US" smtClean="0"/>
              <a:t>‹#›</a:t>
            </a:fld>
            <a:endParaRPr lang="en-US"/>
          </a:p>
        </p:txBody>
      </p:sp>
    </p:spTree>
    <p:extLst>
      <p:ext uri="{BB962C8B-B14F-4D97-AF65-F5344CB8AC3E}">
        <p14:creationId xmlns:p14="http://schemas.microsoft.com/office/powerpoint/2010/main" val="27682592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C15825-9754-4D96-B9E4-69293BA02ACF}"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DAE03D-B92F-478D-B010-0912797838E2}" type="slidenum">
              <a:rPr lang="en-US" smtClean="0"/>
              <a:t>‹#›</a:t>
            </a:fld>
            <a:endParaRPr lang="en-US"/>
          </a:p>
        </p:txBody>
      </p:sp>
    </p:spTree>
    <p:extLst>
      <p:ext uri="{BB962C8B-B14F-4D97-AF65-F5344CB8AC3E}">
        <p14:creationId xmlns:p14="http://schemas.microsoft.com/office/powerpoint/2010/main" val="18506603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C15825-9754-4D96-B9E4-69293BA02ACF}" type="datetimeFigureOut">
              <a:rPr lang="en-US" smtClean="0"/>
              <a:t>8/18/2025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DAE03D-B92F-478D-B010-0912797838E2}" type="slidenum">
              <a:rPr lang="en-US" smtClean="0"/>
              <a:t>‹#›</a:t>
            </a:fld>
            <a:endParaRPr lang="en-US"/>
          </a:p>
        </p:txBody>
      </p:sp>
    </p:spTree>
    <p:extLst>
      <p:ext uri="{BB962C8B-B14F-4D97-AF65-F5344CB8AC3E}">
        <p14:creationId xmlns:p14="http://schemas.microsoft.com/office/powerpoint/2010/main" val="2192209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7C15825-9754-4D96-B9E4-69293BA02ACF}" type="datetimeFigureOut">
              <a:rPr lang="en-US" smtClean="0"/>
              <a:t>8/18/2025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DAE03D-B92F-478D-B010-0912797838E2}" type="slidenum">
              <a:rPr lang="en-US" smtClean="0"/>
              <a:t>‹#›</a:t>
            </a:fld>
            <a:endParaRPr lang="en-US"/>
          </a:p>
        </p:txBody>
      </p:sp>
    </p:spTree>
    <p:extLst>
      <p:ext uri="{BB962C8B-B14F-4D97-AF65-F5344CB8AC3E}">
        <p14:creationId xmlns:p14="http://schemas.microsoft.com/office/powerpoint/2010/main" val="16608055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C15825-9754-4D96-B9E4-69293BA02ACF}" type="datetimeFigureOut">
              <a:rPr lang="en-US" smtClean="0"/>
              <a:t>8/18/2025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DAE03D-B92F-478D-B010-0912797838E2}" type="slidenum">
              <a:rPr lang="en-US" smtClean="0"/>
              <a:t>‹#›</a:t>
            </a:fld>
            <a:endParaRPr lang="en-US"/>
          </a:p>
        </p:txBody>
      </p:sp>
    </p:spTree>
    <p:extLst>
      <p:ext uri="{BB962C8B-B14F-4D97-AF65-F5344CB8AC3E}">
        <p14:creationId xmlns:p14="http://schemas.microsoft.com/office/powerpoint/2010/main" val="1172312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C15825-9754-4D96-B9E4-69293BA02ACF}"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DAE03D-B92F-478D-B010-0912797838E2}" type="slidenum">
              <a:rPr lang="en-US" smtClean="0"/>
              <a:t>‹#›</a:t>
            </a:fld>
            <a:endParaRPr lang="en-US"/>
          </a:p>
        </p:txBody>
      </p:sp>
    </p:spTree>
    <p:extLst>
      <p:ext uri="{BB962C8B-B14F-4D97-AF65-F5344CB8AC3E}">
        <p14:creationId xmlns:p14="http://schemas.microsoft.com/office/powerpoint/2010/main" val="36936494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C15825-9754-4D96-B9E4-69293BA02ACF}" type="datetimeFigureOut">
              <a:rPr lang="en-US" smtClean="0"/>
              <a:t>8/18/2025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DAE03D-B92F-478D-B010-0912797838E2}" type="slidenum">
              <a:rPr lang="en-US" smtClean="0"/>
              <a:t>‹#›</a:t>
            </a:fld>
            <a:endParaRPr lang="en-US"/>
          </a:p>
        </p:txBody>
      </p:sp>
    </p:spTree>
    <p:extLst>
      <p:ext uri="{BB962C8B-B14F-4D97-AF65-F5344CB8AC3E}">
        <p14:creationId xmlns:p14="http://schemas.microsoft.com/office/powerpoint/2010/main" val="683328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C15825-9754-4D96-B9E4-69293BA02ACF}"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DAE03D-B92F-478D-B010-0912797838E2}" type="slidenum">
              <a:rPr lang="en-US" smtClean="0"/>
              <a:t>‹#›</a:t>
            </a:fld>
            <a:endParaRPr lang="en-US"/>
          </a:p>
        </p:txBody>
      </p:sp>
    </p:spTree>
    <p:extLst>
      <p:ext uri="{BB962C8B-B14F-4D97-AF65-F5344CB8AC3E}">
        <p14:creationId xmlns:p14="http://schemas.microsoft.com/office/powerpoint/2010/main" val="26023553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7C15825-9754-4D96-B9E4-69293BA02ACF}" type="datetimeFigureOut">
              <a:rPr lang="en-US" smtClean="0"/>
              <a:t>8/18/2025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DAE03D-B92F-478D-B010-0912797838E2}" type="slidenum">
              <a:rPr lang="en-US" smtClean="0"/>
              <a:t>‹#›</a:t>
            </a:fld>
            <a:endParaRPr lang="en-US"/>
          </a:p>
        </p:txBody>
      </p:sp>
    </p:spTree>
    <p:extLst>
      <p:ext uri="{BB962C8B-B14F-4D97-AF65-F5344CB8AC3E}">
        <p14:creationId xmlns:p14="http://schemas.microsoft.com/office/powerpoint/2010/main" val="1681653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C15825-9754-4D96-B9E4-69293BA02ACF}" type="datetimeFigureOut">
              <a:rPr lang="en-US" smtClean="0"/>
              <a:t>8/18/2025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DAE03D-B92F-478D-B010-0912797838E2}" type="slidenum">
              <a:rPr lang="en-US" smtClean="0"/>
              <a:t>‹#›</a:t>
            </a:fld>
            <a:endParaRPr lang="en-US"/>
          </a:p>
        </p:txBody>
      </p:sp>
    </p:spTree>
    <p:extLst>
      <p:ext uri="{BB962C8B-B14F-4D97-AF65-F5344CB8AC3E}">
        <p14:creationId xmlns:p14="http://schemas.microsoft.com/office/powerpoint/2010/main" val="2039894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KL University - Wikipedia">
            <a:extLst>
              <a:ext uri="{FF2B5EF4-FFF2-40B4-BE49-F238E27FC236}">
                <a16:creationId xmlns:a16="http://schemas.microsoft.com/office/drawing/2014/main" id="{C7BC2855-62DF-7C68-2680-6F1BDACC9B4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348" y="109267"/>
            <a:ext cx="1772524" cy="71804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E3F2F65-8282-9C7E-CEBC-B3FCF09DF9DC}"/>
              </a:ext>
            </a:extLst>
          </p:cNvPr>
          <p:cNvSpPr txBox="1"/>
          <p:nvPr/>
        </p:nvSpPr>
        <p:spPr>
          <a:xfrm>
            <a:off x="1267097" y="1288145"/>
            <a:ext cx="9657806" cy="1938992"/>
          </a:xfrm>
          <a:prstGeom prst="rect">
            <a:avLst/>
          </a:prstGeom>
          <a:noFill/>
        </p:spPr>
        <p:txBody>
          <a:bodyPr wrap="square">
            <a:spAutoFit/>
          </a:bodyPr>
          <a:lstStyle/>
          <a:p>
            <a:pPr algn="ct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ARTIFICIAL INTELLIGENCE </a:t>
            </a:r>
            <a:b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b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&amp; </a:t>
            </a:r>
            <a:b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br>
            <a:r>
              <a:rPr kumimoji="0" lang="en-US" sz="4000" b="1" i="0" u="none" strike="noStrike" kern="1200" cap="all" spc="0" normalizeH="0" baseline="0" noProof="0" dirty="0">
                <a:ln>
                  <a:noFill/>
                </a:ln>
                <a:solidFill>
                  <a:schemeClr val="accent2">
                    <a:lumMod val="50000"/>
                  </a:schemeClr>
                </a:solidFill>
                <a:effectLst/>
                <a:uLnTx/>
                <a:uFillTx/>
                <a:latin typeface="Gill Sans MT"/>
                <a:ea typeface="+mj-ea"/>
                <a:cs typeface="+mj-cs"/>
              </a:rPr>
              <a:t>MACHINE LEARNING</a:t>
            </a:r>
            <a:endParaRPr lang="en-IN" sz="4000" dirty="0">
              <a:solidFill>
                <a:schemeClr val="accent2">
                  <a:lumMod val="50000"/>
                </a:schemeClr>
              </a:solidFill>
            </a:endParaRPr>
          </a:p>
        </p:txBody>
      </p:sp>
      <p:sp>
        <p:nvSpPr>
          <p:cNvPr id="2" name="TextBox 1">
            <a:extLst>
              <a:ext uri="{FF2B5EF4-FFF2-40B4-BE49-F238E27FC236}">
                <a16:creationId xmlns:a16="http://schemas.microsoft.com/office/drawing/2014/main" id="{12010671-249C-340E-19B5-2BA72FEB1F0C}"/>
              </a:ext>
            </a:extLst>
          </p:cNvPr>
          <p:cNvSpPr txBox="1"/>
          <p:nvPr/>
        </p:nvSpPr>
        <p:spPr>
          <a:xfrm>
            <a:off x="1267097" y="3566772"/>
            <a:ext cx="9657806" cy="553998"/>
          </a:xfrm>
          <a:prstGeom prst="rect">
            <a:avLst/>
          </a:prstGeom>
          <a:noFill/>
        </p:spPr>
        <p:txBody>
          <a:bodyPr wrap="square">
            <a:spAutoFit/>
          </a:bodyPr>
          <a:lstStyle/>
          <a:p>
            <a:pPr algn="ctr"/>
            <a:r>
              <a:rPr kumimoji="0" lang="en-US" sz="3000" b="1" i="0" u="none" strike="noStrike" kern="1200" cap="all" spc="0" normalizeH="0" baseline="0" noProof="0" dirty="0">
                <a:ln>
                  <a:noFill/>
                </a:ln>
                <a:effectLst/>
                <a:uLnTx/>
                <a:uFillTx/>
                <a:latin typeface="Gill Sans MT"/>
                <a:ea typeface="+mj-ea"/>
                <a:cs typeface="+mj-cs"/>
              </a:rPr>
              <a:t>SESSION NO :</a:t>
            </a:r>
            <a:r>
              <a:rPr lang="en-US" sz="3000" b="1" cap="all" dirty="0">
                <a:latin typeface="Times New Roman" pitchFamily="18" charset="0"/>
                <a:cs typeface="Times New Roman" pitchFamily="18" charset="0"/>
              </a:rPr>
              <a:t> 6</a:t>
            </a:r>
            <a:endParaRPr lang="en-IN" sz="3000" dirty="0"/>
          </a:p>
        </p:txBody>
      </p:sp>
      <p:sp>
        <p:nvSpPr>
          <p:cNvPr id="6" name="Rectangle 5"/>
          <p:cNvSpPr/>
          <p:nvPr/>
        </p:nvSpPr>
        <p:spPr>
          <a:xfrm>
            <a:off x="1618938" y="4406391"/>
            <a:ext cx="10088380" cy="646331"/>
          </a:xfrm>
          <a:prstGeom prst="rect">
            <a:avLst/>
          </a:prstGeom>
        </p:spPr>
        <p:txBody>
          <a:bodyPr wrap="square">
            <a:spAutoFit/>
          </a:bodyPr>
          <a:lstStyle/>
          <a:p>
            <a:pPr algn="ctr"/>
            <a:r>
              <a:rPr lang="en-US" b="1" cap="all" dirty="0">
                <a:latin typeface="Gill Sans MT"/>
              </a:rPr>
              <a:t> Classical Search – Uninformed Search (Part 2)</a:t>
            </a:r>
          </a:p>
          <a:p>
            <a:pPr algn="ctr"/>
            <a:r>
              <a:rPr lang="en-US" b="1" cap="all" dirty="0">
                <a:latin typeface="Gill Sans MT"/>
              </a:rPr>
              <a:t>UCS, </a:t>
            </a:r>
            <a:r>
              <a:rPr lang="en-US" b="1" cap="all" dirty="0" err="1">
                <a:latin typeface="Gill Sans MT"/>
              </a:rPr>
              <a:t>IDS,Bidirectional</a:t>
            </a:r>
            <a:r>
              <a:rPr lang="en-US" b="1" cap="all" dirty="0">
                <a:latin typeface="Gill Sans MT"/>
              </a:rPr>
              <a:t> </a:t>
            </a:r>
            <a:r>
              <a:rPr lang="en-US" b="1" cap="all" dirty="0" err="1">
                <a:latin typeface="Gill Sans MT"/>
              </a:rPr>
              <a:t>Serach</a:t>
            </a:r>
            <a:endParaRPr lang="en-US" b="1" cap="all" dirty="0">
              <a:latin typeface="Gill Sans MT"/>
            </a:endParaRPr>
          </a:p>
        </p:txBody>
      </p:sp>
    </p:spTree>
    <p:extLst>
      <p:ext uri="{BB962C8B-B14F-4D97-AF65-F5344CB8AC3E}">
        <p14:creationId xmlns:p14="http://schemas.microsoft.com/office/powerpoint/2010/main" val="3988170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996287" y="147234"/>
            <a:ext cx="11003593" cy="6458281"/>
          </a:xfrm>
        </p:spPr>
        <p:txBody>
          <a:bodyPr/>
          <a:lstStyle/>
          <a:p>
            <a:r>
              <a:rPr lang="en-US" sz="3200" b="1" dirty="0"/>
              <a:t>Uniform-Cost Search (UCS)</a:t>
            </a:r>
          </a:p>
          <a:p>
            <a:pPr marL="342900" indent="-342900" algn="just">
              <a:buFont typeface="Arial" panose="020B0604020202020204" pitchFamily="34" charset="0"/>
              <a:buChar char="•"/>
            </a:pPr>
            <a:r>
              <a:rPr lang="en-US" sz="2200" dirty="0"/>
              <a:t>Uniform-Cost Search (UCS) extends </a:t>
            </a:r>
            <a:r>
              <a:rPr lang="en-US" sz="2200" b="1" dirty="0"/>
              <a:t>Breadth-First Search </a:t>
            </a:r>
            <a:r>
              <a:rPr lang="en-US" sz="2200" dirty="0"/>
              <a:t>(BFS) by considering path costs, always expanding the least-cost node first. </a:t>
            </a:r>
          </a:p>
          <a:p>
            <a:pPr marL="342900" indent="-342900" algn="just">
              <a:buFont typeface="Arial" panose="020B0604020202020204" pitchFamily="34" charset="0"/>
              <a:buChar char="•"/>
            </a:pPr>
            <a:r>
              <a:rPr lang="en-US" sz="2200" dirty="0"/>
              <a:t>It guarantees finding the </a:t>
            </a:r>
            <a:r>
              <a:rPr lang="en-US" sz="2200" b="1" dirty="0"/>
              <a:t>optimal path </a:t>
            </a:r>
            <a:r>
              <a:rPr lang="en-US" sz="2200" dirty="0"/>
              <a:t>when all costs are non-negative.</a:t>
            </a:r>
          </a:p>
          <a:p>
            <a:pPr algn="just"/>
            <a:r>
              <a:rPr lang="en-US" sz="2200" b="1" dirty="0"/>
              <a:t>Key Features:</a:t>
            </a:r>
          </a:p>
          <a:p>
            <a:pPr marL="342900" indent="-342900" algn="just">
              <a:buFont typeface="Arial" panose="020B0604020202020204" pitchFamily="34" charset="0"/>
              <a:buChar char="•"/>
            </a:pPr>
            <a:r>
              <a:rPr lang="en-US" sz="2200" dirty="0"/>
              <a:t>Finds the least-cost path.</a:t>
            </a:r>
          </a:p>
          <a:p>
            <a:pPr marL="342900" indent="-342900" algn="just">
              <a:buFont typeface="Arial" panose="020B0604020202020204" pitchFamily="34" charset="0"/>
              <a:buChar char="•"/>
            </a:pPr>
            <a:r>
              <a:rPr lang="en-US" sz="2200" dirty="0"/>
              <a:t>Slower than Breadth-First Search (BFS) in uniform cost cases.</a:t>
            </a:r>
          </a:p>
          <a:p>
            <a:pPr marL="342900" indent="-342900" algn="just">
              <a:buFont typeface="Arial" panose="020B0604020202020204" pitchFamily="34" charset="0"/>
              <a:buChar char="•"/>
            </a:pPr>
            <a:r>
              <a:rPr lang="en-US" sz="2200" i="1" dirty="0"/>
              <a:t>Path from A to D : ['A', 'B', 'D']</a:t>
            </a:r>
            <a:endParaRPr lang="en-US" sz="2200" dirty="0"/>
          </a:p>
          <a:p>
            <a:endParaRPr lang="en-US" dirty="0"/>
          </a:p>
        </p:txBody>
      </p:sp>
      <p:pic>
        <p:nvPicPr>
          <p:cNvPr id="2050" name="Picture 2" descr="download-(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34771" y="3487000"/>
            <a:ext cx="7820498" cy="31185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69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28299" y="351691"/>
            <a:ext cx="10471331" cy="6090051"/>
          </a:xfrm>
        </p:spPr>
        <p:txBody>
          <a:bodyPr>
            <a:normAutofit lnSpcReduction="10000"/>
          </a:bodyPr>
          <a:lstStyle/>
          <a:p>
            <a:pPr marL="342900" indent="-342900" algn="just">
              <a:buFont typeface="Arial" panose="020B0604020202020204" pitchFamily="34" charset="0"/>
              <a:buChar char="•"/>
            </a:pPr>
            <a:r>
              <a:rPr lang="en-US" dirty="0"/>
              <a:t>Uniform-Cost Search (UCS) is a graph traversal algorithm used in path finding and artificial intelligence. </a:t>
            </a:r>
          </a:p>
          <a:p>
            <a:pPr marL="342900" indent="-342900" algn="just">
              <a:buFont typeface="Arial" panose="020B0604020202020204" pitchFamily="34" charset="0"/>
              <a:buChar char="•"/>
            </a:pPr>
            <a:r>
              <a:rPr lang="en-US" dirty="0"/>
              <a:t>It is an uninformed (or blind) search strategy, meaning it does not use any </a:t>
            </a:r>
            <a:r>
              <a:rPr lang="en-US" b="1" dirty="0"/>
              <a:t>domain-specific knowledge or heuristics</a:t>
            </a:r>
            <a:r>
              <a:rPr lang="en-US" dirty="0"/>
              <a:t>.</a:t>
            </a:r>
          </a:p>
          <a:p>
            <a:pPr marL="342900" indent="-342900" algn="just">
              <a:buFont typeface="Arial" panose="020B0604020202020204" pitchFamily="34" charset="0"/>
              <a:buChar char="•"/>
            </a:pPr>
            <a:r>
              <a:rPr lang="en-US" dirty="0"/>
              <a:t>It's a special case of </a:t>
            </a:r>
            <a:r>
              <a:rPr lang="en-US" b="1" dirty="0" err="1"/>
              <a:t>Dijkstra’s</a:t>
            </a:r>
            <a:r>
              <a:rPr lang="en-US" b="1" dirty="0"/>
              <a:t> Algorithm </a:t>
            </a:r>
            <a:r>
              <a:rPr lang="en-US" dirty="0"/>
              <a:t>when applied to search problems. </a:t>
            </a:r>
          </a:p>
          <a:p>
            <a:pPr algn="l"/>
            <a:r>
              <a:rPr lang="en-US" b="1" dirty="0"/>
              <a:t>Algorithm Steps</a:t>
            </a:r>
          </a:p>
          <a:p>
            <a:pPr algn="l">
              <a:buFont typeface="+mj-lt"/>
              <a:buAutoNum type="arabicPeriod"/>
            </a:pPr>
            <a:r>
              <a:rPr lang="en-US" dirty="0"/>
              <a:t>Start from the initial node and put it into a priority queue with cost 0.</a:t>
            </a:r>
          </a:p>
          <a:p>
            <a:pPr algn="l">
              <a:buFont typeface="+mj-lt"/>
              <a:buAutoNum type="arabicPeriod"/>
            </a:pPr>
            <a:r>
              <a:rPr lang="en-US" dirty="0"/>
              <a:t>While the queue is not empty:</a:t>
            </a:r>
          </a:p>
          <a:p>
            <a:pPr marL="742950" lvl="1" indent="-285750" algn="l">
              <a:buFont typeface="+mj-lt"/>
              <a:buAutoNum type="arabicPeriod"/>
            </a:pPr>
            <a:r>
              <a:rPr lang="en-US" sz="2400" dirty="0"/>
              <a:t>Remove the node with the lowest path cost.</a:t>
            </a:r>
          </a:p>
          <a:p>
            <a:pPr marL="742950" lvl="1" indent="-285750" algn="l">
              <a:buFont typeface="+mj-lt"/>
              <a:buAutoNum type="arabicPeriod"/>
            </a:pPr>
            <a:r>
              <a:rPr lang="en-US" sz="2400" dirty="0"/>
              <a:t>If this node is the goal, return the path.</a:t>
            </a:r>
          </a:p>
          <a:p>
            <a:pPr marL="742950" lvl="1" indent="-285750" algn="l">
              <a:buFont typeface="+mj-lt"/>
              <a:buAutoNum type="arabicPeriod"/>
            </a:pPr>
            <a:r>
              <a:rPr lang="en-US" sz="2400" dirty="0"/>
              <a:t>Otherwise, expand the node:</a:t>
            </a:r>
          </a:p>
          <a:p>
            <a:pPr marL="1143000" lvl="2" indent="-228600" algn="l">
              <a:buFont typeface="+mj-lt"/>
              <a:buAutoNum type="arabicPeriod"/>
            </a:pPr>
            <a:r>
              <a:rPr lang="en-US" sz="2400" dirty="0"/>
              <a:t>For each successor, calculate the path cost.</a:t>
            </a:r>
          </a:p>
          <a:p>
            <a:pPr marL="1143000" lvl="2" indent="-228600" algn="l">
              <a:buFont typeface="+mj-lt"/>
              <a:buAutoNum type="arabicPeriod"/>
            </a:pPr>
            <a:r>
              <a:rPr lang="en-US" sz="2400" dirty="0"/>
              <a:t>If the node is new or has a lower cost than previously found, add it to the queue.</a:t>
            </a:r>
          </a:p>
          <a:p>
            <a:pPr algn="l">
              <a:buFont typeface="+mj-lt"/>
              <a:buAutoNum type="arabicPeriod"/>
            </a:pPr>
            <a:r>
              <a:rPr lang="en-US" dirty="0"/>
              <a:t>If the queue is empty and the goal wasn't found, no solution exists.</a:t>
            </a:r>
          </a:p>
          <a:p>
            <a:pPr marL="342900" indent="-342900" algn="just">
              <a:buFont typeface="Arial" panose="020B0604020202020204" pitchFamily="34" charset="0"/>
              <a:buChar char="•"/>
            </a:pPr>
            <a:endParaRPr lang="en-US" dirty="0"/>
          </a:p>
        </p:txBody>
      </p:sp>
    </p:spTree>
    <p:extLst>
      <p:ext uri="{BB962C8B-B14F-4D97-AF65-F5344CB8AC3E}">
        <p14:creationId xmlns:p14="http://schemas.microsoft.com/office/powerpoint/2010/main" val="4228325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niform Cost Search (UCS) in AI - GeeksforGeek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2323" y="531836"/>
            <a:ext cx="8502556" cy="55768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76209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41445"/>
            <a:ext cx="10515600" cy="5535518"/>
          </a:xfrm>
        </p:spPr>
        <p:txBody>
          <a:bodyPr/>
          <a:lstStyle/>
          <a:p>
            <a:r>
              <a:rPr lang="en-US" dirty="0"/>
              <a:t>Graph Representation</a:t>
            </a:r>
          </a:p>
          <a:p>
            <a:pPr marL="0" indent="0">
              <a:buNone/>
            </a:pPr>
            <a:r>
              <a:rPr lang="en-US" dirty="0"/>
              <a:t>graph = {</a:t>
            </a:r>
          </a:p>
          <a:p>
            <a:pPr marL="0" indent="0">
              <a:buNone/>
            </a:pPr>
            <a:r>
              <a:rPr lang="en-US" dirty="0"/>
              <a:t>    'A': [('B', 1), ('C', 4)],</a:t>
            </a:r>
          </a:p>
          <a:p>
            <a:pPr marL="0" indent="0">
              <a:buNone/>
            </a:pPr>
            <a:r>
              <a:rPr lang="en-US" dirty="0"/>
              <a:t>    'B': [('D', 1), ('E', 3)],</a:t>
            </a:r>
          </a:p>
          <a:p>
            <a:pPr marL="0" indent="0">
              <a:buNone/>
            </a:pPr>
            <a:r>
              <a:rPr lang="en-US" dirty="0"/>
              <a:t>    'C': [('F', 5)],</a:t>
            </a:r>
          </a:p>
          <a:p>
            <a:pPr marL="0" indent="0">
              <a:buNone/>
            </a:pPr>
            <a:r>
              <a:rPr lang="en-US" dirty="0"/>
              <a:t>    'D': [('G', 2)],</a:t>
            </a:r>
          </a:p>
          <a:p>
            <a:pPr marL="0" indent="0">
              <a:buNone/>
            </a:pPr>
            <a:r>
              <a:rPr lang="en-US" dirty="0"/>
              <a:t>    'E': [('G', 1)],</a:t>
            </a:r>
          </a:p>
          <a:p>
            <a:pPr marL="0" indent="0">
              <a:buNone/>
            </a:pPr>
            <a:r>
              <a:rPr lang="en-US" dirty="0"/>
              <a:t>    'F': [('G', 2)],</a:t>
            </a:r>
          </a:p>
          <a:p>
            <a:pPr marL="0" indent="0">
              <a:buNone/>
            </a:pPr>
            <a:r>
              <a:rPr lang="en-US" dirty="0"/>
              <a:t>    'G': []</a:t>
            </a:r>
          </a:p>
          <a:p>
            <a:pPr marL="0" indent="0">
              <a:buNone/>
            </a:pPr>
            <a:r>
              <a:rPr lang="en-US" dirty="0"/>
              <a:t>}</a:t>
            </a:r>
          </a:p>
        </p:txBody>
      </p:sp>
    </p:spTree>
    <p:extLst>
      <p:ext uri="{BB962C8B-B14F-4D97-AF65-F5344CB8AC3E}">
        <p14:creationId xmlns:p14="http://schemas.microsoft.com/office/powerpoint/2010/main" val="2376035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4149"/>
            <a:ext cx="10515600" cy="5158854"/>
          </a:xfrm>
        </p:spPr>
        <p:txBody>
          <a:bodyPr/>
          <a:lstStyle/>
          <a:p>
            <a:pPr marL="0" indent="0" algn="just">
              <a:buNone/>
            </a:pPr>
            <a:r>
              <a:rPr lang="en-US" dirty="0"/>
              <a:t>1. </a:t>
            </a:r>
            <a:r>
              <a:rPr lang="en-US" b="1" dirty="0"/>
              <a:t>Initialization:</a:t>
            </a:r>
          </a:p>
          <a:p>
            <a:pPr algn="just"/>
            <a:r>
              <a:rPr lang="en-US" dirty="0"/>
              <a:t>Create a priority queue (frontier) and add the start node 'A' with a cost of 0.</a:t>
            </a:r>
          </a:p>
          <a:p>
            <a:pPr algn="just"/>
            <a:r>
              <a:rPr lang="en-US" dirty="0"/>
              <a:t>Initialize a visited dictionary to keep track of the shortest path to each node.</a:t>
            </a:r>
          </a:p>
          <a:p>
            <a:pPr marL="0" indent="0" algn="just">
              <a:buNone/>
            </a:pPr>
            <a:endParaRPr lang="en-US" dirty="0"/>
          </a:p>
          <a:p>
            <a:pPr marL="0" indent="0" algn="just">
              <a:buNone/>
            </a:pPr>
            <a:r>
              <a:rPr lang="en-US" dirty="0"/>
              <a:t>2. </a:t>
            </a:r>
            <a:r>
              <a:rPr lang="en-US" b="1" dirty="0"/>
              <a:t>Expansion and Exploration: </a:t>
            </a:r>
            <a:r>
              <a:rPr lang="en-US" dirty="0"/>
              <a:t>The UCS algorithm operates by always selecting the node with the lowest cumulative cost from the start node from the priority queue.</a:t>
            </a:r>
          </a:p>
        </p:txBody>
      </p:sp>
    </p:spTree>
    <p:extLst>
      <p:ext uri="{BB962C8B-B14F-4D97-AF65-F5344CB8AC3E}">
        <p14:creationId xmlns:p14="http://schemas.microsoft.com/office/powerpoint/2010/main" val="2785702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14149"/>
            <a:ext cx="10515600" cy="5158854"/>
          </a:xfrm>
        </p:spPr>
        <p:txBody>
          <a:bodyPr/>
          <a:lstStyle/>
          <a:p>
            <a:pPr marL="0" indent="0" algn="just">
              <a:buNone/>
            </a:pPr>
            <a:r>
              <a:rPr lang="en-US" b="1" dirty="0"/>
              <a:t>1. Expand 'A' (Cost: 0):</a:t>
            </a:r>
          </a:p>
          <a:p>
            <a:pPr algn="just"/>
            <a:r>
              <a:rPr lang="en-US" dirty="0"/>
              <a:t>Add 'B' (cost: 0+1=1) and 'C' (cost: 0+4=4) to the priority queue.</a:t>
            </a:r>
          </a:p>
          <a:p>
            <a:pPr algn="just"/>
            <a:r>
              <a:rPr lang="en-US" dirty="0"/>
              <a:t>frontier = [(1, 'B'), (4, 'C')]</a:t>
            </a:r>
          </a:p>
          <a:p>
            <a:pPr algn="just"/>
            <a:r>
              <a:rPr lang="en-US" dirty="0"/>
              <a:t>visited = {'A': (0, None), 'B': (1, 'A'), 'C': (4, 'A')}</a:t>
            </a:r>
          </a:p>
          <a:p>
            <a:pPr marL="0" indent="0" algn="just">
              <a:buNone/>
            </a:pPr>
            <a:endParaRPr lang="en-US" dirty="0"/>
          </a:p>
          <a:p>
            <a:pPr marL="0" indent="0" algn="just">
              <a:buNone/>
            </a:pPr>
            <a:r>
              <a:rPr lang="en-US" b="1" dirty="0"/>
              <a:t>2. Expand 'B' (Cost: 1): (Lowest cost in frontier)</a:t>
            </a:r>
          </a:p>
          <a:p>
            <a:pPr algn="just"/>
            <a:r>
              <a:rPr lang="en-US" dirty="0"/>
              <a:t>Add 'D' (cost: 1+1=2) and 'E' (cost: 1+3=4) to the priority queue.</a:t>
            </a:r>
          </a:p>
          <a:p>
            <a:pPr algn="just"/>
            <a:r>
              <a:rPr lang="en-US" dirty="0"/>
              <a:t>frontier = [(2, 'D'), (4, 'C'), (4, 'E')]</a:t>
            </a:r>
          </a:p>
          <a:p>
            <a:pPr algn="just"/>
            <a:r>
              <a:rPr lang="en-US" dirty="0"/>
              <a:t>visited = {'A': (0, None), 'B': (1, 'A'), 'C': (4, 'A'), 'D': (2, 'B'), 'E': (4, 'B')}</a:t>
            </a:r>
          </a:p>
        </p:txBody>
      </p:sp>
    </p:spTree>
    <p:extLst>
      <p:ext uri="{BB962C8B-B14F-4D97-AF65-F5344CB8AC3E}">
        <p14:creationId xmlns:p14="http://schemas.microsoft.com/office/powerpoint/2010/main" val="4169751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7546"/>
            <a:ext cx="10515600" cy="6223379"/>
          </a:xfrm>
        </p:spPr>
        <p:txBody>
          <a:bodyPr/>
          <a:lstStyle/>
          <a:p>
            <a:pPr marL="0" indent="0" algn="just">
              <a:buNone/>
            </a:pPr>
            <a:r>
              <a:rPr lang="en-US" b="1" dirty="0"/>
              <a:t>3.Expand 'D' (Cost: 2): (Lowest cost in frontier)</a:t>
            </a:r>
          </a:p>
          <a:p>
            <a:pPr algn="just"/>
            <a:r>
              <a:rPr lang="en-US" dirty="0"/>
              <a:t>Add 'G' (cost: 2+2=4) to the priority queue.</a:t>
            </a:r>
          </a:p>
          <a:p>
            <a:pPr algn="just"/>
            <a:r>
              <a:rPr lang="en-US" dirty="0"/>
              <a:t>frontier = [(4, 'C'), (4, 'E'), (4, 'G')]</a:t>
            </a:r>
          </a:p>
          <a:p>
            <a:pPr algn="just"/>
            <a:r>
              <a:rPr lang="en-US" dirty="0"/>
              <a:t>visited = {'A': (0, None), 'B': (1, 'A'), 'C': (4, 'A'), 'D': (2, 'B'), 'E': (4, 'B'), 'G': (4, 'D')}</a:t>
            </a:r>
          </a:p>
          <a:p>
            <a:pPr marL="0" indent="0" algn="just">
              <a:buNone/>
            </a:pPr>
            <a:endParaRPr lang="en-US" b="1" dirty="0"/>
          </a:p>
          <a:p>
            <a:pPr marL="0" indent="0" algn="just">
              <a:buNone/>
            </a:pPr>
            <a:r>
              <a:rPr lang="en-US" b="1" dirty="0"/>
              <a:t>4. Expand 'C' (Cost: 4): (Lowest cost in frontier)</a:t>
            </a:r>
          </a:p>
          <a:p>
            <a:pPr algn="just"/>
            <a:r>
              <a:rPr lang="en-US" dirty="0"/>
              <a:t>Add 'F' (cost: 4+5=9) to the priority queue.</a:t>
            </a:r>
          </a:p>
          <a:p>
            <a:pPr algn="just"/>
            <a:r>
              <a:rPr lang="en-US" dirty="0"/>
              <a:t>frontier = [(4, 'E'), (4, 'G'), (9, 'F')]</a:t>
            </a:r>
          </a:p>
          <a:p>
            <a:pPr algn="just"/>
            <a:r>
              <a:rPr lang="en-US" dirty="0"/>
              <a:t>visited = {'A': (0, None), 'B': (1, 'A'), 'C': (4, 'A'), 'D': (2, 'B'), 'E': (4, 'B'), 'G': (4, 'D'), 'F': (9, 'C')}</a:t>
            </a:r>
          </a:p>
        </p:txBody>
      </p:sp>
    </p:spTree>
    <p:extLst>
      <p:ext uri="{BB962C8B-B14F-4D97-AF65-F5344CB8AC3E}">
        <p14:creationId xmlns:p14="http://schemas.microsoft.com/office/powerpoint/2010/main" val="672880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7546"/>
            <a:ext cx="10515600" cy="6223379"/>
          </a:xfrm>
        </p:spPr>
        <p:txBody>
          <a:bodyPr>
            <a:normAutofit fontScale="92500"/>
          </a:bodyPr>
          <a:lstStyle/>
          <a:p>
            <a:pPr marL="0" indent="0" algn="just">
              <a:buNone/>
            </a:pPr>
            <a:r>
              <a:rPr lang="en-US" b="1" dirty="0"/>
              <a:t>5. Expand 'E' (Cost: 4): (Lowest cost in frontier)</a:t>
            </a:r>
          </a:p>
          <a:p>
            <a:pPr algn="just"/>
            <a:r>
              <a:rPr lang="en-US" dirty="0"/>
              <a:t>Add 'G' (cost: 4+1=5) to the priority queue.</a:t>
            </a:r>
          </a:p>
          <a:p>
            <a:pPr algn="just"/>
            <a:r>
              <a:rPr lang="en-US" dirty="0"/>
              <a:t>Since there's a new path to 'G' with cost 5 (less than the previous path cost of 4), update the cost of 'G' and reorder the priority queue accordingly. However, based on standard UCS behavior, this will only happen if the new path to G is better (smaller total cost). In this case, the prior path to 'G' had a cost of 4, so the new path with cost 5 will not be prioritized.</a:t>
            </a:r>
          </a:p>
          <a:p>
            <a:pPr algn="just"/>
            <a:r>
              <a:rPr lang="en-US" dirty="0"/>
              <a:t>frontier = [(4, 'G'), (9, 'F')]</a:t>
            </a:r>
          </a:p>
          <a:p>
            <a:pPr algn="just"/>
            <a:r>
              <a:rPr lang="en-US" dirty="0"/>
              <a:t>visited = {'A': (0, None), 'B': (1, 'A'), 'C': (4, 'A'), 'D': (2, 'B'), 'E': (4, 'B'), 'G': (4, 'D'), 'F': (9, 'C')}</a:t>
            </a:r>
          </a:p>
          <a:p>
            <a:pPr marL="0" indent="0" algn="just">
              <a:buNone/>
            </a:pPr>
            <a:r>
              <a:rPr lang="en-US" b="1" dirty="0"/>
              <a:t>6.Expand 'G' (Cost: 4): (Lowest cost in frontier, and it's the goal node)</a:t>
            </a:r>
          </a:p>
          <a:p>
            <a:pPr algn="just"/>
            <a:r>
              <a:rPr lang="en-US" dirty="0"/>
              <a:t>Algorithm terminates as the goal node is reached with the lowest cost.</a:t>
            </a:r>
          </a:p>
          <a:p>
            <a:pPr marL="0" indent="0" algn="just">
              <a:buNone/>
            </a:pPr>
            <a:r>
              <a:rPr lang="en-US" b="1" dirty="0"/>
              <a:t>Result:</a:t>
            </a:r>
          </a:p>
          <a:p>
            <a:pPr algn="just"/>
            <a:r>
              <a:rPr lang="en-US" dirty="0"/>
              <a:t>The algorithm found the path A -&gt; B -&gt; D -&gt; G with a total cost of 4.</a:t>
            </a:r>
          </a:p>
        </p:txBody>
      </p:sp>
    </p:spTree>
    <p:extLst>
      <p:ext uri="{BB962C8B-B14F-4D97-AF65-F5344CB8AC3E}">
        <p14:creationId xmlns:p14="http://schemas.microsoft.com/office/powerpoint/2010/main" val="3543489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28299" y="351691"/>
            <a:ext cx="10471331" cy="6090051"/>
          </a:xfrm>
        </p:spPr>
        <p:txBody>
          <a:bodyPr>
            <a:normAutofit/>
          </a:bodyPr>
          <a:lstStyle/>
          <a:p>
            <a:endParaRPr lang="en-US" b="1" dirty="0"/>
          </a:p>
          <a:p>
            <a:r>
              <a:rPr lang="en-US" sz="3600" b="1" dirty="0"/>
              <a:t>Advantages of UCS</a:t>
            </a:r>
          </a:p>
          <a:p>
            <a:pPr marL="342900" indent="-342900" algn="just">
              <a:buFont typeface="Arial" panose="020B0604020202020204" pitchFamily="34" charset="0"/>
              <a:buChar char="•"/>
            </a:pPr>
            <a:r>
              <a:rPr lang="en-US" b="1" dirty="0"/>
              <a:t>Optimality Guaranteed</a:t>
            </a:r>
            <a:endParaRPr lang="en-US" dirty="0"/>
          </a:p>
          <a:p>
            <a:pPr marL="800100" lvl="1" indent="-342900" algn="just">
              <a:buFont typeface="Arial" panose="020B0604020202020204" pitchFamily="34" charset="0"/>
              <a:buChar char="•"/>
            </a:pPr>
            <a:r>
              <a:rPr lang="en-US" dirty="0"/>
              <a:t>UCS always finds the </a:t>
            </a:r>
            <a:r>
              <a:rPr lang="en-US" b="1" dirty="0"/>
              <a:t>least-cost (optimal)</a:t>
            </a:r>
            <a:r>
              <a:rPr lang="en-US" dirty="0"/>
              <a:t> path to the goal, assuming all step costs are non-negative.</a:t>
            </a:r>
          </a:p>
          <a:p>
            <a:pPr marL="342900" indent="-342900" algn="just">
              <a:buFont typeface="Arial" panose="020B0604020202020204" pitchFamily="34" charset="0"/>
              <a:buChar char="•"/>
            </a:pPr>
            <a:r>
              <a:rPr lang="en-US" b="1" dirty="0"/>
              <a:t>Complete</a:t>
            </a:r>
            <a:endParaRPr lang="en-US" dirty="0"/>
          </a:p>
          <a:p>
            <a:pPr marL="800100" lvl="1" indent="-342900" algn="just">
              <a:buFont typeface="Arial" panose="020B0604020202020204" pitchFamily="34" charset="0"/>
              <a:buChar char="•"/>
            </a:pPr>
            <a:r>
              <a:rPr lang="en-US" dirty="0"/>
              <a:t>It is guaranteed to find a solution </a:t>
            </a:r>
            <a:r>
              <a:rPr lang="en-US" b="1" dirty="0"/>
              <a:t>if one exists</a:t>
            </a:r>
            <a:r>
              <a:rPr lang="en-US" dirty="0"/>
              <a:t>, as long as costs are ≥ some positive ε.</a:t>
            </a:r>
          </a:p>
          <a:p>
            <a:pPr marL="342900" indent="-342900" algn="just">
              <a:buFont typeface="Arial" panose="020B0604020202020204" pitchFamily="34" charset="0"/>
              <a:buChar char="•"/>
            </a:pPr>
            <a:r>
              <a:rPr lang="en-US" b="1" dirty="0"/>
              <a:t>No Heuristics Needed</a:t>
            </a:r>
            <a:endParaRPr lang="en-US" dirty="0"/>
          </a:p>
          <a:p>
            <a:pPr marL="800100" lvl="1" indent="-342900" algn="just">
              <a:buFont typeface="Arial" panose="020B0604020202020204" pitchFamily="34" charset="0"/>
              <a:buChar char="•"/>
            </a:pPr>
            <a:r>
              <a:rPr lang="en-US" dirty="0"/>
              <a:t>Unlike A*, UCS doesn’t require domain-specific heuristics, making it easy to apply in unknown environments.</a:t>
            </a:r>
          </a:p>
          <a:p>
            <a:pPr marL="342900" indent="-342900" algn="just">
              <a:buFont typeface="Arial" panose="020B0604020202020204" pitchFamily="34" charset="0"/>
              <a:buChar char="•"/>
            </a:pPr>
            <a:r>
              <a:rPr lang="en-US" b="1" dirty="0"/>
              <a:t>Handles Varying Costs</a:t>
            </a:r>
            <a:endParaRPr lang="en-US" dirty="0"/>
          </a:p>
          <a:p>
            <a:pPr marL="800100" lvl="1" indent="-342900" algn="just">
              <a:buFont typeface="Arial" panose="020B0604020202020204" pitchFamily="34" charset="0"/>
              <a:buChar char="•"/>
            </a:pPr>
            <a:r>
              <a:rPr lang="en-US" dirty="0"/>
              <a:t>Unlike BFS, which assumes uniform step costs, UCS works well even when </a:t>
            </a:r>
            <a:r>
              <a:rPr lang="en-US" b="1" dirty="0"/>
              <a:t>action costs vary</a:t>
            </a:r>
            <a:r>
              <a:rPr lang="en-US" dirty="0"/>
              <a:t>.</a:t>
            </a:r>
          </a:p>
          <a:p>
            <a:pPr marL="342900" indent="-342900" algn="just">
              <a:buFont typeface="Arial" panose="020B0604020202020204" pitchFamily="34" charset="0"/>
              <a:buChar char="•"/>
            </a:pPr>
            <a:endParaRPr lang="en-US" dirty="0"/>
          </a:p>
        </p:txBody>
      </p:sp>
    </p:spTree>
    <p:extLst>
      <p:ext uri="{BB962C8B-B14F-4D97-AF65-F5344CB8AC3E}">
        <p14:creationId xmlns:p14="http://schemas.microsoft.com/office/powerpoint/2010/main" val="10441068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28299" y="351691"/>
            <a:ext cx="10471331" cy="6090051"/>
          </a:xfrm>
        </p:spPr>
        <p:txBody>
          <a:bodyPr>
            <a:normAutofit/>
          </a:bodyPr>
          <a:lstStyle/>
          <a:p>
            <a:endParaRPr lang="en-US" b="1" dirty="0"/>
          </a:p>
          <a:p>
            <a:r>
              <a:rPr lang="en-US" sz="3200" b="1" dirty="0"/>
              <a:t>Disadvantages of UCS</a:t>
            </a:r>
          </a:p>
          <a:p>
            <a:pPr marL="342900" indent="-342900" algn="just">
              <a:buFont typeface="Arial" panose="020B0604020202020204" pitchFamily="34" charset="0"/>
              <a:buChar char="•"/>
            </a:pPr>
            <a:r>
              <a:rPr lang="en-US" b="1" dirty="0"/>
              <a:t>High Memory Usage</a:t>
            </a:r>
            <a:endParaRPr lang="en-US" dirty="0"/>
          </a:p>
          <a:p>
            <a:pPr marL="800100" lvl="1" indent="-342900" algn="just">
              <a:buFont typeface="Arial" panose="020B0604020202020204" pitchFamily="34" charset="0"/>
              <a:buChar char="•"/>
            </a:pPr>
            <a:r>
              <a:rPr lang="en-US" dirty="0"/>
              <a:t>UCS stores all paths in memory, and the frontier (priority queue) can grow very large, especially for dense graphs.</a:t>
            </a:r>
          </a:p>
          <a:p>
            <a:pPr marL="342900" indent="-342900" algn="just">
              <a:buFont typeface="Arial" panose="020B0604020202020204" pitchFamily="34" charset="0"/>
              <a:buChar char="•"/>
            </a:pPr>
            <a:r>
              <a:rPr lang="en-US" b="1" dirty="0"/>
              <a:t>Slow for Large or Deep Graphs</a:t>
            </a:r>
            <a:endParaRPr lang="en-US" dirty="0"/>
          </a:p>
          <a:p>
            <a:pPr marL="800100" lvl="1" indent="-342900" algn="just">
              <a:buFont typeface="Arial" panose="020B0604020202020204" pitchFamily="34" charset="0"/>
              <a:buChar char="•"/>
            </a:pPr>
            <a:r>
              <a:rPr lang="en-US" dirty="0"/>
              <a:t>It may expand many nodes with lower cost before reaching the goal, even if they are far from the goal (in depth or distance).</a:t>
            </a:r>
          </a:p>
          <a:p>
            <a:pPr marL="342900" indent="-342900" algn="just">
              <a:buFont typeface="Arial" panose="020B0604020202020204" pitchFamily="34" charset="0"/>
              <a:buChar char="•"/>
            </a:pPr>
            <a:r>
              <a:rPr lang="en-US" b="1" dirty="0"/>
              <a:t>No Heuristic = No Goal Direction</a:t>
            </a:r>
            <a:endParaRPr lang="en-US" dirty="0"/>
          </a:p>
          <a:p>
            <a:pPr marL="800100" lvl="1" indent="-342900" algn="just">
              <a:buFont typeface="Arial" panose="020B0604020202020204" pitchFamily="34" charset="0"/>
              <a:buChar char="•"/>
            </a:pPr>
            <a:r>
              <a:rPr lang="en-US" dirty="0"/>
              <a:t>Since it doesn’t use heuristics, it might explore many irrelevant paths that don’t lead to the goal.</a:t>
            </a:r>
          </a:p>
          <a:p>
            <a:pPr marL="342900" indent="-342900" algn="just">
              <a:buFont typeface="Arial" panose="020B0604020202020204" pitchFamily="34" charset="0"/>
              <a:buChar char="•"/>
            </a:pPr>
            <a:r>
              <a:rPr lang="en-US" b="1" dirty="0"/>
              <a:t>Inefficient in Some Cases</a:t>
            </a:r>
            <a:endParaRPr lang="en-US" dirty="0"/>
          </a:p>
          <a:p>
            <a:pPr marL="800100" lvl="1" indent="-342900" algn="just">
              <a:buFont typeface="Arial" panose="020B0604020202020204" pitchFamily="34" charset="0"/>
              <a:buChar char="•"/>
            </a:pPr>
            <a:r>
              <a:rPr lang="en-US" dirty="0"/>
              <a:t>In problems with large branching factors or many low-cost but irrelevant paths, UCS may be significantly slower than A* or other informed searches.</a:t>
            </a:r>
          </a:p>
          <a:p>
            <a:pPr marL="342900" indent="-342900" algn="just">
              <a:buFont typeface="Arial" panose="020B0604020202020204" pitchFamily="34" charset="0"/>
              <a:buChar char="•"/>
            </a:pPr>
            <a:endParaRPr lang="en-US" b="1" dirty="0"/>
          </a:p>
        </p:txBody>
      </p:sp>
    </p:spTree>
    <p:extLst>
      <p:ext uri="{BB962C8B-B14F-4D97-AF65-F5344CB8AC3E}">
        <p14:creationId xmlns:p14="http://schemas.microsoft.com/office/powerpoint/2010/main" val="67711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28299" y="351691"/>
            <a:ext cx="10471331" cy="6090051"/>
          </a:xfrm>
        </p:spPr>
        <p:txBody>
          <a:bodyPr>
            <a:normAutofit/>
          </a:bodyPr>
          <a:lstStyle/>
          <a:p>
            <a:pPr fontAlgn="base"/>
            <a:endParaRPr lang="en-US" b="1" dirty="0"/>
          </a:p>
          <a:p>
            <a:pPr fontAlgn="base"/>
            <a:r>
              <a:rPr lang="en-US" b="1" dirty="0"/>
              <a:t>Applications of Uninformed Search Algorithm</a:t>
            </a:r>
          </a:p>
          <a:p>
            <a:pPr fontAlgn="base"/>
            <a:endParaRPr lang="en-US" b="1" dirty="0"/>
          </a:p>
          <a:p>
            <a:pPr algn="just" fontAlgn="base"/>
            <a:r>
              <a:rPr lang="en-US" b="1" dirty="0" err="1"/>
              <a:t>Pathfinding</a:t>
            </a:r>
            <a:r>
              <a:rPr lang="en-US" b="1" dirty="0"/>
              <a:t>:</a:t>
            </a:r>
            <a:r>
              <a:rPr lang="en-US" dirty="0"/>
              <a:t> Used in navigation systems and robotics to find the shortest route between locations. BFS and DFS explore the map to determine the optimal path.</a:t>
            </a:r>
          </a:p>
          <a:p>
            <a:pPr algn="just" fontAlgn="base"/>
            <a:r>
              <a:rPr lang="en-US" b="1" dirty="0"/>
              <a:t>Puzzle Solving:</a:t>
            </a:r>
            <a:r>
              <a:rPr lang="en-US" dirty="0"/>
              <a:t> Applied in problems like the Eight Puzzle or Fifteen Puzzle to determine a sequence of moves leading to a solution.</a:t>
            </a:r>
          </a:p>
          <a:p>
            <a:pPr algn="just" fontAlgn="base"/>
            <a:r>
              <a:rPr lang="en-US" b="1" dirty="0"/>
              <a:t>Game AI:</a:t>
            </a:r>
            <a:r>
              <a:rPr lang="en-US" dirty="0"/>
              <a:t> Helps in exploring game trees to find winning strategies. BFS and DFS are often combined with </a:t>
            </a:r>
            <a:r>
              <a:rPr lang="en-US" dirty="0" err="1"/>
              <a:t>minimax</a:t>
            </a:r>
            <a:r>
              <a:rPr lang="en-US" dirty="0"/>
              <a:t> or alpha-beta pruning for efficiency.</a:t>
            </a:r>
          </a:p>
          <a:p>
            <a:pPr algn="just" fontAlgn="base"/>
            <a:r>
              <a:rPr lang="en-US" b="1" dirty="0"/>
              <a:t>Robot Navigation:</a:t>
            </a:r>
            <a:r>
              <a:rPr lang="en-US" dirty="0"/>
              <a:t> Assists robots in path planning by exploring environments and identifying the best route while avoiding obstacles.</a:t>
            </a:r>
          </a:p>
          <a:p>
            <a:pPr algn="just" fontAlgn="base"/>
            <a:r>
              <a:rPr lang="en-US" b="1" dirty="0"/>
              <a:t>Web Crawling:</a:t>
            </a:r>
            <a:r>
              <a:rPr lang="en-US" dirty="0"/>
              <a:t> BFS is widely used in web crawlers to systematically visit and index web pages by following links.</a:t>
            </a:r>
          </a:p>
          <a:p>
            <a:pPr marL="342900" indent="-342900" algn="just">
              <a:buFont typeface="Arial" panose="020B0604020202020204" pitchFamily="34" charset="0"/>
              <a:buChar char="•"/>
            </a:pPr>
            <a:endParaRPr lang="en-US" b="1" dirty="0"/>
          </a:p>
        </p:txBody>
      </p:sp>
    </p:spTree>
    <p:extLst>
      <p:ext uri="{BB962C8B-B14F-4D97-AF65-F5344CB8AC3E}">
        <p14:creationId xmlns:p14="http://schemas.microsoft.com/office/powerpoint/2010/main" val="14580613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28299" y="351691"/>
            <a:ext cx="10471331" cy="6090051"/>
          </a:xfrm>
        </p:spPr>
        <p:txBody>
          <a:bodyPr>
            <a:normAutofit/>
          </a:bodyPr>
          <a:lstStyle/>
          <a:p>
            <a:pPr fontAlgn="base"/>
            <a:r>
              <a:rPr lang="en-US" sz="3200" b="1" dirty="0"/>
              <a:t>Iterative Deepening Depth-First Search (IDDFS)</a:t>
            </a:r>
          </a:p>
          <a:p>
            <a:pPr marL="342900" indent="-342900" algn="just" fontAlgn="base">
              <a:buFont typeface="Arial" panose="020B0604020202020204" pitchFamily="34" charset="0"/>
              <a:buChar char="•"/>
            </a:pPr>
            <a:r>
              <a:rPr lang="en-US" dirty="0"/>
              <a:t>IDDFS combines </a:t>
            </a:r>
            <a:r>
              <a:rPr lang="en-US" b="1" dirty="0"/>
              <a:t>Breadth-First Search (BFS) and Depth First Search (DFS) </a:t>
            </a:r>
            <a:r>
              <a:rPr lang="en-US" dirty="0"/>
              <a:t>by running Depth First Search (DFS) with increasing depth limits until a solution is found.</a:t>
            </a:r>
          </a:p>
          <a:p>
            <a:pPr marL="342900" indent="-342900" algn="just" fontAlgn="base">
              <a:buFont typeface="Arial" panose="020B0604020202020204" pitchFamily="34" charset="0"/>
              <a:buChar char="•"/>
            </a:pPr>
            <a:r>
              <a:rPr lang="en-US" b="1" dirty="0"/>
              <a:t>Key Features:</a:t>
            </a:r>
            <a:endParaRPr lang="en-US" dirty="0"/>
          </a:p>
          <a:p>
            <a:pPr marL="342900" indent="-342900" algn="just" fontAlgn="base">
              <a:buFont typeface="Arial" panose="020B0604020202020204" pitchFamily="34" charset="0"/>
              <a:buChar char="•"/>
            </a:pPr>
            <a:r>
              <a:rPr lang="en-US" dirty="0"/>
              <a:t>Ensures completeness and optimality like Breadth-First Search (BFS).</a:t>
            </a:r>
          </a:p>
          <a:p>
            <a:pPr marL="342900" indent="-342900" algn="just" fontAlgn="base">
              <a:buFont typeface="Arial" panose="020B0604020202020204" pitchFamily="34" charset="0"/>
              <a:buChar char="•"/>
            </a:pPr>
            <a:r>
              <a:rPr lang="en-US" dirty="0"/>
              <a:t>Uses less memory than Breadth-First Search (BFS).</a:t>
            </a:r>
          </a:p>
          <a:p>
            <a:pPr marL="342900" indent="-342900" algn="just" fontAlgn="base">
              <a:buFont typeface="Arial" panose="020B0604020202020204" pitchFamily="34" charset="0"/>
              <a:buChar char="•"/>
            </a:pPr>
            <a:endParaRPr lang="en-US" dirty="0"/>
          </a:p>
          <a:p>
            <a:pPr marL="342900" indent="-342900" algn="just">
              <a:buFont typeface="Arial" panose="020B0604020202020204" pitchFamily="34" charset="0"/>
              <a:buChar char="•"/>
            </a:pPr>
            <a:r>
              <a:rPr lang="en-US" b="1" dirty="0"/>
              <a:t>Core Idea</a:t>
            </a:r>
          </a:p>
          <a:p>
            <a:pPr marL="342900" indent="-342900" algn="just">
              <a:buFont typeface="Arial" panose="020B0604020202020204" pitchFamily="34" charset="0"/>
              <a:buChar char="•"/>
            </a:pPr>
            <a:r>
              <a:rPr lang="en-US" dirty="0"/>
              <a:t>IDDFS performs DFS repeatedly, increasing the depth limit by one each time.</a:t>
            </a:r>
          </a:p>
          <a:p>
            <a:pPr marL="342900" indent="-342900" algn="just">
              <a:buFont typeface="Arial" panose="020B0604020202020204" pitchFamily="34" charset="0"/>
              <a:buChar char="•"/>
            </a:pPr>
            <a:r>
              <a:rPr lang="en-US" dirty="0"/>
              <a:t>First it explores depth 0, then depth 1, then 2, and so on...</a:t>
            </a:r>
          </a:p>
          <a:p>
            <a:pPr marL="342900" indent="-342900" algn="just">
              <a:buFont typeface="Arial" panose="020B0604020202020204" pitchFamily="34" charset="0"/>
              <a:buChar char="•"/>
            </a:pPr>
            <a:r>
              <a:rPr lang="en-US" dirty="0"/>
              <a:t>At each iteration, it performs a depth-limited DFS.</a:t>
            </a:r>
          </a:p>
        </p:txBody>
      </p:sp>
    </p:spTree>
    <p:extLst>
      <p:ext uri="{BB962C8B-B14F-4D97-AF65-F5344CB8AC3E}">
        <p14:creationId xmlns:p14="http://schemas.microsoft.com/office/powerpoint/2010/main" val="498854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18427" y="341194"/>
            <a:ext cx="10927579" cy="6414448"/>
          </a:xfrm>
        </p:spPr>
        <p:txBody>
          <a:bodyPr>
            <a:normAutofit/>
          </a:bodyPr>
          <a:lstStyle/>
          <a:p>
            <a:pPr algn="just"/>
            <a:r>
              <a:rPr lang="en-US" sz="3200" b="1" dirty="0"/>
              <a:t>Algorithm Steps</a:t>
            </a:r>
          </a:p>
          <a:p>
            <a:pPr marL="342900" indent="-342900" algn="just">
              <a:buFont typeface="Arial" panose="020B0604020202020204" pitchFamily="34" charset="0"/>
              <a:buChar char="•"/>
            </a:pPr>
            <a:r>
              <a:rPr lang="en-US" dirty="0"/>
              <a:t>Start with a depth limit = 0.</a:t>
            </a:r>
          </a:p>
          <a:p>
            <a:pPr marL="342900" indent="-342900" algn="just">
              <a:buFont typeface="Arial" panose="020B0604020202020204" pitchFamily="34" charset="0"/>
              <a:buChar char="•"/>
            </a:pPr>
            <a:r>
              <a:rPr lang="en-US" dirty="0"/>
              <a:t>Run DFS with that limit.</a:t>
            </a:r>
          </a:p>
          <a:p>
            <a:pPr marL="342900" indent="-342900" algn="just">
              <a:buFont typeface="Arial" panose="020B0604020202020204" pitchFamily="34" charset="0"/>
              <a:buChar char="•"/>
            </a:pPr>
            <a:r>
              <a:rPr lang="en-US" dirty="0"/>
              <a:t>If the goal is found, return the path.</a:t>
            </a:r>
          </a:p>
          <a:p>
            <a:pPr marL="342900" indent="-342900" algn="just">
              <a:buFont typeface="Arial" panose="020B0604020202020204" pitchFamily="34" charset="0"/>
              <a:buChar char="•"/>
            </a:pPr>
            <a:r>
              <a:rPr lang="en-US" dirty="0"/>
              <a:t>If not, increase the depth limit and repeat.</a:t>
            </a:r>
          </a:p>
          <a:p>
            <a:pPr marL="342900" indent="-342900" algn="just">
              <a:buFont typeface="Arial" panose="020B0604020202020204" pitchFamily="34" charset="0"/>
              <a:buChar char="•"/>
            </a:pPr>
            <a:endParaRPr lang="en-US" dirty="0"/>
          </a:p>
          <a:p>
            <a:pPr algn="just" fontAlgn="base"/>
            <a:endParaRPr lang="en-US" dirty="0"/>
          </a:p>
        </p:txBody>
      </p:sp>
      <p:pic>
        <p:nvPicPr>
          <p:cNvPr id="9218" name="Picture 2" descr="Iterative Deepening Search"/>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0774" y="2722728"/>
            <a:ext cx="9467850" cy="40329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4616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46245" y="4251515"/>
            <a:ext cx="5095875" cy="2343150"/>
          </a:xfrm>
          <a:prstGeom prst="rect">
            <a:avLst/>
          </a:prstGeom>
        </p:spPr>
      </p:pic>
      <p:pic>
        <p:nvPicPr>
          <p:cNvPr id="4" name="Picture 3"/>
          <p:cNvPicPr>
            <a:picLocks noChangeAspect="1"/>
          </p:cNvPicPr>
          <p:nvPr/>
        </p:nvPicPr>
        <p:blipFill>
          <a:blip r:embed="rId3"/>
          <a:stretch>
            <a:fillRect/>
          </a:stretch>
        </p:blipFill>
        <p:spPr>
          <a:xfrm>
            <a:off x="2947917" y="555815"/>
            <a:ext cx="5459104" cy="3448050"/>
          </a:xfrm>
          <a:prstGeom prst="rect">
            <a:avLst/>
          </a:prstGeom>
        </p:spPr>
      </p:pic>
      <p:sp>
        <p:nvSpPr>
          <p:cNvPr id="3" name="Subtitle 2"/>
          <p:cNvSpPr>
            <a:spLocks noGrp="1"/>
          </p:cNvSpPr>
          <p:nvPr>
            <p:ph type="subTitle" idx="1"/>
          </p:nvPr>
        </p:nvSpPr>
        <p:spPr>
          <a:xfrm>
            <a:off x="536541" y="308165"/>
            <a:ext cx="10927579" cy="6414448"/>
          </a:xfrm>
        </p:spPr>
        <p:txBody>
          <a:bodyPr>
            <a:normAutofit/>
          </a:bodyPr>
          <a:lstStyle/>
          <a:p>
            <a:pPr algn="just" fontAlgn="base"/>
            <a:endParaRPr lang="en-US" dirty="0"/>
          </a:p>
        </p:txBody>
      </p:sp>
    </p:spTree>
    <p:extLst>
      <p:ext uri="{BB962C8B-B14F-4D97-AF65-F5344CB8AC3E}">
        <p14:creationId xmlns:p14="http://schemas.microsoft.com/office/powerpoint/2010/main" val="15229963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0126" y="0"/>
            <a:ext cx="11450472" cy="7069539"/>
          </a:xfrm>
        </p:spPr>
        <p:txBody>
          <a:bodyPr>
            <a:normAutofit/>
          </a:bodyPr>
          <a:lstStyle/>
          <a:p>
            <a:pPr algn="just"/>
            <a:endParaRPr lang="en-US" b="1" dirty="0"/>
          </a:p>
        </p:txBody>
      </p:sp>
      <p:pic>
        <p:nvPicPr>
          <p:cNvPr id="6146" name="Picture 2" descr="IDDFS Examp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9116" y="680811"/>
            <a:ext cx="10099344" cy="59792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7182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28299" y="351691"/>
            <a:ext cx="10471331" cy="6506309"/>
          </a:xfrm>
        </p:spPr>
        <p:txBody>
          <a:bodyPr>
            <a:normAutofit fontScale="92500" lnSpcReduction="20000"/>
          </a:bodyPr>
          <a:lstStyle/>
          <a:p>
            <a:r>
              <a:rPr lang="en-US" sz="3000" b="1" dirty="0" err="1"/>
              <a:t>Pseudocode</a:t>
            </a:r>
            <a:endParaRPr lang="en-US" sz="3000" b="1" dirty="0"/>
          </a:p>
          <a:p>
            <a:pPr algn="just"/>
            <a:r>
              <a:rPr lang="en-US" dirty="0" err="1"/>
              <a:t>def</a:t>
            </a:r>
            <a:r>
              <a:rPr lang="en-US" dirty="0"/>
              <a:t> </a:t>
            </a:r>
            <a:r>
              <a:rPr lang="en-US" dirty="0" err="1"/>
              <a:t>iddfs</a:t>
            </a:r>
            <a:r>
              <a:rPr lang="en-US" dirty="0"/>
              <a:t>(start, goal, </a:t>
            </a:r>
            <a:r>
              <a:rPr lang="en-US" dirty="0" err="1"/>
              <a:t>max_depth</a:t>
            </a:r>
            <a:r>
              <a:rPr lang="en-US" dirty="0"/>
              <a:t>):</a:t>
            </a:r>
          </a:p>
          <a:p>
            <a:pPr algn="just"/>
            <a:r>
              <a:rPr lang="en-US" dirty="0"/>
              <a:t>    for depth in range(</a:t>
            </a:r>
            <a:r>
              <a:rPr lang="en-US" dirty="0" err="1"/>
              <a:t>max_depth</a:t>
            </a:r>
            <a:r>
              <a:rPr lang="en-US" dirty="0"/>
              <a:t> + 1):</a:t>
            </a:r>
          </a:p>
          <a:p>
            <a:pPr algn="just"/>
            <a:r>
              <a:rPr lang="en-US" dirty="0"/>
              <a:t>        found = </a:t>
            </a:r>
            <a:r>
              <a:rPr lang="en-US" dirty="0" err="1"/>
              <a:t>dls</a:t>
            </a:r>
            <a:r>
              <a:rPr lang="en-US" dirty="0"/>
              <a:t>(start, goal, depth)</a:t>
            </a:r>
          </a:p>
          <a:p>
            <a:pPr algn="just"/>
            <a:r>
              <a:rPr lang="en-US" dirty="0"/>
              <a:t>        if found:</a:t>
            </a:r>
          </a:p>
          <a:p>
            <a:pPr algn="just"/>
            <a:r>
              <a:rPr lang="en-US" dirty="0"/>
              <a:t>            return found</a:t>
            </a:r>
          </a:p>
          <a:p>
            <a:pPr algn="just"/>
            <a:r>
              <a:rPr lang="en-US" dirty="0"/>
              <a:t>    return None</a:t>
            </a:r>
          </a:p>
          <a:p>
            <a:pPr algn="just"/>
            <a:endParaRPr lang="en-US" dirty="0"/>
          </a:p>
          <a:p>
            <a:pPr algn="just"/>
            <a:r>
              <a:rPr lang="en-US" dirty="0" err="1"/>
              <a:t>def</a:t>
            </a:r>
            <a:r>
              <a:rPr lang="en-US" dirty="0"/>
              <a:t> </a:t>
            </a:r>
            <a:r>
              <a:rPr lang="en-US" dirty="0" err="1"/>
              <a:t>dls</a:t>
            </a:r>
            <a:r>
              <a:rPr lang="en-US" dirty="0"/>
              <a:t>(node, goal, depth):</a:t>
            </a:r>
          </a:p>
          <a:p>
            <a:pPr algn="just"/>
            <a:r>
              <a:rPr lang="en-US" dirty="0"/>
              <a:t>    if depth == 0 and node == goal:</a:t>
            </a:r>
          </a:p>
          <a:p>
            <a:pPr algn="just"/>
            <a:r>
              <a:rPr lang="en-US" dirty="0"/>
              <a:t>        return [node]</a:t>
            </a:r>
          </a:p>
          <a:p>
            <a:pPr algn="just"/>
            <a:r>
              <a:rPr lang="en-US" dirty="0"/>
              <a:t>    </a:t>
            </a:r>
            <a:r>
              <a:rPr lang="en-US" dirty="0" err="1"/>
              <a:t>elif</a:t>
            </a:r>
            <a:r>
              <a:rPr lang="en-US" dirty="0"/>
              <a:t> depth &gt; 0:</a:t>
            </a:r>
          </a:p>
          <a:p>
            <a:pPr algn="just"/>
            <a:r>
              <a:rPr lang="en-US" dirty="0"/>
              <a:t>        for child in </a:t>
            </a:r>
            <a:r>
              <a:rPr lang="en-US" dirty="0" err="1"/>
              <a:t>get_successors</a:t>
            </a:r>
            <a:r>
              <a:rPr lang="en-US" dirty="0"/>
              <a:t>(node):</a:t>
            </a:r>
          </a:p>
          <a:p>
            <a:pPr algn="just"/>
            <a:r>
              <a:rPr lang="en-US" dirty="0"/>
              <a:t>            path = </a:t>
            </a:r>
            <a:r>
              <a:rPr lang="en-US" dirty="0" err="1"/>
              <a:t>dls</a:t>
            </a:r>
            <a:r>
              <a:rPr lang="en-US" dirty="0"/>
              <a:t>(child, goal, depth - 1)</a:t>
            </a:r>
          </a:p>
          <a:p>
            <a:pPr algn="just"/>
            <a:r>
              <a:rPr lang="en-US" dirty="0"/>
              <a:t>            if path:</a:t>
            </a:r>
          </a:p>
          <a:p>
            <a:pPr algn="just"/>
            <a:r>
              <a:rPr lang="en-US" dirty="0"/>
              <a:t>                return [node] + path</a:t>
            </a:r>
          </a:p>
          <a:p>
            <a:pPr algn="just"/>
            <a:r>
              <a:rPr lang="en-US" dirty="0"/>
              <a:t>    return None</a:t>
            </a:r>
          </a:p>
          <a:p>
            <a:pPr algn="just"/>
            <a:endParaRPr lang="en-US" b="1" dirty="0"/>
          </a:p>
        </p:txBody>
      </p:sp>
    </p:spTree>
    <p:extLst>
      <p:ext uri="{BB962C8B-B14F-4D97-AF65-F5344CB8AC3E}">
        <p14:creationId xmlns:p14="http://schemas.microsoft.com/office/powerpoint/2010/main" val="19948711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228299" y="351691"/>
            <a:ext cx="10471331" cy="6506309"/>
          </a:xfrm>
        </p:spPr>
        <p:txBody>
          <a:bodyPr>
            <a:normAutofit/>
          </a:bodyPr>
          <a:lstStyle/>
          <a:p>
            <a:r>
              <a:rPr lang="en-US" b="1" dirty="0"/>
              <a:t>Advantages of IDDFS</a:t>
            </a:r>
          </a:p>
          <a:p>
            <a:pPr marL="342900" indent="-342900" algn="just">
              <a:buFont typeface="Arial" panose="020B0604020202020204" pitchFamily="34" charset="0"/>
              <a:buChar char="•"/>
            </a:pPr>
            <a:r>
              <a:rPr lang="en-US" b="1" dirty="0"/>
              <a:t>Complete</a:t>
            </a:r>
            <a:r>
              <a:rPr lang="en-US" dirty="0"/>
              <a:t> – Always finds a solution if one exists.</a:t>
            </a:r>
          </a:p>
          <a:p>
            <a:pPr marL="342900" indent="-342900" algn="just">
              <a:buFont typeface="Arial" panose="020B0604020202020204" pitchFamily="34" charset="0"/>
              <a:buChar char="•"/>
            </a:pPr>
            <a:r>
              <a:rPr lang="en-US" b="1" dirty="0"/>
              <a:t>Optimal (in terms of depth)</a:t>
            </a:r>
            <a:r>
              <a:rPr lang="en-US" dirty="0"/>
              <a:t> – Finds the shallowest goal node.</a:t>
            </a:r>
          </a:p>
          <a:p>
            <a:pPr marL="342900" indent="-342900" algn="just">
              <a:buFont typeface="Arial" panose="020B0604020202020204" pitchFamily="34" charset="0"/>
              <a:buChar char="•"/>
            </a:pPr>
            <a:r>
              <a:rPr lang="en-US" b="1" dirty="0"/>
              <a:t>Low memory usage</a:t>
            </a:r>
            <a:r>
              <a:rPr lang="en-US" dirty="0"/>
              <a:t> – Uses O(d) space, much less than BFS.</a:t>
            </a:r>
          </a:p>
          <a:p>
            <a:pPr marL="342900" indent="-342900" algn="just">
              <a:buFont typeface="Arial" panose="020B0604020202020204" pitchFamily="34" charset="0"/>
              <a:buChar char="•"/>
            </a:pPr>
            <a:r>
              <a:rPr lang="en-US" b="1" dirty="0"/>
              <a:t>No need to set depth limit</a:t>
            </a:r>
            <a:r>
              <a:rPr lang="en-US" dirty="0"/>
              <a:t> – Automatically increases depth.</a:t>
            </a:r>
          </a:p>
          <a:p>
            <a:pPr marL="342900" indent="-342900" algn="just">
              <a:buFont typeface="Arial" panose="020B0604020202020204" pitchFamily="34" charset="0"/>
              <a:buChar char="•"/>
            </a:pPr>
            <a:r>
              <a:rPr lang="en-US" b="1" dirty="0"/>
              <a:t>Combines benefits of DFS and BFS</a:t>
            </a:r>
            <a:r>
              <a:rPr lang="en-US" dirty="0"/>
              <a:t> – Memory efficiency of DFS + completeness of BFS.</a:t>
            </a:r>
          </a:p>
          <a:p>
            <a:r>
              <a:rPr lang="en-US" b="1" dirty="0"/>
              <a:t>Disadvantages of IDDFS</a:t>
            </a:r>
          </a:p>
          <a:p>
            <a:pPr marL="342900" indent="-342900" algn="just">
              <a:buFont typeface="Arial" panose="020B0604020202020204" pitchFamily="34" charset="0"/>
              <a:buChar char="•"/>
            </a:pPr>
            <a:r>
              <a:rPr lang="en-US" b="1" dirty="0"/>
              <a:t>Repeated node exploration</a:t>
            </a:r>
            <a:r>
              <a:rPr lang="en-US" dirty="0"/>
              <a:t> – Visits same nodes multiple times at shallower depths.</a:t>
            </a:r>
          </a:p>
          <a:p>
            <a:pPr marL="342900" indent="-342900" algn="just">
              <a:buFont typeface="Arial" panose="020B0604020202020204" pitchFamily="34" charset="0"/>
              <a:buChar char="•"/>
            </a:pPr>
            <a:r>
              <a:rPr lang="en-US" b="1" dirty="0"/>
              <a:t>Inefficient for deep goals</a:t>
            </a:r>
            <a:r>
              <a:rPr lang="en-US" dirty="0"/>
              <a:t> – Takes time repeating earlier levels.</a:t>
            </a:r>
          </a:p>
          <a:p>
            <a:pPr marL="342900" indent="-342900" algn="just">
              <a:buFont typeface="Arial" panose="020B0604020202020204" pitchFamily="34" charset="0"/>
              <a:buChar char="•"/>
            </a:pPr>
            <a:r>
              <a:rPr lang="en-US" b="1" dirty="0"/>
              <a:t>Not suitable for weighted graphs</a:t>
            </a:r>
            <a:r>
              <a:rPr lang="en-US" dirty="0"/>
              <a:t> – Does not consider path cost, only depth.</a:t>
            </a:r>
          </a:p>
          <a:p>
            <a:pPr marL="342900" indent="-342900" algn="just">
              <a:buFont typeface="Arial" panose="020B0604020202020204" pitchFamily="34" charset="0"/>
              <a:buChar char="•"/>
            </a:pPr>
            <a:r>
              <a:rPr lang="en-US" b="1" dirty="0"/>
              <a:t>Slower than BFS in shallow goals</a:t>
            </a:r>
            <a:r>
              <a:rPr lang="en-US" dirty="0"/>
              <a:t> – Overhead from repeated DFS calls.</a:t>
            </a:r>
          </a:p>
          <a:p>
            <a:pPr marL="342900" indent="-342900" algn="just">
              <a:buFont typeface="Arial" panose="020B0604020202020204" pitchFamily="34" charset="0"/>
              <a:buChar char="•"/>
            </a:pPr>
            <a:endParaRPr lang="en-US" dirty="0"/>
          </a:p>
          <a:p>
            <a:pPr algn="just"/>
            <a:endParaRPr lang="en-US" b="1" dirty="0"/>
          </a:p>
        </p:txBody>
      </p:sp>
    </p:spTree>
    <p:extLst>
      <p:ext uri="{BB962C8B-B14F-4D97-AF65-F5344CB8AC3E}">
        <p14:creationId xmlns:p14="http://schemas.microsoft.com/office/powerpoint/2010/main" val="17457038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513652A0BD357478C1E0205C380CBE9" ma:contentTypeVersion="12" ma:contentTypeDescription="Create a new document." ma:contentTypeScope="" ma:versionID="2d5436f8ed6a44731fbfe60d24134827">
  <xsd:schema xmlns:xsd="http://www.w3.org/2001/XMLSchema" xmlns:xs="http://www.w3.org/2001/XMLSchema" xmlns:p="http://schemas.microsoft.com/office/2006/metadata/properties" xmlns:ns3="fefbd8ef-846b-457d-aa88-6f122e138e78" targetNamespace="http://schemas.microsoft.com/office/2006/metadata/properties" ma:root="true" ma:fieldsID="0a58d7d6f61aed673e46df9999a7b019" ns3:_="">
    <xsd:import namespace="fefbd8ef-846b-457d-aa88-6f122e138e7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GenerationTime" minOccurs="0"/>
                <xsd:element ref="ns3:MediaServiceEventHashCode" minOccurs="0"/>
                <xsd:element ref="ns3:MediaLengthInSeconds"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fbd8ef-846b-457d-aa88-6f122e138e7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fefbd8ef-846b-457d-aa88-6f122e138e78" xsi:nil="true"/>
  </documentManagement>
</p:properties>
</file>

<file path=customXml/itemProps1.xml><?xml version="1.0" encoding="utf-8"?>
<ds:datastoreItem xmlns:ds="http://schemas.openxmlformats.org/officeDocument/2006/customXml" ds:itemID="{221EFB7C-3D68-49A6-8346-7670EF3264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fbd8ef-846b-457d-aa88-6f122e138e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30537FD-7D46-4F6E-8834-0423E719A6FC}">
  <ds:schemaRefs>
    <ds:schemaRef ds:uri="http://schemas.microsoft.com/sharepoint/v3/contenttype/forms"/>
  </ds:schemaRefs>
</ds:datastoreItem>
</file>

<file path=customXml/itemProps3.xml><?xml version="1.0" encoding="utf-8"?>
<ds:datastoreItem xmlns:ds="http://schemas.openxmlformats.org/officeDocument/2006/customXml" ds:itemID="{6903F472-8666-4C3A-99B6-1EE5903867EE}">
  <ds:schemaRefs>
    <ds:schemaRef ds:uri="http://www.w3.org/XML/1998/namespace"/>
    <ds:schemaRef ds:uri="fefbd8ef-846b-457d-aa88-6f122e138e78"/>
    <ds:schemaRef ds:uri="http://schemas.microsoft.com/office/2006/documentManagement/types"/>
    <ds:schemaRef ds:uri="http://purl.org/dc/dcmitype/"/>
    <ds:schemaRef ds:uri="http://purl.org/dc/elements/1.1/"/>
    <ds:schemaRef ds:uri="http://purl.org/dc/terms/"/>
    <ds:schemaRef ds:uri="http://schemas.microsoft.com/office/infopath/2007/PartnerControls"/>
    <ds:schemaRef ds:uri="http://schemas.microsoft.com/office/2006/metadata/propertie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otalTime>98</TotalTime>
  <Words>1677</Words>
  <Application>Microsoft Office PowerPoint</Application>
  <PresentationFormat>Widescreen</PresentationFormat>
  <Paragraphs>136</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Calibri Light</vt:lpstr>
      <vt:lpstr>Gill Sans MT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123</dc:creator>
  <cp:lastModifiedBy>P Manika Prasuna</cp:lastModifiedBy>
  <cp:revision>31</cp:revision>
  <dcterms:created xsi:type="dcterms:W3CDTF">2025-07-29T14:15:14Z</dcterms:created>
  <dcterms:modified xsi:type="dcterms:W3CDTF">2025-08-18T06:06:24Z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0x0101007513652A0BD357478C1E0205C380CBE9</vt:lpwstr>
  </property>
</Properties>
</file>