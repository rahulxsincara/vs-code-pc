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76" r:id="rId2"/>
    <p:sldId id="261" r:id="rId3"/>
    <p:sldId id="272" r:id="rId4"/>
    <p:sldId id="259" r:id="rId5"/>
    <p:sldId id="260" r:id="rId6"/>
    <p:sldId id="275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34A81-1F4E-B891-D2F6-D8C79788806D}" v="1" dt="2025-07-23T06:35:24.638"/>
    <p1510:client id="{A5C2AF7B-ADCE-EA76-7CCD-0200BB7A5CF0}" v="9" dt="2025-07-21T11:09:33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EBC86-57B1-4DE7-AC43-70B5902BA9A5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8C6EC-D5B3-42AE-8B89-FA2393783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47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gents-artificial-intelligence/" TargetMode="External"/><Relationship Id="rId7" Type="http://schemas.openxmlformats.org/officeDocument/2006/relationships/hyperlink" Target="https://www.section.io/engineering-education/turing-test-in-a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turing-test-artificial-intelligence/" TargetMode="External"/><Relationship Id="rId5" Type="http://schemas.openxmlformats.org/officeDocument/2006/relationships/hyperlink" Target="https://www.javatpoint.com/turing-test-in-ai" TargetMode="External"/><Relationship Id="rId4" Type="http://schemas.openxmlformats.org/officeDocument/2006/relationships/hyperlink" Target="https://www.simplilearn.com/what-is-intelligent-agent-in-ai-types-function-artic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931917" y="486144"/>
            <a:ext cx="4597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Introduction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982667"/>
              </p:ext>
            </p:extLst>
          </p:nvPr>
        </p:nvGraphicFramePr>
        <p:xfrm>
          <a:off x="719528" y="2083765"/>
          <a:ext cx="110777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Course Title 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>
                          <a:solidFill>
                            <a:schemeClr val="tx1"/>
                          </a:solidFill>
                        </a:rPr>
                        <a:t>ARTIFICIAL INTELLIGENCE AND MACHINE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dirty="0"/>
                        <a:t>Course Code :</a:t>
                      </a:r>
                      <a:endParaRPr lang="en-IN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24AD2001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dirty="0"/>
                        <a:t>L-T-P-S Structure :</a:t>
                      </a:r>
                      <a:endParaRPr lang="en-IN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3-0-2-0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Credits 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1" dirty="0"/>
                        <a:t>Course Coordinator :</a:t>
                      </a:r>
                      <a:endParaRPr lang="en-IN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700" dirty="0"/>
                        <a:t>Dr. MANIKYA PRASUNA PAKALAPATI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000707" y="111393"/>
            <a:ext cx="849040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te-IN" sz="32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Gautami" pitchFamily="34" charset="0"/>
              </a:rPr>
              <a:t>ARTIFICIAL INTELLIGENCE &amp; MACHINE LEARNING</a:t>
            </a:r>
            <a:endParaRPr lang="en-US" sz="3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3200" b="1" cap="all" dirty="0">
                <a:solidFill>
                  <a:schemeClr val="accent1"/>
                </a:solidFill>
                <a:latin typeface="Gill Sans MT"/>
              </a:rPr>
              <a:t> </a:t>
            </a:r>
            <a:r>
              <a:rPr lang="en-US" sz="3000" b="1" cap="all" dirty="0">
                <a:solidFill>
                  <a:srgbClr val="0070C0"/>
                </a:solidFill>
                <a:latin typeface="Gill Sans MT"/>
              </a:rPr>
              <a:t>syllabus</a:t>
            </a:r>
          </a:p>
        </p:txBody>
      </p:sp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509666" y="1121130"/>
            <a:ext cx="11302585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en-IN" sz="1500" b="1" dirty="0">
                <a:solidFill>
                  <a:srgbClr val="C00000"/>
                </a:solidFill>
                <a:ea typeface="Calibri"/>
                <a:cs typeface="Gautami"/>
              </a:rPr>
              <a:t>CO1: </a:t>
            </a:r>
            <a:r>
              <a:rPr lang="en-IN" sz="1500" b="1" dirty="0">
                <a:ea typeface="Calibri"/>
                <a:cs typeface="Gautami"/>
              </a:rPr>
              <a:t>Brief History &amp; Paradigms:</a:t>
            </a:r>
            <a:r>
              <a:rPr lang="en-IN" sz="1500" dirty="0">
                <a:ea typeface="Calibri"/>
                <a:cs typeface="Gautami"/>
              </a:rPr>
              <a:t> Symbolic AI, sub symbolic AI, machine learning, the rise of data-driven AI. Intelligent Agents: Rational agents, agent environments, PEAS framework. Problem Formulation: States, transitions, costs, search spaces, applications Classical Search: Uninformed (BFS, DFS, UCS, IDS);Informed (Greedy, A*); Admissible/consistent heuristics; Heuristic Search: Hill climbing, variants of hill climbing Constraint Satisfaction: CSPs, arc consistency, forward checking, backtracking, variable </a:t>
            </a:r>
            <a:r>
              <a:rPr lang="en-IN" sz="1500" err="1">
                <a:ea typeface="Calibri"/>
                <a:cs typeface="Gautami"/>
              </a:rPr>
              <a:t>ordering.Game</a:t>
            </a:r>
            <a:r>
              <a:rPr lang="en-IN" sz="1500" dirty="0">
                <a:ea typeface="Calibri"/>
                <a:cs typeface="Gautami"/>
              </a:rPr>
              <a:t> Playing: </a:t>
            </a:r>
            <a:r>
              <a:rPr lang="en-IN" sz="1500" err="1">
                <a:ea typeface="Calibri"/>
                <a:cs typeface="Gautami"/>
              </a:rPr>
              <a:t>Minimax</a:t>
            </a:r>
            <a:r>
              <a:rPr lang="en-IN" sz="1500" dirty="0">
                <a:ea typeface="Calibri"/>
                <a:cs typeface="Gautami"/>
              </a:rPr>
              <a:t>, alpha-beta pruning. AI Applications: Search in robotics, logistics, games, expert systems. </a:t>
            </a:r>
            <a:endParaRPr lang="en-US"/>
          </a:p>
          <a:p>
            <a:pPr lvl="0" algn="just" defTabSz="914400"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en-IN" sz="1500" b="1" dirty="0">
                <a:solidFill>
                  <a:srgbClr val="C00000"/>
                </a:solidFill>
                <a:ea typeface="Calibri" pitchFamily="34" charset="0"/>
                <a:cs typeface="Gautami" pitchFamily="34" charset="0"/>
              </a:rPr>
              <a:t>CO2: </a:t>
            </a:r>
            <a:r>
              <a:rPr lang="en-IN" sz="1500" b="1" dirty="0">
                <a:ea typeface="Calibri" pitchFamily="34" charset="0"/>
                <a:cs typeface="Gautami" pitchFamily="34" charset="0"/>
              </a:rPr>
              <a:t>Mathematical &amp; Statistical Foundations for ML : </a:t>
            </a:r>
            <a:r>
              <a:rPr lang="en-IN" sz="1500" dirty="0">
                <a:ea typeface="Calibri" pitchFamily="34" charset="0"/>
                <a:cs typeface="Gautami" pitchFamily="34" charset="0"/>
              </a:rPr>
              <a:t>Linear Algebra: Vectors, matrices, matrix operations, Eigen decomposition, SVD. Calculus &amp; Optimization: Derivatives, gradient descent, convexity, Taylor expansion, optimization objectives. Probability &amp; Statistics: Distributions, expectation, variance, covariance, Bayes’ theorem. Data Handling: Noise reduction methods (FFT, etc.), Outlier detection (box plot ,etc..), imputation (using (KNN, Measures of centrality, etc..), scaling(standardization , normalization ,etc..),encoding (one hot vector encoding, image and text embeddings), variable types (ordinal ,categorical) . Feature Engineering: elimination, aggregation, feature selection methods (mutual information, information gain, Fisher score, etc.). Model Selection: Under fitting and Over fitting, Bias-variance trade off, cross-validation, train/</a:t>
            </a:r>
            <a:r>
              <a:rPr lang="en-IN" sz="1500" dirty="0" err="1">
                <a:ea typeface="Calibri" pitchFamily="34" charset="0"/>
                <a:cs typeface="Gautami" pitchFamily="34" charset="0"/>
              </a:rPr>
              <a:t>val</a:t>
            </a:r>
            <a:r>
              <a:rPr lang="en-IN" sz="1500" dirty="0">
                <a:ea typeface="Calibri" pitchFamily="34" charset="0"/>
                <a:cs typeface="Gautami" pitchFamily="34" charset="0"/>
              </a:rPr>
              <a:t>/test splits, learning/validation curves.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en-IN" sz="1500" b="1" dirty="0">
                <a:solidFill>
                  <a:srgbClr val="C00000"/>
                </a:solidFill>
                <a:ea typeface="Calibri"/>
                <a:cs typeface="Gautami"/>
              </a:rPr>
              <a:t>CO3</a:t>
            </a:r>
            <a:r>
              <a:rPr lang="en-IN" sz="1500" dirty="0">
                <a:ea typeface="Calibri"/>
                <a:cs typeface="Gautami"/>
              </a:rPr>
              <a:t>: </a:t>
            </a:r>
            <a:r>
              <a:rPr lang="en-IN" sz="1500" b="1" dirty="0">
                <a:ea typeface="Calibri"/>
                <a:cs typeface="Gautami"/>
              </a:rPr>
              <a:t>Supervised Machine Learning Algorithms: </a:t>
            </a:r>
            <a:r>
              <a:rPr lang="en-IN" sz="1500" dirty="0">
                <a:ea typeface="Calibri"/>
                <a:cs typeface="Gautami"/>
              </a:rPr>
              <a:t>Linear Models: Linear regression, logistic regression, regularization (ridge, lasso). Basic Models: Curse of Dimensionality, KNN, Decision Tree (training &amp; Pruning algorithms) Support Vector Machines: Max-margin principle, soft margin, kernel trick (RBF, polynomial, sigmoid), hyper plane geometry. Ensemble Methods: Bagging, random forests, AdaBoost, stacking. Probabilistic Models: Gaussian Naive Bayes, Gaussian Processes (regression/classification), calibration and confidence. Evaluation: ROC, AUC, confusion matrix, F1, recall/precision, model explain ability.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en-IN" sz="1500" b="1" dirty="0">
                <a:solidFill>
                  <a:srgbClr val="C00000"/>
                </a:solidFill>
                <a:ea typeface="Calibri"/>
                <a:cs typeface="Gautami"/>
              </a:rPr>
              <a:t>CO 4: </a:t>
            </a:r>
            <a:r>
              <a:rPr lang="en-IN" sz="1500" b="1" dirty="0">
                <a:ea typeface="Calibri"/>
                <a:cs typeface="Gautami"/>
              </a:rPr>
              <a:t>Unsupervised &amp; Advanced ML + ML Automation Clustering: </a:t>
            </a:r>
            <a:r>
              <a:rPr lang="en-IN" sz="1500" dirty="0">
                <a:ea typeface="Calibri"/>
                <a:cs typeface="Gautami"/>
              </a:rPr>
              <a:t>K-means, C-means, Fuzzy C-Means, GMM, hierarchical, DBSCAN, mean-shift, cluster validity metrics. Dimensionality Reduction: PCA, LDA, t-SNE, UMAP, manifold learning. Anomaly Detection: Isolation forests, LOF, one-class SVM, auto encoders (as preview). Automated ML: Pipeline automation (</a:t>
            </a:r>
            <a:r>
              <a:rPr lang="en-IN" sz="1500" dirty="0" err="1">
                <a:ea typeface="Calibri"/>
                <a:cs typeface="Gautami"/>
              </a:rPr>
              <a:t>sklearn</a:t>
            </a:r>
            <a:r>
              <a:rPr lang="en-IN" sz="1500" dirty="0">
                <a:ea typeface="Calibri"/>
                <a:cs typeface="Gautami"/>
              </a:rPr>
              <a:t>, </a:t>
            </a:r>
            <a:r>
              <a:rPr lang="en-IN" sz="1500" dirty="0" err="1">
                <a:ea typeface="Calibri"/>
                <a:cs typeface="Gautami"/>
              </a:rPr>
              <a:t>PyCaret</a:t>
            </a:r>
            <a:r>
              <a:rPr lang="en-IN" sz="1500" dirty="0">
                <a:ea typeface="Calibri"/>
                <a:cs typeface="Gautami"/>
              </a:rPr>
              <a:t>), experiment tracking (</a:t>
            </a:r>
            <a:r>
              <a:rPr lang="en-IN" sz="1500" dirty="0" err="1">
                <a:ea typeface="Calibri"/>
                <a:cs typeface="Gautami"/>
              </a:rPr>
              <a:t>MLflow</a:t>
            </a:r>
            <a:r>
              <a:rPr lang="en-IN" sz="1500" dirty="0">
                <a:ea typeface="Calibri"/>
                <a:cs typeface="Gautami"/>
              </a:rPr>
              <a:t>). Ethics, Fairness, Explainability: Bias sources, mitigation, transparency, human-in-the-loop.</a:t>
            </a:r>
            <a:endParaRPr kumimoji="0" lang="te-IN" sz="1500" i="0" u="none" strike="noStrike" cap="none" normalizeH="0" baseline="0" dirty="0">
              <a:ln>
                <a:noFill/>
              </a:ln>
              <a:effectLst/>
              <a:ea typeface="Calibri"/>
              <a:cs typeface="Gautami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371168" y="381213"/>
            <a:ext cx="78094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Evaluation components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3928" y="1064302"/>
            <a:ext cx="9353862" cy="49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59567" y="1970808"/>
            <a:ext cx="10972800" cy="1964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000"/>
              </a:spcBef>
              <a:spcAft>
                <a:spcPts val="3000"/>
              </a:spcAft>
            </a:pPr>
            <a:r>
              <a:rPr lang="en-IN" sz="2800" dirty="0"/>
              <a:t>Artificial Intelligence is composed of two words Artificial and Intelligence, where Artificial defines “Man-Made," and Intelligence defines “Thinking Power", hence AI means “A man-made thinking power."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1138" y="486144"/>
            <a:ext cx="65395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Introduction  to  AI 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04540" y="1581702"/>
            <a:ext cx="1080790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3200" dirty="0"/>
              <a:t>Artificial Intelligence (AI) refers to the simulation of human Intelligence in machines that are programmed to think and learn.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pPr algn="just"/>
            <a:r>
              <a:rPr lang="en-IN" sz="3200" dirty="0"/>
              <a:t>"It is a branch of computer science by which we can create intelligent machines which can behave like a human, think like human and able to make decisions."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46750" y="381213"/>
            <a:ext cx="44582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AI - Definition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948166" y="381213"/>
            <a:ext cx="46554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ML -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38" y="1783821"/>
            <a:ext cx="753505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2000"/>
              </a:spcBef>
              <a:spcAft>
                <a:spcPts val="3000"/>
              </a:spcAft>
            </a:pPr>
            <a:r>
              <a:rPr lang="en-IN" sz="3200" dirty="0"/>
              <a:t>Machine Learning (ML) is a Subset of Artificial intelligence (AI) that enables systems to learn from data and improve their performance on a specific task over time, without being explicitly programmed. </a:t>
            </a:r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473" y="1556170"/>
            <a:ext cx="4027577" cy="30158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4749" y="4694791"/>
            <a:ext cx="1050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2000"/>
              </a:spcBef>
              <a:spcAft>
                <a:spcPts val="3000"/>
              </a:spcAft>
            </a:pPr>
            <a:r>
              <a:rPr lang="en-IN" sz="3200" dirty="0"/>
              <a:t>ML algorithms identify patterns and make predictions or decisions based on the data they've been trained on.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24588" y="381213"/>
            <a:ext cx="41025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HISTORY OF AI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1076820" y="1700933"/>
            <a:ext cx="10345681" cy="3590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Birth of AI (1950s):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Alan Turing </a:t>
            </a:r>
          </a:p>
          <a:p>
            <a:pPr marL="266700" marR="0" lvl="1" indent="317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Introduced the Turing Test and Proposed the idea of a "Computing Machinery and Intelligence“</a:t>
            </a:r>
          </a:p>
          <a:p>
            <a:pPr marL="266700" marR="0" lvl="1" indent="317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0" i="0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1956: Dartmouth Conference</a:t>
            </a:r>
          </a:p>
          <a:p>
            <a:pPr marL="269875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John McCarthy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Who coined the term in 1956, defines it as “The Science and Engineering of making intelligent machines, especially intelligent computer programs.”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4"/>
          <p:cNvSpPr txBox="1">
            <a:spLocks/>
          </p:cNvSpPr>
          <p:nvPr/>
        </p:nvSpPr>
        <p:spPr>
          <a:xfrm>
            <a:off x="674557" y="1880817"/>
            <a:ext cx="10927829" cy="4175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Optimism and Progress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57200" marR="0" lvl="1" indent="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ELIZA (1966)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Created by Joseph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Weizenbaum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natural language processing computer program that simulated conversation.</a:t>
            </a:r>
          </a:p>
          <a:p>
            <a:pPr marL="457200" marR="0" lvl="1" indent="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Shakey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Robot (1966-1972)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First general-purpose mobile robot able to reason about its actions.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2800" dirty="0"/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Early AI Applications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Development of systems for medical diagnosis, symbolic mathematics, and chess playing.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3175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3330" y="381213"/>
            <a:ext cx="58150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cap="all" dirty="0">
                <a:solidFill>
                  <a:srgbClr val="C00000"/>
                </a:solidFill>
                <a:latin typeface="Gill Sans MT"/>
              </a:rPr>
              <a:t>HISTORY OF AI </a:t>
            </a:r>
          </a:p>
          <a:p>
            <a:pPr algn="ctr"/>
            <a:r>
              <a:rPr lang="en-IN" sz="3600" dirty="0"/>
              <a:t>The Golden Years (1960-1970)</a:t>
            </a:r>
            <a:endParaRPr lang="en-US" sz="3600" b="1" cap="all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168160" y="381213"/>
            <a:ext cx="821545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HISTORY OF AI </a:t>
            </a:r>
          </a:p>
          <a:p>
            <a:pPr algn="ctr"/>
            <a:r>
              <a:rPr lang="en-IN" sz="4000" dirty="0"/>
              <a:t>The Rise of Modern AI (2000s-Present)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749510" y="1910801"/>
            <a:ext cx="10987788" cy="4310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Machine Learning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IN" sz="2400" dirty="0"/>
              <a:t>Rise of new algorithms and techniques for data-driven learning.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Big Data &amp; Improved Algorithms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IN" sz="2400" dirty="0"/>
              <a:t>Enhanced computational power and access to large datasets.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Innovations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Deep Learning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Use of deep neural networks for image and speech recognition.</a:t>
            </a: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in Everyday Life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Virtual assistants (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Siri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Alexa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 autonomous vehicles, recommendation systems.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Milestones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IBM Watson (2011)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Won Jeopardy! against human champions.</a:t>
            </a: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AlphaGo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(2016)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Developed by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DeepMind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defeated the world champion Go player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192630" y="321253"/>
            <a:ext cx="57767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Applications of AI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614597" y="1760901"/>
            <a:ext cx="6160955" cy="42651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Game Plying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Medical Diagnosis, Autonomous Control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Autonomous Planning and Scheduling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Expert Systems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Robotics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 Natural Language Processing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7. Computer Vision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 e- Commerce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/>
              <a:t>9. Agriculture</a:t>
            </a:r>
          </a:p>
          <a:p>
            <a:pPr marL="360363" marR="0" lvl="0" indent="-360363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10. Finance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5533" y="1274163"/>
            <a:ext cx="4901786" cy="4802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775024" y="381213"/>
            <a:ext cx="70017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00B0F0"/>
                </a:solidFill>
              </a:rPr>
              <a:t>Healthcare 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1109270" y="1461094"/>
            <a:ext cx="10658007" cy="47898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Diagnostics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800" b="1" dirty="0"/>
              <a:t>Medical Imaging: </a:t>
            </a:r>
            <a:r>
              <a:rPr lang="en-IN" sz="2800" dirty="0"/>
              <a:t>AI algorithms analyze X-rays, MRIs, and CT scans to detect diseases like cancer, fractures, and infections.</a:t>
            </a:r>
          </a:p>
          <a:p>
            <a:pPr marL="457200" marR="0" lvl="1" indent="0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800" b="1" dirty="0"/>
              <a:t>Pathology:</a:t>
            </a:r>
            <a:r>
              <a:rPr lang="en-IN" sz="2800" dirty="0"/>
              <a:t> AI systems assist in examining tissue samples for accurate diagnosis.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Personalized Medicine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analyzes patient data to tailor treatments to individual genetic profiles and health histories.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Robotic Surgery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Robots like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Vinci Surgical System enhance precision in complex surgeries, reducing recovery times and improving outcomes.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Drug Discovery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accelerates the process of discovering new drugs by predicting molecular interactions and potential side effects.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35850" y="381213"/>
            <a:ext cx="96394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0070C0"/>
                </a:solidFill>
              </a:rPr>
              <a:t>Smart Homes and Cities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1526529" y="1439056"/>
            <a:ext cx="9566192" cy="440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 Automation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controls home devices such as lights, thermostats, and security systems for convenience and energy efficiency.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Smart Grids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optimizes energy distribution and usage in power grids, enhancing sustainability.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Urban Planning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analyzes data on traffic, pollution, and population to improve city planning and infrastructure.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935357" y="381213"/>
            <a:ext cx="66810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0070C0"/>
                </a:solidFill>
              </a:rPr>
              <a:t>Education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1526529" y="1850842"/>
            <a:ext cx="9566192" cy="3995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Personalized Learning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systems adapt educational content to the learning pace and style of individual students.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Tutoring Systems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AI-powered tutors provide additional support and resources to students outside of the classroom.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Administrative Tasks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automates grading, scheduling, and other administrative tasks, freeing up time for educators.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18389" y="381213"/>
            <a:ext cx="77149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CC6600"/>
                </a:solidFill>
              </a:rPr>
              <a:t>Transportation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1526529" y="1850842"/>
            <a:ext cx="9566192" cy="3995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Autonomous Vehicles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powers self-driving cars by processing data from sensors and cameras to navigate safely.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Traffic Management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systems analyze traffic patterns to optimize signal timings and reduce congestion.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Logistics and Supply Chain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optimizes routes for delivery trucks, manages inventory levels, and predicts demand.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05578" y="381213"/>
            <a:ext cx="69406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00B050"/>
                </a:solidFill>
              </a:rPr>
              <a:t>Agriculture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1466569" y="1625989"/>
            <a:ext cx="9566192" cy="42651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Precision Farming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analyzes data from soil sensors, weather forecasts, and crop health to optimize farming practices.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Crop Monitoring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Drones equipped with AI analyze aerial images to detect diseases and pests in crops.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3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Yield Prediction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models predict crop yields, helping farmers make informed decisions about planting and harvesting.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170582" y="381213"/>
            <a:ext cx="62106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dirty="0"/>
              <a:t>Applications of </a:t>
            </a:r>
            <a:r>
              <a:rPr lang="en-IN" sz="4000" b="1" dirty="0">
                <a:solidFill>
                  <a:srgbClr val="FF0000"/>
                </a:solidFill>
              </a:rPr>
              <a:t>AI</a:t>
            </a:r>
            <a:r>
              <a:rPr lang="en-IN" sz="4000" b="1" dirty="0"/>
              <a:t> in </a:t>
            </a:r>
            <a:r>
              <a:rPr lang="en-IN" sz="4000" b="1" dirty="0">
                <a:solidFill>
                  <a:srgbClr val="FF00FF"/>
                </a:solidFill>
              </a:rPr>
              <a:t>Finance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1289154" y="1648915"/>
            <a:ext cx="9803567" cy="4766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Fraud Detection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AI systems monitor transactions in real-time to identify suspicious activities and prevent fraud.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Algorithmic Trading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algorithms analyze market data and execute trades at high speeds, optimizing investment strategies.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 Management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assesses credit scores and loan eligibility, helping financial institutions manage risks.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Customer</a:t>
            </a:r>
            <a:r>
              <a:rPr kumimoji="0" lang="en-IN" sz="28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Service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Chatbots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virtual assistants handle customer inquiries, providing efficient and accurate responses.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412410" y="381213"/>
            <a:ext cx="57269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/>
              <a:t>Self 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389028" y="1303390"/>
            <a:ext cx="8219667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b="1" dirty="0">
                <a:solidFill>
                  <a:schemeClr val="bg1"/>
                </a:solidFill>
                <a:latin typeface="+mj-lt"/>
                <a:ea typeface="Calibri"/>
                <a:cs typeface="Poppins" panose="00000500000000000000" pitchFamily="2" charset="0"/>
                <a:sym typeface="Calibri"/>
              </a:rPr>
              <a:t>AI Technology makes the machines to ……………………</a:t>
            </a:r>
            <a:endParaRPr sz="2600" b="1" dirty="0">
              <a:solidFill>
                <a:schemeClr val="bg1"/>
              </a:solidFill>
              <a:latin typeface="+mj-lt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820559" y="2004833"/>
            <a:ext cx="5038070" cy="149308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2000" dirty="0">
                <a:latin typeface="Arial" panose="020B0604020202020204" pitchFamily="34" charset="0"/>
              </a:rPr>
              <a:t>Act like Human…</a:t>
            </a:r>
          </a:p>
          <a:p>
            <a:pPr marL="342900" indent="-342900">
              <a:buAutoNum type="alphaLcParenBoth"/>
            </a:pPr>
            <a:r>
              <a:rPr lang="en-US" sz="2000" dirty="0">
                <a:latin typeface="Arial" panose="020B0604020202020204" pitchFamily="34" charset="0"/>
              </a:rPr>
              <a:t>Think like Human…</a:t>
            </a:r>
          </a:p>
          <a:p>
            <a:pPr marL="342900" indent="-342900">
              <a:buAutoNum type="alphaLcParenBoth"/>
            </a:pPr>
            <a:r>
              <a:rPr lang="en-US" sz="2000" dirty="0">
                <a:latin typeface="Arial" panose="020B0604020202020204" pitchFamily="34" charset="0"/>
              </a:rPr>
              <a:t>Speak like Human…</a:t>
            </a:r>
          </a:p>
          <a:p>
            <a:pPr marL="342900" indent="-342900">
              <a:buAutoNum type="alphaLcParenBoth"/>
            </a:pPr>
            <a:r>
              <a:rPr lang="en-US" sz="2000" dirty="0">
                <a:latin typeface="Arial" panose="020B0604020202020204" pitchFamily="34" charset="0"/>
              </a:rPr>
              <a:t>All the above …</a:t>
            </a:r>
            <a:endParaRPr lang="en-US" sz="2000" dirty="0"/>
          </a:p>
        </p:txBody>
      </p:sp>
      <p:sp>
        <p:nvSpPr>
          <p:cNvPr id="10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410826" y="3876178"/>
            <a:ext cx="8227849" cy="84572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just">
              <a:buFont typeface="+mj-lt"/>
              <a:buAutoNum type="arabicPeriod" startAt="2"/>
            </a:pPr>
            <a:r>
              <a:rPr lang="en-IN" sz="2600" dirty="0">
                <a:solidFill>
                  <a:schemeClr val="bg1"/>
                </a:solidFill>
              </a:rPr>
              <a:t>AI is a rapidly evolving field with vast potential to transform numerous aspects of society</a:t>
            </a:r>
            <a:endParaRPr sz="2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842948" y="4721154"/>
            <a:ext cx="5067518" cy="8100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2000" dirty="0"/>
              <a:t>True</a:t>
            </a:r>
          </a:p>
          <a:p>
            <a:pPr marL="342900" indent="-342900">
              <a:buAutoNum type="alphaLcParenBoth"/>
            </a:pPr>
            <a:r>
              <a:rPr lang="en-US" sz="2000" dirty="0"/>
              <a:t> False</a:t>
            </a: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09050" y="336243"/>
            <a:ext cx="98330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Reference books and web links</a:t>
            </a:r>
            <a:endParaRPr lang="en-IN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9661" y="3078558"/>
            <a:ext cx="107376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Web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3"/>
              </a:rPr>
              <a:t>https://www.geeksforgeeks.org/agents-artificial-intelligence/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https://www.simplilearn.com/what-is-intelligent-agent-in-ai-types-function-article</a:t>
            </a:r>
            <a:endParaRPr lang="en-IN" sz="2400" b="1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https://www.javatpoint.com/turing-test-in-ai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https://www.geeksforgeeks.org/turing-test-artificial-intelligence/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https://www.section.io/engineering-education/turing-test-in-ai/</a:t>
            </a:r>
            <a:endParaRPr lang="en-IN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832108" y="1505195"/>
            <a:ext cx="1097279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Text Books: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Russel</a:t>
            </a: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 and </a:t>
            </a:r>
            <a:r>
              <a:rPr lang="en-US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Norvig</a:t>
            </a: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‘Artificial Intelligence’, third edition, Pearson Education, PHI, (2015)</a:t>
            </a:r>
            <a:endParaRPr lang="en-US" sz="1100" dirty="0">
              <a:latin typeface="Arial" pitchFamily="34" charset="0"/>
              <a:cs typeface="Arial" pitchFamily="3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Elaine Rich &amp; Kevin Knight, ‘Artificial Intelligence’, 3nd Edition, Tata McGraw Hill Edition, Reprint (2008)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255</TotalTime>
  <Words>1522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Gill Sans MT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 Manika Prasuna</dc:creator>
  <cp:lastModifiedBy>P Manika Prasuna</cp:lastModifiedBy>
  <cp:revision>36</cp:revision>
  <dcterms:created xsi:type="dcterms:W3CDTF">2025-05-12T05:57:37Z</dcterms:created>
  <dcterms:modified xsi:type="dcterms:W3CDTF">2025-08-18T07:50:11Z</dcterms:modified>
</cp:coreProperties>
</file>