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0" r:id="rId3"/>
    <p:sldId id="324" r:id="rId4"/>
    <p:sldId id="332" r:id="rId5"/>
    <p:sldId id="342" r:id="rId6"/>
    <p:sldId id="343" r:id="rId7"/>
    <p:sldId id="359" r:id="rId8"/>
    <p:sldId id="344" r:id="rId9"/>
    <p:sldId id="358" r:id="rId10"/>
    <p:sldId id="345" r:id="rId11"/>
    <p:sldId id="346" r:id="rId12"/>
    <p:sldId id="347" r:id="rId13"/>
    <p:sldId id="348" r:id="rId14"/>
    <p:sldId id="349" r:id="rId15"/>
    <p:sldId id="350" r:id="rId16"/>
    <p:sldId id="333" r:id="rId17"/>
    <p:sldId id="334" r:id="rId18"/>
    <p:sldId id="351" r:id="rId19"/>
    <p:sldId id="352" r:id="rId20"/>
    <p:sldId id="353" r:id="rId21"/>
    <p:sldId id="354" r:id="rId22"/>
    <p:sldId id="355" r:id="rId23"/>
    <p:sldId id="356" r:id="rId24"/>
    <p:sldId id="35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4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31F814-EEE2-2E1A-87EE-A3D0371E4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AB1A5-09F2-5990-F455-AF75288048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A6385-E322-499C-825E-697C29A64B9E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4FF5D-6FBB-03CC-FA56-C94E129158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66618-C69F-0633-45B4-574DE4F61C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EC58-897F-41F0-B2CD-19798BED6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82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9B9D1-A434-4F22-9A04-441CAB3BDF4C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7F1D9-39A7-4809-86BB-257217234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9D682A86-A64B-8F49-FFBF-9516EA8504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30B654AC-15EC-3034-B49F-DBC7228EB0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42A748E1-C414-B65D-DA4D-34432D7812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69BC65A6-98BE-8F53-6405-0FD3BC5BCA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FBBCEA08-4989-6A81-0C66-C9FAC7968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BE6B36A5-204E-F1FB-50B2-F210E29820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EDF16CF5-D101-5D6F-E930-099D0BE3BB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B984F-0FA6-3593-7807-15C85306363D}"/>
              </a:ext>
            </a:extLst>
          </p:cNvPr>
          <p:cNvSpPr txBox="1"/>
          <p:nvPr/>
        </p:nvSpPr>
        <p:spPr>
          <a:xfrm>
            <a:off x="2246811" y="3687967"/>
            <a:ext cx="7010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4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-4</a:t>
            </a:r>
          </a:p>
          <a:p>
            <a:pPr algn="ctr"/>
            <a:r>
              <a:rPr lang="en-US" sz="2400" b="1" dirty="0"/>
              <a:t>Problem Formulation</a:t>
            </a:r>
          </a:p>
          <a:p>
            <a:pPr algn="ctr"/>
            <a:r>
              <a:rPr lang="en-US" sz="2400" b="1" dirty="0"/>
              <a:t>States, transitions, costs, search spaces, applications.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81891" y="171886"/>
            <a:ext cx="9820638" cy="71480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Objectives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D161-B892-479D-A003-8FCF4A49FB71}" type="datetime1">
              <a:rPr lang="en-US" smtClean="0"/>
              <a:pPr/>
              <a:t>9/13/2025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Deep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3D9-547B-48C8-AECD-0F5196EAB39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7977" y="885407"/>
            <a:ext cx="111992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1. </a:t>
            </a:r>
            <a:r>
              <a:rPr lang="en-US" sz="2400" dirty="0"/>
              <a:t>To introduce the concept and significance of problem formulation in Artificial Intelligence.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 To explain the six key components of a search problem</a:t>
            </a:r>
            <a:r>
              <a:rPr lang="en-US" sz="2400" b="1" dirty="0"/>
              <a:t>: initial state, actions, transition model, goal test, path cost, and search space.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3. To demonstrate how problem formulation supports the design of efficient AI solutions.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4. To explore real-life AI scenarios and explain how they are structured as search problems.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5. To develop the ability to formulate AI problems for use in algorithms and intelligent agents.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0548" y="260622"/>
            <a:ext cx="4223657" cy="396875"/>
          </a:xfrm>
        </p:spPr>
        <p:txBody>
          <a:bodyPr>
            <a:noAutofit/>
          </a:bodyPr>
          <a:lstStyle/>
          <a:p>
            <a:r>
              <a:rPr lang="en-IN" sz="3600" b="1" dirty="0"/>
              <a:t>Problem Formulation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287" y="638855"/>
            <a:ext cx="9603275" cy="590005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Problem Formulation: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dirty="0"/>
              <a:t>Problem formulation is the </a:t>
            </a:r>
            <a:r>
              <a:rPr lang="en-US" b="1" dirty="0"/>
              <a:t>process of defining a problem</a:t>
            </a:r>
            <a:r>
              <a:rPr lang="en-US" dirty="0"/>
              <a:t> in a structured and solvable way so that an </a:t>
            </a:r>
            <a:r>
              <a:rPr lang="en-US" b="1" dirty="0"/>
              <a:t>AI agent</a:t>
            </a:r>
            <a:r>
              <a:rPr lang="en-US" dirty="0"/>
              <a:t> can apply </a:t>
            </a:r>
            <a:r>
              <a:rPr lang="en-US" b="1" dirty="0"/>
              <a:t>search algorithms</a:t>
            </a:r>
            <a:r>
              <a:rPr lang="en-US" dirty="0"/>
              <a:t> to find a solution.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Core components of problem formulation</a:t>
            </a:r>
            <a:r>
              <a:rPr lang="en-US" dirty="0"/>
              <a:t> in AI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1. Initial State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2. Actions (Operators)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3. Transition Model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4. Goal Test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5. Path Cost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6. Search Space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2" y="136525"/>
            <a:ext cx="10515600" cy="470898"/>
          </a:xfrm>
        </p:spPr>
        <p:txBody>
          <a:bodyPr>
            <a:normAutofit fontScale="90000"/>
          </a:bodyPr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85" y="779115"/>
            <a:ext cx="9603275" cy="56985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1. Initial State</a:t>
            </a:r>
            <a:endParaRPr lang="en-US" dirty="0"/>
          </a:p>
          <a:p>
            <a:pPr algn="just"/>
            <a:r>
              <a:rPr lang="en-US" dirty="0"/>
              <a:t>The initial state represents the starting point of the agent in the environment. </a:t>
            </a:r>
          </a:p>
          <a:p>
            <a:pPr algn="just"/>
            <a:r>
              <a:rPr lang="en-US" dirty="0"/>
              <a:t>It is the situation in which the agent begins its task. </a:t>
            </a:r>
          </a:p>
          <a:p>
            <a:pPr algn="just"/>
            <a:r>
              <a:rPr lang="en-US" dirty="0"/>
              <a:t>For example, in a navigation task, the initial state could be the starting location of a vehicle or robot. </a:t>
            </a:r>
          </a:p>
          <a:p>
            <a:pPr marL="0" indent="0" algn="just">
              <a:buNone/>
            </a:pPr>
            <a:r>
              <a:rPr lang="en-US" dirty="0"/>
              <a:t>The entire search begins from this state.</a:t>
            </a:r>
          </a:p>
          <a:p>
            <a:pPr marL="0" indent="0" algn="just">
              <a:buNone/>
            </a:pPr>
            <a:r>
              <a:rPr lang="en-US" b="1" dirty="0"/>
              <a:t>2. Actions (Operators)</a:t>
            </a:r>
            <a:endParaRPr lang="en-US" dirty="0"/>
          </a:p>
          <a:p>
            <a:pPr algn="just"/>
            <a:r>
              <a:rPr lang="en-US" dirty="0"/>
              <a:t>Actions are the set of all legal moves or operations that an agent can perform in a particular state. </a:t>
            </a:r>
          </a:p>
          <a:p>
            <a:pPr algn="just"/>
            <a:r>
              <a:rPr lang="en-US" dirty="0"/>
              <a:t>These are often also referred to as operators. </a:t>
            </a:r>
          </a:p>
          <a:p>
            <a:pPr algn="just"/>
            <a:r>
              <a:rPr lang="en-US" dirty="0"/>
              <a:t>The set of actions varies based on the problem domain. </a:t>
            </a:r>
          </a:p>
          <a:p>
            <a:pPr algn="just"/>
            <a:r>
              <a:rPr lang="en-US" dirty="0"/>
              <a:t>In a maze-solving problem, actions may include "move forward," "turn left," or "turn right." </a:t>
            </a:r>
          </a:p>
          <a:p>
            <a:pPr algn="just"/>
            <a:r>
              <a:rPr lang="en-US" dirty="0"/>
              <a:t>These actions allow the agent to transition between states.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535274"/>
            <a:ext cx="10984522" cy="607453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3. Transition Model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The transition model defines what happens when an action is applied to a state.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It answers the question: "If the agent is in state S and performs action A, what will the resulting state S' be?"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This is also written as: Result(S, A) = S'.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The transition model can be deterministic, where each action always results in the same outcome, or stochastic, where actions can lead to different possible outcomes.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4. Goal Test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The goal test determines whether a given state is a goal state.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 It is a condition or set of conditions that the agent uses to evaluate whether it has found a solution.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For instance, in the 8-puzzle problem, the goal test checks whether the tiles are in a specific order.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36526"/>
            <a:ext cx="11066584" cy="634265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5. Path Cost</a:t>
            </a: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Path cost is a measure of the </a:t>
            </a:r>
            <a:r>
              <a:rPr lang="en-US" sz="2900" b="1" dirty="0">
                <a:solidFill>
                  <a:srgbClr val="C00000"/>
                </a:solidFill>
              </a:rPr>
              <a:t>total cost incurred by the agent to reach a goal state </a:t>
            </a:r>
            <a:r>
              <a:rPr lang="en-US" dirty="0"/>
              <a:t>from the initial state.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Each action has a cost, and the path cost is the </a:t>
            </a:r>
            <a:r>
              <a:rPr lang="en-US" sz="2900" b="1" dirty="0">
                <a:solidFill>
                  <a:srgbClr val="C00000"/>
                </a:solidFill>
              </a:rPr>
              <a:t>cumulative cost of all actions taken along the way.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The objective of many AI search algorithms is not just to find any solution, but to find the one with the </a:t>
            </a:r>
            <a:r>
              <a:rPr lang="en-US" b="1" dirty="0">
                <a:solidFill>
                  <a:srgbClr val="C00000"/>
                </a:solidFill>
              </a:rPr>
              <a:t>least path cost (optimal solution).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EFCA-BF37-3D1E-B1BD-08543667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4F42-328F-ACD7-3CBB-C2F578C6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36526"/>
            <a:ext cx="11066584" cy="634265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b="1" dirty="0"/>
              <a:t>6. Search Space</a:t>
            </a: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The search space refers to the </a:t>
            </a:r>
            <a:r>
              <a:rPr lang="en-US" sz="2900" b="1" dirty="0">
                <a:solidFill>
                  <a:srgbClr val="C00000"/>
                </a:solidFill>
              </a:rPr>
              <a:t>entire set of possible states </a:t>
            </a:r>
            <a:r>
              <a:rPr lang="en-US" dirty="0"/>
              <a:t>the agent can reach from the initial state by applying actions. It is usually visualized as a search tree or graph, where nodes represent states and edges represent actions.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Depending on the problem, the search space can be finite or infinite, and exploring it efficiently is key to effective problem-solving.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63F9F-523E-5441-3712-781A2505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0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6363789" cy="6886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Steps in 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7" y="663293"/>
            <a:ext cx="11112137" cy="591167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The process of problem formulation in AI involves </a:t>
            </a:r>
            <a:r>
              <a:rPr lang="en-US" b="1" dirty="0">
                <a:solidFill>
                  <a:srgbClr val="C00000"/>
                </a:solidFill>
              </a:rPr>
              <a:t>structuring a real-world issue into a well-defined computational problem that an AI system can solve</a:t>
            </a:r>
            <a:r>
              <a:rPr lang="en-US" dirty="0"/>
              <a:t>. This requires defining the </a:t>
            </a:r>
            <a:r>
              <a:rPr lang="en-US" b="1" dirty="0">
                <a:solidFill>
                  <a:srgbClr val="C00000"/>
                </a:solidFill>
              </a:rPr>
              <a:t>problem’s scope, specifying possible actions, and setting constraints to guide the AI toward an optimal solution</a:t>
            </a:r>
            <a:r>
              <a:rPr lang="en-US" dirty="0"/>
              <a:t>. Below are the essential steps in problem formulation.</a:t>
            </a:r>
          </a:p>
          <a:p>
            <a:pPr algn="just">
              <a:lnSpc>
                <a:spcPct val="160000"/>
              </a:lnSpc>
            </a:pPr>
            <a:r>
              <a:rPr lang="en-US" b="1" dirty="0"/>
              <a:t>Step 1: Define the Problem Statement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The first step is to clearly define the problem AI needs to solve. This involves identifying the real-world challenge, its objectives, and constraints. A well-defined problem helps AI agents apply the appropriate algorithms for efficient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065" y="517857"/>
            <a:ext cx="10609792" cy="2911143"/>
          </a:xfrm>
        </p:spPr>
        <p:txBody>
          <a:bodyPr/>
          <a:lstStyle/>
          <a:p>
            <a:r>
              <a:rPr lang="en-US" b="1" dirty="0"/>
              <a:t>Example:</a:t>
            </a:r>
            <a:r>
              <a:rPr lang="en-US" dirty="0"/>
              <a:t> In an AI-based package delivery system, the problem statement could be:</a:t>
            </a:r>
          </a:p>
          <a:p>
            <a:r>
              <a:rPr lang="en-US" dirty="0"/>
              <a:t>Deliver a package from </a:t>
            </a:r>
            <a:r>
              <a:rPr lang="en-US" b="1" dirty="0"/>
              <a:t>Warehouse A to Customer B</a:t>
            </a:r>
            <a:r>
              <a:rPr lang="en-US" dirty="0"/>
              <a:t>.</a:t>
            </a:r>
          </a:p>
          <a:p>
            <a:r>
              <a:rPr lang="en-US" dirty="0"/>
              <a:t>Minimize </a:t>
            </a:r>
            <a:r>
              <a:rPr lang="en-US" b="1" dirty="0"/>
              <a:t>delivery time and fuel consumption</a:t>
            </a:r>
            <a:r>
              <a:rPr lang="en-US" dirty="0"/>
              <a:t>.</a:t>
            </a:r>
          </a:p>
          <a:p>
            <a:r>
              <a:rPr lang="en-US" dirty="0"/>
              <a:t>Adapt to </a:t>
            </a:r>
            <a:r>
              <a:rPr lang="en-US" b="1" dirty="0"/>
              <a:t>traffic conditions and weather changes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608" y="433419"/>
            <a:ext cx="9603275" cy="6288056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Step 2: Establish the Initial State and Goal State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initial state</a:t>
            </a:r>
            <a:r>
              <a:rPr lang="en-US" dirty="0"/>
              <a:t>: The starting conditions of the system.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goal state</a:t>
            </a:r>
            <a:r>
              <a:rPr lang="en-US" dirty="0"/>
              <a:t>: The desired outcome after executing AI-driven actions.</a:t>
            </a:r>
          </a:p>
          <a:p>
            <a:pPr>
              <a:lnSpc>
                <a:spcPct val="160000"/>
              </a:lnSpc>
            </a:pPr>
            <a:r>
              <a:rPr lang="en-US" dirty="0"/>
              <a:t>For the package delivery AI, the:</a:t>
            </a:r>
          </a:p>
          <a:p>
            <a:pPr>
              <a:lnSpc>
                <a:spcPct val="160000"/>
              </a:lnSpc>
            </a:pPr>
            <a:r>
              <a:rPr lang="en-US" b="1" dirty="0"/>
              <a:t>Initial state</a:t>
            </a:r>
            <a:r>
              <a:rPr lang="en-US" dirty="0"/>
              <a:t> is the </a:t>
            </a:r>
            <a:r>
              <a:rPr lang="en-US" b="1" dirty="0"/>
              <a:t>package at Warehouse A</a:t>
            </a:r>
            <a:r>
              <a:rPr lang="en-US" dirty="0"/>
              <a:t>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Goal state</a:t>
            </a:r>
            <a:r>
              <a:rPr lang="en-US" dirty="0"/>
              <a:t> is the </a:t>
            </a:r>
            <a:r>
              <a:rPr lang="en-US" b="1" dirty="0"/>
              <a:t>successful delivery to Customer B</a:t>
            </a:r>
            <a:r>
              <a:rPr lang="en-US" dirty="0"/>
              <a:t> within the shortest possible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356" y="136525"/>
            <a:ext cx="9603275" cy="6421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Determine Available Actions and State Transition Model</a:t>
            </a:r>
          </a:p>
          <a:p>
            <a:r>
              <a:rPr lang="en-US" dirty="0"/>
              <a:t>Next, AI must determine what actions it can take and how those actions impact the problem state.</a:t>
            </a:r>
          </a:p>
          <a:p>
            <a:r>
              <a:rPr lang="en-US" b="1" dirty="0"/>
              <a:t>Available actions</a:t>
            </a:r>
            <a:r>
              <a:rPr lang="en-US" dirty="0"/>
              <a:t>: The AI’s possible moves in response to real-world conditions.</a:t>
            </a:r>
          </a:p>
          <a:p>
            <a:r>
              <a:rPr lang="en-US" b="1" dirty="0"/>
              <a:t>State transition model</a:t>
            </a:r>
            <a:r>
              <a:rPr lang="en-US" dirty="0"/>
              <a:t>: How each action modifies the AI’s state.</a:t>
            </a:r>
          </a:p>
          <a:p>
            <a:r>
              <a:rPr lang="en-US" dirty="0"/>
              <a:t>For the package delivery AI, actions include:</a:t>
            </a:r>
          </a:p>
          <a:p>
            <a:r>
              <a:rPr lang="en-US" b="1" dirty="0"/>
              <a:t>Move forward</a:t>
            </a:r>
            <a:r>
              <a:rPr lang="en-US" dirty="0"/>
              <a:t> (advance to the next road segment).</a:t>
            </a:r>
          </a:p>
          <a:p>
            <a:r>
              <a:rPr lang="en-US" b="1" dirty="0"/>
              <a:t>Turn left or right</a:t>
            </a:r>
            <a:r>
              <a:rPr lang="en-US" dirty="0"/>
              <a:t> (change direction at intersections).</a:t>
            </a:r>
          </a:p>
          <a:p>
            <a:r>
              <a:rPr lang="en-US" b="1" dirty="0"/>
              <a:t>Stop</a:t>
            </a:r>
            <a:r>
              <a:rPr lang="en-US" dirty="0"/>
              <a:t> (wait for traffic signals or customer confirmation).</a:t>
            </a:r>
          </a:p>
          <a:p>
            <a:r>
              <a:rPr lang="en-US" dirty="0"/>
              <a:t>The transition model helps AI predict the next state based on chosen actions, ensuring logical and efficient problem-solving.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81" y="226758"/>
            <a:ext cx="10407319" cy="64178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Step 4: Define Constraints and Path Cost</a:t>
            </a:r>
          </a:p>
          <a:p>
            <a:pPr>
              <a:lnSpc>
                <a:spcPct val="170000"/>
              </a:lnSpc>
            </a:pPr>
            <a:r>
              <a:rPr lang="en-US" b="1" dirty="0"/>
              <a:t>Constraints</a:t>
            </a:r>
            <a:r>
              <a:rPr lang="en-US" dirty="0"/>
              <a:t>: Conditions that restrict available solutions (e.g., traffic rules, package weight limits, or delivery deadlines).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Path cost function</a:t>
            </a:r>
            <a:r>
              <a:rPr lang="en-US" dirty="0"/>
              <a:t>: A metric used to determine the most optimal solution based on the least cost (e.g., shortest path, lowest fuel consumption).</a:t>
            </a:r>
          </a:p>
          <a:p>
            <a:pPr>
              <a:lnSpc>
                <a:spcPct val="170000"/>
              </a:lnSpc>
            </a:pPr>
            <a:r>
              <a:rPr lang="en-US" dirty="0"/>
              <a:t>For the package delivery AI, optimization factors may include:</a:t>
            </a:r>
          </a:p>
          <a:p>
            <a:pPr>
              <a:lnSpc>
                <a:spcPct val="170000"/>
              </a:lnSpc>
            </a:pPr>
            <a:r>
              <a:rPr lang="en-US" b="1" dirty="0"/>
              <a:t>Shortest distance to the destination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Minimized fuel consumption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Avoiding congested roads for faster delivery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365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400" b="1" dirty="0"/>
              <a:t>Example of Problem Formulation in AI: Autonomous Package Delivery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351068"/>
            <a:ext cx="11286308" cy="550693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Autonomous package delivery is a real-world AI application where an AI system plans and executes an optimal delivery route while considering factors </a:t>
            </a:r>
            <a:r>
              <a:rPr lang="en-US" b="1" dirty="0">
                <a:solidFill>
                  <a:srgbClr val="C00000"/>
                </a:solidFill>
              </a:rPr>
              <a:t>like fuel efficiency, delivery time, and road conditions. </a:t>
            </a:r>
            <a:r>
              <a:rPr lang="en-US" dirty="0"/>
              <a:t>Below, we formulate this problem with code snippets demonstrating each key component, followed by a final implementation.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Initial State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initial state represents the starting conditions of the AI system before any action is taken.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package is at Warehouse A</a:t>
            </a:r>
            <a:r>
              <a:rPr lang="en-US" dirty="0"/>
              <a:t>, ready for dispatch.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autonomous delivery vehicle is stationed at the warehouse</a:t>
            </a:r>
            <a:r>
              <a:rPr lang="en-US" dirty="0"/>
              <a:t>, awaiting route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4614" y="634554"/>
            <a:ext cx="9574446" cy="5182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150" y="230475"/>
            <a:ext cx="9603275" cy="57747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C00000"/>
                </a:solidFill>
              </a:rPr>
              <a:t>Action Set</a:t>
            </a:r>
          </a:p>
          <a:p>
            <a:pPr>
              <a:lnSpc>
                <a:spcPct val="160000"/>
              </a:lnSpc>
            </a:pPr>
            <a:r>
              <a:rPr lang="en-US" sz="2600" dirty="0"/>
              <a:t>The action set defines the AI’s possible moves to navigate toward its goal.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Available Actions:</a:t>
            </a:r>
            <a:endParaRPr lang="en-US" sz="2600" dirty="0"/>
          </a:p>
          <a:p>
            <a:pPr>
              <a:lnSpc>
                <a:spcPct val="160000"/>
              </a:lnSpc>
            </a:pPr>
            <a:r>
              <a:rPr lang="en-US" sz="2600" b="1" dirty="0"/>
              <a:t>Move Forward</a:t>
            </a:r>
            <a:r>
              <a:rPr lang="en-US" sz="2600" dirty="0"/>
              <a:t> – Continue in the current direction.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Turn Left</a:t>
            </a:r>
            <a:r>
              <a:rPr lang="en-US" sz="2600" dirty="0"/>
              <a:t> – Change direction at an intersection.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Turn Right</a:t>
            </a:r>
            <a:r>
              <a:rPr lang="en-US" sz="2600" dirty="0"/>
              <a:t> – Navigate an alternative route.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Stop</a:t>
            </a:r>
            <a:r>
              <a:rPr lang="en-US" sz="2600" dirty="0"/>
              <a:t> – Halt movement due to an obstacle or delivery confirmation.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071" y="663842"/>
            <a:ext cx="9603275" cy="10492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6071" y="136525"/>
            <a:ext cx="9399636" cy="6490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645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Transition Model</a:t>
            </a:r>
          </a:p>
          <a:p>
            <a:pPr>
              <a:lnSpc>
                <a:spcPct val="150000"/>
              </a:lnSpc>
            </a:pPr>
            <a:r>
              <a:rPr lang="en-US" dirty="0"/>
              <a:t>The transition model describes how the system moves from one state to another based on the actions performed.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AI chooses </a:t>
            </a:r>
            <a:r>
              <a:rPr lang="en-US" b="1" dirty="0"/>
              <a:t>Move Forward</a:t>
            </a:r>
            <a:r>
              <a:rPr lang="en-US" dirty="0"/>
              <a:t>, the system updates its </a:t>
            </a:r>
            <a:r>
              <a:rPr lang="en-US" b="1" dirty="0"/>
              <a:t>current GPS location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AI selects </a:t>
            </a:r>
            <a:r>
              <a:rPr lang="en-US" b="1" dirty="0"/>
              <a:t>Turn Left or Turn Right</a:t>
            </a:r>
            <a:r>
              <a:rPr lang="en-US" dirty="0"/>
              <a:t>, it updates its </a:t>
            </a:r>
            <a:r>
              <a:rPr lang="en-US" b="1" dirty="0"/>
              <a:t>heading and direction</a:t>
            </a:r>
            <a:r>
              <a:rPr lang="en-US" dirty="0"/>
              <a:t> accordingly.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215" y="2021681"/>
            <a:ext cx="9964615" cy="3980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914" y="615134"/>
            <a:ext cx="10515600" cy="21541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Goal State</a:t>
            </a:r>
          </a:p>
          <a:p>
            <a:r>
              <a:rPr lang="en-US" dirty="0"/>
              <a:t>The goal state defines the successful completion of the AI’s task.</a:t>
            </a:r>
          </a:p>
          <a:p>
            <a:r>
              <a:rPr lang="en-US" b="1" dirty="0"/>
              <a:t>The package is delivered to Destination B.</a:t>
            </a:r>
            <a:endParaRPr lang="en-US" dirty="0"/>
          </a:p>
          <a:p>
            <a:r>
              <a:rPr lang="en-US" b="1" dirty="0"/>
              <a:t>Time and fuel efficiency are optimized.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8523" y="808892"/>
            <a:ext cx="10140462" cy="323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125" y="519339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Path Cost Function</a:t>
            </a:r>
          </a:p>
          <a:p>
            <a:r>
              <a:rPr lang="en-US" dirty="0"/>
              <a:t>The path cost function evaluates the efficiency of different routes and ensures optimal decision-making.</a:t>
            </a:r>
          </a:p>
          <a:p>
            <a:r>
              <a:rPr lang="en-US" b="1" dirty="0"/>
              <a:t>Fuel efficiency</a:t>
            </a:r>
            <a:r>
              <a:rPr lang="en-US" dirty="0"/>
              <a:t> – Selecting routes with lower energy costs.</a:t>
            </a:r>
          </a:p>
          <a:p>
            <a:r>
              <a:rPr lang="en-US" b="1" dirty="0"/>
              <a:t>Delivery time</a:t>
            </a:r>
            <a:r>
              <a:rPr lang="en-US" dirty="0"/>
              <a:t> – Prioritizing the fastest path while avoiding unnecessary detours.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1939" y="2063261"/>
            <a:ext cx="9530861" cy="3458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Robot Navigation</a:t>
            </a:r>
            <a:r>
              <a:rPr lang="en-US" dirty="0"/>
              <a:t>: From one point to another avoiding obstacles</a:t>
            </a:r>
          </a:p>
          <a:p>
            <a:r>
              <a:rPr lang="en-US" b="1" dirty="0"/>
              <a:t>Logistics &amp; Delivery</a:t>
            </a:r>
            <a:r>
              <a:rPr lang="en-US" dirty="0"/>
              <a:t>: Optimal routing of delivery vehicles</a:t>
            </a:r>
          </a:p>
          <a:p>
            <a:r>
              <a:rPr lang="en-US" b="1" dirty="0"/>
              <a:t>Game Playing</a:t>
            </a:r>
            <a:r>
              <a:rPr lang="en-US" dirty="0"/>
              <a:t>: Strategic decision-making in games like chess</a:t>
            </a:r>
          </a:p>
          <a:p>
            <a:r>
              <a:rPr lang="en-US" b="1" dirty="0"/>
              <a:t>Scheduling</a:t>
            </a:r>
            <a:r>
              <a:rPr lang="en-US" dirty="0"/>
              <a:t>: Assigning tasks to time slots efficiently</a:t>
            </a:r>
          </a:p>
          <a:p>
            <a:r>
              <a:rPr lang="en-US" b="1" dirty="0"/>
              <a:t>Medical Diagnosis</a:t>
            </a:r>
            <a:r>
              <a:rPr lang="en-US" dirty="0"/>
              <a:t>: Finding the illness that best explains the symptoms</a:t>
            </a:r>
          </a:p>
          <a:p>
            <a:r>
              <a:rPr lang="en-US" b="1" dirty="0"/>
              <a:t>Theorem Proving</a:t>
            </a:r>
            <a:r>
              <a:rPr lang="en-US" dirty="0"/>
              <a:t>: Finding a sequence of logical deductions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in Problem Formulation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75706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Problem formulation in AI comes with various challenges that affect accuracy, efficiency, and decision-making. Some key difficulties include: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Complexity of Real-World Problems</a:t>
            </a:r>
            <a:r>
              <a:rPr lang="en-US" dirty="0"/>
              <a:t> – AI must handle uncertainty, dynamic environments, and incomplete data, making problem structuring difficult.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Defining the Correct Goal</a:t>
            </a:r>
            <a:r>
              <a:rPr lang="en-US" dirty="0"/>
              <a:t> – Some AI applications involve conflicting objectives (e.g., balancing speed and fuel efficiency in autonomous vehicles).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Computational Constraints</a:t>
            </a:r>
            <a:r>
              <a:rPr lang="en-US" dirty="0"/>
              <a:t> – AI-driven systems often require large-scale processing power, making optimization crucial.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Ethical Considerations</a:t>
            </a:r>
            <a:r>
              <a:rPr lang="en-US" dirty="0"/>
              <a:t> – AI in healthcare, finance, and law must follow fairness, privacy, and transparency guidelines to ensure responsible decision-making.</a:t>
            </a:r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497</TotalTime>
  <Words>1529</Words>
  <Application>Microsoft Office PowerPoint</Application>
  <PresentationFormat>Widescreen</PresentationFormat>
  <Paragraphs>142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Gill Sans MT</vt:lpstr>
      <vt:lpstr>Office Theme</vt:lpstr>
      <vt:lpstr>PowerPoint Presentation</vt:lpstr>
      <vt:lpstr>Objectives</vt:lpstr>
      <vt:lpstr>Problem Formulation</vt:lpstr>
      <vt:lpstr>CONTD..</vt:lpstr>
      <vt:lpstr>PowerPoint Presentation</vt:lpstr>
      <vt:lpstr>PowerPoint Presentation</vt:lpstr>
      <vt:lpstr>PowerPoint Presentation</vt:lpstr>
      <vt:lpstr>Steps in Problem Formulation</vt:lpstr>
      <vt:lpstr>PowerPoint Presentation</vt:lpstr>
      <vt:lpstr>PowerPoint Presentation</vt:lpstr>
      <vt:lpstr>PowerPoint Presentation</vt:lpstr>
      <vt:lpstr>PowerPoint Presentation</vt:lpstr>
      <vt:lpstr>Example of Problem Formulation in AI: Autonomous Package Delivery</vt:lpstr>
      <vt:lpstr>PowerPoint Presentation</vt:lpstr>
      <vt:lpstr>PowerPoint Presentation</vt:lpstr>
      <vt:lpstr>PowerPoint Presentation</vt:lpstr>
      <vt:lpstr>PowerPoint Presentation</vt:lpstr>
      <vt:lpstr>CONTD..</vt:lpstr>
      <vt:lpstr>PowerPoint Presentation</vt:lpstr>
      <vt:lpstr>PowerPoint Presentation</vt:lpstr>
      <vt:lpstr>PowerPoint Presentation</vt:lpstr>
      <vt:lpstr>PowerPoint Presentation</vt:lpstr>
      <vt:lpstr>Applications of Problem Formulation</vt:lpstr>
      <vt:lpstr>Challenges in Problem Formulation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RAHUL SINCARA</cp:lastModifiedBy>
  <cp:revision>34</cp:revision>
  <dcterms:created xsi:type="dcterms:W3CDTF">2025-05-12T05:57:37Z</dcterms:created>
  <dcterms:modified xsi:type="dcterms:W3CDTF">2025-09-13T12:27:06Z</dcterms:modified>
</cp:coreProperties>
</file>