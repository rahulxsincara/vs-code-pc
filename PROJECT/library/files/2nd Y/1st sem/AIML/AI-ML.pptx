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sldIdLst>
    <p:sldId id="256" r:id="rId2"/>
    <p:sldId id="260" r:id="rId3"/>
    <p:sldId id="259" r:id="rId4"/>
    <p:sldId id="261" r:id="rId5"/>
    <p:sldId id="266" r:id="rId6"/>
    <p:sldId id="267" r:id="rId7"/>
    <p:sldId id="268" r:id="rId8"/>
    <p:sldId id="257" r:id="rId9"/>
    <p:sldId id="258" r:id="rId10"/>
    <p:sldId id="269" r:id="rId11"/>
    <p:sldId id="270" r:id="rId12"/>
    <p:sldId id="271" r:id="rId13"/>
    <p:sldId id="272" r:id="rId14"/>
    <p:sldId id="273" r:id="rId15"/>
    <p:sldId id="265" r:id="rId16"/>
    <p:sldId id="262" r:id="rId17"/>
    <p:sldId id="263" r:id="rId18"/>
    <p:sldId id="26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674CB-3709-4ACF-BB61-29ADEA3D41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33272"/>
            <a:ext cx="9144000" cy="2478024"/>
          </a:xfrm>
        </p:spPr>
        <p:txBody>
          <a:bodyPr lIns="0" tIns="0" rIns="0" bIns="0" anchor="b">
            <a:noAutofit/>
          </a:bodyPr>
          <a:lstStyle>
            <a:lvl1pPr algn="ctr">
              <a:defRPr sz="4000" spc="7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6DA6BE-9B64-48FC-92D1-EF0D426A3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2192"/>
            <a:ext cx="9144000" cy="143560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3AE59-8E21-449F-86DA-5BE29701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A5808-3B61-48CC-92EF-85AC2E0DFA56}" type="datetime2">
              <a:rPr lang="en-US" smtClean="0"/>
              <a:t>Friday, July 25,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CCD60-9970-49FD-8254-21154BAA1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0A488-07A7-42F9-B1DF-68545B754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069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E0F35-0AE7-48AB-9005-F1DB4BD0B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D4022-C31F-4C4C-B5BF-5F9730C08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45EE9-11D3-436C-9D73-1AA6CCDB1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AF3C6-0FD4-4939-991C-00DDE5C56815}" type="datetime2">
              <a:rPr lang="en-US" smtClean="0"/>
              <a:t>Friday, July 25,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17DCF-881F-4956-81AE-A6D27A88F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65F17-AD75-4B7E-970D-5D4DBD5D1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461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12CB-05D8-4D62-BDC5-812DB6DD0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709738"/>
            <a:ext cx="9966960" cy="285273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 spc="7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2F020-8516-4B9E-B455-5731ED6C9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4974336"/>
            <a:ext cx="9966961" cy="1115568"/>
          </a:xfrm>
        </p:spPr>
        <p:txBody>
          <a:bodyPr>
            <a:normAutofit/>
          </a:bodyPr>
          <a:lstStyle>
            <a:lvl1pPr marL="0" indent="0"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22993-6E28-44BB-B983-095B476B8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07482-8128-47C6-A8DD-6452B0291CFF}" type="datetime2">
              <a:rPr lang="en-US" smtClean="0"/>
              <a:t>Friday, July 25,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09971-06C9-462B-81D9-BEF24C708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A076D-47C1-49CD-9A8B-956DB3FC3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812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8DFBD-F5ED-455C-8AD0-97476A55E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0E58C-F463-4D52-9225-9410133113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2112264"/>
            <a:ext cx="4846320" cy="3959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F7BDB4-97FA-485D-A557-6F96692BA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66560" y="2112265"/>
            <a:ext cx="4846320" cy="3959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50007-C799-4117-8ACD-5EE980E63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03F25-275E-41DE-BE3B-EBF0DB49F9B1}" type="datetime2">
              <a:rPr lang="en-US" smtClean="0"/>
              <a:t>Friday, July 25,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4E8968-6BAD-4D5A-BF1D-911C7A39C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D8C08-BF20-4D5E-9004-0C075C36D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540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36E0D-26A5-455A-A8BD-70DA8BC03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484107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D4EA0-094D-4056-9032-BFB44B408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71600" y="3018472"/>
            <a:ext cx="4841076" cy="31048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C0CCE8-718F-4620-8B4A-C60EEA7B88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66560" y="2112264"/>
            <a:ext cx="48463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CE86DF-0069-4D31-BDD3-A9A2F9B7B4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66560" y="3018471"/>
            <a:ext cx="4841076" cy="3104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A5ED06-FE54-4B86-A8D4-07D0EB08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5572-4A44-4171-84AA-64D42C8050A6}" type="datetime2">
              <a:rPr lang="en-US" smtClean="0"/>
              <a:t>Friday, July 25, 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9EC6C3-0950-4AFE-936A-9AB5D227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84B1D1-BE0C-48F4-BC74-90675A0F0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D453288-3D76-40C1-BE00-223AB28F1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418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B1716-24B0-42CD-95B6-84309259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3617E-4B11-481F-AC6E-000317902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1612E-528E-4FD5-9E9E-E15F1108F171}" type="datetime2">
              <a:rPr lang="en-US" smtClean="0"/>
              <a:t>Friday, July 25,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F19CC-06D3-40E9-81B5-63B457B22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EFC312-3AA5-46F7-B701-3D9327A68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74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C9E28E-1389-47AF-B3EB-22571417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6D862-A06D-436F-A92E-EBAAD50B6E50}" type="datetime2">
              <a:rPr lang="en-US" smtClean="0"/>
              <a:t>Friday, July 25, 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1B3C5-CEC7-427F-931C-1318C421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144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B55F-536E-4547-A5D2-0483FC368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425"/>
            <a:ext cx="3932237" cy="1894511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17D3C-533B-4EA9-886B-FAE59956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0992" y="987425"/>
            <a:ext cx="5687568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9D2E1-4B17-4608-961E-2C4719855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58510"/>
            <a:ext cx="3932237" cy="28025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A3535-184C-438C-AE91-9C42B7C5A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E0B7D-2260-4809-8F0A-9E5F3E24F169}" type="datetime2">
              <a:rPr lang="en-US" smtClean="0"/>
              <a:t>Friday, July 25,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6DBC3-4A58-42BA-9B55-A9A725103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E6563-0AB6-4038-A12B-A259552DB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991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02C5-1E3B-4C62-A538-59BB57286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552"/>
            <a:ext cx="3932237" cy="1892808"/>
          </a:xfrm>
        </p:spPr>
        <p:txBody>
          <a:bodyPr anchor="b"/>
          <a:lstStyle>
            <a:lvl1pPr>
              <a:defRPr sz="3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2CF574-95CE-4E60-B2CF-3B5B4F33A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05319" y="987425"/>
            <a:ext cx="583324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39F7C-C735-4356-8B04-89E190479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33286"/>
            <a:ext cx="3932237" cy="2835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706DF-52A3-4F34-9BF5-E1ACD5D5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E4735-C637-46A3-94EB-AB3AC4188D2F}" type="datetime2">
              <a:rPr lang="en-US" smtClean="0"/>
              <a:t>Friday, July 25,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25E53-E72E-4110-BB6B-3477F56C3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86F8F-3D62-4CEC-AD9A-B70848E6A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118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DC3B6-2D75-4EC4-9120-88DCE0EA6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B06CB-A0FE-4499-B674-90C8C281A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FD700-765A-4DE6-A8EC-9D9D92FCB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E98AF-4574-4509-BF7A-519ACD5BF826}" type="datetime2">
              <a:rPr lang="en-US" smtClean="0"/>
              <a:t>Friday, July 25,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664EC-C4B1-4D14-9ED3-14C6CCBFF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F5526-E518-4133-9F44-D812576C1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80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62998-15B1-4CA8-8C60-7801001F80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38899"/>
            <a:ext cx="2628900" cy="48493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1AE278-0885-4594-AB09-120344C7D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49235" y="838900"/>
            <a:ext cx="7723265" cy="4849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850CC-FB43-4988-8D4E-9C54C2018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D97D4-9636-490F-85D0-E926C2B6F3B1}" type="datetime2">
              <a:rPr lang="en-US" smtClean="0"/>
              <a:t>Friday, July 25,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70300-3853-4FB4-A084-CF6E5CF2B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BAFB0-25AA-4B69-8418-418F47A92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383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CF2F3BB-127D-44BC-A8EF-A8BB5F5911CA}"/>
              </a:ext>
            </a:extLst>
          </p:cNvPr>
          <p:cNvSpPr/>
          <p:nvPr/>
        </p:nvSpPr>
        <p:spPr>
          <a:xfrm rot="10800000" flipH="1">
            <a:off x="0" y="6401226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0D1F30-F118-4A1F-A48F-7E5706959F64}"/>
              </a:ext>
            </a:extLst>
          </p:cNvPr>
          <p:cNvSpPr/>
          <p:nvPr/>
        </p:nvSpPr>
        <p:spPr>
          <a:xfrm flipH="1">
            <a:off x="4038602" y="6401228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AE890C-17CE-44C0-BDED-BA68F92A8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10A6E-46D1-42CF-996C-2207737FB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10241280" cy="395935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B5247-D236-462B-BCE0-2A24DF75B0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rgbClr val="FFFFFF"/>
                </a:solidFill>
              </a:defRPr>
            </a:lvl1pPr>
          </a:lstStyle>
          <a:p>
            <a:fld id="{AE0C963C-C1DB-4AFD-9DDC-0691666BF49B}" type="datetime2">
              <a:rPr lang="en-US" smtClean="0"/>
              <a:pPr/>
              <a:t>Friday, July 25, 2025</a:t>
            </a:fld>
            <a:endParaRPr lang="en-US" cap="al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55C58-7DDF-4CD4-96AD-F9CC844D84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pPr algn="l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5647-A849-45D9-BC71-46A12E6DE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C01389E6-C847-4AD0-B56D-D205B2EAB1EE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762639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52" r:id="rId4"/>
    <p:sldLayoutId id="2147483753" r:id="rId5"/>
    <p:sldLayoutId id="2147483758" r:id="rId6"/>
    <p:sldLayoutId id="2147483754" r:id="rId7"/>
    <p:sldLayoutId id="2147483755" r:id="rId8"/>
    <p:sldLayoutId id="2147483756" r:id="rId9"/>
    <p:sldLayoutId id="2147483757" r:id="rId10"/>
    <p:sldLayoutId id="214748375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3F794D0-2982-490E-88DA-93D4897508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5BF8A5-8A29-DD0B-0CDA-CDB4155C63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022" b="21955"/>
          <a:stretch>
            <a:fillRect/>
          </a:stretch>
        </p:blipFill>
        <p:spPr>
          <a:xfrm>
            <a:off x="-2" y="10"/>
            <a:ext cx="12192002" cy="446103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FD24A3D-F07A-44A9-BE55-5576292E15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460827"/>
            <a:ext cx="12192003" cy="2397392"/>
          </a:xfrm>
          <a:prstGeom prst="rect">
            <a:avLst/>
          </a:prstGeom>
          <a:gradFill>
            <a:gsLst>
              <a:gs pos="8000">
                <a:schemeClr val="accent6"/>
              </a:gs>
              <a:gs pos="86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4441C9-FD2D-4031-B5C5-67478196C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038600" y="4463553"/>
            <a:ext cx="8153401" cy="2394447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2">
                  <a:alpha val="81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BF09AEC-6E6E-418F-9974-8730F1B2B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4834054">
            <a:off x="2944145" y="2710934"/>
            <a:ext cx="3118759" cy="4639931"/>
          </a:xfrm>
          <a:custGeom>
            <a:avLst/>
            <a:gdLst>
              <a:gd name="connsiteX0" fmla="*/ 3118759 w 3118759"/>
              <a:gd name="connsiteY0" fmla="*/ 79510 h 4639931"/>
              <a:gd name="connsiteX1" fmla="*/ 1204940 w 3118759"/>
              <a:gd name="connsiteY1" fmla="*/ 4639931 h 4639931"/>
              <a:gd name="connsiteX2" fmla="*/ 1103495 w 3118759"/>
              <a:gd name="connsiteY2" fmla="*/ 4578302 h 4639931"/>
              <a:gd name="connsiteX3" fmla="*/ 0 w 3118759"/>
              <a:gd name="connsiteY3" fmla="*/ 2502877 h 4639931"/>
              <a:gd name="connsiteX4" fmla="*/ 2502877 w 3118759"/>
              <a:gd name="connsiteY4" fmla="*/ 0 h 4639931"/>
              <a:gd name="connsiteX5" fmla="*/ 3007294 w 3118759"/>
              <a:gd name="connsiteY5" fmla="*/ 50850 h 4639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18759" h="4639931">
                <a:moveTo>
                  <a:pt x="3118759" y="79510"/>
                </a:moveTo>
                <a:lnTo>
                  <a:pt x="1204940" y="4639931"/>
                </a:lnTo>
                <a:lnTo>
                  <a:pt x="1103495" y="4578302"/>
                </a:lnTo>
                <a:cubicBezTo>
                  <a:pt x="437725" y="4128517"/>
                  <a:pt x="0" y="3366815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2675665" y="0"/>
                  <a:pt x="2844363" y="17509"/>
                  <a:pt x="3007294" y="50850"/>
                </a:cubicBezTo>
                <a:close/>
              </a:path>
            </a:pathLst>
          </a:custGeom>
          <a:gradFill>
            <a:gsLst>
              <a:gs pos="0">
                <a:schemeClr val="accent6">
                  <a:alpha val="12000"/>
                </a:schemeClr>
              </a:gs>
              <a:gs pos="100000">
                <a:schemeClr val="accent6">
                  <a:lumMod val="60000"/>
                  <a:lumOff val="40000"/>
                  <a:alpha val="20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D9D3989-3E00-4727-914E-959DFE8FA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76701" y="4460827"/>
            <a:ext cx="8115300" cy="1945408"/>
          </a:xfrm>
          <a:prstGeom prst="rect">
            <a:avLst/>
          </a:prstGeom>
          <a:gradFill>
            <a:gsLst>
              <a:gs pos="0">
                <a:schemeClr val="accent6">
                  <a:alpha val="16000"/>
                </a:schemeClr>
              </a:gs>
              <a:gs pos="62000">
                <a:schemeClr val="accent5">
                  <a:alpha val="0"/>
                </a:scheme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20545F-261C-5E52-99A4-DA9EF10128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3807" y="4611271"/>
            <a:ext cx="9436593" cy="1171556"/>
          </a:xfrm>
        </p:spPr>
        <p:txBody>
          <a:bodyPr>
            <a:normAutofit/>
          </a:bodyPr>
          <a:lstStyle/>
          <a:p>
            <a:pPr algn="l"/>
            <a:r>
              <a:rPr lang="en-IN" sz="3600" dirty="0">
                <a:solidFill>
                  <a:schemeClr val="bg1"/>
                </a:solidFill>
              </a:rPr>
              <a:t>AIML    MODULE-1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52582B-5E26-2665-CC7E-1562B93F0D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1" y="5970897"/>
            <a:ext cx="9448800" cy="429904"/>
          </a:xfrm>
        </p:spPr>
        <p:txBody>
          <a:bodyPr>
            <a:normAutofit/>
          </a:bodyPr>
          <a:lstStyle/>
          <a:p>
            <a:pPr algn="l"/>
            <a:endParaRPr lang="en-IN" sz="1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746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5F685-5700-2F9B-6C6D-22AC1DEC5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8648"/>
            <a:ext cx="10241280" cy="352552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AGENT VS RATIONAL 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C719B-1093-278E-4F0B-D12EF77D06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904240"/>
            <a:ext cx="4846320" cy="5167376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general term for any system that can perceive its environment and act upon it 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include robots, software programs, or even a thermostat.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agent's actions are determined by its internal rules or program.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doesn't necessarily make the "best" decisions, it just acts based on its programming.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D0B04A-05AC-C17B-D3D9-C4260E3082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66560" y="904241"/>
            <a:ext cx="4846320" cy="5167376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agent that chooses actions that are expected to maximize its performance measure, given the information it has.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reasoning, prediction, and sometimes learning to make optimal decisions.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Rationality is about making the best possible decision given the circumstances and the information available.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doesn't guarantee success but aims to maximize the chances of success based on available knowledge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9962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E37772-54FD-4941-7B87-7E9699D61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383CC5D-71E8-4CB2-8E4A-F1E4FF6DC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DA5AC1-43C5-4243-9028-07DBB80D0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"/>
            <a:ext cx="12192000" cy="1600201"/>
          </a:xfrm>
          <a:prstGeom prst="rect">
            <a:avLst/>
          </a:prstGeom>
          <a:gradFill>
            <a:gsLst>
              <a:gs pos="0">
                <a:schemeClr val="accent5">
                  <a:alpha val="83000"/>
                </a:schemeClr>
              </a:gs>
              <a:gs pos="100000">
                <a:schemeClr val="accent6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4EDA1C-27A1-4C83-ACE4-6675EC924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9161" y="9109"/>
            <a:ext cx="7792839" cy="1594270"/>
          </a:xfrm>
          <a:prstGeom prst="rect">
            <a:avLst/>
          </a:prstGeom>
          <a:gradFill>
            <a:gsLst>
              <a:gs pos="22000">
                <a:schemeClr val="accent2">
                  <a:alpha val="0"/>
                </a:schemeClr>
              </a:gs>
              <a:gs pos="99000">
                <a:schemeClr val="accent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C2185E4-B584-4B9D-9440-DEA0FB9D9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9021976" y="-906246"/>
            <a:ext cx="1602951" cy="3416298"/>
          </a:xfrm>
          <a:prstGeom prst="rect">
            <a:avLst/>
          </a:prstGeom>
          <a:gradFill>
            <a:gsLst>
              <a:gs pos="45000">
                <a:schemeClr val="accent4">
                  <a:alpha val="0"/>
                </a:schemeClr>
              </a:gs>
              <a:gs pos="99000">
                <a:schemeClr val="accent6">
                  <a:alpha val="33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F33EC8A-EE0A-4395-97E2-DAD467CF7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451242" y="0"/>
            <a:ext cx="9729549" cy="1600198"/>
          </a:xfrm>
          <a:prstGeom prst="rect">
            <a:avLst/>
          </a:prstGeom>
          <a:gradFill>
            <a:gsLst>
              <a:gs pos="0">
                <a:schemeClr val="accent5">
                  <a:alpha val="30000"/>
                </a:schemeClr>
              </a:gs>
              <a:gs pos="99000">
                <a:schemeClr val="accent5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85DA95-16A4-404E-9BFF-27F8E4FC7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430"/>
            <a:ext cx="7910111" cy="1600198"/>
          </a:xfrm>
          <a:prstGeom prst="rect">
            <a:avLst/>
          </a:prstGeom>
          <a:gradFill>
            <a:gsLst>
              <a:gs pos="0">
                <a:schemeClr val="accent5">
                  <a:alpha val="21000"/>
                </a:schemeClr>
              </a:gs>
              <a:gs pos="99000">
                <a:schemeClr val="accent5">
                  <a:alpha val="0"/>
                </a:scheme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17D13-6346-839D-77A5-561D7F1FA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084" y="374427"/>
            <a:ext cx="10374517" cy="428213"/>
          </a:xfrm>
        </p:spPr>
        <p:txBody>
          <a:bodyPr anchor="ctr">
            <a:normAutofit fontScale="90000"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AGENT VS RATIONAL AGENT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DFC960B-70DB-04D4-B2D5-F49147B616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391962"/>
              </p:ext>
            </p:extLst>
          </p:nvPr>
        </p:nvGraphicFramePr>
        <p:xfrm>
          <a:off x="11209" y="1176637"/>
          <a:ext cx="11755120" cy="5550528"/>
        </p:xfrm>
        <a:graphic>
          <a:graphicData uri="http://schemas.openxmlformats.org/drawingml/2006/table">
            <a:tbl>
              <a:tblPr firstRow="1" bandRow="1"/>
              <a:tblGrid>
                <a:gridCol w="1083600">
                  <a:extLst>
                    <a:ext uri="{9D8B030D-6E8A-4147-A177-3AD203B41FA5}">
                      <a16:colId xmlns:a16="http://schemas.microsoft.com/office/drawing/2014/main" val="2223265209"/>
                    </a:ext>
                  </a:extLst>
                </a:gridCol>
                <a:gridCol w="5256214">
                  <a:extLst>
                    <a:ext uri="{9D8B030D-6E8A-4147-A177-3AD203B41FA5}">
                      <a16:colId xmlns:a16="http://schemas.microsoft.com/office/drawing/2014/main" val="2862901574"/>
                    </a:ext>
                  </a:extLst>
                </a:gridCol>
                <a:gridCol w="5415306">
                  <a:extLst>
                    <a:ext uri="{9D8B030D-6E8A-4147-A177-3AD203B41FA5}">
                      <a16:colId xmlns:a16="http://schemas.microsoft.com/office/drawing/2014/main" val="2255644925"/>
                    </a:ext>
                  </a:extLst>
                </a:gridCol>
              </a:tblGrid>
              <a:tr h="355005"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IN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Aspect</a:t>
                      </a:r>
                    </a:p>
                  </a:txBody>
                  <a:tcPr marL="38834" marR="38834" marT="38834" marB="388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90A6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IN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Agent</a:t>
                      </a:r>
                    </a:p>
                  </a:txBody>
                  <a:tcPr marL="38834" marR="38834" marT="38834" marB="388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90A6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IN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Rational Agent</a:t>
                      </a:r>
                    </a:p>
                  </a:txBody>
                  <a:tcPr marL="38834" marR="38834" marT="38834" marB="3883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90A6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125548"/>
                  </a:ext>
                </a:extLst>
              </a:tr>
              <a:tr h="779562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Definition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834" marR="38834" marT="29126" marB="29126" anchor="ctr">
                    <a:lnL w="12700" cap="flat" cmpd="sng" algn="ctr">
                      <a:solidFill>
                        <a:srgbClr val="90A6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A6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A6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A3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Any autonomous entity that perceives its environment and takes actions to achieve a specific goal.</a:t>
                      </a:r>
                    </a:p>
                  </a:txBody>
                  <a:tcPr marL="38834" marR="38834" marT="29126" marB="29126" anchor="ctr">
                    <a:lnL w="12700" cap="flat" cmpd="sng" algn="ctr">
                      <a:solidFill>
                        <a:srgbClr val="90A6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A6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A6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A3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 agent that always chooses actions to maximize its expected performance or achieve the best possible outcome, based on its knowledge and the environment.</a:t>
                      </a:r>
                    </a:p>
                  </a:txBody>
                  <a:tcPr marL="38834" marR="38834" marT="29126" marB="29126" anchor="ctr">
                    <a:lnL w="12700" cap="flat" cmpd="sng" algn="ctr">
                      <a:solidFill>
                        <a:srgbClr val="90A6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A6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A6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A3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761602"/>
                  </a:ext>
                </a:extLst>
              </a:tr>
              <a:tr h="557351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20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Behavior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834" marR="38834" marT="29126" marB="29126" anchor="ctr">
                    <a:lnL w="12700" cap="flat" cmpd="sng" algn="ctr">
                      <a:solidFill>
                        <a:srgbClr val="10A3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A3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A3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B3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May act based on </a:t>
                      </a: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 rules, simple heuristics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or pre-programmed instructions (not always optimal).</a:t>
                      </a:r>
                    </a:p>
                  </a:txBody>
                  <a:tcPr marL="38834" marR="38834" marT="29126" marB="29126" anchor="ctr">
                    <a:lnL w="12700" cap="flat" cmpd="sng" algn="ctr">
                      <a:solidFill>
                        <a:srgbClr val="10A3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A3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A3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B3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Always tries </a:t>
                      </a: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do the “right thing” 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 selecting actions that are most likely to fulfill its goals efficiently, given what it knows.</a:t>
                      </a:r>
                    </a:p>
                  </a:txBody>
                  <a:tcPr marL="38834" marR="38834" marT="29126" marB="29126" anchor="ctr">
                    <a:lnL w="12700" cap="flat" cmpd="sng" algn="ctr">
                      <a:solidFill>
                        <a:srgbClr val="10A3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A3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A3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B3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2583609"/>
                  </a:ext>
                </a:extLst>
              </a:tr>
              <a:tr h="557351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 Process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834" marR="38834" marT="29126" marB="29126" anchor="ctr">
                    <a:lnL w="12700" cap="flat" cmpd="sng" algn="ctr">
                      <a:solidFill>
                        <a:srgbClr val="90B3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B3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B3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C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 not necessarily optimize; may follow static or reactive strategies.</a:t>
                      </a:r>
                    </a:p>
                  </a:txBody>
                  <a:tcPr marL="38834" marR="38834" marT="29126" marB="29126" anchor="ctr">
                    <a:lnL w="12700" cap="flat" cmpd="sng" algn="ctr">
                      <a:solidFill>
                        <a:srgbClr val="90B3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B3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B3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C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Makes decisions using reasoning, optimization, and sometimes prediction or learning to improve outcomes.</a:t>
                      </a:r>
                    </a:p>
                  </a:txBody>
                  <a:tcPr marL="38834" marR="38834" marT="29126" marB="29126" anchor="ctr">
                    <a:lnL w="12700" cap="flat" cmpd="sng" algn="ctr">
                      <a:solidFill>
                        <a:srgbClr val="90B3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B3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B3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C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973566"/>
                  </a:ext>
                </a:extLst>
              </a:tr>
              <a:tr h="557351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Outcome Focus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834" marR="38834" marT="29126" marB="29126" anchor="ctr">
                    <a:lnL w="12700" cap="flat" cmpd="sng" algn="ctr">
                      <a:solidFill>
                        <a:srgbClr val="50C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C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C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C9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 be reactive, non-optimized, or limited in adaptability.</a:t>
                      </a:r>
                    </a:p>
                  </a:txBody>
                  <a:tcPr marL="38834" marR="38834" marT="29126" marB="29126" anchor="ctr">
                    <a:lnL w="12700" cap="flat" cmpd="sng" algn="ctr">
                      <a:solidFill>
                        <a:srgbClr val="50C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C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C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C9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Seeks to maximize a performance measure (utility, reward, efficiency) for each situation.</a:t>
                      </a:r>
                    </a:p>
                  </a:txBody>
                  <a:tcPr marL="38834" marR="38834" marT="29126" marB="29126" anchor="ctr">
                    <a:lnL w="12700" cap="flat" cmpd="sng" algn="ctr">
                      <a:solidFill>
                        <a:srgbClr val="50C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C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C8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C9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6217094"/>
                  </a:ext>
                </a:extLst>
              </a:tr>
              <a:tr h="779562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20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Examples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834" marR="38834" marT="29126" marB="29126" anchor="ctr">
                    <a:lnL w="12700" cap="flat" cmpd="sng" algn="ctr">
                      <a:solidFill>
                        <a:srgbClr val="10C9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C9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C9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C9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ATM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Dispenses cash based on inputs, regardless of context.</a:t>
                      </a:r>
                    </a:p>
                  </a:txBody>
                  <a:tcPr marL="38834" marR="38834" marT="29126" marB="29126" anchor="ctr">
                    <a:lnL w="12700" cap="flat" cmpd="sng" algn="ctr">
                      <a:solidFill>
                        <a:srgbClr val="10C9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C9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C9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C9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en-IN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Autonomous robot</a:t>
                      </a: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Adjusts 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cleaning strategy for efficiency.</a:t>
                      </a:r>
                      <a:b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en-US" sz="20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Self-driving car: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Chooses routes to minimize time/risk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834" marR="38834" marT="29126" marB="29126" anchor="ctr">
                    <a:lnL w="12700" cap="flat" cmpd="sng" algn="ctr">
                      <a:solidFill>
                        <a:srgbClr val="10C9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C9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C9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C9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3062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6807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841A9-FBB2-61E0-6479-CB750F871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00" y="192024"/>
            <a:ext cx="10241280" cy="607669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PEAS:</a:t>
            </a:r>
          </a:p>
          <a:p>
            <a:pPr marL="0" indent="0" algn="just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PEAS is a framework used to describe the characteristics of an intelligent agent's task environment. </a:t>
            </a:r>
          </a:p>
          <a:p>
            <a:pPr marL="0" indent="0" algn="just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stands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Performance measure, Environment, Actuators, and Sensors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 </a:t>
            </a:r>
          </a:p>
          <a:p>
            <a:pPr marL="0" indent="0" algn="just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PEAS helps in designing and analyzing AI systems by outlining how an agent interacts with its surroundings to achieve its goals. </a:t>
            </a:r>
          </a:p>
          <a:p>
            <a:pPr marL="0" indent="0" algn="just">
              <a:buNone/>
            </a:pPr>
            <a:r>
              <a:rPr lang="en-US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measure: </a:t>
            </a:r>
          </a:p>
          <a:p>
            <a:pPr marL="0" indent="0" algn="just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Defines how success is evaluated for the agent.</a:t>
            </a:r>
          </a:p>
          <a:p>
            <a:pPr marL="0" indent="0" algn="just">
              <a:buNone/>
            </a:pPr>
            <a:r>
              <a:rPr lang="en-US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Environment:</a:t>
            </a:r>
          </a:p>
          <a:p>
            <a:pPr marL="0" indent="0" algn="just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Refers to the external context in which the agent operates.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37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EABB5-FE36-5037-2C20-F0898D32B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1950F-E599-C49B-FD06-8BB84DF2D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00" y="192024"/>
            <a:ext cx="10241280" cy="607669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PEAS:</a:t>
            </a:r>
          </a:p>
          <a:p>
            <a:pPr marL="0" indent="0" algn="just">
              <a:buNone/>
            </a:pPr>
            <a:r>
              <a:rPr lang="en-US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Actuators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 algn="just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which the agent interacts with its environment to perform actions</a:t>
            </a:r>
            <a:r>
              <a:rPr lang="en-US" dirty="0"/>
              <a:t>.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Sensors:</a:t>
            </a:r>
          </a:p>
          <a:p>
            <a:pPr marL="0" indent="0" algn="just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the agent with information about its environment.</a:t>
            </a:r>
          </a:p>
          <a:p>
            <a:pPr marL="0" indent="0" algn="just">
              <a:buNone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913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A9ABC-6145-76D8-0601-14B4388D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4834C-213D-627F-2912-36266650D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00" y="192024"/>
            <a:ext cx="10241280" cy="607669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Example-1: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Self-driving car:</a:t>
            </a:r>
          </a:p>
          <a:p>
            <a:pPr marL="0" indent="0" algn="just">
              <a:buNone/>
            </a:pPr>
            <a:r>
              <a:rPr lang="en-US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Measure: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Safety, efficiency, and comfort of the ride</a:t>
            </a:r>
            <a:r>
              <a:rPr lang="en-US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r>
              <a:rPr lang="en-US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Environment: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Roads, traffic, pedestrians, weather conditions. </a:t>
            </a:r>
          </a:p>
          <a:p>
            <a:pPr marL="0" indent="0" algn="just">
              <a:buNone/>
            </a:pPr>
            <a:r>
              <a:rPr lang="en-US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Actuators: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Steering, braking, acceleration, and signaling systems. </a:t>
            </a:r>
          </a:p>
          <a:p>
            <a:pPr marL="0" indent="0" algn="just">
              <a:buNone/>
            </a:pPr>
            <a:r>
              <a:rPr lang="en-US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Sensors: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Cameras, LIDAR, radar, GPS, and ultrasonic sensors. 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1450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9ECE7-D2EC-D7CC-33DE-963622C7F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AE7DF-B1D0-2789-A04D-6901EF458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00" y="192024"/>
            <a:ext cx="10241280" cy="607669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Example-2: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Chatbot:</a:t>
            </a:r>
          </a:p>
          <a:p>
            <a:pPr marL="0" indent="0" algn="just">
              <a:buNone/>
            </a:pPr>
            <a:r>
              <a:rPr lang="en-US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Measure: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Helpful and accurate responses. </a:t>
            </a:r>
          </a:p>
          <a:p>
            <a:pPr marL="0" indent="0" algn="just">
              <a:buNone/>
            </a:pPr>
            <a:r>
              <a:rPr lang="en-US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Environment: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Messaging platform, internet, website. </a:t>
            </a:r>
          </a:p>
          <a:p>
            <a:pPr marL="0" indent="0" algn="just">
              <a:buNone/>
            </a:pPr>
            <a:r>
              <a:rPr lang="en-US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Actuators: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Mechanisms for sending and displaying messages. </a:t>
            </a:r>
          </a:p>
          <a:p>
            <a:pPr marL="0" indent="0" algn="just">
              <a:buNone/>
            </a:pPr>
            <a:r>
              <a:rPr lang="en-US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Sensors: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 algorithms. . 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3243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F4643-FB0D-870A-45FE-C5C2550E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40C15-9E1F-1EBE-484C-9DCDA1D6E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SPACE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TREE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 SOLUTION</a:t>
            </a:r>
          </a:p>
        </p:txBody>
      </p:sp>
    </p:spTree>
    <p:extLst>
      <p:ext uri="{BB962C8B-B14F-4D97-AF65-F5344CB8AC3E}">
        <p14:creationId xmlns:p14="http://schemas.microsoft.com/office/powerpoint/2010/main" val="3488328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0DCF8-F330-4788-907F-03E3CF4CD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2EEDC-215D-F37C-B055-AC13A1A3E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0320" y="740664"/>
            <a:ext cx="10241280" cy="3959352"/>
          </a:xfrm>
        </p:spPr>
        <p:txBody>
          <a:bodyPr>
            <a:normAutofit fontScale="92500" lnSpcReduction="10000"/>
          </a:bodyPr>
          <a:lstStyle/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SPACE: </a:t>
            </a:r>
          </a:p>
          <a:p>
            <a:pPr marL="1260475"/>
            <a:r>
              <a:rPr lang="en-IN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possible solutions.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TREE: </a:t>
            </a:r>
          </a:p>
          <a:p>
            <a:pPr marL="1341438"/>
            <a:r>
              <a:rPr lang="en-IN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 representation  of a search problem.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</a:t>
            </a:r>
          </a:p>
          <a:p>
            <a:pPr marL="1260475"/>
            <a:r>
              <a:rPr lang="en-IN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 sequence leads from start node to goal node.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 SOLUTION: </a:t>
            </a:r>
          </a:p>
          <a:p>
            <a:pPr marL="1260475"/>
            <a:r>
              <a:rPr lang="en-IN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Lowest cost among all solutions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53151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2E39C-D497-EF48-6037-E3098BBF7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4AE9C-82AA-E275-9C5B-3FCB0E8B2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00" y="192024"/>
            <a:ext cx="10241280" cy="6076696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Searching </a:t>
            </a:r>
          </a:p>
          <a:p>
            <a:pPr marL="0" indent="0" algn="just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Uninformed search</a:t>
            </a:r>
          </a:p>
          <a:p>
            <a:pPr marL="0" indent="0" algn="just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Informed search</a:t>
            </a:r>
          </a:p>
          <a:p>
            <a:pPr marL="0" indent="0" algn="just">
              <a:buNone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Uninformed search:  </a:t>
            </a:r>
          </a:p>
          <a:p>
            <a:pPr marL="0" indent="0" algn="just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extra information on each node.</a:t>
            </a:r>
          </a:p>
          <a:p>
            <a:pPr marL="0" indent="0" algn="just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often slower and less efficient.</a:t>
            </a:r>
          </a:p>
          <a:p>
            <a:pPr marL="0" indent="0" algn="just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 BFS, DFS, DLS, UCS</a:t>
            </a:r>
          </a:p>
          <a:p>
            <a:pPr marL="0" indent="0" algn="just">
              <a:buNone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Informed search: </a:t>
            </a:r>
          </a:p>
          <a:p>
            <a:pPr marL="0" indent="0" algn="just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extra information on each node.</a:t>
            </a:r>
          </a:p>
          <a:p>
            <a:pPr marL="0" indent="0" algn="just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Usually faster and more effective.</a:t>
            </a:r>
          </a:p>
          <a:p>
            <a:pPr marL="0" indent="0" algn="just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 Best First Search, A* search.</a:t>
            </a:r>
          </a:p>
        </p:txBody>
      </p:sp>
    </p:spTree>
    <p:extLst>
      <p:ext uri="{BB962C8B-B14F-4D97-AF65-F5344CB8AC3E}">
        <p14:creationId xmlns:p14="http://schemas.microsoft.com/office/powerpoint/2010/main" val="2249349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DCDDC-4DCA-F49E-A9C4-67EA3B510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3A5CE-132C-A489-6096-2496DB591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00" y="192024"/>
            <a:ext cx="10241280" cy="60766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marL="0" indent="0">
              <a:buNone/>
            </a:pP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finding</a:t>
            </a:r>
          </a:p>
          <a:p>
            <a:pPr marL="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Puzzle solving</a:t>
            </a:r>
          </a:p>
          <a:p>
            <a:pPr marL="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routing</a:t>
            </a:r>
          </a:p>
          <a:p>
            <a:pPr marL="0" indent="0"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in video games</a:t>
            </a:r>
          </a:p>
          <a:p>
            <a:pPr marL="0" indent="0">
              <a:buNone/>
            </a:pP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8959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552C6-83E1-2B9F-7350-1ED3A8EAC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CE10F-9DF0-A523-1901-50B79A082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00" y="192024"/>
            <a:ext cx="10241280" cy="6076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BFS:</a:t>
            </a:r>
          </a:p>
          <a:p>
            <a:pPr marL="0" indent="0">
              <a:buNone/>
            </a:pP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F28D7B-B540-283F-CA23-3E2E28664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3448" y="1255815"/>
            <a:ext cx="4589553" cy="3268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457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497A8-B298-F285-2FBC-2EF6141C4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3CCDB-A872-39C8-3826-5F064D5CB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00" y="192024"/>
            <a:ext cx="10241280" cy="6076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BFS:</a:t>
            </a:r>
          </a:p>
          <a:p>
            <a:pPr marL="0" indent="0">
              <a:buNone/>
            </a:pP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11B264-AD61-3442-071B-469CB7436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7243" y="1371555"/>
            <a:ext cx="5201376" cy="300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642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32D20-2EEA-CAE4-31EC-87E8839DA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73F5D-66F6-03F2-7786-9DF512B2B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00" y="192024"/>
            <a:ext cx="10241280" cy="6076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BFS:</a:t>
            </a:r>
          </a:p>
          <a:p>
            <a:pPr marL="0" indent="0">
              <a:buNone/>
            </a:pP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49FC61-31A7-F74B-C748-81DA2FB6E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283" y="988766"/>
            <a:ext cx="5283200" cy="448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430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8776E-0D30-14D4-0CF0-3AA5BB64B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CA3AE-9141-ED1C-BF93-DDF2E56CF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00" y="192024"/>
            <a:ext cx="10241280" cy="607669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1. What is Intelligence</a:t>
            </a:r>
          </a:p>
          <a:p>
            <a:pPr marL="0" indent="0">
              <a:buNone/>
            </a:pPr>
            <a:r>
              <a:rPr lang="en-IN" dirty="0"/>
              <a:t>Reasoning, Problem solving and Decision making</a:t>
            </a:r>
          </a:p>
          <a:p>
            <a:pPr marL="0" indent="0">
              <a:buNone/>
            </a:pPr>
            <a:r>
              <a:rPr lang="en-IN" dirty="0"/>
              <a:t>2. What is AI</a:t>
            </a:r>
          </a:p>
          <a:p>
            <a:pPr marL="0" indent="0">
              <a:buNone/>
            </a:pPr>
            <a:r>
              <a:rPr lang="en-IN" dirty="0"/>
              <a:t>Man-made thinking power</a:t>
            </a:r>
          </a:p>
          <a:p>
            <a:pPr marL="0" indent="0">
              <a:buNone/>
            </a:pPr>
            <a:r>
              <a:rPr lang="en-IN" dirty="0"/>
              <a:t>3. Types of AI based on capabilities</a:t>
            </a:r>
          </a:p>
          <a:p>
            <a:pPr marL="0" indent="0">
              <a:buNone/>
            </a:pPr>
            <a:r>
              <a:rPr lang="en-IN" dirty="0"/>
              <a:t>Narrow AI (where AI is less than Human intelligence)</a:t>
            </a:r>
          </a:p>
          <a:p>
            <a:pPr marL="0" indent="0">
              <a:buNone/>
            </a:pPr>
            <a:r>
              <a:rPr lang="en-IN" dirty="0"/>
              <a:t>General AI (where AI is equal Human intelligence)</a:t>
            </a:r>
          </a:p>
          <a:p>
            <a:pPr marL="0" indent="0">
              <a:buNone/>
            </a:pPr>
            <a:r>
              <a:rPr lang="en-IN" dirty="0"/>
              <a:t>Super AI (where AI is more than Human intelligence)</a:t>
            </a:r>
          </a:p>
          <a:p>
            <a:pPr marL="0" indent="0">
              <a:buNone/>
            </a:pPr>
            <a:r>
              <a:rPr lang="en-IN" dirty="0"/>
              <a:t>4. Types of AI based on functionalities</a:t>
            </a:r>
          </a:p>
          <a:p>
            <a:pPr marL="0" indent="0">
              <a:buNone/>
            </a:pPr>
            <a:r>
              <a:rPr lang="en-IN" dirty="0"/>
              <a:t>Reactive Machine</a:t>
            </a:r>
          </a:p>
          <a:p>
            <a:pPr marL="0" indent="0">
              <a:buNone/>
            </a:pPr>
            <a:r>
              <a:rPr lang="en-IN" dirty="0"/>
              <a:t>Limited memory</a:t>
            </a:r>
          </a:p>
          <a:p>
            <a:pPr marL="0" indent="0">
              <a:buNone/>
            </a:pPr>
            <a:r>
              <a:rPr lang="en-IN" dirty="0"/>
              <a:t>Theory of mind</a:t>
            </a:r>
          </a:p>
          <a:p>
            <a:pPr marL="0" indent="0">
              <a:buNone/>
            </a:pPr>
            <a:r>
              <a:rPr lang="en-IN" dirty="0"/>
              <a:t>Self-awareness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4660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3406C-A5D3-7EEE-1D37-C74FE07DF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792BD-9984-EACC-D623-2FFADCD7E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00" y="192024"/>
            <a:ext cx="10241280" cy="6076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5. Father of AI</a:t>
            </a:r>
          </a:p>
          <a:p>
            <a:pPr marL="0" indent="0">
              <a:buNone/>
            </a:pPr>
            <a:r>
              <a:rPr lang="en-IN" dirty="0"/>
              <a:t>John Maccarthy</a:t>
            </a:r>
          </a:p>
          <a:p>
            <a:pPr marL="0" indent="0">
              <a:buNone/>
            </a:pPr>
            <a:r>
              <a:rPr lang="en-IN" dirty="0"/>
              <a:t>6. What is Alan Turing theory</a:t>
            </a:r>
          </a:p>
          <a:p>
            <a:pPr marL="0" indent="0">
              <a:buNone/>
            </a:pPr>
            <a:r>
              <a:rPr lang="en-IN" dirty="0"/>
              <a:t>Can a machine able to thinks like a human?</a:t>
            </a:r>
          </a:p>
          <a:p>
            <a:pPr marL="0" indent="0">
              <a:buNone/>
            </a:pPr>
            <a:r>
              <a:rPr lang="en-IN" dirty="0"/>
              <a:t>7.Problems solved by AI</a:t>
            </a:r>
          </a:p>
          <a:p>
            <a:pPr marL="0" indent="0">
              <a:buNone/>
            </a:pPr>
            <a:r>
              <a:rPr lang="en-IN" dirty="0"/>
              <a:t>Image classification</a:t>
            </a:r>
          </a:p>
          <a:p>
            <a:pPr marL="0" indent="0">
              <a:buNone/>
            </a:pPr>
            <a:r>
              <a:rPr lang="en-IN" dirty="0"/>
              <a:t>Text classification</a:t>
            </a:r>
          </a:p>
          <a:p>
            <a:pPr marL="0" indent="0">
              <a:buNone/>
            </a:pPr>
            <a:r>
              <a:rPr lang="en-IN" dirty="0"/>
              <a:t>Object detection, etc.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8597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41B23-C1F9-33A1-E595-4745A12E7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7CB1F-2F42-8F6A-77B1-B731A65ED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00" y="192024"/>
            <a:ext cx="10241280" cy="6076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8. Examples of AI</a:t>
            </a:r>
          </a:p>
          <a:p>
            <a:pPr marL="0" indent="0">
              <a:buNone/>
            </a:pPr>
            <a:r>
              <a:rPr lang="en-IN" dirty="0"/>
              <a:t>Voice Assistants</a:t>
            </a:r>
          </a:p>
          <a:p>
            <a:pPr marL="0" indent="0">
              <a:buNone/>
            </a:pPr>
            <a:r>
              <a:rPr lang="en-IN" dirty="0"/>
              <a:t>Chatbots, Recommendation Systems</a:t>
            </a:r>
          </a:p>
          <a:p>
            <a:pPr marL="0" indent="0">
              <a:buNone/>
            </a:pPr>
            <a:r>
              <a:rPr lang="en-IN" dirty="0"/>
              <a:t>Seach engines</a:t>
            </a:r>
          </a:p>
          <a:p>
            <a:pPr marL="0" indent="0">
              <a:buNone/>
            </a:pPr>
            <a:r>
              <a:rPr lang="en-IN" dirty="0"/>
              <a:t>Facial recognition</a:t>
            </a:r>
          </a:p>
          <a:p>
            <a:pPr marL="0" indent="0">
              <a:buNone/>
            </a:pPr>
            <a:r>
              <a:rPr lang="en-IN" dirty="0"/>
              <a:t>Navigation and maps</a:t>
            </a:r>
          </a:p>
          <a:p>
            <a:pPr marL="0" indent="0">
              <a:buNone/>
            </a:pPr>
            <a:r>
              <a:rPr lang="en-IN" dirty="0"/>
              <a:t>Social media</a:t>
            </a:r>
          </a:p>
          <a:p>
            <a:pPr marL="0" indent="0">
              <a:buNone/>
            </a:pPr>
            <a:r>
              <a:rPr lang="en-IN" dirty="0"/>
              <a:t>Fraud detection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9363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597A8-0E5E-0251-C6D4-597E83F68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64E91-9B27-CFE0-80B1-0C43006F3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00" y="192024"/>
            <a:ext cx="10241280" cy="6076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9. What are the examples of Agent</a:t>
            </a:r>
          </a:p>
          <a:p>
            <a:pPr marL="0" indent="0">
              <a:buNone/>
            </a:pPr>
            <a:r>
              <a:rPr lang="en-IN" dirty="0"/>
              <a:t>ATM, </a:t>
            </a:r>
            <a:r>
              <a:rPr lang="en-IN" dirty="0" err="1"/>
              <a:t>Vaccum</a:t>
            </a:r>
            <a:r>
              <a:rPr lang="en-IN" dirty="0"/>
              <a:t> Cleaner</a:t>
            </a:r>
          </a:p>
          <a:p>
            <a:pPr marL="0" indent="0">
              <a:buNone/>
            </a:pPr>
            <a:r>
              <a:rPr lang="en-IN" dirty="0"/>
              <a:t>10. What are the examples of Rational Agent</a:t>
            </a:r>
          </a:p>
          <a:p>
            <a:pPr marL="0" indent="0">
              <a:buNone/>
            </a:pPr>
            <a:r>
              <a:rPr lang="en-IN" dirty="0"/>
              <a:t>Self driving cars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5537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GradientRiseVTI">
  <a:themeElements>
    <a:clrScheme name="GradientRise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Avenir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C2FC082F-B444-4222-AF20-78444CCB5722}" vid="{39F213E4-0CBC-40CB-B3F6-8C5562B6B9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469</TotalTime>
  <Words>806</Words>
  <Application>Microsoft Office PowerPoint</Application>
  <PresentationFormat>Widescreen</PresentationFormat>
  <Paragraphs>119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Gill Sans Nova</vt:lpstr>
      <vt:lpstr>Times New Roman</vt:lpstr>
      <vt:lpstr>GradientRiseVTI</vt:lpstr>
      <vt:lpstr>AIML    MODULE-1</vt:lpstr>
      <vt:lpstr>AGENT VS RATIONAL AGENT</vt:lpstr>
      <vt:lpstr>AGENT VS RATIONAL AGENT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Kancharla Rakesh</dc:creator>
  <cp:lastModifiedBy>Kancharla Rakesh</cp:lastModifiedBy>
  <cp:revision>23</cp:revision>
  <dcterms:created xsi:type="dcterms:W3CDTF">2025-07-21T16:51:58Z</dcterms:created>
  <dcterms:modified xsi:type="dcterms:W3CDTF">2025-07-25T08:17:36Z</dcterms:modified>
</cp:coreProperties>
</file>