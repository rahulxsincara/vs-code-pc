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9"/>
  </p:notesMasterIdLst>
  <p:sldIdLst>
    <p:sldId id="271" r:id="rId5"/>
    <p:sldId id="300" r:id="rId6"/>
    <p:sldId id="258" r:id="rId7"/>
    <p:sldId id="288" r:id="rId8"/>
    <p:sldId id="290" r:id="rId9"/>
    <p:sldId id="305" r:id="rId10"/>
    <p:sldId id="307" r:id="rId11"/>
    <p:sldId id="308" r:id="rId12"/>
    <p:sldId id="309" r:id="rId13"/>
    <p:sldId id="329" r:id="rId14"/>
    <p:sldId id="310" r:id="rId15"/>
    <p:sldId id="311" r:id="rId16"/>
    <p:sldId id="312" r:id="rId17"/>
    <p:sldId id="313" r:id="rId18"/>
    <p:sldId id="322" r:id="rId19"/>
    <p:sldId id="321" r:id="rId20"/>
    <p:sldId id="320" r:id="rId21"/>
    <p:sldId id="319" r:id="rId22"/>
    <p:sldId id="318" r:id="rId23"/>
    <p:sldId id="317" r:id="rId24"/>
    <p:sldId id="316" r:id="rId25"/>
    <p:sldId id="315" r:id="rId26"/>
    <p:sldId id="314" r:id="rId27"/>
    <p:sldId id="323" r:id="rId28"/>
    <p:sldId id="328" r:id="rId29"/>
    <p:sldId id="327" r:id="rId30"/>
    <p:sldId id="326" r:id="rId31"/>
    <p:sldId id="325" r:id="rId32"/>
    <p:sldId id="324" r:id="rId33"/>
    <p:sldId id="287" r:id="rId34"/>
    <p:sldId id="301" r:id="rId35"/>
    <p:sldId id="302" r:id="rId36"/>
    <p:sldId id="303" r:id="rId37"/>
    <p:sldId id="30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6/28/2025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6/28/2025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6/28/2025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6/28/2025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6/28/2025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6/28/2025</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6/28/2025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6/28/2025</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6/28/2025</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6/28/2025</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6/28/2025</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5125679" y="2174199"/>
            <a:ext cx="6902548" cy="3562606"/>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kumimoji="0" lang="en-US" altLang="en-US" sz="2400" b="1" i="0" u="none" strike="noStrike" kern="1200" cap="none" spc="0" normalizeH="0" baseline="0" noProof="0" dirty="0" err="1">
                <a:ln>
                  <a:noFill/>
                </a:ln>
                <a:solidFill>
                  <a:srgbClr val="C00000"/>
                </a:solidFill>
                <a:effectLst/>
                <a:uLnTx/>
                <a:uFillTx/>
                <a:latin typeface="Calibri Light"/>
                <a:ea typeface="+mj-ea"/>
                <a:cs typeface="+mj-cs"/>
              </a:rPr>
              <a:t>Multiversion</a:t>
            </a:r>
            <a:r>
              <a:rPr kumimoji="0" lang="en-US" altLang="en-US" sz="2400" b="1" i="0" u="none" strike="noStrike" kern="1200" cap="none" spc="0" normalizeH="0" baseline="0" noProof="0" dirty="0">
                <a:ln>
                  <a:noFill/>
                </a:ln>
                <a:solidFill>
                  <a:srgbClr val="C00000"/>
                </a:solidFill>
                <a:effectLst/>
                <a:uLnTx/>
                <a:uFillTx/>
                <a:latin typeface="Calibri Light"/>
                <a:ea typeface="+mj-ea"/>
                <a:cs typeface="+mj-cs"/>
              </a:rPr>
              <a:t> concurrency control techniques, </a:t>
            </a:r>
          </a:p>
          <a:p>
            <a:pPr algn="ctr"/>
            <a:r>
              <a:rPr kumimoji="0" lang="en-US" altLang="en-US" sz="2400" b="1" i="0" u="none" strike="noStrike" kern="1200" cap="none" spc="0" normalizeH="0" baseline="0" noProof="0" dirty="0">
                <a:ln>
                  <a:noFill/>
                </a:ln>
                <a:solidFill>
                  <a:srgbClr val="C00000"/>
                </a:solidFill>
                <a:effectLst/>
                <a:uLnTx/>
                <a:uFillTx/>
                <a:latin typeface="Calibri Light"/>
                <a:ea typeface="+mj-ea"/>
                <a:cs typeface="+mj-cs"/>
              </a:rPr>
              <a:t>Recovery Techniques</a:t>
            </a:r>
            <a:endParaRPr lang="en-US" b="1" dirty="0"/>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125679" y="2161679"/>
            <a:ext cx="6902548" cy="1384954"/>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COURSE NAME: DBMS</a:t>
            </a:r>
          </a:p>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COURSE </a:t>
            </a:r>
            <a:r>
              <a:rPr lang="en-US" sz="3200" b="1" cap="all">
                <a:ln/>
                <a:solidFill>
                  <a:srgbClr val="C00000"/>
                </a:solidFill>
                <a:cs typeface="Poppins" panose="00000500000000000000" pitchFamily="2" charset="0"/>
                <a:sym typeface="BioRhyme ExtraBold"/>
              </a:rPr>
              <a:t>CODE:24AD2103</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CSE</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721642" y="5095702"/>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- 25</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110343" y="689854"/>
            <a:ext cx="10731286" cy="42678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in </a:t>
            </a:r>
            <a:r>
              <a:rPr lang="en-IN" sz="1600" dirty="0" err="1">
                <a:latin typeface="Poppins"/>
                <a:cs typeface="Poppins"/>
              </a:rPr>
              <a:t>Multiversion</a:t>
            </a:r>
            <a:r>
              <a:rPr lang="en-IN" sz="1600" dirty="0">
                <a:latin typeface="Poppins"/>
                <a:cs typeface="Poppins"/>
              </a:rPr>
              <a:t> based Techniques, Recovery Techniques</a:t>
            </a:r>
            <a:endParaRPr lang="en-US" sz="1600" dirty="0">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10089029" cy="519116"/>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 understand </a:t>
            </a:r>
            <a:r>
              <a:rPr lang="en-IN" sz="1600" dirty="0" err="1">
                <a:latin typeface="Poppins"/>
                <a:cs typeface="Poppins"/>
              </a:rPr>
              <a:t>Multiversion</a:t>
            </a:r>
            <a:r>
              <a:rPr lang="en-IN" sz="1600" dirty="0">
                <a:latin typeface="Poppins"/>
                <a:cs typeface="Poppins"/>
              </a:rPr>
              <a:t> based Techniques, Recovery Techniques</a:t>
            </a:r>
            <a:endParaRPr lang="en-US" sz="1600" b="0" i="0" dirty="0">
              <a:effectLst/>
              <a:latin typeface="Poppins"/>
              <a:cs typeface="Poppins"/>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82062"/>
            <a:ext cx="10089029" cy="1009122"/>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r>
              <a:rPr lang="en-US" sz="1600" dirty="0">
                <a:latin typeface="Arial"/>
                <a:cs typeface="Arial"/>
              </a:rPr>
              <a:t> known the concepts in </a:t>
            </a:r>
            <a:r>
              <a:rPr lang="en-IN" sz="1600" dirty="0" err="1">
                <a:latin typeface="Poppins"/>
                <a:cs typeface="Poppins"/>
              </a:rPr>
              <a:t>Multiversion</a:t>
            </a:r>
            <a:r>
              <a:rPr lang="en-IN" sz="1600" dirty="0">
                <a:latin typeface="Poppins"/>
                <a:cs typeface="Poppins"/>
              </a:rPr>
              <a:t> based Techniques, Recovery Techniques</a:t>
            </a:r>
            <a:endParaRPr lang="en-US" sz="1600" b="0" i="0" dirty="0">
              <a:effectLst/>
              <a:latin typeface="Arial"/>
              <a:cs typeface="Arial"/>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MULTIVERSION CCMS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062564" y="1205067"/>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311F8829-DE45-ACE3-6699-B8F5CBD05B66}"/>
              </a:ext>
            </a:extLst>
          </p:cNvPr>
          <p:cNvSpPr txBox="1"/>
          <p:nvPr/>
        </p:nvSpPr>
        <p:spPr>
          <a:xfrm>
            <a:off x="738264" y="974234"/>
            <a:ext cx="10521139" cy="461665"/>
          </a:xfrm>
          <a:prstGeom prst="rect">
            <a:avLst/>
          </a:prstGeom>
          <a:noFill/>
        </p:spPr>
        <p:txBody>
          <a:bodyPr wrap="square">
            <a:spAutoFit/>
          </a:bodyPr>
          <a:lstStyle/>
          <a:p>
            <a:pPr eaLnBrk="1" hangingPunct="1">
              <a:spcBef>
                <a:spcPts val="600"/>
              </a:spcBef>
            </a:pPr>
            <a:r>
              <a:rPr lang="en-US" altLang="en-US" sz="2400" b="1" dirty="0">
                <a:solidFill>
                  <a:srgbClr val="000000"/>
                </a:solidFill>
                <a:latin typeface="Arial" panose="020B0604020202020204" pitchFamily="34" charset="0"/>
                <a:cs typeface="Arial" panose="020B0604020202020204" pitchFamily="34" charset="0"/>
              </a:rPr>
              <a:t>Assumes that multiple versions of an item can exists </a:t>
            </a:r>
            <a:r>
              <a:rPr lang="en-US" altLang="en-US" sz="2400" b="1" i="1" dirty="0">
                <a:solidFill>
                  <a:srgbClr val="000000"/>
                </a:solidFill>
                <a:latin typeface="Arial" panose="020B0604020202020204" pitchFamily="34" charset="0"/>
                <a:cs typeface="Arial" panose="020B0604020202020204" pitchFamily="34" charset="0"/>
              </a:rPr>
              <a:t>at the same time</a:t>
            </a:r>
          </a:p>
        </p:txBody>
      </p:sp>
      <p:sp>
        <p:nvSpPr>
          <p:cNvPr id="7" name="TextBox 6">
            <a:extLst>
              <a:ext uri="{FF2B5EF4-FFF2-40B4-BE49-F238E27FC236}">
                <a16:creationId xmlns:a16="http://schemas.microsoft.com/office/drawing/2014/main" id="{527BC72B-A46A-8DB0-3D05-E9ECCB328DAA}"/>
              </a:ext>
            </a:extLst>
          </p:cNvPr>
          <p:cNvSpPr txBox="1"/>
          <p:nvPr/>
        </p:nvSpPr>
        <p:spPr>
          <a:xfrm>
            <a:off x="1062563" y="1665449"/>
            <a:ext cx="10196839" cy="3880549"/>
          </a:xfrm>
          <a:prstGeom prst="rect">
            <a:avLst/>
          </a:prstGeom>
          <a:noFill/>
        </p:spPr>
        <p:txBody>
          <a:bodyPr wrap="square">
            <a:spAutoFit/>
          </a:bodyPr>
          <a:lstStyle/>
          <a:p>
            <a:pPr algn="just" eaLnBrk="1" hangingPunct="1">
              <a:spcBef>
                <a:spcPts val="1250"/>
              </a:spcBef>
            </a:pPr>
            <a:r>
              <a:rPr lang="en-US" altLang="en-US" sz="2400" dirty="0">
                <a:solidFill>
                  <a:srgbClr val="000000"/>
                </a:solidFill>
                <a:latin typeface="Arial" panose="020B0604020202020204" pitchFamily="34" charset="0"/>
                <a:cs typeface="Arial" panose="020B0604020202020204" pitchFamily="34" charset="0"/>
              </a:rPr>
              <a:t>An implicit assumption is that when a data item is updated, the new value </a:t>
            </a:r>
            <a:r>
              <a:rPr lang="en-US" altLang="en-US" sz="2400" i="1" dirty="0">
                <a:solidFill>
                  <a:srgbClr val="000000"/>
                </a:solidFill>
                <a:latin typeface="Arial" panose="020B0604020202020204" pitchFamily="34" charset="0"/>
                <a:cs typeface="Arial" panose="020B0604020202020204" pitchFamily="34" charset="0"/>
              </a:rPr>
              <a:t>replaces the old value</a:t>
            </a:r>
          </a:p>
          <a:p>
            <a:pPr algn="just" eaLnBrk="1" hangingPunct="1">
              <a:spcBef>
                <a:spcPts val="1250"/>
              </a:spcBef>
            </a:pPr>
            <a:r>
              <a:rPr lang="en-US" altLang="en-US" sz="2400" dirty="0">
                <a:solidFill>
                  <a:srgbClr val="000000"/>
                </a:solidFill>
                <a:latin typeface="Arial" panose="020B0604020202020204" pitchFamily="34" charset="0"/>
                <a:cs typeface="Arial" panose="020B0604020202020204" pitchFamily="34" charset="0"/>
              </a:rPr>
              <a:t>Only </a:t>
            </a:r>
            <a:r>
              <a:rPr lang="en-US" altLang="en-US" sz="2400" b="1" dirty="0">
                <a:solidFill>
                  <a:srgbClr val="000000"/>
                </a:solidFill>
                <a:latin typeface="Arial" panose="020B0604020202020204" pitchFamily="34" charset="0"/>
                <a:cs typeface="Arial" panose="020B0604020202020204" pitchFamily="34" charset="0"/>
              </a:rPr>
              <a:t>current version </a:t>
            </a:r>
            <a:r>
              <a:rPr lang="en-US" altLang="en-US" sz="2400" dirty="0">
                <a:solidFill>
                  <a:srgbClr val="000000"/>
                </a:solidFill>
                <a:latin typeface="Arial" panose="020B0604020202020204" pitchFamily="34" charset="0"/>
                <a:cs typeface="Arial" panose="020B0604020202020204" pitchFamily="34" charset="0"/>
              </a:rPr>
              <a:t>of an item exists</a:t>
            </a:r>
          </a:p>
          <a:p>
            <a:pPr algn="just" eaLnBrk="1" hangingPunct="1">
              <a:spcBef>
                <a:spcPts val="1250"/>
              </a:spcBef>
            </a:pPr>
            <a:r>
              <a:rPr lang="en-US" altLang="en-US" sz="2400" dirty="0" err="1">
                <a:solidFill>
                  <a:srgbClr val="000000"/>
                </a:solidFill>
                <a:latin typeface="Arial" panose="020B0604020202020204" pitchFamily="34" charset="0"/>
                <a:cs typeface="Arial" panose="020B0604020202020204" pitchFamily="34" charset="0"/>
              </a:rPr>
              <a:t>Multiversions</a:t>
            </a:r>
            <a:r>
              <a:rPr lang="en-US" altLang="en-US" sz="2400" dirty="0">
                <a:solidFill>
                  <a:srgbClr val="000000"/>
                </a:solidFill>
                <a:latin typeface="Arial" panose="020B0604020202020204" pitchFamily="34" charset="0"/>
                <a:cs typeface="Arial" panose="020B0604020202020204" pitchFamily="34" charset="0"/>
              </a:rPr>
              <a:t> techniques assume that </a:t>
            </a:r>
            <a:r>
              <a:rPr lang="en-US" altLang="en-US" sz="2400" i="1" dirty="0">
                <a:solidFill>
                  <a:srgbClr val="000000"/>
                </a:solidFill>
                <a:latin typeface="Arial" panose="020B0604020202020204" pitchFamily="34" charset="0"/>
                <a:cs typeface="Arial" panose="020B0604020202020204" pitchFamily="34" charset="0"/>
              </a:rPr>
              <a:t>multiple versions of the same item</a:t>
            </a:r>
            <a:r>
              <a:rPr lang="en-US" altLang="en-US" sz="2400" dirty="0">
                <a:solidFill>
                  <a:srgbClr val="000000"/>
                </a:solidFill>
                <a:latin typeface="Arial" panose="020B0604020202020204" pitchFamily="34" charset="0"/>
                <a:cs typeface="Arial" panose="020B0604020202020204" pitchFamily="34" charset="0"/>
              </a:rPr>
              <a:t> coexist and can be utilized by the CCM</a:t>
            </a:r>
          </a:p>
          <a:p>
            <a:pPr algn="just" eaLnBrk="1" hangingPunct="1">
              <a:spcBef>
                <a:spcPts val="1250"/>
              </a:spcBef>
            </a:pPr>
            <a:r>
              <a:rPr lang="en-US" altLang="en-US" sz="2400" dirty="0">
                <a:solidFill>
                  <a:srgbClr val="000000"/>
                </a:solidFill>
                <a:latin typeface="Arial" panose="020B0604020202020204" pitchFamily="34" charset="0"/>
                <a:cs typeface="Arial" panose="020B0604020202020204" pitchFamily="34" charset="0"/>
              </a:rPr>
              <a:t>We discuss two variations of </a:t>
            </a:r>
            <a:r>
              <a:rPr lang="en-US" altLang="en-US" sz="2400" dirty="0" err="1">
                <a:solidFill>
                  <a:srgbClr val="000000"/>
                </a:solidFill>
                <a:latin typeface="Arial" panose="020B0604020202020204" pitchFamily="34" charset="0"/>
                <a:cs typeface="Arial" panose="020B0604020202020204" pitchFamily="34" charset="0"/>
              </a:rPr>
              <a:t>multiversion</a:t>
            </a:r>
            <a:r>
              <a:rPr lang="en-US" altLang="en-US" sz="2400" dirty="0">
                <a:solidFill>
                  <a:srgbClr val="000000"/>
                </a:solidFill>
                <a:latin typeface="Arial" panose="020B0604020202020204" pitchFamily="34" charset="0"/>
                <a:cs typeface="Arial" panose="020B0604020202020204" pitchFamily="34" charset="0"/>
              </a:rPr>
              <a:t> CCMs:</a:t>
            </a:r>
          </a:p>
          <a:p>
            <a:pPr lvl="1" algn="just" eaLnBrk="1" hangingPunct="1">
              <a:spcBef>
                <a:spcPts val="1250"/>
              </a:spcBef>
              <a:buSzPct val="45000"/>
              <a:buFont typeface="Wingdings" panose="05000000000000000000" pitchFamily="2" charset="2"/>
              <a:buChar char=""/>
            </a:pPr>
            <a:r>
              <a:rPr lang="en-US" altLang="en-US" sz="2400" dirty="0" err="1">
                <a:solidFill>
                  <a:srgbClr val="000000"/>
                </a:solidFill>
                <a:latin typeface="Arial" panose="020B0604020202020204" pitchFamily="34" charset="0"/>
                <a:cs typeface="Arial" panose="020B0604020202020204" pitchFamily="34" charset="0"/>
              </a:rPr>
              <a:t>Multiversion</a:t>
            </a:r>
            <a:r>
              <a:rPr lang="en-US" altLang="en-US" sz="2400" dirty="0">
                <a:solidFill>
                  <a:srgbClr val="000000"/>
                </a:solidFill>
                <a:latin typeface="Arial" panose="020B0604020202020204" pitchFamily="34" charset="0"/>
                <a:cs typeface="Arial" panose="020B0604020202020204" pitchFamily="34" charset="0"/>
              </a:rPr>
              <a:t> Timestamp Ordering (TO)</a:t>
            </a:r>
          </a:p>
          <a:p>
            <a:pPr lvl="1" algn="just" eaLnBrk="1" hangingPunct="1">
              <a:spcBef>
                <a:spcPts val="1250"/>
              </a:spcBef>
              <a:buSzPct val="45000"/>
              <a:buFont typeface="Wingdings" panose="05000000000000000000" pitchFamily="2" charset="2"/>
              <a:buChar char=""/>
            </a:pPr>
            <a:r>
              <a:rPr lang="en-US" altLang="en-US" sz="2400" dirty="0" err="1">
                <a:solidFill>
                  <a:srgbClr val="000000"/>
                </a:solidFill>
                <a:latin typeface="Arial" panose="020B0604020202020204" pitchFamily="34" charset="0"/>
                <a:cs typeface="Arial" panose="020B0604020202020204" pitchFamily="34" charset="0"/>
              </a:rPr>
              <a:t>Multiversion</a:t>
            </a:r>
            <a:r>
              <a:rPr lang="en-US" altLang="en-US" sz="2400" dirty="0">
                <a:solidFill>
                  <a:srgbClr val="000000"/>
                </a:solidFill>
                <a:latin typeface="Arial" panose="020B0604020202020204" pitchFamily="34" charset="0"/>
                <a:cs typeface="Arial" panose="020B0604020202020204" pitchFamily="34" charset="0"/>
              </a:rPr>
              <a:t> Two-phase Locking (2PL)</a:t>
            </a: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1149315" y="917912"/>
            <a:ext cx="10227212" cy="5940088"/>
          </a:xfrm>
          <a:prstGeom prst="rect">
            <a:avLst/>
          </a:prstGeom>
          <a:noFill/>
        </p:spPr>
        <p:txBody>
          <a:bodyPr wrap="square" rtlCol="0">
            <a:spAutoFit/>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p:txBody>
      </p:sp>
      <p:sp>
        <p:nvSpPr>
          <p:cNvPr id="6" name="TextBox 5">
            <a:extLst>
              <a:ext uri="{FF2B5EF4-FFF2-40B4-BE49-F238E27FC236}">
                <a16:creationId xmlns:a16="http://schemas.microsoft.com/office/drawing/2014/main" id="{B2738883-FBF6-0FC5-DB6D-FCD6EAFFE0F7}"/>
              </a:ext>
            </a:extLst>
          </p:cNvPr>
          <p:cNvSpPr txBox="1"/>
          <p:nvPr/>
        </p:nvSpPr>
        <p:spPr>
          <a:xfrm>
            <a:off x="3077113" y="959381"/>
            <a:ext cx="6371615" cy="461665"/>
          </a:xfrm>
          <a:prstGeom prst="rect">
            <a:avLst/>
          </a:prstGeom>
          <a:noFill/>
        </p:spPr>
        <p:txBody>
          <a:bodyPr wrap="square">
            <a:spAutoFit/>
          </a:bodyPr>
          <a:lstStyle/>
          <a:p>
            <a:pPr eaLnBrk="1" hangingPunct="1">
              <a:spcBef>
                <a:spcPts val="600"/>
              </a:spcBef>
            </a:pPr>
            <a:r>
              <a:rPr lang="en-US" altLang="en-US" sz="2400" b="1" dirty="0" err="1">
                <a:solidFill>
                  <a:srgbClr val="FF0000"/>
                </a:solidFill>
                <a:latin typeface="Arial" panose="020B0604020202020204" pitchFamily="34" charset="0"/>
                <a:cs typeface="Arial" panose="020B0604020202020204" pitchFamily="34" charset="0"/>
              </a:rPr>
              <a:t>Multiversion</a:t>
            </a:r>
            <a:r>
              <a:rPr lang="en-US" altLang="en-US" sz="2400" b="1" dirty="0">
                <a:solidFill>
                  <a:srgbClr val="FF0000"/>
                </a:solidFill>
                <a:latin typeface="Arial" panose="020B0604020202020204" pitchFamily="34" charset="0"/>
                <a:cs typeface="Arial" panose="020B0604020202020204" pitchFamily="34" charset="0"/>
              </a:rPr>
              <a:t> Timestamp Ordering Concept</a:t>
            </a:r>
          </a:p>
        </p:txBody>
      </p:sp>
      <p:sp>
        <p:nvSpPr>
          <p:cNvPr id="7" name="Text Box 5">
            <a:extLst>
              <a:ext uri="{FF2B5EF4-FFF2-40B4-BE49-F238E27FC236}">
                <a16:creationId xmlns:a16="http://schemas.microsoft.com/office/drawing/2014/main" id="{17034C4E-154D-5585-DADF-23DD44B819B6}"/>
              </a:ext>
            </a:extLst>
          </p:cNvPr>
          <p:cNvSpPr txBox="1">
            <a:spLocks noChangeArrowheads="1"/>
          </p:cNvSpPr>
          <p:nvPr/>
        </p:nvSpPr>
        <p:spPr bwMode="auto">
          <a:xfrm>
            <a:off x="504967" y="1810796"/>
            <a:ext cx="11259403" cy="301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0000" tIns="46800" rIns="90000" bIns="468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9pPr>
          </a:lstStyle>
          <a:p>
            <a:pPr marL="342900" indent="-342900" algn="just" eaLnBrk="1" hangingPunct="1">
              <a:spcBef>
                <a:spcPts val="1250"/>
              </a:spcBef>
              <a:buFont typeface="Arial" panose="020B0604020202020204" pitchFamily="34" charset="0"/>
              <a:buChar char="•"/>
            </a:pPr>
            <a:r>
              <a:rPr lang="en-US" altLang="en-US" sz="2400" dirty="0">
                <a:solidFill>
                  <a:srgbClr val="000000"/>
                </a:solidFill>
              </a:rPr>
              <a:t>Assumes that a number of versions of a data item X exist (X0, X1, X2, ...); each version has its own </a:t>
            </a:r>
            <a:r>
              <a:rPr lang="en-US" altLang="en-US" sz="2400" dirty="0" err="1">
                <a:solidFill>
                  <a:srgbClr val="000000"/>
                </a:solidFill>
              </a:rPr>
              <a:t>read_TS</a:t>
            </a:r>
            <a:r>
              <a:rPr lang="en-US" altLang="en-US" sz="2400" dirty="0">
                <a:solidFill>
                  <a:srgbClr val="000000"/>
                </a:solidFill>
              </a:rPr>
              <a:t> and </a:t>
            </a:r>
            <a:r>
              <a:rPr lang="en-US" altLang="en-US" sz="2400" dirty="0" err="1">
                <a:solidFill>
                  <a:srgbClr val="000000"/>
                </a:solidFill>
              </a:rPr>
              <a:t>write_TS</a:t>
            </a:r>
            <a:r>
              <a:rPr lang="en-US" altLang="en-US" sz="2400" dirty="0">
                <a:solidFill>
                  <a:srgbClr val="000000"/>
                </a:solidFill>
              </a:rPr>
              <a:t>.</a:t>
            </a:r>
          </a:p>
          <a:p>
            <a:pPr marL="342900" indent="-342900" algn="just" eaLnBrk="1" hangingPunct="1">
              <a:spcBef>
                <a:spcPts val="1250"/>
              </a:spcBef>
              <a:buFont typeface="Arial" panose="020B0604020202020204" pitchFamily="34" charset="0"/>
              <a:buChar char="•"/>
            </a:pPr>
            <a:r>
              <a:rPr lang="en-US" altLang="en-US" sz="2400" dirty="0">
                <a:solidFill>
                  <a:srgbClr val="000000"/>
                </a:solidFill>
              </a:rPr>
              <a:t>Can allocate the right version to a read operation - thus read operation is </a:t>
            </a:r>
            <a:r>
              <a:rPr lang="en-US" altLang="en-US" sz="2400" i="1" dirty="0">
                <a:solidFill>
                  <a:srgbClr val="000000"/>
                </a:solidFill>
              </a:rPr>
              <a:t>always successful.</a:t>
            </a:r>
          </a:p>
          <a:p>
            <a:pPr marL="342900" indent="-342900" algn="just" eaLnBrk="1" hangingPunct="1">
              <a:spcBef>
                <a:spcPts val="1250"/>
              </a:spcBef>
              <a:buFont typeface="Arial" panose="020B0604020202020204" pitchFamily="34" charset="0"/>
              <a:buChar char="•"/>
            </a:pPr>
            <a:r>
              <a:rPr lang="en-US" altLang="en-US" sz="2400" dirty="0">
                <a:solidFill>
                  <a:srgbClr val="000000"/>
                </a:solidFill>
              </a:rPr>
              <a:t>Significantly more storage (RAM and disk) is required to maintain multiple versions; to check unlimited growth of versions, a </a:t>
            </a:r>
            <a:r>
              <a:rPr lang="en-US" altLang="en-US" sz="2400" i="1" dirty="0">
                <a:solidFill>
                  <a:srgbClr val="000000"/>
                </a:solidFill>
              </a:rPr>
              <a:t>window</a:t>
            </a:r>
            <a:r>
              <a:rPr lang="en-US" altLang="en-US" sz="2400" dirty="0">
                <a:solidFill>
                  <a:srgbClr val="000000"/>
                </a:solidFill>
              </a:rPr>
              <a:t> is kept – say last 10 versions.</a:t>
            </a:r>
          </a:p>
        </p:txBody>
      </p:sp>
      <p:sp>
        <p:nvSpPr>
          <p:cNvPr id="8"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MULTIVERSION CCMS (CONTD..)</a:t>
            </a:r>
          </a:p>
        </p:txBody>
      </p:sp>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083212" y="1252025"/>
            <a:ext cx="10086536" cy="5324535"/>
          </a:xfrm>
          <a:prstGeom prst="rect">
            <a:avLst/>
          </a:prstGeom>
          <a:noFill/>
        </p:spPr>
        <p:txBody>
          <a:bodyPr wrap="square" rtlCol="0">
            <a:spAutoFit/>
          </a:bodyPr>
          <a:lstStyle/>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p:txBody>
      </p:sp>
      <p:sp>
        <p:nvSpPr>
          <p:cNvPr id="5" name="TextBox 4">
            <a:extLst>
              <a:ext uri="{FF2B5EF4-FFF2-40B4-BE49-F238E27FC236}">
                <a16:creationId xmlns:a16="http://schemas.microsoft.com/office/drawing/2014/main" id="{382A3BD9-1E8F-F781-508E-FB889FCE6C6B}"/>
              </a:ext>
            </a:extLst>
          </p:cNvPr>
          <p:cNvSpPr txBox="1"/>
          <p:nvPr/>
        </p:nvSpPr>
        <p:spPr>
          <a:xfrm>
            <a:off x="2626195" y="986548"/>
            <a:ext cx="7914968" cy="553998"/>
          </a:xfrm>
          <a:prstGeom prst="rect">
            <a:avLst/>
          </a:prstGeom>
          <a:noFill/>
        </p:spPr>
        <p:txBody>
          <a:bodyPr wrap="square">
            <a:spAutoFit/>
          </a:bodyPr>
          <a:lstStyle/>
          <a:p>
            <a:pPr eaLnBrk="1" hangingPunct="1">
              <a:spcBef>
                <a:spcPts val="600"/>
              </a:spcBef>
            </a:pPr>
            <a:r>
              <a:rPr lang="en-US" altLang="en-US" sz="3000" b="1" dirty="0" err="1">
                <a:solidFill>
                  <a:srgbClr val="FF0000"/>
                </a:solidFill>
                <a:latin typeface="Arial" panose="020B0604020202020204" pitchFamily="34" charset="0"/>
                <a:cs typeface="Arial" panose="020B0604020202020204" pitchFamily="34" charset="0"/>
              </a:rPr>
              <a:t>Multiversion</a:t>
            </a:r>
            <a:r>
              <a:rPr lang="en-US" altLang="en-US" sz="3000" b="1" dirty="0">
                <a:solidFill>
                  <a:srgbClr val="FF0000"/>
                </a:solidFill>
                <a:latin typeface="Arial" panose="020B0604020202020204" pitchFamily="34" charset="0"/>
                <a:cs typeface="Arial" panose="020B0604020202020204" pitchFamily="34" charset="0"/>
              </a:rPr>
              <a:t> Timestamp Ordering (cont.)</a:t>
            </a:r>
          </a:p>
        </p:txBody>
      </p:sp>
      <p:sp>
        <p:nvSpPr>
          <p:cNvPr id="8" name="TextBox 7">
            <a:extLst>
              <a:ext uri="{FF2B5EF4-FFF2-40B4-BE49-F238E27FC236}">
                <a16:creationId xmlns:a16="http://schemas.microsoft.com/office/drawing/2014/main" id="{D9CE9D84-BD54-5AD2-C554-0E10C4EDD28E}"/>
              </a:ext>
            </a:extLst>
          </p:cNvPr>
          <p:cNvSpPr txBox="1"/>
          <p:nvPr/>
        </p:nvSpPr>
        <p:spPr>
          <a:xfrm>
            <a:off x="436728" y="2143519"/>
            <a:ext cx="11460304" cy="3547125"/>
          </a:xfrm>
          <a:prstGeom prst="rect">
            <a:avLst/>
          </a:prstGeom>
          <a:noFill/>
        </p:spPr>
        <p:txBody>
          <a:bodyPr wrap="square">
            <a:spAutoFit/>
          </a:bodyPr>
          <a:lstStyle/>
          <a:p>
            <a:pPr marL="342900" indent="-342900" algn="just" eaLnBrk="1" hangingPunct="1">
              <a:spcBef>
                <a:spcPts val="1250"/>
              </a:spcBef>
              <a:buFont typeface="Arial" panose="020B0604020202020204" pitchFamily="34" charset="0"/>
              <a:buChar char="•"/>
            </a:pPr>
            <a:r>
              <a:rPr lang="en-US" altLang="en-US" sz="2400" dirty="0">
                <a:solidFill>
                  <a:srgbClr val="000000"/>
                </a:solidFill>
                <a:latin typeface="Arial" panose="020B0604020202020204" pitchFamily="34" charset="0"/>
                <a:cs typeface="Arial" panose="020B0604020202020204" pitchFamily="34" charset="0"/>
              </a:rPr>
              <a:t>Assume X1, X2, …, </a:t>
            </a:r>
            <a:r>
              <a:rPr lang="en-US" altLang="en-US" sz="2400" dirty="0" err="1">
                <a:solidFill>
                  <a:srgbClr val="000000"/>
                </a:solidFill>
                <a:latin typeface="Arial" panose="020B0604020202020204" pitchFamily="34" charset="0"/>
                <a:cs typeface="Arial" panose="020B0604020202020204" pitchFamily="34" charset="0"/>
              </a:rPr>
              <a:t>Xn</a:t>
            </a:r>
            <a:r>
              <a:rPr lang="en-US" altLang="en-US" sz="2400" dirty="0">
                <a:solidFill>
                  <a:srgbClr val="000000"/>
                </a:solidFill>
                <a:latin typeface="Arial" panose="020B0604020202020204" pitchFamily="34" charset="0"/>
                <a:cs typeface="Arial" panose="020B0604020202020204" pitchFamily="34" charset="0"/>
              </a:rPr>
              <a:t> are the version of a data item X created by a write operation of transactions.  With each Xi a </a:t>
            </a:r>
            <a:r>
              <a:rPr lang="en-US" altLang="en-US" sz="2400" dirty="0" err="1">
                <a:solidFill>
                  <a:srgbClr val="000000"/>
                </a:solidFill>
                <a:latin typeface="Arial" panose="020B0604020202020204" pitchFamily="34" charset="0"/>
                <a:cs typeface="Arial" panose="020B0604020202020204" pitchFamily="34" charset="0"/>
              </a:rPr>
              <a:t>read_TS</a:t>
            </a:r>
            <a:r>
              <a:rPr lang="en-US" altLang="en-US" sz="2400" dirty="0">
                <a:solidFill>
                  <a:srgbClr val="000000"/>
                </a:solidFill>
                <a:latin typeface="Arial" panose="020B0604020202020204" pitchFamily="34" charset="0"/>
                <a:cs typeface="Arial" panose="020B0604020202020204" pitchFamily="34" charset="0"/>
              </a:rPr>
              <a:t> (read timestamp) and a </a:t>
            </a:r>
            <a:r>
              <a:rPr lang="en-US" altLang="en-US" sz="2400" dirty="0" err="1">
                <a:solidFill>
                  <a:srgbClr val="000000"/>
                </a:solidFill>
                <a:latin typeface="Arial" panose="020B0604020202020204" pitchFamily="34" charset="0"/>
                <a:cs typeface="Arial" panose="020B0604020202020204" pitchFamily="34" charset="0"/>
              </a:rPr>
              <a:t>write_TS</a:t>
            </a:r>
            <a:r>
              <a:rPr lang="en-US" altLang="en-US" sz="2400" dirty="0">
                <a:solidFill>
                  <a:srgbClr val="000000"/>
                </a:solidFill>
                <a:latin typeface="Arial" panose="020B0604020202020204" pitchFamily="34" charset="0"/>
                <a:cs typeface="Arial" panose="020B0604020202020204" pitchFamily="34" charset="0"/>
              </a:rPr>
              <a:t> (write timestamp) are associated.</a:t>
            </a:r>
          </a:p>
          <a:p>
            <a:pPr marL="342900" indent="-342900" algn="just" eaLnBrk="1" hangingPunct="1">
              <a:spcBef>
                <a:spcPts val="1250"/>
              </a:spcBef>
              <a:buFont typeface="Arial" panose="020B0604020202020204" pitchFamily="34" charset="0"/>
              <a:buChar char="•"/>
            </a:pPr>
            <a:r>
              <a:rPr lang="en-US" altLang="en-US" sz="2400" b="1" dirty="0" err="1">
                <a:solidFill>
                  <a:srgbClr val="000000"/>
                </a:solidFill>
                <a:latin typeface="Arial" panose="020B0604020202020204" pitchFamily="34" charset="0"/>
                <a:cs typeface="Arial" panose="020B0604020202020204" pitchFamily="34" charset="0"/>
              </a:rPr>
              <a:t>read_TS</a:t>
            </a:r>
            <a:r>
              <a:rPr lang="en-US" altLang="en-US" sz="2400" b="1" dirty="0">
                <a:solidFill>
                  <a:srgbClr val="000000"/>
                </a:solidFill>
                <a:latin typeface="Arial" panose="020B0604020202020204" pitchFamily="34" charset="0"/>
                <a:cs typeface="Arial" panose="020B0604020202020204" pitchFamily="34" charset="0"/>
              </a:rPr>
              <a:t>(Xi)</a:t>
            </a:r>
            <a:r>
              <a:rPr lang="en-US" altLang="en-US" sz="2400" dirty="0">
                <a:solidFill>
                  <a:srgbClr val="000000"/>
                </a:solidFill>
                <a:latin typeface="Arial" panose="020B0604020202020204" pitchFamily="34" charset="0"/>
                <a:cs typeface="Arial" panose="020B0604020202020204" pitchFamily="34" charset="0"/>
              </a:rPr>
              <a:t>:  The read timestamp of Xi is the largest of all the timestamps of transactions that have successfully read version Xi.</a:t>
            </a:r>
          </a:p>
          <a:p>
            <a:pPr marL="342900" indent="-342900" algn="just" eaLnBrk="1" hangingPunct="1">
              <a:spcBef>
                <a:spcPts val="1250"/>
              </a:spcBef>
              <a:buFont typeface="Arial" panose="020B0604020202020204" pitchFamily="34" charset="0"/>
              <a:buChar char="•"/>
            </a:pPr>
            <a:r>
              <a:rPr lang="en-US" altLang="en-US" sz="2400" b="1" dirty="0" err="1">
                <a:solidFill>
                  <a:srgbClr val="000000"/>
                </a:solidFill>
                <a:latin typeface="Arial" panose="020B0604020202020204" pitchFamily="34" charset="0"/>
                <a:cs typeface="Arial" panose="020B0604020202020204" pitchFamily="34" charset="0"/>
              </a:rPr>
              <a:t>write_TS</a:t>
            </a:r>
            <a:r>
              <a:rPr lang="en-US" altLang="en-US" sz="2400" b="1" dirty="0">
                <a:solidFill>
                  <a:srgbClr val="000000"/>
                </a:solidFill>
                <a:latin typeface="Arial" panose="020B0604020202020204" pitchFamily="34" charset="0"/>
                <a:cs typeface="Arial" panose="020B0604020202020204" pitchFamily="34" charset="0"/>
              </a:rPr>
              <a:t>(Xi)</a:t>
            </a:r>
            <a:r>
              <a:rPr lang="en-US" altLang="en-US" sz="2400" dirty="0">
                <a:solidFill>
                  <a:srgbClr val="000000"/>
                </a:solidFill>
                <a:latin typeface="Arial" panose="020B0604020202020204" pitchFamily="34" charset="0"/>
                <a:cs typeface="Arial" panose="020B0604020202020204" pitchFamily="34" charset="0"/>
              </a:rPr>
              <a:t>:  The write timestamp of Xi is the timestamp of the transaction that wrote version Xi.</a:t>
            </a:r>
          </a:p>
          <a:p>
            <a:pPr marL="342900" indent="-342900" algn="just" eaLnBrk="1" hangingPunct="1">
              <a:spcBef>
                <a:spcPts val="1250"/>
              </a:spcBef>
              <a:buFont typeface="Arial" panose="020B0604020202020204" pitchFamily="34" charset="0"/>
              <a:buChar char="•"/>
            </a:pPr>
            <a:r>
              <a:rPr lang="en-US" altLang="en-US" sz="2400" dirty="0">
                <a:solidFill>
                  <a:srgbClr val="000000"/>
                </a:solidFill>
                <a:latin typeface="Arial" panose="020B0604020202020204" pitchFamily="34" charset="0"/>
                <a:cs typeface="Arial" panose="020B0604020202020204" pitchFamily="34" charset="0"/>
              </a:rPr>
              <a:t>A new version of Xi is created only by a write operation.</a:t>
            </a:r>
            <a:endParaRPr lang="en-IN" sz="2400" dirty="0">
              <a:latin typeface="Arial" panose="020B0604020202020204" pitchFamily="34" charset="0"/>
              <a:cs typeface="Arial" panose="020B0604020202020204" pitchFamily="34" charset="0"/>
            </a:endParaRPr>
          </a:p>
        </p:txBody>
      </p:sp>
      <p:sp>
        <p:nvSpPr>
          <p:cNvPr id="9"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MULTIVERSION CCMS (CONTD..)</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3" name="Rectangle 3">
            <a:extLst>
              <a:ext uri="{FF2B5EF4-FFF2-40B4-BE49-F238E27FC236}">
                <a16:creationId xmlns:a16="http://schemas.microsoft.com/office/drawing/2014/main" id="{41BC131D-B21E-5E23-7484-0DCDCE1CBD33}"/>
              </a:ext>
            </a:extLst>
          </p:cNvPr>
          <p:cNvSpPr>
            <a:spLocks noChangeArrowheads="1"/>
          </p:cNvSpPr>
          <p:nvPr/>
        </p:nvSpPr>
        <p:spPr bwMode="auto">
          <a:xfrm>
            <a:off x="2574771" y="967829"/>
            <a:ext cx="753822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914400" indent="-900113" eaLnBrk="0" hangingPunct="0">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spcBef>
                <a:spcPts val="600"/>
              </a:spcBef>
            </a:pPr>
            <a:r>
              <a:rPr lang="en-US" altLang="en-US" sz="3000" b="1" dirty="0" err="1">
                <a:solidFill>
                  <a:srgbClr val="FF0000"/>
                </a:solidFill>
                <a:cs typeface="Times New Roman" panose="02020603050405020304" pitchFamily="18" charset="0"/>
              </a:rPr>
              <a:t>Multiversion</a:t>
            </a:r>
            <a:r>
              <a:rPr lang="en-US" altLang="en-US" sz="3000" b="1" dirty="0">
                <a:solidFill>
                  <a:srgbClr val="FF0000"/>
                </a:solidFill>
                <a:cs typeface="Times New Roman" panose="02020603050405020304" pitchFamily="18" charset="0"/>
              </a:rPr>
              <a:t> Timestamp Ordering (cont.)</a:t>
            </a:r>
          </a:p>
          <a:p>
            <a:pPr eaLnBrk="1" hangingPunct="1">
              <a:spcBef>
                <a:spcPts val="500"/>
              </a:spcBef>
            </a:pPr>
            <a:r>
              <a:rPr lang="en-US" altLang="en-US" sz="3000" b="1" dirty="0">
                <a:solidFill>
                  <a:srgbClr val="FF0000"/>
                </a:solidFill>
              </a:rPr>
              <a:t>	</a:t>
            </a:r>
          </a:p>
          <a:p>
            <a:pPr eaLnBrk="1" hangingPunct="1">
              <a:spcBef>
                <a:spcPts val="500"/>
              </a:spcBef>
            </a:pPr>
            <a:endParaRPr lang="en-US" altLang="en-US" sz="3000" b="1" dirty="0">
              <a:solidFill>
                <a:srgbClr val="FF0000"/>
              </a:solidFill>
            </a:endParaRPr>
          </a:p>
          <a:p>
            <a:pPr eaLnBrk="1" hangingPunct="1">
              <a:spcBef>
                <a:spcPts val="500"/>
              </a:spcBef>
            </a:pPr>
            <a:r>
              <a:rPr lang="en-US" altLang="en-US" sz="3000" b="1" dirty="0">
                <a:solidFill>
                  <a:srgbClr val="FF0000"/>
                </a:solidFill>
              </a:rPr>
              <a:t>	</a:t>
            </a:r>
          </a:p>
        </p:txBody>
      </p:sp>
      <p:sp>
        <p:nvSpPr>
          <p:cNvPr id="4" name="Text Box 5">
            <a:extLst>
              <a:ext uri="{FF2B5EF4-FFF2-40B4-BE49-F238E27FC236}">
                <a16:creationId xmlns:a16="http://schemas.microsoft.com/office/drawing/2014/main" id="{E64E8546-4845-6885-BBB6-C007717C836E}"/>
              </a:ext>
            </a:extLst>
          </p:cNvPr>
          <p:cNvSpPr txBox="1">
            <a:spLocks noChangeArrowheads="1"/>
          </p:cNvSpPr>
          <p:nvPr/>
        </p:nvSpPr>
        <p:spPr bwMode="auto">
          <a:xfrm>
            <a:off x="259308" y="1677980"/>
            <a:ext cx="11633425" cy="39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0000" tIns="46800" rIns="90000" bIns="46800">
            <a:spAutoFit/>
          </a:bodyPr>
          <a:lstStyle>
            <a:lvl1pPr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anose="020B0604020202020204" pitchFamily="34" charset="0"/>
                <a:cs typeface="Arial" panose="020B0604020202020204" pitchFamily="34" charset="0"/>
              </a:defRPr>
            </a:lvl9pPr>
          </a:lstStyle>
          <a:p>
            <a:pPr marL="342900" indent="-342900" algn="just" eaLnBrk="1" hangingPunct="1">
              <a:spcBef>
                <a:spcPts val="1250"/>
              </a:spcBef>
              <a:buFont typeface="Arial" panose="020B0604020202020204" pitchFamily="34" charset="0"/>
              <a:buChar char="•"/>
            </a:pPr>
            <a:r>
              <a:rPr lang="en-US" altLang="en-US" sz="2400" dirty="0">
                <a:solidFill>
                  <a:srgbClr val="000000"/>
                </a:solidFill>
              </a:rPr>
              <a:t>To ensure serializability, the following two rules are used.</a:t>
            </a:r>
          </a:p>
          <a:p>
            <a:pPr marL="342900" indent="-342900" algn="just" eaLnBrk="1" hangingPunct="1">
              <a:spcBef>
                <a:spcPts val="1250"/>
              </a:spcBef>
              <a:buFont typeface="Arial" panose="020B0604020202020204" pitchFamily="34" charset="0"/>
              <a:buChar char="•"/>
            </a:pPr>
            <a:r>
              <a:rPr lang="en-US" altLang="en-US" sz="2400" dirty="0">
                <a:solidFill>
                  <a:srgbClr val="000000"/>
                </a:solidFill>
              </a:rPr>
              <a:t>If transaction T issues </a:t>
            </a:r>
            <a:r>
              <a:rPr lang="en-US" altLang="en-US" sz="2400" dirty="0" err="1">
                <a:solidFill>
                  <a:srgbClr val="000000"/>
                </a:solidFill>
              </a:rPr>
              <a:t>write_item</a:t>
            </a:r>
            <a:r>
              <a:rPr lang="en-US" altLang="en-US" sz="2400" dirty="0">
                <a:solidFill>
                  <a:srgbClr val="000000"/>
                </a:solidFill>
              </a:rPr>
              <a:t> (X) and version </a:t>
            </a:r>
            <a:r>
              <a:rPr lang="en-US" altLang="en-US" sz="2400" dirty="0" err="1">
                <a:solidFill>
                  <a:srgbClr val="000000"/>
                </a:solidFill>
              </a:rPr>
              <a:t>i</a:t>
            </a:r>
            <a:r>
              <a:rPr lang="en-US" altLang="en-US" sz="2400" dirty="0">
                <a:solidFill>
                  <a:srgbClr val="000000"/>
                </a:solidFill>
              </a:rPr>
              <a:t> of X has the </a:t>
            </a:r>
            <a:r>
              <a:rPr lang="en-US" altLang="en-US" sz="2400" i="1" dirty="0">
                <a:solidFill>
                  <a:srgbClr val="000000"/>
                </a:solidFill>
              </a:rPr>
              <a:t>highest</a:t>
            </a:r>
            <a:r>
              <a:rPr lang="en-US" altLang="en-US" sz="2400" dirty="0">
                <a:solidFill>
                  <a:srgbClr val="000000"/>
                </a:solidFill>
              </a:rPr>
              <a:t> (latest) </a:t>
            </a:r>
            <a:r>
              <a:rPr lang="en-US" altLang="en-US" sz="2400" dirty="0" err="1">
                <a:solidFill>
                  <a:srgbClr val="000000"/>
                </a:solidFill>
              </a:rPr>
              <a:t>write_TS</a:t>
            </a:r>
            <a:r>
              <a:rPr lang="en-US" altLang="en-US" sz="2400" dirty="0">
                <a:solidFill>
                  <a:srgbClr val="000000"/>
                </a:solidFill>
              </a:rPr>
              <a:t>(Xi) of all versions of X that is </a:t>
            </a:r>
            <a:r>
              <a:rPr lang="en-US" altLang="en-US" sz="2400" i="1" dirty="0">
                <a:solidFill>
                  <a:srgbClr val="000000"/>
                </a:solidFill>
              </a:rPr>
              <a:t>also less than or equal to</a:t>
            </a:r>
            <a:r>
              <a:rPr lang="en-US" altLang="en-US" sz="2400" dirty="0">
                <a:solidFill>
                  <a:srgbClr val="000000"/>
                </a:solidFill>
              </a:rPr>
              <a:t> TS(T), and read _TS(Xi) &gt; TS(T), then abort and roll-back T; otherwise create a new version Xi and set </a:t>
            </a:r>
            <a:r>
              <a:rPr lang="en-US" altLang="en-US" sz="2400" dirty="0" err="1">
                <a:solidFill>
                  <a:srgbClr val="000000"/>
                </a:solidFill>
              </a:rPr>
              <a:t>read_TS</a:t>
            </a:r>
            <a:r>
              <a:rPr lang="en-US" altLang="en-US" sz="2400" dirty="0">
                <a:solidFill>
                  <a:srgbClr val="000000"/>
                </a:solidFill>
              </a:rPr>
              <a:t>(X) = </a:t>
            </a:r>
            <a:r>
              <a:rPr lang="en-US" altLang="en-US" sz="2400" dirty="0" err="1">
                <a:solidFill>
                  <a:srgbClr val="000000"/>
                </a:solidFill>
              </a:rPr>
              <a:t>write_TS</a:t>
            </a:r>
            <a:r>
              <a:rPr lang="en-US" altLang="en-US" sz="2400" dirty="0">
                <a:solidFill>
                  <a:srgbClr val="000000"/>
                </a:solidFill>
              </a:rPr>
              <a:t>(</a:t>
            </a:r>
            <a:r>
              <a:rPr lang="en-US" altLang="en-US" sz="2400" dirty="0" err="1">
                <a:solidFill>
                  <a:srgbClr val="000000"/>
                </a:solidFill>
              </a:rPr>
              <a:t>Xj</a:t>
            </a:r>
            <a:r>
              <a:rPr lang="en-US" altLang="en-US" sz="2400" dirty="0">
                <a:solidFill>
                  <a:srgbClr val="000000"/>
                </a:solidFill>
              </a:rPr>
              <a:t>) = TS(T).</a:t>
            </a:r>
          </a:p>
          <a:p>
            <a:pPr marL="342900" indent="-342900" eaLnBrk="1" hangingPunct="1">
              <a:buFont typeface="Arial" panose="020B0604020202020204" pitchFamily="34" charset="0"/>
              <a:buChar char="•"/>
            </a:pPr>
            <a:endParaRPr lang="en-US" altLang="en-US" sz="2400" dirty="0">
              <a:solidFill>
                <a:srgbClr val="000000"/>
              </a:solidFill>
            </a:endParaRPr>
          </a:p>
          <a:p>
            <a:pPr marL="342900" indent="-342900" eaLnBrk="1" hangingPunct="1">
              <a:buFont typeface="Arial" panose="020B0604020202020204" pitchFamily="34" charset="0"/>
              <a:buChar char="•"/>
            </a:pPr>
            <a:r>
              <a:rPr lang="en-US" altLang="en-US" sz="2400" dirty="0">
                <a:solidFill>
                  <a:srgbClr val="000000"/>
                </a:solidFill>
              </a:rPr>
              <a:t>If transaction T issues </a:t>
            </a:r>
            <a:r>
              <a:rPr lang="en-US" altLang="en-US" sz="2400" dirty="0" err="1">
                <a:solidFill>
                  <a:srgbClr val="000000"/>
                </a:solidFill>
              </a:rPr>
              <a:t>read_item</a:t>
            </a:r>
            <a:r>
              <a:rPr lang="en-US" altLang="en-US" sz="2400" dirty="0">
                <a:solidFill>
                  <a:srgbClr val="000000"/>
                </a:solidFill>
              </a:rPr>
              <a:t> (X), find the version </a:t>
            </a:r>
            <a:r>
              <a:rPr lang="en-US" altLang="en-US" sz="2400" dirty="0" err="1">
                <a:solidFill>
                  <a:srgbClr val="000000"/>
                </a:solidFill>
              </a:rPr>
              <a:t>i</a:t>
            </a:r>
            <a:r>
              <a:rPr lang="en-US" altLang="en-US" sz="2400" dirty="0">
                <a:solidFill>
                  <a:srgbClr val="000000"/>
                </a:solidFill>
              </a:rPr>
              <a:t> of X that has the </a:t>
            </a:r>
            <a:r>
              <a:rPr lang="en-US" altLang="en-US" sz="2400" i="1" dirty="0">
                <a:solidFill>
                  <a:srgbClr val="000000"/>
                </a:solidFill>
              </a:rPr>
              <a:t>highest</a:t>
            </a:r>
            <a:r>
              <a:rPr lang="en-US" altLang="en-US" sz="2400" dirty="0">
                <a:solidFill>
                  <a:srgbClr val="000000"/>
                </a:solidFill>
              </a:rPr>
              <a:t> </a:t>
            </a:r>
            <a:r>
              <a:rPr lang="en-US" altLang="en-US" sz="2400" dirty="0" err="1">
                <a:solidFill>
                  <a:srgbClr val="000000"/>
                </a:solidFill>
              </a:rPr>
              <a:t>write_TS</a:t>
            </a:r>
            <a:r>
              <a:rPr lang="en-US" altLang="en-US" sz="2400" dirty="0">
                <a:solidFill>
                  <a:srgbClr val="000000"/>
                </a:solidFill>
              </a:rPr>
              <a:t>(Xi) of all versions of X </a:t>
            </a:r>
            <a:r>
              <a:rPr lang="en-US" altLang="en-US" sz="2400" i="1" dirty="0">
                <a:solidFill>
                  <a:srgbClr val="000000"/>
                </a:solidFill>
              </a:rPr>
              <a:t>that is also less than or equal to</a:t>
            </a:r>
            <a:r>
              <a:rPr lang="en-US" altLang="en-US" sz="2400" dirty="0">
                <a:solidFill>
                  <a:srgbClr val="000000"/>
                </a:solidFill>
              </a:rPr>
              <a:t> TS(T), then return the value of Xi to T, and set the value of read _TS(Xi) to the larger of TS(T) and the current </a:t>
            </a:r>
            <a:r>
              <a:rPr lang="en-US" altLang="en-US" sz="2400" dirty="0" err="1">
                <a:solidFill>
                  <a:srgbClr val="000000"/>
                </a:solidFill>
              </a:rPr>
              <a:t>read_TS</a:t>
            </a:r>
            <a:r>
              <a:rPr lang="en-US" altLang="en-US" sz="2400" dirty="0">
                <a:solidFill>
                  <a:srgbClr val="000000"/>
                </a:solidFill>
              </a:rPr>
              <a:t>(Xi).</a:t>
            </a:r>
          </a:p>
        </p:txBody>
      </p:sp>
      <p:sp>
        <p:nvSpPr>
          <p:cNvPr id="7"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MULTIVERSION CCMS (CONTD..)</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0" name="Rectangle 3">
            <a:extLst>
              <a:ext uri="{FF2B5EF4-FFF2-40B4-BE49-F238E27FC236}">
                <a16:creationId xmlns:a16="http://schemas.microsoft.com/office/drawing/2014/main" id="{386DB2E0-3823-F4DF-18B5-12A21325A98B}"/>
              </a:ext>
            </a:extLst>
          </p:cNvPr>
          <p:cNvSpPr>
            <a:spLocks noChangeArrowheads="1"/>
          </p:cNvSpPr>
          <p:nvPr/>
        </p:nvSpPr>
        <p:spPr bwMode="auto">
          <a:xfrm>
            <a:off x="2878177" y="1233487"/>
            <a:ext cx="702547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914400" indent="-900113" eaLnBrk="0" hangingPunct="0">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spcBef>
                <a:spcPts val="600"/>
              </a:spcBef>
            </a:pPr>
            <a:r>
              <a:rPr lang="en-US" altLang="en-US" sz="3000" b="1" dirty="0" err="1">
                <a:solidFill>
                  <a:srgbClr val="FF0000"/>
                </a:solidFill>
              </a:rPr>
              <a:t>Multiversion</a:t>
            </a:r>
            <a:r>
              <a:rPr lang="en-US" altLang="en-US" sz="3000" b="1" dirty="0">
                <a:solidFill>
                  <a:srgbClr val="FF0000"/>
                </a:solidFill>
              </a:rPr>
              <a:t> 2PL Using Certify Locks</a:t>
            </a:r>
          </a:p>
          <a:p>
            <a:pPr eaLnBrk="1" hangingPunct="1">
              <a:spcBef>
                <a:spcPts val="500"/>
              </a:spcBef>
            </a:pPr>
            <a:r>
              <a:rPr lang="en-US" altLang="en-US" sz="3000" b="1" dirty="0">
                <a:solidFill>
                  <a:srgbClr val="FF0000"/>
                </a:solidFill>
              </a:rPr>
              <a:t>	</a:t>
            </a:r>
          </a:p>
          <a:p>
            <a:pPr eaLnBrk="1" hangingPunct="1">
              <a:spcBef>
                <a:spcPts val="500"/>
              </a:spcBef>
            </a:pPr>
            <a:endParaRPr lang="en-US" altLang="en-US" sz="3000" b="1" dirty="0">
              <a:solidFill>
                <a:srgbClr val="FF0000"/>
              </a:solidFill>
            </a:endParaRPr>
          </a:p>
          <a:p>
            <a:pPr eaLnBrk="1" hangingPunct="1">
              <a:spcBef>
                <a:spcPts val="500"/>
              </a:spcBef>
            </a:pPr>
            <a:r>
              <a:rPr lang="en-US" altLang="en-US" sz="3000" b="1" dirty="0">
                <a:solidFill>
                  <a:srgbClr val="FF0000"/>
                </a:solidFill>
              </a:rPr>
              <a:t>	</a:t>
            </a: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13" name="Text Box 5">
            <a:extLst>
              <a:ext uri="{FF2B5EF4-FFF2-40B4-BE49-F238E27FC236}">
                <a16:creationId xmlns:a16="http://schemas.microsoft.com/office/drawing/2014/main" id="{B4FE6A85-0E9F-C094-8C72-ED6A873B395C}"/>
              </a:ext>
            </a:extLst>
          </p:cNvPr>
          <p:cNvSpPr txBox="1">
            <a:spLocks noChangeArrowheads="1"/>
          </p:cNvSpPr>
          <p:nvPr/>
        </p:nvSpPr>
        <p:spPr bwMode="auto">
          <a:xfrm>
            <a:off x="508000" y="2080419"/>
            <a:ext cx="10717213" cy="3716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0000" tIns="46800" rIns="90000" bIns="46800">
            <a:spAutoFit/>
          </a:bodyPr>
          <a:lstStyle>
            <a:lvl1pPr marL="457200" indent="-442913"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9pPr>
          </a:lstStyle>
          <a:p>
            <a:pPr algn="just" eaLnBrk="1" hangingPunct="1">
              <a:spcBef>
                <a:spcPts val="1250"/>
              </a:spcBef>
            </a:pPr>
            <a:r>
              <a:rPr lang="en-US" altLang="en-US" sz="2400" b="1" dirty="0">
                <a:solidFill>
                  <a:srgbClr val="000000"/>
                </a:solidFill>
              </a:rPr>
              <a:t>Concepts:</a:t>
            </a:r>
          </a:p>
          <a:p>
            <a:pPr algn="just" eaLnBrk="1" hangingPunct="1">
              <a:spcBef>
                <a:spcPts val="1250"/>
              </a:spcBef>
            </a:pPr>
            <a:r>
              <a:rPr lang="en-US" altLang="en-US" sz="2400" dirty="0">
                <a:solidFill>
                  <a:srgbClr val="000000"/>
                </a:solidFill>
              </a:rPr>
              <a:t>	Allow one or more transactions T’ to concurrently read a data item X while X is write locked by a different transaction T.</a:t>
            </a:r>
          </a:p>
          <a:p>
            <a:pPr algn="just" eaLnBrk="1" hangingPunct="1">
              <a:spcBef>
                <a:spcPts val="1250"/>
              </a:spcBef>
            </a:pPr>
            <a:r>
              <a:rPr lang="en-US" altLang="en-US" sz="2400" dirty="0">
                <a:solidFill>
                  <a:srgbClr val="000000"/>
                </a:solidFill>
              </a:rPr>
              <a:t>	Accomplished by allowing </a:t>
            </a:r>
            <a:r>
              <a:rPr lang="en-US" altLang="en-US" sz="2400" b="1" dirty="0">
                <a:solidFill>
                  <a:srgbClr val="000000"/>
                </a:solidFill>
              </a:rPr>
              <a:t>two versions</a:t>
            </a:r>
            <a:r>
              <a:rPr lang="en-US" altLang="en-US" sz="2400" dirty="0">
                <a:solidFill>
                  <a:srgbClr val="000000"/>
                </a:solidFill>
              </a:rPr>
              <a:t> of a data item X: one </a:t>
            </a:r>
            <a:r>
              <a:rPr lang="en-US" altLang="en-US" sz="2400" b="1" dirty="0">
                <a:solidFill>
                  <a:srgbClr val="000000"/>
                </a:solidFill>
              </a:rPr>
              <a:t>committed version</a:t>
            </a:r>
            <a:r>
              <a:rPr lang="en-US" altLang="en-US" sz="2400" dirty="0">
                <a:solidFill>
                  <a:srgbClr val="000000"/>
                </a:solidFill>
              </a:rPr>
              <a:t> (this can be read by other transactions) and one </a:t>
            </a:r>
            <a:r>
              <a:rPr lang="en-US" altLang="en-US" sz="2400" b="1" dirty="0">
                <a:solidFill>
                  <a:srgbClr val="000000"/>
                </a:solidFill>
              </a:rPr>
              <a:t>local version </a:t>
            </a:r>
            <a:r>
              <a:rPr lang="en-US" altLang="en-US" sz="2400" dirty="0">
                <a:solidFill>
                  <a:srgbClr val="000000"/>
                </a:solidFill>
              </a:rPr>
              <a:t>being written by T.</a:t>
            </a:r>
          </a:p>
          <a:p>
            <a:pPr algn="just" eaLnBrk="1" hangingPunct="1">
              <a:spcBef>
                <a:spcPts val="1250"/>
              </a:spcBef>
            </a:pPr>
            <a:endParaRPr lang="en-US" altLang="en-US" sz="2400" dirty="0">
              <a:solidFill>
                <a:srgbClr val="000000"/>
              </a:solidFill>
            </a:endParaRPr>
          </a:p>
          <a:p>
            <a:pPr algn="just" eaLnBrk="1" hangingPunct="1">
              <a:spcBef>
                <a:spcPts val="1250"/>
              </a:spcBef>
            </a:pPr>
            <a:endParaRPr lang="en-US" altLang="en-US" sz="2400" dirty="0">
              <a:solidFill>
                <a:srgbClr val="000000"/>
              </a:solidFill>
            </a:endParaRPr>
          </a:p>
        </p:txBody>
      </p:sp>
      <p:sp>
        <p:nvSpPr>
          <p:cNvPr id="14"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MULTIVERSION CCMS (CONTD..)</a:t>
            </a:r>
          </a:p>
        </p:txBody>
      </p:sp>
    </p:spTree>
    <p:extLst>
      <p:ext uri="{BB962C8B-B14F-4D97-AF65-F5344CB8AC3E}">
        <p14:creationId xmlns:p14="http://schemas.microsoft.com/office/powerpoint/2010/main" val="3216380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4" name="Rectangle 3">
            <a:extLst>
              <a:ext uri="{FF2B5EF4-FFF2-40B4-BE49-F238E27FC236}">
                <a16:creationId xmlns:a16="http://schemas.microsoft.com/office/drawing/2014/main" id="{A98473D7-A490-F81F-EB7C-5A3C76DD57A4}"/>
              </a:ext>
            </a:extLst>
          </p:cNvPr>
          <p:cNvSpPr>
            <a:spLocks noChangeArrowheads="1"/>
          </p:cNvSpPr>
          <p:nvPr/>
        </p:nvSpPr>
        <p:spPr bwMode="auto">
          <a:xfrm>
            <a:off x="2343931" y="989746"/>
            <a:ext cx="827402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lvl1pPr marL="914400" indent="-900113" eaLnBrk="0" hangingPunct="0">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Lst>
              <a:defRPr>
                <a:solidFill>
                  <a:schemeClr val="tx1"/>
                </a:solidFill>
                <a:latin typeface="Arial" panose="020B0604020202020204" pitchFamily="34" charset="0"/>
                <a:cs typeface="Arial" panose="020B0604020202020204" pitchFamily="34" charset="0"/>
              </a:defRPr>
            </a:lvl9pPr>
          </a:lstStyle>
          <a:p>
            <a:pPr eaLnBrk="1" hangingPunct="1">
              <a:spcBef>
                <a:spcPts val="600"/>
              </a:spcBef>
            </a:pPr>
            <a:r>
              <a:rPr lang="en-US" altLang="en-US" sz="3000" b="1" dirty="0" err="1">
                <a:solidFill>
                  <a:srgbClr val="FF0000"/>
                </a:solidFill>
              </a:rPr>
              <a:t>Multiversion</a:t>
            </a:r>
            <a:r>
              <a:rPr lang="en-US" altLang="en-US" sz="3000" b="1" dirty="0">
                <a:solidFill>
                  <a:srgbClr val="FF0000"/>
                </a:solidFill>
              </a:rPr>
              <a:t> 2PL Using Certify Locks (cont.)</a:t>
            </a:r>
          </a:p>
          <a:p>
            <a:pPr eaLnBrk="1" hangingPunct="1">
              <a:spcBef>
                <a:spcPts val="500"/>
              </a:spcBef>
            </a:pPr>
            <a:r>
              <a:rPr lang="en-US" altLang="en-US" sz="3000" b="1" dirty="0">
                <a:solidFill>
                  <a:srgbClr val="FF0000"/>
                </a:solidFill>
              </a:rPr>
              <a:t>	</a:t>
            </a:r>
          </a:p>
          <a:p>
            <a:pPr eaLnBrk="1" hangingPunct="1">
              <a:spcBef>
                <a:spcPts val="500"/>
              </a:spcBef>
            </a:pPr>
            <a:endParaRPr lang="en-US" altLang="en-US" sz="3000" b="1" dirty="0">
              <a:solidFill>
                <a:srgbClr val="FF0000"/>
              </a:solidFill>
            </a:endParaRPr>
          </a:p>
          <a:p>
            <a:pPr eaLnBrk="1" hangingPunct="1">
              <a:spcBef>
                <a:spcPts val="500"/>
              </a:spcBef>
            </a:pPr>
            <a:r>
              <a:rPr lang="en-US" altLang="en-US" sz="3000" b="1" dirty="0">
                <a:solidFill>
                  <a:srgbClr val="FF0000"/>
                </a:solidFill>
              </a:rPr>
              <a:t>	</a:t>
            </a: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 name="Text Box 5">
            <a:extLst>
              <a:ext uri="{FF2B5EF4-FFF2-40B4-BE49-F238E27FC236}">
                <a16:creationId xmlns:a16="http://schemas.microsoft.com/office/drawing/2014/main" id="{8948E140-FFCF-6787-3284-D90A0E59422E}"/>
              </a:ext>
            </a:extLst>
          </p:cNvPr>
          <p:cNvSpPr txBox="1">
            <a:spLocks noChangeArrowheads="1"/>
          </p:cNvSpPr>
          <p:nvPr/>
        </p:nvSpPr>
        <p:spPr bwMode="auto">
          <a:xfrm>
            <a:off x="395785" y="1752600"/>
            <a:ext cx="11473953" cy="408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0000" tIns="46800" rIns="90000" bIns="46800">
            <a:spAutoFit/>
          </a:bodyPr>
          <a:lstStyle>
            <a:lvl1pPr marL="457200" indent="-442913"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Lst>
              <a:defRPr>
                <a:solidFill>
                  <a:schemeClr val="tx1"/>
                </a:solidFill>
                <a:latin typeface="Arial" panose="020B0604020202020204" pitchFamily="34" charset="0"/>
                <a:cs typeface="Arial" panose="020B0604020202020204" pitchFamily="34" charset="0"/>
              </a:defRPr>
            </a:lvl9pPr>
          </a:lstStyle>
          <a:p>
            <a:pPr algn="just" eaLnBrk="1" hangingPunct="1">
              <a:spcBef>
                <a:spcPts val="1250"/>
              </a:spcBef>
            </a:pPr>
            <a:r>
              <a:rPr lang="en-US" altLang="en-US" sz="2400" b="1" dirty="0">
                <a:solidFill>
                  <a:srgbClr val="000000"/>
                </a:solidFill>
              </a:rPr>
              <a:t>Concepts (cont.):</a:t>
            </a:r>
          </a:p>
          <a:p>
            <a:pPr algn="just" eaLnBrk="1" hangingPunct="1">
              <a:spcBef>
                <a:spcPts val="1250"/>
              </a:spcBef>
            </a:pPr>
            <a:r>
              <a:rPr lang="en-US" altLang="en-US" sz="2400" dirty="0">
                <a:solidFill>
                  <a:srgbClr val="000000"/>
                </a:solidFill>
              </a:rPr>
              <a:t>	Write lock on X by T is no longer exclusive – it can be held with </a:t>
            </a:r>
            <a:r>
              <a:rPr lang="en-US" altLang="en-US" sz="2400" i="1" dirty="0">
                <a:solidFill>
                  <a:srgbClr val="000000"/>
                </a:solidFill>
              </a:rPr>
              <a:t>read locks</a:t>
            </a:r>
            <a:r>
              <a:rPr lang="en-US" altLang="en-US" sz="2400" dirty="0">
                <a:solidFill>
                  <a:srgbClr val="000000"/>
                </a:solidFill>
              </a:rPr>
              <a:t> from other transactions T'; however, only one transaction can hold </a:t>
            </a:r>
            <a:r>
              <a:rPr lang="en-US" altLang="en-US" sz="2400" i="1" dirty="0">
                <a:solidFill>
                  <a:srgbClr val="000000"/>
                </a:solidFill>
              </a:rPr>
              <a:t>write lock</a:t>
            </a:r>
            <a:r>
              <a:rPr lang="en-US" altLang="en-US" sz="2400" dirty="0">
                <a:solidFill>
                  <a:srgbClr val="000000"/>
                </a:solidFill>
              </a:rPr>
              <a:t> on X.</a:t>
            </a:r>
          </a:p>
          <a:p>
            <a:pPr algn="just" eaLnBrk="1" hangingPunct="1">
              <a:spcBef>
                <a:spcPts val="1250"/>
              </a:spcBef>
            </a:pPr>
            <a:r>
              <a:rPr lang="en-US" altLang="en-US" sz="2400" dirty="0">
                <a:solidFill>
                  <a:srgbClr val="000000"/>
                </a:solidFill>
              </a:rPr>
              <a:t>	Before </a:t>
            </a:r>
            <a:r>
              <a:rPr lang="en-US" altLang="en-US" sz="2400" b="1" dirty="0">
                <a:solidFill>
                  <a:srgbClr val="000000"/>
                </a:solidFill>
              </a:rPr>
              <a:t>local value</a:t>
            </a:r>
            <a:r>
              <a:rPr lang="en-US" altLang="en-US" sz="2400" dirty="0">
                <a:solidFill>
                  <a:srgbClr val="000000"/>
                </a:solidFill>
              </a:rPr>
              <a:t> of X (written by T) can become the committed version, the write lock must be </a:t>
            </a:r>
            <a:r>
              <a:rPr lang="en-US" altLang="en-US" sz="2400" b="1" dirty="0">
                <a:solidFill>
                  <a:srgbClr val="000000"/>
                </a:solidFill>
              </a:rPr>
              <a:t>upgraded to a certify lock</a:t>
            </a:r>
            <a:r>
              <a:rPr lang="en-US" altLang="en-US" sz="2400" dirty="0">
                <a:solidFill>
                  <a:srgbClr val="000000"/>
                </a:solidFill>
              </a:rPr>
              <a:t> by T (</a:t>
            </a:r>
            <a:r>
              <a:rPr lang="en-US" altLang="en-US" sz="2400" i="1" dirty="0">
                <a:solidFill>
                  <a:srgbClr val="000000"/>
                </a:solidFill>
              </a:rPr>
              <a:t>certify lock</a:t>
            </a:r>
            <a:r>
              <a:rPr lang="en-US" altLang="en-US" sz="2400" dirty="0">
                <a:solidFill>
                  <a:srgbClr val="000000"/>
                </a:solidFill>
              </a:rPr>
              <a:t> is exclusive in this scheme) – T must wait until any read locks on X by other transactions T' are released before upgrading to certify lock.</a:t>
            </a:r>
          </a:p>
          <a:p>
            <a:pPr algn="just" eaLnBrk="1" hangingPunct="1">
              <a:spcBef>
                <a:spcPts val="1250"/>
              </a:spcBef>
            </a:pPr>
            <a:endParaRPr lang="en-US" altLang="en-US" sz="2400" dirty="0">
              <a:solidFill>
                <a:srgbClr val="000000"/>
              </a:solidFill>
            </a:endParaRPr>
          </a:p>
          <a:p>
            <a:pPr algn="just" eaLnBrk="1" hangingPunct="1">
              <a:spcBef>
                <a:spcPts val="1250"/>
              </a:spcBef>
            </a:pPr>
            <a:endParaRPr lang="en-US" altLang="en-US" sz="2400" dirty="0">
              <a:solidFill>
                <a:srgbClr val="000000"/>
              </a:solidFill>
            </a:endParaRPr>
          </a:p>
        </p:txBody>
      </p:sp>
      <p:sp>
        <p:nvSpPr>
          <p:cNvPr id="1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MULTIVERSION CCMS (CONTD..)</a:t>
            </a:r>
          </a:p>
        </p:txBody>
      </p:sp>
    </p:spTree>
    <p:extLst>
      <p:ext uri="{BB962C8B-B14F-4D97-AF65-F5344CB8AC3E}">
        <p14:creationId xmlns:p14="http://schemas.microsoft.com/office/powerpoint/2010/main" val="18731372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pic>
        <p:nvPicPr>
          <p:cNvPr id="13" name="Picture 1">
            <a:extLst>
              <a:ext uri="{FF2B5EF4-FFF2-40B4-BE49-F238E27FC236}">
                <a16:creationId xmlns:a16="http://schemas.microsoft.com/office/drawing/2014/main" id="{9B1C19C6-F606-091D-9231-718440A7162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45064" y="1424908"/>
            <a:ext cx="9432871" cy="408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0"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MULTIVERSION CCMS (CONTD..)</a:t>
            </a:r>
          </a:p>
        </p:txBody>
      </p:sp>
    </p:spTree>
    <p:extLst>
      <p:ext uri="{BB962C8B-B14F-4D97-AF65-F5344CB8AC3E}">
        <p14:creationId xmlns:p14="http://schemas.microsoft.com/office/powerpoint/2010/main" val="30844704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Rectangle 3">
            <a:extLst>
              <a:ext uri="{FF2B5EF4-FFF2-40B4-BE49-F238E27FC236}">
                <a16:creationId xmlns:a16="http://schemas.microsoft.com/office/drawing/2014/main" id="{51434915-0F6C-612B-3D9C-8FC62140004D}"/>
              </a:ext>
            </a:extLst>
          </p:cNvPr>
          <p:cNvSpPr>
            <a:spLocks noChangeArrowheads="1"/>
          </p:cNvSpPr>
          <p:nvPr/>
        </p:nvSpPr>
        <p:spPr bwMode="auto">
          <a:xfrm>
            <a:off x="2648053" y="1233488"/>
            <a:ext cx="8461186"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eaLnBrk="1" hangingPunct="1">
              <a:spcBef>
                <a:spcPts val="600"/>
              </a:spcBef>
            </a:pPr>
            <a:r>
              <a:rPr lang="en-US" altLang="en-US" sz="3000" b="1" dirty="0" err="1">
                <a:solidFill>
                  <a:srgbClr val="000000"/>
                </a:solidFill>
                <a:cs typeface="Times New Roman" panose="02020603050405020304" pitchFamily="18" charset="0"/>
              </a:rPr>
              <a:t>Multiversion</a:t>
            </a:r>
            <a:r>
              <a:rPr lang="en-US" altLang="en-US" sz="3000" b="1" dirty="0">
                <a:solidFill>
                  <a:srgbClr val="000000"/>
                </a:solidFill>
                <a:cs typeface="Times New Roman" panose="02020603050405020304" pitchFamily="18" charset="0"/>
              </a:rPr>
              <a:t> 2PL Using Certify Locks (cont.)</a:t>
            </a:r>
          </a:p>
          <a:p>
            <a:pPr eaLnBrk="1" hangingPunct="1">
              <a:spcBef>
                <a:spcPts val="500"/>
              </a:spcBef>
            </a:pPr>
            <a:r>
              <a:rPr lang="en-US" altLang="en-US" sz="3000" b="1" dirty="0">
                <a:solidFill>
                  <a:srgbClr val="000000"/>
                </a:solidFill>
              </a:rPr>
              <a:t>	</a:t>
            </a:r>
          </a:p>
          <a:p>
            <a:pPr eaLnBrk="1" hangingPunct="1">
              <a:spcBef>
                <a:spcPts val="500"/>
              </a:spcBef>
            </a:pPr>
            <a:endParaRPr lang="en-US" altLang="en-US" sz="3000" b="1" dirty="0">
              <a:solidFill>
                <a:srgbClr val="000000"/>
              </a:solidFill>
            </a:endParaRPr>
          </a:p>
          <a:p>
            <a:pPr eaLnBrk="1" hangingPunct="1">
              <a:spcBef>
                <a:spcPts val="500"/>
              </a:spcBef>
            </a:pPr>
            <a:r>
              <a:rPr lang="en-US" altLang="en-US" sz="3000" b="1" dirty="0">
                <a:solidFill>
                  <a:srgbClr val="000000"/>
                </a:solidFill>
              </a:rPr>
              <a:t>	</a:t>
            </a:r>
          </a:p>
        </p:txBody>
      </p:sp>
      <p:sp>
        <p:nvSpPr>
          <p:cNvPr id="7" name="Text Box 5">
            <a:extLst>
              <a:ext uri="{FF2B5EF4-FFF2-40B4-BE49-F238E27FC236}">
                <a16:creationId xmlns:a16="http://schemas.microsoft.com/office/drawing/2014/main" id="{5E675E3D-8C96-2DAF-62FE-163A883E72BD}"/>
              </a:ext>
            </a:extLst>
          </p:cNvPr>
          <p:cNvSpPr txBox="1">
            <a:spLocks noChangeArrowheads="1"/>
          </p:cNvSpPr>
          <p:nvPr/>
        </p:nvSpPr>
        <p:spPr bwMode="auto">
          <a:xfrm>
            <a:off x="1715810" y="2402317"/>
            <a:ext cx="9393429" cy="2489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0000" tIns="46800" rIns="90000" bIns="46800">
            <a:spAutoFit/>
          </a:bodyP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just" eaLnBrk="1" hangingPunct="1">
              <a:spcBef>
                <a:spcPts val="1250"/>
              </a:spcBef>
            </a:pPr>
            <a:r>
              <a:rPr lang="en-US" altLang="en-US" sz="2400" b="1" dirty="0">
                <a:solidFill>
                  <a:srgbClr val="000000"/>
                </a:solidFill>
              </a:rPr>
              <a:t>Steps</a:t>
            </a:r>
          </a:p>
          <a:p>
            <a:pPr lvl="1" algn="just" eaLnBrk="1" hangingPunct="1">
              <a:lnSpc>
                <a:spcPct val="45000"/>
              </a:lnSpc>
              <a:spcBef>
                <a:spcPts val="1250"/>
              </a:spcBef>
              <a:buFont typeface="Times New Roman" panose="02020603050405020304" pitchFamily="18" charset="0"/>
              <a:buAutoNum type="arabicPeriod"/>
            </a:pPr>
            <a:r>
              <a:rPr lang="en-US" altLang="en-US" sz="2400" dirty="0">
                <a:solidFill>
                  <a:srgbClr val="000000"/>
                </a:solidFill>
              </a:rPr>
              <a:t>X is the committed version of a data item.</a:t>
            </a:r>
          </a:p>
          <a:p>
            <a:pPr lvl="1" algn="just" eaLnBrk="1" hangingPunct="1">
              <a:lnSpc>
                <a:spcPct val="45000"/>
              </a:lnSpc>
              <a:spcBef>
                <a:spcPts val="1250"/>
              </a:spcBef>
              <a:buFont typeface="Times New Roman" panose="02020603050405020304" pitchFamily="18" charset="0"/>
              <a:buAutoNum type="arabicPeriod"/>
            </a:pPr>
            <a:r>
              <a:rPr lang="en-US" altLang="en-US" sz="2400" dirty="0">
                <a:solidFill>
                  <a:srgbClr val="000000"/>
                </a:solidFill>
              </a:rPr>
              <a:t>T creates local version X’ after obtaining a write lock on X.</a:t>
            </a:r>
          </a:p>
          <a:p>
            <a:pPr lvl="1" algn="just" eaLnBrk="1" hangingPunct="1">
              <a:lnSpc>
                <a:spcPct val="45000"/>
              </a:lnSpc>
              <a:spcBef>
                <a:spcPts val="1250"/>
              </a:spcBef>
              <a:buFont typeface="Times New Roman" panose="02020603050405020304" pitchFamily="18" charset="0"/>
              <a:buAutoNum type="arabicPeriod"/>
            </a:pPr>
            <a:r>
              <a:rPr lang="en-US" altLang="en-US" sz="2400" dirty="0">
                <a:solidFill>
                  <a:srgbClr val="000000"/>
                </a:solidFill>
              </a:rPr>
              <a:t>Other transactions can continue to read X.</a:t>
            </a:r>
          </a:p>
          <a:p>
            <a:pPr lvl="1" algn="just" eaLnBrk="1" hangingPunct="1">
              <a:lnSpc>
                <a:spcPct val="45000"/>
              </a:lnSpc>
              <a:spcBef>
                <a:spcPts val="1250"/>
              </a:spcBef>
              <a:buFont typeface="Times New Roman" panose="02020603050405020304" pitchFamily="18" charset="0"/>
              <a:buAutoNum type="arabicPeriod"/>
            </a:pPr>
            <a:r>
              <a:rPr lang="en-US" altLang="en-US" sz="2400" dirty="0">
                <a:solidFill>
                  <a:srgbClr val="000000"/>
                </a:solidFill>
              </a:rPr>
              <a:t>T is ready to commit so it requests a certify lock on X’.</a:t>
            </a:r>
          </a:p>
          <a:p>
            <a:pPr lvl="1" algn="just" eaLnBrk="1" hangingPunct="1">
              <a:lnSpc>
                <a:spcPct val="45000"/>
              </a:lnSpc>
              <a:spcBef>
                <a:spcPts val="1250"/>
              </a:spcBef>
              <a:buFont typeface="Times New Roman" panose="02020603050405020304" pitchFamily="18" charset="0"/>
              <a:buAutoNum type="arabicPeriod"/>
            </a:pPr>
            <a:r>
              <a:rPr lang="en-US" altLang="en-US" sz="2400" dirty="0">
                <a:solidFill>
                  <a:srgbClr val="000000"/>
                </a:solidFill>
              </a:rPr>
              <a:t>If certify lock is granted, the committed version X becomes X’.</a:t>
            </a:r>
          </a:p>
          <a:p>
            <a:pPr lvl="1" algn="just" eaLnBrk="1" hangingPunct="1">
              <a:lnSpc>
                <a:spcPct val="45000"/>
              </a:lnSpc>
              <a:spcBef>
                <a:spcPts val="1250"/>
              </a:spcBef>
              <a:buFont typeface="Times New Roman" panose="02020603050405020304" pitchFamily="18" charset="0"/>
              <a:buAutoNum type="arabicPeriod"/>
            </a:pPr>
            <a:r>
              <a:rPr lang="en-US" altLang="en-US" sz="2400" dirty="0">
                <a:solidFill>
                  <a:srgbClr val="000000"/>
                </a:solidFill>
              </a:rPr>
              <a:t>T releases its certify lock on X’, which is X now.</a:t>
            </a:r>
          </a:p>
        </p:txBody>
      </p:sp>
      <p:sp>
        <p:nvSpPr>
          <p:cNvPr id="1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MULTIVERSION CCMS (CONTD..)</a:t>
            </a:r>
          </a:p>
        </p:txBody>
      </p:sp>
    </p:spTree>
    <p:extLst>
      <p:ext uri="{BB962C8B-B14F-4D97-AF65-F5344CB8AC3E}">
        <p14:creationId xmlns:p14="http://schemas.microsoft.com/office/powerpoint/2010/main" val="15914352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RECOVERY CONCEPTS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 name="Text Box 2">
            <a:extLst>
              <a:ext uri="{FF2B5EF4-FFF2-40B4-BE49-F238E27FC236}">
                <a16:creationId xmlns:a16="http://schemas.microsoft.com/office/drawing/2014/main" id="{D012B785-D5A7-FE5A-3B46-90E468A54A54}"/>
              </a:ext>
            </a:extLst>
          </p:cNvPr>
          <p:cNvSpPr txBox="1">
            <a:spLocks noChangeArrowheads="1"/>
          </p:cNvSpPr>
          <p:nvPr/>
        </p:nvSpPr>
        <p:spPr bwMode="auto">
          <a:xfrm>
            <a:off x="2726178" y="1123336"/>
            <a:ext cx="5735434"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Calibri" panose="020F0502020204030204" pitchFamily="34" charset="0"/>
                <a:cs typeface="Arial" panose="020B0604020202020204" pitchFamily="34" charset="0"/>
              </a:defRPr>
            </a:lvl1pPr>
            <a:lvl2pPr marL="742950" indent="-285750" eaLnBrk="0" hangingPunct="0">
              <a:defRPr>
                <a:solidFill>
                  <a:schemeClr val="tx1"/>
                </a:solidFill>
                <a:latin typeface="Calibri" panose="020F0502020204030204" pitchFamily="34" charset="0"/>
                <a:cs typeface="Arial" panose="020B0604020202020204" pitchFamily="34" charset="0"/>
              </a:defRPr>
            </a:lvl2pPr>
            <a:lvl3pPr marL="1143000" indent="-228600" eaLnBrk="0" hangingPunct="0">
              <a:defRPr>
                <a:solidFill>
                  <a:schemeClr val="tx1"/>
                </a:solidFill>
                <a:latin typeface="Calibri" panose="020F0502020204030204" pitchFamily="34" charset="0"/>
                <a:cs typeface="Arial" panose="020B0604020202020204" pitchFamily="34" charset="0"/>
              </a:defRPr>
            </a:lvl3pPr>
            <a:lvl4pPr marL="1600200" indent="-228600" eaLnBrk="0" hangingPunct="0">
              <a:defRPr>
                <a:solidFill>
                  <a:schemeClr val="tx1"/>
                </a:solidFill>
                <a:latin typeface="Calibri" panose="020F0502020204030204" pitchFamily="34" charset="0"/>
                <a:cs typeface="Arial" panose="020B0604020202020204" pitchFamily="34" charset="0"/>
              </a:defRPr>
            </a:lvl4pPr>
            <a:lvl5pPr marL="2057400" indent="-228600" eaLnBrk="0" hangingPunct="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eaLnBrk="1" hangingPunct="1">
              <a:spcBef>
                <a:spcPts val="3775"/>
              </a:spcBef>
              <a:spcAft>
                <a:spcPts val="2513"/>
              </a:spcAft>
            </a:pPr>
            <a:r>
              <a:rPr lang="en-US" altLang="en-US" sz="3000" b="1" dirty="0">
                <a:solidFill>
                  <a:srgbClr val="FF0000"/>
                </a:solidFill>
                <a:latin typeface="Arial" panose="020B0604020202020204" pitchFamily="34" charset="0"/>
              </a:rPr>
              <a:t>Purpose of Database Recovery</a:t>
            </a:r>
            <a:endParaRPr lang="en-US" altLang="en-US" sz="3000" dirty="0">
              <a:solidFill>
                <a:srgbClr val="FF0000"/>
              </a:solidFill>
              <a:latin typeface="Arial" panose="020B0604020202020204" pitchFamily="34" charset="0"/>
            </a:endParaRPr>
          </a:p>
        </p:txBody>
      </p:sp>
      <p:sp>
        <p:nvSpPr>
          <p:cNvPr id="8" name="Text Box 3">
            <a:extLst>
              <a:ext uri="{FF2B5EF4-FFF2-40B4-BE49-F238E27FC236}">
                <a16:creationId xmlns:a16="http://schemas.microsoft.com/office/drawing/2014/main" id="{F2594721-7432-AF7E-C4F7-4D6D5B0AE37A}"/>
              </a:ext>
            </a:extLst>
          </p:cNvPr>
          <p:cNvSpPr txBox="1">
            <a:spLocks noChangeArrowheads="1"/>
          </p:cNvSpPr>
          <p:nvPr/>
        </p:nvSpPr>
        <p:spPr bwMode="auto">
          <a:xfrm>
            <a:off x="1862575" y="1752600"/>
            <a:ext cx="9076597" cy="4413250"/>
          </a:xfrm>
          <a:prstGeom prst="rect">
            <a:avLst/>
          </a:prstGeom>
          <a:noFill/>
          <a:ln>
            <a:noFill/>
          </a:ln>
        </p:spPr>
        <p:txBody>
          <a:bodyPr lIns="0" tIns="0" rIns="0" bIns="0"/>
          <a:lstStyle/>
          <a:p>
            <a:pPr lvl="2" indent="-342900" algn="just" fontAlgn="auto">
              <a:lnSpc>
                <a:spcPct val="80000"/>
              </a:lnSpc>
              <a:spcBef>
                <a:spcPts val="0"/>
              </a:spcBef>
              <a:spcAft>
                <a:spcPts val="0"/>
              </a:spcAft>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lvl="2" indent="-342900" algn="just" fontAlgn="auto">
              <a:lnSpc>
                <a:spcPct val="80000"/>
              </a:lnSpc>
              <a:spcBef>
                <a:spcPts val="0"/>
              </a:spcBef>
              <a:spcAft>
                <a:spcPts val="0"/>
              </a:spcAft>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lvl="2" indent="-342900" algn="just" fontAlgn="auto">
              <a:lnSpc>
                <a:spcPct val="80000"/>
              </a:lnSpc>
              <a:spcBef>
                <a:spcPts val="0"/>
              </a:spcBef>
              <a:spcAft>
                <a:spcPts val="0"/>
              </a:spcAft>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lvl="2" indent="-342900" algn="just" fontAlgn="auto">
              <a:lnSpc>
                <a:spcPct val="80000"/>
              </a:lnSpc>
              <a:spcBef>
                <a:spcPts val="0"/>
              </a:spcBef>
              <a:spcAft>
                <a:spcPts val="0"/>
              </a:spcAft>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To Maintain the </a:t>
            </a:r>
            <a:r>
              <a:rPr lang="en-US" altLang="en-US" sz="2400" b="1" dirty="0">
                <a:latin typeface="Arial" panose="020B0604020202020204" pitchFamily="34" charset="0"/>
                <a:cs typeface="Arial" panose="020B0604020202020204" pitchFamily="34" charset="0"/>
              </a:rPr>
              <a:t>consistency</a:t>
            </a:r>
            <a:r>
              <a:rPr lang="en-US" altLang="en-US" sz="2400" dirty="0">
                <a:latin typeface="Arial" panose="020B0604020202020204" pitchFamily="34" charset="0"/>
                <a:cs typeface="Arial" panose="020B0604020202020204" pitchFamily="34" charset="0"/>
              </a:rPr>
              <a:t> of the database.</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lvl="2" indent="-342900" algn="just" fontAlgn="auto">
              <a:lnSpc>
                <a:spcPct val="80000"/>
              </a:lnSpc>
              <a:spcBef>
                <a:spcPts val="0"/>
              </a:spcBef>
              <a:spcAft>
                <a:spcPts val="0"/>
              </a:spcAft>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To ensure the  </a:t>
            </a:r>
            <a:r>
              <a:rPr lang="en-US" altLang="en-US" sz="2400" b="1" dirty="0">
                <a:latin typeface="Arial" panose="020B0604020202020204" pitchFamily="34" charset="0"/>
                <a:cs typeface="Arial" panose="020B0604020202020204" pitchFamily="34" charset="0"/>
              </a:rPr>
              <a:t>Atomicity</a:t>
            </a:r>
            <a:endParaRPr lang="en-US" altLang="en-US" sz="2400" dirty="0">
              <a:latin typeface="Arial" panose="020B0604020202020204" pitchFamily="34" charset="0"/>
              <a:cs typeface="Arial" panose="020B0604020202020204" pitchFamily="34" charset="0"/>
            </a:endParaRP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lvl="2" indent="-342900" algn="just" fontAlgn="auto">
              <a:lnSpc>
                <a:spcPct val="80000"/>
              </a:lnSpc>
              <a:spcBef>
                <a:spcPts val="0"/>
              </a:spcBef>
              <a:spcAft>
                <a:spcPts val="0"/>
              </a:spcAft>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To ensure the </a:t>
            </a:r>
            <a:r>
              <a:rPr lang="en-US" altLang="en-US" sz="2400" b="1" dirty="0">
                <a:latin typeface="Arial" panose="020B0604020202020204" pitchFamily="34" charset="0"/>
                <a:cs typeface="Arial" panose="020B0604020202020204" pitchFamily="34" charset="0"/>
              </a:rPr>
              <a:t>Durability</a:t>
            </a:r>
            <a:endParaRPr lang="en-US" altLang="en-US" sz="2400" dirty="0">
              <a:latin typeface="Arial" panose="020B0604020202020204" pitchFamily="34" charset="0"/>
              <a:cs typeface="Arial" panose="020B0604020202020204" pitchFamily="34" charset="0"/>
            </a:endParaRP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lvl="2" indent="-342900" algn="just" fontAlgn="auto">
              <a:lnSpc>
                <a:spcPct val="80000"/>
              </a:lnSpc>
              <a:spcBef>
                <a:spcPts val="0"/>
              </a:spcBef>
              <a:spcAft>
                <a:spcPts val="0"/>
              </a:spcAft>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DBMS recovery manager</a:t>
            </a:r>
            <a:r>
              <a:rPr lang="en-US" altLang="en-US" sz="2400" dirty="0">
                <a:latin typeface="Arial" panose="020B0604020202020204" pitchFamily="34" charset="0"/>
                <a:cs typeface="Arial" panose="020B0604020202020204" pitchFamily="34" charset="0"/>
              </a:rPr>
              <a:t> is responsible for consistency</a:t>
            </a: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993327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TYPES OF FAILURE</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10" name="Text Box 3">
            <a:extLst>
              <a:ext uri="{FF2B5EF4-FFF2-40B4-BE49-F238E27FC236}">
                <a16:creationId xmlns:a16="http://schemas.microsoft.com/office/drawing/2014/main" id="{A9198F69-12D4-2343-9F28-1AB90A67D4EF}"/>
              </a:ext>
            </a:extLst>
          </p:cNvPr>
          <p:cNvSpPr txBox="1">
            <a:spLocks noChangeArrowheads="1"/>
          </p:cNvSpPr>
          <p:nvPr/>
        </p:nvSpPr>
        <p:spPr bwMode="auto">
          <a:xfrm>
            <a:off x="1181099" y="1036093"/>
            <a:ext cx="9941825" cy="4413250"/>
          </a:xfrm>
          <a:prstGeom prst="rect">
            <a:avLst/>
          </a:prstGeom>
          <a:noFill/>
          <a:ln>
            <a:noFill/>
          </a:ln>
        </p:spPr>
        <p:txBody>
          <a:bodyPr lIns="0" tIns="0" rIns="0" bIns="0"/>
          <a:lstStyle/>
          <a:p>
            <a:pPr lvl="2" indent="-342900" algn="just" fontAlgn="auto">
              <a:lnSpc>
                <a:spcPct val="80000"/>
              </a:lnSpc>
              <a:spcBef>
                <a:spcPts val="0"/>
              </a:spcBef>
              <a:spcAft>
                <a:spcPts val="0"/>
              </a:spcAft>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3938" lvl="1" indent="-338138" algn="just" fontAlgn="auto">
              <a:spcBef>
                <a:spcPts val="600"/>
              </a:spcBef>
              <a:spcAft>
                <a:spcPts val="0"/>
              </a:spcAft>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Transaction failure - incorrect input, deadlock, incorrect synchronization</a:t>
            </a:r>
          </a:p>
          <a:p>
            <a:pPr marL="685800" lvl="1" algn="just" fontAlgn="auto">
              <a:spcBef>
                <a:spcPts val="60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3938" lvl="1" indent="-338138" algn="just" fontAlgn="auto">
              <a:spcBef>
                <a:spcPts val="600"/>
              </a:spcBef>
              <a:spcAft>
                <a:spcPts val="0"/>
              </a:spcAft>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System failure- application error, operating system fault</a:t>
            </a:r>
          </a:p>
          <a:p>
            <a:pPr marL="1023938" lvl="1" indent="-338138" algn="just" fontAlgn="auto">
              <a:spcBef>
                <a:spcPts val="600"/>
              </a:spcBef>
              <a:spcAft>
                <a:spcPts val="0"/>
              </a:spcAft>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3938" lvl="1" indent="-338138" algn="just" fontAlgn="auto">
              <a:spcBef>
                <a:spcPts val="600"/>
              </a:spcBef>
              <a:spcAft>
                <a:spcPts val="0"/>
              </a:spcAft>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Media failure- Disk head crash, power disruption</a:t>
            </a: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782109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THE LOG FILE</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 name="Text Box 3">
            <a:extLst>
              <a:ext uri="{FF2B5EF4-FFF2-40B4-BE49-F238E27FC236}">
                <a16:creationId xmlns:a16="http://schemas.microsoft.com/office/drawing/2014/main" id="{A9773928-041C-129E-ACB2-2050387CA4A8}"/>
              </a:ext>
            </a:extLst>
          </p:cNvPr>
          <p:cNvSpPr txBox="1">
            <a:spLocks noChangeArrowheads="1"/>
          </p:cNvSpPr>
          <p:nvPr/>
        </p:nvSpPr>
        <p:spPr bwMode="auto">
          <a:xfrm>
            <a:off x="1470584" y="1357329"/>
            <a:ext cx="9161021" cy="4413250"/>
          </a:xfrm>
          <a:prstGeom prst="rect">
            <a:avLst/>
          </a:prstGeom>
          <a:noFill/>
          <a:ln>
            <a:noFill/>
          </a:ln>
        </p:spPr>
        <p:txBody>
          <a:bodyPr lIns="0" tIns="0" rIns="0" bIns="0"/>
          <a:lstStyle/>
          <a:p>
            <a:pPr lvl="2" indent="-342900" algn="just" fontAlgn="auto">
              <a:lnSpc>
                <a:spcPct val="80000"/>
              </a:lnSpc>
              <a:spcBef>
                <a:spcPts val="0"/>
              </a:spcBef>
              <a:spcAft>
                <a:spcPts val="0"/>
              </a:spcAft>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3938" lvl="1" indent="-338138" algn="just" fontAlgn="auto">
              <a:spcBef>
                <a:spcPts val="600"/>
              </a:spcBef>
              <a:spcAft>
                <a:spcPts val="0"/>
              </a:spcAft>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Holds the information that is necessary for the recovery process</a:t>
            </a:r>
          </a:p>
          <a:p>
            <a:pPr marL="685800" lvl="1" algn="just" fontAlgn="auto">
              <a:spcBef>
                <a:spcPts val="60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3938" lvl="1" indent="-338138" algn="just" fontAlgn="auto">
              <a:spcBef>
                <a:spcPts val="600"/>
              </a:spcBef>
              <a:spcAft>
                <a:spcPts val="0"/>
              </a:spcAft>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Holds </a:t>
            </a:r>
            <a:r>
              <a:rPr lang="en-US" altLang="en-US" sz="2400" i="1" dirty="0">
                <a:latin typeface="Arial" panose="020B0604020202020204" pitchFamily="34" charset="0"/>
                <a:cs typeface="Arial" panose="020B0604020202020204" pitchFamily="34" charset="0"/>
              </a:rPr>
              <a:t>schedule of transactions</a:t>
            </a:r>
          </a:p>
          <a:p>
            <a:pPr marL="685800" lvl="1" algn="just" fontAlgn="auto">
              <a:spcBef>
                <a:spcPts val="60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3938" lvl="1" indent="-338138" algn="just" fontAlgn="auto">
              <a:spcBef>
                <a:spcPts val="600"/>
              </a:spcBef>
              <a:spcAft>
                <a:spcPts val="0"/>
              </a:spcAft>
              <a:buClr>
                <a:srgbClr val="FF0000"/>
              </a:buClr>
              <a:buFont typeface="Times New Roman" pitchFamily="16"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Holds various types of log records (or log entries).</a:t>
            </a: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470722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LOG FILE ENTRIES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 name="Text Box 3">
            <a:extLst>
              <a:ext uri="{FF2B5EF4-FFF2-40B4-BE49-F238E27FC236}">
                <a16:creationId xmlns:a16="http://schemas.microsoft.com/office/drawing/2014/main" id="{B16EEA99-F1D8-816D-79B9-6FF129EA46FB}"/>
              </a:ext>
            </a:extLst>
          </p:cNvPr>
          <p:cNvSpPr txBox="1">
            <a:spLocks noChangeArrowheads="1"/>
          </p:cNvSpPr>
          <p:nvPr/>
        </p:nvSpPr>
        <p:spPr bwMode="auto">
          <a:xfrm>
            <a:off x="2903600" y="844621"/>
            <a:ext cx="8054036" cy="5280025"/>
          </a:xfrm>
          <a:prstGeom prst="rect">
            <a:avLst/>
          </a:prstGeom>
          <a:noFill/>
          <a:ln>
            <a:noFill/>
          </a:ln>
        </p:spPr>
        <p:txBody>
          <a:bodyPr lIns="0" tIns="0" rIns="0" bIns="0"/>
          <a:lstStyle/>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b="1" dirty="0">
              <a:latin typeface="Arial" panose="020B0604020202020204" pitchFamily="34" charset="0"/>
              <a:cs typeface="Arial" panose="020B0604020202020204" pitchFamily="34" charset="0"/>
            </a:endParaRP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Types of records (entries) in log file:</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533400" indent="-517525" fontAlgn="auto">
              <a:lnSpc>
                <a:spcPct val="90000"/>
              </a:lnSpc>
              <a:spcBef>
                <a:spcPts val="600"/>
              </a:spcBef>
              <a:spcAft>
                <a:spcPts val="0"/>
              </a:spcAft>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defRPr/>
            </a:pPr>
            <a:r>
              <a:rPr lang="en-US" altLang="en-US" sz="2400" dirty="0">
                <a:latin typeface="Arial" panose="020B0604020202020204" pitchFamily="34" charset="0"/>
                <a:cs typeface="Arial" panose="020B0604020202020204" pitchFamily="34" charset="0"/>
              </a:rPr>
              <a:t>[</a:t>
            </a:r>
            <a:r>
              <a:rPr lang="en-US" altLang="en-US" sz="2400" dirty="0" err="1">
                <a:latin typeface="Arial" panose="020B0604020202020204" pitchFamily="34" charset="0"/>
                <a:cs typeface="Arial" panose="020B0604020202020204" pitchFamily="34" charset="0"/>
              </a:rPr>
              <a:t>start_transaction,T</a:t>
            </a:r>
            <a:r>
              <a:rPr lang="en-US" altLang="en-US" sz="2400" dirty="0">
                <a:latin typeface="Arial" panose="020B0604020202020204" pitchFamily="34" charset="0"/>
                <a:cs typeface="Arial" panose="020B0604020202020204" pitchFamily="34" charset="0"/>
              </a:rPr>
              <a:t>]:</a:t>
            </a:r>
          </a:p>
          <a:p>
            <a:pPr marL="15875" fontAlgn="auto">
              <a:lnSpc>
                <a:spcPct val="90000"/>
              </a:lnSpc>
              <a:spcBef>
                <a:spcPts val="600"/>
              </a:spcBef>
              <a:spcAft>
                <a:spcPts val="0"/>
              </a:spcAft>
              <a:buClr>
                <a:srgbClr val="FF0000"/>
              </a:buCl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defRPr/>
            </a:pPr>
            <a:endParaRPr lang="en-US" altLang="en-US" sz="2400" dirty="0">
              <a:latin typeface="Arial" panose="020B0604020202020204" pitchFamily="34" charset="0"/>
              <a:cs typeface="Arial" panose="020B0604020202020204" pitchFamily="34" charset="0"/>
            </a:endParaRPr>
          </a:p>
          <a:p>
            <a:pPr marL="533400" indent="-517525" fontAlgn="auto">
              <a:lnSpc>
                <a:spcPct val="90000"/>
              </a:lnSpc>
              <a:spcBef>
                <a:spcPts val="600"/>
              </a:spcBef>
              <a:spcAft>
                <a:spcPts val="0"/>
              </a:spcAft>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defRPr/>
            </a:pPr>
            <a:r>
              <a:rPr lang="en-US" altLang="en-US" sz="2400" dirty="0">
                <a:latin typeface="Arial" panose="020B0604020202020204" pitchFamily="34" charset="0"/>
                <a:cs typeface="Arial" panose="020B0604020202020204" pitchFamily="34" charset="0"/>
              </a:rPr>
              <a:t>[</a:t>
            </a:r>
            <a:r>
              <a:rPr lang="en-US" altLang="en-US" sz="2400" dirty="0" err="1">
                <a:latin typeface="Arial" panose="020B0604020202020204" pitchFamily="34" charset="0"/>
                <a:cs typeface="Arial" panose="020B0604020202020204" pitchFamily="34" charset="0"/>
              </a:rPr>
              <a:t>write_item,T,X,old_value,new_value</a:t>
            </a:r>
            <a:r>
              <a:rPr lang="en-US" altLang="en-US" sz="2400" dirty="0">
                <a:latin typeface="Arial" panose="020B0604020202020204" pitchFamily="34" charset="0"/>
                <a:cs typeface="Arial" panose="020B0604020202020204" pitchFamily="34" charset="0"/>
              </a:rPr>
              <a:t>]:</a:t>
            </a:r>
          </a:p>
          <a:p>
            <a:pPr marL="15875" fontAlgn="auto">
              <a:lnSpc>
                <a:spcPct val="90000"/>
              </a:lnSpc>
              <a:spcBef>
                <a:spcPts val="600"/>
              </a:spcBef>
              <a:spcAft>
                <a:spcPts val="0"/>
              </a:spcAft>
              <a:buClr>
                <a:srgbClr val="FF0000"/>
              </a:buCl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defRPr/>
            </a:pPr>
            <a:endParaRPr lang="en-US" altLang="en-US" sz="2400" dirty="0">
              <a:latin typeface="Arial" panose="020B0604020202020204" pitchFamily="34" charset="0"/>
              <a:cs typeface="Arial" panose="020B0604020202020204" pitchFamily="34" charset="0"/>
            </a:endParaRPr>
          </a:p>
          <a:p>
            <a:pPr marL="533400" indent="-517525" fontAlgn="auto">
              <a:lnSpc>
                <a:spcPct val="90000"/>
              </a:lnSpc>
              <a:spcBef>
                <a:spcPts val="600"/>
              </a:spcBef>
              <a:spcAft>
                <a:spcPts val="0"/>
              </a:spcAft>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defRPr/>
            </a:pPr>
            <a:r>
              <a:rPr lang="en-US" altLang="en-US" sz="2400" dirty="0">
                <a:latin typeface="Arial" panose="020B0604020202020204" pitchFamily="34" charset="0"/>
                <a:cs typeface="Arial" panose="020B0604020202020204" pitchFamily="34" charset="0"/>
              </a:rPr>
              <a:t>[</a:t>
            </a:r>
            <a:r>
              <a:rPr lang="en-US" altLang="en-US" sz="2400" dirty="0" err="1">
                <a:latin typeface="Arial" panose="020B0604020202020204" pitchFamily="34" charset="0"/>
                <a:cs typeface="Arial" panose="020B0604020202020204" pitchFamily="34" charset="0"/>
              </a:rPr>
              <a:t>read_item,T,X</a:t>
            </a:r>
            <a:r>
              <a:rPr lang="en-US" altLang="en-US" sz="2400" dirty="0">
                <a:latin typeface="Arial" panose="020B0604020202020204" pitchFamily="34" charset="0"/>
                <a:cs typeface="Arial" panose="020B0604020202020204" pitchFamily="34" charset="0"/>
              </a:rPr>
              <a:t>]:</a:t>
            </a:r>
          </a:p>
          <a:p>
            <a:pPr marL="533400" indent="-517525" fontAlgn="auto">
              <a:lnSpc>
                <a:spcPct val="90000"/>
              </a:lnSpc>
              <a:spcBef>
                <a:spcPts val="600"/>
              </a:spcBef>
              <a:spcAft>
                <a:spcPts val="0"/>
              </a:spcAft>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defRPr/>
            </a:pPr>
            <a:endParaRPr lang="en-US" altLang="en-US" sz="2400" dirty="0">
              <a:latin typeface="Arial" panose="020B0604020202020204" pitchFamily="34" charset="0"/>
              <a:cs typeface="Arial" panose="020B0604020202020204" pitchFamily="34" charset="0"/>
            </a:endParaRPr>
          </a:p>
          <a:p>
            <a:pPr marL="533400" indent="-517525" fontAlgn="auto">
              <a:lnSpc>
                <a:spcPct val="90000"/>
              </a:lnSpc>
              <a:spcBef>
                <a:spcPts val="600"/>
              </a:spcBef>
              <a:spcAft>
                <a:spcPts val="0"/>
              </a:spcAft>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defRPr/>
            </a:pPr>
            <a:r>
              <a:rPr lang="en-US" altLang="en-US" sz="2400" dirty="0">
                <a:latin typeface="Arial" panose="020B0604020202020204" pitchFamily="34" charset="0"/>
                <a:cs typeface="Arial" panose="020B0604020202020204" pitchFamily="34" charset="0"/>
              </a:rPr>
              <a:t>[</a:t>
            </a:r>
            <a:r>
              <a:rPr lang="en-US" altLang="en-US" sz="2400" dirty="0" err="1">
                <a:latin typeface="Arial" panose="020B0604020202020204" pitchFamily="34" charset="0"/>
                <a:cs typeface="Arial" panose="020B0604020202020204" pitchFamily="34" charset="0"/>
              </a:rPr>
              <a:t>end_transaction,T</a:t>
            </a:r>
            <a:r>
              <a:rPr lang="en-US" altLang="en-US" sz="2400" dirty="0">
                <a:latin typeface="Arial" panose="020B0604020202020204" pitchFamily="34" charset="0"/>
                <a:cs typeface="Arial" panose="020B0604020202020204" pitchFamily="34" charset="0"/>
              </a:rPr>
              <a:t>]:</a:t>
            </a:r>
          </a:p>
          <a:p>
            <a:pPr marL="15875" fontAlgn="auto">
              <a:lnSpc>
                <a:spcPct val="90000"/>
              </a:lnSpc>
              <a:spcBef>
                <a:spcPts val="600"/>
              </a:spcBef>
              <a:spcAft>
                <a:spcPts val="0"/>
              </a:spcAft>
              <a:buClr>
                <a:srgbClr val="FF0000"/>
              </a:buCl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defRPr/>
            </a:pPr>
            <a:endParaRPr lang="en-US" altLang="en-US" sz="2400" dirty="0">
              <a:latin typeface="Arial" panose="020B0604020202020204" pitchFamily="34" charset="0"/>
              <a:cs typeface="Arial" panose="020B0604020202020204" pitchFamily="34" charset="0"/>
            </a:endParaRPr>
          </a:p>
          <a:p>
            <a:pPr marL="533400" indent="-517525" fontAlgn="auto">
              <a:lnSpc>
                <a:spcPct val="90000"/>
              </a:lnSpc>
              <a:spcBef>
                <a:spcPts val="600"/>
              </a:spcBef>
              <a:spcAft>
                <a:spcPts val="0"/>
              </a:spcAft>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defRPr/>
            </a:pPr>
            <a:r>
              <a:rPr lang="en-US" altLang="en-US" sz="2400" dirty="0">
                <a:latin typeface="Arial" panose="020B0604020202020204" pitchFamily="34" charset="0"/>
                <a:cs typeface="Arial" panose="020B0604020202020204" pitchFamily="34" charset="0"/>
              </a:rPr>
              <a:t>[</a:t>
            </a:r>
            <a:r>
              <a:rPr lang="en-US" altLang="en-US" sz="2400" dirty="0" err="1">
                <a:latin typeface="Arial" panose="020B0604020202020204" pitchFamily="34" charset="0"/>
                <a:cs typeface="Arial" panose="020B0604020202020204" pitchFamily="34" charset="0"/>
              </a:rPr>
              <a:t>commit,T</a:t>
            </a:r>
            <a:r>
              <a:rPr lang="en-US" altLang="en-US" sz="2400" dirty="0">
                <a:latin typeface="Arial" panose="020B0604020202020204" pitchFamily="34" charset="0"/>
                <a:cs typeface="Arial" panose="020B0604020202020204" pitchFamily="34" charset="0"/>
              </a:rPr>
              <a:t>]:</a:t>
            </a:r>
          </a:p>
          <a:p>
            <a:pPr marL="15875" fontAlgn="auto">
              <a:lnSpc>
                <a:spcPct val="90000"/>
              </a:lnSpc>
              <a:spcBef>
                <a:spcPts val="600"/>
              </a:spcBef>
              <a:spcAft>
                <a:spcPts val="0"/>
              </a:spcAft>
              <a:buClr>
                <a:srgbClr val="FF0000"/>
              </a:buCl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defRPr/>
            </a:pPr>
            <a:endParaRPr lang="en-US" altLang="en-US" sz="2400" dirty="0">
              <a:latin typeface="Arial" panose="020B0604020202020204" pitchFamily="34" charset="0"/>
              <a:cs typeface="Arial" panose="020B0604020202020204" pitchFamily="34" charset="0"/>
            </a:endParaRPr>
          </a:p>
          <a:p>
            <a:pPr marL="533400" indent="-517525" fontAlgn="auto">
              <a:lnSpc>
                <a:spcPct val="90000"/>
              </a:lnSpc>
              <a:spcBef>
                <a:spcPts val="600"/>
              </a:spcBef>
              <a:spcAft>
                <a:spcPts val="0"/>
              </a:spcAft>
              <a:buClr>
                <a:srgbClr val="FF0000"/>
              </a:buClr>
              <a:buFont typeface="Times New Roman" pitchFamily="16" charset="0"/>
              <a:buChar char="•"/>
              <a:tabLst>
                <a:tab pos="533400" algn="l"/>
                <a:tab pos="646113" algn="l"/>
                <a:tab pos="1103313" algn="l"/>
                <a:tab pos="1560513" algn="l"/>
                <a:tab pos="2017713" algn="l"/>
                <a:tab pos="2474913" algn="l"/>
                <a:tab pos="2932113" algn="l"/>
                <a:tab pos="3389313" algn="l"/>
                <a:tab pos="3846513" algn="l"/>
                <a:tab pos="4303713" algn="l"/>
                <a:tab pos="4760913" algn="l"/>
                <a:tab pos="5218113" algn="l"/>
                <a:tab pos="5675313" algn="l"/>
                <a:tab pos="6132513" algn="l"/>
                <a:tab pos="6589713" algn="l"/>
                <a:tab pos="7046913" algn="l"/>
                <a:tab pos="7504113" algn="l"/>
                <a:tab pos="7961313" algn="l"/>
                <a:tab pos="8418513" algn="l"/>
                <a:tab pos="8875713" algn="l"/>
                <a:tab pos="9332913" algn="l"/>
              </a:tabLst>
              <a:defRPr/>
            </a:pPr>
            <a:r>
              <a:rPr lang="en-US" altLang="en-US" sz="2400" dirty="0">
                <a:latin typeface="Arial" panose="020B0604020202020204" pitchFamily="34" charset="0"/>
                <a:cs typeface="Arial" panose="020B0604020202020204" pitchFamily="34" charset="0"/>
              </a:rPr>
              <a:t>[</a:t>
            </a:r>
            <a:r>
              <a:rPr lang="en-US" altLang="en-US" sz="2400" dirty="0" err="1">
                <a:latin typeface="Arial" panose="020B0604020202020204" pitchFamily="34" charset="0"/>
                <a:cs typeface="Arial" panose="020B0604020202020204" pitchFamily="34" charset="0"/>
              </a:rPr>
              <a:t>abort,T</a:t>
            </a:r>
            <a:r>
              <a:rPr lang="en-US" altLang="en-US" sz="2400" dirty="0">
                <a:latin typeface="Arial" panose="020B0604020202020204" pitchFamily="34" charset="0"/>
                <a:cs typeface="Arial" panose="020B0604020202020204" pitchFamily="34" charset="0"/>
              </a:rPr>
              <a:t>]:</a:t>
            </a: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39492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 LOG FILE</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Text Box 3">
            <a:extLst>
              <a:ext uri="{FF2B5EF4-FFF2-40B4-BE49-F238E27FC236}">
                <a16:creationId xmlns:a16="http://schemas.microsoft.com/office/drawing/2014/main" id="{B848BB65-C251-31FF-5A97-9E98E536223E}"/>
              </a:ext>
            </a:extLst>
          </p:cNvPr>
          <p:cNvSpPr txBox="1">
            <a:spLocks noChangeArrowheads="1"/>
          </p:cNvSpPr>
          <p:nvPr/>
        </p:nvSpPr>
        <p:spPr bwMode="auto">
          <a:xfrm>
            <a:off x="3815702" y="895610"/>
            <a:ext cx="8054036" cy="5280025"/>
          </a:xfrm>
          <a:prstGeom prst="rect">
            <a:avLst/>
          </a:prstGeom>
          <a:noFill/>
          <a:ln>
            <a:noFill/>
          </a:ln>
        </p:spPr>
        <p:txBody>
          <a:bodyPr lIns="0" tIns="0" rIns="0" bIns="0"/>
          <a:lstStyle/>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b="1" dirty="0">
              <a:latin typeface="Arial" panose="020B0604020202020204" pitchFamily="34" charset="0"/>
              <a:cs typeface="Arial" panose="020B0604020202020204" pitchFamily="34" charset="0"/>
            </a:endParaRPr>
          </a:p>
          <a:p>
            <a:pPr marL="685800" lvl="1" algn="just" fontAlgn="auto">
              <a:lnSpc>
                <a:spcPct val="90000"/>
              </a:lnSpc>
              <a:spcBef>
                <a:spcPts val="500"/>
              </a:spcBef>
              <a:spcAft>
                <a:spcPts val="0"/>
              </a:spcAft>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defRPr/>
            </a:pPr>
            <a:r>
              <a:rPr lang="en-US" altLang="en-US" sz="2400" b="1" dirty="0">
                <a:latin typeface="Arial" panose="020B0604020202020204" pitchFamily="34" charset="0"/>
                <a:cs typeface="Arial" panose="020B0604020202020204" pitchFamily="34" charset="0"/>
              </a:rPr>
              <a:t>BFIM</a:t>
            </a:r>
            <a:r>
              <a:rPr lang="en-US" altLang="en-US" sz="2400" dirty="0">
                <a:latin typeface="Arial" panose="020B0604020202020204" pitchFamily="34" charset="0"/>
                <a:cs typeface="Arial" panose="020B0604020202020204" pitchFamily="34" charset="0"/>
              </a:rPr>
              <a:t> - Before Image</a:t>
            </a:r>
          </a:p>
          <a:p>
            <a:pPr marL="685800" lvl="1" algn="just" fontAlgn="auto">
              <a:lnSpc>
                <a:spcPct val="90000"/>
              </a:lnSpc>
              <a:spcBef>
                <a:spcPts val="500"/>
              </a:spcBef>
              <a:spcAft>
                <a:spcPts val="0"/>
              </a:spcAft>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defRPr/>
            </a:pPr>
            <a:r>
              <a:rPr lang="en-US" altLang="en-US" sz="2400" b="1" dirty="0">
                <a:latin typeface="Arial" panose="020B0604020202020204" pitchFamily="34" charset="0"/>
                <a:cs typeface="Arial" panose="020B0604020202020204" pitchFamily="34" charset="0"/>
              </a:rPr>
              <a:t>AFIM</a:t>
            </a:r>
            <a:r>
              <a:rPr lang="en-US" altLang="en-US" sz="2400" dirty="0">
                <a:latin typeface="Arial" panose="020B0604020202020204" pitchFamily="34" charset="0"/>
                <a:cs typeface="Arial" panose="020B0604020202020204" pitchFamily="34" charset="0"/>
              </a:rPr>
              <a:t> – After Image</a:t>
            </a:r>
          </a:p>
          <a:p>
            <a:pPr marL="685800" lvl="1" algn="just" fontAlgn="auto">
              <a:lnSpc>
                <a:spcPct val="90000"/>
              </a:lnSpc>
              <a:spcBef>
                <a:spcPts val="500"/>
              </a:spcBef>
              <a:spcAft>
                <a:spcPts val="0"/>
              </a:spcAft>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defRPr/>
            </a:pPr>
            <a:r>
              <a:rPr lang="en-US" altLang="en-US" sz="2400" b="1" dirty="0">
                <a:latin typeface="Arial" panose="020B0604020202020204" pitchFamily="34" charset="0"/>
                <a:cs typeface="Arial" panose="020B0604020202020204" pitchFamily="34" charset="0"/>
              </a:rPr>
              <a:t>Back P</a:t>
            </a:r>
            <a:r>
              <a:rPr lang="en-US" altLang="en-US" sz="2400" dirty="0">
                <a:latin typeface="Arial" panose="020B0604020202020204" pitchFamily="34" charset="0"/>
                <a:cs typeface="Arial" panose="020B0604020202020204" pitchFamily="34" charset="0"/>
              </a:rPr>
              <a:t> – Previous record</a:t>
            </a:r>
          </a:p>
          <a:p>
            <a:pPr marL="685800" lvl="1" algn="just" fontAlgn="auto">
              <a:lnSpc>
                <a:spcPct val="90000"/>
              </a:lnSpc>
              <a:spcBef>
                <a:spcPts val="500"/>
              </a:spcBef>
              <a:spcAft>
                <a:spcPts val="0"/>
              </a:spcAft>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defRPr/>
            </a:pPr>
            <a:r>
              <a:rPr lang="en-US" altLang="en-US" sz="2400" b="1" dirty="0">
                <a:latin typeface="Arial" panose="020B0604020202020204" pitchFamily="34" charset="0"/>
                <a:cs typeface="Arial" panose="020B0604020202020204" pitchFamily="34" charset="0"/>
              </a:rPr>
              <a:t>Next P – </a:t>
            </a:r>
            <a:r>
              <a:rPr lang="en-US" altLang="en-US" sz="2400" dirty="0">
                <a:latin typeface="Arial" panose="020B0604020202020204" pitchFamily="34" charset="0"/>
                <a:cs typeface="Arial" panose="020B0604020202020204" pitchFamily="34" charset="0"/>
              </a:rPr>
              <a:t>Next record</a:t>
            </a:r>
          </a:p>
          <a:p>
            <a:pPr marL="685800" lvl="1" algn="just" fontAlgn="auto">
              <a:lnSpc>
                <a:spcPct val="90000"/>
              </a:lnSpc>
              <a:spcBef>
                <a:spcPts val="500"/>
              </a:spcBef>
              <a:spcAft>
                <a:spcPts val="0"/>
              </a:spcAft>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defRPr/>
            </a:pPr>
            <a:endParaRPr lang="en-US" altLang="en-US" sz="2400" dirty="0">
              <a:latin typeface="Arial" panose="020B0604020202020204" pitchFamily="34" charset="0"/>
              <a:cs typeface="Arial" panose="020B0604020202020204" pitchFamily="34" charset="0"/>
            </a:endParaRPr>
          </a:p>
          <a:p>
            <a:pPr marL="685800" lvl="1" algn="just" fontAlgn="auto">
              <a:lnSpc>
                <a:spcPct val="90000"/>
              </a:lnSpc>
              <a:spcBef>
                <a:spcPts val="500"/>
              </a:spcBef>
              <a:spcAft>
                <a:spcPts val="0"/>
              </a:spcAft>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defRPr/>
            </a:pPr>
            <a:endParaRPr lang="en-US" altLang="en-US" sz="2400" dirty="0">
              <a:latin typeface="Arial" panose="020B0604020202020204" pitchFamily="34" charset="0"/>
              <a:cs typeface="Arial" panose="020B0604020202020204" pitchFamily="34" charset="0"/>
            </a:endParaRPr>
          </a:p>
          <a:p>
            <a:pPr marL="685800" lvl="1" algn="just" fontAlgn="auto">
              <a:lnSpc>
                <a:spcPct val="90000"/>
              </a:lnSpc>
              <a:spcBef>
                <a:spcPts val="500"/>
              </a:spcBef>
              <a:spcAft>
                <a:spcPts val="0"/>
              </a:spcAft>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defRPr/>
            </a:pP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graphicFrame>
        <p:nvGraphicFramePr>
          <p:cNvPr id="7" name="Object 4">
            <a:extLst>
              <a:ext uri="{FF2B5EF4-FFF2-40B4-BE49-F238E27FC236}">
                <a16:creationId xmlns:a16="http://schemas.microsoft.com/office/drawing/2014/main" id="{D3779F31-4128-4FC0-C059-6F6C696CCAAC}"/>
              </a:ext>
            </a:extLst>
          </p:cNvPr>
          <p:cNvGraphicFramePr>
            <a:graphicFrameLocks noChangeAspect="1"/>
          </p:cNvGraphicFramePr>
          <p:nvPr>
            <p:extLst>
              <p:ext uri="{D42A27DB-BD31-4B8C-83A1-F6EECF244321}">
                <p14:modId xmlns:p14="http://schemas.microsoft.com/office/powerpoint/2010/main" val="480617182"/>
              </p:ext>
            </p:extLst>
          </p:nvPr>
        </p:nvGraphicFramePr>
        <p:xfrm>
          <a:off x="1855020" y="3169645"/>
          <a:ext cx="8380190" cy="2462213"/>
        </p:xfrm>
        <a:graphic>
          <a:graphicData uri="http://schemas.openxmlformats.org/presentationml/2006/ole">
            <mc:AlternateContent xmlns:mc="http://schemas.openxmlformats.org/markup-compatibility/2006">
              <mc:Choice xmlns:v="urn:schemas-microsoft-com:vml" Requires="v">
                <p:oleObj r:id="rId3" imgW="1887260" imgH="1459895" progId="">
                  <p:embed/>
                </p:oleObj>
              </mc:Choice>
              <mc:Fallback>
                <p:oleObj r:id="rId3" imgW="1887260" imgH="1459895" progId="">
                  <p:embed/>
                  <p:pic>
                    <p:nvPicPr>
                      <p:cNvPr id="1026" name="Object 4">
                        <a:extLst>
                          <a:ext uri="{FF2B5EF4-FFF2-40B4-BE49-F238E27FC236}">
                            <a16:creationId xmlns:a16="http://schemas.microsoft.com/office/drawing/2014/main" id="{2432D462-4835-83AF-C2C2-CDF88FD346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5020" y="3169645"/>
                        <a:ext cx="8380190" cy="2462213"/>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8368856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DATABASE CACHE</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Text Box 3">
            <a:extLst>
              <a:ext uri="{FF2B5EF4-FFF2-40B4-BE49-F238E27FC236}">
                <a16:creationId xmlns:a16="http://schemas.microsoft.com/office/drawing/2014/main" id="{77772638-2235-D701-B8DC-581C1B172CF8}"/>
              </a:ext>
            </a:extLst>
          </p:cNvPr>
          <p:cNvSpPr txBox="1">
            <a:spLocks noChangeArrowheads="1"/>
          </p:cNvSpPr>
          <p:nvPr/>
        </p:nvSpPr>
        <p:spPr bwMode="auto">
          <a:xfrm>
            <a:off x="2152972" y="787983"/>
            <a:ext cx="8743010" cy="4840185"/>
          </a:xfrm>
          <a:prstGeom prst="rect">
            <a:avLst/>
          </a:prstGeom>
          <a:noFill/>
          <a:ln>
            <a:noFill/>
          </a:ln>
        </p:spPr>
        <p:txBody>
          <a:bodyPr lIns="0" tIns="0" rIns="0" bIns="0"/>
          <a:lstStyle/>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b="1" dirty="0">
              <a:latin typeface="Arial" panose="020B0604020202020204" pitchFamily="34" charset="0"/>
              <a:cs typeface="Arial" panose="020B0604020202020204" pitchFamily="34" charset="0"/>
            </a:endParaRP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Types of records (entries) in log file:</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1" indent="-342900" algn="just" fontAlgn="auto">
              <a:spcBef>
                <a:spcPts val="600"/>
              </a:spcBef>
              <a:spcAft>
                <a:spcPts val="0"/>
              </a:spcAft>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Database Cache:</a:t>
            </a:r>
            <a:r>
              <a:rPr lang="en-US" altLang="en-US" sz="2400" dirty="0">
                <a:latin typeface="Arial" panose="020B0604020202020204" pitchFamily="34" charset="0"/>
                <a:cs typeface="Arial" panose="020B0604020202020204" pitchFamily="34" charset="0"/>
              </a:rPr>
              <a:t> A set of </a:t>
            </a:r>
            <a:r>
              <a:rPr lang="en-US" altLang="en-US" sz="2400" i="1" dirty="0">
                <a:latin typeface="Arial" panose="020B0604020202020204" pitchFamily="34" charset="0"/>
                <a:cs typeface="Arial" panose="020B0604020202020204" pitchFamily="34" charset="0"/>
              </a:rPr>
              <a:t>main memory </a:t>
            </a:r>
            <a:r>
              <a:rPr lang="en-US" altLang="en-US" sz="2400" dirty="0">
                <a:latin typeface="Arial" panose="020B0604020202020204" pitchFamily="34" charset="0"/>
                <a:cs typeface="Arial" panose="020B0604020202020204" pitchFamily="34" charset="0"/>
              </a:rPr>
              <a:t>buffers; each buffer  holds contents of one disk block. </a:t>
            </a:r>
          </a:p>
          <a:p>
            <a:pPr marL="685800" lvl="1" algn="just" fontAlgn="auto">
              <a:spcBef>
                <a:spcPts val="600"/>
              </a:spcBef>
              <a:spcAft>
                <a:spcPts val="0"/>
              </a:spcAft>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1" indent="-342900" algn="just" fontAlgn="auto">
              <a:spcBef>
                <a:spcPts val="600"/>
              </a:spcBef>
              <a:spcAft>
                <a:spcPts val="0"/>
              </a:spcAft>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Data Item Address: </a:t>
            </a:r>
            <a:r>
              <a:rPr lang="en-US" altLang="en-US" sz="2400" dirty="0">
                <a:latin typeface="Arial" panose="020B0604020202020204" pitchFamily="34" charset="0"/>
                <a:cs typeface="Arial" panose="020B0604020202020204" pitchFamily="34" charset="0"/>
              </a:rPr>
              <a:t>Disk block address, size in bytes</a:t>
            </a:r>
          </a:p>
          <a:p>
            <a:pPr marL="1028700" lvl="1" indent="-342900" algn="just" fontAlgn="auto">
              <a:spcBef>
                <a:spcPts val="600"/>
              </a:spcBef>
              <a:spcAft>
                <a:spcPts val="0"/>
              </a:spcAft>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1" indent="-342900" algn="just" fontAlgn="auto">
              <a:spcBef>
                <a:spcPts val="600"/>
              </a:spcBef>
              <a:spcAft>
                <a:spcPts val="0"/>
              </a:spcAft>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Cache Table: </a:t>
            </a:r>
            <a:r>
              <a:rPr lang="en-US" altLang="en-US" sz="2400" dirty="0">
                <a:latin typeface="Arial" panose="020B0604020202020204" pitchFamily="34" charset="0"/>
                <a:cs typeface="Arial" panose="020B0604020202020204" pitchFamily="34" charset="0"/>
              </a:rPr>
              <a:t>Buffer address, disk block address</a:t>
            </a:r>
          </a:p>
          <a:p>
            <a:pPr marL="1028700" lvl="1" indent="-342900" algn="just" fontAlgn="auto">
              <a:spcBef>
                <a:spcPts val="600"/>
              </a:spcBef>
              <a:spcAft>
                <a:spcPts val="0"/>
              </a:spcAft>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1" indent="-342900" fontAlgn="auto">
              <a:spcBef>
                <a:spcPts val="600"/>
              </a:spcBef>
              <a:spcAft>
                <a:spcPts val="0"/>
              </a:spcAft>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Data items to be modified are first copied into database cache</a:t>
            </a:r>
          </a:p>
          <a:p>
            <a:pPr marL="1028700" lvl="1" indent="-342900" fontAlgn="auto">
              <a:spcBef>
                <a:spcPts val="600"/>
              </a:spcBef>
              <a:spcAft>
                <a:spcPts val="0"/>
              </a:spcAft>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1" indent="-342900" fontAlgn="auto">
              <a:spcBef>
                <a:spcPts val="600"/>
              </a:spcBef>
              <a:spcAft>
                <a:spcPts val="0"/>
              </a:spcAft>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After modification they are written back to the disk</a:t>
            </a: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8919644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UPDATE</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Text Box 3">
            <a:extLst>
              <a:ext uri="{FF2B5EF4-FFF2-40B4-BE49-F238E27FC236}">
                <a16:creationId xmlns:a16="http://schemas.microsoft.com/office/drawing/2014/main" id="{807ECC4B-00D8-BA0E-A3B8-A8F0B1503064}"/>
              </a:ext>
            </a:extLst>
          </p:cNvPr>
          <p:cNvSpPr txBox="1">
            <a:spLocks noChangeArrowheads="1"/>
          </p:cNvSpPr>
          <p:nvPr/>
        </p:nvSpPr>
        <p:spPr bwMode="auto">
          <a:xfrm>
            <a:off x="899828" y="521136"/>
            <a:ext cx="9679037" cy="5280025"/>
          </a:xfrm>
          <a:prstGeom prst="rect">
            <a:avLst/>
          </a:prstGeom>
          <a:noFill/>
          <a:ln>
            <a:noFill/>
          </a:ln>
        </p:spPr>
        <p:txBody>
          <a:bodyPr lIns="0" tIns="0" rIns="0" bIns="0"/>
          <a:lstStyle/>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b="1" dirty="0">
              <a:latin typeface="Arial" panose="020B0604020202020204" pitchFamily="34" charset="0"/>
              <a:cs typeface="Arial" panose="020B0604020202020204" pitchFamily="34" charset="0"/>
            </a:endParaRPr>
          </a:p>
          <a:p>
            <a:pPr marL="1023938" lvl="1" indent="-338138" algn="just" fontAlgn="auto">
              <a:lnSpc>
                <a:spcPct val="80000"/>
              </a:lnSpc>
              <a:spcBef>
                <a:spcPts val="600"/>
              </a:spcBef>
              <a:spcAft>
                <a:spcPts val="0"/>
              </a:spcAft>
              <a:buClr>
                <a:srgbClr val="FF0000"/>
              </a:buClr>
              <a:buFont typeface="Times New Roman" pitchFamily="16" charset="0"/>
              <a:buChar char="•"/>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defRPr/>
            </a:pPr>
            <a:r>
              <a:rPr lang="en-US" altLang="en-US" sz="2400" b="1" dirty="0">
                <a:latin typeface="Arial" panose="020B0604020202020204" pitchFamily="34" charset="0"/>
                <a:cs typeface="Arial" panose="020B0604020202020204" pitchFamily="34" charset="0"/>
              </a:rPr>
              <a:t>Immediate Update</a:t>
            </a:r>
            <a:r>
              <a:rPr lang="en-US" altLang="en-US" sz="2400"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The database may be updated by some operations of a transaction before the transaction reaches its commit point. However, these operations are recorded in a log on disk before they are applied to the database, making recovery still possible. If a transaction reaches its commit point, the effect of its operation must be undone i.e. the transaction must be rolled back hence we require both undo and redo. This technique is known as </a:t>
            </a:r>
            <a:r>
              <a:rPr lang="en-US" sz="2400" b="1" dirty="0">
                <a:latin typeface="Arial" panose="020B0604020202020204" pitchFamily="34" charset="0"/>
                <a:cs typeface="Arial" panose="020B0604020202020204" pitchFamily="34" charset="0"/>
              </a:rPr>
              <a:t>undo/redo algorithm.</a:t>
            </a:r>
            <a:endParaRPr lang="en-US" altLang="en-US" sz="2400" dirty="0">
              <a:latin typeface="Arial" panose="020B0604020202020204" pitchFamily="34" charset="0"/>
              <a:cs typeface="Arial" panose="020B0604020202020204" pitchFamily="34" charset="0"/>
            </a:endParaRPr>
          </a:p>
          <a:p>
            <a:pPr marL="1023938" lvl="1" indent="-338138" algn="just" fontAlgn="auto">
              <a:lnSpc>
                <a:spcPct val="80000"/>
              </a:lnSpc>
              <a:spcBef>
                <a:spcPts val="600"/>
              </a:spcBef>
              <a:spcAft>
                <a:spcPts val="0"/>
              </a:spcAft>
              <a:buClr>
                <a:srgbClr val="FF0000"/>
              </a:buClr>
              <a:buFont typeface="Times New Roman" pitchFamily="16" charset="0"/>
              <a:buChar char="•"/>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defRPr/>
            </a:pPr>
            <a:endParaRPr lang="en-US" altLang="en-US" sz="2400" dirty="0">
              <a:latin typeface="Arial" panose="020B0604020202020204" pitchFamily="34" charset="0"/>
              <a:cs typeface="Arial" panose="020B0604020202020204" pitchFamily="34" charset="0"/>
            </a:endParaRPr>
          </a:p>
          <a:p>
            <a:pPr marL="1023938" lvl="1" indent="-338138" algn="just" fontAlgn="auto">
              <a:lnSpc>
                <a:spcPct val="80000"/>
              </a:lnSpc>
              <a:spcBef>
                <a:spcPts val="600"/>
              </a:spcBef>
              <a:spcAft>
                <a:spcPts val="0"/>
              </a:spcAft>
              <a:buClr>
                <a:srgbClr val="FF0000"/>
              </a:buClr>
              <a:buFont typeface="Times New Roman" pitchFamily="16" charset="0"/>
              <a:buChar char="•"/>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defRPr/>
            </a:pPr>
            <a:r>
              <a:rPr lang="en-US" altLang="en-US" sz="2400" b="1" dirty="0">
                <a:latin typeface="Arial" panose="020B0604020202020204" pitchFamily="34" charset="0"/>
                <a:cs typeface="Arial" panose="020B0604020202020204" pitchFamily="34" charset="0"/>
              </a:rPr>
              <a:t>Deferred </a:t>
            </a:r>
            <a:r>
              <a:rPr lang="en-US" altLang="en-US" sz="2400" b="1" dirty="0" err="1">
                <a:latin typeface="Arial" panose="020B0604020202020204" pitchFamily="34" charset="0"/>
                <a:cs typeface="Arial" panose="020B0604020202020204" pitchFamily="34" charset="0"/>
              </a:rPr>
              <a:t>Update:</a:t>
            </a:r>
            <a:r>
              <a:rPr lang="en-US" sz="2400" dirty="0" err="1">
                <a:latin typeface="Arial" panose="020B0604020202020204" pitchFamily="34" charset="0"/>
                <a:cs typeface="Arial" panose="020B0604020202020204" pitchFamily="34" charset="0"/>
              </a:rPr>
              <a:t>This</a:t>
            </a:r>
            <a:r>
              <a:rPr lang="en-US" sz="2400" dirty="0">
                <a:latin typeface="Arial" panose="020B0604020202020204" pitchFamily="34" charset="0"/>
                <a:cs typeface="Arial" panose="020B0604020202020204" pitchFamily="34" charset="0"/>
              </a:rPr>
              <a:t> technique does not physically update the database on disk until a transaction has reached its commit point. Before reaching commit, all transaction updates are recorded in the local transaction workspace. If a transaction fails before reaching its commit point, it will not have changed the database in any way so UNDO is not needed. It may be necessary to REDO the effect of the operations that are recorded in the local transaction workspace, because their effect may not yet have been written in the database. Hence, a deferred update is also known as the </a:t>
            </a:r>
            <a:r>
              <a:rPr lang="en-US" sz="2400" b="1" dirty="0">
                <a:latin typeface="Arial" panose="020B0604020202020204" pitchFamily="34" charset="0"/>
                <a:cs typeface="Arial" panose="020B0604020202020204" pitchFamily="34" charset="0"/>
              </a:rPr>
              <a:t>No-undo/redo algorithm</a:t>
            </a:r>
            <a:endParaRPr lang="en-US" altLang="en-US" sz="2400" b="1" dirty="0">
              <a:latin typeface="Arial" panose="020B0604020202020204" pitchFamily="34" charset="0"/>
              <a:cs typeface="Arial" panose="020B0604020202020204" pitchFamily="34" charset="0"/>
            </a:endParaRPr>
          </a:p>
          <a:p>
            <a:pPr marL="1023938" lvl="1" indent="-338138" algn="just" fontAlgn="auto">
              <a:lnSpc>
                <a:spcPct val="80000"/>
              </a:lnSpc>
              <a:spcBef>
                <a:spcPts val="600"/>
              </a:spcBef>
              <a:spcAft>
                <a:spcPts val="0"/>
              </a:spcAft>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defRPr/>
            </a:pPr>
            <a:endParaRPr lang="en-US" altLang="en-US" sz="2400" b="1" dirty="0">
              <a:latin typeface="Arial" panose="020B0604020202020204"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8903887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DATA UPDATE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Text Box 3">
            <a:extLst>
              <a:ext uri="{FF2B5EF4-FFF2-40B4-BE49-F238E27FC236}">
                <a16:creationId xmlns:a16="http://schemas.microsoft.com/office/drawing/2014/main" id="{6EC712CC-17AE-010C-6505-9E49F09E0482}"/>
              </a:ext>
            </a:extLst>
          </p:cNvPr>
          <p:cNvSpPr txBox="1">
            <a:spLocks noChangeArrowheads="1"/>
          </p:cNvSpPr>
          <p:nvPr/>
        </p:nvSpPr>
        <p:spPr bwMode="auto">
          <a:xfrm>
            <a:off x="0" y="731837"/>
            <a:ext cx="11361738" cy="5280025"/>
          </a:xfrm>
          <a:prstGeom prst="rect">
            <a:avLst/>
          </a:prstGeom>
          <a:noFill/>
          <a:ln>
            <a:noFill/>
          </a:ln>
        </p:spPr>
        <p:txBody>
          <a:bodyPr lIns="0" tIns="0" rIns="0" bIns="0"/>
          <a:lstStyle/>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b="1" dirty="0">
              <a:latin typeface="Arial" panose="020B0604020202020204" pitchFamily="34" charset="0"/>
              <a:cs typeface="Arial" panose="020B0604020202020204" pitchFamily="34" charset="0"/>
            </a:endParaRPr>
          </a:p>
          <a:p>
            <a:pPr marL="1023938" lvl="1" indent="-338138" algn="just" fontAlgn="auto">
              <a:lnSpc>
                <a:spcPct val="80000"/>
              </a:lnSpc>
              <a:spcBef>
                <a:spcPts val="600"/>
              </a:spcBef>
              <a:spcAft>
                <a:spcPts val="0"/>
              </a:spcAft>
              <a:buClr>
                <a:srgbClr val="FF0000"/>
              </a:buClr>
              <a:buFont typeface="Times New Roman" pitchFamily="16" charset="0"/>
              <a:buChar char="•"/>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defRPr/>
            </a:pPr>
            <a:r>
              <a:rPr lang="en-US" altLang="en-US" sz="2400" b="1" dirty="0">
                <a:latin typeface="Arial" panose="020B0604020202020204" pitchFamily="34" charset="0"/>
                <a:cs typeface="Arial" panose="020B0604020202020204" pitchFamily="34" charset="0"/>
              </a:rPr>
              <a:t>Shadow update:  </a:t>
            </a:r>
            <a:r>
              <a:rPr lang="en-US" sz="2400" dirty="0">
                <a:latin typeface="Arial" panose="020B0604020202020204" pitchFamily="34" charset="0"/>
                <a:cs typeface="Arial" panose="020B0604020202020204" pitchFamily="34" charset="0"/>
              </a:rPr>
              <a:t>It provides atomicity and durability. A directory with n entries is constructed, where the </a:t>
            </a:r>
            <a:r>
              <a:rPr lang="en-US" sz="2400" dirty="0" err="1">
                <a:latin typeface="Arial" panose="020B0604020202020204" pitchFamily="34" charset="0"/>
                <a:cs typeface="Arial" panose="020B0604020202020204" pitchFamily="34" charset="0"/>
              </a:rPr>
              <a:t>ith</a:t>
            </a:r>
            <a:r>
              <a:rPr lang="en-US" sz="2400" dirty="0">
                <a:latin typeface="Arial" panose="020B0604020202020204" pitchFamily="34" charset="0"/>
                <a:cs typeface="Arial" panose="020B0604020202020204" pitchFamily="34" charset="0"/>
              </a:rPr>
              <a:t> entry points to the </a:t>
            </a:r>
            <a:r>
              <a:rPr lang="en-US" sz="2400" dirty="0" err="1">
                <a:latin typeface="Arial" panose="020B0604020202020204" pitchFamily="34" charset="0"/>
                <a:cs typeface="Arial" panose="020B0604020202020204" pitchFamily="34" charset="0"/>
              </a:rPr>
              <a:t>ith</a:t>
            </a:r>
            <a:r>
              <a:rPr lang="en-US" sz="2400" dirty="0">
                <a:latin typeface="Arial" panose="020B0604020202020204" pitchFamily="34" charset="0"/>
                <a:cs typeface="Arial" panose="020B0604020202020204" pitchFamily="34" charset="0"/>
              </a:rPr>
              <a:t> database page on the link. When a transaction began executing the current directory is copied into a shadow directory. When a page is to be modified, a shadow page is allocated in which changes are made and when it is ready to become durable, all pages that refer to original are updated to refer new replacement page.</a:t>
            </a:r>
            <a:endParaRPr lang="en-US" altLang="en-US" sz="2400" b="1" dirty="0">
              <a:latin typeface="Arial" panose="020B0604020202020204" pitchFamily="34" charset="0"/>
              <a:cs typeface="Arial" panose="020B0604020202020204" pitchFamily="34" charset="0"/>
            </a:endParaRPr>
          </a:p>
          <a:p>
            <a:pPr marL="685800" lvl="1" algn="just" fontAlgn="auto">
              <a:lnSpc>
                <a:spcPct val="80000"/>
              </a:lnSpc>
              <a:spcBef>
                <a:spcPts val="600"/>
              </a:spcBef>
              <a:spcAft>
                <a:spcPts val="0"/>
              </a:spcAft>
              <a:buClr>
                <a:srgbClr val="FF0000"/>
              </a:buClr>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defRPr/>
            </a:pPr>
            <a:endParaRPr lang="en-US" sz="2400" spc="-5" dirty="0">
              <a:latin typeface="Arial" panose="020B0604020202020204" pitchFamily="34" charset="0"/>
              <a:ea typeface="Verdana" pitchFamily="34" charset="0"/>
              <a:cs typeface="Arial" panose="020B0604020202020204" pitchFamily="34" charset="0"/>
            </a:endParaRPr>
          </a:p>
          <a:p>
            <a:pPr marL="1023938" lvl="1" indent="-338138" algn="just" fontAlgn="auto">
              <a:lnSpc>
                <a:spcPct val="80000"/>
              </a:lnSpc>
              <a:spcBef>
                <a:spcPts val="600"/>
              </a:spcBef>
              <a:spcAft>
                <a:spcPts val="0"/>
              </a:spcAft>
              <a:buClr>
                <a:srgbClr val="FF0000"/>
              </a:buClr>
              <a:buFont typeface="Times New Roman" pitchFamily="16" charset="0"/>
              <a:buChar char="•"/>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defRPr/>
            </a:pPr>
            <a:r>
              <a:rPr lang="en-US" altLang="en-US" sz="2400" b="1" dirty="0">
                <a:latin typeface="Arial" panose="020B0604020202020204" pitchFamily="34" charset="0"/>
                <a:cs typeface="Arial" panose="020B0604020202020204" pitchFamily="34" charset="0"/>
              </a:rPr>
              <a:t>Caching/Buffering:</a:t>
            </a:r>
            <a:r>
              <a:rPr lang="en-US" altLang="en-US" sz="2400" dirty="0">
                <a:latin typeface="Arial" panose="020B0604020202020204" pitchFamily="34" charset="0"/>
                <a:cs typeface="Arial" panose="020B0604020202020204" pitchFamily="34" charset="0"/>
              </a:rPr>
              <a:t> In this one or more disk pages that include data items to be updated are cached into main memory buffers and then updated in memory before being written back to disk. A collection of in-memory buffers called the DBMS cache is kept under control of DBMS for holding these buffers. A directory is used to keep track of which database items are in the buffer. A dirty bit is associated with each buffer, which is 0 if the buffer is not modified else 1 if modified.</a:t>
            </a:r>
          </a:p>
          <a:p>
            <a:pPr marL="1023938" lvl="1" indent="-338138" algn="just" fontAlgn="auto">
              <a:lnSpc>
                <a:spcPct val="80000"/>
              </a:lnSpc>
              <a:spcBef>
                <a:spcPts val="600"/>
              </a:spcBef>
              <a:spcAft>
                <a:spcPts val="0"/>
              </a:spcAft>
              <a:buClr>
                <a:srgbClr val="FF0000"/>
              </a:buClr>
              <a:buFont typeface="Times New Roman" pitchFamily="16" charset="0"/>
              <a:buChar char="•"/>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defRPr/>
            </a:pPr>
            <a:endParaRPr lang="en-US" altLang="en-US" sz="2400" b="1" dirty="0">
              <a:latin typeface="Arial" panose="020B0604020202020204" pitchFamily="34" charset="0"/>
              <a:cs typeface="Arial" panose="020B0604020202020204" pitchFamily="34" charset="0"/>
            </a:endParaRPr>
          </a:p>
          <a:p>
            <a:pPr marL="1023938" lvl="1" indent="-338138" algn="just" fontAlgn="auto">
              <a:lnSpc>
                <a:spcPct val="80000"/>
              </a:lnSpc>
              <a:spcBef>
                <a:spcPts val="600"/>
              </a:spcBef>
              <a:spcAft>
                <a:spcPts val="0"/>
              </a:spcAft>
              <a:tabLst>
                <a:tab pos="571500" algn="l"/>
                <a:tab pos="684213" algn="l"/>
                <a:tab pos="1141413" algn="l"/>
                <a:tab pos="1598613" algn="l"/>
                <a:tab pos="2055813" algn="l"/>
                <a:tab pos="2513013" algn="l"/>
                <a:tab pos="2970213" algn="l"/>
                <a:tab pos="3427413" algn="l"/>
                <a:tab pos="3884613" algn="l"/>
                <a:tab pos="4341813" algn="l"/>
                <a:tab pos="4799013" algn="l"/>
                <a:tab pos="5256213" algn="l"/>
                <a:tab pos="5713413" algn="l"/>
                <a:tab pos="6170613" algn="l"/>
                <a:tab pos="6627813" algn="l"/>
                <a:tab pos="7085013" algn="l"/>
                <a:tab pos="7542213" algn="l"/>
                <a:tab pos="7999413" algn="l"/>
                <a:tab pos="8456613" algn="l"/>
                <a:tab pos="8913813" algn="l"/>
                <a:tab pos="9371013" algn="l"/>
              </a:tabLst>
              <a:defRPr/>
            </a:pPr>
            <a:endParaRPr lang="en-US" altLang="en-US" sz="2400" b="1" dirty="0">
              <a:latin typeface="Arial" panose="020B0604020202020204" pitchFamily="34" charset="0"/>
              <a:cs typeface="Arial" panose="020B0604020202020204" pitchFamily="34" charset="0"/>
            </a:endParaRPr>
          </a:p>
          <a:p>
            <a:pPr>
              <a:spcBef>
                <a:spcPts val="538"/>
              </a:spcBef>
              <a:spcAft>
                <a:spcPts val="1000"/>
              </a:spcAft>
              <a:defRPr/>
            </a:pPr>
            <a:endParaRPr lang="en-US" sz="19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089462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UNDO AND REDO RECOVERY ACTIONS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Text Box 3">
            <a:extLst>
              <a:ext uri="{FF2B5EF4-FFF2-40B4-BE49-F238E27FC236}">
                <a16:creationId xmlns:a16="http://schemas.microsoft.com/office/drawing/2014/main" id="{EE6C4D0C-0EE9-56B8-0D60-9F5A5938A145}"/>
              </a:ext>
            </a:extLst>
          </p:cNvPr>
          <p:cNvSpPr txBox="1">
            <a:spLocks noChangeArrowheads="1"/>
          </p:cNvSpPr>
          <p:nvPr/>
        </p:nvSpPr>
        <p:spPr bwMode="auto">
          <a:xfrm>
            <a:off x="2195593" y="1165225"/>
            <a:ext cx="8054036" cy="4413250"/>
          </a:xfrm>
          <a:prstGeom prst="rect">
            <a:avLst/>
          </a:prstGeom>
          <a:noFill/>
          <a:ln>
            <a:noFill/>
          </a:ln>
        </p:spPr>
        <p:txBody>
          <a:bodyPr lIns="0" tIns="0" rIns="0" bIns="0"/>
          <a:lstStyle/>
          <a:p>
            <a:pPr marL="685800" lvl="1" algn="just">
              <a:spcBef>
                <a:spcPts val="600"/>
              </a:spcBef>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Undo</a:t>
            </a:r>
            <a:r>
              <a:rPr lang="en-US" altLang="en-US" sz="2400" dirty="0">
                <a:latin typeface="Arial" panose="020B0604020202020204" pitchFamily="34" charset="0"/>
                <a:cs typeface="Arial" panose="020B0604020202020204" pitchFamily="34" charset="0"/>
              </a:rPr>
              <a:t>: </a:t>
            </a: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Restore all BFIMs from log to database on disk. </a:t>
            </a: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UNDO proceeds backward in log</a:t>
            </a:r>
          </a:p>
          <a:p>
            <a:pPr marL="685800" lvl="1" algn="just">
              <a:spcBef>
                <a:spcPts val="600"/>
              </a:spcBef>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685800" lvl="1" algn="just">
              <a:spcBef>
                <a:spcPts val="600"/>
              </a:spcBef>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Redo</a:t>
            </a:r>
            <a:r>
              <a:rPr lang="en-US" altLang="en-US" sz="2400" dirty="0">
                <a:latin typeface="Arial" panose="020B0604020202020204" pitchFamily="34" charset="0"/>
                <a:cs typeface="Arial" panose="020B0604020202020204" pitchFamily="34" charset="0"/>
              </a:rPr>
              <a:t>: </a:t>
            </a: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Restore all AFIMs from log to database on disk. </a:t>
            </a: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REDO proceeds forward in log</a:t>
            </a: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956245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WRITE-AHEAD LOGGING PROTOCOL</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Text Box 3">
            <a:extLst>
              <a:ext uri="{FF2B5EF4-FFF2-40B4-BE49-F238E27FC236}">
                <a16:creationId xmlns:a16="http://schemas.microsoft.com/office/drawing/2014/main" id="{A5E8B6D8-CC9B-F921-FF00-A6A45F3B4D02}"/>
              </a:ext>
            </a:extLst>
          </p:cNvPr>
          <p:cNvSpPr txBox="1">
            <a:spLocks noChangeArrowheads="1"/>
          </p:cNvSpPr>
          <p:nvPr/>
        </p:nvSpPr>
        <p:spPr bwMode="auto">
          <a:xfrm>
            <a:off x="1990725" y="1165225"/>
            <a:ext cx="8812808" cy="4413250"/>
          </a:xfrm>
          <a:prstGeom prst="rect">
            <a:avLst/>
          </a:prstGeom>
          <a:noFill/>
          <a:ln>
            <a:noFill/>
          </a:ln>
        </p:spPr>
        <p:txBody>
          <a:bodyPr lIns="0" tIns="0" rIns="0" bIns="0"/>
          <a:lstStyle/>
          <a:p>
            <a:pPr marL="685800" lvl="1" algn="just" fontAlgn="auto">
              <a:spcBef>
                <a:spcPts val="60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Write-Ahead Logging</a:t>
            </a:r>
            <a:r>
              <a:rPr lang="en-US" altLang="en-US" sz="2400" dirty="0">
                <a:latin typeface="Arial" panose="020B0604020202020204" pitchFamily="34" charset="0"/>
                <a:cs typeface="Arial" panose="020B0604020202020204" pitchFamily="34" charset="0"/>
              </a:rPr>
              <a:t> (WAL) protocol consists of two rules:</a:t>
            </a:r>
          </a:p>
          <a:p>
            <a:pPr marL="685800" lvl="1" algn="just">
              <a:spcBef>
                <a:spcPts val="600"/>
              </a:spcBef>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For Undo</a:t>
            </a:r>
            <a:r>
              <a:rPr lang="en-US" altLang="en-US" sz="2400" dirty="0">
                <a:latin typeface="Arial" panose="020B0604020202020204" pitchFamily="34" charset="0"/>
                <a:cs typeface="Arial" panose="020B0604020202020204" pitchFamily="34" charset="0"/>
              </a:rPr>
              <a:t>: </a:t>
            </a: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Before a data item’s AFIM is flushed </a:t>
            </a:r>
          </a:p>
          <a:p>
            <a:pPr marL="685800" lvl="1" algn="just">
              <a:spcBef>
                <a:spcPts val="600"/>
              </a:spcBef>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 </a:t>
            </a: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BFIM must be written to the log </a:t>
            </a:r>
          </a:p>
          <a:p>
            <a:pPr marL="685800" lvl="1" algn="just">
              <a:spcBef>
                <a:spcPts val="600"/>
              </a:spcBef>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The log must be saved to disk.</a:t>
            </a: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4874501"/>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WRITE-AHEAD LOGGING PROTOCOL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Text Box 3">
            <a:extLst>
              <a:ext uri="{FF2B5EF4-FFF2-40B4-BE49-F238E27FC236}">
                <a16:creationId xmlns:a16="http://schemas.microsoft.com/office/drawing/2014/main" id="{E28016BC-D648-C4D1-6BB6-8A33D6CD528D}"/>
              </a:ext>
            </a:extLst>
          </p:cNvPr>
          <p:cNvSpPr txBox="1">
            <a:spLocks noChangeArrowheads="1"/>
          </p:cNvSpPr>
          <p:nvPr/>
        </p:nvSpPr>
        <p:spPr bwMode="auto">
          <a:xfrm>
            <a:off x="2161851" y="1165225"/>
            <a:ext cx="8054036" cy="4413250"/>
          </a:xfrm>
          <a:prstGeom prst="rect">
            <a:avLst/>
          </a:prstGeom>
          <a:noFill/>
          <a:ln>
            <a:noFill/>
          </a:ln>
        </p:spPr>
        <p:txBody>
          <a:bodyPr lIns="0" tIns="0" rIns="0" bIns="0"/>
          <a:lstStyle/>
          <a:p>
            <a:pPr marL="685800" lvl="1" algn="just">
              <a:spcBef>
                <a:spcPts val="600"/>
              </a:spcBef>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For Redo</a:t>
            </a:r>
            <a:r>
              <a:rPr lang="en-US" altLang="en-US" sz="2400" dirty="0">
                <a:latin typeface="Arial" panose="020B0604020202020204" pitchFamily="34" charset="0"/>
                <a:cs typeface="Arial" panose="020B0604020202020204" pitchFamily="34" charset="0"/>
              </a:rPr>
              <a:t>: </a:t>
            </a: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Before a transaction executes its commit operation</a:t>
            </a:r>
          </a:p>
          <a:p>
            <a:pPr marL="685800" lvl="1" algn="just">
              <a:spcBef>
                <a:spcPts val="600"/>
              </a:spcBef>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 AFIMs must be written to the log </a:t>
            </a:r>
          </a:p>
          <a:p>
            <a:pPr marL="685800" lvl="1" algn="just">
              <a:spcBef>
                <a:spcPts val="600"/>
              </a:spcBef>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The log must be saved on a stable store.</a:t>
            </a: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3149304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CHECKPOINTING</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Text Box 3">
            <a:extLst>
              <a:ext uri="{FF2B5EF4-FFF2-40B4-BE49-F238E27FC236}">
                <a16:creationId xmlns:a16="http://schemas.microsoft.com/office/drawing/2014/main" id="{ECB05540-FBBD-E7B0-C2FC-3C4BDAF15E8A}"/>
              </a:ext>
            </a:extLst>
          </p:cNvPr>
          <p:cNvSpPr txBox="1">
            <a:spLocks noChangeArrowheads="1"/>
          </p:cNvSpPr>
          <p:nvPr/>
        </p:nvSpPr>
        <p:spPr bwMode="auto">
          <a:xfrm>
            <a:off x="508000" y="1049739"/>
            <a:ext cx="11133540" cy="5000265"/>
          </a:xfrm>
          <a:prstGeom prst="rect">
            <a:avLst/>
          </a:prstGeom>
          <a:noFill/>
          <a:ln>
            <a:noFill/>
          </a:ln>
        </p:spPr>
        <p:txBody>
          <a:bodyPr lIns="0" tIns="0" rIns="0" bIns="0"/>
          <a:lstStyle/>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Used to minimize the </a:t>
            </a:r>
            <a:r>
              <a:rPr lang="en-US" altLang="en-US" sz="2400" b="1" dirty="0">
                <a:latin typeface="Arial" panose="020B0604020202020204" pitchFamily="34" charset="0"/>
                <a:cs typeface="Arial" panose="020B0604020202020204" pitchFamily="34" charset="0"/>
              </a:rPr>
              <a:t>REDO </a:t>
            </a:r>
            <a:r>
              <a:rPr lang="en-US" altLang="en-US" sz="2400" dirty="0">
                <a:latin typeface="Arial" panose="020B0604020202020204" pitchFamily="34" charset="0"/>
                <a:cs typeface="Arial" panose="020B0604020202020204" pitchFamily="34" charset="0"/>
              </a:rPr>
              <a:t>operations during recovery.</a:t>
            </a:r>
          </a:p>
          <a:p>
            <a:pPr marL="685800" lvl="1" algn="just">
              <a:spcBef>
                <a:spcPts val="600"/>
              </a:spcBef>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The following steps define a checkpoint operation:</a:t>
            </a: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Suspend execution of transactions temporarily.</a:t>
            </a: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Force write modified buffers from cache to disk.</a:t>
            </a: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Write a [checkpoint] record to the log, </a:t>
            </a: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save the log to disk. </a:t>
            </a: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i="1" dirty="0">
                <a:latin typeface="Arial" panose="020B0604020202020204" pitchFamily="34" charset="0"/>
                <a:cs typeface="Arial" panose="020B0604020202020204" pitchFamily="34" charset="0"/>
              </a:rPr>
              <a:t>list of active transactions</a:t>
            </a:r>
            <a:r>
              <a:rPr lang="en-US" altLang="en-US" sz="2400" dirty="0">
                <a:latin typeface="Arial" panose="020B0604020202020204" pitchFamily="34" charset="0"/>
                <a:cs typeface="Arial" panose="020B0604020202020204" pitchFamily="34" charset="0"/>
              </a:rPr>
              <a:t> at the time of checkpoint.</a:t>
            </a: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Resume normal transaction execution.</a:t>
            </a:r>
          </a:p>
          <a:p>
            <a:pPr marL="1028700" lvl="1" indent="-342900" algn="just">
              <a:spcBef>
                <a:spcPts val="600"/>
              </a:spcBef>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During recovery </a:t>
            </a:r>
            <a:r>
              <a:rPr lang="en-US" altLang="en-US" sz="2400" b="1" dirty="0">
                <a:latin typeface="Arial" panose="020B0604020202020204" pitchFamily="34" charset="0"/>
                <a:cs typeface="Arial" panose="020B0604020202020204" pitchFamily="34" charset="0"/>
              </a:rPr>
              <a:t>redo</a:t>
            </a:r>
            <a:r>
              <a:rPr lang="en-US" altLang="en-US" sz="2400" dirty="0">
                <a:latin typeface="Arial" panose="020B0604020202020204" pitchFamily="34" charset="0"/>
                <a:cs typeface="Arial" panose="020B0604020202020204" pitchFamily="34" charset="0"/>
              </a:rPr>
              <a:t> is required only for transactions that have committed </a:t>
            </a:r>
            <a:r>
              <a:rPr lang="en-US" altLang="en-US" sz="2400" i="1" dirty="0">
                <a:latin typeface="Arial" panose="020B0604020202020204" pitchFamily="34" charset="0"/>
                <a:cs typeface="Arial" panose="020B0604020202020204" pitchFamily="34" charset="0"/>
              </a:rPr>
              <a:t>after the checkpoint</a:t>
            </a: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56406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OTHER DATABASE RECOVERY CONCEPTS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Text Box 3">
            <a:extLst>
              <a:ext uri="{FF2B5EF4-FFF2-40B4-BE49-F238E27FC236}">
                <a16:creationId xmlns:a16="http://schemas.microsoft.com/office/drawing/2014/main" id="{AE820EA2-5CE7-6E7A-5AE5-3603E250D761}"/>
              </a:ext>
            </a:extLst>
          </p:cNvPr>
          <p:cNvSpPr txBox="1">
            <a:spLocks noChangeArrowheads="1"/>
          </p:cNvSpPr>
          <p:nvPr/>
        </p:nvSpPr>
        <p:spPr bwMode="auto">
          <a:xfrm>
            <a:off x="2644293" y="1049740"/>
            <a:ext cx="8054036" cy="4413250"/>
          </a:xfrm>
          <a:prstGeom prst="rect">
            <a:avLst/>
          </a:prstGeom>
          <a:noFill/>
          <a:ln>
            <a:noFill/>
          </a:ln>
        </p:spPr>
        <p:txBody>
          <a:bodyPr lIns="0" tIns="0" rIns="0" bIns="0"/>
          <a:lstStyle/>
          <a:p>
            <a:pPr marL="685800" lvl="1" algn="just" fontAlgn="auto">
              <a:spcBef>
                <a:spcPts val="60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Steal/No-Steal and Force/No-Force</a:t>
            </a:r>
          </a:p>
          <a:p>
            <a:pPr marL="685800" lvl="1" algn="just" fontAlgn="auto">
              <a:spcBef>
                <a:spcPts val="60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b="1" dirty="0">
              <a:latin typeface="Arial" panose="020B0604020202020204" pitchFamily="34" charset="0"/>
              <a:cs typeface="Arial" panose="020B0604020202020204" pitchFamily="34" charset="0"/>
            </a:endParaRPr>
          </a:p>
          <a:p>
            <a:pPr marL="1143000" lvl="1" indent="-457200" algn="just">
              <a:spcBef>
                <a:spcPts val="500"/>
              </a:spcBef>
              <a:buFont typeface="Arial" panose="020B0604020202020204" pitchFamily="34" charset="0"/>
              <a:buChar char="•"/>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r>
              <a:rPr lang="en-US" altLang="en-US" sz="2400" b="1" dirty="0">
                <a:latin typeface="Arial" panose="020B0604020202020204" pitchFamily="34" charset="0"/>
                <a:cs typeface="Arial" panose="020B0604020202020204" pitchFamily="34" charset="0"/>
              </a:rPr>
              <a:t>Steal</a:t>
            </a:r>
            <a:r>
              <a:rPr lang="en-US" altLang="en-US" sz="2400" dirty="0">
                <a:latin typeface="Arial" panose="020B0604020202020204" pitchFamily="34" charset="0"/>
                <a:cs typeface="Arial" panose="020B0604020202020204" pitchFamily="34" charset="0"/>
              </a:rPr>
              <a:t>: recovery may require UNDO</a:t>
            </a:r>
          </a:p>
          <a:p>
            <a:pPr marL="685800" lvl="1" algn="just">
              <a:spcBef>
                <a:spcPts val="500"/>
              </a:spcBef>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endParaRPr lang="en-US" altLang="en-US" sz="2400" dirty="0">
              <a:latin typeface="Arial" panose="020B0604020202020204" pitchFamily="34" charset="0"/>
              <a:cs typeface="Arial" panose="020B0604020202020204" pitchFamily="34" charset="0"/>
            </a:endParaRPr>
          </a:p>
          <a:p>
            <a:pPr marL="1143000" lvl="1" indent="-457200" algn="just">
              <a:spcBef>
                <a:spcPts val="500"/>
              </a:spcBef>
              <a:buFont typeface="Arial" panose="020B0604020202020204" pitchFamily="34" charset="0"/>
              <a:buChar char="•"/>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r>
              <a:rPr lang="en-US" altLang="en-US" sz="2400" b="1" dirty="0">
                <a:latin typeface="Arial" panose="020B0604020202020204" pitchFamily="34" charset="0"/>
                <a:cs typeface="Arial" panose="020B0604020202020204" pitchFamily="34" charset="0"/>
              </a:rPr>
              <a:t>No-Steal</a:t>
            </a:r>
            <a:r>
              <a:rPr lang="en-US" altLang="en-US" sz="2400" dirty="0">
                <a:latin typeface="Arial" panose="020B0604020202020204" pitchFamily="34" charset="0"/>
                <a:cs typeface="Arial" panose="020B0604020202020204" pitchFamily="34" charset="0"/>
              </a:rPr>
              <a:t>: NO-UNDO </a:t>
            </a:r>
          </a:p>
          <a:p>
            <a:pPr marL="685800" lvl="1" algn="just">
              <a:spcBef>
                <a:spcPts val="500"/>
              </a:spcBef>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endParaRPr lang="en-US" altLang="en-US" sz="2400" dirty="0">
              <a:latin typeface="Arial" panose="020B0604020202020204" pitchFamily="34" charset="0"/>
              <a:cs typeface="Arial" panose="020B0604020202020204" pitchFamily="34" charset="0"/>
            </a:endParaRPr>
          </a:p>
          <a:p>
            <a:pPr marL="1143000" lvl="1" indent="-457200" algn="just">
              <a:spcBef>
                <a:spcPts val="500"/>
              </a:spcBef>
              <a:buFont typeface="Arial" panose="020B0604020202020204" pitchFamily="34" charset="0"/>
              <a:buChar char="•"/>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r>
              <a:rPr lang="en-US" altLang="en-US" sz="2400" b="1" dirty="0">
                <a:latin typeface="Arial" panose="020B0604020202020204" pitchFamily="34" charset="0"/>
                <a:cs typeface="Arial" panose="020B0604020202020204" pitchFamily="34" charset="0"/>
              </a:rPr>
              <a:t>Force</a:t>
            </a:r>
            <a:r>
              <a:rPr lang="en-US" altLang="en-US" sz="2400" dirty="0">
                <a:latin typeface="Arial" panose="020B0604020202020204" pitchFamily="34" charset="0"/>
                <a:cs typeface="Arial" panose="020B0604020202020204" pitchFamily="34" charset="0"/>
              </a:rPr>
              <a:t>:  NO-REDO</a:t>
            </a:r>
          </a:p>
          <a:p>
            <a:pPr marL="685800" lvl="1" algn="just">
              <a:spcBef>
                <a:spcPts val="500"/>
              </a:spcBef>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endParaRPr lang="en-US" altLang="en-US" sz="2400" dirty="0">
              <a:latin typeface="Arial" panose="020B0604020202020204" pitchFamily="34" charset="0"/>
              <a:cs typeface="Arial" panose="020B0604020202020204" pitchFamily="34" charset="0"/>
            </a:endParaRPr>
          </a:p>
          <a:p>
            <a:pPr marL="1143000" lvl="1" indent="-457200" algn="just">
              <a:spcBef>
                <a:spcPts val="500"/>
              </a:spcBef>
              <a:buFont typeface="Arial" panose="020B0604020202020204" pitchFamily="34" charset="0"/>
              <a:buChar char="•"/>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r>
              <a:rPr lang="en-US" altLang="en-US" sz="2400" b="1" dirty="0">
                <a:latin typeface="Arial" panose="020B0604020202020204" pitchFamily="34" charset="0"/>
                <a:cs typeface="Arial" panose="020B0604020202020204" pitchFamily="34" charset="0"/>
              </a:rPr>
              <a:t>No-Force</a:t>
            </a:r>
            <a:r>
              <a:rPr lang="en-US" altLang="en-US" sz="2400" dirty="0">
                <a:latin typeface="Arial" panose="020B0604020202020204" pitchFamily="34" charset="0"/>
                <a:cs typeface="Arial" panose="020B0604020202020204" pitchFamily="34" charset="0"/>
              </a:rPr>
              <a:t>:  recovery may require REDO</a:t>
            </a: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155395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950175" y="127016"/>
            <a:ext cx="688184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OTHER DATABASE RECOVERY CONCEPTS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 name="Text Box 3">
            <a:extLst>
              <a:ext uri="{FF2B5EF4-FFF2-40B4-BE49-F238E27FC236}">
                <a16:creationId xmlns:a16="http://schemas.microsoft.com/office/drawing/2014/main" id="{ECAB92E2-71EF-16F6-6004-4F65B18C6375}"/>
              </a:ext>
            </a:extLst>
          </p:cNvPr>
          <p:cNvSpPr txBox="1">
            <a:spLocks noChangeArrowheads="1"/>
          </p:cNvSpPr>
          <p:nvPr/>
        </p:nvSpPr>
        <p:spPr bwMode="auto">
          <a:xfrm>
            <a:off x="2562406" y="1165225"/>
            <a:ext cx="8054036" cy="4413250"/>
          </a:xfrm>
          <a:prstGeom prst="rect">
            <a:avLst/>
          </a:prstGeom>
          <a:noFill/>
          <a:ln>
            <a:noFill/>
          </a:ln>
        </p:spPr>
        <p:txBody>
          <a:bodyPr lIns="0" tIns="0" rIns="0" bIns="0"/>
          <a:lstStyle/>
          <a:p>
            <a:pPr marL="685800" lvl="1" algn="just" fontAlgn="auto">
              <a:spcBef>
                <a:spcPts val="60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Steal/No-Steal and Force/No-Force</a:t>
            </a:r>
          </a:p>
          <a:p>
            <a:pPr marL="685800" lvl="1" algn="just" fontAlgn="auto">
              <a:spcBef>
                <a:spcPts val="60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b="1" dirty="0">
              <a:latin typeface="Arial" panose="020B0604020202020204" pitchFamily="34" charset="0"/>
              <a:cs typeface="Arial" panose="020B0604020202020204" pitchFamily="34" charset="0"/>
            </a:endParaRPr>
          </a:p>
          <a:p>
            <a:pPr marL="1143000" lvl="1" indent="-457200" algn="just">
              <a:spcBef>
                <a:spcPts val="500"/>
              </a:spcBef>
              <a:buFont typeface="Arial" panose="020B0604020202020204" pitchFamily="34" charset="0"/>
              <a:buChar char="•"/>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r>
              <a:rPr lang="en-US" altLang="en-US" sz="2400" b="1" dirty="0">
                <a:latin typeface="Arial" panose="020B0604020202020204" pitchFamily="34" charset="0"/>
                <a:cs typeface="Arial" panose="020B0604020202020204" pitchFamily="34" charset="0"/>
              </a:rPr>
              <a:t>Steal</a:t>
            </a:r>
            <a:r>
              <a:rPr lang="en-US" altLang="en-US" sz="2400" dirty="0">
                <a:latin typeface="Arial" panose="020B0604020202020204" pitchFamily="34" charset="0"/>
                <a:cs typeface="Arial" panose="020B0604020202020204" pitchFamily="34" charset="0"/>
              </a:rPr>
              <a:t>: recovery may require UNDO</a:t>
            </a:r>
          </a:p>
          <a:p>
            <a:pPr marL="685800" lvl="1" algn="just">
              <a:spcBef>
                <a:spcPts val="500"/>
              </a:spcBef>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endParaRPr lang="en-US" altLang="en-US" sz="2400" dirty="0">
              <a:latin typeface="Arial" panose="020B0604020202020204" pitchFamily="34" charset="0"/>
              <a:cs typeface="Arial" panose="020B0604020202020204" pitchFamily="34" charset="0"/>
            </a:endParaRPr>
          </a:p>
          <a:p>
            <a:pPr marL="1143000" lvl="1" indent="-457200" algn="just">
              <a:spcBef>
                <a:spcPts val="500"/>
              </a:spcBef>
              <a:buFont typeface="Arial" panose="020B0604020202020204" pitchFamily="34" charset="0"/>
              <a:buChar char="•"/>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r>
              <a:rPr lang="en-US" altLang="en-US" sz="2400" b="1" dirty="0">
                <a:latin typeface="Arial" panose="020B0604020202020204" pitchFamily="34" charset="0"/>
                <a:cs typeface="Arial" panose="020B0604020202020204" pitchFamily="34" charset="0"/>
              </a:rPr>
              <a:t>No-Steal</a:t>
            </a:r>
            <a:r>
              <a:rPr lang="en-US" altLang="en-US" sz="2400" dirty="0">
                <a:latin typeface="Arial" panose="020B0604020202020204" pitchFamily="34" charset="0"/>
                <a:cs typeface="Arial" panose="020B0604020202020204" pitchFamily="34" charset="0"/>
              </a:rPr>
              <a:t>: NO-UNDO </a:t>
            </a:r>
          </a:p>
          <a:p>
            <a:pPr marL="685800" lvl="1" algn="just">
              <a:spcBef>
                <a:spcPts val="500"/>
              </a:spcBef>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endParaRPr lang="en-US" altLang="en-US" sz="2400" dirty="0">
              <a:latin typeface="Arial" panose="020B0604020202020204" pitchFamily="34" charset="0"/>
              <a:cs typeface="Arial" panose="020B0604020202020204" pitchFamily="34" charset="0"/>
            </a:endParaRPr>
          </a:p>
          <a:p>
            <a:pPr marL="1143000" lvl="1" indent="-457200" algn="just">
              <a:spcBef>
                <a:spcPts val="500"/>
              </a:spcBef>
              <a:buFont typeface="Arial" panose="020B0604020202020204" pitchFamily="34" charset="0"/>
              <a:buChar char="•"/>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r>
              <a:rPr lang="en-US" altLang="en-US" sz="2400" b="1" dirty="0">
                <a:latin typeface="Arial" panose="020B0604020202020204" pitchFamily="34" charset="0"/>
                <a:cs typeface="Arial" panose="020B0604020202020204" pitchFamily="34" charset="0"/>
              </a:rPr>
              <a:t>Force</a:t>
            </a:r>
            <a:r>
              <a:rPr lang="en-US" altLang="en-US" sz="2400" dirty="0">
                <a:latin typeface="Arial" panose="020B0604020202020204" pitchFamily="34" charset="0"/>
                <a:cs typeface="Arial" panose="020B0604020202020204" pitchFamily="34" charset="0"/>
              </a:rPr>
              <a:t>:  NO-REDO</a:t>
            </a:r>
          </a:p>
          <a:p>
            <a:pPr marL="685800" lvl="1" algn="just">
              <a:spcBef>
                <a:spcPts val="500"/>
              </a:spcBef>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endParaRPr lang="en-US" altLang="en-US" sz="2400" dirty="0">
              <a:latin typeface="Arial" panose="020B0604020202020204" pitchFamily="34" charset="0"/>
              <a:cs typeface="Arial" panose="020B0604020202020204" pitchFamily="34" charset="0"/>
            </a:endParaRPr>
          </a:p>
          <a:p>
            <a:pPr marL="1143000" lvl="1" indent="-457200" algn="just">
              <a:spcBef>
                <a:spcPts val="500"/>
              </a:spcBef>
              <a:buFont typeface="Arial" panose="020B0604020202020204" pitchFamily="34" charset="0"/>
              <a:buChar char="•"/>
              <a:tabLst>
                <a:tab pos="0" algn="l"/>
                <a:tab pos="685800" algn="l"/>
                <a:tab pos="914400" algn="l"/>
                <a:tab pos="1828800" algn="l"/>
                <a:tab pos="2743200" algn="l"/>
                <a:tab pos="3657600" algn="l"/>
                <a:tab pos="4572000" algn="l"/>
                <a:tab pos="5486400" algn="l"/>
                <a:tab pos="6400800" algn="l"/>
                <a:tab pos="7315200" algn="l"/>
                <a:tab pos="8229600" algn="l"/>
                <a:tab pos="9144000" algn="l"/>
                <a:tab pos="10058400" algn="l"/>
                <a:tab pos="10515600" algn="l"/>
              </a:tabLst>
              <a:defRPr/>
            </a:pPr>
            <a:r>
              <a:rPr lang="en-US" altLang="en-US" sz="2400" b="1" dirty="0">
                <a:latin typeface="Arial" panose="020B0604020202020204" pitchFamily="34" charset="0"/>
                <a:cs typeface="Arial" panose="020B0604020202020204" pitchFamily="34" charset="0"/>
              </a:rPr>
              <a:t>No-Force</a:t>
            </a:r>
            <a:r>
              <a:rPr lang="en-US" altLang="en-US" sz="2400" dirty="0">
                <a:latin typeface="Arial" panose="020B0604020202020204" pitchFamily="34" charset="0"/>
                <a:cs typeface="Arial" panose="020B0604020202020204" pitchFamily="34" charset="0"/>
              </a:rPr>
              <a:t>:  recovery may require REDO</a:t>
            </a: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336842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1790597" y="187929"/>
            <a:ext cx="9632579"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DEFERRED UPDATE (NO-UNDO/REDO) RECOVERY PROTOCOL</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TextBox 3">
            <a:extLst>
              <a:ext uri="{FF2B5EF4-FFF2-40B4-BE49-F238E27FC236}">
                <a16:creationId xmlns:a16="http://schemas.microsoft.com/office/drawing/2014/main" id="{FDE9582B-6729-E2AD-E0E4-2DA8F5D89E15}"/>
              </a:ext>
            </a:extLst>
          </p:cNvPr>
          <p:cNvSpPr txBox="1"/>
          <p:nvPr/>
        </p:nvSpPr>
        <p:spPr>
          <a:xfrm>
            <a:off x="3048000" y="3236959"/>
            <a:ext cx="6096000" cy="369332"/>
          </a:xfrm>
          <a:prstGeom prst="rect">
            <a:avLst/>
          </a:prstGeom>
          <a:noFill/>
        </p:spPr>
        <p:txBody>
          <a:bodyPr wrap="square">
            <a:spAutoFit/>
          </a:bodyPr>
          <a:lstStyle/>
          <a:p>
            <a:pPr>
              <a:spcBef>
                <a:spcPts val="538"/>
              </a:spcBef>
              <a:spcAft>
                <a:spcPts val="1000"/>
              </a:spcAft>
              <a:defRPr/>
            </a:pPr>
            <a:endParaRPr lang="en-US" sz="1800" dirty="0">
              <a:solidFill>
                <a:srgbClr val="000000"/>
              </a:solidFill>
              <a:latin typeface="Verdana" pitchFamily="34" charset="0"/>
            </a:endParaRPr>
          </a:p>
        </p:txBody>
      </p:sp>
      <p:sp>
        <p:nvSpPr>
          <p:cNvPr id="8" name="TextBox 7">
            <a:extLst>
              <a:ext uri="{FF2B5EF4-FFF2-40B4-BE49-F238E27FC236}">
                <a16:creationId xmlns:a16="http://schemas.microsoft.com/office/drawing/2014/main" id="{0A404CF8-E464-FAD6-5454-796C77443F8F}"/>
              </a:ext>
            </a:extLst>
          </p:cNvPr>
          <p:cNvSpPr txBox="1"/>
          <p:nvPr/>
        </p:nvSpPr>
        <p:spPr>
          <a:xfrm>
            <a:off x="3048000" y="3236959"/>
            <a:ext cx="6096000" cy="369332"/>
          </a:xfrm>
          <a:prstGeom prst="rect">
            <a:avLst/>
          </a:prstGeom>
          <a:noFill/>
        </p:spPr>
        <p:txBody>
          <a:bodyPr wrap="square">
            <a:spAutoFit/>
          </a:bodyPr>
          <a:lstStyle/>
          <a:p>
            <a:pPr>
              <a:spcBef>
                <a:spcPts val="538"/>
              </a:spcBef>
              <a:spcAft>
                <a:spcPts val="1000"/>
              </a:spcAft>
              <a:defRPr/>
            </a:pPr>
            <a:endParaRPr lang="en-US" sz="1800" dirty="0">
              <a:solidFill>
                <a:srgbClr val="000000"/>
              </a:solidFill>
              <a:latin typeface="Verdana" pitchFamily="34" charset="0"/>
            </a:endParaRPr>
          </a:p>
        </p:txBody>
      </p:sp>
      <p:sp>
        <p:nvSpPr>
          <p:cNvPr id="13" name="Text Box 3">
            <a:extLst>
              <a:ext uri="{FF2B5EF4-FFF2-40B4-BE49-F238E27FC236}">
                <a16:creationId xmlns:a16="http://schemas.microsoft.com/office/drawing/2014/main" id="{A148EA5A-E419-4FF1-2FD4-AA009B8A6BA9}"/>
              </a:ext>
            </a:extLst>
          </p:cNvPr>
          <p:cNvSpPr txBox="1">
            <a:spLocks noChangeArrowheads="1"/>
          </p:cNvSpPr>
          <p:nvPr/>
        </p:nvSpPr>
        <p:spPr bwMode="auto">
          <a:xfrm>
            <a:off x="887105" y="875552"/>
            <a:ext cx="10887099" cy="4722813"/>
          </a:xfrm>
          <a:prstGeom prst="rect">
            <a:avLst/>
          </a:prstGeom>
          <a:noFill/>
          <a:ln>
            <a:noFill/>
          </a:ln>
        </p:spPr>
        <p:txBody>
          <a:bodyPr lIns="0" tIns="0" rIns="0" bIns="0"/>
          <a:lstStyle/>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b="1" dirty="0">
              <a:latin typeface="Arial" panose="020B0604020202020204" pitchFamily="34" charset="0"/>
              <a:cs typeface="Arial" panose="020B0604020202020204" pitchFamily="34" charset="0"/>
            </a:endParaRP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Recovery subsystem analyzes the log, and creates two lists:</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spc="-5" dirty="0">
              <a:latin typeface="Arial" panose="020B0604020202020204" pitchFamily="34" charset="0"/>
              <a:ea typeface="Verdana" pitchFamily="34" charset="0"/>
              <a:cs typeface="Arial" panose="020B0604020202020204" pitchFamily="34" charset="0"/>
            </a:endParaRPr>
          </a:p>
          <a:p>
            <a:pPr lvl="2" indent="-3429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Active Transaction list</a:t>
            </a:r>
            <a:r>
              <a:rPr lang="en-US" altLang="en-US" sz="2400" dirty="0">
                <a:latin typeface="Arial" panose="020B0604020202020204" pitchFamily="34" charset="0"/>
                <a:cs typeface="Arial" panose="020B0604020202020204" pitchFamily="34" charset="0"/>
              </a:rPr>
              <a:t>:  All active (uncommitted) transaction ids are entered in this list.</a:t>
            </a:r>
          </a:p>
          <a:p>
            <a:pPr lvl="2" indent="-3429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spc="-5" dirty="0">
              <a:latin typeface="Arial" panose="020B0604020202020204" pitchFamily="34" charset="0"/>
              <a:ea typeface="Verdana" pitchFamily="34" charset="0"/>
              <a:cs typeface="Arial" panose="020B0604020202020204" pitchFamily="34" charset="0"/>
            </a:endParaRPr>
          </a:p>
          <a:p>
            <a:pPr lvl="2" indent="-3429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Committed Transaction list</a:t>
            </a:r>
            <a:r>
              <a:rPr lang="en-US" altLang="en-US" sz="2400" dirty="0">
                <a:latin typeface="Arial" panose="020B0604020202020204" pitchFamily="34" charset="0"/>
                <a:cs typeface="Arial" panose="020B0604020202020204" pitchFamily="34" charset="0"/>
              </a:rPr>
              <a:t>: Transactions committed after the last checkpoint are entered in this table.</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spc="-5" dirty="0">
              <a:latin typeface="Arial" panose="020B0604020202020204" pitchFamily="34" charset="0"/>
              <a:ea typeface="Verdana" pitchFamily="34" charset="0"/>
              <a:cs typeface="Arial" panose="020B0604020202020204" pitchFamily="34" charset="0"/>
            </a:endParaRP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During recovery</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 </a:t>
            </a:r>
          </a:p>
          <a:p>
            <a:pPr lvl="2" indent="-3429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Transactions in </a:t>
            </a:r>
            <a:r>
              <a:rPr lang="en-US" altLang="en-US" sz="2400" b="1" dirty="0">
                <a:latin typeface="Arial" panose="020B0604020202020204" pitchFamily="34" charset="0"/>
                <a:cs typeface="Arial" panose="020B0604020202020204" pitchFamily="34" charset="0"/>
              </a:rPr>
              <a:t>commit</a:t>
            </a:r>
            <a:r>
              <a:rPr lang="en-US" altLang="en-US" sz="2400" dirty="0">
                <a:latin typeface="Arial" panose="020B0604020202020204" pitchFamily="34" charset="0"/>
                <a:cs typeface="Arial" panose="020B0604020202020204" pitchFamily="34" charset="0"/>
              </a:rPr>
              <a:t> list are </a:t>
            </a:r>
            <a:r>
              <a:rPr lang="en-US" altLang="en-US" sz="2400" b="1" dirty="0">
                <a:latin typeface="Arial" panose="020B0604020202020204" pitchFamily="34" charset="0"/>
                <a:cs typeface="Arial" panose="020B0604020202020204" pitchFamily="34" charset="0"/>
              </a:rPr>
              <a:t>redone</a:t>
            </a:r>
          </a:p>
          <a:p>
            <a:pPr lvl="2" indent="-3429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b="1" spc="-5" dirty="0">
              <a:latin typeface="Arial" panose="020B0604020202020204" pitchFamily="34" charset="0"/>
              <a:ea typeface="Verdana" pitchFamily="34" charset="0"/>
              <a:cs typeface="Arial" panose="020B0604020202020204" pitchFamily="34" charset="0"/>
            </a:endParaRPr>
          </a:p>
          <a:p>
            <a:pPr lvl="2" indent="-3429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Transactions in </a:t>
            </a:r>
            <a:r>
              <a:rPr lang="en-US" altLang="en-US" sz="2400" b="1" dirty="0">
                <a:latin typeface="Arial" panose="020B0604020202020204" pitchFamily="34" charset="0"/>
                <a:cs typeface="Arial" panose="020B0604020202020204" pitchFamily="34" charset="0"/>
              </a:rPr>
              <a:t>active</a:t>
            </a:r>
            <a:r>
              <a:rPr lang="en-US" altLang="en-US" sz="2400" dirty="0">
                <a:latin typeface="Arial" panose="020B0604020202020204" pitchFamily="34" charset="0"/>
                <a:cs typeface="Arial" panose="020B0604020202020204" pitchFamily="34" charset="0"/>
              </a:rPr>
              <a:t> list are </a:t>
            </a:r>
            <a:r>
              <a:rPr lang="en-US" altLang="en-US" sz="2400" i="1" dirty="0">
                <a:latin typeface="Arial" panose="020B0604020202020204" pitchFamily="34" charset="0"/>
                <a:cs typeface="Arial" panose="020B0604020202020204" pitchFamily="34" charset="0"/>
              </a:rPr>
              <a:t>ignored</a:t>
            </a: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112282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210937" y="245447"/>
            <a:ext cx="9321420"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DEFERRED UPDATE (NO-UNDO/REDO) RECOVERY PROTOCOL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Text Box 3">
            <a:extLst>
              <a:ext uri="{FF2B5EF4-FFF2-40B4-BE49-F238E27FC236}">
                <a16:creationId xmlns:a16="http://schemas.microsoft.com/office/drawing/2014/main" id="{4257DD19-71F1-48B0-7C78-45932727B9B5}"/>
              </a:ext>
            </a:extLst>
          </p:cNvPr>
          <p:cNvSpPr txBox="1">
            <a:spLocks noChangeArrowheads="1"/>
          </p:cNvSpPr>
          <p:nvPr/>
        </p:nvSpPr>
        <p:spPr bwMode="auto">
          <a:xfrm>
            <a:off x="1781670" y="1010443"/>
            <a:ext cx="8814397" cy="4722813"/>
          </a:xfrm>
          <a:prstGeom prst="rect">
            <a:avLst/>
          </a:prstGeom>
          <a:noFill/>
          <a:ln>
            <a:noFill/>
          </a:ln>
        </p:spPr>
        <p:txBody>
          <a:bodyPr lIns="0" tIns="0" rIns="0" bIns="0"/>
          <a:lstStyle/>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b="1" dirty="0">
              <a:latin typeface="Arial" panose="020B0604020202020204" pitchFamily="34" charset="0"/>
              <a:cs typeface="Arial" panose="020B0604020202020204" pitchFamily="34" charset="0"/>
            </a:endParaRP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Advantage: </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Only </a:t>
            </a:r>
            <a:r>
              <a:rPr lang="en-US" altLang="en-US" sz="2400" b="1" dirty="0">
                <a:latin typeface="Arial" panose="020B0604020202020204" pitchFamily="34" charset="0"/>
                <a:cs typeface="Arial" panose="020B0604020202020204" pitchFamily="34" charset="0"/>
              </a:rPr>
              <a:t>REDO</a:t>
            </a:r>
            <a:r>
              <a:rPr lang="en-US" altLang="en-US" sz="2400" dirty="0">
                <a:latin typeface="Arial" panose="020B0604020202020204" pitchFamily="34" charset="0"/>
                <a:cs typeface="Arial" panose="020B0604020202020204" pitchFamily="34" charset="0"/>
              </a:rPr>
              <a:t> is needed during recovery.</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spc="-5" dirty="0">
              <a:latin typeface="Arial" panose="020B0604020202020204" pitchFamily="34" charset="0"/>
              <a:ea typeface="Verdana" pitchFamily="34" charset="0"/>
              <a:cs typeface="Arial" panose="020B0604020202020204" pitchFamily="34" charset="0"/>
            </a:endParaRP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Disadvantage: </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Many buffers may be idle while waiting for transactions that updated them to commit.</a:t>
            </a: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spc="-5" dirty="0">
              <a:latin typeface="Arial" panose="020B0604020202020204" pitchFamily="34" charset="0"/>
              <a:ea typeface="Verdana" pitchFamily="34" charset="0"/>
              <a:cs typeface="Arial" panose="020B0604020202020204" pitchFamily="34" charset="0"/>
            </a:endParaRP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system may run out of cache buffers when requests are made by new transactions</a:t>
            </a: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4022882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7060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UNDO/NO-REDO RECOVERY PROTOCOL</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Text Box 3">
            <a:extLst>
              <a:ext uri="{FF2B5EF4-FFF2-40B4-BE49-F238E27FC236}">
                <a16:creationId xmlns:a16="http://schemas.microsoft.com/office/drawing/2014/main" id="{C51A135A-8955-E36A-4DBA-5C60EF6D9393}"/>
              </a:ext>
            </a:extLst>
          </p:cNvPr>
          <p:cNvSpPr txBox="1">
            <a:spLocks noChangeArrowheads="1"/>
          </p:cNvSpPr>
          <p:nvPr/>
        </p:nvSpPr>
        <p:spPr bwMode="auto">
          <a:xfrm>
            <a:off x="1990725" y="869571"/>
            <a:ext cx="7811149" cy="4722813"/>
          </a:xfrm>
          <a:prstGeom prst="rect">
            <a:avLst/>
          </a:prstGeom>
          <a:noFill/>
          <a:ln>
            <a:noFill/>
          </a:ln>
        </p:spPr>
        <p:txBody>
          <a:bodyPr lIns="0" tIns="0" rIns="0" bIns="0"/>
          <a:lstStyle/>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b="1" dirty="0">
              <a:latin typeface="Arial" panose="020B0604020202020204" pitchFamily="34" charset="0"/>
              <a:cs typeface="Arial" panose="020B0604020202020204" pitchFamily="34" charset="0"/>
            </a:endParaRP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In this method, </a:t>
            </a:r>
            <a:r>
              <a:rPr lang="en-US" altLang="en-US" sz="2400" b="1" dirty="0">
                <a:latin typeface="Arial" panose="020B0604020202020204" pitchFamily="34" charset="0"/>
                <a:cs typeface="Arial" panose="020B0604020202020204" pitchFamily="34" charset="0"/>
              </a:rPr>
              <a:t>FORCE</a:t>
            </a:r>
            <a:r>
              <a:rPr lang="en-US" altLang="en-US" sz="2400" dirty="0">
                <a:latin typeface="Arial" panose="020B0604020202020204" pitchFamily="34" charset="0"/>
                <a:cs typeface="Arial" panose="020B0604020202020204" pitchFamily="34" charset="0"/>
              </a:rPr>
              <a:t> rule is imposed by system</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spc="-5" dirty="0">
              <a:latin typeface="Arial" panose="020B0604020202020204" pitchFamily="34" charset="0"/>
              <a:ea typeface="Verdana" pitchFamily="34" charset="0"/>
              <a:cs typeface="Arial" panose="020B0604020202020204" pitchFamily="34" charset="0"/>
            </a:endParaRP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spc="-5" dirty="0">
              <a:latin typeface="Arial" panose="020B0604020202020204" pitchFamily="34" charset="0"/>
              <a:ea typeface="Verdana" pitchFamily="34" charset="0"/>
              <a:cs typeface="Arial" panose="020B0604020202020204" pitchFamily="34" charset="0"/>
            </a:endParaRP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Transactions in active list are </a:t>
            </a:r>
            <a:r>
              <a:rPr lang="en-US" altLang="en-US" sz="2400" b="1" dirty="0">
                <a:latin typeface="Arial" panose="020B0604020202020204" pitchFamily="34" charset="0"/>
                <a:cs typeface="Arial" panose="020B0604020202020204" pitchFamily="34" charset="0"/>
              </a:rPr>
              <a:t>undone</a:t>
            </a: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b="1" spc="-5" dirty="0">
              <a:latin typeface="Arial" panose="020B0604020202020204" pitchFamily="34" charset="0"/>
              <a:ea typeface="Verdana" pitchFamily="34" charset="0"/>
              <a:cs typeface="Arial" panose="020B0604020202020204" pitchFamily="34" charset="0"/>
            </a:endParaRP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b="1" spc="-5" dirty="0">
              <a:latin typeface="Arial" panose="020B0604020202020204" pitchFamily="34" charset="0"/>
              <a:ea typeface="Verdana" pitchFamily="34" charset="0"/>
              <a:cs typeface="Arial" panose="020B0604020202020204" pitchFamily="34" charset="0"/>
            </a:endParaRP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Transactions in committed list are ignored</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spc="-5" dirty="0">
              <a:latin typeface="Arial" panose="020B0604020202020204" pitchFamily="34" charset="0"/>
              <a:ea typeface="Verdana" pitchFamily="34" charset="0"/>
              <a:cs typeface="Arial" panose="020B0604020202020204" pitchFamily="34" charset="0"/>
            </a:endParaRP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336641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026429" y="318851"/>
            <a:ext cx="6680798"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UNDO/NO-REDO RECOVERY PROTOCOL         (Cont..)</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Text Box 3">
            <a:extLst>
              <a:ext uri="{FF2B5EF4-FFF2-40B4-BE49-F238E27FC236}">
                <a16:creationId xmlns:a16="http://schemas.microsoft.com/office/drawing/2014/main" id="{2E2DF092-AA4A-93B1-A6E1-717DE8F4506C}"/>
              </a:ext>
            </a:extLst>
          </p:cNvPr>
          <p:cNvSpPr txBox="1">
            <a:spLocks noChangeArrowheads="1"/>
          </p:cNvSpPr>
          <p:nvPr/>
        </p:nvSpPr>
        <p:spPr bwMode="auto">
          <a:xfrm>
            <a:off x="300251" y="1010443"/>
            <a:ext cx="11341289" cy="4722813"/>
          </a:xfrm>
          <a:prstGeom prst="rect">
            <a:avLst/>
          </a:prstGeom>
          <a:noFill/>
          <a:ln>
            <a:noFill/>
          </a:ln>
        </p:spPr>
        <p:txBody>
          <a:bodyPr lIns="0" tIns="0" rIns="0" bIns="0"/>
          <a:lstStyle/>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Advantage: </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Only </a:t>
            </a:r>
            <a:r>
              <a:rPr lang="en-US" altLang="en-US" sz="2400" b="1" dirty="0">
                <a:latin typeface="Arial" panose="020B0604020202020204" pitchFamily="34" charset="0"/>
                <a:cs typeface="Arial" panose="020B0604020202020204" pitchFamily="34" charset="0"/>
              </a:rPr>
              <a:t>UNDO</a:t>
            </a:r>
            <a:r>
              <a:rPr lang="en-US" altLang="en-US" sz="2400" dirty="0">
                <a:latin typeface="Arial" panose="020B0604020202020204" pitchFamily="34" charset="0"/>
                <a:cs typeface="Arial" panose="020B0604020202020204" pitchFamily="34" charset="0"/>
              </a:rPr>
              <a:t> is needed.</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spc="-5" dirty="0">
              <a:latin typeface="Arial" panose="020B0604020202020204" pitchFamily="34" charset="0"/>
              <a:ea typeface="Verdana" pitchFamily="34" charset="0"/>
              <a:cs typeface="Arial" panose="020B0604020202020204" pitchFamily="34" charset="0"/>
            </a:endParaRP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Disadvantage: </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Commit of a transaction is delayed until all its changes are force-written to disk.</a:t>
            </a: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spc="-5" dirty="0">
              <a:latin typeface="Arial" panose="020B0604020202020204" pitchFamily="34" charset="0"/>
              <a:ea typeface="Verdana" pitchFamily="34" charset="0"/>
              <a:cs typeface="Arial" panose="020B0604020202020204" pitchFamily="34" charset="0"/>
            </a:endParaRP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Some buffers may be written to disk multiple times if they are updated by several transactions</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spc="-5" dirty="0">
              <a:latin typeface="Arial" panose="020B0604020202020204" pitchFamily="34" charset="0"/>
              <a:ea typeface="Verdana" pitchFamily="34" charset="0"/>
              <a:cs typeface="Arial" panose="020B0604020202020204" pitchFamily="34" charset="0"/>
            </a:endParaRP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404848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9" name="Rectangle 2">
            <a:extLst>
              <a:ext uri="{FF2B5EF4-FFF2-40B4-BE49-F238E27FC236}">
                <a16:creationId xmlns:a16="http://schemas.microsoft.com/office/drawing/2014/main" id="{6A1847FB-18D8-4F69-3EB6-E4F84C9A1BDB}"/>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11" name="Line 4">
            <a:extLst>
              <a:ext uri="{FF2B5EF4-FFF2-40B4-BE49-F238E27FC236}">
                <a16:creationId xmlns:a16="http://schemas.microsoft.com/office/drawing/2014/main" id="{E40DCAE4-7E65-448C-D1E3-5C1A2032E001}"/>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Rectangle 2">
            <a:extLst>
              <a:ext uri="{FF2B5EF4-FFF2-40B4-BE49-F238E27FC236}">
                <a16:creationId xmlns:a16="http://schemas.microsoft.com/office/drawing/2014/main" id="{A436352C-BB40-EB38-32E1-EA76BB6034D1}"/>
              </a:ext>
            </a:extLst>
          </p:cNvPr>
          <p:cNvSpPr txBox="1">
            <a:spLocks noChangeArrowheads="1"/>
          </p:cNvSpPr>
          <p:nvPr/>
        </p:nvSpPr>
        <p:spPr>
          <a:xfrm>
            <a:off x="508000" y="1752600"/>
            <a:ext cx="11361738" cy="655638"/>
          </a:xfrm>
          <a:prstGeom prst="rect">
            <a:avLst/>
          </a:prstGeom>
        </p:spPr>
        <p:txBody>
          <a:bodyPr lIns="90000" tIns="46800" rIns="90000" bIns="468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b="1">
              <a:cs typeface="Times New Roman" panose="02020603050405020304" pitchFamily="18" charset="0"/>
            </a:endParaRPr>
          </a:p>
          <a:p>
            <a:pPr lvl="1" indent="0" algn="just">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a:p>
            <a:pPr lvl="1" indent="0">
              <a:lnSpc>
                <a:spcPct val="80000"/>
              </a:lnSpc>
              <a:spcBef>
                <a:spcPts val="300"/>
              </a:spcBef>
              <a:buFontTx/>
              <a:buNone/>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pPr>
            <a:endParaRPr lang="en-US" altLang="en-US" sz="1200">
              <a:cs typeface="Times New Roman" panose="02020603050405020304" pitchFamily="18" charset="0"/>
            </a:endParaRPr>
          </a:p>
        </p:txBody>
      </p:sp>
      <p:sp>
        <p:nvSpPr>
          <p:cNvPr id="5" name="Line 4">
            <a:extLst>
              <a:ext uri="{FF2B5EF4-FFF2-40B4-BE49-F238E27FC236}">
                <a16:creationId xmlns:a16="http://schemas.microsoft.com/office/drawing/2014/main" id="{288D23D5-6221-CE84-BB0C-A5E6E58E6552}"/>
              </a:ext>
            </a:extLst>
          </p:cNvPr>
          <p:cNvSpPr>
            <a:spLocks noChangeShapeType="1"/>
          </p:cNvSpPr>
          <p:nvPr/>
        </p:nvSpPr>
        <p:spPr bwMode="auto">
          <a:xfrm>
            <a:off x="1181100" y="2800350"/>
            <a:ext cx="1588" cy="1143000"/>
          </a:xfrm>
          <a:prstGeom prst="line">
            <a:avLst/>
          </a:prstGeom>
          <a:noFill/>
          <a:ln w="9360">
            <a:solidFill>
              <a:srgbClr val="FFFFFF"/>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Text Box 3">
            <a:extLst>
              <a:ext uri="{FF2B5EF4-FFF2-40B4-BE49-F238E27FC236}">
                <a16:creationId xmlns:a16="http://schemas.microsoft.com/office/drawing/2014/main" id="{48101438-C8CC-792C-4C3A-6EF2364A1BFF}"/>
              </a:ext>
            </a:extLst>
          </p:cNvPr>
          <p:cNvSpPr txBox="1">
            <a:spLocks noChangeArrowheads="1"/>
          </p:cNvSpPr>
          <p:nvPr/>
        </p:nvSpPr>
        <p:spPr bwMode="auto">
          <a:xfrm>
            <a:off x="1181100" y="1197117"/>
            <a:ext cx="10487736" cy="4722813"/>
          </a:xfrm>
          <a:prstGeom prst="rect">
            <a:avLst/>
          </a:prstGeom>
          <a:noFill/>
          <a:ln>
            <a:noFill/>
          </a:ln>
        </p:spPr>
        <p:txBody>
          <a:bodyPr lIns="0" tIns="0" rIns="0" bIns="0"/>
          <a:lstStyle/>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It is used most often in practice</a:t>
            </a: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Because the other two methods having disadvantages</a:t>
            </a: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altLang="en-US" sz="2400" dirty="0">
              <a:latin typeface="Arial" panose="020B0604020202020204" pitchFamily="34" charset="0"/>
              <a:cs typeface="Arial" panose="020B0604020202020204" pitchFamily="34" charset="0"/>
            </a:endParaRP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Here to minimize REDO, check pointing is used</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spc="-5" dirty="0">
              <a:latin typeface="Arial" panose="020B0604020202020204" pitchFamily="34" charset="0"/>
              <a:ea typeface="Verdana" pitchFamily="34" charset="0"/>
              <a:cs typeface="Arial" panose="020B0604020202020204" pitchFamily="34" charset="0"/>
            </a:endParaRP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dirty="0">
                <a:latin typeface="Arial" panose="020B0604020202020204" pitchFamily="34" charset="0"/>
                <a:cs typeface="Arial" panose="020B0604020202020204" pitchFamily="34" charset="0"/>
              </a:rPr>
              <a:t>The recovery performs in this method:</a:t>
            </a:r>
          </a:p>
          <a:p>
            <a:pPr marL="571500" lvl="2" algn="just" fontAlgn="auto">
              <a:lnSpc>
                <a:spcPct val="80000"/>
              </a:lnSpc>
              <a:spcBef>
                <a:spcPts val="0"/>
              </a:spcBef>
              <a:spcAft>
                <a:spcPts val="0"/>
              </a:spcAft>
              <a:buClr>
                <a:srgbClr val="FF0000"/>
              </a:buCl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spc="-5" dirty="0">
              <a:latin typeface="Arial" panose="020B0604020202020204" pitchFamily="34" charset="0"/>
              <a:ea typeface="Verdana" pitchFamily="34" charset="0"/>
              <a:cs typeface="Arial" panose="020B0604020202020204" pitchFamily="34" charset="0"/>
            </a:endParaRP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Undo</a:t>
            </a:r>
            <a:r>
              <a:rPr lang="en-US" altLang="en-US" sz="2400" dirty="0">
                <a:latin typeface="Arial" panose="020B0604020202020204" pitchFamily="34" charset="0"/>
                <a:cs typeface="Arial" panose="020B0604020202020204" pitchFamily="34" charset="0"/>
              </a:rPr>
              <a:t> of a transaction if it is in the active transaction list</a:t>
            </a: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endParaRPr lang="en-US" sz="2400" spc="-5" dirty="0">
              <a:latin typeface="Arial" panose="020B0604020202020204" pitchFamily="34" charset="0"/>
              <a:ea typeface="Verdana" pitchFamily="34" charset="0"/>
              <a:cs typeface="Arial" panose="020B0604020202020204" pitchFamily="34" charset="0"/>
            </a:endParaRPr>
          </a:p>
          <a:p>
            <a:pPr marL="1028700" lvl="2" indent="-457200" algn="just" fontAlgn="auto">
              <a:lnSpc>
                <a:spcPct val="80000"/>
              </a:lnSpc>
              <a:spcBef>
                <a:spcPts val="0"/>
              </a:spcBef>
              <a:spcAft>
                <a:spcPts val="0"/>
              </a:spcAft>
              <a:buClr>
                <a:srgbClr val="FF0000"/>
              </a:buClr>
              <a:buFont typeface="Arial" panose="020B0604020202020204" pitchFamily="34" charset="0"/>
              <a:buChar char="•"/>
              <a:tabLst>
                <a:tab pos="0" algn="l"/>
                <a:tab pos="112713" algn="l"/>
                <a:tab pos="569913" algn="l"/>
                <a:tab pos="1027113" algn="l"/>
                <a:tab pos="1484313" algn="l"/>
                <a:tab pos="1941513" algn="l"/>
                <a:tab pos="2398713" algn="l"/>
                <a:tab pos="2855913" algn="l"/>
                <a:tab pos="3313113" algn="l"/>
                <a:tab pos="3770313" algn="l"/>
                <a:tab pos="4227513" algn="l"/>
                <a:tab pos="4684713" algn="l"/>
                <a:tab pos="5141913" algn="l"/>
                <a:tab pos="5599113" algn="l"/>
                <a:tab pos="6056313" algn="l"/>
                <a:tab pos="6513513" algn="l"/>
                <a:tab pos="6970713" algn="l"/>
                <a:tab pos="7427913" algn="l"/>
                <a:tab pos="7885113" algn="l"/>
                <a:tab pos="8342313" algn="l"/>
                <a:tab pos="8799513" algn="l"/>
              </a:tabLst>
              <a:defRPr/>
            </a:pPr>
            <a:r>
              <a:rPr lang="en-US" altLang="en-US" sz="2400" b="1" dirty="0">
                <a:latin typeface="Arial" panose="020B0604020202020204" pitchFamily="34" charset="0"/>
                <a:cs typeface="Arial" panose="020B0604020202020204" pitchFamily="34" charset="0"/>
              </a:rPr>
              <a:t>Redo</a:t>
            </a:r>
            <a:r>
              <a:rPr lang="en-US" altLang="en-US" sz="2400" dirty="0">
                <a:latin typeface="Arial" panose="020B0604020202020204" pitchFamily="34" charset="0"/>
                <a:cs typeface="Arial" panose="020B0604020202020204" pitchFamily="34" charset="0"/>
              </a:rPr>
              <a:t> of a transaction if it is in the list of transactions that committed since the last checkpoint</a:t>
            </a:r>
            <a:endParaRPr lang="en-US" sz="2400" spc="-5" dirty="0">
              <a:latin typeface="Arial" panose="020B0604020202020204" pitchFamily="34" charset="0"/>
              <a:ea typeface="Verdana" pitchFamily="34" charset="0"/>
              <a:cs typeface="Arial" panose="020B0604020202020204" pitchFamily="34" charset="0"/>
            </a:endParaRPr>
          </a:p>
          <a:p>
            <a:pPr>
              <a:spcBef>
                <a:spcPts val="538"/>
              </a:spcBef>
              <a:spcAft>
                <a:spcPts val="1000"/>
              </a:spcAft>
              <a:defRPr/>
            </a:pPr>
            <a:endParaRPr lang="en-US" sz="2400" dirty="0">
              <a:solidFill>
                <a:srgbClr val="000000"/>
              </a:solidFill>
              <a:latin typeface="Arial" panose="020B0604020202020204" pitchFamily="34" charset="0"/>
              <a:cs typeface="Arial" panose="020B0604020202020204" pitchFamily="34" charset="0"/>
            </a:endParaRPr>
          </a:p>
          <a:p>
            <a:pPr>
              <a:spcBef>
                <a:spcPts val="538"/>
              </a:spcBef>
              <a:spcAft>
                <a:spcPts val="1000"/>
              </a:spcAft>
              <a:defRPr/>
            </a:pPr>
            <a:endParaRPr lang="en-US" sz="2400" dirty="0">
              <a:latin typeface="Arial" panose="020B0604020202020204" pitchFamily="34" charset="0"/>
              <a:cs typeface="Arial" panose="020B0604020202020204" pitchFamily="34" charset="0"/>
            </a:endParaRPr>
          </a:p>
        </p:txBody>
      </p:sp>
      <p:sp>
        <p:nvSpPr>
          <p:cNvPr id="10" name="Rounded Rectangle 17">
            <a:extLst>
              <a:ext uri="{FF2B5EF4-FFF2-40B4-BE49-F238E27FC236}">
                <a16:creationId xmlns:a16="http://schemas.microsoft.com/office/drawing/2014/main" id="{0F2E30D4-6F86-49D1-9276-85CE0E9B3E3E}"/>
              </a:ext>
            </a:extLst>
          </p:cNvPr>
          <p:cNvSpPr/>
          <p:nvPr/>
        </p:nvSpPr>
        <p:spPr>
          <a:xfrm>
            <a:off x="2848470" y="300038"/>
            <a:ext cx="6680798"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UNDO/NO-REDO RECOVERY PROTOCOL         (Cont..)</a:t>
            </a:r>
          </a:p>
        </p:txBody>
      </p:sp>
    </p:spTree>
    <p:extLst>
      <p:ext uri="{BB962C8B-B14F-4D97-AF65-F5344CB8AC3E}">
        <p14:creationId xmlns:p14="http://schemas.microsoft.com/office/powerpoint/2010/main" val="686720439"/>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2599648" y="906183"/>
            <a:ext cx="8277552" cy="1009507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en-US" sz="2000" b="1" dirty="0" err="1"/>
              <a:t>Multiversion</a:t>
            </a:r>
            <a:r>
              <a:rPr lang="en-US" altLang="en-US" sz="2000" b="1" dirty="0"/>
              <a:t> CCMs</a:t>
            </a:r>
          </a:p>
          <a:p>
            <a:pPr marL="285750" indent="-285750">
              <a:lnSpc>
                <a:spcPct val="150000"/>
              </a:lnSpc>
              <a:buFont typeface="Arial" panose="020B0604020202020204" pitchFamily="34" charset="0"/>
              <a:buChar char="•"/>
            </a:pPr>
            <a:r>
              <a:rPr lang="en-US" altLang="en-US" sz="2000" b="1" dirty="0" err="1">
                <a:solidFill>
                  <a:srgbClr val="000000"/>
                </a:solidFill>
                <a:cs typeface="Times New Roman" panose="02020603050405020304" pitchFamily="18" charset="0"/>
              </a:rPr>
              <a:t>Multiversion</a:t>
            </a:r>
            <a:r>
              <a:rPr lang="en-US" altLang="en-US" sz="2000" b="1" dirty="0">
                <a:solidFill>
                  <a:srgbClr val="000000"/>
                </a:solidFill>
                <a:cs typeface="Times New Roman" panose="02020603050405020304" pitchFamily="18" charset="0"/>
              </a:rPr>
              <a:t> Timestamp Ordering</a:t>
            </a:r>
          </a:p>
          <a:p>
            <a:pPr marL="285750" indent="-285750">
              <a:lnSpc>
                <a:spcPct val="150000"/>
              </a:lnSpc>
              <a:buFont typeface="Arial" panose="020B0604020202020204" pitchFamily="34" charset="0"/>
              <a:buChar char="•"/>
            </a:pPr>
            <a:r>
              <a:rPr lang="en-US" altLang="en-US" sz="2000" b="1" dirty="0" err="1">
                <a:solidFill>
                  <a:srgbClr val="000000"/>
                </a:solidFill>
                <a:cs typeface="Times New Roman" panose="02020603050405020304" pitchFamily="18" charset="0"/>
              </a:rPr>
              <a:t>Multiversion</a:t>
            </a:r>
            <a:r>
              <a:rPr lang="en-US" altLang="en-US" sz="2000" b="1" dirty="0">
                <a:solidFill>
                  <a:srgbClr val="000000"/>
                </a:solidFill>
                <a:cs typeface="Times New Roman" panose="02020603050405020304" pitchFamily="18" charset="0"/>
              </a:rPr>
              <a:t> 2PL Using Certify Locks</a:t>
            </a:r>
          </a:p>
          <a:p>
            <a:pPr marL="285750" indent="-285750">
              <a:lnSpc>
                <a:spcPct val="150000"/>
              </a:lnSpc>
              <a:buFont typeface="Arial" panose="020B0604020202020204" pitchFamily="34" charset="0"/>
              <a:buChar char="•"/>
            </a:pPr>
            <a:r>
              <a:rPr lang="en-US" altLang="en-US" sz="2000" b="1" dirty="0"/>
              <a:t>Recovery Concepts</a:t>
            </a:r>
          </a:p>
          <a:p>
            <a:pPr marL="285750" indent="-285750">
              <a:lnSpc>
                <a:spcPct val="150000"/>
              </a:lnSpc>
              <a:buFont typeface="Arial" panose="020B0604020202020204" pitchFamily="34" charset="0"/>
              <a:buChar char="•"/>
            </a:pPr>
            <a:r>
              <a:rPr lang="en-US" altLang="en-US" sz="2000" b="1" dirty="0">
                <a:cs typeface="Times New Roman" panose="02020603050405020304" pitchFamily="18" charset="0"/>
              </a:rPr>
              <a:t>UNDO and REDO Recovery Actions</a:t>
            </a:r>
            <a:endParaRPr lang="en-US" altLang="en-US" sz="2000" dirty="0">
              <a:latin typeface="Arial" panose="020B0604020202020204" pitchFamily="34" charset="0"/>
            </a:endParaRPr>
          </a:p>
          <a:p>
            <a:pPr marL="285750" indent="-285750">
              <a:lnSpc>
                <a:spcPct val="150000"/>
              </a:lnSpc>
              <a:buFont typeface="Arial" panose="020B0604020202020204" pitchFamily="34" charset="0"/>
              <a:buChar char="•"/>
            </a:pPr>
            <a:r>
              <a:rPr lang="en-US" altLang="en-US" sz="2000" b="1" dirty="0">
                <a:cs typeface="Times New Roman" panose="02020603050405020304" pitchFamily="18" charset="0"/>
              </a:rPr>
              <a:t>Write-ahead Logging Protocol</a:t>
            </a:r>
            <a:endParaRPr lang="en-US" altLang="en-US" sz="2000" dirty="0">
              <a:latin typeface="Arial" panose="020B0604020202020204" pitchFamily="34" charset="0"/>
            </a:endParaRPr>
          </a:p>
          <a:p>
            <a:pPr marL="285750" indent="-285750">
              <a:lnSpc>
                <a:spcPct val="150000"/>
              </a:lnSpc>
              <a:buFont typeface="Arial" panose="020B0604020202020204" pitchFamily="34" charset="0"/>
              <a:buChar char="•"/>
            </a:pPr>
            <a:r>
              <a:rPr lang="en-US" altLang="en-US" sz="2000" b="1" dirty="0">
                <a:cs typeface="Times New Roman" panose="02020603050405020304" pitchFamily="18" charset="0"/>
              </a:rPr>
              <a:t>Checkpointing</a:t>
            </a:r>
            <a:endParaRPr lang="en-US" altLang="en-US" sz="2000" b="1" dirty="0">
              <a:solidFill>
                <a:srgbClr val="000000"/>
              </a:solidFill>
              <a:cs typeface="Times New Roman" panose="02020603050405020304" pitchFamily="18" charset="0"/>
            </a:endParaRPr>
          </a:p>
          <a:p>
            <a:pPr marL="285750" indent="-285750">
              <a:lnSpc>
                <a:spcPct val="150000"/>
              </a:lnSpc>
              <a:buFont typeface="Arial" panose="020B0604020202020204" pitchFamily="34" charset="0"/>
              <a:buChar char="•"/>
            </a:pPr>
            <a:r>
              <a:rPr lang="en-US" altLang="en-US" sz="2000" b="1" dirty="0">
                <a:cs typeface="Times New Roman" panose="02020603050405020304" pitchFamily="18" charset="0"/>
              </a:rPr>
              <a:t>Other Database Recovery Concepts</a:t>
            </a:r>
            <a:endParaRPr lang="en-US" altLang="en-US" sz="2000" dirty="0">
              <a:latin typeface="Arial" panose="020B0604020202020204" pitchFamily="34" charset="0"/>
            </a:endParaRPr>
          </a:p>
          <a:p>
            <a:pPr marL="285750" indent="-285750">
              <a:lnSpc>
                <a:spcPct val="150000"/>
              </a:lnSpc>
              <a:buFont typeface="Arial" panose="020B0604020202020204" pitchFamily="34" charset="0"/>
              <a:buChar char="•"/>
            </a:pPr>
            <a:r>
              <a:rPr lang="en-US" altLang="en-US" sz="2000" b="1" dirty="0">
                <a:cs typeface="Times New Roman" panose="02020603050405020304" pitchFamily="18" charset="0"/>
              </a:rPr>
              <a:t>Deferred Update (NO-UNDO/REDO) Recovery Protocol</a:t>
            </a:r>
            <a:endParaRPr lang="en-US" altLang="en-US" sz="2000" b="1" dirty="0">
              <a:latin typeface="Arial" panose="020B0604020202020204" pitchFamily="34" charset="0"/>
            </a:endParaRPr>
          </a:p>
          <a:p>
            <a:pPr marL="285750" indent="-285750">
              <a:lnSpc>
                <a:spcPct val="150000"/>
              </a:lnSpc>
              <a:buFont typeface="Arial" panose="020B0604020202020204" pitchFamily="34" charset="0"/>
              <a:buChar char="•"/>
            </a:pPr>
            <a:r>
              <a:rPr lang="en-US" altLang="en-US" sz="2000" b="1" dirty="0">
                <a:cs typeface="Times New Roman" panose="02020603050405020304" pitchFamily="18" charset="0"/>
              </a:rPr>
              <a:t>UNDO/NO-REDO Recovery Protocol</a:t>
            </a:r>
            <a:endParaRPr lang="en-US" altLang="en-US" sz="2000" b="1" dirty="0">
              <a:latin typeface="Arial" panose="020B0604020202020204" pitchFamily="34" charset="0"/>
            </a:endParaRPr>
          </a:p>
          <a:p>
            <a:pPr marL="285750" indent="-285750">
              <a:lnSpc>
                <a:spcPct val="150000"/>
              </a:lnSpc>
              <a:buFont typeface="Arial" panose="020B0604020202020204" pitchFamily="34" charset="0"/>
              <a:buChar char="•"/>
            </a:pPr>
            <a:r>
              <a:rPr lang="en-US" altLang="en-US" sz="2000" b="1" dirty="0">
                <a:cs typeface="Times New Roman" panose="02020603050405020304" pitchFamily="18" charset="0"/>
              </a:rPr>
              <a:t>UNDO/REDO Recovery Protocol</a:t>
            </a:r>
            <a:endParaRPr lang="en-US" altLang="en-US" sz="2000" b="1" dirty="0">
              <a:latin typeface="Arial" panose="020B0604020202020204" pitchFamily="34" charset="0"/>
            </a:endParaRPr>
          </a:p>
          <a:p>
            <a:endParaRPr lang="en-US" altLang="en-US" sz="2000" b="1" dirty="0">
              <a:solidFill>
                <a:srgbClr val="000000"/>
              </a:solidFill>
              <a:cs typeface="Times New Roman" panose="02020603050405020304" pitchFamily="18" charset="0"/>
            </a:endParaRP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dirty="0"/>
              <a:t>A lock that prevents the use of any tables in the database from one transaction while another transaction is being processed is called a</a:t>
            </a:r>
            <a:br>
              <a:rPr lang="en-US" sz="1600" dirty="0"/>
            </a:b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sz="1600" dirty="0">
                <a:highlight>
                  <a:srgbClr val="FFFF00"/>
                </a:highlight>
              </a:rPr>
              <a:t>a</a:t>
            </a:r>
            <a:r>
              <a:rPr lang="en-US" sz="1600" b="1" dirty="0">
                <a:highlight>
                  <a:srgbClr val="FFFF00"/>
                </a:highlight>
              </a:rPr>
              <a:t>) Database-level lock</a:t>
            </a:r>
            <a:br>
              <a:rPr lang="en-US" sz="1400" dirty="0"/>
            </a:br>
            <a:r>
              <a:rPr lang="en-US" sz="1600" dirty="0"/>
              <a:t>b) Table-level lock</a:t>
            </a:r>
            <a:br>
              <a:rPr lang="en-US" sz="1400" dirty="0"/>
            </a:br>
            <a:r>
              <a:rPr lang="en-US" sz="1600" dirty="0"/>
              <a:t>c) Page-level lock</a:t>
            </a:r>
            <a:br>
              <a:rPr lang="en-US" sz="1400" dirty="0"/>
            </a:br>
            <a:r>
              <a:rPr lang="en-US" sz="1600" dirty="0"/>
              <a:t>d) Row-level lock</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dirty="0"/>
              <a:t>_______ means that data used during the execution of a transaction cannot be used by a second transaction until the first one is completed.</a:t>
            </a:r>
            <a:br>
              <a:rPr lang="en-US" sz="1600" dirty="0"/>
            </a:b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en-US" dirty="0"/>
              <a:t>a) Serializability</a:t>
            </a:r>
            <a:br>
              <a:rPr lang="en-US" sz="1600" dirty="0"/>
            </a:br>
            <a:r>
              <a:rPr lang="en-US" dirty="0"/>
              <a:t>b) Atomicity</a:t>
            </a:r>
            <a:br>
              <a:rPr lang="en-US" sz="1600" dirty="0"/>
            </a:br>
            <a:r>
              <a:rPr lang="en-US" b="1" dirty="0">
                <a:highlight>
                  <a:srgbClr val="FFFF00"/>
                </a:highlight>
              </a:rPr>
              <a:t>c) Isolation</a:t>
            </a:r>
            <a:br>
              <a:rPr lang="en-US" sz="1600" dirty="0"/>
            </a:br>
            <a:r>
              <a:rPr lang="en-US" dirty="0"/>
              <a:t>d) Time stamping</a:t>
            </a:r>
            <a:endParaRPr lang="en-US" sz="1600"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00332" y="1167618"/>
            <a:ext cx="9608234" cy="3080330"/>
          </a:xfrm>
          <a:prstGeom prst="rect">
            <a:avLst/>
          </a:prstGeom>
          <a:noFill/>
        </p:spPr>
        <p:txBody>
          <a:bodyPr wrap="square" rtlCol="0">
            <a:spAutoFit/>
          </a:bodyPr>
          <a:lstStyle/>
          <a:p>
            <a:pPr marL="800100" lvl="1" indent="-342900" algn="just" eaLnBrk="1" hangingPunct="1">
              <a:spcBef>
                <a:spcPts val="1250"/>
              </a:spcBef>
              <a:buSzPct val="45000"/>
              <a:buAutoNum type="arabicPeriod"/>
            </a:pPr>
            <a:r>
              <a:rPr lang="en-US" sz="2000" b="1" dirty="0"/>
              <a:t>Describe </a:t>
            </a:r>
            <a:r>
              <a:rPr lang="en-US" altLang="en-US" sz="2000" b="1" dirty="0" err="1"/>
              <a:t>Multiversion</a:t>
            </a:r>
            <a:r>
              <a:rPr lang="en-US" altLang="en-US" sz="2000" b="1" dirty="0"/>
              <a:t> Timestamp Ordering (TO)</a:t>
            </a:r>
          </a:p>
          <a:p>
            <a:pPr marL="800100" lvl="1" indent="-342900" algn="just" eaLnBrk="1" hangingPunct="1">
              <a:spcBef>
                <a:spcPts val="1250"/>
              </a:spcBef>
              <a:buSzPct val="45000"/>
              <a:buAutoNum type="arabicPeriod"/>
            </a:pPr>
            <a:r>
              <a:rPr lang="en-US" altLang="en-US" sz="2000" b="1" dirty="0"/>
              <a:t>Describe </a:t>
            </a:r>
            <a:r>
              <a:rPr lang="en-US" altLang="en-US" sz="2000" b="1" dirty="0" err="1"/>
              <a:t>Multiversion</a:t>
            </a:r>
            <a:r>
              <a:rPr lang="en-US" altLang="en-US" sz="2000" b="1" dirty="0"/>
              <a:t> Two-phase Locking (2PL)</a:t>
            </a:r>
          </a:p>
          <a:p>
            <a:pPr marL="800100" lvl="1" indent="-342900" algn="just">
              <a:spcBef>
                <a:spcPts val="1250"/>
              </a:spcBef>
              <a:buSzPct val="45000"/>
              <a:buFontTx/>
              <a:buAutoNum type="arabicPeriod"/>
            </a:pPr>
            <a:r>
              <a:rPr lang="en-US" sz="2000" b="1" dirty="0"/>
              <a:t>List out the problems that can arise during concurrent execution of two or more transactions? Discuss methods to prevent or avoid these problems.</a:t>
            </a:r>
          </a:p>
          <a:p>
            <a:pPr marL="800100" lvl="1" indent="-342900" algn="just">
              <a:spcBef>
                <a:spcPts val="1250"/>
              </a:spcBef>
              <a:buSzPct val="45000"/>
              <a:buFontTx/>
              <a:buAutoNum type="arabicPeriod"/>
            </a:pPr>
            <a:r>
              <a:rPr lang="en-US" sz="2000" b="1" dirty="0"/>
              <a:t>Summarize the concept of database recovery?</a:t>
            </a:r>
          </a:p>
          <a:p>
            <a:pPr marL="800100" lvl="1" indent="-342900" algn="just">
              <a:spcBef>
                <a:spcPts val="1250"/>
              </a:spcBef>
              <a:buSzPct val="45000"/>
              <a:buFontTx/>
              <a:buAutoNum type="arabicPeriod"/>
            </a:pPr>
            <a:r>
              <a:rPr lang="en-IN" sz="2000" b="1" dirty="0"/>
              <a:t>Describe Log Based Recovery</a:t>
            </a:r>
            <a:endParaRPr lang="en-US" sz="2000" b="1" dirty="0"/>
          </a:p>
          <a:p>
            <a:pPr marL="800100" lvl="1" indent="-342900" algn="just">
              <a:spcBef>
                <a:spcPts val="1250"/>
              </a:spcBef>
              <a:buSzPct val="45000"/>
              <a:buFontTx/>
              <a:buAutoNum type="arabicPeriod"/>
            </a:pPr>
            <a:endParaRPr lang="en-US" sz="2000" b="1"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695614" y="826424"/>
            <a:ext cx="10800055" cy="5450851"/>
          </a:xfrm>
          <a:prstGeom prst="rect">
            <a:avLst/>
          </a:prstGeom>
          <a:noFill/>
        </p:spPr>
        <p:txBody>
          <a:bodyPr wrap="square" rtlCol="0">
            <a:spAutoFit/>
          </a:bodyPr>
          <a:lstStyle/>
          <a:p>
            <a:pPr>
              <a:lnSpc>
                <a:spcPct val="150000"/>
              </a:lnSpc>
            </a:pPr>
            <a:r>
              <a:rPr lang="en-US" b="1" dirty="0"/>
              <a:t>Reference Books:</a:t>
            </a:r>
            <a:endParaRPr lang="en-US" dirty="0"/>
          </a:p>
          <a:p>
            <a:pPr>
              <a:lnSpc>
                <a:spcPct val="150000"/>
              </a:lnSpc>
            </a:pPr>
            <a:r>
              <a:rPr lang="en-US" dirty="0"/>
              <a:t>1. </a:t>
            </a:r>
            <a:r>
              <a:rPr lang="en-IN" sz="1800" kern="0" dirty="0">
                <a:solidFill>
                  <a:prstClr val="black"/>
                </a:solidFill>
                <a:ea typeface="Times New Roman" panose="02020603050405020304" pitchFamily="18" charset="0"/>
                <a:cs typeface="Times New Roman" panose="02020603050405020304" pitchFamily="18" charset="0"/>
              </a:rPr>
              <a:t>Database System Concepts, Sixth Edition, Abraham </a:t>
            </a:r>
            <a:r>
              <a:rPr lang="en-IN" sz="1800" kern="0" dirty="0" err="1">
                <a:solidFill>
                  <a:prstClr val="black"/>
                </a:solidFill>
                <a:ea typeface="Times New Roman" panose="02020603050405020304" pitchFamily="18" charset="0"/>
                <a:cs typeface="Times New Roman" panose="02020603050405020304" pitchFamily="18" charset="0"/>
              </a:rPr>
              <a:t>Silberschatz</a:t>
            </a:r>
            <a:r>
              <a:rPr lang="en-IN" sz="1800" kern="0" dirty="0">
                <a:solidFill>
                  <a:prstClr val="black"/>
                </a:solidFill>
                <a:ea typeface="Times New Roman" panose="02020603050405020304" pitchFamily="18" charset="0"/>
                <a:cs typeface="Times New Roman" panose="02020603050405020304" pitchFamily="18" charset="0"/>
              </a:rPr>
              <a:t>, Yale University Henry, F. </a:t>
            </a:r>
            <a:r>
              <a:rPr lang="en-IN" sz="1800" kern="0" dirty="0" err="1">
                <a:solidFill>
                  <a:prstClr val="black"/>
                </a:solidFill>
                <a:ea typeface="Times New Roman" panose="02020603050405020304" pitchFamily="18" charset="0"/>
                <a:cs typeface="Times New Roman" panose="02020603050405020304" pitchFamily="18" charset="0"/>
              </a:rPr>
              <a:t>Korth</a:t>
            </a:r>
            <a:r>
              <a:rPr lang="en-IN" sz="1800" kern="0" dirty="0">
                <a:solidFill>
                  <a:prstClr val="black"/>
                </a:solidFill>
                <a:ea typeface="Times New Roman" panose="02020603050405020304" pitchFamily="18" charset="0"/>
                <a:cs typeface="Times New Roman" panose="02020603050405020304" pitchFamily="18" charset="0"/>
              </a:rPr>
              <a:t> Lehigh University, S. Sudarshan Indian Institute of Technology, Bombay. </a:t>
            </a:r>
            <a:endParaRPr lang="en-US" sz="1800" dirty="0"/>
          </a:p>
          <a:p>
            <a:pPr>
              <a:lnSpc>
                <a:spcPct val="150000"/>
              </a:lnSpc>
            </a:pPr>
            <a:r>
              <a:rPr lang="en-US" sz="1800" dirty="0"/>
              <a:t>2. Fundamentals of Database Systems, 7</a:t>
            </a:r>
            <a:r>
              <a:rPr lang="en-US" sz="1800" baseline="30000" dirty="0"/>
              <a:t>th</a:t>
            </a:r>
            <a:r>
              <a:rPr lang="en-US" sz="1800" dirty="0"/>
              <a:t> Edition, </a:t>
            </a:r>
            <a:r>
              <a:rPr lang="en-US" sz="1800" dirty="0" err="1"/>
              <a:t>RamezElmasri</a:t>
            </a:r>
            <a:r>
              <a:rPr lang="en-US" sz="1800" dirty="0"/>
              <a:t>, University of Texas at Arlington, Shamkant B. Navathe, University of </a:t>
            </a:r>
            <a:r>
              <a:rPr lang="en-US" sz="1800" dirty="0" err="1"/>
              <a:t>Texasat</a:t>
            </a:r>
            <a:r>
              <a:rPr lang="en-US" sz="1800" dirty="0"/>
              <a:t> Arlington.</a:t>
            </a:r>
          </a:p>
          <a:p>
            <a:pPr>
              <a:lnSpc>
                <a:spcPct val="150000"/>
              </a:lnSpc>
            </a:pPr>
            <a:r>
              <a:rPr lang="en-US" sz="1800" dirty="0"/>
              <a:t>3. An Introduction to Database Systems by Bipin C. Desai</a:t>
            </a:r>
          </a:p>
          <a:p>
            <a:pPr>
              <a:lnSpc>
                <a:spcPct val="150000"/>
              </a:lnSpc>
            </a:pPr>
            <a:endParaRPr lang="en-US" dirty="0"/>
          </a:p>
          <a:p>
            <a:pPr>
              <a:lnSpc>
                <a:spcPct val="150000"/>
              </a:lnSpc>
            </a:pPr>
            <a:r>
              <a:rPr lang="en-US" b="1" dirty="0"/>
              <a:t>Sites and Web links:</a:t>
            </a:r>
          </a:p>
          <a:p>
            <a:pPr>
              <a:lnSpc>
                <a:spcPct val="150000"/>
              </a:lnSpc>
            </a:pPr>
            <a:r>
              <a:rPr lang="en-US" dirty="0"/>
              <a:t>1. https://www.geeksforgeeks.org/concurrency-control-techniques/</a:t>
            </a:r>
          </a:p>
          <a:p>
            <a:pPr>
              <a:lnSpc>
                <a:spcPct val="150000"/>
              </a:lnSpc>
            </a:pPr>
            <a:r>
              <a:rPr lang="en-US" dirty="0"/>
              <a:t>2. https://www.brainkart.com/article/Multiversion-Concurrency-Control-Techniques_11565/</a:t>
            </a:r>
          </a:p>
          <a:p>
            <a:pPr>
              <a:lnSpc>
                <a:spcPct val="150000"/>
              </a:lnSpc>
            </a:pPr>
            <a:r>
              <a:rPr lang="en-US" dirty="0"/>
              <a:t>3. https://citizenchoice.in/course/Data-Base-Management-System-Question-Answers-/Chapter%205:%20Concurrency%20Control%20Techniques/Multi-Version-Concurrency-Control</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Course Name</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http://purl.org/dc/dcmitype/"/>
    <ds:schemaRef ds:uri="0125a647-8023-46ae-ae6e-85cf36d841bd"/>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purl.org/dc/terms/"/>
    <ds:schemaRef ds:uri="http://schemas.openxmlformats.org/package/2006/metadata/core-properties"/>
    <ds:schemaRef ds:uri="d43ee83c-3e71-4748-8ebc-8eaadf793425"/>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6797</TotalTime>
  <Words>2318</Words>
  <Application>Microsoft Office PowerPoint</Application>
  <PresentationFormat>Widescreen</PresentationFormat>
  <Paragraphs>412</Paragraphs>
  <Slides>34</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0</vt:i4>
      </vt:variant>
      <vt:variant>
        <vt:lpstr>Slide Titles</vt:lpstr>
      </vt:variant>
      <vt:variant>
        <vt:i4>34</vt:i4>
      </vt:variant>
    </vt:vector>
  </HeadingPairs>
  <TitlesOfParts>
    <vt:vector size="43" baseType="lpstr">
      <vt:lpstr>Arial</vt:lpstr>
      <vt:lpstr>BioRhyme ExtraBold</vt:lpstr>
      <vt:lpstr>Calibri</vt:lpstr>
      <vt:lpstr>Calibri Light</vt:lpstr>
      <vt:lpstr>Poppins</vt:lpstr>
      <vt:lpstr>Times New Roman</vt:lpstr>
      <vt:lpstr>Verdana</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Dr.veeraswamy</dc:creator>
  <cp:lastModifiedBy>VEERASWAMY AMMISETTY</cp:lastModifiedBy>
  <cp:revision>41</cp:revision>
  <dcterms:created xsi:type="dcterms:W3CDTF">2020-02-08T09:57:44Z</dcterms:created>
  <dcterms:modified xsi:type="dcterms:W3CDTF">2025-06-28T06:01:17Z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