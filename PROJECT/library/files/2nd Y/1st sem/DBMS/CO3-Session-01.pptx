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notesMasterIdLst>
    <p:notesMasterId r:id="rId37"/>
  </p:notesMasterIdLst>
  <p:sldIdLst>
    <p:sldId id="271" r:id="rId4"/>
    <p:sldId id="300" r:id="rId5"/>
    <p:sldId id="258" r:id="rId6"/>
    <p:sldId id="288" r:id="rId7"/>
    <p:sldId id="290" r:id="rId8"/>
    <p:sldId id="305" r:id="rId9"/>
    <p:sldId id="306" r:id="rId10"/>
    <p:sldId id="307" r:id="rId11"/>
    <p:sldId id="312" r:id="rId12"/>
    <p:sldId id="313" r:id="rId13"/>
    <p:sldId id="317" r:id="rId14"/>
    <p:sldId id="314" r:id="rId15"/>
    <p:sldId id="319" r:id="rId16"/>
    <p:sldId id="318" r:id="rId17"/>
    <p:sldId id="315" r:id="rId18"/>
    <p:sldId id="316" r:id="rId19"/>
    <p:sldId id="308" r:id="rId20"/>
    <p:sldId id="309" r:id="rId21"/>
    <p:sldId id="299" r:id="rId22"/>
    <p:sldId id="320" r:id="rId23"/>
    <p:sldId id="287" r:id="rId24"/>
    <p:sldId id="301" r:id="rId25"/>
    <p:sldId id="302" r:id="rId26"/>
    <p:sldId id="303" r:id="rId27"/>
    <p:sldId id="304" r:id="rId28"/>
    <p:sldId id="328" r:id="rId29"/>
    <p:sldId id="322" r:id="rId30"/>
    <p:sldId id="321" r:id="rId31"/>
    <p:sldId id="326" r:id="rId32"/>
    <p:sldId id="327" r:id="rId33"/>
    <p:sldId id="323" r:id="rId34"/>
    <p:sldId id="324" r:id="rId35"/>
    <p:sldId id="325"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E84845"/>
    <a:srgbClr val="FAD2D2"/>
    <a:srgbClr val="F89E4C"/>
    <a:srgbClr val="A81E24"/>
    <a:srgbClr val="FFF2CC"/>
    <a:srgbClr val="CF2F33"/>
    <a:srgbClr val="BA25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C2CAE5DE-1441-4C43-8E47-E2505F53B66E}" type="datetimeFigureOut">
              <a:rPr lang="en-US"/>
              <a:pPr>
                <a:defRPr/>
              </a:pPr>
              <a:t>6/8/2025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DF835117-5670-4A5B-8852-099FDAE1574F}" type="slidenum">
              <a:rPr lang="en-US" altLang="en-US"/>
              <a:pPr/>
              <a:t>‹#›</a:t>
            </a:fld>
            <a:endParaRPr lang="en-US" altLang="en-US"/>
          </a:p>
        </p:txBody>
      </p:sp>
    </p:spTree>
    <p:extLst>
      <p:ext uri="{BB962C8B-B14F-4D97-AF65-F5344CB8AC3E}">
        <p14:creationId xmlns:p14="http://schemas.microsoft.com/office/powerpoint/2010/main" val="17837735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Google Shape;461;p16:notes"/>
          <p:cNvSpPr>
            <a:spLocks noGrp="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eaLnBrk="1" hangingPunct="1">
              <a:spcBef>
                <a:spcPct val="0"/>
              </a:spcBef>
            </a:pPr>
            <a:endParaRPr lang="en-US" altLang="en-US"/>
          </a:p>
        </p:txBody>
      </p:sp>
      <p:sp>
        <p:nvSpPr>
          <p:cNvPr id="14339" name="Google Shape;462;p16:notes"/>
          <p:cNvSpPr>
            <a:spLocks noGrp="1" noRot="1" noChangeAspect="1" noTextEdi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41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C98EFDA-C99B-4E39-B5E8-1B5082054BF3}" type="slidenum">
              <a:rPr lang="en-US" altLang="en-US">
                <a:latin typeface="Calibri" pitchFamily="34" charset="0"/>
              </a:rPr>
              <a:pPr/>
              <a:t>3</a:t>
            </a:fld>
            <a:endParaRPr lang="en-US" alt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6C1DD39C-AA88-4626-8192-1E634DBDA7F8}" type="datetimeFigureOut">
              <a:rPr lang="en-US"/>
              <a:pPr>
                <a:defRPr/>
              </a:pPr>
              <a:t>6/8/2025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281A5561-3D52-4A5D-A043-6C04BC6B7643}" type="slidenum">
              <a:rPr lang="en-US" altLang="en-US"/>
              <a:pPr/>
              <a:t>‹#›</a:t>
            </a:fld>
            <a:endParaRPr lang="en-US" altLang="en-US"/>
          </a:p>
        </p:txBody>
      </p:sp>
    </p:spTree>
    <p:extLst>
      <p:ext uri="{BB962C8B-B14F-4D97-AF65-F5344CB8AC3E}">
        <p14:creationId xmlns:p14="http://schemas.microsoft.com/office/powerpoint/2010/main" val="528899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57C06979-02A0-4C7D-BCD1-F751675385F9}" type="datetimeFigureOut">
              <a:rPr lang="en-US"/>
              <a:pPr>
                <a:defRPr/>
              </a:pPr>
              <a:t>6/8/2025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ED37DDD6-87F8-477E-B447-4024B6933648}" type="slidenum">
              <a:rPr lang="en-US" altLang="en-US"/>
              <a:pPr/>
              <a:t>‹#›</a:t>
            </a:fld>
            <a:endParaRPr lang="en-US" altLang="en-US"/>
          </a:p>
        </p:txBody>
      </p:sp>
    </p:spTree>
    <p:extLst>
      <p:ext uri="{BB962C8B-B14F-4D97-AF65-F5344CB8AC3E}">
        <p14:creationId xmlns:p14="http://schemas.microsoft.com/office/powerpoint/2010/main" val="373638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2DB10595-3146-414C-9F91-96A3F42C7481}" type="datetimeFigureOut">
              <a:rPr lang="en-US"/>
              <a:pPr>
                <a:defRPr/>
              </a:pPr>
              <a:t>6/8/2025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DCC82E95-2F98-4E01-83CA-E4E535084934}" type="slidenum">
              <a:rPr lang="en-US" altLang="en-US"/>
              <a:pPr/>
              <a:t>‹#›</a:t>
            </a:fld>
            <a:endParaRPr lang="en-US" altLang="en-US"/>
          </a:p>
        </p:txBody>
      </p:sp>
    </p:spTree>
    <p:extLst>
      <p:ext uri="{BB962C8B-B14F-4D97-AF65-F5344CB8AC3E}">
        <p14:creationId xmlns:p14="http://schemas.microsoft.com/office/powerpoint/2010/main" val="1886598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C81B08BC-74D8-4338-9676-F571A4E6DB39}" type="datetimeFigureOut">
              <a:rPr lang="en-US"/>
              <a:pPr>
                <a:defRPr/>
              </a:pPr>
              <a:t>6/8/2025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92FBCB4E-4C89-49B8-93B2-049DDAEF2A88}" type="slidenum">
              <a:rPr lang="en-US" altLang="en-US"/>
              <a:pPr/>
              <a:t>‹#›</a:t>
            </a:fld>
            <a:endParaRPr lang="en-US" altLang="en-US"/>
          </a:p>
        </p:txBody>
      </p:sp>
    </p:spTree>
    <p:extLst>
      <p:ext uri="{BB962C8B-B14F-4D97-AF65-F5344CB8AC3E}">
        <p14:creationId xmlns:p14="http://schemas.microsoft.com/office/powerpoint/2010/main" val="913204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0CA3E59A-EE59-4A00-BECD-6AFE3D100429}" type="datetimeFigureOut">
              <a:rPr lang="en-US"/>
              <a:pPr>
                <a:defRPr/>
              </a:pPr>
              <a:t>6/8/2025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83F36EAB-A3D1-4FE2-BB95-969EBA4A8110}" type="slidenum">
              <a:rPr lang="en-US" altLang="en-US"/>
              <a:pPr/>
              <a:t>‹#›</a:t>
            </a:fld>
            <a:endParaRPr lang="en-US" altLang="en-US"/>
          </a:p>
        </p:txBody>
      </p:sp>
    </p:spTree>
    <p:extLst>
      <p:ext uri="{BB962C8B-B14F-4D97-AF65-F5344CB8AC3E}">
        <p14:creationId xmlns:p14="http://schemas.microsoft.com/office/powerpoint/2010/main" val="3117751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1AAD1A95-78BB-42F8-9826-D368A61B9293}" type="datetimeFigureOut">
              <a:rPr lang="en-US"/>
              <a:pPr>
                <a:defRPr/>
              </a:pPr>
              <a:t>6/8/2025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28C50090-89D2-45DD-AADD-6B8DB96096B3}" type="slidenum">
              <a:rPr lang="en-US" altLang="en-US"/>
              <a:pPr/>
              <a:t>‹#›</a:t>
            </a:fld>
            <a:endParaRPr lang="en-US" altLang="en-US"/>
          </a:p>
        </p:txBody>
      </p:sp>
    </p:spTree>
    <p:extLst>
      <p:ext uri="{BB962C8B-B14F-4D97-AF65-F5344CB8AC3E}">
        <p14:creationId xmlns:p14="http://schemas.microsoft.com/office/powerpoint/2010/main" val="3690460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CF7EF6A7-37B3-4985-8836-5DAA613B5412}" type="datetimeFigureOut">
              <a:rPr lang="en-US"/>
              <a:pPr>
                <a:defRPr/>
              </a:pPr>
              <a:t>6/8/2025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ED5291CE-A608-4226-A668-F384E2B9C87A}" type="slidenum">
              <a:rPr lang="en-US" altLang="en-US"/>
              <a:pPr/>
              <a:t>‹#›</a:t>
            </a:fld>
            <a:endParaRPr lang="en-US" altLang="en-US"/>
          </a:p>
        </p:txBody>
      </p:sp>
    </p:spTree>
    <p:extLst>
      <p:ext uri="{BB962C8B-B14F-4D97-AF65-F5344CB8AC3E}">
        <p14:creationId xmlns:p14="http://schemas.microsoft.com/office/powerpoint/2010/main" val="2563162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D69FB6F3-B006-4A7E-8BD0-5E78E76D848C}" type="datetimeFigureOut">
              <a:rPr lang="en-US"/>
              <a:pPr>
                <a:defRPr/>
              </a:pPr>
              <a:t>6/8/2025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18BC15C9-335F-41F1-9574-EAD8F8A25DA1}" type="slidenum">
              <a:rPr lang="en-US" altLang="en-US"/>
              <a:pPr/>
              <a:t>‹#›</a:t>
            </a:fld>
            <a:endParaRPr lang="en-US" altLang="en-US"/>
          </a:p>
        </p:txBody>
      </p:sp>
    </p:spTree>
    <p:extLst>
      <p:ext uri="{BB962C8B-B14F-4D97-AF65-F5344CB8AC3E}">
        <p14:creationId xmlns:p14="http://schemas.microsoft.com/office/powerpoint/2010/main" val="4061534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44D3E8CD-8219-4B94-B5A0-E548E121767F}" type="datetimeFigureOut">
              <a:rPr lang="en-US"/>
              <a:pPr>
                <a:defRPr/>
              </a:pPr>
              <a:t>6/8/2025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8FD42A8E-3FC4-4A30-8268-875355985476}" type="slidenum">
              <a:rPr lang="en-US" altLang="en-US"/>
              <a:pPr/>
              <a:t>‹#›</a:t>
            </a:fld>
            <a:endParaRPr lang="en-US" altLang="en-US"/>
          </a:p>
        </p:txBody>
      </p:sp>
    </p:spTree>
    <p:extLst>
      <p:ext uri="{BB962C8B-B14F-4D97-AF65-F5344CB8AC3E}">
        <p14:creationId xmlns:p14="http://schemas.microsoft.com/office/powerpoint/2010/main" val="2913372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DBDCE84E-8F79-4D02-8383-D082986331D0}" type="datetimeFigureOut">
              <a:rPr lang="en-US"/>
              <a:pPr>
                <a:defRPr/>
              </a:pPr>
              <a:t>6/8/2025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898989"/>
                </a:solidFill>
                <a:latin typeface="Calibri" pitchFamily="34" charset="0"/>
              </a:defRPr>
            </a:lvl1pPr>
          </a:lstStyle>
          <a:p>
            <a:fld id="{34B85868-484B-411C-BDE4-BDED85E5E91B}" type="slidenum">
              <a:rPr lang="en-US" altLang="en-US"/>
              <a:pPr/>
              <a:t>‹#›</a:t>
            </a:fld>
            <a:endParaRPr lang="en-US" altLang="en-US"/>
          </a:p>
        </p:txBody>
      </p:sp>
    </p:spTree>
    <p:extLst>
      <p:ext uri="{BB962C8B-B14F-4D97-AF65-F5344CB8AC3E}">
        <p14:creationId xmlns:p14="http://schemas.microsoft.com/office/powerpoint/2010/main" val="315990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endParaRPr noProof="0">
              <a:sym typeface="Calibri"/>
            </a:endParaRPr>
          </a:p>
        </p:txBody>
      </p:sp>
    </p:spTree>
    <p:extLst>
      <p:ext uri="{BB962C8B-B14F-4D97-AF65-F5344CB8AC3E}">
        <p14:creationId xmlns:p14="http://schemas.microsoft.com/office/powerpoint/2010/main" val="1420992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alpha val="20784"/>
          </a:srgbClr>
        </a:solidFill>
        <a:effectLst/>
      </p:bgPr>
    </p:bg>
    <p:spTree>
      <p:nvGrpSpPr>
        <p:cNvPr id="1" name=""/>
        <p:cNvGrpSpPr/>
        <p:nvPr/>
      </p:nvGrpSpPr>
      <p:grpSpPr>
        <a:xfrm>
          <a:off x="0" y="0"/>
          <a:ext cx="0" cy="0"/>
          <a:chOff x="0" y="0"/>
          <a:chExt cx="0" cy="0"/>
        </a:xfrm>
      </p:grpSpPr>
      <p:pic>
        <p:nvPicPr>
          <p:cNvPr id="1026" name="Picture 10" descr="Background pattern&#10;&#10;Description automatically generated"/>
          <p:cNvPicPr>
            <a:picLocks noChangeAspect="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 name="Picture 13" descr="Background pattern&#10;&#10;Description automatically generated"/>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blip>
          <a:srcRect r="26721" b="8103"/>
          <a:stretch/>
        </p:blipFill>
        <p:spPr>
          <a:xfrm>
            <a:off x="8376334" y="4104641"/>
            <a:ext cx="3815666" cy="2707640"/>
          </a:xfrm>
          <a:prstGeom prst="rect">
            <a:avLst/>
          </a:prstGeom>
        </p:spPr>
      </p:pic>
      <p:sp>
        <p:nvSpPr>
          <p:cNvPr id="1030" name="TextBox 6"/>
          <p:cNvSpPr txBox="1">
            <a:spLocks noChangeArrowheads="1"/>
          </p:cNvSpPr>
          <p:nvPr userDrawn="1"/>
        </p:nvSpPr>
        <p:spPr bwMode="auto">
          <a:xfrm>
            <a:off x="0" y="6602413"/>
            <a:ext cx="2132013" cy="215900"/>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800">
                <a:solidFill>
                  <a:srgbClr val="F2F2F2"/>
                </a:solidFill>
                <a:latin typeface="Calibri" panose="020F0502020204030204" pitchFamily="34" charset="0"/>
              </a:rPr>
              <a:t>CREATED BY K. VICTOR BABU</a:t>
            </a:r>
          </a:p>
        </p:txBody>
      </p:sp>
    </p:spTree>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86"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slide" Target="slide28.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slide" Target="slide26.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youtube.com/watch?v=NFk9sDJk50U"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3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813"/>
            <a:ext cx="12192000" cy="6858001"/>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315" name="Google Shape;464;p1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7475"/>
            <a:ext cx="6027738" cy="662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6" name="Google Shape;476;p16"/>
          <p:cNvSpPr txBox="1"/>
          <p:nvPr/>
        </p:nvSpPr>
        <p:spPr>
          <a:xfrm>
            <a:off x="4754563" y="1827213"/>
            <a:ext cx="7277100" cy="1692275"/>
          </a:xfrm>
          <a:prstGeom prst="rect">
            <a:avLst/>
          </a:prstGeom>
          <a:noFill/>
          <a:ln>
            <a:noFill/>
          </a:ln>
        </p:spPr>
        <p:txBody>
          <a:bodyPr spcFirstLastPara="1" lIns="91425" tIns="45700" rIns="91425" bIns="45700">
            <a:spAutoFit/>
          </a:bodyPr>
          <a:lstStyle/>
          <a:p>
            <a:pPr algn="ctr" eaLnBrk="1" fontAlgn="auto" hangingPunct="1">
              <a:spcBef>
                <a:spcPts val="0"/>
              </a:spcBef>
              <a:spcAft>
                <a:spcPts val="0"/>
              </a:spcAft>
              <a:defRPr/>
            </a:pPr>
            <a:r>
              <a:rPr lang="en-US" sz="3200" b="1" cap="all" dirty="0">
                <a:ln/>
                <a:solidFill>
                  <a:srgbClr val="C00000"/>
                </a:solidFill>
                <a:latin typeface="+mn-lt"/>
                <a:cs typeface="Poppins" panose="00000500000000000000" pitchFamily="2" charset="0"/>
                <a:sym typeface="BioRhyme ExtraBold"/>
              </a:rPr>
              <a:t>COURSE NAME: DBMS</a:t>
            </a:r>
          </a:p>
          <a:p>
            <a:pPr algn="ctr" eaLnBrk="1" fontAlgn="auto" hangingPunct="1">
              <a:spcBef>
                <a:spcPts val="0"/>
              </a:spcBef>
              <a:spcAft>
                <a:spcPts val="0"/>
              </a:spcAft>
              <a:defRPr/>
            </a:pPr>
            <a:r>
              <a:rPr lang="en-US" sz="3200" b="1" cap="all" dirty="0">
                <a:ln/>
                <a:solidFill>
                  <a:srgbClr val="C00000"/>
                </a:solidFill>
                <a:latin typeface="+mn-lt"/>
                <a:cs typeface="Poppins" panose="00000500000000000000" pitchFamily="2" charset="0"/>
                <a:sym typeface="BioRhyme ExtraBold"/>
              </a:rPr>
              <a:t>COURSE CODE:24AD2103 </a:t>
            </a:r>
          </a:p>
          <a:p>
            <a:pPr algn="ctr" eaLnBrk="1" fontAlgn="auto" hangingPunct="1">
              <a:spcBef>
                <a:spcPts val="0"/>
              </a:spcBef>
              <a:spcAft>
                <a:spcPts val="0"/>
              </a:spcAft>
              <a:defRPr/>
            </a:pPr>
            <a:endParaRPr lang="en-US" sz="2000" b="1" dirty="0">
              <a:solidFill>
                <a:schemeClr val="bg1">
                  <a:lumMod val="50000"/>
                </a:schemeClr>
              </a:solidFill>
              <a:latin typeface="+mn-lt"/>
              <a:ea typeface="BioRhyme ExtraBold"/>
              <a:cs typeface="Poppins" panose="00000500000000000000" pitchFamily="2" charset="0"/>
              <a:sym typeface="BioRhyme ExtraBold"/>
            </a:endParaRPr>
          </a:p>
          <a:p>
            <a:pPr algn="ctr" eaLnBrk="1" fontAlgn="auto" hangingPunct="1">
              <a:spcBef>
                <a:spcPts val="0"/>
              </a:spcBef>
              <a:spcAft>
                <a:spcPts val="0"/>
              </a:spcAft>
              <a:defRPr/>
            </a:pPr>
            <a:r>
              <a:rPr lang="en-US" sz="2000" b="1" dirty="0">
                <a:latin typeface="Poppins"/>
                <a:cs typeface="Poppins"/>
                <a:sym typeface="BioRhyme ExtraBold"/>
              </a:rPr>
              <a:t>Topic:</a:t>
            </a:r>
            <a:r>
              <a:rPr lang="en-US" sz="2000" b="1" dirty="0">
                <a:solidFill>
                  <a:schemeClr val="bg1">
                    <a:lumMod val="50000"/>
                  </a:schemeClr>
                </a:solidFill>
                <a:latin typeface="+mn-lt"/>
                <a:cs typeface="Poppins" panose="00000500000000000000" pitchFamily="2" charset="0"/>
                <a:sym typeface="BioRhyme ExtraBold"/>
              </a:rPr>
              <a:t> </a:t>
            </a:r>
            <a:r>
              <a:rPr lang="en-US" sz="2000" b="1" dirty="0">
                <a:latin typeface="Poppins"/>
                <a:cs typeface="Poppins"/>
              </a:rPr>
              <a:t>Guidelines For Good Database Design</a:t>
            </a:r>
            <a:endParaRPr lang="en-US" sz="2000" b="1" dirty="0">
              <a:solidFill>
                <a:schemeClr val="bg1">
                  <a:lumMod val="50000"/>
                </a:schemeClr>
              </a:solidFill>
              <a:latin typeface="+mn-lt"/>
              <a:ea typeface="BioRhyme ExtraBold"/>
              <a:cs typeface="Poppins" panose="00000500000000000000" pitchFamily="2" charset="0"/>
              <a:sym typeface="BioRhyme ExtraBold"/>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320" name="Google Shape;475;p16"/>
          <p:cNvSpPr txBox="1">
            <a:spLocks noChangeArrowheads="1"/>
          </p:cNvSpPr>
          <p:nvPr/>
        </p:nvSpPr>
        <p:spPr bwMode="auto">
          <a:xfrm>
            <a:off x="6096000" y="830263"/>
            <a:ext cx="45958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ltLang="en-US" sz="4000">
                <a:solidFill>
                  <a:srgbClr val="C00000"/>
                </a:solidFill>
                <a:latin typeface="Calibri" pitchFamily="34" charset="0"/>
                <a:ea typeface="Poppins"/>
                <a:cs typeface="Poppins"/>
              </a:rPr>
              <a:t>Department of CSE</a:t>
            </a:r>
          </a:p>
        </p:txBody>
      </p:sp>
      <p:sp>
        <p:nvSpPr>
          <p:cNvPr id="8" name="Google Shape;502;p17"/>
          <p:cNvSpPr/>
          <p:nvPr/>
        </p:nvSpPr>
        <p:spPr>
          <a:xfrm>
            <a:off x="7348538" y="4614863"/>
            <a:ext cx="2235200" cy="452437"/>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lIns="91425" tIns="45700" rIns="91425" bIns="45700" anchor="ctr"/>
          <a:lstStyle/>
          <a:p>
            <a:pPr algn="ctr" eaLnBrk="1" fontAlgn="auto" hangingPunct="1">
              <a:spcBef>
                <a:spcPts val="0"/>
              </a:spcBef>
              <a:spcAft>
                <a:spcPts val="0"/>
              </a:spcAft>
              <a:defRPr/>
            </a:pPr>
            <a:r>
              <a:rPr lang="en-US" sz="2400" dirty="0">
                <a:solidFill>
                  <a:schemeClr val="lt1"/>
                </a:solidFill>
                <a:latin typeface="+mn-lt"/>
                <a:ea typeface="Calibri"/>
                <a:cs typeface="Poppins" panose="00000500000000000000" pitchFamily="2" charset="0"/>
                <a:sym typeface="Calibri"/>
              </a:rPr>
              <a:t>Session - 16</a:t>
            </a:r>
            <a:endParaRPr sz="2400" dirty="0">
              <a:solidFill>
                <a:schemeClr val="lt1"/>
              </a:solidFill>
              <a:latin typeface="+mn-lt"/>
              <a:ea typeface="Calibri"/>
              <a:cs typeface="Poppins" panose="00000500000000000000" pitchFamily="2" charset="0"/>
              <a:sym typeface="Calibri"/>
            </a:endParaRPr>
          </a:p>
        </p:txBody>
      </p:sp>
      <p:sp>
        <p:nvSpPr>
          <p:cNvPr id="33" name="Rectangle 32"/>
          <p:cNvSpPr/>
          <p:nvPr/>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5" name="Rectangle 34"/>
          <p:cNvSpPr/>
          <p:nvPr/>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324" name="Picture 2" descr="KL Deemed to be University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50" y="82550"/>
            <a:ext cx="2509838"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988" y="84138"/>
            <a:ext cx="3011487"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AIM OF THE SESSION</a:t>
            </a:r>
          </a:p>
        </p:txBody>
      </p:sp>
      <p:sp>
        <p:nvSpPr>
          <p:cNvPr id="5" name="TextBox 4"/>
          <p:cNvSpPr txBox="1"/>
          <p:nvPr/>
        </p:nvSpPr>
        <p:spPr>
          <a:xfrm>
            <a:off x="1752600" y="689854"/>
            <a:ext cx="879157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a:spAutoFit/>
          </a:bodyPr>
          <a:lstStyle/>
          <a:p>
            <a:pPr eaLnBrk="1" fontAlgn="auto" hangingPunct="1">
              <a:lnSpc>
                <a:spcPct val="150000"/>
              </a:lnSpc>
              <a:spcBef>
                <a:spcPts val="0"/>
              </a:spcBef>
              <a:spcAft>
                <a:spcPts val="0"/>
              </a:spcAft>
              <a:defRPr/>
            </a:pPr>
            <a:r>
              <a:rPr lang="en-US" sz="1600" dirty="0">
                <a:latin typeface="Poppins"/>
                <a:cs typeface="Poppins"/>
              </a:rPr>
              <a:t>To familiarize students with the basic concept </a:t>
            </a:r>
            <a:r>
              <a:rPr lang="en-US" sz="1600" b="1" dirty="0">
                <a:latin typeface="Poppins"/>
                <a:cs typeface="Poppins"/>
              </a:rPr>
              <a:t>Database Design</a:t>
            </a:r>
            <a:endParaRPr lang="en-US" sz="1600" dirty="0">
              <a:latin typeface="Poppins"/>
              <a:cs typeface="Poppins"/>
            </a:endParaRPr>
          </a:p>
        </p:txBody>
      </p:sp>
      <p:sp>
        <p:nvSpPr>
          <p:cNvPr id="7" name="Rounded Rectangle 17"/>
          <p:cNvSpPr/>
          <p:nvPr/>
        </p:nvSpPr>
        <p:spPr>
          <a:xfrm>
            <a:off x="4160838" y="1806575"/>
            <a:ext cx="3870325"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INSTRUCTIONAL OBJECTIVES</a:t>
            </a:r>
          </a:p>
        </p:txBody>
      </p:sp>
      <p:sp>
        <p:nvSpPr>
          <p:cNvPr id="9" name="TextBox 8"/>
          <p:cNvSpPr txBox="1"/>
          <p:nvPr/>
        </p:nvSpPr>
        <p:spPr>
          <a:xfrm>
            <a:off x="1752600" y="2438605"/>
            <a:ext cx="8791575" cy="5191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a:spAutoFit/>
          </a:bodyPr>
          <a:lstStyle/>
          <a:p>
            <a:pPr eaLnBrk="1" fontAlgn="auto" hangingPunct="1">
              <a:lnSpc>
                <a:spcPct val="200000"/>
              </a:lnSpc>
              <a:spcBef>
                <a:spcPts val="0"/>
              </a:spcBef>
              <a:spcAft>
                <a:spcPts val="0"/>
              </a:spcAft>
              <a:defRPr/>
            </a:pPr>
            <a:r>
              <a:rPr lang="en-US" sz="1600" dirty="0">
                <a:latin typeface="Poppins"/>
                <a:cs typeface="Poppins"/>
              </a:rPr>
              <a:t>This Session is designed to: </a:t>
            </a:r>
            <a:r>
              <a:rPr lang="en-US" sz="1600" b="1" dirty="0">
                <a:latin typeface="Poppins"/>
                <a:cs typeface="Poppins"/>
              </a:rPr>
              <a:t>Guidelines for good database design</a:t>
            </a:r>
          </a:p>
        </p:txBody>
      </p:sp>
      <p:pic>
        <p:nvPicPr>
          <p:cNvPr id="11" name="Graphic 10" descr="Bullseye outlin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254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Graphic 26" descr="Presentation with checklist outlin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4384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ounded Rectangle 17"/>
          <p:cNvSpPr/>
          <p:nvPr/>
        </p:nvSpPr>
        <p:spPr>
          <a:xfrm>
            <a:off x="4213225" y="4249738"/>
            <a:ext cx="3870325"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LEARNING OUTCOMES</a:t>
            </a:r>
          </a:p>
        </p:txBody>
      </p:sp>
      <p:pic>
        <p:nvPicPr>
          <p:cNvPr id="31" name="Graphic 30" descr="Idea outline"/>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7656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Box 36"/>
          <p:cNvSpPr txBox="1"/>
          <p:nvPr/>
        </p:nvSpPr>
        <p:spPr>
          <a:xfrm>
            <a:off x="1752600" y="4772230"/>
            <a:ext cx="8791575" cy="51668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a:spAutoFit/>
          </a:bodyPr>
          <a:lstStyle/>
          <a:p>
            <a:pPr eaLnBrk="1" fontAlgn="auto" hangingPunct="1">
              <a:lnSpc>
                <a:spcPct val="200000"/>
              </a:lnSpc>
              <a:spcBef>
                <a:spcPts val="0"/>
              </a:spcBef>
              <a:spcAft>
                <a:spcPts val="0"/>
              </a:spcAft>
              <a:defRPr/>
            </a:pPr>
            <a:r>
              <a:rPr lang="en-US" sz="1600" dirty="0">
                <a:latin typeface="Arial"/>
                <a:cs typeface="Arial"/>
              </a:rPr>
              <a:t>At the end of this session, you should be able to</a:t>
            </a:r>
            <a:r>
              <a:rPr lang="en-US" sz="1600" dirty="0">
                <a:latin typeface="Poppins"/>
                <a:cs typeface="Poppins"/>
              </a:rPr>
              <a:t> </a:t>
            </a:r>
            <a:r>
              <a:rPr lang="en-US" sz="1600" b="1" dirty="0">
                <a:latin typeface="Poppins"/>
                <a:cs typeface="Poppins"/>
              </a:rPr>
              <a:t>Basic Concept Database Design</a:t>
            </a:r>
            <a:r>
              <a:rPr lang="en-US" sz="1600" b="1" dirty="0">
                <a:latin typeface="Arial"/>
                <a:cs typeface="Arial"/>
              </a:rPr>
              <a:t> </a:t>
            </a:r>
          </a:p>
        </p:txBody>
      </p:sp>
      <p:pic>
        <p:nvPicPr>
          <p:cNvPr id="15377" name="Picture 2" descr="KL Deemed to be University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900" y="84138"/>
            <a:ext cx="6640513" cy="477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a:t>
            </a:r>
          </a:p>
        </p:txBody>
      </p:sp>
      <p:pic>
        <p:nvPicPr>
          <p:cNvPr id="16387" name="Picture 2" descr="KL Deemed to be University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Box 52"/>
          <p:cNvSpPr txBox="1">
            <a:spLocks noChangeArrowheads="1"/>
          </p:cNvSpPr>
          <p:nvPr/>
        </p:nvSpPr>
        <p:spPr bwMode="auto">
          <a:xfrm>
            <a:off x="1219200" y="717550"/>
            <a:ext cx="10560050" cy="49244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IN" sz="1400" b="1" i="1" u="sng" dirty="0">
              <a:latin typeface="Calibri" panose="020F0502020204030204" pitchFamily="34" charset="0"/>
              <a:ea typeface="Calibri" panose="020F0502020204030204" pitchFamily="34" charset="0"/>
              <a:cs typeface="Times New Roman" panose="02020603050405020304" pitchFamily="18" charset="0"/>
            </a:endParaRPr>
          </a:p>
          <a:p>
            <a:pPr marL="342900" indent="-342900" algn="just" eaLnBrk="1" hangingPunct="1">
              <a:buFont typeface="Wingdings" panose="05000000000000000000" pitchFamily="2" charset="2"/>
              <a:buChar char="Ø"/>
              <a:defRPr/>
            </a:pPr>
            <a:r>
              <a:rPr lang="en-IN" sz="2000" b="1" dirty="0">
                <a:latin typeface="Calibri" panose="020F0502020204030204" pitchFamily="34" charset="0"/>
                <a:ea typeface="Calibri" panose="020F0502020204030204" pitchFamily="34" charset="0"/>
                <a:cs typeface="Times New Roman" panose="02020603050405020304" pitchFamily="18" charset="0"/>
              </a:rPr>
              <a:t>Design</a:t>
            </a:r>
            <a:r>
              <a:rPr lang="en-IN" sz="2000" dirty="0">
                <a:latin typeface="Calibri" panose="020F0502020204030204" pitchFamily="34" charset="0"/>
                <a:ea typeface="Calibri" panose="020F0502020204030204" pitchFamily="34" charset="0"/>
                <a:cs typeface="Times New Roman" panose="02020603050405020304" pitchFamily="18" charset="0"/>
              </a:rPr>
              <a:t> is the </a:t>
            </a:r>
            <a:r>
              <a:rPr lang="en-IN"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process of creating </a:t>
            </a:r>
            <a:r>
              <a:rPr lang="en-IN" sz="2000" dirty="0">
                <a:latin typeface="Calibri" panose="020F0502020204030204" pitchFamily="34" charset="0"/>
                <a:ea typeface="Calibri" panose="020F0502020204030204" pitchFamily="34" charset="0"/>
                <a:cs typeface="Times New Roman" panose="02020603050405020304" pitchFamily="18" charset="0"/>
              </a:rPr>
              <a:t>and </a:t>
            </a:r>
            <a:r>
              <a:rPr lang="en-IN"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planning the construction of a system</a:t>
            </a:r>
            <a:r>
              <a:rPr lang="en-IN" sz="2000" dirty="0">
                <a:latin typeface="Calibri" panose="020F0502020204030204" pitchFamily="34" charset="0"/>
                <a:ea typeface="Calibri" panose="020F0502020204030204" pitchFamily="34" charset="0"/>
                <a:cs typeface="Times New Roman" panose="02020603050405020304" pitchFamily="18" charset="0"/>
              </a:rPr>
              <a:t>, or environment. It involves identifying the needs and constraints of the project, developing a concept or idea, and refining it through iteration until a final design is achieved</a:t>
            </a:r>
          </a:p>
          <a:p>
            <a:pPr marL="342900" indent="-342900" algn="just" eaLnBrk="1" hangingPunct="1">
              <a:buFont typeface="Wingdings" panose="05000000000000000000" pitchFamily="2" charset="2"/>
              <a:buChar char="Ø"/>
              <a:defRPr/>
            </a:pPr>
            <a:r>
              <a:rPr lang="en-IN" sz="2000" b="1" dirty="0">
                <a:latin typeface="Calibri" panose="020F0502020204030204" pitchFamily="34" charset="0"/>
                <a:ea typeface="Calibri" panose="020F0502020204030204" pitchFamily="34" charset="0"/>
                <a:cs typeface="Times New Roman" panose="02020603050405020304" pitchFamily="18" charset="0"/>
              </a:rPr>
              <a:t>In the Context of Database Design</a:t>
            </a:r>
            <a:r>
              <a:rPr lang="en-IN" sz="2000" dirty="0">
                <a:latin typeface="Calibri" panose="020F0502020204030204" pitchFamily="34" charset="0"/>
                <a:ea typeface="Calibri" panose="020F0502020204030204" pitchFamily="34" charset="0"/>
                <a:cs typeface="Times New Roman" panose="02020603050405020304" pitchFamily="18" charset="0"/>
              </a:rPr>
              <a:t>, it involves creating a structured and organized approach to storing and managing data. The goal of database design is to </a:t>
            </a:r>
            <a:r>
              <a:rPr lang="en-IN"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create a database that is efficient</a:t>
            </a:r>
            <a:r>
              <a:rPr lang="en-IN" sz="2000" dirty="0">
                <a:latin typeface="Calibri" panose="020F0502020204030204" pitchFamily="34" charset="0"/>
                <a:ea typeface="Calibri" panose="020F0502020204030204" pitchFamily="34" charset="0"/>
                <a:cs typeface="Times New Roman" panose="02020603050405020304" pitchFamily="18" charset="0"/>
              </a:rPr>
              <a:t>, </a:t>
            </a:r>
            <a:r>
              <a:rPr lang="en-IN"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effective</a:t>
            </a:r>
            <a:r>
              <a:rPr lang="en-IN" sz="2000" dirty="0">
                <a:latin typeface="Calibri" panose="020F0502020204030204" pitchFamily="34" charset="0"/>
                <a:ea typeface="Calibri" panose="020F0502020204030204" pitchFamily="34" charset="0"/>
                <a:cs typeface="Times New Roman" panose="02020603050405020304" pitchFamily="18" charset="0"/>
              </a:rPr>
              <a:t>, and </a:t>
            </a:r>
            <a:r>
              <a:rPr lang="en-IN"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easy to use</a:t>
            </a:r>
            <a:r>
              <a:rPr lang="en-IN" sz="2000" dirty="0">
                <a:latin typeface="Calibri" panose="020F0502020204030204" pitchFamily="34" charset="0"/>
                <a:ea typeface="Calibri" panose="020F0502020204030204" pitchFamily="34" charset="0"/>
                <a:cs typeface="Times New Roman" panose="02020603050405020304" pitchFamily="18" charset="0"/>
              </a:rPr>
              <a:t>. Database systems are designed to manage large amounts of information that are typically related to the operations of an organization or enterprise. The information stored in a database is often used to support the activities of the organization, whether it is for internal operations or to provide services to customers or clients.</a:t>
            </a:r>
          </a:p>
          <a:p>
            <a:pPr marL="342900" indent="-342900" algn="just" eaLnBrk="1" hangingPunct="1">
              <a:buFont typeface="Wingdings" panose="05000000000000000000" pitchFamily="2" charset="2"/>
              <a:buChar char="Ø"/>
              <a:defRPr/>
            </a:pPr>
            <a:r>
              <a:rPr lang="en-US" sz="2000" b="1" dirty="0">
                <a:latin typeface="Calibri" panose="020F0502020204030204" pitchFamily="34" charset="0"/>
                <a:ea typeface="Calibri" panose="020F0502020204030204" pitchFamily="34" charset="0"/>
                <a:cs typeface="Times New Roman" panose="02020603050405020304" pitchFamily="18" charset="0"/>
              </a:rPr>
              <a:t>Good Database Design </a:t>
            </a:r>
            <a:r>
              <a:rPr lang="en-US" sz="2000" dirty="0">
                <a:latin typeface="Calibri" panose="020F0502020204030204" pitchFamily="34" charset="0"/>
                <a:ea typeface="Calibri" panose="020F0502020204030204" pitchFamily="34" charset="0"/>
                <a:cs typeface="Times New Roman" panose="02020603050405020304" pitchFamily="18" charset="0"/>
              </a:rPr>
              <a:t>helps organizations avoid these problems and achieve these benefits through </a:t>
            </a:r>
            <a:r>
              <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efficient data retrieval </a:t>
            </a:r>
            <a:r>
              <a:rPr lang="en-US" sz="2000" dirty="0">
                <a:latin typeface="Calibri" panose="020F0502020204030204" pitchFamily="34" charset="0"/>
                <a:ea typeface="Calibri" panose="020F0502020204030204" pitchFamily="34" charset="0"/>
                <a:cs typeface="Times New Roman" panose="02020603050405020304" pitchFamily="18" charset="0"/>
              </a:rPr>
              <a:t>and </a:t>
            </a:r>
            <a:r>
              <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manipulation, accurate </a:t>
            </a:r>
            <a:r>
              <a:rPr lang="en-US" sz="2000" dirty="0">
                <a:latin typeface="Calibri" panose="020F0502020204030204" pitchFamily="34" charset="0"/>
                <a:ea typeface="Calibri" panose="020F0502020204030204" pitchFamily="34" charset="0"/>
                <a:cs typeface="Times New Roman" panose="02020603050405020304" pitchFamily="18" charset="0"/>
              </a:rPr>
              <a:t>and </a:t>
            </a:r>
            <a:r>
              <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secure data</a:t>
            </a:r>
            <a:r>
              <a:rPr lang="en-US" sz="2000" dirty="0">
                <a:latin typeface="Calibri" panose="020F0502020204030204" pitchFamily="34" charset="0"/>
                <a:ea typeface="Calibri" panose="020F0502020204030204" pitchFamily="34" charset="0"/>
                <a:cs typeface="Times New Roman" panose="02020603050405020304" pitchFamily="18" charset="0"/>
              </a:rPr>
              <a:t>, and </a:t>
            </a:r>
            <a:r>
              <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easy maintenance </a:t>
            </a:r>
            <a:r>
              <a:rPr lang="en-US" sz="2000" dirty="0">
                <a:latin typeface="Calibri" panose="020F0502020204030204" pitchFamily="34" charset="0"/>
                <a:ea typeface="Calibri" panose="020F0502020204030204" pitchFamily="34" charset="0"/>
                <a:cs typeface="Times New Roman" panose="02020603050405020304" pitchFamily="18" charset="0"/>
              </a:rPr>
              <a:t>and </a:t>
            </a:r>
            <a:r>
              <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updates</a:t>
            </a:r>
            <a:r>
              <a:rPr lang="en-US" sz="2000" dirty="0">
                <a:latin typeface="Calibri" panose="020F0502020204030204" pitchFamily="34" charset="0"/>
                <a:ea typeface="Calibri" panose="020F0502020204030204" pitchFamily="34" charset="0"/>
                <a:cs typeface="Times New Roman" panose="02020603050405020304" pitchFamily="18" charset="0"/>
              </a:rPr>
              <a:t>. </a:t>
            </a:r>
          </a:p>
          <a:p>
            <a:pPr algn="ctr" eaLnBrk="1" hangingPunct="1">
              <a:defRPr/>
            </a:pPr>
            <a:r>
              <a:rPr lang="en-IN" sz="2000" b="1" i="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Overall, Good Database Design is essential for organizations that want to effectively manage their data and avoid the consequences of a bad design.</a:t>
            </a:r>
          </a:p>
          <a:p>
            <a:pPr algn="just" eaLnBrk="1" hangingPunct="1">
              <a:defRPr/>
            </a:pPr>
            <a:endParaRPr lang="en-US" altLang="en-US" sz="20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additive="base">
                                        <p:cTn id="7" dur="500" fill="hold"/>
                                        <p:tgtEl>
                                          <p:spTgt spid="16388"/>
                                        </p:tgtEl>
                                        <p:attrNameLst>
                                          <p:attrName>ppt_x</p:attrName>
                                        </p:attrNameLst>
                                      </p:cBhvr>
                                      <p:tavLst>
                                        <p:tav tm="0">
                                          <p:val>
                                            <p:strVal val="#ppt_x"/>
                                          </p:val>
                                        </p:tav>
                                        <p:tav tm="100000">
                                          <p:val>
                                            <p:strVal val="#ppt_x"/>
                                          </p:val>
                                        </p:tav>
                                      </p:tavLst>
                                    </p:anim>
                                    <p:anim calcmode="lin" valueType="num">
                                      <p:cBhvr additive="base">
                                        <p:cTn id="8"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16388">
                                            <p:txEl>
                                              <p:pRg st="1" end="1"/>
                                            </p:txEl>
                                          </p:spTgt>
                                        </p:tgtEl>
                                        <p:attrNameLst>
                                          <p:attrName>style.visibility</p:attrName>
                                        </p:attrNameLst>
                                      </p:cBhvr>
                                      <p:to>
                                        <p:strVal val="visible"/>
                                      </p:to>
                                    </p:set>
                                    <p:animEffect transition="in" filter="fade">
                                      <p:cBhvr>
                                        <p:cTn id="13" dur="1000"/>
                                        <p:tgtEl>
                                          <p:spTgt spid="16388">
                                            <p:txEl>
                                              <p:pRg st="1" end="1"/>
                                            </p:txEl>
                                          </p:spTgt>
                                        </p:tgtEl>
                                      </p:cBhvr>
                                    </p:animEffect>
                                    <p:anim calcmode="lin" valueType="num">
                                      <p:cBhvr>
                                        <p:cTn id="14" dur="1000" fill="hold"/>
                                        <p:tgtEl>
                                          <p:spTgt spid="1638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638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nodeType="clickEffect">
                                  <p:stCondLst>
                                    <p:cond delay="0"/>
                                  </p:stCondLst>
                                  <p:childTnLst>
                                    <p:set>
                                      <p:cBhvr>
                                        <p:cTn id="19" dur="1" fill="hold">
                                          <p:stCondLst>
                                            <p:cond delay="0"/>
                                          </p:stCondLst>
                                        </p:cTn>
                                        <p:tgtEl>
                                          <p:spTgt spid="16388">
                                            <p:txEl>
                                              <p:pRg st="2" end="2"/>
                                            </p:txEl>
                                          </p:spTgt>
                                        </p:tgtEl>
                                        <p:attrNameLst>
                                          <p:attrName>style.visibility</p:attrName>
                                        </p:attrNameLst>
                                      </p:cBhvr>
                                      <p:to>
                                        <p:strVal val="visible"/>
                                      </p:to>
                                    </p:set>
                                    <p:animEffect transition="in" filter="fade">
                                      <p:cBhvr>
                                        <p:cTn id="20" dur="1000"/>
                                        <p:tgtEl>
                                          <p:spTgt spid="16388">
                                            <p:txEl>
                                              <p:pRg st="2" end="2"/>
                                            </p:txEl>
                                          </p:spTgt>
                                        </p:tgtEl>
                                      </p:cBhvr>
                                    </p:animEffect>
                                    <p:anim calcmode="lin" valueType="num">
                                      <p:cBhvr>
                                        <p:cTn id="21" dur="1000" fill="hold"/>
                                        <p:tgtEl>
                                          <p:spTgt spid="16388">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638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16388">
                                            <p:txEl>
                                              <p:pRg st="3" end="3"/>
                                            </p:txEl>
                                          </p:spTgt>
                                        </p:tgtEl>
                                        <p:attrNameLst>
                                          <p:attrName>style.visibility</p:attrName>
                                        </p:attrNameLst>
                                      </p:cBhvr>
                                      <p:to>
                                        <p:strVal val="visible"/>
                                      </p:to>
                                    </p:set>
                                    <p:animEffect transition="in" filter="fade">
                                      <p:cBhvr>
                                        <p:cTn id="27" dur="1000"/>
                                        <p:tgtEl>
                                          <p:spTgt spid="16388">
                                            <p:txEl>
                                              <p:pRg st="3" end="3"/>
                                            </p:txEl>
                                          </p:spTgt>
                                        </p:tgtEl>
                                      </p:cBhvr>
                                    </p:animEffect>
                                    <p:anim calcmode="lin" valueType="num">
                                      <p:cBhvr>
                                        <p:cTn id="28" dur="1000" fill="hold"/>
                                        <p:tgtEl>
                                          <p:spTgt spid="16388">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638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16388">
                                            <p:txEl>
                                              <p:pRg st="4" end="4"/>
                                            </p:txEl>
                                          </p:spTgt>
                                        </p:tgtEl>
                                        <p:attrNameLst>
                                          <p:attrName>style.visibility</p:attrName>
                                        </p:attrNameLst>
                                      </p:cBhvr>
                                      <p:to>
                                        <p:strVal val="visible"/>
                                      </p:to>
                                    </p:set>
                                    <p:anim calcmode="lin" valueType="num">
                                      <p:cBhvr additive="base">
                                        <p:cTn id="34" dur="500" fill="hold"/>
                                        <p:tgtEl>
                                          <p:spTgt spid="16388">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638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473450" y="84138"/>
            <a:ext cx="6200775" cy="4286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18435"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25"/>
          <p:cNvSpPr txBox="1">
            <a:spLocks noChangeArrowheads="1"/>
          </p:cNvSpPr>
          <p:nvPr/>
        </p:nvSpPr>
        <p:spPr bwMode="auto">
          <a:xfrm>
            <a:off x="4357688" y="1614488"/>
            <a:ext cx="7585075" cy="4894262"/>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IN" sz="2400" b="1" dirty="0">
                <a:solidFill>
                  <a:srgbClr val="000000"/>
                </a:solidFill>
                <a:latin typeface="Nunito" pitchFamily="2" charset="0"/>
                <a:ea typeface="Times New Roman" panose="02020603050405020304" pitchFamily="18" charset="0"/>
                <a:cs typeface="Times New Roman" panose="02020603050405020304" pitchFamily="18" charset="0"/>
              </a:rPr>
              <a:t> </a:t>
            </a:r>
            <a:r>
              <a:rPr lang="en-IN" sz="2400" b="1" u="sng" dirty="0">
                <a:solidFill>
                  <a:srgbClr val="000000"/>
                </a:solidFill>
                <a:latin typeface="Nunito" pitchFamily="2" charset="0"/>
                <a:ea typeface="Times New Roman" panose="02020603050405020304" pitchFamily="18" charset="0"/>
                <a:cs typeface="Times New Roman" panose="02020603050405020304" pitchFamily="18" charset="0"/>
              </a:rPr>
              <a:t>Objectives of a Good Database Design</a:t>
            </a:r>
          </a:p>
          <a:p>
            <a:pPr algn="ctr" eaLnBrk="1" hangingPunct="1">
              <a:defRPr/>
            </a:pPr>
            <a:endParaRPr lang="en-IN" sz="2400" b="1" u="sng" dirty="0">
              <a:solidFill>
                <a:srgbClr val="000000"/>
              </a:solidFill>
              <a:latin typeface="Nunito" pitchFamily="2" charset="0"/>
              <a:ea typeface="Times New Roman" panose="02020603050405020304" pitchFamily="18" charset="0"/>
              <a:cs typeface="Times New Roman" panose="02020603050405020304" pitchFamily="18" charset="0"/>
            </a:endParaRPr>
          </a:p>
          <a:p>
            <a:pPr marL="285750" indent="-285750" eaLnBrk="1" hangingPunct="1">
              <a:lnSpc>
                <a:spcPct val="150000"/>
              </a:lnSpc>
              <a:buFont typeface="Wingdings" panose="05000000000000000000" pitchFamily="2" charset="2"/>
              <a:buChar char="ü"/>
              <a:defRPr/>
            </a:pPr>
            <a:r>
              <a:rPr lang="en-IN" sz="2400" dirty="0">
                <a:solidFill>
                  <a:srgbClr val="000000"/>
                </a:solidFill>
                <a:latin typeface="Heebo" pitchFamily="2" charset="-79"/>
                <a:ea typeface="Times New Roman" panose="02020603050405020304" pitchFamily="18" charset="0"/>
                <a:cs typeface="Times New Roman" panose="02020603050405020304" pitchFamily="18" charset="0"/>
              </a:rPr>
              <a:t>Avoid Redundant Data</a:t>
            </a:r>
          </a:p>
          <a:p>
            <a:pPr marL="285750" indent="-285750" eaLnBrk="1" hangingPunct="1">
              <a:lnSpc>
                <a:spcPct val="150000"/>
              </a:lnSpc>
              <a:buFont typeface="Wingdings" panose="05000000000000000000" pitchFamily="2" charset="2"/>
              <a:buChar char="ü"/>
              <a:defRPr/>
            </a:pPr>
            <a:r>
              <a:rPr lang="en-IN" sz="2400" dirty="0">
                <a:solidFill>
                  <a:srgbClr val="000000"/>
                </a:solidFill>
                <a:latin typeface="Heebo" pitchFamily="2" charset="-79"/>
                <a:ea typeface="Times New Roman" panose="02020603050405020304" pitchFamily="18" charset="0"/>
                <a:cs typeface="Times New Roman" panose="02020603050405020304" pitchFamily="18" charset="0"/>
              </a:rPr>
              <a:t>Faultless Information</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285750" indent="-285750" eaLnBrk="1" hangingPunct="1">
              <a:lnSpc>
                <a:spcPct val="150000"/>
              </a:lnSpc>
              <a:buFont typeface="Wingdings" panose="05000000000000000000" pitchFamily="2" charset="2"/>
              <a:buChar char="ü"/>
              <a:defRPr/>
            </a:pPr>
            <a:r>
              <a:rPr lang="en-IN" sz="2400" dirty="0">
                <a:solidFill>
                  <a:srgbClr val="000000"/>
                </a:solidFill>
                <a:latin typeface="Heebo" pitchFamily="2" charset="-79"/>
                <a:ea typeface="Times New Roman" panose="02020603050405020304" pitchFamily="18" charset="0"/>
                <a:cs typeface="Times New Roman" panose="02020603050405020304" pitchFamily="18" charset="0"/>
              </a:rPr>
              <a:t>Data Integrity</a:t>
            </a:r>
          </a:p>
          <a:p>
            <a:pPr marL="285750" indent="-285750" eaLnBrk="1" hangingPunct="1">
              <a:lnSpc>
                <a:spcPct val="150000"/>
              </a:lnSpc>
              <a:buFont typeface="Wingdings" panose="05000000000000000000" pitchFamily="2" charset="2"/>
              <a:buChar char="ü"/>
              <a:defRPr/>
            </a:pPr>
            <a:r>
              <a:rPr lang="en-IN" sz="2400" dirty="0"/>
              <a:t>Easier to retrieve information</a:t>
            </a:r>
          </a:p>
          <a:p>
            <a:pPr marL="285750" indent="-285750" eaLnBrk="1" hangingPunct="1">
              <a:lnSpc>
                <a:spcPct val="150000"/>
              </a:lnSpc>
              <a:buFont typeface="Wingdings" panose="05000000000000000000" pitchFamily="2" charset="2"/>
              <a:buChar char="ü"/>
              <a:defRPr/>
            </a:pPr>
            <a:r>
              <a:rPr lang="en-IN" sz="2400" dirty="0">
                <a:solidFill>
                  <a:srgbClr val="000000"/>
                </a:solidFill>
                <a:latin typeface="Heebo" pitchFamily="2" charset="-79"/>
                <a:ea typeface="Times New Roman" panose="02020603050405020304" pitchFamily="18" charset="0"/>
              </a:rPr>
              <a:t>Easier Modification</a:t>
            </a:r>
          </a:p>
          <a:p>
            <a:pPr marL="285750" indent="-285750" eaLnBrk="1" hangingPunct="1">
              <a:lnSpc>
                <a:spcPct val="150000"/>
              </a:lnSpc>
              <a:buFont typeface="Wingdings" panose="05000000000000000000" pitchFamily="2" charset="2"/>
              <a:buChar char="ü"/>
              <a:defRPr/>
            </a:pPr>
            <a:r>
              <a:rPr lang="en-IN" sz="2400" dirty="0">
                <a:solidFill>
                  <a:srgbClr val="000000"/>
                </a:solidFill>
                <a:latin typeface="Heebo" pitchFamily="2" charset="-79"/>
                <a:ea typeface="Times New Roman" panose="02020603050405020304" pitchFamily="18" charset="0"/>
              </a:rPr>
              <a:t>Easy to Main</a:t>
            </a:r>
            <a:r>
              <a:rPr lang="en-IN" sz="2800" dirty="0">
                <a:solidFill>
                  <a:srgbClr val="000000"/>
                </a:solidFill>
                <a:latin typeface="Heebo" pitchFamily="2" charset="-79"/>
                <a:ea typeface="Times New Roman" panose="02020603050405020304" pitchFamily="18" charset="0"/>
              </a:rPr>
              <a:t>tain</a:t>
            </a:r>
          </a:p>
          <a:p>
            <a:pPr marL="285750" indent="-285750" eaLnBrk="1" hangingPunct="1">
              <a:lnSpc>
                <a:spcPct val="150000"/>
              </a:lnSpc>
              <a:buFont typeface="Wingdings" panose="05000000000000000000" pitchFamily="2" charset="2"/>
              <a:buChar char="ü"/>
              <a:defRPr/>
            </a:pPr>
            <a:r>
              <a:rPr lang="en-IN" sz="2400" dirty="0">
                <a:solidFill>
                  <a:srgbClr val="000000"/>
                </a:solidFill>
                <a:latin typeface="Nunito" pitchFamily="2" charset="0"/>
                <a:ea typeface="Calibri" panose="020F0502020204030204" pitchFamily="34" charset="0"/>
                <a:cs typeface="Times New Roman" panose="02020603050405020304" pitchFamily="18" charset="0"/>
              </a:rPr>
              <a:t>Enhance the quality and consistency of inform</a:t>
            </a:r>
            <a:r>
              <a:rPr lang="en-IN" sz="2800" dirty="0">
                <a:solidFill>
                  <a:srgbClr val="000000"/>
                </a:solidFill>
                <a:latin typeface="Nunito" pitchFamily="2" charset="0"/>
                <a:ea typeface="Calibri" panose="020F0502020204030204" pitchFamily="34" charset="0"/>
                <a:cs typeface="Times New Roman" panose="02020603050405020304" pitchFamily="18" charset="0"/>
              </a:rPr>
              <a:t>a</a:t>
            </a:r>
            <a:r>
              <a:rPr lang="en-IN" sz="2400" dirty="0">
                <a:solidFill>
                  <a:srgbClr val="000000"/>
                </a:solidFill>
                <a:latin typeface="Nunito" pitchFamily="2" charset="0"/>
                <a:ea typeface="Calibri" panose="020F0502020204030204" pitchFamily="34" charset="0"/>
                <a:cs typeface="Times New Roman" panose="02020603050405020304" pitchFamily="18" charset="0"/>
              </a:rPr>
              <a:t>tion</a:t>
            </a:r>
            <a:endParaRPr lang="en-IN" sz="2800" dirty="0">
              <a:solidFill>
                <a:srgbClr val="000000"/>
              </a:solidFill>
              <a:latin typeface="Nunito" pitchFamily="2" charset="0"/>
              <a:ea typeface="Calibri" panose="020F0502020204030204" pitchFamily="34" charset="0"/>
              <a:cs typeface="Times New Roman" panose="02020603050405020304" pitchFamily="18" charset="0"/>
            </a:endParaRPr>
          </a:p>
        </p:txBody>
      </p:sp>
      <p:sp>
        <p:nvSpPr>
          <p:cNvPr id="18437" name="TextBox 52"/>
          <p:cNvSpPr txBox="1">
            <a:spLocks noChangeArrowheads="1"/>
          </p:cNvSpPr>
          <p:nvPr/>
        </p:nvSpPr>
        <p:spPr bwMode="auto">
          <a:xfrm>
            <a:off x="577850" y="690563"/>
            <a:ext cx="110140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IN" altLang="en-US" sz="2400"/>
              <a:t>The following six steps has to be followed during its design process</a:t>
            </a:r>
          </a:p>
          <a:p>
            <a:pPr eaLnBrk="1" hangingPunct="1"/>
            <a:endParaRPr lang="en-IN" altLang="en-US" sz="2400"/>
          </a:p>
        </p:txBody>
      </p:sp>
      <p:sp>
        <p:nvSpPr>
          <p:cNvPr id="8" name="Rectangle 7"/>
          <p:cNvSpPr/>
          <p:nvPr/>
        </p:nvSpPr>
        <p:spPr>
          <a:xfrm>
            <a:off x="684213" y="1611313"/>
            <a:ext cx="3551237" cy="608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Requirements analysis</a:t>
            </a:r>
          </a:p>
        </p:txBody>
      </p:sp>
      <p:sp>
        <p:nvSpPr>
          <p:cNvPr id="2" name="Rectangle 1"/>
          <p:cNvSpPr/>
          <p:nvPr/>
        </p:nvSpPr>
        <p:spPr>
          <a:xfrm>
            <a:off x="714375" y="2357438"/>
            <a:ext cx="3525838" cy="579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Conceptual Database Design</a:t>
            </a:r>
          </a:p>
        </p:txBody>
      </p:sp>
      <p:sp>
        <p:nvSpPr>
          <p:cNvPr id="3" name="Rectangle 2"/>
          <p:cNvSpPr/>
          <p:nvPr/>
        </p:nvSpPr>
        <p:spPr>
          <a:xfrm>
            <a:off x="714375" y="3189288"/>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Logical Database Design Schema</a:t>
            </a:r>
          </a:p>
        </p:txBody>
      </p:sp>
      <p:sp>
        <p:nvSpPr>
          <p:cNvPr id="5" name="Rectangle 4"/>
          <p:cNvSpPr/>
          <p:nvPr/>
        </p:nvSpPr>
        <p:spPr>
          <a:xfrm>
            <a:off x="709613" y="4048125"/>
            <a:ext cx="3525837" cy="622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Schema Refinement</a:t>
            </a:r>
          </a:p>
        </p:txBody>
      </p:sp>
      <p:sp>
        <p:nvSpPr>
          <p:cNvPr id="6" name="Rectangle 5"/>
          <p:cNvSpPr/>
          <p:nvPr/>
        </p:nvSpPr>
        <p:spPr>
          <a:xfrm>
            <a:off x="709613" y="4949825"/>
            <a:ext cx="3525837"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Physical Database Design </a:t>
            </a:r>
          </a:p>
        </p:txBody>
      </p:sp>
      <p:sp>
        <p:nvSpPr>
          <p:cNvPr id="9" name="Rectangle 8"/>
          <p:cNvSpPr/>
          <p:nvPr/>
        </p:nvSpPr>
        <p:spPr>
          <a:xfrm>
            <a:off x="742950" y="5827713"/>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Application and Security Design</a:t>
            </a:r>
            <a:endParaRPr lang="en-US" dirty="0"/>
          </a:p>
        </p:txBody>
      </p:sp>
    </p:spTree>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2613" y="69850"/>
            <a:ext cx="6200775" cy="4302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pic>
        <p:nvPicPr>
          <p:cNvPr id="19459"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Box 12"/>
          <p:cNvSpPr txBox="1">
            <a:spLocks noChangeArrowheads="1"/>
          </p:cNvSpPr>
          <p:nvPr/>
        </p:nvSpPr>
        <p:spPr bwMode="auto">
          <a:xfrm>
            <a:off x="709613" y="1063625"/>
            <a:ext cx="7067550" cy="538638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IN" b="1" u="sng" dirty="0">
                <a:effectLst>
                  <a:outerShdw blurRad="38100" dist="38100" dir="2700000" algn="tl">
                    <a:srgbClr val="000000">
                      <a:alpha val="43137"/>
                    </a:srgbClr>
                  </a:outerShdw>
                </a:effectLst>
              </a:rPr>
              <a:t>Requirements Analysis</a:t>
            </a:r>
          </a:p>
          <a:p>
            <a:pPr eaLnBrk="1" hangingPunct="1">
              <a:defRPr/>
            </a:pPr>
            <a:endParaRPr lang="en-IN" sz="1400" b="1" u="sng" dirty="0">
              <a:effectLst>
                <a:outerShdw blurRad="38100" dist="38100" dir="2700000" algn="tl">
                  <a:srgbClr val="000000">
                    <a:alpha val="43137"/>
                  </a:srgbClr>
                </a:outerShdw>
              </a:effectLst>
            </a:endParaRPr>
          </a:p>
          <a:p>
            <a:pPr algn="just" eaLnBrk="1" hangingPunct="1">
              <a:defRPr/>
            </a:pPr>
            <a:r>
              <a:rPr lang="en-IN" sz="2000" dirty="0">
                <a:latin typeface="Calibri" panose="020F0502020204030204" pitchFamily="34" charset="0"/>
                <a:ea typeface="Calibri" panose="020F0502020204030204" pitchFamily="34" charset="0"/>
                <a:cs typeface="Times New Roman" panose="02020603050405020304" pitchFamily="18" charset="0"/>
              </a:rPr>
              <a:t>In requirement analysis for database design, the main goal is to understand the needs and expectations of the stakeholders for the database system to be developed. The following are the steps involved in requirement analysis for database design:</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algn="just" eaLnBrk="1" hangingPunct="1">
              <a:defRPr/>
            </a:pPr>
            <a:r>
              <a:rPr lang="en-IN" sz="2000" b="1" dirty="0">
                <a:latin typeface="Calibri" panose="020F0502020204030204" pitchFamily="34" charset="0"/>
                <a:ea typeface="Calibri" panose="020F0502020204030204" pitchFamily="34" charset="0"/>
                <a:cs typeface="Times New Roman" panose="02020603050405020304" pitchFamily="18" charset="0"/>
              </a:rPr>
              <a:t>Identify stakeholders</a:t>
            </a:r>
            <a:r>
              <a:rPr lang="en-IN" sz="2000" dirty="0">
                <a:latin typeface="Calibri" panose="020F0502020204030204" pitchFamily="34" charset="0"/>
                <a:ea typeface="Calibri" panose="020F0502020204030204" pitchFamily="34" charset="0"/>
                <a:cs typeface="Times New Roman" panose="02020603050405020304" pitchFamily="18" charset="0"/>
              </a:rPr>
              <a:t>: The first step is to identify the stakeholders who will be using the database system.</a:t>
            </a:r>
          </a:p>
          <a:p>
            <a:pPr algn="just" eaLnBrk="1" hangingPunct="1">
              <a:defRPr/>
            </a:pPr>
            <a:r>
              <a:rPr lang="en-IN" sz="2000" b="1" dirty="0">
                <a:latin typeface="Calibri" panose="020F0502020204030204" pitchFamily="34" charset="0"/>
                <a:ea typeface="Calibri" panose="020F0502020204030204" pitchFamily="34" charset="0"/>
                <a:cs typeface="Times New Roman" panose="02020603050405020304" pitchFamily="18" charset="0"/>
              </a:rPr>
              <a:t>Gather requirements:</a:t>
            </a:r>
            <a:r>
              <a:rPr lang="en-IN" sz="2000" dirty="0">
                <a:latin typeface="Calibri" panose="020F0502020204030204" pitchFamily="34" charset="0"/>
                <a:ea typeface="Calibri" panose="020F0502020204030204" pitchFamily="34" charset="0"/>
                <a:cs typeface="Times New Roman" panose="02020603050405020304" pitchFamily="18" charset="0"/>
              </a:rPr>
              <a:t> Once the stakeholders are identified, the next step is to conduct interviews or surveys to gather information about their requirements and expectations for the system.</a:t>
            </a:r>
          </a:p>
          <a:p>
            <a:pPr algn="just" eaLnBrk="1" hangingPunct="1">
              <a:defRPr/>
            </a:pPr>
            <a:r>
              <a:rPr lang="en-IN" sz="2000" b="1" dirty="0">
                <a:latin typeface="Calibri" panose="020F0502020204030204" pitchFamily="34" charset="0"/>
                <a:ea typeface="Calibri" panose="020F0502020204030204" pitchFamily="34" charset="0"/>
                <a:cs typeface="Times New Roman" panose="02020603050405020304" pitchFamily="18" charset="0"/>
              </a:rPr>
              <a:t>Define functional and non-functional requirements:</a:t>
            </a:r>
            <a:r>
              <a:rPr lang="en-IN" sz="2000" dirty="0">
                <a:latin typeface="Calibri" panose="020F0502020204030204" pitchFamily="34" charset="0"/>
                <a:ea typeface="Calibri" panose="020F0502020204030204" pitchFamily="34" charset="0"/>
                <a:cs typeface="Times New Roman" panose="02020603050405020304" pitchFamily="18" charset="0"/>
              </a:rPr>
              <a:t> The information gathered from the stakeholders can then be used to create a list of functional and non-functional requirements for the database system. </a:t>
            </a:r>
          </a:p>
          <a:p>
            <a:pPr algn="just" eaLnBrk="1" hangingPunct="1">
              <a:defRPr/>
            </a:pPr>
            <a:r>
              <a:rPr lang="en-US" sz="1600" i="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After gathering the requirements these requirements are organized and represented using appropriate tools and are given as input to the conceptual database design phase</a:t>
            </a:r>
            <a:r>
              <a:rPr lang="en-US" sz="2000" i="1" dirty="0">
                <a:solidFill>
                  <a:srgbClr val="5F6368"/>
                </a:solidFill>
                <a:latin typeface="Roboto" panose="02000000000000000000" pitchFamily="2" charset="0"/>
              </a:rPr>
              <a:t>.</a:t>
            </a:r>
            <a:endParaRPr lang="en-US" altLang="en-US" sz="2000" i="1" dirty="0">
              <a:latin typeface="Calibri" panose="020F0502020204030204" pitchFamily="34" charset="0"/>
            </a:endParaRPr>
          </a:p>
        </p:txBody>
      </p:sp>
      <p:sp>
        <p:nvSpPr>
          <p:cNvPr id="3" name="Rectangle 2"/>
          <p:cNvSpPr/>
          <p:nvPr/>
        </p:nvSpPr>
        <p:spPr>
          <a:xfrm>
            <a:off x="7959725" y="1806575"/>
            <a:ext cx="3525838" cy="5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Conceptual Database Design</a:t>
            </a:r>
          </a:p>
        </p:txBody>
      </p:sp>
      <p:sp>
        <p:nvSpPr>
          <p:cNvPr id="4" name="Rectangle 3"/>
          <p:cNvSpPr/>
          <p:nvPr/>
        </p:nvSpPr>
        <p:spPr>
          <a:xfrm>
            <a:off x="7959725" y="2638425"/>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Logical Database Design Schema</a:t>
            </a:r>
          </a:p>
        </p:txBody>
      </p:sp>
      <p:sp>
        <p:nvSpPr>
          <p:cNvPr id="5" name="Rectangle 4"/>
          <p:cNvSpPr/>
          <p:nvPr/>
        </p:nvSpPr>
        <p:spPr>
          <a:xfrm>
            <a:off x="7956550" y="3497263"/>
            <a:ext cx="3525838" cy="623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Schema Refinement</a:t>
            </a:r>
          </a:p>
        </p:txBody>
      </p:sp>
      <p:sp>
        <p:nvSpPr>
          <p:cNvPr id="7" name="Rectangle 6"/>
          <p:cNvSpPr/>
          <p:nvPr/>
        </p:nvSpPr>
        <p:spPr>
          <a:xfrm>
            <a:off x="7956550" y="4398963"/>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Physical Database Design </a:t>
            </a:r>
          </a:p>
        </p:txBody>
      </p:sp>
      <p:sp>
        <p:nvSpPr>
          <p:cNvPr id="8" name="Rectangle 7"/>
          <p:cNvSpPr/>
          <p:nvPr/>
        </p:nvSpPr>
        <p:spPr>
          <a:xfrm>
            <a:off x="7964488" y="5346700"/>
            <a:ext cx="3525837"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Application and Security Design</a:t>
            </a:r>
            <a:endParaRPr lang="en-US" dirty="0"/>
          </a:p>
        </p:txBody>
      </p:sp>
      <p:sp>
        <p:nvSpPr>
          <p:cNvPr id="2" name="Rectangle 1"/>
          <p:cNvSpPr/>
          <p:nvPr/>
        </p:nvSpPr>
        <p:spPr>
          <a:xfrm>
            <a:off x="7929563" y="1062038"/>
            <a:ext cx="3552825" cy="60801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2000" b="1" dirty="0">
                <a:effectLst>
                  <a:outerShdw blurRad="38100" dist="38100" dir="2700000" algn="tl">
                    <a:srgbClr val="000000">
                      <a:alpha val="43137"/>
                    </a:srgbClr>
                  </a:outerShdw>
                </a:effectLst>
              </a:rPr>
              <a:t>Requirements Analysis</a:t>
            </a:r>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12"/>
          <p:cNvSpPr txBox="1">
            <a:spLocks noChangeArrowheads="1"/>
          </p:cNvSpPr>
          <p:nvPr/>
        </p:nvSpPr>
        <p:spPr bwMode="auto">
          <a:xfrm>
            <a:off x="806450" y="1270000"/>
            <a:ext cx="6862763" cy="5355312"/>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b="1" dirty="0">
                <a:effectLst>
                  <a:outerShdw blurRad="38100" dist="38100" dir="2700000" algn="tl">
                    <a:srgbClr val="000000">
                      <a:alpha val="43137"/>
                    </a:srgbClr>
                  </a:outerShdw>
                </a:effectLst>
              </a:rPr>
              <a:t>Conceptual Database Design</a:t>
            </a:r>
          </a:p>
          <a:p>
            <a:pPr eaLnBrk="1" hangingPunct="1">
              <a:defRPr/>
            </a:pPr>
            <a:endParaRPr lang="en-US" altLang="en-US" dirty="0">
              <a:latin typeface="Calibri" panose="020F0502020204030204" pitchFamily="34" charset="0"/>
            </a:endParaRPr>
          </a:p>
          <a:p>
            <a:pPr marL="342900" indent="-342900" algn="just" eaLnBrk="1" hangingPunct="1">
              <a:buFont typeface="Wingdings" pitchFamily="2" charset="2"/>
              <a:buChar char="Ø"/>
              <a:defRPr/>
            </a:pPr>
            <a:r>
              <a:rPr lang="en-IN" dirty="0">
                <a:latin typeface="Calibri" panose="020F0502020204030204" pitchFamily="34" charset="0"/>
                <a:ea typeface="Calibri" panose="020F0502020204030204" pitchFamily="34" charset="0"/>
                <a:cs typeface="Times New Roman" panose="02020603050405020304" pitchFamily="18" charset="0"/>
              </a:rPr>
              <a:t>Specifications are converted into ER-Model or Any other similar high level conceptual database design model. The conceptual database design is the first stage of database design</a:t>
            </a:r>
          </a:p>
          <a:p>
            <a:pPr marL="342900" indent="-342900" algn="just" eaLnBrk="1" hangingPunct="1">
              <a:buFont typeface="Wingdings" pitchFamily="2" charset="2"/>
              <a:buChar char="Ø"/>
              <a:defRPr/>
            </a:pPr>
            <a:r>
              <a:rPr lang="en-IN" dirty="0">
                <a:latin typeface="Calibri" panose="020F0502020204030204" pitchFamily="34" charset="0"/>
                <a:ea typeface="Calibri" panose="020F0502020204030204" pitchFamily="34" charset="0"/>
                <a:cs typeface="Times New Roman" panose="02020603050405020304" pitchFamily="18" charset="0"/>
              </a:rPr>
              <a:t>E-Model provides a simple description of the data that matches both how users and developers.</a:t>
            </a:r>
          </a:p>
          <a:p>
            <a:pPr marL="342900" indent="-342900" algn="just" eaLnBrk="1" hangingPunct="1">
              <a:buFont typeface="Wingdings" pitchFamily="2" charset="2"/>
              <a:buChar char="Ø"/>
              <a:defRPr/>
            </a:pPr>
            <a:r>
              <a:rPr lang="en-IN" dirty="0">
                <a:latin typeface="Calibri" panose="020F0502020204030204" pitchFamily="34" charset="0"/>
                <a:ea typeface="Calibri" panose="020F0502020204030204" pitchFamily="34" charset="0"/>
                <a:cs typeface="Times New Roman" panose="02020603050405020304" pitchFamily="18" charset="0"/>
              </a:rPr>
              <a:t>It is a high-level view of the entire database that describes what the database should contain and how the data should be related to each other. </a:t>
            </a:r>
          </a:p>
          <a:p>
            <a:pPr marL="342900" indent="-342900" algn="just" eaLnBrk="1" hangingPunct="1">
              <a:buFont typeface="Wingdings" pitchFamily="2" charset="2"/>
              <a:buChar char="Ø"/>
              <a:defRPr/>
            </a:pPr>
            <a:r>
              <a:rPr lang="en-IN" dirty="0">
                <a:latin typeface="Calibri" panose="020F0502020204030204" pitchFamily="34" charset="0"/>
                <a:ea typeface="Calibri" panose="020F0502020204030204" pitchFamily="34" charset="0"/>
                <a:cs typeface="Times New Roman" panose="02020603050405020304" pitchFamily="18" charset="0"/>
              </a:rPr>
              <a:t>This design is usually presented in an Entity-Relationship (ER) diagram. The main focus is on the overall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structure</a:t>
            </a:r>
            <a:r>
              <a:rPr lang="en-IN" dirty="0">
                <a:latin typeface="Calibri" panose="020F0502020204030204" pitchFamily="34" charset="0"/>
                <a:ea typeface="Calibri" panose="020F0502020204030204" pitchFamily="34" charset="0"/>
                <a:cs typeface="Times New Roman" panose="02020603050405020304" pitchFamily="18" charset="0"/>
              </a:rPr>
              <a:t>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r>
              <a:rPr lang="en-IN" dirty="0">
                <a:latin typeface="Calibri" panose="020F0502020204030204" pitchFamily="34" charset="0"/>
                <a:ea typeface="Calibri" panose="020F0502020204030204" pitchFamily="34" charset="0"/>
                <a:cs typeface="Times New Roman" panose="02020603050405020304" pitchFamily="18" charset="0"/>
              </a:rPr>
              <a:t> between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entities</a:t>
            </a:r>
            <a:r>
              <a:rPr lang="en-IN" dirty="0">
                <a:latin typeface="Calibri" panose="020F0502020204030204" pitchFamily="34" charset="0"/>
                <a:ea typeface="Calibri" panose="020F0502020204030204" pitchFamily="34" charset="0"/>
                <a:cs typeface="Times New Roman" panose="02020603050405020304" pitchFamily="18" charset="0"/>
              </a:rPr>
              <a:t>.</a:t>
            </a:r>
          </a:p>
          <a:p>
            <a:pPr marL="342900" indent="-342900" algn="just" eaLnBrk="1" hangingPunct="1">
              <a:buFont typeface="Wingdings" pitchFamily="2" charset="2"/>
              <a:buChar char="Ø"/>
              <a:defRPr/>
            </a:pPr>
            <a:endParaRPr lang="en-IN" i="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eaLnBrk="1" hangingPunct="1">
              <a:buFont typeface="Wingdings" pitchFamily="2" charset="2"/>
              <a:buChar char="Ø"/>
              <a:defRPr/>
            </a:pPr>
            <a:r>
              <a:rPr lang="en-IN" i="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Once the requirement specifications are converted into ER-Model it is given as input to the logical database design phase</a:t>
            </a:r>
            <a:r>
              <a:rPr lang="en-IN"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indent="-342900" algn="just" eaLnBrk="1" hangingPunct="1">
              <a:buFont typeface="Wingdings" pitchFamily="2" charset="2"/>
              <a:buChar char="Ø"/>
              <a:defRPr/>
            </a:pPr>
            <a:endParaRPr lang="en-IN" dirty="0">
              <a:latin typeface="Calibri" panose="020F0502020204030204" pitchFamily="34" charset="0"/>
              <a:ea typeface="Calibri" panose="020F0502020204030204" pitchFamily="34" charset="0"/>
              <a:cs typeface="Times New Roman" panose="02020603050405020304" pitchFamily="18" charset="0"/>
            </a:endParaRPr>
          </a:p>
          <a:p>
            <a:pPr eaLnBrk="1" hangingPunct="1">
              <a:defRPr/>
            </a:pPr>
            <a:endParaRPr lang="en-US" altLang="en-US" dirty="0">
              <a:latin typeface="Calibri" panose="020F0502020204030204" pitchFamily="34" charset="0"/>
              <a:ea typeface="Calibri" panose="020F0502020204030204" pitchFamily="34" charset="0"/>
              <a:cs typeface="Times New Roman" panose="02020603050405020304" pitchFamily="18" charset="0"/>
            </a:endParaRPr>
          </a:p>
          <a:p>
            <a:pPr eaLnBrk="1" hangingPunct="1">
              <a:defRPr/>
            </a:pPr>
            <a:endParaRPr lang="en-US" altLang="en-US" dirty="0">
              <a:latin typeface="Calibri" panose="020F0502020204030204" pitchFamily="34" charset="0"/>
            </a:endParaRPr>
          </a:p>
        </p:txBody>
      </p:sp>
      <p:sp>
        <p:nvSpPr>
          <p:cNvPr id="5" name="Rectangle 4"/>
          <p:cNvSpPr/>
          <p:nvPr/>
        </p:nvSpPr>
        <p:spPr>
          <a:xfrm>
            <a:off x="7959725" y="1806575"/>
            <a:ext cx="3525838" cy="57943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2000" b="1" dirty="0">
                <a:effectLst>
                  <a:outerShdw blurRad="38100" dist="38100" dir="2700000" algn="tl">
                    <a:srgbClr val="000000">
                      <a:alpha val="43137"/>
                    </a:srgbClr>
                  </a:outerShdw>
                </a:effectLst>
              </a:rPr>
              <a:t>Conceptual Database Design</a:t>
            </a:r>
          </a:p>
        </p:txBody>
      </p:sp>
      <p:sp>
        <p:nvSpPr>
          <p:cNvPr id="7" name="Rectangle 6"/>
          <p:cNvSpPr/>
          <p:nvPr/>
        </p:nvSpPr>
        <p:spPr>
          <a:xfrm>
            <a:off x="7959725" y="2638425"/>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Logical Database Design Schema</a:t>
            </a:r>
          </a:p>
        </p:txBody>
      </p:sp>
      <p:sp>
        <p:nvSpPr>
          <p:cNvPr id="8" name="Rectangle 7"/>
          <p:cNvSpPr/>
          <p:nvPr/>
        </p:nvSpPr>
        <p:spPr>
          <a:xfrm>
            <a:off x="7956550" y="3497263"/>
            <a:ext cx="3525838" cy="623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Schema Refinement</a:t>
            </a:r>
          </a:p>
        </p:txBody>
      </p:sp>
      <p:sp>
        <p:nvSpPr>
          <p:cNvPr id="9" name="Rectangle 8"/>
          <p:cNvSpPr/>
          <p:nvPr/>
        </p:nvSpPr>
        <p:spPr>
          <a:xfrm>
            <a:off x="7956550" y="4398963"/>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Physical Database Design </a:t>
            </a:r>
          </a:p>
        </p:txBody>
      </p:sp>
      <p:sp>
        <p:nvSpPr>
          <p:cNvPr id="10" name="Rectangle 9"/>
          <p:cNvSpPr/>
          <p:nvPr/>
        </p:nvSpPr>
        <p:spPr>
          <a:xfrm>
            <a:off x="7964488" y="5346700"/>
            <a:ext cx="3525837"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Application and Security Design</a:t>
            </a:r>
            <a:endParaRPr lang="en-US" dirty="0"/>
          </a:p>
        </p:txBody>
      </p:sp>
      <p:sp>
        <p:nvSpPr>
          <p:cNvPr id="11" name="Rectangle 10"/>
          <p:cNvSpPr/>
          <p:nvPr/>
        </p:nvSpPr>
        <p:spPr>
          <a:xfrm>
            <a:off x="7929563" y="1062038"/>
            <a:ext cx="3552825" cy="608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Requirements Analysis</a:t>
            </a:r>
          </a:p>
        </p:txBody>
      </p:sp>
      <p:sp>
        <p:nvSpPr>
          <p:cNvPr id="13" name="Rounded Rectangle 17"/>
          <p:cNvSpPr/>
          <p:nvPr/>
        </p:nvSpPr>
        <p:spPr>
          <a:xfrm>
            <a:off x="3095625" y="246063"/>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12"/>
          <p:cNvSpPr txBox="1">
            <a:spLocks noChangeArrowheads="1"/>
          </p:cNvSpPr>
          <p:nvPr/>
        </p:nvSpPr>
        <p:spPr bwMode="auto">
          <a:xfrm>
            <a:off x="1083853" y="1304994"/>
            <a:ext cx="6673850" cy="5355312"/>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b="1" dirty="0">
                <a:effectLst>
                  <a:outerShdw blurRad="38100" dist="38100" dir="2700000" algn="tl">
                    <a:srgbClr val="000000">
                      <a:alpha val="43137"/>
                    </a:srgbClr>
                  </a:outerShdw>
                </a:effectLst>
              </a:rPr>
              <a:t>Logical Database Design Schema</a:t>
            </a:r>
          </a:p>
          <a:p>
            <a:pPr eaLnBrk="1" hangingPunct="1">
              <a:defRPr/>
            </a:pPr>
            <a:endParaRPr lang="en-US" altLang="en-US" dirty="0">
              <a:latin typeface="Calibri" panose="020F0502020204030204" pitchFamily="34" charset="0"/>
            </a:endParaRPr>
          </a:p>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The logical database design is the second stage of database design. It focuses on converting the conceptual design into a detailed logical model.</a:t>
            </a:r>
          </a:p>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 That can be implemented in a database management system (DBMS). </a:t>
            </a:r>
          </a:p>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The main focus is on defining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data elements</a:t>
            </a:r>
            <a:r>
              <a:rPr lang="en-IN" dirty="0">
                <a:latin typeface="Calibri" panose="020F0502020204030204" pitchFamily="34" charset="0"/>
                <a:ea typeface="Calibri" panose="020F0502020204030204" pitchFamily="34" charset="0"/>
                <a:cs typeface="Times New Roman" panose="02020603050405020304" pitchFamily="18" charset="0"/>
              </a:rPr>
              <a:t>, their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r>
              <a:rPr lang="en-IN" dirty="0">
                <a:latin typeface="Calibri" panose="020F0502020204030204" pitchFamily="34" charset="0"/>
                <a:ea typeface="Calibri" panose="020F0502020204030204" pitchFamily="34" charset="0"/>
                <a:cs typeface="Times New Roman" panose="02020603050405020304" pitchFamily="18" charset="0"/>
              </a:rPr>
              <a:t>, and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data constraints</a:t>
            </a:r>
            <a:r>
              <a:rPr lang="en-IN" dirty="0">
                <a:latin typeface="Calibri" panose="020F0502020204030204" pitchFamily="34" charset="0"/>
                <a:ea typeface="Calibri" panose="020F0502020204030204" pitchFamily="34" charset="0"/>
                <a:cs typeface="Times New Roman" panose="02020603050405020304" pitchFamily="18" charset="0"/>
              </a:rPr>
              <a:t>. </a:t>
            </a:r>
          </a:p>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This design is usually presented in the form of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tables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column</a:t>
            </a:r>
            <a:r>
              <a:rPr lang="en-IN" dirty="0">
                <a:latin typeface="Calibri" panose="020F0502020204030204" pitchFamily="34" charset="0"/>
                <a:ea typeface="Calibri" panose="020F0502020204030204" pitchFamily="34" charset="0"/>
                <a:cs typeface="Times New Roman" panose="02020603050405020304" pitchFamily="18" charset="0"/>
              </a:rPr>
              <a:t>s,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p>
          <a:p>
            <a:pPr eaLnBrk="1" hangingPunct="1">
              <a:defRPr/>
            </a:pPr>
            <a:endPar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marL="342900" indent="-342900" algn="just" eaLnBrk="1" hangingPunct="1">
              <a:buFont typeface="Wingdings" panose="05000000000000000000" pitchFamily="2" charset="2"/>
              <a:buChar char="ü"/>
              <a:defRPr/>
            </a:pPr>
            <a:r>
              <a:rPr lang="en-US" altLang="en-US" i="1" dirty="0">
                <a:effectLst>
                  <a:outerShdw blurRad="38100" dist="38100" dir="2700000" algn="tl">
                    <a:srgbClr val="000000">
                      <a:alpha val="43137"/>
                    </a:srgbClr>
                  </a:outerShdw>
                </a:effectLst>
                <a:latin typeface="Calibri" panose="020F0502020204030204" pitchFamily="34" charset="0"/>
              </a:rPr>
              <a:t>Logical database design means that ER diagrams are now converted into actual relational database schemas, and these relational database schemas are given as input to the schema refinement phase</a:t>
            </a:r>
            <a:r>
              <a:rPr lang="en-US" altLang="en-US" dirty="0">
                <a:latin typeface="Calibri" panose="020F0502020204030204" pitchFamily="34" charset="0"/>
              </a:rPr>
              <a:t>.</a:t>
            </a:r>
          </a:p>
          <a:p>
            <a:pPr marL="342900" indent="-342900" algn="just" eaLnBrk="1" hangingPunct="1">
              <a:buFont typeface="Wingdings" panose="05000000000000000000" pitchFamily="2" charset="2"/>
              <a:buChar char="ü"/>
              <a:defRPr/>
            </a:pPr>
            <a:endParaRPr lang="en-US" altLang="en-US" dirty="0">
              <a:latin typeface="Calibri" panose="020F0502020204030204" pitchFamily="34" charset="0"/>
            </a:endParaRPr>
          </a:p>
          <a:p>
            <a:pPr marL="342900" indent="-342900" algn="just" eaLnBrk="1" hangingPunct="1">
              <a:defRPr/>
            </a:pPr>
            <a:r>
              <a:rPr lang="en-US" b="1" dirty="0">
                <a:highlight>
                  <a:srgbClr val="00FF00"/>
                </a:highlight>
                <a:hlinkClick r:id="rId3" action="ppaction://hlinksldjump"/>
              </a:rPr>
              <a:t>Example</a:t>
            </a:r>
            <a:endParaRPr lang="en-US" altLang="en-US" dirty="0">
              <a:latin typeface="Calibri" panose="020F0502020204030204" pitchFamily="34" charset="0"/>
            </a:endParaRPr>
          </a:p>
          <a:p>
            <a:pPr eaLnBrk="1" hangingPunct="1">
              <a:defRPr/>
            </a:pPr>
            <a:endParaRPr lang="en-US" altLang="en-US" dirty="0">
              <a:latin typeface="Calibri" panose="020F0502020204030204" pitchFamily="34" charset="0"/>
            </a:endParaRPr>
          </a:p>
        </p:txBody>
      </p:sp>
      <p:sp>
        <p:nvSpPr>
          <p:cNvPr id="5" name="Rectangle 4"/>
          <p:cNvSpPr/>
          <p:nvPr/>
        </p:nvSpPr>
        <p:spPr>
          <a:xfrm>
            <a:off x="7959725" y="1806575"/>
            <a:ext cx="3525838" cy="5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Conceptual Database Design</a:t>
            </a:r>
          </a:p>
        </p:txBody>
      </p:sp>
      <p:sp>
        <p:nvSpPr>
          <p:cNvPr id="6" name="Rectangle 5"/>
          <p:cNvSpPr/>
          <p:nvPr/>
        </p:nvSpPr>
        <p:spPr>
          <a:xfrm>
            <a:off x="7959725" y="2638425"/>
            <a:ext cx="3525838" cy="60642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2000" b="1" dirty="0">
                <a:effectLst>
                  <a:outerShdw blurRad="38100" dist="38100" dir="2700000" algn="tl">
                    <a:srgbClr val="000000">
                      <a:alpha val="43137"/>
                    </a:srgbClr>
                  </a:outerShdw>
                </a:effectLst>
              </a:rPr>
              <a:t>Logical Database Design Schema</a:t>
            </a:r>
          </a:p>
        </p:txBody>
      </p:sp>
      <p:sp>
        <p:nvSpPr>
          <p:cNvPr id="7" name="Rectangle 6"/>
          <p:cNvSpPr/>
          <p:nvPr/>
        </p:nvSpPr>
        <p:spPr>
          <a:xfrm>
            <a:off x="7956550" y="3497263"/>
            <a:ext cx="3525838" cy="623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Schema Refinement</a:t>
            </a:r>
          </a:p>
        </p:txBody>
      </p:sp>
      <p:sp>
        <p:nvSpPr>
          <p:cNvPr id="8" name="Rectangle 7"/>
          <p:cNvSpPr/>
          <p:nvPr/>
        </p:nvSpPr>
        <p:spPr>
          <a:xfrm>
            <a:off x="7956550" y="4398963"/>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Physical Database Design </a:t>
            </a:r>
          </a:p>
        </p:txBody>
      </p:sp>
      <p:sp>
        <p:nvSpPr>
          <p:cNvPr id="9" name="Rectangle 8"/>
          <p:cNvSpPr/>
          <p:nvPr/>
        </p:nvSpPr>
        <p:spPr>
          <a:xfrm>
            <a:off x="7964488" y="5346700"/>
            <a:ext cx="3525837"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Application and Security Design</a:t>
            </a:r>
            <a:endParaRPr lang="en-US" dirty="0"/>
          </a:p>
        </p:txBody>
      </p:sp>
      <p:sp>
        <p:nvSpPr>
          <p:cNvPr id="10" name="Rectangle 9"/>
          <p:cNvSpPr/>
          <p:nvPr/>
        </p:nvSpPr>
        <p:spPr>
          <a:xfrm>
            <a:off x="7929563" y="1062038"/>
            <a:ext cx="3552825" cy="608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Requirements Analysis</a:t>
            </a:r>
          </a:p>
        </p:txBody>
      </p:sp>
      <p:sp>
        <p:nvSpPr>
          <p:cNvPr id="11" name="Rounded Rectangle 17"/>
          <p:cNvSpPr/>
          <p:nvPr/>
        </p:nvSpPr>
        <p:spPr>
          <a:xfrm>
            <a:off x="3136900" y="195263"/>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p:cNvSpPr/>
          <p:nvPr/>
        </p:nvSpPr>
        <p:spPr>
          <a:xfrm>
            <a:off x="3122613" y="69850"/>
            <a:ext cx="6200775" cy="4302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SESSION DESCRIPTION         (Cont..)</a:t>
            </a:r>
          </a:p>
        </p:txBody>
      </p:sp>
      <p:pic>
        <p:nvPicPr>
          <p:cNvPr id="22531"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157163" y="1103313"/>
            <a:ext cx="8007350" cy="5265737"/>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a:t>
            </a:r>
          </a:p>
          <a:p>
            <a:pPr algn="ctr">
              <a:defRPr/>
            </a:pPr>
            <a:endParaRPr lang="en-US" sz="1200" b="1" dirty="0">
              <a:effectLst>
                <a:outerShdw blurRad="38100" dist="38100" dir="2700000" algn="tl">
                  <a:srgbClr val="000000">
                    <a:alpha val="43137"/>
                  </a:srgbClr>
                </a:outerShdw>
              </a:effectLst>
            </a:endParaRPr>
          </a:p>
          <a:p>
            <a:pPr algn="ctr" eaLnBrk="1" hangingPunct="1">
              <a:lnSpc>
                <a:spcPct val="90000"/>
              </a:lnSpc>
              <a:defRPr/>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Database designed based on the E-R model may have some amount of</a:t>
            </a:r>
            <a:endParaRPr lang="en-US" altLang="en-US" b="1"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eaLnBrk="1" hangingPunct="1">
              <a:lnSpc>
                <a:spcPct val="150000"/>
              </a:lnSpc>
              <a:buFont typeface="Wingdings" panose="05000000000000000000" pitchFamily="2" charset="2"/>
              <a:buChar char="ü"/>
              <a:defRPr/>
            </a:pPr>
            <a:r>
              <a:rPr lang="en-US" altLang="en-US" dirty="0">
                <a:latin typeface="Calibri" panose="020F0502020204030204" pitchFamily="34" charset="0"/>
                <a:ea typeface="Calibri" panose="020F0502020204030204" pitchFamily="34" charset="0"/>
                <a:cs typeface="Times New Roman" panose="02020603050405020304" pitchFamily="18" charset="0"/>
              </a:rPr>
              <a:t>Inconsistency</a:t>
            </a:r>
          </a:p>
          <a:p>
            <a:pPr marL="800100" lvl="1" indent="-342900" eaLnBrk="1" hangingPunct="1">
              <a:lnSpc>
                <a:spcPct val="150000"/>
              </a:lnSpc>
              <a:buFont typeface="Wingdings" panose="05000000000000000000" pitchFamily="2" charset="2"/>
              <a:buChar char="ü"/>
              <a:defRPr/>
            </a:pPr>
            <a:r>
              <a:rPr lang="en-US" altLang="en-US" dirty="0">
                <a:latin typeface="Calibri" panose="020F0502020204030204" pitchFamily="34" charset="0"/>
                <a:ea typeface="Calibri" panose="020F0502020204030204" pitchFamily="34" charset="0"/>
                <a:cs typeface="Times New Roman" panose="02020603050405020304" pitchFamily="18" charset="0"/>
              </a:rPr>
              <a:t>Uncertainty</a:t>
            </a:r>
          </a:p>
          <a:p>
            <a:pPr marL="800100" lvl="1" indent="-342900" eaLnBrk="1" hangingPunct="1">
              <a:lnSpc>
                <a:spcPct val="150000"/>
              </a:lnSpc>
              <a:buFont typeface="Wingdings" panose="05000000000000000000" pitchFamily="2" charset="2"/>
              <a:buChar char="ü"/>
              <a:defRPr/>
            </a:pPr>
            <a:r>
              <a:rPr lang="en-US" altLang="en-US" dirty="0">
                <a:latin typeface="Calibri" panose="020F0502020204030204" pitchFamily="34" charset="0"/>
                <a:ea typeface="Calibri" panose="020F0502020204030204" pitchFamily="34" charset="0"/>
                <a:cs typeface="Times New Roman" panose="02020603050405020304" pitchFamily="18" charset="0"/>
              </a:rPr>
              <a:t>Redundancy</a:t>
            </a:r>
          </a:p>
          <a:p>
            <a:pPr lvl="1" eaLnBrk="1" hangingPunct="1">
              <a:lnSpc>
                <a:spcPct val="90000"/>
              </a:lnSpc>
              <a:defRPr/>
            </a:pPr>
            <a:endParaRPr lang="en-US" altLang="en-US"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eaLnBrk="1" hangingPunct="1">
              <a:lnSpc>
                <a:spcPct val="150000"/>
              </a:lnSpc>
              <a:buFont typeface="Wingdings" panose="05000000000000000000" pitchFamily="2" charset="2"/>
              <a:buChar char="ü"/>
              <a:defRPr/>
            </a:pPr>
            <a:r>
              <a:rPr lang="en-US" altLang="en-US" b="1" dirty="0">
                <a:solidFill>
                  <a:srgbClr val="A50021"/>
                </a:solidFill>
              </a:rPr>
              <a:t>Refinement</a:t>
            </a:r>
            <a:r>
              <a:rPr lang="en-US" altLang="en-US" dirty="0">
                <a:solidFill>
                  <a:srgbClr val="A50021"/>
                </a:solidFill>
              </a:rPr>
              <a:t> </a:t>
            </a:r>
            <a:r>
              <a:rPr lang="en-US" altLang="en-US" dirty="0"/>
              <a:t>process is called </a:t>
            </a:r>
            <a:r>
              <a:rPr lang="en-US" altLang="en-US" b="1" dirty="0">
                <a:solidFill>
                  <a:srgbClr val="FF0000"/>
                </a:solidFill>
              </a:rPr>
              <a:t>Normalization</a:t>
            </a:r>
          </a:p>
          <a:p>
            <a:pPr marL="742950" lvl="1" indent="-285750" eaLnBrk="1" hangingPunct="1">
              <a:lnSpc>
                <a:spcPct val="150000"/>
              </a:lnSpc>
              <a:buFont typeface="Wingdings" panose="05000000000000000000" pitchFamily="2" charset="2"/>
              <a:buChar char="ü"/>
              <a:defRPr/>
            </a:pPr>
            <a:r>
              <a:rPr lang="en-US" altLang="en-US" dirty="0"/>
              <a:t>Defined as a step-by-step process of decomposing a complex relation into  a simple  relations.</a:t>
            </a:r>
          </a:p>
          <a:p>
            <a:pPr marL="742950" lvl="1" indent="-285750" eaLnBrk="1" hangingPunct="1">
              <a:lnSpc>
                <a:spcPct val="150000"/>
              </a:lnSpc>
              <a:buFont typeface="Wingdings" panose="05000000000000000000" pitchFamily="2" charset="2"/>
              <a:buChar char="ü"/>
              <a:defRPr/>
            </a:pPr>
            <a:r>
              <a:rPr lang="en-US" altLang="en-US" dirty="0"/>
              <a:t>The formal process that can be followed to achieve a good database design</a:t>
            </a:r>
          </a:p>
          <a:p>
            <a:pPr marL="742950" lvl="1" indent="-285750" eaLnBrk="1" hangingPunct="1">
              <a:lnSpc>
                <a:spcPct val="150000"/>
              </a:lnSpc>
              <a:buFont typeface="Wingdings" panose="05000000000000000000" pitchFamily="2" charset="2"/>
              <a:buChar char="ü"/>
              <a:defRPr/>
            </a:pPr>
            <a:r>
              <a:rPr lang="en-US" altLang="en-US" dirty="0"/>
              <a:t>Also used to check that an existing design is of good quality </a:t>
            </a:r>
          </a:p>
          <a:p>
            <a:pPr marL="742950" lvl="1" indent="-285750" eaLnBrk="1" hangingPunct="1">
              <a:lnSpc>
                <a:spcPct val="150000"/>
              </a:lnSpc>
              <a:buFont typeface="Wingdings" panose="05000000000000000000" pitchFamily="2" charset="2"/>
              <a:buChar char="ü"/>
              <a:defRPr/>
            </a:pPr>
            <a:r>
              <a:rPr lang="en-US" altLang="en-US" dirty="0"/>
              <a:t>The different stages of normalization are known as “normal forms”</a:t>
            </a:r>
          </a:p>
        </p:txBody>
      </p:sp>
      <p:sp>
        <p:nvSpPr>
          <p:cNvPr id="5" name="Rectangle 4"/>
          <p:cNvSpPr/>
          <p:nvPr/>
        </p:nvSpPr>
        <p:spPr>
          <a:xfrm>
            <a:off x="8235950" y="1806575"/>
            <a:ext cx="3249613" cy="5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Conceptual Database Design</a:t>
            </a:r>
          </a:p>
        </p:txBody>
      </p:sp>
      <p:sp>
        <p:nvSpPr>
          <p:cNvPr id="6" name="Rectangle 5"/>
          <p:cNvSpPr/>
          <p:nvPr/>
        </p:nvSpPr>
        <p:spPr>
          <a:xfrm>
            <a:off x="8239125" y="2638425"/>
            <a:ext cx="32464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Logical Database Design Schema</a:t>
            </a:r>
          </a:p>
        </p:txBody>
      </p:sp>
      <p:sp>
        <p:nvSpPr>
          <p:cNvPr id="7" name="Rectangle 6"/>
          <p:cNvSpPr/>
          <p:nvPr/>
        </p:nvSpPr>
        <p:spPr>
          <a:xfrm>
            <a:off x="8235950" y="3500438"/>
            <a:ext cx="3246438" cy="62071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effectLst>
                  <a:outerShdw blurRad="38100" dist="38100" dir="2700000" algn="tl">
                    <a:srgbClr val="000000">
                      <a:alpha val="43137"/>
                    </a:srgbClr>
                  </a:outerShdw>
                </a:effectLst>
              </a:rPr>
              <a:t>Schema Refinement</a:t>
            </a:r>
          </a:p>
        </p:txBody>
      </p:sp>
      <p:sp>
        <p:nvSpPr>
          <p:cNvPr id="8" name="Rectangle 7"/>
          <p:cNvSpPr/>
          <p:nvPr/>
        </p:nvSpPr>
        <p:spPr>
          <a:xfrm>
            <a:off x="8235950" y="4398963"/>
            <a:ext cx="32464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Physical Database Design </a:t>
            </a:r>
          </a:p>
        </p:txBody>
      </p:sp>
      <p:sp>
        <p:nvSpPr>
          <p:cNvPr id="9" name="Rectangle 8"/>
          <p:cNvSpPr/>
          <p:nvPr/>
        </p:nvSpPr>
        <p:spPr>
          <a:xfrm>
            <a:off x="8232775" y="5346700"/>
            <a:ext cx="3257550"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Application and Security Design</a:t>
            </a:r>
            <a:endParaRPr lang="en-US" dirty="0"/>
          </a:p>
        </p:txBody>
      </p:sp>
      <p:sp>
        <p:nvSpPr>
          <p:cNvPr id="10" name="Rectangle 9"/>
          <p:cNvSpPr/>
          <p:nvPr/>
        </p:nvSpPr>
        <p:spPr>
          <a:xfrm>
            <a:off x="8232775" y="1062038"/>
            <a:ext cx="3249613" cy="608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Requirements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8475" y="685800"/>
            <a:ext cx="11490325" cy="6432550"/>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Refinement(Cont..)</a:t>
            </a:r>
          </a:p>
          <a:p>
            <a:pPr>
              <a:defRPr/>
            </a:pPr>
            <a:r>
              <a:rPr lang="en-US" sz="2000" b="1" dirty="0">
                <a:effectLst>
                  <a:outerShdw blurRad="38100" dist="38100" dir="2700000" algn="tl">
                    <a:srgbClr val="000000">
                      <a:alpha val="43137"/>
                    </a:srgbClr>
                  </a:outerShdw>
                </a:effectLst>
              </a:rPr>
              <a:t>G</a:t>
            </a:r>
            <a:r>
              <a:rPr lang="en-US" sz="2000" b="1" dirty="0"/>
              <a:t>uidelines that may be used as measures to determine the quality of relation schema design:</a:t>
            </a:r>
          </a:p>
          <a:p>
            <a:pPr>
              <a:defRPr/>
            </a:pPr>
            <a:endParaRPr lang="en-US" sz="2000" b="1" dirty="0">
              <a:effectLst>
                <a:outerShdw blurRad="38100" dist="38100" dir="2700000" algn="tl">
                  <a:srgbClr val="000000">
                    <a:alpha val="43137"/>
                  </a:srgbClr>
                </a:outerShdw>
              </a:effectLst>
            </a:endParaRPr>
          </a:p>
          <a:p>
            <a:pPr marL="342900" indent="-342900">
              <a:lnSpc>
                <a:spcPct val="200000"/>
              </a:lnSpc>
              <a:buFont typeface="Wingdings" panose="05000000000000000000" pitchFamily="2" charset="2"/>
              <a:buChar char="ü"/>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uideline:1: </a:t>
            </a:r>
            <a:r>
              <a:rPr lang="en-US" sz="2000" dirty="0"/>
              <a:t>Making sure that the semantics of the attributes is clear in the schema </a:t>
            </a:r>
          </a:p>
          <a:p>
            <a:pPr marL="342900" indent="-342900">
              <a:lnSpc>
                <a:spcPct val="200000"/>
              </a:lnSpc>
              <a:buFont typeface="Wingdings" panose="05000000000000000000" pitchFamily="2" charset="2"/>
              <a:buChar char="ü"/>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uideline:2: </a:t>
            </a:r>
            <a:r>
              <a:rPr lang="en-US" sz="2000" dirty="0"/>
              <a:t>Reducing the redundant information in tuples </a:t>
            </a:r>
          </a:p>
          <a:p>
            <a:pPr marL="342900" indent="-342900">
              <a:lnSpc>
                <a:spcPct val="200000"/>
              </a:lnSpc>
              <a:buFont typeface="Wingdings" panose="05000000000000000000" pitchFamily="2" charset="2"/>
              <a:buChar char="ü"/>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uideline:3: </a:t>
            </a:r>
            <a:r>
              <a:rPr lang="en-US" sz="2000" dirty="0"/>
              <a:t>Reducing the NULL values in tuples </a:t>
            </a:r>
          </a:p>
          <a:p>
            <a:pPr marL="342900" indent="-342900">
              <a:lnSpc>
                <a:spcPct val="200000"/>
              </a:lnSpc>
              <a:buFont typeface="Wingdings" panose="05000000000000000000" pitchFamily="2" charset="2"/>
              <a:buChar char="ü"/>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uideline:4: </a:t>
            </a:r>
            <a:r>
              <a:rPr lang="en-US" sz="2000" dirty="0"/>
              <a:t>Disallowing the possibility of generating spurious tuple</a:t>
            </a: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1200" b="1" dirty="0">
              <a:effectLst>
                <a:outerShdw blurRad="38100" dist="38100" dir="2700000" algn="tl">
                  <a:srgbClr val="000000">
                    <a:alpha val="43137"/>
                  </a:srgbClr>
                </a:outerShdw>
              </a:effectLst>
            </a:endParaRPr>
          </a:p>
        </p:txBody>
      </p:sp>
      <p:sp>
        <p:nvSpPr>
          <p:cNvPr id="5" name="Rounded Rectangle 17"/>
          <p:cNvSpPr/>
          <p:nvPr/>
        </p:nvSpPr>
        <p:spPr>
          <a:xfrm>
            <a:off x="3143250" y="115888"/>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8475" y="685800"/>
            <a:ext cx="11490325" cy="7048500"/>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 (Cont..)</a:t>
            </a:r>
          </a:p>
          <a:p>
            <a:pPr>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uideline:1</a:t>
            </a:r>
            <a:endParaRPr lang="en-US" sz="2000" b="1" dirty="0">
              <a:solidFill>
                <a:srgbClr val="FF0000"/>
              </a:solidFill>
              <a:effectLst>
                <a:outerShdw blurRad="38100" dist="38100" dir="2700000" algn="tl">
                  <a:srgbClr val="000000">
                    <a:alpha val="43137"/>
                  </a:srgbClr>
                </a:outerShdw>
              </a:effectLst>
            </a:endParaRPr>
          </a:p>
          <a:p>
            <a:pPr algn="ctr">
              <a:lnSpc>
                <a:spcPct val="150000"/>
              </a:lnSpc>
              <a:defRPr/>
            </a:pPr>
            <a:r>
              <a:rPr lang="en-US" sz="2000" b="1" dirty="0"/>
              <a:t>Making sure that the semantics of the attributes is clear in the schema</a:t>
            </a:r>
          </a:p>
          <a:p>
            <a:pPr marL="342900" indent="-342900">
              <a:lnSpc>
                <a:spcPct val="150000"/>
              </a:lnSpc>
              <a:buFont typeface="Wingdings" panose="05000000000000000000" pitchFamily="2" charset="2"/>
              <a:buChar char="ü"/>
              <a:defRPr/>
            </a:pPr>
            <a:r>
              <a:rPr lang="en-US" altLang="en-US" sz="2000" dirty="0"/>
              <a:t>Informally, each tuple in a relation should represent one entity or relationship instance. (Applies to individual relations and their attributes).</a:t>
            </a:r>
          </a:p>
          <a:p>
            <a:pPr marL="342900" indent="-342900">
              <a:lnSpc>
                <a:spcPct val="150000"/>
              </a:lnSpc>
              <a:buFont typeface="Wingdings" panose="05000000000000000000" pitchFamily="2" charset="2"/>
              <a:buChar char="ü"/>
              <a:defRPr/>
            </a:pPr>
            <a:r>
              <a:rPr lang="en-US" altLang="en-US" sz="2000" dirty="0"/>
              <a:t>Attributes of different entities (EMPLOYEEs, DEPARTMENTs, PROJECTs) should not be mixed in the same relation</a:t>
            </a:r>
          </a:p>
          <a:p>
            <a:pPr marL="342900" indent="-342900">
              <a:lnSpc>
                <a:spcPct val="150000"/>
              </a:lnSpc>
              <a:buFont typeface="Wingdings" panose="05000000000000000000" pitchFamily="2" charset="2"/>
              <a:buChar char="ü"/>
              <a:defRPr/>
            </a:pPr>
            <a:r>
              <a:rPr lang="en-US" altLang="en-US" sz="2000" dirty="0"/>
              <a:t>Only foreign keys should be used to refer to other entities.</a:t>
            </a:r>
          </a:p>
          <a:p>
            <a:pPr marL="342900" indent="-342900">
              <a:lnSpc>
                <a:spcPct val="150000"/>
              </a:lnSpc>
              <a:buFont typeface="Wingdings" panose="05000000000000000000" pitchFamily="2" charset="2"/>
              <a:buChar char="ü"/>
              <a:defRPr/>
            </a:pPr>
            <a:r>
              <a:rPr lang="en-US" altLang="en-US" sz="2000" dirty="0"/>
              <a:t>Entity and relationship attributes should be kept apart as much as possible.</a:t>
            </a:r>
          </a:p>
          <a:p>
            <a:pPr>
              <a:lnSpc>
                <a:spcPct val="150000"/>
              </a:lnSpc>
              <a:defRPr/>
            </a:pPr>
            <a:r>
              <a:rPr lang="en-US" altLang="en-US" sz="2000" i="1" u="sng" dirty="0"/>
              <a:t>Bottom Line:</a:t>
            </a:r>
            <a:r>
              <a:rPr lang="en-US" altLang="en-US" sz="2000" i="1" dirty="0"/>
              <a:t> Design a schema that can be explained easily relation by relation. The semantics of attributes should be easy to interpret. </a:t>
            </a:r>
          </a:p>
          <a:p>
            <a:pPr>
              <a:lnSpc>
                <a:spcPct val="150000"/>
              </a:lnSpc>
              <a:defRPr/>
            </a:pPr>
            <a:endParaRPr lang="en-US" altLang="en-US" sz="2000" dirty="0"/>
          </a:p>
          <a:p>
            <a:pPr>
              <a:lnSpc>
                <a:spcPct val="150000"/>
              </a:lnSpc>
              <a:defRPr/>
            </a:pPr>
            <a:endParaRPr lang="en-US" altLang="en-US" sz="2000" dirty="0"/>
          </a:p>
          <a:p>
            <a:pPr>
              <a:lnSpc>
                <a:spcPct val="150000"/>
              </a:lnSpc>
              <a:defRPr/>
            </a:pPr>
            <a:endParaRPr lang="en-US" altLang="en-US" sz="2000" dirty="0"/>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1200" b="1" dirty="0">
              <a:effectLst>
                <a:outerShdw blurRad="38100" dist="38100" dir="2700000" algn="tl">
                  <a:srgbClr val="000000">
                    <a:alpha val="43137"/>
                  </a:srgbClr>
                </a:outerShdw>
              </a:effectLst>
            </a:endParaRPr>
          </a:p>
        </p:txBody>
      </p:sp>
      <p:sp>
        <p:nvSpPr>
          <p:cNvPr id="5" name="Rounded Rectangle 17"/>
          <p:cNvSpPr/>
          <p:nvPr/>
        </p:nvSpPr>
        <p:spPr>
          <a:xfrm>
            <a:off x="3122613" y="69850"/>
            <a:ext cx="6200775" cy="4302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7840" y="686295"/>
            <a:ext cx="11490960" cy="5786199"/>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 (Cont..)</a:t>
            </a:r>
          </a:p>
          <a:p>
            <a:pPr>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uidelines:1</a:t>
            </a:r>
            <a:endParaRPr lang="en-US" sz="2000" b="1" dirty="0">
              <a:solidFill>
                <a:srgbClr val="FF0000"/>
              </a:solidFill>
              <a:effectLst>
                <a:outerShdw blurRad="38100" dist="38100" dir="2700000" algn="tl">
                  <a:srgbClr val="000000">
                    <a:alpha val="43137"/>
                  </a:srgbClr>
                </a:outerShdw>
              </a:effectLst>
            </a:endParaRPr>
          </a:p>
          <a:p>
            <a:pPr>
              <a:lnSpc>
                <a:spcPct val="150000"/>
              </a:lnSpc>
              <a:defRPr/>
            </a:pPr>
            <a:r>
              <a:rPr lang="en-US" sz="2000" b="1" dirty="0"/>
              <a:t>Making sure that the semantics of the attributes is clear in the schema: </a:t>
            </a:r>
          </a:p>
          <a:p>
            <a:pP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defRPr/>
            </a:pPr>
            <a:r>
              <a:rPr lang="en-US" sz="2000" b="1" dirty="0">
                <a:effectLst>
                  <a:outerShdw blurRad="38100" dist="38100" dir="2700000" algn="tl">
                    <a:srgbClr val="000000">
                      <a:alpha val="43137"/>
                    </a:srgbClr>
                  </a:outerShdw>
                </a:effectLst>
              </a:rPr>
              <a:t>			</a:t>
            </a:r>
            <a:r>
              <a:rPr lang="en-US" sz="2000" i="1" dirty="0">
                <a:highlight>
                  <a:srgbClr val="00FF00"/>
                </a:highlight>
                <a:hlinkClick r:id="rId3" action="ppaction://hlinksldjump"/>
              </a:rPr>
              <a:t>Data</a:t>
            </a:r>
            <a:r>
              <a:rPr lang="en-US" sz="2000" b="1" dirty="0">
                <a:effectLst>
                  <a:outerShdw blurRad="38100" dist="38100" dir="2700000" algn="tl">
                    <a:srgbClr val="000000">
                      <a:alpha val="43137"/>
                    </a:srgbClr>
                  </a:outerShdw>
                </a:effectLst>
              </a:rPr>
              <a:t>					</a:t>
            </a:r>
            <a:r>
              <a:rPr lang="en-US" sz="2000" i="1" dirty="0">
                <a:effectLst>
                  <a:outerShdw blurRad="38100" dist="38100" dir="2700000" algn="tl">
                    <a:srgbClr val="000000">
                      <a:alpha val="43137"/>
                    </a:srgbClr>
                  </a:outerShdw>
                </a:effectLst>
              </a:rPr>
              <a:t> </a:t>
            </a:r>
            <a:r>
              <a:rPr lang="en-US" sz="2000" i="1" dirty="0">
                <a:highlight>
                  <a:srgbClr val="00FF00"/>
                </a:highlight>
                <a:hlinkClick r:id="rId4" action="ppaction://hlinksldjump"/>
              </a:rPr>
              <a:t>Data</a:t>
            </a:r>
            <a:r>
              <a:rPr lang="en-US" sz="2000" i="1" dirty="0">
                <a:highlight>
                  <a:srgbClr val="FFFF00"/>
                </a:highlight>
              </a:rPr>
              <a:t> </a:t>
            </a:r>
            <a:r>
              <a:rPr lang="en-US" sz="2000" b="1" dirty="0">
                <a:effectLst>
                  <a:outerShdw blurRad="38100" dist="38100" dir="2700000" algn="tl">
                    <a:srgbClr val="000000">
                      <a:alpha val="43137"/>
                    </a:srgbClr>
                  </a:outerShdw>
                </a:effectLst>
              </a:rPr>
              <a:t>				</a:t>
            </a:r>
          </a:p>
        </p:txBody>
      </p:sp>
      <p:pic>
        <p:nvPicPr>
          <p:cNvPr id="2560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963" y="2001838"/>
            <a:ext cx="5253037" cy="384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6" descr="fig14_01.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289675" y="2001838"/>
            <a:ext cx="5251450" cy="384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ounded Rectangle 17"/>
          <p:cNvSpPr/>
          <p:nvPr/>
        </p:nvSpPr>
        <p:spPr>
          <a:xfrm>
            <a:off x="3143250" y="169863"/>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8475" y="685800"/>
            <a:ext cx="11490325" cy="9818688"/>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 (Cont..) </a:t>
            </a:r>
          </a:p>
          <a:p>
            <a:pPr>
              <a:lnSpc>
                <a:spcPct val="150000"/>
              </a:lnSpc>
              <a:defRPr/>
            </a:pPr>
            <a:r>
              <a:rPr lang="en-US" altLang="en-US" sz="2000" b="1" dirty="0"/>
              <a:t>Redundant Information in Tuples and Update Anomalies </a:t>
            </a:r>
          </a:p>
          <a:p>
            <a:pPr marL="342900" indent="-342900">
              <a:lnSpc>
                <a:spcPct val="150000"/>
              </a:lnSpc>
              <a:buFont typeface="Wingdings" panose="05000000000000000000" pitchFamily="2" charset="2"/>
              <a:buChar char="ü"/>
              <a:defRPr/>
            </a:pPr>
            <a:r>
              <a:rPr lang="en-US" altLang="en-US" sz="2000" b="1" dirty="0"/>
              <a:t>Wastes storage: </a:t>
            </a:r>
            <a:r>
              <a:rPr lang="en-US" dirty="0"/>
              <a:t>Grouping attributes into relation schemas has a significant effect on storage space</a:t>
            </a:r>
            <a:endParaRPr lang="en-US" altLang="en-US" sz="2000" b="1" dirty="0"/>
          </a:p>
          <a:p>
            <a:pPr marL="342900" indent="-342900">
              <a:lnSpc>
                <a:spcPct val="150000"/>
              </a:lnSpc>
              <a:buFont typeface="Wingdings" panose="05000000000000000000" pitchFamily="2" charset="2"/>
              <a:buChar char="ü"/>
              <a:defRPr/>
            </a:pPr>
            <a:r>
              <a:rPr lang="en-US" altLang="en-US" sz="2000" b="1" dirty="0"/>
              <a:t>problems with update anomalies: </a:t>
            </a:r>
            <a:r>
              <a:rPr lang="en-US" sz="2000" dirty="0"/>
              <a:t>Storing natural joins of base relations leads to an additional problem referred to as update anomalies.</a:t>
            </a:r>
            <a:endParaRPr lang="en-US" altLang="en-US" sz="2000" b="1" dirty="0"/>
          </a:p>
          <a:p>
            <a:pPr marL="1257300" lvl="2" indent="-342900" eaLnBrk="1" hangingPunct="1">
              <a:lnSpc>
                <a:spcPct val="150000"/>
              </a:lnSpc>
              <a:buFont typeface="Wingdings" panose="05000000000000000000" pitchFamily="2" charset="2"/>
              <a:buChar char="ü"/>
              <a:defRPr/>
            </a:pPr>
            <a:r>
              <a:rPr lang="en-US" altLang="en-US" sz="2000" b="1" dirty="0"/>
              <a:t>Insertion anomalies :</a:t>
            </a:r>
            <a:r>
              <a:rPr lang="en-US" sz="2000" dirty="0"/>
              <a:t>To insert a new employee tuple into EMP_DEPT, we must include either the attribute values for the department that the employee works for, or NULLs (if the employee does not work for a department as yet). For example, to insert a new tuple for an employee who works in department number 5, we must enter all the attribute values of department 5 correctly so that they are consistent with the corresponding values for department 5 in other tuples in EMP_DEPT.</a:t>
            </a:r>
            <a:endParaRPr lang="en-US" altLang="en-US" sz="2000" b="1" dirty="0"/>
          </a:p>
          <a:p>
            <a:pPr>
              <a:lnSpc>
                <a:spcPct val="150000"/>
              </a:lnSpc>
              <a:defRPr/>
            </a:pPr>
            <a:endParaRPr lang="en-US" altLang="en-US" sz="2000" b="1" dirty="0"/>
          </a:p>
          <a:p>
            <a:pPr marL="342900" indent="-342900">
              <a:lnSpc>
                <a:spcPct val="150000"/>
              </a:lnSpc>
              <a:buFont typeface="Wingdings" panose="05000000000000000000" pitchFamily="2" charset="2"/>
              <a:buChar char="ü"/>
              <a:defRPr/>
            </a:pPr>
            <a:endParaRPr lang="en-US" altLang="en-US" sz="2000" b="1" dirty="0"/>
          </a:p>
          <a:p>
            <a:pPr>
              <a:lnSpc>
                <a:spcPct val="150000"/>
              </a:lnSpc>
              <a:defRPr/>
            </a:pPr>
            <a:endParaRPr lang="en-US" sz="2000" b="1" dirty="0"/>
          </a:p>
          <a:p>
            <a:pPr>
              <a:lnSpc>
                <a:spcPct val="150000"/>
              </a:lnSpc>
              <a:defRPr/>
            </a:pPr>
            <a:endParaRPr lang="en-US" sz="2000" b="1" dirty="0"/>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1200" b="1" dirty="0">
              <a:effectLst>
                <a:outerShdw blurRad="38100" dist="38100" dir="2700000" algn="tl">
                  <a:srgbClr val="000000">
                    <a:alpha val="43137"/>
                  </a:srgbClr>
                </a:outerShdw>
              </a:effectLst>
            </a:endParaRPr>
          </a:p>
        </p:txBody>
      </p:sp>
      <p:sp>
        <p:nvSpPr>
          <p:cNvPr id="5" name="Rounded Rectangle 17"/>
          <p:cNvSpPr/>
          <p:nvPr/>
        </p:nvSpPr>
        <p:spPr>
          <a:xfrm>
            <a:off x="3143250" y="142875"/>
            <a:ext cx="6200775" cy="4302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8475" y="685800"/>
            <a:ext cx="11490325" cy="5940425"/>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 (Cont..)</a:t>
            </a:r>
          </a:p>
          <a:p>
            <a:pPr>
              <a:lnSpc>
                <a:spcPct val="150000"/>
              </a:lnSpc>
              <a:defRPr/>
            </a:pPr>
            <a:r>
              <a:rPr lang="en-US" altLang="en-US" sz="2000" b="1" dirty="0"/>
              <a:t>Redundant Information in Tuples and Update Anomalies </a:t>
            </a:r>
          </a:p>
          <a:p>
            <a:pPr marL="1257300" lvl="2" indent="-342900" eaLnBrk="1" hangingPunct="1">
              <a:lnSpc>
                <a:spcPct val="150000"/>
              </a:lnSpc>
              <a:buFont typeface="Wingdings" panose="05000000000000000000" pitchFamily="2" charset="2"/>
              <a:buChar char="ü"/>
              <a:defRPr/>
            </a:pPr>
            <a:r>
              <a:rPr lang="en-US" altLang="en-US" sz="2000" b="1" dirty="0"/>
              <a:t>Deletion anomalies: </a:t>
            </a:r>
            <a:r>
              <a:rPr lang="en-US" sz="2000" dirty="0"/>
              <a:t>If we delete from EMP_DEPT an employee tuple that happens to represent the last employee working for a particular department, the information concerning that department is lost inadvertently from the database. This problem does not occur in the database</a:t>
            </a:r>
          </a:p>
          <a:p>
            <a:pPr lvl="2" eaLnBrk="1" hangingPunct="1">
              <a:lnSpc>
                <a:spcPct val="150000"/>
              </a:lnSpc>
              <a:defRPr/>
            </a:pPr>
            <a:r>
              <a:rPr lang="en-US" sz="2000" dirty="0"/>
              <a:t>    Because DEPARTMENT tuples are stored separately</a:t>
            </a:r>
            <a:endParaRPr lang="en-US" altLang="en-US" sz="2000" b="1" dirty="0"/>
          </a:p>
          <a:p>
            <a:pPr marL="1257300" lvl="2" indent="-342900" eaLnBrk="1" hangingPunct="1">
              <a:lnSpc>
                <a:spcPct val="150000"/>
              </a:lnSpc>
              <a:buFont typeface="Wingdings" panose="05000000000000000000" pitchFamily="2" charset="2"/>
              <a:buChar char="ü"/>
              <a:defRPr/>
            </a:pPr>
            <a:r>
              <a:rPr lang="en-US" altLang="en-US" sz="2000" b="1" dirty="0"/>
              <a:t>Modification anomalies: </a:t>
            </a:r>
            <a:r>
              <a:rPr lang="en-US" sz="2000" dirty="0"/>
              <a:t>In EMP_DEPT, if we change the value of one of the attributes of a particular department—say, the manager of department 5—we must update the tuples of all employees who work in that department; otherwise, the database will become inconsistent</a:t>
            </a:r>
          </a:p>
          <a:p>
            <a:pPr marL="92075" lvl="2" eaLnBrk="1" hangingPunct="1">
              <a:defRPr/>
            </a:pPr>
            <a:r>
              <a:rPr lang="en-US" sz="2000" b="1" i="1" dirty="0"/>
              <a:t>It is easy to see that these three anomalies are undesirable and cause difficulties to maintain consistency of data as well as require unnecessary updates that can be avoided; hence, we can state the next guideline.</a:t>
            </a:r>
            <a:endParaRPr lang="en-US" sz="1200" b="1" i="1" dirty="0">
              <a:effectLst>
                <a:outerShdw blurRad="38100" dist="38100" dir="2700000" algn="tl">
                  <a:srgbClr val="000000">
                    <a:alpha val="43137"/>
                  </a:srgbClr>
                </a:outerShdw>
              </a:effectLst>
            </a:endParaRPr>
          </a:p>
        </p:txBody>
      </p:sp>
      <p:sp>
        <p:nvSpPr>
          <p:cNvPr id="5" name="Rounded Rectangle 17"/>
          <p:cNvSpPr/>
          <p:nvPr/>
        </p:nvSpPr>
        <p:spPr>
          <a:xfrm>
            <a:off x="3143250" y="246063"/>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p:cNvSpPr/>
          <p:nvPr/>
        </p:nvSpPr>
        <p:spPr>
          <a:xfrm>
            <a:off x="3122613" y="69850"/>
            <a:ext cx="6200775" cy="4302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SESSION DESCRIPTION         (Cont..)</a:t>
            </a:r>
          </a:p>
        </p:txBody>
      </p:sp>
      <p:pic>
        <p:nvPicPr>
          <p:cNvPr id="28675"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8475" y="685800"/>
            <a:ext cx="11490325" cy="5878513"/>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Refinement(Cont..)</a:t>
            </a:r>
          </a:p>
          <a:p>
            <a:pPr>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uideline:2</a:t>
            </a:r>
            <a:endParaRPr lang="en-US" sz="2000" b="1" dirty="0">
              <a:solidFill>
                <a:srgbClr val="FF0000"/>
              </a:solidFill>
              <a:effectLst>
                <a:outerShdw blurRad="38100" dist="38100" dir="2700000" algn="tl">
                  <a:srgbClr val="000000">
                    <a:alpha val="43137"/>
                  </a:srgbClr>
                </a:outerShdw>
              </a:effectLst>
            </a:endParaRPr>
          </a:p>
          <a:p>
            <a:pPr algn="ctr">
              <a:lnSpc>
                <a:spcPct val="150000"/>
              </a:lnSpc>
              <a:defRPr/>
            </a:pPr>
            <a:r>
              <a:rPr lang="en-US" sz="2000" b="1" dirty="0"/>
              <a:t>Reducing the redundant information in tuples :</a:t>
            </a:r>
          </a:p>
          <a:p>
            <a:pPr>
              <a:lnSpc>
                <a:spcPct val="150000"/>
              </a:lnSpc>
              <a:defRPr/>
            </a:pPr>
            <a:r>
              <a:rPr lang="en-US" sz="2000" dirty="0"/>
              <a:t> Design the base relation schemas so that no insertion, deletion, or modification anomalies are present in the relations. If any anomalies are present, note them clearly and make sure that the programs that update the database will operate correctly.</a:t>
            </a: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1200" b="1" i="1" dirty="0">
              <a:effectLst>
                <a:outerShdw blurRad="38100" dist="38100" dir="2700000" algn="tl">
                  <a:srgbClr val="000000">
                    <a:alpha val="43137"/>
                  </a:srgbClr>
                </a:outerShdw>
              </a:effectLst>
            </a:endParaRPr>
          </a:p>
          <a:p>
            <a:pPr>
              <a:defRPr/>
            </a:pPr>
            <a:r>
              <a:rPr lang="en-US" sz="1200" b="1" i="1" dirty="0">
                <a:effectLst>
                  <a:outerShdw blurRad="38100" dist="38100" dir="2700000" algn="tl">
                    <a:srgbClr val="000000">
                      <a:alpha val="43137"/>
                    </a:srgbClr>
                  </a:outerShdw>
                </a:effectLst>
              </a:rPr>
              <a:t>It is important to note that these guidelines may sometimes have to be violated in order to improve the performance of certain </a:t>
            </a:r>
            <a:r>
              <a:rPr lang="en-IN" sz="1200" b="1" i="1" dirty="0">
                <a:effectLst>
                  <a:outerShdw blurRad="38100" dist="38100" dir="2700000" algn="tl">
                    <a:srgbClr val="000000">
                      <a:alpha val="43137"/>
                    </a:srgbClr>
                  </a:outerShdw>
                </a:effectLst>
              </a:rPr>
              <a:t>n queries.</a:t>
            </a:r>
            <a:endParaRPr lang="en-US" sz="1200" b="1" i="1" dirty="0">
              <a:effectLst>
                <a:outerShdw blurRad="38100" dist="38100" dir="2700000" algn="tl">
                  <a:srgbClr val="000000">
                    <a:alpha val="43137"/>
                  </a:srgbClr>
                </a:outerShdw>
              </a:effectLst>
            </a:endParaRPr>
          </a:p>
          <a:p>
            <a:pPr algn="ctr">
              <a:defRPr/>
            </a:pPr>
            <a:endParaRPr lang="en-US" sz="1200" b="1" dirty="0">
              <a:effectLst>
                <a:outerShdw blurRad="38100" dist="38100" dir="2700000" algn="tl">
                  <a:srgbClr val="000000">
                    <a:alpha val="43137"/>
                  </a:srgbClr>
                </a:outerShdw>
              </a:effectLst>
            </a:endParaRPr>
          </a:p>
        </p:txBody>
      </p:sp>
      <p:pic>
        <p:nvPicPr>
          <p:cNvPr id="2867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25" y="3273425"/>
            <a:ext cx="5365750"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8575" y="3273425"/>
            <a:ext cx="5314950"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5529178" y="6259756"/>
            <a:ext cx="1133644" cy="369332"/>
          </a:xfrm>
          <a:prstGeom prst="rect">
            <a:avLst/>
          </a:prstGeom>
        </p:spPr>
        <p:txBody>
          <a:bodyPr wrap="none">
            <a:spAutoFit/>
          </a:bodyPr>
          <a:lstStyle/>
          <a:p>
            <a:pPr>
              <a:defRPr/>
            </a:pPr>
            <a:r>
              <a:rPr lang="en-US" b="1" dirty="0">
                <a:highlight>
                  <a:srgbClr val="00FF00"/>
                </a:highlight>
                <a:hlinkClick r:id="rId5" action="ppaction://hlinksldjump"/>
              </a:rPr>
              <a:t>Example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8475" y="685800"/>
            <a:ext cx="11490325" cy="8310563"/>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Refinement(Cont..)</a:t>
            </a:r>
          </a:p>
          <a:p>
            <a:pPr algn="ctr">
              <a:lnSpc>
                <a:spcPct val="150000"/>
              </a:lnSpc>
              <a:defRPr/>
            </a:pPr>
            <a:r>
              <a:rPr lang="en-US" sz="2000" b="1" dirty="0"/>
              <a:t>Reducing the NULL values in tuples:</a:t>
            </a:r>
          </a:p>
          <a:p>
            <a:pPr algn="ctr">
              <a:lnSpc>
                <a:spcPct val="150000"/>
              </a:lnSpc>
              <a:defRPr/>
            </a:pPr>
            <a:endParaRPr lang="en-US" sz="2000" b="1" dirty="0"/>
          </a:p>
          <a:p>
            <a:pPr>
              <a:lnSpc>
                <a:spcPct val="150000"/>
              </a:lnSpc>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uidelines:3</a:t>
            </a:r>
            <a:endParaRPr lang="en-US" sz="2000" b="1" dirty="0">
              <a:solidFill>
                <a:srgbClr val="FF0000"/>
              </a:solidFill>
              <a:effectLst>
                <a:outerShdw blurRad="38100" dist="38100" dir="2700000" algn="tl">
                  <a:srgbClr val="000000">
                    <a:alpha val="43137"/>
                  </a:srgbClr>
                </a:outerShdw>
              </a:effectLst>
            </a:endParaRPr>
          </a:p>
          <a:p>
            <a:pPr lvl="1" eaLnBrk="1" hangingPunct="1">
              <a:defRPr/>
            </a:pPr>
            <a:r>
              <a:rPr lang="en-US" dirty="0"/>
              <a:t>As far as possible, avoid placing attributes in a base relation whose values may frequently be NULL. If NULLs are unavoidable, make sure that they apply in exceptional cases only and do not apply to a majority of tuples in the relation.</a:t>
            </a:r>
          </a:p>
          <a:p>
            <a:pPr lvl="1" eaLnBrk="1" hangingPunct="1">
              <a:defRPr/>
            </a:pPr>
            <a:endParaRPr lang="en-US" altLang="en-US" dirty="0"/>
          </a:p>
          <a:p>
            <a:pPr eaLnBrk="1" hangingPunct="1">
              <a:defRPr/>
            </a:pPr>
            <a:r>
              <a:rPr lang="en-US" altLang="en-US" dirty="0"/>
              <a:t> </a:t>
            </a:r>
            <a:r>
              <a:rPr lang="en-US" altLang="en-US" b="1" dirty="0"/>
              <a:t>Reasons for nulls:</a:t>
            </a:r>
          </a:p>
          <a:p>
            <a:pPr marL="800100" lvl="1" indent="-342900" eaLnBrk="1" hangingPunct="1">
              <a:lnSpc>
                <a:spcPct val="200000"/>
              </a:lnSpc>
              <a:buFont typeface="Wingdings" panose="05000000000000000000" pitchFamily="2" charset="2"/>
              <a:buChar char="ü"/>
              <a:defRPr/>
            </a:pPr>
            <a:r>
              <a:rPr lang="en-US" sz="2000" b="1" dirty="0"/>
              <a:t> </a:t>
            </a:r>
            <a:r>
              <a:rPr lang="en-US" altLang="en-US" dirty="0"/>
              <a:t>Attribute not applicable or invalid</a:t>
            </a:r>
          </a:p>
          <a:p>
            <a:pPr marL="742950" lvl="1" indent="-285750" eaLnBrk="1" hangingPunct="1">
              <a:lnSpc>
                <a:spcPct val="200000"/>
              </a:lnSpc>
              <a:buFont typeface="Wingdings" panose="05000000000000000000" pitchFamily="2" charset="2"/>
              <a:buChar char="ü"/>
              <a:defRPr/>
            </a:pPr>
            <a:r>
              <a:rPr lang="en-US" altLang="en-US" dirty="0"/>
              <a:t> Attribute value unknown  (may exist)</a:t>
            </a:r>
          </a:p>
          <a:p>
            <a:pPr marL="742950" lvl="1" indent="-285750" eaLnBrk="1" hangingPunct="1">
              <a:lnSpc>
                <a:spcPct val="200000"/>
              </a:lnSpc>
              <a:buFont typeface="Wingdings" panose="05000000000000000000" pitchFamily="2" charset="2"/>
              <a:buChar char="ü"/>
              <a:defRPr/>
            </a:pPr>
            <a:r>
              <a:rPr lang="en-US" altLang="en-US" dirty="0"/>
              <a:t> Value known to exist, but unavailable </a:t>
            </a:r>
          </a:p>
          <a:p>
            <a:pPr>
              <a:lnSpc>
                <a:spcPct val="150000"/>
              </a:lnSpc>
              <a:defRPr/>
            </a:pPr>
            <a:endParaRPr lang="en-US" sz="2000" b="1" dirty="0"/>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2000" b="1" dirty="0">
              <a:effectLst>
                <a:outerShdw blurRad="38100" dist="38100" dir="2700000" algn="tl">
                  <a:srgbClr val="000000">
                    <a:alpha val="43137"/>
                  </a:srgbClr>
                </a:outerShdw>
              </a:effectLst>
            </a:endParaRPr>
          </a:p>
          <a:p>
            <a:pPr algn="ctr">
              <a:defRPr/>
            </a:pPr>
            <a:endParaRPr lang="en-US" sz="1200" b="1" dirty="0">
              <a:effectLst>
                <a:outerShdw blurRad="38100" dist="38100" dir="2700000" algn="tl">
                  <a:srgbClr val="000000">
                    <a:alpha val="43137"/>
                  </a:srgbClr>
                </a:outerShdw>
              </a:effectLst>
            </a:endParaRPr>
          </a:p>
        </p:txBody>
      </p:sp>
      <p:sp>
        <p:nvSpPr>
          <p:cNvPr id="5" name="Rounded Rectangle 17"/>
          <p:cNvSpPr/>
          <p:nvPr/>
        </p:nvSpPr>
        <p:spPr>
          <a:xfrm>
            <a:off x="3143250" y="173038"/>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12"/>
          <p:cNvSpPr txBox="1">
            <a:spLocks noChangeArrowheads="1"/>
          </p:cNvSpPr>
          <p:nvPr/>
        </p:nvSpPr>
        <p:spPr bwMode="auto">
          <a:xfrm>
            <a:off x="498475" y="685800"/>
            <a:ext cx="11490325" cy="5786199"/>
          </a:xfrm>
          <a:prstGeom prst="rect">
            <a:avLst/>
          </a:prstGeom>
          <a:noFill/>
          <a:ln w="9525">
            <a:noFill/>
            <a:miter lim="800000"/>
            <a:headEnd/>
            <a:tailEnd/>
          </a:ln>
        </p:spPr>
        <p:txBody>
          <a:bodyPr>
            <a:spAutoFit/>
          </a:bodyPr>
          <a:lstStyle/>
          <a:p>
            <a:pPr algn="ctr">
              <a:defRPr/>
            </a:pPr>
            <a:r>
              <a:rPr lang="en-US" sz="2000" b="1" dirty="0">
                <a:effectLst>
                  <a:outerShdw blurRad="38100" dist="38100" dir="2700000" algn="tl">
                    <a:srgbClr val="000000">
                      <a:alpha val="43137"/>
                    </a:srgbClr>
                  </a:outerShdw>
                </a:effectLst>
              </a:rPr>
              <a:t>Schema Refinement (Cont..)</a:t>
            </a:r>
          </a:p>
          <a:p>
            <a:pPr algn="ctr">
              <a:lnSpc>
                <a:spcPct val="150000"/>
              </a:lnSpc>
              <a:defRPr/>
            </a:pPr>
            <a:r>
              <a:rPr lang="en-US" sz="2000" b="1" dirty="0"/>
              <a:t>Disallowing the possibility of generating spurious tuple:</a:t>
            </a:r>
          </a:p>
          <a:p>
            <a:pPr eaLnBrk="1" hangingPunct="1">
              <a:lnSpc>
                <a:spcPct val="90000"/>
              </a:lnSpc>
              <a:defRPr/>
            </a:pPr>
            <a:endParaRPr lang="en-US" altLang="en-US" sz="2000" b="1" dirty="0"/>
          </a:p>
          <a:p>
            <a:pPr marL="342900" indent="-342900" eaLnBrk="1" hangingPunct="1">
              <a:lnSpc>
                <a:spcPct val="200000"/>
              </a:lnSpc>
              <a:buFont typeface="Wingdings" panose="05000000000000000000" pitchFamily="2" charset="2"/>
              <a:buChar char="ü"/>
              <a:defRPr/>
            </a:pPr>
            <a:r>
              <a:rPr lang="en-US" altLang="en-US" sz="2000" dirty="0"/>
              <a:t>Bad designs for a relational database may result in erroneous results for certain JOIN operations.</a:t>
            </a:r>
          </a:p>
          <a:p>
            <a:pPr marL="342900" indent="-342900" eaLnBrk="1" hangingPunct="1">
              <a:lnSpc>
                <a:spcPct val="200000"/>
              </a:lnSpc>
              <a:buFont typeface="Wingdings" panose="05000000000000000000" pitchFamily="2" charset="2"/>
              <a:buChar char="ü"/>
              <a:defRPr/>
            </a:pPr>
            <a:r>
              <a:rPr lang="en-US" altLang="en-US" sz="2000" dirty="0"/>
              <a:t>The "lossless join" property is used to guarantee meaningful results for join operations </a:t>
            </a:r>
          </a:p>
          <a:p>
            <a:pPr>
              <a:lnSpc>
                <a:spcPct val="150000"/>
              </a:lnSpc>
              <a:defRPr/>
            </a:pPr>
            <a:r>
              <a:rPr lang="en-US" sz="2000" b="1" dirty="0">
                <a:solidFill>
                  <a:srgbClr val="FF0000"/>
                </a:solidFill>
                <a:effectLst>
                  <a:outerShdw blurRad="38100" dist="38100" dir="2700000" algn="tl">
                    <a:srgbClr val="000000">
                      <a:alpha val="43137"/>
                    </a:srgbClr>
                  </a:outerShdw>
                </a:effectLst>
              </a:rPr>
              <a:t>G</a:t>
            </a:r>
            <a:r>
              <a:rPr lang="en-US" sz="2000" b="1" dirty="0">
                <a:solidFill>
                  <a:srgbClr val="FF0000"/>
                </a:solidFill>
              </a:rPr>
              <a:t>uidelines:4</a:t>
            </a:r>
          </a:p>
          <a:p>
            <a:pPr>
              <a:lnSpc>
                <a:spcPct val="150000"/>
              </a:lnSpc>
              <a:defRPr/>
            </a:pPr>
            <a:r>
              <a:rPr lang="en-US" sz="2000" dirty="0"/>
              <a:t>Design relation schemas so that they can be joined with equality conditions on attributes that are appropriately related (primary key, foreign key) pairs in a way that guarantees that no spurious tuples are generated. </a:t>
            </a:r>
          </a:p>
          <a:p>
            <a:pPr>
              <a:lnSpc>
                <a:spcPct val="150000"/>
              </a:lnSpc>
              <a:defRPr/>
            </a:pPr>
            <a:r>
              <a:rPr lang="en-US" sz="2000" dirty="0"/>
              <a:t>Avoid relations that contain matching attributes that are not (foreign key, primary key) combinations because joining on such attributes may produce spurious tuples. </a:t>
            </a:r>
          </a:p>
          <a:p>
            <a:pPr>
              <a:lnSpc>
                <a:spcPct val="150000"/>
              </a:lnSpc>
              <a:defRPr/>
            </a:pPr>
            <a:r>
              <a:rPr lang="en-US" sz="2000" b="1" dirty="0">
                <a:highlight>
                  <a:srgbClr val="00FF00"/>
                </a:highlight>
                <a:hlinkClick r:id="rId3" action="ppaction://hlinksldjump"/>
              </a:rPr>
              <a:t>Example</a:t>
            </a:r>
            <a:endParaRPr lang="en-US" sz="2000" b="1" dirty="0">
              <a:solidFill>
                <a:srgbClr val="FF0000"/>
              </a:solidFill>
              <a:effectLst>
                <a:outerShdw blurRad="38100" dist="38100" dir="2700000" algn="tl">
                  <a:srgbClr val="000000">
                    <a:alpha val="43137"/>
                  </a:srgbClr>
                </a:outerShdw>
              </a:effectLst>
              <a:highlight>
                <a:srgbClr val="00FF00"/>
              </a:highlight>
            </a:endParaRPr>
          </a:p>
          <a:p>
            <a:pPr algn="ctr">
              <a:defRPr/>
            </a:pPr>
            <a:endParaRPr lang="en-US" sz="1200" b="1" dirty="0">
              <a:effectLst>
                <a:outerShdw blurRad="38100" dist="38100" dir="2700000" algn="tl">
                  <a:srgbClr val="000000">
                    <a:alpha val="43137"/>
                  </a:srgbClr>
                </a:outerShdw>
              </a:effectLst>
            </a:endParaRPr>
          </a:p>
        </p:txBody>
      </p:sp>
      <p:sp>
        <p:nvSpPr>
          <p:cNvPr id="5" name="Rounded Rectangle 17"/>
          <p:cNvSpPr/>
          <p:nvPr/>
        </p:nvSpPr>
        <p:spPr>
          <a:xfrm>
            <a:off x="3143250" y="201613"/>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12"/>
          <p:cNvSpPr txBox="1">
            <a:spLocks noChangeArrowheads="1"/>
          </p:cNvSpPr>
          <p:nvPr/>
        </p:nvSpPr>
        <p:spPr bwMode="auto">
          <a:xfrm>
            <a:off x="709612" y="1270000"/>
            <a:ext cx="6959601" cy="452431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b="1" dirty="0">
                <a:effectLst>
                  <a:outerShdw blurRad="38100" dist="38100" dir="2700000" algn="tl">
                    <a:srgbClr val="000000">
                      <a:alpha val="43137"/>
                    </a:srgbClr>
                  </a:outerShdw>
                </a:effectLst>
              </a:rPr>
              <a:t>Physical Database Design </a:t>
            </a:r>
          </a:p>
          <a:p>
            <a:pPr eaLnBrk="1" hangingPunct="1">
              <a:defRPr/>
            </a:pPr>
            <a:endParaRPr lang="en-US" altLang="en-US" dirty="0">
              <a:latin typeface="Calibri" panose="020F0502020204030204" pitchFamily="34" charset="0"/>
            </a:endParaRPr>
          </a:p>
          <a:p>
            <a:pPr eaLnBrk="1" hangingPunct="1">
              <a:defRPr/>
            </a:pPr>
            <a:r>
              <a:rPr lang="en-IN" dirty="0">
                <a:latin typeface="Calibri" panose="020F0502020204030204" pitchFamily="34" charset="0"/>
                <a:ea typeface="Calibri" panose="020F0502020204030204" pitchFamily="34" charset="0"/>
                <a:cs typeface="Times New Roman" panose="02020603050405020304" pitchFamily="18" charset="0"/>
              </a:rPr>
              <a:t>The physical database design is the third and final stage of database design. It focuses on implementing the logical design in a specific database management system by defining the physical database schema.</a:t>
            </a:r>
          </a:p>
          <a:p>
            <a:pPr eaLnBrk="1" hangingPunct="1">
              <a:defRPr/>
            </a:pPr>
            <a:r>
              <a:rPr lang="en-IN" dirty="0">
                <a:latin typeface="Calibri" panose="020F0502020204030204" pitchFamily="34" charset="0"/>
                <a:ea typeface="Calibri" panose="020F0502020204030204" pitchFamily="34" charset="0"/>
                <a:cs typeface="Times New Roman" panose="02020603050405020304" pitchFamily="18" charset="0"/>
              </a:rPr>
              <a:t> This includes defining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storage structures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access methods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indexes</a:t>
            </a:r>
            <a:r>
              <a:rPr lang="en-IN" dirty="0">
                <a:latin typeface="Calibri" panose="020F0502020204030204" pitchFamily="34" charset="0"/>
                <a:ea typeface="Calibri" panose="020F0502020204030204" pitchFamily="34" charset="0"/>
                <a:cs typeface="Times New Roman" panose="02020603050405020304" pitchFamily="18" charset="0"/>
              </a:rPr>
              <a:t>,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other physical parameters</a:t>
            </a:r>
            <a:r>
              <a:rPr lang="en-IN" dirty="0">
                <a:latin typeface="Calibri" panose="020F0502020204030204" pitchFamily="34" charset="0"/>
                <a:ea typeface="Calibri" panose="020F0502020204030204" pitchFamily="34" charset="0"/>
                <a:cs typeface="Times New Roman" panose="02020603050405020304" pitchFamily="18" charset="0"/>
              </a:rPr>
              <a:t>. </a:t>
            </a:r>
          </a:p>
          <a:p>
            <a:pPr eaLnBrk="1" hangingPunct="1">
              <a:defRPr/>
            </a:pPr>
            <a:r>
              <a:rPr lang="en-IN" dirty="0">
                <a:latin typeface="Calibri" panose="020F0502020204030204" pitchFamily="34" charset="0"/>
                <a:ea typeface="Calibri" panose="020F0502020204030204" pitchFamily="34" charset="0"/>
                <a:cs typeface="Times New Roman" panose="02020603050405020304" pitchFamily="18" charset="0"/>
              </a:rPr>
              <a:t>The main focus is on how the database will be physically implemented on a specific platform.</a:t>
            </a:r>
          </a:p>
          <a:p>
            <a:pPr eaLnBrk="1" hangingPunct="1">
              <a:defRPr/>
            </a:pPr>
            <a:endParaRPr lang="en-IN" altLang="en-US" dirty="0">
              <a:latin typeface="Calibri" panose="020F0502020204030204" pitchFamily="34" charset="0"/>
              <a:ea typeface="Calibri" panose="020F0502020204030204" pitchFamily="34" charset="0"/>
              <a:cs typeface="Times New Roman" panose="02020603050405020304" pitchFamily="18" charset="0"/>
            </a:endParaRPr>
          </a:p>
          <a:p>
            <a:pPr eaLnBrk="1" hangingPunct="1">
              <a:defRPr/>
            </a:pPr>
            <a:endParaRPr lang="en-IN" altLang="en-US" dirty="0">
              <a:latin typeface="Calibri" panose="020F0502020204030204" pitchFamily="34" charset="0"/>
              <a:ea typeface="Calibri" panose="020F0502020204030204" pitchFamily="34" charset="0"/>
              <a:cs typeface="Times New Roman" panose="02020603050405020304" pitchFamily="18" charset="0"/>
            </a:endParaRPr>
          </a:p>
          <a:p>
            <a:pPr eaLnBrk="1" hangingPunct="1">
              <a:defRPr/>
            </a:pPr>
            <a:r>
              <a:rPr lang="en-US" b="1" dirty="0">
                <a:highlight>
                  <a:srgbClr val="00FF00"/>
                </a:highlight>
                <a:hlinkClick r:id="rId3" action="ppaction://hlinksldjump"/>
              </a:rPr>
              <a:t>Example</a:t>
            </a:r>
            <a:endParaRPr lang="en-US" altLang="en-US" dirty="0">
              <a:latin typeface="Calibri" panose="020F0502020204030204" pitchFamily="34" charset="0"/>
            </a:endParaRPr>
          </a:p>
          <a:p>
            <a:pPr eaLnBrk="1" hangingPunct="1">
              <a:defRPr/>
            </a:pPr>
            <a:endParaRPr lang="en-US" altLang="en-US" dirty="0">
              <a:latin typeface="Calibri" panose="020F0502020204030204" pitchFamily="34" charset="0"/>
            </a:endParaRPr>
          </a:p>
          <a:p>
            <a:pPr eaLnBrk="1" hangingPunct="1">
              <a:defRPr/>
            </a:pPr>
            <a:endParaRPr lang="en-US" altLang="en-US" dirty="0">
              <a:latin typeface="Calibri" panose="020F0502020204030204" pitchFamily="34" charset="0"/>
            </a:endParaRPr>
          </a:p>
          <a:p>
            <a:pPr eaLnBrk="1" hangingPunct="1">
              <a:defRPr/>
            </a:pPr>
            <a:endParaRPr lang="en-US" altLang="en-US" dirty="0">
              <a:latin typeface="Calibri" panose="020F0502020204030204" pitchFamily="34" charset="0"/>
            </a:endParaRPr>
          </a:p>
        </p:txBody>
      </p:sp>
      <p:sp>
        <p:nvSpPr>
          <p:cNvPr id="5" name="Rectangle 4"/>
          <p:cNvSpPr/>
          <p:nvPr/>
        </p:nvSpPr>
        <p:spPr>
          <a:xfrm>
            <a:off x="7959725" y="1806575"/>
            <a:ext cx="3525838" cy="5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Conceptual Database Design</a:t>
            </a:r>
          </a:p>
        </p:txBody>
      </p:sp>
      <p:sp>
        <p:nvSpPr>
          <p:cNvPr id="6" name="Rectangle 5"/>
          <p:cNvSpPr/>
          <p:nvPr/>
        </p:nvSpPr>
        <p:spPr>
          <a:xfrm>
            <a:off x="7959725" y="2638425"/>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Logical Database Design Schema</a:t>
            </a:r>
          </a:p>
        </p:txBody>
      </p:sp>
      <p:sp>
        <p:nvSpPr>
          <p:cNvPr id="7" name="Rectangle 6"/>
          <p:cNvSpPr/>
          <p:nvPr/>
        </p:nvSpPr>
        <p:spPr>
          <a:xfrm>
            <a:off x="7956550" y="3497263"/>
            <a:ext cx="3525838" cy="623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Schema Refinement</a:t>
            </a:r>
          </a:p>
        </p:txBody>
      </p:sp>
      <p:sp>
        <p:nvSpPr>
          <p:cNvPr id="8" name="Rectangle 7"/>
          <p:cNvSpPr/>
          <p:nvPr/>
        </p:nvSpPr>
        <p:spPr>
          <a:xfrm>
            <a:off x="7956550" y="4325938"/>
            <a:ext cx="3525838" cy="67945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effectLst>
                  <a:outerShdw blurRad="38100" dist="38100" dir="2700000" algn="tl">
                    <a:srgbClr val="000000">
                      <a:alpha val="43137"/>
                    </a:srgbClr>
                  </a:outerShdw>
                </a:effectLst>
              </a:rPr>
              <a:t>Physical Database Design </a:t>
            </a:r>
          </a:p>
        </p:txBody>
      </p:sp>
      <p:sp>
        <p:nvSpPr>
          <p:cNvPr id="9" name="Rectangle 8"/>
          <p:cNvSpPr/>
          <p:nvPr/>
        </p:nvSpPr>
        <p:spPr>
          <a:xfrm>
            <a:off x="7964488" y="5346700"/>
            <a:ext cx="3525837"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Application and Security Design</a:t>
            </a:r>
            <a:endParaRPr lang="en-US" dirty="0"/>
          </a:p>
        </p:txBody>
      </p:sp>
      <p:sp>
        <p:nvSpPr>
          <p:cNvPr id="10" name="Rectangle 9"/>
          <p:cNvSpPr/>
          <p:nvPr/>
        </p:nvSpPr>
        <p:spPr>
          <a:xfrm>
            <a:off x="7929563" y="1062038"/>
            <a:ext cx="3552825" cy="608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Requirements Analysis</a:t>
            </a:r>
          </a:p>
        </p:txBody>
      </p:sp>
      <p:sp>
        <p:nvSpPr>
          <p:cNvPr id="11" name="Rounded Rectangle 17"/>
          <p:cNvSpPr/>
          <p:nvPr/>
        </p:nvSpPr>
        <p:spPr>
          <a:xfrm>
            <a:off x="3122613" y="246063"/>
            <a:ext cx="6200775" cy="4302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12"/>
          <p:cNvSpPr txBox="1">
            <a:spLocks noChangeArrowheads="1"/>
          </p:cNvSpPr>
          <p:nvPr/>
        </p:nvSpPr>
        <p:spPr bwMode="auto">
          <a:xfrm>
            <a:off x="995363" y="601663"/>
            <a:ext cx="6673850" cy="590867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b="1" dirty="0">
                <a:effectLst>
                  <a:outerShdw blurRad="38100" dist="38100" dir="2700000" algn="tl">
                    <a:srgbClr val="000000">
                      <a:alpha val="43137"/>
                    </a:srgbClr>
                  </a:outerShdw>
                </a:effectLst>
              </a:rPr>
              <a:t>Application and Security Design</a:t>
            </a:r>
            <a:endParaRPr lang="en-US" b="1" dirty="0">
              <a:effectLst>
                <a:outerShdw blurRad="38100" dist="38100" dir="2700000" algn="tl">
                  <a:srgbClr val="000000">
                    <a:alpha val="43137"/>
                  </a:srgbClr>
                </a:outerShdw>
              </a:effectLst>
            </a:endParaRPr>
          </a:p>
          <a:p>
            <a:pPr eaLnBrk="1" hangingPunct="1">
              <a:defRPr/>
            </a:pPr>
            <a:endParaRPr lang="en-US" altLang="en-US" dirty="0">
              <a:latin typeface="Calibri" panose="020F0502020204030204" pitchFamily="34" charset="0"/>
            </a:endParaRPr>
          </a:p>
          <a:p>
            <a:pPr eaLnBrk="1" hangingPunct="1">
              <a:defRPr/>
            </a:pPr>
            <a:r>
              <a:rPr lang="en-IN" dirty="0">
                <a:latin typeface="Calibri" panose="020F0502020204030204" pitchFamily="34" charset="0"/>
                <a:ea typeface="Calibri" panose="020F0502020204030204" pitchFamily="34" charset="0"/>
                <a:cs typeface="Times New Roman" panose="02020603050405020304" pitchFamily="18" charset="0"/>
              </a:rPr>
              <a:t>Application and security design for database management systems (DBMS), there are several key considerations that must be taken into account. Here are some important points to keep in mind:</a:t>
            </a:r>
          </a:p>
          <a:p>
            <a:pPr algn="just" eaLnBrk="1" hangingPunct="1">
              <a:defRPr/>
            </a:pPr>
            <a:r>
              <a:rPr lang="en-IN" b="1" dirty="0">
                <a:latin typeface="Calibri" panose="020F0502020204030204" pitchFamily="34" charset="0"/>
                <a:ea typeface="Calibri" panose="020F0502020204030204" pitchFamily="34" charset="0"/>
                <a:cs typeface="Times New Roman" panose="02020603050405020304" pitchFamily="18" charset="0"/>
              </a:rPr>
              <a:t>Authentication and authorization</a:t>
            </a:r>
            <a:r>
              <a:rPr lang="en-IN" dirty="0">
                <a:latin typeface="Calibri" panose="020F0502020204030204" pitchFamily="34" charset="0"/>
                <a:ea typeface="Calibri" panose="020F0502020204030204" pitchFamily="34" charset="0"/>
                <a:cs typeface="Times New Roman" panose="02020603050405020304" pitchFamily="18" charset="0"/>
              </a:rPr>
              <a:t>: Implement robust authentication and authorization mechanisms to ensure that only authorized users can access the database. This can include password policies, two-factor authentication, and access control lists.</a:t>
            </a:r>
          </a:p>
          <a:p>
            <a:pPr algn="just" eaLnBrk="1" hangingPunct="1">
              <a:defRPr/>
            </a:pPr>
            <a:r>
              <a:rPr lang="en-IN" b="1" dirty="0">
                <a:latin typeface="Calibri" panose="020F0502020204030204" pitchFamily="34" charset="0"/>
                <a:ea typeface="Calibri" panose="020F0502020204030204" pitchFamily="34" charset="0"/>
                <a:cs typeface="Times New Roman" panose="02020603050405020304" pitchFamily="18" charset="0"/>
              </a:rPr>
              <a:t>Logging and monitoring: Implement</a:t>
            </a:r>
            <a:r>
              <a:rPr lang="en-IN" dirty="0">
                <a:latin typeface="Calibri" panose="020F0502020204030204" pitchFamily="34" charset="0"/>
                <a:ea typeface="Calibri" panose="020F0502020204030204" pitchFamily="34" charset="0"/>
                <a:cs typeface="Times New Roman" panose="02020603050405020304" pitchFamily="18" charset="0"/>
              </a:rPr>
              <a:t> logging and monitoring to detect unusual activity or unauthorized access attempts.</a:t>
            </a:r>
          </a:p>
          <a:p>
            <a:pPr algn="just" eaLnBrk="1" hangingPunct="1">
              <a:defRPr/>
            </a:pPr>
            <a:r>
              <a:rPr lang="en-IN" b="1" dirty="0">
                <a:latin typeface="Calibri" panose="020F0502020204030204" pitchFamily="34" charset="0"/>
                <a:ea typeface="Calibri" panose="020F0502020204030204" pitchFamily="34" charset="0"/>
                <a:cs typeface="Times New Roman" panose="02020603050405020304" pitchFamily="18" charset="0"/>
              </a:rPr>
              <a:t>Auditing:</a:t>
            </a:r>
            <a:r>
              <a:rPr lang="en-IN" dirty="0">
                <a:latin typeface="Calibri" panose="020F0502020204030204" pitchFamily="34" charset="0"/>
                <a:ea typeface="Calibri" panose="020F0502020204030204" pitchFamily="34" charset="0"/>
                <a:cs typeface="Times New Roman" panose="02020603050405020304" pitchFamily="18" charset="0"/>
              </a:rPr>
              <a:t> Perform regular audits of the database to ensure compliance with security policies and regulations.</a:t>
            </a:r>
          </a:p>
          <a:p>
            <a:pPr algn="just" eaLnBrk="1" hangingPunct="1">
              <a:defRPr/>
            </a:pPr>
            <a:r>
              <a:rPr lang="en-IN" b="1" dirty="0">
                <a:latin typeface="Calibri" panose="020F0502020204030204" pitchFamily="34" charset="0"/>
                <a:ea typeface="Calibri" panose="020F0502020204030204" pitchFamily="34" charset="0"/>
                <a:cs typeface="Times New Roman" panose="02020603050405020304" pitchFamily="18" charset="0"/>
              </a:rPr>
              <a:t>Performance optimization:</a:t>
            </a:r>
            <a:r>
              <a:rPr lang="en-IN" dirty="0">
                <a:latin typeface="Calibri" panose="020F0502020204030204" pitchFamily="34" charset="0"/>
                <a:ea typeface="Calibri" panose="020F0502020204030204" pitchFamily="34" charset="0"/>
                <a:cs typeface="Times New Roman" panose="02020603050405020304" pitchFamily="18" charset="0"/>
              </a:rPr>
              <a:t> When designing an application that uses a DBMS, it's important to optimize performance to ensure that the application runs smoothly and efficiently. This may involve using indexing and other performance tuning techniques to speed up database queries.</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eaLnBrk="1" hangingPunct="1">
              <a:defRPr/>
            </a:pPr>
            <a:r>
              <a:rPr lang="en-IN" b="1" dirty="0">
                <a:latin typeface="Calibri" panose="020F0502020204030204" pitchFamily="34" charset="0"/>
                <a:ea typeface="Calibri" panose="020F0502020204030204" pitchFamily="34" charset="0"/>
                <a:cs typeface="Times New Roman" panose="02020603050405020304" pitchFamily="18" charset="0"/>
              </a:rPr>
              <a:t>Backup and recovery</a:t>
            </a:r>
            <a:r>
              <a:rPr lang="en-IN" dirty="0">
                <a:latin typeface="Calibri" panose="020F0502020204030204" pitchFamily="34" charset="0"/>
                <a:ea typeface="Calibri" panose="020F0502020204030204" pitchFamily="34" charset="0"/>
                <a:cs typeface="Times New Roman" panose="02020603050405020304" pitchFamily="18" charset="0"/>
              </a:rPr>
              <a:t>: Establish regular backup and recovery procedures to ensure that data is not lost in case of a system failure or data breach</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7959725" y="1806575"/>
            <a:ext cx="3525838" cy="5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Conceptual Database Design</a:t>
            </a:r>
          </a:p>
        </p:txBody>
      </p:sp>
      <p:sp>
        <p:nvSpPr>
          <p:cNvPr id="6" name="Rectangle 5"/>
          <p:cNvSpPr/>
          <p:nvPr/>
        </p:nvSpPr>
        <p:spPr>
          <a:xfrm>
            <a:off x="7959725" y="2638425"/>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Logical Database Design Schema</a:t>
            </a:r>
          </a:p>
        </p:txBody>
      </p:sp>
      <p:sp>
        <p:nvSpPr>
          <p:cNvPr id="7" name="Rectangle 6"/>
          <p:cNvSpPr/>
          <p:nvPr/>
        </p:nvSpPr>
        <p:spPr>
          <a:xfrm>
            <a:off x="7956550" y="3497263"/>
            <a:ext cx="3525838" cy="623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Schema Refinement</a:t>
            </a:r>
          </a:p>
        </p:txBody>
      </p:sp>
      <p:sp>
        <p:nvSpPr>
          <p:cNvPr id="8" name="Rectangle 7"/>
          <p:cNvSpPr/>
          <p:nvPr/>
        </p:nvSpPr>
        <p:spPr>
          <a:xfrm>
            <a:off x="7956550" y="4398963"/>
            <a:ext cx="3525838"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Physical Database Design </a:t>
            </a:r>
          </a:p>
        </p:txBody>
      </p:sp>
      <p:sp>
        <p:nvSpPr>
          <p:cNvPr id="9" name="Rectangle 8"/>
          <p:cNvSpPr/>
          <p:nvPr/>
        </p:nvSpPr>
        <p:spPr>
          <a:xfrm>
            <a:off x="7964488" y="5346700"/>
            <a:ext cx="3525837" cy="60642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2000" b="1" dirty="0">
                <a:effectLst>
                  <a:outerShdw blurRad="38100" dist="38100" dir="2700000" algn="tl">
                    <a:srgbClr val="000000">
                      <a:alpha val="43137"/>
                    </a:srgbClr>
                  </a:outerShdw>
                </a:effectLst>
              </a:rPr>
              <a:t>Application and Security Design</a:t>
            </a:r>
            <a:endParaRPr lang="en-US" sz="2000" b="1" dirty="0">
              <a:effectLst>
                <a:outerShdw blurRad="38100" dist="38100" dir="2700000" algn="tl">
                  <a:srgbClr val="000000">
                    <a:alpha val="43137"/>
                  </a:srgbClr>
                </a:outerShdw>
              </a:effectLst>
            </a:endParaRPr>
          </a:p>
        </p:txBody>
      </p:sp>
      <p:sp>
        <p:nvSpPr>
          <p:cNvPr id="10" name="Rectangle 9"/>
          <p:cNvSpPr/>
          <p:nvPr/>
        </p:nvSpPr>
        <p:spPr>
          <a:xfrm>
            <a:off x="7929563" y="1062038"/>
            <a:ext cx="3552825" cy="608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Requirements Analysis</a:t>
            </a:r>
          </a:p>
        </p:txBody>
      </p:sp>
      <p:sp>
        <p:nvSpPr>
          <p:cNvPr id="11" name="Rounded Rectangle 17"/>
          <p:cNvSpPr/>
          <p:nvPr/>
        </p:nvSpPr>
        <p:spPr>
          <a:xfrm>
            <a:off x="3108325" y="180975"/>
            <a:ext cx="6200775" cy="4302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GOOD DATABASE DESIGN (Cont..)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1757363" y="93663"/>
            <a:ext cx="9666287" cy="7223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ACTIVITIES/ CASE STUDIES/ IMPORTANT FACTS RELATED TO THE SESSION</a:t>
            </a:r>
          </a:p>
        </p:txBody>
      </p:sp>
      <p:pic>
        <p:nvPicPr>
          <p:cNvPr id="33795"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extBox 16"/>
          <p:cNvSpPr txBox="1">
            <a:spLocks noChangeArrowheads="1"/>
          </p:cNvSpPr>
          <p:nvPr/>
        </p:nvSpPr>
        <p:spPr bwMode="auto">
          <a:xfrm>
            <a:off x="273050" y="1006475"/>
            <a:ext cx="115728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just" eaLnBrk="1" hangingPunct="1">
              <a:buFont typeface="Wingdings" pitchFamily="2" charset="2"/>
              <a:buChar char="Ø"/>
            </a:pPr>
            <a:endParaRPr lang="en-US" altLang="en-US">
              <a:latin typeface="Calibri" pitchFamily="34" charset="0"/>
            </a:endParaRPr>
          </a:p>
          <a:p>
            <a:pPr algn="just">
              <a:lnSpc>
                <a:spcPct val="107000"/>
              </a:lnSpc>
              <a:spcAft>
                <a:spcPts val="800"/>
              </a:spcAft>
              <a:buFont typeface="Wingdings" pitchFamily="2" charset="2"/>
              <a:buChar char="Ø"/>
            </a:pPr>
            <a:r>
              <a:rPr lang="en-IN" altLang="en-US" b="1">
                <a:latin typeface="Calibri" pitchFamily="34" charset="0"/>
                <a:ea typeface="Calibri" pitchFamily="34" charset="0"/>
                <a:cs typeface="Times New Roman" pitchFamily="18" charset="0"/>
              </a:rPr>
              <a:t>Employee Database</a:t>
            </a:r>
            <a:r>
              <a:rPr lang="en-IN" altLang="en-US">
                <a:latin typeface="Calibri" pitchFamily="34" charset="0"/>
                <a:ea typeface="Calibri" pitchFamily="34" charset="0"/>
                <a:cs typeface="Times New Roman" pitchFamily="18" charset="0"/>
              </a:rPr>
              <a:t>: A company's employee database can have a relation schema with fields like employee ID, name, address, phone number, email, job title, department, supervisor, and salary.</a:t>
            </a:r>
            <a:endParaRPr lang="en-US" altLang="en-US">
              <a:latin typeface="Calibri" pitchFamily="34" charset="0"/>
              <a:ea typeface="Calibri" pitchFamily="34" charset="0"/>
              <a:cs typeface="Times New Roman" pitchFamily="18" charset="0"/>
            </a:endParaRPr>
          </a:p>
          <a:p>
            <a:pPr algn="just">
              <a:lnSpc>
                <a:spcPct val="107000"/>
              </a:lnSpc>
              <a:spcAft>
                <a:spcPts val="800"/>
              </a:spcAft>
              <a:buFont typeface="Wingdings" pitchFamily="2" charset="2"/>
              <a:buChar char="Ø"/>
            </a:pPr>
            <a:r>
              <a:rPr lang="en-IN" altLang="en-US" b="1">
                <a:latin typeface="Calibri" pitchFamily="34" charset="0"/>
                <a:ea typeface="Calibri" pitchFamily="34" charset="0"/>
                <a:cs typeface="Times New Roman" pitchFamily="18" charset="0"/>
              </a:rPr>
              <a:t>Product Catalog</a:t>
            </a:r>
            <a:r>
              <a:rPr lang="en-IN" altLang="en-US">
                <a:latin typeface="Calibri" pitchFamily="34" charset="0"/>
                <a:ea typeface="Calibri" pitchFamily="34" charset="0"/>
                <a:cs typeface="Times New Roman" pitchFamily="18" charset="0"/>
              </a:rPr>
              <a:t>: An online retailer's product catalog can have a relation schema with fields like product ID, name, description, category, brand, price, availability, and customer reviews.</a:t>
            </a:r>
            <a:endParaRPr lang="en-US" altLang="en-US">
              <a:latin typeface="Calibri" pitchFamily="34" charset="0"/>
              <a:ea typeface="Calibri" pitchFamily="34" charset="0"/>
              <a:cs typeface="Times New Roman" pitchFamily="18" charset="0"/>
            </a:endParaRPr>
          </a:p>
          <a:p>
            <a:pPr algn="just">
              <a:lnSpc>
                <a:spcPct val="107000"/>
              </a:lnSpc>
              <a:spcAft>
                <a:spcPts val="800"/>
              </a:spcAft>
              <a:buFont typeface="Wingdings" pitchFamily="2" charset="2"/>
              <a:buChar char="Ø"/>
            </a:pPr>
            <a:r>
              <a:rPr lang="en-IN" altLang="en-US" b="1">
                <a:latin typeface="Calibri" pitchFamily="34" charset="0"/>
                <a:ea typeface="Calibri" pitchFamily="34" charset="0"/>
                <a:cs typeface="Times New Roman" pitchFamily="18" charset="0"/>
              </a:rPr>
              <a:t>Customer Order Database:</a:t>
            </a:r>
            <a:r>
              <a:rPr lang="en-IN" altLang="en-US">
                <a:latin typeface="Calibri" pitchFamily="34" charset="0"/>
                <a:ea typeface="Calibri" pitchFamily="34" charset="0"/>
                <a:cs typeface="Times New Roman" pitchFamily="18" charset="0"/>
              </a:rPr>
              <a:t> A customer order database can have a relation schema with fields like order ID, customer ID, product ID, order date, delivery date, shipping address, billing address, payment method, and order status.</a:t>
            </a:r>
            <a:endParaRPr lang="en-US" altLang="en-US">
              <a:latin typeface="Calibri" pitchFamily="34" charset="0"/>
              <a:ea typeface="Calibri" pitchFamily="34" charset="0"/>
              <a:cs typeface="Times New Roman" pitchFamily="18" charset="0"/>
            </a:endParaRPr>
          </a:p>
          <a:p>
            <a:pPr algn="just">
              <a:lnSpc>
                <a:spcPct val="107000"/>
              </a:lnSpc>
              <a:spcAft>
                <a:spcPts val="800"/>
              </a:spcAft>
              <a:buFont typeface="Wingdings" pitchFamily="2" charset="2"/>
              <a:buChar char="Ø"/>
            </a:pPr>
            <a:r>
              <a:rPr lang="en-IN" altLang="en-US" b="1">
                <a:latin typeface="Calibri" pitchFamily="34" charset="0"/>
                <a:ea typeface="Calibri" pitchFamily="34" charset="0"/>
                <a:cs typeface="Times New Roman" pitchFamily="18" charset="0"/>
              </a:rPr>
              <a:t>Library Management System</a:t>
            </a:r>
            <a:r>
              <a:rPr lang="en-IN" altLang="en-US">
                <a:latin typeface="Calibri" pitchFamily="34" charset="0"/>
                <a:ea typeface="Calibri" pitchFamily="34" charset="0"/>
                <a:cs typeface="Times New Roman" pitchFamily="18" charset="0"/>
              </a:rPr>
              <a:t>: A library management system can have a relation schema with fields like book ID, title, author, publisher, publication year, ISBN, genre, availability, borrower ID, issue date, return date, and fine amount.</a:t>
            </a:r>
            <a:endParaRPr lang="en-US" altLang="en-US">
              <a:latin typeface="Calibri" pitchFamily="34" charset="0"/>
              <a:ea typeface="Calibri" pitchFamily="34" charset="0"/>
              <a:cs typeface="Times New Roman" pitchFamily="18" charset="0"/>
            </a:endParaRPr>
          </a:p>
          <a:p>
            <a:pPr algn="just">
              <a:lnSpc>
                <a:spcPct val="107000"/>
              </a:lnSpc>
              <a:spcAft>
                <a:spcPts val="800"/>
              </a:spcAft>
              <a:buFont typeface="Wingdings" pitchFamily="2" charset="2"/>
              <a:buChar char="Ø"/>
            </a:pPr>
            <a:r>
              <a:rPr lang="en-IN" altLang="en-US" b="1">
                <a:latin typeface="Calibri" pitchFamily="34" charset="0"/>
                <a:ea typeface="Calibri" pitchFamily="34" charset="0"/>
                <a:cs typeface="Times New Roman" pitchFamily="18" charset="0"/>
              </a:rPr>
              <a:t>Student Information System</a:t>
            </a:r>
            <a:r>
              <a:rPr lang="en-IN" altLang="en-US">
                <a:latin typeface="Calibri" pitchFamily="34" charset="0"/>
                <a:ea typeface="Calibri" pitchFamily="34" charset="0"/>
                <a:cs typeface="Times New Roman" pitchFamily="18" charset="0"/>
              </a:rPr>
              <a:t>: A student information system can have a relation schema with fields like student ID, name, address, phone number, email, course enrolled, semester, marks obtained, attendance, and performance.</a:t>
            </a:r>
            <a:endParaRPr lang="en-US" altLang="en-US">
              <a:latin typeface="Calibri" pitchFamily="34" charset="0"/>
              <a:ea typeface="Calibri" pitchFamily="34" charset="0"/>
              <a:cs typeface="Times New Roman" pitchFamily="18" charset="0"/>
            </a:endParaRPr>
          </a:p>
          <a:p>
            <a:pPr algn="just" eaLnBrk="1" hangingPunct="1">
              <a:buFont typeface="Wingdings" pitchFamily="2" charset="2"/>
              <a:buChar char="Ø"/>
            </a:pPr>
            <a:endParaRPr lang="en-US" altLang="en-US">
              <a:latin typeface="Calibri" pitchFamily="34" charset="0"/>
            </a:endParaRPr>
          </a:p>
          <a:p>
            <a:pPr algn="just" eaLnBrk="1" hangingPunct="1">
              <a:buFont typeface="Wingdings" pitchFamily="2" charset="2"/>
              <a:buChar char="Ø"/>
            </a:pPr>
            <a:endParaRPr lang="en-US" altLang="en-US">
              <a:latin typeface="Calibri" pitchFamily="34" charset="0"/>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Box 16"/>
          <p:cNvSpPr txBox="1">
            <a:spLocks noChangeArrowheads="1"/>
          </p:cNvSpPr>
          <p:nvPr/>
        </p:nvSpPr>
        <p:spPr bwMode="auto">
          <a:xfrm>
            <a:off x="1193800" y="815975"/>
            <a:ext cx="100869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ltLang="en-US">
              <a:latin typeface="Calibri" pitchFamily="34" charset="0"/>
            </a:endParaRPr>
          </a:p>
          <a:p>
            <a:pPr eaLnBrk="1" hangingPunct="1"/>
            <a:endParaRPr lang="en-US" altLang="en-US">
              <a:latin typeface="Calibri" pitchFamily="34" charset="0"/>
            </a:endParaRPr>
          </a:p>
          <a:p>
            <a:pPr eaLnBrk="1" hangingPunct="1"/>
            <a:endParaRPr lang="en-US" altLang="en-US">
              <a:latin typeface="Calibri" pitchFamily="34" charset="0"/>
            </a:endParaRPr>
          </a:p>
        </p:txBody>
      </p:sp>
      <p:sp>
        <p:nvSpPr>
          <p:cNvPr id="2" name="Rounded Rectangle 17"/>
          <p:cNvSpPr/>
          <p:nvPr/>
        </p:nvSpPr>
        <p:spPr>
          <a:xfrm>
            <a:off x="3419475" y="120650"/>
            <a:ext cx="5475288" cy="56038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sz="2400" dirty="0"/>
              <a:t>EXAMPLES</a:t>
            </a:r>
          </a:p>
        </p:txBody>
      </p:sp>
      <p:pic>
        <p:nvPicPr>
          <p:cNvPr id="34821"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 y="963613"/>
            <a:ext cx="5014913"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896938"/>
            <a:ext cx="5100638" cy="514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600" y="84138"/>
            <a:ext cx="6415088" cy="5603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SUMMARY</a:t>
            </a:r>
          </a:p>
        </p:txBody>
      </p:sp>
      <p:pic>
        <p:nvPicPr>
          <p:cNvPr id="35843"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TextBox 17"/>
          <p:cNvSpPr txBox="1">
            <a:spLocks noChangeArrowheads="1"/>
          </p:cNvSpPr>
          <p:nvPr/>
        </p:nvSpPr>
        <p:spPr bwMode="auto">
          <a:xfrm>
            <a:off x="409575" y="1020763"/>
            <a:ext cx="11409363" cy="477837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defRPr/>
            </a:pPr>
            <a:r>
              <a:rPr lang="en-US" dirty="0"/>
              <a:t>we informally discussed situations that lead to problematic relation schemas and we proposed informal guidelines for a good relational design. The problems we pointed out, which can be detected without additional tools of analysis, are as follows:</a:t>
            </a:r>
          </a:p>
          <a:p>
            <a:pPr algn="just">
              <a:defRPr/>
            </a:pPr>
            <a:r>
              <a:rPr lang="en-US" dirty="0"/>
              <a:t> </a:t>
            </a:r>
            <a:endParaRPr lang="en-US" sz="1400" dirty="0"/>
          </a:p>
          <a:p>
            <a:pPr algn="just">
              <a:defRPr/>
            </a:pPr>
            <a:r>
              <a:rPr lang="en-US" dirty="0"/>
              <a:t>Anomalies that cause redundant work to be done during insertion into and modification of a relation, and that may cause accidental loss of information during a deletion from a relation</a:t>
            </a:r>
          </a:p>
          <a:p>
            <a:pPr marL="285750" indent="-285750" algn="just">
              <a:lnSpc>
                <a:spcPct val="150000"/>
              </a:lnSpc>
              <a:buFont typeface="Wingdings" panose="05000000000000000000" pitchFamily="2" charset="2"/>
              <a:buChar char="ü"/>
              <a:defRPr/>
            </a:pPr>
            <a:r>
              <a:rPr lang="en-US" dirty="0"/>
              <a:t>Waste of storage space due to NULLs and the difficulty of performing selections, aggregation operations, and joins due to NULL values</a:t>
            </a:r>
          </a:p>
          <a:p>
            <a:pPr marL="285750" indent="-285750" algn="just">
              <a:lnSpc>
                <a:spcPct val="150000"/>
              </a:lnSpc>
              <a:buFont typeface="Wingdings" panose="05000000000000000000" pitchFamily="2" charset="2"/>
              <a:buChar char="ü"/>
              <a:defRPr/>
            </a:pPr>
            <a:r>
              <a:rPr lang="en-US" dirty="0"/>
              <a:t>Generation of invalid and spurious data during joins on base relations with matched attributes that may not represent a proper (foreign key, primary key) relationship</a:t>
            </a:r>
          </a:p>
          <a:p>
            <a:pPr algn="just">
              <a:lnSpc>
                <a:spcPct val="150000"/>
              </a:lnSpc>
              <a:defRPr/>
            </a:pPr>
            <a:endParaRPr lang="en-IN" altLang="en-US" sz="1100" b="1" i="1" dirty="0"/>
          </a:p>
          <a:p>
            <a:pPr algn="just">
              <a:defRPr/>
            </a:pPr>
            <a:r>
              <a:rPr lang="en-IN" altLang="en-US" dirty="0"/>
              <a:t>Overall, designing an application that uses a DBMS requires careful consideration of a wide range of factors, from security and access control to performance optimization and scalability. By taking a holistic approach to application and security design, you can create a robust and reliable system that meets the needs of your users while protecting your data from unauthorized access and other threats.</a:t>
            </a:r>
            <a:endParaRPr lang="en-US" altLang="en-US" dirty="0"/>
          </a:p>
        </p:txBody>
      </p:sp>
    </p:spTree>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900" y="95250"/>
            <a:ext cx="5410200" cy="4111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SELF-ASSESSMENT QUESTIONS</a:t>
            </a:r>
          </a:p>
        </p:txBody>
      </p:sp>
      <p:sp>
        <p:nvSpPr>
          <p:cNvPr id="7" name="Google Shape;502;p17"/>
          <p:cNvSpPr/>
          <p:nvPr/>
        </p:nvSpPr>
        <p:spPr>
          <a:xfrm>
            <a:off x="1009650" y="1093788"/>
            <a:ext cx="10172700" cy="70961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marL="342900" indent="-342900" eaLnBrk="1" fontAlgn="auto" hangingPunct="1">
              <a:spcBef>
                <a:spcPts val="0"/>
              </a:spcBef>
              <a:spcAft>
                <a:spcPts val="0"/>
              </a:spcAft>
              <a:buFont typeface="+mj-lt"/>
              <a:buAutoNum type="arabicPeriod"/>
              <a:defRPr/>
            </a:pPr>
            <a:r>
              <a:rPr lang="en-US" sz="1600" dirty="0"/>
              <a:t>The term attribute refers to a ___________ of a table</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eaLnBrk="1" fontAlgn="auto" hangingPunct="1">
              <a:lnSpc>
                <a:spcPct val="150000"/>
              </a:lnSpc>
              <a:spcBef>
                <a:spcPts val="0"/>
              </a:spcBef>
              <a:spcAft>
                <a:spcPts val="0"/>
              </a:spcAft>
              <a:buFontTx/>
              <a:buAutoNum type="alphaLcParenBoth"/>
              <a:defRPr/>
            </a:pPr>
            <a:r>
              <a:rPr lang="en-US" sz="1600" b="1" dirty="0">
                <a:latin typeface="Arial" panose="020B0604020202020204" pitchFamily="34" charset="0"/>
              </a:rPr>
              <a:t>… </a:t>
            </a:r>
            <a:r>
              <a:rPr lang="en-IN" sz="1600" b="1" dirty="0">
                <a:latin typeface="Arial" panose="020B0604020202020204" pitchFamily="34" charset="0"/>
              </a:rPr>
              <a:t>Record</a:t>
            </a:r>
            <a:endParaRPr lang="en-US" sz="1600" b="1" dirty="0">
              <a:latin typeface="Arial" panose="020B0604020202020204" pitchFamily="34" charset="0"/>
            </a:endParaRPr>
          </a:p>
          <a:p>
            <a:pPr marL="342900" indent="-342900" eaLnBrk="1" fontAlgn="auto" hangingPunct="1">
              <a:lnSpc>
                <a:spcPct val="150000"/>
              </a:lnSpc>
              <a:spcBef>
                <a:spcPts val="0"/>
              </a:spcBef>
              <a:spcAft>
                <a:spcPts val="0"/>
              </a:spcAft>
              <a:buFontTx/>
              <a:buAutoNum type="alphaLcParenBoth"/>
              <a:defRPr/>
            </a:pPr>
            <a:r>
              <a:rPr lang="en-US" sz="1600" dirty="0">
                <a:latin typeface="Arial" panose="020B0604020202020204" pitchFamily="34" charset="0"/>
              </a:rPr>
              <a:t>…</a:t>
            </a:r>
            <a:r>
              <a:rPr lang="en-IN" sz="1600" dirty="0"/>
              <a:t> </a:t>
            </a:r>
            <a:r>
              <a:rPr lang="en-IN" sz="1600" b="1" dirty="0">
                <a:latin typeface="Arial" panose="020B0604020202020204" pitchFamily="34" charset="0"/>
              </a:rPr>
              <a:t>Column</a:t>
            </a:r>
            <a:endParaRPr lang="en-US" sz="1600" b="1" dirty="0">
              <a:latin typeface="Arial" panose="020B0604020202020204" pitchFamily="34" charset="0"/>
            </a:endParaRPr>
          </a:p>
          <a:p>
            <a:pPr marL="342900" indent="-342900" eaLnBrk="1" fontAlgn="auto" hangingPunct="1">
              <a:lnSpc>
                <a:spcPct val="150000"/>
              </a:lnSpc>
              <a:spcBef>
                <a:spcPts val="0"/>
              </a:spcBef>
              <a:spcAft>
                <a:spcPts val="0"/>
              </a:spcAft>
              <a:buFontTx/>
              <a:buAutoNum type="alphaLcParenBoth"/>
              <a:defRPr/>
            </a:pPr>
            <a:r>
              <a:rPr lang="en-US" sz="1600" b="1" dirty="0">
                <a:latin typeface="Arial" panose="020B0604020202020204" pitchFamily="34" charset="0"/>
              </a:rPr>
              <a:t>… </a:t>
            </a:r>
            <a:r>
              <a:rPr lang="en-IN" sz="1600" b="1" dirty="0">
                <a:latin typeface="Arial" panose="020B0604020202020204" pitchFamily="34" charset="0"/>
              </a:rPr>
              <a:t>Tuple</a:t>
            </a:r>
            <a:endParaRPr lang="en-US" sz="1600" b="1" dirty="0">
              <a:latin typeface="Arial" panose="020B0604020202020204" pitchFamily="34" charset="0"/>
            </a:endParaRPr>
          </a:p>
          <a:p>
            <a:pPr marL="342900" indent="-342900" eaLnBrk="1" fontAlgn="auto" hangingPunct="1">
              <a:lnSpc>
                <a:spcPct val="150000"/>
              </a:lnSpc>
              <a:spcBef>
                <a:spcPts val="0"/>
              </a:spcBef>
              <a:spcAft>
                <a:spcPts val="0"/>
              </a:spcAft>
              <a:buFontTx/>
              <a:buAutoNum type="alphaLcParenBoth"/>
              <a:defRPr/>
            </a:pPr>
            <a:r>
              <a:rPr lang="en-US" sz="1600" b="1" dirty="0">
                <a:latin typeface="Arial" panose="020B0604020202020204" pitchFamily="34" charset="0"/>
              </a:rPr>
              <a:t>…</a:t>
            </a:r>
            <a:r>
              <a:rPr lang="en-IN" sz="1600" b="1" dirty="0">
                <a:latin typeface="Arial" panose="020B0604020202020204" pitchFamily="34" charset="0"/>
              </a:rPr>
              <a:t> Key</a:t>
            </a:r>
            <a:endParaRPr lang="en-US" sz="1600" b="1" dirty="0">
              <a:latin typeface="Arial" panose="020B0604020202020204" pitchFamily="34" charset="0"/>
            </a:endParaRPr>
          </a:p>
        </p:txBody>
      </p:sp>
      <p:sp>
        <p:nvSpPr>
          <p:cNvPr id="13" name="Google Shape;502;p17"/>
          <p:cNvSpPr/>
          <p:nvPr/>
        </p:nvSpPr>
        <p:spPr>
          <a:xfrm>
            <a:off x="1009650" y="3821113"/>
            <a:ext cx="10172700" cy="70961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marL="342900" indent="-342900" eaLnBrk="1" fontAlgn="auto" hangingPunct="1">
              <a:spcBef>
                <a:spcPts val="0"/>
              </a:spcBef>
              <a:spcAft>
                <a:spcPts val="0"/>
              </a:spcAft>
              <a:buFont typeface="+mj-lt"/>
              <a:buAutoNum type="arabicPeriod" startAt="2"/>
              <a:defRPr/>
            </a:pPr>
            <a:r>
              <a:rPr lang="en-US" sz="1600" dirty="0">
                <a:solidFill>
                  <a:schemeClr val="bg1"/>
                </a:solidFill>
                <a:latin typeface="Poppins" panose="00000500000000000000" pitchFamily="2" charset="0"/>
                <a:ea typeface="Calibri"/>
                <a:cs typeface="Poppins" panose="00000500000000000000" pitchFamily="2" charset="0"/>
                <a:sym typeface="Calibri"/>
              </a:rPr>
              <a:t>….</a:t>
            </a:r>
            <a:r>
              <a:rPr lang="en-US" sz="1600" dirty="0"/>
              <a:t> Which one of the following cannot be taken as a primary key?</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eaLnBrk="1" fontAlgn="auto" hangingPunct="1">
              <a:lnSpc>
                <a:spcPct val="150000"/>
              </a:lnSpc>
              <a:spcBef>
                <a:spcPts val="0"/>
              </a:spcBef>
              <a:spcAft>
                <a:spcPts val="0"/>
              </a:spcAft>
              <a:buFontTx/>
              <a:buAutoNum type="alphaLcParenBoth"/>
              <a:defRPr/>
            </a:pPr>
            <a:r>
              <a:rPr lang="en-US" dirty="0"/>
              <a:t>… </a:t>
            </a:r>
            <a:r>
              <a:rPr lang="en-IN" sz="1600" b="1" dirty="0">
                <a:latin typeface="Arial" panose="020B0604020202020204" pitchFamily="34" charset="0"/>
              </a:rPr>
              <a:t>Id</a:t>
            </a:r>
            <a:endParaRPr lang="en-US" sz="1600" b="1" dirty="0">
              <a:latin typeface="Arial" panose="020B0604020202020204" pitchFamily="34" charset="0"/>
            </a:endParaRPr>
          </a:p>
          <a:p>
            <a:pPr marL="342900" indent="-342900" eaLnBrk="1" fontAlgn="auto" hangingPunct="1">
              <a:lnSpc>
                <a:spcPct val="150000"/>
              </a:lnSpc>
              <a:spcBef>
                <a:spcPts val="0"/>
              </a:spcBef>
              <a:spcAft>
                <a:spcPts val="0"/>
              </a:spcAft>
              <a:buFontTx/>
              <a:buAutoNum type="alphaLcParenBoth"/>
              <a:defRPr/>
            </a:pPr>
            <a:r>
              <a:rPr lang="en-US" dirty="0"/>
              <a:t>… </a:t>
            </a:r>
            <a:r>
              <a:rPr lang="en-IN" sz="1600" b="1" dirty="0">
                <a:latin typeface="Arial" panose="020B0604020202020204" pitchFamily="34" charset="0"/>
              </a:rPr>
              <a:t>Register number</a:t>
            </a:r>
            <a:endParaRPr lang="en-US" sz="1600" b="1" dirty="0">
              <a:latin typeface="Arial" panose="020B0604020202020204" pitchFamily="34" charset="0"/>
            </a:endParaRPr>
          </a:p>
          <a:p>
            <a:pPr marL="342900" indent="-342900" eaLnBrk="1" fontAlgn="auto" hangingPunct="1">
              <a:lnSpc>
                <a:spcPct val="150000"/>
              </a:lnSpc>
              <a:spcBef>
                <a:spcPts val="0"/>
              </a:spcBef>
              <a:spcAft>
                <a:spcPts val="0"/>
              </a:spcAft>
              <a:buFontTx/>
              <a:buAutoNum type="alphaLcParenBoth"/>
              <a:defRPr/>
            </a:pPr>
            <a:r>
              <a:rPr lang="en-US" sz="1600" b="1" dirty="0">
                <a:latin typeface="Arial" panose="020B0604020202020204" pitchFamily="34" charset="0"/>
              </a:rPr>
              <a:t>… </a:t>
            </a:r>
            <a:r>
              <a:rPr lang="en-IN" sz="1600" b="1" dirty="0">
                <a:latin typeface="Arial" panose="020B0604020202020204" pitchFamily="34" charset="0"/>
              </a:rPr>
              <a:t>Dept id</a:t>
            </a:r>
            <a:endParaRPr lang="en-US" sz="1600" b="1" dirty="0">
              <a:latin typeface="Arial" panose="020B0604020202020204" pitchFamily="34" charset="0"/>
            </a:endParaRPr>
          </a:p>
          <a:p>
            <a:pPr marL="342900" indent="-342900" eaLnBrk="1" fontAlgn="auto" hangingPunct="1">
              <a:lnSpc>
                <a:spcPct val="150000"/>
              </a:lnSpc>
              <a:spcBef>
                <a:spcPts val="0"/>
              </a:spcBef>
              <a:spcAft>
                <a:spcPts val="0"/>
              </a:spcAft>
              <a:buFontTx/>
              <a:buAutoNum type="alphaLcParenBoth"/>
              <a:defRPr/>
            </a:pPr>
            <a:r>
              <a:rPr lang="en-US" sz="1600" b="1" dirty="0">
                <a:latin typeface="Arial" panose="020B0604020202020204" pitchFamily="34" charset="0"/>
              </a:rPr>
              <a:t>… </a:t>
            </a:r>
            <a:r>
              <a:rPr lang="en-IN" sz="1600" b="1" dirty="0">
                <a:latin typeface="Arial" panose="020B0604020202020204" pitchFamily="34" charset="0"/>
              </a:rPr>
              <a:t>Street</a:t>
            </a:r>
            <a:endParaRPr lang="en-US" sz="1600" b="1" dirty="0">
              <a:latin typeface="Arial" panose="020B0604020202020204" pitchFamily="34" charset="0"/>
            </a:endParaRPr>
          </a:p>
        </p:txBody>
      </p:sp>
      <p:pic>
        <p:nvPicPr>
          <p:cNvPr id="36875"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900" y="95250"/>
            <a:ext cx="5410200" cy="4111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TERMINAL QUESTIONS</a:t>
            </a:r>
          </a:p>
        </p:txBody>
      </p:sp>
      <p:sp>
        <p:nvSpPr>
          <p:cNvPr id="9" name="TextBox 8"/>
          <p:cNvSpPr txBox="1"/>
          <p:nvPr/>
        </p:nvSpPr>
        <p:spPr>
          <a:xfrm>
            <a:off x="1290638" y="944563"/>
            <a:ext cx="9609137" cy="2862262"/>
          </a:xfrm>
          <a:prstGeom prst="rect">
            <a:avLst/>
          </a:prstGeom>
          <a:noFill/>
        </p:spPr>
        <p:txBody>
          <a:bodyPr>
            <a:spAutoFit/>
          </a:bodyPr>
          <a:lstStyle/>
          <a:p>
            <a:pPr marL="342900" indent="-342900" eaLnBrk="1" fontAlgn="auto" hangingPunct="1">
              <a:lnSpc>
                <a:spcPct val="200000"/>
              </a:lnSpc>
              <a:spcBef>
                <a:spcPts val="0"/>
              </a:spcBef>
              <a:spcAft>
                <a:spcPts val="0"/>
              </a:spcAft>
              <a:buFont typeface="+mj-lt"/>
              <a:buAutoNum type="arabicPeriod"/>
              <a:defRPr/>
            </a:pPr>
            <a:r>
              <a:rPr lang="en-US" b="1" dirty="0">
                <a:latin typeface="+mn-lt"/>
                <a:cs typeface="+mn-cs"/>
              </a:rPr>
              <a:t>Identify update anomalies in a relation? What are the common causes of update anomalies?</a:t>
            </a:r>
          </a:p>
          <a:p>
            <a:pPr marL="342900" indent="-342900" eaLnBrk="1" fontAlgn="auto" hangingPunct="1">
              <a:spcBef>
                <a:spcPts val="0"/>
              </a:spcBef>
              <a:spcAft>
                <a:spcPts val="0"/>
              </a:spcAft>
              <a:buFont typeface="+mj-lt"/>
              <a:buAutoNum type="arabicPeriod"/>
              <a:defRPr/>
            </a:pPr>
            <a:r>
              <a:rPr lang="en-US" b="1" dirty="0">
                <a:latin typeface="+mn-lt"/>
                <a:cs typeface="+mn-cs"/>
              </a:rPr>
              <a:t>Analyze How can you ensure that your database design is flexible and adaptable to changes in business requirements? What design principles should you follow to minimize the risk of update anomalies?</a:t>
            </a:r>
          </a:p>
          <a:p>
            <a:pPr marL="342900" indent="-342900" eaLnBrk="1" fontAlgn="auto" hangingPunct="1">
              <a:lnSpc>
                <a:spcPct val="150000"/>
              </a:lnSpc>
              <a:spcBef>
                <a:spcPts val="0"/>
              </a:spcBef>
              <a:spcAft>
                <a:spcPts val="0"/>
              </a:spcAft>
              <a:buFont typeface="+mj-lt"/>
              <a:buAutoNum type="arabicPeriod"/>
              <a:defRPr/>
            </a:pPr>
            <a:r>
              <a:rPr lang="en-US" b="1" dirty="0">
                <a:latin typeface="+mn-lt"/>
                <a:cs typeface="+mn-cs"/>
              </a:rPr>
              <a:t>List out the key elements of a good database design? How do they contribute to data integrity, security, and consistency? </a:t>
            </a:r>
          </a:p>
          <a:p>
            <a:pPr marL="342900" indent="-342900" eaLnBrk="1" fontAlgn="auto" hangingPunct="1">
              <a:spcBef>
                <a:spcPts val="0"/>
              </a:spcBef>
              <a:spcAft>
                <a:spcPts val="0"/>
              </a:spcAft>
              <a:buFont typeface="+mj-lt"/>
              <a:buAutoNum type="arabicPeriod"/>
              <a:defRPr/>
            </a:pPr>
            <a:r>
              <a:rPr lang="en-US" b="1" dirty="0">
                <a:latin typeface="+mn-lt"/>
                <a:cs typeface="+mn-cs"/>
              </a:rPr>
              <a:t>Explain the benefits of good database design? How does it impact the overall performance of the system</a:t>
            </a:r>
            <a:r>
              <a:rPr lang="en-US" dirty="0">
                <a:solidFill>
                  <a:srgbClr val="374151"/>
                </a:solidFill>
                <a:latin typeface="Söhne"/>
              </a:rPr>
              <a:t>?</a:t>
            </a:r>
            <a:endParaRPr lang="en-US" b="1" dirty="0">
              <a:latin typeface="+mn-lt"/>
              <a:cs typeface="+mn-cs"/>
            </a:endParaRPr>
          </a:p>
        </p:txBody>
      </p:sp>
      <p:pic>
        <p:nvPicPr>
          <p:cNvPr id="37892"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0588" y="93663"/>
            <a:ext cx="7105650" cy="41275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23555" name="TextBox 8"/>
          <p:cNvSpPr txBox="1">
            <a:spLocks noChangeArrowheads="1"/>
          </p:cNvSpPr>
          <p:nvPr/>
        </p:nvSpPr>
        <p:spPr bwMode="auto">
          <a:xfrm>
            <a:off x="1066800" y="1119188"/>
            <a:ext cx="10663238" cy="5310187"/>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en-US" altLang="en-US" b="1" dirty="0">
                <a:latin typeface="Calibri" panose="020F0502020204030204" pitchFamily="34" charset="0"/>
              </a:rPr>
              <a:t>Reference Books:</a:t>
            </a:r>
            <a:endParaRPr lang="en-US" altLang="en-US" dirty="0">
              <a:latin typeface="Calibri" panose="020F0502020204030204" pitchFamily="34" charset="0"/>
            </a:endParaRPr>
          </a:p>
          <a:p>
            <a:pPr marL="342900" indent="-342900" eaLnBrk="1" hangingPunct="1">
              <a:lnSpc>
                <a:spcPct val="150000"/>
              </a:lnSpc>
              <a:buFont typeface="+mj-lt"/>
              <a:buAutoNum type="arabicPeriod"/>
              <a:defRPr/>
            </a:pPr>
            <a:r>
              <a:rPr lang="en-IN" dirty="0">
                <a:latin typeface="Cambria" panose="02040503050406030204" pitchFamily="18" charset="0"/>
                <a:ea typeface="Calibri" panose="020F0502020204030204" pitchFamily="34" charset="0"/>
                <a:cs typeface="Times New Roman" panose="02020603050405020304" pitchFamily="18" charset="0"/>
              </a:rPr>
              <a:t>Database System Concepts, Sixth Edition, Abraham </a:t>
            </a:r>
            <a:r>
              <a:rPr lang="en-IN" dirty="0" err="1">
                <a:latin typeface="Cambria" panose="02040503050406030204" pitchFamily="18" charset="0"/>
                <a:ea typeface="Calibri" panose="020F0502020204030204" pitchFamily="34" charset="0"/>
                <a:cs typeface="Times New Roman" panose="02020603050405020304" pitchFamily="18" charset="0"/>
              </a:rPr>
              <a:t>Silberschatz</a:t>
            </a:r>
            <a:r>
              <a:rPr lang="en-IN" dirty="0">
                <a:latin typeface="Cambria" panose="02040503050406030204" pitchFamily="18" charset="0"/>
                <a:ea typeface="Calibri" panose="020F0502020204030204" pitchFamily="34" charset="0"/>
                <a:cs typeface="Times New Roman" panose="02020603050405020304" pitchFamily="18" charset="0"/>
              </a:rPr>
              <a:t>, Yale University Henry, F. </a:t>
            </a:r>
            <a:r>
              <a:rPr lang="en-IN" dirty="0" err="1">
                <a:latin typeface="Cambria" panose="02040503050406030204" pitchFamily="18" charset="0"/>
                <a:ea typeface="Calibri" panose="020F0502020204030204" pitchFamily="34" charset="0"/>
                <a:cs typeface="Times New Roman" panose="02020603050405020304" pitchFamily="18" charset="0"/>
              </a:rPr>
              <a:t>Korth</a:t>
            </a:r>
            <a:r>
              <a:rPr lang="en-IN" dirty="0">
                <a:latin typeface="Cambria" panose="02040503050406030204" pitchFamily="18" charset="0"/>
                <a:ea typeface="Calibri" panose="020F0502020204030204" pitchFamily="34" charset="0"/>
                <a:cs typeface="Times New Roman" panose="02020603050405020304" pitchFamily="18" charset="0"/>
              </a:rPr>
              <a:t> Lehigh University, S. Sudarshan Indian Institute of Technology, Bombay</a:t>
            </a:r>
            <a:endParaRPr lang="en-US" dirty="0">
              <a:latin typeface="Calibri" panose="020F0502020204030204" pitchFamily="34" charset="0"/>
            </a:endParaRPr>
          </a:p>
          <a:p>
            <a:pPr marL="342900" indent="-342900" eaLnBrk="1" hangingPunct="1">
              <a:lnSpc>
                <a:spcPct val="150000"/>
              </a:lnSpc>
              <a:buFont typeface="+mj-lt"/>
              <a:buAutoNum type="arabicPeriod"/>
              <a:defRPr/>
            </a:pPr>
            <a:r>
              <a:rPr lang="en-IN" dirty="0">
                <a:latin typeface="Cambria" panose="02040503050406030204" pitchFamily="18" charset="0"/>
                <a:ea typeface="Calibri" panose="020F0502020204030204" pitchFamily="34" charset="0"/>
                <a:cs typeface="Times New Roman" panose="02020603050405020304" pitchFamily="18" charset="0"/>
              </a:rPr>
              <a:t>Fundamentals of Database Systems, 7th Edition, </a:t>
            </a:r>
            <a:r>
              <a:rPr lang="en-IN" dirty="0" err="1">
                <a:latin typeface="Cambria" panose="02040503050406030204" pitchFamily="18" charset="0"/>
                <a:ea typeface="Calibri" panose="020F0502020204030204" pitchFamily="34" charset="0"/>
                <a:cs typeface="Times New Roman" panose="02020603050405020304" pitchFamily="18" charset="0"/>
              </a:rPr>
              <a:t>Ramez</a:t>
            </a:r>
            <a:r>
              <a:rPr lang="en-IN" dirty="0">
                <a:latin typeface="Cambria" panose="02040503050406030204" pitchFamily="18" charset="0"/>
                <a:ea typeface="Calibri" panose="020F0502020204030204" pitchFamily="34" charset="0"/>
                <a:cs typeface="Times New Roman" panose="02020603050405020304" pitchFamily="18" charset="0"/>
              </a:rPr>
              <a:t> </a:t>
            </a:r>
            <a:r>
              <a:rPr lang="en-IN" dirty="0" err="1">
                <a:latin typeface="Cambria" panose="02040503050406030204" pitchFamily="18" charset="0"/>
                <a:ea typeface="Calibri" panose="020F0502020204030204" pitchFamily="34" charset="0"/>
                <a:cs typeface="Times New Roman" panose="02020603050405020304" pitchFamily="18" charset="0"/>
              </a:rPr>
              <a:t>Elmasri</a:t>
            </a:r>
            <a:r>
              <a:rPr lang="en-IN" dirty="0">
                <a:latin typeface="Cambria" panose="02040503050406030204" pitchFamily="18" charset="0"/>
                <a:ea typeface="Calibri" panose="020F0502020204030204" pitchFamily="34" charset="0"/>
                <a:cs typeface="Times New Roman" panose="02020603050405020304" pitchFamily="18" charset="0"/>
              </a:rPr>
              <a:t>, University of Texas at Arlington, </a:t>
            </a:r>
            <a:r>
              <a:rPr lang="en-IN" dirty="0" err="1">
                <a:latin typeface="Cambria" panose="02040503050406030204" pitchFamily="18" charset="0"/>
                <a:ea typeface="Calibri" panose="020F0502020204030204" pitchFamily="34" charset="0"/>
                <a:cs typeface="Times New Roman" panose="02020603050405020304" pitchFamily="18" charset="0"/>
              </a:rPr>
              <a:t>Shamkant</a:t>
            </a:r>
            <a:r>
              <a:rPr lang="en-IN" dirty="0">
                <a:latin typeface="Cambria" panose="02040503050406030204" pitchFamily="18" charset="0"/>
                <a:ea typeface="Calibri" panose="020F0502020204030204" pitchFamily="34" charset="0"/>
                <a:cs typeface="Times New Roman" panose="02020603050405020304" pitchFamily="18" charset="0"/>
              </a:rPr>
              <a:t> B. </a:t>
            </a:r>
            <a:r>
              <a:rPr lang="en-IN" dirty="0" err="1">
                <a:latin typeface="Cambria" panose="02040503050406030204" pitchFamily="18" charset="0"/>
                <a:ea typeface="Calibri" panose="020F0502020204030204" pitchFamily="34" charset="0"/>
                <a:cs typeface="Times New Roman" panose="02020603050405020304" pitchFamily="18" charset="0"/>
              </a:rPr>
              <a:t>Navathe</a:t>
            </a:r>
            <a:r>
              <a:rPr lang="en-IN" dirty="0">
                <a:latin typeface="Cambria" panose="02040503050406030204" pitchFamily="18" charset="0"/>
                <a:ea typeface="Calibri" panose="020F0502020204030204" pitchFamily="34" charset="0"/>
                <a:cs typeface="Times New Roman" panose="02020603050405020304" pitchFamily="18" charset="0"/>
              </a:rPr>
              <a:t>, University of Texas at Arlington.</a:t>
            </a:r>
          </a:p>
          <a:p>
            <a:pPr marL="342900" indent="-342900" eaLnBrk="1" hangingPunct="1">
              <a:lnSpc>
                <a:spcPct val="150000"/>
              </a:lnSpc>
              <a:buFont typeface="+mj-lt"/>
              <a:buAutoNum type="arabicPeriod"/>
              <a:defRPr/>
            </a:pPr>
            <a:r>
              <a:rPr lang="en-IN" dirty="0">
                <a:latin typeface="Cambria" panose="02040503050406030204" pitchFamily="18" charset="0"/>
                <a:ea typeface="Calibri" panose="020F0502020204030204" pitchFamily="34" charset="0"/>
                <a:cs typeface="Times New Roman" panose="02020603050405020304" pitchFamily="18" charset="0"/>
              </a:rPr>
              <a:t>Raghu </a:t>
            </a:r>
            <a:r>
              <a:rPr lang="en-IN" dirty="0" err="1">
                <a:latin typeface="Cambria" panose="02040503050406030204" pitchFamily="18" charset="0"/>
                <a:ea typeface="Calibri" panose="020F0502020204030204" pitchFamily="34" charset="0"/>
                <a:cs typeface="Times New Roman" panose="02020603050405020304" pitchFamily="18" charset="0"/>
              </a:rPr>
              <a:t>RamaKrishnan</a:t>
            </a:r>
            <a:r>
              <a:rPr lang="en-IN" dirty="0">
                <a:latin typeface="Cambria" panose="02040503050406030204" pitchFamily="18" charset="0"/>
                <a:ea typeface="Calibri" panose="020F0502020204030204" pitchFamily="34" charset="0"/>
                <a:cs typeface="Times New Roman" panose="02020603050405020304" pitchFamily="18" charset="0"/>
              </a:rPr>
              <a:t>, Johannes </a:t>
            </a:r>
            <a:r>
              <a:rPr lang="en-IN" dirty="0" err="1">
                <a:latin typeface="Cambria" panose="02040503050406030204" pitchFamily="18" charset="0"/>
                <a:ea typeface="Calibri" panose="020F0502020204030204" pitchFamily="34" charset="0"/>
                <a:cs typeface="Times New Roman" panose="02020603050405020304" pitchFamily="18" charset="0"/>
              </a:rPr>
              <a:t>Gehrke</a:t>
            </a:r>
            <a:r>
              <a:rPr lang="en-IN" dirty="0">
                <a:latin typeface="Cambria" panose="02040503050406030204" pitchFamily="18" charset="0"/>
                <a:ea typeface="Calibri" panose="020F0502020204030204" pitchFamily="34" charset="0"/>
                <a:cs typeface="Times New Roman" panose="02020603050405020304" pitchFamily="18" charset="0"/>
              </a:rPr>
              <a:t>, “Database Management Systems”, 3rd edition, Tata McGraw Hill, 2014</a:t>
            </a:r>
            <a:endParaRPr lang="en-US" altLang="en-US" dirty="0">
              <a:latin typeface="Calibri" panose="020F0502020204030204" pitchFamily="34" charset="0"/>
            </a:endParaRPr>
          </a:p>
          <a:p>
            <a:pPr eaLnBrk="1" hangingPunct="1">
              <a:lnSpc>
                <a:spcPct val="150000"/>
              </a:lnSpc>
              <a:defRPr/>
            </a:pPr>
            <a:r>
              <a:rPr lang="en-US" altLang="en-US" b="1" dirty="0">
                <a:latin typeface="Calibri" panose="020F0502020204030204" pitchFamily="34" charset="0"/>
              </a:rPr>
              <a:t>Sites and Web links:</a:t>
            </a:r>
          </a:p>
          <a:p>
            <a:pPr marL="342900" indent="-342900" eaLnBrk="1" hangingPunct="1">
              <a:lnSpc>
                <a:spcPct val="150000"/>
              </a:lnSpc>
              <a:buFontTx/>
              <a:buAutoNum type="arabicPeriod"/>
              <a:defRPr/>
            </a:pPr>
            <a:r>
              <a:rPr lang="en-IN" sz="1600" dirty="0"/>
              <a:t>(6) Chapter 14 INFORMAL DESIGN GUIDELINES FOR RELATION SCHEMAS FOUR INFORMAL MEASURES: 1. Semantics of Attributes. 2. Reducing redundant values in TUPLES. 3. Reducing Null values in TUPLES. 4. Disallowing possibility of Generating Spurious Tuples | </a:t>
            </a:r>
            <a:r>
              <a:rPr lang="en-IN" sz="1600" dirty="0" err="1"/>
              <a:t>Sharans</a:t>
            </a:r>
            <a:r>
              <a:rPr lang="en-IN" sz="1600" dirty="0"/>
              <a:t> Kumar - Academia.edu</a:t>
            </a:r>
          </a:p>
          <a:p>
            <a:pPr marL="342900" indent="-342900" eaLnBrk="1" hangingPunct="1">
              <a:lnSpc>
                <a:spcPct val="150000"/>
              </a:lnSpc>
              <a:buFontTx/>
              <a:buAutoNum type="arabicPeriod"/>
              <a:defRPr/>
            </a:pPr>
            <a:r>
              <a:rPr lang="en-IN" sz="1600" dirty="0"/>
              <a:t> </a:t>
            </a:r>
            <a:r>
              <a:rPr lang="en-IN" sz="1600" dirty="0">
                <a:hlinkClick r:id="rId2"/>
              </a:rPr>
              <a:t>(5983) Informal Guidelines &amp; Normal Forms (1NF, 2NF, 3NF) for Relation Schemas - Abhishek S. Rao - YouTube</a:t>
            </a:r>
            <a:endParaRPr lang="en-US" altLang="en-US" sz="1600" dirty="0">
              <a:latin typeface="Calibri" panose="020F0502020204030204" pitchFamily="34" charset="0"/>
            </a:endParaRPr>
          </a:p>
        </p:txBody>
      </p:sp>
      <p:pic>
        <p:nvPicPr>
          <p:cNvPr id="38916" name="Picture 2" descr="KL Deemed to be University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1913" y="1857375"/>
            <a:ext cx="7920037" cy="2882900"/>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b="1" dirty="0">
              <a:latin typeface="Poppins" pitchFamily="2" charset="77"/>
              <a:cs typeface="Poppins" pitchFamily="2" charset="77"/>
            </a:endParaRPr>
          </a:p>
          <a:p>
            <a:pPr algn="ctr" eaLnBrk="1" fontAlgn="auto" hangingPunct="1">
              <a:spcBef>
                <a:spcPts val="0"/>
              </a:spcBef>
              <a:spcAft>
                <a:spcPts val="0"/>
              </a:spcAft>
              <a:defRPr/>
            </a:pPr>
            <a:r>
              <a:rPr lang="en-US" sz="2400" b="1" dirty="0">
                <a:latin typeface="Poppins" pitchFamily="2" charset="77"/>
                <a:cs typeface="Poppins" pitchFamily="2" charset="77"/>
              </a:rPr>
              <a:t>THANK YOU</a:t>
            </a: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r>
              <a:rPr lang="en-US" sz="2400" b="1" dirty="0">
                <a:latin typeface="Poppins" pitchFamily="2" charset="77"/>
                <a:cs typeface="Poppins" pitchFamily="2" charset="77"/>
              </a:rPr>
              <a:t>Team – Course Name</a:t>
            </a:r>
          </a:p>
          <a:p>
            <a:pPr algn="ctr" eaLnBrk="1" fontAlgn="auto" hangingPunct="1">
              <a:spcBef>
                <a:spcPts val="0"/>
              </a:spcBef>
              <a:spcAft>
                <a:spcPts val="0"/>
              </a:spcAft>
              <a:defRPr/>
            </a:pPr>
            <a:endParaRPr lang="en-US" sz="2400" dirty="0">
              <a:solidFill>
                <a:schemeClr val="bg1"/>
              </a:solidFill>
              <a:latin typeface="Poppins" pitchFamily="2" charset="77"/>
              <a:cs typeface="Poppins" pitchFamily="2" charset="77"/>
            </a:endParaRPr>
          </a:p>
          <a:p>
            <a:pPr algn="ctr" eaLnBrk="1" fontAlgn="auto" hangingPunct="1">
              <a:spcBef>
                <a:spcPts val="0"/>
              </a:spcBef>
              <a:spcAft>
                <a:spcPts val="0"/>
              </a:spcAft>
              <a:defRPr/>
            </a:pPr>
            <a:endParaRPr lang="en-US" sz="2400" dirty="0">
              <a:solidFill>
                <a:schemeClr val="bg1"/>
              </a:solidFill>
              <a:latin typeface="Poppins" pitchFamily="2" charset="77"/>
              <a:cs typeface="Poppins" pitchFamily="2" charset="77"/>
            </a:endParaRPr>
          </a:p>
          <a:p>
            <a:pPr algn="ctr" eaLnBrk="1" fontAlgn="auto" hangingPunct="1">
              <a:spcBef>
                <a:spcPts val="0"/>
              </a:spcBef>
              <a:spcAft>
                <a:spcPts val="0"/>
              </a:spcAft>
              <a:defRPr/>
            </a:pPr>
            <a:endParaRPr lang="en-US" sz="2400" dirty="0">
              <a:solidFill>
                <a:schemeClr val="bg1"/>
              </a:solidFill>
              <a:latin typeface="Poppins" pitchFamily="2" charset="77"/>
              <a:cs typeface="Poppins" pitchFamily="2" charset="77"/>
            </a:endParaRPr>
          </a:p>
        </p:txBody>
      </p:sp>
      <p:pic>
        <p:nvPicPr>
          <p:cNvPr id="39939"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975" y="2560638"/>
            <a:ext cx="323532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4" descr="G2-AN.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473075"/>
            <a:ext cx="12192000" cy="638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0594975" y="5437188"/>
            <a:ext cx="942975" cy="368300"/>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3" action="ppaction://hlinksldjump"/>
              </a:rPr>
              <a:t>BACK</a:t>
            </a:r>
            <a:endParaRPr lang="en-US"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0366375" y="6503988"/>
            <a:ext cx="942975" cy="368300"/>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3" action="ppaction://hlinksldjump"/>
              </a:rPr>
              <a:t>BACK</a:t>
            </a:r>
            <a:endParaRPr lang="en-US"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0"/>
            <a:ext cx="12120562" cy="678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0563225" y="6167438"/>
            <a:ext cx="941388" cy="369887"/>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3" action="ppaction://hlinksldjump"/>
              </a:rPr>
              <a:t>BACK</a:t>
            </a:r>
            <a:endParaRPr lang="en-US"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0"/>
            <a:ext cx="12120562" cy="678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0563225" y="6167438"/>
            <a:ext cx="941388" cy="369887"/>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3" action="ppaction://hlinksldjump"/>
              </a:rPr>
              <a:t>BACK</a:t>
            </a:r>
            <a:endParaRPr lang="en-US"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0"/>
            <a:ext cx="12120562" cy="678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0563225" y="6167438"/>
            <a:ext cx="941388" cy="369887"/>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3" action="ppaction://hlinksldjump"/>
              </a:rPr>
              <a:t>BACK</a:t>
            </a:r>
            <a:endParaRPr lang="en-US"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1438"/>
            <a:ext cx="5872163" cy="667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2163" y="71438"/>
            <a:ext cx="6319837" cy="667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10563225" y="6167438"/>
            <a:ext cx="941388" cy="369887"/>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4" action="ppaction://hlinksldjump"/>
              </a:rPr>
              <a:t>BACK</a:t>
            </a:r>
            <a:endParaRPr lang="en-US"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1 - Cop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0496550" y="6270625"/>
            <a:ext cx="942975" cy="368300"/>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3" action="ppaction://hlinksldjump"/>
              </a:rPr>
              <a:t>BACK</a:t>
            </a:r>
            <a:endParaRPr lang="en-US" dirty="0">
              <a:solidFill>
                <a:srgbClr val="FF0000"/>
              </a:solidFill>
              <a:effectLst>
                <a:outerShdw blurRad="38100" dist="38100" dir="2700000" algn="tl">
                  <a:srgbClr val="000000">
                    <a:alpha val="43137"/>
                  </a:srgbClr>
                </a:outerShdw>
              </a:effectLst>
            </a:endParaRPr>
          </a:p>
        </p:txBody>
      </p:sp>
      <p:sp>
        <p:nvSpPr>
          <p:cNvPr id="4" name="Rectangle 3"/>
          <p:cNvSpPr/>
          <p:nvPr/>
        </p:nvSpPr>
        <p:spPr>
          <a:xfrm>
            <a:off x="286025" y="5164866"/>
            <a:ext cx="3055890" cy="923330"/>
          </a:xfrm>
          <a:prstGeom prst="rect">
            <a:avLst/>
          </a:prstGeom>
        </p:spPr>
        <p:txBody>
          <a:bodyPr>
            <a:spAutoFit/>
          </a:bodyPr>
          <a:lstStyle/>
          <a:p>
            <a:pPr>
              <a:defRPr/>
            </a:pPr>
            <a:r>
              <a:rPr lang="en-IN" dirty="0">
                <a:latin typeface="Calibri" panose="020F0502020204030204" pitchFamily="34" charset="0"/>
                <a:ea typeface="Calibri" panose="020F0502020204030204" pitchFamily="34" charset="0"/>
                <a:cs typeface="Times New Roman" panose="02020603050405020304" pitchFamily="18" charset="0"/>
              </a:rPr>
              <a:t>The main focus is on the overall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structure</a:t>
            </a:r>
            <a:r>
              <a:rPr lang="en-IN" dirty="0">
                <a:latin typeface="Calibri" panose="020F0502020204030204" pitchFamily="34" charset="0"/>
                <a:ea typeface="Calibri" panose="020F0502020204030204" pitchFamily="34" charset="0"/>
                <a:cs typeface="Times New Roman" panose="02020603050405020304" pitchFamily="18" charset="0"/>
              </a:rPr>
              <a:t>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r>
              <a:rPr lang="en-IN" dirty="0">
                <a:latin typeface="Calibri" panose="020F0502020204030204" pitchFamily="34" charset="0"/>
                <a:ea typeface="Calibri" panose="020F0502020204030204" pitchFamily="34" charset="0"/>
                <a:cs typeface="Times New Roman" panose="02020603050405020304" pitchFamily="18" charset="0"/>
              </a:rPr>
              <a:t> between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entities</a:t>
            </a:r>
            <a:r>
              <a:rPr lang="en-IN" dirty="0">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5" name="Rectangle 4"/>
          <p:cNvSpPr/>
          <p:nvPr/>
        </p:nvSpPr>
        <p:spPr>
          <a:xfrm>
            <a:off x="4452256" y="5105388"/>
            <a:ext cx="4528457" cy="1477328"/>
          </a:xfrm>
          <a:prstGeom prst="rect">
            <a:avLst/>
          </a:prstGeom>
        </p:spPr>
        <p:txBody>
          <a:bodyPr>
            <a:spAutoFit/>
          </a:bodyPr>
          <a:lstStyle/>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The main focus is on defining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data elements</a:t>
            </a:r>
            <a:r>
              <a:rPr lang="en-IN" dirty="0">
                <a:latin typeface="Calibri" panose="020F0502020204030204" pitchFamily="34" charset="0"/>
                <a:ea typeface="Calibri" panose="020F0502020204030204" pitchFamily="34" charset="0"/>
                <a:cs typeface="Times New Roman" panose="02020603050405020304" pitchFamily="18" charset="0"/>
              </a:rPr>
              <a:t>, their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r>
              <a:rPr lang="en-IN" dirty="0">
                <a:latin typeface="Calibri" panose="020F0502020204030204" pitchFamily="34" charset="0"/>
                <a:ea typeface="Calibri" panose="020F0502020204030204" pitchFamily="34" charset="0"/>
                <a:cs typeface="Times New Roman" panose="02020603050405020304" pitchFamily="18" charset="0"/>
              </a:rPr>
              <a:t>, and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data constraints</a:t>
            </a:r>
            <a:r>
              <a:rPr lang="en-IN" dirty="0">
                <a:latin typeface="Calibri" panose="020F0502020204030204" pitchFamily="34" charset="0"/>
                <a:ea typeface="Calibri" panose="020F0502020204030204" pitchFamily="34" charset="0"/>
                <a:cs typeface="Times New Roman" panose="02020603050405020304" pitchFamily="18" charset="0"/>
              </a:rPr>
              <a:t>. </a:t>
            </a:r>
          </a:p>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This design is usually presented in the form of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tables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column</a:t>
            </a:r>
            <a:r>
              <a:rPr lang="en-IN" dirty="0">
                <a:latin typeface="Calibri" panose="020F0502020204030204" pitchFamily="34" charset="0"/>
                <a:ea typeface="Calibri" panose="020F0502020204030204" pitchFamily="34" charset="0"/>
                <a:cs typeface="Times New Roman" panose="02020603050405020304" pitchFamily="18" charset="0"/>
              </a:rPr>
              <a:t>s,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1438"/>
            <a:ext cx="12192000" cy="678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0479088" y="6242050"/>
            <a:ext cx="941387" cy="369888"/>
          </a:xfrm>
          <a:prstGeom prst="rect">
            <a:avLst/>
          </a:prstGeom>
          <a:noFill/>
        </p:spPr>
        <p:txBody>
          <a:bodyPr>
            <a:spAutoFit/>
          </a:bodyPr>
          <a:lstStyle/>
          <a:p>
            <a:pPr>
              <a:defRPr/>
            </a:pPr>
            <a:r>
              <a:rPr lang="en-IN" dirty="0">
                <a:solidFill>
                  <a:srgbClr val="FF0000"/>
                </a:solidFill>
                <a:effectLst>
                  <a:outerShdw blurRad="38100" dist="38100" dir="2700000" algn="tl">
                    <a:srgbClr val="000000">
                      <a:alpha val="43137"/>
                    </a:srgbClr>
                  </a:outerShdw>
                </a:effectLst>
                <a:hlinkClick r:id="rId3" action="ppaction://hlinksldjump"/>
              </a:rPr>
              <a:t>BACK</a:t>
            </a:r>
            <a:endParaRPr lang="en-US" dirty="0">
              <a:solidFill>
                <a:srgbClr val="FF0000"/>
              </a:solidFill>
              <a:effectLst>
                <a:outerShdw blurRad="38100" dist="38100" dir="2700000" algn="tl">
                  <a:srgbClr val="000000">
                    <a:alpha val="43137"/>
                  </a:srgbClr>
                </a:outerShdw>
              </a:effectLst>
            </a:endParaRPr>
          </a:p>
        </p:txBody>
      </p:sp>
      <p:sp>
        <p:nvSpPr>
          <p:cNvPr id="4" name="Rectangle 3"/>
          <p:cNvSpPr/>
          <p:nvPr/>
        </p:nvSpPr>
        <p:spPr>
          <a:xfrm>
            <a:off x="286025" y="4310744"/>
            <a:ext cx="1618975" cy="2031325"/>
          </a:xfrm>
          <a:prstGeom prst="rect">
            <a:avLst/>
          </a:prstGeom>
        </p:spPr>
        <p:txBody>
          <a:bodyPr>
            <a:spAutoFit/>
          </a:bodyPr>
          <a:lstStyle/>
          <a:p>
            <a:pPr>
              <a:defRPr/>
            </a:pPr>
            <a:r>
              <a:rPr lang="en-IN" dirty="0">
                <a:latin typeface="Calibri" panose="020F0502020204030204" pitchFamily="34" charset="0"/>
                <a:ea typeface="Calibri" panose="020F0502020204030204" pitchFamily="34" charset="0"/>
                <a:cs typeface="Times New Roman" panose="02020603050405020304" pitchFamily="18" charset="0"/>
              </a:rPr>
              <a:t>The main focus is on the overall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structure</a:t>
            </a:r>
            <a:r>
              <a:rPr lang="en-IN" dirty="0">
                <a:latin typeface="Calibri" panose="020F0502020204030204" pitchFamily="34" charset="0"/>
                <a:ea typeface="Calibri" panose="020F0502020204030204" pitchFamily="34" charset="0"/>
                <a:cs typeface="Times New Roman" panose="02020603050405020304" pitchFamily="18" charset="0"/>
              </a:rPr>
              <a:t>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r>
              <a:rPr lang="en-IN" dirty="0">
                <a:latin typeface="Calibri" panose="020F0502020204030204" pitchFamily="34" charset="0"/>
                <a:ea typeface="Calibri" panose="020F0502020204030204" pitchFamily="34" charset="0"/>
                <a:cs typeface="Times New Roman" panose="02020603050405020304" pitchFamily="18" charset="0"/>
              </a:rPr>
              <a:t> between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entities</a:t>
            </a:r>
            <a:r>
              <a:rPr lang="en-IN" dirty="0">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5" name="Rectangle 4"/>
          <p:cNvSpPr/>
          <p:nvPr/>
        </p:nvSpPr>
        <p:spPr>
          <a:xfrm>
            <a:off x="2634295" y="3418114"/>
            <a:ext cx="2399124" cy="3139321"/>
          </a:xfrm>
          <a:prstGeom prst="rect">
            <a:avLst/>
          </a:prstGeom>
        </p:spPr>
        <p:txBody>
          <a:bodyPr>
            <a:spAutoFit/>
          </a:bodyPr>
          <a:lstStyle/>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The main focus is on defining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data elements</a:t>
            </a:r>
            <a:r>
              <a:rPr lang="en-IN" dirty="0">
                <a:latin typeface="Calibri" panose="020F0502020204030204" pitchFamily="34" charset="0"/>
                <a:ea typeface="Calibri" panose="020F0502020204030204" pitchFamily="34" charset="0"/>
                <a:cs typeface="Times New Roman" panose="02020603050405020304" pitchFamily="18" charset="0"/>
              </a:rPr>
              <a:t>, their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r>
              <a:rPr lang="en-IN" dirty="0">
                <a:latin typeface="Calibri" panose="020F0502020204030204" pitchFamily="34" charset="0"/>
                <a:ea typeface="Calibri" panose="020F0502020204030204" pitchFamily="34" charset="0"/>
                <a:cs typeface="Times New Roman" panose="02020603050405020304" pitchFamily="18" charset="0"/>
              </a:rPr>
              <a:t>, and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data constraints</a:t>
            </a:r>
            <a:r>
              <a:rPr lang="en-IN" dirty="0">
                <a:latin typeface="Calibri" panose="020F0502020204030204" pitchFamily="34" charset="0"/>
                <a:ea typeface="Calibri" panose="020F0502020204030204" pitchFamily="34" charset="0"/>
                <a:cs typeface="Times New Roman" panose="02020603050405020304" pitchFamily="18" charset="0"/>
              </a:rPr>
              <a:t>. </a:t>
            </a:r>
          </a:p>
          <a:p>
            <a:pPr marL="342900" indent="-342900" eaLnBrk="1" hangingPunct="1">
              <a:buFont typeface="Wingdings" panose="05000000000000000000" pitchFamily="2" charset="2"/>
              <a:buChar char="ü"/>
              <a:defRPr/>
            </a:pPr>
            <a:r>
              <a:rPr lang="en-IN" dirty="0">
                <a:latin typeface="Calibri" panose="020F0502020204030204" pitchFamily="34" charset="0"/>
                <a:ea typeface="Calibri" panose="020F0502020204030204" pitchFamily="34" charset="0"/>
                <a:cs typeface="Times New Roman" panose="02020603050405020304" pitchFamily="18" charset="0"/>
              </a:rPr>
              <a:t>This design is usually presented in the form of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tables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column</a:t>
            </a:r>
            <a:r>
              <a:rPr lang="en-IN" dirty="0">
                <a:latin typeface="Calibri" panose="020F0502020204030204" pitchFamily="34" charset="0"/>
                <a:ea typeface="Calibri" panose="020F0502020204030204" pitchFamily="34" charset="0"/>
                <a:cs typeface="Times New Roman" panose="02020603050405020304" pitchFamily="18" charset="0"/>
              </a:rPr>
              <a:t>s,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relationships</a:t>
            </a:r>
          </a:p>
        </p:txBody>
      </p:sp>
      <p:sp>
        <p:nvSpPr>
          <p:cNvPr id="6" name="Rectangle 5"/>
          <p:cNvSpPr/>
          <p:nvPr/>
        </p:nvSpPr>
        <p:spPr>
          <a:xfrm>
            <a:off x="6868886" y="3503768"/>
            <a:ext cx="2046514" cy="3416320"/>
          </a:xfrm>
          <a:prstGeom prst="rect">
            <a:avLst/>
          </a:prstGeom>
        </p:spPr>
        <p:txBody>
          <a:bodyPr>
            <a:spAutoFit/>
          </a:bodyPr>
          <a:lstStyle/>
          <a:p>
            <a:pPr eaLnBrk="1" hangingPunct="1">
              <a:defRPr/>
            </a:pPr>
            <a:r>
              <a:rPr lang="en-IN" dirty="0">
                <a:latin typeface="Calibri" panose="020F0502020204030204" pitchFamily="34" charset="0"/>
                <a:ea typeface="Calibri" panose="020F0502020204030204" pitchFamily="34" charset="0"/>
                <a:cs typeface="Times New Roman" panose="02020603050405020304" pitchFamily="18" charset="0"/>
              </a:rPr>
              <a:t>This includes defining the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storage structures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access methods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indexes</a:t>
            </a:r>
            <a:r>
              <a:rPr lang="en-IN" dirty="0">
                <a:latin typeface="Calibri" panose="020F0502020204030204" pitchFamily="34" charset="0"/>
                <a:ea typeface="Calibri" panose="020F0502020204030204" pitchFamily="34" charset="0"/>
                <a:cs typeface="Times New Roman" panose="02020603050405020304" pitchFamily="18" charset="0"/>
              </a:rPr>
              <a:t>, and </a:t>
            </a:r>
            <a:r>
              <a:rPr lang="en-IN" dirty="0">
                <a:highlight>
                  <a:srgbClr val="FFFF00"/>
                </a:highlight>
                <a:latin typeface="Calibri" panose="020F0502020204030204" pitchFamily="34" charset="0"/>
                <a:ea typeface="Calibri" panose="020F0502020204030204" pitchFamily="34" charset="0"/>
                <a:cs typeface="Times New Roman" panose="02020603050405020304" pitchFamily="18" charset="0"/>
              </a:rPr>
              <a:t>other physical parameters</a:t>
            </a:r>
            <a:r>
              <a:rPr lang="en-IN" dirty="0">
                <a:latin typeface="Calibri" panose="020F0502020204030204" pitchFamily="34" charset="0"/>
                <a:ea typeface="Calibri" panose="020F0502020204030204" pitchFamily="34" charset="0"/>
                <a:cs typeface="Times New Roman" panose="02020603050405020304" pitchFamily="18" charset="0"/>
              </a:rPr>
              <a:t>. </a:t>
            </a:r>
          </a:p>
          <a:p>
            <a:pPr eaLnBrk="1" hangingPunct="1">
              <a:defRPr/>
            </a:pPr>
            <a:r>
              <a:rPr lang="en-IN" dirty="0">
                <a:latin typeface="Calibri" panose="020F0502020204030204" pitchFamily="34" charset="0"/>
                <a:ea typeface="Calibri" panose="020F0502020204030204" pitchFamily="34" charset="0"/>
                <a:cs typeface="Times New Roman" panose="02020603050405020304" pitchFamily="18" charset="0"/>
              </a:rPr>
              <a:t>The main focus is on how the database will be physically implemented on a specific platform.</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E7663F-E3AA-4D21-8D92-F6FFBDB44812}">
  <ds:schemaRefs>
    <ds:schemaRef ds:uri="http://purl.org/dc/elements/1.1/"/>
    <ds:schemaRef ds:uri="http://schemas.microsoft.com/office/2006/metadata/properties"/>
    <ds:schemaRef ds:uri="0125a647-8023-46ae-ae6e-85cf36d841bd"/>
    <ds:schemaRef ds:uri="http://purl.org/dc/term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d43ee83c-3e71-4748-8ebc-8eaadf793425"/>
    <ds:schemaRef ds:uri="http://www.w3.org/XML/1998/namespace"/>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1478</TotalTime>
  <Words>2878</Words>
  <Application>Microsoft Office PowerPoint</Application>
  <PresentationFormat>Widescreen</PresentationFormat>
  <Paragraphs>319</Paragraphs>
  <Slides>33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Calibri Light</vt:lpstr>
      <vt:lpstr>Cambria</vt:lpstr>
      <vt:lpstr>Heebo</vt:lpstr>
      <vt:lpstr>Nunito</vt:lpstr>
      <vt:lpstr>Poppins</vt:lpstr>
      <vt:lpstr>Roboto</vt:lpstr>
      <vt:lpstr>Söhne</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VEERASWAMY AMMISETTY</dc:creator>
  <cp:lastModifiedBy>VEERASWAMY AMMISETTY</cp:lastModifiedBy>
  <cp:revision>146</cp:revision>
  <dcterms:created xsi:type="dcterms:W3CDTF">2020-02-08T09:57:44Z</dcterms:created>
  <dcterms:modified xsi:type="dcterms:W3CDTF">2025-06-08T15:02:49Z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