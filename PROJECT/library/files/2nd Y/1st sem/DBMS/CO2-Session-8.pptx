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2"/>
  </p:notesMasterIdLst>
  <p:sldIdLst>
    <p:sldId id="271" r:id="rId5"/>
    <p:sldId id="300" r:id="rId6"/>
    <p:sldId id="322" r:id="rId7"/>
    <p:sldId id="332" r:id="rId8"/>
    <p:sldId id="307" r:id="rId9"/>
    <p:sldId id="333" r:id="rId10"/>
    <p:sldId id="334" r:id="rId11"/>
    <p:sldId id="335" r:id="rId12"/>
    <p:sldId id="336" r:id="rId13"/>
    <p:sldId id="337" r:id="rId14"/>
    <p:sldId id="338" r:id="rId15"/>
    <p:sldId id="339" r:id="rId16"/>
    <p:sldId id="340" r:id="rId17"/>
    <p:sldId id="341" r:id="rId18"/>
    <p:sldId id="342" r:id="rId19"/>
    <p:sldId id="343" r:id="rId20"/>
    <p:sldId id="308" r:id="rId21"/>
    <p:sldId id="344" r:id="rId22"/>
    <p:sldId id="345" r:id="rId23"/>
    <p:sldId id="347" r:id="rId24"/>
    <p:sldId id="348" r:id="rId25"/>
    <p:sldId id="349" r:id="rId26"/>
    <p:sldId id="350" r:id="rId27"/>
    <p:sldId id="351" r:id="rId28"/>
    <p:sldId id="352" r:id="rId29"/>
    <p:sldId id="321" r:id="rId30"/>
    <p:sldId id="325" r:id="rId31"/>
    <p:sldId id="299" r:id="rId32"/>
    <p:sldId id="285" r:id="rId33"/>
    <p:sldId id="287" r:id="rId34"/>
    <p:sldId id="301" r:id="rId35"/>
    <p:sldId id="326" r:id="rId36"/>
    <p:sldId id="327" r:id="rId37"/>
    <p:sldId id="328" r:id="rId38"/>
    <p:sldId id="302" r:id="rId39"/>
    <p:sldId id="303" r:id="rId40"/>
    <p:sldId id="30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293B"/>
    <a:srgbClr val="FF9900"/>
    <a:srgbClr val="E84845"/>
    <a:srgbClr val="FAD2D2"/>
    <a:srgbClr val="F89E4C"/>
    <a:srgbClr val="A81E24"/>
    <a:srgbClr val="FFF2CC"/>
    <a:srgbClr val="CF2F33"/>
    <a:srgbClr val="BA2532"/>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89"/>
  </p:normalViewPr>
  <p:slideViewPr>
    <p:cSldViewPr snapToGrid="0">
      <p:cViewPr varScale="1">
        <p:scale>
          <a:sx n="63" d="100"/>
          <a:sy n="63" d="100"/>
        </p:scale>
        <p:origin x="804"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6/8/2025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456039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651582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val="648172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a:p>
        </p:txBody>
      </p:sp>
    </p:spTree>
    <p:extLst>
      <p:ext uri="{BB962C8B-B14F-4D97-AF65-F5344CB8AC3E}">
        <p14:creationId xmlns:p14="http://schemas.microsoft.com/office/powerpoint/2010/main" val="298594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val="2160555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8</a:t>
            </a:fld>
            <a:endParaRPr lang="en-US"/>
          </a:p>
        </p:txBody>
      </p:sp>
    </p:spTree>
    <p:extLst>
      <p:ext uri="{BB962C8B-B14F-4D97-AF65-F5344CB8AC3E}">
        <p14:creationId xmlns:p14="http://schemas.microsoft.com/office/powerpoint/2010/main" val="789079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9</a:t>
            </a:fld>
            <a:endParaRPr lang="en-US"/>
          </a:p>
        </p:txBody>
      </p:sp>
    </p:spTree>
    <p:extLst>
      <p:ext uri="{BB962C8B-B14F-4D97-AF65-F5344CB8AC3E}">
        <p14:creationId xmlns:p14="http://schemas.microsoft.com/office/powerpoint/2010/main" val="1423322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10</a:t>
            </a:fld>
            <a:endParaRPr lang="en-US"/>
          </a:p>
        </p:txBody>
      </p:sp>
    </p:spTree>
    <p:extLst>
      <p:ext uri="{BB962C8B-B14F-4D97-AF65-F5344CB8AC3E}">
        <p14:creationId xmlns:p14="http://schemas.microsoft.com/office/powerpoint/2010/main" val="1611306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11</a:t>
            </a:fld>
            <a:endParaRPr lang="en-US"/>
          </a:p>
        </p:txBody>
      </p:sp>
    </p:spTree>
    <p:extLst>
      <p:ext uri="{BB962C8B-B14F-4D97-AF65-F5344CB8AC3E}">
        <p14:creationId xmlns:p14="http://schemas.microsoft.com/office/powerpoint/2010/main" val="2323554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12</a:t>
            </a:fld>
            <a:endParaRPr lang="en-US"/>
          </a:p>
        </p:txBody>
      </p:sp>
    </p:spTree>
    <p:extLst>
      <p:ext uri="{BB962C8B-B14F-4D97-AF65-F5344CB8AC3E}">
        <p14:creationId xmlns:p14="http://schemas.microsoft.com/office/powerpoint/2010/main" val="2979548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13</a:t>
            </a:fld>
            <a:endParaRPr lang="en-US"/>
          </a:p>
        </p:txBody>
      </p:sp>
    </p:spTree>
    <p:extLst>
      <p:ext uri="{BB962C8B-B14F-4D97-AF65-F5344CB8AC3E}">
        <p14:creationId xmlns:p14="http://schemas.microsoft.com/office/powerpoint/2010/main" val="2060478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14</a:t>
            </a:fld>
            <a:endParaRPr lang="en-US"/>
          </a:p>
        </p:txBody>
      </p:sp>
    </p:spTree>
    <p:extLst>
      <p:ext uri="{BB962C8B-B14F-4D97-AF65-F5344CB8AC3E}">
        <p14:creationId xmlns:p14="http://schemas.microsoft.com/office/powerpoint/2010/main" val="3906334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15</a:t>
            </a:fld>
            <a:endParaRPr lang="en-US"/>
          </a:p>
        </p:txBody>
      </p:sp>
    </p:spTree>
    <p:extLst>
      <p:ext uri="{BB962C8B-B14F-4D97-AF65-F5344CB8AC3E}">
        <p14:creationId xmlns:p14="http://schemas.microsoft.com/office/powerpoint/2010/main" val="1463110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16</a:t>
            </a:fld>
            <a:endParaRPr lang="en-US"/>
          </a:p>
        </p:txBody>
      </p:sp>
    </p:spTree>
    <p:extLst>
      <p:ext uri="{BB962C8B-B14F-4D97-AF65-F5344CB8AC3E}">
        <p14:creationId xmlns:p14="http://schemas.microsoft.com/office/powerpoint/2010/main" val="21098223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17</a:t>
            </a:fld>
            <a:endParaRPr lang="en-US"/>
          </a:p>
        </p:txBody>
      </p:sp>
    </p:spTree>
    <p:extLst>
      <p:ext uri="{BB962C8B-B14F-4D97-AF65-F5344CB8AC3E}">
        <p14:creationId xmlns:p14="http://schemas.microsoft.com/office/powerpoint/2010/main" val="2463724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18</a:t>
            </a:fld>
            <a:endParaRPr lang="en-US"/>
          </a:p>
        </p:txBody>
      </p:sp>
    </p:spTree>
    <p:extLst>
      <p:ext uri="{BB962C8B-B14F-4D97-AF65-F5344CB8AC3E}">
        <p14:creationId xmlns:p14="http://schemas.microsoft.com/office/powerpoint/2010/main" val="2404383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19</a:t>
            </a:fld>
            <a:endParaRPr lang="en-US"/>
          </a:p>
        </p:txBody>
      </p:sp>
    </p:spTree>
    <p:extLst>
      <p:ext uri="{BB962C8B-B14F-4D97-AF65-F5344CB8AC3E}">
        <p14:creationId xmlns:p14="http://schemas.microsoft.com/office/powerpoint/2010/main" val="136291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20</a:t>
            </a:fld>
            <a:endParaRPr lang="en-US"/>
          </a:p>
        </p:txBody>
      </p:sp>
    </p:spTree>
    <p:extLst>
      <p:ext uri="{BB962C8B-B14F-4D97-AF65-F5344CB8AC3E}">
        <p14:creationId xmlns:p14="http://schemas.microsoft.com/office/powerpoint/2010/main" val="2275671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21</a:t>
            </a:fld>
            <a:endParaRPr lang="en-US"/>
          </a:p>
        </p:txBody>
      </p:sp>
    </p:spTree>
    <p:extLst>
      <p:ext uri="{BB962C8B-B14F-4D97-AF65-F5344CB8AC3E}">
        <p14:creationId xmlns:p14="http://schemas.microsoft.com/office/powerpoint/2010/main" val="10915629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22</a:t>
            </a:fld>
            <a:endParaRPr lang="en-US"/>
          </a:p>
        </p:txBody>
      </p:sp>
    </p:spTree>
    <p:extLst>
      <p:ext uri="{BB962C8B-B14F-4D97-AF65-F5344CB8AC3E}">
        <p14:creationId xmlns:p14="http://schemas.microsoft.com/office/powerpoint/2010/main" val="270645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23</a:t>
            </a:fld>
            <a:endParaRPr lang="en-US"/>
          </a:p>
        </p:txBody>
      </p:sp>
    </p:spTree>
    <p:extLst>
      <p:ext uri="{BB962C8B-B14F-4D97-AF65-F5344CB8AC3E}">
        <p14:creationId xmlns:p14="http://schemas.microsoft.com/office/powerpoint/2010/main" val="3667282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24</a:t>
            </a:fld>
            <a:endParaRPr lang="en-US"/>
          </a:p>
        </p:txBody>
      </p:sp>
    </p:spTree>
    <p:extLst>
      <p:ext uri="{BB962C8B-B14F-4D97-AF65-F5344CB8AC3E}">
        <p14:creationId xmlns:p14="http://schemas.microsoft.com/office/powerpoint/2010/main" val="6862290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25</a:t>
            </a:fld>
            <a:endParaRPr lang="en-US"/>
          </a:p>
        </p:txBody>
      </p:sp>
    </p:spTree>
    <p:extLst>
      <p:ext uri="{BB962C8B-B14F-4D97-AF65-F5344CB8AC3E}">
        <p14:creationId xmlns:p14="http://schemas.microsoft.com/office/powerpoint/2010/main" val="383411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26</a:t>
            </a:fld>
            <a:endParaRPr lang="en-US"/>
          </a:p>
        </p:txBody>
      </p:sp>
    </p:spTree>
    <p:extLst>
      <p:ext uri="{BB962C8B-B14F-4D97-AF65-F5344CB8AC3E}">
        <p14:creationId xmlns:p14="http://schemas.microsoft.com/office/powerpoint/2010/main" val="38599122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27</a:t>
            </a:fld>
            <a:endParaRPr lang="en-US"/>
          </a:p>
        </p:txBody>
      </p:sp>
    </p:spTree>
    <p:extLst>
      <p:ext uri="{BB962C8B-B14F-4D97-AF65-F5344CB8AC3E}">
        <p14:creationId xmlns:p14="http://schemas.microsoft.com/office/powerpoint/2010/main" val="4114501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6/8/2025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0"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6" name="Google Shape;476;p16"/>
          <p:cNvSpPr txBox="1"/>
          <p:nvPr/>
        </p:nvSpPr>
        <p:spPr>
          <a:xfrm>
            <a:off x="2522425" y="1871462"/>
            <a:ext cx="6902548" cy="261606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DBMS</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CODE:24AD2103</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dirty="0">
                <a:solidFill>
                  <a:srgbClr val="C00000"/>
                </a:solidFill>
                <a:ea typeface="BioRhyme ExtraBold"/>
                <a:cs typeface="Poppins" panose="00000500000000000000" pitchFamily="2" charset="0"/>
                <a:sym typeface="BioRhyme ExtraBold"/>
              </a:rPr>
              <a:t>Topic:</a:t>
            </a:r>
            <a:r>
              <a:rPr lang="en-US" sz="2000" b="1" dirty="0">
                <a:solidFill>
                  <a:schemeClr val="bg1">
                    <a:lumMod val="50000"/>
                  </a:schemeClr>
                </a:solidFill>
                <a:ea typeface="BioRhyme ExtraBold"/>
                <a:cs typeface="Poppins" panose="00000500000000000000" pitchFamily="2" charset="0"/>
                <a:sym typeface="BioRhyme ExtraBold"/>
              </a:rPr>
              <a:t>  </a:t>
            </a: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800" b="1" dirty="0">
                <a:solidFill>
                  <a:srgbClr val="00B050"/>
                </a:solidFill>
                <a:ea typeface="BioRhyme ExtraBold"/>
                <a:cs typeface="Poppins" panose="00000500000000000000" pitchFamily="2" charset="0"/>
                <a:sym typeface="BioRhyme ExtraBold"/>
              </a:rPr>
              <a:t>Data Types, Constraints &amp; DML Statements</a:t>
            </a: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3718256" y="414798"/>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3675976" y="315960"/>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4978441" y="5108651"/>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- 8</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3"/>
          <a:srcRect/>
          <a:stretch>
            <a:fillRect/>
          </a:stretch>
        </p:blipFill>
        <p:spPr bwMode="auto">
          <a:xfrm>
            <a:off x="222704" y="81945"/>
            <a:ext cx="2468982"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23991" y="546599"/>
            <a:ext cx="10731286" cy="1200329"/>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Data Types in </a:t>
            </a:r>
            <a:r>
              <a:rPr lang="en-US" sz="1600" b="0" i="0" dirty="0" err="1">
                <a:effectLst/>
                <a:latin typeface="Poppins"/>
                <a:cs typeface="Poppins"/>
              </a:rPr>
              <a:t>PostgresQL</a:t>
            </a:r>
            <a:endParaRPr lang="en-US" sz="1600" b="0" i="0" dirty="0">
              <a:effectLst/>
              <a:latin typeface="Poppins"/>
              <a:cs typeface="Poppins"/>
            </a:endParaRPr>
          </a:p>
          <a:p>
            <a:pPr>
              <a:lnSpc>
                <a:spcPct val="150000"/>
              </a:lnSpc>
            </a:pPr>
            <a:r>
              <a:rPr lang="en-US" sz="1600" dirty="0">
                <a:latin typeface="Poppins"/>
                <a:cs typeface="Poppins"/>
              </a:rPr>
              <a:t>To aware the students how to define the constraints in the queries</a:t>
            </a:r>
          </a:p>
          <a:p>
            <a:pPr>
              <a:lnSpc>
                <a:spcPct val="150000"/>
              </a:lnSpc>
            </a:pPr>
            <a:r>
              <a:rPr lang="en-US" sz="1600" b="0" i="0" dirty="0">
                <a:effectLst/>
                <a:latin typeface="Poppins"/>
                <a:cs typeface="Poppins"/>
              </a:rPr>
              <a:t>To grasp the students the concept of DML statements </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212970" y="2293527"/>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123991" y="2863623"/>
            <a:ext cx="10731285" cy="58477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get the enough knowledge to write the DML queries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962" y="2753367"/>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962" y="4607417"/>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123992" y="4772230"/>
            <a:ext cx="10731284" cy="58477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r>
              <a:rPr lang="en-US" sz="1600" dirty="0">
                <a:latin typeface="Arial"/>
                <a:cs typeface="Arial"/>
              </a:rPr>
              <a:t> write the </a:t>
            </a:r>
            <a:r>
              <a:rPr lang="en-US" sz="1600" dirty="0" err="1">
                <a:latin typeface="Arial"/>
                <a:cs typeface="Arial"/>
              </a:rPr>
              <a:t>PostgresQL</a:t>
            </a:r>
            <a:r>
              <a:rPr lang="en-US" sz="1600" dirty="0">
                <a:latin typeface="Arial"/>
                <a:cs typeface="Arial"/>
              </a:rPr>
              <a:t> queries using constraints</a:t>
            </a:r>
            <a:endParaRPr lang="en-US" sz="1600" b="0" i="0" dirty="0">
              <a:effectLst/>
              <a:latin typeface="Arial"/>
              <a:cs typeface="Arial"/>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317677" y="813395"/>
            <a:ext cx="11530885" cy="1015663"/>
          </a:xfrm>
          <a:prstGeom prst="rect">
            <a:avLst/>
          </a:prstGeom>
        </p:spPr>
        <p:txBody>
          <a:bodyPr wrap="square">
            <a:spAutoFit/>
          </a:bodyPr>
          <a:lstStyle/>
          <a:p>
            <a:pPr algn="just">
              <a:lnSpc>
                <a:spcPct val="150000"/>
              </a:lnSpc>
            </a:pPr>
            <a:r>
              <a:rPr lang="en-US" sz="2000" b="1" dirty="0">
                <a:solidFill>
                  <a:srgbClr val="FF0000"/>
                </a:solidFill>
              </a:rPr>
              <a:t>Datatypes</a:t>
            </a:r>
            <a:r>
              <a:rPr lang="en-US" sz="2000" dirty="0"/>
              <a:t> in SQL are used to define the type of data that can be stored in a column of a table, like, INT, CHAR, MONEY, DATETIME etc.</a:t>
            </a:r>
            <a:endParaRPr lang="en-IN" sz="2000" dirty="0"/>
          </a:p>
        </p:txBody>
      </p:sp>
      <p:sp>
        <p:nvSpPr>
          <p:cNvPr id="4" name="Rectangle 3"/>
          <p:cNvSpPr/>
          <p:nvPr/>
        </p:nvSpPr>
        <p:spPr>
          <a:xfrm>
            <a:off x="317677" y="2059079"/>
            <a:ext cx="11381842" cy="1169551"/>
          </a:xfrm>
          <a:prstGeom prst="rect">
            <a:avLst/>
          </a:prstGeom>
        </p:spPr>
        <p:txBody>
          <a:bodyPr wrap="square">
            <a:spAutoFit/>
          </a:bodyPr>
          <a:lstStyle/>
          <a:p>
            <a:pPr algn="just"/>
            <a:r>
              <a:rPr lang="en-US" sz="2000" b="1" dirty="0">
                <a:solidFill>
                  <a:srgbClr val="000000"/>
                </a:solidFill>
              </a:rPr>
              <a:t>Defining a Datatype:</a:t>
            </a:r>
            <a:r>
              <a:rPr lang="en-US" sz="2000" dirty="0">
                <a:solidFill>
                  <a:srgbClr val="000000"/>
                </a:solidFill>
              </a:rPr>
              <a:t> Datatypes are defined during the creation of a table in </a:t>
            </a:r>
            <a:r>
              <a:rPr lang="en-US" sz="2000" dirty="0" err="1">
                <a:solidFill>
                  <a:srgbClr val="000000"/>
                </a:solidFill>
              </a:rPr>
              <a:t>PostgresQL</a:t>
            </a:r>
            <a:r>
              <a:rPr lang="en-US" sz="2000" dirty="0">
                <a:solidFill>
                  <a:srgbClr val="000000"/>
                </a:solidFill>
              </a:rPr>
              <a:t>. While creating a table, it is required to specify its respective datatype and size along with the name of the column.</a:t>
            </a:r>
          </a:p>
          <a:p>
            <a:pPr algn="just">
              <a:lnSpc>
                <a:spcPct val="150000"/>
              </a:lnSpc>
            </a:pPr>
            <a:r>
              <a:rPr lang="en-US" sz="2000" dirty="0">
                <a:solidFill>
                  <a:srgbClr val="000000"/>
                </a:solidFill>
              </a:rPr>
              <a:t>The syntax to define a datatype on a column of an SQL table is:</a:t>
            </a:r>
            <a:endParaRPr lang="en-US" sz="2000" b="0" i="0" dirty="0">
              <a:solidFill>
                <a:srgbClr val="000000"/>
              </a:solidFill>
              <a:effectLst/>
            </a:endParaRPr>
          </a:p>
        </p:txBody>
      </p:sp>
      <p:sp>
        <p:nvSpPr>
          <p:cNvPr id="6" name="Rectangle 2"/>
          <p:cNvSpPr>
            <a:spLocks noChangeArrowheads="1"/>
          </p:cNvSpPr>
          <p:nvPr/>
        </p:nvSpPr>
        <p:spPr bwMode="auto">
          <a:xfrm>
            <a:off x="2143407" y="3467926"/>
            <a:ext cx="8161517" cy="32316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var(--bs-font-monospace)"/>
              </a:rPr>
              <a:t>CREATE TABLE </a:t>
            </a:r>
            <a:r>
              <a:rPr kumimoji="0" lang="en-US" altLang="en-US" b="0" i="0" u="none" strike="noStrike" cap="none" normalizeH="0" baseline="0" dirty="0" err="1">
                <a:ln>
                  <a:noFill/>
                </a:ln>
                <a:solidFill>
                  <a:srgbClr val="000000"/>
                </a:solidFill>
                <a:effectLst/>
                <a:latin typeface="var(--bs-font-monospace)"/>
              </a:rPr>
              <a:t>table_name</a:t>
            </a:r>
            <a:r>
              <a:rPr kumimoji="0" lang="en-US" altLang="en-US" b="0" i="0" u="none" strike="noStrike" cap="none" normalizeH="0" baseline="0" dirty="0">
                <a:ln>
                  <a:noFill/>
                </a:ln>
                <a:solidFill>
                  <a:srgbClr val="000000"/>
                </a:solidFill>
                <a:effectLst/>
                <a:latin typeface="var(--bs-font-monospace)"/>
              </a:rPr>
              <a:t> (column1 datatype, column2 datatype…)</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Rectangle 6"/>
          <p:cNvSpPr/>
          <p:nvPr/>
        </p:nvSpPr>
        <p:spPr>
          <a:xfrm>
            <a:off x="2143407" y="4006021"/>
            <a:ext cx="7879419" cy="369332"/>
          </a:xfrm>
          <a:prstGeom prst="rect">
            <a:avLst/>
          </a:prstGeom>
        </p:spPr>
        <p:txBody>
          <a:bodyPr wrap="square">
            <a:spAutoFit/>
          </a:bodyPr>
          <a:lstStyle/>
          <a:p>
            <a:r>
              <a:rPr lang="en-US" dirty="0">
                <a:latin typeface="Liberation Mono"/>
              </a:rPr>
              <a:t>Ex:</a:t>
            </a:r>
            <a:r>
              <a:rPr lang="en-US" dirty="0">
                <a:solidFill>
                  <a:srgbClr val="0714B7"/>
                </a:solidFill>
                <a:latin typeface="Liberation Mono"/>
              </a:rPr>
              <a:t> CREATE</a:t>
            </a:r>
            <a:r>
              <a:rPr lang="en-US" dirty="0">
                <a:solidFill>
                  <a:srgbClr val="000000"/>
                </a:solidFill>
                <a:latin typeface="Liberation Mono"/>
              </a:rPr>
              <a:t> </a:t>
            </a:r>
            <a:r>
              <a:rPr lang="en-US" dirty="0">
                <a:solidFill>
                  <a:srgbClr val="0714B7"/>
                </a:solidFill>
                <a:latin typeface="Liberation Mono"/>
              </a:rPr>
              <a:t>TABLE</a:t>
            </a:r>
            <a:r>
              <a:rPr lang="en-US" dirty="0">
                <a:solidFill>
                  <a:srgbClr val="000000"/>
                </a:solidFill>
                <a:latin typeface="Liberation Mono"/>
              </a:rPr>
              <a:t> Customers </a:t>
            </a:r>
            <a:r>
              <a:rPr lang="en-US" dirty="0">
                <a:solidFill>
                  <a:srgbClr val="999999"/>
                </a:solidFill>
                <a:latin typeface="Liberation Mono"/>
              </a:rPr>
              <a:t>(</a:t>
            </a:r>
            <a:r>
              <a:rPr lang="en-US" dirty="0">
                <a:solidFill>
                  <a:srgbClr val="000000"/>
                </a:solidFill>
                <a:latin typeface="Liberation Mono"/>
              </a:rPr>
              <a:t>Name </a:t>
            </a:r>
            <a:r>
              <a:rPr lang="en-US" dirty="0">
                <a:solidFill>
                  <a:srgbClr val="0714B7"/>
                </a:solidFill>
                <a:latin typeface="Liberation Mono"/>
              </a:rPr>
              <a:t>VARCHAR</a:t>
            </a:r>
            <a:r>
              <a:rPr lang="en-US" dirty="0">
                <a:solidFill>
                  <a:srgbClr val="000000"/>
                </a:solidFill>
                <a:latin typeface="Liberation Mono"/>
              </a:rPr>
              <a:t> </a:t>
            </a:r>
            <a:r>
              <a:rPr lang="en-US" dirty="0">
                <a:solidFill>
                  <a:srgbClr val="999999"/>
                </a:solidFill>
                <a:latin typeface="Liberation Mono"/>
              </a:rPr>
              <a:t>(</a:t>
            </a:r>
            <a:r>
              <a:rPr lang="en-US" dirty="0">
                <a:solidFill>
                  <a:srgbClr val="990055"/>
                </a:solidFill>
                <a:latin typeface="Liberation Mono"/>
              </a:rPr>
              <a:t>25</a:t>
            </a:r>
            <a:r>
              <a:rPr lang="en-US" dirty="0">
                <a:solidFill>
                  <a:srgbClr val="999999"/>
                </a:solidFill>
                <a:latin typeface="Liberation Mono"/>
              </a:rPr>
              <a:t>),</a:t>
            </a:r>
            <a:r>
              <a:rPr lang="en-US" dirty="0">
                <a:solidFill>
                  <a:srgbClr val="000000"/>
                </a:solidFill>
                <a:latin typeface="Liberation Mono"/>
              </a:rPr>
              <a:t> Age </a:t>
            </a:r>
            <a:r>
              <a:rPr lang="en-US" dirty="0">
                <a:solidFill>
                  <a:srgbClr val="0714B7"/>
                </a:solidFill>
                <a:latin typeface="Liberation Mono"/>
              </a:rPr>
              <a:t>INT</a:t>
            </a:r>
            <a:r>
              <a:rPr lang="en-US" dirty="0">
                <a:solidFill>
                  <a:srgbClr val="999999"/>
                </a:solidFill>
                <a:latin typeface="Liberation Mono"/>
              </a:rPr>
              <a:t>);</a:t>
            </a:r>
            <a:endParaRPr lang="en-IN" dirty="0"/>
          </a:p>
        </p:txBody>
      </p:sp>
      <p:sp>
        <p:nvSpPr>
          <p:cNvPr id="8" name="Rectangle 7"/>
          <p:cNvSpPr/>
          <p:nvPr/>
        </p:nvSpPr>
        <p:spPr>
          <a:xfrm>
            <a:off x="583747" y="4805212"/>
            <a:ext cx="11264815" cy="369332"/>
          </a:xfrm>
          <a:prstGeom prst="rect">
            <a:avLst/>
          </a:prstGeom>
        </p:spPr>
        <p:txBody>
          <a:bodyPr wrap="none">
            <a:spAutoFit/>
          </a:bodyPr>
          <a:lstStyle/>
          <a:p>
            <a:r>
              <a:rPr lang="en-US" dirty="0">
                <a:solidFill>
                  <a:srgbClr val="000000"/>
                </a:solidFill>
                <a:latin typeface="Nunito"/>
              </a:rPr>
              <a:t>The above query will create a table </a:t>
            </a:r>
            <a:r>
              <a:rPr lang="en-US" b="1" i="1" dirty="0">
                <a:solidFill>
                  <a:srgbClr val="000000"/>
                </a:solidFill>
                <a:latin typeface="Nunito"/>
              </a:rPr>
              <a:t>Customer</a:t>
            </a:r>
            <a:r>
              <a:rPr lang="en-US" dirty="0">
                <a:solidFill>
                  <a:srgbClr val="000000"/>
                </a:solidFill>
                <a:latin typeface="Nunito"/>
              </a:rPr>
              <a:t>. The query is defined with two datatypes: </a:t>
            </a:r>
            <a:r>
              <a:rPr lang="en-US" b="1" i="1" dirty="0">
                <a:solidFill>
                  <a:srgbClr val="000000"/>
                </a:solidFill>
                <a:latin typeface="Nunito"/>
              </a:rPr>
              <a:t>VARCHAR</a:t>
            </a:r>
            <a:r>
              <a:rPr lang="en-US" dirty="0">
                <a:solidFill>
                  <a:srgbClr val="000000"/>
                </a:solidFill>
                <a:latin typeface="Nunito"/>
              </a:rPr>
              <a:t> and </a:t>
            </a:r>
            <a:r>
              <a:rPr lang="en-US" b="1" i="1" dirty="0">
                <a:solidFill>
                  <a:srgbClr val="000000"/>
                </a:solidFill>
                <a:latin typeface="Nunito"/>
              </a:rPr>
              <a:t>INT</a:t>
            </a:r>
            <a:r>
              <a:rPr lang="en-US" dirty="0">
                <a:solidFill>
                  <a:srgbClr val="000000"/>
                </a:solidFill>
                <a:latin typeface="Nunito"/>
              </a:rPr>
              <a:t> </a:t>
            </a:r>
            <a:endParaRPr lang="en-IN" dirty="0"/>
          </a:p>
        </p:txBody>
      </p:sp>
      <p:sp>
        <p:nvSpPr>
          <p:cNvPr id="3" name="Rectangle 2"/>
          <p:cNvSpPr/>
          <p:nvPr/>
        </p:nvSpPr>
        <p:spPr>
          <a:xfrm>
            <a:off x="317677" y="5367673"/>
            <a:ext cx="11426530" cy="1323439"/>
          </a:xfrm>
          <a:prstGeom prst="rect">
            <a:avLst/>
          </a:prstGeom>
          <a:ln w="44450">
            <a:solidFill>
              <a:srgbClr val="00B050"/>
            </a:solidFill>
          </a:ln>
        </p:spPr>
        <p:txBody>
          <a:bodyPr wrap="square">
            <a:spAutoFit/>
          </a:bodyPr>
          <a:lstStyle/>
          <a:p>
            <a:pPr algn="just"/>
            <a:r>
              <a:rPr lang="en-IN" sz="2000" b="1" dirty="0">
                <a:solidFill>
                  <a:srgbClr val="FF0000"/>
                </a:solidFill>
                <a:latin typeface="Bahnschrift SemiLight" panose="020B0502040204020203" pitchFamily="34" charset="0"/>
              </a:rPr>
              <a:t>Note:</a:t>
            </a:r>
            <a:r>
              <a:rPr lang="en-IN" sz="2000" dirty="0">
                <a:latin typeface="Bahnschrift SemiLight" panose="020B0502040204020203" pitchFamily="34" charset="0"/>
              </a:rPr>
              <a:t> </a:t>
            </a:r>
            <a:r>
              <a:rPr lang="en-IN" sz="2000" dirty="0">
                <a:solidFill>
                  <a:srgbClr val="7030A0"/>
                </a:solidFill>
                <a:latin typeface="Bahnschrift SemiLight" panose="020B0502040204020203" pitchFamily="34" charset="0"/>
              </a:rPr>
              <a:t>PostgreSQL offers the PL/</a:t>
            </a:r>
            <a:r>
              <a:rPr lang="en-IN" sz="2000" dirty="0" err="1">
                <a:solidFill>
                  <a:srgbClr val="7030A0"/>
                </a:solidFill>
                <a:latin typeface="Bahnschrift SemiLight" panose="020B0502040204020203" pitchFamily="34" charset="0"/>
              </a:rPr>
              <a:t>pgSQL</a:t>
            </a:r>
            <a:r>
              <a:rPr lang="en-IN" sz="2000" dirty="0">
                <a:latin typeface="Bahnschrift SemiLight" panose="020B0502040204020203" pitchFamily="34" charset="0"/>
              </a:rPr>
              <a:t> procedural programming language. </a:t>
            </a:r>
            <a:r>
              <a:rPr lang="en-IN" sz="2000" b="1" dirty="0">
                <a:solidFill>
                  <a:srgbClr val="0070C0"/>
                </a:solidFill>
                <a:latin typeface="Bahnschrift SemiLight" panose="020B0502040204020203" pitchFamily="34" charset="0"/>
              </a:rPr>
              <a:t>Additional functionalities</a:t>
            </a:r>
            <a:r>
              <a:rPr lang="en-IN" sz="2000" dirty="0">
                <a:latin typeface="Bahnschrift SemiLight" panose="020B0502040204020203" pitchFamily="34" charset="0"/>
              </a:rPr>
              <a:t> to standard SQL in PostgreSQL include advanced types and user-defined types, extensions and custom modules, JSON support, and additional options for triggers and other functionality.</a:t>
            </a:r>
          </a:p>
        </p:txBody>
      </p:sp>
    </p:spTree>
    <p:extLst>
      <p:ext uri="{BB962C8B-B14F-4D97-AF65-F5344CB8AC3E}">
        <p14:creationId xmlns:p14="http://schemas.microsoft.com/office/powerpoint/2010/main" val="267409089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pic>
        <p:nvPicPr>
          <p:cNvPr id="3" name="Picture 2"/>
          <p:cNvPicPr>
            <a:picLocks noChangeAspect="1"/>
          </p:cNvPicPr>
          <p:nvPr/>
        </p:nvPicPr>
        <p:blipFill>
          <a:blip r:embed="rId4"/>
          <a:stretch>
            <a:fillRect/>
          </a:stretch>
        </p:blipFill>
        <p:spPr>
          <a:xfrm>
            <a:off x="956724" y="834306"/>
            <a:ext cx="5125101" cy="5798313"/>
          </a:xfrm>
          <a:prstGeom prst="rect">
            <a:avLst/>
          </a:prstGeom>
          <a:ln w="25400">
            <a:solidFill>
              <a:schemeClr val="accent1"/>
            </a:solidFill>
          </a:ln>
        </p:spPr>
      </p:pic>
      <p:sp>
        <p:nvSpPr>
          <p:cNvPr id="9" name="Rectangle 8"/>
          <p:cNvSpPr/>
          <p:nvPr/>
        </p:nvSpPr>
        <p:spPr>
          <a:xfrm>
            <a:off x="6905651" y="610136"/>
            <a:ext cx="3631844" cy="6247864"/>
          </a:xfrm>
          <a:prstGeom prst="rect">
            <a:avLst/>
          </a:prstGeom>
          <a:ln w="25400">
            <a:solidFill>
              <a:schemeClr val="accent1"/>
            </a:solidFill>
          </a:ln>
        </p:spPr>
        <p:txBody>
          <a:bodyPr wrap="square">
            <a:spAutoFit/>
          </a:bodyPr>
          <a:lstStyle/>
          <a:p>
            <a:pPr marL="457200" indent="-457200">
              <a:buFont typeface="+mj-lt"/>
              <a:buAutoNum type="arabicParenR"/>
            </a:pPr>
            <a:r>
              <a:rPr lang="en-IN" sz="2000" dirty="0"/>
              <a:t>Numeric datatype</a:t>
            </a:r>
          </a:p>
          <a:p>
            <a:pPr marL="457200" indent="-457200">
              <a:buFont typeface="+mj-lt"/>
              <a:buAutoNum type="arabicParenR"/>
            </a:pPr>
            <a:r>
              <a:rPr lang="en-IN" sz="2000" dirty="0"/>
              <a:t>Character datatype</a:t>
            </a:r>
          </a:p>
          <a:p>
            <a:pPr marL="457200" indent="-457200">
              <a:buFont typeface="+mj-lt"/>
              <a:buAutoNum type="arabicParenR"/>
            </a:pPr>
            <a:r>
              <a:rPr lang="en-IN" sz="2000" dirty="0"/>
              <a:t>Date/time datatype</a:t>
            </a:r>
          </a:p>
          <a:p>
            <a:pPr marL="457200" indent="-457200">
              <a:buFont typeface="+mj-lt"/>
              <a:buAutoNum type="arabicParenR"/>
            </a:pPr>
            <a:r>
              <a:rPr lang="en-IN" sz="2000" dirty="0"/>
              <a:t>Monetary data type</a:t>
            </a:r>
          </a:p>
          <a:p>
            <a:pPr marL="457200" indent="-457200">
              <a:buFont typeface="+mj-lt"/>
              <a:buAutoNum type="arabicParenR"/>
            </a:pPr>
            <a:r>
              <a:rPr lang="en-IN" sz="2000" dirty="0"/>
              <a:t>Binary data type</a:t>
            </a:r>
          </a:p>
          <a:p>
            <a:pPr marL="457200" indent="-457200">
              <a:buFont typeface="+mj-lt"/>
              <a:buAutoNum type="arabicParenR"/>
            </a:pPr>
            <a:r>
              <a:rPr lang="en-IN" sz="2000" dirty="0"/>
              <a:t>Boolean data type</a:t>
            </a:r>
          </a:p>
          <a:p>
            <a:pPr marL="457200" indent="-457200">
              <a:buFont typeface="+mj-lt"/>
              <a:buAutoNum type="arabicParenR"/>
            </a:pPr>
            <a:r>
              <a:rPr lang="en-IN" sz="2000" dirty="0"/>
              <a:t>Enumerated data type</a:t>
            </a:r>
          </a:p>
          <a:p>
            <a:pPr marL="457200" indent="-457200">
              <a:buFont typeface="+mj-lt"/>
              <a:buAutoNum type="arabicParenR"/>
            </a:pPr>
            <a:r>
              <a:rPr lang="en-IN" sz="2000" dirty="0"/>
              <a:t>Geometric data type</a:t>
            </a:r>
          </a:p>
          <a:p>
            <a:pPr marL="457200" indent="-457200">
              <a:buFont typeface="+mj-lt"/>
              <a:buAutoNum type="arabicParenR"/>
            </a:pPr>
            <a:r>
              <a:rPr lang="en-IN" sz="2000" dirty="0"/>
              <a:t>Text search data type</a:t>
            </a:r>
          </a:p>
          <a:p>
            <a:pPr marL="457200" indent="-457200">
              <a:buFont typeface="+mj-lt"/>
              <a:buAutoNum type="arabicParenR"/>
            </a:pPr>
            <a:r>
              <a:rPr lang="en-IN" sz="2000" dirty="0"/>
              <a:t>UUID data type</a:t>
            </a:r>
          </a:p>
          <a:p>
            <a:pPr marL="457200" indent="-457200">
              <a:buFont typeface="+mj-lt"/>
              <a:buAutoNum type="arabicParenR"/>
            </a:pPr>
            <a:r>
              <a:rPr lang="en-IN" sz="2000" dirty="0"/>
              <a:t>Network address type</a:t>
            </a:r>
          </a:p>
          <a:p>
            <a:pPr marL="457200" indent="-457200">
              <a:buFont typeface="+mj-lt"/>
              <a:buAutoNum type="arabicParenR"/>
            </a:pPr>
            <a:r>
              <a:rPr lang="en-IN" sz="2000" dirty="0"/>
              <a:t>JSON data type</a:t>
            </a:r>
          </a:p>
          <a:p>
            <a:pPr marL="457200" indent="-457200">
              <a:buFont typeface="+mj-lt"/>
              <a:buAutoNum type="arabicParenR"/>
            </a:pPr>
            <a:r>
              <a:rPr lang="en-IN" sz="2000" dirty="0"/>
              <a:t>Bit string type</a:t>
            </a:r>
          </a:p>
          <a:p>
            <a:pPr marL="457200" indent="-457200">
              <a:buFont typeface="+mj-lt"/>
              <a:buAutoNum type="arabicParenR"/>
            </a:pPr>
            <a:r>
              <a:rPr lang="en-IN" sz="2000" dirty="0"/>
              <a:t>XML data type</a:t>
            </a:r>
          </a:p>
          <a:p>
            <a:pPr marL="457200" indent="-457200">
              <a:buFont typeface="+mj-lt"/>
              <a:buAutoNum type="arabicParenR"/>
            </a:pPr>
            <a:r>
              <a:rPr lang="en-IN" sz="2000" dirty="0"/>
              <a:t>Range data type</a:t>
            </a:r>
          </a:p>
          <a:p>
            <a:pPr marL="457200" indent="-457200">
              <a:buFont typeface="+mj-lt"/>
              <a:buAutoNum type="arabicParenR"/>
            </a:pPr>
            <a:r>
              <a:rPr lang="en-IN" sz="2000" dirty="0"/>
              <a:t>Arrays</a:t>
            </a:r>
          </a:p>
          <a:p>
            <a:pPr marL="457200" indent="-457200">
              <a:buFont typeface="+mj-lt"/>
              <a:buAutoNum type="arabicParenR"/>
            </a:pPr>
            <a:r>
              <a:rPr lang="en-IN" sz="2000" dirty="0"/>
              <a:t>Composite data type</a:t>
            </a:r>
          </a:p>
          <a:p>
            <a:pPr marL="457200" indent="-457200">
              <a:buFont typeface="+mj-lt"/>
              <a:buAutoNum type="arabicParenR"/>
            </a:pPr>
            <a:r>
              <a:rPr lang="en-IN" sz="2000" dirty="0"/>
              <a:t>Object identifiers type</a:t>
            </a:r>
          </a:p>
          <a:p>
            <a:pPr marL="457200" indent="-457200">
              <a:buFont typeface="+mj-lt"/>
              <a:buAutoNum type="arabicParenR"/>
            </a:pPr>
            <a:r>
              <a:rPr lang="en-IN" sz="2000" dirty="0"/>
              <a:t>Pseudo data type</a:t>
            </a:r>
          </a:p>
          <a:p>
            <a:pPr marL="457200" indent="-457200">
              <a:buFont typeface="+mj-lt"/>
              <a:buAutoNum type="arabicParenR"/>
            </a:pPr>
            <a:r>
              <a:rPr lang="en-IN" sz="2000" dirty="0" err="1"/>
              <a:t>pg-Isn</a:t>
            </a:r>
            <a:r>
              <a:rPr lang="en-IN" sz="2000" dirty="0"/>
              <a:t> data type</a:t>
            </a:r>
          </a:p>
        </p:txBody>
      </p:sp>
    </p:spTree>
    <p:extLst>
      <p:ext uri="{BB962C8B-B14F-4D97-AF65-F5344CB8AC3E}">
        <p14:creationId xmlns:p14="http://schemas.microsoft.com/office/powerpoint/2010/main" val="2406450024"/>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730572"/>
            <a:ext cx="11573022" cy="707886"/>
          </a:xfrm>
          <a:prstGeom prst="rect">
            <a:avLst/>
          </a:prstGeom>
        </p:spPr>
        <p:txBody>
          <a:bodyPr wrap="square">
            <a:spAutoFit/>
          </a:bodyPr>
          <a:lstStyle/>
          <a:p>
            <a:pPr algn="just"/>
            <a:r>
              <a:rPr lang="en-US" sz="2000" b="1" dirty="0">
                <a:solidFill>
                  <a:srgbClr val="610B4B"/>
                </a:solidFill>
              </a:rPr>
              <a:t>1. Numeric Datatype:</a:t>
            </a:r>
            <a:r>
              <a:rPr lang="en-US" sz="2000" dirty="0">
                <a:solidFill>
                  <a:srgbClr val="610B4B"/>
                </a:solidFill>
              </a:rPr>
              <a:t> </a:t>
            </a:r>
            <a:r>
              <a:rPr lang="en-US" sz="2000" dirty="0"/>
              <a:t>Numeric datatype is used to specify the numeric data into the table. It contains the following:</a:t>
            </a:r>
            <a:endParaRPr lang="en-US" sz="2000" b="0" i="0" dirty="0">
              <a:solidFill>
                <a:srgbClr val="333333"/>
              </a:solidFill>
              <a:effectLst/>
            </a:endParaRPr>
          </a:p>
        </p:txBody>
      </p:sp>
      <p:pic>
        <p:nvPicPr>
          <p:cNvPr id="2" name="Picture 1"/>
          <p:cNvPicPr>
            <a:picLocks noChangeAspect="1"/>
          </p:cNvPicPr>
          <p:nvPr/>
        </p:nvPicPr>
        <p:blipFill>
          <a:blip r:embed="rId4"/>
          <a:stretch>
            <a:fillRect/>
          </a:stretch>
        </p:blipFill>
        <p:spPr>
          <a:xfrm>
            <a:off x="1800665" y="1283603"/>
            <a:ext cx="8834511" cy="5465944"/>
          </a:xfrm>
          <a:prstGeom prst="rect">
            <a:avLst/>
          </a:prstGeom>
          <a:ln w="25400">
            <a:solidFill>
              <a:schemeClr val="accent1"/>
            </a:solidFill>
          </a:ln>
        </p:spPr>
      </p:pic>
    </p:spTree>
    <p:extLst>
      <p:ext uri="{BB962C8B-B14F-4D97-AF65-F5344CB8AC3E}">
        <p14:creationId xmlns:p14="http://schemas.microsoft.com/office/powerpoint/2010/main" val="1038329202"/>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730572"/>
            <a:ext cx="11573022" cy="707886"/>
          </a:xfrm>
          <a:prstGeom prst="rect">
            <a:avLst/>
          </a:prstGeom>
        </p:spPr>
        <p:txBody>
          <a:bodyPr wrap="square">
            <a:spAutoFit/>
          </a:bodyPr>
          <a:lstStyle/>
          <a:p>
            <a:pPr algn="just"/>
            <a:r>
              <a:rPr lang="en-US" sz="2000" b="1" dirty="0">
                <a:solidFill>
                  <a:srgbClr val="610B4B"/>
                </a:solidFill>
              </a:rPr>
              <a:t>2. Character Datatype:</a:t>
            </a:r>
            <a:r>
              <a:rPr lang="en-US" sz="2000" dirty="0">
                <a:solidFill>
                  <a:srgbClr val="610B4B"/>
                </a:solidFill>
              </a:rPr>
              <a:t> </a:t>
            </a:r>
            <a:r>
              <a:rPr lang="en-US" sz="2000" dirty="0"/>
              <a:t>The character data types are used to represent the character type values. The below table contains all Character data types that are supported in PostgreSQL:</a:t>
            </a:r>
            <a:endParaRPr lang="en-US" sz="2000" b="0" i="0" dirty="0">
              <a:solidFill>
                <a:srgbClr val="333333"/>
              </a:solidFill>
              <a:effectLst/>
            </a:endParaRPr>
          </a:p>
        </p:txBody>
      </p:sp>
      <p:pic>
        <p:nvPicPr>
          <p:cNvPr id="3" name="Picture 2"/>
          <p:cNvPicPr>
            <a:picLocks noChangeAspect="1"/>
          </p:cNvPicPr>
          <p:nvPr/>
        </p:nvPicPr>
        <p:blipFill>
          <a:blip r:embed="rId4"/>
          <a:stretch>
            <a:fillRect/>
          </a:stretch>
        </p:blipFill>
        <p:spPr>
          <a:xfrm>
            <a:off x="896570" y="1747947"/>
            <a:ext cx="10463819" cy="4512176"/>
          </a:xfrm>
          <a:prstGeom prst="rect">
            <a:avLst/>
          </a:prstGeom>
          <a:ln w="25400">
            <a:solidFill>
              <a:schemeClr val="accent1"/>
            </a:solidFill>
          </a:ln>
        </p:spPr>
      </p:pic>
    </p:spTree>
    <p:extLst>
      <p:ext uri="{BB962C8B-B14F-4D97-AF65-F5344CB8AC3E}">
        <p14:creationId xmlns:p14="http://schemas.microsoft.com/office/powerpoint/2010/main" val="2516515953"/>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730572"/>
            <a:ext cx="11573022" cy="707886"/>
          </a:xfrm>
          <a:prstGeom prst="rect">
            <a:avLst/>
          </a:prstGeom>
        </p:spPr>
        <p:txBody>
          <a:bodyPr wrap="square">
            <a:spAutoFit/>
          </a:bodyPr>
          <a:lstStyle/>
          <a:p>
            <a:pPr algn="just"/>
            <a:r>
              <a:rPr lang="en-US" sz="2000" b="1" dirty="0">
                <a:solidFill>
                  <a:srgbClr val="610B4B"/>
                </a:solidFill>
              </a:rPr>
              <a:t>3. Date/Time Datatype:</a:t>
            </a:r>
            <a:r>
              <a:rPr lang="en-US" sz="2000" dirty="0">
                <a:solidFill>
                  <a:srgbClr val="610B4B"/>
                </a:solidFill>
              </a:rPr>
              <a:t> </a:t>
            </a:r>
            <a:r>
              <a:rPr lang="en-US" sz="2000" dirty="0"/>
              <a:t>The character data types are used to represent the character type values. The below table contains all Character data types that are supported in PostgreSQL:</a:t>
            </a:r>
            <a:endParaRPr lang="en-US" sz="2000" b="0" i="0" dirty="0">
              <a:solidFill>
                <a:srgbClr val="333333"/>
              </a:solidFill>
              <a:effectLst/>
            </a:endParaRPr>
          </a:p>
        </p:txBody>
      </p:sp>
      <p:pic>
        <p:nvPicPr>
          <p:cNvPr id="2" name="Picture 1"/>
          <p:cNvPicPr>
            <a:picLocks noChangeAspect="1"/>
          </p:cNvPicPr>
          <p:nvPr/>
        </p:nvPicPr>
        <p:blipFill>
          <a:blip r:embed="rId4"/>
          <a:stretch>
            <a:fillRect/>
          </a:stretch>
        </p:blipFill>
        <p:spPr>
          <a:xfrm>
            <a:off x="1862504" y="1438458"/>
            <a:ext cx="8898367" cy="5155403"/>
          </a:xfrm>
          <a:prstGeom prst="rect">
            <a:avLst/>
          </a:prstGeom>
          <a:ln w="25400">
            <a:solidFill>
              <a:schemeClr val="accent1"/>
            </a:solidFill>
          </a:ln>
        </p:spPr>
      </p:pic>
    </p:spTree>
    <p:extLst>
      <p:ext uri="{BB962C8B-B14F-4D97-AF65-F5344CB8AC3E}">
        <p14:creationId xmlns:p14="http://schemas.microsoft.com/office/powerpoint/2010/main" val="2363183906"/>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730572"/>
            <a:ext cx="11573022" cy="400110"/>
          </a:xfrm>
          <a:prstGeom prst="rect">
            <a:avLst/>
          </a:prstGeom>
        </p:spPr>
        <p:txBody>
          <a:bodyPr wrap="square">
            <a:spAutoFit/>
          </a:bodyPr>
          <a:lstStyle/>
          <a:p>
            <a:pPr algn="just"/>
            <a:r>
              <a:rPr lang="en-US" sz="2000" b="1" dirty="0">
                <a:solidFill>
                  <a:srgbClr val="610B4B"/>
                </a:solidFill>
              </a:rPr>
              <a:t>4. Monetary Data Type: </a:t>
            </a:r>
            <a:endParaRPr lang="en-US" sz="2000" b="0" i="0" dirty="0">
              <a:solidFill>
                <a:srgbClr val="333333"/>
              </a:solidFill>
              <a:effectLst/>
            </a:endParaRPr>
          </a:p>
        </p:txBody>
      </p:sp>
      <p:pic>
        <p:nvPicPr>
          <p:cNvPr id="3" name="Picture 2"/>
          <p:cNvPicPr>
            <a:picLocks noChangeAspect="1"/>
          </p:cNvPicPr>
          <p:nvPr/>
        </p:nvPicPr>
        <p:blipFill>
          <a:blip r:embed="rId4"/>
          <a:stretch>
            <a:fillRect/>
          </a:stretch>
        </p:blipFill>
        <p:spPr>
          <a:xfrm>
            <a:off x="1004668" y="1177311"/>
            <a:ext cx="10141023" cy="1356067"/>
          </a:xfrm>
          <a:prstGeom prst="rect">
            <a:avLst/>
          </a:prstGeom>
          <a:ln w="25400">
            <a:solidFill>
              <a:schemeClr val="accent1"/>
            </a:solidFill>
          </a:ln>
        </p:spPr>
      </p:pic>
      <p:sp>
        <p:nvSpPr>
          <p:cNvPr id="7" name="Rectangle 6"/>
          <p:cNvSpPr/>
          <p:nvPr/>
        </p:nvSpPr>
        <p:spPr>
          <a:xfrm>
            <a:off x="215704" y="2736810"/>
            <a:ext cx="11573022" cy="400110"/>
          </a:xfrm>
          <a:prstGeom prst="rect">
            <a:avLst/>
          </a:prstGeom>
        </p:spPr>
        <p:txBody>
          <a:bodyPr wrap="square">
            <a:spAutoFit/>
          </a:bodyPr>
          <a:lstStyle/>
          <a:p>
            <a:pPr algn="just"/>
            <a:r>
              <a:rPr lang="en-US" sz="2000" b="1" dirty="0">
                <a:solidFill>
                  <a:srgbClr val="610B4B"/>
                </a:solidFill>
              </a:rPr>
              <a:t>5. Binary Data Types:  </a:t>
            </a:r>
            <a:endParaRPr lang="en-US" sz="2000" b="0" i="0" dirty="0">
              <a:solidFill>
                <a:srgbClr val="333333"/>
              </a:solidFill>
              <a:effectLst/>
            </a:endParaRPr>
          </a:p>
        </p:txBody>
      </p:sp>
      <p:pic>
        <p:nvPicPr>
          <p:cNvPr id="6" name="Picture 5"/>
          <p:cNvPicPr>
            <a:picLocks noChangeAspect="1"/>
          </p:cNvPicPr>
          <p:nvPr/>
        </p:nvPicPr>
        <p:blipFill>
          <a:blip r:embed="rId5"/>
          <a:stretch>
            <a:fillRect/>
          </a:stretch>
        </p:blipFill>
        <p:spPr>
          <a:xfrm>
            <a:off x="927051" y="3136920"/>
            <a:ext cx="10150328" cy="1291583"/>
          </a:xfrm>
          <a:prstGeom prst="rect">
            <a:avLst/>
          </a:prstGeom>
          <a:ln w="25400">
            <a:solidFill>
              <a:schemeClr val="accent1"/>
            </a:solidFill>
          </a:ln>
        </p:spPr>
      </p:pic>
      <p:sp>
        <p:nvSpPr>
          <p:cNvPr id="9" name="Rectangle 8"/>
          <p:cNvSpPr/>
          <p:nvPr/>
        </p:nvSpPr>
        <p:spPr>
          <a:xfrm>
            <a:off x="130457" y="4828613"/>
            <a:ext cx="2471767" cy="369332"/>
          </a:xfrm>
          <a:prstGeom prst="rect">
            <a:avLst/>
          </a:prstGeom>
        </p:spPr>
        <p:txBody>
          <a:bodyPr wrap="none">
            <a:spAutoFit/>
          </a:bodyPr>
          <a:lstStyle/>
          <a:p>
            <a:pPr algn="just"/>
            <a:r>
              <a:rPr lang="en-US" b="1" dirty="0">
                <a:solidFill>
                  <a:srgbClr val="610B4B"/>
                </a:solidFill>
              </a:rPr>
              <a:t>6. Boolean Data Type:  </a:t>
            </a:r>
            <a:endParaRPr lang="en-US" dirty="0">
              <a:solidFill>
                <a:srgbClr val="333333"/>
              </a:solidFill>
            </a:endParaRPr>
          </a:p>
        </p:txBody>
      </p:sp>
      <p:pic>
        <p:nvPicPr>
          <p:cNvPr id="10" name="Picture 9"/>
          <p:cNvPicPr>
            <a:picLocks noChangeAspect="1"/>
          </p:cNvPicPr>
          <p:nvPr/>
        </p:nvPicPr>
        <p:blipFill>
          <a:blip r:embed="rId6"/>
          <a:stretch>
            <a:fillRect/>
          </a:stretch>
        </p:blipFill>
        <p:spPr>
          <a:xfrm>
            <a:off x="927051" y="5359218"/>
            <a:ext cx="8653047" cy="1238529"/>
          </a:xfrm>
          <a:prstGeom prst="rect">
            <a:avLst/>
          </a:prstGeom>
          <a:ln w="25400">
            <a:solidFill>
              <a:schemeClr val="accent1"/>
            </a:solidFill>
          </a:ln>
        </p:spPr>
      </p:pic>
      <p:pic>
        <p:nvPicPr>
          <p:cNvPr id="11" name="Picture 10"/>
          <p:cNvPicPr>
            <a:picLocks noChangeAspect="1"/>
          </p:cNvPicPr>
          <p:nvPr/>
        </p:nvPicPr>
        <p:blipFill>
          <a:blip r:embed="rId7"/>
          <a:stretch>
            <a:fillRect/>
          </a:stretch>
        </p:blipFill>
        <p:spPr>
          <a:xfrm>
            <a:off x="9837517" y="5372327"/>
            <a:ext cx="1239862" cy="1212310"/>
          </a:xfrm>
          <a:prstGeom prst="rect">
            <a:avLst/>
          </a:prstGeom>
          <a:ln w="25400">
            <a:solidFill>
              <a:schemeClr val="accent1"/>
            </a:solidFill>
          </a:ln>
        </p:spPr>
      </p:pic>
    </p:spTree>
    <p:extLst>
      <p:ext uri="{BB962C8B-B14F-4D97-AF65-F5344CB8AC3E}">
        <p14:creationId xmlns:p14="http://schemas.microsoft.com/office/powerpoint/2010/main" val="3086773536"/>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730572"/>
            <a:ext cx="4525108" cy="1938992"/>
          </a:xfrm>
          <a:prstGeom prst="rect">
            <a:avLst/>
          </a:prstGeom>
        </p:spPr>
        <p:txBody>
          <a:bodyPr wrap="square">
            <a:spAutoFit/>
          </a:bodyPr>
          <a:lstStyle/>
          <a:p>
            <a:pPr algn="just"/>
            <a:r>
              <a:rPr lang="en-US" sz="2000" b="1" dirty="0">
                <a:solidFill>
                  <a:srgbClr val="610B4B"/>
                </a:solidFill>
              </a:rPr>
              <a:t>7. Enumerated Data Type: </a:t>
            </a:r>
            <a:r>
              <a:rPr lang="en-US" sz="2000" dirty="0"/>
              <a:t>It is similar to </a:t>
            </a:r>
            <a:r>
              <a:rPr lang="en-US" sz="2000" dirty="0" err="1"/>
              <a:t>enum</a:t>
            </a:r>
            <a:r>
              <a:rPr lang="en-US" sz="2000" dirty="0"/>
              <a:t> types which are compatible with a various programming language. The Enumerated data type is represented in a table with foreign keys to ensure data integrity. </a:t>
            </a:r>
            <a:endParaRPr lang="en-US" sz="2000" i="0" dirty="0">
              <a:effectLst/>
            </a:endParaRPr>
          </a:p>
        </p:txBody>
      </p:sp>
      <p:sp>
        <p:nvSpPr>
          <p:cNvPr id="7" name="Rectangle 6"/>
          <p:cNvSpPr/>
          <p:nvPr/>
        </p:nvSpPr>
        <p:spPr>
          <a:xfrm>
            <a:off x="215704" y="3370404"/>
            <a:ext cx="3624776" cy="1938992"/>
          </a:xfrm>
          <a:prstGeom prst="rect">
            <a:avLst/>
          </a:prstGeom>
        </p:spPr>
        <p:txBody>
          <a:bodyPr wrap="square">
            <a:spAutoFit/>
          </a:bodyPr>
          <a:lstStyle/>
          <a:p>
            <a:pPr algn="just"/>
            <a:r>
              <a:rPr lang="en-US" sz="2000" b="1" dirty="0">
                <a:solidFill>
                  <a:srgbClr val="610B4B"/>
                </a:solidFill>
              </a:rPr>
              <a:t>8. Geometric Data Types: </a:t>
            </a:r>
            <a:r>
              <a:rPr lang="en-US" sz="2000" dirty="0"/>
              <a:t>Geometric data types represent two-dimensional spatial objects. The most fundamental type, the point, forms the basis for all of the other types. </a:t>
            </a:r>
            <a:r>
              <a:rPr lang="en-US" sz="2000" b="1" dirty="0">
                <a:solidFill>
                  <a:srgbClr val="610B4B"/>
                </a:solidFill>
              </a:rPr>
              <a:t> </a:t>
            </a:r>
            <a:endParaRPr lang="en-US" sz="2000" b="0" i="0" dirty="0">
              <a:solidFill>
                <a:srgbClr val="333333"/>
              </a:solidFill>
              <a:effectLst/>
            </a:endParaRPr>
          </a:p>
        </p:txBody>
      </p:sp>
      <p:pic>
        <p:nvPicPr>
          <p:cNvPr id="2" name="Picture 1"/>
          <p:cNvPicPr>
            <a:picLocks noChangeAspect="1"/>
          </p:cNvPicPr>
          <p:nvPr/>
        </p:nvPicPr>
        <p:blipFill>
          <a:blip r:embed="rId4"/>
          <a:stretch>
            <a:fillRect/>
          </a:stretch>
        </p:blipFill>
        <p:spPr>
          <a:xfrm>
            <a:off x="7179213" y="730572"/>
            <a:ext cx="3568799" cy="1770673"/>
          </a:xfrm>
          <a:prstGeom prst="rect">
            <a:avLst/>
          </a:prstGeom>
          <a:ln w="25400">
            <a:solidFill>
              <a:schemeClr val="accent1"/>
            </a:solidFill>
          </a:ln>
        </p:spPr>
      </p:pic>
      <p:pic>
        <p:nvPicPr>
          <p:cNvPr id="8" name="Picture 7"/>
          <p:cNvPicPr>
            <a:picLocks noChangeAspect="1"/>
          </p:cNvPicPr>
          <p:nvPr/>
        </p:nvPicPr>
        <p:blipFill>
          <a:blip r:embed="rId5"/>
          <a:stretch>
            <a:fillRect/>
          </a:stretch>
        </p:blipFill>
        <p:spPr>
          <a:xfrm>
            <a:off x="4299733" y="2837428"/>
            <a:ext cx="7460857" cy="3814732"/>
          </a:xfrm>
          <a:prstGeom prst="rect">
            <a:avLst/>
          </a:prstGeom>
          <a:ln w="25400">
            <a:solidFill>
              <a:schemeClr val="accent1"/>
            </a:solidFill>
          </a:ln>
        </p:spPr>
      </p:pic>
    </p:spTree>
    <p:extLst>
      <p:ext uri="{BB962C8B-B14F-4D97-AF65-F5344CB8AC3E}">
        <p14:creationId xmlns:p14="http://schemas.microsoft.com/office/powerpoint/2010/main" val="2960040463"/>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730572"/>
            <a:ext cx="4525108" cy="1938992"/>
          </a:xfrm>
          <a:prstGeom prst="rect">
            <a:avLst/>
          </a:prstGeom>
        </p:spPr>
        <p:txBody>
          <a:bodyPr wrap="square">
            <a:spAutoFit/>
          </a:bodyPr>
          <a:lstStyle/>
          <a:p>
            <a:pPr algn="just"/>
            <a:r>
              <a:rPr lang="en-US" sz="2000" b="1" dirty="0">
                <a:solidFill>
                  <a:srgbClr val="610B4B"/>
                </a:solidFill>
              </a:rPr>
              <a:t>9. Text Search Data Type: </a:t>
            </a:r>
            <a:r>
              <a:rPr lang="en-US" sz="2000" dirty="0"/>
              <a:t>In PostgreSQL, the full-text search data type is used to search over a collection of natural language documents. We have two categories of data types that are compatible with full-text search.</a:t>
            </a:r>
            <a:endParaRPr lang="en-US" sz="2000" i="0" dirty="0">
              <a:effectLst/>
            </a:endParaRPr>
          </a:p>
        </p:txBody>
      </p:sp>
      <p:sp>
        <p:nvSpPr>
          <p:cNvPr id="7" name="Rectangle 6"/>
          <p:cNvSpPr/>
          <p:nvPr/>
        </p:nvSpPr>
        <p:spPr>
          <a:xfrm>
            <a:off x="215703" y="2837428"/>
            <a:ext cx="8168641" cy="1323439"/>
          </a:xfrm>
          <a:prstGeom prst="rect">
            <a:avLst/>
          </a:prstGeom>
        </p:spPr>
        <p:txBody>
          <a:bodyPr wrap="square">
            <a:spAutoFit/>
          </a:bodyPr>
          <a:lstStyle/>
          <a:p>
            <a:pPr algn="just"/>
            <a:r>
              <a:rPr lang="en-US" sz="2000" b="1" dirty="0">
                <a:solidFill>
                  <a:srgbClr val="610B4B"/>
                </a:solidFill>
              </a:rPr>
              <a:t>10. UUID Data Types: </a:t>
            </a:r>
            <a:r>
              <a:rPr lang="en-US" sz="2000" dirty="0"/>
              <a:t>The UUID stands for Universally Unique identifiers is a 128-bit quantity which is created by an algorithm. It is the best-suited data type for the primary keys. The UUID is written as a group of lower-case hexadecimal digits through multiple sets separated by hyphens.</a:t>
            </a:r>
            <a:r>
              <a:rPr lang="en-US" sz="2000" b="1" dirty="0">
                <a:solidFill>
                  <a:srgbClr val="610B4B"/>
                </a:solidFill>
              </a:rPr>
              <a:t> </a:t>
            </a:r>
            <a:endParaRPr lang="en-US" sz="2000" b="0" i="0" dirty="0">
              <a:solidFill>
                <a:srgbClr val="333333"/>
              </a:solidFill>
              <a:effectLst/>
            </a:endParaRPr>
          </a:p>
        </p:txBody>
      </p:sp>
      <p:pic>
        <p:nvPicPr>
          <p:cNvPr id="3" name="Picture 2"/>
          <p:cNvPicPr>
            <a:picLocks noChangeAspect="1"/>
          </p:cNvPicPr>
          <p:nvPr/>
        </p:nvPicPr>
        <p:blipFill>
          <a:blip r:embed="rId4"/>
          <a:stretch>
            <a:fillRect/>
          </a:stretch>
        </p:blipFill>
        <p:spPr>
          <a:xfrm>
            <a:off x="4740812" y="920482"/>
            <a:ext cx="7258930" cy="1569838"/>
          </a:xfrm>
          <a:prstGeom prst="rect">
            <a:avLst/>
          </a:prstGeom>
          <a:ln w="25400">
            <a:solidFill>
              <a:schemeClr val="accent1"/>
            </a:solidFill>
          </a:ln>
        </p:spPr>
      </p:pic>
      <p:pic>
        <p:nvPicPr>
          <p:cNvPr id="6" name="Picture 5"/>
          <p:cNvPicPr>
            <a:picLocks noChangeAspect="1"/>
          </p:cNvPicPr>
          <p:nvPr/>
        </p:nvPicPr>
        <p:blipFill>
          <a:blip r:embed="rId5"/>
          <a:stretch>
            <a:fillRect/>
          </a:stretch>
        </p:blipFill>
        <p:spPr>
          <a:xfrm>
            <a:off x="8536817" y="2848094"/>
            <a:ext cx="3350383" cy="1050643"/>
          </a:xfrm>
          <a:prstGeom prst="rect">
            <a:avLst/>
          </a:prstGeom>
          <a:ln w="25400">
            <a:solidFill>
              <a:schemeClr val="accent1"/>
            </a:solidFill>
          </a:ln>
        </p:spPr>
      </p:pic>
      <p:sp>
        <p:nvSpPr>
          <p:cNvPr id="10" name="Rectangle 9"/>
          <p:cNvSpPr/>
          <p:nvPr/>
        </p:nvSpPr>
        <p:spPr>
          <a:xfrm>
            <a:off x="201636" y="4328731"/>
            <a:ext cx="6072555" cy="2554545"/>
          </a:xfrm>
          <a:prstGeom prst="rect">
            <a:avLst/>
          </a:prstGeom>
        </p:spPr>
        <p:txBody>
          <a:bodyPr wrap="square">
            <a:spAutoFit/>
          </a:bodyPr>
          <a:lstStyle/>
          <a:p>
            <a:pPr algn="just"/>
            <a:r>
              <a:rPr lang="en-US" sz="2000" b="1" dirty="0">
                <a:solidFill>
                  <a:srgbClr val="610B4B"/>
                </a:solidFill>
              </a:rPr>
              <a:t>11. Network Address Data Type: </a:t>
            </a:r>
            <a:r>
              <a:rPr lang="en-US" sz="2000" dirty="0"/>
              <a:t>The UUID stands for Universally Unique identifiers is a 128-bit quantity which is created by an algorithm. It is the best-suited data type for the primary keys. The UUID is written as a group of lower-case hexadecimal digits through multiple sets separated by hyphens. The below table contains all </a:t>
            </a:r>
            <a:r>
              <a:rPr lang="en-US" sz="2000" b="1" dirty="0"/>
              <a:t>network address</a:t>
            </a:r>
            <a:r>
              <a:rPr lang="en-US" sz="2000" dirty="0"/>
              <a:t> data types that are supported in PostgreSQL:</a:t>
            </a:r>
            <a:r>
              <a:rPr lang="en-US" sz="2000" b="1" dirty="0">
                <a:solidFill>
                  <a:srgbClr val="610B4B"/>
                </a:solidFill>
              </a:rPr>
              <a:t> </a:t>
            </a:r>
            <a:endParaRPr lang="en-US" sz="2000" b="0" i="0" dirty="0">
              <a:solidFill>
                <a:srgbClr val="333333"/>
              </a:solidFill>
              <a:effectLst/>
            </a:endParaRPr>
          </a:p>
        </p:txBody>
      </p:sp>
      <p:pic>
        <p:nvPicPr>
          <p:cNvPr id="9" name="Picture 8"/>
          <p:cNvPicPr>
            <a:picLocks noChangeAspect="1"/>
          </p:cNvPicPr>
          <p:nvPr/>
        </p:nvPicPr>
        <p:blipFill>
          <a:blip r:embed="rId6"/>
          <a:stretch>
            <a:fillRect/>
          </a:stretch>
        </p:blipFill>
        <p:spPr>
          <a:xfrm>
            <a:off x="6274191" y="4505983"/>
            <a:ext cx="5725551" cy="2103841"/>
          </a:xfrm>
          <a:prstGeom prst="rect">
            <a:avLst/>
          </a:prstGeom>
          <a:ln w="25400">
            <a:solidFill>
              <a:schemeClr val="accent1"/>
            </a:solidFill>
          </a:ln>
        </p:spPr>
      </p:pic>
    </p:spTree>
    <p:extLst>
      <p:ext uri="{BB962C8B-B14F-4D97-AF65-F5344CB8AC3E}">
        <p14:creationId xmlns:p14="http://schemas.microsoft.com/office/powerpoint/2010/main" val="258291119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730572"/>
            <a:ext cx="11784038" cy="3737946"/>
          </a:xfrm>
          <a:prstGeom prst="rect">
            <a:avLst/>
          </a:prstGeom>
        </p:spPr>
        <p:txBody>
          <a:bodyPr wrap="square">
            <a:spAutoFit/>
          </a:bodyPr>
          <a:lstStyle/>
          <a:p>
            <a:pPr algn="just">
              <a:lnSpc>
                <a:spcPct val="150000"/>
              </a:lnSpc>
            </a:pPr>
            <a:r>
              <a:rPr lang="en-US" sz="2000" b="1" dirty="0">
                <a:solidFill>
                  <a:srgbClr val="610B4B"/>
                </a:solidFill>
              </a:rPr>
              <a:t>12. JSON Data Type: </a:t>
            </a:r>
            <a:r>
              <a:rPr lang="en-US" sz="2000" dirty="0"/>
              <a:t>PostgreSQL provides two kinds of data types for storing the JSON (JavaScript Object Notation) data.</a:t>
            </a:r>
          </a:p>
          <a:p>
            <a:pPr algn="just">
              <a:lnSpc>
                <a:spcPct val="150000"/>
              </a:lnSpc>
            </a:pPr>
            <a:r>
              <a:rPr lang="en-US" sz="2000" b="1" dirty="0">
                <a:solidFill>
                  <a:srgbClr val="00B0F0"/>
                </a:solidFill>
              </a:rPr>
              <a:t>a) </a:t>
            </a:r>
            <a:r>
              <a:rPr lang="en-US" sz="2000" b="1" dirty="0" err="1">
                <a:solidFill>
                  <a:srgbClr val="00B0F0"/>
                </a:solidFill>
              </a:rPr>
              <a:t>Json</a:t>
            </a:r>
            <a:r>
              <a:rPr lang="en-US" sz="2000" dirty="0"/>
              <a:t> is an extension of a text data type with JSON validation. In this, we can insert the data quickly, but the data retrieval is comparatively slow. It saves inputted data just the way it contains the whitespace. It is also reprocessing on the data retrieval.</a:t>
            </a:r>
          </a:p>
          <a:p>
            <a:pPr algn="just">
              <a:lnSpc>
                <a:spcPct val="150000"/>
              </a:lnSpc>
            </a:pPr>
            <a:r>
              <a:rPr lang="en-US" sz="2000" b="1" dirty="0">
                <a:solidFill>
                  <a:srgbClr val="00B0F0"/>
                </a:solidFill>
              </a:rPr>
              <a:t>b) </a:t>
            </a:r>
            <a:r>
              <a:rPr lang="en-US" sz="2000" b="1" dirty="0" err="1">
                <a:solidFill>
                  <a:srgbClr val="00B0F0"/>
                </a:solidFill>
              </a:rPr>
              <a:t>Jsonb</a:t>
            </a:r>
            <a:r>
              <a:rPr lang="en-US" sz="2000" dirty="0"/>
              <a:t> is a binary representation of the JSON data. It is also compatible with indexing and also improves the whitespace to make the retrieval quicker. In this, the insertion is slow, but the data retrieval is more rapid, and reprocessing is required on the data retrieval.</a:t>
            </a:r>
            <a:endParaRPr lang="en-US" sz="2000" i="0" dirty="0">
              <a:effectLst/>
            </a:endParaRPr>
          </a:p>
        </p:txBody>
      </p:sp>
      <p:sp>
        <p:nvSpPr>
          <p:cNvPr id="10" name="Rectangle 9"/>
          <p:cNvSpPr/>
          <p:nvPr/>
        </p:nvSpPr>
        <p:spPr>
          <a:xfrm>
            <a:off x="215704" y="4599014"/>
            <a:ext cx="11685564" cy="1938992"/>
          </a:xfrm>
          <a:prstGeom prst="rect">
            <a:avLst/>
          </a:prstGeom>
        </p:spPr>
        <p:txBody>
          <a:bodyPr wrap="square">
            <a:spAutoFit/>
          </a:bodyPr>
          <a:lstStyle/>
          <a:p>
            <a:pPr algn="just">
              <a:lnSpc>
                <a:spcPct val="150000"/>
              </a:lnSpc>
            </a:pPr>
            <a:r>
              <a:rPr lang="en-US" sz="2000" b="1" dirty="0">
                <a:solidFill>
                  <a:srgbClr val="610B4B"/>
                </a:solidFill>
              </a:rPr>
              <a:t>13. Bit string Data Type: </a:t>
            </a:r>
            <a:r>
              <a:rPr lang="en-US" sz="2000" dirty="0"/>
              <a:t>The bit strings data type contains two categories of strings that are 1's and 0's. The bitmasks can be stored with the help of these strings. In this, we have two kinds of SQL bit, such as:</a:t>
            </a:r>
          </a:p>
          <a:p>
            <a:pPr algn="just">
              <a:lnSpc>
                <a:spcPct val="150000"/>
              </a:lnSpc>
            </a:pPr>
            <a:r>
              <a:rPr lang="en-US" sz="2000" dirty="0"/>
              <a:t>				a) bit varying(n)  and   b) bit (n)</a:t>
            </a:r>
          </a:p>
          <a:p>
            <a:pPr algn="just">
              <a:lnSpc>
                <a:spcPct val="150000"/>
              </a:lnSpc>
            </a:pPr>
            <a:r>
              <a:rPr lang="en-US" sz="2000" dirty="0"/>
              <a:t>		Here, n is a positive integer.</a:t>
            </a:r>
            <a:endParaRPr lang="en-US" sz="2000" b="0" i="0" dirty="0">
              <a:solidFill>
                <a:srgbClr val="333333"/>
              </a:solidFill>
              <a:effectLst/>
            </a:endParaRPr>
          </a:p>
        </p:txBody>
      </p:sp>
    </p:spTree>
    <p:extLst>
      <p:ext uri="{BB962C8B-B14F-4D97-AF65-F5344CB8AC3E}">
        <p14:creationId xmlns:p14="http://schemas.microsoft.com/office/powerpoint/2010/main" val="1287523275"/>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4" y="580699"/>
            <a:ext cx="11784038" cy="1477328"/>
          </a:xfrm>
          <a:prstGeom prst="rect">
            <a:avLst/>
          </a:prstGeom>
        </p:spPr>
        <p:txBody>
          <a:bodyPr wrap="square">
            <a:spAutoFit/>
          </a:bodyPr>
          <a:lstStyle/>
          <a:p>
            <a:pPr algn="just">
              <a:lnSpc>
                <a:spcPct val="150000"/>
              </a:lnSpc>
            </a:pPr>
            <a:r>
              <a:rPr lang="en-US" sz="2000" b="1" dirty="0">
                <a:solidFill>
                  <a:srgbClr val="610B4B"/>
                </a:solidFill>
              </a:rPr>
              <a:t>14. XML Data Type: </a:t>
            </a:r>
            <a:r>
              <a:rPr lang="en-US" sz="2000" dirty="0"/>
              <a:t>In PostgreSQL, the XML data type is used to store the XML data. The function of the XML data type is to check whether that the input XML is well-formed, and also there are support functions to perform type-safe operations on it.</a:t>
            </a:r>
            <a:endParaRPr lang="en-US" sz="2000" i="0" dirty="0">
              <a:effectLst/>
            </a:endParaRPr>
          </a:p>
        </p:txBody>
      </p:sp>
      <p:sp>
        <p:nvSpPr>
          <p:cNvPr id="10" name="Rectangle 9"/>
          <p:cNvSpPr/>
          <p:nvPr/>
        </p:nvSpPr>
        <p:spPr>
          <a:xfrm>
            <a:off x="215704" y="3529869"/>
            <a:ext cx="5425441" cy="3323987"/>
          </a:xfrm>
          <a:prstGeom prst="rect">
            <a:avLst/>
          </a:prstGeom>
        </p:spPr>
        <p:txBody>
          <a:bodyPr wrap="square">
            <a:spAutoFit/>
          </a:bodyPr>
          <a:lstStyle/>
          <a:p>
            <a:pPr algn="just">
              <a:lnSpc>
                <a:spcPct val="150000"/>
              </a:lnSpc>
            </a:pPr>
            <a:r>
              <a:rPr lang="en-US" sz="2000" b="1" dirty="0">
                <a:solidFill>
                  <a:srgbClr val="610B4B"/>
                </a:solidFill>
              </a:rPr>
              <a:t>15. Range Data Types: </a:t>
            </a:r>
            <a:r>
              <a:rPr lang="en-US" sz="2000" dirty="0"/>
              <a:t>These data types are used to display a range of values of some element types, known as the range's subtype. It also signifies several elements of values in a single range value. In this, we can also create our range types. In PostgreSQL, we have following built-in range types:</a:t>
            </a:r>
            <a:endParaRPr lang="en-US" sz="2000" b="0" i="0" dirty="0">
              <a:solidFill>
                <a:srgbClr val="333333"/>
              </a:solidFill>
              <a:effectLst/>
            </a:endParaRPr>
          </a:p>
        </p:txBody>
      </p:sp>
      <p:pic>
        <p:nvPicPr>
          <p:cNvPr id="2" name="Picture 1"/>
          <p:cNvPicPr>
            <a:picLocks noChangeAspect="1"/>
          </p:cNvPicPr>
          <p:nvPr/>
        </p:nvPicPr>
        <p:blipFill>
          <a:blip r:embed="rId4"/>
          <a:stretch>
            <a:fillRect/>
          </a:stretch>
        </p:blipFill>
        <p:spPr>
          <a:xfrm>
            <a:off x="1800666" y="1950988"/>
            <a:ext cx="9073662" cy="1453393"/>
          </a:xfrm>
          <a:prstGeom prst="rect">
            <a:avLst/>
          </a:prstGeom>
          <a:ln w="25400">
            <a:solidFill>
              <a:schemeClr val="accent1"/>
            </a:solidFill>
          </a:ln>
        </p:spPr>
      </p:pic>
      <p:pic>
        <p:nvPicPr>
          <p:cNvPr id="3" name="Picture 2"/>
          <p:cNvPicPr>
            <a:picLocks noChangeAspect="1"/>
          </p:cNvPicPr>
          <p:nvPr/>
        </p:nvPicPr>
        <p:blipFill>
          <a:blip r:embed="rId5"/>
          <a:stretch>
            <a:fillRect/>
          </a:stretch>
        </p:blipFill>
        <p:spPr>
          <a:xfrm>
            <a:off x="5781823" y="3685736"/>
            <a:ext cx="6217920" cy="2811098"/>
          </a:xfrm>
          <a:prstGeom prst="rect">
            <a:avLst/>
          </a:prstGeom>
          <a:ln w="25400">
            <a:solidFill>
              <a:schemeClr val="accent1"/>
            </a:solidFill>
          </a:ln>
        </p:spPr>
      </p:pic>
    </p:spTree>
    <p:extLst>
      <p:ext uri="{BB962C8B-B14F-4D97-AF65-F5344CB8AC3E}">
        <p14:creationId xmlns:p14="http://schemas.microsoft.com/office/powerpoint/2010/main" val="644394432"/>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4" name="Rectangle 3"/>
          <p:cNvSpPr/>
          <p:nvPr/>
        </p:nvSpPr>
        <p:spPr>
          <a:xfrm>
            <a:off x="215703" y="761618"/>
            <a:ext cx="11784038" cy="1938992"/>
          </a:xfrm>
          <a:prstGeom prst="rect">
            <a:avLst/>
          </a:prstGeom>
        </p:spPr>
        <p:txBody>
          <a:bodyPr wrap="square">
            <a:spAutoFit/>
          </a:bodyPr>
          <a:lstStyle/>
          <a:p>
            <a:pPr algn="just">
              <a:lnSpc>
                <a:spcPct val="150000"/>
              </a:lnSpc>
            </a:pPr>
            <a:r>
              <a:rPr lang="en-US" sz="2000" b="1" dirty="0">
                <a:solidFill>
                  <a:srgbClr val="610B4B"/>
                </a:solidFill>
              </a:rPr>
              <a:t>16. Array Type: </a:t>
            </a:r>
            <a:r>
              <a:rPr lang="en-US" sz="2000" dirty="0"/>
              <a:t>The PostgreSQL provides a column of tables as a variable-length and the multidimensional array. We can create any user-defined base type, built-in, composite, and enumerated type arrays.</a:t>
            </a:r>
          </a:p>
          <a:p>
            <a:pPr marL="342900" indent="-342900" algn="just">
              <a:lnSpc>
                <a:spcPct val="150000"/>
              </a:lnSpc>
              <a:buFont typeface="Wingdings" panose="05000000000000000000" pitchFamily="2" charset="2"/>
              <a:buChar char="ü"/>
            </a:pPr>
            <a:r>
              <a:rPr lang="en-US" sz="2000" dirty="0"/>
              <a:t>Here, we can perform various operations on arrays such as declare, insert, accessing, modifying, and searching.</a:t>
            </a:r>
            <a:endParaRPr lang="en-US" sz="2000" i="0" dirty="0">
              <a:effectLst/>
            </a:endParaRPr>
          </a:p>
        </p:txBody>
      </p:sp>
      <p:sp>
        <p:nvSpPr>
          <p:cNvPr id="10" name="Rectangle 9"/>
          <p:cNvSpPr/>
          <p:nvPr/>
        </p:nvSpPr>
        <p:spPr>
          <a:xfrm>
            <a:off x="215703" y="2934066"/>
            <a:ext cx="11629293" cy="1015663"/>
          </a:xfrm>
          <a:prstGeom prst="rect">
            <a:avLst/>
          </a:prstGeom>
        </p:spPr>
        <p:txBody>
          <a:bodyPr wrap="square">
            <a:spAutoFit/>
          </a:bodyPr>
          <a:lstStyle/>
          <a:p>
            <a:pPr algn="just">
              <a:lnSpc>
                <a:spcPct val="150000"/>
              </a:lnSpc>
            </a:pPr>
            <a:r>
              <a:rPr lang="en-US" sz="2000" b="1" dirty="0">
                <a:solidFill>
                  <a:srgbClr val="610B4B"/>
                </a:solidFill>
              </a:rPr>
              <a:t>17. Composite Type: </a:t>
            </a:r>
            <a:r>
              <a:rPr lang="en-US" sz="2000" dirty="0"/>
              <a:t>In PostgreSQL, the composite data type is used to signify the structure of a row or record as a list of file names and data types.</a:t>
            </a:r>
            <a:endParaRPr lang="en-US" sz="2000" b="0" i="0" dirty="0">
              <a:solidFill>
                <a:srgbClr val="333333"/>
              </a:solidFill>
              <a:effectLst/>
            </a:endParaRPr>
          </a:p>
        </p:txBody>
      </p:sp>
      <p:sp>
        <p:nvSpPr>
          <p:cNvPr id="8" name="Rectangle 7"/>
          <p:cNvSpPr/>
          <p:nvPr/>
        </p:nvSpPr>
        <p:spPr>
          <a:xfrm>
            <a:off x="215703" y="4182468"/>
            <a:ext cx="11629293" cy="1938992"/>
          </a:xfrm>
          <a:prstGeom prst="rect">
            <a:avLst/>
          </a:prstGeom>
        </p:spPr>
        <p:txBody>
          <a:bodyPr wrap="square">
            <a:spAutoFit/>
          </a:bodyPr>
          <a:lstStyle/>
          <a:p>
            <a:pPr algn="just">
              <a:lnSpc>
                <a:spcPct val="150000"/>
              </a:lnSpc>
            </a:pPr>
            <a:r>
              <a:rPr lang="en-US" sz="2000" b="1" dirty="0">
                <a:solidFill>
                  <a:srgbClr val="610B4B"/>
                </a:solidFill>
              </a:rPr>
              <a:t>18. Pseudo Type: </a:t>
            </a:r>
            <a:r>
              <a:rPr lang="en-US" sz="2000" dirty="0"/>
              <a:t>In PostgreSQL, the data types are pseudo types, which are used to contain many special-purpose entries. And it is used to declare a result type or the function's argument, but it is not compatible to use as a column data type. The below table contains some of the commonly used pseudo data types in PostgreSQL:</a:t>
            </a:r>
          </a:p>
        </p:txBody>
      </p:sp>
    </p:spTree>
    <p:extLst>
      <p:ext uri="{BB962C8B-B14F-4D97-AF65-F5344CB8AC3E}">
        <p14:creationId xmlns:p14="http://schemas.microsoft.com/office/powerpoint/2010/main" val="3886714567"/>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pic>
        <p:nvPicPr>
          <p:cNvPr id="2" name="Picture 1"/>
          <p:cNvPicPr>
            <a:picLocks noChangeAspect="1"/>
          </p:cNvPicPr>
          <p:nvPr/>
        </p:nvPicPr>
        <p:blipFill>
          <a:blip r:embed="rId4"/>
          <a:stretch>
            <a:fillRect/>
          </a:stretch>
        </p:blipFill>
        <p:spPr>
          <a:xfrm>
            <a:off x="1990726" y="721217"/>
            <a:ext cx="8466920" cy="5937159"/>
          </a:xfrm>
          <a:prstGeom prst="rect">
            <a:avLst/>
          </a:prstGeom>
          <a:ln w="25400">
            <a:solidFill>
              <a:schemeClr val="accent1"/>
            </a:solidFill>
          </a:ln>
        </p:spPr>
      </p:pic>
    </p:spTree>
    <p:extLst>
      <p:ext uri="{BB962C8B-B14F-4D97-AF65-F5344CB8AC3E}">
        <p14:creationId xmlns:p14="http://schemas.microsoft.com/office/powerpoint/2010/main" val="3161372803"/>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8" name="Rectangle 7"/>
          <p:cNvSpPr/>
          <p:nvPr/>
        </p:nvSpPr>
        <p:spPr>
          <a:xfrm>
            <a:off x="201635" y="600076"/>
            <a:ext cx="6016285" cy="6093976"/>
          </a:xfrm>
          <a:prstGeom prst="rect">
            <a:avLst/>
          </a:prstGeom>
        </p:spPr>
        <p:txBody>
          <a:bodyPr wrap="square">
            <a:spAutoFit/>
          </a:bodyPr>
          <a:lstStyle/>
          <a:p>
            <a:pPr algn="just">
              <a:lnSpc>
                <a:spcPct val="150000"/>
              </a:lnSpc>
            </a:pPr>
            <a:r>
              <a:rPr lang="en-US" sz="2000" b="1" dirty="0">
                <a:solidFill>
                  <a:srgbClr val="610B4B"/>
                </a:solidFill>
              </a:rPr>
              <a:t>19. Object Identifier (OIDs) Type: </a:t>
            </a:r>
            <a:r>
              <a:rPr lang="en-US" sz="2000" dirty="0"/>
              <a:t>These types of data types are used as primary keys for several system tables. The </a:t>
            </a:r>
            <a:r>
              <a:rPr lang="en-US" sz="2000" dirty="0" err="1"/>
              <a:t>oid</a:t>
            </a:r>
            <a:r>
              <a:rPr lang="en-US" sz="2000" dirty="0"/>
              <a:t> type represents an object identifier and currently implemented as an unsigned four-byte integer. In huge databases or even in large individual tables, it is not big enough to offer database-wide individuality.</a:t>
            </a:r>
          </a:p>
          <a:p>
            <a:pPr marL="342900" indent="-342900" algn="just">
              <a:lnSpc>
                <a:spcPct val="150000"/>
              </a:lnSpc>
              <a:buFont typeface="Wingdings" panose="05000000000000000000" pitchFamily="2" charset="2"/>
              <a:buChar char="ü"/>
            </a:pPr>
            <a:r>
              <a:rPr lang="en-US" sz="2000" dirty="0"/>
              <a:t>Object identifiers are used for references to system tables. Beyond comparison, the </a:t>
            </a:r>
            <a:r>
              <a:rPr lang="en-US" sz="2000" dirty="0" err="1"/>
              <a:t>oid</a:t>
            </a:r>
            <a:r>
              <a:rPr lang="en-US" sz="2000" dirty="0"/>
              <a:t> type itself has few operations that can be cast to integer, and can be manipulated using the standard integer operators.</a:t>
            </a:r>
          </a:p>
          <a:p>
            <a:pPr marL="342900" indent="-342900" algn="just">
              <a:lnSpc>
                <a:spcPct val="150000"/>
              </a:lnSpc>
              <a:buFont typeface="Wingdings" panose="05000000000000000000" pitchFamily="2" charset="2"/>
              <a:buChar char="ü"/>
            </a:pPr>
            <a:r>
              <a:rPr lang="en-US" sz="2000" dirty="0"/>
              <a:t>The below table contains all the object identifier data types that are supported in PostgreSQL:</a:t>
            </a:r>
          </a:p>
        </p:txBody>
      </p:sp>
      <p:pic>
        <p:nvPicPr>
          <p:cNvPr id="3" name="Picture 2"/>
          <p:cNvPicPr>
            <a:picLocks noChangeAspect="1"/>
          </p:cNvPicPr>
          <p:nvPr/>
        </p:nvPicPr>
        <p:blipFill>
          <a:blip r:embed="rId4"/>
          <a:stretch>
            <a:fillRect/>
          </a:stretch>
        </p:blipFill>
        <p:spPr>
          <a:xfrm>
            <a:off x="6583679" y="1000792"/>
            <a:ext cx="5486400" cy="5292544"/>
          </a:xfrm>
          <a:prstGeom prst="rect">
            <a:avLst/>
          </a:prstGeom>
          <a:ln w="25400">
            <a:solidFill>
              <a:schemeClr val="accent1"/>
            </a:solidFill>
          </a:ln>
        </p:spPr>
      </p:pic>
    </p:spTree>
    <p:extLst>
      <p:ext uri="{BB962C8B-B14F-4D97-AF65-F5344CB8AC3E}">
        <p14:creationId xmlns:p14="http://schemas.microsoft.com/office/powerpoint/2010/main" val="467392536"/>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BASIC DATA TYPES IN POSTGRESQL </a:t>
            </a:r>
          </a:p>
        </p:txBody>
      </p:sp>
      <p:sp>
        <p:nvSpPr>
          <p:cNvPr id="8" name="Rectangle 7"/>
          <p:cNvSpPr/>
          <p:nvPr/>
        </p:nvSpPr>
        <p:spPr>
          <a:xfrm>
            <a:off x="201635" y="834391"/>
            <a:ext cx="11727768" cy="1477328"/>
          </a:xfrm>
          <a:prstGeom prst="rect">
            <a:avLst/>
          </a:prstGeom>
        </p:spPr>
        <p:txBody>
          <a:bodyPr wrap="square">
            <a:spAutoFit/>
          </a:bodyPr>
          <a:lstStyle/>
          <a:p>
            <a:pPr algn="just">
              <a:lnSpc>
                <a:spcPct val="150000"/>
              </a:lnSpc>
            </a:pPr>
            <a:r>
              <a:rPr lang="en-US" sz="2000" b="1" dirty="0">
                <a:solidFill>
                  <a:srgbClr val="610B4B"/>
                </a:solidFill>
              </a:rPr>
              <a:t>20. </a:t>
            </a:r>
            <a:r>
              <a:rPr lang="en-US" sz="2000" b="1" dirty="0" err="1">
                <a:solidFill>
                  <a:srgbClr val="610B4B"/>
                </a:solidFill>
              </a:rPr>
              <a:t>pg_lsn</a:t>
            </a:r>
            <a:r>
              <a:rPr lang="en-US" sz="2000" b="1" dirty="0">
                <a:solidFill>
                  <a:srgbClr val="610B4B"/>
                </a:solidFill>
              </a:rPr>
              <a:t> Type: </a:t>
            </a:r>
            <a:r>
              <a:rPr lang="en-US" sz="2000" dirty="0"/>
              <a:t>The </a:t>
            </a:r>
            <a:r>
              <a:rPr lang="en-US" sz="2000" dirty="0" err="1"/>
              <a:t>pg_lsn</a:t>
            </a:r>
            <a:r>
              <a:rPr lang="en-US" sz="2000" dirty="0"/>
              <a:t> data type can be used to store Log Sequence Number (LSN) data, a pointer to a location in the XLOG. It is used to signify the </a:t>
            </a:r>
            <a:r>
              <a:rPr lang="en-US" sz="2000" dirty="0" err="1"/>
              <a:t>XLogRecPtr</a:t>
            </a:r>
            <a:r>
              <a:rPr lang="en-US" sz="2000" dirty="0"/>
              <a:t> and an internal system type of PostgreSQL. The </a:t>
            </a:r>
            <a:r>
              <a:rPr lang="en-US" sz="2000" dirty="0" err="1"/>
              <a:t>pg_lsn</a:t>
            </a:r>
            <a:r>
              <a:rPr lang="en-US" sz="2000" dirty="0"/>
              <a:t> type is compatible with the standard comparison operators, such as &gt; and =.</a:t>
            </a:r>
          </a:p>
        </p:txBody>
      </p:sp>
      <p:sp>
        <p:nvSpPr>
          <p:cNvPr id="2" name="Rectangle 1"/>
          <p:cNvSpPr/>
          <p:nvPr/>
        </p:nvSpPr>
        <p:spPr>
          <a:xfrm>
            <a:off x="201635" y="2508667"/>
            <a:ext cx="11465168" cy="3323987"/>
          </a:xfrm>
          <a:prstGeom prst="rect">
            <a:avLst/>
          </a:prstGeom>
        </p:spPr>
        <p:txBody>
          <a:bodyPr wrap="square">
            <a:spAutoFit/>
          </a:bodyPr>
          <a:lstStyle/>
          <a:p>
            <a:pPr>
              <a:lnSpc>
                <a:spcPct val="150000"/>
              </a:lnSpc>
            </a:pPr>
            <a:r>
              <a:rPr lang="en-IN" sz="2000" b="1" dirty="0">
                <a:solidFill>
                  <a:srgbClr val="FF0000"/>
                </a:solidFill>
              </a:rPr>
              <a:t>Important Points to Remember:</a:t>
            </a:r>
          </a:p>
          <a:p>
            <a:pPr>
              <a:lnSpc>
                <a:spcPct val="150000"/>
              </a:lnSpc>
            </a:pPr>
            <a:r>
              <a:rPr lang="en-IN" sz="2000" dirty="0"/>
              <a:t>While using the data types, we can refer to the following points:</a:t>
            </a:r>
          </a:p>
          <a:p>
            <a:pPr marL="1257300" lvl="2" indent="-342900">
              <a:lnSpc>
                <a:spcPct val="150000"/>
              </a:lnSpc>
              <a:buFont typeface="Wingdings" panose="05000000000000000000" pitchFamily="2" charset="2"/>
              <a:buChar char="Ø"/>
            </a:pPr>
            <a:r>
              <a:rPr lang="en-IN" sz="2000" dirty="0"/>
              <a:t>If we have an IEEE 754 data source, we can use the float data type</a:t>
            </a:r>
          </a:p>
          <a:p>
            <a:pPr marL="1257300" lvl="2" indent="-342900">
              <a:lnSpc>
                <a:spcPct val="150000"/>
              </a:lnSpc>
              <a:buFont typeface="Wingdings" panose="05000000000000000000" pitchFamily="2" charset="2"/>
              <a:buChar char="Ø"/>
            </a:pPr>
            <a:r>
              <a:rPr lang="en-IN" sz="2000" dirty="0"/>
              <a:t>For integer data type, we can use int.</a:t>
            </a:r>
          </a:p>
          <a:p>
            <a:pPr marL="1257300" lvl="2" indent="-342900">
              <a:lnSpc>
                <a:spcPct val="150000"/>
              </a:lnSpc>
              <a:buFont typeface="Wingdings" panose="05000000000000000000" pitchFamily="2" charset="2"/>
              <a:buChar char="Ø"/>
            </a:pPr>
            <a:r>
              <a:rPr lang="en-IN" sz="2000" dirty="0"/>
              <a:t>Never use char.</a:t>
            </a:r>
          </a:p>
          <a:p>
            <a:pPr marL="1257300" lvl="2" indent="-342900">
              <a:lnSpc>
                <a:spcPct val="150000"/>
              </a:lnSpc>
              <a:buFont typeface="Wingdings" panose="05000000000000000000" pitchFamily="2" charset="2"/>
              <a:buChar char="Ø"/>
            </a:pPr>
            <a:r>
              <a:rPr lang="en-IN" sz="2000" dirty="0"/>
              <a:t>If we want to limit the input, we can apply a text data type.</a:t>
            </a:r>
          </a:p>
          <a:p>
            <a:pPr marL="1257300" lvl="2" indent="-342900">
              <a:lnSpc>
                <a:spcPct val="150000"/>
              </a:lnSpc>
              <a:buFont typeface="Wingdings" panose="05000000000000000000" pitchFamily="2" charset="2"/>
              <a:buChar char="Ø"/>
            </a:pPr>
            <a:r>
              <a:rPr lang="en-IN" sz="2000" dirty="0"/>
              <a:t>When we have vast numbers, we can use </a:t>
            </a:r>
            <a:r>
              <a:rPr lang="en-IN" sz="2000" dirty="0" err="1"/>
              <a:t>bigint</a:t>
            </a:r>
            <a:r>
              <a:rPr lang="en-IN" sz="2000" dirty="0"/>
              <a:t> only.</a:t>
            </a:r>
          </a:p>
        </p:txBody>
      </p:sp>
    </p:spTree>
    <p:extLst>
      <p:ext uri="{BB962C8B-B14F-4D97-AF65-F5344CB8AC3E}">
        <p14:creationId xmlns:p14="http://schemas.microsoft.com/office/powerpoint/2010/main" val="2952566845"/>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Rectangle 2"/>
          <p:cNvSpPr/>
          <p:nvPr/>
        </p:nvSpPr>
        <p:spPr>
          <a:xfrm>
            <a:off x="225083" y="562708"/>
            <a:ext cx="11746522" cy="2400657"/>
          </a:xfrm>
          <a:prstGeom prst="rect">
            <a:avLst/>
          </a:prstGeom>
        </p:spPr>
        <p:txBody>
          <a:bodyPr wrap="square">
            <a:spAutoFit/>
          </a:bodyPr>
          <a:lstStyle/>
          <a:p>
            <a:pPr marL="342900" indent="-342900" algn="just">
              <a:lnSpc>
                <a:spcPct val="150000"/>
              </a:lnSpc>
              <a:buFont typeface="Wingdings" panose="05000000000000000000" pitchFamily="2" charset="2"/>
              <a:buChar char="v"/>
            </a:pPr>
            <a:r>
              <a:rPr lang="en-IN" sz="2000" dirty="0"/>
              <a:t>The constraints are used to describe the rules for the data columns in a table. If there is any destruction between the constraints and the data action, the action is terminated immediately. The constraints make sure the dependability and the correctness of the data in the database.</a:t>
            </a:r>
          </a:p>
          <a:p>
            <a:pPr marL="342900" indent="-342900" algn="just">
              <a:lnSpc>
                <a:spcPct val="150000"/>
              </a:lnSpc>
              <a:buFont typeface="Wingdings" panose="05000000000000000000" pitchFamily="2" charset="2"/>
              <a:buChar char="v"/>
            </a:pPr>
            <a:r>
              <a:rPr lang="en-IN" sz="2000" dirty="0"/>
              <a:t>The constraints can be further divided as column level or table level where the table level constraints are used for the whole table, and the Column level constraints are used only for one column.</a:t>
            </a:r>
          </a:p>
        </p:txBody>
      </p:sp>
      <p:sp>
        <p:nvSpPr>
          <p:cNvPr id="4" name="Rectangle 3"/>
          <p:cNvSpPr/>
          <p:nvPr/>
        </p:nvSpPr>
        <p:spPr>
          <a:xfrm>
            <a:off x="379828" y="2963365"/>
            <a:ext cx="11591777" cy="3631763"/>
          </a:xfrm>
          <a:prstGeom prst="rect">
            <a:avLst/>
          </a:prstGeom>
        </p:spPr>
        <p:txBody>
          <a:bodyPr wrap="square">
            <a:spAutoFit/>
          </a:bodyPr>
          <a:lstStyle/>
          <a:p>
            <a:pPr>
              <a:lnSpc>
                <a:spcPct val="150000"/>
              </a:lnSpc>
            </a:pPr>
            <a:r>
              <a:rPr lang="en-IN" sz="2000" b="1" dirty="0">
                <a:solidFill>
                  <a:srgbClr val="FF0000"/>
                </a:solidFill>
              </a:rPr>
              <a:t>Where we use the constraints?</a:t>
            </a:r>
          </a:p>
          <a:p>
            <a:pPr>
              <a:lnSpc>
                <a:spcPct val="150000"/>
              </a:lnSpc>
            </a:pPr>
            <a:r>
              <a:rPr lang="en-IN" sz="2000" dirty="0"/>
              <a:t>Once constraint is created, it can be added to a table, and we can also disable it temporarily. The constraints are most commonly used in below areas:</a:t>
            </a:r>
          </a:p>
          <a:p>
            <a:pPr marL="914400" lvl="1" indent="-457200">
              <a:buFont typeface="+mj-lt"/>
              <a:buAutoNum type="arabicPeriod"/>
            </a:pPr>
            <a:r>
              <a:rPr lang="en-IN" sz="2000" dirty="0"/>
              <a:t>To individual columns, we can use the column constraints.</a:t>
            </a:r>
          </a:p>
          <a:p>
            <a:pPr marL="914400" lvl="1" indent="-457200">
              <a:buFont typeface="+mj-lt"/>
              <a:buAutoNum type="arabicPeriod"/>
            </a:pPr>
            <a:r>
              <a:rPr lang="en-IN" sz="2000" dirty="0"/>
              <a:t>When we are creating a table with the help of creating table command, we can also declare the constraints</a:t>
            </a:r>
          </a:p>
          <a:p>
            <a:pPr marL="914400" lvl="1" indent="-457200">
              <a:buFont typeface="+mj-lt"/>
              <a:buAutoNum type="arabicPeriod"/>
            </a:pPr>
            <a:r>
              <a:rPr lang="en-IN" sz="2000" dirty="0"/>
              <a:t>SQL can discard any value which interrupts the well-defined criteria.</a:t>
            </a:r>
          </a:p>
          <a:p>
            <a:pPr marL="914400" lvl="1" indent="-457200">
              <a:buFont typeface="+mj-lt"/>
              <a:buAutoNum type="arabicPeriod"/>
            </a:pPr>
            <a:r>
              <a:rPr lang="en-IN" sz="2000" dirty="0"/>
              <a:t>All the information related to the constraints is kept in the data dictionary.</a:t>
            </a:r>
          </a:p>
          <a:p>
            <a:pPr marL="914400" lvl="1" indent="-457200">
              <a:buFont typeface="+mj-lt"/>
              <a:buAutoNum type="arabicPeriod"/>
            </a:pPr>
            <a:r>
              <a:rPr lang="en-IN" sz="2000" dirty="0"/>
              <a:t>For one or more columns, we can use the table constraints. </a:t>
            </a:r>
          </a:p>
          <a:p>
            <a:pPr marL="914400" lvl="1" indent="-457200">
              <a:buFont typeface="+mj-lt"/>
              <a:buAutoNum type="arabicPeriod"/>
            </a:pPr>
            <a:r>
              <a:rPr lang="en-IN" sz="2000" dirty="0"/>
              <a:t>All the constraint is allocated a name.</a:t>
            </a:r>
          </a:p>
        </p:txBody>
      </p:sp>
    </p:spTree>
    <p:extLst>
      <p:ext uri="{BB962C8B-B14F-4D97-AF65-F5344CB8AC3E}">
        <p14:creationId xmlns:p14="http://schemas.microsoft.com/office/powerpoint/2010/main" val="2201430636"/>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3263704" y="672832"/>
            <a:ext cx="6214265" cy="461665"/>
          </a:xfrm>
          <a:prstGeom prst="rect">
            <a:avLst/>
          </a:prstGeom>
        </p:spPr>
        <p:txBody>
          <a:bodyPr wrap="none">
            <a:spAutoFit/>
          </a:bodyPr>
          <a:lstStyle/>
          <a:p>
            <a:r>
              <a:rPr lang="en-IN" sz="2400" b="1" dirty="0">
                <a:solidFill>
                  <a:srgbClr val="00B050"/>
                </a:solidFill>
              </a:rPr>
              <a:t>Most commonly used constraints in </a:t>
            </a:r>
            <a:r>
              <a:rPr lang="en-IN" sz="2400" b="1" dirty="0" err="1">
                <a:solidFill>
                  <a:srgbClr val="00B050"/>
                </a:solidFill>
              </a:rPr>
              <a:t>PostgresQL</a:t>
            </a:r>
            <a:endParaRPr lang="en-IN" sz="2400" b="1" dirty="0">
              <a:solidFill>
                <a:srgbClr val="00B050"/>
              </a:solidFill>
            </a:endParaRPr>
          </a:p>
        </p:txBody>
      </p:sp>
      <p:pic>
        <p:nvPicPr>
          <p:cNvPr id="5" name="Picture 4"/>
          <p:cNvPicPr>
            <a:picLocks noChangeAspect="1"/>
          </p:cNvPicPr>
          <p:nvPr/>
        </p:nvPicPr>
        <p:blipFill>
          <a:blip r:embed="rId4"/>
          <a:stretch>
            <a:fillRect/>
          </a:stretch>
        </p:blipFill>
        <p:spPr>
          <a:xfrm>
            <a:off x="126610" y="1464869"/>
            <a:ext cx="4581525" cy="4316953"/>
          </a:xfrm>
          <a:prstGeom prst="rect">
            <a:avLst/>
          </a:prstGeom>
          <a:ln w="25400">
            <a:solidFill>
              <a:schemeClr val="accent1"/>
            </a:solidFill>
          </a:ln>
        </p:spPr>
      </p:pic>
      <p:pic>
        <p:nvPicPr>
          <p:cNvPr id="6" name="Picture 5"/>
          <p:cNvPicPr>
            <a:picLocks noChangeAspect="1"/>
          </p:cNvPicPr>
          <p:nvPr/>
        </p:nvPicPr>
        <p:blipFill>
          <a:blip r:embed="rId5"/>
          <a:stretch>
            <a:fillRect/>
          </a:stretch>
        </p:blipFill>
        <p:spPr>
          <a:xfrm>
            <a:off x="4883906" y="1244621"/>
            <a:ext cx="7172325" cy="5128044"/>
          </a:xfrm>
          <a:prstGeom prst="rect">
            <a:avLst/>
          </a:prstGeom>
          <a:ln w="25400">
            <a:solidFill>
              <a:schemeClr val="accent2"/>
            </a:solidFill>
          </a:ln>
        </p:spPr>
      </p:pic>
    </p:spTree>
    <p:extLst>
      <p:ext uri="{BB962C8B-B14F-4D97-AF65-F5344CB8AC3E}">
        <p14:creationId xmlns:p14="http://schemas.microsoft.com/office/powerpoint/2010/main" val="3155341496"/>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pic>
        <p:nvPicPr>
          <p:cNvPr id="3" name="Picture 2"/>
          <p:cNvPicPr>
            <a:picLocks noChangeAspect="1"/>
          </p:cNvPicPr>
          <p:nvPr/>
        </p:nvPicPr>
        <p:blipFill>
          <a:blip r:embed="rId4"/>
          <a:stretch>
            <a:fillRect/>
          </a:stretch>
        </p:blipFill>
        <p:spPr>
          <a:xfrm>
            <a:off x="196947" y="3785174"/>
            <a:ext cx="3226593" cy="2253689"/>
          </a:xfrm>
          <a:prstGeom prst="rect">
            <a:avLst/>
          </a:prstGeom>
          <a:ln w="25400">
            <a:solidFill>
              <a:schemeClr val="accent2"/>
            </a:solidFill>
          </a:ln>
        </p:spPr>
      </p:pic>
      <p:sp>
        <p:nvSpPr>
          <p:cNvPr id="4" name="Rectangle 3"/>
          <p:cNvSpPr/>
          <p:nvPr/>
        </p:nvSpPr>
        <p:spPr>
          <a:xfrm>
            <a:off x="196947" y="640193"/>
            <a:ext cx="11816862" cy="2862322"/>
          </a:xfrm>
          <a:prstGeom prst="rect">
            <a:avLst/>
          </a:prstGeom>
        </p:spPr>
        <p:txBody>
          <a:bodyPr wrap="square">
            <a:spAutoFit/>
          </a:bodyPr>
          <a:lstStyle/>
          <a:p>
            <a:pPr algn="just">
              <a:lnSpc>
                <a:spcPct val="150000"/>
              </a:lnSpc>
            </a:pPr>
            <a:r>
              <a:rPr lang="en-IN" sz="2000" b="1" dirty="0">
                <a:solidFill>
                  <a:srgbClr val="00B050"/>
                </a:solidFill>
              </a:rPr>
              <a:t>1) NOT NULL Constraint:</a:t>
            </a:r>
            <a:r>
              <a:rPr lang="en-IN" sz="2000" dirty="0"/>
              <a:t> In not-null constraint, a column can hold the Null values by default. If we don't want a column to have a NULL value, then we need to explain such constraint on this column state that NULL is now not acceptable for that particular column. It is always created as a column constraint, and it represents unknown data but it doesn't mean that the data would be null.</a:t>
            </a:r>
          </a:p>
          <a:p>
            <a:pPr algn="just">
              <a:lnSpc>
                <a:spcPct val="150000"/>
              </a:lnSpc>
            </a:pPr>
            <a:r>
              <a:rPr lang="en-IN" sz="2000" dirty="0"/>
              <a:t>Example: To create a new table called Customer, which has the five columns, such as </a:t>
            </a:r>
            <a:r>
              <a:rPr lang="en-IN" sz="2000" dirty="0" err="1"/>
              <a:t>Cust_Id</a:t>
            </a:r>
            <a:r>
              <a:rPr lang="en-IN" sz="2000" dirty="0"/>
              <a:t>, </a:t>
            </a:r>
            <a:r>
              <a:rPr lang="en-IN" sz="2000" dirty="0" err="1"/>
              <a:t>Cust</a:t>
            </a:r>
            <a:r>
              <a:rPr lang="en-IN" sz="2000" dirty="0"/>
              <a:t>_ Name, </a:t>
            </a:r>
            <a:r>
              <a:rPr lang="en-IN" sz="2000" dirty="0" err="1"/>
              <a:t>Cust_Address</a:t>
            </a:r>
            <a:r>
              <a:rPr lang="en-IN" sz="2000" dirty="0"/>
              <a:t>, </a:t>
            </a:r>
            <a:r>
              <a:rPr lang="en-IN" sz="2000" dirty="0" err="1"/>
              <a:t>Cust_Age</a:t>
            </a:r>
            <a:r>
              <a:rPr lang="en-IN" sz="2000" dirty="0"/>
              <a:t>, and </a:t>
            </a:r>
            <a:r>
              <a:rPr lang="en-IN" sz="2000" dirty="0" err="1"/>
              <a:t>Cust_Salary</a:t>
            </a:r>
            <a:r>
              <a:rPr lang="en-IN" sz="2000" dirty="0"/>
              <a:t>.</a:t>
            </a:r>
          </a:p>
        </p:txBody>
      </p:sp>
      <p:pic>
        <p:nvPicPr>
          <p:cNvPr id="7" name="Picture 6"/>
          <p:cNvPicPr>
            <a:picLocks noChangeAspect="1"/>
          </p:cNvPicPr>
          <p:nvPr/>
        </p:nvPicPr>
        <p:blipFill>
          <a:blip r:embed="rId5"/>
          <a:stretch>
            <a:fillRect/>
          </a:stretch>
        </p:blipFill>
        <p:spPr>
          <a:xfrm>
            <a:off x="3423540" y="3471464"/>
            <a:ext cx="3943716" cy="3206190"/>
          </a:xfrm>
          <a:prstGeom prst="rect">
            <a:avLst/>
          </a:prstGeom>
          <a:ln w="25400">
            <a:solidFill>
              <a:srgbClr val="002060"/>
            </a:solidFill>
          </a:ln>
        </p:spPr>
      </p:pic>
      <p:pic>
        <p:nvPicPr>
          <p:cNvPr id="8" name="Picture 7"/>
          <p:cNvPicPr>
            <a:picLocks noChangeAspect="1"/>
          </p:cNvPicPr>
          <p:nvPr/>
        </p:nvPicPr>
        <p:blipFill>
          <a:blip r:embed="rId6"/>
          <a:stretch>
            <a:fillRect/>
          </a:stretch>
        </p:blipFill>
        <p:spPr>
          <a:xfrm>
            <a:off x="7410450" y="4699390"/>
            <a:ext cx="4781550" cy="1194972"/>
          </a:xfrm>
          <a:prstGeom prst="rect">
            <a:avLst/>
          </a:prstGeom>
          <a:ln w="25400">
            <a:solidFill>
              <a:srgbClr val="FF0000"/>
            </a:solidFill>
          </a:ln>
        </p:spPr>
      </p:pic>
      <p:sp>
        <p:nvSpPr>
          <p:cNvPr id="9" name="Rectangle 8"/>
          <p:cNvSpPr/>
          <p:nvPr/>
        </p:nvSpPr>
        <p:spPr>
          <a:xfrm>
            <a:off x="9262370" y="4215005"/>
            <a:ext cx="947695" cy="400110"/>
          </a:xfrm>
          <a:prstGeom prst="rect">
            <a:avLst/>
          </a:prstGeom>
        </p:spPr>
        <p:txBody>
          <a:bodyPr wrap="none">
            <a:spAutoFit/>
          </a:bodyPr>
          <a:lstStyle/>
          <a:p>
            <a:r>
              <a:rPr lang="en-IN" sz="2000" b="1" dirty="0">
                <a:solidFill>
                  <a:srgbClr val="00B050"/>
                </a:solidFill>
              </a:rPr>
              <a:t>Output</a:t>
            </a:r>
          </a:p>
        </p:txBody>
      </p:sp>
    </p:spTree>
    <p:extLst>
      <p:ext uri="{BB962C8B-B14F-4D97-AF65-F5344CB8AC3E}">
        <p14:creationId xmlns:p14="http://schemas.microsoft.com/office/powerpoint/2010/main" val="1239502144"/>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ectangle 3"/>
          <p:cNvSpPr/>
          <p:nvPr/>
        </p:nvSpPr>
        <p:spPr>
          <a:xfrm>
            <a:off x="196947" y="1059577"/>
            <a:ext cx="11816862" cy="1938992"/>
          </a:xfrm>
          <a:prstGeom prst="rect">
            <a:avLst/>
          </a:prstGeom>
        </p:spPr>
        <p:txBody>
          <a:bodyPr wrap="square">
            <a:spAutoFit/>
          </a:bodyPr>
          <a:lstStyle/>
          <a:p>
            <a:pPr algn="just">
              <a:lnSpc>
                <a:spcPct val="150000"/>
              </a:lnSpc>
            </a:pPr>
            <a:r>
              <a:rPr lang="en-IN" sz="2000" b="1" dirty="0">
                <a:solidFill>
                  <a:srgbClr val="00B050"/>
                </a:solidFill>
              </a:rPr>
              <a:t>2) CHECK Constraint:</a:t>
            </a:r>
            <a:r>
              <a:rPr lang="en-IN" sz="2000" dirty="0"/>
              <a:t> </a:t>
            </a:r>
            <a:r>
              <a:rPr lang="en-US" sz="2000" dirty="0"/>
              <a:t>In PostgreSQL, the Check constraint can be defined by a separate name. It is used to control the value of columns being inserted. It allows us to verify a condition that the value being stored into a record. If the statement is false, then the data disrupts the constraint and is not saved into the table.</a:t>
            </a:r>
          </a:p>
          <a:p>
            <a:pPr marL="342900" indent="-342900" algn="just">
              <a:lnSpc>
                <a:spcPct val="150000"/>
              </a:lnSpc>
              <a:buFont typeface="Wingdings" panose="05000000000000000000" pitchFamily="2" charset="2"/>
              <a:buChar char="ü"/>
            </a:pPr>
            <a:r>
              <a:rPr lang="en-US" sz="2000" dirty="0"/>
              <a:t>To create a new table called Customer2, and this table contains five columns.</a:t>
            </a:r>
            <a:endParaRPr lang="en-IN" sz="2000" dirty="0"/>
          </a:p>
        </p:txBody>
      </p:sp>
      <p:sp>
        <p:nvSpPr>
          <p:cNvPr id="9" name="Rectangle 8"/>
          <p:cNvSpPr/>
          <p:nvPr/>
        </p:nvSpPr>
        <p:spPr>
          <a:xfrm>
            <a:off x="8943115" y="3299169"/>
            <a:ext cx="947695" cy="400110"/>
          </a:xfrm>
          <a:prstGeom prst="rect">
            <a:avLst/>
          </a:prstGeom>
        </p:spPr>
        <p:txBody>
          <a:bodyPr wrap="none">
            <a:spAutoFit/>
          </a:bodyPr>
          <a:lstStyle/>
          <a:p>
            <a:r>
              <a:rPr lang="en-IN" sz="2000" b="1" dirty="0">
                <a:solidFill>
                  <a:srgbClr val="00B050"/>
                </a:solidFill>
              </a:rPr>
              <a:t>Output</a:t>
            </a:r>
          </a:p>
        </p:txBody>
      </p:sp>
      <p:pic>
        <p:nvPicPr>
          <p:cNvPr id="2" name="Picture 1"/>
          <p:cNvPicPr>
            <a:picLocks noChangeAspect="1"/>
          </p:cNvPicPr>
          <p:nvPr/>
        </p:nvPicPr>
        <p:blipFill>
          <a:blip r:embed="rId4"/>
          <a:stretch>
            <a:fillRect/>
          </a:stretch>
        </p:blipFill>
        <p:spPr>
          <a:xfrm>
            <a:off x="196947" y="3790639"/>
            <a:ext cx="2907250" cy="2230332"/>
          </a:xfrm>
          <a:prstGeom prst="rect">
            <a:avLst/>
          </a:prstGeom>
          <a:ln w="25400">
            <a:solidFill>
              <a:srgbClr val="FF0000"/>
            </a:solidFill>
          </a:ln>
        </p:spPr>
      </p:pic>
      <p:pic>
        <p:nvPicPr>
          <p:cNvPr id="5" name="Picture 4"/>
          <p:cNvPicPr>
            <a:picLocks noChangeAspect="1"/>
          </p:cNvPicPr>
          <p:nvPr/>
        </p:nvPicPr>
        <p:blipFill>
          <a:blip r:embed="rId5"/>
          <a:stretch>
            <a:fillRect/>
          </a:stretch>
        </p:blipFill>
        <p:spPr>
          <a:xfrm>
            <a:off x="3263704" y="3299169"/>
            <a:ext cx="3518168" cy="2721802"/>
          </a:xfrm>
          <a:prstGeom prst="rect">
            <a:avLst/>
          </a:prstGeom>
          <a:ln w="25400">
            <a:solidFill>
              <a:srgbClr val="92D050"/>
            </a:solidFill>
          </a:ln>
        </p:spPr>
      </p:pic>
      <p:pic>
        <p:nvPicPr>
          <p:cNvPr id="6" name="Picture 5"/>
          <p:cNvPicPr>
            <a:picLocks noChangeAspect="1"/>
          </p:cNvPicPr>
          <p:nvPr/>
        </p:nvPicPr>
        <p:blipFill>
          <a:blip r:embed="rId6"/>
          <a:stretch>
            <a:fillRect/>
          </a:stretch>
        </p:blipFill>
        <p:spPr>
          <a:xfrm>
            <a:off x="6941379" y="3995070"/>
            <a:ext cx="4951169" cy="1583217"/>
          </a:xfrm>
          <a:prstGeom prst="rect">
            <a:avLst/>
          </a:prstGeom>
          <a:ln w="25400">
            <a:solidFill>
              <a:srgbClr val="0070C0"/>
            </a:solidFill>
          </a:ln>
        </p:spPr>
      </p:pic>
    </p:spTree>
    <p:extLst>
      <p:ext uri="{BB962C8B-B14F-4D97-AF65-F5344CB8AC3E}">
        <p14:creationId xmlns:p14="http://schemas.microsoft.com/office/powerpoint/2010/main" val="727674304"/>
      </p:ext>
    </p:extLst>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ectangle 3"/>
          <p:cNvSpPr/>
          <p:nvPr/>
        </p:nvSpPr>
        <p:spPr>
          <a:xfrm>
            <a:off x="156659" y="600076"/>
            <a:ext cx="11816862" cy="3323987"/>
          </a:xfrm>
          <a:prstGeom prst="rect">
            <a:avLst/>
          </a:prstGeom>
        </p:spPr>
        <p:txBody>
          <a:bodyPr wrap="square">
            <a:spAutoFit/>
          </a:bodyPr>
          <a:lstStyle/>
          <a:p>
            <a:pPr algn="just">
              <a:lnSpc>
                <a:spcPct val="150000"/>
              </a:lnSpc>
            </a:pPr>
            <a:r>
              <a:rPr lang="en-IN" sz="2000" b="1" dirty="0">
                <a:solidFill>
                  <a:srgbClr val="00B050"/>
                </a:solidFill>
              </a:rPr>
              <a:t>3) UNIQUE Constraint:</a:t>
            </a:r>
            <a:r>
              <a:rPr lang="en-IN" sz="2000" dirty="0"/>
              <a:t> </a:t>
            </a:r>
            <a:r>
              <a:rPr lang="en-US" sz="2000" dirty="0"/>
              <a:t>The unique constraint is used to maintain the individuality of the values that we store into a field or a column of the table. It is compatible with a group of column constraints or column constraints and a table constraint.</a:t>
            </a:r>
          </a:p>
          <a:p>
            <a:pPr algn="just">
              <a:lnSpc>
                <a:spcPct val="150000"/>
              </a:lnSpc>
            </a:pPr>
            <a:r>
              <a:rPr lang="en-US" sz="2000" dirty="0"/>
              <a:t>When we are using the unique constraint, an index on one or more columns generate automatically. If we add two different null values into a column in different rows, but it does not interrupt the specification of the UNIQUE constraint.</a:t>
            </a:r>
          </a:p>
          <a:p>
            <a:pPr marL="342900" indent="-342900" algn="just">
              <a:lnSpc>
                <a:spcPct val="150000"/>
              </a:lnSpc>
              <a:buFont typeface="Wingdings" panose="05000000000000000000" pitchFamily="2" charset="2"/>
              <a:buChar char="ü"/>
            </a:pPr>
            <a:r>
              <a:rPr lang="en-IN" sz="2000" dirty="0"/>
              <a:t>To create a new table called Customer3, which has similar five columns as we created in the above tables.</a:t>
            </a:r>
          </a:p>
        </p:txBody>
      </p:sp>
      <p:sp>
        <p:nvSpPr>
          <p:cNvPr id="9" name="Rectangle 8"/>
          <p:cNvSpPr/>
          <p:nvPr/>
        </p:nvSpPr>
        <p:spPr>
          <a:xfrm>
            <a:off x="8754058" y="3923417"/>
            <a:ext cx="947695" cy="400110"/>
          </a:xfrm>
          <a:prstGeom prst="rect">
            <a:avLst/>
          </a:prstGeom>
        </p:spPr>
        <p:txBody>
          <a:bodyPr wrap="none">
            <a:spAutoFit/>
          </a:bodyPr>
          <a:lstStyle/>
          <a:p>
            <a:r>
              <a:rPr lang="en-IN" sz="2000" b="1" dirty="0">
                <a:solidFill>
                  <a:srgbClr val="00B050"/>
                </a:solidFill>
              </a:rPr>
              <a:t>Output</a:t>
            </a:r>
          </a:p>
        </p:txBody>
      </p:sp>
      <p:pic>
        <p:nvPicPr>
          <p:cNvPr id="7" name="Picture 6"/>
          <p:cNvPicPr>
            <a:picLocks noChangeAspect="1"/>
          </p:cNvPicPr>
          <p:nvPr/>
        </p:nvPicPr>
        <p:blipFill>
          <a:blip r:embed="rId4"/>
          <a:stretch>
            <a:fillRect/>
          </a:stretch>
        </p:blipFill>
        <p:spPr>
          <a:xfrm>
            <a:off x="319087" y="4161486"/>
            <a:ext cx="2733238" cy="1943100"/>
          </a:xfrm>
          <a:prstGeom prst="rect">
            <a:avLst/>
          </a:prstGeom>
          <a:ln w="25400">
            <a:solidFill>
              <a:srgbClr val="0070C0"/>
            </a:solidFill>
          </a:ln>
        </p:spPr>
      </p:pic>
      <p:pic>
        <p:nvPicPr>
          <p:cNvPr id="8" name="Picture 7"/>
          <p:cNvPicPr>
            <a:picLocks noChangeAspect="1"/>
          </p:cNvPicPr>
          <p:nvPr/>
        </p:nvPicPr>
        <p:blipFill>
          <a:blip r:embed="rId5"/>
          <a:stretch>
            <a:fillRect/>
          </a:stretch>
        </p:blipFill>
        <p:spPr>
          <a:xfrm>
            <a:off x="3263704" y="3980511"/>
            <a:ext cx="3319975" cy="2342248"/>
          </a:xfrm>
          <a:prstGeom prst="rect">
            <a:avLst/>
          </a:prstGeom>
          <a:ln w="25400">
            <a:solidFill>
              <a:srgbClr val="FF0000"/>
            </a:solidFill>
          </a:ln>
        </p:spPr>
      </p:pic>
      <p:pic>
        <p:nvPicPr>
          <p:cNvPr id="10" name="Picture 9"/>
          <p:cNvPicPr>
            <a:picLocks noChangeAspect="1"/>
          </p:cNvPicPr>
          <p:nvPr/>
        </p:nvPicPr>
        <p:blipFill>
          <a:blip r:embed="rId6"/>
          <a:stretch>
            <a:fillRect/>
          </a:stretch>
        </p:blipFill>
        <p:spPr>
          <a:xfrm>
            <a:off x="6795058" y="4375798"/>
            <a:ext cx="5079263" cy="1500188"/>
          </a:xfrm>
          <a:prstGeom prst="rect">
            <a:avLst/>
          </a:prstGeom>
          <a:ln w="25400">
            <a:solidFill>
              <a:srgbClr val="FF9900"/>
            </a:solidFill>
          </a:ln>
        </p:spPr>
      </p:pic>
    </p:spTree>
    <p:extLst>
      <p:ext uri="{BB962C8B-B14F-4D97-AF65-F5344CB8AC3E}">
        <p14:creationId xmlns:p14="http://schemas.microsoft.com/office/powerpoint/2010/main" val="1731213521"/>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ectangle 3"/>
          <p:cNvSpPr/>
          <p:nvPr/>
        </p:nvSpPr>
        <p:spPr>
          <a:xfrm>
            <a:off x="156659" y="600076"/>
            <a:ext cx="11816862" cy="3785652"/>
          </a:xfrm>
          <a:prstGeom prst="rect">
            <a:avLst/>
          </a:prstGeom>
        </p:spPr>
        <p:txBody>
          <a:bodyPr wrap="square">
            <a:spAutoFit/>
          </a:bodyPr>
          <a:lstStyle/>
          <a:p>
            <a:pPr algn="just">
              <a:lnSpc>
                <a:spcPct val="150000"/>
              </a:lnSpc>
            </a:pPr>
            <a:r>
              <a:rPr lang="en-IN" sz="2000" b="1" dirty="0">
                <a:solidFill>
                  <a:srgbClr val="00B050"/>
                </a:solidFill>
              </a:rPr>
              <a:t>4) PRIMARY KEY Constraint:</a:t>
            </a:r>
            <a:r>
              <a:rPr lang="en-IN" sz="2000" dirty="0"/>
              <a:t> </a:t>
            </a:r>
            <a:r>
              <a:rPr lang="en-US" sz="2000" dirty="0"/>
              <a:t>It is a field in a table that individually identifies each row or the record in a database table, and it contains a unique value. A primary key does not hold any null value. And for this, we can also say that the primary key is a collection of the unique and not-null constraint of a table.</a:t>
            </a:r>
          </a:p>
          <a:p>
            <a:pPr algn="just">
              <a:lnSpc>
                <a:spcPct val="150000"/>
              </a:lnSpc>
            </a:pPr>
            <a:r>
              <a:rPr lang="en-US" sz="2000" dirty="0"/>
              <a:t>The working of the primary key is similar to a unique constraint. Still, the significant difference between them is one table can have only one primary key; however, the table can have one or more unique and not-null constraints.</a:t>
            </a:r>
          </a:p>
          <a:p>
            <a:pPr marL="342900" indent="-342900" algn="just">
              <a:lnSpc>
                <a:spcPct val="150000"/>
              </a:lnSpc>
              <a:buFont typeface="Wingdings" panose="05000000000000000000" pitchFamily="2" charset="2"/>
              <a:buChar char="ü"/>
            </a:pPr>
            <a:r>
              <a:rPr lang="en-US" sz="2000" dirty="0"/>
              <a:t>To create a new table called Employee, which contains the four columns, such as </a:t>
            </a:r>
            <a:r>
              <a:rPr lang="en-US" sz="2000" dirty="0" err="1"/>
              <a:t>Emp_Id</a:t>
            </a:r>
            <a:r>
              <a:rPr lang="en-US" sz="2000" dirty="0"/>
              <a:t>, </a:t>
            </a:r>
            <a:r>
              <a:rPr lang="en-US" sz="2000" dirty="0" err="1"/>
              <a:t>Emp</a:t>
            </a:r>
            <a:r>
              <a:rPr lang="en-US" sz="2000" dirty="0"/>
              <a:t>_ Name, </a:t>
            </a:r>
            <a:r>
              <a:rPr lang="en-US" sz="2000" dirty="0" err="1"/>
              <a:t>Emp_Address</a:t>
            </a:r>
            <a:r>
              <a:rPr lang="en-US" sz="2000" dirty="0"/>
              <a:t>, and </a:t>
            </a:r>
            <a:r>
              <a:rPr lang="en-US" sz="2000" dirty="0" err="1"/>
              <a:t>Emp_Age</a:t>
            </a:r>
            <a:r>
              <a:rPr lang="en-US" sz="2000" dirty="0"/>
              <a:t>.</a:t>
            </a:r>
            <a:endParaRPr lang="en-IN" sz="2000" dirty="0"/>
          </a:p>
        </p:txBody>
      </p:sp>
      <p:sp>
        <p:nvSpPr>
          <p:cNvPr id="9" name="Rectangle 8"/>
          <p:cNvSpPr/>
          <p:nvPr/>
        </p:nvSpPr>
        <p:spPr>
          <a:xfrm>
            <a:off x="8754058" y="3923417"/>
            <a:ext cx="947695" cy="400110"/>
          </a:xfrm>
          <a:prstGeom prst="rect">
            <a:avLst/>
          </a:prstGeom>
        </p:spPr>
        <p:txBody>
          <a:bodyPr wrap="none">
            <a:spAutoFit/>
          </a:bodyPr>
          <a:lstStyle/>
          <a:p>
            <a:r>
              <a:rPr lang="en-IN" sz="2000" b="1" dirty="0">
                <a:solidFill>
                  <a:srgbClr val="00B050"/>
                </a:solidFill>
              </a:rPr>
              <a:t>Output</a:t>
            </a:r>
          </a:p>
        </p:txBody>
      </p:sp>
      <p:pic>
        <p:nvPicPr>
          <p:cNvPr id="2" name="Picture 1"/>
          <p:cNvPicPr>
            <a:picLocks noChangeAspect="1"/>
          </p:cNvPicPr>
          <p:nvPr/>
        </p:nvPicPr>
        <p:blipFill>
          <a:blip r:embed="rId4"/>
          <a:stretch>
            <a:fillRect/>
          </a:stretch>
        </p:blipFill>
        <p:spPr>
          <a:xfrm>
            <a:off x="529883" y="4585188"/>
            <a:ext cx="2797632" cy="1815612"/>
          </a:xfrm>
          <a:prstGeom prst="rect">
            <a:avLst/>
          </a:prstGeom>
          <a:ln w="25400">
            <a:solidFill>
              <a:schemeClr val="accent1"/>
            </a:solidFill>
          </a:ln>
        </p:spPr>
      </p:pic>
      <p:pic>
        <p:nvPicPr>
          <p:cNvPr id="3" name="Picture 2"/>
          <p:cNvPicPr>
            <a:picLocks noChangeAspect="1"/>
          </p:cNvPicPr>
          <p:nvPr/>
        </p:nvPicPr>
        <p:blipFill>
          <a:blip r:embed="rId5"/>
          <a:stretch>
            <a:fillRect/>
          </a:stretch>
        </p:blipFill>
        <p:spPr>
          <a:xfrm>
            <a:off x="3742006" y="4423096"/>
            <a:ext cx="3483042" cy="2067856"/>
          </a:xfrm>
          <a:prstGeom prst="rect">
            <a:avLst/>
          </a:prstGeom>
          <a:ln w="25400">
            <a:solidFill>
              <a:srgbClr val="E3293B"/>
            </a:solidFill>
          </a:ln>
        </p:spPr>
      </p:pic>
      <p:pic>
        <p:nvPicPr>
          <p:cNvPr id="5" name="Picture 4"/>
          <p:cNvPicPr>
            <a:picLocks noChangeAspect="1"/>
          </p:cNvPicPr>
          <p:nvPr/>
        </p:nvPicPr>
        <p:blipFill>
          <a:blip r:embed="rId6"/>
          <a:stretch>
            <a:fillRect/>
          </a:stretch>
        </p:blipFill>
        <p:spPr>
          <a:xfrm>
            <a:off x="7561374" y="4423096"/>
            <a:ext cx="4397792" cy="1217850"/>
          </a:xfrm>
          <a:prstGeom prst="rect">
            <a:avLst/>
          </a:prstGeom>
          <a:ln w="25400">
            <a:solidFill>
              <a:srgbClr val="00B0F0"/>
            </a:solidFill>
          </a:ln>
        </p:spPr>
      </p:pic>
    </p:spTree>
    <p:extLst>
      <p:ext uri="{BB962C8B-B14F-4D97-AF65-F5344CB8AC3E}">
        <p14:creationId xmlns:p14="http://schemas.microsoft.com/office/powerpoint/2010/main" val="2894946904"/>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ectangle 3"/>
          <p:cNvSpPr/>
          <p:nvPr/>
        </p:nvSpPr>
        <p:spPr>
          <a:xfrm>
            <a:off x="156659" y="600076"/>
            <a:ext cx="11816862" cy="3276282"/>
          </a:xfrm>
          <a:prstGeom prst="rect">
            <a:avLst/>
          </a:prstGeom>
        </p:spPr>
        <p:txBody>
          <a:bodyPr wrap="square">
            <a:spAutoFit/>
          </a:bodyPr>
          <a:lstStyle/>
          <a:p>
            <a:pPr algn="just">
              <a:lnSpc>
                <a:spcPct val="150000"/>
              </a:lnSpc>
            </a:pPr>
            <a:r>
              <a:rPr lang="en-IN" sz="2000" b="1" dirty="0">
                <a:solidFill>
                  <a:srgbClr val="00B050"/>
                </a:solidFill>
              </a:rPr>
              <a:t>5) FOREIGN KEY Constraint:</a:t>
            </a:r>
            <a:r>
              <a:rPr lang="en-IN" sz="2000" dirty="0"/>
              <a:t> </a:t>
            </a:r>
            <a:r>
              <a:rPr lang="en-US" sz="2000" dirty="0"/>
              <a:t>It is a group of columns with values that depend on the primary key benefits from another table. It is used to have the value in a column or group of columns that must be displayed in the same column or combination of columns in another table.</a:t>
            </a:r>
          </a:p>
          <a:p>
            <a:pPr algn="just">
              <a:lnSpc>
                <a:spcPct val="150000"/>
              </a:lnSpc>
            </a:pPr>
            <a:r>
              <a:rPr lang="en-US" sz="2000" dirty="0"/>
              <a:t>In PostgreSQL, the foreign key's values as parallel to actual values of the primary key in the other table; that's why it is also known as Referential integrity Constraint.</a:t>
            </a:r>
          </a:p>
          <a:p>
            <a:pPr marL="342900" indent="-342900" algn="just">
              <a:lnSpc>
                <a:spcPct val="150000"/>
              </a:lnSpc>
              <a:buFont typeface="Wingdings" panose="05000000000000000000" pitchFamily="2" charset="2"/>
              <a:buChar char="ü"/>
            </a:pPr>
            <a:r>
              <a:rPr lang="en-US" sz="2000" dirty="0"/>
              <a:t>To create a new table called Employee1, which contains the four columns that are similar to the previous table.</a:t>
            </a:r>
            <a:endParaRPr lang="en-IN" sz="2000" dirty="0"/>
          </a:p>
        </p:txBody>
      </p:sp>
      <p:sp>
        <p:nvSpPr>
          <p:cNvPr id="9" name="Rectangle 8"/>
          <p:cNvSpPr/>
          <p:nvPr/>
        </p:nvSpPr>
        <p:spPr>
          <a:xfrm>
            <a:off x="9429807" y="3776286"/>
            <a:ext cx="947695" cy="400110"/>
          </a:xfrm>
          <a:prstGeom prst="rect">
            <a:avLst/>
          </a:prstGeom>
        </p:spPr>
        <p:txBody>
          <a:bodyPr wrap="none">
            <a:spAutoFit/>
          </a:bodyPr>
          <a:lstStyle/>
          <a:p>
            <a:r>
              <a:rPr lang="en-IN" sz="2000" b="1" dirty="0">
                <a:solidFill>
                  <a:srgbClr val="00B050"/>
                </a:solidFill>
              </a:rPr>
              <a:t>Output</a:t>
            </a:r>
          </a:p>
        </p:txBody>
      </p:sp>
      <p:pic>
        <p:nvPicPr>
          <p:cNvPr id="3" name="Picture 2"/>
          <p:cNvPicPr>
            <a:picLocks noChangeAspect="1"/>
          </p:cNvPicPr>
          <p:nvPr/>
        </p:nvPicPr>
        <p:blipFill>
          <a:blip r:embed="rId4"/>
          <a:stretch>
            <a:fillRect/>
          </a:stretch>
        </p:blipFill>
        <p:spPr>
          <a:xfrm>
            <a:off x="398730" y="4323526"/>
            <a:ext cx="3078115" cy="1866259"/>
          </a:xfrm>
          <a:prstGeom prst="rect">
            <a:avLst/>
          </a:prstGeom>
          <a:ln w="25400">
            <a:solidFill>
              <a:srgbClr val="E3293B"/>
            </a:solidFill>
          </a:ln>
        </p:spPr>
      </p:pic>
      <p:pic>
        <p:nvPicPr>
          <p:cNvPr id="5" name="Picture 4"/>
          <p:cNvPicPr>
            <a:picLocks noChangeAspect="1"/>
          </p:cNvPicPr>
          <p:nvPr/>
        </p:nvPicPr>
        <p:blipFill>
          <a:blip r:embed="rId5"/>
          <a:stretch>
            <a:fillRect/>
          </a:stretch>
        </p:blipFill>
        <p:spPr>
          <a:xfrm>
            <a:off x="3931553" y="3913726"/>
            <a:ext cx="3693136" cy="2803473"/>
          </a:xfrm>
          <a:prstGeom prst="rect">
            <a:avLst/>
          </a:prstGeom>
          <a:ln w="25400">
            <a:solidFill>
              <a:srgbClr val="00B0F0"/>
            </a:solidFill>
          </a:ln>
        </p:spPr>
      </p:pic>
      <p:pic>
        <p:nvPicPr>
          <p:cNvPr id="6" name="Picture 5"/>
          <p:cNvPicPr>
            <a:picLocks noChangeAspect="1"/>
          </p:cNvPicPr>
          <p:nvPr/>
        </p:nvPicPr>
        <p:blipFill>
          <a:blip r:embed="rId6"/>
          <a:stretch>
            <a:fillRect/>
          </a:stretch>
        </p:blipFill>
        <p:spPr>
          <a:xfrm>
            <a:off x="8287069" y="4476434"/>
            <a:ext cx="3508371" cy="1192846"/>
          </a:xfrm>
          <a:prstGeom prst="rect">
            <a:avLst/>
          </a:prstGeom>
          <a:ln w="25400">
            <a:solidFill>
              <a:srgbClr val="0070C0"/>
            </a:solidFill>
          </a:ln>
        </p:spPr>
      </p:pic>
    </p:spTree>
    <p:extLst>
      <p:ext uri="{BB962C8B-B14F-4D97-AF65-F5344CB8AC3E}">
        <p14:creationId xmlns:p14="http://schemas.microsoft.com/office/powerpoint/2010/main" val="1504608285"/>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ectangle 3"/>
          <p:cNvSpPr/>
          <p:nvPr/>
        </p:nvSpPr>
        <p:spPr>
          <a:xfrm>
            <a:off x="156659" y="600076"/>
            <a:ext cx="11816862" cy="1938992"/>
          </a:xfrm>
          <a:prstGeom prst="rect">
            <a:avLst/>
          </a:prstGeom>
        </p:spPr>
        <p:txBody>
          <a:bodyPr wrap="square">
            <a:spAutoFit/>
          </a:bodyPr>
          <a:lstStyle/>
          <a:p>
            <a:pPr algn="just">
              <a:lnSpc>
                <a:spcPct val="150000"/>
              </a:lnSpc>
            </a:pPr>
            <a:r>
              <a:rPr lang="en-IN" sz="2000" b="1" dirty="0">
                <a:solidFill>
                  <a:srgbClr val="00B050"/>
                </a:solidFill>
              </a:rPr>
              <a:t>6) EXCLUSION Constraint:</a:t>
            </a:r>
            <a:r>
              <a:rPr lang="en-IN" sz="2000" dirty="0"/>
              <a:t> </a:t>
            </a:r>
            <a:r>
              <a:rPr lang="en-US" sz="2000" dirty="0"/>
              <a:t>It is used to make sure that any two rows are linked on the specified columns or statements using the defined operators. In any case, one of these operator evaluations will return null or false.</a:t>
            </a:r>
          </a:p>
          <a:p>
            <a:pPr marL="342900" indent="-342900" algn="just">
              <a:lnSpc>
                <a:spcPct val="150000"/>
              </a:lnSpc>
              <a:buFont typeface="Wingdings" panose="05000000000000000000" pitchFamily="2" charset="2"/>
              <a:buChar char="ü"/>
            </a:pPr>
            <a:r>
              <a:rPr lang="en-US" sz="2000" dirty="0"/>
              <a:t>To create a new table called Employee, which contains the five columns. And here, we will use an exclude constraint as well.</a:t>
            </a:r>
            <a:endParaRPr lang="en-IN" sz="2000" dirty="0"/>
          </a:p>
        </p:txBody>
      </p:sp>
      <p:sp>
        <p:nvSpPr>
          <p:cNvPr id="9" name="Rectangle 8"/>
          <p:cNvSpPr/>
          <p:nvPr/>
        </p:nvSpPr>
        <p:spPr>
          <a:xfrm>
            <a:off x="8822032" y="2157642"/>
            <a:ext cx="913135" cy="400110"/>
          </a:xfrm>
          <a:prstGeom prst="rect">
            <a:avLst/>
          </a:prstGeom>
        </p:spPr>
        <p:txBody>
          <a:bodyPr wrap="none">
            <a:spAutoFit/>
          </a:bodyPr>
          <a:lstStyle/>
          <a:p>
            <a:r>
              <a:rPr lang="en-IN" sz="2000" b="1" dirty="0">
                <a:solidFill>
                  <a:srgbClr val="00B050"/>
                </a:solidFill>
              </a:rPr>
              <a:t>ERROR</a:t>
            </a:r>
          </a:p>
        </p:txBody>
      </p:sp>
      <p:pic>
        <p:nvPicPr>
          <p:cNvPr id="10" name="Picture 9"/>
          <p:cNvPicPr>
            <a:picLocks noChangeAspect="1"/>
          </p:cNvPicPr>
          <p:nvPr/>
        </p:nvPicPr>
        <p:blipFill>
          <a:blip r:embed="rId4"/>
          <a:stretch>
            <a:fillRect/>
          </a:stretch>
        </p:blipFill>
        <p:spPr>
          <a:xfrm>
            <a:off x="6583678" y="2576435"/>
            <a:ext cx="5389842" cy="1689032"/>
          </a:xfrm>
          <a:prstGeom prst="rect">
            <a:avLst/>
          </a:prstGeom>
          <a:ln w="25400">
            <a:solidFill>
              <a:srgbClr val="FF0000"/>
            </a:solidFill>
          </a:ln>
        </p:spPr>
      </p:pic>
      <p:sp>
        <p:nvSpPr>
          <p:cNvPr id="11" name="Rectangle 10"/>
          <p:cNvSpPr/>
          <p:nvPr/>
        </p:nvSpPr>
        <p:spPr>
          <a:xfrm>
            <a:off x="6488477" y="4429443"/>
            <a:ext cx="5580244" cy="707886"/>
          </a:xfrm>
          <a:prstGeom prst="rect">
            <a:avLst/>
          </a:prstGeom>
          <a:ln>
            <a:solidFill>
              <a:srgbClr val="002060"/>
            </a:solidFill>
          </a:ln>
        </p:spPr>
        <p:txBody>
          <a:bodyPr wrap="square">
            <a:spAutoFit/>
          </a:bodyPr>
          <a:lstStyle/>
          <a:p>
            <a:pPr algn="just"/>
            <a:r>
              <a:rPr lang="en-IN" sz="2000" dirty="0"/>
              <a:t>'</a:t>
            </a:r>
            <a:r>
              <a:rPr lang="en-IN" sz="2000" b="1" dirty="0"/>
              <a:t>gist</a:t>
            </a:r>
            <a:r>
              <a:rPr lang="en-IN" sz="2000" dirty="0"/>
              <a:t>' is the index, and used for creating and implementation of 'exclusion'</a:t>
            </a:r>
          </a:p>
        </p:txBody>
      </p:sp>
      <p:sp>
        <p:nvSpPr>
          <p:cNvPr id="12" name="Rectangle 11"/>
          <p:cNvSpPr/>
          <p:nvPr/>
        </p:nvSpPr>
        <p:spPr>
          <a:xfrm>
            <a:off x="6488477" y="5137329"/>
            <a:ext cx="5580244" cy="923330"/>
          </a:xfrm>
          <a:prstGeom prst="rect">
            <a:avLst/>
          </a:prstGeom>
          <a:ln w="9525">
            <a:solidFill>
              <a:srgbClr val="002060"/>
            </a:solidFill>
          </a:ln>
        </p:spPr>
        <p:txBody>
          <a:bodyPr wrap="square">
            <a:spAutoFit/>
          </a:bodyPr>
          <a:lstStyle/>
          <a:p>
            <a:pPr algn="just"/>
            <a:r>
              <a:rPr lang="en-IN" dirty="0"/>
              <a:t>'</a:t>
            </a:r>
            <a:r>
              <a:rPr lang="en-IN" b="1" dirty="0" err="1"/>
              <a:t>btree_gist</a:t>
            </a:r>
            <a:r>
              <a:rPr lang="en-IN" dirty="0"/>
              <a:t>' is a command, for one time in a database. And after that, it will connect the </a:t>
            </a:r>
            <a:r>
              <a:rPr lang="en-IN" dirty="0" err="1"/>
              <a:t>btree_gist</a:t>
            </a:r>
            <a:r>
              <a:rPr lang="en-IN" dirty="0"/>
              <a:t> extension that defines the constraints on basic scalar data types.</a:t>
            </a:r>
          </a:p>
        </p:txBody>
      </p:sp>
      <p:sp>
        <p:nvSpPr>
          <p:cNvPr id="13" name="Rectangle 12"/>
          <p:cNvSpPr/>
          <p:nvPr/>
        </p:nvSpPr>
        <p:spPr>
          <a:xfrm>
            <a:off x="6488477" y="6060659"/>
            <a:ext cx="5580244" cy="646331"/>
          </a:xfrm>
          <a:prstGeom prst="rect">
            <a:avLst/>
          </a:prstGeom>
          <a:ln>
            <a:solidFill>
              <a:srgbClr val="002060"/>
            </a:solidFill>
          </a:ln>
        </p:spPr>
        <p:txBody>
          <a:bodyPr wrap="square">
            <a:spAutoFit/>
          </a:bodyPr>
          <a:lstStyle/>
          <a:p>
            <a:r>
              <a:rPr lang="en-IN" dirty="0"/>
              <a:t>If we are using the '</a:t>
            </a:r>
            <a:r>
              <a:rPr lang="en-IN" b="1" dirty="0"/>
              <a:t>exclusion</a:t>
            </a:r>
            <a:r>
              <a:rPr lang="en-IN" dirty="0"/>
              <a:t>' constraints, we have to run the create extension</a:t>
            </a:r>
          </a:p>
        </p:txBody>
      </p:sp>
      <p:pic>
        <p:nvPicPr>
          <p:cNvPr id="20" name="Picture 19"/>
          <p:cNvPicPr>
            <a:picLocks noChangeAspect="1"/>
          </p:cNvPicPr>
          <p:nvPr/>
        </p:nvPicPr>
        <p:blipFill>
          <a:blip r:embed="rId5"/>
          <a:stretch>
            <a:fillRect/>
          </a:stretch>
        </p:blipFill>
        <p:spPr>
          <a:xfrm>
            <a:off x="224088" y="2576434"/>
            <a:ext cx="6190174" cy="4130555"/>
          </a:xfrm>
          <a:prstGeom prst="rect">
            <a:avLst/>
          </a:prstGeom>
          <a:ln w="25400">
            <a:solidFill>
              <a:srgbClr val="00B050"/>
            </a:solidFill>
          </a:ln>
        </p:spPr>
      </p:pic>
    </p:spTree>
    <p:extLst>
      <p:ext uri="{BB962C8B-B14F-4D97-AF65-F5344CB8AC3E}">
        <p14:creationId xmlns:p14="http://schemas.microsoft.com/office/powerpoint/2010/main" val="4176525900"/>
      </p:ext>
    </p:extLst>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DROPPING CONSTRAINTS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ectangle 3"/>
          <p:cNvSpPr/>
          <p:nvPr/>
        </p:nvSpPr>
        <p:spPr>
          <a:xfrm>
            <a:off x="156659" y="600076"/>
            <a:ext cx="11816862" cy="1477328"/>
          </a:xfrm>
          <a:prstGeom prst="rect">
            <a:avLst/>
          </a:prstGeom>
        </p:spPr>
        <p:txBody>
          <a:bodyPr wrap="square">
            <a:spAutoFit/>
          </a:bodyPr>
          <a:lstStyle/>
          <a:p>
            <a:pPr algn="just">
              <a:lnSpc>
                <a:spcPct val="150000"/>
              </a:lnSpc>
            </a:pPr>
            <a:r>
              <a:rPr lang="en-IN" sz="2000" b="1" dirty="0">
                <a:solidFill>
                  <a:srgbClr val="00B050"/>
                </a:solidFill>
              </a:rPr>
              <a:t>6) DROPPING Constraints:</a:t>
            </a:r>
            <a:r>
              <a:rPr lang="en-IN" sz="2000" dirty="0"/>
              <a:t> </a:t>
            </a:r>
            <a:r>
              <a:rPr lang="en-US" sz="2000" dirty="0"/>
              <a:t>If we want to delete a constraint, then we should remember the name of the constraints as it is easier for us to drop the constraints directly by its name. Otherwise, we will require to identify the system-generated name. The following command can be used to find out the names.</a:t>
            </a:r>
            <a:endParaRPr lang="en-IN" sz="2000" dirty="0"/>
          </a:p>
        </p:txBody>
      </p:sp>
      <p:sp>
        <p:nvSpPr>
          <p:cNvPr id="2" name="Rectangle 1"/>
          <p:cNvSpPr/>
          <p:nvPr/>
        </p:nvSpPr>
        <p:spPr>
          <a:xfrm>
            <a:off x="3209191" y="3277556"/>
            <a:ext cx="5214889" cy="400110"/>
          </a:xfrm>
          <a:prstGeom prst="rect">
            <a:avLst/>
          </a:prstGeom>
        </p:spPr>
        <p:txBody>
          <a:bodyPr wrap="none">
            <a:spAutoFit/>
          </a:bodyPr>
          <a:lstStyle/>
          <a:p>
            <a:r>
              <a:rPr lang="en-IN" sz="2000" dirty="0"/>
              <a:t>The syntax for dropping constraints is as follows:</a:t>
            </a:r>
          </a:p>
        </p:txBody>
      </p:sp>
      <p:pic>
        <p:nvPicPr>
          <p:cNvPr id="3" name="Picture 2"/>
          <p:cNvPicPr>
            <a:picLocks noChangeAspect="1"/>
          </p:cNvPicPr>
          <p:nvPr/>
        </p:nvPicPr>
        <p:blipFill>
          <a:blip r:embed="rId4"/>
          <a:stretch>
            <a:fillRect/>
          </a:stretch>
        </p:blipFill>
        <p:spPr>
          <a:xfrm>
            <a:off x="4812909" y="2393378"/>
            <a:ext cx="2188638" cy="568204"/>
          </a:xfrm>
          <a:prstGeom prst="rect">
            <a:avLst/>
          </a:prstGeom>
          <a:ln w="25400">
            <a:solidFill>
              <a:srgbClr val="FF0000"/>
            </a:solidFill>
          </a:ln>
        </p:spPr>
      </p:pic>
      <p:pic>
        <p:nvPicPr>
          <p:cNvPr id="5" name="Picture 4"/>
          <p:cNvPicPr>
            <a:picLocks noChangeAspect="1"/>
          </p:cNvPicPr>
          <p:nvPr/>
        </p:nvPicPr>
        <p:blipFill>
          <a:blip r:embed="rId5"/>
          <a:stretch>
            <a:fillRect/>
          </a:stretch>
        </p:blipFill>
        <p:spPr>
          <a:xfrm>
            <a:off x="2669909" y="4161734"/>
            <a:ext cx="6790362" cy="547334"/>
          </a:xfrm>
          <a:prstGeom prst="rect">
            <a:avLst/>
          </a:prstGeom>
          <a:ln w="25400">
            <a:solidFill>
              <a:srgbClr val="FF0000"/>
            </a:solidFill>
          </a:ln>
        </p:spPr>
      </p:pic>
    </p:spTree>
    <p:extLst>
      <p:ext uri="{BB962C8B-B14F-4D97-AF65-F5344CB8AC3E}">
        <p14:creationId xmlns:p14="http://schemas.microsoft.com/office/powerpoint/2010/main" val="3148840846"/>
      </p:ext>
    </p:extLst>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DML STATEMENTS</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6" name="Rectangle 5"/>
          <p:cNvSpPr/>
          <p:nvPr/>
        </p:nvSpPr>
        <p:spPr>
          <a:xfrm>
            <a:off x="309489" y="2415982"/>
            <a:ext cx="11422965" cy="2862322"/>
          </a:xfrm>
          <a:prstGeom prst="rect">
            <a:avLst/>
          </a:prstGeom>
        </p:spPr>
        <p:txBody>
          <a:bodyPr wrap="square">
            <a:spAutoFit/>
          </a:bodyPr>
          <a:lstStyle/>
          <a:p>
            <a:pPr algn="just">
              <a:lnSpc>
                <a:spcPct val="150000"/>
              </a:lnSpc>
            </a:pPr>
            <a:r>
              <a:rPr lang="en-US" sz="2000" b="1" dirty="0">
                <a:solidFill>
                  <a:srgbClr val="00B050"/>
                </a:solidFill>
              </a:rPr>
              <a:t>1) INSERT:</a:t>
            </a:r>
            <a:r>
              <a:rPr lang="en-US" sz="2000" dirty="0"/>
              <a:t> The INSERT command is used to insert new rows into a table. We can insert a single row or multiple row values at a time into the particular table.</a:t>
            </a:r>
          </a:p>
          <a:p>
            <a:pPr algn="just">
              <a:lnSpc>
                <a:spcPct val="150000"/>
              </a:lnSpc>
            </a:pPr>
            <a:r>
              <a:rPr lang="en-US" sz="2000" b="1" dirty="0">
                <a:solidFill>
                  <a:srgbClr val="E84845"/>
                </a:solidFill>
              </a:rPr>
              <a:t>Syntax:</a:t>
            </a:r>
            <a:endParaRPr lang="en-US" sz="2000" dirty="0">
              <a:solidFill>
                <a:srgbClr val="E84845"/>
              </a:solidFill>
            </a:endParaRPr>
          </a:p>
          <a:p>
            <a:pPr algn="just">
              <a:lnSpc>
                <a:spcPct val="150000"/>
              </a:lnSpc>
            </a:pPr>
            <a:r>
              <a:rPr lang="en-US" sz="2000" dirty="0"/>
              <a:t>        INSERT INTO TABLE_NAME (column1, column2, …… </a:t>
            </a:r>
            <a:r>
              <a:rPr lang="en-US" sz="2000" dirty="0" err="1"/>
              <a:t>columnN</a:t>
            </a:r>
            <a:r>
              <a:rPr lang="en-US" sz="2000" dirty="0"/>
              <a:t>) VALUES (value1, value2, ….. </a:t>
            </a:r>
            <a:r>
              <a:rPr lang="en-US" sz="2000" dirty="0" err="1"/>
              <a:t>valueN</a:t>
            </a:r>
            <a:r>
              <a:rPr lang="en-US" sz="2000" dirty="0"/>
              <a:t>);   </a:t>
            </a:r>
          </a:p>
          <a:p>
            <a:pPr algn="just">
              <a:lnSpc>
                <a:spcPct val="150000"/>
              </a:lnSpc>
            </a:pPr>
            <a:r>
              <a:rPr lang="en-US" sz="2000" b="1" dirty="0">
                <a:solidFill>
                  <a:srgbClr val="E84845"/>
                </a:solidFill>
              </a:rPr>
              <a:t>For example:</a:t>
            </a:r>
            <a:endParaRPr lang="en-US" sz="2000" dirty="0">
              <a:solidFill>
                <a:srgbClr val="E84845"/>
              </a:solidFill>
            </a:endParaRPr>
          </a:p>
          <a:p>
            <a:pPr algn="just">
              <a:lnSpc>
                <a:spcPct val="150000"/>
              </a:lnSpc>
            </a:pPr>
            <a:r>
              <a:rPr lang="en-US" sz="2000" dirty="0"/>
              <a:t>                        INSERT INTO </a:t>
            </a:r>
            <a:r>
              <a:rPr lang="en-US" sz="2000" dirty="0" err="1"/>
              <a:t>cseblog</a:t>
            </a:r>
            <a:r>
              <a:rPr lang="en-US" sz="2000" dirty="0"/>
              <a:t> (Author, Subject) VALUES (“</a:t>
            </a:r>
            <a:r>
              <a:rPr lang="en-US" sz="2000" dirty="0" err="1"/>
              <a:t>kbr</a:t>
            </a:r>
            <a:r>
              <a:rPr lang="en-US" sz="2000" dirty="0"/>
              <a:t>", "DBMS");  </a:t>
            </a:r>
            <a:endParaRPr lang="en-US" sz="2000" b="0" i="0" dirty="0">
              <a:effectLst/>
            </a:endParaRPr>
          </a:p>
        </p:txBody>
      </p:sp>
      <p:sp>
        <p:nvSpPr>
          <p:cNvPr id="2" name="Rectangle 1"/>
          <p:cNvSpPr/>
          <p:nvPr/>
        </p:nvSpPr>
        <p:spPr>
          <a:xfrm>
            <a:off x="309489" y="1042734"/>
            <a:ext cx="11591776" cy="967957"/>
          </a:xfrm>
          <a:prstGeom prst="rect">
            <a:avLst/>
          </a:prstGeom>
        </p:spPr>
        <p:txBody>
          <a:bodyPr wrap="square">
            <a:spAutoFit/>
          </a:bodyPr>
          <a:lstStyle/>
          <a:p>
            <a:pPr algn="just">
              <a:lnSpc>
                <a:spcPct val="150000"/>
              </a:lnSpc>
            </a:pPr>
            <a:r>
              <a:rPr lang="en-IN" sz="2000" dirty="0">
                <a:solidFill>
                  <a:srgbClr val="FF0000"/>
                </a:solidFill>
              </a:rPr>
              <a:t>DML stands for 'Data Manipulation Language'</a:t>
            </a:r>
            <a:r>
              <a:rPr lang="en-IN" sz="2000" dirty="0"/>
              <a:t> and is typically used to add, retrieve or update data. The commands used for DML in PostgreSQL are INSERT, UPDATE and DELETE.</a:t>
            </a:r>
          </a:p>
        </p:txBody>
      </p:sp>
    </p:spTree>
    <p:extLst>
      <p:ext uri="{BB962C8B-B14F-4D97-AF65-F5344CB8AC3E}">
        <p14:creationId xmlns:p14="http://schemas.microsoft.com/office/powerpoint/2010/main" val="1284733580"/>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DML STATEMENTS</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2" name="Rectangle 1"/>
          <p:cNvSpPr/>
          <p:nvPr/>
        </p:nvSpPr>
        <p:spPr>
          <a:xfrm>
            <a:off x="464234" y="843287"/>
            <a:ext cx="11268221" cy="5632311"/>
          </a:xfrm>
          <a:prstGeom prst="rect">
            <a:avLst/>
          </a:prstGeom>
        </p:spPr>
        <p:txBody>
          <a:bodyPr wrap="square">
            <a:spAutoFit/>
          </a:bodyPr>
          <a:lstStyle/>
          <a:p>
            <a:pPr algn="just">
              <a:lnSpc>
                <a:spcPct val="150000"/>
              </a:lnSpc>
            </a:pPr>
            <a:r>
              <a:rPr lang="en-US" sz="2000" b="1" dirty="0">
                <a:solidFill>
                  <a:srgbClr val="00B050"/>
                </a:solidFill>
              </a:rPr>
              <a:t>2) UPDATE:</a:t>
            </a:r>
            <a:r>
              <a:rPr lang="en-US" sz="2000" dirty="0">
                <a:solidFill>
                  <a:srgbClr val="333333"/>
                </a:solidFill>
              </a:rPr>
              <a:t> The UPDATE command is used to change the present records in a table. To update the selected rows, we have to use the WHERE clause; otherwise, all rows would be updated.</a:t>
            </a:r>
          </a:p>
          <a:p>
            <a:pPr algn="just">
              <a:lnSpc>
                <a:spcPct val="150000"/>
              </a:lnSpc>
            </a:pPr>
            <a:r>
              <a:rPr lang="en-US" sz="2000" b="1" dirty="0">
                <a:solidFill>
                  <a:srgbClr val="E84845"/>
                </a:solidFill>
              </a:rPr>
              <a:t>Syntax:</a:t>
            </a:r>
            <a:endParaRPr lang="en-US" sz="2000" dirty="0">
              <a:solidFill>
                <a:srgbClr val="E84845"/>
              </a:solidFill>
            </a:endParaRPr>
          </a:p>
          <a:p>
            <a:pPr algn="just">
              <a:lnSpc>
                <a:spcPct val="150000"/>
              </a:lnSpc>
            </a:pPr>
            <a:r>
              <a:rPr lang="en-US" sz="2000" dirty="0">
                <a:solidFill>
                  <a:srgbClr val="000000"/>
                </a:solidFill>
              </a:rPr>
              <a:t>     UPDATE </a:t>
            </a:r>
            <a:r>
              <a:rPr lang="en-US" sz="2000" dirty="0" err="1">
                <a:solidFill>
                  <a:srgbClr val="000000"/>
                </a:solidFill>
              </a:rPr>
              <a:t>table_name</a:t>
            </a:r>
            <a:r>
              <a:rPr lang="en-US" sz="2000" dirty="0">
                <a:solidFill>
                  <a:srgbClr val="000000"/>
                </a:solidFill>
              </a:rPr>
              <a:t> SET column1 = value1, column2 = value2...., </a:t>
            </a:r>
            <a:r>
              <a:rPr lang="en-US" sz="2000" dirty="0" err="1">
                <a:solidFill>
                  <a:srgbClr val="000000"/>
                </a:solidFill>
              </a:rPr>
              <a:t>columnN</a:t>
            </a:r>
            <a:r>
              <a:rPr lang="en-US" sz="2000" dirty="0">
                <a:solidFill>
                  <a:srgbClr val="000000"/>
                </a:solidFill>
              </a:rPr>
              <a:t> = </a:t>
            </a:r>
            <a:r>
              <a:rPr lang="en-US" sz="2000" dirty="0" err="1">
                <a:solidFill>
                  <a:srgbClr val="000000"/>
                </a:solidFill>
              </a:rPr>
              <a:t>valueN</a:t>
            </a:r>
            <a:r>
              <a:rPr lang="en-US" sz="2000" dirty="0">
                <a:solidFill>
                  <a:srgbClr val="000000"/>
                </a:solidFill>
              </a:rPr>
              <a:t> WHERE condition;   </a:t>
            </a:r>
          </a:p>
          <a:p>
            <a:pPr algn="just">
              <a:lnSpc>
                <a:spcPct val="150000"/>
              </a:lnSpc>
            </a:pPr>
            <a:r>
              <a:rPr lang="en-US" sz="2000" b="1" dirty="0">
                <a:solidFill>
                  <a:srgbClr val="00B050"/>
                </a:solidFill>
              </a:rPr>
              <a:t>For example:</a:t>
            </a:r>
            <a:endParaRPr lang="en-US" sz="2000" dirty="0">
              <a:solidFill>
                <a:srgbClr val="00B050"/>
              </a:solidFill>
            </a:endParaRPr>
          </a:p>
          <a:p>
            <a:pPr algn="just">
              <a:lnSpc>
                <a:spcPct val="150000"/>
              </a:lnSpc>
            </a:pPr>
            <a:r>
              <a:rPr lang="en-US" sz="2000" dirty="0">
                <a:solidFill>
                  <a:srgbClr val="000000"/>
                </a:solidFill>
              </a:rPr>
              <a:t>     UPDATE students SET </a:t>
            </a:r>
            <a:r>
              <a:rPr lang="en-US" sz="2000" dirty="0" err="1">
                <a:solidFill>
                  <a:srgbClr val="000000"/>
                </a:solidFill>
              </a:rPr>
              <a:t>User_Name</a:t>
            </a:r>
            <a:r>
              <a:rPr lang="en-US" sz="2000" dirty="0">
                <a:solidFill>
                  <a:srgbClr val="000000"/>
                </a:solidFill>
              </a:rPr>
              <a:t> = </a:t>
            </a:r>
            <a:r>
              <a:rPr lang="en-US" sz="2000" dirty="0">
                <a:solidFill>
                  <a:srgbClr val="0000FF"/>
                </a:solidFill>
              </a:rPr>
              <a:t>‘</a:t>
            </a:r>
            <a:r>
              <a:rPr lang="en-US" sz="2000" dirty="0" err="1">
                <a:solidFill>
                  <a:srgbClr val="0000FF"/>
                </a:solidFill>
              </a:rPr>
              <a:t>kbr</a:t>
            </a:r>
            <a:r>
              <a:rPr lang="en-US" sz="2000" dirty="0">
                <a:solidFill>
                  <a:srgbClr val="0000FF"/>
                </a:solidFill>
              </a:rPr>
              <a:t>‘ </a:t>
            </a:r>
            <a:r>
              <a:rPr lang="en-US" sz="2000" dirty="0">
                <a:solidFill>
                  <a:srgbClr val="000000"/>
                </a:solidFill>
              </a:rPr>
              <a:t>WHERE </a:t>
            </a:r>
            <a:r>
              <a:rPr lang="en-US" sz="2000" dirty="0" err="1">
                <a:solidFill>
                  <a:srgbClr val="000000"/>
                </a:solidFill>
              </a:rPr>
              <a:t>Student_Id</a:t>
            </a:r>
            <a:r>
              <a:rPr lang="en-US" sz="2000" dirty="0">
                <a:solidFill>
                  <a:srgbClr val="000000"/>
                </a:solidFill>
              </a:rPr>
              <a:t> = </a:t>
            </a:r>
            <a:r>
              <a:rPr lang="en-US" sz="2000" dirty="0">
                <a:solidFill>
                  <a:srgbClr val="0000FF"/>
                </a:solidFill>
              </a:rPr>
              <a:t>'3'</a:t>
            </a:r>
            <a:r>
              <a:rPr lang="en-US" sz="2000" dirty="0">
                <a:solidFill>
                  <a:srgbClr val="000000"/>
                </a:solidFill>
              </a:rPr>
              <a:t>  </a:t>
            </a:r>
          </a:p>
          <a:p>
            <a:pPr algn="just">
              <a:lnSpc>
                <a:spcPct val="150000"/>
              </a:lnSpc>
            </a:pPr>
            <a:r>
              <a:rPr lang="en-US" sz="2000" b="1" dirty="0">
                <a:solidFill>
                  <a:srgbClr val="00B050"/>
                </a:solidFill>
              </a:rPr>
              <a:t>3) DELETE:</a:t>
            </a:r>
            <a:r>
              <a:rPr lang="en-US" sz="2000" dirty="0">
                <a:solidFill>
                  <a:srgbClr val="333333"/>
                </a:solidFill>
              </a:rPr>
              <a:t> The DELETE command is used to delete all existing records from a table and the WHERE clause is used to remove the selected records or else, all the data would be eliminated.</a:t>
            </a:r>
          </a:p>
          <a:p>
            <a:pPr algn="just">
              <a:lnSpc>
                <a:spcPct val="150000"/>
              </a:lnSpc>
            </a:pPr>
            <a:r>
              <a:rPr lang="en-US" sz="2000" b="1" dirty="0">
                <a:solidFill>
                  <a:srgbClr val="E84845"/>
                </a:solidFill>
              </a:rPr>
              <a:t>Syntax:</a:t>
            </a:r>
            <a:endParaRPr lang="en-US" sz="2000" dirty="0">
              <a:solidFill>
                <a:srgbClr val="E84845"/>
              </a:solidFill>
            </a:endParaRPr>
          </a:p>
          <a:p>
            <a:pPr algn="just">
              <a:lnSpc>
                <a:spcPct val="150000"/>
              </a:lnSpc>
            </a:pPr>
            <a:r>
              <a:rPr lang="en-US" sz="2000" dirty="0">
                <a:solidFill>
                  <a:srgbClr val="333333"/>
                </a:solidFill>
              </a:rPr>
              <a:t>    DELETE FROM </a:t>
            </a:r>
            <a:r>
              <a:rPr lang="en-US" sz="2000" dirty="0" err="1">
                <a:solidFill>
                  <a:srgbClr val="333333"/>
                </a:solidFill>
              </a:rPr>
              <a:t>table_name</a:t>
            </a:r>
            <a:r>
              <a:rPr lang="en-US" sz="2000" dirty="0">
                <a:solidFill>
                  <a:srgbClr val="333333"/>
                </a:solidFill>
              </a:rPr>
              <a:t> WHERE [condition];</a:t>
            </a:r>
            <a:r>
              <a:rPr lang="en-US" sz="2000" dirty="0">
                <a:solidFill>
                  <a:srgbClr val="000000"/>
                </a:solidFill>
              </a:rPr>
              <a:t> </a:t>
            </a:r>
          </a:p>
          <a:p>
            <a:pPr algn="just">
              <a:lnSpc>
                <a:spcPct val="150000"/>
              </a:lnSpc>
            </a:pPr>
            <a:r>
              <a:rPr lang="en-US" sz="2000" b="1" dirty="0">
                <a:solidFill>
                  <a:srgbClr val="00B050"/>
                </a:solidFill>
              </a:rPr>
              <a:t>For example:</a:t>
            </a:r>
            <a:endParaRPr lang="en-US" sz="2000" dirty="0">
              <a:solidFill>
                <a:srgbClr val="00B050"/>
              </a:solidFill>
            </a:endParaRPr>
          </a:p>
          <a:p>
            <a:pPr algn="just">
              <a:lnSpc>
                <a:spcPct val="150000"/>
              </a:lnSpc>
            </a:pPr>
            <a:r>
              <a:rPr lang="en-US" sz="2000" dirty="0">
                <a:solidFill>
                  <a:srgbClr val="00B050"/>
                </a:solidFill>
              </a:rPr>
              <a:t>     </a:t>
            </a:r>
            <a:r>
              <a:rPr lang="en-US" sz="2000" dirty="0">
                <a:solidFill>
                  <a:srgbClr val="000000"/>
                </a:solidFill>
              </a:rPr>
              <a:t>DELETE FROM </a:t>
            </a:r>
            <a:r>
              <a:rPr lang="en-US" sz="2000" dirty="0" err="1">
                <a:solidFill>
                  <a:srgbClr val="000000"/>
                </a:solidFill>
              </a:rPr>
              <a:t>cseblog</a:t>
            </a:r>
            <a:r>
              <a:rPr lang="en-US" sz="2000" dirty="0">
                <a:solidFill>
                  <a:srgbClr val="000000"/>
                </a:solidFill>
              </a:rPr>
              <a:t> WHERE Author=</a:t>
            </a:r>
            <a:r>
              <a:rPr lang="en-US" sz="2000" dirty="0">
                <a:solidFill>
                  <a:srgbClr val="0000FF"/>
                </a:solidFill>
              </a:rPr>
              <a:t>“</a:t>
            </a:r>
            <a:r>
              <a:rPr lang="en-US" sz="2000" dirty="0" err="1">
                <a:solidFill>
                  <a:srgbClr val="0000FF"/>
                </a:solidFill>
              </a:rPr>
              <a:t>kbr</a:t>
            </a:r>
            <a:r>
              <a:rPr lang="en-US" sz="2000" dirty="0">
                <a:solidFill>
                  <a:srgbClr val="0000FF"/>
                </a:solidFill>
              </a:rPr>
              <a:t>"</a:t>
            </a:r>
            <a:r>
              <a:rPr lang="en-US" sz="2000" dirty="0">
                <a:solidFill>
                  <a:srgbClr val="000000"/>
                </a:solidFill>
              </a:rPr>
              <a:t>;  </a:t>
            </a:r>
            <a:endParaRPr lang="en-US" sz="2000" b="0" i="0" dirty="0">
              <a:solidFill>
                <a:srgbClr val="000000"/>
              </a:solidFill>
              <a:effectLst/>
            </a:endParaRPr>
          </a:p>
        </p:txBody>
      </p:sp>
    </p:spTree>
    <p:extLst>
      <p:ext uri="{BB962C8B-B14F-4D97-AF65-F5344CB8AC3E}">
        <p14:creationId xmlns:p14="http://schemas.microsoft.com/office/powerpoint/2010/main" val="3865984089"/>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49205" y="204495"/>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04800" y="1289708"/>
            <a:ext cx="11492248" cy="2308324"/>
          </a:xfrm>
          <a:prstGeom prst="rect">
            <a:avLst/>
          </a:prstGeom>
        </p:spPr>
        <p:txBody>
          <a:bodyPr wrap="square">
            <a:spAutoFit/>
          </a:bodyPr>
          <a:lstStyle/>
          <a:p>
            <a:pPr marL="457200" indent="-457200" algn="just">
              <a:buFont typeface="+mj-lt"/>
              <a:buAutoNum type="arabicParenR"/>
            </a:pPr>
            <a:r>
              <a:rPr lang="en-IN" sz="2400" dirty="0"/>
              <a:t>Create a table an employee and execute DML operations such as insert, delete and update</a:t>
            </a:r>
          </a:p>
          <a:p>
            <a:pPr marL="457200" indent="-457200" algn="just">
              <a:buFont typeface="+mj-lt"/>
              <a:buAutoNum type="arabicParenR"/>
            </a:pPr>
            <a:endParaRPr lang="en-IN" sz="2400" dirty="0"/>
          </a:p>
          <a:p>
            <a:pPr marL="457200" indent="-457200" algn="just">
              <a:buFont typeface="+mj-lt"/>
              <a:buAutoNum type="arabicParenR"/>
            </a:pPr>
            <a:r>
              <a:rPr lang="en-IN" sz="2400" dirty="0"/>
              <a:t>Create a table student and apply the constraints at column level and table level. Use constraints such as not null, unique, primary key, foreign key, check, default and create index.</a:t>
            </a:r>
          </a:p>
        </p:txBody>
      </p:sp>
    </p:spTree>
    <p:extLst>
      <p:ext uri="{BB962C8B-B14F-4D97-AF65-F5344CB8AC3E}">
        <p14:creationId xmlns:p14="http://schemas.microsoft.com/office/powerpoint/2010/main" val="1300146341"/>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437882" y="654089"/>
            <a:ext cx="11539470" cy="5909310"/>
          </a:xfrm>
          <a:prstGeom prst="rect">
            <a:avLst/>
          </a:prstGeom>
        </p:spPr>
        <p:txBody>
          <a:bodyPr wrap="square">
            <a:spAutoFit/>
          </a:bodyPr>
          <a:lstStyle/>
          <a:p>
            <a:r>
              <a:rPr lang="en-IN" b="1" dirty="0">
                <a:solidFill>
                  <a:srgbClr val="FF0000"/>
                </a:solidFill>
              </a:rPr>
              <a:t>1. NOT NULL Constraint: </a:t>
            </a:r>
            <a:r>
              <a:rPr lang="en-IN" dirty="0"/>
              <a:t>The NOT NULL constraint in a column means that the column cannot store NULL values. For example,</a:t>
            </a:r>
          </a:p>
          <a:p>
            <a:endParaRPr lang="en-IN" dirty="0"/>
          </a:p>
          <a:p>
            <a:pPr lvl="8"/>
            <a:r>
              <a:rPr lang="en-IN" dirty="0"/>
              <a:t>CREATE TABLE Colleges (</a:t>
            </a:r>
          </a:p>
          <a:p>
            <a:pPr lvl="8"/>
            <a:r>
              <a:rPr lang="en-IN" dirty="0"/>
              <a:t>  </a:t>
            </a:r>
            <a:r>
              <a:rPr lang="en-IN" dirty="0" err="1"/>
              <a:t>college_id</a:t>
            </a:r>
            <a:r>
              <a:rPr lang="en-IN" dirty="0"/>
              <a:t> INT NOT NULL,</a:t>
            </a:r>
          </a:p>
          <a:p>
            <a:pPr lvl="8"/>
            <a:r>
              <a:rPr lang="en-IN" dirty="0"/>
              <a:t>  </a:t>
            </a:r>
            <a:r>
              <a:rPr lang="en-IN" dirty="0" err="1"/>
              <a:t>college_code</a:t>
            </a:r>
            <a:r>
              <a:rPr lang="en-IN" dirty="0"/>
              <a:t> VARCHAR(20) NOT NULL,</a:t>
            </a:r>
          </a:p>
          <a:p>
            <a:pPr lvl="8"/>
            <a:r>
              <a:rPr lang="en-IN" dirty="0"/>
              <a:t>  </a:t>
            </a:r>
            <a:r>
              <a:rPr lang="en-IN" dirty="0" err="1"/>
              <a:t>college_name</a:t>
            </a:r>
            <a:r>
              <a:rPr lang="en-IN" dirty="0"/>
              <a:t> VARCHAR(50)</a:t>
            </a:r>
          </a:p>
          <a:p>
            <a:pPr lvl="8"/>
            <a:r>
              <a:rPr lang="en-IN" dirty="0"/>
              <a:t>);</a:t>
            </a:r>
          </a:p>
          <a:p>
            <a:endParaRPr lang="en-IN" dirty="0"/>
          </a:p>
          <a:p>
            <a:r>
              <a:rPr lang="en-IN" dirty="0"/>
              <a:t>	Here, the </a:t>
            </a:r>
            <a:r>
              <a:rPr lang="en-IN" dirty="0" err="1"/>
              <a:t>college_id</a:t>
            </a:r>
            <a:r>
              <a:rPr lang="en-IN" dirty="0"/>
              <a:t> and the </a:t>
            </a:r>
            <a:r>
              <a:rPr lang="en-IN" dirty="0" err="1"/>
              <a:t>college_code</a:t>
            </a:r>
            <a:r>
              <a:rPr lang="en-IN" dirty="0"/>
              <a:t> columns of the Colleges table won't allow NULL values.</a:t>
            </a:r>
          </a:p>
          <a:p>
            <a:endParaRPr lang="en-IN" dirty="0"/>
          </a:p>
          <a:p>
            <a:r>
              <a:rPr lang="en-IN" b="1" dirty="0">
                <a:solidFill>
                  <a:srgbClr val="FF0000"/>
                </a:solidFill>
              </a:rPr>
              <a:t>2. UNIQUE Constraint: </a:t>
            </a:r>
            <a:r>
              <a:rPr lang="en-IN" dirty="0"/>
              <a:t>The UNIQUE constraint in a column means that the column must have unique value. For example,</a:t>
            </a:r>
          </a:p>
          <a:p>
            <a:endParaRPr lang="en-IN" dirty="0"/>
          </a:p>
          <a:p>
            <a:pPr lvl="8"/>
            <a:r>
              <a:rPr lang="en-IN" dirty="0"/>
              <a:t>CREATE TABLE Colleges (</a:t>
            </a:r>
          </a:p>
          <a:p>
            <a:pPr lvl="8"/>
            <a:r>
              <a:rPr lang="en-IN" dirty="0"/>
              <a:t>  </a:t>
            </a:r>
            <a:r>
              <a:rPr lang="en-IN" dirty="0" err="1"/>
              <a:t>college_id</a:t>
            </a:r>
            <a:r>
              <a:rPr lang="en-IN" dirty="0"/>
              <a:t> INT NOT NULL UNIQUE,</a:t>
            </a:r>
          </a:p>
          <a:p>
            <a:pPr lvl="8"/>
            <a:r>
              <a:rPr lang="en-IN" dirty="0"/>
              <a:t>  </a:t>
            </a:r>
            <a:r>
              <a:rPr lang="en-IN" dirty="0" err="1"/>
              <a:t>college_code</a:t>
            </a:r>
            <a:r>
              <a:rPr lang="en-IN" dirty="0"/>
              <a:t> VARCHAR(20) UNIQUE,</a:t>
            </a:r>
          </a:p>
          <a:p>
            <a:pPr lvl="8"/>
            <a:r>
              <a:rPr lang="en-IN" dirty="0"/>
              <a:t>  </a:t>
            </a:r>
            <a:r>
              <a:rPr lang="en-IN" dirty="0" err="1"/>
              <a:t>college_name</a:t>
            </a:r>
            <a:r>
              <a:rPr lang="en-IN" dirty="0"/>
              <a:t> VARCHAR(50)</a:t>
            </a:r>
          </a:p>
          <a:p>
            <a:pPr lvl="8"/>
            <a:r>
              <a:rPr lang="en-IN" dirty="0"/>
              <a:t>);</a:t>
            </a:r>
          </a:p>
          <a:p>
            <a:endParaRPr lang="en-IN" dirty="0"/>
          </a:p>
          <a:p>
            <a:r>
              <a:rPr lang="en-IN" dirty="0"/>
              <a:t>	Here, the value of the </a:t>
            </a:r>
            <a:r>
              <a:rPr lang="en-IN" dirty="0" err="1"/>
              <a:t>college_code</a:t>
            </a:r>
            <a:r>
              <a:rPr lang="en-IN" dirty="0"/>
              <a:t> column must be unique. Similarly, the value of </a:t>
            </a:r>
            <a:r>
              <a:rPr lang="en-IN" dirty="0" err="1"/>
              <a:t>college_id</a:t>
            </a:r>
            <a:r>
              <a:rPr lang="en-IN" dirty="0"/>
              <a:t> must be unique as well as it cannot store NULL values.</a:t>
            </a:r>
          </a:p>
        </p:txBody>
      </p:sp>
    </p:spTree>
    <p:extLst>
      <p:ext uri="{BB962C8B-B14F-4D97-AF65-F5344CB8AC3E}">
        <p14:creationId xmlns:p14="http://schemas.microsoft.com/office/powerpoint/2010/main" val="126962933"/>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218940" y="1063812"/>
            <a:ext cx="11668259" cy="4893647"/>
          </a:xfrm>
          <a:prstGeom prst="rect">
            <a:avLst/>
          </a:prstGeom>
        </p:spPr>
        <p:txBody>
          <a:bodyPr wrap="square">
            <a:spAutoFit/>
          </a:bodyPr>
          <a:lstStyle/>
          <a:p>
            <a:pPr marL="342900" indent="-342900" algn="just">
              <a:buFont typeface="Wingdings" panose="05000000000000000000" pitchFamily="2" charset="2"/>
              <a:buChar char="v"/>
            </a:pPr>
            <a:r>
              <a:rPr lang="en-IN" sz="2400" dirty="0"/>
              <a:t>A data type, in programming, is a classification that specifies which type of value a variable has and what type of mathematical, relational or logical operations can be applied to it without causing an error.</a:t>
            </a:r>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IN" sz="2400" dirty="0"/>
              <a:t>SQL constraints are used to specify rules for the data in a table. Constraints are used to limit the type of data that can go into a table. This ensures the accuracy and reliability of the data in the table. If there is any violation between the constraint and the data action, the action is aborted.</a:t>
            </a:r>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IN" sz="2400" dirty="0"/>
              <a:t>DML statements allow you to query, edit, add, and remove data stored in database objects. The primary DML commands are SELECT , INSERT , DELETE , and UPDATE . Using DML statements, you can perform powerful actions on the actual data stored in your system.</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In the database table, data types describe the kind of ___ that it can contain.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Table</a:t>
            </a:r>
          </a:p>
          <a:p>
            <a:pPr marL="342900" indent="-342900">
              <a:lnSpc>
                <a:spcPct val="150000"/>
              </a:lnSpc>
              <a:buAutoNum type="alphaLcParenBoth"/>
            </a:pPr>
            <a:r>
              <a:rPr lang="en-US" sz="1600" dirty="0">
                <a:latin typeface="Arial" panose="020B0604020202020204" pitchFamily="34" charset="0"/>
              </a:rPr>
              <a:t>Data</a:t>
            </a:r>
          </a:p>
          <a:p>
            <a:pPr marL="342900" indent="-342900">
              <a:lnSpc>
                <a:spcPct val="150000"/>
              </a:lnSpc>
              <a:buAutoNum type="alphaLcParenBoth"/>
            </a:pPr>
            <a:r>
              <a:rPr lang="en-US" sz="1600" dirty="0">
                <a:latin typeface="Arial" panose="020B0604020202020204" pitchFamily="34" charset="0"/>
              </a:rPr>
              <a:t>Number</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In the database table, data types describe the kind of ___ that it can contain.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Table</a:t>
            </a:r>
          </a:p>
          <a:p>
            <a:pPr marL="342900" indent="-342900">
              <a:lnSpc>
                <a:spcPct val="150000"/>
              </a:lnSpc>
              <a:buAutoNum type="alphaLcParenBoth"/>
            </a:pPr>
            <a:r>
              <a:rPr lang="en-US" sz="1600" dirty="0">
                <a:latin typeface="Arial" panose="020B0604020202020204" pitchFamily="34" charset="0"/>
              </a:rPr>
              <a:t>Data</a:t>
            </a:r>
          </a:p>
          <a:p>
            <a:pPr marL="342900" indent="-342900">
              <a:lnSpc>
                <a:spcPct val="150000"/>
              </a:lnSpc>
              <a:buAutoNum type="alphaLcParenBoth"/>
            </a:pPr>
            <a:r>
              <a:rPr lang="en-US" sz="1600" dirty="0">
                <a:latin typeface="Arial" panose="020B0604020202020204" pitchFamily="34" charset="0"/>
              </a:rPr>
              <a:t>Number</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540611" y="2524019"/>
            <a:ext cx="1725857" cy="369332"/>
          </a:xfrm>
          <a:prstGeom prst="rect">
            <a:avLst/>
          </a:prstGeom>
        </p:spPr>
        <p:txBody>
          <a:bodyPr wrap="none">
            <a:spAutoFit/>
          </a:bodyPr>
          <a:lstStyle/>
          <a:p>
            <a:r>
              <a:rPr lang="en-IN" b="1" dirty="0">
                <a:solidFill>
                  <a:srgbClr val="FF0000"/>
                </a:solidFill>
              </a:rPr>
              <a:t>Answer: B) Data</a:t>
            </a:r>
          </a:p>
        </p:txBody>
      </p:sp>
    </p:spTree>
    <p:extLst>
      <p:ext uri="{BB962C8B-B14F-4D97-AF65-F5344CB8AC3E}">
        <p14:creationId xmlns:p14="http://schemas.microsoft.com/office/powerpoint/2010/main" val="3083504352"/>
      </p:ext>
    </p:extLst>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In the database table, data types describe the kind of ___ that it can contain.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Table</a:t>
            </a:r>
          </a:p>
          <a:p>
            <a:pPr marL="342900" indent="-342900">
              <a:lnSpc>
                <a:spcPct val="150000"/>
              </a:lnSpc>
              <a:buAutoNum type="alphaLcParenBoth"/>
            </a:pPr>
            <a:r>
              <a:rPr lang="en-US" sz="1600" dirty="0">
                <a:latin typeface="Arial" panose="020B0604020202020204" pitchFamily="34" charset="0"/>
              </a:rPr>
              <a:t>Data</a:t>
            </a:r>
          </a:p>
          <a:p>
            <a:pPr marL="342900" indent="-342900">
              <a:lnSpc>
                <a:spcPct val="150000"/>
              </a:lnSpc>
              <a:buAutoNum type="alphaLcParenBoth"/>
            </a:pPr>
            <a:r>
              <a:rPr lang="en-US" sz="1600" dirty="0">
                <a:latin typeface="Arial" panose="020B0604020202020204" pitchFamily="34" charset="0"/>
              </a:rPr>
              <a:t>Number</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How many categories of PostgreSQL data types?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18</a:t>
            </a:r>
          </a:p>
          <a:p>
            <a:pPr marL="342900" indent="-342900">
              <a:lnSpc>
                <a:spcPct val="150000"/>
              </a:lnSpc>
              <a:buAutoNum type="alphaLcParenBoth"/>
            </a:pPr>
            <a:r>
              <a:rPr lang="en-US" dirty="0"/>
              <a:t>17</a:t>
            </a:r>
          </a:p>
          <a:p>
            <a:pPr marL="342900" indent="-342900">
              <a:lnSpc>
                <a:spcPct val="150000"/>
              </a:lnSpc>
              <a:buAutoNum type="alphaLcParenBoth"/>
            </a:pPr>
            <a:r>
              <a:rPr lang="en-US" dirty="0"/>
              <a:t>20</a:t>
            </a:r>
          </a:p>
          <a:p>
            <a:pPr marL="342900" indent="-342900">
              <a:lnSpc>
                <a:spcPct val="150000"/>
              </a:lnSpc>
              <a:buAutoNum type="alphaLcParenBoth"/>
            </a:pPr>
            <a:r>
              <a:rPr lang="en-US" sz="1600" dirty="0"/>
              <a:t>25</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540611" y="2524019"/>
            <a:ext cx="1725857" cy="369332"/>
          </a:xfrm>
          <a:prstGeom prst="rect">
            <a:avLst/>
          </a:prstGeom>
        </p:spPr>
        <p:txBody>
          <a:bodyPr wrap="none">
            <a:spAutoFit/>
          </a:bodyPr>
          <a:lstStyle/>
          <a:p>
            <a:r>
              <a:rPr lang="en-IN" b="1" dirty="0">
                <a:solidFill>
                  <a:srgbClr val="FF0000"/>
                </a:solidFill>
              </a:rPr>
              <a:t>Answer: B) Data</a:t>
            </a:r>
          </a:p>
        </p:txBody>
      </p:sp>
    </p:spTree>
    <p:extLst>
      <p:ext uri="{BB962C8B-B14F-4D97-AF65-F5344CB8AC3E}">
        <p14:creationId xmlns:p14="http://schemas.microsoft.com/office/powerpoint/2010/main" val="2540771003"/>
      </p:ext>
    </p:extLst>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1. In the database table, data types describe the kind of ___ that it can contain.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Table</a:t>
            </a:r>
          </a:p>
          <a:p>
            <a:pPr marL="342900" indent="-342900">
              <a:lnSpc>
                <a:spcPct val="150000"/>
              </a:lnSpc>
              <a:buAutoNum type="alphaLcParenBoth"/>
            </a:pPr>
            <a:r>
              <a:rPr lang="en-US" sz="1600" dirty="0">
                <a:latin typeface="Arial" panose="020B0604020202020204" pitchFamily="34" charset="0"/>
              </a:rPr>
              <a:t>Data</a:t>
            </a:r>
          </a:p>
          <a:p>
            <a:pPr marL="342900" indent="-342900">
              <a:lnSpc>
                <a:spcPct val="150000"/>
              </a:lnSpc>
              <a:buAutoNum type="alphaLcParenBoth"/>
            </a:pPr>
            <a:r>
              <a:rPr lang="en-US" sz="1600" dirty="0">
                <a:latin typeface="Arial" panose="020B0604020202020204" pitchFamily="34" charset="0"/>
              </a:rPr>
              <a:t>Number</a:t>
            </a:r>
          </a:p>
          <a:p>
            <a:pPr marL="342900" indent="-342900">
              <a:lnSpc>
                <a:spcPct val="150000"/>
              </a:lnSpc>
              <a:buAutoNum type="alphaLcParenBoth"/>
            </a:pPr>
            <a:r>
              <a:rPr lang="en-US" sz="1600" dirty="0">
                <a:latin typeface="Arial" panose="020B0604020202020204" pitchFamily="34" charset="0"/>
              </a:rPr>
              <a:t>None of the above</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6540611" y="2524019"/>
            <a:ext cx="1725857" cy="369332"/>
          </a:xfrm>
          <a:prstGeom prst="rect">
            <a:avLst/>
          </a:prstGeom>
        </p:spPr>
        <p:txBody>
          <a:bodyPr wrap="none">
            <a:spAutoFit/>
          </a:bodyPr>
          <a:lstStyle/>
          <a:p>
            <a:r>
              <a:rPr lang="en-IN" b="1" dirty="0">
                <a:solidFill>
                  <a:srgbClr val="FF0000"/>
                </a:solidFill>
              </a:rPr>
              <a:t>Answer: B) Data</a:t>
            </a:r>
          </a:p>
        </p:txBody>
      </p:sp>
      <p:sp>
        <p:nvSpPr>
          <p:cNvPr id="3" name="Rectangle 2"/>
          <p:cNvSpPr/>
          <p:nvPr/>
        </p:nvSpPr>
        <p:spPr>
          <a:xfrm>
            <a:off x="6540611" y="5272913"/>
            <a:ext cx="1502591" cy="369332"/>
          </a:xfrm>
          <a:prstGeom prst="rect">
            <a:avLst/>
          </a:prstGeom>
        </p:spPr>
        <p:txBody>
          <a:bodyPr wrap="none">
            <a:spAutoFit/>
          </a:bodyPr>
          <a:lstStyle/>
          <a:p>
            <a:r>
              <a:rPr lang="en-IN" b="1" dirty="0">
                <a:solidFill>
                  <a:srgbClr val="FF0000"/>
                </a:solidFill>
              </a:rPr>
              <a:t>Answer: C) 20</a:t>
            </a:r>
          </a:p>
        </p:txBody>
      </p:sp>
      <p:sp>
        <p:nvSpPr>
          <p:cNvPr id="10"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How many categories of PostgreSQL data types?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2" name="Rounded Rectangle 17">
            <a:extLst>
              <a:ext uri="{FF2B5EF4-FFF2-40B4-BE49-F238E27FC236}">
                <a16:creationId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18</a:t>
            </a:r>
          </a:p>
          <a:p>
            <a:pPr marL="342900" indent="-342900">
              <a:lnSpc>
                <a:spcPct val="150000"/>
              </a:lnSpc>
              <a:buAutoNum type="alphaLcParenBoth"/>
            </a:pPr>
            <a:r>
              <a:rPr lang="en-US" dirty="0"/>
              <a:t>17</a:t>
            </a:r>
          </a:p>
          <a:p>
            <a:pPr marL="342900" indent="-342900">
              <a:lnSpc>
                <a:spcPct val="150000"/>
              </a:lnSpc>
              <a:buAutoNum type="alphaLcParenBoth"/>
            </a:pPr>
            <a:r>
              <a:rPr lang="en-US" dirty="0"/>
              <a:t>20</a:t>
            </a:r>
          </a:p>
          <a:p>
            <a:pPr marL="342900" indent="-342900">
              <a:lnSpc>
                <a:spcPct val="150000"/>
              </a:lnSpc>
              <a:buAutoNum type="alphaLcParenBoth"/>
            </a:pPr>
            <a:r>
              <a:rPr lang="en-US" sz="1600" dirty="0"/>
              <a:t>25</a:t>
            </a:r>
          </a:p>
        </p:txBody>
      </p:sp>
    </p:spTree>
    <p:extLst>
      <p:ext uri="{BB962C8B-B14F-4D97-AF65-F5344CB8AC3E}">
        <p14:creationId xmlns:p14="http://schemas.microsoft.com/office/powerpoint/2010/main" val="296975685"/>
      </p:ext>
    </p:extLst>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1938992"/>
          </a:xfrm>
          <a:prstGeom prst="rect">
            <a:avLst/>
          </a:prstGeom>
          <a:noFill/>
        </p:spPr>
        <p:txBody>
          <a:bodyPr wrap="square" rtlCol="0">
            <a:spAutoFit/>
          </a:bodyPr>
          <a:lstStyle/>
          <a:p>
            <a:pPr>
              <a:lnSpc>
                <a:spcPct val="200000"/>
              </a:lnSpc>
            </a:pPr>
            <a:r>
              <a:rPr lang="en-US" sz="2000" b="1" dirty="0"/>
              <a:t>1. Describe basic datatypes in </a:t>
            </a:r>
            <a:r>
              <a:rPr lang="en-US" sz="2000" b="1" dirty="0" err="1"/>
              <a:t>PostgresQL</a:t>
            </a:r>
            <a:r>
              <a:rPr lang="en-US" sz="2000" b="1" dirty="0"/>
              <a:t>.</a:t>
            </a:r>
          </a:p>
          <a:p>
            <a:pPr>
              <a:lnSpc>
                <a:spcPct val="200000"/>
              </a:lnSpc>
            </a:pPr>
            <a:r>
              <a:rPr lang="en-US" sz="2000" b="1" dirty="0"/>
              <a:t>2. List out DML commands in </a:t>
            </a:r>
            <a:r>
              <a:rPr lang="en-US" sz="2000" b="1" dirty="0" err="1"/>
              <a:t>PostgreQL</a:t>
            </a:r>
            <a:r>
              <a:rPr lang="en-US" sz="2000" b="1" dirty="0"/>
              <a:t>.</a:t>
            </a:r>
          </a:p>
          <a:p>
            <a:pPr marL="342900" indent="-342900">
              <a:lnSpc>
                <a:spcPct val="200000"/>
              </a:lnSpc>
            </a:pPr>
            <a:r>
              <a:rPr lang="en-US" sz="2000" b="1" dirty="0"/>
              <a:t>3. Analyze constraints with suitable examples.</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534571" y="844061"/>
            <a:ext cx="11422967" cy="5170646"/>
          </a:xfrm>
          <a:prstGeom prst="rect">
            <a:avLst/>
          </a:prstGeom>
          <a:noFill/>
        </p:spPr>
        <p:txBody>
          <a:bodyPr wrap="square" rtlCol="0">
            <a:spAutoFit/>
          </a:bodyPr>
          <a:lstStyle/>
          <a:p>
            <a:pPr>
              <a:lnSpc>
                <a:spcPct val="150000"/>
              </a:lnSpc>
            </a:pPr>
            <a:r>
              <a:rPr lang="en-US" sz="2000" b="1" dirty="0"/>
              <a:t>Reference Books:</a:t>
            </a:r>
            <a:endParaRPr lang="en-US" sz="2000" dirty="0"/>
          </a:p>
          <a:p>
            <a:pPr>
              <a:lnSpc>
                <a:spcPct val="150000"/>
              </a:lnSpc>
            </a:pPr>
            <a:r>
              <a:rPr lang="en-US" sz="2000" dirty="0"/>
              <a:t>1. </a:t>
            </a:r>
            <a:r>
              <a:rPr lang="en-IN" sz="2000" kern="0" dirty="0">
                <a:solidFill>
                  <a:prstClr val="black"/>
                </a:solidFill>
                <a:ea typeface="Times New Roman" panose="02020603050405020304" pitchFamily="18" charset="0"/>
                <a:cs typeface="Times New Roman" panose="02020603050405020304" pitchFamily="18" charset="0"/>
              </a:rPr>
              <a:t>Database System Concepts, Sixth Edition, Abraham </a:t>
            </a:r>
            <a:r>
              <a:rPr lang="en-IN" sz="2000" kern="0" dirty="0" err="1">
                <a:solidFill>
                  <a:prstClr val="black"/>
                </a:solidFill>
                <a:ea typeface="Times New Roman" panose="02020603050405020304" pitchFamily="18" charset="0"/>
                <a:cs typeface="Times New Roman" panose="02020603050405020304" pitchFamily="18" charset="0"/>
              </a:rPr>
              <a:t>Silberschatz</a:t>
            </a:r>
            <a:r>
              <a:rPr lang="en-IN" sz="2000" kern="0" dirty="0">
                <a:solidFill>
                  <a:prstClr val="black"/>
                </a:solidFill>
                <a:ea typeface="Times New Roman" panose="02020603050405020304" pitchFamily="18" charset="0"/>
                <a:cs typeface="Times New Roman" panose="02020603050405020304" pitchFamily="18" charset="0"/>
              </a:rPr>
              <a:t>, Yale University Henry, F. </a:t>
            </a:r>
            <a:r>
              <a:rPr lang="en-IN" sz="2000" kern="0" dirty="0" err="1">
                <a:solidFill>
                  <a:prstClr val="black"/>
                </a:solidFill>
                <a:ea typeface="Times New Roman" panose="02020603050405020304" pitchFamily="18" charset="0"/>
                <a:cs typeface="Times New Roman" panose="02020603050405020304" pitchFamily="18" charset="0"/>
              </a:rPr>
              <a:t>Korth</a:t>
            </a:r>
            <a:r>
              <a:rPr lang="en-IN" sz="2000" kern="0" dirty="0">
                <a:solidFill>
                  <a:prstClr val="black"/>
                </a:solidFill>
                <a:ea typeface="Times New Roman" panose="02020603050405020304" pitchFamily="18" charset="0"/>
                <a:cs typeface="Times New Roman" panose="02020603050405020304" pitchFamily="18" charset="0"/>
              </a:rPr>
              <a:t> Lehigh University, S. </a:t>
            </a:r>
            <a:r>
              <a:rPr lang="en-IN" sz="2000" kern="0" dirty="0" err="1">
                <a:solidFill>
                  <a:prstClr val="black"/>
                </a:solidFill>
                <a:ea typeface="Times New Roman" panose="02020603050405020304" pitchFamily="18" charset="0"/>
                <a:cs typeface="Times New Roman" panose="02020603050405020304" pitchFamily="18" charset="0"/>
              </a:rPr>
              <a:t>Sudarshan</a:t>
            </a:r>
            <a:r>
              <a:rPr lang="en-IN" sz="2000" kern="0" dirty="0">
                <a:solidFill>
                  <a:prstClr val="black"/>
                </a:solidFill>
                <a:ea typeface="Times New Roman" panose="02020603050405020304" pitchFamily="18" charset="0"/>
                <a:cs typeface="Times New Roman" panose="02020603050405020304" pitchFamily="18" charset="0"/>
              </a:rPr>
              <a:t> Indian Institute of Technology, Bombay. </a:t>
            </a:r>
            <a:endParaRPr lang="en-US" sz="2000" dirty="0"/>
          </a:p>
          <a:p>
            <a:pPr>
              <a:lnSpc>
                <a:spcPct val="150000"/>
              </a:lnSpc>
            </a:pPr>
            <a:r>
              <a:rPr lang="en-US" sz="2000" dirty="0"/>
              <a:t>2. Fundamentals of Database Systems, 7</a:t>
            </a:r>
            <a:r>
              <a:rPr lang="en-US" sz="2000" baseline="30000" dirty="0"/>
              <a:t>th</a:t>
            </a:r>
            <a:r>
              <a:rPr lang="en-US" sz="2000" dirty="0"/>
              <a:t> Edition, </a:t>
            </a:r>
            <a:r>
              <a:rPr lang="en-US" sz="2000" dirty="0" err="1"/>
              <a:t>RamezElmasri</a:t>
            </a:r>
            <a:r>
              <a:rPr lang="en-US" sz="2000" dirty="0"/>
              <a:t>, University of Texas at Arlington, </a:t>
            </a:r>
            <a:r>
              <a:rPr lang="en-US" sz="2000" dirty="0" err="1"/>
              <a:t>Shamkant</a:t>
            </a:r>
            <a:r>
              <a:rPr lang="en-US" sz="2000" dirty="0"/>
              <a:t> B. </a:t>
            </a:r>
            <a:r>
              <a:rPr lang="en-US" sz="2000" dirty="0" err="1"/>
              <a:t>Navathe</a:t>
            </a:r>
            <a:r>
              <a:rPr lang="en-US" sz="2000" dirty="0"/>
              <a:t>, University of </a:t>
            </a:r>
            <a:r>
              <a:rPr lang="en-US" sz="2000" dirty="0" err="1"/>
              <a:t>Texasat</a:t>
            </a:r>
            <a:r>
              <a:rPr lang="en-US" sz="2000" dirty="0"/>
              <a:t> Arlington.</a:t>
            </a:r>
          </a:p>
          <a:p>
            <a:pPr>
              <a:lnSpc>
                <a:spcPct val="150000"/>
              </a:lnSpc>
            </a:pPr>
            <a:r>
              <a:rPr lang="en-US" sz="2000" dirty="0"/>
              <a:t>3. An Introduction to Database Systems by </a:t>
            </a:r>
            <a:r>
              <a:rPr lang="en-US" sz="2000" dirty="0" err="1"/>
              <a:t>Bipin</a:t>
            </a:r>
            <a:r>
              <a:rPr lang="en-US" sz="2000" dirty="0"/>
              <a:t> C. Desai</a:t>
            </a:r>
          </a:p>
          <a:p>
            <a:pPr>
              <a:lnSpc>
                <a:spcPct val="150000"/>
              </a:lnSpc>
            </a:pPr>
            <a:endParaRPr lang="en-US" sz="2000" dirty="0"/>
          </a:p>
          <a:p>
            <a:pPr>
              <a:lnSpc>
                <a:spcPct val="150000"/>
              </a:lnSpc>
            </a:pPr>
            <a:r>
              <a:rPr lang="en-US" sz="2000" b="1" dirty="0"/>
              <a:t>Sites and Web links:</a:t>
            </a:r>
          </a:p>
          <a:p>
            <a:pPr>
              <a:lnSpc>
                <a:spcPct val="150000"/>
              </a:lnSpc>
            </a:pPr>
            <a:r>
              <a:rPr lang="en-US" sz="2000" dirty="0"/>
              <a:t>1. https://www.javatpoint.com/postgresql-tutorial</a:t>
            </a:r>
          </a:p>
          <a:p>
            <a:pPr>
              <a:lnSpc>
                <a:spcPct val="150000"/>
              </a:lnSpc>
            </a:pPr>
            <a:r>
              <a:rPr lang="en-US" sz="2000" dirty="0"/>
              <a:t>2. https://www.tutorialspoint.com/sql/index.htm</a:t>
            </a:r>
          </a:p>
          <a:p>
            <a:pPr>
              <a:lnSpc>
                <a:spcPct val="150000"/>
              </a:lnSpc>
            </a:pPr>
            <a:r>
              <a:rPr lang="en-US" sz="2000" dirty="0"/>
              <a:t>3. https://www.programiz.com/sql /</a:t>
            </a: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Database Management System</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2.xml><?xml version="1.0" encoding="utf-8"?>
<ds:datastoreItem xmlns:ds="http://schemas.openxmlformats.org/officeDocument/2006/customXml" ds:itemID="{EBBD0A98-E68B-4DAA-8964-2F739D6D4075}">
  <ds:schemaRefs>
    <ds:schemaRef ds:uri="http://purl.org/dc/terms/"/>
    <ds:schemaRef ds:uri="0125a647-8023-46ae-ae6e-85cf36d841bd"/>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infopath/2007/PartnerControls"/>
    <ds:schemaRef ds:uri="d43ee83c-3e71-4748-8ebc-8eaadf79342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2579</TotalTime>
  <Words>3460</Words>
  <Application>Microsoft Office PowerPoint</Application>
  <PresentationFormat>Widescreen</PresentationFormat>
  <Paragraphs>271</Paragraphs>
  <Slides>37</Slides>
  <Notes>26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Bahnschrift SemiLight</vt:lpstr>
      <vt:lpstr>BioRhyme ExtraBold</vt:lpstr>
      <vt:lpstr>Calibri</vt:lpstr>
      <vt:lpstr>Liberation Mono</vt:lpstr>
      <vt:lpstr>Nunito</vt:lpstr>
      <vt:lpstr>Poppins</vt:lpstr>
      <vt:lpstr>Times New Roman</vt:lpstr>
      <vt:lpstr>var(--bs-font-monospace)</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Dr.veeraswamy</dc:creator>
  <cp:lastModifiedBy>VEERASWAMY AMMISETTY</cp:lastModifiedBy>
  <cp:revision>292</cp:revision>
  <dcterms:created xsi:type="dcterms:W3CDTF">2020-02-08T09:57:44Z</dcterms:created>
  <dcterms:modified xsi:type="dcterms:W3CDTF">2025-06-08T14:53:21Z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