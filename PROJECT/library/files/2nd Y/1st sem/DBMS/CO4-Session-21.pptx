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39"/>
  </p:notesMasterIdLst>
  <p:handoutMasterIdLst>
    <p:handoutMasterId r:id="rId40"/>
  </p:handoutMasterIdLst>
  <p:sldIdLst>
    <p:sldId id="256" r:id="rId5"/>
    <p:sldId id="333" r:id="rId6"/>
    <p:sldId id="388" r:id="rId7"/>
    <p:sldId id="389" r:id="rId8"/>
    <p:sldId id="448" r:id="rId9"/>
    <p:sldId id="449" r:id="rId10"/>
    <p:sldId id="446" r:id="rId11"/>
    <p:sldId id="467" r:id="rId12"/>
    <p:sldId id="468" r:id="rId13"/>
    <p:sldId id="469" r:id="rId14"/>
    <p:sldId id="470" r:id="rId15"/>
    <p:sldId id="464" r:id="rId16"/>
    <p:sldId id="465" r:id="rId17"/>
    <p:sldId id="516" r:id="rId18"/>
    <p:sldId id="517" r:id="rId19"/>
    <p:sldId id="518" r:id="rId20"/>
    <p:sldId id="519" r:id="rId21"/>
    <p:sldId id="520" r:id="rId22"/>
    <p:sldId id="521" r:id="rId23"/>
    <p:sldId id="522" r:id="rId24"/>
    <p:sldId id="523" r:id="rId25"/>
    <p:sldId id="524" r:id="rId26"/>
    <p:sldId id="527" r:id="rId27"/>
    <p:sldId id="528" r:id="rId28"/>
    <p:sldId id="529" r:id="rId29"/>
    <p:sldId id="530" r:id="rId30"/>
    <p:sldId id="531" r:id="rId31"/>
    <p:sldId id="532" r:id="rId32"/>
    <p:sldId id="526" r:id="rId33"/>
    <p:sldId id="533" r:id="rId34"/>
    <p:sldId id="502" r:id="rId35"/>
    <p:sldId id="504" r:id="rId36"/>
    <p:sldId id="505" r:id="rId37"/>
    <p:sldId id="506"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28-06-2025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28-06-2025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409760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val="3877002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5</a:t>
            </a:fld>
            <a:endParaRPr lang="en-US"/>
          </a:p>
        </p:txBody>
      </p:sp>
    </p:spTree>
    <p:extLst>
      <p:ext uri="{BB962C8B-B14F-4D97-AF65-F5344CB8AC3E}">
        <p14:creationId xmlns:p14="http://schemas.microsoft.com/office/powerpoint/2010/main" val="3430380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6</a:t>
            </a:fld>
            <a:endParaRPr lang="en-US"/>
          </a:p>
        </p:txBody>
      </p:sp>
    </p:spTree>
    <p:extLst>
      <p:ext uri="{BB962C8B-B14F-4D97-AF65-F5344CB8AC3E}">
        <p14:creationId xmlns:p14="http://schemas.microsoft.com/office/powerpoint/2010/main" val="1174419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7</a:t>
            </a:fld>
            <a:endParaRPr lang="en-US"/>
          </a:p>
        </p:txBody>
      </p:sp>
    </p:spTree>
    <p:extLst>
      <p:ext uri="{BB962C8B-B14F-4D97-AF65-F5344CB8AC3E}">
        <p14:creationId xmlns:p14="http://schemas.microsoft.com/office/powerpoint/2010/main" val="2924539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8</a:t>
            </a:fld>
            <a:endParaRPr lang="en-US"/>
          </a:p>
        </p:txBody>
      </p:sp>
    </p:spTree>
    <p:extLst>
      <p:ext uri="{BB962C8B-B14F-4D97-AF65-F5344CB8AC3E}">
        <p14:creationId xmlns:p14="http://schemas.microsoft.com/office/powerpoint/2010/main" val="1005977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9</a:t>
            </a:fld>
            <a:endParaRPr lang="en-US"/>
          </a:p>
        </p:txBody>
      </p:sp>
    </p:spTree>
    <p:extLst>
      <p:ext uri="{BB962C8B-B14F-4D97-AF65-F5344CB8AC3E}">
        <p14:creationId xmlns:p14="http://schemas.microsoft.com/office/powerpoint/2010/main" val="1886454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10</a:t>
            </a:fld>
            <a:endParaRPr lang="en-US"/>
          </a:p>
        </p:txBody>
      </p:sp>
    </p:spTree>
    <p:extLst>
      <p:ext uri="{BB962C8B-B14F-4D97-AF65-F5344CB8AC3E}">
        <p14:creationId xmlns:p14="http://schemas.microsoft.com/office/powerpoint/2010/main" val="3450709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11</a:t>
            </a:fld>
            <a:endParaRPr lang="en-US"/>
          </a:p>
        </p:txBody>
      </p:sp>
    </p:spTree>
    <p:extLst>
      <p:ext uri="{BB962C8B-B14F-4D97-AF65-F5344CB8AC3E}">
        <p14:creationId xmlns:p14="http://schemas.microsoft.com/office/powerpoint/2010/main" val="433256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12</a:t>
            </a:fld>
            <a:endParaRPr lang="en-US"/>
          </a:p>
        </p:txBody>
      </p:sp>
    </p:spTree>
    <p:extLst>
      <p:ext uri="{BB962C8B-B14F-4D97-AF65-F5344CB8AC3E}">
        <p14:creationId xmlns:p14="http://schemas.microsoft.com/office/powerpoint/2010/main" val="17006803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13</a:t>
            </a:fld>
            <a:endParaRPr lang="en-US"/>
          </a:p>
        </p:txBody>
      </p:sp>
    </p:spTree>
    <p:extLst>
      <p:ext uri="{BB962C8B-B14F-4D97-AF65-F5344CB8AC3E}">
        <p14:creationId xmlns:p14="http://schemas.microsoft.com/office/powerpoint/2010/main" val="3068678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31</a:t>
            </a:fld>
            <a:endParaRPr lang="en-US"/>
          </a:p>
        </p:txBody>
      </p:sp>
    </p:spTree>
    <p:extLst>
      <p:ext uri="{BB962C8B-B14F-4D97-AF65-F5344CB8AC3E}">
        <p14:creationId xmlns:p14="http://schemas.microsoft.com/office/powerpoint/2010/main" val="3988531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userDrawn="1"/>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userDrawn="1"/>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436853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tutorialspoint.com/what-is-shadow-paging-in-dbms" TargetMode="External"/><Relationship Id="rId2" Type="http://schemas.openxmlformats.org/officeDocument/2006/relationships/hyperlink" Target="https://www.geeksforgeeks.org/shadow-paging-dbms/" TargetMode="External"/><Relationship Id="rId1" Type="http://schemas.openxmlformats.org/officeDocument/2006/relationships/slideLayout" Target="../slideLayouts/slideLayout2.xml"/><Relationship Id="rId4" Type="http://schemas.openxmlformats.org/officeDocument/2006/relationships/hyperlink" Target="https://whatisdbms.com/shadow-paging-in-dbms/" TargetMode="Externa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9B8D-BF65-4ADD-F76F-77EA72FFCB8F}"/>
              </a:ext>
            </a:extLst>
          </p:cNvPr>
          <p:cNvSpPr>
            <a:spLocks noGrp="1"/>
          </p:cNvSpPr>
          <p:nvPr>
            <p:ph type="ctrTitle"/>
          </p:nvPr>
        </p:nvSpPr>
        <p:spPr>
          <a:xfrm>
            <a:off x="2417779" y="2071396"/>
            <a:ext cx="8637073" cy="1272333"/>
          </a:xfrm>
        </p:spPr>
        <p:txBody>
          <a:bodyPr>
            <a:normAutofit/>
          </a:bodyPr>
          <a:lstStyle/>
          <a:p>
            <a:pPr algn="ctr"/>
            <a:r>
              <a:rPr lang="en-US" sz="4000" b="1" dirty="0">
                <a:latin typeface="Times New Roman" panose="02020603050405020304" pitchFamily="18" charset="0"/>
                <a:cs typeface="Times New Roman" panose="02020603050405020304" pitchFamily="18" charset="0"/>
              </a:rPr>
              <a:t>COURSE NAME: DBMS</a:t>
            </a: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COURSE CODE:24AD2103 </a:t>
            </a:r>
            <a:endParaRPr lang="en-IN" dirty="0"/>
          </a:p>
        </p:txBody>
      </p:sp>
      <p:sp>
        <p:nvSpPr>
          <p:cNvPr id="3" name="Subtitle 2">
            <a:extLst>
              <a:ext uri="{FF2B5EF4-FFF2-40B4-BE49-F238E27FC236}">
                <a16:creationId xmlns:a16="http://schemas.microsoft.com/office/drawing/2014/main" id="{5F640656-3048-2A08-BF39-81705306F79A}"/>
              </a:ext>
            </a:extLst>
          </p:cNvPr>
          <p:cNvSpPr>
            <a:spLocks noGrp="1"/>
          </p:cNvSpPr>
          <p:nvPr>
            <p:ph type="subTitle" idx="1"/>
          </p:nvPr>
        </p:nvSpPr>
        <p:spPr>
          <a:xfrm>
            <a:off x="2417779" y="3531204"/>
            <a:ext cx="8909583" cy="1315116"/>
          </a:xfrm>
        </p:spPr>
        <p:txBody>
          <a:bodyPr>
            <a:normAutofit/>
          </a:bodyPr>
          <a:lstStyle/>
          <a:p>
            <a:pPr algn="ctr"/>
            <a:r>
              <a:rPr lang="en-US" sz="2400" b="1" dirty="0">
                <a:latin typeface="Times New Roman" panose="02020603050405020304" pitchFamily="18" charset="0"/>
                <a:cs typeface="Times New Roman" panose="02020603050405020304" pitchFamily="18" charset="0"/>
              </a:rPr>
              <a:t>Topic: Transaction Management: Transaction processing issues, Transaction states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3832888" y="208056"/>
            <a:ext cx="4067395"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049587" y="1058910"/>
            <a:ext cx="10731286" cy="417422"/>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dirty="0">
                <a:latin typeface="Times New Roman" panose="02020603050405020304" pitchFamily="18" charset="0"/>
                <a:cs typeface="Times New Roman" panose="02020603050405020304" pitchFamily="18" charset="0"/>
              </a:rPr>
              <a:t>To familiarize students with the basic concept of </a:t>
            </a:r>
            <a:r>
              <a:rPr lang="en-US" sz="1600" b="1" dirty="0">
                <a:latin typeface="Times New Roman" panose="02020603050405020304" pitchFamily="18" charset="0"/>
                <a:cs typeface="Times New Roman" panose="02020603050405020304" pitchFamily="18" charset="0"/>
              </a:rPr>
              <a:t>Transaction Management</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3832888" y="1741139"/>
            <a:ext cx="452621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110343" y="2438605"/>
            <a:ext cx="10670531"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r>
              <a:rPr lang="en-US" sz="1600" b="1" i="1" dirty="0"/>
              <a:t>        a) The concept of Transaction</a:t>
            </a:r>
          </a:p>
          <a:p>
            <a:r>
              <a:rPr lang="en-US" sz="1600" b="1" i="1" dirty="0"/>
              <a:t>        b) Main Operations in a Transaction</a:t>
            </a:r>
          </a:p>
          <a:p>
            <a:r>
              <a:rPr lang="en-US" sz="1600" b="1" i="1" dirty="0"/>
              <a:t>        c) Popular Examples of Transaction Processing</a:t>
            </a:r>
          </a:p>
          <a:p>
            <a:r>
              <a:rPr lang="en-US" sz="1600" b="1" i="1" dirty="0"/>
              <a:t>        d) Transaction Processing Issues</a:t>
            </a:r>
          </a:p>
          <a:p>
            <a:r>
              <a:rPr lang="en-US" sz="1600" b="1" i="1" dirty="0"/>
              <a:t>        e) Transaction States</a:t>
            </a:r>
          </a:p>
        </p:txBody>
      </p:sp>
      <p:sp>
        <p:nvSpPr>
          <p:cNvPr id="29" name="Rounded Rectangle 17">
            <a:extLst>
              <a:ext uri="{FF2B5EF4-FFF2-40B4-BE49-F238E27FC236}">
                <a16:creationId xmlns:a16="http://schemas.microsoft.com/office/drawing/2014/main" id="{6652A33D-9A9E-3EAC-0CAE-113901ECA179}"/>
              </a:ext>
            </a:extLst>
          </p:cNvPr>
          <p:cNvSpPr/>
          <p:nvPr/>
        </p:nvSpPr>
        <p:spPr>
          <a:xfrm>
            <a:off x="4160582" y="3838119"/>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LEARNING OUTCOMES</a:t>
            </a:r>
          </a:p>
        </p:txBody>
      </p:sp>
      <p:sp>
        <p:nvSpPr>
          <p:cNvPr id="37" name="TextBox 36">
            <a:extLst>
              <a:ext uri="{FF2B5EF4-FFF2-40B4-BE49-F238E27FC236}">
                <a16:creationId xmlns:a16="http://schemas.microsoft.com/office/drawing/2014/main" id="{B0BB8E68-8B73-12DE-615E-1091F19A9A9A}"/>
              </a:ext>
            </a:extLst>
          </p:cNvPr>
          <p:cNvSpPr txBox="1"/>
          <p:nvPr/>
        </p:nvSpPr>
        <p:spPr>
          <a:xfrm>
            <a:off x="1110343" y="4370477"/>
            <a:ext cx="10670530"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Times New Roman" panose="02020603050405020304" pitchFamily="18" charset="0"/>
                <a:cs typeface="Times New Roman" panose="02020603050405020304" pitchFamily="18" charset="0"/>
              </a:rPr>
              <a:t>At the end of this session, you should be able to understand :</a:t>
            </a:r>
          </a:p>
          <a:p>
            <a:pPr>
              <a:lnSpc>
                <a:spcPct val="200000"/>
              </a:lnSpc>
            </a:pPr>
            <a:r>
              <a:rPr lang="en-US" sz="1600" b="1" dirty="0">
                <a:latin typeface="Times New Roman" panose="02020603050405020304" pitchFamily="18" charset="0"/>
                <a:cs typeface="Times New Roman" panose="02020603050405020304" pitchFamily="18" charset="0"/>
              </a:rPr>
              <a:t>Transaction Processing Issues &amp; States of Transaction Processing</a:t>
            </a:r>
          </a:p>
          <a:p>
            <a:pPr>
              <a:lnSpc>
                <a:spcPct val="200000"/>
              </a:lnSpc>
            </a:pPr>
            <a:endParaRPr lang="en-US" sz="1600" dirty="0">
              <a:latin typeface="Times New Roman" panose="02020603050405020304" pitchFamily="18" charset="0"/>
              <a:cs typeface="Times New Roman" panose="02020603050405020304" pitchFamily="18" charset="0"/>
            </a:endParaRPr>
          </a:p>
        </p:txBody>
      </p:sp>
      <p:pic>
        <p:nvPicPr>
          <p:cNvPr id="13"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62" y="815377"/>
            <a:ext cx="914400" cy="914400"/>
          </a:xfrm>
          <a:prstGeom prst="rect">
            <a:avLst/>
          </a:prstGeom>
        </p:spPr>
      </p:pic>
      <p:pic>
        <p:nvPicPr>
          <p:cNvPr id="14"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5187" y="2438605"/>
            <a:ext cx="914400" cy="914400"/>
          </a:xfrm>
          <a:prstGeom prst="rect">
            <a:avLst/>
          </a:prstGeom>
        </p:spPr>
      </p:pic>
      <p:pic>
        <p:nvPicPr>
          <p:cNvPr id="15"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962" y="4370477"/>
            <a:ext cx="914400" cy="914400"/>
          </a:xfrm>
          <a:prstGeom prst="rect">
            <a:avLst/>
          </a:prstGeom>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7">
            <a:extLst>
              <a:ext uri="{FF2B5EF4-FFF2-40B4-BE49-F238E27FC236}">
                <a16:creationId xmlns:a16="http://schemas.microsoft.com/office/drawing/2014/main" id="{9EB8A4A0-26E8-41C7-BE65-3B55B361B40D}"/>
              </a:ext>
            </a:extLst>
          </p:cNvPr>
          <p:cNvSpPr/>
          <p:nvPr/>
        </p:nvSpPr>
        <p:spPr>
          <a:xfrm>
            <a:off x="2500226" y="38019"/>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TRANSACTION CONCEPTS</a:t>
            </a:r>
          </a:p>
        </p:txBody>
      </p:sp>
      <p:sp>
        <p:nvSpPr>
          <p:cNvPr id="3" name="TextBox 2">
            <a:extLst>
              <a:ext uri="{FF2B5EF4-FFF2-40B4-BE49-F238E27FC236}">
                <a16:creationId xmlns:a16="http://schemas.microsoft.com/office/drawing/2014/main" id="{4EB0D044-3AC4-23A2-929D-A3007E09747E}"/>
              </a:ext>
            </a:extLst>
          </p:cNvPr>
          <p:cNvSpPr txBox="1"/>
          <p:nvPr/>
        </p:nvSpPr>
        <p:spPr>
          <a:xfrm>
            <a:off x="1358537" y="640081"/>
            <a:ext cx="9562013" cy="5551713"/>
          </a:xfrm>
          <a:prstGeom prst="rect">
            <a:avLst/>
          </a:prstGeom>
          <a:noFill/>
        </p:spPr>
        <p:txBody>
          <a:bodyPr wrap="square">
            <a:spAutoFit/>
          </a:bodyPr>
          <a:lstStyle/>
          <a:p>
            <a:pPr algn="just">
              <a:buFont typeface="Arial" pitchFamily="34" charset="0"/>
              <a:buChar char="•"/>
            </a:pPr>
            <a:r>
              <a:rPr lang="en-US" sz="3200" dirty="0"/>
              <a:t>The transaction is a set of logically related operations done on a database.</a:t>
            </a:r>
          </a:p>
          <a:p>
            <a:pPr algn="just">
              <a:buFont typeface="Arial" pitchFamily="34" charset="0"/>
              <a:buChar char="•"/>
            </a:pPr>
            <a:r>
              <a:rPr lang="en-US" sz="3200" dirty="0"/>
              <a:t>  A transaction is an action or series of actions. </a:t>
            </a:r>
          </a:p>
          <a:p>
            <a:pPr algn="just">
              <a:buFont typeface="Arial" pitchFamily="34" charset="0"/>
              <a:buChar char="•"/>
            </a:pPr>
            <a:r>
              <a:rPr lang="en-US" sz="3200" dirty="0"/>
              <a:t> Normally a transaction is performed by a single user to perform operations for accessing the contents of the database.</a:t>
            </a:r>
          </a:p>
          <a:p>
            <a:pPr algn="just">
              <a:buFont typeface="Arial" pitchFamily="34" charset="0"/>
              <a:buChar char="•"/>
            </a:pPr>
            <a:r>
              <a:rPr lang="en-US" sz="3200" dirty="0"/>
              <a:t>When a transaction is done on the database then the database will be updated.</a:t>
            </a:r>
          </a:p>
          <a:p>
            <a:pPr algn="just">
              <a:buFont typeface="Arial" pitchFamily="34" charset="0"/>
              <a:buChar char="•"/>
            </a:pPr>
            <a:r>
              <a:rPr lang="en-US" sz="3200" dirty="0"/>
              <a:t>These days we will come across various Transactions in our day to day life.</a:t>
            </a:r>
          </a:p>
          <a:p>
            <a:pPr marL="285750" indent="-285750">
              <a:lnSpc>
                <a:spcPct val="150000"/>
              </a:lnSpc>
              <a:buFont typeface="Arial" panose="020B0604020202020204" pitchFamily="34" charset="0"/>
              <a:buChar char="•"/>
            </a:pPr>
            <a:endParaRPr lang="en-IN" sz="2000" dirty="0"/>
          </a:p>
        </p:txBody>
      </p:sp>
    </p:spTree>
    <p:extLst>
      <p:ext uri="{BB962C8B-B14F-4D97-AF65-F5344CB8AC3E}">
        <p14:creationId xmlns:p14="http://schemas.microsoft.com/office/powerpoint/2010/main" val="179227590"/>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7">
            <a:extLst>
              <a:ext uri="{FF2B5EF4-FFF2-40B4-BE49-F238E27FC236}">
                <a16:creationId xmlns:a16="http://schemas.microsoft.com/office/drawing/2014/main" id="{9EB8A4A0-26E8-41C7-BE65-3B55B361B40D}"/>
              </a:ext>
            </a:extLst>
          </p:cNvPr>
          <p:cNvSpPr/>
          <p:nvPr/>
        </p:nvSpPr>
        <p:spPr>
          <a:xfrm>
            <a:off x="2822256" y="14367"/>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atin typeface="Times New Roman" panose="02020603050405020304" pitchFamily="18" charset="0"/>
                <a:cs typeface="Times New Roman" panose="02020603050405020304" pitchFamily="18" charset="0"/>
              </a:rPr>
              <a:t>TRANSACTION CONCEPT</a:t>
            </a:r>
          </a:p>
        </p:txBody>
      </p:sp>
      <p:sp>
        <p:nvSpPr>
          <p:cNvPr id="3" name="TextBox 2">
            <a:extLst>
              <a:ext uri="{FF2B5EF4-FFF2-40B4-BE49-F238E27FC236}">
                <a16:creationId xmlns:a16="http://schemas.microsoft.com/office/drawing/2014/main" id="{CEB0CD1A-DA37-9A5D-50E0-36E75258AA26}"/>
              </a:ext>
            </a:extLst>
          </p:cNvPr>
          <p:cNvSpPr txBox="1"/>
          <p:nvPr/>
        </p:nvSpPr>
        <p:spPr>
          <a:xfrm>
            <a:off x="1082352" y="778669"/>
            <a:ext cx="10411408" cy="498663"/>
          </a:xfrm>
          <a:prstGeom prst="rect">
            <a:avLst/>
          </a:prstGeom>
          <a:noFill/>
        </p:spPr>
        <p:txBody>
          <a:bodyPr wrap="square">
            <a:spAutoFit/>
          </a:bodyPr>
          <a:lstStyle/>
          <a:p>
            <a:pPr algn="just">
              <a:lnSpc>
                <a:spcPct val="150000"/>
              </a:lnSpc>
            </a:pPr>
            <a:endParaRPr lang="en-IN" sz="2000" dirty="0">
              <a:effectLst/>
              <a:latin typeface="Times New Roman" panose="02020603050405020304" pitchFamily="18" charset="0"/>
              <a:ea typeface="Times New Roman" panose="02020603050405020304" pitchFamily="18" charset="0"/>
            </a:endParaRPr>
          </a:p>
        </p:txBody>
      </p:sp>
      <p:sp>
        <p:nvSpPr>
          <p:cNvPr id="4" name="Rectangle 3"/>
          <p:cNvSpPr/>
          <p:nvPr/>
        </p:nvSpPr>
        <p:spPr>
          <a:xfrm>
            <a:off x="2037806" y="2155371"/>
            <a:ext cx="8948057" cy="1754326"/>
          </a:xfrm>
          <a:prstGeom prst="rect">
            <a:avLst/>
          </a:prstGeom>
        </p:spPr>
        <p:txBody>
          <a:bodyPr wrap="square">
            <a:spAutoFit/>
          </a:bodyPr>
          <a:lstStyle/>
          <a:p>
            <a:pPr algn="ctr"/>
            <a:r>
              <a:rPr lang="en-US" sz="3600" b="1" i="1" dirty="0"/>
              <a:t>A successful transaction can change the database from one CONSISTENT STATE to another</a:t>
            </a:r>
            <a:endParaRPr lang="en-IN" sz="3600" b="1" i="1" dirty="0"/>
          </a:p>
        </p:txBody>
      </p:sp>
    </p:spTree>
    <p:extLst>
      <p:ext uri="{BB962C8B-B14F-4D97-AF65-F5344CB8AC3E}">
        <p14:creationId xmlns:p14="http://schemas.microsoft.com/office/powerpoint/2010/main" val="3224054397"/>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7">
            <a:extLst>
              <a:ext uri="{FF2B5EF4-FFF2-40B4-BE49-F238E27FC236}">
                <a16:creationId xmlns:a16="http://schemas.microsoft.com/office/drawing/2014/main" id="{9EB8A4A0-26E8-41C7-BE65-3B55B361B40D}"/>
              </a:ext>
            </a:extLst>
          </p:cNvPr>
          <p:cNvSpPr/>
          <p:nvPr/>
        </p:nvSpPr>
        <p:spPr>
          <a:xfrm>
            <a:off x="2822256" y="14367"/>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atin typeface="Times New Roman" panose="02020603050405020304" pitchFamily="18" charset="0"/>
                <a:cs typeface="Times New Roman" panose="02020603050405020304" pitchFamily="18" charset="0"/>
              </a:rPr>
              <a:t>TRANSACTION CONCEPT</a:t>
            </a:r>
          </a:p>
        </p:txBody>
      </p:sp>
      <p:sp>
        <p:nvSpPr>
          <p:cNvPr id="3" name="TextBox 2">
            <a:extLst>
              <a:ext uri="{FF2B5EF4-FFF2-40B4-BE49-F238E27FC236}">
                <a16:creationId xmlns:a16="http://schemas.microsoft.com/office/drawing/2014/main" id="{E48EFBA6-A057-6D74-4C96-D48FADF8E825}"/>
              </a:ext>
            </a:extLst>
          </p:cNvPr>
          <p:cNvSpPr txBox="1"/>
          <p:nvPr/>
        </p:nvSpPr>
        <p:spPr>
          <a:xfrm>
            <a:off x="811764" y="886637"/>
            <a:ext cx="10590244" cy="506292"/>
          </a:xfrm>
          <a:prstGeom prst="rect">
            <a:avLst/>
          </a:prstGeom>
          <a:noFill/>
        </p:spPr>
        <p:txBody>
          <a:bodyPr wrap="square">
            <a:spAutoFit/>
          </a:bodyPr>
          <a:lstStyle/>
          <a:p>
            <a:pPr algn="just">
              <a:lnSpc>
                <a:spcPct val="150000"/>
              </a:lnSpc>
            </a:pPr>
            <a:endParaRPr lang="en-IN" sz="20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862148" y="1071154"/>
            <a:ext cx="10776857" cy="4524315"/>
          </a:xfrm>
          <a:prstGeom prst="rect">
            <a:avLst/>
          </a:prstGeom>
        </p:spPr>
        <p:txBody>
          <a:bodyPr wrap="square">
            <a:spAutoFit/>
          </a:bodyPr>
          <a:lstStyle/>
          <a:p>
            <a:pPr algn="just">
              <a:buFont typeface="Arial" pitchFamily="34" charset="0"/>
              <a:buChar char="•"/>
            </a:pPr>
            <a:r>
              <a:rPr lang="en-US" sz="3200" dirty="0"/>
              <a:t>For example, a transfer of funds from a checking account to a savings account looks like a </a:t>
            </a:r>
            <a:r>
              <a:rPr lang="en-US" sz="3200" b="1" i="1" dirty="0"/>
              <a:t>single operation </a:t>
            </a:r>
            <a:r>
              <a:rPr lang="en-US" sz="3200" dirty="0"/>
              <a:t>from the customer’s standpoint, but within the database system, however, it consists of several operations.</a:t>
            </a:r>
          </a:p>
          <a:p>
            <a:pPr algn="just">
              <a:buFont typeface="Arial" pitchFamily="34" charset="0"/>
              <a:buChar char="•"/>
            </a:pPr>
            <a:endParaRPr lang="en-US" sz="3200" dirty="0"/>
          </a:p>
          <a:p>
            <a:pPr algn="just">
              <a:buFont typeface="Arial" pitchFamily="34" charset="0"/>
              <a:buChar char="•"/>
            </a:pPr>
            <a:r>
              <a:rPr lang="en-US" sz="3200" dirty="0"/>
              <a:t>Usually, a transaction is initiated by a user program written in a high-level data-manipulation language (typically SQL), or programming language (for example, C++, or Java), with embedded database accesses in JDBC or ODBC.</a:t>
            </a:r>
          </a:p>
        </p:txBody>
      </p:sp>
    </p:spTree>
    <p:extLst>
      <p:ext uri="{BB962C8B-B14F-4D97-AF65-F5344CB8AC3E}">
        <p14:creationId xmlns:p14="http://schemas.microsoft.com/office/powerpoint/2010/main" val="1440779234"/>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7">
            <a:extLst>
              <a:ext uri="{FF2B5EF4-FFF2-40B4-BE49-F238E27FC236}">
                <a16:creationId xmlns:a16="http://schemas.microsoft.com/office/drawing/2014/main" id="{9EB8A4A0-26E8-41C7-BE65-3B55B361B40D}"/>
              </a:ext>
            </a:extLst>
          </p:cNvPr>
          <p:cNvSpPr/>
          <p:nvPr/>
        </p:nvSpPr>
        <p:spPr>
          <a:xfrm>
            <a:off x="2822256" y="14367"/>
            <a:ext cx="6639951" cy="91309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TRANSCATION CONCEPT</a:t>
            </a:r>
          </a:p>
        </p:txBody>
      </p:sp>
      <p:sp>
        <p:nvSpPr>
          <p:cNvPr id="3" name="TextBox 2">
            <a:extLst>
              <a:ext uri="{FF2B5EF4-FFF2-40B4-BE49-F238E27FC236}">
                <a16:creationId xmlns:a16="http://schemas.microsoft.com/office/drawing/2014/main" id="{1EF20AD1-7632-1BCA-B59B-7E5CE2698F16}"/>
              </a:ext>
            </a:extLst>
          </p:cNvPr>
          <p:cNvSpPr txBox="1"/>
          <p:nvPr/>
        </p:nvSpPr>
        <p:spPr>
          <a:xfrm>
            <a:off x="1007707" y="891395"/>
            <a:ext cx="10403632" cy="498663"/>
          </a:xfrm>
          <a:prstGeom prst="rect">
            <a:avLst/>
          </a:prstGeom>
          <a:noFill/>
        </p:spPr>
        <p:txBody>
          <a:bodyPr wrap="square">
            <a:spAutoFit/>
          </a:bodyPr>
          <a:lstStyle/>
          <a:p>
            <a:pPr algn="just">
              <a:lnSpc>
                <a:spcPct val="150000"/>
              </a:lnSpc>
            </a:pPr>
            <a:endParaRPr lang="en-IN" sz="2000" dirty="0">
              <a:effectLst/>
              <a:latin typeface="Times New Roman" panose="02020603050405020304" pitchFamily="18" charset="0"/>
              <a:ea typeface="Times New Roman" panose="02020603050405020304" pitchFamily="18" charset="0"/>
            </a:endParaRPr>
          </a:p>
        </p:txBody>
      </p:sp>
      <p:sp>
        <p:nvSpPr>
          <p:cNvPr id="4" name="Rectangle 3"/>
          <p:cNvSpPr/>
          <p:nvPr/>
        </p:nvSpPr>
        <p:spPr>
          <a:xfrm>
            <a:off x="1123406" y="992777"/>
            <a:ext cx="10476411" cy="4524315"/>
          </a:xfrm>
          <a:prstGeom prst="rect">
            <a:avLst/>
          </a:prstGeom>
        </p:spPr>
        <p:txBody>
          <a:bodyPr wrap="square">
            <a:spAutoFit/>
          </a:bodyPr>
          <a:lstStyle/>
          <a:p>
            <a:r>
              <a:rPr lang="en-US" sz="3200" dirty="0"/>
              <a:t>1. Read your account balance</a:t>
            </a:r>
          </a:p>
          <a:p>
            <a:r>
              <a:rPr lang="en-US" sz="3200" dirty="0"/>
              <a:t>2. Deduct the amount from your balance</a:t>
            </a:r>
          </a:p>
          <a:p>
            <a:r>
              <a:rPr lang="en-US" sz="3200" dirty="0"/>
              <a:t>3. Write the remaining balance to your account</a:t>
            </a:r>
          </a:p>
          <a:p>
            <a:r>
              <a:rPr lang="en-US" sz="3200" dirty="0"/>
              <a:t>4. Read your friend’s account balance</a:t>
            </a:r>
          </a:p>
          <a:p>
            <a:r>
              <a:rPr lang="en-US" sz="3200" dirty="0"/>
              <a:t>5. Add the amount to his account balance</a:t>
            </a:r>
          </a:p>
          <a:p>
            <a:r>
              <a:rPr lang="en-US" sz="3200" dirty="0"/>
              <a:t>6. Write the new updated balance to his account</a:t>
            </a:r>
          </a:p>
          <a:p>
            <a:endParaRPr lang="en-US" sz="3200" dirty="0"/>
          </a:p>
          <a:p>
            <a:r>
              <a:rPr lang="en-US" sz="3200" b="1" i="1" dirty="0"/>
              <a:t>Note : The above SIX operations are logically related and forms as a single unit that constitutes a Transaction</a:t>
            </a:r>
            <a:r>
              <a:rPr lang="en-US" sz="3200" dirty="0"/>
              <a:t>.</a:t>
            </a:r>
            <a:endParaRPr lang="en-IN" sz="3200" dirty="0"/>
          </a:p>
        </p:txBody>
      </p:sp>
    </p:spTree>
    <p:extLst>
      <p:ext uri="{BB962C8B-B14F-4D97-AF65-F5344CB8AC3E}">
        <p14:creationId xmlns:p14="http://schemas.microsoft.com/office/powerpoint/2010/main" val="4265050528"/>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7">
            <a:extLst>
              <a:ext uri="{FF2B5EF4-FFF2-40B4-BE49-F238E27FC236}">
                <a16:creationId xmlns:a16="http://schemas.microsoft.com/office/drawing/2014/main" id="{9EB8A4A0-26E8-41C7-BE65-3B55B361B40D}"/>
              </a:ext>
            </a:extLst>
          </p:cNvPr>
          <p:cNvSpPr/>
          <p:nvPr/>
        </p:nvSpPr>
        <p:spPr>
          <a:xfrm>
            <a:off x="2822256" y="14367"/>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TRANSACTION-EXAMPLE-1</a:t>
            </a:r>
          </a:p>
        </p:txBody>
      </p:sp>
      <p:sp>
        <p:nvSpPr>
          <p:cNvPr id="3" name="TextBox 2">
            <a:extLst>
              <a:ext uri="{FF2B5EF4-FFF2-40B4-BE49-F238E27FC236}">
                <a16:creationId xmlns:a16="http://schemas.microsoft.com/office/drawing/2014/main" id="{2B0B53B6-27B1-5F92-DB31-16AAE900C815}"/>
              </a:ext>
            </a:extLst>
          </p:cNvPr>
          <p:cNvSpPr txBox="1"/>
          <p:nvPr/>
        </p:nvSpPr>
        <p:spPr>
          <a:xfrm>
            <a:off x="936171" y="691074"/>
            <a:ext cx="10319658" cy="614079"/>
          </a:xfrm>
          <a:prstGeom prst="rect">
            <a:avLst/>
          </a:prstGeom>
          <a:noFill/>
        </p:spPr>
        <p:txBody>
          <a:bodyPr wrap="square">
            <a:spAutoFit/>
          </a:bodyPr>
          <a:lstStyle/>
          <a:p>
            <a:pPr algn="just">
              <a:lnSpc>
                <a:spcPct val="200000"/>
              </a:lnSpc>
            </a:pPr>
            <a:r>
              <a:rPr lang="en-IN" sz="2000" dirty="0">
                <a:effectLst/>
                <a:latin typeface="Times New Roman" panose="02020603050405020304" pitchFamily="18" charset="0"/>
                <a:ea typeface="Times New Roman" panose="02020603050405020304" pitchFamily="18" charset="0"/>
              </a:rPr>
              <a:t>.</a:t>
            </a:r>
          </a:p>
        </p:txBody>
      </p:sp>
      <p:sp>
        <p:nvSpPr>
          <p:cNvPr id="4" name="Rectangle 3"/>
          <p:cNvSpPr/>
          <p:nvPr/>
        </p:nvSpPr>
        <p:spPr>
          <a:xfrm>
            <a:off x="1084217" y="836023"/>
            <a:ext cx="10123714" cy="5262979"/>
          </a:xfrm>
          <a:prstGeom prst="rect">
            <a:avLst/>
          </a:prstGeom>
        </p:spPr>
        <p:txBody>
          <a:bodyPr wrap="square">
            <a:spAutoFit/>
          </a:bodyPr>
          <a:lstStyle/>
          <a:p>
            <a:r>
              <a:rPr lang="en-US" sz="2800" dirty="0"/>
              <a:t>Suppose account A has a balance of Rs 1000 and wants to transfer Rs 800 from A's account to B's account, that has a balance, say 2000 . This small transaction contains several low-level tasks:</a:t>
            </a:r>
          </a:p>
          <a:p>
            <a:endParaRPr lang="en-US" sz="2800" b="1" dirty="0"/>
          </a:p>
          <a:p>
            <a:r>
              <a:rPr lang="en-US" sz="2800" b="1" dirty="0"/>
              <a:t>A's Account</a:t>
            </a:r>
          </a:p>
          <a:p>
            <a:pPr marL="514350" indent="-514350">
              <a:buFont typeface="+mj-lt"/>
              <a:buAutoNum type="arabicPeriod"/>
            </a:pPr>
            <a:r>
              <a:rPr lang="en-US" sz="2800" dirty="0"/>
              <a:t>    </a:t>
            </a:r>
            <a:r>
              <a:rPr lang="en-US" sz="2800" i="1" dirty="0" err="1"/>
              <a:t>Open_Account</a:t>
            </a:r>
            <a:r>
              <a:rPr lang="en-US" sz="2800" i="1" dirty="0"/>
              <a:t>(A)  </a:t>
            </a:r>
          </a:p>
          <a:p>
            <a:pPr marL="514350" indent="-514350">
              <a:buFont typeface="+mj-lt"/>
              <a:buAutoNum type="arabicPeriod"/>
            </a:pPr>
            <a:r>
              <a:rPr lang="en-US" sz="2800" i="1" dirty="0"/>
              <a:t>    </a:t>
            </a:r>
            <a:r>
              <a:rPr lang="en-US" sz="2800" i="1" dirty="0" err="1"/>
              <a:t>Old_Balance</a:t>
            </a:r>
            <a:r>
              <a:rPr lang="en-US" sz="2800" i="1" dirty="0"/>
              <a:t> = </a:t>
            </a:r>
            <a:r>
              <a:rPr lang="en-US" sz="2800" i="1" dirty="0" err="1"/>
              <a:t>A.balance</a:t>
            </a:r>
            <a:r>
              <a:rPr lang="en-US" sz="2800" i="1" dirty="0"/>
              <a:t>  </a:t>
            </a:r>
          </a:p>
          <a:p>
            <a:pPr marL="514350" indent="-514350">
              <a:buFont typeface="+mj-lt"/>
              <a:buAutoNum type="arabicPeriod"/>
            </a:pPr>
            <a:r>
              <a:rPr lang="en-US" sz="2800" i="1" dirty="0"/>
              <a:t>    </a:t>
            </a:r>
            <a:r>
              <a:rPr lang="en-US" sz="2800" i="1" dirty="0" err="1"/>
              <a:t>New_Balance</a:t>
            </a:r>
            <a:r>
              <a:rPr lang="en-US" sz="2800" i="1" dirty="0"/>
              <a:t> = </a:t>
            </a:r>
            <a:r>
              <a:rPr lang="en-US" sz="2800" i="1" dirty="0" err="1"/>
              <a:t>Old_Balance</a:t>
            </a:r>
            <a:r>
              <a:rPr lang="en-US" sz="2800" i="1" dirty="0"/>
              <a:t> - 800  </a:t>
            </a:r>
          </a:p>
          <a:p>
            <a:pPr marL="514350" indent="-514350">
              <a:buFont typeface="+mj-lt"/>
              <a:buAutoNum type="arabicPeriod"/>
            </a:pPr>
            <a:r>
              <a:rPr lang="en-US" sz="2800" i="1" dirty="0"/>
              <a:t>    </a:t>
            </a:r>
            <a:r>
              <a:rPr lang="en-US" sz="2800" i="1" dirty="0" err="1"/>
              <a:t>A.balance</a:t>
            </a:r>
            <a:r>
              <a:rPr lang="en-US" sz="2800" i="1" dirty="0"/>
              <a:t> = </a:t>
            </a:r>
            <a:r>
              <a:rPr lang="en-US" sz="2800" i="1" dirty="0" err="1"/>
              <a:t>New_Balance</a:t>
            </a:r>
            <a:r>
              <a:rPr lang="en-US" sz="2800" i="1" dirty="0"/>
              <a:t>  </a:t>
            </a:r>
          </a:p>
          <a:p>
            <a:pPr marL="514350" indent="-514350">
              <a:buFont typeface="+mj-lt"/>
              <a:buAutoNum type="arabicPeriod"/>
            </a:pPr>
            <a:r>
              <a:rPr lang="en-US" sz="2800" i="1" dirty="0"/>
              <a:t>    </a:t>
            </a:r>
            <a:r>
              <a:rPr lang="en-US" sz="2800" i="1" dirty="0" err="1"/>
              <a:t>Close_Account</a:t>
            </a:r>
            <a:r>
              <a:rPr lang="en-US" sz="2800" i="1" dirty="0"/>
              <a:t>(A) </a:t>
            </a:r>
          </a:p>
          <a:p>
            <a:endParaRPr lang="en-US" sz="2800" i="1" dirty="0"/>
          </a:p>
          <a:p>
            <a:r>
              <a:rPr lang="en-US" sz="2800" i="1" dirty="0"/>
              <a:t>Note : Five Operations on A’s Account</a:t>
            </a:r>
            <a:endParaRPr lang="en-US" sz="2800" dirty="0"/>
          </a:p>
        </p:txBody>
      </p:sp>
    </p:spTree>
    <p:extLst>
      <p:ext uri="{BB962C8B-B14F-4D97-AF65-F5344CB8AC3E}">
        <p14:creationId xmlns:p14="http://schemas.microsoft.com/office/powerpoint/2010/main" val="3540567537"/>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7">
            <a:extLst>
              <a:ext uri="{FF2B5EF4-FFF2-40B4-BE49-F238E27FC236}">
                <a16:creationId xmlns:a16="http://schemas.microsoft.com/office/drawing/2014/main" id="{9EB8A4A0-26E8-41C7-BE65-3B55B361B40D}"/>
              </a:ext>
            </a:extLst>
          </p:cNvPr>
          <p:cNvSpPr/>
          <p:nvPr/>
        </p:nvSpPr>
        <p:spPr>
          <a:xfrm>
            <a:off x="2822256" y="14367"/>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TRANSACTION CONCEPTS</a:t>
            </a:r>
          </a:p>
        </p:txBody>
      </p:sp>
      <p:sp>
        <p:nvSpPr>
          <p:cNvPr id="3" name="TextBox 2">
            <a:extLst>
              <a:ext uri="{FF2B5EF4-FFF2-40B4-BE49-F238E27FC236}">
                <a16:creationId xmlns:a16="http://schemas.microsoft.com/office/drawing/2014/main" id="{2B65B46B-2563-7F00-07EC-F06322BB253A}"/>
              </a:ext>
            </a:extLst>
          </p:cNvPr>
          <p:cNvSpPr txBox="1"/>
          <p:nvPr/>
        </p:nvSpPr>
        <p:spPr>
          <a:xfrm>
            <a:off x="901338" y="940526"/>
            <a:ext cx="10515600" cy="4524315"/>
          </a:xfrm>
          <a:prstGeom prst="rect">
            <a:avLst/>
          </a:prstGeom>
          <a:noFill/>
        </p:spPr>
        <p:txBody>
          <a:bodyPr wrap="square">
            <a:spAutoFit/>
          </a:bodyPr>
          <a:lstStyle/>
          <a:p>
            <a:r>
              <a:rPr lang="en-US" sz="3200" b="1" dirty="0"/>
              <a:t>B's Account</a:t>
            </a:r>
          </a:p>
          <a:p>
            <a:endParaRPr lang="en-US" sz="3200" dirty="0"/>
          </a:p>
          <a:p>
            <a:r>
              <a:rPr lang="en-US" sz="3200" dirty="0"/>
              <a:t>    </a:t>
            </a:r>
            <a:r>
              <a:rPr lang="en-US" sz="3200" i="1" dirty="0" err="1"/>
              <a:t>Open_Account</a:t>
            </a:r>
            <a:r>
              <a:rPr lang="en-US" sz="3200" i="1" dirty="0"/>
              <a:t>(B)  </a:t>
            </a:r>
          </a:p>
          <a:p>
            <a:r>
              <a:rPr lang="en-US" sz="3200" i="1" dirty="0"/>
              <a:t>    </a:t>
            </a:r>
            <a:r>
              <a:rPr lang="en-US" sz="3200" i="1" dirty="0" err="1"/>
              <a:t>Old_Balance</a:t>
            </a:r>
            <a:r>
              <a:rPr lang="en-US" sz="3200" i="1" dirty="0"/>
              <a:t> = </a:t>
            </a:r>
            <a:r>
              <a:rPr lang="en-US" sz="3200" i="1" dirty="0" err="1"/>
              <a:t>B.balance</a:t>
            </a:r>
            <a:r>
              <a:rPr lang="en-US" sz="3200" i="1" dirty="0"/>
              <a:t>  </a:t>
            </a:r>
          </a:p>
          <a:p>
            <a:r>
              <a:rPr lang="en-US" sz="3200" i="1" dirty="0"/>
              <a:t>    </a:t>
            </a:r>
            <a:r>
              <a:rPr lang="en-US" sz="3200" i="1" dirty="0" err="1"/>
              <a:t>New_Balance</a:t>
            </a:r>
            <a:r>
              <a:rPr lang="en-US" sz="3200" i="1" dirty="0"/>
              <a:t> = </a:t>
            </a:r>
            <a:r>
              <a:rPr lang="en-US" sz="3200" i="1" dirty="0" err="1"/>
              <a:t>Old_Balance</a:t>
            </a:r>
            <a:r>
              <a:rPr lang="en-US" sz="3200" i="1" dirty="0"/>
              <a:t> + 800  </a:t>
            </a:r>
          </a:p>
          <a:p>
            <a:r>
              <a:rPr lang="en-US" sz="3200" i="1" dirty="0"/>
              <a:t>    </a:t>
            </a:r>
            <a:r>
              <a:rPr lang="en-US" sz="3200" i="1" dirty="0" err="1"/>
              <a:t>B.balance</a:t>
            </a:r>
            <a:r>
              <a:rPr lang="en-US" sz="3200" i="1" dirty="0"/>
              <a:t> = </a:t>
            </a:r>
            <a:r>
              <a:rPr lang="en-US" sz="3200" i="1" dirty="0" err="1"/>
              <a:t>New_Balance</a:t>
            </a:r>
            <a:r>
              <a:rPr lang="en-US" sz="3200" i="1" dirty="0"/>
              <a:t>  </a:t>
            </a:r>
          </a:p>
          <a:p>
            <a:r>
              <a:rPr lang="en-US" sz="3200" i="1" dirty="0"/>
              <a:t>    </a:t>
            </a:r>
            <a:r>
              <a:rPr lang="en-US" sz="3200" i="1" dirty="0" err="1"/>
              <a:t>Close_Account</a:t>
            </a:r>
            <a:r>
              <a:rPr lang="en-US" sz="3200" i="1" dirty="0"/>
              <a:t>(B) </a:t>
            </a:r>
          </a:p>
          <a:p>
            <a:endParaRPr lang="en-US" sz="3200" i="1" dirty="0"/>
          </a:p>
          <a:p>
            <a:r>
              <a:rPr lang="en-US" sz="3200" i="1" dirty="0"/>
              <a:t>Note: Here FIVE Operations on B’s Account.</a:t>
            </a:r>
            <a:endParaRPr lang="en-IN"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99905667"/>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7">
            <a:extLst>
              <a:ext uri="{FF2B5EF4-FFF2-40B4-BE49-F238E27FC236}">
                <a16:creationId xmlns:a16="http://schemas.microsoft.com/office/drawing/2014/main" id="{9EB8A4A0-26E8-41C7-BE65-3B55B361B40D}"/>
              </a:ext>
            </a:extLst>
          </p:cNvPr>
          <p:cNvSpPr/>
          <p:nvPr/>
        </p:nvSpPr>
        <p:spPr>
          <a:xfrm>
            <a:off x="1449977" y="14367"/>
            <a:ext cx="9339943" cy="97841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 Database Terminology, the above operations can be summarized as :</a:t>
            </a:r>
            <a:endParaRPr lang="en-US"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E2C47C6-76D3-D948-326D-AB6B281B5448}"/>
              </a:ext>
            </a:extLst>
          </p:cNvPr>
          <p:cNvSpPr txBox="1"/>
          <p:nvPr/>
        </p:nvSpPr>
        <p:spPr>
          <a:xfrm>
            <a:off x="709127" y="1358537"/>
            <a:ext cx="10683551" cy="4524315"/>
          </a:xfrm>
          <a:prstGeom prst="rect">
            <a:avLst/>
          </a:prstGeom>
          <a:noFill/>
        </p:spPr>
        <p:txBody>
          <a:bodyPr wrap="square">
            <a:spAutoFit/>
          </a:bodyPr>
          <a:lstStyle/>
          <a:p>
            <a:r>
              <a:rPr lang="en-US" sz="2000" b="1" i="1" dirty="0"/>
              <a:t>									</a:t>
            </a:r>
            <a:r>
              <a:rPr lang="en-US" sz="3200" b="1" i="1" dirty="0"/>
              <a:t>T</a:t>
            </a:r>
            <a:r>
              <a:rPr lang="en-US" sz="3200" b="1" i="1" baseline="-25000" dirty="0"/>
              <a:t>i</a:t>
            </a:r>
            <a:r>
              <a:rPr lang="en-US" sz="3200" b="1" i="1" dirty="0"/>
              <a:t> </a:t>
            </a:r>
            <a:r>
              <a:rPr lang="en-US" sz="3200" dirty="0"/>
              <a:t>   :   read(A);</a:t>
            </a:r>
          </a:p>
          <a:p>
            <a:pPr algn="ctr"/>
            <a:r>
              <a:rPr lang="en-US" sz="3200" dirty="0"/>
              <a:t>   A := A − 800;</a:t>
            </a:r>
          </a:p>
          <a:p>
            <a:pPr algn="ctr"/>
            <a:r>
              <a:rPr lang="en-US" sz="3200" dirty="0"/>
              <a:t>write(A);</a:t>
            </a:r>
          </a:p>
          <a:p>
            <a:pPr algn="ctr"/>
            <a:endParaRPr lang="en-US" sz="3200" dirty="0"/>
          </a:p>
          <a:p>
            <a:pPr algn="ctr"/>
            <a:r>
              <a:rPr lang="en-US" sz="3200" dirty="0"/>
              <a:t>read(B);</a:t>
            </a:r>
          </a:p>
          <a:p>
            <a:pPr algn="ctr"/>
            <a:r>
              <a:rPr lang="en-US" sz="3200" dirty="0"/>
              <a:t>B := B + 800;</a:t>
            </a:r>
          </a:p>
          <a:p>
            <a:pPr algn="ctr"/>
            <a:r>
              <a:rPr lang="en-US" sz="3200" dirty="0"/>
              <a:t> write(B).</a:t>
            </a:r>
          </a:p>
          <a:p>
            <a:pPr algn="ctr"/>
            <a:endParaRPr lang="en-US" sz="3200" dirty="0"/>
          </a:p>
          <a:p>
            <a:pPr algn="ctr"/>
            <a:r>
              <a:rPr lang="en-US" sz="3200" b="1" i="1" dirty="0"/>
              <a:t>commit</a:t>
            </a:r>
            <a:endParaRPr lang="en-IN" sz="3200" b="1" i="1" dirty="0"/>
          </a:p>
        </p:txBody>
      </p:sp>
    </p:spTree>
    <p:extLst>
      <p:ext uri="{BB962C8B-B14F-4D97-AF65-F5344CB8AC3E}">
        <p14:creationId xmlns:p14="http://schemas.microsoft.com/office/powerpoint/2010/main" val="1841383571"/>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7">
            <a:extLst>
              <a:ext uri="{FF2B5EF4-FFF2-40B4-BE49-F238E27FC236}">
                <a16:creationId xmlns:a16="http://schemas.microsoft.com/office/drawing/2014/main" id="{9EB8A4A0-26E8-41C7-BE65-3B55B361B40D}"/>
              </a:ext>
            </a:extLst>
          </p:cNvPr>
          <p:cNvSpPr/>
          <p:nvPr/>
        </p:nvSpPr>
        <p:spPr>
          <a:xfrm>
            <a:off x="1619794" y="14367"/>
            <a:ext cx="9940835" cy="87390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How Transaction is being done inside the computer ?</a:t>
            </a:r>
            <a:endParaRPr lang="en-US"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B1CB24D-3730-00B1-9245-3EDEA0C49BB6}"/>
              </a:ext>
            </a:extLst>
          </p:cNvPr>
          <p:cNvSpPr txBox="1"/>
          <p:nvPr/>
        </p:nvSpPr>
        <p:spPr>
          <a:xfrm>
            <a:off x="561703" y="1010789"/>
            <a:ext cx="11260183" cy="4985062"/>
          </a:xfrm>
          <a:prstGeom prst="rect">
            <a:avLst/>
          </a:prstGeom>
          <a:noFill/>
        </p:spPr>
        <p:txBody>
          <a:bodyPr wrap="square">
            <a:spAutoFit/>
          </a:bodyPr>
          <a:lstStyle/>
          <a:p>
            <a:pPr algn="just">
              <a:buFont typeface="Arial" pitchFamily="34" charset="0"/>
              <a:buChar char="•"/>
            </a:pPr>
            <a:r>
              <a:rPr lang="en-US" sz="2800" dirty="0"/>
              <a:t>In the previous example, initially the balance in the database for A’s account is Rs 1000 and it is present in the database means it is present in the Hard Disk. </a:t>
            </a:r>
          </a:p>
          <a:p>
            <a:pPr algn="just">
              <a:buFont typeface="Arial" pitchFamily="34" charset="0"/>
              <a:buChar char="•"/>
            </a:pPr>
            <a:r>
              <a:rPr lang="en-US" sz="2800" dirty="0"/>
              <a:t>Now to perform any arithmetic operation , first of all that A’s account has to be read for the available balance. For that read(A) operation is used. Remember this read operation is being performed on the Hard Disk(Database)</a:t>
            </a:r>
          </a:p>
          <a:p>
            <a:pPr algn="just">
              <a:buFont typeface="Arial" pitchFamily="34" charset="0"/>
              <a:buChar char="•"/>
            </a:pPr>
            <a:r>
              <a:rPr lang="en-US" sz="2800" dirty="0"/>
              <a:t>After read operation, to perform arithmetic operation of A=A-800, the data of Rs 1000 has to be brought into RAM memory.</a:t>
            </a:r>
          </a:p>
          <a:p>
            <a:pPr algn="just">
              <a:buFont typeface="Arial" pitchFamily="34" charset="0"/>
              <a:buChar char="•"/>
            </a:pPr>
            <a:r>
              <a:rPr lang="en-US" sz="2800" dirty="0"/>
              <a:t>After getting Rs 1000 into RAM, then the CPU will start its execution </a:t>
            </a:r>
            <a:r>
              <a:rPr lang="en-US" sz="2800" dirty="0" err="1"/>
              <a:t>i.e</a:t>
            </a:r>
            <a:r>
              <a:rPr lang="en-US" sz="2800" dirty="0"/>
              <a:t> performs subtraction of Rs 800 from Rs 1000.</a:t>
            </a:r>
            <a:endParaRPr lang="en-IN" sz="2800" dirty="0"/>
          </a:p>
        </p:txBody>
      </p:sp>
    </p:spTree>
    <p:extLst>
      <p:ext uri="{BB962C8B-B14F-4D97-AF65-F5344CB8AC3E}">
        <p14:creationId xmlns:p14="http://schemas.microsoft.com/office/powerpoint/2010/main" val="1454337678"/>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7">
            <a:extLst>
              <a:ext uri="{FF2B5EF4-FFF2-40B4-BE49-F238E27FC236}">
                <a16:creationId xmlns:a16="http://schemas.microsoft.com/office/drawing/2014/main" id="{9EB8A4A0-26E8-41C7-BE65-3B55B361B40D}"/>
              </a:ext>
            </a:extLst>
          </p:cNvPr>
          <p:cNvSpPr/>
          <p:nvPr/>
        </p:nvSpPr>
        <p:spPr>
          <a:xfrm>
            <a:off x="1527109" y="141667"/>
            <a:ext cx="9130937" cy="103711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How Transaction is being done inside the Computer ?</a:t>
            </a:r>
            <a:endParaRPr lang="en-US"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FCADA43-96A2-86F9-5155-667B028BAC58}"/>
              </a:ext>
            </a:extLst>
          </p:cNvPr>
          <p:cNvSpPr txBox="1"/>
          <p:nvPr/>
        </p:nvSpPr>
        <p:spPr>
          <a:xfrm>
            <a:off x="640080" y="1567543"/>
            <a:ext cx="10904997" cy="4401205"/>
          </a:xfrm>
          <a:prstGeom prst="rect">
            <a:avLst/>
          </a:prstGeom>
          <a:noFill/>
        </p:spPr>
        <p:txBody>
          <a:bodyPr wrap="square">
            <a:spAutoFit/>
          </a:bodyPr>
          <a:lstStyle/>
          <a:p>
            <a:pPr algn="just">
              <a:buFont typeface="Arial" pitchFamily="34" charset="0"/>
              <a:buChar char="•"/>
            </a:pPr>
            <a:r>
              <a:rPr lang="en-US" sz="2800" dirty="0"/>
              <a:t>Now , to perform the transfer(addition) of Rs 800 to B’s account of Rs 2000, then this Rs 2000 of B has to be </a:t>
            </a:r>
            <a:r>
              <a:rPr lang="en-US" sz="2800" b="1" i="1" dirty="0"/>
              <a:t>read </a:t>
            </a:r>
            <a:r>
              <a:rPr lang="en-US" sz="2800" dirty="0"/>
              <a:t>and  brought into RAM again.</a:t>
            </a:r>
          </a:p>
          <a:p>
            <a:pPr algn="just">
              <a:buFont typeface="Arial" pitchFamily="34" charset="0"/>
              <a:buChar char="•"/>
            </a:pPr>
            <a:r>
              <a:rPr lang="en-US" sz="2800" dirty="0"/>
              <a:t>After getting Rs 2000 of B’s balance into RAM, the CPU again starts performing the addition operation </a:t>
            </a:r>
            <a:r>
              <a:rPr lang="en-US" sz="2800" dirty="0" err="1"/>
              <a:t>i.e</a:t>
            </a:r>
            <a:r>
              <a:rPr lang="en-US" sz="2800" dirty="0"/>
              <a:t> B=B+800.</a:t>
            </a:r>
          </a:p>
          <a:p>
            <a:pPr algn="just">
              <a:buFont typeface="Arial" pitchFamily="34" charset="0"/>
              <a:buChar char="•"/>
            </a:pPr>
            <a:endParaRPr lang="en-US" sz="2800" dirty="0"/>
          </a:p>
          <a:p>
            <a:pPr algn="just">
              <a:buFont typeface="Arial" pitchFamily="34" charset="0"/>
              <a:buChar char="•"/>
            </a:pPr>
            <a:r>
              <a:rPr lang="en-US" sz="2800" dirty="0"/>
              <a:t>Remember all these operations are being done only inside RAM memory, but not in the Database(Hard Disk).</a:t>
            </a:r>
          </a:p>
          <a:p>
            <a:pPr algn="just">
              <a:buFont typeface="Arial" pitchFamily="34" charset="0"/>
              <a:buChar char="•"/>
            </a:pPr>
            <a:endParaRPr lang="en-US" sz="2800" dirty="0"/>
          </a:p>
          <a:p>
            <a:pPr algn="just">
              <a:buFont typeface="Arial" pitchFamily="34" charset="0"/>
              <a:buChar char="•"/>
            </a:pPr>
            <a:r>
              <a:rPr lang="en-US" sz="2800" dirty="0"/>
              <a:t>Finally , to save these changes into the Database finally, we have to use </a:t>
            </a:r>
            <a:r>
              <a:rPr lang="en-US" sz="2800" b="1" i="1" dirty="0"/>
              <a:t>commit </a:t>
            </a:r>
            <a:r>
              <a:rPr lang="en-US" sz="2800" dirty="0"/>
              <a:t>operation</a:t>
            </a:r>
            <a:endParaRPr lang="en-IN"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7127659"/>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7">
            <a:extLst>
              <a:ext uri="{FF2B5EF4-FFF2-40B4-BE49-F238E27FC236}">
                <a16:creationId xmlns:a16="http://schemas.microsoft.com/office/drawing/2014/main" id="{9EB8A4A0-26E8-41C7-BE65-3B55B361B40D}"/>
              </a:ext>
            </a:extLst>
          </p:cNvPr>
          <p:cNvSpPr/>
          <p:nvPr/>
        </p:nvSpPr>
        <p:spPr>
          <a:xfrm>
            <a:off x="1580606" y="14367"/>
            <a:ext cx="9222377" cy="86084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Main Technical Operations used to perform Transaction</a:t>
            </a:r>
            <a:endParaRPr lang="en-US" sz="2800" b="1" dirty="0">
              <a:latin typeface="Times New Roman" panose="02020603050405020304" pitchFamily="18" charset="0"/>
              <a:cs typeface="Times New Roman" panose="02020603050405020304" pitchFamily="18" charset="0"/>
            </a:endParaRPr>
          </a:p>
        </p:txBody>
      </p:sp>
      <p:sp>
        <p:nvSpPr>
          <p:cNvPr id="4" name="Rectangle 3"/>
          <p:cNvSpPr/>
          <p:nvPr/>
        </p:nvSpPr>
        <p:spPr>
          <a:xfrm>
            <a:off x="548640" y="1110344"/>
            <a:ext cx="11129554" cy="4832092"/>
          </a:xfrm>
          <a:prstGeom prst="rect">
            <a:avLst/>
          </a:prstGeom>
        </p:spPr>
        <p:txBody>
          <a:bodyPr wrap="square">
            <a:spAutoFit/>
          </a:bodyPr>
          <a:lstStyle/>
          <a:p>
            <a:pPr algn="just"/>
            <a:r>
              <a:rPr lang="en-US" sz="2800" dirty="0"/>
              <a:t>Transactions access data using TWO operations:</a:t>
            </a:r>
          </a:p>
          <a:p>
            <a:pPr algn="just"/>
            <a:endParaRPr lang="en-US" sz="2800" dirty="0"/>
          </a:p>
          <a:p>
            <a:pPr algn="just"/>
            <a:r>
              <a:rPr lang="en-US" sz="2800" b="1" i="1" dirty="0"/>
              <a:t>• read(A) </a:t>
            </a:r>
            <a:r>
              <a:rPr lang="en-US" sz="2800" dirty="0"/>
              <a:t>which transfers the data item A from the database to a variable, also called A, in a buffer in main memory belonging to the transaction that executed the read operation.</a:t>
            </a:r>
          </a:p>
          <a:p>
            <a:pPr algn="just"/>
            <a:endParaRPr lang="en-US" sz="2800" dirty="0"/>
          </a:p>
          <a:p>
            <a:pPr algn="just"/>
            <a:r>
              <a:rPr lang="en-US" sz="2800" dirty="0"/>
              <a:t>•</a:t>
            </a:r>
            <a:r>
              <a:rPr lang="en-US" sz="2800" b="1" i="1" dirty="0"/>
              <a:t>write(A)</a:t>
            </a:r>
            <a:r>
              <a:rPr lang="en-US" sz="2800" i="1" dirty="0"/>
              <a:t> </a:t>
            </a:r>
            <a:r>
              <a:rPr lang="en-US" sz="2800" dirty="0"/>
              <a:t>which transfers the value in the variable A in the main-memory buffer of the transaction</a:t>
            </a:r>
          </a:p>
          <a:p>
            <a:pPr algn="just"/>
            <a:endParaRPr lang="en-US" sz="2800" dirty="0"/>
          </a:p>
          <a:p>
            <a:pPr algn="just"/>
            <a:r>
              <a:rPr lang="en-US" sz="2800" dirty="0"/>
              <a:t>Apart from the above TWO, every transaction concludes with </a:t>
            </a:r>
            <a:r>
              <a:rPr lang="en-US" sz="2800" b="1" i="1" dirty="0"/>
              <a:t>commit () operation  </a:t>
            </a:r>
            <a:r>
              <a:rPr lang="en-US" sz="2800" dirty="0"/>
              <a:t>to successfully save the updates</a:t>
            </a:r>
            <a:endParaRPr lang="en-IN" sz="2800" dirty="0"/>
          </a:p>
        </p:txBody>
      </p:sp>
    </p:spTree>
    <p:extLst>
      <p:ext uri="{BB962C8B-B14F-4D97-AF65-F5344CB8AC3E}">
        <p14:creationId xmlns:p14="http://schemas.microsoft.com/office/powerpoint/2010/main" val="2600507615"/>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7">
            <a:extLst>
              <a:ext uri="{FF2B5EF4-FFF2-40B4-BE49-F238E27FC236}">
                <a16:creationId xmlns:a16="http://schemas.microsoft.com/office/drawing/2014/main" id="{9EB8A4A0-26E8-41C7-BE65-3B55B361B40D}"/>
              </a:ext>
            </a:extLst>
          </p:cNvPr>
          <p:cNvSpPr/>
          <p:nvPr/>
        </p:nvSpPr>
        <p:spPr>
          <a:xfrm>
            <a:off x="2822256" y="14367"/>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atin typeface="Times New Roman" panose="02020603050405020304" pitchFamily="18" charset="0"/>
                <a:cs typeface="Times New Roman" panose="02020603050405020304" pitchFamily="18" charset="0"/>
              </a:rPr>
              <a:t>Don’t Confuse…..</a:t>
            </a:r>
          </a:p>
        </p:txBody>
      </p:sp>
      <p:sp>
        <p:nvSpPr>
          <p:cNvPr id="3" name="TextBox 2">
            <a:extLst>
              <a:ext uri="{FF2B5EF4-FFF2-40B4-BE49-F238E27FC236}">
                <a16:creationId xmlns:a16="http://schemas.microsoft.com/office/drawing/2014/main" id="{8325921A-23DE-D0EC-8FF2-D22D171FA566}"/>
              </a:ext>
            </a:extLst>
          </p:cNvPr>
          <p:cNvSpPr txBox="1"/>
          <p:nvPr/>
        </p:nvSpPr>
        <p:spPr>
          <a:xfrm>
            <a:off x="942391" y="1724297"/>
            <a:ext cx="10748865" cy="1077218"/>
          </a:xfrm>
          <a:prstGeom prst="rect">
            <a:avLst/>
          </a:prstGeom>
          <a:noFill/>
        </p:spPr>
        <p:txBody>
          <a:bodyPr wrap="square">
            <a:spAutoFit/>
          </a:bodyPr>
          <a:lstStyle/>
          <a:p>
            <a:r>
              <a:rPr lang="en-US" sz="3200" dirty="0"/>
              <a:t> A Single </a:t>
            </a:r>
            <a:r>
              <a:rPr lang="en-US" sz="3200" b="1" i="1" dirty="0"/>
              <a:t>Operation CAN  NOT be a Transaction but Transaction is a set of  logically related operations</a:t>
            </a:r>
            <a:r>
              <a:rPr lang="en-US" sz="2000" b="1" i="1" dirty="0"/>
              <a:t>.</a:t>
            </a:r>
            <a:endParaRPr lang="en-IN" sz="2000" b="1" i="1" dirty="0"/>
          </a:p>
        </p:txBody>
      </p:sp>
    </p:spTree>
    <p:extLst>
      <p:ext uri="{BB962C8B-B14F-4D97-AF65-F5344CB8AC3E}">
        <p14:creationId xmlns:p14="http://schemas.microsoft.com/office/powerpoint/2010/main" val="370806648"/>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6182" y="365126"/>
            <a:ext cx="9237617" cy="588463"/>
          </a:xfrm>
        </p:spPr>
        <p:txBody>
          <a:bodyPr/>
          <a:lstStyle/>
          <a:p>
            <a:r>
              <a:rPr lang="en-US" dirty="0"/>
              <a:t>Transaction-Timing Diagram</a:t>
            </a: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6022" y="1077913"/>
            <a:ext cx="10345783" cy="4695870"/>
          </a:xfrm>
        </p:spPr>
      </p:pic>
    </p:spTree>
    <p:extLst>
      <p:ext uri="{BB962C8B-B14F-4D97-AF65-F5344CB8AC3E}">
        <p14:creationId xmlns:p14="http://schemas.microsoft.com/office/powerpoint/2010/main" val="2230998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9976" y="365126"/>
            <a:ext cx="9903823" cy="510086"/>
          </a:xfrm>
        </p:spPr>
        <p:txBody>
          <a:bodyPr>
            <a:normAutofit fontScale="90000"/>
          </a:bodyPr>
          <a:lstStyle/>
          <a:p>
            <a:r>
              <a:rPr lang="en-US" b="1" dirty="0"/>
              <a:t>Transaction-Example 2(E-Commerce)</a:t>
            </a:r>
            <a:endParaRPr lang="en-IN" b="1" dirty="0"/>
          </a:p>
        </p:txBody>
      </p:sp>
      <p:sp>
        <p:nvSpPr>
          <p:cNvPr id="3" name="Content Placeholder 2"/>
          <p:cNvSpPr>
            <a:spLocks noGrp="1"/>
          </p:cNvSpPr>
          <p:nvPr>
            <p:ph idx="1"/>
          </p:nvPr>
        </p:nvSpPr>
        <p:spPr>
          <a:xfrm>
            <a:off x="783771" y="914400"/>
            <a:ext cx="10570029" cy="5277394"/>
          </a:xfrm>
        </p:spPr>
        <p:txBody>
          <a:bodyPr>
            <a:normAutofit lnSpcReduction="10000"/>
          </a:bodyPr>
          <a:lstStyle/>
          <a:p>
            <a:pPr marL="0" indent="0">
              <a:buNone/>
            </a:pPr>
            <a:r>
              <a:rPr lang="en-US" dirty="0"/>
              <a:t>Placing an Order in </a:t>
            </a:r>
            <a:r>
              <a:rPr lang="en-US" dirty="0" err="1"/>
              <a:t>Flipkart</a:t>
            </a:r>
            <a:r>
              <a:rPr lang="en-US" dirty="0"/>
              <a:t>/Amazon </a:t>
            </a:r>
          </a:p>
          <a:p>
            <a:r>
              <a:rPr lang="en-US" b="1" i="1" dirty="0"/>
              <a:t>Transaction Start</a:t>
            </a:r>
          </a:p>
          <a:p>
            <a:r>
              <a:rPr lang="en-US" b="1" i="1" dirty="0"/>
              <a:t>Selecting the item/product</a:t>
            </a:r>
          </a:p>
          <a:p>
            <a:r>
              <a:rPr lang="en-US" b="1" i="1" dirty="0"/>
              <a:t>Selecting a Payment Method(Net Banking/</a:t>
            </a:r>
            <a:r>
              <a:rPr lang="en-US" b="1" i="1" dirty="0" err="1"/>
              <a:t>Gpay</a:t>
            </a:r>
            <a:r>
              <a:rPr lang="en-US" b="1" i="1" dirty="0"/>
              <a:t>/Pay Later etc.,)</a:t>
            </a:r>
          </a:p>
          <a:p>
            <a:r>
              <a:rPr lang="en-US" b="1" i="1" dirty="0"/>
              <a:t>If it is Net Banking, then Select the Bank </a:t>
            </a:r>
          </a:p>
          <a:p>
            <a:r>
              <a:rPr lang="en-US" b="1" i="1" dirty="0"/>
              <a:t>Enter the User ID &amp; Password on that Bank Net Banking Portal</a:t>
            </a:r>
          </a:p>
          <a:p>
            <a:r>
              <a:rPr lang="en-US" b="1" i="1" dirty="0"/>
              <a:t>Approve the Amount</a:t>
            </a:r>
          </a:p>
          <a:p>
            <a:r>
              <a:rPr lang="en-US" b="1" i="1" dirty="0"/>
              <a:t>Enter the High Security Password</a:t>
            </a:r>
          </a:p>
          <a:p>
            <a:r>
              <a:rPr lang="en-US" b="1" i="1" dirty="0"/>
              <a:t>Check the amount Payment is Successful or not</a:t>
            </a:r>
          </a:p>
          <a:p>
            <a:r>
              <a:rPr lang="en-US" b="1" i="1" dirty="0"/>
              <a:t>Return to Merchant Website</a:t>
            </a:r>
          </a:p>
          <a:p>
            <a:r>
              <a:rPr lang="en-US" b="1" i="1" dirty="0"/>
              <a:t>Transaction Completed</a:t>
            </a:r>
          </a:p>
          <a:p>
            <a:pPr marL="0" indent="0">
              <a:buNone/>
            </a:pP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3589570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4481" y="365126"/>
            <a:ext cx="10121704" cy="810531"/>
          </a:xfrm>
        </p:spPr>
        <p:txBody>
          <a:bodyPr>
            <a:noAutofit/>
          </a:bodyPr>
          <a:lstStyle/>
          <a:p>
            <a:r>
              <a:rPr lang="en-US" sz="2400" b="1" dirty="0"/>
              <a:t>Example 3-Transaction to be performed to withdraw cash from an ATM </a:t>
            </a:r>
            <a:br>
              <a:rPr lang="en-US" sz="3200" dirty="0"/>
            </a:br>
            <a:endParaRPr lang="en-IN" sz="3200" dirty="0"/>
          </a:p>
        </p:txBody>
      </p:sp>
      <p:sp>
        <p:nvSpPr>
          <p:cNvPr id="3" name="Content Placeholder 2"/>
          <p:cNvSpPr>
            <a:spLocks noGrp="1"/>
          </p:cNvSpPr>
          <p:nvPr>
            <p:ph idx="1"/>
          </p:nvPr>
        </p:nvSpPr>
        <p:spPr>
          <a:xfrm>
            <a:off x="363415" y="1254369"/>
            <a:ext cx="11312769" cy="4793734"/>
          </a:xfrm>
        </p:spPr>
        <p:txBody>
          <a:bodyPr>
            <a:normAutofit fontScale="70000" lnSpcReduction="20000"/>
          </a:bodyPr>
          <a:lstStyle/>
          <a:p>
            <a:endParaRPr lang="en-US" dirty="0"/>
          </a:p>
          <a:p>
            <a:r>
              <a:rPr lang="en-US" sz="2800" dirty="0"/>
              <a:t>Consider the following example for transaction operations as follows. </a:t>
            </a:r>
          </a:p>
          <a:p>
            <a:r>
              <a:rPr lang="en-US" sz="2800" dirty="0"/>
              <a:t>    </a:t>
            </a:r>
            <a:r>
              <a:rPr lang="en-US" sz="2800" b="1" i="1" dirty="0"/>
              <a:t>Transaction Start.      </a:t>
            </a:r>
          </a:p>
          <a:p>
            <a:r>
              <a:rPr lang="en-US" sz="2800" b="1" i="1" dirty="0"/>
              <a:t>    Insert your ATM card.   </a:t>
            </a:r>
          </a:p>
          <a:p>
            <a:r>
              <a:rPr lang="en-US" sz="2800" b="1" i="1" dirty="0"/>
              <a:t>    Select language for your transaction. </a:t>
            </a:r>
          </a:p>
          <a:p>
            <a:r>
              <a:rPr lang="en-US" sz="2800" b="1" i="1" dirty="0"/>
              <a:t>    Select Savings Account option.     </a:t>
            </a:r>
          </a:p>
          <a:p>
            <a:r>
              <a:rPr lang="en-US" sz="2800" b="1" i="1" dirty="0"/>
              <a:t>    Enter the amount you want to withdraw.    </a:t>
            </a:r>
          </a:p>
          <a:p>
            <a:r>
              <a:rPr lang="en-US" sz="2800" b="1" i="1" dirty="0"/>
              <a:t>    Enter your secret PIN.   </a:t>
            </a:r>
          </a:p>
          <a:p>
            <a:r>
              <a:rPr lang="en-US" sz="2800" b="1" i="1" dirty="0"/>
              <a:t>    Wait for some time for processing.   </a:t>
            </a:r>
          </a:p>
          <a:p>
            <a:r>
              <a:rPr lang="en-US" sz="2800" b="1" i="1" dirty="0"/>
              <a:t>    Collect your Cash.    </a:t>
            </a:r>
          </a:p>
          <a:p>
            <a:r>
              <a:rPr lang="en-US" sz="2800" b="1" i="1" dirty="0"/>
              <a:t>    Transaction Completed. </a:t>
            </a:r>
          </a:p>
        </p:txBody>
      </p:sp>
    </p:spTree>
    <p:extLst>
      <p:ext uri="{BB962C8B-B14F-4D97-AF65-F5344CB8AC3E}">
        <p14:creationId xmlns:p14="http://schemas.microsoft.com/office/powerpoint/2010/main" val="3152891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522514"/>
            <a:ext cx="9603275" cy="836024"/>
          </a:xfrm>
        </p:spPr>
        <p:txBody>
          <a:bodyPr>
            <a:normAutofit fontScale="90000"/>
          </a:bodyPr>
          <a:lstStyle/>
          <a:p>
            <a:r>
              <a:rPr lang="en-US" b="1" dirty="0"/>
              <a:t>Popular Examples of Transaction Processing</a:t>
            </a:r>
            <a:endParaRPr lang="en-IN" b="1" dirty="0"/>
          </a:p>
        </p:txBody>
      </p:sp>
      <p:sp>
        <p:nvSpPr>
          <p:cNvPr id="3" name="Content Placeholder 2"/>
          <p:cNvSpPr>
            <a:spLocks noGrp="1"/>
          </p:cNvSpPr>
          <p:nvPr>
            <p:ph idx="1"/>
          </p:nvPr>
        </p:nvSpPr>
        <p:spPr>
          <a:xfrm>
            <a:off x="1358537" y="1410789"/>
            <a:ext cx="9696317" cy="4728753"/>
          </a:xfrm>
        </p:spPr>
        <p:txBody>
          <a:bodyPr>
            <a:noAutofit/>
          </a:bodyPr>
          <a:lstStyle/>
          <a:p>
            <a:r>
              <a:rPr lang="en-US" sz="3200" dirty="0"/>
              <a:t>Automated Teller Machines(ATMs)</a:t>
            </a:r>
          </a:p>
          <a:p>
            <a:r>
              <a:rPr lang="en-US" sz="3200" dirty="0"/>
              <a:t> Credit Card Authorizations</a:t>
            </a:r>
          </a:p>
          <a:p>
            <a:r>
              <a:rPr lang="en-US" sz="3200" dirty="0"/>
              <a:t> Online Bill Payments</a:t>
            </a:r>
          </a:p>
          <a:p>
            <a:r>
              <a:rPr lang="en-US" sz="3200" dirty="0"/>
              <a:t> Self-Checkout stations at Grocery Stores </a:t>
            </a:r>
          </a:p>
          <a:p>
            <a:r>
              <a:rPr lang="en-US" sz="3200" dirty="0"/>
              <a:t>Trading of Stocks over the Internet and</a:t>
            </a:r>
          </a:p>
          <a:p>
            <a:r>
              <a:rPr lang="en-US" sz="3200" dirty="0"/>
              <a:t> Various other forms of Electronic Commerce.</a:t>
            </a:r>
            <a:endParaRPr lang="en-IN" sz="3200" dirty="0"/>
          </a:p>
        </p:txBody>
      </p:sp>
    </p:spTree>
    <p:extLst>
      <p:ext uri="{BB962C8B-B14F-4D97-AF65-F5344CB8AC3E}">
        <p14:creationId xmlns:p14="http://schemas.microsoft.com/office/powerpoint/2010/main" val="4013539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40936"/>
          </a:xfrm>
        </p:spPr>
        <p:txBody>
          <a:bodyPr>
            <a:normAutofit/>
          </a:bodyPr>
          <a:lstStyle/>
          <a:p>
            <a:r>
              <a:rPr lang="en-US" b="1" dirty="0"/>
              <a:t>Transaction Processing Issues</a:t>
            </a:r>
            <a:endParaRPr lang="en-IN" b="1" dirty="0"/>
          </a:p>
        </p:txBody>
      </p:sp>
      <p:sp>
        <p:nvSpPr>
          <p:cNvPr id="3" name="Content Placeholder 2"/>
          <p:cNvSpPr>
            <a:spLocks noGrp="1"/>
          </p:cNvSpPr>
          <p:nvPr>
            <p:ph idx="1"/>
          </p:nvPr>
        </p:nvSpPr>
        <p:spPr>
          <a:xfrm>
            <a:off x="838200" y="953589"/>
            <a:ext cx="10515600" cy="5599611"/>
          </a:xfrm>
        </p:spPr>
        <p:txBody>
          <a:bodyPr/>
          <a:lstStyle/>
          <a:p>
            <a:pPr marL="0" indent="0" algn="just">
              <a:buNone/>
            </a:pPr>
            <a:r>
              <a:rPr lang="en-US" sz="2800" b="1" i="1" dirty="0"/>
              <a:t>Failure of Operations in the middle of a transaction.</a:t>
            </a:r>
            <a:endParaRPr lang="en-US" sz="2800" dirty="0"/>
          </a:p>
          <a:p>
            <a:pPr algn="just"/>
            <a:r>
              <a:rPr lang="en-US" sz="2800" dirty="0"/>
              <a:t>Can be due to power failure, system crash etc. This is a serious problem that can leave database in an inconsistent state. </a:t>
            </a:r>
          </a:p>
          <a:p>
            <a:pPr marL="0" indent="0" algn="just">
              <a:buNone/>
            </a:pPr>
            <a:endParaRPr lang="en-US" sz="2800" dirty="0"/>
          </a:p>
          <a:p>
            <a:pPr algn="just"/>
            <a:r>
              <a:rPr lang="en-US" sz="2800" dirty="0"/>
              <a:t>Assume that transaction fail after entering the PIN number in ATM , then the account statement shows that the amount is deducted from  but we wont receive the cash from the machine outlet or our friend will not receive it. This is called as inconsistent database.</a:t>
            </a:r>
          </a:p>
          <a:p>
            <a:pPr marL="0" indent="0" algn="just">
              <a:buNone/>
            </a:pPr>
            <a:endParaRPr lang="en-US" dirty="0"/>
          </a:p>
          <a:p>
            <a:endParaRPr lang="en-IN" dirty="0"/>
          </a:p>
        </p:txBody>
      </p:sp>
    </p:spTree>
    <p:extLst>
      <p:ext uri="{BB962C8B-B14F-4D97-AF65-F5344CB8AC3E}">
        <p14:creationId xmlns:p14="http://schemas.microsoft.com/office/powerpoint/2010/main" val="1713494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42352"/>
          </a:xfrm>
        </p:spPr>
        <p:txBody>
          <a:bodyPr/>
          <a:lstStyle/>
          <a:p>
            <a:r>
              <a:rPr lang="en-US" b="1" dirty="0"/>
              <a:t>Transaction Processing Issues</a:t>
            </a:r>
            <a:endParaRPr lang="en-IN" b="1" dirty="0"/>
          </a:p>
        </p:txBody>
      </p:sp>
      <p:sp>
        <p:nvSpPr>
          <p:cNvPr id="3" name="Content Placeholder 2"/>
          <p:cNvSpPr>
            <a:spLocks noGrp="1"/>
          </p:cNvSpPr>
          <p:nvPr>
            <p:ph idx="1"/>
          </p:nvPr>
        </p:nvSpPr>
        <p:spPr>
          <a:xfrm>
            <a:off x="838200" y="1018903"/>
            <a:ext cx="10515600" cy="5499128"/>
          </a:xfrm>
        </p:spPr>
        <p:txBody>
          <a:bodyPr>
            <a:normAutofit fontScale="85000" lnSpcReduction="10000"/>
          </a:bodyPr>
          <a:lstStyle/>
          <a:p>
            <a:endParaRPr lang="en-US" b="1" i="1" dirty="0"/>
          </a:p>
          <a:p>
            <a:pPr algn="just"/>
            <a:r>
              <a:rPr lang="en-US" sz="3200" b="1" i="1" dirty="0"/>
              <a:t>Ensuring Data Consistency before and after the transaction</a:t>
            </a:r>
          </a:p>
          <a:p>
            <a:pPr marL="0" indent="0" algn="just">
              <a:buNone/>
            </a:pPr>
            <a:r>
              <a:rPr lang="en-US" sz="3200" dirty="0"/>
              <a:t> For example, for amount transfer transaction from Account A to Account B, then the total should be the same before and after the transaction.</a:t>
            </a:r>
          </a:p>
          <a:p>
            <a:pPr marL="0" indent="0" algn="just">
              <a:buNone/>
            </a:pPr>
            <a:endParaRPr lang="en-US" sz="3200" dirty="0"/>
          </a:p>
          <a:p>
            <a:pPr algn="just"/>
            <a:r>
              <a:rPr lang="en-US" sz="3200" b="1" i="1" dirty="0"/>
              <a:t>Handling Concurrent Transactions</a:t>
            </a:r>
          </a:p>
          <a:p>
            <a:pPr marL="0" indent="0" algn="just">
              <a:buNone/>
            </a:pPr>
            <a:endParaRPr lang="en-US" sz="3200" b="1" i="1" dirty="0"/>
          </a:p>
          <a:p>
            <a:pPr algn="just"/>
            <a:r>
              <a:rPr lang="en-US" sz="3200" b="1" i="1" dirty="0"/>
              <a:t>Once a transaction completes successfully, the updates should be reflected permanently, even during power/network failures etc.,</a:t>
            </a:r>
          </a:p>
          <a:p>
            <a:endParaRPr lang="en-IN" b="1" i="1" dirty="0"/>
          </a:p>
        </p:txBody>
      </p:sp>
    </p:spTree>
    <p:extLst>
      <p:ext uri="{BB962C8B-B14F-4D97-AF65-F5344CB8AC3E}">
        <p14:creationId xmlns:p14="http://schemas.microsoft.com/office/powerpoint/2010/main" val="1405611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14106"/>
          </a:xfrm>
        </p:spPr>
        <p:txBody>
          <a:bodyPr>
            <a:normAutofit fontScale="90000"/>
          </a:bodyPr>
          <a:lstStyle/>
          <a:p>
            <a:r>
              <a:rPr lang="en-US" b="1" dirty="0"/>
              <a:t>Concurrent Execution of Transactions</a:t>
            </a:r>
            <a:endParaRPr lang="en-IN" b="1" dirty="0"/>
          </a:p>
        </p:txBody>
      </p:sp>
      <p:sp>
        <p:nvSpPr>
          <p:cNvPr id="3" name="Content Placeholder 2"/>
          <p:cNvSpPr>
            <a:spLocks noGrp="1"/>
          </p:cNvSpPr>
          <p:nvPr>
            <p:ph idx="1"/>
          </p:nvPr>
        </p:nvSpPr>
        <p:spPr>
          <a:xfrm>
            <a:off x="838200" y="914401"/>
            <a:ext cx="10515600" cy="5225142"/>
          </a:xfrm>
        </p:spPr>
        <p:txBody>
          <a:bodyPr>
            <a:normAutofit lnSpcReduction="10000"/>
          </a:bodyPr>
          <a:lstStyle/>
          <a:p>
            <a:pPr algn="just"/>
            <a:endParaRPr lang="en-US" dirty="0"/>
          </a:p>
          <a:p>
            <a:pPr algn="just"/>
            <a:r>
              <a:rPr lang="en-US" sz="2800" dirty="0"/>
              <a:t>In a multi-user system, multiple users can access and use the same database at one time, which is known as the concurrent execution of the database. </a:t>
            </a:r>
          </a:p>
          <a:p>
            <a:pPr algn="just"/>
            <a:r>
              <a:rPr lang="en-US" sz="2800" dirty="0"/>
              <a:t>It means that the </a:t>
            </a:r>
            <a:r>
              <a:rPr lang="en-US" sz="2800" b="1" i="1" dirty="0"/>
              <a:t>same database </a:t>
            </a:r>
            <a:r>
              <a:rPr lang="en-US" sz="2800" dirty="0"/>
              <a:t>is executed simultaneously on a multi-user system by different users.</a:t>
            </a:r>
          </a:p>
          <a:p>
            <a:pPr algn="just"/>
            <a:r>
              <a:rPr lang="en-US" sz="2800" dirty="0"/>
              <a:t>While working on the database transactions, there occurs the requirement of using the database by multiple users for performing different operations, and in that case, concurrent execution of the database is performed.</a:t>
            </a:r>
          </a:p>
          <a:p>
            <a:pPr marL="0" indent="0" algn="just">
              <a:buNone/>
            </a:pPr>
            <a:endParaRPr lang="en-US" dirty="0"/>
          </a:p>
          <a:p>
            <a:endParaRPr lang="en-IN" dirty="0"/>
          </a:p>
        </p:txBody>
      </p:sp>
    </p:spTree>
    <p:extLst>
      <p:ext uri="{BB962C8B-B14F-4D97-AF65-F5344CB8AC3E}">
        <p14:creationId xmlns:p14="http://schemas.microsoft.com/office/powerpoint/2010/main" val="8277664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1" y="804520"/>
            <a:ext cx="10711542" cy="671584"/>
          </a:xfrm>
        </p:spPr>
        <p:txBody>
          <a:bodyPr/>
          <a:lstStyle/>
          <a:p>
            <a:r>
              <a:rPr lang="en-US" b="1" dirty="0"/>
              <a:t>Concurrent Execution of Transactions</a:t>
            </a:r>
            <a:endParaRPr lang="en-IN" b="1" dirty="0"/>
          </a:p>
        </p:txBody>
      </p:sp>
      <p:sp>
        <p:nvSpPr>
          <p:cNvPr id="3" name="Content Placeholder 2"/>
          <p:cNvSpPr>
            <a:spLocks noGrp="1"/>
          </p:cNvSpPr>
          <p:nvPr>
            <p:ph idx="1"/>
          </p:nvPr>
        </p:nvSpPr>
        <p:spPr>
          <a:xfrm>
            <a:off x="1175657" y="1554480"/>
            <a:ext cx="9879197" cy="4297680"/>
          </a:xfrm>
        </p:spPr>
        <p:txBody>
          <a:bodyPr>
            <a:normAutofit/>
          </a:bodyPr>
          <a:lstStyle/>
          <a:p>
            <a:pPr algn="just"/>
            <a:r>
              <a:rPr lang="en-US" sz="2800" dirty="0">
                <a:solidFill>
                  <a:prstClr val="black"/>
                </a:solidFill>
              </a:rPr>
              <a:t>The thing is that the simultaneous execution that is performed should be done in an interleaved manner, and no operation should affect the other executing operations, thus maintaining the consistency of the database. </a:t>
            </a:r>
          </a:p>
          <a:p>
            <a:pPr algn="just"/>
            <a:r>
              <a:rPr lang="en-US" sz="2800" dirty="0">
                <a:solidFill>
                  <a:prstClr val="black"/>
                </a:solidFill>
              </a:rPr>
              <a:t>Thus, on making the concurrent execution of the transaction operations, there occur several challenging problems that need to be solved</a:t>
            </a:r>
            <a:endParaRPr lang="en-IN" sz="2800" dirty="0"/>
          </a:p>
        </p:txBody>
      </p:sp>
    </p:spTree>
    <p:extLst>
      <p:ext uri="{BB962C8B-B14F-4D97-AF65-F5344CB8AC3E}">
        <p14:creationId xmlns:p14="http://schemas.microsoft.com/office/powerpoint/2010/main" val="3646017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20"/>
            <a:ext cx="9603275" cy="671584"/>
          </a:xfrm>
        </p:spPr>
        <p:txBody>
          <a:bodyPr>
            <a:normAutofit fontScale="90000"/>
          </a:bodyPr>
          <a:lstStyle/>
          <a:p>
            <a:r>
              <a:rPr lang="en-US" b="1" dirty="0"/>
              <a:t>Concurrent Execution of Transactions</a:t>
            </a:r>
            <a:endParaRPr lang="en-IN" b="1" dirty="0"/>
          </a:p>
        </p:txBody>
      </p:sp>
      <p:sp>
        <p:nvSpPr>
          <p:cNvPr id="3" name="Content Placeholder 2"/>
          <p:cNvSpPr>
            <a:spLocks noGrp="1"/>
          </p:cNvSpPr>
          <p:nvPr>
            <p:ph idx="1"/>
          </p:nvPr>
        </p:nvSpPr>
        <p:spPr/>
        <p:txBody>
          <a:bodyPr>
            <a:noAutofit/>
          </a:bodyPr>
          <a:lstStyle/>
          <a:p>
            <a:pPr algn="just"/>
            <a:r>
              <a:rPr lang="en-US" sz="3200" dirty="0"/>
              <a:t>In a database transaction, the two main operations are </a:t>
            </a:r>
            <a:r>
              <a:rPr lang="en-US" sz="3200" b="1" i="1" dirty="0"/>
              <a:t>READ</a:t>
            </a:r>
            <a:r>
              <a:rPr lang="en-US" sz="3200" dirty="0"/>
              <a:t> and </a:t>
            </a:r>
            <a:r>
              <a:rPr lang="en-US" sz="3200" b="1" i="1" dirty="0"/>
              <a:t>WRITE</a:t>
            </a:r>
            <a:r>
              <a:rPr lang="en-US" sz="3200" dirty="0"/>
              <a:t> operations.</a:t>
            </a:r>
          </a:p>
          <a:p>
            <a:pPr algn="just"/>
            <a:r>
              <a:rPr lang="en-US" sz="3200" dirty="0"/>
              <a:t> So, there is a need to manage these two operations in the concurrent execution of the transactions as if these operations are not performed in an interleaved manner, and the data may become inconsistent</a:t>
            </a:r>
            <a:endParaRPr lang="en-IN" sz="3200" dirty="0"/>
          </a:p>
        </p:txBody>
      </p:sp>
    </p:spTree>
    <p:extLst>
      <p:ext uri="{BB962C8B-B14F-4D97-AF65-F5344CB8AC3E}">
        <p14:creationId xmlns:p14="http://schemas.microsoft.com/office/powerpoint/2010/main" val="3922758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8954"/>
            <a:ext cx="10515600" cy="539261"/>
          </a:xfrm>
        </p:spPr>
        <p:txBody>
          <a:bodyPr>
            <a:normAutofit/>
          </a:bodyPr>
          <a:lstStyle/>
          <a:p>
            <a:r>
              <a:rPr lang="en-US" b="1" dirty="0"/>
              <a:t>Transaction States</a:t>
            </a:r>
            <a:endParaRPr lang="en-IN" b="1" dirty="0"/>
          </a:p>
        </p:txBody>
      </p:sp>
      <p:sp>
        <p:nvSpPr>
          <p:cNvPr id="3" name="Content Placeholder 2"/>
          <p:cNvSpPr>
            <a:spLocks noGrp="1"/>
          </p:cNvSpPr>
          <p:nvPr>
            <p:ph idx="1"/>
          </p:nvPr>
        </p:nvSpPr>
        <p:spPr>
          <a:xfrm>
            <a:off x="838200" y="849086"/>
            <a:ext cx="10515600" cy="5081452"/>
          </a:xfrm>
        </p:spPr>
        <p:txBody>
          <a:bodyPr>
            <a:normAutofit fontScale="85000" lnSpcReduction="20000"/>
          </a:bodyPr>
          <a:lstStyle/>
          <a:p>
            <a:r>
              <a:rPr lang="en-US" sz="2800" dirty="0"/>
              <a:t>A transaction goes through many different states throughout its life cycle.</a:t>
            </a:r>
          </a:p>
          <a:p>
            <a:r>
              <a:rPr lang="en-US" sz="2800" dirty="0"/>
              <a:t>These states are called as </a:t>
            </a:r>
            <a:r>
              <a:rPr lang="en-US" sz="2800" b="1" dirty="0"/>
              <a:t>transaction states</a:t>
            </a:r>
            <a:r>
              <a:rPr lang="en-US" sz="2800" dirty="0"/>
              <a:t>.</a:t>
            </a:r>
          </a:p>
          <a:p>
            <a:r>
              <a:rPr lang="en-US" sz="2800" dirty="0"/>
              <a:t>Transaction states are as follows-</a:t>
            </a:r>
          </a:p>
          <a:p>
            <a:pPr marL="0" indent="0">
              <a:buNone/>
            </a:pPr>
            <a:endParaRPr lang="en-US" sz="2800" dirty="0"/>
          </a:p>
          <a:p>
            <a:pPr>
              <a:buFont typeface="+mj-lt"/>
              <a:buAutoNum type="arabicPeriod"/>
            </a:pPr>
            <a:r>
              <a:rPr lang="en-US" sz="2800" b="1" i="1" dirty="0"/>
              <a:t>Active state</a:t>
            </a:r>
          </a:p>
          <a:p>
            <a:pPr>
              <a:buFont typeface="+mj-lt"/>
              <a:buAutoNum type="arabicPeriod"/>
            </a:pPr>
            <a:r>
              <a:rPr lang="en-US" sz="2800" b="1" i="1" dirty="0"/>
              <a:t>Partially committed state</a:t>
            </a:r>
          </a:p>
          <a:p>
            <a:pPr>
              <a:buFont typeface="+mj-lt"/>
              <a:buAutoNum type="arabicPeriod"/>
            </a:pPr>
            <a:r>
              <a:rPr lang="en-US" sz="2800" b="1" i="1" dirty="0"/>
              <a:t>Committed state</a:t>
            </a:r>
          </a:p>
          <a:p>
            <a:pPr>
              <a:buFont typeface="+mj-lt"/>
              <a:buAutoNum type="arabicPeriod"/>
            </a:pPr>
            <a:r>
              <a:rPr lang="en-US" sz="2800" b="1" i="1" dirty="0"/>
              <a:t>Failed state</a:t>
            </a:r>
          </a:p>
          <a:p>
            <a:pPr>
              <a:buFont typeface="+mj-lt"/>
              <a:buAutoNum type="arabicPeriod"/>
            </a:pPr>
            <a:r>
              <a:rPr lang="en-US" sz="2800" b="1" i="1" dirty="0"/>
              <a:t>Aborted state</a:t>
            </a:r>
          </a:p>
          <a:p>
            <a:pPr>
              <a:buFont typeface="+mj-lt"/>
              <a:buAutoNum type="arabicPeriod"/>
            </a:pPr>
            <a:r>
              <a:rPr lang="en-US" sz="2800" b="1" i="1" dirty="0"/>
              <a:t>Terminated stat</a:t>
            </a:r>
          </a:p>
          <a:p>
            <a:pPr marL="0" indent="0">
              <a:buNone/>
            </a:pPr>
            <a:endParaRPr lang="en-US" dirty="0"/>
          </a:p>
          <a:p>
            <a:pPr marL="0" indent="0">
              <a:buNone/>
            </a:pPr>
            <a:endParaRPr lang="en-US" dirty="0"/>
          </a:p>
          <a:p>
            <a:endParaRPr lang="en-IN" dirty="0"/>
          </a:p>
        </p:txBody>
      </p:sp>
    </p:spTree>
    <p:extLst>
      <p:ext uri="{BB962C8B-B14F-4D97-AF65-F5344CB8AC3E}">
        <p14:creationId xmlns:p14="http://schemas.microsoft.com/office/powerpoint/2010/main" val="3706092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371" y="365125"/>
            <a:ext cx="8151224" cy="478937"/>
          </a:xfrm>
        </p:spPr>
        <p:txBody>
          <a:bodyPr>
            <a:normAutofit fontScale="90000"/>
          </a:bodyPr>
          <a:lstStyle/>
          <a:p>
            <a:r>
              <a:rPr lang="en-US" dirty="0"/>
              <a:t>Transaction States</a:t>
            </a: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0379" y="1031966"/>
            <a:ext cx="11426328" cy="5094514"/>
          </a:xfrm>
        </p:spPr>
      </p:pic>
    </p:spTree>
    <p:extLst>
      <p:ext uri="{BB962C8B-B14F-4D97-AF65-F5344CB8AC3E}">
        <p14:creationId xmlns:p14="http://schemas.microsoft.com/office/powerpoint/2010/main" val="16069748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9166" y="365125"/>
            <a:ext cx="9864634" cy="525829"/>
          </a:xfrm>
        </p:spPr>
        <p:txBody>
          <a:bodyPr>
            <a:normAutofit fontScale="90000"/>
          </a:bodyPr>
          <a:lstStyle/>
          <a:p>
            <a:r>
              <a:rPr lang="en-US" b="1" dirty="0"/>
              <a:t>Transaction States</a:t>
            </a:r>
            <a:endParaRPr lang="en-IN" b="1" dirty="0"/>
          </a:p>
        </p:txBody>
      </p:sp>
      <p:sp>
        <p:nvSpPr>
          <p:cNvPr id="3" name="Content Placeholder 2"/>
          <p:cNvSpPr>
            <a:spLocks noGrp="1"/>
          </p:cNvSpPr>
          <p:nvPr>
            <p:ph idx="1"/>
          </p:nvPr>
        </p:nvSpPr>
        <p:spPr>
          <a:xfrm>
            <a:off x="838200" y="984738"/>
            <a:ext cx="10515600" cy="5037239"/>
          </a:xfrm>
        </p:spPr>
        <p:txBody>
          <a:bodyPr>
            <a:normAutofit fontScale="92500" lnSpcReduction="20000"/>
          </a:bodyPr>
          <a:lstStyle/>
          <a:p>
            <a:pPr marL="0" indent="0" algn="just">
              <a:buNone/>
            </a:pPr>
            <a:r>
              <a:rPr lang="en-US" b="1" u="sng" dirty="0"/>
              <a:t>1. </a:t>
            </a:r>
            <a:r>
              <a:rPr lang="en-US" sz="2400" b="1" u="sng" dirty="0"/>
              <a:t>Active State-</a:t>
            </a:r>
            <a:endParaRPr lang="en-US" sz="2400" dirty="0"/>
          </a:p>
          <a:p>
            <a:pPr algn="just"/>
            <a:r>
              <a:rPr lang="en-US" sz="2400" dirty="0"/>
              <a:t>This is the first state in the life cycle of a transaction.</a:t>
            </a:r>
          </a:p>
          <a:p>
            <a:pPr algn="just"/>
            <a:r>
              <a:rPr lang="en-US" sz="2400" dirty="0"/>
              <a:t>A transaction is called in an </a:t>
            </a:r>
            <a:r>
              <a:rPr lang="en-US" sz="2400" b="1" dirty="0"/>
              <a:t>active state</a:t>
            </a:r>
            <a:r>
              <a:rPr lang="en-US" sz="2400" dirty="0"/>
              <a:t> as long as its instructions are getting executed.</a:t>
            </a:r>
          </a:p>
          <a:p>
            <a:pPr algn="just"/>
            <a:r>
              <a:rPr lang="en-US" sz="2400" dirty="0"/>
              <a:t>All the changes made by the transaction now are stored in the buffer in main memory.</a:t>
            </a:r>
          </a:p>
          <a:p>
            <a:pPr marL="0" indent="0" algn="just">
              <a:buNone/>
            </a:pPr>
            <a:endParaRPr lang="en-US" sz="2400" dirty="0"/>
          </a:p>
          <a:p>
            <a:pPr marL="0" indent="0" algn="just">
              <a:buNone/>
            </a:pPr>
            <a:r>
              <a:rPr lang="en-US" sz="2400" b="1" u="sng" dirty="0"/>
              <a:t>2. Partially Committed State-</a:t>
            </a:r>
            <a:endParaRPr lang="en-US" sz="2400" dirty="0"/>
          </a:p>
          <a:p>
            <a:pPr algn="just"/>
            <a:r>
              <a:rPr lang="en-US" sz="2400" dirty="0"/>
              <a:t>After the last instruction of transaction has executed, it enters into a </a:t>
            </a:r>
            <a:r>
              <a:rPr lang="en-US" sz="2400" b="1" dirty="0"/>
              <a:t>partially committed state</a:t>
            </a:r>
            <a:r>
              <a:rPr lang="en-US" sz="2400" dirty="0"/>
              <a:t>.</a:t>
            </a:r>
          </a:p>
          <a:p>
            <a:pPr algn="just"/>
            <a:r>
              <a:rPr lang="en-US" sz="2400" dirty="0"/>
              <a:t>After entering this state, the transaction is considered to be partially committed.</a:t>
            </a:r>
          </a:p>
          <a:p>
            <a:pPr algn="just"/>
            <a:r>
              <a:rPr lang="en-US" sz="2400" dirty="0"/>
              <a:t>It is not considered fully committed because all the changes made by the transaction are still stored in the buffer in main memory.</a:t>
            </a:r>
          </a:p>
          <a:p>
            <a:pPr marL="0" indent="0">
              <a:buNone/>
            </a:pPr>
            <a:endParaRPr lang="en-US" dirty="0"/>
          </a:p>
          <a:p>
            <a:endParaRPr lang="en-IN" dirty="0"/>
          </a:p>
        </p:txBody>
      </p:sp>
    </p:spTree>
    <p:extLst>
      <p:ext uri="{BB962C8B-B14F-4D97-AF65-F5344CB8AC3E}">
        <p14:creationId xmlns:p14="http://schemas.microsoft.com/office/powerpoint/2010/main" val="14315586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55490"/>
          </a:xfrm>
        </p:spPr>
        <p:txBody>
          <a:bodyPr>
            <a:normAutofit fontScale="90000"/>
          </a:bodyPr>
          <a:lstStyle/>
          <a:p>
            <a:r>
              <a:rPr lang="en-US" b="1" dirty="0"/>
              <a:t>Transaction States</a:t>
            </a:r>
            <a:endParaRPr lang="en-IN" b="1" dirty="0"/>
          </a:p>
        </p:txBody>
      </p:sp>
      <p:sp>
        <p:nvSpPr>
          <p:cNvPr id="3" name="Content Placeholder 2"/>
          <p:cNvSpPr>
            <a:spLocks noGrp="1"/>
          </p:cNvSpPr>
          <p:nvPr>
            <p:ph idx="1"/>
          </p:nvPr>
        </p:nvSpPr>
        <p:spPr>
          <a:xfrm>
            <a:off x="445477" y="937847"/>
            <a:ext cx="11324491" cy="5123320"/>
          </a:xfrm>
        </p:spPr>
        <p:txBody>
          <a:bodyPr>
            <a:normAutofit fontScale="92500" lnSpcReduction="10000"/>
          </a:bodyPr>
          <a:lstStyle/>
          <a:p>
            <a:pPr marL="0" indent="0" algn="just">
              <a:buNone/>
            </a:pPr>
            <a:r>
              <a:rPr lang="en-US" b="1" u="sng" dirty="0"/>
              <a:t>3</a:t>
            </a:r>
            <a:r>
              <a:rPr lang="en-US" sz="2400" b="1" u="sng" dirty="0"/>
              <a:t>. Committed State-</a:t>
            </a:r>
            <a:endParaRPr lang="en-US" sz="2400" dirty="0"/>
          </a:p>
          <a:p>
            <a:pPr algn="just"/>
            <a:r>
              <a:rPr lang="en-US" sz="2400" dirty="0"/>
              <a:t>After all the changes made by the transaction have been successfully stored into the database, it enters into a </a:t>
            </a:r>
            <a:r>
              <a:rPr lang="en-US" sz="2400" b="1" dirty="0"/>
              <a:t>committed state</a:t>
            </a:r>
            <a:r>
              <a:rPr lang="en-US" sz="2400" dirty="0"/>
              <a:t>.</a:t>
            </a:r>
          </a:p>
          <a:p>
            <a:pPr algn="just"/>
            <a:r>
              <a:rPr lang="en-US" sz="2400" dirty="0"/>
              <a:t>Now, the transaction is considered to be fully committed.</a:t>
            </a:r>
          </a:p>
          <a:p>
            <a:pPr marL="0" indent="0">
              <a:buNone/>
            </a:pPr>
            <a:r>
              <a:rPr lang="en-US" sz="2400" b="1" i="1" u="sng" dirty="0"/>
              <a:t>NOTE-</a:t>
            </a:r>
            <a:r>
              <a:rPr lang="en-US" sz="2400" b="1" i="1" dirty="0"/>
              <a:t> </a:t>
            </a:r>
          </a:p>
          <a:p>
            <a:pPr algn="just"/>
            <a:r>
              <a:rPr lang="en-US" sz="2400" dirty="0"/>
              <a:t>After a transaction has entered the committed state, it is not possible to roll back the transaction.</a:t>
            </a:r>
          </a:p>
          <a:p>
            <a:pPr algn="just"/>
            <a:r>
              <a:rPr lang="en-US" sz="2400" dirty="0"/>
              <a:t>In other words, it is not possible to undo the changes that has been made by the transaction.</a:t>
            </a:r>
          </a:p>
          <a:p>
            <a:pPr algn="just"/>
            <a:r>
              <a:rPr lang="en-US" sz="2400" dirty="0"/>
              <a:t>This is because the system is updated into a new consistent state.</a:t>
            </a:r>
          </a:p>
          <a:p>
            <a:pPr algn="just"/>
            <a:r>
              <a:rPr lang="en-US" sz="2400" dirty="0"/>
              <a:t>The only way to undo the changes is by carrying out another transaction called as </a:t>
            </a:r>
            <a:r>
              <a:rPr lang="en-US" sz="2400" b="1" dirty="0"/>
              <a:t>compensating transaction</a:t>
            </a:r>
            <a:r>
              <a:rPr lang="en-US" sz="2400" dirty="0"/>
              <a:t> that performs the reverse operations.</a:t>
            </a:r>
          </a:p>
          <a:p>
            <a:endParaRPr lang="en-IN" dirty="0"/>
          </a:p>
        </p:txBody>
      </p:sp>
    </p:spTree>
    <p:extLst>
      <p:ext uri="{BB962C8B-B14F-4D97-AF65-F5344CB8AC3E}">
        <p14:creationId xmlns:p14="http://schemas.microsoft.com/office/powerpoint/2010/main" val="22305474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6102" y="365125"/>
            <a:ext cx="9877697" cy="525829"/>
          </a:xfrm>
        </p:spPr>
        <p:txBody>
          <a:bodyPr>
            <a:normAutofit fontScale="90000"/>
          </a:bodyPr>
          <a:lstStyle/>
          <a:p>
            <a:pPr algn="just"/>
            <a:r>
              <a:rPr lang="en-US" b="1" dirty="0"/>
              <a:t>Transaction States</a:t>
            </a:r>
            <a:endParaRPr lang="en-IN" b="1" dirty="0"/>
          </a:p>
        </p:txBody>
      </p:sp>
      <p:sp>
        <p:nvSpPr>
          <p:cNvPr id="3" name="Content Placeholder 2"/>
          <p:cNvSpPr>
            <a:spLocks noGrp="1"/>
          </p:cNvSpPr>
          <p:nvPr>
            <p:ph idx="1"/>
          </p:nvPr>
        </p:nvSpPr>
        <p:spPr>
          <a:xfrm>
            <a:off x="468923" y="890954"/>
            <a:ext cx="11326837" cy="5144086"/>
          </a:xfrm>
        </p:spPr>
        <p:txBody>
          <a:bodyPr>
            <a:normAutofit fontScale="92500" lnSpcReduction="20000"/>
          </a:bodyPr>
          <a:lstStyle/>
          <a:p>
            <a:pPr marL="0" indent="0">
              <a:buNone/>
            </a:pPr>
            <a:r>
              <a:rPr lang="en-US" b="1" u="sng" dirty="0"/>
              <a:t>4</a:t>
            </a:r>
            <a:r>
              <a:rPr lang="en-US" sz="2800" b="1" u="sng" dirty="0"/>
              <a:t>. Failed State-</a:t>
            </a:r>
            <a:endParaRPr lang="en-US" sz="2800" dirty="0"/>
          </a:p>
          <a:p>
            <a:pPr algn="just"/>
            <a:r>
              <a:rPr lang="en-US" sz="2800" dirty="0"/>
              <a:t>When a transaction is getting executed in the active state or partially committed state and some failure occurs due to which it becomes impossible to continue the execution, it enters into a </a:t>
            </a:r>
            <a:r>
              <a:rPr lang="en-US" sz="2800" b="1" dirty="0"/>
              <a:t>failed state</a:t>
            </a:r>
            <a:r>
              <a:rPr lang="en-US" sz="2800" dirty="0"/>
              <a:t>.</a:t>
            </a:r>
          </a:p>
          <a:p>
            <a:pPr marL="0" indent="0">
              <a:buNone/>
            </a:pPr>
            <a:r>
              <a:rPr lang="en-US" sz="2800" b="1" u="sng" dirty="0"/>
              <a:t>5. Aborted State-</a:t>
            </a:r>
            <a:endParaRPr lang="en-US" sz="2800" dirty="0"/>
          </a:p>
          <a:p>
            <a:pPr algn="just"/>
            <a:r>
              <a:rPr lang="en-US" sz="2800" dirty="0"/>
              <a:t>After the transaction has failed and entered into a failed state, all the changes made by it have to be undone.</a:t>
            </a:r>
          </a:p>
          <a:p>
            <a:pPr algn="just"/>
            <a:r>
              <a:rPr lang="en-US" sz="2800" dirty="0"/>
              <a:t>To undo the changes made by the transaction, it becomes necessary to roll back the transaction.</a:t>
            </a:r>
          </a:p>
          <a:p>
            <a:pPr algn="just"/>
            <a:r>
              <a:rPr lang="en-US" sz="2800" dirty="0"/>
              <a:t>After the transaction has rolled back completely, it enters into an </a:t>
            </a:r>
            <a:r>
              <a:rPr lang="en-US" sz="2800" b="1" dirty="0"/>
              <a:t>aborted state</a:t>
            </a:r>
            <a:r>
              <a:rPr lang="en-US" sz="2800" dirty="0"/>
              <a:t>.</a:t>
            </a:r>
          </a:p>
          <a:p>
            <a:pPr algn="just"/>
            <a:endParaRPr lang="en-US" dirty="0"/>
          </a:p>
          <a:p>
            <a:pPr algn="just"/>
            <a:endParaRPr lang="en-IN" dirty="0"/>
          </a:p>
        </p:txBody>
      </p:sp>
    </p:spTree>
    <p:extLst>
      <p:ext uri="{BB962C8B-B14F-4D97-AF65-F5344CB8AC3E}">
        <p14:creationId xmlns:p14="http://schemas.microsoft.com/office/powerpoint/2010/main" val="37161477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5138" y="365126"/>
            <a:ext cx="11488616" cy="607890"/>
          </a:xfrm>
        </p:spPr>
        <p:txBody>
          <a:bodyPr>
            <a:normAutofit/>
          </a:bodyPr>
          <a:lstStyle/>
          <a:p>
            <a:r>
              <a:rPr lang="en-US" b="1" dirty="0"/>
              <a:t>Transaction States</a:t>
            </a:r>
            <a:endParaRPr lang="en-IN" b="1" dirty="0"/>
          </a:p>
        </p:txBody>
      </p:sp>
      <p:sp>
        <p:nvSpPr>
          <p:cNvPr id="3" name="Content Placeholder 2"/>
          <p:cNvSpPr>
            <a:spLocks noGrp="1"/>
          </p:cNvSpPr>
          <p:nvPr>
            <p:ph idx="1"/>
          </p:nvPr>
        </p:nvSpPr>
        <p:spPr>
          <a:xfrm>
            <a:off x="838200" y="1125415"/>
            <a:ext cx="10515600" cy="5051548"/>
          </a:xfrm>
        </p:spPr>
        <p:txBody>
          <a:bodyPr/>
          <a:lstStyle/>
          <a:p>
            <a:pPr marL="0" indent="0" algn="just">
              <a:buNone/>
            </a:pPr>
            <a:r>
              <a:rPr lang="en-US" sz="3200" b="1" u="sng" dirty="0"/>
              <a:t>6.Terminated State</a:t>
            </a:r>
            <a:endParaRPr lang="en-US" sz="3200" dirty="0"/>
          </a:p>
          <a:p>
            <a:pPr algn="just"/>
            <a:r>
              <a:rPr lang="en-US" sz="3200" dirty="0"/>
              <a:t>This is the last state in the life cycle of a transaction.</a:t>
            </a:r>
          </a:p>
          <a:p>
            <a:pPr algn="just"/>
            <a:r>
              <a:rPr lang="en-US" sz="3200" dirty="0"/>
              <a:t>After entering the committed state or aborted state, the transaction finally enters into a </a:t>
            </a:r>
            <a:r>
              <a:rPr lang="en-US" sz="3200" b="1" dirty="0"/>
              <a:t>terminated state</a:t>
            </a:r>
            <a:r>
              <a:rPr lang="en-US" sz="3200" dirty="0"/>
              <a:t> where its life cycle finally comes to an end.</a:t>
            </a:r>
          </a:p>
          <a:p>
            <a:endParaRPr lang="en-IN" dirty="0"/>
          </a:p>
        </p:txBody>
      </p:sp>
    </p:spTree>
    <p:extLst>
      <p:ext uri="{BB962C8B-B14F-4D97-AF65-F5344CB8AC3E}">
        <p14:creationId xmlns:p14="http://schemas.microsoft.com/office/powerpoint/2010/main" val="2754999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398"/>
          </a:xfrm>
        </p:spPr>
        <p:txBody>
          <a:bodyPr/>
          <a:lstStyle/>
          <a:p>
            <a:r>
              <a:rPr lang="en-US" dirty="0"/>
              <a:t>ALM: Group Discussion</a:t>
            </a:r>
            <a:endParaRPr lang="en-IN" dirty="0"/>
          </a:p>
        </p:txBody>
      </p:sp>
      <p:sp>
        <p:nvSpPr>
          <p:cNvPr id="3" name="Content Placeholder 2"/>
          <p:cNvSpPr>
            <a:spLocks noGrp="1"/>
          </p:cNvSpPr>
          <p:nvPr>
            <p:ph idx="1"/>
          </p:nvPr>
        </p:nvSpPr>
        <p:spPr>
          <a:xfrm>
            <a:off x="838200" y="1195754"/>
            <a:ext cx="10515600" cy="4981209"/>
          </a:xfrm>
        </p:spPr>
        <p:txBody>
          <a:bodyPr/>
          <a:lstStyle/>
          <a:p>
            <a:endParaRPr lang="en-US" dirty="0"/>
          </a:p>
          <a:p>
            <a:pPr algn="ctr"/>
            <a:endParaRPr lang="en-US" b="1" i="1" dirty="0"/>
          </a:p>
          <a:p>
            <a:pPr algn="ctr"/>
            <a:r>
              <a:rPr lang="en-US" sz="3600" b="1" i="1" dirty="0"/>
              <a:t>Is getting a Balance Enquiry/Mini Statement Slip from an ATM Machine a Transaction or Not ? And Why ? Discuss</a:t>
            </a:r>
            <a:endParaRPr lang="en-IN" sz="3600" b="1" i="1" dirty="0"/>
          </a:p>
        </p:txBody>
      </p:sp>
    </p:spTree>
    <p:extLst>
      <p:ext uri="{BB962C8B-B14F-4D97-AF65-F5344CB8AC3E}">
        <p14:creationId xmlns:p14="http://schemas.microsoft.com/office/powerpoint/2010/main" val="37358141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398"/>
          </a:xfrm>
        </p:spPr>
        <p:txBody>
          <a:bodyPr/>
          <a:lstStyle/>
          <a:p>
            <a:r>
              <a:rPr lang="en-US" b="1" dirty="0"/>
              <a:t>Summary of Session</a:t>
            </a:r>
            <a:endParaRPr lang="en-IN" b="1" dirty="0"/>
          </a:p>
        </p:txBody>
      </p:sp>
      <p:sp>
        <p:nvSpPr>
          <p:cNvPr id="3" name="Content Placeholder 2"/>
          <p:cNvSpPr>
            <a:spLocks noGrp="1"/>
          </p:cNvSpPr>
          <p:nvPr>
            <p:ph idx="1"/>
          </p:nvPr>
        </p:nvSpPr>
        <p:spPr>
          <a:xfrm>
            <a:off x="838200" y="1031966"/>
            <a:ext cx="10515600" cy="5081451"/>
          </a:xfrm>
        </p:spPr>
        <p:txBody>
          <a:bodyPr>
            <a:noAutofit/>
          </a:bodyPr>
          <a:lstStyle/>
          <a:p>
            <a:pPr algn="just"/>
            <a:r>
              <a:rPr lang="en-US" sz="2400" dirty="0"/>
              <a:t>  Collections of operations that form a single logical unit of work</a:t>
            </a:r>
          </a:p>
          <a:p>
            <a:pPr algn="just"/>
            <a:r>
              <a:rPr lang="en-US" sz="2400" dirty="0"/>
              <a:t> The transaction is a set of logically related operation. It contains a group of tasks.</a:t>
            </a:r>
          </a:p>
          <a:p>
            <a:pPr algn="just"/>
            <a:r>
              <a:rPr lang="en-US" sz="2400" dirty="0"/>
              <a:t>  A transaction is an action or series of actions. </a:t>
            </a:r>
          </a:p>
          <a:p>
            <a:pPr algn="just"/>
            <a:r>
              <a:rPr lang="en-US" sz="2400" dirty="0"/>
              <a:t> A transaction is performed by a single user to perform operations for accessing the contents of the database.</a:t>
            </a:r>
          </a:p>
          <a:p>
            <a:pPr algn="just"/>
            <a:r>
              <a:rPr lang="en-US" sz="2400" dirty="0"/>
              <a:t>Every Transaction starts with </a:t>
            </a:r>
            <a:r>
              <a:rPr lang="en-US" sz="2400" b="1" i="1" dirty="0"/>
              <a:t>read ( ) </a:t>
            </a:r>
            <a:r>
              <a:rPr lang="en-US" sz="2400" dirty="0"/>
              <a:t>operation and ends with </a:t>
            </a:r>
            <a:r>
              <a:rPr lang="en-US" sz="2400" b="1" i="1" dirty="0"/>
              <a:t>write( ) </a:t>
            </a:r>
            <a:r>
              <a:rPr lang="en-US" sz="2400" dirty="0"/>
              <a:t>Operation, followed by </a:t>
            </a:r>
            <a:r>
              <a:rPr lang="en-US" sz="2400" b="1" i="1" dirty="0"/>
              <a:t>commit</a:t>
            </a:r>
            <a:r>
              <a:rPr lang="en-US" sz="2400" dirty="0"/>
              <a:t> operation.</a:t>
            </a:r>
          </a:p>
          <a:p>
            <a:pPr algn="just"/>
            <a:r>
              <a:rPr lang="en-US" sz="2400" dirty="0"/>
              <a:t>Transaction processing is designed to maintain database integrity (the consistency of related data items) in a known, consistent state.</a:t>
            </a:r>
            <a:endParaRPr lang="en-IN" sz="2400" dirty="0"/>
          </a:p>
        </p:txBody>
      </p:sp>
    </p:spTree>
    <p:extLst>
      <p:ext uri="{BB962C8B-B14F-4D97-AF65-F5344CB8AC3E}">
        <p14:creationId xmlns:p14="http://schemas.microsoft.com/office/powerpoint/2010/main" val="3660045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7">
            <a:extLst>
              <a:ext uri="{FF2B5EF4-FFF2-40B4-BE49-F238E27FC236}">
                <a16:creationId xmlns:a16="http://schemas.microsoft.com/office/drawing/2014/main" id="{602BA9EF-8D14-655E-59F6-129A9543F622}"/>
              </a:ext>
            </a:extLst>
          </p:cNvPr>
          <p:cNvSpPr/>
          <p:nvPr/>
        </p:nvSpPr>
        <p:spPr>
          <a:xfrm>
            <a:off x="3390636" y="1477"/>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SELF-ASSESSMENT QUESTIONS</a:t>
            </a:r>
          </a:p>
        </p:txBody>
      </p:sp>
      <p:sp>
        <p:nvSpPr>
          <p:cNvPr id="8" name="Google Shape;502;p17">
            <a:extLst>
              <a:ext uri="{FF2B5EF4-FFF2-40B4-BE49-F238E27FC236}">
                <a16:creationId xmlns:a16="http://schemas.microsoft.com/office/drawing/2014/main" id="{5B145268-2201-D4BB-74D5-A4977C699492}"/>
              </a:ext>
            </a:extLst>
          </p:cNvPr>
          <p:cNvSpPr/>
          <p:nvPr/>
        </p:nvSpPr>
        <p:spPr>
          <a:xfrm>
            <a:off x="412085" y="70931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buFont typeface="+mj-lt"/>
              <a:buAutoNum type="arabicPeriod"/>
            </a:pPr>
            <a:r>
              <a:rPr lang="en-IN" sz="2000" dirty="0">
                <a:solidFill>
                  <a:schemeClr val="bg1"/>
                </a:solidFill>
                <a:latin typeface="Times New Roman" panose="02020603050405020304" pitchFamily="18" charset="0"/>
                <a:ea typeface="Calibri"/>
                <a:cs typeface="Times New Roman" panose="02020603050405020304" pitchFamily="18" charset="0"/>
                <a:sym typeface="Calibri"/>
              </a:rPr>
              <a:t>A True Transaction updates the Database</a:t>
            </a:r>
            <a:endParaRPr lang="en-IN" sz="2000" b="1" dirty="0">
              <a:solidFill>
                <a:schemeClr val="bg1"/>
              </a:solidFill>
              <a:latin typeface="Times New Roman" panose="02020603050405020304" pitchFamily="18" charset="0"/>
              <a:cs typeface="Times New Roman" panose="02020603050405020304" pitchFamily="18" charset="0"/>
            </a:endParaRPr>
          </a:p>
        </p:txBody>
      </p:sp>
      <p:sp>
        <p:nvSpPr>
          <p:cNvPr id="9" name="Rounded Rectangle 17">
            <a:extLst>
              <a:ext uri="{FF2B5EF4-FFF2-40B4-BE49-F238E27FC236}">
                <a16:creationId xmlns:a16="http://schemas.microsoft.com/office/drawing/2014/main" id="{3F93C779-DAE9-E2B3-5572-968B5EB967B5}"/>
              </a:ext>
            </a:extLst>
          </p:cNvPr>
          <p:cNvSpPr/>
          <p:nvPr/>
        </p:nvSpPr>
        <p:spPr>
          <a:xfrm>
            <a:off x="1194779" y="1542831"/>
            <a:ext cx="6862530"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endParaRPr lang="en-US" sz="1600" dirty="0">
              <a:solidFill>
                <a:srgbClr val="FFC000"/>
              </a:solidFill>
              <a:latin typeface="Times New Roman" panose="02020603050405020304" pitchFamily="18" charset="0"/>
              <a:cs typeface="Times New Roman" panose="02020603050405020304" pitchFamily="18" charset="0"/>
            </a:endParaRPr>
          </a:p>
          <a:p>
            <a:pPr marL="342900" indent="-342900">
              <a:lnSpc>
                <a:spcPct val="150000"/>
              </a:lnSpc>
              <a:buAutoNum type="alphaLcParenBoth"/>
            </a:pPr>
            <a:r>
              <a:rPr lang="en-US" sz="1600" dirty="0">
                <a:latin typeface="Times New Roman" panose="02020603050405020304" pitchFamily="18" charset="0"/>
                <a:cs typeface="Times New Roman" panose="02020603050405020304" pitchFamily="18" charset="0"/>
              </a:rPr>
              <a:t>True</a:t>
            </a:r>
          </a:p>
          <a:p>
            <a:pPr marL="342900" indent="-342900">
              <a:lnSpc>
                <a:spcPct val="150000"/>
              </a:lnSpc>
              <a:buAutoNum type="alphaLcParenBoth"/>
            </a:pPr>
            <a:r>
              <a:rPr lang="en-US" sz="1600" dirty="0">
                <a:latin typeface="Times New Roman" panose="02020603050405020304" pitchFamily="18" charset="0"/>
                <a:cs typeface="Times New Roman" panose="02020603050405020304" pitchFamily="18" charset="0"/>
              </a:rPr>
              <a:t>False</a:t>
            </a:r>
          </a:p>
          <a:p>
            <a:pPr marL="342900" indent="-342900">
              <a:lnSpc>
                <a:spcPct val="150000"/>
              </a:lnSpc>
              <a:buAutoNum type="alphaLcParenBoth"/>
            </a:pPr>
            <a:r>
              <a:rPr lang="en-US" sz="1600" dirty="0">
                <a:latin typeface="Times New Roman" panose="02020603050405020304" pitchFamily="18" charset="0"/>
                <a:cs typeface="Times New Roman" panose="02020603050405020304" pitchFamily="18" charset="0"/>
              </a:rPr>
              <a:t>Can’t Say</a:t>
            </a:r>
          </a:p>
          <a:p>
            <a:pPr marL="342900" indent="-342900">
              <a:lnSpc>
                <a:spcPct val="150000"/>
              </a:lnSpc>
              <a:buAutoNum type="alphaLcParenBoth"/>
            </a:pPr>
            <a:r>
              <a:rPr lang="en-US" sz="1600" dirty="0">
                <a:latin typeface="Times New Roman" panose="02020603050405020304" pitchFamily="18" charset="0"/>
                <a:cs typeface="Times New Roman" panose="02020603050405020304" pitchFamily="18" charset="0"/>
              </a:rPr>
              <a:t>None of the Above</a:t>
            </a:r>
          </a:p>
          <a:p>
            <a:pPr marL="342900" indent="-342900">
              <a:lnSpc>
                <a:spcPct val="150000"/>
              </a:lnSpc>
              <a:buAutoNum type="alphaLcParenBoth"/>
            </a:pPr>
            <a:endParaRPr lang="en-US" sz="1600" dirty="0">
              <a:latin typeface="Times New Roman" panose="02020603050405020304" pitchFamily="18" charset="0"/>
              <a:cs typeface="Times New Roman" panose="02020603050405020304" pitchFamily="18" charset="0"/>
            </a:endParaRPr>
          </a:p>
        </p:txBody>
      </p:sp>
      <p:sp>
        <p:nvSpPr>
          <p:cNvPr id="10" name="Rounded Rectangle 17">
            <a:extLst>
              <a:ext uri="{FF2B5EF4-FFF2-40B4-BE49-F238E27FC236}">
                <a16:creationId xmlns:a16="http://schemas.microsoft.com/office/drawing/2014/main" id="{CB35C317-30E7-92D8-3D6E-6DF85B2B2C69}"/>
              </a:ext>
            </a:extLst>
          </p:cNvPr>
          <p:cNvSpPr/>
          <p:nvPr/>
        </p:nvSpPr>
        <p:spPr>
          <a:xfrm>
            <a:off x="1194779" y="4284019"/>
            <a:ext cx="6862530"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b="1" dirty="0">
                <a:solidFill>
                  <a:schemeClr val="bg1"/>
                </a:solidFill>
                <a:latin typeface="Times New Roman" panose="02020603050405020304" pitchFamily="18" charset="0"/>
                <a:cs typeface="Times New Roman" panose="02020603050405020304" pitchFamily="18" charset="0"/>
              </a:rPr>
              <a:t>Read ( ) Operation</a:t>
            </a:r>
          </a:p>
          <a:p>
            <a:pPr marL="342900" indent="-342900">
              <a:lnSpc>
                <a:spcPct val="150000"/>
              </a:lnSpc>
              <a:buAutoNum type="alphaLcParenBoth"/>
            </a:pPr>
            <a:r>
              <a:rPr lang="en-US" sz="1600" dirty="0">
                <a:solidFill>
                  <a:schemeClr val="bg1"/>
                </a:solidFill>
                <a:latin typeface="Times New Roman" panose="02020603050405020304" pitchFamily="18" charset="0"/>
                <a:cs typeface="Times New Roman" panose="02020603050405020304" pitchFamily="18" charset="0"/>
              </a:rPr>
              <a:t>Commit ( ) Operation</a:t>
            </a:r>
          </a:p>
          <a:p>
            <a:pPr marL="342900" indent="-342900">
              <a:lnSpc>
                <a:spcPct val="150000"/>
              </a:lnSpc>
              <a:buAutoNum type="alphaLcParenBoth"/>
            </a:pPr>
            <a:r>
              <a:rPr lang="en-US" sz="1600" dirty="0">
                <a:solidFill>
                  <a:schemeClr val="bg1"/>
                </a:solidFill>
                <a:latin typeface="Times New Roman" panose="02020603050405020304" pitchFamily="18" charset="0"/>
                <a:cs typeface="Times New Roman" panose="02020603050405020304" pitchFamily="18" charset="0"/>
              </a:rPr>
              <a:t>Roll Back ( ) Operation</a:t>
            </a:r>
          </a:p>
          <a:p>
            <a:pPr marL="342900" indent="-342900">
              <a:lnSpc>
                <a:spcPct val="150000"/>
              </a:lnSpc>
              <a:buAutoNum type="alphaLcParenBoth"/>
            </a:pPr>
            <a:r>
              <a:rPr lang="en-US" sz="1600" dirty="0">
                <a:solidFill>
                  <a:schemeClr val="bg1"/>
                </a:solidFill>
                <a:latin typeface="Times New Roman" panose="02020603050405020304" pitchFamily="18" charset="0"/>
                <a:cs typeface="Times New Roman" panose="02020603050405020304" pitchFamily="18" charset="0"/>
              </a:rPr>
              <a:t>None of the Above</a:t>
            </a:r>
          </a:p>
        </p:txBody>
      </p:sp>
      <p:sp>
        <p:nvSpPr>
          <p:cNvPr id="11" name="Google Shape;502;p17">
            <a:extLst>
              <a:ext uri="{FF2B5EF4-FFF2-40B4-BE49-F238E27FC236}">
                <a16:creationId xmlns:a16="http://schemas.microsoft.com/office/drawing/2014/main" id="{F0ADB4ED-5FCA-EEEF-CDF8-F4010B3544D1}"/>
              </a:ext>
            </a:extLst>
          </p:cNvPr>
          <p:cNvSpPr/>
          <p:nvPr/>
        </p:nvSpPr>
        <p:spPr>
          <a:xfrm>
            <a:off x="412085" y="3324882"/>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Times New Roman" panose="02020603050405020304" pitchFamily="18" charset="0"/>
                <a:ea typeface="Calibri"/>
                <a:cs typeface="Times New Roman" panose="02020603050405020304" pitchFamily="18" charset="0"/>
                <a:sym typeface="Calibri"/>
              </a:rPr>
              <a:t>2. At the end of every transaction, every transaction concludes with </a:t>
            </a:r>
            <a:endParaRPr sz="1600" dirty="0">
              <a:solidFill>
                <a:schemeClr val="bg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414170441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up)">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P spid="10" grpId="0" animBg="1"/>
      <p:bldP spid="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48130"/>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TERMINAL QUESTIONS</a:t>
            </a:r>
          </a:p>
        </p:txBody>
      </p:sp>
      <p:sp>
        <p:nvSpPr>
          <p:cNvPr id="9" name="TextBox 8"/>
          <p:cNvSpPr txBox="1"/>
          <p:nvPr/>
        </p:nvSpPr>
        <p:spPr>
          <a:xfrm>
            <a:off x="671804" y="1214271"/>
            <a:ext cx="10683551" cy="3785652"/>
          </a:xfrm>
          <a:prstGeom prst="rect">
            <a:avLst/>
          </a:prstGeom>
          <a:noFill/>
        </p:spPr>
        <p:txBody>
          <a:bodyPr wrap="square" rtlCol="0">
            <a:spAutoFit/>
          </a:bodyPr>
          <a:lstStyle/>
          <a:p>
            <a:pPr marL="342900" indent="-342900" algn="just">
              <a:lnSpc>
                <a:spcPct val="200000"/>
              </a:lnSpc>
              <a:buAutoNum type="arabicPeriod"/>
            </a:pPr>
            <a:r>
              <a:rPr lang="en-US" sz="2400" dirty="0">
                <a:latin typeface="Times New Roman" panose="02020603050405020304" pitchFamily="18" charset="0"/>
                <a:cs typeface="Times New Roman" panose="02020603050405020304" pitchFamily="18" charset="0"/>
              </a:rPr>
              <a:t>Discuss about the Concept of Transaction Processing</a:t>
            </a:r>
          </a:p>
          <a:p>
            <a:pPr marL="342900" indent="-342900" algn="just">
              <a:lnSpc>
                <a:spcPct val="200000"/>
              </a:lnSpc>
              <a:buAutoNum type="arabicPeriod"/>
            </a:pPr>
            <a:r>
              <a:rPr lang="en-US" sz="2400" dirty="0">
                <a:latin typeface="Times New Roman" panose="02020603050405020304" pitchFamily="18" charset="0"/>
                <a:cs typeface="Times New Roman" panose="02020603050405020304" pitchFamily="18" charset="0"/>
              </a:rPr>
              <a:t>List out the Steps of Operations in a Transaction Processing</a:t>
            </a:r>
          </a:p>
          <a:p>
            <a:pPr marL="342900" indent="-342900" algn="just">
              <a:lnSpc>
                <a:spcPct val="200000"/>
              </a:lnSpc>
              <a:buAutoNum type="arabicPeriod"/>
            </a:pPr>
            <a:r>
              <a:rPr lang="en-US" sz="2400" dirty="0">
                <a:latin typeface="Times New Roman" panose="02020603050405020304" pitchFamily="18" charset="0"/>
                <a:cs typeface="Times New Roman" panose="02020603050405020304" pitchFamily="18" charset="0"/>
              </a:rPr>
              <a:t>Why a simple Operation on a database can not be a Transaction ?</a:t>
            </a:r>
          </a:p>
          <a:p>
            <a:pPr marL="342900" indent="-342900" algn="just">
              <a:lnSpc>
                <a:spcPct val="200000"/>
              </a:lnSpc>
              <a:buAutoNum type="arabicPeriod"/>
            </a:pPr>
            <a:r>
              <a:rPr lang="en-US" sz="2400" dirty="0">
                <a:latin typeface="Times New Roman" panose="02020603050405020304" pitchFamily="18" charset="0"/>
                <a:cs typeface="Times New Roman" panose="02020603050405020304" pitchFamily="18" charset="0"/>
              </a:rPr>
              <a:t>Discuss about various Issues during a Transaction ?</a:t>
            </a:r>
          </a:p>
          <a:p>
            <a:pPr marL="342900" indent="-342900" algn="just">
              <a:lnSpc>
                <a:spcPct val="200000"/>
              </a:lnSpc>
              <a:buAutoNum type="arabicPeriod"/>
            </a:pPr>
            <a:r>
              <a:rPr lang="en-US" sz="2400" dirty="0">
                <a:latin typeface="Times New Roman" panose="02020603050405020304" pitchFamily="18" charset="0"/>
                <a:cs typeface="Times New Roman" panose="02020603050405020304" pitchFamily="18" charset="0"/>
              </a:rPr>
              <a:t>Draw the diagram of Transaction States and Explain ?</a:t>
            </a:r>
          </a:p>
        </p:txBody>
      </p:sp>
    </p:spTree>
    <p:extLst>
      <p:ext uri="{BB962C8B-B14F-4D97-AF65-F5344CB8AC3E}">
        <p14:creationId xmlns:p14="http://schemas.microsoft.com/office/powerpoint/2010/main" val="192544861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1842246" y="93891"/>
            <a:ext cx="8337177"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536437" y="803724"/>
            <a:ext cx="11033522" cy="5028556"/>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Reference Books:</a:t>
            </a: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1. "Database Management Systems" by </a:t>
            </a:r>
            <a:r>
              <a:rPr lang="en-US" dirty="0" err="1">
                <a:latin typeface="Times New Roman" panose="02020603050405020304" pitchFamily="18" charset="0"/>
                <a:cs typeface="Times New Roman" panose="02020603050405020304" pitchFamily="18" charset="0"/>
              </a:rPr>
              <a:t>Raghu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Ramakrishnan</a:t>
            </a:r>
            <a:r>
              <a:rPr lang="en-US" dirty="0">
                <a:latin typeface="Times New Roman" panose="02020603050405020304" pitchFamily="18" charset="0"/>
                <a:cs typeface="Times New Roman" panose="02020603050405020304" pitchFamily="18" charset="0"/>
              </a:rPr>
              <a:t> and Johannes </a:t>
            </a:r>
            <a:r>
              <a:rPr lang="en-US" dirty="0" err="1">
                <a:latin typeface="Times New Roman" panose="02020603050405020304" pitchFamily="18" charset="0"/>
                <a:cs typeface="Times New Roman" panose="02020603050405020304" pitchFamily="18" charset="0"/>
              </a:rPr>
              <a:t>Gehrke</a:t>
            </a:r>
            <a:r>
              <a:rPr lang="en-US" dirty="0">
                <a:latin typeface="Times New Roman" panose="02020603050405020304" pitchFamily="18" charset="0"/>
                <a:cs typeface="Times New Roman" panose="02020603050405020304" pitchFamily="18" charset="0"/>
              </a:rPr>
              <a:t> - This is a comprehensive textbook that covers both theoretical and practical aspects of DBMS, including data modeling, relational algebra, SQL, query optimization, transaction management, and distributed databases.</a:t>
            </a:r>
          </a:p>
          <a:p>
            <a:pPr algn="just">
              <a:lnSpc>
                <a:spcPct val="150000"/>
              </a:lnSpc>
            </a:pPr>
            <a:r>
              <a:rPr lang="en-US" dirty="0">
                <a:latin typeface="Times New Roman" panose="02020603050405020304" pitchFamily="18" charset="0"/>
                <a:cs typeface="Times New Roman" panose="02020603050405020304" pitchFamily="18" charset="0"/>
              </a:rPr>
              <a:t>2. "Fundamentals of Database Systems" by </a:t>
            </a:r>
            <a:r>
              <a:rPr lang="en-US" dirty="0" err="1">
                <a:latin typeface="Times New Roman" panose="02020603050405020304" pitchFamily="18" charset="0"/>
                <a:cs typeface="Times New Roman" panose="02020603050405020304" pitchFamily="18" charset="0"/>
              </a:rPr>
              <a:t>Ramez</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Elmasri</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Shamkant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Navathe</a:t>
            </a:r>
            <a:r>
              <a:rPr lang="en-US" dirty="0">
                <a:latin typeface="Times New Roman" panose="02020603050405020304" pitchFamily="18" charset="0"/>
                <a:cs typeface="Times New Roman" panose="02020603050405020304" pitchFamily="18" charset="0"/>
              </a:rPr>
              <a:t> - This is another popular textbook that covers the fundamental concepts of DBMS, including database design, normalization, SQL programming, transaction management, and concurrency control.</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Sites and Web links:</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hlinkClick r:id="rId2"/>
              </a:rPr>
              <a:t>https://www.geeksforgeeks.org/shadow-paging-dbms/</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hlinkClick r:id="rId3"/>
              </a:rPr>
              <a:t>https://www.tutorialspoint.com/what-is-shadow-paging-in-dbms</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hlinkClick r:id="rId4"/>
              </a:rPr>
              <a:t>https://whatisdbms.com/shadow-paging-in-dbms/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673083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DBMS</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cstate="print"/>
          <a:srcRect/>
          <a:stretch>
            <a:fillRect/>
          </a:stretch>
        </p:blipFill>
        <p:spPr bwMode="auto">
          <a:xfrm>
            <a:off x="5514534" y="2560321"/>
            <a:ext cx="3235570" cy="1083212"/>
          </a:xfrm>
          <a:prstGeom prst="rect">
            <a:avLst/>
          </a:prstGeom>
          <a:noFill/>
        </p:spPr>
      </p:pic>
    </p:spTree>
    <p:extLst>
      <p:ext uri="{BB962C8B-B14F-4D97-AF65-F5344CB8AC3E}">
        <p14:creationId xmlns:p14="http://schemas.microsoft.com/office/powerpoint/2010/main" val="313203965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3fd1231-8851-451a-b78b-9363d9ee0d7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69F02FF2674A54F87AD0E1EDB7BDC0F" ma:contentTypeVersion="14" ma:contentTypeDescription="Create a new document." ma:contentTypeScope="" ma:versionID="38e5ebd8f0234817367bb33ff8d5726f">
  <xsd:schema xmlns:xsd="http://www.w3.org/2001/XMLSchema" xmlns:xs="http://www.w3.org/2001/XMLSchema" xmlns:p="http://schemas.microsoft.com/office/2006/metadata/properties" xmlns:ns3="204e69df-6858-41ce-91d7-46633c598566" xmlns:ns4="73fd1231-8851-451a-b78b-9363d9ee0d70" targetNamespace="http://schemas.microsoft.com/office/2006/metadata/properties" ma:root="true" ma:fieldsID="b5465fc626b9f3708dc2504609e799fa" ns3:_="" ns4:_="">
    <xsd:import namespace="204e69df-6858-41ce-91d7-46633c598566"/>
    <xsd:import namespace="73fd1231-8851-451a-b78b-9363d9ee0d70"/>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GenerationTime" minOccurs="0"/>
                <xsd:element ref="ns4:MediaServiceEventHashCode" minOccurs="0"/>
                <xsd:element ref="ns4:MediaServiceOCR" minOccurs="0"/>
                <xsd:element ref="ns4:MediaServiceDateTaken" minOccurs="0"/>
                <xsd:element ref="ns4:MediaLengthInSeconds" minOccurs="0"/>
                <xsd:element ref="ns4: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4e69df-6858-41ce-91d7-46633c598566"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fd1231-8851-451a-b78b-9363d9ee0d70"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_activity" ma:index="21"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3E7E3F7-0163-4494-80E3-F37661A20109}">
  <ds:schemaRefs>
    <ds:schemaRef ds:uri="http://schemas.microsoft.com/office/infopath/2007/PartnerControls"/>
    <ds:schemaRef ds:uri="http://purl.org/dc/elements/1.1/"/>
    <ds:schemaRef ds:uri="http://schemas.microsoft.com/office/2006/metadata/properties"/>
    <ds:schemaRef ds:uri="73fd1231-8851-451a-b78b-9363d9ee0d70"/>
    <ds:schemaRef ds:uri="http://purl.org/dc/terms/"/>
    <ds:schemaRef ds:uri="http://schemas.microsoft.com/office/2006/documentManagement/types"/>
    <ds:schemaRef ds:uri="204e69df-6858-41ce-91d7-46633c598566"/>
    <ds:schemaRef ds:uri="http://purl.org/dc/dcmitype/"/>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1DD8670-22B0-4FD0-8CE4-A998F3DE3DAF}">
  <ds:schemaRefs>
    <ds:schemaRef ds:uri="http://schemas.microsoft.com/sharepoint/v3/contenttype/forms"/>
  </ds:schemaRefs>
</ds:datastoreItem>
</file>

<file path=customXml/itemProps3.xml><?xml version="1.0" encoding="utf-8"?>
<ds:datastoreItem xmlns:ds="http://schemas.openxmlformats.org/officeDocument/2006/customXml" ds:itemID="{BFD062CB-AA05-4818-A4B1-27E15D859C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4e69df-6858-41ce-91d7-46633c598566"/>
    <ds:schemaRef ds:uri="73fd1231-8851-451a-b78b-9363d9ee0d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CoE PPT Template</Template>
  <TotalTime>793</TotalTime>
  <Words>2245</Words>
  <Application>Microsoft Office PowerPoint</Application>
  <PresentationFormat>Widescreen</PresentationFormat>
  <Paragraphs>247</Paragraphs>
  <Slides>34</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Gill Sans MT</vt:lpstr>
      <vt:lpstr>Poppins</vt:lpstr>
      <vt:lpstr>Times New Roman</vt:lpstr>
      <vt:lpstr>Gallery</vt:lpstr>
      <vt:lpstr>COURSE NAME: DBMS COURSE CODE:24AD2103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Transaction-Timing Diagram</vt:lpstr>
      <vt:lpstr>Transaction-Example 2(E-Commerce)</vt:lpstr>
      <vt:lpstr>Example 3-Transaction to be performed to withdraw cash from an ATM  </vt:lpstr>
      <vt:lpstr>Popular Examples of Transaction Processing</vt:lpstr>
      <vt:lpstr>Transaction Processing Issues</vt:lpstr>
      <vt:lpstr>Transaction Processing Issues</vt:lpstr>
      <vt:lpstr>Concurrent Execution of Transactions</vt:lpstr>
      <vt:lpstr>Concurrent Execution of Transactions</vt:lpstr>
      <vt:lpstr>Concurrent Execution of Transactions</vt:lpstr>
      <vt:lpstr>Transaction States</vt:lpstr>
      <vt:lpstr>Transaction States</vt:lpstr>
      <vt:lpstr>Transaction States</vt:lpstr>
      <vt:lpstr>Transaction States</vt:lpstr>
      <vt:lpstr>Transaction States</vt:lpstr>
      <vt:lpstr>Transaction States</vt:lpstr>
      <vt:lpstr>ALM: Group Discussion</vt:lpstr>
      <vt:lpstr>Summary of Session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DBMS COURSE CODE:22CS2110 RA</dc:title>
  <cp:lastModifiedBy>VEERASWAMY AMMISETTY</cp:lastModifiedBy>
  <cp:revision>164</cp:revision>
  <dcterms:created xsi:type="dcterms:W3CDTF">2023-05-06T04:12:28Z</dcterms:created>
  <dcterms:modified xsi:type="dcterms:W3CDTF">2025-06-28T06:00:12Z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0x010100269F02FF2674A54F87AD0E1EDB7BDC0F</vt:lpwstr>
  </property>
</Properties>
</file>