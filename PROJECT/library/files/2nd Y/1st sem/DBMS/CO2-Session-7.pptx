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4"/>
  </p:notesMasterIdLst>
  <p:handoutMasterIdLst>
    <p:handoutMasterId r:id="rId55"/>
  </p:handoutMasterIdLst>
  <p:sldIdLst>
    <p:sldId id="257" r:id="rId2"/>
    <p:sldId id="258" r:id="rId3"/>
    <p:sldId id="259" r:id="rId4"/>
    <p:sldId id="271" r:id="rId5"/>
    <p:sldId id="261" r:id="rId6"/>
    <p:sldId id="262" r:id="rId7"/>
    <p:sldId id="263" r:id="rId8"/>
    <p:sldId id="264" r:id="rId9"/>
    <p:sldId id="265" r:id="rId10"/>
    <p:sldId id="266" r:id="rId11"/>
    <p:sldId id="267" r:id="rId12"/>
    <p:sldId id="268" r:id="rId13"/>
    <p:sldId id="269" r:id="rId14"/>
    <p:sldId id="270" r:id="rId15"/>
    <p:sldId id="273" r:id="rId16"/>
    <p:sldId id="274" r:id="rId17"/>
    <p:sldId id="275" r:id="rId18"/>
    <p:sldId id="312" r:id="rId19"/>
    <p:sldId id="313" r:id="rId20"/>
    <p:sldId id="276" r:id="rId21"/>
    <p:sldId id="277" r:id="rId22"/>
    <p:sldId id="278" r:id="rId23"/>
    <p:sldId id="279" r:id="rId24"/>
    <p:sldId id="280" r:id="rId25"/>
    <p:sldId id="281" r:id="rId26"/>
    <p:sldId id="282" r:id="rId27"/>
    <p:sldId id="283" r:id="rId28"/>
    <p:sldId id="284" r:id="rId29"/>
    <p:sldId id="285" r:id="rId30"/>
    <p:sldId id="287" r:id="rId31"/>
    <p:sldId id="288" r:id="rId32"/>
    <p:sldId id="289" r:id="rId33"/>
    <p:sldId id="291" r:id="rId34"/>
    <p:sldId id="292" r:id="rId35"/>
    <p:sldId id="294" r:id="rId36"/>
    <p:sldId id="295" r:id="rId37"/>
    <p:sldId id="296" r:id="rId38"/>
    <p:sldId id="297" r:id="rId39"/>
    <p:sldId id="298" r:id="rId40"/>
    <p:sldId id="299" r:id="rId41"/>
    <p:sldId id="300" r:id="rId42"/>
    <p:sldId id="301" r:id="rId43"/>
    <p:sldId id="302" r:id="rId44"/>
    <p:sldId id="303" r:id="rId45"/>
    <p:sldId id="304" r:id="rId46"/>
    <p:sldId id="305" r:id="rId47"/>
    <p:sldId id="306" r:id="rId48"/>
    <p:sldId id="307" r:id="rId49"/>
    <p:sldId id="308" r:id="rId50"/>
    <p:sldId id="309" r:id="rId51"/>
    <p:sldId id="310" r:id="rId52"/>
    <p:sldId id="311" r:id="rId5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3" d="100"/>
          <a:sy n="63" d="100"/>
        </p:scale>
        <p:origin x="804" y="5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CDB74D4-5E76-4C47-E7AA-61E2C648C8D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a:extLst>
              <a:ext uri="{FF2B5EF4-FFF2-40B4-BE49-F238E27FC236}">
                <a16:creationId xmlns:a16="http://schemas.microsoft.com/office/drawing/2014/main" id="{7C962EDA-0A3B-5C3A-C8DF-7672C339CF9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75D750-AD1D-4C03-A026-1768137CC901}" type="datetimeFigureOut">
              <a:rPr lang="en-IN" smtClean="0"/>
              <a:t>08-06-2025</a:t>
            </a:fld>
            <a:endParaRPr lang="en-IN"/>
          </a:p>
        </p:txBody>
      </p:sp>
      <p:sp>
        <p:nvSpPr>
          <p:cNvPr id="4" name="Footer Placeholder 3">
            <a:extLst>
              <a:ext uri="{FF2B5EF4-FFF2-40B4-BE49-F238E27FC236}">
                <a16:creationId xmlns:a16="http://schemas.microsoft.com/office/drawing/2014/main" id="{1EC80489-5F61-FA08-A147-AE43BE9C499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5" name="Slide Number Placeholder 4">
            <a:extLst>
              <a:ext uri="{FF2B5EF4-FFF2-40B4-BE49-F238E27FC236}">
                <a16:creationId xmlns:a16="http://schemas.microsoft.com/office/drawing/2014/main" id="{F72D387C-1469-6716-E148-98BDCB69762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44566E6-FD90-4AE7-9488-620D46A968BE}" type="slidenum">
              <a:rPr lang="en-IN" smtClean="0"/>
              <a:t>‹#›</a:t>
            </a:fld>
            <a:endParaRPr lang="en-IN"/>
          </a:p>
        </p:txBody>
      </p:sp>
    </p:spTree>
    <p:extLst>
      <p:ext uri="{BB962C8B-B14F-4D97-AF65-F5344CB8AC3E}">
        <p14:creationId xmlns:p14="http://schemas.microsoft.com/office/powerpoint/2010/main" val="954391555"/>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26BB4A-8EA9-40D4-95BF-21E04B247614}" type="datetimeFigureOut">
              <a:rPr lang="en-IN" smtClean="0"/>
              <a:t>08-06-2025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3BDDA1-7BB7-447A-97DE-AE5425C8F2AD}" type="slidenum">
              <a:rPr lang="en-IN" smtClean="0"/>
              <a:t>‹#›</a:t>
            </a:fld>
            <a:endParaRPr lang="en-IN"/>
          </a:p>
        </p:txBody>
      </p:sp>
    </p:spTree>
    <p:extLst>
      <p:ext uri="{BB962C8B-B14F-4D97-AF65-F5344CB8AC3E}">
        <p14:creationId xmlns:p14="http://schemas.microsoft.com/office/powerpoint/2010/main" val="3310007880"/>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a:xfrm>
            <a:off x="1437664" y="798973"/>
            <a:ext cx="811019" cy="503578"/>
          </a:xfrm>
        </p:spPr>
        <p:txBody>
          <a:bodyPr/>
          <a:lstStyle/>
          <a:p>
            <a:fld id="{CBABCCC1-BF11-4F37-963E-1BCD5B23FD72}"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839828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575211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909489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522861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&lt;COURSE TITLE&gt;, &lt;TOPIC NAME&gt;</a:t>
            </a:r>
            <a:endParaRPr lang="en-IN" dirty="0"/>
          </a:p>
        </p:txBody>
      </p:sp>
      <p:sp>
        <p:nvSpPr>
          <p:cNvPr id="9" name="Slide Number Placeholder 8"/>
          <p:cNvSpPr>
            <a:spLocks noGrp="1"/>
          </p:cNvSpPr>
          <p:nvPr>
            <p:ph type="sldNum" sz="quarter" idx="12"/>
          </p:nvPr>
        </p:nvSpPr>
        <p:spPr/>
        <p:txBody>
          <a:bodyPr/>
          <a:lstStyle/>
          <a:p>
            <a:fld id="{CBABCCC1-BF11-4F37-963E-1BCD5B23FD72}"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383727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&lt;COURSE TITLE&gt;, &lt;TOPIC NAME&gt;</a:t>
            </a:r>
            <a:endParaRPr lang="en-IN" dirty="0"/>
          </a:p>
        </p:txBody>
      </p:sp>
      <p:sp>
        <p:nvSpPr>
          <p:cNvPr id="5" name="Slide Number Placeholder 4"/>
          <p:cNvSpPr>
            <a:spLocks noGrp="1"/>
          </p:cNvSpPr>
          <p:nvPr>
            <p:ph type="sldNum" sz="quarter" idx="12"/>
          </p:nvPr>
        </p:nvSpPr>
        <p:spPr/>
        <p:txBody>
          <a:bodyPr/>
          <a:lstStyle/>
          <a:p>
            <a:fld id="{CBABCCC1-BF11-4F37-963E-1BCD5B23FD72}"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074666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&lt;COURSE TITLE&gt;, &lt;TOPIC NAME&gt;</a:t>
            </a:r>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31945871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320374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007769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312674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536402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9" y="379083"/>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r>
              <a:rPr lang="en-US"/>
              <a:t>&lt;COURSE TITLE&gt;, &lt;TOPIC NAME&gt;</a:t>
            </a:r>
            <a:endParaRPr lang="en-IN" dirty="0"/>
          </a:p>
        </p:txBody>
      </p:sp>
      <p:sp>
        <p:nvSpPr>
          <p:cNvPr id="6" name="Slide Number Placeholder 5"/>
          <p:cNvSpPr>
            <a:spLocks noGrp="1"/>
          </p:cNvSpPr>
          <p:nvPr>
            <p:ph type="sldNum" sz="quarter" idx="4"/>
          </p:nvPr>
        </p:nvSpPr>
        <p:spPr>
          <a:xfrm>
            <a:off x="5690490" y="6291139"/>
            <a:ext cx="811019" cy="503578"/>
          </a:xfrm>
          <a:prstGeom prst="rect">
            <a:avLst/>
          </a:prstGeom>
        </p:spPr>
        <p:txBody>
          <a:bodyPr vert="horz" lIns="91440" tIns="45720" rIns="91440" bIns="45720" rtlCol="0" anchor="t"/>
          <a:lstStyle>
            <a:lvl1pPr algn="ctr">
              <a:defRPr sz="2200">
                <a:solidFill>
                  <a:schemeClr val="accent1"/>
                </a:solidFill>
              </a:defRPr>
            </a:lvl1pPr>
          </a:lstStyle>
          <a:p>
            <a:fld id="{CBABCCC1-BF11-4F37-963E-1BCD5B23FD72}" type="slidenum">
              <a:rPr lang="en-IN" smtClean="0"/>
              <a:pPr/>
              <a:t>‹#›</a:t>
            </a:fld>
            <a:endParaRPr lang="en-IN"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9" name="Picture 8" descr="Icon&#10;&#10;Description automatically generated with medium confidence">
            <a:extLst>
              <a:ext uri="{FF2B5EF4-FFF2-40B4-BE49-F238E27FC236}">
                <a16:creationId xmlns:a16="http://schemas.microsoft.com/office/drawing/2014/main" id="{D33DD7EC-6054-A5D7-0F93-3916702EC90E}"/>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7444" y="32699"/>
            <a:ext cx="1218935" cy="500985"/>
          </a:xfrm>
          <a:prstGeom prst="rect">
            <a:avLst/>
          </a:prstGeom>
        </p:spPr>
      </p:pic>
      <p:pic>
        <p:nvPicPr>
          <p:cNvPr id="12" name="Picture 11">
            <a:extLst>
              <a:ext uri="{FF2B5EF4-FFF2-40B4-BE49-F238E27FC236}">
                <a16:creationId xmlns:a16="http://schemas.microsoft.com/office/drawing/2014/main" id="{DB6D7A70-9470-38A5-6785-933F5C089234}"/>
              </a:ext>
            </a:extLst>
          </p:cNvPr>
          <p:cNvPicPr>
            <a:picLocks noChangeAspect="1"/>
          </p:cNvPicPr>
          <p:nvPr userDrawn="1"/>
        </p:nvPicPr>
        <p:blipFill rotWithShape="1">
          <a:blip r:embed="rId14" cstate="print">
            <a:extLst>
              <a:ext uri="{28A0092B-C50C-407E-A947-70E740481C1C}">
                <a14:useLocalDpi xmlns:a14="http://schemas.microsoft.com/office/drawing/2010/main" val="0"/>
              </a:ext>
            </a:extLst>
          </a:blip>
          <a:srcRect l="4360" t="18054" b="50110"/>
          <a:stretch/>
        </p:blipFill>
        <p:spPr>
          <a:xfrm>
            <a:off x="1451579" y="6373097"/>
            <a:ext cx="2912198" cy="351077"/>
          </a:xfrm>
          <a:prstGeom prst="rect">
            <a:avLst/>
          </a:prstGeom>
        </p:spPr>
      </p:pic>
      <p:pic>
        <p:nvPicPr>
          <p:cNvPr id="14" name="Picture 13" descr="Text&#10;&#10;Description automatically generated with medium confidence">
            <a:extLst>
              <a:ext uri="{FF2B5EF4-FFF2-40B4-BE49-F238E27FC236}">
                <a16:creationId xmlns:a16="http://schemas.microsoft.com/office/drawing/2014/main" id="{A51BE3ED-273E-B0A1-FC3A-EE01E1A92D27}"/>
              </a:ext>
            </a:extLst>
          </p:cNvPr>
          <p:cNvPicPr>
            <a:picLocks noChangeAspect="1"/>
          </p:cNvPicPr>
          <p:nvPr userDrawn="1"/>
        </p:nvPicPr>
        <p:blipFill rotWithShape="1">
          <a:blip r:embed="rId15" cstate="print">
            <a:extLst>
              <a:ext uri="{28A0092B-C50C-407E-A947-70E740481C1C}">
                <a14:useLocalDpi xmlns:a14="http://schemas.microsoft.com/office/drawing/2010/main" val="0"/>
              </a:ext>
            </a:extLst>
          </a:blip>
          <a:srcRect t="53957" r="20929" b="13232"/>
          <a:stretch/>
        </p:blipFill>
        <p:spPr>
          <a:xfrm>
            <a:off x="8825503" y="6373097"/>
            <a:ext cx="2229351" cy="335027"/>
          </a:xfrm>
          <a:prstGeom prst="rect">
            <a:avLst/>
          </a:prstGeom>
        </p:spPr>
      </p:pic>
    </p:spTree>
    <p:extLst>
      <p:ext uri="{BB962C8B-B14F-4D97-AF65-F5344CB8AC3E}">
        <p14:creationId xmlns:p14="http://schemas.microsoft.com/office/powerpoint/2010/main" val="31983802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hyperlink" Target="https://www.geeksforgeeks.org/sql-create/" TargetMode="External"/><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hyperlink" Target="https://www.geeksforgeeks.org/sql-alter-rename/" TargetMode="External"/><Relationship Id="rId5" Type="http://schemas.openxmlformats.org/officeDocument/2006/relationships/hyperlink" Target="https://www.geeksforgeeks.org/sql-drop-truncate/" TargetMode="External"/><Relationship Id="rId4" Type="http://schemas.openxmlformats.org/officeDocument/2006/relationships/hyperlink" Target="https://www.geeksforgeeks.org/sql-alter-add-drop-modify/"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hyperlink" Target="https://www.tutorialsteacher.com/postgresql/create-tables" TargetMode="Externa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hyperlink" Target="https://www.tutorialsteacher.com/postgresql/unique-constraint" TargetMode="External"/><Relationship Id="rId2" Type="http://schemas.openxmlformats.org/officeDocument/2006/relationships/hyperlink" Target="https://www.tutorialsteacher.com/postgresql/primary-key" TargetMode="External"/><Relationship Id="rId1" Type="http://schemas.openxmlformats.org/officeDocument/2006/relationships/slideLayout" Target="../slideLayouts/slideLayout7.xml"/><Relationship Id="rId4" Type="http://schemas.openxmlformats.org/officeDocument/2006/relationships/hyperlink" Target="https://www.tutorialsteacher.com/postgresql/create-tables" TargetMode="External"/></Relationships>
</file>

<file path=ppt/slides/_rels/slide4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76D21DC-04D1-C783-EC6C-3A85ADC5DA98}"/>
              </a:ext>
            </a:extLst>
          </p:cNvPr>
          <p:cNvSpPr>
            <a:spLocks noGrp="1"/>
          </p:cNvSpPr>
          <p:nvPr>
            <p:ph type="sldNum" sz="quarter" idx="12"/>
          </p:nvPr>
        </p:nvSpPr>
        <p:spPr/>
        <p:txBody>
          <a:bodyPr/>
          <a:lstStyle/>
          <a:p>
            <a:fld id="{CBABCCC1-BF11-4F37-963E-1BCD5B23FD72}" type="slidenum">
              <a:rPr lang="en-IN" smtClean="0"/>
              <a:t>1</a:t>
            </a:fld>
            <a:endParaRPr lang="en-IN"/>
          </a:p>
        </p:txBody>
      </p:sp>
      <p:sp>
        <p:nvSpPr>
          <p:cNvPr id="26" name="Google Shape;475;p16">
            <a:extLst>
              <a:ext uri="{FF2B5EF4-FFF2-40B4-BE49-F238E27FC236}">
                <a16:creationId xmlns:a16="http://schemas.microsoft.com/office/drawing/2014/main" id="{8C79B14E-35DC-CA57-52EC-0A412C13693C}"/>
              </a:ext>
            </a:extLst>
          </p:cNvPr>
          <p:cNvSpPr txBox="1"/>
          <p:nvPr/>
        </p:nvSpPr>
        <p:spPr>
          <a:xfrm>
            <a:off x="3966410" y="361484"/>
            <a:ext cx="4595447" cy="707846"/>
          </a:xfrm>
          <a:prstGeom prst="rect">
            <a:avLst/>
          </a:prstGeom>
          <a:noFill/>
          <a:ln>
            <a:solidFill>
              <a:schemeClr val="tx1"/>
            </a:solidFill>
          </a:ln>
          <a:effectLst/>
        </p:spPr>
        <p:txBody>
          <a:bodyPr spcFirstLastPara="1" wrap="square" lIns="91425" tIns="45700" rIns="91425" bIns="45700" anchor="t" anchorCtr="0">
            <a:spAutoFit/>
          </a:bodyPr>
          <a:lstStyle/>
          <a:p>
            <a:pPr algn="ctr"/>
            <a:r>
              <a:rPr lang="en-US" sz="4000" dirty="0">
                <a:solidFill>
                  <a:srgbClr val="C00000"/>
                </a:solidFill>
                <a:cs typeface="Poppins" pitchFamily="2" charset="77"/>
              </a:rPr>
              <a:t>Department of CSE</a:t>
            </a:r>
          </a:p>
        </p:txBody>
      </p:sp>
      <p:sp>
        <p:nvSpPr>
          <p:cNvPr id="27" name="Google Shape;476;p16">
            <a:extLst>
              <a:ext uri="{FF2B5EF4-FFF2-40B4-BE49-F238E27FC236}">
                <a16:creationId xmlns:a16="http://schemas.microsoft.com/office/drawing/2014/main" id="{DDF4E58E-EDA5-274D-7BE9-CA12350E03C4}"/>
              </a:ext>
            </a:extLst>
          </p:cNvPr>
          <p:cNvSpPr txBox="1">
            <a:spLocks/>
          </p:cNvSpPr>
          <p:nvPr/>
        </p:nvSpPr>
        <p:spPr>
          <a:xfrm>
            <a:off x="1945339" y="1374645"/>
            <a:ext cx="8637587" cy="3693278"/>
          </a:xfrm>
          <a:prstGeom prst="rect">
            <a:avLst/>
          </a:prstGeom>
          <a:noFill/>
          <a:ln>
            <a:noFill/>
          </a:ln>
        </p:spPr>
        <p:txBody>
          <a:bodyPr spcFirstLastPara="1" wrap="square" lIns="91425" tIns="45700" rIns="91425" bIns="45700" anchor="t" anchorCtr="0">
            <a:spAutoFit/>
          </a:bodyPr>
          <a:lst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a:lstStyle>
          <a:p>
            <a:pPr algn="ctr">
              <a:spcBef>
                <a:spcPts val="0"/>
              </a:spcBef>
            </a:pPr>
            <a:endParaRPr lang="en-US" b="1" dirty="0">
              <a:ln/>
              <a:solidFill>
                <a:srgbClr val="C00000"/>
              </a:solidFill>
              <a:cs typeface="Poppins" panose="00000500000000000000" pitchFamily="2" charset="0"/>
              <a:sym typeface="BioRhyme ExtraBold"/>
            </a:endParaRPr>
          </a:p>
          <a:p>
            <a:pPr algn="ctr">
              <a:spcBef>
                <a:spcPts val="0"/>
              </a:spcBef>
            </a:pPr>
            <a:r>
              <a:rPr lang="en-US" b="1" dirty="0">
                <a:ln/>
                <a:solidFill>
                  <a:srgbClr val="C00000"/>
                </a:solidFill>
                <a:cs typeface="Poppins" panose="00000500000000000000" pitchFamily="2" charset="0"/>
                <a:sym typeface="BioRhyme ExtraBold"/>
              </a:rPr>
              <a:t>COURSE NAME: DBMS</a:t>
            </a:r>
          </a:p>
          <a:p>
            <a:pPr algn="ctr">
              <a:spcBef>
                <a:spcPts val="0"/>
              </a:spcBef>
            </a:pPr>
            <a:r>
              <a:rPr lang="en-US" b="1" dirty="0">
                <a:ln/>
                <a:solidFill>
                  <a:srgbClr val="C00000"/>
                </a:solidFill>
                <a:cs typeface="Poppins" panose="00000500000000000000" pitchFamily="2" charset="0"/>
                <a:sym typeface="BioRhyme ExtraBold"/>
              </a:rPr>
              <a:t>COURSE CODE:24AD2103</a:t>
            </a:r>
            <a:endParaRPr lang="en-US" sz="2000" b="1" dirty="0">
              <a:solidFill>
                <a:schemeClr val="bg1">
                  <a:lumMod val="50000"/>
                </a:schemeClr>
              </a:solidFill>
              <a:ea typeface="BioRhyme ExtraBold"/>
              <a:cs typeface="Poppins" panose="00000500000000000000" pitchFamily="2" charset="0"/>
              <a:sym typeface="BioRhyme ExtraBold"/>
            </a:endParaRPr>
          </a:p>
          <a:p>
            <a:pPr algn="ctr">
              <a:spcBef>
                <a:spcPts val="0"/>
              </a:spcBef>
            </a:pPr>
            <a:br>
              <a:rPr lang="en-US" sz="2000" b="1" dirty="0">
                <a:solidFill>
                  <a:schemeClr val="bg1">
                    <a:lumMod val="50000"/>
                  </a:schemeClr>
                </a:solidFill>
                <a:ea typeface="BioRhyme ExtraBold"/>
                <a:cs typeface="Poppins" panose="00000500000000000000" pitchFamily="2" charset="0"/>
                <a:sym typeface="BioRhyme ExtraBold"/>
              </a:rPr>
            </a:br>
            <a:br>
              <a:rPr lang="en-US" sz="2000" b="1" dirty="0">
                <a:solidFill>
                  <a:schemeClr val="bg1">
                    <a:lumMod val="50000"/>
                  </a:schemeClr>
                </a:solidFill>
                <a:ea typeface="BioRhyme ExtraBold"/>
                <a:cs typeface="Poppins" panose="00000500000000000000" pitchFamily="2" charset="0"/>
                <a:sym typeface="BioRhyme ExtraBold"/>
              </a:rPr>
            </a:br>
            <a:br>
              <a:rPr lang="en-US" sz="2000" b="1" dirty="0">
                <a:solidFill>
                  <a:schemeClr val="bg1">
                    <a:lumMod val="50000"/>
                  </a:schemeClr>
                </a:solidFill>
                <a:ea typeface="BioRhyme ExtraBold"/>
                <a:cs typeface="Poppins" panose="00000500000000000000" pitchFamily="2" charset="0"/>
                <a:sym typeface="BioRhyme ExtraBold"/>
              </a:rPr>
            </a:br>
            <a:r>
              <a:rPr lang="en-US" sz="2400" b="1" dirty="0">
                <a:ln/>
                <a:solidFill>
                  <a:schemeClr val="accent3"/>
                </a:solidFill>
                <a:cs typeface="Poppins" panose="00000500000000000000" pitchFamily="2" charset="0"/>
                <a:sym typeface="BioRhyme ExtraBold"/>
              </a:rPr>
              <a:t>Topic: </a:t>
            </a:r>
            <a:br>
              <a:rPr lang="en-US" sz="2000" b="1" dirty="0">
                <a:solidFill>
                  <a:schemeClr val="bg1">
                    <a:lumMod val="50000"/>
                  </a:schemeClr>
                </a:solidFill>
                <a:ea typeface="BioRhyme ExtraBold"/>
                <a:cs typeface="Poppins" panose="00000500000000000000" pitchFamily="2" charset="0"/>
                <a:sym typeface="BioRhyme ExtraBold"/>
              </a:rPr>
            </a:br>
            <a:br>
              <a:rPr lang="en-US" sz="2000" b="1" dirty="0">
                <a:solidFill>
                  <a:schemeClr val="bg1">
                    <a:lumMod val="50000"/>
                  </a:schemeClr>
                </a:solidFill>
                <a:ea typeface="BioRhyme ExtraBold"/>
                <a:cs typeface="Poppins" panose="00000500000000000000" pitchFamily="2" charset="0"/>
                <a:sym typeface="BioRhyme ExtraBold"/>
              </a:rPr>
            </a:br>
            <a:br>
              <a:rPr lang="en-US" sz="2000" b="1" dirty="0">
                <a:solidFill>
                  <a:schemeClr val="bg1">
                    <a:lumMod val="50000"/>
                  </a:schemeClr>
                </a:solidFill>
                <a:ea typeface="BioRhyme ExtraBold"/>
                <a:cs typeface="Poppins" panose="00000500000000000000" pitchFamily="2" charset="0"/>
                <a:sym typeface="BioRhyme ExtraBold"/>
              </a:rPr>
            </a:br>
            <a:br>
              <a:rPr lang="en-US" sz="2000" b="1" dirty="0">
                <a:solidFill>
                  <a:schemeClr val="bg1">
                    <a:lumMod val="50000"/>
                  </a:schemeClr>
                </a:solidFill>
                <a:ea typeface="BioRhyme ExtraBold"/>
                <a:cs typeface="Poppins" panose="00000500000000000000" pitchFamily="2" charset="0"/>
                <a:sym typeface="BioRhyme ExtraBold"/>
              </a:rPr>
            </a:br>
            <a:endParaRPr lang="en-US" sz="2000" b="1" dirty="0">
              <a:solidFill>
                <a:schemeClr val="bg1">
                  <a:lumMod val="50000"/>
                </a:schemeClr>
              </a:solidFill>
              <a:ea typeface="BioRhyme ExtraBold"/>
              <a:cs typeface="Poppins" panose="00000500000000000000" pitchFamily="2" charset="0"/>
              <a:sym typeface="BioRhyme ExtraBold"/>
            </a:endParaRPr>
          </a:p>
        </p:txBody>
      </p:sp>
      <p:sp>
        <p:nvSpPr>
          <p:cNvPr id="28" name="Google Shape;476;p16">
            <a:extLst>
              <a:ext uri="{FF2B5EF4-FFF2-40B4-BE49-F238E27FC236}">
                <a16:creationId xmlns:a16="http://schemas.microsoft.com/office/drawing/2014/main" id="{E377B779-CC0A-2650-B103-5A8C228500B3}"/>
              </a:ext>
            </a:extLst>
          </p:cNvPr>
          <p:cNvSpPr txBox="1"/>
          <p:nvPr/>
        </p:nvSpPr>
        <p:spPr>
          <a:xfrm>
            <a:off x="2967789" y="4023915"/>
            <a:ext cx="6902548" cy="954067"/>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r>
              <a:rPr lang="en-US" sz="2800" b="1" cap="all" dirty="0">
                <a:ln/>
                <a:solidFill>
                  <a:srgbClr val="C00000"/>
                </a:solidFill>
                <a:cs typeface="Poppins" panose="00000500000000000000" pitchFamily="2" charset="0"/>
                <a:sym typeface="BioRhyme ExtraBold"/>
              </a:rPr>
              <a:t>SQL Languages and Create table command</a:t>
            </a:r>
            <a:endParaRPr lang="en-US" b="1" dirty="0">
              <a:solidFill>
                <a:schemeClr val="bg1">
                  <a:lumMod val="50000"/>
                </a:schemeClr>
              </a:solidFill>
              <a:ea typeface="BioRhyme ExtraBold"/>
              <a:cs typeface="Poppins" panose="00000500000000000000" pitchFamily="2" charset="0"/>
              <a:sym typeface="BioRhyme ExtraBold"/>
            </a:endParaRPr>
          </a:p>
        </p:txBody>
      </p:sp>
      <p:sp>
        <p:nvSpPr>
          <p:cNvPr id="29" name="Google Shape;502;p17">
            <a:extLst>
              <a:ext uri="{FF2B5EF4-FFF2-40B4-BE49-F238E27FC236}">
                <a16:creationId xmlns:a16="http://schemas.microsoft.com/office/drawing/2014/main" id="{5BC620AC-A8B4-2EC3-A7B6-42CD1FE01DF9}"/>
              </a:ext>
            </a:extLst>
          </p:cNvPr>
          <p:cNvSpPr/>
          <p:nvPr/>
        </p:nvSpPr>
        <p:spPr>
          <a:xfrm>
            <a:off x="5230317" y="5373238"/>
            <a:ext cx="223511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a:cs typeface="Poppins" panose="00000500000000000000" pitchFamily="2" charset="0"/>
                <a:sym typeface="Calibri"/>
              </a:rPr>
              <a:t>Session - 7</a:t>
            </a:r>
            <a:endParaRPr sz="2400" dirty="0">
              <a:solidFill>
                <a:schemeClr val="lt1"/>
              </a:solidFill>
              <a:ea typeface="Calibri"/>
              <a:cs typeface="Poppins" panose="00000500000000000000" pitchFamily="2" charset="0"/>
              <a:sym typeface="Calibri"/>
            </a:endParaRPr>
          </a:p>
        </p:txBody>
      </p:sp>
    </p:spTree>
    <p:extLst>
      <p:ext uri="{BB962C8B-B14F-4D97-AF65-F5344CB8AC3E}">
        <p14:creationId xmlns:p14="http://schemas.microsoft.com/office/powerpoint/2010/main" val="8879812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A1C8E0E-4C0B-B608-49BD-0D5A95E882F2}"/>
              </a:ext>
            </a:extLst>
          </p:cNvPr>
          <p:cNvSpPr>
            <a:spLocks noGrp="1"/>
          </p:cNvSpPr>
          <p:nvPr>
            <p:ph type="sldNum" sz="quarter" idx="12"/>
          </p:nvPr>
        </p:nvSpPr>
        <p:spPr/>
        <p:txBody>
          <a:bodyPr/>
          <a:lstStyle/>
          <a:p>
            <a:fld id="{CBABCCC1-BF11-4F37-963E-1BCD5B23FD72}" type="slidenum">
              <a:rPr lang="en-IN" smtClean="0"/>
              <a:t>2</a:t>
            </a:fld>
            <a:endParaRPr lang="en-IN"/>
          </a:p>
        </p:txBody>
      </p:sp>
      <p:sp>
        <p:nvSpPr>
          <p:cNvPr id="3" name="Rounded Rectangle 17">
            <a:extLst>
              <a:ext uri="{FF2B5EF4-FFF2-40B4-BE49-F238E27FC236}">
                <a16:creationId xmlns:a16="http://schemas.microsoft.com/office/drawing/2014/main" id="{424E9E5A-029E-50F7-CF23-2AB3C20B1305}"/>
              </a:ext>
            </a:extLst>
          </p:cNvPr>
          <p:cNvSpPr/>
          <p:nvPr/>
        </p:nvSpPr>
        <p:spPr>
          <a:xfrm>
            <a:off x="4471371" y="84408"/>
            <a:ext cx="3818189" cy="364601"/>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AIM OF THE SESSION</a:t>
            </a:r>
          </a:p>
        </p:txBody>
      </p:sp>
      <p:sp>
        <p:nvSpPr>
          <p:cNvPr id="4" name="TextBox 3">
            <a:extLst>
              <a:ext uri="{FF2B5EF4-FFF2-40B4-BE49-F238E27FC236}">
                <a16:creationId xmlns:a16="http://schemas.microsoft.com/office/drawing/2014/main" id="{F22DDE0B-7E41-FC17-D87F-032AEBDA2819}"/>
              </a:ext>
            </a:extLst>
          </p:cNvPr>
          <p:cNvSpPr txBox="1"/>
          <p:nvPr/>
        </p:nvSpPr>
        <p:spPr>
          <a:xfrm>
            <a:off x="1752599" y="689854"/>
            <a:ext cx="8791575" cy="796115"/>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1600" b="0" i="0" dirty="0">
                <a:effectLst/>
                <a:latin typeface="Poppins"/>
                <a:cs typeface="Poppins"/>
              </a:rPr>
              <a:t>To familiarize students with the basic concept of SQL languages and Create table command in detail.</a:t>
            </a:r>
          </a:p>
        </p:txBody>
      </p:sp>
      <p:sp>
        <p:nvSpPr>
          <p:cNvPr id="5" name="Rounded Rectangle 17">
            <a:extLst>
              <a:ext uri="{FF2B5EF4-FFF2-40B4-BE49-F238E27FC236}">
                <a16:creationId xmlns:a16="http://schemas.microsoft.com/office/drawing/2014/main" id="{110F8DF8-C1AC-15F4-177C-E5EEED1F1CCB}"/>
              </a:ext>
            </a:extLst>
          </p:cNvPr>
          <p:cNvSpPr/>
          <p:nvPr/>
        </p:nvSpPr>
        <p:spPr>
          <a:xfrm>
            <a:off x="4160582" y="1807061"/>
            <a:ext cx="4586179" cy="401701"/>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INSTRUCTIONAL OBJECTIVES</a:t>
            </a:r>
          </a:p>
        </p:txBody>
      </p:sp>
      <p:sp>
        <p:nvSpPr>
          <p:cNvPr id="6" name="TextBox 5">
            <a:extLst>
              <a:ext uri="{FF2B5EF4-FFF2-40B4-BE49-F238E27FC236}">
                <a16:creationId xmlns:a16="http://schemas.microsoft.com/office/drawing/2014/main" id="{4D182027-521F-E14E-041A-4CC587C0ED2D}"/>
              </a:ext>
            </a:extLst>
          </p:cNvPr>
          <p:cNvSpPr txBox="1"/>
          <p:nvPr/>
        </p:nvSpPr>
        <p:spPr>
          <a:xfrm>
            <a:off x="1752600" y="2438605"/>
            <a:ext cx="8791575" cy="1323439"/>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Poppins"/>
                <a:cs typeface="Poppins"/>
              </a:rPr>
              <a:t>This</a:t>
            </a:r>
            <a:r>
              <a:rPr lang="en-US" sz="1600" b="0" i="0" dirty="0">
                <a:effectLst/>
                <a:latin typeface="Poppins"/>
                <a:cs typeface="Poppins"/>
              </a:rPr>
              <a:t> </a:t>
            </a:r>
            <a:r>
              <a:rPr lang="en-US" sz="1600" dirty="0">
                <a:latin typeface="Poppins"/>
                <a:cs typeface="Poppins"/>
              </a:rPr>
              <a:t>Session</a:t>
            </a:r>
            <a:r>
              <a:rPr lang="en-US" sz="1600" b="0" i="0" dirty="0">
                <a:effectLst/>
                <a:latin typeface="Poppins"/>
                <a:cs typeface="Poppins"/>
              </a:rPr>
              <a:t> is designed to</a:t>
            </a:r>
            <a:r>
              <a:rPr lang="en-US" sz="1600" dirty="0">
                <a:latin typeface="Poppins"/>
                <a:cs typeface="Poppins"/>
              </a:rPr>
              <a:t>:</a:t>
            </a:r>
          </a:p>
          <a:p>
            <a:pPr marL="342900" indent="-342900">
              <a:buAutoNum type="arabicPeriod"/>
            </a:pPr>
            <a:r>
              <a:rPr lang="en-US" sz="1600" dirty="0">
                <a:latin typeface="Poppins"/>
                <a:cs typeface="Poppins"/>
              </a:rPr>
              <a:t>Discuss the types of SQL languages.</a:t>
            </a:r>
          </a:p>
          <a:p>
            <a:pPr marL="342900" indent="-342900">
              <a:buAutoNum type="arabicPeriod"/>
            </a:pPr>
            <a:r>
              <a:rPr lang="en-US" sz="1600" dirty="0">
                <a:latin typeface="Poppins"/>
                <a:cs typeface="Poppins"/>
              </a:rPr>
              <a:t>Various command under different types of SQL Languages.</a:t>
            </a:r>
          </a:p>
          <a:p>
            <a:pPr marL="342900" indent="-342900">
              <a:buAutoNum type="arabicPeriod"/>
            </a:pPr>
            <a:r>
              <a:rPr lang="en-US" sz="1600" dirty="0">
                <a:latin typeface="Poppins"/>
                <a:cs typeface="Poppins"/>
              </a:rPr>
              <a:t>Introduction of Create table command with its syntax and examples.</a:t>
            </a:r>
          </a:p>
        </p:txBody>
      </p:sp>
      <p:pic>
        <p:nvPicPr>
          <p:cNvPr id="7" name="Graphic 6" descr="Bullseye outline">
            <a:extLst>
              <a:ext uri="{FF2B5EF4-FFF2-40B4-BE49-F238E27FC236}">
                <a16:creationId xmlns:a16="http://schemas.microsoft.com/office/drawing/2014/main" id="{B18DB135-D3CC-A80D-F712-EC8DF50DFE03}"/>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8199" y="606535"/>
            <a:ext cx="914400" cy="914400"/>
          </a:xfrm>
          <a:prstGeom prst="rect">
            <a:avLst/>
          </a:prstGeom>
        </p:spPr>
      </p:pic>
      <p:pic>
        <p:nvPicPr>
          <p:cNvPr id="8" name="Graphic 7" descr="Presentation with checklist outline">
            <a:extLst>
              <a:ext uri="{FF2B5EF4-FFF2-40B4-BE49-F238E27FC236}">
                <a16:creationId xmlns:a16="http://schemas.microsoft.com/office/drawing/2014/main" id="{296A2694-2274-7CA3-7C8C-39A98E4B2F24}"/>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8200" y="2438605"/>
            <a:ext cx="914400" cy="914400"/>
          </a:xfrm>
          <a:prstGeom prst="rect">
            <a:avLst/>
          </a:prstGeom>
        </p:spPr>
      </p:pic>
      <p:sp>
        <p:nvSpPr>
          <p:cNvPr id="9" name="Rounded Rectangle 17">
            <a:extLst>
              <a:ext uri="{FF2B5EF4-FFF2-40B4-BE49-F238E27FC236}">
                <a16:creationId xmlns:a16="http://schemas.microsoft.com/office/drawing/2014/main" id="{6872653E-4482-AE10-F98B-865A4482549D}"/>
              </a:ext>
            </a:extLst>
          </p:cNvPr>
          <p:cNvSpPr/>
          <p:nvPr/>
        </p:nvSpPr>
        <p:spPr>
          <a:xfrm>
            <a:off x="4471371" y="4166665"/>
            <a:ext cx="3818189"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p>
        </p:txBody>
      </p:sp>
      <p:pic>
        <p:nvPicPr>
          <p:cNvPr id="10" name="Graphic 9" descr="Idea outline">
            <a:extLst>
              <a:ext uri="{FF2B5EF4-FFF2-40B4-BE49-F238E27FC236}">
                <a16:creationId xmlns:a16="http://schemas.microsoft.com/office/drawing/2014/main" id="{AF927CD5-3C62-65E7-0885-09A207F3BC3B}"/>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14400" y="4765771"/>
            <a:ext cx="914400" cy="914400"/>
          </a:xfrm>
          <a:prstGeom prst="rect">
            <a:avLst/>
          </a:prstGeom>
        </p:spPr>
      </p:pic>
      <p:sp>
        <p:nvSpPr>
          <p:cNvPr id="11" name="TextBox 10">
            <a:extLst>
              <a:ext uri="{FF2B5EF4-FFF2-40B4-BE49-F238E27FC236}">
                <a16:creationId xmlns:a16="http://schemas.microsoft.com/office/drawing/2014/main" id="{17C1647D-F419-4475-980B-B5E700FF16AA}"/>
              </a:ext>
            </a:extLst>
          </p:cNvPr>
          <p:cNvSpPr txBox="1"/>
          <p:nvPr/>
        </p:nvSpPr>
        <p:spPr>
          <a:xfrm>
            <a:off x="1752600" y="4772230"/>
            <a:ext cx="8791575" cy="796115"/>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gn="just">
              <a:lnSpc>
                <a:spcPct val="150000"/>
              </a:lnSpc>
            </a:pPr>
            <a:r>
              <a:rPr lang="en-US" sz="1600" dirty="0">
                <a:latin typeface="Poppins"/>
                <a:cs typeface="Poppins"/>
              </a:rPr>
              <a:t>At the end of this session, you should be able to understand the basic commands of SQL and learn how to write queries with SQL commands.</a:t>
            </a:r>
          </a:p>
        </p:txBody>
      </p:sp>
      <p:pic>
        <p:nvPicPr>
          <p:cNvPr id="12" name="Picture 2" descr="KL Deemed to be University Logo">
            <a:extLst>
              <a:ext uri="{FF2B5EF4-FFF2-40B4-BE49-F238E27FC236}">
                <a16:creationId xmlns:a16="http://schemas.microsoft.com/office/drawing/2014/main" id="{B24BA674-321F-E482-7A76-F77265CCD8E6}"/>
              </a:ext>
            </a:extLst>
          </p:cNvPr>
          <p:cNvPicPr>
            <a:picLocks noChangeAspect="1" noChangeArrowheads="1"/>
          </p:cNvPicPr>
          <p:nvPr/>
        </p:nvPicPr>
        <p:blipFill>
          <a:blip r:embed="rId8"/>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1090234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5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500"/>
                                        <p:tgtEl>
                                          <p:spTgt spid="6"/>
                                        </p:tgtEl>
                                      </p:cBhvr>
                                    </p:animEffect>
                                  </p:childTnLst>
                                </p:cTn>
                              </p:par>
                              <p:par>
                                <p:cTn id="26" presetID="10" presetClass="entr" presetSubtype="0" fill="hold" nodeType="with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500"/>
                                        <p:tgtEl>
                                          <p:spTgt spid="8"/>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500"/>
                                        <p:tgtEl>
                                          <p:spTgt spid="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00"/>
                                        <p:tgtEl>
                                          <p:spTgt spid="11"/>
                                        </p:tgtEl>
                                      </p:cBhvr>
                                    </p:animEffect>
                                  </p:childTnLst>
                                </p:cTn>
                              </p:par>
                              <p:par>
                                <p:cTn id="39" presetID="10" presetClass="entr" presetSubtype="0" fill="hold" nodeType="with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fade">
                                      <p:cBhvr>
                                        <p:cTn id="4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9" grpId="0" animBg="1"/>
      <p:bldP spid="11"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93D7F7C-59FD-A833-A904-40D7318E4997}"/>
              </a:ext>
            </a:extLst>
          </p:cNvPr>
          <p:cNvSpPr>
            <a:spLocks noGrp="1"/>
          </p:cNvSpPr>
          <p:nvPr>
            <p:ph type="sldNum" sz="quarter" idx="12"/>
          </p:nvPr>
        </p:nvSpPr>
        <p:spPr/>
        <p:txBody>
          <a:bodyPr/>
          <a:lstStyle/>
          <a:p>
            <a:fld id="{CBABCCC1-BF11-4F37-963E-1BCD5B23FD72}" type="slidenum">
              <a:rPr lang="en-IN" smtClean="0"/>
              <a:t>3</a:t>
            </a:fld>
            <a:endParaRPr lang="en-IN"/>
          </a:p>
        </p:txBody>
      </p:sp>
      <p:sp>
        <p:nvSpPr>
          <p:cNvPr id="3" name="Rounded Rectangle 17">
            <a:extLst>
              <a:ext uri="{FF2B5EF4-FFF2-40B4-BE49-F238E27FC236}">
                <a16:creationId xmlns:a16="http://schemas.microsoft.com/office/drawing/2014/main" id="{D35BEB97-2620-12DD-3EFA-8D744480CBC5}"/>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INTRODUCTION </a:t>
            </a:r>
          </a:p>
        </p:txBody>
      </p:sp>
      <p:pic>
        <p:nvPicPr>
          <p:cNvPr id="4" name="Picture 2" descr="KL Deemed to be University Logo">
            <a:extLst>
              <a:ext uri="{FF2B5EF4-FFF2-40B4-BE49-F238E27FC236}">
                <a16:creationId xmlns:a16="http://schemas.microsoft.com/office/drawing/2014/main" id="{B19C3C1B-B199-C00B-6DEE-3C9ED8BD06B6}"/>
              </a:ext>
            </a:extLst>
          </p:cNvPr>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5" name="TextBox 4">
            <a:extLst>
              <a:ext uri="{FF2B5EF4-FFF2-40B4-BE49-F238E27FC236}">
                <a16:creationId xmlns:a16="http://schemas.microsoft.com/office/drawing/2014/main" id="{28EF0CBF-DA9A-1711-3694-786E8D862C8B}"/>
              </a:ext>
            </a:extLst>
          </p:cNvPr>
          <p:cNvSpPr txBox="1"/>
          <p:nvPr/>
        </p:nvSpPr>
        <p:spPr>
          <a:xfrm>
            <a:off x="1052731" y="904295"/>
            <a:ext cx="10086536" cy="7663636"/>
          </a:xfrm>
          <a:prstGeom prst="rect">
            <a:avLst/>
          </a:prstGeom>
          <a:noFill/>
        </p:spPr>
        <p:txBody>
          <a:bodyPr wrap="square" rtlCol="0">
            <a:spAutoFit/>
          </a:bodyPr>
          <a:lstStyle/>
          <a:p>
            <a:pPr algn="just"/>
            <a:r>
              <a:rPr lang="en-US" sz="2400" b="0" i="0" dirty="0">
                <a:solidFill>
                  <a:srgbClr val="273239"/>
                </a:solidFill>
                <a:effectLst/>
                <a:latin typeface="Times New Roman" panose="02020603050405020304" pitchFamily="18" charset="0"/>
                <a:cs typeface="Times New Roman" panose="02020603050405020304" pitchFamily="18" charset="0"/>
              </a:rPr>
              <a:t>Structured Query Language(SQL) as we all know is the database language by the use of which we can perform certain operations on the existing database and also we can use this language to create a new database. </a:t>
            </a:r>
            <a:r>
              <a:rPr lang="en-US" sz="2400" b="0" i="0" dirty="0">
                <a:solidFill>
                  <a:srgbClr val="333333"/>
                </a:solidFill>
                <a:effectLst/>
                <a:latin typeface="Times New Roman" panose="02020603050405020304" pitchFamily="18" charset="0"/>
                <a:cs typeface="Times New Roman" panose="02020603050405020304" pitchFamily="18" charset="0"/>
              </a:rPr>
              <a:t>Following are the four different types of languages or commands which are widely used in SQL queries:</a:t>
            </a:r>
          </a:p>
          <a:p>
            <a:pPr algn="just"/>
            <a:endParaRPr lang="en-US" sz="2400" b="0" i="0" dirty="0">
              <a:solidFill>
                <a:srgbClr val="333333"/>
              </a:solidFill>
              <a:effectLst/>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b="0" i="0" dirty="0">
                <a:solidFill>
                  <a:srgbClr val="000000"/>
                </a:solidFill>
                <a:effectLst/>
                <a:latin typeface="Times New Roman" panose="02020603050405020304" pitchFamily="18" charset="0"/>
                <a:cs typeface="Times New Roman" panose="02020603050405020304" pitchFamily="18" charset="0"/>
              </a:rPr>
              <a:t>DDL (Data Definition Language)</a:t>
            </a:r>
          </a:p>
          <a:p>
            <a:pPr marL="342900" indent="-342900" algn="just">
              <a:buFont typeface="Arial" panose="020B0604020202020204" pitchFamily="34" charset="0"/>
              <a:buChar char="•"/>
            </a:pPr>
            <a:r>
              <a:rPr lang="en-US" sz="2400" b="0" i="0" dirty="0">
                <a:solidFill>
                  <a:srgbClr val="000000"/>
                </a:solidFill>
                <a:effectLst/>
                <a:latin typeface="Times New Roman" panose="02020603050405020304" pitchFamily="18" charset="0"/>
                <a:cs typeface="Times New Roman" panose="02020603050405020304" pitchFamily="18" charset="0"/>
              </a:rPr>
              <a:t>DML (Data Manipulation Language)</a:t>
            </a:r>
          </a:p>
          <a:p>
            <a:pPr marL="342900" indent="-342900" algn="just">
              <a:buFont typeface="Arial" panose="020B0604020202020204" pitchFamily="34" charset="0"/>
              <a:buChar char="•"/>
            </a:pPr>
            <a:r>
              <a:rPr lang="en-US" sz="2400" b="0" i="0" dirty="0">
                <a:solidFill>
                  <a:srgbClr val="000000"/>
                </a:solidFill>
                <a:effectLst/>
                <a:latin typeface="Times New Roman" panose="02020603050405020304" pitchFamily="18" charset="0"/>
                <a:cs typeface="Times New Roman" panose="02020603050405020304" pitchFamily="18" charset="0"/>
              </a:rPr>
              <a:t>TCL (Transaction Control Language)</a:t>
            </a:r>
          </a:p>
          <a:p>
            <a:pPr marL="342900" indent="-342900" algn="just">
              <a:buFont typeface="Arial" panose="020B0604020202020204" pitchFamily="34" charset="0"/>
              <a:buChar char="•"/>
            </a:pPr>
            <a:r>
              <a:rPr lang="en-US" sz="2400" b="0" i="0" dirty="0">
                <a:solidFill>
                  <a:srgbClr val="000000"/>
                </a:solidFill>
                <a:effectLst/>
                <a:latin typeface="Times New Roman" panose="02020603050405020304" pitchFamily="18" charset="0"/>
                <a:cs typeface="Times New Roman" panose="02020603050405020304" pitchFamily="18" charset="0"/>
              </a:rPr>
              <a:t>DCL (Data Control Language)</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36152065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C34801B-17EF-8C83-F802-9F8A094EA3A4}"/>
              </a:ext>
            </a:extLst>
          </p:cNvPr>
          <p:cNvSpPr>
            <a:spLocks noGrp="1"/>
          </p:cNvSpPr>
          <p:nvPr>
            <p:ph type="sldNum" sz="quarter" idx="12"/>
          </p:nvPr>
        </p:nvSpPr>
        <p:spPr/>
        <p:txBody>
          <a:bodyPr/>
          <a:lstStyle/>
          <a:p>
            <a:fld id="{CBABCCC1-BF11-4F37-963E-1BCD5B23FD72}" type="slidenum">
              <a:rPr lang="en-IN" smtClean="0"/>
              <a:t>4</a:t>
            </a:fld>
            <a:endParaRPr lang="en-IN"/>
          </a:p>
        </p:txBody>
      </p:sp>
      <p:sp>
        <p:nvSpPr>
          <p:cNvPr id="3" name="Rounded Rectangle 17">
            <a:extLst>
              <a:ext uri="{FF2B5EF4-FFF2-40B4-BE49-F238E27FC236}">
                <a16:creationId xmlns:a16="http://schemas.microsoft.com/office/drawing/2014/main" id="{26CA3B01-D74A-54C1-7EAF-A6616DE674BA}"/>
              </a:ext>
            </a:extLst>
          </p:cNvPr>
          <p:cNvSpPr/>
          <p:nvPr/>
        </p:nvSpPr>
        <p:spPr>
          <a:xfrm>
            <a:off x="3473653" y="8440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DATA DEFINITION LANGUAGE</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4" name="Picture 2" descr="KL Deemed to be University Logo">
            <a:extLst>
              <a:ext uri="{FF2B5EF4-FFF2-40B4-BE49-F238E27FC236}">
                <a16:creationId xmlns:a16="http://schemas.microsoft.com/office/drawing/2014/main" id="{CBA96777-3855-41E0-80F4-EBC3C9AD2E12}"/>
              </a:ext>
            </a:extLst>
          </p:cNvPr>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5" name="TextBox 4">
            <a:extLst>
              <a:ext uri="{FF2B5EF4-FFF2-40B4-BE49-F238E27FC236}">
                <a16:creationId xmlns:a16="http://schemas.microsoft.com/office/drawing/2014/main" id="{5C7EDD49-A39C-3CCD-7EE3-34CD4942B647}"/>
              </a:ext>
            </a:extLst>
          </p:cNvPr>
          <p:cNvSpPr txBox="1"/>
          <p:nvPr/>
        </p:nvSpPr>
        <p:spPr>
          <a:xfrm>
            <a:off x="954860" y="976646"/>
            <a:ext cx="10436111" cy="4400179"/>
          </a:xfrm>
          <a:prstGeom prst="rect">
            <a:avLst/>
          </a:prstGeom>
          <a:noFill/>
        </p:spPr>
        <p:txBody>
          <a:bodyPr wrap="square" rtlCol="0">
            <a:spAutoFit/>
          </a:bodyPr>
          <a:lstStyle/>
          <a:p>
            <a:pPr algn="just">
              <a:lnSpc>
                <a:spcPct val="115000"/>
              </a:lnSpc>
              <a:spcBef>
                <a:spcPts val="315"/>
              </a:spcBef>
              <a:spcAft>
                <a:spcPts val="1000"/>
              </a:spcAft>
            </a:pPr>
            <a:r>
              <a:rPr lang="en-US" sz="2400" b="1" kern="1800" dirty="0">
                <a:solidFill>
                  <a:srgbClr val="FF0000"/>
                </a:solidFill>
                <a:latin typeface="Times New Roman" panose="02020603050405020304" pitchFamily="18" charset="0"/>
                <a:cs typeface="Times New Roman" panose="02020603050405020304" pitchFamily="18" charset="0"/>
              </a:rPr>
              <a:t>Data Definition Language</a:t>
            </a:r>
          </a:p>
          <a:p>
            <a:pPr algn="just"/>
            <a:endParaRPr lang="en-US" sz="2000" b="1" dirty="0">
              <a:solidFill>
                <a:srgbClr val="273239"/>
              </a:solidFill>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800" dirty="0">
                <a:solidFill>
                  <a:srgbClr val="273239"/>
                </a:solidFill>
                <a:latin typeface="Times New Roman" panose="02020603050405020304" pitchFamily="18" charset="0"/>
                <a:cs typeface="Times New Roman" panose="02020603050405020304" pitchFamily="18" charset="0"/>
              </a:rPr>
              <a:t>Data Definition Language actually consists of the SQL commands that can be used to define the database structure or schema. </a:t>
            </a:r>
          </a:p>
          <a:p>
            <a:pPr marL="342900" indent="-342900" algn="just">
              <a:buFont typeface="Arial" panose="020B0604020202020204" pitchFamily="34" charset="0"/>
              <a:buChar char="•"/>
            </a:pPr>
            <a:r>
              <a:rPr lang="en-US" sz="2800" dirty="0">
                <a:solidFill>
                  <a:srgbClr val="273239"/>
                </a:solidFill>
                <a:latin typeface="Times New Roman" panose="02020603050405020304" pitchFamily="18" charset="0"/>
                <a:cs typeface="Times New Roman" panose="02020603050405020304" pitchFamily="18" charset="0"/>
              </a:rPr>
              <a:t>It simply deals with descriptions of the database schema and is used to create and modify the structure of database objects in the database. </a:t>
            </a:r>
          </a:p>
          <a:p>
            <a:pPr marL="342900" indent="-342900" algn="just">
              <a:buFont typeface="Arial" panose="020B0604020202020204" pitchFamily="34" charset="0"/>
              <a:buChar char="•"/>
            </a:pPr>
            <a:r>
              <a:rPr lang="en-US" sz="2800" dirty="0">
                <a:solidFill>
                  <a:srgbClr val="273239"/>
                </a:solidFill>
                <a:latin typeface="Times New Roman" panose="02020603050405020304" pitchFamily="18" charset="0"/>
                <a:cs typeface="Times New Roman" panose="02020603050405020304" pitchFamily="18" charset="0"/>
              </a:rPr>
              <a:t>DDL is a set of SQL commands used to create, modify, and delete database structures but not data. </a:t>
            </a:r>
          </a:p>
          <a:p>
            <a:pPr marL="342900" indent="-342900" algn="just">
              <a:buFont typeface="Arial" panose="020B0604020202020204" pitchFamily="34" charset="0"/>
              <a:buChar char="•"/>
            </a:pPr>
            <a:r>
              <a:rPr lang="en-US" sz="2800" dirty="0">
                <a:solidFill>
                  <a:srgbClr val="273239"/>
                </a:solidFill>
                <a:latin typeface="Times New Roman" panose="02020603050405020304" pitchFamily="18" charset="0"/>
                <a:cs typeface="Times New Roman" panose="02020603050405020304" pitchFamily="18" charset="0"/>
              </a:rPr>
              <a:t>These commands are normally not used by a general user, who should be accessing the database via an application.</a:t>
            </a:r>
          </a:p>
        </p:txBody>
      </p:sp>
    </p:spTree>
    <p:extLst>
      <p:ext uri="{BB962C8B-B14F-4D97-AF65-F5344CB8AC3E}">
        <p14:creationId xmlns:p14="http://schemas.microsoft.com/office/powerpoint/2010/main" val="2808941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3"/>
                                        </p:tgtEl>
                                      </p:cBhvr>
                                    </p:animEffect>
                                    <p:animScale>
                                      <p:cBhvr>
                                        <p:cTn id="7" dur="250" autoRev="1" fill="hold"/>
                                        <p:tgtEl>
                                          <p:spTgt spid="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34CA4EE-3FB8-87C5-5374-7FD4C117B025}"/>
              </a:ext>
            </a:extLst>
          </p:cNvPr>
          <p:cNvSpPr>
            <a:spLocks noGrp="1"/>
          </p:cNvSpPr>
          <p:nvPr>
            <p:ph type="sldNum" sz="quarter" idx="12"/>
          </p:nvPr>
        </p:nvSpPr>
        <p:spPr/>
        <p:txBody>
          <a:bodyPr/>
          <a:lstStyle/>
          <a:p>
            <a:fld id="{CBABCCC1-BF11-4F37-963E-1BCD5B23FD72}" type="slidenum">
              <a:rPr lang="en-IN" smtClean="0"/>
              <a:t>5</a:t>
            </a:fld>
            <a:endParaRPr lang="en-IN"/>
          </a:p>
        </p:txBody>
      </p:sp>
      <p:sp>
        <p:nvSpPr>
          <p:cNvPr id="3" name="Rounded Rectangle 17">
            <a:extLst>
              <a:ext uri="{FF2B5EF4-FFF2-40B4-BE49-F238E27FC236}">
                <a16:creationId xmlns:a16="http://schemas.microsoft.com/office/drawing/2014/main" id="{095D6539-DAEF-C4DD-3649-8165ABA60273}"/>
              </a:ext>
            </a:extLst>
          </p:cNvPr>
          <p:cNvSpPr/>
          <p:nvPr/>
        </p:nvSpPr>
        <p:spPr>
          <a:xfrm>
            <a:off x="3121963" y="19846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DATA DEFINITION LANGUAGE (Cont..)</a:t>
            </a:r>
          </a:p>
        </p:txBody>
      </p:sp>
      <p:pic>
        <p:nvPicPr>
          <p:cNvPr id="4" name="Picture 2" descr="KL Deemed to be University Logo">
            <a:extLst>
              <a:ext uri="{FF2B5EF4-FFF2-40B4-BE49-F238E27FC236}">
                <a16:creationId xmlns:a16="http://schemas.microsoft.com/office/drawing/2014/main" id="{9BB95978-CE1E-4EBF-746C-BB8D3E2198E8}"/>
              </a:ext>
            </a:extLst>
          </p:cNvPr>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5" name="TextBox 4">
            <a:extLst>
              <a:ext uri="{FF2B5EF4-FFF2-40B4-BE49-F238E27FC236}">
                <a16:creationId xmlns:a16="http://schemas.microsoft.com/office/drawing/2014/main" id="{6811327C-50E5-207B-0D86-DCFAD695B21B}"/>
              </a:ext>
            </a:extLst>
          </p:cNvPr>
          <p:cNvSpPr txBox="1"/>
          <p:nvPr/>
        </p:nvSpPr>
        <p:spPr>
          <a:xfrm>
            <a:off x="825607" y="1345724"/>
            <a:ext cx="10794008" cy="3672608"/>
          </a:xfrm>
          <a:prstGeom prst="rect">
            <a:avLst/>
          </a:prstGeom>
          <a:noFill/>
        </p:spPr>
        <p:txBody>
          <a:bodyPr wrap="square" rtlCol="0">
            <a:spAutoFit/>
          </a:bodyPr>
          <a:lstStyle/>
          <a:p>
            <a:pPr algn="just" fontAlgn="base">
              <a:lnSpc>
                <a:spcPct val="115000"/>
              </a:lnSpc>
              <a:spcBef>
                <a:spcPts val="315"/>
              </a:spcBef>
              <a:spcAft>
                <a:spcPts val="1000"/>
              </a:spcAft>
            </a:pPr>
            <a:r>
              <a:rPr lang="en-US" sz="2400" b="1" kern="1800" dirty="0">
                <a:solidFill>
                  <a:srgbClr val="FF0000"/>
                </a:solidFill>
                <a:latin typeface="Times New Roman" panose="02020603050405020304" pitchFamily="18" charset="0"/>
                <a:cs typeface="Times New Roman" panose="02020603050405020304" pitchFamily="18" charset="0"/>
              </a:rPr>
              <a:t>List of DDL commands</a:t>
            </a:r>
          </a:p>
          <a:p>
            <a:pPr algn="just" fontAlgn="base">
              <a:lnSpc>
                <a:spcPct val="115000"/>
              </a:lnSpc>
              <a:spcAft>
                <a:spcPts val="1000"/>
              </a:spcAft>
              <a:buFont typeface="Arial" panose="020B0604020202020204" pitchFamily="34" charset="0"/>
              <a:buChar char="•"/>
            </a:pPr>
            <a:r>
              <a:rPr lang="en-US" sz="2400" dirty="0">
                <a:solidFill>
                  <a:srgbClr val="333333"/>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CREATE</a:t>
            </a:r>
            <a:r>
              <a:rPr lang="en-US" sz="2400" dirty="0">
                <a:solidFill>
                  <a:srgbClr val="333333"/>
                </a:solidFill>
                <a:latin typeface="Times New Roman" panose="02020603050405020304" pitchFamily="18" charset="0"/>
                <a:cs typeface="Times New Roman" panose="02020603050405020304" pitchFamily="18" charset="0"/>
              </a:rPr>
              <a:t>: This command is used to create the new database or its objects.</a:t>
            </a:r>
          </a:p>
          <a:p>
            <a:pPr algn="just" fontAlgn="base">
              <a:lnSpc>
                <a:spcPct val="115000"/>
              </a:lnSpc>
              <a:spcAft>
                <a:spcPts val="1000"/>
              </a:spcAft>
              <a:buFont typeface="Arial" panose="020B0604020202020204" pitchFamily="34" charset="0"/>
              <a:buChar char="•"/>
            </a:pPr>
            <a:r>
              <a:rPr lang="en-US" sz="2400" dirty="0">
                <a:solidFill>
                  <a:srgbClr val="333333"/>
                </a:solidFill>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ALTER</a:t>
            </a:r>
            <a:r>
              <a:rPr lang="en-US" sz="2400" dirty="0">
                <a:solidFill>
                  <a:srgbClr val="333333"/>
                </a:solidFill>
                <a:latin typeface="Times New Roman" panose="02020603050405020304" pitchFamily="18" charset="0"/>
                <a:cs typeface="Times New Roman" panose="02020603050405020304" pitchFamily="18" charset="0"/>
              </a:rPr>
              <a:t>: This is used to alter the structure of the database.</a:t>
            </a:r>
          </a:p>
          <a:p>
            <a:pPr algn="just" fontAlgn="base">
              <a:lnSpc>
                <a:spcPct val="115000"/>
              </a:lnSpc>
              <a:spcAft>
                <a:spcPts val="1000"/>
              </a:spcAft>
              <a:buFont typeface="Arial" panose="020B0604020202020204" pitchFamily="34" charset="0"/>
              <a:buChar char="•"/>
            </a:pPr>
            <a:r>
              <a:rPr lang="en-US" sz="2400" dirty="0">
                <a:solidFill>
                  <a:srgbClr val="333333"/>
                </a:solidFill>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DROP</a:t>
            </a:r>
            <a:r>
              <a:rPr lang="en-US" sz="2400" dirty="0">
                <a:solidFill>
                  <a:srgbClr val="333333"/>
                </a:solidFill>
                <a:latin typeface="Times New Roman" panose="02020603050405020304" pitchFamily="18" charset="0"/>
                <a:cs typeface="Times New Roman" panose="02020603050405020304" pitchFamily="18" charset="0"/>
              </a:rPr>
              <a:t>: This command is used to delete objects from the database.</a:t>
            </a:r>
          </a:p>
          <a:p>
            <a:pPr algn="just" fontAlgn="base">
              <a:lnSpc>
                <a:spcPct val="115000"/>
              </a:lnSpc>
              <a:spcAft>
                <a:spcPts val="1000"/>
              </a:spcAft>
              <a:buFont typeface="Arial" panose="020B0604020202020204" pitchFamily="34" charset="0"/>
              <a:buChar char="•"/>
            </a:pPr>
            <a:r>
              <a:rPr lang="en-US" sz="2400" dirty="0">
                <a:solidFill>
                  <a:srgbClr val="333333"/>
                </a:solidFill>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TRUNCATE</a:t>
            </a:r>
            <a:r>
              <a:rPr lang="en-US" sz="2400" dirty="0">
                <a:solidFill>
                  <a:srgbClr val="333333"/>
                </a:solidFill>
                <a:latin typeface="Times New Roman" panose="02020603050405020304" pitchFamily="18" charset="0"/>
                <a:cs typeface="Times New Roman" panose="02020603050405020304" pitchFamily="18" charset="0"/>
              </a:rPr>
              <a:t>: This is used to remove all records from a table, including all spaces allocated for the records are removed.</a:t>
            </a:r>
          </a:p>
          <a:p>
            <a:pPr algn="just" fontAlgn="base">
              <a:lnSpc>
                <a:spcPct val="115000"/>
              </a:lnSpc>
              <a:spcAft>
                <a:spcPts val="1000"/>
              </a:spcAft>
              <a:buFont typeface="Arial" panose="020B0604020202020204" pitchFamily="34" charset="0"/>
              <a:buChar char="•"/>
            </a:pPr>
            <a:r>
              <a:rPr lang="en-US" sz="2400" dirty="0">
                <a:solidFill>
                  <a:srgbClr val="333333"/>
                </a:solidFill>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RENAME</a:t>
            </a:r>
            <a:r>
              <a:rPr lang="en-US" sz="2400" dirty="0">
                <a:solidFill>
                  <a:srgbClr val="333333"/>
                </a:solidFill>
                <a:latin typeface="Times New Roman" panose="02020603050405020304" pitchFamily="18" charset="0"/>
                <a:cs typeface="Times New Roman" panose="02020603050405020304" pitchFamily="18" charset="0"/>
              </a:rPr>
              <a:t>: This is used to rename an object existing in the database.</a:t>
            </a:r>
          </a:p>
        </p:txBody>
      </p:sp>
    </p:spTree>
    <p:extLst>
      <p:ext uri="{BB962C8B-B14F-4D97-AF65-F5344CB8AC3E}">
        <p14:creationId xmlns:p14="http://schemas.microsoft.com/office/powerpoint/2010/main" val="2188951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CE0573-637F-9CC4-C9C8-CA913FAAC047}"/>
              </a:ext>
            </a:extLst>
          </p:cNvPr>
          <p:cNvSpPr>
            <a:spLocks noGrp="1"/>
          </p:cNvSpPr>
          <p:nvPr>
            <p:ph type="sldNum" sz="quarter" idx="12"/>
          </p:nvPr>
        </p:nvSpPr>
        <p:spPr/>
        <p:txBody>
          <a:bodyPr/>
          <a:lstStyle/>
          <a:p>
            <a:fld id="{CBABCCC1-BF11-4F37-963E-1BCD5B23FD72}" type="slidenum">
              <a:rPr lang="en-IN" smtClean="0"/>
              <a:t>6</a:t>
            </a:fld>
            <a:endParaRPr lang="en-IN"/>
          </a:p>
        </p:txBody>
      </p:sp>
      <p:sp>
        <p:nvSpPr>
          <p:cNvPr id="3" name="TextBox 2">
            <a:extLst>
              <a:ext uri="{FF2B5EF4-FFF2-40B4-BE49-F238E27FC236}">
                <a16:creationId xmlns:a16="http://schemas.microsoft.com/office/drawing/2014/main" id="{029AB7C5-A819-3E8F-E3AE-58FB2E562A60}"/>
              </a:ext>
            </a:extLst>
          </p:cNvPr>
          <p:cNvSpPr txBox="1"/>
          <p:nvPr/>
        </p:nvSpPr>
        <p:spPr>
          <a:xfrm>
            <a:off x="599608" y="926896"/>
            <a:ext cx="10980294" cy="3672608"/>
          </a:xfrm>
          <a:prstGeom prst="rect">
            <a:avLst/>
          </a:prstGeom>
          <a:noFill/>
        </p:spPr>
        <p:txBody>
          <a:bodyPr wrap="square">
            <a:spAutoFit/>
          </a:bodyPr>
          <a:lstStyle/>
          <a:p>
            <a:pPr marL="457200" indent="-457200" algn="just">
              <a:lnSpc>
                <a:spcPct val="115000"/>
              </a:lnSpc>
              <a:spcAft>
                <a:spcPts val="1000"/>
              </a:spcAft>
              <a:buAutoNum type="arabicParenR"/>
            </a:pPr>
            <a:r>
              <a:rPr lang="en-US" sz="24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CREATE TABLE command: </a:t>
            </a:r>
            <a:r>
              <a:rPr lang="en-US" sz="2400" dirty="0">
                <a:solidFill>
                  <a:srgbClr val="333333"/>
                </a:solidFill>
                <a:latin typeface="Times New Roman" panose="02020603050405020304" pitchFamily="18" charset="0"/>
                <a:cs typeface="Times New Roman" panose="02020603050405020304" pitchFamily="18" charset="0"/>
              </a:rPr>
              <a:t>This DDL command allows us to create the new table.</a:t>
            </a:r>
          </a:p>
          <a:p>
            <a:pPr algn="just">
              <a:lnSpc>
                <a:spcPct val="115000"/>
              </a:lnSpc>
              <a:spcAft>
                <a:spcPts val="1000"/>
              </a:spcAft>
            </a:pPr>
            <a:endParaRPr lang="en-US" sz="2400" dirty="0">
              <a:solidFill>
                <a:srgbClr val="333333"/>
              </a:solidFill>
              <a:latin typeface="Times New Roman" panose="02020603050405020304" pitchFamily="18" charset="0"/>
              <a:cs typeface="Times New Roman" panose="02020603050405020304" pitchFamily="18" charset="0"/>
            </a:endParaRPr>
          </a:p>
          <a:p>
            <a:pPr algn="just">
              <a:lnSpc>
                <a:spcPct val="115000"/>
              </a:lnSpc>
              <a:spcAft>
                <a:spcPts val="1000"/>
              </a:spcAft>
            </a:pPr>
            <a:endParaRPr lang="en-US" sz="2400" dirty="0">
              <a:solidFill>
                <a:srgbClr val="333333"/>
              </a:solidFill>
              <a:latin typeface="Times New Roman" panose="02020603050405020304" pitchFamily="18" charset="0"/>
              <a:cs typeface="Times New Roman" panose="02020603050405020304" pitchFamily="18" charset="0"/>
            </a:endParaRPr>
          </a:p>
          <a:p>
            <a:pPr algn="just">
              <a:lnSpc>
                <a:spcPct val="115000"/>
              </a:lnSpc>
              <a:spcAft>
                <a:spcPts val="1000"/>
              </a:spcAft>
            </a:pPr>
            <a:endParaRPr lang="en-US" sz="2400" dirty="0">
              <a:solidFill>
                <a:srgbClr val="333333"/>
              </a:solidFill>
              <a:latin typeface="Times New Roman" panose="02020603050405020304" pitchFamily="18" charset="0"/>
              <a:cs typeface="Times New Roman" panose="02020603050405020304" pitchFamily="18" charset="0"/>
            </a:endParaRPr>
          </a:p>
          <a:p>
            <a:pPr algn="just">
              <a:lnSpc>
                <a:spcPct val="115000"/>
              </a:lnSpc>
              <a:spcAft>
                <a:spcPts val="1000"/>
              </a:spcAft>
            </a:pPr>
            <a:endParaRPr lang="en-US" sz="2400" dirty="0">
              <a:solidFill>
                <a:srgbClr val="333333"/>
              </a:solidFill>
              <a:latin typeface="Times New Roman" panose="02020603050405020304" pitchFamily="18" charset="0"/>
              <a:cs typeface="Times New Roman" panose="02020603050405020304" pitchFamily="18" charset="0"/>
            </a:endParaRPr>
          </a:p>
          <a:p>
            <a:pPr algn="just">
              <a:lnSpc>
                <a:spcPct val="115000"/>
              </a:lnSpc>
              <a:spcAft>
                <a:spcPts val="1000"/>
              </a:spcAft>
            </a:pPr>
            <a:endParaRPr lang="en-US" sz="2400" dirty="0">
              <a:solidFill>
                <a:srgbClr val="333333"/>
              </a:solidFill>
              <a:latin typeface="Times New Roman" panose="02020603050405020304" pitchFamily="18" charset="0"/>
              <a:cs typeface="Times New Roman" panose="02020603050405020304" pitchFamily="18" charset="0"/>
            </a:endParaRPr>
          </a:p>
        </p:txBody>
      </p:sp>
      <p:sp>
        <p:nvSpPr>
          <p:cNvPr id="4" name="Rounded Rectangle 17">
            <a:extLst>
              <a:ext uri="{FF2B5EF4-FFF2-40B4-BE49-F238E27FC236}">
                <a16:creationId xmlns:a16="http://schemas.microsoft.com/office/drawing/2014/main" id="{F79EE3AD-1F9D-1FC9-2AEB-7B84E58F9DFF}"/>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DATA DEFINITION LANGUAGE (Cont..)</a:t>
            </a:r>
          </a:p>
        </p:txBody>
      </p:sp>
      <p:sp>
        <p:nvSpPr>
          <p:cNvPr id="5" name="Rectangle 1">
            <a:extLst>
              <a:ext uri="{FF2B5EF4-FFF2-40B4-BE49-F238E27FC236}">
                <a16:creationId xmlns:a16="http://schemas.microsoft.com/office/drawing/2014/main" id="{7044A9FA-BEBD-1AC9-A241-7AF3E7FC0A55}"/>
              </a:ext>
            </a:extLst>
          </p:cNvPr>
          <p:cNvSpPr>
            <a:spLocks noChangeArrowheads="1"/>
          </p:cNvSpPr>
          <p:nvPr/>
        </p:nvSpPr>
        <p:spPr bwMode="auto">
          <a:xfrm>
            <a:off x="712033" y="2070189"/>
            <a:ext cx="10747947" cy="830997"/>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CREATE</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TABLE</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IF</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NOT</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EXISTS</a:t>
            </a:r>
            <a:r>
              <a:rPr kumimoji="0" lang="en-US" altLang="en-US"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&lt;</a:t>
            </a:r>
            <a:r>
              <a:rPr kumimoji="0" lang="en-US" altLang="en-US"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table_name</a:t>
            </a:r>
            <a:r>
              <a:rPr kumimoji="0" lang="en-US" altLang="en-US"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&gt;</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&lt;</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column1</a:t>
            </a:r>
            <a:r>
              <a:rPr kumimoji="0" lang="en-US" altLang="en-US"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&gt;</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&lt;</a:t>
            </a:r>
            <a:r>
              <a:rPr kumimoji="0" lang="en-US" altLang="en-US"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data_type</a:t>
            </a:r>
            <a:r>
              <a:rPr kumimoji="0" lang="en-US" altLang="en-US"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length</a:t>
            </a:r>
            <a:r>
              <a:rPr kumimoji="0" lang="en-US" altLang="en-US"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&gt;</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column_contraint</a:t>
            </a:r>
            <a:r>
              <a:rPr kumimoji="0" lang="en-US" altLang="en-US"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&lt;</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column2</a:t>
            </a:r>
            <a:r>
              <a:rPr kumimoji="0" lang="en-US" altLang="en-US"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&gt;</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&lt;</a:t>
            </a:r>
            <a:r>
              <a:rPr kumimoji="0" lang="en-US" altLang="en-US"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data_type</a:t>
            </a:r>
            <a:r>
              <a:rPr kumimoji="0" lang="en-US" altLang="en-US"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length</a:t>
            </a:r>
            <a:r>
              <a:rPr kumimoji="0" lang="en-US" altLang="en-US"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&gt;</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column_contraint</a:t>
            </a:r>
            <a:r>
              <a:rPr kumimoji="0" lang="en-US" altLang="en-US"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&lt;</a:t>
            </a:r>
            <a:r>
              <a:rPr kumimoji="0" lang="en-US" altLang="en-US"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columnN</a:t>
            </a:r>
            <a:r>
              <a:rPr kumimoji="0" lang="en-US" altLang="en-US"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&gt;</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&lt;</a:t>
            </a:r>
            <a:r>
              <a:rPr kumimoji="0" lang="en-US" altLang="en-US"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data_type</a:t>
            </a:r>
            <a:r>
              <a:rPr kumimoji="0" lang="en-US" altLang="en-US"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length</a:t>
            </a:r>
            <a:r>
              <a:rPr kumimoji="0" lang="en-US" altLang="en-US"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&gt;</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column_contraint</a:t>
            </a:r>
            <a:r>
              <a:rPr kumimoji="0" lang="en-US" altLang="en-US"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table_constraints</a:t>
            </a:r>
            <a:r>
              <a:rPr kumimoji="0" lang="en-US" altLang="en-US"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900" b="0" i="0" u="none" strike="noStrike" cap="none" normalizeH="0" baseline="0" dirty="0">
                <a:ln>
                  <a:noFill/>
                </a:ln>
                <a:solidFill>
                  <a:schemeClr val="tx1"/>
                </a:solidFill>
                <a:effectLst/>
              </a:rPr>
              <a:t> </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CA115055-B515-D268-C6E0-3B4BDAB59412}"/>
              </a:ext>
            </a:extLst>
          </p:cNvPr>
          <p:cNvSpPr>
            <a:spLocks noChangeArrowheads="1"/>
          </p:cNvSpPr>
          <p:nvPr/>
        </p:nvSpPr>
        <p:spPr bwMode="auto">
          <a:xfrm>
            <a:off x="712033" y="3176504"/>
            <a:ext cx="10747947" cy="2754600"/>
          </a:xfrm>
          <a:prstGeom prst="rect">
            <a:avLst/>
          </a:prstGeom>
          <a:solidFill>
            <a:srgbClr val="D9E5F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rgbClr val="181717"/>
                </a:solidFill>
                <a:effectLst/>
                <a:latin typeface="Times New Roman" panose="02020603050405020304" pitchFamily="18" charset="0"/>
                <a:cs typeface="Times New Roman" panose="02020603050405020304" pitchFamily="18" charset="0"/>
              </a:rPr>
              <a:t>In the above syntax,</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rgbClr val="181717"/>
                </a:solidFill>
                <a:effectLst/>
                <a:latin typeface="Times New Roman" panose="02020603050405020304" pitchFamily="18" charset="0"/>
                <a:cs typeface="Times New Roman" panose="02020603050405020304" pitchFamily="18" charset="0"/>
              </a:rPr>
              <a:t>After CREATE TABLE we can specify optional </a:t>
            </a:r>
            <a:r>
              <a:rPr kumimoji="0" lang="en-US" altLang="en-US" sz="22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IF NOT EXISTS</a:t>
            </a:r>
            <a:r>
              <a:rPr kumimoji="0" lang="en-US" altLang="en-US" sz="2200" b="0" i="0" u="none" strike="noStrike" cap="none" normalizeH="0" baseline="0" dirty="0">
                <a:ln>
                  <a:noFill/>
                </a:ln>
                <a:solidFill>
                  <a:srgbClr val="181717"/>
                </a:solidFill>
                <a:effectLst/>
                <a:latin typeface="Times New Roman" panose="02020603050405020304" pitchFamily="18" charset="0"/>
                <a:cs typeface="Times New Roman" panose="02020603050405020304" pitchFamily="18" charset="0"/>
              </a:rPr>
              <a:t> clause, which will create a table only if it does not exist. If a table already exists, Postgres will only give a warning instead of an error and skip creating a new table.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rgbClr val="181717"/>
                </a:solidFill>
                <a:effectLst/>
                <a:latin typeface="Times New Roman" panose="02020603050405020304" pitchFamily="18" charset="0"/>
                <a:cs typeface="Times New Roman" panose="02020603050405020304" pitchFamily="18" charset="0"/>
              </a:rPr>
              <a:t>The </a:t>
            </a:r>
            <a:r>
              <a:rPr kumimoji="0" lang="en-US" altLang="en-US" sz="2200" b="0" i="0" u="none" strike="noStrike" cap="none" normalizeH="0" baseline="0" dirty="0" err="1">
                <a:ln>
                  <a:noFill/>
                </a:ln>
                <a:solidFill>
                  <a:srgbClr val="181717"/>
                </a:solidFill>
                <a:effectLst/>
                <a:latin typeface="Times New Roman" panose="02020603050405020304" pitchFamily="18" charset="0"/>
                <a:cs typeface="Times New Roman" panose="02020603050405020304" pitchFamily="18" charset="0"/>
              </a:rPr>
              <a:t>table_name</a:t>
            </a:r>
            <a:r>
              <a:rPr kumimoji="0" lang="en-US" altLang="en-US" sz="2200" b="0" i="0" u="none" strike="noStrike" cap="none" normalizeH="0" baseline="0" dirty="0">
                <a:ln>
                  <a:noFill/>
                </a:ln>
                <a:solidFill>
                  <a:srgbClr val="181717"/>
                </a:solidFill>
                <a:effectLst/>
                <a:latin typeface="Times New Roman" panose="02020603050405020304" pitchFamily="18" charset="0"/>
                <a:cs typeface="Times New Roman" panose="02020603050405020304" pitchFamily="18" charset="0"/>
              </a:rPr>
              <a:t> is the unique name of a table which you want to create.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rgbClr val="181717"/>
                </a:solidFill>
                <a:effectLst/>
                <a:latin typeface="Times New Roman" panose="02020603050405020304" pitchFamily="18" charset="0"/>
                <a:cs typeface="Times New Roman" panose="02020603050405020304" pitchFamily="18" charset="0"/>
              </a:rPr>
              <a:t>In the bracket, specify the list of column names along with their data types. Specify the optional </a:t>
            </a:r>
            <a:r>
              <a:rPr kumimoji="0" lang="en-US" altLang="en-US" sz="22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r>
              <a:rPr kumimoji="0" lang="en-US" altLang="en-US" sz="2200"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column_constraint</a:t>
            </a:r>
            <a:r>
              <a:rPr kumimoji="0" lang="en-US" altLang="en-US" sz="22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r>
              <a:rPr kumimoji="0" lang="en-US" altLang="en-US" sz="2200" b="0" i="0" u="none" strike="noStrike" cap="none" normalizeH="0" baseline="0" dirty="0">
                <a:ln>
                  <a:noFill/>
                </a:ln>
                <a:solidFill>
                  <a:srgbClr val="181717"/>
                </a:solidFill>
                <a:effectLst/>
                <a:latin typeface="Times New Roman" panose="02020603050405020304" pitchFamily="18" charset="0"/>
                <a:cs typeface="Times New Roman" panose="02020603050405020304" pitchFamily="18" charset="0"/>
              </a:rPr>
              <a:t> such as NOT NULL, Check, Unique, Primary Key, Foreign Key etc.</a:t>
            </a:r>
          </a:p>
        </p:txBody>
      </p:sp>
    </p:spTree>
    <p:extLst>
      <p:ext uri="{BB962C8B-B14F-4D97-AF65-F5344CB8AC3E}">
        <p14:creationId xmlns:p14="http://schemas.microsoft.com/office/powerpoint/2010/main" val="3955393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E8622B4-0A9B-0A36-198F-CC1F3333FF8A}"/>
              </a:ext>
            </a:extLst>
          </p:cNvPr>
          <p:cNvSpPr>
            <a:spLocks noGrp="1"/>
          </p:cNvSpPr>
          <p:nvPr>
            <p:ph type="sldNum" sz="quarter" idx="12"/>
          </p:nvPr>
        </p:nvSpPr>
        <p:spPr/>
        <p:txBody>
          <a:bodyPr/>
          <a:lstStyle/>
          <a:p>
            <a:fld id="{CBABCCC1-BF11-4F37-963E-1BCD5B23FD72}" type="slidenum">
              <a:rPr lang="en-IN" smtClean="0"/>
              <a:t>7</a:t>
            </a:fld>
            <a:endParaRPr lang="en-IN"/>
          </a:p>
        </p:txBody>
      </p:sp>
      <p:pic>
        <p:nvPicPr>
          <p:cNvPr id="4" name="Picture 3">
            <a:extLst>
              <a:ext uri="{FF2B5EF4-FFF2-40B4-BE49-F238E27FC236}">
                <a16:creationId xmlns:a16="http://schemas.microsoft.com/office/drawing/2014/main" id="{578EFE3F-451C-B8A2-9496-B4CFCDE10FB4}"/>
              </a:ext>
            </a:extLst>
          </p:cNvPr>
          <p:cNvPicPr>
            <a:picLocks noChangeAspect="1"/>
          </p:cNvPicPr>
          <p:nvPr/>
        </p:nvPicPr>
        <p:blipFill>
          <a:blip r:embed="rId2"/>
          <a:stretch>
            <a:fillRect/>
          </a:stretch>
        </p:blipFill>
        <p:spPr>
          <a:xfrm>
            <a:off x="899410" y="2110120"/>
            <a:ext cx="10565655" cy="3703856"/>
          </a:xfrm>
          <a:prstGeom prst="rect">
            <a:avLst/>
          </a:prstGeom>
        </p:spPr>
      </p:pic>
      <p:sp>
        <p:nvSpPr>
          <p:cNvPr id="5" name="Rectangle 2">
            <a:extLst>
              <a:ext uri="{FF2B5EF4-FFF2-40B4-BE49-F238E27FC236}">
                <a16:creationId xmlns:a16="http://schemas.microsoft.com/office/drawing/2014/main" id="{36D06513-B6AF-64AB-BB1F-B2F2497F8624}"/>
              </a:ext>
            </a:extLst>
          </p:cNvPr>
          <p:cNvSpPr>
            <a:spLocks noChangeArrowheads="1"/>
          </p:cNvSpPr>
          <p:nvPr/>
        </p:nvSpPr>
        <p:spPr bwMode="auto">
          <a:xfrm>
            <a:off x="899410" y="843097"/>
            <a:ext cx="10565655" cy="92333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77AA"/>
                </a:solidFill>
                <a:effectLst/>
                <a:latin typeface="Times New Roman" panose="02020603050405020304" pitchFamily="18" charset="0"/>
                <a:cs typeface="Times New Roman" panose="02020603050405020304" pitchFamily="18" charset="0"/>
              </a:rPr>
              <a:t>CREATE</a:t>
            </a: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rgbClr val="0077AA"/>
                </a:solidFill>
                <a:effectLst/>
                <a:latin typeface="Times New Roman" panose="02020603050405020304" pitchFamily="18" charset="0"/>
                <a:cs typeface="Times New Roman" panose="02020603050405020304" pitchFamily="18" charset="0"/>
              </a:rPr>
              <a:t>TABLE</a:t>
            </a: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rgbClr val="0077AA"/>
                </a:solidFill>
                <a:effectLst/>
                <a:latin typeface="Times New Roman" panose="02020603050405020304" pitchFamily="18" charset="0"/>
                <a:cs typeface="Times New Roman" panose="02020603050405020304" pitchFamily="18" charset="0"/>
              </a:rPr>
              <a:t>IF</a:t>
            </a: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rgbClr val="9A6E3A"/>
                </a:solidFill>
                <a:effectLst/>
                <a:latin typeface="Times New Roman" panose="02020603050405020304" pitchFamily="18" charset="0"/>
                <a:cs typeface="Times New Roman" panose="02020603050405020304" pitchFamily="18" charset="0"/>
              </a:rPr>
              <a:t>NOT</a:t>
            </a: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rgbClr val="0077AA"/>
                </a:solidFill>
                <a:effectLst/>
                <a:latin typeface="Times New Roman" panose="02020603050405020304" pitchFamily="18" charset="0"/>
                <a:cs typeface="Times New Roman" panose="02020603050405020304" pitchFamily="18" charset="0"/>
              </a:rPr>
              <a:t>EXISTS</a:t>
            </a: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person </a:t>
            </a:r>
            <a:r>
              <a:rPr kumimoji="0" lang="en-US" altLang="en-US" sz="2000" b="0" i="0" u="none" strike="noStrike" cap="none" normalizeH="0" baseline="0" dirty="0">
                <a:ln>
                  <a:noFill/>
                </a:ln>
                <a:solidFill>
                  <a:srgbClr val="999999"/>
                </a:solidFill>
                <a:effectLst/>
                <a:latin typeface="Times New Roman" panose="02020603050405020304" pitchFamily="18" charset="0"/>
                <a:cs typeface="Times New Roman" panose="02020603050405020304" pitchFamily="18" charset="0"/>
              </a:rPr>
              <a:t>(</a:t>
            </a: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Id </a:t>
            </a:r>
            <a:r>
              <a:rPr kumimoji="0" lang="en-US" altLang="en-US" sz="2000" b="0" i="0" u="none" strike="noStrike" cap="none" normalizeH="0" baseline="0" dirty="0">
                <a:ln>
                  <a:noFill/>
                </a:ln>
                <a:solidFill>
                  <a:srgbClr val="0077AA"/>
                </a:solidFill>
                <a:effectLst/>
                <a:latin typeface="Times New Roman" panose="02020603050405020304" pitchFamily="18" charset="0"/>
                <a:cs typeface="Times New Roman" panose="02020603050405020304" pitchFamily="18" charset="0"/>
              </a:rPr>
              <a:t>INT</a:t>
            </a: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rgbClr val="0077AA"/>
                </a:solidFill>
                <a:effectLst/>
                <a:latin typeface="Times New Roman" panose="02020603050405020304" pitchFamily="18" charset="0"/>
                <a:cs typeface="Times New Roman" panose="02020603050405020304" pitchFamily="18" charset="0"/>
              </a:rPr>
              <a:t>PRIMARY</a:t>
            </a: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rgbClr val="0077AA"/>
                </a:solidFill>
                <a:effectLst/>
                <a:latin typeface="Times New Roman" panose="02020603050405020304" pitchFamily="18" charset="0"/>
                <a:cs typeface="Times New Roman" panose="02020603050405020304" pitchFamily="18" charset="0"/>
              </a:rPr>
              <a:t>KEY</a:t>
            </a:r>
            <a:r>
              <a:rPr kumimoji="0" lang="en-US" altLang="en-US" sz="2000" b="0" i="0" u="none" strike="noStrike" cap="none" normalizeH="0" baseline="0" dirty="0">
                <a:ln>
                  <a:noFill/>
                </a:ln>
                <a:solidFill>
                  <a:srgbClr val="999999"/>
                </a:solidFill>
                <a:effectLst/>
                <a:latin typeface="Times New Roman" panose="02020603050405020304" pitchFamily="18" charset="0"/>
                <a:cs typeface="Times New Roman" panose="02020603050405020304" pitchFamily="18" charset="0"/>
              </a:rPr>
              <a:t>,</a:t>
            </a: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first_name</a:t>
            </a: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rgbClr val="0077AA"/>
                </a:solidFill>
                <a:effectLst/>
                <a:latin typeface="Times New Roman" panose="02020603050405020304" pitchFamily="18" charset="0"/>
                <a:cs typeface="Times New Roman" panose="02020603050405020304" pitchFamily="18" charset="0"/>
              </a:rPr>
              <a:t>VARCHAR</a:t>
            </a:r>
            <a:r>
              <a:rPr kumimoji="0" lang="en-US" altLang="en-US" sz="2000" b="0" i="0" u="none" strike="noStrike" cap="none" normalizeH="0" baseline="0" dirty="0">
                <a:ln>
                  <a:noFill/>
                </a:ln>
                <a:solidFill>
                  <a:srgbClr val="999999"/>
                </a:solidFill>
                <a:effectLst/>
                <a:latin typeface="Times New Roman" panose="02020603050405020304" pitchFamily="18" charset="0"/>
                <a:cs typeface="Times New Roman" panose="02020603050405020304" pitchFamily="18" charset="0"/>
              </a:rPr>
              <a:t>(</a:t>
            </a:r>
            <a:r>
              <a:rPr kumimoji="0" lang="en-US" altLang="en-US" sz="2000" b="0" i="0" u="none" strike="noStrike" cap="none" normalizeH="0" baseline="0" dirty="0">
                <a:ln>
                  <a:noFill/>
                </a:ln>
                <a:solidFill>
                  <a:srgbClr val="990055"/>
                </a:solidFill>
                <a:effectLst/>
                <a:latin typeface="Times New Roman" panose="02020603050405020304" pitchFamily="18" charset="0"/>
                <a:cs typeface="Times New Roman" panose="02020603050405020304" pitchFamily="18" charset="0"/>
              </a:rPr>
              <a:t>50</a:t>
            </a:r>
            <a:r>
              <a:rPr kumimoji="0" lang="en-US" altLang="en-US" sz="2000" b="0" i="0" u="none" strike="noStrike" cap="none" normalizeH="0" baseline="0" dirty="0">
                <a:ln>
                  <a:noFill/>
                </a:ln>
                <a:solidFill>
                  <a:srgbClr val="999999"/>
                </a:solidFill>
                <a:effectLst/>
                <a:latin typeface="Times New Roman" panose="02020603050405020304" pitchFamily="18" charset="0"/>
                <a:cs typeface="Times New Roman" panose="02020603050405020304" pitchFamily="18" charset="0"/>
              </a:rPr>
              <a:t>)</a:t>
            </a: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rgbClr val="9A6E3A"/>
                </a:solidFill>
                <a:effectLst/>
                <a:latin typeface="Times New Roman" panose="02020603050405020304" pitchFamily="18" charset="0"/>
                <a:cs typeface="Times New Roman" panose="02020603050405020304" pitchFamily="18" charset="0"/>
              </a:rPr>
              <a:t>NOT</a:t>
            </a: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rgbClr val="990055"/>
                </a:solidFill>
                <a:effectLst/>
                <a:latin typeface="Times New Roman" panose="02020603050405020304" pitchFamily="18" charset="0"/>
                <a:cs typeface="Times New Roman" panose="02020603050405020304" pitchFamily="18" charset="0"/>
              </a:rPr>
              <a:t>NULL</a:t>
            </a:r>
            <a:r>
              <a:rPr kumimoji="0" lang="en-US" altLang="en-US" sz="2000" b="0" i="0" u="none" strike="noStrike" cap="none" normalizeH="0" baseline="0" dirty="0">
                <a:ln>
                  <a:noFill/>
                </a:ln>
                <a:solidFill>
                  <a:srgbClr val="999999"/>
                </a:solidFill>
                <a:effectLst/>
                <a:latin typeface="Times New Roman" panose="02020603050405020304" pitchFamily="18" charset="0"/>
                <a:cs typeface="Times New Roman" panose="02020603050405020304" pitchFamily="18" charset="0"/>
              </a:rPr>
              <a:t>,</a:t>
            </a: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last_name</a:t>
            </a: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rgbClr val="0077AA"/>
                </a:solidFill>
                <a:effectLst/>
                <a:latin typeface="Times New Roman" panose="02020603050405020304" pitchFamily="18" charset="0"/>
                <a:cs typeface="Times New Roman" panose="02020603050405020304" pitchFamily="18" charset="0"/>
              </a:rPr>
              <a:t>VARCHAR</a:t>
            </a:r>
            <a:r>
              <a:rPr kumimoji="0" lang="en-US" altLang="en-US" sz="2000" b="0" i="0" u="none" strike="noStrike" cap="none" normalizeH="0" baseline="0" dirty="0">
                <a:ln>
                  <a:noFill/>
                </a:ln>
                <a:solidFill>
                  <a:srgbClr val="999999"/>
                </a:solidFill>
                <a:effectLst/>
                <a:latin typeface="Times New Roman" panose="02020603050405020304" pitchFamily="18" charset="0"/>
                <a:cs typeface="Times New Roman" panose="02020603050405020304" pitchFamily="18" charset="0"/>
              </a:rPr>
              <a:t>(</a:t>
            </a:r>
            <a:r>
              <a:rPr kumimoji="0" lang="en-US" altLang="en-US" sz="2000" b="0" i="0" u="none" strike="noStrike" cap="none" normalizeH="0" baseline="0" dirty="0">
                <a:ln>
                  <a:noFill/>
                </a:ln>
                <a:solidFill>
                  <a:srgbClr val="990055"/>
                </a:solidFill>
                <a:effectLst/>
                <a:latin typeface="Times New Roman" panose="02020603050405020304" pitchFamily="18" charset="0"/>
                <a:cs typeface="Times New Roman" panose="02020603050405020304" pitchFamily="18" charset="0"/>
              </a:rPr>
              <a:t>50</a:t>
            </a:r>
            <a:r>
              <a:rPr kumimoji="0" lang="en-US" altLang="en-US" sz="2000" b="0" i="0" u="none" strike="noStrike" cap="none" normalizeH="0" baseline="0" dirty="0">
                <a:ln>
                  <a:noFill/>
                </a:ln>
                <a:solidFill>
                  <a:srgbClr val="999999"/>
                </a:solidFill>
                <a:effectLst/>
                <a:latin typeface="Times New Roman" panose="02020603050405020304" pitchFamily="18" charset="0"/>
                <a:cs typeface="Times New Roman" panose="02020603050405020304" pitchFamily="18" charset="0"/>
              </a:rPr>
              <a:t>)</a:t>
            </a: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rgbClr val="9A6E3A"/>
                </a:solidFill>
                <a:effectLst/>
                <a:latin typeface="Times New Roman" panose="02020603050405020304" pitchFamily="18" charset="0"/>
                <a:cs typeface="Times New Roman" panose="02020603050405020304" pitchFamily="18" charset="0"/>
              </a:rPr>
              <a:t>NOT</a:t>
            </a: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rgbClr val="990055"/>
                </a:solidFill>
                <a:effectLst/>
                <a:latin typeface="Times New Roman" panose="02020603050405020304" pitchFamily="18" charset="0"/>
                <a:cs typeface="Times New Roman" panose="02020603050405020304" pitchFamily="18" charset="0"/>
              </a:rPr>
              <a:t>NULL</a:t>
            </a:r>
            <a:r>
              <a:rPr kumimoji="0" lang="en-US" altLang="en-US" sz="2000" b="0" i="0" u="none" strike="noStrike" cap="none" normalizeH="0" baseline="0" dirty="0">
                <a:ln>
                  <a:noFill/>
                </a:ln>
                <a:solidFill>
                  <a:srgbClr val="999999"/>
                </a:solidFill>
                <a:effectLst/>
                <a:latin typeface="Times New Roman" panose="02020603050405020304" pitchFamily="18" charset="0"/>
                <a:cs typeface="Times New Roman" panose="02020603050405020304" pitchFamily="18" charset="0"/>
              </a:rPr>
              <a:t>,</a:t>
            </a: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gender </a:t>
            </a:r>
            <a:r>
              <a:rPr kumimoji="0" lang="en-US" altLang="en-US" sz="2000" b="0" i="0" u="none" strike="noStrike" cap="none" normalizeH="0" baseline="0" dirty="0">
                <a:ln>
                  <a:noFill/>
                </a:ln>
                <a:solidFill>
                  <a:srgbClr val="0077AA"/>
                </a:solidFill>
                <a:effectLst/>
                <a:latin typeface="Times New Roman" panose="02020603050405020304" pitchFamily="18" charset="0"/>
                <a:cs typeface="Times New Roman" panose="02020603050405020304" pitchFamily="18" charset="0"/>
              </a:rPr>
              <a:t>CHAR</a:t>
            </a:r>
            <a:r>
              <a:rPr kumimoji="0" lang="en-US" altLang="en-US" sz="2000" b="0" i="0" u="none" strike="noStrike" cap="none" normalizeH="0" baseline="0" dirty="0">
                <a:ln>
                  <a:noFill/>
                </a:ln>
                <a:solidFill>
                  <a:srgbClr val="999999"/>
                </a:solidFill>
                <a:effectLst/>
                <a:latin typeface="Times New Roman" panose="02020603050405020304" pitchFamily="18" charset="0"/>
                <a:cs typeface="Times New Roman" panose="02020603050405020304" pitchFamily="18" charset="0"/>
              </a:rPr>
              <a:t>(</a:t>
            </a:r>
            <a:r>
              <a:rPr kumimoji="0" lang="en-US" altLang="en-US" sz="2000" b="0" i="0" u="none" strike="noStrike" cap="none" normalizeH="0" baseline="0" dirty="0">
                <a:ln>
                  <a:noFill/>
                </a:ln>
                <a:solidFill>
                  <a:srgbClr val="990055"/>
                </a:solidFill>
                <a:effectLst/>
                <a:latin typeface="Times New Roman" panose="02020603050405020304" pitchFamily="18" charset="0"/>
                <a:cs typeface="Times New Roman" panose="02020603050405020304" pitchFamily="18" charset="0"/>
              </a:rPr>
              <a:t>1</a:t>
            </a:r>
            <a:r>
              <a:rPr kumimoji="0" lang="en-US" altLang="en-US" sz="2000" b="0" i="0" u="none" strike="noStrike" cap="none" normalizeH="0" baseline="0" dirty="0">
                <a:ln>
                  <a:noFill/>
                </a:ln>
                <a:solidFill>
                  <a:srgbClr val="999999"/>
                </a:solidFill>
                <a:effectLst/>
                <a:latin typeface="Times New Roman" panose="02020603050405020304" pitchFamily="18" charset="0"/>
                <a:cs typeface="Times New Roman" panose="02020603050405020304" pitchFamily="18" charset="0"/>
              </a:rPr>
              <a:t>),</a:t>
            </a: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birthdate </a:t>
            </a:r>
            <a:r>
              <a:rPr kumimoji="0" lang="en-US" altLang="en-US" sz="2000" b="0" i="0" u="none" strike="noStrike" cap="none" normalizeH="0" baseline="0" dirty="0">
                <a:ln>
                  <a:noFill/>
                </a:ln>
                <a:solidFill>
                  <a:srgbClr val="0077AA"/>
                </a:solidFill>
                <a:effectLst/>
                <a:latin typeface="Times New Roman" panose="02020603050405020304" pitchFamily="18" charset="0"/>
                <a:cs typeface="Times New Roman" panose="02020603050405020304" pitchFamily="18" charset="0"/>
              </a:rPr>
              <a:t>DATE</a:t>
            </a:r>
            <a:r>
              <a:rPr kumimoji="0" lang="en-US" altLang="en-US" sz="2000" b="0" i="0" u="none" strike="noStrike" cap="none" normalizeH="0" baseline="0" dirty="0">
                <a:ln>
                  <a:noFill/>
                </a:ln>
                <a:solidFill>
                  <a:srgbClr val="999999"/>
                </a:solidFill>
                <a:effectLst/>
                <a:latin typeface="Times New Roman" panose="02020603050405020304" pitchFamily="18" charset="0"/>
                <a:cs typeface="Times New Roman" panose="02020603050405020304" pitchFamily="18" charset="0"/>
              </a:rPr>
              <a:t>,</a:t>
            </a: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email_id</a:t>
            </a: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rgbClr val="0077AA"/>
                </a:solidFill>
                <a:effectLst/>
                <a:latin typeface="Times New Roman" panose="02020603050405020304" pitchFamily="18" charset="0"/>
                <a:cs typeface="Times New Roman" panose="02020603050405020304" pitchFamily="18" charset="0"/>
              </a:rPr>
              <a:t>VARCHAR</a:t>
            </a:r>
            <a:r>
              <a:rPr kumimoji="0" lang="en-US" altLang="en-US" sz="2000" b="0" i="0" u="none" strike="noStrike" cap="none" normalizeH="0" baseline="0" dirty="0">
                <a:ln>
                  <a:noFill/>
                </a:ln>
                <a:solidFill>
                  <a:srgbClr val="999999"/>
                </a:solidFill>
                <a:effectLst/>
                <a:latin typeface="Times New Roman" panose="02020603050405020304" pitchFamily="18" charset="0"/>
                <a:cs typeface="Times New Roman" panose="02020603050405020304" pitchFamily="18" charset="0"/>
              </a:rPr>
              <a:t>(</a:t>
            </a:r>
            <a:r>
              <a:rPr kumimoji="0" lang="en-US" altLang="en-US" sz="2000" b="0" i="0" u="none" strike="noStrike" cap="none" normalizeH="0" baseline="0" dirty="0">
                <a:ln>
                  <a:noFill/>
                </a:ln>
                <a:solidFill>
                  <a:srgbClr val="990055"/>
                </a:solidFill>
                <a:effectLst/>
                <a:latin typeface="Times New Roman" panose="02020603050405020304" pitchFamily="18" charset="0"/>
                <a:cs typeface="Times New Roman" panose="02020603050405020304" pitchFamily="18" charset="0"/>
              </a:rPr>
              <a:t>100</a:t>
            </a:r>
            <a:r>
              <a:rPr kumimoji="0" lang="en-US" altLang="en-US" sz="2000" b="0" i="0" u="none" strike="noStrike" cap="none" normalizeH="0" baseline="0" dirty="0">
                <a:ln>
                  <a:noFill/>
                </a:ln>
                <a:solidFill>
                  <a:srgbClr val="999999"/>
                </a:solidFill>
                <a:effectLst/>
                <a:latin typeface="Times New Roman" panose="02020603050405020304" pitchFamily="18" charset="0"/>
                <a:cs typeface="Times New Roman" panose="02020603050405020304" pitchFamily="18" charset="0"/>
              </a:rPr>
              <a:t>)</a:t>
            </a: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rgbClr val="0077AA"/>
                </a:solidFill>
                <a:effectLst/>
                <a:latin typeface="Times New Roman" panose="02020603050405020304" pitchFamily="18" charset="0"/>
                <a:cs typeface="Times New Roman" panose="02020603050405020304" pitchFamily="18" charset="0"/>
              </a:rPr>
              <a:t>UNIQUE</a:t>
            </a:r>
            <a:r>
              <a:rPr kumimoji="0" lang="en-US" altLang="en-US" sz="2000" b="0" i="0" u="none" strike="noStrike" cap="none" normalizeH="0" baseline="0" dirty="0">
                <a:ln>
                  <a:noFill/>
                </a:ln>
                <a:solidFill>
                  <a:srgbClr val="999999"/>
                </a:solidFill>
                <a:effectLst/>
                <a:latin typeface="Times New Roman" panose="02020603050405020304" pitchFamily="18" charset="0"/>
                <a:cs typeface="Times New Roman" panose="02020603050405020304" pitchFamily="18" charset="0"/>
              </a:rPr>
              <a:t>,</a:t>
            </a: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country_of_birth</a:t>
            </a: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rgbClr val="0077AA"/>
                </a:solidFill>
                <a:effectLst/>
                <a:latin typeface="Times New Roman" panose="02020603050405020304" pitchFamily="18" charset="0"/>
                <a:cs typeface="Times New Roman" panose="02020603050405020304" pitchFamily="18" charset="0"/>
              </a:rPr>
              <a:t>VARCHAR</a:t>
            </a:r>
            <a:r>
              <a:rPr kumimoji="0" lang="en-US" altLang="en-US" sz="2000" b="0" i="0" u="none" strike="noStrike" cap="none" normalizeH="0" baseline="0" dirty="0">
                <a:ln>
                  <a:noFill/>
                </a:ln>
                <a:solidFill>
                  <a:srgbClr val="999999"/>
                </a:solidFill>
                <a:effectLst/>
                <a:latin typeface="Times New Roman" panose="02020603050405020304" pitchFamily="18" charset="0"/>
                <a:cs typeface="Times New Roman" panose="02020603050405020304" pitchFamily="18" charset="0"/>
              </a:rPr>
              <a:t>(</a:t>
            </a:r>
            <a:r>
              <a:rPr kumimoji="0" lang="en-US" altLang="en-US" sz="2000" b="0" i="0" u="none" strike="noStrike" cap="none" normalizeH="0" baseline="0" dirty="0">
                <a:ln>
                  <a:noFill/>
                </a:ln>
                <a:solidFill>
                  <a:srgbClr val="990055"/>
                </a:solidFill>
                <a:effectLst/>
                <a:latin typeface="Times New Roman" panose="02020603050405020304" pitchFamily="18" charset="0"/>
                <a:cs typeface="Times New Roman" panose="02020603050405020304" pitchFamily="18" charset="0"/>
              </a:rPr>
              <a:t>50</a:t>
            </a:r>
            <a:r>
              <a:rPr kumimoji="0" lang="en-US" altLang="en-US" sz="2000" b="0" i="0" u="none" strike="noStrike" cap="none" normalizeH="0" baseline="0" dirty="0">
                <a:ln>
                  <a:noFill/>
                </a:ln>
                <a:solidFill>
                  <a:srgbClr val="999999"/>
                </a:solidFill>
                <a:effectLst/>
                <a:latin typeface="Times New Roman" panose="02020603050405020304" pitchFamily="18" charset="0"/>
                <a:cs typeface="Times New Roman" panose="02020603050405020304" pitchFamily="18" charset="0"/>
              </a:rPr>
              <a:t>)</a:t>
            </a: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rgbClr val="999999"/>
                </a:solidFill>
                <a:effectLst/>
                <a:latin typeface="Times New Roman" panose="02020603050405020304" pitchFamily="18" charset="0"/>
                <a:cs typeface="Times New Roman" panose="02020603050405020304" pitchFamily="18" charset="0"/>
              </a:rPr>
              <a:t>);</a:t>
            </a:r>
            <a:r>
              <a:rPr kumimoji="0" lang="en-US" altLang="en-US" sz="1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6" name="Rounded Rectangle 17">
            <a:extLst>
              <a:ext uri="{FF2B5EF4-FFF2-40B4-BE49-F238E27FC236}">
                <a16:creationId xmlns:a16="http://schemas.microsoft.com/office/drawing/2014/main" id="{7C26A16C-08DD-ECE4-2D3F-FA6935FBC61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DATA DEFINITION LANGUAGE (Cont..)</a:t>
            </a:r>
          </a:p>
        </p:txBody>
      </p:sp>
    </p:spTree>
    <p:extLst>
      <p:ext uri="{BB962C8B-B14F-4D97-AF65-F5344CB8AC3E}">
        <p14:creationId xmlns:p14="http://schemas.microsoft.com/office/powerpoint/2010/main" val="3587922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A888F5F-E670-437E-BA45-5768F1391571}"/>
              </a:ext>
            </a:extLst>
          </p:cNvPr>
          <p:cNvSpPr>
            <a:spLocks noGrp="1"/>
          </p:cNvSpPr>
          <p:nvPr>
            <p:ph type="sldNum" sz="quarter" idx="12"/>
          </p:nvPr>
        </p:nvSpPr>
        <p:spPr/>
        <p:txBody>
          <a:bodyPr/>
          <a:lstStyle/>
          <a:p>
            <a:fld id="{CBABCCC1-BF11-4F37-963E-1BCD5B23FD72}" type="slidenum">
              <a:rPr lang="en-IN" smtClean="0"/>
              <a:t>8</a:t>
            </a:fld>
            <a:endParaRPr lang="en-IN"/>
          </a:p>
        </p:txBody>
      </p:sp>
      <p:sp>
        <p:nvSpPr>
          <p:cNvPr id="3" name="TextBox 2">
            <a:extLst>
              <a:ext uri="{FF2B5EF4-FFF2-40B4-BE49-F238E27FC236}">
                <a16:creationId xmlns:a16="http://schemas.microsoft.com/office/drawing/2014/main" id="{88A65320-0610-5C73-006C-88A1EDE9955B}"/>
              </a:ext>
            </a:extLst>
          </p:cNvPr>
          <p:cNvSpPr txBox="1"/>
          <p:nvPr/>
        </p:nvSpPr>
        <p:spPr>
          <a:xfrm>
            <a:off x="657918" y="753698"/>
            <a:ext cx="10892003" cy="907749"/>
          </a:xfrm>
          <a:prstGeom prst="rect">
            <a:avLst/>
          </a:prstGeom>
          <a:noFill/>
        </p:spPr>
        <p:txBody>
          <a:bodyPr wrap="square">
            <a:spAutoFit/>
          </a:bodyPr>
          <a:lstStyle/>
          <a:p>
            <a:pPr algn="just">
              <a:lnSpc>
                <a:spcPct val="115000"/>
              </a:lnSpc>
              <a:spcAft>
                <a:spcPts val="500"/>
              </a:spcAft>
            </a:pPr>
            <a:r>
              <a:rPr lang="en-US" sz="24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2</a:t>
            </a:r>
            <a:r>
              <a:rPr lang="en-US" sz="24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 ALTER TABLE command: </a:t>
            </a:r>
            <a:r>
              <a:rPr lang="en-US" sz="2400" dirty="0">
                <a:solidFill>
                  <a:srgbClr val="333333"/>
                </a:solidFill>
                <a:latin typeface="Times New Roman" panose="02020603050405020304" pitchFamily="18" charset="0"/>
                <a:cs typeface="Times New Roman" panose="02020603050405020304" pitchFamily="18" charset="0"/>
              </a:rPr>
              <a:t>This DDL command allows to alter the structure of the database. The commands are:</a:t>
            </a:r>
          </a:p>
        </p:txBody>
      </p:sp>
      <p:sp>
        <p:nvSpPr>
          <p:cNvPr id="10" name="Rounded Rectangle 17">
            <a:extLst>
              <a:ext uri="{FF2B5EF4-FFF2-40B4-BE49-F238E27FC236}">
                <a16:creationId xmlns:a16="http://schemas.microsoft.com/office/drawing/2014/main" id="{B4E4E96D-8BED-6F27-89B2-1488F1F9A970}"/>
              </a:ext>
            </a:extLst>
          </p:cNvPr>
          <p:cNvSpPr/>
          <p:nvPr/>
        </p:nvSpPr>
        <p:spPr>
          <a:xfrm>
            <a:off x="3121964" y="6640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DATA DEFINITION LANGUAGE (Cont..)</a:t>
            </a:r>
          </a:p>
        </p:txBody>
      </p:sp>
      <p:sp>
        <p:nvSpPr>
          <p:cNvPr id="11" name="TextBox 10">
            <a:extLst>
              <a:ext uri="{FF2B5EF4-FFF2-40B4-BE49-F238E27FC236}">
                <a16:creationId xmlns:a16="http://schemas.microsoft.com/office/drawing/2014/main" id="{E689F5DB-F721-9409-2D42-213C861895F5}"/>
              </a:ext>
            </a:extLst>
          </p:cNvPr>
          <p:cNvSpPr txBox="1"/>
          <p:nvPr/>
        </p:nvSpPr>
        <p:spPr>
          <a:xfrm>
            <a:off x="657918" y="1743832"/>
            <a:ext cx="10817052" cy="771814"/>
          </a:xfrm>
          <a:prstGeom prst="rect">
            <a:avLst/>
          </a:prstGeom>
          <a:noFill/>
        </p:spPr>
        <p:txBody>
          <a:bodyPr wrap="square">
            <a:spAutoFit/>
          </a:bodyPr>
          <a:lstStyle/>
          <a:p>
            <a:pPr>
              <a:lnSpc>
                <a:spcPct val="115000"/>
              </a:lnSpc>
              <a:spcAft>
                <a:spcPts val="500"/>
              </a:spcAft>
            </a:pPr>
            <a:r>
              <a:rPr lang="en-US" sz="2000" b="1" dirty="0">
                <a:solidFill>
                  <a:srgbClr val="FF0000"/>
                </a:solidFill>
                <a:latin typeface="Times New Roman" panose="02020603050405020304" pitchFamily="18" charset="0"/>
                <a:cs typeface="Times New Roman" panose="02020603050405020304" pitchFamily="18" charset="0"/>
              </a:rPr>
              <a:t>A) ADD COLUMN</a:t>
            </a:r>
            <a:r>
              <a:rPr lang="en-IN" sz="2000" b="1" dirty="0">
                <a:solidFill>
                  <a:srgbClr val="FF0000"/>
                </a:solidFill>
                <a:latin typeface="Times New Roman" panose="02020603050405020304" pitchFamily="18" charset="0"/>
                <a:cs typeface="Times New Roman" panose="02020603050405020304" pitchFamily="18" charset="0"/>
              </a:rPr>
              <a:t>: </a:t>
            </a:r>
            <a:r>
              <a:rPr lang="en-IN" sz="2000" dirty="0">
                <a:solidFill>
                  <a:srgbClr val="333333"/>
                </a:solidFill>
                <a:latin typeface="Times New Roman" panose="02020603050405020304" pitchFamily="18" charset="0"/>
                <a:cs typeface="Times New Roman" panose="02020603050405020304" pitchFamily="18" charset="0"/>
              </a:rPr>
              <a:t>It is used to</a:t>
            </a:r>
            <a:r>
              <a:rPr lang="en-US" sz="2000" dirty="0">
                <a:solidFill>
                  <a:srgbClr val="333333"/>
                </a:solidFill>
                <a:latin typeface="Times New Roman" panose="02020603050405020304" pitchFamily="18" charset="0"/>
                <a:cs typeface="Times New Roman" panose="02020603050405020304" pitchFamily="18" charset="0"/>
              </a:rPr>
              <a:t> add a new column in the table. For example, to add a column address of type varchar to an existing table:</a:t>
            </a:r>
          </a:p>
        </p:txBody>
      </p:sp>
      <p:sp>
        <p:nvSpPr>
          <p:cNvPr id="12" name="Rectangle 1">
            <a:extLst>
              <a:ext uri="{FF2B5EF4-FFF2-40B4-BE49-F238E27FC236}">
                <a16:creationId xmlns:a16="http://schemas.microsoft.com/office/drawing/2014/main" id="{BD8C57B4-CF5D-330F-51BC-BB38EF9BD695}"/>
              </a:ext>
            </a:extLst>
          </p:cNvPr>
          <p:cNvSpPr>
            <a:spLocks noChangeArrowheads="1"/>
          </p:cNvSpPr>
          <p:nvPr/>
        </p:nvSpPr>
        <p:spPr bwMode="auto">
          <a:xfrm>
            <a:off x="810986" y="2516373"/>
            <a:ext cx="10604023" cy="369332"/>
          </a:xfrm>
          <a:prstGeom prst="rect">
            <a:avLst/>
          </a:prstGeom>
          <a:solidFill>
            <a:srgbClr val="FFFF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077AA"/>
                </a:solidFill>
                <a:effectLst/>
                <a:latin typeface="Times New Roman" panose="02020603050405020304" pitchFamily="18" charset="0"/>
                <a:cs typeface="Times New Roman" panose="02020603050405020304" pitchFamily="18" charset="0"/>
              </a:rPr>
              <a:t>ALTER</a:t>
            </a:r>
            <a:r>
              <a:rPr kumimoji="0" lang="en-US" alt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a:ln>
                  <a:noFill/>
                </a:ln>
                <a:solidFill>
                  <a:srgbClr val="0077AA"/>
                </a:solidFill>
                <a:effectLst/>
                <a:latin typeface="Times New Roman" panose="02020603050405020304" pitchFamily="18" charset="0"/>
                <a:cs typeface="Times New Roman" panose="02020603050405020304" pitchFamily="18" charset="0"/>
              </a:rPr>
              <a:t>TABLE</a:t>
            </a:r>
            <a:r>
              <a:rPr kumimoji="0" lang="en-US" alt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person </a:t>
            </a:r>
            <a:r>
              <a:rPr kumimoji="0" lang="en-US" altLang="en-US" sz="2400" b="0" i="0" u="none" strike="noStrike" cap="none" normalizeH="0" baseline="0" dirty="0">
                <a:ln>
                  <a:noFill/>
                </a:ln>
                <a:solidFill>
                  <a:srgbClr val="0077AA"/>
                </a:solidFill>
                <a:effectLst/>
                <a:latin typeface="Times New Roman" panose="02020603050405020304" pitchFamily="18" charset="0"/>
                <a:cs typeface="Times New Roman" panose="02020603050405020304" pitchFamily="18" charset="0"/>
              </a:rPr>
              <a:t>ADD</a:t>
            </a:r>
            <a:r>
              <a:rPr kumimoji="0" lang="en-US" alt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a:ln>
                  <a:noFill/>
                </a:ln>
                <a:solidFill>
                  <a:srgbClr val="0077AA"/>
                </a:solidFill>
                <a:effectLst/>
                <a:latin typeface="Times New Roman" panose="02020603050405020304" pitchFamily="18" charset="0"/>
                <a:cs typeface="Times New Roman" panose="02020603050405020304" pitchFamily="18" charset="0"/>
              </a:rPr>
              <a:t>COLUMN</a:t>
            </a:r>
            <a:r>
              <a:rPr kumimoji="0" lang="en-US" alt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address </a:t>
            </a:r>
            <a:r>
              <a:rPr kumimoji="0" lang="en-US" altLang="en-US" sz="2400" b="0" i="0" u="none" strike="noStrike" cap="none" normalizeH="0" baseline="0" dirty="0">
                <a:ln>
                  <a:noFill/>
                </a:ln>
                <a:solidFill>
                  <a:srgbClr val="0077AA"/>
                </a:solidFill>
                <a:effectLst/>
                <a:latin typeface="Times New Roman" panose="02020603050405020304" pitchFamily="18" charset="0"/>
                <a:cs typeface="Times New Roman" panose="02020603050405020304" pitchFamily="18" charset="0"/>
              </a:rPr>
              <a:t>varchar</a:t>
            </a:r>
            <a:r>
              <a:rPr kumimoji="0" lang="en-US" altLang="en-US" sz="2400" b="0" i="0" u="none" strike="noStrike" cap="none" normalizeH="0" baseline="0" dirty="0">
                <a:ln>
                  <a:noFill/>
                </a:ln>
                <a:solidFill>
                  <a:srgbClr val="999999"/>
                </a:solidFill>
                <a:effectLst/>
                <a:latin typeface="Times New Roman" panose="02020603050405020304" pitchFamily="18" charset="0"/>
                <a:cs typeface="Times New Roman" panose="02020603050405020304" pitchFamily="18" charset="0"/>
              </a:rPr>
              <a:t>(</a:t>
            </a:r>
            <a:r>
              <a:rPr kumimoji="0" lang="en-US" altLang="en-US" sz="2400" b="0" i="0" u="none" strike="noStrike" cap="none" normalizeH="0" baseline="0" dirty="0">
                <a:ln>
                  <a:noFill/>
                </a:ln>
                <a:solidFill>
                  <a:srgbClr val="990055"/>
                </a:solidFill>
                <a:effectLst/>
                <a:latin typeface="Times New Roman" panose="02020603050405020304" pitchFamily="18" charset="0"/>
                <a:cs typeface="Times New Roman" panose="02020603050405020304" pitchFamily="18" charset="0"/>
              </a:rPr>
              <a:t>50</a:t>
            </a:r>
            <a:r>
              <a:rPr kumimoji="0" lang="en-US" altLang="en-US" sz="2400" b="0" i="0" u="none" strike="noStrike" cap="none" normalizeH="0" baseline="0" dirty="0">
                <a:ln>
                  <a:noFill/>
                </a:ln>
                <a:solidFill>
                  <a:srgbClr val="999999"/>
                </a:solidFill>
                <a:effectLst/>
                <a:latin typeface="Times New Roman" panose="02020603050405020304" pitchFamily="18" charset="0"/>
                <a:cs typeface="Times New Roman" panose="02020603050405020304" pitchFamily="18" charset="0"/>
              </a:rPr>
              <a:t>);</a:t>
            </a:r>
            <a:r>
              <a:rPr kumimoji="0" lang="en-US" altLang="en-US" sz="105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ECB07845-CDB6-2D90-84B0-369B06DE893F}"/>
              </a:ext>
            </a:extLst>
          </p:cNvPr>
          <p:cNvPicPr>
            <a:picLocks noChangeAspect="1"/>
          </p:cNvPicPr>
          <p:nvPr/>
        </p:nvPicPr>
        <p:blipFill>
          <a:blip r:embed="rId2"/>
          <a:stretch>
            <a:fillRect/>
          </a:stretch>
        </p:blipFill>
        <p:spPr>
          <a:xfrm>
            <a:off x="810986" y="3054740"/>
            <a:ext cx="10663983" cy="2933829"/>
          </a:xfrm>
          <a:prstGeom prst="rect">
            <a:avLst/>
          </a:prstGeom>
          <a:ln>
            <a:solidFill>
              <a:schemeClr val="tx1"/>
            </a:solidFill>
          </a:ln>
        </p:spPr>
      </p:pic>
    </p:spTree>
    <p:extLst>
      <p:ext uri="{BB962C8B-B14F-4D97-AF65-F5344CB8AC3E}">
        <p14:creationId xmlns:p14="http://schemas.microsoft.com/office/powerpoint/2010/main" val="1385359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A888F5F-E670-437E-BA45-5768F1391571}"/>
              </a:ext>
            </a:extLst>
          </p:cNvPr>
          <p:cNvSpPr>
            <a:spLocks noGrp="1"/>
          </p:cNvSpPr>
          <p:nvPr>
            <p:ph type="sldNum" sz="quarter" idx="12"/>
          </p:nvPr>
        </p:nvSpPr>
        <p:spPr/>
        <p:txBody>
          <a:bodyPr/>
          <a:lstStyle/>
          <a:p>
            <a:fld id="{CBABCCC1-BF11-4F37-963E-1BCD5B23FD72}" type="slidenum">
              <a:rPr lang="en-IN" smtClean="0"/>
              <a:t>9</a:t>
            </a:fld>
            <a:endParaRPr lang="en-IN"/>
          </a:p>
        </p:txBody>
      </p:sp>
      <p:sp>
        <p:nvSpPr>
          <p:cNvPr id="3" name="TextBox 2">
            <a:extLst>
              <a:ext uri="{FF2B5EF4-FFF2-40B4-BE49-F238E27FC236}">
                <a16:creationId xmlns:a16="http://schemas.microsoft.com/office/drawing/2014/main" id="{88A65320-0610-5C73-006C-88A1EDE9955B}"/>
              </a:ext>
            </a:extLst>
          </p:cNvPr>
          <p:cNvSpPr txBox="1"/>
          <p:nvPr/>
        </p:nvSpPr>
        <p:spPr>
          <a:xfrm>
            <a:off x="696975" y="797777"/>
            <a:ext cx="10892003" cy="950517"/>
          </a:xfrm>
          <a:prstGeom prst="rect">
            <a:avLst/>
          </a:prstGeom>
          <a:noFill/>
        </p:spPr>
        <p:txBody>
          <a:bodyPr wrap="square">
            <a:spAutoFit/>
          </a:bodyPr>
          <a:lstStyle/>
          <a:p>
            <a:pPr algn="just">
              <a:lnSpc>
                <a:spcPct val="115000"/>
              </a:lnSpc>
              <a:spcAft>
                <a:spcPts val="500"/>
              </a:spcAft>
              <a:tabLst>
                <a:tab pos="266700" algn="l"/>
              </a:tabLst>
            </a:pPr>
            <a:r>
              <a:rPr lang="en-US" sz="2000" b="1" dirty="0">
                <a:solidFill>
                  <a:srgbClr val="FF0000"/>
                </a:solidFill>
                <a:latin typeface="Times New Roman" panose="02020603050405020304" pitchFamily="18" charset="0"/>
                <a:cs typeface="Times New Roman" panose="02020603050405020304" pitchFamily="18" charset="0"/>
              </a:rPr>
              <a:t>B) DROP COLUMN: </a:t>
            </a:r>
            <a:r>
              <a:rPr lang="en-US" sz="2000" dirty="0">
                <a:solidFill>
                  <a:srgbClr val="333333"/>
                </a:solidFill>
                <a:latin typeface="Times New Roman" panose="02020603050405020304" pitchFamily="18" charset="0"/>
                <a:cs typeface="Times New Roman" panose="02020603050405020304" pitchFamily="18" charset="0"/>
              </a:rPr>
              <a:t>It is used to drop an existing column from the table</a:t>
            </a:r>
            <a:r>
              <a:rPr lang="en-US" sz="2400" dirty="0">
                <a:solidFill>
                  <a:srgbClr val="333333"/>
                </a:solidFill>
                <a:latin typeface="Times New Roman" panose="02020603050405020304" pitchFamily="18" charset="0"/>
                <a:cs typeface="Times New Roman" panose="02020603050405020304" pitchFamily="18" charset="0"/>
              </a:rPr>
              <a:t>.</a:t>
            </a:r>
            <a:endParaRPr lang="en-IN" sz="2400" dirty="0">
              <a:solidFill>
                <a:srgbClr val="333333"/>
              </a:solidFill>
              <a:latin typeface="Times New Roman" panose="02020603050405020304" pitchFamily="18" charset="0"/>
              <a:cs typeface="Times New Roman" panose="02020603050405020304" pitchFamily="18" charset="0"/>
            </a:endParaRPr>
          </a:p>
          <a:p>
            <a:pPr>
              <a:tabLst>
                <a:tab pos="266700" algn="l"/>
              </a:tabLst>
            </a:pPr>
            <a:endParaRPr lang="en-US" sz="2400" b="1" dirty="0">
              <a:solidFill>
                <a:srgbClr val="000000"/>
              </a:solidFill>
              <a:latin typeface="Times New Roman" panose="02020603050405020304" pitchFamily="18" charset="0"/>
              <a:cs typeface="Times New Roman" panose="02020603050405020304" pitchFamily="18" charset="0"/>
            </a:endParaRPr>
          </a:p>
        </p:txBody>
      </p:sp>
      <p:sp>
        <p:nvSpPr>
          <p:cNvPr id="10" name="Rounded Rectangle 17">
            <a:extLst>
              <a:ext uri="{FF2B5EF4-FFF2-40B4-BE49-F238E27FC236}">
                <a16:creationId xmlns:a16="http://schemas.microsoft.com/office/drawing/2014/main" id="{B4E4E96D-8BED-6F27-89B2-1488F1F9A970}"/>
              </a:ext>
            </a:extLst>
          </p:cNvPr>
          <p:cNvSpPr/>
          <p:nvPr/>
        </p:nvSpPr>
        <p:spPr>
          <a:xfrm>
            <a:off x="3121964" y="6640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DATA DEFINITION LANGUAGE (Cont..)</a:t>
            </a:r>
          </a:p>
        </p:txBody>
      </p:sp>
      <p:sp>
        <p:nvSpPr>
          <p:cNvPr id="4" name="Rectangle 2">
            <a:extLst>
              <a:ext uri="{FF2B5EF4-FFF2-40B4-BE49-F238E27FC236}">
                <a16:creationId xmlns:a16="http://schemas.microsoft.com/office/drawing/2014/main" id="{ABD69205-6933-3C61-1F74-9AEC7F948F24}"/>
              </a:ext>
            </a:extLst>
          </p:cNvPr>
          <p:cNvSpPr>
            <a:spLocks noChangeArrowheads="1"/>
          </p:cNvSpPr>
          <p:nvPr/>
        </p:nvSpPr>
        <p:spPr bwMode="auto">
          <a:xfrm>
            <a:off x="810986" y="1432321"/>
            <a:ext cx="10499093"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ALTER</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TABLE</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person </a:t>
            </a:r>
            <a:r>
              <a:rPr kumimoji="0" lang="en-US" altLang="en-US" sz="24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DROP</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COLUMN</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lang="en-US" altLang="en-US" sz="2400" dirty="0">
                <a:solidFill>
                  <a:srgbClr val="000000"/>
                </a:solidFill>
                <a:latin typeface="Courier New" panose="02070309020205020404" pitchFamily="49" charset="0"/>
                <a:cs typeface="Courier New" panose="02070309020205020404" pitchFamily="49" charset="0"/>
              </a:rPr>
              <a:t>address</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endParaRPr kumimoji="0" lang="en-US" altLang="en-US" sz="3600" b="0" i="0" u="none" strike="noStrike" cap="none" normalizeH="0" baseline="0" dirty="0">
              <a:ln>
                <a:noFill/>
              </a:ln>
              <a:solidFill>
                <a:schemeClr val="tx1"/>
              </a:solidFill>
              <a:effectLst/>
              <a:latin typeface="Arial" panose="020B0604020202020204" pitchFamily="34" charset="0"/>
            </a:endParaRPr>
          </a:p>
        </p:txBody>
      </p:sp>
      <p:pic>
        <p:nvPicPr>
          <p:cNvPr id="7" name="Picture 6">
            <a:extLst>
              <a:ext uri="{FF2B5EF4-FFF2-40B4-BE49-F238E27FC236}">
                <a16:creationId xmlns:a16="http://schemas.microsoft.com/office/drawing/2014/main" id="{82DF8C9C-3172-160E-DF8B-C36859429D07}"/>
              </a:ext>
            </a:extLst>
          </p:cNvPr>
          <p:cNvPicPr>
            <a:picLocks noChangeAspect="1"/>
          </p:cNvPicPr>
          <p:nvPr/>
        </p:nvPicPr>
        <p:blipFill>
          <a:blip r:embed="rId2"/>
          <a:stretch>
            <a:fillRect/>
          </a:stretch>
        </p:blipFill>
        <p:spPr>
          <a:xfrm>
            <a:off x="810986" y="2138693"/>
            <a:ext cx="10499093" cy="3669996"/>
          </a:xfrm>
          <a:prstGeom prst="rect">
            <a:avLst/>
          </a:prstGeom>
        </p:spPr>
      </p:pic>
    </p:spTree>
    <p:extLst>
      <p:ext uri="{BB962C8B-B14F-4D97-AF65-F5344CB8AC3E}">
        <p14:creationId xmlns:p14="http://schemas.microsoft.com/office/powerpoint/2010/main" val="2848813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A888F5F-E670-437E-BA45-5768F1391571}"/>
              </a:ext>
            </a:extLst>
          </p:cNvPr>
          <p:cNvSpPr>
            <a:spLocks noGrp="1"/>
          </p:cNvSpPr>
          <p:nvPr>
            <p:ph type="sldNum" sz="quarter" idx="12"/>
          </p:nvPr>
        </p:nvSpPr>
        <p:spPr/>
        <p:txBody>
          <a:bodyPr/>
          <a:lstStyle/>
          <a:p>
            <a:fld id="{CBABCCC1-BF11-4F37-963E-1BCD5B23FD72}" type="slidenum">
              <a:rPr lang="en-IN" smtClean="0"/>
              <a:t>10</a:t>
            </a:fld>
            <a:endParaRPr lang="en-IN"/>
          </a:p>
        </p:txBody>
      </p:sp>
      <p:sp>
        <p:nvSpPr>
          <p:cNvPr id="3" name="TextBox 2">
            <a:extLst>
              <a:ext uri="{FF2B5EF4-FFF2-40B4-BE49-F238E27FC236}">
                <a16:creationId xmlns:a16="http://schemas.microsoft.com/office/drawing/2014/main" id="{88A65320-0610-5C73-006C-88A1EDE9955B}"/>
              </a:ext>
            </a:extLst>
          </p:cNvPr>
          <p:cNvSpPr txBox="1"/>
          <p:nvPr/>
        </p:nvSpPr>
        <p:spPr>
          <a:xfrm>
            <a:off x="696975" y="797777"/>
            <a:ext cx="10892003" cy="1077218"/>
          </a:xfrm>
          <a:prstGeom prst="rect">
            <a:avLst/>
          </a:prstGeom>
          <a:noFill/>
        </p:spPr>
        <p:txBody>
          <a:bodyPr wrap="square">
            <a:spAutoFit/>
          </a:bodyPr>
          <a:lstStyle/>
          <a:p>
            <a:pPr algn="just">
              <a:tabLst>
                <a:tab pos="266700" algn="l"/>
              </a:tabLst>
            </a:pPr>
            <a:r>
              <a:rPr lang="en-US" sz="2000" b="1" dirty="0">
                <a:solidFill>
                  <a:srgbClr val="FF0000"/>
                </a:solidFill>
                <a:latin typeface="Times New Roman" panose="02020603050405020304" pitchFamily="18" charset="0"/>
                <a:cs typeface="Times New Roman" panose="02020603050405020304" pitchFamily="18" charset="0"/>
              </a:rPr>
              <a:t>C) ALTER COLUMN: </a:t>
            </a:r>
            <a:r>
              <a:rPr lang="en-US" sz="2000" dirty="0">
                <a:solidFill>
                  <a:srgbClr val="333333"/>
                </a:solidFill>
                <a:latin typeface="Times New Roman" panose="02020603050405020304" pitchFamily="18" charset="0"/>
                <a:cs typeface="Times New Roman" panose="02020603050405020304" pitchFamily="18" charset="0"/>
              </a:rPr>
              <a:t>It is used to alter the existing column.</a:t>
            </a:r>
            <a:r>
              <a:rPr lang="en-IN" sz="2000" dirty="0">
                <a:solidFill>
                  <a:srgbClr val="333333"/>
                </a:solidFill>
                <a:latin typeface="Times New Roman" panose="02020603050405020304" pitchFamily="18" charset="0"/>
                <a:cs typeface="Times New Roman" panose="02020603050405020304" pitchFamily="18" charset="0"/>
              </a:rPr>
              <a:t> </a:t>
            </a:r>
            <a:r>
              <a:rPr lang="en-US" sz="2000" dirty="0">
                <a:solidFill>
                  <a:srgbClr val="333333"/>
                </a:solidFill>
                <a:latin typeface="Times New Roman" panose="02020603050405020304" pitchFamily="18" charset="0"/>
                <a:cs typeface="Times New Roman" panose="02020603050405020304" pitchFamily="18" charset="0"/>
              </a:rPr>
              <a:t>To change the datatype of email from VARCHAR to TEXT.</a:t>
            </a:r>
          </a:p>
          <a:p>
            <a:pPr>
              <a:tabLst>
                <a:tab pos="266700" algn="l"/>
              </a:tabLst>
            </a:pPr>
            <a:endParaRPr lang="en-US" sz="2400" b="1" dirty="0">
              <a:solidFill>
                <a:srgbClr val="000000"/>
              </a:solidFill>
              <a:latin typeface="Times New Roman" panose="02020603050405020304" pitchFamily="18" charset="0"/>
              <a:cs typeface="Times New Roman" panose="02020603050405020304" pitchFamily="18" charset="0"/>
            </a:endParaRPr>
          </a:p>
        </p:txBody>
      </p:sp>
      <p:sp>
        <p:nvSpPr>
          <p:cNvPr id="10" name="Rounded Rectangle 17">
            <a:extLst>
              <a:ext uri="{FF2B5EF4-FFF2-40B4-BE49-F238E27FC236}">
                <a16:creationId xmlns:a16="http://schemas.microsoft.com/office/drawing/2014/main" id="{B4E4E96D-8BED-6F27-89B2-1488F1F9A970}"/>
              </a:ext>
            </a:extLst>
          </p:cNvPr>
          <p:cNvSpPr/>
          <p:nvPr/>
        </p:nvSpPr>
        <p:spPr>
          <a:xfrm>
            <a:off x="3121964" y="6640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DATA DEFINITION LANGUAGE (Cont..)</a:t>
            </a:r>
          </a:p>
        </p:txBody>
      </p:sp>
      <p:sp>
        <p:nvSpPr>
          <p:cNvPr id="5" name="Rectangle 3">
            <a:extLst>
              <a:ext uri="{FF2B5EF4-FFF2-40B4-BE49-F238E27FC236}">
                <a16:creationId xmlns:a16="http://schemas.microsoft.com/office/drawing/2014/main" id="{1232AB71-ABC8-0F79-C458-D6ED1319C527}"/>
              </a:ext>
            </a:extLst>
          </p:cNvPr>
          <p:cNvSpPr>
            <a:spLocks noChangeArrowheads="1"/>
          </p:cNvSpPr>
          <p:nvPr/>
        </p:nvSpPr>
        <p:spPr bwMode="auto">
          <a:xfrm>
            <a:off x="840841" y="1690329"/>
            <a:ext cx="10654184"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ALTER</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TABLE</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person</a:t>
            </a:r>
            <a:r>
              <a:rPr lang="en-US" altLang="en-US" sz="2400" dirty="0">
                <a:solidFill>
                  <a:srgbClr val="000000"/>
                </a:solidFill>
                <a:latin typeface="Courier New" panose="02070309020205020404" pitchFamily="49" charset="0"/>
                <a:cs typeface="Courier New" panose="02070309020205020404" pitchFamily="49" charset="0"/>
              </a:rPr>
              <a:t> </a:t>
            </a:r>
            <a:r>
              <a:rPr kumimoji="0" lang="en-US" altLang="en-US" sz="24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ALTER</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COLUMN</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email_id</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TYPE</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lang="en-US" altLang="en-US" sz="2400" dirty="0">
                <a:solidFill>
                  <a:srgbClr val="0077AA"/>
                </a:solidFill>
                <a:latin typeface="Courier New" panose="02070309020205020404" pitchFamily="49" charset="0"/>
                <a:cs typeface="Courier New" panose="02070309020205020404" pitchFamily="49" charset="0"/>
              </a:rPr>
              <a:t>TEXT</a:t>
            </a:r>
            <a:r>
              <a:rPr lang="en-US" altLang="en-US" sz="2400" dirty="0">
                <a:solidFill>
                  <a:srgbClr val="999999"/>
                </a:solidFill>
                <a:latin typeface="Courier New" panose="02070309020205020404" pitchFamily="49" charset="0"/>
                <a:cs typeface="Courier New" panose="02070309020205020404" pitchFamily="49" charset="0"/>
              </a:rPr>
              <a:t>;</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p>
        </p:txBody>
      </p:sp>
      <p:pic>
        <p:nvPicPr>
          <p:cNvPr id="8" name="Picture 7">
            <a:extLst>
              <a:ext uri="{FF2B5EF4-FFF2-40B4-BE49-F238E27FC236}">
                <a16:creationId xmlns:a16="http://schemas.microsoft.com/office/drawing/2014/main" id="{68BF2F86-823A-8A0C-A619-9AC837345D85}"/>
              </a:ext>
            </a:extLst>
          </p:cNvPr>
          <p:cNvPicPr>
            <a:picLocks noChangeAspect="1"/>
          </p:cNvPicPr>
          <p:nvPr/>
        </p:nvPicPr>
        <p:blipFill>
          <a:blip r:embed="rId2"/>
          <a:stretch>
            <a:fillRect/>
          </a:stretch>
        </p:blipFill>
        <p:spPr>
          <a:xfrm>
            <a:off x="840841" y="2345961"/>
            <a:ext cx="10654184" cy="3560164"/>
          </a:xfrm>
          <a:prstGeom prst="rect">
            <a:avLst/>
          </a:prstGeom>
        </p:spPr>
      </p:pic>
    </p:spTree>
    <p:extLst>
      <p:ext uri="{BB962C8B-B14F-4D97-AF65-F5344CB8AC3E}">
        <p14:creationId xmlns:p14="http://schemas.microsoft.com/office/powerpoint/2010/main" val="2837038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A888F5F-E670-437E-BA45-5768F1391571}"/>
              </a:ext>
            </a:extLst>
          </p:cNvPr>
          <p:cNvSpPr>
            <a:spLocks noGrp="1"/>
          </p:cNvSpPr>
          <p:nvPr>
            <p:ph type="sldNum" sz="quarter" idx="12"/>
          </p:nvPr>
        </p:nvSpPr>
        <p:spPr/>
        <p:txBody>
          <a:bodyPr/>
          <a:lstStyle/>
          <a:p>
            <a:fld id="{CBABCCC1-BF11-4F37-963E-1BCD5B23FD72}" type="slidenum">
              <a:rPr lang="en-IN" smtClean="0"/>
              <a:t>11</a:t>
            </a:fld>
            <a:endParaRPr lang="en-IN"/>
          </a:p>
        </p:txBody>
      </p:sp>
      <p:sp>
        <p:nvSpPr>
          <p:cNvPr id="3" name="TextBox 2">
            <a:extLst>
              <a:ext uri="{FF2B5EF4-FFF2-40B4-BE49-F238E27FC236}">
                <a16:creationId xmlns:a16="http://schemas.microsoft.com/office/drawing/2014/main" id="{88A65320-0610-5C73-006C-88A1EDE9955B}"/>
              </a:ext>
            </a:extLst>
          </p:cNvPr>
          <p:cNvSpPr txBox="1"/>
          <p:nvPr/>
        </p:nvSpPr>
        <p:spPr>
          <a:xfrm>
            <a:off x="696975" y="797777"/>
            <a:ext cx="10892003" cy="1297791"/>
          </a:xfrm>
          <a:prstGeom prst="rect">
            <a:avLst/>
          </a:prstGeom>
          <a:noFill/>
        </p:spPr>
        <p:txBody>
          <a:bodyPr wrap="square">
            <a:spAutoFit/>
          </a:bodyPr>
          <a:lstStyle/>
          <a:p>
            <a:pPr algn="just">
              <a:lnSpc>
                <a:spcPct val="115000"/>
              </a:lnSpc>
              <a:spcAft>
                <a:spcPts val="500"/>
              </a:spcAft>
            </a:pPr>
            <a:r>
              <a:rPr lang="en-US" sz="2000" dirty="0">
                <a:solidFill>
                  <a:srgbClr val="333333"/>
                </a:solidFill>
                <a:latin typeface="Times New Roman" panose="02020603050405020304" pitchFamily="18" charset="0"/>
                <a:cs typeface="Times New Roman" panose="02020603050405020304" pitchFamily="18" charset="0"/>
              </a:rPr>
              <a:t>To add a NOT NULL constraint to a column:</a:t>
            </a:r>
          </a:p>
          <a:p>
            <a:pPr algn="just">
              <a:lnSpc>
                <a:spcPct val="115000"/>
              </a:lnSpc>
              <a:spcAft>
                <a:spcPts val="500"/>
              </a:spcAft>
            </a:pPr>
            <a:endParaRPr lang="en-US" sz="2000" dirty="0">
              <a:solidFill>
                <a:srgbClr val="333333"/>
              </a:solidFill>
              <a:latin typeface="Times New Roman" panose="02020603050405020304" pitchFamily="18" charset="0"/>
              <a:cs typeface="Times New Roman" panose="02020603050405020304" pitchFamily="18" charset="0"/>
            </a:endParaRPr>
          </a:p>
          <a:p>
            <a:pPr>
              <a:tabLst>
                <a:tab pos="266700" algn="l"/>
              </a:tabLst>
            </a:pPr>
            <a:endParaRPr lang="en-US" sz="2400" b="1" dirty="0">
              <a:solidFill>
                <a:srgbClr val="000000"/>
              </a:solidFill>
              <a:latin typeface="Times New Roman" panose="02020603050405020304" pitchFamily="18" charset="0"/>
              <a:cs typeface="Times New Roman" panose="02020603050405020304" pitchFamily="18" charset="0"/>
            </a:endParaRPr>
          </a:p>
        </p:txBody>
      </p:sp>
      <p:sp>
        <p:nvSpPr>
          <p:cNvPr id="10" name="Rounded Rectangle 17">
            <a:extLst>
              <a:ext uri="{FF2B5EF4-FFF2-40B4-BE49-F238E27FC236}">
                <a16:creationId xmlns:a16="http://schemas.microsoft.com/office/drawing/2014/main" id="{B4E4E96D-8BED-6F27-89B2-1488F1F9A970}"/>
              </a:ext>
            </a:extLst>
          </p:cNvPr>
          <p:cNvSpPr/>
          <p:nvPr/>
        </p:nvSpPr>
        <p:spPr>
          <a:xfrm>
            <a:off x="3121964" y="6640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DATA DEFINITION LANGUAGE (Cont..)</a:t>
            </a:r>
          </a:p>
        </p:txBody>
      </p:sp>
      <p:sp>
        <p:nvSpPr>
          <p:cNvPr id="6" name="TextBox 5">
            <a:extLst>
              <a:ext uri="{FF2B5EF4-FFF2-40B4-BE49-F238E27FC236}">
                <a16:creationId xmlns:a16="http://schemas.microsoft.com/office/drawing/2014/main" id="{DE66D4D3-1D1B-E6E5-025A-C5E652100CD6}"/>
              </a:ext>
            </a:extLst>
          </p:cNvPr>
          <p:cNvSpPr txBox="1"/>
          <p:nvPr/>
        </p:nvSpPr>
        <p:spPr>
          <a:xfrm>
            <a:off x="696975" y="2189202"/>
            <a:ext cx="6100996" cy="417871"/>
          </a:xfrm>
          <a:prstGeom prst="rect">
            <a:avLst/>
          </a:prstGeom>
          <a:noFill/>
        </p:spPr>
        <p:txBody>
          <a:bodyPr wrap="square">
            <a:spAutoFit/>
          </a:bodyPr>
          <a:lstStyle/>
          <a:p>
            <a:pPr algn="just">
              <a:lnSpc>
                <a:spcPct val="115000"/>
              </a:lnSpc>
              <a:spcAft>
                <a:spcPts val="500"/>
              </a:spcAft>
            </a:pPr>
            <a:r>
              <a:rPr lang="en-US" sz="2000" dirty="0">
                <a:solidFill>
                  <a:srgbClr val="333333"/>
                </a:solidFill>
                <a:latin typeface="Times New Roman" panose="02020603050405020304" pitchFamily="18" charset="0"/>
                <a:cs typeface="Times New Roman" panose="02020603050405020304" pitchFamily="18" charset="0"/>
              </a:rPr>
              <a:t>To remove a NOT NULL constraint from a column:</a:t>
            </a:r>
          </a:p>
        </p:txBody>
      </p:sp>
      <p:sp>
        <p:nvSpPr>
          <p:cNvPr id="7" name="Rectangle 1">
            <a:extLst>
              <a:ext uri="{FF2B5EF4-FFF2-40B4-BE49-F238E27FC236}">
                <a16:creationId xmlns:a16="http://schemas.microsoft.com/office/drawing/2014/main" id="{FCD9FF28-AB72-61EC-3F46-3315E4DA7A9C}"/>
              </a:ext>
            </a:extLst>
          </p:cNvPr>
          <p:cNvSpPr>
            <a:spLocks noChangeArrowheads="1"/>
          </p:cNvSpPr>
          <p:nvPr/>
        </p:nvSpPr>
        <p:spPr bwMode="auto">
          <a:xfrm>
            <a:off x="783667" y="1569892"/>
            <a:ext cx="10526412"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ALTER</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TABLE</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lang="en-US" altLang="en-US" sz="2400" dirty="0">
                <a:solidFill>
                  <a:srgbClr val="000000"/>
                </a:solidFill>
                <a:latin typeface="Courier New" panose="02070309020205020404" pitchFamily="49" charset="0"/>
                <a:cs typeface="Courier New" panose="02070309020205020404" pitchFamily="49" charset="0"/>
              </a:rPr>
              <a:t>person</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ALTER</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COLUMN</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gender </a:t>
            </a:r>
            <a:r>
              <a:rPr kumimoji="0" lang="en-US" altLang="en-US" sz="24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SET</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NOT</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dirty="0">
                <a:ln>
                  <a:noFill/>
                </a:ln>
                <a:solidFill>
                  <a:srgbClr val="990055"/>
                </a:solidFill>
                <a:effectLst/>
                <a:latin typeface="Courier New" panose="02070309020205020404" pitchFamily="49" charset="0"/>
                <a:cs typeface="Courier New" panose="02070309020205020404" pitchFamily="49" charset="0"/>
              </a:rPr>
              <a:t>NULL</a:t>
            </a:r>
            <a:r>
              <a:rPr kumimoji="0" lang="en-US" altLang="en-US" sz="24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050" b="0" i="0" u="none" strike="noStrike" cap="none" normalizeH="0" baseline="0" dirty="0">
                <a:ln>
                  <a:noFill/>
                </a:ln>
                <a:solidFill>
                  <a:schemeClr val="tx1"/>
                </a:solidFill>
                <a:effectLst/>
              </a:rPr>
              <a:t> </a:t>
            </a:r>
            <a:endParaRPr kumimoji="0" lang="en-US" altLang="en-US" sz="3600" b="0" i="0" u="none" strike="noStrike" cap="none" normalizeH="0" baseline="0" dirty="0">
              <a:ln>
                <a:noFill/>
              </a:ln>
              <a:solidFill>
                <a:schemeClr val="tx1"/>
              </a:solidFill>
              <a:effectLst/>
              <a:latin typeface="Arial" panose="020B0604020202020204" pitchFamily="34" charset="0"/>
            </a:endParaRPr>
          </a:p>
        </p:txBody>
      </p:sp>
      <p:sp>
        <p:nvSpPr>
          <p:cNvPr id="9" name="Rectangle 2">
            <a:extLst>
              <a:ext uri="{FF2B5EF4-FFF2-40B4-BE49-F238E27FC236}">
                <a16:creationId xmlns:a16="http://schemas.microsoft.com/office/drawing/2014/main" id="{2458FB62-C967-8D74-6D80-85ABBE55C86A}"/>
              </a:ext>
            </a:extLst>
          </p:cNvPr>
          <p:cNvSpPr>
            <a:spLocks noChangeArrowheads="1"/>
          </p:cNvSpPr>
          <p:nvPr/>
        </p:nvSpPr>
        <p:spPr bwMode="auto">
          <a:xfrm>
            <a:off x="783667" y="2944387"/>
            <a:ext cx="1045146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ALTER</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TABLE</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lang="en-US" altLang="en-US" sz="2400" dirty="0">
                <a:solidFill>
                  <a:srgbClr val="000000"/>
                </a:solidFill>
                <a:latin typeface="Courier New" panose="02070309020205020404" pitchFamily="49" charset="0"/>
                <a:cs typeface="Courier New" panose="02070309020205020404" pitchFamily="49" charset="0"/>
              </a:rPr>
              <a:t>person</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ALTER</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COLUMN</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gender </a:t>
            </a:r>
            <a:r>
              <a:rPr kumimoji="0" lang="en-US" altLang="en-US" sz="24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DROP</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NOT</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dirty="0">
                <a:ln>
                  <a:noFill/>
                </a:ln>
                <a:solidFill>
                  <a:srgbClr val="990055"/>
                </a:solidFill>
                <a:effectLst/>
                <a:latin typeface="Courier New" panose="02070309020205020404" pitchFamily="49" charset="0"/>
                <a:cs typeface="Courier New" panose="02070309020205020404" pitchFamily="49" charset="0"/>
              </a:rPr>
              <a:t>NULL</a:t>
            </a:r>
            <a:r>
              <a:rPr kumimoji="0" lang="en-US" altLang="en-US" sz="24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050" b="0" i="0" u="none" strike="noStrike" cap="none" normalizeH="0" baseline="0" dirty="0">
                <a:ln>
                  <a:noFill/>
                </a:ln>
                <a:solidFill>
                  <a:schemeClr val="tx1"/>
                </a:solidFill>
                <a:effectLst/>
              </a:rPr>
              <a:t> </a:t>
            </a:r>
            <a:endParaRPr kumimoji="0" lang="en-US" altLang="en-US" sz="3600" b="0" i="0" u="none" strike="noStrike" cap="none" normalizeH="0" baseline="0" dirty="0">
              <a:ln>
                <a:noFill/>
              </a:ln>
              <a:solidFill>
                <a:schemeClr val="tx1"/>
              </a:solidFill>
              <a:effectLst/>
              <a:latin typeface="Arial" panose="020B0604020202020204" pitchFamily="34" charset="0"/>
            </a:endParaRPr>
          </a:p>
        </p:txBody>
      </p:sp>
      <p:sp>
        <p:nvSpPr>
          <p:cNvPr id="8" name="TextBox 7">
            <a:extLst>
              <a:ext uri="{FF2B5EF4-FFF2-40B4-BE49-F238E27FC236}">
                <a16:creationId xmlns:a16="http://schemas.microsoft.com/office/drawing/2014/main" id="{0406696B-50AD-DE13-23DE-2F93F90960A9}"/>
              </a:ext>
            </a:extLst>
          </p:cNvPr>
          <p:cNvSpPr txBox="1"/>
          <p:nvPr/>
        </p:nvSpPr>
        <p:spPr>
          <a:xfrm>
            <a:off x="696975" y="3583294"/>
            <a:ext cx="6445770" cy="417871"/>
          </a:xfrm>
          <a:prstGeom prst="rect">
            <a:avLst/>
          </a:prstGeom>
          <a:noFill/>
        </p:spPr>
        <p:txBody>
          <a:bodyPr wrap="square">
            <a:spAutoFit/>
          </a:bodyPr>
          <a:lstStyle/>
          <a:p>
            <a:pPr algn="just">
              <a:lnSpc>
                <a:spcPct val="115000"/>
              </a:lnSpc>
              <a:spcAft>
                <a:spcPts val="500"/>
              </a:spcAft>
            </a:pPr>
            <a:r>
              <a:rPr lang="en-US" sz="1800" dirty="0">
                <a:solidFill>
                  <a:srgbClr val="333333"/>
                </a:solidFill>
                <a:latin typeface="Times New Roman" panose="02020603050405020304" pitchFamily="18" charset="0"/>
                <a:cs typeface="Times New Roman" panose="02020603050405020304" pitchFamily="18" charset="0"/>
              </a:rPr>
              <a:t>To </a:t>
            </a:r>
            <a:r>
              <a:rPr lang="en-US" sz="2000" dirty="0">
                <a:solidFill>
                  <a:srgbClr val="333333"/>
                </a:solidFill>
                <a:latin typeface="Times New Roman" panose="02020603050405020304" pitchFamily="18" charset="0"/>
                <a:cs typeface="Times New Roman" panose="02020603050405020304" pitchFamily="18" charset="0"/>
              </a:rPr>
              <a:t>add</a:t>
            </a:r>
            <a:r>
              <a:rPr lang="en-US" sz="1800" dirty="0">
                <a:solidFill>
                  <a:srgbClr val="333333"/>
                </a:solidFill>
                <a:latin typeface="Times New Roman" panose="02020603050405020304" pitchFamily="18" charset="0"/>
                <a:cs typeface="Times New Roman" panose="02020603050405020304" pitchFamily="18" charset="0"/>
              </a:rPr>
              <a:t> a PRIMARY KEY constraint </a:t>
            </a:r>
            <a:r>
              <a:rPr lang="en-US" dirty="0">
                <a:solidFill>
                  <a:srgbClr val="333333"/>
                </a:solidFill>
                <a:latin typeface="Times New Roman" panose="02020603050405020304" pitchFamily="18" charset="0"/>
                <a:cs typeface="Times New Roman" panose="02020603050405020304" pitchFamily="18" charset="0"/>
              </a:rPr>
              <a:t>to a</a:t>
            </a:r>
            <a:r>
              <a:rPr lang="en-US" sz="1800" dirty="0">
                <a:solidFill>
                  <a:srgbClr val="333333"/>
                </a:solidFill>
                <a:latin typeface="Times New Roman" panose="02020603050405020304" pitchFamily="18" charset="0"/>
                <a:cs typeface="Times New Roman" panose="02020603050405020304" pitchFamily="18" charset="0"/>
              </a:rPr>
              <a:t> table:</a:t>
            </a:r>
          </a:p>
        </p:txBody>
      </p:sp>
      <p:sp>
        <p:nvSpPr>
          <p:cNvPr id="11" name="Rectangle 2">
            <a:extLst>
              <a:ext uri="{FF2B5EF4-FFF2-40B4-BE49-F238E27FC236}">
                <a16:creationId xmlns:a16="http://schemas.microsoft.com/office/drawing/2014/main" id="{EB713FD5-BCB9-FF35-19CC-C59840E3DF2C}"/>
              </a:ext>
            </a:extLst>
          </p:cNvPr>
          <p:cNvSpPr>
            <a:spLocks noChangeArrowheads="1"/>
          </p:cNvSpPr>
          <p:nvPr/>
        </p:nvSpPr>
        <p:spPr bwMode="auto">
          <a:xfrm>
            <a:off x="821142" y="4277737"/>
            <a:ext cx="1045146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ALTER</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TABLE</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lang="en-US" altLang="en-US" sz="2400" dirty="0">
                <a:solidFill>
                  <a:srgbClr val="000000"/>
                </a:solidFill>
                <a:latin typeface="Courier New" panose="02070309020205020404" pitchFamily="49" charset="0"/>
                <a:cs typeface="Courier New" panose="02070309020205020404" pitchFamily="49" charset="0"/>
              </a:rPr>
              <a:t>person</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lang="en-US" altLang="en-US" sz="2400" dirty="0">
                <a:solidFill>
                  <a:srgbClr val="0077AA"/>
                </a:solidFill>
                <a:latin typeface="Courier New" panose="02070309020205020404" pitchFamily="49" charset="0"/>
                <a:cs typeface="Courier New" panose="02070309020205020404" pitchFamily="49" charset="0"/>
              </a:rPr>
              <a:t>ADD PRIMARY KEY </a:t>
            </a:r>
            <a:r>
              <a:rPr lang="en-US" altLang="en-US" sz="2400" dirty="0">
                <a:solidFill>
                  <a:srgbClr val="000000"/>
                </a:solidFill>
                <a:latin typeface="Courier New" panose="02070309020205020404" pitchFamily="49" charset="0"/>
                <a:cs typeface="Courier New" panose="02070309020205020404" pitchFamily="49" charset="0"/>
              </a:rPr>
              <a:t>(id); </a:t>
            </a:r>
            <a:endParaRPr kumimoji="0" lang="en-US" altLang="en-US" sz="3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71333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A888F5F-E670-437E-BA45-5768F1391571}"/>
              </a:ext>
            </a:extLst>
          </p:cNvPr>
          <p:cNvSpPr>
            <a:spLocks noGrp="1"/>
          </p:cNvSpPr>
          <p:nvPr>
            <p:ph type="sldNum" sz="quarter" idx="12"/>
          </p:nvPr>
        </p:nvSpPr>
        <p:spPr/>
        <p:txBody>
          <a:bodyPr/>
          <a:lstStyle/>
          <a:p>
            <a:fld id="{CBABCCC1-BF11-4F37-963E-1BCD5B23FD72}" type="slidenum">
              <a:rPr lang="en-IN" smtClean="0"/>
              <a:t>12</a:t>
            </a:fld>
            <a:endParaRPr lang="en-IN"/>
          </a:p>
        </p:txBody>
      </p:sp>
      <p:sp>
        <p:nvSpPr>
          <p:cNvPr id="3" name="TextBox 2">
            <a:extLst>
              <a:ext uri="{FF2B5EF4-FFF2-40B4-BE49-F238E27FC236}">
                <a16:creationId xmlns:a16="http://schemas.microsoft.com/office/drawing/2014/main" id="{88A65320-0610-5C73-006C-88A1EDE9955B}"/>
              </a:ext>
            </a:extLst>
          </p:cNvPr>
          <p:cNvSpPr txBox="1"/>
          <p:nvPr/>
        </p:nvSpPr>
        <p:spPr>
          <a:xfrm>
            <a:off x="696975" y="797777"/>
            <a:ext cx="10892003" cy="1015663"/>
          </a:xfrm>
          <a:prstGeom prst="rect">
            <a:avLst/>
          </a:prstGeom>
          <a:noFill/>
        </p:spPr>
        <p:txBody>
          <a:bodyPr wrap="square">
            <a:spAutoFit/>
          </a:bodyPr>
          <a:lstStyle/>
          <a:p>
            <a:pPr>
              <a:tabLst>
                <a:tab pos="266700" algn="l"/>
              </a:tabLst>
            </a:pPr>
            <a:r>
              <a:rPr lang="en-US" sz="2000" b="1" dirty="0">
                <a:solidFill>
                  <a:srgbClr val="FF0000"/>
                </a:solidFill>
                <a:latin typeface="Times New Roman" panose="02020603050405020304" pitchFamily="18" charset="0"/>
                <a:cs typeface="Times New Roman" panose="02020603050405020304" pitchFamily="18" charset="0"/>
              </a:rPr>
              <a:t>D) RENAME COLUMN: </a:t>
            </a:r>
            <a:r>
              <a:rPr lang="en-US" sz="2000" dirty="0">
                <a:solidFill>
                  <a:srgbClr val="333333"/>
                </a:solidFill>
                <a:latin typeface="Times New Roman" panose="02020603050405020304" pitchFamily="18" charset="0"/>
                <a:cs typeface="Times New Roman" panose="02020603050405020304" pitchFamily="18" charset="0"/>
              </a:rPr>
              <a:t>It is used to change the name of a column.</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a:tabLst>
                <a:tab pos="266700" algn="l"/>
              </a:tabLst>
            </a:pPr>
            <a:r>
              <a:rPr lang="en-US" sz="1600" b="1" dirty="0">
                <a:solidFill>
                  <a:srgbClr val="365F91"/>
                </a:solidFill>
                <a:effectLst/>
                <a:latin typeface="Calibri" panose="020F0502020204030204" pitchFamily="34" charset="0"/>
                <a:ea typeface="Times New Roman" panose="02020603050405020304" pitchFamily="18" charset="0"/>
                <a:cs typeface="Mangal" panose="02040503050203030202" pitchFamily="18" charset="0"/>
              </a:rPr>
              <a:t> </a:t>
            </a:r>
            <a:endParaRPr lang="en-US" sz="24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a:tabLst>
                <a:tab pos="266700" algn="l"/>
              </a:tabLst>
            </a:pPr>
            <a:endParaRPr lang="en-US" sz="2400" b="1" dirty="0">
              <a:solidFill>
                <a:srgbClr val="000000"/>
              </a:solidFill>
              <a:latin typeface="Times New Roman" panose="02020603050405020304" pitchFamily="18" charset="0"/>
              <a:cs typeface="Times New Roman" panose="02020603050405020304" pitchFamily="18" charset="0"/>
            </a:endParaRPr>
          </a:p>
        </p:txBody>
      </p:sp>
      <p:sp>
        <p:nvSpPr>
          <p:cNvPr id="10" name="Rounded Rectangle 17">
            <a:extLst>
              <a:ext uri="{FF2B5EF4-FFF2-40B4-BE49-F238E27FC236}">
                <a16:creationId xmlns:a16="http://schemas.microsoft.com/office/drawing/2014/main" id="{B4E4E96D-8BED-6F27-89B2-1488F1F9A970}"/>
              </a:ext>
            </a:extLst>
          </p:cNvPr>
          <p:cNvSpPr/>
          <p:nvPr/>
        </p:nvSpPr>
        <p:spPr>
          <a:xfrm>
            <a:off x="3121964" y="6640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DATA DEFINITION LANGUAGE (Cont..)</a:t>
            </a:r>
          </a:p>
        </p:txBody>
      </p:sp>
      <p:sp>
        <p:nvSpPr>
          <p:cNvPr id="4" name="Rectangle 9">
            <a:extLst>
              <a:ext uri="{FF2B5EF4-FFF2-40B4-BE49-F238E27FC236}">
                <a16:creationId xmlns:a16="http://schemas.microsoft.com/office/drawing/2014/main" id="{3FFE535D-71C1-39D5-DB6A-1676A4B8BF52}"/>
              </a:ext>
            </a:extLst>
          </p:cNvPr>
          <p:cNvSpPr>
            <a:spLocks noChangeArrowheads="1"/>
          </p:cNvSpPr>
          <p:nvPr/>
        </p:nvSpPr>
        <p:spPr bwMode="auto">
          <a:xfrm>
            <a:off x="798658" y="1501299"/>
            <a:ext cx="10548896"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ALTER</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TABLE</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lang="en-US" altLang="en-US" sz="2400" dirty="0">
                <a:solidFill>
                  <a:srgbClr val="000000"/>
                </a:solidFill>
                <a:latin typeface="Courier New" panose="02070309020205020404" pitchFamily="49" charset="0"/>
                <a:cs typeface="Courier New" panose="02070309020205020404" pitchFamily="49" charset="0"/>
              </a:rPr>
              <a:t>person</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RENAME</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COLUMN</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birthdate </a:t>
            </a:r>
            <a:r>
              <a:rPr kumimoji="0" lang="en-US" altLang="en-US" sz="24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TO</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BoD</a:t>
            </a:r>
            <a:r>
              <a:rPr kumimoji="0" lang="en-US" altLang="en-US" sz="24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050" b="0" i="0" u="none" strike="noStrike" cap="none" normalizeH="0" baseline="0" dirty="0">
                <a:ln>
                  <a:noFill/>
                </a:ln>
                <a:solidFill>
                  <a:schemeClr val="tx1"/>
                </a:solidFill>
                <a:effectLst/>
              </a:rPr>
              <a:t> </a:t>
            </a:r>
            <a:endParaRPr kumimoji="0" lang="en-US" altLang="en-US" sz="3600" b="0" i="0" u="none" strike="noStrike" cap="none" normalizeH="0" baseline="0" dirty="0">
              <a:ln>
                <a:noFill/>
              </a:ln>
              <a:solidFill>
                <a:schemeClr val="tx1"/>
              </a:solidFill>
              <a:effectLst/>
              <a:latin typeface="Arial" panose="020B0604020202020204" pitchFamily="34" charset="0"/>
            </a:endParaRPr>
          </a:p>
        </p:txBody>
      </p:sp>
      <p:pic>
        <p:nvPicPr>
          <p:cNvPr id="8" name="Picture 7">
            <a:extLst>
              <a:ext uri="{FF2B5EF4-FFF2-40B4-BE49-F238E27FC236}">
                <a16:creationId xmlns:a16="http://schemas.microsoft.com/office/drawing/2014/main" id="{CBE58094-4260-9AC9-7BFB-86DF1E2916D7}"/>
              </a:ext>
            </a:extLst>
          </p:cNvPr>
          <p:cNvPicPr>
            <a:picLocks noChangeAspect="1"/>
          </p:cNvPicPr>
          <p:nvPr/>
        </p:nvPicPr>
        <p:blipFill>
          <a:blip r:embed="rId2"/>
          <a:stretch>
            <a:fillRect/>
          </a:stretch>
        </p:blipFill>
        <p:spPr>
          <a:xfrm>
            <a:off x="798657" y="2211049"/>
            <a:ext cx="10473945" cy="3695076"/>
          </a:xfrm>
          <a:prstGeom prst="rect">
            <a:avLst/>
          </a:prstGeom>
        </p:spPr>
      </p:pic>
    </p:spTree>
    <p:extLst>
      <p:ext uri="{BB962C8B-B14F-4D97-AF65-F5344CB8AC3E}">
        <p14:creationId xmlns:p14="http://schemas.microsoft.com/office/powerpoint/2010/main" val="2119522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A888F5F-E670-437E-BA45-5768F1391571}"/>
              </a:ext>
            </a:extLst>
          </p:cNvPr>
          <p:cNvSpPr>
            <a:spLocks noGrp="1"/>
          </p:cNvSpPr>
          <p:nvPr>
            <p:ph type="sldNum" sz="quarter" idx="12"/>
          </p:nvPr>
        </p:nvSpPr>
        <p:spPr/>
        <p:txBody>
          <a:bodyPr/>
          <a:lstStyle/>
          <a:p>
            <a:fld id="{CBABCCC1-BF11-4F37-963E-1BCD5B23FD72}" type="slidenum">
              <a:rPr lang="en-IN" smtClean="0"/>
              <a:t>13</a:t>
            </a:fld>
            <a:endParaRPr lang="en-IN"/>
          </a:p>
        </p:txBody>
      </p:sp>
      <p:sp>
        <p:nvSpPr>
          <p:cNvPr id="3" name="TextBox 2">
            <a:extLst>
              <a:ext uri="{FF2B5EF4-FFF2-40B4-BE49-F238E27FC236}">
                <a16:creationId xmlns:a16="http://schemas.microsoft.com/office/drawing/2014/main" id="{88A65320-0610-5C73-006C-88A1EDE9955B}"/>
              </a:ext>
            </a:extLst>
          </p:cNvPr>
          <p:cNvSpPr txBox="1"/>
          <p:nvPr/>
        </p:nvSpPr>
        <p:spPr>
          <a:xfrm>
            <a:off x="719461" y="812937"/>
            <a:ext cx="10892003" cy="1544012"/>
          </a:xfrm>
          <a:prstGeom prst="rect">
            <a:avLst/>
          </a:prstGeom>
          <a:noFill/>
        </p:spPr>
        <p:txBody>
          <a:bodyPr wrap="square">
            <a:spAutoFit/>
          </a:bodyPr>
          <a:lstStyle/>
          <a:p>
            <a:pPr algn="just">
              <a:lnSpc>
                <a:spcPct val="115000"/>
              </a:lnSpc>
              <a:spcAft>
                <a:spcPts val="1000"/>
              </a:spcAft>
            </a:pPr>
            <a:r>
              <a:rPr lang="en-US" sz="20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3) DROP command: </a:t>
            </a:r>
            <a:r>
              <a:rPr lang="en-US" sz="2000" dirty="0">
                <a:solidFill>
                  <a:srgbClr val="333333"/>
                </a:solidFill>
                <a:latin typeface="Times New Roman" panose="02020603050405020304" pitchFamily="18" charset="0"/>
                <a:cs typeface="Times New Roman" panose="02020603050405020304" pitchFamily="18" charset="0"/>
              </a:rPr>
              <a:t>This DDL command allows us to delete the database objects. With the help of the “DROP” command we can drop (delete) the whole structure in one go.</a:t>
            </a:r>
          </a:p>
          <a:p>
            <a:pPr>
              <a:tabLst>
                <a:tab pos="266700" algn="l"/>
              </a:tabLst>
            </a:pPr>
            <a:r>
              <a:rPr lang="en-US" sz="1600" b="1" dirty="0">
                <a:solidFill>
                  <a:srgbClr val="365F91"/>
                </a:solidFill>
                <a:effectLst/>
                <a:latin typeface="Calibri" panose="020F0502020204030204" pitchFamily="34" charset="0"/>
                <a:ea typeface="Times New Roman" panose="02020603050405020304" pitchFamily="18" charset="0"/>
                <a:cs typeface="Mangal" panose="02040503050203030202" pitchFamily="18" charset="0"/>
              </a:rPr>
              <a:t> </a:t>
            </a:r>
            <a:endParaRPr lang="en-US" sz="24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a:tabLst>
                <a:tab pos="266700" algn="l"/>
              </a:tabLst>
            </a:pPr>
            <a:endParaRPr lang="en-US" sz="2400" b="1" dirty="0">
              <a:solidFill>
                <a:srgbClr val="000000"/>
              </a:solidFill>
              <a:latin typeface="Times New Roman" panose="02020603050405020304" pitchFamily="18" charset="0"/>
              <a:cs typeface="Times New Roman" panose="02020603050405020304" pitchFamily="18" charset="0"/>
            </a:endParaRPr>
          </a:p>
        </p:txBody>
      </p:sp>
      <p:sp>
        <p:nvSpPr>
          <p:cNvPr id="10" name="Rounded Rectangle 17">
            <a:extLst>
              <a:ext uri="{FF2B5EF4-FFF2-40B4-BE49-F238E27FC236}">
                <a16:creationId xmlns:a16="http://schemas.microsoft.com/office/drawing/2014/main" id="{B4E4E96D-8BED-6F27-89B2-1488F1F9A970}"/>
              </a:ext>
            </a:extLst>
          </p:cNvPr>
          <p:cNvSpPr/>
          <p:nvPr/>
        </p:nvSpPr>
        <p:spPr>
          <a:xfrm>
            <a:off x="3121964" y="6640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DATA DEFINITION LANGUAGE (Cont..)</a:t>
            </a:r>
          </a:p>
        </p:txBody>
      </p:sp>
      <p:sp>
        <p:nvSpPr>
          <p:cNvPr id="5" name="Rectangle 1">
            <a:extLst>
              <a:ext uri="{FF2B5EF4-FFF2-40B4-BE49-F238E27FC236}">
                <a16:creationId xmlns:a16="http://schemas.microsoft.com/office/drawing/2014/main" id="{99D03E52-3A16-4089-6CF5-9263BC5FA016}"/>
              </a:ext>
            </a:extLst>
          </p:cNvPr>
          <p:cNvSpPr>
            <a:spLocks noChangeArrowheads="1"/>
          </p:cNvSpPr>
          <p:nvPr/>
        </p:nvSpPr>
        <p:spPr bwMode="auto">
          <a:xfrm>
            <a:off x="902256" y="1851669"/>
            <a:ext cx="10526412"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dirty="0">
                <a:solidFill>
                  <a:srgbClr val="0077AA"/>
                </a:solidFill>
                <a:latin typeface="Courier New" panose="02070309020205020404" pitchFamily="49" charset="0"/>
                <a:cs typeface="Courier New" panose="02070309020205020404" pitchFamily="49" charset="0"/>
              </a:rPr>
              <a:t>DROP</a:t>
            </a:r>
            <a:r>
              <a:rPr lang="en-US" altLang="en-US" sz="2400" dirty="0">
                <a:solidFill>
                  <a:srgbClr val="000000"/>
                </a:solidFill>
                <a:latin typeface="Courier New" panose="02070309020205020404" pitchFamily="49" charset="0"/>
                <a:cs typeface="Courier New" panose="02070309020205020404" pitchFamily="49" charset="0"/>
              </a:rPr>
              <a:t> </a:t>
            </a:r>
            <a:r>
              <a:rPr kumimoji="0" lang="en-US" altLang="en-US" sz="24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TABLE</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lang="en-US" altLang="en-US" sz="2400" dirty="0">
                <a:solidFill>
                  <a:srgbClr val="000000"/>
                </a:solidFill>
                <a:latin typeface="Courier New" panose="02070309020205020404" pitchFamily="49" charset="0"/>
                <a:cs typeface="Courier New" panose="02070309020205020404" pitchFamily="49" charset="0"/>
              </a:rPr>
              <a:t>person; </a:t>
            </a:r>
          </a:p>
        </p:txBody>
      </p:sp>
      <p:pic>
        <p:nvPicPr>
          <p:cNvPr id="7" name="Picture 6">
            <a:extLst>
              <a:ext uri="{FF2B5EF4-FFF2-40B4-BE49-F238E27FC236}">
                <a16:creationId xmlns:a16="http://schemas.microsoft.com/office/drawing/2014/main" id="{E6F6673F-E97B-5B81-456B-19A1723BD28E}"/>
              </a:ext>
            </a:extLst>
          </p:cNvPr>
          <p:cNvPicPr>
            <a:picLocks noChangeAspect="1"/>
          </p:cNvPicPr>
          <p:nvPr/>
        </p:nvPicPr>
        <p:blipFill>
          <a:blip r:embed="rId2"/>
          <a:stretch>
            <a:fillRect/>
          </a:stretch>
        </p:blipFill>
        <p:spPr>
          <a:xfrm>
            <a:off x="826935" y="2580483"/>
            <a:ext cx="10538129" cy="3276416"/>
          </a:xfrm>
          <a:prstGeom prst="rect">
            <a:avLst/>
          </a:prstGeom>
        </p:spPr>
      </p:pic>
    </p:spTree>
    <p:extLst>
      <p:ext uri="{BB962C8B-B14F-4D97-AF65-F5344CB8AC3E}">
        <p14:creationId xmlns:p14="http://schemas.microsoft.com/office/powerpoint/2010/main" val="3693760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0730DBA-BB27-320D-4D06-11FCED3CE082}"/>
              </a:ext>
            </a:extLst>
          </p:cNvPr>
          <p:cNvSpPr>
            <a:spLocks noGrp="1"/>
          </p:cNvSpPr>
          <p:nvPr>
            <p:ph type="sldNum" sz="quarter" idx="12"/>
          </p:nvPr>
        </p:nvSpPr>
        <p:spPr/>
        <p:txBody>
          <a:bodyPr/>
          <a:lstStyle/>
          <a:p>
            <a:fld id="{CBABCCC1-BF11-4F37-963E-1BCD5B23FD72}" type="slidenum">
              <a:rPr lang="en-IN" smtClean="0"/>
              <a:t>14</a:t>
            </a:fld>
            <a:endParaRPr lang="en-IN"/>
          </a:p>
        </p:txBody>
      </p:sp>
      <p:sp>
        <p:nvSpPr>
          <p:cNvPr id="3" name="TextBox 2">
            <a:extLst>
              <a:ext uri="{FF2B5EF4-FFF2-40B4-BE49-F238E27FC236}">
                <a16:creationId xmlns:a16="http://schemas.microsoft.com/office/drawing/2014/main" id="{98F041A9-9595-1584-EF55-1199BF3513BE}"/>
              </a:ext>
            </a:extLst>
          </p:cNvPr>
          <p:cNvSpPr txBox="1"/>
          <p:nvPr/>
        </p:nvSpPr>
        <p:spPr>
          <a:xfrm>
            <a:off x="1031570" y="716929"/>
            <a:ext cx="10382081" cy="3805465"/>
          </a:xfrm>
          <a:prstGeom prst="rect">
            <a:avLst/>
          </a:prstGeom>
          <a:noFill/>
        </p:spPr>
        <p:txBody>
          <a:bodyPr wrap="square">
            <a:spAutoFit/>
          </a:bodyPr>
          <a:lstStyle/>
          <a:p>
            <a:pPr algn="just">
              <a:lnSpc>
                <a:spcPct val="115000"/>
              </a:lnSpc>
              <a:spcAft>
                <a:spcPts val="500"/>
              </a:spcAft>
            </a:pPr>
            <a:r>
              <a:rPr lang="en-US" sz="20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4</a:t>
            </a:r>
            <a:r>
              <a:rPr lang="en-US" sz="20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 TRUNCATE command:</a:t>
            </a:r>
            <a:r>
              <a:rPr lang="en-US" sz="20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solidFill>
                  <a:srgbClr val="333333"/>
                </a:solidFill>
                <a:latin typeface="Times New Roman" panose="02020603050405020304" pitchFamily="18" charset="0"/>
                <a:cs typeface="Times New Roman" panose="02020603050405020304" pitchFamily="18" charset="0"/>
              </a:rPr>
              <a:t>It is used to delete all the data from the table. With the help of the “TRUNCATE” command, we can’t delete the single row as here WHERE clause is not used. </a:t>
            </a:r>
          </a:p>
          <a:p>
            <a:pPr algn="just">
              <a:lnSpc>
                <a:spcPct val="115000"/>
              </a:lnSpc>
              <a:spcAft>
                <a:spcPts val="500"/>
              </a:spcAft>
            </a:pPr>
            <a:r>
              <a:rPr lang="en-US" sz="2000" b="1" dirty="0">
                <a:solidFill>
                  <a:srgbClr val="333333"/>
                </a:solidFill>
                <a:latin typeface="Times New Roman" panose="02020603050405020304" pitchFamily="18" charset="0"/>
                <a:cs typeface="Times New Roman" panose="02020603050405020304" pitchFamily="18" charset="0"/>
              </a:rPr>
              <a:t>Syntax of TRUNCATE TABLE command: </a:t>
            </a:r>
            <a:r>
              <a:rPr lang="en-US" altLang="en-US" sz="2000" b="1" dirty="0">
                <a:solidFill>
                  <a:srgbClr val="006699"/>
                </a:solidFill>
                <a:latin typeface="Times New Roman" panose="02020603050405020304" pitchFamily="18" charset="0"/>
                <a:cs typeface="Times New Roman" panose="02020603050405020304" pitchFamily="18" charset="0"/>
              </a:rPr>
              <a:t>TRUNCATE TABLE </a:t>
            </a:r>
            <a:r>
              <a:rPr lang="en-US" altLang="en-US" sz="2000" dirty="0" err="1">
                <a:solidFill>
                  <a:srgbClr val="000000"/>
                </a:solidFill>
                <a:latin typeface="Times New Roman" panose="02020603050405020304" pitchFamily="18" charset="0"/>
                <a:cs typeface="Times New Roman" panose="02020603050405020304" pitchFamily="18" charset="0"/>
              </a:rPr>
              <a:t>table_name</a:t>
            </a:r>
            <a:r>
              <a:rPr lang="en-US" altLang="en-US" sz="2000" dirty="0">
                <a:solidFill>
                  <a:srgbClr val="000000"/>
                </a:solidFill>
                <a:latin typeface="Times New Roman" panose="02020603050405020304" pitchFamily="18" charset="0"/>
                <a:cs typeface="Times New Roman" panose="02020603050405020304" pitchFamily="18" charset="0"/>
              </a:rPr>
              <a:t>;</a:t>
            </a:r>
          </a:p>
          <a:p>
            <a:pPr algn="just">
              <a:lnSpc>
                <a:spcPct val="115000"/>
              </a:lnSpc>
              <a:spcAft>
                <a:spcPts val="500"/>
              </a:spcAft>
            </a:pPr>
            <a:endParaRPr lang="en-US" altLang="en-US" sz="2000" dirty="0">
              <a:solidFill>
                <a:srgbClr val="000000"/>
              </a:solidFill>
              <a:latin typeface="Times New Roman" panose="02020603050405020304" pitchFamily="18" charset="0"/>
              <a:cs typeface="Times New Roman" panose="02020603050405020304" pitchFamily="18" charset="0"/>
            </a:endParaRPr>
          </a:p>
          <a:p>
            <a:pPr algn="just">
              <a:lnSpc>
                <a:spcPct val="115000"/>
              </a:lnSpc>
              <a:spcAft>
                <a:spcPts val="1000"/>
              </a:spcAft>
            </a:pPr>
            <a:r>
              <a:rPr lang="en-US" sz="20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5) </a:t>
            </a:r>
            <a:r>
              <a:rPr lang="en-IN" sz="2000" b="1" dirty="0">
                <a:solidFill>
                  <a:srgbClr val="FF0000"/>
                </a:solidFill>
                <a:latin typeface="Times New Roman" panose="02020603050405020304" pitchFamily="18" charset="0"/>
                <a:cs typeface="Times New Roman" panose="02020603050405020304" pitchFamily="18" charset="0"/>
              </a:rPr>
              <a:t>ALTER TABLE RENAME </a:t>
            </a:r>
            <a:r>
              <a:rPr lang="en-US" sz="2000" b="1" dirty="0">
                <a:solidFill>
                  <a:srgbClr val="FF0000"/>
                </a:solidFill>
                <a:latin typeface="Times New Roman" panose="02020603050405020304" pitchFamily="18" charset="0"/>
                <a:cs typeface="Times New Roman" panose="02020603050405020304" pitchFamily="18" charset="0"/>
              </a:rPr>
              <a:t>command</a:t>
            </a:r>
            <a:r>
              <a:rPr lang="en-US" sz="20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solidFill>
                  <a:srgbClr val="333333"/>
                </a:solidFill>
                <a:latin typeface="Times New Roman" panose="02020603050405020304" pitchFamily="18" charset="0"/>
                <a:cs typeface="Times New Roman" panose="02020603050405020304" pitchFamily="18" charset="0"/>
              </a:rPr>
              <a:t>This DDL command allows the users to change the name of the existing table. For example, To rename from person to employee, use the following ALTER TABLE statement:</a:t>
            </a:r>
            <a:endParaRPr lang="en-US" altLang="en-US" sz="2000" dirty="0">
              <a:solidFill>
                <a:srgbClr val="333333"/>
              </a:solidFill>
              <a:latin typeface="Times New Roman" panose="02020603050405020304" pitchFamily="18" charset="0"/>
              <a:cs typeface="Times New Roman" panose="02020603050405020304" pitchFamily="18" charset="0"/>
            </a:endParaRPr>
          </a:p>
          <a:p>
            <a:pPr algn="just">
              <a:lnSpc>
                <a:spcPct val="115000"/>
              </a:lnSpc>
              <a:spcAft>
                <a:spcPts val="500"/>
              </a:spcAft>
            </a:pPr>
            <a:endParaRPr lang="en-IN" sz="2600" b="1" dirty="0">
              <a:solidFill>
                <a:srgbClr val="FF0000"/>
              </a:solidFill>
              <a:latin typeface="Times New Roman" panose="02020603050405020304" pitchFamily="18" charset="0"/>
              <a:cs typeface="Times New Roman" panose="02020603050405020304" pitchFamily="18" charset="0"/>
            </a:endParaRPr>
          </a:p>
          <a:p>
            <a:pPr algn="just">
              <a:lnSpc>
                <a:spcPct val="115000"/>
              </a:lnSpc>
              <a:spcAft>
                <a:spcPts val="500"/>
              </a:spcAft>
            </a:pPr>
            <a:endParaRPr lang="en-US" sz="2400" dirty="0">
              <a:solidFill>
                <a:srgbClr val="333333"/>
              </a:solidFill>
              <a:latin typeface="Times New Roman" panose="02020603050405020304" pitchFamily="18" charset="0"/>
              <a:cs typeface="Times New Roman" panose="02020603050405020304" pitchFamily="18" charset="0"/>
            </a:endParaRPr>
          </a:p>
        </p:txBody>
      </p:sp>
      <p:sp>
        <p:nvSpPr>
          <p:cNvPr id="4" name="Rounded Rectangle 17">
            <a:extLst>
              <a:ext uri="{FF2B5EF4-FFF2-40B4-BE49-F238E27FC236}">
                <a16:creationId xmlns:a16="http://schemas.microsoft.com/office/drawing/2014/main" id="{F6DF30D0-9725-8B39-7F12-6D2CD51894B3}"/>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DATA DEFINITION LANGUAGE (Cont..)</a:t>
            </a:r>
          </a:p>
        </p:txBody>
      </p:sp>
      <p:sp>
        <p:nvSpPr>
          <p:cNvPr id="5" name="Rectangle 1">
            <a:extLst>
              <a:ext uri="{FF2B5EF4-FFF2-40B4-BE49-F238E27FC236}">
                <a16:creationId xmlns:a16="http://schemas.microsoft.com/office/drawing/2014/main" id="{2AD2B7D4-E37B-02EC-2D87-7354C3BD4D6B}"/>
              </a:ext>
            </a:extLst>
          </p:cNvPr>
          <p:cNvSpPr>
            <a:spLocks noChangeArrowheads="1"/>
          </p:cNvSpPr>
          <p:nvPr/>
        </p:nvSpPr>
        <p:spPr bwMode="auto">
          <a:xfrm>
            <a:off x="1161042" y="3658091"/>
            <a:ext cx="10123136" cy="30777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ALTER</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0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TABLE</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person </a:t>
            </a:r>
            <a:r>
              <a:rPr kumimoji="0" lang="en-US" altLang="en-US" sz="20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RENAME</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0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TO</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employee</a:t>
            </a:r>
            <a:r>
              <a:rPr kumimoji="0" lang="en-US" altLang="en-US" sz="20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000" b="0" i="0" u="none" strike="noStrike" cap="none" normalizeH="0" baseline="0" dirty="0">
                <a:ln>
                  <a:noFill/>
                </a:ln>
                <a:solidFill>
                  <a:schemeClr val="tx1"/>
                </a:solidFill>
                <a:effectLst/>
              </a:rPr>
              <a:t> </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41098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111894F-7AB4-9288-BD9E-2F601F9B16D8}"/>
              </a:ext>
            </a:extLst>
          </p:cNvPr>
          <p:cNvSpPr>
            <a:spLocks noGrp="1"/>
          </p:cNvSpPr>
          <p:nvPr>
            <p:ph type="sldNum" sz="quarter" idx="12"/>
          </p:nvPr>
        </p:nvSpPr>
        <p:spPr/>
        <p:txBody>
          <a:bodyPr/>
          <a:lstStyle/>
          <a:p>
            <a:fld id="{CBABCCC1-BF11-4F37-963E-1BCD5B23FD72}" type="slidenum">
              <a:rPr lang="en-IN" smtClean="0"/>
              <a:t>15</a:t>
            </a:fld>
            <a:endParaRPr lang="en-IN"/>
          </a:p>
        </p:txBody>
      </p:sp>
      <p:sp>
        <p:nvSpPr>
          <p:cNvPr id="3" name="Rounded Rectangle 17">
            <a:extLst>
              <a:ext uri="{FF2B5EF4-FFF2-40B4-BE49-F238E27FC236}">
                <a16:creationId xmlns:a16="http://schemas.microsoft.com/office/drawing/2014/main" id="{BFE5E559-4836-F22C-856F-FC95049019D7}"/>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DATA MANIPULATION LANGUAGE</a:t>
            </a:r>
          </a:p>
        </p:txBody>
      </p:sp>
      <p:sp>
        <p:nvSpPr>
          <p:cNvPr id="5" name="TextBox 4">
            <a:extLst>
              <a:ext uri="{FF2B5EF4-FFF2-40B4-BE49-F238E27FC236}">
                <a16:creationId xmlns:a16="http://schemas.microsoft.com/office/drawing/2014/main" id="{33A838E5-872B-A13B-9630-FD043A599838}"/>
              </a:ext>
            </a:extLst>
          </p:cNvPr>
          <p:cNvSpPr txBox="1"/>
          <p:nvPr/>
        </p:nvSpPr>
        <p:spPr>
          <a:xfrm>
            <a:off x="892821" y="834124"/>
            <a:ext cx="10406358" cy="4790863"/>
          </a:xfrm>
          <a:prstGeom prst="rect">
            <a:avLst/>
          </a:prstGeom>
          <a:noFill/>
        </p:spPr>
        <p:txBody>
          <a:bodyPr wrap="square">
            <a:spAutoFit/>
          </a:bodyPr>
          <a:lstStyle/>
          <a:p>
            <a:pPr algn="just">
              <a:lnSpc>
                <a:spcPct val="115000"/>
              </a:lnSpc>
              <a:spcBef>
                <a:spcPts val="315"/>
              </a:spcBef>
              <a:spcAft>
                <a:spcPts val="1000"/>
              </a:spcAft>
            </a:pPr>
            <a:r>
              <a:rPr lang="en-US" sz="2000" b="1" kern="180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DML Commands in SQL</a:t>
            </a: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15000"/>
              </a:lnSpc>
              <a:spcAft>
                <a:spcPts val="1000"/>
              </a:spcAft>
            </a:pPr>
            <a:r>
              <a:rPr lang="en-US" sz="20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DML is an abbreviation of </a:t>
            </a:r>
            <a:r>
              <a:rPr lang="en-US" sz="2000" b="1"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Data Manipulation Language</a:t>
            </a:r>
            <a:r>
              <a:rPr lang="en-US" sz="20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15000"/>
              </a:lnSpc>
              <a:spcAft>
                <a:spcPts val="1000"/>
              </a:spcAft>
            </a:pPr>
            <a:r>
              <a:rPr lang="en-US" sz="20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The DML commands in Structured Query Language change the data present in the SQL database. We can easily access, store, modify, update and delete the existing records from the database using DML commands.</a:t>
            </a: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15000"/>
              </a:lnSpc>
              <a:spcAft>
                <a:spcPts val="1000"/>
              </a:spcAft>
            </a:pPr>
            <a:r>
              <a:rPr lang="en-US" sz="20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Following are the four main DML commands in SQL:</a:t>
            </a: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ct val="115000"/>
              </a:lnSpc>
              <a:spcBef>
                <a:spcPts val="250"/>
              </a:spcBef>
              <a:spcAft>
                <a:spcPts val="1000"/>
              </a:spcAft>
              <a:buClr>
                <a:srgbClr val="FF0000"/>
              </a:buClr>
              <a:buFont typeface="+mj-lt"/>
              <a:buAutoNum type="arabicPeriod"/>
              <a:tabLst>
                <a:tab pos="457200" algn="l"/>
              </a:tabLst>
            </a:pP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SELECT Command</a:t>
            </a: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ct val="115000"/>
              </a:lnSpc>
              <a:spcBef>
                <a:spcPts val="250"/>
              </a:spcBef>
              <a:spcAft>
                <a:spcPts val="1000"/>
              </a:spcAft>
              <a:buClr>
                <a:srgbClr val="FF0000"/>
              </a:buClr>
              <a:buFont typeface="+mj-lt"/>
              <a:buAutoNum type="arabicPeriod"/>
              <a:tabLst>
                <a:tab pos="457200" algn="l"/>
              </a:tabLst>
            </a:pP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INSERT Command</a:t>
            </a: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ct val="115000"/>
              </a:lnSpc>
              <a:spcBef>
                <a:spcPts val="250"/>
              </a:spcBef>
              <a:spcAft>
                <a:spcPts val="1000"/>
              </a:spcAft>
              <a:buClr>
                <a:srgbClr val="FF0000"/>
              </a:buClr>
              <a:buFont typeface="+mj-lt"/>
              <a:buAutoNum type="arabicPeriod"/>
              <a:tabLst>
                <a:tab pos="457200" algn="l"/>
              </a:tabLst>
            </a:pP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UPDATE Command</a:t>
            </a: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ct val="115000"/>
              </a:lnSpc>
              <a:spcBef>
                <a:spcPts val="250"/>
              </a:spcBef>
              <a:spcAft>
                <a:spcPts val="1000"/>
              </a:spcAft>
              <a:buClr>
                <a:srgbClr val="FF0000"/>
              </a:buClr>
              <a:buFont typeface="+mj-lt"/>
              <a:buAutoNum type="arabicPeriod"/>
              <a:tabLst>
                <a:tab pos="457200" algn="l"/>
              </a:tabLst>
            </a:pP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DELETE Command</a:t>
            </a: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2114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12DA261-B1B7-AA23-1A85-FA2E032D59E7}"/>
              </a:ext>
            </a:extLst>
          </p:cNvPr>
          <p:cNvSpPr>
            <a:spLocks noGrp="1"/>
          </p:cNvSpPr>
          <p:nvPr>
            <p:ph type="sldNum" sz="quarter" idx="12"/>
          </p:nvPr>
        </p:nvSpPr>
        <p:spPr/>
        <p:txBody>
          <a:bodyPr/>
          <a:lstStyle/>
          <a:p>
            <a:fld id="{CBABCCC1-BF11-4F37-963E-1BCD5B23FD72}" type="slidenum">
              <a:rPr lang="en-IN" smtClean="0"/>
              <a:t>16</a:t>
            </a:fld>
            <a:endParaRPr lang="en-IN"/>
          </a:p>
        </p:txBody>
      </p:sp>
      <p:sp>
        <p:nvSpPr>
          <p:cNvPr id="3" name="TextBox 2">
            <a:extLst>
              <a:ext uri="{FF2B5EF4-FFF2-40B4-BE49-F238E27FC236}">
                <a16:creationId xmlns:a16="http://schemas.microsoft.com/office/drawing/2014/main" id="{239C4023-503F-3721-E5AC-BB29A05EA16C}"/>
              </a:ext>
            </a:extLst>
          </p:cNvPr>
          <p:cNvSpPr txBox="1"/>
          <p:nvPr/>
        </p:nvSpPr>
        <p:spPr>
          <a:xfrm>
            <a:off x="904959" y="938928"/>
            <a:ext cx="10382081" cy="4468274"/>
          </a:xfrm>
          <a:prstGeom prst="rect">
            <a:avLst/>
          </a:prstGeom>
          <a:noFill/>
        </p:spPr>
        <p:txBody>
          <a:bodyPr wrap="square">
            <a:spAutoFit/>
          </a:bodyPr>
          <a:lstStyle/>
          <a:p>
            <a:pPr algn="just">
              <a:lnSpc>
                <a:spcPct val="115000"/>
              </a:lnSpc>
              <a:spcAft>
                <a:spcPts val="1000"/>
              </a:spcAft>
            </a:pPr>
            <a:r>
              <a:rPr lang="en-US" sz="20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1) SELECT command: </a:t>
            </a:r>
            <a:r>
              <a:rPr lang="en-US" sz="2000" dirty="0">
                <a:solidFill>
                  <a:srgbClr val="333333"/>
                </a:solidFill>
                <a:latin typeface="Times New Roman" panose="02020603050405020304" pitchFamily="18" charset="0"/>
                <a:cs typeface="Times New Roman" panose="02020603050405020304" pitchFamily="18" charset="0"/>
              </a:rPr>
              <a:t>This DML command allows us to access the stored records from the tables. We can also use the condition in the SELECT command for accessing the particular rows.</a:t>
            </a:r>
            <a:endParaRPr lang="en-US" sz="20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15000"/>
              </a:lnSpc>
              <a:spcAft>
                <a:spcPts val="1000"/>
              </a:spcAft>
            </a:pPr>
            <a:r>
              <a:rPr lang="en-US" sz="20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Syntax of SELECT DML command</a:t>
            </a: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15000"/>
              </a:lnSpc>
              <a:spcAft>
                <a:spcPts val="500"/>
              </a:spcAft>
            </a:pPr>
            <a:r>
              <a:rPr lang="en-US" sz="2000" b="1" dirty="0">
                <a:solidFill>
                  <a:srgbClr val="006699"/>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000" b="1" dirty="0">
                <a:solidFill>
                  <a:srgbClr val="006699"/>
                </a:solidFill>
                <a:effectLst/>
                <a:latin typeface="Times New Roman" panose="02020603050405020304" pitchFamily="18" charset="0"/>
                <a:ea typeface="Times New Roman" panose="02020603050405020304" pitchFamily="18" charset="0"/>
                <a:cs typeface="Times New Roman" panose="02020603050405020304" pitchFamily="18" charset="0"/>
              </a:rPr>
              <a:t>SELECT</a:t>
            </a: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column_Name_1, column_Name_2, ….., column_Name_N	</a:t>
            </a:r>
            <a:r>
              <a:rPr lang="en-US" sz="2000" b="1" dirty="0">
                <a:solidFill>
                  <a:srgbClr val="006699"/>
                </a:solidFill>
                <a:effectLst/>
                <a:latin typeface="Times New Roman" panose="02020603050405020304" pitchFamily="18" charset="0"/>
                <a:ea typeface="Times New Roman" panose="02020603050405020304" pitchFamily="18" charset="0"/>
                <a:cs typeface="Times New Roman" panose="02020603050405020304" pitchFamily="18" charset="0"/>
              </a:rPr>
              <a:t>FROM</a:t>
            </a: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Name_of_table;  </a:t>
            </a: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15000"/>
              </a:lnSpc>
              <a:spcAft>
                <a:spcPts val="1000"/>
              </a:spcAft>
            </a:pPr>
            <a:r>
              <a:rPr lang="en-US" sz="20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Here, </a:t>
            </a:r>
            <a:r>
              <a:rPr lang="en-US" sz="2000" b="1"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column_Name_1, column_Name_2, ….., column_Name_N</a:t>
            </a:r>
            <a:r>
              <a:rPr lang="en-US" sz="20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are the names of those columns whose data we want to retrieve from the table.</a:t>
            </a:r>
          </a:p>
          <a:p>
            <a:pPr algn="just">
              <a:lnSpc>
                <a:spcPct val="115000"/>
              </a:lnSpc>
              <a:spcAft>
                <a:spcPts val="1000"/>
              </a:spcAft>
            </a:pPr>
            <a:r>
              <a:rPr lang="en-US" sz="2000" b="1" dirty="0">
                <a:solidFill>
                  <a:srgbClr val="FF0000"/>
                </a:solidFill>
                <a:latin typeface="Times New Roman" panose="02020603050405020304" pitchFamily="18" charset="0"/>
                <a:cs typeface="Times New Roman" panose="02020603050405020304" pitchFamily="18" charset="0"/>
              </a:rPr>
              <a:t>If we want to retrieve all the data from all the columns of the table, we have to use the following SELECT command:</a:t>
            </a:r>
            <a:endParaRPr lang="en-IN" sz="2000" b="1" dirty="0">
              <a:solidFill>
                <a:srgbClr val="FF0000"/>
              </a:solidFill>
              <a:latin typeface="Times New Roman" panose="02020603050405020304" pitchFamily="18" charset="0"/>
              <a:cs typeface="Times New Roman" panose="02020603050405020304" pitchFamily="18" charset="0"/>
            </a:endParaRPr>
          </a:p>
          <a:p>
            <a:pPr algn="just">
              <a:lnSpc>
                <a:spcPct val="115000"/>
              </a:lnSpc>
              <a:spcAft>
                <a:spcPts val="500"/>
              </a:spcAft>
            </a:pPr>
            <a:r>
              <a:rPr lang="en-US" sz="1600" b="1" dirty="0">
                <a:solidFill>
                  <a:srgbClr val="006699"/>
                </a:solidFill>
                <a:effectLst/>
                <a:latin typeface="Segoe UI" panose="020B0502040204020203" pitchFamily="34" charset="0"/>
                <a:ea typeface="Times New Roman" panose="02020603050405020304" pitchFamily="18" charset="0"/>
                <a:cs typeface="Mangal" panose="02040503050203030202" pitchFamily="18" charset="0"/>
              </a:rPr>
              <a:t>	</a:t>
            </a:r>
            <a:r>
              <a:rPr lang="en-US" b="1" dirty="0">
                <a:solidFill>
                  <a:srgbClr val="006699"/>
                </a:solidFill>
                <a:effectLst/>
                <a:latin typeface="Times New Roman" panose="02020603050405020304" pitchFamily="18" charset="0"/>
                <a:ea typeface="Times New Roman" panose="02020603050405020304" pitchFamily="18" charset="0"/>
                <a:cs typeface="Times New Roman" panose="02020603050405020304" pitchFamily="18" charset="0"/>
              </a:rPr>
              <a:t>SELECT</a:t>
            </a:r>
            <a:r>
              <a:rPr lang="en-US"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 </a:t>
            </a:r>
            <a:r>
              <a:rPr lang="en-US" b="1" dirty="0">
                <a:solidFill>
                  <a:srgbClr val="006699"/>
                </a:solidFill>
                <a:effectLst/>
                <a:latin typeface="Times New Roman" panose="02020603050405020304" pitchFamily="18" charset="0"/>
                <a:ea typeface="Times New Roman" panose="02020603050405020304" pitchFamily="18" charset="0"/>
                <a:cs typeface="Times New Roman" panose="02020603050405020304" pitchFamily="18" charset="0"/>
              </a:rPr>
              <a:t>FROM</a:t>
            </a:r>
            <a:r>
              <a:rPr lang="en-US"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table_name</a:t>
            </a:r>
            <a:r>
              <a:rPr lang="en-US"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15000"/>
              </a:lnSpc>
              <a:spcAft>
                <a:spcPts val="1000"/>
              </a:spcAft>
            </a:pP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4" name="Rounded Rectangle 17">
            <a:extLst>
              <a:ext uri="{FF2B5EF4-FFF2-40B4-BE49-F238E27FC236}">
                <a16:creationId xmlns:a16="http://schemas.microsoft.com/office/drawing/2014/main" id="{33B92FFD-4B9C-D687-E19E-07AACC85F5E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DATA MANIPULATION LANGUAGE (Cont..)</a:t>
            </a:r>
          </a:p>
        </p:txBody>
      </p:sp>
    </p:spTree>
    <p:extLst>
      <p:ext uri="{BB962C8B-B14F-4D97-AF65-F5344CB8AC3E}">
        <p14:creationId xmlns:p14="http://schemas.microsoft.com/office/powerpoint/2010/main" val="3638756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12DA261-B1B7-AA23-1A85-FA2E032D59E7}"/>
              </a:ext>
            </a:extLst>
          </p:cNvPr>
          <p:cNvSpPr>
            <a:spLocks noGrp="1"/>
          </p:cNvSpPr>
          <p:nvPr>
            <p:ph type="sldNum" sz="quarter" idx="12"/>
          </p:nvPr>
        </p:nvSpPr>
        <p:spPr/>
        <p:txBody>
          <a:bodyPr/>
          <a:lstStyle/>
          <a:p>
            <a:fld id="{CBABCCC1-BF11-4F37-963E-1BCD5B23FD72}" type="slidenum">
              <a:rPr lang="en-IN" smtClean="0"/>
              <a:t>17</a:t>
            </a:fld>
            <a:endParaRPr lang="en-IN"/>
          </a:p>
        </p:txBody>
      </p:sp>
      <p:sp>
        <p:nvSpPr>
          <p:cNvPr id="3" name="TextBox 2">
            <a:extLst>
              <a:ext uri="{FF2B5EF4-FFF2-40B4-BE49-F238E27FC236}">
                <a16:creationId xmlns:a16="http://schemas.microsoft.com/office/drawing/2014/main" id="{AB559641-7E02-B8EE-4C87-0E98C801B3F0}"/>
              </a:ext>
            </a:extLst>
          </p:cNvPr>
          <p:cNvSpPr txBox="1"/>
          <p:nvPr/>
        </p:nvSpPr>
        <p:spPr>
          <a:xfrm>
            <a:off x="904959" y="433601"/>
            <a:ext cx="10382081" cy="287643"/>
          </a:xfrm>
          <a:prstGeom prst="rect">
            <a:avLst/>
          </a:prstGeom>
          <a:noFill/>
        </p:spPr>
        <p:txBody>
          <a:bodyPr wrap="square">
            <a:spAutoFit/>
          </a:bodyPr>
          <a:lstStyle/>
          <a:p>
            <a:pPr algn="just">
              <a:lnSpc>
                <a:spcPct val="115000"/>
              </a:lnSpc>
              <a:spcAft>
                <a:spcPts val="1000"/>
              </a:spcAft>
            </a:pP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1B6ABDEC-E300-6BA6-89B7-3AF400DB40CD}"/>
              </a:ext>
            </a:extLst>
          </p:cNvPr>
          <p:cNvSpPr txBox="1"/>
          <p:nvPr/>
        </p:nvSpPr>
        <p:spPr>
          <a:xfrm>
            <a:off x="836350" y="753585"/>
            <a:ext cx="10772522" cy="2473498"/>
          </a:xfrm>
          <a:prstGeom prst="rect">
            <a:avLst/>
          </a:prstGeom>
          <a:noFill/>
        </p:spPr>
        <p:txBody>
          <a:bodyPr wrap="square">
            <a:spAutoFit/>
          </a:bodyPr>
          <a:lstStyle/>
          <a:p>
            <a:pPr algn="just">
              <a:lnSpc>
                <a:spcPct val="115000"/>
              </a:lnSpc>
              <a:spcBef>
                <a:spcPts val="1000"/>
              </a:spcBef>
            </a:pPr>
            <a:r>
              <a:rPr lang="en-US" sz="20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Examples of SELECT Command</a:t>
            </a:r>
            <a:endParaRPr lang="en-US" sz="2000" b="1"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endParaRPr lang="en-US" sz="2000"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sz="2000" b="1"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Example 1: This example shows all the values of every column from the table.</a:t>
            </a:r>
            <a:endParaRPr lang="en-IN" sz="12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endParaRPr lang="en-US" sz="20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15000"/>
              </a:lnSpc>
              <a:spcAft>
                <a:spcPts val="1000"/>
              </a:spcAft>
            </a:pPr>
            <a:r>
              <a:rPr lang="en-US" sz="2000" b="1" dirty="0">
                <a:solidFill>
                  <a:srgbClr val="006699"/>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15000"/>
              </a:lnSpc>
              <a:spcAft>
                <a:spcPts val="1000"/>
              </a:spcAft>
            </a:pPr>
            <a:endParaRPr lang="en-US" dirty="0">
              <a:solidFill>
                <a:srgbClr val="333333"/>
              </a:solidFill>
              <a:latin typeface="Segoe UI" panose="020B0502040204020203" pitchFamily="34" charset="0"/>
              <a:ea typeface="Times New Roman" panose="02020603050405020304" pitchFamily="18" charset="0"/>
              <a:cs typeface="Mangal" panose="02040503050203030202" pitchFamily="18" charset="0"/>
            </a:endParaRPr>
          </a:p>
          <a:p>
            <a:pPr algn="just">
              <a:lnSpc>
                <a:spcPct val="115000"/>
              </a:lnSpc>
              <a:spcAft>
                <a:spcPts val="1000"/>
              </a:spcAft>
            </a:pPr>
            <a:endParaRPr lang="en-IN" sz="1050" dirty="0">
              <a:effectLst/>
              <a:latin typeface="Calibri" panose="020F0502020204030204" pitchFamily="34" charset="0"/>
              <a:ea typeface="Times New Roman" panose="02020603050405020304" pitchFamily="18" charset="0"/>
              <a:cs typeface="Mangal" panose="02040503050203030202" pitchFamily="18" charset="0"/>
            </a:endParaRPr>
          </a:p>
        </p:txBody>
      </p:sp>
      <p:sp>
        <p:nvSpPr>
          <p:cNvPr id="5" name="Rounded Rectangle 17">
            <a:extLst>
              <a:ext uri="{FF2B5EF4-FFF2-40B4-BE49-F238E27FC236}">
                <a16:creationId xmlns:a16="http://schemas.microsoft.com/office/drawing/2014/main" id="{11975615-8597-1B2D-D917-F017F9181920}"/>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DATA MANIPULATION LANGUAGE (Cont..)</a:t>
            </a:r>
          </a:p>
        </p:txBody>
      </p:sp>
      <p:sp>
        <p:nvSpPr>
          <p:cNvPr id="6" name="Rectangle 1">
            <a:extLst>
              <a:ext uri="{FF2B5EF4-FFF2-40B4-BE49-F238E27FC236}">
                <a16:creationId xmlns:a16="http://schemas.microsoft.com/office/drawing/2014/main" id="{C6923EDF-8EA3-29BA-1044-724A51289535}"/>
              </a:ext>
            </a:extLst>
          </p:cNvPr>
          <p:cNvSpPr>
            <a:spLocks noChangeArrowheads="1"/>
          </p:cNvSpPr>
          <p:nvPr/>
        </p:nvSpPr>
        <p:spPr bwMode="auto">
          <a:xfrm>
            <a:off x="904959" y="1938004"/>
            <a:ext cx="9872282" cy="30777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SELECT</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000"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0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FROM</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lang="en-US" altLang="en-US" sz="2000" dirty="0">
                <a:solidFill>
                  <a:srgbClr val="000000"/>
                </a:solidFill>
                <a:latin typeface="Courier New" panose="02070309020205020404" pitchFamily="49" charset="0"/>
                <a:cs typeface="Courier New" panose="02070309020205020404" pitchFamily="49" charset="0"/>
              </a:rPr>
              <a:t>person</a:t>
            </a:r>
            <a:r>
              <a:rPr kumimoji="0" lang="en-US" altLang="en-US" sz="20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000" b="0" i="0" u="none" strike="noStrike" cap="none" normalizeH="0" baseline="0" dirty="0">
                <a:ln>
                  <a:noFill/>
                </a:ln>
                <a:solidFill>
                  <a:schemeClr val="tx1"/>
                </a:solidFill>
                <a:effectLst/>
              </a:rPr>
              <a:t> </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pic>
        <p:nvPicPr>
          <p:cNvPr id="8" name="Picture 7">
            <a:extLst>
              <a:ext uri="{FF2B5EF4-FFF2-40B4-BE49-F238E27FC236}">
                <a16:creationId xmlns:a16="http://schemas.microsoft.com/office/drawing/2014/main" id="{4390349B-F652-54EA-B2FE-E367488E7513}"/>
              </a:ext>
            </a:extLst>
          </p:cNvPr>
          <p:cNvPicPr>
            <a:picLocks noChangeAspect="1"/>
          </p:cNvPicPr>
          <p:nvPr/>
        </p:nvPicPr>
        <p:blipFill>
          <a:blip r:embed="rId2"/>
          <a:stretch>
            <a:fillRect/>
          </a:stretch>
        </p:blipFill>
        <p:spPr>
          <a:xfrm>
            <a:off x="904959" y="2450890"/>
            <a:ext cx="9872281" cy="3560165"/>
          </a:xfrm>
          <a:prstGeom prst="rect">
            <a:avLst/>
          </a:prstGeom>
        </p:spPr>
      </p:pic>
    </p:spTree>
    <p:extLst>
      <p:ext uri="{BB962C8B-B14F-4D97-AF65-F5344CB8AC3E}">
        <p14:creationId xmlns:p14="http://schemas.microsoft.com/office/powerpoint/2010/main" val="2287983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12ABC3D-117E-BC99-D7A9-29D8F7057B65}"/>
              </a:ext>
            </a:extLst>
          </p:cNvPr>
          <p:cNvSpPr>
            <a:spLocks noGrp="1"/>
          </p:cNvSpPr>
          <p:nvPr>
            <p:ph type="sldNum" sz="quarter" idx="12"/>
          </p:nvPr>
        </p:nvSpPr>
        <p:spPr/>
        <p:txBody>
          <a:bodyPr/>
          <a:lstStyle/>
          <a:p>
            <a:fld id="{CBABCCC1-BF11-4F37-963E-1BCD5B23FD72}" type="slidenum">
              <a:rPr lang="en-IN" smtClean="0"/>
              <a:t>18</a:t>
            </a:fld>
            <a:endParaRPr lang="en-IN"/>
          </a:p>
        </p:txBody>
      </p:sp>
      <p:sp>
        <p:nvSpPr>
          <p:cNvPr id="3" name="TextBox 2">
            <a:extLst>
              <a:ext uri="{FF2B5EF4-FFF2-40B4-BE49-F238E27FC236}">
                <a16:creationId xmlns:a16="http://schemas.microsoft.com/office/drawing/2014/main" id="{DBD157F0-23BD-BED8-327C-55599F6825D9}"/>
              </a:ext>
            </a:extLst>
          </p:cNvPr>
          <p:cNvSpPr txBox="1"/>
          <p:nvPr/>
        </p:nvSpPr>
        <p:spPr>
          <a:xfrm>
            <a:off x="904959" y="433601"/>
            <a:ext cx="10382081" cy="287643"/>
          </a:xfrm>
          <a:prstGeom prst="rect">
            <a:avLst/>
          </a:prstGeom>
          <a:noFill/>
        </p:spPr>
        <p:txBody>
          <a:bodyPr wrap="square">
            <a:spAutoFit/>
          </a:bodyPr>
          <a:lstStyle/>
          <a:p>
            <a:pPr algn="just">
              <a:lnSpc>
                <a:spcPct val="115000"/>
              </a:lnSpc>
              <a:spcAft>
                <a:spcPts val="1000"/>
              </a:spcAft>
            </a:pP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992EE262-FA66-925E-3399-3C82FD8A9503}"/>
              </a:ext>
            </a:extLst>
          </p:cNvPr>
          <p:cNvSpPr txBox="1"/>
          <p:nvPr/>
        </p:nvSpPr>
        <p:spPr>
          <a:xfrm>
            <a:off x="904959" y="721244"/>
            <a:ext cx="10772521" cy="1660519"/>
          </a:xfrm>
          <a:prstGeom prst="rect">
            <a:avLst/>
          </a:prstGeom>
          <a:noFill/>
        </p:spPr>
        <p:txBody>
          <a:bodyPr wrap="square">
            <a:spAutoFit/>
          </a:bodyPr>
          <a:lstStyle/>
          <a:p>
            <a:pPr algn="just">
              <a:lnSpc>
                <a:spcPct val="115000"/>
              </a:lnSpc>
              <a:spcAft>
                <a:spcPts val="1000"/>
              </a:spcAft>
            </a:pPr>
            <a:r>
              <a:rPr lang="en-US" sz="2000" b="1" dirty="0">
                <a:solidFill>
                  <a:srgbClr val="333333"/>
                </a:solidFill>
                <a:latin typeface="Times New Roman" panose="02020603050405020304" pitchFamily="18" charset="0"/>
                <a:cs typeface="Times New Roman" panose="02020603050405020304" pitchFamily="18" charset="0"/>
              </a:rPr>
              <a:t>Example 2: </a:t>
            </a:r>
            <a:r>
              <a:rPr lang="en-US" altLang="en-US" sz="2000" b="1" dirty="0">
                <a:solidFill>
                  <a:srgbClr val="333333"/>
                </a:solidFill>
                <a:latin typeface="Times New Roman" panose="02020603050405020304" pitchFamily="18" charset="0"/>
                <a:cs typeface="Times New Roman" panose="02020603050405020304" pitchFamily="18" charset="0"/>
              </a:rPr>
              <a:t>The following SELECT statement retrieves the data from multiple columns of the employee table. </a:t>
            </a:r>
          </a:p>
          <a:p>
            <a:pPr algn="just">
              <a:lnSpc>
                <a:spcPct val="115000"/>
              </a:lnSpc>
              <a:spcAft>
                <a:spcPts val="1000"/>
              </a:spcAft>
            </a:pPr>
            <a:endParaRPr lang="en-IN" sz="2400" b="1" dirty="0">
              <a:solidFill>
                <a:srgbClr val="333333"/>
              </a:solidFill>
              <a:latin typeface="Times New Roman" panose="02020603050405020304" pitchFamily="18" charset="0"/>
              <a:cs typeface="Times New Roman" panose="02020603050405020304" pitchFamily="18" charset="0"/>
            </a:endParaRPr>
          </a:p>
          <a:p>
            <a:pPr algn="just">
              <a:lnSpc>
                <a:spcPct val="115000"/>
              </a:lnSpc>
              <a:spcAft>
                <a:spcPts val="1000"/>
              </a:spcAft>
            </a:pP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5" name="Rounded Rectangle 17">
            <a:extLst>
              <a:ext uri="{FF2B5EF4-FFF2-40B4-BE49-F238E27FC236}">
                <a16:creationId xmlns:a16="http://schemas.microsoft.com/office/drawing/2014/main" id="{ECC9B7E1-5B08-4231-3C23-E45066C79F38}"/>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DATA MANIPULATION LANGUAGE (Cont..)</a:t>
            </a:r>
          </a:p>
        </p:txBody>
      </p:sp>
      <p:sp>
        <p:nvSpPr>
          <p:cNvPr id="6" name="AutoShape 2">
            <a:extLst>
              <a:ext uri="{FF2B5EF4-FFF2-40B4-BE49-F238E27FC236}">
                <a16:creationId xmlns:a16="http://schemas.microsoft.com/office/drawing/2014/main" id="{691C4EA2-6539-F99E-9428-B384A3131FC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Rectangle 3">
            <a:extLst>
              <a:ext uri="{FF2B5EF4-FFF2-40B4-BE49-F238E27FC236}">
                <a16:creationId xmlns:a16="http://schemas.microsoft.com/office/drawing/2014/main" id="{E2E5EAD8-BA1D-C224-5029-568606FCB9E9}"/>
              </a:ext>
            </a:extLst>
          </p:cNvPr>
          <p:cNvSpPr>
            <a:spLocks noChangeArrowheads="1"/>
          </p:cNvSpPr>
          <p:nvPr/>
        </p:nvSpPr>
        <p:spPr bwMode="auto">
          <a:xfrm>
            <a:off x="6003634" y="-184666"/>
            <a:ext cx="184731" cy="369332"/>
          </a:xfrm>
          <a:prstGeom prst="rect">
            <a:avLst/>
          </a:prstGeom>
          <a:solidFill>
            <a:srgbClr val="D9E5F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7">
            <a:extLst>
              <a:ext uri="{FF2B5EF4-FFF2-40B4-BE49-F238E27FC236}">
                <a16:creationId xmlns:a16="http://schemas.microsoft.com/office/drawing/2014/main" id="{EB7215A9-D63F-96C3-CDB1-6F2F843E32C4}"/>
              </a:ext>
            </a:extLst>
          </p:cNvPr>
          <p:cNvSpPr>
            <a:spLocks noChangeArrowheads="1"/>
          </p:cNvSpPr>
          <p:nvPr/>
        </p:nvSpPr>
        <p:spPr bwMode="auto">
          <a:xfrm>
            <a:off x="6003634" y="-184666"/>
            <a:ext cx="184731" cy="369332"/>
          </a:xfrm>
          <a:prstGeom prst="rect">
            <a:avLst/>
          </a:prstGeom>
          <a:solidFill>
            <a:srgbClr val="D9E5F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2">
            <a:extLst>
              <a:ext uri="{FF2B5EF4-FFF2-40B4-BE49-F238E27FC236}">
                <a16:creationId xmlns:a16="http://schemas.microsoft.com/office/drawing/2014/main" id="{0BA677E9-F7FA-8090-6202-6A2D0AD6442D}"/>
              </a:ext>
            </a:extLst>
          </p:cNvPr>
          <p:cNvSpPr>
            <a:spLocks noChangeArrowheads="1"/>
          </p:cNvSpPr>
          <p:nvPr/>
        </p:nvSpPr>
        <p:spPr bwMode="auto">
          <a:xfrm>
            <a:off x="1019596" y="1791815"/>
            <a:ext cx="10507840" cy="369332"/>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SELECT</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id</a:t>
            </a:r>
            <a:r>
              <a:rPr kumimoji="0" lang="en-US" altLang="en-US" sz="24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first_name</a:t>
            </a:r>
            <a:r>
              <a:rPr kumimoji="0" lang="en-US" altLang="en-US" sz="24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last_name</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FROM</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lang="en-US" altLang="en-US" sz="2400" dirty="0">
                <a:solidFill>
                  <a:srgbClr val="000000"/>
                </a:solidFill>
                <a:latin typeface="Courier New" panose="02070309020205020404" pitchFamily="49" charset="0"/>
                <a:cs typeface="Courier New" panose="02070309020205020404" pitchFamily="49" charset="0"/>
              </a:rPr>
              <a:t>person</a:t>
            </a:r>
            <a:r>
              <a:rPr kumimoji="0" lang="en-US" altLang="en-US" sz="24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050" b="0" i="0" u="none" strike="noStrike" cap="none" normalizeH="0" baseline="0" dirty="0">
                <a:ln>
                  <a:noFill/>
                </a:ln>
                <a:solidFill>
                  <a:schemeClr val="tx1"/>
                </a:solidFill>
                <a:effectLst/>
              </a:rPr>
              <a:t> </a:t>
            </a:r>
            <a:endParaRPr kumimoji="0" lang="en-US" altLang="en-US" sz="3600" b="0" i="0" u="none" strike="noStrike" cap="none" normalizeH="0" baseline="0" dirty="0">
              <a:ln>
                <a:noFill/>
              </a:ln>
              <a:solidFill>
                <a:schemeClr val="tx1"/>
              </a:solidFill>
              <a:effectLst/>
              <a:latin typeface="Arial" panose="020B0604020202020204" pitchFamily="34" charset="0"/>
            </a:endParaRPr>
          </a:p>
        </p:txBody>
      </p:sp>
      <p:pic>
        <p:nvPicPr>
          <p:cNvPr id="12" name="Picture 11">
            <a:extLst>
              <a:ext uri="{FF2B5EF4-FFF2-40B4-BE49-F238E27FC236}">
                <a16:creationId xmlns:a16="http://schemas.microsoft.com/office/drawing/2014/main" id="{42B54FB9-4295-4F67-C721-1A97D788D1A5}"/>
              </a:ext>
            </a:extLst>
          </p:cNvPr>
          <p:cNvPicPr>
            <a:picLocks noChangeAspect="1"/>
          </p:cNvPicPr>
          <p:nvPr/>
        </p:nvPicPr>
        <p:blipFill>
          <a:blip r:embed="rId2"/>
          <a:stretch>
            <a:fillRect/>
          </a:stretch>
        </p:blipFill>
        <p:spPr>
          <a:xfrm>
            <a:off x="1019596" y="2381763"/>
            <a:ext cx="10567801" cy="3431283"/>
          </a:xfrm>
          <a:prstGeom prst="rect">
            <a:avLst/>
          </a:prstGeom>
          <a:ln>
            <a:solidFill>
              <a:schemeClr val="tx1"/>
            </a:solidFill>
          </a:ln>
        </p:spPr>
      </p:pic>
    </p:spTree>
    <p:extLst>
      <p:ext uri="{BB962C8B-B14F-4D97-AF65-F5344CB8AC3E}">
        <p14:creationId xmlns:p14="http://schemas.microsoft.com/office/powerpoint/2010/main" val="963064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476F120-0C96-0893-F9C5-2CA4AFE50463}"/>
              </a:ext>
            </a:extLst>
          </p:cNvPr>
          <p:cNvSpPr>
            <a:spLocks noGrp="1"/>
          </p:cNvSpPr>
          <p:nvPr>
            <p:ph type="sldNum" sz="quarter" idx="12"/>
          </p:nvPr>
        </p:nvSpPr>
        <p:spPr/>
        <p:txBody>
          <a:bodyPr/>
          <a:lstStyle/>
          <a:p>
            <a:fld id="{CBABCCC1-BF11-4F37-963E-1BCD5B23FD72}" type="slidenum">
              <a:rPr lang="en-IN" smtClean="0"/>
              <a:t>19</a:t>
            </a:fld>
            <a:endParaRPr lang="en-IN"/>
          </a:p>
        </p:txBody>
      </p:sp>
      <p:sp>
        <p:nvSpPr>
          <p:cNvPr id="3" name="TextBox 2">
            <a:extLst>
              <a:ext uri="{FF2B5EF4-FFF2-40B4-BE49-F238E27FC236}">
                <a16:creationId xmlns:a16="http://schemas.microsoft.com/office/drawing/2014/main" id="{CC678552-0F90-3D9D-96DA-7EB50D554D8E}"/>
              </a:ext>
            </a:extLst>
          </p:cNvPr>
          <p:cNvSpPr txBox="1"/>
          <p:nvPr/>
        </p:nvSpPr>
        <p:spPr>
          <a:xfrm>
            <a:off x="904959" y="433601"/>
            <a:ext cx="10382081" cy="287643"/>
          </a:xfrm>
          <a:prstGeom prst="rect">
            <a:avLst/>
          </a:prstGeom>
          <a:noFill/>
        </p:spPr>
        <p:txBody>
          <a:bodyPr wrap="square">
            <a:spAutoFit/>
          </a:bodyPr>
          <a:lstStyle/>
          <a:p>
            <a:pPr algn="just">
              <a:lnSpc>
                <a:spcPct val="115000"/>
              </a:lnSpc>
              <a:spcAft>
                <a:spcPts val="1000"/>
              </a:spcAft>
            </a:pP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42B22657-E853-2846-A4C9-290E88C679A7}"/>
              </a:ext>
            </a:extLst>
          </p:cNvPr>
          <p:cNvSpPr txBox="1"/>
          <p:nvPr/>
        </p:nvSpPr>
        <p:spPr>
          <a:xfrm>
            <a:off x="904959" y="862400"/>
            <a:ext cx="10772521" cy="1306576"/>
          </a:xfrm>
          <a:prstGeom prst="rect">
            <a:avLst/>
          </a:prstGeom>
          <a:noFill/>
        </p:spPr>
        <p:txBody>
          <a:bodyPr wrap="square">
            <a:spAutoFit/>
          </a:bodyPr>
          <a:lstStyle/>
          <a:p>
            <a:pPr algn="just">
              <a:lnSpc>
                <a:spcPct val="115000"/>
              </a:lnSpc>
              <a:spcAft>
                <a:spcPts val="1000"/>
              </a:spcAft>
            </a:pPr>
            <a:r>
              <a:rPr lang="en-US" sz="2000" b="1" dirty="0">
                <a:solidFill>
                  <a:srgbClr val="333333"/>
                </a:solidFill>
                <a:latin typeface="Times New Roman" panose="02020603050405020304" pitchFamily="18" charset="0"/>
                <a:cs typeface="Times New Roman" panose="02020603050405020304" pitchFamily="18" charset="0"/>
              </a:rPr>
              <a:t>Example 3: This example describes how to use the </a:t>
            </a:r>
            <a:r>
              <a:rPr lang="en-US"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WHERE clause with the SELECT</a:t>
            </a:r>
            <a:r>
              <a:rPr lang="en-US" b="1"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dirty="0">
                <a:solidFill>
                  <a:srgbClr val="333333"/>
                </a:solidFill>
                <a:latin typeface="Times New Roman" panose="02020603050405020304" pitchFamily="18" charset="0"/>
                <a:cs typeface="Times New Roman" panose="02020603050405020304" pitchFamily="18" charset="0"/>
              </a:rPr>
              <a:t>command.</a:t>
            </a:r>
          </a:p>
          <a:p>
            <a:pPr>
              <a:lnSpc>
                <a:spcPct val="115000"/>
              </a:lnSpc>
              <a:spcAft>
                <a:spcPts val="1000"/>
              </a:spcAft>
            </a:pPr>
            <a:r>
              <a:rPr lang="en-US" sz="2400" dirty="0">
                <a:solidFill>
                  <a:srgbClr val="333333"/>
                </a:solidFill>
                <a:latin typeface="Times New Roman" panose="02020603050405020304" pitchFamily="18" charset="0"/>
                <a:cs typeface="Times New Roman" panose="02020603050405020304" pitchFamily="18" charset="0"/>
              </a:rPr>
              <a:t>If we want to access all the records of those person whose </a:t>
            </a:r>
            <a:r>
              <a:rPr lang="en-US" altLang="en-US" sz="2400" dirty="0" err="1">
                <a:solidFill>
                  <a:srgbClr val="333333"/>
                </a:solidFill>
                <a:latin typeface="Times New Roman" panose="02020603050405020304" pitchFamily="18" charset="0"/>
                <a:cs typeface="Times New Roman" panose="02020603050405020304" pitchFamily="18" charset="0"/>
              </a:rPr>
              <a:t>first_name</a:t>
            </a:r>
            <a:r>
              <a:rPr lang="en-US" altLang="en-US" sz="2400" dirty="0">
                <a:solidFill>
                  <a:srgbClr val="333333"/>
                </a:solidFill>
                <a:latin typeface="Times New Roman" panose="02020603050405020304" pitchFamily="18" charset="0"/>
                <a:cs typeface="Times New Roman" panose="02020603050405020304" pitchFamily="18" charset="0"/>
              </a:rPr>
              <a:t> is Kapil. </a:t>
            </a:r>
            <a:r>
              <a:rPr lang="en-US" sz="2400" dirty="0">
                <a:solidFill>
                  <a:srgbClr val="333333"/>
                </a:solidFill>
                <a:latin typeface="Times New Roman" panose="02020603050405020304" pitchFamily="18" charset="0"/>
                <a:cs typeface="Times New Roman" panose="02020603050405020304" pitchFamily="18" charset="0"/>
              </a:rPr>
              <a:t> </a:t>
            </a:r>
            <a:endParaRPr lang="en-IN" sz="2400" dirty="0">
              <a:solidFill>
                <a:srgbClr val="333333"/>
              </a:solidFill>
              <a:latin typeface="Times New Roman" panose="02020603050405020304" pitchFamily="18" charset="0"/>
              <a:cs typeface="Times New Roman" panose="02020603050405020304" pitchFamily="18" charset="0"/>
            </a:endParaRPr>
          </a:p>
          <a:p>
            <a:pPr algn="just">
              <a:lnSpc>
                <a:spcPct val="115000"/>
              </a:lnSpc>
              <a:spcAft>
                <a:spcPts val="1000"/>
              </a:spcAft>
            </a:pP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5" name="Rounded Rectangle 17">
            <a:extLst>
              <a:ext uri="{FF2B5EF4-FFF2-40B4-BE49-F238E27FC236}">
                <a16:creationId xmlns:a16="http://schemas.microsoft.com/office/drawing/2014/main" id="{C0B4C4BC-1202-7AC0-F870-06CD42F87F03}"/>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DATA MANIPULATION LANGUAGE (Cont..)</a:t>
            </a:r>
          </a:p>
        </p:txBody>
      </p:sp>
      <p:sp>
        <p:nvSpPr>
          <p:cNvPr id="6" name="Rectangle 1">
            <a:extLst>
              <a:ext uri="{FF2B5EF4-FFF2-40B4-BE49-F238E27FC236}">
                <a16:creationId xmlns:a16="http://schemas.microsoft.com/office/drawing/2014/main" id="{18CC55E4-E37B-9489-B810-F06AD1C8D6C3}"/>
              </a:ext>
            </a:extLst>
          </p:cNvPr>
          <p:cNvSpPr>
            <a:spLocks noChangeArrowheads="1"/>
          </p:cNvSpPr>
          <p:nvPr/>
        </p:nvSpPr>
        <p:spPr bwMode="auto">
          <a:xfrm>
            <a:off x="904959" y="1966797"/>
            <a:ext cx="10382081" cy="307777"/>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SELECT</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000"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0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FROM</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lang="en-US" altLang="en-US" sz="2000" dirty="0">
                <a:solidFill>
                  <a:srgbClr val="000000"/>
                </a:solidFill>
                <a:latin typeface="Courier New" panose="02070309020205020404" pitchFamily="49" charset="0"/>
                <a:cs typeface="Courier New" panose="02070309020205020404" pitchFamily="49" charset="0"/>
              </a:rPr>
              <a:t>person</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0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WHERE</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0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first_name</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000"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000" b="0" i="0" u="none" strike="noStrike" cap="none" normalizeH="0" baseline="0" dirty="0">
                <a:ln>
                  <a:noFill/>
                </a:ln>
                <a:solidFill>
                  <a:srgbClr val="669900"/>
                </a:solidFill>
                <a:effectLst/>
                <a:latin typeface="Courier New" panose="02070309020205020404" pitchFamily="49" charset="0"/>
                <a:cs typeface="Courier New" panose="02070309020205020404" pitchFamily="49" charset="0"/>
              </a:rPr>
              <a:t>‘Kapil'</a:t>
            </a:r>
            <a:r>
              <a:rPr kumimoji="0" lang="en-US" altLang="en-US" sz="20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000" b="0" i="0" u="none" strike="noStrike" cap="none" normalizeH="0" baseline="0" dirty="0">
                <a:ln>
                  <a:noFill/>
                </a:ln>
                <a:solidFill>
                  <a:schemeClr val="tx1"/>
                </a:solidFill>
                <a:effectLst/>
              </a:rPr>
              <a:t> </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pic>
        <p:nvPicPr>
          <p:cNvPr id="9" name="Picture 8">
            <a:extLst>
              <a:ext uri="{FF2B5EF4-FFF2-40B4-BE49-F238E27FC236}">
                <a16:creationId xmlns:a16="http://schemas.microsoft.com/office/drawing/2014/main" id="{2FC3DC2B-EFE2-84FF-064E-071CA7BE4719}"/>
              </a:ext>
            </a:extLst>
          </p:cNvPr>
          <p:cNvPicPr>
            <a:picLocks noChangeAspect="1"/>
          </p:cNvPicPr>
          <p:nvPr/>
        </p:nvPicPr>
        <p:blipFill>
          <a:blip r:embed="rId2"/>
          <a:stretch>
            <a:fillRect/>
          </a:stretch>
        </p:blipFill>
        <p:spPr>
          <a:xfrm>
            <a:off x="904959" y="2503356"/>
            <a:ext cx="10382080" cy="3290342"/>
          </a:xfrm>
          <a:prstGeom prst="rect">
            <a:avLst/>
          </a:prstGeom>
          <a:ln>
            <a:solidFill>
              <a:schemeClr val="tx1"/>
            </a:solidFill>
          </a:ln>
        </p:spPr>
      </p:pic>
    </p:spTree>
    <p:extLst>
      <p:ext uri="{BB962C8B-B14F-4D97-AF65-F5344CB8AC3E}">
        <p14:creationId xmlns:p14="http://schemas.microsoft.com/office/powerpoint/2010/main" val="1203317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327BEAA-A4EF-A5DF-3565-D5160DB41010}"/>
              </a:ext>
            </a:extLst>
          </p:cNvPr>
          <p:cNvSpPr>
            <a:spLocks noGrp="1"/>
          </p:cNvSpPr>
          <p:nvPr>
            <p:ph type="sldNum" sz="quarter" idx="12"/>
          </p:nvPr>
        </p:nvSpPr>
        <p:spPr/>
        <p:txBody>
          <a:bodyPr/>
          <a:lstStyle/>
          <a:p>
            <a:fld id="{CBABCCC1-BF11-4F37-963E-1BCD5B23FD72}" type="slidenum">
              <a:rPr lang="en-IN" smtClean="0"/>
              <a:t>20</a:t>
            </a:fld>
            <a:endParaRPr lang="en-IN"/>
          </a:p>
        </p:txBody>
      </p:sp>
      <p:sp>
        <p:nvSpPr>
          <p:cNvPr id="3" name="TextBox 2">
            <a:extLst>
              <a:ext uri="{FF2B5EF4-FFF2-40B4-BE49-F238E27FC236}">
                <a16:creationId xmlns:a16="http://schemas.microsoft.com/office/drawing/2014/main" id="{F65A0C0A-1936-37F7-651A-CFC44C373F7D}"/>
              </a:ext>
            </a:extLst>
          </p:cNvPr>
          <p:cNvSpPr txBox="1"/>
          <p:nvPr/>
        </p:nvSpPr>
        <p:spPr>
          <a:xfrm>
            <a:off x="904959" y="819037"/>
            <a:ext cx="10382081" cy="5386859"/>
          </a:xfrm>
          <a:prstGeom prst="rect">
            <a:avLst/>
          </a:prstGeom>
          <a:noFill/>
        </p:spPr>
        <p:txBody>
          <a:bodyPr wrap="square">
            <a:spAutoFit/>
          </a:bodyPr>
          <a:lstStyle/>
          <a:p>
            <a:pPr algn="just"/>
            <a:r>
              <a:rPr lang="en-US" sz="20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2</a:t>
            </a:r>
            <a:r>
              <a:rPr lang="en-US" sz="20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INSER</a:t>
            </a:r>
            <a:r>
              <a:rPr lang="en-US" sz="20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T command: </a:t>
            </a:r>
            <a:r>
              <a:rPr lang="en-US" sz="2000" dirty="0">
                <a:solidFill>
                  <a:srgbClr val="333333"/>
                </a:solidFill>
                <a:latin typeface="Times New Roman" panose="02020603050405020304" pitchFamily="18" charset="0"/>
                <a:cs typeface="Times New Roman" panose="02020603050405020304" pitchFamily="18" charset="0"/>
              </a:rPr>
              <a:t>INSERT is another most important data manipulation command in Structured Query Language, which allows users to insert data in database tables.</a:t>
            </a:r>
          </a:p>
          <a:p>
            <a:pPr algn="just">
              <a:lnSpc>
                <a:spcPct val="115000"/>
              </a:lnSpc>
              <a:spcAft>
                <a:spcPts val="500"/>
              </a:spcAft>
            </a:pPr>
            <a:endParaRPr lang="en-US" dirty="0">
              <a:solidFill>
                <a:srgbClr val="000000"/>
              </a:solidFill>
              <a:latin typeface="Times New Roman" panose="02020603050405020304" pitchFamily="18" charset="0"/>
              <a:cs typeface="Times New Roman" panose="02020603050405020304" pitchFamily="18" charset="0"/>
            </a:endParaRPr>
          </a:p>
          <a:p>
            <a:pPr algn="just">
              <a:spcAft>
                <a:spcPts val="500"/>
              </a:spcAft>
            </a:pPr>
            <a:endParaRPr lang="en-IN" dirty="0">
              <a:solidFill>
                <a:srgbClr val="000000"/>
              </a:solidFill>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spcBef>
                <a:spcPct val="0"/>
              </a:spcBef>
              <a:spcAft>
                <a:spcPct val="0"/>
              </a:spcAft>
              <a:buClrTx/>
              <a:buSzTx/>
              <a:buFontTx/>
              <a:buChar char="•"/>
              <a:tabLst/>
            </a:pPr>
            <a:endParaRPr lang="en-US" altLang="en-US" sz="2000" dirty="0">
              <a:solidFill>
                <a:srgbClr val="333333"/>
              </a:solidFill>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spcBef>
                <a:spcPct val="0"/>
              </a:spcBef>
              <a:spcAft>
                <a:spcPct val="0"/>
              </a:spcAft>
              <a:buClrTx/>
              <a:buSzTx/>
              <a:buFontTx/>
              <a:buChar char="•"/>
              <a:tabLst/>
            </a:pPr>
            <a:endParaRPr lang="en-US" altLang="en-US" sz="2000" dirty="0">
              <a:solidFill>
                <a:srgbClr val="333333"/>
              </a:solidFill>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lang="en-US" altLang="en-US" sz="2000" dirty="0">
                <a:solidFill>
                  <a:srgbClr val="333333"/>
                </a:solidFill>
                <a:latin typeface="Times New Roman" panose="02020603050405020304" pitchFamily="18" charset="0"/>
                <a:cs typeface="Times New Roman" panose="02020603050405020304" pitchFamily="18" charset="0"/>
              </a:rPr>
              <a:t>Use the INSERT INTO clause with the table-name where you want to insert the data. If you want to insert data to all columns of a table, then specifying the list of columns is optional.</a:t>
            </a:r>
          </a:p>
          <a:p>
            <a:pPr marL="0" marR="0" lvl="0" indent="0" algn="just" defTabSz="914400" rtl="0" eaLnBrk="0" fontAlgn="base" latinLnBrk="0" hangingPunct="0">
              <a:lnSpc>
                <a:spcPct val="150000"/>
              </a:lnSpc>
              <a:spcBef>
                <a:spcPct val="0"/>
              </a:spcBef>
              <a:spcAft>
                <a:spcPct val="0"/>
              </a:spcAft>
              <a:buClrTx/>
              <a:buSzTx/>
              <a:buFontTx/>
              <a:buChar char="•"/>
              <a:tabLst/>
            </a:pPr>
            <a:r>
              <a:rPr lang="en-US" altLang="en-US" sz="2000" dirty="0">
                <a:solidFill>
                  <a:srgbClr val="333333"/>
                </a:solidFill>
                <a:latin typeface="Times New Roman" panose="02020603050405020304" pitchFamily="18" charset="0"/>
                <a:cs typeface="Times New Roman" panose="02020603050405020304" pitchFamily="18" charset="0"/>
              </a:rPr>
              <a:t>If you want to insert data to some columns, then provide a list of comma-separated values after the VALUES clause.</a:t>
            </a:r>
          </a:p>
          <a:p>
            <a:pPr marL="0" marR="0" lvl="0" indent="0" algn="just" defTabSz="914400" rtl="0" eaLnBrk="0" fontAlgn="base" latinLnBrk="0" hangingPunct="0">
              <a:lnSpc>
                <a:spcPct val="150000"/>
              </a:lnSpc>
              <a:spcBef>
                <a:spcPct val="0"/>
              </a:spcBef>
              <a:spcAft>
                <a:spcPct val="0"/>
              </a:spcAft>
              <a:buClrTx/>
              <a:buSzTx/>
              <a:buFontTx/>
              <a:buChar char="•"/>
              <a:tabLst/>
            </a:pPr>
            <a:r>
              <a:rPr lang="en-US" altLang="en-US" sz="2000" dirty="0">
                <a:solidFill>
                  <a:srgbClr val="333333"/>
                </a:solidFill>
                <a:latin typeface="Times New Roman" panose="02020603050405020304" pitchFamily="18" charset="0"/>
                <a:cs typeface="Times New Roman" panose="02020603050405020304" pitchFamily="18" charset="0"/>
              </a:rPr>
              <a:t>The RETURNING clause is optional which will return a list of all inserted values or the value of the specified column.</a:t>
            </a:r>
          </a:p>
          <a:p>
            <a:pPr algn="just"/>
            <a:endParaRPr lang="en-US" sz="1800" dirty="0">
              <a:solidFill>
                <a:srgbClr val="333333"/>
              </a:solidFill>
              <a:effectLst/>
              <a:latin typeface="Segoe UI" panose="020B0502040204020203" pitchFamily="34" charset="0"/>
              <a:ea typeface="Times New Roman" panose="02020603050405020304" pitchFamily="18" charset="0"/>
            </a:endParaRPr>
          </a:p>
          <a:p>
            <a:pPr algn="just">
              <a:lnSpc>
                <a:spcPct val="115000"/>
              </a:lnSpc>
              <a:spcAft>
                <a:spcPts val="500"/>
              </a:spcAft>
            </a:pPr>
            <a:r>
              <a:rPr lang="en-US" sz="1800" b="1" dirty="0">
                <a:solidFill>
                  <a:srgbClr val="006699"/>
                </a:solidFill>
                <a:effectLst/>
                <a:latin typeface="Segoe UI" panose="020B0502040204020203" pitchFamily="34" charset="0"/>
                <a:ea typeface="Times New Roman" panose="02020603050405020304" pitchFamily="18" charset="0"/>
                <a:cs typeface="Mangal" panose="02040503050203030202" pitchFamily="18" charset="0"/>
              </a:rPr>
              <a:t>	</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4" name="Rounded Rectangle 17">
            <a:extLst>
              <a:ext uri="{FF2B5EF4-FFF2-40B4-BE49-F238E27FC236}">
                <a16:creationId xmlns:a16="http://schemas.microsoft.com/office/drawing/2014/main" id="{D5B5A626-B01C-C7BE-E4A6-EB4EBF9C4963}"/>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DATA MANIPULATION LANGUAGE (Cont..)</a:t>
            </a:r>
          </a:p>
        </p:txBody>
      </p:sp>
      <p:sp>
        <p:nvSpPr>
          <p:cNvPr id="5" name="Rectangle 1">
            <a:extLst>
              <a:ext uri="{FF2B5EF4-FFF2-40B4-BE49-F238E27FC236}">
                <a16:creationId xmlns:a16="http://schemas.microsoft.com/office/drawing/2014/main" id="{F93501DA-D072-F706-CDF9-0DA9D45DB8AD}"/>
              </a:ext>
            </a:extLst>
          </p:cNvPr>
          <p:cNvSpPr>
            <a:spLocks noChangeArrowheads="1"/>
          </p:cNvSpPr>
          <p:nvPr/>
        </p:nvSpPr>
        <p:spPr bwMode="auto">
          <a:xfrm>
            <a:off x="904959" y="1782623"/>
            <a:ext cx="10382081" cy="738664"/>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INSERT</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INTO</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&lt;</a:t>
            </a:r>
            <a:r>
              <a:rPr kumimoji="0" lang="en-US" altLang="en-US" sz="24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table</a:t>
            </a:r>
            <a:r>
              <a:rPr kumimoji="0" lang="en-US" altLang="en-US" sz="2400"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name</a:t>
            </a:r>
            <a:r>
              <a:rPr kumimoji="0" lang="en-US" altLang="en-US" sz="2400"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&gt;</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&lt;</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column1</a:t>
            </a:r>
            <a:r>
              <a:rPr kumimoji="0" lang="en-US" altLang="en-US" sz="2400"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&gt;</a:t>
            </a:r>
            <a:r>
              <a:rPr kumimoji="0" lang="en-US" altLang="en-US" sz="24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&lt;</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column2</a:t>
            </a:r>
            <a:r>
              <a:rPr kumimoji="0" lang="en-US" altLang="en-US" sz="2400"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&gt;</a:t>
            </a:r>
            <a:r>
              <a:rPr kumimoji="0" lang="en-US" altLang="en-US" sz="24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VALUES</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&lt;</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value1</a:t>
            </a:r>
            <a:r>
              <a:rPr kumimoji="0" lang="en-US" altLang="en-US" sz="2400"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&gt;</a:t>
            </a:r>
            <a:r>
              <a:rPr kumimoji="0" lang="en-US" altLang="en-US" sz="24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&lt;</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value2</a:t>
            </a:r>
            <a:r>
              <a:rPr kumimoji="0" lang="en-US" altLang="en-US" sz="2400"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&gt;</a:t>
            </a:r>
            <a:r>
              <a:rPr kumimoji="0" lang="en-US" altLang="en-US" sz="24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RETURNING</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050" b="0" i="0" u="none" strike="noStrike" cap="none" normalizeH="0" baseline="0" dirty="0">
                <a:ln>
                  <a:noFill/>
                </a:ln>
                <a:solidFill>
                  <a:schemeClr val="tx1"/>
                </a:solidFill>
                <a:effectLst/>
              </a:rPr>
              <a:t> </a:t>
            </a:r>
            <a:endParaRPr kumimoji="0" lang="en-US" altLang="en-US" sz="3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07461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6756FE4-D0E7-8E7A-ED64-B59D458EDDBC}"/>
              </a:ext>
            </a:extLst>
          </p:cNvPr>
          <p:cNvSpPr>
            <a:spLocks noGrp="1"/>
          </p:cNvSpPr>
          <p:nvPr>
            <p:ph type="sldNum" sz="quarter" idx="12"/>
          </p:nvPr>
        </p:nvSpPr>
        <p:spPr/>
        <p:txBody>
          <a:bodyPr/>
          <a:lstStyle/>
          <a:p>
            <a:fld id="{CBABCCC1-BF11-4F37-963E-1BCD5B23FD72}" type="slidenum">
              <a:rPr lang="en-IN" smtClean="0"/>
              <a:t>21</a:t>
            </a:fld>
            <a:endParaRPr lang="en-IN"/>
          </a:p>
        </p:txBody>
      </p:sp>
      <p:sp>
        <p:nvSpPr>
          <p:cNvPr id="4" name="TextBox 3">
            <a:extLst>
              <a:ext uri="{FF2B5EF4-FFF2-40B4-BE49-F238E27FC236}">
                <a16:creationId xmlns:a16="http://schemas.microsoft.com/office/drawing/2014/main" id="{69132382-ECD8-DD3E-767C-C6929BC300E8}"/>
              </a:ext>
            </a:extLst>
          </p:cNvPr>
          <p:cNvSpPr txBox="1"/>
          <p:nvPr/>
        </p:nvSpPr>
        <p:spPr>
          <a:xfrm>
            <a:off x="742013" y="789855"/>
            <a:ext cx="10725462" cy="461665"/>
          </a:xfrm>
          <a:prstGeom prst="rect">
            <a:avLst/>
          </a:prstGeom>
          <a:noFill/>
        </p:spPr>
        <p:txBody>
          <a:bodyPr wrap="square">
            <a:spAutoFit/>
          </a:bodyPr>
          <a:lstStyle/>
          <a:p>
            <a:pPr algn="just">
              <a:spcAft>
                <a:spcPts val="500"/>
              </a:spcAft>
            </a:pPr>
            <a:r>
              <a:rPr lang="en-US" sz="2400" b="0" i="0" dirty="0">
                <a:solidFill>
                  <a:srgbClr val="181717"/>
                </a:solidFill>
                <a:effectLst/>
                <a:latin typeface="Times New Roman" panose="02020603050405020304" pitchFamily="18" charset="0"/>
                <a:cs typeface="Times New Roman" panose="02020603050405020304" pitchFamily="18" charset="0"/>
              </a:rPr>
              <a:t>Now, the following INSERT statement will insert a single row in the </a:t>
            </a:r>
            <a:r>
              <a:rPr lang="en-US" sz="2400" dirty="0">
                <a:solidFill>
                  <a:srgbClr val="181717"/>
                </a:solidFill>
                <a:latin typeface="Times New Roman" panose="02020603050405020304" pitchFamily="18" charset="0"/>
                <a:cs typeface="Times New Roman" panose="02020603050405020304" pitchFamily="18" charset="0"/>
              </a:rPr>
              <a:t>person</a:t>
            </a:r>
            <a:r>
              <a:rPr lang="en-US" sz="2400" b="0" i="0" dirty="0">
                <a:solidFill>
                  <a:srgbClr val="181717"/>
                </a:solidFill>
                <a:effectLst/>
                <a:latin typeface="Times New Roman" panose="02020603050405020304" pitchFamily="18" charset="0"/>
                <a:cs typeface="Times New Roman" panose="02020603050405020304" pitchFamily="18" charset="0"/>
              </a:rPr>
              <a:t> table.</a:t>
            </a:r>
          </a:p>
        </p:txBody>
      </p:sp>
      <p:sp>
        <p:nvSpPr>
          <p:cNvPr id="5" name="Rounded Rectangle 17">
            <a:extLst>
              <a:ext uri="{FF2B5EF4-FFF2-40B4-BE49-F238E27FC236}">
                <a16:creationId xmlns:a16="http://schemas.microsoft.com/office/drawing/2014/main" id="{A4A8586B-938C-6A10-CB6D-93027E19DA04}"/>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DATA MANIPULATION LANGUAGE (Cont..)</a:t>
            </a:r>
          </a:p>
        </p:txBody>
      </p:sp>
      <p:sp>
        <p:nvSpPr>
          <p:cNvPr id="6" name="Rectangle 1">
            <a:extLst>
              <a:ext uri="{FF2B5EF4-FFF2-40B4-BE49-F238E27FC236}">
                <a16:creationId xmlns:a16="http://schemas.microsoft.com/office/drawing/2014/main" id="{02656E48-AD84-9B2F-EB3D-2C0FA0CDC8AE}"/>
              </a:ext>
            </a:extLst>
          </p:cNvPr>
          <p:cNvSpPr>
            <a:spLocks noChangeArrowheads="1"/>
          </p:cNvSpPr>
          <p:nvPr/>
        </p:nvSpPr>
        <p:spPr bwMode="auto">
          <a:xfrm>
            <a:off x="816964" y="1438780"/>
            <a:ext cx="10304863" cy="738664"/>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INSERT</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INTO</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lang="en-US" altLang="en-US" sz="2400" dirty="0">
                <a:solidFill>
                  <a:srgbClr val="000000"/>
                </a:solidFill>
                <a:latin typeface="Courier New" panose="02070309020205020404" pitchFamily="49" charset="0"/>
                <a:cs typeface="Courier New" panose="02070309020205020404" pitchFamily="49" charset="0"/>
              </a:rPr>
              <a:t>person</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VALUES</a:t>
            </a:r>
            <a:r>
              <a:rPr kumimoji="0" lang="en-US" altLang="en-US" sz="24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dirty="0">
                <a:ln>
                  <a:noFill/>
                </a:ln>
                <a:solidFill>
                  <a:srgbClr val="990055"/>
                </a:solidFill>
                <a:effectLst/>
                <a:latin typeface="Courier New" panose="02070309020205020404" pitchFamily="49" charset="0"/>
                <a:cs typeface="Courier New" panose="02070309020205020404" pitchFamily="49" charset="0"/>
              </a:rPr>
              <a:t>1</a:t>
            </a:r>
            <a:r>
              <a:rPr kumimoji="0" lang="en-US" altLang="en-US" sz="24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dirty="0">
                <a:ln>
                  <a:noFill/>
                </a:ln>
                <a:solidFill>
                  <a:srgbClr val="669900"/>
                </a:solidFill>
                <a:effectLst/>
                <a:latin typeface="Courier New" panose="02070309020205020404" pitchFamily="49" charset="0"/>
                <a:cs typeface="Courier New" panose="02070309020205020404" pitchFamily="49" charset="0"/>
              </a:rPr>
              <a:t>'Annie'</a:t>
            </a:r>
            <a:r>
              <a:rPr kumimoji="0" lang="en-US" altLang="en-US" sz="24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dirty="0">
                <a:ln>
                  <a:noFill/>
                </a:ln>
                <a:solidFill>
                  <a:srgbClr val="669900"/>
                </a:solidFill>
                <a:effectLst/>
                <a:latin typeface="Courier New" panose="02070309020205020404" pitchFamily="49" charset="0"/>
                <a:cs typeface="Courier New" panose="02070309020205020404" pitchFamily="49" charset="0"/>
              </a:rPr>
              <a:t>'Smith'</a:t>
            </a:r>
            <a:r>
              <a:rPr kumimoji="0" lang="en-US" altLang="en-US" sz="24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dirty="0">
                <a:ln>
                  <a:noFill/>
                </a:ln>
                <a:solidFill>
                  <a:srgbClr val="669900"/>
                </a:solidFill>
                <a:effectLst/>
                <a:latin typeface="Courier New" panose="02070309020205020404" pitchFamily="49" charset="0"/>
                <a:cs typeface="Courier New" panose="02070309020205020404" pitchFamily="49" charset="0"/>
              </a:rPr>
              <a:t>'F'</a:t>
            </a:r>
            <a:r>
              <a:rPr kumimoji="0" lang="en-US" altLang="en-US" sz="24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DATE</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dirty="0">
                <a:ln>
                  <a:noFill/>
                </a:ln>
                <a:solidFill>
                  <a:srgbClr val="669900"/>
                </a:solidFill>
                <a:effectLst/>
                <a:latin typeface="Courier New" panose="02070309020205020404" pitchFamily="49" charset="0"/>
                <a:cs typeface="Courier New" panose="02070309020205020404" pitchFamily="49" charset="0"/>
              </a:rPr>
              <a:t>'1988-01-09'</a:t>
            </a:r>
            <a:r>
              <a:rPr kumimoji="0" lang="en-US" altLang="en-US" sz="24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dirty="0">
                <a:ln>
                  <a:noFill/>
                </a:ln>
                <a:solidFill>
                  <a:srgbClr val="669900"/>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dirty="0" err="1">
                <a:ln>
                  <a:noFill/>
                </a:ln>
                <a:solidFill>
                  <a:srgbClr val="669900"/>
                </a:solidFill>
                <a:effectLst/>
                <a:latin typeface="Courier New" panose="02070309020205020404" pitchFamily="49" charset="0"/>
                <a:cs typeface="Courier New" panose="02070309020205020404" pitchFamily="49" charset="0"/>
              </a:rPr>
              <a:t>ani@email.com’</a:t>
            </a:r>
            <a:r>
              <a:rPr kumimoji="0" lang="en-US" altLang="en-US" sz="2400" b="0" i="0" u="none" strike="noStrike" cap="none" normalizeH="0" baseline="0" dirty="0" err="1">
                <a:ln>
                  <a:noFill/>
                </a:ln>
                <a:solidFill>
                  <a:srgbClr val="999999"/>
                </a:solidFill>
                <a:effectLst/>
                <a:latin typeface="Courier New" panose="02070309020205020404" pitchFamily="49" charset="0"/>
                <a:cs typeface="Courier New" panose="02070309020205020404" pitchFamily="49" charset="0"/>
              </a:rPr>
              <a:t>,</a:t>
            </a:r>
            <a:r>
              <a:rPr lang="en-US" altLang="en-US" sz="2400" dirty="0" err="1">
                <a:solidFill>
                  <a:srgbClr val="990055"/>
                </a:solidFill>
                <a:latin typeface="Courier New" panose="02070309020205020404" pitchFamily="49" charset="0"/>
                <a:cs typeface="Courier New" panose="02070309020205020404" pitchFamily="49" charset="0"/>
              </a:rPr>
              <a:t>’Germany</a:t>
            </a:r>
            <a:r>
              <a:rPr lang="en-US" altLang="en-US" sz="2400" dirty="0">
                <a:solidFill>
                  <a:srgbClr val="990055"/>
                </a:solidFill>
                <a:latin typeface="Courier New" panose="02070309020205020404" pitchFamily="49" charset="0"/>
                <a:cs typeface="Courier New" panose="02070309020205020404" pitchFamily="49" charset="0"/>
              </a:rPr>
              <a:t>’</a:t>
            </a:r>
            <a:r>
              <a:rPr kumimoji="0" lang="en-US" altLang="en-US" sz="24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050" b="0" i="0" u="none" strike="noStrike" cap="none" normalizeH="0" baseline="0" dirty="0">
                <a:ln>
                  <a:noFill/>
                </a:ln>
                <a:solidFill>
                  <a:schemeClr val="tx1"/>
                </a:solidFill>
                <a:effectLst/>
              </a:rPr>
              <a:t> </a:t>
            </a:r>
            <a:endParaRPr kumimoji="0" lang="en-US" altLang="en-US" sz="3600" b="0" i="0" u="none" strike="noStrike" cap="none" normalizeH="0" baseline="0" dirty="0">
              <a:ln>
                <a:noFill/>
              </a:ln>
              <a:solidFill>
                <a:schemeClr val="tx1"/>
              </a:solidFill>
              <a:effectLst/>
              <a:latin typeface="Arial" panose="020B0604020202020204" pitchFamily="34" charset="0"/>
            </a:endParaRPr>
          </a:p>
        </p:txBody>
      </p:sp>
      <p:pic>
        <p:nvPicPr>
          <p:cNvPr id="10" name="Picture 9">
            <a:extLst>
              <a:ext uri="{FF2B5EF4-FFF2-40B4-BE49-F238E27FC236}">
                <a16:creationId xmlns:a16="http://schemas.microsoft.com/office/drawing/2014/main" id="{B98C4A10-D2BA-3B49-14C3-41EF081CD42C}"/>
              </a:ext>
            </a:extLst>
          </p:cNvPr>
          <p:cNvPicPr>
            <a:picLocks noChangeAspect="1"/>
          </p:cNvPicPr>
          <p:nvPr/>
        </p:nvPicPr>
        <p:blipFill>
          <a:blip r:embed="rId2"/>
          <a:stretch>
            <a:fillRect/>
          </a:stretch>
        </p:blipFill>
        <p:spPr>
          <a:xfrm>
            <a:off x="816964" y="2413422"/>
            <a:ext cx="10304863" cy="3477712"/>
          </a:xfrm>
          <a:prstGeom prst="rect">
            <a:avLst/>
          </a:prstGeom>
          <a:ln>
            <a:solidFill>
              <a:schemeClr val="tx1"/>
            </a:solidFill>
          </a:ln>
        </p:spPr>
      </p:pic>
    </p:spTree>
    <p:extLst>
      <p:ext uri="{BB962C8B-B14F-4D97-AF65-F5344CB8AC3E}">
        <p14:creationId xmlns:p14="http://schemas.microsoft.com/office/powerpoint/2010/main" val="4098566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6756FE4-D0E7-8E7A-ED64-B59D458EDDBC}"/>
              </a:ext>
            </a:extLst>
          </p:cNvPr>
          <p:cNvSpPr>
            <a:spLocks noGrp="1"/>
          </p:cNvSpPr>
          <p:nvPr>
            <p:ph type="sldNum" sz="quarter" idx="12"/>
          </p:nvPr>
        </p:nvSpPr>
        <p:spPr/>
        <p:txBody>
          <a:bodyPr/>
          <a:lstStyle/>
          <a:p>
            <a:fld id="{CBABCCC1-BF11-4F37-963E-1BCD5B23FD72}" type="slidenum">
              <a:rPr lang="en-IN" smtClean="0"/>
              <a:t>22</a:t>
            </a:fld>
            <a:endParaRPr lang="en-IN"/>
          </a:p>
        </p:txBody>
      </p:sp>
      <p:sp>
        <p:nvSpPr>
          <p:cNvPr id="4" name="TextBox 3">
            <a:extLst>
              <a:ext uri="{FF2B5EF4-FFF2-40B4-BE49-F238E27FC236}">
                <a16:creationId xmlns:a16="http://schemas.microsoft.com/office/drawing/2014/main" id="{69132382-ECD8-DD3E-767C-C6929BC300E8}"/>
              </a:ext>
            </a:extLst>
          </p:cNvPr>
          <p:cNvSpPr txBox="1"/>
          <p:nvPr/>
        </p:nvSpPr>
        <p:spPr>
          <a:xfrm>
            <a:off x="742013" y="601507"/>
            <a:ext cx="10725462" cy="1264449"/>
          </a:xfrm>
          <a:prstGeom prst="rect">
            <a:avLst/>
          </a:prstGeom>
          <a:noFill/>
        </p:spPr>
        <p:txBody>
          <a:bodyPr wrap="square">
            <a:spAutoFit/>
          </a:bodyPr>
          <a:lstStyle/>
          <a:p>
            <a:pPr algn="just">
              <a:spcAft>
                <a:spcPts val="500"/>
              </a:spcAft>
            </a:pPr>
            <a:r>
              <a:rPr lang="en-US" sz="2400" dirty="0">
                <a:solidFill>
                  <a:srgbClr val="181717"/>
                </a:solidFill>
                <a:latin typeface="Times New Roman" panose="02020603050405020304" pitchFamily="18" charset="0"/>
                <a:cs typeface="Times New Roman" panose="02020603050405020304" pitchFamily="18" charset="0"/>
              </a:rPr>
              <a:t>It is the best practice to specify columns names with the INSERT statement to insert data into correct columns and make it more maintainable. For example:</a:t>
            </a:r>
          </a:p>
          <a:p>
            <a:pPr algn="just">
              <a:spcAft>
                <a:spcPts val="500"/>
              </a:spcAft>
            </a:pPr>
            <a:endParaRPr lang="en-US" sz="2400" b="0" i="0" dirty="0">
              <a:solidFill>
                <a:srgbClr val="181717"/>
              </a:solidFill>
              <a:effectLst/>
              <a:latin typeface="Times New Roman" panose="02020603050405020304" pitchFamily="18" charset="0"/>
              <a:cs typeface="Times New Roman" panose="02020603050405020304" pitchFamily="18" charset="0"/>
            </a:endParaRPr>
          </a:p>
        </p:txBody>
      </p:sp>
      <p:sp>
        <p:nvSpPr>
          <p:cNvPr id="5" name="Rounded Rectangle 17">
            <a:extLst>
              <a:ext uri="{FF2B5EF4-FFF2-40B4-BE49-F238E27FC236}">
                <a16:creationId xmlns:a16="http://schemas.microsoft.com/office/drawing/2014/main" id="{A4A8586B-938C-6A10-CB6D-93027E19DA04}"/>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DATA MANIPULATION LANGUAGE (Cont..)</a:t>
            </a:r>
          </a:p>
        </p:txBody>
      </p:sp>
      <p:sp>
        <p:nvSpPr>
          <p:cNvPr id="3" name="Rectangle 2">
            <a:extLst>
              <a:ext uri="{FF2B5EF4-FFF2-40B4-BE49-F238E27FC236}">
                <a16:creationId xmlns:a16="http://schemas.microsoft.com/office/drawing/2014/main" id="{B57C6151-F68F-EC94-A158-21BF176BF78B}"/>
              </a:ext>
            </a:extLst>
          </p:cNvPr>
          <p:cNvSpPr>
            <a:spLocks noChangeArrowheads="1"/>
          </p:cNvSpPr>
          <p:nvPr/>
        </p:nvSpPr>
        <p:spPr bwMode="auto">
          <a:xfrm>
            <a:off x="844494" y="1540854"/>
            <a:ext cx="10503009" cy="92333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INSERT</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0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INTO</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lang="en-US" altLang="en-US" sz="2000" dirty="0">
                <a:solidFill>
                  <a:srgbClr val="000000"/>
                </a:solidFill>
                <a:latin typeface="Courier New" panose="02070309020205020404" pitchFamily="49" charset="0"/>
                <a:cs typeface="Courier New" panose="02070309020205020404" pitchFamily="49" charset="0"/>
              </a:rPr>
              <a:t>person(Id, </a:t>
            </a:r>
            <a:r>
              <a:rPr lang="en-US" altLang="en-US" sz="2000" dirty="0" err="1">
                <a:solidFill>
                  <a:srgbClr val="000000"/>
                </a:solidFill>
                <a:latin typeface="Courier New" panose="02070309020205020404" pitchFamily="49" charset="0"/>
                <a:cs typeface="Courier New" panose="02070309020205020404" pitchFamily="49" charset="0"/>
              </a:rPr>
              <a:t>first_name</a:t>
            </a:r>
            <a:r>
              <a:rPr lang="en-US" altLang="en-US" sz="2000" dirty="0">
                <a:solidFill>
                  <a:srgbClr val="000000"/>
                </a:solidFill>
                <a:latin typeface="Courier New" panose="02070309020205020404" pitchFamily="49" charset="0"/>
                <a:cs typeface="Courier New" panose="02070309020205020404" pitchFamily="49" charset="0"/>
              </a:rPr>
              <a:t>, </a:t>
            </a:r>
            <a:r>
              <a:rPr lang="en-US" altLang="en-US" sz="2000" dirty="0" err="1">
                <a:solidFill>
                  <a:srgbClr val="000000"/>
                </a:solidFill>
                <a:latin typeface="Courier New" panose="02070309020205020404" pitchFamily="49" charset="0"/>
                <a:cs typeface="Courier New" panose="02070309020205020404" pitchFamily="49" charset="0"/>
              </a:rPr>
              <a:t>last_name</a:t>
            </a:r>
            <a:r>
              <a:rPr lang="en-US" altLang="en-US" sz="2000" dirty="0">
                <a:solidFill>
                  <a:srgbClr val="000000"/>
                </a:solidFill>
                <a:latin typeface="Courier New" panose="02070309020205020404" pitchFamily="49" charset="0"/>
                <a:cs typeface="Courier New" panose="02070309020205020404" pitchFamily="49" charset="0"/>
              </a:rPr>
              <a:t>, gender, birthdate, </a:t>
            </a:r>
            <a:r>
              <a:rPr lang="en-US" altLang="en-US" sz="2000" dirty="0" err="1">
                <a:solidFill>
                  <a:srgbClr val="000000"/>
                </a:solidFill>
                <a:latin typeface="Courier New" panose="02070309020205020404" pitchFamily="49" charset="0"/>
                <a:cs typeface="Courier New" panose="02070309020205020404" pitchFamily="49" charset="0"/>
              </a:rPr>
              <a:t>email_id</a:t>
            </a:r>
            <a:r>
              <a:rPr lang="en-US" altLang="en-US" sz="2000" dirty="0">
                <a:solidFill>
                  <a:srgbClr val="000000"/>
                </a:solidFill>
                <a:latin typeface="Courier New" panose="02070309020205020404" pitchFamily="49" charset="0"/>
                <a:cs typeface="Courier New" panose="02070309020205020404" pitchFamily="49" charset="0"/>
              </a:rPr>
              <a:t>, </a:t>
            </a:r>
            <a:r>
              <a:rPr lang="en-US" altLang="en-US" sz="2000" dirty="0" err="1">
                <a:solidFill>
                  <a:srgbClr val="000000"/>
                </a:solidFill>
                <a:latin typeface="Courier New" panose="02070309020205020404" pitchFamily="49" charset="0"/>
                <a:cs typeface="Courier New" panose="02070309020205020404" pitchFamily="49" charset="0"/>
              </a:rPr>
              <a:t>country_of_birth</a:t>
            </a:r>
            <a:r>
              <a:rPr lang="en-US" altLang="en-US" sz="2000" dirty="0">
                <a:solidFill>
                  <a:srgbClr val="000000"/>
                </a:solidFill>
                <a:latin typeface="Courier New" panose="02070309020205020404" pitchFamily="49" charset="0"/>
                <a:cs typeface="Courier New" panose="02070309020205020404" pitchFamily="49" charset="0"/>
              </a:rPr>
              <a:t>) </a:t>
            </a:r>
            <a:r>
              <a:rPr kumimoji="0" lang="en-US" altLang="en-US" sz="20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VALUES</a:t>
            </a:r>
            <a:r>
              <a:rPr kumimoji="0" lang="en-US" altLang="en-US" sz="20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lang="en-US" altLang="en-US" sz="2000" dirty="0">
                <a:solidFill>
                  <a:srgbClr val="990055"/>
                </a:solidFill>
                <a:latin typeface="Courier New" panose="02070309020205020404" pitchFamily="49" charset="0"/>
                <a:cs typeface="Courier New" panose="02070309020205020404" pitchFamily="49" charset="0"/>
              </a:rPr>
              <a:t>2</a:t>
            </a:r>
            <a:r>
              <a:rPr kumimoji="0" lang="en-US" altLang="en-US" sz="20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2000" b="0" i="0" u="none" strike="noStrike" cap="none" normalizeH="0" baseline="0" dirty="0">
                <a:ln>
                  <a:noFill/>
                </a:ln>
                <a:solidFill>
                  <a:srgbClr val="669900"/>
                </a:solidFill>
                <a:effectLst/>
                <a:latin typeface="Courier New" panose="02070309020205020404" pitchFamily="49" charset="0"/>
                <a:cs typeface="Courier New" panose="02070309020205020404" pitchFamily="49" charset="0"/>
              </a:rPr>
              <a:t>John'</a:t>
            </a:r>
            <a:r>
              <a:rPr kumimoji="0" lang="en-US" altLang="en-US" sz="20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2000" b="0" i="0" u="none" strike="noStrike" cap="none" normalizeH="0" baseline="0" dirty="0">
                <a:ln>
                  <a:noFill/>
                </a:ln>
                <a:solidFill>
                  <a:srgbClr val="669900"/>
                </a:solidFill>
                <a:effectLst/>
                <a:latin typeface="Courier New" panose="02070309020205020404" pitchFamily="49" charset="0"/>
                <a:cs typeface="Courier New" panose="02070309020205020404" pitchFamily="49" charset="0"/>
              </a:rPr>
              <a:t>'Smith'</a:t>
            </a:r>
            <a:r>
              <a:rPr kumimoji="0" lang="en-US" altLang="en-US" sz="20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2000" b="0" i="0" u="none" strike="noStrike" cap="none" normalizeH="0" baseline="0" dirty="0">
                <a:ln>
                  <a:noFill/>
                </a:ln>
                <a:solidFill>
                  <a:srgbClr val="669900"/>
                </a:solidFill>
                <a:effectLst/>
                <a:latin typeface="Courier New" panose="02070309020205020404" pitchFamily="49" charset="0"/>
                <a:cs typeface="Courier New" panose="02070309020205020404" pitchFamily="49" charset="0"/>
              </a:rPr>
              <a:t>’M'</a:t>
            </a:r>
            <a:r>
              <a:rPr kumimoji="0" lang="en-US" altLang="en-US" sz="20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2000" b="0" i="0" u="none" strike="noStrike" cap="none" normalizeH="0" baseline="0" dirty="0">
                <a:ln>
                  <a:noFill/>
                </a:ln>
                <a:solidFill>
                  <a:srgbClr val="669900"/>
                </a:solidFill>
                <a:effectLst/>
                <a:latin typeface="Courier New" panose="02070309020205020404" pitchFamily="49" charset="0"/>
                <a:cs typeface="Courier New" panose="02070309020205020404" pitchFamily="49" charset="0"/>
              </a:rPr>
              <a:t>’1980-05-29'</a:t>
            </a:r>
            <a:r>
              <a:rPr kumimoji="0" lang="en-US" altLang="en-US" sz="20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000" b="0" i="0" u="none" strike="noStrike" cap="none" normalizeH="0" baseline="0" dirty="0">
                <a:ln>
                  <a:noFill/>
                </a:ln>
                <a:solidFill>
                  <a:srgbClr val="669900"/>
                </a:solidFill>
                <a:effectLst/>
                <a:latin typeface="Courier New" panose="02070309020205020404" pitchFamily="49" charset="0"/>
                <a:cs typeface="Courier New" panose="02070309020205020404" pitchFamily="49" charset="0"/>
              </a:rPr>
              <a:t>‘</a:t>
            </a:r>
            <a:r>
              <a:rPr kumimoji="0" lang="en-US" altLang="en-US" sz="2000" b="0" i="0" u="none" strike="noStrike" cap="none" normalizeH="0" baseline="0" dirty="0" err="1">
                <a:ln>
                  <a:noFill/>
                </a:ln>
                <a:solidFill>
                  <a:srgbClr val="669900"/>
                </a:solidFill>
                <a:effectLst/>
                <a:latin typeface="Courier New" panose="02070309020205020404" pitchFamily="49" charset="0"/>
                <a:cs typeface="Courier New" panose="02070309020205020404" pitchFamily="49" charset="0"/>
              </a:rPr>
              <a:t>john@email.com’</a:t>
            </a:r>
            <a:r>
              <a:rPr kumimoji="0" lang="en-US" altLang="en-US" sz="2000" b="0" i="0" u="none" strike="noStrike" cap="none" normalizeH="0" baseline="0" dirty="0" err="1">
                <a:ln>
                  <a:noFill/>
                </a:ln>
                <a:solidFill>
                  <a:srgbClr val="999999"/>
                </a:solidFill>
                <a:effectLst/>
                <a:latin typeface="Courier New" panose="02070309020205020404" pitchFamily="49" charset="0"/>
                <a:cs typeface="Courier New" panose="02070309020205020404" pitchFamily="49" charset="0"/>
              </a:rPr>
              <a:t>,</a:t>
            </a:r>
            <a:r>
              <a:rPr lang="en-US" altLang="en-US" sz="2000" dirty="0" err="1">
                <a:solidFill>
                  <a:srgbClr val="990055"/>
                </a:solidFill>
                <a:latin typeface="Courier New" panose="02070309020205020404" pitchFamily="49" charset="0"/>
                <a:cs typeface="Courier New" panose="02070309020205020404" pitchFamily="49" charset="0"/>
              </a:rPr>
              <a:t>’USA</a:t>
            </a:r>
            <a:r>
              <a:rPr lang="en-US" altLang="en-US" sz="2000" dirty="0">
                <a:solidFill>
                  <a:srgbClr val="990055"/>
                </a:solidFill>
                <a:latin typeface="Courier New" panose="02070309020205020404" pitchFamily="49" charset="0"/>
                <a:cs typeface="Courier New" panose="02070309020205020404" pitchFamily="49" charset="0"/>
              </a:rPr>
              <a:t>’</a:t>
            </a:r>
            <a:r>
              <a:rPr kumimoji="0" lang="en-US" altLang="en-US" sz="20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000" b="0" i="0" u="none" strike="noStrike" cap="none" normalizeH="0" baseline="0" dirty="0">
                <a:ln>
                  <a:noFill/>
                </a:ln>
                <a:solidFill>
                  <a:schemeClr val="tx1"/>
                </a:solidFill>
                <a:effectLst/>
              </a:rPr>
              <a:t> </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pic>
        <p:nvPicPr>
          <p:cNvPr id="8" name="Picture 7">
            <a:extLst>
              <a:ext uri="{FF2B5EF4-FFF2-40B4-BE49-F238E27FC236}">
                <a16:creationId xmlns:a16="http://schemas.microsoft.com/office/drawing/2014/main" id="{13D1E467-6589-71E6-F8DD-F177B0B1E05B}"/>
              </a:ext>
            </a:extLst>
          </p:cNvPr>
          <p:cNvPicPr>
            <a:picLocks noChangeAspect="1"/>
          </p:cNvPicPr>
          <p:nvPr/>
        </p:nvPicPr>
        <p:blipFill>
          <a:blip r:embed="rId2"/>
          <a:stretch>
            <a:fillRect/>
          </a:stretch>
        </p:blipFill>
        <p:spPr>
          <a:xfrm>
            <a:off x="844494" y="2735705"/>
            <a:ext cx="10605490" cy="3273299"/>
          </a:xfrm>
          <a:prstGeom prst="rect">
            <a:avLst/>
          </a:prstGeom>
          <a:ln>
            <a:solidFill>
              <a:schemeClr val="tx1"/>
            </a:solidFill>
          </a:ln>
        </p:spPr>
      </p:pic>
    </p:spTree>
    <p:extLst>
      <p:ext uri="{BB962C8B-B14F-4D97-AF65-F5344CB8AC3E}">
        <p14:creationId xmlns:p14="http://schemas.microsoft.com/office/powerpoint/2010/main" val="2296868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AFE7E8A-0B8C-7F6C-20A4-5234482B7079}"/>
              </a:ext>
            </a:extLst>
          </p:cNvPr>
          <p:cNvSpPr>
            <a:spLocks noGrp="1"/>
          </p:cNvSpPr>
          <p:nvPr>
            <p:ph type="sldNum" sz="quarter" idx="12"/>
          </p:nvPr>
        </p:nvSpPr>
        <p:spPr/>
        <p:txBody>
          <a:bodyPr/>
          <a:lstStyle/>
          <a:p>
            <a:fld id="{CBABCCC1-BF11-4F37-963E-1BCD5B23FD72}" type="slidenum">
              <a:rPr lang="en-IN" smtClean="0"/>
              <a:t>23</a:t>
            </a:fld>
            <a:endParaRPr lang="en-IN"/>
          </a:p>
        </p:txBody>
      </p:sp>
      <p:sp>
        <p:nvSpPr>
          <p:cNvPr id="3" name="TextBox 2">
            <a:extLst>
              <a:ext uri="{FF2B5EF4-FFF2-40B4-BE49-F238E27FC236}">
                <a16:creationId xmlns:a16="http://schemas.microsoft.com/office/drawing/2014/main" id="{BF987614-D706-FAFF-5C67-256C7EC2489A}"/>
              </a:ext>
            </a:extLst>
          </p:cNvPr>
          <p:cNvSpPr txBox="1"/>
          <p:nvPr/>
        </p:nvSpPr>
        <p:spPr>
          <a:xfrm>
            <a:off x="880020" y="635795"/>
            <a:ext cx="10505010" cy="830997"/>
          </a:xfrm>
          <a:prstGeom prst="rect">
            <a:avLst/>
          </a:prstGeom>
          <a:noFill/>
        </p:spPr>
        <p:txBody>
          <a:bodyPr wrap="square">
            <a:spAutoFit/>
          </a:bodyPr>
          <a:lstStyle/>
          <a:p>
            <a:pPr algn="just"/>
            <a:r>
              <a:rPr lang="en-US" sz="2400" dirty="0">
                <a:solidFill>
                  <a:srgbClr val="181717"/>
                </a:solidFill>
                <a:latin typeface="Times New Roman" panose="02020603050405020304" pitchFamily="18" charset="0"/>
                <a:cs typeface="Times New Roman" panose="02020603050405020304" pitchFamily="18" charset="0"/>
              </a:rPr>
              <a:t>We can change the order of the columns or remove columns from the INSERT statement as per your need.</a:t>
            </a:r>
            <a:endParaRPr lang="en-IN" sz="2400" dirty="0">
              <a:solidFill>
                <a:srgbClr val="181717"/>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0D29BA9-7AA2-7E91-92EC-724007D1942A}"/>
              </a:ext>
            </a:extLst>
          </p:cNvPr>
          <p:cNvPicPr>
            <a:picLocks noChangeAspect="1"/>
          </p:cNvPicPr>
          <p:nvPr/>
        </p:nvPicPr>
        <p:blipFill>
          <a:blip r:embed="rId2"/>
          <a:stretch>
            <a:fillRect/>
          </a:stretch>
        </p:blipFill>
        <p:spPr>
          <a:xfrm>
            <a:off x="880019" y="2495863"/>
            <a:ext cx="10505009" cy="3485212"/>
          </a:xfrm>
          <a:prstGeom prst="rect">
            <a:avLst/>
          </a:prstGeom>
          <a:ln>
            <a:solidFill>
              <a:schemeClr val="tx1"/>
            </a:solidFill>
          </a:ln>
        </p:spPr>
      </p:pic>
      <p:sp>
        <p:nvSpPr>
          <p:cNvPr id="7" name="TextBox 6">
            <a:extLst>
              <a:ext uri="{FF2B5EF4-FFF2-40B4-BE49-F238E27FC236}">
                <a16:creationId xmlns:a16="http://schemas.microsoft.com/office/drawing/2014/main" id="{07236243-6698-D40C-A8D2-6F8A84B86647}"/>
              </a:ext>
            </a:extLst>
          </p:cNvPr>
          <p:cNvSpPr txBox="1"/>
          <p:nvPr/>
        </p:nvSpPr>
        <p:spPr>
          <a:xfrm>
            <a:off x="880020" y="1559253"/>
            <a:ext cx="10505010" cy="830997"/>
          </a:xfrm>
          <a:prstGeom prst="rect">
            <a:avLst/>
          </a:prstGeom>
          <a:noFill/>
          <a:ln>
            <a:solidFill>
              <a:schemeClr val="tx1"/>
            </a:solidFill>
          </a:ln>
        </p:spPr>
        <p:txBody>
          <a:bodyPr wrap="square">
            <a:spAutoFit/>
          </a:bodyPr>
          <a:lstStyle/>
          <a:p>
            <a:pPr algn="just"/>
            <a:r>
              <a:rPr lang="en-IN" sz="2400" dirty="0">
                <a:solidFill>
                  <a:srgbClr val="0077AA"/>
                </a:solidFill>
                <a:latin typeface="Courier New" panose="02070309020205020404" pitchFamily="49" charset="0"/>
                <a:cs typeface="Courier New" panose="02070309020205020404" pitchFamily="49" charset="0"/>
              </a:rPr>
              <a:t>INSERT INTO </a:t>
            </a:r>
            <a:r>
              <a:rPr lang="en-IN" sz="2000" dirty="0">
                <a:solidFill>
                  <a:srgbClr val="000000"/>
                </a:solidFill>
                <a:latin typeface="Courier New" panose="02070309020205020404" pitchFamily="49" charset="0"/>
                <a:cs typeface="Courier New" panose="02070309020205020404" pitchFamily="49" charset="0"/>
              </a:rPr>
              <a:t>person (id, </a:t>
            </a:r>
            <a:r>
              <a:rPr lang="en-IN" sz="2000" dirty="0" err="1">
                <a:solidFill>
                  <a:srgbClr val="000000"/>
                </a:solidFill>
                <a:latin typeface="Courier New" panose="02070309020205020404" pitchFamily="49" charset="0"/>
                <a:cs typeface="Courier New" panose="02070309020205020404" pitchFamily="49" charset="0"/>
              </a:rPr>
              <a:t>first_name</a:t>
            </a:r>
            <a:r>
              <a:rPr lang="en-IN" sz="2000" dirty="0">
                <a:solidFill>
                  <a:srgbClr val="000000"/>
                </a:solidFill>
                <a:latin typeface="Courier New" panose="02070309020205020404" pitchFamily="49" charset="0"/>
                <a:cs typeface="Courier New" panose="02070309020205020404" pitchFamily="49" charset="0"/>
              </a:rPr>
              <a:t>, </a:t>
            </a:r>
            <a:r>
              <a:rPr lang="en-IN" sz="2000" dirty="0" err="1">
                <a:solidFill>
                  <a:srgbClr val="000000"/>
                </a:solidFill>
                <a:latin typeface="Courier New" panose="02070309020205020404" pitchFamily="49" charset="0"/>
                <a:cs typeface="Courier New" panose="02070309020205020404" pitchFamily="49" charset="0"/>
              </a:rPr>
              <a:t>last_name</a:t>
            </a:r>
            <a:r>
              <a:rPr lang="en-IN" sz="2000" dirty="0">
                <a:solidFill>
                  <a:srgbClr val="000000"/>
                </a:solidFill>
                <a:latin typeface="Courier New" panose="02070309020205020404" pitchFamily="49" charset="0"/>
                <a:cs typeface="Courier New" panose="02070309020205020404" pitchFamily="49" charset="0"/>
              </a:rPr>
              <a:t>, birthdate, gender) </a:t>
            </a:r>
            <a:r>
              <a:rPr lang="en-IN" sz="2400" dirty="0">
                <a:solidFill>
                  <a:srgbClr val="0077AA"/>
                </a:solidFill>
                <a:latin typeface="Courier New" panose="02070309020205020404" pitchFamily="49" charset="0"/>
                <a:cs typeface="Courier New" panose="02070309020205020404" pitchFamily="49" charset="0"/>
              </a:rPr>
              <a:t>VALUES </a:t>
            </a:r>
            <a:r>
              <a:rPr lang="en-IN" sz="2000" dirty="0">
                <a:solidFill>
                  <a:srgbClr val="000000"/>
                </a:solidFill>
                <a:latin typeface="Courier New" panose="02070309020205020404" pitchFamily="49" charset="0"/>
                <a:cs typeface="Courier New" panose="02070309020205020404" pitchFamily="49" charset="0"/>
              </a:rPr>
              <a:t>(3, 'Mike’, 'Tyson', DATE '1985-05-06’, 'M');</a:t>
            </a:r>
          </a:p>
        </p:txBody>
      </p:sp>
      <p:sp>
        <p:nvSpPr>
          <p:cNvPr id="8" name="Rounded Rectangle 17">
            <a:extLst>
              <a:ext uri="{FF2B5EF4-FFF2-40B4-BE49-F238E27FC236}">
                <a16:creationId xmlns:a16="http://schemas.microsoft.com/office/drawing/2014/main" id="{B09789B5-E7FB-EDC7-ADF4-69DB6B945E6F}"/>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DATA MANIPULATION LANGUAGE (Cont..)</a:t>
            </a:r>
          </a:p>
        </p:txBody>
      </p:sp>
    </p:spTree>
    <p:extLst>
      <p:ext uri="{BB962C8B-B14F-4D97-AF65-F5344CB8AC3E}">
        <p14:creationId xmlns:p14="http://schemas.microsoft.com/office/powerpoint/2010/main" val="2612317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6E29198-BD2E-C8F1-1965-CFA45AA5E7E5}"/>
              </a:ext>
            </a:extLst>
          </p:cNvPr>
          <p:cNvSpPr>
            <a:spLocks noGrp="1"/>
          </p:cNvSpPr>
          <p:nvPr>
            <p:ph type="sldNum" sz="quarter" idx="12"/>
          </p:nvPr>
        </p:nvSpPr>
        <p:spPr/>
        <p:txBody>
          <a:bodyPr/>
          <a:lstStyle/>
          <a:p>
            <a:fld id="{CBABCCC1-BF11-4F37-963E-1BCD5B23FD72}" type="slidenum">
              <a:rPr lang="en-IN" smtClean="0"/>
              <a:t>24</a:t>
            </a:fld>
            <a:endParaRPr lang="en-IN"/>
          </a:p>
        </p:txBody>
      </p:sp>
      <p:sp>
        <p:nvSpPr>
          <p:cNvPr id="4" name="TextBox 3">
            <a:extLst>
              <a:ext uri="{FF2B5EF4-FFF2-40B4-BE49-F238E27FC236}">
                <a16:creationId xmlns:a16="http://schemas.microsoft.com/office/drawing/2014/main" id="{C505A9D5-EB4B-6575-C931-83297972E0DE}"/>
              </a:ext>
            </a:extLst>
          </p:cNvPr>
          <p:cNvSpPr txBox="1"/>
          <p:nvPr/>
        </p:nvSpPr>
        <p:spPr>
          <a:xfrm>
            <a:off x="786983" y="850135"/>
            <a:ext cx="10455639" cy="707886"/>
          </a:xfrm>
          <a:prstGeom prst="rect">
            <a:avLst/>
          </a:prstGeom>
          <a:noFill/>
        </p:spPr>
        <p:txBody>
          <a:bodyPr wrap="square">
            <a:spAutoFit/>
          </a:bodyPr>
          <a:lstStyle/>
          <a:p>
            <a:pPr algn="just">
              <a:spcAft>
                <a:spcPts val="500"/>
              </a:spcAft>
            </a:pPr>
            <a:r>
              <a:rPr lang="en-US" altLang="en-US" sz="2000" dirty="0">
                <a:solidFill>
                  <a:srgbClr val="181717"/>
                </a:solidFill>
                <a:latin typeface="Times New Roman" panose="02020603050405020304" pitchFamily="18" charset="0"/>
                <a:cs typeface="Times New Roman" panose="02020603050405020304" pitchFamily="18" charset="0"/>
              </a:rPr>
              <a:t>The RETURNING clause returns inserted column values. The RETURNING * returns all the inserted values or RETURNING column-name returns the specified column value. </a:t>
            </a:r>
          </a:p>
        </p:txBody>
      </p:sp>
      <p:sp>
        <p:nvSpPr>
          <p:cNvPr id="5" name="Rounded Rectangle 17">
            <a:extLst>
              <a:ext uri="{FF2B5EF4-FFF2-40B4-BE49-F238E27FC236}">
                <a16:creationId xmlns:a16="http://schemas.microsoft.com/office/drawing/2014/main" id="{012D62F8-C3E2-D8AC-F4A7-C8224C17B641}"/>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DATA MANIPULATION LANGUAGE (Cont..)</a:t>
            </a:r>
          </a:p>
        </p:txBody>
      </p:sp>
      <p:sp>
        <p:nvSpPr>
          <p:cNvPr id="6" name="TextBox 5">
            <a:extLst>
              <a:ext uri="{FF2B5EF4-FFF2-40B4-BE49-F238E27FC236}">
                <a16:creationId xmlns:a16="http://schemas.microsoft.com/office/drawing/2014/main" id="{13BA1D79-E604-A930-34A6-E5CF558164C3}"/>
              </a:ext>
            </a:extLst>
          </p:cNvPr>
          <p:cNvSpPr txBox="1"/>
          <p:nvPr/>
        </p:nvSpPr>
        <p:spPr>
          <a:xfrm>
            <a:off x="843494" y="1665634"/>
            <a:ext cx="10505010" cy="830997"/>
          </a:xfrm>
          <a:prstGeom prst="rect">
            <a:avLst/>
          </a:prstGeom>
          <a:noFill/>
          <a:ln>
            <a:solidFill>
              <a:schemeClr val="tx1"/>
            </a:solidFill>
          </a:ln>
        </p:spPr>
        <p:txBody>
          <a:bodyPr wrap="square">
            <a:spAutoFit/>
          </a:bodyPr>
          <a:lstStyle/>
          <a:p>
            <a:pPr algn="just"/>
            <a:r>
              <a:rPr lang="en-IN" sz="2400" dirty="0">
                <a:solidFill>
                  <a:srgbClr val="0077AA"/>
                </a:solidFill>
                <a:latin typeface="Courier New" panose="02070309020205020404" pitchFamily="49" charset="0"/>
                <a:cs typeface="Courier New" panose="02070309020205020404" pitchFamily="49" charset="0"/>
              </a:rPr>
              <a:t>INSERT INTO </a:t>
            </a:r>
            <a:r>
              <a:rPr lang="en-IN" sz="2000" dirty="0">
                <a:solidFill>
                  <a:srgbClr val="000000"/>
                </a:solidFill>
                <a:latin typeface="Courier New" panose="02070309020205020404" pitchFamily="49" charset="0"/>
                <a:cs typeface="Courier New" panose="02070309020205020404" pitchFamily="49" charset="0"/>
              </a:rPr>
              <a:t>person (id, </a:t>
            </a:r>
            <a:r>
              <a:rPr lang="en-IN" sz="2000" dirty="0" err="1">
                <a:solidFill>
                  <a:srgbClr val="000000"/>
                </a:solidFill>
                <a:latin typeface="Courier New" panose="02070309020205020404" pitchFamily="49" charset="0"/>
                <a:cs typeface="Courier New" panose="02070309020205020404" pitchFamily="49" charset="0"/>
              </a:rPr>
              <a:t>first_name</a:t>
            </a:r>
            <a:r>
              <a:rPr lang="en-IN" sz="2000" dirty="0">
                <a:solidFill>
                  <a:srgbClr val="000000"/>
                </a:solidFill>
                <a:latin typeface="Courier New" panose="02070309020205020404" pitchFamily="49" charset="0"/>
                <a:cs typeface="Courier New" panose="02070309020205020404" pitchFamily="49" charset="0"/>
              </a:rPr>
              <a:t>, </a:t>
            </a:r>
            <a:r>
              <a:rPr lang="en-IN" sz="2000" dirty="0" err="1">
                <a:solidFill>
                  <a:srgbClr val="000000"/>
                </a:solidFill>
                <a:latin typeface="Courier New" panose="02070309020205020404" pitchFamily="49" charset="0"/>
                <a:cs typeface="Courier New" panose="02070309020205020404" pitchFamily="49" charset="0"/>
              </a:rPr>
              <a:t>last_name</a:t>
            </a:r>
            <a:r>
              <a:rPr lang="en-IN" sz="2000" dirty="0">
                <a:solidFill>
                  <a:srgbClr val="000000"/>
                </a:solidFill>
                <a:latin typeface="Courier New" panose="02070309020205020404" pitchFamily="49" charset="0"/>
                <a:cs typeface="Courier New" panose="02070309020205020404" pitchFamily="49" charset="0"/>
              </a:rPr>
              <a:t>, birthdate, gender) VALUES (4, ‘Harry’, ‘Luke', DATE ‘1990-12-12’,  'M’) </a:t>
            </a:r>
            <a:r>
              <a:rPr kumimoji="0" lang="en-US" altLang="en-US" sz="24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RETURNING</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a:t>
            </a:r>
            <a:r>
              <a:rPr kumimoji="0" lang="en-US" altLang="en-US" sz="1050" b="0" i="0" u="none" strike="noStrike" cap="none" normalizeH="0" baseline="0" dirty="0">
                <a:ln>
                  <a:noFill/>
                </a:ln>
                <a:solidFill>
                  <a:schemeClr val="tx1"/>
                </a:solidFill>
                <a:effectLst/>
              </a:rPr>
              <a:t> </a:t>
            </a:r>
            <a:r>
              <a:rPr lang="en-IN" sz="2200" dirty="0"/>
              <a:t>;</a:t>
            </a:r>
          </a:p>
        </p:txBody>
      </p:sp>
      <p:pic>
        <p:nvPicPr>
          <p:cNvPr id="8" name="Picture 7">
            <a:extLst>
              <a:ext uri="{FF2B5EF4-FFF2-40B4-BE49-F238E27FC236}">
                <a16:creationId xmlns:a16="http://schemas.microsoft.com/office/drawing/2014/main" id="{A8C5F2F2-D51B-CC22-9930-99C798756817}"/>
              </a:ext>
            </a:extLst>
          </p:cNvPr>
          <p:cNvPicPr>
            <a:picLocks noChangeAspect="1"/>
          </p:cNvPicPr>
          <p:nvPr/>
        </p:nvPicPr>
        <p:blipFill>
          <a:blip r:embed="rId2"/>
          <a:stretch>
            <a:fillRect/>
          </a:stretch>
        </p:blipFill>
        <p:spPr>
          <a:xfrm>
            <a:off x="843493" y="2740938"/>
            <a:ext cx="10505009" cy="3187672"/>
          </a:xfrm>
          <a:prstGeom prst="rect">
            <a:avLst/>
          </a:prstGeom>
          <a:ln>
            <a:solidFill>
              <a:schemeClr val="tx1"/>
            </a:solidFill>
          </a:ln>
        </p:spPr>
      </p:pic>
    </p:spTree>
    <p:extLst>
      <p:ext uri="{BB962C8B-B14F-4D97-AF65-F5344CB8AC3E}">
        <p14:creationId xmlns:p14="http://schemas.microsoft.com/office/powerpoint/2010/main" val="1256498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29D724A-4251-892F-AEF0-F27C3E4802F0}"/>
              </a:ext>
            </a:extLst>
          </p:cNvPr>
          <p:cNvSpPr>
            <a:spLocks noGrp="1"/>
          </p:cNvSpPr>
          <p:nvPr>
            <p:ph type="sldNum" sz="quarter" idx="12"/>
          </p:nvPr>
        </p:nvSpPr>
        <p:spPr/>
        <p:txBody>
          <a:bodyPr/>
          <a:lstStyle/>
          <a:p>
            <a:fld id="{CBABCCC1-BF11-4F37-963E-1BCD5B23FD72}" type="slidenum">
              <a:rPr lang="en-IN" smtClean="0"/>
              <a:t>25</a:t>
            </a:fld>
            <a:endParaRPr lang="en-IN"/>
          </a:p>
        </p:txBody>
      </p:sp>
      <p:sp>
        <p:nvSpPr>
          <p:cNvPr id="4" name="TextBox 3">
            <a:extLst>
              <a:ext uri="{FF2B5EF4-FFF2-40B4-BE49-F238E27FC236}">
                <a16:creationId xmlns:a16="http://schemas.microsoft.com/office/drawing/2014/main" id="{C0393C6F-FBBE-FDD8-3EBC-FEE6F318B02F}"/>
              </a:ext>
            </a:extLst>
          </p:cNvPr>
          <p:cNvSpPr txBox="1"/>
          <p:nvPr/>
        </p:nvSpPr>
        <p:spPr>
          <a:xfrm>
            <a:off x="690461" y="747331"/>
            <a:ext cx="10575560" cy="707886"/>
          </a:xfrm>
          <a:prstGeom prst="rect">
            <a:avLst/>
          </a:prstGeom>
          <a:noFill/>
        </p:spPr>
        <p:txBody>
          <a:bodyPr wrap="square">
            <a:spAutoFit/>
          </a:bodyPr>
          <a:lstStyle/>
          <a:p>
            <a:pPr algn="just"/>
            <a:r>
              <a:rPr lang="en-US" sz="2000" dirty="0">
                <a:solidFill>
                  <a:srgbClr val="181717"/>
                </a:solidFill>
                <a:latin typeface="Times New Roman" panose="02020603050405020304" pitchFamily="18" charset="0"/>
                <a:cs typeface="Times New Roman" panose="02020603050405020304" pitchFamily="18" charset="0"/>
              </a:rPr>
              <a:t>The INSERT statement can also add multiple rows to a table in a single query by specifying multiple VALUES clauses.</a:t>
            </a:r>
            <a:endParaRPr lang="en-IN" sz="2000" dirty="0">
              <a:solidFill>
                <a:srgbClr val="181717"/>
              </a:solidFill>
              <a:latin typeface="Times New Roman" panose="02020603050405020304" pitchFamily="18" charset="0"/>
              <a:cs typeface="Times New Roman" panose="02020603050405020304" pitchFamily="18" charset="0"/>
            </a:endParaRPr>
          </a:p>
        </p:txBody>
      </p:sp>
      <p:sp>
        <p:nvSpPr>
          <p:cNvPr id="5" name="Rounded Rectangle 17">
            <a:extLst>
              <a:ext uri="{FF2B5EF4-FFF2-40B4-BE49-F238E27FC236}">
                <a16:creationId xmlns:a16="http://schemas.microsoft.com/office/drawing/2014/main" id="{1A79169A-1EBA-B8B0-B947-8EDA0609191F}"/>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DATA MANIPULATION LANGUAGE (Cont..)</a:t>
            </a:r>
          </a:p>
        </p:txBody>
      </p:sp>
      <p:sp>
        <p:nvSpPr>
          <p:cNvPr id="6" name="Rectangle 3">
            <a:extLst>
              <a:ext uri="{FF2B5EF4-FFF2-40B4-BE49-F238E27FC236}">
                <a16:creationId xmlns:a16="http://schemas.microsoft.com/office/drawing/2014/main" id="{AC552783-BF4C-DCB9-AACC-A95421A858D2}"/>
              </a:ext>
            </a:extLst>
          </p:cNvPr>
          <p:cNvSpPr>
            <a:spLocks noChangeArrowheads="1"/>
          </p:cNvSpPr>
          <p:nvPr/>
        </p:nvSpPr>
        <p:spPr bwMode="auto">
          <a:xfrm>
            <a:off x="766325" y="1534787"/>
            <a:ext cx="10423832" cy="984885"/>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INSERT</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16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INTO</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lang="en-US" altLang="en-US" sz="1600" dirty="0">
                <a:solidFill>
                  <a:srgbClr val="000000"/>
                </a:solidFill>
                <a:latin typeface="Courier New" panose="02070309020205020404" pitchFamily="49" charset="0"/>
                <a:cs typeface="Courier New" panose="02070309020205020404" pitchFamily="49" charset="0"/>
              </a:rPr>
              <a:t>person</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id</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16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first_name</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16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last_name</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gender</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birthdate</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16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VALUES</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a:ln>
                  <a:noFill/>
                </a:ln>
                <a:solidFill>
                  <a:srgbClr val="990055"/>
                </a:solidFill>
                <a:effectLst/>
                <a:latin typeface="Courier New" panose="02070309020205020404" pitchFamily="49" charset="0"/>
                <a:cs typeface="Courier New" panose="02070309020205020404" pitchFamily="49" charset="0"/>
              </a:rPr>
              <a:t>5</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a:ln>
                  <a:noFill/>
                </a:ln>
                <a:solidFill>
                  <a:srgbClr val="669900"/>
                </a:solidFill>
                <a:effectLst/>
                <a:latin typeface="Courier New" panose="02070309020205020404" pitchFamily="49" charset="0"/>
                <a:cs typeface="Courier New" panose="02070309020205020404" pitchFamily="49" charset="0"/>
              </a:rPr>
              <a:t>'Sachin'</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a:ln>
                  <a:noFill/>
                </a:ln>
                <a:solidFill>
                  <a:srgbClr val="669900"/>
                </a:solidFill>
                <a:effectLst/>
                <a:latin typeface="Courier New" panose="02070309020205020404" pitchFamily="49" charset="0"/>
                <a:cs typeface="Courier New" panose="02070309020205020404" pitchFamily="49" charset="0"/>
              </a:rPr>
              <a:t>'Tendulkar'</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a:ln>
                  <a:noFill/>
                </a:ln>
                <a:solidFill>
                  <a:srgbClr val="669900"/>
                </a:solidFill>
                <a:effectLst/>
                <a:latin typeface="Courier New" panose="02070309020205020404" pitchFamily="49" charset="0"/>
                <a:cs typeface="Courier New" panose="02070309020205020404" pitchFamily="49" charset="0"/>
              </a:rPr>
              <a:t>'M'</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16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DATE</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1600" b="0" i="0" u="none" strike="noStrike" cap="none" normalizeH="0" baseline="0" dirty="0">
                <a:ln>
                  <a:noFill/>
                </a:ln>
                <a:solidFill>
                  <a:srgbClr val="669900"/>
                </a:solidFill>
                <a:effectLst/>
                <a:latin typeface="Courier New" panose="02070309020205020404" pitchFamily="49" charset="0"/>
                <a:cs typeface="Courier New" panose="02070309020205020404" pitchFamily="49" charset="0"/>
              </a:rPr>
              <a:t>'1978-01-09'</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a:ln>
                  <a:noFill/>
                </a:ln>
                <a:solidFill>
                  <a:srgbClr val="990055"/>
                </a:solidFill>
                <a:effectLst/>
                <a:latin typeface="Courier New" panose="02070309020205020404" pitchFamily="49" charset="0"/>
                <a:cs typeface="Courier New" panose="02070309020205020404" pitchFamily="49" charset="0"/>
              </a:rPr>
              <a:t>6</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a:ln>
                  <a:noFill/>
                </a:ln>
                <a:solidFill>
                  <a:srgbClr val="669900"/>
                </a:solidFill>
                <a:effectLst/>
                <a:latin typeface="Courier New" panose="02070309020205020404" pitchFamily="49" charset="0"/>
                <a:cs typeface="Courier New" panose="02070309020205020404" pitchFamily="49" charset="0"/>
              </a:rPr>
              <a:t>'Kapil'</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1600" b="0" i="0" u="none" strike="noStrike" cap="none" normalizeH="0" baseline="0" dirty="0">
                <a:ln>
                  <a:noFill/>
                </a:ln>
                <a:solidFill>
                  <a:srgbClr val="669900"/>
                </a:solidFill>
                <a:effectLst/>
                <a:latin typeface="Courier New" panose="02070309020205020404" pitchFamily="49" charset="0"/>
                <a:cs typeface="Courier New" panose="02070309020205020404" pitchFamily="49" charset="0"/>
              </a:rPr>
              <a:t>'Dev'</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1600" b="0" i="0" u="none" strike="noStrike" cap="none" normalizeH="0" baseline="0" dirty="0">
                <a:ln>
                  <a:noFill/>
                </a:ln>
                <a:solidFill>
                  <a:srgbClr val="669900"/>
                </a:solidFill>
                <a:effectLst/>
                <a:latin typeface="Courier New" panose="02070309020205020404" pitchFamily="49" charset="0"/>
                <a:cs typeface="Courier New" panose="02070309020205020404" pitchFamily="49" charset="0"/>
              </a:rPr>
              <a:t>'M'</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16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DATE</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1600" b="0" i="0" u="none" strike="noStrike" cap="none" normalizeH="0" baseline="0" dirty="0">
                <a:ln>
                  <a:noFill/>
                </a:ln>
                <a:solidFill>
                  <a:srgbClr val="669900"/>
                </a:solidFill>
                <a:effectLst/>
                <a:latin typeface="Courier New" panose="02070309020205020404" pitchFamily="49" charset="0"/>
                <a:cs typeface="Courier New" panose="02070309020205020404" pitchFamily="49" charset="0"/>
              </a:rPr>
              <a:t>'1959-03-26'</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a:ln>
                  <a:noFill/>
                </a:ln>
                <a:solidFill>
                  <a:srgbClr val="990055"/>
                </a:solidFill>
                <a:effectLst/>
                <a:latin typeface="Courier New" panose="02070309020205020404" pitchFamily="49" charset="0"/>
                <a:cs typeface="Courier New" panose="02070309020205020404" pitchFamily="49" charset="0"/>
              </a:rPr>
              <a:t>7</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a:ln>
                  <a:noFill/>
                </a:ln>
                <a:solidFill>
                  <a:srgbClr val="669900"/>
                </a:solidFill>
                <a:effectLst/>
                <a:latin typeface="Courier New" panose="02070309020205020404" pitchFamily="49" charset="0"/>
                <a:cs typeface="Courier New" panose="02070309020205020404" pitchFamily="49" charset="0"/>
              </a:rPr>
              <a:t>'Joe'</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a:ln>
                  <a:noFill/>
                </a:ln>
                <a:solidFill>
                  <a:srgbClr val="669900"/>
                </a:solidFill>
                <a:effectLst/>
                <a:latin typeface="Courier New" panose="02070309020205020404" pitchFamily="49" charset="0"/>
                <a:cs typeface="Courier New" panose="02070309020205020404" pitchFamily="49" charset="0"/>
              </a:rPr>
              <a:t>'Root'</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a:ln>
                  <a:noFill/>
                </a:ln>
                <a:solidFill>
                  <a:srgbClr val="669900"/>
                </a:solidFill>
                <a:effectLst/>
                <a:latin typeface="Courier New" panose="02070309020205020404" pitchFamily="49" charset="0"/>
                <a:cs typeface="Courier New" panose="02070309020205020404" pitchFamily="49" charset="0"/>
              </a:rPr>
              <a:t>'M'</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16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DATE</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1600" b="0" i="0" u="none" strike="noStrike" cap="none" normalizeH="0" baseline="0" dirty="0">
                <a:ln>
                  <a:noFill/>
                </a:ln>
                <a:solidFill>
                  <a:srgbClr val="669900"/>
                </a:solidFill>
                <a:effectLst/>
                <a:latin typeface="Courier New" panose="02070309020205020404" pitchFamily="49" charset="0"/>
                <a:cs typeface="Courier New" panose="02070309020205020404" pitchFamily="49" charset="0"/>
              </a:rPr>
              <a:t>'1988-11-29'</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a:ln>
                  <a:noFill/>
                </a:ln>
                <a:solidFill>
                  <a:srgbClr val="990055"/>
                </a:solidFill>
                <a:effectLst/>
                <a:latin typeface="Courier New" panose="02070309020205020404" pitchFamily="49" charset="0"/>
                <a:cs typeface="Courier New" panose="02070309020205020404" pitchFamily="49" charset="0"/>
              </a:rPr>
              <a:t>8</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a:ln>
                  <a:noFill/>
                </a:ln>
                <a:solidFill>
                  <a:srgbClr val="669900"/>
                </a:solidFill>
                <a:effectLst/>
                <a:latin typeface="Courier New" panose="02070309020205020404" pitchFamily="49" charset="0"/>
                <a:cs typeface="Courier New" panose="02070309020205020404" pitchFamily="49" charset="0"/>
              </a:rPr>
              <a:t>'Moeen'</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1600" b="0" i="0" u="none" strike="noStrike" cap="none" normalizeH="0" baseline="0" dirty="0">
                <a:ln>
                  <a:noFill/>
                </a:ln>
                <a:solidFill>
                  <a:srgbClr val="669900"/>
                </a:solidFill>
                <a:effectLst/>
                <a:latin typeface="Courier New" panose="02070309020205020404" pitchFamily="49" charset="0"/>
                <a:cs typeface="Courier New" panose="02070309020205020404" pitchFamily="49" charset="0"/>
              </a:rPr>
              <a:t>'Ali'</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1600" b="0" i="0" u="none" strike="noStrike" cap="none" normalizeH="0" baseline="0" dirty="0">
                <a:ln>
                  <a:noFill/>
                </a:ln>
                <a:solidFill>
                  <a:srgbClr val="669900"/>
                </a:solidFill>
                <a:effectLst/>
                <a:latin typeface="Courier New" panose="02070309020205020404" pitchFamily="49" charset="0"/>
                <a:cs typeface="Courier New" panose="02070309020205020404" pitchFamily="49" charset="0"/>
              </a:rPr>
              <a:t>'M'</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16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DATE</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1600" b="0" i="0" u="none" strike="noStrike" cap="none" normalizeH="0" baseline="0" dirty="0">
                <a:ln>
                  <a:noFill/>
                </a:ln>
                <a:solidFill>
                  <a:srgbClr val="669900"/>
                </a:solidFill>
                <a:effectLst/>
                <a:latin typeface="Courier New" panose="02070309020205020404" pitchFamily="49" charset="0"/>
                <a:cs typeface="Courier New" panose="02070309020205020404" pitchFamily="49" charset="0"/>
              </a:rPr>
              <a:t>'1999-04-16'</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800" b="0" i="0" u="none" strike="noStrike" cap="none" normalizeH="0" baseline="0" dirty="0">
                <a:ln>
                  <a:noFill/>
                </a:ln>
                <a:solidFill>
                  <a:schemeClr val="tx1"/>
                </a:solidFill>
                <a:effectLst/>
              </a:rPr>
              <a:t> </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pic>
        <p:nvPicPr>
          <p:cNvPr id="8" name="Picture 7">
            <a:extLst>
              <a:ext uri="{FF2B5EF4-FFF2-40B4-BE49-F238E27FC236}">
                <a16:creationId xmlns:a16="http://schemas.microsoft.com/office/drawing/2014/main" id="{6A265DED-ADFB-D2E0-4B66-E0B15C1E5AEA}"/>
              </a:ext>
            </a:extLst>
          </p:cNvPr>
          <p:cNvPicPr>
            <a:picLocks noChangeAspect="1"/>
          </p:cNvPicPr>
          <p:nvPr/>
        </p:nvPicPr>
        <p:blipFill>
          <a:blip r:embed="rId2"/>
          <a:stretch>
            <a:fillRect/>
          </a:stretch>
        </p:blipFill>
        <p:spPr>
          <a:xfrm>
            <a:off x="766325" y="2735705"/>
            <a:ext cx="10423832" cy="3147934"/>
          </a:xfrm>
          <a:prstGeom prst="rect">
            <a:avLst/>
          </a:prstGeom>
          <a:ln>
            <a:solidFill>
              <a:schemeClr val="tx1"/>
            </a:solidFill>
          </a:ln>
        </p:spPr>
      </p:pic>
    </p:spTree>
    <p:extLst>
      <p:ext uri="{BB962C8B-B14F-4D97-AF65-F5344CB8AC3E}">
        <p14:creationId xmlns:p14="http://schemas.microsoft.com/office/powerpoint/2010/main" val="3374120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3FF2311-8541-933E-8E65-0E4E09A52386}"/>
              </a:ext>
            </a:extLst>
          </p:cNvPr>
          <p:cNvSpPr>
            <a:spLocks noGrp="1"/>
          </p:cNvSpPr>
          <p:nvPr>
            <p:ph type="sldNum" sz="quarter" idx="12"/>
          </p:nvPr>
        </p:nvSpPr>
        <p:spPr/>
        <p:txBody>
          <a:bodyPr/>
          <a:lstStyle/>
          <a:p>
            <a:fld id="{CBABCCC1-BF11-4F37-963E-1BCD5B23FD72}" type="slidenum">
              <a:rPr lang="en-IN" smtClean="0"/>
              <a:t>26</a:t>
            </a:fld>
            <a:endParaRPr lang="en-IN"/>
          </a:p>
        </p:txBody>
      </p:sp>
      <p:sp>
        <p:nvSpPr>
          <p:cNvPr id="6" name="TextBox 5">
            <a:extLst>
              <a:ext uri="{FF2B5EF4-FFF2-40B4-BE49-F238E27FC236}">
                <a16:creationId xmlns:a16="http://schemas.microsoft.com/office/drawing/2014/main" id="{E2B553C4-0936-1CD8-EF8C-7FDA58F25881}"/>
              </a:ext>
            </a:extLst>
          </p:cNvPr>
          <p:cNvSpPr txBox="1"/>
          <p:nvPr/>
        </p:nvSpPr>
        <p:spPr>
          <a:xfrm>
            <a:off x="779487" y="776311"/>
            <a:ext cx="10508105" cy="707886"/>
          </a:xfrm>
          <a:prstGeom prst="rect">
            <a:avLst/>
          </a:prstGeom>
          <a:noFill/>
        </p:spPr>
        <p:txBody>
          <a:bodyPr wrap="square">
            <a:spAutoFit/>
          </a:bodyPr>
          <a:lstStyle/>
          <a:p>
            <a:pPr algn="just"/>
            <a:r>
              <a:rPr lang="en-US" sz="20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3</a:t>
            </a:r>
            <a:r>
              <a:rPr lang="en-US" sz="20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 UPDATE command: </a:t>
            </a:r>
            <a:r>
              <a:rPr lang="en-US" sz="2000" dirty="0">
                <a:solidFill>
                  <a:srgbClr val="333333"/>
                </a:solidFill>
                <a:latin typeface="Times New Roman" panose="02020603050405020304" pitchFamily="18" charset="0"/>
                <a:cs typeface="Times New Roman" panose="02020603050405020304" pitchFamily="18" charset="0"/>
              </a:rPr>
              <a:t>This DML command allows the database users to change the existing record or rows in the tables.</a:t>
            </a:r>
            <a:endParaRPr lang="en-IN" sz="2000" dirty="0">
              <a:solidFill>
                <a:srgbClr val="333333"/>
              </a:solidFill>
              <a:latin typeface="Times New Roman" panose="02020603050405020304" pitchFamily="18" charset="0"/>
              <a:cs typeface="Times New Roman" panose="02020603050405020304" pitchFamily="18" charset="0"/>
            </a:endParaRPr>
          </a:p>
        </p:txBody>
      </p:sp>
      <p:sp>
        <p:nvSpPr>
          <p:cNvPr id="7" name="Rounded Rectangle 17">
            <a:extLst>
              <a:ext uri="{FF2B5EF4-FFF2-40B4-BE49-F238E27FC236}">
                <a16:creationId xmlns:a16="http://schemas.microsoft.com/office/drawing/2014/main" id="{EC11DCA1-5C0C-C26A-B423-3BBDB8458F41}"/>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DATA MANIPULATION LANGUAGE (Cont..)</a:t>
            </a:r>
          </a:p>
        </p:txBody>
      </p:sp>
      <p:sp>
        <p:nvSpPr>
          <p:cNvPr id="8" name="Rectangle 7">
            <a:extLst>
              <a:ext uri="{FF2B5EF4-FFF2-40B4-BE49-F238E27FC236}">
                <a16:creationId xmlns:a16="http://schemas.microsoft.com/office/drawing/2014/main" id="{12C13422-2545-6DC8-4C8B-DB511956B136}"/>
              </a:ext>
            </a:extLst>
          </p:cNvPr>
          <p:cNvSpPr>
            <a:spLocks noChangeArrowheads="1"/>
          </p:cNvSpPr>
          <p:nvPr/>
        </p:nvSpPr>
        <p:spPr bwMode="auto">
          <a:xfrm>
            <a:off x="931511" y="1761104"/>
            <a:ext cx="10293344" cy="738664"/>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UPDATE</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&lt;</a:t>
            </a:r>
            <a:r>
              <a:rPr kumimoji="0" lang="en-US" altLang="en-US" sz="24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table_name</a:t>
            </a:r>
            <a:r>
              <a:rPr kumimoji="0" lang="en-US" altLang="en-US" sz="2400"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&gt;</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SET</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&lt;</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column1</a:t>
            </a:r>
            <a:r>
              <a:rPr kumimoji="0" lang="en-US" altLang="en-US" sz="2400"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&gt;</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&lt;</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value1</a:t>
            </a:r>
            <a:r>
              <a:rPr kumimoji="0" lang="en-US" altLang="en-US" sz="2400"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&gt;</a:t>
            </a:r>
            <a:r>
              <a:rPr kumimoji="0" lang="en-US" altLang="en-US" sz="24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&lt;</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column2</a:t>
            </a:r>
            <a:r>
              <a:rPr kumimoji="0" lang="en-US" altLang="en-US" sz="2400"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&gt;</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&lt;</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value2</a:t>
            </a:r>
            <a:r>
              <a:rPr kumimoji="0" lang="en-US" altLang="en-US" sz="2400"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&gt;</a:t>
            </a:r>
            <a:r>
              <a:rPr kumimoji="0" lang="en-US" altLang="en-US" sz="24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WHERE</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&lt;</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condition</a:t>
            </a:r>
            <a:r>
              <a:rPr kumimoji="0" lang="en-US" altLang="en-US" sz="2400"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&gt;</a:t>
            </a:r>
            <a:r>
              <a:rPr kumimoji="0" lang="en-US" altLang="en-US" sz="1050" b="0" i="0" u="none" strike="noStrike" cap="none" normalizeH="0" baseline="0" dirty="0">
                <a:ln>
                  <a:noFill/>
                </a:ln>
                <a:solidFill>
                  <a:schemeClr val="tx1"/>
                </a:solidFill>
                <a:effectLst/>
              </a:rPr>
              <a:t> </a:t>
            </a:r>
            <a:endParaRPr kumimoji="0" lang="en-US" altLang="en-US" sz="3600" b="0" i="0" u="none" strike="noStrike" cap="none" normalizeH="0" baseline="0" dirty="0">
              <a:ln>
                <a:noFill/>
              </a:ln>
              <a:solidFill>
                <a:schemeClr val="tx1"/>
              </a:solidFill>
              <a:effectLst/>
              <a:latin typeface="Arial" panose="020B0604020202020204" pitchFamily="34" charset="0"/>
            </a:endParaRPr>
          </a:p>
        </p:txBody>
      </p:sp>
      <p:sp>
        <p:nvSpPr>
          <p:cNvPr id="10" name="TextBox 9">
            <a:extLst>
              <a:ext uri="{FF2B5EF4-FFF2-40B4-BE49-F238E27FC236}">
                <a16:creationId xmlns:a16="http://schemas.microsoft.com/office/drawing/2014/main" id="{3E17EB8A-A03D-515E-61F4-E7C41AB90954}"/>
              </a:ext>
            </a:extLst>
          </p:cNvPr>
          <p:cNvSpPr txBox="1"/>
          <p:nvPr/>
        </p:nvSpPr>
        <p:spPr>
          <a:xfrm>
            <a:off x="842222" y="2802001"/>
            <a:ext cx="10382633" cy="1253998"/>
          </a:xfrm>
          <a:prstGeom prst="rect">
            <a:avLst/>
          </a:prstGeom>
          <a:noFill/>
        </p:spPr>
        <p:txBody>
          <a:bodyPr wrap="square">
            <a:spAutoFit/>
          </a:bodyPr>
          <a:lstStyle/>
          <a:p>
            <a:pPr algn="just">
              <a:lnSpc>
                <a:spcPct val="115000"/>
              </a:lnSpc>
              <a:spcAft>
                <a:spcPts val="1000"/>
              </a:spcAft>
            </a:pPr>
            <a:r>
              <a:rPr lang="en-US" sz="2000" dirty="0">
                <a:solidFill>
                  <a:srgbClr val="333333"/>
                </a:solidFill>
                <a:latin typeface="Times New Roman" panose="02020603050405020304" pitchFamily="18" charset="0"/>
                <a:cs typeface="Times New Roman" panose="02020603050405020304" pitchFamily="18" charset="0"/>
              </a:rPr>
              <a:t>Here, 'UPDATE', 'SET', and 'WHERE' are the SQL keywords, and '</a:t>
            </a:r>
            <a:r>
              <a:rPr lang="en-US" sz="2000" dirty="0" err="1">
                <a:solidFill>
                  <a:srgbClr val="333333"/>
                </a:solidFill>
                <a:latin typeface="Times New Roman" panose="02020603050405020304" pitchFamily="18" charset="0"/>
                <a:cs typeface="Times New Roman" panose="02020603050405020304" pitchFamily="18" charset="0"/>
              </a:rPr>
              <a:t>Table_name</a:t>
            </a:r>
            <a:r>
              <a:rPr lang="en-US" sz="2000" dirty="0">
                <a:solidFill>
                  <a:srgbClr val="333333"/>
                </a:solidFill>
                <a:latin typeface="Times New Roman" panose="02020603050405020304" pitchFamily="18" charset="0"/>
                <a:cs typeface="Times New Roman" panose="02020603050405020304" pitchFamily="18" charset="0"/>
              </a:rPr>
              <a:t>' is the name of the table whose values we want to update.</a:t>
            </a:r>
          </a:p>
          <a:p>
            <a:pPr algn="just">
              <a:lnSpc>
                <a:spcPct val="115000"/>
              </a:lnSpc>
              <a:spcAft>
                <a:spcPts val="1000"/>
              </a:spcAft>
            </a:pPr>
            <a:r>
              <a:rPr lang="en-US" altLang="en-US" sz="2000" dirty="0">
                <a:solidFill>
                  <a:srgbClr val="333333"/>
                </a:solidFill>
                <a:latin typeface="Times New Roman" panose="02020603050405020304" pitchFamily="18" charset="0"/>
                <a:cs typeface="Times New Roman" panose="02020603050405020304" pitchFamily="18" charset="0"/>
              </a:rPr>
              <a:t>For example, the following UPDATE statement will update an email of a person whose id=1. </a:t>
            </a:r>
          </a:p>
        </p:txBody>
      </p:sp>
      <p:sp>
        <p:nvSpPr>
          <p:cNvPr id="11" name="Rectangle 3">
            <a:extLst>
              <a:ext uri="{FF2B5EF4-FFF2-40B4-BE49-F238E27FC236}">
                <a16:creationId xmlns:a16="http://schemas.microsoft.com/office/drawing/2014/main" id="{746237D7-4CF4-4356-1B7D-FD08E2427CA2}"/>
              </a:ext>
            </a:extLst>
          </p:cNvPr>
          <p:cNvSpPr>
            <a:spLocks noChangeArrowheads="1"/>
          </p:cNvSpPr>
          <p:nvPr/>
        </p:nvSpPr>
        <p:spPr bwMode="auto">
          <a:xfrm>
            <a:off x="931511" y="4457895"/>
            <a:ext cx="10356081" cy="738664"/>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UPDATE</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lang="en-US" altLang="en-US" sz="2400" dirty="0">
                <a:solidFill>
                  <a:srgbClr val="000000"/>
                </a:solidFill>
                <a:latin typeface="Courier New" panose="02070309020205020404" pitchFamily="49" charset="0"/>
                <a:cs typeface="Courier New" panose="02070309020205020404" pitchFamily="49" charset="0"/>
              </a:rPr>
              <a:t>person</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SET</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email_id</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dirty="0">
                <a:ln>
                  <a:noFill/>
                </a:ln>
                <a:solidFill>
                  <a:srgbClr val="669900"/>
                </a:solidFill>
                <a:effectLst/>
                <a:latin typeface="Courier New" panose="02070309020205020404" pitchFamily="49" charset="0"/>
                <a:cs typeface="Courier New" panose="02070309020205020404" pitchFamily="49" charset="0"/>
              </a:rPr>
              <a:t>'annie.smith@myemail.com'</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WHERE</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id </a:t>
            </a:r>
            <a:r>
              <a:rPr kumimoji="0" lang="en-US" altLang="en-US" sz="2400"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dirty="0">
                <a:ln>
                  <a:noFill/>
                </a:ln>
                <a:solidFill>
                  <a:srgbClr val="990055"/>
                </a:solidFill>
                <a:effectLst/>
                <a:latin typeface="Courier New" panose="02070309020205020404" pitchFamily="49" charset="0"/>
                <a:cs typeface="Courier New" panose="02070309020205020404" pitchFamily="49" charset="0"/>
              </a:rPr>
              <a:t>1</a:t>
            </a:r>
            <a:r>
              <a:rPr kumimoji="0" lang="en-US" altLang="en-US" sz="24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050" b="0" i="0" u="none" strike="noStrike" cap="none" normalizeH="0" baseline="0" dirty="0">
                <a:ln>
                  <a:noFill/>
                </a:ln>
                <a:solidFill>
                  <a:schemeClr val="tx1"/>
                </a:solidFill>
                <a:effectLst/>
              </a:rPr>
              <a:t> </a:t>
            </a:r>
            <a:endParaRPr kumimoji="0" lang="en-US" altLang="en-US" sz="3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36642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16DB7BB-95CC-C319-3BBC-5D757B08362F}"/>
              </a:ext>
            </a:extLst>
          </p:cNvPr>
          <p:cNvSpPr>
            <a:spLocks noGrp="1"/>
          </p:cNvSpPr>
          <p:nvPr>
            <p:ph type="sldNum" sz="quarter" idx="12"/>
          </p:nvPr>
        </p:nvSpPr>
        <p:spPr/>
        <p:txBody>
          <a:bodyPr/>
          <a:lstStyle/>
          <a:p>
            <a:fld id="{CBABCCC1-BF11-4F37-963E-1BCD5B23FD72}" type="slidenum">
              <a:rPr lang="en-IN" smtClean="0"/>
              <a:t>27</a:t>
            </a:fld>
            <a:endParaRPr lang="en-IN"/>
          </a:p>
        </p:txBody>
      </p:sp>
      <p:pic>
        <p:nvPicPr>
          <p:cNvPr id="4" name="Picture 3">
            <a:extLst>
              <a:ext uri="{FF2B5EF4-FFF2-40B4-BE49-F238E27FC236}">
                <a16:creationId xmlns:a16="http://schemas.microsoft.com/office/drawing/2014/main" id="{9162CCDC-DDE9-D0CD-D32F-1561EE784C56}"/>
              </a:ext>
            </a:extLst>
          </p:cNvPr>
          <p:cNvPicPr>
            <a:picLocks noChangeAspect="1"/>
          </p:cNvPicPr>
          <p:nvPr/>
        </p:nvPicPr>
        <p:blipFill>
          <a:blip r:embed="rId2"/>
          <a:stretch>
            <a:fillRect/>
          </a:stretch>
        </p:blipFill>
        <p:spPr>
          <a:xfrm>
            <a:off x="981855" y="786984"/>
            <a:ext cx="10245777" cy="3530183"/>
          </a:xfrm>
          <a:prstGeom prst="rect">
            <a:avLst/>
          </a:prstGeom>
          <a:ln>
            <a:solidFill>
              <a:schemeClr val="tx1"/>
            </a:solidFill>
          </a:ln>
        </p:spPr>
      </p:pic>
      <p:sp>
        <p:nvSpPr>
          <p:cNvPr id="5" name="Rounded Rectangle 17">
            <a:extLst>
              <a:ext uri="{FF2B5EF4-FFF2-40B4-BE49-F238E27FC236}">
                <a16:creationId xmlns:a16="http://schemas.microsoft.com/office/drawing/2014/main" id="{BFCAA4F2-EFDD-9C47-9DAD-6E93800182D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DATA MANIPULATION LANGUAGE (Cont..)</a:t>
            </a:r>
          </a:p>
        </p:txBody>
      </p:sp>
      <p:sp>
        <p:nvSpPr>
          <p:cNvPr id="7" name="TextBox 6">
            <a:extLst>
              <a:ext uri="{FF2B5EF4-FFF2-40B4-BE49-F238E27FC236}">
                <a16:creationId xmlns:a16="http://schemas.microsoft.com/office/drawing/2014/main" id="{1BDE906C-31C4-D8D0-964E-9265AFD9AA9E}"/>
              </a:ext>
            </a:extLst>
          </p:cNvPr>
          <p:cNvSpPr txBox="1"/>
          <p:nvPr/>
        </p:nvSpPr>
        <p:spPr>
          <a:xfrm>
            <a:off x="876924" y="4441150"/>
            <a:ext cx="10350708" cy="839845"/>
          </a:xfrm>
          <a:prstGeom prst="rect">
            <a:avLst/>
          </a:prstGeom>
          <a:noFill/>
        </p:spPr>
        <p:txBody>
          <a:bodyPr wrap="square">
            <a:spAutoFit/>
          </a:bodyPr>
          <a:lstStyle/>
          <a:p>
            <a:pPr algn="just">
              <a:lnSpc>
                <a:spcPct val="115000"/>
              </a:lnSpc>
              <a:spcAft>
                <a:spcPts val="1000"/>
              </a:spcAft>
            </a:pPr>
            <a:r>
              <a:rPr lang="en-US" altLang="en-US" sz="2200" dirty="0">
                <a:solidFill>
                  <a:srgbClr val="333333"/>
                </a:solidFill>
                <a:latin typeface="Times New Roman" panose="02020603050405020304" pitchFamily="18" charset="0"/>
                <a:cs typeface="Times New Roman" panose="02020603050405020304" pitchFamily="18" charset="0"/>
              </a:rPr>
              <a:t>If you don't specify the WHERE clause, then it will update the email column value in all the rows. </a:t>
            </a:r>
          </a:p>
        </p:txBody>
      </p:sp>
      <p:sp>
        <p:nvSpPr>
          <p:cNvPr id="8" name="Rectangle 5">
            <a:extLst>
              <a:ext uri="{FF2B5EF4-FFF2-40B4-BE49-F238E27FC236}">
                <a16:creationId xmlns:a16="http://schemas.microsoft.com/office/drawing/2014/main" id="{46563B60-2F8C-FD42-C591-64543F9B59E3}"/>
              </a:ext>
            </a:extLst>
          </p:cNvPr>
          <p:cNvSpPr>
            <a:spLocks noChangeArrowheads="1"/>
          </p:cNvSpPr>
          <p:nvPr/>
        </p:nvSpPr>
        <p:spPr bwMode="auto">
          <a:xfrm>
            <a:off x="981855" y="5404978"/>
            <a:ext cx="10245777" cy="307777"/>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UPDATE</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lang="en-US" altLang="en-US" sz="2000" dirty="0">
                <a:solidFill>
                  <a:srgbClr val="000000"/>
                </a:solidFill>
                <a:latin typeface="Courier New" panose="02070309020205020404" pitchFamily="49" charset="0"/>
                <a:cs typeface="Courier New" panose="02070309020205020404" pitchFamily="49" charset="0"/>
              </a:rPr>
              <a:t>person</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0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SET</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0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email_id</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000"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000" b="0" i="0" u="none" strike="noStrike" cap="none" normalizeH="0" baseline="0" dirty="0">
                <a:ln>
                  <a:noFill/>
                </a:ln>
                <a:solidFill>
                  <a:srgbClr val="669900"/>
                </a:solidFill>
                <a:effectLst/>
                <a:latin typeface="Courier New" panose="02070309020205020404" pitchFamily="49" charset="0"/>
                <a:cs typeface="Courier New" panose="02070309020205020404" pitchFamily="49" charset="0"/>
              </a:rPr>
              <a:t>'annie.smith@myemail.com'</a:t>
            </a:r>
            <a:r>
              <a:rPr kumimoji="0" lang="en-US" altLang="en-US" sz="20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000" b="0" i="0" u="none" strike="noStrike" cap="none" normalizeH="0" baseline="0" dirty="0">
                <a:ln>
                  <a:noFill/>
                </a:ln>
                <a:solidFill>
                  <a:schemeClr val="tx1"/>
                </a:solidFill>
                <a:effectLst/>
              </a:rPr>
              <a:t> </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40161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26070E0-9A08-8A86-2F8E-D0F8AF3EE484}"/>
              </a:ext>
            </a:extLst>
          </p:cNvPr>
          <p:cNvSpPr>
            <a:spLocks noGrp="1"/>
          </p:cNvSpPr>
          <p:nvPr>
            <p:ph type="sldNum" sz="quarter" idx="12"/>
          </p:nvPr>
        </p:nvSpPr>
        <p:spPr/>
        <p:txBody>
          <a:bodyPr/>
          <a:lstStyle/>
          <a:p>
            <a:fld id="{CBABCCC1-BF11-4F37-963E-1BCD5B23FD72}" type="slidenum">
              <a:rPr lang="en-IN" smtClean="0"/>
              <a:t>28</a:t>
            </a:fld>
            <a:endParaRPr lang="en-IN"/>
          </a:p>
        </p:txBody>
      </p:sp>
      <p:sp>
        <p:nvSpPr>
          <p:cNvPr id="3" name="Rounded Rectangle 17">
            <a:extLst>
              <a:ext uri="{FF2B5EF4-FFF2-40B4-BE49-F238E27FC236}">
                <a16:creationId xmlns:a16="http://schemas.microsoft.com/office/drawing/2014/main" id="{E39A565D-AED1-3159-2051-163C9B1AC4CA}"/>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DATA MANIPULATION LANGUAGE (Cont..)</a:t>
            </a:r>
          </a:p>
        </p:txBody>
      </p:sp>
      <p:sp>
        <p:nvSpPr>
          <p:cNvPr id="5" name="TextBox 4">
            <a:extLst>
              <a:ext uri="{FF2B5EF4-FFF2-40B4-BE49-F238E27FC236}">
                <a16:creationId xmlns:a16="http://schemas.microsoft.com/office/drawing/2014/main" id="{DC3E923A-C96E-6221-9A13-FA8A9C42AEA8}"/>
              </a:ext>
            </a:extLst>
          </p:cNvPr>
          <p:cNvSpPr txBox="1"/>
          <p:nvPr/>
        </p:nvSpPr>
        <p:spPr>
          <a:xfrm>
            <a:off x="861934" y="789682"/>
            <a:ext cx="10350708" cy="1568635"/>
          </a:xfrm>
          <a:prstGeom prst="rect">
            <a:avLst/>
          </a:prstGeom>
          <a:noFill/>
        </p:spPr>
        <p:txBody>
          <a:bodyPr wrap="square">
            <a:spAutoFit/>
          </a:bodyPr>
          <a:lstStyle/>
          <a:p>
            <a:pPr algn="just"/>
            <a:r>
              <a:rPr lang="en-US" sz="20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3) DELETE command: </a:t>
            </a:r>
            <a:r>
              <a:rPr lang="en-US" sz="2000" dirty="0">
                <a:solidFill>
                  <a:srgbClr val="333333"/>
                </a:solidFill>
                <a:latin typeface="Times New Roman" panose="02020603050405020304" pitchFamily="18" charset="0"/>
                <a:cs typeface="Times New Roman" panose="02020603050405020304" pitchFamily="18" charset="0"/>
              </a:rPr>
              <a:t>DELETE is a DML command which allows SQL users to remove single or multiple existing records from the database tables.</a:t>
            </a:r>
            <a:endParaRPr lang="en-US" sz="2000" dirty="0">
              <a:solidFill>
                <a:srgbClr val="0077AA"/>
              </a:solidFill>
              <a:latin typeface="Courier New" panose="02070309020205020404" pitchFamily="49" charset="0"/>
              <a:cs typeface="Courier New" panose="02070309020205020404" pitchFamily="49" charset="0"/>
            </a:endParaRPr>
          </a:p>
          <a:p>
            <a:pPr algn="just">
              <a:lnSpc>
                <a:spcPct val="115000"/>
              </a:lnSpc>
              <a:spcAft>
                <a:spcPts val="1000"/>
              </a:spcAft>
            </a:pPr>
            <a:r>
              <a:rPr lang="en-US" sz="2000" dirty="0">
                <a:solidFill>
                  <a:srgbClr val="0077AA"/>
                </a:solidFill>
                <a:latin typeface="Courier New" panose="02070309020205020404" pitchFamily="49" charset="0"/>
                <a:cs typeface="Courier New" panose="02070309020205020404" pitchFamily="49" charset="0"/>
              </a:rPr>
              <a:t>DELETE FROM </a:t>
            </a:r>
            <a:r>
              <a:rPr lang="en-US" sz="2000" dirty="0" err="1">
                <a:solidFill>
                  <a:srgbClr val="000000"/>
                </a:solidFill>
                <a:latin typeface="Courier New" panose="02070309020205020404" pitchFamily="49" charset="0"/>
                <a:cs typeface="Courier New" panose="02070309020205020404" pitchFamily="49" charset="0"/>
              </a:rPr>
              <a:t>Table_Name</a:t>
            </a:r>
            <a:r>
              <a:rPr lang="en-US" sz="2000" dirty="0">
                <a:solidFill>
                  <a:srgbClr val="000000"/>
                </a:solidFill>
                <a:latin typeface="Courier New" panose="02070309020205020404" pitchFamily="49" charset="0"/>
                <a:cs typeface="Courier New" panose="02070309020205020404" pitchFamily="49" charset="0"/>
              </a:rPr>
              <a:t> </a:t>
            </a:r>
            <a:r>
              <a:rPr lang="en-US" sz="2000" dirty="0">
                <a:solidFill>
                  <a:srgbClr val="0077AA"/>
                </a:solidFill>
                <a:latin typeface="Courier New" panose="02070309020205020404" pitchFamily="49" charset="0"/>
                <a:cs typeface="Courier New" panose="02070309020205020404" pitchFamily="49" charset="0"/>
              </a:rPr>
              <a:t>WHERE</a:t>
            </a:r>
            <a:r>
              <a:rPr lang="en-US" sz="1600" dirty="0">
                <a:solidFill>
                  <a:srgbClr val="000000"/>
                </a:solidFill>
                <a:effectLst/>
                <a:latin typeface="Segoe UI" panose="020B0502040204020203" pitchFamily="34" charset="0"/>
                <a:ea typeface="Times New Roman" panose="02020603050405020304" pitchFamily="18" charset="0"/>
              </a:rPr>
              <a:t> </a:t>
            </a:r>
            <a:r>
              <a:rPr lang="en-US" sz="2000" dirty="0">
                <a:solidFill>
                  <a:srgbClr val="000000"/>
                </a:solidFill>
                <a:latin typeface="Courier New" panose="02070309020205020404" pitchFamily="49" charset="0"/>
                <a:cs typeface="Courier New" panose="02070309020205020404" pitchFamily="49" charset="0"/>
              </a:rPr>
              <a:t>condition; </a:t>
            </a:r>
            <a:r>
              <a:rPr lang="en-US" sz="2400" dirty="0">
                <a:solidFill>
                  <a:srgbClr val="333333"/>
                </a:solidFill>
                <a:latin typeface="Times New Roman" panose="02020603050405020304" pitchFamily="18" charset="0"/>
                <a:cs typeface="Times New Roman" panose="02020603050405020304" pitchFamily="18" charset="0"/>
              </a:rPr>
              <a:t> </a:t>
            </a:r>
          </a:p>
          <a:p>
            <a:pPr algn="just"/>
            <a:r>
              <a:rPr lang="en-US" altLang="en-US" sz="2000" dirty="0">
                <a:solidFill>
                  <a:srgbClr val="333333"/>
                </a:solidFill>
                <a:latin typeface="Times New Roman" panose="02020603050405020304" pitchFamily="18" charset="0"/>
                <a:cs typeface="Times New Roman" panose="02020603050405020304" pitchFamily="18" charset="0"/>
              </a:rPr>
              <a:t>let's remove data from the person table whose id is 3. </a:t>
            </a:r>
            <a:endParaRPr lang="en-IN" sz="2000" dirty="0"/>
          </a:p>
        </p:txBody>
      </p:sp>
      <p:sp>
        <p:nvSpPr>
          <p:cNvPr id="6" name="Rectangle 1">
            <a:extLst>
              <a:ext uri="{FF2B5EF4-FFF2-40B4-BE49-F238E27FC236}">
                <a16:creationId xmlns:a16="http://schemas.microsoft.com/office/drawing/2014/main" id="{1CF11235-F253-53D7-CEDA-10C3649C9A42}"/>
              </a:ext>
            </a:extLst>
          </p:cNvPr>
          <p:cNvSpPr>
            <a:spLocks noChangeArrowheads="1"/>
          </p:cNvSpPr>
          <p:nvPr/>
        </p:nvSpPr>
        <p:spPr bwMode="auto">
          <a:xfrm>
            <a:off x="1008088" y="2396473"/>
            <a:ext cx="10058399" cy="369332"/>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DELETE</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FROM</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person </a:t>
            </a:r>
            <a:r>
              <a:rPr kumimoji="0" lang="en-US" altLang="en-US" sz="24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WHERE</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id </a:t>
            </a:r>
            <a:r>
              <a:rPr kumimoji="0" lang="en-US" altLang="en-US" sz="2400"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lang="en-US" altLang="en-US" sz="2400" dirty="0">
                <a:solidFill>
                  <a:srgbClr val="990055"/>
                </a:solidFill>
                <a:latin typeface="Courier New" panose="02070309020205020404" pitchFamily="49" charset="0"/>
                <a:cs typeface="Courier New" panose="02070309020205020404" pitchFamily="49" charset="0"/>
              </a:rPr>
              <a:t>3</a:t>
            </a:r>
            <a:r>
              <a:rPr kumimoji="0" lang="en-US" altLang="en-US" sz="24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050" b="0" i="0" u="none" strike="noStrike" cap="none" normalizeH="0" baseline="0" dirty="0">
                <a:ln>
                  <a:noFill/>
                </a:ln>
                <a:solidFill>
                  <a:schemeClr val="tx1"/>
                </a:solidFill>
                <a:effectLst/>
              </a:rPr>
              <a:t> </a:t>
            </a:r>
            <a:endParaRPr kumimoji="0" lang="en-US" altLang="en-US" sz="3600" b="0" i="0" u="none" strike="noStrike" cap="none" normalizeH="0" baseline="0" dirty="0">
              <a:ln>
                <a:noFill/>
              </a:ln>
              <a:solidFill>
                <a:schemeClr val="tx1"/>
              </a:solidFill>
              <a:effectLst/>
              <a:latin typeface="Arial" panose="020B0604020202020204" pitchFamily="34" charset="0"/>
            </a:endParaRPr>
          </a:p>
        </p:txBody>
      </p:sp>
      <p:pic>
        <p:nvPicPr>
          <p:cNvPr id="8" name="Picture 7">
            <a:extLst>
              <a:ext uri="{FF2B5EF4-FFF2-40B4-BE49-F238E27FC236}">
                <a16:creationId xmlns:a16="http://schemas.microsoft.com/office/drawing/2014/main" id="{3429DB0A-F7CF-EA5E-7E73-4A9B78848A2D}"/>
              </a:ext>
            </a:extLst>
          </p:cNvPr>
          <p:cNvPicPr>
            <a:picLocks noChangeAspect="1"/>
          </p:cNvPicPr>
          <p:nvPr/>
        </p:nvPicPr>
        <p:blipFill>
          <a:blip r:embed="rId2"/>
          <a:stretch>
            <a:fillRect/>
          </a:stretch>
        </p:blipFill>
        <p:spPr>
          <a:xfrm>
            <a:off x="1008088" y="2934962"/>
            <a:ext cx="10058399" cy="3016134"/>
          </a:xfrm>
          <a:prstGeom prst="rect">
            <a:avLst/>
          </a:prstGeom>
          <a:ln>
            <a:solidFill>
              <a:schemeClr val="tx1"/>
            </a:solidFill>
          </a:ln>
        </p:spPr>
      </p:pic>
    </p:spTree>
    <p:extLst>
      <p:ext uri="{BB962C8B-B14F-4D97-AF65-F5344CB8AC3E}">
        <p14:creationId xmlns:p14="http://schemas.microsoft.com/office/powerpoint/2010/main" val="387354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26070E0-9A08-8A86-2F8E-D0F8AF3EE484}"/>
              </a:ext>
            </a:extLst>
          </p:cNvPr>
          <p:cNvSpPr>
            <a:spLocks noGrp="1"/>
          </p:cNvSpPr>
          <p:nvPr>
            <p:ph type="sldNum" sz="quarter" idx="12"/>
          </p:nvPr>
        </p:nvSpPr>
        <p:spPr/>
        <p:txBody>
          <a:bodyPr/>
          <a:lstStyle/>
          <a:p>
            <a:fld id="{CBABCCC1-BF11-4F37-963E-1BCD5B23FD72}" type="slidenum">
              <a:rPr lang="en-IN" smtClean="0"/>
              <a:t>29</a:t>
            </a:fld>
            <a:endParaRPr lang="en-IN"/>
          </a:p>
        </p:txBody>
      </p:sp>
      <p:sp>
        <p:nvSpPr>
          <p:cNvPr id="3" name="Rounded Rectangle 17">
            <a:extLst>
              <a:ext uri="{FF2B5EF4-FFF2-40B4-BE49-F238E27FC236}">
                <a16:creationId xmlns:a16="http://schemas.microsoft.com/office/drawing/2014/main" id="{E39A565D-AED1-3159-2051-163C9B1AC4CA}"/>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DATA MANIPULATION LANGUAGE (Cont..)</a:t>
            </a:r>
          </a:p>
        </p:txBody>
      </p:sp>
      <p:sp>
        <p:nvSpPr>
          <p:cNvPr id="6" name="Rectangle 1">
            <a:extLst>
              <a:ext uri="{FF2B5EF4-FFF2-40B4-BE49-F238E27FC236}">
                <a16:creationId xmlns:a16="http://schemas.microsoft.com/office/drawing/2014/main" id="{1CF11235-F253-53D7-CEDA-10C3649C9A42}"/>
              </a:ext>
            </a:extLst>
          </p:cNvPr>
          <p:cNvSpPr>
            <a:spLocks noChangeArrowheads="1"/>
          </p:cNvSpPr>
          <p:nvPr/>
        </p:nvSpPr>
        <p:spPr bwMode="auto">
          <a:xfrm>
            <a:off x="851543" y="1726293"/>
            <a:ext cx="10267443"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DELETE</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FROM</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person </a:t>
            </a:r>
            <a:r>
              <a:rPr kumimoji="0" lang="en-US" altLang="en-US" sz="24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WHERE</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id IN (4,5)</a:t>
            </a:r>
            <a:r>
              <a:rPr kumimoji="0" lang="en-US" altLang="en-US" sz="24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050" b="0" i="0" u="none" strike="noStrike" cap="none" normalizeH="0" baseline="0" dirty="0">
                <a:ln>
                  <a:noFill/>
                </a:ln>
                <a:solidFill>
                  <a:schemeClr val="tx1"/>
                </a:solidFill>
                <a:effectLst/>
              </a:rPr>
              <a:t> </a:t>
            </a:r>
            <a:endParaRPr kumimoji="0" lang="en-US" altLang="en-US" sz="3600" b="0" i="0" u="none" strike="noStrike" cap="none" normalizeH="0" baseline="0" dirty="0">
              <a:ln>
                <a:noFill/>
              </a:ln>
              <a:solidFill>
                <a:schemeClr val="tx1"/>
              </a:solidFill>
              <a:effectLst/>
              <a:latin typeface="Arial" panose="020B0604020202020204" pitchFamily="34" charset="0"/>
            </a:endParaRPr>
          </a:p>
        </p:txBody>
      </p:sp>
      <p:sp>
        <p:nvSpPr>
          <p:cNvPr id="4" name="TextBox 3">
            <a:extLst>
              <a:ext uri="{FF2B5EF4-FFF2-40B4-BE49-F238E27FC236}">
                <a16:creationId xmlns:a16="http://schemas.microsoft.com/office/drawing/2014/main" id="{809D5F78-AF46-CC17-7DB9-B6BB082E41F9}"/>
              </a:ext>
            </a:extLst>
          </p:cNvPr>
          <p:cNvSpPr txBox="1"/>
          <p:nvPr/>
        </p:nvSpPr>
        <p:spPr>
          <a:xfrm>
            <a:off x="747020" y="789683"/>
            <a:ext cx="10371965" cy="707886"/>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2000" dirty="0">
                <a:solidFill>
                  <a:srgbClr val="333333"/>
                </a:solidFill>
                <a:latin typeface="Times New Roman" panose="02020603050405020304" pitchFamily="18" charset="0"/>
                <a:cs typeface="Times New Roman" panose="02020603050405020304" pitchFamily="18" charset="0"/>
              </a:rPr>
              <a:t>The DELETE statement can remove multiple records from the person table. For example, now we will remove rows where id = 4 and 5. </a:t>
            </a:r>
          </a:p>
        </p:txBody>
      </p:sp>
      <p:pic>
        <p:nvPicPr>
          <p:cNvPr id="9" name="Picture 8">
            <a:extLst>
              <a:ext uri="{FF2B5EF4-FFF2-40B4-BE49-F238E27FC236}">
                <a16:creationId xmlns:a16="http://schemas.microsoft.com/office/drawing/2014/main" id="{114F981D-E80B-7CFE-1BE5-75502D2EECAC}"/>
              </a:ext>
            </a:extLst>
          </p:cNvPr>
          <p:cNvPicPr>
            <a:picLocks noChangeAspect="1"/>
          </p:cNvPicPr>
          <p:nvPr/>
        </p:nvPicPr>
        <p:blipFill>
          <a:blip r:embed="rId2"/>
          <a:stretch>
            <a:fillRect/>
          </a:stretch>
        </p:blipFill>
        <p:spPr>
          <a:xfrm>
            <a:off x="851543" y="2345961"/>
            <a:ext cx="10267443" cy="3545174"/>
          </a:xfrm>
          <a:prstGeom prst="rect">
            <a:avLst/>
          </a:prstGeom>
          <a:ln>
            <a:solidFill>
              <a:schemeClr val="tx1"/>
            </a:solidFill>
          </a:ln>
        </p:spPr>
      </p:pic>
    </p:spTree>
    <p:extLst>
      <p:ext uri="{BB962C8B-B14F-4D97-AF65-F5344CB8AC3E}">
        <p14:creationId xmlns:p14="http://schemas.microsoft.com/office/powerpoint/2010/main" val="214799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C3725D1-1803-92B5-66BE-8B944C8DD9A6}"/>
              </a:ext>
            </a:extLst>
          </p:cNvPr>
          <p:cNvSpPr>
            <a:spLocks noGrp="1"/>
          </p:cNvSpPr>
          <p:nvPr>
            <p:ph type="sldNum" sz="quarter" idx="12"/>
          </p:nvPr>
        </p:nvSpPr>
        <p:spPr/>
        <p:txBody>
          <a:bodyPr/>
          <a:lstStyle/>
          <a:p>
            <a:fld id="{CBABCCC1-BF11-4F37-963E-1BCD5B23FD72}" type="slidenum">
              <a:rPr lang="en-IN" smtClean="0"/>
              <a:t>30</a:t>
            </a:fld>
            <a:endParaRPr lang="en-IN"/>
          </a:p>
        </p:txBody>
      </p:sp>
      <p:sp>
        <p:nvSpPr>
          <p:cNvPr id="4" name="TextBox 3">
            <a:extLst>
              <a:ext uri="{FF2B5EF4-FFF2-40B4-BE49-F238E27FC236}">
                <a16:creationId xmlns:a16="http://schemas.microsoft.com/office/drawing/2014/main" id="{ECC9C119-0CEC-8729-C7D0-293B9B15AE97}"/>
              </a:ext>
            </a:extLst>
          </p:cNvPr>
          <p:cNvSpPr txBox="1"/>
          <p:nvPr/>
        </p:nvSpPr>
        <p:spPr>
          <a:xfrm>
            <a:off x="996846" y="689359"/>
            <a:ext cx="10305738" cy="4373120"/>
          </a:xfrm>
          <a:prstGeom prst="rect">
            <a:avLst/>
          </a:prstGeom>
          <a:noFill/>
        </p:spPr>
        <p:txBody>
          <a:bodyPr wrap="square">
            <a:spAutoFit/>
          </a:bodyPr>
          <a:lstStyle/>
          <a:p>
            <a:pPr algn="just">
              <a:lnSpc>
                <a:spcPct val="115000"/>
              </a:lnSpc>
              <a:spcBef>
                <a:spcPts val="315"/>
              </a:spcBef>
              <a:spcAft>
                <a:spcPts val="1000"/>
              </a:spcAft>
            </a:pPr>
            <a:r>
              <a:rPr lang="en-US" sz="2000" b="1" kern="180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3) Data Control Language (DCL)</a:t>
            </a: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sz="2000" dirty="0">
                <a:solidFill>
                  <a:srgbClr val="333333"/>
                </a:solidFill>
                <a:latin typeface="Times New Roman" panose="02020603050405020304" pitchFamily="18" charset="0"/>
                <a:cs typeface="Times New Roman" panose="02020603050405020304" pitchFamily="18" charset="0"/>
              </a:rPr>
              <a:t>Data Control Language allows DBA to manage the rights and permissions on the data in the database. Following are the two DCL Languages or commands used in the SQL queries:</a:t>
            </a:r>
          </a:p>
          <a:p>
            <a:pPr algn="just"/>
            <a:endParaRPr lang="en-US" sz="2000" dirty="0">
              <a:solidFill>
                <a:srgbClr val="333333"/>
              </a:solidFill>
              <a:latin typeface="Times New Roman" panose="02020603050405020304" pitchFamily="18" charset="0"/>
              <a:cs typeface="Times New Roman" panose="02020603050405020304" pitchFamily="18" charset="0"/>
            </a:endParaRPr>
          </a:p>
          <a:p>
            <a:pPr algn="just">
              <a:buFont typeface="+mj-lt"/>
              <a:buAutoNum type="arabicPeriod"/>
            </a:pPr>
            <a:r>
              <a:rPr lang="en-US" sz="2000" dirty="0">
                <a:solidFill>
                  <a:srgbClr val="333333"/>
                </a:solidFill>
                <a:latin typeface="Times New Roman" panose="02020603050405020304" pitchFamily="18" charset="0"/>
                <a:cs typeface="Times New Roman" panose="02020603050405020304" pitchFamily="18" charset="0"/>
              </a:rPr>
              <a:t>Grant DCL Command</a:t>
            </a:r>
          </a:p>
          <a:p>
            <a:pPr algn="just">
              <a:buFont typeface="+mj-lt"/>
              <a:buAutoNum type="arabicPeriod"/>
            </a:pPr>
            <a:r>
              <a:rPr lang="en-US" sz="2000" dirty="0">
                <a:solidFill>
                  <a:srgbClr val="333333"/>
                </a:solidFill>
                <a:latin typeface="Times New Roman" panose="02020603050405020304" pitchFamily="18" charset="0"/>
                <a:cs typeface="Times New Roman" panose="02020603050405020304" pitchFamily="18" charset="0"/>
              </a:rPr>
              <a:t> Revoke DCL Command</a:t>
            </a:r>
          </a:p>
          <a:p>
            <a:pPr algn="just"/>
            <a:endParaRPr lang="en-US" sz="2000" dirty="0">
              <a:solidFill>
                <a:srgbClr val="333333"/>
              </a:solidFill>
              <a:latin typeface="Times New Roman" panose="02020603050405020304" pitchFamily="18" charset="0"/>
              <a:cs typeface="Times New Roman" panose="02020603050405020304" pitchFamily="18" charset="0"/>
            </a:endParaRPr>
          </a:p>
          <a:p>
            <a:pPr algn="just">
              <a:lnSpc>
                <a:spcPct val="115000"/>
              </a:lnSpc>
              <a:spcAft>
                <a:spcPts val="1000"/>
              </a:spcAft>
            </a:pPr>
            <a:r>
              <a:rPr lang="en-US" sz="2000" b="1" kern="1800" dirty="0">
                <a:solidFill>
                  <a:srgbClr val="FF0000"/>
                </a:solidFill>
                <a:latin typeface="Times New Roman" panose="02020603050405020304" pitchFamily="18" charset="0"/>
                <a:cs typeface="Times New Roman" panose="02020603050405020304" pitchFamily="18" charset="0"/>
              </a:rPr>
              <a:t>A. Grant: </a:t>
            </a:r>
            <a:r>
              <a:rPr lang="en-US" sz="2000" dirty="0">
                <a:solidFill>
                  <a:srgbClr val="333333"/>
                </a:solidFill>
                <a:latin typeface="Times New Roman" panose="02020603050405020304" pitchFamily="18" charset="0"/>
                <a:cs typeface="Times New Roman" panose="02020603050405020304" pitchFamily="18" charset="0"/>
              </a:rPr>
              <a:t>It is used to give user access privileges to a database.</a:t>
            </a:r>
            <a:endParaRPr lang="en-IN" sz="2000" dirty="0">
              <a:solidFill>
                <a:srgbClr val="333333"/>
              </a:solidFill>
              <a:latin typeface="Times New Roman" panose="02020603050405020304" pitchFamily="18" charset="0"/>
              <a:cs typeface="Times New Roman" panose="02020603050405020304" pitchFamily="18" charset="0"/>
            </a:endParaRPr>
          </a:p>
          <a:p>
            <a:pPr algn="just">
              <a:lnSpc>
                <a:spcPct val="115000"/>
              </a:lnSpc>
              <a:spcAft>
                <a:spcPts val="1000"/>
              </a:spcAft>
            </a:pPr>
            <a:endParaRPr lang="en-US" sz="1800" dirty="0">
              <a:solidFill>
                <a:srgbClr val="333333"/>
              </a:solidFill>
              <a:latin typeface="Times New Roman" panose="02020603050405020304" pitchFamily="18" charset="0"/>
              <a:cs typeface="Times New Roman" panose="02020603050405020304" pitchFamily="18" charset="0"/>
            </a:endParaRPr>
          </a:p>
          <a:p>
            <a:pPr algn="just">
              <a:lnSpc>
                <a:spcPct val="115000"/>
              </a:lnSpc>
              <a:spcAft>
                <a:spcPts val="1000"/>
              </a:spcAft>
            </a:pPr>
            <a:endParaRPr lang="en-US" sz="1600" dirty="0">
              <a:solidFill>
                <a:srgbClr val="333333"/>
              </a:solidFill>
              <a:latin typeface="Times New Roman" panose="02020603050405020304" pitchFamily="18" charset="0"/>
              <a:cs typeface="Times New Roman" panose="02020603050405020304" pitchFamily="18" charset="0"/>
            </a:endParaRPr>
          </a:p>
          <a:p>
            <a:pPr algn="just">
              <a:lnSpc>
                <a:spcPct val="115000"/>
              </a:lnSpc>
              <a:spcAft>
                <a:spcPts val="1000"/>
              </a:spcAft>
            </a:pPr>
            <a:r>
              <a:rPr lang="en-US" dirty="0">
                <a:solidFill>
                  <a:srgbClr val="333333"/>
                </a:solidFill>
                <a:latin typeface="Times New Roman" panose="02020603050405020304" pitchFamily="18" charset="0"/>
                <a:cs typeface="Times New Roman" panose="02020603050405020304" pitchFamily="18" charset="0"/>
              </a:rPr>
              <a:t>Privileges can be SELECT, INSERT, UPDATE, DELETE, TRUNCATE, REFERENCES, TRIGGER, CREATE, ALL. You can also specify combination of these privileges in a statement.</a:t>
            </a:r>
          </a:p>
        </p:txBody>
      </p:sp>
      <p:sp>
        <p:nvSpPr>
          <p:cNvPr id="5" name="Rounded Rectangle 17">
            <a:extLst>
              <a:ext uri="{FF2B5EF4-FFF2-40B4-BE49-F238E27FC236}">
                <a16:creationId xmlns:a16="http://schemas.microsoft.com/office/drawing/2014/main" id="{5C830C53-CB4F-B58E-EF45-68B49FB8E678}"/>
              </a:ext>
            </a:extLst>
          </p:cNvPr>
          <p:cNvSpPr/>
          <p:nvPr/>
        </p:nvSpPr>
        <p:spPr>
          <a:xfrm>
            <a:off x="3181469" y="8563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DATA CONTROL LANGUAGE</a:t>
            </a:r>
          </a:p>
        </p:txBody>
      </p:sp>
      <p:sp>
        <p:nvSpPr>
          <p:cNvPr id="6" name="TextBox 5">
            <a:extLst>
              <a:ext uri="{FF2B5EF4-FFF2-40B4-BE49-F238E27FC236}">
                <a16:creationId xmlns:a16="http://schemas.microsoft.com/office/drawing/2014/main" id="{E458F47A-6F51-9DCE-B04A-8E60AD231B2A}"/>
              </a:ext>
            </a:extLst>
          </p:cNvPr>
          <p:cNvSpPr txBox="1"/>
          <p:nvPr/>
        </p:nvSpPr>
        <p:spPr>
          <a:xfrm>
            <a:off x="996846" y="3536383"/>
            <a:ext cx="6097348" cy="461665"/>
          </a:xfrm>
          <a:prstGeom prst="rect">
            <a:avLst/>
          </a:prstGeom>
          <a:noFill/>
        </p:spPr>
        <p:txBody>
          <a:bodyPr wrap="square">
            <a:spAutoFit/>
          </a:bodyPr>
          <a:lstStyle/>
          <a:p>
            <a:r>
              <a:rPr lang="en-US" sz="2000" b="1" dirty="0">
                <a:solidFill>
                  <a:srgbClr val="006699"/>
                </a:solidFill>
                <a:latin typeface="Times New Roman" panose="02020603050405020304" pitchFamily="18" charset="0"/>
                <a:cs typeface="Times New Roman" panose="02020603050405020304" pitchFamily="18" charset="0"/>
              </a:rPr>
              <a:t>GRANT</a:t>
            </a:r>
            <a:r>
              <a:rPr lang="en-US" b="0" i="0" dirty="0">
                <a:solidFill>
                  <a:srgbClr val="333333"/>
                </a:solidFill>
                <a:effectLst/>
                <a:latin typeface="Courier New" panose="02070309020205020404" pitchFamily="49" charset="0"/>
              </a:rPr>
              <a:t> </a:t>
            </a:r>
            <a:r>
              <a:rPr lang="en-US" sz="2400" dirty="0">
                <a:solidFill>
                  <a:srgbClr val="333333"/>
                </a:solidFill>
                <a:latin typeface="Times New Roman" panose="02020603050405020304" pitchFamily="18" charset="0"/>
                <a:cs typeface="Times New Roman" panose="02020603050405020304" pitchFamily="18" charset="0"/>
              </a:rPr>
              <a:t>privileges</a:t>
            </a:r>
            <a:r>
              <a:rPr lang="en-US" b="0" i="0" dirty="0">
                <a:solidFill>
                  <a:srgbClr val="333333"/>
                </a:solidFill>
                <a:effectLst/>
                <a:latin typeface="Courier New" panose="02070309020205020404" pitchFamily="49" charset="0"/>
              </a:rPr>
              <a:t> </a:t>
            </a:r>
            <a:r>
              <a:rPr lang="en-US" sz="2000" b="1" dirty="0">
                <a:solidFill>
                  <a:srgbClr val="006699"/>
                </a:solidFill>
                <a:latin typeface="Times New Roman" panose="02020603050405020304" pitchFamily="18" charset="0"/>
                <a:cs typeface="Times New Roman" panose="02020603050405020304" pitchFamily="18" charset="0"/>
              </a:rPr>
              <a:t>ON</a:t>
            </a:r>
            <a:r>
              <a:rPr lang="en-US" b="0" i="0" dirty="0">
                <a:solidFill>
                  <a:srgbClr val="333333"/>
                </a:solidFill>
                <a:effectLst/>
                <a:latin typeface="Courier New" panose="02070309020205020404" pitchFamily="49" charset="0"/>
              </a:rPr>
              <a:t> </a:t>
            </a:r>
            <a:r>
              <a:rPr lang="en-US" sz="2400" dirty="0">
                <a:solidFill>
                  <a:srgbClr val="333333"/>
                </a:solidFill>
                <a:latin typeface="Times New Roman" panose="02020603050405020304" pitchFamily="18" charset="0"/>
                <a:cs typeface="Times New Roman" panose="02020603050405020304" pitchFamily="18" charset="0"/>
              </a:rPr>
              <a:t>object</a:t>
            </a:r>
            <a:r>
              <a:rPr lang="en-US" sz="2000" b="1" dirty="0">
                <a:solidFill>
                  <a:srgbClr val="006699"/>
                </a:solidFill>
                <a:latin typeface="Times New Roman" panose="02020603050405020304" pitchFamily="18" charset="0"/>
                <a:cs typeface="Times New Roman" panose="02020603050405020304" pitchFamily="18" charset="0"/>
              </a:rPr>
              <a:t> TO </a:t>
            </a:r>
            <a:r>
              <a:rPr lang="en-US" sz="2400" dirty="0">
                <a:solidFill>
                  <a:srgbClr val="333333"/>
                </a:solidFill>
                <a:latin typeface="Times New Roman" panose="02020603050405020304" pitchFamily="18" charset="0"/>
                <a:cs typeface="Times New Roman" panose="02020603050405020304" pitchFamily="18" charset="0"/>
              </a:rPr>
              <a:t>user</a:t>
            </a:r>
            <a:r>
              <a:rPr lang="en-US" b="0" i="0" dirty="0">
                <a:solidFill>
                  <a:srgbClr val="333333"/>
                </a:solidFill>
                <a:effectLst/>
                <a:latin typeface="Courier New" panose="02070309020205020404" pitchFamily="49" charset="0"/>
              </a:rPr>
              <a:t>;</a:t>
            </a:r>
            <a:endParaRPr lang="en-IN" dirty="0"/>
          </a:p>
        </p:txBody>
      </p:sp>
    </p:spTree>
    <p:extLst>
      <p:ext uri="{BB962C8B-B14F-4D97-AF65-F5344CB8AC3E}">
        <p14:creationId xmlns:p14="http://schemas.microsoft.com/office/powerpoint/2010/main" val="3518187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D048B84-040E-49A9-093D-94CCD8F207BE}"/>
              </a:ext>
            </a:extLst>
          </p:cNvPr>
          <p:cNvSpPr>
            <a:spLocks noGrp="1"/>
          </p:cNvSpPr>
          <p:nvPr>
            <p:ph type="sldNum" sz="quarter" idx="12"/>
          </p:nvPr>
        </p:nvSpPr>
        <p:spPr/>
        <p:txBody>
          <a:bodyPr/>
          <a:lstStyle/>
          <a:p>
            <a:fld id="{CBABCCC1-BF11-4F37-963E-1BCD5B23FD72}" type="slidenum">
              <a:rPr lang="en-IN" smtClean="0"/>
              <a:t>31</a:t>
            </a:fld>
            <a:endParaRPr lang="en-IN"/>
          </a:p>
        </p:txBody>
      </p:sp>
      <p:pic>
        <p:nvPicPr>
          <p:cNvPr id="4" name="Picture 3">
            <a:extLst>
              <a:ext uri="{FF2B5EF4-FFF2-40B4-BE49-F238E27FC236}">
                <a16:creationId xmlns:a16="http://schemas.microsoft.com/office/drawing/2014/main" id="{012D94FC-E38B-49E5-E75F-661B1B823EDC}"/>
              </a:ext>
            </a:extLst>
          </p:cNvPr>
          <p:cNvPicPr>
            <a:picLocks noChangeAspect="1"/>
          </p:cNvPicPr>
          <p:nvPr/>
        </p:nvPicPr>
        <p:blipFill>
          <a:blip r:embed="rId2"/>
          <a:stretch>
            <a:fillRect/>
          </a:stretch>
        </p:blipFill>
        <p:spPr>
          <a:xfrm>
            <a:off x="904499" y="2682206"/>
            <a:ext cx="5005386" cy="3218763"/>
          </a:xfrm>
          <a:prstGeom prst="rect">
            <a:avLst/>
          </a:prstGeom>
          <a:ln>
            <a:solidFill>
              <a:schemeClr val="tx1"/>
            </a:solidFill>
          </a:ln>
        </p:spPr>
      </p:pic>
      <p:sp>
        <p:nvSpPr>
          <p:cNvPr id="5" name="Rounded Rectangle 17">
            <a:extLst>
              <a:ext uri="{FF2B5EF4-FFF2-40B4-BE49-F238E27FC236}">
                <a16:creationId xmlns:a16="http://schemas.microsoft.com/office/drawing/2014/main" id="{2237ADA2-EB97-FAC3-1C21-F3868BCE0390}"/>
              </a:ext>
            </a:extLst>
          </p:cNvPr>
          <p:cNvSpPr/>
          <p:nvPr/>
        </p:nvSpPr>
        <p:spPr>
          <a:xfrm>
            <a:off x="3181469" y="8563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DATA CONTROL LANGUAGE (Cont..)</a:t>
            </a:r>
          </a:p>
        </p:txBody>
      </p:sp>
      <p:sp>
        <p:nvSpPr>
          <p:cNvPr id="7" name="TextBox 6">
            <a:extLst>
              <a:ext uri="{FF2B5EF4-FFF2-40B4-BE49-F238E27FC236}">
                <a16:creationId xmlns:a16="http://schemas.microsoft.com/office/drawing/2014/main" id="{94F6F12A-8A25-D50C-61CD-1B876E07724F}"/>
              </a:ext>
            </a:extLst>
          </p:cNvPr>
          <p:cNvSpPr txBox="1"/>
          <p:nvPr/>
        </p:nvSpPr>
        <p:spPr>
          <a:xfrm>
            <a:off x="831954" y="727892"/>
            <a:ext cx="10448144" cy="1740861"/>
          </a:xfrm>
          <a:prstGeom prst="rect">
            <a:avLst/>
          </a:prstGeom>
          <a:noFill/>
        </p:spPr>
        <p:txBody>
          <a:bodyPr wrap="square">
            <a:spAutoFit/>
          </a:bodyPr>
          <a:lstStyle/>
          <a:p>
            <a:pPr algn="just">
              <a:lnSpc>
                <a:spcPct val="115000"/>
              </a:lnSpc>
              <a:spcAft>
                <a:spcPts val="1000"/>
              </a:spcAft>
            </a:pPr>
            <a:r>
              <a:rPr lang="en-US" altLang="en-US" sz="1800" dirty="0">
                <a:solidFill>
                  <a:srgbClr val="333333"/>
                </a:solidFill>
                <a:latin typeface="Times New Roman" panose="02020603050405020304" pitchFamily="18" charset="0"/>
                <a:cs typeface="Times New Roman" panose="02020603050405020304" pitchFamily="18" charset="0"/>
              </a:rPr>
              <a:t>Grant insert privilege to all users on table </a:t>
            </a:r>
            <a:r>
              <a:rPr lang="en-US" altLang="en-US" dirty="0">
                <a:solidFill>
                  <a:srgbClr val="333333"/>
                </a:solidFill>
                <a:latin typeface="Times New Roman" panose="02020603050405020304" pitchFamily="18" charset="0"/>
                <a:cs typeface="Times New Roman" panose="02020603050405020304" pitchFamily="18" charset="0"/>
              </a:rPr>
              <a:t>person</a:t>
            </a:r>
            <a:r>
              <a:rPr lang="en-US" altLang="en-US" sz="1800" dirty="0">
                <a:solidFill>
                  <a:srgbClr val="333333"/>
                </a:solidFill>
                <a:latin typeface="Times New Roman" panose="02020603050405020304" pitchFamily="18" charset="0"/>
                <a:cs typeface="Times New Roman" panose="02020603050405020304" pitchFamily="18" charset="0"/>
              </a:rPr>
              <a:t>: </a:t>
            </a:r>
          </a:p>
          <a:p>
            <a:pPr algn="just">
              <a:lnSpc>
                <a:spcPct val="115000"/>
              </a:lnSpc>
              <a:spcAft>
                <a:spcPts val="1000"/>
              </a:spcAft>
            </a:pPr>
            <a:r>
              <a:rPr lang="en-US" altLang="en-US" sz="1600" b="1" dirty="0">
                <a:solidFill>
                  <a:srgbClr val="006699"/>
                </a:solidFill>
                <a:latin typeface="Times New Roman" panose="02020603050405020304" pitchFamily="18" charset="0"/>
                <a:cs typeface="Times New Roman" panose="02020603050405020304" pitchFamily="18" charset="0"/>
              </a:rPr>
              <a:t>GRANT</a:t>
            </a:r>
            <a:r>
              <a:rPr kumimoji="0" lang="en-US" altLang="en-US" sz="18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INSERT </a:t>
            </a:r>
            <a:r>
              <a:rPr lang="en-US" altLang="en-US" sz="1600" b="1" dirty="0">
                <a:solidFill>
                  <a:srgbClr val="006699"/>
                </a:solidFill>
                <a:latin typeface="Times New Roman" panose="02020603050405020304" pitchFamily="18" charset="0"/>
                <a:cs typeface="Times New Roman" panose="02020603050405020304" pitchFamily="18" charset="0"/>
              </a:rPr>
              <a:t>ON  </a:t>
            </a:r>
            <a:r>
              <a:rPr lang="en-US" altLang="en-US" dirty="0">
                <a:solidFill>
                  <a:srgbClr val="000000"/>
                </a:solidFill>
                <a:latin typeface="Courier New" panose="02070309020205020404" pitchFamily="49" charset="0"/>
                <a:cs typeface="Courier New" panose="02070309020205020404" pitchFamily="49" charset="0"/>
              </a:rPr>
              <a:t>person </a:t>
            </a:r>
            <a:r>
              <a:rPr lang="en-US" altLang="en-US" sz="1600" b="1" kern="1800" dirty="0">
                <a:solidFill>
                  <a:srgbClr val="FF0000"/>
                </a:solidFill>
                <a:latin typeface="Times New Roman" panose="02020603050405020304" pitchFamily="18" charset="0"/>
                <a:cs typeface="Times New Roman" panose="02020603050405020304" pitchFamily="18" charset="0"/>
              </a:rPr>
              <a:t>TO</a:t>
            </a:r>
            <a:r>
              <a:rPr kumimoji="0" lang="en-US" altLang="en-US" sz="18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PUBLIC;</a:t>
            </a:r>
            <a:r>
              <a:rPr kumimoji="0" lang="en-US" altLang="en-US" sz="600" b="0" i="0" u="none" strike="noStrike" cap="none" normalizeH="0" baseline="0" dirty="0">
                <a:ln>
                  <a:noFill/>
                </a:ln>
                <a:solidFill>
                  <a:schemeClr val="tx1"/>
                </a:solidFill>
                <a:effectLst/>
              </a:rPr>
              <a:t> </a:t>
            </a:r>
            <a:endParaRPr kumimoji="0" lang="en-US" altLang="en-US" sz="4000" b="0" i="0" u="none" strike="noStrike" cap="none" normalizeH="0" baseline="0" dirty="0">
              <a:ln>
                <a:noFill/>
              </a:ln>
              <a:solidFill>
                <a:schemeClr val="tx1"/>
              </a:solidFill>
              <a:effectLst/>
              <a:latin typeface="Arial" panose="020B0604020202020204" pitchFamily="34" charset="0"/>
            </a:endParaRPr>
          </a:p>
          <a:p>
            <a:pPr algn="just">
              <a:lnSpc>
                <a:spcPct val="115000"/>
              </a:lnSpc>
              <a:spcAft>
                <a:spcPts val="1000"/>
              </a:spcAft>
            </a:pPr>
            <a:r>
              <a:rPr lang="en-US" altLang="en-US" sz="1800" dirty="0">
                <a:solidFill>
                  <a:srgbClr val="333333"/>
                </a:solidFill>
                <a:latin typeface="Times New Roman" panose="02020603050405020304" pitchFamily="18" charset="0"/>
                <a:cs typeface="Times New Roman" panose="02020603050405020304" pitchFamily="18" charset="0"/>
              </a:rPr>
              <a:t>Grant all available privileges to all users on table person: </a:t>
            </a:r>
          </a:p>
          <a:p>
            <a:pPr algn="just">
              <a:lnSpc>
                <a:spcPct val="115000"/>
              </a:lnSpc>
              <a:spcAft>
                <a:spcPts val="1000"/>
              </a:spcAft>
            </a:pPr>
            <a:r>
              <a:rPr lang="en-US" altLang="en-US" sz="1600" b="1" dirty="0">
                <a:solidFill>
                  <a:srgbClr val="006699"/>
                </a:solidFill>
                <a:latin typeface="Times New Roman" panose="02020603050405020304" pitchFamily="18" charset="0"/>
                <a:cs typeface="Times New Roman" panose="02020603050405020304" pitchFamily="18" charset="0"/>
              </a:rPr>
              <a:t>GRANT</a:t>
            </a:r>
            <a:r>
              <a:rPr kumimoji="0" lang="en-US" altLang="en-US" sz="18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ALL PRIVILEGES </a:t>
            </a:r>
            <a:r>
              <a:rPr lang="en-US" altLang="en-US" sz="1600" b="1" dirty="0">
                <a:solidFill>
                  <a:srgbClr val="006699"/>
                </a:solidFill>
                <a:latin typeface="Times New Roman" panose="02020603050405020304" pitchFamily="18" charset="0"/>
                <a:cs typeface="Times New Roman" panose="02020603050405020304" pitchFamily="18" charset="0"/>
              </a:rPr>
              <a:t>ON</a:t>
            </a:r>
            <a:r>
              <a:rPr kumimoji="0" lang="en-US" altLang="en-US" sz="18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lang="en-US" altLang="en-US" dirty="0">
                <a:solidFill>
                  <a:srgbClr val="000000"/>
                </a:solidFill>
                <a:latin typeface="Courier New" panose="02070309020205020404" pitchFamily="49" charset="0"/>
                <a:cs typeface="Courier New" panose="02070309020205020404" pitchFamily="49" charset="0"/>
              </a:rPr>
              <a:t>person</a:t>
            </a:r>
            <a:r>
              <a:rPr kumimoji="0" lang="en-US" altLang="en-US" sz="18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TO </a:t>
            </a:r>
            <a:r>
              <a:rPr lang="en-US" altLang="en-US" dirty="0">
                <a:solidFill>
                  <a:srgbClr val="000000"/>
                </a:solidFill>
                <a:latin typeface="Courier New" panose="02070309020205020404" pitchFamily="49" charset="0"/>
                <a:cs typeface="Courier New" panose="02070309020205020404" pitchFamily="49" charset="0"/>
              </a:rPr>
              <a:t>PUBLIC</a:t>
            </a:r>
            <a:r>
              <a:rPr kumimoji="0" lang="en-US" altLang="en-US" sz="18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r>
              <a:rPr kumimoji="0" lang="en-US" altLang="en-US" sz="600" b="0" i="0" u="none" strike="noStrike" cap="none" normalizeH="0" baseline="0" dirty="0">
                <a:ln>
                  <a:noFill/>
                </a:ln>
                <a:solidFill>
                  <a:schemeClr val="tx1"/>
                </a:solidFill>
                <a:effectLst/>
              </a:rPr>
              <a:t> </a:t>
            </a:r>
            <a:endParaRPr lang="en-US" sz="1800" b="1" kern="1800" dirty="0">
              <a:solidFill>
                <a:srgbClr val="FF0000"/>
              </a:solidFill>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B5C45254-6945-1EB6-3042-B1A5F58E2057}"/>
              </a:ext>
            </a:extLst>
          </p:cNvPr>
          <p:cNvPicPr>
            <a:picLocks noChangeAspect="1"/>
          </p:cNvPicPr>
          <p:nvPr/>
        </p:nvPicPr>
        <p:blipFill>
          <a:blip r:embed="rId3"/>
          <a:stretch>
            <a:fillRect/>
          </a:stretch>
        </p:blipFill>
        <p:spPr>
          <a:xfrm>
            <a:off x="6282116" y="2682207"/>
            <a:ext cx="5087923" cy="3218763"/>
          </a:xfrm>
          <a:prstGeom prst="rect">
            <a:avLst/>
          </a:prstGeom>
          <a:ln>
            <a:solidFill>
              <a:schemeClr val="tx1"/>
            </a:solidFill>
          </a:ln>
        </p:spPr>
      </p:pic>
    </p:spTree>
    <p:extLst>
      <p:ext uri="{BB962C8B-B14F-4D97-AF65-F5344CB8AC3E}">
        <p14:creationId xmlns:p14="http://schemas.microsoft.com/office/powerpoint/2010/main" val="4012523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100511A-55A9-BEED-451E-FE37540A6393}"/>
              </a:ext>
            </a:extLst>
          </p:cNvPr>
          <p:cNvSpPr>
            <a:spLocks noGrp="1"/>
          </p:cNvSpPr>
          <p:nvPr>
            <p:ph type="sldNum" sz="quarter" idx="12"/>
          </p:nvPr>
        </p:nvSpPr>
        <p:spPr/>
        <p:txBody>
          <a:bodyPr/>
          <a:lstStyle/>
          <a:p>
            <a:fld id="{CBABCCC1-BF11-4F37-963E-1BCD5B23FD72}" type="slidenum">
              <a:rPr lang="en-IN" smtClean="0"/>
              <a:t>32</a:t>
            </a:fld>
            <a:endParaRPr lang="en-IN"/>
          </a:p>
        </p:txBody>
      </p:sp>
      <p:sp>
        <p:nvSpPr>
          <p:cNvPr id="4" name="TextBox 3">
            <a:extLst>
              <a:ext uri="{FF2B5EF4-FFF2-40B4-BE49-F238E27FC236}">
                <a16:creationId xmlns:a16="http://schemas.microsoft.com/office/drawing/2014/main" id="{E5813BF4-DFB6-7A5F-FDFC-766B17DCDEC7}"/>
              </a:ext>
            </a:extLst>
          </p:cNvPr>
          <p:cNvSpPr txBox="1"/>
          <p:nvPr/>
        </p:nvSpPr>
        <p:spPr>
          <a:xfrm>
            <a:off x="1056806" y="742411"/>
            <a:ext cx="10283252" cy="2036455"/>
          </a:xfrm>
          <a:prstGeom prst="rect">
            <a:avLst/>
          </a:prstGeom>
          <a:noFill/>
        </p:spPr>
        <p:txBody>
          <a:bodyPr wrap="square">
            <a:spAutoFit/>
          </a:bodyPr>
          <a:lstStyle/>
          <a:p>
            <a:pPr algn="just">
              <a:lnSpc>
                <a:spcPct val="115000"/>
              </a:lnSpc>
              <a:spcAft>
                <a:spcPts val="1000"/>
              </a:spcAft>
            </a:pPr>
            <a:r>
              <a:rPr lang="en-US" sz="2000" b="1" kern="1800" dirty="0">
                <a:solidFill>
                  <a:srgbClr val="FF0000"/>
                </a:solidFill>
                <a:latin typeface="Times New Roman" panose="02020603050405020304" pitchFamily="18" charset="0"/>
                <a:cs typeface="Times New Roman" panose="02020603050405020304" pitchFamily="18" charset="0"/>
              </a:rPr>
              <a:t>B. Revoke: </a:t>
            </a:r>
            <a:r>
              <a:rPr lang="en-US" sz="2000" dirty="0">
                <a:solidFill>
                  <a:srgbClr val="333333"/>
                </a:solidFill>
                <a:latin typeface="Times New Roman" panose="02020603050405020304" pitchFamily="18" charset="0"/>
                <a:cs typeface="Times New Roman" panose="02020603050405020304" pitchFamily="18" charset="0"/>
              </a:rPr>
              <a:t>This DCL command allows the database administrator to remove all the permissions applied by the GRANT DCL command.</a:t>
            </a:r>
          </a:p>
          <a:p>
            <a:r>
              <a:rPr lang="en-US" b="1" i="0" dirty="0">
                <a:solidFill>
                  <a:srgbClr val="006699"/>
                </a:solidFill>
                <a:effectLst/>
                <a:latin typeface="Times New Roman" panose="02020603050405020304" pitchFamily="18" charset="0"/>
                <a:cs typeface="Times New Roman" panose="02020603050405020304" pitchFamily="18" charset="0"/>
              </a:rPr>
              <a:t>REVOKE</a:t>
            </a:r>
            <a:r>
              <a:rPr lang="en-US" b="0" i="0" dirty="0">
                <a:solidFill>
                  <a:srgbClr val="333333"/>
                </a:solidFill>
                <a:effectLst/>
                <a:latin typeface="Courier New" panose="02070309020205020404" pitchFamily="49" charset="0"/>
              </a:rPr>
              <a:t> PRIVILEGES </a:t>
            </a:r>
            <a:r>
              <a:rPr lang="en-US" sz="1600" b="1" dirty="0">
                <a:solidFill>
                  <a:srgbClr val="006699"/>
                </a:solidFill>
                <a:latin typeface="Times New Roman" panose="02020603050405020304" pitchFamily="18" charset="0"/>
                <a:cs typeface="Times New Roman" panose="02020603050405020304" pitchFamily="18" charset="0"/>
              </a:rPr>
              <a:t>ON</a:t>
            </a:r>
            <a:r>
              <a:rPr lang="en-US" b="0" i="0" dirty="0">
                <a:solidFill>
                  <a:srgbClr val="333333"/>
                </a:solidFill>
                <a:effectLst/>
                <a:latin typeface="Courier New" panose="02070309020205020404" pitchFamily="49" charset="0"/>
              </a:rPr>
              <a:t> </a:t>
            </a:r>
            <a:r>
              <a:rPr lang="en-US" dirty="0">
                <a:solidFill>
                  <a:srgbClr val="333333"/>
                </a:solidFill>
                <a:latin typeface="Times New Roman" panose="02020603050405020304" pitchFamily="18" charset="0"/>
                <a:cs typeface="Times New Roman" panose="02020603050405020304" pitchFamily="18" charset="0"/>
              </a:rPr>
              <a:t>object</a:t>
            </a:r>
            <a:r>
              <a:rPr lang="en-US" sz="1600" b="1" dirty="0">
                <a:solidFill>
                  <a:srgbClr val="006699"/>
                </a:solidFill>
                <a:latin typeface="Times New Roman" panose="02020603050405020304" pitchFamily="18" charset="0"/>
                <a:cs typeface="Times New Roman" panose="02020603050405020304" pitchFamily="18" charset="0"/>
              </a:rPr>
              <a:t> FROM </a:t>
            </a:r>
            <a:r>
              <a:rPr lang="en-US" dirty="0">
                <a:solidFill>
                  <a:srgbClr val="333333"/>
                </a:solidFill>
                <a:latin typeface="Times New Roman" panose="02020603050405020304" pitchFamily="18" charset="0"/>
                <a:cs typeface="Times New Roman" panose="02020603050405020304" pitchFamily="18" charset="0"/>
              </a:rPr>
              <a:t>USER</a:t>
            </a:r>
            <a:r>
              <a:rPr lang="en-US" b="0" i="0" dirty="0">
                <a:solidFill>
                  <a:srgbClr val="333333"/>
                </a:solidFill>
                <a:effectLst/>
                <a:latin typeface="Courier New" panose="02070309020205020404" pitchFamily="49" charset="0"/>
              </a:rPr>
              <a:t>;</a:t>
            </a:r>
          </a:p>
          <a:p>
            <a:endParaRPr lang="en-US" dirty="0">
              <a:solidFill>
                <a:srgbClr val="333333"/>
              </a:solidFill>
              <a:latin typeface="Courier New" panose="02070309020205020404" pitchFamily="49" charset="0"/>
            </a:endParaRPr>
          </a:p>
          <a:p>
            <a:r>
              <a:rPr lang="en-US" altLang="en-US" sz="1800" dirty="0">
                <a:solidFill>
                  <a:srgbClr val="333333"/>
                </a:solidFill>
                <a:latin typeface="Times New Roman" panose="02020603050405020304" pitchFamily="18" charset="0"/>
                <a:cs typeface="Times New Roman" panose="02020603050405020304" pitchFamily="18" charset="0"/>
              </a:rPr>
              <a:t>For example, to revoke the already granted insert privilege to all users on table </a:t>
            </a:r>
            <a:r>
              <a:rPr lang="en-US" altLang="en-US" dirty="0">
                <a:solidFill>
                  <a:srgbClr val="333333"/>
                </a:solidFill>
                <a:latin typeface="Times New Roman" panose="02020603050405020304" pitchFamily="18" charset="0"/>
                <a:cs typeface="Times New Roman" panose="02020603050405020304" pitchFamily="18" charset="0"/>
              </a:rPr>
              <a:t>person</a:t>
            </a:r>
            <a:r>
              <a:rPr lang="en-US" altLang="en-US" sz="1800" dirty="0">
                <a:solidFill>
                  <a:srgbClr val="333333"/>
                </a:solidFill>
                <a:latin typeface="Times New Roman" panose="02020603050405020304" pitchFamily="18" charset="0"/>
                <a:cs typeface="Times New Roman" panose="02020603050405020304" pitchFamily="18" charset="0"/>
              </a:rPr>
              <a:t>: </a:t>
            </a:r>
          </a:p>
          <a:p>
            <a:endParaRPr lang="en-IN" dirty="0"/>
          </a:p>
        </p:txBody>
      </p:sp>
      <p:sp>
        <p:nvSpPr>
          <p:cNvPr id="5" name="Rounded Rectangle 17">
            <a:extLst>
              <a:ext uri="{FF2B5EF4-FFF2-40B4-BE49-F238E27FC236}">
                <a16:creationId xmlns:a16="http://schemas.microsoft.com/office/drawing/2014/main" id="{32BC92F3-8C74-396B-8F66-7BEBE995E15B}"/>
              </a:ext>
            </a:extLst>
          </p:cNvPr>
          <p:cNvSpPr/>
          <p:nvPr/>
        </p:nvSpPr>
        <p:spPr>
          <a:xfrm>
            <a:off x="3181469" y="8563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DATA CONTROL LANGUAGE (Cont..)</a:t>
            </a:r>
          </a:p>
        </p:txBody>
      </p:sp>
      <p:sp>
        <p:nvSpPr>
          <p:cNvPr id="7" name="TextBox 6">
            <a:extLst>
              <a:ext uri="{FF2B5EF4-FFF2-40B4-BE49-F238E27FC236}">
                <a16:creationId xmlns:a16="http://schemas.microsoft.com/office/drawing/2014/main" id="{0238F94F-19D1-AEFF-27EB-5DB8D699C257}"/>
              </a:ext>
            </a:extLst>
          </p:cNvPr>
          <p:cNvSpPr txBox="1"/>
          <p:nvPr/>
        </p:nvSpPr>
        <p:spPr>
          <a:xfrm>
            <a:off x="1056806" y="2432856"/>
            <a:ext cx="6100996" cy="369332"/>
          </a:xfrm>
          <a:prstGeom prst="rect">
            <a:avLst/>
          </a:prstGeom>
          <a:noFill/>
        </p:spPr>
        <p:txBody>
          <a:bodyPr wrap="square">
            <a:spAutoFit/>
          </a:bodyPr>
          <a:lstStyle/>
          <a:p>
            <a:r>
              <a:rPr lang="en-IN" b="1" dirty="0">
                <a:solidFill>
                  <a:srgbClr val="006699"/>
                </a:solidFill>
                <a:latin typeface="Times New Roman" panose="02020603050405020304" pitchFamily="18" charset="0"/>
                <a:cs typeface="Times New Roman" panose="02020603050405020304" pitchFamily="18" charset="0"/>
              </a:rPr>
              <a:t>REVOKE</a:t>
            </a:r>
            <a:r>
              <a:rPr lang="en-IN" dirty="0">
                <a:solidFill>
                  <a:srgbClr val="333333"/>
                </a:solidFill>
                <a:latin typeface="Courier New" panose="02070309020205020404" pitchFamily="49" charset="0"/>
              </a:rPr>
              <a:t> INSERT ON PERSON </a:t>
            </a:r>
            <a:r>
              <a:rPr lang="en-IN" b="1" dirty="0">
                <a:solidFill>
                  <a:srgbClr val="006699"/>
                </a:solidFill>
                <a:latin typeface="Times New Roman" panose="02020603050405020304" pitchFamily="18" charset="0"/>
                <a:cs typeface="Times New Roman" panose="02020603050405020304" pitchFamily="18" charset="0"/>
              </a:rPr>
              <a:t>FROM</a:t>
            </a:r>
            <a:r>
              <a:rPr lang="en-IN" dirty="0">
                <a:solidFill>
                  <a:srgbClr val="333333"/>
                </a:solidFill>
                <a:latin typeface="Courier New" panose="02070309020205020404" pitchFamily="49" charset="0"/>
              </a:rPr>
              <a:t> PUBLIC; </a:t>
            </a:r>
          </a:p>
        </p:txBody>
      </p:sp>
      <p:pic>
        <p:nvPicPr>
          <p:cNvPr id="9" name="Picture 8">
            <a:extLst>
              <a:ext uri="{FF2B5EF4-FFF2-40B4-BE49-F238E27FC236}">
                <a16:creationId xmlns:a16="http://schemas.microsoft.com/office/drawing/2014/main" id="{37C81D27-B6C7-2AEB-67EE-76F8C8F564B1}"/>
              </a:ext>
            </a:extLst>
          </p:cNvPr>
          <p:cNvPicPr>
            <a:picLocks noChangeAspect="1"/>
          </p:cNvPicPr>
          <p:nvPr/>
        </p:nvPicPr>
        <p:blipFill>
          <a:blip r:embed="rId2"/>
          <a:stretch>
            <a:fillRect/>
          </a:stretch>
        </p:blipFill>
        <p:spPr>
          <a:xfrm>
            <a:off x="1154243" y="2937023"/>
            <a:ext cx="10073390" cy="3064575"/>
          </a:xfrm>
          <a:prstGeom prst="rect">
            <a:avLst/>
          </a:prstGeom>
          <a:ln>
            <a:solidFill>
              <a:schemeClr val="tx1"/>
            </a:solidFill>
          </a:ln>
        </p:spPr>
      </p:pic>
    </p:spTree>
    <p:extLst>
      <p:ext uri="{BB962C8B-B14F-4D97-AF65-F5344CB8AC3E}">
        <p14:creationId xmlns:p14="http://schemas.microsoft.com/office/powerpoint/2010/main" val="3455824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D973CC5-66A0-EC07-E459-8299099F915D}"/>
              </a:ext>
            </a:extLst>
          </p:cNvPr>
          <p:cNvSpPr>
            <a:spLocks noGrp="1"/>
          </p:cNvSpPr>
          <p:nvPr>
            <p:ph type="sldNum" sz="quarter" idx="12"/>
          </p:nvPr>
        </p:nvSpPr>
        <p:spPr/>
        <p:txBody>
          <a:bodyPr/>
          <a:lstStyle/>
          <a:p>
            <a:fld id="{CBABCCC1-BF11-4F37-963E-1BCD5B23FD72}" type="slidenum">
              <a:rPr lang="en-IN" smtClean="0"/>
              <a:t>33</a:t>
            </a:fld>
            <a:endParaRPr lang="en-IN"/>
          </a:p>
        </p:txBody>
      </p:sp>
      <p:sp>
        <p:nvSpPr>
          <p:cNvPr id="7" name="TextBox 6">
            <a:extLst>
              <a:ext uri="{FF2B5EF4-FFF2-40B4-BE49-F238E27FC236}">
                <a16:creationId xmlns:a16="http://schemas.microsoft.com/office/drawing/2014/main" id="{8FB96980-3930-E02A-96E0-89BAE082DFF0}"/>
              </a:ext>
            </a:extLst>
          </p:cNvPr>
          <p:cNvSpPr txBox="1"/>
          <p:nvPr/>
        </p:nvSpPr>
        <p:spPr>
          <a:xfrm>
            <a:off x="1090969" y="785743"/>
            <a:ext cx="10406358" cy="4964244"/>
          </a:xfrm>
          <a:prstGeom prst="rect">
            <a:avLst/>
          </a:prstGeom>
          <a:noFill/>
        </p:spPr>
        <p:txBody>
          <a:bodyPr wrap="square">
            <a:spAutoFit/>
          </a:bodyPr>
          <a:lstStyle/>
          <a:p>
            <a:pPr algn="just">
              <a:lnSpc>
                <a:spcPct val="115000"/>
              </a:lnSpc>
              <a:spcBef>
                <a:spcPts val="315"/>
              </a:spcBef>
              <a:spcAft>
                <a:spcPts val="1000"/>
              </a:spcAft>
            </a:pPr>
            <a:r>
              <a:rPr lang="en-US" sz="2000" b="1" kern="180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Transaction Control Language (TCL)</a:t>
            </a: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15000"/>
              </a:lnSpc>
              <a:spcAft>
                <a:spcPts val="1000"/>
              </a:spcAft>
            </a:pPr>
            <a:r>
              <a:rPr lang="en-US" sz="2000" dirty="0">
                <a:solidFill>
                  <a:srgbClr val="333333"/>
                </a:solidFill>
                <a:latin typeface="Times New Roman" panose="02020603050405020304" pitchFamily="18" charset="0"/>
                <a:cs typeface="Times New Roman" panose="02020603050405020304" pitchFamily="18" charset="0"/>
              </a:rPr>
              <a:t>TCL commands can only be used with DML commands like INSERT, DELETE and UPDATE only. Following are the two TCL commands:</a:t>
            </a:r>
          </a:p>
          <a:p>
            <a:pPr marL="457200" indent="-457200" algn="just">
              <a:lnSpc>
                <a:spcPct val="115000"/>
              </a:lnSpc>
              <a:spcAft>
                <a:spcPts val="1000"/>
              </a:spcAft>
              <a:buAutoNum type="alphaUcPeriod"/>
            </a:pPr>
            <a:r>
              <a:rPr lang="en-US" sz="2000" b="1" kern="1800" dirty="0">
                <a:solidFill>
                  <a:srgbClr val="FF0000"/>
                </a:solidFill>
                <a:latin typeface="Times New Roman" panose="02020603050405020304" pitchFamily="18" charset="0"/>
                <a:cs typeface="Times New Roman" panose="02020603050405020304" pitchFamily="18" charset="0"/>
              </a:rPr>
              <a:t>Commit: </a:t>
            </a:r>
            <a:r>
              <a:rPr lang="en-US" sz="2000" dirty="0">
                <a:solidFill>
                  <a:srgbClr val="333333"/>
                </a:solidFill>
                <a:latin typeface="Times New Roman" panose="02020603050405020304" pitchFamily="18" charset="0"/>
                <a:cs typeface="Times New Roman" panose="02020603050405020304" pitchFamily="18" charset="0"/>
              </a:rPr>
              <a:t>This command allows the database users to save the operations in the database.</a:t>
            </a:r>
          </a:p>
          <a:p>
            <a:pPr marL="457200" algn="just">
              <a:lnSpc>
                <a:spcPct val="115000"/>
              </a:lnSpc>
              <a:spcAft>
                <a:spcPts val="1000"/>
              </a:spcAft>
            </a:pPr>
            <a:r>
              <a:rPr lang="en-US" sz="1600" b="1" dirty="0">
                <a:solidFill>
                  <a:srgbClr val="006699"/>
                </a:solidFill>
                <a:latin typeface="Times New Roman" panose="02020603050405020304" pitchFamily="18" charset="0"/>
                <a:cs typeface="Times New Roman" panose="02020603050405020304" pitchFamily="18" charset="0"/>
              </a:rPr>
              <a:t>DELETE FROM </a:t>
            </a:r>
            <a:r>
              <a:rPr lang="en-US" sz="1600" dirty="0">
                <a:solidFill>
                  <a:srgbClr val="333333"/>
                </a:solidFill>
                <a:latin typeface="Times New Roman" panose="02020603050405020304" pitchFamily="18" charset="0"/>
                <a:cs typeface="Times New Roman" panose="02020603050405020304" pitchFamily="18" charset="0"/>
              </a:rPr>
              <a:t>Student</a:t>
            </a:r>
            <a:r>
              <a:rPr lang="en-US" sz="16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b="1" dirty="0">
                <a:solidFill>
                  <a:srgbClr val="006699"/>
                </a:solidFill>
                <a:latin typeface="Times New Roman" panose="02020603050405020304" pitchFamily="18" charset="0"/>
                <a:cs typeface="Times New Roman" panose="02020603050405020304" pitchFamily="18" charset="0"/>
              </a:rPr>
              <a:t>WHERE</a:t>
            </a:r>
            <a:r>
              <a:rPr lang="en-US" sz="16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dirty="0">
                <a:solidFill>
                  <a:srgbClr val="333333"/>
                </a:solidFill>
                <a:latin typeface="Times New Roman" panose="02020603050405020304" pitchFamily="18" charset="0"/>
                <a:cs typeface="Times New Roman" panose="02020603050405020304" pitchFamily="18" charset="0"/>
              </a:rPr>
              <a:t>AGE = 25</a:t>
            </a:r>
            <a:r>
              <a:rPr lang="en-US" sz="16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dirty="0">
                <a:solidFill>
                  <a:srgbClr val="000000"/>
                </a:solidFill>
                <a:effectLst/>
                <a:latin typeface="Segoe UI" panose="020B0502040204020203" pitchFamily="34" charset="0"/>
                <a:ea typeface="Times New Roman" panose="02020603050405020304" pitchFamily="18" charset="0"/>
                <a:cs typeface="Mangal" panose="02040503050203030202" pitchFamily="18" charset="0"/>
              </a:rPr>
              <a:t> </a:t>
            </a:r>
            <a:endParaRPr lang="en-IN" sz="1600" dirty="0">
              <a:effectLst/>
              <a:latin typeface="Calibri" panose="020F0502020204030204" pitchFamily="34" charset="0"/>
              <a:ea typeface="Times New Roman" panose="02020603050405020304" pitchFamily="18" charset="0"/>
              <a:cs typeface="Mangal" panose="02040503050203030202" pitchFamily="18" charset="0"/>
            </a:endParaRPr>
          </a:p>
          <a:p>
            <a:pPr marL="457200" algn="just">
              <a:lnSpc>
                <a:spcPct val="115000"/>
              </a:lnSpc>
              <a:spcAft>
                <a:spcPts val="1000"/>
              </a:spcAft>
            </a:pPr>
            <a:r>
              <a:rPr lang="en-US" sz="1600" b="1" dirty="0">
                <a:solidFill>
                  <a:srgbClr val="006699"/>
                </a:solidFill>
                <a:latin typeface="Times New Roman" panose="02020603050405020304" pitchFamily="18" charset="0"/>
                <a:cs typeface="Times New Roman" panose="02020603050405020304" pitchFamily="18" charset="0"/>
              </a:rPr>
              <a:t>COMMIT; </a:t>
            </a:r>
            <a:r>
              <a:rPr lang="en-US" b="1" dirty="0">
                <a:solidFill>
                  <a:srgbClr val="006699"/>
                </a:solidFill>
                <a:latin typeface="Times New Roman" panose="02020603050405020304" pitchFamily="18" charset="0"/>
                <a:cs typeface="Times New Roman" panose="02020603050405020304" pitchFamily="18" charset="0"/>
              </a:rPr>
              <a:t> </a:t>
            </a:r>
            <a:endParaRPr lang="en-IN" b="1" dirty="0">
              <a:solidFill>
                <a:srgbClr val="006699"/>
              </a:solidFill>
              <a:latin typeface="Times New Roman" panose="02020603050405020304" pitchFamily="18" charset="0"/>
              <a:cs typeface="Times New Roman" panose="02020603050405020304" pitchFamily="18" charset="0"/>
            </a:endParaRPr>
          </a:p>
          <a:p>
            <a:pPr algn="just">
              <a:lnSpc>
                <a:spcPct val="115000"/>
              </a:lnSpc>
              <a:spcAft>
                <a:spcPts val="1000"/>
              </a:spcAft>
            </a:pPr>
            <a:r>
              <a:rPr lang="en-US" sz="2000" b="1" kern="1800" dirty="0">
                <a:solidFill>
                  <a:srgbClr val="FF0000"/>
                </a:solidFill>
                <a:latin typeface="Times New Roman" panose="02020603050405020304" pitchFamily="18" charset="0"/>
                <a:cs typeface="Times New Roman" panose="02020603050405020304" pitchFamily="18" charset="0"/>
              </a:rPr>
              <a:t>B. Rollback: </a:t>
            </a:r>
            <a:r>
              <a:rPr lang="en-US" sz="2000" dirty="0">
                <a:solidFill>
                  <a:srgbClr val="333333"/>
                </a:solidFill>
                <a:latin typeface="Times New Roman" panose="02020603050405020304" pitchFamily="18" charset="0"/>
                <a:cs typeface="Times New Roman" panose="02020603050405020304" pitchFamily="18" charset="0"/>
              </a:rPr>
              <a:t>Rollback command allows you to undo transactions that have not          </a:t>
            </a:r>
          </a:p>
          <a:p>
            <a:pPr algn="just">
              <a:lnSpc>
                <a:spcPct val="115000"/>
              </a:lnSpc>
              <a:spcAft>
                <a:spcPts val="1000"/>
              </a:spcAft>
            </a:pPr>
            <a:r>
              <a:rPr lang="en-US" sz="2000" dirty="0">
                <a:solidFill>
                  <a:srgbClr val="333333"/>
                </a:solidFill>
                <a:latin typeface="Times New Roman" panose="02020603050405020304" pitchFamily="18" charset="0"/>
                <a:cs typeface="Times New Roman" panose="02020603050405020304" pitchFamily="18" charset="0"/>
              </a:rPr>
              <a:t>      already been saved to the database.</a:t>
            </a:r>
          </a:p>
          <a:p>
            <a:pPr marL="457200" algn="just">
              <a:lnSpc>
                <a:spcPct val="115000"/>
              </a:lnSpc>
              <a:spcAft>
                <a:spcPts val="1000"/>
              </a:spcAft>
            </a:pPr>
            <a:r>
              <a:rPr lang="en-US" sz="1600" b="1" dirty="0">
                <a:solidFill>
                  <a:srgbClr val="006699"/>
                </a:solidFill>
                <a:latin typeface="Times New Roman" panose="02020603050405020304" pitchFamily="18" charset="0"/>
                <a:cs typeface="Times New Roman" panose="02020603050405020304" pitchFamily="18" charset="0"/>
              </a:rPr>
              <a:t>DELETE FROM </a:t>
            </a:r>
            <a:r>
              <a:rPr lang="en-US" sz="16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Student </a:t>
            </a:r>
            <a:r>
              <a:rPr lang="en-US" sz="1600" b="1" dirty="0">
                <a:solidFill>
                  <a:srgbClr val="006699"/>
                </a:solidFill>
                <a:latin typeface="Times New Roman" panose="02020603050405020304" pitchFamily="18" charset="0"/>
                <a:cs typeface="Times New Roman" panose="02020603050405020304" pitchFamily="18" charset="0"/>
              </a:rPr>
              <a:t>WHERE</a:t>
            </a:r>
            <a:r>
              <a:rPr lang="en-US" sz="16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AGE = 25;  </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457200" algn="just">
              <a:lnSpc>
                <a:spcPct val="115000"/>
              </a:lnSpc>
              <a:spcAft>
                <a:spcPts val="1000"/>
              </a:spcAft>
            </a:pPr>
            <a:r>
              <a:rPr lang="en-US" b="1" dirty="0">
                <a:solidFill>
                  <a:srgbClr val="006699"/>
                </a:solidFill>
                <a:latin typeface="Times New Roman" panose="02020603050405020304" pitchFamily="18" charset="0"/>
                <a:cs typeface="Times New Roman" panose="02020603050405020304" pitchFamily="18" charset="0"/>
              </a:rPr>
              <a:t>ROLLBACK;  </a:t>
            </a:r>
            <a:endParaRPr lang="en-IN" b="1" dirty="0">
              <a:solidFill>
                <a:srgbClr val="006699"/>
              </a:solidFill>
              <a:latin typeface="Times New Roman" panose="02020603050405020304" pitchFamily="18" charset="0"/>
              <a:cs typeface="Times New Roman" panose="02020603050405020304" pitchFamily="18" charset="0"/>
            </a:endParaRPr>
          </a:p>
          <a:p>
            <a:pPr algn="just">
              <a:lnSpc>
                <a:spcPct val="115000"/>
              </a:lnSpc>
              <a:spcAft>
                <a:spcPts val="1000"/>
              </a:spcAft>
            </a:pPr>
            <a:endParaRPr lang="en-US" sz="2400" dirty="0">
              <a:solidFill>
                <a:srgbClr val="333333"/>
              </a:solidFill>
              <a:latin typeface="Times New Roman" panose="02020603050405020304" pitchFamily="18" charset="0"/>
              <a:cs typeface="Times New Roman" panose="02020603050405020304" pitchFamily="18" charset="0"/>
            </a:endParaRPr>
          </a:p>
        </p:txBody>
      </p:sp>
      <p:sp>
        <p:nvSpPr>
          <p:cNvPr id="8" name="Rounded Rectangle 17">
            <a:extLst>
              <a:ext uri="{FF2B5EF4-FFF2-40B4-BE49-F238E27FC236}">
                <a16:creationId xmlns:a16="http://schemas.microsoft.com/office/drawing/2014/main" id="{534700DD-2368-6537-846F-13F90C81928E}"/>
              </a:ext>
            </a:extLst>
          </p:cNvPr>
          <p:cNvSpPr/>
          <p:nvPr/>
        </p:nvSpPr>
        <p:spPr>
          <a:xfrm>
            <a:off x="3104743" y="63283"/>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TRANSACTION CONTROL LANGUAGE</a:t>
            </a:r>
          </a:p>
        </p:txBody>
      </p:sp>
    </p:spTree>
    <p:extLst>
      <p:ext uri="{BB962C8B-B14F-4D97-AF65-F5344CB8AC3E}">
        <p14:creationId xmlns:p14="http://schemas.microsoft.com/office/powerpoint/2010/main" val="2327683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CE0573-637F-9CC4-C9C8-CA913FAAC047}"/>
              </a:ext>
            </a:extLst>
          </p:cNvPr>
          <p:cNvSpPr>
            <a:spLocks noGrp="1"/>
          </p:cNvSpPr>
          <p:nvPr>
            <p:ph type="sldNum" sz="quarter" idx="12"/>
          </p:nvPr>
        </p:nvSpPr>
        <p:spPr/>
        <p:txBody>
          <a:bodyPr/>
          <a:lstStyle/>
          <a:p>
            <a:fld id="{CBABCCC1-BF11-4F37-963E-1BCD5B23FD72}" type="slidenum">
              <a:rPr lang="en-IN" smtClean="0"/>
              <a:t>34</a:t>
            </a:fld>
            <a:endParaRPr lang="en-IN"/>
          </a:p>
        </p:txBody>
      </p:sp>
      <p:sp>
        <p:nvSpPr>
          <p:cNvPr id="3" name="TextBox 2">
            <a:extLst>
              <a:ext uri="{FF2B5EF4-FFF2-40B4-BE49-F238E27FC236}">
                <a16:creationId xmlns:a16="http://schemas.microsoft.com/office/drawing/2014/main" id="{029AB7C5-A819-3E8F-E3AE-58FB2E562A60}"/>
              </a:ext>
            </a:extLst>
          </p:cNvPr>
          <p:cNvSpPr txBox="1"/>
          <p:nvPr/>
        </p:nvSpPr>
        <p:spPr>
          <a:xfrm>
            <a:off x="595858" y="709114"/>
            <a:ext cx="10980294" cy="2694905"/>
          </a:xfrm>
          <a:prstGeom prst="rect">
            <a:avLst/>
          </a:prstGeom>
          <a:noFill/>
        </p:spPr>
        <p:txBody>
          <a:bodyPr wrap="square">
            <a:spAutoFit/>
          </a:bodyPr>
          <a:lstStyle/>
          <a:p>
            <a:pPr algn="just">
              <a:lnSpc>
                <a:spcPct val="115000"/>
              </a:lnSpc>
              <a:spcAft>
                <a:spcPts val="1000"/>
              </a:spcAft>
            </a:pPr>
            <a:r>
              <a:rPr lang="en-US" sz="2000" dirty="0">
                <a:solidFill>
                  <a:srgbClr val="333333"/>
                </a:solidFill>
                <a:latin typeface="Times New Roman" panose="02020603050405020304" pitchFamily="18" charset="0"/>
                <a:cs typeface="Times New Roman" panose="02020603050405020304" pitchFamily="18" charset="0"/>
              </a:rPr>
              <a:t>This DDL command allows us to create the new table.</a:t>
            </a:r>
          </a:p>
          <a:p>
            <a:pPr algn="just">
              <a:lnSpc>
                <a:spcPct val="115000"/>
              </a:lnSpc>
              <a:spcAft>
                <a:spcPts val="1000"/>
              </a:spcAft>
            </a:pPr>
            <a:endParaRPr lang="en-US" sz="2400" dirty="0">
              <a:solidFill>
                <a:srgbClr val="333333"/>
              </a:solidFill>
              <a:latin typeface="Times New Roman" panose="02020603050405020304" pitchFamily="18" charset="0"/>
              <a:cs typeface="Times New Roman" panose="02020603050405020304" pitchFamily="18" charset="0"/>
            </a:endParaRPr>
          </a:p>
          <a:p>
            <a:pPr algn="just">
              <a:lnSpc>
                <a:spcPct val="115000"/>
              </a:lnSpc>
              <a:spcAft>
                <a:spcPts val="1000"/>
              </a:spcAft>
            </a:pPr>
            <a:endParaRPr lang="en-US" sz="2400" dirty="0">
              <a:solidFill>
                <a:srgbClr val="333333"/>
              </a:solidFill>
              <a:latin typeface="Times New Roman" panose="02020603050405020304" pitchFamily="18" charset="0"/>
              <a:cs typeface="Times New Roman" panose="02020603050405020304" pitchFamily="18" charset="0"/>
            </a:endParaRPr>
          </a:p>
          <a:p>
            <a:pPr algn="just">
              <a:lnSpc>
                <a:spcPct val="115000"/>
              </a:lnSpc>
              <a:spcAft>
                <a:spcPts val="1000"/>
              </a:spcAft>
            </a:pPr>
            <a:endParaRPr lang="en-US" sz="2400" dirty="0">
              <a:solidFill>
                <a:srgbClr val="333333"/>
              </a:solidFill>
              <a:latin typeface="Times New Roman" panose="02020603050405020304" pitchFamily="18" charset="0"/>
              <a:cs typeface="Times New Roman" panose="02020603050405020304" pitchFamily="18" charset="0"/>
            </a:endParaRPr>
          </a:p>
          <a:p>
            <a:pPr algn="just">
              <a:lnSpc>
                <a:spcPct val="115000"/>
              </a:lnSpc>
              <a:spcAft>
                <a:spcPts val="1000"/>
              </a:spcAft>
            </a:pPr>
            <a:endParaRPr lang="en-US" sz="2400" dirty="0">
              <a:solidFill>
                <a:srgbClr val="333333"/>
              </a:solidFill>
              <a:latin typeface="Times New Roman" panose="02020603050405020304" pitchFamily="18" charset="0"/>
              <a:cs typeface="Times New Roman" panose="02020603050405020304" pitchFamily="18" charset="0"/>
            </a:endParaRPr>
          </a:p>
        </p:txBody>
      </p:sp>
      <p:sp>
        <p:nvSpPr>
          <p:cNvPr id="4" name="Rounded Rectangle 17">
            <a:extLst>
              <a:ext uri="{FF2B5EF4-FFF2-40B4-BE49-F238E27FC236}">
                <a16:creationId xmlns:a16="http://schemas.microsoft.com/office/drawing/2014/main" id="{F79EE3AD-1F9D-1FC9-2AEB-7B84E58F9DFF}"/>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CREATE  TABLE COMMAND</a:t>
            </a:r>
          </a:p>
        </p:txBody>
      </p:sp>
      <p:sp>
        <p:nvSpPr>
          <p:cNvPr id="5" name="Rectangle 1">
            <a:extLst>
              <a:ext uri="{FF2B5EF4-FFF2-40B4-BE49-F238E27FC236}">
                <a16:creationId xmlns:a16="http://schemas.microsoft.com/office/drawing/2014/main" id="{7044A9FA-BEBD-1AC9-A241-7AF3E7FC0A55}"/>
              </a:ext>
            </a:extLst>
          </p:cNvPr>
          <p:cNvSpPr>
            <a:spLocks noChangeArrowheads="1"/>
          </p:cNvSpPr>
          <p:nvPr/>
        </p:nvSpPr>
        <p:spPr bwMode="auto">
          <a:xfrm>
            <a:off x="712031" y="1208948"/>
            <a:ext cx="10747947" cy="738664"/>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CREATE</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16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TABLE</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IF</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1600"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NOT</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16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EXISTS</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1600"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&lt;</a:t>
            </a:r>
            <a:r>
              <a:rPr kumimoji="0" lang="en-US" altLang="en-US" sz="16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table_name</a:t>
            </a:r>
            <a:r>
              <a:rPr kumimoji="0" lang="en-US" altLang="en-US" sz="1600"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&gt;</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1600"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&lt;</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column1</a:t>
            </a:r>
            <a:r>
              <a:rPr kumimoji="0" lang="en-US" altLang="en-US" sz="1600"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&gt;</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1600"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&lt;</a:t>
            </a:r>
            <a:r>
              <a:rPr kumimoji="0" lang="en-US" altLang="en-US" sz="16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data_type</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length</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&gt;</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column_contraint</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1600"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&lt;</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column2</a:t>
            </a:r>
            <a:r>
              <a:rPr kumimoji="0" lang="en-US" altLang="en-US" sz="1600"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&gt;</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1600"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&lt;</a:t>
            </a:r>
            <a:r>
              <a:rPr kumimoji="0" lang="en-US" altLang="en-US" sz="16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data_type</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length</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&gt;</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column_contraint</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1600"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&lt;</a:t>
            </a:r>
            <a:r>
              <a:rPr kumimoji="0" lang="en-US" altLang="en-US" sz="16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columnN</a:t>
            </a:r>
            <a:r>
              <a:rPr kumimoji="0" lang="en-US" altLang="en-US" sz="1600"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&gt;</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1600"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&lt;</a:t>
            </a:r>
            <a:r>
              <a:rPr kumimoji="0" lang="en-US" altLang="en-US" sz="16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data_type</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length</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&gt;</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column_contraint</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table_constraints</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800" b="0" i="0" u="none" strike="noStrike" cap="none" normalizeH="0" baseline="0" dirty="0">
                <a:ln>
                  <a:noFill/>
                </a:ln>
                <a:solidFill>
                  <a:schemeClr val="tx1"/>
                </a:solidFill>
                <a:effectLst/>
              </a:rPr>
              <a:t> </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pic>
        <p:nvPicPr>
          <p:cNvPr id="7" name="Picture 6">
            <a:extLst>
              <a:ext uri="{FF2B5EF4-FFF2-40B4-BE49-F238E27FC236}">
                <a16:creationId xmlns:a16="http://schemas.microsoft.com/office/drawing/2014/main" id="{67D35C9A-B39D-951C-9747-28A257E4836C}"/>
              </a:ext>
            </a:extLst>
          </p:cNvPr>
          <p:cNvPicPr>
            <a:picLocks noChangeAspect="1"/>
          </p:cNvPicPr>
          <p:nvPr/>
        </p:nvPicPr>
        <p:blipFill>
          <a:blip r:embed="rId2"/>
          <a:stretch>
            <a:fillRect/>
          </a:stretch>
        </p:blipFill>
        <p:spPr>
          <a:xfrm>
            <a:off x="722025" y="3100481"/>
            <a:ext cx="10747947" cy="2760673"/>
          </a:xfrm>
          <a:prstGeom prst="rect">
            <a:avLst/>
          </a:prstGeom>
          <a:ln>
            <a:solidFill>
              <a:schemeClr val="tx1"/>
            </a:solidFill>
          </a:ln>
        </p:spPr>
      </p:pic>
      <p:sp>
        <p:nvSpPr>
          <p:cNvPr id="8" name="Rectangle 2">
            <a:extLst>
              <a:ext uri="{FF2B5EF4-FFF2-40B4-BE49-F238E27FC236}">
                <a16:creationId xmlns:a16="http://schemas.microsoft.com/office/drawing/2014/main" id="{0BD91DE4-824F-2209-D567-68E8A342306B}"/>
              </a:ext>
            </a:extLst>
          </p:cNvPr>
          <p:cNvSpPr>
            <a:spLocks noChangeArrowheads="1"/>
          </p:cNvSpPr>
          <p:nvPr/>
        </p:nvSpPr>
        <p:spPr bwMode="auto">
          <a:xfrm>
            <a:off x="722025" y="2153876"/>
            <a:ext cx="10747947" cy="738664"/>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77AA"/>
                </a:solidFill>
                <a:effectLst/>
                <a:latin typeface="Times New Roman" panose="02020603050405020304" pitchFamily="18" charset="0"/>
                <a:cs typeface="Times New Roman" panose="02020603050405020304" pitchFamily="18" charset="0"/>
              </a:rPr>
              <a:t>CREATE</a:t>
            </a:r>
            <a:r>
              <a:rPr kumimoji="0" lang="en-US" altLang="en-US"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a:ln>
                  <a:noFill/>
                </a:ln>
                <a:solidFill>
                  <a:srgbClr val="0077AA"/>
                </a:solidFill>
                <a:effectLst/>
                <a:latin typeface="Times New Roman" panose="02020603050405020304" pitchFamily="18" charset="0"/>
                <a:cs typeface="Times New Roman" panose="02020603050405020304" pitchFamily="18" charset="0"/>
              </a:rPr>
              <a:t>TABLE</a:t>
            </a:r>
            <a:r>
              <a:rPr kumimoji="0" lang="en-US" altLang="en-US"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a:ln>
                  <a:noFill/>
                </a:ln>
                <a:solidFill>
                  <a:srgbClr val="0077AA"/>
                </a:solidFill>
                <a:effectLst/>
                <a:latin typeface="Times New Roman" panose="02020603050405020304" pitchFamily="18" charset="0"/>
                <a:cs typeface="Times New Roman" panose="02020603050405020304" pitchFamily="18" charset="0"/>
              </a:rPr>
              <a:t>IF</a:t>
            </a:r>
            <a:r>
              <a:rPr kumimoji="0" lang="en-US" altLang="en-US"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a:ln>
                  <a:noFill/>
                </a:ln>
                <a:solidFill>
                  <a:srgbClr val="9A6E3A"/>
                </a:solidFill>
                <a:effectLst/>
                <a:latin typeface="Times New Roman" panose="02020603050405020304" pitchFamily="18" charset="0"/>
                <a:cs typeface="Times New Roman" panose="02020603050405020304" pitchFamily="18" charset="0"/>
              </a:rPr>
              <a:t>NOT</a:t>
            </a:r>
            <a:r>
              <a:rPr kumimoji="0" lang="en-US" altLang="en-US"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a:ln>
                  <a:noFill/>
                </a:ln>
                <a:solidFill>
                  <a:srgbClr val="0077AA"/>
                </a:solidFill>
                <a:effectLst/>
                <a:latin typeface="Times New Roman" panose="02020603050405020304" pitchFamily="18" charset="0"/>
                <a:cs typeface="Times New Roman" panose="02020603050405020304" pitchFamily="18" charset="0"/>
              </a:rPr>
              <a:t>EXISTS</a:t>
            </a:r>
            <a:r>
              <a:rPr kumimoji="0" lang="en-US" altLang="en-US"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person </a:t>
            </a:r>
            <a:r>
              <a:rPr kumimoji="0" lang="en-US" altLang="en-US" sz="1600" b="0" i="0" u="none" strike="noStrike" cap="none" normalizeH="0" baseline="0" dirty="0">
                <a:ln>
                  <a:noFill/>
                </a:ln>
                <a:solidFill>
                  <a:srgbClr val="999999"/>
                </a:solidFill>
                <a:effectLst/>
                <a:latin typeface="Times New Roman" panose="02020603050405020304" pitchFamily="18" charset="0"/>
                <a:cs typeface="Times New Roman" panose="02020603050405020304" pitchFamily="18" charset="0"/>
              </a:rPr>
              <a:t>(</a:t>
            </a:r>
            <a:r>
              <a:rPr kumimoji="0" lang="en-US" altLang="en-US"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Id </a:t>
            </a:r>
            <a:r>
              <a:rPr kumimoji="0" lang="en-US" altLang="en-US" sz="1600" b="0" i="0" u="none" strike="noStrike" cap="none" normalizeH="0" baseline="0" dirty="0">
                <a:ln>
                  <a:noFill/>
                </a:ln>
                <a:solidFill>
                  <a:srgbClr val="0077AA"/>
                </a:solidFill>
                <a:effectLst/>
                <a:latin typeface="Times New Roman" panose="02020603050405020304" pitchFamily="18" charset="0"/>
                <a:cs typeface="Times New Roman" panose="02020603050405020304" pitchFamily="18" charset="0"/>
              </a:rPr>
              <a:t>INT</a:t>
            </a:r>
            <a:r>
              <a:rPr kumimoji="0" lang="en-US" altLang="en-US"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a:ln>
                  <a:noFill/>
                </a:ln>
                <a:solidFill>
                  <a:srgbClr val="0077AA"/>
                </a:solidFill>
                <a:effectLst/>
                <a:latin typeface="Times New Roman" panose="02020603050405020304" pitchFamily="18" charset="0"/>
                <a:cs typeface="Times New Roman" panose="02020603050405020304" pitchFamily="18" charset="0"/>
              </a:rPr>
              <a:t>PRIMARY</a:t>
            </a:r>
            <a:r>
              <a:rPr kumimoji="0" lang="en-US" altLang="en-US"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a:ln>
                  <a:noFill/>
                </a:ln>
                <a:solidFill>
                  <a:srgbClr val="0077AA"/>
                </a:solidFill>
                <a:effectLst/>
                <a:latin typeface="Times New Roman" panose="02020603050405020304" pitchFamily="18" charset="0"/>
                <a:cs typeface="Times New Roman" panose="02020603050405020304" pitchFamily="18" charset="0"/>
              </a:rPr>
              <a:t>KEY</a:t>
            </a:r>
            <a:r>
              <a:rPr kumimoji="0" lang="en-US" altLang="en-US" sz="1600" b="0" i="0" u="none" strike="noStrike" cap="none" normalizeH="0" baseline="0" dirty="0">
                <a:ln>
                  <a:noFill/>
                </a:ln>
                <a:solidFill>
                  <a:srgbClr val="999999"/>
                </a:solidFill>
                <a:effectLst/>
                <a:latin typeface="Times New Roman" panose="02020603050405020304" pitchFamily="18" charset="0"/>
                <a:cs typeface="Times New Roman" panose="02020603050405020304" pitchFamily="18" charset="0"/>
              </a:rPr>
              <a:t>,</a:t>
            </a:r>
            <a:r>
              <a:rPr kumimoji="0" lang="en-US" altLang="en-US"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first_name</a:t>
            </a:r>
            <a:r>
              <a:rPr kumimoji="0" lang="en-US" altLang="en-US"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a:ln>
                  <a:noFill/>
                </a:ln>
                <a:solidFill>
                  <a:srgbClr val="0077AA"/>
                </a:solidFill>
                <a:effectLst/>
                <a:latin typeface="Times New Roman" panose="02020603050405020304" pitchFamily="18" charset="0"/>
                <a:cs typeface="Times New Roman" panose="02020603050405020304" pitchFamily="18" charset="0"/>
              </a:rPr>
              <a:t>VARCHAR</a:t>
            </a:r>
            <a:r>
              <a:rPr kumimoji="0" lang="en-US" altLang="en-US" sz="1600" b="0" i="0" u="none" strike="noStrike" cap="none" normalizeH="0" baseline="0" dirty="0">
                <a:ln>
                  <a:noFill/>
                </a:ln>
                <a:solidFill>
                  <a:srgbClr val="999999"/>
                </a:solidFill>
                <a:effectLst/>
                <a:latin typeface="Times New Roman" panose="02020603050405020304" pitchFamily="18" charset="0"/>
                <a:cs typeface="Times New Roman" panose="02020603050405020304" pitchFamily="18" charset="0"/>
              </a:rPr>
              <a:t>(</a:t>
            </a:r>
            <a:r>
              <a:rPr kumimoji="0" lang="en-US" altLang="en-US" sz="1600" b="0" i="0" u="none" strike="noStrike" cap="none" normalizeH="0" baseline="0" dirty="0">
                <a:ln>
                  <a:noFill/>
                </a:ln>
                <a:solidFill>
                  <a:srgbClr val="990055"/>
                </a:solidFill>
                <a:effectLst/>
                <a:latin typeface="Times New Roman" panose="02020603050405020304" pitchFamily="18" charset="0"/>
                <a:cs typeface="Times New Roman" panose="02020603050405020304" pitchFamily="18" charset="0"/>
              </a:rPr>
              <a:t>50</a:t>
            </a:r>
            <a:r>
              <a:rPr kumimoji="0" lang="en-US" altLang="en-US" sz="1600" b="0" i="0" u="none" strike="noStrike" cap="none" normalizeH="0" baseline="0" dirty="0">
                <a:ln>
                  <a:noFill/>
                </a:ln>
                <a:solidFill>
                  <a:srgbClr val="999999"/>
                </a:solidFill>
                <a:effectLst/>
                <a:latin typeface="Times New Roman" panose="02020603050405020304" pitchFamily="18" charset="0"/>
                <a:cs typeface="Times New Roman" panose="02020603050405020304" pitchFamily="18" charset="0"/>
              </a:rPr>
              <a:t>)</a:t>
            </a:r>
            <a:r>
              <a:rPr kumimoji="0" lang="en-US" altLang="en-US"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a:ln>
                  <a:noFill/>
                </a:ln>
                <a:solidFill>
                  <a:srgbClr val="9A6E3A"/>
                </a:solidFill>
                <a:effectLst/>
                <a:latin typeface="Times New Roman" panose="02020603050405020304" pitchFamily="18" charset="0"/>
                <a:cs typeface="Times New Roman" panose="02020603050405020304" pitchFamily="18" charset="0"/>
              </a:rPr>
              <a:t>NOT</a:t>
            </a:r>
            <a:r>
              <a:rPr kumimoji="0" lang="en-US" altLang="en-US"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a:ln>
                  <a:noFill/>
                </a:ln>
                <a:solidFill>
                  <a:srgbClr val="990055"/>
                </a:solidFill>
                <a:effectLst/>
                <a:latin typeface="Times New Roman" panose="02020603050405020304" pitchFamily="18" charset="0"/>
                <a:cs typeface="Times New Roman" panose="02020603050405020304" pitchFamily="18" charset="0"/>
              </a:rPr>
              <a:t>NULL</a:t>
            </a:r>
            <a:r>
              <a:rPr kumimoji="0" lang="en-US" altLang="en-US" sz="1600" b="0" i="0" u="none" strike="noStrike" cap="none" normalizeH="0" baseline="0" dirty="0">
                <a:ln>
                  <a:noFill/>
                </a:ln>
                <a:solidFill>
                  <a:srgbClr val="999999"/>
                </a:solidFill>
                <a:effectLst/>
                <a:latin typeface="Times New Roman" panose="02020603050405020304" pitchFamily="18" charset="0"/>
                <a:cs typeface="Times New Roman" panose="02020603050405020304" pitchFamily="18" charset="0"/>
              </a:rPr>
              <a:t>,</a:t>
            </a:r>
            <a:r>
              <a:rPr kumimoji="0" lang="en-US" altLang="en-US"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last_name</a:t>
            </a:r>
            <a:r>
              <a:rPr kumimoji="0" lang="en-US" altLang="en-US"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a:ln>
                  <a:noFill/>
                </a:ln>
                <a:solidFill>
                  <a:srgbClr val="0077AA"/>
                </a:solidFill>
                <a:effectLst/>
                <a:latin typeface="Times New Roman" panose="02020603050405020304" pitchFamily="18" charset="0"/>
                <a:cs typeface="Times New Roman" panose="02020603050405020304" pitchFamily="18" charset="0"/>
              </a:rPr>
              <a:t>VARCHAR</a:t>
            </a:r>
            <a:r>
              <a:rPr kumimoji="0" lang="en-US" altLang="en-US" sz="1600" b="0" i="0" u="none" strike="noStrike" cap="none" normalizeH="0" baseline="0" dirty="0">
                <a:ln>
                  <a:noFill/>
                </a:ln>
                <a:solidFill>
                  <a:srgbClr val="999999"/>
                </a:solidFill>
                <a:effectLst/>
                <a:latin typeface="Times New Roman" panose="02020603050405020304" pitchFamily="18" charset="0"/>
                <a:cs typeface="Times New Roman" panose="02020603050405020304" pitchFamily="18" charset="0"/>
              </a:rPr>
              <a:t>(</a:t>
            </a:r>
            <a:r>
              <a:rPr kumimoji="0" lang="en-US" altLang="en-US" sz="1600" b="0" i="0" u="none" strike="noStrike" cap="none" normalizeH="0" baseline="0" dirty="0">
                <a:ln>
                  <a:noFill/>
                </a:ln>
                <a:solidFill>
                  <a:srgbClr val="990055"/>
                </a:solidFill>
                <a:effectLst/>
                <a:latin typeface="Times New Roman" panose="02020603050405020304" pitchFamily="18" charset="0"/>
                <a:cs typeface="Times New Roman" panose="02020603050405020304" pitchFamily="18" charset="0"/>
              </a:rPr>
              <a:t>50</a:t>
            </a:r>
            <a:r>
              <a:rPr kumimoji="0" lang="en-US" altLang="en-US" sz="1600" b="0" i="0" u="none" strike="noStrike" cap="none" normalizeH="0" baseline="0" dirty="0">
                <a:ln>
                  <a:noFill/>
                </a:ln>
                <a:solidFill>
                  <a:srgbClr val="999999"/>
                </a:solidFill>
                <a:effectLst/>
                <a:latin typeface="Times New Roman" panose="02020603050405020304" pitchFamily="18" charset="0"/>
                <a:cs typeface="Times New Roman" panose="02020603050405020304" pitchFamily="18" charset="0"/>
              </a:rPr>
              <a:t>)</a:t>
            </a:r>
            <a:r>
              <a:rPr kumimoji="0" lang="en-US" altLang="en-US"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a:ln>
                  <a:noFill/>
                </a:ln>
                <a:solidFill>
                  <a:srgbClr val="9A6E3A"/>
                </a:solidFill>
                <a:effectLst/>
                <a:latin typeface="Times New Roman" panose="02020603050405020304" pitchFamily="18" charset="0"/>
                <a:cs typeface="Times New Roman" panose="02020603050405020304" pitchFamily="18" charset="0"/>
              </a:rPr>
              <a:t>NOT</a:t>
            </a:r>
            <a:r>
              <a:rPr kumimoji="0" lang="en-US" altLang="en-US"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a:ln>
                  <a:noFill/>
                </a:ln>
                <a:solidFill>
                  <a:srgbClr val="990055"/>
                </a:solidFill>
                <a:effectLst/>
                <a:latin typeface="Times New Roman" panose="02020603050405020304" pitchFamily="18" charset="0"/>
                <a:cs typeface="Times New Roman" panose="02020603050405020304" pitchFamily="18" charset="0"/>
              </a:rPr>
              <a:t>NULL</a:t>
            </a:r>
            <a:r>
              <a:rPr kumimoji="0" lang="en-US" altLang="en-US" sz="1600" b="0" i="0" u="none" strike="noStrike" cap="none" normalizeH="0" baseline="0" dirty="0">
                <a:ln>
                  <a:noFill/>
                </a:ln>
                <a:solidFill>
                  <a:srgbClr val="999999"/>
                </a:solidFill>
                <a:effectLst/>
                <a:latin typeface="Times New Roman" panose="02020603050405020304" pitchFamily="18" charset="0"/>
                <a:cs typeface="Times New Roman" panose="02020603050405020304" pitchFamily="18" charset="0"/>
              </a:rPr>
              <a:t>,</a:t>
            </a:r>
            <a:r>
              <a:rPr kumimoji="0" lang="en-US" altLang="en-US"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gender </a:t>
            </a:r>
            <a:r>
              <a:rPr kumimoji="0" lang="en-US" altLang="en-US" sz="1600" b="0" i="0" u="none" strike="noStrike" cap="none" normalizeH="0" baseline="0" dirty="0">
                <a:ln>
                  <a:noFill/>
                </a:ln>
                <a:solidFill>
                  <a:srgbClr val="0077AA"/>
                </a:solidFill>
                <a:effectLst/>
                <a:latin typeface="Times New Roman" panose="02020603050405020304" pitchFamily="18" charset="0"/>
                <a:cs typeface="Times New Roman" panose="02020603050405020304" pitchFamily="18" charset="0"/>
              </a:rPr>
              <a:t>CHAR</a:t>
            </a:r>
            <a:r>
              <a:rPr kumimoji="0" lang="en-US" altLang="en-US" sz="1600" b="0" i="0" u="none" strike="noStrike" cap="none" normalizeH="0" baseline="0" dirty="0">
                <a:ln>
                  <a:noFill/>
                </a:ln>
                <a:solidFill>
                  <a:srgbClr val="999999"/>
                </a:solidFill>
                <a:effectLst/>
                <a:latin typeface="Times New Roman" panose="02020603050405020304" pitchFamily="18" charset="0"/>
                <a:cs typeface="Times New Roman" panose="02020603050405020304" pitchFamily="18" charset="0"/>
              </a:rPr>
              <a:t>(</a:t>
            </a:r>
            <a:r>
              <a:rPr kumimoji="0" lang="en-US" altLang="en-US" sz="1600" b="0" i="0" u="none" strike="noStrike" cap="none" normalizeH="0" baseline="0" dirty="0">
                <a:ln>
                  <a:noFill/>
                </a:ln>
                <a:solidFill>
                  <a:srgbClr val="990055"/>
                </a:solidFill>
                <a:effectLst/>
                <a:latin typeface="Times New Roman" panose="02020603050405020304" pitchFamily="18" charset="0"/>
                <a:cs typeface="Times New Roman" panose="02020603050405020304" pitchFamily="18" charset="0"/>
              </a:rPr>
              <a:t>1</a:t>
            </a:r>
            <a:r>
              <a:rPr kumimoji="0" lang="en-US" altLang="en-US" sz="1600" b="0" i="0" u="none" strike="noStrike" cap="none" normalizeH="0" baseline="0" dirty="0">
                <a:ln>
                  <a:noFill/>
                </a:ln>
                <a:solidFill>
                  <a:srgbClr val="999999"/>
                </a:solidFill>
                <a:effectLst/>
                <a:latin typeface="Times New Roman" panose="02020603050405020304" pitchFamily="18" charset="0"/>
                <a:cs typeface="Times New Roman" panose="02020603050405020304" pitchFamily="18" charset="0"/>
              </a:rPr>
              <a:t>),</a:t>
            </a:r>
            <a:r>
              <a:rPr kumimoji="0" lang="en-US" altLang="en-US"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birthdate </a:t>
            </a:r>
            <a:r>
              <a:rPr kumimoji="0" lang="en-US" altLang="en-US" sz="1600" b="0" i="0" u="none" strike="noStrike" cap="none" normalizeH="0" baseline="0" dirty="0">
                <a:ln>
                  <a:noFill/>
                </a:ln>
                <a:solidFill>
                  <a:srgbClr val="0077AA"/>
                </a:solidFill>
                <a:effectLst/>
                <a:latin typeface="Times New Roman" panose="02020603050405020304" pitchFamily="18" charset="0"/>
                <a:cs typeface="Times New Roman" panose="02020603050405020304" pitchFamily="18" charset="0"/>
              </a:rPr>
              <a:t>DATE</a:t>
            </a:r>
            <a:r>
              <a:rPr kumimoji="0" lang="en-US" altLang="en-US" sz="1600" b="0" i="0" u="none" strike="noStrike" cap="none" normalizeH="0" baseline="0" dirty="0">
                <a:ln>
                  <a:noFill/>
                </a:ln>
                <a:solidFill>
                  <a:srgbClr val="999999"/>
                </a:solidFill>
                <a:effectLst/>
                <a:latin typeface="Times New Roman" panose="02020603050405020304" pitchFamily="18" charset="0"/>
                <a:cs typeface="Times New Roman" panose="02020603050405020304" pitchFamily="18" charset="0"/>
              </a:rPr>
              <a:t>,</a:t>
            </a:r>
            <a:r>
              <a:rPr kumimoji="0" lang="en-US" altLang="en-US"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email_id</a:t>
            </a:r>
            <a:r>
              <a:rPr kumimoji="0" lang="en-US" altLang="en-US"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a:ln>
                  <a:noFill/>
                </a:ln>
                <a:solidFill>
                  <a:srgbClr val="0077AA"/>
                </a:solidFill>
                <a:effectLst/>
                <a:latin typeface="Times New Roman" panose="02020603050405020304" pitchFamily="18" charset="0"/>
                <a:cs typeface="Times New Roman" panose="02020603050405020304" pitchFamily="18" charset="0"/>
              </a:rPr>
              <a:t>VARCHAR</a:t>
            </a:r>
            <a:r>
              <a:rPr kumimoji="0" lang="en-US" altLang="en-US" sz="1600" b="0" i="0" u="none" strike="noStrike" cap="none" normalizeH="0" baseline="0" dirty="0">
                <a:ln>
                  <a:noFill/>
                </a:ln>
                <a:solidFill>
                  <a:srgbClr val="999999"/>
                </a:solidFill>
                <a:effectLst/>
                <a:latin typeface="Times New Roman" panose="02020603050405020304" pitchFamily="18" charset="0"/>
                <a:cs typeface="Times New Roman" panose="02020603050405020304" pitchFamily="18" charset="0"/>
              </a:rPr>
              <a:t>(</a:t>
            </a:r>
            <a:r>
              <a:rPr kumimoji="0" lang="en-US" altLang="en-US" sz="1600" b="0" i="0" u="none" strike="noStrike" cap="none" normalizeH="0" baseline="0" dirty="0">
                <a:ln>
                  <a:noFill/>
                </a:ln>
                <a:solidFill>
                  <a:srgbClr val="990055"/>
                </a:solidFill>
                <a:effectLst/>
                <a:latin typeface="Times New Roman" panose="02020603050405020304" pitchFamily="18" charset="0"/>
                <a:cs typeface="Times New Roman" panose="02020603050405020304" pitchFamily="18" charset="0"/>
              </a:rPr>
              <a:t>100</a:t>
            </a:r>
            <a:r>
              <a:rPr kumimoji="0" lang="en-US" altLang="en-US" sz="1600" b="0" i="0" u="none" strike="noStrike" cap="none" normalizeH="0" baseline="0" dirty="0">
                <a:ln>
                  <a:noFill/>
                </a:ln>
                <a:solidFill>
                  <a:srgbClr val="999999"/>
                </a:solidFill>
                <a:effectLst/>
                <a:latin typeface="Times New Roman" panose="02020603050405020304" pitchFamily="18" charset="0"/>
                <a:cs typeface="Times New Roman" panose="02020603050405020304" pitchFamily="18" charset="0"/>
              </a:rPr>
              <a:t>)</a:t>
            </a:r>
            <a:r>
              <a:rPr kumimoji="0" lang="en-US" altLang="en-US"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a:ln>
                  <a:noFill/>
                </a:ln>
                <a:solidFill>
                  <a:srgbClr val="0077AA"/>
                </a:solidFill>
                <a:effectLst/>
                <a:latin typeface="Times New Roman" panose="02020603050405020304" pitchFamily="18" charset="0"/>
                <a:cs typeface="Times New Roman" panose="02020603050405020304" pitchFamily="18" charset="0"/>
              </a:rPr>
              <a:t>UNIQUE</a:t>
            </a:r>
            <a:r>
              <a:rPr kumimoji="0" lang="en-US" altLang="en-US" sz="1600" b="0" i="0" u="none" strike="noStrike" cap="none" normalizeH="0" baseline="0" dirty="0">
                <a:ln>
                  <a:noFill/>
                </a:ln>
                <a:solidFill>
                  <a:srgbClr val="999999"/>
                </a:solidFill>
                <a:effectLst/>
                <a:latin typeface="Times New Roman" panose="02020603050405020304" pitchFamily="18" charset="0"/>
                <a:cs typeface="Times New Roman" panose="02020603050405020304" pitchFamily="18" charset="0"/>
              </a:rPr>
              <a:t>,</a:t>
            </a:r>
            <a:r>
              <a:rPr kumimoji="0" lang="en-US" altLang="en-US"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country_of_birth</a:t>
            </a:r>
            <a:r>
              <a:rPr kumimoji="0" lang="en-US" altLang="en-US"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a:ln>
                  <a:noFill/>
                </a:ln>
                <a:solidFill>
                  <a:srgbClr val="0077AA"/>
                </a:solidFill>
                <a:effectLst/>
                <a:latin typeface="Times New Roman" panose="02020603050405020304" pitchFamily="18" charset="0"/>
                <a:cs typeface="Times New Roman" panose="02020603050405020304" pitchFamily="18" charset="0"/>
              </a:rPr>
              <a:t>VARCHAR</a:t>
            </a:r>
            <a:r>
              <a:rPr kumimoji="0" lang="en-US" altLang="en-US" sz="1600" b="0" i="0" u="none" strike="noStrike" cap="none" normalizeH="0" baseline="0" dirty="0">
                <a:ln>
                  <a:noFill/>
                </a:ln>
                <a:solidFill>
                  <a:srgbClr val="999999"/>
                </a:solidFill>
                <a:effectLst/>
                <a:latin typeface="Times New Roman" panose="02020603050405020304" pitchFamily="18" charset="0"/>
                <a:cs typeface="Times New Roman" panose="02020603050405020304" pitchFamily="18" charset="0"/>
              </a:rPr>
              <a:t>(</a:t>
            </a:r>
            <a:r>
              <a:rPr kumimoji="0" lang="en-US" altLang="en-US" sz="1600" b="0" i="0" u="none" strike="noStrike" cap="none" normalizeH="0" baseline="0" dirty="0">
                <a:ln>
                  <a:noFill/>
                </a:ln>
                <a:solidFill>
                  <a:srgbClr val="990055"/>
                </a:solidFill>
                <a:effectLst/>
                <a:latin typeface="Times New Roman" panose="02020603050405020304" pitchFamily="18" charset="0"/>
                <a:cs typeface="Times New Roman" panose="02020603050405020304" pitchFamily="18" charset="0"/>
              </a:rPr>
              <a:t>50</a:t>
            </a:r>
            <a:r>
              <a:rPr kumimoji="0" lang="en-US" altLang="en-US" sz="1600" b="0" i="0" u="none" strike="noStrike" cap="none" normalizeH="0" baseline="0" dirty="0">
                <a:ln>
                  <a:noFill/>
                </a:ln>
                <a:solidFill>
                  <a:srgbClr val="999999"/>
                </a:solidFill>
                <a:effectLst/>
                <a:latin typeface="Times New Roman" panose="02020603050405020304" pitchFamily="18" charset="0"/>
                <a:cs typeface="Times New Roman" panose="02020603050405020304" pitchFamily="18" charset="0"/>
              </a:rPr>
              <a:t>)</a:t>
            </a:r>
            <a:r>
              <a:rPr kumimoji="0" lang="en-US" altLang="en-US"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a:ln>
                  <a:noFill/>
                </a:ln>
                <a:solidFill>
                  <a:srgbClr val="999999"/>
                </a:solidFill>
                <a:effectLst/>
                <a:latin typeface="Times New Roman" panose="02020603050405020304" pitchFamily="18" charset="0"/>
                <a:cs typeface="Times New Roman" panose="02020603050405020304" pitchFamily="18" charset="0"/>
              </a:rPr>
              <a:t>);</a:t>
            </a:r>
            <a:r>
              <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25910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71DF499-3CDF-0443-B3F3-E7667BD1467C}"/>
              </a:ext>
            </a:extLst>
          </p:cNvPr>
          <p:cNvSpPr>
            <a:spLocks noGrp="1"/>
          </p:cNvSpPr>
          <p:nvPr>
            <p:ph type="sldNum" sz="quarter" idx="12"/>
          </p:nvPr>
        </p:nvSpPr>
        <p:spPr/>
        <p:txBody>
          <a:bodyPr/>
          <a:lstStyle/>
          <a:p>
            <a:fld id="{CBABCCC1-BF11-4F37-963E-1BCD5B23FD72}" type="slidenum">
              <a:rPr lang="en-IN" smtClean="0"/>
              <a:t>35</a:t>
            </a:fld>
            <a:endParaRPr lang="en-IN"/>
          </a:p>
        </p:txBody>
      </p:sp>
      <p:sp>
        <p:nvSpPr>
          <p:cNvPr id="3" name="Rounded Rectangle 17">
            <a:extLst>
              <a:ext uri="{FF2B5EF4-FFF2-40B4-BE49-F238E27FC236}">
                <a16:creationId xmlns:a16="http://schemas.microsoft.com/office/drawing/2014/main" id="{1C981DDA-15CB-CB80-7C7D-2658A3E66737}"/>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CREATE  TABLE COMMAND (Cont..)</a:t>
            </a:r>
          </a:p>
        </p:txBody>
      </p:sp>
      <p:sp>
        <p:nvSpPr>
          <p:cNvPr id="5" name="TextBox 4">
            <a:extLst>
              <a:ext uri="{FF2B5EF4-FFF2-40B4-BE49-F238E27FC236}">
                <a16:creationId xmlns:a16="http://schemas.microsoft.com/office/drawing/2014/main" id="{D8356831-0047-7C38-948F-2ABC498CE38F}"/>
              </a:ext>
            </a:extLst>
          </p:cNvPr>
          <p:cNvSpPr txBox="1"/>
          <p:nvPr/>
        </p:nvSpPr>
        <p:spPr>
          <a:xfrm>
            <a:off x="786982" y="801256"/>
            <a:ext cx="10687987" cy="707886"/>
          </a:xfrm>
          <a:prstGeom prst="rect">
            <a:avLst/>
          </a:prstGeom>
          <a:noFill/>
        </p:spPr>
        <p:txBody>
          <a:bodyPr wrap="square">
            <a:spAutoFit/>
          </a:bodyPr>
          <a:lstStyle/>
          <a:p>
            <a:pPr algn="just" eaLnBrk="1" hangingPunct="1"/>
            <a:r>
              <a:rPr lang="en-US" altLang="en-US" sz="2000" kern="1800" dirty="0">
                <a:solidFill>
                  <a:srgbClr val="FF0000"/>
                </a:solidFill>
                <a:latin typeface="Times New Roman" panose="02020603050405020304" pitchFamily="18" charset="0"/>
                <a:cs typeface="Times New Roman" panose="02020603050405020304" pitchFamily="18" charset="0"/>
              </a:rPr>
              <a:t>Create table as command: </a:t>
            </a:r>
            <a:r>
              <a:rPr lang="en-US" sz="2000" b="0" dirty="0">
                <a:solidFill>
                  <a:srgbClr val="181717"/>
                </a:solidFill>
                <a:latin typeface="Times New Roman" panose="02020603050405020304" pitchFamily="18" charset="0"/>
                <a:cs typeface="Times New Roman" panose="02020603050405020304" pitchFamily="18" charset="0"/>
              </a:rPr>
              <a:t>Use </a:t>
            </a:r>
            <a:r>
              <a:rPr lang="en-US" sz="2000" dirty="0">
                <a:solidFill>
                  <a:srgbClr val="181717"/>
                </a:solidFill>
                <a:latin typeface="Times New Roman" panose="02020603050405020304" pitchFamily="18" charset="0"/>
                <a:cs typeface="Times New Roman" panose="02020603050405020304" pitchFamily="18" charset="0"/>
              </a:rPr>
              <a:t>this</a:t>
            </a:r>
            <a:r>
              <a:rPr lang="en-US" sz="2000" b="0" dirty="0">
                <a:solidFill>
                  <a:srgbClr val="181717"/>
                </a:solidFill>
                <a:latin typeface="Times New Roman" panose="02020603050405020304" pitchFamily="18" charset="0"/>
                <a:cs typeface="Times New Roman" panose="02020603050405020304" pitchFamily="18" charset="0"/>
              </a:rPr>
              <a:t> statement to create a new table with data from the specified SELECT query.</a:t>
            </a:r>
            <a:endParaRPr lang="en-US" altLang="en-US" sz="2000" b="0" dirty="0">
              <a:solidFill>
                <a:srgbClr val="181717"/>
              </a:solidFill>
              <a:latin typeface="Times New Roman" panose="02020603050405020304" pitchFamily="18" charset="0"/>
              <a:cs typeface="Times New Roman" panose="02020603050405020304" pitchFamily="18" charset="0"/>
            </a:endParaRPr>
          </a:p>
        </p:txBody>
      </p:sp>
      <p:sp>
        <p:nvSpPr>
          <p:cNvPr id="6" name="Rectangle 1">
            <a:extLst>
              <a:ext uri="{FF2B5EF4-FFF2-40B4-BE49-F238E27FC236}">
                <a16:creationId xmlns:a16="http://schemas.microsoft.com/office/drawing/2014/main" id="{B8D84ED5-E338-AF08-99E5-B3E554C5F26B}"/>
              </a:ext>
            </a:extLst>
          </p:cNvPr>
          <p:cNvSpPr>
            <a:spLocks noChangeArrowheads="1"/>
          </p:cNvSpPr>
          <p:nvPr/>
        </p:nvSpPr>
        <p:spPr bwMode="auto">
          <a:xfrm>
            <a:off x="871259" y="1647962"/>
            <a:ext cx="10536255" cy="553998"/>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CREATE</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TABLE</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IF</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NOT</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EXISTS</a:t>
            </a:r>
            <a:r>
              <a:rPr kumimoji="0" lang="en-US" altLang="en-US"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&lt;</a:t>
            </a:r>
            <a:r>
              <a:rPr kumimoji="0" lang="en-US" altLang="en-US"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table_name</a:t>
            </a:r>
            <a:r>
              <a:rPr kumimoji="0" lang="en-US" altLang="en-US"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&gt;</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&lt;</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column1</a:t>
            </a:r>
            <a:r>
              <a:rPr kumimoji="0" lang="en-US" altLang="en-US"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&gt;</a:t>
            </a:r>
            <a:r>
              <a:rPr kumimoji="0" lang="en-US" altLang="en-US"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&lt;</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column2</a:t>
            </a:r>
            <a:r>
              <a:rPr kumimoji="0" lang="en-US" altLang="en-US"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&gt;</a:t>
            </a:r>
            <a:r>
              <a:rPr kumimoji="0" lang="en-US" altLang="en-US"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AS</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&lt;</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Query</a:t>
            </a:r>
            <a:r>
              <a:rPr kumimoji="0" lang="en-US" altLang="en-US"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&gt;</a:t>
            </a:r>
            <a:r>
              <a:rPr kumimoji="0" lang="en-US" altLang="en-US"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
        <p:nvSpPr>
          <p:cNvPr id="8" name="TextBox 7">
            <a:extLst>
              <a:ext uri="{FF2B5EF4-FFF2-40B4-BE49-F238E27FC236}">
                <a16:creationId xmlns:a16="http://schemas.microsoft.com/office/drawing/2014/main" id="{C4A7F4AC-04F7-5F4C-DB8A-738FBB5739FF}"/>
              </a:ext>
            </a:extLst>
          </p:cNvPr>
          <p:cNvSpPr txBox="1"/>
          <p:nvPr/>
        </p:nvSpPr>
        <p:spPr>
          <a:xfrm>
            <a:off x="785733" y="2302177"/>
            <a:ext cx="10620532" cy="707886"/>
          </a:xfrm>
          <a:prstGeom prst="rect">
            <a:avLst/>
          </a:prstGeom>
          <a:noFill/>
        </p:spPr>
        <p:txBody>
          <a:bodyPr wrap="square">
            <a:spAutoFit/>
          </a:bodyPr>
          <a:lstStyle/>
          <a:p>
            <a:r>
              <a:rPr lang="en-US" sz="2000" dirty="0">
                <a:solidFill>
                  <a:srgbClr val="181717"/>
                </a:solidFill>
                <a:latin typeface="Times New Roman" panose="02020603050405020304" pitchFamily="18" charset="0"/>
                <a:cs typeface="Times New Roman" panose="02020603050405020304" pitchFamily="18" charset="0"/>
              </a:rPr>
              <a:t>The following command will create the Employee table with the same column names and data types as SELECT query that selects data from the person table.</a:t>
            </a:r>
            <a:endParaRPr lang="en-IN" sz="2000" dirty="0">
              <a:solidFill>
                <a:srgbClr val="181717"/>
              </a:solidFill>
              <a:latin typeface="Times New Roman" panose="02020603050405020304" pitchFamily="18" charset="0"/>
              <a:cs typeface="Times New Roman" panose="02020603050405020304" pitchFamily="18" charset="0"/>
            </a:endParaRPr>
          </a:p>
        </p:txBody>
      </p:sp>
      <p:sp>
        <p:nvSpPr>
          <p:cNvPr id="9" name="Rectangle 3">
            <a:extLst>
              <a:ext uri="{FF2B5EF4-FFF2-40B4-BE49-F238E27FC236}">
                <a16:creationId xmlns:a16="http://schemas.microsoft.com/office/drawing/2014/main" id="{F3EF9F8B-9125-DE4E-4137-F16FDC5BDE69}"/>
              </a:ext>
            </a:extLst>
          </p:cNvPr>
          <p:cNvSpPr>
            <a:spLocks noChangeArrowheads="1"/>
          </p:cNvSpPr>
          <p:nvPr/>
        </p:nvSpPr>
        <p:spPr bwMode="auto">
          <a:xfrm>
            <a:off x="897239" y="3135632"/>
            <a:ext cx="10536255" cy="276999"/>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CREATE</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TABLE</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employee </a:t>
            </a:r>
            <a:r>
              <a:rPr kumimoji="0" lang="en-US" altLang="en-US"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AS</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SELECT</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FROM</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person</a:t>
            </a:r>
            <a:r>
              <a:rPr kumimoji="0" lang="en-US" altLang="en-US"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900" b="0" i="0" u="none" strike="noStrike" cap="none" normalizeH="0" baseline="0" dirty="0">
                <a:ln>
                  <a:noFill/>
                </a:ln>
                <a:solidFill>
                  <a:schemeClr val="tx1"/>
                </a:solidFill>
                <a:effectLst/>
              </a:rPr>
              <a:t> </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pic>
        <p:nvPicPr>
          <p:cNvPr id="11" name="Picture 10">
            <a:extLst>
              <a:ext uri="{FF2B5EF4-FFF2-40B4-BE49-F238E27FC236}">
                <a16:creationId xmlns:a16="http://schemas.microsoft.com/office/drawing/2014/main" id="{1EBBFDCC-C2EA-78DB-B91F-4D19688A2C8A}"/>
              </a:ext>
            </a:extLst>
          </p:cNvPr>
          <p:cNvPicPr>
            <a:picLocks noChangeAspect="1"/>
          </p:cNvPicPr>
          <p:nvPr/>
        </p:nvPicPr>
        <p:blipFill>
          <a:blip r:embed="rId2"/>
          <a:stretch>
            <a:fillRect/>
          </a:stretch>
        </p:blipFill>
        <p:spPr>
          <a:xfrm>
            <a:off x="897239" y="3538200"/>
            <a:ext cx="10510275" cy="2412895"/>
          </a:xfrm>
          <a:prstGeom prst="rect">
            <a:avLst/>
          </a:prstGeom>
          <a:ln>
            <a:solidFill>
              <a:schemeClr val="tx1"/>
            </a:solidFill>
          </a:ln>
        </p:spPr>
      </p:pic>
    </p:spTree>
    <p:extLst>
      <p:ext uri="{BB962C8B-B14F-4D97-AF65-F5344CB8AC3E}">
        <p14:creationId xmlns:p14="http://schemas.microsoft.com/office/powerpoint/2010/main" val="3929086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71DF499-3CDF-0443-B3F3-E7667BD1467C}"/>
              </a:ext>
            </a:extLst>
          </p:cNvPr>
          <p:cNvSpPr>
            <a:spLocks noGrp="1"/>
          </p:cNvSpPr>
          <p:nvPr>
            <p:ph type="sldNum" sz="quarter" idx="12"/>
          </p:nvPr>
        </p:nvSpPr>
        <p:spPr/>
        <p:txBody>
          <a:bodyPr/>
          <a:lstStyle/>
          <a:p>
            <a:fld id="{CBABCCC1-BF11-4F37-963E-1BCD5B23FD72}" type="slidenum">
              <a:rPr lang="en-IN" smtClean="0"/>
              <a:t>36</a:t>
            </a:fld>
            <a:endParaRPr lang="en-IN"/>
          </a:p>
        </p:txBody>
      </p:sp>
      <p:sp>
        <p:nvSpPr>
          <p:cNvPr id="3" name="Rounded Rectangle 17">
            <a:extLst>
              <a:ext uri="{FF2B5EF4-FFF2-40B4-BE49-F238E27FC236}">
                <a16:creationId xmlns:a16="http://schemas.microsoft.com/office/drawing/2014/main" id="{1C981DDA-15CB-CB80-7C7D-2658A3E66737}"/>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CREATE TABLE COMMAND (Cont..)</a:t>
            </a:r>
          </a:p>
        </p:txBody>
      </p:sp>
      <p:sp>
        <p:nvSpPr>
          <p:cNvPr id="5" name="TextBox 4">
            <a:extLst>
              <a:ext uri="{FF2B5EF4-FFF2-40B4-BE49-F238E27FC236}">
                <a16:creationId xmlns:a16="http://schemas.microsoft.com/office/drawing/2014/main" id="{D8356831-0047-7C38-948F-2ABC498CE38F}"/>
              </a:ext>
            </a:extLst>
          </p:cNvPr>
          <p:cNvSpPr txBox="1"/>
          <p:nvPr/>
        </p:nvSpPr>
        <p:spPr>
          <a:xfrm>
            <a:off x="925048" y="618141"/>
            <a:ext cx="10687987" cy="707886"/>
          </a:xfrm>
          <a:prstGeom prst="rect">
            <a:avLst/>
          </a:prstGeom>
          <a:noFill/>
        </p:spPr>
        <p:txBody>
          <a:bodyPr wrap="square">
            <a:spAutoFit/>
          </a:bodyPr>
          <a:lstStyle/>
          <a:p>
            <a:pPr algn="just"/>
            <a:r>
              <a:rPr lang="en-US" sz="2000" dirty="0">
                <a:solidFill>
                  <a:srgbClr val="181717"/>
                </a:solidFill>
                <a:latin typeface="Times New Roman" panose="02020603050405020304" pitchFamily="18" charset="0"/>
                <a:cs typeface="Times New Roman" panose="02020603050405020304" pitchFamily="18" charset="0"/>
              </a:rPr>
              <a:t>If you want to create a table with a selected column list then, you can select only required columns in the SELECT clause.</a:t>
            </a:r>
            <a:endParaRPr lang="en-IN" sz="2000" dirty="0">
              <a:solidFill>
                <a:srgbClr val="181717"/>
              </a:solidFill>
              <a:latin typeface="Times New Roman" panose="02020603050405020304" pitchFamily="18" charset="0"/>
              <a:cs typeface="Times New Roman" panose="02020603050405020304" pitchFamily="18" charset="0"/>
            </a:endParaRPr>
          </a:p>
        </p:txBody>
      </p:sp>
      <p:sp>
        <p:nvSpPr>
          <p:cNvPr id="4" name="Rectangle 4">
            <a:extLst>
              <a:ext uri="{FF2B5EF4-FFF2-40B4-BE49-F238E27FC236}">
                <a16:creationId xmlns:a16="http://schemas.microsoft.com/office/drawing/2014/main" id="{1D713E59-2EDC-0236-4A80-575B58C3A65F}"/>
              </a:ext>
            </a:extLst>
          </p:cNvPr>
          <p:cNvSpPr>
            <a:spLocks noChangeArrowheads="1"/>
          </p:cNvSpPr>
          <p:nvPr/>
        </p:nvSpPr>
        <p:spPr bwMode="auto">
          <a:xfrm>
            <a:off x="994330" y="1490511"/>
            <a:ext cx="10456561" cy="276999"/>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CREATE</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TABLE</a:t>
            </a:r>
            <a:r>
              <a:rPr lang="en-US" altLang="en-US" dirty="0">
                <a:solidFill>
                  <a:srgbClr val="000000"/>
                </a:solidFill>
                <a:latin typeface="Courier New" panose="02070309020205020404" pitchFamily="49" charset="0"/>
                <a:cs typeface="Courier New" panose="02070309020205020404" pitchFamily="49" charset="0"/>
              </a:rPr>
              <a:t> </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employee </a:t>
            </a:r>
            <a:r>
              <a:rPr kumimoji="0" lang="en-US" altLang="en-US"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AS</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SELECT</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ID</a:t>
            </a:r>
            <a:r>
              <a:rPr kumimoji="0" lang="en-US" altLang="en-US"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FIRST_NAME</a:t>
            </a:r>
            <a:r>
              <a:rPr kumimoji="0" lang="en-US" altLang="en-US"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LAST_NAME</a:t>
            </a:r>
            <a:r>
              <a:rPr lang="en-US" altLang="en-US" dirty="0">
                <a:solidFill>
                  <a:srgbClr val="999999"/>
                </a:solidFill>
                <a:latin typeface="Courier New" panose="02070309020205020404" pitchFamily="49" charset="0"/>
                <a:cs typeface="Courier New" panose="02070309020205020404" pitchFamily="49" charset="0"/>
              </a:rPr>
              <a:t> </a:t>
            </a:r>
            <a:r>
              <a:rPr kumimoji="0" lang="en-US" altLang="en-US"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FROM</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person</a:t>
            </a:r>
            <a:r>
              <a:rPr kumimoji="0" lang="en-US" altLang="en-US"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900" b="0" i="0" u="none" strike="noStrike" cap="none" normalizeH="0" baseline="0" dirty="0">
                <a:ln>
                  <a:noFill/>
                </a:ln>
                <a:solidFill>
                  <a:schemeClr val="tx1"/>
                </a:solidFill>
                <a:effectLst/>
              </a:rPr>
              <a:t> </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
        <p:nvSpPr>
          <p:cNvPr id="10" name="TextBox 9">
            <a:extLst>
              <a:ext uri="{FF2B5EF4-FFF2-40B4-BE49-F238E27FC236}">
                <a16:creationId xmlns:a16="http://schemas.microsoft.com/office/drawing/2014/main" id="{85C57B87-651A-ADDB-BF15-582FA5615AA4}"/>
              </a:ext>
            </a:extLst>
          </p:cNvPr>
          <p:cNvSpPr txBox="1"/>
          <p:nvPr/>
        </p:nvSpPr>
        <p:spPr>
          <a:xfrm>
            <a:off x="925048" y="1900798"/>
            <a:ext cx="10525843" cy="369332"/>
          </a:xfrm>
          <a:prstGeom prst="rect">
            <a:avLst/>
          </a:prstGeom>
          <a:noFill/>
        </p:spPr>
        <p:txBody>
          <a:bodyPr wrap="square">
            <a:spAutoFit/>
          </a:bodyPr>
          <a:lstStyle/>
          <a:p>
            <a:pPr algn="just"/>
            <a:r>
              <a:rPr lang="en-US" sz="1800" dirty="0">
                <a:solidFill>
                  <a:srgbClr val="181717"/>
                </a:solidFill>
                <a:latin typeface="Times New Roman" panose="02020603050405020304" pitchFamily="18" charset="0"/>
                <a:cs typeface="Times New Roman" panose="02020603050405020304" pitchFamily="18" charset="0"/>
              </a:rPr>
              <a:t>If you want column names to be different from SELECT query columns you can specify new columns list. </a:t>
            </a:r>
            <a:endParaRPr lang="en-IN" sz="1800" dirty="0">
              <a:solidFill>
                <a:srgbClr val="181717"/>
              </a:solidFill>
              <a:latin typeface="Times New Roman" panose="02020603050405020304" pitchFamily="18" charset="0"/>
              <a:cs typeface="Times New Roman" panose="02020603050405020304" pitchFamily="18" charset="0"/>
            </a:endParaRPr>
          </a:p>
        </p:txBody>
      </p:sp>
      <p:sp>
        <p:nvSpPr>
          <p:cNvPr id="12" name="Rectangle 5">
            <a:extLst>
              <a:ext uri="{FF2B5EF4-FFF2-40B4-BE49-F238E27FC236}">
                <a16:creationId xmlns:a16="http://schemas.microsoft.com/office/drawing/2014/main" id="{DBC8FDCD-B45E-B8E6-E03D-AFD09AD4C7E9}"/>
              </a:ext>
            </a:extLst>
          </p:cNvPr>
          <p:cNvSpPr>
            <a:spLocks noChangeArrowheads="1"/>
          </p:cNvSpPr>
          <p:nvPr/>
        </p:nvSpPr>
        <p:spPr bwMode="auto">
          <a:xfrm>
            <a:off x="994330" y="2403418"/>
            <a:ext cx="10450433" cy="492443"/>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CREATE</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16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TABLE</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employee1</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Id</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FirstName</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16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LastName</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Gender</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16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AS</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16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SELECT</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ID</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FIRST_NAME</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LAST_NAME</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GENDER </a:t>
            </a:r>
            <a:r>
              <a:rPr kumimoji="0" lang="en-US" altLang="en-US" sz="16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FROM</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person</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800" b="0" i="0" u="none" strike="noStrike" cap="none" normalizeH="0" baseline="0" dirty="0">
                <a:ln>
                  <a:noFill/>
                </a:ln>
                <a:solidFill>
                  <a:schemeClr val="tx1"/>
                </a:solidFill>
                <a:effectLst/>
              </a:rPr>
              <a:t> </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pic>
        <p:nvPicPr>
          <p:cNvPr id="14" name="Picture 13">
            <a:extLst>
              <a:ext uri="{FF2B5EF4-FFF2-40B4-BE49-F238E27FC236}">
                <a16:creationId xmlns:a16="http://schemas.microsoft.com/office/drawing/2014/main" id="{6A048EAB-B051-EFB9-FF54-ECCBC75F8DE1}"/>
              </a:ext>
            </a:extLst>
          </p:cNvPr>
          <p:cNvPicPr>
            <a:picLocks noChangeAspect="1"/>
          </p:cNvPicPr>
          <p:nvPr/>
        </p:nvPicPr>
        <p:blipFill>
          <a:blip r:embed="rId2"/>
          <a:stretch>
            <a:fillRect/>
          </a:stretch>
        </p:blipFill>
        <p:spPr>
          <a:xfrm>
            <a:off x="994331" y="3029149"/>
            <a:ext cx="10450432" cy="2891966"/>
          </a:xfrm>
          <a:prstGeom prst="rect">
            <a:avLst/>
          </a:prstGeom>
          <a:ln>
            <a:solidFill>
              <a:schemeClr val="tx1"/>
            </a:solidFill>
          </a:ln>
        </p:spPr>
      </p:pic>
    </p:spTree>
    <p:extLst>
      <p:ext uri="{BB962C8B-B14F-4D97-AF65-F5344CB8AC3E}">
        <p14:creationId xmlns:p14="http://schemas.microsoft.com/office/powerpoint/2010/main" val="3897841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19A2FE7-2BF9-5E55-0F15-B8157A4238DB}"/>
              </a:ext>
            </a:extLst>
          </p:cNvPr>
          <p:cNvSpPr>
            <a:spLocks noGrp="1"/>
          </p:cNvSpPr>
          <p:nvPr>
            <p:ph type="sldNum" sz="quarter" idx="12"/>
          </p:nvPr>
        </p:nvSpPr>
        <p:spPr/>
        <p:txBody>
          <a:bodyPr/>
          <a:lstStyle/>
          <a:p>
            <a:fld id="{CBABCCC1-BF11-4F37-963E-1BCD5B23FD72}" type="slidenum">
              <a:rPr lang="en-IN" smtClean="0"/>
              <a:t>37</a:t>
            </a:fld>
            <a:endParaRPr lang="en-IN"/>
          </a:p>
        </p:txBody>
      </p:sp>
      <p:sp>
        <p:nvSpPr>
          <p:cNvPr id="3" name="Rectangle 2">
            <a:extLst>
              <a:ext uri="{FF2B5EF4-FFF2-40B4-BE49-F238E27FC236}">
                <a16:creationId xmlns:a16="http://schemas.microsoft.com/office/drawing/2014/main" id="{9AC088C3-8ADB-9BDE-5D4E-49A4C90E96E3}"/>
              </a:ext>
            </a:extLst>
          </p:cNvPr>
          <p:cNvSpPr>
            <a:spLocks noChangeArrowheads="1"/>
          </p:cNvSpPr>
          <p:nvPr/>
        </p:nvSpPr>
        <p:spPr bwMode="auto">
          <a:xfrm>
            <a:off x="831628" y="1259965"/>
            <a:ext cx="10781963" cy="8356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b="1">
                <a:solidFill>
                  <a:schemeClr val="tx1"/>
                </a:solidFill>
                <a:latin typeface="Times New Roman" panose="02020603050405020304" pitchFamily="18" charset="0"/>
              </a:defRPr>
            </a:lvl1pPr>
            <a:lvl2pPr marL="742950" indent="-285750" eaLnBrk="0" hangingPunct="0">
              <a:defRPr sz="2400" b="1">
                <a:solidFill>
                  <a:schemeClr val="tx1"/>
                </a:solidFill>
                <a:latin typeface="Times New Roman" panose="02020603050405020304" pitchFamily="18" charset="0"/>
              </a:defRPr>
            </a:lvl2pPr>
            <a:lvl3pPr marL="1143000" indent="-228600" eaLnBrk="0" hangingPunct="0">
              <a:defRPr sz="2400" b="1">
                <a:solidFill>
                  <a:schemeClr val="tx1"/>
                </a:solidFill>
                <a:latin typeface="Times New Roman" panose="02020603050405020304" pitchFamily="18" charset="0"/>
              </a:defRPr>
            </a:lvl3pPr>
            <a:lvl4pPr marL="1600200" indent="-228600" eaLnBrk="0" hangingPunct="0">
              <a:defRPr sz="2400" b="1">
                <a:solidFill>
                  <a:schemeClr val="tx1"/>
                </a:solidFill>
                <a:latin typeface="Times New Roman" panose="02020603050405020304" pitchFamily="18" charset="0"/>
              </a:defRPr>
            </a:lvl4pPr>
            <a:lvl5pPr marL="2057400" indent="-228600" eaLnBrk="0" hangingPunct="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just" eaLnBrk="1" hangingPunct="1"/>
            <a:r>
              <a:rPr lang="en-US" sz="2000" kern="1800" dirty="0">
                <a:solidFill>
                  <a:srgbClr val="FF0000"/>
                </a:solidFill>
                <a:cs typeface="Times New Roman" panose="02020603050405020304" pitchFamily="18" charset="0"/>
              </a:rPr>
              <a:t>Define NOT NULL Constraint while Creating a Table</a:t>
            </a:r>
            <a:r>
              <a:rPr lang="en-US" altLang="en-US" sz="2000" kern="1800" dirty="0">
                <a:solidFill>
                  <a:srgbClr val="FF0000"/>
                </a:solidFill>
                <a:cs typeface="Times New Roman" panose="02020603050405020304" pitchFamily="18" charset="0"/>
              </a:rPr>
              <a:t>: </a:t>
            </a:r>
            <a:r>
              <a:rPr lang="en-US" altLang="en-US" sz="1800" b="0" dirty="0">
                <a:solidFill>
                  <a:srgbClr val="000000"/>
                </a:solidFill>
                <a:cs typeface="Times New Roman" panose="02020603050405020304" pitchFamily="18" charset="0"/>
              </a:rPr>
              <a:t>The following command declares NOT NULL columns in the CREATE TABLE statement. It will create the employee table with NOT NULL constraints on the </a:t>
            </a:r>
            <a:r>
              <a:rPr lang="en-US" altLang="en-US" sz="1800" b="0" dirty="0" err="1">
                <a:solidFill>
                  <a:srgbClr val="000000"/>
                </a:solidFill>
                <a:cs typeface="Times New Roman" panose="02020603050405020304" pitchFamily="18" charset="0"/>
              </a:rPr>
              <a:t>first_name</a:t>
            </a:r>
            <a:r>
              <a:rPr lang="en-US" altLang="en-US" sz="1800" b="0" dirty="0">
                <a:solidFill>
                  <a:srgbClr val="000000"/>
                </a:solidFill>
                <a:cs typeface="Times New Roman" panose="02020603050405020304" pitchFamily="18" charset="0"/>
              </a:rPr>
              <a:t> and </a:t>
            </a:r>
            <a:r>
              <a:rPr lang="en-US" altLang="en-US" sz="1800" b="0" dirty="0" err="1">
                <a:solidFill>
                  <a:srgbClr val="000000"/>
                </a:solidFill>
                <a:cs typeface="Times New Roman" panose="02020603050405020304" pitchFamily="18" charset="0"/>
              </a:rPr>
              <a:t>last_name</a:t>
            </a:r>
            <a:r>
              <a:rPr lang="en-US" altLang="en-US" sz="1800" b="0" dirty="0">
                <a:solidFill>
                  <a:srgbClr val="000000"/>
                </a:solidFill>
                <a:cs typeface="Times New Roman" panose="02020603050405020304" pitchFamily="18" charset="0"/>
              </a:rPr>
              <a:t> columns. </a:t>
            </a:r>
            <a:r>
              <a:rPr lang="en-US" sz="1800" b="0" dirty="0">
                <a:solidFill>
                  <a:srgbClr val="000000"/>
                </a:solidFill>
                <a:cs typeface="Times New Roman" panose="02020603050405020304" pitchFamily="18" charset="0"/>
              </a:rPr>
              <a:t>If a column has a NOT NULL constraint defined on it then any attempt to insert or update the NULL value to that column will not be allowed and will raise an error.</a:t>
            </a:r>
            <a:endParaRPr lang="en-IN" sz="1800" b="0" dirty="0">
              <a:solidFill>
                <a:srgbClr val="000000"/>
              </a:solidFill>
              <a:cs typeface="Times New Roman" panose="02020603050405020304" pitchFamily="18" charset="0"/>
            </a:endParaRPr>
          </a:p>
          <a:p>
            <a:pPr algn="just" eaLnBrk="1" hangingPunct="1"/>
            <a:endParaRPr kumimoji="0" lang="en-US" altLang="en-US" sz="3200" b="0" i="0" u="none" strike="noStrike" cap="none" normalizeH="0" baseline="0" dirty="0">
              <a:ln>
                <a:noFill/>
              </a:ln>
              <a:solidFill>
                <a:schemeClr val="tx1"/>
              </a:solidFill>
              <a:effectLst/>
              <a:cs typeface="Times New Roman" panose="02020603050405020304" pitchFamily="18" charset="0"/>
            </a:endParaRPr>
          </a:p>
          <a:p>
            <a:pPr eaLnBrk="1" hangingPunct="1"/>
            <a:endParaRPr lang="en-US" altLang="en-US" sz="2000" b="0" dirty="0">
              <a:solidFill>
                <a:srgbClr val="181717"/>
              </a:solidFill>
              <a:cs typeface="Times New Roman" panose="02020603050405020304" pitchFamily="18" charset="0"/>
            </a:endParaRPr>
          </a:p>
        </p:txBody>
      </p:sp>
      <p:sp>
        <p:nvSpPr>
          <p:cNvPr id="4" name="Rounded Rectangle 17">
            <a:extLst>
              <a:ext uri="{FF2B5EF4-FFF2-40B4-BE49-F238E27FC236}">
                <a16:creationId xmlns:a16="http://schemas.microsoft.com/office/drawing/2014/main" id="{259C608A-5C8A-83A9-C0D8-EC78E44987F1}"/>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CREATE  TABLE COMMAND (Cont..)</a:t>
            </a:r>
          </a:p>
        </p:txBody>
      </p:sp>
      <p:sp>
        <p:nvSpPr>
          <p:cNvPr id="5" name="Rectangle 1">
            <a:extLst>
              <a:ext uri="{FF2B5EF4-FFF2-40B4-BE49-F238E27FC236}">
                <a16:creationId xmlns:a16="http://schemas.microsoft.com/office/drawing/2014/main" id="{D24205C8-D53E-E390-73F2-E227E5CD9B32}"/>
              </a:ext>
            </a:extLst>
          </p:cNvPr>
          <p:cNvSpPr>
            <a:spLocks noChangeArrowheads="1"/>
          </p:cNvSpPr>
          <p:nvPr/>
        </p:nvSpPr>
        <p:spPr bwMode="auto">
          <a:xfrm>
            <a:off x="6003634" y="-184666"/>
            <a:ext cx="184731" cy="369332"/>
          </a:xfrm>
          <a:prstGeom prst="rect">
            <a:avLst/>
          </a:prstGeom>
          <a:solidFill>
            <a:srgbClr val="D9E5F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600B399D-37E7-C4AC-6093-29F3A941F159}"/>
              </a:ext>
            </a:extLst>
          </p:cNvPr>
          <p:cNvSpPr>
            <a:spLocks noChangeArrowheads="1"/>
          </p:cNvSpPr>
          <p:nvPr/>
        </p:nvSpPr>
        <p:spPr bwMode="auto">
          <a:xfrm>
            <a:off x="926864" y="1945306"/>
            <a:ext cx="10522999" cy="830997"/>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CREATE</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TABLE</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employee</a:t>
            </a:r>
            <a:r>
              <a:rPr kumimoji="0" lang="en-US" altLang="en-US"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emp_id</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INT</a:t>
            </a:r>
            <a:r>
              <a:rPr kumimoji="0" lang="en-US" altLang="en-US"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first_name</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VARCHAR</a:t>
            </a:r>
            <a:r>
              <a:rPr kumimoji="0" lang="en-US" altLang="en-US"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b="0" i="0" u="none" strike="noStrike" cap="none" normalizeH="0" baseline="0" dirty="0">
                <a:ln>
                  <a:noFill/>
                </a:ln>
                <a:solidFill>
                  <a:srgbClr val="990055"/>
                </a:solidFill>
                <a:effectLst/>
                <a:latin typeface="Courier New" panose="02070309020205020404" pitchFamily="49" charset="0"/>
                <a:cs typeface="Courier New" panose="02070309020205020404" pitchFamily="49" charset="0"/>
              </a:rPr>
              <a:t>50</a:t>
            </a:r>
            <a:r>
              <a:rPr kumimoji="0" lang="en-US" altLang="en-US"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NOT</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b="0" i="0" u="none" strike="noStrike" cap="none" normalizeH="0" baseline="0" dirty="0">
                <a:ln>
                  <a:noFill/>
                </a:ln>
                <a:solidFill>
                  <a:srgbClr val="990055"/>
                </a:solidFill>
                <a:effectLst/>
                <a:latin typeface="Courier New" panose="02070309020205020404" pitchFamily="49" charset="0"/>
                <a:cs typeface="Courier New" panose="02070309020205020404" pitchFamily="49" charset="0"/>
              </a:rPr>
              <a:t>NULL</a:t>
            </a:r>
            <a:r>
              <a:rPr kumimoji="0" lang="en-US" altLang="en-US"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last_name</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VARCHAR</a:t>
            </a:r>
            <a:r>
              <a:rPr kumimoji="0" lang="en-US" altLang="en-US"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b="0" i="0" u="none" strike="noStrike" cap="none" normalizeH="0" baseline="0" dirty="0">
                <a:ln>
                  <a:noFill/>
                </a:ln>
                <a:solidFill>
                  <a:srgbClr val="990055"/>
                </a:solidFill>
                <a:effectLst/>
                <a:latin typeface="Courier New" panose="02070309020205020404" pitchFamily="49" charset="0"/>
                <a:cs typeface="Courier New" panose="02070309020205020404" pitchFamily="49" charset="0"/>
              </a:rPr>
              <a:t>50</a:t>
            </a:r>
            <a:r>
              <a:rPr kumimoji="0" lang="en-US" altLang="en-US"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NOT</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b="0" i="0" u="none" strike="noStrike" cap="none" normalizeH="0" baseline="0" dirty="0">
                <a:ln>
                  <a:noFill/>
                </a:ln>
                <a:solidFill>
                  <a:srgbClr val="990055"/>
                </a:solidFill>
                <a:effectLst/>
                <a:latin typeface="Courier New" panose="02070309020205020404" pitchFamily="49" charset="0"/>
                <a:cs typeface="Courier New" panose="02070309020205020404" pitchFamily="49" charset="0"/>
              </a:rPr>
              <a:t>NULL</a:t>
            </a:r>
            <a:r>
              <a:rPr kumimoji="0" lang="en-US" altLang="en-US"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gender </a:t>
            </a:r>
            <a:r>
              <a:rPr kumimoji="0" lang="en-US" altLang="en-US"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CHAR</a:t>
            </a:r>
            <a:r>
              <a:rPr kumimoji="0" lang="en-US" altLang="en-US"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b="0" i="0" u="none" strike="noStrike" cap="none" normalizeH="0" baseline="0" dirty="0">
                <a:ln>
                  <a:noFill/>
                </a:ln>
                <a:solidFill>
                  <a:srgbClr val="990055"/>
                </a:solidFill>
                <a:effectLst/>
                <a:latin typeface="Courier New" panose="02070309020205020404" pitchFamily="49" charset="0"/>
                <a:cs typeface="Courier New" panose="02070309020205020404" pitchFamily="49" charset="0"/>
              </a:rPr>
              <a:t>1</a:t>
            </a:r>
            <a:r>
              <a:rPr kumimoji="0" lang="en-US" altLang="en-US"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birthdate </a:t>
            </a:r>
            <a:r>
              <a:rPr kumimoji="0" lang="en-US" altLang="en-US"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DATE</a:t>
            </a:r>
            <a:r>
              <a:rPr kumimoji="0" lang="en-US" altLang="en-US"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email </a:t>
            </a:r>
            <a:r>
              <a:rPr kumimoji="0" lang="en-US" altLang="en-US"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VARCHAR</a:t>
            </a:r>
            <a:r>
              <a:rPr kumimoji="0" lang="en-US" altLang="en-US"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b="0" i="0" u="none" strike="noStrike" cap="none" normalizeH="0" baseline="0" dirty="0">
                <a:ln>
                  <a:noFill/>
                </a:ln>
                <a:solidFill>
                  <a:srgbClr val="990055"/>
                </a:solidFill>
                <a:effectLst/>
                <a:latin typeface="Courier New" panose="02070309020205020404" pitchFamily="49" charset="0"/>
                <a:cs typeface="Courier New" panose="02070309020205020404" pitchFamily="49" charset="0"/>
              </a:rPr>
              <a:t>100</a:t>
            </a:r>
            <a:r>
              <a:rPr kumimoji="0" lang="en-US" altLang="en-US"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salary </a:t>
            </a:r>
            <a:r>
              <a:rPr kumimoji="0" lang="en-US" altLang="en-US"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INT</a:t>
            </a:r>
            <a:r>
              <a:rPr kumimoji="0" lang="en-US" altLang="en-US"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900" b="0" i="0" u="none" strike="noStrike" cap="none" normalizeH="0" baseline="0" dirty="0">
                <a:ln>
                  <a:noFill/>
                </a:ln>
                <a:solidFill>
                  <a:schemeClr val="tx1"/>
                </a:solidFill>
                <a:effectLst/>
              </a:rPr>
              <a:t> </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pic>
        <p:nvPicPr>
          <p:cNvPr id="9" name="Picture 8">
            <a:extLst>
              <a:ext uri="{FF2B5EF4-FFF2-40B4-BE49-F238E27FC236}">
                <a16:creationId xmlns:a16="http://schemas.microsoft.com/office/drawing/2014/main" id="{D7875FEB-8D0B-C70A-A0FA-C97F7860701A}"/>
              </a:ext>
            </a:extLst>
          </p:cNvPr>
          <p:cNvPicPr>
            <a:picLocks noChangeAspect="1"/>
          </p:cNvPicPr>
          <p:nvPr/>
        </p:nvPicPr>
        <p:blipFill>
          <a:blip r:embed="rId2"/>
          <a:stretch>
            <a:fillRect/>
          </a:stretch>
        </p:blipFill>
        <p:spPr>
          <a:xfrm>
            <a:off x="926865" y="2911838"/>
            <a:ext cx="10522998" cy="3061742"/>
          </a:xfrm>
          <a:prstGeom prst="rect">
            <a:avLst/>
          </a:prstGeom>
          <a:ln>
            <a:solidFill>
              <a:schemeClr val="tx1"/>
            </a:solidFill>
          </a:ln>
        </p:spPr>
      </p:pic>
    </p:spTree>
    <p:extLst>
      <p:ext uri="{BB962C8B-B14F-4D97-AF65-F5344CB8AC3E}">
        <p14:creationId xmlns:p14="http://schemas.microsoft.com/office/powerpoint/2010/main" val="1386280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A49C83B-1E51-41F8-474F-970B30B93789}"/>
              </a:ext>
            </a:extLst>
          </p:cNvPr>
          <p:cNvSpPr>
            <a:spLocks noGrp="1"/>
          </p:cNvSpPr>
          <p:nvPr>
            <p:ph type="sldNum" sz="quarter" idx="12"/>
          </p:nvPr>
        </p:nvSpPr>
        <p:spPr/>
        <p:txBody>
          <a:bodyPr/>
          <a:lstStyle/>
          <a:p>
            <a:fld id="{CBABCCC1-BF11-4F37-963E-1BCD5B23FD72}" type="slidenum">
              <a:rPr lang="en-IN" smtClean="0"/>
              <a:t>38</a:t>
            </a:fld>
            <a:endParaRPr lang="en-IN"/>
          </a:p>
        </p:txBody>
      </p:sp>
      <p:sp>
        <p:nvSpPr>
          <p:cNvPr id="3" name="Slide Number Placeholder 3">
            <a:extLst>
              <a:ext uri="{FF2B5EF4-FFF2-40B4-BE49-F238E27FC236}">
                <a16:creationId xmlns:a16="http://schemas.microsoft.com/office/drawing/2014/main" id="{5C6B11C8-AA3B-8083-858C-5F4DE34E20A9}"/>
              </a:ext>
            </a:extLst>
          </p:cNvPr>
          <p:cNvSpPr txBox="1">
            <a:spLocks/>
          </p:cNvSpPr>
          <p:nvPr/>
        </p:nvSpPr>
        <p:spPr>
          <a:xfrm>
            <a:off x="838200" y="6356350"/>
            <a:ext cx="2743200" cy="3651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lstStyle>
            <a:defPPr>
              <a:defRPr lang="en-US"/>
            </a:defPPr>
            <a:lvl1pPr marL="0" algn="r" defTabSz="457200" rtl="0" eaLnBrk="0" latinLnBrk="0" hangingPunct="0">
              <a:defRPr sz="2400" b="1" kern="1200">
                <a:solidFill>
                  <a:schemeClr val="tx1"/>
                </a:solidFill>
                <a:latin typeface="Times New Roman" panose="02020603050405020304" pitchFamily="18" charset="0"/>
                <a:ea typeface="+mn-ea"/>
                <a:cs typeface="+mn-cs"/>
              </a:defRPr>
            </a:lvl1pPr>
            <a:lvl2pPr marL="742950" indent="-285750" algn="l" defTabSz="457200" rtl="0" eaLnBrk="0" latinLnBrk="0" hangingPunct="0">
              <a:defRPr sz="2400" b="1" kern="1200">
                <a:solidFill>
                  <a:schemeClr val="tx1"/>
                </a:solidFill>
                <a:latin typeface="Times New Roman" panose="02020603050405020304" pitchFamily="18" charset="0"/>
                <a:ea typeface="+mn-ea"/>
                <a:cs typeface="+mn-cs"/>
              </a:defRPr>
            </a:lvl2pPr>
            <a:lvl3pPr marL="1143000" indent="-228600" algn="l" defTabSz="457200" rtl="0" eaLnBrk="0" latinLnBrk="0" hangingPunct="0">
              <a:defRPr sz="2400" b="1" kern="1200">
                <a:solidFill>
                  <a:schemeClr val="tx1"/>
                </a:solidFill>
                <a:latin typeface="Times New Roman" panose="02020603050405020304" pitchFamily="18" charset="0"/>
                <a:ea typeface="+mn-ea"/>
                <a:cs typeface="+mn-cs"/>
              </a:defRPr>
            </a:lvl3pPr>
            <a:lvl4pPr marL="1600200" indent="-228600" algn="l" defTabSz="457200" rtl="0" eaLnBrk="0" latinLnBrk="0" hangingPunct="0">
              <a:defRPr sz="2400" b="1" kern="1200">
                <a:solidFill>
                  <a:schemeClr val="tx1"/>
                </a:solidFill>
                <a:latin typeface="Times New Roman" panose="02020603050405020304" pitchFamily="18" charset="0"/>
                <a:ea typeface="+mn-ea"/>
                <a:cs typeface="+mn-cs"/>
              </a:defRPr>
            </a:lvl4pPr>
            <a:lvl5pPr marL="2057400" indent="-228600" algn="l" defTabSz="457200" rtl="0" eaLnBrk="0" latinLnBrk="0" hangingPunct="0">
              <a:defRPr sz="2400" b="1" kern="1200">
                <a:solidFill>
                  <a:schemeClr val="tx1"/>
                </a:solidFill>
                <a:latin typeface="Times New Roman" panose="02020603050405020304" pitchFamily="18" charset="0"/>
                <a:ea typeface="+mn-ea"/>
                <a:cs typeface="+mn-cs"/>
              </a:defRPr>
            </a:lvl5pPr>
            <a:lvl6pPr marL="2514600" indent="-228600" algn="l" defTabSz="457200" rtl="0" eaLnBrk="0" fontAlgn="base" latinLnBrk="0" hangingPunct="0">
              <a:spcBef>
                <a:spcPct val="0"/>
              </a:spcBef>
              <a:spcAft>
                <a:spcPct val="0"/>
              </a:spcAft>
              <a:defRPr sz="2400" b="1" kern="1200">
                <a:solidFill>
                  <a:schemeClr val="tx1"/>
                </a:solidFill>
                <a:latin typeface="Times New Roman" panose="02020603050405020304" pitchFamily="18" charset="0"/>
                <a:ea typeface="+mn-ea"/>
                <a:cs typeface="+mn-cs"/>
              </a:defRPr>
            </a:lvl6pPr>
            <a:lvl7pPr marL="2971800" indent="-228600" algn="l" defTabSz="457200" rtl="0" eaLnBrk="0" fontAlgn="base" latinLnBrk="0" hangingPunct="0">
              <a:spcBef>
                <a:spcPct val="0"/>
              </a:spcBef>
              <a:spcAft>
                <a:spcPct val="0"/>
              </a:spcAft>
              <a:defRPr sz="2400" b="1" kern="1200">
                <a:solidFill>
                  <a:schemeClr val="tx1"/>
                </a:solidFill>
                <a:latin typeface="Times New Roman" panose="02020603050405020304" pitchFamily="18" charset="0"/>
                <a:ea typeface="+mn-ea"/>
                <a:cs typeface="+mn-cs"/>
              </a:defRPr>
            </a:lvl7pPr>
            <a:lvl8pPr marL="3429000" indent="-228600" algn="l" defTabSz="457200" rtl="0" eaLnBrk="0" fontAlgn="base" latinLnBrk="0" hangingPunct="0">
              <a:spcBef>
                <a:spcPct val="0"/>
              </a:spcBef>
              <a:spcAft>
                <a:spcPct val="0"/>
              </a:spcAft>
              <a:defRPr sz="2400" b="1" kern="1200">
                <a:solidFill>
                  <a:schemeClr val="tx1"/>
                </a:solidFill>
                <a:latin typeface="Times New Roman" panose="02020603050405020304" pitchFamily="18" charset="0"/>
                <a:ea typeface="+mn-ea"/>
                <a:cs typeface="+mn-cs"/>
              </a:defRPr>
            </a:lvl8pPr>
            <a:lvl9pPr marL="3886200" indent="-228600" algn="l" defTabSz="457200" rtl="0" eaLnBrk="0" fontAlgn="base" latinLnBrk="0" hangingPunct="0">
              <a:spcBef>
                <a:spcPct val="0"/>
              </a:spcBef>
              <a:spcAft>
                <a:spcPct val="0"/>
              </a:spcAft>
              <a:defRPr sz="2400" b="1" kern="1200">
                <a:solidFill>
                  <a:schemeClr val="tx1"/>
                </a:solidFill>
                <a:latin typeface="Times New Roman" panose="02020603050405020304" pitchFamily="18" charset="0"/>
                <a:ea typeface="+mn-ea"/>
                <a:cs typeface="+mn-cs"/>
              </a:defRPr>
            </a:lvl9pPr>
          </a:lstStyle>
          <a:p>
            <a:pPr eaLnBrk="1" hangingPunct="1"/>
            <a:fld id="{2E1AF634-1AF8-4200-A2B3-95347AF07FE7}" type="slidenum">
              <a:rPr lang="en-US" altLang="en-US" sz="1400" b="0" smtClean="0"/>
              <a:pPr eaLnBrk="1" hangingPunct="1"/>
              <a:t>38</a:t>
            </a:fld>
            <a:endParaRPr lang="en-US" altLang="en-US" sz="1400" b="0"/>
          </a:p>
        </p:txBody>
      </p:sp>
      <p:sp>
        <p:nvSpPr>
          <p:cNvPr id="4" name="Rectangle 2">
            <a:extLst>
              <a:ext uri="{FF2B5EF4-FFF2-40B4-BE49-F238E27FC236}">
                <a16:creationId xmlns:a16="http://schemas.microsoft.com/office/drawing/2014/main" id="{2C4AC562-F42D-375D-8E92-291232975D1B}"/>
              </a:ext>
            </a:extLst>
          </p:cNvPr>
          <p:cNvSpPr>
            <a:spLocks noChangeArrowheads="1"/>
          </p:cNvSpPr>
          <p:nvPr/>
        </p:nvSpPr>
        <p:spPr bwMode="auto">
          <a:xfrm>
            <a:off x="838198" y="924066"/>
            <a:ext cx="10781963" cy="8356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b="1">
                <a:solidFill>
                  <a:schemeClr val="tx1"/>
                </a:solidFill>
                <a:latin typeface="Times New Roman" panose="02020603050405020304" pitchFamily="18" charset="0"/>
              </a:defRPr>
            </a:lvl1pPr>
            <a:lvl2pPr marL="742950" indent="-285750" eaLnBrk="0" hangingPunct="0">
              <a:defRPr sz="2400" b="1">
                <a:solidFill>
                  <a:schemeClr val="tx1"/>
                </a:solidFill>
                <a:latin typeface="Times New Roman" panose="02020603050405020304" pitchFamily="18" charset="0"/>
              </a:defRPr>
            </a:lvl2pPr>
            <a:lvl3pPr marL="1143000" indent="-228600" eaLnBrk="0" hangingPunct="0">
              <a:defRPr sz="2400" b="1">
                <a:solidFill>
                  <a:schemeClr val="tx1"/>
                </a:solidFill>
                <a:latin typeface="Times New Roman" panose="02020603050405020304" pitchFamily="18" charset="0"/>
              </a:defRPr>
            </a:lvl3pPr>
            <a:lvl4pPr marL="1600200" indent="-228600" eaLnBrk="0" hangingPunct="0">
              <a:defRPr sz="2400" b="1">
                <a:solidFill>
                  <a:schemeClr val="tx1"/>
                </a:solidFill>
                <a:latin typeface="Times New Roman" panose="02020603050405020304" pitchFamily="18" charset="0"/>
              </a:defRPr>
            </a:lvl4pPr>
            <a:lvl5pPr marL="2057400" indent="-228600" eaLnBrk="0" hangingPunct="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just" eaLnBrk="1" hangingPunct="1"/>
            <a:r>
              <a:rPr lang="en-US" sz="2000" kern="1800" dirty="0">
                <a:solidFill>
                  <a:srgbClr val="FF0000"/>
                </a:solidFill>
                <a:cs typeface="Times New Roman" panose="02020603050405020304" pitchFamily="18" charset="0"/>
              </a:rPr>
              <a:t>Define UNIQUE Constraint while Creating a Table</a:t>
            </a:r>
            <a:r>
              <a:rPr lang="en-US" altLang="en-US" sz="2000" kern="1800" dirty="0">
                <a:solidFill>
                  <a:srgbClr val="FF0000"/>
                </a:solidFill>
                <a:cs typeface="Times New Roman" panose="02020603050405020304" pitchFamily="18" charset="0"/>
              </a:rPr>
              <a:t>: </a:t>
            </a:r>
            <a:r>
              <a:rPr lang="en-US" sz="2000" b="0" dirty="0">
                <a:solidFill>
                  <a:srgbClr val="181717"/>
                </a:solidFill>
                <a:cs typeface="Times New Roman" panose="02020603050405020304" pitchFamily="18" charset="0"/>
              </a:rPr>
              <a:t>Unique constraints can be   defined at the table level or at the column level, as shown below. </a:t>
            </a:r>
            <a:r>
              <a:rPr lang="en-US" altLang="en-US" sz="2000" b="0" dirty="0">
                <a:solidFill>
                  <a:srgbClr val="181717"/>
                </a:solidFill>
                <a:cs typeface="Times New Roman" panose="02020603050405020304" pitchFamily="18" charset="0"/>
              </a:rPr>
              <a:t>The following command creates a unique constraint on the email column of the employee table. </a:t>
            </a:r>
          </a:p>
          <a:p>
            <a:pPr algn="just" eaLnBrk="1" hangingPunct="1"/>
            <a:endParaRPr lang="en-US" altLang="en-US" sz="2000" b="0" dirty="0">
              <a:solidFill>
                <a:srgbClr val="181717"/>
              </a:solidFill>
              <a:cs typeface="Times New Roman" panose="02020603050405020304" pitchFamily="18" charset="0"/>
            </a:endParaRPr>
          </a:p>
        </p:txBody>
      </p:sp>
      <p:sp>
        <p:nvSpPr>
          <p:cNvPr id="5" name="Rounded Rectangle 17">
            <a:extLst>
              <a:ext uri="{FF2B5EF4-FFF2-40B4-BE49-F238E27FC236}">
                <a16:creationId xmlns:a16="http://schemas.microsoft.com/office/drawing/2014/main" id="{25C8CFF1-1699-0D51-FDB5-A1DCBECAAFDA}"/>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CREATE  TABLE COMMAND (Cont..)</a:t>
            </a:r>
          </a:p>
        </p:txBody>
      </p:sp>
      <p:sp>
        <p:nvSpPr>
          <p:cNvPr id="6" name="Rectangle 1">
            <a:extLst>
              <a:ext uri="{FF2B5EF4-FFF2-40B4-BE49-F238E27FC236}">
                <a16:creationId xmlns:a16="http://schemas.microsoft.com/office/drawing/2014/main" id="{1A97475E-6EA0-AB94-1253-24220274BA73}"/>
              </a:ext>
            </a:extLst>
          </p:cNvPr>
          <p:cNvSpPr>
            <a:spLocks noChangeArrowheads="1"/>
          </p:cNvSpPr>
          <p:nvPr/>
        </p:nvSpPr>
        <p:spPr bwMode="auto">
          <a:xfrm>
            <a:off x="6003634" y="-184666"/>
            <a:ext cx="184731" cy="369332"/>
          </a:xfrm>
          <a:prstGeom prst="rect">
            <a:avLst/>
          </a:prstGeom>
          <a:solidFill>
            <a:srgbClr val="D9E5F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1">
            <a:extLst>
              <a:ext uri="{FF2B5EF4-FFF2-40B4-BE49-F238E27FC236}">
                <a16:creationId xmlns:a16="http://schemas.microsoft.com/office/drawing/2014/main" id="{EFB7BF82-59E0-A6E7-6E03-9A870B807B0F}"/>
              </a:ext>
            </a:extLst>
          </p:cNvPr>
          <p:cNvSpPr>
            <a:spLocks noChangeArrowheads="1"/>
          </p:cNvSpPr>
          <p:nvPr/>
        </p:nvSpPr>
        <p:spPr bwMode="auto">
          <a:xfrm>
            <a:off x="6003634" y="-184666"/>
            <a:ext cx="184731" cy="369332"/>
          </a:xfrm>
          <a:prstGeom prst="rect">
            <a:avLst/>
          </a:prstGeom>
          <a:solidFill>
            <a:srgbClr val="D9E5F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2">
            <a:extLst>
              <a:ext uri="{FF2B5EF4-FFF2-40B4-BE49-F238E27FC236}">
                <a16:creationId xmlns:a16="http://schemas.microsoft.com/office/drawing/2014/main" id="{EDF1F185-4E6A-914C-30CD-53B4EAE38A58}"/>
              </a:ext>
            </a:extLst>
          </p:cNvPr>
          <p:cNvSpPr>
            <a:spLocks noChangeArrowheads="1"/>
          </p:cNvSpPr>
          <p:nvPr/>
        </p:nvSpPr>
        <p:spPr bwMode="auto">
          <a:xfrm>
            <a:off x="936769" y="1785135"/>
            <a:ext cx="10549376" cy="738664"/>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CREATE</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16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TABLE</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16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IF</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1600"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NOT</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16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EXISTS</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employee </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emp_id</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16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INT</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16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first_name</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16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VARCHAR</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a:ln>
                  <a:noFill/>
                </a:ln>
                <a:solidFill>
                  <a:srgbClr val="990055"/>
                </a:solidFill>
                <a:effectLst/>
                <a:latin typeface="Courier New" panose="02070309020205020404" pitchFamily="49" charset="0"/>
                <a:cs typeface="Courier New" panose="02070309020205020404" pitchFamily="49" charset="0"/>
              </a:rPr>
              <a:t>50</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1600"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NOT</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1600" b="0" i="0" u="none" strike="noStrike" cap="none" normalizeH="0" baseline="0" dirty="0">
                <a:ln>
                  <a:noFill/>
                </a:ln>
                <a:solidFill>
                  <a:srgbClr val="990055"/>
                </a:solidFill>
                <a:effectLst/>
                <a:latin typeface="Courier New" panose="02070309020205020404" pitchFamily="49" charset="0"/>
                <a:cs typeface="Courier New" panose="02070309020205020404" pitchFamily="49" charset="0"/>
              </a:rPr>
              <a:t>NULL</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16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last_name</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16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VARCHAR</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a:ln>
                  <a:noFill/>
                </a:ln>
                <a:solidFill>
                  <a:srgbClr val="990055"/>
                </a:solidFill>
                <a:effectLst/>
                <a:latin typeface="Courier New" panose="02070309020205020404" pitchFamily="49" charset="0"/>
                <a:cs typeface="Courier New" panose="02070309020205020404" pitchFamily="49" charset="0"/>
              </a:rPr>
              <a:t>50</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gender </a:t>
            </a:r>
            <a:r>
              <a:rPr kumimoji="0" lang="en-US" altLang="en-US" sz="16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CHAR</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a:ln>
                  <a:noFill/>
                </a:ln>
                <a:solidFill>
                  <a:srgbClr val="990055"/>
                </a:solidFill>
                <a:effectLst/>
                <a:latin typeface="Courier New" panose="02070309020205020404" pitchFamily="49" charset="0"/>
                <a:cs typeface="Courier New" panose="02070309020205020404" pitchFamily="49" charset="0"/>
              </a:rPr>
              <a:t>1</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birthdate </a:t>
            </a:r>
            <a:r>
              <a:rPr kumimoji="0" lang="en-US" altLang="en-US" sz="16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DATE</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email </a:t>
            </a:r>
            <a:r>
              <a:rPr kumimoji="0" lang="en-US" altLang="en-US" sz="16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VARCHAR</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a:ln>
                  <a:noFill/>
                </a:ln>
                <a:solidFill>
                  <a:srgbClr val="990055"/>
                </a:solidFill>
                <a:effectLst/>
                <a:latin typeface="Courier New" panose="02070309020205020404" pitchFamily="49" charset="0"/>
                <a:cs typeface="Courier New" panose="02070309020205020404" pitchFamily="49" charset="0"/>
              </a:rPr>
              <a:t>100</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16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UNIQUE</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salary </a:t>
            </a:r>
            <a:r>
              <a:rPr kumimoji="0" lang="en-US" altLang="en-US" sz="16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INT</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800" b="0" i="0" u="none" strike="noStrike" cap="none" normalizeH="0" baseline="0" dirty="0">
                <a:ln>
                  <a:noFill/>
                </a:ln>
                <a:solidFill>
                  <a:schemeClr val="tx1"/>
                </a:solidFill>
                <a:effectLst/>
              </a:rPr>
              <a:t> </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pic>
        <p:nvPicPr>
          <p:cNvPr id="13" name="Picture 12">
            <a:extLst>
              <a:ext uri="{FF2B5EF4-FFF2-40B4-BE49-F238E27FC236}">
                <a16:creationId xmlns:a16="http://schemas.microsoft.com/office/drawing/2014/main" id="{86BCE399-55CB-6F09-A619-039D65A3D8AC}"/>
              </a:ext>
            </a:extLst>
          </p:cNvPr>
          <p:cNvPicPr>
            <a:picLocks noChangeAspect="1"/>
          </p:cNvPicPr>
          <p:nvPr/>
        </p:nvPicPr>
        <p:blipFill>
          <a:blip r:embed="rId2"/>
          <a:stretch>
            <a:fillRect/>
          </a:stretch>
        </p:blipFill>
        <p:spPr>
          <a:xfrm>
            <a:off x="936768" y="2706892"/>
            <a:ext cx="10549375" cy="3296511"/>
          </a:xfrm>
          <a:prstGeom prst="rect">
            <a:avLst/>
          </a:prstGeom>
          <a:ln>
            <a:solidFill>
              <a:schemeClr val="tx1"/>
            </a:solidFill>
          </a:ln>
        </p:spPr>
      </p:pic>
    </p:spTree>
    <p:extLst>
      <p:ext uri="{BB962C8B-B14F-4D97-AF65-F5344CB8AC3E}">
        <p14:creationId xmlns:p14="http://schemas.microsoft.com/office/powerpoint/2010/main" val="2079663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021735E-E36C-CADC-D510-07F8EF1D7AA5}"/>
              </a:ext>
            </a:extLst>
          </p:cNvPr>
          <p:cNvSpPr>
            <a:spLocks noGrp="1"/>
          </p:cNvSpPr>
          <p:nvPr>
            <p:ph type="sldNum" sz="quarter" idx="12"/>
          </p:nvPr>
        </p:nvSpPr>
        <p:spPr/>
        <p:txBody>
          <a:bodyPr/>
          <a:lstStyle/>
          <a:p>
            <a:fld id="{CBABCCC1-BF11-4F37-963E-1BCD5B23FD72}" type="slidenum">
              <a:rPr lang="en-IN" smtClean="0"/>
              <a:t>39</a:t>
            </a:fld>
            <a:endParaRPr lang="en-IN"/>
          </a:p>
        </p:txBody>
      </p:sp>
      <p:sp>
        <p:nvSpPr>
          <p:cNvPr id="3" name="TextBox 2">
            <a:extLst>
              <a:ext uri="{FF2B5EF4-FFF2-40B4-BE49-F238E27FC236}">
                <a16:creationId xmlns:a16="http://schemas.microsoft.com/office/drawing/2014/main" id="{166D8B7E-E4AD-25D6-C7AC-56EC87377E93}"/>
              </a:ext>
            </a:extLst>
          </p:cNvPr>
          <p:cNvSpPr txBox="1"/>
          <p:nvPr/>
        </p:nvSpPr>
        <p:spPr>
          <a:xfrm>
            <a:off x="898637" y="796572"/>
            <a:ext cx="10647947" cy="1015663"/>
          </a:xfrm>
          <a:prstGeom prst="rect">
            <a:avLst/>
          </a:prstGeom>
          <a:noFill/>
        </p:spPr>
        <p:txBody>
          <a:bodyPr wrap="square">
            <a:spAutoFit/>
          </a:bodyPr>
          <a:lstStyle/>
          <a:p>
            <a:pPr algn="just"/>
            <a:r>
              <a:rPr lang="en-US" sz="2000" dirty="0">
                <a:solidFill>
                  <a:srgbClr val="181717"/>
                </a:solidFill>
                <a:latin typeface="Times New Roman" panose="02020603050405020304" pitchFamily="18" charset="0"/>
                <a:cs typeface="Times New Roman" panose="02020603050405020304" pitchFamily="18" charset="0"/>
              </a:rPr>
              <a:t>When a unique constraint is defined on a group of columns, then the combination of those column values needs to be unique across the table. A Unique constraint can be defined on multiple columns by specifying it at table level.</a:t>
            </a:r>
            <a:endParaRPr lang="en-IN" sz="2000" dirty="0">
              <a:solidFill>
                <a:srgbClr val="181717"/>
              </a:solidFill>
              <a:latin typeface="Times New Roman" panose="02020603050405020304" pitchFamily="18" charset="0"/>
              <a:cs typeface="Times New Roman" panose="02020603050405020304" pitchFamily="18" charset="0"/>
            </a:endParaRPr>
          </a:p>
        </p:txBody>
      </p:sp>
      <p:sp>
        <p:nvSpPr>
          <p:cNvPr id="4" name="Rounded Rectangle 17">
            <a:extLst>
              <a:ext uri="{FF2B5EF4-FFF2-40B4-BE49-F238E27FC236}">
                <a16:creationId xmlns:a16="http://schemas.microsoft.com/office/drawing/2014/main" id="{CD587E81-A2FC-4184-5BE2-7FEE9F0680C5}"/>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CREATE  TABLE COMMAND (Cont..)</a:t>
            </a:r>
          </a:p>
        </p:txBody>
      </p:sp>
      <p:sp>
        <p:nvSpPr>
          <p:cNvPr id="5" name="Rectangle 3">
            <a:extLst>
              <a:ext uri="{FF2B5EF4-FFF2-40B4-BE49-F238E27FC236}">
                <a16:creationId xmlns:a16="http://schemas.microsoft.com/office/drawing/2014/main" id="{35FCED07-7936-6E69-FA54-70A1F5399C0B}"/>
              </a:ext>
            </a:extLst>
          </p:cNvPr>
          <p:cNvSpPr>
            <a:spLocks noChangeArrowheads="1"/>
          </p:cNvSpPr>
          <p:nvPr/>
        </p:nvSpPr>
        <p:spPr bwMode="auto">
          <a:xfrm>
            <a:off x="1003875" y="1876284"/>
            <a:ext cx="10542708" cy="738664"/>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CREATE</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16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TABLE</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16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IF</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1600"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NOT</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16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EXISTS</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employee </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emp_id</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16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INT</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16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first_name</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16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VARCHAR</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a:ln>
                  <a:noFill/>
                </a:ln>
                <a:solidFill>
                  <a:srgbClr val="990055"/>
                </a:solidFill>
                <a:effectLst/>
                <a:latin typeface="Courier New" panose="02070309020205020404" pitchFamily="49" charset="0"/>
                <a:cs typeface="Courier New" panose="02070309020205020404" pitchFamily="49" charset="0"/>
              </a:rPr>
              <a:t>50</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1600"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NOT</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1600" b="0" i="0" u="none" strike="noStrike" cap="none" normalizeH="0" baseline="0" dirty="0">
                <a:ln>
                  <a:noFill/>
                </a:ln>
                <a:solidFill>
                  <a:srgbClr val="990055"/>
                </a:solidFill>
                <a:effectLst/>
                <a:latin typeface="Courier New" panose="02070309020205020404" pitchFamily="49" charset="0"/>
                <a:cs typeface="Courier New" panose="02070309020205020404" pitchFamily="49" charset="0"/>
              </a:rPr>
              <a:t>NULL</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16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last_name</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16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VARCHAR</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a:ln>
                  <a:noFill/>
                </a:ln>
                <a:solidFill>
                  <a:srgbClr val="990055"/>
                </a:solidFill>
                <a:effectLst/>
                <a:latin typeface="Courier New" panose="02070309020205020404" pitchFamily="49" charset="0"/>
                <a:cs typeface="Courier New" panose="02070309020205020404" pitchFamily="49" charset="0"/>
              </a:rPr>
              <a:t>50</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gender </a:t>
            </a:r>
            <a:r>
              <a:rPr kumimoji="0" lang="en-US" altLang="en-US" sz="16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CHAR</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a:ln>
                  <a:noFill/>
                </a:ln>
                <a:solidFill>
                  <a:srgbClr val="990055"/>
                </a:solidFill>
                <a:effectLst/>
                <a:latin typeface="Courier New" panose="02070309020205020404" pitchFamily="49" charset="0"/>
                <a:cs typeface="Courier New" panose="02070309020205020404" pitchFamily="49" charset="0"/>
              </a:rPr>
              <a:t>1</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birthdate </a:t>
            </a:r>
            <a:r>
              <a:rPr kumimoji="0" lang="en-US" altLang="en-US" sz="16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DATE</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email </a:t>
            </a:r>
            <a:r>
              <a:rPr kumimoji="0" lang="en-US" altLang="en-US" sz="16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VARCHAR</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a:ln>
                  <a:noFill/>
                </a:ln>
                <a:solidFill>
                  <a:srgbClr val="990055"/>
                </a:solidFill>
                <a:effectLst/>
                <a:latin typeface="Courier New" panose="02070309020205020404" pitchFamily="49" charset="0"/>
                <a:cs typeface="Courier New" panose="02070309020205020404" pitchFamily="49" charset="0"/>
              </a:rPr>
              <a:t>100</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salary </a:t>
            </a:r>
            <a:r>
              <a:rPr kumimoji="0" lang="en-US" altLang="en-US" sz="16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INT</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16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UNIQUE</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first_name</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16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last_name</a:t>
            </a:r>
            <a:r>
              <a:rPr kumimoji="0" lang="en-US" altLang="en-US" sz="16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800" b="0" i="0" u="none" strike="noStrike" cap="none" normalizeH="0" baseline="0" dirty="0">
                <a:ln>
                  <a:noFill/>
                </a:ln>
                <a:solidFill>
                  <a:schemeClr val="tx1"/>
                </a:solidFill>
                <a:effectLst/>
              </a:rPr>
              <a:t> </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pic>
        <p:nvPicPr>
          <p:cNvPr id="7" name="Picture 6">
            <a:extLst>
              <a:ext uri="{FF2B5EF4-FFF2-40B4-BE49-F238E27FC236}">
                <a16:creationId xmlns:a16="http://schemas.microsoft.com/office/drawing/2014/main" id="{C36DD0B1-C75E-BFAF-1641-A63AE8BD5589}"/>
              </a:ext>
            </a:extLst>
          </p:cNvPr>
          <p:cNvPicPr>
            <a:picLocks noChangeAspect="1"/>
          </p:cNvPicPr>
          <p:nvPr/>
        </p:nvPicPr>
        <p:blipFill>
          <a:blip r:embed="rId2"/>
          <a:stretch>
            <a:fillRect/>
          </a:stretch>
        </p:blipFill>
        <p:spPr>
          <a:xfrm>
            <a:off x="1003874" y="2835636"/>
            <a:ext cx="10542709" cy="3092973"/>
          </a:xfrm>
          <a:prstGeom prst="rect">
            <a:avLst/>
          </a:prstGeom>
          <a:ln>
            <a:solidFill>
              <a:schemeClr val="tx1"/>
            </a:solidFill>
          </a:ln>
        </p:spPr>
      </p:pic>
    </p:spTree>
    <p:extLst>
      <p:ext uri="{BB962C8B-B14F-4D97-AF65-F5344CB8AC3E}">
        <p14:creationId xmlns:p14="http://schemas.microsoft.com/office/powerpoint/2010/main" val="3315884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8173034-0670-4FBB-40C5-9F32DFB1136D}"/>
              </a:ext>
            </a:extLst>
          </p:cNvPr>
          <p:cNvSpPr>
            <a:spLocks noGrp="1"/>
          </p:cNvSpPr>
          <p:nvPr>
            <p:ph type="sldNum" sz="quarter" idx="12"/>
          </p:nvPr>
        </p:nvSpPr>
        <p:spPr/>
        <p:txBody>
          <a:bodyPr/>
          <a:lstStyle/>
          <a:p>
            <a:fld id="{CBABCCC1-BF11-4F37-963E-1BCD5B23FD72}" type="slidenum">
              <a:rPr lang="en-IN" smtClean="0"/>
              <a:t>40</a:t>
            </a:fld>
            <a:endParaRPr lang="en-IN"/>
          </a:p>
        </p:txBody>
      </p:sp>
      <p:sp>
        <p:nvSpPr>
          <p:cNvPr id="3" name="Rounded Rectangle 17">
            <a:extLst>
              <a:ext uri="{FF2B5EF4-FFF2-40B4-BE49-F238E27FC236}">
                <a16:creationId xmlns:a16="http://schemas.microsoft.com/office/drawing/2014/main" id="{87B57F5D-68C6-9122-B54E-B4356CB2D625}"/>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CREATE  TABLE COMMAND (Cont..)</a:t>
            </a:r>
          </a:p>
        </p:txBody>
      </p:sp>
      <p:sp>
        <p:nvSpPr>
          <p:cNvPr id="5" name="TextBox 4">
            <a:extLst>
              <a:ext uri="{FF2B5EF4-FFF2-40B4-BE49-F238E27FC236}">
                <a16:creationId xmlns:a16="http://schemas.microsoft.com/office/drawing/2014/main" id="{712ED72D-0550-850B-1665-E8AB46278A94}"/>
              </a:ext>
            </a:extLst>
          </p:cNvPr>
          <p:cNvSpPr txBox="1"/>
          <p:nvPr/>
        </p:nvSpPr>
        <p:spPr>
          <a:xfrm>
            <a:off x="851859" y="824380"/>
            <a:ext cx="10478549" cy="1323439"/>
          </a:xfrm>
          <a:prstGeom prst="rect">
            <a:avLst/>
          </a:prstGeom>
          <a:noFill/>
        </p:spPr>
        <p:txBody>
          <a:bodyPr wrap="square">
            <a:spAutoFit/>
          </a:bodyPr>
          <a:lstStyle/>
          <a:p>
            <a:pPr algn="just" eaLnBrk="1" hangingPunct="1"/>
            <a:r>
              <a:rPr lang="en-US" sz="2000" kern="1800" dirty="0">
                <a:solidFill>
                  <a:srgbClr val="FF0000"/>
                </a:solidFill>
                <a:latin typeface="Times New Roman" panose="02020603050405020304" pitchFamily="18" charset="0"/>
                <a:cs typeface="Times New Roman" panose="02020603050405020304" pitchFamily="18" charset="0"/>
              </a:rPr>
              <a:t>Define PRIMARY KEY Constraint while Creating a Table</a:t>
            </a:r>
            <a:r>
              <a:rPr lang="en-US" altLang="en-US" sz="2000" kern="1800" dirty="0">
                <a:solidFill>
                  <a:srgbClr val="FF0000"/>
                </a:solidFill>
                <a:latin typeface="Times New Roman" panose="02020603050405020304" pitchFamily="18" charset="0"/>
                <a:cs typeface="Times New Roman" panose="02020603050405020304" pitchFamily="18" charset="0"/>
              </a:rPr>
              <a:t>: </a:t>
            </a:r>
            <a:r>
              <a:rPr lang="en-US" sz="2000" b="0" dirty="0">
                <a:solidFill>
                  <a:srgbClr val="181717"/>
                </a:solidFill>
                <a:latin typeface="Times New Roman" panose="02020603050405020304" pitchFamily="18" charset="0"/>
                <a:cs typeface="Times New Roman" panose="02020603050405020304" pitchFamily="18" charset="0"/>
              </a:rPr>
              <a:t>you can define a primary key on a single column by writing "primary key" after the column name in the CREATE TABLE statement. </a:t>
            </a:r>
            <a:r>
              <a:rPr lang="en-US" altLang="en-US" sz="2000" b="0" dirty="0">
                <a:solidFill>
                  <a:srgbClr val="181717"/>
                </a:solidFill>
                <a:latin typeface="Times New Roman" panose="02020603050405020304" pitchFamily="18" charset="0"/>
                <a:cs typeface="Times New Roman" panose="02020603050405020304" pitchFamily="18" charset="0"/>
              </a:rPr>
              <a:t>For example, the following </a:t>
            </a:r>
            <a:r>
              <a:rPr lang="en-US" altLang="en-US" sz="2000" b="0" dirty="0">
                <a:solidFill>
                  <a:srgbClr val="181717"/>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CREATE TABLE statement</a:t>
            </a:r>
            <a:r>
              <a:rPr lang="en-US" altLang="en-US" sz="2000" b="0" dirty="0">
                <a:solidFill>
                  <a:srgbClr val="181717"/>
                </a:solidFill>
                <a:latin typeface="Times New Roman" panose="02020603050405020304" pitchFamily="18" charset="0"/>
                <a:cs typeface="Times New Roman" panose="02020603050405020304" pitchFamily="18" charset="0"/>
              </a:rPr>
              <a:t> will create the employee table with a primary key defined on </a:t>
            </a:r>
            <a:r>
              <a:rPr lang="en-US" altLang="en-US" sz="2000" b="0" dirty="0" err="1">
                <a:solidFill>
                  <a:srgbClr val="181717"/>
                </a:solidFill>
                <a:latin typeface="Times New Roman" panose="02020603050405020304" pitchFamily="18" charset="0"/>
                <a:cs typeface="Times New Roman" panose="02020603050405020304" pitchFamily="18" charset="0"/>
              </a:rPr>
              <a:t>emp_id</a:t>
            </a:r>
            <a:r>
              <a:rPr lang="en-US" altLang="en-US" sz="2000" b="0" dirty="0">
                <a:solidFill>
                  <a:srgbClr val="181717"/>
                </a:solidFill>
                <a:latin typeface="Times New Roman" panose="02020603050405020304" pitchFamily="18" charset="0"/>
                <a:cs typeface="Times New Roman" panose="02020603050405020304" pitchFamily="18" charset="0"/>
              </a:rPr>
              <a:t> column. This is called defining a primary key at the column level. </a:t>
            </a:r>
          </a:p>
        </p:txBody>
      </p:sp>
      <p:sp>
        <p:nvSpPr>
          <p:cNvPr id="6" name="Rectangle 2">
            <a:extLst>
              <a:ext uri="{FF2B5EF4-FFF2-40B4-BE49-F238E27FC236}">
                <a16:creationId xmlns:a16="http://schemas.microsoft.com/office/drawing/2014/main" id="{6D53C3A7-AF62-CC4B-2201-32967CAA8164}"/>
              </a:ext>
            </a:extLst>
          </p:cNvPr>
          <p:cNvSpPr>
            <a:spLocks noChangeArrowheads="1"/>
          </p:cNvSpPr>
          <p:nvPr/>
        </p:nvSpPr>
        <p:spPr bwMode="auto">
          <a:xfrm>
            <a:off x="856724" y="2381997"/>
            <a:ext cx="10478549" cy="83099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CREATE</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TABLE</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IF</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NOT</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EXISTS</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employee </a:t>
            </a:r>
            <a:r>
              <a:rPr kumimoji="0" lang="en-US" altLang="en-US"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emp_id</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INT</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PRIMARY</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KEY</a:t>
            </a:r>
            <a:r>
              <a:rPr kumimoji="0" lang="en-US" altLang="en-US"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first_name</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VARCHAR</a:t>
            </a:r>
            <a:r>
              <a:rPr kumimoji="0" lang="en-US" altLang="en-US"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b="0" i="0" u="none" strike="noStrike" cap="none" normalizeH="0" baseline="0" dirty="0">
                <a:ln>
                  <a:noFill/>
                </a:ln>
                <a:solidFill>
                  <a:srgbClr val="990055"/>
                </a:solidFill>
                <a:effectLst/>
                <a:latin typeface="Courier New" panose="02070309020205020404" pitchFamily="49" charset="0"/>
                <a:cs typeface="Courier New" panose="02070309020205020404" pitchFamily="49" charset="0"/>
              </a:rPr>
              <a:t>50</a:t>
            </a:r>
            <a:r>
              <a:rPr kumimoji="0" lang="en-US" altLang="en-US"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last_name</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VARCHAR</a:t>
            </a:r>
            <a:r>
              <a:rPr kumimoji="0" lang="en-US" altLang="en-US"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b="0" i="0" u="none" strike="noStrike" cap="none" normalizeH="0" baseline="0" dirty="0">
                <a:ln>
                  <a:noFill/>
                </a:ln>
                <a:solidFill>
                  <a:srgbClr val="990055"/>
                </a:solidFill>
                <a:effectLst/>
                <a:latin typeface="Courier New" panose="02070309020205020404" pitchFamily="49" charset="0"/>
                <a:cs typeface="Courier New" panose="02070309020205020404" pitchFamily="49" charset="0"/>
              </a:rPr>
              <a:t>50</a:t>
            </a:r>
            <a:r>
              <a:rPr kumimoji="0" lang="en-US" altLang="en-US"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gender </a:t>
            </a:r>
            <a:r>
              <a:rPr kumimoji="0" lang="en-US" altLang="en-US"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CHAR</a:t>
            </a:r>
            <a:r>
              <a:rPr kumimoji="0" lang="en-US" altLang="en-US"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b="0" i="0" u="none" strike="noStrike" cap="none" normalizeH="0" baseline="0" dirty="0">
                <a:ln>
                  <a:noFill/>
                </a:ln>
                <a:solidFill>
                  <a:srgbClr val="990055"/>
                </a:solidFill>
                <a:effectLst/>
                <a:latin typeface="Courier New" panose="02070309020205020404" pitchFamily="49" charset="0"/>
                <a:cs typeface="Courier New" panose="02070309020205020404" pitchFamily="49" charset="0"/>
              </a:rPr>
              <a:t>1</a:t>
            </a:r>
            <a:r>
              <a:rPr kumimoji="0" lang="en-US" altLang="en-US"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birthdate </a:t>
            </a:r>
            <a:r>
              <a:rPr kumimoji="0" lang="en-US" altLang="en-US"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DATE</a:t>
            </a:r>
            <a:r>
              <a:rPr kumimoji="0" lang="en-US" altLang="en-US"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email </a:t>
            </a:r>
            <a:r>
              <a:rPr kumimoji="0" lang="en-US" altLang="en-US"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VARCHAR</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b="0" i="0" u="none" strike="noStrike" cap="none" normalizeH="0" baseline="0" dirty="0">
                <a:ln>
                  <a:noFill/>
                </a:ln>
                <a:solidFill>
                  <a:srgbClr val="990055"/>
                </a:solidFill>
                <a:effectLst/>
                <a:latin typeface="Courier New" panose="02070309020205020404" pitchFamily="49" charset="0"/>
                <a:cs typeface="Courier New" panose="02070309020205020404" pitchFamily="49" charset="0"/>
              </a:rPr>
              <a:t>100</a:t>
            </a:r>
            <a:r>
              <a:rPr kumimoji="0" lang="en-US" altLang="en-US"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salary </a:t>
            </a:r>
            <a:r>
              <a:rPr kumimoji="0" lang="en-US" altLang="en-US"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INT</a:t>
            </a:r>
            <a:r>
              <a:rPr kumimoji="0" lang="en-US" altLang="en-US"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900" b="0" i="0" u="none" strike="noStrike" cap="none" normalizeH="0" baseline="0" dirty="0">
                <a:ln>
                  <a:noFill/>
                </a:ln>
                <a:solidFill>
                  <a:schemeClr val="tx1"/>
                </a:solidFill>
                <a:effectLst/>
              </a:rPr>
              <a:t> </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1AF6ACC4-CC05-57F7-F212-FD362687C691}"/>
              </a:ext>
            </a:extLst>
          </p:cNvPr>
          <p:cNvSpPr txBox="1"/>
          <p:nvPr/>
        </p:nvSpPr>
        <p:spPr>
          <a:xfrm>
            <a:off x="739382" y="3529483"/>
            <a:ext cx="10595892" cy="707886"/>
          </a:xfrm>
          <a:prstGeom prst="rect">
            <a:avLst/>
          </a:prstGeom>
          <a:noFill/>
        </p:spPr>
        <p:txBody>
          <a:bodyPr wrap="square">
            <a:spAutoFit/>
          </a:bodyPr>
          <a:lstStyle/>
          <a:p>
            <a:pPr algn="just"/>
            <a:r>
              <a:rPr lang="en-US" sz="2000" dirty="0">
                <a:solidFill>
                  <a:srgbClr val="181717"/>
                </a:solidFill>
                <a:latin typeface="Times New Roman" panose="02020603050405020304" pitchFamily="18" charset="0"/>
                <a:cs typeface="Times New Roman" panose="02020603050405020304" pitchFamily="18" charset="0"/>
              </a:rPr>
              <a:t>The Primary key can be defined on more than one column also. For example, the following command defines a primary key on two columns:</a:t>
            </a:r>
            <a:endParaRPr lang="en-IN" sz="2000" dirty="0">
              <a:solidFill>
                <a:srgbClr val="181717"/>
              </a:solidFill>
              <a:latin typeface="Times New Roman" panose="02020603050405020304" pitchFamily="18" charset="0"/>
              <a:cs typeface="Times New Roman" panose="02020603050405020304" pitchFamily="18" charset="0"/>
            </a:endParaRPr>
          </a:p>
        </p:txBody>
      </p:sp>
      <p:sp>
        <p:nvSpPr>
          <p:cNvPr id="8" name="Rectangle 3">
            <a:extLst>
              <a:ext uri="{FF2B5EF4-FFF2-40B4-BE49-F238E27FC236}">
                <a16:creationId xmlns:a16="http://schemas.microsoft.com/office/drawing/2014/main" id="{764C2ED4-021A-9A9A-009B-FD95D99BBD8C}"/>
              </a:ext>
            </a:extLst>
          </p:cNvPr>
          <p:cNvSpPr>
            <a:spLocks noChangeArrowheads="1"/>
          </p:cNvSpPr>
          <p:nvPr/>
        </p:nvSpPr>
        <p:spPr bwMode="auto">
          <a:xfrm>
            <a:off x="856724" y="4553858"/>
            <a:ext cx="10478549" cy="61555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CREATE</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0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TABLE</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0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IF</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000" b="0" i="0" u="none" strike="noStrike" cap="none" normalizeH="0" baseline="0" dirty="0">
                <a:ln>
                  <a:noFill/>
                </a:ln>
                <a:solidFill>
                  <a:srgbClr val="9A6E3A"/>
                </a:solidFill>
                <a:effectLst/>
                <a:latin typeface="Courier New" panose="02070309020205020404" pitchFamily="49" charset="0"/>
                <a:cs typeface="Courier New" panose="02070309020205020404" pitchFamily="49" charset="0"/>
              </a:rPr>
              <a:t>NOT</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0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EXISTS</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0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employee_department</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0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20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emp_id</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0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INT</a:t>
            </a:r>
            <a:r>
              <a:rPr kumimoji="0" lang="en-US" altLang="en-US" sz="20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0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dept_id</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0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INT</a:t>
            </a:r>
            <a:r>
              <a:rPr kumimoji="0" lang="en-US" altLang="en-US" sz="20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0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CONSTRAINT</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0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empid_deptid_pkey</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0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PRIMARY</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0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KEY</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0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20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emp_id</a:t>
            </a:r>
            <a:r>
              <a:rPr kumimoji="0" lang="en-US" altLang="en-US" sz="20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0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dept_id</a:t>
            </a:r>
            <a:r>
              <a:rPr kumimoji="0" lang="en-US" altLang="en-US" sz="20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000" b="0" i="0" u="none" strike="noStrike" cap="none" normalizeH="0" baseline="0" dirty="0">
                <a:ln>
                  <a:noFill/>
                </a:ln>
                <a:solidFill>
                  <a:schemeClr val="tx1"/>
                </a:solidFill>
                <a:effectLst/>
              </a:rPr>
              <a:t> </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23415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64D4335-166F-AA25-517A-5DB5FCFD1286}"/>
              </a:ext>
            </a:extLst>
          </p:cNvPr>
          <p:cNvSpPr>
            <a:spLocks noGrp="1"/>
          </p:cNvSpPr>
          <p:nvPr>
            <p:ph type="sldNum" sz="quarter" idx="12"/>
          </p:nvPr>
        </p:nvSpPr>
        <p:spPr/>
        <p:txBody>
          <a:bodyPr/>
          <a:lstStyle/>
          <a:p>
            <a:fld id="{CBABCCC1-BF11-4F37-963E-1BCD5B23FD72}" type="slidenum">
              <a:rPr lang="en-IN" smtClean="0"/>
              <a:t>41</a:t>
            </a:fld>
            <a:endParaRPr lang="en-IN"/>
          </a:p>
        </p:txBody>
      </p:sp>
      <p:pic>
        <p:nvPicPr>
          <p:cNvPr id="4" name="Picture 3">
            <a:extLst>
              <a:ext uri="{FF2B5EF4-FFF2-40B4-BE49-F238E27FC236}">
                <a16:creationId xmlns:a16="http://schemas.microsoft.com/office/drawing/2014/main" id="{BCAEA185-94F3-5B4F-A420-8506A155525D}"/>
              </a:ext>
            </a:extLst>
          </p:cNvPr>
          <p:cNvPicPr>
            <a:picLocks noChangeAspect="1"/>
          </p:cNvPicPr>
          <p:nvPr/>
        </p:nvPicPr>
        <p:blipFill>
          <a:blip r:embed="rId2"/>
          <a:stretch>
            <a:fillRect/>
          </a:stretch>
        </p:blipFill>
        <p:spPr>
          <a:xfrm>
            <a:off x="1006184" y="880070"/>
            <a:ext cx="10543737" cy="4816192"/>
          </a:xfrm>
          <a:prstGeom prst="rect">
            <a:avLst/>
          </a:prstGeom>
        </p:spPr>
      </p:pic>
      <p:sp>
        <p:nvSpPr>
          <p:cNvPr id="5" name="Rounded Rectangle 17">
            <a:extLst>
              <a:ext uri="{FF2B5EF4-FFF2-40B4-BE49-F238E27FC236}">
                <a16:creationId xmlns:a16="http://schemas.microsoft.com/office/drawing/2014/main" id="{BCC78535-C660-C4B9-7C0E-7B61FBBE44C5}"/>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CREATE  TABLE COMMAND (Cont..)</a:t>
            </a:r>
          </a:p>
        </p:txBody>
      </p:sp>
    </p:spTree>
    <p:extLst>
      <p:ext uri="{BB962C8B-B14F-4D97-AF65-F5344CB8AC3E}">
        <p14:creationId xmlns:p14="http://schemas.microsoft.com/office/powerpoint/2010/main" val="2899962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E7D9DA1-C590-BF0F-F3A3-6FBA16CDB02B}"/>
              </a:ext>
            </a:extLst>
          </p:cNvPr>
          <p:cNvSpPr>
            <a:spLocks noGrp="1"/>
          </p:cNvSpPr>
          <p:nvPr>
            <p:ph type="sldNum" sz="quarter" idx="12"/>
          </p:nvPr>
        </p:nvSpPr>
        <p:spPr/>
        <p:txBody>
          <a:bodyPr/>
          <a:lstStyle/>
          <a:p>
            <a:fld id="{CBABCCC1-BF11-4F37-963E-1BCD5B23FD72}" type="slidenum">
              <a:rPr lang="en-IN" smtClean="0"/>
              <a:t>42</a:t>
            </a:fld>
            <a:endParaRPr lang="en-IN"/>
          </a:p>
        </p:txBody>
      </p:sp>
      <p:sp>
        <p:nvSpPr>
          <p:cNvPr id="4" name="TextBox 3">
            <a:extLst>
              <a:ext uri="{FF2B5EF4-FFF2-40B4-BE49-F238E27FC236}">
                <a16:creationId xmlns:a16="http://schemas.microsoft.com/office/drawing/2014/main" id="{C3DF48A6-2FFA-51C3-475B-7A078F7C067D}"/>
              </a:ext>
            </a:extLst>
          </p:cNvPr>
          <p:cNvSpPr txBox="1"/>
          <p:nvPr/>
        </p:nvSpPr>
        <p:spPr>
          <a:xfrm>
            <a:off x="734517" y="730851"/>
            <a:ext cx="10687987" cy="1323439"/>
          </a:xfrm>
          <a:prstGeom prst="rect">
            <a:avLst/>
          </a:prstGeom>
          <a:noFill/>
        </p:spPr>
        <p:txBody>
          <a:bodyPr wrap="square">
            <a:spAutoFit/>
          </a:bodyPr>
          <a:lstStyle/>
          <a:p>
            <a:pPr algn="just" eaLnBrk="1" hangingPunct="1"/>
            <a:r>
              <a:rPr lang="en-US" sz="2000" kern="1800" dirty="0">
                <a:solidFill>
                  <a:srgbClr val="FF0000"/>
                </a:solidFill>
                <a:latin typeface="Times New Roman" panose="02020603050405020304" pitchFamily="18" charset="0"/>
                <a:cs typeface="Times New Roman" panose="02020603050405020304" pitchFamily="18" charset="0"/>
              </a:rPr>
              <a:t>Define FOREIGN KEY Constraint while Creating a Table</a:t>
            </a:r>
            <a:r>
              <a:rPr lang="en-US" altLang="en-US" sz="2000" kern="1800" dirty="0">
                <a:solidFill>
                  <a:srgbClr val="FF0000"/>
                </a:solidFill>
                <a:latin typeface="Times New Roman" panose="02020603050405020304" pitchFamily="18" charset="0"/>
                <a:cs typeface="Times New Roman" panose="02020603050405020304" pitchFamily="18" charset="0"/>
              </a:rPr>
              <a:t>: </a:t>
            </a:r>
            <a:r>
              <a:rPr lang="en-US" altLang="en-US" sz="2000" b="0" kern="1800" dirty="0">
                <a:solidFill>
                  <a:srgbClr val="181717"/>
                </a:solidFill>
                <a:latin typeface="Times New Roman" panose="02020603050405020304" pitchFamily="18" charset="0"/>
                <a:cs typeface="Times New Roman" panose="02020603050405020304" pitchFamily="18" charset="0"/>
              </a:rPr>
              <a:t>T</a:t>
            </a:r>
            <a:r>
              <a:rPr lang="en-US" sz="2000" b="0" dirty="0">
                <a:solidFill>
                  <a:srgbClr val="181717"/>
                </a:solidFill>
                <a:latin typeface="Times New Roman" panose="02020603050405020304" pitchFamily="18" charset="0"/>
                <a:cs typeface="Times New Roman" panose="02020603050405020304" pitchFamily="18" charset="0"/>
              </a:rPr>
              <a:t>he foreign key is a column(s) in a table that points to a </a:t>
            </a:r>
            <a:r>
              <a:rPr lang="en-US" sz="2000" b="0" dirty="0">
                <a:solidFill>
                  <a:srgbClr val="181717"/>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primary key</a:t>
            </a:r>
            <a:r>
              <a:rPr lang="en-US" sz="2000" b="0" dirty="0">
                <a:solidFill>
                  <a:srgbClr val="181717"/>
                </a:solidFill>
                <a:latin typeface="Times New Roman" panose="02020603050405020304" pitchFamily="18" charset="0"/>
                <a:cs typeface="Times New Roman" panose="02020603050405020304" pitchFamily="18" charset="0"/>
              </a:rPr>
              <a:t> or </a:t>
            </a:r>
            <a:r>
              <a:rPr lang="en-US" sz="2000" b="0" dirty="0">
                <a:solidFill>
                  <a:srgbClr val="181717"/>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unique key</a:t>
            </a:r>
            <a:r>
              <a:rPr lang="en-US" sz="2000" b="0" dirty="0">
                <a:solidFill>
                  <a:srgbClr val="181717"/>
                </a:solidFill>
                <a:latin typeface="Times New Roman" panose="02020603050405020304" pitchFamily="18" charset="0"/>
                <a:cs typeface="Times New Roman" panose="02020603050405020304" pitchFamily="18" charset="0"/>
              </a:rPr>
              <a:t> column in the same or another table.</a:t>
            </a:r>
            <a:r>
              <a:rPr lang="en-US" sz="2000" dirty="0">
                <a:solidFill>
                  <a:srgbClr val="181717"/>
                </a:solidFill>
                <a:latin typeface="Times New Roman" panose="02020603050405020304" pitchFamily="18" charset="0"/>
                <a:cs typeface="Times New Roman" panose="02020603050405020304" pitchFamily="18" charset="0"/>
              </a:rPr>
              <a:t> </a:t>
            </a:r>
            <a:r>
              <a:rPr lang="en-US" sz="2000" b="0" dirty="0">
                <a:solidFill>
                  <a:srgbClr val="181717"/>
                </a:solidFill>
                <a:latin typeface="Times New Roman" panose="02020603050405020304" pitchFamily="18" charset="0"/>
                <a:cs typeface="Times New Roman" panose="02020603050405020304" pitchFamily="18" charset="0"/>
              </a:rPr>
              <a:t>You can define a foreign key when you create a table using </a:t>
            </a:r>
            <a:r>
              <a:rPr lang="en-US" sz="2000" b="0" dirty="0">
                <a:solidFill>
                  <a:srgbClr val="181717"/>
                </a:solidFill>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CREATE TABLE statement</a:t>
            </a:r>
            <a:r>
              <a:rPr lang="en-US" sz="2000" b="0" dirty="0">
                <a:solidFill>
                  <a:srgbClr val="181717"/>
                </a:solidFill>
                <a:latin typeface="Times New Roman" panose="02020603050405020304" pitchFamily="18" charset="0"/>
                <a:cs typeface="Times New Roman" panose="02020603050405020304" pitchFamily="18" charset="0"/>
              </a:rPr>
              <a:t>. T</a:t>
            </a:r>
            <a:r>
              <a:rPr lang="en-US" altLang="en-US" sz="2000" b="0" dirty="0">
                <a:solidFill>
                  <a:srgbClr val="181717"/>
                </a:solidFill>
                <a:latin typeface="Times New Roman" panose="02020603050405020304" pitchFamily="18" charset="0"/>
                <a:cs typeface="Times New Roman" panose="02020603050405020304" pitchFamily="18" charset="0"/>
              </a:rPr>
              <a:t>he following example demonstrates creating a foreign key in the employee table that points to the department table. </a:t>
            </a:r>
          </a:p>
        </p:txBody>
      </p:sp>
      <p:sp>
        <p:nvSpPr>
          <p:cNvPr id="5" name="Rounded Rectangle 17">
            <a:extLst>
              <a:ext uri="{FF2B5EF4-FFF2-40B4-BE49-F238E27FC236}">
                <a16:creationId xmlns:a16="http://schemas.microsoft.com/office/drawing/2014/main" id="{48123FB0-43B9-00FE-2590-03AB0B168FC7}"/>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CREATE  TABLE COMMAND (Cont..)</a:t>
            </a:r>
          </a:p>
        </p:txBody>
      </p:sp>
      <p:sp>
        <p:nvSpPr>
          <p:cNvPr id="6" name="Rectangle 2">
            <a:extLst>
              <a:ext uri="{FF2B5EF4-FFF2-40B4-BE49-F238E27FC236}">
                <a16:creationId xmlns:a16="http://schemas.microsoft.com/office/drawing/2014/main" id="{D9065FE4-5279-D2B7-3E18-35BBBE6DE95E}"/>
              </a:ext>
            </a:extLst>
          </p:cNvPr>
          <p:cNvSpPr>
            <a:spLocks noChangeArrowheads="1"/>
          </p:cNvSpPr>
          <p:nvPr/>
        </p:nvSpPr>
        <p:spPr bwMode="auto">
          <a:xfrm>
            <a:off x="831629" y="2605113"/>
            <a:ext cx="10500935" cy="2462213"/>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CREATE</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0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TABLE</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department</a:t>
            </a:r>
            <a:r>
              <a:rPr kumimoji="0" lang="en-US" altLang="en-US" sz="20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0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dept_id</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0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INT</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0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PRIMARY</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0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KEY</a:t>
            </a:r>
            <a:r>
              <a:rPr kumimoji="0" lang="en-US" altLang="en-US" sz="20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0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dept_name</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0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VARCHAR</a:t>
            </a:r>
            <a:r>
              <a:rPr kumimoji="0" lang="en-US" altLang="en-US" sz="20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2000" b="0" i="0" u="none" strike="noStrike" cap="none" normalizeH="0" baseline="0" dirty="0">
                <a:ln>
                  <a:noFill/>
                </a:ln>
                <a:solidFill>
                  <a:srgbClr val="990055"/>
                </a:solidFill>
                <a:effectLst/>
                <a:latin typeface="Courier New" panose="02070309020205020404" pitchFamily="49" charset="0"/>
                <a:cs typeface="Courier New" panose="02070309020205020404" pitchFamily="49" charset="0"/>
              </a:rPr>
              <a:t>50</a:t>
            </a:r>
            <a:r>
              <a:rPr kumimoji="0" lang="en-US" altLang="en-US" sz="20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0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sz="2000" dirty="0">
              <a:solidFill>
                <a:srgbClr val="000000"/>
              </a:solidFill>
              <a:latin typeface="Courier New" panose="02070309020205020404" pitchFamily="49" charset="0"/>
              <a:cs typeface="Courier New" panose="02070309020205020404" pitchFamily="49"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CREATE</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0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TABLE</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employee</a:t>
            </a:r>
            <a:r>
              <a:rPr kumimoji="0" lang="en-US" altLang="en-US" sz="20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0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emp_id</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0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INT</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0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PRIMARY</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0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KEY</a:t>
            </a:r>
            <a:r>
              <a:rPr kumimoji="0" lang="en-US" altLang="en-US" sz="20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0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first_name</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0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VARCHAR</a:t>
            </a:r>
            <a:r>
              <a:rPr kumimoji="0" lang="en-US" altLang="en-US" sz="20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2000" b="0" i="0" u="none" strike="noStrike" cap="none" normalizeH="0" baseline="0" dirty="0">
                <a:ln>
                  <a:noFill/>
                </a:ln>
                <a:solidFill>
                  <a:srgbClr val="990055"/>
                </a:solidFill>
                <a:effectLst/>
                <a:latin typeface="Courier New" panose="02070309020205020404" pitchFamily="49" charset="0"/>
                <a:cs typeface="Courier New" panose="02070309020205020404" pitchFamily="49" charset="0"/>
              </a:rPr>
              <a:t>50</a:t>
            </a:r>
            <a:r>
              <a:rPr kumimoji="0" lang="en-US" altLang="en-US" sz="20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0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last_name</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0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VARCHAR</a:t>
            </a:r>
            <a:r>
              <a:rPr kumimoji="0" lang="en-US" altLang="en-US" sz="20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2000" b="0" i="0" u="none" strike="noStrike" cap="none" normalizeH="0" baseline="0" dirty="0">
                <a:ln>
                  <a:noFill/>
                </a:ln>
                <a:solidFill>
                  <a:srgbClr val="990055"/>
                </a:solidFill>
                <a:effectLst/>
                <a:latin typeface="Courier New" panose="02070309020205020404" pitchFamily="49" charset="0"/>
                <a:cs typeface="Courier New" panose="02070309020205020404" pitchFamily="49" charset="0"/>
              </a:rPr>
              <a:t>50</a:t>
            </a:r>
            <a:r>
              <a:rPr kumimoji="0" lang="en-US" altLang="en-US" sz="20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email </a:t>
            </a:r>
            <a:r>
              <a:rPr kumimoji="0" lang="en-US" altLang="en-US" sz="20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VARCHAR</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0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2000" b="0" i="0" u="none" strike="noStrike" cap="none" normalizeH="0" baseline="0" dirty="0">
                <a:ln>
                  <a:noFill/>
                </a:ln>
                <a:solidFill>
                  <a:srgbClr val="990055"/>
                </a:solidFill>
                <a:effectLst/>
                <a:latin typeface="Courier New" panose="02070309020205020404" pitchFamily="49" charset="0"/>
                <a:cs typeface="Courier New" panose="02070309020205020404" pitchFamily="49" charset="0"/>
              </a:rPr>
              <a:t>100</a:t>
            </a:r>
            <a:r>
              <a:rPr kumimoji="0" lang="en-US" altLang="en-US" sz="20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0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hiredate</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0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DATE</a:t>
            </a:r>
            <a:r>
              <a:rPr kumimoji="0" lang="en-US" altLang="en-US" sz="20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0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manager_id</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0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INT</a:t>
            </a:r>
            <a:r>
              <a:rPr kumimoji="0" lang="en-US" altLang="en-US" sz="20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salary </a:t>
            </a:r>
            <a:r>
              <a:rPr kumimoji="0" lang="en-US" altLang="en-US" sz="20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INT</a:t>
            </a:r>
            <a:r>
              <a:rPr kumimoji="0" lang="en-US" altLang="en-US" sz="20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0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dept_id</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0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INT</a:t>
            </a:r>
            <a:r>
              <a:rPr kumimoji="0" lang="en-US" altLang="en-US" sz="20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CONSTRAINT</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0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FK_employee_department</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0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FOREIGN</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0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KEY</a:t>
            </a:r>
            <a:r>
              <a:rPr kumimoji="0" lang="en-US" altLang="en-US" sz="20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20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dept_id</a:t>
            </a:r>
            <a:r>
              <a:rPr kumimoji="0" lang="en-US" altLang="en-US" sz="20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000" b="0" i="0" u="none" strike="noStrike" cap="none" normalizeH="0" baseline="0" dirty="0">
                <a:ln>
                  <a:noFill/>
                </a:ln>
                <a:solidFill>
                  <a:srgbClr val="0077AA"/>
                </a:solidFill>
                <a:effectLst/>
                <a:latin typeface="Courier New" panose="02070309020205020404" pitchFamily="49" charset="0"/>
                <a:cs typeface="Courier New" panose="02070309020205020404" pitchFamily="49" charset="0"/>
              </a:rPr>
              <a:t>REFERENCES</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department</a:t>
            </a:r>
            <a:r>
              <a:rPr kumimoji="0" lang="en-US" altLang="en-US" sz="20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20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dept_id</a:t>
            </a:r>
            <a:r>
              <a:rPr kumimoji="0" lang="en-US" altLang="en-US" sz="20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000" b="0" i="0" u="none" strike="noStrike" cap="none" normalizeH="0" baseline="0" dirty="0">
                <a:ln>
                  <a:noFill/>
                </a:ln>
                <a:solidFill>
                  <a:srgbClr val="999999"/>
                </a:solidFill>
                <a:effectLst/>
                <a:latin typeface="Courier New" panose="02070309020205020404" pitchFamily="49" charset="0"/>
                <a:cs typeface="Courier New" panose="02070309020205020404" pitchFamily="49" charset="0"/>
              </a:rPr>
              <a:t>);</a:t>
            </a:r>
            <a:r>
              <a:rPr kumimoji="0" lang="en-US" altLang="en-US" sz="1000" b="0" i="0" u="none" strike="noStrike" cap="none" normalizeH="0" baseline="0" dirty="0">
                <a:ln>
                  <a:noFill/>
                </a:ln>
                <a:solidFill>
                  <a:schemeClr val="tx1"/>
                </a:solidFill>
                <a:effectLst/>
              </a:rPr>
              <a:t> </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33715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5DE3DE5-5AF2-8319-10AE-C4754DCC3353}"/>
              </a:ext>
            </a:extLst>
          </p:cNvPr>
          <p:cNvSpPr>
            <a:spLocks noGrp="1"/>
          </p:cNvSpPr>
          <p:nvPr>
            <p:ph type="sldNum" sz="quarter" idx="12"/>
          </p:nvPr>
        </p:nvSpPr>
        <p:spPr/>
        <p:txBody>
          <a:bodyPr/>
          <a:lstStyle/>
          <a:p>
            <a:fld id="{CBABCCC1-BF11-4F37-963E-1BCD5B23FD72}" type="slidenum">
              <a:rPr lang="en-IN" smtClean="0"/>
              <a:t>43</a:t>
            </a:fld>
            <a:endParaRPr lang="en-IN"/>
          </a:p>
        </p:txBody>
      </p:sp>
      <p:pic>
        <p:nvPicPr>
          <p:cNvPr id="4" name="Picture 3">
            <a:extLst>
              <a:ext uri="{FF2B5EF4-FFF2-40B4-BE49-F238E27FC236}">
                <a16:creationId xmlns:a16="http://schemas.microsoft.com/office/drawing/2014/main" id="{744B4DC2-2567-C868-2C42-62D1F0F9B065}"/>
              </a:ext>
            </a:extLst>
          </p:cNvPr>
          <p:cNvPicPr>
            <a:picLocks noChangeAspect="1"/>
          </p:cNvPicPr>
          <p:nvPr/>
        </p:nvPicPr>
        <p:blipFill>
          <a:blip r:embed="rId2"/>
          <a:stretch>
            <a:fillRect/>
          </a:stretch>
        </p:blipFill>
        <p:spPr>
          <a:xfrm>
            <a:off x="1139252" y="914381"/>
            <a:ext cx="10133351" cy="4849337"/>
          </a:xfrm>
          <a:prstGeom prst="rect">
            <a:avLst/>
          </a:prstGeom>
        </p:spPr>
      </p:pic>
      <p:sp>
        <p:nvSpPr>
          <p:cNvPr id="5" name="Rounded Rectangle 17">
            <a:extLst>
              <a:ext uri="{FF2B5EF4-FFF2-40B4-BE49-F238E27FC236}">
                <a16:creationId xmlns:a16="http://schemas.microsoft.com/office/drawing/2014/main" id="{7C4B736E-2C99-E307-4D82-02712014DF76}"/>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CREATE  TABLE COMMAND (Cont..)</a:t>
            </a:r>
          </a:p>
        </p:txBody>
      </p:sp>
    </p:spTree>
    <p:extLst>
      <p:ext uri="{BB962C8B-B14F-4D97-AF65-F5344CB8AC3E}">
        <p14:creationId xmlns:p14="http://schemas.microsoft.com/office/powerpoint/2010/main" val="3304969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5DE3DE5-5AF2-8319-10AE-C4754DCC3353}"/>
              </a:ext>
            </a:extLst>
          </p:cNvPr>
          <p:cNvSpPr>
            <a:spLocks noGrp="1"/>
          </p:cNvSpPr>
          <p:nvPr>
            <p:ph type="sldNum" sz="quarter" idx="12"/>
          </p:nvPr>
        </p:nvSpPr>
        <p:spPr/>
        <p:txBody>
          <a:bodyPr/>
          <a:lstStyle/>
          <a:p>
            <a:fld id="{CBABCCC1-BF11-4F37-963E-1BCD5B23FD72}" type="slidenum">
              <a:rPr lang="en-IN" smtClean="0"/>
              <a:t>44</a:t>
            </a:fld>
            <a:endParaRPr lang="en-IN"/>
          </a:p>
        </p:txBody>
      </p:sp>
      <p:sp>
        <p:nvSpPr>
          <p:cNvPr id="5" name="Rounded Rectangle 17">
            <a:extLst>
              <a:ext uri="{FF2B5EF4-FFF2-40B4-BE49-F238E27FC236}">
                <a16:creationId xmlns:a16="http://schemas.microsoft.com/office/drawing/2014/main" id="{7C4B736E-2C99-E307-4D82-02712014DF76}"/>
              </a:ext>
            </a:extLst>
          </p:cNvPr>
          <p:cNvSpPr/>
          <p:nvPr/>
        </p:nvSpPr>
        <p:spPr>
          <a:xfrm>
            <a:off x="3099479" y="63283"/>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CREATE  TABLE COMMAND (Cont..)</a:t>
            </a:r>
          </a:p>
        </p:txBody>
      </p:sp>
      <p:sp>
        <p:nvSpPr>
          <p:cNvPr id="6" name="TextBox 5">
            <a:extLst>
              <a:ext uri="{FF2B5EF4-FFF2-40B4-BE49-F238E27FC236}">
                <a16:creationId xmlns:a16="http://schemas.microsoft.com/office/drawing/2014/main" id="{D527FAAD-552B-47DA-CCFC-2C5A03A9C9EA}"/>
              </a:ext>
            </a:extLst>
          </p:cNvPr>
          <p:cNvSpPr txBox="1"/>
          <p:nvPr/>
        </p:nvSpPr>
        <p:spPr>
          <a:xfrm>
            <a:off x="712032" y="820792"/>
            <a:ext cx="10672998" cy="1323439"/>
          </a:xfrm>
          <a:prstGeom prst="rect">
            <a:avLst/>
          </a:prstGeom>
          <a:noFill/>
        </p:spPr>
        <p:txBody>
          <a:bodyPr wrap="square">
            <a:spAutoFit/>
          </a:bodyPr>
          <a:lstStyle/>
          <a:p>
            <a:pPr algn="just"/>
            <a:r>
              <a:rPr lang="en-US" sz="2000" kern="1800" dirty="0">
                <a:solidFill>
                  <a:srgbClr val="FF0000"/>
                </a:solidFill>
                <a:latin typeface="Times New Roman" panose="02020603050405020304" pitchFamily="18" charset="0"/>
                <a:cs typeface="Times New Roman" panose="02020603050405020304" pitchFamily="18" charset="0"/>
              </a:rPr>
              <a:t>Define CHECK Constraint while Creating a Table</a:t>
            </a:r>
            <a:r>
              <a:rPr lang="en-US" altLang="en-US" sz="2000" kern="1800" dirty="0">
                <a:solidFill>
                  <a:srgbClr val="FF0000"/>
                </a:solidFill>
                <a:latin typeface="Times New Roman" panose="02020603050405020304" pitchFamily="18" charset="0"/>
                <a:cs typeface="Times New Roman" panose="02020603050405020304" pitchFamily="18" charset="0"/>
              </a:rPr>
              <a:t>: </a:t>
            </a:r>
            <a:r>
              <a:rPr lang="en-US" sz="2000" b="0" dirty="0">
                <a:solidFill>
                  <a:srgbClr val="181717"/>
                </a:solidFill>
                <a:latin typeface="Times New Roman" panose="02020603050405020304" pitchFamily="18" charset="0"/>
                <a:cs typeface="Times New Roman" panose="02020603050405020304" pitchFamily="18" charset="0"/>
              </a:rPr>
              <a:t>The CHECK constraint is used to limit the value range that can be placed in a column. </a:t>
            </a:r>
            <a:r>
              <a:rPr lang="en-US" altLang="en-US" sz="2000" b="0" dirty="0">
                <a:solidFill>
                  <a:srgbClr val="181717"/>
                </a:solidFill>
                <a:latin typeface="Times New Roman" panose="02020603050405020304" pitchFamily="18" charset="0"/>
                <a:cs typeface="Times New Roman" panose="02020603050405020304" pitchFamily="18" charset="0"/>
              </a:rPr>
              <a:t>The following SQL creates a CHECK constraint on the </a:t>
            </a:r>
            <a:r>
              <a:rPr lang="en-US" altLang="en-US" sz="2000" dirty="0">
                <a:solidFill>
                  <a:srgbClr val="181717"/>
                </a:solidFill>
                <a:latin typeface="Times New Roman" panose="02020603050405020304" pitchFamily="18" charset="0"/>
                <a:cs typeface="Times New Roman" panose="02020603050405020304" pitchFamily="18" charset="0"/>
              </a:rPr>
              <a:t>age</a:t>
            </a:r>
            <a:r>
              <a:rPr lang="en-US" altLang="en-US" sz="2000" b="0" dirty="0">
                <a:solidFill>
                  <a:srgbClr val="181717"/>
                </a:solidFill>
                <a:latin typeface="Times New Roman" panose="02020603050405020304" pitchFamily="18" charset="0"/>
                <a:cs typeface="Times New Roman" panose="02020603050405020304" pitchFamily="18" charset="0"/>
              </a:rPr>
              <a:t> column when the "Person" table is created. The CHECK constraint ensures that the age of a person must be grater than 18: </a:t>
            </a:r>
          </a:p>
        </p:txBody>
      </p:sp>
      <p:pic>
        <p:nvPicPr>
          <p:cNvPr id="9" name="Picture 8">
            <a:extLst>
              <a:ext uri="{FF2B5EF4-FFF2-40B4-BE49-F238E27FC236}">
                <a16:creationId xmlns:a16="http://schemas.microsoft.com/office/drawing/2014/main" id="{A556D9B2-6390-7C22-8FDE-446B47454248}"/>
              </a:ext>
            </a:extLst>
          </p:cNvPr>
          <p:cNvPicPr>
            <a:picLocks noChangeAspect="1"/>
          </p:cNvPicPr>
          <p:nvPr/>
        </p:nvPicPr>
        <p:blipFill>
          <a:blip r:embed="rId2"/>
          <a:stretch>
            <a:fillRect/>
          </a:stretch>
        </p:blipFill>
        <p:spPr>
          <a:xfrm>
            <a:off x="784340" y="2300416"/>
            <a:ext cx="10450788" cy="3673163"/>
          </a:xfrm>
          <a:prstGeom prst="rect">
            <a:avLst/>
          </a:prstGeom>
          <a:ln>
            <a:solidFill>
              <a:schemeClr val="tx1"/>
            </a:solidFill>
          </a:ln>
        </p:spPr>
      </p:pic>
    </p:spTree>
    <p:extLst>
      <p:ext uri="{BB962C8B-B14F-4D97-AF65-F5344CB8AC3E}">
        <p14:creationId xmlns:p14="http://schemas.microsoft.com/office/powerpoint/2010/main" val="2277101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5B420FC-8C5B-95E1-0AE1-8E6F5DBF5020}"/>
              </a:ext>
            </a:extLst>
          </p:cNvPr>
          <p:cNvSpPr>
            <a:spLocks noGrp="1"/>
          </p:cNvSpPr>
          <p:nvPr>
            <p:ph type="sldNum" sz="quarter" idx="12"/>
          </p:nvPr>
        </p:nvSpPr>
        <p:spPr/>
        <p:txBody>
          <a:bodyPr/>
          <a:lstStyle/>
          <a:p>
            <a:fld id="{CBABCCC1-BF11-4F37-963E-1BCD5B23FD72}" type="slidenum">
              <a:rPr lang="en-IN" smtClean="0"/>
              <a:t>45</a:t>
            </a:fld>
            <a:endParaRPr lang="en-IN"/>
          </a:p>
        </p:txBody>
      </p:sp>
      <p:sp>
        <p:nvSpPr>
          <p:cNvPr id="4" name="TextBox 3">
            <a:extLst>
              <a:ext uri="{FF2B5EF4-FFF2-40B4-BE49-F238E27FC236}">
                <a16:creationId xmlns:a16="http://schemas.microsoft.com/office/drawing/2014/main" id="{6C72CA80-8EF2-5FC9-6DE2-ADBD7D875A42}"/>
              </a:ext>
            </a:extLst>
          </p:cNvPr>
          <p:cNvSpPr txBox="1"/>
          <p:nvPr/>
        </p:nvSpPr>
        <p:spPr>
          <a:xfrm>
            <a:off x="891914" y="778771"/>
            <a:ext cx="10583056" cy="830997"/>
          </a:xfrm>
          <a:prstGeom prst="rect">
            <a:avLst/>
          </a:prstGeom>
          <a:noFill/>
        </p:spPr>
        <p:txBody>
          <a:bodyPr wrap="square">
            <a:spAutoFit/>
          </a:bodyPr>
          <a:lstStyle/>
          <a:p>
            <a:pPr algn="just" eaLnBrk="0" hangingPunct="0"/>
            <a:r>
              <a:rPr lang="en-US" sz="2400" dirty="0">
                <a:solidFill>
                  <a:srgbClr val="181717"/>
                </a:solidFill>
                <a:latin typeface="Times New Roman" panose="02020603050405020304" pitchFamily="18" charset="0"/>
                <a:cs typeface="Times New Roman" panose="02020603050405020304" pitchFamily="18" charset="0"/>
              </a:rPr>
              <a:t>You can also give the constraint a separate name. This clarifies error messages and allows you to refer to the constraint when you need to change it. For example:</a:t>
            </a:r>
            <a:endParaRPr lang="en-IN" sz="2400" dirty="0">
              <a:solidFill>
                <a:srgbClr val="181717"/>
              </a:solidFill>
              <a:latin typeface="Times New Roman" panose="02020603050405020304" pitchFamily="18" charset="0"/>
              <a:cs typeface="Times New Roman" panose="02020603050405020304" pitchFamily="18" charset="0"/>
            </a:endParaRPr>
          </a:p>
        </p:txBody>
      </p:sp>
      <p:sp>
        <p:nvSpPr>
          <p:cNvPr id="5" name="Rounded Rectangle 17">
            <a:extLst>
              <a:ext uri="{FF2B5EF4-FFF2-40B4-BE49-F238E27FC236}">
                <a16:creationId xmlns:a16="http://schemas.microsoft.com/office/drawing/2014/main" id="{562484B2-99B0-95C3-A6BA-3E0590DB294E}"/>
              </a:ext>
            </a:extLst>
          </p:cNvPr>
          <p:cNvSpPr/>
          <p:nvPr/>
        </p:nvSpPr>
        <p:spPr>
          <a:xfrm>
            <a:off x="3099479" y="63283"/>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CREATE  TABLE COMMAND (Cont..)</a:t>
            </a:r>
          </a:p>
        </p:txBody>
      </p:sp>
      <p:pic>
        <p:nvPicPr>
          <p:cNvPr id="7" name="Picture 6">
            <a:extLst>
              <a:ext uri="{FF2B5EF4-FFF2-40B4-BE49-F238E27FC236}">
                <a16:creationId xmlns:a16="http://schemas.microsoft.com/office/drawing/2014/main" id="{E828E72D-F721-130D-4B47-FA8591791642}"/>
              </a:ext>
            </a:extLst>
          </p:cNvPr>
          <p:cNvPicPr>
            <a:picLocks noChangeAspect="1"/>
          </p:cNvPicPr>
          <p:nvPr/>
        </p:nvPicPr>
        <p:blipFill>
          <a:blip r:embed="rId2"/>
          <a:stretch>
            <a:fillRect/>
          </a:stretch>
        </p:blipFill>
        <p:spPr>
          <a:xfrm>
            <a:off x="981856" y="1696449"/>
            <a:ext cx="10335718" cy="4127229"/>
          </a:xfrm>
          <a:prstGeom prst="rect">
            <a:avLst/>
          </a:prstGeom>
        </p:spPr>
      </p:pic>
    </p:spTree>
    <p:extLst>
      <p:ext uri="{BB962C8B-B14F-4D97-AF65-F5344CB8AC3E}">
        <p14:creationId xmlns:p14="http://schemas.microsoft.com/office/powerpoint/2010/main" val="3694591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426E112-93EF-EF43-933A-5C2702784431}"/>
              </a:ext>
            </a:extLst>
          </p:cNvPr>
          <p:cNvSpPr>
            <a:spLocks noGrp="1"/>
          </p:cNvSpPr>
          <p:nvPr>
            <p:ph type="sldNum" sz="quarter" idx="12"/>
          </p:nvPr>
        </p:nvSpPr>
        <p:spPr/>
        <p:txBody>
          <a:bodyPr/>
          <a:lstStyle/>
          <a:p>
            <a:fld id="{CBABCCC1-BF11-4F37-963E-1BCD5B23FD72}" type="slidenum">
              <a:rPr lang="en-IN" smtClean="0"/>
              <a:t>46</a:t>
            </a:fld>
            <a:endParaRPr lang="en-IN"/>
          </a:p>
        </p:txBody>
      </p:sp>
      <p:sp>
        <p:nvSpPr>
          <p:cNvPr id="3" name="Rounded Rectangle 17">
            <a:extLst>
              <a:ext uri="{FF2B5EF4-FFF2-40B4-BE49-F238E27FC236}">
                <a16:creationId xmlns:a16="http://schemas.microsoft.com/office/drawing/2014/main" id="{182267C2-536F-BF63-FED8-DF56DE239E0A}"/>
              </a:ext>
            </a:extLst>
          </p:cNvPr>
          <p:cNvSpPr/>
          <p:nvPr/>
        </p:nvSpPr>
        <p:spPr>
          <a:xfrm>
            <a:off x="1682852" y="88505"/>
            <a:ext cx="9147998" cy="72155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IMPORTANT FACTS RELATED TO THE SESSION</a:t>
            </a:r>
          </a:p>
        </p:txBody>
      </p:sp>
      <p:sp>
        <p:nvSpPr>
          <p:cNvPr id="5" name="TextBox 4">
            <a:extLst>
              <a:ext uri="{FF2B5EF4-FFF2-40B4-BE49-F238E27FC236}">
                <a16:creationId xmlns:a16="http://schemas.microsoft.com/office/drawing/2014/main" id="{882732E5-15EF-4A3A-7AF5-EA0F6A27CF24}"/>
              </a:ext>
            </a:extLst>
          </p:cNvPr>
          <p:cNvSpPr txBox="1"/>
          <p:nvPr/>
        </p:nvSpPr>
        <p:spPr>
          <a:xfrm>
            <a:off x="1052730" y="1296996"/>
            <a:ext cx="10407249" cy="3785652"/>
          </a:xfrm>
          <a:prstGeom prst="rect">
            <a:avLst/>
          </a:prstGeom>
          <a:noFill/>
        </p:spPr>
        <p:txBody>
          <a:bodyPr wrap="square" rtlCol="0">
            <a:spAutoFit/>
          </a:bodyPr>
          <a:lstStyle/>
          <a:p>
            <a:pPr marL="342900" indent="-342900">
              <a:buFont typeface="Arial" panose="020B0604020202020204" pitchFamily="34" charset="0"/>
              <a:buChar char="•"/>
            </a:pPr>
            <a:r>
              <a:rPr lang="en-US" sz="2400" b="0" i="0" dirty="0">
                <a:solidFill>
                  <a:srgbClr val="273239"/>
                </a:solidFill>
                <a:effectLst/>
                <a:latin typeface="Times New Roman" panose="02020603050405020304" pitchFamily="18" charset="0"/>
                <a:cs typeface="Times New Roman" panose="02020603050405020304" pitchFamily="18" charset="0"/>
              </a:rPr>
              <a:t>Structured Query Language(SQL) is the widely used database language for almost all types of relational databases, by the use of which we can perform certain operations on the existing database and also we can use this language to create a new database.</a:t>
            </a:r>
          </a:p>
          <a:p>
            <a:pPr marL="342900" indent="-342900">
              <a:buFont typeface="Arial" panose="020B0604020202020204" pitchFamily="34" charset="0"/>
              <a:buChar char="•"/>
            </a:pPr>
            <a:endParaRPr lang="en-US" sz="2400" dirty="0">
              <a:solidFill>
                <a:srgbClr val="273239"/>
              </a:solidFill>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dirty="0">
                <a:solidFill>
                  <a:srgbClr val="273239"/>
                </a:solidFill>
                <a:latin typeface="Times New Roman" panose="02020603050405020304" pitchFamily="18" charset="0"/>
                <a:cs typeface="Times New Roman" panose="02020603050405020304" pitchFamily="18" charset="0"/>
              </a:rPr>
              <a:t>Data Definition Language can be used to define the database structure or schema.</a:t>
            </a:r>
          </a:p>
          <a:p>
            <a:pPr marL="342900" indent="-342900" algn="just">
              <a:buFont typeface="Arial" panose="020B0604020202020204" pitchFamily="34" charset="0"/>
              <a:buChar char="•"/>
            </a:pPr>
            <a:endParaRPr lang="en-US" sz="2400" dirty="0">
              <a:solidFill>
                <a:srgbClr val="273239"/>
              </a:solidFill>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Data Manipulation language can be used to access, store, modify, update and delete the existing records from the database.</a:t>
            </a:r>
            <a:endParaRPr lang="en-US" sz="2400" dirty="0"/>
          </a:p>
        </p:txBody>
      </p:sp>
    </p:spTree>
    <p:extLst>
      <p:ext uri="{BB962C8B-B14F-4D97-AF65-F5344CB8AC3E}">
        <p14:creationId xmlns:p14="http://schemas.microsoft.com/office/powerpoint/2010/main" val="3061006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6463B91-B262-9682-F0C7-08B46FC96DAF}"/>
              </a:ext>
            </a:extLst>
          </p:cNvPr>
          <p:cNvSpPr>
            <a:spLocks noGrp="1"/>
          </p:cNvSpPr>
          <p:nvPr>
            <p:ph type="sldNum" sz="quarter" idx="12"/>
          </p:nvPr>
        </p:nvSpPr>
        <p:spPr/>
        <p:txBody>
          <a:bodyPr/>
          <a:lstStyle/>
          <a:p>
            <a:fld id="{CBABCCC1-BF11-4F37-963E-1BCD5B23FD72}" type="slidenum">
              <a:rPr lang="en-IN" smtClean="0"/>
              <a:t>47</a:t>
            </a:fld>
            <a:endParaRPr lang="en-IN"/>
          </a:p>
        </p:txBody>
      </p:sp>
      <p:sp>
        <p:nvSpPr>
          <p:cNvPr id="3" name="Rounded Rectangle 17">
            <a:extLst>
              <a:ext uri="{FF2B5EF4-FFF2-40B4-BE49-F238E27FC236}">
                <a16:creationId xmlns:a16="http://schemas.microsoft.com/office/drawing/2014/main" id="{2801F836-49A9-79C6-605C-036E3229421E}"/>
              </a:ext>
            </a:extLst>
          </p:cNvPr>
          <p:cNvSpPr/>
          <p:nvPr/>
        </p:nvSpPr>
        <p:spPr>
          <a:xfrm>
            <a:off x="2919046" y="174560"/>
            <a:ext cx="641486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SUMMARY</a:t>
            </a:r>
          </a:p>
        </p:txBody>
      </p:sp>
      <p:sp>
        <p:nvSpPr>
          <p:cNvPr id="5" name="TextBox 4">
            <a:extLst>
              <a:ext uri="{FF2B5EF4-FFF2-40B4-BE49-F238E27FC236}">
                <a16:creationId xmlns:a16="http://schemas.microsoft.com/office/drawing/2014/main" id="{310A3C4E-A3F4-A59F-30F0-89F3E02DCF75}"/>
              </a:ext>
            </a:extLst>
          </p:cNvPr>
          <p:cNvSpPr txBox="1"/>
          <p:nvPr/>
        </p:nvSpPr>
        <p:spPr>
          <a:xfrm>
            <a:off x="1108970" y="981569"/>
            <a:ext cx="10086536" cy="7571303"/>
          </a:xfrm>
          <a:prstGeom prst="rect">
            <a:avLst/>
          </a:prstGeom>
          <a:noFill/>
        </p:spPr>
        <p:txBody>
          <a:bodyPr wrap="square" rtlCol="0">
            <a:spAutoFit/>
          </a:bodyPr>
          <a:lstStyle/>
          <a:p>
            <a:pPr marL="457200" indent="-457200" algn="just">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In this section, we discussed the various types of SQL languages and commands of these languages that are used to work on the database </a:t>
            </a:r>
            <a:r>
              <a:rPr lang="en-US" sz="2400" dirty="0" err="1">
                <a:latin typeface="Times New Roman" panose="02020603050405020304" pitchFamily="18" charset="0"/>
                <a:cs typeface="Times New Roman" panose="02020603050405020304" pitchFamily="18" charset="0"/>
              </a:rPr>
              <a:t>nd</a:t>
            </a:r>
            <a:r>
              <a:rPr lang="en-US" sz="2400" dirty="0">
                <a:latin typeface="Times New Roman" panose="02020603050405020304" pitchFamily="18" charset="0"/>
                <a:cs typeface="Times New Roman" panose="02020603050405020304" pitchFamily="18" charset="0"/>
              </a:rPr>
              <a:t> the data stored in the databases.</a:t>
            </a:r>
          </a:p>
          <a:p>
            <a:pPr marL="457200" indent="-457200" algn="just">
              <a:lnSpc>
                <a:spcPct val="150000"/>
              </a:lnSpc>
              <a:buFont typeface="+mj-lt"/>
              <a:buAutoNum type="arabicPeriod"/>
            </a:pPr>
            <a:endParaRPr lang="en-US" sz="2400" dirty="0">
              <a:latin typeface="Times New Roman" panose="02020603050405020304" pitchFamily="18" charset="0"/>
              <a:cs typeface="Times New Roman" panose="02020603050405020304" pitchFamily="18" charset="0"/>
            </a:endParaRPr>
          </a:p>
          <a:p>
            <a:pPr marL="457200" indent="-457200" algn="just">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We also discussed the CREATE TABLE command in detail with its syntax and examples for creating the tables.</a:t>
            </a:r>
            <a:endParaRPr lang="en-US" dirty="0"/>
          </a:p>
          <a:p>
            <a:pPr marL="342900" indent="-342900" algn="just">
              <a:lnSpc>
                <a:spcPct val="150000"/>
              </a:lnSpc>
              <a:buFont typeface="+mj-lt"/>
              <a:buAutoNum type="arabicPeriod"/>
            </a:pPr>
            <a:endParaRPr lang="en-US" dirty="0"/>
          </a:p>
          <a:p>
            <a:pPr marL="342900" indent="-342900" algn="just">
              <a:lnSpc>
                <a:spcPct val="150000"/>
              </a:lnSpc>
              <a:buFont typeface="+mj-lt"/>
              <a:buAutoNum type="arabicPeriod"/>
            </a:pPr>
            <a:endParaRPr lang="en-US" dirty="0"/>
          </a:p>
          <a:p>
            <a:pPr marL="342900" indent="-342900" algn="just">
              <a:lnSpc>
                <a:spcPct val="150000"/>
              </a:lnSpc>
              <a:buFont typeface="+mj-lt"/>
              <a:buAutoNum type="arabicPeriod"/>
            </a:pPr>
            <a:endParaRPr lang="en-US" dirty="0"/>
          </a:p>
          <a:p>
            <a:pPr marL="342900" indent="-342900" algn="just">
              <a:lnSpc>
                <a:spcPct val="150000"/>
              </a:lnSpc>
              <a:buFont typeface="+mj-lt"/>
              <a:buAutoNum type="arabicPeriod"/>
            </a:pPr>
            <a:endParaRPr lang="en-US" dirty="0"/>
          </a:p>
          <a:p>
            <a:pPr marL="342900" indent="-342900" algn="just">
              <a:lnSpc>
                <a:spcPct val="150000"/>
              </a:lnSpc>
              <a:buFont typeface="+mj-lt"/>
              <a:buAutoNum type="arabicPeriod"/>
            </a:pPr>
            <a:endParaRPr lang="en-US" dirty="0"/>
          </a:p>
          <a:p>
            <a:pPr marL="342900" indent="-342900" algn="just">
              <a:lnSpc>
                <a:spcPct val="150000"/>
              </a:lnSpc>
              <a:buFont typeface="+mj-lt"/>
              <a:buAutoNum type="arabicPeriod"/>
            </a:pPr>
            <a:endParaRPr lang="en-US" dirty="0"/>
          </a:p>
          <a:p>
            <a:pPr marL="342900" indent="-342900" algn="just">
              <a:lnSpc>
                <a:spcPct val="150000"/>
              </a:lnSpc>
              <a:buFont typeface="+mj-lt"/>
              <a:buAutoNum type="arabicPeriod"/>
            </a:pPr>
            <a:endParaRPr lang="en-US" dirty="0"/>
          </a:p>
          <a:p>
            <a:pPr marL="342900" indent="-342900" algn="just">
              <a:lnSpc>
                <a:spcPct val="150000"/>
              </a:lnSpc>
              <a:buFont typeface="+mj-lt"/>
              <a:buAutoNum type="arabicPeriod"/>
            </a:pPr>
            <a:endParaRPr lang="en-US" dirty="0"/>
          </a:p>
          <a:p>
            <a:pPr marL="342900" indent="-342900" algn="just">
              <a:lnSpc>
                <a:spcPct val="150000"/>
              </a:lnSpc>
              <a:buFont typeface="+mj-lt"/>
              <a:buAutoNum type="arabicPeriod"/>
            </a:pPr>
            <a:endParaRPr lang="en-US" dirty="0"/>
          </a:p>
          <a:p>
            <a:pPr marL="342900" indent="-342900" algn="just">
              <a:lnSpc>
                <a:spcPct val="150000"/>
              </a:lnSpc>
              <a:buFont typeface="+mj-lt"/>
              <a:buAutoNum type="arabicPeriod"/>
            </a:pPr>
            <a:endParaRPr lang="en-US" dirty="0"/>
          </a:p>
        </p:txBody>
      </p:sp>
    </p:spTree>
    <p:extLst>
      <p:ext uri="{BB962C8B-B14F-4D97-AF65-F5344CB8AC3E}">
        <p14:creationId xmlns:p14="http://schemas.microsoft.com/office/powerpoint/2010/main" val="2731764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BAA0926-F154-044B-7626-FAD4FA3A1B88}"/>
              </a:ext>
            </a:extLst>
          </p:cNvPr>
          <p:cNvSpPr>
            <a:spLocks noGrp="1"/>
          </p:cNvSpPr>
          <p:nvPr>
            <p:ph type="sldNum" sz="quarter" idx="12"/>
          </p:nvPr>
        </p:nvSpPr>
        <p:spPr/>
        <p:txBody>
          <a:bodyPr/>
          <a:lstStyle/>
          <a:p>
            <a:fld id="{CBABCCC1-BF11-4F37-963E-1BCD5B23FD72}" type="slidenum">
              <a:rPr lang="en-IN" smtClean="0"/>
              <a:t>48</a:t>
            </a:fld>
            <a:endParaRPr lang="en-IN"/>
          </a:p>
        </p:txBody>
      </p:sp>
      <p:sp>
        <p:nvSpPr>
          <p:cNvPr id="3" name="Rounded Rectangle 17">
            <a:extLst>
              <a:ext uri="{FF2B5EF4-FFF2-40B4-BE49-F238E27FC236}">
                <a16:creationId xmlns:a16="http://schemas.microsoft.com/office/drawing/2014/main" id="{ABDFA97D-1739-9702-FF6D-52DC512493C8}"/>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p>
        </p:txBody>
      </p:sp>
      <p:sp>
        <p:nvSpPr>
          <p:cNvPr id="4" name="Google Shape;502;p17">
            <a:extLst>
              <a:ext uri="{FF2B5EF4-FFF2-40B4-BE49-F238E27FC236}">
                <a16:creationId xmlns:a16="http://schemas.microsoft.com/office/drawing/2014/main" id="{C895E6C8-4B5B-03A2-D4CE-05282CC1FB3F}"/>
              </a:ext>
            </a:extLst>
          </p:cNvPr>
          <p:cNvSpPr/>
          <p:nvPr/>
        </p:nvSpPr>
        <p:spPr>
          <a:xfrm>
            <a:off x="1009894" y="708817"/>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lvl="0"/>
            <a:r>
              <a:rPr lang="en-US" b="1" dirty="0">
                <a:sym typeface="Calibri"/>
              </a:rPr>
              <a:t>1. </a:t>
            </a:r>
            <a:r>
              <a:rPr lang="en-US" b="1" dirty="0"/>
              <a:t>Commands that comes under DDL is/are –</a:t>
            </a:r>
            <a:endParaRPr sz="1600" dirty="0">
              <a:solidFill>
                <a:schemeClr val="bg1"/>
              </a:solidFill>
              <a:latin typeface="Poppins" panose="00000500000000000000" pitchFamily="2" charset="0"/>
              <a:ea typeface="Calibri"/>
              <a:cs typeface="Poppins" panose="00000500000000000000" pitchFamily="2" charset="0"/>
              <a:sym typeface="Calibri"/>
            </a:endParaRPr>
          </a:p>
        </p:txBody>
      </p:sp>
      <p:sp>
        <p:nvSpPr>
          <p:cNvPr id="5" name="Rounded Rectangle 17">
            <a:extLst>
              <a:ext uri="{FF2B5EF4-FFF2-40B4-BE49-F238E27FC236}">
                <a16:creationId xmlns:a16="http://schemas.microsoft.com/office/drawing/2014/main" id="{42B36561-E61E-044D-EA38-B9207E58F32D}"/>
              </a:ext>
            </a:extLst>
          </p:cNvPr>
          <p:cNvSpPr/>
          <p:nvPr/>
        </p:nvSpPr>
        <p:spPr>
          <a:xfrm>
            <a:off x="1101779" y="1535695"/>
            <a:ext cx="2901705"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US" sz="1600" dirty="0">
                <a:latin typeface="Arial" panose="020B0604020202020204" pitchFamily="34" charset="0"/>
              </a:rPr>
              <a:t>CREATE</a:t>
            </a:r>
          </a:p>
          <a:p>
            <a:pPr marL="342900" indent="-342900">
              <a:lnSpc>
                <a:spcPct val="150000"/>
              </a:lnSpc>
              <a:buAutoNum type="alphaLcParenBoth"/>
            </a:pPr>
            <a:r>
              <a:rPr lang="en-US" sz="1600" dirty="0">
                <a:latin typeface="Arial" panose="020B0604020202020204" pitchFamily="34" charset="0"/>
              </a:rPr>
              <a:t>DROP</a:t>
            </a:r>
          </a:p>
          <a:p>
            <a:pPr marL="342900" indent="-342900">
              <a:lnSpc>
                <a:spcPct val="150000"/>
              </a:lnSpc>
              <a:buAutoNum type="alphaLcParenBoth"/>
            </a:pPr>
            <a:r>
              <a:rPr lang="en-US" sz="1600" dirty="0">
                <a:latin typeface="Arial" panose="020B0604020202020204" pitchFamily="34" charset="0"/>
              </a:rPr>
              <a:t>TRUCATE</a:t>
            </a:r>
          </a:p>
          <a:p>
            <a:pPr marL="342900" indent="-342900">
              <a:lnSpc>
                <a:spcPct val="150000"/>
              </a:lnSpc>
              <a:buAutoNum type="alphaLcParenBoth"/>
            </a:pPr>
            <a:r>
              <a:rPr lang="en-US" sz="1600" dirty="0">
                <a:latin typeface="Arial" panose="020B0604020202020204" pitchFamily="34" charset="0"/>
              </a:rPr>
              <a:t>ALLOF THE ABOVE</a:t>
            </a:r>
            <a:endParaRPr lang="en-US" sz="1600" dirty="0"/>
          </a:p>
        </p:txBody>
      </p:sp>
      <p:sp>
        <p:nvSpPr>
          <p:cNvPr id="6" name="Google Shape;502;p17">
            <a:extLst>
              <a:ext uri="{FF2B5EF4-FFF2-40B4-BE49-F238E27FC236}">
                <a16:creationId xmlns:a16="http://schemas.microsoft.com/office/drawing/2014/main" id="{FCDD6738-D576-01C6-AD8A-C69D4A99730B}"/>
              </a:ext>
            </a:extLst>
          </p:cNvPr>
          <p:cNvSpPr/>
          <p:nvPr/>
        </p:nvSpPr>
        <p:spPr>
          <a:xfrm>
            <a:off x="1042928" y="3303288"/>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buFont typeface="+mj-lt"/>
              <a:buAutoNum type="arabicPeriod" startAt="2"/>
            </a:pPr>
            <a:r>
              <a:rPr lang="en-US" b="1" dirty="0"/>
              <a:t> Command that comes under DML is/are –</a:t>
            </a:r>
            <a:endParaRPr sz="1600" dirty="0">
              <a:solidFill>
                <a:schemeClr val="bg1"/>
              </a:solidFill>
              <a:latin typeface="Poppins" panose="00000500000000000000" pitchFamily="2" charset="0"/>
              <a:ea typeface="Calibri"/>
              <a:cs typeface="Poppins" panose="00000500000000000000" pitchFamily="2" charset="0"/>
              <a:sym typeface="Calibri"/>
            </a:endParaRPr>
          </a:p>
        </p:txBody>
      </p:sp>
      <p:sp>
        <p:nvSpPr>
          <p:cNvPr id="7" name="Rounded Rectangle 17">
            <a:extLst>
              <a:ext uri="{FF2B5EF4-FFF2-40B4-BE49-F238E27FC236}">
                <a16:creationId xmlns:a16="http://schemas.microsoft.com/office/drawing/2014/main" id="{AEC345CE-530F-8587-A4EB-1B36F2B36662}"/>
              </a:ext>
            </a:extLst>
          </p:cNvPr>
          <p:cNvSpPr/>
          <p:nvPr/>
        </p:nvSpPr>
        <p:spPr>
          <a:xfrm>
            <a:off x="1026828" y="4135297"/>
            <a:ext cx="2901705"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US" dirty="0"/>
              <a:t>ROLLBACK</a:t>
            </a:r>
          </a:p>
          <a:p>
            <a:pPr marL="342900" indent="-342900">
              <a:lnSpc>
                <a:spcPct val="150000"/>
              </a:lnSpc>
              <a:buAutoNum type="alphaLcParenBoth"/>
            </a:pPr>
            <a:r>
              <a:rPr lang="en-US" dirty="0"/>
              <a:t>GRANT</a:t>
            </a:r>
          </a:p>
          <a:p>
            <a:pPr marL="342900" indent="-342900">
              <a:lnSpc>
                <a:spcPct val="150000"/>
              </a:lnSpc>
              <a:buAutoNum type="alphaLcParenBoth"/>
            </a:pPr>
            <a:r>
              <a:rPr lang="en-US" dirty="0"/>
              <a:t>UPDATE</a:t>
            </a:r>
          </a:p>
          <a:p>
            <a:pPr marL="342900" indent="-342900">
              <a:lnSpc>
                <a:spcPct val="150000"/>
              </a:lnSpc>
              <a:buAutoNum type="alphaLcParenBoth"/>
            </a:pPr>
            <a:r>
              <a:rPr lang="en-US" sz="1600" dirty="0"/>
              <a:t>ALL OF THE ABOVE</a:t>
            </a:r>
          </a:p>
        </p:txBody>
      </p:sp>
    </p:spTree>
    <p:extLst>
      <p:ext uri="{BB962C8B-B14F-4D97-AF65-F5344CB8AC3E}">
        <p14:creationId xmlns:p14="http://schemas.microsoft.com/office/powerpoint/2010/main" val="1664001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up)">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up)">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up)">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363DE4A-AFC0-FC1E-6CD8-900C5748B432}"/>
              </a:ext>
            </a:extLst>
          </p:cNvPr>
          <p:cNvSpPr>
            <a:spLocks noGrp="1"/>
          </p:cNvSpPr>
          <p:nvPr>
            <p:ph type="sldNum" sz="quarter" idx="12"/>
          </p:nvPr>
        </p:nvSpPr>
        <p:spPr/>
        <p:txBody>
          <a:bodyPr/>
          <a:lstStyle/>
          <a:p>
            <a:fld id="{CBABCCC1-BF11-4F37-963E-1BCD5B23FD72}" type="slidenum">
              <a:rPr lang="en-IN" smtClean="0"/>
              <a:t>49</a:t>
            </a:fld>
            <a:endParaRPr lang="en-IN"/>
          </a:p>
        </p:txBody>
      </p:sp>
      <p:sp>
        <p:nvSpPr>
          <p:cNvPr id="3" name="Rounded Rectangle 17">
            <a:extLst>
              <a:ext uri="{FF2B5EF4-FFF2-40B4-BE49-F238E27FC236}">
                <a16:creationId xmlns:a16="http://schemas.microsoft.com/office/drawing/2014/main" id="{49DFFD41-2ED8-4403-BEBB-19CE12F24A72}"/>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p>
        </p:txBody>
      </p:sp>
      <p:sp>
        <p:nvSpPr>
          <p:cNvPr id="4" name="Google Shape;502;p17">
            <a:extLst>
              <a:ext uri="{FF2B5EF4-FFF2-40B4-BE49-F238E27FC236}">
                <a16:creationId xmlns:a16="http://schemas.microsoft.com/office/drawing/2014/main" id="{5D5C938F-08D1-EBBC-827D-0D9BE9C87A60}"/>
              </a:ext>
            </a:extLst>
          </p:cNvPr>
          <p:cNvSpPr/>
          <p:nvPr/>
        </p:nvSpPr>
        <p:spPr>
          <a:xfrm>
            <a:off x="1026828" y="703686"/>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lvl="0"/>
            <a:r>
              <a:rPr lang="en-US" b="1" dirty="0">
                <a:sym typeface="Calibri"/>
              </a:rPr>
              <a:t>3. </a:t>
            </a:r>
            <a:r>
              <a:rPr lang="en-US" b="1" dirty="0"/>
              <a:t>Command that comes under DCL is/are -</a:t>
            </a:r>
            <a:endParaRPr sz="1600" dirty="0">
              <a:solidFill>
                <a:schemeClr val="bg1"/>
              </a:solidFill>
              <a:latin typeface="Poppins" panose="00000500000000000000" pitchFamily="2" charset="0"/>
              <a:ea typeface="Calibri"/>
              <a:cs typeface="Poppins" panose="00000500000000000000" pitchFamily="2" charset="0"/>
              <a:sym typeface="Calibri"/>
            </a:endParaRPr>
          </a:p>
        </p:txBody>
      </p:sp>
      <p:sp>
        <p:nvSpPr>
          <p:cNvPr id="5" name="Rounded Rectangle 17">
            <a:extLst>
              <a:ext uri="{FF2B5EF4-FFF2-40B4-BE49-F238E27FC236}">
                <a16:creationId xmlns:a16="http://schemas.microsoft.com/office/drawing/2014/main" id="{C4EE5078-3ED1-EE6A-B2EA-C0EAA91AB4C6}"/>
              </a:ext>
            </a:extLst>
          </p:cNvPr>
          <p:cNvSpPr/>
          <p:nvPr/>
        </p:nvSpPr>
        <p:spPr>
          <a:xfrm>
            <a:off x="1026828" y="1471292"/>
            <a:ext cx="2901705"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US" sz="1600" dirty="0">
                <a:latin typeface="Arial" panose="020B0604020202020204" pitchFamily="34" charset="0"/>
              </a:rPr>
              <a:t>GRANT</a:t>
            </a:r>
          </a:p>
          <a:p>
            <a:pPr marL="342900" indent="-342900">
              <a:lnSpc>
                <a:spcPct val="150000"/>
              </a:lnSpc>
              <a:buAutoNum type="alphaLcParenBoth"/>
            </a:pPr>
            <a:r>
              <a:rPr lang="en-US" sz="1600" dirty="0">
                <a:latin typeface="Arial" panose="020B0604020202020204" pitchFamily="34" charset="0"/>
              </a:rPr>
              <a:t>REVOKE</a:t>
            </a:r>
          </a:p>
          <a:p>
            <a:pPr marL="342900" indent="-342900">
              <a:lnSpc>
                <a:spcPct val="150000"/>
              </a:lnSpc>
              <a:buAutoNum type="alphaLcParenBoth"/>
            </a:pPr>
            <a:r>
              <a:rPr lang="en-US" sz="1600" dirty="0">
                <a:latin typeface="Arial" panose="020B0604020202020204" pitchFamily="34" charset="0"/>
              </a:rPr>
              <a:t>BOTH (a) AND (b)</a:t>
            </a:r>
          </a:p>
          <a:p>
            <a:pPr marL="342900" indent="-342900">
              <a:lnSpc>
                <a:spcPct val="150000"/>
              </a:lnSpc>
              <a:buAutoNum type="alphaLcParenBoth"/>
            </a:pPr>
            <a:r>
              <a:rPr lang="en-US" sz="1600" dirty="0">
                <a:latin typeface="Arial" panose="020B0604020202020204" pitchFamily="34" charset="0"/>
              </a:rPr>
              <a:t>NONE OF THE ABOVE</a:t>
            </a:r>
            <a:endParaRPr lang="en-US" sz="1600" dirty="0"/>
          </a:p>
        </p:txBody>
      </p:sp>
      <p:sp>
        <p:nvSpPr>
          <p:cNvPr id="6" name="Google Shape;502;p17">
            <a:extLst>
              <a:ext uri="{FF2B5EF4-FFF2-40B4-BE49-F238E27FC236}">
                <a16:creationId xmlns:a16="http://schemas.microsoft.com/office/drawing/2014/main" id="{6252408A-F5A0-83B9-5263-87443B19A71F}"/>
              </a:ext>
            </a:extLst>
          </p:cNvPr>
          <p:cNvSpPr/>
          <p:nvPr/>
        </p:nvSpPr>
        <p:spPr>
          <a:xfrm>
            <a:off x="1009895" y="3211914"/>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lvl="0"/>
            <a:r>
              <a:rPr lang="en-US" b="1" dirty="0"/>
              <a:t>4.  Following the completion of a transaction, it must be executed to save all the operations performed in the transaction. Here we are talking about which command?</a:t>
            </a:r>
            <a:endParaRPr sz="1600" dirty="0">
              <a:solidFill>
                <a:schemeClr val="bg1"/>
              </a:solidFill>
              <a:latin typeface="Poppins" panose="00000500000000000000" pitchFamily="2" charset="0"/>
              <a:ea typeface="Calibri"/>
              <a:cs typeface="Poppins" panose="00000500000000000000" pitchFamily="2" charset="0"/>
              <a:sym typeface="Calibri"/>
            </a:endParaRPr>
          </a:p>
        </p:txBody>
      </p:sp>
      <p:sp>
        <p:nvSpPr>
          <p:cNvPr id="7" name="Rounded Rectangle 17">
            <a:extLst>
              <a:ext uri="{FF2B5EF4-FFF2-40B4-BE49-F238E27FC236}">
                <a16:creationId xmlns:a16="http://schemas.microsoft.com/office/drawing/2014/main" id="{9FF1F8CA-9EC4-1B48-12BE-01B1EC5FDECD}"/>
              </a:ext>
            </a:extLst>
          </p:cNvPr>
          <p:cNvSpPr/>
          <p:nvPr/>
        </p:nvSpPr>
        <p:spPr>
          <a:xfrm>
            <a:off x="1026828" y="4016952"/>
            <a:ext cx="2901705"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US" dirty="0"/>
              <a:t>REVOKE</a:t>
            </a:r>
          </a:p>
          <a:p>
            <a:pPr marL="342900" indent="-342900">
              <a:lnSpc>
                <a:spcPct val="150000"/>
              </a:lnSpc>
              <a:buAutoNum type="alphaLcParenBoth"/>
            </a:pPr>
            <a:r>
              <a:rPr lang="en-US" dirty="0"/>
              <a:t>COMMIT</a:t>
            </a:r>
          </a:p>
          <a:p>
            <a:pPr marL="342900" indent="-342900">
              <a:lnSpc>
                <a:spcPct val="150000"/>
              </a:lnSpc>
              <a:buAutoNum type="alphaLcParenBoth"/>
            </a:pPr>
            <a:r>
              <a:rPr lang="en-US" dirty="0"/>
              <a:t>ROLLBACK</a:t>
            </a:r>
          </a:p>
          <a:p>
            <a:pPr marL="342900" indent="-342900">
              <a:lnSpc>
                <a:spcPct val="150000"/>
              </a:lnSpc>
              <a:buAutoNum type="alphaLcParenBoth"/>
            </a:pPr>
            <a:r>
              <a:rPr lang="en-US" sz="1600" dirty="0"/>
              <a:t>SAVE</a:t>
            </a:r>
          </a:p>
        </p:txBody>
      </p:sp>
    </p:spTree>
    <p:extLst>
      <p:ext uri="{BB962C8B-B14F-4D97-AF65-F5344CB8AC3E}">
        <p14:creationId xmlns:p14="http://schemas.microsoft.com/office/powerpoint/2010/main" val="1484521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up)">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up)">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up)">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8EC0AF7-6877-9753-01D6-9EF892F1BBF9}"/>
              </a:ext>
            </a:extLst>
          </p:cNvPr>
          <p:cNvSpPr>
            <a:spLocks noGrp="1"/>
          </p:cNvSpPr>
          <p:nvPr>
            <p:ph type="sldNum" sz="quarter" idx="12"/>
          </p:nvPr>
        </p:nvSpPr>
        <p:spPr/>
        <p:txBody>
          <a:bodyPr/>
          <a:lstStyle/>
          <a:p>
            <a:fld id="{CBABCCC1-BF11-4F37-963E-1BCD5B23FD72}" type="slidenum">
              <a:rPr lang="en-IN" smtClean="0"/>
              <a:t>50</a:t>
            </a:fld>
            <a:endParaRPr lang="en-IN"/>
          </a:p>
        </p:txBody>
      </p:sp>
      <p:sp>
        <p:nvSpPr>
          <p:cNvPr id="3" name="Rounded Rectangle 17">
            <a:extLst>
              <a:ext uri="{FF2B5EF4-FFF2-40B4-BE49-F238E27FC236}">
                <a16:creationId xmlns:a16="http://schemas.microsoft.com/office/drawing/2014/main" id="{6F407D1A-277D-BEC5-3C92-F1FCE77718C6}"/>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TERMINAL QUESTIONS</a:t>
            </a:r>
          </a:p>
        </p:txBody>
      </p:sp>
      <p:sp>
        <p:nvSpPr>
          <p:cNvPr id="4" name="TextBox 3">
            <a:extLst>
              <a:ext uri="{FF2B5EF4-FFF2-40B4-BE49-F238E27FC236}">
                <a16:creationId xmlns:a16="http://schemas.microsoft.com/office/drawing/2014/main" id="{3188CD54-DEB8-6656-4E9A-F74710ED9E31}"/>
              </a:ext>
            </a:extLst>
          </p:cNvPr>
          <p:cNvSpPr txBox="1"/>
          <p:nvPr/>
        </p:nvSpPr>
        <p:spPr>
          <a:xfrm>
            <a:off x="900332" y="1167618"/>
            <a:ext cx="9608234" cy="2934458"/>
          </a:xfrm>
          <a:prstGeom prst="rect">
            <a:avLst/>
          </a:prstGeom>
          <a:noFill/>
        </p:spPr>
        <p:txBody>
          <a:bodyPr wrap="square" rtlCol="0">
            <a:spAutoFit/>
          </a:bodyPr>
          <a:lstStyle/>
          <a:p>
            <a:pPr>
              <a:lnSpc>
                <a:spcPct val="200000"/>
              </a:lnSpc>
            </a:pPr>
            <a:r>
              <a:rPr lang="en-US" sz="2400" dirty="0">
                <a:latin typeface="Times New Roman" panose="02020603050405020304" pitchFamily="18" charset="0"/>
                <a:cs typeface="Times New Roman" panose="02020603050405020304" pitchFamily="18" charset="0"/>
              </a:rPr>
              <a:t>1. Describe various types of SQL Languages. </a:t>
            </a:r>
          </a:p>
          <a:p>
            <a:pPr>
              <a:lnSpc>
                <a:spcPct val="200000"/>
              </a:lnSpc>
            </a:pPr>
            <a:r>
              <a:rPr lang="en-US" sz="2400" dirty="0">
                <a:latin typeface="Times New Roman" panose="02020603050405020304" pitchFamily="18" charset="0"/>
                <a:cs typeface="Times New Roman" panose="02020603050405020304" pitchFamily="18" charset="0"/>
              </a:rPr>
              <a:t>2. List out the commands of Data Definition Language with examples.</a:t>
            </a:r>
          </a:p>
          <a:p>
            <a:pPr marL="342900" indent="-342900">
              <a:lnSpc>
                <a:spcPct val="200000"/>
              </a:lnSpc>
            </a:pPr>
            <a:r>
              <a:rPr lang="en-US" sz="2400" dirty="0">
                <a:latin typeface="Times New Roman" panose="02020603050405020304" pitchFamily="18" charset="0"/>
                <a:cs typeface="Times New Roman" panose="02020603050405020304" pitchFamily="18" charset="0"/>
              </a:rPr>
              <a:t>3. Analyze the DDL commands in PostgreSQL.</a:t>
            </a:r>
          </a:p>
          <a:p>
            <a:pPr marL="342900" indent="-342900">
              <a:lnSpc>
                <a:spcPct val="200000"/>
              </a:lnSpc>
            </a:pPr>
            <a:r>
              <a:rPr lang="en-US" sz="2400" dirty="0">
                <a:latin typeface="Times New Roman" panose="02020603050405020304" pitchFamily="18" charset="0"/>
                <a:cs typeface="Times New Roman" panose="02020603050405020304" pitchFamily="18" charset="0"/>
              </a:rPr>
              <a:t>4. Summarize the create table command with its syntax and examples.</a:t>
            </a:r>
          </a:p>
        </p:txBody>
      </p:sp>
    </p:spTree>
    <p:extLst>
      <p:ext uri="{BB962C8B-B14F-4D97-AF65-F5344CB8AC3E}">
        <p14:creationId xmlns:p14="http://schemas.microsoft.com/office/powerpoint/2010/main" val="1171596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4026CC6-7478-9E89-6BE6-B728D6E94EFF}"/>
              </a:ext>
            </a:extLst>
          </p:cNvPr>
          <p:cNvSpPr>
            <a:spLocks noGrp="1"/>
          </p:cNvSpPr>
          <p:nvPr>
            <p:ph type="sldNum" sz="quarter" idx="12"/>
          </p:nvPr>
        </p:nvSpPr>
        <p:spPr/>
        <p:txBody>
          <a:bodyPr/>
          <a:lstStyle/>
          <a:p>
            <a:fld id="{CBABCCC1-BF11-4F37-963E-1BCD5B23FD72}" type="slidenum">
              <a:rPr lang="en-IN" smtClean="0"/>
              <a:t>51</a:t>
            </a:fld>
            <a:endParaRPr lang="en-IN"/>
          </a:p>
        </p:txBody>
      </p:sp>
      <p:sp>
        <p:nvSpPr>
          <p:cNvPr id="3" name="Rounded Rectangle 17">
            <a:extLst>
              <a:ext uri="{FF2B5EF4-FFF2-40B4-BE49-F238E27FC236}">
                <a16:creationId xmlns:a16="http://schemas.microsoft.com/office/drawing/2014/main" id="{8F9C83E5-F787-0CCC-144D-BD4A3D244BCD}"/>
              </a:ext>
            </a:extLst>
          </p:cNvPr>
          <p:cNvSpPr/>
          <p:nvPr/>
        </p:nvSpPr>
        <p:spPr>
          <a:xfrm>
            <a:off x="2161309" y="93891"/>
            <a:ext cx="805448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REFERENCES FOR FURTHER LEARNING OF THE SESSION</a:t>
            </a:r>
            <a:endParaRPr lang="en-US" sz="2400" dirty="0">
              <a:solidFill>
                <a:schemeClr val="bg1"/>
              </a:solidFill>
              <a:latin typeface="Poppins" panose="00000500000000000000" pitchFamily="2" charset="0"/>
              <a:cs typeface="Poppins" panose="00000500000000000000" pitchFamily="2" charset="0"/>
            </a:endParaRPr>
          </a:p>
        </p:txBody>
      </p:sp>
      <p:sp>
        <p:nvSpPr>
          <p:cNvPr id="4" name="TextBox 3">
            <a:extLst>
              <a:ext uri="{FF2B5EF4-FFF2-40B4-BE49-F238E27FC236}">
                <a16:creationId xmlns:a16="http://schemas.microsoft.com/office/drawing/2014/main" id="{246827C0-F491-3A1A-7614-54F3C2E55096}"/>
              </a:ext>
            </a:extLst>
          </p:cNvPr>
          <p:cNvSpPr txBox="1"/>
          <p:nvPr/>
        </p:nvSpPr>
        <p:spPr>
          <a:xfrm>
            <a:off x="900332" y="1167618"/>
            <a:ext cx="9608234" cy="4619854"/>
          </a:xfrm>
          <a:prstGeom prst="rect">
            <a:avLst/>
          </a:prstGeom>
          <a:noFill/>
        </p:spPr>
        <p:txBody>
          <a:bodyPr wrap="square" rtlCol="0">
            <a:spAutoFit/>
          </a:bodyPr>
          <a:lstStyle/>
          <a:p>
            <a:pPr algn="just">
              <a:lnSpc>
                <a:spcPct val="150000"/>
              </a:lnSpc>
            </a:pPr>
            <a:r>
              <a:rPr lang="en-US" b="1" dirty="0">
                <a:latin typeface="Times New Roman" panose="02020603050405020304" pitchFamily="18" charset="0"/>
                <a:cs typeface="Times New Roman" panose="02020603050405020304" pitchFamily="18" charset="0"/>
              </a:rPr>
              <a:t>Reference Books:</a:t>
            </a:r>
            <a:endParaRPr lang="en-US"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1. </a:t>
            </a:r>
            <a:r>
              <a:rPr lang="en-IN" sz="1800" kern="0"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Database System Concepts, Sixth Edition, Abraham </a:t>
            </a:r>
            <a:r>
              <a:rPr lang="en-IN" sz="1800" kern="0" dirty="0" err="1">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Silberschatz</a:t>
            </a:r>
            <a:r>
              <a:rPr lang="en-IN" sz="1800" kern="0"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 Yale University Henry, F. </a:t>
            </a:r>
            <a:r>
              <a:rPr lang="en-IN" sz="1800" kern="0" dirty="0" err="1">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Korth</a:t>
            </a:r>
            <a:r>
              <a:rPr lang="en-IN" sz="1800" kern="0"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 Lehigh University, S. Sudarshan Indian Institute of Technology, Bombay. </a:t>
            </a:r>
            <a:endParaRPr lang="en-US" sz="1800" dirty="0">
              <a:latin typeface="Times New Roman" panose="02020603050405020304" pitchFamily="18" charset="0"/>
              <a:cs typeface="Times New Roman" panose="02020603050405020304" pitchFamily="18" charset="0"/>
            </a:endParaRPr>
          </a:p>
          <a:p>
            <a:pPr algn="just">
              <a:lnSpc>
                <a:spcPct val="150000"/>
              </a:lnSpc>
            </a:pPr>
            <a:r>
              <a:rPr lang="en-US" sz="1800" dirty="0">
                <a:latin typeface="Times New Roman" panose="02020603050405020304" pitchFamily="18" charset="0"/>
                <a:cs typeface="Times New Roman" panose="02020603050405020304" pitchFamily="18" charset="0"/>
              </a:rPr>
              <a:t>2. An Introduction to Database Systems by Bipin C. Desai</a:t>
            </a:r>
          </a:p>
          <a:p>
            <a:pPr algn="just">
              <a:lnSpc>
                <a:spcPct val="150000"/>
              </a:lnSpc>
            </a:pPr>
            <a:r>
              <a:rPr lang="en-US" dirty="0">
                <a:latin typeface="Times New Roman" panose="02020603050405020304" pitchFamily="18" charset="0"/>
                <a:cs typeface="Times New Roman" panose="02020603050405020304" pitchFamily="18" charset="0"/>
              </a:rPr>
              <a:t>3. </a:t>
            </a:r>
            <a:r>
              <a:rPr lang="en-US" sz="1800" dirty="0">
                <a:latin typeface="Times New Roman" panose="02020603050405020304" pitchFamily="18" charset="0"/>
                <a:cs typeface="Times New Roman" panose="02020603050405020304" pitchFamily="18" charset="0"/>
              </a:rPr>
              <a:t>Fundamentals of Database Systems, 7</a:t>
            </a:r>
            <a:r>
              <a:rPr lang="en-US" sz="1800" baseline="30000" dirty="0">
                <a:latin typeface="Times New Roman" panose="02020603050405020304" pitchFamily="18" charset="0"/>
                <a:cs typeface="Times New Roman" panose="02020603050405020304" pitchFamily="18" charset="0"/>
              </a:rPr>
              <a:t>th</a:t>
            </a:r>
            <a:r>
              <a:rPr lang="en-US" sz="1800" dirty="0">
                <a:latin typeface="Times New Roman" panose="02020603050405020304" pitchFamily="18" charset="0"/>
                <a:cs typeface="Times New Roman" panose="02020603050405020304" pitchFamily="18" charset="0"/>
              </a:rPr>
              <a:t> Edition, </a:t>
            </a:r>
            <a:r>
              <a:rPr lang="en-US" sz="1800" dirty="0" err="1">
                <a:latin typeface="Times New Roman" panose="02020603050405020304" pitchFamily="18" charset="0"/>
                <a:cs typeface="Times New Roman" panose="02020603050405020304" pitchFamily="18" charset="0"/>
              </a:rPr>
              <a:t>RamezElmasri</a:t>
            </a:r>
            <a:r>
              <a:rPr lang="en-US" sz="1800" dirty="0">
                <a:latin typeface="Times New Roman" panose="02020603050405020304" pitchFamily="18" charset="0"/>
                <a:cs typeface="Times New Roman" panose="02020603050405020304" pitchFamily="18" charset="0"/>
              </a:rPr>
              <a:t>, University of Texas at Arlington, Shamkant B. Navathe, University of </a:t>
            </a:r>
            <a:r>
              <a:rPr lang="en-US" sz="1800" dirty="0" err="1">
                <a:latin typeface="Times New Roman" panose="02020603050405020304" pitchFamily="18" charset="0"/>
                <a:cs typeface="Times New Roman" panose="02020603050405020304" pitchFamily="18" charset="0"/>
              </a:rPr>
              <a:t>Texasat</a:t>
            </a:r>
            <a:r>
              <a:rPr lang="en-US" sz="1800" dirty="0">
                <a:latin typeface="Times New Roman" panose="02020603050405020304" pitchFamily="18" charset="0"/>
                <a:cs typeface="Times New Roman" panose="02020603050405020304" pitchFamily="18" charset="0"/>
              </a:rPr>
              <a:t> Arlington.</a:t>
            </a:r>
            <a:endParaRPr lang="en-US" dirty="0">
              <a:latin typeface="Times New Roman" panose="02020603050405020304" pitchFamily="18" charset="0"/>
              <a:cs typeface="Times New Roman" panose="02020603050405020304" pitchFamily="18" charset="0"/>
            </a:endParaRP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r>
              <a:rPr lang="en-US" b="1" dirty="0">
                <a:latin typeface="Times New Roman" panose="02020603050405020304" pitchFamily="18" charset="0"/>
                <a:cs typeface="Times New Roman" panose="02020603050405020304" pitchFamily="18" charset="0"/>
              </a:rPr>
              <a:t>Sites and Web links:</a:t>
            </a:r>
          </a:p>
          <a:p>
            <a:pPr algn="just">
              <a:lnSpc>
                <a:spcPct val="150000"/>
              </a:lnSpc>
            </a:pPr>
            <a:r>
              <a:rPr lang="en-US" dirty="0">
                <a:latin typeface="Times New Roman" panose="02020603050405020304" pitchFamily="18" charset="0"/>
                <a:cs typeface="Times New Roman" panose="02020603050405020304" pitchFamily="18" charset="0"/>
              </a:rPr>
              <a:t>1. https://www.geeksforgeeks.org/postgresql-create-table/</a:t>
            </a:r>
          </a:p>
          <a:p>
            <a:pPr algn="just">
              <a:lnSpc>
                <a:spcPct val="150000"/>
              </a:lnSpc>
            </a:pPr>
            <a:r>
              <a:rPr lang="en-US" dirty="0">
                <a:latin typeface="Times New Roman" panose="02020603050405020304" pitchFamily="18" charset="0"/>
                <a:cs typeface="Times New Roman" panose="02020603050405020304" pitchFamily="18" charset="0"/>
              </a:rPr>
              <a:t>2. https://www.tutorialsteacher.com/postgresql</a:t>
            </a:r>
          </a:p>
          <a:p>
            <a:pPr>
              <a:lnSpc>
                <a:spcPct val="150000"/>
              </a:lnSpc>
            </a:pPr>
            <a:endParaRPr lang="en-US" dirty="0"/>
          </a:p>
        </p:txBody>
      </p:sp>
    </p:spTree>
    <p:extLst>
      <p:ext uri="{BB962C8B-B14F-4D97-AF65-F5344CB8AC3E}">
        <p14:creationId xmlns:p14="http://schemas.microsoft.com/office/powerpoint/2010/main" val="797015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E5BE047-7C01-4AFA-1218-34A60E70E97E}"/>
              </a:ext>
            </a:extLst>
          </p:cNvPr>
          <p:cNvSpPr>
            <a:spLocks noGrp="1"/>
          </p:cNvSpPr>
          <p:nvPr>
            <p:ph type="sldNum" sz="quarter" idx="12"/>
          </p:nvPr>
        </p:nvSpPr>
        <p:spPr/>
        <p:txBody>
          <a:bodyPr/>
          <a:lstStyle/>
          <a:p>
            <a:fld id="{CBABCCC1-BF11-4F37-963E-1BCD5B23FD72}" type="slidenum">
              <a:rPr lang="en-IN" smtClean="0"/>
              <a:t>52</a:t>
            </a:fld>
            <a:endParaRPr lang="en-IN"/>
          </a:p>
        </p:txBody>
      </p:sp>
      <p:sp>
        <p:nvSpPr>
          <p:cNvPr id="3" name="Rounded Rectangle 3">
            <a:extLst>
              <a:ext uri="{FF2B5EF4-FFF2-40B4-BE49-F238E27FC236}">
                <a16:creationId xmlns:a16="http://schemas.microsoft.com/office/drawing/2014/main" id="{EF1EFE63-753F-6976-B811-CEFD71647603}"/>
              </a:ext>
            </a:extLst>
          </p:cNvPr>
          <p:cNvSpPr/>
          <p:nvPr/>
        </p:nvSpPr>
        <p:spPr>
          <a:xfrm>
            <a:off x="2602523" y="1856934"/>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2400" b="1" dirty="0">
                <a:latin typeface="Poppins" pitchFamily="2" charset="77"/>
                <a:cs typeface="Poppins" pitchFamily="2" charset="77"/>
              </a:rPr>
              <a:t>Team – DBMS</a:t>
            </a: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4" name="Picture 2" descr="KL Deemed to be University Logo">
            <a:extLst>
              <a:ext uri="{FF2B5EF4-FFF2-40B4-BE49-F238E27FC236}">
                <a16:creationId xmlns:a16="http://schemas.microsoft.com/office/drawing/2014/main" id="{15F033DB-55F5-0B4E-8363-523BC9120F35}"/>
              </a:ext>
            </a:extLst>
          </p:cNvPr>
          <p:cNvPicPr>
            <a:picLocks noChangeAspect="1" noChangeArrowheads="1"/>
          </p:cNvPicPr>
          <p:nvPr/>
        </p:nvPicPr>
        <p:blipFill>
          <a:blip r:embed="rId2"/>
          <a:srcRect/>
          <a:stretch>
            <a:fillRect/>
          </a:stretch>
        </p:blipFill>
        <p:spPr bwMode="auto">
          <a:xfrm>
            <a:off x="5507039" y="2545331"/>
            <a:ext cx="3235570" cy="1083212"/>
          </a:xfrm>
          <a:prstGeom prst="rect">
            <a:avLst/>
          </a:prstGeom>
          <a:noFill/>
        </p:spPr>
      </p:pic>
    </p:spTree>
    <p:extLst>
      <p:ext uri="{BB962C8B-B14F-4D97-AF65-F5344CB8AC3E}">
        <p14:creationId xmlns:p14="http://schemas.microsoft.com/office/powerpoint/2010/main" val="4149161455"/>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Presentation1" id="{24598BE9-BD78-4C1A-902E-0BA786164A9D}" vid="{1551CBD6-114D-4A17-981D-82FBB9D549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DBMS CO2_Session-7_Final</Template>
  <TotalTime>455</TotalTime>
  <Words>3995</Words>
  <Application>Microsoft Office PowerPoint</Application>
  <PresentationFormat>Widescreen</PresentationFormat>
  <Paragraphs>357</Paragraphs>
  <Slides>52</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52</vt:i4>
      </vt:variant>
    </vt:vector>
  </HeadingPairs>
  <TitlesOfParts>
    <vt:vector size="61" baseType="lpstr">
      <vt:lpstr>Arial</vt:lpstr>
      <vt:lpstr>BioRhyme ExtraBold</vt:lpstr>
      <vt:lpstr>Calibri</vt:lpstr>
      <vt:lpstr>Courier New</vt:lpstr>
      <vt:lpstr>Gill Sans MT</vt:lpstr>
      <vt:lpstr>Poppins</vt:lpstr>
      <vt:lpstr>Segoe UI</vt:lpstr>
      <vt:lpstr>Times New Roman</vt:lpstr>
      <vt:lpstr>Gallery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NAME: DBMS COURSE CODE:22CS2110 RA    Topic:</dc:title>
  <dc:creator>Veeraswamy</dc:creator>
  <cp:lastModifiedBy>VEERASWAMY AMMISETTY</cp:lastModifiedBy>
  <cp:revision>42</cp:revision>
  <dcterms:created xsi:type="dcterms:W3CDTF">2023-05-06T06:03:48Z</dcterms:created>
  <dcterms:modified xsi:type="dcterms:W3CDTF">2025-06-08T14:52:39Z</dcterms:modified>
</cp:coreProperties>
</file>