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sldIdLst>
    <p:sldId id="344" r:id="rId5"/>
    <p:sldId id="300" r:id="rId6"/>
    <p:sldId id="322" r:id="rId7"/>
    <p:sldId id="329" r:id="rId8"/>
    <p:sldId id="330" r:id="rId9"/>
    <p:sldId id="331" r:id="rId10"/>
    <p:sldId id="332" r:id="rId11"/>
    <p:sldId id="333" r:id="rId12"/>
    <p:sldId id="334" r:id="rId13"/>
    <p:sldId id="335" r:id="rId14"/>
    <p:sldId id="336" r:id="rId15"/>
    <p:sldId id="337" r:id="rId16"/>
    <p:sldId id="338" r:id="rId17"/>
    <p:sldId id="307" r:id="rId18"/>
    <p:sldId id="339" r:id="rId19"/>
    <p:sldId id="340" r:id="rId20"/>
    <p:sldId id="341" r:id="rId21"/>
    <p:sldId id="342" r:id="rId22"/>
    <p:sldId id="299" r:id="rId23"/>
    <p:sldId id="285" r:id="rId24"/>
    <p:sldId id="287" r:id="rId25"/>
    <p:sldId id="301" r:id="rId26"/>
    <p:sldId id="326" r:id="rId27"/>
    <p:sldId id="327" r:id="rId28"/>
    <p:sldId id="343" r:id="rId29"/>
    <p:sldId id="302" r:id="rId30"/>
    <p:sldId id="303" r:id="rId31"/>
    <p:sldId id="30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845"/>
    <a:srgbClr val="FF9900"/>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89"/>
  </p:normalViewPr>
  <p:slideViewPr>
    <p:cSldViewPr snapToGrid="0">
      <p:cViewPr varScale="1">
        <p:scale>
          <a:sx n="63" d="100"/>
          <a:sy n="63" d="100"/>
        </p:scale>
        <p:origin x="80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9375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456039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2205625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1082945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4156865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4242106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val="4126255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9</a:t>
            </a:fld>
            <a:endParaRPr lang="en-US"/>
          </a:p>
        </p:txBody>
      </p:sp>
    </p:spTree>
    <p:extLst>
      <p:ext uri="{BB962C8B-B14F-4D97-AF65-F5344CB8AC3E}">
        <p14:creationId xmlns:p14="http://schemas.microsoft.com/office/powerpoint/2010/main" val="2220370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val="1642912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11</a:t>
            </a:fld>
            <a:endParaRPr lang="en-US"/>
          </a:p>
        </p:txBody>
      </p:sp>
    </p:spTree>
    <p:extLst>
      <p:ext uri="{BB962C8B-B14F-4D97-AF65-F5344CB8AC3E}">
        <p14:creationId xmlns:p14="http://schemas.microsoft.com/office/powerpoint/2010/main" val="4106869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12</a:t>
            </a:fld>
            <a:endParaRPr lang="en-US"/>
          </a:p>
        </p:txBody>
      </p:sp>
    </p:spTree>
    <p:extLst>
      <p:ext uri="{BB962C8B-B14F-4D97-AF65-F5344CB8AC3E}">
        <p14:creationId xmlns:p14="http://schemas.microsoft.com/office/powerpoint/2010/main" val="3860462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13</a:t>
            </a:fld>
            <a:endParaRPr lang="en-US"/>
          </a:p>
        </p:txBody>
      </p:sp>
    </p:spTree>
    <p:extLst>
      <p:ext uri="{BB962C8B-B14F-4D97-AF65-F5344CB8AC3E}">
        <p14:creationId xmlns:p14="http://schemas.microsoft.com/office/powerpoint/2010/main" val="666313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14</a:t>
            </a:fld>
            <a:endParaRPr lang="en-US"/>
          </a:p>
        </p:txBody>
      </p:sp>
    </p:spTree>
    <p:extLst>
      <p:ext uri="{BB962C8B-B14F-4D97-AF65-F5344CB8AC3E}">
        <p14:creationId xmlns:p14="http://schemas.microsoft.com/office/powerpoint/2010/main" val="648172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15</a:t>
            </a:fld>
            <a:endParaRPr lang="en-US"/>
          </a:p>
        </p:txBody>
      </p:sp>
    </p:spTree>
    <p:extLst>
      <p:ext uri="{BB962C8B-B14F-4D97-AF65-F5344CB8AC3E}">
        <p14:creationId xmlns:p14="http://schemas.microsoft.com/office/powerpoint/2010/main" val="161921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16</a:t>
            </a:fld>
            <a:endParaRPr lang="en-US"/>
          </a:p>
        </p:txBody>
      </p:sp>
    </p:spTree>
    <p:extLst>
      <p:ext uri="{BB962C8B-B14F-4D97-AF65-F5344CB8AC3E}">
        <p14:creationId xmlns:p14="http://schemas.microsoft.com/office/powerpoint/2010/main" val="4136794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17</a:t>
            </a:fld>
            <a:endParaRPr lang="en-US"/>
          </a:p>
        </p:txBody>
      </p:sp>
    </p:spTree>
    <p:extLst>
      <p:ext uri="{BB962C8B-B14F-4D97-AF65-F5344CB8AC3E}">
        <p14:creationId xmlns:p14="http://schemas.microsoft.com/office/powerpoint/2010/main" val="3205015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18</a:t>
            </a:fld>
            <a:endParaRPr lang="en-US"/>
          </a:p>
        </p:txBody>
      </p:sp>
    </p:spTree>
    <p:extLst>
      <p:ext uri="{BB962C8B-B14F-4D97-AF65-F5344CB8AC3E}">
        <p14:creationId xmlns:p14="http://schemas.microsoft.com/office/powerpoint/2010/main" val="3773353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6" name="Google Shape;476;p16"/>
          <p:cNvSpPr txBox="1"/>
          <p:nvPr/>
        </p:nvSpPr>
        <p:spPr>
          <a:xfrm>
            <a:off x="2522425" y="1758239"/>
            <a:ext cx="6902548" cy="304694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DBMS</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CODE:24AD2103</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dirty="0">
                <a:solidFill>
                  <a:srgbClr val="C00000"/>
                </a:solidFill>
                <a:ea typeface="BioRhyme ExtraBold"/>
                <a:cs typeface="Poppins" panose="00000500000000000000" pitchFamily="2" charset="0"/>
                <a:sym typeface="BioRhyme ExtraBold"/>
              </a:rPr>
              <a:t>Topic:</a:t>
            </a:r>
            <a:r>
              <a:rPr lang="en-US" sz="2000" b="1" dirty="0">
                <a:solidFill>
                  <a:schemeClr val="bg1">
                    <a:lumMod val="50000"/>
                  </a:schemeClr>
                </a:solidFill>
                <a:ea typeface="BioRhyme ExtraBold"/>
                <a:cs typeface="Poppins" panose="00000500000000000000" pitchFamily="2" charset="0"/>
                <a:sym typeface="BioRhyme ExtraBold"/>
              </a:rPr>
              <a:t>  </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rgbClr val="00B050"/>
                </a:solidFill>
                <a:ea typeface="BioRhyme ExtraBold"/>
                <a:cs typeface="Poppins" panose="00000500000000000000" pitchFamily="2" charset="0"/>
                <a:sym typeface="BioRhyme ExtraBold"/>
              </a:rPr>
              <a:t>Joining Relations, Views, Compound Statements and User Defined Functions</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3718256" y="414798"/>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3675975" y="341420"/>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4978441" y="539198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- 10</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4" y="81945"/>
            <a:ext cx="2468982" cy="1061599"/>
          </a:xfrm>
          <a:prstGeom prst="rect">
            <a:avLst/>
          </a:prstGeom>
          <a:noFill/>
        </p:spPr>
      </p:pic>
    </p:spTree>
    <p:extLst>
      <p:ext uri="{BB962C8B-B14F-4D97-AF65-F5344CB8AC3E}">
        <p14:creationId xmlns:p14="http://schemas.microsoft.com/office/powerpoint/2010/main" val="3138112518"/>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36870" y="740158"/>
            <a:ext cx="10731286" cy="1200329"/>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how to join the relations in </a:t>
            </a:r>
            <a:r>
              <a:rPr lang="en-US" sz="1600" b="0" i="0" dirty="0" err="1">
                <a:effectLst/>
                <a:latin typeface="Poppins"/>
                <a:cs typeface="Poppins"/>
              </a:rPr>
              <a:t>PostgresQL</a:t>
            </a:r>
            <a:endParaRPr lang="en-US" sz="1600" b="0" i="0" dirty="0">
              <a:effectLst/>
              <a:latin typeface="Poppins"/>
              <a:cs typeface="Poppins"/>
            </a:endParaRPr>
          </a:p>
          <a:p>
            <a:pPr>
              <a:lnSpc>
                <a:spcPct val="150000"/>
              </a:lnSpc>
            </a:pPr>
            <a:r>
              <a:rPr lang="en-US" sz="1600" dirty="0">
                <a:latin typeface="Poppins"/>
                <a:cs typeface="Poppins"/>
              </a:rPr>
              <a:t>To aware the students to define views and compound statements</a:t>
            </a:r>
          </a:p>
          <a:p>
            <a:pPr>
              <a:lnSpc>
                <a:spcPct val="150000"/>
              </a:lnSpc>
            </a:pPr>
            <a:r>
              <a:rPr lang="en-US" sz="1600" b="0" i="0" dirty="0">
                <a:effectLst/>
                <a:latin typeface="Poppins"/>
                <a:cs typeface="Poppins"/>
              </a:rPr>
              <a:t>To grasp the students the concept of user defined statements in </a:t>
            </a:r>
            <a:r>
              <a:rPr lang="en-US" sz="1600" b="0" i="0" dirty="0" err="1">
                <a:effectLst/>
                <a:latin typeface="Poppins"/>
                <a:cs typeface="Poppins"/>
              </a:rPr>
              <a:t>PostgresQL</a:t>
            </a:r>
            <a:r>
              <a:rPr lang="en-US" sz="1600" b="0" i="0" dirty="0">
                <a:effectLst/>
                <a:latin typeface="Poppins"/>
                <a:cs typeface="Poppins"/>
              </a:rPr>
              <a:t> </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212970" y="229352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136870" y="2827996"/>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get the enough knowledge to join the relations and user defined functions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62" y="852170"/>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962" y="2863623"/>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962" y="473039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136869" y="4843819"/>
            <a:ext cx="8791575"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r>
              <a:rPr lang="en-US" sz="1600" dirty="0">
                <a:latin typeface="Arial"/>
                <a:cs typeface="Arial"/>
              </a:rPr>
              <a:t> write the compound statements</a:t>
            </a:r>
            <a:endParaRPr lang="en-US" sz="1600" b="0" i="0" dirty="0">
              <a:effectLst/>
              <a:latin typeface="Arial"/>
              <a:cs typeface="Arial"/>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360609" y="938190"/>
            <a:ext cx="11603864" cy="6093976"/>
          </a:xfrm>
          <a:prstGeom prst="rect">
            <a:avLst/>
          </a:prstGeom>
        </p:spPr>
        <p:txBody>
          <a:bodyPr wrap="square">
            <a:spAutoFit/>
          </a:bodyPr>
          <a:lstStyle/>
          <a:p>
            <a:pPr algn="just">
              <a:lnSpc>
                <a:spcPct val="150000"/>
              </a:lnSpc>
            </a:pPr>
            <a:r>
              <a:rPr lang="en-IN" sz="2000" b="1" dirty="0">
                <a:solidFill>
                  <a:srgbClr val="FF0000"/>
                </a:solidFill>
              </a:rPr>
              <a:t>Why </a:t>
            </a:r>
            <a:r>
              <a:rPr lang="en-IN" sz="2000" b="1" dirty="0" err="1">
                <a:solidFill>
                  <a:srgbClr val="FF0000"/>
                </a:solidFill>
              </a:rPr>
              <a:t>PostgresQL</a:t>
            </a:r>
            <a:r>
              <a:rPr lang="en-IN" sz="2000" b="1" dirty="0">
                <a:solidFill>
                  <a:srgbClr val="FF0000"/>
                </a:solidFill>
              </a:rPr>
              <a:t> JOIN:</a:t>
            </a:r>
            <a:r>
              <a:rPr lang="en-IN" sz="2000" dirty="0"/>
              <a:t> </a:t>
            </a:r>
          </a:p>
          <a:p>
            <a:pPr marL="342900" indent="-342900" algn="just">
              <a:lnSpc>
                <a:spcPct val="150000"/>
              </a:lnSpc>
              <a:buFont typeface="Wingdings" panose="05000000000000000000" pitchFamily="2" charset="2"/>
              <a:buChar char="Ø"/>
            </a:pPr>
            <a:r>
              <a:rPr lang="en-IN" sz="2000" dirty="0"/>
              <a:t>As the name shows, JOIN means to combine something. In case of SQL, JOIN means "to combine two or more tables".</a:t>
            </a:r>
          </a:p>
          <a:p>
            <a:pPr marL="342900" indent="-342900" algn="just">
              <a:lnSpc>
                <a:spcPct val="150000"/>
              </a:lnSpc>
              <a:buFont typeface="Wingdings" panose="05000000000000000000" pitchFamily="2" charset="2"/>
              <a:buChar char="Ø"/>
            </a:pPr>
            <a:r>
              <a:rPr lang="en-IN" sz="2000" dirty="0"/>
              <a:t>The </a:t>
            </a:r>
            <a:r>
              <a:rPr lang="en-IN" sz="2000" dirty="0" err="1"/>
              <a:t>PostgresQL</a:t>
            </a:r>
            <a:r>
              <a:rPr lang="en-IN" sz="2000" dirty="0"/>
              <a:t> JOIN clause takes records from two or more tables in a database and combines it together.</a:t>
            </a:r>
          </a:p>
          <a:p>
            <a:pPr marL="342900" indent="-342900" algn="just">
              <a:lnSpc>
                <a:spcPct val="150000"/>
              </a:lnSpc>
              <a:buFont typeface="Wingdings" panose="05000000000000000000" pitchFamily="2" charset="2"/>
              <a:buChar char="Ø"/>
            </a:pPr>
            <a:r>
              <a:rPr lang="en-IN" sz="2000" dirty="0"/>
              <a:t>In the process of joining, rows of both tables are combined in a single table.</a:t>
            </a:r>
          </a:p>
          <a:p>
            <a:pPr marL="342900" indent="-342900" algn="just">
              <a:lnSpc>
                <a:spcPct val="150000"/>
              </a:lnSpc>
              <a:buFont typeface="Wingdings" panose="05000000000000000000" pitchFamily="2" charset="2"/>
              <a:buChar char="Ø"/>
            </a:pPr>
            <a:r>
              <a:rPr lang="en-US" sz="2000" dirty="0"/>
              <a:t>To access more than one table through a select statement.</a:t>
            </a:r>
            <a:endParaRPr lang="en-IN" sz="2000" dirty="0"/>
          </a:p>
          <a:p>
            <a:pPr algn="just">
              <a:lnSpc>
                <a:spcPct val="150000"/>
              </a:lnSpc>
            </a:pPr>
            <a:r>
              <a:rPr lang="en-IN" sz="2000" b="1" dirty="0">
                <a:solidFill>
                  <a:srgbClr val="FF0000"/>
                </a:solidFill>
              </a:rPr>
              <a:t>ANSI standard </a:t>
            </a:r>
            <a:r>
              <a:rPr lang="en-IN" sz="2000" b="1" dirty="0" err="1">
                <a:solidFill>
                  <a:srgbClr val="FF0000"/>
                </a:solidFill>
              </a:rPr>
              <a:t>PostgresQL</a:t>
            </a:r>
            <a:r>
              <a:rPr lang="en-IN" sz="2000" b="1" dirty="0">
                <a:solidFill>
                  <a:srgbClr val="FF0000"/>
                </a:solidFill>
              </a:rPr>
              <a:t> defines five types of JOIN :</a:t>
            </a:r>
          </a:p>
          <a:p>
            <a:pPr lvl="6" algn="just">
              <a:lnSpc>
                <a:spcPct val="150000"/>
              </a:lnSpc>
            </a:pPr>
            <a:r>
              <a:rPr lang="en-IN" sz="2000" dirty="0"/>
              <a:t>1) Inner Join</a:t>
            </a:r>
          </a:p>
          <a:p>
            <a:pPr lvl="6" algn="just">
              <a:lnSpc>
                <a:spcPct val="150000"/>
              </a:lnSpc>
            </a:pPr>
            <a:r>
              <a:rPr lang="en-IN" sz="2000" dirty="0"/>
              <a:t>2) Left Outer Join</a:t>
            </a:r>
          </a:p>
          <a:p>
            <a:pPr lvl="6" algn="just">
              <a:lnSpc>
                <a:spcPct val="150000"/>
              </a:lnSpc>
            </a:pPr>
            <a:r>
              <a:rPr lang="en-IN" sz="2000" dirty="0"/>
              <a:t>3) Right Outer Join</a:t>
            </a:r>
          </a:p>
          <a:p>
            <a:pPr lvl="6" algn="just">
              <a:lnSpc>
                <a:spcPct val="150000"/>
              </a:lnSpc>
            </a:pPr>
            <a:r>
              <a:rPr lang="en-IN" sz="2000" dirty="0"/>
              <a:t>4) Full Outer Join</a:t>
            </a:r>
          </a:p>
          <a:p>
            <a:pPr lvl="6" algn="just">
              <a:lnSpc>
                <a:spcPct val="150000"/>
              </a:lnSpc>
            </a:pPr>
            <a:r>
              <a:rPr lang="en-IN" sz="2000" dirty="0"/>
              <a:t>5) Cross Join</a:t>
            </a:r>
          </a:p>
          <a:p>
            <a:pPr algn="just">
              <a:lnSpc>
                <a:spcPct val="150000"/>
              </a:lnSpc>
            </a:pPr>
            <a:endParaRPr lang="en-IN" sz="2000" dirty="0"/>
          </a:p>
        </p:txBody>
      </p:sp>
    </p:spTree>
    <p:extLst>
      <p:ext uri="{BB962C8B-B14F-4D97-AF65-F5344CB8AC3E}">
        <p14:creationId xmlns:p14="http://schemas.microsoft.com/office/powerpoint/2010/main" val="267409089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215703" y="686261"/>
            <a:ext cx="11658617" cy="2862322"/>
          </a:xfrm>
          <a:prstGeom prst="rect">
            <a:avLst/>
          </a:prstGeom>
        </p:spPr>
        <p:txBody>
          <a:bodyPr wrap="square">
            <a:spAutoFit/>
          </a:bodyPr>
          <a:lstStyle/>
          <a:p>
            <a:pPr algn="just">
              <a:lnSpc>
                <a:spcPct val="150000"/>
              </a:lnSpc>
            </a:pPr>
            <a:r>
              <a:rPr lang="en-IN" sz="2000" b="1" dirty="0">
                <a:solidFill>
                  <a:srgbClr val="FF0000"/>
                </a:solidFill>
              </a:rPr>
              <a:t>1) Inner Join:</a:t>
            </a:r>
            <a:r>
              <a:rPr lang="en-IN" sz="2000" dirty="0"/>
              <a:t> The INNER JOIN keyword selects records that have matching values in both tables.</a:t>
            </a:r>
          </a:p>
          <a:p>
            <a:pPr algn="just">
              <a:lnSpc>
                <a:spcPct val="150000"/>
              </a:lnSpc>
            </a:pPr>
            <a:r>
              <a:rPr lang="en-IN" sz="2000" dirty="0">
                <a:solidFill>
                  <a:srgbClr val="00B050"/>
                </a:solidFill>
              </a:rPr>
              <a:t>Syntax:</a:t>
            </a:r>
          </a:p>
          <a:p>
            <a:pPr lvl="4" algn="just">
              <a:lnSpc>
                <a:spcPct val="150000"/>
              </a:lnSpc>
            </a:pPr>
            <a:r>
              <a:rPr lang="en-IN" sz="2000" dirty="0"/>
              <a:t>SELECT </a:t>
            </a:r>
            <a:r>
              <a:rPr lang="en-IN" sz="2000" dirty="0" err="1"/>
              <a:t>column_name</a:t>
            </a:r>
            <a:r>
              <a:rPr lang="en-IN" sz="2000" dirty="0"/>
              <a:t>(s)</a:t>
            </a:r>
          </a:p>
          <a:p>
            <a:pPr lvl="4" algn="just">
              <a:lnSpc>
                <a:spcPct val="150000"/>
              </a:lnSpc>
            </a:pPr>
            <a:r>
              <a:rPr lang="en-IN" sz="2000" dirty="0"/>
              <a:t>FROM table1</a:t>
            </a:r>
          </a:p>
          <a:p>
            <a:pPr lvl="4" algn="just">
              <a:lnSpc>
                <a:spcPct val="150000"/>
              </a:lnSpc>
            </a:pPr>
            <a:r>
              <a:rPr lang="en-IN" sz="2000" dirty="0"/>
              <a:t>INNER JOIN table2</a:t>
            </a:r>
          </a:p>
          <a:p>
            <a:pPr lvl="4" algn="just">
              <a:lnSpc>
                <a:spcPct val="150000"/>
              </a:lnSpc>
            </a:pPr>
            <a:r>
              <a:rPr lang="en-IN" sz="2000" dirty="0"/>
              <a:t>ON table1.column_name = table2.column_name;</a:t>
            </a:r>
          </a:p>
        </p:txBody>
      </p:sp>
      <p:sp>
        <p:nvSpPr>
          <p:cNvPr id="5" name="Rectangle 4"/>
          <p:cNvSpPr/>
          <p:nvPr/>
        </p:nvSpPr>
        <p:spPr>
          <a:xfrm>
            <a:off x="215703" y="3672137"/>
            <a:ext cx="6096000" cy="1015663"/>
          </a:xfrm>
          <a:prstGeom prst="rect">
            <a:avLst/>
          </a:prstGeom>
        </p:spPr>
        <p:txBody>
          <a:bodyPr>
            <a:spAutoFit/>
          </a:bodyPr>
          <a:lstStyle/>
          <a:p>
            <a:pPr>
              <a:lnSpc>
                <a:spcPct val="150000"/>
              </a:lnSpc>
            </a:pPr>
            <a:r>
              <a:rPr lang="en-IN" sz="2000" dirty="0">
                <a:solidFill>
                  <a:srgbClr val="00B050"/>
                </a:solidFill>
              </a:rPr>
              <a:t>Example:</a:t>
            </a:r>
          </a:p>
          <a:p>
            <a:pPr>
              <a:lnSpc>
                <a:spcPct val="150000"/>
              </a:lnSpc>
            </a:pPr>
            <a:r>
              <a:rPr lang="en-IN" sz="2000" dirty="0">
                <a:solidFill>
                  <a:srgbClr val="00B050"/>
                </a:solidFill>
              </a:rPr>
              <a:t>1. Orders table</a:t>
            </a:r>
          </a:p>
        </p:txBody>
      </p:sp>
      <p:pic>
        <p:nvPicPr>
          <p:cNvPr id="7" name="Picture 6"/>
          <p:cNvPicPr>
            <a:picLocks noChangeAspect="1"/>
          </p:cNvPicPr>
          <p:nvPr/>
        </p:nvPicPr>
        <p:blipFill>
          <a:blip r:embed="rId4"/>
          <a:stretch>
            <a:fillRect/>
          </a:stretch>
        </p:blipFill>
        <p:spPr>
          <a:xfrm>
            <a:off x="1990725" y="4370465"/>
            <a:ext cx="9818176" cy="1906321"/>
          </a:xfrm>
          <a:prstGeom prst="rect">
            <a:avLst/>
          </a:prstGeom>
          <a:ln w="25400">
            <a:solidFill>
              <a:schemeClr val="accent1"/>
            </a:solidFill>
          </a:ln>
        </p:spPr>
      </p:pic>
      <p:pic>
        <p:nvPicPr>
          <p:cNvPr id="3" name="Picture 2"/>
          <p:cNvPicPr>
            <a:picLocks noChangeAspect="1"/>
          </p:cNvPicPr>
          <p:nvPr/>
        </p:nvPicPr>
        <p:blipFill>
          <a:blip r:embed="rId5"/>
          <a:stretch>
            <a:fillRect/>
          </a:stretch>
        </p:blipFill>
        <p:spPr>
          <a:xfrm>
            <a:off x="8495665" y="1384590"/>
            <a:ext cx="3313236" cy="2636711"/>
          </a:xfrm>
          <a:prstGeom prst="rect">
            <a:avLst/>
          </a:prstGeom>
          <a:ln w="25400">
            <a:solidFill>
              <a:srgbClr val="FF0000"/>
            </a:solidFill>
          </a:ln>
        </p:spPr>
      </p:pic>
    </p:spTree>
    <p:extLst>
      <p:ext uri="{BB962C8B-B14F-4D97-AF65-F5344CB8AC3E}">
        <p14:creationId xmlns:p14="http://schemas.microsoft.com/office/powerpoint/2010/main" val="249213916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ectangle 4"/>
          <p:cNvSpPr/>
          <p:nvPr/>
        </p:nvSpPr>
        <p:spPr>
          <a:xfrm>
            <a:off x="215704" y="600076"/>
            <a:ext cx="6096000" cy="506292"/>
          </a:xfrm>
          <a:prstGeom prst="rect">
            <a:avLst/>
          </a:prstGeom>
        </p:spPr>
        <p:txBody>
          <a:bodyPr>
            <a:spAutoFit/>
          </a:bodyPr>
          <a:lstStyle/>
          <a:p>
            <a:pPr>
              <a:lnSpc>
                <a:spcPct val="150000"/>
              </a:lnSpc>
            </a:pPr>
            <a:r>
              <a:rPr lang="en-IN" sz="2000" dirty="0">
                <a:solidFill>
                  <a:srgbClr val="00B050"/>
                </a:solidFill>
              </a:rPr>
              <a:t>2. Customers table</a:t>
            </a:r>
          </a:p>
        </p:txBody>
      </p:sp>
      <p:pic>
        <p:nvPicPr>
          <p:cNvPr id="7" name="Picture 6"/>
          <p:cNvPicPr>
            <a:picLocks noChangeAspect="1"/>
          </p:cNvPicPr>
          <p:nvPr/>
        </p:nvPicPr>
        <p:blipFill>
          <a:blip r:embed="rId4"/>
          <a:stretch>
            <a:fillRect/>
          </a:stretch>
        </p:blipFill>
        <p:spPr>
          <a:xfrm>
            <a:off x="2436420" y="743316"/>
            <a:ext cx="9380442" cy="2609925"/>
          </a:xfrm>
          <a:prstGeom prst="rect">
            <a:avLst/>
          </a:prstGeom>
          <a:ln w="25400">
            <a:solidFill>
              <a:schemeClr val="accent1"/>
            </a:solidFill>
          </a:ln>
        </p:spPr>
      </p:pic>
      <p:sp>
        <p:nvSpPr>
          <p:cNvPr id="8" name="Rectangle 7"/>
          <p:cNvSpPr/>
          <p:nvPr/>
        </p:nvSpPr>
        <p:spPr>
          <a:xfrm>
            <a:off x="347003" y="3496481"/>
            <a:ext cx="9008012" cy="1938992"/>
          </a:xfrm>
          <a:prstGeom prst="rect">
            <a:avLst/>
          </a:prstGeom>
        </p:spPr>
        <p:txBody>
          <a:bodyPr wrap="square">
            <a:spAutoFit/>
          </a:bodyPr>
          <a:lstStyle/>
          <a:p>
            <a:pPr algn="just">
              <a:lnSpc>
                <a:spcPct val="150000"/>
              </a:lnSpc>
            </a:pPr>
            <a:r>
              <a:rPr lang="en-IN" sz="2000" dirty="0">
                <a:solidFill>
                  <a:srgbClr val="00B050"/>
                </a:solidFill>
              </a:rPr>
              <a:t>Query:</a:t>
            </a:r>
          </a:p>
          <a:p>
            <a:pPr algn="just">
              <a:lnSpc>
                <a:spcPct val="150000"/>
              </a:lnSpc>
            </a:pPr>
            <a:r>
              <a:rPr lang="en-IN" sz="2000" dirty="0"/>
              <a:t>SELECT </a:t>
            </a:r>
            <a:r>
              <a:rPr lang="en-IN" sz="2000" dirty="0" err="1"/>
              <a:t>Orders.OrderID</a:t>
            </a:r>
            <a:r>
              <a:rPr lang="en-IN" sz="2000" dirty="0"/>
              <a:t>, </a:t>
            </a:r>
            <a:r>
              <a:rPr lang="en-IN" sz="2000" dirty="0" err="1"/>
              <a:t>Customers.CustomerName</a:t>
            </a:r>
            <a:endParaRPr lang="en-IN" sz="2000" dirty="0"/>
          </a:p>
          <a:p>
            <a:pPr algn="just">
              <a:lnSpc>
                <a:spcPct val="150000"/>
              </a:lnSpc>
            </a:pPr>
            <a:r>
              <a:rPr lang="en-IN" sz="2000" dirty="0"/>
              <a:t>FROM Orders</a:t>
            </a:r>
          </a:p>
          <a:p>
            <a:pPr algn="just">
              <a:lnSpc>
                <a:spcPct val="150000"/>
              </a:lnSpc>
            </a:pPr>
            <a:r>
              <a:rPr lang="en-IN" sz="2000" dirty="0"/>
              <a:t>INNER JOIN Customers ON </a:t>
            </a:r>
            <a:r>
              <a:rPr lang="en-IN" sz="2000" dirty="0" err="1"/>
              <a:t>Orders.CustomerID</a:t>
            </a:r>
            <a:r>
              <a:rPr lang="en-IN" sz="2000" dirty="0"/>
              <a:t> = </a:t>
            </a:r>
            <a:r>
              <a:rPr lang="en-IN" sz="2000" dirty="0" err="1"/>
              <a:t>Customers.CustomerID</a:t>
            </a:r>
            <a:r>
              <a:rPr lang="en-IN" sz="2000" dirty="0"/>
              <a:t>;</a:t>
            </a:r>
          </a:p>
        </p:txBody>
      </p:sp>
      <p:sp>
        <p:nvSpPr>
          <p:cNvPr id="9" name="Rectangle 8"/>
          <p:cNvSpPr/>
          <p:nvPr/>
        </p:nvSpPr>
        <p:spPr>
          <a:xfrm>
            <a:off x="347003" y="5568949"/>
            <a:ext cx="7362092" cy="1015663"/>
          </a:xfrm>
          <a:prstGeom prst="rect">
            <a:avLst/>
          </a:prstGeom>
        </p:spPr>
        <p:txBody>
          <a:bodyPr wrap="square">
            <a:spAutoFit/>
          </a:bodyPr>
          <a:lstStyle/>
          <a:p>
            <a:pPr>
              <a:lnSpc>
                <a:spcPct val="150000"/>
              </a:lnSpc>
            </a:pPr>
            <a:r>
              <a:rPr lang="en-IN" sz="2000" dirty="0">
                <a:solidFill>
                  <a:srgbClr val="00B050"/>
                </a:solidFill>
              </a:rPr>
              <a:t>Note:</a:t>
            </a:r>
            <a:r>
              <a:rPr lang="en-IN" sz="2000" dirty="0"/>
              <a:t> Before running the query, insert the records into the tables. </a:t>
            </a:r>
          </a:p>
          <a:p>
            <a:pPr>
              <a:lnSpc>
                <a:spcPct val="150000"/>
              </a:lnSpc>
            </a:pPr>
            <a:endParaRPr lang="en-IN" sz="2000" dirty="0">
              <a:solidFill>
                <a:srgbClr val="00B050"/>
              </a:solidFill>
            </a:endParaRPr>
          </a:p>
        </p:txBody>
      </p:sp>
      <p:pic>
        <p:nvPicPr>
          <p:cNvPr id="10" name="Picture 9"/>
          <p:cNvPicPr>
            <a:picLocks noChangeAspect="1"/>
          </p:cNvPicPr>
          <p:nvPr/>
        </p:nvPicPr>
        <p:blipFill>
          <a:blip r:embed="rId5"/>
          <a:stretch>
            <a:fillRect/>
          </a:stretch>
        </p:blipFill>
        <p:spPr>
          <a:xfrm>
            <a:off x="7965098" y="4152857"/>
            <a:ext cx="4086225" cy="2565231"/>
          </a:xfrm>
          <a:prstGeom prst="rect">
            <a:avLst/>
          </a:prstGeom>
          <a:ln w="25400">
            <a:solidFill>
              <a:schemeClr val="accent1"/>
            </a:solidFill>
          </a:ln>
        </p:spPr>
      </p:pic>
      <p:sp>
        <p:nvSpPr>
          <p:cNvPr id="11" name="Rectangle 10"/>
          <p:cNvSpPr/>
          <p:nvPr/>
        </p:nvSpPr>
        <p:spPr>
          <a:xfrm>
            <a:off x="9444234" y="3640285"/>
            <a:ext cx="1000595" cy="400110"/>
          </a:xfrm>
          <a:prstGeom prst="rect">
            <a:avLst/>
          </a:prstGeom>
        </p:spPr>
        <p:txBody>
          <a:bodyPr wrap="none">
            <a:spAutoFit/>
          </a:bodyPr>
          <a:lstStyle/>
          <a:p>
            <a:r>
              <a:rPr lang="en-IN" sz="2000" dirty="0">
                <a:solidFill>
                  <a:srgbClr val="00B050"/>
                </a:solidFill>
              </a:rPr>
              <a:t>Output:</a:t>
            </a:r>
            <a:endParaRPr lang="en-IN" sz="2000" dirty="0"/>
          </a:p>
        </p:txBody>
      </p:sp>
    </p:spTree>
    <p:extLst>
      <p:ext uri="{BB962C8B-B14F-4D97-AF65-F5344CB8AC3E}">
        <p14:creationId xmlns:p14="http://schemas.microsoft.com/office/powerpoint/2010/main" val="65656027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215704" y="1254820"/>
            <a:ext cx="11587090" cy="3785652"/>
          </a:xfrm>
          <a:prstGeom prst="rect">
            <a:avLst/>
          </a:prstGeom>
        </p:spPr>
        <p:txBody>
          <a:bodyPr wrap="square">
            <a:spAutoFit/>
          </a:bodyPr>
          <a:lstStyle/>
          <a:p>
            <a:pPr algn="just">
              <a:lnSpc>
                <a:spcPct val="150000"/>
              </a:lnSpc>
            </a:pPr>
            <a:r>
              <a:rPr lang="en-IN" sz="2000" b="1" dirty="0">
                <a:solidFill>
                  <a:srgbClr val="FF0000"/>
                </a:solidFill>
              </a:rPr>
              <a:t>2) Left Outer Join:</a:t>
            </a:r>
            <a:r>
              <a:rPr lang="en-IN" sz="2000" dirty="0"/>
              <a:t> In some databases LEFT OUTER JOIN is called LEFT JOIN. The LEFT JOIN keyword returns all records from the left table (table1), and the matching records from the right table (table2). The result is 0 records from the right side, if there is no match.</a:t>
            </a:r>
          </a:p>
          <a:p>
            <a:pPr algn="just">
              <a:lnSpc>
                <a:spcPct val="150000"/>
              </a:lnSpc>
            </a:pPr>
            <a:r>
              <a:rPr lang="en-IN" sz="2000" dirty="0">
                <a:solidFill>
                  <a:srgbClr val="00B050"/>
                </a:solidFill>
              </a:rPr>
              <a:t>Syntax:</a:t>
            </a:r>
          </a:p>
          <a:p>
            <a:pPr lvl="4" algn="just">
              <a:lnSpc>
                <a:spcPct val="150000"/>
              </a:lnSpc>
            </a:pPr>
            <a:r>
              <a:rPr lang="en-IN" sz="2000" dirty="0"/>
              <a:t>SELECT </a:t>
            </a:r>
            <a:r>
              <a:rPr lang="en-IN" sz="2000" dirty="0" err="1"/>
              <a:t>column_name</a:t>
            </a:r>
            <a:r>
              <a:rPr lang="en-IN" sz="2000" dirty="0"/>
              <a:t>(s)</a:t>
            </a:r>
          </a:p>
          <a:p>
            <a:pPr lvl="4" algn="just">
              <a:lnSpc>
                <a:spcPct val="150000"/>
              </a:lnSpc>
            </a:pPr>
            <a:r>
              <a:rPr lang="en-IN" sz="2000" dirty="0"/>
              <a:t>FROM table1</a:t>
            </a:r>
          </a:p>
          <a:p>
            <a:pPr lvl="4" algn="just">
              <a:lnSpc>
                <a:spcPct val="150000"/>
              </a:lnSpc>
            </a:pPr>
            <a:r>
              <a:rPr lang="en-IN" sz="2000" dirty="0"/>
              <a:t>LEFT JOIN table2</a:t>
            </a:r>
          </a:p>
          <a:p>
            <a:pPr lvl="4" algn="just">
              <a:lnSpc>
                <a:spcPct val="150000"/>
              </a:lnSpc>
            </a:pPr>
            <a:r>
              <a:rPr lang="en-IN" sz="2000" dirty="0"/>
              <a:t>ON table1.column_name = table2.column_name;</a:t>
            </a:r>
          </a:p>
        </p:txBody>
      </p:sp>
      <p:pic>
        <p:nvPicPr>
          <p:cNvPr id="3" name="Picture 2"/>
          <p:cNvPicPr>
            <a:picLocks noChangeAspect="1"/>
          </p:cNvPicPr>
          <p:nvPr/>
        </p:nvPicPr>
        <p:blipFill>
          <a:blip r:embed="rId4"/>
          <a:stretch>
            <a:fillRect/>
          </a:stretch>
        </p:blipFill>
        <p:spPr>
          <a:xfrm>
            <a:off x="8184392" y="2543761"/>
            <a:ext cx="3438525" cy="2305050"/>
          </a:xfrm>
          <a:prstGeom prst="rect">
            <a:avLst/>
          </a:prstGeom>
          <a:ln w="25400">
            <a:solidFill>
              <a:srgbClr val="FF0000"/>
            </a:solidFill>
          </a:ln>
        </p:spPr>
      </p:pic>
    </p:spTree>
    <p:extLst>
      <p:ext uri="{BB962C8B-B14F-4D97-AF65-F5344CB8AC3E}">
        <p14:creationId xmlns:p14="http://schemas.microsoft.com/office/powerpoint/2010/main" val="111443647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276664" y="747257"/>
            <a:ext cx="11694941" cy="3323987"/>
          </a:xfrm>
          <a:prstGeom prst="rect">
            <a:avLst/>
          </a:prstGeom>
        </p:spPr>
        <p:txBody>
          <a:bodyPr wrap="square">
            <a:spAutoFit/>
          </a:bodyPr>
          <a:lstStyle/>
          <a:p>
            <a:pPr>
              <a:lnSpc>
                <a:spcPct val="150000"/>
              </a:lnSpc>
            </a:pPr>
            <a:r>
              <a:rPr lang="en-IN" sz="2000" dirty="0">
                <a:solidFill>
                  <a:srgbClr val="00B050"/>
                </a:solidFill>
              </a:rPr>
              <a:t>Query:</a:t>
            </a:r>
          </a:p>
          <a:p>
            <a:pPr lvl="3">
              <a:lnSpc>
                <a:spcPct val="150000"/>
              </a:lnSpc>
            </a:pPr>
            <a:r>
              <a:rPr lang="en-IN" sz="2000" dirty="0"/>
              <a:t>SELECT </a:t>
            </a:r>
            <a:r>
              <a:rPr lang="en-IN" sz="2000" dirty="0" err="1"/>
              <a:t>Customers.CustomerName</a:t>
            </a:r>
            <a:r>
              <a:rPr lang="en-IN" sz="2000" dirty="0"/>
              <a:t>, </a:t>
            </a:r>
            <a:r>
              <a:rPr lang="en-IN" sz="2000" dirty="0" err="1"/>
              <a:t>Orders.OrderID</a:t>
            </a:r>
            <a:endParaRPr lang="en-IN" sz="2000" dirty="0"/>
          </a:p>
          <a:p>
            <a:pPr lvl="3">
              <a:lnSpc>
                <a:spcPct val="150000"/>
              </a:lnSpc>
            </a:pPr>
            <a:r>
              <a:rPr lang="en-IN" sz="2000" dirty="0"/>
              <a:t>FROM Customers</a:t>
            </a:r>
          </a:p>
          <a:p>
            <a:pPr lvl="3">
              <a:lnSpc>
                <a:spcPct val="150000"/>
              </a:lnSpc>
            </a:pPr>
            <a:r>
              <a:rPr lang="en-IN" sz="2000" dirty="0"/>
              <a:t>LEFT JOIN Orders ON </a:t>
            </a:r>
            <a:r>
              <a:rPr lang="en-IN" sz="2000" dirty="0" err="1"/>
              <a:t>Customers.CustomerID</a:t>
            </a:r>
            <a:r>
              <a:rPr lang="en-IN" sz="2000" dirty="0"/>
              <a:t> = </a:t>
            </a:r>
            <a:r>
              <a:rPr lang="en-IN" sz="2000" dirty="0" err="1"/>
              <a:t>Orders.CustomerID</a:t>
            </a:r>
            <a:endParaRPr lang="en-IN" sz="2000" dirty="0"/>
          </a:p>
          <a:p>
            <a:pPr lvl="3">
              <a:lnSpc>
                <a:spcPct val="150000"/>
              </a:lnSpc>
            </a:pPr>
            <a:r>
              <a:rPr lang="en-IN" sz="2000" dirty="0"/>
              <a:t>ORDER BY </a:t>
            </a:r>
            <a:r>
              <a:rPr lang="en-IN" sz="2000" dirty="0" err="1"/>
              <a:t>Customers.CustomerName</a:t>
            </a:r>
            <a:r>
              <a:rPr lang="en-IN" sz="2000" dirty="0"/>
              <a:t>;</a:t>
            </a:r>
          </a:p>
          <a:p>
            <a:pPr>
              <a:lnSpc>
                <a:spcPct val="150000"/>
              </a:lnSpc>
            </a:pPr>
            <a:r>
              <a:rPr lang="en-IN" sz="2000" dirty="0"/>
              <a:t>The LEFT JOIN keyword returns all records from the left table (Customers), even if there are no matches in the right table (Orders).</a:t>
            </a:r>
          </a:p>
        </p:txBody>
      </p:sp>
      <p:sp>
        <p:nvSpPr>
          <p:cNvPr id="6" name="Rectangle 5"/>
          <p:cNvSpPr/>
          <p:nvPr/>
        </p:nvSpPr>
        <p:spPr>
          <a:xfrm>
            <a:off x="5123539" y="3572660"/>
            <a:ext cx="1000595" cy="400110"/>
          </a:xfrm>
          <a:prstGeom prst="rect">
            <a:avLst/>
          </a:prstGeom>
        </p:spPr>
        <p:txBody>
          <a:bodyPr wrap="none">
            <a:spAutoFit/>
          </a:bodyPr>
          <a:lstStyle/>
          <a:p>
            <a:r>
              <a:rPr lang="en-IN" sz="2000" dirty="0">
                <a:solidFill>
                  <a:srgbClr val="00B050"/>
                </a:solidFill>
              </a:rPr>
              <a:t>Output:</a:t>
            </a:r>
            <a:endParaRPr lang="en-IN" sz="2000" dirty="0"/>
          </a:p>
        </p:txBody>
      </p:sp>
      <p:pic>
        <p:nvPicPr>
          <p:cNvPr id="4" name="Picture 3"/>
          <p:cNvPicPr>
            <a:picLocks noChangeAspect="1"/>
          </p:cNvPicPr>
          <p:nvPr/>
        </p:nvPicPr>
        <p:blipFill>
          <a:blip r:embed="rId4"/>
          <a:stretch>
            <a:fillRect/>
          </a:stretch>
        </p:blipFill>
        <p:spPr>
          <a:xfrm>
            <a:off x="3701487" y="4071244"/>
            <a:ext cx="4485911" cy="2549414"/>
          </a:xfrm>
          <a:prstGeom prst="rect">
            <a:avLst/>
          </a:prstGeom>
          <a:ln w="25400">
            <a:solidFill>
              <a:schemeClr val="accent1"/>
            </a:solidFill>
          </a:ln>
        </p:spPr>
      </p:pic>
    </p:spTree>
    <p:extLst>
      <p:ext uri="{BB962C8B-B14F-4D97-AF65-F5344CB8AC3E}">
        <p14:creationId xmlns:p14="http://schemas.microsoft.com/office/powerpoint/2010/main" val="173613417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422031" y="1252251"/>
            <a:ext cx="11085342" cy="3785652"/>
          </a:xfrm>
          <a:prstGeom prst="rect">
            <a:avLst/>
          </a:prstGeom>
        </p:spPr>
        <p:txBody>
          <a:bodyPr wrap="square">
            <a:spAutoFit/>
          </a:bodyPr>
          <a:lstStyle/>
          <a:p>
            <a:pPr>
              <a:lnSpc>
                <a:spcPct val="150000"/>
              </a:lnSpc>
            </a:pPr>
            <a:r>
              <a:rPr lang="en-IN" sz="2000" b="1" dirty="0">
                <a:solidFill>
                  <a:srgbClr val="FF0000"/>
                </a:solidFill>
              </a:rPr>
              <a:t>3) Right Outer Join:</a:t>
            </a:r>
            <a:r>
              <a:rPr lang="en-IN" sz="2000" dirty="0"/>
              <a:t> In some databases RIGHT OUTER JOIN is called RIGHT JOIN. The RIGHT JOIN keyword returns all records from the right table (table2), and the matching records from the left table (table1). The result is 0 records from the left side, if there is no match.</a:t>
            </a:r>
          </a:p>
          <a:p>
            <a:pPr>
              <a:lnSpc>
                <a:spcPct val="150000"/>
              </a:lnSpc>
            </a:pPr>
            <a:r>
              <a:rPr lang="en-IN" sz="2000" dirty="0">
                <a:solidFill>
                  <a:srgbClr val="00B050"/>
                </a:solidFill>
              </a:rPr>
              <a:t>Syntax:</a:t>
            </a:r>
          </a:p>
          <a:p>
            <a:pPr lvl="3">
              <a:lnSpc>
                <a:spcPct val="150000"/>
              </a:lnSpc>
            </a:pPr>
            <a:r>
              <a:rPr lang="en-IN" sz="2000" dirty="0"/>
              <a:t>SELECT </a:t>
            </a:r>
            <a:r>
              <a:rPr lang="en-IN" sz="2000" dirty="0" err="1"/>
              <a:t>column_name</a:t>
            </a:r>
            <a:r>
              <a:rPr lang="en-IN" sz="2000" dirty="0"/>
              <a:t>(s)</a:t>
            </a:r>
          </a:p>
          <a:p>
            <a:pPr lvl="3">
              <a:lnSpc>
                <a:spcPct val="150000"/>
              </a:lnSpc>
            </a:pPr>
            <a:r>
              <a:rPr lang="en-IN" sz="2000" dirty="0"/>
              <a:t>FROM table1</a:t>
            </a:r>
          </a:p>
          <a:p>
            <a:pPr lvl="3">
              <a:lnSpc>
                <a:spcPct val="150000"/>
              </a:lnSpc>
            </a:pPr>
            <a:r>
              <a:rPr lang="en-IN" sz="2000" dirty="0"/>
              <a:t>RIGHT JOIN table2</a:t>
            </a:r>
          </a:p>
          <a:p>
            <a:pPr lvl="3">
              <a:lnSpc>
                <a:spcPct val="150000"/>
              </a:lnSpc>
            </a:pPr>
            <a:r>
              <a:rPr lang="en-IN" sz="2000" dirty="0"/>
              <a:t>ON table1.column_name = table2.column_name;</a:t>
            </a:r>
          </a:p>
        </p:txBody>
      </p:sp>
      <p:pic>
        <p:nvPicPr>
          <p:cNvPr id="3" name="Picture 2"/>
          <p:cNvPicPr>
            <a:picLocks noChangeAspect="1"/>
          </p:cNvPicPr>
          <p:nvPr/>
        </p:nvPicPr>
        <p:blipFill>
          <a:blip r:embed="rId4"/>
          <a:stretch>
            <a:fillRect/>
          </a:stretch>
        </p:blipFill>
        <p:spPr>
          <a:xfrm>
            <a:off x="8145048" y="2247680"/>
            <a:ext cx="3362325" cy="2390775"/>
          </a:xfrm>
          <a:prstGeom prst="rect">
            <a:avLst/>
          </a:prstGeom>
          <a:ln w="25400">
            <a:solidFill>
              <a:srgbClr val="FF0000"/>
            </a:solidFill>
          </a:ln>
        </p:spPr>
      </p:pic>
    </p:spTree>
    <p:extLst>
      <p:ext uri="{BB962C8B-B14F-4D97-AF65-F5344CB8AC3E}">
        <p14:creationId xmlns:p14="http://schemas.microsoft.com/office/powerpoint/2010/main" val="1381099434"/>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337625" y="804263"/>
            <a:ext cx="11563643" cy="3323987"/>
          </a:xfrm>
          <a:prstGeom prst="rect">
            <a:avLst/>
          </a:prstGeom>
        </p:spPr>
        <p:txBody>
          <a:bodyPr wrap="square">
            <a:spAutoFit/>
          </a:bodyPr>
          <a:lstStyle/>
          <a:p>
            <a:pPr algn="just">
              <a:lnSpc>
                <a:spcPct val="150000"/>
              </a:lnSpc>
            </a:pPr>
            <a:r>
              <a:rPr lang="en-IN" sz="2000" dirty="0">
                <a:solidFill>
                  <a:srgbClr val="00B050"/>
                </a:solidFill>
              </a:rPr>
              <a:t>Query:</a:t>
            </a:r>
          </a:p>
          <a:p>
            <a:pPr lvl="3" algn="just">
              <a:lnSpc>
                <a:spcPct val="150000"/>
              </a:lnSpc>
            </a:pPr>
            <a:r>
              <a:rPr lang="en-IN" sz="2000" dirty="0"/>
              <a:t>SELECT </a:t>
            </a:r>
            <a:r>
              <a:rPr lang="en-IN" sz="2000" dirty="0" err="1"/>
              <a:t>Orders.OrderID</a:t>
            </a:r>
            <a:r>
              <a:rPr lang="en-IN" sz="2000" dirty="0"/>
              <a:t>, </a:t>
            </a:r>
            <a:r>
              <a:rPr lang="en-IN" sz="2000" dirty="0" err="1"/>
              <a:t>Employees.LastName</a:t>
            </a:r>
            <a:r>
              <a:rPr lang="en-IN" sz="2000" dirty="0"/>
              <a:t>, </a:t>
            </a:r>
            <a:r>
              <a:rPr lang="en-IN" sz="2000" dirty="0" err="1"/>
              <a:t>Employees.FirstName</a:t>
            </a:r>
            <a:endParaRPr lang="en-IN" sz="2000" dirty="0"/>
          </a:p>
          <a:p>
            <a:pPr lvl="3" algn="just">
              <a:lnSpc>
                <a:spcPct val="150000"/>
              </a:lnSpc>
            </a:pPr>
            <a:r>
              <a:rPr lang="en-IN" sz="2000" dirty="0"/>
              <a:t>FROM Orders</a:t>
            </a:r>
          </a:p>
          <a:p>
            <a:pPr lvl="3" algn="just">
              <a:lnSpc>
                <a:spcPct val="150000"/>
              </a:lnSpc>
            </a:pPr>
            <a:r>
              <a:rPr lang="en-IN" sz="2000" dirty="0"/>
              <a:t>RIGHT JOIN Employees ON </a:t>
            </a:r>
            <a:r>
              <a:rPr lang="en-IN" sz="2000" dirty="0" err="1"/>
              <a:t>Orders.EmployeeID</a:t>
            </a:r>
            <a:r>
              <a:rPr lang="en-IN" sz="2000" dirty="0"/>
              <a:t> = </a:t>
            </a:r>
            <a:r>
              <a:rPr lang="en-IN" sz="2000" dirty="0" err="1"/>
              <a:t>Employees.EmployeeID</a:t>
            </a:r>
            <a:endParaRPr lang="en-IN" sz="2000" dirty="0"/>
          </a:p>
          <a:p>
            <a:pPr lvl="3" algn="just">
              <a:lnSpc>
                <a:spcPct val="150000"/>
              </a:lnSpc>
            </a:pPr>
            <a:r>
              <a:rPr lang="en-IN" sz="2000" dirty="0"/>
              <a:t>ORDER BY </a:t>
            </a:r>
            <a:r>
              <a:rPr lang="en-IN" sz="2000" dirty="0" err="1"/>
              <a:t>Orders.OrderID</a:t>
            </a:r>
            <a:r>
              <a:rPr lang="en-IN" sz="2000" dirty="0"/>
              <a:t>;</a:t>
            </a:r>
          </a:p>
          <a:p>
            <a:pPr algn="just">
              <a:lnSpc>
                <a:spcPct val="150000"/>
              </a:lnSpc>
            </a:pPr>
            <a:r>
              <a:rPr lang="en-IN" sz="2000" dirty="0"/>
              <a:t>The RIGHT JOIN keyword returns all records from the right table (Employees), even if there are no matches in the left table (Orders).</a:t>
            </a:r>
          </a:p>
        </p:txBody>
      </p:sp>
      <p:pic>
        <p:nvPicPr>
          <p:cNvPr id="4" name="Picture 3"/>
          <p:cNvPicPr>
            <a:picLocks noChangeAspect="1"/>
          </p:cNvPicPr>
          <p:nvPr/>
        </p:nvPicPr>
        <p:blipFill>
          <a:blip r:embed="rId4"/>
          <a:stretch>
            <a:fillRect/>
          </a:stretch>
        </p:blipFill>
        <p:spPr>
          <a:xfrm>
            <a:off x="2074255" y="4128250"/>
            <a:ext cx="8489696" cy="2525768"/>
          </a:xfrm>
          <a:prstGeom prst="rect">
            <a:avLst/>
          </a:prstGeom>
          <a:ln w="25400">
            <a:solidFill>
              <a:schemeClr val="accent1"/>
            </a:solidFill>
          </a:ln>
        </p:spPr>
      </p:pic>
      <p:sp>
        <p:nvSpPr>
          <p:cNvPr id="7" name="Rectangle 6"/>
          <p:cNvSpPr/>
          <p:nvPr/>
        </p:nvSpPr>
        <p:spPr>
          <a:xfrm>
            <a:off x="5348622" y="3580452"/>
            <a:ext cx="1000595" cy="400110"/>
          </a:xfrm>
          <a:prstGeom prst="rect">
            <a:avLst/>
          </a:prstGeom>
        </p:spPr>
        <p:txBody>
          <a:bodyPr wrap="none">
            <a:spAutoFit/>
          </a:bodyPr>
          <a:lstStyle/>
          <a:p>
            <a:r>
              <a:rPr lang="en-IN" sz="2000" dirty="0">
                <a:solidFill>
                  <a:srgbClr val="00B050"/>
                </a:solidFill>
              </a:rPr>
              <a:t>Output:</a:t>
            </a:r>
            <a:endParaRPr lang="en-IN" sz="2000" dirty="0"/>
          </a:p>
        </p:txBody>
      </p:sp>
    </p:spTree>
    <p:extLst>
      <p:ext uri="{BB962C8B-B14F-4D97-AF65-F5344CB8AC3E}">
        <p14:creationId xmlns:p14="http://schemas.microsoft.com/office/powerpoint/2010/main" val="1214928990"/>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365759" y="1184091"/>
            <a:ext cx="11507373" cy="4247317"/>
          </a:xfrm>
          <a:prstGeom prst="rect">
            <a:avLst/>
          </a:prstGeom>
        </p:spPr>
        <p:txBody>
          <a:bodyPr wrap="square">
            <a:spAutoFit/>
          </a:bodyPr>
          <a:lstStyle/>
          <a:p>
            <a:pPr algn="just">
              <a:lnSpc>
                <a:spcPct val="150000"/>
              </a:lnSpc>
            </a:pPr>
            <a:r>
              <a:rPr lang="en-IN" sz="2000" b="1" dirty="0">
                <a:solidFill>
                  <a:srgbClr val="FF0000"/>
                </a:solidFill>
              </a:rPr>
              <a:t>4) Full Outer Join:</a:t>
            </a:r>
            <a:r>
              <a:rPr lang="en-IN" sz="2000" dirty="0"/>
              <a:t> In some databases FULL OUTER JOIN is called FULL JOIN. The FULL OUTER JOIN keyword returns all records when there is a match in left (table1) or right (table2) table records. The FULL OUTER JOIN can potentially return very large result-sets.</a:t>
            </a:r>
          </a:p>
          <a:p>
            <a:pPr algn="just">
              <a:lnSpc>
                <a:spcPct val="150000"/>
              </a:lnSpc>
            </a:pPr>
            <a:r>
              <a:rPr lang="en-IN" sz="2000" dirty="0">
                <a:solidFill>
                  <a:srgbClr val="00B050"/>
                </a:solidFill>
              </a:rPr>
              <a:t>Syntax:</a:t>
            </a:r>
          </a:p>
          <a:p>
            <a:pPr lvl="4" algn="just">
              <a:lnSpc>
                <a:spcPct val="150000"/>
              </a:lnSpc>
            </a:pPr>
            <a:r>
              <a:rPr lang="en-IN" sz="2000" dirty="0"/>
              <a:t>SELECT </a:t>
            </a:r>
            <a:r>
              <a:rPr lang="en-IN" sz="2000" dirty="0" err="1"/>
              <a:t>column_name</a:t>
            </a:r>
            <a:r>
              <a:rPr lang="en-IN" sz="2000" dirty="0"/>
              <a:t>(s)</a:t>
            </a:r>
          </a:p>
          <a:p>
            <a:pPr lvl="4" algn="just">
              <a:lnSpc>
                <a:spcPct val="150000"/>
              </a:lnSpc>
            </a:pPr>
            <a:r>
              <a:rPr lang="en-IN" sz="2000" dirty="0"/>
              <a:t>FROM table1</a:t>
            </a:r>
          </a:p>
          <a:p>
            <a:pPr lvl="4" algn="just">
              <a:lnSpc>
                <a:spcPct val="150000"/>
              </a:lnSpc>
            </a:pPr>
            <a:r>
              <a:rPr lang="en-IN" sz="2000" dirty="0"/>
              <a:t>FULL OUTER JOIN table2</a:t>
            </a:r>
          </a:p>
          <a:p>
            <a:pPr lvl="4" algn="just">
              <a:lnSpc>
                <a:spcPct val="150000"/>
              </a:lnSpc>
            </a:pPr>
            <a:r>
              <a:rPr lang="en-IN" sz="2000" dirty="0"/>
              <a:t>ON table1.column_name = table2.column_name</a:t>
            </a:r>
          </a:p>
          <a:p>
            <a:pPr lvl="4" algn="just">
              <a:lnSpc>
                <a:spcPct val="150000"/>
              </a:lnSpc>
            </a:pPr>
            <a:r>
              <a:rPr lang="en-IN" sz="2000" dirty="0"/>
              <a:t>WHERE condition;</a:t>
            </a:r>
          </a:p>
        </p:txBody>
      </p:sp>
      <p:pic>
        <p:nvPicPr>
          <p:cNvPr id="3" name="Picture 2"/>
          <p:cNvPicPr>
            <a:picLocks noChangeAspect="1"/>
          </p:cNvPicPr>
          <p:nvPr/>
        </p:nvPicPr>
        <p:blipFill>
          <a:blip r:embed="rId4"/>
          <a:stretch>
            <a:fillRect/>
          </a:stretch>
        </p:blipFill>
        <p:spPr>
          <a:xfrm>
            <a:off x="8222492" y="2430560"/>
            <a:ext cx="3362325" cy="2390775"/>
          </a:xfrm>
          <a:prstGeom prst="rect">
            <a:avLst/>
          </a:prstGeom>
          <a:ln w="25400">
            <a:solidFill>
              <a:srgbClr val="FF0000"/>
            </a:solidFill>
          </a:ln>
        </p:spPr>
      </p:pic>
    </p:spTree>
    <p:extLst>
      <p:ext uri="{BB962C8B-B14F-4D97-AF65-F5344CB8AC3E}">
        <p14:creationId xmlns:p14="http://schemas.microsoft.com/office/powerpoint/2010/main" val="2024869324"/>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318867" y="600076"/>
            <a:ext cx="11596468" cy="3785652"/>
          </a:xfrm>
          <a:prstGeom prst="rect">
            <a:avLst/>
          </a:prstGeom>
        </p:spPr>
        <p:txBody>
          <a:bodyPr wrap="square">
            <a:spAutoFit/>
          </a:bodyPr>
          <a:lstStyle/>
          <a:p>
            <a:pPr algn="just">
              <a:lnSpc>
                <a:spcPct val="150000"/>
              </a:lnSpc>
            </a:pPr>
            <a:r>
              <a:rPr lang="en-IN" sz="2000" dirty="0">
                <a:solidFill>
                  <a:srgbClr val="00B050"/>
                </a:solidFill>
              </a:rPr>
              <a:t>Query:</a:t>
            </a:r>
          </a:p>
          <a:p>
            <a:pPr lvl="3" algn="just">
              <a:lnSpc>
                <a:spcPct val="150000"/>
              </a:lnSpc>
            </a:pPr>
            <a:r>
              <a:rPr lang="en-IN" sz="2000" dirty="0"/>
              <a:t>SELECT </a:t>
            </a:r>
            <a:r>
              <a:rPr lang="en-IN" sz="2000" dirty="0" err="1"/>
              <a:t>Customers.CustomerName</a:t>
            </a:r>
            <a:r>
              <a:rPr lang="en-IN" sz="2000" dirty="0"/>
              <a:t>, </a:t>
            </a:r>
            <a:r>
              <a:rPr lang="en-IN" sz="2000" dirty="0" err="1"/>
              <a:t>Orders.OrderID</a:t>
            </a:r>
            <a:endParaRPr lang="en-IN" sz="2000" dirty="0"/>
          </a:p>
          <a:p>
            <a:pPr lvl="3" algn="just">
              <a:lnSpc>
                <a:spcPct val="150000"/>
              </a:lnSpc>
            </a:pPr>
            <a:r>
              <a:rPr lang="en-IN" sz="2000" dirty="0"/>
              <a:t>FROM Customers</a:t>
            </a:r>
          </a:p>
          <a:p>
            <a:pPr lvl="3" algn="just">
              <a:lnSpc>
                <a:spcPct val="150000"/>
              </a:lnSpc>
            </a:pPr>
            <a:r>
              <a:rPr lang="en-IN" sz="2000" dirty="0"/>
              <a:t>FULL OUTER JOIN Orders ON </a:t>
            </a:r>
            <a:r>
              <a:rPr lang="en-IN" sz="2000" dirty="0" err="1"/>
              <a:t>Customers.CustomerID</a:t>
            </a:r>
            <a:r>
              <a:rPr lang="en-IN" sz="2000" dirty="0"/>
              <a:t>=</a:t>
            </a:r>
            <a:r>
              <a:rPr lang="en-IN" sz="2000" dirty="0" err="1"/>
              <a:t>Orders.CustomerID</a:t>
            </a:r>
            <a:endParaRPr lang="en-IN" sz="2000" dirty="0"/>
          </a:p>
          <a:p>
            <a:pPr lvl="3" algn="just">
              <a:lnSpc>
                <a:spcPct val="150000"/>
              </a:lnSpc>
            </a:pPr>
            <a:r>
              <a:rPr lang="en-IN" sz="2000" dirty="0"/>
              <a:t>ORDER BY </a:t>
            </a:r>
            <a:r>
              <a:rPr lang="en-IN" sz="2000" dirty="0" err="1"/>
              <a:t>Customers.CustomerName</a:t>
            </a:r>
            <a:r>
              <a:rPr lang="en-IN" sz="2000" dirty="0"/>
              <a:t>;</a:t>
            </a:r>
          </a:p>
          <a:p>
            <a:pPr algn="just">
              <a:lnSpc>
                <a:spcPct val="150000"/>
              </a:lnSpc>
            </a:pPr>
            <a:r>
              <a:rPr lang="en-IN" sz="2000" dirty="0"/>
              <a:t>The FULL OUTER JOIN keyword returns all matching records from both tables whether the other table matches or not. So, if there are rows in "Customers" that do not have matches in "Orders", or if there are rows in "Orders" that do not have matches in "Customers", those rows will be listed as well.</a:t>
            </a:r>
          </a:p>
        </p:txBody>
      </p:sp>
      <p:sp>
        <p:nvSpPr>
          <p:cNvPr id="6" name="Rectangle 5"/>
          <p:cNvSpPr/>
          <p:nvPr/>
        </p:nvSpPr>
        <p:spPr>
          <a:xfrm>
            <a:off x="995362" y="5141966"/>
            <a:ext cx="1000595" cy="400110"/>
          </a:xfrm>
          <a:prstGeom prst="rect">
            <a:avLst/>
          </a:prstGeom>
        </p:spPr>
        <p:txBody>
          <a:bodyPr wrap="none">
            <a:spAutoFit/>
          </a:bodyPr>
          <a:lstStyle/>
          <a:p>
            <a:r>
              <a:rPr lang="en-IN" sz="2000" dirty="0">
                <a:solidFill>
                  <a:srgbClr val="00B050"/>
                </a:solidFill>
              </a:rPr>
              <a:t>Output:</a:t>
            </a:r>
            <a:endParaRPr lang="en-IN" sz="2000" dirty="0"/>
          </a:p>
        </p:txBody>
      </p:sp>
      <p:pic>
        <p:nvPicPr>
          <p:cNvPr id="4" name="Picture 3"/>
          <p:cNvPicPr>
            <a:picLocks noChangeAspect="1"/>
          </p:cNvPicPr>
          <p:nvPr/>
        </p:nvPicPr>
        <p:blipFill>
          <a:blip r:embed="rId4"/>
          <a:stretch>
            <a:fillRect/>
          </a:stretch>
        </p:blipFill>
        <p:spPr>
          <a:xfrm>
            <a:off x="3949137" y="4322771"/>
            <a:ext cx="5269084" cy="2438610"/>
          </a:xfrm>
          <a:prstGeom prst="rect">
            <a:avLst/>
          </a:prstGeom>
          <a:ln w="25400">
            <a:solidFill>
              <a:schemeClr val="accent1"/>
            </a:solidFill>
          </a:ln>
        </p:spPr>
      </p:pic>
    </p:spTree>
    <p:extLst>
      <p:ext uri="{BB962C8B-B14F-4D97-AF65-F5344CB8AC3E}">
        <p14:creationId xmlns:p14="http://schemas.microsoft.com/office/powerpoint/2010/main" val="1472592226"/>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3" name="Picture 2"/>
          <p:cNvPicPr>
            <a:picLocks noChangeAspect="1"/>
          </p:cNvPicPr>
          <p:nvPr/>
        </p:nvPicPr>
        <p:blipFill>
          <a:blip r:embed="rId4"/>
          <a:stretch>
            <a:fillRect/>
          </a:stretch>
        </p:blipFill>
        <p:spPr>
          <a:xfrm>
            <a:off x="6583679" y="2862536"/>
            <a:ext cx="4457700" cy="2162175"/>
          </a:xfrm>
          <a:prstGeom prst="rect">
            <a:avLst/>
          </a:prstGeom>
          <a:ln w="25400">
            <a:solidFill>
              <a:srgbClr val="FF0000"/>
            </a:solidFill>
          </a:ln>
        </p:spPr>
      </p:pic>
      <p:sp>
        <p:nvSpPr>
          <p:cNvPr id="2" name="Rectangle 1"/>
          <p:cNvSpPr/>
          <p:nvPr/>
        </p:nvSpPr>
        <p:spPr>
          <a:xfrm>
            <a:off x="317678" y="738878"/>
            <a:ext cx="11505127" cy="4247317"/>
          </a:xfrm>
          <a:prstGeom prst="rect">
            <a:avLst/>
          </a:prstGeom>
        </p:spPr>
        <p:txBody>
          <a:bodyPr wrap="square">
            <a:spAutoFit/>
          </a:bodyPr>
          <a:lstStyle/>
          <a:p>
            <a:pPr>
              <a:lnSpc>
                <a:spcPct val="150000"/>
              </a:lnSpc>
            </a:pPr>
            <a:r>
              <a:rPr lang="en-IN" sz="2000" b="1" dirty="0">
                <a:solidFill>
                  <a:srgbClr val="FF0000"/>
                </a:solidFill>
              </a:rPr>
              <a:t>5) Cross Join:</a:t>
            </a:r>
            <a:r>
              <a:rPr lang="en-IN" sz="2000" dirty="0"/>
              <a:t> CROSS JOIN is also known as the Cartesian product / Cartesian join. Cross join defines where the number of rows in the first table multiplied by a number of rows in the second table. Cross Join applies to all columns.</a:t>
            </a:r>
          </a:p>
          <a:p>
            <a:pPr>
              <a:lnSpc>
                <a:spcPct val="150000"/>
              </a:lnSpc>
            </a:pPr>
            <a:r>
              <a:rPr lang="en-IN" sz="2000" dirty="0"/>
              <a:t>	If we add a WHERE clause (if table1 and table2 has a relationship), the CROSS JOIN will produce the same result as the INNER JOIN clause:</a:t>
            </a:r>
          </a:p>
          <a:p>
            <a:pPr>
              <a:lnSpc>
                <a:spcPct val="150000"/>
              </a:lnSpc>
            </a:pPr>
            <a:r>
              <a:rPr lang="en-IN" sz="2000" dirty="0"/>
              <a:t>Syntax:</a:t>
            </a:r>
          </a:p>
          <a:p>
            <a:pPr lvl="2">
              <a:lnSpc>
                <a:spcPct val="150000"/>
              </a:lnSpc>
            </a:pPr>
            <a:r>
              <a:rPr lang="en-IN" sz="2000" dirty="0"/>
              <a:t>SELECT </a:t>
            </a:r>
            <a:r>
              <a:rPr lang="en-IN" sz="2000" dirty="0" err="1"/>
              <a:t>column_name</a:t>
            </a:r>
            <a:r>
              <a:rPr lang="en-IN" sz="2000" dirty="0"/>
              <a:t>(s)</a:t>
            </a:r>
          </a:p>
          <a:p>
            <a:pPr lvl="2">
              <a:lnSpc>
                <a:spcPct val="150000"/>
              </a:lnSpc>
            </a:pPr>
            <a:r>
              <a:rPr lang="en-IN" sz="2000" dirty="0"/>
              <a:t>FROM table1</a:t>
            </a:r>
          </a:p>
          <a:p>
            <a:pPr lvl="2">
              <a:lnSpc>
                <a:spcPct val="150000"/>
              </a:lnSpc>
            </a:pPr>
            <a:r>
              <a:rPr lang="en-IN" sz="2000" dirty="0"/>
              <a:t>CROSS JOIN table2;</a:t>
            </a:r>
          </a:p>
        </p:txBody>
      </p:sp>
    </p:spTree>
    <p:extLst>
      <p:ext uri="{BB962C8B-B14F-4D97-AF65-F5344CB8AC3E}">
        <p14:creationId xmlns:p14="http://schemas.microsoft.com/office/powerpoint/2010/main" val="110393964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JOINING RELATIONS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464234" y="773949"/>
            <a:ext cx="11479237" cy="3323987"/>
          </a:xfrm>
          <a:prstGeom prst="rect">
            <a:avLst/>
          </a:prstGeom>
        </p:spPr>
        <p:txBody>
          <a:bodyPr wrap="square">
            <a:spAutoFit/>
          </a:bodyPr>
          <a:lstStyle/>
          <a:p>
            <a:pPr algn="just">
              <a:lnSpc>
                <a:spcPct val="150000"/>
              </a:lnSpc>
            </a:pPr>
            <a:r>
              <a:rPr lang="en-IN" sz="2000" dirty="0">
                <a:solidFill>
                  <a:srgbClr val="00B050"/>
                </a:solidFill>
              </a:rPr>
              <a:t>Query:</a:t>
            </a:r>
          </a:p>
          <a:p>
            <a:pPr lvl="3" algn="just">
              <a:lnSpc>
                <a:spcPct val="150000"/>
              </a:lnSpc>
            </a:pPr>
            <a:r>
              <a:rPr lang="en-IN" sz="2000" dirty="0"/>
              <a:t>SELECT </a:t>
            </a:r>
            <a:r>
              <a:rPr lang="en-IN" sz="2000" dirty="0" err="1"/>
              <a:t>Customers.CustomerName</a:t>
            </a:r>
            <a:r>
              <a:rPr lang="en-IN" sz="2000" dirty="0"/>
              <a:t>, </a:t>
            </a:r>
            <a:r>
              <a:rPr lang="en-IN" sz="2000" dirty="0" err="1"/>
              <a:t>Orders.OrderID</a:t>
            </a:r>
            <a:endParaRPr lang="en-IN" sz="2000" dirty="0"/>
          </a:p>
          <a:p>
            <a:pPr lvl="3" algn="just">
              <a:lnSpc>
                <a:spcPct val="150000"/>
              </a:lnSpc>
            </a:pPr>
            <a:r>
              <a:rPr lang="en-IN" sz="2000" dirty="0"/>
              <a:t>FROM Customers</a:t>
            </a:r>
          </a:p>
          <a:p>
            <a:pPr lvl="3" algn="just">
              <a:lnSpc>
                <a:spcPct val="150000"/>
              </a:lnSpc>
            </a:pPr>
            <a:r>
              <a:rPr lang="en-IN" sz="2000" dirty="0"/>
              <a:t>CROSS JOIN Orders;</a:t>
            </a:r>
          </a:p>
          <a:p>
            <a:pPr algn="just">
              <a:lnSpc>
                <a:spcPct val="150000"/>
              </a:lnSpc>
            </a:pPr>
            <a:r>
              <a:rPr lang="en-IN" sz="2000" dirty="0"/>
              <a:t>The CROSS JOIN keyword returns all matching records from both tables whether the other table matches or not. So, if there are rows in "Customers" that do not have matches in "Orders", or if there are rows in "Orders" that do not have matches in "Customers", those rows will be listed as well.</a:t>
            </a:r>
          </a:p>
        </p:txBody>
      </p:sp>
      <p:pic>
        <p:nvPicPr>
          <p:cNvPr id="4" name="Picture 3"/>
          <p:cNvPicPr>
            <a:picLocks noChangeAspect="1"/>
          </p:cNvPicPr>
          <p:nvPr/>
        </p:nvPicPr>
        <p:blipFill>
          <a:blip r:embed="rId4"/>
          <a:stretch>
            <a:fillRect/>
          </a:stretch>
        </p:blipFill>
        <p:spPr>
          <a:xfrm>
            <a:off x="4576248" y="4097935"/>
            <a:ext cx="4905377" cy="2577653"/>
          </a:xfrm>
          <a:prstGeom prst="rect">
            <a:avLst/>
          </a:prstGeom>
          <a:ln w="25400">
            <a:solidFill>
              <a:schemeClr val="accent1"/>
            </a:solidFill>
          </a:ln>
        </p:spPr>
      </p:pic>
      <p:sp>
        <p:nvSpPr>
          <p:cNvPr id="8" name="Rectangle 7"/>
          <p:cNvSpPr/>
          <p:nvPr/>
        </p:nvSpPr>
        <p:spPr>
          <a:xfrm>
            <a:off x="1614104" y="4986652"/>
            <a:ext cx="1000595" cy="400110"/>
          </a:xfrm>
          <a:prstGeom prst="rect">
            <a:avLst/>
          </a:prstGeom>
        </p:spPr>
        <p:txBody>
          <a:bodyPr wrap="none">
            <a:spAutoFit/>
          </a:bodyPr>
          <a:lstStyle/>
          <a:p>
            <a:r>
              <a:rPr lang="en-IN" sz="2000" dirty="0">
                <a:solidFill>
                  <a:srgbClr val="00B050"/>
                </a:solidFill>
              </a:rPr>
              <a:t>Output:</a:t>
            </a:r>
            <a:endParaRPr lang="en-IN" sz="2000" dirty="0"/>
          </a:p>
        </p:txBody>
      </p:sp>
    </p:spTree>
    <p:extLst>
      <p:ext uri="{BB962C8B-B14F-4D97-AF65-F5344CB8AC3E}">
        <p14:creationId xmlns:p14="http://schemas.microsoft.com/office/powerpoint/2010/main" val="1264663318"/>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CREATING AND DROPPING VIEWS </a:t>
            </a:r>
          </a:p>
        </p:txBody>
      </p:sp>
      <p:sp>
        <p:nvSpPr>
          <p:cNvPr id="2" name="Rectangle 1"/>
          <p:cNvSpPr/>
          <p:nvPr/>
        </p:nvSpPr>
        <p:spPr>
          <a:xfrm>
            <a:off x="267285" y="730745"/>
            <a:ext cx="11662117" cy="3170099"/>
          </a:xfrm>
          <a:prstGeom prst="rect">
            <a:avLst/>
          </a:prstGeom>
        </p:spPr>
        <p:txBody>
          <a:bodyPr wrap="square">
            <a:spAutoFit/>
          </a:bodyPr>
          <a:lstStyle/>
          <a:p>
            <a:pPr marL="342900" indent="-342900" algn="just">
              <a:buFont typeface="Wingdings" panose="05000000000000000000" pitchFamily="2" charset="2"/>
              <a:buChar char="v"/>
            </a:pPr>
            <a:r>
              <a:rPr lang="en-IN" sz="2000" dirty="0"/>
              <a:t>A view can contain all rows of a table or selected rows from one or more tables. A view can be created from one or many tables, which depends on the written PostgreSQL query to create a view.</a:t>
            </a:r>
          </a:p>
          <a:p>
            <a:pPr marL="342900" indent="-342900" algn="just">
              <a:buFont typeface="Wingdings" panose="05000000000000000000" pitchFamily="2" charset="2"/>
              <a:buChar char="v"/>
            </a:pPr>
            <a:endParaRPr lang="en-IN" sz="2000" dirty="0"/>
          </a:p>
          <a:p>
            <a:pPr marL="342900" indent="-342900" algn="just">
              <a:buFont typeface="Wingdings" panose="05000000000000000000" pitchFamily="2" charset="2"/>
              <a:buChar char="v"/>
            </a:pPr>
            <a:r>
              <a:rPr lang="en-IN" sz="2000" dirty="0"/>
              <a:t>Views, which are kind of virtual tables, allow users to do the following:</a:t>
            </a:r>
          </a:p>
          <a:p>
            <a:pPr algn="just"/>
            <a:endParaRPr lang="en-IN" sz="2000" dirty="0"/>
          </a:p>
          <a:p>
            <a:pPr marL="914400" lvl="1" indent="-457200" algn="just">
              <a:buFont typeface="+mj-lt"/>
              <a:buAutoNum type="alphaLcPeriod"/>
            </a:pPr>
            <a:r>
              <a:rPr lang="en-IN" sz="2000" dirty="0"/>
              <a:t>Structure data in a way that users or classes of users find natural or intuitive.</a:t>
            </a:r>
          </a:p>
          <a:p>
            <a:pPr marL="914400" lvl="1" indent="-457200" algn="just">
              <a:buFont typeface="+mj-lt"/>
              <a:buAutoNum type="alphaLcPeriod"/>
            </a:pPr>
            <a:endParaRPr lang="en-IN" sz="2000" dirty="0"/>
          </a:p>
          <a:p>
            <a:pPr marL="914400" lvl="1" indent="-457200" algn="just">
              <a:buFont typeface="+mj-lt"/>
              <a:buAutoNum type="alphaLcPeriod"/>
            </a:pPr>
            <a:r>
              <a:rPr lang="en-IN" sz="2000" dirty="0"/>
              <a:t>Restrict access to the data such that a user can only see limited data instead of complete table.</a:t>
            </a:r>
          </a:p>
          <a:p>
            <a:pPr marL="914400" lvl="1" indent="-457200" algn="just">
              <a:buFont typeface="+mj-lt"/>
              <a:buAutoNum type="alphaLcPeriod"/>
            </a:pPr>
            <a:endParaRPr lang="en-IN" sz="2000" dirty="0"/>
          </a:p>
          <a:p>
            <a:pPr marL="914400" lvl="1" indent="-457200" algn="just">
              <a:buFont typeface="+mj-lt"/>
              <a:buAutoNum type="alphaLcPeriod"/>
            </a:pPr>
            <a:r>
              <a:rPr lang="en-IN" sz="2000" dirty="0"/>
              <a:t>Summarize data from various tables, which can be used to generate reports.</a:t>
            </a:r>
          </a:p>
        </p:txBody>
      </p:sp>
      <p:sp>
        <p:nvSpPr>
          <p:cNvPr id="3" name="Rectangle 2"/>
          <p:cNvSpPr/>
          <p:nvPr/>
        </p:nvSpPr>
        <p:spPr>
          <a:xfrm>
            <a:off x="267285" y="3900844"/>
            <a:ext cx="11521439" cy="1477328"/>
          </a:xfrm>
          <a:prstGeom prst="rect">
            <a:avLst/>
          </a:prstGeom>
        </p:spPr>
        <p:txBody>
          <a:bodyPr wrap="square">
            <a:spAutoFit/>
          </a:bodyPr>
          <a:lstStyle/>
          <a:p>
            <a:pPr algn="just">
              <a:lnSpc>
                <a:spcPct val="150000"/>
              </a:lnSpc>
            </a:pPr>
            <a:r>
              <a:rPr lang="en-IN" sz="2000" b="1" dirty="0">
                <a:solidFill>
                  <a:srgbClr val="FF0000"/>
                </a:solidFill>
              </a:rPr>
              <a:t>Creating Views:</a:t>
            </a:r>
            <a:r>
              <a:rPr lang="en-IN" sz="2000" dirty="0"/>
              <a:t> The PostgreSQL views are created using the CREATE VIEW statement. The PostgreSQL views can be created from a single table, multiple tables, or another view.</a:t>
            </a:r>
          </a:p>
          <a:p>
            <a:pPr algn="just">
              <a:lnSpc>
                <a:spcPct val="150000"/>
              </a:lnSpc>
            </a:pPr>
            <a:r>
              <a:rPr lang="en-IN" sz="2000" dirty="0">
                <a:solidFill>
                  <a:srgbClr val="00B050"/>
                </a:solidFill>
              </a:rPr>
              <a:t>Syntax:</a:t>
            </a:r>
          </a:p>
        </p:txBody>
      </p:sp>
      <p:pic>
        <p:nvPicPr>
          <p:cNvPr id="6" name="Picture 5"/>
          <p:cNvPicPr>
            <a:picLocks noChangeAspect="1"/>
          </p:cNvPicPr>
          <p:nvPr/>
        </p:nvPicPr>
        <p:blipFill>
          <a:blip r:embed="rId4"/>
          <a:stretch>
            <a:fillRect/>
          </a:stretch>
        </p:blipFill>
        <p:spPr>
          <a:xfrm>
            <a:off x="3602794" y="5213326"/>
            <a:ext cx="5611543" cy="1464551"/>
          </a:xfrm>
          <a:prstGeom prst="rect">
            <a:avLst/>
          </a:prstGeom>
          <a:ln w="25400">
            <a:solidFill>
              <a:srgbClr val="FF0000"/>
            </a:solidFill>
          </a:ln>
        </p:spPr>
      </p:pic>
    </p:spTree>
    <p:extLst>
      <p:ext uri="{BB962C8B-B14F-4D97-AF65-F5344CB8AC3E}">
        <p14:creationId xmlns:p14="http://schemas.microsoft.com/office/powerpoint/2010/main" val="1038329202"/>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CREATING AND DROPPING VIEWS </a:t>
            </a:r>
          </a:p>
        </p:txBody>
      </p:sp>
      <p:sp>
        <p:nvSpPr>
          <p:cNvPr id="4" name="Rectangle 3"/>
          <p:cNvSpPr/>
          <p:nvPr/>
        </p:nvSpPr>
        <p:spPr>
          <a:xfrm>
            <a:off x="225083" y="600076"/>
            <a:ext cx="10888394" cy="553998"/>
          </a:xfrm>
          <a:prstGeom prst="rect">
            <a:avLst/>
          </a:prstGeom>
        </p:spPr>
        <p:txBody>
          <a:bodyPr wrap="square">
            <a:spAutoFit/>
          </a:bodyPr>
          <a:lstStyle/>
          <a:p>
            <a:pPr algn="just">
              <a:lnSpc>
                <a:spcPct val="150000"/>
              </a:lnSpc>
            </a:pPr>
            <a:r>
              <a:rPr lang="en-IN" sz="2000" dirty="0">
                <a:solidFill>
                  <a:srgbClr val="00B050"/>
                </a:solidFill>
              </a:rPr>
              <a:t>Example:</a:t>
            </a:r>
            <a:r>
              <a:rPr lang="en-IN" sz="2000" dirty="0"/>
              <a:t> Consider, the following COMPANY table is having the following records:</a:t>
            </a:r>
          </a:p>
        </p:txBody>
      </p:sp>
      <p:pic>
        <p:nvPicPr>
          <p:cNvPr id="7" name="Picture 6"/>
          <p:cNvPicPr>
            <a:picLocks noChangeAspect="1"/>
          </p:cNvPicPr>
          <p:nvPr/>
        </p:nvPicPr>
        <p:blipFill>
          <a:blip r:embed="rId4"/>
          <a:stretch>
            <a:fillRect/>
          </a:stretch>
        </p:blipFill>
        <p:spPr>
          <a:xfrm>
            <a:off x="9636571" y="4376696"/>
            <a:ext cx="2175400" cy="2294553"/>
          </a:xfrm>
          <a:prstGeom prst="rect">
            <a:avLst/>
          </a:prstGeom>
          <a:ln w="25400">
            <a:solidFill>
              <a:srgbClr val="FF0000"/>
            </a:solidFill>
          </a:ln>
        </p:spPr>
      </p:pic>
      <p:sp>
        <p:nvSpPr>
          <p:cNvPr id="8" name="Rectangle 7"/>
          <p:cNvSpPr/>
          <p:nvPr/>
        </p:nvSpPr>
        <p:spPr>
          <a:xfrm>
            <a:off x="4628271" y="1383278"/>
            <a:ext cx="7301131" cy="707886"/>
          </a:xfrm>
          <a:prstGeom prst="rect">
            <a:avLst/>
          </a:prstGeom>
        </p:spPr>
        <p:txBody>
          <a:bodyPr wrap="square">
            <a:spAutoFit/>
          </a:bodyPr>
          <a:lstStyle/>
          <a:p>
            <a:r>
              <a:rPr lang="en-IN" sz="2000" dirty="0"/>
              <a:t>To create a view from COMPANY table. This view would be used to have only few columns from COMPANY table: </a:t>
            </a:r>
          </a:p>
        </p:txBody>
      </p:sp>
      <p:pic>
        <p:nvPicPr>
          <p:cNvPr id="9" name="Picture 8"/>
          <p:cNvPicPr>
            <a:picLocks noChangeAspect="1"/>
          </p:cNvPicPr>
          <p:nvPr/>
        </p:nvPicPr>
        <p:blipFill>
          <a:blip r:embed="rId5"/>
          <a:stretch>
            <a:fillRect/>
          </a:stretch>
        </p:blipFill>
        <p:spPr>
          <a:xfrm>
            <a:off x="419100" y="1383277"/>
            <a:ext cx="4082562" cy="2721708"/>
          </a:xfrm>
          <a:prstGeom prst="rect">
            <a:avLst/>
          </a:prstGeom>
          <a:ln w="25400">
            <a:solidFill>
              <a:srgbClr val="FF0000"/>
            </a:solidFill>
          </a:ln>
        </p:spPr>
      </p:pic>
      <p:pic>
        <p:nvPicPr>
          <p:cNvPr id="10" name="Picture 9"/>
          <p:cNvPicPr>
            <a:picLocks noChangeAspect="1"/>
          </p:cNvPicPr>
          <p:nvPr/>
        </p:nvPicPr>
        <p:blipFill>
          <a:blip r:embed="rId6"/>
          <a:stretch>
            <a:fillRect/>
          </a:stretch>
        </p:blipFill>
        <p:spPr>
          <a:xfrm>
            <a:off x="5975105" y="2164753"/>
            <a:ext cx="4195837" cy="825713"/>
          </a:xfrm>
          <a:prstGeom prst="rect">
            <a:avLst/>
          </a:prstGeom>
          <a:ln w="25400">
            <a:solidFill>
              <a:srgbClr val="FF0000"/>
            </a:solidFill>
          </a:ln>
        </p:spPr>
      </p:pic>
      <p:sp>
        <p:nvSpPr>
          <p:cNvPr id="11" name="Rectangle 10"/>
          <p:cNvSpPr/>
          <p:nvPr/>
        </p:nvSpPr>
        <p:spPr>
          <a:xfrm>
            <a:off x="4639958" y="3037249"/>
            <a:ext cx="6096000" cy="646331"/>
          </a:xfrm>
          <a:prstGeom prst="rect">
            <a:avLst/>
          </a:prstGeom>
        </p:spPr>
        <p:txBody>
          <a:bodyPr>
            <a:spAutoFit/>
          </a:bodyPr>
          <a:lstStyle/>
          <a:p>
            <a:r>
              <a:rPr lang="en-IN" dirty="0"/>
              <a:t>We can query COMPANY_VIEW in a similar way as we query an actual table as the following:</a:t>
            </a:r>
          </a:p>
        </p:txBody>
      </p:sp>
      <p:pic>
        <p:nvPicPr>
          <p:cNvPr id="12" name="Picture 11"/>
          <p:cNvPicPr>
            <a:picLocks noChangeAspect="1"/>
          </p:cNvPicPr>
          <p:nvPr/>
        </p:nvPicPr>
        <p:blipFill>
          <a:blip r:embed="rId7"/>
          <a:stretch>
            <a:fillRect/>
          </a:stretch>
        </p:blipFill>
        <p:spPr>
          <a:xfrm>
            <a:off x="5737714" y="3757966"/>
            <a:ext cx="3900488" cy="419271"/>
          </a:xfrm>
          <a:prstGeom prst="rect">
            <a:avLst/>
          </a:prstGeom>
          <a:ln w="25400">
            <a:solidFill>
              <a:srgbClr val="FF0000"/>
            </a:solidFill>
          </a:ln>
        </p:spPr>
      </p:pic>
      <p:sp>
        <p:nvSpPr>
          <p:cNvPr id="14" name="Rectangle 13"/>
          <p:cNvSpPr/>
          <p:nvPr/>
        </p:nvSpPr>
        <p:spPr>
          <a:xfrm>
            <a:off x="10170942" y="3883039"/>
            <a:ext cx="1000595" cy="400110"/>
          </a:xfrm>
          <a:prstGeom prst="rect">
            <a:avLst/>
          </a:prstGeom>
        </p:spPr>
        <p:txBody>
          <a:bodyPr wrap="none">
            <a:spAutoFit/>
          </a:bodyPr>
          <a:lstStyle/>
          <a:p>
            <a:r>
              <a:rPr lang="en-IN" sz="2000" dirty="0">
                <a:solidFill>
                  <a:srgbClr val="00B050"/>
                </a:solidFill>
              </a:rPr>
              <a:t>Output:</a:t>
            </a:r>
            <a:endParaRPr lang="en-IN" sz="2000" dirty="0"/>
          </a:p>
        </p:txBody>
      </p:sp>
      <p:sp>
        <p:nvSpPr>
          <p:cNvPr id="13" name="Rectangle 12"/>
          <p:cNvSpPr/>
          <p:nvPr/>
        </p:nvSpPr>
        <p:spPr>
          <a:xfrm>
            <a:off x="419100" y="4534991"/>
            <a:ext cx="7458810" cy="967957"/>
          </a:xfrm>
          <a:prstGeom prst="rect">
            <a:avLst/>
          </a:prstGeom>
          <a:ln w="25400">
            <a:solidFill>
              <a:srgbClr val="002060"/>
            </a:solidFill>
          </a:ln>
        </p:spPr>
        <p:txBody>
          <a:bodyPr wrap="square">
            <a:spAutoFit/>
          </a:bodyPr>
          <a:lstStyle/>
          <a:p>
            <a:pPr algn="just">
              <a:lnSpc>
                <a:spcPct val="150000"/>
              </a:lnSpc>
            </a:pPr>
            <a:r>
              <a:rPr lang="en-IN" sz="2000" dirty="0"/>
              <a:t>Dropping Views: To drop a view, simply use the DROP VIEW statement with the </a:t>
            </a:r>
            <a:r>
              <a:rPr lang="en-IN" sz="2000" dirty="0" err="1"/>
              <a:t>view_name</a:t>
            </a:r>
            <a:r>
              <a:rPr lang="en-IN" sz="2000" dirty="0"/>
              <a:t>. The basic DROP VIEW syntax is as follows:</a:t>
            </a:r>
          </a:p>
        </p:txBody>
      </p:sp>
      <p:pic>
        <p:nvPicPr>
          <p:cNvPr id="15" name="Picture 14"/>
          <p:cNvPicPr>
            <a:picLocks noChangeAspect="1"/>
          </p:cNvPicPr>
          <p:nvPr/>
        </p:nvPicPr>
        <p:blipFill>
          <a:blip r:embed="rId8"/>
          <a:stretch>
            <a:fillRect/>
          </a:stretch>
        </p:blipFill>
        <p:spPr>
          <a:xfrm>
            <a:off x="2460381" y="5915218"/>
            <a:ext cx="4038894" cy="424377"/>
          </a:xfrm>
          <a:prstGeom prst="rect">
            <a:avLst/>
          </a:prstGeom>
          <a:ln w="25400">
            <a:solidFill>
              <a:srgbClr val="FF0000"/>
            </a:solidFill>
          </a:ln>
        </p:spPr>
      </p:pic>
      <p:cxnSp>
        <p:nvCxnSpPr>
          <p:cNvPr id="17" name="Straight Connector 16"/>
          <p:cNvCxnSpPr>
            <a:stCxn id="13" idx="2"/>
          </p:cNvCxnSpPr>
          <p:nvPr/>
        </p:nvCxnSpPr>
        <p:spPr>
          <a:xfrm>
            <a:off x="4148505" y="5502948"/>
            <a:ext cx="0" cy="41227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419396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COMPOUND STATEMENTS </a:t>
            </a:r>
          </a:p>
        </p:txBody>
      </p:sp>
      <p:sp>
        <p:nvSpPr>
          <p:cNvPr id="4" name="Rectangle 3"/>
          <p:cNvSpPr/>
          <p:nvPr/>
        </p:nvSpPr>
        <p:spPr>
          <a:xfrm>
            <a:off x="295420" y="1008040"/>
            <a:ext cx="6288259" cy="5632311"/>
          </a:xfrm>
          <a:prstGeom prst="rect">
            <a:avLst/>
          </a:prstGeom>
        </p:spPr>
        <p:txBody>
          <a:bodyPr wrap="square">
            <a:spAutoFit/>
          </a:bodyPr>
          <a:lstStyle/>
          <a:p>
            <a:pPr algn="just">
              <a:lnSpc>
                <a:spcPct val="150000"/>
              </a:lnSpc>
            </a:pPr>
            <a:r>
              <a:rPr lang="en-US" sz="2000" dirty="0"/>
              <a:t>A Compound Statement is in principal the essential block of the SQL/PSM language (</a:t>
            </a:r>
            <a:r>
              <a:rPr lang="en-US" sz="2000" dirty="0">
                <a:solidFill>
                  <a:srgbClr val="00B050"/>
                </a:solidFill>
              </a:rPr>
              <a:t>PSM</a:t>
            </a:r>
            <a:r>
              <a:rPr lang="en-US" sz="2000" dirty="0"/>
              <a:t> --&gt; "</a:t>
            </a:r>
            <a:r>
              <a:rPr lang="en-US" sz="2000" dirty="0">
                <a:solidFill>
                  <a:srgbClr val="00B050"/>
                </a:solidFill>
              </a:rPr>
              <a:t>Persistent, Stored Modules</a:t>
            </a:r>
            <a:r>
              <a:rPr lang="en-US" sz="2000" dirty="0"/>
              <a:t>" allows us to store procedures as database schema elements. PSM = a mixture of conventional statements (if, while, etc.) and SQL). It enables us to enter the sequence of statements, declare local variables, conditions and subroutines, errors (exceptions) and warnings handling. The declaration of variables can not be intersected by the declaration of cursors, errors handling, etc. The variables can be set to the default value. The range of a compound statement is determined by the pair BEGIN END.</a:t>
            </a:r>
            <a:endParaRPr lang="en-IN" sz="2000" dirty="0"/>
          </a:p>
        </p:txBody>
      </p:sp>
      <p:pic>
        <p:nvPicPr>
          <p:cNvPr id="2" name="Picture 1"/>
          <p:cNvPicPr>
            <a:picLocks noChangeAspect="1"/>
          </p:cNvPicPr>
          <p:nvPr/>
        </p:nvPicPr>
        <p:blipFill>
          <a:blip r:embed="rId4"/>
          <a:stretch>
            <a:fillRect/>
          </a:stretch>
        </p:blipFill>
        <p:spPr>
          <a:xfrm>
            <a:off x="6583679" y="1251805"/>
            <a:ext cx="5289453" cy="5022386"/>
          </a:xfrm>
          <a:prstGeom prst="rect">
            <a:avLst/>
          </a:prstGeom>
          <a:ln w="25400">
            <a:solidFill>
              <a:srgbClr val="FF0000"/>
            </a:solidFill>
          </a:ln>
        </p:spPr>
      </p:pic>
      <p:sp>
        <p:nvSpPr>
          <p:cNvPr id="16" name="Rectangle 15"/>
          <p:cNvSpPr/>
          <p:nvPr/>
        </p:nvSpPr>
        <p:spPr>
          <a:xfrm>
            <a:off x="8539090" y="851695"/>
            <a:ext cx="1135439" cy="400110"/>
          </a:xfrm>
          <a:prstGeom prst="rect">
            <a:avLst/>
          </a:prstGeom>
        </p:spPr>
        <p:txBody>
          <a:bodyPr wrap="none">
            <a:spAutoFit/>
          </a:bodyPr>
          <a:lstStyle/>
          <a:p>
            <a:r>
              <a:rPr lang="en-IN" sz="2000" dirty="0">
                <a:solidFill>
                  <a:srgbClr val="00B050"/>
                </a:solidFill>
              </a:rPr>
              <a:t>Example:</a:t>
            </a:r>
            <a:endParaRPr lang="en-IN" sz="2000" dirty="0"/>
          </a:p>
        </p:txBody>
      </p:sp>
    </p:spTree>
    <p:extLst>
      <p:ext uri="{BB962C8B-B14F-4D97-AF65-F5344CB8AC3E}">
        <p14:creationId xmlns:p14="http://schemas.microsoft.com/office/powerpoint/2010/main" val="2343888289"/>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USER DEFINED FUNCTIONS </a:t>
            </a:r>
          </a:p>
        </p:txBody>
      </p:sp>
      <p:sp>
        <p:nvSpPr>
          <p:cNvPr id="4" name="Rectangle 3"/>
          <p:cNvSpPr/>
          <p:nvPr/>
        </p:nvSpPr>
        <p:spPr>
          <a:xfrm>
            <a:off x="1575581" y="811660"/>
            <a:ext cx="9186204" cy="553998"/>
          </a:xfrm>
          <a:prstGeom prst="rect">
            <a:avLst/>
          </a:prstGeom>
        </p:spPr>
        <p:txBody>
          <a:bodyPr wrap="square">
            <a:spAutoFit/>
          </a:bodyPr>
          <a:lstStyle/>
          <a:p>
            <a:pPr algn="just">
              <a:lnSpc>
                <a:spcPct val="150000"/>
              </a:lnSpc>
            </a:pPr>
            <a:r>
              <a:rPr lang="en-US" sz="2000" dirty="0"/>
              <a:t>PostgreSQL uses the CREATE FUNCTION statement to develop user-defined functions.</a:t>
            </a:r>
            <a:endParaRPr lang="en-IN" sz="2000" dirty="0"/>
          </a:p>
        </p:txBody>
      </p:sp>
      <p:pic>
        <p:nvPicPr>
          <p:cNvPr id="3" name="Picture 2"/>
          <p:cNvPicPr>
            <a:picLocks noChangeAspect="1"/>
          </p:cNvPicPr>
          <p:nvPr/>
        </p:nvPicPr>
        <p:blipFill>
          <a:blip r:embed="rId4"/>
          <a:stretch>
            <a:fillRect/>
          </a:stretch>
        </p:blipFill>
        <p:spPr>
          <a:xfrm>
            <a:off x="281352" y="2415858"/>
            <a:ext cx="5289454" cy="2719376"/>
          </a:xfrm>
          <a:prstGeom prst="rect">
            <a:avLst/>
          </a:prstGeom>
          <a:ln w="25400">
            <a:solidFill>
              <a:srgbClr val="FF0000"/>
            </a:solidFill>
          </a:ln>
        </p:spPr>
      </p:pic>
      <p:sp>
        <p:nvSpPr>
          <p:cNvPr id="6" name="Rectangle 5"/>
          <p:cNvSpPr/>
          <p:nvPr/>
        </p:nvSpPr>
        <p:spPr>
          <a:xfrm>
            <a:off x="5847471" y="1577242"/>
            <a:ext cx="6096000" cy="5035353"/>
          </a:xfrm>
          <a:prstGeom prst="rect">
            <a:avLst/>
          </a:prstGeom>
          <a:ln w="25400">
            <a:solidFill>
              <a:srgbClr val="002060"/>
            </a:solidFill>
          </a:ln>
        </p:spPr>
        <p:txBody>
          <a:bodyPr>
            <a:spAutoFit/>
          </a:bodyPr>
          <a:lstStyle/>
          <a:p>
            <a:pPr algn="just">
              <a:lnSpc>
                <a:spcPct val="150000"/>
              </a:lnSpc>
            </a:pPr>
            <a:r>
              <a:rPr lang="en-IN" dirty="0">
                <a:solidFill>
                  <a:srgbClr val="00B050"/>
                </a:solidFill>
              </a:rPr>
              <a:t>Details of syntax:</a:t>
            </a:r>
          </a:p>
          <a:p>
            <a:pPr marL="342900" indent="-342900" algn="just">
              <a:lnSpc>
                <a:spcPct val="150000"/>
              </a:lnSpc>
              <a:buFont typeface="+mj-lt"/>
              <a:buAutoNum type="alphaLcPeriod"/>
            </a:pPr>
            <a:r>
              <a:rPr lang="en-IN" dirty="0"/>
              <a:t>First, specify the name of the function after the CREATE FUNCTION keywords.</a:t>
            </a:r>
          </a:p>
          <a:p>
            <a:pPr marL="342900" indent="-342900" algn="just">
              <a:lnSpc>
                <a:spcPct val="150000"/>
              </a:lnSpc>
              <a:buFont typeface="+mj-lt"/>
              <a:buAutoNum type="alphaLcPeriod"/>
            </a:pPr>
            <a:r>
              <a:rPr lang="en-IN" dirty="0"/>
              <a:t>Then, put a comma-separated list of parameters inside the parentheses following the function name.</a:t>
            </a:r>
          </a:p>
          <a:p>
            <a:pPr marL="342900" indent="-342900" algn="just">
              <a:lnSpc>
                <a:spcPct val="150000"/>
              </a:lnSpc>
              <a:buFont typeface="+mj-lt"/>
              <a:buAutoNum type="alphaLcPeriod"/>
            </a:pPr>
            <a:r>
              <a:rPr lang="en-IN" dirty="0"/>
              <a:t>Next, specify the return type of the function after the RETURNS keyword.</a:t>
            </a:r>
          </a:p>
          <a:p>
            <a:pPr marL="342900" indent="-342900" algn="just">
              <a:lnSpc>
                <a:spcPct val="150000"/>
              </a:lnSpc>
              <a:buFont typeface="+mj-lt"/>
              <a:buAutoNum type="alphaLcPeriod"/>
            </a:pPr>
            <a:r>
              <a:rPr lang="en-IN" dirty="0"/>
              <a:t>After that, place the code inside the BEGIN and END block. The function always ends with a semicolon (;) followed by the END keyword.</a:t>
            </a:r>
          </a:p>
          <a:p>
            <a:pPr marL="342900" indent="-342900" algn="just">
              <a:lnSpc>
                <a:spcPct val="150000"/>
              </a:lnSpc>
              <a:buFont typeface="+mj-lt"/>
              <a:buAutoNum type="alphaLcPeriod"/>
            </a:pPr>
            <a:r>
              <a:rPr lang="en-IN" dirty="0"/>
              <a:t>Finally, indicate the procedural language of the function e.g., </a:t>
            </a:r>
            <a:r>
              <a:rPr lang="en-IN" dirty="0" err="1"/>
              <a:t>plpgsql</a:t>
            </a:r>
            <a:r>
              <a:rPr lang="en-IN" dirty="0"/>
              <a:t> in case PL/</a:t>
            </a:r>
            <a:r>
              <a:rPr lang="en-IN" dirty="0" err="1"/>
              <a:t>pgSQL</a:t>
            </a:r>
            <a:r>
              <a:rPr lang="en-IN" dirty="0"/>
              <a:t> is used.</a:t>
            </a:r>
          </a:p>
        </p:txBody>
      </p:sp>
    </p:spTree>
    <p:extLst>
      <p:ext uri="{BB962C8B-B14F-4D97-AF65-F5344CB8AC3E}">
        <p14:creationId xmlns:p14="http://schemas.microsoft.com/office/powerpoint/2010/main" val="2198480377"/>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USER DEFINED FUNCTIONS </a:t>
            </a:r>
          </a:p>
        </p:txBody>
      </p:sp>
      <p:sp>
        <p:nvSpPr>
          <p:cNvPr id="4" name="Rectangle 3"/>
          <p:cNvSpPr/>
          <p:nvPr/>
        </p:nvSpPr>
        <p:spPr>
          <a:xfrm>
            <a:off x="154745" y="811660"/>
            <a:ext cx="11760590" cy="506292"/>
          </a:xfrm>
          <a:prstGeom prst="rect">
            <a:avLst/>
          </a:prstGeom>
        </p:spPr>
        <p:txBody>
          <a:bodyPr wrap="square">
            <a:spAutoFit/>
          </a:bodyPr>
          <a:lstStyle/>
          <a:p>
            <a:pPr algn="just">
              <a:lnSpc>
                <a:spcPct val="150000"/>
              </a:lnSpc>
            </a:pPr>
            <a:r>
              <a:rPr lang="en-US" sz="2000" dirty="0">
                <a:solidFill>
                  <a:srgbClr val="00B050"/>
                </a:solidFill>
              </a:rPr>
              <a:t>Example:</a:t>
            </a:r>
            <a:r>
              <a:rPr lang="en-US" sz="2000" dirty="0"/>
              <a:t> We will develop a very simple function named </a:t>
            </a:r>
            <a:r>
              <a:rPr lang="en-US" sz="2000" b="1" dirty="0" err="1"/>
              <a:t>inc</a:t>
            </a:r>
            <a:r>
              <a:rPr lang="en-US" sz="2000" dirty="0"/>
              <a:t> that increases an integer by 1 and returns the result.</a:t>
            </a:r>
          </a:p>
        </p:txBody>
      </p:sp>
      <p:pic>
        <p:nvPicPr>
          <p:cNvPr id="2" name="Picture 1"/>
          <p:cNvPicPr>
            <a:picLocks noChangeAspect="1"/>
          </p:cNvPicPr>
          <p:nvPr/>
        </p:nvPicPr>
        <p:blipFill>
          <a:blip r:embed="rId4"/>
          <a:stretch>
            <a:fillRect/>
          </a:stretch>
        </p:blipFill>
        <p:spPr>
          <a:xfrm>
            <a:off x="2978760" y="1402877"/>
            <a:ext cx="5672872" cy="1626463"/>
          </a:xfrm>
          <a:prstGeom prst="rect">
            <a:avLst/>
          </a:prstGeom>
          <a:ln w="25400">
            <a:solidFill>
              <a:srgbClr val="FF0000"/>
            </a:solidFill>
          </a:ln>
        </p:spPr>
      </p:pic>
      <p:sp>
        <p:nvSpPr>
          <p:cNvPr id="7" name="Rectangle 6"/>
          <p:cNvSpPr/>
          <p:nvPr/>
        </p:nvSpPr>
        <p:spPr>
          <a:xfrm>
            <a:off x="450164" y="3092569"/>
            <a:ext cx="11465170" cy="707886"/>
          </a:xfrm>
          <a:prstGeom prst="rect">
            <a:avLst/>
          </a:prstGeom>
        </p:spPr>
        <p:txBody>
          <a:bodyPr wrap="square">
            <a:spAutoFit/>
          </a:bodyPr>
          <a:lstStyle/>
          <a:p>
            <a:r>
              <a:rPr lang="en-IN" sz="2000" dirty="0"/>
              <a:t>If the function is valid, PostgreSQL will create the function and return the CREATE FUNCTION statement as the following.</a:t>
            </a:r>
          </a:p>
        </p:txBody>
      </p:sp>
      <p:pic>
        <p:nvPicPr>
          <p:cNvPr id="8" name="Picture 7"/>
          <p:cNvPicPr>
            <a:picLocks noChangeAspect="1"/>
          </p:cNvPicPr>
          <p:nvPr/>
        </p:nvPicPr>
        <p:blipFill>
          <a:blip r:embed="rId5"/>
          <a:stretch>
            <a:fillRect/>
          </a:stretch>
        </p:blipFill>
        <p:spPr>
          <a:xfrm>
            <a:off x="4304778" y="3691808"/>
            <a:ext cx="3755942" cy="677301"/>
          </a:xfrm>
          <a:prstGeom prst="rect">
            <a:avLst/>
          </a:prstGeom>
          <a:ln w="25400">
            <a:solidFill>
              <a:srgbClr val="FF0000"/>
            </a:solidFill>
          </a:ln>
        </p:spPr>
      </p:pic>
      <p:sp>
        <p:nvSpPr>
          <p:cNvPr id="9" name="Rectangle 8"/>
          <p:cNvSpPr/>
          <p:nvPr/>
        </p:nvSpPr>
        <p:spPr>
          <a:xfrm>
            <a:off x="450163" y="4429157"/>
            <a:ext cx="11324493" cy="400110"/>
          </a:xfrm>
          <a:prstGeom prst="rect">
            <a:avLst/>
          </a:prstGeom>
        </p:spPr>
        <p:txBody>
          <a:bodyPr wrap="square">
            <a:spAutoFit/>
          </a:bodyPr>
          <a:lstStyle/>
          <a:p>
            <a:r>
              <a:rPr lang="en-IN" sz="2000" dirty="0"/>
              <a:t>We can call the  </a:t>
            </a:r>
            <a:r>
              <a:rPr lang="en-IN" sz="2000" b="1" dirty="0" err="1"/>
              <a:t>inc</a:t>
            </a:r>
            <a:r>
              <a:rPr lang="en-IN" sz="2000" dirty="0"/>
              <a:t> function like any built-in functions as follows:</a:t>
            </a:r>
          </a:p>
        </p:txBody>
      </p:sp>
      <p:pic>
        <p:nvPicPr>
          <p:cNvPr id="10" name="Picture 9"/>
          <p:cNvPicPr>
            <a:picLocks noChangeAspect="1"/>
          </p:cNvPicPr>
          <p:nvPr/>
        </p:nvPicPr>
        <p:blipFill>
          <a:blip r:embed="rId6"/>
          <a:stretch>
            <a:fillRect/>
          </a:stretch>
        </p:blipFill>
        <p:spPr>
          <a:xfrm>
            <a:off x="1030877" y="5079289"/>
            <a:ext cx="1855527" cy="378679"/>
          </a:xfrm>
          <a:prstGeom prst="rect">
            <a:avLst/>
          </a:prstGeom>
          <a:ln w="25400">
            <a:solidFill>
              <a:srgbClr val="FF0000"/>
            </a:solidFill>
          </a:ln>
        </p:spPr>
      </p:pic>
      <p:pic>
        <p:nvPicPr>
          <p:cNvPr id="11" name="Picture 10"/>
          <p:cNvPicPr>
            <a:picLocks noChangeAspect="1"/>
          </p:cNvPicPr>
          <p:nvPr/>
        </p:nvPicPr>
        <p:blipFill>
          <a:blip r:embed="rId7"/>
          <a:stretch>
            <a:fillRect/>
          </a:stretch>
        </p:blipFill>
        <p:spPr>
          <a:xfrm>
            <a:off x="8060720" y="4832122"/>
            <a:ext cx="1524688" cy="742950"/>
          </a:xfrm>
          <a:prstGeom prst="rect">
            <a:avLst/>
          </a:prstGeom>
          <a:ln w="25400">
            <a:solidFill>
              <a:srgbClr val="FF0000"/>
            </a:solidFill>
          </a:ln>
        </p:spPr>
      </p:pic>
      <p:sp>
        <p:nvSpPr>
          <p:cNvPr id="14" name="Rectangle 13"/>
          <p:cNvSpPr/>
          <p:nvPr/>
        </p:nvSpPr>
        <p:spPr>
          <a:xfrm>
            <a:off x="450164" y="5615064"/>
            <a:ext cx="11324493" cy="400110"/>
          </a:xfrm>
          <a:prstGeom prst="rect">
            <a:avLst/>
          </a:prstGeom>
        </p:spPr>
        <p:txBody>
          <a:bodyPr wrap="square">
            <a:spAutoFit/>
          </a:bodyPr>
          <a:lstStyle/>
          <a:p>
            <a:r>
              <a:rPr lang="en-IN" sz="2000" dirty="0"/>
              <a:t>If we call the  </a:t>
            </a:r>
            <a:r>
              <a:rPr lang="en-IN" sz="2000" b="1" dirty="0" err="1"/>
              <a:t>inc</a:t>
            </a:r>
            <a:r>
              <a:rPr lang="en-IN" sz="2000" dirty="0"/>
              <a:t> function 2 times (nested), the result is as the following:</a:t>
            </a:r>
          </a:p>
        </p:txBody>
      </p:sp>
      <p:pic>
        <p:nvPicPr>
          <p:cNvPr id="13" name="Picture 12"/>
          <p:cNvPicPr>
            <a:picLocks noChangeAspect="1"/>
          </p:cNvPicPr>
          <p:nvPr/>
        </p:nvPicPr>
        <p:blipFill>
          <a:blip r:embed="rId8"/>
          <a:stretch>
            <a:fillRect/>
          </a:stretch>
        </p:blipFill>
        <p:spPr>
          <a:xfrm>
            <a:off x="1030877" y="6234389"/>
            <a:ext cx="2331302" cy="354763"/>
          </a:xfrm>
          <a:prstGeom prst="rect">
            <a:avLst/>
          </a:prstGeom>
          <a:ln w="25400">
            <a:solidFill>
              <a:srgbClr val="FF0000"/>
            </a:solidFill>
          </a:ln>
        </p:spPr>
      </p:pic>
      <p:sp>
        <p:nvSpPr>
          <p:cNvPr id="16" name="Rectangle 15"/>
          <p:cNvSpPr/>
          <p:nvPr/>
        </p:nvSpPr>
        <p:spPr>
          <a:xfrm>
            <a:off x="8357231" y="4253147"/>
            <a:ext cx="931665" cy="400110"/>
          </a:xfrm>
          <a:prstGeom prst="rect">
            <a:avLst/>
          </a:prstGeom>
          <a:ln w="25400">
            <a:solidFill>
              <a:srgbClr val="FF0000"/>
            </a:solidFill>
          </a:ln>
        </p:spPr>
        <p:txBody>
          <a:bodyPr wrap="none">
            <a:spAutoFit/>
          </a:bodyPr>
          <a:lstStyle/>
          <a:p>
            <a:r>
              <a:rPr lang="en-IN" sz="2000" dirty="0">
                <a:solidFill>
                  <a:srgbClr val="00B050"/>
                </a:solidFill>
              </a:rPr>
              <a:t>Output</a:t>
            </a:r>
            <a:endParaRPr lang="en-IN" sz="2000" dirty="0"/>
          </a:p>
        </p:txBody>
      </p:sp>
      <p:pic>
        <p:nvPicPr>
          <p:cNvPr id="15" name="Picture 14"/>
          <p:cNvPicPr>
            <a:picLocks noChangeAspect="1"/>
          </p:cNvPicPr>
          <p:nvPr/>
        </p:nvPicPr>
        <p:blipFill>
          <a:blip r:embed="rId9"/>
          <a:stretch>
            <a:fillRect/>
          </a:stretch>
        </p:blipFill>
        <p:spPr>
          <a:xfrm>
            <a:off x="8060720" y="5921507"/>
            <a:ext cx="1524688" cy="794879"/>
          </a:xfrm>
          <a:prstGeom prst="rect">
            <a:avLst/>
          </a:prstGeom>
          <a:ln w="25400">
            <a:solidFill>
              <a:srgbClr val="FF0000"/>
            </a:solidFill>
          </a:ln>
        </p:spPr>
      </p:pic>
      <p:cxnSp>
        <p:nvCxnSpPr>
          <p:cNvPr id="23" name="Straight Arrow Connector 22"/>
          <p:cNvCxnSpPr>
            <a:stCxn id="10" idx="3"/>
            <a:endCxn id="11" idx="1"/>
          </p:cNvCxnSpPr>
          <p:nvPr/>
        </p:nvCxnSpPr>
        <p:spPr>
          <a:xfrm flipV="1">
            <a:off x="2886404" y="5203597"/>
            <a:ext cx="5174316" cy="650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3" idx="3"/>
          </p:cNvCxnSpPr>
          <p:nvPr/>
        </p:nvCxnSpPr>
        <p:spPr>
          <a:xfrm flipV="1">
            <a:off x="3362179" y="6387921"/>
            <a:ext cx="4698541" cy="2385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31191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49205" y="204495"/>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04800" y="1289708"/>
            <a:ext cx="11492248" cy="1938992"/>
          </a:xfrm>
          <a:prstGeom prst="rect">
            <a:avLst/>
          </a:prstGeom>
        </p:spPr>
        <p:txBody>
          <a:bodyPr wrap="square">
            <a:spAutoFit/>
          </a:bodyPr>
          <a:lstStyle/>
          <a:p>
            <a:pPr marL="457200" indent="-457200">
              <a:buFont typeface="+mj-lt"/>
              <a:buAutoNum type="arabicParenR"/>
            </a:pPr>
            <a:r>
              <a:rPr lang="en-IN" sz="2400" dirty="0"/>
              <a:t>Create two tables (employee personal and payroll) and execute different types joins.</a:t>
            </a:r>
          </a:p>
          <a:p>
            <a:pPr marL="457200" indent="-457200">
              <a:buFont typeface="+mj-lt"/>
              <a:buAutoNum type="arabicParenR"/>
            </a:pPr>
            <a:endParaRPr lang="en-IN" sz="2400" dirty="0"/>
          </a:p>
          <a:p>
            <a:pPr marL="457200" indent="-457200">
              <a:buFont typeface="+mj-lt"/>
              <a:buAutoNum type="arabicParenR"/>
            </a:pPr>
            <a:r>
              <a:rPr lang="en-IN" sz="2400" dirty="0"/>
              <a:t>Create a view for a table student and execute it.</a:t>
            </a:r>
          </a:p>
          <a:p>
            <a:pPr marL="457200" indent="-457200">
              <a:buFont typeface="+mj-lt"/>
              <a:buAutoNum type="arabicParenR"/>
            </a:pPr>
            <a:endParaRPr lang="en-IN" sz="2400" dirty="0"/>
          </a:p>
          <a:p>
            <a:pPr marL="457200" indent="-457200">
              <a:buFont typeface="+mj-lt"/>
              <a:buAutoNum type="arabicParenR"/>
            </a:pPr>
            <a:r>
              <a:rPr lang="en-IN" sz="2400" dirty="0"/>
              <a:t>Create a user defined function and execute it.</a:t>
            </a:r>
          </a:p>
        </p:txBody>
      </p:sp>
    </p:spTree>
    <p:extLst>
      <p:ext uri="{BB962C8B-B14F-4D97-AF65-F5344CB8AC3E}">
        <p14:creationId xmlns:p14="http://schemas.microsoft.com/office/powerpoint/2010/main" val="130014634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4365" y="1370219"/>
            <a:ext cx="8761500" cy="707886"/>
          </a:xfrm>
          <a:prstGeom prst="rect">
            <a:avLst/>
          </a:prstGeom>
        </p:spPr>
        <p:txBody>
          <a:bodyPr wrap="square">
            <a:spAutoFit/>
          </a:bodyPr>
          <a:lstStyle/>
          <a:p>
            <a:pPr algn="just"/>
            <a:r>
              <a:rPr lang="en-IN" sz="2000" b="1" dirty="0">
                <a:solidFill>
                  <a:srgbClr val="FF0000"/>
                </a:solidFill>
              </a:rPr>
              <a:t>1. INNER JOIN: </a:t>
            </a:r>
            <a:r>
              <a:rPr lang="en-US" sz="2000" dirty="0"/>
              <a:t>The following statement joins the first table (</a:t>
            </a:r>
            <a:r>
              <a:rPr lang="en-US" sz="2000" dirty="0" err="1"/>
              <a:t>basket_a</a:t>
            </a:r>
            <a:r>
              <a:rPr lang="en-US" sz="2000" dirty="0"/>
              <a:t>) with the second table (</a:t>
            </a:r>
            <a:r>
              <a:rPr lang="en-US" sz="2000" dirty="0" err="1"/>
              <a:t>basket_b</a:t>
            </a:r>
            <a:r>
              <a:rPr lang="en-US" sz="2000" dirty="0"/>
              <a:t>) by matching the values in the </a:t>
            </a:r>
            <a:r>
              <a:rPr lang="en-US" sz="2000" dirty="0" err="1"/>
              <a:t>fruit_a</a:t>
            </a:r>
            <a:r>
              <a:rPr lang="en-US" sz="2000" dirty="0"/>
              <a:t> and </a:t>
            </a:r>
            <a:r>
              <a:rPr lang="en-US" sz="2000" dirty="0" err="1"/>
              <a:t>fruit_b</a:t>
            </a:r>
            <a:r>
              <a:rPr lang="en-US" sz="2000" dirty="0"/>
              <a:t> columns:</a:t>
            </a:r>
            <a:endParaRPr lang="en-IN" sz="2000" dirty="0"/>
          </a:p>
        </p:txBody>
      </p:sp>
      <p:pic>
        <p:nvPicPr>
          <p:cNvPr id="3" name="Picture 2"/>
          <p:cNvPicPr>
            <a:picLocks noChangeAspect="1"/>
          </p:cNvPicPr>
          <p:nvPr/>
        </p:nvPicPr>
        <p:blipFill>
          <a:blip r:embed="rId3"/>
          <a:stretch>
            <a:fillRect/>
          </a:stretch>
        </p:blipFill>
        <p:spPr>
          <a:xfrm>
            <a:off x="9511660" y="654089"/>
            <a:ext cx="2361472" cy="2447925"/>
          </a:xfrm>
          <a:prstGeom prst="rect">
            <a:avLst/>
          </a:prstGeom>
          <a:ln w="25400">
            <a:solidFill>
              <a:srgbClr val="FF0000"/>
            </a:solidFill>
          </a:ln>
        </p:spPr>
      </p:pic>
      <p:sp>
        <p:nvSpPr>
          <p:cNvPr id="6" name="Rectangle 5"/>
          <p:cNvSpPr/>
          <p:nvPr/>
        </p:nvSpPr>
        <p:spPr>
          <a:xfrm>
            <a:off x="354365" y="2615213"/>
            <a:ext cx="8761500" cy="400110"/>
          </a:xfrm>
          <a:prstGeom prst="rect">
            <a:avLst/>
          </a:prstGeom>
        </p:spPr>
        <p:txBody>
          <a:bodyPr wrap="square">
            <a:spAutoFit/>
          </a:bodyPr>
          <a:lstStyle/>
          <a:p>
            <a:r>
              <a:rPr lang="en-IN" sz="2000" b="1" dirty="0">
                <a:solidFill>
                  <a:srgbClr val="FF0000"/>
                </a:solidFill>
              </a:rPr>
              <a:t>2. View: </a:t>
            </a:r>
            <a:r>
              <a:rPr lang="en-US" sz="2000" dirty="0"/>
              <a:t>Consider the 'Price' table given below:</a:t>
            </a:r>
            <a:endParaRPr lang="en-IN" sz="2000" dirty="0"/>
          </a:p>
        </p:txBody>
      </p:sp>
      <p:pic>
        <p:nvPicPr>
          <p:cNvPr id="5" name="Picture 4"/>
          <p:cNvPicPr>
            <a:picLocks noChangeAspect="1"/>
          </p:cNvPicPr>
          <p:nvPr/>
        </p:nvPicPr>
        <p:blipFill>
          <a:blip r:embed="rId4"/>
          <a:stretch>
            <a:fillRect/>
          </a:stretch>
        </p:blipFill>
        <p:spPr>
          <a:xfrm>
            <a:off x="5443007" y="2358098"/>
            <a:ext cx="2392697" cy="1314450"/>
          </a:xfrm>
          <a:prstGeom prst="rect">
            <a:avLst/>
          </a:prstGeom>
          <a:ln w="25400">
            <a:solidFill>
              <a:srgbClr val="FF0000"/>
            </a:solidFill>
          </a:ln>
        </p:spPr>
      </p:pic>
      <p:sp>
        <p:nvSpPr>
          <p:cNvPr id="7" name="Rectangle 6"/>
          <p:cNvSpPr/>
          <p:nvPr/>
        </p:nvSpPr>
        <p:spPr>
          <a:xfrm>
            <a:off x="354365" y="4116061"/>
            <a:ext cx="4551631" cy="400110"/>
          </a:xfrm>
          <a:prstGeom prst="rect">
            <a:avLst/>
          </a:prstGeom>
        </p:spPr>
        <p:txBody>
          <a:bodyPr wrap="none">
            <a:spAutoFit/>
          </a:bodyPr>
          <a:lstStyle/>
          <a:p>
            <a:r>
              <a:rPr lang="en-IN" sz="2000" dirty="0"/>
              <a:t>Let us create a view from the above table:</a:t>
            </a:r>
          </a:p>
        </p:txBody>
      </p:sp>
      <p:pic>
        <p:nvPicPr>
          <p:cNvPr id="8" name="Picture 7"/>
          <p:cNvPicPr>
            <a:picLocks noChangeAspect="1"/>
          </p:cNvPicPr>
          <p:nvPr/>
        </p:nvPicPr>
        <p:blipFill>
          <a:blip r:embed="rId5"/>
          <a:stretch>
            <a:fillRect/>
          </a:stretch>
        </p:blipFill>
        <p:spPr>
          <a:xfrm>
            <a:off x="5400145" y="3952541"/>
            <a:ext cx="2435559" cy="1023909"/>
          </a:xfrm>
          <a:prstGeom prst="rect">
            <a:avLst/>
          </a:prstGeom>
          <a:ln w="25400">
            <a:solidFill>
              <a:srgbClr val="FF0000"/>
            </a:solidFill>
          </a:ln>
        </p:spPr>
      </p:pic>
      <p:sp>
        <p:nvSpPr>
          <p:cNvPr id="9" name="Rectangle 8"/>
          <p:cNvSpPr/>
          <p:nvPr/>
        </p:nvSpPr>
        <p:spPr>
          <a:xfrm>
            <a:off x="354365" y="5135938"/>
            <a:ext cx="6096000" cy="1631216"/>
          </a:xfrm>
          <a:prstGeom prst="rect">
            <a:avLst/>
          </a:prstGeom>
        </p:spPr>
        <p:txBody>
          <a:bodyPr>
            <a:spAutoFit/>
          </a:bodyPr>
          <a:lstStyle/>
          <a:p>
            <a:pPr algn="just"/>
            <a:r>
              <a:rPr lang="en-IN" sz="2000" dirty="0"/>
              <a:t>The above command will create a view based on the SELECT statement. Only the records where the price is greater than 200 will be added to the view. The view has been given the name </a:t>
            </a:r>
            <a:r>
              <a:rPr lang="en-IN" sz="2000" dirty="0" err="1"/>
              <a:t>Price_View</a:t>
            </a:r>
            <a:r>
              <a:rPr lang="en-IN" sz="2000" dirty="0"/>
              <a:t>. Let us query it to see its contents:</a:t>
            </a:r>
          </a:p>
        </p:txBody>
      </p:sp>
      <p:pic>
        <p:nvPicPr>
          <p:cNvPr id="10" name="Picture 9"/>
          <p:cNvPicPr>
            <a:picLocks noChangeAspect="1"/>
          </p:cNvPicPr>
          <p:nvPr/>
        </p:nvPicPr>
        <p:blipFill>
          <a:blip r:embed="rId6"/>
          <a:stretch>
            <a:fillRect/>
          </a:stretch>
        </p:blipFill>
        <p:spPr>
          <a:xfrm>
            <a:off x="6509808" y="5516523"/>
            <a:ext cx="1738285" cy="617549"/>
          </a:xfrm>
          <a:prstGeom prst="rect">
            <a:avLst/>
          </a:prstGeom>
          <a:ln w="25400">
            <a:solidFill>
              <a:srgbClr val="FF0000"/>
            </a:solidFill>
          </a:ln>
        </p:spPr>
      </p:pic>
      <p:pic>
        <p:nvPicPr>
          <p:cNvPr id="13" name="Picture 12"/>
          <p:cNvPicPr>
            <a:picLocks noChangeAspect="1"/>
          </p:cNvPicPr>
          <p:nvPr/>
        </p:nvPicPr>
        <p:blipFill>
          <a:blip r:embed="rId7"/>
          <a:stretch>
            <a:fillRect/>
          </a:stretch>
        </p:blipFill>
        <p:spPr>
          <a:xfrm>
            <a:off x="9247696" y="5052850"/>
            <a:ext cx="2625436" cy="1544897"/>
          </a:xfrm>
          <a:prstGeom prst="rect">
            <a:avLst/>
          </a:prstGeom>
          <a:ln w="25400">
            <a:solidFill>
              <a:srgbClr val="FF0000"/>
            </a:solidFill>
          </a:ln>
        </p:spPr>
      </p:pic>
      <p:cxnSp>
        <p:nvCxnSpPr>
          <p:cNvPr id="15" name="Straight Arrow Connector 14"/>
          <p:cNvCxnSpPr>
            <a:stCxn id="10" idx="3"/>
            <a:endCxn id="13" idx="1"/>
          </p:cNvCxnSpPr>
          <p:nvPr/>
        </p:nvCxnSpPr>
        <p:spPr>
          <a:xfrm>
            <a:off x="8248093" y="5825298"/>
            <a:ext cx="999603" cy="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6293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218940" y="1063812"/>
            <a:ext cx="11668259" cy="3416320"/>
          </a:xfrm>
          <a:prstGeom prst="rect">
            <a:avLst/>
          </a:prstGeom>
        </p:spPr>
        <p:txBody>
          <a:bodyPr wrap="square">
            <a:spAutoFit/>
          </a:bodyPr>
          <a:lstStyle/>
          <a:p>
            <a:pPr marL="342900" indent="-342900" algn="just">
              <a:buFont typeface="Wingdings" panose="05000000000000000000" pitchFamily="2" charset="2"/>
              <a:buChar char="v"/>
            </a:pPr>
            <a:r>
              <a:rPr lang="en-US" sz="2400" dirty="0"/>
              <a:t>The PostgreSQL Joins clause is used to combine records from two or more tables in a database. A JOIN is a means for combining fields from two tables by using values common to each.</a:t>
            </a:r>
            <a:endParaRPr lang="en-IN" sz="2400" dirty="0"/>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US" sz="2400" dirty="0"/>
              <a:t>A PostgreSQL view is a logical table that represents data of one or more underlying tables through a SELECT statement.</a:t>
            </a:r>
            <a:endParaRPr lang="en-IN" sz="2400" dirty="0"/>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US" sz="2400" dirty="0"/>
              <a:t>A user defined PostgreSQL function is a group of arbitrary SQL statements designated to perform some task.</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Which join refers to join records from the write table that have no matching key in the left table are include in the result set: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Left Outer Join</a:t>
            </a:r>
          </a:p>
          <a:p>
            <a:pPr marL="342900" indent="-342900">
              <a:lnSpc>
                <a:spcPct val="150000"/>
              </a:lnSpc>
              <a:buAutoNum type="alphaLcParenBoth"/>
            </a:pPr>
            <a:r>
              <a:rPr lang="en-US" sz="1600" dirty="0">
                <a:latin typeface="Arial" panose="020B0604020202020204" pitchFamily="34" charset="0"/>
              </a:rPr>
              <a:t>Right Outer Join</a:t>
            </a:r>
          </a:p>
          <a:p>
            <a:pPr marL="342900" indent="-342900">
              <a:lnSpc>
                <a:spcPct val="150000"/>
              </a:lnSpc>
              <a:buAutoNum type="alphaLcParenBoth"/>
            </a:pPr>
            <a:r>
              <a:rPr lang="en-US" sz="1600" dirty="0">
                <a:latin typeface="Arial" panose="020B0604020202020204" pitchFamily="34" charset="0"/>
              </a:rPr>
              <a:t>Full Outer Join</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540611" y="2524019"/>
            <a:ext cx="2848088" cy="369332"/>
          </a:xfrm>
          <a:prstGeom prst="rect">
            <a:avLst/>
          </a:prstGeom>
        </p:spPr>
        <p:txBody>
          <a:bodyPr wrap="square">
            <a:spAutoFit/>
          </a:bodyPr>
          <a:lstStyle/>
          <a:p>
            <a:r>
              <a:rPr lang="en-IN" b="1" dirty="0">
                <a:solidFill>
                  <a:srgbClr val="FF0000"/>
                </a:solidFill>
              </a:rPr>
              <a:t>Answer: B) Right Outer Join</a:t>
            </a:r>
          </a:p>
        </p:txBody>
      </p:sp>
      <p:sp>
        <p:nvSpPr>
          <p:cNvPr id="9"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Which join refers to join records from the write table that have no matching key in the left table are include in the result set: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2"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Left Outer Join</a:t>
            </a:r>
          </a:p>
          <a:p>
            <a:pPr marL="342900" indent="-342900">
              <a:lnSpc>
                <a:spcPct val="150000"/>
              </a:lnSpc>
              <a:buAutoNum type="alphaLcParenBoth"/>
            </a:pPr>
            <a:r>
              <a:rPr lang="en-US" sz="1600" dirty="0">
                <a:latin typeface="Arial" panose="020B0604020202020204" pitchFamily="34" charset="0"/>
              </a:rPr>
              <a:t>Right Outer Join</a:t>
            </a:r>
          </a:p>
          <a:p>
            <a:pPr marL="342900" indent="-342900">
              <a:lnSpc>
                <a:spcPct val="150000"/>
              </a:lnSpc>
              <a:buAutoNum type="alphaLcParenBoth"/>
            </a:pPr>
            <a:r>
              <a:rPr lang="en-US" sz="1600" dirty="0">
                <a:latin typeface="Arial" panose="020B0604020202020204" pitchFamily="34" charset="0"/>
              </a:rPr>
              <a:t>Full Outer Join</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spTree>
    <p:extLst>
      <p:ext uri="{BB962C8B-B14F-4D97-AF65-F5344CB8AC3E}">
        <p14:creationId xmlns:p14="http://schemas.microsoft.com/office/powerpoint/2010/main" val="3083504352"/>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Which view that contains more than one table in the top-level FROM clause of the SELECT statement: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Join View</a:t>
            </a:r>
          </a:p>
          <a:p>
            <a:pPr marL="342900" indent="-342900">
              <a:lnSpc>
                <a:spcPct val="150000"/>
              </a:lnSpc>
              <a:buAutoNum type="alphaLcParenBoth"/>
            </a:pPr>
            <a:r>
              <a:rPr lang="en-US" dirty="0"/>
              <a:t>Datable Join View</a:t>
            </a:r>
          </a:p>
          <a:p>
            <a:pPr marL="342900" indent="-342900">
              <a:lnSpc>
                <a:spcPct val="150000"/>
              </a:lnSpc>
              <a:buAutoNum type="alphaLcParenBoth"/>
            </a:pPr>
            <a:r>
              <a:rPr lang="en-US" dirty="0"/>
              <a:t>Updatable Join View</a:t>
            </a:r>
          </a:p>
          <a:p>
            <a:pPr marL="342900" indent="-342900">
              <a:lnSpc>
                <a:spcPct val="150000"/>
              </a:lnSpc>
              <a:buAutoNum type="alphaLcParenBoth"/>
            </a:pPr>
            <a:r>
              <a:rPr lang="en-US" sz="1600" dirty="0"/>
              <a:t>All of the mentioned</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Which join refers to join records from the write table that have no matching key in the left table are include in the result set: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0"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Left Outer Join</a:t>
            </a:r>
          </a:p>
          <a:p>
            <a:pPr marL="342900" indent="-342900">
              <a:lnSpc>
                <a:spcPct val="150000"/>
              </a:lnSpc>
              <a:buAutoNum type="alphaLcParenBoth"/>
            </a:pPr>
            <a:r>
              <a:rPr lang="en-US" sz="1600" dirty="0">
                <a:latin typeface="Arial" panose="020B0604020202020204" pitchFamily="34" charset="0"/>
              </a:rPr>
              <a:t>Right Outer Join</a:t>
            </a:r>
          </a:p>
          <a:p>
            <a:pPr marL="342900" indent="-342900">
              <a:lnSpc>
                <a:spcPct val="150000"/>
              </a:lnSpc>
              <a:buAutoNum type="alphaLcParenBoth"/>
            </a:pPr>
            <a:r>
              <a:rPr lang="en-US" sz="1600" dirty="0">
                <a:latin typeface="Arial" panose="020B0604020202020204" pitchFamily="34" charset="0"/>
              </a:rPr>
              <a:t>Full Outer Join</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sp>
        <p:nvSpPr>
          <p:cNvPr id="12" name="Rectangle 11"/>
          <p:cNvSpPr/>
          <p:nvPr/>
        </p:nvSpPr>
        <p:spPr>
          <a:xfrm>
            <a:off x="6540611" y="2524019"/>
            <a:ext cx="2848088" cy="369332"/>
          </a:xfrm>
          <a:prstGeom prst="rect">
            <a:avLst/>
          </a:prstGeom>
        </p:spPr>
        <p:txBody>
          <a:bodyPr wrap="square">
            <a:spAutoFit/>
          </a:bodyPr>
          <a:lstStyle/>
          <a:p>
            <a:r>
              <a:rPr lang="en-IN" b="1" dirty="0">
                <a:solidFill>
                  <a:srgbClr val="FF0000"/>
                </a:solidFill>
              </a:rPr>
              <a:t>Answer: B) Right Outer Join</a:t>
            </a:r>
          </a:p>
        </p:txBody>
      </p:sp>
    </p:spTree>
    <p:extLst>
      <p:ext uri="{BB962C8B-B14F-4D97-AF65-F5344CB8AC3E}">
        <p14:creationId xmlns:p14="http://schemas.microsoft.com/office/powerpoint/2010/main" val="254077100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Which view that contains more than one table in the top-level FROM clause of the SELECT statement: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Join View</a:t>
            </a:r>
          </a:p>
          <a:p>
            <a:pPr marL="342900" indent="-342900">
              <a:lnSpc>
                <a:spcPct val="150000"/>
              </a:lnSpc>
              <a:buAutoNum type="alphaLcParenBoth"/>
            </a:pPr>
            <a:r>
              <a:rPr lang="en-US" dirty="0"/>
              <a:t>Datable Join View</a:t>
            </a:r>
          </a:p>
          <a:p>
            <a:pPr marL="342900" indent="-342900">
              <a:lnSpc>
                <a:spcPct val="150000"/>
              </a:lnSpc>
              <a:buAutoNum type="alphaLcParenBoth"/>
            </a:pPr>
            <a:r>
              <a:rPr lang="en-US" dirty="0"/>
              <a:t>Updatable Join View</a:t>
            </a:r>
          </a:p>
          <a:p>
            <a:pPr marL="342900" indent="-342900">
              <a:lnSpc>
                <a:spcPct val="150000"/>
              </a:lnSpc>
              <a:buAutoNum type="alphaLcParenBoth"/>
            </a:pPr>
            <a:r>
              <a:rPr lang="en-US" sz="1600" dirty="0"/>
              <a:t>All of the mentioned</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Which join refers to join records from the write table that have no matching key in the left table are include in the result set: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0"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Left Outer Join</a:t>
            </a:r>
          </a:p>
          <a:p>
            <a:pPr marL="342900" indent="-342900">
              <a:lnSpc>
                <a:spcPct val="150000"/>
              </a:lnSpc>
              <a:buAutoNum type="alphaLcParenBoth"/>
            </a:pPr>
            <a:r>
              <a:rPr lang="en-US" sz="1600" dirty="0">
                <a:latin typeface="Arial" panose="020B0604020202020204" pitchFamily="34" charset="0"/>
              </a:rPr>
              <a:t>Right Outer Join</a:t>
            </a:r>
          </a:p>
          <a:p>
            <a:pPr marL="342900" indent="-342900">
              <a:lnSpc>
                <a:spcPct val="150000"/>
              </a:lnSpc>
              <a:buAutoNum type="alphaLcParenBoth"/>
            </a:pPr>
            <a:r>
              <a:rPr lang="en-US" sz="1600" dirty="0">
                <a:latin typeface="Arial" panose="020B0604020202020204" pitchFamily="34" charset="0"/>
              </a:rPr>
              <a:t>Full Outer Join</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sp>
        <p:nvSpPr>
          <p:cNvPr id="12" name="Rectangle 11"/>
          <p:cNvSpPr/>
          <p:nvPr/>
        </p:nvSpPr>
        <p:spPr>
          <a:xfrm>
            <a:off x="6540611" y="2524019"/>
            <a:ext cx="2848088" cy="369332"/>
          </a:xfrm>
          <a:prstGeom prst="rect">
            <a:avLst/>
          </a:prstGeom>
        </p:spPr>
        <p:txBody>
          <a:bodyPr wrap="square">
            <a:spAutoFit/>
          </a:bodyPr>
          <a:lstStyle/>
          <a:p>
            <a:r>
              <a:rPr lang="en-IN" b="1" dirty="0">
                <a:solidFill>
                  <a:srgbClr val="FF0000"/>
                </a:solidFill>
              </a:rPr>
              <a:t>Answer: B) Right Outer Join</a:t>
            </a:r>
          </a:p>
        </p:txBody>
      </p:sp>
      <p:sp>
        <p:nvSpPr>
          <p:cNvPr id="11" name="Rectangle 10"/>
          <p:cNvSpPr/>
          <p:nvPr/>
        </p:nvSpPr>
        <p:spPr>
          <a:xfrm>
            <a:off x="6540610" y="5272913"/>
            <a:ext cx="3234455" cy="369332"/>
          </a:xfrm>
          <a:prstGeom prst="rect">
            <a:avLst/>
          </a:prstGeom>
        </p:spPr>
        <p:txBody>
          <a:bodyPr wrap="square">
            <a:spAutoFit/>
          </a:bodyPr>
          <a:lstStyle/>
          <a:p>
            <a:r>
              <a:rPr lang="en-IN" b="1" dirty="0">
                <a:solidFill>
                  <a:srgbClr val="FF0000"/>
                </a:solidFill>
              </a:rPr>
              <a:t>Answer: C) Updatable Join View</a:t>
            </a:r>
          </a:p>
        </p:txBody>
      </p:sp>
    </p:spTree>
    <p:extLst>
      <p:ext uri="{BB962C8B-B14F-4D97-AF65-F5344CB8AC3E}">
        <p14:creationId xmlns:p14="http://schemas.microsoft.com/office/powerpoint/2010/main" val="3575774696"/>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1938992"/>
          </a:xfrm>
          <a:prstGeom prst="rect">
            <a:avLst/>
          </a:prstGeom>
          <a:noFill/>
        </p:spPr>
        <p:txBody>
          <a:bodyPr wrap="square" rtlCol="0">
            <a:spAutoFit/>
          </a:bodyPr>
          <a:lstStyle/>
          <a:p>
            <a:pPr>
              <a:lnSpc>
                <a:spcPct val="200000"/>
              </a:lnSpc>
            </a:pPr>
            <a:r>
              <a:rPr lang="en-US" sz="2000" b="1" dirty="0"/>
              <a:t>1. Describe types of joins in </a:t>
            </a:r>
            <a:r>
              <a:rPr lang="en-US" sz="2000" b="1" dirty="0" err="1"/>
              <a:t>PostgresQL</a:t>
            </a:r>
            <a:r>
              <a:rPr lang="en-US" sz="2000" b="1" dirty="0"/>
              <a:t>.</a:t>
            </a:r>
          </a:p>
          <a:p>
            <a:pPr>
              <a:lnSpc>
                <a:spcPct val="200000"/>
              </a:lnSpc>
            </a:pPr>
            <a:r>
              <a:rPr lang="en-US" sz="2000" b="1" dirty="0"/>
              <a:t>2. How can you a view in  </a:t>
            </a:r>
            <a:r>
              <a:rPr lang="en-US" sz="2000" b="1" dirty="0" err="1"/>
              <a:t>PostgresQL</a:t>
            </a:r>
            <a:r>
              <a:rPr lang="en-US" sz="2000" b="1" dirty="0"/>
              <a:t>?</a:t>
            </a:r>
          </a:p>
          <a:p>
            <a:pPr marL="342900" indent="-342900">
              <a:lnSpc>
                <a:spcPct val="200000"/>
              </a:lnSpc>
            </a:pPr>
            <a:r>
              <a:rPr lang="en-US" sz="2000" b="1" dirty="0"/>
              <a:t>3. Analyze user defined function with suitable example.</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5035353"/>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a:t>
            </a:r>
            <a:r>
              <a:rPr lang="en-IN" kern="0" dirty="0">
                <a:solidFill>
                  <a:prstClr val="black"/>
                </a:solidFill>
                <a:ea typeface="Times New Roman" panose="02020603050405020304" pitchFamily="18" charset="0"/>
                <a:cs typeface="Times New Roman" panose="02020603050405020304" pitchFamily="18" charset="0"/>
              </a:rPr>
              <a:t>Database System Concepts, Sixth Edition, Abraham </a:t>
            </a:r>
            <a:r>
              <a:rPr lang="en-IN" kern="0" dirty="0" err="1">
                <a:solidFill>
                  <a:prstClr val="black"/>
                </a:solidFill>
                <a:ea typeface="Times New Roman" panose="02020603050405020304" pitchFamily="18" charset="0"/>
                <a:cs typeface="Times New Roman" panose="02020603050405020304" pitchFamily="18" charset="0"/>
              </a:rPr>
              <a:t>Silberschatz</a:t>
            </a:r>
            <a:r>
              <a:rPr lang="en-IN" kern="0" dirty="0">
                <a:solidFill>
                  <a:prstClr val="black"/>
                </a:solidFill>
                <a:ea typeface="Times New Roman" panose="02020603050405020304" pitchFamily="18" charset="0"/>
                <a:cs typeface="Times New Roman" panose="02020603050405020304" pitchFamily="18" charset="0"/>
              </a:rPr>
              <a:t>, Yale University Henry, F. </a:t>
            </a:r>
            <a:r>
              <a:rPr lang="en-IN" kern="0" dirty="0" err="1">
                <a:solidFill>
                  <a:prstClr val="black"/>
                </a:solidFill>
                <a:ea typeface="Times New Roman" panose="02020603050405020304" pitchFamily="18" charset="0"/>
                <a:cs typeface="Times New Roman" panose="02020603050405020304" pitchFamily="18" charset="0"/>
              </a:rPr>
              <a:t>Korth</a:t>
            </a:r>
            <a:r>
              <a:rPr lang="en-IN" kern="0" dirty="0">
                <a:solidFill>
                  <a:prstClr val="black"/>
                </a:solidFill>
                <a:ea typeface="Times New Roman" panose="02020603050405020304" pitchFamily="18" charset="0"/>
                <a:cs typeface="Times New Roman" panose="02020603050405020304" pitchFamily="18" charset="0"/>
              </a:rPr>
              <a:t> Lehigh University, S. </a:t>
            </a:r>
            <a:r>
              <a:rPr lang="en-IN" kern="0" dirty="0" err="1">
                <a:solidFill>
                  <a:prstClr val="black"/>
                </a:solidFill>
                <a:ea typeface="Times New Roman" panose="02020603050405020304" pitchFamily="18" charset="0"/>
                <a:cs typeface="Times New Roman" panose="02020603050405020304" pitchFamily="18" charset="0"/>
              </a:rPr>
              <a:t>Sudarshan</a:t>
            </a:r>
            <a:r>
              <a:rPr lang="en-IN" kern="0" dirty="0">
                <a:solidFill>
                  <a:prstClr val="black"/>
                </a:solidFill>
                <a:ea typeface="Times New Roman" panose="02020603050405020304" pitchFamily="18" charset="0"/>
                <a:cs typeface="Times New Roman" panose="02020603050405020304" pitchFamily="18" charset="0"/>
              </a:rPr>
              <a:t> Indian Institute of Technology, Bombay. </a:t>
            </a:r>
            <a:endParaRPr lang="en-US" dirty="0"/>
          </a:p>
          <a:p>
            <a:pPr>
              <a:lnSpc>
                <a:spcPct val="150000"/>
              </a:lnSpc>
            </a:pPr>
            <a:r>
              <a:rPr lang="en-US" dirty="0"/>
              <a:t>2. Fundamentals of Database Systems, 7</a:t>
            </a:r>
            <a:r>
              <a:rPr lang="en-US" baseline="30000" dirty="0"/>
              <a:t>th</a:t>
            </a:r>
            <a:r>
              <a:rPr lang="en-US" dirty="0"/>
              <a:t> Edition, </a:t>
            </a:r>
            <a:r>
              <a:rPr lang="en-US" dirty="0" err="1"/>
              <a:t>RamezElmasri</a:t>
            </a:r>
            <a:r>
              <a:rPr lang="en-US" dirty="0"/>
              <a:t>, University of Texas at Arlington, </a:t>
            </a:r>
            <a:r>
              <a:rPr lang="en-US" dirty="0" err="1"/>
              <a:t>Shamkant</a:t>
            </a:r>
            <a:r>
              <a:rPr lang="en-US" dirty="0"/>
              <a:t> B. </a:t>
            </a:r>
            <a:r>
              <a:rPr lang="en-US" dirty="0" err="1"/>
              <a:t>Navathe</a:t>
            </a:r>
            <a:r>
              <a:rPr lang="en-US" dirty="0"/>
              <a:t>, University of </a:t>
            </a:r>
            <a:r>
              <a:rPr lang="en-US" dirty="0" err="1"/>
              <a:t>Texasat</a:t>
            </a:r>
            <a:r>
              <a:rPr lang="en-US" dirty="0"/>
              <a:t> Arlington.</a:t>
            </a:r>
          </a:p>
          <a:p>
            <a:pPr>
              <a:lnSpc>
                <a:spcPct val="150000"/>
              </a:lnSpc>
            </a:pPr>
            <a:r>
              <a:rPr lang="en-US" dirty="0"/>
              <a:t>3. An Introduction to Database Systems by </a:t>
            </a:r>
            <a:r>
              <a:rPr lang="en-US" dirty="0" err="1"/>
              <a:t>Bipin</a:t>
            </a:r>
            <a:r>
              <a:rPr lang="en-US" dirty="0"/>
              <a:t> C. Desai</a:t>
            </a:r>
          </a:p>
          <a:p>
            <a:pPr>
              <a:lnSpc>
                <a:spcPct val="150000"/>
              </a:lnSpc>
            </a:pPr>
            <a:endParaRPr lang="en-US" dirty="0"/>
          </a:p>
          <a:p>
            <a:pPr>
              <a:lnSpc>
                <a:spcPct val="150000"/>
              </a:lnSpc>
            </a:pPr>
            <a:r>
              <a:rPr lang="en-US" b="1" dirty="0"/>
              <a:t>Sites and Web links:</a:t>
            </a:r>
          </a:p>
          <a:p>
            <a:pPr>
              <a:lnSpc>
                <a:spcPct val="150000"/>
              </a:lnSpc>
            </a:pPr>
            <a:r>
              <a:rPr lang="en-US" dirty="0"/>
              <a:t>1. https://www.javatpoint.com/sql-tutorial</a:t>
            </a:r>
          </a:p>
          <a:p>
            <a:pPr>
              <a:lnSpc>
                <a:spcPct val="150000"/>
              </a:lnSpc>
            </a:pPr>
            <a:r>
              <a:rPr lang="en-US" dirty="0"/>
              <a:t>2. https://www.tutorialspoint.com/sql/index.htm</a:t>
            </a:r>
          </a:p>
          <a:p>
            <a:pPr>
              <a:lnSpc>
                <a:spcPct val="150000"/>
              </a:lnSpc>
            </a:pPr>
            <a:r>
              <a:rPr lang="en-US" dirty="0"/>
              <a:t>3. https://www.programiz.com/sql /</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Database Management System</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http://purl.org/dc/dcmitype/"/>
    <ds:schemaRef ds:uri="http://schemas.microsoft.com/office/2006/documentManagement/types"/>
    <ds:schemaRef ds:uri="http://purl.org/dc/elements/1.1/"/>
    <ds:schemaRef ds:uri="http://schemas.microsoft.com/office/2006/metadata/properties"/>
    <ds:schemaRef ds:uri="http://purl.org/dc/terms/"/>
    <ds:schemaRef ds:uri="0125a647-8023-46ae-ae6e-85cf36d841bd"/>
    <ds:schemaRef ds:uri="http://schemas.microsoft.com/office/infopath/2007/PartnerControls"/>
    <ds:schemaRef ds:uri="http://schemas.openxmlformats.org/package/2006/metadata/core-properties"/>
    <ds:schemaRef ds:uri="d43ee83c-3e71-4748-8ebc-8eaadf793425"/>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2415</TotalTime>
  <Words>2196</Words>
  <Application>Microsoft Office PowerPoint</Application>
  <PresentationFormat>Widescreen</PresentationFormat>
  <Paragraphs>234</Paragraphs>
  <Slides>28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Dr.veeraswamy</dc:creator>
  <cp:lastModifiedBy>VEERASWAMY AMMISETTY</cp:lastModifiedBy>
  <cp:revision>263</cp:revision>
  <dcterms:created xsi:type="dcterms:W3CDTF">2020-02-08T09:57:44Z</dcterms:created>
  <dcterms:modified xsi:type="dcterms:W3CDTF">2025-06-08T14:54:38Z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