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2"/>
  </p:notesMasterIdLst>
  <p:handoutMasterIdLst>
    <p:handoutMasterId r:id="rId53"/>
  </p:handoutMasterIdLst>
  <p:sldIdLst>
    <p:sldId id="256" r:id="rId2"/>
    <p:sldId id="333"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80" r:id="rId49"/>
    <p:sldId id="381" r:id="rId50"/>
    <p:sldId id="382"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78" y="-4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xmlns=""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01-07-2023</a:t>
            </a:fld>
            <a:endParaRPr lang="en-IN"/>
          </a:p>
        </p:txBody>
      </p:sp>
      <p:sp>
        <p:nvSpPr>
          <p:cNvPr id="4" name="Footer Placeholder 3">
            <a:extLst>
              <a:ext uri="{FF2B5EF4-FFF2-40B4-BE49-F238E27FC236}">
                <a16:creationId xmlns:a16="http://schemas.microsoft.com/office/drawing/2014/main" xmlns=""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xmlns=""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01-07-2023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dirty="0"/>
          </a:p>
        </p:txBody>
      </p:sp>
    </p:spTree>
    <p:extLst>
      <p:ext uri="{BB962C8B-B14F-4D97-AF65-F5344CB8AC3E}">
        <p14:creationId xmlns:p14="http://schemas.microsoft.com/office/powerpoint/2010/main" val="3228435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21</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xmlns=""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xmlns=""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xmlns=""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7.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javatpoint.com/decomposition-algorithms" TargetMode="External"/><Relationship Id="rId2" Type="http://schemas.openxmlformats.org/officeDocument/2006/relationships/hyperlink" Target="https://www.tutorialspoint.com/Lossless-and-Lossy-Decomposition-in-DBM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7.sv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geeksforgeeks.org/introduction-to-file-structures-in-dbms/" TargetMode="External"/><Relationship Id="rId2" Type="http://schemas.openxmlformats.org/officeDocument/2006/relationships/hyperlink" Target="https://www.tutorialspoint.com/dbms/dbms_file_organization.htm"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69B8D-BF65-4ADD-F76F-77EA72FFCB8F}"/>
              </a:ext>
            </a:extLst>
          </p:cNvPr>
          <p:cNvSpPr>
            <a:spLocks noGrp="1"/>
          </p:cNvSpPr>
          <p:nvPr>
            <p:ph type="ctrTitle"/>
          </p:nvPr>
        </p:nvSpPr>
        <p:spPr>
          <a:xfrm>
            <a:off x="2417779" y="140678"/>
            <a:ext cx="8637073" cy="3203052"/>
          </a:xfrm>
        </p:spPr>
        <p:txBody>
          <a:bodyPr>
            <a:noAutofit/>
          </a:bodyPr>
          <a:lstStyle/>
          <a:p>
            <a:r>
              <a:rPr lang="en-IN" sz="2400" dirty="0"/>
              <a:t>Decomposition algorithms in normalization, </a:t>
            </a:r>
            <a:br>
              <a:rPr lang="en-IN" sz="2400" dirty="0"/>
            </a:br>
            <a:r>
              <a:rPr lang="en-IN" sz="2400" dirty="0"/>
              <a:t>files and storage structures: files</a:t>
            </a: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3964018" y="123360"/>
            <a:ext cx="4067395"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1110343" y="689854"/>
            <a:ext cx="10731286" cy="785343"/>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concept i.e.,  to break down complex ideas or concepts into simpler, more manageable parts or components.</a:t>
            </a: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452621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318437" y="2438605"/>
            <a:ext cx="10462437"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r>
              <a:rPr lang="en-US" sz="1600" dirty="0">
                <a:latin typeface="Poppins"/>
                <a:cs typeface="Poppins"/>
              </a:rPr>
              <a:t> facilitate understanding and analysis of complex ideas or concepts by breaking them down into simpler components.</a:t>
            </a:r>
            <a:endParaRPr lang="en-US" sz="1600" b="0" i="0" dirty="0">
              <a:effectLst/>
              <a:latin typeface="Poppins"/>
              <a:cs typeface="Poppins"/>
            </a:endParaRPr>
          </a:p>
        </p:txBody>
      </p:sp>
      <p:sp>
        <p:nvSpPr>
          <p:cNvPr id="29" name="Rounded Rectangle 17">
            <a:extLst>
              <a:ext uri="{FF2B5EF4-FFF2-40B4-BE49-F238E27FC236}">
                <a16:creationId xmlns:a16="http://schemas.microsoft.com/office/drawing/2014/main" xmlns="" id="{6652A33D-9A9E-3EAC-0CAE-113901ECA179}"/>
              </a:ext>
            </a:extLst>
          </p:cNvPr>
          <p:cNvSpPr/>
          <p:nvPr/>
        </p:nvSpPr>
        <p:spPr>
          <a:xfrm>
            <a:off x="4160584" y="3948677"/>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sp>
        <p:nvSpPr>
          <p:cNvPr id="37" name="TextBox 36">
            <a:extLst>
              <a:ext uri="{FF2B5EF4-FFF2-40B4-BE49-F238E27FC236}">
                <a16:creationId xmlns:a16="http://schemas.microsoft.com/office/drawing/2014/main" xmlns="" id="{B0BB8E68-8B73-12DE-615E-1091F19A9A9A}"/>
              </a:ext>
            </a:extLst>
          </p:cNvPr>
          <p:cNvSpPr txBox="1"/>
          <p:nvPr/>
        </p:nvSpPr>
        <p:spPr>
          <a:xfrm>
            <a:off x="1528048" y="4691343"/>
            <a:ext cx="10313581"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 we</a:t>
            </a:r>
            <a:r>
              <a:rPr lang="en-US" sz="1600" b="0" i="0" dirty="0">
                <a:effectLst/>
                <a:latin typeface="Arial"/>
                <a:cs typeface="Arial"/>
              </a:rPr>
              <a:t> should be able </a:t>
            </a:r>
            <a:r>
              <a:rPr lang="en-US" sz="1600" dirty="0">
                <a:latin typeface="Arial"/>
                <a:cs typeface="Arial"/>
              </a:rPr>
              <a:t>improved understanding, problem-solving, communication, critical thinking, decision-making, creativity, organizational skills, and domain knowledge.</a:t>
            </a:r>
            <a:endParaRPr lang="en-US" sz="1600" b="0" i="0" dirty="0">
              <a:effectLst/>
              <a:latin typeface="Arial"/>
              <a:cs typeface="Arial"/>
            </a:endParaRPr>
          </a:p>
        </p:txBody>
      </p:sp>
      <p:pic>
        <p:nvPicPr>
          <p:cNvPr id="13"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824550"/>
            <a:ext cx="914400" cy="914400"/>
          </a:xfrm>
          <a:prstGeom prst="rect">
            <a:avLst/>
          </a:prstGeom>
        </p:spPr>
      </p:pic>
      <p:pic>
        <p:nvPicPr>
          <p:cNvPr id="14"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0962" y="2622183"/>
            <a:ext cx="914400" cy="914400"/>
          </a:xfrm>
          <a:prstGeom prst="rect">
            <a:avLst/>
          </a:prstGeom>
        </p:spPr>
      </p:pic>
      <p:pic>
        <p:nvPicPr>
          <p:cNvPr id="15"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53143" y="4854161"/>
            <a:ext cx="914400" cy="914400"/>
          </a:xfrm>
          <a:prstGeom prst="rect">
            <a:avLst/>
          </a:prstGeom>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DECOMPOSITION </a:t>
            </a:r>
            <a:endParaRPr lang="en-US" sz="2400" dirty="0"/>
          </a:p>
        </p:txBody>
      </p:sp>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223283" y="765545"/>
            <a:ext cx="11695814" cy="4154984"/>
          </a:xfrm>
          <a:prstGeom prst="rect">
            <a:avLst/>
          </a:prstGeom>
          <a:noFill/>
        </p:spPr>
        <p:txBody>
          <a:bodyPr wrap="square" rtlCol="0">
            <a:spAutoFit/>
          </a:bodyPr>
          <a:lstStyle/>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Decomposition in DBMS removes redundancy, anomalies and inconsistencies from a database by dividing the table into multiple tables.</a:t>
            </a:r>
          </a:p>
          <a:p>
            <a:pPr algn="just"/>
            <a:r>
              <a:rPr lang="en-US" sz="2400" dirty="0">
                <a:latin typeface="Times New Roman" panose="02020603050405020304" pitchFamily="18" charset="0"/>
                <a:cs typeface="Times New Roman" panose="02020603050405020304" pitchFamily="18" charset="0"/>
              </a:rPr>
              <a:t>	In the context of database design, a session description that involves decomposition typically refers to the process of breaking down a large table into smaller tables to improve the overall efficiency and functionality of a database.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This process of breaking of large table into smaller tables involves identifying groups of related attributes within the larger table and </a:t>
            </a:r>
            <a:r>
              <a:rPr lang="en-US" sz="2400" dirty="0">
                <a:solidFill>
                  <a:srgbClr val="FF0000"/>
                </a:solidFill>
                <a:latin typeface="Times New Roman" panose="02020603050405020304" pitchFamily="18" charset="0"/>
                <a:cs typeface="Times New Roman" panose="02020603050405020304" pitchFamily="18" charset="0"/>
              </a:rPr>
              <a:t>separating them into smaller tables that are more focused on specific aspects of the data</a:t>
            </a:r>
            <a:r>
              <a:rPr lang="en-US" sz="2400" dirty="0">
                <a:latin typeface="Times New Roman" panose="02020603050405020304" pitchFamily="18" charset="0"/>
                <a:cs typeface="Times New Roman" panose="02020603050405020304" pitchFamily="18" charset="0"/>
              </a:rPr>
              <a:t>.</a:t>
            </a:r>
          </a:p>
          <a:p>
            <a:pPr algn="just"/>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1037329" y="729152"/>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1266" name="AutoShape 2" descr="Determine Decomposition Is Lossless Or Lossy | Gate Vidyala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7" name="TextBox 6"/>
          <p:cNvSpPr txBox="1"/>
          <p:nvPr/>
        </p:nvSpPr>
        <p:spPr>
          <a:xfrm>
            <a:off x="382772" y="816021"/>
            <a:ext cx="11536326" cy="489364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			The session description may also detail the rules and guidelines for decomposition, including best practices for naming the smaller tables and columns, </a:t>
            </a:r>
            <a:r>
              <a:rPr lang="en-US" sz="2400" dirty="0">
                <a:solidFill>
                  <a:srgbClr val="FF0000"/>
                </a:solidFill>
                <a:latin typeface="Times New Roman" panose="02020603050405020304" pitchFamily="18" charset="0"/>
                <a:cs typeface="Times New Roman" panose="02020603050405020304" pitchFamily="18" charset="0"/>
              </a:rPr>
              <a:t>establishing relationships between tables, and ensuring that data is not lost during the process.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In addition to outlining the decomposition process, the session description may also include examples of how decomposition can </a:t>
            </a:r>
            <a:r>
              <a:rPr lang="en-US" sz="2400" dirty="0">
                <a:solidFill>
                  <a:srgbClr val="FF0000"/>
                </a:solidFill>
                <a:latin typeface="Times New Roman" panose="02020603050405020304" pitchFamily="18" charset="0"/>
                <a:cs typeface="Times New Roman" panose="02020603050405020304" pitchFamily="18" charset="0"/>
              </a:rPr>
              <a:t>improve database performance and efficiency. </a:t>
            </a:r>
          </a:p>
          <a:p>
            <a:pPr algn="just"/>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For example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By breaking down a large, complex table into smaller, more focused tables, queries can be executed more quickly, and data redundancy can be reduced, leading to a more streamlined and efficient database overall.</a:t>
            </a:r>
          </a:p>
        </p:txBody>
      </p:sp>
      <p:sp>
        <p:nvSpPr>
          <p:cNvPr id="6"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DECOMPOSITION (Cont..)</a:t>
            </a:r>
            <a:endParaRPr lang="en-US" sz="2400"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descr="Screenshot 2023-05-01 095151.jpg"/>
          <p:cNvPicPr>
            <a:picLocks noChangeAspect="1"/>
          </p:cNvPicPr>
          <p:nvPr/>
        </p:nvPicPr>
        <p:blipFill>
          <a:blip r:embed="rId2"/>
          <a:stretch>
            <a:fillRect/>
          </a:stretch>
        </p:blipFill>
        <p:spPr>
          <a:xfrm>
            <a:off x="0" y="1275907"/>
            <a:ext cx="12192000" cy="5582093"/>
          </a:xfrm>
          <a:prstGeom prst="rect">
            <a:avLst/>
          </a:prstGeom>
        </p:spPr>
      </p:pic>
      <p:sp>
        <p:nvSpPr>
          <p:cNvPr id="7" name="TextBox 6"/>
          <p:cNvSpPr txBox="1"/>
          <p:nvPr/>
        </p:nvSpPr>
        <p:spPr>
          <a:xfrm>
            <a:off x="0" y="999461"/>
            <a:ext cx="7208875" cy="369332"/>
          </a:xfrm>
          <a:prstGeom prst="rect">
            <a:avLst/>
          </a:prstGeom>
          <a:noFill/>
        </p:spPr>
        <p:txBody>
          <a:bodyPr wrap="square" rtlCol="0">
            <a:spAutoFit/>
          </a:bodyPr>
          <a:lstStyle/>
          <a:p>
            <a:r>
              <a:rPr lang="en-US" dirty="0"/>
              <a:t>Decomposition is categorized as follows</a:t>
            </a:r>
          </a:p>
        </p:txBody>
      </p:sp>
      <p:sp>
        <p:nvSpPr>
          <p:cNvPr id="8"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DECOMPOSITION (Cont..)</a:t>
            </a:r>
            <a:endParaRPr lang="en-US" sz="2400"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6447" y="1180214"/>
            <a:ext cx="11695814" cy="7294305"/>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Lossless </a:t>
            </a:r>
            <a:r>
              <a:rPr lang="en-US" sz="2400" b="1" dirty="0" smtClean="0">
                <a:latin typeface="Times New Roman" panose="02020603050405020304" pitchFamily="18" charset="0"/>
                <a:cs typeface="Times New Roman" panose="02020603050405020304" pitchFamily="18" charset="0"/>
              </a:rPr>
              <a:t>Decomposition:</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Lossless </a:t>
            </a:r>
            <a:r>
              <a:rPr lang="en-US" sz="2400" dirty="0">
                <a:latin typeface="Times New Roman" panose="02020603050405020304" pitchFamily="18" charset="0"/>
                <a:cs typeface="Times New Roman" panose="02020603050405020304" pitchFamily="18" charset="0"/>
              </a:rPr>
              <a:t>decomposition is a process in database normalization where a relation (table) is decomposed into multiple smaller relations (tables) in such a way that the original information can be reconstructed by joining the smaller tables together without any loss of data. In other words, the decomposition process preserves all the functional dependencies that existed in the original relation.</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endParaRPr lang="en-US" sz="2400" b="1" dirty="0">
              <a:latin typeface="Times New Roman" panose="02020603050405020304" pitchFamily="18" charset="0"/>
              <a:cs typeface="Times New Roman" panose="02020603050405020304" pitchFamily="18" charset="0"/>
            </a:endParaRPr>
          </a:p>
          <a:p>
            <a:pPr algn="just">
              <a:lnSpc>
                <a:spcPct val="150000"/>
              </a:lnSpc>
            </a:pPr>
            <a:endParaRPr lang="en-US" sz="2400" b="1" dirty="0">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DECOMPOSITION (Cont..)</a:t>
            </a:r>
            <a:endParaRPr lang="en-US" sz="2400"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2140" y="425302"/>
            <a:ext cx="11100390" cy="369332"/>
          </a:xfrm>
          <a:prstGeom prst="rect">
            <a:avLst/>
          </a:prstGeom>
          <a:noFill/>
        </p:spPr>
        <p:txBody>
          <a:bodyPr wrap="square" rtlCol="0">
            <a:spAutoFit/>
          </a:bodyPr>
          <a:lstStyle/>
          <a:p>
            <a:endParaRPr lang="en-US" dirty="0"/>
          </a:p>
        </p:txBody>
      </p:sp>
      <p:sp>
        <p:nvSpPr>
          <p:cNvPr id="4" name="TextBox 3"/>
          <p:cNvSpPr txBox="1"/>
          <p:nvPr/>
        </p:nvSpPr>
        <p:spPr>
          <a:xfrm>
            <a:off x="170121" y="5141416"/>
            <a:ext cx="8803758" cy="1200329"/>
          </a:xfrm>
          <a:prstGeom prst="rect">
            <a:avLst/>
          </a:prstGeom>
          <a:noFill/>
        </p:spPr>
        <p:txBody>
          <a:bodyPr wrap="square" rtlCol="0">
            <a:spAutoFit/>
          </a:bodyPr>
          <a:lstStyle/>
          <a:p>
            <a:endParaRPr lang="en-US" sz="2400" dirty="0"/>
          </a:p>
          <a:p>
            <a:r>
              <a:rPr lang="en-US" sz="2400" dirty="0"/>
              <a:t>Now, Natural Join is applied on the above two </a:t>
            </a:r>
            <a:r>
              <a:rPr lang="en-US" sz="2400" dirty="0" smtClean="0"/>
              <a:t>tables: </a:t>
            </a:r>
            <a:endParaRPr lang="en-US" sz="2400" dirty="0"/>
          </a:p>
          <a:p>
            <a:endParaRPr lang="en-US" sz="2400" dirty="0"/>
          </a:p>
        </p:txBody>
      </p:sp>
      <p:sp>
        <p:nvSpPr>
          <p:cNvPr id="6" name="TextBox 5"/>
          <p:cNvSpPr txBox="1"/>
          <p:nvPr/>
        </p:nvSpPr>
        <p:spPr>
          <a:xfrm>
            <a:off x="1764406" y="60423"/>
            <a:ext cx="9553951" cy="369332"/>
          </a:xfrm>
          <a:prstGeom prst="rect">
            <a:avLst/>
          </a:prstGeom>
          <a:noFill/>
        </p:spPr>
        <p:txBody>
          <a:bodyPr wrap="square" rtlCol="0">
            <a:spAutoFit/>
          </a:bodyPr>
          <a:lstStyle/>
          <a:p>
            <a:pPr algn="just"/>
            <a:r>
              <a:rPr lang="en-US" b="1" dirty="0"/>
              <a:t>For Example consider Table 1 and Table 2 with following set of attributes</a:t>
            </a:r>
          </a:p>
        </p:txBody>
      </p:sp>
      <p:graphicFrame>
        <p:nvGraphicFramePr>
          <p:cNvPr id="8" name="Table 7"/>
          <p:cNvGraphicFramePr>
            <a:graphicFrameLocks noGrp="1"/>
          </p:cNvGraphicFramePr>
          <p:nvPr/>
        </p:nvGraphicFramePr>
        <p:xfrm>
          <a:off x="660400" y="1187498"/>
          <a:ext cx="10812132" cy="1483360"/>
        </p:xfrm>
        <a:graphic>
          <a:graphicData uri="http://schemas.openxmlformats.org/drawingml/2006/table">
            <a:tbl>
              <a:tblPr firstRow="1" bandRow="1">
                <a:tableStyleId>{5C22544A-7EE6-4342-B048-85BDC9FD1C3A}</a:tableStyleId>
              </a:tblPr>
              <a:tblGrid>
                <a:gridCol w="2703033">
                  <a:extLst>
                    <a:ext uri="{9D8B030D-6E8A-4147-A177-3AD203B41FA5}">
                      <a16:colId xmlns:a16="http://schemas.microsoft.com/office/drawing/2014/main" xmlns="" val="20000"/>
                    </a:ext>
                  </a:extLst>
                </a:gridCol>
                <a:gridCol w="2703033">
                  <a:extLst>
                    <a:ext uri="{9D8B030D-6E8A-4147-A177-3AD203B41FA5}">
                      <a16:colId xmlns:a16="http://schemas.microsoft.com/office/drawing/2014/main" xmlns="" val="20001"/>
                    </a:ext>
                  </a:extLst>
                </a:gridCol>
                <a:gridCol w="2703033">
                  <a:extLst>
                    <a:ext uri="{9D8B030D-6E8A-4147-A177-3AD203B41FA5}">
                      <a16:colId xmlns:a16="http://schemas.microsoft.com/office/drawing/2014/main" xmlns="" val="20002"/>
                    </a:ext>
                  </a:extLst>
                </a:gridCol>
                <a:gridCol w="2703033">
                  <a:extLst>
                    <a:ext uri="{9D8B030D-6E8A-4147-A177-3AD203B41FA5}">
                      <a16:colId xmlns:a16="http://schemas.microsoft.com/office/drawing/2014/main" xmlns="" val="20003"/>
                    </a:ext>
                  </a:extLst>
                </a:gridCol>
              </a:tblGrid>
              <a:tr h="370840">
                <a:tc>
                  <a:txBody>
                    <a:bodyPr/>
                    <a:lstStyle/>
                    <a:p>
                      <a:pPr algn="ctr"/>
                      <a:r>
                        <a:rPr lang="en-US" dirty="0" err="1"/>
                        <a:t>Emp_ID</a:t>
                      </a:r>
                      <a:endParaRPr lang="en-US" dirty="0"/>
                    </a:p>
                  </a:txBody>
                  <a:tcPr/>
                </a:tc>
                <a:tc>
                  <a:txBody>
                    <a:bodyPr/>
                    <a:lstStyle/>
                    <a:p>
                      <a:pPr algn="ctr"/>
                      <a:r>
                        <a:rPr lang="en-US" dirty="0" err="1"/>
                        <a:t>Emp_Name</a:t>
                      </a:r>
                      <a:endParaRPr lang="en-US" dirty="0"/>
                    </a:p>
                  </a:txBody>
                  <a:tcPr/>
                </a:tc>
                <a:tc>
                  <a:txBody>
                    <a:bodyPr/>
                    <a:lstStyle/>
                    <a:p>
                      <a:pPr algn="ctr"/>
                      <a:r>
                        <a:rPr lang="en-US" dirty="0" err="1"/>
                        <a:t>Emp_Age</a:t>
                      </a:r>
                      <a:endParaRPr lang="en-US" dirty="0"/>
                    </a:p>
                  </a:txBody>
                  <a:tcPr/>
                </a:tc>
                <a:tc>
                  <a:txBody>
                    <a:bodyPr/>
                    <a:lstStyle/>
                    <a:p>
                      <a:pPr algn="ctr"/>
                      <a:r>
                        <a:rPr lang="en-US" dirty="0" err="1"/>
                        <a:t>Emp_Location</a:t>
                      </a:r>
                      <a:endParaRPr lang="en-US" dirty="0"/>
                    </a:p>
                  </a:txBody>
                  <a:tcPr/>
                </a:tc>
                <a:extLst>
                  <a:ext uri="{0D108BD9-81ED-4DB2-BD59-A6C34878D82A}">
                    <a16:rowId xmlns:a16="http://schemas.microsoft.com/office/drawing/2014/main" xmlns="" val="10000"/>
                  </a:ext>
                </a:extLst>
              </a:tr>
              <a:tr h="370840">
                <a:tc>
                  <a:txBody>
                    <a:bodyPr/>
                    <a:lstStyle/>
                    <a:p>
                      <a:pPr algn="ctr"/>
                      <a:r>
                        <a:rPr lang="en-US" dirty="0"/>
                        <a:t>E001</a:t>
                      </a:r>
                    </a:p>
                  </a:txBody>
                  <a:tcPr/>
                </a:tc>
                <a:tc>
                  <a:txBody>
                    <a:bodyPr/>
                    <a:lstStyle/>
                    <a:p>
                      <a:pPr algn="ctr"/>
                      <a:r>
                        <a:rPr lang="en-US" dirty="0" err="1"/>
                        <a:t>Jacoob</a:t>
                      </a:r>
                      <a:endParaRPr lang="en-US" dirty="0"/>
                    </a:p>
                  </a:txBody>
                  <a:tcPr/>
                </a:tc>
                <a:tc>
                  <a:txBody>
                    <a:bodyPr/>
                    <a:lstStyle/>
                    <a:p>
                      <a:pPr algn="ctr"/>
                      <a:r>
                        <a:rPr lang="en-US" dirty="0"/>
                        <a:t>29</a:t>
                      </a:r>
                    </a:p>
                  </a:txBody>
                  <a:tcPr/>
                </a:tc>
                <a:tc>
                  <a:txBody>
                    <a:bodyPr/>
                    <a:lstStyle/>
                    <a:p>
                      <a:pPr algn="ctr"/>
                      <a:r>
                        <a:rPr lang="en-US" dirty="0" err="1"/>
                        <a:t>Albama</a:t>
                      </a:r>
                      <a:endParaRPr lang="en-US" dirty="0"/>
                    </a:p>
                  </a:txBody>
                  <a:tcPr/>
                </a:tc>
                <a:extLst>
                  <a:ext uri="{0D108BD9-81ED-4DB2-BD59-A6C34878D82A}">
                    <a16:rowId xmlns:a16="http://schemas.microsoft.com/office/drawing/2014/main" xmlns="" val="10001"/>
                  </a:ext>
                </a:extLst>
              </a:tr>
              <a:tr h="370840">
                <a:tc>
                  <a:txBody>
                    <a:bodyPr/>
                    <a:lstStyle/>
                    <a:p>
                      <a:pPr algn="ctr"/>
                      <a:r>
                        <a:rPr lang="en-US" dirty="0"/>
                        <a:t>E002</a:t>
                      </a:r>
                    </a:p>
                  </a:txBody>
                  <a:tcPr/>
                </a:tc>
                <a:tc>
                  <a:txBody>
                    <a:bodyPr/>
                    <a:lstStyle/>
                    <a:p>
                      <a:pPr algn="ctr"/>
                      <a:r>
                        <a:rPr lang="en-US" dirty="0"/>
                        <a:t>Henry</a:t>
                      </a:r>
                    </a:p>
                  </a:txBody>
                  <a:tcPr/>
                </a:tc>
                <a:tc>
                  <a:txBody>
                    <a:bodyPr/>
                    <a:lstStyle/>
                    <a:p>
                      <a:pPr algn="ctr"/>
                      <a:r>
                        <a:rPr lang="en-US" dirty="0"/>
                        <a:t>32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t>Albama</a:t>
                      </a:r>
                      <a:endParaRPr lang="en-US" dirty="0"/>
                    </a:p>
                  </a:txBody>
                  <a:tcPr/>
                </a:tc>
                <a:extLst>
                  <a:ext uri="{0D108BD9-81ED-4DB2-BD59-A6C34878D82A}">
                    <a16:rowId xmlns:a16="http://schemas.microsoft.com/office/drawing/2014/main" xmlns="" val="10002"/>
                  </a:ext>
                </a:extLst>
              </a:tr>
              <a:tr h="370840">
                <a:tc>
                  <a:txBody>
                    <a:bodyPr/>
                    <a:lstStyle/>
                    <a:p>
                      <a:pPr algn="ctr"/>
                      <a:r>
                        <a:rPr lang="en-US" dirty="0"/>
                        <a:t>E003</a:t>
                      </a:r>
                    </a:p>
                  </a:txBody>
                  <a:tcPr/>
                </a:tc>
                <a:tc>
                  <a:txBody>
                    <a:bodyPr/>
                    <a:lstStyle/>
                    <a:p>
                      <a:pPr algn="ctr"/>
                      <a:r>
                        <a:rPr lang="en-US" dirty="0"/>
                        <a:t>Tom</a:t>
                      </a:r>
                    </a:p>
                  </a:txBody>
                  <a:tcPr/>
                </a:tc>
                <a:tc>
                  <a:txBody>
                    <a:bodyPr/>
                    <a:lstStyle/>
                    <a:p>
                      <a:pPr algn="ctr"/>
                      <a:r>
                        <a:rPr lang="en-US" dirty="0"/>
                        <a:t>22</a:t>
                      </a:r>
                    </a:p>
                  </a:txBody>
                  <a:tcPr/>
                </a:tc>
                <a:tc>
                  <a:txBody>
                    <a:bodyPr/>
                    <a:lstStyle/>
                    <a:p>
                      <a:pPr algn="ctr"/>
                      <a:r>
                        <a:rPr lang="en-US" dirty="0"/>
                        <a:t>Texas</a:t>
                      </a:r>
                    </a:p>
                  </a:txBody>
                  <a:tcPr/>
                </a:tc>
                <a:extLst>
                  <a:ext uri="{0D108BD9-81ED-4DB2-BD59-A6C34878D82A}">
                    <a16:rowId xmlns:a16="http://schemas.microsoft.com/office/drawing/2014/main" xmlns="" val="10003"/>
                  </a:ext>
                </a:extLst>
              </a:tr>
            </a:tbl>
          </a:graphicData>
        </a:graphic>
      </p:graphicFrame>
      <p:sp>
        <p:nvSpPr>
          <p:cNvPr id="9" name="TextBox 8"/>
          <p:cNvSpPr txBox="1"/>
          <p:nvPr/>
        </p:nvSpPr>
        <p:spPr>
          <a:xfrm>
            <a:off x="170121" y="637953"/>
            <a:ext cx="3625702" cy="369332"/>
          </a:xfrm>
          <a:prstGeom prst="rect">
            <a:avLst/>
          </a:prstGeom>
          <a:noFill/>
        </p:spPr>
        <p:txBody>
          <a:bodyPr wrap="square" rtlCol="0">
            <a:spAutoFit/>
          </a:bodyPr>
          <a:lstStyle/>
          <a:p>
            <a:r>
              <a:rPr lang="en-US" b="1" dirty="0"/>
              <a:t>Table 1       &lt;</a:t>
            </a:r>
            <a:r>
              <a:rPr lang="en-US" b="1" dirty="0" err="1"/>
              <a:t>EmpDetails</a:t>
            </a:r>
            <a:r>
              <a:rPr lang="en-US" b="1" dirty="0"/>
              <a:t>&gt;</a:t>
            </a:r>
          </a:p>
        </p:txBody>
      </p:sp>
      <p:sp>
        <p:nvSpPr>
          <p:cNvPr id="10" name="TextBox 9"/>
          <p:cNvSpPr txBox="1"/>
          <p:nvPr/>
        </p:nvSpPr>
        <p:spPr>
          <a:xfrm>
            <a:off x="223284" y="3189767"/>
            <a:ext cx="5156791" cy="369332"/>
          </a:xfrm>
          <a:prstGeom prst="rect">
            <a:avLst/>
          </a:prstGeom>
          <a:noFill/>
        </p:spPr>
        <p:txBody>
          <a:bodyPr wrap="square" rtlCol="0">
            <a:spAutoFit/>
          </a:bodyPr>
          <a:lstStyle/>
          <a:p>
            <a:r>
              <a:rPr lang="en-US" b="1" dirty="0"/>
              <a:t>Table 2   &lt;</a:t>
            </a:r>
            <a:r>
              <a:rPr lang="en-US" b="1" dirty="0" err="1"/>
              <a:t>DeptDetails</a:t>
            </a:r>
            <a:r>
              <a:rPr lang="en-US" b="1" dirty="0"/>
              <a:t>&gt;</a:t>
            </a:r>
          </a:p>
        </p:txBody>
      </p:sp>
      <p:graphicFrame>
        <p:nvGraphicFramePr>
          <p:cNvPr id="11" name="Table 10"/>
          <p:cNvGraphicFramePr>
            <a:graphicFrameLocks noGrp="1"/>
          </p:cNvGraphicFramePr>
          <p:nvPr/>
        </p:nvGraphicFramePr>
        <p:xfrm>
          <a:off x="818706" y="4058289"/>
          <a:ext cx="10653825" cy="1483360"/>
        </p:xfrm>
        <a:graphic>
          <a:graphicData uri="http://schemas.openxmlformats.org/drawingml/2006/table">
            <a:tbl>
              <a:tblPr firstRow="1" bandRow="1">
                <a:tableStyleId>{5C22544A-7EE6-4342-B048-85BDC9FD1C3A}</a:tableStyleId>
              </a:tblPr>
              <a:tblGrid>
                <a:gridCol w="3551275">
                  <a:extLst>
                    <a:ext uri="{9D8B030D-6E8A-4147-A177-3AD203B41FA5}">
                      <a16:colId xmlns:a16="http://schemas.microsoft.com/office/drawing/2014/main" xmlns="" val="20000"/>
                    </a:ext>
                  </a:extLst>
                </a:gridCol>
                <a:gridCol w="3551275">
                  <a:extLst>
                    <a:ext uri="{9D8B030D-6E8A-4147-A177-3AD203B41FA5}">
                      <a16:colId xmlns:a16="http://schemas.microsoft.com/office/drawing/2014/main" xmlns="" val="20001"/>
                    </a:ext>
                  </a:extLst>
                </a:gridCol>
                <a:gridCol w="3551275">
                  <a:extLst>
                    <a:ext uri="{9D8B030D-6E8A-4147-A177-3AD203B41FA5}">
                      <a16:colId xmlns:a16="http://schemas.microsoft.com/office/drawing/2014/main" xmlns="" val="20002"/>
                    </a:ext>
                  </a:extLst>
                </a:gridCol>
              </a:tblGrid>
              <a:tr h="370840">
                <a:tc>
                  <a:txBody>
                    <a:bodyPr/>
                    <a:lstStyle/>
                    <a:p>
                      <a:pPr algn="ctr"/>
                      <a:r>
                        <a:rPr lang="en-US" dirty="0" err="1"/>
                        <a:t>Dept_ID</a:t>
                      </a:r>
                      <a:endParaRPr lang="en-US" dirty="0"/>
                    </a:p>
                  </a:txBody>
                  <a:tcPr/>
                </a:tc>
                <a:tc>
                  <a:txBody>
                    <a:bodyPr/>
                    <a:lstStyle/>
                    <a:p>
                      <a:pPr algn="ctr"/>
                      <a:r>
                        <a:rPr lang="en-US" dirty="0" err="1"/>
                        <a:t>Emp_ID</a:t>
                      </a:r>
                      <a:endParaRPr lang="en-US" dirty="0"/>
                    </a:p>
                  </a:txBody>
                  <a:tcPr/>
                </a:tc>
                <a:tc>
                  <a:txBody>
                    <a:bodyPr/>
                    <a:lstStyle/>
                    <a:p>
                      <a:pPr algn="ctr"/>
                      <a:r>
                        <a:rPr lang="en-US" dirty="0" err="1"/>
                        <a:t>Dept_Name</a:t>
                      </a:r>
                      <a:endParaRPr lang="en-US" dirty="0"/>
                    </a:p>
                  </a:txBody>
                  <a:tcPr/>
                </a:tc>
                <a:extLst>
                  <a:ext uri="{0D108BD9-81ED-4DB2-BD59-A6C34878D82A}">
                    <a16:rowId xmlns:a16="http://schemas.microsoft.com/office/drawing/2014/main" xmlns="" val="10000"/>
                  </a:ext>
                </a:extLst>
              </a:tr>
              <a:tr h="370840">
                <a:tc>
                  <a:txBody>
                    <a:bodyPr/>
                    <a:lstStyle/>
                    <a:p>
                      <a:pPr algn="ctr"/>
                      <a:r>
                        <a:rPr lang="en-US" dirty="0"/>
                        <a:t>Dpt1</a:t>
                      </a:r>
                    </a:p>
                  </a:txBody>
                  <a:tcPr/>
                </a:tc>
                <a:tc>
                  <a:txBody>
                    <a:bodyPr/>
                    <a:lstStyle/>
                    <a:p>
                      <a:pPr algn="ctr"/>
                      <a:r>
                        <a:rPr lang="en-US" dirty="0"/>
                        <a:t>E001</a:t>
                      </a:r>
                    </a:p>
                  </a:txBody>
                  <a:tcPr/>
                </a:tc>
                <a:tc>
                  <a:txBody>
                    <a:bodyPr/>
                    <a:lstStyle/>
                    <a:p>
                      <a:pPr algn="ctr"/>
                      <a:r>
                        <a:rPr lang="en-US" dirty="0"/>
                        <a:t>Operations</a:t>
                      </a:r>
                    </a:p>
                  </a:txBody>
                  <a:tcPr/>
                </a:tc>
                <a:extLst>
                  <a:ext uri="{0D108BD9-81ED-4DB2-BD59-A6C34878D82A}">
                    <a16:rowId xmlns:a16="http://schemas.microsoft.com/office/drawing/2014/main" xmlns="" val="10001"/>
                  </a:ext>
                </a:extLst>
              </a:tr>
              <a:tr h="370840">
                <a:tc>
                  <a:txBody>
                    <a:bodyPr/>
                    <a:lstStyle/>
                    <a:p>
                      <a:pPr algn="ctr"/>
                      <a:r>
                        <a:rPr lang="en-US" dirty="0"/>
                        <a:t>Dpt2</a:t>
                      </a:r>
                    </a:p>
                  </a:txBody>
                  <a:tcPr/>
                </a:tc>
                <a:tc>
                  <a:txBody>
                    <a:bodyPr/>
                    <a:lstStyle/>
                    <a:p>
                      <a:pPr algn="ctr"/>
                      <a:r>
                        <a:rPr lang="en-US" dirty="0"/>
                        <a:t>E002</a:t>
                      </a:r>
                    </a:p>
                  </a:txBody>
                  <a:tcPr/>
                </a:tc>
                <a:tc>
                  <a:txBody>
                    <a:bodyPr/>
                    <a:lstStyle/>
                    <a:p>
                      <a:pPr algn="ctr"/>
                      <a:r>
                        <a:rPr lang="en-US" dirty="0"/>
                        <a:t>HR</a:t>
                      </a:r>
                    </a:p>
                  </a:txBody>
                  <a:tcPr/>
                </a:tc>
                <a:extLst>
                  <a:ext uri="{0D108BD9-81ED-4DB2-BD59-A6C34878D82A}">
                    <a16:rowId xmlns:a16="http://schemas.microsoft.com/office/drawing/2014/main" xmlns="" val="10002"/>
                  </a:ext>
                </a:extLst>
              </a:tr>
              <a:tr h="370840">
                <a:tc>
                  <a:txBody>
                    <a:bodyPr/>
                    <a:lstStyle/>
                    <a:p>
                      <a:pPr algn="ctr"/>
                      <a:r>
                        <a:rPr lang="en-US" dirty="0"/>
                        <a:t>Dpt3</a:t>
                      </a:r>
                    </a:p>
                  </a:txBody>
                  <a:tcPr/>
                </a:tc>
                <a:tc>
                  <a:txBody>
                    <a:bodyPr/>
                    <a:lstStyle/>
                    <a:p>
                      <a:pPr algn="ctr"/>
                      <a:r>
                        <a:rPr lang="en-US" dirty="0"/>
                        <a:t>E003</a:t>
                      </a:r>
                    </a:p>
                  </a:txBody>
                  <a:tcPr/>
                </a:tc>
                <a:tc>
                  <a:txBody>
                    <a:bodyPr/>
                    <a:lstStyle/>
                    <a:p>
                      <a:pPr algn="ctr"/>
                      <a:r>
                        <a:rPr lang="en-US" dirty="0"/>
                        <a:t>Finance</a:t>
                      </a: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4111263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8344" y="499730"/>
            <a:ext cx="9633098" cy="923330"/>
          </a:xfrm>
          <a:prstGeom prst="rect">
            <a:avLst/>
          </a:prstGeom>
          <a:noFill/>
        </p:spPr>
        <p:txBody>
          <a:bodyPr wrap="square" rtlCol="0">
            <a:spAutoFit/>
          </a:bodyPr>
          <a:lstStyle/>
          <a:p>
            <a:r>
              <a:rPr lang="en-US" dirty="0"/>
              <a:t>The result will be  as follows −</a:t>
            </a:r>
          </a:p>
          <a:p>
            <a:endParaRPr lang="en-US" dirty="0"/>
          </a:p>
          <a:p>
            <a:endParaRPr lang="en-US" dirty="0"/>
          </a:p>
        </p:txBody>
      </p:sp>
      <p:pic>
        <p:nvPicPr>
          <p:cNvPr id="6" name="Picture 5" descr="123.jpg"/>
          <p:cNvPicPr>
            <a:picLocks noChangeAspect="1"/>
          </p:cNvPicPr>
          <p:nvPr/>
        </p:nvPicPr>
        <p:blipFill>
          <a:blip r:embed="rId2"/>
          <a:stretch>
            <a:fillRect/>
          </a:stretch>
        </p:blipFill>
        <p:spPr>
          <a:xfrm>
            <a:off x="0" y="1265273"/>
            <a:ext cx="12192000" cy="2838893"/>
          </a:xfrm>
          <a:prstGeom prst="rect">
            <a:avLst/>
          </a:prstGeom>
        </p:spPr>
      </p:pic>
      <p:sp>
        <p:nvSpPr>
          <p:cNvPr id="7" name="Rectangle 6"/>
          <p:cNvSpPr/>
          <p:nvPr/>
        </p:nvSpPr>
        <p:spPr>
          <a:xfrm>
            <a:off x="400493" y="4647555"/>
            <a:ext cx="10827488" cy="369332"/>
          </a:xfrm>
          <a:prstGeom prst="rect">
            <a:avLst/>
          </a:prstGeom>
        </p:spPr>
        <p:txBody>
          <a:bodyPr wrap="square">
            <a:spAutoFit/>
          </a:bodyPr>
          <a:lstStyle/>
          <a:p>
            <a:r>
              <a:rPr lang="en-US" dirty="0"/>
              <a:t>Therefore, the above relation had lossless decomposition i.e. no loss of information.</a:t>
            </a:r>
          </a:p>
        </p:txBody>
      </p:sp>
    </p:spTree>
    <p:extLst>
      <p:ext uri="{BB962C8B-B14F-4D97-AF65-F5344CB8AC3E}">
        <p14:creationId xmlns:p14="http://schemas.microsoft.com/office/powerpoint/2010/main" val="4111263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2000" cy="4955203"/>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Lossy Decomposition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 Careless decomposition is another name for </a:t>
            </a:r>
            <a:r>
              <a:rPr lang="en-US" sz="2400" b="1" dirty="0" err="1">
                <a:solidFill>
                  <a:srgbClr val="FF0000"/>
                </a:solidFill>
                <a:latin typeface="Times New Roman" panose="02020603050405020304" pitchFamily="18" charset="0"/>
                <a:cs typeface="Times New Roman" panose="02020603050405020304" pitchFamily="18" charset="0"/>
              </a:rPr>
              <a:t>lossy</a:t>
            </a:r>
            <a:r>
              <a:rPr lang="en-US" sz="2400" b="1" dirty="0">
                <a:solidFill>
                  <a:srgbClr val="FF0000"/>
                </a:solidFill>
                <a:latin typeface="Times New Roman" panose="02020603050405020304" pitchFamily="18" charset="0"/>
                <a:cs typeface="Times New Roman" panose="02020603050405020304" pitchFamily="18" charset="0"/>
              </a:rPr>
              <a:t> join decomposition. </a:t>
            </a:r>
            <a:r>
              <a:rPr lang="en-US" sz="2400" dirty="0">
                <a:latin typeface="Times New Roman" panose="02020603050405020304" pitchFamily="18" charset="0"/>
                <a:cs typeface="Times New Roman" panose="02020603050405020304" pitchFamily="18" charset="0"/>
              </a:rPr>
              <a:t>It is because there is an introduction of various extraneous </a:t>
            </a:r>
            <a:r>
              <a:rPr lang="en-US" sz="2400" dirty="0" err="1">
                <a:latin typeface="Times New Roman" panose="02020603050405020304" pitchFamily="18" charset="0"/>
                <a:cs typeface="Times New Roman" panose="02020603050405020304" pitchFamily="18" charset="0"/>
              </a:rPr>
              <a:t>tuples</a:t>
            </a:r>
            <a:r>
              <a:rPr lang="en-US" sz="2400" dirty="0">
                <a:latin typeface="Times New Roman" panose="02020603050405020304" pitchFamily="18" charset="0"/>
                <a:cs typeface="Times New Roman" panose="02020603050405020304" pitchFamily="18" charset="0"/>
              </a:rPr>
              <a:t> in the sub relations’ natural join. These extraneous </a:t>
            </a:r>
            <a:r>
              <a:rPr lang="en-US" sz="2400" dirty="0" err="1">
                <a:latin typeface="Times New Roman" panose="02020603050405020304" pitchFamily="18" charset="0"/>
                <a:cs typeface="Times New Roman" panose="02020603050405020304" pitchFamily="18" charset="0"/>
              </a:rPr>
              <a:t>tuples</a:t>
            </a:r>
            <a:r>
              <a:rPr lang="en-US" sz="2400" dirty="0">
                <a:latin typeface="Times New Roman" panose="02020603050405020304" pitchFamily="18" charset="0"/>
                <a:cs typeface="Times New Roman" panose="02020603050405020304" pitchFamily="18" charset="0"/>
              </a:rPr>
              <a:t> make it very difficult to identify the original </a:t>
            </a:r>
            <a:r>
              <a:rPr lang="en-US" sz="2400" dirty="0" err="1">
                <a:latin typeface="Times New Roman" panose="02020603050405020304" pitchFamily="18" charset="0"/>
                <a:cs typeface="Times New Roman" panose="02020603050405020304" pitchFamily="18" charset="0"/>
              </a:rPr>
              <a:t>tuples</a:t>
            </a:r>
            <a:r>
              <a:rPr lang="en-US" sz="2400" dirty="0">
                <a:latin typeface="Times New Roman" panose="02020603050405020304" pitchFamily="18" charset="0"/>
                <a:cs typeface="Times New Roman" panose="02020603050405020304" pitchFamily="18" charset="0"/>
              </a:rPr>
              <a: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Example</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Consider the table i.e., &lt;</a:t>
            </a:r>
            <a:r>
              <a:rPr lang="en-US" sz="2400" b="1" dirty="0" err="1">
                <a:latin typeface="Times New Roman" panose="02020603050405020304" pitchFamily="18" charset="0"/>
                <a:cs typeface="Times New Roman" panose="02020603050405020304" pitchFamily="18" charset="0"/>
              </a:rPr>
              <a:t>Cand_Info</a:t>
            </a:r>
            <a:r>
              <a:rPr lang="en-US" sz="2400" b="1" dirty="0">
                <a:latin typeface="Times New Roman" panose="02020603050405020304" pitchFamily="18" charset="0"/>
                <a:cs typeface="Times New Roman" panose="02020603050405020304" pitchFamily="18" charset="0"/>
              </a:rPr>
              <a:t>&gt;</a:t>
            </a:r>
          </a:p>
          <a:p>
            <a:pPr algn="just"/>
            <a:endParaRPr lang="en-US" b="1" dirty="0"/>
          </a:p>
          <a:p>
            <a:pPr algn="just"/>
            <a:endParaRPr lang="en-US" b="1" dirty="0"/>
          </a:p>
          <a:p>
            <a:pPr algn="just"/>
            <a:endParaRPr lang="en-US" b="1" dirty="0"/>
          </a:p>
          <a:p>
            <a:pPr algn="just"/>
            <a:endParaRPr lang="en-US" b="1" dirty="0"/>
          </a:p>
          <a:p>
            <a:pPr algn="just"/>
            <a:endParaRPr lang="en-US" dirty="0"/>
          </a:p>
        </p:txBody>
      </p:sp>
      <p:graphicFrame>
        <p:nvGraphicFramePr>
          <p:cNvPr id="4" name="Table 3"/>
          <p:cNvGraphicFramePr>
            <a:graphicFrameLocks noGrp="1"/>
          </p:cNvGraphicFramePr>
          <p:nvPr/>
        </p:nvGraphicFramePr>
        <p:xfrm>
          <a:off x="159487" y="3689498"/>
          <a:ext cx="11876569" cy="2860156"/>
        </p:xfrm>
        <a:graphic>
          <a:graphicData uri="http://schemas.openxmlformats.org/drawingml/2006/table">
            <a:tbl>
              <a:tblPr firstRow="1" bandRow="1">
                <a:tableStyleId>{5C22544A-7EE6-4342-B048-85BDC9FD1C3A}</a:tableStyleId>
              </a:tblPr>
              <a:tblGrid>
                <a:gridCol w="1979428">
                  <a:extLst>
                    <a:ext uri="{9D8B030D-6E8A-4147-A177-3AD203B41FA5}">
                      <a16:colId xmlns:a16="http://schemas.microsoft.com/office/drawing/2014/main" xmlns="" val="20000"/>
                    </a:ext>
                  </a:extLst>
                </a:gridCol>
                <a:gridCol w="1979428">
                  <a:extLst>
                    <a:ext uri="{9D8B030D-6E8A-4147-A177-3AD203B41FA5}">
                      <a16:colId xmlns:a16="http://schemas.microsoft.com/office/drawing/2014/main" xmlns="" val="20001"/>
                    </a:ext>
                  </a:extLst>
                </a:gridCol>
                <a:gridCol w="1979428">
                  <a:extLst>
                    <a:ext uri="{9D8B030D-6E8A-4147-A177-3AD203B41FA5}">
                      <a16:colId xmlns:a16="http://schemas.microsoft.com/office/drawing/2014/main" xmlns="" val="20002"/>
                    </a:ext>
                  </a:extLst>
                </a:gridCol>
                <a:gridCol w="2402932">
                  <a:extLst>
                    <a:ext uri="{9D8B030D-6E8A-4147-A177-3AD203B41FA5}">
                      <a16:colId xmlns:a16="http://schemas.microsoft.com/office/drawing/2014/main" xmlns="" val="20003"/>
                    </a:ext>
                  </a:extLst>
                </a:gridCol>
                <a:gridCol w="1555925">
                  <a:extLst>
                    <a:ext uri="{9D8B030D-6E8A-4147-A177-3AD203B41FA5}">
                      <a16:colId xmlns:a16="http://schemas.microsoft.com/office/drawing/2014/main" xmlns="" val="20004"/>
                    </a:ext>
                  </a:extLst>
                </a:gridCol>
                <a:gridCol w="1979428">
                  <a:extLst>
                    <a:ext uri="{9D8B030D-6E8A-4147-A177-3AD203B41FA5}">
                      <a16:colId xmlns:a16="http://schemas.microsoft.com/office/drawing/2014/main" xmlns="" val="20005"/>
                    </a:ext>
                  </a:extLst>
                </a:gridCol>
              </a:tblGrid>
              <a:tr h="715039">
                <a:tc>
                  <a:txBody>
                    <a:bodyPr/>
                    <a:lstStyle/>
                    <a:p>
                      <a:r>
                        <a:rPr lang="en-US" dirty="0" err="1"/>
                        <a:t>Cand_ID</a:t>
                      </a:r>
                      <a:endParaRPr lang="en-US" dirty="0"/>
                    </a:p>
                  </a:txBody>
                  <a:tcPr/>
                </a:tc>
                <a:tc>
                  <a:txBody>
                    <a:bodyPr/>
                    <a:lstStyle/>
                    <a:p>
                      <a:r>
                        <a:rPr lang="en-US" dirty="0" err="1"/>
                        <a:t>Cand_Name</a:t>
                      </a:r>
                      <a:endParaRPr lang="en-US" dirty="0"/>
                    </a:p>
                  </a:txBody>
                  <a:tcPr/>
                </a:tc>
                <a:tc>
                  <a:txBody>
                    <a:bodyPr/>
                    <a:lstStyle/>
                    <a:p>
                      <a:r>
                        <a:rPr lang="en-US" dirty="0" err="1"/>
                        <a:t>Cand_Age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Cand_Location</a:t>
                      </a:r>
                      <a:endParaRPr lang="en-US" dirty="0"/>
                    </a:p>
                  </a:txBody>
                  <a:tcPr/>
                </a:tc>
                <a:tc>
                  <a:txBody>
                    <a:bodyPr/>
                    <a:lstStyle/>
                    <a:p>
                      <a:r>
                        <a:rPr lang="en-US" dirty="0" err="1"/>
                        <a:t>Sec_ID</a:t>
                      </a:r>
                      <a:endParaRPr lang="en-US" dirty="0"/>
                    </a:p>
                  </a:txBody>
                  <a:tcPr/>
                </a:tc>
                <a:tc>
                  <a:txBody>
                    <a:bodyPr/>
                    <a:lstStyle/>
                    <a:p>
                      <a:r>
                        <a:rPr lang="en-US" dirty="0" err="1"/>
                        <a:t>Sec_Name</a:t>
                      </a:r>
                      <a:endParaRPr lang="en-US" dirty="0"/>
                    </a:p>
                  </a:txBody>
                  <a:tcPr/>
                </a:tc>
                <a:extLst>
                  <a:ext uri="{0D108BD9-81ED-4DB2-BD59-A6C34878D82A}">
                    <a16:rowId xmlns:a16="http://schemas.microsoft.com/office/drawing/2014/main" xmlns="" val="10000"/>
                  </a:ext>
                </a:extLst>
              </a:tr>
              <a:tr h="715039">
                <a:tc>
                  <a:txBody>
                    <a:bodyPr/>
                    <a:lstStyle/>
                    <a:p>
                      <a:r>
                        <a:rPr lang="en-US" dirty="0"/>
                        <a:t>HX001</a:t>
                      </a:r>
                    </a:p>
                  </a:txBody>
                  <a:tcPr/>
                </a:tc>
                <a:tc>
                  <a:txBody>
                    <a:bodyPr/>
                    <a:lstStyle/>
                    <a:p>
                      <a:r>
                        <a:rPr lang="en-US" dirty="0"/>
                        <a:t>Kevin</a:t>
                      </a:r>
                    </a:p>
                  </a:txBody>
                  <a:tcPr/>
                </a:tc>
                <a:tc>
                  <a:txBody>
                    <a:bodyPr/>
                    <a:lstStyle/>
                    <a:p>
                      <a:r>
                        <a:rPr lang="en-US" dirty="0"/>
                        <a:t>45</a:t>
                      </a:r>
                    </a:p>
                  </a:txBody>
                  <a:tcPr/>
                </a:tc>
                <a:tc>
                  <a:txBody>
                    <a:bodyPr/>
                    <a:lstStyle/>
                    <a:p>
                      <a:r>
                        <a:rPr lang="en-US" dirty="0"/>
                        <a:t>New</a:t>
                      </a:r>
                      <a:r>
                        <a:rPr lang="en-US" baseline="0" dirty="0"/>
                        <a:t> York</a:t>
                      </a:r>
                      <a:endParaRPr lang="en-US" dirty="0"/>
                    </a:p>
                  </a:txBody>
                  <a:tcPr/>
                </a:tc>
                <a:tc>
                  <a:txBody>
                    <a:bodyPr/>
                    <a:lstStyle/>
                    <a:p>
                      <a:r>
                        <a:rPr lang="en-US" dirty="0"/>
                        <a:t>Sec 1</a:t>
                      </a:r>
                    </a:p>
                  </a:txBody>
                  <a:tcPr/>
                </a:tc>
                <a:tc>
                  <a:txBody>
                    <a:bodyPr/>
                    <a:lstStyle/>
                    <a:p>
                      <a:r>
                        <a:rPr lang="en-US" dirty="0"/>
                        <a:t>Operations</a:t>
                      </a:r>
                    </a:p>
                  </a:txBody>
                  <a:tcPr/>
                </a:tc>
                <a:extLst>
                  <a:ext uri="{0D108BD9-81ED-4DB2-BD59-A6C34878D82A}">
                    <a16:rowId xmlns:a16="http://schemas.microsoft.com/office/drawing/2014/main" xmlns="" val="10001"/>
                  </a:ext>
                </a:extLst>
              </a:tr>
              <a:tr h="715039">
                <a:tc>
                  <a:txBody>
                    <a:bodyPr/>
                    <a:lstStyle/>
                    <a:p>
                      <a:r>
                        <a:rPr lang="en-US" dirty="0"/>
                        <a:t>HX001</a:t>
                      </a:r>
                    </a:p>
                  </a:txBody>
                  <a:tcPr/>
                </a:tc>
                <a:tc>
                  <a:txBody>
                    <a:bodyPr/>
                    <a:lstStyle/>
                    <a:p>
                      <a:r>
                        <a:rPr lang="en-US" dirty="0"/>
                        <a:t>Raymond</a:t>
                      </a:r>
                    </a:p>
                  </a:txBody>
                  <a:tcPr/>
                </a:tc>
                <a:tc>
                  <a:txBody>
                    <a:bodyPr/>
                    <a:lstStyle/>
                    <a:p>
                      <a:r>
                        <a:rPr lang="en-US" dirty="0"/>
                        <a:t>49</a:t>
                      </a:r>
                    </a:p>
                  </a:txBody>
                  <a:tcPr/>
                </a:tc>
                <a:tc>
                  <a:txBody>
                    <a:bodyPr/>
                    <a:lstStyle/>
                    <a:p>
                      <a:r>
                        <a:rPr lang="en-US" dirty="0"/>
                        <a:t>Los Angeles</a:t>
                      </a:r>
                    </a:p>
                  </a:txBody>
                  <a:tcPr/>
                </a:tc>
                <a:tc>
                  <a:txBody>
                    <a:bodyPr/>
                    <a:lstStyle/>
                    <a:p>
                      <a:r>
                        <a:rPr lang="en-US" dirty="0"/>
                        <a:t>Sec 2</a:t>
                      </a:r>
                    </a:p>
                  </a:txBody>
                  <a:tcPr/>
                </a:tc>
                <a:tc>
                  <a:txBody>
                    <a:bodyPr/>
                    <a:lstStyle/>
                    <a:p>
                      <a:r>
                        <a:rPr lang="en-US" dirty="0"/>
                        <a:t>HR</a:t>
                      </a:r>
                    </a:p>
                  </a:txBody>
                  <a:tcPr/>
                </a:tc>
                <a:extLst>
                  <a:ext uri="{0D108BD9-81ED-4DB2-BD59-A6C34878D82A}">
                    <a16:rowId xmlns:a16="http://schemas.microsoft.com/office/drawing/2014/main" xmlns="" val="10002"/>
                  </a:ext>
                </a:extLst>
              </a:tr>
              <a:tr h="715039">
                <a:tc>
                  <a:txBody>
                    <a:bodyPr/>
                    <a:lstStyle/>
                    <a:p>
                      <a:r>
                        <a:rPr lang="en-US" dirty="0"/>
                        <a:t>HX001</a:t>
                      </a:r>
                    </a:p>
                  </a:txBody>
                  <a:tcPr/>
                </a:tc>
                <a:tc>
                  <a:txBody>
                    <a:bodyPr/>
                    <a:lstStyle/>
                    <a:p>
                      <a:r>
                        <a:rPr lang="en-US" dirty="0"/>
                        <a:t>Marco</a:t>
                      </a:r>
                    </a:p>
                  </a:txBody>
                  <a:tcPr/>
                </a:tc>
                <a:tc>
                  <a:txBody>
                    <a:bodyPr/>
                    <a:lstStyle/>
                    <a:p>
                      <a:r>
                        <a:rPr lang="en-US" dirty="0"/>
                        <a:t>39</a:t>
                      </a:r>
                    </a:p>
                  </a:txBody>
                  <a:tcPr/>
                </a:tc>
                <a:tc>
                  <a:txBody>
                    <a:bodyPr/>
                    <a:lstStyle/>
                    <a:p>
                      <a:r>
                        <a:rPr lang="en-US" dirty="0"/>
                        <a:t>San Diego</a:t>
                      </a:r>
                    </a:p>
                  </a:txBody>
                  <a:tcPr/>
                </a:tc>
                <a:tc>
                  <a:txBody>
                    <a:bodyPr/>
                    <a:lstStyle/>
                    <a:p>
                      <a:r>
                        <a:rPr lang="en-US" dirty="0"/>
                        <a:t>Sec 3</a:t>
                      </a:r>
                    </a:p>
                  </a:txBody>
                  <a:tcPr/>
                </a:tc>
                <a:tc>
                  <a:txBody>
                    <a:bodyPr/>
                    <a:lstStyle/>
                    <a:p>
                      <a:r>
                        <a:rPr lang="en-US" dirty="0"/>
                        <a:t>Finance</a:t>
                      </a: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4111263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1376837" cy="369332"/>
          </a:xfrm>
          <a:prstGeom prst="rect">
            <a:avLst/>
          </a:prstGeom>
          <a:noFill/>
        </p:spPr>
        <p:txBody>
          <a:bodyPr wrap="square" rtlCol="0">
            <a:spAutoFit/>
          </a:bodyPr>
          <a:lstStyle/>
          <a:p>
            <a:r>
              <a:rPr lang="en-US" dirty="0"/>
              <a:t>			Let us now decompose this table into two tables like this:</a:t>
            </a:r>
          </a:p>
        </p:txBody>
      </p:sp>
      <p:sp>
        <p:nvSpPr>
          <p:cNvPr id="4" name="TextBox 3"/>
          <p:cNvSpPr txBox="1"/>
          <p:nvPr/>
        </p:nvSpPr>
        <p:spPr>
          <a:xfrm>
            <a:off x="0" y="5283876"/>
            <a:ext cx="12192000" cy="1200329"/>
          </a:xfrm>
          <a:prstGeom prst="rect">
            <a:avLst/>
          </a:prstGeom>
          <a:noFill/>
        </p:spPr>
        <p:txBody>
          <a:bodyPr wrap="square" rtlCol="0">
            <a:spAutoFit/>
          </a:bodyPr>
          <a:lstStyle/>
          <a:p>
            <a:pPr algn="just"/>
            <a:r>
              <a:rPr lang="en-US" sz="2400" dirty="0">
                <a:latin typeface="Times New Roman" pitchFamily="18" charset="0"/>
                <a:cs typeface="Times New Roman" pitchFamily="18" charset="0"/>
              </a:rPr>
              <a:t>Now, if we try to join both the tables mentioned above, we won’t be able to do it- since the relation </a:t>
            </a:r>
            <a:r>
              <a:rPr lang="en-US" sz="2400" dirty="0" err="1">
                <a:latin typeface="Times New Roman" pitchFamily="18" charset="0"/>
                <a:cs typeface="Times New Roman" pitchFamily="18" charset="0"/>
              </a:rPr>
              <a:t>Cand_ID</a:t>
            </a:r>
            <a:r>
              <a:rPr lang="en-US" sz="2400" dirty="0">
                <a:latin typeface="Times New Roman" pitchFamily="18" charset="0"/>
                <a:cs typeface="Times New Roman" pitchFamily="18" charset="0"/>
              </a:rPr>
              <a:t> isn’t part of the relation </a:t>
            </a:r>
            <a:r>
              <a:rPr lang="en-US" sz="2400" dirty="0" err="1">
                <a:latin typeface="Times New Roman" pitchFamily="18" charset="0"/>
                <a:cs typeface="Times New Roman" pitchFamily="18" charset="0"/>
              </a:rPr>
              <a:t>Sec_Details</a:t>
            </a:r>
            <a:r>
              <a:rPr lang="en-US" sz="2400" dirty="0">
                <a:latin typeface="Times New Roman" pitchFamily="18" charset="0"/>
                <a:cs typeface="Times New Roman" pitchFamily="18" charset="0"/>
              </a:rPr>
              <a:t>. Thus, this relation mentioned here is a lossy decomposition.</a:t>
            </a:r>
          </a:p>
        </p:txBody>
      </p:sp>
      <p:pic>
        <p:nvPicPr>
          <p:cNvPr id="5" name="Picture 4" descr="Screenshot 2023-05-02 110738.jpg"/>
          <p:cNvPicPr>
            <a:picLocks noChangeAspect="1"/>
          </p:cNvPicPr>
          <p:nvPr/>
        </p:nvPicPr>
        <p:blipFill>
          <a:blip r:embed="rId2"/>
          <a:stretch>
            <a:fillRect/>
          </a:stretch>
        </p:blipFill>
        <p:spPr>
          <a:xfrm>
            <a:off x="0" y="480231"/>
            <a:ext cx="12192000" cy="4815840"/>
          </a:xfrm>
          <a:prstGeom prst="rect">
            <a:avLst/>
          </a:prstGeom>
        </p:spPr>
      </p:pic>
    </p:spTree>
    <p:extLst>
      <p:ext uri="{BB962C8B-B14F-4D97-AF65-F5344CB8AC3E}">
        <p14:creationId xmlns:p14="http://schemas.microsoft.com/office/powerpoint/2010/main" val="411126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1571224" y="94372"/>
            <a:ext cx="10251582"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a:t>ACTIVITIES/ CASE STUDIES/ IMPORTANT FACTS RELATED TO THE SESSION</a:t>
            </a:r>
          </a:p>
        </p:txBody>
      </p:sp>
      <p:sp>
        <p:nvSpPr>
          <p:cNvPr id="17" name="TextBox 16"/>
          <p:cNvSpPr txBox="1"/>
          <p:nvPr/>
        </p:nvSpPr>
        <p:spPr>
          <a:xfrm>
            <a:off x="1083212" y="1252025"/>
            <a:ext cx="10086536" cy="4801314"/>
          </a:xfrm>
          <a:prstGeom prst="rect">
            <a:avLst/>
          </a:prstGeom>
          <a:noFill/>
        </p:spPr>
        <p:txBody>
          <a:bodyPr wrap="square" rtlCol="0">
            <a:spAutoFit/>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sp>
        <p:nvSpPr>
          <p:cNvPr id="8" name="TextBox 7"/>
          <p:cNvSpPr txBox="1"/>
          <p:nvPr/>
        </p:nvSpPr>
        <p:spPr>
          <a:xfrm>
            <a:off x="0" y="874243"/>
            <a:ext cx="12192000" cy="3416320"/>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Activity 1</a:t>
            </a:r>
          </a:p>
          <a:p>
            <a:pPr algn="just"/>
            <a:r>
              <a:rPr lang="en-US" sz="2400" b="1" dirty="0">
                <a:latin typeface="Times New Roman" panose="02020603050405020304" pitchFamily="18" charset="0"/>
                <a:cs typeface="Times New Roman" panose="02020603050405020304" pitchFamily="18" charset="0"/>
              </a:rPr>
              <a:t>Library Management System</a:t>
            </a: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Provide students with a case study about a library management system that includes information about books, borrowers, loans, and reservations. Ask them to design a database that reflects the functional dependencies between these entities. Then, have them decompose the database into smaller tables that reflect the different aspects of library management, such as book titles, author information, borrower profiles, loan histories, and reservation lists.</a:t>
            </a:r>
          </a:p>
          <a:p>
            <a:pPr algn="just"/>
            <a:endParaRPr lang="en-US" sz="24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0" y="3912781"/>
            <a:ext cx="12191999" cy="267765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Activity 2</a:t>
            </a:r>
          </a:p>
          <a:p>
            <a:r>
              <a:rPr lang="en-US" sz="2400" b="1" dirty="0">
                <a:latin typeface="Times New Roman" panose="02020603050405020304" pitchFamily="18" charset="0"/>
                <a:cs typeface="Times New Roman" panose="02020603050405020304" pitchFamily="18" charset="0"/>
              </a:rPr>
              <a:t>Student Information System</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Ask students to design a database for a student information system that includes information about students, courses, and grades. Then, have them decompose the database into smaller, more manageable tables based on functional dependencies.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337426" y="865373"/>
            <a:ext cx="11578107" cy="6186309"/>
          </a:xfrm>
          <a:prstGeom prst="rect">
            <a:avLst/>
          </a:prstGeom>
          <a:noFill/>
        </p:spPr>
        <p:txBody>
          <a:bodyPr wrap="square" rtlCol="0">
            <a:spAutoFit/>
          </a:bodyPr>
          <a:lstStyle/>
          <a:p>
            <a:pPr algn="just">
              <a:lnSpc>
                <a:spcPct val="150000"/>
              </a:lnSpc>
            </a:pPr>
            <a:r>
              <a:rPr lang="en-US" sz="2400" b="1" dirty="0" smtClean="0">
                <a:latin typeface="Times New Roman" panose="02020603050405020304" pitchFamily="18" charset="0"/>
                <a:cs typeface="Times New Roman" panose="02020603050405020304" pitchFamily="18" charset="0"/>
              </a:rPr>
              <a:t>LinkedIn:</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	LinkedIn is a social networking platform that allows individuals to create professional profiles, connect with others in their industry, and search for job opportunities. The company's database includes information about users, companies, job postings, and messaging. To ensure that the database is organized and scalable, LinkedIn has implemented a decomposed data model that includes separate tables for user profiles, company pages, job postings, and messages. This allows LinkedIn to easily manage millions of users and provide accurate information to recruiters and job seekers.</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476519" y="1127051"/>
            <a:ext cx="11320530" cy="3847207"/>
          </a:xfrm>
          <a:prstGeom prst="rect">
            <a:avLst/>
          </a:prstGeom>
          <a:noFill/>
        </p:spPr>
        <p:txBody>
          <a:bodyPr wrap="square" rtlCol="0">
            <a:spAutoFit/>
          </a:bodyPr>
          <a:lstStyle/>
          <a:p>
            <a:pPr algn="just"/>
            <a:r>
              <a:rPr lang="en-US" sz="2800" dirty="0"/>
              <a:t>	</a:t>
            </a:r>
            <a:r>
              <a:rPr lang="en-US" sz="2400" dirty="0">
                <a:latin typeface="Times New Roman" panose="02020603050405020304" pitchFamily="18" charset="0"/>
                <a:cs typeface="Times New Roman" panose="02020603050405020304" pitchFamily="18" charset="0"/>
              </a:rPr>
              <a:t>In conclusion, decomposition is an essential concept in database management systems (DBMS) that involves breaking down a larger table into smaller, more focused tables. This allows for the reduction of data redundancy, improvement of data integrity, and scalability of the database. There are several types of decompositions, including 1NF, 2NF, 3NF, BCNF, and 4NF, each addressing a specific issue or normalization requirement. Decomposition is widely used by various organizations to improve their data management, including </a:t>
            </a:r>
            <a:r>
              <a:rPr lang="en-US" sz="2400" dirty="0" err="1">
                <a:latin typeface="Times New Roman" panose="02020603050405020304" pitchFamily="18" charset="0"/>
                <a:cs typeface="Times New Roman" panose="02020603050405020304" pitchFamily="18" charset="0"/>
              </a:rPr>
              <a:t>Airbnb</a:t>
            </a:r>
            <a:r>
              <a:rPr lang="en-US" sz="2400" dirty="0">
                <a:latin typeface="Times New Roman" panose="02020603050405020304" pitchFamily="18" charset="0"/>
                <a:cs typeface="Times New Roman" panose="02020603050405020304" pitchFamily="18" charset="0"/>
              </a:rPr>
              <a:t>, LinkedIn, </a:t>
            </a:r>
            <a:r>
              <a:rPr lang="en-US" sz="2400" dirty="0" err="1">
                <a:latin typeface="Times New Roman" panose="02020603050405020304" pitchFamily="18" charset="0"/>
                <a:cs typeface="Times New Roman" panose="02020603050405020304" pitchFamily="18" charset="0"/>
              </a:rPr>
              <a:t>Uber</a:t>
            </a:r>
            <a:r>
              <a:rPr lang="en-US" sz="2400" dirty="0">
                <a:latin typeface="Times New Roman" panose="02020603050405020304" pitchFamily="18" charset="0"/>
                <a:cs typeface="Times New Roman" panose="02020603050405020304" pitchFamily="18" charset="0"/>
              </a:rPr>
              <a:t>, and Amazon, which have implemented decomposed data models to manage their large volumes of data efficiently and effectively. By applying decomposition in DBMS, organizations can ensure that their data is organized, accurate, and accessible, enabling them to make informed decisions based on reliable information.</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318779" y="103999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Which of the following is a drawback of decomposition?</a:t>
            </a: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026828" y="1977905"/>
            <a:ext cx="686253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solidFill>
                  <a:srgbClr val="FFC000"/>
                </a:solidFill>
              </a:rPr>
              <a:t>It can lead to an increase in data redundancy.</a:t>
            </a:r>
          </a:p>
          <a:p>
            <a:pPr marL="342900" indent="-342900">
              <a:lnSpc>
                <a:spcPct val="150000"/>
              </a:lnSpc>
              <a:buAutoNum type="alphaLcParenBoth"/>
            </a:pPr>
            <a:r>
              <a:rPr lang="en-US" sz="1600" dirty="0"/>
              <a:t>It can lead to an decrease in data integrity.</a:t>
            </a:r>
          </a:p>
          <a:p>
            <a:pPr marL="342900" indent="-342900">
              <a:lnSpc>
                <a:spcPct val="150000"/>
              </a:lnSpc>
              <a:buAutoNum type="alphaLcParenBoth"/>
            </a:pPr>
            <a:r>
              <a:rPr lang="en-US" sz="1600" dirty="0"/>
              <a:t>It can make database less scalable</a:t>
            </a:r>
          </a:p>
          <a:p>
            <a:pPr marL="342900" indent="-342900">
              <a:lnSpc>
                <a:spcPct val="150000"/>
              </a:lnSpc>
              <a:buAutoNum type="alphaLcParenBoth"/>
            </a:pPr>
            <a:r>
              <a:rPr lang="en-US" sz="1600" dirty="0"/>
              <a:t>It can make database more difficult to maintain</a:t>
            </a:r>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318779"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Which of the following is not a reason for using decomposition in DBMS?</a:t>
            </a: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382034" y="4684666"/>
            <a:ext cx="7645007" cy="1939417"/>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pPr>
            <a:r>
              <a:rPr lang="en-US" dirty="0"/>
              <a:t>(a)  To reduce data redundancy.</a:t>
            </a:r>
          </a:p>
          <a:p>
            <a:pPr marL="342900" indent="-342900">
              <a:lnSpc>
                <a:spcPct val="150000"/>
              </a:lnSpc>
              <a:buAutoNum type="alphaLcParenBoth"/>
            </a:pPr>
            <a:r>
              <a:rPr lang="en-US" dirty="0"/>
              <a:t> To improve data integrity.</a:t>
            </a:r>
          </a:p>
          <a:p>
            <a:pPr marL="342900" indent="-342900">
              <a:lnSpc>
                <a:spcPct val="150000"/>
              </a:lnSpc>
              <a:buAutoNum type="alphaLcParenBoth"/>
            </a:pPr>
            <a:r>
              <a:rPr lang="en-US" dirty="0"/>
              <a:t> </a:t>
            </a:r>
            <a:r>
              <a:rPr lang="en-US" dirty="0">
                <a:solidFill>
                  <a:srgbClr val="FFC000"/>
                </a:solidFill>
              </a:rPr>
              <a:t>To increase data redundancy.</a:t>
            </a:r>
          </a:p>
          <a:p>
            <a:pPr marL="342900" indent="-342900">
              <a:lnSpc>
                <a:spcPct val="150000"/>
              </a:lnSpc>
              <a:buAutoNum type="alphaLcParenBoth"/>
            </a:pPr>
            <a:r>
              <a:rPr lang="en-US" dirty="0"/>
              <a:t> To ensure scalability of the database.</a:t>
            </a:r>
            <a:endParaRPr lang="en-US" sz="1600" dirty="0"/>
          </a:p>
        </p:txBody>
      </p:sp>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254984" y="1103789"/>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1600" dirty="0">
                <a:solidFill>
                  <a:schemeClr val="bg1"/>
                </a:solidFill>
                <a:latin typeface="Poppins" panose="00000500000000000000" pitchFamily="2" charset="0"/>
                <a:ea typeface="Calibri"/>
                <a:cs typeface="Poppins" panose="00000500000000000000" pitchFamily="2" charset="0"/>
                <a:sym typeface="Calibri"/>
              </a:rPr>
              <a:t>3. What is decomposition in database management systems?</a:t>
            </a: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026828" y="1977905"/>
            <a:ext cx="832982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It is a process of combining multiple tables into one table.</a:t>
            </a:r>
          </a:p>
          <a:p>
            <a:pPr marL="342900" indent="-342900">
              <a:lnSpc>
                <a:spcPct val="150000"/>
              </a:lnSpc>
              <a:buAutoNum type="alphaLcParenBoth"/>
            </a:pPr>
            <a:r>
              <a:rPr lang="en-US" sz="1600" dirty="0">
                <a:latin typeface="Arial" panose="020B0604020202020204" pitchFamily="34" charset="0"/>
              </a:rPr>
              <a:t> </a:t>
            </a:r>
            <a:r>
              <a:rPr lang="en-US" sz="1600" dirty="0">
                <a:solidFill>
                  <a:srgbClr val="FFC000"/>
                </a:solidFill>
                <a:latin typeface="Arial" panose="020B0604020202020204" pitchFamily="34" charset="0"/>
              </a:rPr>
              <a:t>It is a process of breaking down a larger table into smaller, more focused tables.</a:t>
            </a:r>
          </a:p>
          <a:p>
            <a:pPr marL="342900" indent="-342900">
              <a:lnSpc>
                <a:spcPct val="150000"/>
              </a:lnSpc>
              <a:buAutoNum type="alphaLcParenBoth"/>
            </a:pPr>
            <a:r>
              <a:rPr lang="en-US" sz="1600" dirty="0">
                <a:latin typeface="Arial" panose="020B0604020202020204" pitchFamily="34" charset="0"/>
              </a:rPr>
              <a:t> It is a process of encrypting data to protect it from unauthorized access.</a:t>
            </a:r>
          </a:p>
          <a:p>
            <a:pPr marL="342900" indent="-342900">
              <a:lnSpc>
                <a:spcPct val="150000"/>
              </a:lnSpc>
              <a:buAutoNum type="alphaLcParenBoth"/>
            </a:pPr>
            <a:r>
              <a:rPr lang="en-US" sz="1600" dirty="0">
                <a:latin typeface="Arial" panose="020B0604020202020204" pitchFamily="34" charset="0"/>
              </a:rPr>
              <a:t> It is a process of adding data to a table.</a:t>
            </a:r>
            <a:endParaRPr lang="en-US" sz="1600" dirty="0"/>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286881" y="379907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1600" dirty="0">
                <a:solidFill>
                  <a:schemeClr val="bg1"/>
                </a:solidFill>
                <a:latin typeface="Poppins" panose="00000500000000000000" pitchFamily="2" charset="0"/>
                <a:ea typeface="Calibri"/>
                <a:cs typeface="Poppins" panose="00000500000000000000" pitchFamily="2" charset="0"/>
                <a:sym typeface="Calibri"/>
              </a:rPr>
              <a:t>4. Which of the following is an advantage of decomposition in DBMS?</a:t>
            </a:r>
            <a:endParaRPr sz="160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009895" y="4727197"/>
            <a:ext cx="6092654"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 It can increase data redundancy</a:t>
            </a:r>
          </a:p>
          <a:p>
            <a:pPr marL="342900" indent="-342900">
              <a:lnSpc>
                <a:spcPct val="150000"/>
              </a:lnSpc>
              <a:buAutoNum type="alphaLcParenBoth"/>
            </a:pPr>
            <a:r>
              <a:rPr lang="en-US" sz="1600" dirty="0"/>
              <a:t> It can decrease data integrity</a:t>
            </a:r>
          </a:p>
          <a:p>
            <a:pPr marL="342900" indent="-342900">
              <a:lnSpc>
                <a:spcPct val="150000"/>
              </a:lnSpc>
              <a:buAutoNum type="alphaLcParenBoth"/>
            </a:pPr>
            <a:r>
              <a:rPr lang="en-US" sz="1600" dirty="0">
                <a:solidFill>
                  <a:srgbClr val="FFC000"/>
                </a:solidFill>
              </a:rPr>
              <a:t> It can improve query performance</a:t>
            </a:r>
          </a:p>
          <a:p>
            <a:pPr marL="342900" indent="-342900">
              <a:lnSpc>
                <a:spcPct val="150000"/>
              </a:lnSpc>
              <a:buAutoNum type="alphaLcParenBoth"/>
            </a:pPr>
            <a:r>
              <a:rPr lang="en-US" sz="1600" dirty="0"/>
              <a:t> It can make the database more difficult to maintain</a:t>
            </a:r>
          </a:p>
        </p:txBody>
      </p:sp>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27591" y="1167618"/>
            <a:ext cx="11834037" cy="2862322"/>
          </a:xfrm>
          <a:prstGeom prst="rect">
            <a:avLst/>
          </a:prstGeom>
          <a:noFill/>
        </p:spPr>
        <p:txBody>
          <a:bodyPr wrap="square" rtlCol="0">
            <a:spAutoFit/>
          </a:bodyPr>
          <a:lstStyle/>
          <a:p>
            <a:pPr algn="just">
              <a:lnSpc>
                <a:spcPct val="200000"/>
              </a:lnSpc>
            </a:pPr>
            <a:r>
              <a:rPr lang="en-US" b="1" dirty="0"/>
              <a:t>1. Describe  the concept of decomposition in brief</a:t>
            </a:r>
          </a:p>
          <a:p>
            <a:pPr algn="just">
              <a:lnSpc>
                <a:spcPct val="200000"/>
              </a:lnSpc>
            </a:pPr>
            <a:r>
              <a:rPr lang="en-US" b="1" dirty="0"/>
              <a:t>2. List out the difference among lossless decomposition and </a:t>
            </a:r>
            <a:r>
              <a:rPr lang="en-US" b="1" dirty="0" err="1"/>
              <a:t>lossy</a:t>
            </a:r>
            <a:r>
              <a:rPr lang="en-US" b="1" dirty="0"/>
              <a:t> decomposition</a:t>
            </a:r>
          </a:p>
          <a:p>
            <a:pPr marL="342900" indent="-342900" algn="just">
              <a:lnSpc>
                <a:spcPct val="200000"/>
              </a:lnSpc>
            </a:pPr>
            <a:r>
              <a:rPr lang="en-US" b="1" dirty="0"/>
              <a:t>3. Analyze decomposition concept with any case study and justify which is better (case studies like students information system, Library Management System )</a:t>
            </a:r>
          </a:p>
          <a:p>
            <a:pPr marL="342900" indent="-342900" algn="just">
              <a:lnSpc>
                <a:spcPct val="200000"/>
              </a:lnSpc>
            </a:pPr>
            <a:r>
              <a:rPr lang="en-US" b="1" dirty="0"/>
              <a:t>4. Summarize brief about decomposition concept</a:t>
            </a:r>
          </a:p>
        </p:txBody>
      </p:sp>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1842246" y="93891"/>
            <a:ext cx="8337177"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536437" y="803724"/>
            <a:ext cx="11033522" cy="5909310"/>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Reference Books: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1. "Database Management Systems" by </a:t>
            </a:r>
            <a:r>
              <a:rPr lang="en-US" dirty="0" err="1">
                <a:latin typeface="Times New Roman" panose="02020603050405020304" pitchFamily="18" charset="0"/>
                <a:cs typeface="Times New Roman" panose="02020603050405020304" pitchFamily="18" charset="0"/>
              </a:rPr>
              <a:t>Raghu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Ramakrishnan</a:t>
            </a:r>
            <a:r>
              <a:rPr lang="en-US" dirty="0">
                <a:latin typeface="Times New Roman" panose="02020603050405020304" pitchFamily="18" charset="0"/>
                <a:cs typeface="Times New Roman" panose="02020603050405020304" pitchFamily="18" charset="0"/>
              </a:rPr>
              <a:t> and Johannes </a:t>
            </a:r>
            <a:r>
              <a:rPr lang="en-US" dirty="0" err="1">
                <a:latin typeface="Times New Roman" panose="02020603050405020304" pitchFamily="18" charset="0"/>
                <a:cs typeface="Times New Roman" panose="02020603050405020304" pitchFamily="18" charset="0"/>
              </a:rPr>
              <a:t>Gehrke</a:t>
            </a:r>
            <a:r>
              <a:rPr lang="en-US" dirty="0">
                <a:latin typeface="Times New Roman" panose="02020603050405020304" pitchFamily="18" charset="0"/>
                <a:cs typeface="Times New Roman" panose="02020603050405020304" pitchFamily="18" charset="0"/>
              </a:rPr>
              <a:t> - This is a comprehensive textbook that covers both theoretical and practical aspects of DBMS, including data modeling, relational algebra, SQL, query optimization, transaction management, and distributed databases.</a:t>
            </a:r>
          </a:p>
          <a:p>
            <a:pPr algn="just">
              <a:lnSpc>
                <a:spcPct val="150000"/>
              </a:lnSpc>
            </a:pPr>
            <a:r>
              <a:rPr lang="en-US" dirty="0">
                <a:latin typeface="Times New Roman" panose="02020603050405020304" pitchFamily="18" charset="0"/>
                <a:cs typeface="Times New Roman" panose="02020603050405020304" pitchFamily="18" charset="0"/>
              </a:rPr>
              <a:t>2. "Fundamentals of Database Systems" by </a:t>
            </a:r>
            <a:r>
              <a:rPr lang="en-US" dirty="0" err="1">
                <a:latin typeface="Times New Roman" panose="02020603050405020304" pitchFamily="18" charset="0"/>
                <a:cs typeface="Times New Roman" panose="02020603050405020304" pitchFamily="18" charset="0"/>
              </a:rPr>
              <a:t>Ramez</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Elmasri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Shamkant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Navathe</a:t>
            </a:r>
            <a:r>
              <a:rPr lang="en-US" dirty="0">
                <a:latin typeface="Times New Roman" panose="02020603050405020304" pitchFamily="18" charset="0"/>
                <a:cs typeface="Times New Roman" panose="02020603050405020304" pitchFamily="18" charset="0"/>
              </a:rPr>
              <a:t> - This is another popular textbook that covers the fundamental concepts of DBMS, including database design, normalization, SQL programming, transaction management, and concurrency control.</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Sites and Web links:</a:t>
            </a:r>
          </a:p>
          <a:p>
            <a:pPr algn="just">
              <a:lnSpc>
                <a:spcPct val="150000"/>
              </a:lnSpc>
            </a:pPr>
            <a:r>
              <a:rPr lang="en-US"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hlinkClick r:id="rId2"/>
              </a:rPr>
              <a:t>https://www.tutorialspoint.com/Lossless-and-Lossy-Decomposition-in-DBMS</a:t>
            </a:r>
            <a:r>
              <a:rPr lang="en-US" dirty="0">
                <a:latin typeface="Times New Roman" panose="02020603050405020304" pitchFamily="18" charset="0"/>
                <a:cs typeface="Times New Roman" panose="02020603050405020304" pitchFamily="18" charset="0"/>
              </a:rPr>
              <a:t>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hlinkClick r:id="rId3"/>
              </a:rPr>
              <a:t>https://www.javatpoint.com/decomposition-algorithms</a:t>
            </a:r>
            <a:r>
              <a:rPr lang="en-US" dirty="0">
                <a:latin typeface="Times New Roman" panose="02020603050405020304" pitchFamily="18" charset="0"/>
                <a:cs typeface="Times New Roman" panose="02020603050405020304" pitchFamily="18" charset="0"/>
              </a:rPr>
              <a:t>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Course Name</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1815841"/>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FF0000"/>
                </a:solidFill>
                <a:cs typeface="Poppins" panose="00000500000000000000" pitchFamily="2" charset="0"/>
                <a:sym typeface="BioRhyme ExtraBold"/>
              </a:rPr>
              <a:t>COURSE NAME: DBMS</a:t>
            </a:r>
          </a:p>
          <a:p>
            <a:pPr marR="0" lvl="0" indent="0" algn="ctr">
              <a:spcBef>
                <a:spcPts val="0"/>
              </a:spcBef>
              <a:spcAft>
                <a:spcPts val="0"/>
              </a:spcAft>
              <a:buNone/>
            </a:pPr>
            <a:r>
              <a:rPr lang="en-US" sz="3200" b="1" cap="all" dirty="0">
                <a:ln/>
                <a:solidFill>
                  <a:srgbClr val="FF0000"/>
                </a:solidFill>
                <a:cs typeface="Poppins" panose="00000500000000000000" pitchFamily="2" charset="0"/>
                <a:sym typeface="BioRhyme ExtraBold"/>
              </a:rPr>
              <a:t>COURSE CODE:22CS2110 RA</a:t>
            </a:r>
          </a:p>
          <a:p>
            <a:pPr marR="0" lvl="0" indent="0" algn="ctr">
              <a:spcBef>
                <a:spcPts val="0"/>
              </a:spcBef>
              <a:spcAft>
                <a:spcPts val="0"/>
              </a:spcAft>
              <a:buNone/>
            </a:pPr>
            <a:endParaRPr lang="en-US" sz="2400" b="1" dirty="0">
              <a:solidFill>
                <a:srgbClr val="FF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400" b="1" dirty="0">
                <a:solidFill>
                  <a:srgbClr val="FF0000"/>
                </a:solidFill>
                <a:ea typeface="BioRhyme ExtraBold"/>
                <a:cs typeface="Poppins" panose="00000500000000000000" pitchFamily="2" charset="0"/>
                <a:sym typeface="BioRhyme ExtraBold"/>
              </a:rPr>
              <a:t>Topic:  Files and Storage Structures : Files</a:t>
            </a: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721642" y="5095702"/>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a:t>
            </a:r>
            <a:endParaRPr sz="240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3953435" y="84408"/>
            <a:ext cx="3529513"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1818167" y="689854"/>
            <a:ext cx="10023462" cy="46166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Files and type of files</a:t>
            </a: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3657600" y="1807062"/>
            <a:ext cx="4373813"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10049540" cy="58477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r>
              <a:rPr lang="en-US" sz="1600" dirty="0">
                <a:latin typeface="Poppins"/>
                <a:cs typeface="Poppins"/>
              </a:rPr>
              <a:t> </a:t>
            </a:r>
            <a:r>
              <a:rPr lang="en-US" sz="1600" dirty="0">
                <a:latin typeface="Poppins"/>
              </a:rPr>
              <a:t>efficiently store and manage data in a structured and organized manner</a:t>
            </a:r>
            <a:endParaRPr lang="en-US" sz="1600" b="0" i="0" dirty="0">
              <a:effectLst/>
              <a:latin typeface="Poppins"/>
              <a:cs typeface="Poppins"/>
            </a:endParaRPr>
          </a:p>
        </p:txBody>
      </p:sp>
      <p:sp>
        <p:nvSpPr>
          <p:cNvPr id="29" name="Rounded Rectangle 17">
            <a:extLst>
              <a:ext uri="{FF2B5EF4-FFF2-40B4-BE49-F238E27FC236}">
                <a16:creationId xmlns:a16="http://schemas.microsoft.com/office/drawing/2014/main" xmlns="" id="{6652A33D-9A9E-3EAC-0CAE-113901ECA179}"/>
              </a:ext>
            </a:extLst>
          </p:cNvPr>
          <p:cNvSpPr/>
          <p:nvPr/>
        </p:nvSpPr>
        <p:spPr>
          <a:xfrm>
            <a:off x="4268160" y="3407645"/>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sp>
        <p:nvSpPr>
          <p:cNvPr id="37" name="TextBox 36">
            <a:extLst>
              <a:ext uri="{FF2B5EF4-FFF2-40B4-BE49-F238E27FC236}">
                <a16:creationId xmlns:a16="http://schemas.microsoft.com/office/drawing/2014/main" xmlns="" id="{B0BB8E68-8B73-12DE-615E-1091F19A9A9A}"/>
              </a:ext>
            </a:extLst>
          </p:cNvPr>
          <p:cNvSpPr txBox="1"/>
          <p:nvPr/>
        </p:nvSpPr>
        <p:spPr>
          <a:xfrm>
            <a:off x="1770824" y="4115294"/>
            <a:ext cx="10070805" cy="149322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Poppins"/>
                <a:cs typeface="Arial"/>
              </a:rPr>
              <a:t>At the end of this </a:t>
            </a:r>
            <a:r>
              <a:rPr lang="en-US" sz="1600" dirty="0">
                <a:latin typeface="Poppins"/>
                <a:cs typeface="Arial"/>
              </a:rPr>
              <a:t>session</a:t>
            </a:r>
            <a:r>
              <a:rPr lang="en-US" sz="1600" b="0" i="0" dirty="0">
                <a:effectLst/>
                <a:latin typeface="Poppins"/>
                <a:cs typeface="Arial"/>
              </a:rPr>
              <a:t>, you should be able to:</a:t>
            </a:r>
          </a:p>
          <a:p>
            <a:pPr>
              <a:lnSpc>
                <a:spcPct val="200000"/>
              </a:lnSpc>
            </a:pPr>
            <a:r>
              <a:rPr lang="en-US" sz="1600" dirty="0">
                <a:latin typeface="Poppins"/>
              </a:rPr>
              <a:t>understanding different file organization techniques, storage structures, and normalization/</a:t>
            </a:r>
            <a:r>
              <a:rPr lang="en-US" sz="1600" dirty="0" err="1">
                <a:latin typeface="Poppins"/>
              </a:rPr>
              <a:t>denormalization</a:t>
            </a:r>
            <a:r>
              <a:rPr lang="en-US" sz="1600" dirty="0">
                <a:latin typeface="Poppins"/>
              </a:rPr>
              <a:t> concepts for efficient and organized data storage and retrieval.</a:t>
            </a:r>
            <a:endParaRPr lang="en-US" sz="1600" b="0" i="0" dirty="0">
              <a:effectLst/>
              <a:latin typeface="Poppins"/>
              <a:cs typeface="Arial"/>
            </a:endParaRPr>
          </a:p>
        </p:txBody>
      </p:sp>
      <p:pic>
        <p:nvPicPr>
          <p:cNvPr id="13" name="Graphic 10" descr="Bullseye outline">
            <a:extLst>
              <a:ext uri="{FF2B5EF4-FFF2-40B4-BE49-F238E27FC236}">
                <a16:creationId xmlns:a16="http://schemas.microsoft.com/office/drawing/2014/main" xmlns="" id="{89BACBC4-2E4C-445B-86FD-013F0466A15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38162" y="604940"/>
            <a:ext cx="914400" cy="914400"/>
          </a:xfrm>
          <a:prstGeom prst="rect">
            <a:avLst/>
          </a:prstGeom>
        </p:spPr>
      </p:pic>
      <p:pic>
        <p:nvPicPr>
          <p:cNvPr id="14" name="Graphic 26" descr="Presentation with checklist outline">
            <a:extLst>
              <a:ext uri="{FF2B5EF4-FFF2-40B4-BE49-F238E27FC236}">
                <a16:creationId xmlns:a16="http://schemas.microsoft.com/office/drawing/2014/main" xmlns="" id="{73E3B052-11EC-4501-B622-D2A53CB9433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38162" y="2273792"/>
            <a:ext cx="914400" cy="914400"/>
          </a:xfrm>
          <a:prstGeom prst="rect">
            <a:avLst/>
          </a:prstGeom>
        </p:spPr>
      </p:pic>
      <p:pic>
        <p:nvPicPr>
          <p:cNvPr id="15" name="Graphic 30" descr="Idea outline">
            <a:extLst>
              <a:ext uri="{FF2B5EF4-FFF2-40B4-BE49-F238E27FC236}">
                <a16:creationId xmlns:a16="http://schemas.microsoft.com/office/drawing/2014/main" xmlns="" id="{3A3AFFD1-7DE1-42AA-9B5C-8FA1AEC120D0}"/>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538162" y="4182608"/>
            <a:ext cx="914400" cy="914400"/>
          </a:xfrm>
          <a:prstGeom prst="rect">
            <a:avLst/>
          </a:prstGeom>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475861" y="1407402"/>
            <a:ext cx="10795519" cy="267765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Files are a fundamental component of DBMS, serving as </a:t>
            </a:r>
            <a:r>
              <a:rPr lang="en-US" sz="2400" b="1" dirty="0">
                <a:solidFill>
                  <a:srgbClr val="FF0000"/>
                </a:solidFill>
                <a:latin typeface="Times New Roman" panose="02020603050405020304" pitchFamily="18" charset="0"/>
                <a:cs typeface="Times New Roman" panose="02020603050405020304" pitchFamily="18" charset="0"/>
              </a:rPr>
              <a:t>a way to store and organize data in a structured manner for efficient retrieval and manipulation. </a:t>
            </a:r>
            <a:r>
              <a:rPr lang="en-US" sz="2400" dirty="0">
                <a:latin typeface="Times New Roman" panose="02020603050405020304" pitchFamily="18" charset="0"/>
                <a:cs typeface="Times New Roman" panose="02020603050405020304" pitchFamily="18" charset="0"/>
              </a:rPr>
              <a:t>We will discuss various storage structures used in DBMS, namely sequential, Heap, Hash, Clustered and indexed access methods, and how they impact the performance and efficiency of file operations in a database system. Understanding files and storage structures in DBMS is crucial for designing and implementing efficient and reliable database systems. </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0" y="740956"/>
            <a:ext cx="12192000" cy="6001643"/>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A database consists of a huge amount of data. The data is grouped within a table in RDBMS, and each table has related records. A user can see that the data is stored in form of tables, but in actual this huge amount of data is stored in physical memory in form of files.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File –</a:t>
            </a:r>
            <a:r>
              <a:rPr lang="en-US" sz="2400" dirty="0">
                <a:latin typeface="Times New Roman" panose="02020603050405020304" pitchFamily="18" charset="0"/>
                <a:cs typeface="Times New Roman" panose="02020603050405020304" pitchFamily="18" charset="0"/>
              </a:rPr>
              <a:t> A file is named collection of related information that is recorded on secondary storage such as magnetic disks, magnetic tapes and optical disks.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What is File Organization?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File Organization refers to the logical relationships among various records that constitute the file, particularly with respect to the means of identification and access to any specific record. </a:t>
            </a:r>
            <a:r>
              <a:rPr lang="en-US" sz="2400" dirty="0">
                <a:solidFill>
                  <a:srgbClr val="FF0000"/>
                </a:solidFill>
                <a:latin typeface="Times New Roman" panose="02020603050405020304" pitchFamily="18" charset="0"/>
                <a:cs typeface="Times New Roman" panose="02020603050405020304" pitchFamily="18" charset="0"/>
              </a:rPr>
              <a:t>In simple terms, Storing and organizing the files in certain order is called file Organization. </a:t>
            </a:r>
            <a:r>
              <a:rPr lang="en-US" sz="2400" dirty="0">
                <a:latin typeface="Times New Roman" panose="02020603050405020304" pitchFamily="18" charset="0"/>
                <a:cs typeface="Times New Roman" panose="02020603050405020304" pitchFamily="18" charset="0"/>
              </a:rPr>
              <a:t>File Structure refers to the format of the label and data blocks and of any logical control record.</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7" name="TextBox 6"/>
          <p:cNvSpPr txBox="1"/>
          <p:nvPr/>
        </p:nvSpPr>
        <p:spPr>
          <a:xfrm>
            <a:off x="0" y="510689"/>
            <a:ext cx="12191999" cy="6370975"/>
          </a:xfrm>
          <a:prstGeom prst="rect">
            <a:avLst/>
          </a:prstGeom>
          <a:noFill/>
        </p:spPr>
        <p:txBody>
          <a:bodyPr wrap="square" rtlCol="0">
            <a:spAutoFit/>
          </a:bodyPr>
          <a:lstStyle/>
          <a:p>
            <a:pPr fontAlgn="base"/>
            <a:r>
              <a:rPr lang="en-US" sz="2400" b="1" dirty="0">
                <a:latin typeface="Times New Roman" panose="02020603050405020304" pitchFamily="18" charset="0"/>
                <a:cs typeface="Times New Roman" panose="02020603050405020304" pitchFamily="18" charset="0"/>
              </a:rPr>
              <a:t>Types of File Organizations –</a:t>
            </a:r>
          </a:p>
          <a:p>
            <a:pPr fontAlgn="base"/>
            <a:endParaRPr lang="en-US" sz="2400" b="1"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Various methods have been introduced to Organize files. These particular methods have advantages and disadvantages on the basis of access or selection . Thus it is all upon the programmer to decide the best suited file Organization method according to his requirements.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Some types of File Organizations are :</a:t>
            </a:r>
          </a:p>
          <a:p>
            <a:pPr algn="just" fontAlgn="base"/>
            <a:r>
              <a:rPr lang="en-US" sz="2400" dirty="0">
                <a:latin typeface="Times New Roman" panose="02020603050405020304" pitchFamily="18" charset="0"/>
                <a:cs typeface="Times New Roman" panose="02020603050405020304" pitchFamily="18" charset="0"/>
              </a:rPr>
              <a:t> </a:t>
            </a:r>
          </a:p>
          <a:p>
            <a:pPr marL="457200" lvl="0" indent="-457200" fontAlgn="base">
              <a:buAutoNum type="arabicPeriod"/>
            </a:pPr>
            <a:r>
              <a:rPr lang="en-US" sz="2400" b="1" dirty="0">
                <a:latin typeface="Times New Roman" panose="02020603050405020304" pitchFamily="18" charset="0"/>
                <a:cs typeface="Times New Roman" panose="02020603050405020304" pitchFamily="18" charset="0"/>
              </a:rPr>
              <a:t>Sequential File Organization</a:t>
            </a:r>
          </a:p>
          <a:p>
            <a:pPr marL="457200" lvl="0" indent="-457200" fontAlgn="base">
              <a:buAutoNum type="arabicPeriod"/>
            </a:pPr>
            <a:r>
              <a:rPr lang="en-US" sz="2400" b="1" dirty="0">
                <a:latin typeface="Times New Roman" panose="02020603050405020304" pitchFamily="18" charset="0"/>
                <a:cs typeface="Times New Roman" panose="02020603050405020304" pitchFamily="18" charset="0"/>
              </a:rPr>
              <a:t>Heap File Organization </a:t>
            </a:r>
          </a:p>
          <a:p>
            <a:pPr marL="457200" lvl="0" indent="-457200" fontAlgn="base">
              <a:buAutoNum type="arabicPeriod"/>
            </a:pPr>
            <a:r>
              <a:rPr lang="en-US" sz="2400" b="1" dirty="0">
                <a:latin typeface="Times New Roman" panose="02020603050405020304" pitchFamily="18" charset="0"/>
                <a:cs typeface="Times New Roman" panose="02020603050405020304" pitchFamily="18" charset="0"/>
              </a:rPr>
              <a:t>Hash File Organization </a:t>
            </a:r>
          </a:p>
          <a:p>
            <a:pPr marL="457200" lvl="0" indent="-457200" fontAlgn="base">
              <a:buAutoNum type="arabicPeriod"/>
            </a:pPr>
            <a:r>
              <a:rPr lang="en-US" sz="2400" b="1" dirty="0">
                <a:latin typeface="Times New Roman" panose="02020603050405020304" pitchFamily="18" charset="0"/>
                <a:cs typeface="Times New Roman" panose="02020603050405020304" pitchFamily="18" charset="0"/>
              </a:rPr>
              <a:t>B+ Tree File Organization </a:t>
            </a:r>
          </a:p>
          <a:p>
            <a:pPr marL="457200" lvl="0" indent="-457200" fontAlgn="base">
              <a:buAutoNum type="arabicPeriod"/>
            </a:pPr>
            <a:r>
              <a:rPr lang="en-US" sz="2400" b="1" dirty="0">
                <a:latin typeface="Times New Roman" panose="02020603050405020304" pitchFamily="18" charset="0"/>
                <a:cs typeface="Times New Roman" panose="02020603050405020304" pitchFamily="18" charset="0"/>
              </a:rPr>
              <a:t>Clustered File Organization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p>
          <a:p>
            <a:pPr fontAlgn="base"/>
            <a:r>
              <a:rPr lang="en-US" sz="2400" dirty="0">
                <a:latin typeface="Times New Roman" panose="02020603050405020304" pitchFamily="18" charset="0"/>
                <a:cs typeface="Times New Roman" panose="02020603050405020304" pitchFamily="18" charset="0"/>
              </a:rPr>
              <a:t>We will be discussing each of the file Organizations in further sets of this article along with differences and advantages/ disadvantages of each file Organization methods.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
        <p:nvSpPr>
          <p:cNvPr id="4" name="TextBox 3"/>
          <p:cNvSpPr txBox="1"/>
          <p:nvPr/>
        </p:nvSpPr>
        <p:spPr>
          <a:xfrm>
            <a:off x="242776" y="1428751"/>
            <a:ext cx="11706447" cy="4154984"/>
          </a:xfrm>
          <a:prstGeom prst="rect">
            <a:avLst/>
          </a:prstGeom>
          <a:noFill/>
        </p:spPr>
        <p:txBody>
          <a:bodyPr wrap="square" rtlCol="0">
            <a:spAutoFit/>
          </a:bodyPr>
          <a:lstStyle/>
          <a:p>
            <a:pPr algn="ctr" fontAlgn="base"/>
            <a:r>
              <a:rPr lang="en-US" sz="2400" b="1" dirty="0">
                <a:latin typeface="Times New Roman" panose="02020603050405020304" pitchFamily="18" charset="0"/>
                <a:cs typeface="Times New Roman" panose="02020603050405020304" pitchFamily="18" charset="0"/>
              </a:rPr>
              <a:t>1.Sequential File Organization –</a:t>
            </a:r>
          </a:p>
          <a:p>
            <a:pPr algn="ctr" fontAlgn="base"/>
            <a:endParaRPr lang="en-US" sz="2400" b="1" dirty="0">
              <a:latin typeface="Times New Roman" panose="02020603050405020304" pitchFamily="18" charset="0"/>
              <a:cs typeface="Times New Roman" panose="02020603050405020304" pitchFamily="18" charset="0"/>
            </a:endParaRPr>
          </a:p>
          <a:p>
            <a:pPr fontAlgn="base"/>
            <a:endParaRPr lang="en-US" sz="2400" dirty="0">
              <a:latin typeface="Times New Roman" panose="02020603050405020304" pitchFamily="18" charset="0"/>
              <a:cs typeface="Times New Roman" panose="02020603050405020304" pitchFamily="18" charset="0"/>
            </a:endParaRPr>
          </a:p>
          <a:p>
            <a:pPr algn="just" fontAlgn="base"/>
            <a:r>
              <a:rPr lang="en-US" sz="2400" dirty="0">
                <a:latin typeface="Times New Roman" panose="02020603050405020304" pitchFamily="18" charset="0"/>
                <a:cs typeface="Times New Roman" panose="02020603050405020304" pitchFamily="18" charset="0"/>
              </a:rPr>
              <a:t>The easiest method for file Organization is Sequential method. </a:t>
            </a:r>
            <a:r>
              <a:rPr lang="en-US" sz="2400" dirty="0">
                <a:solidFill>
                  <a:srgbClr val="FF0000"/>
                </a:solidFill>
                <a:latin typeface="Times New Roman" panose="02020603050405020304" pitchFamily="18" charset="0"/>
                <a:cs typeface="Times New Roman" panose="02020603050405020304" pitchFamily="18" charset="0"/>
              </a:rPr>
              <a:t>In this method the file are stored one after another in a sequential manner. </a:t>
            </a:r>
            <a:r>
              <a:rPr lang="en-US" sz="2400" dirty="0">
                <a:latin typeface="Times New Roman" panose="02020603050405020304" pitchFamily="18" charset="0"/>
                <a:cs typeface="Times New Roman" panose="02020603050405020304" pitchFamily="18" charset="0"/>
              </a:rPr>
              <a:t>There are two ways to implement this method:  </a:t>
            </a:r>
          </a:p>
          <a:p>
            <a:pPr algn="just" fontAlgn="base"/>
            <a:endParaRPr lang="en-US" sz="2400" dirty="0">
              <a:latin typeface="Times New Roman" panose="02020603050405020304" pitchFamily="18" charset="0"/>
              <a:cs typeface="Times New Roman" panose="02020603050405020304" pitchFamily="18" charset="0"/>
            </a:endParaRPr>
          </a:p>
          <a:p>
            <a:pPr marL="1714500" lvl="3"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Pile File Method </a:t>
            </a:r>
            <a:r>
              <a:rPr lang="en-US" sz="2400" dirty="0">
                <a:latin typeface="Times New Roman" panose="02020603050405020304" pitchFamily="18" charset="0"/>
                <a:cs typeface="Times New Roman" panose="02020603050405020304" pitchFamily="18" charset="0"/>
              </a:rPr>
              <a:t>and</a:t>
            </a:r>
            <a:r>
              <a:rPr lang="en-US" sz="2400" b="1"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a:p>
            <a:pPr marL="1714500" lvl="3"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Sorted File Method</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67642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
        <p:nvSpPr>
          <p:cNvPr id="4" name="TextBox 3"/>
          <p:cNvSpPr txBox="1"/>
          <p:nvPr/>
        </p:nvSpPr>
        <p:spPr>
          <a:xfrm>
            <a:off x="242776" y="600076"/>
            <a:ext cx="11706447" cy="3046988"/>
          </a:xfrm>
          <a:prstGeom prst="rect">
            <a:avLst/>
          </a:prstGeom>
          <a:noFill/>
        </p:spPr>
        <p:txBody>
          <a:bodyPr wrap="square" rtlCol="0">
            <a:spAutoFit/>
          </a:bodyPr>
          <a:lstStyle/>
          <a:p>
            <a:pPr fontAlgn="base"/>
            <a:r>
              <a:rPr lang="en-US" sz="2400"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Pile File Method </a:t>
            </a:r>
          </a:p>
          <a:p>
            <a:pPr algn="just"/>
            <a:endParaRPr lang="en-US" sz="2400" b="1"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method is quite simple, in which </a:t>
            </a:r>
            <a:r>
              <a:rPr lang="en-US" sz="2400" dirty="0">
                <a:solidFill>
                  <a:srgbClr val="FF0000"/>
                </a:solidFill>
                <a:latin typeface="Times New Roman" panose="02020603050405020304" pitchFamily="18" charset="0"/>
                <a:cs typeface="Times New Roman" panose="02020603050405020304" pitchFamily="18" charset="0"/>
              </a:rPr>
              <a:t>we store the records in a sequence </a:t>
            </a:r>
            <a:r>
              <a:rPr lang="en-US" sz="2400" dirty="0" err="1">
                <a:solidFill>
                  <a:srgbClr val="FF0000"/>
                </a:solidFill>
                <a:latin typeface="Times New Roman" panose="02020603050405020304" pitchFamily="18" charset="0"/>
                <a:cs typeface="Times New Roman" panose="02020603050405020304" pitchFamily="18" charset="0"/>
              </a:rPr>
              <a:t>i.e</a:t>
            </a:r>
            <a:r>
              <a:rPr lang="en-US" sz="2400" dirty="0">
                <a:solidFill>
                  <a:srgbClr val="FF0000"/>
                </a:solidFill>
                <a:latin typeface="Times New Roman" panose="02020603050405020304" pitchFamily="18" charset="0"/>
                <a:cs typeface="Times New Roman" panose="02020603050405020304" pitchFamily="18" charset="0"/>
              </a:rPr>
              <a:t> one after other in the order</a:t>
            </a:r>
            <a:r>
              <a:rPr lang="en-US" sz="2400" dirty="0">
                <a:latin typeface="Times New Roman" panose="02020603050405020304" pitchFamily="18" charset="0"/>
                <a:cs typeface="Times New Roman" panose="02020603050405020304" pitchFamily="18" charset="0"/>
              </a:rPr>
              <a:t> in which they are inserted into the tables.</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descr="https://media.geeksforgeeks.org/wp-content/uploads/FileOrganization01.png"/>
          <p:cNvPicPr/>
          <p:nvPr/>
        </p:nvPicPr>
        <p:blipFill>
          <a:blip r:embed="rId2"/>
          <a:srcRect/>
          <a:stretch>
            <a:fillRect/>
          </a:stretch>
        </p:blipFill>
        <p:spPr bwMode="auto">
          <a:xfrm>
            <a:off x="3495674" y="3549672"/>
            <a:ext cx="4343400" cy="2133600"/>
          </a:xfrm>
          <a:prstGeom prst="rect">
            <a:avLst/>
          </a:prstGeom>
          <a:noFill/>
          <a:ln w="9525">
            <a:noFill/>
            <a:miter lim="800000"/>
            <a:headEnd/>
            <a:tailEnd/>
          </a:ln>
        </p:spPr>
      </p:pic>
    </p:spTree>
    <p:extLst>
      <p:ext uri="{BB962C8B-B14F-4D97-AF65-F5344CB8AC3E}">
        <p14:creationId xmlns:p14="http://schemas.microsoft.com/office/powerpoint/2010/main" val="17440272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495" y="208664"/>
            <a:ext cx="12085010" cy="3785652"/>
          </a:xfrm>
          <a:prstGeom prst="rect">
            <a:avLst/>
          </a:prstGeom>
          <a:noFill/>
        </p:spPr>
        <p:txBody>
          <a:bodyPr wrap="square" rtlCol="0">
            <a:spAutoFit/>
          </a:bodyPr>
          <a:lstStyle/>
          <a:p>
            <a:pPr lvl="0" algn="just"/>
            <a:endParaRPr lang="en-US" sz="2400" b="1" dirty="0">
              <a:latin typeface="Times New Roman" panose="02020603050405020304" pitchFamily="18" charset="0"/>
              <a:cs typeface="Times New Roman" panose="02020603050405020304" pitchFamily="18" charset="0"/>
            </a:endParaRPr>
          </a:p>
          <a:p>
            <a:pPr lvl="0" algn="just"/>
            <a:r>
              <a:rPr lang="en-US" sz="2400" b="1" dirty="0">
                <a:latin typeface="Times New Roman" panose="02020603050405020304" pitchFamily="18" charset="0"/>
                <a:cs typeface="Times New Roman" panose="02020603050405020304" pitchFamily="18" charset="0"/>
              </a:rPr>
              <a:t>Insertion of new record –</a:t>
            </a:r>
            <a:r>
              <a:rPr lang="en-US" sz="2400" dirty="0">
                <a:latin typeface="Times New Roman" panose="02020603050405020304" pitchFamily="18" charset="0"/>
                <a:cs typeface="Times New Roman" panose="02020603050405020304" pitchFamily="18" charset="0"/>
              </a:rPr>
              <a:t> </a:t>
            </a:r>
          </a:p>
          <a:p>
            <a:pPr lvl="0" algn="just"/>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Let the R1, R3 and so on </a:t>
            </a:r>
            <a:r>
              <a:rPr lang="en-US" sz="2400" dirty="0" err="1">
                <a:latin typeface="Times New Roman" panose="02020603050405020304" pitchFamily="18" charset="0"/>
                <a:cs typeface="Times New Roman" panose="02020603050405020304" pitchFamily="18" charset="0"/>
              </a:rPr>
              <a:t>upto</a:t>
            </a:r>
            <a:r>
              <a:rPr lang="en-US" sz="2400" dirty="0">
                <a:latin typeface="Times New Roman" panose="02020603050405020304" pitchFamily="18" charset="0"/>
                <a:cs typeface="Times New Roman" panose="02020603050405020304" pitchFamily="18" charset="0"/>
              </a:rPr>
              <a:t> R5 and R4 be four records in the sequence. Here, records are nothing but a row in any table. </a:t>
            </a:r>
            <a:r>
              <a:rPr lang="en-US" sz="2400" dirty="0">
                <a:solidFill>
                  <a:srgbClr val="FF0000"/>
                </a:solidFill>
                <a:latin typeface="Times New Roman" panose="02020603050405020304" pitchFamily="18" charset="0"/>
                <a:cs typeface="Times New Roman" panose="02020603050405020304" pitchFamily="18" charset="0"/>
              </a:rPr>
              <a:t>Suppose a new record R2 has to be inserted in the sequence, then it is simply placed at the end of the file.</a:t>
            </a:r>
          </a:p>
          <a:p>
            <a:pPr lvl="0" algn="just"/>
            <a:endParaRPr lang="en-US"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p>
          <a:p>
            <a:pPr algn="just"/>
            <a:endParaRPr lang="en-US" sz="2400" dirty="0">
              <a:latin typeface="Times New Roman" panose="02020603050405020304" pitchFamily="18" charset="0"/>
              <a:cs typeface="Times New Roman" panose="02020603050405020304" pitchFamily="18" charset="0"/>
            </a:endParaRPr>
          </a:p>
        </p:txBody>
      </p:sp>
      <p:pic>
        <p:nvPicPr>
          <p:cNvPr id="3" name="Picture 2" descr="https://media.geeksforgeeks.org/wp-content/uploads/FileOrganization00.png"/>
          <p:cNvPicPr/>
          <p:nvPr/>
        </p:nvPicPr>
        <p:blipFill>
          <a:blip r:embed="rId2"/>
          <a:srcRect/>
          <a:stretch>
            <a:fillRect/>
          </a:stretch>
        </p:blipFill>
        <p:spPr bwMode="auto">
          <a:xfrm>
            <a:off x="2867506" y="3429000"/>
            <a:ext cx="7102844" cy="2030819"/>
          </a:xfrm>
          <a:prstGeom prst="rect">
            <a:avLst/>
          </a:prstGeom>
          <a:noFill/>
          <a:ln w="9525">
            <a:noFill/>
            <a:miter lim="800000"/>
            <a:headEnd/>
            <a:tailEnd/>
          </a:ln>
        </p:spPr>
      </p:pic>
      <p:sp>
        <p:nvSpPr>
          <p:cNvPr id="4" name="TextBox 3"/>
          <p:cNvSpPr txBox="1"/>
          <p:nvPr/>
        </p:nvSpPr>
        <p:spPr>
          <a:xfrm>
            <a:off x="205273" y="5719665"/>
            <a:ext cx="10851503" cy="461665"/>
          </a:xfrm>
          <a:prstGeom prst="rect">
            <a:avLst/>
          </a:prstGeom>
          <a:noFill/>
        </p:spPr>
        <p:txBody>
          <a:bodyPr wrap="square" rtlCol="0">
            <a:spAutoFit/>
          </a:bodyPr>
          <a:lstStyle/>
          <a:p>
            <a:r>
              <a:rPr lang="en-US" sz="2400" dirty="0">
                <a:latin typeface="Times New Roman" pitchFamily="18" charset="0"/>
                <a:cs typeface="Times New Roman" pitchFamily="18" charset="0"/>
              </a:rPr>
              <a:t>In sequential method there is no option for deleting the record</a:t>
            </a:r>
          </a:p>
        </p:txBody>
      </p:sp>
    </p:spTree>
    <p:extLst>
      <p:ext uri="{BB962C8B-B14F-4D97-AF65-F5344CB8AC3E}">
        <p14:creationId xmlns:p14="http://schemas.microsoft.com/office/powerpoint/2010/main" val="4111263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8AE103-9B4D-42C5-9D10-787FD8F752AC}"/>
              </a:ext>
            </a:extLst>
          </p:cNvPr>
          <p:cNvSpPr>
            <a:spLocks noGrp="1"/>
          </p:cNvSpPr>
          <p:nvPr>
            <p:ph type="title"/>
          </p:nvPr>
        </p:nvSpPr>
        <p:spPr>
          <a:xfrm>
            <a:off x="0" y="161130"/>
            <a:ext cx="12192000" cy="519907"/>
          </a:xfrm>
        </p:spPr>
        <p:txBody>
          <a:bodyPr/>
          <a:lstStyle/>
          <a:p>
            <a:pPr algn="ctr"/>
            <a:r>
              <a:rPr lang="en-US" sz="2400" b="1" dirty="0">
                <a:latin typeface="Times New Roman" panose="02020603050405020304" pitchFamily="18" charset="0"/>
                <a:cs typeface="Times New Roman" panose="02020603050405020304" pitchFamily="18" charset="0"/>
              </a:rPr>
              <a:t>Merits and Demerits of Pile file method</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541AC1C-B8B9-4991-B326-1AF8EB48F131}"/>
              </a:ext>
            </a:extLst>
          </p:cNvPr>
          <p:cNvSpPr>
            <a:spLocks noGrp="1"/>
          </p:cNvSpPr>
          <p:nvPr>
            <p:ph idx="1"/>
          </p:nvPr>
        </p:nvSpPr>
        <p:spPr>
          <a:xfrm>
            <a:off x="-1" y="681037"/>
            <a:ext cx="12191999" cy="4351338"/>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Merits</a:t>
            </a:r>
          </a:p>
          <a:p>
            <a:pPr marL="0" indent="0">
              <a:buNone/>
            </a:pPr>
            <a:r>
              <a:rPr lang="en-US" sz="2400" b="1"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only advantage of this method is </a:t>
            </a:r>
            <a:r>
              <a:rPr lang="en-US" sz="2400" b="1" dirty="0">
                <a:solidFill>
                  <a:srgbClr val="FF0000"/>
                </a:solidFill>
                <a:latin typeface="Times New Roman" panose="02020603050405020304" pitchFamily="18" charset="0"/>
                <a:cs typeface="Times New Roman" panose="02020603050405020304" pitchFamily="18" charset="0"/>
              </a:rPr>
              <a:t>simplicity</a:t>
            </a:r>
          </a:p>
          <a:p>
            <a:pPr marL="0" indent="0" algn="just">
              <a:buNone/>
            </a:pPr>
            <a:r>
              <a:rPr lang="en-US" sz="2400" b="1" dirty="0">
                <a:latin typeface="Times New Roman" panose="02020603050405020304" pitchFamily="18" charset="0"/>
                <a:cs typeface="Times New Roman" panose="02020603050405020304" pitchFamily="18" charset="0"/>
              </a:rPr>
              <a:t>Demerits</a:t>
            </a:r>
          </a:p>
          <a:p>
            <a:pPr marL="0" indent="0" algn="just">
              <a:buNone/>
            </a:pP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Difficulty in accessing data</a:t>
            </a:r>
          </a:p>
          <a:p>
            <a:r>
              <a:rPr lang="en-US" sz="2400" dirty="0">
                <a:latin typeface="Times New Roman" panose="02020603050405020304" pitchFamily="18" charset="0"/>
                <a:cs typeface="Times New Roman" panose="02020603050405020304" pitchFamily="18" charset="0"/>
              </a:rPr>
              <a:t>Data redundancy</a:t>
            </a:r>
          </a:p>
          <a:p>
            <a:r>
              <a:rPr lang="en-US" sz="2400" dirty="0">
                <a:latin typeface="Times New Roman" panose="02020603050405020304" pitchFamily="18" charset="0"/>
                <a:cs typeface="Times New Roman" panose="02020603050405020304" pitchFamily="18" charset="0"/>
              </a:rPr>
              <a:t>Limited data processing capabilities</a:t>
            </a:r>
          </a:p>
          <a:p>
            <a:r>
              <a:rPr lang="en-US" sz="2400" dirty="0">
                <a:latin typeface="Times New Roman" panose="02020603050405020304" pitchFamily="18" charset="0"/>
                <a:cs typeface="Times New Roman" panose="02020603050405020304" pitchFamily="18" charset="0"/>
              </a:rPr>
              <a:t> Security issues</a:t>
            </a:r>
          </a:p>
          <a:p>
            <a:pPr marL="0" indent="0" algn="just">
              <a:buNone/>
            </a:pPr>
            <a:r>
              <a:rPr lang="en-US" sz="2400" dirty="0">
                <a:latin typeface="Times New Roman" panose="02020603050405020304" pitchFamily="18" charset="0"/>
                <a:cs typeface="Times New Roman" panose="02020603050405020304" pitchFamily="18" charset="0"/>
              </a:rPr>
              <a:t>	</a:t>
            </a:r>
            <a:endParaRPr lang="en-US"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3991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513354"/>
            <a:ext cx="12192000" cy="489364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Sorted File Method –</a:t>
            </a: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method, </a:t>
            </a:r>
            <a:r>
              <a:rPr lang="en-US" sz="2400" dirty="0">
                <a:solidFill>
                  <a:srgbClr val="FF0000"/>
                </a:solidFill>
                <a:latin typeface="Times New Roman" panose="02020603050405020304" pitchFamily="18" charset="0"/>
                <a:cs typeface="Times New Roman" panose="02020603050405020304" pitchFamily="18" charset="0"/>
              </a:rPr>
              <a:t>As the name itself suggest whenever a new record has to be inserted, it is always inserted in a sorted (ascending or descending) manner. </a:t>
            </a:r>
            <a:r>
              <a:rPr lang="en-US" sz="2400" dirty="0">
                <a:latin typeface="Times New Roman" panose="02020603050405020304" pitchFamily="18" charset="0"/>
                <a:cs typeface="Times New Roman" panose="02020603050405020304" pitchFamily="18" charset="0"/>
              </a:rPr>
              <a:t>Sorting of records may be based on any primary key or any other key.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7" name="Picture 6" descr="https://media.geeksforgeeks.org/wp-content/uploads/FileOrganization66.png"/>
          <p:cNvPicPr/>
          <p:nvPr/>
        </p:nvPicPr>
        <p:blipFill>
          <a:blip r:embed="rId2"/>
          <a:srcRect/>
          <a:stretch>
            <a:fillRect/>
          </a:stretch>
        </p:blipFill>
        <p:spPr bwMode="auto">
          <a:xfrm>
            <a:off x="3014625" y="3429000"/>
            <a:ext cx="6070600" cy="2168968"/>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2772"/>
            <a:ext cx="12192000" cy="5794191"/>
          </a:xfrm>
        </p:spPr>
        <p:txBody>
          <a:bodyPr/>
          <a:lstStyle/>
          <a:p>
            <a:pPr algn="just">
              <a:buNone/>
            </a:pPr>
            <a:endParaRPr lang="en-US" b="1" dirty="0"/>
          </a:p>
          <a:p>
            <a:pPr algn="just">
              <a:buNone/>
            </a:pPr>
            <a:r>
              <a:rPr lang="en-US" b="1" dirty="0"/>
              <a:t>Insertion of new record –</a:t>
            </a:r>
            <a:r>
              <a:rPr lang="en-US" dirty="0"/>
              <a:t> </a:t>
            </a:r>
          </a:p>
          <a:p>
            <a:pPr algn="just">
              <a:buNone/>
            </a:pPr>
            <a:endParaRPr lang="en-US" dirty="0"/>
          </a:p>
          <a:p>
            <a:pPr algn="just">
              <a:buNone/>
            </a:pPr>
            <a:r>
              <a:rPr lang="en-US" dirty="0"/>
              <a:t>				Let us assume that there is a preexisting sorted sequence of four records R1, R3, and so on </a:t>
            </a:r>
            <a:r>
              <a:rPr lang="en-US" dirty="0" err="1"/>
              <a:t>upto</a:t>
            </a:r>
            <a:r>
              <a:rPr lang="en-US" dirty="0"/>
              <a:t> R7 and R8. </a:t>
            </a:r>
            <a:r>
              <a:rPr lang="en-US" dirty="0">
                <a:solidFill>
                  <a:srgbClr val="FF0000"/>
                </a:solidFill>
              </a:rPr>
              <a:t>Suppose a new record R2 has to be inserted in the sequence, then it will be inserted at the end of the file and then it will sort the sequence. </a:t>
            </a:r>
            <a:endParaRPr lang="en-US" dirty="0"/>
          </a:p>
        </p:txBody>
      </p:sp>
      <p:pic>
        <p:nvPicPr>
          <p:cNvPr id="4" name="Picture 3" descr="https://media.geeksforgeeks.org/wp-content/uploads/FileOrganization22.png"/>
          <p:cNvPicPr/>
          <p:nvPr/>
        </p:nvPicPr>
        <p:blipFill>
          <a:blip r:embed="rId2"/>
          <a:srcRect/>
          <a:stretch>
            <a:fillRect/>
          </a:stretch>
        </p:blipFill>
        <p:spPr bwMode="auto">
          <a:xfrm>
            <a:off x="2434856" y="3355975"/>
            <a:ext cx="6985591" cy="19748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0053C05-74D6-4D20-96C2-E846C8BCB92B}"/>
              </a:ext>
            </a:extLst>
          </p:cNvPr>
          <p:cNvSpPr>
            <a:spLocks noGrp="1"/>
          </p:cNvSpPr>
          <p:nvPr>
            <p:ph idx="1"/>
          </p:nvPr>
        </p:nvSpPr>
        <p:spPr>
          <a:xfrm>
            <a:off x="0" y="893575"/>
            <a:ext cx="12192000" cy="4351338"/>
          </a:xfrm>
        </p:spPr>
        <p:txBody>
          <a:bodyPr>
            <a:noAutofit/>
          </a:bodyPr>
          <a:lstStyle/>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Easy to Search</a:t>
            </a:r>
            <a:r>
              <a:rPr lang="en-US" sz="2400" b="0" i="0" dirty="0">
                <a:solidFill>
                  <a:srgbClr val="374151"/>
                </a:solidFill>
                <a:effectLst/>
                <a:latin typeface="Times New Roman" panose="02020603050405020304" pitchFamily="18" charset="0"/>
                <a:cs typeface="Times New Roman" panose="02020603050405020304" pitchFamily="18" charset="0"/>
              </a:rPr>
              <a:t>: Because the data is sorted in a specific order, it is much easier to search for specific records or subsets of records based on a given criteria. This can lead to faster processing times when querying or accessing the data.</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Efficient for Large Datasets</a:t>
            </a:r>
            <a:r>
              <a:rPr lang="en-US" sz="2400" b="0" i="0" dirty="0">
                <a:solidFill>
                  <a:srgbClr val="374151"/>
                </a:solidFill>
                <a:effectLst/>
                <a:latin typeface="Times New Roman" panose="02020603050405020304" pitchFamily="18" charset="0"/>
                <a:cs typeface="Times New Roman" panose="02020603050405020304" pitchFamily="18" charset="0"/>
              </a:rPr>
              <a:t>: When working with large datasets, the sorted file method can be an efficient way to manage and store the data. It can help minimize the amount of time and resources needed to perform complex queries or calculations.</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Can be Used for Range Queries</a:t>
            </a:r>
            <a:r>
              <a:rPr lang="en-US" sz="2400" b="0" i="0" dirty="0">
                <a:solidFill>
                  <a:srgbClr val="374151"/>
                </a:solidFill>
                <a:effectLst/>
                <a:latin typeface="Times New Roman" panose="02020603050405020304" pitchFamily="18" charset="0"/>
                <a:cs typeface="Times New Roman" panose="02020603050405020304" pitchFamily="18" charset="0"/>
              </a:rPr>
              <a:t>: Since the data is sorted, range queries such as finding all records within a specific date range or within a certain value range can be easily performed.</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Facilitates Merge Operations</a:t>
            </a:r>
            <a:r>
              <a:rPr lang="en-US" sz="2400" b="0" i="0" dirty="0">
                <a:solidFill>
                  <a:srgbClr val="374151"/>
                </a:solidFill>
                <a:effectLst/>
                <a:latin typeface="Times New Roman" panose="02020603050405020304" pitchFamily="18" charset="0"/>
                <a:cs typeface="Times New Roman" panose="02020603050405020304" pitchFamily="18" charset="0"/>
              </a:rPr>
              <a:t>: The sorted file method makes it easy to merge two sorted files into a single, sorted file, which can be useful when working with large datasets or when updating existing data.</a:t>
            </a: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2B994850-9236-495E-A5BB-56843A82F620}"/>
              </a:ext>
            </a:extLst>
          </p:cNvPr>
          <p:cNvSpPr txBox="1"/>
          <p:nvPr/>
        </p:nvSpPr>
        <p:spPr>
          <a:xfrm>
            <a:off x="3079376" y="-118495"/>
            <a:ext cx="3657600" cy="1200329"/>
          </a:xfrm>
          <a:prstGeom prst="rect">
            <a:avLst/>
          </a:prstGeom>
          <a:noFill/>
        </p:spPr>
        <p:txBody>
          <a:bodyPr wrap="square" rtlCol="0">
            <a:spAutoFit/>
          </a:bodyPr>
          <a:lstStyle/>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Pros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113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5AEC178-76C7-42E3-A030-BD26E2E80542}"/>
              </a:ext>
            </a:extLst>
          </p:cNvPr>
          <p:cNvSpPr>
            <a:spLocks noGrp="1"/>
          </p:cNvSpPr>
          <p:nvPr>
            <p:ph idx="1"/>
          </p:nvPr>
        </p:nvSpPr>
        <p:spPr>
          <a:xfrm>
            <a:off x="0" y="0"/>
            <a:ext cx="12192000" cy="6158753"/>
          </a:xfrm>
        </p:spPr>
        <p:txBody>
          <a:bodyPr>
            <a:normAutofit lnSpcReduction="10000"/>
          </a:bodyPr>
          <a:lstStyle/>
          <a:p>
            <a:pPr marL="0" indent="0" algn="just">
              <a:buNone/>
            </a:pPr>
            <a:endParaRPr lang="en-US" sz="2400" b="1" i="0" dirty="0">
              <a:solidFill>
                <a:srgbClr val="374151"/>
              </a:solidFill>
              <a:effectLst/>
              <a:latin typeface="Times New Roman" panose="02020603050405020304" pitchFamily="18" charset="0"/>
              <a:cs typeface="Times New Roman" panose="02020603050405020304" pitchFamily="18" charset="0"/>
            </a:endParaRPr>
          </a:p>
          <a:p>
            <a:pPr marL="0" indent="0" algn="just">
              <a:buNone/>
            </a:pPr>
            <a:r>
              <a:rPr lang="en-US" sz="2400" b="1" i="0" dirty="0">
                <a:solidFill>
                  <a:srgbClr val="374151"/>
                </a:solidFill>
                <a:effectLst/>
                <a:latin typeface="Times New Roman" panose="02020603050405020304" pitchFamily="18" charset="0"/>
                <a:cs typeface="Times New Roman" panose="02020603050405020304" pitchFamily="18" charset="0"/>
              </a:rPr>
              <a:t>Cons:</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Slow Inserts: </a:t>
            </a:r>
            <a:r>
              <a:rPr lang="en-US" sz="2400" b="0" i="0" dirty="0">
                <a:solidFill>
                  <a:srgbClr val="374151"/>
                </a:solidFill>
                <a:effectLst/>
                <a:latin typeface="Times New Roman" panose="02020603050405020304" pitchFamily="18" charset="0"/>
                <a:cs typeface="Times New Roman" panose="02020603050405020304" pitchFamily="18" charset="0"/>
              </a:rPr>
              <a:t>One major disadvantage of the sorted file method is that inserting new records can be slow and inefficient. Every time a new record is inserted, the entire file must be re-sorted, which can be time-consuming and resource-intensive.</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Data Must be Pre-Sorted: </a:t>
            </a:r>
            <a:r>
              <a:rPr lang="en-US" sz="2400" b="0" i="0" dirty="0">
                <a:solidFill>
                  <a:srgbClr val="374151"/>
                </a:solidFill>
                <a:effectLst/>
                <a:latin typeface="Times New Roman" panose="02020603050405020304" pitchFamily="18" charset="0"/>
                <a:cs typeface="Times New Roman" panose="02020603050405020304" pitchFamily="18" charset="0"/>
              </a:rPr>
              <a:t>In order to use the sorted file method, the data must be pre-sorted based on the field or fields being used. This can add extra steps to the data preparation process and can be a significant drawback if the data is constantly changing or being updated.</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Limited Sorting Criteria: </a:t>
            </a:r>
            <a:r>
              <a:rPr lang="en-US" sz="2400" b="0" i="0" dirty="0">
                <a:solidFill>
                  <a:srgbClr val="374151"/>
                </a:solidFill>
                <a:effectLst/>
                <a:latin typeface="Times New Roman" panose="02020603050405020304" pitchFamily="18" charset="0"/>
                <a:cs typeface="Times New Roman" panose="02020603050405020304" pitchFamily="18" charset="0"/>
              </a:rPr>
              <a:t>Sorting can only be done based on one or a few fields. This can limit the flexibility of the method, and it may not be suitable for all types of data or queries.</a:t>
            </a:r>
          </a:p>
          <a:p>
            <a:pPr algn="just">
              <a:buFont typeface="+mj-lt"/>
              <a:buAutoNum type="arabicPeriod"/>
            </a:pPr>
            <a:r>
              <a:rPr lang="en-US" sz="2400" b="1" i="0" dirty="0">
                <a:solidFill>
                  <a:srgbClr val="374151"/>
                </a:solidFill>
                <a:effectLst/>
                <a:latin typeface="Times New Roman" panose="02020603050405020304" pitchFamily="18" charset="0"/>
                <a:cs typeface="Times New Roman" panose="02020603050405020304" pitchFamily="18" charset="0"/>
              </a:rPr>
              <a:t>Wasted Space: </a:t>
            </a:r>
            <a:r>
              <a:rPr lang="en-US" sz="2400" b="0" i="0" dirty="0">
                <a:solidFill>
                  <a:srgbClr val="374151"/>
                </a:solidFill>
                <a:effectLst/>
                <a:latin typeface="Times New Roman" panose="02020603050405020304" pitchFamily="18" charset="0"/>
                <a:cs typeface="Times New Roman" panose="02020603050405020304" pitchFamily="18" charset="0"/>
              </a:rPr>
              <a:t>In some cases, the sorted file method can result in wasted space, especially if there are large gaps between records or if the records vary widely in size. This can lead to inefficient use of storage resources.</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22720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97712"/>
            <a:ext cx="12192000" cy="5970865"/>
          </a:xfrm>
          <a:prstGeom prst="rect">
            <a:avLst/>
          </a:prstGeom>
          <a:noFill/>
        </p:spPr>
        <p:txBody>
          <a:bodyPr wrap="square" rtlCol="0">
            <a:spAutoFit/>
          </a:bodyPr>
          <a:lstStyle/>
          <a:p>
            <a:pPr fontAlgn="base"/>
            <a:endParaRPr lang="en-US" sz="3200" b="1" dirty="0">
              <a:latin typeface="Times New Roman" panose="02020603050405020304" pitchFamily="18" charset="0"/>
              <a:cs typeface="Times New Roman" panose="02020603050405020304" pitchFamily="18" charset="0"/>
            </a:endParaRPr>
          </a:p>
          <a:p>
            <a:pPr fontAlgn="base"/>
            <a:r>
              <a:rPr lang="en-US" sz="3200" b="1" dirty="0">
                <a:latin typeface="Times New Roman" panose="02020603050405020304" pitchFamily="18" charset="0"/>
                <a:cs typeface="Times New Roman" panose="02020603050405020304" pitchFamily="18" charset="0"/>
              </a:rPr>
              <a:t>Pros and Cons of Sequential File Organization –</a:t>
            </a:r>
            <a:r>
              <a:rPr lang="en-US" sz="3200" dirty="0">
                <a:latin typeface="Times New Roman" panose="02020603050405020304" pitchFamily="18" charset="0"/>
                <a:cs typeface="Times New Roman" panose="02020603050405020304" pitchFamily="18" charset="0"/>
              </a:rPr>
              <a:t> </a:t>
            </a:r>
          </a:p>
          <a:p>
            <a:pPr fontAlgn="base"/>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Pros –</a:t>
            </a:r>
            <a:r>
              <a:rPr lang="en-US" sz="2400" dirty="0">
                <a:latin typeface="Times New Roman" panose="02020603050405020304" pitchFamily="18" charset="0"/>
                <a:cs typeface="Times New Roman" panose="02020603050405020304" pitchFamily="18" charset="0"/>
              </a:rPr>
              <a:t> </a:t>
            </a:r>
          </a:p>
          <a:p>
            <a:pPr fontAlgn="base"/>
            <a:endParaRPr lang="en-US" sz="2400" dirty="0">
              <a:latin typeface="Times New Roman" panose="02020603050405020304" pitchFamily="18" charset="0"/>
              <a:cs typeface="Times New Roman" panose="02020603050405020304" pitchFamily="18" charset="0"/>
            </a:endParaRPr>
          </a:p>
          <a:p>
            <a:pPr lvl="0" fontAlgn="base">
              <a:buFont typeface="Arial" pitchFamily="34" charset="0"/>
              <a:buChar char="•"/>
            </a:pPr>
            <a:r>
              <a:rPr lang="en-US" sz="2400" dirty="0">
                <a:latin typeface="Times New Roman" panose="02020603050405020304" pitchFamily="18" charset="0"/>
                <a:cs typeface="Times New Roman" panose="02020603050405020304" pitchFamily="18" charset="0"/>
              </a:rPr>
              <a:t>   Fast and efficient method for huge amount of data.</a:t>
            </a:r>
          </a:p>
          <a:p>
            <a:pPr lvl="0" fontAlgn="base">
              <a:buFont typeface="Arial" pitchFamily="34" charset="0"/>
              <a:buChar char="•"/>
            </a:pPr>
            <a:r>
              <a:rPr lang="en-US" sz="2400" dirty="0">
                <a:latin typeface="Times New Roman" panose="02020603050405020304" pitchFamily="18" charset="0"/>
                <a:cs typeface="Times New Roman" panose="02020603050405020304" pitchFamily="18" charset="0"/>
              </a:rPr>
              <a:t>   Simple design.</a:t>
            </a:r>
          </a:p>
          <a:p>
            <a:pPr lvl="0" fontAlgn="base">
              <a:buFont typeface="Arial" pitchFamily="34" charset="0"/>
              <a:buChar char="•"/>
            </a:pPr>
            <a:r>
              <a:rPr lang="en-US" sz="2400" dirty="0">
                <a:latin typeface="Times New Roman" panose="02020603050405020304" pitchFamily="18" charset="0"/>
                <a:cs typeface="Times New Roman" panose="02020603050405020304" pitchFamily="18" charset="0"/>
              </a:rPr>
              <a:t>   Files can be easily stored in magnetic tapes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cheaper storage mechanism.</a:t>
            </a:r>
          </a:p>
          <a:p>
            <a:pPr lvl="0" fontAlgn="base"/>
            <a:endParaRPr lang="en-US" sz="2400" dirty="0">
              <a:latin typeface="Times New Roman" panose="02020603050405020304" pitchFamily="18" charset="0"/>
              <a:cs typeface="Times New Roman" panose="02020603050405020304" pitchFamily="18" charset="0"/>
            </a:endParaRPr>
          </a:p>
          <a:p>
            <a:pPr fontAlgn="base"/>
            <a:r>
              <a:rPr lang="en-US" sz="2400" b="1" dirty="0">
                <a:latin typeface="Times New Roman" panose="02020603050405020304" pitchFamily="18" charset="0"/>
                <a:cs typeface="Times New Roman" panose="02020603050405020304" pitchFamily="18" charset="0"/>
              </a:rPr>
              <a:t>Cons –</a:t>
            </a:r>
            <a:r>
              <a:rPr lang="en-US" sz="2400" dirty="0">
                <a:latin typeface="Times New Roman" panose="02020603050405020304" pitchFamily="18" charset="0"/>
                <a:cs typeface="Times New Roman" panose="02020603050405020304" pitchFamily="18" charset="0"/>
              </a:rPr>
              <a:t>  </a:t>
            </a:r>
          </a:p>
          <a:p>
            <a:pPr fontAlgn="base"/>
            <a:endParaRPr lang="en-US" sz="2400" dirty="0">
              <a:latin typeface="Times New Roman" panose="02020603050405020304" pitchFamily="18" charset="0"/>
              <a:cs typeface="Times New Roman" panose="02020603050405020304" pitchFamily="18" charset="0"/>
            </a:endParaRPr>
          </a:p>
          <a:p>
            <a:pPr lvl="0" fontAlgn="base">
              <a:buFont typeface="Arial" pitchFamily="34" charset="0"/>
              <a:buChar char="•"/>
            </a:pPr>
            <a:r>
              <a:rPr lang="en-US" sz="2400" dirty="0">
                <a:latin typeface="Times New Roman" panose="02020603050405020304" pitchFamily="18" charset="0"/>
                <a:cs typeface="Times New Roman" panose="02020603050405020304" pitchFamily="18" charset="0"/>
              </a:rPr>
              <a:t>   Time wastage as we cannot jump on a particular record that is required, but we have to move in a sequential manner which  takes our time.</a:t>
            </a:r>
          </a:p>
          <a:p>
            <a:pPr lvl="0" fontAlgn="base">
              <a:buFont typeface="Arial" pitchFamily="34" charset="0"/>
              <a:buChar char="•"/>
            </a:pPr>
            <a:r>
              <a:rPr lang="en-US" sz="2400" dirty="0">
                <a:latin typeface="Times New Roman" panose="02020603050405020304" pitchFamily="18" charset="0"/>
                <a:cs typeface="Times New Roman" panose="02020603050405020304" pitchFamily="18" charset="0"/>
              </a:rPr>
              <a:t>   Sorted file method is inefficient as it takes time and space for sorting records. </a:t>
            </a:r>
          </a:p>
          <a:p>
            <a:pPr fontAlgn="base"/>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256"/>
            <a:ext cx="12192000" cy="878682"/>
          </a:xfrm>
        </p:spPr>
        <p:txBody>
          <a:bodyPr/>
          <a:lstStyle/>
          <a:p>
            <a:pPr algn="ctr"/>
            <a:r>
              <a:rPr lang="en-US" sz="2400" b="1" dirty="0">
                <a:latin typeface="Times New Roman" panose="02020603050405020304" pitchFamily="18" charset="0"/>
                <a:cs typeface="Times New Roman" panose="02020603050405020304" pitchFamily="18" charset="0"/>
              </a:rPr>
              <a:t>2.Heap File Organization </a:t>
            </a:r>
            <a:r>
              <a:rPr lang="en-US" sz="4400" b="1" dirty="0"/>
              <a:t/>
            </a:r>
            <a:br>
              <a:rPr lang="en-US" sz="4400" b="1" dirty="0"/>
            </a:br>
            <a:endParaRPr lang="en-US" dirty="0"/>
          </a:p>
        </p:txBody>
      </p:sp>
      <p:sp>
        <p:nvSpPr>
          <p:cNvPr id="3" name="Content Placeholder 2"/>
          <p:cNvSpPr>
            <a:spLocks noGrp="1"/>
          </p:cNvSpPr>
          <p:nvPr>
            <p:ph idx="1"/>
          </p:nvPr>
        </p:nvSpPr>
        <p:spPr>
          <a:xfrm>
            <a:off x="0" y="896937"/>
            <a:ext cx="12192000" cy="5942808"/>
          </a:xfrm>
        </p:spPr>
        <p:txBody>
          <a:bodyPr/>
          <a:lstStyle/>
          <a:p>
            <a:pPr marL="0" indent="0" algn="just">
              <a:buNone/>
            </a:pPr>
            <a:endParaRPr lang="en-US" sz="2400" spc="10" dirty="0">
              <a:solidFill>
                <a:srgbClr val="273239"/>
              </a:solidFill>
              <a:effectLst/>
              <a:latin typeface="Times New Roman" panose="02020603050405020304" pitchFamily="18" charset="0"/>
              <a:ea typeface="Times New Roman" panose="02020603050405020304" pitchFamily="18" charset="0"/>
            </a:endParaRPr>
          </a:p>
          <a:p>
            <a:pPr marL="0" indent="0" algn="just">
              <a:buNone/>
            </a:pPr>
            <a:r>
              <a:rPr lang="en-US" sz="2400" spc="10" dirty="0">
                <a:solidFill>
                  <a:srgbClr val="FF0000"/>
                </a:solidFill>
                <a:effectLst/>
                <a:latin typeface="Times New Roman" panose="02020603050405020304" pitchFamily="18" charset="0"/>
                <a:ea typeface="Times New Roman" panose="02020603050405020304" pitchFamily="18" charset="0"/>
              </a:rPr>
              <a:t>Heap File Organization works with data blocks. In this method records are inserted at the end of the file, into the data blocks. No Sorting or Ordering is required in this method.</a:t>
            </a:r>
            <a:r>
              <a:rPr lang="en-US" sz="2400" spc="10" dirty="0">
                <a:solidFill>
                  <a:srgbClr val="273239"/>
                </a:solidFill>
                <a:effectLst/>
                <a:latin typeface="Times New Roman" panose="02020603050405020304" pitchFamily="18" charset="0"/>
                <a:ea typeface="Times New Roman" panose="02020603050405020304" pitchFamily="18" charset="0"/>
              </a:rPr>
              <a:t> If a data block is full, the new record is stored in some other block, Here the other data block need not be the very next data block, but it can be any block in the memory. It is the responsibility of DBMS to store and manage the new records. </a:t>
            </a:r>
          </a:p>
          <a:p>
            <a:pPr marL="0" indent="0" algn="just">
              <a:buNone/>
            </a:pPr>
            <a:endParaRPr lang="en-US" sz="2400" spc="10" dirty="0">
              <a:solidFill>
                <a:srgbClr val="273239"/>
              </a:solidFill>
              <a:effectLst/>
              <a:latin typeface="Times New Roman" panose="02020603050405020304" pitchFamily="18" charset="0"/>
              <a:ea typeface="Times New Roman" panose="02020603050405020304" pitchFamily="18" charset="0"/>
            </a:endParaRPr>
          </a:p>
          <a:p>
            <a:pPr algn="just"/>
            <a:endParaRPr lang="en-US" sz="3600" dirty="0"/>
          </a:p>
        </p:txBody>
      </p:sp>
      <p:pic>
        <p:nvPicPr>
          <p:cNvPr id="4" name="Picture 3">
            <a:extLst>
              <a:ext uri="{FF2B5EF4-FFF2-40B4-BE49-F238E27FC236}">
                <a16:creationId xmlns:a16="http://schemas.microsoft.com/office/drawing/2014/main" xmlns="" id="{F2FE4C7C-76B7-4131-A831-780C5F00B945}"/>
              </a:ext>
            </a:extLst>
          </p:cNvPr>
          <p:cNvPicPr/>
          <p:nvPr/>
        </p:nvPicPr>
        <p:blipFill>
          <a:blip r:embed="rId2"/>
          <a:srcRect/>
          <a:stretch>
            <a:fillRect/>
          </a:stretch>
        </p:blipFill>
        <p:spPr bwMode="auto">
          <a:xfrm>
            <a:off x="3557587" y="3429000"/>
            <a:ext cx="4876800" cy="224155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xmlns="" id="{91FC3AA8-5101-478C-84C7-3377B8C1B34E}"/>
              </a:ext>
            </a:extLst>
          </p:cNvPr>
          <p:cNvSpPr txBox="1"/>
          <p:nvPr/>
        </p:nvSpPr>
        <p:spPr>
          <a:xfrm>
            <a:off x="-1" y="84158"/>
            <a:ext cx="12191999" cy="2308324"/>
          </a:xfrm>
          <a:prstGeom prst="rect">
            <a:avLst/>
          </a:prstGeom>
          <a:noFill/>
        </p:spPr>
        <p:txBody>
          <a:bodyPr wrap="square" rtlCol="0">
            <a:spAutoFit/>
          </a:bodyPr>
          <a:lstStyle/>
          <a:p>
            <a:pPr algn="just"/>
            <a:endParaRPr lang="en-US" sz="24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4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Insertion of new record –</a:t>
            </a: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gn="just"/>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Suppose we have four records in the heap R1, R5, R6, R4 and R3 and suppose a new record R2 has to be inserted in the heap then, since the last data block </a:t>
            </a:r>
            <a:r>
              <a:rPr lang="en-US" sz="2400" spc="10" dirty="0" err="1">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i.e</a:t>
            </a: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data block 3 is full it will be inserted in any of the data blocks selected by the DBMS, lets say data block 1.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xmlns="" id="{98975C47-9A60-4A83-A9F9-31F90E60C3A2}"/>
              </a:ext>
            </a:extLst>
          </p:cNvPr>
          <p:cNvPicPr/>
          <p:nvPr/>
        </p:nvPicPr>
        <p:blipFill>
          <a:blip r:embed="rId2"/>
          <a:srcRect/>
          <a:stretch>
            <a:fillRect/>
          </a:stretch>
        </p:blipFill>
        <p:spPr bwMode="auto">
          <a:xfrm>
            <a:off x="3388518" y="2392481"/>
            <a:ext cx="5414963" cy="2338269"/>
          </a:xfrm>
          <a:prstGeom prst="rect">
            <a:avLst/>
          </a:prstGeom>
          <a:noFill/>
          <a:ln w="9525">
            <a:noFill/>
            <a:miter lim="800000"/>
            <a:headEnd/>
            <a:tailEnd/>
          </a:ln>
        </p:spPr>
      </p:pic>
      <p:sp>
        <p:nvSpPr>
          <p:cNvPr id="15" name="TextBox 14">
            <a:extLst>
              <a:ext uri="{FF2B5EF4-FFF2-40B4-BE49-F238E27FC236}">
                <a16:creationId xmlns:a16="http://schemas.microsoft.com/office/drawing/2014/main" xmlns="" id="{0FE27CFD-2F65-4C55-B8D0-8B7DB8BB4F2C}"/>
              </a:ext>
            </a:extLst>
          </p:cNvPr>
          <p:cNvSpPr txBox="1"/>
          <p:nvPr/>
        </p:nvSpPr>
        <p:spPr>
          <a:xfrm>
            <a:off x="0" y="4823083"/>
            <a:ext cx="12192000" cy="1938992"/>
          </a:xfrm>
          <a:prstGeom prst="rect">
            <a:avLst/>
          </a:prstGeom>
          <a:noFill/>
        </p:spPr>
        <p:txBody>
          <a:bodyPr wrap="square" rtlCol="0">
            <a:spAutoFit/>
          </a:bodyPr>
          <a:lstStyle/>
          <a:p>
            <a:pPr algn="just"/>
            <a:r>
              <a:rPr lang="en-US" sz="2400" spc="1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If we want to search, delete or update data in heap file Organization the we will traverse the data from the beginning of the file till we get the requested record. </a:t>
            </a:r>
          </a:p>
          <a:p>
            <a:pPr algn="just"/>
            <a:endParaRPr lang="en-US" sz="2400" spc="1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400" spc="1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Thus if the database is very huge, searching, deleting or updating the record will take a lot of time. </a:t>
            </a:r>
            <a:endParaRPr lang="en-IN"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423" y="689589"/>
            <a:ext cx="10515600" cy="475533"/>
          </a:xfrm>
        </p:spPr>
        <p:txBody>
          <a:bodyPr>
            <a:normAutofit fontScale="90000"/>
          </a:bodyPr>
          <a:lstStyle/>
          <a:p>
            <a:r>
              <a:rPr lang="en-US" sz="2400" b="1" spc="10" dirty="0">
                <a:solidFill>
                  <a:srgbClr val="273239"/>
                </a:solidFill>
                <a:effectLst/>
                <a:latin typeface="Times New Roman" panose="02020603050405020304" pitchFamily="18" charset="0"/>
                <a:ea typeface="Times New Roman" panose="02020603050405020304" pitchFamily="18" charset="0"/>
              </a:rPr>
              <a:t>Pros and Cons of Heap File Organization –</a:t>
            </a:r>
            <a:r>
              <a:rPr lang="en-US" sz="2400" spc="10" dirty="0">
                <a:solidFill>
                  <a:srgbClr val="273239"/>
                </a:solidFill>
                <a:effectLst/>
                <a:latin typeface="Times New Roman" panose="02020603050405020304" pitchFamily="18" charset="0"/>
                <a:ea typeface="Times New Roman" panose="02020603050405020304" pitchFamily="18" charset="0"/>
              </a:rPr>
              <a:t> </a:t>
            </a:r>
            <a:br>
              <a:rPr lang="en-US" sz="2400" spc="10" dirty="0">
                <a:solidFill>
                  <a:srgbClr val="273239"/>
                </a:solidFill>
                <a:effectLst/>
                <a:latin typeface="Times New Roman" panose="02020603050405020304" pitchFamily="18" charset="0"/>
                <a:ea typeface="Times New Roman" panose="02020603050405020304" pitchFamily="18" charset="0"/>
              </a:rPr>
            </a:br>
            <a:endParaRPr lang="en-US" sz="5400" dirty="0"/>
          </a:p>
        </p:txBody>
      </p:sp>
      <p:sp>
        <p:nvSpPr>
          <p:cNvPr id="3" name="Content Placeholder 2"/>
          <p:cNvSpPr>
            <a:spLocks noGrp="1"/>
          </p:cNvSpPr>
          <p:nvPr>
            <p:ph idx="1"/>
          </p:nvPr>
        </p:nvSpPr>
        <p:spPr>
          <a:xfrm>
            <a:off x="0" y="1165122"/>
            <a:ext cx="12192000" cy="5692877"/>
          </a:xfrm>
        </p:spPr>
        <p:txBody>
          <a:bodyPr/>
          <a:lstStyle/>
          <a:p>
            <a:pPr marL="0" indent="0" fontAlgn="base">
              <a:lnSpc>
                <a:spcPct val="115000"/>
              </a:lnSpc>
              <a:spcAft>
                <a:spcPts val="1000"/>
              </a:spcAft>
              <a:buNone/>
            </a:pPr>
            <a:r>
              <a:rPr lang="en-US" sz="24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Pros –</a:t>
            </a: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fontAlgn="base">
              <a:lnSpc>
                <a:spcPct val="115000"/>
              </a:lnSpc>
              <a:spcAft>
                <a:spcPts val="1000"/>
              </a:spcAft>
              <a:buSzPts val="1000"/>
              <a:buFont typeface="Symbol" panose="05050102010706020507" pitchFamily="18" charset="2"/>
              <a:buChar char=""/>
              <a:tabLst>
                <a:tab pos="457200" algn="l"/>
              </a:tabLst>
            </a:pPr>
            <a:r>
              <a:rPr lang="en-US" sz="2400" spc="1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Fetching and retrieving records is faster </a:t>
            </a: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than sequential record but only in case of small databases.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fontAlgn="base">
              <a:lnSpc>
                <a:spcPct val="115000"/>
              </a:lnSpc>
              <a:spcAft>
                <a:spcPts val="1000"/>
              </a:spcAft>
              <a:buSzPts val="1000"/>
              <a:buFont typeface="Symbol" panose="05050102010706020507" pitchFamily="18" charset="2"/>
              <a:buChar char=""/>
              <a:tabLst>
                <a:tab pos="457200" algn="l"/>
              </a:tabLst>
            </a:pP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When there is a huge number of data needs to be loaded into the database at a time, then this method of file Organization is best suited.</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fontAlgn="base">
              <a:lnSpc>
                <a:spcPct val="115000"/>
              </a:lnSpc>
              <a:spcAft>
                <a:spcPts val="1000"/>
              </a:spcAft>
              <a:buNone/>
            </a:pPr>
            <a:r>
              <a:rPr lang="en-US" sz="2400" b="1"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Cons –</a:t>
            </a: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fontAlgn="base">
              <a:lnSpc>
                <a:spcPct val="115000"/>
              </a:lnSpc>
              <a:spcAft>
                <a:spcPts val="1000"/>
              </a:spcAft>
              <a:buSzPts val="1000"/>
              <a:buFont typeface="Symbol" panose="05050102010706020507" pitchFamily="18" charset="2"/>
              <a:buChar char=""/>
              <a:tabLst>
                <a:tab pos="457200" algn="l"/>
              </a:tabLst>
            </a:pP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Problem of unused memory blocks.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fontAlgn="base">
              <a:lnSpc>
                <a:spcPct val="115000"/>
              </a:lnSpc>
              <a:spcAft>
                <a:spcPts val="1000"/>
              </a:spcAft>
              <a:buSzPts val="1000"/>
              <a:buFont typeface="Symbol" panose="05050102010706020507" pitchFamily="18" charset="2"/>
              <a:buChar char=""/>
              <a:tabLst>
                <a:tab pos="457200" algn="l"/>
              </a:tabLst>
            </a:pPr>
            <a:r>
              <a:rPr lang="en-US" sz="2400" spc="10" dirty="0">
                <a:solidFill>
                  <a:srgbClr val="273239"/>
                </a:solidFill>
                <a:effectLst/>
                <a:latin typeface="Times New Roman" panose="02020603050405020304" pitchFamily="18" charset="0"/>
                <a:ea typeface="Times New Roman" panose="02020603050405020304" pitchFamily="18" charset="0"/>
                <a:cs typeface="Times New Roman" panose="02020603050405020304" pitchFamily="18" charset="0"/>
              </a:rPr>
              <a:t>Inefficient for larger databases.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256"/>
            <a:ext cx="12192000" cy="662782"/>
          </a:xfrm>
        </p:spPr>
        <p:txBody>
          <a:bodyPr>
            <a:normAutofit fontScale="90000"/>
          </a:bodyPr>
          <a:lstStyle/>
          <a:p>
            <a:pPr algn="ct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3.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Hash File Organization:</a:t>
            </a: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 y="566738"/>
            <a:ext cx="12191999" cy="3762375"/>
          </a:xfrm>
        </p:spPr>
        <p:txBody>
          <a:bodyPr/>
          <a:lstStyle/>
          <a:p>
            <a:pPr marL="0" indent="0" algn="just">
              <a:buNone/>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Hash File Organization uses the computation of hash function on some fields of the records. </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hash function's output determines the location of disk block where the records are to be placed.</a:t>
            </a:r>
            <a:endParaRPr lang="en-US" sz="3600" dirty="0"/>
          </a:p>
        </p:txBody>
      </p:sp>
      <p:pic>
        <p:nvPicPr>
          <p:cNvPr id="4" name="Picture 3" descr="DBMS Hash File Organization">
            <a:extLst>
              <a:ext uri="{FF2B5EF4-FFF2-40B4-BE49-F238E27FC236}">
                <a16:creationId xmlns:a16="http://schemas.microsoft.com/office/drawing/2014/main" xmlns="" id="{29BECB30-21A2-4C53-947B-B66C82756C77}"/>
              </a:ext>
            </a:extLst>
          </p:cNvPr>
          <p:cNvPicPr/>
          <p:nvPr/>
        </p:nvPicPr>
        <p:blipFill>
          <a:blip r:embed="rId2"/>
          <a:srcRect/>
          <a:stretch>
            <a:fillRect/>
          </a:stretch>
        </p:blipFill>
        <p:spPr bwMode="auto">
          <a:xfrm>
            <a:off x="3614738" y="1503761"/>
            <a:ext cx="5219700" cy="3099593"/>
          </a:xfrm>
          <a:prstGeom prst="rect">
            <a:avLst/>
          </a:prstGeom>
          <a:noFill/>
          <a:ln w="9525">
            <a:noFill/>
            <a:miter lim="800000"/>
            <a:headEnd/>
            <a:tailEnd/>
          </a:ln>
        </p:spPr>
      </p:pic>
      <p:sp>
        <p:nvSpPr>
          <p:cNvPr id="5" name="TextBox 4">
            <a:extLst>
              <a:ext uri="{FF2B5EF4-FFF2-40B4-BE49-F238E27FC236}">
                <a16:creationId xmlns:a16="http://schemas.microsoft.com/office/drawing/2014/main" xmlns="" id="{D49F29F9-77C6-4FAA-81F1-1BCA50B2DD53}"/>
              </a:ext>
            </a:extLst>
          </p:cNvPr>
          <p:cNvSpPr txBox="1"/>
          <p:nvPr/>
        </p:nvSpPr>
        <p:spPr>
          <a:xfrm>
            <a:off x="0" y="4603354"/>
            <a:ext cx="12192000" cy="2288832"/>
          </a:xfrm>
          <a:prstGeom prst="rect">
            <a:avLst/>
          </a:prstGeom>
          <a:noFill/>
        </p:spPr>
        <p:txBody>
          <a:bodyPr wrap="square" rtlCol="0">
            <a:spAutoFit/>
          </a:bodyPr>
          <a:lstStyle/>
          <a:p>
            <a:pPr algn="just">
              <a:lnSpc>
                <a:spcPct val="115000"/>
              </a:lnSpc>
              <a:spcAft>
                <a:spcPts val="1000"/>
              </a:spcAf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When a record has to be received using the hash key columns, then the address is generated, and the whole record is retrieved using that address.</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 the same way, when a new record has to be inserted, then the address is generated using the hash key and record is directly inserted. The same process is applied in the case of delete and update.</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endPar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 this method, there is no effort for searching and sorting the entire file. In this method, each record will be stored randomly in the memory.</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descr="DBMS Hash File Organization">
            <a:extLst>
              <a:ext uri="{FF2B5EF4-FFF2-40B4-BE49-F238E27FC236}">
                <a16:creationId xmlns:a16="http://schemas.microsoft.com/office/drawing/2014/main" xmlns="" id="{3A45A7C5-ABE3-4498-9DF7-32BEC071649D}"/>
              </a:ext>
            </a:extLst>
          </p:cNvPr>
          <p:cNvPicPr/>
          <p:nvPr/>
        </p:nvPicPr>
        <p:blipFill>
          <a:blip r:embed="rId2"/>
          <a:srcRect/>
          <a:stretch>
            <a:fillRect/>
          </a:stretch>
        </p:blipFill>
        <p:spPr bwMode="auto">
          <a:xfrm>
            <a:off x="3124200" y="1981994"/>
            <a:ext cx="5943600" cy="326548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256"/>
            <a:ext cx="12192000" cy="662782"/>
          </a:xfrm>
        </p:spPr>
        <p:txBody>
          <a:bodyPr>
            <a:normAutofit fontScale="90000"/>
          </a:bodyPr>
          <a:lstStyle/>
          <a:p>
            <a:pPr algn="ct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4. B+ File Organization</a:t>
            </a:r>
            <a:r>
              <a:rPr lang="en-IN" sz="3200" b="1" kern="0" dirty="0">
                <a:effectLst/>
                <a:latin typeface="Cambria" panose="02040503050406030204" pitchFamily="18" charset="0"/>
                <a:ea typeface="Times New Roman" panose="02020603050405020304" pitchFamily="18" charset="0"/>
                <a:cs typeface="Times New Roman" panose="02020603050405020304" pitchFamily="18" charset="0"/>
              </a:rPr>
              <a:t/>
            </a:r>
            <a:br>
              <a:rPr lang="en-IN" sz="3200" b="1" kern="0" dirty="0">
                <a:effectLst/>
                <a:latin typeface="Cambria" panose="02040503050406030204" pitchFamily="18" charset="0"/>
                <a:ea typeface="Times New Roman" panose="02020603050405020304" pitchFamily="18" charset="0"/>
                <a:cs typeface="Times New Roman" panose="02020603050405020304" pitchFamily="18" charset="0"/>
              </a:rPr>
            </a:br>
            <a:endParaRPr lang="en-US" sz="6600" dirty="0"/>
          </a:p>
        </p:txBody>
      </p:sp>
      <p:sp>
        <p:nvSpPr>
          <p:cNvPr id="3" name="Content Placeholder 2"/>
          <p:cNvSpPr>
            <a:spLocks noGrp="1"/>
          </p:cNvSpPr>
          <p:nvPr>
            <p:ph idx="1"/>
          </p:nvPr>
        </p:nvSpPr>
        <p:spPr>
          <a:xfrm>
            <a:off x="0" y="500063"/>
            <a:ext cx="12192000" cy="6339681"/>
          </a:xfrm>
        </p:spPr>
        <p:txBody>
          <a:bodyPr/>
          <a:lstStyle/>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 tree file organization is the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advanced method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of an indexed sequential access method.</a:t>
            </a: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uses a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tree-like structure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store records in File.</a:t>
            </a: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uses the same concept of key-index where the primary key is used to sort the records. For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each primary key, the value of the index is generated and mapped with the record.</a:t>
            </a: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B+ tree is similar to a binary search tree (BST), but it can have more than two children</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In </a:t>
            </a:r>
          </a:p>
          <a:p>
            <a:pPr marL="0" lvl="0" indent="0" algn="just">
              <a:lnSpc>
                <a:spcPts val="1250"/>
              </a:lnSpc>
              <a:spcBef>
                <a:spcPts val="200"/>
              </a:spcBef>
              <a:spcAft>
                <a:spcPts val="1000"/>
              </a:spcAft>
              <a:buSzPts val="1000"/>
              <a:buNone/>
              <a:tabLst>
                <a:tab pos="457200" algn="l"/>
              </a:tabLst>
            </a:pP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this method, all the </a:t>
            </a:r>
            <a:r>
              <a:rPr lang="en-US" sz="2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records are stored only at the leaf node. Intermediate nodes act as a pointer to </a:t>
            </a:r>
          </a:p>
          <a:p>
            <a:pPr marL="0" lvl="0" indent="0" algn="just">
              <a:lnSpc>
                <a:spcPts val="1250"/>
              </a:lnSpc>
              <a:spcBef>
                <a:spcPts val="200"/>
              </a:spcBef>
              <a:spcAft>
                <a:spcPts val="1000"/>
              </a:spcAft>
              <a:buSzPts val="1000"/>
              <a:buNone/>
              <a:tabLst>
                <a:tab pos="457200" algn="l"/>
              </a:tabLst>
            </a:pP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leaf nodes. They do not contain any records.</a:t>
            </a:r>
            <a:endPar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sz="3200" dirty="0"/>
          </a:p>
        </p:txBody>
      </p:sp>
      <p:pic>
        <p:nvPicPr>
          <p:cNvPr id="4" name="Picture 3" descr="DBMS B+ File Organization">
            <a:extLst>
              <a:ext uri="{FF2B5EF4-FFF2-40B4-BE49-F238E27FC236}">
                <a16:creationId xmlns:a16="http://schemas.microsoft.com/office/drawing/2014/main" xmlns="" id="{70BE5AAF-5C5D-4991-9EC1-89C382051D1D}"/>
              </a:ext>
            </a:extLst>
          </p:cNvPr>
          <p:cNvPicPr/>
          <p:nvPr/>
        </p:nvPicPr>
        <p:blipFill>
          <a:blip r:embed="rId2"/>
          <a:srcRect/>
          <a:stretch>
            <a:fillRect/>
          </a:stretch>
        </p:blipFill>
        <p:spPr bwMode="auto">
          <a:xfrm>
            <a:off x="0" y="4500562"/>
            <a:ext cx="12191999" cy="2357437"/>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algn="just">
              <a:lnSpc>
                <a:spcPts val="1560"/>
              </a:lnSpc>
              <a:spcBef>
                <a:spcPts val="1000"/>
              </a:spcBef>
            </a:pPr>
            <a:endParaRPr lang="en-US" sz="2400" b="0"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ts val="1560"/>
              </a:lnSpc>
              <a:spcBef>
                <a:spcPts val="1000"/>
              </a:spcBef>
            </a:pPr>
            <a:endParaRPr lang="en-US" sz="2400" dirty="0">
              <a:solidFill>
                <a:srgbClr val="610B38"/>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ts val="1560"/>
              </a:lnSpc>
              <a:spcBef>
                <a:spcPts val="1000"/>
              </a:spcBef>
            </a:pPr>
            <a:r>
              <a:rPr lang="en-US" sz="2400" b="0"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The above B+ tree shows that</a:t>
            </a:r>
            <a:endParaRPr lang="en-IN"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There is one root node of the tree, i.e., 25.</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There is an intermediary layer with nodes. They do not store the actual record. They have only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pointers to the leaf node.</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nodes to the left of the root node contain the prior value of the root and nodes to the right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contain next value of the root, i.e., 15 and 30 respectively.</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There is only one leaf node which has only values, i.e., 10, 12, 17, 20, 24, 27 and 29.</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Searching for any record is easier as all the leaf nodes are balanced.</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method, searching any record can be traversed through the single path and accessed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easily.</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681036"/>
            <a:ext cx="12191999" cy="6158709"/>
          </a:xfrm>
        </p:spPr>
        <p:txBody>
          <a:bodyPr/>
          <a:lstStyle/>
          <a:p>
            <a:pPr marL="0" indent="0" algn="just">
              <a:lnSpc>
                <a:spcPts val="1560"/>
              </a:lnSpc>
              <a:spcBef>
                <a:spcPts val="1000"/>
              </a:spcBef>
              <a:buNone/>
            </a:pPr>
            <a:r>
              <a:rPr lang="en-US" sz="2400" b="0"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Pros of B+ tree file organization</a:t>
            </a:r>
          </a:p>
          <a:p>
            <a:pPr algn="just">
              <a:lnSpc>
                <a:spcPts val="1560"/>
              </a:lnSpc>
              <a:spcBef>
                <a:spcPts val="1000"/>
              </a:spcBef>
            </a:pPr>
            <a:endParaRPr lang="en-IN"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method,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searching becomes very easy </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 all the records are stored only in the leaf nodes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and sorted the sequential linked list.</a:t>
            </a:r>
          </a:p>
          <a:p>
            <a:pPr marL="0" lvl="0" indent="0" algn="just">
              <a:lnSpc>
                <a:spcPts val="1250"/>
              </a:lnSpc>
              <a:spcBef>
                <a:spcPts val="200"/>
              </a:spcBef>
              <a:spcAft>
                <a:spcPts val="1000"/>
              </a:spcAft>
              <a:buSzPts val="1000"/>
              <a:buNone/>
              <a:tabLst>
                <a:tab pos="457200" algn="l"/>
              </a:tabLst>
            </a:pP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Traversing through the tree structure is easier and faster.</a:t>
            </a:r>
          </a:p>
          <a:p>
            <a:pPr marL="0" lvl="0" indent="0" algn="just">
              <a:lnSpc>
                <a:spcPts val="1250"/>
              </a:lnSpc>
              <a:spcBef>
                <a:spcPts val="200"/>
              </a:spcBef>
              <a:spcAft>
                <a:spcPts val="1000"/>
              </a:spcAft>
              <a:buSzPts val="1000"/>
              <a:buNone/>
              <a:tabLst>
                <a:tab pos="457200" algn="l"/>
              </a:tabLst>
            </a:pP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The size of the B+ tree has no restrictions</a:t>
            </a: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so the number of records can increase or decrease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and the B+ tree structure can also grow or shrink.</a:t>
            </a:r>
          </a:p>
          <a:p>
            <a:pPr marL="0" lvl="0" indent="0" algn="just">
              <a:lnSpc>
                <a:spcPts val="1250"/>
              </a:lnSpc>
              <a:spcBef>
                <a:spcPts val="200"/>
              </a:spcBef>
              <a:spcAft>
                <a:spcPts val="1000"/>
              </a:spcAft>
              <a:buSzPts val="1000"/>
              <a:buNone/>
              <a:tabLst>
                <a:tab pos="457200" algn="l"/>
              </a:tabLst>
            </a:pPr>
            <a:endPar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a balanced tree structure, and any insert/update/delete does not affect the performance of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tree.</a:t>
            </a:r>
          </a:p>
          <a:p>
            <a:pPr marL="0" lvl="0" indent="0" algn="just">
              <a:lnSpc>
                <a:spcPts val="1250"/>
              </a:lnSpc>
              <a:spcBef>
                <a:spcPts val="200"/>
              </a:spcBef>
              <a:spcAft>
                <a:spcPts val="1000"/>
              </a:spcAft>
              <a:buSzPts val="1000"/>
              <a:buNone/>
              <a:tabLst>
                <a:tab pos="457200" algn="l"/>
              </a:tabLst>
            </a:pP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ts val="1560"/>
              </a:lnSpc>
              <a:spcBef>
                <a:spcPts val="1000"/>
              </a:spcBef>
            </a:pPr>
            <a:r>
              <a:rPr lang="en-US" sz="2400" b="0"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Cons of B+ tree file organization</a:t>
            </a:r>
          </a:p>
          <a:p>
            <a:pPr marL="0" indent="0" algn="just">
              <a:lnSpc>
                <a:spcPts val="1560"/>
              </a:lnSpc>
              <a:spcBef>
                <a:spcPts val="1000"/>
              </a:spcBef>
              <a:buNone/>
            </a:pPr>
            <a:endParaRPr lang="en-IN"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method is </a:t>
            </a:r>
            <a:r>
              <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inefficient for the static method.</a:t>
            </a:r>
            <a:endPar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81036"/>
          </a:xfrm>
        </p:spPr>
        <p:txBody>
          <a:bodyPr>
            <a:normAutofit fontScale="90000"/>
          </a:bodyPr>
          <a:lstStyle/>
          <a:p>
            <a:pPr algn="ct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5. Clustered File Organization</a:t>
            </a:r>
            <a:r>
              <a:rPr lang="en-IN" sz="2800" dirty="0">
                <a:effectLst/>
                <a:latin typeface="Calibri" panose="020F0502020204030204" pitchFamily="34" charset="0"/>
                <a:ea typeface="Times New Roman" panose="02020603050405020304" pitchFamily="18" charset="0"/>
                <a:cs typeface="Times New Roman" panose="02020603050405020304" pitchFamily="18" charset="0"/>
              </a:rPr>
              <a:t/>
            </a:r>
            <a:br>
              <a:rPr lang="en-IN" sz="28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sz="6000" dirty="0"/>
          </a:p>
        </p:txBody>
      </p:sp>
      <p:sp>
        <p:nvSpPr>
          <p:cNvPr id="3" name="Content Placeholder 2"/>
          <p:cNvSpPr>
            <a:spLocks noGrp="1"/>
          </p:cNvSpPr>
          <p:nvPr>
            <p:ph idx="1"/>
          </p:nvPr>
        </p:nvSpPr>
        <p:spPr>
          <a:xfrm>
            <a:off x="0" y="681037"/>
            <a:ext cx="12192000" cy="6176962"/>
          </a:xfrm>
        </p:spPr>
        <p:txBody>
          <a:bodyPr/>
          <a:lstStyle/>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the two or more records are stored in the same file, it is known as clusters. These files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will have two or more tables in the same data block, and key attributes which are used to map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these tables together are stored only once.</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method reduces the cost of searching for various records in different files.</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ts val="1250"/>
              </a:lnSpc>
              <a:spcBef>
                <a:spcPts val="200"/>
              </a:spcBef>
              <a:spcAft>
                <a:spcPts val="1000"/>
              </a:spcAft>
              <a:buSzPts val="1000"/>
              <a:buNone/>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250"/>
              </a:lnSpc>
              <a:spcBef>
                <a:spcPts val="200"/>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cluster file organization is used when there is a frequent need for joining the tables with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same condition. These joins will give only a few records from both tables. In the given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example, we are retrieving the record for only particular departments. This method can't be used </a:t>
            </a:r>
          </a:p>
          <a:p>
            <a:pPr marL="0" lvl="0" indent="0" algn="just">
              <a:lnSpc>
                <a:spcPts val="1250"/>
              </a:lnSpc>
              <a:spcBef>
                <a:spcPts val="200"/>
              </a:spcBef>
              <a:spcAft>
                <a:spcPts val="1000"/>
              </a:spcAft>
              <a:buSzPts val="1000"/>
              <a:buNone/>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retrieve the record for the entire department.</a:t>
            </a:r>
            <a:endPar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BMS Cluster file organization">
            <a:extLst>
              <a:ext uri="{FF2B5EF4-FFF2-40B4-BE49-F238E27FC236}">
                <a16:creationId xmlns:a16="http://schemas.microsoft.com/office/drawing/2014/main" xmlns="" id="{2EF55883-0685-4828-84AD-F986977D7C9E}"/>
              </a:ext>
            </a:extLst>
          </p:cNvPr>
          <p:cNvPicPr>
            <a:picLocks noGrp="1"/>
          </p:cNvPicPr>
          <p:nvPr>
            <p:ph idx="1"/>
          </p:nvPr>
        </p:nvPicPr>
        <p:blipFill>
          <a:blip r:embed="rId2"/>
          <a:srcRect/>
          <a:stretch>
            <a:fillRect/>
          </a:stretch>
        </p:blipFill>
        <p:spPr bwMode="auto">
          <a:xfrm>
            <a:off x="0" y="685800"/>
            <a:ext cx="12192000" cy="4672013"/>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endParaRPr lang="en-US" sz="1800" dirty="0">
              <a:solidFill>
                <a:srgbClr val="333333"/>
              </a:solidFill>
              <a:effectLst/>
              <a:latin typeface="Times New Roman" panose="02020603050405020304" pitchFamily="18" charset="0"/>
              <a:ea typeface="Times New Roman" panose="02020603050405020304" pitchFamily="18" charset="0"/>
            </a:endParaRPr>
          </a:p>
          <a:p>
            <a:endParaRPr lang="en-US" sz="1800" dirty="0">
              <a:solidFill>
                <a:srgbClr val="333333"/>
              </a:solidFill>
              <a:latin typeface="Times New Roman" panose="02020603050405020304" pitchFamily="18" charset="0"/>
              <a:ea typeface="Times New Roman" panose="02020603050405020304" pitchFamily="18" charset="0"/>
            </a:endParaRPr>
          </a:p>
          <a:p>
            <a:endParaRPr lang="en-US" sz="1800" dirty="0">
              <a:solidFill>
                <a:srgbClr val="333333"/>
              </a:solidFill>
              <a:effectLst/>
              <a:latin typeface="Times New Roman" panose="02020603050405020304" pitchFamily="18" charset="0"/>
              <a:ea typeface="Times New Roman" panose="02020603050405020304" pitchFamily="18" charset="0"/>
            </a:endParaRPr>
          </a:p>
          <a:p>
            <a:endParaRPr lang="en-US" sz="1800" dirty="0">
              <a:solidFill>
                <a:srgbClr val="333333"/>
              </a:solidFill>
              <a:latin typeface="Times New Roman" panose="02020603050405020304" pitchFamily="18" charset="0"/>
              <a:ea typeface="Times New Roman" panose="02020603050405020304" pitchFamily="18" charset="0"/>
            </a:endParaRPr>
          </a:p>
          <a:p>
            <a:endParaRPr lang="en-US" sz="1800" dirty="0">
              <a:solidFill>
                <a:srgbClr val="333333"/>
              </a:solidFill>
              <a:effectLst/>
              <a:latin typeface="Times New Roman" panose="02020603050405020304" pitchFamily="18" charset="0"/>
              <a:ea typeface="Times New Roman" panose="02020603050405020304" pitchFamily="18" charset="0"/>
            </a:endParaRPr>
          </a:p>
          <a:p>
            <a:endParaRPr lang="en-US" sz="1800" dirty="0">
              <a:solidFill>
                <a:srgbClr val="333333"/>
              </a:solidFill>
              <a:latin typeface="Times New Roman" panose="02020603050405020304" pitchFamily="18" charset="0"/>
              <a:ea typeface="Times New Roman" panose="02020603050405020304" pitchFamily="18" charset="0"/>
            </a:endParaRPr>
          </a:p>
          <a:p>
            <a:endParaRPr lang="en-US" sz="1800" dirty="0">
              <a:solidFill>
                <a:srgbClr val="333333"/>
              </a:solidFill>
              <a:effectLst/>
              <a:latin typeface="Times New Roman" panose="02020603050405020304" pitchFamily="18" charset="0"/>
              <a:ea typeface="Times New Roman" panose="02020603050405020304" pitchFamily="18" charset="0"/>
            </a:endParaRPr>
          </a:p>
          <a:p>
            <a:endParaRPr lang="en-US" sz="1800" dirty="0">
              <a:solidFill>
                <a:srgbClr val="333333"/>
              </a:solidFill>
              <a:latin typeface="Times New Roman" panose="02020603050405020304" pitchFamily="18" charset="0"/>
              <a:ea typeface="Times New Roman" panose="02020603050405020304" pitchFamily="18" charset="0"/>
            </a:endParaRPr>
          </a:p>
          <a:p>
            <a:endParaRPr lang="en-US" sz="1800" dirty="0">
              <a:solidFill>
                <a:srgbClr val="333333"/>
              </a:solidFill>
              <a:effectLst/>
              <a:latin typeface="Times New Roman" panose="02020603050405020304" pitchFamily="18" charset="0"/>
              <a:ea typeface="Times New Roman" panose="02020603050405020304" pitchFamily="18" charset="0"/>
            </a:endParaRPr>
          </a:p>
          <a:p>
            <a:endParaRPr lang="en-US" sz="1800" dirty="0">
              <a:solidFill>
                <a:srgbClr val="333333"/>
              </a:solidFill>
              <a:latin typeface="Times New Roman" panose="02020603050405020304" pitchFamily="18" charset="0"/>
              <a:ea typeface="Times New Roman" panose="02020603050405020304" pitchFamily="18" charset="0"/>
            </a:endParaRPr>
          </a:p>
          <a:p>
            <a:endParaRPr lang="en-US" sz="1800" dirty="0">
              <a:solidFill>
                <a:srgbClr val="333333"/>
              </a:solidFill>
              <a:effectLst/>
              <a:latin typeface="Times New Roman" panose="02020603050405020304" pitchFamily="18" charset="0"/>
              <a:ea typeface="Times New Roman" panose="02020603050405020304" pitchFamily="18" charset="0"/>
            </a:endParaRPr>
          </a:p>
          <a:p>
            <a:endParaRPr lang="en-US" sz="1800" dirty="0">
              <a:solidFill>
                <a:srgbClr val="333333"/>
              </a:solidFill>
              <a:latin typeface="Times New Roman" panose="02020603050405020304" pitchFamily="18" charset="0"/>
              <a:ea typeface="Times New Roman" panose="02020603050405020304" pitchFamily="18" charset="0"/>
            </a:endParaRPr>
          </a:p>
          <a:p>
            <a:endParaRPr lang="en-US" sz="1800" dirty="0">
              <a:solidFill>
                <a:srgbClr val="333333"/>
              </a:solidFill>
              <a:effectLst/>
              <a:latin typeface="Times New Roman" panose="02020603050405020304" pitchFamily="18" charset="0"/>
              <a:ea typeface="Times New Roman" panose="02020603050405020304" pitchFamily="18" charset="0"/>
            </a:endParaRPr>
          </a:p>
          <a:p>
            <a:pPr marL="0" indent="0">
              <a:buNone/>
            </a:pPr>
            <a:endParaRPr lang="en-US" sz="1800" dirty="0">
              <a:solidFill>
                <a:srgbClr val="333333"/>
              </a:solidFill>
              <a:latin typeface="Times New Roman" panose="02020603050405020304" pitchFamily="18" charset="0"/>
              <a:ea typeface="Times New Roman" panose="02020603050405020304" pitchFamily="18" charset="0"/>
            </a:endParaRPr>
          </a:p>
          <a:p>
            <a:pPr algn="just"/>
            <a:r>
              <a:rPr lang="en-US" sz="2400" dirty="0">
                <a:solidFill>
                  <a:srgbClr val="333333"/>
                </a:solidFill>
                <a:effectLst/>
                <a:latin typeface="Times New Roman" panose="02020603050405020304" pitchFamily="18" charset="0"/>
                <a:ea typeface="Times New Roman" panose="02020603050405020304" pitchFamily="18" charset="0"/>
              </a:rPr>
              <a:t>In this method, we can directly insert, update or delete any record. Data is sorted based on the key with which searching is done. Cluster key is a type of key with which joining of the table is performed.</a:t>
            </a:r>
            <a:endParaRPr lang="en-IN" sz="2400" dirty="0">
              <a:effectLst/>
              <a:latin typeface="Times New Roman" panose="02020603050405020304" pitchFamily="18" charset="0"/>
              <a:ea typeface="Times New Roman" panose="02020603050405020304" pitchFamily="18" charset="0"/>
            </a:endParaRPr>
          </a:p>
          <a:p>
            <a:endParaRPr lang="en-US" dirty="0"/>
          </a:p>
        </p:txBody>
      </p:sp>
      <p:pic>
        <p:nvPicPr>
          <p:cNvPr id="4" name="Picture 3" descr="DBMS Cluster file organization">
            <a:extLst>
              <a:ext uri="{FF2B5EF4-FFF2-40B4-BE49-F238E27FC236}">
                <a16:creationId xmlns:a16="http://schemas.microsoft.com/office/drawing/2014/main" xmlns="" id="{F768BE0A-7FFE-4F69-9F0F-262F40D3ACA7}"/>
              </a:ext>
            </a:extLst>
          </p:cNvPr>
          <p:cNvPicPr/>
          <p:nvPr/>
        </p:nvPicPr>
        <p:blipFill>
          <a:blip r:embed="rId2"/>
          <a:srcRect/>
          <a:stretch>
            <a:fillRect/>
          </a:stretch>
        </p:blipFill>
        <p:spPr bwMode="auto">
          <a:xfrm>
            <a:off x="0" y="0"/>
            <a:ext cx="12115800" cy="508635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sp>
        <p:nvSpPr>
          <p:cNvPr id="17" name="TextBox 16"/>
          <p:cNvSpPr txBox="1"/>
          <p:nvPr/>
        </p:nvSpPr>
        <p:spPr>
          <a:xfrm>
            <a:off x="0" y="815927"/>
            <a:ext cx="12192000" cy="563231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Important Facts:</a:t>
            </a:r>
          </a:p>
          <a:p>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File organization in DBMS refers to how data is stored and accessed in files within a database system.</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Different file organizations in DBMS have different performance characteristics, such as efficiency, scalability, and ease of data retrieval and modification.</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File operations in DBMS, such as record insertion, deletion, and update, can affect the performance and integrity of the database system, and need to be carefully managed.</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Techniques such as indexing, clustering, and partitioning can be used to optimize file performance in DBMS and improve the overall efficiency of database operations.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267477" y="727788"/>
            <a:ext cx="11924523" cy="4154984"/>
          </a:xfrm>
          <a:prstGeom prst="rect">
            <a:avLst/>
          </a:prstGeom>
          <a:noFill/>
        </p:spPr>
        <p:txBody>
          <a:bodyPr wrap="square" rtlCol="0">
            <a:spAutoFit/>
          </a:bodyPr>
          <a:lstStyle/>
          <a:p>
            <a:pPr>
              <a:buFont typeface="Arial" pitchFamily="34" charset="0"/>
              <a:buChar char="•"/>
            </a:pPr>
            <a:r>
              <a:rPr lang="en-US" sz="2400" dirty="0">
                <a:latin typeface="Times New Roman" panose="02020603050405020304" pitchFamily="18" charset="0"/>
                <a:cs typeface="Times New Roman" panose="02020603050405020304" pitchFamily="18" charset="0"/>
              </a:rPr>
              <a:t>Data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Index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Transaction log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Backup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Metadata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Parameter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Script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Error log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Query log files</a:t>
            </a:r>
          </a:p>
          <a:p>
            <a:pPr>
              <a:buFont typeface="Arial" pitchFamily="34" charset="0"/>
              <a:buChar char="•"/>
            </a:pPr>
            <a:r>
              <a:rPr lang="en-US" sz="2400" dirty="0">
                <a:latin typeface="Times New Roman" panose="02020603050405020304" pitchFamily="18" charset="0"/>
                <a:cs typeface="Times New Roman" panose="02020603050405020304" pitchFamily="18" charset="0"/>
              </a:rPr>
              <a:t>Temporary files</a:t>
            </a:r>
          </a:p>
          <a:p>
            <a:pPr>
              <a:buFont typeface="Arial"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429208" y="1950097"/>
            <a:ext cx="11196735" cy="267765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In a database management system (DBMS), files are used to store data in a structured format that allows for efficient retrieval and manipulation. There are several types of files used in DBMS, including data files, index files, transaction log files, backup files, metadata files, parameter files, script files, error log files, query log files, and temporary files. Each type of file serves a specific purpose in managing and organizing data in a database. Understanding the role of each file type is crucial for effective database design and maintenance.</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1600" dirty="0">
                <a:solidFill>
                  <a:schemeClr val="bg1"/>
                </a:solidFill>
                <a:latin typeface="Poppins" panose="00000500000000000000" pitchFamily="2" charset="0"/>
                <a:ea typeface="Calibri"/>
                <a:cs typeface="Poppins" panose="00000500000000000000" pitchFamily="2" charset="0"/>
                <a:sym typeface="Calibri"/>
              </a:rPr>
              <a:t>1. Which type of file records all the changes made to the database, including inserts, updates, and deletes?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solidFill>
                  <a:srgbClr val="FFC000"/>
                </a:solidFill>
              </a:rPr>
              <a:t>Transaction log file</a:t>
            </a:r>
          </a:p>
          <a:p>
            <a:pPr marL="342900" indent="-342900">
              <a:lnSpc>
                <a:spcPct val="150000"/>
              </a:lnSpc>
              <a:buAutoNum type="alphaLcParenBoth"/>
            </a:pPr>
            <a:r>
              <a:rPr lang="en-US" sz="1600" dirty="0"/>
              <a:t>Backup Files</a:t>
            </a:r>
          </a:p>
          <a:p>
            <a:pPr marL="342900" indent="-342900">
              <a:lnSpc>
                <a:spcPct val="150000"/>
              </a:lnSpc>
              <a:buAutoNum type="alphaLcParenBoth"/>
            </a:pPr>
            <a:r>
              <a:rPr lang="en-US" sz="1600" dirty="0"/>
              <a:t>Metadata Files</a:t>
            </a:r>
          </a:p>
          <a:p>
            <a:pPr marL="342900" indent="-342900">
              <a:lnSpc>
                <a:spcPct val="150000"/>
              </a:lnSpc>
              <a:buAutoNum type="alphaLcParenBoth"/>
            </a:pPr>
            <a:r>
              <a:rPr lang="en-US" sz="1600" dirty="0"/>
              <a:t>Script Files</a:t>
            </a:r>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1600" dirty="0">
                <a:solidFill>
                  <a:schemeClr val="bg1"/>
                </a:solidFill>
                <a:latin typeface="Poppins" panose="00000500000000000000" pitchFamily="2" charset="0"/>
                <a:ea typeface="Calibri"/>
                <a:cs typeface="Poppins" panose="00000500000000000000" pitchFamily="2" charset="0"/>
                <a:sym typeface="Calibri"/>
              </a:rPr>
              <a:t>2. Which type of file contains information about the database structure and schema, such as table and column names, data types, constraints, and relationships?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b="1" dirty="0">
                <a:solidFill>
                  <a:srgbClr val="FFC000"/>
                </a:solidFill>
              </a:rPr>
              <a:t>Metadata Files</a:t>
            </a:r>
          </a:p>
          <a:p>
            <a:pPr marL="342900" indent="-342900">
              <a:lnSpc>
                <a:spcPct val="150000"/>
              </a:lnSpc>
              <a:buAutoNum type="alphaLcParenBoth"/>
            </a:pPr>
            <a:r>
              <a:rPr lang="en-US" sz="1600" dirty="0"/>
              <a:t>Data Files</a:t>
            </a:r>
          </a:p>
          <a:p>
            <a:pPr marL="342900" indent="-342900">
              <a:lnSpc>
                <a:spcPct val="150000"/>
              </a:lnSpc>
              <a:buAutoNum type="alphaLcParenBoth"/>
            </a:pPr>
            <a:r>
              <a:rPr lang="en-US" sz="1600" dirty="0"/>
              <a:t>Index Files</a:t>
            </a:r>
          </a:p>
          <a:p>
            <a:pPr marL="342900" indent="-342900">
              <a:lnSpc>
                <a:spcPct val="150000"/>
              </a:lnSpc>
              <a:buAutoNum type="alphaLcParenBoth"/>
            </a:pPr>
            <a:r>
              <a:rPr lang="en-US" sz="1600" dirty="0"/>
              <a:t>Parameter Files</a:t>
            </a:r>
          </a:p>
        </p:txBody>
      </p:sp>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862322"/>
          </a:xfrm>
          <a:prstGeom prst="rect">
            <a:avLst/>
          </a:prstGeom>
          <a:noFill/>
        </p:spPr>
        <p:txBody>
          <a:bodyPr wrap="square" rtlCol="0">
            <a:spAutoFit/>
          </a:bodyPr>
          <a:lstStyle/>
          <a:p>
            <a:pPr>
              <a:lnSpc>
                <a:spcPct val="200000"/>
              </a:lnSpc>
            </a:pPr>
            <a:r>
              <a:rPr lang="en-US" b="1" dirty="0"/>
              <a:t>1. Describe various file organization techniques used in DBMS?</a:t>
            </a:r>
          </a:p>
          <a:p>
            <a:pPr>
              <a:lnSpc>
                <a:spcPct val="200000"/>
              </a:lnSpc>
            </a:pPr>
            <a:r>
              <a:rPr lang="en-US" b="1" dirty="0"/>
              <a:t>2.  List out the strengths and weaknesses of different file organization techniques</a:t>
            </a:r>
          </a:p>
          <a:p>
            <a:pPr marL="342900" indent="-342900">
              <a:lnSpc>
                <a:spcPct val="200000"/>
              </a:lnSpc>
            </a:pPr>
            <a:r>
              <a:rPr lang="en-US" b="1" dirty="0"/>
              <a:t>3.  Analyze the performance of a particular file organization strategy for a given workload, and recommend optimizations.</a:t>
            </a:r>
          </a:p>
          <a:p>
            <a:pPr marL="342900" indent="-342900">
              <a:lnSpc>
                <a:spcPct val="200000"/>
              </a:lnSpc>
            </a:pPr>
            <a:r>
              <a:rPr lang="en-US" b="1" dirty="0"/>
              <a:t>4.  Summarize about indexed file organization work, and what are its pros and cons?</a:t>
            </a:r>
          </a:p>
        </p:txBody>
      </p:sp>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1613647" y="93891"/>
            <a:ext cx="8175812"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536437" y="803724"/>
            <a:ext cx="11033522" cy="5909310"/>
          </a:xfrm>
          <a:prstGeom prst="rect">
            <a:avLst/>
          </a:prstGeom>
          <a:noFill/>
        </p:spPr>
        <p:txBody>
          <a:bodyPr wrap="square" rtlCol="0">
            <a:spAutoFit/>
          </a:bodyPr>
          <a:lstStyle/>
          <a:p>
            <a:pPr algn="just">
              <a:lnSpc>
                <a:spcPct val="150000"/>
              </a:lnSpc>
            </a:pPr>
            <a:r>
              <a:rPr lang="en-US" b="1" dirty="0"/>
              <a:t>Reference Books:</a:t>
            </a:r>
            <a:endParaRPr lang="en-US" dirty="0"/>
          </a:p>
          <a:p>
            <a:pPr algn="just">
              <a:lnSpc>
                <a:spcPct val="150000"/>
              </a:lnSpc>
            </a:pPr>
            <a:r>
              <a:rPr lang="en-US" dirty="0"/>
              <a:t>1. "Database Management Systems" by </a:t>
            </a:r>
            <a:r>
              <a:rPr lang="en-US" dirty="0" err="1"/>
              <a:t>Raghu</a:t>
            </a:r>
            <a:r>
              <a:rPr lang="en-US" dirty="0"/>
              <a:t> </a:t>
            </a:r>
            <a:r>
              <a:rPr lang="en-US" dirty="0" err="1"/>
              <a:t>Ramakrishnan</a:t>
            </a:r>
            <a:r>
              <a:rPr lang="en-US" dirty="0"/>
              <a:t> and Johannes </a:t>
            </a:r>
            <a:r>
              <a:rPr lang="en-US" dirty="0" err="1"/>
              <a:t>Gehrke</a:t>
            </a:r>
            <a:r>
              <a:rPr lang="en-US" dirty="0"/>
              <a:t> - This is a comprehensive textbook that covers both theoretical and practical aspects of DBMS, including data modeling, relational algebra, SQL, query optimization, transaction management, and distributed databases.</a:t>
            </a:r>
          </a:p>
          <a:p>
            <a:pPr algn="just">
              <a:lnSpc>
                <a:spcPct val="150000"/>
              </a:lnSpc>
            </a:pPr>
            <a:r>
              <a:rPr lang="en-US" dirty="0"/>
              <a:t>2. "Fundamentals of Database Systems" by </a:t>
            </a:r>
            <a:r>
              <a:rPr lang="en-US" dirty="0" err="1"/>
              <a:t>Ramez</a:t>
            </a:r>
            <a:r>
              <a:rPr lang="en-US" dirty="0"/>
              <a:t> </a:t>
            </a:r>
            <a:r>
              <a:rPr lang="en-US" dirty="0" err="1"/>
              <a:t>Elmasri</a:t>
            </a:r>
            <a:r>
              <a:rPr lang="en-US" dirty="0"/>
              <a:t> and </a:t>
            </a:r>
            <a:r>
              <a:rPr lang="en-US" dirty="0" err="1"/>
              <a:t>Shamkant</a:t>
            </a:r>
            <a:r>
              <a:rPr lang="en-US" dirty="0"/>
              <a:t> </a:t>
            </a:r>
            <a:r>
              <a:rPr lang="en-US" dirty="0" err="1"/>
              <a:t>Navathe</a:t>
            </a:r>
            <a:r>
              <a:rPr lang="en-US" dirty="0"/>
              <a:t> - This is another popular textbook that covers the fundamental concepts of DBMS, including database design, normalization, SQL programming, transaction management, and concurrency control.</a:t>
            </a:r>
          </a:p>
          <a:p>
            <a:pPr algn="just">
              <a:lnSpc>
                <a:spcPct val="150000"/>
              </a:lnSpc>
            </a:pPr>
            <a:endParaRPr lang="en-US" dirty="0"/>
          </a:p>
          <a:p>
            <a:pPr algn="just">
              <a:lnSpc>
                <a:spcPct val="150000"/>
              </a:lnSpc>
            </a:pPr>
            <a:r>
              <a:rPr lang="en-US" b="1" dirty="0"/>
              <a:t>Sites and Web links:</a:t>
            </a:r>
          </a:p>
          <a:p>
            <a:pPr algn="just">
              <a:lnSpc>
                <a:spcPct val="150000"/>
              </a:lnSpc>
            </a:pPr>
            <a:r>
              <a:rPr lang="en-US" dirty="0"/>
              <a:t>1. </a:t>
            </a:r>
            <a:r>
              <a:rPr lang="en-US" dirty="0">
                <a:hlinkClick r:id="rId2"/>
              </a:rPr>
              <a:t>https://www.tutorialspoint.com/dbms/dbms_file_organization.htm</a:t>
            </a:r>
            <a:r>
              <a:rPr lang="en-US" dirty="0"/>
              <a:t> </a:t>
            </a:r>
          </a:p>
          <a:p>
            <a:pPr algn="just">
              <a:lnSpc>
                <a:spcPct val="150000"/>
              </a:lnSpc>
            </a:pPr>
            <a:endParaRPr lang="en-US" dirty="0"/>
          </a:p>
          <a:p>
            <a:pPr algn="just">
              <a:lnSpc>
                <a:spcPct val="150000"/>
              </a:lnSpc>
            </a:pPr>
            <a:r>
              <a:rPr lang="en-US" dirty="0"/>
              <a:t>2. </a:t>
            </a:r>
            <a:r>
              <a:rPr lang="en-US" dirty="0">
                <a:hlinkClick r:id="rId3"/>
              </a:rPr>
              <a:t>https://www.geeksforgeeks.org/introduction-to-file-structures-in-dbms/</a:t>
            </a:r>
            <a:r>
              <a:rPr lang="en-US" dirty="0"/>
              <a:t> </a:t>
            </a:r>
          </a:p>
          <a:p>
            <a:pPr algn="just">
              <a:lnSpc>
                <a:spcPct val="150000"/>
              </a:lnSpc>
            </a:pPr>
            <a:endParaRPr lang="en-US" dirty="0"/>
          </a:p>
          <a:p>
            <a:pPr algn="just">
              <a:lnSpc>
                <a:spcPct val="150000"/>
              </a:lnSpc>
            </a:pPr>
            <a:endParaRPr lang="en-US" dirty="0"/>
          </a:p>
        </p:txBody>
      </p:sp>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Course Name</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Video Recording Video CoE PPT Template">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xmlns=""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Video Recording Video CoE PPT Template</Template>
  <TotalTime>63</TotalTime>
  <Words>2808</Words>
  <Application>Microsoft Office PowerPoint</Application>
  <PresentationFormat>Custom</PresentationFormat>
  <Paragraphs>594</Paragraphs>
  <Slides>50</Slides>
  <Notes>3</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Video Recording Video CoE PPT Template</vt:lpstr>
      <vt:lpstr>Decomposition algorithms in normalization,  files and storage structures: files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Merits and Demerits of Pile file method</vt:lpstr>
      <vt:lpstr>PowerPoint Presentation</vt:lpstr>
      <vt:lpstr>PowerPoint Presentation</vt:lpstr>
      <vt:lpstr>PowerPoint Presentation</vt:lpstr>
      <vt:lpstr>PowerPoint Presentation</vt:lpstr>
      <vt:lpstr>PowerPoint Presentation</vt:lpstr>
      <vt:lpstr>2.Heap File Organization  </vt:lpstr>
      <vt:lpstr>PowerPoint Presentation</vt:lpstr>
      <vt:lpstr>Pros and Cons of Heap File Organization –  </vt:lpstr>
      <vt:lpstr> 3. Hash File Organization: </vt:lpstr>
      <vt:lpstr>PowerPoint Presentation</vt:lpstr>
      <vt:lpstr>4. B+ File Organization </vt:lpstr>
      <vt:lpstr>PowerPoint Presentation</vt:lpstr>
      <vt:lpstr>PowerPoint Presentation</vt:lpstr>
      <vt:lpstr>5. Clustered File Organization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Decmposition algorithms in normalization,  files and storage structures: files</dc:title>
  <cp:lastModifiedBy>dell pc</cp:lastModifiedBy>
  <cp:revision>21</cp:revision>
  <dcterms:created xsi:type="dcterms:W3CDTF">2023-05-05T05:46:01Z</dcterms:created>
  <dcterms:modified xsi:type="dcterms:W3CDTF">2023-07-01T03:39:24Z</dcterms:modified>
</cp:coreProperties>
</file>