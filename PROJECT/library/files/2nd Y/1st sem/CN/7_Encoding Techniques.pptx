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71" r:id="rId5"/>
    <p:sldId id="300" r:id="rId6"/>
    <p:sldId id="276" r:id="rId7"/>
    <p:sldId id="336" r:id="rId8"/>
    <p:sldId id="314" r:id="rId9"/>
    <p:sldId id="315" r:id="rId10"/>
    <p:sldId id="316" r:id="rId11"/>
    <p:sldId id="317" r:id="rId12"/>
    <p:sldId id="333" r:id="rId13"/>
    <p:sldId id="334" r:id="rId14"/>
    <p:sldId id="335" r:id="rId15"/>
    <p:sldId id="331" r:id="rId16"/>
    <p:sldId id="311" r:id="rId17"/>
    <p:sldId id="287" r:id="rId18"/>
    <p:sldId id="30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CF2F33"/>
    <a:srgbClr val="BA2532"/>
    <a:srgbClr val="FF9900"/>
    <a:srgbClr val="E84845"/>
    <a:srgbClr val="FAD2D2"/>
    <a:srgbClr val="F89E4C"/>
    <a:srgbClr val="A81E24"/>
    <a:srgbClr val="FFF2CC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>
        <p:scale>
          <a:sx n="66" d="100"/>
          <a:sy n="66" d="100"/>
        </p:scale>
        <p:origin x="-77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14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xmlns="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xmlns="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communication_computer_network/computer_network_topologies.htm" TargetMode="External"/><Relationship Id="rId2" Type="http://schemas.openxmlformats.org/officeDocument/2006/relationships/hyperlink" Target="https://www.geeksforgeeks.org/types-of-transmission-technolog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javatpoint.com/computer-network-transmission-mode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184475" y="1933408"/>
            <a:ext cx="711252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COMPUTER NETWORKS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24CS2202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 smtClean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ENCODING TECHNIQUES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xmlns="" id="{7153E61F-4441-DBE3-3DFF-6E9EF6C48D23}"/>
              </a:ext>
            </a:extLst>
          </p:cNvPr>
          <p:cNvSpPr/>
          <p:nvPr/>
        </p:nvSpPr>
        <p:spPr>
          <a:xfrm>
            <a:off x="7728171" y="5086527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</a:t>
            </a:r>
            <a:r>
              <a:rPr lang="en-US" sz="2400" dirty="0" smtClean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7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1219544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</a:rPr>
              <a:t>To understand the concept, types, and applications of Line Encoding Techniques used for digital data transmission, and to </a:t>
            </a:r>
            <a:r>
              <a:rPr lang="en-IN" sz="1600" dirty="0" err="1">
                <a:latin typeface="Arial" panose="020B0604020202020204" pitchFamily="34" charset="0"/>
              </a:rPr>
              <a:t>analyze</a:t>
            </a:r>
            <a:r>
              <a:rPr lang="en-IN" sz="1600" dirty="0">
                <a:latin typeface="Arial" panose="020B0604020202020204" pitchFamily="34" charset="0"/>
              </a:rPr>
              <a:t> the advantages and disadvantages of each encoding method.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xmlns="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5EAD4E-C007-9DE7-A40A-12802D3C9611}"/>
              </a:ext>
            </a:extLst>
          </p:cNvPr>
          <p:cNvSpPr txBox="1"/>
          <p:nvPr/>
        </p:nvSpPr>
        <p:spPr>
          <a:xfrm>
            <a:off x="1694544" y="2438605"/>
            <a:ext cx="10439400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indent="-342900">
              <a:buFont typeface="+mj-lt"/>
              <a:buAutoNum type="arabicPeriod"/>
            </a:pPr>
            <a:r>
              <a:rPr lang="en-IN" sz="1600" dirty="0">
                <a:latin typeface="Arial" panose="020B0604020202020204" pitchFamily="34" charset="0"/>
              </a:rPr>
              <a:t>To understand and explain the principles and types of line encoding techniques used in </a:t>
            </a:r>
            <a:r>
              <a:rPr lang="en-IN" sz="1600" dirty="0" smtClean="0">
                <a:latin typeface="Arial" panose="020B0604020202020204" pitchFamily="34" charset="0"/>
              </a:rPr>
              <a:t>digital communication</a:t>
            </a:r>
            <a:r>
              <a:rPr lang="en-IN" sz="1600" dirty="0">
                <a:latin typeface="Arial" panose="020B0604020202020204" pitchFamily="34" charset="0"/>
              </a:rPr>
              <a:t>.</a:t>
            </a:r>
          </a:p>
          <a:p>
            <a:pPr indent="-342900">
              <a:buFont typeface="+mj-lt"/>
              <a:buAutoNum type="arabicPeriod"/>
            </a:pPr>
            <a:r>
              <a:rPr lang="en-IN" sz="1600" dirty="0">
                <a:latin typeface="Arial" panose="020B0604020202020204" pitchFamily="34" charset="0"/>
              </a:rPr>
              <a:t>To apply and compare different line encoding methods for effective data transmission and synchronization.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xmlns="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xmlns="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xmlns="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xmlns="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39157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0BB8E68-8B73-12DE-615E-1091F19A9A9A}"/>
              </a:ext>
            </a:extLst>
          </p:cNvPr>
          <p:cNvSpPr txBox="1"/>
          <p:nvPr/>
        </p:nvSpPr>
        <p:spPr>
          <a:xfrm>
            <a:off x="1180507" y="4781915"/>
            <a:ext cx="10953437" cy="181588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Arial" pitchFamily="34" charset="0"/>
                <a:cs typeface="Arial" pitchFamily="34" charset="0"/>
              </a:rPr>
              <a:t>Identify and describe various encoding techniques used in digital communication, such as NRZ, Manchester, and AMI.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Arial" pitchFamily="34" charset="0"/>
                <a:cs typeface="Arial" pitchFamily="34" charset="0"/>
              </a:rPr>
              <a:t>Differentiate between encoding schemes based on their characteristics like bandwidth, synchronization, and error detection.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Arial" pitchFamily="34" charset="0"/>
                <a:cs typeface="Arial" pitchFamily="34" charset="0"/>
              </a:rPr>
              <a:t>Illustrate the signal waveform for a given binary data using appropriate encoding methods.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856B8BB-1532-4824-8B5B-019099A7B60F}"/>
              </a:ext>
            </a:extLst>
          </p:cNvPr>
          <p:cNvSpPr txBox="1"/>
          <p:nvPr/>
        </p:nvSpPr>
        <p:spPr>
          <a:xfrm>
            <a:off x="887895" y="812800"/>
            <a:ext cx="10723533" cy="5289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 fontAlgn="auto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Data element: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is the smallest entity that can represent a piece of information: this is the</a:t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bit. In digital data communications, a signal element carries data elements.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Signal element: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is the shortest unit (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time-wise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) of a digital signal. 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other words, data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elements are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what we need to send; signal elements are what we can send. Data elements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are being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carried; signal elements are the carriers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 fontAlgn="auto"/>
            <a:endParaRPr lang="en-IN" sz="2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r>
              <a:rPr lang="en-IN" sz="2400" b="1" u="sng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IN" sz="2400" b="1" u="sng" dirty="0">
                <a:latin typeface="Times New Roman" pitchFamily="18" charset="0"/>
                <a:cs typeface="Times New Roman" pitchFamily="18" charset="0"/>
              </a:rPr>
              <a:t>Rate </a:t>
            </a:r>
            <a:r>
              <a:rPr lang="en-IN" sz="2400" b="1" u="sng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IN" sz="2400" b="1" u="sng" dirty="0">
                <a:latin typeface="Times New Roman" pitchFamily="18" charset="0"/>
                <a:cs typeface="Times New Roman" pitchFamily="18" charset="0"/>
              </a:rPr>
              <a:t>Signal Rate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endParaRPr lang="en-IN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auto">
              <a:buFont typeface="Wingdings" pitchFamily="2" charset="2"/>
              <a:buChar char="Ø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data rate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defines the number of data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elements (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bits) sent in Is. The unit is bits per second (bps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data rate is sometimes called the bit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rate</a:t>
            </a:r>
          </a:p>
          <a:p>
            <a:pPr marL="342900" indent="-342900" algn="just" fontAlgn="auto">
              <a:buFont typeface="Wingdings" pitchFamily="2" charset="2"/>
              <a:buChar char="Ø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signal rate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is the number of signal elements sent in Is. The unit is the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baud. The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signal rate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is sometimes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called the pulse rate, the modulation rate, or the baud rate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 fontAlgn="auto"/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DIGITAL-TO-DIGITAL CONVERSION</a:t>
            </a:r>
            <a:endParaRPr lang="en-US" sz="2400" b="1" dirty="0"/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487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856B8BB-1532-4824-8B5B-019099A7B60F}"/>
              </a:ext>
            </a:extLst>
          </p:cNvPr>
          <p:cNvSpPr txBox="1"/>
          <p:nvPr/>
        </p:nvSpPr>
        <p:spPr>
          <a:xfrm>
            <a:off x="887895" y="812800"/>
            <a:ext cx="10723533" cy="5289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400" dirty="0">
                <a:latin typeface="Times New Roman" pitchFamily="18" charset="0"/>
                <a:cs typeface="Times New Roman" pitchFamily="18" charset="0"/>
              </a:rPr>
            </a:b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How we can represent digital data by using digital signals?</a:t>
            </a:r>
          </a:p>
          <a:p>
            <a:pPr algn="just" fontAlgn="auto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conversion involves three techniques:</a:t>
            </a:r>
          </a:p>
          <a:p>
            <a:pPr marL="342900" indent="469900" algn="just" fontAlgn="auto">
              <a:buFont typeface="Wingdings" pitchFamily="2" charset="2"/>
              <a:buChar char="Ø"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line coding</a:t>
            </a:r>
          </a:p>
          <a:p>
            <a:pPr marL="342900" indent="469900" algn="just" fontAlgn="auto"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block coding</a:t>
            </a:r>
          </a:p>
          <a:p>
            <a:pPr marL="342900" indent="469900" algn="just" fontAlgn="auto">
              <a:buFont typeface="Wingdings" pitchFamily="2" charset="2"/>
              <a:buChar char="Ø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scrambling</a:t>
            </a:r>
          </a:p>
          <a:p>
            <a:pPr algn="just" fontAlgn="auto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Line coding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is always needed; block coding and scrambling may or may not be needed.</a:t>
            </a:r>
          </a:p>
          <a:p>
            <a:pPr algn="just" fontAlgn="auto"/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DIGITAL-TO-DIGITAL CONVERSION</a:t>
            </a:r>
            <a:endParaRPr lang="en-US" sz="2400" b="1" dirty="0"/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163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856B8BB-1532-4824-8B5B-019099A7B60F}"/>
              </a:ext>
            </a:extLst>
          </p:cNvPr>
          <p:cNvSpPr txBox="1"/>
          <p:nvPr/>
        </p:nvSpPr>
        <p:spPr>
          <a:xfrm>
            <a:off x="689113" y="848382"/>
            <a:ext cx="10601739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fontAlgn="auto"/>
            <a:r>
              <a:rPr lang="en-IN" sz="2400" b="1" dirty="0" smtClean="0"/>
              <a:t>Line Coding</a:t>
            </a:r>
          </a:p>
          <a:p>
            <a:pPr fontAlgn="auto"/>
            <a:endParaRPr lang="en-IN" sz="2400" b="1" dirty="0"/>
          </a:p>
          <a:p>
            <a:pPr marL="715963" algn="just" fontAlgn="auto">
              <a:buFont typeface="Wingdings" pitchFamily="2" charset="2"/>
              <a:buChar char="Ø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coding is the process of converting digital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data to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signals.</a:t>
            </a:r>
          </a:p>
          <a:p>
            <a:pPr marL="981075" indent="-265113" algn="just" fontAlgn="auto">
              <a:buFont typeface="Wingdings" pitchFamily="2" charset="2"/>
              <a:buChar char="Ø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assume that data, in the form of text, numbers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, graphical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images, audio, or video, are stored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in computer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memory as sequences of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bits.</a:t>
            </a:r>
          </a:p>
          <a:p>
            <a:pPr marL="715963" algn="just" fontAlgn="auto">
              <a:buFont typeface="Wingdings" pitchFamily="2" charset="2"/>
              <a:buChar char="Ø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coding converts a sequence of bits to a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digital signal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At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sender, digital data are encoded into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 digital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signal; at the receiver, the digital data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are recreated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by decoding the digital signal.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IN" sz="2400" b="1" cap="all" dirty="0"/>
              <a:t>Line Coding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314" y="4205288"/>
            <a:ext cx="8490857" cy="23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033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856B8BB-1532-4824-8B5B-019099A7B60F}"/>
              </a:ext>
            </a:extLst>
          </p:cNvPr>
          <p:cNvSpPr txBox="1"/>
          <p:nvPr/>
        </p:nvSpPr>
        <p:spPr>
          <a:xfrm>
            <a:off x="137157" y="787358"/>
            <a:ext cx="11779071" cy="5315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80975" algn="just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42925" indent="-36195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SIGNAL ELEMENTS VS DATA ELEMENTS</a:t>
            </a:r>
            <a:endParaRPr lang="en-US" sz="2400" b="1" dirty="0"/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793" y="787358"/>
            <a:ext cx="9353550" cy="5700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522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085835" y="268688"/>
            <a:ext cx="6210565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IN" sz="2400" b="1" cap="all" dirty="0"/>
              <a:t>Line Coding Schemes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262742" y="1174828"/>
            <a:ext cx="1001485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/>
            <a:r>
              <a:rPr lang="en-IN" sz="2800" b="1" dirty="0"/>
              <a:t>Line Coding Schemes</a:t>
            </a:r>
          </a:p>
          <a:p>
            <a:pPr fontAlgn="auto"/>
            <a:endParaRPr lang="en-IN" sz="2400" dirty="0" smtClean="0"/>
          </a:p>
          <a:p>
            <a:pPr fontAlgn="auto"/>
            <a:r>
              <a:rPr lang="en-IN" sz="2400" dirty="0" smtClean="0"/>
              <a:t>We </a:t>
            </a:r>
            <a:r>
              <a:rPr lang="en-IN" sz="2400" dirty="0"/>
              <a:t>can roughly divide line coding schemes into </a:t>
            </a:r>
            <a:r>
              <a:rPr lang="en-IN" sz="2400" dirty="0" smtClean="0"/>
              <a:t>five broad categories</a:t>
            </a:r>
            <a:r>
              <a:rPr lang="en-IN" sz="2400" dirty="0"/>
              <a:t>.</a:t>
            </a:r>
          </a:p>
          <a:p>
            <a:pPr fontAlgn="auto"/>
            <a:r>
              <a:rPr lang="en-IN" sz="2400" dirty="0"/>
              <a:t>There are several schemes in each category.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389" y="2744489"/>
            <a:ext cx="9402989" cy="3946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110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UNIPOLAR NRZ</a:t>
            </a:r>
            <a:endParaRPr lang="en-US" sz="2400" b="1" dirty="0"/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172" y="1777261"/>
            <a:ext cx="5413828" cy="328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42636" y="1032025"/>
            <a:ext cx="6435536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 smtClean="0"/>
              <a:t>Unipolar NRZ</a:t>
            </a:r>
          </a:p>
          <a:p>
            <a:endParaRPr lang="en-IN" b="1" dirty="0" smtClean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a unipolar scheme, all the signal levels are on one side of the time axis, either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above or below.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NRZ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(Non-Return-to-Zero) Traditionally, a unipolar scheme was designed as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non-return-to-zero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(NRZ) scheme in which the positive voltage defines bit I and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zero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voltage defines bit O.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is called NRZ because the signal does not return to zero at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the middle of the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bit.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50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POLAR NRZ</a:t>
            </a:r>
            <a:endParaRPr lang="en-US" sz="2400" b="1" dirty="0"/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095" y="1370920"/>
            <a:ext cx="6776357" cy="4013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4171" y="897715"/>
            <a:ext cx="5384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u="sng" dirty="0" smtClean="0">
                <a:latin typeface="Times New Roman" pitchFamily="18" charset="0"/>
                <a:cs typeface="Times New Roman" pitchFamily="18" charset="0"/>
              </a:rPr>
              <a:t>Polar NRZ</a:t>
            </a:r>
          </a:p>
          <a:p>
            <a:pPr algn="just"/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polar schemes, the voltages are on the both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sides of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the time axis. For example,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voltage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level for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0 can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be positive and the voltage level for I can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be negative.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Non-Return-to-Zero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(NRZ) In polar NRZ encoding, we use two levels of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voltage amplitude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 We can have two versions of polar NRZ: NRZ-Land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NRZ-I. In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the first variation, NRZ-L (NRZ-Level), the level of the voltage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determines 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value of the bit. In the second variation, NRZ-I (NRZ-Invert), the change or lack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of change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in the level of the voltage determines the value of the bit.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there is no change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, 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bit is 0; if there is a change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, 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bit is 1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47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POLAR RZ</a:t>
            </a:r>
            <a:endParaRPr lang="en-US" sz="2400" b="1" dirty="0"/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80571" y="1098740"/>
            <a:ext cx="538480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u="sng" dirty="0" smtClean="0">
                <a:latin typeface="Times New Roman" pitchFamily="18" charset="0"/>
                <a:cs typeface="Times New Roman" pitchFamily="18" charset="0"/>
              </a:rPr>
              <a:t>Polar RZ</a:t>
            </a:r>
          </a:p>
          <a:p>
            <a:pPr algn="just"/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The main problem with NRZ encoding occurs when the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sender and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receiver clocks are not synchronized. The receiver does not know when one bit has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ended and the next bit is starting.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solution is the return-to-zero (RZ) scheme,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which uses three values: positive, negative, and zero.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RZ, the signal changes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not between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but during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the bit. In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Figure we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see that the signal goes to 0 in the middle of each bit. It remains there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until 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beginning of the next bit.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371" y="1502392"/>
            <a:ext cx="6027078" cy="346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438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POLAR Biphase</a:t>
            </a:r>
            <a:endParaRPr lang="en-US" sz="2400" b="1" dirty="0"/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80571" y="1055198"/>
            <a:ext cx="53848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u="sng" dirty="0" smtClean="0">
                <a:latin typeface="Times New Roman" pitchFamily="18" charset="0"/>
                <a:cs typeface="Times New Roman" pitchFamily="18" charset="0"/>
              </a:rPr>
              <a:t>Polar </a:t>
            </a:r>
            <a:r>
              <a:rPr lang="en-IN" sz="2000" b="1" u="sng" dirty="0" err="1" smtClean="0">
                <a:latin typeface="Times New Roman" pitchFamily="18" charset="0"/>
                <a:cs typeface="Times New Roman" pitchFamily="18" charset="0"/>
              </a:rPr>
              <a:t>Biphase</a:t>
            </a:r>
            <a:endParaRPr lang="en-IN" sz="2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Biphase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: Manchester and Differential Manchester 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idea of RZ (transition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at 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middle of the bit) and the idea of NRZ-L are combined into the Manchester scheme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Manchester encoding, the duration of the bit is divided into two halves. The voltage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remains at one level during the first half and moves to the other level in the second half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transition at the middle of the bit provides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synchronization.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Differential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Manchester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, on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the other hand, combines the ideas of RZ and NRZ-I. There is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always a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transition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at 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middle of the bit, but the bit values are determined at the beginning of the bit.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If the next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bit is 0, there is a transition; if the next bit is 1, there is none.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114" y="1857818"/>
            <a:ext cx="5892797" cy="404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550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Bipolar </a:t>
            </a:r>
            <a:endParaRPr lang="en-US" sz="2400" b="1" dirty="0"/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xmlns="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085" y="1543053"/>
            <a:ext cx="5500915" cy="3943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74170" y="1027837"/>
            <a:ext cx="651691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 smtClean="0"/>
              <a:t>Bipolar </a:t>
            </a:r>
            <a:r>
              <a:rPr lang="en-IN" b="1" dirty="0"/>
              <a:t>encoding (sometimes called </a:t>
            </a:r>
            <a:r>
              <a:rPr lang="en-IN" b="1" i="1" dirty="0"/>
              <a:t>multilevel binary</a:t>
            </a:r>
            <a:r>
              <a:rPr lang="en-IN" b="1" i="1" dirty="0" smtClean="0"/>
              <a:t>)</a:t>
            </a:r>
            <a:endParaRPr lang="en-IN" i="1" dirty="0"/>
          </a:p>
          <a:p>
            <a:pPr algn="just"/>
            <a:endParaRPr lang="en-IN" i="1" dirty="0" smtClean="0"/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/>
              <a:t>There are three </a:t>
            </a:r>
            <a:r>
              <a:rPr lang="en-IN" dirty="0"/>
              <a:t>voltage levels: positive, negative, and zero. </a:t>
            </a:r>
            <a:endParaRPr lang="en-IN" dirty="0" smtClean="0"/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/>
              <a:t>The </a:t>
            </a:r>
            <a:r>
              <a:rPr lang="en-IN" dirty="0"/>
              <a:t>voltage </a:t>
            </a:r>
            <a:r>
              <a:rPr lang="en-IN" dirty="0" smtClean="0"/>
              <a:t>level for </a:t>
            </a:r>
            <a:r>
              <a:rPr lang="en-IN" dirty="0"/>
              <a:t>one data element is at zero, </a:t>
            </a:r>
            <a:r>
              <a:rPr lang="en-IN" dirty="0" smtClean="0"/>
              <a:t>while the </a:t>
            </a:r>
            <a:r>
              <a:rPr lang="en-IN" dirty="0"/>
              <a:t>voltage level for the </a:t>
            </a:r>
            <a:r>
              <a:rPr lang="en-IN" dirty="0" smtClean="0"/>
              <a:t>other element </a:t>
            </a:r>
            <a:r>
              <a:rPr lang="en-IN" dirty="0"/>
              <a:t>alternates between positive and negative. </a:t>
            </a:r>
            <a:r>
              <a:rPr lang="en-IN" dirty="0" smtClean="0"/>
              <a:t> </a:t>
            </a:r>
          </a:p>
          <a:p>
            <a:pPr algn="just"/>
            <a:endParaRPr lang="en-IN" dirty="0"/>
          </a:p>
          <a:p>
            <a:pPr algn="just"/>
            <a:r>
              <a:rPr lang="en-IN" b="1" u="sng" dirty="0"/>
              <a:t>AMI and </a:t>
            </a:r>
            <a:r>
              <a:rPr lang="en-IN" b="1" u="sng" dirty="0" err="1"/>
              <a:t>Pseudoternary</a:t>
            </a:r>
            <a:r>
              <a:rPr lang="en-IN" b="1" dirty="0"/>
              <a:t> </a:t>
            </a:r>
            <a:endParaRPr lang="en-IN" b="1" dirty="0" smtClean="0"/>
          </a:p>
          <a:p>
            <a:pPr algn="just"/>
            <a:endParaRPr lang="en-IN" b="1" dirty="0" smtClean="0"/>
          </a:p>
          <a:p>
            <a:pPr algn="just"/>
            <a:r>
              <a:rPr lang="en-IN" dirty="0" smtClean="0"/>
              <a:t>Bipolar alternate mark </a:t>
            </a:r>
            <a:r>
              <a:rPr lang="en-IN" dirty="0"/>
              <a:t>inversion (AMI). </a:t>
            </a:r>
            <a:endParaRPr lang="en-IN" dirty="0" smtClean="0"/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/>
              <a:t>In </a:t>
            </a:r>
            <a:r>
              <a:rPr lang="en-IN" dirty="0"/>
              <a:t>the term </a:t>
            </a:r>
            <a:r>
              <a:rPr lang="en-IN" i="1" dirty="0"/>
              <a:t>alternate mark inversion, </a:t>
            </a:r>
            <a:r>
              <a:rPr lang="en-IN" dirty="0"/>
              <a:t>the word </a:t>
            </a:r>
            <a:r>
              <a:rPr lang="en-IN" i="1" dirty="0"/>
              <a:t>mark </a:t>
            </a:r>
            <a:r>
              <a:rPr lang="en-IN" dirty="0"/>
              <a:t>comes</a:t>
            </a:r>
            <a:br>
              <a:rPr lang="en-IN" dirty="0"/>
            </a:br>
            <a:r>
              <a:rPr lang="en-IN" dirty="0"/>
              <a:t>from telegraphy and means 1. </a:t>
            </a:r>
            <a:endParaRPr lang="en-IN" dirty="0" smtClean="0"/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/>
              <a:t>So </a:t>
            </a:r>
            <a:r>
              <a:rPr lang="en-IN" dirty="0"/>
              <a:t>AMI means alternate I inversion. </a:t>
            </a:r>
            <a:endParaRPr lang="en-IN" dirty="0" smtClean="0"/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/>
              <a:t>A </a:t>
            </a:r>
            <a:r>
              <a:rPr lang="en-IN" dirty="0"/>
              <a:t>neutral zero voltage represents binary </a:t>
            </a:r>
            <a:r>
              <a:rPr lang="en-IN" dirty="0" smtClean="0"/>
              <a:t>0.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/>
              <a:t>Binary I’s </a:t>
            </a:r>
            <a:r>
              <a:rPr lang="en-IN" dirty="0"/>
              <a:t>are represented by alternating positive and negative</a:t>
            </a:r>
            <a:br>
              <a:rPr lang="en-IN" dirty="0"/>
            </a:br>
            <a:r>
              <a:rPr lang="en-IN" dirty="0"/>
              <a:t>voltages. </a:t>
            </a:r>
            <a:endParaRPr lang="en-IN" dirty="0" smtClean="0"/>
          </a:p>
          <a:p>
            <a:pPr marL="285750" indent="-285750" algn="just">
              <a:buFont typeface="Wingdings" pitchFamily="2" charset="2"/>
              <a:buChar char="Ø"/>
            </a:pPr>
            <a:endParaRPr lang="en-IN" dirty="0" smtClean="0"/>
          </a:p>
          <a:p>
            <a:pPr algn="just"/>
            <a:r>
              <a:rPr lang="en-IN" dirty="0" err="1" smtClean="0"/>
              <a:t>Pseudoternary</a:t>
            </a:r>
            <a:endParaRPr lang="en-IN" dirty="0" smtClean="0"/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dirty="0" smtClean="0"/>
              <a:t>the </a:t>
            </a:r>
            <a:r>
              <a:rPr lang="en-IN" dirty="0"/>
              <a:t>1 bit </a:t>
            </a:r>
            <a:r>
              <a:rPr lang="en-IN" dirty="0" smtClean="0"/>
              <a:t>is encoded </a:t>
            </a:r>
            <a:r>
              <a:rPr lang="en-IN" dirty="0"/>
              <a:t>as a zero voltage and the 0 bit is encoded as alternating positive and </a:t>
            </a:r>
            <a:r>
              <a:rPr lang="en-IN" dirty="0" smtClean="0"/>
              <a:t>negative voltages.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85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xmlns="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Which of the following is a characteristic of Non-Return-to-Zero (NRZ) encoding?</a:t>
            </a:r>
            <a:endParaRPr lang="en-US"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xmlns="" id="{5D8B791C-9B35-CF16-C192-D202E0DB9A60}"/>
              </a:ext>
            </a:extLst>
          </p:cNvPr>
          <p:cNvSpPr/>
          <p:nvPr/>
        </p:nvSpPr>
        <p:spPr>
          <a:xfrm>
            <a:off x="1009894" y="1501442"/>
            <a:ext cx="5898906" cy="10386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IN" sz="1600" dirty="0"/>
              <a:t>Uses three voltage </a:t>
            </a:r>
            <a:r>
              <a:rPr lang="en-IN" sz="1600" dirty="0" smtClean="0"/>
              <a:t>levels</a:t>
            </a:r>
          </a:p>
          <a:p>
            <a:pPr marL="342900" indent="-342900">
              <a:buAutoNum type="alphaLcParenBoth"/>
            </a:pPr>
            <a:r>
              <a:rPr lang="en-IN" sz="1600" dirty="0"/>
              <a:t>Has a transition at the middle of each </a:t>
            </a:r>
            <a:r>
              <a:rPr lang="en-IN" sz="1600" dirty="0" smtClean="0"/>
              <a:t>bit</a:t>
            </a:r>
          </a:p>
          <a:p>
            <a:pPr marL="342900" indent="-342900">
              <a:buAutoNum type="alphaLcParenBoth"/>
            </a:pPr>
            <a:r>
              <a:rPr lang="en-IN" sz="1600" dirty="0"/>
              <a:t>Maintains constant voltage for the entire bit </a:t>
            </a:r>
            <a:r>
              <a:rPr lang="en-IN" sz="1600" dirty="0" smtClean="0"/>
              <a:t>duration</a:t>
            </a:r>
          </a:p>
          <a:p>
            <a:pPr marL="342900" indent="-342900">
              <a:buAutoNum type="alphaLcParenBoth"/>
            </a:pPr>
            <a:r>
              <a:rPr lang="en-IN" sz="1600" dirty="0"/>
              <a:t>Is self-clocking</a:t>
            </a: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xmlns="" id="{BB41B87C-BE5F-4BF2-531D-57DC21D1A451}"/>
              </a:ext>
            </a:extLst>
          </p:cNvPr>
          <p:cNvSpPr/>
          <p:nvPr/>
        </p:nvSpPr>
        <p:spPr>
          <a:xfrm>
            <a:off x="100989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IN" sz="1600" dirty="0">
                <a:solidFill>
                  <a:schemeClr val="bg1"/>
                </a:solidFill>
              </a:rPr>
              <a:t>Which encoding technique ensures synchronization by making a transition in the middle of each bit?</a:t>
            </a:r>
            <a:endParaRPr lang="en-US"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xmlns="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3177245" cy="125807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IN" dirty="0" smtClean="0"/>
              <a:t>NRZ-Level</a:t>
            </a:r>
          </a:p>
          <a:p>
            <a:pPr marL="342900" indent="-342900">
              <a:buAutoNum type="alphaLcParenBoth"/>
            </a:pPr>
            <a:r>
              <a:rPr lang="en-IN" dirty="0"/>
              <a:t>Manchester</a:t>
            </a:r>
            <a:endParaRPr lang="en-US" dirty="0"/>
          </a:p>
          <a:p>
            <a:pPr marL="342900" indent="-342900">
              <a:buAutoNum type="alphaLcParenBoth"/>
            </a:pPr>
            <a:r>
              <a:rPr lang="en-IN" dirty="0" smtClean="0"/>
              <a:t>NRZ-Inverted</a:t>
            </a:r>
          </a:p>
          <a:p>
            <a:pPr marL="342900" indent="-342900">
              <a:buFontTx/>
              <a:buAutoNum type="alphaLcParenBoth"/>
            </a:pPr>
            <a:r>
              <a:rPr lang="en-IN" sz="1600" dirty="0"/>
              <a:t>Unipolar </a:t>
            </a:r>
            <a:r>
              <a:rPr lang="en-IN" sz="1600" dirty="0" smtClean="0"/>
              <a:t>NRZ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xmlns="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</a:t>
            </a:r>
            <a:r>
              <a:rPr lang="en-IN" sz="1600" dirty="0">
                <a:solidFill>
                  <a:schemeClr val="bg1"/>
                </a:solidFill>
              </a:rPr>
              <a:t>In NRZ-Inverted (NRZI) encoding, a transition at the beginning of the bit interval indicates:</a:t>
            </a:r>
            <a:endParaRPr lang="en-US"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3162713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IN" dirty="0"/>
              <a:t>A '0' bit</a:t>
            </a:r>
            <a:endParaRPr lang="en-US" dirty="0"/>
          </a:p>
          <a:p>
            <a:pPr marL="342900" indent="-342900">
              <a:buAutoNum type="alphaLcParenBoth"/>
            </a:pPr>
            <a:r>
              <a:rPr lang="en-IN" dirty="0"/>
              <a:t>A '1' </a:t>
            </a:r>
            <a:r>
              <a:rPr lang="en-IN" dirty="0" smtClean="0"/>
              <a:t>bit</a:t>
            </a:r>
          </a:p>
          <a:p>
            <a:pPr marL="342900" indent="-342900">
              <a:buAutoNum type="alphaLcParenBoth"/>
            </a:pPr>
            <a:r>
              <a:rPr lang="en-IN" dirty="0"/>
              <a:t>No </a:t>
            </a:r>
            <a:r>
              <a:rPr lang="en-IN" dirty="0" smtClean="0"/>
              <a:t>data</a:t>
            </a:r>
            <a:endParaRPr lang="en-US" dirty="0"/>
          </a:p>
          <a:p>
            <a:pPr marL="342900" indent="-342900">
              <a:buAutoNum type="alphaLcParenBoth"/>
            </a:pPr>
            <a:r>
              <a:rPr lang="en-IN" sz="1600" dirty="0"/>
              <a:t>Synchronization </a:t>
            </a:r>
            <a:r>
              <a:rPr lang="en-IN" sz="1600" dirty="0" smtClean="0"/>
              <a:t>signal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43486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xmlns="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751" y="1379529"/>
            <a:ext cx="5761220" cy="4792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Goudy Old Style" panose="02020502050305020303" pitchFamily="18" charset="0"/>
              </a:rPr>
              <a:t>Encoding Techniques</a:t>
            </a:r>
            <a:endParaRPr lang="en-US" b="1" dirty="0">
              <a:latin typeface="Goudy Old Style" panose="02020502050305020303" pitchFamily="18" charset="0"/>
            </a:endParaRPr>
          </a:p>
          <a:p>
            <a:pPr lvl="1"/>
            <a:r>
              <a:rPr lang="en-US" dirty="0" smtClean="0">
                <a:latin typeface="Goudy Old Style" panose="02020502050305020303" pitchFamily="18" charset="0"/>
              </a:rPr>
              <a:t>Unipolar</a:t>
            </a:r>
          </a:p>
          <a:p>
            <a:pPr marL="457200" lvl="1" indent="0">
              <a:buNone/>
            </a:pPr>
            <a:r>
              <a:rPr lang="en-US" dirty="0" smtClean="0">
                <a:latin typeface="Goudy Old Style" panose="02020502050305020303" pitchFamily="18" charset="0"/>
              </a:rPr>
              <a:t>		NRZ</a:t>
            </a:r>
          </a:p>
          <a:p>
            <a:pPr lvl="1"/>
            <a:r>
              <a:rPr lang="en-US" dirty="0" smtClean="0">
                <a:latin typeface="Goudy Old Style" panose="02020502050305020303" pitchFamily="18" charset="0"/>
              </a:rPr>
              <a:t>Polar</a:t>
            </a:r>
          </a:p>
          <a:p>
            <a:pPr marL="457200" lvl="1" indent="0">
              <a:buNone/>
            </a:pPr>
            <a:r>
              <a:rPr lang="en-US" dirty="0" smtClean="0">
                <a:latin typeface="Goudy Old Style" panose="02020502050305020303" pitchFamily="18" charset="0"/>
              </a:rPr>
              <a:t>		NRZ, RZ, Biphase</a:t>
            </a:r>
          </a:p>
          <a:p>
            <a:pPr lvl="1"/>
            <a:r>
              <a:rPr lang="en-US" dirty="0" smtClean="0">
                <a:latin typeface="Goudy Old Style" panose="02020502050305020303" pitchFamily="18" charset="0"/>
              </a:rPr>
              <a:t>Bipolar</a:t>
            </a:r>
            <a:endParaRPr lang="en-US" dirty="0">
              <a:latin typeface="Goudy Old Style" panose="02020502050305020303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Goudy Old Style" panose="02020502050305020303" pitchFamily="18" charset="0"/>
              </a:rPr>
              <a:t>	</a:t>
            </a:r>
            <a:r>
              <a:rPr lang="en-US" dirty="0" smtClean="0">
                <a:latin typeface="Goudy Old Style" panose="02020502050305020303" pitchFamily="18" charset="0"/>
              </a:rPr>
              <a:t>	AMI, </a:t>
            </a:r>
            <a:r>
              <a:rPr lang="en-US" dirty="0" err="1" smtClean="0">
                <a:latin typeface="Goudy Old Style" panose="02020502050305020303" pitchFamily="18" charset="0"/>
              </a:rPr>
              <a:t>Pseudoternary</a:t>
            </a:r>
            <a:endParaRPr lang="en-US" dirty="0">
              <a:latin typeface="Goudy Old Style" panose="02020502050305020303" pitchFamily="18" charset="0"/>
            </a:endParaRP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lvl="1"/>
            <a:endParaRPr lang="en-US" dirty="0">
              <a:latin typeface="Goudy Old Style" panose="02020502050305020303" pitchFamily="18" charset="0"/>
            </a:endParaRPr>
          </a:p>
          <a:p>
            <a:pPr marL="457200" lvl="1" indent="0">
              <a:buNone/>
            </a:pPr>
            <a:endParaRPr lang="en-US" dirty="0">
              <a:latin typeface="Goudy Old Style" panose="020205020503050203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D42B019-8014-2532-89D1-4683F4DDF817}"/>
              </a:ext>
            </a:extLst>
          </p:cNvPr>
          <p:cNvSpPr txBox="1"/>
          <p:nvPr/>
        </p:nvSpPr>
        <p:spPr>
          <a:xfrm>
            <a:off x="5733798" y="300038"/>
            <a:ext cx="4820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Topic Summary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A1791C71-108A-8B8A-15C6-BBE56E18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297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 err="1"/>
              <a:t>Behrouz</a:t>
            </a:r>
            <a:r>
              <a:rPr lang="en-IN" dirty="0"/>
              <a:t> A. </a:t>
            </a:r>
            <a:r>
              <a:rPr lang="en-IN" dirty="0" err="1"/>
              <a:t>Forouzan</a:t>
            </a:r>
            <a:r>
              <a:rPr lang="en-IN" dirty="0"/>
              <a:t> , “Data Communication and Networking”, TMH, 6th Edition ,(2012</a:t>
            </a:r>
            <a:r>
              <a:rPr lang="en-IN" dirty="0" smtClean="0"/>
              <a:t>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A.S</a:t>
            </a:r>
            <a:r>
              <a:rPr lang="en-US" dirty="0"/>
              <a:t>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https://www.geeksforgeeks.org/types-of-transmission-technology/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3"/>
              </a:rPr>
              <a:t>https://www.tutorialspoint.com/data_communication_computer_network/computer_network_topologies.htm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>
                <a:hlinkClick r:id="rId4"/>
              </a:rPr>
              <a:t>https://www.javatpoint.com/computer-network-transmission-modes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143500" y="3451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>
            <a:off x="2478698" y="17807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</a:t>
            </a:r>
            <a:r>
              <a:rPr lang="en-US" sz="2400" b="1" dirty="0" smtClean="0">
                <a:latin typeface="Poppins" pitchFamily="2" charset="77"/>
                <a:cs typeface="Poppins" pitchFamily="2" charset="77"/>
              </a:rPr>
              <a:t>Computer Networks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2454</TotalTime>
  <Words>841</Words>
  <Application>Microsoft Office PowerPoint</Application>
  <PresentationFormat>Custom</PresentationFormat>
  <Paragraphs>156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Tushar</cp:lastModifiedBy>
  <cp:revision>114</cp:revision>
  <dcterms:created xsi:type="dcterms:W3CDTF">2020-02-08T09:57:44Z</dcterms:created>
  <dcterms:modified xsi:type="dcterms:W3CDTF">2025-07-29T01:25:27Z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