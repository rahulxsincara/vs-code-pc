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71" r:id="rId5"/>
    <p:sldId id="300" r:id="rId6"/>
    <p:sldId id="258" r:id="rId7"/>
    <p:sldId id="260" r:id="rId8"/>
    <p:sldId id="310" r:id="rId9"/>
    <p:sldId id="262" r:id="rId10"/>
    <p:sldId id="321" r:id="rId11"/>
    <p:sldId id="431" r:id="rId12"/>
    <p:sldId id="432" r:id="rId13"/>
    <p:sldId id="433" r:id="rId14"/>
    <p:sldId id="274" r:id="rId15"/>
    <p:sldId id="302" r:id="rId16"/>
    <p:sldId id="303" r:id="rId17"/>
    <p:sldId id="30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0E1A7E-F221-4A84-7299-63B4F79F1D23}" v="31" dt="2025-07-15T05:05:39.481"/>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7" d="100"/>
          <a:sy n="67" d="100"/>
        </p:scale>
        <p:origin x="548"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Kanti De" userId="S::vit.tushar@kluniversity.in::7b4f7e15-ba50-4f9a-a6ae-1e38b5a8a216" providerId="AD" clId="Web-{CE0E1A7E-F221-4A84-7299-63B4F79F1D23}"/>
    <pc:docChg chg="modSld">
      <pc:chgData name="Tushar Kanti De" userId="S::vit.tushar@kluniversity.in::7b4f7e15-ba50-4f9a-a6ae-1e38b5a8a216" providerId="AD" clId="Web-{CE0E1A7E-F221-4A84-7299-63B4F79F1D23}" dt="2025-07-15T05:05:36.449" v="12" actId="20577"/>
      <pc:docMkLst>
        <pc:docMk/>
      </pc:docMkLst>
      <pc:sldChg chg="modSp">
        <pc:chgData name="Tushar Kanti De" userId="S::vit.tushar@kluniversity.in::7b4f7e15-ba50-4f9a-a6ae-1e38b5a8a216" providerId="AD" clId="Web-{CE0E1A7E-F221-4A84-7299-63B4F79F1D23}" dt="2025-07-15T05:05:25.433" v="11" actId="20577"/>
        <pc:sldMkLst>
          <pc:docMk/>
          <pc:sldMk cId="0" sldId="271"/>
        </pc:sldMkLst>
        <pc:spChg chg="mod">
          <ac:chgData name="Tushar Kanti De" userId="S::vit.tushar@kluniversity.in::7b4f7e15-ba50-4f9a-a6ae-1e38b5a8a216" providerId="AD" clId="Web-{CE0E1A7E-F221-4A84-7299-63B4F79F1D23}" dt="2025-07-15T05:05:25.433" v="11" actId="20577"/>
          <ac:spMkLst>
            <pc:docMk/>
            <pc:sldMk cId="0" sldId="271"/>
            <ac:spMk id="476" creationId="{00000000-0000-0000-0000-000000000000}"/>
          </ac:spMkLst>
        </pc:spChg>
      </pc:sldChg>
      <pc:sldChg chg="modSp">
        <pc:chgData name="Tushar Kanti De" userId="S::vit.tushar@kluniversity.in::7b4f7e15-ba50-4f9a-a6ae-1e38b5a8a216" providerId="AD" clId="Web-{CE0E1A7E-F221-4A84-7299-63B4F79F1D23}" dt="2025-07-15T05:05:36.449" v="12" actId="20577"/>
        <pc:sldMkLst>
          <pc:docMk/>
          <pc:sldMk cId="0" sldId="304"/>
        </pc:sldMkLst>
        <pc:spChg chg="mod">
          <ac:chgData name="Tushar Kanti De" userId="S::vit.tushar@kluniversity.in::7b4f7e15-ba50-4f9a-a6ae-1e38b5a8a216" providerId="AD" clId="Web-{CE0E1A7E-F221-4A84-7299-63B4F79F1D23}" dt="2025-07-15T05:05:36.449" v="12" actId="20577"/>
          <ac:spMkLst>
            <pc:docMk/>
            <pc:sldMk cId="0" sldId="304"/>
            <ac:spMk id="4" creationId="{E792BE84-3448-2348-B352-CD5BC083E5F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7/14/2025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val="1737198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7/14/2025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a:sym typeface="BioRhyme ExtraBold"/>
              </a:rPr>
              <a:t>COMPUTER NETWORKS</a:t>
            </a:r>
            <a:endParaRPr lang="en-US" dirty="0"/>
          </a:p>
          <a:p>
            <a:pPr marR="0" lvl="0" indent="0" algn="ctr">
              <a:spcBef>
                <a:spcPts val="0"/>
              </a:spcBef>
              <a:spcAft>
                <a:spcPts val="0"/>
              </a:spcAft>
              <a:buNone/>
            </a:pPr>
            <a:r>
              <a:rPr lang="en-US" sz="3200" b="1" cap="all" dirty="0">
                <a:ln/>
                <a:solidFill>
                  <a:srgbClr val="C00000"/>
                </a:solidFill>
                <a:cs typeface="Poppins"/>
                <a:sym typeface="BioRhyme ExtraBold"/>
              </a:rPr>
              <a:t>24CS2202</a:t>
            </a:r>
            <a:endParaRPr lang="en-US" dirty="0"/>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NAT and PAT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- 20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NAT and PAT protocols</a:t>
            </a:r>
            <a:r>
              <a:rPr lang="en-US" sz="1600" dirty="0">
                <a:latin typeface="Poppins"/>
                <a:cs typeface="Poppins"/>
              </a:rPr>
              <a:t>.</a:t>
            </a:r>
            <a:r>
              <a:rPr lang="en-US" sz="1600" b="0" i="0" dirty="0">
                <a:effectLst/>
                <a:latin typeface="Poppins"/>
                <a:cs typeface="Poppins"/>
              </a:rPr>
              <a:t> </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functionality of NAT protocol.</a:t>
            </a:r>
          </a:p>
          <a:p>
            <a:pPr marL="342900" indent="-342900">
              <a:buAutoNum type="arabicPeriod"/>
            </a:pPr>
            <a:r>
              <a:rPr lang="en-US" sz="1600" b="0" i="0" dirty="0">
                <a:effectLst/>
                <a:latin typeface="Arial" panose="020B0604020202020204" pitchFamily="34" charset="0"/>
              </a:rPr>
              <a:t>Describe the functionality of PAT</a:t>
            </a:r>
            <a:r>
              <a:rPr lang="en-US" sz="1600" dirty="0">
                <a:latin typeface="Arial" panose="020B0604020202020204" pitchFamily="34" charset="0"/>
              </a:rPr>
              <a: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importance of NAT protocol. </a:t>
            </a:r>
          </a:p>
          <a:p>
            <a:pPr marL="342900" indent="-342900">
              <a:buAutoNum type="arabicPeriod"/>
            </a:pPr>
            <a:r>
              <a:rPr lang="en-US" sz="1600" dirty="0">
                <a:latin typeface="Arial" panose="020B0604020202020204" pitchFamily="34" charset="0"/>
              </a:rPr>
              <a:t>Demonstrate the </a:t>
            </a:r>
            <a:r>
              <a:rPr lang="en-US" sz="1600" b="0" i="0" dirty="0">
                <a:effectLst/>
                <a:latin typeface="Arial" panose="020B0604020202020204" pitchFamily="34" charset="0"/>
              </a:rPr>
              <a:t>functionality of NAT process. </a:t>
            </a:r>
          </a:p>
          <a:p>
            <a:pPr marL="342900" indent="-342900">
              <a:buAutoNum type="arabicPeriod"/>
            </a:pPr>
            <a:r>
              <a:rPr lang="en-US" sz="1600" b="0" i="0" dirty="0">
                <a:effectLst/>
                <a:latin typeface="Arial" panose="020B0604020202020204" pitchFamily="34" charset="0"/>
              </a:rPr>
              <a:t>Demonstrate the functionality of PAT process.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1083212" y="2886074"/>
            <a:ext cx="10086536" cy="3856581"/>
          </a:xfrm>
        </p:spPr>
        <p:txBody>
          <a:bodyPr>
            <a:normAutofit/>
          </a:bodyPr>
          <a:lstStyle/>
          <a:p>
            <a:pPr marL="0" indent="0" algn="ctr">
              <a:buNone/>
            </a:pPr>
            <a:r>
              <a:rPr lang="en-US" sz="5400" dirty="0"/>
              <a:t>NAT</a:t>
            </a:r>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pPr algn="ctr"/>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4</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sp>
        <p:nvSpPr>
          <p:cNvPr id="5" name="TextBox 4">
            <a:extLst>
              <a:ext uri="{FF2B5EF4-FFF2-40B4-BE49-F238E27FC236}">
                <a16:creationId xmlns:a16="http://schemas.microsoft.com/office/drawing/2014/main" id="{64AEEFAD-7B3B-C7E3-219A-1AEBE5E8A09A}"/>
              </a:ext>
            </a:extLst>
          </p:cNvPr>
          <p:cNvSpPr txBox="1"/>
          <p:nvPr/>
        </p:nvSpPr>
        <p:spPr>
          <a:xfrm>
            <a:off x="838200" y="1314578"/>
            <a:ext cx="10810461" cy="4455066"/>
          </a:xfrm>
          <a:prstGeom prst="rect">
            <a:avLst/>
          </a:prstGeom>
          <a:noFill/>
        </p:spPr>
        <p:txBody>
          <a:bodyPr wrap="square">
            <a:spAutoFit/>
          </a:bodyPr>
          <a:lstStyle/>
          <a:p>
            <a:pPr marL="171450" marR="0" lvl="0" indent="-1714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en-US" sz="1050" b="1" i="1" u="sng"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altLang="en-US" sz="9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32-bit IP address become scarce due to its limitation in the number of addresses.</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Scenario can be like having IP address assigned dynamically, that is, when required we get an IP address from ISP, and when the session is terminated it can be allocated to some other.</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But people working in business applications needs to access internet continuously.</a:t>
            </a: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200" b="0" i="0" u="none" strike="noStrike" kern="1200" cap="none" spc="0" normalizeH="0" baseline="0" noProof="0" dirty="0">
                <a:ln>
                  <a:noFill/>
                </a:ln>
                <a:solidFill>
                  <a:prstClr val="black"/>
                </a:solidFill>
                <a:effectLst/>
                <a:uLnTx/>
                <a:uFillTx/>
                <a:latin typeface="Gill Sans MT" panose="020B0502020104020203"/>
                <a:ea typeface="+mn-ea"/>
                <a:cs typeface="+mn-cs"/>
              </a:rPr>
              <a:t>NAT is used to reduce the no. of IP addresses that an organization needs.</a:t>
            </a:r>
          </a:p>
        </p:txBody>
      </p:sp>
    </p:spTree>
    <p:extLst>
      <p:ext uri="{BB962C8B-B14F-4D97-AF65-F5344CB8AC3E}">
        <p14:creationId xmlns:p14="http://schemas.microsoft.com/office/powerpoint/2010/main" val="3044177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1531-1864-34DA-FAC1-BE5B846817C3}"/>
              </a:ext>
            </a:extLst>
          </p:cNvPr>
          <p:cNvSpPr>
            <a:spLocks noGrp="1"/>
          </p:cNvSpPr>
          <p:nvPr>
            <p:ph type="title"/>
          </p:nvPr>
        </p:nvSpPr>
        <p:spPr>
          <a:xfrm>
            <a:off x="838200" y="365126"/>
            <a:ext cx="10515600" cy="577850"/>
          </a:xfrm>
        </p:spPr>
        <p:txBody>
          <a:bodyPr/>
          <a:lstStyle/>
          <a:p>
            <a:r>
              <a:rPr lang="en-US" sz="32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3200" b="0" i="0" dirty="0">
                <a:solidFill>
                  <a:srgbClr val="FF0000"/>
                </a:solidFill>
                <a:effectLst/>
                <a:latin typeface="Times New Roman" panose="02020603050405020304" pitchFamily="18"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91144B05-8583-BAC1-4C9B-92CA8817FF73}"/>
              </a:ext>
            </a:extLst>
          </p:cNvPr>
          <p:cNvSpPr>
            <a:spLocks noGrp="1"/>
          </p:cNvSpPr>
          <p:nvPr>
            <p:ph idx="1"/>
          </p:nvPr>
        </p:nvSpPr>
        <p:spPr>
          <a:xfrm>
            <a:off x="586879" y="1232843"/>
            <a:ext cx="10515600" cy="3450613"/>
          </a:xfrm>
        </p:spPr>
        <p:txBody>
          <a:bodyPr/>
          <a:lstStyle/>
          <a:p>
            <a:pPr algn="just">
              <a:buFont typeface="Wingdings" panose="05000000000000000000" pitchFamily="2" charset="2"/>
              <a:buChar char="Ø"/>
            </a:pPr>
            <a:r>
              <a:rPr lang="en-US" sz="2000" dirty="0"/>
              <a:t>Assign each company a single IP address(Public) for internet traffic.</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Within the company, every computer gets a unique IP address(Private) to manage intramural traffic.</a:t>
            </a:r>
          </a:p>
          <a:p>
            <a:pPr algn="just">
              <a:buFont typeface="Wingdings" panose="05000000000000000000" pitchFamily="2" charset="2"/>
              <a:buChar char="Ø"/>
            </a:pPr>
            <a:endParaRPr lang="en-US" sz="2000" dirty="0"/>
          </a:p>
          <a:p>
            <a:pPr algn="just">
              <a:buFont typeface="Wingdings" panose="05000000000000000000" pitchFamily="2" charset="2"/>
              <a:buChar char="Ø"/>
            </a:pPr>
            <a:r>
              <a:rPr lang="en-US" sz="2000" dirty="0"/>
              <a:t>Whenever a packet exits the company and goes to the ISP, an address translation(Private to Public) takes place.</a:t>
            </a:r>
          </a:p>
          <a:p>
            <a:endParaRPr lang="en-US" dirty="0"/>
          </a:p>
        </p:txBody>
      </p:sp>
      <p:sp>
        <p:nvSpPr>
          <p:cNvPr id="4" name="Slide Number Placeholder 3">
            <a:extLst>
              <a:ext uri="{FF2B5EF4-FFF2-40B4-BE49-F238E27FC236}">
                <a16:creationId xmlns:a16="http://schemas.microsoft.com/office/drawing/2014/main" id="{C6D1B74E-B71C-39E6-D244-25D558BF35E8}"/>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5</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pic>
        <p:nvPicPr>
          <p:cNvPr id="7" name="Content Placeholder 6">
            <a:extLst>
              <a:ext uri="{FF2B5EF4-FFF2-40B4-BE49-F238E27FC236}">
                <a16:creationId xmlns:a16="http://schemas.microsoft.com/office/drawing/2014/main" id="{858A7E4C-41B1-BF48-8D58-9F195793B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959" y="4168651"/>
            <a:ext cx="6794041" cy="1992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546199C-CF4F-A6F0-2C22-2BCE8E6EE7CF}"/>
              </a:ext>
            </a:extLst>
          </p:cNvPr>
          <p:cNvSpPr txBox="1"/>
          <p:nvPr/>
        </p:nvSpPr>
        <p:spPr>
          <a:xfrm>
            <a:off x="195163" y="4197131"/>
            <a:ext cx="5007633" cy="1938992"/>
          </a:xfrm>
          <a:prstGeom prst="rect">
            <a:avLst/>
          </a:prstGeom>
          <a:noFill/>
          <a:ln>
            <a:solidFill>
              <a:schemeClr val="tx1"/>
            </a:solidFill>
          </a:ln>
        </p:spPr>
        <p:txBody>
          <a:bodyPr wrap="square">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Gill Sans MT" panose="020B0502020104020203"/>
                <a:ea typeface="+mn-ea"/>
                <a:cs typeface="+mn-cs"/>
              </a:rPr>
              <a:t>A Network Address Translation (NAT) is the process of mapping an internet protocol (IP) address to another by changing the header of IP packets while in transit via a router. This helps to improve security and decrease the number of IP addresses an organization needs.</a:t>
            </a:r>
          </a:p>
        </p:txBody>
      </p:sp>
    </p:spTree>
    <p:extLst>
      <p:ext uri="{BB962C8B-B14F-4D97-AF65-F5344CB8AC3E}">
        <p14:creationId xmlns:p14="http://schemas.microsoft.com/office/powerpoint/2010/main" val="3010643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6</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pic>
        <p:nvPicPr>
          <p:cNvPr id="9" name="Picture 8">
            <a:extLst>
              <a:ext uri="{FF2B5EF4-FFF2-40B4-BE49-F238E27FC236}">
                <a16:creationId xmlns:a16="http://schemas.microsoft.com/office/drawing/2014/main" id="{25EB7759-CA22-92A8-6114-A555313F3C40}"/>
              </a:ext>
            </a:extLst>
          </p:cNvPr>
          <p:cNvPicPr>
            <a:picLocks noChangeAspect="1"/>
          </p:cNvPicPr>
          <p:nvPr/>
        </p:nvPicPr>
        <p:blipFill>
          <a:blip r:embed="rId2"/>
          <a:stretch>
            <a:fillRect/>
          </a:stretch>
        </p:blipFill>
        <p:spPr>
          <a:xfrm>
            <a:off x="5690490" y="2630384"/>
            <a:ext cx="6334539" cy="2334970"/>
          </a:xfrm>
          <a:prstGeom prst="rect">
            <a:avLst/>
          </a:prstGeom>
        </p:spPr>
      </p:pic>
      <p:sp>
        <p:nvSpPr>
          <p:cNvPr id="11" name="Text Box 4">
            <a:extLst>
              <a:ext uri="{FF2B5EF4-FFF2-40B4-BE49-F238E27FC236}">
                <a16:creationId xmlns:a16="http://schemas.microsoft.com/office/drawing/2014/main" id="{BAB51809-F64D-9C41-FD81-4EB9A8BA7B1F}"/>
              </a:ext>
            </a:extLst>
          </p:cNvPr>
          <p:cNvSpPr txBox="1">
            <a:spLocks noChangeArrowheads="1"/>
          </p:cNvSpPr>
          <p:nvPr/>
        </p:nvSpPr>
        <p:spPr bwMode="auto">
          <a:xfrm>
            <a:off x="4777474" y="1969667"/>
            <a:ext cx="22720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1"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Addresses in a NAT</a:t>
            </a:r>
          </a:p>
        </p:txBody>
      </p:sp>
      <p:sp>
        <p:nvSpPr>
          <p:cNvPr id="5" name="TextBox 4">
            <a:extLst>
              <a:ext uri="{FF2B5EF4-FFF2-40B4-BE49-F238E27FC236}">
                <a16:creationId xmlns:a16="http://schemas.microsoft.com/office/drawing/2014/main" id="{66E97374-E2B0-308C-2B21-CFE80745FDC7}"/>
              </a:ext>
            </a:extLst>
          </p:cNvPr>
          <p:cNvSpPr txBox="1"/>
          <p:nvPr/>
        </p:nvSpPr>
        <p:spPr>
          <a:xfrm>
            <a:off x="345874" y="2945968"/>
            <a:ext cx="5344616" cy="123110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prstClr val="black"/>
                </a:solidFill>
                <a:effectLst/>
                <a:uLnTx/>
                <a:uFillTx/>
                <a:latin typeface="Gill Sans MT" panose="020B0502020104020203"/>
                <a:ea typeface="+mn-ea"/>
                <a:cs typeface="+mn-cs"/>
              </a:rPr>
              <a:t>Private addresses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10 . 0 . 0 . 0       -   10 . 255 . 255 . 255 / 8</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172 .16 . 0. 0     -   172. 31 . 255 . 255 /12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rPr>
              <a:t>		192 .168 . 0 . 0  -   192 . 168 . 255 . 255 /16</a:t>
            </a:r>
          </a:p>
        </p:txBody>
      </p:sp>
    </p:spTree>
    <p:extLst>
      <p:ext uri="{BB962C8B-B14F-4D97-AF65-F5344CB8AC3E}">
        <p14:creationId xmlns:p14="http://schemas.microsoft.com/office/powerpoint/2010/main" val="2183618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D5BD-CB53-F50E-EB06-C3A3873194B3}"/>
              </a:ext>
            </a:extLst>
          </p:cNvPr>
          <p:cNvSpPr>
            <a:spLocks noGrp="1"/>
          </p:cNvSpPr>
          <p:nvPr>
            <p:ph type="title"/>
          </p:nvPr>
        </p:nvSpPr>
        <p:spPr/>
        <p:txBody>
          <a:bodyPr>
            <a:normAutofit/>
          </a:bodyPr>
          <a:lstStyle/>
          <a:p>
            <a:r>
              <a:rPr lang="en-US" sz="2800" b="1" i="0" dirty="0">
                <a:solidFill>
                  <a:srgbClr val="FF0000"/>
                </a:solidFill>
                <a:effectLst/>
                <a:latin typeface="Times New Roman" panose="02020603050405020304" pitchFamily="18" charset="0"/>
                <a:cs typeface="Times New Roman" panose="02020603050405020304" pitchFamily="18" charset="0"/>
              </a:rPr>
              <a:t>Network Address Translation (NAT)</a:t>
            </a:r>
            <a:r>
              <a:rPr lang="en-US" sz="2800" b="0" i="0" dirty="0">
                <a:solidFill>
                  <a:srgbClr val="FF0000"/>
                </a:solidFill>
                <a:effectLst/>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FC770-EE5D-C09D-2119-C62E5FC37F39}"/>
              </a:ext>
            </a:extLst>
          </p:cNvPr>
          <p:cNvSpPr>
            <a:spLocks noGrp="1"/>
          </p:cNvSpPr>
          <p:nvPr>
            <p:ph type="sldNum" sz="quarter" idx="12"/>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7</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sp>
        <p:nvSpPr>
          <p:cNvPr id="3" name="Text Box 4">
            <a:extLst>
              <a:ext uri="{FF2B5EF4-FFF2-40B4-BE49-F238E27FC236}">
                <a16:creationId xmlns:a16="http://schemas.microsoft.com/office/drawing/2014/main" id="{AAB0B032-CDB1-5546-026E-084EB0D1EEE5}"/>
              </a:ext>
            </a:extLst>
          </p:cNvPr>
          <p:cNvSpPr txBox="1">
            <a:spLocks noChangeArrowheads="1"/>
          </p:cNvSpPr>
          <p:nvPr/>
        </p:nvSpPr>
        <p:spPr bwMode="auto">
          <a:xfrm>
            <a:off x="62753" y="1379896"/>
            <a:ext cx="44924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2000" b="1" i="1" u="sng" strike="noStrike" kern="1200" cap="none" spc="0" normalizeH="0" baseline="0" noProof="0" dirty="0">
                <a:ln>
                  <a:noFill/>
                </a:ln>
                <a:solidFill>
                  <a:srgbClr val="00B0F0"/>
                </a:solidFill>
                <a:effectLst/>
                <a:uLnTx/>
                <a:uFillTx/>
                <a:latin typeface="Times New Roman" panose="02020603050405020304" pitchFamily="18" charset="0"/>
                <a:ea typeface="+mn-ea"/>
                <a:cs typeface="+mn-cs"/>
              </a:rPr>
              <a:t>NAT address translation process</a:t>
            </a:r>
            <a:r>
              <a:rPr kumimoji="0" lang="en-US" altLang="en-US" sz="2000" b="1" i="1" u="none" strike="noStrike" kern="1200" cap="none" spc="0" normalizeH="0" baseline="0" noProof="0" dirty="0">
                <a:ln>
                  <a:noFill/>
                </a:ln>
                <a:solidFill>
                  <a:srgbClr val="00B0F0"/>
                </a:solidFill>
                <a:effectLst/>
                <a:uLnTx/>
                <a:uFillTx/>
                <a:latin typeface="Times New Roman" panose="02020603050405020304" pitchFamily="18" charset="0"/>
                <a:ea typeface="+mn-ea"/>
                <a:cs typeface="+mn-cs"/>
              </a:rPr>
              <a:t>:</a:t>
            </a:r>
          </a:p>
        </p:txBody>
      </p:sp>
      <p:pic>
        <p:nvPicPr>
          <p:cNvPr id="6" name="Picture 5">
            <a:extLst>
              <a:ext uri="{FF2B5EF4-FFF2-40B4-BE49-F238E27FC236}">
                <a16:creationId xmlns:a16="http://schemas.microsoft.com/office/drawing/2014/main" id="{E95C1275-33A5-375A-88F7-971896EE3F5F}"/>
              </a:ext>
            </a:extLst>
          </p:cNvPr>
          <p:cNvPicPr>
            <a:picLocks noChangeAspect="1"/>
          </p:cNvPicPr>
          <p:nvPr/>
        </p:nvPicPr>
        <p:blipFill>
          <a:blip r:embed="rId2"/>
          <a:stretch>
            <a:fillRect/>
          </a:stretch>
        </p:blipFill>
        <p:spPr>
          <a:xfrm>
            <a:off x="6470395" y="1853754"/>
            <a:ext cx="5613564" cy="4318995"/>
          </a:xfrm>
          <a:prstGeom prst="rect">
            <a:avLst/>
          </a:prstGeom>
        </p:spPr>
      </p:pic>
      <p:sp>
        <p:nvSpPr>
          <p:cNvPr id="5" name="TextBox 4">
            <a:extLst>
              <a:ext uri="{FF2B5EF4-FFF2-40B4-BE49-F238E27FC236}">
                <a16:creationId xmlns:a16="http://schemas.microsoft.com/office/drawing/2014/main" id="{A1266E6D-528C-F2EA-EB5D-ADC470539D4F}"/>
              </a:ext>
            </a:extLst>
          </p:cNvPr>
          <p:cNvSpPr txBox="1"/>
          <p:nvPr/>
        </p:nvSpPr>
        <p:spPr>
          <a:xfrm>
            <a:off x="0" y="1997656"/>
            <a:ext cx="6391836" cy="4293483"/>
          </a:xfrm>
          <a:prstGeom prst="rect">
            <a:avLst/>
          </a:prstGeom>
          <a:noFill/>
        </p:spPr>
        <p:txBody>
          <a:bodyPr wrap="square" rtlCol="0">
            <a:spAutoFit/>
          </a:bodyPr>
          <a:lstStyle/>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Source Private IP: 172.18.3.1</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     Destination IP: 25.8.2.10</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     Network public IP: 200.24.5.8</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These two addresses are recorded in NAT table and the packet is transferred to destination.</a:t>
            </a: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indent="-285750" algn="just">
              <a:buFont typeface="Wingdings" panose="05000000000000000000" pitchFamily="2" charset="2"/>
              <a:buChar char="Ø"/>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Packet while moving to destination, its source private address is changed to public address by NAT. </a:t>
            </a: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When an ACK packet is received from destination (Source IP: 25.8.2.10, Destination IP: 200.24.5.8), then NAT will check the table to see if ACK source IP is equal to external address.</a:t>
            </a: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700" b="0" i="0" u="none" strike="noStrike" kern="1200" cap="none" spc="0" normalizeH="0" baseline="0" noProof="0" dirty="0">
                <a:ln>
                  <a:noFill/>
                </a:ln>
                <a:solidFill>
                  <a:prstClr val="black"/>
                </a:solidFill>
                <a:effectLst/>
                <a:uLnTx/>
                <a:uFillTx/>
                <a:latin typeface="Gill Sans MT" panose="020B0502020104020203"/>
                <a:ea typeface="+mn-ea"/>
                <a:cs typeface="+mn-cs"/>
              </a:rPr>
              <a:t>If so, then the ACK destination public IP is changed to private IP.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panose="020B0502020104020203"/>
              <a:ea typeface="+mn-ea"/>
              <a:cs typeface="+mn-cs"/>
            </a:endParaRPr>
          </a:p>
        </p:txBody>
      </p:sp>
    </p:spTree>
    <p:extLst>
      <p:ext uri="{BB962C8B-B14F-4D97-AF65-F5344CB8AC3E}">
        <p14:creationId xmlns:p14="http://schemas.microsoft.com/office/powerpoint/2010/main" val="469367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1083212" y="2886074"/>
            <a:ext cx="10086536" cy="3856581"/>
          </a:xfrm>
        </p:spPr>
        <p:txBody>
          <a:bodyPr>
            <a:normAutofit/>
          </a:bodyPr>
          <a:lstStyle/>
          <a:p>
            <a:pPr marL="0" indent="0" algn="ctr">
              <a:buNone/>
            </a:pPr>
            <a:r>
              <a:rPr lang="en-US" sz="5400" dirty="0"/>
              <a:t>PAT</a:t>
            </a:r>
          </a:p>
        </p:txBody>
      </p:sp>
    </p:spTree>
    <p:extLst>
      <p:ext uri="{BB962C8B-B14F-4D97-AF65-F5344CB8AC3E}">
        <p14:creationId xmlns:p14="http://schemas.microsoft.com/office/powerpoint/2010/main" val="16756735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85C7-3DE9-B01C-06FE-B29FDA728511}"/>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Port</a:t>
            </a:r>
            <a:r>
              <a:rPr lang="en-US" sz="4400" b="1" i="0" dirty="0">
                <a:solidFill>
                  <a:srgbClr val="FF0000"/>
                </a:solidFill>
                <a:effectLst/>
                <a:latin typeface="Times New Roman" panose="02020603050405020304" pitchFamily="18" charset="0"/>
                <a:cs typeface="Times New Roman" panose="02020603050405020304" pitchFamily="18" charset="0"/>
              </a:rPr>
              <a:t> Address Translation (PAT)</a:t>
            </a:r>
            <a:r>
              <a:rPr lang="en-US" sz="4400" b="0" i="0" dirty="0">
                <a:solidFill>
                  <a:srgbClr val="FF0000"/>
                </a:solidFill>
                <a:effectLst/>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EA42AB09-6315-6652-1BDF-FD120AD9859E}"/>
              </a:ext>
            </a:extLst>
          </p:cNvPr>
          <p:cNvSpPr>
            <a:spLocks noGrp="1"/>
          </p:cNvSpPr>
          <p:nvPr>
            <p:ph idx="1"/>
          </p:nvPr>
        </p:nvSpPr>
        <p:spPr/>
        <p:txBody>
          <a:bodyPr/>
          <a:lstStyle/>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Port Address Translation (PAT) is a specific type of Network Address Translation (NAT) technique which is used in computer networking.</a:t>
            </a:r>
          </a:p>
          <a:p>
            <a:pPr marL="342900" indent="-342900" algn="just" defTabSz="457200">
              <a:lnSpc>
                <a:spcPct val="100000"/>
              </a:lnSpc>
              <a:spcBef>
                <a:spcPts val="0"/>
              </a:spcBef>
              <a:buFont typeface="Wingdings" panose="05000000000000000000" pitchFamily="2" charset="2"/>
              <a:buChar char="Ø"/>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PAT is commonly implemented in routers to allow multiple devices within a private network to share a single public IP address due to which it is sometime referred as NAT Overload. </a:t>
            </a:r>
          </a:p>
          <a:p>
            <a:pPr marL="0" indent="0" algn="just" defTabSz="457200">
              <a:lnSpc>
                <a:spcPct val="100000"/>
              </a:lnSpc>
              <a:spcBef>
                <a:spcPts val="0"/>
              </a:spcBef>
              <a:buNone/>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The main task of Port Address Translation (PAT) is to map multiple private IP addresses to a single public IP address by using unique port numbers.</a:t>
            </a:r>
          </a:p>
          <a:p>
            <a:pPr marL="342900" indent="-342900" algn="just" defTabSz="457200">
              <a:lnSpc>
                <a:spcPct val="100000"/>
              </a:lnSpc>
              <a:spcBef>
                <a:spcPts val="0"/>
              </a:spcBef>
              <a:buFont typeface="Wingdings" panose="05000000000000000000" pitchFamily="2" charset="2"/>
              <a:buChar char="Ø"/>
              <a:defRPr/>
            </a:pPr>
            <a:endParaRPr lang="en-US" sz="2200" dirty="0">
              <a:solidFill>
                <a:prstClr val="black"/>
              </a:solidFill>
              <a:latin typeface="Gill Sans MT" panose="020B0502020104020203"/>
            </a:endParaRPr>
          </a:p>
          <a:p>
            <a:pPr marL="342900" indent="-342900" algn="just" defTabSz="457200">
              <a:lnSpc>
                <a:spcPct val="100000"/>
              </a:lnSpc>
              <a:spcBef>
                <a:spcPts val="0"/>
              </a:spcBef>
              <a:buFont typeface="Wingdings" panose="05000000000000000000" pitchFamily="2" charset="2"/>
              <a:buChar char="Ø"/>
              <a:defRPr/>
            </a:pPr>
            <a:r>
              <a:rPr lang="en-US" sz="2200" dirty="0">
                <a:solidFill>
                  <a:prstClr val="black"/>
                </a:solidFill>
                <a:latin typeface="Gill Sans MT" panose="020B0502020104020203"/>
              </a:rPr>
              <a:t>In PAT, Private IP addresses are translated into the public IP address via Port numbers. </a:t>
            </a:r>
          </a:p>
          <a:p>
            <a:pPr marL="342900" indent="-342900" algn="just" defTabSz="457200">
              <a:lnSpc>
                <a:spcPct val="100000"/>
              </a:lnSpc>
              <a:spcBef>
                <a:spcPts val="0"/>
              </a:spcBef>
              <a:buFont typeface="Wingdings" panose="05000000000000000000" pitchFamily="2" charset="2"/>
              <a:buChar char="Ø"/>
              <a:defRPr/>
            </a:pPr>
            <a:endParaRPr lang="en-IN" sz="2200" dirty="0">
              <a:solidFill>
                <a:prstClr val="black"/>
              </a:solidFill>
              <a:latin typeface="Gill Sans MT" panose="020B0502020104020203"/>
            </a:endParaRPr>
          </a:p>
        </p:txBody>
      </p:sp>
    </p:spTree>
    <p:extLst>
      <p:ext uri="{BB962C8B-B14F-4D97-AF65-F5344CB8AC3E}">
        <p14:creationId xmlns:p14="http://schemas.microsoft.com/office/powerpoint/2010/main" val="2400457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C5256-13B6-9E6A-37E7-2B2444233D5A}"/>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E3E73ACF-FE51-7D0E-B945-924FEC26D7E5}"/>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728242A4-9237-AF4D-41A0-74545D5F4F16}"/>
              </a:ext>
            </a:extLst>
          </p:cNvPr>
          <p:cNvPicPr>
            <a:picLocks noChangeAspect="1"/>
          </p:cNvPicPr>
          <p:nvPr/>
        </p:nvPicPr>
        <p:blipFill>
          <a:blip r:embed="rId2"/>
          <a:stretch>
            <a:fillRect/>
          </a:stretch>
        </p:blipFill>
        <p:spPr>
          <a:xfrm>
            <a:off x="1374532" y="1660434"/>
            <a:ext cx="9442935" cy="3537132"/>
          </a:xfrm>
          <a:prstGeom prst="rect">
            <a:avLst/>
          </a:prstGeom>
        </p:spPr>
      </p:pic>
    </p:spTree>
    <p:extLst>
      <p:ext uri="{BB962C8B-B14F-4D97-AF65-F5344CB8AC3E}">
        <p14:creationId xmlns:p14="http://schemas.microsoft.com/office/powerpoint/2010/main" val="4083804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5162844" y="2302412"/>
            <a:ext cx="6654018" cy="4731434"/>
          </a:xfrm>
        </p:spPr>
        <p:txBody>
          <a:bodyPr>
            <a:normAutofit/>
          </a:bodyPr>
          <a:lstStyle/>
          <a:p>
            <a:endParaRPr lang="en-US" dirty="0"/>
          </a:p>
          <a:p>
            <a:pPr>
              <a:buFont typeface="Wingdings" panose="05000000000000000000" pitchFamily="2" charset="2"/>
              <a:buChar char="Ø"/>
            </a:pPr>
            <a:r>
              <a:rPr lang="en-US" dirty="0"/>
              <a:t>NAT Protocol</a:t>
            </a:r>
          </a:p>
          <a:p>
            <a:pPr>
              <a:buFont typeface="Wingdings" panose="05000000000000000000" pitchFamily="2" charset="2"/>
              <a:buChar char="Ø"/>
            </a:pPr>
            <a:endParaRPr lang="en-US" dirty="0"/>
          </a:p>
          <a:p>
            <a:pPr>
              <a:buFont typeface="Wingdings" panose="05000000000000000000" pitchFamily="2" charset="2"/>
              <a:buChar char="Ø"/>
            </a:pPr>
            <a:r>
              <a:rPr lang="en-US" dirty="0"/>
              <a:t>PAT Protocol</a:t>
            </a:r>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818056" cy="1237262"/>
          </a:xfrm>
          <a:prstGeom prst="rect">
            <a:avLst/>
          </a:prstGeom>
          <a:noFill/>
        </p:spPr>
        <p:txBody>
          <a:bodyPr wrap="square" rtlCol="0">
            <a:spAutoFit/>
          </a:bodyPr>
          <a:lstStyle/>
          <a:p>
            <a:pPr>
              <a:lnSpc>
                <a:spcPct val="200000"/>
              </a:lnSpc>
            </a:pPr>
            <a:r>
              <a:rPr lang="en-US" sz="2000" dirty="0"/>
              <a:t>1. With a neat sketch describe the functionality of NAT. </a:t>
            </a:r>
          </a:p>
          <a:p>
            <a:pPr>
              <a:lnSpc>
                <a:spcPct val="200000"/>
              </a:lnSpc>
            </a:pPr>
            <a:r>
              <a:rPr lang="en-US" sz="2000" dirty="0"/>
              <a:t>2. With a neat sketch describe the functionality of PAT.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a:cs typeface="Poppins"/>
              </a:rPr>
              <a:t>Team – Computer Networks</a:t>
            </a:r>
            <a:endParaRPr lang="en-US" sz="2400" dirty="0">
              <a:solidFill>
                <a:schemeClr val="bg1"/>
              </a:solidFill>
              <a:latin typeface="Poppins"/>
              <a:cs typeface="Poppins"/>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507</TotalTime>
  <Words>672</Words>
  <Application>Microsoft Office PowerPoint</Application>
  <PresentationFormat>Widescreen</PresentationFormat>
  <Paragraphs>123</Paragraphs>
  <Slides>14</Slides>
  <Notes>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1_Office Theme</vt:lpstr>
      <vt:lpstr>PowerPoint Presentation</vt:lpstr>
      <vt:lpstr>PowerPoint Presentation</vt:lpstr>
      <vt:lpstr>PowerPoint Presentation</vt:lpstr>
      <vt:lpstr>Network Address Translation (NAT) </vt:lpstr>
      <vt:lpstr>Network Address Translation (NAT) </vt:lpstr>
      <vt:lpstr>Network Address Translation (NAT) </vt:lpstr>
      <vt:lpstr>Network Address Translation (NAT) </vt:lpstr>
      <vt:lpstr>PowerPoint Presentation</vt:lpstr>
      <vt:lpstr>Port Address Translation (PAT)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Radhika Rani Chintala</cp:lastModifiedBy>
  <cp:revision>59</cp:revision>
  <dcterms:created xsi:type="dcterms:W3CDTF">2020-02-08T09:57:44Z</dcterms:created>
  <dcterms:modified xsi:type="dcterms:W3CDTF">2025-07-15T05:05:42Z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