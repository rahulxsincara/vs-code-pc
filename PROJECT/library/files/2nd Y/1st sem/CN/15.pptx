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16"/>
  </p:notesMasterIdLst>
  <p:sldIdLst>
    <p:sldId id="271" r:id="rId3"/>
    <p:sldId id="883" r:id="rId4"/>
    <p:sldId id="313" r:id="rId5"/>
    <p:sldId id="888" r:id="rId6"/>
    <p:sldId id="891" r:id="rId7"/>
    <p:sldId id="889" r:id="rId8"/>
    <p:sldId id="890" r:id="rId9"/>
    <p:sldId id="892" r:id="rId10"/>
    <p:sldId id="893" r:id="rId11"/>
    <p:sldId id="894" r:id="rId12"/>
    <p:sldId id="895" r:id="rId13"/>
    <p:sldId id="897" r:id="rId14"/>
    <p:sldId id="89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CE7FD3-35CC-2272-8335-5651B656E19D}" v="3" dt="2025-07-15T04:54:08.2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65" d="100"/>
          <a:sy n="65" d="100"/>
        </p:scale>
        <p:origin x="-840" y="-96"/>
      </p:cViewPr>
      <p:guideLst>
        <p:guide orient="horz" pos="216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microsoft.com/office/2016/11/relationships/changesInfo" Target="changesInfos/changesInfo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ushar Kanti De" userId="S::vit.tushar@kluniversity.in::7b4f7e15-ba50-4f9a-a6ae-1e38b5a8a216" providerId="AD" clId="Web-{5BCE7FD3-35CC-2272-8335-5651B656E19D}"/>
    <pc:docChg chg="modSld">
      <pc:chgData name="Tushar Kanti De" userId="S::vit.tushar@kluniversity.in::7b4f7e15-ba50-4f9a-a6ae-1e38b5a8a216" providerId="AD" clId="Web-{5BCE7FD3-35CC-2272-8335-5651B656E19D}" dt="2025-07-15T04:54:08.246" v="2" actId="14100"/>
      <pc:docMkLst>
        <pc:docMk/>
      </pc:docMkLst>
      <pc:sldChg chg="modSp">
        <pc:chgData name="Tushar Kanti De" userId="S::vit.tushar@kluniversity.in::7b4f7e15-ba50-4f9a-a6ae-1e38b5a8a216" providerId="AD" clId="Web-{5BCE7FD3-35CC-2272-8335-5651B656E19D}" dt="2025-07-15T04:54:08.246" v="2" actId="14100"/>
        <pc:sldMkLst>
          <pc:docMk/>
          <pc:sldMk cId="0" sldId="271"/>
        </pc:sldMkLst>
        <pc:spChg chg="mod">
          <ac:chgData name="Tushar Kanti De" userId="S::vit.tushar@kluniversity.in::7b4f7e15-ba50-4f9a-a6ae-1e38b5a8a216" providerId="AD" clId="Web-{5BCE7FD3-35CC-2272-8335-5651B656E19D}" dt="2025-07-15T04:54:08.246" v="2" actId="14100"/>
          <ac:spMkLst>
            <pc:docMk/>
            <pc:sldMk cId="0" sldId="271"/>
            <ac:spMk id="476" creationId="{00000000-0000-0000-0000-000000000000}"/>
          </ac:spMkLst>
        </pc:spChg>
        <pc:graphicFrameChg chg="mod modGraphic">
          <ac:chgData name="Tushar Kanti De" userId="S::vit.tushar@kluniversity.in::7b4f7e15-ba50-4f9a-a6ae-1e38b5a8a216" providerId="AD" clId="Web-{5BCE7FD3-35CC-2272-8335-5651B656E19D}" dt="2025-07-15T04:54:04.277" v="1"/>
          <ac:graphicFrameMkLst>
            <pc:docMk/>
            <pc:sldMk cId="0" sldId="271"/>
            <ac:graphicFrameMk id="3" creationId="{00000000-0000-0000-0000-00000000000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A69294-BE40-4F53-9009-F96CD52AF726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B7285F-CC9D-4373-8D84-5F563E3CB58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5E10E-A097-4834-80C5-A2C1D646F8B9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AE7FC-C46B-42A3-8E15-9BB501A8C15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5E10E-A097-4834-80C5-A2C1D646F8B9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AE7FC-C46B-42A3-8E15-9BB501A8C15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5E10E-A097-4834-80C5-A2C1D646F8B9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AE7FC-C46B-42A3-8E15-9BB501A8C15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5E10E-A097-4834-80C5-A2C1D646F8B9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AE7FC-C46B-42A3-8E15-9BB501A8C15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5E10E-A097-4834-80C5-A2C1D646F8B9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AE7FC-C46B-42A3-8E15-9BB501A8C15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5E10E-A097-4834-80C5-A2C1D646F8B9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AE7FC-C46B-42A3-8E15-9BB501A8C15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5E10E-A097-4834-80C5-A2C1D646F8B9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AE7FC-C46B-42A3-8E15-9BB501A8C15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5E10E-A097-4834-80C5-A2C1D646F8B9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AE7FC-C46B-42A3-8E15-9BB501A8C15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5E10E-A097-4834-80C5-A2C1D646F8B9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AE7FC-C46B-42A3-8E15-9BB501A8C15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5E10E-A097-4834-80C5-A2C1D646F8B9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AE7FC-C46B-42A3-8E15-9BB501A8C15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5E10E-A097-4834-80C5-A2C1D646F8B9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AE7FC-C46B-42A3-8E15-9BB501A8C15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D3F6B-7404-4646-84C0-AC5BDFFC8711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5E6B12C2-C7BD-4B18-8E75-AF701D5C39C4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D3F6B-7404-4646-84C0-AC5BDFFC8711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B12C2-C7BD-4B18-8E75-AF701D5C39C4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D3F6B-7404-4646-84C0-AC5BDFFC8711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B12C2-C7BD-4B18-8E75-AF701D5C39C4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D3F6B-7404-4646-84C0-AC5BDFFC8711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B12C2-C7BD-4B18-8E75-AF701D5C39C4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D3F6B-7404-4646-84C0-AC5BDFFC8711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B12C2-C7BD-4B18-8E75-AF701D5C39C4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D3F6B-7404-4646-84C0-AC5BDFFC8711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B12C2-C7BD-4B18-8E75-AF701D5C39C4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D3F6B-7404-4646-84C0-AC5BDFFC8711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B12C2-C7BD-4B18-8E75-AF701D5C39C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D3F6B-7404-4646-84C0-AC5BDFFC8711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B12C2-C7BD-4B18-8E75-AF701D5C39C4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22FD3F6B-7404-4646-84C0-AC5BDFFC8711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B12C2-C7BD-4B18-8E75-AF701D5C39C4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D3F6B-7404-4646-84C0-AC5BDFFC8711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B12C2-C7BD-4B18-8E75-AF701D5C39C4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D3F6B-7404-4646-84C0-AC5BDFFC8711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B12C2-C7BD-4B18-8E75-AF701D5C39C4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15E10E-A097-4834-80C5-A2C1D646F8B9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EAE7FC-C46B-42A3-8E15-9BB501A8C155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9" y="379083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15E10E-A097-4834-80C5-A2C1D646F8B9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90490" y="6291139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ctr">
              <a:defRPr sz="2200">
                <a:solidFill>
                  <a:schemeClr val="accent1"/>
                </a:solidFill>
              </a:defRPr>
            </a:lvl1pPr>
          </a:lstStyle>
          <a:p>
            <a:fld id="{F3EAE7FC-C46B-42A3-8E15-9BB501A8C155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Icon&#10;&#10;Description automatically generated with medium confidence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44" y="32699"/>
            <a:ext cx="1218935" cy="50098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0" t="18054" b="50110"/>
          <a:stretch>
            <a:fillRect/>
          </a:stretch>
        </p:blipFill>
        <p:spPr>
          <a:xfrm>
            <a:off x="1451579" y="6373097"/>
            <a:ext cx="2912198" cy="351077"/>
          </a:xfrm>
          <a:prstGeom prst="rect">
            <a:avLst/>
          </a:prstGeom>
        </p:spPr>
      </p:pic>
      <p:pic>
        <p:nvPicPr>
          <p:cNvPr id="14" name="Picture 13" descr="Text&#10;&#10;Description automatically generated with medium confidence"/>
          <p:cNvPicPr>
            <a:picLocks noChangeAspect="1"/>
          </p:cNvPicPr>
          <p:nvPr/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957" r="20929" b="13232"/>
          <a:stretch>
            <a:fillRect/>
          </a:stretch>
        </p:blipFill>
        <p:spPr>
          <a:xfrm>
            <a:off x="8825503" y="6373097"/>
            <a:ext cx="2229351" cy="33502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3.xml"/><Relationship Id="rId1" Type="http://schemas.openxmlformats.org/officeDocument/2006/relationships/tags" Target="../tags/tag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64" name="Google Shape;464;p16"/>
          <p:cNvPicPr preferRelativeResize="0"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034"/>
            <a:ext cx="6027459" cy="6623931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6"/>
          <p:cNvSpPr txBox="1"/>
          <p:nvPr/>
        </p:nvSpPr>
        <p:spPr>
          <a:xfrm>
            <a:off x="5470525" y="1695989"/>
            <a:ext cx="6543017" cy="4027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COMPUTER NETWORKS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3200" b="1" cap="all" dirty="0">
              <a:solidFill>
                <a:srgbClr val="C00000"/>
              </a:solidFill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 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3200" b="1" cap="all" dirty="0">
              <a:solidFill>
                <a:srgbClr val="C00000"/>
              </a:solidFill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2000" b="1" dirty="0">
              <a:solidFill>
                <a:schemeClr val="bg1">
                  <a:lumMod val="50000"/>
                </a:schemeClr>
              </a:solidFill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ea typeface="BioRhyme ExtraBold"/>
                <a:cs typeface="Poppins" panose="00000500000000000000" pitchFamily="2" charset="0"/>
                <a:sym typeface="BioRhyme ExtraBold"/>
              </a:rPr>
              <a:t>Topic: 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C00000"/>
                </a:solidFill>
                <a:effectLst/>
                <a:cs typeface="Poppins" panose="00000500000000000000" pitchFamily="2" charset="0"/>
              </a:rPr>
              <a:t>DESIGN ISSUES OF NETWORK LAYER</a:t>
            </a:r>
          </a:p>
        </p:txBody>
      </p:sp>
      <p:sp>
        <p:nvSpPr>
          <p:cNvPr id="8" name="Google Shape;502;p17"/>
          <p:cNvSpPr/>
          <p:nvPr/>
        </p:nvSpPr>
        <p:spPr>
          <a:xfrm>
            <a:off x="7804143" y="5271310"/>
            <a:ext cx="2235116" cy="453054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ea typeface="Calibri" panose="020F0502020204030204"/>
                <a:cs typeface="Poppins" panose="00000500000000000000" pitchFamily="2" charset="0"/>
                <a:sym typeface="Calibri" panose="020F0502020204030204"/>
              </a:rPr>
              <a:t>Session-16</a:t>
            </a:r>
            <a:endParaRPr sz="2400" dirty="0">
              <a:solidFill>
                <a:schemeClr val="lt1"/>
              </a:solidFill>
              <a:ea typeface="Calibri" panose="020F0502020204030204"/>
              <a:cs typeface="Poppins" panose="00000500000000000000" pitchFamily="2" charset="0"/>
              <a:sym typeface="Calibri" panose="020F0502020204030204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22703" y="81945"/>
            <a:ext cx="2509863" cy="1061599"/>
          </a:xfrm>
          <a:prstGeom prst="rect">
            <a:avLst/>
          </a:prstGeom>
          <a:noFill/>
        </p:spPr>
      </p:pic>
      <p:graphicFrame>
        <p:nvGraphicFramePr>
          <p:cNvPr id="3" name="Table 2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89933873"/>
              </p:ext>
            </p:extLst>
          </p:nvPr>
        </p:nvGraphicFramePr>
        <p:xfrm>
          <a:off x="7171690" y="2489200"/>
          <a:ext cx="2529840" cy="684530"/>
        </p:xfrm>
        <a:graphic>
          <a:graphicData uri="http://schemas.openxmlformats.org/drawingml/2006/table">
            <a:tbl>
              <a:tblPr/>
              <a:tblGrid>
                <a:gridCol w="2529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84530">
                <a:tc>
                  <a:txBody>
                    <a:bodyPr/>
                    <a:lstStyle/>
                    <a:p>
                      <a:pPr algn="l" fontAlgn="b"/>
                      <a:r>
                        <a:rPr sz="4400" b="0" i="0" dirty="0">
                          <a:solidFill>
                            <a:srgbClr val="000000"/>
                          </a:solidFill>
                          <a:latin typeface="Times New Roman"/>
                          <a:ea typeface="Times New Roman" panose="02020603050405020304"/>
                        </a:rPr>
                        <a:t>24CS2202</a:t>
                      </a:r>
                    </a:p>
                  </a:txBody>
                  <a:tcPr marL="9842" marR="9842" marT="9842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4471372" y="84408"/>
            <a:ext cx="3011576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AIM OF THE 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84469"/>
            <a:ext cx="10731286" cy="46037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cap="rnd">
            <a:solidFill>
              <a:schemeClr val="accent1">
                <a:lumMod val="20000"/>
                <a:lumOff val="80000"/>
              </a:schemeClr>
            </a:solidFill>
            <a:round/>
          </a:ln>
          <a:effectLst>
            <a:outerShdw blurRad="50800" dist="38100" algn="l" rotWithShape="0">
              <a:schemeClr val="accent1">
                <a:lumMod val="40000"/>
                <a:lumOff val="60000"/>
                <a:alpha val="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0" i="0" dirty="0">
                <a:effectLst/>
                <a:latin typeface="Poppins"/>
                <a:cs typeface="Poppins"/>
              </a:rPr>
              <a:t>To familiarize students with the </a:t>
            </a:r>
            <a:r>
              <a:rPr lang="en-US" sz="1600" dirty="0">
                <a:latin typeface="Poppins"/>
                <a:cs typeface="Poppins"/>
              </a:rPr>
              <a:t>concepts of NETWORK LAYER DESIGN ISSUES.</a:t>
            </a:r>
            <a:r>
              <a:rPr lang="en-US" sz="1600" b="0" i="0" dirty="0">
                <a:effectLst/>
                <a:latin typeface="Poppins"/>
                <a:cs typeface="Poppins"/>
              </a:rPr>
              <a:t> </a:t>
            </a:r>
          </a:p>
        </p:txBody>
      </p:sp>
      <p:sp>
        <p:nvSpPr>
          <p:cNvPr id="7" name="Rounded Rectangle 17"/>
          <p:cNvSpPr/>
          <p:nvPr/>
        </p:nvSpPr>
        <p:spPr>
          <a:xfrm>
            <a:off x="4160582" y="1807062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INSTRUCTIONAL 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2600" y="2438605"/>
            <a:ext cx="8791575" cy="206121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dirty="0">
                <a:latin typeface="Poppins"/>
                <a:cs typeface="Poppins"/>
              </a:rPr>
              <a:t>This</a:t>
            </a:r>
            <a:r>
              <a:rPr lang="en-US" sz="1600" b="0" i="0" dirty="0">
                <a:effectLst/>
                <a:latin typeface="Poppins"/>
                <a:cs typeface="Poppins"/>
              </a:rPr>
              <a:t> </a:t>
            </a:r>
            <a:r>
              <a:rPr lang="en-US" sz="1600" dirty="0">
                <a:latin typeface="Poppins"/>
                <a:cs typeface="Poppins"/>
              </a:rPr>
              <a:t>Session</a:t>
            </a:r>
            <a:r>
              <a:rPr lang="en-US" sz="1600" b="0" i="0" dirty="0">
                <a:effectLst/>
                <a:latin typeface="Poppins"/>
                <a:cs typeface="Poppins"/>
              </a:rPr>
              <a:t> is designed to: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Describe the Design Issues of network layer.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Describe the concepts of </a:t>
            </a:r>
            <a:r>
              <a:rPr lang="en-US" altLang="en-US" sz="1600" b="0" i="0" dirty="0">
                <a:effectLst/>
                <a:latin typeface="Arial" panose="020B0604020202020204" pitchFamily="34" charset="0"/>
              </a:rPr>
              <a:t>Store-and-Forward Packet Switching,Services Provided to the Transport Layer,Implementation of Connectionless Service,Implementation of Connection-Oriented Service and Comparison of Virtual-Circuit and Datagram Networks</a:t>
            </a:r>
          </a:p>
          <a:p>
            <a:pPr marL="342900" indent="-342900">
              <a:buAutoNum type="arabicPeriod"/>
            </a:pPr>
            <a:endParaRPr lang="en-US" altLang="en-US" sz="1600" b="0" i="0" dirty="0">
              <a:effectLst/>
              <a:latin typeface="Arial" panose="020B0604020202020204" pitchFamily="34" charset="0"/>
            </a:endParaRPr>
          </a:p>
          <a:p>
            <a:pPr marL="342900" indent="-342900">
              <a:buAutoNum type="arabicPeriod"/>
            </a:pPr>
            <a:endParaRPr lang="en-US" sz="1600" dirty="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11" name="Graphic 10" descr="Bullseye outline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25326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00" y="2438605"/>
            <a:ext cx="914400" cy="914400"/>
          </a:xfrm>
          <a:prstGeom prst="rect">
            <a:avLst/>
          </a:prstGeom>
        </p:spPr>
      </p:pic>
      <p:sp>
        <p:nvSpPr>
          <p:cNvPr id="29" name="Rounded Rectangle 17"/>
          <p:cNvSpPr/>
          <p:nvPr/>
        </p:nvSpPr>
        <p:spPr>
          <a:xfrm>
            <a:off x="4212971" y="4249110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LEARNING OUTCOMES</a:t>
            </a:r>
          </a:p>
        </p:txBody>
      </p:sp>
      <p:pic>
        <p:nvPicPr>
          <p:cNvPr id="31" name="Graphic 30" descr="Idea outline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4400" y="4765771"/>
            <a:ext cx="914400" cy="9144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828800" y="4816045"/>
            <a:ext cx="8791575" cy="107632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b="0" i="0" dirty="0">
                <a:effectLst/>
                <a:latin typeface="Arial" panose="020B0604020202020204"/>
                <a:cs typeface="Arial" panose="020B0604020202020204"/>
              </a:rPr>
              <a:t>At the end of this </a:t>
            </a:r>
            <a:r>
              <a:rPr lang="en-US" sz="1600" dirty="0">
                <a:latin typeface="Arial" panose="020B0604020202020204"/>
                <a:cs typeface="Arial" panose="020B0604020202020204"/>
              </a:rPr>
              <a:t>session</a:t>
            </a:r>
            <a:r>
              <a:rPr lang="en-US" sz="1600" b="0" i="0" dirty="0">
                <a:effectLst/>
                <a:latin typeface="Arial" panose="020B0604020202020204"/>
                <a:cs typeface="Arial" panose="020B0604020202020204"/>
              </a:rPr>
              <a:t>, the student will be able to: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Understand the design issues of Nework layer.</a:t>
            </a:r>
          </a:p>
          <a:p>
            <a:pPr marL="342900" indent="-342900">
              <a:buAutoNum type="arabicPeriod"/>
            </a:pPr>
            <a:r>
              <a:rPr lang="en-US" sz="1600" dirty="0">
                <a:latin typeface="Arial" panose="020B0604020202020204" pitchFamily="34" charset="0"/>
              </a:rPr>
              <a:t>Identify the difference bertween connection oriented service and connection less service .</a:t>
            </a: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bldLvl="0" animBg="1"/>
      <p:bldP spid="7" grpId="0" animBg="1"/>
      <p:bldP spid="9" grpId="0" bldLvl="0" animBg="1"/>
      <p:bldP spid="29" grpId="0" animBg="1"/>
      <p:bldP spid="37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4953" y="2019497"/>
            <a:ext cx="9603275" cy="4029611"/>
          </a:xfrm>
        </p:spPr>
        <p:txBody>
          <a:bodyPr>
            <a:noAutofit/>
          </a:bodyPr>
          <a:lstStyle/>
          <a:p>
            <a:pPr marL="514350" indent="-5143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6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Design issues  of NETWORK LAYER</a:t>
            </a:r>
          </a:p>
          <a:p>
            <a:pPr marL="514350" indent="-5143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6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Difference between COS &amp; CLS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3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3041072" y="1190938"/>
            <a:ext cx="610985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IN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579" y="687679"/>
            <a:ext cx="9603275" cy="1049235"/>
          </a:xfrm>
        </p:spPr>
        <p:txBody>
          <a:bodyPr/>
          <a:lstStyle/>
          <a:p>
            <a:r>
              <a:rPr lang="en-US">
                <a:solidFill>
                  <a:srgbClr val="C00000"/>
                </a:solidFill>
              </a:rPr>
              <a:t> NETWORK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610" y="1736725"/>
            <a:ext cx="10740390" cy="3450590"/>
          </a:xfrm>
        </p:spPr>
        <p:txBody>
          <a:bodyPr>
            <a:noAutofit/>
          </a:bodyPr>
          <a:lstStyle/>
          <a:p>
            <a:r>
              <a:rPr lang="en-US" altLang="en-US" sz="2400"/>
              <a:t>The network layer is concerned with getting packets from the source all the way to the destination.</a:t>
            </a:r>
          </a:p>
          <a:p>
            <a:r>
              <a:rPr lang="en-US" altLang="en-US" sz="2400"/>
              <a:t>To achieve its goals, the network layer must know about the topology of the network and choose appropriate paths through it, even for large networks.</a:t>
            </a:r>
          </a:p>
          <a:p>
            <a:r>
              <a:rPr lang="en-US" altLang="en-US" sz="2400"/>
              <a:t>There are some of the issues that the designers of the network layer must grapple with.</a:t>
            </a:r>
          </a:p>
          <a:p>
            <a:r>
              <a:rPr lang="en-US" altLang="en-US" sz="2400"/>
              <a:t>These issues include the service provided to the transport layer and the internal design of the network.</a:t>
            </a:r>
          </a:p>
          <a:p>
            <a:endParaRPr lang="en-US" altLang="en-US" sz="2800"/>
          </a:p>
          <a:p>
            <a:endParaRPr lang="en-US" altLang="en-US" sz="2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rcRect l="52421" t="15773" b="1606"/>
          <a:stretch>
            <a:fillRect/>
          </a:stretch>
        </p:blipFill>
        <p:spPr>
          <a:xfrm>
            <a:off x="1491615" y="147320"/>
            <a:ext cx="10046335" cy="60439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C00000"/>
                </a:solidFill>
                <a:sym typeface="+mn-ea"/>
              </a:rPr>
              <a:t>DESIGN ISSUES OF NETWORK LAYER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610" y="2015490"/>
            <a:ext cx="9603105" cy="3640455"/>
          </a:xfrm>
        </p:spPr>
        <p:txBody>
          <a:bodyPr>
            <a:normAutofit fontScale="90000" lnSpcReduction="20000"/>
          </a:bodyPr>
          <a:lstStyle/>
          <a:p>
            <a:pPr eaLnBrk="1" hangingPunct="1">
              <a:buFontTx/>
              <a:buChar char="•"/>
            </a:pPr>
            <a:r>
              <a:rPr lang="en-US" altLang="en-US" sz="3200" dirty="0">
                <a:latin typeface="Arial" panose="020B0604020202020204" pitchFamily="34" charset="0"/>
                <a:sym typeface="+mn-ea"/>
              </a:rPr>
              <a:t>Store-and-Forward Packet Switching</a:t>
            </a:r>
          </a:p>
          <a:p>
            <a:pPr eaLnBrk="1" hangingPunct="1">
              <a:buFontTx/>
              <a:buChar char="•"/>
            </a:pPr>
            <a:r>
              <a:rPr lang="en-US" altLang="en-US" sz="3200" dirty="0">
                <a:latin typeface="Arial" panose="020B0604020202020204" pitchFamily="34" charset="0"/>
                <a:sym typeface="+mn-ea"/>
              </a:rPr>
              <a:t>Services Provided to the Transport Layer</a:t>
            </a:r>
          </a:p>
          <a:p>
            <a:pPr eaLnBrk="1" hangingPunct="1">
              <a:buFontTx/>
              <a:buChar char="•"/>
            </a:pPr>
            <a:r>
              <a:rPr lang="en-US" altLang="en-US" sz="3200" dirty="0">
                <a:latin typeface="Arial" panose="020B0604020202020204" pitchFamily="34" charset="0"/>
                <a:sym typeface="+mn-ea"/>
              </a:rPr>
              <a:t>Implementation of Connectionless Service</a:t>
            </a:r>
          </a:p>
          <a:p>
            <a:pPr eaLnBrk="1" hangingPunct="1">
              <a:buFontTx/>
              <a:buChar char="•"/>
            </a:pPr>
            <a:r>
              <a:rPr lang="en-US" altLang="en-US" sz="3200" dirty="0">
                <a:latin typeface="Arial" panose="020B0604020202020204" pitchFamily="34" charset="0"/>
                <a:sym typeface="+mn-ea"/>
              </a:rPr>
              <a:t>Implementation of Connection-Oriented Service</a:t>
            </a:r>
            <a:r>
              <a:rPr lang="en-US" altLang="en-US" sz="3200">
                <a:ea typeface="Angsana New" pitchFamily="18" charset="-120"/>
                <a:sym typeface="+mn-ea"/>
              </a:rPr>
              <a:t> service</a:t>
            </a:r>
          </a:p>
          <a:p>
            <a:pPr eaLnBrk="1" hangingPunct="1">
              <a:buFontTx/>
              <a:buChar char="•"/>
            </a:pPr>
            <a:r>
              <a:rPr lang="en-US" altLang="en-US" sz="3200" dirty="0">
                <a:latin typeface="Arial" panose="020B0604020202020204" pitchFamily="34" charset="0"/>
                <a:sym typeface="+mn-ea"/>
              </a:rPr>
              <a:t>Comparison of Virtual-Circuit and Datagram Networks</a:t>
            </a:r>
            <a:endParaRPr lang="en-US" altLang="en-US" sz="3200" b="0" i="0" dirty="0">
              <a:effectLst/>
              <a:latin typeface="Arial" panose="020B0604020202020204" pitchFamily="34" charset="0"/>
            </a:endParaRPr>
          </a:p>
          <a:p>
            <a:pPr marL="0" indent="0" eaLnBrk="1" hangingPunct="1">
              <a:buFontTx/>
              <a:buNone/>
            </a:pPr>
            <a:r>
              <a:rPr lang="en-US" altLang="en-US" sz="3200" dirty="0">
                <a:latin typeface="Arial" panose="020B0604020202020204" pitchFamily="34" charset="0"/>
                <a:sym typeface="+mn-ea"/>
              </a:rPr>
              <a:t> </a:t>
            </a:r>
            <a:endParaRPr lang="en-US" altLang="en-US" sz="3200" b="0" i="0" dirty="0">
              <a:effectLst/>
              <a:latin typeface="Arial" panose="020B0604020202020204" pitchFamily="34" charset="0"/>
            </a:endParaRPr>
          </a:p>
          <a:p>
            <a:pPr eaLnBrk="1" hangingPunct="1">
              <a:buFontTx/>
              <a:buChar char="•"/>
            </a:pPr>
            <a:endParaRPr lang="en-US" altLang="en-US">
              <a:ea typeface="Angsana New" pitchFamily="18" charset="-120"/>
            </a:endParaRPr>
          </a:p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C00000"/>
                </a:solidFill>
                <a:latin typeface="Arial" panose="020B0604020202020204" pitchFamily="34" charset="0"/>
                <a:sym typeface="+mn-ea"/>
              </a:rPr>
              <a:t>Store-and-Forward Packet Switching</a:t>
            </a:r>
            <a:br>
              <a:rPr lang="en-US" altLang="en-US" dirty="0">
                <a:solidFill>
                  <a:srgbClr val="C00000"/>
                </a:solidFill>
                <a:latin typeface="Arial" panose="020B0604020202020204" pitchFamily="34" charset="0"/>
                <a:sym typeface="+mn-ea"/>
              </a:rPr>
            </a:br>
            <a:endParaRPr lang="en-US" altLang="en-US" dirty="0">
              <a:solidFill>
                <a:srgbClr val="C00000"/>
              </a:solidFill>
              <a:latin typeface="Arial" panose="020B0604020202020204" pitchFamily="34" charset="0"/>
              <a:sym typeface="+mn-ea"/>
            </a:endParaRP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1940" y="2183130"/>
            <a:ext cx="9401175" cy="3114675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3475990" y="5425440"/>
            <a:ext cx="653034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Times-Roman"/>
                <a:ea typeface="Times-Roman"/>
              </a:rPr>
              <a:t>The environment of the network layer protocols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rgbClr val="C00000"/>
                </a:solidFill>
              </a:rPr>
              <a:t>Services Provided to the Transport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800"/>
              <a:t>The services should be independent of the router technology.</a:t>
            </a:r>
          </a:p>
          <a:p>
            <a:r>
              <a:rPr lang="en-US" altLang="en-US" sz="2800"/>
              <a:t>The transport layer should be shielded from the number, type, and topology of the routers present.</a:t>
            </a:r>
          </a:p>
          <a:p>
            <a:r>
              <a:rPr lang="en-US" altLang="en-US" sz="2800"/>
              <a:t>The network addresses made available to the transport layer should use a uniform numbering plan, even across LANs and WANs.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2110" y="264795"/>
            <a:ext cx="10190480" cy="751205"/>
          </a:xfrm>
        </p:spPr>
        <p:txBody>
          <a:bodyPr>
            <a:normAutofit fontScale="90000"/>
          </a:bodyPr>
          <a:lstStyle/>
          <a:p>
            <a:r>
              <a:rPr lang="en-US" altLang="en-US">
                <a:solidFill>
                  <a:schemeClr val="accent2"/>
                </a:solidFill>
              </a:rPr>
              <a:t>Implementation of Connection-Oriented Service</a:t>
            </a:r>
            <a:br>
              <a:rPr lang="en-US" altLang="en-US">
                <a:solidFill>
                  <a:schemeClr val="accent2"/>
                </a:solidFill>
              </a:rPr>
            </a:br>
            <a:endParaRPr lang="en-US" altLang="en-US">
              <a:solidFill>
                <a:schemeClr val="accent2"/>
              </a:solidFill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3889375" y="5419725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 eaLnBrk="1" hangingPunct="1">
              <a:buFontTx/>
              <a:buNone/>
            </a:pPr>
            <a:r>
              <a:rPr lang="en-US" altLang="en-US" sz="2800">
                <a:ea typeface="Angsana New" pitchFamily="18" charset="-120"/>
                <a:sym typeface="+mn-ea"/>
              </a:rPr>
              <a:t>Routing within a virtual-circuit network.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rcRect l="26356" t="35444" r="28115" b="11649"/>
          <a:stretch>
            <a:fillRect/>
          </a:stretch>
        </p:blipFill>
        <p:spPr>
          <a:xfrm>
            <a:off x="532765" y="715010"/>
            <a:ext cx="11158220" cy="480949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9709" y="248894"/>
            <a:ext cx="9603275" cy="1049235"/>
          </a:xfrm>
        </p:spPr>
        <p:txBody>
          <a:bodyPr/>
          <a:lstStyle/>
          <a:p>
            <a:r>
              <a:rPr lang="en-US" altLang="en-US">
                <a:solidFill>
                  <a:schemeClr val="accent2"/>
                </a:solidFill>
              </a:rPr>
              <a:t>Implementation of Connectionless Service</a:t>
            </a:r>
            <a:br>
              <a:rPr lang="en-US" altLang="en-US"/>
            </a:br>
            <a:endParaRPr lang="en-US" alt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rcRect l="26718" t="40964" r="27028" b="8870"/>
          <a:stretch>
            <a:fillRect/>
          </a:stretch>
        </p:blipFill>
        <p:spPr>
          <a:xfrm>
            <a:off x="718185" y="815975"/>
            <a:ext cx="11275695" cy="498475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3698875" y="5594350"/>
            <a:ext cx="6096000" cy="6800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 eaLnBrk="1" hangingPunct="1">
              <a:buFontTx/>
              <a:buNone/>
            </a:pPr>
            <a:r>
              <a:rPr lang="en-US" altLang="en-US" sz="2800">
                <a:ea typeface="Angsana New" pitchFamily="18" charset="-120"/>
                <a:sym typeface="+mn-ea"/>
              </a:rPr>
              <a:t>Routing within a datagram network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4454" y="248894"/>
            <a:ext cx="9603275" cy="1049235"/>
          </a:xfrm>
        </p:spPr>
        <p:txBody>
          <a:bodyPr>
            <a:normAutofit fontScale="90000"/>
          </a:bodyPr>
          <a:lstStyle/>
          <a:p>
            <a:r>
              <a:rPr lang="en-US" altLang="en-US">
                <a:solidFill>
                  <a:schemeClr val="accent2"/>
                </a:solidFill>
              </a:rPr>
              <a:t>Comparison of Virtual-Circuit and Datagram Networks</a:t>
            </a:r>
            <a:br>
              <a:rPr lang="en-US" altLang="en-US"/>
            </a:br>
            <a:endParaRPr lang="en-US" alt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rcRect l="25062" t="40964" r="28115" b="11649"/>
          <a:stretch>
            <a:fillRect/>
          </a:stretch>
        </p:blipFill>
        <p:spPr>
          <a:xfrm>
            <a:off x="1199515" y="1297940"/>
            <a:ext cx="10991850" cy="49561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3971925" y="762000"/>
            <a:ext cx="4279265" cy="824230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800" dirty="0"/>
              <a:t>TERMINAL QUESTIONS</a:t>
            </a:r>
          </a:p>
        </p:txBody>
      </p:sp>
      <p:sp>
        <p:nvSpPr>
          <p:cNvPr id="53251" name="TextBox 8"/>
          <p:cNvSpPr txBox="1">
            <a:spLocks noChangeArrowheads="1"/>
          </p:cNvSpPr>
          <p:nvPr/>
        </p:nvSpPr>
        <p:spPr bwMode="auto">
          <a:xfrm>
            <a:off x="913765" y="1862455"/>
            <a:ext cx="11160760" cy="35534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noAutofit/>
          </a:bodyPr>
          <a:lstStyle/>
          <a:p>
            <a:pPr>
              <a:lnSpc>
                <a:spcPct val="200000"/>
              </a:lnSpc>
            </a:pPr>
            <a:r>
              <a:rPr lang="en-US" sz="2800" b="1"/>
              <a:t>1. </a:t>
            </a:r>
            <a:r>
              <a:rPr lang="en-US" sz="2800"/>
              <a:t>Describe the design issues of Network layer.</a:t>
            </a:r>
          </a:p>
          <a:p>
            <a:pPr>
              <a:lnSpc>
                <a:spcPct val="200000"/>
              </a:lnSpc>
            </a:pPr>
            <a:r>
              <a:rPr lang="en-US" sz="2800"/>
              <a:t>2. Explain the implementation of connection-oriented and connectionless services by network layer.</a:t>
            </a:r>
          </a:p>
          <a:p>
            <a:pPr>
              <a:lnSpc>
                <a:spcPct val="200000"/>
              </a:lnSpc>
            </a:pPr>
            <a:r>
              <a:rPr lang="en-US" sz="2800"/>
              <a:t>3. Compare virtual circuit and datagram subnet. </a:t>
            </a:r>
          </a:p>
        </p:txBody>
      </p:sp>
      <p:pic>
        <p:nvPicPr>
          <p:cNvPr id="53252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0" y="0"/>
            <a:ext cx="1493838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  <a:sym typeface="+mn-ea"/>
              </a:rPr>
              <a:t>REFERENCES FOR FURTHER LEARNING OF THE SESSION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sz="2800" b="1" dirty="0">
                <a:sym typeface="+mn-ea"/>
              </a:rPr>
              <a:t>Reference Books:</a:t>
            </a:r>
            <a:endParaRPr lang="en-US" sz="2800" dirty="0"/>
          </a:p>
          <a:p>
            <a:pPr marL="342900" indent="-342900">
              <a:lnSpc>
                <a:spcPct val="150000"/>
              </a:lnSpc>
              <a:buFontTx/>
              <a:buAutoNum type="arabicPeriod"/>
              <a:defRPr/>
            </a:pPr>
            <a:r>
              <a:rPr lang="en-US" sz="2800" dirty="0">
                <a:sym typeface="+mn-ea"/>
              </a:rPr>
              <a:t>Behrouz A. </a:t>
            </a:r>
            <a:r>
              <a:rPr lang="en-US" sz="2800" dirty="0" err="1">
                <a:sym typeface="+mn-ea"/>
              </a:rPr>
              <a:t>Forouzan</a:t>
            </a:r>
            <a:r>
              <a:rPr lang="en-US" sz="2800" dirty="0">
                <a:sym typeface="+mn-ea"/>
              </a:rPr>
              <a:t> , “Data Communication and Networking”, TMH, 5th Edition, 2012.</a:t>
            </a:r>
            <a:endParaRPr lang="en-US" sz="2800" dirty="0"/>
          </a:p>
          <a:p>
            <a:pPr marL="342900" indent="-342900">
              <a:lnSpc>
                <a:spcPct val="150000"/>
              </a:lnSpc>
              <a:buFontTx/>
              <a:buAutoNum type="arabicPeriod"/>
              <a:defRPr/>
            </a:pPr>
            <a:r>
              <a:rPr lang="en-US" sz="2800" dirty="0">
                <a:sym typeface="+mn-ea"/>
              </a:rPr>
              <a:t>A.S. Tanenbaum, David J. </a:t>
            </a:r>
            <a:r>
              <a:rPr lang="en-US" sz="2800" dirty="0" err="1">
                <a:sym typeface="+mn-ea"/>
              </a:rPr>
              <a:t>Wetheral</a:t>
            </a:r>
            <a:r>
              <a:rPr lang="en-US" sz="2800" dirty="0">
                <a:sym typeface="+mn-ea"/>
              </a:rPr>
              <a:t> “Computer Networks” Pearson, 5th Edition.</a:t>
            </a:r>
            <a:endParaRPr lang="en-US" sz="2800" dirty="0"/>
          </a:p>
          <a:p>
            <a:pPr>
              <a:lnSpc>
                <a:spcPct val="150000"/>
              </a:lnSpc>
              <a:defRPr/>
            </a:pPr>
            <a:endParaRPr lang="en-US" sz="28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199*106"/>
  <p:tag name="TABLE_ENDDRAG_RECT" val="564*196*199*106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2525</Words>
  <Application>Microsoft Office PowerPoint</Application>
  <PresentationFormat>Widescreen</PresentationFormat>
  <Paragraphs>90</Paragraphs>
  <Slides>13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Office Theme</vt:lpstr>
      <vt:lpstr>1_Gallery</vt:lpstr>
      <vt:lpstr>PowerPoint Presentation</vt:lpstr>
      <vt:lpstr>PowerPoint Presentation</vt:lpstr>
      <vt:lpstr>PowerPoint Presentation</vt:lpstr>
      <vt:lpstr> NETWORK LAYER</vt:lpstr>
      <vt:lpstr>PowerPoint Presentation</vt:lpstr>
      <vt:lpstr>DESIGN ISSUES OF NETWORK LAYER</vt:lpstr>
      <vt:lpstr>Store-and-Forward Packet Switching </vt:lpstr>
      <vt:lpstr>Services Provided to the Transport Layer</vt:lpstr>
      <vt:lpstr>Implementation of Connection-Oriented Service </vt:lpstr>
      <vt:lpstr>Implementation of Connectionless Service </vt:lpstr>
      <vt:lpstr>Comparison of Virtual-Circuit and Datagram Networks </vt:lpstr>
      <vt:lpstr>PowerPoint Presentation</vt:lpstr>
      <vt:lpstr>REFERENCES FOR FURTHER LEARNING OF THE SESSION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IPv4 ADDRESSES</dc:title>
  <dc:creator>preetham chiramana</dc:creator>
  <cp:lastModifiedBy>123</cp:lastModifiedBy>
  <cp:revision>114</cp:revision>
  <dcterms:created xsi:type="dcterms:W3CDTF">2020-11-27T11:49:00Z</dcterms:created>
  <dcterms:modified xsi:type="dcterms:W3CDTF">2025-07-15T04:54:14Z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0EB9ADF32A9742C19836C1C58909EEBB_13</vt:lpwstr>
  </property>
  <property fmtid="{D5CDD505-2E9C-101B-9397-08002B2CF9AE}" pid="3" name="KSOProductBuildVer">
    <vt:lpwstr>1033-12.2.0.21546</vt:lpwstr>
  </property>
</Properties>
</file>